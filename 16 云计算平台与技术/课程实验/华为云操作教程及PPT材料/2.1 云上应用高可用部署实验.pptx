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1" r:id="rId4"/>
    <p:sldMasterId id="2147483825" r:id="rId5"/>
    <p:sldMasterId id="2147483848" r:id="rId6"/>
    <p:sldMasterId id="2147483867" r:id="rId7"/>
  </p:sldMasterIdLst>
  <p:notesMasterIdLst>
    <p:notesMasterId r:id="rId64"/>
  </p:notesMasterIdLst>
  <p:handoutMasterIdLst>
    <p:handoutMasterId r:id="rId65"/>
  </p:handoutMasterIdLst>
  <p:sldIdLst>
    <p:sldId id="257" r:id="rId8"/>
    <p:sldId id="446" r:id="rId9"/>
    <p:sldId id="874" r:id="rId10"/>
    <p:sldId id="875" r:id="rId11"/>
    <p:sldId id="876" r:id="rId12"/>
    <p:sldId id="892" r:id="rId13"/>
    <p:sldId id="886" r:id="rId14"/>
    <p:sldId id="688" r:id="rId15"/>
    <p:sldId id="870" r:id="rId16"/>
    <p:sldId id="869" r:id="rId17"/>
    <p:sldId id="693" r:id="rId18"/>
    <p:sldId id="718" r:id="rId19"/>
    <p:sldId id="719" r:id="rId20"/>
    <p:sldId id="720" r:id="rId21"/>
    <p:sldId id="722" r:id="rId22"/>
    <p:sldId id="724" r:id="rId23"/>
    <p:sldId id="725" r:id="rId24"/>
    <p:sldId id="726" r:id="rId25"/>
    <p:sldId id="727" r:id="rId26"/>
    <p:sldId id="728" r:id="rId27"/>
    <p:sldId id="729" r:id="rId28"/>
    <p:sldId id="730" r:id="rId29"/>
    <p:sldId id="733" r:id="rId30"/>
    <p:sldId id="731" r:id="rId31"/>
    <p:sldId id="732" r:id="rId32"/>
    <p:sldId id="895" r:id="rId33"/>
    <p:sldId id="705" r:id="rId34"/>
    <p:sldId id="891" r:id="rId35"/>
    <p:sldId id="706" r:id="rId36"/>
    <p:sldId id="707" r:id="rId37"/>
    <p:sldId id="708" r:id="rId38"/>
    <p:sldId id="754" r:id="rId39"/>
    <p:sldId id="755" r:id="rId40"/>
    <p:sldId id="756" r:id="rId41"/>
    <p:sldId id="757" r:id="rId42"/>
    <p:sldId id="758" r:id="rId43"/>
    <p:sldId id="759" r:id="rId44"/>
    <p:sldId id="760" r:id="rId45"/>
    <p:sldId id="761" r:id="rId46"/>
    <p:sldId id="762" r:id="rId47"/>
    <p:sldId id="763" r:id="rId48"/>
    <p:sldId id="764" r:id="rId49"/>
    <p:sldId id="765" r:id="rId50"/>
    <p:sldId id="766" r:id="rId51"/>
    <p:sldId id="703" r:id="rId52"/>
    <p:sldId id="704" r:id="rId53"/>
    <p:sldId id="769" r:id="rId54"/>
    <p:sldId id="770" r:id="rId55"/>
    <p:sldId id="771" r:id="rId56"/>
    <p:sldId id="772" r:id="rId57"/>
    <p:sldId id="773" r:id="rId58"/>
    <p:sldId id="774" r:id="rId59"/>
    <p:sldId id="775" r:id="rId60"/>
    <p:sldId id="776" r:id="rId61"/>
    <p:sldId id="777" r:id="rId62"/>
    <p:sldId id="778" r:id="rId63"/>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80F2819-A7A3-4477-9CF4-0BDF2D33A38C}">
          <p14:sldIdLst>
            <p14:sldId id="257"/>
          </p14:sldIdLst>
        </p14:section>
        <p14:section name="鲲鹏云上应用高可用部署" id="{952DFD91-0229-4803-849C-907E186277F9}">
          <p14:sldIdLst>
            <p14:sldId id="446"/>
            <p14:sldId id="874"/>
            <p14:sldId id="875"/>
            <p14:sldId id="876"/>
            <p14:sldId id="892"/>
            <p14:sldId id="886"/>
            <p14:sldId id="688"/>
            <p14:sldId id="870"/>
            <p14:sldId id="869"/>
            <p14:sldId id="693"/>
            <p14:sldId id="718"/>
            <p14:sldId id="719"/>
            <p14:sldId id="720"/>
            <p14:sldId id="722"/>
            <p14:sldId id="724"/>
            <p14:sldId id="725"/>
            <p14:sldId id="726"/>
            <p14:sldId id="727"/>
            <p14:sldId id="728"/>
            <p14:sldId id="729"/>
            <p14:sldId id="730"/>
            <p14:sldId id="733"/>
            <p14:sldId id="731"/>
            <p14:sldId id="732"/>
            <p14:sldId id="895"/>
            <p14:sldId id="705"/>
            <p14:sldId id="891"/>
            <p14:sldId id="706"/>
            <p14:sldId id="707"/>
            <p14:sldId id="708"/>
            <p14:sldId id="754"/>
            <p14:sldId id="755"/>
            <p14:sldId id="756"/>
            <p14:sldId id="757"/>
            <p14:sldId id="758"/>
            <p14:sldId id="759"/>
            <p14:sldId id="760"/>
            <p14:sldId id="761"/>
            <p14:sldId id="762"/>
            <p14:sldId id="763"/>
            <p14:sldId id="764"/>
            <p14:sldId id="765"/>
            <p14:sldId id="766"/>
            <p14:sldId id="703"/>
            <p14:sldId id="704"/>
            <p14:sldId id="769"/>
            <p14:sldId id="770"/>
            <p14:sldId id="771"/>
            <p14:sldId id="772"/>
            <p14:sldId id="773"/>
            <p14:sldId id="774"/>
            <p14:sldId id="775"/>
            <p14:sldId id="776"/>
            <p14:sldId id="777"/>
            <p14:sldId id="77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tengyanzjhw" initials="w" lastIdx="9" clrIdx="0">
    <p:extLst>
      <p:ext uri="{19B8F6BF-5375-455C-9EA6-DF929625EA0E}">
        <p15:presenceInfo xmlns:p15="http://schemas.microsoft.com/office/powerpoint/2012/main" userId="S-1-5-21-147214757-305610072-1517763936-703148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4870B9"/>
    <a:srgbClr val="ED6D00"/>
    <a:srgbClr val="404040"/>
    <a:srgbClr val="EBEBEB"/>
    <a:srgbClr val="151515"/>
    <a:srgbClr val="C7000B"/>
    <a:srgbClr val="575756"/>
    <a:srgbClr val="FFFFFF"/>
    <a:srgbClr val="DD46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70" autoAdjust="0"/>
    <p:restoredTop sz="77751" autoAdjust="0"/>
  </p:normalViewPr>
  <p:slideViewPr>
    <p:cSldViewPr snapToGrid="0" snapToObjects="1">
      <p:cViewPr varScale="1">
        <p:scale>
          <a:sx n="63" d="100"/>
          <a:sy n="63" d="100"/>
        </p:scale>
        <p:origin x="878" y="3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snapToObjects="1">
      <p:cViewPr varScale="1">
        <p:scale>
          <a:sx n="49" d="100"/>
          <a:sy n="49" d="100"/>
        </p:scale>
        <p:origin x="2640" y="64"/>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9/21/2024</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6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support.huaweicloud.com/qs-ecs/zh-cn_topic_0021831611.html#ZH-CN_TOPIC_0021831611__li126651425205814"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63550" y="766763"/>
            <a:ext cx="5932488"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42139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173018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2B590742-ADB1-4685-8FAC-04191589E68F}"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3290128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96361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sz="1100" b="0" i="0" kern="1200" dirty="0">
                <a:solidFill>
                  <a:schemeClr val="tx1"/>
                </a:solidFill>
                <a:effectLst/>
                <a:latin typeface="+mn-ea"/>
                <a:ea typeface="+mn-ea"/>
                <a:cs typeface="+mn-cs"/>
              </a:rPr>
              <a:t>弹性云服务器是由</a:t>
            </a:r>
            <a:r>
              <a:rPr lang="en-US" altLang="zh-CN" sz="1100" b="0" i="0" kern="1200" dirty="0">
                <a:solidFill>
                  <a:schemeClr val="tx1"/>
                </a:solidFill>
                <a:effectLst/>
                <a:latin typeface="+mn-ea"/>
                <a:ea typeface="+mn-ea"/>
                <a:cs typeface="+mn-cs"/>
              </a:rPr>
              <a:t>CPU</a:t>
            </a:r>
            <a:r>
              <a:rPr lang="zh-CN" altLang="en-US" sz="1100" b="0" i="0" kern="1200" dirty="0">
                <a:solidFill>
                  <a:schemeClr val="tx1"/>
                </a:solidFill>
                <a:effectLst/>
                <a:latin typeface="+mn-ea"/>
                <a:ea typeface="+mn-ea"/>
                <a:cs typeface="+mn-cs"/>
              </a:rPr>
              <a:t>、内存、镜像、云硬盘组成的一种可随时获取、弹性可扩展的计算服务器，同时它结合虚拟私有云、虚拟防火墙、数据多副本保存等能力，为您打造一个高效、可靠、安全的计算环境，确保您的服务持久稳定运行。弹性云服务器创建成功后，您就可以像使用自己的本地</a:t>
            </a:r>
            <a:r>
              <a:rPr lang="en-US" altLang="zh-CN" sz="1100" b="0" i="0" kern="1200" dirty="0">
                <a:solidFill>
                  <a:schemeClr val="tx1"/>
                </a:solidFill>
                <a:effectLst/>
                <a:latin typeface="+mn-ea"/>
                <a:ea typeface="+mn-ea"/>
                <a:cs typeface="+mn-cs"/>
              </a:rPr>
              <a:t>PC</a:t>
            </a:r>
            <a:r>
              <a:rPr lang="zh-CN" altLang="en-US" sz="1100" b="0" i="0" kern="1200" dirty="0">
                <a:solidFill>
                  <a:schemeClr val="tx1"/>
                </a:solidFill>
                <a:effectLst/>
                <a:latin typeface="+mn-ea"/>
                <a:ea typeface="+mn-ea"/>
                <a:cs typeface="+mn-cs"/>
              </a:rPr>
              <a:t>或物理服务器一样，在云上使用弹性云服务器。</a:t>
            </a:r>
            <a:endParaRPr lang="zh-CN" altLang="en-US" dirty="0">
              <a:latin typeface="+mn-ea"/>
              <a:ea typeface="+mn-ea"/>
            </a:endParaRPr>
          </a:p>
        </p:txBody>
      </p:sp>
    </p:spTree>
    <p:extLst>
      <p:ext uri="{BB962C8B-B14F-4D97-AF65-F5344CB8AC3E}">
        <p14:creationId xmlns:p14="http://schemas.microsoft.com/office/powerpoint/2010/main" val="1702707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32159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弹性云服务器，目前以通用型为主，后续存储密集型、内存密集型等等全系列的规格都会陆续提供，保持与现有计算服务的功能移植，覆盖全场景，提供极致性价比，已具备丰富生态并在不断发展完善。</a:t>
            </a:r>
          </a:p>
          <a:p>
            <a:endParaRPr lang="en-US" altLang="zh-CN" dirty="0"/>
          </a:p>
        </p:txBody>
      </p:sp>
      <p:sp>
        <p:nvSpPr>
          <p:cNvPr id="7" name="幻灯片图像占位符 6"/>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3970671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r>
              <a:rPr lang="zh-CN" altLang="en-US" dirty="0"/>
              <a:t>五步购买</a:t>
            </a:r>
            <a:r>
              <a:rPr lang="en-US" altLang="zh-CN" dirty="0"/>
              <a:t>ECS</a:t>
            </a:r>
            <a:r>
              <a:rPr lang="zh-CN" altLang="en-US" dirty="0"/>
              <a:t>，具体购买操作、参数选择见下面的详细介绍。</a:t>
            </a:r>
          </a:p>
        </p:txBody>
      </p:sp>
    </p:spTree>
    <p:extLst>
      <p:ext uri="{BB962C8B-B14F-4D97-AF65-F5344CB8AC3E}">
        <p14:creationId xmlns:p14="http://schemas.microsoft.com/office/powerpoint/2010/main" val="2862943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r>
              <a:rPr lang="zh-CN" altLang="en-US" sz="1100" b="0" i="0" kern="1200" dirty="0">
                <a:solidFill>
                  <a:schemeClr val="tx1"/>
                </a:solidFill>
                <a:effectLst/>
                <a:latin typeface="+mn-ea"/>
                <a:ea typeface="+mn-ea"/>
                <a:cs typeface="+mn-cs"/>
              </a:rPr>
              <a:t>包年</a:t>
            </a:r>
            <a:r>
              <a:rPr lang="en-US" altLang="zh-CN" sz="1100" b="0" i="0" kern="1200" dirty="0">
                <a:solidFill>
                  <a:schemeClr val="tx1"/>
                </a:solidFill>
                <a:effectLst/>
                <a:latin typeface="+mn-ea"/>
                <a:ea typeface="+mn-ea"/>
                <a:cs typeface="+mn-cs"/>
              </a:rPr>
              <a:t>/</a:t>
            </a:r>
            <a:r>
              <a:rPr lang="zh-CN" altLang="en-US" sz="1100" b="0" i="0" kern="1200" dirty="0">
                <a:solidFill>
                  <a:schemeClr val="tx1"/>
                </a:solidFill>
                <a:effectLst/>
                <a:latin typeface="+mn-ea"/>
                <a:ea typeface="+mn-ea"/>
                <a:cs typeface="+mn-cs"/>
              </a:rPr>
              <a:t>包月：用户选购完云服务器配置后，可以根据需要设置购买时长，系统会一次性按照购买价格对账户余额进行扣费。 </a:t>
            </a:r>
            <a:endParaRPr lang="en-US" altLang="zh-CN" sz="1100" b="0" i="0" kern="1200" dirty="0">
              <a:solidFill>
                <a:schemeClr val="tx1"/>
              </a:solidFill>
              <a:effectLst/>
              <a:latin typeface="+mn-ea"/>
              <a:ea typeface="+mn-ea"/>
              <a:cs typeface="+mn-cs"/>
            </a:endParaRPr>
          </a:p>
          <a:p>
            <a:pPr marL="0" indent="0">
              <a:buNone/>
            </a:pPr>
            <a:r>
              <a:rPr lang="en-US" altLang="zh-CN" sz="1100" b="0" i="0" kern="1200" dirty="0">
                <a:solidFill>
                  <a:schemeClr val="tx1"/>
                </a:solidFill>
                <a:effectLst/>
                <a:latin typeface="+mn-ea"/>
                <a:ea typeface="+mn-ea"/>
                <a:cs typeface="+mn-cs"/>
              </a:rPr>
              <a:t>    </a:t>
            </a:r>
            <a:r>
              <a:rPr lang="zh-CN" altLang="en-US" sz="1100" b="1" i="0" kern="1200" dirty="0">
                <a:solidFill>
                  <a:schemeClr val="tx1"/>
                </a:solidFill>
                <a:effectLst/>
                <a:latin typeface="+mn-ea"/>
                <a:ea typeface="+mn-ea"/>
                <a:cs typeface="+mn-cs"/>
              </a:rPr>
              <a:t>说明：</a:t>
            </a:r>
            <a:r>
              <a:rPr lang="zh-CN" altLang="en-US" sz="1100" b="0" i="0" kern="1200" dirty="0">
                <a:solidFill>
                  <a:schemeClr val="tx1"/>
                </a:solidFill>
                <a:effectLst/>
                <a:latin typeface="+mn-ea"/>
                <a:ea typeface="+mn-ea"/>
                <a:cs typeface="+mn-cs"/>
              </a:rPr>
              <a:t>“包年</a:t>
            </a:r>
            <a:r>
              <a:rPr lang="en-US" altLang="zh-CN" sz="1100" b="0" i="0" kern="1200" dirty="0">
                <a:solidFill>
                  <a:schemeClr val="tx1"/>
                </a:solidFill>
                <a:effectLst/>
                <a:latin typeface="+mn-ea"/>
                <a:ea typeface="+mn-ea"/>
                <a:cs typeface="+mn-cs"/>
              </a:rPr>
              <a:t>/</a:t>
            </a:r>
            <a:r>
              <a:rPr lang="zh-CN" altLang="en-US" sz="1100" b="0" i="0" kern="1200" dirty="0">
                <a:solidFill>
                  <a:schemeClr val="tx1"/>
                </a:solidFill>
                <a:effectLst/>
                <a:latin typeface="+mn-ea"/>
                <a:ea typeface="+mn-ea"/>
                <a:cs typeface="+mn-cs"/>
              </a:rPr>
              <a:t>包月”方式购买的弹性云服务器不能直接删除，仅支持资源退订操作。如果不再使用，请在弹性云服务器列表页，单击“操作”列下的“更多 </a:t>
            </a:r>
            <a:r>
              <a:rPr lang="en-US" altLang="zh-CN" sz="1100" b="0" i="0" kern="1200" dirty="0">
                <a:solidFill>
                  <a:schemeClr val="tx1"/>
                </a:solidFill>
                <a:effectLst/>
                <a:latin typeface="+mn-ea"/>
                <a:ea typeface="+mn-ea"/>
                <a:cs typeface="+mn-cs"/>
              </a:rPr>
              <a:t>&gt; </a:t>
            </a:r>
            <a:r>
              <a:rPr lang="zh-CN" altLang="en-US" sz="1100" b="0" i="0" kern="1200" dirty="0">
                <a:solidFill>
                  <a:schemeClr val="tx1"/>
                </a:solidFill>
                <a:effectLst/>
                <a:latin typeface="+mn-ea"/>
                <a:ea typeface="+mn-ea"/>
                <a:cs typeface="+mn-cs"/>
              </a:rPr>
              <a:t>退订”，执行资源退订操作。</a:t>
            </a:r>
          </a:p>
          <a:p>
            <a:r>
              <a:rPr lang="zh-CN" altLang="en-US" sz="1100" b="0" i="0" kern="1200" dirty="0">
                <a:solidFill>
                  <a:schemeClr val="tx1"/>
                </a:solidFill>
                <a:effectLst/>
                <a:latin typeface="+mn-ea"/>
                <a:ea typeface="+mn-ea"/>
                <a:cs typeface="+mn-cs"/>
              </a:rPr>
              <a:t>按需付费：用户选购完云服务器配置后，无需设置购买时长，系统会根据消费时长对账户余额进行扣费。</a:t>
            </a:r>
          </a:p>
          <a:p>
            <a:endParaRPr lang="zh-CN" altLang="en-US" dirty="0">
              <a:latin typeface="+mn-ea"/>
              <a:ea typeface="+mn-ea"/>
            </a:endParaRPr>
          </a:p>
        </p:txBody>
      </p:sp>
    </p:spTree>
    <p:extLst>
      <p:ext uri="{BB962C8B-B14F-4D97-AF65-F5344CB8AC3E}">
        <p14:creationId xmlns:p14="http://schemas.microsoft.com/office/powerpoint/2010/main" val="2754174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r>
              <a:rPr lang="zh-CN" altLang="en-US" sz="1100" b="0" i="0" kern="1200" baseline="0" dirty="0">
                <a:solidFill>
                  <a:schemeClr val="tx1"/>
                </a:solidFill>
                <a:effectLst/>
                <a:latin typeface="+mn-ea"/>
                <a:ea typeface="方正兰亭黑简体" panose="02000000000000000000" pitchFamily="2" charset="-122"/>
                <a:cs typeface="+mn-cs"/>
              </a:rPr>
              <a:t>选择“镜像”。</a:t>
            </a:r>
          </a:p>
          <a:p>
            <a:pPr lvl="1"/>
            <a:r>
              <a:rPr lang="zh-CN" altLang="en-US" sz="1100" b="0" i="0" kern="1200" baseline="0" dirty="0">
                <a:solidFill>
                  <a:schemeClr val="tx1"/>
                </a:solidFill>
                <a:effectLst/>
                <a:latin typeface="+mn-ea"/>
                <a:ea typeface="方正兰亭黑简体" panose="02000000000000000000" pitchFamily="2" charset="-122"/>
                <a:cs typeface="+mn-cs"/>
              </a:rPr>
              <a:t>公共镜像：常见的标准操作系统镜像，所有用户可见，包括操作系统以及预装的公共应用。请根据您的实际情况自助配置应用环境或相关软件。</a:t>
            </a:r>
          </a:p>
          <a:p>
            <a:pPr lvl="1"/>
            <a:r>
              <a:rPr lang="zh-CN" altLang="en-US" sz="1100" b="0" i="0" kern="1200" baseline="0" dirty="0">
                <a:solidFill>
                  <a:schemeClr val="tx1"/>
                </a:solidFill>
                <a:effectLst/>
                <a:latin typeface="+mn-ea"/>
                <a:ea typeface="方正兰亭黑简体" panose="02000000000000000000" pitchFamily="2" charset="-122"/>
                <a:cs typeface="+mn-cs"/>
              </a:rPr>
              <a:t>私有镜像：用户基于弹性云服务器创建的个人镜像，仅用户自己可见。包含操作系统、预装的公共应用以及用户的私有应用。选择私有镜像创建弹性云服务器，可以节省您重复配置弹性云服务器的时间。</a:t>
            </a:r>
          </a:p>
          <a:p>
            <a:pPr marL="360363" lvl="1" indent="0">
              <a:buNone/>
            </a:pPr>
            <a:r>
              <a:rPr lang="zh-CN" altLang="en-US" sz="1100" b="0" i="0" kern="1200" baseline="0" dirty="0">
                <a:solidFill>
                  <a:schemeClr val="tx1"/>
                </a:solidFill>
                <a:effectLst/>
                <a:latin typeface="+mn-ea"/>
                <a:ea typeface="方正兰亭黑简体" panose="02000000000000000000" pitchFamily="2" charset="-122"/>
                <a:cs typeface="+mn-cs"/>
              </a:rPr>
              <a:t>    共享镜像：您将接受其他用户共享的私有镜像，作为自己的镜像进行使用。</a:t>
            </a:r>
          </a:p>
          <a:p>
            <a:pPr marL="360363" lvl="1" indent="0">
              <a:buNone/>
            </a:pPr>
            <a:r>
              <a:rPr lang="zh-CN" altLang="en-US" sz="1100" b="0" i="0" kern="1200" baseline="0" dirty="0">
                <a:solidFill>
                  <a:schemeClr val="tx1"/>
                </a:solidFill>
                <a:effectLst/>
                <a:latin typeface="+mn-ea"/>
                <a:ea typeface="方正兰亭黑简体" panose="02000000000000000000" pitchFamily="2" charset="-122"/>
                <a:cs typeface="+mn-cs"/>
              </a:rPr>
              <a:t>    市场镜像：提供预装操作系统、应用环境和各类软件的优质第三方镜像。无需配置，可一键部署，满足建站、应用开发、可视化管理等个性化需求。</a:t>
            </a:r>
            <a:endParaRPr lang="en-US" altLang="zh-CN" sz="1100" b="0" i="0" kern="1200" baseline="0" dirty="0">
              <a:solidFill>
                <a:schemeClr val="tx1"/>
              </a:solidFill>
              <a:effectLst/>
              <a:latin typeface="+mn-ea"/>
              <a:ea typeface="方正兰亭黑简体" panose="02000000000000000000" pitchFamily="2" charset="-122"/>
              <a:cs typeface="+mn-cs"/>
            </a:endParaRPr>
          </a:p>
          <a:p>
            <a:r>
              <a:rPr lang="zh-CN" altLang="en-US" sz="1100" b="0" i="0" kern="1200" baseline="0" dirty="0">
                <a:solidFill>
                  <a:schemeClr val="tx1"/>
                </a:solidFill>
                <a:effectLst/>
                <a:latin typeface="+mn-ea"/>
                <a:ea typeface="方正兰亭黑简体" panose="02000000000000000000" pitchFamily="2" charset="-122"/>
                <a:cs typeface="+mn-cs"/>
              </a:rPr>
              <a:t>设置“磁盘”。</a:t>
            </a:r>
            <a:endParaRPr lang="en-US" altLang="zh-CN" sz="1100" b="0" i="0" kern="1200" baseline="0" dirty="0">
              <a:solidFill>
                <a:schemeClr val="tx1"/>
              </a:solidFill>
              <a:effectLst/>
              <a:latin typeface="+mn-ea"/>
              <a:ea typeface="方正兰亭黑简体" panose="02000000000000000000" pitchFamily="2" charset="-122"/>
              <a:cs typeface="+mn-cs"/>
            </a:endParaRPr>
          </a:p>
          <a:p>
            <a:pPr marL="0" indent="0">
              <a:buNone/>
            </a:pPr>
            <a:r>
              <a:rPr lang="zh-CN" altLang="en-US" sz="1100" b="0" i="0" kern="1200" baseline="0" dirty="0">
                <a:solidFill>
                  <a:schemeClr val="tx1"/>
                </a:solidFill>
                <a:effectLst/>
                <a:latin typeface="+mn-ea"/>
                <a:ea typeface="方正兰亭黑简体" panose="02000000000000000000" pitchFamily="2" charset="-122"/>
                <a:cs typeface="+mn-cs"/>
              </a:rPr>
              <a:t>     磁盘包括系统盘和数据盘。创建弹性云服务器时，您可以为弹性云服务器添加</a:t>
            </a:r>
            <a:r>
              <a:rPr lang="en-US" altLang="zh-CN" sz="1100" b="0" i="0" kern="1200" baseline="0" dirty="0">
                <a:solidFill>
                  <a:schemeClr val="tx1"/>
                </a:solidFill>
                <a:effectLst/>
                <a:latin typeface="+mn-ea"/>
                <a:ea typeface="方正兰亭黑简体" panose="02000000000000000000" pitchFamily="2" charset="-122"/>
                <a:cs typeface="+mn-cs"/>
              </a:rPr>
              <a:t>24</a:t>
            </a:r>
            <a:r>
              <a:rPr lang="zh-CN" altLang="en-US" sz="1100" b="0" i="0" kern="1200" baseline="0" dirty="0">
                <a:solidFill>
                  <a:schemeClr val="tx1"/>
                </a:solidFill>
                <a:effectLst/>
                <a:latin typeface="+mn-ea"/>
                <a:ea typeface="方正兰亭黑简体" panose="02000000000000000000" pitchFamily="2" charset="-122"/>
                <a:cs typeface="+mn-cs"/>
              </a:rPr>
              <a:t>块磁盘，磁盘大小可以根据需要自定义；弹性云服务器创建成功后，对于新创建的弹性云服务器，可以最多添加</a:t>
            </a:r>
            <a:r>
              <a:rPr lang="en-US" altLang="zh-CN" sz="1100" b="0" i="0" kern="1200" baseline="0" dirty="0">
                <a:solidFill>
                  <a:schemeClr val="tx1"/>
                </a:solidFill>
                <a:effectLst/>
                <a:latin typeface="+mn-ea"/>
                <a:ea typeface="方正兰亭黑简体" panose="02000000000000000000" pitchFamily="2" charset="-122"/>
                <a:cs typeface="+mn-cs"/>
              </a:rPr>
              <a:t>60</a:t>
            </a:r>
            <a:r>
              <a:rPr lang="zh-CN" altLang="en-US" sz="1100" b="0" i="0" kern="1200" baseline="0" dirty="0">
                <a:solidFill>
                  <a:schemeClr val="tx1"/>
                </a:solidFill>
                <a:effectLst/>
                <a:latin typeface="+mn-ea"/>
                <a:ea typeface="方正兰亭黑简体" panose="02000000000000000000" pitchFamily="2" charset="-122"/>
                <a:cs typeface="+mn-cs"/>
              </a:rPr>
              <a:t>块磁盘。对于</a:t>
            </a:r>
            <a:r>
              <a:rPr lang="en-US" altLang="zh-CN" sz="1100" b="0" i="0" kern="1200" baseline="0" dirty="0">
                <a:solidFill>
                  <a:schemeClr val="tx1"/>
                </a:solidFill>
                <a:effectLst/>
                <a:latin typeface="+mn-ea"/>
                <a:ea typeface="方正兰亭黑简体" panose="02000000000000000000" pitchFamily="2" charset="-122"/>
                <a:cs typeface="+mn-cs"/>
              </a:rPr>
              <a:t>P1</a:t>
            </a:r>
            <a:r>
              <a:rPr lang="zh-CN" altLang="en-US" sz="1100" b="0" i="0" kern="1200" baseline="0" dirty="0">
                <a:solidFill>
                  <a:schemeClr val="tx1"/>
                </a:solidFill>
                <a:effectLst/>
                <a:latin typeface="+mn-ea"/>
                <a:ea typeface="方正兰亭黑简体" panose="02000000000000000000" pitchFamily="2" charset="-122"/>
                <a:cs typeface="+mn-cs"/>
              </a:rPr>
              <a:t>型、</a:t>
            </a:r>
            <a:r>
              <a:rPr lang="en-US" altLang="zh-CN" sz="1100" b="0" i="0" kern="1200" baseline="0" dirty="0">
                <a:solidFill>
                  <a:schemeClr val="tx1"/>
                </a:solidFill>
                <a:effectLst/>
                <a:latin typeface="+mn-ea"/>
                <a:ea typeface="方正兰亭黑简体" panose="02000000000000000000" pitchFamily="2" charset="-122"/>
                <a:cs typeface="+mn-cs"/>
              </a:rPr>
              <a:t>P2</a:t>
            </a:r>
            <a:r>
              <a:rPr lang="zh-CN" altLang="en-US" sz="1100" b="0" i="0" kern="1200" baseline="0" dirty="0">
                <a:solidFill>
                  <a:schemeClr val="tx1"/>
                </a:solidFill>
                <a:effectLst/>
                <a:latin typeface="+mn-ea"/>
                <a:ea typeface="方正兰亭黑简体" panose="02000000000000000000" pitchFamily="2" charset="-122"/>
                <a:cs typeface="+mn-cs"/>
              </a:rPr>
              <a:t>型弹性云服务器，系统盘大小需大于等于</a:t>
            </a:r>
            <a:r>
              <a:rPr lang="en-US" altLang="zh-CN" sz="1100" b="0" i="0" kern="1200" baseline="0" dirty="0">
                <a:solidFill>
                  <a:schemeClr val="tx1"/>
                </a:solidFill>
                <a:effectLst/>
                <a:latin typeface="+mn-ea"/>
                <a:ea typeface="方正兰亭黑简体" panose="02000000000000000000" pitchFamily="2" charset="-122"/>
                <a:cs typeface="+mn-cs"/>
              </a:rPr>
              <a:t>15GB</a:t>
            </a:r>
            <a:r>
              <a:rPr lang="zh-CN" altLang="en-US" sz="1100" b="0" i="0" kern="1200" baseline="0" dirty="0">
                <a:solidFill>
                  <a:schemeClr val="tx1"/>
                </a:solidFill>
                <a:effectLst/>
                <a:latin typeface="+mn-ea"/>
                <a:ea typeface="方正兰亭黑简体" panose="02000000000000000000" pitchFamily="2" charset="-122"/>
                <a:cs typeface="+mn-cs"/>
              </a:rPr>
              <a:t>，建议大于</a:t>
            </a:r>
            <a:r>
              <a:rPr lang="en-US" altLang="zh-CN" sz="1100" b="0" i="0" kern="1200" baseline="0" dirty="0">
                <a:solidFill>
                  <a:schemeClr val="tx1"/>
                </a:solidFill>
                <a:effectLst/>
                <a:latin typeface="+mn-ea"/>
                <a:ea typeface="方正兰亭黑简体" panose="02000000000000000000" pitchFamily="2" charset="-122"/>
                <a:cs typeface="+mn-cs"/>
              </a:rPr>
              <a:t>40GB</a:t>
            </a:r>
            <a:r>
              <a:rPr lang="zh-CN" altLang="en-US" sz="1100" b="0" i="0" kern="1200" baseline="0" dirty="0">
                <a:solidFill>
                  <a:schemeClr val="tx1"/>
                </a:solidFill>
                <a:effectLst/>
                <a:latin typeface="+mn-ea"/>
                <a:ea typeface="方正兰亭黑简体" panose="02000000000000000000" pitchFamily="2" charset="-122"/>
                <a:cs typeface="+mn-cs"/>
              </a:rPr>
              <a:t>。</a:t>
            </a:r>
          </a:p>
          <a:p>
            <a:pPr lvl="1"/>
            <a:r>
              <a:rPr lang="zh-CN" altLang="en-US" sz="1100" b="0" i="0" kern="1200" baseline="0" dirty="0">
                <a:solidFill>
                  <a:schemeClr val="tx1"/>
                </a:solidFill>
                <a:effectLst/>
                <a:latin typeface="+mn-ea"/>
                <a:ea typeface="方正兰亭黑简体" panose="02000000000000000000" pitchFamily="2" charset="-122"/>
                <a:cs typeface="+mn-cs"/>
              </a:rPr>
              <a:t>系统盘：如果镜像未加密，则系统盘也不加密，并在界面上显示“未加密”。如果您选择加密镜像，系统盘会自动加密，具体请参见</a:t>
            </a:r>
            <a:r>
              <a:rPr lang="en-US" altLang="zh-CN" sz="1100" b="0" i="0" u="none" strike="noStrike" kern="1200" baseline="0" dirty="0">
                <a:solidFill>
                  <a:schemeClr val="tx1"/>
                </a:solidFill>
                <a:effectLst/>
                <a:latin typeface="+mn-ea"/>
                <a:ea typeface="方正兰亭黑简体" panose="02000000000000000000" pitchFamily="2" charset="-122"/>
                <a:cs typeface="+mn-cs"/>
                <a:hlinkClick r:id="rId3"/>
              </a:rPr>
              <a:t>•</a:t>
            </a:r>
            <a:r>
              <a:rPr lang="zh-CN" altLang="en-US" sz="1100" b="0" i="0" u="none" strike="noStrike" kern="1200" baseline="0" dirty="0">
                <a:solidFill>
                  <a:schemeClr val="tx1"/>
                </a:solidFill>
                <a:effectLst/>
                <a:latin typeface="+mn-ea"/>
                <a:ea typeface="方正兰亭黑简体" panose="02000000000000000000" pitchFamily="2" charset="-122"/>
                <a:cs typeface="+mn-cs"/>
                <a:hlinkClick r:id="rId3"/>
              </a:rPr>
              <a:t>加密涉及的参数（可选配置）</a:t>
            </a:r>
            <a:r>
              <a:rPr lang="zh-CN" altLang="en-US" sz="1100" b="0" i="0" kern="1200" baseline="0" dirty="0">
                <a:solidFill>
                  <a:schemeClr val="tx1"/>
                </a:solidFill>
                <a:effectLst/>
                <a:latin typeface="+mn-ea"/>
                <a:ea typeface="方正兰亭黑简体" panose="02000000000000000000" pitchFamily="2" charset="-122"/>
                <a:cs typeface="+mn-cs"/>
              </a:rPr>
              <a:t>。</a:t>
            </a:r>
          </a:p>
          <a:p>
            <a:pPr lvl="1"/>
            <a:r>
              <a:rPr lang="zh-CN" altLang="en-US" sz="1100" b="0" i="0" kern="1200" baseline="0" dirty="0">
                <a:solidFill>
                  <a:schemeClr val="tx1"/>
                </a:solidFill>
                <a:effectLst/>
                <a:latin typeface="+mn-ea"/>
                <a:ea typeface="方正兰亭黑简体" panose="02000000000000000000" pitchFamily="2" charset="-122"/>
                <a:cs typeface="+mn-cs"/>
              </a:rPr>
              <a:t>数据盘：您可以为弹性云服务器添加多块数据盘，并设置数据盘的共享、加密功能。</a:t>
            </a:r>
          </a:p>
          <a:p>
            <a:pPr lvl="2"/>
            <a:r>
              <a:rPr lang="en-US" altLang="zh-CN" sz="1100" b="0" i="0" kern="1200" baseline="0" dirty="0">
                <a:solidFill>
                  <a:schemeClr val="tx1"/>
                </a:solidFill>
                <a:effectLst/>
                <a:latin typeface="+mn-ea"/>
                <a:ea typeface="方正兰亭黑简体" panose="02000000000000000000" pitchFamily="2" charset="-122"/>
                <a:cs typeface="+mn-cs"/>
              </a:rPr>
              <a:t>SCSI</a:t>
            </a:r>
            <a:r>
              <a:rPr lang="zh-CN" altLang="en-US" sz="1100" b="0" i="0" kern="1200" baseline="0" dirty="0">
                <a:solidFill>
                  <a:schemeClr val="tx1"/>
                </a:solidFill>
                <a:effectLst/>
                <a:latin typeface="+mn-ea"/>
                <a:ea typeface="方正兰亭黑简体" panose="02000000000000000000" pitchFamily="2" charset="-122"/>
                <a:cs typeface="+mn-cs"/>
              </a:rPr>
              <a:t>：勾选后，数据盘的磁盘模式为</a:t>
            </a:r>
            <a:r>
              <a:rPr lang="en-US" altLang="zh-CN" sz="1100" b="0" i="0" kern="1200" baseline="0" dirty="0">
                <a:solidFill>
                  <a:schemeClr val="tx1"/>
                </a:solidFill>
                <a:effectLst/>
                <a:latin typeface="+mn-ea"/>
                <a:ea typeface="方正兰亭黑简体" panose="02000000000000000000" pitchFamily="2" charset="-122"/>
                <a:cs typeface="+mn-cs"/>
              </a:rPr>
              <a:t>SCSI</a:t>
            </a:r>
            <a:r>
              <a:rPr lang="zh-CN" altLang="en-US" sz="1100" b="0" i="0" kern="1200" baseline="0" dirty="0">
                <a:solidFill>
                  <a:schemeClr val="tx1"/>
                </a:solidFill>
                <a:effectLst/>
                <a:latin typeface="+mn-ea"/>
                <a:ea typeface="方正兰亭黑简体" panose="02000000000000000000" pitchFamily="2" charset="-122"/>
                <a:cs typeface="+mn-cs"/>
              </a:rPr>
              <a:t>。</a:t>
            </a:r>
            <a:endParaRPr lang="en-US" altLang="zh-CN" sz="1100" b="0" i="0" kern="1200" baseline="0" dirty="0">
              <a:solidFill>
                <a:schemeClr val="tx1"/>
              </a:solidFill>
              <a:effectLst/>
              <a:latin typeface="+mn-ea"/>
              <a:ea typeface="方正兰亭黑简体" panose="02000000000000000000" pitchFamily="2" charset="-122"/>
              <a:cs typeface="+mn-cs"/>
            </a:endParaRPr>
          </a:p>
          <a:p>
            <a:pPr lvl="2"/>
            <a:r>
              <a:rPr lang="zh-CN" altLang="en-US" sz="1100" b="0" i="0" kern="1200" baseline="0" dirty="0">
                <a:solidFill>
                  <a:schemeClr val="tx1"/>
                </a:solidFill>
                <a:effectLst/>
                <a:latin typeface="+mn-ea"/>
                <a:ea typeface="方正兰亭黑简体" panose="02000000000000000000" pitchFamily="2" charset="-122"/>
                <a:cs typeface="+mn-cs"/>
              </a:rPr>
              <a:t>共享盘：勾选后，数据盘为共享云硬盘。该共享盘可以同时挂载给多台云服务器使用。</a:t>
            </a:r>
          </a:p>
          <a:p>
            <a:pPr lvl="2"/>
            <a:r>
              <a:rPr lang="zh-CN" altLang="en-US" sz="1100" b="0" i="0" kern="1200" baseline="0" dirty="0">
                <a:solidFill>
                  <a:schemeClr val="tx1"/>
                </a:solidFill>
                <a:effectLst/>
                <a:latin typeface="+mn-ea"/>
                <a:ea typeface="方正兰亭黑简体" panose="02000000000000000000" pitchFamily="2" charset="-122"/>
                <a:cs typeface="+mn-cs"/>
              </a:rPr>
              <a:t>加密：勾选后，数据盘加密，具体请参见</a:t>
            </a:r>
            <a:r>
              <a:rPr lang="en-US" altLang="zh-CN" sz="1100" b="0" i="0" u="none" strike="noStrike" kern="1200" baseline="0" dirty="0">
                <a:solidFill>
                  <a:schemeClr val="tx1"/>
                </a:solidFill>
                <a:effectLst/>
                <a:latin typeface="+mn-ea"/>
                <a:ea typeface="方正兰亭黑简体" panose="02000000000000000000" pitchFamily="2" charset="-122"/>
                <a:cs typeface="+mn-cs"/>
                <a:hlinkClick r:id="rId3"/>
              </a:rPr>
              <a:t>•</a:t>
            </a:r>
            <a:r>
              <a:rPr lang="zh-CN" altLang="en-US" sz="1100" b="0" i="0" u="none" strike="noStrike" kern="1200" baseline="0" dirty="0">
                <a:solidFill>
                  <a:schemeClr val="tx1"/>
                </a:solidFill>
                <a:effectLst/>
                <a:latin typeface="+mn-ea"/>
                <a:ea typeface="方正兰亭黑简体" panose="02000000000000000000" pitchFamily="2" charset="-122"/>
                <a:cs typeface="+mn-cs"/>
                <a:hlinkClick r:id="rId3"/>
              </a:rPr>
              <a:t>加密涉及的参数（可选配置）</a:t>
            </a:r>
            <a:r>
              <a:rPr lang="zh-CN" altLang="en-US" sz="1100" b="0" i="0" kern="1200" baseline="0" dirty="0">
                <a:solidFill>
                  <a:schemeClr val="tx1"/>
                </a:solidFill>
                <a:effectLst/>
                <a:latin typeface="+mn-ea"/>
                <a:ea typeface="方正兰亭黑简体" panose="02000000000000000000" pitchFamily="2" charset="-122"/>
                <a:cs typeface="+mn-cs"/>
              </a:rPr>
              <a:t>。</a:t>
            </a:r>
          </a:p>
          <a:p>
            <a:pPr lvl="1"/>
            <a:r>
              <a:rPr lang="zh-CN" altLang="en-US" sz="1100" b="0" i="0" kern="1200" baseline="0" dirty="0">
                <a:solidFill>
                  <a:schemeClr val="tx1"/>
                </a:solidFill>
                <a:effectLst/>
                <a:latin typeface="+mn-ea"/>
                <a:ea typeface="方正兰亭黑简体" panose="02000000000000000000" pitchFamily="2" charset="-122"/>
                <a:cs typeface="+mn-cs"/>
              </a:rPr>
              <a:t>加密涉及的参数：（可选配置）为了使用加密特性，需单击“</a:t>
            </a:r>
            <a:r>
              <a:rPr lang="en-US" altLang="zh-CN" sz="1100" b="0" i="0" kern="1200" baseline="0" dirty="0">
                <a:solidFill>
                  <a:schemeClr val="tx1"/>
                </a:solidFill>
                <a:effectLst/>
                <a:latin typeface="+mn-ea"/>
                <a:ea typeface="方正兰亭黑简体" panose="02000000000000000000" pitchFamily="2" charset="-122"/>
                <a:cs typeface="+mn-cs"/>
              </a:rPr>
              <a:t>Create </a:t>
            </a:r>
            <a:r>
              <a:rPr lang="en-US" altLang="zh-CN" sz="1100" b="0" i="0" kern="1200" baseline="0" dirty="0" err="1">
                <a:solidFill>
                  <a:schemeClr val="tx1"/>
                </a:solidFill>
                <a:effectLst/>
                <a:latin typeface="+mn-ea"/>
                <a:ea typeface="方正兰亭黑简体" panose="02000000000000000000" pitchFamily="2" charset="-122"/>
                <a:cs typeface="+mn-cs"/>
              </a:rPr>
              <a:t>Xrole</a:t>
            </a:r>
            <a:r>
              <a:rPr lang="en-US" altLang="zh-CN" sz="1100" b="0" i="0" kern="1200" baseline="0" dirty="0">
                <a:solidFill>
                  <a:schemeClr val="tx1"/>
                </a:solidFill>
                <a:effectLst/>
                <a:latin typeface="+mn-ea"/>
                <a:ea typeface="方正兰亭黑简体" panose="02000000000000000000" pitchFamily="2" charset="-122"/>
                <a:cs typeface="+mn-cs"/>
              </a:rPr>
              <a:t>”</a:t>
            </a:r>
            <a:r>
              <a:rPr lang="zh-CN" altLang="en-US" sz="1100" b="0" i="0" kern="1200" baseline="0" dirty="0">
                <a:solidFill>
                  <a:schemeClr val="tx1"/>
                </a:solidFill>
                <a:effectLst/>
                <a:latin typeface="+mn-ea"/>
                <a:ea typeface="方正兰亭黑简体" panose="02000000000000000000" pitchFamily="2" charset="-122"/>
                <a:cs typeface="+mn-cs"/>
              </a:rPr>
              <a:t>授权</a:t>
            </a:r>
            <a:r>
              <a:rPr lang="en-US" altLang="zh-CN" sz="1100" b="0" i="0" kern="1200" baseline="0" dirty="0">
                <a:solidFill>
                  <a:schemeClr val="tx1"/>
                </a:solidFill>
                <a:effectLst/>
                <a:latin typeface="+mn-ea"/>
                <a:ea typeface="方正兰亭黑简体" panose="02000000000000000000" pitchFamily="2" charset="-122"/>
                <a:cs typeface="+mn-cs"/>
              </a:rPr>
              <a:t>EVS</a:t>
            </a:r>
            <a:r>
              <a:rPr lang="zh-CN" altLang="en-US" sz="1100" b="0" i="0" kern="1200" baseline="0" dirty="0">
                <a:solidFill>
                  <a:schemeClr val="tx1"/>
                </a:solidFill>
                <a:effectLst/>
                <a:latin typeface="+mn-ea"/>
                <a:ea typeface="方正兰亭黑简体" panose="02000000000000000000" pitchFamily="2" charset="-122"/>
                <a:cs typeface="+mn-cs"/>
              </a:rPr>
              <a:t>访问</a:t>
            </a:r>
            <a:r>
              <a:rPr lang="en-US" altLang="zh-CN" sz="1100" b="0" i="0" kern="1200" baseline="0" dirty="0">
                <a:solidFill>
                  <a:schemeClr val="tx1"/>
                </a:solidFill>
                <a:effectLst/>
                <a:latin typeface="+mn-ea"/>
                <a:ea typeface="方正兰亭黑简体" panose="02000000000000000000" pitchFamily="2" charset="-122"/>
                <a:cs typeface="+mn-cs"/>
              </a:rPr>
              <a:t>KMS</a:t>
            </a:r>
            <a:r>
              <a:rPr lang="zh-CN" altLang="en-US" sz="1100" b="0" i="0" kern="1200" baseline="0" dirty="0">
                <a:solidFill>
                  <a:schemeClr val="tx1"/>
                </a:solidFill>
                <a:effectLst/>
                <a:latin typeface="+mn-ea"/>
                <a:ea typeface="方正兰亭黑简体" panose="02000000000000000000" pitchFamily="2" charset="-122"/>
                <a:cs typeface="+mn-cs"/>
              </a:rPr>
              <a:t>。如果您有授权资格，则可直接授权，如果权限不足，需先联系拥有</a:t>
            </a:r>
            <a:r>
              <a:rPr lang="en-US" altLang="zh-CN" sz="1100" b="0" i="0" kern="1200" baseline="0" dirty="0">
                <a:solidFill>
                  <a:schemeClr val="tx1"/>
                </a:solidFill>
                <a:effectLst/>
                <a:latin typeface="+mn-ea"/>
                <a:ea typeface="方正兰亭黑简体" panose="02000000000000000000" pitchFamily="2" charset="-122"/>
                <a:cs typeface="+mn-cs"/>
              </a:rPr>
              <a:t>Security Administrator</a:t>
            </a:r>
            <a:r>
              <a:rPr lang="zh-CN" altLang="en-US" sz="1100" b="0" i="0" kern="1200" baseline="0" dirty="0">
                <a:solidFill>
                  <a:schemeClr val="tx1"/>
                </a:solidFill>
                <a:effectLst/>
                <a:latin typeface="+mn-ea"/>
                <a:ea typeface="方正兰亭黑简体" panose="02000000000000000000" pitchFamily="2" charset="-122"/>
                <a:cs typeface="+mn-cs"/>
              </a:rPr>
              <a:t>权限的用户授权，然后再重新操作。</a:t>
            </a:r>
            <a:r>
              <a:rPr lang="en-US" altLang="zh-CN" sz="1100" b="0" i="0" kern="1200" baseline="0" dirty="0">
                <a:solidFill>
                  <a:schemeClr val="tx1"/>
                </a:solidFill>
                <a:effectLst/>
                <a:latin typeface="+mn-ea"/>
                <a:ea typeface="方正兰亭黑简体" panose="02000000000000000000" pitchFamily="2" charset="-122"/>
                <a:cs typeface="+mn-cs"/>
              </a:rPr>
              <a:t>Encrypted</a:t>
            </a:r>
            <a:r>
              <a:rPr lang="zh-CN" altLang="en-US" sz="1100" b="0" i="0" kern="1200" baseline="0" dirty="0">
                <a:solidFill>
                  <a:schemeClr val="tx1"/>
                </a:solidFill>
                <a:effectLst/>
                <a:latin typeface="+mn-ea"/>
                <a:ea typeface="方正兰亭黑简体" panose="02000000000000000000" pitchFamily="2" charset="-122"/>
                <a:cs typeface="+mn-cs"/>
              </a:rPr>
              <a:t>：表示云硬盘已加密。</a:t>
            </a:r>
          </a:p>
          <a:p>
            <a:pPr lvl="2"/>
            <a:r>
              <a:rPr lang="en-US" altLang="zh-CN" sz="1100" b="0" i="0" kern="1200" baseline="0" dirty="0">
                <a:solidFill>
                  <a:schemeClr val="tx1"/>
                </a:solidFill>
                <a:effectLst/>
                <a:latin typeface="+mn-ea"/>
                <a:ea typeface="方正兰亭黑简体" panose="02000000000000000000" pitchFamily="2" charset="-122"/>
                <a:cs typeface="+mn-cs"/>
              </a:rPr>
              <a:t>Create </a:t>
            </a:r>
            <a:r>
              <a:rPr lang="en-US" altLang="zh-CN" sz="1100" b="0" i="0" kern="1200" baseline="0" dirty="0" err="1">
                <a:solidFill>
                  <a:schemeClr val="tx1"/>
                </a:solidFill>
                <a:effectLst/>
                <a:latin typeface="+mn-ea"/>
                <a:ea typeface="方正兰亭黑简体" panose="02000000000000000000" pitchFamily="2" charset="-122"/>
                <a:cs typeface="+mn-cs"/>
              </a:rPr>
              <a:t>Xrole</a:t>
            </a:r>
            <a:r>
              <a:rPr lang="zh-CN" altLang="en-US" sz="1100" b="0" i="0" kern="1200" baseline="0" dirty="0">
                <a:solidFill>
                  <a:schemeClr val="tx1"/>
                </a:solidFill>
                <a:effectLst/>
                <a:latin typeface="+mn-ea"/>
                <a:ea typeface="方正兰亭黑简体" panose="02000000000000000000" pitchFamily="2" charset="-122"/>
                <a:cs typeface="+mn-cs"/>
              </a:rPr>
              <a:t>：用于授权</a:t>
            </a:r>
            <a:r>
              <a:rPr lang="en-US" altLang="zh-CN" sz="1100" b="0" i="0" kern="1200" baseline="0" dirty="0">
                <a:solidFill>
                  <a:schemeClr val="tx1"/>
                </a:solidFill>
                <a:effectLst/>
                <a:latin typeface="+mn-ea"/>
                <a:ea typeface="方正兰亭黑简体" panose="02000000000000000000" pitchFamily="2" charset="-122"/>
                <a:cs typeface="+mn-cs"/>
              </a:rPr>
              <a:t>EVS</a:t>
            </a:r>
            <a:r>
              <a:rPr lang="zh-CN" altLang="en-US" sz="1100" b="0" i="0" kern="1200" baseline="0" dirty="0">
                <a:solidFill>
                  <a:schemeClr val="tx1"/>
                </a:solidFill>
                <a:effectLst/>
                <a:latin typeface="+mn-ea"/>
                <a:ea typeface="方正兰亭黑简体" panose="02000000000000000000" pitchFamily="2" charset="-122"/>
                <a:cs typeface="+mn-cs"/>
              </a:rPr>
              <a:t>访问</a:t>
            </a:r>
            <a:r>
              <a:rPr lang="en-US" altLang="zh-CN" sz="1100" b="0" i="0" kern="1200" baseline="0" dirty="0">
                <a:solidFill>
                  <a:schemeClr val="tx1"/>
                </a:solidFill>
                <a:effectLst/>
                <a:latin typeface="+mn-ea"/>
                <a:ea typeface="方正兰亭黑简体" panose="02000000000000000000" pitchFamily="2" charset="-122"/>
                <a:cs typeface="+mn-cs"/>
              </a:rPr>
              <a:t>KMS</a:t>
            </a:r>
            <a:r>
              <a:rPr lang="zh-CN" altLang="en-US" sz="1100" b="0" i="0" kern="1200" baseline="0" dirty="0">
                <a:solidFill>
                  <a:schemeClr val="tx1"/>
                </a:solidFill>
                <a:effectLst/>
                <a:latin typeface="+mn-ea"/>
                <a:ea typeface="方正兰亭黑简体" panose="02000000000000000000" pitchFamily="2" charset="-122"/>
                <a:cs typeface="+mn-cs"/>
              </a:rPr>
              <a:t>获取</a:t>
            </a:r>
            <a:r>
              <a:rPr lang="en-US" altLang="zh-CN" sz="1100" b="0" i="0" kern="1200" baseline="0" dirty="0">
                <a:solidFill>
                  <a:schemeClr val="tx1"/>
                </a:solidFill>
                <a:effectLst/>
                <a:latin typeface="+mn-ea"/>
                <a:ea typeface="方正兰亭黑简体" panose="02000000000000000000" pitchFamily="2" charset="-122"/>
                <a:cs typeface="+mn-cs"/>
              </a:rPr>
              <a:t>KMS</a:t>
            </a:r>
            <a:r>
              <a:rPr lang="zh-CN" altLang="en-US" sz="1100" b="0" i="0" kern="1200" baseline="0" dirty="0">
                <a:solidFill>
                  <a:schemeClr val="tx1"/>
                </a:solidFill>
                <a:effectLst/>
                <a:latin typeface="+mn-ea"/>
                <a:ea typeface="方正兰亭黑简体" panose="02000000000000000000" pitchFamily="2" charset="-122"/>
                <a:cs typeface="+mn-cs"/>
              </a:rPr>
              <a:t>密钥。授权成功后，无需再次授权。</a:t>
            </a:r>
          </a:p>
          <a:p>
            <a:pPr lvl="2"/>
            <a:r>
              <a:rPr lang="zh-CN" altLang="en-US" sz="1100" b="0" i="0" kern="1200" baseline="0" dirty="0">
                <a:solidFill>
                  <a:schemeClr val="tx1"/>
                </a:solidFill>
                <a:effectLst/>
                <a:latin typeface="+mn-ea"/>
                <a:ea typeface="方正兰亭黑简体" panose="02000000000000000000" pitchFamily="2" charset="-122"/>
                <a:cs typeface="+mn-cs"/>
              </a:rPr>
              <a:t>密钥名称：该加密云硬盘使用的密钥名称，默认为</a:t>
            </a:r>
            <a:r>
              <a:rPr lang="en-US" altLang="zh-CN" sz="1100" b="0" i="0" kern="1200" baseline="0" dirty="0" err="1">
                <a:solidFill>
                  <a:schemeClr val="tx1"/>
                </a:solidFill>
                <a:effectLst/>
                <a:latin typeface="+mn-ea"/>
                <a:ea typeface="方正兰亭黑简体" panose="02000000000000000000" pitchFamily="2" charset="-122"/>
                <a:cs typeface="+mn-cs"/>
              </a:rPr>
              <a:t>evs</a:t>
            </a:r>
            <a:r>
              <a:rPr lang="en-US" altLang="zh-CN" sz="1100" b="0" i="0" kern="1200" baseline="0" dirty="0">
                <a:solidFill>
                  <a:schemeClr val="tx1"/>
                </a:solidFill>
                <a:effectLst/>
                <a:latin typeface="+mn-ea"/>
                <a:ea typeface="方正兰亭黑简体" panose="02000000000000000000" pitchFamily="2" charset="-122"/>
                <a:cs typeface="+mn-cs"/>
              </a:rPr>
              <a:t>/default</a:t>
            </a:r>
            <a:r>
              <a:rPr lang="zh-CN" altLang="en-US" sz="1100" b="0" i="0" kern="1200" baseline="0" dirty="0">
                <a:solidFill>
                  <a:schemeClr val="tx1"/>
                </a:solidFill>
                <a:effectLst/>
                <a:latin typeface="+mn-ea"/>
                <a:ea typeface="方正兰亭黑简体" panose="02000000000000000000" pitchFamily="2" charset="-122"/>
                <a:cs typeface="+mn-cs"/>
              </a:rPr>
              <a:t>。</a:t>
            </a:r>
          </a:p>
          <a:p>
            <a:pPr lvl="2"/>
            <a:r>
              <a:rPr lang="en-US" altLang="zh-CN" sz="1100" b="0" i="0" kern="1200" baseline="0" dirty="0" err="1">
                <a:solidFill>
                  <a:schemeClr val="tx1"/>
                </a:solidFill>
                <a:effectLst/>
                <a:latin typeface="+mn-ea"/>
                <a:ea typeface="方正兰亭黑简体" panose="02000000000000000000" pitchFamily="2" charset="-122"/>
                <a:cs typeface="+mn-cs"/>
              </a:rPr>
              <a:t>Xrole</a:t>
            </a:r>
            <a:r>
              <a:rPr lang="zh-CN" altLang="en-US" sz="1100" b="0" i="0" kern="1200" baseline="0" dirty="0">
                <a:solidFill>
                  <a:schemeClr val="tx1"/>
                </a:solidFill>
                <a:effectLst/>
                <a:latin typeface="+mn-ea"/>
                <a:ea typeface="方正兰亭黑简体" panose="02000000000000000000" pitchFamily="2" charset="-122"/>
                <a:cs typeface="+mn-cs"/>
              </a:rPr>
              <a:t>名称</a:t>
            </a:r>
            <a:r>
              <a:rPr lang="en-US" altLang="zh-CN" sz="1100" b="0" i="0" kern="1200" baseline="0" dirty="0">
                <a:solidFill>
                  <a:schemeClr val="tx1"/>
                </a:solidFill>
                <a:effectLst/>
                <a:latin typeface="+mn-ea"/>
                <a:ea typeface="方正兰亭黑简体" panose="02000000000000000000" pitchFamily="2" charset="-122"/>
                <a:cs typeface="+mn-cs"/>
              </a:rPr>
              <a:t>:</a:t>
            </a:r>
            <a:r>
              <a:rPr lang="en-US" altLang="zh-CN" sz="1100" b="0" i="0" kern="1200" baseline="0" dirty="0" err="1">
                <a:solidFill>
                  <a:schemeClr val="tx1"/>
                </a:solidFill>
                <a:effectLst/>
                <a:latin typeface="+mn-ea"/>
                <a:ea typeface="方正兰亭黑简体" panose="02000000000000000000" pitchFamily="2" charset="-122"/>
                <a:cs typeface="+mn-cs"/>
              </a:rPr>
              <a:t>EVSAccessKMS</a:t>
            </a:r>
            <a:r>
              <a:rPr lang="zh-CN" altLang="en-US" sz="1100" b="0" i="0" kern="1200" baseline="0" dirty="0">
                <a:solidFill>
                  <a:schemeClr val="tx1"/>
                </a:solidFill>
                <a:effectLst/>
                <a:latin typeface="+mn-ea"/>
                <a:ea typeface="方正兰亭黑简体" panose="02000000000000000000" pitchFamily="2" charset="-122"/>
                <a:cs typeface="+mn-cs"/>
              </a:rPr>
              <a:t>：表示已授权</a:t>
            </a:r>
            <a:r>
              <a:rPr lang="en-US" altLang="zh-CN" sz="1100" b="0" i="0" kern="1200" baseline="0" dirty="0">
                <a:solidFill>
                  <a:schemeClr val="tx1"/>
                </a:solidFill>
                <a:effectLst/>
                <a:latin typeface="+mn-ea"/>
                <a:ea typeface="方正兰亭黑简体" panose="02000000000000000000" pitchFamily="2" charset="-122"/>
                <a:cs typeface="+mn-cs"/>
              </a:rPr>
              <a:t>EVS</a:t>
            </a:r>
            <a:r>
              <a:rPr lang="zh-CN" altLang="en-US" sz="1100" b="0" i="0" kern="1200" baseline="0" dirty="0">
                <a:solidFill>
                  <a:schemeClr val="tx1"/>
                </a:solidFill>
                <a:effectLst/>
                <a:latin typeface="+mn-ea"/>
                <a:ea typeface="方正兰亭黑简体" panose="02000000000000000000" pitchFamily="2" charset="-122"/>
                <a:cs typeface="+mn-cs"/>
              </a:rPr>
              <a:t>获取</a:t>
            </a:r>
            <a:r>
              <a:rPr lang="en-US" altLang="zh-CN" sz="1100" b="0" i="0" kern="1200" baseline="0" dirty="0">
                <a:solidFill>
                  <a:schemeClr val="tx1"/>
                </a:solidFill>
                <a:effectLst/>
                <a:latin typeface="+mn-ea"/>
                <a:ea typeface="方正兰亭黑简体" panose="02000000000000000000" pitchFamily="2" charset="-122"/>
                <a:cs typeface="+mn-cs"/>
              </a:rPr>
              <a:t>KMS</a:t>
            </a:r>
            <a:r>
              <a:rPr lang="zh-CN" altLang="en-US" sz="1100" b="0" i="0" kern="1200" baseline="0" dirty="0">
                <a:solidFill>
                  <a:schemeClr val="tx1"/>
                </a:solidFill>
                <a:effectLst/>
                <a:latin typeface="+mn-ea"/>
                <a:ea typeface="方正兰亭黑简体" panose="02000000000000000000" pitchFamily="2" charset="-122"/>
                <a:cs typeface="+mn-cs"/>
              </a:rPr>
              <a:t>密钥，用于加解密云硬盘。</a:t>
            </a:r>
          </a:p>
          <a:p>
            <a:pPr lvl="2"/>
            <a:r>
              <a:rPr lang="zh-CN" altLang="en-US" sz="1100" b="0" i="0" kern="1200" baseline="0" dirty="0">
                <a:solidFill>
                  <a:schemeClr val="tx1"/>
                </a:solidFill>
                <a:effectLst/>
                <a:latin typeface="+mn-ea"/>
                <a:ea typeface="方正兰亭黑简体" panose="02000000000000000000" pitchFamily="2" charset="-122"/>
                <a:cs typeface="+mn-cs"/>
              </a:rPr>
              <a:t>密钥</a:t>
            </a:r>
            <a:r>
              <a:rPr lang="en-US" altLang="zh-CN" sz="1100" b="0" i="0" kern="1200" baseline="0" dirty="0">
                <a:solidFill>
                  <a:schemeClr val="tx1"/>
                </a:solidFill>
                <a:effectLst/>
                <a:latin typeface="+mn-ea"/>
                <a:ea typeface="方正兰亭黑简体" panose="02000000000000000000" pitchFamily="2" charset="-122"/>
                <a:cs typeface="+mn-cs"/>
              </a:rPr>
              <a:t>ID</a:t>
            </a:r>
            <a:r>
              <a:rPr lang="zh-CN" altLang="en-US" sz="1100" b="0" i="0" kern="1200" baseline="0" dirty="0">
                <a:solidFill>
                  <a:schemeClr val="tx1"/>
                </a:solidFill>
                <a:effectLst/>
                <a:latin typeface="+mn-ea"/>
                <a:ea typeface="方正兰亭黑简体" panose="02000000000000000000" pitchFamily="2" charset="-122"/>
                <a:cs typeface="+mn-cs"/>
              </a:rPr>
              <a:t>：该加密数据盘使用的密钥的</a:t>
            </a:r>
            <a:r>
              <a:rPr lang="en-US" altLang="zh-CN" sz="1100" b="0" i="0" kern="1200" baseline="0" dirty="0">
                <a:solidFill>
                  <a:schemeClr val="tx1"/>
                </a:solidFill>
                <a:effectLst/>
                <a:latin typeface="+mn-ea"/>
                <a:ea typeface="方正兰亭黑简体" panose="02000000000000000000" pitchFamily="2" charset="-122"/>
                <a:cs typeface="+mn-cs"/>
              </a:rPr>
              <a:t>ID</a:t>
            </a:r>
            <a:r>
              <a:rPr lang="zh-CN" altLang="en-US" sz="1100" b="0" i="0" kern="1200" baseline="0" dirty="0">
                <a:solidFill>
                  <a:schemeClr val="tx1"/>
                </a:solidFill>
                <a:effectLst/>
                <a:latin typeface="+mn-ea"/>
                <a:ea typeface="方正兰亭黑简体" panose="02000000000000000000" pitchFamily="2" charset="-122"/>
                <a:cs typeface="+mn-cs"/>
              </a:rPr>
              <a:t>。</a:t>
            </a:r>
            <a:endParaRPr lang="en-US" altLang="zh-CN" sz="1100" b="0" i="0" kern="1200" dirty="0">
              <a:solidFill>
                <a:schemeClr val="tx1"/>
              </a:solidFill>
              <a:effectLst/>
              <a:latin typeface="+mn-ea"/>
              <a:ea typeface="+mn-ea"/>
              <a:cs typeface="+mn-cs"/>
            </a:endParaRPr>
          </a:p>
          <a:p>
            <a:pPr marL="360363" lvl="1" indent="0">
              <a:buNone/>
            </a:pPr>
            <a:endParaRPr lang="en-US" altLang="zh-CN" sz="1100" b="0" i="0" kern="1200" dirty="0">
              <a:solidFill>
                <a:schemeClr val="tx1"/>
              </a:solidFill>
              <a:effectLst/>
              <a:latin typeface="+mn-ea"/>
              <a:ea typeface="+mn-ea"/>
              <a:cs typeface="+mn-cs"/>
            </a:endParaRPr>
          </a:p>
        </p:txBody>
      </p:sp>
    </p:spTree>
    <p:extLst>
      <p:ext uri="{BB962C8B-B14F-4D97-AF65-F5344CB8AC3E}">
        <p14:creationId xmlns:p14="http://schemas.microsoft.com/office/powerpoint/2010/main" val="2877695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r>
              <a:rPr lang="zh-CN" altLang="en-US" dirty="0">
                <a:latin typeface="+mn-ea"/>
                <a:ea typeface="+mn-ea"/>
              </a:rPr>
              <a:t>虚拟私有云：</a:t>
            </a:r>
            <a:r>
              <a:rPr lang="zh-CN" altLang="en-US" sz="1100" b="0" i="0" kern="1200" dirty="0">
                <a:solidFill>
                  <a:schemeClr val="tx1"/>
                </a:solidFill>
                <a:effectLst/>
                <a:latin typeface="+mn-ea"/>
                <a:ea typeface="+mn-ea"/>
                <a:cs typeface="+mn-cs"/>
              </a:rPr>
              <a:t>弹性云服务器网络使用虚拟私有云（</a:t>
            </a:r>
            <a:r>
              <a:rPr lang="en-US" altLang="zh-CN" sz="1100" b="0" i="0" kern="1200" dirty="0">
                <a:solidFill>
                  <a:schemeClr val="tx1"/>
                </a:solidFill>
                <a:effectLst/>
                <a:latin typeface="+mn-ea"/>
                <a:ea typeface="+mn-ea"/>
                <a:cs typeface="+mn-cs"/>
              </a:rPr>
              <a:t>VPC</a:t>
            </a:r>
            <a:r>
              <a:rPr lang="zh-CN" altLang="en-US" sz="1100" b="0" i="0" kern="1200" dirty="0">
                <a:solidFill>
                  <a:schemeClr val="tx1"/>
                </a:solidFill>
                <a:effectLst/>
                <a:latin typeface="+mn-ea"/>
                <a:ea typeface="+mn-ea"/>
                <a:cs typeface="+mn-cs"/>
              </a:rPr>
              <a:t>）提供的网络，包括子网、安全组等。您可以选择使用已有的虚拟私有云网络，或者单击“查看虚拟私有云”创建新的虚拟私有云。</a:t>
            </a:r>
          </a:p>
          <a:p>
            <a:pPr marL="0" indent="0">
              <a:buNone/>
            </a:pPr>
            <a:r>
              <a:rPr lang="zh-CN" altLang="en-US" sz="1100" b="1" i="0" kern="1200" baseline="0" dirty="0">
                <a:solidFill>
                  <a:schemeClr val="tx1"/>
                </a:solidFill>
                <a:effectLst/>
                <a:latin typeface="+mn-ea"/>
                <a:ea typeface="+mn-ea"/>
                <a:cs typeface="+mn-cs"/>
              </a:rPr>
              <a:t>    </a:t>
            </a:r>
            <a:r>
              <a:rPr lang="zh-CN" altLang="en-US" sz="1100" b="1" i="0" kern="1200" dirty="0">
                <a:solidFill>
                  <a:schemeClr val="tx1"/>
                </a:solidFill>
                <a:effectLst/>
                <a:latin typeface="+mn-ea"/>
                <a:ea typeface="+mn-ea"/>
                <a:cs typeface="+mn-cs"/>
              </a:rPr>
              <a:t>说明：</a:t>
            </a:r>
            <a:r>
              <a:rPr lang="zh-CN" altLang="en-US" sz="1100" b="0" i="0" kern="1200" dirty="0">
                <a:solidFill>
                  <a:schemeClr val="tx1"/>
                </a:solidFill>
                <a:effectLst/>
                <a:latin typeface="+mn-ea"/>
                <a:ea typeface="+mn-ea"/>
                <a:cs typeface="+mn-cs"/>
              </a:rPr>
              <a:t>弹性云服务器使用的</a:t>
            </a:r>
            <a:r>
              <a:rPr lang="en-US" altLang="zh-CN" sz="1100" b="0" i="0" kern="1200" dirty="0">
                <a:solidFill>
                  <a:schemeClr val="tx1"/>
                </a:solidFill>
                <a:effectLst/>
                <a:latin typeface="+mn-ea"/>
                <a:ea typeface="+mn-ea"/>
                <a:cs typeface="+mn-cs"/>
              </a:rPr>
              <a:t>VPC</a:t>
            </a:r>
            <a:r>
              <a:rPr lang="zh-CN" altLang="en-US" sz="1100" b="0" i="0" kern="1200" dirty="0">
                <a:solidFill>
                  <a:schemeClr val="tx1"/>
                </a:solidFill>
                <a:effectLst/>
                <a:latin typeface="+mn-ea"/>
                <a:ea typeface="+mn-ea"/>
                <a:cs typeface="+mn-cs"/>
              </a:rPr>
              <a:t>网络</a:t>
            </a:r>
            <a:r>
              <a:rPr lang="en-US" altLang="zh-CN" sz="1100" b="0" i="0" kern="1200" dirty="0">
                <a:solidFill>
                  <a:schemeClr val="tx1"/>
                </a:solidFill>
                <a:effectLst/>
                <a:latin typeface="+mn-ea"/>
                <a:ea typeface="+mn-ea"/>
                <a:cs typeface="+mn-cs"/>
              </a:rPr>
              <a:t>DHCP</a:t>
            </a:r>
            <a:r>
              <a:rPr lang="zh-CN" altLang="en-US" sz="1100" b="0" i="0" kern="1200" dirty="0">
                <a:solidFill>
                  <a:schemeClr val="tx1"/>
                </a:solidFill>
                <a:effectLst/>
                <a:latin typeface="+mn-ea"/>
                <a:ea typeface="+mn-ea"/>
                <a:cs typeface="+mn-cs"/>
              </a:rPr>
              <a:t>不能禁用。</a:t>
            </a:r>
            <a:endParaRPr lang="en-US" altLang="zh-CN" dirty="0">
              <a:latin typeface="+mn-ea"/>
              <a:ea typeface="+mn-ea"/>
            </a:endParaRPr>
          </a:p>
          <a:p>
            <a:r>
              <a:rPr lang="zh-CN" altLang="en-US" dirty="0">
                <a:latin typeface="+mn-ea"/>
                <a:ea typeface="+mn-ea"/>
              </a:rPr>
              <a:t>安全组：</a:t>
            </a:r>
            <a:r>
              <a:rPr lang="zh-CN" altLang="en-US" sz="1100" b="0" i="0" kern="1200" dirty="0">
                <a:solidFill>
                  <a:schemeClr val="tx1"/>
                </a:solidFill>
                <a:effectLst/>
                <a:latin typeface="+mn-ea"/>
                <a:ea typeface="+mn-ea"/>
                <a:cs typeface="+mn-cs"/>
              </a:rPr>
              <a:t>安全组用来实现安全组内和安全组间弹性云服务器的访问控制，加强弹性云服务器的安全保护。用户可以在安全组中定义各种访问规则，当弹性云服务器加入该安全组后，即受到这些访问规则的保护。</a:t>
            </a:r>
            <a:endParaRPr lang="en-US" altLang="zh-CN" dirty="0">
              <a:latin typeface="+mn-ea"/>
              <a:ea typeface="+mn-ea"/>
            </a:endParaRPr>
          </a:p>
          <a:p>
            <a:r>
              <a:rPr lang="zh-CN" altLang="en-US" dirty="0">
                <a:latin typeface="+mn-ea"/>
                <a:ea typeface="+mn-ea"/>
              </a:rPr>
              <a:t>网卡：</a:t>
            </a:r>
            <a:r>
              <a:rPr lang="zh-CN" altLang="en-US" sz="1100" b="0" i="0" kern="1200" dirty="0">
                <a:solidFill>
                  <a:schemeClr val="tx1"/>
                </a:solidFill>
                <a:effectLst/>
                <a:latin typeface="+mn-ea"/>
                <a:ea typeface="+mn-ea"/>
                <a:cs typeface="+mn-cs"/>
              </a:rPr>
              <a:t>包括主网卡和扩展网卡，您可以添加多张扩展网卡，并指定网卡（包括主网卡）的</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地址。</a:t>
            </a:r>
            <a:endParaRPr lang="en-US" altLang="zh-CN" dirty="0">
              <a:latin typeface="+mn-ea"/>
              <a:ea typeface="+mn-ea"/>
            </a:endParaRPr>
          </a:p>
          <a:p>
            <a:r>
              <a:rPr lang="zh-CN" altLang="en-US" dirty="0">
                <a:latin typeface="+mn-ea"/>
                <a:ea typeface="+mn-ea"/>
              </a:rPr>
              <a:t>弹性公网</a:t>
            </a:r>
            <a:r>
              <a:rPr lang="en-US" altLang="zh-CN" dirty="0">
                <a:latin typeface="+mn-ea"/>
                <a:ea typeface="+mn-ea"/>
              </a:rPr>
              <a:t>IP</a:t>
            </a:r>
            <a:r>
              <a:rPr lang="zh-CN" altLang="en-US" dirty="0">
                <a:latin typeface="+mn-ea"/>
                <a:ea typeface="+mn-ea"/>
              </a:rPr>
              <a:t>：</a:t>
            </a:r>
            <a:r>
              <a:rPr lang="zh-CN" altLang="en-US" sz="1100" b="0" i="0" kern="1200" dirty="0">
                <a:solidFill>
                  <a:schemeClr val="tx1"/>
                </a:solidFill>
                <a:effectLst/>
                <a:latin typeface="+mn-ea"/>
                <a:ea typeface="+mn-ea"/>
                <a:cs typeface="+mn-cs"/>
              </a:rPr>
              <a:t>弹性公网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是指将公网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地址和路由网络中关联的弹性云服务器绑定，以实现虚拟私有云内的弹性云服务器通过固定的公网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地址对外提供访问服务。</a:t>
            </a:r>
          </a:p>
          <a:p>
            <a:pPr marL="0" indent="0">
              <a:buNone/>
            </a:pPr>
            <a:r>
              <a:rPr lang="zh-CN" altLang="en-US" sz="1100" b="0" i="0" kern="1200" dirty="0">
                <a:solidFill>
                  <a:schemeClr val="tx1"/>
                </a:solidFill>
                <a:effectLst/>
                <a:latin typeface="+mn-ea"/>
                <a:ea typeface="+mn-ea"/>
                <a:cs typeface="+mn-cs"/>
              </a:rPr>
              <a:t>    您可以根据实际情况选择以下三种方式：</a:t>
            </a:r>
          </a:p>
          <a:p>
            <a:pPr lvl="1"/>
            <a:r>
              <a:rPr lang="zh-CN" altLang="en-US" sz="1100" b="0" i="0" kern="1200" dirty="0">
                <a:solidFill>
                  <a:schemeClr val="tx1"/>
                </a:solidFill>
                <a:effectLst/>
                <a:latin typeface="+mn-ea"/>
                <a:ea typeface="+mn-ea"/>
                <a:cs typeface="+mn-cs"/>
              </a:rPr>
              <a:t>暂不购买：弹性云服务器不能与互联网互通，仅可作为私有网络中部署业务或者集群所需弹性云服务器进行使用。</a:t>
            </a:r>
          </a:p>
          <a:p>
            <a:pPr lvl="1"/>
            <a:r>
              <a:rPr lang="zh-CN" altLang="en-US" sz="1100" b="0" i="0" kern="1200" dirty="0">
                <a:solidFill>
                  <a:schemeClr val="tx1"/>
                </a:solidFill>
                <a:effectLst/>
                <a:latin typeface="+mn-ea"/>
                <a:ea typeface="+mn-ea"/>
                <a:cs typeface="+mn-cs"/>
              </a:rPr>
              <a:t>现在购买：自动为每台弹性云服务器分配独享带宽的弹性公网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，带宽值可以由您设定。</a:t>
            </a:r>
          </a:p>
          <a:p>
            <a:pPr lvl="1"/>
            <a:r>
              <a:rPr lang="zh-CN" altLang="en-US" sz="1100" b="0" i="0" kern="1200" dirty="0">
                <a:solidFill>
                  <a:schemeClr val="tx1"/>
                </a:solidFill>
                <a:effectLst/>
                <a:latin typeface="+mn-ea"/>
                <a:ea typeface="+mn-ea"/>
                <a:cs typeface="+mn-cs"/>
              </a:rPr>
              <a:t>使用已有：为弹性云服务器分配已有弹性公网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。使用已有弹性公网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时，不能批量创建弹性云服务器。</a:t>
            </a:r>
            <a:endParaRPr lang="en-US" altLang="zh-CN" dirty="0">
              <a:latin typeface="+mn-ea"/>
              <a:ea typeface="+mn-ea"/>
            </a:endParaRPr>
          </a:p>
          <a:p>
            <a:r>
              <a:rPr lang="zh-CN" altLang="en-US" sz="1600" kern="1200" baseline="0" dirty="0">
                <a:solidFill>
                  <a:schemeClr val="tx1"/>
                </a:solidFill>
                <a:latin typeface="+mn-ea"/>
                <a:ea typeface="方正兰亭黑简体" panose="02000000000000000000" pitchFamily="2" charset="-122"/>
                <a:cs typeface="+mn-cs"/>
              </a:rPr>
              <a:t>规格：</a:t>
            </a:r>
            <a:r>
              <a:rPr lang="zh-CN" altLang="en-US" sz="1100" b="0" i="0" kern="1200" baseline="0" dirty="0">
                <a:solidFill>
                  <a:schemeClr val="tx1"/>
                </a:solidFill>
                <a:effectLst/>
                <a:latin typeface="+mn-ea"/>
                <a:ea typeface="方正兰亭黑简体" panose="02000000000000000000" pitchFamily="2" charset="-122"/>
                <a:cs typeface="+mn-cs"/>
              </a:rPr>
              <a:t>静态</a:t>
            </a:r>
            <a:r>
              <a:rPr lang="en-US" altLang="zh-CN" sz="1100" b="0" i="0" kern="1200" baseline="0" dirty="0">
                <a:solidFill>
                  <a:schemeClr val="tx1"/>
                </a:solidFill>
                <a:effectLst/>
                <a:latin typeface="+mn-ea"/>
                <a:ea typeface="方正兰亭黑简体" panose="02000000000000000000" pitchFamily="2" charset="-122"/>
                <a:cs typeface="+mn-cs"/>
              </a:rPr>
              <a:t>BGP</a:t>
            </a:r>
            <a:r>
              <a:rPr lang="zh-CN" altLang="en-US" sz="1100" b="0" i="0" kern="1200" baseline="0" dirty="0">
                <a:solidFill>
                  <a:schemeClr val="tx1"/>
                </a:solidFill>
                <a:effectLst/>
                <a:latin typeface="+mn-ea"/>
                <a:ea typeface="方正兰亭黑简体" panose="02000000000000000000" pitchFamily="2" charset="-122"/>
                <a:cs typeface="+mn-cs"/>
              </a:rPr>
              <a:t>中的网络结构发生变化，运营商无法在第一时间自动调整网络设置以保障用户的体验度；全动态</a:t>
            </a:r>
            <a:r>
              <a:rPr lang="en-US" altLang="zh-CN" sz="1100" b="0" i="0" kern="1200" baseline="0" dirty="0">
                <a:solidFill>
                  <a:schemeClr val="tx1"/>
                </a:solidFill>
                <a:effectLst/>
                <a:latin typeface="+mn-ea"/>
                <a:ea typeface="方正兰亭黑简体" panose="02000000000000000000" pitchFamily="2" charset="-122"/>
                <a:cs typeface="+mn-cs"/>
              </a:rPr>
              <a:t>BGP</a:t>
            </a:r>
            <a:r>
              <a:rPr lang="zh-CN" altLang="en-US" sz="1100" b="0" i="0" kern="1200" baseline="0" dirty="0">
                <a:solidFill>
                  <a:schemeClr val="tx1"/>
                </a:solidFill>
                <a:effectLst/>
                <a:latin typeface="+mn-ea"/>
                <a:ea typeface="方正兰亭黑简体" panose="02000000000000000000" pitchFamily="2" charset="-122"/>
                <a:cs typeface="+mn-cs"/>
              </a:rPr>
              <a:t>可根据设定的寻路协议第一时间自动优化网络结构，以保持客户使用的网络持续稳定、高效。</a:t>
            </a:r>
            <a:endParaRPr lang="en-US" altLang="zh-CN" sz="1600" kern="1200" baseline="0" dirty="0">
              <a:solidFill>
                <a:schemeClr val="tx1"/>
              </a:solidFill>
              <a:latin typeface="+mn-ea"/>
              <a:ea typeface="方正兰亭黑简体" panose="02000000000000000000" pitchFamily="2" charset="-122"/>
              <a:cs typeface="+mn-cs"/>
            </a:endParaRPr>
          </a:p>
          <a:p>
            <a:r>
              <a:rPr lang="zh-CN" altLang="en-US" sz="1600" kern="1200" baseline="0" dirty="0">
                <a:solidFill>
                  <a:schemeClr val="tx1"/>
                </a:solidFill>
                <a:latin typeface="+mn-ea"/>
                <a:ea typeface="方正兰亭黑简体" panose="02000000000000000000" pitchFamily="2" charset="-122"/>
                <a:cs typeface="+mn-cs"/>
              </a:rPr>
              <a:t>带宽类型：</a:t>
            </a:r>
            <a:r>
              <a:rPr lang="zh-CN" altLang="en-US" sz="1100" b="0" i="0" kern="1200" baseline="0" dirty="0">
                <a:solidFill>
                  <a:schemeClr val="tx1"/>
                </a:solidFill>
                <a:effectLst/>
                <a:latin typeface="+mn-ea"/>
                <a:ea typeface="方正兰亭黑简体" panose="02000000000000000000" pitchFamily="2" charset="-122"/>
                <a:cs typeface="+mn-cs"/>
              </a:rPr>
              <a:t>“弹性公网</a:t>
            </a:r>
            <a:r>
              <a:rPr lang="en-US" altLang="zh-CN" sz="1100" b="0" i="0" kern="1200" baseline="0" dirty="0">
                <a:solidFill>
                  <a:schemeClr val="tx1"/>
                </a:solidFill>
                <a:effectLst/>
                <a:latin typeface="+mn-ea"/>
                <a:ea typeface="方正兰亭黑简体" panose="02000000000000000000" pitchFamily="2" charset="-122"/>
                <a:cs typeface="+mn-cs"/>
              </a:rPr>
              <a:t>IP”</a:t>
            </a:r>
            <a:r>
              <a:rPr lang="zh-CN" altLang="en-US" sz="1100" b="0" i="0" kern="1200" baseline="0" dirty="0">
                <a:solidFill>
                  <a:schemeClr val="tx1"/>
                </a:solidFill>
                <a:effectLst/>
                <a:latin typeface="+mn-ea"/>
                <a:ea typeface="方正兰亭黑简体" panose="02000000000000000000" pitchFamily="2" charset="-122"/>
                <a:cs typeface="+mn-cs"/>
              </a:rPr>
              <a:t>选择“现在购买”时，需配置该参数。</a:t>
            </a:r>
          </a:p>
          <a:p>
            <a:pPr lvl="1"/>
            <a:r>
              <a:rPr lang="zh-CN" altLang="en-US" sz="1100" b="0" i="0" kern="1200" baseline="0" dirty="0">
                <a:solidFill>
                  <a:schemeClr val="tx1"/>
                </a:solidFill>
                <a:effectLst/>
                <a:latin typeface="+mn-ea"/>
                <a:ea typeface="方正兰亭黑简体" panose="02000000000000000000" pitchFamily="2" charset="-122"/>
                <a:cs typeface="+mn-cs"/>
              </a:rPr>
              <a:t>独享带宽：一个带宽只能被一个弹性公网</a:t>
            </a:r>
            <a:r>
              <a:rPr lang="en-US" altLang="zh-CN" sz="1100" b="0" i="0" kern="1200" baseline="0" dirty="0">
                <a:solidFill>
                  <a:schemeClr val="tx1"/>
                </a:solidFill>
                <a:effectLst/>
                <a:latin typeface="+mn-ea"/>
                <a:ea typeface="方正兰亭黑简体" panose="02000000000000000000" pitchFamily="2" charset="-122"/>
                <a:cs typeface="+mn-cs"/>
              </a:rPr>
              <a:t>IP</a:t>
            </a:r>
            <a:r>
              <a:rPr lang="zh-CN" altLang="en-US" sz="1100" b="0" i="0" kern="1200" baseline="0" dirty="0">
                <a:solidFill>
                  <a:schemeClr val="tx1"/>
                </a:solidFill>
                <a:effectLst/>
                <a:latin typeface="+mn-ea"/>
                <a:ea typeface="方正兰亭黑简体" panose="02000000000000000000" pitchFamily="2" charset="-122"/>
                <a:cs typeface="+mn-cs"/>
              </a:rPr>
              <a:t>使用。</a:t>
            </a:r>
          </a:p>
          <a:p>
            <a:pPr lvl="1"/>
            <a:r>
              <a:rPr lang="zh-CN" altLang="en-US" sz="1100" b="0" i="0" kern="1200" baseline="0" dirty="0">
                <a:solidFill>
                  <a:schemeClr val="tx1"/>
                </a:solidFill>
                <a:effectLst/>
                <a:latin typeface="+mn-ea"/>
                <a:ea typeface="方正兰亭黑简体" panose="02000000000000000000" pitchFamily="2" charset="-122"/>
                <a:cs typeface="+mn-cs"/>
              </a:rPr>
              <a:t>共享带宽：一个带宽中可以加入多个弹性公网</a:t>
            </a:r>
            <a:r>
              <a:rPr lang="en-US" altLang="zh-CN" sz="1100" b="0" i="0" kern="1200" baseline="0" dirty="0">
                <a:solidFill>
                  <a:schemeClr val="tx1"/>
                </a:solidFill>
                <a:effectLst/>
                <a:latin typeface="+mn-ea"/>
                <a:ea typeface="方正兰亭黑简体" panose="02000000000000000000" pitchFamily="2" charset="-122"/>
                <a:cs typeface="+mn-cs"/>
              </a:rPr>
              <a:t>IP</a:t>
            </a:r>
            <a:r>
              <a:rPr lang="zh-CN" altLang="en-US" sz="1100" b="0" i="0" kern="1200" baseline="0" dirty="0">
                <a:solidFill>
                  <a:schemeClr val="tx1"/>
                </a:solidFill>
                <a:effectLst/>
                <a:latin typeface="+mn-ea"/>
                <a:ea typeface="方正兰亭黑简体" panose="02000000000000000000" pitchFamily="2" charset="-122"/>
                <a:cs typeface="+mn-cs"/>
              </a:rPr>
              <a:t>，多个弹性公网</a:t>
            </a:r>
            <a:r>
              <a:rPr lang="en-US" altLang="zh-CN" sz="1100" b="0" i="0" kern="1200" baseline="0" dirty="0">
                <a:solidFill>
                  <a:schemeClr val="tx1"/>
                </a:solidFill>
                <a:effectLst/>
                <a:latin typeface="+mn-ea"/>
                <a:ea typeface="方正兰亭黑简体" panose="02000000000000000000" pitchFamily="2" charset="-122"/>
                <a:cs typeface="+mn-cs"/>
              </a:rPr>
              <a:t>IP</a:t>
            </a:r>
            <a:r>
              <a:rPr lang="zh-CN" altLang="en-US" sz="1100" b="0" i="0" kern="1200" baseline="0" dirty="0">
                <a:solidFill>
                  <a:schemeClr val="tx1"/>
                </a:solidFill>
                <a:effectLst/>
                <a:latin typeface="+mn-ea"/>
                <a:ea typeface="方正兰亭黑简体" panose="02000000000000000000" pitchFamily="2" charset="-122"/>
                <a:cs typeface="+mn-cs"/>
              </a:rPr>
              <a:t>共用一个带宽。</a:t>
            </a:r>
            <a:endParaRPr lang="en-US" altLang="zh-CN" sz="1100" kern="1200" baseline="0" dirty="0">
              <a:solidFill>
                <a:schemeClr val="tx1"/>
              </a:solidFill>
              <a:latin typeface="+mn-ea"/>
              <a:ea typeface="方正兰亭黑简体" panose="02000000000000000000" pitchFamily="2" charset="-122"/>
              <a:cs typeface="+mn-cs"/>
            </a:endParaRPr>
          </a:p>
          <a:p>
            <a:r>
              <a:rPr lang="zh-CN" altLang="en-US" sz="1600" kern="1200" baseline="0" dirty="0">
                <a:solidFill>
                  <a:schemeClr val="tx1"/>
                </a:solidFill>
                <a:latin typeface="+mn-ea"/>
                <a:ea typeface="方正兰亭黑简体" panose="02000000000000000000" pitchFamily="2" charset="-122"/>
                <a:cs typeface="+mn-cs"/>
              </a:rPr>
              <a:t>计费方式：</a:t>
            </a:r>
            <a:r>
              <a:rPr lang="zh-CN" altLang="en-US" sz="1100" b="0" i="0" kern="1200" baseline="0" dirty="0">
                <a:solidFill>
                  <a:schemeClr val="tx1"/>
                </a:solidFill>
                <a:effectLst/>
                <a:latin typeface="+mn-ea"/>
                <a:ea typeface="方正兰亭黑简体" panose="02000000000000000000" pitchFamily="2" charset="-122"/>
                <a:cs typeface="+mn-cs"/>
              </a:rPr>
              <a:t>“弹性公网</a:t>
            </a:r>
            <a:r>
              <a:rPr lang="en-US" altLang="zh-CN" sz="1100" b="0" i="0" kern="1200" baseline="0" dirty="0">
                <a:solidFill>
                  <a:schemeClr val="tx1"/>
                </a:solidFill>
                <a:effectLst/>
                <a:latin typeface="+mn-ea"/>
                <a:ea typeface="方正兰亭黑简体" panose="02000000000000000000" pitchFamily="2" charset="-122"/>
                <a:cs typeface="+mn-cs"/>
              </a:rPr>
              <a:t>IP”</a:t>
            </a:r>
            <a:r>
              <a:rPr lang="zh-CN" altLang="en-US" sz="1100" b="0" i="0" kern="1200" baseline="0" dirty="0">
                <a:solidFill>
                  <a:schemeClr val="tx1"/>
                </a:solidFill>
                <a:effectLst/>
                <a:latin typeface="+mn-ea"/>
                <a:ea typeface="方正兰亭黑简体" panose="02000000000000000000" pitchFamily="2" charset="-122"/>
                <a:cs typeface="+mn-cs"/>
              </a:rPr>
              <a:t>选择“现在购买”时，需配置该参数。指购买的弹性公网</a:t>
            </a:r>
            <a:r>
              <a:rPr lang="en-US" altLang="zh-CN" sz="1100" b="0" i="0" kern="1200" baseline="0" dirty="0">
                <a:solidFill>
                  <a:schemeClr val="tx1"/>
                </a:solidFill>
                <a:effectLst/>
                <a:latin typeface="+mn-ea"/>
                <a:ea typeface="方正兰亭黑简体" panose="02000000000000000000" pitchFamily="2" charset="-122"/>
                <a:cs typeface="+mn-cs"/>
              </a:rPr>
              <a:t>IP</a:t>
            </a:r>
            <a:r>
              <a:rPr lang="zh-CN" altLang="en-US" sz="1100" b="0" i="0" kern="1200" baseline="0" dirty="0">
                <a:solidFill>
                  <a:schemeClr val="tx1"/>
                </a:solidFill>
                <a:effectLst/>
                <a:latin typeface="+mn-ea"/>
                <a:ea typeface="方正兰亭黑简体" panose="02000000000000000000" pitchFamily="2" charset="-122"/>
                <a:cs typeface="+mn-cs"/>
              </a:rPr>
              <a:t>的带宽计费方式，包括以下两种：</a:t>
            </a:r>
          </a:p>
          <a:p>
            <a:pPr lvl="1"/>
            <a:r>
              <a:rPr lang="zh-CN" altLang="en-US" sz="1100" b="0" i="0" kern="1200" baseline="0" dirty="0">
                <a:solidFill>
                  <a:schemeClr val="tx1"/>
                </a:solidFill>
                <a:effectLst/>
                <a:latin typeface="+mn-ea"/>
                <a:ea typeface="方正兰亭黑简体" panose="02000000000000000000" pitchFamily="2" charset="-122"/>
                <a:cs typeface="+mn-cs"/>
              </a:rPr>
              <a:t>按带宽计费：按照购买的带宽大小计费。</a:t>
            </a:r>
          </a:p>
          <a:p>
            <a:pPr lvl="1"/>
            <a:r>
              <a:rPr lang="zh-CN" altLang="en-US" sz="1100" b="0" i="0" kern="1200" baseline="0" dirty="0">
                <a:solidFill>
                  <a:schemeClr val="tx1"/>
                </a:solidFill>
                <a:effectLst/>
                <a:latin typeface="+mn-ea"/>
                <a:ea typeface="方正兰亭黑简体" panose="02000000000000000000" pitchFamily="2" charset="-122"/>
                <a:cs typeface="+mn-cs"/>
              </a:rPr>
              <a:t>按流量计费：按照实际使用的流量来计费。</a:t>
            </a:r>
          </a:p>
          <a:p>
            <a:endParaRPr lang="zh-CN" altLang="en-US" sz="1600" kern="1200" baseline="0" dirty="0">
              <a:solidFill>
                <a:schemeClr val="tx1"/>
              </a:solidFill>
              <a:latin typeface="+mn-ea"/>
              <a:ea typeface="方正兰亭黑简体" panose="02000000000000000000" pitchFamily="2" charset="-122"/>
              <a:cs typeface="+mn-cs"/>
            </a:endParaRPr>
          </a:p>
          <a:p>
            <a:endParaRPr lang="zh-CN" altLang="en-US" sz="1100" b="0" i="0" kern="1200" dirty="0">
              <a:solidFill>
                <a:schemeClr val="tx1"/>
              </a:solidFill>
              <a:effectLst/>
              <a:latin typeface="+mn-ea"/>
              <a:ea typeface="+mn-ea"/>
              <a:cs typeface="+mn-cs"/>
            </a:endParaRPr>
          </a:p>
          <a:p>
            <a:endParaRPr lang="zh-CN" altLang="en-US" dirty="0">
              <a:latin typeface="+mn-ea"/>
              <a:ea typeface="+mn-ea"/>
            </a:endParaRPr>
          </a:p>
        </p:txBody>
      </p:sp>
    </p:spTree>
    <p:extLst>
      <p:ext uri="{BB962C8B-B14F-4D97-AF65-F5344CB8AC3E}">
        <p14:creationId xmlns:p14="http://schemas.microsoft.com/office/powerpoint/2010/main" val="3562601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r>
              <a:rPr lang="zh-CN" altLang="en-US" dirty="0"/>
              <a:t>密钥对</a:t>
            </a:r>
            <a:r>
              <a:rPr lang="en-US" altLang="zh-CN" dirty="0"/>
              <a:t>OS</a:t>
            </a:r>
            <a:r>
              <a:rPr lang="zh-CN" altLang="en-US" dirty="0"/>
              <a:t>都支持，不区分</a:t>
            </a:r>
            <a:r>
              <a:rPr lang="en-US" altLang="zh-CN" dirty="0"/>
              <a:t>OS</a:t>
            </a:r>
            <a:r>
              <a:rPr lang="zh-CN" altLang="en-US" dirty="0"/>
              <a:t>。</a:t>
            </a:r>
          </a:p>
        </p:txBody>
      </p:sp>
    </p:spTree>
    <p:extLst>
      <p:ext uri="{BB962C8B-B14F-4D97-AF65-F5344CB8AC3E}">
        <p14:creationId xmlns:p14="http://schemas.microsoft.com/office/powerpoint/2010/main" val="2258759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52383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20732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91574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11936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86978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31326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12134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22029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376238" y="768350"/>
            <a:ext cx="6346825" cy="35702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690491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98192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客户</a:t>
            </a:r>
            <a:r>
              <a:rPr lang="zh-CN" altLang="zh-CN" dirty="0"/>
              <a:t>考虑将业务部署在华为云上。为应对访问流量高峰，想要在华为云上实现访问流量自动分发到多台服务器，使得服务器资源能够弹性伸缩，以满足高峰期访问需求。</a:t>
            </a:r>
            <a:endParaRPr lang="en-US" altLang="zh-CN" dirty="0"/>
          </a:p>
          <a:p>
            <a:r>
              <a:rPr lang="zh-CN" altLang="en-US" dirty="0"/>
              <a:t>可以采用云上</a:t>
            </a:r>
            <a:r>
              <a:rPr lang="en-US" altLang="zh-CN" dirty="0"/>
              <a:t>ELB</a:t>
            </a:r>
            <a:r>
              <a:rPr lang="zh-CN" altLang="en-US" dirty="0"/>
              <a:t>来实现。</a:t>
            </a:r>
            <a:endParaRPr lang="en-US" altLang="zh-CN" dirty="0"/>
          </a:p>
          <a:p>
            <a:pPr lvl="0"/>
            <a:r>
              <a:rPr lang="zh-CN" altLang="zh-CN" dirty="0"/>
              <a:t>在实际的业务部署中，客户往往会通过集群的方式对外提供服务，以保证业务的连续性。在云上虚拟网络，负载均衡服务即可提供此类业务功能。用户可以采用负载均衡的方式对外提供访问入口，同时，结合云上资源弹性伸缩的优势，水平扩展负载均衡器后端的服务节点，满足服务性能规模逐步提升的要求。</a:t>
            </a:r>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2838837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069444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配置流程</a:t>
            </a:r>
            <a:endParaRPr lang="en-US" altLang="zh-CN" dirty="0"/>
          </a:p>
          <a:p>
            <a:pPr lvl="1"/>
            <a:r>
              <a:rPr lang="zh-CN" altLang="zh-CN" dirty="0"/>
              <a:t>首先，在创建弹性负载均衡实例时，需要指定</a:t>
            </a:r>
            <a:r>
              <a:rPr lang="en-US" altLang="zh-CN" dirty="0"/>
              <a:t>VPC</a:t>
            </a:r>
            <a:r>
              <a:rPr lang="zh-CN" altLang="zh-CN" dirty="0"/>
              <a:t>、子网，自动或手动分配私网地址，</a:t>
            </a:r>
            <a:r>
              <a:rPr lang="en-US" altLang="zh-CN" dirty="0"/>
              <a:t>ELB</a:t>
            </a:r>
            <a:r>
              <a:rPr lang="zh-CN" altLang="zh-CN" dirty="0"/>
              <a:t>便是通过该私网地址接受来自客户端的传入流量。如需提供公网访问，可再为实例绑定弹性公网</a:t>
            </a:r>
            <a:r>
              <a:rPr lang="en-US" altLang="zh-CN" dirty="0"/>
              <a:t>IP</a:t>
            </a:r>
            <a:r>
              <a:rPr lang="zh-CN" altLang="zh-CN" dirty="0"/>
              <a:t>。</a:t>
            </a:r>
          </a:p>
          <a:p>
            <a:pPr lvl="1"/>
            <a:r>
              <a:rPr lang="zh-CN" altLang="zh-CN" dirty="0"/>
              <a:t>然后，在弹性负载均衡器添加一个或多个监听器。监听器使用配置的协议和端口检查来自客户端的连接请求，并根据定义的转发策略将请求转发到一个后端服务器组里的后端服务器。</a:t>
            </a:r>
          </a:p>
          <a:p>
            <a:pPr lvl="1"/>
            <a:r>
              <a:rPr lang="zh-CN" altLang="zh-CN" dirty="0"/>
              <a:t>最后，将负责业务处理的服务器加入到对应的后端服务器组，由前端接受到的流量，就会按指定的算法分配到后端的处理服务器集群上。</a:t>
            </a:r>
            <a:endParaRPr lang="en-US" altLang="zh-CN" dirty="0"/>
          </a:p>
          <a:p>
            <a:pPr lvl="0"/>
            <a:r>
              <a:rPr lang="zh-CN" altLang="en-US" dirty="0"/>
              <a:t>注意：弹性负载均衡实例是一个逻辑实例，并非使用</a:t>
            </a:r>
            <a:r>
              <a:rPr lang="en-US" altLang="zh-CN" dirty="0"/>
              <a:t>VPC/</a:t>
            </a:r>
            <a:r>
              <a:rPr lang="zh-CN" altLang="en-US" dirty="0"/>
              <a:t>子网</a:t>
            </a:r>
            <a:r>
              <a:rPr lang="en-US" altLang="zh-CN" dirty="0"/>
              <a:t>IP</a:t>
            </a:r>
            <a:r>
              <a:rPr lang="zh-CN" altLang="en-US" dirty="0"/>
              <a:t>的虚拟机。服务是由后台的服务器集群提供的，通过</a:t>
            </a:r>
            <a:r>
              <a:rPr lang="en-US" altLang="zh-CN" dirty="0"/>
              <a:t>ELB</a:t>
            </a:r>
            <a:r>
              <a:rPr lang="zh-CN" altLang="en-US" dirty="0"/>
              <a:t>的黑白名单功能进行访问权限控制</a:t>
            </a:r>
            <a:endParaRPr lang="en-US" altLang="zh-CN" dirty="0"/>
          </a:p>
          <a:p>
            <a:endParaRPr lang="zh-CN" altLang="en-US"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1447507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dirty="0"/>
              <a:t>可以支持</a:t>
            </a:r>
            <a:r>
              <a:rPr lang="en-US" altLang="zh-CN" dirty="0"/>
              <a:t>4</a:t>
            </a:r>
            <a:r>
              <a:rPr lang="zh-CN" altLang="zh-CN" dirty="0"/>
              <a:t>层</a:t>
            </a:r>
            <a:r>
              <a:rPr lang="en-US" altLang="zh-CN" dirty="0"/>
              <a:t>TCP</a:t>
            </a:r>
            <a:r>
              <a:rPr lang="zh-CN" altLang="zh-CN" dirty="0"/>
              <a:t>、</a:t>
            </a:r>
            <a:r>
              <a:rPr lang="en-US" altLang="zh-CN" dirty="0"/>
              <a:t>UDP</a:t>
            </a:r>
            <a:r>
              <a:rPr lang="zh-CN" altLang="zh-CN" dirty="0"/>
              <a:t>，</a:t>
            </a:r>
            <a:r>
              <a:rPr lang="en-US" altLang="zh-CN" dirty="0"/>
              <a:t>7</a:t>
            </a:r>
            <a:r>
              <a:rPr lang="zh-CN" altLang="zh-CN" dirty="0"/>
              <a:t>层</a:t>
            </a:r>
            <a:r>
              <a:rPr lang="en-US" altLang="zh-CN" dirty="0"/>
              <a:t>HTTP</a:t>
            </a:r>
            <a:r>
              <a:rPr lang="zh-CN" altLang="zh-CN" dirty="0"/>
              <a:t>、</a:t>
            </a:r>
            <a:r>
              <a:rPr lang="en-US" altLang="zh-CN" dirty="0"/>
              <a:t>HTTPS</a:t>
            </a:r>
            <a:r>
              <a:rPr lang="zh-CN" altLang="zh-CN" dirty="0"/>
              <a:t>协议报文。实际部署业务时，需要为</a:t>
            </a:r>
            <a:r>
              <a:rPr lang="en-US" altLang="zh-CN" dirty="0"/>
              <a:t>ELB</a:t>
            </a:r>
            <a:r>
              <a:rPr lang="zh-CN" altLang="zh-CN" dirty="0"/>
              <a:t>选择合适的协议类型。</a:t>
            </a:r>
            <a:endParaRPr lang="en-US" altLang="zh-CN" dirty="0"/>
          </a:p>
          <a:p>
            <a:pPr lvl="1"/>
            <a:r>
              <a:rPr lang="en-US" altLang="zh-CN" dirty="0"/>
              <a:t>4</a:t>
            </a:r>
            <a:r>
              <a:rPr lang="zh-CN" altLang="en-US" dirty="0"/>
              <a:t>层协议只能基于</a:t>
            </a:r>
            <a:r>
              <a:rPr lang="en-US" altLang="zh-CN" dirty="0"/>
              <a:t>IP</a:t>
            </a:r>
            <a:r>
              <a:rPr lang="zh-CN" altLang="en-US" dirty="0"/>
              <a:t>地址等</a:t>
            </a:r>
            <a:r>
              <a:rPr lang="en-US" altLang="zh-CN" dirty="0"/>
              <a:t>4</a:t>
            </a:r>
            <a:r>
              <a:rPr lang="zh-CN" altLang="en-US" dirty="0"/>
              <a:t>层协议能感知的报文特征，将报文转发到后端的服务器</a:t>
            </a:r>
            <a:endParaRPr lang="en-US" altLang="zh-CN" dirty="0"/>
          </a:p>
          <a:p>
            <a:pPr lvl="1"/>
            <a:r>
              <a:rPr lang="en-US" altLang="zh-CN" dirty="0"/>
              <a:t>7</a:t>
            </a:r>
            <a:r>
              <a:rPr lang="zh-CN" altLang="en-US" dirty="0"/>
              <a:t>层协议还可以根据</a:t>
            </a:r>
            <a:r>
              <a:rPr lang="en-US" altLang="zh-CN" dirty="0"/>
              <a:t>HTTP</a:t>
            </a:r>
            <a:r>
              <a:rPr lang="zh-CN" altLang="en-US" dirty="0"/>
              <a:t>业务的报文特征，比如访问的</a:t>
            </a:r>
            <a:r>
              <a:rPr lang="en-US" altLang="zh-CN" dirty="0" err="1"/>
              <a:t>url</a:t>
            </a:r>
            <a:r>
              <a:rPr lang="zh-CN" altLang="en-US" dirty="0"/>
              <a:t>转发给不同的后端服务器组</a:t>
            </a:r>
            <a:endParaRPr lang="en-US" altLang="zh-CN" dirty="0"/>
          </a:p>
          <a:p>
            <a:pPr lvl="0"/>
            <a:r>
              <a:rPr lang="zh-CN" altLang="en-US" dirty="0"/>
              <a:t>注意：不同域名的网站，可以使用同样的公网</a:t>
            </a:r>
            <a:r>
              <a:rPr lang="en-US" altLang="zh-CN" dirty="0"/>
              <a:t>IP</a:t>
            </a:r>
            <a:r>
              <a:rPr lang="zh-CN" altLang="en-US" dirty="0"/>
              <a:t>地址，就是因为</a:t>
            </a:r>
            <a:r>
              <a:rPr lang="en-US" altLang="zh-CN" dirty="0" err="1"/>
              <a:t>elb</a:t>
            </a:r>
            <a:r>
              <a:rPr lang="en-US" altLang="zh-CN" dirty="0"/>
              <a:t> http/https</a:t>
            </a:r>
            <a:r>
              <a:rPr lang="zh-CN" altLang="en-US" dirty="0"/>
              <a:t>协议的监听器可以根据域名和</a:t>
            </a:r>
            <a:r>
              <a:rPr lang="en-US" altLang="zh-CN" dirty="0" err="1"/>
              <a:t>url</a:t>
            </a:r>
            <a:r>
              <a:rPr lang="zh-CN" altLang="en-US" dirty="0"/>
              <a:t>转发到不同的应用服务器上</a:t>
            </a:r>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655055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总结：</a:t>
            </a:r>
            <a:endParaRPr lang="en-US" altLang="zh-CN" dirty="0"/>
          </a:p>
          <a:p>
            <a:pPr lvl="1"/>
            <a:r>
              <a:rPr lang="zh-CN" altLang="en-US" dirty="0"/>
              <a:t>轮询适合短连接、最少连接适合长连接</a:t>
            </a:r>
            <a:endParaRPr lang="en-US" altLang="zh-CN" dirty="0"/>
          </a:p>
          <a:p>
            <a:pPr lvl="1"/>
            <a:r>
              <a:rPr lang="zh-CN" altLang="en-US" dirty="0"/>
              <a:t>权重适合后端服务器组内服务器性能不一致的场景</a:t>
            </a:r>
            <a:endParaRPr lang="en-US" altLang="zh-CN" dirty="0"/>
          </a:p>
          <a:p>
            <a:pPr lvl="1"/>
            <a:endParaRPr lang="zh-CN" altLang="en-US"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2080907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r>
              <a:rPr lang="en-US" altLang="zh-CN" dirty="0">
                <a:latin typeface="+mn-ea"/>
                <a:ea typeface="+mn-ea"/>
              </a:rPr>
              <a:t>ELB</a:t>
            </a:r>
            <a:r>
              <a:rPr lang="zh-CN" altLang="en-US" dirty="0">
                <a:latin typeface="+mn-ea"/>
                <a:ea typeface="+mn-ea"/>
              </a:rPr>
              <a:t>主要由</a:t>
            </a:r>
            <a:r>
              <a:rPr lang="en-US" altLang="zh-CN" dirty="0">
                <a:latin typeface="+mn-ea"/>
                <a:ea typeface="+mn-ea"/>
              </a:rPr>
              <a:t>3</a:t>
            </a:r>
            <a:r>
              <a:rPr lang="zh-CN" altLang="en-US" dirty="0">
                <a:latin typeface="+mn-ea"/>
                <a:ea typeface="+mn-ea"/>
              </a:rPr>
              <a:t>个基本概念组成：</a:t>
            </a:r>
          </a:p>
          <a:p>
            <a:pPr lvl="1"/>
            <a:r>
              <a:rPr lang="en-US" altLang="zh-CN" dirty="0" err="1">
                <a:latin typeface="+mn-ea"/>
                <a:ea typeface="+mn-ea"/>
              </a:rPr>
              <a:t>LoadBalancer</a:t>
            </a:r>
            <a:r>
              <a:rPr lang="zh-CN" altLang="en-US" dirty="0">
                <a:latin typeface="+mn-ea"/>
                <a:ea typeface="+mn-ea"/>
              </a:rPr>
              <a:t>代表一个</a:t>
            </a:r>
            <a:r>
              <a:rPr lang="en-US" altLang="zh-CN" dirty="0">
                <a:latin typeface="+mn-ea"/>
                <a:ea typeface="+mn-ea"/>
              </a:rPr>
              <a:t>ELB</a:t>
            </a:r>
            <a:r>
              <a:rPr lang="zh-CN" altLang="en-US" dirty="0">
                <a:latin typeface="+mn-ea"/>
                <a:ea typeface="+mn-ea"/>
              </a:rPr>
              <a:t>实例</a:t>
            </a:r>
            <a:endParaRPr lang="en-US" altLang="zh-CN" dirty="0">
              <a:latin typeface="+mn-ea"/>
              <a:ea typeface="+mn-ea"/>
            </a:endParaRPr>
          </a:p>
          <a:p>
            <a:pPr lvl="1"/>
            <a:r>
              <a:rPr lang="en-US" altLang="zh-CN" dirty="0">
                <a:latin typeface="+mn-ea"/>
                <a:ea typeface="+mn-ea"/>
              </a:rPr>
              <a:t>Listener</a:t>
            </a:r>
            <a:r>
              <a:rPr lang="zh-CN" altLang="en-US" dirty="0">
                <a:latin typeface="+mn-ea"/>
                <a:ea typeface="+mn-ea"/>
              </a:rPr>
              <a:t>代表用户定制的负载均衡策略和转发规则</a:t>
            </a:r>
          </a:p>
          <a:p>
            <a:pPr marL="541338" marR="0" lvl="1" indent="-180975" algn="l" defTabSz="914400" rtl="0" eaLnBrk="1" fontAlgn="base" latinLnBrk="0" hangingPunct="1">
              <a:lnSpc>
                <a:spcPct val="125000"/>
              </a:lnSpc>
              <a:spcBef>
                <a:spcPct val="0"/>
              </a:spcBef>
              <a:spcAft>
                <a:spcPts val="600"/>
              </a:spcAft>
              <a:buClrTx/>
              <a:buSzPct val="50000"/>
              <a:buFont typeface="Wingdings" pitchFamily="2" charset="2"/>
              <a:buChar char="p"/>
              <a:tabLst/>
              <a:defRPr/>
            </a:pPr>
            <a:r>
              <a:rPr lang="zh-CN" altLang="en-US" dirty="0">
                <a:latin typeface="+mn-ea"/>
                <a:ea typeface="+mn-ea"/>
              </a:rPr>
              <a:t>后端云服务器组，使用您指定的协议和端口号将请求转发到一个或多个后端云服务器。</a:t>
            </a:r>
            <a:endParaRPr lang="en-US" altLang="zh-CN" dirty="0">
              <a:latin typeface="+mn-ea"/>
              <a:ea typeface="+mn-ea"/>
            </a:endParaRPr>
          </a:p>
          <a:p>
            <a:r>
              <a:rPr lang="zh-CN" altLang="en-US" dirty="0">
                <a:latin typeface="+mn-ea"/>
                <a:ea typeface="+mn-ea"/>
              </a:rPr>
              <a:t>来自外部的访问请求，通过负载均衡器，并根据相关的策略和转发规则分发到后端云服务器进行处理。</a:t>
            </a:r>
            <a:endParaRPr lang="en-US" altLang="zh-CN" dirty="0">
              <a:latin typeface="+mn-ea"/>
              <a:ea typeface="+mn-ea"/>
            </a:endParaRPr>
          </a:p>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a:latin typeface="+mn-ea"/>
                <a:ea typeface="+mn-ea"/>
              </a:rPr>
              <a:t>健康检查，对每个后端云服务器组配置运行状况检查。</a:t>
            </a:r>
          </a:p>
          <a:p>
            <a:endParaRPr lang="zh-CN" altLang="en-US" dirty="0">
              <a:latin typeface="+mn-ea"/>
              <a:ea typeface="+mn-ea"/>
            </a:endParaRPr>
          </a:p>
        </p:txBody>
      </p:sp>
    </p:spTree>
    <p:extLst>
      <p:ext uri="{BB962C8B-B14F-4D97-AF65-F5344CB8AC3E}">
        <p14:creationId xmlns:p14="http://schemas.microsoft.com/office/powerpoint/2010/main" val="18019629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r>
              <a:rPr lang="zh-CN" altLang="en-US" dirty="0"/>
              <a:t>登录管理控制台，单击“网络 </a:t>
            </a:r>
            <a:r>
              <a:rPr lang="en-US" altLang="zh-CN" dirty="0"/>
              <a:t>&gt; </a:t>
            </a:r>
            <a:r>
              <a:rPr lang="zh-CN" altLang="en-US" dirty="0"/>
              <a:t>弹性负载均衡”。</a:t>
            </a:r>
          </a:p>
          <a:p>
            <a:r>
              <a:rPr lang="zh-CN" altLang="en-US" dirty="0"/>
              <a:t>在“弹性负载均衡”界面单击“购买增强型负载均衡”。</a:t>
            </a:r>
          </a:p>
          <a:p>
            <a:r>
              <a:rPr lang="zh-CN" altLang="en-US" dirty="0"/>
              <a:t>在“购买增强型负载均衡”界面，根据界面提示配置参数。</a:t>
            </a:r>
          </a:p>
          <a:p>
            <a:endParaRPr lang="en-US" dirty="0"/>
          </a:p>
        </p:txBody>
      </p:sp>
    </p:spTree>
    <p:extLst>
      <p:ext uri="{BB962C8B-B14F-4D97-AF65-F5344CB8AC3E}">
        <p14:creationId xmlns:p14="http://schemas.microsoft.com/office/powerpoint/2010/main" val="12637681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r>
              <a:rPr lang="zh-CN" altLang="en-US" dirty="0"/>
              <a:t>登录管理控制台，单击“服务列表  </a:t>
            </a:r>
            <a:r>
              <a:rPr lang="en-US" altLang="zh-CN" dirty="0"/>
              <a:t>&gt; </a:t>
            </a:r>
            <a:r>
              <a:rPr lang="zh-CN" altLang="en-US" dirty="0"/>
              <a:t>弹性负载均衡”。</a:t>
            </a:r>
          </a:p>
          <a:p>
            <a:r>
              <a:rPr lang="zh-CN" altLang="en-US" dirty="0"/>
              <a:t>在“弹性负载均衡”界面，单击需要添加监听器的弹性负载均衡名称。</a:t>
            </a:r>
          </a:p>
          <a:p>
            <a:r>
              <a:rPr lang="zh-CN" altLang="en-US" dirty="0"/>
              <a:t>在该弹性负载均衡界面的“监听器”区域，单击“添加”。</a:t>
            </a:r>
          </a:p>
          <a:p>
            <a:r>
              <a:rPr lang="zh-CN" altLang="en-US" dirty="0"/>
              <a:t>在“添加监听器”界面，根据提示配置参数。</a:t>
            </a:r>
          </a:p>
          <a:p>
            <a:endParaRPr lang="en-US" dirty="0"/>
          </a:p>
        </p:txBody>
      </p:sp>
    </p:spTree>
    <p:extLst>
      <p:ext uri="{BB962C8B-B14F-4D97-AF65-F5344CB8AC3E}">
        <p14:creationId xmlns:p14="http://schemas.microsoft.com/office/powerpoint/2010/main" val="25554275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pPr>
              <a:lnSpc>
                <a:spcPct val="100000"/>
              </a:lnSpc>
              <a:spcBef>
                <a:spcPts val="400"/>
              </a:spcBef>
              <a:spcAft>
                <a:spcPts val="400"/>
              </a:spcAft>
            </a:pPr>
            <a:r>
              <a:rPr lang="zh-CN" altLang="en-US" sz="1100" kern="1200" dirty="0">
                <a:solidFill>
                  <a:schemeClr val="tx1"/>
                </a:solidFill>
                <a:effectLst/>
                <a:latin typeface="+mn-ea"/>
                <a:ea typeface="+mn-ea"/>
                <a:cs typeface="Arial" panose="020B0604020202020204" pitchFamily="34" charset="0"/>
              </a:rPr>
              <a:t>当负载均衡的类型为公网时，支持以下四种协议：</a:t>
            </a:r>
          </a:p>
          <a:p>
            <a:pPr marL="342900" lvl="0" indent="-342900">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100" kern="1200" dirty="0">
                <a:solidFill>
                  <a:schemeClr val="tx1"/>
                </a:solidFill>
                <a:effectLst/>
                <a:latin typeface="+mn-ea"/>
                <a:ea typeface="+mn-ea"/>
                <a:cs typeface="Arial" panose="020B0604020202020204" pitchFamily="34" charset="0"/>
              </a:rPr>
              <a:t>TCP</a:t>
            </a:r>
            <a:r>
              <a:rPr lang="zh-CN" altLang="en-US" sz="1100" kern="1200" dirty="0">
                <a:solidFill>
                  <a:schemeClr val="tx1"/>
                </a:solidFill>
                <a:effectLst/>
                <a:latin typeface="+mn-ea"/>
                <a:ea typeface="+mn-ea"/>
                <a:cs typeface="Arial" panose="020B0604020202020204" pitchFamily="34" charset="0"/>
              </a:rPr>
              <a:t>：</a:t>
            </a:r>
            <a:r>
              <a:rPr lang="en-US" sz="1100" kern="1200" dirty="0">
                <a:solidFill>
                  <a:schemeClr val="tx1"/>
                </a:solidFill>
                <a:effectLst/>
                <a:latin typeface="+mn-ea"/>
                <a:ea typeface="+mn-ea"/>
                <a:cs typeface="Arial" panose="020B0604020202020204" pitchFamily="34" charset="0"/>
              </a:rPr>
              <a:t>4</a:t>
            </a:r>
            <a:r>
              <a:rPr lang="zh-CN" altLang="en-US" sz="1100" kern="1200" dirty="0">
                <a:solidFill>
                  <a:schemeClr val="tx1"/>
                </a:solidFill>
                <a:effectLst/>
                <a:latin typeface="+mn-ea"/>
                <a:ea typeface="+mn-ea"/>
                <a:cs typeface="Arial" panose="020B0604020202020204" pitchFamily="34" charset="0"/>
              </a:rPr>
              <a:t>层负载均衡服务</a:t>
            </a:r>
          </a:p>
          <a:p>
            <a:pPr marL="342900" lvl="0" indent="-342900">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100" kern="1200" dirty="0">
                <a:solidFill>
                  <a:schemeClr val="tx1"/>
                </a:solidFill>
                <a:effectLst/>
                <a:latin typeface="+mn-ea"/>
                <a:ea typeface="+mn-ea"/>
                <a:cs typeface="Arial" panose="020B0604020202020204" pitchFamily="34" charset="0"/>
              </a:rPr>
              <a:t>UDP</a:t>
            </a:r>
            <a:r>
              <a:rPr lang="zh-CN" altLang="en-US" sz="1100" kern="1200" dirty="0">
                <a:solidFill>
                  <a:schemeClr val="tx1"/>
                </a:solidFill>
                <a:effectLst/>
                <a:latin typeface="+mn-ea"/>
                <a:ea typeface="+mn-ea"/>
                <a:cs typeface="Arial" panose="020B0604020202020204" pitchFamily="34" charset="0"/>
              </a:rPr>
              <a:t>：</a:t>
            </a:r>
            <a:r>
              <a:rPr lang="en-US" sz="1100" kern="1200" dirty="0">
                <a:solidFill>
                  <a:schemeClr val="tx1"/>
                </a:solidFill>
                <a:effectLst/>
                <a:latin typeface="+mn-ea"/>
                <a:ea typeface="+mn-ea"/>
                <a:cs typeface="Arial" panose="020B0604020202020204" pitchFamily="34" charset="0"/>
              </a:rPr>
              <a:t>4</a:t>
            </a:r>
            <a:r>
              <a:rPr lang="zh-CN" altLang="en-US" sz="1100" kern="1200" dirty="0">
                <a:solidFill>
                  <a:schemeClr val="tx1"/>
                </a:solidFill>
                <a:effectLst/>
                <a:latin typeface="+mn-ea"/>
                <a:ea typeface="+mn-ea"/>
                <a:cs typeface="Arial" panose="020B0604020202020204" pitchFamily="34" charset="0"/>
              </a:rPr>
              <a:t>层负载均衡服务</a:t>
            </a:r>
          </a:p>
          <a:p>
            <a:pPr marL="342900" lvl="0" indent="-342900">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100" kern="1200" dirty="0">
                <a:solidFill>
                  <a:schemeClr val="tx1"/>
                </a:solidFill>
                <a:effectLst/>
                <a:latin typeface="+mn-ea"/>
                <a:ea typeface="+mn-ea"/>
                <a:cs typeface="Arial" panose="020B0604020202020204" pitchFamily="34" charset="0"/>
              </a:rPr>
              <a:t>HTTP</a:t>
            </a:r>
            <a:r>
              <a:rPr lang="zh-CN" altLang="en-US" sz="1100" kern="1200" dirty="0">
                <a:solidFill>
                  <a:schemeClr val="tx1"/>
                </a:solidFill>
                <a:effectLst/>
                <a:latin typeface="+mn-ea"/>
                <a:ea typeface="+mn-ea"/>
                <a:cs typeface="Arial" panose="020B0604020202020204" pitchFamily="34" charset="0"/>
              </a:rPr>
              <a:t>：</a:t>
            </a:r>
            <a:r>
              <a:rPr lang="en-US" sz="1100" kern="1200" dirty="0">
                <a:solidFill>
                  <a:schemeClr val="tx1"/>
                </a:solidFill>
                <a:effectLst/>
                <a:latin typeface="+mn-ea"/>
                <a:ea typeface="+mn-ea"/>
                <a:cs typeface="Arial" panose="020B0604020202020204" pitchFamily="34" charset="0"/>
              </a:rPr>
              <a:t>7</a:t>
            </a:r>
            <a:r>
              <a:rPr lang="zh-CN" altLang="en-US" sz="1100" kern="1200" dirty="0">
                <a:solidFill>
                  <a:schemeClr val="tx1"/>
                </a:solidFill>
                <a:effectLst/>
                <a:latin typeface="+mn-ea"/>
                <a:ea typeface="+mn-ea"/>
                <a:cs typeface="Arial" panose="020B0604020202020204" pitchFamily="34" charset="0"/>
              </a:rPr>
              <a:t>层负载均衡服务</a:t>
            </a:r>
          </a:p>
          <a:p>
            <a:pPr marL="342900" lvl="0" indent="-342900">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100" kern="1200" dirty="0">
                <a:solidFill>
                  <a:schemeClr val="tx1"/>
                </a:solidFill>
                <a:effectLst/>
                <a:latin typeface="+mn-ea"/>
                <a:ea typeface="+mn-ea"/>
                <a:cs typeface="Arial" panose="020B0604020202020204" pitchFamily="34" charset="0"/>
              </a:rPr>
              <a:t>HTTPS</a:t>
            </a:r>
            <a:r>
              <a:rPr lang="zh-CN" altLang="en-US" sz="1100" kern="1200" dirty="0">
                <a:solidFill>
                  <a:schemeClr val="tx1"/>
                </a:solidFill>
                <a:effectLst/>
                <a:latin typeface="+mn-ea"/>
                <a:ea typeface="+mn-ea"/>
                <a:cs typeface="Arial" panose="020B0604020202020204" pitchFamily="34" charset="0"/>
              </a:rPr>
              <a:t>：加密的</a:t>
            </a:r>
            <a:r>
              <a:rPr lang="en-US" sz="1100" kern="1200" dirty="0">
                <a:solidFill>
                  <a:schemeClr val="tx1"/>
                </a:solidFill>
                <a:effectLst/>
                <a:latin typeface="+mn-ea"/>
                <a:ea typeface="+mn-ea"/>
                <a:cs typeface="Arial" panose="020B0604020202020204" pitchFamily="34" charset="0"/>
              </a:rPr>
              <a:t>7</a:t>
            </a:r>
            <a:r>
              <a:rPr lang="zh-CN" altLang="en-US" sz="1100" kern="1200" dirty="0">
                <a:solidFill>
                  <a:schemeClr val="tx1"/>
                </a:solidFill>
                <a:effectLst/>
                <a:latin typeface="+mn-ea"/>
                <a:ea typeface="+mn-ea"/>
                <a:cs typeface="Arial" panose="020B0604020202020204" pitchFamily="34" charset="0"/>
              </a:rPr>
              <a:t>层负载均衡</a:t>
            </a:r>
          </a:p>
          <a:p>
            <a:pPr>
              <a:lnSpc>
                <a:spcPts val="1200"/>
              </a:lnSpc>
              <a:spcBef>
                <a:spcPts val="400"/>
              </a:spcBef>
              <a:spcAft>
                <a:spcPts val="400"/>
              </a:spcAft>
            </a:pPr>
            <a:r>
              <a:rPr lang="zh-CN" altLang="en-US" sz="1100" kern="1200" dirty="0">
                <a:solidFill>
                  <a:schemeClr val="tx1"/>
                </a:solidFill>
                <a:effectLst/>
                <a:latin typeface="+mn-ea"/>
                <a:ea typeface="+mn-ea"/>
                <a:cs typeface="Arial" panose="020B0604020202020204" pitchFamily="34" charset="0"/>
              </a:rPr>
              <a:t>当负载均衡器的类型为私网时，支持以下三种协议：</a:t>
            </a:r>
          </a:p>
          <a:p>
            <a:pPr marL="342900" lvl="0" indent="-342900">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100" kern="1200" dirty="0">
                <a:solidFill>
                  <a:schemeClr val="tx1"/>
                </a:solidFill>
                <a:effectLst/>
                <a:latin typeface="+mn-ea"/>
                <a:ea typeface="+mn-ea"/>
                <a:cs typeface="Arial" panose="020B0604020202020204" pitchFamily="34" charset="0"/>
              </a:rPr>
              <a:t>TCP</a:t>
            </a:r>
            <a:r>
              <a:rPr lang="zh-CN" altLang="en-US" sz="1100" kern="1200" dirty="0">
                <a:solidFill>
                  <a:schemeClr val="tx1"/>
                </a:solidFill>
                <a:effectLst/>
                <a:latin typeface="+mn-ea"/>
                <a:ea typeface="+mn-ea"/>
                <a:cs typeface="Arial" panose="020B0604020202020204" pitchFamily="34" charset="0"/>
              </a:rPr>
              <a:t>：</a:t>
            </a:r>
            <a:r>
              <a:rPr lang="en-US" sz="1100" kern="1200" dirty="0">
                <a:solidFill>
                  <a:schemeClr val="tx1"/>
                </a:solidFill>
                <a:effectLst/>
                <a:latin typeface="+mn-ea"/>
                <a:ea typeface="+mn-ea"/>
                <a:cs typeface="Arial" panose="020B0604020202020204" pitchFamily="34" charset="0"/>
              </a:rPr>
              <a:t>4</a:t>
            </a:r>
            <a:r>
              <a:rPr lang="zh-CN" altLang="en-US" sz="1100" kern="1200" dirty="0">
                <a:solidFill>
                  <a:schemeClr val="tx1"/>
                </a:solidFill>
                <a:effectLst/>
                <a:latin typeface="+mn-ea"/>
                <a:ea typeface="+mn-ea"/>
                <a:cs typeface="Arial" panose="020B0604020202020204" pitchFamily="34" charset="0"/>
              </a:rPr>
              <a:t>层负载均衡服务</a:t>
            </a:r>
          </a:p>
          <a:p>
            <a:pPr marL="342900" lvl="0" indent="-342900">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100" kern="1200" dirty="0">
                <a:solidFill>
                  <a:schemeClr val="tx1"/>
                </a:solidFill>
                <a:effectLst/>
                <a:latin typeface="+mn-ea"/>
                <a:ea typeface="+mn-ea"/>
                <a:cs typeface="Arial" panose="020B0604020202020204" pitchFamily="34" charset="0"/>
              </a:rPr>
              <a:t>HTTP</a:t>
            </a:r>
            <a:r>
              <a:rPr lang="zh-CN" altLang="en-US" sz="1100" kern="1200" dirty="0">
                <a:solidFill>
                  <a:schemeClr val="tx1"/>
                </a:solidFill>
                <a:effectLst/>
                <a:latin typeface="+mn-ea"/>
                <a:ea typeface="+mn-ea"/>
                <a:cs typeface="Arial" panose="020B0604020202020204" pitchFamily="34" charset="0"/>
              </a:rPr>
              <a:t>：</a:t>
            </a:r>
            <a:r>
              <a:rPr lang="en-US" sz="1100" kern="1200" dirty="0">
                <a:solidFill>
                  <a:schemeClr val="tx1"/>
                </a:solidFill>
                <a:effectLst/>
                <a:latin typeface="+mn-ea"/>
                <a:ea typeface="+mn-ea"/>
                <a:cs typeface="Arial" panose="020B0604020202020204" pitchFamily="34" charset="0"/>
              </a:rPr>
              <a:t>7</a:t>
            </a:r>
            <a:r>
              <a:rPr lang="zh-CN" altLang="en-US" sz="1100" kern="1200" dirty="0">
                <a:solidFill>
                  <a:schemeClr val="tx1"/>
                </a:solidFill>
                <a:effectLst/>
                <a:latin typeface="+mn-ea"/>
                <a:ea typeface="+mn-ea"/>
                <a:cs typeface="Arial" panose="020B0604020202020204" pitchFamily="34" charset="0"/>
              </a:rPr>
              <a:t>层负载均衡服务</a:t>
            </a:r>
          </a:p>
          <a:p>
            <a:pPr marL="342900" lvl="0" indent="-342900">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100" kern="1200" dirty="0">
                <a:solidFill>
                  <a:schemeClr val="tx1"/>
                </a:solidFill>
                <a:effectLst/>
                <a:latin typeface="+mn-ea"/>
                <a:ea typeface="+mn-ea"/>
                <a:cs typeface="Arial" panose="020B0604020202020204" pitchFamily="34" charset="0"/>
              </a:rPr>
              <a:t>HTTPS</a:t>
            </a:r>
            <a:r>
              <a:rPr lang="zh-CN" altLang="en-US" sz="1100" kern="1200" dirty="0">
                <a:solidFill>
                  <a:schemeClr val="tx1"/>
                </a:solidFill>
                <a:effectLst/>
                <a:latin typeface="+mn-ea"/>
                <a:ea typeface="+mn-ea"/>
                <a:cs typeface="Arial" panose="020B0604020202020204" pitchFamily="34" charset="0"/>
              </a:rPr>
              <a:t>：加密的</a:t>
            </a:r>
            <a:r>
              <a:rPr lang="en-US" sz="1100" kern="1200" dirty="0">
                <a:solidFill>
                  <a:schemeClr val="tx1"/>
                </a:solidFill>
                <a:effectLst/>
                <a:latin typeface="+mn-ea"/>
                <a:ea typeface="+mn-ea"/>
                <a:cs typeface="Arial" panose="020B0604020202020204" pitchFamily="34" charset="0"/>
              </a:rPr>
              <a:t>7</a:t>
            </a:r>
            <a:r>
              <a:rPr lang="zh-CN" altLang="en-US" sz="1100" kern="1200" dirty="0">
                <a:solidFill>
                  <a:schemeClr val="tx1"/>
                </a:solidFill>
                <a:effectLst/>
                <a:latin typeface="+mn-ea"/>
                <a:ea typeface="+mn-ea"/>
                <a:cs typeface="Arial" panose="020B0604020202020204" pitchFamily="34" charset="0"/>
              </a:rPr>
              <a:t>层负载均衡</a:t>
            </a:r>
          </a:p>
          <a:p>
            <a:endParaRPr lang="en-US" dirty="0">
              <a:latin typeface="+mn-ea"/>
              <a:ea typeface="+mn-ea"/>
            </a:endParaRPr>
          </a:p>
        </p:txBody>
      </p:sp>
    </p:spTree>
    <p:extLst>
      <p:ext uri="{BB962C8B-B14F-4D97-AF65-F5344CB8AC3E}">
        <p14:creationId xmlns:p14="http://schemas.microsoft.com/office/powerpoint/2010/main" val="4926009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r>
              <a:rPr lang="zh-CN" altLang="en-US" sz="1100" dirty="0"/>
              <a:t>负载均衡采用的算法。</a:t>
            </a:r>
          </a:p>
          <a:p>
            <a:pPr marL="285750" indent="-285750">
              <a:buFont typeface="Arial" panose="020B0604020202020204" pitchFamily="34" charset="0"/>
              <a:buChar char="•"/>
            </a:pPr>
            <a:r>
              <a:rPr lang="zh-CN" altLang="en-US" sz="1100" dirty="0"/>
              <a:t>加权轮询算法：按顺序依次将请求分发给不同的服务器。它用相应的权重表示服务器的处理性能，按照权重的高低以及轮询方式将请求分配给各服务器，相同权重的服务器处理相同数目的连接数。</a:t>
            </a:r>
          </a:p>
          <a:p>
            <a:pPr marL="285750" indent="-285750">
              <a:buFont typeface="Arial" panose="020B0604020202020204" pitchFamily="34" charset="0"/>
              <a:buChar char="•"/>
            </a:pPr>
            <a:r>
              <a:rPr lang="zh-CN" altLang="en-US" sz="1100" dirty="0"/>
              <a:t>加权最少连接：通过当前活跃的连接数来估计服务器负载情况的一种动态调度算法。</a:t>
            </a:r>
          </a:p>
          <a:p>
            <a:pPr marL="285750" indent="-285750">
              <a:buFont typeface="Arial" panose="020B0604020202020204" pitchFamily="34" charset="0"/>
              <a:buChar char="•"/>
            </a:pPr>
            <a:r>
              <a:rPr lang="zh-CN" altLang="en-US" sz="1100" dirty="0"/>
              <a:t>源</a:t>
            </a:r>
            <a:r>
              <a:rPr lang="en-US" altLang="zh-CN" sz="1100" dirty="0"/>
              <a:t>IP</a:t>
            </a:r>
            <a:r>
              <a:rPr lang="zh-CN" altLang="en-US" sz="1100" dirty="0"/>
              <a:t>算法：将请求的源</a:t>
            </a:r>
            <a:r>
              <a:rPr lang="en-US" altLang="zh-CN" sz="1100" dirty="0"/>
              <a:t>IP</a:t>
            </a:r>
            <a:r>
              <a:rPr lang="zh-CN" altLang="en-US" sz="1100" dirty="0"/>
              <a:t>地址作为散列键（</a:t>
            </a:r>
            <a:r>
              <a:rPr lang="en-US" altLang="zh-CN" sz="1100" dirty="0" err="1"/>
              <a:t>HashKey</a:t>
            </a:r>
            <a:r>
              <a:rPr lang="zh-CN" altLang="en-US" sz="1100" dirty="0"/>
              <a:t>），从静态分配的散列表找出对应的服务器。</a:t>
            </a:r>
            <a:endParaRPr lang="en-US" altLang="zh-CN" sz="1100" dirty="0"/>
          </a:p>
          <a:p>
            <a:r>
              <a:rPr lang="zh-CN" altLang="en-US" sz="1100" dirty="0"/>
              <a:t>会话保持的方式包括：</a:t>
            </a:r>
            <a:endParaRPr lang="en-US" altLang="zh-CN" sz="1100" dirty="0"/>
          </a:p>
          <a:p>
            <a:pPr marL="180975" marR="0" lvl="0" indent="-180975" algn="l" defTabSz="914400" rtl="0" eaLnBrk="1" fontAlgn="base" latinLnBrk="0" hangingPunct="1">
              <a:lnSpc>
                <a:spcPct val="125000"/>
              </a:lnSpc>
              <a:spcBef>
                <a:spcPct val="0"/>
              </a:spcBef>
              <a:spcAft>
                <a:spcPts val="600"/>
              </a:spcAft>
              <a:buClrTx/>
              <a:buSzPct val="60000"/>
              <a:buFont typeface="Arial" panose="020B0604020202020204" pitchFamily="34" charset="0"/>
              <a:buChar char="•"/>
              <a:tabLst/>
              <a:defRPr/>
            </a:pPr>
            <a:r>
              <a:rPr lang="zh-CN" altLang="en-US" sz="1100" dirty="0"/>
              <a:t>源</a:t>
            </a:r>
            <a:r>
              <a:rPr lang="en-US" altLang="zh-CN" sz="1100" dirty="0"/>
              <a:t>IP</a:t>
            </a:r>
            <a:r>
              <a:rPr lang="zh-CN" altLang="en-US" sz="1100" dirty="0"/>
              <a:t>地址：将请求的源</a:t>
            </a:r>
            <a:r>
              <a:rPr lang="en-US" altLang="zh-CN" sz="1100" dirty="0"/>
              <a:t>IP</a:t>
            </a:r>
            <a:r>
              <a:rPr lang="zh-CN" altLang="en-US" sz="1100" dirty="0"/>
              <a:t>地址作为散列键（</a:t>
            </a:r>
            <a:r>
              <a:rPr lang="en-US" altLang="zh-CN" sz="1100" dirty="0" err="1"/>
              <a:t>HashKey</a:t>
            </a:r>
            <a:r>
              <a:rPr lang="zh-CN" altLang="en-US" sz="1100" dirty="0"/>
              <a:t>），从静态分配的散列表找出对应的服务器。</a:t>
            </a:r>
          </a:p>
          <a:p>
            <a:pPr marL="180975" indent="-180975">
              <a:buFont typeface="Arial" panose="020B0604020202020204" pitchFamily="34" charset="0"/>
              <a:buChar char="•"/>
            </a:pPr>
            <a:r>
              <a:rPr lang="en-US" altLang="zh-CN" sz="1100" dirty="0"/>
              <a:t>HTTP_COOKIE</a:t>
            </a:r>
            <a:r>
              <a:rPr lang="zh-CN" altLang="en-US" sz="1100" dirty="0"/>
              <a:t>：负载均衡器会根据客户端第一个请求生成一个</a:t>
            </a:r>
            <a:r>
              <a:rPr lang="en-US" altLang="zh-CN" sz="1100" dirty="0"/>
              <a:t>cookie</a:t>
            </a:r>
            <a:r>
              <a:rPr lang="zh-CN" altLang="en-US" sz="1100" dirty="0"/>
              <a:t>，后续所有包含这个</a:t>
            </a:r>
            <a:r>
              <a:rPr lang="en-US" altLang="zh-CN" sz="1100" dirty="0"/>
              <a:t>cookie</a:t>
            </a:r>
            <a:r>
              <a:rPr lang="zh-CN" altLang="en-US" sz="1100" dirty="0"/>
              <a:t>值的请求都会由同一个后端服务器处理。</a:t>
            </a:r>
            <a:endParaRPr lang="en-US" altLang="zh-CN" sz="1100" dirty="0"/>
          </a:p>
          <a:p>
            <a:pPr marL="180975" marR="0" lvl="0" indent="-180975" algn="l" defTabSz="914400" rtl="0" eaLnBrk="1" fontAlgn="base" latinLnBrk="0" hangingPunct="1">
              <a:lnSpc>
                <a:spcPct val="125000"/>
              </a:lnSpc>
              <a:spcBef>
                <a:spcPct val="0"/>
              </a:spcBef>
              <a:spcAft>
                <a:spcPts val="600"/>
              </a:spcAft>
              <a:buClrTx/>
              <a:buSzPct val="60000"/>
              <a:buFont typeface="Arial" panose="020B0604020202020204" pitchFamily="34" charset="0"/>
              <a:buChar char="•"/>
              <a:tabLst/>
              <a:defRPr/>
            </a:pPr>
            <a:r>
              <a:rPr lang="zh-CN" altLang="en-US" sz="1100" dirty="0"/>
              <a:t>应用程序</a:t>
            </a:r>
            <a:r>
              <a:rPr lang="en-US" altLang="zh-CN" sz="1100" dirty="0"/>
              <a:t>COOKIE</a:t>
            </a:r>
            <a:r>
              <a:rPr lang="zh-CN" altLang="en-US" sz="1100" dirty="0"/>
              <a:t>：该选项依赖于后端应用。后端应用生成一个</a:t>
            </a:r>
            <a:r>
              <a:rPr lang="en-US" altLang="zh-CN" sz="1100" dirty="0"/>
              <a:t>cookie</a:t>
            </a:r>
            <a:r>
              <a:rPr lang="zh-CN" altLang="en-US" sz="1100" dirty="0"/>
              <a:t>值，后续所有包含这个</a:t>
            </a:r>
            <a:r>
              <a:rPr lang="en-US" altLang="zh-CN" sz="1100" dirty="0"/>
              <a:t>cookie</a:t>
            </a:r>
            <a:r>
              <a:rPr lang="zh-CN" altLang="en-US" sz="1100" dirty="0"/>
              <a:t>值的请求都会由同一个后端服务器处理。</a:t>
            </a:r>
          </a:p>
          <a:p>
            <a:endParaRPr lang="en-US" dirty="0"/>
          </a:p>
        </p:txBody>
      </p:sp>
    </p:spTree>
    <p:extLst>
      <p:ext uri="{BB962C8B-B14F-4D97-AF65-F5344CB8AC3E}">
        <p14:creationId xmlns:p14="http://schemas.microsoft.com/office/powerpoint/2010/main" val="38030302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6460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r>
              <a:rPr lang="zh-CN" altLang="en-US" dirty="0"/>
              <a:t>登录管理控制台，单击“服务列表 </a:t>
            </a:r>
            <a:r>
              <a:rPr lang="en-US" altLang="zh-CN" dirty="0"/>
              <a:t>&gt; </a:t>
            </a:r>
            <a:r>
              <a:rPr lang="zh-CN" altLang="en-US" dirty="0"/>
              <a:t>弹性负载均衡”。</a:t>
            </a:r>
          </a:p>
          <a:p>
            <a:r>
              <a:rPr lang="zh-CN" altLang="en-US" dirty="0"/>
              <a:t>在“弹性负载均衡”界面，单击需要添加后端服务器的弹性负载均衡名称。</a:t>
            </a:r>
          </a:p>
          <a:p>
            <a:r>
              <a:rPr lang="zh-CN" altLang="en-US" dirty="0"/>
              <a:t>在该弹性负载均衡界面的“后端服务器组 ”区域，单击“添加”。</a:t>
            </a:r>
          </a:p>
          <a:p>
            <a:r>
              <a:rPr lang="zh-CN" altLang="en-US" dirty="0"/>
              <a:t>根据提示配置参数。</a:t>
            </a:r>
          </a:p>
          <a:p>
            <a:endParaRPr lang="en-US" dirty="0"/>
          </a:p>
        </p:txBody>
      </p:sp>
    </p:spTree>
    <p:extLst>
      <p:ext uri="{BB962C8B-B14F-4D97-AF65-F5344CB8AC3E}">
        <p14:creationId xmlns:p14="http://schemas.microsoft.com/office/powerpoint/2010/main" val="25474102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368485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375010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81BCBA15-75E3-4991-9EFF-137DC298A61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898392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281237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r>
              <a:rPr lang="zh-CN" altLang="en-US" dirty="0">
                <a:latin typeface="+mn-ea"/>
                <a:ea typeface="+mn-ea"/>
              </a:rPr>
              <a:t>区域：伸缩组所在的物理地址</a:t>
            </a:r>
            <a:endParaRPr lang="en-US" altLang="zh-CN" dirty="0">
              <a:latin typeface="+mn-ea"/>
              <a:ea typeface="+mn-ea"/>
            </a:endParaRPr>
          </a:p>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a:latin typeface="+mn-ea"/>
                <a:ea typeface="+mn-ea"/>
              </a:rPr>
              <a:t>最大、最小实例数：</a:t>
            </a:r>
            <a:r>
              <a:rPr lang="zh-CN" altLang="en-US" sz="1100" kern="1200" dirty="0">
                <a:solidFill>
                  <a:schemeClr val="dk1"/>
                </a:solidFill>
                <a:effectLst/>
                <a:latin typeface="+mn-ea"/>
                <a:ea typeface="+mn-ea"/>
                <a:cs typeface="+mn-cs"/>
              </a:rPr>
              <a:t>最大</a:t>
            </a:r>
            <a:r>
              <a:rPr lang="en-US" sz="1100" kern="1200" dirty="0">
                <a:solidFill>
                  <a:schemeClr val="dk1"/>
                </a:solidFill>
                <a:effectLst/>
                <a:latin typeface="+mn-ea"/>
                <a:ea typeface="+mn-ea"/>
                <a:cs typeface="+mn-cs"/>
              </a:rPr>
              <a:t>/</a:t>
            </a:r>
            <a:r>
              <a:rPr lang="zh-CN" altLang="en-US" sz="1100" kern="1200" dirty="0">
                <a:solidFill>
                  <a:schemeClr val="dk1"/>
                </a:solidFill>
                <a:effectLst/>
                <a:latin typeface="+mn-ea"/>
                <a:ea typeface="+mn-ea"/>
                <a:cs typeface="+mn-cs"/>
              </a:rPr>
              <a:t>最小实例数是指伸缩组中云服务器个数的最大值</a:t>
            </a:r>
            <a:r>
              <a:rPr lang="en-US" sz="1100" kern="1200" dirty="0">
                <a:solidFill>
                  <a:schemeClr val="dk1"/>
                </a:solidFill>
                <a:effectLst/>
                <a:latin typeface="+mn-ea"/>
                <a:ea typeface="+mn-ea"/>
                <a:cs typeface="+mn-cs"/>
              </a:rPr>
              <a:t>/</a:t>
            </a:r>
            <a:r>
              <a:rPr lang="zh-CN" altLang="en-US" sz="1100" kern="1200" dirty="0">
                <a:solidFill>
                  <a:schemeClr val="dk1"/>
                </a:solidFill>
                <a:effectLst/>
                <a:latin typeface="+mn-ea"/>
                <a:ea typeface="+mn-ea"/>
                <a:cs typeface="+mn-cs"/>
              </a:rPr>
              <a:t>最小值。</a:t>
            </a:r>
            <a:endParaRPr lang="en-US" altLang="zh-CN" dirty="0">
              <a:latin typeface="+mn-ea"/>
              <a:ea typeface="+mn-ea"/>
            </a:endParaRPr>
          </a:p>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a:latin typeface="+mn-ea"/>
                <a:ea typeface="+mn-ea"/>
              </a:rPr>
              <a:t>期望实例数：</a:t>
            </a:r>
            <a:r>
              <a:rPr lang="zh-CN" altLang="en-US" sz="1100" kern="1200" dirty="0">
                <a:solidFill>
                  <a:schemeClr val="dk1"/>
                </a:solidFill>
                <a:effectLst/>
                <a:latin typeface="+mn-ea"/>
                <a:ea typeface="+mn-ea"/>
                <a:cs typeface="+mn-cs"/>
              </a:rPr>
              <a:t>期望实例数是指伸缩组中期望的云服务器数量。</a:t>
            </a:r>
            <a:endParaRPr lang="en-US" sz="1100" kern="1200" dirty="0">
              <a:solidFill>
                <a:schemeClr val="dk1"/>
              </a:solidFill>
              <a:effectLst/>
              <a:latin typeface="+mn-ea"/>
              <a:ea typeface="+mn-ea"/>
              <a:cs typeface="+mn-cs"/>
            </a:endParaRPr>
          </a:p>
          <a:p>
            <a:endParaRPr lang="zh-CN" altLang="en-US" dirty="0">
              <a:latin typeface="+mn-ea"/>
              <a:ea typeface="+mn-ea"/>
            </a:endParaRPr>
          </a:p>
        </p:txBody>
      </p:sp>
    </p:spTree>
    <p:extLst>
      <p:ext uri="{BB962C8B-B14F-4D97-AF65-F5344CB8AC3E}">
        <p14:creationId xmlns:p14="http://schemas.microsoft.com/office/powerpoint/2010/main" val="4409943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a:latin typeface="+mn-ea"/>
                <a:ea typeface="+mn-ea"/>
              </a:rPr>
              <a:t>虚拟私有云：弹性云服务器</a:t>
            </a:r>
            <a:r>
              <a:rPr lang="zh-CN" altLang="en-US" sz="1100" kern="1200" dirty="0">
                <a:solidFill>
                  <a:schemeClr val="dk1"/>
                </a:solidFill>
                <a:effectLst/>
                <a:latin typeface="+mn-ea"/>
                <a:ea typeface="+mn-ea"/>
                <a:cs typeface="+mn-cs"/>
              </a:rPr>
              <a:t>使用的网络是虚拟私有云（</a:t>
            </a:r>
            <a:r>
              <a:rPr lang="en-US" sz="1100" kern="1200" dirty="0">
                <a:solidFill>
                  <a:schemeClr val="dk1"/>
                </a:solidFill>
                <a:effectLst/>
                <a:latin typeface="+mn-ea"/>
                <a:ea typeface="+mn-ea"/>
                <a:cs typeface="+mn-cs"/>
              </a:rPr>
              <a:t>VPC</a:t>
            </a:r>
            <a:r>
              <a:rPr lang="zh-CN" altLang="en-US" sz="1100" kern="1200" dirty="0">
                <a:solidFill>
                  <a:schemeClr val="dk1"/>
                </a:solidFill>
                <a:effectLst/>
                <a:latin typeface="+mn-ea"/>
                <a:ea typeface="+mn-ea"/>
                <a:cs typeface="+mn-cs"/>
              </a:rPr>
              <a:t>）提供的。同一伸缩组内的弹性云服务器均属于该</a:t>
            </a:r>
            <a:r>
              <a:rPr lang="en-US" sz="1100" kern="1200" dirty="0">
                <a:solidFill>
                  <a:schemeClr val="dk1"/>
                </a:solidFill>
                <a:effectLst/>
                <a:latin typeface="+mn-ea"/>
                <a:ea typeface="+mn-ea"/>
                <a:cs typeface="+mn-cs"/>
              </a:rPr>
              <a:t>VPC</a:t>
            </a:r>
            <a:r>
              <a:rPr lang="zh-CN" altLang="en-US" sz="1100" kern="1200" dirty="0">
                <a:solidFill>
                  <a:schemeClr val="dk1"/>
                </a:solidFill>
                <a:effectLst/>
                <a:latin typeface="+mn-ea"/>
                <a:ea typeface="+mn-ea"/>
                <a:cs typeface="+mn-cs"/>
              </a:rPr>
              <a:t>。</a:t>
            </a:r>
            <a:endParaRPr lang="en-US" sz="1100" dirty="0">
              <a:latin typeface="+mn-ea"/>
              <a:ea typeface="+mn-ea"/>
            </a:endParaRPr>
          </a:p>
          <a:p>
            <a:r>
              <a:rPr lang="zh-CN" altLang="en-US" dirty="0">
                <a:latin typeface="+mn-ea"/>
                <a:ea typeface="+mn-ea"/>
              </a:rPr>
              <a:t>子网：</a:t>
            </a:r>
            <a:r>
              <a:rPr lang="zh-CN" altLang="en-US" sz="1100" b="0" i="0" kern="1200" dirty="0">
                <a:solidFill>
                  <a:schemeClr val="tx1"/>
                </a:solidFill>
                <a:effectLst/>
                <a:latin typeface="+mn-ea"/>
                <a:ea typeface="+mn-ea"/>
                <a:cs typeface="+mn-cs"/>
              </a:rPr>
              <a:t>子网是用来管理弹性云服务器网络平面的一个网络。</a:t>
            </a:r>
            <a:r>
              <a:rPr lang="zh-CN" altLang="en-US" dirty="0">
                <a:latin typeface="+mn-ea"/>
                <a:ea typeface="+mn-ea"/>
              </a:rPr>
              <a:t>默认情况下，一个</a:t>
            </a:r>
            <a:r>
              <a:rPr lang="en-US" altLang="zh-CN" dirty="0">
                <a:latin typeface="+mn-ea"/>
                <a:ea typeface="+mn-ea"/>
              </a:rPr>
              <a:t>VPC</a:t>
            </a:r>
            <a:r>
              <a:rPr lang="zh-CN" altLang="en-US" dirty="0">
                <a:latin typeface="+mn-ea"/>
                <a:ea typeface="+mn-ea"/>
              </a:rPr>
              <a:t>子网内的弹性云服务器均可以进行通信。</a:t>
            </a:r>
            <a:endParaRPr lang="en-US" altLang="zh-CN" dirty="0">
              <a:latin typeface="+mn-ea"/>
              <a:ea typeface="+mn-ea"/>
            </a:endParaRPr>
          </a:p>
          <a:p>
            <a:r>
              <a:rPr lang="zh-CN" altLang="en-US" dirty="0">
                <a:latin typeface="+mn-ea"/>
                <a:ea typeface="+mn-ea"/>
              </a:rPr>
              <a:t>负载均衡：</a:t>
            </a:r>
            <a:r>
              <a:rPr lang="zh-CN" altLang="en-US" sz="1100" b="0" i="0" kern="1200" dirty="0">
                <a:solidFill>
                  <a:schemeClr val="tx1"/>
                </a:solidFill>
                <a:effectLst/>
                <a:latin typeface="+mn-ea"/>
                <a:ea typeface="+mn-ea"/>
                <a:cs typeface="+mn-cs"/>
              </a:rPr>
              <a:t>是将访问流量根据转发策略分发到后端多台弹性云服务器的流量分发控制服务。弹性伸缩配合负载均衡使用可以提高伸缩组内应用程序的容错能力。</a:t>
            </a:r>
            <a:endParaRPr lang="en-US" altLang="zh-CN" sz="1100" b="0" i="0" kern="1200" dirty="0">
              <a:solidFill>
                <a:schemeClr val="tx1"/>
              </a:solidFill>
              <a:effectLst/>
              <a:latin typeface="+mn-ea"/>
              <a:ea typeface="+mn-ea"/>
              <a:cs typeface="+mn-cs"/>
            </a:endParaRPr>
          </a:p>
          <a:p>
            <a:r>
              <a:rPr lang="zh-CN" altLang="en-US" sz="1100" b="0" i="0" kern="1200" dirty="0">
                <a:solidFill>
                  <a:schemeClr val="tx1"/>
                </a:solidFill>
                <a:effectLst/>
                <a:latin typeface="+mn-ea"/>
                <a:ea typeface="+mn-ea"/>
                <a:cs typeface="+mn-cs"/>
              </a:rPr>
              <a:t>实例移除策略：定义伸缩组</a:t>
            </a:r>
            <a:r>
              <a:rPr lang="zh-CN" altLang="en-US" sz="1100" b="0" i="0" kern="1200" baseline="0" dirty="0">
                <a:solidFill>
                  <a:schemeClr val="tx1"/>
                </a:solidFill>
                <a:effectLst/>
                <a:latin typeface="+mn-ea"/>
                <a:ea typeface="+mn-ea"/>
                <a:cs typeface="+mn-cs"/>
              </a:rPr>
              <a:t>移出实例时使用的规则。当可用区不均衡时，移出实例时会有新保证可用分区均衡。</a:t>
            </a:r>
            <a:endParaRPr lang="en-US" altLang="zh-CN" sz="1100" b="0" i="0" kern="1200" baseline="0" dirty="0">
              <a:solidFill>
                <a:schemeClr val="tx1"/>
              </a:solidFill>
              <a:effectLst/>
              <a:latin typeface="+mn-ea"/>
              <a:ea typeface="+mn-ea"/>
              <a:cs typeface="+mn-cs"/>
            </a:endParaRPr>
          </a:p>
          <a:p>
            <a:r>
              <a:rPr lang="zh-CN" altLang="en-US" sz="1100" b="0" i="0" kern="1200" baseline="0" dirty="0">
                <a:solidFill>
                  <a:schemeClr val="tx1"/>
                </a:solidFill>
                <a:effectLst/>
                <a:latin typeface="+mn-ea"/>
                <a:ea typeface="+mn-ea"/>
                <a:cs typeface="+mn-cs"/>
              </a:rPr>
              <a:t>弹性公网</a:t>
            </a:r>
            <a:r>
              <a:rPr lang="en-US" altLang="zh-CN" sz="1100" b="0" i="0" kern="1200" baseline="0" dirty="0">
                <a:solidFill>
                  <a:schemeClr val="tx1"/>
                </a:solidFill>
                <a:effectLst/>
                <a:latin typeface="+mn-ea"/>
                <a:ea typeface="+mn-ea"/>
                <a:cs typeface="+mn-cs"/>
              </a:rPr>
              <a:t>IP</a:t>
            </a:r>
            <a:r>
              <a:rPr lang="zh-CN" altLang="en-US" sz="1100" b="0" i="0" kern="1200" baseline="0" dirty="0">
                <a:solidFill>
                  <a:schemeClr val="tx1"/>
                </a:solidFill>
                <a:effectLst/>
                <a:latin typeface="+mn-ea"/>
                <a:ea typeface="+mn-ea"/>
                <a:cs typeface="+mn-cs"/>
              </a:rPr>
              <a:t>：</a:t>
            </a:r>
            <a:r>
              <a:rPr lang="zh-CN" altLang="en-US" sz="1100" b="0" i="0" kern="1200" dirty="0">
                <a:solidFill>
                  <a:schemeClr val="tx1"/>
                </a:solidFill>
                <a:effectLst/>
                <a:latin typeface="+mn-ea"/>
                <a:ea typeface="+mn-ea"/>
                <a:cs typeface="+mn-cs"/>
              </a:rPr>
              <a:t>弹性公网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是基于互联网上的静态</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地址，给弹性云服务器绑定弹性公网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后，可实现弹性云服务器通过固定的公网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地址访问互联网。</a:t>
            </a:r>
            <a:endParaRPr lang="en-US" altLang="zh-CN" sz="1100" b="0" i="0" kern="1200" dirty="0">
              <a:solidFill>
                <a:schemeClr val="tx1"/>
              </a:solidFill>
              <a:effectLst/>
              <a:latin typeface="+mn-ea"/>
              <a:ea typeface="+mn-ea"/>
              <a:cs typeface="+mn-cs"/>
            </a:endParaRPr>
          </a:p>
          <a:p>
            <a:r>
              <a:rPr lang="zh-CN" altLang="en-US" dirty="0">
                <a:latin typeface="+mn-ea"/>
                <a:ea typeface="+mn-ea"/>
              </a:rPr>
              <a:t>健康检查方式：选择对伸缩组中实例进行状态检查的方式，支持云服务器健康检查和弹性负载均衡健康检查。只有伸缩组使用弹性负载均衡监听器时，才可以选择弹性负载均衡健康检查。</a:t>
            </a:r>
            <a:endParaRPr lang="en-US" altLang="zh-CN" dirty="0">
              <a:latin typeface="+mn-ea"/>
              <a:ea typeface="+mn-ea"/>
            </a:endParaRPr>
          </a:p>
          <a:p>
            <a:r>
              <a:rPr lang="zh-CN" altLang="en-US" dirty="0">
                <a:latin typeface="+mn-ea"/>
                <a:ea typeface="+mn-ea"/>
              </a:rPr>
              <a:t>健康检查间隔：伸缩组执行健康检查的周期。</a:t>
            </a:r>
            <a:endParaRPr lang="en-US" altLang="zh-CN" dirty="0">
              <a:latin typeface="+mn-ea"/>
              <a:ea typeface="+mn-ea"/>
            </a:endParaRPr>
          </a:p>
          <a:p>
            <a:r>
              <a:rPr lang="zh-CN" altLang="en-US" dirty="0">
                <a:latin typeface="+mn-ea"/>
                <a:ea typeface="+mn-ea"/>
              </a:rPr>
              <a:t>健康状况检查宽限期：新实例加入伸缩组后，等健康状况检查宽限期结束后，健康检查才会检测实例的运行状况。</a:t>
            </a:r>
            <a:endParaRPr lang="en-US" altLang="zh-CN" dirty="0">
              <a:latin typeface="+mn-ea"/>
              <a:ea typeface="+mn-ea"/>
            </a:endParaRPr>
          </a:p>
          <a:p>
            <a:r>
              <a:rPr lang="zh-CN" altLang="en-US" dirty="0">
                <a:latin typeface="+mn-ea"/>
                <a:ea typeface="+mn-ea"/>
              </a:rPr>
              <a:t>高级配置：可以选择的配置，支持对通知和标签进行配置。</a:t>
            </a:r>
          </a:p>
        </p:txBody>
      </p:sp>
    </p:spTree>
    <p:extLst>
      <p:ext uri="{BB962C8B-B14F-4D97-AF65-F5344CB8AC3E}">
        <p14:creationId xmlns:p14="http://schemas.microsoft.com/office/powerpoint/2010/main" val="15520083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785536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r>
              <a:rPr lang="zh-CN" altLang="en-US" dirty="0"/>
              <a:t>伸缩配置：规定了加入伸缩组的实例的规格数据，支持选择已有的伸缩配置，也可以新建伸缩配置。</a:t>
            </a:r>
            <a:endParaRPr lang="en-US" altLang="zh-CN" dirty="0"/>
          </a:p>
          <a:p>
            <a:r>
              <a:rPr lang="zh-CN" altLang="en-US" dirty="0"/>
              <a:t>配置的模板：新建伸缩配置时使用的模板，可以重新创建即选择“使用新模板”，也可以根据已有云服务的规格进行创建，即选择“使用已有云服务器规格为模板”。</a:t>
            </a:r>
            <a:endParaRPr lang="en-US" altLang="zh-CN" dirty="0"/>
          </a:p>
          <a:p>
            <a:r>
              <a:rPr lang="zh-CN" altLang="en-US" dirty="0"/>
              <a:t>规格：选择新加入伸缩组的实例的规格，包括</a:t>
            </a:r>
            <a:r>
              <a:rPr lang="en-US" altLang="zh-CN" dirty="0"/>
              <a:t>CPU</a:t>
            </a:r>
            <a:r>
              <a:rPr lang="zh-CN" altLang="en-US" dirty="0"/>
              <a:t>、内存等规格。</a:t>
            </a:r>
            <a:endParaRPr lang="en-US" altLang="zh-CN" dirty="0"/>
          </a:p>
        </p:txBody>
      </p:sp>
    </p:spTree>
    <p:extLst>
      <p:ext uri="{BB962C8B-B14F-4D97-AF65-F5344CB8AC3E}">
        <p14:creationId xmlns:p14="http://schemas.microsoft.com/office/powerpoint/2010/main" val="40885766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r>
              <a:rPr lang="zh-CN" altLang="en-US" dirty="0">
                <a:latin typeface="+mn-ea"/>
                <a:ea typeface="+mn-ea"/>
              </a:rPr>
              <a:t>镜像：</a:t>
            </a:r>
            <a:r>
              <a:rPr lang="zh-CN" altLang="en-US" sz="1100" b="0" i="0" kern="1200" dirty="0">
                <a:solidFill>
                  <a:schemeClr val="tx1"/>
                </a:solidFill>
                <a:effectLst/>
                <a:latin typeface="+mn-ea"/>
                <a:ea typeface="+mn-ea"/>
                <a:cs typeface="+mn-cs"/>
              </a:rPr>
              <a:t>一个包含了软件及必要配置的云服务器或裸金属服务器模版，包含操作系统或业务数据，还可以包含应用软件（例如，数据库软件）和私有软件。此处支持选择公共镜像、私有镜像觉共享镜像。</a:t>
            </a:r>
            <a:endParaRPr lang="en-US" altLang="zh-CN" sz="1100" b="0" i="0" kern="1200" dirty="0">
              <a:solidFill>
                <a:schemeClr val="tx1"/>
              </a:solidFill>
              <a:effectLst/>
              <a:latin typeface="+mn-ea"/>
              <a:ea typeface="+mn-ea"/>
              <a:cs typeface="+mn-cs"/>
            </a:endParaRPr>
          </a:p>
          <a:p>
            <a:r>
              <a:rPr lang="zh-CN" altLang="en-US" sz="1100" b="0" i="0" kern="1200" dirty="0">
                <a:solidFill>
                  <a:schemeClr val="tx1"/>
                </a:solidFill>
                <a:effectLst/>
                <a:latin typeface="+mn-ea"/>
                <a:ea typeface="+mn-ea"/>
                <a:cs typeface="+mn-cs"/>
              </a:rPr>
              <a:t>磁盘：为云服务器提供存储功能，系统盘是必选的，可对磁盘</a:t>
            </a:r>
            <a:r>
              <a:rPr lang="en-US" altLang="zh-CN" sz="1100" b="0" i="0" kern="1200" dirty="0">
                <a:solidFill>
                  <a:schemeClr val="tx1"/>
                </a:solidFill>
                <a:effectLst/>
                <a:latin typeface="+mn-ea"/>
                <a:ea typeface="+mn-ea"/>
                <a:cs typeface="+mn-cs"/>
              </a:rPr>
              <a:t>IO</a:t>
            </a:r>
            <a:r>
              <a:rPr lang="zh-CN" altLang="en-US" sz="1100" b="0" i="0" kern="1200" dirty="0">
                <a:solidFill>
                  <a:schemeClr val="tx1"/>
                </a:solidFill>
                <a:effectLst/>
                <a:latin typeface="+mn-ea"/>
                <a:ea typeface="+mn-ea"/>
                <a:cs typeface="+mn-cs"/>
              </a:rPr>
              <a:t>和磁盘大小进行选择。</a:t>
            </a:r>
            <a:endParaRPr lang="en-US" altLang="zh-CN" sz="1100" b="0" i="0" kern="1200" dirty="0">
              <a:solidFill>
                <a:schemeClr val="tx1"/>
              </a:solidFill>
              <a:effectLst/>
              <a:latin typeface="+mn-ea"/>
              <a:ea typeface="+mn-ea"/>
              <a:cs typeface="+mn-cs"/>
            </a:endParaRPr>
          </a:p>
          <a:p>
            <a:r>
              <a:rPr lang="zh-CN" altLang="en-US" sz="1100" b="0" i="0" kern="1200" dirty="0">
                <a:solidFill>
                  <a:schemeClr val="tx1"/>
                </a:solidFill>
                <a:effectLst/>
                <a:latin typeface="+mn-ea"/>
                <a:ea typeface="+mn-ea"/>
                <a:cs typeface="+mn-cs"/>
              </a:rPr>
              <a:t>安全组：是一个逻辑上的分组，用来实现安全组内和安全组间的访问控制。选择默认值时会对入方向的访问进行控制，对出方向的报文进行全部放行。</a:t>
            </a:r>
            <a:endParaRPr lang="en-US" altLang="zh-CN" sz="1100" b="0" i="0" kern="1200" dirty="0">
              <a:solidFill>
                <a:schemeClr val="tx1"/>
              </a:solidFill>
              <a:effectLst/>
              <a:latin typeface="+mn-ea"/>
              <a:ea typeface="+mn-ea"/>
              <a:cs typeface="+mn-cs"/>
            </a:endParaRPr>
          </a:p>
          <a:p>
            <a:r>
              <a:rPr lang="zh-CN" altLang="en-US" sz="1100" b="0" i="0" kern="1200" dirty="0">
                <a:solidFill>
                  <a:schemeClr val="tx1"/>
                </a:solidFill>
                <a:effectLst/>
                <a:latin typeface="+mn-ea"/>
                <a:ea typeface="+mn-ea"/>
                <a:cs typeface="+mn-cs"/>
              </a:rPr>
              <a:t>弹性公网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：伸缩组已经添加了负载均衡后，此处可以不做配置。系统会自动将加入伸缩组的实例绑定负载均衡监听器，伸缩组中的实例会通过负载均衡绑定的弹性公网</a:t>
            </a:r>
            <a:r>
              <a:rPr lang="en-US" altLang="zh-CN" sz="1100" b="0" i="0" kern="1200" dirty="0">
                <a:solidFill>
                  <a:schemeClr val="tx1"/>
                </a:solidFill>
                <a:effectLst/>
                <a:latin typeface="+mn-ea"/>
                <a:ea typeface="+mn-ea"/>
                <a:cs typeface="+mn-cs"/>
              </a:rPr>
              <a:t>IP</a:t>
            </a:r>
            <a:r>
              <a:rPr lang="zh-CN" altLang="en-US" sz="1100" b="0" i="0" kern="1200" dirty="0">
                <a:solidFill>
                  <a:schemeClr val="tx1"/>
                </a:solidFill>
                <a:effectLst/>
                <a:latin typeface="+mn-ea"/>
                <a:ea typeface="+mn-ea"/>
                <a:cs typeface="+mn-cs"/>
              </a:rPr>
              <a:t>对外提供服务。</a:t>
            </a:r>
            <a:endParaRPr lang="en-US" altLang="zh-CN" sz="1100" b="0" i="0" kern="1200" dirty="0">
              <a:solidFill>
                <a:schemeClr val="tx1"/>
              </a:solidFill>
              <a:effectLst/>
              <a:latin typeface="+mn-ea"/>
              <a:ea typeface="+mn-ea"/>
              <a:cs typeface="+mn-cs"/>
            </a:endParaRPr>
          </a:p>
          <a:p>
            <a:r>
              <a:rPr lang="zh-CN" altLang="en-US" sz="1100" b="0" i="0" kern="1200" dirty="0">
                <a:solidFill>
                  <a:schemeClr val="tx1"/>
                </a:solidFill>
                <a:effectLst/>
                <a:latin typeface="+mn-ea"/>
                <a:ea typeface="+mn-ea"/>
                <a:cs typeface="+mn-cs"/>
              </a:rPr>
              <a:t>登录方式：设置云服务器的登录方式，可选秘钥对或账户密码的方式。</a:t>
            </a:r>
            <a:endParaRPr lang="en-US" altLang="zh-CN" sz="1100" b="0" i="0" kern="1200" dirty="0">
              <a:solidFill>
                <a:schemeClr val="tx1"/>
              </a:solidFill>
              <a:effectLst/>
              <a:latin typeface="+mn-ea"/>
              <a:ea typeface="+mn-ea"/>
              <a:cs typeface="+mn-cs"/>
            </a:endParaRPr>
          </a:p>
          <a:p>
            <a:r>
              <a:rPr lang="zh-CN" altLang="en-US" sz="1100" b="0" i="0" kern="1200" dirty="0">
                <a:solidFill>
                  <a:schemeClr val="tx1"/>
                </a:solidFill>
                <a:effectLst/>
                <a:latin typeface="+mn-ea"/>
                <a:ea typeface="+mn-ea"/>
                <a:cs typeface="+mn-cs"/>
              </a:rPr>
              <a:t>高级配置：可对文件注入、用户数据注入和云服务器组进行配置。</a:t>
            </a:r>
            <a:endParaRPr lang="zh-CN" altLang="en-US" dirty="0">
              <a:latin typeface="+mn-ea"/>
              <a:ea typeface="+mn-ea"/>
            </a:endParaRPr>
          </a:p>
        </p:txBody>
      </p:sp>
    </p:spTree>
    <p:extLst>
      <p:ext uri="{BB962C8B-B14F-4D97-AF65-F5344CB8AC3E}">
        <p14:creationId xmlns:p14="http://schemas.microsoft.com/office/powerpoint/2010/main" val="13008707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562837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r>
              <a:rPr lang="zh-CN" altLang="en-US" dirty="0"/>
              <a:t>伸缩策略定义了触发伸缩组中伸缩活动的条件，支持设置：告警策略、定时策略和周期策略。</a:t>
            </a:r>
            <a:endParaRPr lang="en-US" altLang="zh-CN" dirty="0"/>
          </a:p>
          <a:p>
            <a:r>
              <a:rPr lang="zh-CN" altLang="en-US" dirty="0"/>
              <a:t>告警策略：支持对云服务器的</a:t>
            </a:r>
            <a:r>
              <a:rPr lang="en-US" altLang="zh-CN" dirty="0"/>
              <a:t>CPU</a:t>
            </a:r>
            <a:r>
              <a:rPr lang="zh-CN" altLang="en-US" dirty="0"/>
              <a:t>使用率、内存使用率、带内网络流入速率和磁盘读写操作速率等指标进行监控，动态增加或减少云服务器数量。</a:t>
            </a:r>
            <a:endParaRPr lang="en-US" altLang="zh-CN" dirty="0"/>
          </a:p>
          <a:p>
            <a:r>
              <a:rPr lang="zh-CN" altLang="en-US" dirty="0"/>
              <a:t>定时策略或周期策略：支持定时或周期性的调整伸缩组内实例的数量。</a:t>
            </a:r>
            <a:endParaRPr lang="en-US" altLang="zh-CN" dirty="0"/>
          </a:p>
          <a:p>
            <a:r>
              <a:rPr lang="zh-CN" altLang="en-US" dirty="0"/>
              <a:t>此外，面对复杂的应用的场景，可以同时配置多个不同种类的伸缩策略。一个伸缩组最多可以使用</a:t>
            </a:r>
            <a:r>
              <a:rPr lang="en-US" altLang="zh-CN" dirty="0"/>
              <a:t>10</a:t>
            </a:r>
            <a:r>
              <a:rPr lang="zh-CN" altLang="en-US" dirty="0"/>
              <a:t>个伸缩策略 。</a:t>
            </a:r>
            <a:endParaRPr lang="en-US" altLang="zh-CN" dirty="0"/>
          </a:p>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a:t>其他类型的伸缩策略（如定时策略和周期策略）触发的伸缩活动不受限制。</a:t>
            </a:r>
          </a:p>
          <a:p>
            <a:pPr marL="0" indent="0">
              <a:buNone/>
            </a:pPr>
            <a:endParaRPr lang="zh-CN" altLang="en-US" dirty="0"/>
          </a:p>
        </p:txBody>
      </p:sp>
    </p:spTree>
    <p:extLst>
      <p:ext uri="{BB962C8B-B14F-4D97-AF65-F5344CB8AC3E}">
        <p14:creationId xmlns:p14="http://schemas.microsoft.com/office/powerpoint/2010/main" val="6977903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a16="http://schemas.microsoft.com/office/drawing/2014/main" id="{8380888E-E9DD-4F33-BF40-269A683AF39D}"/>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a16="http://schemas.microsoft.com/office/drawing/2014/main" id="{EF6EF1FE-D08C-4A68-BB3C-611A644CC455}"/>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905219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238390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55470206"/>
              </p:ext>
            </p:extLst>
          </p:nvPr>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2782951008"/>
              </p:ext>
            </p:extLst>
          </p:nvPr>
        </p:nvGraphicFramePr>
        <p:xfrm>
          <a:off x="1007140" y="2920836"/>
          <a:ext cx="10177327"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89798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99053660"/>
      </p:ext>
    </p:extLst>
  </p:cSld>
  <p:clrMapOvr>
    <a:masterClrMapping/>
  </p:clrMapOvr>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4511649"/>
      </p:ext>
    </p:extLst>
  </p:cSld>
  <p:clrMapOvr>
    <a:masterClrMapping/>
  </p:clrMapOvr>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959299838"/>
      </p:ext>
    </p:extLst>
  </p:cSld>
  <p:clrMapOvr>
    <a:masterClrMapping/>
  </p:clrMapOvr>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2528024743"/>
      </p:ext>
    </p:extLst>
  </p:cSld>
  <p:clrMapOvr>
    <a:masterClrMapping/>
  </p:clrMapOvr>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96367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4052420443"/>
      </p:ext>
    </p:extLst>
  </p:cSld>
  <p:clrMapOvr>
    <a:masterClrMapping/>
  </p:clrMapOvr>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4102356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2526385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2010191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a:prstGeom prst="rect">
            <a:avLst/>
          </a:prstGeom>
        </p:spPr>
        <p:txBody>
          <a:bodyPr anchor="b"/>
          <a:lstStyle>
            <a:lvl1pPr algn="ctr">
              <a:defRPr sz="5999"/>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399"/>
            </a:lvl1pPr>
            <a:lvl2pPr marL="457154" indent="0" algn="ctr">
              <a:buNone/>
              <a:defRPr sz="1999"/>
            </a:lvl2pPr>
            <a:lvl3pPr marL="914309" indent="0" algn="ctr">
              <a:buNone/>
              <a:defRPr sz="1799"/>
            </a:lvl3pPr>
            <a:lvl4pPr marL="1371462"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F562BA0-0012-47B9-A09B-4E878267E21C}" type="datetimeFigureOut">
              <a:rPr lang="zh-CN" altLang="en-US" smtClean="0">
                <a:solidFill>
                  <a:prstClr val="black">
                    <a:tint val="75000"/>
                  </a:prstClr>
                </a:solidFill>
              </a:rPr>
              <a:pPr/>
              <a:t>2024/9/21</a:t>
            </a:fld>
            <a:endParaRPr lang="zh-CN" altLang="en-US">
              <a:solidFill>
                <a:prstClr val="black">
                  <a:tint val="75000"/>
                </a:prstClr>
              </a:solidFill>
            </a:endParaRPr>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C8306B5-BD76-437E-8C33-DB5C64F32D13}"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16064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769013947"/>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446163898"/>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484312"/>
            <a:ext cx="1072832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166991213"/>
      </p:ext>
    </p:extLst>
  </p:cSld>
  <p:clrMapOvr>
    <a:masterClrMapping/>
  </p:clrMapOvr>
  <p:extLst>
    <p:ext uri="{DCECCB84-F9BA-43D5-87BE-67443E8EF086}">
      <p15:sldGuideLst xmlns:p15="http://schemas.microsoft.com/office/powerpoint/2012/main">
        <p15:guide id="1" orient="horz" pos="93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77827284"/>
      </p:ext>
    </p:extLst>
  </p:cSld>
  <p:clrMapOvr>
    <a:masterClrMapping/>
  </p:clrMapOvr>
  <p:extLst>
    <p:ext uri="{DCECCB84-F9BA-43D5-87BE-67443E8EF086}">
      <p15:sldGuideLst xmlns:p15="http://schemas.microsoft.com/office/powerpoint/2012/main">
        <p15:guide id="1" orient="horz" pos="595" userDrawn="1">
          <p15:clr>
            <a:srgbClr val="FBAE40"/>
          </p15:clr>
        </p15:guide>
        <p15:guide id="2" orient="horz" pos="663"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513643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826084440"/>
      </p:ext>
    </p:extLst>
  </p:cSld>
  <p:clrMapOvr>
    <a:masterClrMapping/>
  </p:clrMapOvr>
  <p:extLst>
    <p:ext uri="{DCECCB84-F9BA-43D5-87BE-67443E8EF086}">
      <p15:sldGuideLst xmlns:p15="http://schemas.microsoft.com/office/powerpoint/2012/main">
        <p15:guide id="1" orient="horz" pos="595"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4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6" name="标题 1"/>
          <p:cNvSpPr>
            <a:spLocks noGrp="1"/>
          </p:cNvSpPr>
          <p:nvPr>
            <p:ph type="title"/>
          </p:nvPr>
        </p:nvSpPr>
        <p:spPr>
          <a:xfrm>
            <a:off x="1594177" y="410400"/>
            <a:ext cx="9827761" cy="640800"/>
          </a:xfrm>
          <a:prstGeom prst="rect">
            <a:avLst/>
          </a:prstGeom>
        </p:spPr>
        <p:txBody>
          <a:bodyPr lIns="100800" tIns="50400" rIns="100800" bIns="50400" anchor="ctr" anchorCtr="0"/>
          <a:lstStyle>
            <a:lvl1pPr fontAlgn="ctr">
              <a:defRPr b="1" baseline="0">
                <a:latin typeface="Huawei Sans" panose="020C0503030203020204" pitchFamily="34" charset="0"/>
                <a:ea typeface="方正兰亭黑简体" panose="02000000000000000000" pitchFamily="2" charset="-122"/>
              </a:defRPr>
            </a:lvl1pPr>
          </a:lstStyle>
          <a:p>
            <a:r>
              <a:rPr lang="zh-CN" altLang="en-US" dirty="0"/>
              <a:t>单击此处编辑母版标题样式</a:t>
            </a:r>
          </a:p>
        </p:txBody>
      </p:sp>
    </p:spTree>
    <p:extLst>
      <p:ext uri="{BB962C8B-B14F-4D97-AF65-F5344CB8AC3E}">
        <p14:creationId xmlns:p14="http://schemas.microsoft.com/office/powerpoint/2010/main" val="18049802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7#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94800" y="410400"/>
            <a:ext cx="9831600" cy="640800"/>
          </a:xfrm>
        </p:spPr>
        <p:txBody>
          <a:bodyPr lIns="100800" tIns="50400" rIns="100800" bIns="50400" anchor="t" anchorCtr="0"/>
          <a:lstStyle>
            <a:lvl1pPr>
              <a:defRPr b="1">
                <a:latin typeface="+mn-ea"/>
                <a:ea typeface="+mn-ea"/>
              </a:defRPr>
            </a:lvl1pPr>
          </a:lstStyle>
          <a:p>
            <a:r>
              <a:rPr lang="zh-CN" altLang="en-US" dirty="0"/>
              <a:t>单击此处编辑母版标题样式</a:t>
            </a:r>
          </a:p>
        </p:txBody>
      </p:sp>
      <p:sp>
        <p:nvSpPr>
          <p:cNvPr id="3"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5" name="组合 4"/>
          <p:cNvGrpSpPr/>
          <p:nvPr userDrawn="1"/>
        </p:nvGrpSpPr>
        <p:grpSpPr>
          <a:xfrm>
            <a:off x="587388" y="505779"/>
            <a:ext cx="374708" cy="445558"/>
            <a:chOff x="-1647825" y="2492375"/>
            <a:chExt cx="1947863" cy="2316163"/>
          </a:xfrm>
          <a:solidFill>
            <a:schemeClr val="bg1"/>
          </a:solidFill>
        </p:grpSpPr>
        <p:sp>
          <p:nvSpPr>
            <p:cNvPr id="6"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7"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8" name="文本占位符 6"/>
          <p:cNvSpPr>
            <a:spLocks noGrp="1"/>
          </p:cNvSpPr>
          <p:nvPr>
            <p:ph type="body" sz="quarter" idx="10" hasCustomPrompt="1"/>
          </p:nvPr>
        </p:nvSpPr>
        <p:spPr>
          <a:xfrm>
            <a:off x="912285" y="1233488"/>
            <a:ext cx="10560048" cy="4680000"/>
          </a:xfrm>
        </p:spPr>
        <p:txBody>
          <a:bodyPr/>
          <a:lstStyle>
            <a:lvl1pPr algn="just">
              <a:defRPr>
                <a:latin typeface="+mn-ea"/>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917985101"/>
      </p:ext>
    </p:extLst>
  </p:cSld>
  <p:clrMapOvr>
    <a:masterClrMapping/>
  </p:clrMapOvr>
  <p:extLst mod="1">
    <p:ext uri="{DCECCB84-F9BA-43D5-87BE-67443E8EF086}">
      <p15:sldGuideLst xmlns:p15="http://schemas.microsoft.com/office/powerpoint/2012/main">
        <p15:guide id="1" orient="horz" pos="66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1268234818"/>
      </p:ext>
    </p:extLst>
  </p:cSld>
  <p:clrMapOvr>
    <a:masterClrMapping/>
  </p:clrMapOvr>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2149336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3.pn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3.png"/><Relationship Id="rId4" Type="http://schemas.openxmlformats.org/officeDocument/2006/relationships/slideLayout" Target="../slideLayouts/slideLayout18.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867226749"/>
      </p:ext>
    </p:extLst>
  </p:cSld>
  <p:clrMap bg1="lt1" tx1="dk1" bg2="lt2" tx2="dk2" accent1="accent1" accent2="accent2" accent3="accent3" accent4="accent4" accent5="accent5" accent6="accent6" hlink="hlink" folHlink="folHlink"/>
  <p:sldLayoutIdLst>
    <p:sldLayoutId id="214748384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48" userDrawn="1">
          <p15:clr>
            <a:srgbClr val="F26B43"/>
          </p15:clr>
        </p15:guide>
        <p15:guide id="2" pos="574" userDrawn="1">
          <p15:clr>
            <a:srgbClr val="F26B43"/>
          </p15:clr>
        </p15:guide>
        <p15:guide id="3" orient="horz" pos="572" userDrawn="1">
          <p15:clr>
            <a:srgbClr val="F26B43"/>
          </p15:clr>
        </p15:guide>
        <p15:guide id="4" orient="horz" pos="1230" userDrawn="1">
          <p15:clr>
            <a:srgbClr val="F26B43"/>
          </p15:clr>
        </p15:guide>
        <p15:guide id="5" orient="horz" pos="2160" userDrawn="1">
          <p15:clr>
            <a:srgbClr val="F26B43"/>
          </p15:clr>
        </p15:guide>
        <p15:guide id="6"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43" r:id="rId1"/>
    <p:sldLayoutId id="2147483828" r:id="rId2"/>
    <p:sldLayoutId id="2147483844" r:id="rId3"/>
    <p:sldLayoutId id="2147483866" r:id="rId4"/>
    <p:sldLayoutId id="2147483846" r:id="rId5"/>
    <p:sldLayoutId id="2147483871" r:id="rId6"/>
    <p:sldLayoutId id="2147483836" r:id="rId7"/>
    <p:sldLayoutId id="2147483837" r:id="rId8"/>
    <p:sldLayoutId id="2147483838" r:id="rId9"/>
    <p:sldLayoutId id="2147483839" r:id="rId10"/>
    <p:sldLayoutId id="2147483872" r:id="rId11"/>
    <p:sldLayoutId id="2147483875" r:id="rId12"/>
    <p:sldLayoutId id="2147483876" r:id="rId13"/>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642" userDrawn="1">
          <p15:clr>
            <a:srgbClr val="F26B43"/>
          </p15:clr>
        </p15:guide>
        <p15:guide id="4" pos="7038" userDrawn="1">
          <p15:clr>
            <a:srgbClr val="F26B43"/>
          </p15:clr>
        </p15:guide>
        <p15:guide id="5" orient="horz" pos="2341" userDrawn="1">
          <p15:clr>
            <a:srgbClr val="F26B43"/>
          </p15:clr>
        </p15:guide>
        <p15:guide id="6" orient="horz" pos="3906" userDrawn="1">
          <p15:clr>
            <a:srgbClr val="F26B43"/>
          </p15:clr>
        </p15:guide>
        <p15:guide id="7" orient="horz" pos="1162" userDrawn="1">
          <p15:clr>
            <a:srgbClr val="F26B43"/>
          </p15:clr>
        </p15:guide>
        <p15:guide id="8" pos="3840" userDrawn="1">
          <p15:clr>
            <a:srgbClr val="F26B43"/>
          </p15:clr>
        </p15:guide>
        <p15:guide id="9" orient="horz" pos="731" userDrawn="1">
          <p15:clr>
            <a:srgbClr val="F26B43"/>
          </p15:clr>
        </p15:guide>
        <p15:guide id="10" orient="horz" pos="8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734131" y="457499"/>
            <a:ext cx="10726032"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731838" y="1484313"/>
            <a:ext cx="1072832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930900574"/>
      </p:ext>
    </p:extLst>
  </p:cSld>
  <p:clrMap bg1="lt1" tx1="dk1" bg2="lt2" tx2="dk2" accent1="accent1" accent2="accent2" accent3="accent3" accent4="accent4" accent5="accent5" accent6="accent6" hlink="hlink" folHlink="folHlink"/>
  <p:sldLayoutIdLst>
    <p:sldLayoutId id="2147483853" r:id="rId1"/>
    <p:sldLayoutId id="2147483869" r:id="rId2"/>
    <p:sldLayoutId id="2147483862" r:id="rId3"/>
    <p:sldLayoutId id="2147483870" r:id="rId4"/>
    <p:sldLayoutId id="2147483863" r:id="rId5"/>
    <p:sldLayoutId id="2147483874" r:id="rId6"/>
    <p:sldLayoutId id="2147483877" r:id="rId7"/>
    <p:sldLayoutId id="2147483878" r:id="rId8"/>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7219">
          <p15:clr>
            <a:srgbClr val="F26B43"/>
          </p15:clr>
        </p15:guide>
        <p15:guide id="3" orient="horz" pos="278" userDrawn="1">
          <p15:clr>
            <a:srgbClr val="F26B43"/>
          </p15:clr>
        </p15:guide>
        <p15:guide id="4" orient="horz" pos="3906">
          <p15:clr>
            <a:srgbClr val="F26B43"/>
          </p15:clr>
        </p15:guide>
        <p15:guide id="6" pos="3840">
          <p15:clr>
            <a:srgbClr val="F26B43"/>
          </p15:clr>
        </p15:guide>
        <p15:guide id="7" pos="461" userDrawn="1">
          <p15:clr>
            <a:srgbClr val="F26B43"/>
          </p15:clr>
        </p15:guide>
        <p15:guide id="8" orient="horz"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Copyright©2020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722983275"/>
      </p:ext>
    </p:extLst>
  </p:cSld>
  <p:clrMap bg1="lt1" tx1="dk1" bg2="lt2" tx2="dk2" accent1="accent1" accent2="accent2" accent3="accent3" accent4="accent4" accent5="accent5" accent6="accent6" hlink="hlink" folHlink="folHlink"/>
  <p:sldLayoutIdLst>
    <p:sldLayoutId id="2147483868"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userDrawn="1">
          <p15:clr>
            <a:srgbClr val="F26B43"/>
          </p15:clr>
        </p15:guide>
        <p15:guide id="4" pos="71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hyperlink" Target="http://maven.apache.org/" TargetMode="External"/><Relationship Id="rId2" Type="http://schemas.openxmlformats.org/officeDocument/2006/relationships/notesSlide" Target="../notesSlides/notesSlide17.xml"/><Relationship Id="rId1" Type="http://schemas.openxmlformats.org/officeDocument/2006/relationships/slideLayout" Target="../slideLayouts/slideLayout16.xml"/><Relationship Id="rId6" Type="http://schemas.openxmlformats.org/officeDocument/2006/relationships/image" Target="../media/image18.png"/><Relationship Id="rId5" Type="http://schemas.openxmlformats.org/officeDocument/2006/relationships/hyperlink" Target="http://maven.apache.org/install.html" TargetMode="External"/><Relationship Id="rId4" Type="http://schemas.openxmlformats.org/officeDocument/2006/relationships/hyperlink" Target="http://maven.apache.org/download.cgi"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hyperlink" Target="http://www.123.com/" TargetMode="External"/><Relationship Id="rId2" Type="http://schemas.openxmlformats.org/officeDocument/2006/relationships/notesSlide" Target="../notesSlides/notesSlide26.xml"/><Relationship Id="rId1" Type="http://schemas.openxmlformats.org/officeDocument/2006/relationships/slideLayout" Target="../slideLayouts/slideLayout1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8.xml"/><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ctrTitle"/>
          </p:nvPr>
        </p:nvSpPr>
        <p:spPr/>
        <p:txBody>
          <a:bodyPr>
            <a:normAutofit fontScale="90000"/>
          </a:bodyPr>
          <a:lstStyle/>
          <a:p>
            <a:r>
              <a:rPr lang="zh-CN" altLang="en-US" b="0" dirty="0">
                <a:cs typeface="+mn-ea"/>
                <a:sym typeface="Huawei Sans" panose="020C0503030203020204" pitchFamily="34" charset="0"/>
              </a:rPr>
              <a:t>实验配套理论</a:t>
            </a:r>
            <a:br>
              <a:rPr lang="en-US" altLang="zh-CN" dirty="0">
                <a:cs typeface="+mn-ea"/>
                <a:sym typeface="Huawei Sans" panose="020C0503030203020204" pitchFamily="34" charset="0"/>
              </a:rPr>
            </a:br>
            <a:r>
              <a:rPr lang="zh-CN" altLang="en-US" dirty="0">
                <a:cs typeface="+mn-ea"/>
                <a:sym typeface="Huawei Sans" panose="020C0503030203020204" pitchFamily="34" charset="0"/>
              </a:rPr>
              <a:t>云上应用高可用部署实验</a:t>
            </a:r>
            <a:endParaRPr lang="zh-CN" altLang="en-US" b="0" dirty="0">
              <a:cs typeface="+mn-ea"/>
              <a:sym typeface="Huawei Sans" panose="020C0503030203020204" pitchFamily="34" charset="0"/>
            </a:endParaRPr>
          </a:p>
        </p:txBody>
      </p:sp>
    </p:spTree>
    <p:extLst>
      <p:ext uri="{BB962C8B-B14F-4D97-AF65-F5344CB8AC3E}">
        <p14:creationId xmlns:p14="http://schemas.microsoft.com/office/powerpoint/2010/main" val="275170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b="1" dirty="0">
                <a:sym typeface="Huawei Sans" panose="020C0503030203020204" pitchFamily="34" charset="0"/>
              </a:rPr>
              <a:t>云上应用高可用部署实验</a:t>
            </a:r>
            <a:endParaRPr lang="en-US" altLang="zh-CN" b="1" dirty="0">
              <a:sym typeface="Huawei Sans" panose="020C0503030203020204" pitchFamily="34" charset="0"/>
            </a:endParaRPr>
          </a:p>
          <a:p>
            <a:pPr lvl="1"/>
            <a:r>
              <a:rPr lang="zh-CN" altLang="en-US" dirty="0">
                <a:sym typeface="Huawei Sans" panose="020C0503030203020204" pitchFamily="34" charset="0"/>
              </a:rPr>
              <a:t>应用高可用架构介绍</a:t>
            </a:r>
            <a:endParaRPr lang="en-US" altLang="zh-CN" b="1"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实验介绍</a:t>
            </a:r>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049247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sym typeface="Huawei Sans" panose="020C0503030203020204" pitchFamily="34" charset="0"/>
              </a:rPr>
              <a:t>行业常见高可用</a:t>
            </a:r>
            <a:r>
              <a:rPr lang="en-US" altLang="zh-CN" sz="3200" dirty="0">
                <a:sym typeface="Huawei Sans" panose="020C0503030203020204" pitchFamily="34" charset="0"/>
              </a:rPr>
              <a:t>Web</a:t>
            </a:r>
            <a:r>
              <a:rPr lang="zh-CN" altLang="en-US" sz="3200" dirty="0">
                <a:sym typeface="Huawei Sans" panose="020C0503030203020204" pitchFamily="34" charset="0"/>
              </a:rPr>
              <a:t>应用架构示例</a:t>
            </a:r>
          </a:p>
        </p:txBody>
      </p:sp>
      <p:sp>
        <p:nvSpPr>
          <p:cNvPr id="3" name="文本占位符 2"/>
          <p:cNvSpPr>
            <a:spLocks noGrp="1"/>
          </p:cNvSpPr>
          <p:nvPr>
            <p:ph type="body" sz="quarter" idx="10"/>
          </p:nvPr>
        </p:nvSpPr>
        <p:spPr>
          <a:xfrm>
            <a:off x="6077846" y="1047750"/>
            <a:ext cx="5382317" cy="4879805"/>
          </a:xfrm>
        </p:spPr>
        <p:txBody>
          <a:bodyPr/>
          <a:lstStyle/>
          <a:p>
            <a:r>
              <a:rPr lang="zh-CN" altLang="en-US" sz="1800" dirty="0">
                <a:sym typeface="Huawei Sans" panose="020C0503030203020204" pitchFamily="34" charset="0"/>
              </a:rPr>
              <a:t>线下常见的高可靠</a:t>
            </a:r>
            <a:r>
              <a:rPr lang="en-US" altLang="zh-CN" sz="1800" dirty="0">
                <a:sym typeface="Huawei Sans" panose="020C0503030203020204" pitchFamily="34" charset="0"/>
              </a:rPr>
              <a:t>Web</a:t>
            </a:r>
            <a:r>
              <a:rPr lang="zh-CN" altLang="en-US" sz="1800" dirty="0">
                <a:sym typeface="Huawei Sans" panose="020C0503030203020204" pitchFamily="34" charset="0"/>
              </a:rPr>
              <a:t>网站多采用三层架构（负载均衡 </a:t>
            </a:r>
            <a:r>
              <a:rPr lang="en-US" altLang="zh-CN" sz="1800" dirty="0">
                <a:sym typeface="Huawei Sans" panose="020C0503030203020204" pitchFamily="34" charset="0"/>
              </a:rPr>
              <a:t>+ web</a:t>
            </a:r>
            <a:r>
              <a:rPr lang="zh-CN" altLang="en-US" sz="1800" dirty="0">
                <a:sym typeface="Huawei Sans" panose="020C0503030203020204" pitchFamily="34" charset="0"/>
              </a:rPr>
              <a:t>服务器 </a:t>
            </a:r>
            <a:r>
              <a:rPr lang="en-US" altLang="zh-CN" sz="1800" dirty="0">
                <a:sym typeface="Huawei Sans" panose="020C0503030203020204" pitchFamily="34" charset="0"/>
              </a:rPr>
              <a:t>+ </a:t>
            </a:r>
            <a:r>
              <a:rPr lang="zh-CN" altLang="en-US" sz="1800" dirty="0">
                <a:sym typeface="Huawei Sans" panose="020C0503030203020204" pitchFamily="34" charset="0"/>
              </a:rPr>
              <a:t>数据库） </a:t>
            </a:r>
          </a:p>
          <a:p>
            <a:r>
              <a:rPr lang="zh-CN" altLang="en-US" sz="1800" dirty="0">
                <a:sym typeface="Huawei Sans" panose="020C0503030203020204" pitchFamily="34" charset="0"/>
              </a:rPr>
              <a:t>负载均衡多采用自部署</a:t>
            </a:r>
            <a:r>
              <a:rPr lang="en-US" altLang="zh-CN" sz="1800" dirty="0">
                <a:sym typeface="Huawei Sans" panose="020C0503030203020204" pitchFamily="34" charset="0"/>
              </a:rPr>
              <a:t>Nginx</a:t>
            </a:r>
            <a:r>
              <a:rPr lang="zh-CN" altLang="en-US" sz="1800" dirty="0">
                <a:sym typeface="Huawei Sans" panose="020C0503030203020204" pitchFamily="34" charset="0"/>
              </a:rPr>
              <a:t>方式完成</a:t>
            </a:r>
          </a:p>
          <a:p>
            <a:r>
              <a:rPr lang="en-US" altLang="zh-CN" sz="1800" dirty="0">
                <a:sym typeface="Huawei Sans" panose="020C0503030203020204" pitchFamily="34" charset="0"/>
              </a:rPr>
              <a:t>Web</a:t>
            </a:r>
            <a:r>
              <a:rPr lang="zh-CN" altLang="en-US" sz="1800" dirty="0">
                <a:sym typeface="Huawei Sans" panose="020C0503030203020204" pitchFamily="34" charset="0"/>
              </a:rPr>
              <a:t>服务器多采用集群模式部署在物理服务器</a:t>
            </a:r>
          </a:p>
          <a:p>
            <a:endParaRPr lang="zh-CN" altLang="en-US" sz="1800" dirty="0">
              <a:sym typeface="Huawei Sans" panose="020C0503030203020204" pitchFamily="34" charset="0"/>
            </a:endParaRPr>
          </a:p>
          <a:p>
            <a:r>
              <a:rPr lang="zh-CN" altLang="en-US" sz="1800" dirty="0">
                <a:sym typeface="Huawei Sans" panose="020C0503030203020204" pitchFamily="34" charset="0"/>
              </a:rPr>
              <a:t>缺点：</a:t>
            </a:r>
          </a:p>
          <a:p>
            <a:pPr lvl="1"/>
            <a:r>
              <a:rPr lang="zh-CN" altLang="en-US" sz="1600" dirty="0">
                <a:sym typeface="Huawei Sans" panose="020C0503030203020204" pitchFamily="34" charset="0"/>
              </a:rPr>
              <a:t>自建</a:t>
            </a:r>
            <a:r>
              <a:rPr lang="en-US" altLang="zh-CN" sz="1600" dirty="0">
                <a:sym typeface="Huawei Sans" panose="020C0503030203020204" pitchFamily="34" charset="0"/>
              </a:rPr>
              <a:t>Nginx</a:t>
            </a:r>
            <a:r>
              <a:rPr lang="zh-CN" altLang="en-US" sz="1600" dirty="0">
                <a:sym typeface="Huawei Sans" panose="020C0503030203020204" pitchFamily="34" charset="0"/>
              </a:rPr>
              <a:t>，存在性能瓶颈和运维工作</a:t>
            </a:r>
          </a:p>
          <a:p>
            <a:pPr lvl="1"/>
            <a:r>
              <a:rPr lang="en-US" altLang="zh-CN" sz="1600" dirty="0">
                <a:sym typeface="Huawei Sans" panose="020C0503030203020204" pitchFamily="34" charset="0"/>
              </a:rPr>
              <a:t>Web</a:t>
            </a:r>
            <a:r>
              <a:rPr lang="zh-CN" altLang="en-US" sz="1600" dirty="0">
                <a:sym typeface="Huawei Sans" panose="020C0503030203020204" pitchFamily="34" charset="0"/>
              </a:rPr>
              <a:t>服务器在面临业务高峰时候，无法及时扩容</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403" name="Content Placeholder 2">
            <a:extLst>
              <a:ext uri="{FF2B5EF4-FFF2-40B4-BE49-F238E27FC236}">
                <a16:creationId xmlns:a16="http://schemas.microsoft.com/office/drawing/2014/main" id="{1D7B0514-4060-0E4B-809B-B1B2E3258AB4}"/>
              </a:ext>
            </a:extLst>
          </p:cNvPr>
          <p:cNvSpPr txBox="1">
            <a:spLocks/>
          </p:cNvSpPr>
          <p:nvPr/>
        </p:nvSpPr>
        <p:spPr>
          <a:xfrm>
            <a:off x="909170" y="1780955"/>
            <a:ext cx="3123575" cy="202010"/>
          </a:xfrm>
          <a:prstGeom prst="rect">
            <a:avLst/>
          </a:prstGeom>
        </p:spPr>
        <p:txBody>
          <a:bodyPr vert="horz" lIns="0" tIns="0" rIns="0" bIns="0" rtlCol="0">
            <a:noAutofit/>
          </a:bodyPr>
          <a:lstStyle>
            <a:lvl1pPr marL="12373" indent="0" algn="l" defTabSz="914217" rtl="0" eaLnBrk="1" latinLnBrk="0" hangingPunct="1">
              <a:lnSpc>
                <a:spcPct val="100000"/>
              </a:lnSpc>
              <a:spcBef>
                <a:spcPts val="0"/>
              </a:spcBef>
              <a:buFontTx/>
              <a:buNone/>
              <a:tabLst>
                <a:tab pos="1208420"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850" indent="-171159" algn="l" defTabSz="914217" rtl="0" eaLnBrk="1" latinLnBrk="0" hangingPunct="1">
              <a:spcBef>
                <a:spcPct val="20000"/>
              </a:spcBef>
              <a:buFont typeface="Arial" pitchFamily="34" charset="0"/>
              <a:buChar char="•"/>
              <a:tabLst>
                <a:tab pos="1208420" algn="ctr"/>
              </a:tabLst>
              <a:defRPr sz="1299" kern="1200" baseline="0">
                <a:solidFill>
                  <a:srgbClr val="595959"/>
                </a:solidFill>
                <a:latin typeface="微软雅黑" pitchFamily="34" charset="-122"/>
                <a:ea typeface="微软雅黑" pitchFamily="34" charset="-122"/>
                <a:cs typeface="+mn-cs"/>
              </a:defRPr>
            </a:lvl2pPr>
            <a:lvl3pPr marL="525850" indent="-171159" algn="l" defTabSz="914217" rtl="0" eaLnBrk="1" latinLnBrk="0" hangingPunct="1">
              <a:spcBef>
                <a:spcPct val="20000"/>
              </a:spcBef>
              <a:buFont typeface="Arial" pitchFamily="34" charset="0"/>
              <a:buChar char="•"/>
              <a:tabLst>
                <a:tab pos="1208420" algn="ctr"/>
              </a:tabLst>
              <a:defRPr sz="1299" kern="1200" baseline="0">
                <a:solidFill>
                  <a:srgbClr val="595959"/>
                </a:solidFill>
                <a:latin typeface="微软雅黑" pitchFamily="34" charset="-122"/>
                <a:ea typeface="微软雅黑" pitchFamily="34" charset="-122"/>
                <a:cs typeface="+mn-cs"/>
              </a:defRPr>
            </a:lvl3pPr>
            <a:lvl4pPr marL="525850" indent="-171159" algn="l" defTabSz="914217" rtl="0" eaLnBrk="1" latinLnBrk="0" hangingPunct="1">
              <a:spcBef>
                <a:spcPct val="20000"/>
              </a:spcBef>
              <a:buFont typeface="Arial" pitchFamily="34" charset="0"/>
              <a:buChar char="•"/>
              <a:tabLst>
                <a:tab pos="1208420" algn="ctr"/>
              </a:tabLst>
              <a:defRPr sz="1299" kern="1200" baseline="0">
                <a:solidFill>
                  <a:srgbClr val="595959"/>
                </a:solidFill>
                <a:latin typeface="微软雅黑" pitchFamily="34" charset="-122"/>
                <a:ea typeface="微软雅黑" pitchFamily="34" charset="-122"/>
                <a:cs typeface="+mn-cs"/>
              </a:defRPr>
            </a:lvl4pPr>
            <a:lvl5pPr marL="525850" indent="-171159" algn="l" defTabSz="914217" rtl="0" eaLnBrk="1" latinLnBrk="0" hangingPunct="1">
              <a:spcBef>
                <a:spcPct val="20000"/>
              </a:spcBef>
              <a:buFont typeface="Arial" pitchFamily="34" charset="0"/>
              <a:buChar char="•"/>
              <a:tabLst>
                <a:tab pos="1208420" algn="ctr"/>
              </a:tabLst>
              <a:defRPr sz="1299" kern="1200" baseline="0">
                <a:solidFill>
                  <a:srgbClr val="595959"/>
                </a:solidFill>
                <a:latin typeface="微软雅黑" pitchFamily="34" charset="-122"/>
                <a:ea typeface="微软雅黑" pitchFamily="34" charset="-122"/>
                <a:cs typeface="+mn-cs"/>
              </a:defRPr>
            </a:lvl5pPr>
            <a:lvl6pPr marL="2514097" indent="-228554" algn="l" defTabSz="91421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206" indent="-228554" algn="l" defTabSz="91421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314" indent="-228554" algn="l" defTabSz="91421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423" indent="-228554" algn="l" defTabSz="91421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373" marR="0" lvl="0" indent="0" algn="l" defTabSz="914217" rtl="0" eaLnBrk="1" fontAlgn="auto" latinLnBrk="0" hangingPunct="1">
              <a:lnSpc>
                <a:spcPct val="150000"/>
              </a:lnSpc>
              <a:spcBef>
                <a:spcPts val="0"/>
              </a:spcBef>
              <a:spcAft>
                <a:spcPts val="0"/>
              </a:spcAft>
              <a:buClrTx/>
              <a:buSzTx/>
              <a:buFontTx/>
              <a:buNone/>
              <a:tabLst>
                <a:tab pos="1208420" algn="ctr"/>
              </a:tabLst>
              <a:defRPr/>
            </a:pPr>
            <a:r>
              <a:rPr kumimoji="0" lang="zh-CN" altLang="en-US" sz="1400" b="1"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传统线下高可用方案</a:t>
            </a:r>
            <a:endParaRPr kumimoji="0" lang="en-US" sz="1400" b="1"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4" name="Freeform 35"/>
          <p:cNvSpPr>
            <a:spLocks noEditPoints="1"/>
          </p:cNvSpPr>
          <p:nvPr/>
        </p:nvSpPr>
        <p:spPr bwMode="auto">
          <a:xfrm>
            <a:off x="972761" y="2265358"/>
            <a:ext cx="576133" cy="384089"/>
          </a:xfrm>
          <a:custGeom>
            <a:avLst/>
            <a:gdLst/>
            <a:ahLst/>
            <a:cxnLst>
              <a:cxn ang="0">
                <a:pos x="14413" y="6228"/>
              </a:cxn>
              <a:cxn ang="0">
                <a:pos x="9353" y="6994"/>
              </a:cxn>
              <a:cxn ang="0">
                <a:pos x="8638" y="12659"/>
              </a:cxn>
              <a:cxn ang="0">
                <a:pos x="7871" y="1685"/>
              </a:cxn>
              <a:cxn ang="0">
                <a:pos x="7360" y="0"/>
              </a:cxn>
              <a:cxn ang="0">
                <a:pos x="3680" y="1685"/>
              </a:cxn>
              <a:cxn ang="0">
                <a:pos x="1534" y="12659"/>
              </a:cxn>
              <a:cxn ang="0">
                <a:pos x="0" y="13986"/>
              </a:cxn>
              <a:cxn ang="0">
                <a:pos x="15946" y="12659"/>
              </a:cxn>
              <a:cxn ang="0">
                <a:pos x="15334" y="6994"/>
              </a:cxn>
              <a:cxn ang="0">
                <a:pos x="5827" y="6125"/>
              </a:cxn>
              <a:cxn ang="0">
                <a:pos x="7002" y="8371"/>
              </a:cxn>
              <a:cxn ang="0">
                <a:pos x="5827" y="6125"/>
              </a:cxn>
              <a:cxn ang="0">
                <a:pos x="3731" y="9137"/>
              </a:cxn>
              <a:cxn ang="0">
                <a:pos x="2555" y="11382"/>
              </a:cxn>
              <a:cxn ang="0">
                <a:pos x="2555" y="3318"/>
              </a:cxn>
              <a:cxn ang="0">
                <a:pos x="3731" y="5564"/>
              </a:cxn>
              <a:cxn ang="0">
                <a:pos x="2555" y="3318"/>
              </a:cxn>
              <a:cxn ang="0">
                <a:pos x="10393" y="8065"/>
              </a:cxn>
              <a:cxn ang="0">
                <a:pos x="9525" y="9494"/>
              </a:cxn>
              <a:cxn ang="0">
                <a:pos x="13818" y="10464"/>
              </a:cxn>
              <a:cxn ang="0">
                <a:pos x="14687" y="11893"/>
              </a:cxn>
              <a:cxn ang="0">
                <a:pos x="13818" y="10464"/>
              </a:cxn>
              <a:cxn ang="0">
                <a:pos x="13256" y="10464"/>
              </a:cxn>
              <a:cxn ang="0">
                <a:pos x="12387" y="11893"/>
              </a:cxn>
              <a:cxn ang="0">
                <a:pos x="10955" y="10464"/>
              </a:cxn>
              <a:cxn ang="0">
                <a:pos x="11825" y="11893"/>
              </a:cxn>
              <a:cxn ang="0">
                <a:pos x="10955" y="10464"/>
              </a:cxn>
              <a:cxn ang="0">
                <a:pos x="10393" y="10464"/>
              </a:cxn>
              <a:cxn ang="0">
                <a:pos x="9525" y="11893"/>
              </a:cxn>
              <a:cxn ang="0">
                <a:pos x="13818" y="8065"/>
              </a:cxn>
              <a:cxn ang="0">
                <a:pos x="14687" y="9494"/>
              </a:cxn>
              <a:cxn ang="0">
                <a:pos x="13818" y="8065"/>
              </a:cxn>
              <a:cxn ang="0">
                <a:pos x="13256" y="8065"/>
              </a:cxn>
              <a:cxn ang="0">
                <a:pos x="12387" y="9494"/>
              </a:cxn>
              <a:cxn ang="0">
                <a:pos x="10955" y="8065"/>
              </a:cxn>
              <a:cxn ang="0">
                <a:pos x="11825" y="9494"/>
              </a:cxn>
              <a:cxn ang="0">
                <a:pos x="10955" y="8065"/>
              </a:cxn>
            </a:cxnLst>
            <a:rect l="0" t="0" r="r" b="b"/>
            <a:pathLst>
              <a:path w="16560" h="13986">
                <a:moveTo>
                  <a:pt x="14413" y="6994"/>
                </a:moveTo>
                <a:lnTo>
                  <a:pt x="14413" y="6228"/>
                </a:lnTo>
                <a:lnTo>
                  <a:pt x="9353" y="6228"/>
                </a:lnTo>
                <a:lnTo>
                  <a:pt x="9353" y="6994"/>
                </a:lnTo>
                <a:lnTo>
                  <a:pt x="8638" y="6994"/>
                </a:lnTo>
                <a:lnTo>
                  <a:pt x="8638" y="12659"/>
                </a:lnTo>
                <a:lnTo>
                  <a:pt x="7871" y="12659"/>
                </a:lnTo>
                <a:lnTo>
                  <a:pt x="7871" y="1685"/>
                </a:lnTo>
                <a:lnTo>
                  <a:pt x="7360" y="1685"/>
                </a:lnTo>
                <a:lnTo>
                  <a:pt x="7360" y="0"/>
                </a:lnTo>
                <a:lnTo>
                  <a:pt x="3680" y="1021"/>
                </a:lnTo>
                <a:lnTo>
                  <a:pt x="3680" y="1685"/>
                </a:lnTo>
                <a:lnTo>
                  <a:pt x="1534" y="1685"/>
                </a:lnTo>
                <a:lnTo>
                  <a:pt x="1534" y="12659"/>
                </a:lnTo>
                <a:lnTo>
                  <a:pt x="767" y="12659"/>
                </a:lnTo>
                <a:lnTo>
                  <a:pt x="0" y="13986"/>
                </a:lnTo>
                <a:lnTo>
                  <a:pt x="16560" y="13986"/>
                </a:lnTo>
                <a:lnTo>
                  <a:pt x="15946" y="12659"/>
                </a:lnTo>
                <a:lnTo>
                  <a:pt x="15334" y="12659"/>
                </a:lnTo>
                <a:lnTo>
                  <a:pt x="15334" y="6994"/>
                </a:lnTo>
                <a:lnTo>
                  <a:pt x="14413" y="6994"/>
                </a:lnTo>
                <a:close/>
                <a:moveTo>
                  <a:pt x="5827" y="6125"/>
                </a:moveTo>
                <a:lnTo>
                  <a:pt x="7002" y="6125"/>
                </a:lnTo>
                <a:lnTo>
                  <a:pt x="7002" y="8371"/>
                </a:lnTo>
                <a:lnTo>
                  <a:pt x="5827" y="8371"/>
                </a:lnTo>
                <a:lnTo>
                  <a:pt x="5827" y="6125"/>
                </a:lnTo>
                <a:close/>
                <a:moveTo>
                  <a:pt x="2555" y="9137"/>
                </a:moveTo>
                <a:lnTo>
                  <a:pt x="3731" y="9137"/>
                </a:lnTo>
                <a:lnTo>
                  <a:pt x="3731" y="11382"/>
                </a:lnTo>
                <a:lnTo>
                  <a:pt x="2555" y="11382"/>
                </a:lnTo>
                <a:lnTo>
                  <a:pt x="2555" y="9137"/>
                </a:lnTo>
                <a:close/>
                <a:moveTo>
                  <a:pt x="2555" y="3318"/>
                </a:moveTo>
                <a:lnTo>
                  <a:pt x="3731" y="3318"/>
                </a:lnTo>
                <a:lnTo>
                  <a:pt x="3731" y="5564"/>
                </a:lnTo>
                <a:lnTo>
                  <a:pt x="2555" y="5564"/>
                </a:lnTo>
                <a:lnTo>
                  <a:pt x="2555" y="3318"/>
                </a:lnTo>
                <a:close/>
                <a:moveTo>
                  <a:pt x="9525" y="8065"/>
                </a:moveTo>
                <a:lnTo>
                  <a:pt x="10393" y="8065"/>
                </a:lnTo>
                <a:lnTo>
                  <a:pt x="10393" y="9494"/>
                </a:lnTo>
                <a:lnTo>
                  <a:pt x="9525" y="9494"/>
                </a:lnTo>
                <a:lnTo>
                  <a:pt x="9525" y="8065"/>
                </a:lnTo>
                <a:close/>
                <a:moveTo>
                  <a:pt x="13818" y="10464"/>
                </a:moveTo>
                <a:lnTo>
                  <a:pt x="14687" y="10464"/>
                </a:lnTo>
                <a:lnTo>
                  <a:pt x="14687" y="11893"/>
                </a:lnTo>
                <a:lnTo>
                  <a:pt x="13818" y="11893"/>
                </a:lnTo>
                <a:lnTo>
                  <a:pt x="13818" y="10464"/>
                </a:lnTo>
                <a:close/>
                <a:moveTo>
                  <a:pt x="12387" y="10464"/>
                </a:moveTo>
                <a:lnTo>
                  <a:pt x="13256" y="10464"/>
                </a:lnTo>
                <a:lnTo>
                  <a:pt x="13256" y="11893"/>
                </a:lnTo>
                <a:lnTo>
                  <a:pt x="12387" y="11893"/>
                </a:lnTo>
                <a:lnTo>
                  <a:pt x="12387" y="10464"/>
                </a:lnTo>
                <a:close/>
                <a:moveTo>
                  <a:pt x="10955" y="10464"/>
                </a:moveTo>
                <a:lnTo>
                  <a:pt x="11825" y="10464"/>
                </a:lnTo>
                <a:lnTo>
                  <a:pt x="11825" y="11893"/>
                </a:lnTo>
                <a:lnTo>
                  <a:pt x="10955" y="11893"/>
                </a:lnTo>
                <a:lnTo>
                  <a:pt x="10955" y="10464"/>
                </a:lnTo>
                <a:close/>
                <a:moveTo>
                  <a:pt x="9525" y="10464"/>
                </a:moveTo>
                <a:lnTo>
                  <a:pt x="10393" y="10464"/>
                </a:lnTo>
                <a:lnTo>
                  <a:pt x="10393" y="11893"/>
                </a:lnTo>
                <a:lnTo>
                  <a:pt x="9525" y="11893"/>
                </a:lnTo>
                <a:lnTo>
                  <a:pt x="9525" y="10464"/>
                </a:lnTo>
                <a:close/>
                <a:moveTo>
                  <a:pt x="13818" y="8065"/>
                </a:moveTo>
                <a:lnTo>
                  <a:pt x="14687" y="8065"/>
                </a:lnTo>
                <a:lnTo>
                  <a:pt x="14687" y="9494"/>
                </a:lnTo>
                <a:lnTo>
                  <a:pt x="13818" y="9494"/>
                </a:lnTo>
                <a:lnTo>
                  <a:pt x="13818" y="8065"/>
                </a:lnTo>
                <a:close/>
                <a:moveTo>
                  <a:pt x="12387" y="8065"/>
                </a:moveTo>
                <a:lnTo>
                  <a:pt x="13256" y="8065"/>
                </a:lnTo>
                <a:lnTo>
                  <a:pt x="13256" y="9494"/>
                </a:lnTo>
                <a:lnTo>
                  <a:pt x="12387" y="9494"/>
                </a:lnTo>
                <a:lnTo>
                  <a:pt x="12387" y="8065"/>
                </a:lnTo>
                <a:close/>
                <a:moveTo>
                  <a:pt x="10955" y="8065"/>
                </a:moveTo>
                <a:lnTo>
                  <a:pt x="11825" y="8065"/>
                </a:lnTo>
                <a:lnTo>
                  <a:pt x="11825" y="9494"/>
                </a:lnTo>
                <a:lnTo>
                  <a:pt x="10955" y="9494"/>
                </a:lnTo>
                <a:lnTo>
                  <a:pt x="10955" y="8065"/>
                </a:lnTo>
                <a:close/>
              </a:path>
            </a:pathLst>
          </a:custGeom>
          <a:solidFill>
            <a:srgbClr val="FBA000"/>
          </a:solidFill>
          <a:ln w="9525">
            <a:noFill/>
            <a:round/>
            <a:headEnd/>
            <a:tailEnd/>
          </a:ln>
        </p:spPr>
        <p:txBody>
          <a:bodyPr vert="horz" wrap="square" lIns="121948" tIns="60974" rIns="121948" bIns="60974" numCol="1" anchor="t" anchorCtr="0" compatLnSpc="1">
            <a:prstTxWarp prst="textNoShape">
              <a:avLst/>
            </a:prstTxWarp>
          </a:bodyPr>
          <a:lstStyle/>
          <a:p>
            <a:pPr defTabSz="914478">
              <a:defRPr/>
            </a:pPr>
            <a:endParaRPr lang="zh-CN" altLang="en-US"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5" name="文本框 168"/>
          <p:cNvSpPr txBox="1"/>
          <p:nvPr/>
        </p:nvSpPr>
        <p:spPr>
          <a:xfrm>
            <a:off x="1286147" y="4141262"/>
            <a:ext cx="960222" cy="184666"/>
          </a:xfrm>
          <a:prstGeom prst="rect">
            <a:avLst/>
          </a:prstGeom>
          <a:noFill/>
        </p:spPr>
        <p:txBody>
          <a:bodyPr wrap="square" lIns="0" tIns="0" rIns="0" bIns="0" rtlCol="0">
            <a:spAutoFit/>
          </a:bodyPr>
          <a:lstStyle/>
          <a:p>
            <a:pPr defTabSz="914478"/>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406" name="文本框 170"/>
          <p:cNvSpPr txBox="1"/>
          <p:nvPr/>
        </p:nvSpPr>
        <p:spPr>
          <a:xfrm>
            <a:off x="1286146" y="5406317"/>
            <a:ext cx="960222" cy="184666"/>
          </a:xfrm>
          <a:prstGeom prst="rect">
            <a:avLst/>
          </a:prstGeom>
          <a:noFill/>
        </p:spPr>
        <p:txBody>
          <a:bodyPr wrap="square" lIns="0" tIns="0" rIns="0" bIns="0" rtlCol="0">
            <a:spAutoFit/>
          </a:bodyPr>
          <a:lstStyle/>
          <a:p>
            <a:pPr defTabSz="914478"/>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存储阵列</a:t>
            </a:r>
          </a:p>
        </p:txBody>
      </p:sp>
      <p:sp>
        <p:nvSpPr>
          <p:cNvPr id="407" name="文本框 201"/>
          <p:cNvSpPr txBox="1"/>
          <p:nvPr/>
        </p:nvSpPr>
        <p:spPr>
          <a:xfrm>
            <a:off x="1286147" y="4796828"/>
            <a:ext cx="960222" cy="184666"/>
          </a:xfrm>
          <a:prstGeom prst="rect">
            <a:avLst/>
          </a:prstGeom>
          <a:noFill/>
        </p:spPr>
        <p:txBody>
          <a:bodyPr wrap="square" lIns="0" tIns="0" rIns="0" bIns="0" rtlCol="0">
            <a:spAutoFit/>
          </a:bodyPr>
          <a:lstStyle/>
          <a:p>
            <a:pPr defTabSz="914478"/>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数据库服务器</a:t>
            </a:r>
          </a:p>
        </p:txBody>
      </p:sp>
      <p:grpSp>
        <p:nvGrpSpPr>
          <p:cNvPr id="408" name="组合 19612"/>
          <p:cNvGrpSpPr>
            <a:grpSpLocks noChangeAspect="1"/>
          </p:cNvGrpSpPr>
          <p:nvPr/>
        </p:nvGrpSpPr>
        <p:grpSpPr>
          <a:xfrm>
            <a:off x="2896287" y="3379743"/>
            <a:ext cx="385912" cy="312072"/>
            <a:chOff x="6245225" y="965201"/>
            <a:chExt cx="439738" cy="355600"/>
          </a:xfrm>
          <a:solidFill>
            <a:srgbClr val="92D050"/>
          </a:solidFill>
        </p:grpSpPr>
        <p:sp>
          <p:nvSpPr>
            <p:cNvPr id="409" name="Freeform 58"/>
            <p:cNvSpPr>
              <a:spLocks/>
            </p:cNvSpPr>
            <p:nvPr/>
          </p:nvSpPr>
          <p:spPr bwMode="auto">
            <a:xfrm>
              <a:off x="6245225" y="965201"/>
              <a:ext cx="439738" cy="344488"/>
            </a:xfrm>
            <a:custGeom>
              <a:avLst/>
              <a:gdLst>
                <a:gd name="T0" fmla="*/ 492 w 517"/>
                <a:gd name="T1" fmla="*/ 402 h 402"/>
                <a:gd name="T2" fmla="*/ 492 w 517"/>
                <a:gd name="T3" fmla="*/ 402 h 402"/>
                <a:gd name="T4" fmla="*/ 418 w 517"/>
                <a:gd name="T5" fmla="*/ 402 h 402"/>
                <a:gd name="T6" fmla="*/ 406 w 517"/>
                <a:gd name="T7" fmla="*/ 389 h 402"/>
                <a:gd name="T8" fmla="*/ 418 w 517"/>
                <a:gd name="T9" fmla="*/ 377 h 402"/>
                <a:gd name="T10" fmla="*/ 492 w 517"/>
                <a:gd name="T11" fmla="*/ 377 h 402"/>
                <a:gd name="T12" fmla="*/ 492 w 517"/>
                <a:gd name="T13" fmla="*/ 24 h 402"/>
                <a:gd name="T14" fmla="*/ 25 w 517"/>
                <a:gd name="T15" fmla="*/ 24 h 402"/>
                <a:gd name="T16" fmla="*/ 25 w 517"/>
                <a:gd name="T17" fmla="*/ 377 h 402"/>
                <a:gd name="T18" fmla="*/ 333 w 517"/>
                <a:gd name="T19" fmla="*/ 377 h 402"/>
                <a:gd name="T20" fmla="*/ 345 w 517"/>
                <a:gd name="T21" fmla="*/ 389 h 402"/>
                <a:gd name="T22" fmla="*/ 333 w 517"/>
                <a:gd name="T23" fmla="*/ 402 h 402"/>
                <a:gd name="T24" fmla="*/ 25 w 517"/>
                <a:gd name="T25" fmla="*/ 402 h 402"/>
                <a:gd name="T26" fmla="*/ 0 w 517"/>
                <a:gd name="T27" fmla="*/ 377 h 402"/>
                <a:gd name="T28" fmla="*/ 0 w 517"/>
                <a:gd name="T29" fmla="*/ 24 h 402"/>
                <a:gd name="T30" fmla="*/ 25 w 517"/>
                <a:gd name="T31" fmla="*/ 0 h 402"/>
                <a:gd name="T32" fmla="*/ 492 w 517"/>
                <a:gd name="T33" fmla="*/ 0 h 402"/>
                <a:gd name="T34" fmla="*/ 517 w 517"/>
                <a:gd name="T35" fmla="*/ 24 h 402"/>
                <a:gd name="T36" fmla="*/ 517 w 517"/>
                <a:gd name="T37" fmla="*/ 377 h 402"/>
                <a:gd name="T38" fmla="*/ 492 w 517"/>
                <a:gd name="T39"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402">
                  <a:moveTo>
                    <a:pt x="492" y="402"/>
                  </a:moveTo>
                  <a:lnTo>
                    <a:pt x="492" y="402"/>
                  </a:lnTo>
                  <a:lnTo>
                    <a:pt x="418" y="402"/>
                  </a:lnTo>
                  <a:cubicBezTo>
                    <a:pt x="412" y="402"/>
                    <a:pt x="406" y="396"/>
                    <a:pt x="406" y="389"/>
                  </a:cubicBezTo>
                  <a:cubicBezTo>
                    <a:pt x="406" y="383"/>
                    <a:pt x="412" y="377"/>
                    <a:pt x="418" y="377"/>
                  </a:cubicBezTo>
                  <a:lnTo>
                    <a:pt x="492" y="377"/>
                  </a:lnTo>
                  <a:lnTo>
                    <a:pt x="492" y="24"/>
                  </a:lnTo>
                  <a:lnTo>
                    <a:pt x="25" y="24"/>
                  </a:lnTo>
                  <a:lnTo>
                    <a:pt x="25" y="377"/>
                  </a:lnTo>
                  <a:lnTo>
                    <a:pt x="333" y="377"/>
                  </a:lnTo>
                  <a:cubicBezTo>
                    <a:pt x="339" y="377"/>
                    <a:pt x="345" y="383"/>
                    <a:pt x="345" y="389"/>
                  </a:cubicBezTo>
                  <a:cubicBezTo>
                    <a:pt x="345" y="396"/>
                    <a:pt x="339" y="402"/>
                    <a:pt x="333" y="402"/>
                  </a:cubicBezTo>
                  <a:lnTo>
                    <a:pt x="25" y="402"/>
                  </a:lnTo>
                  <a:cubicBezTo>
                    <a:pt x="11" y="402"/>
                    <a:pt x="0" y="391"/>
                    <a:pt x="0" y="377"/>
                  </a:cubicBezTo>
                  <a:lnTo>
                    <a:pt x="0" y="24"/>
                  </a:lnTo>
                  <a:cubicBezTo>
                    <a:pt x="0" y="11"/>
                    <a:pt x="11" y="0"/>
                    <a:pt x="25" y="0"/>
                  </a:cubicBezTo>
                  <a:lnTo>
                    <a:pt x="492" y="0"/>
                  </a:lnTo>
                  <a:cubicBezTo>
                    <a:pt x="506" y="0"/>
                    <a:pt x="517" y="11"/>
                    <a:pt x="517" y="24"/>
                  </a:cubicBezTo>
                  <a:lnTo>
                    <a:pt x="517" y="377"/>
                  </a:lnTo>
                  <a:cubicBezTo>
                    <a:pt x="517" y="391"/>
                    <a:pt x="506" y="402"/>
                    <a:pt x="492" y="402"/>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0" name="Freeform 59"/>
            <p:cNvSpPr>
              <a:spLocks/>
            </p:cNvSpPr>
            <p:nvPr/>
          </p:nvSpPr>
          <p:spPr bwMode="auto">
            <a:xfrm>
              <a:off x="6516688" y="1277938"/>
              <a:ext cx="42863" cy="42863"/>
            </a:xfrm>
            <a:custGeom>
              <a:avLst/>
              <a:gdLst>
                <a:gd name="T0" fmla="*/ 26 w 51"/>
                <a:gd name="T1" fmla="*/ 51 h 51"/>
                <a:gd name="T2" fmla="*/ 26 w 51"/>
                <a:gd name="T3" fmla="*/ 51 h 51"/>
                <a:gd name="T4" fmla="*/ 0 w 51"/>
                <a:gd name="T5" fmla="*/ 25 h 51"/>
                <a:gd name="T6" fmla="*/ 26 w 51"/>
                <a:gd name="T7" fmla="*/ 0 h 51"/>
                <a:gd name="T8" fmla="*/ 51 w 51"/>
                <a:gd name="T9" fmla="*/ 25 h 51"/>
                <a:gd name="T10" fmla="*/ 26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6" y="51"/>
                  </a:moveTo>
                  <a:lnTo>
                    <a:pt x="26" y="51"/>
                  </a:lnTo>
                  <a:cubicBezTo>
                    <a:pt x="11" y="51"/>
                    <a:pt x="0" y="39"/>
                    <a:pt x="0" y="25"/>
                  </a:cubicBezTo>
                  <a:cubicBezTo>
                    <a:pt x="0" y="11"/>
                    <a:pt x="11" y="0"/>
                    <a:pt x="26" y="0"/>
                  </a:cubicBezTo>
                  <a:cubicBezTo>
                    <a:pt x="40" y="0"/>
                    <a:pt x="51" y="11"/>
                    <a:pt x="51" y="25"/>
                  </a:cubicBezTo>
                  <a:cubicBezTo>
                    <a:pt x="51" y="39"/>
                    <a:pt x="40" y="51"/>
                    <a:pt x="26"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1" name="Freeform 60"/>
            <p:cNvSpPr>
              <a:spLocks/>
            </p:cNvSpPr>
            <p:nvPr/>
          </p:nvSpPr>
          <p:spPr bwMode="auto">
            <a:xfrm>
              <a:off x="6583363" y="1277938"/>
              <a:ext cx="42863" cy="4286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39"/>
                    <a:pt x="0" y="25"/>
                  </a:cubicBezTo>
                  <a:cubicBezTo>
                    <a:pt x="0" y="11"/>
                    <a:pt x="11" y="0"/>
                    <a:pt x="25" y="0"/>
                  </a:cubicBezTo>
                  <a:cubicBezTo>
                    <a:pt x="40" y="0"/>
                    <a:pt x="51" y="11"/>
                    <a:pt x="51" y="25"/>
                  </a:cubicBezTo>
                  <a:cubicBezTo>
                    <a:pt x="51" y="39"/>
                    <a:pt x="40"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2" name="Freeform 61"/>
            <p:cNvSpPr>
              <a:spLocks/>
            </p:cNvSpPr>
            <p:nvPr/>
          </p:nvSpPr>
          <p:spPr bwMode="auto">
            <a:xfrm>
              <a:off x="6513513" y="1127126"/>
              <a:ext cx="80963" cy="22225"/>
            </a:xfrm>
            <a:custGeom>
              <a:avLst/>
              <a:gdLst>
                <a:gd name="T0" fmla="*/ 96 w 96"/>
                <a:gd name="T1" fmla="*/ 25 h 25"/>
                <a:gd name="T2" fmla="*/ 96 w 96"/>
                <a:gd name="T3" fmla="*/ 25 h 25"/>
                <a:gd name="T4" fmla="*/ 0 w 96"/>
                <a:gd name="T5" fmla="*/ 24 h 25"/>
                <a:gd name="T6" fmla="*/ 0 w 96"/>
                <a:gd name="T7" fmla="*/ 0 h 25"/>
                <a:gd name="T8" fmla="*/ 96 w 96"/>
                <a:gd name="T9" fmla="*/ 0 h 25"/>
                <a:gd name="T10" fmla="*/ 96 w 96"/>
                <a:gd name="T11" fmla="*/ 25 h 25"/>
              </a:gdLst>
              <a:ahLst/>
              <a:cxnLst>
                <a:cxn ang="0">
                  <a:pos x="T0" y="T1"/>
                </a:cxn>
                <a:cxn ang="0">
                  <a:pos x="T2" y="T3"/>
                </a:cxn>
                <a:cxn ang="0">
                  <a:pos x="T4" y="T5"/>
                </a:cxn>
                <a:cxn ang="0">
                  <a:pos x="T6" y="T7"/>
                </a:cxn>
                <a:cxn ang="0">
                  <a:pos x="T8" y="T9"/>
                </a:cxn>
                <a:cxn ang="0">
                  <a:pos x="T10" y="T11"/>
                </a:cxn>
              </a:cxnLst>
              <a:rect l="0" t="0" r="r" b="b"/>
              <a:pathLst>
                <a:path w="96" h="25">
                  <a:moveTo>
                    <a:pt x="96" y="25"/>
                  </a:moveTo>
                  <a:lnTo>
                    <a:pt x="96" y="25"/>
                  </a:lnTo>
                  <a:lnTo>
                    <a:pt x="0" y="24"/>
                  </a:lnTo>
                  <a:lnTo>
                    <a:pt x="0" y="0"/>
                  </a:lnTo>
                  <a:lnTo>
                    <a:pt x="96" y="0"/>
                  </a:lnTo>
                  <a:lnTo>
                    <a:pt x="96" y="2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3" name="Freeform 62"/>
            <p:cNvSpPr>
              <a:spLocks/>
            </p:cNvSpPr>
            <p:nvPr/>
          </p:nvSpPr>
          <p:spPr bwMode="auto">
            <a:xfrm>
              <a:off x="6578600" y="1103313"/>
              <a:ext cx="38100" cy="69850"/>
            </a:xfrm>
            <a:custGeom>
              <a:avLst/>
              <a:gdLst>
                <a:gd name="T0" fmla="*/ 0 w 46"/>
                <a:gd name="T1" fmla="*/ 0 h 81"/>
                <a:gd name="T2" fmla="*/ 0 w 46"/>
                <a:gd name="T3" fmla="*/ 0 h 81"/>
                <a:gd name="T4" fmla="*/ 46 w 46"/>
                <a:gd name="T5" fmla="*/ 40 h 81"/>
                <a:gd name="T6" fmla="*/ 0 w 46"/>
                <a:gd name="T7" fmla="*/ 81 h 81"/>
                <a:gd name="T8" fmla="*/ 0 w 46"/>
                <a:gd name="T9" fmla="*/ 0 h 81"/>
              </a:gdLst>
              <a:ahLst/>
              <a:cxnLst>
                <a:cxn ang="0">
                  <a:pos x="T0" y="T1"/>
                </a:cxn>
                <a:cxn ang="0">
                  <a:pos x="T2" y="T3"/>
                </a:cxn>
                <a:cxn ang="0">
                  <a:pos x="T4" y="T5"/>
                </a:cxn>
                <a:cxn ang="0">
                  <a:pos x="T6" y="T7"/>
                </a:cxn>
                <a:cxn ang="0">
                  <a:pos x="T8" y="T9"/>
                </a:cxn>
              </a:cxnLst>
              <a:rect l="0" t="0" r="r" b="b"/>
              <a:pathLst>
                <a:path w="46" h="81">
                  <a:moveTo>
                    <a:pt x="0" y="0"/>
                  </a:moveTo>
                  <a:lnTo>
                    <a:pt x="0" y="0"/>
                  </a:lnTo>
                  <a:lnTo>
                    <a:pt x="46" y="40"/>
                  </a:lnTo>
                  <a:lnTo>
                    <a:pt x="0" y="81"/>
                  </a:lnTo>
                  <a:lnTo>
                    <a:pt x="0" y="0"/>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4" name="Freeform 63"/>
            <p:cNvSpPr>
              <a:spLocks/>
            </p:cNvSpPr>
            <p:nvPr/>
          </p:nvSpPr>
          <p:spPr bwMode="auto">
            <a:xfrm>
              <a:off x="6515100" y="1052513"/>
              <a:ext cx="84138" cy="49213"/>
            </a:xfrm>
            <a:custGeom>
              <a:avLst/>
              <a:gdLst>
                <a:gd name="T0" fmla="*/ 9 w 98"/>
                <a:gd name="T1" fmla="*/ 58 h 58"/>
                <a:gd name="T2" fmla="*/ 9 w 98"/>
                <a:gd name="T3" fmla="*/ 58 h 58"/>
                <a:gd name="T4" fmla="*/ 0 w 98"/>
                <a:gd name="T5" fmla="*/ 35 h 58"/>
                <a:gd name="T6" fmla="*/ 89 w 98"/>
                <a:gd name="T7" fmla="*/ 0 h 58"/>
                <a:gd name="T8" fmla="*/ 98 w 98"/>
                <a:gd name="T9" fmla="*/ 23 h 58"/>
                <a:gd name="T10" fmla="*/ 9 w 98"/>
                <a:gd name="T11" fmla="*/ 58 h 58"/>
              </a:gdLst>
              <a:ahLst/>
              <a:cxnLst>
                <a:cxn ang="0">
                  <a:pos x="T0" y="T1"/>
                </a:cxn>
                <a:cxn ang="0">
                  <a:pos x="T2" y="T3"/>
                </a:cxn>
                <a:cxn ang="0">
                  <a:pos x="T4" y="T5"/>
                </a:cxn>
                <a:cxn ang="0">
                  <a:pos x="T6" y="T7"/>
                </a:cxn>
                <a:cxn ang="0">
                  <a:pos x="T8" y="T9"/>
                </a:cxn>
                <a:cxn ang="0">
                  <a:pos x="T10" y="T11"/>
                </a:cxn>
              </a:cxnLst>
              <a:rect l="0" t="0" r="r" b="b"/>
              <a:pathLst>
                <a:path w="98" h="58">
                  <a:moveTo>
                    <a:pt x="9" y="58"/>
                  </a:moveTo>
                  <a:lnTo>
                    <a:pt x="9" y="58"/>
                  </a:lnTo>
                  <a:lnTo>
                    <a:pt x="0" y="35"/>
                  </a:lnTo>
                  <a:lnTo>
                    <a:pt x="89" y="0"/>
                  </a:lnTo>
                  <a:lnTo>
                    <a:pt x="98" y="23"/>
                  </a:lnTo>
                  <a:lnTo>
                    <a:pt x="9" y="58"/>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5" name="Freeform 64"/>
            <p:cNvSpPr>
              <a:spLocks/>
            </p:cNvSpPr>
            <p:nvPr/>
          </p:nvSpPr>
          <p:spPr bwMode="auto">
            <a:xfrm>
              <a:off x="6567488" y="1036638"/>
              <a:ext cx="47625" cy="63500"/>
            </a:xfrm>
            <a:custGeom>
              <a:avLst/>
              <a:gdLst>
                <a:gd name="T0" fmla="*/ 0 w 57"/>
                <a:gd name="T1" fmla="*/ 0 h 75"/>
                <a:gd name="T2" fmla="*/ 0 w 57"/>
                <a:gd name="T3" fmla="*/ 0 h 75"/>
                <a:gd name="T4" fmla="*/ 57 w 57"/>
                <a:gd name="T5" fmla="*/ 21 h 75"/>
                <a:gd name="T6" fmla="*/ 30 w 57"/>
                <a:gd name="T7" fmla="*/ 75 h 75"/>
                <a:gd name="T8" fmla="*/ 0 w 57"/>
                <a:gd name="T9" fmla="*/ 0 h 75"/>
              </a:gdLst>
              <a:ahLst/>
              <a:cxnLst>
                <a:cxn ang="0">
                  <a:pos x="T0" y="T1"/>
                </a:cxn>
                <a:cxn ang="0">
                  <a:pos x="T2" y="T3"/>
                </a:cxn>
                <a:cxn ang="0">
                  <a:pos x="T4" y="T5"/>
                </a:cxn>
                <a:cxn ang="0">
                  <a:pos x="T6" y="T7"/>
                </a:cxn>
                <a:cxn ang="0">
                  <a:pos x="T8" y="T9"/>
                </a:cxn>
              </a:cxnLst>
              <a:rect l="0" t="0" r="r" b="b"/>
              <a:pathLst>
                <a:path w="57" h="75">
                  <a:moveTo>
                    <a:pt x="0" y="0"/>
                  </a:moveTo>
                  <a:lnTo>
                    <a:pt x="0" y="0"/>
                  </a:lnTo>
                  <a:lnTo>
                    <a:pt x="57" y="21"/>
                  </a:lnTo>
                  <a:lnTo>
                    <a:pt x="30" y="75"/>
                  </a:lnTo>
                  <a:lnTo>
                    <a:pt x="0" y="0"/>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6" name="Freeform 65"/>
            <p:cNvSpPr>
              <a:spLocks/>
            </p:cNvSpPr>
            <p:nvPr/>
          </p:nvSpPr>
          <p:spPr bwMode="auto">
            <a:xfrm>
              <a:off x="6515100" y="1173163"/>
              <a:ext cx="84138" cy="50800"/>
            </a:xfrm>
            <a:custGeom>
              <a:avLst/>
              <a:gdLst>
                <a:gd name="T0" fmla="*/ 89 w 98"/>
                <a:gd name="T1" fmla="*/ 59 h 59"/>
                <a:gd name="T2" fmla="*/ 89 w 98"/>
                <a:gd name="T3" fmla="*/ 59 h 59"/>
                <a:gd name="T4" fmla="*/ 0 w 98"/>
                <a:gd name="T5" fmla="*/ 23 h 59"/>
                <a:gd name="T6" fmla="*/ 9 w 98"/>
                <a:gd name="T7" fmla="*/ 0 h 59"/>
                <a:gd name="T8" fmla="*/ 98 w 98"/>
                <a:gd name="T9" fmla="*/ 36 h 59"/>
                <a:gd name="T10" fmla="*/ 89 w 98"/>
                <a:gd name="T11" fmla="*/ 59 h 59"/>
              </a:gdLst>
              <a:ahLst/>
              <a:cxnLst>
                <a:cxn ang="0">
                  <a:pos x="T0" y="T1"/>
                </a:cxn>
                <a:cxn ang="0">
                  <a:pos x="T2" y="T3"/>
                </a:cxn>
                <a:cxn ang="0">
                  <a:pos x="T4" y="T5"/>
                </a:cxn>
                <a:cxn ang="0">
                  <a:pos x="T6" y="T7"/>
                </a:cxn>
                <a:cxn ang="0">
                  <a:pos x="T8" y="T9"/>
                </a:cxn>
                <a:cxn ang="0">
                  <a:pos x="T10" y="T11"/>
                </a:cxn>
              </a:cxnLst>
              <a:rect l="0" t="0" r="r" b="b"/>
              <a:pathLst>
                <a:path w="98" h="59">
                  <a:moveTo>
                    <a:pt x="89" y="59"/>
                  </a:moveTo>
                  <a:lnTo>
                    <a:pt x="89" y="59"/>
                  </a:lnTo>
                  <a:lnTo>
                    <a:pt x="0" y="23"/>
                  </a:lnTo>
                  <a:lnTo>
                    <a:pt x="9" y="0"/>
                  </a:lnTo>
                  <a:lnTo>
                    <a:pt x="98" y="36"/>
                  </a:lnTo>
                  <a:lnTo>
                    <a:pt x="89" y="59"/>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7" name="Freeform 66"/>
            <p:cNvSpPr>
              <a:spLocks/>
            </p:cNvSpPr>
            <p:nvPr/>
          </p:nvSpPr>
          <p:spPr bwMode="auto">
            <a:xfrm>
              <a:off x="6567488" y="1174751"/>
              <a:ext cx="47625" cy="65088"/>
            </a:xfrm>
            <a:custGeom>
              <a:avLst/>
              <a:gdLst>
                <a:gd name="T0" fmla="*/ 0 w 57"/>
                <a:gd name="T1" fmla="*/ 75 h 75"/>
                <a:gd name="T2" fmla="*/ 0 w 57"/>
                <a:gd name="T3" fmla="*/ 75 h 75"/>
                <a:gd name="T4" fmla="*/ 57 w 57"/>
                <a:gd name="T5" fmla="*/ 55 h 75"/>
                <a:gd name="T6" fmla="*/ 30 w 57"/>
                <a:gd name="T7" fmla="*/ 0 h 75"/>
                <a:gd name="T8" fmla="*/ 0 w 57"/>
                <a:gd name="T9" fmla="*/ 75 h 75"/>
              </a:gdLst>
              <a:ahLst/>
              <a:cxnLst>
                <a:cxn ang="0">
                  <a:pos x="T0" y="T1"/>
                </a:cxn>
                <a:cxn ang="0">
                  <a:pos x="T2" y="T3"/>
                </a:cxn>
                <a:cxn ang="0">
                  <a:pos x="T4" y="T5"/>
                </a:cxn>
                <a:cxn ang="0">
                  <a:pos x="T6" y="T7"/>
                </a:cxn>
                <a:cxn ang="0">
                  <a:pos x="T8" y="T9"/>
                </a:cxn>
              </a:cxnLst>
              <a:rect l="0" t="0" r="r" b="b"/>
              <a:pathLst>
                <a:path w="57" h="75">
                  <a:moveTo>
                    <a:pt x="0" y="75"/>
                  </a:moveTo>
                  <a:lnTo>
                    <a:pt x="0" y="75"/>
                  </a:lnTo>
                  <a:lnTo>
                    <a:pt x="57" y="55"/>
                  </a:lnTo>
                  <a:lnTo>
                    <a:pt x="30" y="0"/>
                  </a:lnTo>
                  <a:lnTo>
                    <a:pt x="0" y="7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8" name="Freeform 67"/>
            <p:cNvSpPr>
              <a:spLocks/>
            </p:cNvSpPr>
            <p:nvPr/>
          </p:nvSpPr>
          <p:spPr bwMode="auto">
            <a:xfrm>
              <a:off x="6299200" y="1120776"/>
              <a:ext cx="112713" cy="33338"/>
            </a:xfrm>
            <a:custGeom>
              <a:avLst/>
              <a:gdLst>
                <a:gd name="T0" fmla="*/ 132 w 132"/>
                <a:gd name="T1" fmla="*/ 39 h 39"/>
                <a:gd name="T2" fmla="*/ 132 w 132"/>
                <a:gd name="T3" fmla="*/ 39 h 39"/>
                <a:gd name="T4" fmla="*/ 0 w 132"/>
                <a:gd name="T5" fmla="*/ 39 h 39"/>
                <a:gd name="T6" fmla="*/ 0 w 132"/>
                <a:gd name="T7" fmla="*/ 0 h 39"/>
                <a:gd name="T8" fmla="*/ 132 w 132"/>
                <a:gd name="T9" fmla="*/ 0 h 39"/>
                <a:gd name="T10" fmla="*/ 132 w 132"/>
                <a:gd name="T11" fmla="*/ 39 h 39"/>
              </a:gdLst>
              <a:ahLst/>
              <a:cxnLst>
                <a:cxn ang="0">
                  <a:pos x="T0" y="T1"/>
                </a:cxn>
                <a:cxn ang="0">
                  <a:pos x="T2" y="T3"/>
                </a:cxn>
                <a:cxn ang="0">
                  <a:pos x="T4" y="T5"/>
                </a:cxn>
                <a:cxn ang="0">
                  <a:pos x="T6" y="T7"/>
                </a:cxn>
                <a:cxn ang="0">
                  <a:pos x="T8" y="T9"/>
                </a:cxn>
                <a:cxn ang="0">
                  <a:pos x="T10" y="T11"/>
                </a:cxn>
              </a:cxnLst>
              <a:rect l="0" t="0" r="r" b="b"/>
              <a:pathLst>
                <a:path w="132" h="39">
                  <a:moveTo>
                    <a:pt x="132" y="39"/>
                  </a:moveTo>
                  <a:lnTo>
                    <a:pt x="132" y="39"/>
                  </a:lnTo>
                  <a:lnTo>
                    <a:pt x="0" y="39"/>
                  </a:lnTo>
                  <a:lnTo>
                    <a:pt x="0" y="0"/>
                  </a:lnTo>
                  <a:lnTo>
                    <a:pt x="132" y="0"/>
                  </a:lnTo>
                  <a:lnTo>
                    <a:pt x="132" y="39"/>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9" name="Freeform 68"/>
            <p:cNvSpPr>
              <a:spLocks/>
            </p:cNvSpPr>
            <p:nvPr/>
          </p:nvSpPr>
          <p:spPr bwMode="auto">
            <a:xfrm>
              <a:off x="6388100" y="1087438"/>
              <a:ext cx="57150" cy="101600"/>
            </a:xfrm>
            <a:custGeom>
              <a:avLst/>
              <a:gdLst>
                <a:gd name="T0" fmla="*/ 0 w 67"/>
                <a:gd name="T1" fmla="*/ 0 h 118"/>
                <a:gd name="T2" fmla="*/ 0 w 67"/>
                <a:gd name="T3" fmla="*/ 0 h 118"/>
                <a:gd name="T4" fmla="*/ 67 w 67"/>
                <a:gd name="T5" fmla="*/ 59 h 118"/>
                <a:gd name="T6" fmla="*/ 0 w 67"/>
                <a:gd name="T7" fmla="*/ 118 h 118"/>
                <a:gd name="T8" fmla="*/ 0 w 67"/>
                <a:gd name="T9" fmla="*/ 0 h 118"/>
              </a:gdLst>
              <a:ahLst/>
              <a:cxnLst>
                <a:cxn ang="0">
                  <a:pos x="T0" y="T1"/>
                </a:cxn>
                <a:cxn ang="0">
                  <a:pos x="T2" y="T3"/>
                </a:cxn>
                <a:cxn ang="0">
                  <a:pos x="T4" y="T5"/>
                </a:cxn>
                <a:cxn ang="0">
                  <a:pos x="T6" y="T7"/>
                </a:cxn>
                <a:cxn ang="0">
                  <a:pos x="T8" y="T9"/>
                </a:cxn>
              </a:cxnLst>
              <a:rect l="0" t="0" r="r" b="b"/>
              <a:pathLst>
                <a:path w="67" h="118">
                  <a:moveTo>
                    <a:pt x="0" y="0"/>
                  </a:moveTo>
                  <a:lnTo>
                    <a:pt x="0" y="0"/>
                  </a:lnTo>
                  <a:lnTo>
                    <a:pt x="67" y="59"/>
                  </a:lnTo>
                  <a:lnTo>
                    <a:pt x="0" y="118"/>
                  </a:lnTo>
                  <a:lnTo>
                    <a:pt x="0" y="0"/>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0" name="Freeform 69"/>
            <p:cNvSpPr>
              <a:spLocks/>
            </p:cNvSpPr>
            <p:nvPr/>
          </p:nvSpPr>
          <p:spPr bwMode="auto">
            <a:xfrm>
              <a:off x="6457950" y="1071563"/>
              <a:ext cx="33338" cy="131763"/>
            </a:xfrm>
            <a:custGeom>
              <a:avLst/>
              <a:gdLst>
                <a:gd name="T0" fmla="*/ 40 w 40"/>
                <a:gd name="T1" fmla="*/ 138 h 153"/>
                <a:gd name="T2" fmla="*/ 40 w 40"/>
                <a:gd name="T3" fmla="*/ 138 h 153"/>
                <a:gd name="T4" fmla="*/ 23 w 40"/>
                <a:gd name="T5" fmla="*/ 153 h 153"/>
                <a:gd name="T6" fmla="*/ 18 w 40"/>
                <a:gd name="T7" fmla="*/ 153 h 153"/>
                <a:gd name="T8" fmla="*/ 0 w 40"/>
                <a:gd name="T9" fmla="*/ 138 h 153"/>
                <a:gd name="T10" fmla="*/ 0 w 40"/>
                <a:gd name="T11" fmla="*/ 15 h 153"/>
                <a:gd name="T12" fmla="*/ 18 w 40"/>
                <a:gd name="T13" fmla="*/ 0 h 153"/>
                <a:gd name="T14" fmla="*/ 23 w 40"/>
                <a:gd name="T15" fmla="*/ 0 h 153"/>
                <a:gd name="T16" fmla="*/ 40 w 40"/>
                <a:gd name="T17" fmla="*/ 15 h 153"/>
                <a:gd name="T18" fmla="*/ 40 w 40"/>
                <a:gd name="T19" fmla="*/ 138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53">
                  <a:moveTo>
                    <a:pt x="40" y="138"/>
                  </a:moveTo>
                  <a:lnTo>
                    <a:pt x="40" y="138"/>
                  </a:lnTo>
                  <a:cubicBezTo>
                    <a:pt x="40" y="146"/>
                    <a:pt x="32" y="153"/>
                    <a:pt x="23" y="153"/>
                  </a:cubicBezTo>
                  <a:lnTo>
                    <a:pt x="18" y="153"/>
                  </a:lnTo>
                  <a:cubicBezTo>
                    <a:pt x="8" y="153"/>
                    <a:pt x="0" y="146"/>
                    <a:pt x="0" y="138"/>
                  </a:cubicBezTo>
                  <a:lnTo>
                    <a:pt x="0" y="15"/>
                  </a:lnTo>
                  <a:cubicBezTo>
                    <a:pt x="0" y="7"/>
                    <a:pt x="8" y="0"/>
                    <a:pt x="18" y="0"/>
                  </a:cubicBezTo>
                  <a:lnTo>
                    <a:pt x="23" y="0"/>
                  </a:lnTo>
                  <a:cubicBezTo>
                    <a:pt x="32" y="0"/>
                    <a:pt x="40" y="7"/>
                    <a:pt x="40" y="15"/>
                  </a:cubicBezTo>
                  <a:lnTo>
                    <a:pt x="40" y="138"/>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21" name="文本框 313"/>
          <p:cNvSpPr txBox="1"/>
          <p:nvPr/>
        </p:nvSpPr>
        <p:spPr>
          <a:xfrm>
            <a:off x="2306517" y="3405334"/>
            <a:ext cx="483395" cy="184666"/>
          </a:xfrm>
          <a:prstGeom prst="rect">
            <a:avLst/>
          </a:prstGeom>
          <a:noFill/>
        </p:spPr>
        <p:txBody>
          <a:bodyPr wrap="square" lIns="0" tIns="0" rIns="0" bIns="0" rtlCol="0">
            <a:spAutoFit/>
          </a:bodyPr>
          <a:lstStyle/>
          <a:p>
            <a:pPr algn="ctr" defTabSz="914478"/>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Nginx</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2" name="组合 421"/>
          <p:cNvGrpSpPr/>
          <p:nvPr/>
        </p:nvGrpSpPr>
        <p:grpSpPr>
          <a:xfrm>
            <a:off x="2369075" y="3957551"/>
            <a:ext cx="2214643" cy="552128"/>
            <a:chOff x="1487077" y="2381443"/>
            <a:chExt cx="1080000" cy="414000"/>
          </a:xfrm>
        </p:grpSpPr>
        <p:sp>
          <p:nvSpPr>
            <p:cNvPr id="423" name="矩形 422"/>
            <p:cNvSpPr/>
            <p:nvPr/>
          </p:nvSpPr>
          <p:spPr bwMode="auto">
            <a:xfrm>
              <a:off x="1487077" y="2381443"/>
              <a:ext cx="1080000" cy="414000"/>
            </a:xfrm>
            <a:prstGeom prst="rect">
              <a:avLst/>
            </a:prstGeom>
            <a:solidFill>
              <a:srgbClr val="92D050">
                <a:alpha val="20000"/>
              </a:srgbClr>
            </a:solidFill>
            <a:ln w="12700" cap="flat" cmpd="sng" algn="ctr">
              <a:noFill/>
              <a:prstDash val="solid"/>
              <a:miter lim="800000"/>
            </a:ln>
            <a:effectLst/>
            <a:extLst/>
          </p:spPr>
          <p:txBody>
            <a:bodyPr rot="0" spcFirstLastPara="0" vertOverflow="overflow" horzOverflow="overflow" vert="horz" wrap="square" lIns="121948" tIns="60974" rIns="121948" bIns="60974" numCol="1" spcCol="0" rtlCol="0" fromWordArt="0" anchor="ctr" anchorCtr="0" forceAA="0" compatLnSpc="1">
              <a:prstTxWarp prst="textNoShape">
                <a:avLst/>
              </a:prstTxWarp>
              <a:noAutofit/>
            </a:bodyPr>
            <a:lstStyle/>
            <a:p>
              <a:pPr algn="ctr" defTabSz="914478"/>
              <a:endParaRPr lang="zh-CN" altLang="en-US" kern="0">
                <a:solidFill>
                  <a:sysClr val="window" lastClr="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4" name="组合 423"/>
            <p:cNvGrpSpPr/>
            <p:nvPr/>
          </p:nvGrpSpPr>
          <p:grpSpPr>
            <a:xfrm>
              <a:off x="1644832" y="2444443"/>
              <a:ext cx="764490" cy="288000"/>
              <a:chOff x="1613075" y="2435443"/>
              <a:chExt cx="764490" cy="288000"/>
            </a:xfrm>
          </p:grpSpPr>
          <p:grpSp>
            <p:nvGrpSpPr>
              <p:cNvPr id="425" name="组合 18401"/>
              <p:cNvGrpSpPr>
                <a:grpSpLocks noChangeAspect="1"/>
              </p:cNvGrpSpPr>
              <p:nvPr/>
            </p:nvGrpSpPr>
            <p:grpSpPr>
              <a:xfrm>
                <a:off x="1613075" y="2435443"/>
                <a:ext cx="152534" cy="288000"/>
                <a:chOff x="7499351" y="736601"/>
                <a:chExt cx="227013" cy="428625"/>
              </a:xfrm>
              <a:solidFill>
                <a:srgbClr val="666666"/>
              </a:solidFill>
            </p:grpSpPr>
            <p:sp>
              <p:nvSpPr>
                <p:cNvPr id="454"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5"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6"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7"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8"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9"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0"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1"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2"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3"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4"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5"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6"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26" name="组合 18401"/>
              <p:cNvGrpSpPr>
                <a:grpSpLocks noChangeAspect="1"/>
              </p:cNvGrpSpPr>
              <p:nvPr/>
            </p:nvGrpSpPr>
            <p:grpSpPr>
              <a:xfrm>
                <a:off x="1919053" y="2435443"/>
                <a:ext cx="152534" cy="288000"/>
                <a:chOff x="7499351" y="736601"/>
                <a:chExt cx="227013" cy="428625"/>
              </a:xfrm>
              <a:solidFill>
                <a:srgbClr val="666666"/>
              </a:solidFill>
            </p:grpSpPr>
            <p:sp>
              <p:nvSpPr>
                <p:cNvPr id="441"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2"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3"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4"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5"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6"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7"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8"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9"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0"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1"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2"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3"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27" name="组合 18401"/>
              <p:cNvGrpSpPr>
                <a:grpSpLocks noChangeAspect="1"/>
              </p:cNvGrpSpPr>
              <p:nvPr/>
            </p:nvGrpSpPr>
            <p:grpSpPr>
              <a:xfrm>
                <a:off x="2225031" y="2435443"/>
                <a:ext cx="152534" cy="288000"/>
                <a:chOff x="7499351" y="736601"/>
                <a:chExt cx="227013" cy="428625"/>
              </a:xfrm>
              <a:solidFill>
                <a:srgbClr val="666666"/>
              </a:solidFill>
            </p:grpSpPr>
            <p:sp>
              <p:nvSpPr>
                <p:cNvPr id="428"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9"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0"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1"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2"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3"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4"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5"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6"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7"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8"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9"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0"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sp>
        <p:nvSpPr>
          <p:cNvPr id="468" name="矩形 467"/>
          <p:cNvSpPr/>
          <p:nvPr/>
        </p:nvSpPr>
        <p:spPr bwMode="auto">
          <a:xfrm>
            <a:off x="2369075" y="4613117"/>
            <a:ext cx="2214643" cy="552128"/>
          </a:xfrm>
          <a:prstGeom prst="rect">
            <a:avLst/>
          </a:prstGeom>
          <a:solidFill>
            <a:srgbClr val="666666">
              <a:alpha val="20000"/>
            </a:srgbClr>
          </a:solidFill>
          <a:ln w="12700" cap="flat" cmpd="sng" algn="ctr">
            <a:noFill/>
            <a:prstDash val="solid"/>
            <a:miter lim="800000"/>
          </a:ln>
          <a:effectLst/>
          <a:extLst/>
        </p:spPr>
        <p:txBody>
          <a:bodyPr rot="0" spcFirstLastPara="0" vertOverflow="overflow" horzOverflow="overflow" vert="horz" wrap="square" lIns="121948" tIns="60974" rIns="121948" bIns="60974" numCol="1" spcCol="0" rtlCol="0" fromWordArt="0" anchor="ctr" anchorCtr="0" forceAA="0" compatLnSpc="1">
            <a:prstTxWarp prst="textNoShape">
              <a:avLst/>
            </a:prstTxWarp>
            <a:noAutofit/>
          </a:bodyPr>
          <a:lstStyle/>
          <a:p>
            <a:pPr algn="ctr" defTabSz="914478"/>
            <a:endParaRPr lang="zh-CN" altLang="en-US" kern="0">
              <a:solidFill>
                <a:sysClr val="window" lastClr="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69" name="组合 468"/>
          <p:cNvGrpSpPr/>
          <p:nvPr/>
        </p:nvGrpSpPr>
        <p:grpSpPr>
          <a:xfrm>
            <a:off x="2692567" y="4697136"/>
            <a:ext cx="1567660" cy="384089"/>
            <a:chOff x="1613075" y="3386949"/>
            <a:chExt cx="764490" cy="288000"/>
          </a:xfrm>
        </p:grpSpPr>
        <p:grpSp>
          <p:nvGrpSpPr>
            <p:cNvPr id="470" name="组合 18401"/>
            <p:cNvGrpSpPr>
              <a:grpSpLocks noChangeAspect="1"/>
            </p:cNvGrpSpPr>
            <p:nvPr/>
          </p:nvGrpSpPr>
          <p:grpSpPr>
            <a:xfrm>
              <a:off x="1613075" y="3386949"/>
              <a:ext cx="152534" cy="288000"/>
              <a:chOff x="7499351" y="736601"/>
              <a:chExt cx="227013" cy="428625"/>
            </a:xfrm>
            <a:solidFill>
              <a:srgbClr val="666666"/>
            </a:solidFill>
          </p:grpSpPr>
          <p:sp>
            <p:nvSpPr>
              <p:cNvPr id="485"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6"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7"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8"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9"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0"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1"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2"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3"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4"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5"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6"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7"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71" name="组合 18401"/>
            <p:cNvGrpSpPr>
              <a:grpSpLocks noChangeAspect="1"/>
            </p:cNvGrpSpPr>
            <p:nvPr/>
          </p:nvGrpSpPr>
          <p:grpSpPr>
            <a:xfrm>
              <a:off x="2225031" y="3386949"/>
              <a:ext cx="152534" cy="288000"/>
              <a:chOff x="7499351" y="736601"/>
              <a:chExt cx="227013" cy="428625"/>
            </a:xfrm>
            <a:solidFill>
              <a:srgbClr val="666666"/>
            </a:solidFill>
          </p:grpSpPr>
          <p:sp>
            <p:nvSpPr>
              <p:cNvPr id="472"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3"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4"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5"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6"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7"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8"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9"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0"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1"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2"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3"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4"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498" name="组合 497"/>
          <p:cNvGrpSpPr/>
          <p:nvPr/>
        </p:nvGrpSpPr>
        <p:grpSpPr>
          <a:xfrm>
            <a:off x="2369075" y="5222606"/>
            <a:ext cx="2214643" cy="552128"/>
            <a:chOff x="1487077" y="3752478"/>
            <a:chExt cx="1080000" cy="414000"/>
          </a:xfrm>
        </p:grpSpPr>
        <p:sp>
          <p:nvSpPr>
            <p:cNvPr id="499" name="矩形 498"/>
            <p:cNvSpPr/>
            <p:nvPr/>
          </p:nvSpPr>
          <p:spPr bwMode="auto">
            <a:xfrm>
              <a:off x="1487077" y="3752478"/>
              <a:ext cx="1080000" cy="414000"/>
            </a:xfrm>
            <a:prstGeom prst="rect">
              <a:avLst/>
            </a:prstGeom>
            <a:solidFill>
              <a:srgbClr val="666666">
                <a:alpha val="20000"/>
              </a:srgbClr>
            </a:solidFill>
            <a:ln w="12700" cap="flat" cmpd="sng" algn="ctr">
              <a:noFill/>
              <a:prstDash val="solid"/>
              <a:miter lim="800000"/>
            </a:ln>
            <a:effectLst/>
            <a:extLst/>
          </p:spPr>
          <p:txBody>
            <a:bodyPr rot="0" spcFirstLastPara="0" vertOverflow="overflow" horzOverflow="overflow" vert="horz" wrap="square" lIns="121948" tIns="60974" rIns="121948" bIns="60974" numCol="1" spcCol="0" rtlCol="0" fromWordArt="0" anchor="ctr" anchorCtr="0" forceAA="0" compatLnSpc="1">
              <a:prstTxWarp prst="textNoShape">
                <a:avLst/>
              </a:prstTxWarp>
              <a:noAutofit/>
            </a:bodyPr>
            <a:lstStyle/>
            <a:p>
              <a:pPr algn="ctr" defTabSz="914478"/>
              <a:endParaRPr lang="zh-CN" altLang="en-US" kern="0">
                <a:solidFill>
                  <a:sysClr val="window" lastClr="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00" name="组合 499"/>
            <p:cNvGrpSpPr/>
            <p:nvPr/>
          </p:nvGrpSpPr>
          <p:grpSpPr>
            <a:xfrm>
              <a:off x="1644832" y="3833478"/>
              <a:ext cx="764490" cy="252000"/>
              <a:chOff x="1613075" y="3880702"/>
              <a:chExt cx="764490" cy="252000"/>
            </a:xfrm>
          </p:grpSpPr>
          <p:grpSp>
            <p:nvGrpSpPr>
              <p:cNvPr id="501" name="组合 16582"/>
              <p:cNvGrpSpPr>
                <a:grpSpLocks noChangeAspect="1"/>
              </p:cNvGrpSpPr>
              <p:nvPr/>
            </p:nvGrpSpPr>
            <p:grpSpPr>
              <a:xfrm>
                <a:off x="1613075" y="3880702"/>
                <a:ext cx="219541" cy="252000"/>
                <a:chOff x="8407400" y="2055813"/>
                <a:chExt cx="360363" cy="458788"/>
              </a:xfrm>
              <a:solidFill>
                <a:srgbClr val="666666"/>
              </a:solidFill>
            </p:grpSpPr>
            <p:sp>
              <p:nvSpPr>
                <p:cNvPr id="50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02" name="组合 16582"/>
              <p:cNvGrpSpPr>
                <a:grpSpLocks noChangeAspect="1"/>
              </p:cNvGrpSpPr>
              <p:nvPr/>
            </p:nvGrpSpPr>
            <p:grpSpPr>
              <a:xfrm>
                <a:off x="2158024" y="3880702"/>
                <a:ext cx="219541" cy="252000"/>
                <a:chOff x="8407400" y="2055813"/>
                <a:chExt cx="360363" cy="458788"/>
              </a:xfrm>
              <a:solidFill>
                <a:srgbClr val="666666"/>
              </a:solidFill>
            </p:grpSpPr>
            <p:sp>
              <p:nvSpPr>
                <p:cNvPr id="503"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4"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5"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6"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cxnSp>
        <p:nvCxnSpPr>
          <p:cNvPr id="511" name="直接连接符 510"/>
          <p:cNvCxnSpPr/>
          <p:nvPr/>
        </p:nvCxnSpPr>
        <p:spPr>
          <a:xfrm>
            <a:off x="3089242" y="3679189"/>
            <a:ext cx="0" cy="278363"/>
          </a:xfrm>
          <a:prstGeom prst="line">
            <a:avLst/>
          </a:prstGeom>
          <a:noFill/>
          <a:ln w="9525" cap="flat" cmpd="sng" algn="ctr">
            <a:solidFill>
              <a:srgbClr val="FFFFFF">
                <a:lumMod val="50000"/>
              </a:srgbClr>
            </a:solidFill>
            <a:prstDash val="solid"/>
            <a:headEnd type="triangle" w="med" len="med"/>
            <a:tailEnd type="triangle" w="med" len="med"/>
          </a:ln>
          <a:effectLst/>
        </p:spPr>
      </p:cxnSp>
      <p:sp>
        <p:nvSpPr>
          <p:cNvPr id="512" name="矩形 130"/>
          <p:cNvSpPr>
            <a:spLocks noChangeArrowheads="1"/>
          </p:cNvSpPr>
          <p:nvPr/>
        </p:nvSpPr>
        <p:spPr bwMode="auto">
          <a:xfrm>
            <a:off x="1188949" y="2494273"/>
            <a:ext cx="3986171" cy="3468378"/>
          </a:xfrm>
          <a:prstGeom prst="rect">
            <a:avLst/>
          </a:prstGeom>
          <a:noFill/>
          <a:ln w="12700" cap="flat" cmpd="sng" algn="ctr">
            <a:solidFill>
              <a:srgbClr val="000000"/>
            </a:solidFill>
            <a:prstDash val="dash"/>
            <a:miter lim="800000"/>
          </a:ln>
          <a:effectLst/>
        </p:spPr>
        <p:txBody>
          <a:bodyPr rot="0" spcFirstLastPara="0" vertOverflow="overflow" horzOverflow="overflow" vert="horz" wrap="square" lIns="121948" tIns="60974" rIns="121948" bIns="60974"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3" name="直接连接符 512"/>
          <p:cNvCxnSpPr/>
          <p:nvPr/>
        </p:nvCxnSpPr>
        <p:spPr>
          <a:xfrm>
            <a:off x="3081474" y="1590057"/>
            <a:ext cx="7463" cy="1804604"/>
          </a:xfrm>
          <a:prstGeom prst="line">
            <a:avLst/>
          </a:prstGeom>
          <a:noFill/>
          <a:ln w="9525" cap="flat" cmpd="sng" algn="ctr">
            <a:solidFill>
              <a:srgbClr val="FFFFFF">
                <a:lumMod val="50000"/>
              </a:srgbClr>
            </a:solidFill>
            <a:prstDash val="solid"/>
            <a:headEnd type="none" w="med" len="med"/>
            <a:tailEnd type="triangle" w="med" len="med"/>
          </a:ln>
          <a:effectLst/>
        </p:spPr>
      </p:cxnSp>
      <p:grpSp>
        <p:nvGrpSpPr>
          <p:cNvPr id="514" name="组合 513"/>
          <p:cNvGrpSpPr/>
          <p:nvPr/>
        </p:nvGrpSpPr>
        <p:grpSpPr>
          <a:xfrm>
            <a:off x="2661275" y="1157650"/>
            <a:ext cx="816189" cy="480111"/>
            <a:chOff x="3661154" y="1212178"/>
            <a:chExt cx="612000" cy="360000"/>
          </a:xfrm>
        </p:grpSpPr>
        <p:sp>
          <p:nvSpPr>
            <p:cNvPr id="515" name="Freeform 424"/>
            <p:cNvSpPr>
              <a:spLocks noEditPoints="1"/>
            </p:cNvSpPr>
            <p:nvPr/>
          </p:nvSpPr>
          <p:spPr bwMode="auto">
            <a:xfrm>
              <a:off x="3661154" y="1212178"/>
              <a:ext cx="612000" cy="360000"/>
            </a:xfrm>
            <a:custGeom>
              <a:avLst/>
              <a:gdLst>
                <a:gd name="T0" fmla="*/ 2147483647 w 157"/>
                <a:gd name="T1" fmla="*/ 2147483647 h 102"/>
                <a:gd name="T2" fmla="*/ 2147483647 w 157"/>
                <a:gd name="T3" fmla="*/ 2147483647 h 102"/>
                <a:gd name="T4" fmla="*/ 2147483647 w 157"/>
                <a:gd name="T5" fmla="*/ 0 h 102"/>
                <a:gd name="T6" fmla="*/ 2147483647 w 157"/>
                <a:gd name="T7" fmla="*/ 2147483647 h 102"/>
                <a:gd name="T8" fmla="*/ 2147483647 w 157"/>
                <a:gd name="T9" fmla="*/ 2147483647 h 102"/>
                <a:gd name="T10" fmla="*/ 0 w 157"/>
                <a:gd name="T11" fmla="*/ 2147483647 h 102"/>
                <a:gd name="T12" fmla="*/ 2147483647 w 157"/>
                <a:gd name="T13" fmla="*/ 2147483647 h 102"/>
                <a:gd name="T14" fmla="*/ 2147483647 w 157"/>
                <a:gd name="T15" fmla="*/ 2147483647 h 102"/>
                <a:gd name="T16" fmla="*/ 2147483647 w 157"/>
                <a:gd name="T17" fmla="*/ 2147483647 h 102"/>
                <a:gd name="T18" fmla="*/ 2147483647 w 157"/>
                <a:gd name="T19" fmla="*/ 2147483647 h 102"/>
                <a:gd name="T20" fmla="*/ 2147483647 w 157"/>
                <a:gd name="T21" fmla="*/ 2147483647 h 102"/>
                <a:gd name="T22" fmla="*/ 2147483647 w 157"/>
                <a:gd name="T23" fmla="*/ 2147483647 h 102"/>
                <a:gd name="T24" fmla="*/ 2147483647 w 157"/>
                <a:gd name="T25" fmla="*/ 2147483647 h 102"/>
                <a:gd name="T26" fmla="*/ 2147483647 w 157"/>
                <a:gd name="T27" fmla="*/ 2147483647 h 102"/>
                <a:gd name="T28" fmla="*/ 2147483647 w 157"/>
                <a:gd name="T29" fmla="*/ 2147483647 h 102"/>
                <a:gd name="T30" fmla="*/ 2147483647 w 157"/>
                <a:gd name="T31" fmla="*/ 2147483647 h 102"/>
                <a:gd name="T32" fmla="*/ 2147483647 w 157"/>
                <a:gd name="T33" fmla="*/ 2147483647 h 102"/>
                <a:gd name="T34" fmla="*/ 2147483647 w 157"/>
                <a:gd name="T35" fmla="*/ 2147483647 h 102"/>
                <a:gd name="T36" fmla="*/ 2147483647 w 157"/>
                <a:gd name="T37" fmla="*/ 2147483647 h 102"/>
                <a:gd name="T38" fmla="*/ 2147483647 w 157"/>
                <a:gd name="T39" fmla="*/ 2147483647 h 102"/>
                <a:gd name="T40" fmla="*/ 2147483647 w 157"/>
                <a:gd name="T41" fmla="*/ 2147483647 h 102"/>
                <a:gd name="T42" fmla="*/ 2147483647 w 157"/>
                <a:gd name="T43" fmla="*/ 2147483647 h 102"/>
                <a:gd name="T44" fmla="*/ 2147483647 w 157"/>
                <a:gd name="T45" fmla="*/ 2147483647 h 102"/>
                <a:gd name="T46" fmla="*/ 2147483647 w 157"/>
                <a:gd name="T47" fmla="*/ 2147483647 h 102"/>
                <a:gd name="T48" fmla="*/ 2147483647 w 157"/>
                <a:gd name="T49" fmla="*/ 2147483647 h 102"/>
                <a:gd name="T50" fmla="*/ 2147483647 w 157"/>
                <a:gd name="T51" fmla="*/ 2147483647 h 102"/>
                <a:gd name="T52" fmla="*/ 2147483647 w 157"/>
                <a:gd name="T53" fmla="*/ 2147483647 h 102"/>
                <a:gd name="T54" fmla="*/ 2147483647 w 157"/>
                <a:gd name="T55" fmla="*/ 2147483647 h 10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7"/>
                <a:gd name="T85" fmla="*/ 0 h 102"/>
                <a:gd name="T86" fmla="*/ 157 w 157"/>
                <a:gd name="T87" fmla="*/ 102 h 10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7" h="102">
                  <a:moveTo>
                    <a:pt x="129" y="46"/>
                  </a:moveTo>
                  <a:cubicBezTo>
                    <a:pt x="129" y="46"/>
                    <a:pt x="129" y="46"/>
                    <a:pt x="129" y="46"/>
                  </a:cubicBezTo>
                  <a:cubicBezTo>
                    <a:pt x="129" y="20"/>
                    <a:pt x="109" y="0"/>
                    <a:pt x="83" y="0"/>
                  </a:cubicBezTo>
                  <a:cubicBezTo>
                    <a:pt x="61" y="0"/>
                    <a:pt x="43" y="15"/>
                    <a:pt x="38" y="36"/>
                  </a:cubicBezTo>
                  <a:cubicBezTo>
                    <a:pt x="36" y="36"/>
                    <a:pt x="35" y="35"/>
                    <a:pt x="33" y="35"/>
                  </a:cubicBezTo>
                  <a:cubicBezTo>
                    <a:pt x="15" y="35"/>
                    <a:pt x="0" y="50"/>
                    <a:pt x="0" y="69"/>
                  </a:cubicBezTo>
                  <a:cubicBezTo>
                    <a:pt x="0" y="87"/>
                    <a:pt x="15" y="102"/>
                    <a:pt x="33" y="102"/>
                  </a:cubicBezTo>
                  <a:cubicBezTo>
                    <a:pt x="58" y="102"/>
                    <a:pt x="58" y="102"/>
                    <a:pt x="58" y="102"/>
                  </a:cubicBezTo>
                  <a:cubicBezTo>
                    <a:pt x="129" y="102"/>
                    <a:pt x="129" y="102"/>
                    <a:pt x="129" y="102"/>
                  </a:cubicBezTo>
                  <a:cubicBezTo>
                    <a:pt x="145" y="102"/>
                    <a:pt x="157" y="90"/>
                    <a:pt x="157" y="74"/>
                  </a:cubicBezTo>
                  <a:cubicBezTo>
                    <a:pt x="157" y="59"/>
                    <a:pt x="145" y="47"/>
                    <a:pt x="129" y="46"/>
                  </a:cubicBezTo>
                  <a:moveTo>
                    <a:pt x="129" y="97"/>
                  </a:moveTo>
                  <a:cubicBezTo>
                    <a:pt x="35" y="97"/>
                    <a:pt x="35" y="97"/>
                    <a:pt x="35" y="97"/>
                  </a:cubicBezTo>
                  <a:cubicBezTo>
                    <a:pt x="34" y="97"/>
                    <a:pt x="34" y="97"/>
                    <a:pt x="33" y="97"/>
                  </a:cubicBezTo>
                  <a:cubicBezTo>
                    <a:pt x="33" y="97"/>
                    <a:pt x="33" y="97"/>
                    <a:pt x="33" y="97"/>
                  </a:cubicBezTo>
                  <a:cubicBezTo>
                    <a:pt x="18" y="97"/>
                    <a:pt x="5" y="84"/>
                    <a:pt x="5" y="69"/>
                  </a:cubicBezTo>
                  <a:cubicBezTo>
                    <a:pt x="5" y="53"/>
                    <a:pt x="18" y="41"/>
                    <a:pt x="33" y="41"/>
                  </a:cubicBezTo>
                  <a:cubicBezTo>
                    <a:pt x="35" y="41"/>
                    <a:pt x="37" y="41"/>
                    <a:pt x="40" y="42"/>
                  </a:cubicBezTo>
                  <a:cubicBezTo>
                    <a:pt x="40" y="42"/>
                    <a:pt x="41" y="42"/>
                    <a:pt x="42" y="41"/>
                  </a:cubicBezTo>
                  <a:cubicBezTo>
                    <a:pt x="43" y="41"/>
                    <a:pt x="43" y="40"/>
                    <a:pt x="43" y="40"/>
                  </a:cubicBezTo>
                  <a:cubicBezTo>
                    <a:pt x="46" y="20"/>
                    <a:pt x="63" y="5"/>
                    <a:pt x="83" y="5"/>
                  </a:cubicBezTo>
                  <a:cubicBezTo>
                    <a:pt x="106" y="5"/>
                    <a:pt x="124" y="23"/>
                    <a:pt x="124" y="46"/>
                  </a:cubicBezTo>
                  <a:cubicBezTo>
                    <a:pt x="124" y="47"/>
                    <a:pt x="124" y="48"/>
                    <a:pt x="124" y="49"/>
                  </a:cubicBezTo>
                  <a:cubicBezTo>
                    <a:pt x="124" y="50"/>
                    <a:pt x="124" y="51"/>
                    <a:pt x="124" y="51"/>
                  </a:cubicBezTo>
                  <a:cubicBezTo>
                    <a:pt x="125" y="52"/>
                    <a:pt x="126" y="52"/>
                    <a:pt x="127" y="52"/>
                  </a:cubicBezTo>
                  <a:cubicBezTo>
                    <a:pt x="127" y="52"/>
                    <a:pt x="128" y="52"/>
                    <a:pt x="129" y="52"/>
                  </a:cubicBezTo>
                  <a:cubicBezTo>
                    <a:pt x="142" y="52"/>
                    <a:pt x="152" y="62"/>
                    <a:pt x="152" y="74"/>
                  </a:cubicBezTo>
                  <a:cubicBezTo>
                    <a:pt x="152" y="87"/>
                    <a:pt x="142" y="97"/>
                    <a:pt x="129" y="97"/>
                  </a:cubicBezTo>
                </a:path>
              </a:pathLst>
            </a:custGeom>
            <a:solidFill>
              <a:srgbClr val="FBA000"/>
            </a:solidFill>
            <a:ln w="9525">
              <a:noFill/>
              <a:round/>
              <a:headEnd/>
              <a:tailEnd/>
            </a:ln>
          </p:spPr>
          <p:txBody>
            <a:bodyPr/>
            <a:lstStyle/>
            <a:p>
              <a:pPr defTabSz="914478"/>
              <a:endParaRPr lang="zh-CN" altLang="en-US" sz="320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6" name="Text Box 15"/>
            <p:cNvSpPr txBox="1">
              <a:spLocks noChangeArrowheads="1"/>
            </p:cNvSpPr>
            <p:nvPr/>
          </p:nvSpPr>
          <p:spPr bwMode="gray">
            <a:xfrm>
              <a:off x="3710764" y="1384311"/>
              <a:ext cx="501196" cy="123131"/>
            </a:xfrm>
            <a:prstGeom prst="rect">
              <a:avLst/>
            </a:prstGeom>
            <a:noFill/>
            <a:ln w="9525" algn="ctr">
              <a:noFill/>
              <a:miter lim="800000"/>
              <a:headEnd/>
              <a:tailEnd/>
            </a:ln>
          </p:spPr>
          <p:txBody>
            <a:bodyPr wrap="square" lIns="0" tIns="0" rIns="0" bIns="0">
              <a:spAutoFit/>
            </a:bodyPr>
            <a:lstStyle/>
            <a:p>
              <a:pPr algn="ctr" defTabSz="914478">
                <a:spcBef>
                  <a:spcPts val="1195"/>
                </a:spcBef>
                <a:buSzPct val="70000"/>
                <a:defRPr/>
              </a:pPr>
              <a:r>
                <a:rPr lang="en-US" altLang="zh-CN" sz="1067"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Internet</a:t>
              </a:r>
            </a:p>
          </p:txBody>
        </p:sp>
      </p:grpSp>
      <p:grpSp>
        <p:nvGrpSpPr>
          <p:cNvPr id="517" name="组合 298"/>
          <p:cNvGrpSpPr>
            <a:grpSpLocks/>
          </p:cNvGrpSpPr>
          <p:nvPr/>
        </p:nvGrpSpPr>
        <p:grpSpPr bwMode="auto">
          <a:xfrm>
            <a:off x="2886378" y="1808999"/>
            <a:ext cx="384089" cy="384089"/>
            <a:chOff x="2185077" y="5949950"/>
            <a:chExt cx="498475" cy="498475"/>
          </a:xfrm>
          <a:solidFill>
            <a:srgbClr val="666666"/>
          </a:solidFill>
        </p:grpSpPr>
        <p:sp>
          <p:nvSpPr>
            <p:cNvPr id="518" name="Freeform 16"/>
            <p:cNvSpPr>
              <a:spLocks noEditPoints="1"/>
            </p:cNvSpPr>
            <p:nvPr/>
          </p:nvSpPr>
          <p:spPr bwMode="auto">
            <a:xfrm>
              <a:off x="2295021" y="6137141"/>
              <a:ext cx="104332" cy="126196"/>
            </a:xfrm>
            <a:custGeom>
              <a:avLst/>
              <a:gdLst/>
              <a:ahLst/>
              <a:cxnLst>
                <a:cxn ang="0">
                  <a:pos x="17" y="47"/>
                </a:cxn>
                <a:cxn ang="0">
                  <a:pos x="25" y="46"/>
                </a:cxn>
                <a:cxn ang="0">
                  <a:pos x="30" y="43"/>
                </a:cxn>
                <a:cxn ang="0">
                  <a:pos x="34" y="39"/>
                </a:cxn>
                <a:cxn ang="0">
                  <a:pos x="38" y="32"/>
                </a:cxn>
                <a:cxn ang="0">
                  <a:pos x="39" y="23"/>
                </a:cxn>
                <a:cxn ang="0">
                  <a:pos x="37" y="12"/>
                </a:cxn>
                <a:cxn ang="0">
                  <a:pos x="31" y="4"/>
                </a:cxn>
                <a:cxn ang="0">
                  <a:pos x="25" y="0"/>
                </a:cxn>
                <a:cxn ang="0">
                  <a:pos x="16" y="0"/>
                </a:cxn>
                <a:cxn ang="0">
                  <a:pos x="0" y="0"/>
                </a:cxn>
                <a:cxn ang="0">
                  <a:pos x="0" y="47"/>
                </a:cxn>
                <a:cxn ang="0">
                  <a:pos x="17" y="47"/>
                </a:cxn>
                <a:cxn ang="0">
                  <a:pos x="6" y="5"/>
                </a:cxn>
                <a:cxn ang="0">
                  <a:pos x="16" y="5"/>
                </a:cxn>
                <a:cxn ang="0">
                  <a:pos x="24" y="6"/>
                </a:cxn>
                <a:cxn ang="0">
                  <a:pos x="30" y="11"/>
                </a:cxn>
                <a:cxn ang="0">
                  <a:pos x="32" y="23"/>
                </a:cxn>
                <a:cxn ang="0">
                  <a:pos x="31" y="32"/>
                </a:cxn>
                <a:cxn ang="0">
                  <a:pos x="28" y="38"/>
                </a:cxn>
                <a:cxn ang="0">
                  <a:pos x="24" y="40"/>
                </a:cxn>
                <a:cxn ang="0">
                  <a:pos x="16" y="41"/>
                </a:cxn>
                <a:cxn ang="0">
                  <a:pos x="6" y="41"/>
                </a:cxn>
                <a:cxn ang="0">
                  <a:pos x="6" y="5"/>
                </a:cxn>
              </a:cxnLst>
              <a:rect l="0" t="0" r="r" b="b"/>
              <a:pathLst>
                <a:path w="39" h="47">
                  <a:moveTo>
                    <a:pt x="17" y="47"/>
                  </a:moveTo>
                  <a:cubicBezTo>
                    <a:pt x="20" y="47"/>
                    <a:pt x="22" y="46"/>
                    <a:pt x="25" y="46"/>
                  </a:cubicBezTo>
                  <a:cubicBezTo>
                    <a:pt x="27" y="45"/>
                    <a:pt x="29" y="45"/>
                    <a:pt x="30" y="43"/>
                  </a:cubicBezTo>
                  <a:cubicBezTo>
                    <a:pt x="32" y="42"/>
                    <a:pt x="33" y="41"/>
                    <a:pt x="34" y="39"/>
                  </a:cubicBezTo>
                  <a:cubicBezTo>
                    <a:pt x="36" y="37"/>
                    <a:pt x="37" y="35"/>
                    <a:pt x="38" y="32"/>
                  </a:cubicBezTo>
                  <a:cubicBezTo>
                    <a:pt x="38" y="30"/>
                    <a:pt x="39" y="26"/>
                    <a:pt x="39" y="23"/>
                  </a:cubicBezTo>
                  <a:cubicBezTo>
                    <a:pt x="39" y="19"/>
                    <a:pt x="38" y="15"/>
                    <a:pt x="37" y="12"/>
                  </a:cubicBezTo>
                  <a:cubicBezTo>
                    <a:pt x="36" y="8"/>
                    <a:pt x="34" y="6"/>
                    <a:pt x="31" y="4"/>
                  </a:cubicBezTo>
                  <a:cubicBezTo>
                    <a:pt x="30" y="2"/>
                    <a:pt x="27" y="1"/>
                    <a:pt x="25" y="0"/>
                  </a:cubicBezTo>
                  <a:cubicBezTo>
                    <a:pt x="23" y="0"/>
                    <a:pt x="20" y="0"/>
                    <a:pt x="16" y="0"/>
                  </a:cubicBezTo>
                  <a:cubicBezTo>
                    <a:pt x="0" y="0"/>
                    <a:pt x="0" y="0"/>
                    <a:pt x="0" y="0"/>
                  </a:cubicBezTo>
                  <a:cubicBezTo>
                    <a:pt x="0" y="47"/>
                    <a:pt x="0" y="47"/>
                    <a:pt x="0" y="47"/>
                  </a:cubicBezTo>
                  <a:lnTo>
                    <a:pt x="17" y="47"/>
                  </a:lnTo>
                  <a:close/>
                  <a:moveTo>
                    <a:pt x="6" y="5"/>
                  </a:moveTo>
                  <a:cubicBezTo>
                    <a:pt x="16" y="5"/>
                    <a:pt x="16" y="5"/>
                    <a:pt x="16" y="5"/>
                  </a:cubicBezTo>
                  <a:cubicBezTo>
                    <a:pt x="20" y="5"/>
                    <a:pt x="22" y="5"/>
                    <a:pt x="24" y="6"/>
                  </a:cubicBezTo>
                  <a:cubicBezTo>
                    <a:pt x="26" y="7"/>
                    <a:pt x="28" y="9"/>
                    <a:pt x="30" y="11"/>
                  </a:cubicBezTo>
                  <a:cubicBezTo>
                    <a:pt x="32" y="14"/>
                    <a:pt x="32" y="18"/>
                    <a:pt x="32" y="23"/>
                  </a:cubicBezTo>
                  <a:cubicBezTo>
                    <a:pt x="32" y="26"/>
                    <a:pt x="32" y="29"/>
                    <a:pt x="31" y="32"/>
                  </a:cubicBezTo>
                  <a:cubicBezTo>
                    <a:pt x="30" y="34"/>
                    <a:pt x="29" y="36"/>
                    <a:pt x="28" y="38"/>
                  </a:cubicBezTo>
                  <a:cubicBezTo>
                    <a:pt x="27" y="39"/>
                    <a:pt x="25" y="40"/>
                    <a:pt x="24" y="40"/>
                  </a:cubicBezTo>
                  <a:cubicBezTo>
                    <a:pt x="22" y="41"/>
                    <a:pt x="19" y="41"/>
                    <a:pt x="16" y="41"/>
                  </a:cubicBezTo>
                  <a:cubicBezTo>
                    <a:pt x="6" y="41"/>
                    <a:pt x="6" y="41"/>
                    <a:pt x="6" y="41"/>
                  </a:cubicBezTo>
                  <a:lnTo>
                    <a:pt x="6" y="5"/>
                  </a:lnTo>
                  <a:close/>
                </a:path>
              </a:pathLst>
            </a:custGeom>
            <a:grpFill/>
            <a:ln w="9525">
              <a:noFill/>
              <a:round/>
              <a:headEnd/>
              <a:tailEnd/>
            </a:ln>
          </p:spPr>
          <p:txBody>
            <a:bodyPr/>
            <a:lstStyle/>
            <a:p>
              <a:pPr defTabSz="914478">
                <a:defRPr/>
              </a:pPr>
              <a:endParaRPr lang="zh-CN" altLang="en-US" sz="3201">
                <a:solidFill>
                  <a:srgbClr val="000000">
                    <a:lumMod val="65000"/>
                    <a:lumOff val="3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9" name="Freeform 17"/>
            <p:cNvSpPr>
              <a:spLocks/>
            </p:cNvSpPr>
            <p:nvPr/>
          </p:nvSpPr>
          <p:spPr bwMode="auto">
            <a:xfrm>
              <a:off x="2418674" y="6137141"/>
              <a:ext cx="98536" cy="126196"/>
            </a:xfrm>
            <a:custGeom>
              <a:avLst/>
              <a:gdLst/>
              <a:ahLst/>
              <a:cxnLst>
                <a:cxn ang="0">
                  <a:pos x="10" y="17"/>
                </a:cxn>
                <a:cxn ang="0">
                  <a:pos x="52" y="79"/>
                </a:cxn>
                <a:cxn ang="0">
                  <a:pos x="62" y="79"/>
                </a:cxn>
                <a:cxn ang="0">
                  <a:pos x="62" y="0"/>
                </a:cxn>
                <a:cxn ang="0">
                  <a:pos x="52" y="0"/>
                </a:cxn>
                <a:cxn ang="0">
                  <a:pos x="52" y="62"/>
                </a:cxn>
                <a:cxn ang="0">
                  <a:pos x="12" y="0"/>
                </a:cxn>
                <a:cxn ang="0">
                  <a:pos x="0" y="0"/>
                </a:cxn>
                <a:cxn ang="0">
                  <a:pos x="0" y="79"/>
                </a:cxn>
                <a:cxn ang="0">
                  <a:pos x="10" y="79"/>
                </a:cxn>
                <a:cxn ang="0">
                  <a:pos x="10" y="17"/>
                </a:cxn>
              </a:cxnLst>
              <a:rect l="0" t="0" r="r" b="b"/>
              <a:pathLst>
                <a:path w="62" h="79">
                  <a:moveTo>
                    <a:pt x="10" y="17"/>
                  </a:moveTo>
                  <a:lnTo>
                    <a:pt x="52" y="79"/>
                  </a:lnTo>
                  <a:lnTo>
                    <a:pt x="62" y="79"/>
                  </a:lnTo>
                  <a:lnTo>
                    <a:pt x="62" y="0"/>
                  </a:lnTo>
                  <a:lnTo>
                    <a:pt x="52" y="0"/>
                  </a:lnTo>
                  <a:lnTo>
                    <a:pt x="52" y="62"/>
                  </a:lnTo>
                  <a:lnTo>
                    <a:pt x="12" y="0"/>
                  </a:lnTo>
                  <a:lnTo>
                    <a:pt x="0" y="0"/>
                  </a:lnTo>
                  <a:lnTo>
                    <a:pt x="0" y="79"/>
                  </a:lnTo>
                  <a:lnTo>
                    <a:pt x="10" y="79"/>
                  </a:lnTo>
                  <a:lnTo>
                    <a:pt x="10" y="17"/>
                  </a:lnTo>
                  <a:close/>
                </a:path>
              </a:pathLst>
            </a:custGeom>
            <a:grpFill/>
            <a:ln w="9525">
              <a:noFill/>
              <a:round/>
              <a:headEnd/>
              <a:tailEnd/>
            </a:ln>
          </p:spPr>
          <p:txBody>
            <a:bodyPr/>
            <a:lstStyle/>
            <a:p>
              <a:pPr defTabSz="914478">
                <a:defRPr/>
              </a:pPr>
              <a:endParaRPr lang="zh-CN" altLang="en-US" sz="3201">
                <a:solidFill>
                  <a:srgbClr val="000000">
                    <a:lumMod val="65000"/>
                    <a:lumOff val="3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0" name="Freeform 18"/>
            <p:cNvSpPr>
              <a:spLocks/>
            </p:cNvSpPr>
            <p:nvPr/>
          </p:nvSpPr>
          <p:spPr bwMode="auto">
            <a:xfrm>
              <a:off x="2542326" y="6135038"/>
              <a:ext cx="96604" cy="128299"/>
            </a:xfrm>
            <a:custGeom>
              <a:avLst/>
              <a:gdLst/>
              <a:ahLst/>
              <a:cxnLst>
                <a:cxn ang="0">
                  <a:pos x="26" y="42"/>
                </a:cxn>
                <a:cxn ang="0">
                  <a:pos x="20" y="43"/>
                </a:cxn>
                <a:cxn ang="0">
                  <a:pos x="12" y="41"/>
                </a:cxn>
                <a:cxn ang="0">
                  <a:pos x="8" y="38"/>
                </a:cxn>
                <a:cxn ang="0">
                  <a:pos x="6" y="32"/>
                </a:cxn>
                <a:cxn ang="0">
                  <a:pos x="0" y="33"/>
                </a:cxn>
                <a:cxn ang="0">
                  <a:pos x="2" y="41"/>
                </a:cxn>
                <a:cxn ang="0">
                  <a:pos x="9" y="47"/>
                </a:cxn>
                <a:cxn ang="0">
                  <a:pos x="20" y="48"/>
                </a:cxn>
                <a:cxn ang="0">
                  <a:pos x="29" y="47"/>
                </a:cxn>
                <a:cxn ang="0">
                  <a:pos x="35" y="41"/>
                </a:cxn>
                <a:cxn ang="0">
                  <a:pos x="37" y="34"/>
                </a:cxn>
                <a:cxn ang="0">
                  <a:pos x="35" y="28"/>
                </a:cxn>
                <a:cxn ang="0">
                  <a:pos x="29" y="23"/>
                </a:cxn>
                <a:cxn ang="0">
                  <a:pos x="19" y="20"/>
                </a:cxn>
                <a:cxn ang="0">
                  <a:pos x="9" y="17"/>
                </a:cxn>
                <a:cxn ang="0">
                  <a:pos x="8" y="12"/>
                </a:cxn>
                <a:cxn ang="0">
                  <a:pos x="10" y="7"/>
                </a:cxn>
                <a:cxn ang="0">
                  <a:pos x="18" y="5"/>
                </a:cxn>
                <a:cxn ang="0">
                  <a:pos x="27" y="8"/>
                </a:cxn>
                <a:cxn ang="0">
                  <a:pos x="30" y="14"/>
                </a:cxn>
                <a:cxn ang="0">
                  <a:pos x="36" y="14"/>
                </a:cxn>
                <a:cxn ang="0">
                  <a:pos x="34" y="6"/>
                </a:cxn>
                <a:cxn ang="0">
                  <a:pos x="27" y="1"/>
                </a:cxn>
                <a:cxn ang="0">
                  <a:pos x="18" y="0"/>
                </a:cxn>
                <a:cxn ang="0">
                  <a:pos x="10" y="1"/>
                </a:cxn>
                <a:cxn ang="0">
                  <a:pos x="4" y="6"/>
                </a:cxn>
                <a:cxn ang="0">
                  <a:pos x="2" y="13"/>
                </a:cxn>
                <a:cxn ang="0">
                  <a:pos x="3" y="19"/>
                </a:cxn>
                <a:cxn ang="0">
                  <a:pos x="8" y="23"/>
                </a:cxn>
                <a:cxn ang="0">
                  <a:pos x="17" y="26"/>
                </a:cxn>
                <a:cxn ang="0">
                  <a:pos x="26" y="28"/>
                </a:cxn>
                <a:cxn ang="0">
                  <a:pos x="30" y="31"/>
                </a:cxn>
                <a:cxn ang="0">
                  <a:pos x="31" y="35"/>
                </a:cxn>
                <a:cxn ang="0">
                  <a:pos x="30" y="39"/>
                </a:cxn>
                <a:cxn ang="0">
                  <a:pos x="26" y="42"/>
                </a:cxn>
              </a:cxnLst>
              <a:rect l="0" t="0" r="r" b="b"/>
              <a:pathLst>
                <a:path w="37" h="48">
                  <a:moveTo>
                    <a:pt x="26" y="42"/>
                  </a:moveTo>
                  <a:cubicBezTo>
                    <a:pt x="24" y="43"/>
                    <a:pt x="22" y="43"/>
                    <a:pt x="20" y="43"/>
                  </a:cubicBezTo>
                  <a:cubicBezTo>
                    <a:pt x="17" y="43"/>
                    <a:pt x="14" y="42"/>
                    <a:pt x="12" y="41"/>
                  </a:cubicBezTo>
                  <a:cubicBezTo>
                    <a:pt x="10" y="41"/>
                    <a:pt x="9" y="39"/>
                    <a:pt x="8" y="38"/>
                  </a:cubicBezTo>
                  <a:cubicBezTo>
                    <a:pt x="7" y="36"/>
                    <a:pt x="6" y="34"/>
                    <a:pt x="6" y="32"/>
                  </a:cubicBezTo>
                  <a:cubicBezTo>
                    <a:pt x="0" y="33"/>
                    <a:pt x="0" y="33"/>
                    <a:pt x="0" y="33"/>
                  </a:cubicBezTo>
                  <a:cubicBezTo>
                    <a:pt x="0" y="36"/>
                    <a:pt x="1" y="38"/>
                    <a:pt x="2" y="41"/>
                  </a:cubicBezTo>
                  <a:cubicBezTo>
                    <a:pt x="4" y="43"/>
                    <a:pt x="6" y="45"/>
                    <a:pt x="9" y="47"/>
                  </a:cubicBezTo>
                  <a:cubicBezTo>
                    <a:pt x="12" y="48"/>
                    <a:pt x="16" y="48"/>
                    <a:pt x="20" y="48"/>
                  </a:cubicBezTo>
                  <a:cubicBezTo>
                    <a:pt x="23" y="48"/>
                    <a:pt x="26" y="48"/>
                    <a:pt x="29" y="47"/>
                  </a:cubicBezTo>
                  <a:cubicBezTo>
                    <a:pt x="32" y="45"/>
                    <a:pt x="34" y="44"/>
                    <a:pt x="35" y="41"/>
                  </a:cubicBezTo>
                  <a:cubicBezTo>
                    <a:pt x="37" y="39"/>
                    <a:pt x="37" y="37"/>
                    <a:pt x="37" y="34"/>
                  </a:cubicBezTo>
                  <a:cubicBezTo>
                    <a:pt x="37" y="32"/>
                    <a:pt x="37" y="30"/>
                    <a:pt x="35" y="28"/>
                  </a:cubicBezTo>
                  <a:cubicBezTo>
                    <a:pt x="34" y="26"/>
                    <a:pt x="32" y="24"/>
                    <a:pt x="29" y="23"/>
                  </a:cubicBezTo>
                  <a:cubicBezTo>
                    <a:pt x="27" y="22"/>
                    <a:pt x="24" y="21"/>
                    <a:pt x="19" y="20"/>
                  </a:cubicBezTo>
                  <a:cubicBezTo>
                    <a:pt x="14" y="19"/>
                    <a:pt x="11" y="18"/>
                    <a:pt x="9" y="17"/>
                  </a:cubicBezTo>
                  <a:cubicBezTo>
                    <a:pt x="8" y="15"/>
                    <a:pt x="8" y="14"/>
                    <a:pt x="8" y="12"/>
                  </a:cubicBezTo>
                  <a:cubicBezTo>
                    <a:pt x="8" y="10"/>
                    <a:pt x="8" y="9"/>
                    <a:pt x="10" y="7"/>
                  </a:cubicBezTo>
                  <a:cubicBezTo>
                    <a:pt x="12" y="6"/>
                    <a:pt x="15" y="5"/>
                    <a:pt x="18" y="5"/>
                  </a:cubicBezTo>
                  <a:cubicBezTo>
                    <a:pt x="22" y="5"/>
                    <a:pt x="25" y="6"/>
                    <a:pt x="27" y="8"/>
                  </a:cubicBezTo>
                  <a:cubicBezTo>
                    <a:pt x="28" y="9"/>
                    <a:pt x="30" y="11"/>
                    <a:pt x="30" y="14"/>
                  </a:cubicBezTo>
                  <a:cubicBezTo>
                    <a:pt x="36" y="14"/>
                    <a:pt x="36" y="14"/>
                    <a:pt x="36" y="14"/>
                  </a:cubicBezTo>
                  <a:cubicBezTo>
                    <a:pt x="36" y="11"/>
                    <a:pt x="35" y="9"/>
                    <a:pt x="34" y="6"/>
                  </a:cubicBezTo>
                  <a:cubicBezTo>
                    <a:pt x="32" y="4"/>
                    <a:pt x="30" y="3"/>
                    <a:pt x="27" y="1"/>
                  </a:cubicBezTo>
                  <a:cubicBezTo>
                    <a:pt x="25" y="0"/>
                    <a:pt x="22" y="0"/>
                    <a:pt x="18" y="0"/>
                  </a:cubicBezTo>
                  <a:cubicBezTo>
                    <a:pt x="15" y="0"/>
                    <a:pt x="12" y="0"/>
                    <a:pt x="10" y="1"/>
                  </a:cubicBezTo>
                  <a:cubicBezTo>
                    <a:pt x="7" y="2"/>
                    <a:pt x="5" y="4"/>
                    <a:pt x="4" y="6"/>
                  </a:cubicBezTo>
                  <a:cubicBezTo>
                    <a:pt x="2" y="8"/>
                    <a:pt x="2" y="10"/>
                    <a:pt x="2" y="13"/>
                  </a:cubicBezTo>
                  <a:cubicBezTo>
                    <a:pt x="2" y="15"/>
                    <a:pt x="2" y="17"/>
                    <a:pt x="3" y="19"/>
                  </a:cubicBezTo>
                  <a:cubicBezTo>
                    <a:pt x="4" y="20"/>
                    <a:pt x="6" y="22"/>
                    <a:pt x="8" y="23"/>
                  </a:cubicBezTo>
                  <a:cubicBezTo>
                    <a:pt x="10" y="24"/>
                    <a:pt x="13" y="25"/>
                    <a:pt x="17" y="26"/>
                  </a:cubicBezTo>
                  <a:cubicBezTo>
                    <a:pt x="22" y="27"/>
                    <a:pt x="24" y="28"/>
                    <a:pt x="26" y="28"/>
                  </a:cubicBezTo>
                  <a:cubicBezTo>
                    <a:pt x="28" y="29"/>
                    <a:pt x="29" y="30"/>
                    <a:pt x="30" y="31"/>
                  </a:cubicBezTo>
                  <a:cubicBezTo>
                    <a:pt x="31" y="32"/>
                    <a:pt x="31" y="33"/>
                    <a:pt x="31" y="35"/>
                  </a:cubicBezTo>
                  <a:cubicBezTo>
                    <a:pt x="31" y="36"/>
                    <a:pt x="31" y="38"/>
                    <a:pt x="30" y="39"/>
                  </a:cubicBezTo>
                  <a:cubicBezTo>
                    <a:pt x="29" y="40"/>
                    <a:pt x="28" y="41"/>
                    <a:pt x="26" y="42"/>
                  </a:cubicBezTo>
                  <a:close/>
                </a:path>
              </a:pathLst>
            </a:custGeom>
            <a:grpFill/>
            <a:ln w="9525">
              <a:noFill/>
              <a:round/>
              <a:headEnd/>
              <a:tailEnd/>
            </a:ln>
          </p:spPr>
          <p:txBody>
            <a:bodyPr/>
            <a:lstStyle/>
            <a:p>
              <a:pPr defTabSz="914478">
                <a:defRPr/>
              </a:pPr>
              <a:endParaRPr lang="zh-CN" altLang="en-US" sz="3201">
                <a:solidFill>
                  <a:srgbClr val="000000">
                    <a:lumMod val="65000"/>
                    <a:lumOff val="3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1" name="Freeform 19"/>
            <p:cNvSpPr>
              <a:spLocks noEditPoints="1"/>
            </p:cNvSpPr>
            <p:nvPr/>
          </p:nvSpPr>
          <p:spPr bwMode="auto">
            <a:xfrm>
              <a:off x="2185077" y="5949950"/>
              <a:ext cx="498475" cy="498475"/>
            </a:xfrm>
            <a:custGeom>
              <a:avLst/>
              <a:gdLst/>
              <a:ahLst/>
              <a:cxnLst>
                <a:cxn ang="0">
                  <a:pos x="94" y="0"/>
                </a:cxn>
                <a:cxn ang="0">
                  <a:pos x="0" y="94"/>
                </a:cxn>
                <a:cxn ang="0">
                  <a:pos x="94" y="188"/>
                </a:cxn>
                <a:cxn ang="0">
                  <a:pos x="188" y="94"/>
                </a:cxn>
                <a:cxn ang="0">
                  <a:pos x="94" y="0"/>
                </a:cxn>
                <a:cxn ang="0">
                  <a:pos x="170" y="55"/>
                </a:cxn>
                <a:cxn ang="0">
                  <a:pos x="142" y="55"/>
                </a:cxn>
                <a:cxn ang="0">
                  <a:pos x="120" y="12"/>
                </a:cxn>
                <a:cxn ang="0">
                  <a:pos x="170" y="55"/>
                </a:cxn>
                <a:cxn ang="0">
                  <a:pos x="90" y="9"/>
                </a:cxn>
                <a:cxn ang="0">
                  <a:pos x="90" y="55"/>
                </a:cxn>
                <a:cxn ang="0">
                  <a:pos x="54" y="55"/>
                </a:cxn>
                <a:cxn ang="0">
                  <a:pos x="90" y="9"/>
                </a:cxn>
                <a:cxn ang="0">
                  <a:pos x="98" y="9"/>
                </a:cxn>
                <a:cxn ang="0">
                  <a:pos x="134" y="55"/>
                </a:cxn>
                <a:cxn ang="0">
                  <a:pos x="98" y="55"/>
                </a:cxn>
                <a:cxn ang="0">
                  <a:pos x="98" y="9"/>
                </a:cxn>
                <a:cxn ang="0">
                  <a:pos x="68" y="12"/>
                </a:cxn>
                <a:cxn ang="0">
                  <a:pos x="46" y="55"/>
                </a:cxn>
                <a:cxn ang="0">
                  <a:pos x="18" y="55"/>
                </a:cxn>
                <a:cxn ang="0">
                  <a:pos x="68" y="12"/>
                </a:cxn>
                <a:cxn ang="0">
                  <a:pos x="14" y="63"/>
                </a:cxn>
                <a:cxn ang="0">
                  <a:pos x="174" y="63"/>
                </a:cxn>
                <a:cxn ang="0">
                  <a:pos x="180" y="94"/>
                </a:cxn>
                <a:cxn ang="0">
                  <a:pos x="174" y="127"/>
                </a:cxn>
                <a:cxn ang="0">
                  <a:pos x="15" y="127"/>
                </a:cxn>
                <a:cxn ang="0">
                  <a:pos x="8" y="94"/>
                </a:cxn>
                <a:cxn ang="0">
                  <a:pos x="14" y="63"/>
                </a:cxn>
                <a:cxn ang="0">
                  <a:pos x="90" y="180"/>
                </a:cxn>
                <a:cxn ang="0">
                  <a:pos x="55" y="135"/>
                </a:cxn>
                <a:cxn ang="0">
                  <a:pos x="90" y="135"/>
                </a:cxn>
                <a:cxn ang="0">
                  <a:pos x="90" y="180"/>
                </a:cxn>
                <a:cxn ang="0">
                  <a:pos x="98" y="180"/>
                </a:cxn>
                <a:cxn ang="0">
                  <a:pos x="98" y="135"/>
                </a:cxn>
                <a:cxn ang="0">
                  <a:pos x="134" y="135"/>
                </a:cxn>
                <a:cxn ang="0">
                  <a:pos x="98" y="180"/>
                </a:cxn>
                <a:cxn ang="0">
                  <a:pos x="18" y="135"/>
                </a:cxn>
                <a:cxn ang="0">
                  <a:pos x="46" y="135"/>
                </a:cxn>
                <a:cxn ang="0">
                  <a:pos x="68" y="176"/>
                </a:cxn>
                <a:cxn ang="0">
                  <a:pos x="18" y="135"/>
                </a:cxn>
                <a:cxn ang="0">
                  <a:pos x="120" y="176"/>
                </a:cxn>
                <a:cxn ang="0">
                  <a:pos x="142" y="135"/>
                </a:cxn>
                <a:cxn ang="0">
                  <a:pos x="170" y="135"/>
                </a:cxn>
                <a:cxn ang="0">
                  <a:pos x="120" y="176"/>
                </a:cxn>
              </a:cxnLst>
              <a:rect l="0" t="0" r="r" b="b"/>
              <a:pathLst>
                <a:path w="188" h="188">
                  <a:moveTo>
                    <a:pt x="94" y="0"/>
                  </a:moveTo>
                  <a:cubicBezTo>
                    <a:pt x="42" y="0"/>
                    <a:pt x="0" y="42"/>
                    <a:pt x="0" y="94"/>
                  </a:cubicBezTo>
                  <a:cubicBezTo>
                    <a:pt x="0" y="146"/>
                    <a:pt x="42" y="188"/>
                    <a:pt x="94" y="188"/>
                  </a:cubicBezTo>
                  <a:cubicBezTo>
                    <a:pt x="146" y="188"/>
                    <a:pt x="188" y="146"/>
                    <a:pt x="188" y="94"/>
                  </a:cubicBezTo>
                  <a:cubicBezTo>
                    <a:pt x="188" y="42"/>
                    <a:pt x="146" y="0"/>
                    <a:pt x="94" y="0"/>
                  </a:cubicBezTo>
                  <a:close/>
                  <a:moveTo>
                    <a:pt x="170" y="55"/>
                  </a:moveTo>
                  <a:cubicBezTo>
                    <a:pt x="142" y="55"/>
                    <a:pt x="142" y="55"/>
                    <a:pt x="142" y="55"/>
                  </a:cubicBezTo>
                  <a:cubicBezTo>
                    <a:pt x="137" y="36"/>
                    <a:pt x="130" y="22"/>
                    <a:pt x="120" y="12"/>
                  </a:cubicBezTo>
                  <a:cubicBezTo>
                    <a:pt x="142" y="19"/>
                    <a:pt x="160" y="35"/>
                    <a:pt x="170" y="55"/>
                  </a:cubicBezTo>
                  <a:close/>
                  <a:moveTo>
                    <a:pt x="90" y="9"/>
                  </a:moveTo>
                  <a:cubicBezTo>
                    <a:pt x="90" y="55"/>
                    <a:pt x="90" y="55"/>
                    <a:pt x="90" y="55"/>
                  </a:cubicBezTo>
                  <a:cubicBezTo>
                    <a:pt x="54" y="55"/>
                    <a:pt x="54" y="55"/>
                    <a:pt x="54" y="55"/>
                  </a:cubicBezTo>
                  <a:cubicBezTo>
                    <a:pt x="62" y="29"/>
                    <a:pt x="75" y="11"/>
                    <a:pt x="90" y="9"/>
                  </a:cubicBezTo>
                  <a:close/>
                  <a:moveTo>
                    <a:pt x="98" y="9"/>
                  </a:moveTo>
                  <a:cubicBezTo>
                    <a:pt x="113" y="11"/>
                    <a:pt x="127" y="29"/>
                    <a:pt x="134" y="55"/>
                  </a:cubicBezTo>
                  <a:cubicBezTo>
                    <a:pt x="98" y="55"/>
                    <a:pt x="98" y="55"/>
                    <a:pt x="98" y="55"/>
                  </a:cubicBezTo>
                  <a:lnTo>
                    <a:pt x="98" y="9"/>
                  </a:lnTo>
                  <a:close/>
                  <a:moveTo>
                    <a:pt x="68" y="12"/>
                  </a:moveTo>
                  <a:cubicBezTo>
                    <a:pt x="59" y="22"/>
                    <a:pt x="51" y="36"/>
                    <a:pt x="46" y="55"/>
                  </a:cubicBezTo>
                  <a:cubicBezTo>
                    <a:pt x="18" y="55"/>
                    <a:pt x="18" y="55"/>
                    <a:pt x="18" y="55"/>
                  </a:cubicBezTo>
                  <a:cubicBezTo>
                    <a:pt x="28" y="35"/>
                    <a:pt x="46" y="19"/>
                    <a:pt x="68" y="12"/>
                  </a:cubicBezTo>
                  <a:close/>
                  <a:moveTo>
                    <a:pt x="14" y="63"/>
                  </a:moveTo>
                  <a:cubicBezTo>
                    <a:pt x="174" y="63"/>
                    <a:pt x="174" y="63"/>
                    <a:pt x="174" y="63"/>
                  </a:cubicBezTo>
                  <a:cubicBezTo>
                    <a:pt x="178" y="72"/>
                    <a:pt x="180" y="83"/>
                    <a:pt x="180" y="94"/>
                  </a:cubicBezTo>
                  <a:cubicBezTo>
                    <a:pt x="180" y="106"/>
                    <a:pt x="178" y="117"/>
                    <a:pt x="174" y="127"/>
                  </a:cubicBezTo>
                  <a:cubicBezTo>
                    <a:pt x="15" y="127"/>
                    <a:pt x="15" y="127"/>
                    <a:pt x="15" y="127"/>
                  </a:cubicBezTo>
                  <a:cubicBezTo>
                    <a:pt x="11" y="117"/>
                    <a:pt x="8" y="106"/>
                    <a:pt x="8" y="94"/>
                  </a:cubicBezTo>
                  <a:cubicBezTo>
                    <a:pt x="8" y="83"/>
                    <a:pt x="10" y="72"/>
                    <a:pt x="14" y="63"/>
                  </a:cubicBezTo>
                  <a:close/>
                  <a:moveTo>
                    <a:pt x="90" y="180"/>
                  </a:moveTo>
                  <a:cubicBezTo>
                    <a:pt x="75" y="177"/>
                    <a:pt x="62" y="160"/>
                    <a:pt x="55" y="135"/>
                  </a:cubicBezTo>
                  <a:cubicBezTo>
                    <a:pt x="90" y="135"/>
                    <a:pt x="90" y="135"/>
                    <a:pt x="90" y="135"/>
                  </a:cubicBezTo>
                  <a:lnTo>
                    <a:pt x="90" y="180"/>
                  </a:lnTo>
                  <a:close/>
                  <a:moveTo>
                    <a:pt x="98" y="180"/>
                  </a:moveTo>
                  <a:cubicBezTo>
                    <a:pt x="98" y="135"/>
                    <a:pt x="98" y="135"/>
                    <a:pt x="98" y="135"/>
                  </a:cubicBezTo>
                  <a:cubicBezTo>
                    <a:pt x="134" y="135"/>
                    <a:pt x="134" y="135"/>
                    <a:pt x="134" y="135"/>
                  </a:cubicBezTo>
                  <a:cubicBezTo>
                    <a:pt x="126" y="160"/>
                    <a:pt x="113" y="177"/>
                    <a:pt x="98" y="180"/>
                  </a:cubicBezTo>
                  <a:close/>
                  <a:moveTo>
                    <a:pt x="18" y="135"/>
                  </a:moveTo>
                  <a:cubicBezTo>
                    <a:pt x="46" y="135"/>
                    <a:pt x="46" y="135"/>
                    <a:pt x="46" y="135"/>
                  </a:cubicBezTo>
                  <a:cubicBezTo>
                    <a:pt x="51" y="152"/>
                    <a:pt x="59" y="167"/>
                    <a:pt x="68" y="176"/>
                  </a:cubicBezTo>
                  <a:cubicBezTo>
                    <a:pt x="47" y="169"/>
                    <a:pt x="29" y="154"/>
                    <a:pt x="18" y="135"/>
                  </a:cubicBezTo>
                  <a:close/>
                  <a:moveTo>
                    <a:pt x="120" y="176"/>
                  </a:moveTo>
                  <a:cubicBezTo>
                    <a:pt x="129" y="167"/>
                    <a:pt x="137" y="152"/>
                    <a:pt x="142" y="135"/>
                  </a:cubicBezTo>
                  <a:cubicBezTo>
                    <a:pt x="170" y="135"/>
                    <a:pt x="170" y="135"/>
                    <a:pt x="170" y="135"/>
                  </a:cubicBezTo>
                  <a:cubicBezTo>
                    <a:pt x="159" y="154"/>
                    <a:pt x="142" y="169"/>
                    <a:pt x="120" y="176"/>
                  </a:cubicBezTo>
                  <a:close/>
                </a:path>
              </a:pathLst>
            </a:custGeom>
            <a:grpFill/>
            <a:ln w="9525">
              <a:noFill/>
              <a:round/>
              <a:headEnd/>
              <a:tailEnd/>
            </a:ln>
          </p:spPr>
          <p:txBody>
            <a:bodyPr/>
            <a:lstStyle/>
            <a:p>
              <a:pPr defTabSz="914478">
                <a:defRPr/>
              </a:pPr>
              <a:endParaRPr lang="zh-CN" altLang="en-US" sz="3201">
                <a:solidFill>
                  <a:srgbClr val="000000">
                    <a:lumMod val="65000"/>
                    <a:lumOff val="3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22" name="直接连接符 521"/>
          <p:cNvCxnSpPr>
            <a:stCxn id="523" idx="7"/>
          </p:cNvCxnSpPr>
          <p:nvPr/>
        </p:nvCxnSpPr>
        <p:spPr>
          <a:xfrm flipH="1">
            <a:off x="3502522" y="1406231"/>
            <a:ext cx="430398" cy="15735"/>
          </a:xfrm>
          <a:prstGeom prst="line">
            <a:avLst/>
          </a:prstGeom>
          <a:noFill/>
          <a:ln w="9525" cap="flat" cmpd="sng" algn="ctr">
            <a:solidFill>
              <a:srgbClr val="000000">
                <a:lumMod val="50000"/>
                <a:lumOff val="50000"/>
              </a:srgbClr>
            </a:solidFill>
            <a:prstDash val="solid"/>
            <a:headEnd type="none" w="med" len="med"/>
            <a:tailEnd type="none" w="med" len="med"/>
          </a:ln>
          <a:effectLst/>
        </p:spPr>
      </p:cxnSp>
      <p:sp>
        <p:nvSpPr>
          <p:cNvPr id="523" name="Freeform 6"/>
          <p:cNvSpPr>
            <a:spLocks noChangeAspect="1" noEditPoints="1"/>
          </p:cNvSpPr>
          <p:nvPr/>
        </p:nvSpPr>
        <p:spPr bwMode="auto">
          <a:xfrm>
            <a:off x="3932920" y="1114654"/>
            <a:ext cx="429162" cy="347719"/>
          </a:xfrm>
          <a:custGeom>
            <a:avLst/>
            <a:gdLst>
              <a:gd name="T0" fmla="*/ 195 w 458"/>
              <a:gd name="T1" fmla="*/ 203 h 384"/>
              <a:gd name="T2" fmla="*/ 188 w 458"/>
              <a:gd name="T3" fmla="*/ 171 h 384"/>
              <a:gd name="T4" fmla="*/ 223 w 458"/>
              <a:gd name="T5" fmla="*/ 84 h 384"/>
              <a:gd name="T6" fmla="*/ 154 w 458"/>
              <a:gd name="T7" fmla="*/ 0 h 384"/>
              <a:gd name="T8" fmla="*/ 85 w 458"/>
              <a:gd name="T9" fmla="*/ 84 h 384"/>
              <a:gd name="T10" fmla="*/ 120 w 458"/>
              <a:gd name="T11" fmla="*/ 171 h 384"/>
              <a:gd name="T12" fmla="*/ 113 w 458"/>
              <a:gd name="T13" fmla="*/ 203 h 384"/>
              <a:gd name="T14" fmla="*/ 0 w 458"/>
              <a:gd name="T15" fmla="*/ 322 h 384"/>
              <a:gd name="T16" fmla="*/ 0 w 458"/>
              <a:gd name="T17" fmla="*/ 323 h 384"/>
              <a:gd name="T18" fmla="*/ 0 w 458"/>
              <a:gd name="T19" fmla="*/ 324 h 384"/>
              <a:gd name="T20" fmla="*/ 154 w 458"/>
              <a:gd name="T21" fmla="*/ 384 h 384"/>
              <a:gd name="T22" fmla="*/ 308 w 458"/>
              <a:gd name="T23" fmla="*/ 324 h 384"/>
              <a:gd name="T24" fmla="*/ 308 w 458"/>
              <a:gd name="T25" fmla="*/ 323 h 384"/>
              <a:gd name="T26" fmla="*/ 308 w 458"/>
              <a:gd name="T27" fmla="*/ 322 h 384"/>
              <a:gd name="T28" fmla="*/ 195 w 458"/>
              <a:gd name="T29" fmla="*/ 203 h 384"/>
              <a:gd name="T30" fmla="*/ 458 w 458"/>
              <a:gd name="T31" fmla="*/ 275 h 384"/>
              <a:gd name="T32" fmla="*/ 350 w 458"/>
              <a:gd name="T33" fmla="*/ 173 h 384"/>
              <a:gd name="T34" fmla="*/ 344 w 458"/>
              <a:gd name="T35" fmla="*/ 146 h 384"/>
              <a:gd name="T36" fmla="*/ 377 w 458"/>
              <a:gd name="T37" fmla="*/ 72 h 384"/>
              <a:gd name="T38" fmla="*/ 312 w 458"/>
              <a:gd name="T39" fmla="*/ 0 h 384"/>
              <a:gd name="T40" fmla="*/ 246 w 458"/>
              <a:gd name="T41" fmla="*/ 72 h 384"/>
              <a:gd name="T42" fmla="*/ 279 w 458"/>
              <a:gd name="T43" fmla="*/ 146 h 384"/>
              <a:gd name="T44" fmla="*/ 273 w 458"/>
              <a:gd name="T45" fmla="*/ 173 h 384"/>
              <a:gd name="T46" fmla="*/ 215 w 458"/>
              <a:gd name="T47" fmla="*/ 197 h 384"/>
              <a:gd name="T48" fmla="*/ 240 w 458"/>
              <a:gd name="T49" fmla="*/ 208 h 384"/>
              <a:gd name="T50" fmla="*/ 277 w 458"/>
              <a:gd name="T51" fmla="*/ 195 h 384"/>
              <a:gd name="T52" fmla="*/ 280 w 458"/>
              <a:gd name="T53" fmla="*/ 195 h 384"/>
              <a:gd name="T54" fmla="*/ 282 w 458"/>
              <a:gd name="T55" fmla="*/ 194 h 384"/>
              <a:gd name="T56" fmla="*/ 304 w 458"/>
              <a:gd name="T57" fmla="*/ 171 h 384"/>
              <a:gd name="T58" fmla="*/ 299 w 458"/>
              <a:gd name="T59" fmla="*/ 134 h 384"/>
              <a:gd name="T60" fmla="*/ 296 w 458"/>
              <a:gd name="T61" fmla="*/ 131 h 384"/>
              <a:gd name="T62" fmla="*/ 293 w 458"/>
              <a:gd name="T63" fmla="*/ 128 h 384"/>
              <a:gd name="T64" fmla="*/ 268 w 458"/>
              <a:gd name="T65" fmla="*/ 72 h 384"/>
              <a:gd name="T66" fmla="*/ 312 w 458"/>
              <a:gd name="T67" fmla="*/ 22 h 384"/>
              <a:gd name="T68" fmla="*/ 355 w 458"/>
              <a:gd name="T69" fmla="*/ 72 h 384"/>
              <a:gd name="T70" fmla="*/ 330 w 458"/>
              <a:gd name="T71" fmla="*/ 128 h 384"/>
              <a:gd name="T72" fmla="*/ 327 w 458"/>
              <a:gd name="T73" fmla="*/ 131 h 384"/>
              <a:gd name="T74" fmla="*/ 325 w 458"/>
              <a:gd name="T75" fmla="*/ 134 h 384"/>
              <a:gd name="T76" fmla="*/ 319 w 458"/>
              <a:gd name="T77" fmla="*/ 171 h 384"/>
              <a:gd name="T78" fmla="*/ 341 w 458"/>
              <a:gd name="T79" fmla="*/ 194 h 384"/>
              <a:gd name="T80" fmla="*/ 344 w 458"/>
              <a:gd name="T81" fmla="*/ 195 h 384"/>
              <a:gd name="T82" fmla="*/ 346 w 458"/>
              <a:gd name="T83" fmla="*/ 195 h 384"/>
              <a:gd name="T84" fmla="*/ 436 w 458"/>
              <a:gd name="T85" fmla="*/ 274 h 384"/>
              <a:gd name="T86" fmla="*/ 436 w 458"/>
              <a:gd name="T87" fmla="*/ 275 h 384"/>
              <a:gd name="T88" fmla="*/ 318 w 458"/>
              <a:gd name="T89" fmla="*/ 306 h 384"/>
              <a:gd name="T90" fmla="*/ 319 w 458"/>
              <a:gd name="T91" fmla="*/ 322 h 384"/>
              <a:gd name="T92" fmla="*/ 319 w 458"/>
              <a:gd name="T93" fmla="*/ 323 h 384"/>
              <a:gd name="T94" fmla="*/ 319 w 458"/>
              <a:gd name="T95" fmla="*/ 324 h 384"/>
              <a:gd name="T96" fmla="*/ 319 w 458"/>
              <a:gd name="T97" fmla="*/ 328 h 384"/>
              <a:gd name="T98" fmla="*/ 458 w 458"/>
              <a:gd name="T99" fmla="*/ 277 h 384"/>
              <a:gd name="T100" fmla="*/ 458 w 458"/>
              <a:gd name="T101" fmla="*/ 276 h 384"/>
              <a:gd name="T102" fmla="*/ 458 w 458"/>
              <a:gd name="T103" fmla="*/ 275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58" h="384">
                <a:moveTo>
                  <a:pt x="195" y="203"/>
                </a:moveTo>
                <a:cubicBezTo>
                  <a:pt x="177" y="194"/>
                  <a:pt x="186" y="175"/>
                  <a:pt x="188" y="171"/>
                </a:cubicBezTo>
                <a:cubicBezTo>
                  <a:pt x="209" y="153"/>
                  <a:pt x="223" y="119"/>
                  <a:pt x="223" y="84"/>
                </a:cubicBezTo>
                <a:cubicBezTo>
                  <a:pt x="223" y="33"/>
                  <a:pt x="192" y="0"/>
                  <a:pt x="154" y="0"/>
                </a:cubicBezTo>
                <a:cubicBezTo>
                  <a:pt x="116" y="0"/>
                  <a:pt x="85" y="33"/>
                  <a:pt x="85" y="84"/>
                </a:cubicBezTo>
                <a:cubicBezTo>
                  <a:pt x="85" y="119"/>
                  <a:pt x="99" y="153"/>
                  <a:pt x="120" y="171"/>
                </a:cubicBezTo>
                <a:cubicBezTo>
                  <a:pt x="123" y="175"/>
                  <a:pt x="131" y="194"/>
                  <a:pt x="113" y="203"/>
                </a:cubicBezTo>
                <a:cubicBezTo>
                  <a:pt x="48" y="218"/>
                  <a:pt x="0" y="269"/>
                  <a:pt x="0" y="322"/>
                </a:cubicBezTo>
                <a:cubicBezTo>
                  <a:pt x="0" y="322"/>
                  <a:pt x="0" y="323"/>
                  <a:pt x="0" y="323"/>
                </a:cubicBezTo>
                <a:cubicBezTo>
                  <a:pt x="0" y="323"/>
                  <a:pt x="0" y="324"/>
                  <a:pt x="0" y="324"/>
                </a:cubicBezTo>
                <a:cubicBezTo>
                  <a:pt x="0" y="355"/>
                  <a:pt x="69" y="384"/>
                  <a:pt x="154" y="384"/>
                </a:cubicBezTo>
                <a:cubicBezTo>
                  <a:pt x="239" y="384"/>
                  <a:pt x="308" y="355"/>
                  <a:pt x="308" y="324"/>
                </a:cubicBezTo>
                <a:cubicBezTo>
                  <a:pt x="308" y="324"/>
                  <a:pt x="308" y="323"/>
                  <a:pt x="308" y="323"/>
                </a:cubicBezTo>
                <a:cubicBezTo>
                  <a:pt x="308" y="323"/>
                  <a:pt x="308" y="322"/>
                  <a:pt x="308" y="322"/>
                </a:cubicBezTo>
                <a:cubicBezTo>
                  <a:pt x="308" y="269"/>
                  <a:pt x="260" y="218"/>
                  <a:pt x="195" y="203"/>
                </a:cubicBezTo>
                <a:close/>
                <a:moveTo>
                  <a:pt x="458" y="275"/>
                </a:moveTo>
                <a:cubicBezTo>
                  <a:pt x="458" y="229"/>
                  <a:pt x="412" y="187"/>
                  <a:pt x="350" y="173"/>
                </a:cubicBezTo>
                <a:cubicBezTo>
                  <a:pt x="333" y="166"/>
                  <a:pt x="342" y="150"/>
                  <a:pt x="344" y="146"/>
                </a:cubicBezTo>
                <a:cubicBezTo>
                  <a:pt x="364" y="130"/>
                  <a:pt x="377" y="101"/>
                  <a:pt x="377" y="72"/>
                </a:cubicBezTo>
                <a:cubicBezTo>
                  <a:pt x="377" y="28"/>
                  <a:pt x="348" y="0"/>
                  <a:pt x="312" y="0"/>
                </a:cubicBezTo>
                <a:cubicBezTo>
                  <a:pt x="275" y="0"/>
                  <a:pt x="246" y="28"/>
                  <a:pt x="246" y="72"/>
                </a:cubicBezTo>
                <a:cubicBezTo>
                  <a:pt x="246" y="101"/>
                  <a:pt x="259" y="130"/>
                  <a:pt x="279" y="146"/>
                </a:cubicBezTo>
                <a:cubicBezTo>
                  <a:pt x="282" y="150"/>
                  <a:pt x="290" y="166"/>
                  <a:pt x="273" y="173"/>
                </a:cubicBezTo>
                <a:cubicBezTo>
                  <a:pt x="251" y="178"/>
                  <a:pt x="231" y="186"/>
                  <a:pt x="215" y="197"/>
                </a:cubicBezTo>
                <a:cubicBezTo>
                  <a:pt x="224" y="200"/>
                  <a:pt x="232" y="204"/>
                  <a:pt x="240" y="208"/>
                </a:cubicBezTo>
                <a:cubicBezTo>
                  <a:pt x="252" y="203"/>
                  <a:pt x="264" y="198"/>
                  <a:pt x="277" y="195"/>
                </a:cubicBezTo>
                <a:cubicBezTo>
                  <a:pt x="280" y="195"/>
                  <a:pt x="280" y="195"/>
                  <a:pt x="280" y="195"/>
                </a:cubicBezTo>
                <a:cubicBezTo>
                  <a:pt x="282" y="194"/>
                  <a:pt x="282" y="194"/>
                  <a:pt x="282" y="194"/>
                </a:cubicBezTo>
                <a:cubicBezTo>
                  <a:pt x="296" y="188"/>
                  <a:pt x="302" y="178"/>
                  <a:pt x="304" y="171"/>
                </a:cubicBezTo>
                <a:cubicBezTo>
                  <a:pt x="309" y="155"/>
                  <a:pt x="302" y="140"/>
                  <a:pt x="299" y="134"/>
                </a:cubicBezTo>
                <a:cubicBezTo>
                  <a:pt x="296" y="131"/>
                  <a:pt x="296" y="131"/>
                  <a:pt x="296" y="131"/>
                </a:cubicBezTo>
                <a:cubicBezTo>
                  <a:pt x="293" y="128"/>
                  <a:pt x="293" y="128"/>
                  <a:pt x="293" y="128"/>
                </a:cubicBezTo>
                <a:cubicBezTo>
                  <a:pt x="278" y="117"/>
                  <a:pt x="268" y="94"/>
                  <a:pt x="268" y="72"/>
                </a:cubicBezTo>
                <a:cubicBezTo>
                  <a:pt x="268" y="43"/>
                  <a:pt x="286" y="22"/>
                  <a:pt x="312" y="22"/>
                </a:cubicBezTo>
                <a:cubicBezTo>
                  <a:pt x="337" y="22"/>
                  <a:pt x="355" y="43"/>
                  <a:pt x="355" y="72"/>
                </a:cubicBezTo>
                <a:cubicBezTo>
                  <a:pt x="355" y="94"/>
                  <a:pt x="345" y="117"/>
                  <a:pt x="330" y="128"/>
                </a:cubicBezTo>
                <a:cubicBezTo>
                  <a:pt x="327" y="131"/>
                  <a:pt x="327" y="131"/>
                  <a:pt x="327" y="131"/>
                </a:cubicBezTo>
                <a:cubicBezTo>
                  <a:pt x="325" y="134"/>
                  <a:pt x="325" y="134"/>
                  <a:pt x="325" y="134"/>
                </a:cubicBezTo>
                <a:cubicBezTo>
                  <a:pt x="321" y="140"/>
                  <a:pt x="314" y="155"/>
                  <a:pt x="319" y="171"/>
                </a:cubicBezTo>
                <a:cubicBezTo>
                  <a:pt x="322" y="178"/>
                  <a:pt x="327" y="188"/>
                  <a:pt x="341" y="194"/>
                </a:cubicBezTo>
                <a:cubicBezTo>
                  <a:pt x="344" y="195"/>
                  <a:pt x="344" y="195"/>
                  <a:pt x="344" y="195"/>
                </a:cubicBezTo>
                <a:cubicBezTo>
                  <a:pt x="346" y="195"/>
                  <a:pt x="346" y="195"/>
                  <a:pt x="346" y="195"/>
                </a:cubicBezTo>
                <a:cubicBezTo>
                  <a:pt x="397" y="206"/>
                  <a:pt x="435" y="240"/>
                  <a:pt x="436" y="274"/>
                </a:cubicBezTo>
                <a:cubicBezTo>
                  <a:pt x="436" y="275"/>
                  <a:pt x="436" y="275"/>
                  <a:pt x="436" y="275"/>
                </a:cubicBezTo>
                <a:cubicBezTo>
                  <a:pt x="430" y="284"/>
                  <a:pt x="389" y="305"/>
                  <a:pt x="318" y="306"/>
                </a:cubicBezTo>
                <a:cubicBezTo>
                  <a:pt x="319" y="311"/>
                  <a:pt x="319" y="316"/>
                  <a:pt x="319" y="322"/>
                </a:cubicBezTo>
                <a:cubicBezTo>
                  <a:pt x="319" y="322"/>
                  <a:pt x="319" y="323"/>
                  <a:pt x="319" y="323"/>
                </a:cubicBezTo>
                <a:cubicBezTo>
                  <a:pt x="319" y="323"/>
                  <a:pt x="319" y="324"/>
                  <a:pt x="319" y="324"/>
                </a:cubicBezTo>
                <a:cubicBezTo>
                  <a:pt x="319" y="325"/>
                  <a:pt x="319" y="327"/>
                  <a:pt x="319" y="328"/>
                </a:cubicBezTo>
                <a:cubicBezTo>
                  <a:pt x="396" y="327"/>
                  <a:pt x="458" y="302"/>
                  <a:pt x="458" y="277"/>
                </a:cubicBezTo>
                <a:cubicBezTo>
                  <a:pt x="458" y="276"/>
                  <a:pt x="458" y="276"/>
                  <a:pt x="458" y="276"/>
                </a:cubicBezTo>
                <a:cubicBezTo>
                  <a:pt x="458" y="275"/>
                  <a:pt x="458" y="275"/>
                  <a:pt x="458" y="275"/>
                </a:cubicBezTo>
                <a:close/>
              </a:path>
            </a:pathLst>
          </a:custGeom>
          <a:solidFill>
            <a:srgbClr val="FBA000"/>
          </a:solidFill>
          <a:ln>
            <a:noFill/>
          </a:ln>
        </p:spPr>
        <p:txBody>
          <a:bodyPr vert="horz" wrap="square" lIns="121948" tIns="60974" rIns="121948" bIns="60974" numCol="1" anchor="t" anchorCtr="0" compatLnSpc="1">
            <a:prstTxWarp prst="textNoShape">
              <a:avLst/>
            </a:prstTxWarp>
          </a:bodyPr>
          <a:lstStyle/>
          <a:p>
            <a:pPr defTabSz="914478"/>
            <a:endParaRPr lang="zh-CN" altLang="en-US" sz="320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4" name="文本框 523"/>
          <p:cNvSpPr txBox="1"/>
          <p:nvPr/>
        </p:nvSpPr>
        <p:spPr>
          <a:xfrm>
            <a:off x="1227098" y="3192192"/>
            <a:ext cx="839598" cy="455189"/>
          </a:xfrm>
          <a:prstGeom prst="rect">
            <a:avLst/>
          </a:prstGeom>
          <a:noFill/>
        </p:spPr>
        <p:txBody>
          <a:bodyPr wrap="square" rtlCol="0">
            <a:spAutoFit/>
          </a:bodyPr>
          <a:lstStyle/>
          <a:p>
            <a:pPr defTabSz="914478">
              <a:lnSpc>
                <a:spcPts val="3440"/>
              </a:lnSpc>
            </a:pPr>
            <a:r>
              <a:rPr lang="zh-CN" altLang="en-US" sz="105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负载均衡</a:t>
            </a:r>
            <a:endParaRPr lang="en-US" sz="105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25" name="组合 572"/>
          <p:cNvGrpSpPr/>
          <p:nvPr/>
        </p:nvGrpSpPr>
        <p:grpSpPr>
          <a:xfrm>
            <a:off x="4370149" y="3773088"/>
            <a:ext cx="334344" cy="311563"/>
            <a:chOff x="4902797" y="3439194"/>
            <a:chExt cx="347571" cy="246006"/>
          </a:xfrm>
          <a:solidFill>
            <a:srgbClr val="92D050"/>
          </a:solidFill>
        </p:grpSpPr>
        <p:sp>
          <p:nvSpPr>
            <p:cNvPr id="526" name="AutoShape 26"/>
            <p:cNvSpPr>
              <a:spLocks noChangeAspect="1" noChangeArrowheads="1" noTextEdit="1"/>
            </p:cNvSpPr>
            <p:nvPr/>
          </p:nvSpPr>
          <p:spPr bwMode="auto">
            <a:xfrm>
              <a:off x="4902797" y="3440751"/>
              <a:ext cx="347571" cy="242892"/>
            </a:xfrm>
            <a:prstGeom prst="rect">
              <a:avLst/>
            </a:prstGeom>
            <a:grpFill/>
            <a:ln w="9525">
              <a:noFill/>
              <a:miter lim="800000"/>
              <a:headEnd/>
              <a:tailEnd/>
            </a:ln>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7" name="Freeform 28"/>
            <p:cNvSpPr>
              <a:spLocks/>
            </p:cNvSpPr>
            <p:nvPr/>
          </p:nvSpPr>
          <p:spPr bwMode="auto">
            <a:xfrm>
              <a:off x="4902797" y="3439194"/>
              <a:ext cx="347571" cy="246006"/>
            </a:xfrm>
            <a:custGeom>
              <a:avLst/>
              <a:gdLst/>
              <a:ahLst/>
              <a:cxnLst>
                <a:cxn ang="0">
                  <a:pos x="185" y="134"/>
                </a:cxn>
                <a:cxn ang="0">
                  <a:pos x="159" y="67"/>
                </a:cxn>
                <a:cxn ang="0">
                  <a:pos x="140" y="8"/>
                </a:cxn>
                <a:cxn ang="0">
                  <a:pos x="121" y="67"/>
                </a:cxn>
                <a:cxn ang="0">
                  <a:pos x="95" y="134"/>
                </a:cxn>
                <a:cxn ang="0">
                  <a:pos x="68" y="67"/>
                </a:cxn>
                <a:cxn ang="0">
                  <a:pos x="50" y="8"/>
                </a:cxn>
                <a:cxn ang="0">
                  <a:pos x="31" y="67"/>
                </a:cxn>
                <a:cxn ang="0">
                  <a:pos x="4" y="134"/>
                </a:cxn>
                <a:cxn ang="0">
                  <a:pos x="0" y="130"/>
                </a:cxn>
                <a:cxn ang="0">
                  <a:pos x="4" y="126"/>
                </a:cxn>
                <a:cxn ang="0">
                  <a:pos x="23" y="66"/>
                </a:cxn>
                <a:cxn ang="0">
                  <a:pos x="50" y="0"/>
                </a:cxn>
                <a:cxn ang="0">
                  <a:pos x="76" y="66"/>
                </a:cxn>
                <a:cxn ang="0">
                  <a:pos x="95" y="126"/>
                </a:cxn>
                <a:cxn ang="0">
                  <a:pos x="113" y="66"/>
                </a:cxn>
                <a:cxn ang="0">
                  <a:pos x="140" y="0"/>
                </a:cxn>
                <a:cxn ang="0">
                  <a:pos x="166" y="66"/>
                </a:cxn>
                <a:cxn ang="0">
                  <a:pos x="185" y="126"/>
                </a:cxn>
                <a:cxn ang="0">
                  <a:pos x="189" y="130"/>
                </a:cxn>
                <a:cxn ang="0">
                  <a:pos x="185" y="134"/>
                </a:cxn>
              </a:cxnLst>
              <a:rect l="0" t="0" r="r" b="b"/>
              <a:pathLst>
                <a:path w="189" h="134">
                  <a:moveTo>
                    <a:pt x="185" y="134"/>
                  </a:moveTo>
                  <a:cubicBezTo>
                    <a:pt x="171" y="134"/>
                    <a:pt x="163" y="92"/>
                    <a:pt x="159" y="67"/>
                  </a:cubicBezTo>
                  <a:cubicBezTo>
                    <a:pt x="154" y="37"/>
                    <a:pt x="145" y="9"/>
                    <a:pt x="140" y="8"/>
                  </a:cubicBezTo>
                  <a:cubicBezTo>
                    <a:pt x="135" y="9"/>
                    <a:pt x="126" y="37"/>
                    <a:pt x="121" y="67"/>
                  </a:cubicBezTo>
                  <a:cubicBezTo>
                    <a:pt x="117" y="92"/>
                    <a:pt x="109" y="134"/>
                    <a:pt x="95" y="134"/>
                  </a:cubicBezTo>
                  <a:cubicBezTo>
                    <a:pt x="81" y="134"/>
                    <a:pt x="72" y="92"/>
                    <a:pt x="68" y="67"/>
                  </a:cubicBezTo>
                  <a:cubicBezTo>
                    <a:pt x="63" y="37"/>
                    <a:pt x="55" y="9"/>
                    <a:pt x="50" y="8"/>
                  </a:cubicBezTo>
                  <a:cubicBezTo>
                    <a:pt x="45" y="9"/>
                    <a:pt x="36" y="37"/>
                    <a:pt x="31" y="67"/>
                  </a:cubicBezTo>
                  <a:cubicBezTo>
                    <a:pt x="27" y="92"/>
                    <a:pt x="18" y="134"/>
                    <a:pt x="4" y="134"/>
                  </a:cubicBezTo>
                  <a:cubicBezTo>
                    <a:pt x="2" y="134"/>
                    <a:pt x="0" y="132"/>
                    <a:pt x="0" y="130"/>
                  </a:cubicBezTo>
                  <a:cubicBezTo>
                    <a:pt x="0" y="128"/>
                    <a:pt x="2" y="126"/>
                    <a:pt x="4" y="126"/>
                  </a:cubicBezTo>
                  <a:cubicBezTo>
                    <a:pt x="9" y="125"/>
                    <a:pt x="18" y="97"/>
                    <a:pt x="23" y="66"/>
                  </a:cubicBezTo>
                  <a:cubicBezTo>
                    <a:pt x="27" y="41"/>
                    <a:pt x="36" y="0"/>
                    <a:pt x="50" y="0"/>
                  </a:cubicBezTo>
                  <a:cubicBezTo>
                    <a:pt x="63" y="0"/>
                    <a:pt x="72" y="41"/>
                    <a:pt x="76" y="66"/>
                  </a:cubicBezTo>
                  <a:cubicBezTo>
                    <a:pt x="81" y="97"/>
                    <a:pt x="90" y="125"/>
                    <a:pt x="95" y="126"/>
                  </a:cubicBezTo>
                  <a:cubicBezTo>
                    <a:pt x="100" y="125"/>
                    <a:pt x="108" y="97"/>
                    <a:pt x="113" y="66"/>
                  </a:cubicBezTo>
                  <a:cubicBezTo>
                    <a:pt x="117" y="41"/>
                    <a:pt x="126" y="0"/>
                    <a:pt x="140" y="0"/>
                  </a:cubicBezTo>
                  <a:cubicBezTo>
                    <a:pt x="154" y="0"/>
                    <a:pt x="162" y="41"/>
                    <a:pt x="166" y="66"/>
                  </a:cubicBezTo>
                  <a:cubicBezTo>
                    <a:pt x="171" y="97"/>
                    <a:pt x="180" y="125"/>
                    <a:pt x="185" y="126"/>
                  </a:cubicBezTo>
                  <a:cubicBezTo>
                    <a:pt x="187" y="126"/>
                    <a:pt x="189" y="128"/>
                    <a:pt x="189" y="130"/>
                  </a:cubicBezTo>
                  <a:cubicBezTo>
                    <a:pt x="189" y="132"/>
                    <a:pt x="187" y="134"/>
                    <a:pt x="185" y="134"/>
                  </a:cubicBezTo>
                  <a:close/>
                </a:path>
              </a:pathLst>
            </a:custGeom>
            <a:grpFill/>
            <a:ln w="9525">
              <a:solidFill>
                <a:srgbClr val="FFFFFF"/>
              </a:solidFill>
              <a:round/>
              <a:headEnd/>
              <a:tailEnd/>
            </a:ln>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8" name="Freeform 29"/>
            <p:cNvSpPr>
              <a:spLocks/>
            </p:cNvSpPr>
            <p:nvPr/>
          </p:nvSpPr>
          <p:spPr bwMode="auto">
            <a:xfrm>
              <a:off x="4932951" y="3442368"/>
              <a:ext cx="292023" cy="239657"/>
            </a:xfrm>
            <a:custGeom>
              <a:avLst/>
              <a:gdLst/>
              <a:ahLst/>
              <a:cxnLst>
                <a:cxn ang="0">
                  <a:pos x="127" y="130"/>
                </a:cxn>
                <a:cxn ang="0">
                  <a:pos x="122" y="130"/>
                </a:cxn>
                <a:cxn ang="0">
                  <a:pos x="98" y="65"/>
                </a:cxn>
                <a:cxn ang="0">
                  <a:pos x="77" y="4"/>
                </a:cxn>
                <a:cxn ang="0">
                  <a:pos x="56" y="65"/>
                </a:cxn>
                <a:cxn ang="0">
                  <a:pos x="32" y="130"/>
                </a:cxn>
                <a:cxn ang="0">
                  <a:pos x="7" y="65"/>
                </a:cxn>
                <a:cxn ang="0">
                  <a:pos x="0" y="33"/>
                </a:cxn>
                <a:cxn ang="0">
                  <a:pos x="2" y="30"/>
                </a:cxn>
                <a:cxn ang="0">
                  <a:pos x="4" y="31"/>
                </a:cxn>
                <a:cxn ang="0">
                  <a:pos x="11" y="65"/>
                </a:cxn>
                <a:cxn ang="0">
                  <a:pos x="32" y="126"/>
                </a:cxn>
                <a:cxn ang="0">
                  <a:pos x="52" y="65"/>
                </a:cxn>
                <a:cxn ang="0">
                  <a:pos x="77" y="0"/>
                </a:cxn>
                <a:cxn ang="0">
                  <a:pos x="102" y="65"/>
                </a:cxn>
                <a:cxn ang="0">
                  <a:pos x="122" y="126"/>
                </a:cxn>
                <a:cxn ang="0">
                  <a:pos x="127" y="126"/>
                </a:cxn>
                <a:cxn ang="0">
                  <a:pos x="148" y="65"/>
                </a:cxn>
                <a:cxn ang="0">
                  <a:pos x="155" y="32"/>
                </a:cxn>
                <a:cxn ang="0">
                  <a:pos x="157" y="31"/>
                </a:cxn>
                <a:cxn ang="0">
                  <a:pos x="159" y="33"/>
                </a:cxn>
                <a:cxn ang="0">
                  <a:pos x="152" y="65"/>
                </a:cxn>
                <a:cxn ang="0">
                  <a:pos x="127" y="130"/>
                </a:cxn>
              </a:cxnLst>
              <a:rect l="0" t="0" r="r" b="b"/>
              <a:pathLst>
                <a:path w="159" h="130">
                  <a:moveTo>
                    <a:pt x="127" y="130"/>
                  </a:moveTo>
                  <a:cubicBezTo>
                    <a:pt x="122" y="130"/>
                    <a:pt x="122" y="130"/>
                    <a:pt x="122" y="130"/>
                  </a:cubicBezTo>
                  <a:cubicBezTo>
                    <a:pt x="109" y="130"/>
                    <a:pt x="99" y="76"/>
                    <a:pt x="98" y="65"/>
                  </a:cubicBezTo>
                  <a:cubicBezTo>
                    <a:pt x="94" y="40"/>
                    <a:pt x="84" y="4"/>
                    <a:pt x="77" y="4"/>
                  </a:cubicBezTo>
                  <a:cubicBezTo>
                    <a:pt x="70" y="4"/>
                    <a:pt x="61" y="35"/>
                    <a:pt x="56" y="65"/>
                  </a:cubicBezTo>
                  <a:cubicBezTo>
                    <a:pt x="55" y="76"/>
                    <a:pt x="45" y="130"/>
                    <a:pt x="32" y="130"/>
                  </a:cubicBezTo>
                  <a:cubicBezTo>
                    <a:pt x="18" y="130"/>
                    <a:pt x="9" y="76"/>
                    <a:pt x="7" y="65"/>
                  </a:cubicBezTo>
                  <a:cubicBezTo>
                    <a:pt x="7" y="65"/>
                    <a:pt x="5" y="48"/>
                    <a:pt x="0" y="33"/>
                  </a:cubicBezTo>
                  <a:cubicBezTo>
                    <a:pt x="0" y="31"/>
                    <a:pt x="1" y="30"/>
                    <a:pt x="2" y="30"/>
                  </a:cubicBezTo>
                  <a:cubicBezTo>
                    <a:pt x="3" y="30"/>
                    <a:pt x="4" y="30"/>
                    <a:pt x="4" y="31"/>
                  </a:cubicBezTo>
                  <a:cubicBezTo>
                    <a:pt x="9" y="48"/>
                    <a:pt x="11" y="64"/>
                    <a:pt x="11" y="65"/>
                  </a:cubicBezTo>
                  <a:cubicBezTo>
                    <a:pt x="16" y="95"/>
                    <a:pt x="25" y="126"/>
                    <a:pt x="32" y="126"/>
                  </a:cubicBezTo>
                  <a:cubicBezTo>
                    <a:pt x="39" y="126"/>
                    <a:pt x="48" y="90"/>
                    <a:pt x="52" y="65"/>
                  </a:cubicBezTo>
                  <a:cubicBezTo>
                    <a:pt x="54" y="54"/>
                    <a:pt x="64" y="0"/>
                    <a:pt x="77" y="0"/>
                  </a:cubicBezTo>
                  <a:cubicBezTo>
                    <a:pt x="91" y="0"/>
                    <a:pt x="100" y="54"/>
                    <a:pt x="102" y="65"/>
                  </a:cubicBezTo>
                  <a:cubicBezTo>
                    <a:pt x="106" y="95"/>
                    <a:pt x="115" y="126"/>
                    <a:pt x="122" y="126"/>
                  </a:cubicBezTo>
                  <a:cubicBezTo>
                    <a:pt x="127" y="126"/>
                    <a:pt x="127" y="126"/>
                    <a:pt x="127" y="126"/>
                  </a:cubicBezTo>
                  <a:cubicBezTo>
                    <a:pt x="135" y="126"/>
                    <a:pt x="144" y="90"/>
                    <a:pt x="148" y="65"/>
                  </a:cubicBezTo>
                  <a:cubicBezTo>
                    <a:pt x="148" y="64"/>
                    <a:pt x="151" y="48"/>
                    <a:pt x="155" y="32"/>
                  </a:cubicBezTo>
                  <a:cubicBezTo>
                    <a:pt x="155" y="31"/>
                    <a:pt x="156" y="31"/>
                    <a:pt x="157" y="31"/>
                  </a:cubicBezTo>
                  <a:cubicBezTo>
                    <a:pt x="158" y="31"/>
                    <a:pt x="159" y="32"/>
                    <a:pt x="159" y="33"/>
                  </a:cubicBezTo>
                  <a:cubicBezTo>
                    <a:pt x="154" y="49"/>
                    <a:pt x="152" y="65"/>
                    <a:pt x="152" y="65"/>
                  </a:cubicBezTo>
                  <a:cubicBezTo>
                    <a:pt x="150" y="76"/>
                    <a:pt x="141" y="130"/>
                    <a:pt x="127" y="130"/>
                  </a:cubicBezTo>
                  <a:close/>
                </a:path>
              </a:pathLst>
            </a:custGeom>
            <a:grpFill/>
            <a:ln w="9525">
              <a:solidFill>
                <a:srgbClr val="FFFFFF"/>
              </a:solidFill>
              <a:round/>
              <a:headEnd/>
              <a:tailEnd/>
            </a:ln>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29" name="文本框 528"/>
          <p:cNvSpPr txBox="1"/>
          <p:nvPr/>
        </p:nvSpPr>
        <p:spPr>
          <a:xfrm>
            <a:off x="3762738" y="3333971"/>
            <a:ext cx="1412382" cy="400110"/>
          </a:xfrm>
          <a:prstGeom prst="rect">
            <a:avLst/>
          </a:prstGeom>
          <a:noFill/>
        </p:spPr>
        <p:txBody>
          <a:bodyPr wrap="square" rtlCol="0">
            <a:spAutoFit/>
          </a:bodyPr>
          <a:lstStyle/>
          <a:p>
            <a:pPr defTabSz="914478"/>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监控平台：应对业务高峰与低谷</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0" name="文本框 529"/>
          <p:cNvSpPr txBox="1"/>
          <p:nvPr/>
        </p:nvSpPr>
        <p:spPr>
          <a:xfrm>
            <a:off x="2815842" y="2516481"/>
            <a:ext cx="932713" cy="453457"/>
          </a:xfrm>
          <a:prstGeom prst="rect">
            <a:avLst/>
          </a:prstGeom>
          <a:noFill/>
        </p:spPr>
        <p:txBody>
          <a:bodyPr wrap="square" rtlCol="0">
            <a:spAutoFit/>
          </a:bodyPr>
          <a:lstStyle/>
          <a:p>
            <a:pPr defTabSz="914478">
              <a:lnSpc>
                <a:spcPts val="3440"/>
              </a:lnSpc>
            </a:pPr>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公网</a:t>
            </a:r>
            <a:r>
              <a:rPr lang="en-US" altLang="zh-CN"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1" name="椭圆 530"/>
          <p:cNvSpPr/>
          <p:nvPr/>
        </p:nvSpPr>
        <p:spPr>
          <a:xfrm>
            <a:off x="4860531" y="4338356"/>
            <a:ext cx="222676" cy="197450"/>
          </a:xfrm>
          <a:prstGeom prst="ellipse">
            <a:avLst/>
          </a:prstGeom>
          <a:solidFill>
            <a:srgbClr val="FFFFFF">
              <a:lumMod val="40000"/>
              <a:lumOff val="60000"/>
            </a:srgbClr>
          </a:solidFill>
          <a:ln w="25400" cap="flat" cmpd="sng" algn="ctr">
            <a:noFill/>
            <a:prstDash val="solid"/>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4</a:t>
            </a:r>
          </a:p>
        </p:txBody>
      </p:sp>
      <p:pic>
        <p:nvPicPr>
          <p:cNvPr id="532" name="图片 531"/>
          <p:cNvPicPr>
            <a:picLocks noChangeAspect="1"/>
          </p:cNvPicPr>
          <p:nvPr/>
        </p:nvPicPr>
        <p:blipFill>
          <a:blip r:embed="rId2"/>
          <a:stretch>
            <a:fillRect/>
          </a:stretch>
        </p:blipFill>
        <p:spPr>
          <a:xfrm>
            <a:off x="4347213" y="2649447"/>
            <a:ext cx="634938" cy="627961"/>
          </a:xfrm>
          <a:prstGeom prst="rect">
            <a:avLst/>
          </a:prstGeom>
        </p:spPr>
      </p:pic>
      <p:cxnSp>
        <p:nvCxnSpPr>
          <p:cNvPr id="533" name="直接箭头连接符 532"/>
          <p:cNvCxnSpPr>
            <a:endCxn id="454" idx="5"/>
          </p:cNvCxnSpPr>
          <p:nvPr/>
        </p:nvCxnSpPr>
        <p:spPr>
          <a:xfrm flipH="1">
            <a:off x="2976066" y="3192192"/>
            <a:ext cx="1607652" cy="867703"/>
          </a:xfrm>
          <a:prstGeom prst="straightConnector1">
            <a:avLst/>
          </a:prstGeom>
          <a:noFill/>
          <a:ln w="9525" cap="flat" cmpd="sng" algn="ctr">
            <a:solidFill>
              <a:srgbClr val="4276AA">
                <a:shade val="95000"/>
                <a:satMod val="105000"/>
              </a:srgbClr>
            </a:solidFill>
            <a:prstDash val="solid"/>
            <a:tailEnd type="triangle"/>
          </a:ln>
          <a:effectLst/>
        </p:spPr>
      </p:cxnSp>
      <p:cxnSp>
        <p:nvCxnSpPr>
          <p:cNvPr id="534" name="直接箭头连接符 533"/>
          <p:cNvCxnSpPr/>
          <p:nvPr/>
        </p:nvCxnSpPr>
        <p:spPr>
          <a:xfrm flipH="1">
            <a:off x="3465324" y="3176238"/>
            <a:ext cx="1071997" cy="961753"/>
          </a:xfrm>
          <a:prstGeom prst="straightConnector1">
            <a:avLst/>
          </a:prstGeom>
          <a:noFill/>
          <a:ln w="9525" cap="flat" cmpd="sng" algn="ctr">
            <a:solidFill>
              <a:srgbClr val="4276AA">
                <a:shade val="95000"/>
                <a:satMod val="105000"/>
              </a:srgbClr>
            </a:solidFill>
            <a:prstDash val="solid"/>
            <a:tailEnd type="triangle"/>
          </a:ln>
          <a:effectLst/>
        </p:spPr>
      </p:cxnSp>
      <p:cxnSp>
        <p:nvCxnSpPr>
          <p:cNvPr id="535" name="直接箭头连接符 534"/>
          <p:cNvCxnSpPr>
            <a:endCxn id="429" idx="14"/>
          </p:cNvCxnSpPr>
          <p:nvPr/>
        </p:nvCxnSpPr>
        <p:spPr>
          <a:xfrm flipH="1">
            <a:off x="4037120" y="3215836"/>
            <a:ext cx="474490" cy="877136"/>
          </a:xfrm>
          <a:prstGeom prst="straightConnector1">
            <a:avLst/>
          </a:prstGeom>
          <a:noFill/>
          <a:ln w="9525" cap="flat" cmpd="sng" algn="ctr">
            <a:solidFill>
              <a:srgbClr val="4276AA">
                <a:shade val="95000"/>
                <a:satMod val="105000"/>
              </a:srgbClr>
            </a:solidFill>
            <a:prstDash val="solid"/>
            <a:tailEnd type="triangle"/>
          </a:ln>
          <a:effectLst/>
        </p:spPr>
      </p:cxnSp>
      <p:cxnSp>
        <p:nvCxnSpPr>
          <p:cNvPr id="536" name="直接连接符 535"/>
          <p:cNvCxnSpPr/>
          <p:nvPr/>
        </p:nvCxnSpPr>
        <p:spPr>
          <a:xfrm>
            <a:off x="3320004" y="4489189"/>
            <a:ext cx="0" cy="278363"/>
          </a:xfrm>
          <a:prstGeom prst="line">
            <a:avLst/>
          </a:prstGeom>
          <a:noFill/>
          <a:ln w="9525" cap="flat" cmpd="sng" algn="ctr">
            <a:solidFill>
              <a:srgbClr val="FFFFFF">
                <a:lumMod val="50000"/>
              </a:srgbClr>
            </a:solidFill>
            <a:prstDash val="solid"/>
            <a:headEnd type="triangle" w="med" len="med"/>
            <a:tailEnd type="triangle" w="med" len="med"/>
          </a:ln>
          <a:effectLst/>
        </p:spPr>
      </p:cxnSp>
      <p:cxnSp>
        <p:nvCxnSpPr>
          <p:cNvPr id="537" name="直接连接符 536"/>
          <p:cNvCxnSpPr/>
          <p:nvPr/>
        </p:nvCxnSpPr>
        <p:spPr>
          <a:xfrm>
            <a:off x="3320004" y="5083424"/>
            <a:ext cx="0" cy="278363"/>
          </a:xfrm>
          <a:prstGeom prst="line">
            <a:avLst/>
          </a:prstGeom>
          <a:noFill/>
          <a:ln w="9525" cap="flat" cmpd="sng" algn="ctr">
            <a:solidFill>
              <a:srgbClr val="FFFFFF">
                <a:lumMod val="50000"/>
              </a:srgbClr>
            </a:solidFill>
            <a:prstDash val="solid"/>
            <a:headEnd type="triangle" w="med" len="med"/>
            <a:tailEnd type="triangle" w="med" len="med"/>
          </a:ln>
          <a:effectLst/>
        </p:spPr>
      </p:cxnSp>
      <p:grpSp>
        <p:nvGrpSpPr>
          <p:cNvPr id="142" name="组合 18401"/>
          <p:cNvGrpSpPr>
            <a:grpSpLocks noChangeAspect="1"/>
          </p:cNvGrpSpPr>
          <p:nvPr/>
        </p:nvGrpSpPr>
        <p:grpSpPr>
          <a:xfrm>
            <a:off x="3189736" y="4730492"/>
            <a:ext cx="312786" cy="384089"/>
            <a:chOff x="7499351" y="736601"/>
            <a:chExt cx="227013" cy="428625"/>
          </a:xfrm>
          <a:solidFill>
            <a:srgbClr val="666666"/>
          </a:solidFill>
        </p:grpSpPr>
        <p:sp>
          <p:nvSpPr>
            <p:cNvPr id="143"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5064">
                <a:defRPr/>
              </a:pPr>
              <a:endParaRPr lang="zh-CN" altLang="en-US" sz="4269">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47848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731838" y="1178805"/>
            <a:ext cx="5364162" cy="4763326"/>
            <a:chOff x="587793" y="1157348"/>
            <a:chExt cx="6156193" cy="4784678"/>
          </a:xfrm>
        </p:grpSpPr>
        <p:grpSp>
          <p:nvGrpSpPr>
            <p:cNvPr id="5" name="组合 4"/>
            <p:cNvGrpSpPr/>
            <p:nvPr/>
          </p:nvGrpSpPr>
          <p:grpSpPr>
            <a:xfrm>
              <a:off x="587793" y="1157348"/>
              <a:ext cx="4793384" cy="4752358"/>
              <a:chOff x="1884844" y="1337706"/>
              <a:chExt cx="5936623" cy="4897318"/>
            </a:xfrm>
          </p:grpSpPr>
          <p:sp>
            <p:nvSpPr>
              <p:cNvPr id="19" name="矩形 18"/>
              <p:cNvSpPr/>
              <p:nvPr/>
            </p:nvSpPr>
            <p:spPr>
              <a:xfrm>
                <a:off x="2785794" y="5220386"/>
                <a:ext cx="3690107" cy="318453"/>
              </a:xfrm>
              <a:prstGeom prst="rect">
                <a:avLst/>
              </a:prstGeom>
            </p:spPr>
            <p:txBody>
              <a:bodyPr wrap="none">
                <a:spAutoFit/>
              </a:bodyPr>
              <a:lstStyle/>
              <a:p>
                <a:pP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ECS                                               </a:t>
                </a:r>
                <a:r>
                  <a:rPr lang="en-US" altLang="zh-CN" sz="1399"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a:xfrm>
                <a:off x="4161645" y="4650857"/>
                <a:ext cx="863188" cy="595111"/>
                <a:chOff x="668338" y="1947863"/>
                <a:chExt cx="492125" cy="315912"/>
              </a:xfrm>
            </p:grpSpPr>
            <p:sp>
              <p:nvSpPr>
                <p:cNvPr id="67" name="Freeform 11"/>
                <p:cNvSpPr>
                  <a:spLocks noEditPoints="1"/>
                </p:cNvSpPr>
                <p:nvPr/>
              </p:nvSpPr>
              <p:spPr bwMode="auto">
                <a:xfrm>
                  <a:off x="747713" y="2101850"/>
                  <a:ext cx="336550" cy="84137"/>
                </a:xfrm>
                <a:custGeom>
                  <a:avLst/>
                  <a:gdLst>
                    <a:gd name="T0" fmla="*/ 0 w 90"/>
                    <a:gd name="T1" fmla="*/ 13 h 22"/>
                    <a:gd name="T2" fmla="*/ 9 w 90"/>
                    <a:gd name="T3" fmla="*/ 22 h 22"/>
                    <a:gd name="T4" fmla="*/ 81 w 90"/>
                    <a:gd name="T5" fmla="*/ 22 h 22"/>
                    <a:gd name="T6" fmla="*/ 90 w 90"/>
                    <a:gd name="T7" fmla="*/ 13 h 22"/>
                    <a:gd name="T8" fmla="*/ 90 w 90"/>
                    <a:gd name="T9" fmla="*/ 9 h 22"/>
                    <a:gd name="T10" fmla="*/ 81 w 90"/>
                    <a:gd name="T11" fmla="*/ 0 h 22"/>
                    <a:gd name="T12" fmla="*/ 9 w 90"/>
                    <a:gd name="T13" fmla="*/ 0 h 22"/>
                    <a:gd name="T14" fmla="*/ 0 w 90"/>
                    <a:gd name="T15" fmla="*/ 9 h 22"/>
                    <a:gd name="T16" fmla="*/ 0 w 90"/>
                    <a:gd name="T17" fmla="*/ 13 h 22"/>
                    <a:gd name="T18" fmla="*/ 5 w 90"/>
                    <a:gd name="T19" fmla="*/ 9 h 22"/>
                    <a:gd name="T20" fmla="*/ 9 w 90"/>
                    <a:gd name="T21" fmla="*/ 6 h 22"/>
                    <a:gd name="T22" fmla="*/ 81 w 90"/>
                    <a:gd name="T23" fmla="*/ 6 h 22"/>
                    <a:gd name="T24" fmla="*/ 85 w 90"/>
                    <a:gd name="T25" fmla="*/ 9 h 22"/>
                    <a:gd name="T26" fmla="*/ 85 w 90"/>
                    <a:gd name="T27" fmla="*/ 13 h 22"/>
                    <a:gd name="T28" fmla="*/ 81 w 90"/>
                    <a:gd name="T29" fmla="*/ 17 h 22"/>
                    <a:gd name="T30" fmla="*/ 9 w 90"/>
                    <a:gd name="T31" fmla="*/ 17 h 22"/>
                    <a:gd name="T32" fmla="*/ 5 w 90"/>
                    <a:gd name="T33" fmla="*/ 13 h 22"/>
                    <a:gd name="T34" fmla="*/ 5 w 90"/>
                    <a:gd name="T35"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22">
                      <a:moveTo>
                        <a:pt x="0" y="13"/>
                      </a:moveTo>
                      <a:cubicBezTo>
                        <a:pt x="0" y="18"/>
                        <a:pt x="4" y="22"/>
                        <a:pt x="9" y="22"/>
                      </a:cubicBezTo>
                      <a:cubicBezTo>
                        <a:pt x="81" y="22"/>
                        <a:pt x="81" y="22"/>
                        <a:pt x="81" y="22"/>
                      </a:cubicBezTo>
                      <a:cubicBezTo>
                        <a:pt x="86" y="22"/>
                        <a:pt x="90" y="18"/>
                        <a:pt x="90" y="13"/>
                      </a:cubicBezTo>
                      <a:cubicBezTo>
                        <a:pt x="90" y="9"/>
                        <a:pt x="90" y="9"/>
                        <a:pt x="90" y="9"/>
                      </a:cubicBezTo>
                      <a:cubicBezTo>
                        <a:pt x="90" y="4"/>
                        <a:pt x="86" y="0"/>
                        <a:pt x="81" y="0"/>
                      </a:cubicBezTo>
                      <a:cubicBezTo>
                        <a:pt x="9" y="0"/>
                        <a:pt x="9" y="0"/>
                        <a:pt x="9" y="0"/>
                      </a:cubicBezTo>
                      <a:cubicBezTo>
                        <a:pt x="4" y="0"/>
                        <a:pt x="0" y="4"/>
                        <a:pt x="0" y="9"/>
                      </a:cubicBezTo>
                      <a:lnTo>
                        <a:pt x="0" y="13"/>
                      </a:lnTo>
                      <a:close/>
                      <a:moveTo>
                        <a:pt x="5" y="9"/>
                      </a:moveTo>
                      <a:cubicBezTo>
                        <a:pt x="5" y="7"/>
                        <a:pt x="7" y="6"/>
                        <a:pt x="9" y="6"/>
                      </a:cubicBezTo>
                      <a:cubicBezTo>
                        <a:pt x="81" y="6"/>
                        <a:pt x="81" y="6"/>
                        <a:pt x="81" y="6"/>
                      </a:cubicBezTo>
                      <a:cubicBezTo>
                        <a:pt x="83" y="6"/>
                        <a:pt x="85" y="7"/>
                        <a:pt x="85" y="9"/>
                      </a:cubicBezTo>
                      <a:cubicBezTo>
                        <a:pt x="85" y="13"/>
                        <a:pt x="85" y="13"/>
                        <a:pt x="85" y="13"/>
                      </a:cubicBezTo>
                      <a:cubicBezTo>
                        <a:pt x="85" y="15"/>
                        <a:pt x="83" y="17"/>
                        <a:pt x="81" y="17"/>
                      </a:cubicBezTo>
                      <a:cubicBezTo>
                        <a:pt x="9" y="17"/>
                        <a:pt x="9" y="17"/>
                        <a:pt x="9" y="17"/>
                      </a:cubicBezTo>
                      <a:cubicBezTo>
                        <a:pt x="7" y="17"/>
                        <a:pt x="5" y="15"/>
                        <a:pt x="5" y="13"/>
                      </a:cubicBezTo>
                      <a:lnTo>
                        <a:pt x="5" y="9"/>
                      </a:ln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Oval 12"/>
                <p:cNvSpPr>
                  <a:spLocks noChangeArrowheads="1"/>
                </p:cNvSpPr>
                <p:nvPr/>
              </p:nvSpPr>
              <p:spPr bwMode="auto">
                <a:xfrm>
                  <a:off x="1001713" y="2128838"/>
                  <a:ext cx="30162" cy="30162"/>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13"/>
                <p:cNvSpPr>
                  <a:spLocks/>
                </p:cNvSpPr>
                <p:nvPr/>
              </p:nvSpPr>
              <p:spPr bwMode="auto">
                <a:xfrm>
                  <a:off x="747713" y="2205038"/>
                  <a:ext cx="336550" cy="23812"/>
                </a:xfrm>
                <a:custGeom>
                  <a:avLst/>
                  <a:gdLst>
                    <a:gd name="T0" fmla="*/ 3 w 90"/>
                    <a:gd name="T1" fmla="*/ 6 h 6"/>
                    <a:gd name="T2" fmla="*/ 87 w 90"/>
                    <a:gd name="T3" fmla="*/ 6 h 6"/>
                    <a:gd name="T4" fmla="*/ 90 w 90"/>
                    <a:gd name="T5" fmla="*/ 3 h 6"/>
                    <a:gd name="T6" fmla="*/ 87 w 90"/>
                    <a:gd name="T7" fmla="*/ 0 h 6"/>
                    <a:gd name="T8" fmla="*/ 3 w 90"/>
                    <a:gd name="T9" fmla="*/ 0 h 6"/>
                    <a:gd name="T10" fmla="*/ 0 w 90"/>
                    <a:gd name="T11" fmla="*/ 3 h 6"/>
                    <a:gd name="T12" fmla="*/ 3 w 9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0" h="6">
                      <a:moveTo>
                        <a:pt x="3" y="6"/>
                      </a:moveTo>
                      <a:cubicBezTo>
                        <a:pt x="87" y="6"/>
                        <a:pt x="87" y="6"/>
                        <a:pt x="87" y="6"/>
                      </a:cubicBezTo>
                      <a:cubicBezTo>
                        <a:pt x="89" y="6"/>
                        <a:pt x="90" y="4"/>
                        <a:pt x="90" y="3"/>
                      </a:cubicBezTo>
                      <a:cubicBezTo>
                        <a:pt x="90" y="1"/>
                        <a:pt x="89" y="0"/>
                        <a:pt x="87" y="0"/>
                      </a:cubicBezTo>
                      <a:cubicBezTo>
                        <a:pt x="3" y="0"/>
                        <a:pt x="3" y="0"/>
                        <a:pt x="3" y="0"/>
                      </a:cubicBezTo>
                      <a:cubicBezTo>
                        <a:pt x="1" y="0"/>
                        <a:pt x="0" y="1"/>
                        <a:pt x="0" y="3"/>
                      </a:cubicBezTo>
                      <a:cubicBezTo>
                        <a:pt x="0" y="4"/>
                        <a:pt x="1" y="6"/>
                        <a:pt x="3" y="6"/>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42"/>
                <p:cNvSpPr>
                  <a:spLocks noEditPoints="1"/>
                </p:cNvSpPr>
                <p:nvPr/>
              </p:nvSpPr>
              <p:spPr bwMode="auto">
                <a:xfrm>
                  <a:off x="668338" y="1947863"/>
                  <a:ext cx="492125" cy="315912"/>
                </a:xfrm>
                <a:custGeom>
                  <a:avLst/>
                  <a:gdLst>
                    <a:gd name="T0" fmla="*/ 101 w 131"/>
                    <a:gd name="T1" fmla="*/ 22 h 82"/>
                    <a:gd name="T2" fmla="*/ 99 w 131"/>
                    <a:gd name="T3" fmla="*/ 22 h 82"/>
                    <a:gd name="T4" fmla="*/ 63 w 131"/>
                    <a:gd name="T5" fmla="*/ 0 h 82"/>
                    <a:gd name="T6" fmla="*/ 23 w 131"/>
                    <a:gd name="T7" fmla="*/ 33 h 82"/>
                    <a:gd name="T8" fmla="*/ 0 w 131"/>
                    <a:gd name="T9" fmla="*/ 58 h 82"/>
                    <a:gd name="T10" fmla="*/ 25 w 131"/>
                    <a:gd name="T11" fmla="*/ 82 h 82"/>
                    <a:gd name="T12" fmla="*/ 101 w 131"/>
                    <a:gd name="T13" fmla="*/ 82 h 82"/>
                    <a:gd name="T14" fmla="*/ 131 w 131"/>
                    <a:gd name="T15" fmla="*/ 52 h 82"/>
                    <a:gd name="T16" fmla="*/ 101 w 131"/>
                    <a:gd name="T17" fmla="*/ 22 h 82"/>
                    <a:gd name="T18" fmla="*/ 101 w 131"/>
                    <a:gd name="T19" fmla="*/ 77 h 82"/>
                    <a:gd name="T20" fmla="*/ 25 w 131"/>
                    <a:gd name="T21" fmla="*/ 77 h 82"/>
                    <a:gd name="T22" fmla="*/ 6 w 131"/>
                    <a:gd name="T23" fmla="*/ 58 h 82"/>
                    <a:gd name="T24" fmla="*/ 25 w 131"/>
                    <a:gd name="T25" fmla="*/ 38 h 82"/>
                    <a:gd name="T26" fmla="*/ 28 w 131"/>
                    <a:gd name="T27" fmla="*/ 39 h 82"/>
                    <a:gd name="T28" fmla="*/ 28 w 131"/>
                    <a:gd name="T29" fmla="*/ 37 h 82"/>
                    <a:gd name="T30" fmla="*/ 29 w 131"/>
                    <a:gd name="T31" fmla="*/ 33 h 82"/>
                    <a:gd name="T32" fmla="*/ 29 w 131"/>
                    <a:gd name="T33" fmla="*/ 33 h 82"/>
                    <a:gd name="T34" fmla="*/ 29 w 131"/>
                    <a:gd name="T35" fmla="*/ 32 h 82"/>
                    <a:gd name="T36" fmla="*/ 29 w 131"/>
                    <a:gd name="T37" fmla="*/ 32 h 82"/>
                    <a:gd name="T38" fmla="*/ 63 w 131"/>
                    <a:gd name="T39" fmla="*/ 6 h 82"/>
                    <a:gd name="T40" fmla="*/ 94 w 131"/>
                    <a:gd name="T41" fmla="*/ 23 h 82"/>
                    <a:gd name="T42" fmla="*/ 83 w 131"/>
                    <a:gd name="T43" fmla="*/ 28 h 82"/>
                    <a:gd name="T44" fmla="*/ 83 w 131"/>
                    <a:gd name="T45" fmla="*/ 32 h 82"/>
                    <a:gd name="T46" fmla="*/ 87 w 131"/>
                    <a:gd name="T47" fmla="*/ 32 h 82"/>
                    <a:gd name="T48" fmla="*/ 98 w 131"/>
                    <a:gd name="T49" fmla="*/ 28 h 82"/>
                    <a:gd name="T50" fmla="*/ 101 w 131"/>
                    <a:gd name="T51" fmla="*/ 28 h 82"/>
                    <a:gd name="T52" fmla="*/ 126 w 131"/>
                    <a:gd name="T53" fmla="*/ 52 h 82"/>
                    <a:gd name="T54" fmla="*/ 101 w 131"/>
                    <a:gd name="T55" fmla="*/ 7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82">
                      <a:moveTo>
                        <a:pt x="101" y="22"/>
                      </a:moveTo>
                      <a:cubicBezTo>
                        <a:pt x="101" y="22"/>
                        <a:pt x="100" y="22"/>
                        <a:pt x="99" y="22"/>
                      </a:cubicBezTo>
                      <a:cubicBezTo>
                        <a:pt x="92" y="9"/>
                        <a:pt x="78" y="0"/>
                        <a:pt x="63" y="0"/>
                      </a:cubicBezTo>
                      <a:cubicBezTo>
                        <a:pt x="44" y="0"/>
                        <a:pt x="27" y="14"/>
                        <a:pt x="23" y="33"/>
                      </a:cubicBezTo>
                      <a:cubicBezTo>
                        <a:pt x="11" y="34"/>
                        <a:pt x="0" y="45"/>
                        <a:pt x="0" y="58"/>
                      </a:cubicBezTo>
                      <a:cubicBezTo>
                        <a:pt x="0" y="71"/>
                        <a:pt x="12" y="82"/>
                        <a:pt x="25" y="82"/>
                      </a:cubicBezTo>
                      <a:cubicBezTo>
                        <a:pt x="101" y="82"/>
                        <a:pt x="101" y="82"/>
                        <a:pt x="101" y="82"/>
                      </a:cubicBezTo>
                      <a:cubicBezTo>
                        <a:pt x="118" y="82"/>
                        <a:pt x="131" y="69"/>
                        <a:pt x="131" y="52"/>
                      </a:cubicBezTo>
                      <a:cubicBezTo>
                        <a:pt x="131" y="36"/>
                        <a:pt x="118" y="22"/>
                        <a:pt x="101" y="22"/>
                      </a:cubicBezTo>
                      <a:close/>
                      <a:moveTo>
                        <a:pt x="101" y="77"/>
                      </a:moveTo>
                      <a:cubicBezTo>
                        <a:pt x="25" y="77"/>
                        <a:pt x="25" y="77"/>
                        <a:pt x="25" y="77"/>
                      </a:cubicBezTo>
                      <a:cubicBezTo>
                        <a:pt x="15" y="77"/>
                        <a:pt x="6" y="68"/>
                        <a:pt x="6" y="58"/>
                      </a:cubicBezTo>
                      <a:cubicBezTo>
                        <a:pt x="6" y="47"/>
                        <a:pt x="15" y="38"/>
                        <a:pt x="25" y="38"/>
                      </a:cubicBezTo>
                      <a:cubicBezTo>
                        <a:pt x="26" y="38"/>
                        <a:pt x="27" y="39"/>
                        <a:pt x="28" y="39"/>
                      </a:cubicBezTo>
                      <a:cubicBezTo>
                        <a:pt x="28" y="38"/>
                        <a:pt x="28" y="38"/>
                        <a:pt x="28" y="37"/>
                      </a:cubicBezTo>
                      <a:cubicBezTo>
                        <a:pt x="28" y="36"/>
                        <a:pt x="28" y="35"/>
                        <a:pt x="29" y="33"/>
                      </a:cubicBezTo>
                      <a:cubicBezTo>
                        <a:pt x="29" y="33"/>
                        <a:pt x="29" y="33"/>
                        <a:pt x="29" y="33"/>
                      </a:cubicBezTo>
                      <a:cubicBezTo>
                        <a:pt x="29" y="33"/>
                        <a:pt x="29" y="33"/>
                        <a:pt x="29" y="32"/>
                      </a:cubicBezTo>
                      <a:cubicBezTo>
                        <a:pt x="29" y="32"/>
                        <a:pt x="29" y="32"/>
                        <a:pt x="29" y="32"/>
                      </a:cubicBezTo>
                      <a:cubicBezTo>
                        <a:pt x="34" y="17"/>
                        <a:pt x="47" y="6"/>
                        <a:pt x="63" y="6"/>
                      </a:cubicBezTo>
                      <a:cubicBezTo>
                        <a:pt x="76" y="6"/>
                        <a:pt x="87" y="13"/>
                        <a:pt x="94" y="23"/>
                      </a:cubicBezTo>
                      <a:cubicBezTo>
                        <a:pt x="90" y="24"/>
                        <a:pt x="86" y="26"/>
                        <a:pt x="83" y="28"/>
                      </a:cubicBezTo>
                      <a:cubicBezTo>
                        <a:pt x="82" y="29"/>
                        <a:pt x="82" y="31"/>
                        <a:pt x="83" y="32"/>
                      </a:cubicBezTo>
                      <a:cubicBezTo>
                        <a:pt x="84" y="33"/>
                        <a:pt x="85" y="33"/>
                        <a:pt x="87" y="32"/>
                      </a:cubicBezTo>
                      <a:cubicBezTo>
                        <a:pt x="90" y="30"/>
                        <a:pt x="94" y="28"/>
                        <a:pt x="98" y="28"/>
                      </a:cubicBezTo>
                      <a:cubicBezTo>
                        <a:pt x="99" y="28"/>
                        <a:pt x="100" y="28"/>
                        <a:pt x="101" y="28"/>
                      </a:cubicBezTo>
                      <a:cubicBezTo>
                        <a:pt x="115" y="28"/>
                        <a:pt x="126" y="39"/>
                        <a:pt x="126" y="52"/>
                      </a:cubicBezTo>
                      <a:cubicBezTo>
                        <a:pt x="126" y="66"/>
                        <a:pt x="115" y="77"/>
                        <a:pt x="101" y="77"/>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 name="组合 6"/>
              <p:cNvGrpSpPr/>
              <p:nvPr/>
            </p:nvGrpSpPr>
            <p:grpSpPr>
              <a:xfrm>
                <a:off x="2704662" y="4685121"/>
                <a:ext cx="877192" cy="547228"/>
                <a:chOff x="668338" y="1947863"/>
                <a:chExt cx="492125" cy="315912"/>
              </a:xfrm>
            </p:grpSpPr>
            <p:sp>
              <p:nvSpPr>
                <p:cNvPr id="63" name="Freeform 11"/>
                <p:cNvSpPr>
                  <a:spLocks noEditPoints="1"/>
                </p:cNvSpPr>
                <p:nvPr/>
              </p:nvSpPr>
              <p:spPr bwMode="auto">
                <a:xfrm>
                  <a:off x="747713" y="2101850"/>
                  <a:ext cx="336550" cy="84137"/>
                </a:xfrm>
                <a:custGeom>
                  <a:avLst/>
                  <a:gdLst>
                    <a:gd name="T0" fmla="*/ 0 w 90"/>
                    <a:gd name="T1" fmla="*/ 13 h 22"/>
                    <a:gd name="T2" fmla="*/ 9 w 90"/>
                    <a:gd name="T3" fmla="*/ 22 h 22"/>
                    <a:gd name="T4" fmla="*/ 81 w 90"/>
                    <a:gd name="T5" fmla="*/ 22 h 22"/>
                    <a:gd name="T6" fmla="*/ 90 w 90"/>
                    <a:gd name="T7" fmla="*/ 13 h 22"/>
                    <a:gd name="T8" fmla="*/ 90 w 90"/>
                    <a:gd name="T9" fmla="*/ 9 h 22"/>
                    <a:gd name="T10" fmla="*/ 81 w 90"/>
                    <a:gd name="T11" fmla="*/ 0 h 22"/>
                    <a:gd name="T12" fmla="*/ 9 w 90"/>
                    <a:gd name="T13" fmla="*/ 0 h 22"/>
                    <a:gd name="T14" fmla="*/ 0 w 90"/>
                    <a:gd name="T15" fmla="*/ 9 h 22"/>
                    <a:gd name="T16" fmla="*/ 0 w 90"/>
                    <a:gd name="T17" fmla="*/ 13 h 22"/>
                    <a:gd name="T18" fmla="*/ 5 w 90"/>
                    <a:gd name="T19" fmla="*/ 9 h 22"/>
                    <a:gd name="T20" fmla="*/ 9 w 90"/>
                    <a:gd name="T21" fmla="*/ 6 h 22"/>
                    <a:gd name="T22" fmla="*/ 81 w 90"/>
                    <a:gd name="T23" fmla="*/ 6 h 22"/>
                    <a:gd name="T24" fmla="*/ 85 w 90"/>
                    <a:gd name="T25" fmla="*/ 9 h 22"/>
                    <a:gd name="T26" fmla="*/ 85 w 90"/>
                    <a:gd name="T27" fmla="*/ 13 h 22"/>
                    <a:gd name="T28" fmla="*/ 81 w 90"/>
                    <a:gd name="T29" fmla="*/ 17 h 22"/>
                    <a:gd name="T30" fmla="*/ 9 w 90"/>
                    <a:gd name="T31" fmla="*/ 17 h 22"/>
                    <a:gd name="T32" fmla="*/ 5 w 90"/>
                    <a:gd name="T33" fmla="*/ 13 h 22"/>
                    <a:gd name="T34" fmla="*/ 5 w 90"/>
                    <a:gd name="T35"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22">
                      <a:moveTo>
                        <a:pt x="0" y="13"/>
                      </a:moveTo>
                      <a:cubicBezTo>
                        <a:pt x="0" y="18"/>
                        <a:pt x="4" y="22"/>
                        <a:pt x="9" y="22"/>
                      </a:cubicBezTo>
                      <a:cubicBezTo>
                        <a:pt x="81" y="22"/>
                        <a:pt x="81" y="22"/>
                        <a:pt x="81" y="22"/>
                      </a:cubicBezTo>
                      <a:cubicBezTo>
                        <a:pt x="86" y="22"/>
                        <a:pt x="90" y="18"/>
                        <a:pt x="90" y="13"/>
                      </a:cubicBezTo>
                      <a:cubicBezTo>
                        <a:pt x="90" y="9"/>
                        <a:pt x="90" y="9"/>
                        <a:pt x="90" y="9"/>
                      </a:cubicBezTo>
                      <a:cubicBezTo>
                        <a:pt x="90" y="4"/>
                        <a:pt x="86" y="0"/>
                        <a:pt x="81" y="0"/>
                      </a:cubicBezTo>
                      <a:cubicBezTo>
                        <a:pt x="9" y="0"/>
                        <a:pt x="9" y="0"/>
                        <a:pt x="9" y="0"/>
                      </a:cubicBezTo>
                      <a:cubicBezTo>
                        <a:pt x="4" y="0"/>
                        <a:pt x="0" y="4"/>
                        <a:pt x="0" y="9"/>
                      </a:cubicBezTo>
                      <a:lnTo>
                        <a:pt x="0" y="13"/>
                      </a:lnTo>
                      <a:close/>
                      <a:moveTo>
                        <a:pt x="5" y="9"/>
                      </a:moveTo>
                      <a:cubicBezTo>
                        <a:pt x="5" y="7"/>
                        <a:pt x="7" y="6"/>
                        <a:pt x="9" y="6"/>
                      </a:cubicBezTo>
                      <a:cubicBezTo>
                        <a:pt x="81" y="6"/>
                        <a:pt x="81" y="6"/>
                        <a:pt x="81" y="6"/>
                      </a:cubicBezTo>
                      <a:cubicBezTo>
                        <a:pt x="83" y="6"/>
                        <a:pt x="85" y="7"/>
                        <a:pt x="85" y="9"/>
                      </a:cubicBezTo>
                      <a:cubicBezTo>
                        <a:pt x="85" y="13"/>
                        <a:pt x="85" y="13"/>
                        <a:pt x="85" y="13"/>
                      </a:cubicBezTo>
                      <a:cubicBezTo>
                        <a:pt x="85" y="15"/>
                        <a:pt x="83" y="17"/>
                        <a:pt x="81" y="17"/>
                      </a:cubicBezTo>
                      <a:cubicBezTo>
                        <a:pt x="9" y="17"/>
                        <a:pt x="9" y="17"/>
                        <a:pt x="9" y="17"/>
                      </a:cubicBezTo>
                      <a:cubicBezTo>
                        <a:pt x="7" y="17"/>
                        <a:pt x="5" y="15"/>
                        <a:pt x="5" y="13"/>
                      </a:cubicBezTo>
                      <a:lnTo>
                        <a:pt x="5" y="9"/>
                      </a:ln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12"/>
                <p:cNvSpPr>
                  <a:spLocks noChangeArrowheads="1"/>
                </p:cNvSpPr>
                <p:nvPr/>
              </p:nvSpPr>
              <p:spPr bwMode="auto">
                <a:xfrm>
                  <a:off x="1001713" y="2128838"/>
                  <a:ext cx="30162" cy="30162"/>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13"/>
                <p:cNvSpPr>
                  <a:spLocks/>
                </p:cNvSpPr>
                <p:nvPr/>
              </p:nvSpPr>
              <p:spPr bwMode="auto">
                <a:xfrm>
                  <a:off x="747713" y="2205038"/>
                  <a:ext cx="336550" cy="23812"/>
                </a:xfrm>
                <a:custGeom>
                  <a:avLst/>
                  <a:gdLst>
                    <a:gd name="T0" fmla="*/ 3 w 90"/>
                    <a:gd name="T1" fmla="*/ 6 h 6"/>
                    <a:gd name="T2" fmla="*/ 87 w 90"/>
                    <a:gd name="T3" fmla="*/ 6 h 6"/>
                    <a:gd name="T4" fmla="*/ 90 w 90"/>
                    <a:gd name="T5" fmla="*/ 3 h 6"/>
                    <a:gd name="T6" fmla="*/ 87 w 90"/>
                    <a:gd name="T7" fmla="*/ 0 h 6"/>
                    <a:gd name="T8" fmla="*/ 3 w 90"/>
                    <a:gd name="T9" fmla="*/ 0 h 6"/>
                    <a:gd name="T10" fmla="*/ 0 w 90"/>
                    <a:gd name="T11" fmla="*/ 3 h 6"/>
                    <a:gd name="T12" fmla="*/ 3 w 9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0" h="6">
                      <a:moveTo>
                        <a:pt x="3" y="6"/>
                      </a:moveTo>
                      <a:cubicBezTo>
                        <a:pt x="87" y="6"/>
                        <a:pt x="87" y="6"/>
                        <a:pt x="87" y="6"/>
                      </a:cubicBezTo>
                      <a:cubicBezTo>
                        <a:pt x="89" y="6"/>
                        <a:pt x="90" y="4"/>
                        <a:pt x="90" y="3"/>
                      </a:cubicBezTo>
                      <a:cubicBezTo>
                        <a:pt x="90" y="1"/>
                        <a:pt x="89" y="0"/>
                        <a:pt x="87" y="0"/>
                      </a:cubicBezTo>
                      <a:cubicBezTo>
                        <a:pt x="3" y="0"/>
                        <a:pt x="3" y="0"/>
                        <a:pt x="3" y="0"/>
                      </a:cubicBezTo>
                      <a:cubicBezTo>
                        <a:pt x="1" y="0"/>
                        <a:pt x="0" y="1"/>
                        <a:pt x="0" y="3"/>
                      </a:cubicBezTo>
                      <a:cubicBezTo>
                        <a:pt x="0" y="4"/>
                        <a:pt x="1" y="6"/>
                        <a:pt x="3" y="6"/>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42"/>
                <p:cNvSpPr>
                  <a:spLocks noEditPoints="1"/>
                </p:cNvSpPr>
                <p:nvPr/>
              </p:nvSpPr>
              <p:spPr bwMode="auto">
                <a:xfrm>
                  <a:off x="668338" y="1947863"/>
                  <a:ext cx="492125" cy="315912"/>
                </a:xfrm>
                <a:custGeom>
                  <a:avLst/>
                  <a:gdLst>
                    <a:gd name="T0" fmla="*/ 101 w 131"/>
                    <a:gd name="T1" fmla="*/ 22 h 82"/>
                    <a:gd name="T2" fmla="*/ 99 w 131"/>
                    <a:gd name="T3" fmla="*/ 22 h 82"/>
                    <a:gd name="T4" fmla="*/ 63 w 131"/>
                    <a:gd name="T5" fmla="*/ 0 h 82"/>
                    <a:gd name="T6" fmla="*/ 23 w 131"/>
                    <a:gd name="T7" fmla="*/ 33 h 82"/>
                    <a:gd name="T8" fmla="*/ 0 w 131"/>
                    <a:gd name="T9" fmla="*/ 58 h 82"/>
                    <a:gd name="T10" fmla="*/ 25 w 131"/>
                    <a:gd name="T11" fmla="*/ 82 h 82"/>
                    <a:gd name="T12" fmla="*/ 101 w 131"/>
                    <a:gd name="T13" fmla="*/ 82 h 82"/>
                    <a:gd name="T14" fmla="*/ 131 w 131"/>
                    <a:gd name="T15" fmla="*/ 52 h 82"/>
                    <a:gd name="T16" fmla="*/ 101 w 131"/>
                    <a:gd name="T17" fmla="*/ 22 h 82"/>
                    <a:gd name="T18" fmla="*/ 101 w 131"/>
                    <a:gd name="T19" fmla="*/ 77 h 82"/>
                    <a:gd name="T20" fmla="*/ 25 w 131"/>
                    <a:gd name="T21" fmla="*/ 77 h 82"/>
                    <a:gd name="T22" fmla="*/ 6 w 131"/>
                    <a:gd name="T23" fmla="*/ 58 h 82"/>
                    <a:gd name="T24" fmla="*/ 25 w 131"/>
                    <a:gd name="T25" fmla="*/ 38 h 82"/>
                    <a:gd name="T26" fmla="*/ 28 w 131"/>
                    <a:gd name="T27" fmla="*/ 39 h 82"/>
                    <a:gd name="T28" fmla="*/ 28 w 131"/>
                    <a:gd name="T29" fmla="*/ 37 h 82"/>
                    <a:gd name="T30" fmla="*/ 29 w 131"/>
                    <a:gd name="T31" fmla="*/ 33 h 82"/>
                    <a:gd name="T32" fmla="*/ 29 w 131"/>
                    <a:gd name="T33" fmla="*/ 33 h 82"/>
                    <a:gd name="T34" fmla="*/ 29 w 131"/>
                    <a:gd name="T35" fmla="*/ 32 h 82"/>
                    <a:gd name="T36" fmla="*/ 29 w 131"/>
                    <a:gd name="T37" fmla="*/ 32 h 82"/>
                    <a:gd name="T38" fmla="*/ 63 w 131"/>
                    <a:gd name="T39" fmla="*/ 6 h 82"/>
                    <a:gd name="T40" fmla="*/ 94 w 131"/>
                    <a:gd name="T41" fmla="*/ 23 h 82"/>
                    <a:gd name="T42" fmla="*/ 83 w 131"/>
                    <a:gd name="T43" fmla="*/ 28 h 82"/>
                    <a:gd name="T44" fmla="*/ 83 w 131"/>
                    <a:gd name="T45" fmla="*/ 32 h 82"/>
                    <a:gd name="T46" fmla="*/ 87 w 131"/>
                    <a:gd name="T47" fmla="*/ 32 h 82"/>
                    <a:gd name="T48" fmla="*/ 98 w 131"/>
                    <a:gd name="T49" fmla="*/ 28 h 82"/>
                    <a:gd name="T50" fmla="*/ 101 w 131"/>
                    <a:gd name="T51" fmla="*/ 28 h 82"/>
                    <a:gd name="T52" fmla="*/ 126 w 131"/>
                    <a:gd name="T53" fmla="*/ 52 h 82"/>
                    <a:gd name="T54" fmla="*/ 101 w 131"/>
                    <a:gd name="T55" fmla="*/ 7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82">
                      <a:moveTo>
                        <a:pt x="101" y="22"/>
                      </a:moveTo>
                      <a:cubicBezTo>
                        <a:pt x="101" y="22"/>
                        <a:pt x="100" y="22"/>
                        <a:pt x="99" y="22"/>
                      </a:cubicBezTo>
                      <a:cubicBezTo>
                        <a:pt x="92" y="9"/>
                        <a:pt x="78" y="0"/>
                        <a:pt x="63" y="0"/>
                      </a:cubicBezTo>
                      <a:cubicBezTo>
                        <a:pt x="44" y="0"/>
                        <a:pt x="27" y="14"/>
                        <a:pt x="23" y="33"/>
                      </a:cubicBezTo>
                      <a:cubicBezTo>
                        <a:pt x="11" y="34"/>
                        <a:pt x="0" y="45"/>
                        <a:pt x="0" y="58"/>
                      </a:cubicBezTo>
                      <a:cubicBezTo>
                        <a:pt x="0" y="71"/>
                        <a:pt x="12" y="82"/>
                        <a:pt x="25" y="82"/>
                      </a:cubicBezTo>
                      <a:cubicBezTo>
                        <a:pt x="101" y="82"/>
                        <a:pt x="101" y="82"/>
                        <a:pt x="101" y="82"/>
                      </a:cubicBezTo>
                      <a:cubicBezTo>
                        <a:pt x="118" y="82"/>
                        <a:pt x="131" y="69"/>
                        <a:pt x="131" y="52"/>
                      </a:cubicBezTo>
                      <a:cubicBezTo>
                        <a:pt x="131" y="36"/>
                        <a:pt x="118" y="22"/>
                        <a:pt x="101" y="22"/>
                      </a:cubicBezTo>
                      <a:close/>
                      <a:moveTo>
                        <a:pt x="101" y="77"/>
                      </a:moveTo>
                      <a:cubicBezTo>
                        <a:pt x="25" y="77"/>
                        <a:pt x="25" y="77"/>
                        <a:pt x="25" y="77"/>
                      </a:cubicBezTo>
                      <a:cubicBezTo>
                        <a:pt x="15" y="77"/>
                        <a:pt x="6" y="68"/>
                        <a:pt x="6" y="58"/>
                      </a:cubicBezTo>
                      <a:cubicBezTo>
                        <a:pt x="6" y="47"/>
                        <a:pt x="15" y="38"/>
                        <a:pt x="25" y="38"/>
                      </a:cubicBezTo>
                      <a:cubicBezTo>
                        <a:pt x="26" y="38"/>
                        <a:pt x="27" y="39"/>
                        <a:pt x="28" y="39"/>
                      </a:cubicBezTo>
                      <a:cubicBezTo>
                        <a:pt x="28" y="38"/>
                        <a:pt x="28" y="38"/>
                        <a:pt x="28" y="37"/>
                      </a:cubicBezTo>
                      <a:cubicBezTo>
                        <a:pt x="28" y="36"/>
                        <a:pt x="28" y="35"/>
                        <a:pt x="29" y="33"/>
                      </a:cubicBezTo>
                      <a:cubicBezTo>
                        <a:pt x="29" y="33"/>
                        <a:pt x="29" y="33"/>
                        <a:pt x="29" y="33"/>
                      </a:cubicBezTo>
                      <a:cubicBezTo>
                        <a:pt x="29" y="33"/>
                        <a:pt x="29" y="33"/>
                        <a:pt x="29" y="32"/>
                      </a:cubicBezTo>
                      <a:cubicBezTo>
                        <a:pt x="29" y="32"/>
                        <a:pt x="29" y="32"/>
                        <a:pt x="29" y="32"/>
                      </a:cubicBezTo>
                      <a:cubicBezTo>
                        <a:pt x="34" y="17"/>
                        <a:pt x="47" y="6"/>
                        <a:pt x="63" y="6"/>
                      </a:cubicBezTo>
                      <a:cubicBezTo>
                        <a:pt x="76" y="6"/>
                        <a:pt x="87" y="13"/>
                        <a:pt x="94" y="23"/>
                      </a:cubicBezTo>
                      <a:cubicBezTo>
                        <a:pt x="90" y="24"/>
                        <a:pt x="86" y="26"/>
                        <a:pt x="83" y="28"/>
                      </a:cubicBezTo>
                      <a:cubicBezTo>
                        <a:pt x="82" y="29"/>
                        <a:pt x="82" y="31"/>
                        <a:pt x="83" y="32"/>
                      </a:cubicBezTo>
                      <a:cubicBezTo>
                        <a:pt x="84" y="33"/>
                        <a:pt x="85" y="33"/>
                        <a:pt x="87" y="32"/>
                      </a:cubicBezTo>
                      <a:cubicBezTo>
                        <a:pt x="90" y="30"/>
                        <a:pt x="94" y="28"/>
                        <a:pt x="98" y="28"/>
                      </a:cubicBezTo>
                      <a:cubicBezTo>
                        <a:pt x="99" y="28"/>
                        <a:pt x="100" y="28"/>
                        <a:pt x="101" y="28"/>
                      </a:cubicBezTo>
                      <a:cubicBezTo>
                        <a:pt x="115" y="28"/>
                        <a:pt x="126" y="39"/>
                        <a:pt x="126" y="52"/>
                      </a:cubicBezTo>
                      <a:cubicBezTo>
                        <a:pt x="126" y="66"/>
                        <a:pt x="115" y="77"/>
                        <a:pt x="101" y="77"/>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 name="圆角矩形 8"/>
              <p:cNvSpPr/>
              <p:nvPr/>
            </p:nvSpPr>
            <p:spPr>
              <a:xfrm>
                <a:off x="2424212" y="4448153"/>
                <a:ext cx="4744989" cy="12452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12"/>
                <a:endParaRPr 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 name="组合 9"/>
              <p:cNvGrpSpPr/>
              <p:nvPr/>
            </p:nvGrpSpPr>
            <p:grpSpPr>
              <a:xfrm>
                <a:off x="4228402" y="5532886"/>
                <a:ext cx="1010163" cy="346161"/>
                <a:chOff x="3160713" y="1951038"/>
                <a:chExt cx="423862" cy="307975"/>
              </a:xfrm>
            </p:grpSpPr>
            <p:sp>
              <p:nvSpPr>
                <p:cNvPr id="59" name="Freeform 20"/>
                <p:cNvSpPr>
                  <a:spLocks/>
                </p:cNvSpPr>
                <p:nvPr/>
              </p:nvSpPr>
              <p:spPr bwMode="auto">
                <a:xfrm>
                  <a:off x="3190875" y="1951038"/>
                  <a:ext cx="355600" cy="307975"/>
                </a:xfrm>
                <a:custGeom>
                  <a:avLst/>
                  <a:gdLst>
                    <a:gd name="T0" fmla="*/ 74 w 95"/>
                    <a:gd name="T1" fmla="*/ 80 h 80"/>
                    <a:gd name="T2" fmla="*/ 59 w 95"/>
                    <a:gd name="T3" fmla="*/ 41 h 80"/>
                    <a:gd name="T4" fmla="*/ 47 w 95"/>
                    <a:gd name="T5" fmla="*/ 4 h 80"/>
                    <a:gd name="T6" fmla="*/ 36 w 95"/>
                    <a:gd name="T7" fmla="*/ 41 h 80"/>
                    <a:gd name="T8" fmla="*/ 20 w 95"/>
                    <a:gd name="T9" fmla="*/ 80 h 80"/>
                    <a:gd name="T10" fmla="*/ 4 w 95"/>
                    <a:gd name="T11" fmla="*/ 41 h 80"/>
                    <a:gd name="T12" fmla="*/ 0 w 95"/>
                    <a:gd name="T13" fmla="*/ 21 h 80"/>
                    <a:gd name="T14" fmla="*/ 2 w 95"/>
                    <a:gd name="T15" fmla="*/ 18 h 80"/>
                    <a:gd name="T16" fmla="*/ 4 w 95"/>
                    <a:gd name="T17" fmla="*/ 20 h 80"/>
                    <a:gd name="T18" fmla="*/ 8 w 95"/>
                    <a:gd name="T19" fmla="*/ 40 h 80"/>
                    <a:gd name="T20" fmla="*/ 20 w 95"/>
                    <a:gd name="T21" fmla="*/ 76 h 80"/>
                    <a:gd name="T22" fmla="*/ 31 w 95"/>
                    <a:gd name="T23" fmla="*/ 40 h 80"/>
                    <a:gd name="T24" fmla="*/ 47 w 95"/>
                    <a:gd name="T25" fmla="*/ 0 h 80"/>
                    <a:gd name="T26" fmla="*/ 63 w 95"/>
                    <a:gd name="T27" fmla="*/ 40 h 80"/>
                    <a:gd name="T28" fmla="*/ 74 w 95"/>
                    <a:gd name="T29" fmla="*/ 76 h 80"/>
                    <a:gd name="T30" fmla="*/ 86 w 95"/>
                    <a:gd name="T31" fmla="*/ 40 h 80"/>
                    <a:gd name="T32" fmla="*/ 90 w 95"/>
                    <a:gd name="T33" fmla="*/ 20 h 80"/>
                    <a:gd name="T34" fmla="*/ 93 w 95"/>
                    <a:gd name="T35" fmla="*/ 19 h 80"/>
                    <a:gd name="T36" fmla="*/ 94 w 95"/>
                    <a:gd name="T37" fmla="*/ 21 h 80"/>
                    <a:gd name="T38" fmla="*/ 90 w 95"/>
                    <a:gd name="T39" fmla="*/ 41 h 80"/>
                    <a:gd name="T40" fmla="*/ 74 w 95"/>
                    <a:gd name="T4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5" h="80">
                      <a:moveTo>
                        <a:pt x="74" y="80"/>
                      </a:moveTo>
                      <a:cubicBezTo>
                        <a:pt x="66" y="80"/>
                        <a:pt x="61" y="53"/>
                        <a:pt x="59" y="41"/>
                      </a:cubicBezTo>
                      <a:cubicBezTo>
                        <a:pt x="55" y="20"/>
                        <a:pt x="50" y="4"/>
                        <a:pt x="47" y="4"/>
                      </a:cubicBezTo>
                      <a:cubicBezTo>
                        <a:pt x="45" y="4"/>
                        <a:pt x="39" y="20"/>
                        <a:pt x="36" y="41"/>
                      </a:cubicBezTo>
                      <a:cubicBezTo>
                        <a:pt x="34" y="53"/>
                        <a:pt x="28" y="80"/>
                        <a:pt x="20" y="80"/>
                      </a:cubicBezTo>
                      <a:cubicBezTo>
                        <a:pt x="11" y="80"/>
                        <a:pt x="6" y="53"/>
                        <a:pt x="4" y="41"/>
                      </a:cubicBezTo>
                      <a:cubicBezTo>
                        <a:pt x="4" y="40"/>
                        <a:pt x="3" y="30"/>
                        <a:pt x="0" y="21"/>
                      </a:cubicBezTo>
                      <a:cubicBezTo>
                        <a:pt x="0" y="20"/>
                        <a:pt x="0" y="19"/>
                        <a:pt x="2" y="18"/>
                      </a:cubicBezTo>
                      <a:cubicBezTo>
                        <a:pt x="3" y="18"/>
                        <a:pt x="4" y="19"/>
                        <a:pt x="4" y="20"/>
                      </a:cubicBezTo>
                      <a:cubicBezTo>
                        <a:pt x="7" y="30"/>
                        <a:pt x="8" y="40"/>
                        <a:pt x="8" y="40"/>
                      </a:cubicBezTo>
                      <a:cubicBezTo>
                        <a:pt x="12" y="61"/>
                        <a:pt x="17" y="76"/>
                        <a:pt x="20" y="76"/>
                      </a:cubicBezTo>
                      <a:cubicBezTo>
                        <a:pt x="23" y="76"/>
                        <a:pt x="28" y="61"/>
                        <a:pt x="31" y="40"/>
                      </a:cubicBezTo>
                      <a:cubicBezTo>
                        <a:pt x="33" y="28"/>
                        <a:pt x="39" y="0"/>
                        <a:pt x="47" y="0"/>
                      </a:cubicBezTo>
                      <a:cubicBezTo>
                        <a:pt x="56" y="0"/>
                        <a:pt x="61" y="28"/>
                        <a:pt x="63" y="40"/>
                      </a:cubicBezTo>
                      <a:cubicBezTo>
                        <a:pt x="66" y="61"/>
                        <a:pt x="72" y="76"/>
                        <a:pt x="74" y="76"/>
                      </a:cubicBezTo>
                      <a:cubicBezTo>
                        <a:pt x="77" y="76"/>
                        <a:pt x="83" y="61"/>
                        <a:pt x="86" y="40"/>
                      </a:cubicBezTo>
                      <a:cubicBezTo>
                        <a:pt x="86" y="40"/>
                        <a:pt x="88" y="30"/>
                        <a:pt x="90" y="20"/>
                      </a:cubicBezTo>
                      <a:cubicBezTo>
                        <a:pt x="90" y="19"/>
                        <a:pt x="92" y="18"/>
                        <a:pt x="93" y="19"/>
                      </a:cubicBezTo>
                      <a:cubicBezTo>
                        <a:pt x="94" y="19"/>
                        <a:pt x="95" y="20"/>
                        <a:pt x="94" y="21"/>
                      </a:cubicBezTo>
                      <a:cubicBezTo>
                        <a:pt x="92" y="31"/>
                        <a:pt x="90" y="40"/>
                        <a:pt x="90" y="41"/>
                      </a:cubicBezTo>
                      <a:cubicBezTo>
                        <a:pt x="88" y="53"/>
                        <a:pt x="83" y="80"/>
                        <a:pt x="74" y="80"/>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44"/>
                <p:cNvSpPr>
                  <a:spLocks/>
                </p:cNvSpPr>
                <p:nvPr/>
              </p:nvSpPr>
              <p:spPr bwMode="auto">
                <a:xfrm>
                  <a:off x="3160713" y="1951038"/>
                  <a:ext cx="423862" cy="307975"/>
                </a:xfrm>
                <a:custGeom>
                  <a:avLst/>
                  <a:gdLst>
                    <a:gd name="T0" fmla="*/ 111 w 113"/>
                    <a:gd name="T1" fmla="*/ 80 h 80"/>
                    <a:gd name="T2" fmla="*/ 95 w 113"/>
                    <a:gd name="T3" fmla="*/ 41 h 80"/>
                    <a:gd name="T4" fmla="*/ 83 w 113"/>
                    <a:gd name="T5" fmla="*/ 4 h 80"/>
                    <a:gd name="T6" fmla="*/ 72 w 113"/>
                    <a:gd name="T7" fmla="*/ 41 h 80"/>
                    <a:gd name="T8" fmla="*/ 56 w 113"/>
                    <a:gd name="T9" fmla="*/ 80 h 80"/>
                    <a:gd name="T10" fmla="*/ 40 w 113"/>
                    <a:gd name="T11" fmla="*/ 41 h 80"/>
                    <a:gd name="T12" fmla="*/ 29 w 113"/>
                    <a:gd name="T13" fmla="*/ 4 h 80"/>
                    <a:gd name="T14" fmla="*/ 17 w 113"/>
                    <a:gd name="T15" fmla="*/ 41 h 80"/>
                    <a:gd name="T16" fmla="*/ 2 w 113"/>
                    <a:gd name="T17" fmla="*/ 80 h 80"/>
                    <a:gd name="T18" fmla="*/ 0 w 113"/>
                    <a:gd name="T19" fmla="*/ 78 h 80"/>
                    <a:gd name="T20" fmla="*/ 2 w 113"/>
                    <a:gd name="T21" fmla="*/ 76 h 80"/>
                    <a:gd name="T22" fmla="*/ 13 w 113"/>
                    <a:gd name="T23" fmla="*/ 40 h 80"/>
                    <a:gd name="T24" fmla="*/ 29 w 113"/>
                    <a:gd name="T25" fmla="*/ 0 h 80"/>
                    <a:gd name="T26" fmla="*/ 45 w 113"/>
                    <a:gd name="T27" fmla="*/ 40 h 80"/>
                    <a:gd name="T28" fmla="*/ 56 w 113"/>
                    <a:gd name="T29" fmla="*/ 76 h 80"/>
                    <a:gd name="T30" fmla="*/ 68 w 113"/>
                    <a:gd name="T31" fmla="*/ 40 h 80"/>
                    <a:gd name="T32" fmla="*/ 83 w 113"/>
                    <a:gd name="T33" fmla="*/ 0 h 80"/>
                    <a:gd name="T34" fmla="*/ 99 w 113"/>
                    <a:gd name="T35" fmla="*/ 40 h 80"/>
                    <a:gd name="T36" fmla="*/ 111 w 113"/>
                    <a:gd name="T37" fmla="*/ 76 h 80"/>
                    <a:gd name="T38" fmla="*/ 113 w 113"/>
                    <a:gd name="T39" fmla="*/ 78 h 80"/>
                    <a:gd name="T40" fmla="*/ 111 w 113"/>
                    <a:gd name="T4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80">
                      <a:moveTo>
                        <a:pt x="111" y="80"/>
                      </a:moveTo>
                      <a:cubicBezTo>
                        <a:pt x="102" y="80"/>
                        <a:pt x="97" y="52"/>
                        <a:pt x="95" y="41"/>
                      </a:cubicBezTo>
                      <a:cubicBezTo>
                        <a:pt x="92" y="20"/>
                        <a:pt x="86" y="4"/>
                        <a:pt x="83" y="4"/>
                      </a:cubicBezTo>
                      <a:cubicBezTo>
                        <a:pt x="81" y="4"/>
                        <a:pt x="75" y="20"/>
                        <a:pt x="72" y="41"/>
                      </a:cubicBezTo>
                      <a:cubicBezTo>
                        <a:pt x="70" y="52"/>
                        <a:pt x="65" y="80"/>
                        <a:pt x="56" y="80"/>
                      </a:cubicBezTo>
                      <a:cubicBezTo>
                        <a:pt x="48" y="80"/>
                        <a:pt x="42" y="52"/>
                        <a:pt x="40" y="41"/>
                      </a:cubicBezTo>
                      <a:cubicBezTo>
                        <a:pt x="37" y="20"/>
                        <a:pt x="32" y="4"/>
                        <a:pt x="29" y="4"/>
                      </a:cubicBezTo>
                      <a:cubicBezTo>
                        <a:pt x="26" y="4"/>
                        <a:pt x="21" y="20"/>
                        <a:pt x="17" y="41"/>
                      </a:cubicBezTo>
                      <a:cubicBezTo>
                        <a:pt x="16" y="52"/>
                        <a:pt x="10" y="80"/>
                        <a:pt x="2" y="80"/>
                      </a:cubicBezTo>
                      <a:cubicBezTo>
                        <a:pt x="0" y="80"/>
                        <a:pt x="0" y="79"/>
                        <a:pt x="0" y="78"/>
                      </a:cubicBezTo>
                      <a:cubicBezTo>
                        <a:pt x="0" y="77"/>
                        <a:pt x="0" y="76"/>
                        <a:pt x="2" y="76"/>
                      </a:cubicBezTo>
                      <a:cubicBezTo>
                        <a:pt x="4" y="76"/>
                        <a:pt x="10" y="61"/>
                        <a:pt x="13" y="40"/>
                      </a:cubicBezTo>
                      <a:cubicBezTo>
                        <a:pt x="15" y="28"/>
                        <a:pt x="20" y="0"/>
                        <a:pt x="29" y="0"/>
                      </a:cubicBezTo>
                      <a:cubicBezTo>
                        <a:pt x="37" y="0"/>
                        <a:pt x="43" y="28"/>
                        <a:pt x="45" y="40"/>
                      </a:cubicBezTo>
                      <a:cubicBezTo>
                        <a:pt x="48" y="61"/>
                        <a:pt x="54" y="76"/>
                        <a:pt x="56" y="76"/>
                      </a:cubicBezTo>
                      <a:cubicBezTo>
                        <a:pt x="59" y="76"/>
                        <a:pt x="64" y="61"/>
                        <a:pt x="68" y="40"/>
                      </a:cubicBezTo>
                      <a:cubicBezTo>
                        <a:pt x="70" y="28"/>
                        <a:pt x="75" y="0"/>
                        <a:pt x="83" y="0"/>
                      </a:cubicBezTo>
                      <a:cubicBezTo>
                        <a:pt x="92" y="0"/>
                        <a:pt x="97" y="28"/>
                        <a:pt x="99" y="40"/>
                      </a:cubicBezTo>
                      <a:cubicBezTo>
                        <a:pt x="103" y="61"/>
                        <a:pt x="108" y="76"/>
                        <a:pt x="111" y="76"/>
                      </a:cubicBezTo>
                      <a:cubicBezTo>
                        <a:pt x="112" y="76"/>
                        <a:pt x="113" y="77"/>
                        <a:pt x="113" y="78"/>
                      </a:cubicBezTo>
                      <a:cubicBezTo>
                        <a:pt x="113" y="79"/>
                        <a:pt x="112" y="80"/>
                        <a:pt x="111" y="80"/>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a:xfrm>
                <a:off x="5619279" y="4630873"/>
                <a:ext cx="892343" cy="595111"/>
                <a:chOff x="668338" y="1947863"/>
                <a:chExt cx="492125" cy="315912"/>
              </a:xfrm>
            </p:grpSpPr>
            <p:sp>
              <p:nvSpPr>
                <p:cNvPr id="55" name="Freeform 11"/>
                <p:cNvSpPr>
                  <a:spLocks noEditPoints="1"/>
                </p:cNvSpPr>
                <p:nvPr/>
              </p:nvSpPr>
              <p:spPr bwMode="auto">
                <a:xfrm>
                  <a:off x="747713" y="2101850"/>
                  <a:ext cx="336550" cy="84137"/>
                </a:xfrm>
                <a:custGeom>
                  <a:avLst/>
                  <a:gdLst>
                    <a:gd name="T0" fmla="*/ 0 w 90"/>
                    <a:gd name="T1" fmla="*/ 13 h 22"/>
                    <a:gd name="T2" fmla="*/ 9 w 90"/>
                    <a:gd name="T3" fmla="*/ 22 h 22"/>
                    <a:gd name="T4" fmla="*/ 81 w 90"/>
                    <a:gd name="T5" fmla="*/ 22 h 22"/>
                    <a:gd name="T6" fmla="*/ 90 w 90"/>
                    <a:gd name="T7" fmla="*/ 13 h 22"/>
                    <a:gd name="T8" fmla="*/ 90 w 90"/>
                    <a:gd name="T9" fmla="*/ 9 h 22"/>
                    <a:gd name="T10" fmla="*/ 81 w 90"/>
                    <a:gd name="T11" fmla="*/ 0 h 22"/>
                    <a:gd name="T12" fmla="*/ 9 w 90"/>
                    <a:gd name="T13" fmla="*/ 0 h 22"/>
                    <a:gd name="T14" fmla="*/ 0 w 90"/>
                    <a:gd name="T15" fmla="*/ 9 h 22"/>
                    <a:gd name="T16" fmla="*/ 0 w 90"/>
                    <a:gd name="T17" fmla="*/ 13 h 22"/>
                    <a:gd name="T18" fmla="*/ 5 w 90"/>
                    <a:gd name="T19" fmla="*/ 9 h 22"/>
                    <a:gd name="T20" fmla="*/ 9 w 90"/>
                    <a:gd name="T21" fmla="*/ 6 h 22"/>
                    <a:gd name="T22" fmla="*/ 81 w 90"/>
                    <a:gd name="T23" fmla="*/ 6 h 22"/>
                    <a:gd name="T24" fmla="*/ 85 w 90"/>
                    <a:gd name="T25" fmla="*/ 9 h 22"/>
                    <a:gd name="T26" fmla="*/ 85 w 90"/>
                    <a:gd name="T27" fmla="*/ 13 h 22"/>
                    <a:gd name="T28" fmla="*/ 81 w 90"/>
                    <a:gd name="T29" fmla="*/ 17 h 22"/>
                    <a:gd name="T30" fmla="*/ 9 w 90"/>
                    <a:gd name="T31" fmla="*/ 17 h 22"/>
                    <a:gd name="T32" fmla="*/ 5 w 90"/>
                    <a:gd name="T33" fmla="*/ 13 h 22"/>
                    <a:gd name="T34" fmla="*/ 5 w 90"/>
                    <a:gd name="T35"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22">
                      <a:moveTo>
                        <a:pt x="0" y="13"/>
                      </a:moveTo>
                      <a:cubicBezTo>
                        <a:pt x="0" y="18"/>
                        <a:pt x="4" y="22"/>
                        <a:pt x="9" y="22"/>
                      </a:cubicBezTo>
                      <a:cubicBezTo>
                        <a:pt x="81" y="22"/>
                        <a:pt x="81" y="22"/>
                        <a:pt x="81" y="22"/>
                      </a:cubicBezTo>
                      <a:cubicBezTo>
                        <a:pt x="86" y="22"/>
                        <a:pt x="90" y="18"/>
                        <a:pt x="90" y="13"/>
                      </a:cubicBezTo>
                      <a:cubicBezTo>
                        <a:pt x="90" y="9"/>
                        <a:pt x="90" y="9"/>
                        <a:pt x="90" y="9"/>
                      </a:cubicBezTo>
                      <a:cubicBezTo>
                        <a:pt x="90" y="4"/>
                        <a:pt x="86" y="0"/>
                        <a:pt x="81" y="0"/>
                      </a:cubicBezTo>
                      <a:cubicBezTo>
                        <a:pt x="9" y="0"/>
                        <a:pt x="9" y="0"/>
                        <a:pt x="9" y="0"/>
                      </a:cubicBezTo>
                      <a:cubicBezTo>
                        <a:pt x="4" y="0"/>
                        <a:pt x="0" y="4"/>
                        <a:pt x="0" y="9"/>
                      </a:cubicBezTo>
                      <a:lnTo>
                        <a:pt x="0" y="13"/>
                      </a:lnTo>
                      <a:close/>
                      <a:moveTo>
                        <a:pt x="5" y="9"/>
                      </a:moveTo>
                      <a:cubicBezTo>
                        <a:pt x="5" y="7"/>
                        <a:pt x="7" y="6"/>
                        <a:pt x="9" y="6"/>
                      </a:cubicBezTo>
                      <a:cubicBezTo>
                        <a:pt x="81" y="6"/>
                        <a:pt x="81" y="6"/>
                        <a:pt x="81" y="6"/>
                      </a:cubicBezTo>
                      <a:cubicBezTo>
                        <a:pt x="83" y="6"/>
                        <a:pt x="85" y="7"/>
                        <a:pt x="85" y="9"/>
                      </a:cubicBezTo>
                      <a:cubicBezTo>
                        <a:pt x="85" y="13"/>
                        <a:pt x="85" y="13"/>
                        <a:pt x="85" y="13"/>
                      </a:cubicBezTo>
                      <a:cubicBezTo>
                        <a:pt x="85" y="15"/>
                        <a:pt x="83" y="17"/>
                        <a:pt x="81" y="17"/>
                      </a:cubicBezTo>
                      <a:cubicBezTo>
                        <a:pt x="9" y="17"/>
                        <a:pt x="9" y="17"/>
                        <a:pt x="9" y="17"/>
                      </a:cubicBezTo>
                      <a:cubicBezTo>
                        <a:pt x="7" y="17"/>
                        <a:pt x="5" y="15"/>
                        <a:pt x="5" y="13"/>
                      </a:cubicBezTo>
                      <a:lnTo>
                        <a:pt x="5" y="9"/>
                      </a:ln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Oval 12"/>
                <p:cNvSpPr>
                  <a:spLocks noChangeArrowheads="1"/>
                </p:cNvSpPr>
                <p:nvPr/>
              </p:nvSpPr>
              <p:spPr bwMode="auto">
                <a:xfrm>
                  <a:off x="1001713" y="2128838"/>
                  <a:ext cx="30162" cy="30162"/>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13"/>
                <p:cNvSpPr>
                  <a:spLocks/>
                </p:cNvSpPr>
                <p:nvPr/>
              </p:nvSpPr>
              <p:spPr bwMode="auto">
                <a:xfrm>
                  <a:off x="747713" y="2205038"/>
                  <a:ext cx="336550" cy="23812"/>
                </a:xfrm>
                <a:custGeom>
                  <a:avLst/>
                  <a:gdLst>
                    <a:gd name="T0" fmla="*/ 3 w 90"/>
                    <a:gd name="T1" fmla="*/ 6 h 6"/>
                    <a:gd name="T2" fmla="*/ 87 w 90"/>
                    <a:gd name="T3" fmla="*/ 6 h 6"/>
                    <a:gd name="T4" fmla="*/ 90 w 90"/>
                    <a:gd name="T5" fmla="*/ 3 h 6"/>
                    <a:gd name="T6" fmla="*/ 87 w 90"/>
                    <a:gd name="T7" fmla="*/ 0 h 6"/>
                    <a:gd name="T8" fmla="*/ 3 w 90"/>
                    <a:gd name="T9" fmla="*/ 0 h 6"/>
                    <a:gd name="T10" fmla="*/ 0 w 90"/>
                    <a:gd name="T11" fmla="*/ 3 h 6"/>
                    <a:gd name="T12" fmla="*/ 3 w 9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0" h="6">
                      <a:moveTo>
                        <a:pt x="3" y="6"/>
                      </a:moveTo>
                      <a:cubicBezTo>
                        <a:pt x="87" y="6"/>
                        <a:pt x="87" y="6"/>
                        <a:pt x="87" y="6"/>
                      </a:cubicBezTo>
                      <a:cubicBezTo>
                        <a:pt x="89" y="6"/>
                        <a:pt x="90" y="4"/>
                        <a:pt x="90" y="3"/>
                      </a:cubicBezTo>
                      <a:cubicBezTo>
                        <a:pt x="90" y="1"/>
                        <a:pt x="89" y="0"/>
                        <a:pt x="87" y="0"/>
                      </a:cubicBezTo>
                      <a:cubicBezTo>
                        <a:pt x="3" y="0"/>
                        <a:pt x="3" y="0"/>
                        <a:pt x="3" y="0"/>
                      </a:cubicBezTo>
                      <a:cubicBezTo>
                        <a:pt x="1" y="0"/>
                        <a:pt x="0" y="1"/>
                        <a:pt x="0" y="3"/>
                      </a:cubicBezTo>
                      <a:cubicBezTo>
                        <a:pt x="0" y="4"/>
                        <a:pt x="1" y="6"/>
                        <a:pt x="3" y="6"/>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42"/>
                <p:cNvSpPr>
                  <a:spLocks noEditPoints="1"/>
                </p:cNvSpPr>
                <p:nvPr/>
              </p:nvSpPr>
              <p:spPr bwMode="auto">
                <a:xfrm>
                  <a:off x="668338" y="1947863"/>
                  <a:ext cx="492125" cy="315912"/>
                </a:xfrm>
                <a:custGeom>
                  <a:avLst/>
                  <a:gdLst>
                    <a:gd name="T0" fmla="*/ 101 w 131"/>
                    <a:gd name="T1" fmla="*/ 22 h 82"/>
                    <a:gd name="T2" fmla="*/ 99 w 131"/>
                    <a:gd name="T3" fmla="*/ 22 h 82"/>
                    <a:gd name="T4" fmla="*/ 63 w 131"/>
                    <a:gd name="T5" fmla="*/ 0 h 82"/>
                    <a:gd name="T6" fmla="*/ 23 w 131"/>
                    <a:gd name="T7" fmla="*/ 33 h 82"/>
                    <a:gd name="T8" fmla="*/ 0 w 131"/>
                    <a:gd name="T9" fmla="*/ 58 h 82"/>
                    <a:gd name="T10" fmla="*/ 25 w 131"/>
                    <a:gd name="T11" fmla="*/ 82 h 82"/>
                    <a:gd name="T12" fmla="*/ 101 w 131"/>
                    <a:gd name="T13" fmla="*/ 82 h 82"/>
                    <a:gd name="T14" fmla="*/ 131 w 131"/>
                    <a:gd name="T15" fmla="*/ 52 h 82"/>
                    <a:gd name="T16" fmla="*/ 101 w 131"/>
                    <a:gd name="T17" fmla="*/ 22 h 82"/>
                    <a:gd name="T18" fmla="*/ 101 w 131"/>
                    <a:gd name="T19" fmla="*/ 77 h 82"/>
                    <a:gd name="T20" fmla="*/ 25 w 131"/>
                    <a:gd name="T21" fmla="*/ 77 h 82"/>
                    <a:gd name="T22" fmla="*/ 6 w 131"/>
                    <a:gd name="T23" fmla="*/ 58 h 82"/>
                    <a:gd name="T24" fmla="*/ 25 w 131"/>
                    <a:gd name="T25" fmla="*/ 38 h 82"/>
                    <a:gd name="T26" fmla="*/ 28 w 131"/>
                    <a:gd name="T27" fmla="*/ 39 h 82"/>
                    <a:gd name="T28" fmla="*/ 28 w 131"/>
                    <a:gd name="T29" fmla="*/ 37 h 82"/>
                    <a:gd name="T30" fmla="*/ 29 w 131"/>
                    <a:gd name="T31" fmla="*/ 33 h 82"/>
                    <a:gd name="T32" fmla="*/ 29 w 131"/>
                    <a:gd name="T33" fmla="*/ 33 h 82"/>
                    <a:gd name="T34" fmla="*/ 29 w 131"/>
                    <a:gd name="T35" fmla="*/ 32 h 82"/>
                    <a:gd name="T36" fmla="*/ 29 w 131"/>
                    <a:gd name="T37" fmla="*/ 32 h 82"/>
                    <a:gd name="T38" fmla="*/ 63 w 131"/>
                    <a:gd name="T39" fmla="*/ 6 h 82"/>
                    <a:gd name="T40" fmla="*/ 94 w 131"/>
                    <a:gd name="T41" fmla="*/ 23 h 82"/>
                    <a:gd name="T42" fmla="*/ 83 w 131"/>
                    <a:gd name="T43" fmla="*/ 28 h 82"/>
                    <a:gd name="T44" fmla="*/ 83 w 131"/>
                    <a:gd name="T45" fmla="*/ 32 h 82"/>
                    <a:gd name="T46" fmla="*/ 87 w 131"/>
                    <a:gd name="T47" fmla="*/ 32 h 82"/>
                    <a:gd name="T48" fmla="*/ 98 w 131"/>
                    <a:gd name="T49" fmla="*/ 28 h 82"/>
                    <a:gd name="T50" fmla="*/ 101 w 131"/>
                    <a:gd name="T51" fmla="*/ 28 h 82"/>
                    <a:gd name="T52" fmla="*/ 126 w 131"/>
                    <a:gd name="T53" fmla="*/ 52 h 82"/>
                    <a:gd name="T54" fmla="*/ 101 w 131"/>
                    <a:gd name="T55" fmla="*/ 7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82">
                      <a:moveTo>
                        <a:pt x="101" y="22"/>
                      </a:moveTo>
                      <a:cubicBezTo>
                        <a:pt x="101" y="22"/>
                        <a:pt x="100" y="22"/>
                        <a:pt x="99" y="22"/>
                      </a:cubicBezTo>
                      <a:cubicBezTo>
                        <a:pt x="92" y="9"/>
                        <a:pt x="78" y="0"/>
                        <a:pt x="63" y="0"/>
                      </a:cubicBezTo>
                      <a:cubicBezTo>
                        <a:pt x="44" y="0"/>
                        <a:pt x="27" y="14"/>
                        <a:pt x="23" y="33"/>
                      </a:cubicBezTo>
                      <a:cubicBezTo>
                        <a:pt x="11" y="34"/>
                        <a:pt x="0" y="45"/>
                        <a:pt x="0" y="58"/>
                      </a:cubicBezTo>
                      <a:cubicBezTo>
                        <a:pt x="0" y="71"/>
                        <a:pt x="12" y="82"/>
                        <a:pt x="25" y="82"/>
                      </a:cubicBezTo>
                      <a:cubicBezTo>
                        <a:pt x="101" y="82"/>
                        <a:pt x="101" y="82"/>
                        <a:pt x="101" y="82"/>
                      </a:cubicBezTo>
                      <a:cubicBezTo>
                        <a:pt x="118" y="82"/>
                        <a:pt x="131" y="69"/>
                        <a:pt x="131" y="52"/>
                      </a:cubicBezTo>
                      <a:cubicBezTo>
                        <a:pt x="131" y="36"/>
                        <a:pt x="118" y="22"/>
                        <a:pt x="101" y="22"/>
                      </a:cubicBezTo>
                      <a:close/>
                      <a:moveTo>
                        <a:pt x="101" y="77"/>
                      </a:moveTo>
                      <a:cubicBezTo>
                        <a:pt x="25" y="77"/>
                        <a:pt x="25" y="77"/>
                        <a:pt x="25" y="77"/>
                      </a:cubicBezTo>
                      <a:cubicBezTo>
                        <a:pt x="15" y="77"/>
                        <a:pt x="6" y="68"/>
                        <a:pt x="6" y="58"/>
                      </a:cubicBezTo>
                      <a:cubicBezTo>
                        <a:pt x="6" y="47"/>
                        <a:pt x="15" y="38"/>
                        <a:pt x="25" y="38"/>
                      </a:cubicBezTo>
                      <a:cubicBezTo>
                        <a:pt x="26" y="38"/>
                        <a:pt x="27" y="39"/>
                        <a:pt x="28" y="39"/>
                      </a:cubicBezTo>
                      <a:cubicBezTo>
                        <a:pt x="28" y="38"/>
                        <a:pt x="28" y="38"/>
                        <a:pt x="28" y="37"/>
                      </a:cubicBezTo>
                      <a:cubicBezTo>
                        <a:pt x="28" y="36"/>
                        <a:pt x="28" y="35"/>
                        <a:pt x="29" y="33"/>
                      </a:cubicBezTo>
                      <a:cubicBezTo>
                        <a:pt x="29" y="33"/>
                        <a:pt x="29" y="33"/>
                        <a:pt x="29" y="33"/>
                      </a:cubicBezTo>
                      <a:cubicBezTo>
                        <a:pt x="29" y="33"/>
                        <a:pt x="29" y="33"/>
                        <a:pt x="29" y="32"/>
                      </a:cubicBezTo>
                      <a:cubicBezTo>
                        <a:pt x="29" y="32"/>
                        <a:pt x="29" y="32"/>
                        <a:pt x="29" y="32"/>
                      </a:cubicBezTo>
                      <a:cubicBezTo>
                        <a:pt x="34" y="17"/>
                        <a:pt x="47" y="6"/>
                        <a:pt x="63" y="6"/>
                      </a:cubicBezTo>
                      <a:cubicBezTo>
                        <a:pt x="76" y="6"/>
                        <a:pt x="87" y="13"/>
                        <a:pt x="94" y="23"/>
                      </a:cubicBezTo>
                      <a:cubicBezTo>
                        <a:pt x="90" y="24"/>
                        <a:pt x="86" y="26"/>
                        <a:pt x="83" y="28"/>
                      </a:cubicBezTo>
                      <a:cubicBezTo>
                        <a:pt x="82" y="29"/>
                        <a:pt x="82" y="31"/>
                        <a:pt x="83" y="32"/>
                      </a:cubicBezTo>
                      <a:cubicBezTo>
                        <a:pt x="84" y="33"/>
                        <a:pt x="85" y="33"/>
                        <a:pt x="87" y="32"/>
                      </a:cubicBezTo>
                      <a:cubicBezTo>
                        <a:pt x="90" y="30"/>
                        <a:pt x="94" y="28"/>
                        <a:pt x="98" y="28"/>
                      </a:cubicBezTo>
                      <a:cubicBezTo>
                        <a:pt x="99" y="28"/>
                        <a:pt x="100" y="28"/>
                        <a:pt x="101" y="28"/>
                      </a:cubicBezTo>
                      <a:cubicBezTo>
                        <a:pt x="115" y="28"/>
                        <a:pt x="126" y="39"/>
                        <a:pt x="126" y="52"/>
                      </a:cubicBezTo>
                      <a:cubicBezTo>
                        <a:pt x="126" y="66"/>
                        <a:pt x="115" y="77"/>
                        <a:pt x="101" y="77"/>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 name="圆角矩形 11"/>
              <p:cNvSpPr/>
              <p:nvPr/>
            </p:nvSpPr>
            <p:spPr>
              <a:xfrm>
                <a:off x="1884844" y="3929387"/>
                <a:ext cx="5936623" cy="230563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12"/>
                <a:endParaRPr 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 name="组合 12"/>
              <p:cNvGrpSpPr/>
              <p:nvPr/>
            </p:nvGrpSpPr>
            <p:grpSpPr>
              <a:xfrm>
                <a:off x="4205687" y="2925738"/>
                <a:ext cx="785758" cy="755404"/>
                <a:chOff x="1338263" y="2989263"/>
                <a:chExt cx="414338" cy="422275"/>
              </a:xfrm>
            </p:grpSpPr>
            <p:sp>
              <p:nvSpPr>
                <p:cNvPr id="43" name="Freeform 11"/>
                <p:cNvSpPr>
                  <a:spLocks/>
                </p:cNvSpPr>
                <p:nvPr/>
              </p:nvSpPr>
              <p:spPr bwMode="auto">
                <a:xfrm>
                  <a:off x="1357313" y="3016251"/>
                  <a:ext cx="195263" cy="268288"/>
                </a:xfrm>
                <a:custGeom>
                  <a:avLst/>
                  <a:gdLst>
                    <a:gd name="T0" fmla="*/ 7 w 123"/>
                    <a:gd name="T1" fmla="*/ 169 h 169"/>
                    <a:gd name="T2" fmla="*/ 0 w 123"/>
                    <a:gd name="T3" fmla="*/ 164 h 169"/>
                    <a:gd name="T4" fmla="*/ 116 w 123"/>
                    <a:gd name="T5" fmla="*/ 0 h 169"/>
                    <a:gd name="T6" fmla="*/ 123 w 123"/>
                    <a:gd name="T7" fmla="*/ 7 h 169"/>
                    <a:gd name="T8" fmla="*/ 7 w 123"/>
                    <a:gd name="T9" fmla="*/ 169 h 169"/>
                  </a:gdLst>
                  <a:ahLst/>
                  <a:cxnLst>
                    <a:cxn ang="0">
                      <a:pos x="T0" y="T1"/>
                    </a:cxn>
                    <a:cxn ang="0">
                      <a:pos x="T2" y="T3"/>
                    </a:cxn>
                    <a:cxn ang="0">
                      <a:pos x="T4" y="T5"/>
                    </a:cxn>
                    <a:cxn ang="0">
                      <a:pos x="T6" y="T7"/>
                    </a:cxn>
                    <a:cxn ang="0">
                      <a:pos x="T8" y="T9"/>
                    </a:cxn>
                  </a:cxnLst>
                  <a:rect l="0" t="0" r="r" b="b"/>
                  <a:pathLst>
                    <a:path w="123" h="169">
                      <a:moveTo>
                        <a:pt x="7" y="169"/>
                      </a:moveTo>
                      <a:lnTo>
                        <a:pt x="0" y="164"/>
                      </a:lnTo>
                      <a:lnTo>
                        <a:pt x="116" y="0"/>
                      </a:lnTo>
                      <a:lnTo>
                        <a:pt x="123" y="7"/>
                      </a:lnTo>
                      <a:lnTo>
                        <a:pt x="7" y="169"/>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Freeform 12"/>
                <p:cNvSpPr>
                  <a:spLocks/>
                </p:cNvSpPr>
                <p:nvPr/>
              </p:nvSpPr>
              <p:spPr bwMode="auto">
                <a:xfrm>
                  <a:off x="1541463" y="3016251"/>
                  <a:ext cx="195263" cy="268288"/>
                </a:xfrm>
                <a:custGeom>
                  <a:avLst/>
                  <a:gdLst>
                    <a:gd name="T0" fmla="*/ 114 w 123"/>
                    <a:gd name="T1" fmla="*/ 169 h 169"/>
                    <a:gd name="T2" fmla="*/ 0 w 123"/>
                    <a:gd name="T3" fmla="*/ 7 h 169"/>
                    <a:gd name="T4" fmla="*/ 7 w 123"/>
                    <a:gd name="T5" fmla="*/ 0 h 169"/>
                    <a:gd name="T6" fmla="*/ 123 w 123"/>
                    <a:gd name="T7" fmla="*/ 164 h 169"/>
                    <a:gd name="T8" fmla="*/ 114 w 123"/>
                    <a:gd name="T9" fmla="*/ 169 h 169"/>
                  </a:gdLst>
                  <a:ahLst/>
                  <a:cxnLst>
                    <a:cxn ang="0">
                      <a:pos x="T0" y="T1"/>
                    </a:cxn>
                    <a:cxn ang="0">
                      <a:pos x="T2" y="T3"/>
                    </a:cxn>
                    <a:cxn ang="0">
                      <a:pos x="T4" y="T5"/>
                    </a:cxn>
                    <a:cxn ang="0">
                      <a:pos x="T6" y="T7"/>
                    </a:cxn>
                    <a:cxn ang="0">
                      <a:pos x="T8" y="T9"/>
                    </a:cxn>
                  </a:cxnLst>
                  <a:rect l="0" t="0" r="r" b="b"/>
                  <a:pathLst>
                    <a:path w="123" h="169">
                      <a:moveTo>
                        <a:pt x="114" y="169"/>
                      </a:moveTo>
                      <a:lnTo>
                        <a:pt x="0" y="7"/>
                      </a:lnTo>
                      <a:lnTo>
                        <a:pt x="7" y="0"/>
                      </a:lnTo>
                      <a:lnTo>
                        <a:pt x="123" y="164"/>
                      </a:lnTo>
                      <a:lnTo>
                        <a:pt x="114" y="169"/>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13"/>
                <p:cNvSpPr>
                  <a:spLocks/>
                </p:cNvSpPr>
                <p:nvPr/>
              </p:nvSpPr>
              <p:spPr bwMode="auto">
                <a:xfrm>
                  <a:off x="1541463" y="3273426"/>
                  <a:ext cx="192088" cy="119063"/>
                </a:xfrm>
                <a:custGeom>
                  <a:avLst/>
                  <a:gdLst>
                    <a:gd name="T0" fmla="*/ 5 w 121"/>
                    <a:gd name="T1" fmla="*/ 75 h 75"/>
                    <a:gd name="T2" fmla="*/ 0 w 121"/>
                    <a:gd name="T3" fmla="*/ 68 h 75"/>
                    <a:gd name="T4" fmla="*/ 116 w 121"/>
                    <a:gd name="T5" fmla="*/ 0 h 75"/>
                    <a:gd name="T6" fmla="*/ 121 w 121"/>
                    <a:gd name="T7" fmla="*/ 10 h 75"/>
                    <a:gd name="T8" fmla="*/ 5 w 121"/>
                    <a:gd name="T9" fmla="*/ 75 h 75"/>
                  </a:gdLst>
                  <a:ahLst/>
                  <a:cxnLst>
                    <a:cxn ang="0">
                      <a:pos x="T0" y="T1"/>
                    </a:cxn>
                    <a:cxn ang="0">
                      <a:pos x="T2" y="T3"/>
                    </a:cxn>
                    <a:cxn ang="0">
                      <a:pos x="T4" y="T5"/>
                    </a:cxn>
                    <a:cxn ang="0">
                      <a:pos x="T6" y="T7"/>
                    </a:cxn>
                    <a:cxn ang="0">
                      <a:pos x="T8" y="T9"/>
                    </a:cxn>
                  </a:cxnLst>
                  <a:rect l="0" t="0" r="r" b="b"/>
                  <a:pathLst>
                    <a:path w="121" h="75">
                      <a:moveTo>
                        <a:pt x="5" y="75"/>
                      </a:moveTo>
                      <a:lnTo>
                        <a:pt x="0" y="68"/>
                      </a:lnTo>
                      <a:lnTo>
                        <a:pt x="116" y="0"/>
                      </a:lnTo>
                      <a:lnTo>
                        <a:pt x="121" y="10"/>
                      </a:lnTo>
                      <a:lnTo>
                        <a:pt x="5" y="75"/>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Freeform 14"/>
                <p:cNvSpPr>
                  <a:spLocks/>
                </p:cNvSpPr>
                <p:nvPr/>
              </p:nvSpPr>
              <p:spPr bwMode="auto">
                <a:xfrm>
                  <a:off x="1357313" y="3273426"/>
                  <a:ext cx="192088" cy="119063"/>
                </a:xfrm>
                <a:custGeom>
                  <a:avLst/>
                  <a:gdLst>
                    <a:gd name="T0" fmla="*/ 116 w 121"/>
                    <a:gd name="T1" fmla="*/ 75 h 75"/>
                    <a:gd name="T2" fmla="*/ 0 w 121"/>
                    <a:gd name="T3" fmla="*/ 10 h 75"/>
                    <a:gd name="T4" fmla="*/ 5 w 121"/>
                    <a:gd name="T5" fmla="*/ 0 h 75"/>
                    <a:gd name="T6" fmla="*/ 121 w 121"/>
                    <a:gd name="T7" fmla="*/ 68 h 75"/>
                    <a:gd name="T8" fmla="*/ 116 w 121"/>
                    <a:gd name="T9" fmla="*/ 75 h 75"/>
                  </a:gdLst>
                  <a:ahLst/>
                  <a:cxnLst>
                    <a:cxn ang="0">
                      <a:pos x="T0" y="T1"/>
                    </a:cxn>
                    <a:cxn ang="0">
                      <a:pos x="T2" y="T3"/>
                    </a:cxn>
                    <a:cxn ang="0">
                      <a:pos x="T4" y="T5"/>
                    </a:cxn>
                    <a:cxn ang="0">
                      <a:pos x="T6" y="T7"/>
                    </a:cxn>
                    <a:cxn ang="0">
                      <a:pos x="T8" y="T9"/>
                    </a:cxn>
                  </a:cxnLst>
                  <a:rect l="0" t="0" r="r" b="b"/>
                  <a:pathLst>
                    <a:path w="121" h="75">
                      <a:moveTo>
                        <a:pt x="116" y="75"/>
                      </a:moveTo>
                      <a:lnTo>
                        <a:pt x="0" y="10"/>
                      </a:lnTo>
                      <a:lnTo>
                        <a:pt x="5" y="0"/>
                      </a:lnTo>
                      <a:lnTo>
                        <a:pt x="121" y="68"/>
                      </a:lnTo>
                      <a:lnTo>
                        <a:pt x="116" y="75"/>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Rectangle 15"/>
                <p:cNvSpPr>
                  <a:spLocks noChangeArrowheads="1"/>
                </p:cNvSpPr>
                <p:nvPr/>
              </p:nvSpPr>
              <p:spPr bwMode="auto">
                <a:xfrm>
                  <a:off x="1538288" y="3024188"/>
                  <a:ext cx="14288" cy="368300"/>
                </a:xfrm>
                <a:prstGeom prst="rect">
                  <a:avLst/>
                </a:prstGeom>
                <a:solidFill>
                  <a:srgbClr val="4545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Freeform 16"/>
                <p:cNvSpPr>
                  <a:spLocks/>
                </p:cNvSpPr>
                <p:nvPr/>
              </p:nvSpPr>
              <p:spPr bwMode="auto">
                <a:xfrm>
                  <a:off x="1519238" y="3173413"/>
                  <a:ext cx="52388" cy="61913"/>
                </a:xfrm>
                <a:custGeom>
                  <a:avLst/>
                  <a:gdLst>
                    <a:gd name="T0" fmla="*/ 16 w 33"/>
                    <a:gd name="T1" fmla="*/ 39 h 39"/>
                    <a:gd name="T2" fmla="*/ 0 w 33"/>
                    <a:gd name="T3" fmla="*/ 0 h 39"/>
                    <a:gd name="T4" fmla="*/ 33 w 33"/>
                    <a:gd name="T5" fmla="*/ 0 h 39"/>
                    <a:gd name="T6" fmla="*/ 16 w 33"/>
                    <a:gd name="T7" fmla="*/ 39 h 39"/>
                  </a:gdLst>
                  <a:ahLst/>
                  <a:cxnLst>
                    <a:cxn ang="0">
                      <a:pos x="T0" y="T1"/>
                    </a:cxn>
                    <a:cxn ang="0">
                      <a:pos x="T2" y="T3"/>
                    </a:cxn>
                    <a:cxn ang="0">
                      <a:pos x="T4" y="T5"/>
                    </a:cxn>
                    <a:cxn ang="0">
                      <a:pos x="T6" y="T7"/>
                    </a:cxn>
                  </a:cxnLst>
                  <a:rect l="0" t="0" r="r" b="b"/>
                  <a:pathLst>
                    <a:path w="33" h="39">
                      <a:moveTo>
                        <a:pt x="16" y="39"/>
                      </a:moveTo>
                      <a:lnTo>
                        <a:pt x="0" y="0"/>
                      </a:lnTo>
                      <a:lnTo>
                        <a:pt x="33" y="0"/>
                      </a:lnTo>
                      <a:lnTo>
                        <a:pt x="16" y="39"/>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17"/>
                <p:cNvSpPr>
                  <a:spLocks/>
                </p:cNvSpPr>
                <p:nvPr/>
              </p:nvSpPr>
              <p:spPr bwMode="auto">
                <a:xfrm>
                  <a:off x="1620838" y="3143251"/>
                  <a:ext cx="60325" cy="65088"/>
                </a:xfrm>
                <a:custGeom>
                  <a:avLst/>
                  <a:gdLst>
                    <a:gd name="T0" fmla="*/ 38 w 38"/>
                    <a:gd name="T1" fmla="*/ 41 h 41"/>
                    <a:gd name="T2" fmla="*/ 0 w 38"/>
                    <a:gd name="T3" fmla="*/ 19 h 41"/>
                    <a:gd name="T4" fmla="*/ 26 w 38"/>
                    <a:gd name="T5" fmla="*/ 0 h 41"/>
                    <a:gd name="T6" fmla="*/ 38 w 38"/>
                    <a:gd name="T7" fmla="*/ 41 h 41"/>
                  </a:gdLst>
                  <a:ahLst/>
                  <a:cxnLst>
                    <a:cxn ang="0">
                      <a:pos x="T0" y="T1"/>
                    </a:cxn>
                    <a:cxn ang="0">
                      <a:pos x="T2" y="T3"/>
                    </a:cxn>
                    <a:cxn ang="0">
                      <a:pos x="T4" y="T5"/>
                    </a:cxn>
                    <a:cxn ang="0">
                      <a:pos x="T6" y="T7"/>
                    </a:cxn>
                  </a:cxnLst>
                  <a:rect l="0" t="0" r="r" b="b"/>
                  <a:pathLst>
                    <a:path w="38" h="41">
                      <a:moveTo>
                        <a:pt x="38" y="41"/>
                      </a:moveTo>
                      <a:lnTo>
                        <a:pt x="0" y="19"/>
                      </a:lnTo>
                      <a:lnTo>
                        <a:pt x="26" y="0"/>
                      </a:lnTo>
                      <a:lnTo>
                        <a:pt x="38" y="41"/>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18"/>
                <p:cNvSpPr>
                  <a:spLocks/>
                </p:cNvSpPr>
                <p:nvPr/>
              </p:nvSpPr>
              <p:spPr bwMode="auto">
                <a:xfrm>
                  <a:off x="1412875" y="3143251"/>
                  <a:ext cx="57150" cy="65088"/>
                </a:xfrm>
                <a:custGeom>
                  <a:avLst/>
                  <a:gdLst>
                    <a:gd name="T0" fmla="*/ 0 w 36"/>
                    <a:gd name="T1" fmla="*/ 41 h 41"/>
                    <a:gd name="T2" fmla="*/ 36 w 36"/>
                    <a:gd name="T3" fmla="*/ 19 h 41"/>
                    <a:gd name="T4" fmla="*/ 10 w 36"/>
                    <a:gd name="T5" fmla="*/ 0 h 41"/>
                    <a:gd name="T6" fmla="*/ 0 w 36"/>
                    <a:gd name="T7" fmla="*/ 41 h 41"/>
                  </a:gdLst>
                  <a:ahLst/>
                  <a:cxnLst>
                    <a:cxn ang="0">
                      <a:pos x="T0" y="T1"/>
                    </a:cxn>
                    <a:cxn ang="0">
                      <a:pos x="T2" y="T3"/>
                    </a:cxn>
                    <a:cxn ang="0">
                      <a:pos x="T4" y="T5"/>
                    </a:cxn>
                    <a:cxn ang="0">
                      <a:pos x="T6" y="T7"/>
                    </a:cxn>
                  </a:cxnLst>
                  <a:rect l="0" t="0" r="r" b="b"/>
                  <a:pathLst>
                    <a:path w="36" h="41">
                      <a:moveTo>
                        <a:pt x="0" y="41"/>
                      </a:moveTo>
                      <a:lnTo>
                        <a:pt x="36" y="19"/>
                      </a:lnTo>
                      <a:lnTo>
                        <a:pt x="10" y="0"/>
                      </a:lnTo>
                      <a:lnTo>
                        <a:pt x="0" y="41"/>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Oval 19"/>
                <p:cNvSpPr>
                  <a:spLocks noChangeArrowheads="1"/>
                </p:cNvSpPr>
                <p:nvPr/>
              </p:nvSpPr>
              <p:spPr bwMode="auto">
                <a:xfrm>
                  <a:off x="1514475" y="2989263"/>
                  <a:ext cx="65088" cy="65088"/>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Oval 20"/>
                <p:cNvSpPr>
                  <a:spLocks noChangeArrowheads="1"/>
                </p:cNvSpPr>
                <p:nvPr/>
              </p:nvSpPr>
              <p:spPr bwMode="auto">
                <a:xfrm>
                  <a:off x="1522413" y="3360738"/>
                  <a:ext cx="49213" cy="50800"/>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Oval 21"/>
                <p:cNvSpPr>
                  <a:spLocks noChangeArrowheads="1"/>
                </p:cNvSpPr>
                <p:nvPr/>
              </p:nvSpPr>
              <p:spPr bwMode="auto">
                <a:xfrm>
                  <a:off x="1338263" y="3257551"/>
                  <a:ext cx="49213" cy="46038"/>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Oval 22"/>
                <p:cNvSpPr>
                  <a:spLocks noChangeArrowheads="1"/>
                </p:cNvSpPr>
                <p:nvPr/>
              </p:nvSpPr>
              <p:spPr bwMode="auto">
                <a:xfrm>
                  <a:off x="1703388" y="3257551"/>
                  <a:ext cx="49213" cy="46038"/>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4" name="组合 13"/>
              <p:cNvGrpSpPr/>
              <p:nvPr/>
            </p:nvGrpSpPr>
            <p:grpSpPr>
              <a:xfrm>
                <a:off x="6646646" y="3648077"/>
                <a:ext cx="897616" cy="518396"/>
                <a:chOff x="95250" y="3046413"/>
                <a:chExt cx="439738" cy="300038"/>
              </a:xfrm>
            </p:grpSpPr>
            <p:sp>
              <p:nvSpPr>
                <p:cNvPr id="37" name="Oval 5"/>
                <p:cNvSpPr>
                  <a:spLocks noChangeArrowheads="1"/>
                </p:cNvSpPr>
                <p:nvPr/>
              </p:nvSpPr>
              <p:spPr bwMode="auto">
                <a:xfrm>
                  <a:off x="293688" y="3184526"/>
                  <a:ext cx="41275" cy="42863"/>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Oval 6"/>
                <p:cNvSpPr>
                  <a:spLocks noChangeArrowheads="1"/>
                </p:cNvSpPr>
                <p:nvPr/>
              </p:nvSpPr>
              <p:spPr bwMode="auto">
                <a:xfrm>
                  <a:off x="222250" y="3249613"/>
                  <a:ext cx="41275" cy="46038"/>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Freeform 7"/>
                <p:cNvSpPr>
                  <a:spLocks/>
                </p:cNvSpPr>
                <p:nvPr/>
              </p:nvSpPr>
              <p:spPr bwMode="auto">
                <a:xfrm>
                  <a:off x="233363" y="3192463"/>
                  <a:ext cx="90488" cy="92075"/>
                </a:xfrm>
                <a:custGeom>
                  <a:avLst/>
                  <a:gdLst>
                    <a:gd name="T0" fmla="*/ 3 w 24"/>
                    <a:gd name="T1" fmla="*/ 24 h 24"/>
                    <a:gd name="T2" fmla="*/ 1 w 24"/>
                    <a:gd name="T3" fmla="*/ 24 h 24"/>
                    <a:gd name="T4" fmla="*/ 1 w 24"/>
                    <a:gd name="T5" fmla="*/ 21 h 24"/>
                    <a:gd name="T6" fmla="*/ 20 w 24"/>
                    <a:gd name="T7" fmla="*/ 1 h 24"/>
                    <a:gd name="T8" fmla="*/ 23 w 24"/>
                    <a:gd name="T9" fmla="*/ 1 h 24"/>
                    <a:gd name="T10" fmla="*/ 24 w 24"/>
                    <a:gd name="T11" fmla="*/ 4 h 24"/>
                    <a:gd name="T12" fmla="*/ 4 w 24"/>
                    <a:gd name="T13" fmla="*/ 24 h 24"/>
                    <a:gd name="T14" fmla="*/ 3 w 24"/>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24">
                      <a:moveTo>
                        <a:pt x="3" y="24"/>
                      </a:moveTo>
                      <a:cubicBezTo>
                        <a:pt x="2" y="24"/>
                        <a:pt x="2" y="24"/>
                        <a:pt x="1" y="24"/>
                      </a:cubicBezTo>
                      <a:cubicBezTo>
                        <a:pt x="0" y="23"/>
                        <a:pt x="0" y="22"/>
                        <a:pt x="1" y="21"/>
                      </a:cubicBezTo>
                      <a:cubicBezTo>
                        <a:pt x="20" y="1"/>
                        <a:pt x="20" y="1"/>
                        <a:pt x="20" y="1"/>
                      </a:cubicBezTo>
                      <a:cubicBezTo>
                        <a:pt x="21" y="0"/>
                        <a:pt x="23" y="0"/>
                        <a:pt x="23" y="1"/>
                      </a:cubicBezTo>
                      <a:cubicBezTo>
                        <a:pt x="24" y="2"/>
                        <a:pt x="24" y="3"/>
                        <a:pt x="24" y="4"/>
                      </a:cubicBezTo>
                      <a:cubicBezTo>
                        <a:pt x="4" y="24"/>
                        <a:pt x="4" y="24"/>
                        <a:pt x="4" y="24"/>
                      </a:cubicBezTo>
                      <a:cubicBezTo>
                        <a:pt x="4" y="24"/>
                        <a:pt x="3" y="24"/>
                        <a:pt x="3" y="24"/>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8"/>
                <p:cNvSpPr>
                  <a:spLocks/>
                </p:cNvSpPr>
                <p:nvPr/>
              </p:nvSpPr>
              <p:spPr bwMode="auto">
                <a:xfrm>
                  <a:off x="200025" y="3162301"/>
                  <a:ext cx="127000" cy="53975"/>
                </a:xfrm>
                <a:custGeom>
                  <a:avLst/>
                  <a:gdLst>
                    <a:gd name="T0" fmla="*/ 32 w 34"/>
                    <a:gd name="T1" fmla="*/ 14 h 14"/>
                    <a:gd name="T2" fmla="*/ 31 w 34"/>
                    <a:gd name="T3" fmla="*/ 14 h 14"/>
                    <a:gd name="T4" fmla="*/ 2 w 34"/>
                    <a:gd name="T5" fmla="*/ 4 h 14"/>
                    <a:gd name="T6" fmla="*/ 0 w 34"/>
                    <a:gd name="T7" fmla="*/ 1 h 14"/>
                    <a:gd name="T8" fmla="*/ 3 w 34"/>
                    <a:gd name="T9" fmla="*/ 0 h 14"/>
                    <a:gd name="T10" fmla="*/ 33 w 34"/>
                    <a:gd name="T11" fmla="*/ 10 h 14"/>
                    <a:gd name="T12" fmla="*/ 34 w 34"/>
                    <a:gd name="T13" fmla="*/ 13 h 14"/>
                    <a:gd name="T14" fmla="*/ 32 w 34"/>
                    <a:gd name="T15" fmla="*/ 1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14">
                      <a:moveTo>
                        <a:pt x="32" y="14"/>
                      </a:moveTo>
                      <a:cubicBezTo>
                        <a:pt x="32" y="14"/>
                        <a:pt x="31" y="14"/>
                        <a:pt x="31" y="14"/>
                      </a:cubicBezTo>
                      <a:cubicBezTo>
                        <a:pt x="2" y="4"/>
                        <a:pt x="2" y="4"/>
                        <a:pt x="2" y="4"/>
                      </a:cubicBezTo>
                      <a:cubicBezTo>
                        <a:pt x="0" y="4"/>
                        <a:pt x="0" y="3"/>
                        <a:pt x="0" y="1"/>
                      </a:cubicBezTo>
                      <a:cubicBezTo>
                        <a:pt x="1" y="0"/>
                        <a:pt x="2" y="0"/>
                        <a:pt x="3" y="0"/>
                      </a:cubicBezTo>
                      <a:cubicBezTo>
                        <a:pt x="33" y="10"/>
                        <a:pt x="33" y="10"/>
                        <a:pt x="33" y="10"/>
                      </a:cubicBezTo>
                      <a:cubicBezTo>
                        <a:pt x="34" y="11"/>
                        <a:pt x="34" y="12"/>
                        <a:pt x="34" y="13"/>
                      </a:cubicBezTo>
                      <a:cubicBezTo>
                        <a:pt x="34" y="14"/>
                        <a:pt x="33" y="14"/>
                        <a:pt x="32" y="14"/>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9"/>
                <p:cNvSpPr>
                  <a:spLocks/>
                </p:cNvSpPr>
                <p:nvPr/>
              </p:nvSpPr>
              <p:spPr bwMode="auto">
                <a:xfrm>
                  <a:off x="192088" y="3162301"/>
                  <a:ext cx="57150" cy="106363"/>
                </a:xfrm>
                <a:custGeom>
                  <a:avLst/>
                  <a:gdLst>
                    <a:gd name="T0" fmla="*/ 13 w 15"/>
                    <a:gd name="T1" fmla="*/ 28 h 28"/>
                    <a:gd name="T2" fmla="*/ 11 w 15"/>
                    <a:gd name="T3" fmla="*/ 27 h 28"/>
                    <a:gd name="T4" fmla="*/ 1 w 15"/>
                    <a:gd name="T5" fmla="*/ 4 h 28"/>
                    <a:gd name="T6" fmla="*/ 2 w 15"/>
                    <a:gd name="T7" fmla="*/ 1 h 28"/>
                    <a:gd name="T8" fmla="*/ 5 w 15"/>
                    <a:gd name="T9" fmla="*/ 2 h 28"/>
                    <a:gd name="T10" fmla="*/ 15 w 15"/>
                    <a:gd name="T11" fmla="*/ 25 h 28"/>
                    <a:gd name="T12" fmla="*/ 13 w 15"/>
                    <a:gd name="T13" fmla="*/ 28 h 28"/>
                    <a:gd name="T14" fmla="*/ 13 w 15"/>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28">
                      <a:moveTo>
                        <a:pt x="13" y="28"/>
                      </a:moveTo>
                      <a:cubicBezTo>
                        <a:pt x="12" y="28"/>
                        <a:pt x="11" y="28"/>
                        <a:pt x="11" y="27"/>
                      </a:cubicBezTo>
                      <a:cubicBezTo>
                        <a:pt x="1" y="4"/>
                        <a:pt x="1" y="4"/>
                        <a:pt x="1" y="4"/>
                      </a:cubicBezTo>
                      <a:cubicBezTo>
                        <a:pt x="0" y="3"/>
                        <a:pt x="1" y="1"/>
                        <a:pt x="2" y="1"/>
                      </a:cubicBezTo>
                      <a:cubicBezTo>
                        <a:pt x="3" y="0"/>
                        <a:pt x="4" y="1"/>
                        <a:pt x="5" y="2"/>
                      </a:cubicBezTo>
                      <a:cubicBezTo>
                        <a:pt x="15" y="25"/>
                        <a:pt x="15" y="25"/>
                        <a:pt x="15" y="25"/>
                      </a:cubicBezTo>
                      <a:cubicBezTo>
                        <a:pt x="15" y="26"/>
                        <a:pt x="14" y="28"/>
                        <a:pt x="13" y="28"/>
                      </a:cubicBezTo>
                      <a:cubicBezTo>
                        <a:pt x="13" y="28"/>
                        <a:pt x="13" y="28"/>
                        <a:pt x="13" y="28"/>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Freeform 10"/>
                <p:cNvSpPr>
                  <a:spLocks noEditPoints="1"/>
                </p:cNvSpPr>
                <p:nvPr/>
              </p:nvSpPr>
              <p:spPr bwMode="auto">
                <a:xfrm>
                  <a:off x="95250" y="3046413"/>
                  <a:ext cx="439738" cy="300038"/>
                </a:xfrm>
                <a:custGeom>
                  <a:avLst/>
                  <a:gdLst>
                    <a:gd name="T0" fmla="*/ 57 w 117"/>
                    <a:gd name="T1" fmla="*/ 5 h 78"/>
                    <a:gd name="T2" fmla="*/ 82 w 117"/>
                    <a:gd name="T3" fmla="*/ 25 h 78"/>
                    <a:gd name="T4" fmla="*/ 87 w 117"/>
                    <a:gd name="T5" fmla="*/ 29 h 78"/>
                    <a:gd name="T6" fmla="*/ 87 w 117"/>
                    <a:gd name="T7" fmla="*/ 29 h 78"/>
                    <a:gd name="T8" fmla="*/ 90 w 117"/>
                    <a:gd name="T9" fmla="*/ 29 h 78"/>
                    <a:gd name="T10" fmla="*/ 112 w 117"/>
                    <a:gd name="T11" fmla="*/ 51 h 78"/>
                    <a:gd name="T12" fmla="*/ 90 w 117"/>
                    <a:gd name="T13" fmla="*/ 73 h 78"/>
                    <a:gd name="T14" fmla="*/ 90 w 117"/>
                    <a:gd name="T15" fmla="*/ 73 h 78"/>
                    <a:gd name="T16" fmla="*/ 25 w 117"/>
                    <a:gd name="T17" fmla="*/ 73 h 78"/>
                    <a:gd name="T18" fmla="*/ 25 w 117"/>
                    <a:gd name="T19" fmla="*/ 73 h 78"/>
                    <a:gd name="T20" fmla="*/ 24 w 117"/>
                    <a:gd name="T21" fmla="*/ 73 h 78"/>
                    <a:gd name="T22" fmla="*/ 24 w 117"/>
                    <a:gd name="T23" fmla="*/ 73 h 78"/>
                    <a:gd name="T24" fmla="*/ 5 w 117"/>
                    <a:gd name="T25" fmla="*/ 54 h 78"/>
                    <a:gd name="T26" fmla="*/ 24 w 117"/>
                    <a:gd name="T27" fmla="*/ 35 h 78"/>
                    <a:gd name="T28" fmla="*/ 26 w 117"/>
                    <a:gd name="T29" fmla="*/ 35 h 78"/>
                    <a:gd name="T30" fmla="*/ 27 w 117"/>
                    <a:gd name="T31" fmla="*/ 35 h 78"/>
                    <a:gd name="T32" fmla="*/ 30 w 117"/>
                    <a:gd name="T33" fmla="*/ 34 h 78"/>
                    <a:gd name="T34" fmla="*/ 32 w 117"/>
                    <a:gd name="T35" fmla="*/ 30 h 78"/>
                    <a:gd name="T36" fmla="*/ 57 w 117"/>
                    <a:gd name="T37" fmla="*/ 5 h 78"/>
                    <a:gd name="T38" fmla="*/ 57 w 117"/>
                    <a:gd name="T39" fmla="*/ 0 h 78"/>
                    <a:gd name="T40" fmla="*/ 27 w 117"/>
                    <a:gd name="T41" fmla="*/ 30 h 78"/>
                    <a:gd name="T42" fmla="*/ 24 w 117"/>
                    <a:gd name="T43" fmla="*/ 30 h 78"/>
                    <a:gd name="T44" fmla="*/ 0 w 117"/>
                    <a:gd name="T45" fmla="*/ 54 h 78"/>
                    <a:gd name="T46" fmla="*/ 24 w 117"/>
                    <a:gd name="T47" fmla="*/ 78 h 78"/>
                    <a:gd name="T48" fmla="*/ 25 w 117"/>
                    <a:gd name="T49" fmla="*/ 78 h 78"/>
                    <a:gd name="T50" fmla="*/ 90 w 117"/>
                    <a:gd name="T51" fmla="*/ 78 h 78"/>
                    <a:gd name="T52" fmla="*/ 90 w 117"/>
                    <a:gd name="T53" fmla="*/ 78 h 78"/>
                    <a:gd name="T54" fmla="*/ 90 w 117"/>
                    <a:gd name="T55" fmla="*/ 78 h 78"/>
                    <a:gd name="T56" fmla="*/ 117 w 117"/>
                    <a:gd name="T57" fmla="*/ 51 h 78"/>
                    <a:gd name="T58" fmla="*/ 90 w 117"/>
                    <a:gd name="T59" fmla="*/ 24 h 78"/>
                    <a:gd name="T60" fmla="*/ 87 w 117"/>
                    <a:gd name="T61" fmla="*/ 24 h 78"/>
                    <a:gd name="T62" fmla="*/ 57 w 117"/>
                    <a:gd name="T6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7" h="78">
                      <a:moveTo>
                        <a:pt x="57" y="5"/>
                      </a:moveTo>
                      <a:cubicBezTo>
                        <a:pt x="69" y="5"/>
                        <a:pt x="79" y="13"/>
                        <a:pt x="82" y="25"/>
                      </a:cubicBezTo>
                      <a:cubicBezTo>
                        <a:pt x="82" y="27"/>
                        <a:pt x="84" y="29"/>
                        <a:pt x="87" y="29"/>
                      </a:cubicBezTo>
                      <a:cubicBezTo>
                        <a:pt x="87" y="29"/>
                        <a:pt x="87" y="29"/>
                        <a:pt x="87" y="29"/>
                      </a:cubicBezTo>
                      <a:cubicBezTo>
                        <a:pt x="88" y="29"/>
                        <a:pt x="89" y="29"/>
                        <a:pt x="90" y="29"/>
                      </a:cubicBezTo>
                      <a:cubicBezTo>
                        <a:pt x="102" y="29"/>
                        <a:pt x="112" y="39"/>
                        <a:pt x="112" y="51"/>
                      </a:cubicBezTo>
                      <a:cubicBezTo>
                        <a:pt x="112" y="63"/>
                        <a:pt x="102" y="73"/>
                        <a:pt x="90" y="73"/>
                      </a:cubicBezTo>
                      <a:cubicBezTo>
                        <a:pt x="90" y="73"/>
                        <a:pt x="90" y="73"/>
                        <a:pt x="90" y="73"/>
                      </a:cubicBezTo>
                      <a:cubicBezTo>
                        <a:pt x="25" y="73"/>
                        <a:pt x="25" y="73"/>
                        <a:pt x="25" y="73"/>
                      </a:cubicBezTo>
                      <a:cubicBezTo>
                        <a:pt x="25" y="73"/>
                        <a:pt x="25" y="73"/>
                        <a:pt x="25" y="73"/>
                      </a:cubicBezTo>
                      <a:cubicBezTo>
                        <a:pt x="25" y="73"/>
                        <a:pt x="25" y="73"/>
                        <a:pt x="24" y="73"/>
                      </a:cubicBezTo>
                      <a:cubicBezTo>
                        <a:pt x="24" y="73"/>
                        <a:pt x="24" y="73"/>
                        <a:pt x="24" y="73"/>
                      </a:cubicBezTo>
                      <a:cubicBezTo>
                        <a:pt x="14" y="73"/>
                        <a:pt x="5" y="65"/>
                        <a:pt x="5" y="54"/>
                      </a:cubicBezTo>
                      <a:cubicBezTo>
                        <a:pt x="5" y="44"/>
                        <a:pt x="14" y="35"/>
                        <a:pt x="24" y="35"/>
                      </a:cubicBezTo>
                      <a:cubicBezTo>
                        <a:pt x="25" y="35"/>
                        <a:pt x="26" y="35"/>
                        <a:pt x="26" y="35"/>
                      </a:cubicBezTo>
                      <a:cubicBezTo>
                        <a:pt x="27" y="35"/>
                        <a:pt x="27" y="35"/>
                        <a:pt x="27" y="35"/>
                      </a:cubicBezTo>
                      <a:cubicBezTo>
                        <a:pt x="28" y="35"/>
                        <a:pt x="29" y="35"/>
                        <a:pt x="30" y="34"/>
                      </a:cubicBezTo>
                      <a:cubicBezTo>
                        <a:pt x="31" y="33"/>
                        <a:pt x="32" y="32"/>
                        <a:pt x="32" y="30"/>
                      </a:cubicBezTo>
                      <a:cubicBezTo>
                        <a:pt x="32" y="16"/>
                        <a:pt x="43" y="5"/>
                        <a:pt x="57" y="5"/>
                      </a:cubicBezTo>
                      <a:moveTo>
                        <a:pt x="57" y="0"/>
                      </a:moveTo>
                      <a:cubicBezTo>
                        <a:pt x="40" y="0"/>
                        <a:pt x="27" y="14"/>
                        <a:pt x="27" y="30"/>
                      </a:cubicBezTo>
                      <a:cubicBezTo>
                        <a:pt x="26" y="30"/>
                        <a:pt x="25" y="30"/>
                        <a:pt x="24" y="30"/>
                      </a:cubicBezTo>
                      <a:cubicBezTo>
                        <a:pt x="11" y="30"/>
                        <a:pt x="0" y="41"/>
                        <a:pt x="0" y="54"/>
                      </a:cubicBezTo>
                      <a:cubicBezTo>
                        <a:pt x="0" y="67"/>
                        <a:pt x="11" y="78"/>
                        <a:pt x="24" y="78"/>
                      </a:cubicBezTo>
                      <a:cubicBezTo>
                        <a:pt x="25" y="78"/>
                        <a:pt x="25" y="78"/>
                        <a:pt x="25" y="78"/>
                      </a:cubicBezTo>
                      <a:cubicBezTo>
                        <a:pt x="90" y="78"/>
                        <a:pt x="90" y="78"/>
                        <a:pt x="90" y="78"/>
                      </a:cubicBezTo>
                      <a:cubicBezTo>
                        <a:pt x="90" y="78"/>
                        <a:pt x="90" y="78"/>
                        <a:pt x="90" y="78"/>
                      </a:cubicBezTo>
                      <a:cubicBezTo>
                        <a:pt x="90" y="78"/>
                        <a:pt x="90" y="78"/>
                        <a:pt x="90" y="78"/>
                      </a:cubicBezTo>
                      <a:cubicBezTo>
                        <a:pt x="105" y="78"/>
                        <a:pt x="117" y="66"/>
                        <a:pt x="117" y="51"/>
                      </a:cubicBezTo>
                      <a:cubicBezTo>
                        <a:pt x="117" y="36"/>
                        <a:pt x="105" y="24"/>
                        <a:pt x="90" y="24"/>
                      </a:cubicBezTo>
                      <a:cubicBezTo>
                        <a:pt x="89" y="24"/>
                        <a:pt x="88" y="24"/>
                        <a:pt x="87" y="24"/>
                      </a:cubicBezTo>
                      <a:cubicBezTo>
                        <a:pt x="84" y="10"/>
                        <a:pt x="72" y="0"/>
                        <a:pt x="57" y="0"/>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5" name="组合 14"/>
              <p:cNvGrpSpPr/>
              <p:nvPr/>
            </p:nvGrpSpPr>
            <p:grpSpPr>
              <a:xfrm>
                <a:off x="4296526" y="2078848"/>
                <a:ext cx="589025" cy="496368"/>
                <a:chOff x="6659563" y="6438906"/>
                <a:chExt cx="423862" cy="420688"/>
              </a:xfrm>
            </p:grpSpPr>
            <p:sp>
              <p:nvSpPr>
                <p:cNvPr id="33" name="Freeform 4"/>
                <p:cNvSpPr>
                  <a:spLocks noEditPoints="1"/>
                </p:cNvSpPr>
                <p:nvPr/>
              </p:nvSpPr>
              <p:spPr bwMode="auto">
                <a:xfrm>
                  <a:off x="6659563" y="6438906"/>
                  <a:ext cx="423862" cy="420688"/>
                </a:xfrm>
                <a:custGeom>
                  <a:avLst/>
                  <a:gdLst>
                    <a:gd name="T0" fmla="*/ 55 w 110"/>
                    <a:gd name="T1" fmla="*/ 0 h 109"/>
                    <a:gd name="T2" fmla="*/ 0 w 110"/>
                    <a:gd name="T3" fmla="*/ 54 h 109"/>
                    <a:gd name="T4" fmla="*/ 55 w 110"/>
                    <a:gd name="T5" fmla="*/ 109 h 109"/>
                    <a:gd name="T6" fmla="*/ 110 w 110"/>
                    <a:gd name="T7" fmla="*/ 54 h 109"/>
                    <a:gd name="T8" fmla="*/ 55 w 110"/>
                    <a:gd name="T9" fmla="*/ 0 h 109"/>
                    <a:gd name="T10" fmla="*/ 55 w 110"/>
                    <a:gd name="T11" fmla="*/ 104 h 109"/>
                    <a:gd name="T12" fmla="*/ 6 w 110"/>
                    <a:gd name="T13" fmla="*/ 54 h 109"/>
                    <a:gd name="T14" fmla="*/ 55 w 110"/>
                    <a:gd name="T15" fmla="*/ 5 h 109"/>
                    <a:gd name="T16" fmla="*/ 104 w 110"/>
                    <a:gd name="T17" fmla="*/ 54 h 109"/>
                    <a:gd name="T18" fmla="*/ 55 w 110"/>
                    <a:gd name="T19" fmla="*/ 104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09">
                      <a:moveTo>
                        <a:pt x="55" y="0"/>
                      </a:moveTo>
                      <a:cubicBezTo>
                        <a:pt x="25" y="0"/>
                        <a:pt x="0" y="24"/>
                        <a:pt x="0" y="54"/>
                      </a:cubicBezTo>
                      <a:cubicBezTo>
                        <a:pt x="0" y="84"/>
                        <a:pt x="25" y="109"/>
                        <a:pt x="55" y="109"/>
                      </a:cubicBezTo>
                      <a:cubicBezTo>
                        <a:pt x="85" y="109"/>
                        <a:pt x="110" y="84"/>
                        <a:pt x="110" y="54"/>
                      </a:cubicBezTo>
                      <a:cubicBezTo>
                        <a:pt x="110" y="24"/>
                        <a:pt x="85" y="0"/>
                        <a:pt x="55" y="0"/>
                      </a:cubicBezTo>
                      <a:close/>
                      <a:moveTo>
                        <a:pt x="55" y="104"/>
                      </a:moveTo>
                      <a:cubicBezTo>
                        <a:pt x="28" y="104"/>
                        <a:pt x="6" y="82"/>
                        <a:pt x="6" y="54"/>
                      </a:cubicBezTo>
                      <a:cubicBezTo>
                        <a:pt x="6" y="27"/>
                        <a:pt x="28" y="5"/>
                        <a:pt x="55" y="5"/>
                      </a:cubicBezTo>
                      <a:cubicBezTo>
                        <a:pt x="82" y="5"/>
                        <a:pt x="104" y="27"/>
                        <a:pt x="104" y="54"/>
                      </a:cubicBezTo>
                      <a:cubicBezTo>
                        <a:pt x="104" y="82"/>
                        <a:pt x="82" y="104"/>
                        <a:pt x="55" y="104"/>
                      </a:cubicBez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5"/>
                <p:cNvSpPr>
                  <a:spLocks/>
                </p:cNvSpPr>
                <p:nvPr/>
              </p:nvSpPr>
              <p:spPr bwMode="auto">
                <a:xfrm>
                  <a:off x="6751638" y="6751638"/>
                  <a:ext cx="238125" cy="65088"/>
                </a:xfrm>
                <a:custGeom>
                  <a:avLst/>
                  <a:gdLst>
                    <a:gd name="T0" fmla="*/ 31 w 62"/>
                    <a:gd name="T1" fmla="*/ 17 h 17"/>
                    <a:gd name="T2" fmla="*/ 1 w 62"/>
                    <a:gd name="T3" fmla="*/ 5 h 17"/>
                    <a:gd name="T4" fmla="*/ 1 w 62"/>
                    <a:gd name="T5" fmla="*/ 1 h 17"/>
                    <a:gd name="T6" fmla="*/ 5 w 62"/>
                    <a:gd name="T7" fmla="*/ 1 h 17"/>
                    <a:gd name="T8" fmla="*/ 31 w 62"/>
                    <a:gd name="T9" fmla="*/ 12 h 17"/>
                    <a:gd name="T10" fmla="*/ 57 w 62"/>
                    <a:gd name="T11" fmla="*/ 1 h 17"/>
                    <a:gd name="T12" fmla="*/ 61 w 62"/>
                    <a:gd name="T13" fmla="*/ 1 h 17"/>
                    <a:gd name="T14" fmla="*/ 61 w 62"/>
                    <a:gd name="T15" fmla="*/ 5 h 17"/>
                    <a:gd name="T16" fmla="*/ 31 w 62"/>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17">
                      <a:moveTo>
                        <a:pt x="31" y="17"/>
                      </a:moveTo>
                      <a:cubicBezTo>
                        <a:pt x="20" y="17"/>
                        <a:pt x="9" y="13"/>
                        <a:pt x="1" y="5"/>
                      </a:cubicBezTo>
                      <a:cubicBezTo>
                        <a:pt x="0" y="4"/>
                        <a:pt x="0" y="2"/>
                        <a:pt x="1" y="1"/>
                      </a:cubicBezTo>
                      <a:cubicBezTo>
                        <a:pt x="2" y="0"/>
                        <a:pt x="3" y="0"/>
                        <a:pt x="5" y="1"/>
                      </a:cubicBezTo>
                      <a:cubicBezTo>
                        <a:pt x="12" y="8"/>
                        <a:pt x="21" y="12"/>
                        <a:pt x="31" y="12"/>
                      </a:cubicBezTo>
                      <a:cubicBezTo>
                        <a:pt x="41" y="12"/>
                        <a:pt x="50" y="8"/>
                        <a:pt x="57" y="1"/>
                      </a:cubicBezTo>
                      <a:cubicBezTo>
                        <a:pt x="59" y="0"/>
                        <a:pt x="60" y="0"/>
                        <a:pt x="61" y="1"/>
                      </a:cubicBezTo>
                      <a:cubicBezTo>
                        <a:pt x="62" y="2"/>
                        <a:pt x="62" y="4"/>
                        <a:pt x="61" y="5"/>
                      </a:cubicBezTo>
                      <a:cubicBezTo>
                        <a:pt x="53" y="13"/>
                        <a:pt x="42" y="17"/>
                        <a:pt x="31" y="17"/>
                      </a:cubicBez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Rectangle 6"/>
                <p:cNvSpPr>
                  <a:spLocks noChangeArrowheads="1"/>
                </p:cNvSpPr>
                <p:nvPr/>
              </p:nvSpPr>
              <p:spPr bwMode="auto">
                <a:xfrm>
                  <a:off x="6794500" y="6581776"/>
                  <a:ext cx="22225" cy="131763"/>
                </a:xfrm>
                <a:prstGeom prst="rect">
                  <a:avLst/>
                </a:prstGeom>
                <a:solidFill>
                  <a:srgbClr val="15B0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7"/>
                <p:cNvSpPr>
                  <a:spLocks noEditPoints="1"/>
                </p:cNvSpPr>
                <p:nvPr/>
              </p:nvSpPr>
              <p:spPr bwMode="auto">
                <a:xfrm>
                  <a:off x="6848475" y="6581777"/>
                  <a:ext cx="100012" cy="131763"/>
                </a:xfrm>
                <a:custGeom>
                  <a:avLst/>
                  <a:gdLst>
                    <a:gd name="T0" fmla="*/ 14 w 26"/>
                    <a:gd name="T1" fmla="*/ 22 h 34"/>
                    <a:gd name="T2" fmla="*/ 7 w 26"/>
                    <a:gd name="T3" fmla="*/ 22 h 34"/>
                    <a:gd name="T4" fmla="*/ 7 w 26"/>
                    <a:gd name="T5" fmla="*/ 34 h 34"/>
                    <a:gd name="T6" fmla="*/ 0 w 26"/>
                    <a:gd name="T7" fmla="*/ 34 h 34"/>
                    <a:gd name="T8" fmla="*/ 0 w 26"/>
                    <a:gd name="T9" fmla="*/ 0 h 34"/>
                    <a:gd name="T10" fmla="*/ 14 w 26"/>
                    <a:gd name="T11" fmla="*/ 0 h 34"/>
                    <a:gd name="T12" fmla="*/ 26 w 26"/>
                    <a:gd name="T13" fmla="*/ 11 h 34"/>
                    <a:gd name="T14" fmla="*/ 14 w 26"/>
                    <a:gd name="T15" fmla="*/ 22 h 34"/>
                    <a:gd name="T16" fmla="*/ 14 w 26"/>
                    <a:gd name="T17" fmla="*/ 5 h 34"/>
                    <a:gd name="T18" fmla="*/ 7 w 26"/>
                    <a:gd name="T19" fmla="*/ 5 h 34"/>
                    <a:gd name="T20" fmla="*/ 7 w 26"/>
                    <a:gd name="T21" fmla="*/ 16 h 34"/>
                    <a:gd name="T22" fmla="*/ 14 w 26"/>
                    <a:gd name="T23" fmla="*/ 16 h 34"/>
                    <a:gd name="T24" fmla="*/ 20 w 26"/>
                    <a:gd name="T25" fmla="*/ 11 h 34"/>
                    <a:gd name="T26" fmla="*/ 14 w 26"/>
                    <a:gd name="T27" fmla="*/ 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34">
                      <a:moveTo>
                        <a:pt x="14" y="22"/>
                      </a:moveTo>
                      <a:cubicBezTo>
                        <a:pt x="7" y="22"/>
                        <a:pt x="7" y="22"/>
                        <a:pt x="7" y="22"/>
                      </a:cubicBezTo>
                      <a:cubicBezTo>
                        <a:pt x="7" y="34"/>
                        <a:pt x="7" y="34"/>
                        <a:pt x="7" y="34"/>
                      </a:cubicBezTo>
                      <a:cubicBezTo>
                        <a:pt x="0" y="34"/>
                        <a:pt x="0" y="34"/>
                        <a:pt x="0" y="34"/>
                      </a:cubicBezTo>
                      <a:cubicBezTo>
                        <a:pt x="0" y="0"/>
                        <a:pt x="0" y="0"/>
                        <a:pt x="0" y="0"/>
                      </a:cubicBezTo>
                      <a:cubicBezTo>
                        <a:pt x="14" y="0"/>
                        <a:pt x="14" y="0"/>
                        <a:pt x="14" y="0"/>
                      </a:cubicBezTo>
                      <a:cubicBezTo>
                        <a:pt x="22" y="0"/>
                        <a:pt x="26" y="4"/>
                        <a:pt x="26" y="11"/>
                      </a:cubicBezTo>
                      <a:cubicBezTo>
                        <a:pt x="26" y="17"/>
                        <a:pt x="22" y="22"/>
                        <a:pt x="14" y="22"/>
                      </a:cubicBezTo>
                      <a:close/>
                      <a:moveTo>
                        <a:pt x="14" y="5"/>
                      </a:moveTo>
                      <a:cubicBezTo>
                        <a:pt x="7" y="5"/>
                        <a:pt x="7" y="5"/>
                        <a:pt x="7" y="5"/>
                      </a:cubicBezTo>
                      <a:cubicBezTo>
                        <a:pt x="7" y="16"/>
                        <a:pt x="7" y="16"/>
                        <a:pt x="7" y="16"/>
                      </a:cubicBezTo>
                      <a:cubicBezTo>
                        <a:pt x="14" y="16"/>
                        <a:pt x="14" y="16"/>
                        <a:pt x="14" y="16"/>
                      </a:cubicBezTo>
                      <a:cubicBezTo>
                        <a:pt x="18" y="16"/>
                        <a:pt x="20" y="14"/>
                        <a:pt x="20" y="11"/>
                      </a:cubicBezTo>
                      <a:cubicBezTo>
                        <a:pt x="20" y="8"/>
                        <a:pt x="18" y="5"/>
                        <a:pt x="14" y="5"/>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7" name="直接箭头连接符 16"/>
              <p:cNvCxnSpPr>
                <a:stCxn id="47" idx="2"/>
              </p:cNvCxnSpPr>
              <p:nvPr/>
            </p:nvCxnSpPr>
            <p:spPr>
              <a:xfrm>
                <a:off x="4598567" y="3647064"/>
                <a:ext cx="13548" cy="8010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TextBox 35"/>
              <p:cNvSpPr txBox="1"/>
              <p:nvPr/>
            </p:nvSpPr>
            <p:spPr>
              <a:xfrm>
                <a:off x="3843616" y="5883464"/>
                <a:ext cx="1720695" cy="318453"/>
              </a:xfrm>
              <a:prstGeom prst="rect">
                <a:avLst/>
              </a:prstGeom>
              <a:noFill/>
            </p:spPr>
            <p:txBody>
              <a:bodyPr wrap="none" rtlCol="0">
                <a:spAutoFit/>
              </a:bodyPr>
              <a:lstStyle/>
              <a:p>
                <a:pPr algn="ct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Auto Scaling</a:t>
                </a:r>
              </a:p>
            </p:txBody>
          </p:sp>
          <p:sp>
            <p:nvSpPr>
              <p:cNvPr id="20" name="文本框 19"/>
              <p:cNvSpPr txBox="1"/>
              <p:nvPr/>
            </p:nvSpPr>
            <p:spPr>
              <a:xfrm>
                <a:off x="3705497" y="3269224"/>
                <a:ext cx="683995" cy="318453"/>
              </a:xfrm>
              <a:prstGeom prst="rect">
                <a:avLst/>
              </a:prstGeom>
              <a:noFill/>
            </p:spPr>
            <p:txBody>
              <a:bodyPr wrap="none" rtlCol="0">
                <a:spAutoFit/>
              </a:bodyPr>
              <a:lstStyle/>
              <a:p>
                <a:pP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ELB</a:t>
                </a:r>
                <a:endPar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a:xfrm>
                <a:off x="3702425" y="2140708"/>
                <a:ext cx="620198" cy="318453"/>
              </a:xfrm>
              <a:prstGeom prst="rect">
                <a:avLst/>
              </a:prstGeom>
              <a:noFill/>
            </p:spPr>
            <p:txBody>
              <a:bodyPr wrap="none" rtlCol="0">
                <a:spAutoFit/>
              </a:bodyPr>
              <a:lstStyle/>
              <a:p>
                <a:pP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EIP</a:t>
                </a:r>
                <a:endPar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102"/>
              <p:cNvSpPr txBox="1"/>
              <p:nvPr/>
            </p:nvSpPr>
            <p:spPr>
              <a:xfrm>
                <a:off x="7003221" y="4217347"/>
                <a:ext cx="725007" cy="318453"/>
              </a:xfrm>
              <a:prstGeom prst="rect">
                <a:avLst/>
              </a:prstGeom>
              <a:noFill/>
            </p:spPr>
            <p:txBody>
              <a:bodyPr wrap="none" rtlCol="0">
                <a:spAutoFit/>
              </a:bodyPr>
              <a:lstStyle/>
              <a:p>
                <a:pPr algn="ct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VPC</a:t>
                </a:r>
              </a:p>
            </p:txBody>
          </p:sp>
          <p:grpSp>
            <p:nvGrpSpPr>
              <p:cNvPr id="23" name="组合 25684"/>
              <p:cNvGrpSpPr>
                <a:grpSpLocks/>
              </p:cNvGrpSpPr>
              <p:nvPr/>
            </p:nvGrpSpPr>
            <p:grpSpPr bwMode="auto">
              <a:xfrm>
                <a:off x="4326360" y="1337706"/>
                <a:ext cx="470864" cy="424960"/>
                <a:chOff x="4810126" y="3024982"/>
                <a:chExt cx="682625" cy="688973"/>
              </a:xfrm>
            </p:grpSpPr>
            <p:sp>
              <p:nvSpPr>
                <p:cNvPr id="28" name="Freeform 12"/>
                <p:cNvSpPr>
                  <a:spLocks/>
                </p:cNvSpPr>
                <p:nvPr/>
              </p:nvSpPr>
              <p:spPr bwMode="auto">
                <a:xfrm>
                  <a:off x="4810126" y="3024982"/>
                  <a:ext cx="682625" cy="688973"/>
                </a:xfrm>
                <a:custGeom>
                  <a:avLst/>
                  <a:gdLst>
                    <a:gd name="T0" fmla="*/ 2147483646 w 804"/>
                    <a:gd name="T1" fmla="*/ 2147483646 h 805"/>
                    <a:gd name="T2" fmla="*/ 2147483646 w 804"/>
                    <a:gd name="T3" fmla="*/ 2147483646 h 805"/>
                    <a:gd name="T4" fmla="*/ 2147483646 w 804"/>
                    <a:gd name="T5" fmla="*/ 2147483646 h 805"/>
                    <a:gd name="T6" fmla="*/ 0 w 804"/>
                    <a:gd name="T7" fmla="*/ 2147483646 h 805"/>
                    <a:gd name="T8" fmla="*/ 2147483646 w 804"/>
                    <a:gd name="T9" fmla="*/ 0 h 805"/>
                    <a:gd name="T10" fmla="*/ 2147483646 w 804"/>
                    <a:gd name="T11" fmla="*/ 2147483646 h 8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4" h="805">
                      <a:moveTo>
                        <a:pt x="804" y="403"/>
                      </a:moveTo>
                      <a:lnTo>
                        <a:pt x="804" y="403"/>
                      </a:lnTo>
                      <a:cubicBezTo>
                        <a:pt x="804" y="625"/>
                        <a:pt x="624" y="805"/>
                        <a:pt x="402" y="805"/>
                      </a:cubicBezTo>
                      <a:cubicBezTo>
                        <a:pt x="180" y="805"/>
                        <a:pt x="0" y="625"/>
                        <a:pt x="0" y="403"/>
                      </a:cubicBezTo>
                      <a:cubicBezTo>
                        <a:pt x="0" y="181"/>
                        <a:pt x="180" y="0"/>
                        <a:pt x="402" y="0"/>
                      </a:cubicBezTo>
                      <a:cubicBezTo>
                        <a:pt x="624" y="0"/>
                        <a:pt x="804" y="181"/>
                        <a:pt x="804" y="403"/>
                      </a:cubicBezTo>
                      <a:close/>
                    </a:path>
                  </a:pathLst>
                </a:custGeom>
                <a:solidFill>
                  <a:srgbClr val="15B0E8"/>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5662"/>
                <p:cNvGrpSpPr>
                  <a:grpSpLocks/>
                </p:cNvGrpSpPr>
                <p:nvPr/>
              </p:nvGrpSpPr>
              <p:grpSpPr bwMode="auto">
                <a:xfrm>
                  <a:off x="4927601" y="3164681"/>
                  <a:ext cx="406400" cy="382588"/>
                  <a:chOff x="4927601" y="2949576"/>
                  <a:chExt cx="406400" cy="382588"/>
                </a:xfrm>
              </p:grpSpPr>
              <p:sp>
                <p:nvSpPr>
                  <p:cNvPr id="30" name="Freeform 77"/>
                  <p:cNvSpPr>
                    <a:spLocks noEditPoints="1"/>
                  </p:cNvSpPr>
                  <p:nvPr/>
                </p:nvSpPr>
                <p:spPr bwMode="auto">
                  <a:xfrm>
                    <a:off x="5097463" y="2949576"/>
                    <a:ext cx="169863" cy="171450"/>
                  </a:xfrm>
                  <a:custGeom>
                    <a:avLst/>
                    <a:gdLst>
                      <a:gd name="T0" fmla="*/ 2147483646 w 201"/>
                      <a:gd name="T1" fmla="*/ 2147483646 h 201"/>
                      <a:gd name="T2" fmla="*/ 2147483646 w 201"/>
                      <a:gd name="T3" fmla="*/ 2147483646 h 201"/>
                      <a:gd name="T4" fmla="*/ 2147483646 w 201"/>
                      <a:gd name="T5" fmla="*/ 2147483646 h 201"/>
                      <a:gd name="T6" fmla="*/ 2147483646 w 201"/>
                      <a:gd name="T7" fmla="*/ 2147483646 h 201"/>
                      <a:gd name="T8" fmla="*/ 2147483646 w 201"/>
                      <a:gd name="T9" fmla="*/ 2147483646 h 201"/>
                      <a:gd name="T10" fmla="*/ 2147483646 w 201"/>
                      <a:gd name="T11" fmla="*/ 2147483646 h 201"/>
                      <a:gd name="T12" fmla="*/ 2147483646 w 201"/>
                      <a:gd name="T13" fmla="*/ 2147483646 h 201"/>
                      <a:gd name="T14" fmla="*/ 2147483646 w 201"/>
                      <a:gd name="T15" fmla="*/ 2147483646 h 201"/>
                      <a:gd name="T16" fmla="*/ 2147483646 w 201"/>
                      <a:gd name="T17" fmla="*/ 2147483646 h 201"/>
                      <a:gd name="T18" fmla="*/ 2147483646 w 201"/>
                      <a:gd name="T19" fmla="*/ 0 h 201"/>
                      <a:gd name="T20" fmla="*/ 0 w 201"/>
                      <a:gd name="T21" fmla="*/ 2147483646 h 201"/>
                      <a:gd name="T22" fmla="*/ 2147483646 w 201"/>
                      <a:gd name="T23" fmla="*/ 2147483646 h 2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1" h="201">
                        <a:moveTo>
                          <a:pt x="101" y="21"/>
                        </a:moveTo>
                        <a:lnTo>
                          <a:pt x="101" y="21"/>
                        </a:lnTo>
                        <a:cubicBezTo>
                          <a:pt x="145" y="21"/>
                          <a:pt x="181" y="56"/>
                          <a:pt x="181" y="101"/>
                        </a:cubicBezTo>
                        <a:cubicBezTo>
                          <a:pt x="181" y="145"/>
                          <a:pt x="145" y="181"/>
                          <a:pt x="101" y="181"/>
                        </a:cubicBezTo>
                        <a:cubicBezTo>
                          <a:pt x="57" y="181"/>
                          <a:pt x="21" y="145"/>
                          <a:pt x="21" y="101"/>
                        </a:cubicBezTo>
                        <a:cubicBezTo>
                          <a:pt x="21" y="56"/>
                          <a:pt x="57" y="21"/>
                          <a:pt x="101" y="21"/>
                        </a:cubicBezTo>
                        <a:close/>
                        <a:moveTo>
                          <a:pt x="101" y="201"/>
                        </a:moveTo>
                        <a:lnTo>
                          <a:pt x="101" y="201"/>
                        </a:lnTo>
                        <a:cubicBezTo>
                          <a:pt x="156" y="201"/>
                          <a:pt x="201" y="156"/>
                          <a:pt x="201" y="101"/>
                        </a:cubicBezTo>
                        <a:cubicBezTo>
                          <a:pt x="201" y="45"/>
                          <a:pt x="156" y="0"/>
                          <a:pt x="101" y="0"/>
                        </a:cubicBezTo>
                        <a:cubicBezTo>
                          <a:pt x="46" y="0"/>
                          <a:pt x="0" y="45"/>
                          <a:pt x="0" y="101"/>
                        </a:cubicBezTo>
                        <a:cubicBezTo>
                          <a:pt x="0" y="156"/>
                          <a:pt x="46" y="201"/>
                          <a:pt x="101" y="201"/>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78"/>
                  <p:cNvSpPr>
                    <a:spLocks noEditPoints="1"/>
                  </p:cNvSpPr>
                  <p:nvPr/>
                </p:nvSpPr>
                <p:spPr bwMode="auto">
                  <a:xfrm>
                    <a:off x="4940301" y="3114676"/>
                    <a:ext cx="393700" cy="217488"/>
                  </a:xfrm>
                  <a:custGeom>
                    <a:avLst/>
                    <a:gdLst>
                      <a:gd name="T0" fmla="*/ 2147483646 w 463"/>
                      <a:gd name="T1" fmla="*/ 2147483646 h 253"/>
                      <a:gd name="T2" fmla="*/ 2147483646 w 463"/>
                      <a:gd name="T3" fmla="*/ 2147483646 h 253"/>
                      <a:gd name="T4" fmla="*/ 2147483646 w 463"/>
                      <a:gd name="T5" fmla="*/ 2147483646 h 253"/>
                      <a:gd name="T6" fmla="*/ 2147483646 w 463"/>
                      <a:gd name="T7" fmla="*/ 2147483646 h 253"/>
                      <a:gd name="T8" fmla="*/ 2147483646 w 463"/>
                      <a:gd name="T9" fmla="*/ 2147483646 h 253"/>
                      <a:gd name="T10" fmla="*/ 2147483646 w 463"/>
                      <a:gd name="T11" fmla="*/ 2147483646 h 253"/>
                      <a:gd name="T12" fmla="*/ 2147483646 w 463"/>
                      <a:gd name="T13" fmla="*/ 2147483646 h 253"/>
                      <a:gd name="T14" fmla="*/ 2147483646 w 463"/>
                      <a:gd name="T15" fmla="*/ 2147483646 h 253"/>
                      <a:gd name="T16" fmla="*/ 2147483646 w 463"/>
                      <a:gd name="T17" fmla="*/ 2147483646 h 253"/>
                      <a:gd name="T18" fmla="*/ 2147483646 w 463"/>
                      <a:gd name="T19" fmla="*/ 1270297549 h 253"/>
                      <a:gd name="T20" fmla="*/ 2147483646 w 463"/>
                      <a:gd name="T21" fmla="*/ 1270297549 h 253"/>
                      <a:gd name="T22" fmla="*/ 2147483646 w 463"/>
                      <a:gd name="T23" fmla="*/ 2147483646 h 253"/>
                      <a:gd name="T24" fmla="*/ 2147483646 w 463"/>
                      <a:gd name="T25" fmla="*/ 2147483646 h 253"/>
                      <a:gd name="T26" fmla="*/ 2147483646 w 463"/>
                      <a:gd name="T27" fmla="*/ 2147483646 h 253"/>
                      <a:gd name="T28" fmla="*/ 2147483646 w 463"/>
                      <a:gd name="T29" fmla="*/ 2147483646 h 253"/>
                      <a:gd name="T30" fmla="*/ 2147483646 w 463"/>
                      <a:gd name="T31" fmla="*/ 2147483646 h 253"/>
                      <a:gd name="T32" fmla="*/ 2147483646 w 463"/>
                      <a:gd name="T33" fmla="*/ 2147483646 h 253"/>
                      <a:gd name="T34" fmla="*/ 2147483646 w 463"/>
                      <a:gd name="T35" fmla="*/ 2147483646 h 253"/>
                      <a:gd name="T36" fmla="*/ 2147483646 w 463"/>
                      <a:gd name="T37" fmla="*/ 2147483646 h 253"/>
                      <a:gd name="T38" fmla="*/ 2147483646 w 463"/>
                      <a:gd name="T39" fmla="*/ 1905815537 h 253"/>
                      <a:gd name="T40" fmla="*/ 2147483646 w 463"/>
                      <a:gd name="T41" fmla="*/ 2147483646 h 253"/>
                      <a:gd name="T42" fmla="*/ 2147483646 w 463"/>
                      <a:gd name="T43" fmla="*/ 2147483646 h 253"/>
                      <a:gd name="T44" fmla="*/ 2147483646 w 463"/>
                      <a:gd name="T45" fmla="*/ 2147483646 h 253"/>
                      <a:gd name="T46" fmla="*/ 0 w 463"/>
                      <a:gd name="T47" fmla="*/ 2147483646 h 253"/>
                      <a:gd name="T48" fmla="*/ 0 w 463"/>
                      <a:gd name="T49" fmla="*/ 2147483646 h 253"/>
                      <a:gd name="T50" fmla="*/ 2147483646 w 463"/>
                      <a:gd name="T51" fmla="*/ 2147483646 h 253"/>
                      <a:gd name="T52" fmla="*/ 2147483646 w 463"/>
                      <a:gd name="T53" fmla="*/ 2147483646 h 253"/>
                      <a:gd name="T54" fmla="*/ 2147483646 w 463"/>
                      <a:gd name="T55" fmla="*/ 2147483646 h 253"/>
                      <a:gd name="T56" fmla="*/ 2147483646 w 463"/>
                      <a:gd name="T57" fmla="*/ 2147483646 h 253"/>
                      <a:gd name="T58" fmla="*/ 2147483646 w 463"/>
                      <a:gd name="T59" fmla="*/ 2147483646 h 253"/>
                      <a:gd name="T60" fmla="*/ 2147483646 w 463"/>
                      <a:gd name="T61" fmla="*/ 2147483646 h 253"/>
                      <a:gd name="T62" fmla="*/ 2147483646 w 463"/>
                      <a:gd name="T63" fmla="*/ 2147483646 h 253"/>
                      <a:gd name="T64" fmla="*/ 2147483646 w 463"/>
                      <a:gd name="T65" fmla="*/ 2147483646 h 253"/>
                      <a:gd name="T66" fmla="*/ 2147483646 w 463"/>
                      <a:gd name="T67" fmla="*/ 2147483646 h 253"/>
                      <a:gd name="T68" fmla="*/ 2147483646 w 463"/>
                      <a:gd name="T69" fmla="*/ 2147483646 h 253"/>
                      <a:gd name="T70" fmla="*/ 2147483646 w 463"/>
                      <a:gd name="T71" fmla="*/ 2147483646 h 253"/>
                      <a:gd name="T72" fmla="*/ 2147483646 w 463"/>
                      <a:gd name="T73" fmla="*/ 2147483646 h 253"/>
                      <a:gd name="T74" fmla="*/ 2147483646 w 463"/>
                      <a:gd name="T75" fmla="*/ 2147483646 h 253"/>
                      <a:gd name="T76" fmla="*/ 2147483646 w 463"/>
                      <a:gd name="T77" fmla="*/ 2147483646 h 253"/>
                      <a:gd name="T78" fmla="*/ 2147483646 w 463"/>
                      <a:gd name="T79" fmla="*/ 2147483646 h 253"/>
                      <a:gd name="T80" fmla="*/ 2147483646 w 463"/>
                      <a:gd name="T81" fmla="*/ 2147483646 h 253"/>
                      <a:gd name="T82" fmla="*/ 2147483646 w 463"/>
                      <a:gd name="T83" fmla="*/ 2147483646 h 253"/>
                      <a:gd name="T84" fmla="*/ 2147483646 w 463"/>
                      <a:gd name="T85" fmla="*/ 2147483646 h 253"/>
                      <a:gd name="T86" fmla="*/ 2147483646 w 463"/>
                      <a:gd name="T87" fmla="*/ 2147483646 h 253"/>
                      <a:gd name="T88" fmla="*/ 2147483646 w 463"/>
                      <a:gd name="T89" fmla="*/ 2147483646 h 253"/>
                      <a:gd name="T90" fmla="*/ 2147483646 w 463"/>
                      <a:gd name="T91" fmla="*/ 2147483646 h 253"/>
                      <a:gd name="T92" fmla="*/ 2147483646 w 463"/>
                      <a:gd name="T93" fmla="*/ 2147483646 h 253"/>
                      <a:gd name="T94" fmla="*/ 2147483646 w 463"/>
                      <a:gd name="T95" fmla="*/ 2147483646 h 253"/>
                      <a:gd name="T96" fmla="*/ 2147483646 w 463"/>
                      <a:gd name="T97" fmla="*/ 2147483646 h 253"/>
                      <a:gd name="T98" fmla="*/ 2147483646 w 463"/>
                      <a:gd name="T99" fmla="*/ 2147483646 h 253"/>
                      <a:gd name="T100" fmla="*/ 2147483646 w 463"/>
                      <a:gd name="T101" fmla="*/ 2147483646 h 253"/>
                      <a:gd name="T102" fmla="*/ 2147483646 w 463"/>
                      <a:gd name="T103" fmla="*/ 2147483646 h 253"/>
                      <a:gd name="T104" fmla="*/ 2147483646 w 463"/>
                      <a:gd name="T105" fmla="*/ 2147483646 h 253"/>
                      <a:gd name="T106" fmla="*/ 2147483646 w 463"/>
                      <a:gd name="T107" fmla="*/ 2147483646 h 253"/>
                      <a:gd name="T108" fmla="*/ 2147483646 w 463"/>
                      <a:gd name="T109" fmla="*/ 2147483646 h 253"/>
                      <a:gd name="T110" fmla="*/ 2147483646 w 463"/>
                      <a:gd name="T111" fmla="*/ 1270297549 h 25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63" h="253">
                        <a:moveTo>
                          <a:pt x="173" y="55"/>
                        </a:moveTo>
                        <a:lnTo>
                          <a:pt x="173" y="55"/>
                        </a:lnTo>
                        <a:lnTo>
                          <a:pt x="173" y="157"/>
                        </a:lnTo>
                        <a:lnTo>
                          <a:pt x="16" y="157"/>
                        </a:lnTo>
                        <a:lnTo>
                          <a:pt x="16" y="55"/>
                        </a:lnTo>
                        <a:lnTo>
                          <a:pt x="137" y="55"/>
                        </a:lnTo>
                        <a:lnTo>
                          <a:pt x="138" y="55"/>
                        </a:lnTo>
                        <a:lnTo>
                          <a:pt x="173" y="55"/>
                        </a:lnTo>
                        <a:close/>
                        <a:moveTo>
                          <a:pt x="384" y="2"/>
                        </a:moveTo>
                        <a:lnTo>
                          <a:pt x="384" y="2"/>
                        </a:lnTo>
                        <a:cubicBezTo>
                          <a:pt x="380" y="0"/>
                          <a:pt x="375" y="1"/>
                          <a:pt x="372" y="4"/>
                        </a:cubicBezTo>
                        <a:lnTo>
                          <a:pt x="332" y="48"/>
                        </a:lnTo>
                        <a:lnTo>
                          <a:pt x="309" y="31"/>
                        </a:lnTo>
                        <a:cubicBezTo>
                          <a:pt x="308" y="30"/>
                          <a:pt x="306" y="29"/>
                          <a:pt x="303" y="29"/>
                        </a:cubicBezTo>
                        <a:lnTo>
                          <a:pt x="262" y="29"/>
                        </a:lnTo>
                        <a:cubicBezTo>
                          <a:pt x="260" y="29"/>
                          <a:pt x="258" y="30"/>
                          <a:pt x="256" y="32"/>
                        </a:cubicBezTo>
                        <a:lnTo>
                          <a:pt x="235" y="48"/>
                        </a:lnTo>
                        <a:lnTo>
                          <a:pt x="195" y="4"/>
                        </a:lnTo>
                        <a:cubicBezTo>
                          <a:pt x="191" y="1"/>
                          <a:pt x="186" y="0"/>
                          <a:pt x="182" y="3"/>
                        </a:cubicBezTo>
                        <a:lnTo>
                          <a:pt x="127" y="38"/>
                        </a:lnTo>
                        <a:lnTo>
                          <a:pt x="127" y="39"/>
                        </a:lnTo>
                        <a:lnTo>
                          <a:pt x="8" y="39"/>
                        </a:lnTo>
                        <a:cubicBezTo>
                          <a:pt x="3" y="39"/>
                          <a:pt x="0" y="42"/>
                          <a:pt x="0" y="47"/>
                        </a:cubicBezTo>
                        <a:lnTo>
                          <a:pt x="0" y="165"/>
                        </a:lnTo>
                        <a:cubicBezTo>
                          <a:pt x="0" y="170"/>
                          <a:pt x="3" y="173"/>
                          <a:pt x="8" y="173"/>
                        </a:cubicBezTo>
                        <a:lnTo>
                          <a:pt x="181" y="173"/>
                        </a:lnTo>
                        <a:cubicBezTo>
                          <a:pt x="186" y="173"/>
                          <a:pt x="189" y="170"/>
                          <a:pt x="189" y="165"/>
                        </a:cubicBezTo>
                        <a:lnTo>
                          <a:pt x="189" y="47"/>
                        </a:lnTo>
                        <a:cubicBezTo>
                          <a:pt x="189" y="42"/>
                          <a:pt x="186" y="39"/>
                          <a:pt x="181" y="39"/>
                        </a:cubicBezTo>
                        <a:lnTo>
                          <a:pt x="163" y="39"/>
                        </a:lnTo>
                        <a:lnTo>
                          <a:pt x="186" y="24"/>
                        </a:lnTo>
                        <a:lnTo>
                          <a:pt x="226" y="69"/>
                        </a:lnTo>
                        <a:cubicBezTo>
                          <a:pt x="230" y="72"/>
                          <a:pt x="236" y="73"/>
                          <a:pt x="240" y="70"/>
                        </a:cubicBezTo>
                        <a:lnTo>
                          <a:pt x="262" y="52"/>
                        </a:lnTo>
                        <a:lnTo>
                          <a:pt x="267" y="69"/>
                        </a:lnTo>
                        <a:lnTo>
                          <a:pt x="255" y="150"/>
                        </a:lnTo>
                        <a:lnTo>
                          <a:pt x="285" y="182"/>
                        </a:lnTo>
                        <a:lnTo>
                          <a:pt x="315" y="150"/>
                        </a:lnTo>
                        <a:lnTo>
                          <a:pt x="299" y="70"/>
                        </a:lnTo>
                        <a:lnTo>
                          <a:pt x="303" y="52"/>
                        </a:lnTo>
                        <a:lnTo>
                          <a:pt x="327" y="69"/>
                        </a:lnTo>
                        <a:cubicBezTo>
                          <a:pt x="331" y="72"/>
                          <a:pt x="337" y="72"/>
                          <a:pt x="340" y="68"/>
                        </a:cubicBezTo>
                        <a:lnTo>
                          <a:pt x="382" y="24"/>
                        </a:lnTo>
                        <a:cubicBezTo>
                          <a:pt x="396" y="31"/>
                          <a:pt x="428" y="49"/>
                          <a:pt x="443" y="59"/>
                        </a:cubicBezTo>
                        <a:lnTo>
                          <a:pt x="443" y="222"/>
                        </a:lnTo>
                        <a:lnTo>
                          <a:pt x="401" y="222"/>
                        </a:lnTo>
                        <a:cubicBezTo>
                          <a:pt x="398" y="215"/>
                          <a:pt x="391" y="211"/>
                          <a:pt x="383" y="211"/>
                        </a:cubicBezTo>
                        <a:cubicBezTo>
                          <a:pt x="371" y="211"/>
                          <a:pt x="362" y="220"/>
                          <a:pt x="362" y="232"/>
                        </a:cubicBezTo>
                        <a:cubicBezTo>
                          <a:pt x="362" y="243"/>
                          <a:pt x="371" y="253"/>
                          <a:pt x="383" y="253"/>
                        </a:cubicBezTo>
                        <a:cubicBezTo>
                          <a:pt x="391" y="253"/>
                          <a:pt x="398" y="248"/>
                          <a:pt x="401" y="242"/>
                        </a:cubicBezTo>
                        <a:lnTo>
                          <a:pt x="453" y="242"/>
                        </a:lnTo>
                        <a:cubicBezTo>
                          <a:pt x="459" y="242"/>
                          <a:pt x="463" y="237"/>
                          <a:pt x="463" y="232"/>
                        </a:cubicBezTo>
                        <a:lnTo>
                          <a:pt x="463" y="54"/>
                        </a:lnTo>
                        <a:cubicBezTo>
                          <a:pt x="463" y="51"/>
                          <a:pt x="462" y="48"/>
                          <a:pt x="459" y="46"/>
                        </a:cubicBezTo>
                        <a:cubicBezTo>
                          <a:pt x="443" y="34"/>
                          <a:pt x="387" y="3"/>
                          <a:pt x="384" y="2"/>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79"/>
                  <p:cNvSpPr>
                    <a:spLocks/>
                  </p:cNvSpPr>
                  <p:nvPr/>
                </p:nvSpPr>
                <p:spPr bwMode="auto">
                  <a:xfrm>
                    <a:off x="4927601" y="3270251"/>
                    <a:ext cx="301625" cy="61913"/>
                  </a:xfrm>
                  <a:custGeom>
                    <a:avLst/>
                    <a:gdLst>
                      <a:gd name="T0" fmla="*/ 2147483646 w 354"/>
                      <a:gd name="T1" fmla="*/ 2147483646 h 71"/>
                      <a:gd name="T2" fmla="*/ 2147483646 w 354"/>
                      <a:gd name="T3" fmla="*/ 2147483646 h 71"/>
                      <a:gd name="T4" fmla="*/ 2147483646 w 354"/>
                      <a:gd name="T5" fmla="*/ 2147483646 h 71"/>
                      <a:gd name="T6" fmla="*/ 2147483646 w 354"/>
                      <a:gd name="T7" fmla="*/ 2147483646 h 71"/>
                      <a:gd name="T8" fmla="*/ 2147483646 w 354"/>
                      <a:gd name="T9" fmla="*/ 2147483646 h 71"/>
                      <a:gd name="T10" fmla="*/ 2147483646 w 354"/>
                      <a:gd name="T11" fmla="*/ 2147483646 h 71"/>
                      <a:gd name="T12" fmla="*/ 2147483646 w 354"/>
                      <a:gd name="T13" fmla="*/ 2147483646 h 71"/>
                      <a:gd name="T14" fmla="*/ 2147483646 w 354"/>
                      <a:gd name="T15" fmla="*/ 0 h 71"/>
                      <a:gd name="T16" fmla="*/ 2147483646 w 354"/>
                      <a:gd name="T17" fmla="*/ 0 h 71"/>
                      <a:gd name="T18" fmla="*/ 0 w 354"/>
                      <a:gd name="T19" fmla="*/ 2147483646 h 71"/>
                      <a:gd name="T20" fmla="*/ 0 w 354"/>
                      <a:gd name="T21" fmla="*/ 2147483646 h 71"/>
                      <a:gd name="T22" fmla="*/ 2147483646 w 354"/>
                      <a:gd name="T23" fmla="*/ 2147483646 h 71"/>
                      <a:gd name="T24" fmla="*/ 2147483646 w 354"/>
                      <a:gd name="T25" fmla="*/ 2147483646 h 71"/>
                      <a:gd name="T26" fmla="*/ 2147483646 w 354"/>
                      <a:gd name="T27" fmla="*/ 2147483646 h 71"/>
                      <a:gd name="T28" fmla="*/ 2147483646 w 354"/>
                      <a:gd name="T29" fmla="*/ 2147483646 h 71"/>
                      <a:gd name="T30" fmla="*/ 2147483646 w 354"/>
                      <a:gd name="T31" fmla="*/ 2147483646 h 71"/>
                      <a:gd name="T32" fmla="*/ 2147483646 w 354"/>
                      <a:gd name="T33" fmla="*/ 2147483646 h 71"/>
                      <a:gd name="T34" fmla="*/ 2147483646 w 354"/>
                      <a:gd name="T35" fmla="*/ 2147483646 h 7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54" h="71">
                        <a:moveTo>
                          <a:pt x="333" y="29"/>
                        </a:moveTo>
                        <a:lnTo>
                          <a:pt x="333" y="29"/>
                        </a:lnTo>
                        <a:cubicBezTo>
                          <a:pt x="325" y="29"/>
                          <a:pt x="319" y="33"/>
                          <a:pt x="315" y="40"/>
                        </a:cubicBezTo>
                        <a:lnTo>
                          <a:pt x="145" y="40"/>
                        </a:lnTo>
                        <a:lnTo>
                          <a:pt x="145" y="27"/>
                        </a:lnTo>
                        <a:lnTo>
                          <a:pt x="219" y="27"/>
                        </a:lnTo>
                        <a:lnTo>
                          <a:pt x="219" y="14"/>
                        </a:lnTo>
                        <a:lnTo>
                          <a:pt x="196" y="0"/>
                        </a:lnTo>
                        <a:lnTo>
                          <a:pt x="15" y="0"/>
                        </a:lnTo>
                        <a:lnTo>
                          <a:pt x="0" y="14"/>
                        </a:lnTo>
                        <a:lnTo>
                          <a:pt x="0" y="27"/>
                        </a:lnTo>
                        <a:lnTo>
                          <a:pt x="124" y="27"/>
                        </a:lnTo>
                        <a:lnTo>
                          <a:pt x="124" y="50"/>
                        </a:lnTo>
                        <a:cubicBezTo>
                          <a:pt x="124" y="55"/>
                          <a:pt x="129" y="60"/>
                          <a:pt x="135" y="60"/>
                        </a:cubicBezTo>
                        <a:lnTo>
                          <a:pt x="315" y="60"/>
                        </a:lnTo>
                        <a:cubicBezTo>
                          <a:pt x="318" y="67"/>
                          <a:pt x="325" y="71"/>
                          <a:pt x="333" y="71"/>
                        </a:cubicBezTo>
                        <a:cubicBezTo>
                          <a:pt x="345" y="71"/>
                          <a:pt x="354" y="62"/>
                          <a:pt x="354" y="50"/>
                        </a:cubicBezTo>
                        <a:cubicBezTo>
                          <a:pt x="354" y="38"/>
                          <a:pt x="345" y="29"/>
                          <a:pt x="333" y="2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cxnSp>
            <p:nvCxnSpPr>
              <p:cNvPr id="24" name="直接箭头连接符 23"/>
              <p:cNvCxnSpPr/>
              <p:nvPr/>
            </p:nvCxnSpPr>
            <p:spPr>
              <a:xfrm>
                <a:off x="4574191" y="1762664"/>
                <a:ext cx="0" cy="3550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297871" y="5218119"/>
                <a:ext cx="637697" cy="318453"/>
              </a:xfrm>
              <a:prstGeom prst="rect">
                <a:avLst/>
              </a:prstGeom>
              <a:noFill/>
            </p:spPr>
            <p:txBody>
              <a:bodyPr wrap="none" rtlCol="0">
                <a:spAutoFit/>
              </a:bodyPr>
              <a:lstStyle/>
              <a:p>
                <a:pP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箭头连接符 26"/>
              <p:cNvCxnSpPr/>
              <p:nvPr/>
            </p:nvCxnSpPr>
            <p:spPr>
              <a:xfrm>
                <a:off x="4579832" y="2586480"/>
                <a:ext cx="0" cy="3550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80" name="圆角矩形 79"/>
            <p:cNvSpPr/>
            <p:nvPr/>
          </p:nvSpPr>
          <p:spPr>
            <a:xfrm>
              <a:off x="3747270" y="5532000"/>
              <a:ext cx="395086" cy="168130"/>
            </a:xfrm>
            <a:prstGeom prst="roundRect">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圆角矩形 80"/>
            <p:cNvSpPr/>
            <p:nvPr/>
          </p:nvSpPr>
          <p:spPr>
            <a:xfrm>
              <a:off x="4652496" y="5512122"/>
              <a:ext cx="395086" cy="168130"/>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p:cNvSpPr txBox="1"/>
            <p:nvPr/>
          </p:nvSpPr>
          <p:spPr>
            <a:xfrm>
              <a:off x="3626601" y="5482735"/>
              <a:ext cx="696974" cy="459291"/>
            </a:xfrm>
            <a:prstGeom prst="rect">
              <a:avLst/>
            </a:prstGeom>
            <a:noFill/>
          </p:spPr>
          <p:txBody>
            <a:bodyPr wrap="square" rtlCol="0">
              <a:spAutoFit/>
            </a:bodyPr>
            <a:lstStyle/>
            <a:p>
              <a:pPr algn="l">
                <a:lnSpc>
                  <a:spcPts val="344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DB</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p:cNvSpPr txBox="1"/>
            <p:nvPr/>
          </p:nvSpPr>
          <p:spPr>
            <a:xfrm>
              <a:off x="4472361" y="5437250"/>
              <a:ext cx="808595" cy="459291"/>
            </a:xfrm>
            <a:prstGeom prst="rect">
              <a:avLst/>
            </a:prstGeom>
            <a:noFill/>
          </p:spPr>
          <p:txBody>
            <a:bodyPr wrap="square" rtlCol="0">
              <a:spAutoFit/>
            </a:bodyPr>
            <a:lstStyle/>
            <a:p>
              <a:pPr algn="l">
                <a:lnSpc>
                  <a:spcPts val="344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DB</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5" name="直接箭头连接符 84"/>
            <p:cNvCxnSpPr/>
            <p:nvPr/>
          </p:nvCxnSpPr>
          <p:spPr>
            <a:xfrm>
              <a:off x="1762244" y="4785309"/>
              <a:ext cx="1947370" cy="810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69" idx="1"/>
            </p:cNvCxnSpPr>
            <p:nvPr/>
          </p:nvCxnSpPr>
          <p:spPr>
            <a:xfrm>
              <a:off x="2999297" y="4886082"/>
              <a:ext cx="747973" cy="705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flipH="1">
              <a:off x="3739957" y="4750058"/>
              <a:ext cx="199157" cy="836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a:off x="1767630" y="4761623"/>
              <a:ext cx="2847613" cy="766994"/>
            </a:xfrm>
            <a:prstGeom prst="straightConnector1">
              <a:avLst/>
            </a:prstGeom>
            <a:ln w="9525">
              <a:solidFill>
                <a:schemeClr val="tx2">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2796892" y="4866280"/>
              <a:ext cx="1819488" cy="662337"/>
            </a:xfrm>
            <a:prstGeom prst="straightConnector1">
              <a:avLst/>
            </a:prstGeom>
            <a:ln w="9525">
              <a:solidFill>
                <a:schemeClr val="tx2">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a:off x="3963323" y="4755053"/>
              <a:ext cx="673573" cy="816683"/>
            </a:xfrm>
            <a:prstGeom prst="straightConnector1">
              <a:avLst/>
            </a:prstGeom>
            <a:ln w="9525">
              <a:solidFill>
                <a:schemeClr val="tx2">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Freeform 21"/>
            <p:cNvSpPr>
              <a:spLocks noEditPoints="1"/>
            </p:cNvSpPr>
            <p:nvPr/>
          </p:nvSpPr>
          <p:spPr bwMode="auto">
            <a:xfrm>
              <a:off x="5864087" y="4450177"/>
              <a:ext cx="573633" cy="512066"/>
            </a:xfrm>
            <a:custGeom>
              <a:avLst/>
              <a:gdLst>
                <a:gd name="T0" fmla="*/ 56 w 112"/>
                <a:gd name="T1" fmla="*/ 4 h 84"/>
                <a:gd name="T2" fmla="*/ 60 w 112"/>
                <a:gd name="T3" fmla="*/ 5 h 84"/>
                <a:gd name="T4" fmla="*/ 106 w 112"/>
                <a:gd name="T5" fmla="*/ 37 h 84"/>
                <a:gd name="T6" fmla="*/ 107 w 112"/>
                <a:gd name="T7" fmla="*/ 39 h 84"/>
                <a:gd name="T8" fmla="*/ 106 w 112"/>
                <a:gd name="T9" fmla="*/ 41 h 84"/>
                <a:gd name="T10" fmla="*/ 62 w 112"/>
                <a:gd name="T11" fmla="*/ 78 h 84"/>
                <a:gd name="T12" fmla="*/ 57 w 112"/>
                <a:gd name="T13" fmla="*/ 80 h 84"/>
                <a:gd name="T14" fmla="*/ 52 w 112"/>
                <a:gd name="T15" fmla="*/ 79 h 84"/>
                <a:gd name="T16" fmla="*/ 7 w 112"/>
                <a:gd name="T17" fmla="*/ 48 h 84"/>
                <a:gd name="T18" fmla="*/ 6 w 112"/>
                <a:gd name="T19" fmla="*/ 45 h 84"/>
                <a:gd name="T20" fmla="*/ 7 w 112"/>
                <a:gd name="T21" fmla="*/ 43 h 84"/>
                <a:gd name="T22" fmla="*/ 51 w 112"/>
                <a:gd name="T23" fmla="*/ 6 h 84"/>
                <a:gd name="T24" fmla="*/ 56 w 112"/>
                <a:gd name="T25" fmla="*/ 4 h 84"/>
                <a:gd name="T26" fmla="*/ 56 w 112"/>
                <a:gd name="T27" fmla="*/ 0 h 84"/>
                <a:gd name="T28" fmla="*/ 48 w 112"/>
                <a:gd name="T29" fmla="*/ 3 h 84"/>
                <a:gd name="T30" fmla="*/ 4 w 112"/>
                <a:gd name="T31" fmla="*/ 40 h 84"/>
                <a:gd name="T32" fmla="*/ 4 w 112"/>
                <a:gd name="T33" fmla="*/ 51 h 84"/>
                <a:gd name="T34" fmla="*/ 50 w 112"/>
                <a:gd name="T35" fmla="*/ 83 h 84"/>
                <a:gd name="T36" fmla="*/ 57 w 112"/>
                <a:gd name="T37" fmla="*/ 84 h 84"/>
                <a:gd name="T38" fmla="*/ 65 w 112"/>
                <a:gd name="T39" fmla="*/ 82 h 84"/>
                <a:gd name="T40" fmla="*/ 108 w 112"/>
                <a:gd name="T41" fmla="*/ 45 h 84"/>
                <a:gd name="T42" fmla="*/ 108 w 112"/>
                <a:gd name="T43" fmla="*/ 33 h 84"/>
                <a:gd name="T44" fmla="*/ 63 w 112"/>
                <a:gd name="T45" fmla="*/ 2 h 84"/>
                <a:gd name="T46" fmla="*/ 56 w 112"/>
                <a:gd name="T4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2" h="84">
                  <a:moveTo>
                    <a:pt x="56" y="4"/>
                  </a:moveTo>
                  <a:cubicBezTo>
                    <a:pt x="58" y="4"/>
                    <a:pt x="59" y="5"/>
                    <a:pt x="60" y="5"/>
                  </a:cubicBezTo>
                  <a:cubicBezTo>
                    <a:pt x="106" y="37"/>
                    <a:pt x="106" y="37"/>
                    <a:pt x="106" y="37"/>
                  </a:cubicBezTo>
                  <a:cubicBezTo>
                    <a:pt x="106" y="37"/>
                    <a:pt x="107" y="38"/>
                    <a:pt x="107" y="39"/>
                  </a:cubicBezTo>
                  <a:cubicBezTo>
                    <a:pt x="107" y="40"/>
                    <a:pt x="106" y="41"/>
                    <a:pt x="106" y="41"/>
                  </a:cubicBezTo>
                  <a:cubicBezTo>
                    <a:pt x="62" y="78"/>
                    <a:pt x="62" y="78"/>
                    <a:pt x="62" y="78"/>
                  </a:cubicBezTo>
                  <a:cubicBezTo>
                    <a:pt x="61" y="79"/>
                    <a:pt x="59" y="80"/>
                    <a:pt x="57" y="80"/>
                  </a:cubicBezTo>
                  <a:cubicBezTo>
                    <a:pt x="55" y="80"/>
                    <a:pt x="53" y="80"/>
                    <a:pt x="52" y="79"/>
                  </a:cubicBezTo>
                  <a:cubicBezTo>
                    <a:pt x="7" y="48"/>
                    <a:pt x="7" y="48"/>
                    <a:pt x="7" y="48"/>
                  </a:cubicBezTo>
                  <a:cubicBezTo>
                    <a:pt x="6" y="47"/>
                    <a:pt x="6" y="46"/>
                    <a:pt x="6" y="45"/>
                  </a:cubicBezTo>
                  <a:cubicBezTo>
                    <a:pt x="6" y="45"/>
                    <a:pt x="6" y="44"/>
                    <a:pt x="7" y="43"/>
                  </a:cubicBezTo>
                  <a:cubicBezTo>
                    <a:pt x="51" y="6"/>
                    <a:pt x="51" y="6"/>
                    <a:pt x="51" y="6"/>
                  </a:cubicBezTo>
                  <a:cubicBezTo>
                    <a:pt x="52" y="5"/>
                    <a:pt x="54" y="4"/>
                    <a:pt x="56" y="4"/>
                  </a:cubicBezTo>
                  <a:moveTo>
                    <a:pt x="56" y="0"/>
                  </a:moveTo>
                  <a:cubicBezTo>
                    <a:pt x="53" y="0"/>
                    <a:pt x="50" y="1"/>
                    <a:pt x="48" y="3"/>
                  </a:cubicBezTo>
                  <a:cubicBezTo>
                    <a:pt x="4" y="40"/>
                    <a:pt x="4" y="40"/>
                    <a:pt x="4" y="40"/>
                  </a:cubicBezTo>
                  <a:cubicBezTo>
                    <a:pt x="0" y="43"/>
                    <a:pt x="0" y="48"/>
                    <a:pt x="4" y="51"/>
                  </a:cubicBezTo>
                  <a:cubicBezTo>
                    <a:pt x="50" y="83"/>
                    <a:pt x="50" y="83"/>
                    <a:pt x="50" y="83"/>
                  </a:cubicBezTo>
                  <a:cubicBezTo>
                    <a:pt x="52" y="84"/>
                    <a:pt x="54" y="84"/>
                    <a:pt x="57" y="84"/>
                  </a:cubicBezTo>
                  <a:cubicBezTo>
                    <a:pt x="59" y="84"/>
                    <a:pt x="63" y="84"/>
                    <a:pt x="65" y="82"/>
                  </a:cubicBezTo>
                  <a:cubicBezTo>
                    <a:pt x="108" y="45"/>
                    <a:pt x="108" y="45"/>
                    <a:pt x="108" y="45"/>
                  </a:cubicBezTo>
                  <a:cubicBezTo>
                    <a:pt x="112" y="41"/>
                    <a:pt x="112" y="36"/>
                    <a:pt x="108" y="33"/>
                  </a:cubicBezTo>
                  <a:cubicBezTo>
                    <a:pt x="63" y="2"/>
                    <a:pt x="63" y="2"/>
                    <a:pt x="63" y="2"/>
                  </a:cubicBezTo>
                  <a:cubicBezTo>
                    <a:pt x="61" y="0"/>
                    <a:pt x="58" y="0"/>
                    <a:pt x="56" y="0"/>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Freeform 45"/>
            <p:cNvSpPr>
              <a:spLocks/>
            </p:cNvSpPr>
            <p:nvPr/>
          </p:nvSpPr>
          <p:spPr bwMode="auto">
            <a:xfrm>
              <a:off x="5870582" y="4809124"/>
              <a:ext cx="556316" cy="268583"/>
            </a:xfrm>
            <a:custGeom>
              <a:avLst/>
              <a:gdLst>
                <a:gd name="T0" fmla="*/ 56 w 109"/>
                <a:gd name="T1" fmla="*/ 44 h 44"/>
                <a:gd name="T2" fmla="*/ 48 w 109"/>
                <a:gd name="T3" fmla="*/ 42 h 44"/>
                <a:gd name="T4" fmla="*/ 2 w 109"/>
                <a:gd name="T5" fmla="*/ 10 h 44"/>
                <a:gd name="T6" fmla="*/ 0 w 109"/>
                <a:gd name="T7" fmla="*/ 8 h 44"/>
                <a:gd name="T8" fmla="*/ 4 w 109"/>
                <a:gd name="T9" fmla="*/ 5 h 44"/>
                <a:gd name="T10" fmla="*/ 5 w 109"/>
                <a:gd name="T11" fmla="*/ 6 h 44"/>
                <a:gd name="T12" fmla="*/ 50 w 109"/>
                <a:gd name="T13" fmla="*/ 38 h 44"/>
                <a:gd name="T14" fmla="*/ 62 w 109"/>
                <a:gd name="T15" fmla="*/ 37 h 44"/>
                <a:gd name="T16" fmla="*/ 106 w 109"/>
                <a:gd name="T17" fmla="*/ 0 h 44"/>
                <a:gd name="T18" fmla="*/ 109 w 109"/>
                <a:gd name="T19" fmla="*/ 3 h 44"/>
                <a:gd name="T20" fmla="*/ 65 w 109"/>
                <a:gd name="T21" fmla="*/ 40 h 44"/>
                <a:gd name="T22" fmla="*/ 56 w 109"/>
                <a:gd name="T23"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9" h="44">
                  <a:moveTo>
                    <a:pt x="56" y="44"/>
                  </a:moveTo>
                  <a:cubicBezTo>
                    <a:pt x="53" y="44"/>
                    <a:pt x="50" y="43"/>
                    <a:pt x="48" y="42"/>
                  </a:cubicBezTo>
                  <a:cubicBezTo>
                    <a:pt x="2" y="10"/>
                    <a:pt x="2" y="10"/>
                    <a:pt x="2" y="10"/>
                  </a:cubicBezTo>
                  <a:cubicBezTo>
                    <a:pt x="1" y="10"/>
                    <a:pt x="1" y="9"/>
                    <a:pt x="0" y="8"/>
                  </a:cubicBezTo>
                  <a:cubicBezTo>
                    <a:pt x="4" y="5"/>
                    <a:pt x="4" y="5"/>
                    <a:pt x="4" y="5"/>
                  </a:cubicBezTo>
                  <a:cubicBezTo>
                    <a:pt x="4" y="6"/>
                    <a:pt x="4" y="6"/>
                    <a:pt x="5" y="6"/>
                  </a:cubicBezTo>
                  <a:cubicBezTo>
                    <a:pt x="50" y="38"/>
                    <a:pt x="50" y="38"/>
                    <a:pt x="50" y="38"/>
                  </a:cubicBezTo>
                  <a:cubicBezTo>
                    <a:pt x="53" y="40"/>
                    <a:pt x="59" y="40"/>
                    <a:pt x="62" y="37"/>
                  </a:cubicBezTo>
                  <a:cubicBezTo>
                    <a:pt x="106" y="0"/>
                    <a:pt x="106" y="0"/>
                    <a:pt x="106" y="0"/>
                  </a:cubicBezTo>
                  <a:cubicBezTo>
                    <a:pt x="109" y="3"/>
                    <a:pt x="109" y="3"/>
                    <a:pt x="109" y="3"/>
                  </a:cubicBezTo>
                  <a:cubicBezTo>
                    <a:pt x="65" y="40"/>
                    <a:pt x="65" y="40"/>
                    <a:pt x="65" y="40"/>
                  </a:cubicBezTo>
                  <a:cubicBezTo>
                    <a:pt x="63" y="43"/>
                    <a:pt x="59" y="44"/>
                    <a:pt x="56" y="44"/>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0" name="直接箭头连接符 99"/>
            <p:cNvCxnSpPr/>
            <p:nvPr/>
          </p:nvCxnSpPr>
          <p:spPr>
            <a:xfrm flipH="1">
              <a:off x="4360742" y="4733445"/>
              <a:ext cx="1500407" cy="34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3" name="文本框 102"/>
            <p:cNvSpPr txBox="1"/>
            <p:nvPr/>
          </p:nvSpPr>
          <p:spPr>
            <a:xfrm>
              <a:off x="5494533" y="5033921"/>
              <a:ext cx="1249453" cy="370988"/>
            </a:xfrm>
            <a:prstGeom prst="rect">
              <a:avLst/>
            </a:prstGeom>
            <a:noFill/>
          </p:spPr>
          <p:txBody>
            <a:bodyPr wrap="square" rtlCol="0">
              <a:spAutoFit/>
            </a:body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应用</a:t>
              </a:r>
            </a:p>
          </p:txBody>
        </p:sp>
      </p:grpSp>
      <p:sp>
        <p:nvSpPr>
          <p:cNvPr id="3" name="标题 2"/>
          <p:cNvSpPr>
            <a:spLocks noGrp="1"/>
          </p:cNvSpPr>
          <p:nvPr>
            <p:ph type="title"/>
          </p:nvPr>
        </p:nvSpPr>
        <p:spPr/>
        <p:txBody>
          <a:bodyPr>
            <a:normAutofit/>
          </a:bodyPr>
          <a:lstStyle/>
          <a:p>
            <a:r>
              <a:rPr lang="zh-CN" altLang="en-US" dirty="0">
                <a:sym typeface="Huawei Sans" panose="020C0503030203020204" pitchFamily="34" charset="0"/>
              </a:rPr>
              <a:t>基于云服务构建高可用的</a:t>
            </a:r>
            <a:r>
              <a:rPr lang="en-US" altLang="zh-CN" dirty="0">
                <a:sym typeface="Huawei Sans" panose="020C0503030203020204" pitchFamily="34" charset="0"/>
              </a:rPr>
              <a:t>Web</a:t>
            </a:r>
            <a:r>
              <a:rPr lang="zh-CN" altLang="en-US" dirty="0">
                <a:sym typeface="Huawei Sans" panose="020C0503030203020204" pitchFamily="34" charset="0"/>
              </a:rPr>
              <a:t>应用</a:t>
            </a:r>
          </a:p>
        </p:txBody>
      </p:sp>
      <p:sp>
        <p:nvSpPr>
          <p:cNvPr id="4" name="文本占位符 3"/>
          <p:cNvSpPr>
            <a:spLocks noGrp="1"/>
          </p:cNvSpPr>
          <p:nvPr>
            <p:ph type="body" sz="quarter" idx="10"/>
          </p:nvPr>
        </p:nvSpPr>
        <p:spPr>
          <a:xfrm>
            <a:off x="6096000" y="1047750"/>
            <a:ext cx="5364163" cy="4879805"/>
          </a:xfrm>
        </p:spPr>
        <p:txBody>
          <a:bodyPr/>
          <a:lstStyle/>
          <a:p>
            <a:pPr>
              <a:lnSpc>
                <a:spcPts val="3440"/>
              </a:lnSpc>
            </a:pPr>
            <a:r>
              <a:rPr lang="zh-CN" altLang="en-US" sz="1800" dirty="0">
                <a:sym typeface="Huawei Sans" panose="020C0503030203020204" pitchFamily="34" charset="0"/>
              </a:rPr>
              <a:t>采用</a:t>
            </a:r>
            <a:r>
              <a:rPr lang="en-US" altLang="zh-CN" sz="1800" dirty="0">
                <a:sym typeface="Huawei Sans" panose="020C0503030203020204" pitchFamily="34" charset="0"/>
              </a:rPr>
              <a:t>ECS</a:t>
            </a:r>
            <a:r>
              <a:rPr lang="zh-CN" altLang="en-US" sz="1800" dirty="0">
                <a:sym typeface="Huawei Sans" panose="020C0503030203020204" pitchFamily="34" charset="0"/>
              </a:rPr>
              <a:t>弹性云服务器部署应用</a:t>
            </a:r>
            <a:endParaRPr lang="en-US" altLang="zh-CN" sz="1800" dirty="0">
              <a:sym typeface="Huawei Sans" panose="020C0503030203020204" pitchFamily="34" charset="0"/>
            </a:endParaRPr>
          </a:p>
          <a:p>
            <a:pPr>
              <a:lnSpc>
                <a:spcPts val="3440"/>
              </a:lnSpc>
            </a:pPr>
            <a:r>
              <a:rPr lang="zh-CN" altLang="en-US" sz="1800" dirty="0">
                <a:sym typeface="Huawei Sans" panose="020C0503030203020204" pitchFamily="34" charset="0"/>
              </a:rPr>
              <a:t>采用</a:t>
            </a:r>
            <a:r>
              <a:rPr lang="en-US" altLang="zh-CN" sz="1800" dirty="0">
                <a:sym typeface="Huawei Sans" panose="020C0503030203020204" pitchFamily="34" charset="0"/>
              </a:rPr>
              <a:t>ELB</a:t>
            </a:r>
            <a:r>
              <a:rPr lang="zh-CN" altLang="en-US" sz="1800" dirty="0">
                <a:sym typeface="Huawei Sans" panose="020C0503030203020204" pitchFamily="34" charset="0"/>
              </a:rPr>
              <a:t>作为负载均衡组件</a:t>
            </a:r>
            <a:endParaRPr lang="en-US" altLang="zh-CN" sz="1800" dirty="0">
              <a:sym typeface="Huawei Sans" panose="020C0503030203020204" pitchFamily="34" charset="0"/>
            </a:endParaRPr>
          </a:p>
          <a:p>
            <a:pPr>
              <a:lnSpc>
                <a:spcPts val="3440"/>
              </a:lnSpc>
            </a:pPr>
            <a:r>
              <a:rPr lang="zh-CN" altLang="en-US" sz="1800" dirty="0">
                <a:sym typeface="Huawei Sans" panose="020C0503030203020204" pitchFamily="34" charset="0"/>
              </a:rPr>
              <a:t>采用</a:t>
            </a:r>
            <a:r>
              <a:rPr lang="en-US" altLang="zh-CN" sz="1800" dirty="0">
                <a:sym typeface="Huawei Sans" panose="020C0503030203020204" pitchFamily="34" charset="0"/>
              </a:rPr>
              <a:t>AS</a:t>
            </a:r>
            <a:r>
              <a:rPr lang="zh-CN" altLang="en-US" sz="1800" dirty="0">
                <a:sym typeface="Huawei Sans" panose="020C0503030203020204" pitchFamily="34" charset="0"/>
              </a:rPr>
              <a:t>弹性伸缩服务作为业务扩缩容监控</a:t>
            </a:r>
            <a:endParaRPr lang="en-US" altLang="zh-CN" sz="1800" dirty="0">
              <a:sym typeface="Huawei Sans" panose="020C0503030203020204" pitchFamily="34" charset="0"/>
            </a:endParaRPr>
          </a:p>
          <a:p>
            <a:pPr>
              <a:lnSpc>
                <a:spcPts val="3440"/>
              </a:lnSpc>
            </a:pPr>
            <a:r>
              <a:rPr lang="zh-CN" altLang="en-US" sz="1800" dirty="0">
                <a:sym typeface="Huawei Sans" panose="020C0503030203020204" pitchFamily="34" charset="0"/>
              </a:rPr>
              <a:t>采用</a:t>
            </a:r>
            <a:r>
              <a:rPr lang="en-US" altLang="zh-CN" sz="1800" dirty="0" err="1">
                <a:sym typeface="Huawei Sans" panose="020C0503030203020204" pitchFamily="34" charset="0"/>
              </a:rPr>
              <a:t>GaussDB</a:t>
            </a:r>
            <a:r>
              <a:rPr lang="en-US" altLang="zh-CN" sz="1800" dirty="0">
                <a:sym typeface="Huawei Sans" panose="020C0503030203020204" pitchFamily="34" charset="0"/>
              </a:rPr>
              <a:t>(for MySQL)</a:t>
            </a:r>
            <a:r>
              <a:rPr lang="zh-CN" altLang="en-US" sz="1800" dirty="0">
                <a:sym typeface="Huawei Sans" panose="020C0503030203020204" pitchFamily="34" charset="0"/>
              </a:rPr>
              <a:t>或其他云数据库作为数据库存储数据</a:t>
            </a:r>
            <a:endParaRPr lang="en-US" altLang="zh-CN" sz="1800" dirty="0">
              <a:sym typeface="Huawei Sans" panose="020C0503030203020204" pitchFamily="34" charset="0"/>
            </a:endParaRPr>
          </a:p>
          <a:p>
            <a:pPr marL="342900" indent="-342900">
              <a:lnSpc>
                <a:spcPts val="3440"/>
              </a:lnSpc>
              <a:buFont typeface="+mj-lt"/>
              <a:buAutoNum type="arabicPeriod"/>
            </a:pPr>
            <a:endParaRPr lang="en-US" altLang="zh-CN" sz="1800" dirty="0">
              <a:sym typeface="Huawei Sans" panose="020C0503030203020204" pitchFamily="34" charset="0"/>
            </a:endParaRPr>
          </a:p>
          <a:p>
            <a:pPr>
              <a:lnSpc>
                <a:spcPts val="3440"/>
              </a:lnSpc>
            </a:pPr>
            <a:r>
              <a:rPr lang="zh-CN" altLang="en-US" sz="1800" b="1" dirty="0">
                <a:sym typeface="Huawei Sans" panose="020C0503030203020204" pitchFamily="34" charset="0"/>
              </a:rPr>
              <a:t>优点：</a:t>
            </a:r>
            <a:endParaRPr lang="en-US" altLang="zh-CN" sz="1800" b="1" dirty="0">
              <a:sym typeface="Huawei Sans" panose="020C0503030203020204" pitchFamily="34" charset="0"/>
            </a:endParaRPr>
          </a:p>
          <a:p>
            <a:pPr lvl="1">
              <a:lnSpc>
                <a:spcPts val="3440"/>
              </a:lnSpc>
            </a:pPr>
            <a:r>
              <a:rPr lang="zh-CN" altLang="en-US" sz="1600" dirty="0">
                <a:sym typeface="Huawei Sans" panose="020C0503030203020204" pitchFamily="34" charset="0"/>
              </a:rPr>
              <a:t>采用华为云</a:t>
            </a:r>
            <a:r>
              <a:rPr lang="en-US" altLang="zh-CN" sz="1600" dirty="0">
                <a:sym typeface="Huawei Sans" panose="020C0503030203020204" pitchFamily="34" charset="0"/>
              </a:rPr>
              <a:t>ELB</a:t>
            </a:r>
            <a:r>
              <a:rPr lang="zh-CN" altLang="en-US" sz="1600" dirty="0">
                <a:sym typeface="Huawei Sans" panose="020C0503030203020204" pitchFamily="34" charset="0"/>
              </a:rPr>
              <a:t>作为负载均衡，免费使用，免运维</a:t>
            </a:r>
            <a:endParaRPr lang="en-US" altLang="zh-CN" sz="1600" dirty="0">
              <a:sym typeface="Huawei Sans" panose="020C0503030203020204" pitchFamily="34" charset="0"/>
            </a:endParaRPr>
          </a:p>
          <a:p>
            <a:pPr lvl="1">
              <a:lnSpc>
                <a:spcPts val="3440"/>
              </a:lnSpc>
            </a:pPr>
            <a:r>
              <a:rPr lang="zh-CN" altLang="en-US" sz="1600" dirty="0">
                <a:sym typeface="Huawei Sans" panose="020C0503030203020204" pitchFamily="34" charset="0"/>
              </a:rPr>
              <a:t>采用华为云</a:t>
            </a:r>
            <a:r>
              <a:rPr lang="en-US" altLang="zh-CN" sz="1600" dirty="0">
                <a:sym typeface="Huawei Sans" panose="020C0503030203020204" pitchFamily="34" charset="0"/>
              </a:rPr>
              <a:t>AS</a:t>
            </a:r>
            <a:r>
              <a:rPr lang="zh-CN" altLang="en-US" sz="1600" dirty="0">
                <a:sym typeface="Huawei Sans" panose="020C0503030203020204" pitchFamily="34" charset="0"/>
              </a:rPr>
              <a:t>弹性伸缩服务实时监控业务，随时按需扩容（基于云上资源无限扩展能力）</a:t>
            </a:r>
            <a:endParaRPr lang="en-US" altLang="zh-CN" sz="1600" dirty="0">
              <a:sym typeface="Huawei Sans" panose="020C0503030203020204" pitchFamily="34" charset="0"/>
            </a:endParaRPr>
          </a:p>
          <a:p>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2656672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lstStyle/>
          <a:p>
            <a:r>
              <a:rPr lang="en-US" altLang="zh-CN" dirty="0">
                <a:sym typeface="Huawei Sans" panose="020C0503030203020204" pitchFamily="34" charset="0"/>
              </a:rPr>
              <a:t>Web</a:t>
            </a:r>
            <a:r>
              <a:rPr lang="zh-CN" altLang="en-US" dirty="0">
                <a:sym typeface="Huawei Sans" panose="020C0503030203020204" pitchFamily="34" charset="0"/>
              </a:rPr>
              <a:t>应用高可用架构在线下与在华为云云服务上部署的差异</a:t>
            </a:r>
            <a:br>
              <a:rPr lang="zh-CN" altLang="en-US" dirty="0">
                <a:sym typeface="Huawei Sans" panose="020C0503030203020204" pitchFamily="34" charset="0"/>
              </a:rPr>
            </a:br>
            <a:endParaRPr lang="zh-CN" altLang="en-US" dirty="0">
              <a:sym typeface="Huawei Sans" panose="020C0503030203020204" pitchFamily="34" charset="0"/>
            </a:endParaRPr>
          </a:p>
        </p:txBody>
      </p:sp>
      <p:sp>
        <p:nvSpPr>
          <p:cNvPr id="3" name="Content Placeholder 2">
            <a:extLst>
              <a:ext uri="{FF2B5EF4-FFF2-40B4-BE49-F238E27FC236}">
                <a16:creationId xmlns:a16="http://schemas.microsoft.com/office/drawing/2014/main" id="{1D7B0514-4060-0E4B-809B-B1B2E3258AB4}"/>
              </a:ext>
            </a:extLst>
          </p:cNvPr>
          <p:cNvSpPr>
            <a:spLocks noGrp="1"/>
          </p:cNvSpPr>
          <p:nvPr>
            <p:ph idx="4294967295"/>
          </p:nvPr>
        </p:nvSpPr>
        <p:spPr>
          <a:xfrm>
            <a:off x="710732" y="5732275"/>
            <a:ext cx="4174897" cy="605329"/>
          </a:xfrm>
        </p:spPr>
        <p:txBody>
          <a:bodyPr/>
          <a:lstStyle/>
          <a:p>
            <a:pPr marL="0" indent="0" algn="ctr">
              <a:lnSpc>
                <a:spcPct val="150000"/>
              </a:lnSpc>
              <a:buNone/>
            </a:pPr>
            <a:r>
              <a:rPr lang="zh-CN" altLang="en-US" sz="1800" b="1" dirty="0">
                <a:sym typeface="Huawei Sans" panose="020C0503030203020204" pitchFamily="34" charset="0"/>
              </a:rPr>
              <a:t>传统线下高可用部署方案</a:t>
            </a:r>
            <a:endParaRPr lang="en-US" sz="1800" b="1" dirty="0">
              <a:solidFill>
                <a:schemeClr val="tx1"/>
              </a:solidFill>
              <a:sym typeface="Huawei Sans" panose="020C0503030203020204" pitchFamily="34" charset="0"/>
            </a:endParaRPr>
          </a:p>
        </p:txBody>
      </p:sp>
      <p:sp>
        <p:nvSpPr>
          <p:cNvPr id="366" name="Content Placeholder 2">
            <a:extLst>
              <a:ext uri="{FF2B5EF4-FFF2-40B4-BE49-F238E27FC236}">
                <a16:creationId xmlns:a16="http://schemas.microsoft.com/office/drawing/2014/main" id="{1D7B0514-4060-0E4B-809B-B1B2E3258AB4}"/>
              </a:ext>
            </a:extLst>
          </p:cNvPr>
          <p:cNvSpPr txBox="1">
            <a:spLocks/>
          </p:cNvSpPr>
          <p:nvPr/>
        </p:nvSpPr>
        <p:spPr>
          <a:xfrm>
            <a:off x="7051118" y="5765853"/>
            <a:ext cx="3830341" cy="296648"/>
          </a:xfrm>
          <a:prstGeom prst="rect">
            <a:avLst/>
          </a:prstGeom>
        </p:spPr>
        <p:txBody>
          <a:bodyPr lIns="0" tIns="0" rIns="0" bIns="0"/>
          <a:lstStyle>
            <a:lvl1pPr marL="12373" indent="0" algn="l" defTabSz="1187798" rtl="0" eaLnBrk="1" latinLnBrk="0" hangingPunct="1">
              <a:lnSpc>
                <a:spcPct val="100000"/>
              </a:lnSpc>
              <a:spcBef>
                <a:spcPts val="0"/>
              </a:spcBef>
              <a:buFontTx/>
              <a:buNone/>
              <a:tabLst>
                <a:tab pos="1208420"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2pPr>
            <a:lvl3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3pPr>
            <a:lvl4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4pPr>
            <a:lvl5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algn="ctr" defTabSz="914034" fontAlgn="ctr">
              <a:lnSpc>
                <a:spcPct val="150000"/>
              </a:lnSpc>
              <a:spcBef>
                <a:spcPts val="792"/>
              </a:spcBef>
              <a:buSzPct val="50000"/>
            </a:pPr>
            <a:r>
              <a:rPr lang="zh-CN" altLang="en-US" b="1" dirty="0">
                <a:latin typeface="Huawei Sans" panose="020C0503030203020204" pitchFamily="34" charset="0"/>
                <a:ea typeface="方正兰亭黑简体" panose="02000000000000000000" pitchFamily="2" charset="-122"/>
                <a:cs typeface="+mn-cs"/>
                <a:sym typeface="Huawei Sans" panose="020C0503030203020204" pitchFamily="34" charset="0"/>
              </a:rPr>
              <a:t>华为云云服务高可用部署方案</a:t>
            </a:r>
            <a:endParaRPr lang="en-US" b="1" dirty="0">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44" name="文本框 168"/>
          <p:cNvSpPr txBox="1"/>
          <p:nvPr/>
        </p:nvSpPr>
        <p:spPr>
          <a:xfrm>
            <a:off x="1136827" y="3908533"/>
            <a:ext cx="940671" cy="184666"/>
          </a:xfrm>
          <a:prstGeom prst="rect">
            <a:avLst/>
          </a:prstGeom>
          <a:noFill/>
        </p:spPr>
        <p:txBody>
          <a:bodyPr wrap="square" lIns="0" tIns="0" rIns="0" bIns="0" rtlCol="0">
            <a:spAutoFit/>
          </a:bodyPr>
          <a:lstStyle/>
          <a:p>
            <a:pPr defTabSz="914112"/>
            <a:r>
              <a:rPr lang="en-US" altLang="zh-CN" sz="12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2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83" name="文本框 170"/>
          <p:cNvSpPr txBox="1"/>
          <p:nvPr/>
        </p:nvSpPr>
        <p:spPr>
          <a:xfrm>
            <a:off x="1136826" y="5141877"/>
            <a:ext cx="940671" cy="184666"/>
          </a:xfrm>
          <a:prstGeom prst="rect">
            <a:avLst/>
          </a:prstGeom>
          <a:noFill/>
        </p:spPr>
        <p:txBody>
          <a:bodyPr wrap="square" lIns="0" tIns="0" rIns="0" bIns="0" rtlCol="0">
            <a:spAutoFit/>
          </a:bodyPr>
          <a:lstStyle/>
          <a:p>
            <a:pPr defTabSz="914112"/>
            <a:r>
              <a:rPr lang="zh-CN" altLang="en-US" sz="12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存储阵列</a:t>
            </a:r>
          </a:p>
        </p:txBody>
      </p:sp>
      <p:sp>
        <p:nvSpPr>
          <p:cNvPr id="84" name="文本框 201"/>
          <p:cNvSpPr txBox="1"/>
          <p:nvPr/>
        </p:nvSpPr>
        <p:spPr>
          <a:xfrm>
            <a:off x="1136827" y="4547666"/>
            <a:ext cx="940671" cy="184666"/>
          </a:xfrm>
          <a:prstGeom prst="rect">
            <a:avLst/>
          </a:prstGeom>
          <a:noFill/>
        </p:spPr>
        <p:txBody>
          <a:bodyPr wrap="square" lIns="0" tIns="0" rIns="0" bIns="0" rtlCol="0">
            <a:spAutoFit/>
          </a:bodyPr>
          <a:lstStyle/>
          <a:p>
            <a:pPr defTabSz="914112"/>
            <a:r>
              <a:rPr lang="zh-CN" altLang="en-US" sz="12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数据库服务器</a:t>
            </a:r>
          </a:p>
        </p:txBody>
      </p:sp>
      <p:grpSp>
        <p:nvGrpSpPr>
          <p:cNvPr id="85" name="组合 19612"/>
          <p:cNvGrpSpPr>
            <a:grpSpLocks noChangeAspect="1"/>
          </p:cNvGrpSpPr>
          <p:nvPr/>
        </p:nvGrpSpPr>
        <p:grpSpPr>
          <a:xfrm>
            <a:off x="2714183" y="3166102"/>
            <a:ext cx="378054" cy="304249"/>
            <a:chOff x="6245225" y="965201"/>
            <a:chExt cx="439738" cy="355600"/>
          </a:xfrm>
          <a:solidFill>
            <a:srgbClr val="92D050"/>
          </a:solidFill>
        </p:grpSpPr>
        <p:sp>
          <p:nvSpPr>
            <p:cNvPr id="86" name="Freeform 58"/>
            <p:cNvSpPr>
              <a:spLocks/>
            </p:cNvSpPr>
            <p:nvPr/>
          </p:nvSpPr>
          <p:spPr bwMode="auto">
            <a:xfrm>
              <a:off x="6245225" y="965201"/>
              <a:ext cx="439738" cy="344488"/>
            </a:xfrm>
            <a:custGeom>
              <a:avLst/>
              <a:gdLst>
                <a:gd name="T0" fmla="*/ 492 w 517"/>
                <a:gd name="T1" fmla="*/ 402 h 402"/>
                <a:gd name="T2" fmla="*/ 492 w 517"/>
                <a:gd name="T3" fmla="*/ 402 h 402"/>
                <a:gd name="T4" fmla="*/ 418 w 517"/>
                <a:gd name="T5" fmla="*/ 402 h 402"/>
                <a:gd name="T6" fmla="*/ 406 w 517"/>
                <a:gd name="T7" fmla="*/ 389 h 402"/>
                <a:gd name="T8" fmla="*/ 418 w 517"/>
                <a:gd name="T9" fmla="*/ 377 h 402"/>
                <a:gd name="T10" fmla="*/ 492 w 517"/>
                <a:gd name="T11" fmla="*/ 377 h 402"/>
                <a:gd name="T12" fmla="*/ 492 w 517"/>
                <a:gd name="T13" fmla="*/ 24 h 402"/>
                <a:gd name="T14" fmla="*/ 25 w 517"/>
                <a:gd name="T15" fmla="*/ 24 h 402"/>
                <a:gd name="T16" fmla="*/ 25 w 517"/>
                <a:gd name="T17" fmla="*/ 377 h 402"/>
                <a:gd name="T18" fmla="*/ 333 w 517"/>
                <a:gd name="T19" fmla="*/ 377 h 402"/>
                <a:gd name="T20" fmla="*/ 345 w 517"/>
                <a:gd name="T21" fmla="*/ 389 h 402"/>
                <a:gd name="T22" fmla="*/ 333 w 517"/>
                <a:gd name="T23" fmla="*/ 402 h 402"/>
                <a:gd name="T24" fmla="*/ 25 w 517"/>
                <a:gd name="T25" fmla="*/ 402 h 402"/>
                <a:gd name="T26" fmla="*/ 0 w 517"/>
                <a:gd name="T27" fmla="*/ 377 h 402"/>
                <a:gd name="T28" fmla="*/ 0 w 517"/>
                <a:gd name="T29" fmla="*/ 24 h 402"/>
                <a:gd name="T30" fmla="*/ 25 w 517"/>
                <a:gd name="T31" fmla="*/ 0 h 402"/>
                <a:gd name="T32" fmla="*/ 492 w 517"/>
                <a:gd name="T33" fmla="*/ 0 h 402"/>
                <a:gd name="T34" fmla="*/ 517 w 517"/>
                <a:gd name="T35" fmla="*/ 24 h 402"/>
                <a:gd name="T36" fmla="*/ 517 w 517"/>
                <a:gd name="T37" fmla="*/ 377 h 402"/>
                <a:gd name="T38" fmla="*/ 492 w 517"/>
                <a:gd name="T39"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402">
                  <a:moveTo>
                    <a:pt x="492" y="402"/>
                  </a:moveTo>
                  <a:lnTo>
                    <a:pt x="492" y="402"/>
                  </a:lnTo>
                  <a:lnTo>
                    <a:pt x="418" y="402"/>
                  </a:lnTo>
                  <a:cubicBezTo>
                    <a:pt x="412" y="402"/>
                    <a:pt x="406" y="396"/>
                    <a:pt x="406" y="389"/>
                  </a:cubicBezTo>
                  <a:cubicBezTo>
                    <a:pt x="406" y="383"/>
                    <a:pt x="412" y="377"/>
                    <a:pt x="418" y="377"/>
                  </a:cubicBezTo>
                  <a:lnTo>
                    <a:pt x="492" y="377"/>
                  </a:lnTo>
                  <a:lnTo>
                    <a:pt x="492" y="24"/>
                  </a:lnTo>
                  <a:lnTo>
                    <a:pt x="25" y="24"/>
                  </a:lnTo>
                  <a:lnTo>
                    <a:pt x="25" y="377"/>
                  </a:lnTo>
                  <a:lnTo>
                    <a:pt x="333" y="377"/>
                  </a:lnTo>
                  <a:cubicBezTo>
                    <a:pt x="339" y="377"/>
                    <a:pt x="345" y="383"/>
                    <a:pt x="345" y="389"/>
                  </a:cubicBezTo>
                  <a:cubicBezTo>
                    <a:pt x="345" y="396"/>
                    <a:pt x="339" y="402"/>
                    <a:pt x="333" y="402"/>
                  </a:cubicBezTo>
                  <a:lnTo>
                    <a:pt x="25" y="402"/>
                  </a:lnTo>
                  <a:cubicBezTo>
                    <a:pt x="11" y="402"/>
                    <a:pt x="0" y="391"/>
                    <a:pt x="0" y="377"/>
                  </a:cubicBezTo>
                  <a:lnTo>
                    <a:pt x="0" y="24"/>
                  </a:lnTo>
                  <a:cubicBezTo>
                    <a:pt x="0" y="11"/>
                    <a:pt x="11" y="0"/>
                    <a:pt x="25" y="0"/>
                  </a:cubicBezTo>
                  <a:lnTo>
                    <a:pt x="492" y="0"/>
                  </a:lnTo>
                  <a:cubicBezTo>
                    <a:pt x="506" y="0"/>
                    <a:pt x="517" y="11"/>
                    <a:pt x="517" y="24"/>
                  </a:cubicBezTo>
                  <a:lnTo>
                    <a:pt x="517" y="377"/>
                  </a:lnTo>
                  <a:cubicBezTo>
                    <a:pt x="517" y="391"/>
                    <a:pt x="506" y="402"/>
                    <a:pt x="492" y="402"/>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Freeform 59"/>
            <p:cNvSpPr>
              <a:spLocks/>
            </p:cNvSpPr>
            <p:nvPr/>
          </p:nvSpPr>
          <p:spPr bwMode="auto">
            <a:xfrm>
              <a:off x="6516688" y="1277938"/>
              <a:ext cx="42863" cy="42863"/>
            </a:xfrm>
            <a:custGeom>
              <a:avLst/>
              <a:gdLst>
                <a:gd name="T0" fmla="*/ 26 w 51"/>
                <a:gd name="T1" fmla="*/ 51 h 51"/>
                <a:gd name="T2" fmla="*/ 26 w 51"/>
                <a:gd name="T3" fmla="*/ 51 h 51"/>
                <a:gd name="T4" fmla="*/ 0 w 51"/>
                <a:gd name="T5" fmla="*/ 25 h 51"/>
                <a:gd name="T6" fmla="*/ 26 w 51"/>
                <a:gd name="T7" fmla="*/ 0 h 51"/>
                <a:gd name="T8" fmla="*/ 51 w 51"/>
                <a:gd name="T9" fmla="*/ 25 h 51"/>
                <a:gd name="T10" fmla="*/ 26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6" y="51"/>
                  </a:moveTo>
                  <a:lnTo>
                    <a:pt x="26" y="51"/>
                  </a:lnTo>
                  <a:cubicBezTo>
                    <a:pt x="11" y="51"/>
                    <a:pt x="0" y="39"/>
                    <a:pt x="0" y="25"/>
                  </a:cubicBezTo>
                  <a:cubicBezTo>
                    <a:pt x="0" y="11"/>
                    <a:pt x="11" y="0"/>
                    <a:pt x="26" y="0"/>
                  </a:cubicBezTo>
                  <a:cubicBezTo>
                    <a:pt x="40" y="0"/>
                    <a:pt x="51" y="11"/>
                    <a:pt x="51" y="25"/>
                  </a:cubicBezTo>
                  <a:cubicBezTo>
                    <a:pt x="51" y="39"/>
                    <a:pt x="40" y="51"/>
                    <a:pt x="26"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Freeform 60"/>
            <p:cNvSpPr>
              <a:spLocks/>
            </p:cNvSpPr>
            <p:nvPr/>
          </p:nvSpPr>
          <p:spPr bwMode="auto">
            <a:xfrm>
              <a:off x="6583363" y="1277938"/>
              <a:ext cx="42863" cy="4286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39"/>
                    <a:pt x="0" y="25"/>
                  </a:cubicBezTo>
                  <a:cubicBezTo>
                    <a:pt x="0" y="11"/>
                    <a:pt x="11" y="0"/>
                    <a:pt x="25" y="0"/>
                  </a:cubicBezTo>
                  <a:cubicBezTo>
                    <a:pt x="40" y="0"/>
                    <a:pt x="51" y="11"/>
                    <a:pt x="51" y="25"/>
                  </a:cubicBezTo>
                  <a:cubicBezTo>
                    <a:pt x="51" y="39"/>
                    <a:pt x="40"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Freeform 61"/>
            <p:cNvSpPr>
              <a:spLocks/>
            </p:cNvSpPr>
            <p:nvPr/>
          </p:nvSpPr>
          <p:spPr bwMode="auto">
            <a:xfrm>
              <a:off x="6513513" y="1127126"/>
              <a:ext cx="80963" cy="22225"/>
            </a:xfrm>
            <a:custGeom>
              <a:avLst/>
              <a:gdLst>
                <a:gd name="T0" fmla="*/ 96 w 96"/>
                <a:gd name="T1" fmla="*/ 25 h 25"/>
                <a:gd name="T2" fmla="*/ 96 w 96"/>
                <a:gd name="T3" fmla="*/ 25 h 25"/>
                <a:gd name="T4" fmla="*/ 0 w 96"/>
                <a:gd name="T5" fmla="*/ 24 h 25"/>
                <a:gd name="T6" fmla="*/ 0 w 96"/>
                <a:gd name="T7" fmla="*/ 0 h 25"/>
                <a:gd name="T8" fmla="*/ 96 w 96"/>
                <a:gd name="T9" fmla="*/ 0 h 25"/>
                <a:gd name="T10" fmla="*/ 96 w 96"/>
                <a:gd name="T11" fmla="*/ 25 h 25"/>
              </a:gdLst>
              <a:ahLst/>
              <a:cxnLst>
                <a:cxn ang="0">
                  <a:pos x="T0" y="T1"/>
                </a:cxn>
                <a:cxn ang="0">
                  <a:pos x="T2" y="T3"/>
                </a:cxn>
                <a:cxn ang="0">
                  <a:pos x="T4" y="T5"/>
                </a:cxn>
                <a:cxn ang="0">
                  <a:pos x="T6" y="T7"/>
                </a:cxn>
                <a:cxn ang="0">
                  <a:pos x="T8" y="T9"/>
                </a:cxn>
                <a:cxn ang="0">
                  <a:pos x="T10" y="T11"/>
                </a:cxn>
              </a:cxnLst>
              <a:rect l="0" t="0" r="r" b="b"/>
              <a:pathLst>
                <a:path w="96" h="25">
                  <a:moveTo>
                    <a:pt x="96" y="25"/>
                  </a:moveTo>
                  <a:lnTo>
                    <a:pt x="96" y="25"/>
                  </a:lnTo>
                  <a:lnTo>
                    <a:pt x="0" y="24"/>
                  </a:lnTo>
                  <a:lnTo>
                    <a:pt x="0" y="0"/>
                  </a:lnTo>
                  <a:lnTo>
                    <a:pt x="96" y="0"/>
                  </a:lnTo>
                  <a:lnTo>
                    <a:pt x="96" y="2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Freeform 62"/>
            <p:cNvSpPr>
              <a:spLocks/>
            </p:cNvSpPr>
            <p:nvPr/>
          </p:nvSpPr>
          <p:spPr bwMode="auto">
            <a:xfrm>
              <a:off x="6578600" y="1103313"/>
              <a:ext cx="38100" cy="69850"/>
            </a:xfrm>
            <a:custGeom>
              <a:avLst/>
              <a:gdLst>
                <a:gd name="T0" fmla="*/ 0 w 46"/>
                <a:gd name="T1" fmla="*/ 0 h 81"/>
                <a:gd name="T2" fmla="*/ 0 w 46"/>
                <a:gd name="T3" fmla="*/ 0 h 81"/>
                <a:gd name="T4" fmla="*/ 46 w 46"/>
                <a:gd name="T5" fmla="*/ 40 h 81"/>
                <a:gd name="T6" fmla="*/ 0 w 46"/>
                <a:gd name="T7" fmla="*/ 81 h 81"/>
                <a:gd name="T8" fmla="*/ 0 w 46"/>
                <a:gd name="T9" fmla="*/ 0 h 81"/>
              </a:gdLst>
              <a:ahLst/>
              <a:cxnLst>
                <a:cxn ang="0">
                  <a:pos x="T0" y="T1"/>
                </a:cxn>
                <a:cxn ang="0">
                  <a:pos x="T2" y="T3"/>
                </a:cxn>
                <a:cxn ang="0">
                  <a:pos x="T4" y="T5"/>
                </a:cxn>
                <a:cxn ang="0">
                  <a:pos x="T6" y="T7"/>
                </a:cxn>
                <a:cxn ang="0">
                  <a:pos x="T8" y="T9"/>
                </a:cxn>
              </a:cxnLst>
              <a:rect l="0" t="0" r="r" b="b"/>
              <a:pathLst>
                <a:path w="46" h="81">
                  <a:moveTo>
                    <a:pt x="0" y="0"/>
                  </a:moveTo>
                  <a:lnTo>
                    <a:pt x="0" y="0"/>
                  </a:lnTo>
                  <a:lnTo>
                    <a:pt x="46" y="40"/>
                  </a:lnTo>
                  <a:lnTo>
                    <a:pt x="0" y="81"/>
                  </a:lnTo>
                  <a:lnTo>
                    <a:pt x="0" y="0"/>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Freeform 63"/>
            <p:cNvSpPr>
              <a:spLocks/>
            </p:cNvSpPr>
            <p:nvPr/>
          </p:nvSpPr>
          <p:spPr bwMode="auto">
            <a:xfrm>
              <a:off x="6515100" y="1052513"/>
              <a:ext cx="84138" cy="49213"/>
            </a:xfrm>
            <a:custGeom>
              <a:avLst/>
              <a:gdLst>
                <a:gd name="T0" fmla="*/ 9 w 98"/>
                <a:gd name="T1" fmla="*/ 58 h 58"/>
                <a:gd name="T2" fmla="*/ 9 w 98"/>
                <a:gd name="T3" fmla="*/ 58 h 58"/>
                <a:gd name="T4" fmla="*/ 0 w 98"/>
                <a:gd name="T5" fmla="*/ 35 h 58"/>
                <a:gd name="T6" fmla="*/ 89 w 98"/>
                <a:gd name="T7" fmla="*/ 0 h 58"/>
                <a:gd name="T8" fmla="*/ 98 w 98"/>
                <a:gd name="T9" fmla="*/ 23 h 58"/>
                <a:gd name="T10" fmla="*/ 9 w 98"/>
                <a:gd name="T11" fmla="*/ 58 h 58"/>
              </a:gdLst>
              <a:ahLst/>
              <a:cxnLst>
                <a:cxn ang="0">
                  <a:pos x="T0" y="T1"/>
                </a:cxn>
                <a:cxn ang="0">
                  <a:pos x="T2" y="T3"/>
                </a:cxn>
                <a:cxn ang="0">
                  <a:pos x="T4" y="T5"/>
                </a:cxn>
                <a:cxn ang="0">
                  <a:pos x="T6" y="T7"/>
                </a:cxn>
                <a:cxn ang="0">
                  <a:pos x="T8" y="T9"/>
                </a:cxn>
                <a:cxn ang="0">
                  <a:pos x="T10" y="T11"/>
                </a:cxn>
              </a:cxnLst>
              <a:rect l="0" t="0" r="r" b="b"/>
              <a:pathLst>
                <a:path w="98" h="58">
                  <a:moveTo>
                    <a:pt x="9" y="58"/>
                  </a:moveTo>
                  <a:lnTo>
                    <a:pt x="9" y="58"/>
                  </a:lnTo>
                  <a:lnTo>
                    <a:pt x="0" y="35"/>
                  </a:lnTo>
                  <a:lnTo>
                    <a:pt x="89" y="0"/>
                  </a:lnTo>
                  <a:lnTo>
                    <a:pt x="98" y="23"/>
                  </a:lnTo>
                  <a:lnTo>
                    <a:pt x="9" y="58"/>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64"/>
            <p:cNvSpPr>
              <a:spLocks/>
            </p:cNvSpPr>
            <p:nvPr/>
          </p:nvSpPr>
          <p:spPr bwMode="auto">
            <a:xfrm>
              <a:off x="6567488" y="1036638"/>
              <a:ext cx="47625" cy="63500"/>
            </a:xfrm>
            <a:custGeom>
              <a:avLst/>
              <a:gdLst>
                <a:gd name="T0" fmla="*/ 0 w 57"/>
                <a:gd name="T1" fmla="*/ 0 h 75"/>
                <a:gd name="T2" fmla="*/ 0 w 57"/>
                <a:gd name="T3" fmla="*/ 0 h 75"/>
                <a:gd name="T4" fmla="*/ 57 w 57"/>
                <a:gd name="T5" fmla="*/ 21 h 75"/>
                <a:gd name="T6" fmla="*/ 30 w 57"/>
                <a:gd name="T7" fmla="*/ 75 h 75"/>
                <a:gd name="T8" fmla="*/ 0 w 57"/>
                <a:gd name="T9" fmla="*/ 0 h 75"/>
              </a:gdLst>
              <a:ahLst/>
              <a:cxnLst>
                <a:cxn ang="0">
                  <a:pos x="T0" y="T1"/>
                </a:cxn>
                <a:cxn ang="0">
                  <a:pos x="T2" y="T3"/>
                </a:cxn>
                <a:cxn ang="0">
                  <a:pos x="T4" y="T5"/>
                </a:cxn>
                <a:cxn ang="0">
                  <a:pos x="T6" y="T7"/>
                </a:cxn>
                <a:cxn ang="0">
                  <a:pos x="T8" y="T9"/>
                </a:cxn>
              </a:cxnLst>
              <a:rect l="0" t="0" r="r" b="b"/>
              <a:pathLst>
                <a:path w="57" h="75">
                  <a:moveTo>
                    <a:pt x="0" y="0"/>
                  </a:moveTo>
                  <a:lnTo>
                    <a:pt x="0" y="0"/>
                  </a:lnTo>
                  <a:lnTo>
                    <a:pt x="57" y="21"/>
                  </a:lnTo>
                  <a:lnTo>
                    <a:pt x="30" y="75"/>
                  </a:lnTo>
                  <a:lnTo>
                    <a:pt x="0" y="0"/>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65"/>
            <p:cNvSpPr>
              <a:spLocks/>
            </p:cNvSpPr>
            <p:nvPr/>
          </p:nvSpPr>
          <p:spPr bwMode="auto">
            <a:xfrm>
              <a:off x="6515100" y="1173163"/>
              <a:ext cx="84138" cy="50800"/>
            </a:xfrm>
            <a:custGeom>
              <a:avLst/>
              <a:gdLst>
                <a:gd name="T0" fmla="*/ 89 w 98"/>
                <a:gd name="T1" fmla="*/ 59 h 59"/>
                <a:gd name="T2" fmla="*/ 89 w 98"/>
                <a:gd name="T3" fmla="*/ 59 h 59"/>
                <a:gd name="T4" fmla="*/ 0 w 98"/>
                <a:gd name="T5" fmla="*/ 23 h 59"/>
                <a:gd name="T6" fmla="*/ 9 w 98"/>
                <a:gd name="T7" fmla="*/ 0 h 59"/>
                <a:gd name="T8" fmla="*/ 98 w 98"/>
                <a:gd name="T9" fmla="*/ 36 h 59"/>
                <a:gd name="T10" fmla="*/ 89 w 98"/>
                <a:gd name="T11" fmla="*/ 59 h 59"/>
              </a:gdLst>
              <a:ahLst/>
              <a:cxnLst>
                <a:cxn ang="0">
                  <a:pos x="T0" y="T1"/>
                </a:cxn>
                <a:cxn ang="0">
                  <a:pos x="T2" y="T3"/>
                </a:cxn>
                <a:cxn ang="0">
                  <a:pos x="T4" y="T5"/>
                </a:cxn>
                <a:cxn ang="0">
                  <a:pos x="T6" y="T7"/>
                </a:cxn>
                <a:cxn ang="0">
                  <a:pos x="T8" y="T9"/>
                </a:cxn>
                <a:cxn ang="0">
                  <a:pos x="T10" y="T11"/>
                </a:cxn>
              </a:cxnLst>
              <a:rect l="0" t="0" r="r" b="b"/>
              <a:pathLst>
                <a:path w="98" h="59">
                  <a:moveTo>
                    <a:pt x="89" y="59"/>
                  </a:moveTo>
                  <a:lnTo>
                    <a:pt x="89" y="59"/>
                  </a:lnTo>
                  <a:lnTo>
                    <a:pt x="0" y="23"/>
                  </a:lnTo>
                  <a:lnTo>
                    <a:pt x="9" y="0"/>
                  </a:lnTo>
                  <a:lnTo>
                    <a:pt x="98" y="36"/>
                  </a:lnTo>
                  <a:lnTo>
                    <a:pt x="89" y="59"/>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Freeform 66"/>
            <p:cNvSpPr>
              <a:spLocks/>
            </p:cNvSpPr>
            <p:nvPr/>
          </p:nvSpPr>
          <p:spPr bwMode="auto">
            <a:xfrm>
              <a:off x="6567488" y="1174751"/>
              <a:ext cx="47625" cy="65088"/>
            </a:xfrm>
            <a:custGeom>
              <a:avLst/>
              <a:gdLst>
                <a:gd name="T0" fmla="*/ 0 w 57"/>
                <a:gd name="T1" fmla="*/ 75 h 75"/>
                <a:gd name="T2" fmla="*/ 0 w 57"/>
                <a:gd name="T3" fmla="*/ 75 h 75"/>
                <a:gd name="T4" fmla="*/ 57 w 57"/>
                <a:gd name="T5" fmla="*/ 55 h 75"/>
                <a:gd name="T6" fmla="*/ 30 w 57"/>
                <a:gd name="T7" fmla="*/ 0 h 75"/>
                <a:gd name="T8" fmla="*/ 0 w 57"/>
                <a:gd name="T9" fmla="*/ 75 h 75"/>
              </a:gdLst>
              <a:ahLst/>
              <a:cxnLst>
                <a:cxn ang="0">
                  <a:pos x="T0" y="T1"/>
                </a:cxn>
                <a:cxn ang="0">
                  <a:pos x="T2" y="T3"/>
                </a:cxn>
                <a:cxn ang="0">
                  <a:pos x="T4" y="T5"/>
                </a:cxn>
                <a:cxn ang="0">
                  <a:pos x="T6" y="T7"/>
                </a:cxn>
                <a:cxn ang="0">
                  <a:pos x="T8" y="T9"/>
                </a:cxn>
              </a:cxnLst>
              <a:rect l="0" t="0" r="r" b="b"/>
              <a:pathLst>
                <a:path w="57" h="75">
                  <a:moveTo>
                    <a:pt x="0" y="75"/>
                  </a:moveTo>
                  <a:lnTo>
                    <a:pt x="0" y="75"/>
                  </a:lnTo>
                  <a:lnTo>
                    <a:pt x="57" y="55"/>
                  </a:lnTo>
                  <a:lnTo>
                    <a:pt x="30" y="0"/>
                  </a:lnTo>
                  <a:lnTo>
                    <a:pt x="0" y="7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67"/>
            <p:cNvSpPr>
              <a:spLocks/>
            </p:cNvSpPr>
            <p:nvPr/>
          </p:nvSpPr>
          <p:spPr bwMode="auto">
            <a:xfrm>
              <a:off x="6299200" y="1120776"/>
              <a:ext cx="112713" cy="33338"/>
            </a:xfrm>
            <a:custGeom>
              <a:avLst/>
              <a:gdLst>
                <a:gd name="T0" fmla="*/ 132 w 132"/>
                <a:gd name="T1" fmla="*/ 39 h 39"/>
                <a:gd name="T2" fmla="*/ 132 w 132"/>
                <a:gd name="T3" fmla="*/ 39 h 39"/>
                <a:gd name="T4" fmla="*/ 0 w 132"/>
                <a:gd name="T5" fmla="*/ 39 h 39"/>
                <a:gd name="T6" fmla="*/ 0 w 132"/>
                <a:gd name="T7" fmla="*/ 0 h 39"/>
                <a:gd name="T8" fmla="*/ 132 w 132"/>
                <a:gd name="T9" fmla="*/ 0 h 39"/>
                <a:gd name="T10" fmla="*/ 132 w 132"/>
                <a:gd name="T11" fmla="*/ 39 h 39"/>
              </a:gdLst>
              <a:ahLst/>
              <a:cxnLst>
                <a:cxn ang="0">
                  <a:pos x="T0" y="T1"/>
                </a:cxn>
                <a:cxn ang="0">
                  <a:pos x="T2" y="T3"/>
                </a:cxn>
                <a:cxn ang="0">
                  <a:pos x="T4" y="T5"/>
                </a:cxn>
                <a:cxn ang="0">
                  <a:pos x="T6" y="T7"/>
                </a:cxn>
                <a:cxn ang="0">
                  <a:pos x="T8" y="T9"/>
                </a:cxn>
                <a:cxn ang="0">
                  <a:pos x="T10" y="T11"/>
                </a:cxn>
              </a:cxnLst>
              <a:rect l="0" t="0" r="r" b="b"/>
              <a:pathLst>
                <a:path w="132" h="39">
                  <a:moveTo>
                    <a:pt x="132" y="39"/>
                  </a:moveTo>
                  <a:lnTo>
                    <a:pt x="132" y="39"/>
                  </a:lnTo>
                  <a:lnTo>
                    <a:pt x="0" y="39"/>
                  </a:lnTo>
                  <a:lnTo>
                    <a:pt x="0" y="0"/>
                  </a:lnTo>
                  <a:lnTo>
                    <a:pt x="132" y="0"/>
                  </a:lnTo>
                  <a:lnTo>
                    <a:pt x="132" y="39"/>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Freeform 68"/>
            <p:cNvSpPr>
              <a:spLocks/>
            </p:cNvSpPr>
            <p:nvPr/>
          </p:nvSpPr>
          <p:spPr bwMode="auto">
            <a:xfrm>
              <a:off x="6388100" y="1087438"/>
              <a:ext cx="57150" cy="101600"/>
            </a:xfrm>
            <a:custGeom>
              <a:avLst/>
              <a:gdLst>
                <a:gd name="T0" fmla="*/ 0 w 67"/>
                <a:gd name="T1" fmla="*/ 0 h 118"/>
                <a:gd name="T2" fmla="*/ 0 w 67"/>
                <a:gd name="T3" fmla="*/ 0 h 118"/>
                <a:gd name="T4" fmla="*/ 67 w 67"/>
                <a:gd name="T5" fmla="*/ 59 h 118"/>
                <a:gd name="T6" fmla="*/ 0 w 67"/>
                <a:gd name="T7" fmla="*/ 118 h 118"/>
                <a:gd name="T8" fmla="*/ 0 w 67"/>
                <a:gd name="T9" fmla="*/ 0 h 118"/>
              </a:gdLst>
              <a:ahLst/>
              <a:cxnLst>
                <a:cxn ang="0">
                  <a:pos x="T0" y="T1"/>
                </a:cxn>
                <a:cxn ang="0">
                  <a:pos x="T2" y="T3"/>
                </a:cxn>
                <a:cxn ang="0">
                  <a:pos x="T4" y="T5"/>
                </a:cxn>
                <a:cxn ang="0">
                  <a:pos x="T6" y="T7"/>
                </a:cxn>
                <a:cxn ang="0">
                  <a:pos x="T8" y="T9"/>
                </a:cxn>
              </a:cxnLst>
              <a:rect l="0" t="0" r="r" b="b"/>
              <a:pathLst>
                <a:path w="67" h="118">
                  <a:moveTo>
                    <a:pt x="0" y="0"/>
                  </a:moveTo>
                  <a:lnTo>
                    <a:pt x="0" y="0"/>
                  </a:lnTo>
                  <a:lnTo>
                    <a:pt x="67" y="59"/>
                  </a:lnTo>
                  <a:lnTo>
                    <a:pt x="0" y="118"/>
                  </a:lnTo>
                  <a:lnTo>
                    <a:pt x="0" y="0"/>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Freeform 69"/>
            <p:cNvSpPr>
              <a:spLocks/>
            </p:cNvSpPr>
            <p:nvPr/>
          </p:nvSpPr>
          <p:spPr bwMode="auto">
            <a:xfrm>
              <a:off x="6457950" y="1071563"/>
              <a:ext cx="33338" cy="131763"/>
            </a:xfrm>
            <a:custGeom>
              <a:avLst/>
              <a:gdLst>
                <a:gd name="T0" fmla="*/ 40 w 40"/>
                <a:gd name="T1" fmla="*/ 138 h 153"/>
                <a:gd name="T2" fmla="*/ 40 w 40"/>
                <a:gd name="T3" fmla="*/ 138 h 153"/>
                <a:gd name="T4" fmla="*/ 23 w 40"/>
                <a:gd name="T5" fmla="*/ 153 h 153"/>
                <a:gd name="T6" fmla="*/ 18 w 40"/>
                <a:gd name="T7" fmla="*/ 153 h 153"/>
                <a:gd name="T8" fmla="*/ 0 w 40"/>
                <a:gd name="T9" fmla="*/ 138 h 153"/>
                <a:gd name="T10" fmla="*/ 0 w 40"/>
                <a:gd name="T11" fmla="*/ 15 h 153"/>
                <a:gd name="T12" fmla="*/ 18 w 40"/>
                <a:gd name="T13" fmla="*/ 0 h 153"/>
                <a:gd name="T14" fmla="*/ 23 w 40"/>
                <a:gd name="T15" fmla="*/ 0 h 153"/>
                <a:gd name="T16" fmla="*/ 40 w 40"/>
                <a:gd name="T17" fmla="*/ 15 h 153"/>
                <a:gd name="T18" fmla="*/ 40 w 40"/>
                <a:gd name="T19" fmla="*/ 138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53">
                  <a:moveTo>
                    <a:pt x="40" y="138"/>
                  </a:moveTo>
                  <a:lnTo>
                    <a:pt x="40" y="138"/>
                  </a:lnTo>
                  <a:cubicBezTo>
                    <a:pt x="40" y="146"/>
                    <a:pt x="32" y="153"/>
                    <a:pt x="23" y="153"/>
                  </a:cubicBezTo>
                  <a:lnTo>
                    <a:pt x="18" y="153"/>
                  </a:lnTo>
                  <a:cubicBezTo>
                    <a:pt x="8" y="153"/>
                    <a:pt x="0" y="146"/>
                    <a:pt x="0" y="138"/>
                  </a:cubicBezTo>
                  <a:lnTo>
                    <a:pt x="0" y="15"/>
                  </a:lnTo>
                  <a:cubicBezTo>
                    <a:pt x="0" y="7"/>
                    <a:pt x="8" y="0"/>
                    <a:pt x="18" y="0"/>
                  </a:cubicBezTo>
                  <a:lnTo>
                    <a:pt x="23" y="0"/>
                  </a:lnTo>
                  <a:cubicBezTo>
                    <a:pt x="32" y="0"/>
                    <a:pt x="40" y="7"/>
                    <a:pt x="40" y="15"/>
                  </a:cubicBezTo>
                  <a:lnTo>
                    <a:pt x="40" y="138"/>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8" name="文本框 313"/>
          <p:cNvSpPr txBox="1"/>
          <p:nvPr/>
        </p:nvSpPr>
        <p:spPr>
          <a:xfrm>
            <a:off x="2113269" y="3228189"/>
            <a:ext cx="550864" cy="184666"/>
          </a:xfrm>
          <a:prstGeom prst="rect">
            <a:avLst/>
          </a:prstGeom>
          <a:noFill/>
        </p:spPr>
        <p:txBody>
          <a:bodyPr wrap="square" lIns="0" tIns="0" rIns="0" bIns="0" rtlCol="0">
            <a:spAutoFit/>
          </a:bodyPr>
          <a:lstStyle/>
          <a:p>
            <a:pPr algn="ctr" defTabSz="914112"/>
            <a:r>
              <a:rPr lang="en-US" altLang="zh-CN" sz="120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nginx</a:t>
            </a:r>
            <a:endParaRPr lang="zh-CN" altLang="en-US" sz="12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9" name="组合 98"/>
          <p:cNvGrpSpPr/>
          <p:nvPr/>
        </p:nvGrpSpPr>
        <p:grpSpPr>
          <a:xfrm>
            <a:off x="2197707" y="3729427"/>
            <a:ext cx="2169552" cy="538288"/>
            <a:chOff x="1487077" y="2381443"/>
            <a:chExt cx="1080000" cy="414000"/>
          </a:xfrm>
        </p:grpSpPr>
        <p:sp>
          <p:nvSpPr>
            <p:cNvPr id="100" name="矩形 99"/>
            <p:cNvSpPr/>
            <p:nvPr/>
          </p:nvSpPr>
          <p:spPr bwMode="auto">
            <a:xfrm>
              <a:off x="1487077" y="2381443"/>
              <a:ext cx="1080000" cy="414000"/>
            </a:xfrm>
            <a:prstGeom prst="rect">
              <a:avLst/>
            </a:prstGeom>
            <a:solidFill>
              <a:srgbClr val="92D050">
                <a:alpha val="20000"/>
              </a:srgbClr>
            </a:solidFill>
            <a:ln w="12700" cap="flat" cmpd="sng" algn="ctr">
              <a:noFill/>
              <a:prstDash val="solid"/>
              <a:miter lim="800000"/>
            </a:ln>
            <a:effectLst/>
            <a:extLst/>
          </p:spPr>
          <p:txBody>
            <a:bodyPr rot="0" spcFirstLastPara="0" vertOverflow="overflow" horzOverflow="overflow" vert="horz" wrap="square" lIns="121900" tIns="60950" rIns="121900" bIns="60950" numCol="1" spcCol="0" rtlCol="0" fromWordArt="0" anchor="ctr" anchorCtr="0" forceAA="0" compatLnSpc="1">
              <a:prstTxWarp prst="textNoShape">
                <a:avLst/>
              </a:prstTxWarp>
              <a:noAutofit/>
            </a:bodyPr>
            <a:lstStyle/>
            <a:p>
              <a:pPr algn="ctr" defTabSz="914112"/>
              <a:endParaRPr lang="zh-CN" altLang="en-US" sz="1799" kern="0">
                <a:solidFill>
                  <a:sysClr val="window" lastClr="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1" name="组合 100"/>
            <p:cNvGrpSpPr/>
            <p:nvPr/>
          </p:nvGrpSpPr>
          <p:grpSpPr>
            <a:xfrm>
              <a:off x="1644832" y="2444443"/>
              <a:ext cx="764490" cy="288000"/>
              <a:chOff x="1613075" y="2435443"/>
              <a:chExt cx="764490" cy="288000"/>
            </a:xfrm>
          </p:grpSpPr>
          <p:grpSp>
            <p:nvGrpSpPr>
              <p:cNvPr id="102" name="组合 18401"/>
              <p:cNvGrpSpPr>
                <a:grpSpLocks noChangeAspect="1"/>
              </p:cNvGrpSpPr>
              <p:nvPr/>
            </p:nvGrpSpPr>
            <p:grpSpPr>
              <a:xfrm>
                <a:off x="1613075" y="2435443"/>
                <a:ext cx="152534" cy="288000"/>
                <a:chOff x="7499351" y="736601"/>
                <a:chExt cx="227013" cy="428625"/>
              </a:xfrm>
              <a:solidFill>
                <a:srgbClr val="666666"/>
              </a:solidFill>
            </p:grpSpPr>
            <p:sp>
              <p:nvSpPr>
                <p:cNvPr id="131"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3" name="组合 18401"/>
              <p:cNvGrpSpPr>
                <a:grpSpLocks noChangeAspect="1"/>
              </p:cNvGrpSpPr>
              <p:nvPr/>
            </p:nvGrpSpPr>
            <p:grpSpPr>
              <a:xfrm>
                <a:off x="1919053" y="2435443"/>
                <a:ext cx="152534" cy="288000"/>
                <a:chOff x="7499351" y="736601"/>
                <a:chExt cx="227013" cy="428625"/>
              </a:xfrm>
              <a:solidFill>
                <a:srgbClr val="666666"/>
              </a:solidFill>
            </p:grpSpPr>
            <p:sp>
              <p:nvSpPr>
                <p:cNvPr id="118"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4" name="组合 18401"/>
              <p:cNvGrpSpPr>
                <a:grpSpLocks noChangeAspect="1"/>
              </p:cNvGrpSpPr>
              <p:nvPr/>
            </p:nvGrpSpPr>
            <p:grpSpPr>
              <a:xfrm>
                <a:off x="2225031" y="2435443"/>
                <a:ext cx="152534" cy="288000"/>
                <a:chOff x="7499351" y="736601"/>
                <a:chExt cx="227013" cy="428625"/>
              </a:xfrm>
              <a:solidFill>
                <a:srgbClr val="666666"/>
              </a:solidFill>
            </p:grpSpPr>
            <p:sp>
              <p:nvSpPr>
                <p:cNvPr id="105"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grpSp>
        <p:nvGrpSpPr>
          <p:cNvPr id="189" name="组合 188"/>
          <p:cNvGrpSpPr/>
          <p:nvPr/>
        </p:nvGrpSpPr>
        <p:grpSpPr>
          <a:xfrm>
            <a:off x="2197707" y="4368560"/>
            <a:ext cx="2169552" cy="538288"/>
            <a:chOff x="1487077" y="3295467"/>
            <a:chExt cx="1080000" cy="414000"/>
          </a:xfrm>
        </p:grpSpPr>
        <p:sp>
          <p:nvSpPr>
            <p:cNvPr id="190" name="矩形 189"/>
            <p:cNvSpPr/>
            <p:nvPr/>
          </p:nvSpPr>
          <p:spPr bwMode="auto">
            <a:xfrm>
              <a:off x="1487077" y="3295467"/>
              <a:ext cx="1080000" cy="414000"/>
            </a:xfrm>
            <a:prstGeom prst="rect">
              <a:avLst/>
            </a:prstGeom>
            <a:solidFill>
              <a:srgbClr val="666666">
                <a:alpha val="20000"/>
              </a:srgbClr>
            </a:solidFill>
            <a:ln w="12700" cap="flat" cmpd="sng" algn="ctr">
              <a:noFill/>
              <a:prstDash val="solid"/>
              <a:miter lim="800000"/>
            </a:ln>
            <a:effectLst/>
            <a:extLst/>
          </p:spPr>
          <p:txBody>
            <a:bodyPr rot="0" spcFirstLastPara="0" vertOverflow="overflow" horzOverflow="overflow" vert="horz" wrap="square" lIns="121900" tIns="60950" rIns="121900" bIns="60950" numCol="1" spcCol="0" rtlCol="0" fromWordArt="0" anchor="ctr" anchorCtr="0" forceAA="0" compatLnSpc="1">
              <a:prstTxWarp prst="textNoShape">
                <a:avLst/>
              </a:prstTxWarp>
              <a:noAutofit/>
            </a:bodyPr>
            <a:lstStyle/>
            <a:p>
              <a:pPr algn="ctr" defTabSz="914112"/>
              <a:endParaRPr lang="zh-CN" altLang="en-US" sz="1799" kern="0">
                <a:solidFill>
                  <a:sysClr val="window" lastClr="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1" name="组合 190"/>
            <p:cNvGrpSpPr/>
            <p:nvPr/>
          </p:nvGrpSpPr>
          <p:grpSpPr>
            <a:xfrm>
              <a:off x="1644832" y="3358467"/>
              <a:ext cx="764490" cy="288000"/>
              <a:chOff x="1613075" y="3386949"/>
              <a:chExt cx="764490" cy="288000"/>
            </a:xfrm>
          </p:grpSpPr>
          <p:grpSp>
            <p:nvGrpSpPr>
              <p:cNvPr id="192" name="组合 18401"/>
              <p:cNvGrpSpPr>
                <a:grpSpLocks noChangeAspect="1"/>
              </p:cNvGrpSpPr>
              <p:nvPr/>
            </p:nvGrpSpPr>
            <p:grpSpPr>
              <a:xfrm>
                <a:off x="1613075" y="3386949"/>
                <a:ext cx="152534" cy="288000"/>
                <a:chOff x="7499351" y="736601"/>
                <a:chExt cx="227013" cy="428625"/>
              </a:xfrm>
              <a:solidFill>
                <a:srgbClr val="666666"/>
              </a:solidFill>
            </p:grpSpPr>
            <p:sp>
              <p:nvSpPr>
                <p:cNvPr id="207"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8"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9"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0"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1"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2"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3"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4"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5"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6"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7"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8"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9"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93" name="组合 18401"/>
              <p:cNvGrpSpPr>
                <a:grpSpLocks noChangeAspect="1"/>
              </p:cNvGrpSpPr>
              <p:nvPr/>
            </p:nvGrpSpPr>
            <p:grpSpPr>
              <a:xfrm>
                <a:off x="2225031" y="3386949"/>
                <a:ext cx="152534" cy="288000"/>
                <a:chOff x="7499351" y="736601"/>
                <a:chExt cx="227013" cy="428625"/>
              </a:xfrm>
              <a:solidFill>
                <a:srgbClr val="666666"/>
              </a:solidFill>
            </p:grpSpPr>
            <p:sp>
              <p:nvSpPr>
                <p:cNvPr id="194"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5"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6"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9"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5"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grpSp>
        <p:nvGrpSpPr>
          <p:cNvPr id="220" name="组合 219"/>
          <p:cNvGrpSpPr/>
          <p:nvPr/>
        </p:nvGrpSpPr>
        <p:grpSpPr>
          <a:xfrm>
            <a:off x="2197707" y="4962771"/>
            <a:ext cx="2169552" cy="538288"/>
            <a:chOff x="1487077" y="3752478"/>
            <a:chExt cx="1080000" cy="414000"/>
          </a:xfrm>
        </p:grpSpPr>
        <p:sp>
          <p:nvSpPr>
            <p:cNvPr id="221" name="矩形 220"/>
            <p:cNvSpPr/>
            <p:nvPr/>
          </p:nvSpPr>
          <p:spPr bwMode="auto">
            <a:xfrm>
              <a:off x="1487077" y="3752478"/>
              <a:ext cx="1080000" cy="414000"/>
            </a:xfrm>
            <a:prstGeom prst="rect">
              <a:avLst/>
            </a:prstGeom>
            <a:solidFill>
              <a:srgbClr val="666666">
                <a:alpha val="20000"/>
              </a:srgbClr>
            </a:solidFill>
            <a:ln w="12700" cap="flat" cmpd="sng" algn="ctr">
              <a:noFill/>
              <a:prstDash val="solid"/>
              <a:miter lim="800000"/>
            </a:ln>
            <a:effectLst/>
            <a:extLst/>
          </p:spPr>
          <p:txBody>
            <a:bodyPr rot="0" spcFirstLastPara="0" vertOverflow="overflow" horzOverflow="overflow" vert="horz" wrap="square" lIns="121900" tIns="60950" rIns="121900" bIns="60950" numCol="1" spcCol="0" rtlCol="0" fromWordArt="0" anchor="ctr" anchorCtr="0" forceAA="0" compatLnSpc="1">
              <a:prstTxWarp prst="textNoShape">
                <a:avLst/>
              </a:prstTxWarp>
              <a:noAutofit/>
            </a:bodyPr>
            <a:lstStyle/>
            <a:p>
              <a:pPr algn="ctr" defTabSz="914112"/>
              <a:endParaRPr lang="zh-CN" altLang="en-US" sz="1799" kern="0">
                <a:solidFill>
                  <a:sysClr val="window" lastClr="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2" name="组合 221"/>
            <p:cNvGrpSpPr/>
            <p:nvPr/>
          </p:nvGrpSpPr>
          <p:grpSpPr>
            <a:xfrm>
              <a:off x="1644832" y="3833478"/>
              <a:ext cx="764490" cy="252000"/>
              <a:chOff x="1613075" y="3880702"/>
              <a:chExt cx="764490" cy="252000"/>
            </a:xfrm>
          </p:grpSpPr>
          <p:grpSp>
            <p:nvGrpSpPr>
              <p:cNvPr id="223" name="组合 16582"/>
              <p:cNvGrpSpPr>
                <a:grpSpLocks noChangeAspect="1"/>
              </p:cNvGrpSpPr>
              <p:nvPr/>
            </p:nvGrpSpPr>
            <p:grpSpPr>
              <a:xfrm>
                <a:off x="1613075" y="3880702"/>
                <a:ext cx="219541" cy="252000"/>
                <a:chOff x="8407400" y="2055813"/>
                <a:chExt cx="360363" cy="458788"/>
              </a:xfrm>
              <a:solidFill>
                <a:srgbClr val="666666"/>
              </a:solidFill>
            </p:grpSpPr>
            <p:sp>
              <p:nvSpPr>
                <p:cNvPr id="229"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0"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1"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2"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24" name="组合 16582"/>
              <p:cNvGrpSpPr>
                <a:grpSpLocks noChangeAspect="1"/>
              </p:cNvGrpSpPr>
              <p:nvPr/>
            </p:nvGrpSpPr>
            <p:grpSpPr>
              <a:xfrm>
                <a:off x="2158024" y="3880702"/>
                <a:ext cx="219541" cy="252000"/>
                <a:chOff x="8407400" y="2055813"/>
                <a:chExt cx="360363" cy="458788"/>
              </a:xfrm>
              <a:solidFill>
                <a:srgbClr val="666666"/>
              </a:solidFill>
            </p:grpSpPr>
            <p:sp>
              <p:nvSpPr>
                <p:cNvPr id="225"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6"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7"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8"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noFill/>
                  <a:prstDash val="solid"/>
                  <a:round/>
                  <a:headEnd/>
                  <a:tailEnd/>
                </a:ln>
              </p:spPr>
              <p:txBody>
                <a:bodyPr/>
                <a:lstStyle/>
                <a:p>
                  <a:pPr defTabSz="724774">
                    <a:defRPr/>
                  </a:pPr>
                  <a:endParaRPr lang="zh-CN" altLang="en-US" sz="4267">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cxnSp>
        <p:nvCxnSpPr>
          <p:cNvPr id="233" name="直接连接符 232"/>
          <p:cNvCxnSpPr/>
          <p:nvPr/>
        </p:nvCxnSpPr>
        <p:spPr>
          <a:xfrm>
            <a:off x="2903210" y="3458043"/>
            <a:ext cx="0" cy="271385"/>
          </a:xfrm>
          <a:prstGeom prst="line">
            <a:avLst/>
          </a:prstGeom>
          <a:ln w="9525">
            <a:solidFill>
              <a:schemeClr val="bg1">
                <a:lumMod val="50000"/>
              </a:schemeClr>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8" name="矩形 130"/>
          <p:cNvSpPr>
            <a:spLocks noChangeArrowheads="1"/>
          </p:cNvSpPr>
          <p:nvPr/>
        </p:nvSpPr>
        <p:spPr bwMode="auto">
          <a:xfrm>
            <a:off x="1041608" y="2302827"/>
            <a:ext cx="3905011" cy="3555735"/>
          </a:xfrm>
          <a:prstGeom prst="rect">
            <a:avLst/>
          </a:prstGeom>
          <a:noFill/>
          <a:ln w="12700" cap="flat" cmpd="sng" algn="ctr">
            <a:solidFill>
              <a:schemeClr val="tx1"/>
            </a:solidFill>
            <a:prstDash val="dash"/>
            <a:miter lim="800000"/>
          </a:ln>
          <a:effectLst/>
        </p:spPr>
        <p:txBody>
          <a:bodyPr rot="0" spcFirstLastPara="0" vertOverflow="overflow" horzOverflow="overflow" vert="horz" wrap="square" lIns="121900" tIns="60950" rIns="121900" bIns="60950" numCol="1" spcCol="0" rtlCol="0" fromWordArt="0" anchor="ctr" anchorCtr="0" forceAA="0" compatLnSpc="1">
            <a:prstTxWarp prst="textNoShape">
              <a:avLst/>
            </a:prstTxWarp>
            <a:noAutofit/>
          </a:bodyPr>
          <a:lstStyle/>
          <a:p>
            <a:pPr algn="ctr" defTabSz="914112"/>
            <a:endParaRPr lang="zh-CN" altLang="en-US" sz="1799" kern="0" dirty="0">
              <a:solidFill>
                <a:sysClr val="window" lastClr="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9" name="直接连接符 258"/>
          <p:cNvCxnSpPr/>
          <p:nvPr/>
        </p:nvCxnSpPr>
        <p:spPr>
          <a:xfrm>
            <a:off x="2895600" y="1421278"/>
            <a:ext cx="7311" cy="1759368"/>
          </a:xfrm>
          <a:prstGeom prst="line">
            <a:avLst/>
          </a:prstGeom>
          <a:ln w="9525">
            <a:solidFill>
              <a:schemeClr val="bg1">
                <a:lumMod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60" name="组合 259"/>
          <p:cNvGrpSpPr/>
          <p:nvPr/>
        </p:nvGrpSpPr>
        <p:grpSpPr>
          <a:xfrm>
            <a:off x="2483957" y="999710"/>
            <a:ext cx="799571" cy="468077"/>
            <a:chOff x="3661154" y="1212178"/>
            <a:chExt cx="612000" cy="360000"/>
          </a:xfrm>
        </p:grpSpPr>
        <p:sp>
          <p:nvSpPr>
            <p:cNvPr id="261" name="Freeform 424"/>
            <p:cNvSpPr>
              <a:spLocks noEditPoints="1"/>
            </p:cNvSpPr>
            <p:nvPr/>
          </p:nvSpPr>
          <p:spPr bwMode="auto">
            <a:xfrm>
              <a:off x="3661154" y="1212178"/>
              <a:ext cx="612000" cy="360000"/>
            </a:xfrm>
            <a:custGeom>
              <a:avLst/>
              <a:gdLst>
                <a:gd name="T0" fmla="*/ 2147483647 w 157"/>
                <a:gd name="T1" fmla="*/ 2147483647 h 102"/>
                <a:gd name="T2" fmla="*/ 2147483647 w 157"/>
                <a:gd name="T3" fmla="*/ 2147483647 h 102"/>
                <a:gd name="T4" fmla="*/ 2147483647 w 157"/>
                <a:gd name="T5" fmla="*/ 0 h 102"/>
                <a:gd name="T6" fmla="*/ 2147483647 w 157"/>
                <a:gd name="T7" fmla="*/ 2147483647 h 102"/>
                <a:gd name="T8" fmla="*/ 2147483647 w 157"/>
                <a:gd name="T9" fmla="*/ 2147483647 h 102"/>
                <a:gd name="T10" fmla="*/ 0 w 157"/>
                <a:gd name="T11" fmla="*/ 2147483647 h 102"/>
                <a:gd name="T12" fmla="*/ 2147483647 w 157"/>
                <a:gd name="T13" fmla="*/ 2147483647 h 102"/>
                <a:gd name="T14" fmla="*/ 2147483647 w 157"/>
                <a:gd name="T15" fmla="*/ 2147483647 h 102"/>
                <a:gd name="T16" fmla="*/ 2147483647 w 157"/>
                <a:gd name="T17" fmla="*/ 2147483647 h 102"/>
                <a:gd name="T18" fmla="*/ 2147483647 w 157"/>
                <a:gd name="T19" fmla="*/ 2147483647 h 102"/>
                <a:gd name="T20" fmla="*/ 2147483647 w 157"/>
                <a:gd name="T21" fmla="*/ 2147483647 h 102"/>
                <a:gd name="T22" fmla="*/ 2147483647 w 157"/>
                <a:gd name="T23" fmla="*/ 2147483647 h 102"/>
                <a:gd name="T24" fmla="*/ 2147483647 w 157"/>
                <a:gd name="T25" fmla="*/ 2147483647 h 102"/>
                <a:gd name="T26" fmla="*/ 2147483647 w 157"/>
                <a:gd name="T27" fmla="*/ 2147483647 h 102"/>
                <a:gd name="T28" fmla="*/ 2147483647 w 157"/>
                <a:gd name="T29" fmla="*/ 2147483647 h 102"/>
                <a:gd name="T30" fmla="*/ 2147483647 w 157"/>
                <a:gd name="T31" fmla="*/ 2147483647 h 102"/>
                <a:gd name="T32" fmla="*/ 2147483647 w 157"/>
                <a:gd name="T33" fmla="*/ 2147483647 h 102"/>
                <a:gd name="T34" fmla="*/ 2147483647 w 157"/>
                <a:gd name="T35" fmla="*/ 2147483647 h 102"/>
                <a:gd name="T36" fmla="*/ 2147483647 w 157"/>
                <a:gd name="T37" fmla="*/ 2147483647 h 102"/>
                <a:gd name="T38" fmla="*/ 2147483647 w 157"/>
                <a:gd name="T39" fmla="*/ 2147483647 h 102"/>
                <a:gd name="T40" fmla="*/ 2147483647 w 157"/>
                <a:gd name="T41" fmla="*/ 2147483647 h 102"/>
                <a:gd name="T42" fmla="*/ 2147483647 w 157"/>
                <a:gd name="T43" fmla="*/ 2147483647 h 102"/>
                <a:gd name="T44" fmla="*/ 2147483647 w 157"/>
                <a:gd name="T45" fmla="*/ 2147483647 h 102"/>
                <a:gd name="T46" fmla="*/ 2147483647 w 157"/>
                <a:gd name="T47" fmla="*/ 2147483647 h 102"/>
                <a:gd name="T48" fmla="*/ 2147483647 w 157"/>
                <a:gd name="T49" fmla="*/ 2147483647 h 102"/>
                <a:gd name="T50" fmla="*/ 2147483647 w 157"/>
                <a:gd name="T51" fmla="*/ 2147483647 h 102"/>
                <a:gd name="T52" fmla="*/ 2147483647 w 157"/>
                <a:gd name="T53" fmla="*/ 2147483647 h 102"/>
                <a:gd name="T54" fmla="*/ 2147483647 w 157"/>
                <a:gd name="T55" fmla="*/ 2147483647 h 10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7"/>
                <a:gd name="T85" fmla="*/ 0 h 102"/>
                <a:gd name="T86" fmla="*/ 157 w 157"/>
                <a:gd name="T87" fmla="*/ 102 h 10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7" h="102">
                  <a:moveTo>
                    <a:pt x="129" y="46"/>
                  </a:moveTo>
                  <a:cubicBezTo>
                    <a:pt x="129" y="46"/>
                    <a:pt x="129" y="46"/>
                    <a:pt x="129" y="46"/>
                  </a:cubicBezTo>
                  <a:cubicBezTo>
                    <a:pt x="129" y="20"/>
                    <a:pt x="109" y="0"/>
                    <a:pt x="83" y="0"/>
                  </a:cubicBezTo>
                  <a:cubicBezTo>
                    <a:pt x="61" y="0"/>
                    <a:pt x="43" y="15"/>
                    <a:pt x="38" y="36"/>
                  </a:cubicBezTo>
                  <a:cubicBezTo>
                    <a:pt x="36" y="36"/>
                    <a:pt x="35" y="35"/>
                    <a:pt x="33" y="35"/>
                  </a:cubicBezTo>
                  <a:cubicBezTo>
                    <a:pt x="15" y="35"/>
                    <a:pt x="0" y="50"/>
                    <a:pt x="0" y="69"/>
                  </a:cubicBezTo>
                  <a:cubicBezTo>
                    <a:pt x="0" y="87"/>
                    <a:pt x="15" y="102"/>
                    <a:pt x="33" y="102"/>
                  </a:cubicBezTo>
                  <a:cubicBezTo>
                    <a:pt x="58" y="102"/>
                    <a:pt x="58" y="102"/>
                    <a:pt x="58" y="102"/>
                  </a:cubicBezTo>
                  <a:cubicBezTo>
                    <a:pt x="129" y="102"/>
                    <a:pt x="129" y="102"/>
                    <a:pt x="129" y="102"/>
                  </a:cubicBezTo>
                  <a:cubicBezTo>
                    <a:pt x="145" y="102"/>
                    <a:pt x="157" y="90"/>
                    <a:pt x="157" y="74"/>
                  </a:cubicBezTo>
                  <a:cubicBezTo>
                    <a:pt x="157" y="59"/>
                    <a:pt x="145" y="47"/>
                    <a:pt x="129" y="46"/>
                  </a:cubicBezTo>
                  <a:moveTo>
                    <a:pt x="129" y="97"/>
                  </a:moveTo>
                  <a:cubicBezTo>
                    <a:pt x="35" y="97"/>
                    <a:pt x="35" y="97"/>
                    <a:pt x="35" y="97"/>
                  </a:cubicBezTo>
                  <a:cubicBezTo>
                    <a:pt x="34" y="97"/>
                    <a:pt x="34" y="97"/>
                    <a:pt x="33" y="97"/>
                  </a:cubicBezTo>
                  <a:cubicBezTo>
                    <a:pt x="33" y="97"/>
                    <a:pt x="33" y="97"/>
                    <a:pt x="33" y="97"/>
                  </a:cubicBezTo>
                  <a:cubicBezTo>
                    <a:pt x="18" y="97"/>
                    <a:pt x="5" y="84"/>
                    <a:pt x="5" y="69"/>
                  </a:cubicBezTo>
                  <a:cubicBezTo>
                    <a:pt x="5" y="53"/>
                    <a:pt x="18" y="41"/>
                    <a:pt x="33" y="41"/>
                  </a:cubicBezTo>
                  <a:cubicBezTo>
                    <a:pt x="35" y="41"/>
                    <a:pt x="37" y="41"/>
                    <a:pt x="40" y="42"/>
                  </a:cubicBezTo>
                  <a:cubicBezTo>
                    <a:pt x="40" y="42"/>
                    <a:pt x="41" y="42"/>
                    <a:pt x="42" y="41"/>
                  </a:cubicBezTo>
                  <a:cubicBezTo>
                    <a:pt x="43" y="41"/>
                    <a:pt x="43" y="40"/>
                    <a:pt x="43" y="40"/>
                  </a:cubicBezTo>
                  <a:cubicBezTo>
                    <a:pt x="46" y="20"/>
                    <a:pt x="63" y="5"/>
                    <a:pt x="83" y="5"/>
                  </a:cubicBezTo>
                  <a:cubicBezTo>
                    <a:pt x="106" y="5"/>
                    <a:pt x="124" y="23"/>
                    <a:pt x="124" y="46"/>
                  </a:cubicBezTo>
                  <a:cubicBezTo>
                    <a:pt x="124" y="47"/>
                    <a:pt x="124" y="48"/>
                    <a:pt x="124" y="49"/>
                  </a:cubicBezTo>
                  <a:cubicBezTo>
                    <a:pt x="124" y="50"/>
                    <a:pt x="124" y="51"/>
                    <a:pt x="124" y="51"/>
                  </a:cubicBezTo>
                  <a:cubicBezTo>
                    <a:pt x="125" y="52"/>
                    <a:pt x="126" y="52"/>
                    <a:pt x="127" y="52"/>
                  </a:cubicBezTo>
                  <a:cubicBezTo>
                    <a:pt x="127" y="52"/>
                    <a:pt x="128" y="52"/>
                    <a:pt x="129" y="52"/>
                  </a:cubicBezTo>
                  <a:cubicBezTo>
                    <a:pt x="142" y="52"/>
                    <a:pt x="152" y="62"/>
                    <a:pt x="152" y="74"/>
                  </a:cubicBezTo>
                  <a:cubicBezTo>
                    <a:pt x="152" y="87"/>
                    <a:pt x="142" y="97"/>
                    <a:pt x="129" y="97"/>
                  </a:cubicBezTo>
                </a:path>
              </a:pathLst>
            </a:custGeom>
            <a:solidFill>
              <a:srgbClr val="FBA000"/>
            </a:solidFill>
            <a:ln w="9525">
              <a:noFill/>
              <a:round/>
              <a:headEnd/>
              <a:tailEnd/>
            </a:ln>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2" name="Text Box 15"/>
            <p:cNvSpPr txBox="1">
              <a:spLocks noChangeArrowheads="1"/>
            </p:cNvSpPr>
            <p:nvPr/>
          </p:nvSpPr>
          <p:spPr bwMode="gray">
            <a:xfrm>
              <a:off x="3710764" y="1384311"/>
              <a:ext cx="501196" cy="126296"/>
            </a:xfrm>
            <a:prstGeom prst="rect">
              <a:avLst/>
            </a:prstGeom>
            <a:noFill/>
            <a:ln w="9525" algn="ctr">
              <a:noFill/>
              <a:miter lim="800000"/>
              <a:headEnd/>
              <a:tailEnd/>
            </a:ln>
          </p:spPr>
          <p:txBody>
            <a:bodyPr wrap="square" lIns="0" tIns="0" rIns="0" bIns="0">
              <a:spAutoFit/>
            </a:bodyPr>
            <a:lstStyle/>
            <a:p>
              <a:pPr algn="ctr" defTabSz="914112">
                <a:spcBef>
                  <a:spcPts val="1195"/>
                </a:spcBef>
                <a:buSzPct val="70000"/>
                <a:defRPr/>
              </a:pPr>
              <a:r>
                <a:rPr lang="en-US" altLang="zh-CN" sz="1067" b="1" dirty="0">
                  <a:solidFill>
                    <a:srgbClr val="1D1D1A"/>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Internet</a:t>
              </a:r>
            </a:p>
          </p:txBody>
        </p:sp>
      </p:grpSp>
      <p:grpSp>
        <p:nvGrpSpPr>
          <p:cNvPr id="263" name="组合 298"/>
          <p:cNvGrpSpPr>
            <a:grpSpLocks/>
          </p:cNvGrpSpPr>
          <p:nvPr/>
        </p:nvGrpSpPr>
        <p:grpSpPr bwMode="auto">
          <a:xfrm>
            <a:off x="2704477" y="1634732"/>
            <a:ext cx="376269" cy="374461"/>
            <a:chOff x="2185077" y="5949950"/>
            <a:chExt cx="498475" cy="498475"/>
          </a:xfrm>
          <a:solidFill>
            <a:srgbClr val="666666"/>
          </a:solidFill>
        </p:grpSpPr>
        <p:sp>
          <p:nvSpPr>
            <p:cNvPr id="264" name="Freeform 16"/>
            <p:cNvSpPr>
              <a:spLocks noEditPoints="1"/>
            </p:cNvSpPr>
            <p:nvPr/>
          </p:nvSpPr>
          <p:spPr bwMode="auto">
            <a:xfrm>
              <a:off x="2295021" y="6137141"/>
              <a:ext cx="104332" cy="126196"/>
            </a:xfrm>
            <a:custGeom>
              <a:avLst/>
              <a:gdLst/>
              <a:ahLst/>
              <a:cxnLst>
                <a:cxn ang="0">
                  <a:pos x="17" y="47"/>
                </a:cxn>
                <a:cxn ang="0">
                  <a:pos x="25" y="46"/>
                </a:cxn>
                <a:cxn ang="0">
                  <a:pos x="30" y="43"/>
                </a:cxn>
                <a:cxn ang="0">
                  <a:pos x="34" y="39"/>
                </a:cxn>
                <a:cxn ang="0">
                  <a:pos x="38" y="32"/>
                </a:cxn>
                <a:cxn ang="0">
                  <a:pos x="39" y="23"/>
                </a:cxn>
                <a:cxn ang="0">
                  <a:pos x="37" y="12"/>
                </a:cxn>
                <a:cxn ang="0">
                  <a:pos x="31" y="4"/>
                </a:cxn>
                <a:cxn ang="0">
                  <a:pos x="25" y="0"/>
                </a:cxn>
                <a:cxn ang="0">
                  <a:pos x="16" y="0"/>
                </a:cxn>
                <a:cxn ang="0">
                  <a:pos x="0" y="0"/>
                </a:cxn>
                <a:cxn ang="0">
                  <a:pos x="0" y="47"/>
                </a:cxn>
                <a:cxn ang="0">
                  <a:pos x="17" y="47"/>
                </a:cxn>
                <a:cxn ang="0">
                  <a:pos x="6" y="5"/>
                </a:cxn>
                <a:cxn ang="0">
                  <a:pos x="16" y="5"/>
                </a:cxn>
                <a:cxn ang="0">
                  <a:pos x="24" y="6"/>
                </a:cxn>
                <a:cxn ang="0">
                  <a:pos x="30" y="11"/>
                </a:cxn>
                <a:cxn ang="0">
                  <a:pos x="32" y="23"/>
                </a:cxn>
                <a:cxn ang="0">
                  <a:pos x="31" y="32"/>
                </a:cxn>
                <a:cxn ang="0">
                  <a:pos x="28" y="38"/>
                </a:cxn>
                <a:cxn ang="0">
                  <a:pos x="24" y="40"/>
                </a:cxn>
                <a:cxn ang="0">
                  <a:pos x="16" y="41"/>
                </a:cxn>
                <a:cxn ang="0">
                  <a:pos x="6" y="41"/>
                </a:cxn>
                <a:cxn ang="0">
                  <a:pos x="6" y="5"/>
                </a:cxn>
              </a:cxnLst>
              <a:rect l="0" t="0" r="r" b="b"/>
              <a:pathLst>
                <a:path w="39" h="47">
                  <a:moveTo>
                    <a:pt x="17" y="47"/>
                  </a:moveTo>
                  <a:cubicBezTo>
                    <a:pt x="20" y="47"/>
                    <a:pt x="22" y="46"/>
                    <a:pt x="25" y="46"/>
                  </a:cubicBezTo>
                  <a:cubicBezTo>
                    <a:pt x="27" y="45"/>
                    <a:pt x="29" y="45"/>
                    <a:pt x="30" y="43"/>
                  </a:cubicBezTo>
                  <a:cubicBezTo>
                    <a:pt x="32" y="42"/>
                    <a:pt x="33" y="41"/>
                    <a:pt x="34" y="39"/>
                  </a:cubicBezTo>
                  <a:cubicBezTo>
                    <a:pt x="36" y="37"/>
                    <a:pt x="37" y="35"/>
                    <a:pt x="38" y="32"/>
                  </a:cubicBezTo>
                  <a:cubicBezTo>
                    <a:pt x="38" y="30"/>
                    <a:pt x="39" y="26"/>
                    <a:pt x="39" y="23"/>
                  </a:cubicBezTo>
                  <a:cubicBezTo>
                    <a:pt x="39" y="19"/>
                    <a:pt x="38" y="15"/>
                    <a:pt x="37" y="12"/>
                  </a:cubicBezTo>
                  <a:cubicBezTo>
                    <a:pt x="36" y="8"/>
                    <a:pt x="34" y="6"/>
                    <a:pt x="31" y="4"/>
                  </a:cubicBezTo>
                  <a:cubicBezTo>
                    <a:pt x="30" y="2"/>
                    <a:pt x="27" y="1"/>
                    <a:pt x="25" y="0"/>
                  </a:cubicBezTo>
                  <a:cubicBezTo>
                    <a:pt x="23" y="0"/>
                    <a:pt x="20" y="0"/>
                    <a:pt x="16" y="0"/>
                  </a:cubicBezTo>
                  <a:cubicBezTo>
                    <a:pt x="0" y="0"/>
                    <a:pt x="0" y="0"/>
                    <a:pt x="0" y="0"/>
                  </a:cubicBezTo>
                  <a:cubicBezTo>
                    <a:pt x="0" y="47"/>
                    <a:pt x="0" y="47"/>
                    <a:pt x="0" y="47"/>
                  </a:cubicBezTo>
                  <a:lnTo>
                    <a:pt x="17" y="47"/>
                  </a:lnTo>
                  <a:close/>
                  <a:moveTo>
                    <a:pt x="6" y="5"/>
                  </a:moveTo>
                  <a:cubicBezTo>
                    <a:pt x="16" y="5"/>
                    <a:pt x="16" y="5"/>
                    <a:pt x="16" y="5"/>
                  </a:cubicBezTo>
                  <a:cubicBezTo>
                    <a:pt x="20" y="5"/>
                    <a:pt x="22" y="5"/>
                    <a:pt x="24" y="6"/>
                  </a:cubicBezTo>
                  <a:cubicBezTo>
                    <a:pt x="26" y="7"/>
                    <a:pt x="28" y="9"/>
                    <a:pt x="30" y="11"/>
                  </a:cubicBezTo>
                  <a:cubicBezTo>
                    <a:pt x="32" y="14"/>
                    <a:pt x="32" y="18"/>
                    <a:pt x="32" y="23"/>
                  </a:cubicBezTo>
                  <a:cubicBezTo>
                    <a:pt x="32" y="26"/>
                    <a:pt x="32" y="29"/>
                    <a:pt x="31" y="32"/>
                  </a:cubicBezTo>
                  <a:cubicBezTo>
                    <a:pt x="30" y="34"/>
                    <a:pt x="29" y="36"/>
                    <a:pt x="28" y="38"/>
                  </a:cubicBezTo>
                  <a:cubicBezTo>
                    <a:pt x="27" y="39"/>
                    <a:pt x="25" y="40"/>
                    <a:pt x="24" y="40"/>
                  </a:cubicBezTo>
                  <a:cubicBezTo>
                    <a:pt x="22" y="41"/>
                    <a:pt x="19" y="41"/>
                    <a:pt x="16" y="41"/>
                  </a:cubicBezTo>
                  <a:cubicBezTo>
                    <a:pt x="6" y="41"/>
                    <a:pt x="6" y="41"/>
                    <a:pt x="6" y="41"/>
                  </a:cubicBezTo>
                  <a:lnTo>
                    <a:pt x="6" y="5"/>
                  </a:lnTo>
                  <a:close/>
                </a:path>
              </a:pathLst>
            </a:custGeom>
            <a:grpFill/>
            <a:ln w="9525">
              <a:noFill/>
              <a:round/>
              <a:headEnd/>
              <a:tailEnd/>
            </a:ln>
          </p:spPr>
          <p:txBody>
            <a:bodyPr/>
            <a:lstStyle/>
            <a:p>
              <a:pPr defTabSz="914112">
                <a:defRPr/>
              </a:pPr>
              <a:endParaRPr lang="zh-CN" altLang="en-US" sz="3200">
                <a:solidFill>
                  <a:srgbClr val="1D1D1A">
                    <a:lumMod val="65000"/>
                    <a:lumOff val="3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5" name="Freeform 17"/>
            <p:cNvSpPr>
              <a:spLocks/>
            </p:cNvSpPr>
            <p:nvPr/>
          </p:nvSpPr>
          <p:spPr bwMode="auto">
            <a:xfrm>
              <a:off x="2418674" y="6137141"/>
              <a:ext cx="98536" cy="126196"/>
            </a:xfrm>
            <a:custGeom>
              <a:avLst/>
              <a:gdLst/>
              <a:ahLst/>
              <a:cxnLst>
                <a:cxn ang="0">
                  <a:pos x="10" y="17"/>
                </a:cxn>
                <a:cxn ang="0">
                  <a:pos x="52" y="79"/>
                </a:cxn>
                <a:cxn ang="0">
                  <a:pos x="62" y="79"/>
                </a:cxn>
                <a:cxn ang="0">
                  <a:pos x="62" y="0"/>
                </a:cxn>
                <a:cxn ang="0">
                  <a:pos x="52" y="0"/>
                </a:cxn>
                <a:cxn ang="0">
                  <a:pos x="52" y="62"/>
                </a:cxn>
                <a:cxn ang="0">
                  <a:pos x="12" y="0"/>
                </a:cxn>
                <a:cxn ang="0">
                  <a:pos x="0" y="0"/>
                </a:cxn>
                <a:cxn ang="0">
                  <a:pos x="0" y="79"/>
                </a:cxn>
                <a:cxn ang="0">
                  <a:pos x="10" y="79"/>
                </a:cxn>
                <a:cxn ang="0">
                  <a:pos x="10" y="17"/>
                </a:cxn>
              </a:cxnLst>
              <a:rect l="0" t="0" r="r" b="b"/>
              <a:pathLst>
                <a:path w="62" h="79">
                  <a:moveTo>
                    <a:pt x="10" y="17"/>
                  </a:moveTo>
                  <a:lnTo>
                    <a:pt x="52" y="79"/>
                  </a:lnTo>
                  <a:lnTo>
                    <a:pt x="62" y="79"/>
                  </a:lnTo>
                  <a:lnTo>
                    <a:pt x="62" y="0"/>
                  </a:lnTo>
                  <a:lnTo>
                    <a:pt x="52" y="0"/>
                  </a:lnTo>
                  <a:lnTo>
                    <a:pt x="52" y="62"/>
                  </a:lnTo>
                  <a:lnTo>
                    <a:pt x="12" y="0"/>
                  </a:lnTo>
                  <a:lnTo>
                    <a:pt x="0" y="0"/>
                  </a:lnTo>
                  <a:lnTo>
                    <a:pt x="0" y="79"/>
                  </a:lnTo>
                  <a:lnTo>
                    <a:pt x="10" y="79"/>
                  </a:lnTo>
                  <a:lnTo>
                    <a:pt x="10" y="17"/>
                  </a:lnTo>
                  <a:close/>
                </a:path>
              </a:pathLst>
            </a:custGeom>
            <a:grpFill/>
            <a:ln w="9525">
              <a:noFill/>
              <a:round/>
              <a:headEnd/>
              <a:tailEnd/>
            </a:ln>
          </p:spPr>
          <p:txBody>
            <a:bodyPr/>
            <a:lstStyle/>
            <a:p>
              <a:pPr defTabSz="914112">
                <a:defRPr/>
              </a:pPr>
              <a:endParaRPr lang="zh-CN" altLang="en-US" sz="3200">
                <a:solidFill>
                  <a:srgbClr val="1D1D1A">
                    <a:lumMod val="65000"/>
                    <a:lumOff val="3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6" name="Freeform 18"/>
            <p:cNvSpPr>
              <a:spLocks/>
            </p:cNvSpPr>
            <p:nvPr/>
          </p:nvSpPr>
          <p:spPr bwMode="auto">
            <a:xfrm>
              <a:off x="2542326" y="6135038"/>
              <a:ext cx="96604" cy="128299"/>
            </a:xfrm>
            <a:custGeom>
              <a:avLst/>
              <a:gdLst/>
              <a:ahLst/>
              <a:cxnLst>
                <a:cxn ang="0">
                  <a:pos x="26" y="42"/>
                </a:cxn>
                <a:cxn ang="0">
                  <a:pos x="20" y="43"/>
                </a:cxn>
                <a:cxn ang="0">
                  <a:pos x="12" y="41"/>
                </a:cxn>
                <a:cxn ang="0">
                  <a:pos x="8" y="38"/>
                </a:cxn>
                <a:cxn ang="0">
                  <a:pos x="6" y="32"/>
                </a:cxn>
                <a:cxn ang="0">
                  <a:pos x="0" y="33"/>
                </a:cxn>
                <a:cxn ang="0">
                  <a:pos x="2" y="41"/>
                </a:cxn>
                <a:cxn ang="0">
                  <a:pos x="9" y="47"/>
                </a:cxn>
                <a:cxn ang="0">
                  <a:pos x="20" y="48"/>
                </a:cxn>
                <a:cxn ang="0">
                  <a:pos x="29" y="47"/>
                </a:cxn>
                <a:cxn ang="0">
                  <a:pos x="35" y="41"/>
                </a:cxn>
                <a:cxn ang="0">
                  <a:pos x="37" y="34"/>
                </a:cxn>
                <a:cxn ang="0">
                  <a:pos x="35" y="28"/>
                </a:cxn>
                <a:cxn ang="0">
                  <a:pos x="29" y="23"/>
                </a:cxn>
                <a:cxn ang="0">
                  <a:pos x="19" y="20"/>
                </a:cxn>
                <a:cxn ang="0">
                  <a:pos x="9" y="17"/>
                </a:cxn>
                <a:cxn ang="0">
                  <a:pos x="8" y="12"/>
                </a:cxn>
                <a:cxn ang="0">
                  <a:pos x="10" y="7"/>
                </a:cxn>
                <a:cxn ang="0">
                  <a:pos x="18" y="5"/>
                </a:cxn>
                <a:cxn ang="0">
                  <a:pos x="27" y="8"/>
                </a:cxn>
                <a:cxn ang="0">
                  <a:pos x="30" y="14"/>
                </a:cxn>
                <a:cxn ang="0">
                  <a:pos x="36" y="14"/>
                </a:cxn>
                <a:cxn ang="0">
                  <a:pos x="34" y="6"/>
                </a:cxn>
                <a:cxn ang="0">
                  <a:pos x="27" y="1"/>
                </a:cxn>
                <a:cxn ang="0">
                  <a:pos x="18" y="0"/>
                </a:cxn>
                <a:cxn ang="0">
                  <a:pos x="10" y="1"/>
                </a:cxn>
                <a:cxn ang="0">
                  <a:pos x="4" y="6"/>
                </a:cxn>
                <a:cxn ang="0">
                  <a:pos x="2" y="13"/>
                </a:cxn>
                <a:cxn ang="0">
                  <a:pos x="3" y="19"/>
                </a:cxn>
                <a:cxn ang="0">
                  <a:pos x="8" y="23"/>
                </a:cxn>
                <a:cxn ang="0">
                  <a:pos x="17" y="26"/>
                </a:cxn>
                <a:cxn ang="0">
                  <a:pos x="26" y="28"/>
                </a:cxn>
                <a:cxn ang="0">
                  <a:pos x="30" y="31"/>
                </a:cxn>
                <a:cxn ang="0">
                  <a:pos x="31" y="35"/>
                </a:cxn>
                <a:cxn ang="0">
                  <a:pos x="30" y="39"/>
                </a:cxn>
                <a:cxn ang="0">
                  <a:pos x="26" y="42"/>
                </a:cxn>
              </a:cxnLst>
              <a:rect l="0" t="0" r="r" b="b"/>
              <a:pathLst>
                <a:path w="37" h="48">
                  <a:moveTo>
                    <a:pt x="26" y="42"/>
                  </a:moveTo>
                  <a:cubicBezTo>
                    <a:pt x="24" y="43"/>
                    <a:pt x="22" y="43"/>
                    <a:pt x="20" y="43"/>
                  </a:cubicBezTo>
                  <a:cubicBezTo>
                    <a:pt x="17" y="43"/>
                    <a:pt x="14" y="42"/>
                    <a:pt x="12" y="41"/>
                  </a:cubicBezTo>
                  <a:cubicBezTo>
                    <a:pt x="10" y="41"/>
                    <a:pt x="9" y="39"/>
                    <a:pt x="8" y="38"/>
                  </a:cubicBezTo>
                  <a:cubicBezTo>
                    <a:pt x="7" y="36"/>
                    <a:pt x="6" y="34"/>
                    <a:pt x="6" y="32"/>
                  </a:cubicBezTo>
                  <a:cubicBezTo>
                    <a:pt x="0" y="33"/>
                    <a:pt x="0" y="33"/>
                    <a:pt x="0" y="33"/>
                  </a:cubicBezTo>
                  <a:cubicBezTo>
                    <a:pt x="0" y="36"/>
                    <a:pt x="1" y="38"/>
                    <a:pt x="2" y="41"/>
                  </a:cubicBezTo>
                  <a:cubicBezTo>
                    <a:pt x="4" y="43"/>
                    <a:pt x="6" y="45"/>
                    <a:pt x="9" y="47"/>
                  </a:cubicBezTo>
                  <a:cubicBezTo>
                    <a:pt x="12" y="48"/>
                    <a:pt x="16" y="48"/>
                    <a:pt x="20" y="48"/>
                  </a:cubicBezTo>
                  <a:cubicBezTo>
                    <a:pt x="23" y="48"/>
                    <a:pt x="26" y="48"/>
                    <a:pt x="29" y="47"/>
                  </a:cubicBezTo>
                  <a:cubicBezTo>
                    <a:pt x="32" y="45"/>
                    <a:pt x="34" y="44"/>
                    <a:pt x="35" y="41"/>
                  </a:cubicBezTo>
                  <a:cubicBezTo>
                    <a:pt x="37" y="39"/>
                    <a:pt x="37" y="37"/>
                    <a:pt x="37" y="34"/>
                  </a:cubicBezTo>
                  <a:cubicBezTo>
                    <a:pt x="37" y="32"/>
                    <a:pt x="37" y="30"/>
                    <a:pt x="35" y="28"/>
                  </a:cubicBezTo>
                  <a:cubicBezTo>
                    <a:pt x="34" y="26"/>
                    <a:pt x="32" y="24"/>
                    <a:pt x="29" y="23"/>
                  </a:cubicBezTo>
                  <a:cubicBezTo>
                    <a:pt x="27" y="22"/>
                    <a:pt x="24" y="21"/>
                    <a:pt x="19" y="20"/>
                  </a:cubicBezTo>
                  <a:cubicBezTo>
                    <a:pt x="14" y="19"/>
                    <a:pt x="11" y="18"/>
                    <a:pt x="9" y="17"/>
                  </a:cubicBezTo>
                  <a:cubicBezTo>
                    <a:pt x="8" y="15"/>
                    <a:pt x="8" y="14"/>
                    <a:pt x="8" y="12"/>
                  </a:cubicBezTo>
                  <a:cubicBezTo>
                    <a:pt x="8" y="10"/>
                    <a:pt x="8" y="9"/>
                    <a:pt x="10" y="7"/>
                  </a:cubicBezTo>
                  <a:cubicBezTo>
                    <a:pt x="12" y="6"/>
                    <a:pt x="15" y="5"/>
                    <a:pt x="18" y="5"/>
                  </a:cubicBezTo>
                  <a:cubicBezTo>
                    <a:pt x="22" y="5"/>
                    <a:pt x="25" y="6"/>
                    <a:pt x="27" y="8"/>
                  </a:cubicBezTo>
                  <a:cubicBezTo>
                    <a:pt x="28" y="9"/>
                    <a:pt x="30" y="11"/>
                    <a:pt x="30" y="14"/>
                  </a:cubicBezTo>
                  <a:cubicBezTo>
                    <a:pt x="36" y="14"/>
                    <a:pt x="36" y="14"/>
                    <a:pt x="36" y="14"/>
                  </a:cubicBezTo>
                  <a:cubicBezTo>
                    <a:pt x="36" y="11"/>
                    <a:pt x="35" y="9"/>
                    <a:pt x="34" y="6"/>
                  </a:cubicBezTo>
                  <a:cubicBezTo>
                    <a:pt x="32" y="4"/>
                    <a:pt x="30" y="3"/>
                    <a:pt x="27" y="1"/>
                  </a:cubicBezTo>
                  <a:cubicBezTo>
                    <a:pt x="25" y="0"/>
                    <a:pt x="22" y="0"/>
                    <a:pt x="18" y="0"/>
                  </a:cubicBezTo>
                  <a:cubicBezTo>
                    <a:pt x="15" y="0"/>
                    <a:pt x="12" y="0"/>
                    <a:pt x="10" y="1"/>
                  </a:cubicBezTo>
                  <a:cubicBezTo>
                    <a:pt x="7" y="2"/>
                    <a:pt x="5" y="4"/>
                    <a:pt x="4" y="6"/>
                  </a:cubicBezTo>
                  <a:cubicBezTo>
                    <a:pt x="2" y="8"/>
                    <a:pt x="2" y="10"/>
                    <a:pt x="2" y="13"/>
                  </a:cubicBezTo>
                  <a:cubicBezTo>
                    <a:pt x="2" y="15"/>
                    <a:pt x="2" y="17"/>
                    <a:pt x="3" y="19"/>
                  </a:cubicBezTo>
                  <a:cubicBezTo>
                    <a:pt x="4" y="20"/>
                    <a:pt x="6" y="22"/>
                    <a:pt x="8" y="23"/>
                  </a:cubicBezTo>
                  <a:cubicBezTo>
                    <a:pt x="10" y="24"/>
                    <a:pt x="13" y="25"/>
                    <a:pt x="17" y="26"/>
                  </a:cubicBezTo>
                  <a:cubicBezTo>
                    <a:pt x="22" y="27"/>
                    <a:pt x="24" y="28"/>
                    <a:pt x="26" y="28"/>
                  </a:cubicBezTo>
                  <a:cubicBezTo>
                    <a:pt x="28" y="29"/>
                    <a:pt x="29" y="30"/>
                    <a:pt x="30" y="31"/>
                  </a:cubicBezTo>
                  <a:cubicBezTo>
                    <a:pt x="31" y="32"/>
                    <a:pt x="31" y="33"/>
                    <a:pt x="31" y="35"/>
                  </a:cubicBezTo>
                  <a:cubicBezTo>
                    <a:pt x="31" y="36"/>
                    <a:pt x="31" y="38"/>
                    <a:pt x="30" y="39"/>
                  </a:cubicBezTo>
                  <a:cubicBezTo>
                    <a:pt x="29" y="40"/>
                    <a:pt x="28" y="41"/>
                    <a:pt x="26" y="42"/>
                  </a:cubicBezTo>
                  <a:close/>
                </a:path>
              </a:pathLst>
            </a:custGeom>
            <a:grpFill/>
            <a:ln w="9525">
              <a:noFill/>
              <a:round/>
              <a:headEnd/>
              <a:tailEnd/>
            </a:ln>
          </p:spPr>
          <p:txBody>
            <a:bodyPr/>
            <a:lstStyle/>
            <a:p>
              <a:pPr defTabSz="914112">
                <a:defRPr/>
              </a:pPr>
              <a:endParaRPr lang="zh-CN" altLang="en-US" sz="3200">
                <a:solidFill>
                  <a:srgbClr val="1D1D1A">
                    <a:lumMod val="65000"/>
                    <a:lumOff val="3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7" name="Freeform 19"/>
            <p:cNvSpPr>
              <a:spLocks noEditPoints="1"/>
            </p:cNvSpPr>
            <p:nvPr/>
          </p:nvSpPr>
          <p:spPr bwMode="auto">
            <a:xfrm>
              <a:off x="2185077" y="5949950"/>
              <a:ext cx="498475" cy="498475"/>
            </a:xfrm>
            <a:custGeom>
              <a:avLst/>
              <a:gdLst/>
              <a:ahLst/>
              <a:cxnLst>
                <a:cxn ang="0">
                  <a:pos x="94" y="0"/>
                </a:cxn>
                <a:cxn ang="0">
                  <a:pos x="0" y="94"/>
                </a:cxn>
                <a:cxn ang="0">
                  <a:pos x="94" y="188"/>
                </a:cxn>
                <a:cxn ang="0">
                  <a:pos x="188" y="94"/>
                </a:cxn>
                <a:cxn ang="0">
                  <a:pos x="94" y="0"/>
                </a:cxn>
                <a:cxn ang="0">
                  <a:pos x="170" y="55"/>
                </a:cxn>
                <a:cxn ang="0">
                  <a:pos x="142" y="55"/>
                </a:cxn>
                <a:cxn ang="0">
                  <a:pos x="120" y="12"/>
                </a:cxn>
                <a:cxn ang="0">
                  <a:pos x="170" y="55"/>
                </a:cxn>
                <a:cxn ang="0">
                  <a:pos x="90" y="9"/>
                </a:cxn>
                <a:cxn ang="0">
                  <a:pos x="90" y="55"/>
                </a:cxn>
                <a:cxn ang="0">
                  <a:pos x="54" y="55"/>
                </a:cxn>
                <a:cxn ang="0">
                  <a:pos x="90" y="9"/>
                </a:cxn>
                <a:cxn ang="0">
                  <a:pos x="98" y="9"/>
                </a:cxn>
                <a:cxn ang="0">
                  <a:pos x="134" y="55"/>
                </a:cxn>
                <a:cxn ang="0">
                  <a:pos x="98" y="55"/>
                </a:cxn>
                <a:cxn ang="0">
                  <a:pos x="98" y="9"/>
                </a:cxn>
                <a:cxn ang="0">
                  <a:pos x="68" y="12"/>
                </a:cxn>
                <a:cxn ang="0">
                  <a:pos x="46" y="55"/>
                </a:cxn>
                <a:cxn ang="0">
                  <a:pos x="18" y="55"/>
                </a:cxn>
                <a:cxn ang="0">
                  <a:pos x="68" y="12"/>
                </a:cxn>
                <a:cxn ang="0">
                  <a:pos x="14" y="63"/>
                </a:cxn>
                <a:cxn ang="0">
                  <a:pos x="174" y="63"/>
                </a:cxn>
                <a:cxn ang="0">
                  <a:pos x="180" y="94"/>
                </a:cxn>
                <a:cxn ang="0">
                  <a:pos x="174" y="127"/>
                </a:cxn>
                <a:cxn ang="0">
                  <a:pos x="15" y="127"/>
                </a:cxn>
                <a:cxn ang="0">
                  <a:pos x="8" y="94"/>
                </a:cxn>
                <a:cxn ang="0">
                  <a:pos x="14" y="63"/>
                </a:cxn>
                <a:cxn ang="0">
                  <a:pos x="90" y="180"/>
                </a:cxn>
                <a:cxn ang="0">
                  <a:pos x="55" y="135"/>
                </a:cxn>
                <a:cxn ang="0">
                  <a:pos x="90" y="135"/>
                </a:cxn>
                <a:cxn ang="0">
                  <a:pos x="90" y="180"/>
                </a:cxn>
                <a:cxn ang="0">
                  <a:pos x="98" y="180"/>
                </a:cxn>
                <a:cxn ang="0">
                  <a:pos x="98" y="135"/>
                </a:cxn>
                <a:cxn ang="0">
                  <a:pos x="134" y="135"/>
                </a:cxn>
                <a:cxn ang="0">
                  <a:pos x="98" y="180"/>
                </a:cxn>
                <a:cxn ang="0">
                  <a:pos x="18" y="135"/>
                </a:cxn>
                <a:cxn ang="0">
                  <a:pos x="46" y="135"/>
                </a:cxn>
                <a:cxn ang="0">
                  <a:pos x="68" y="176"/>
                </a:cxn>
                <a:cxn ang="0">
                  <a:pos x="18" y="135"/>
                </a:cxn>
                <a:cxn ang="0">
                  <a:pos x="120" y="176"/>
                </a:cxn>
                <a:cxn ang="0">
                  <a:pos x="142" y="135"/>
                </a:cxn>
                <a:cxn ang="0">
                  <a:pos x="170" y="135"/>
                </a:cxn>
                <a:cxn ang="0">
                  <a:pos x="120" y="176"/>
                </a:cxn>
              </a:cxnLst>
              <a:rect l="0" t="0" r="r" b="b"/>
              <a:pathLst>
                <a:path w="188" h="188">
                  <a:moveTo>
                    <a:pt x="94" y="0"/>
                  </a:moveTo>
                  <a:cubicBezTo>
                    <a:pt x="42" y="0"/>
                    <a:pt x="0" y="42"/>
                    <a:pt x="0" y="94"/>
                  </a:cubicBezTo>
                  <a:cubicBezTo>
                    <a:pt x="0" y="146"/>
                    <a:pt x="42" y="188"/>
                    <a:pt x="94" y="188"/>
                  </a:cubicBezTo>
                  <a:cubicBezTo>
                    <a:pt x="146" y="188"/>
                    <a:pt x="188" y="146"/>
                    <a:pt x="188" y="94"/>
                  </a:cubicBezTo>
                  <a:cubicBezTo>
                    <a:pt x="188" y="42"/>
                    <a:pt x="146" y="0"/>
                    <a:pt x="94" y="0"/>
                  </a:cubicBezTo>
                  <a:close/>
                  <a:moveTo>
                    <a:pt x="170" y="55"/>
                  </a:moveTo>
                  <a:cubicBezTo>
                    <a:pt x="142" y="55"/>
                    <a:pt x="142" y="55"/>
                    <a:pt x="142" y="55"/>
                  </a:cubicBezTo>
                  <a:cubicBezTo>
                    <a:pt x="137" y="36"/>
                    <a:pt x="130" y="22"/>
                    <a:pt x="120" y="12"/>
                  </a:cubicBezTo>
                  <a:cubicBezTo>
                    <a:pt x="142" y="19"/>
                    <a:pt x="160" y="35"/>
                    <a:pt x="170" y="55"/>
                  </a:cubicBezTo>
                  <a:close/>
                  <a:moveTo>
                    <a:pt x="90" y="9"/>
                  </a:moveTo>
                  <a:cubicBezTo>
                    <a:pt x="90" y="55"/>
                    <a:pt x="90" y="55"/>
                    <a:pt x="90" y="55"/>
                  </a:cubicBezTo>
                  <a:cubicBezTo>
                    <a:pt x="54" y="55"/>
                    <a:pt x="54" y="55"/>
                    <a:pt x="54" y="55"/>
                  </a:cubicBezTo>
                  <a:cubicBezTo>
                    <a:pt x="62" y="29"/>
                    <a:pt x="75" y="11"/>
                    <a:pt x="90" y="9"/>
                  </a:cubicBezTo>
                  <a:close/>
                  <a:moveTo>
                    <a:pt x="98" y="9"/>
                  </a:moveTo>
                  <a:cubicBezTo>
                    <a:pt x="113" y="11"/>
                    <a:pt x="127" y="29"/>
                    <a:pt x="134" y="55"/>
                  </a:cubicBezTo>
                  <a:cubicBezTo>
                    <a:pt x="98" y="55"/>
                    <a:pt x="98" y="55"/>
                    <a:pt x="98" y="55"/>
                  </a:cubicBezTo>
                  <a:lnTo>
                    <a:pt x="98" y="9"/>
                  </a:lnTo>
                  <a:close/>
                  <a:moveTo>
                    <a:pt x="68" y="12"/>
                  </a:moveTo>
                  <a:cubicBezTo>
                    <a:pt x="59" y="22"/>
                    <a:pt x="51" y="36"/>
                    <a:pt x="46" y="55"/>
                  </a:cubicBezTo>
                  <a:cubicBezTo>
                    <a:pt x="18" y="55"/>
                    <a:pt x="18" y="55"/>
                    <a:pt x="18" y="55"/>
                  </a:cubicBezTo>
                  <a:cubicBezTo>
                    <a:pt x="28" y="35"/>
                    <a:pt x="46" y="19"/>
                    <a:pt x="68" y="12"/>
                  </a:cubicBezTo>
                  <a:close/>
                  <a:moveTo>
                    <a:pt x="14" y="63"/>
                  </a:moveTo>
                  <a:cubicBezTo>
                    <a:pt x="174" y="63"/>
                    <a:pt x="174" y="63"/>
                    <a:pt x="174" y="63"/>
                  </a:cubicBezTo>
                  <a:cubicBezTo>
                    <a:pt x="178" y="72"/>
                    <a:pt x="180" y="83"/>
                    <a:pt x="180" y="94"/>
                  </a:cubicBezTo>
                  <a:cubicBezTo>
                    <a:pt x="180" y="106"/>
                    <a:pt x="178" y="117"/>
                    <a:pt x="174" y="127"/>
                  </a:cubicBezTo>
                  <a:cubicBezTo>
                    <a:pt x="15" y="127"/>
                    <a:pt x="15" y="127"/>
                    <a:pt x="15" y="127"/>
                  </a:cubicBezTo>
                  <a:cubicBezTo>
                    <a:pt x="11" y="117"/>
                    <a:pt x="8" y="106"/>
                    <a:pt x="8" y="94"/>
                  </a:cubicBezTo>
                  <a:cubicBezTo>
                    <a:pt x="8" y="83"/>
                    <a:pt x="10" y="72"/>
                    <a:pt x="14" y="63"/>
                  </a:cubicBezTo>
                  <a:close/>
                  <a:moveTo>
                    <a:pt x="90" y="180"/>
                  </a:moveTo>
                  <a:cubicBezTo>
                    <a:pt x="75" y="177"/>
                    <a:pt x="62" y="160"/>
                    <a:pt x="55" y="135"/>
                  </a:cubicBezTo>
                  <a:cubicBezTo>
                    <a:pt x="90" y="135"/>
                    <a:pt x="90" y="135"/>
                    <a:pt x="90" y="135"/>
                  </a:cubicBezTo>
                  <a:lnTo>
                    <a:pt x="90" y="180"/>
                  </a:lnTo>
                  <a:close/>
                  <a:moveTo>
                    <a:pt x="98" y="180"/>
                  </a:moveTo>
                  <a:cubicBezTo>
                    <a:pt x="98" y="135"/>
                    <a:pt x="98" y="135"/>
                    <a:pt x="98" y="135"/>
                  </a:cubicBezTo>
                  <a:cubicBezTo>
                    <a:pt x="134" y="135"/>
                    <a:pt x="134" y="135"/>
                    <a:pt x="134" y="135"/>
                  </a:cubicBezTo>
                  <a:cubicBezTo>
                    <a:pt x="126" y="160"/>
                    <a:pt x="113" y="177"/>
                    <a:pt x="98" y="180"/>
                  </a:cubicBezTo>
                  <a:close/>
                  <a:moveTo>
                    <a:pt x="18" y="135"/>
                  </a:moveTo>
                  <a:cubicBezTo>
                    <a:pt x="46" y="135"/>
                    <a:pt x="46" y="135"/>
                    <a:pt x="46" y="135"/>
                  </a:cubicBezTo>
                  <a:cubicBezTo>
                    <a:pt x="51" y="152"/>
                    <a:pt x="59" y="167"/>
                    <a:pt x="68" y="176"/>
                  </a:cubicBezTo>
                  <a:cubicBezTo>
                    <a:pt x="47" y="169"/>
                    <a:pt x="29" y="154"/>
                    <a:pt x="18" y="135"/>
                  </a:cubicBezTo>
                  <a:close/>
                  <a:moveTo>
                    <a:pt x="120" y="176"/>
                  </a:moveTo>
                  <a:cubicBezTo>
                    <a:pt x="129" y="167"/>
                    <a:pt x="137" y="152"/>
                    <a:pt x="142" y="135"/>
                  </a:cubicBezTo>
                  <a:cubicBezTo>
                    <a:pt x="170" y="135"/>
                    <a:pt x="170" y="135"/>
                    <a:pt x="170" y="135"/>
                  </a:cubicBezTo>
                  <a:cubicBezTo>
                    <a:pt x="159" y="154"/>
                    <a:pt x="142" y="169"/>
                    <a:pt x="120" y="176"/>
                  </a:cubicBezTo>
                  <a:close/>
                </a:path>
              </a:pathLst>
            </a:custGeom>
            <a:grpFill/>
            <a:ln w="9525">
              <a:noFill/>
              <a:round/>
              <a:headEnd/>
              <a:tailEnd/>
            </a:ln>
          </p:spPr>
          <p:txBody>
            <a:bodyPr/>
            <a:lstStyle/>
            <a:p>
              <a:pPr defTabSz="914112">
                <a:defRPr/>
              </a:pPr>
              <a:endParaRPr lang="zh-CN" altLang="en-US" sz="3200">
                <a:solidFill>
                  <a:srgbClr val="1D1D1A">
                    <a:lumMod val="65000"/>
                    <a:lumOff val="3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268" name="直接连接符 267"/>
          <p:cNvCxnSpPr>
            <a:stCxn id="270" idx="7"/>
          </p:cNvCxnSpPr>
          <p:nvPr/>
        </p:nvCxnSpPr>
        <p:spPr>
          <a:xfrm flipH="1">
            <a:off x="3308075" y="1242060"/>
            <a:ext cx="421635" cy="15341"/>
          </a:xfrm>
          <a:prstGeom prst="line">
            <a:avLst/>
          </a:prstGeom>
          <a:ln w="9525">
            <a:solidFill>
              <a:schemeClr val="tx1">
                <a:lumMod val="50000"/>
                <a:lumOff val="5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70" name="Freeform 6"/>
          <p:cNvSpPr>
            <a:spLocks noChangeAspect="1" noEditPoints="1"/>
          </p:cNvSpPr>
          <p:nvPr/>
        </p:nvSpPr>
        <p:spPr bwMode="auto">
          <a:xfrm>
            <a:off x="3729711" y="957792"/>
            <a:ext cx="420424" cy="339003"/>
          </a:xfrm>
          <a:custGeom>
            <a:avLst/>
            <a:gdLst>
              <a:gd name="T0" fmla="*/ 195 w 458"/>
              <a:gd name="T1" fmla="*/ 203 h 384"/>
              <a:gd name="T2" fmla="*/ 188 w 458"/>
              <a:gd name="T3" fmla="*/ 171 h 384"/>
              <a:gd name="T4" fmla="*/ 223 w 458"/>
              <a:gd name="T5" fmla="*/ 84 h 384"/>
              <a:gd name="T6" fmla="*/ 154 w 458"/>
              <a:gd name="T7" fmla="*/ 0 h 384"/>
              <a:gd name="T8" fmla="*/ 85 w 458"/>
              <a:gd name="T9" fmla="*/ 84 h 384"/>
              <a:gd name="T10" fmla="*/ 120 w 458"/>
              <a:gd name="T11" fmla="*/ 171 h 384"/>
              <a:gd name="T12" fmla="*/ 113 w 458"/>
              <a:gd name="T13" fmla="*/ 203 h 384"/>
              <a:gd name="T14" fmla="*/ 0 w 458"/>
              <a:gd name="T15" fmla="*/ 322 h 384"/>
              <a:gd name="T16" fmla="*/ 0 w 458"/>
              <a:gd name="T17" fmla="*/ 323 h 384"/>
              <a:gd name="T18" fmla="*/ 0 w 458"/>
              <a:gd name="T19" fmla="*/ 324 h 384"/>
              <a:gd name="T20" fmla="*/ 154 w 458"/>
              <a:gd name="T21" fmla="*/ 384 h 384"/>
              <a:gd name="T22" fmla="*/ 308 w 458"/>
              <a:gd name="T23" fmla="*/ 324 h 384"/>
              <a:gd name="T24" fmla="*/ 308 w 458"/>
              <a:gd name="T25" fmla="*/ 323 h 384"/>
              <a:gd name="T26" fmla="*/ 308 w 458"/>
              <a:gd name="T27" fmla="*/ 322 h 384"/>
              <a:gd name="T28" fmla="*/ 195 w 458"/>
              <a:gd name="T29" fmla="*/ 203 h 384"/>
              <a:gd name="T30" fmla="*/ 458 w 458"/>
              <a:gd name="T31" fmla="*/ 275 h 384"/>
              <a:gd name="T32" fmla="*/ 350 w 458"/>
              <a:gd name="T33" fmla="*/ 173 h 384"/>
              <a:gd name="T34" fmla="*/ 344 w 458"/>
              <a:gd name="T35" fmla="*/ 146 h 384"/>
              <a:gd name="T36" fmla="*/ 377 w 458"/>
              <a:gd name="T37" fmla="*/ 72 h 384"/>
              <a:gd name="T38" fmla="*/ 312 w 458"/>
              <a:gd name="T39" fmla="*/ 0 h 384"/>
              <a:gd name="T40" fmla="*/ 246 w 458"/>
              <a:gd name="T41" fmla="*/ 72 h 384"/>
              <a:gd name="T42" fmla="*/ 279 w 458"/>
              <a:gd name="T43" fmla="*/ 146 h 384"/>
              <a:gd name="T44" fmla="*/ 273 w 458"/>
              <a:gd name="T45" fmla="*/ 173 h 384"/>
              <a:gd name="T46" fmla="*/ 215 w 458"/>
              <a:gd name="T47" fmla="*/ 197 h 384"/>
              <a:gd name="T48" fmla="*/ 240 w 458"/>
              <a:gd name="T49" fmla="*/ 208 h 384"/>
              <a:gd name="T50" fmla="*/ 277 w 458"/>
              <a:gd name="T51" fmla="*/ 195 h 384"/>
              <a:gd name="T52" fmla="*/ 280 w 458"/>
              <a:gd name="T53" fmla="*/ 195 h 384"/>
              <a:gd name="T54" fmla="*/ 282 w 458"/>
              <a:gd name="T55" fmla="*/ 194 h 384"/>
              <a:gd name="T56" fmla="*/ 304 w 458"/>
              <a:gd name="T57" fmla="*/ 171 h 384"/>
              <a:gd name="T58" fmla="*/ 299 w 458"/>
              <a:gd name="T59" fmla="*/ 134 h 384"/>
              <a:gd name="T60" fmla="*/ 296 w 458"/>
              <a:gd name="T61" fmla="*/ 131 h 384"/>
              <a:gd name="T62" fmla="*/ 293 w 458"/>
              <a:gd name="T63" fmla="*/ 128 h 384"/>
              <a:gd name="T64" fmla="*/ 268 w 458"/>
              <a:gd name="T65" fmla="*/ 72 h 384"/>
              <a:gd name="T66" fmla="*/ 312 w 458"/>
              <a:gd name="T67" fmla="*/ 22 h 384"/>
              <a:gd name="T68" fmla="*/ 355 w 458"/>
              <a:gd name="T69" fmla="*/ 72 h 384"/>
              <a:gd name="T70" fmla="*/ 330 w 458"/>
              <a:gd name="T71" fmla="*/ 128 h 384"/>
              <a:gd name="T72" fmla="*/ 327 w 458"/>
              <a:gd name="T73" fmla="*/ 131 h 384"/>
              <a:gd name="T74" fmla="*/ 325 w 458"/>
              <a:gd name="T75" fmla="*/ 134 h 384"/>
              <a:gd name="T76" fmla="*/ 319 w 458"/>
              <a:gd name="T77" fmla="*/ 171 h 384"/>
              <a:gd name="T78" fmla="*/ 341 w 458"/>
              <a:gd name="T79" fmla="*/ 194 h 384"/>
              <a:gd name="T80" fmla="*/ 344 w 458"/>
              <a:gd name="T81" fmla="*/ 195 h 384"/>
              <a:gd name="T82" fmla="*/ 346 w 458"/>
              <a:gd name="T83" fmla="*/ 195 h 384"/>
              <a:gd name="T84" fmla="*/ 436 w 458"/>
              <a:gd name="T85" fmla="*/ 274 h 384"/>
              <a:gd name="T86" fmla="*/ 436 w 458"/>
              <a:gd name="T87" fmla="*/ 275 h 384"/>
              <a:gd name="T88" fmla="*/ 318 w 458"/>
              <a:gd name="T89" fmla="*/ 306 h 384"/>
              <a:gd name="T90" fmla="*/ 319 w 458"/>
              <a:gd name="T91" fmla="*/ 322 h 384"/>
              <a:gd name="T92" fmla="*/ 319 w 458"/>
              <a:gd name="T93" fmla="*/ 323 h 384"/>
              <a:gd name="T94" fmla="*/ 319 w 458"/>
              <a:gd name="T95" fmla="*/ 324 h 384"/>
              <a:gd name="T96" fmla="*/ 319 w 458"/>
              <a:gd name="T97" fmla="*/ 328 h 384"/>
              <a:gd name="T98" fmla="*/ 458 w 458"/>
              <a:gd name="T99" fmla="*/ 277 h 384"/>
              <a:gd name="T100" fmla="*/ 458 w 458"/>
              <a:gd name="T101" fmla="*/ 276 h 384"/>
              <a:gd name="T102" fmla="*/ 458 w 458"/>
              <a:gd name="T103" fmla="*/ 275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58" h="384">
                <a:moveTo>
                  <a:pt x="195" y="203"/>
                </a:moveTo>
                <a:cubicBezTo>
                  <a:pt x="177" y="194"/>
                  <a:pt x="186" y="175"/>
                  <a:pt x="188" y="171"/>
                </a:cubicBezTo>
                <a:cubicBezTo>
                  <a:pt x="209" y="153"/>
                  <a:pt x="223" y="119"/>
                  <a:pt x="223" y="84"/>
                </a:cubicBezTo>
                <a:cubicBezTo>
                  <a:pt x="223" y="33"/>
                  <a:pt x="192" y="0"/>
                  <a:pt x="154" y="0"/>
                </a:cubicBezTo>
                <a:cubicBezTo>
                  <a:pt x="116" y="0"/>
                  <a:pt x="85" y="33"/>
                  <a:pt x="85" y="84"/>
                </a:cubicBezTo>
                <a:cubicBezTo>
                  <a:pt x="85" y="119"/>
                  <a:pt x="99" y="153"/>
                  <a:pt x="120" y="171"/>
                </a:cubicBezTo>
                <a:cubicBezTo>
                  <a:pt x="123" y="175"/>
                  <a:pt x="131" y="194"/>
                  <a:pt x="113" y="203"/>
                </a:cubicBezTo>
                <a:cubicBezTo>
                  <a:pt x="48" y="218"/>
                  <a:pt x="0" y="269"/>
                  <a:pt x="0" y="322"/>
                </a:cubicBezTo>
                <a:cubicBezTo>
                  <a:pt x="0" y="322"/>
                  <a:pt x="0" y="323"/>
                  <a:pt x="0" y="323"/>
                </a:cubicBezTo>
                <a:cubicBezTo>
                  <a:pt x="0" y="323"/>
                  <a:pt x="0" y="324"/>
                  <a:pt x="0" y="324"/>
                </a:cubicBezTo>
                <a:cubicBezTo>
                  <a:pt x="0" y="355"/>
                  <a:pt x="69" y="384"/>
                  <a:pt x="154" y="384"/>
                </a:cubicBezTo>
                <a:cubicBezTo>
                  <a:pt x="239" y="384"/>
                  <a:pt x="308" y="355"/>
                  <a:pt x="308" y="324"/>
                </a:cubicBezTo>
                <a:cubicBezTo>
                  <a:pt x="308" y="324"/>
                  <a:pt x="308" y="323"/>
                  <a:pt x="308" y="323"/>
                </a:cubicBezTo>
                <a:cubicBezTo>
                  <a:pt x="308" y="323"/>
                  <a:pt x="308" y="322"/>
                  <a:pt x="308" y="322"/>
                </a:cubicBezTo>
                <a:cubicBezTo>
                  <a:pt x="308" y="269"/>
                  <a:pt x="260" y="218"/>
                  <a:pt x="195" y="203"/>
                </a:cubicBezTo>
                <a:close/>
                <a:moveTo>
                  <a:pt x="458" y="275"/>
                </a:moveTo>
                <a:cubicBezTo>
                  <a:pt x="458" y="229"/>
                  <a:pt x="412" y="187"/>
                  <a:pt x="350" y="173"/>
                </a:cubicBezTo>
                <a:cubicBezTo>
                  <a:pt x="333" y="166"/>
                  <a:pt x="342" y="150"/>
                  <a:pt x="344" y="146"/>
                </a:cubicBezTo>
                <a:cubicBezTo>
                  <a:pt x="364" y="130"/>
                  <a:pt x="377" y="101"/>
                  <a:pt x="377" y="72"/>
                </a:cubicBezTo>
                <a:cubicBezTo>
                  <a:pt x="377" y="28"/>
                  <a:pt x="348" y="0"/>
                  <a:pt x="312" y="0"/>
                </a:cubicBezTo>
                <a:cubicBezTo>
                  <a:pt x="275" y="0"/>
                  <a:pt x="246" y="28"/>
                  <a:pt x="246" y="72"/>
                </a:cubicBezTo>
                <a:cubicBezTo>
                  <a:pt x="246" y="101"/>
                  <a:pt x="259" y="130"/>
                  <a:pt x="279" y="146"/>
                </a:cubicBezTo>
                <a:cubicBezTo>
                  <a:pt x="282" y="150"/>
                  <a:pt x="290" y="166"/>
                  <a:pt x="273" y="173"/>
                </a:cubicBezTo>
                <a:cubicBezTo>
                  <a:pt x="251" y="178"/>
                  <a:pt x="231" y="186"/>
                  <a:pt x="215" y="197"/>
                </a:cubicBezTo>
                <a:cubicBezTo>
                  <a:pt x="224" y="200"/>
                  <a:pt x="232" y="204"/>
                  <a:pt x="240" y="208"/>
                </a:cubicBezTo>
                <a:cubicBezTo>
                  <a:pt x="252" y="203"/>
                  <a:pt x="264" y="198"/>
                  <a:pt x="277" y="195"/>
                </a:cubicBezTo>
                <a:cubicBezTo>
                  <a:pt x="280" y="195"/>
                  <a:pt x="280" y="195"/>
                  <a:pt x="280" y="195"/>
                </a:cubicBezTo>
                <a:cubicBezTo>
                  <a:pt x="282" y="194"/>
                  <a:pt x="282" y="194"/>
                  <a:pt x="282" y="194"/>
                </a:cubicBezTo>
                <a:cubicBezTo>
                  <a:pt x="296" y="188"/>
                  <a:pt x="302" y="178"/>
                  <a:pt x="304" y="171"/>
                </a:cubicBezTo>
                <a:cubicBezTo>
                  <a:pt x="309" y="155"/>
                  <a:pt x="302" y="140"/>
                  <a:pt x="299" y="134"/>
                </a:cubicBezTo>
                <a:cubicBezTo>
                  <a:pt x="296" y="131"/>
                  <a:pt x="296" y="131"/>
                  <a:pt x="296" y="131"/>
                </a:cubicBezTo>
                <a:cubicBezTo>
                  <a:pt x="293" y="128"/>
                  <a:pt x="293" y="128"/>
                  <a:pt x="293" y="128"/>
                </a:cubicBezTo>
                <a:cubicBezTo>
                  <a:pt x="278" y="117"/>
                  <a:pt x="268" y="94"/>
                  <a:pt x="268" y="72"/>
                </a:cubicBezTo>
                <a:cubicBezTo>
                  <a:pt x="268" y="43"/>
                  <a:pt x="286" y="22"/>
                  <a:pt x="312" y="22"/>
                </a:cubicBezTo>
                <a:cubicBezTo>
                  <a:pt x="337" y="22"/>
                  <a:pt x="355" y="43"/>
                  <a:pt x="355" y="72"/>
                </a:cubicBezTo>
                <a:cubicBezTo>
                  <a:pt x="355" y="94"/>
                  <a:pt x="345" y="117"/>
                  <a:pt x="330" y="128"/>
                </a:cubicBezTo>
                <a:cubicBezTo>
                  <a:pt x="327" y="131"/>
                  <a:pt x="327" y="131"/>
                  <a:pt x="327" y="131"/>
                </a:cubicBezTo>
                <a:cubicBezTo>
                  <a:pt x="325" y="134"/>
                  <a:pt x="325" y="134"/>
                  <a:pt x="325" y="134"/>
                </a:cubicBezTo>
                <a:cubicBezTo>
                  <a:pt x="321" y="140"/>
                  <a:pt x="314" y="155"/>
                  <a:pt x="319" y="171"/>
                </a:cubicBezTo>
                <a:cubicBezTo>
                  <a:pt x="322" y="178"/>
                  <a:pt x="327" y="188"/>
                  <a:pt x="341" y="194"/>
                </a:cubicBezTo>
                <a:cubicBezTo>
                  <a:pt x="344" y="195"/>
                  <a:pt x="344" y="195"/>
                  <a:pt x="344" y="195"/>
                </a:cubicBezTo>
                <a:cubicBezTo>
                  <a:pt x="346" y="195"/>
                  <a:pt x="346" y="195"/>
                  <a:pt x="346" y="195"/>
                </a:cubicBezTo>
                <a:cubicBezTo>
                  <a:pt x="397" y="206"/>
                  <a:pt x="435" y="240"/>
                  <a:pt x="436" y="274"/>
                </a:cubicBezTo>
                <a:cubicBezTo>
                  <a:pt x="436" y="275"/>
                  <a:pt x="436" y="275"/>
                  <a:pt x="436" y="275"/>
                </a:cubicBezTo>
                <a:cubicBezTo>
                  <a:pt x="430" y="284"/>
                  <a:pt x="389" y="305"/>
                  <a:pt x="318" y="306"/>
                </a:cubicBezTo>
                <a:cubicBezTo>
                  <a:pt x="319" y="311"/>
                  <a:pt x="319" y="316"/>
                  <a:pt x="319" y="322"/>
                </a:cubicBezTo>
                <a:cubicBezTo>
                  <a:pt x="319" y="322"/>
                  <a:pt x="319" y="323"/>
                  <a:pt x="319" y="323"/>
                </a:cubicBezTo>
                <a:cubicBezTo>
                  <a:pt x="319" y="323"/>
                  <a:pt x="319" y="324"/>
                  <a:pt x="319" y="324"/>
                </a:cubicBezTo>
                <a:cubicBezTo>
                  <a:pt x="319" y="325"/>
                  <a:pt x="319" y="327"/>
                  <a:pt x="319" y="328"/>
                </a:cubicBezTo>
                <a:cubicBezTo>
                  <a:pt x="396" y="327"/>
                  <a:pt x="458" y="302"/>
                  <a:pt x="458" y="277"/>
                </a:cubicBezTo>
                <a:cubicBezTo>
                  <a:pt x="458" y="276"/>
                  <a:pt x="458" y="276"/>
                  <a:pt x="458" y="276"/>
                </a:cubicBezTo>
                <a:cubicBezTo>
                  <a:pt x="458" y="275"/>
                  <a:pt x="458" y="275"/>
                  <a:pt x="458" y="275"/>
                </a:cubicBezTo>
                <a:close/>
              </a:path>
            </a:pathLst>
          </a:custGeom>
          <a:solidFill>
            <a:srgbClr val="FBA000"/>
          </a:solidFill>
          <a:ln>
            <a:noFill/>
          </a:ln>
        </p:spPr>
        <p:txBody>
          <a:bodyPr vert="horz" wrap="square" lIns="121900" tIns="60950" rIns="121900" bIns="60950" numCol="1" anchor="t" anchorCtr="0" compatLnSpc="1">
            <a:prstTxWarp prst="textNoShape">
              <a:avLst/>
            </a:prstTxWarp>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a:xfrm>
            <a:off x="1078980" y="2983252"/>
            <a:ext cx="822503" cy="455189"/>
          </a:xfrm>
          <a:prstGeom prst="rect">
            <a:avLst/>
          </a:prstGeom>
          <a:noFill/>
        </p:spPr>
        <p:txBody>
          <a:bodyPr wrap="square" rtlCol="0">
            <a:spAutoFit/>
          </a:bodyPr>
          <a:lstStyle/>
          <a:p>
            <a:pPr defTabSz="914112">
              <a:lnSpc>
                <a:spcPts val="3439"/>
              </a:lnSpc>
            </a:pPr>
            <a:r>
              <a:rPr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负载均衡</a:t>
            </a:r>
            <a:endParaRPr 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76" name="组合 275"/>
          <p:cNvGrpSpPr/>
          <p:nvPr/>
        </p:nvGrpSpPr>
        <p:grpSpPr>
          <a:xfrm>
            <a:off x="5662640" y="1223520"/>
            <a:ext cx="5768259" cy="4635042"/>
            <a:chOff x="531828" y="1337706"/>
            <a:chExt cx="7289639" cy="4897318"/>
          </a:xfrm>
        </p:grpSpPr>
        <p:sp>
          <p:nvSpPr>
            <p:cNvPr id="291" name="矩形 290"/>
            <p:cNvSpPr/>
            <p:nvPr/>
          </p:nvSpPr>
          <p:spPr>
            <a:xfrm>
              <a:off x="2785794" y="5220386"/>
              <a:ext cx="3686058" cy="325056"/>
            </a:xfrm>
            <a:prstGeom prst="rect">
              <a:avLst/>
            </a:prstGeom>
          </p:spPr>
          <p:txBody>
            <a:bodyPr wrap="none">
              <a:spAutoFit/>
            </a:bodyPr>
            <a:lstStyle/>
            <a:p>
              <a:pPr defTabSz="914112"/>
              <a:r>
                <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ECS                                                    </a:t>
              </a:r>
              <a:r>
                <a:rPr lang="en-US" altLang="zh-CN" sz="1399"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77" name="组合 276"/>
            <p:cNvGrpSpPr/>
            <p:nvPr/>
          </p:nvGrpSpPr>
          <p:grpSpPr>
            <a:xfrm>
              <a:off x="4161645" y="4650857"/>
              <a:ext cx="863188" cy="595111"/>
              <a:chOff x="668338" y="1947863"/>
              <a:chExt cx="492125" cy="315912"/>
            </a:xfrm>
          </p:grpSpPr>
          <p:sp>
            <p:nvSpPr>
              <p:cNvPr id="339" name="Freeform 11"/>
              <p:cNvSpPr>
                <a:spLocks noEditPoints="1"/>
              </p:cNvSpPr>
              <p:nvPr/>
            </p:nvSpPr>
            <p:spPr bwMode="auto">
              <a:xfrm>
                <a:off x="747713" y="2101850"/>
                <a:ext cx="336550" cy="84137"/>
              </a:xfrm>
              <a:custGeom>
                <a:avLst/>
                <a:gdLst>
                  <a:gd name="T0" fmla="*/ 0 w 90"/>
                  <a:gd name="T1" fmla="*/ 13 h 22"/>
                  <a:gd name="T2" fmla="*/ 9 w 90"/>
                  <a:gd name="T3" fmla="*/ 22 h 22"/>
                  <a:gd name="T4" fmla="*/ 81 w 90"/>
                  <a:gd name="T5" fmla="*/ 22 h 22"/>
                  <a:gd name="T6" fmla="*/ 90 w 90"/>
                  <a:gd name="T7" fmla="*/ 13 h 22"/>
                  <a:gd name="T8" fmla="*/ 90 w 90"/>
                  <a:gd name="T9" fmla="*/ 9 h 22"/>
                  <a:gd name="T10" fmla="*/ 81 w 90"/>
                  <a:gd name="T11" fmla="*/ 0 h 22"/>
                  <a:gd name="T12" fmla="*/ 9 w 90"/>
                  <a:gd name="T13" fmla="*/ 0 h 22"/>
                  <a:gd name="T14" fmla="*/ 0 w 90"/>
                  <a:gd name="T15" fmla="*/ 9 h 22"/>
                  <a:gd name="T16" fmla="*/ 0 w 90"/>
                  <a:gd name="T17" fmla="*/ 13 h 22"/>
                  <a:gd name="T18" fmla="*/ 5 w 90"/>
                  <a:gd name="T19" fmla="*/ 9 h 22"/>
                  <a:gd name="T20" fmla="*/ 9 w 90"/>
                  <a:gd name="T21" fmla="*/ 6 h 22"/>
                  <a:gd name="T22" fmla="*/ 81 w 90"/>
                  <a:gd name="T23" fmla="*/ 6 h 22"/>
                  <a:gd name="T24" fmla="*/ 85 w 90"/>
                  <a:gd name="T25" fmla="*/ 9 h 22"/>
                  <a:gd name="T26" fmla="*/ 85 w 90"/>
                  <a:gd name="T27" fmla="*/ 13 h 22"/>
                  <a:gd name="T28" fmla="*/ 81 w 90"/>
                  <a:gd name="T29" fmla="*/ 17 h 22"/>
                  <a:gd name="T30" fmla="*/ 9 w 90"/>
                  <a:gd name="T31" fmla="*/ 17 h 22"/>
                  <a:gd name="T32" fmla="*/ 5 w 90"/>
                  <a:gd name="T33" fmla="*/ 13 h 22"/>
                  <a:gd name="T34" fmla="*/ 5 w 90"/>
                  <a:gd name="T35"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22">
                    <a:moveTo>
                      <a:pt x="0" y="13"/>
                    </a:moveTo>
                    <a:cubicBezTo>
                      <a:pt x="0" y="18"/>
                      <a:pt x="4" y="22"/>
                      <a:pt x="9" y="22"/>
                    </a:cubicBezTo>
                    <a:cubicBezTo>
                      <a:pt x="81" y="22"/>
                      <a:pt x="81" y="22"/>
                      <a:pt x="81" y="22"/>
                    </a:cubicBezTo>
                    <a:cubicBezTo>
                      <a:pt x="86" y="22"/>
                      <a:pt x="90" y="18"/>
                      <a:pt x="90" y="13"/>
                    </a:cubicBezTo>
                    <a:cubicBezTo>
                      <a:pt x="90" y="9"/>
                      <a:pt x="90" y="9"/>
                      <a:pt x="90" y="9"/>
                    </a:cubicBezTo>
                    <a:cubicBezTo>
                      <a:pt x="90" y="4"/>
                      <a:pt x="86" y="0"/>
                      <a:pt x="81" y="0"/>
                    </a:cubicBezTo>
                    <a:cubicBezTo>
                      <a:pt x="9" y="0"/>
                      <a:pt x="9" y="0"/>
                      <a:pt x="9" y="0"/>
                    </a:cubicBezTo>
                    <a:cubicBezTo>
                      <a:pt x="4" y="0"/>
                      <a:pt x="0" y="4"/>
                      <a:pt x="0" y="9"/>
                    </a:cubicBezTo>
                    <a:lnTo>
                      <a:pt x="0" y="13"/>
                    </a:lnTo>
                    <a:close/>
                    <a:moveTo>
                      <a:pt x="5" y="9"/>
                    </a:moveTo>
                    <a:cubicBezTo>
                      <a:pt x="5" y="7"/>
                      <a:pt x="7" y="6"/>
                      <a:pt x="9" y="6"/>
                    </a:cubicBezTo>
                    <a:cubicBezTo>
                      <a:pt x="81" y="6"/>
                      <a:pt x="81" y="6"/>
                      <a:pt x="81" y="6"/>
                    </a:cubicBezTo>
                    <a:cubicBezTo>
                      <a:pt x="83" y="6"/>
                      <a:pt x="85" y="7"/>
                      <a:pt x="85" y="9"/>
                    </a:cubicBezTo>
                    <a:cubicBezTo>
                      <a:pt x="85" y="13"/>
                      <a:pt x="85" y="13"/>
                      <a:pt x="85" y="13"/>
                    </a:cubicBezTo>
                    <a:cubicBezTo>
                      <a:pt x="85" y="15"/>
                      <a:pt x="83" y="17"/>
                      <a:pt x="81" y="17"/>
                    </a:cubicBezTo>
                    <a:cubicBezTo>
                      <a:pt x="9" y="17"/>
                      <a:pt x="9" y="17"/>
                      <a:pt x="9" y="17"/>
                    </a:cubicBezTo>
                    <a:cubicBezTo>
                      <a:pt x="7" y="17"/>
                      <a:pt x="5" y="15"/>
                      <a:pt x="5" y="13"/>
                    </a:cubicBezTo>
                    <a:lnTo>
                      <a:pt x="5" y="9"/>
                    </a:ln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0" name="Oval 12"/>
              <p:cNvSpPr>
                <a:spLocks noChangeArrowheads="1"/>
              </p:cNvSpPr>
              <p:nvPr/>
            </p:nvSpPr>
            <p:spPr bwMode="auto">
              <a:xfrm>
                <a:off x="1001713" y="2128838"/>
                <a:ext cx="30162" cy="30162"/>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1" name="Freeform 13"/>
              <p:cNvSpPr>
                <a:spLocks/>
              </p:cNvSpPr>
              <p:nvPr/>
            </p:nvSpPr>
            <p:spPr bwMode="auto">
              <a:xfrm>
                <a:off x="747713" y="2205038"/>
                <a:ext cx="336550" cy="23812"/>
              </a:xfrm>
              <a:custGeom>
                <a:avLst/>
                <a:gdLst>
                  <a:gd name="T0" fmla="*/ 3 w 90"/>
                  <a:gd name="T1" fmla="*/ 6 h 6"/>
                  <a:gd name="T2" fmla="*/ 87 w 90"/>
                  <a:gd name="T3" fmla="*/ 6 h 6"/>
                  <a:gd name="T4" fmla="*/ 90 w 90"/>
                  <a:gd name="T5" fmla="*/ 3 h 6"/>
                  <a:gd name="T6" fmla="*/ 87 w 90"/>
                  <a:gd name="T7" fmla="*/ 0 h 6"/>
                  <a:gd name="T8" fmla="*/ 3 w 90"/>
                  <a:gd name="T9" fmla="*/ 0 h 6"/>
                  <a:gd name="T10" fmla="*/ 0 w 90"/>
                  <a:gd name="T11" fmla="*/ 3 h 6"/>
                  <a:gd name="T12" fmla="*/ 3 w 9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0" h="6">
                    <a:moveTo>
                      <a:pt x="3" y="6"/>
                    </a:moveTo>
                    <a:cubicBezTo>
                      <a:pt x="87" y="6"/>
                      <a:pt x="87" y="6"/>
                      <a:pt x="87" y="6"/>
                    </a:cubicBezTo>
                    <a:cubicBezTo>
                      <a:pt x="89" y="6"/>
                      <a:pt x="90" y="4"/>
                      <a:pt x="90" y="3"/>
                    </a:cubicBezTo>
                    <a:cubicBezTo>
                      <a:pt x="90" y="1"/>
                      <a:pt x="89" y="0"/>
                      <a:pt x="87" y="0"/>
                    </a:cubicBezTo>
                    <a:cubicBezTo>
                      <a:pt x="3" y="0"/>
                      <a:pt x="3" y="0"/>
                      <a:pt x="3" y="0"/>
                    </a:cubicBezTo>
                    <a:cubicBezTo>
                      <a:pt x="1" y="0"/>
                      <a:pt x="0" y="1"/>
                      <a:pt x="0" y="3"/>
                    </a:cubicBezTo>
                    <a:cubicBezTo>
                      <a:pt x="0" y="4"/>
                      <a:pt x="1" y="6"/>
                      <a:pt x="3" y="6"/>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2" name="Freeform 42"/>
              <p:cNvSpPr>
                <a:spLocks noEditPoints="1"/>
              </p:cNvSpPr>
              <p:nvPr/>
            </p:nvSpPr>
            <p:spPr bwMode="auto">
              <a:xfrm>
                <a:off x="668338" y="1947863"/>
                <a:ext cx="492125" cy="315912"/>
              </a:xfrm>
              <a:custGeom>
                <a:avLst/>
                <a:gdLst>
                  <a:gd name="T0" fmla="*/ 101 w 131"/>
                  <a:gd name="T1" fmla="*/ 22 h 82"/>
                  <a:gd name="T2" fmla="*/ 99 w 131"/>
                  <a:gd name="T3" fmla="*/ 22 h 82"/>
                  <a:gd name="T4" fmla="*/ 63 w 131"/>
                  <a:gd name="T5" fmla="*/ 0 h 82"/>
                  <a:gd name="T6" fmla="*/ 23 w 131"/>
                  <a:gd name="T7" fmla="*/ 33 h 82"/>
                  <a:gd name="T8" fmla="*/ 0 w 131"/>
                  <a:gd name="T9" fmla="*/ 58 h 82"/>
                  <a:gd name="T10" fmla="*/ 25 w 131"/>
                  <a:gd name="T11" fmla="*/ 82 h 82"/>
                  <a:gd name="T12" fmla="*/ 101 w 131"/>
                  <a:gd name="T13" fmla="*/ 82 h 82"/>
                  <a:gd name="T14" fmla="*/ 131 w 131"/>
                  <a:gd name="T15" fmla="*/ 52 h 82"/>
                  <a:gd name="T16" fmla="*/ 101 w 131"/>
                  <a:gd name="T17" fmla="*/ 22 h 82"/>
                  <a:gd name="T18" fmla="*/ 101 w 131"/>
                  <a:gd name="T19" fmla="*/ 77 h 82"/>
                  <a:gd name="T20" fmla="*/ 25 w 131"/>
                  <a:gd name="T21" fmla="*/ 77 h 82"/>
                  <a:gd name="T22" fmla="*/ 6 w 131"/>
                  <a:gd name="T23" fmla="*/ 58 h 82"/>
                  <a:gd name="T24" fmla="*/ 25 w 131"/>
                  <a:gd name="T25" fmla="*/ 38 h 82"/>
                  <a:gd name="T26" fmla="*/ 28 w 131"/>
                  <a:gd name="T27" fmla="*/ 39 h 82"/>
                  <a:gd name="T28" fmla="*/ 28 w 131"/>
                  <a:gd name="T29" fmla="*/ 37 h 82"/>
                  <a:gd name="T30" fmla="*/ 29 w 131"/>
                  <a:gd name="T31" fmla="*/ 33 h 82"/>
                  <a:gd name="T32" fmla="*/ 29 w 131"/>
                  <a:gd name="T33" fmla="*/ 33 h 82"/>
                  <a:gd name="T34" fmla="*/ 29 w 131"/>
                  <a:gd name="T35" fmla="*/ 32 h 82"/>
                  <a:gd name="T36" fmla="*/ 29 w 131"/>
                  <a:gd name="T37" fmla="*/ 32 h 82"/>
                  <a:gd name="T38" fmla="*/ 63 w 131"/>
                  <a:gd name="T39" fmla="*/ 6 h 82"/>
                  <a:gd name="T40" fmla="*/ 94 w 131"/>
                  <a:gd name="T41" fmla="*/ 23 h 82"/>
                  <a:gd name="T42" fmla="*/ 83 w 131"/>
                  <a:gd name="T43" fmla="*/ 28 h 82"/>
                  <a:gd name="T44" fmla="*/ 83 w 131"/>
                  <a:gd name="T45" fmla="*/ 32 h 82"/>
                  <a:gd name="T46" fmla="*/ 87 w 131"/>
                  <a:gd name="T47" fmla="*/ 32 h 82"/>
                  <a:gd name="T48" fmla="*/ 98 w 131"/>
                  <a:gd name="T49" fmla="*/ 28 h 82"/>
                  <a:gd name="T50" fmla="*/ 101 w 131"/>
                  <a:gd name="T51" fmla="*/ 28 h 82"/>
                  <a:gd name="T52" fmla="*/ 126 w 131"/>
                  <a:gd name="T53" fmla="*/ 52 h 82"/>
                  <a:gd name="T54" fmla="*/ 101 w 131"/>
                  <a:gd name="T55" fmla="*/ 7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82">
                    <a:moveTo>
                      <a:pt x="101" y="22"/>
                    </a:moveTo>
                    <a:cubicBezTo>
                      <a:pt x="101" y="22"/>
                      <a:pt x="100" y="22"/>
                      <a:pt x="99" y="22"/>
                    </a:cubicBezTo>
                    <a:cubicBezTo>
                      <a:pt x="92" y="9"/>
                      <a:pt x="78" y="0"/>
                      <a:pt x="63" y="0"/>
                    </a:cubicBezTo>
                    <a:cubicBezTo>
                      <a:pt x="44" y="0"/>
                      <a:pt x="27" y="14"/>
                      <a:pt x="23" y="33"/>
                    </a:cubicBezTo>
                    <a:cubicBezTo>
                      <a:pt x="11" y="34"/>
                      <a:pt x="0" y="45"/>
                      <a:pt x="0" y="58"/>
                    </a:cubicBezTo>
                    <a:cubicBezTo>
                      <a:pt x="0" y="71"/>
                      <a:pt x="12" y="82"/>
                      <a:pt x="25" y="82"/>
                    </a:cubicBezTo>
                    <a:cubicBezTo>
                      <a:pt x="101" y="82"/>
                      <a:pt x="101" y="82"/>
                      <a:pt x="101" y="82"/>
                    </a:cubicBezTo>
                    <a:cubicBezTo>
                      <a:pt x="118" y="82"/>
                      <a:pt x="131" y="69"/>
                      <a:pt x="131" y="52"/>
                    </a:cubicBezTo>
                    <a:cubicBezTo>
                      <a:pt x="131" y="36"/>
                      <a:pt x="118" y="22"/>
                      <a:pt x="101" y="22"/>
                    </a:cubicBezTo>
                    <a:close/>
                    <a:moveTo>
                      <a:pt x="101" y="77"/>
                    </a:moveTo>
                    <a:cubicBezTo>
                      <a:pt x="25" y="77"/>
                      <a:pt x="25" y="77"/>
                      <a:pt x="25" y="77"/>
                    </a:cubicBezTo>
                    <a:cubicBezTo>
                      <a:pt x="15" y="77"/>
                      <a:pt x="6" y="68"/>
                      <a:pt x="6" y="58"/>
                    </a:cubicBezTo>
                    <a:cubicBezTo>
                      <a:pt x="6" y="47"/>
                      <a:pt x="15" y="38"/>
                      <a:pt x="25" y="38"/>
                    </a:cubicBezTo>
                    <a:cubicBezTo>
                      <a:pt x="26" y="38"/>
                      <a:pt x="27" y="39"/>
                      <a:pt x="28" y="39"/>
                    </a:cubicBezTo>
                    <a:cubicBezTo>
                      <a:pt x="28" y="38"/>
                      <a:pt x="28" y="38"/>
                      <a:pt x="28" y="37"/>
                    </a:cubicBezTo>
                    <a:cubicBezTo>
                      <a:pt x="28" y="36"/>
                      <a:pt x="28" y="35"/>
                      <a:pt x="29" y="33"/>
                    </a:cubicBezTo>
                    <a:cubicBezTo>
                      <a:pt x="29" y="33"/>
                      <a:pt x="29" y="33"/>
                      <a:pt x="29" y="33"/>
                    </a:cubicBezTo>
                    <a:cubicBezTo>
                      <a:pt x="29" y="33"/>
                      <a:pt x="29" y="33"/>
                      <a:pt x="29" y="32"/>
                    </a:cubicBezTo>
                    <a:cubicBezTo>
                      <a:pt x="29" y="32"/>
                      <a:pt x="29" y="32"/>
                      <a:pt x="29" y="32"/>
                    </a:cubicBezTo>
                    <a:cubicBezTo>
                      <a:pt x="34" y="17"/>
                      <a:pt x="47" y="6"/>
                      <a:pt x="63" y="6"/>
                    </a:cubicBezTo>
                    <a:cubicBezTo>
                      <a:pt x="76" y="6"/>
                      <a:pt x="87" y="13"/>
                      <a:pt x="94" y="23"/>
                    </a:cubicBezTo>
                    <a:cubicBezTo>
                      <a:pt x="90" y="24"/>
                      <a:pt x="86" y="26"/>
                      <a:pt x="83" y="28"/>
                    </a:cubicBezTo>
                    <a:cubicBezTo>
                      <a:pt x="82" y="29"/>
                      <a:pt x="82" y="31"/>
                      <a:pt x="83" y="32"/>
                    </a:cubicBezTo>
                    <a:cubicBezTo>
                      <a:pt x="84" y="33"/>
                      <a:pt x="85" y="33"/>
                      <a:pt x="87" y="32"/>
                    </a:cubicBezTo>
                    <a:cubicBezTo>
                      <a:pt x="90" y="30"/>
                      <a:pt x="94" y="28"/>
                      <a:pt x="98" y="28"/>
                    </a:cubicBezTo>
                    <a:cubicBezTo>
                      <a:pt x="99" y="28"/>
                      <a:pt x="100" y="28"/>
                      <a:pt x="101" y="28"/>
                    </a:cubicBezTo>
                    <a:cubicBezTo>
                      <a:pt x="115" y="28"/>
                      <a:pt x="126" y="39"/>
                      <a:pt x="126" y="52"/>
                    </a:cubicBezTo>
                    <a:cubicBezTo>
                      <a:pt x="126" y="66"/>
                      <a:pt x="115" y="77"/>
                      <a:pt x="101" y="77"/>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8" name="组合 277"/>
            <p:cNvGrpSpPr/>
            <p:nvPr/>
          </p:nvGrpSpPr>
          <p:grpSpPr>
            <a:xfrm>
              <a:off x="2704662" y="4685121"/>
              <a:ext cx="877192" cy="547228"/>
              <a:chOff x="668338" y="1947863"/>
              <a:chExt cx="492125" cy="315912"/>
            </a:xfrm>
          </p:grpSpPr>
          <p:sp>
            <p:nvSpPr>
              <p:cNvPr id="335" name="Freeform 11"/>
              <p:cNvSpPr>
                <a:spLocks noEditPoints="1"/>
              </p:cNvSpPr>
              <p:nvPr/>
            </p:nvSpPr>
            <p:spPr bwMode="auto">
              <a:xfrm>
                <a:off x="747713" y="2101850"/>
                <a:ext cx="336550" cy="84137"/>
              </a:xfrm>
              <a:custGeom>
                <a:avLst/>
                <a:gdLst>
                  <a:gd name="T0" fmla="*/ 0 w 90"/>
                  <a:gd name="T1" fmla="*/ 13 h 22"/>
                  <a:gd name="T2" fmla="*/ 9 w 90"/>
                  <a:gd name="T3" fmla="*/ 22 h 22"/>
                  <a:gd name="T4" fmla="*/ 81 w 90"/>
                  <a:gd name="T5" fmla="*/ 22 h 22"/>
                  <a:gd name="T6" fmla="*/ 90 w 90"/>
                  <a:gd name="T7" fmla="*/ 13 h 22"/>
                  <a:gd name="T8" fmla="*/ 90 w 90"/>
                  <a:gd name="T9" fmla="*/ 9 h 22"/>
                  <a:gd name="T10" fmla="*/ 81 w 90"/>
                  <a:gd name="T11" fmla="*/ 0 h 22"/>
                  <a:gd name="T12" fmla="*/ 9 w 90"/>
                  <a:gd name="T13" fmla="*/ 0 h 22"/>
                  <a:gd name="T14" fmla="*/ 0 w 90"/>
                  <a:gd name="T15" fmla="*/ 9 h 22"/>
                  <a:gd name="T16" fmla="*/ 0 w 90"/>
                  <a:gd name="T17" fmla="*/ 13 h 22"/>
                  <a:gd name="T18" fmla="*/ 5 w 90"/>
                  <a:gd name="T19" fmla="*/ 9 h 22"/>
                  <a:gd name="T20" fmla="*/ 9 w 90"/>
                  <a:gd name="T21" fmla="*/ 6 h 22"/>
                  <a:gd name="T22" fmla="*/ 81 w 90"/>
                  <a:gd name="T23" fmla="*/ 6 h 22"/>
                  <a:gd name="T24" fmla="*/ 85 w 90"/>
                  <a:gd name="T25" fmla="*/ 9 h 22"/>
                  <a:gd name="T26" fmla="*/ 85 w 90"/>
                  <a:gd name="T27" fmla="*/ 13 h 22"/>
                  <a:gd name="T28" fmla="*/ 81 w 90"/>
                  <a:gd name="T29" fmla="*/ 17 h 22"/>
                  <a:gd name="T30" fmla="*/ 9 w 90"/>
                  <a:gd name="T31" fmla="*/ 17 h 22"/>
                  <a:gd name="T32" fmla="*/ 5 w 90"/>
                  <a:gd name="T33" fmla="*/ 13 h 22"/>
                  <a:gd name="T34" fmla="*/ 5 w 90"/>
                  <a:gd name="T35"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22">
                    <a:moveTo>
                      <a:pt x="0" y="13"/>
                    </a:moveTo>
                    <a:cubicBezTo>
                      <a:pt x="0" y="18"/>
                      <a:pt x="4" y="22"/>
                      <a:pt x="9" y="22"/>
                    </a:cubicBezTo>
                    <a:cubicBezTo>
                      <a:pt x="81" y="22"/>
                      <a:pt x="81" y="22"/>
                      <a:pt x="81" y="22"/>
                    </a:cubicBezTo>
                    <a:cubicBezTo>
                      <a:pt x="86" y="22"/>
                      <a:pt x="90" y="18"/>
                      <a:pt x="90" y="13"/>
                    </a:cubicBezTo>
                    <a:cubicBezTo>
                      <a:pt x="90" y="9"/>
                      <a:pt x="90" y="9"/>
                      <a:pt x="90" y="9"/>
                    </a:cubicBezTo>
                    <a:cubicBezTo>
                      <a:pt x="90" y="4"/>
                      <a:pt x="86" y="0"/>
                      <a:pt x="81" y="0"/>
                    </a:cubicBezTo>
                    <a:cubicBezTo>
                      <a:pt x="9" y="0"/>
                      <a:pt x="9" y="0"/>
                      <a:pt x="9" y="0"/>
                    </a:cubicBezTo>
                    <a:cubicBezTo>
                      <a:pt x="4" y="0"/>
                      <a:pt x="0" y="4"/>
                      <a:pt x="0" y="9"/>
                    </a:cubicBezTo>
                    <a:lnTo>
                      <a:pt x="0" y="13"/>
                    </a:lnTo>
                    <a:close/>
                    <a:moveTo>
                      <a:pt x="5" y="9"/>
                    </a:moveTo>
                    <a:cubicBezTo>
                      <a:pt x="5" y="7"/>
                      <a:pt x="7" y="6"/>
                      <a:pt x="9" y="6"/>
                    </a:cubicBezTo>
                    <a:cubicBezTo>
                      <a:pt x="81" y="6"/>
                      <a:pt x="81" y="6"/>
                      <a:pt x="81" y="6"/>
                    </a:cubicBezTo>
                    <a:cubicBezTo>
                      <a:pt x="83" y="6"/>
                      <a:pt x="85" y="7"/>
                      <a:pt x="85" y="9"/>
                    </a:cubicBezTo>
                    <a:cubicBezTo>
                      <a:pt x="85" y="13"/>
                      <a:pt x="85" y="13"/>
                      <a:pt x="85" y="13"/>
                    </a:cubicBezTo>
                    <a:cubicBezTo>
                      <a:pt x="85" y="15"/>
                      <a:pt x="83" y="17"/>
                      <a:pt x="81" y="17"/>
                    </a:cubicBezTo>
                    <a:cubicBezTo>
                      <a:pt x="9" y="17"/>
                      <a:pt x="9" y="17"/>
                      <a:pt x="9" y="17"/>
                    </a:cubicBezTo>
                    <a:cubicBezTo>
                      <a:pt x="7" y="17"/>
                      <a:pt x="5" y="15"/>
                      <a:pt x="5" y="13"/>
                    </a:cubicBezTo>
                    <a:lnTo>
                      <a:pt x="5" y="9"/>
                    </a:ln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6" name="Oval 12"/>
              <p:cNvSpPr>
                <a:spLocks noChangeArrowheads="1"/>
              </p:cNvSpPr>
              <p:nvPr/>
            </p:nvSpPr>
            <p:spPr bwMode="auto">
              <a:xfrm>
                <a:off x="1001713" y="2128838"/>
                <a:ext cx="30162" cy="30162"/>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7" name="Freeform 13"/>
              <p:cNvSpPr>
                <a:spLocks/>
              </p:cNvSpPr>
              <p:nvPr/>
            </p:nvSpPr>
            <p:spPr bwMode="auto">
              <a:xfrm>
                <a:off x="747713" y="2205038"/>
                <a:ext cx="336550" cy="23812"/>
              </a:xfrm>
              <a:custGeom>
                <a:avLst/>
                <a:gdLst>
                  <a:gd name="T0" fmla="*/ 3 w 90"/>
                  <a:gd name="T1" fmla="*/ 6 h 6"/>
                  <a:gd name="T2" fmla="*/ 87 w 90"/>
                  <a:gd name="T3" fmla="*/ 6 h 6"/>
                  <a:gd name="T4" fmla="*/ 90 w 90"/>
                  <a:gd name="T5" fmla="*/ 3 h 6"/>
                  <a:gd name="T6" fmla="*/ 87 w 90"/>
                  <a:gd name="T7" fmla="*/ 0 h 6"/>
                  <a:gd name="T8" fmla="*/ 3 w 90"/>
                  <a:gd name="T9" fmla="*/ 0 h 6"/>
                  <a:gd name="T10" fmla="*/ 0 w 90"/>
                  <a:gd name="T11" fmla="*/ 3 h 6"/>
                  <a:gd name="T12" fmla="*/ 3 w 9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0" h="6">
                    <a:moveTo>
                      <a:pt x="3" y="6"/>
                    </a:moveTo>
                    <a:cubicBezTo>
                      <a:pt x="87" y="6"/>
                      <a:pt x="87" y="6"/>
                      <a:pt x="87" y="6"/>
                    </a:cubicBezTo>
                    <a:cubicBezTo>
                      <a:pt x="89" y="6"/>
                      <a:pt x="90" y="4"/>
                      <a:pt x="90" y="3"/>
                    </a:cubicBezTo>
                    <a:cubicBezTo>
                      <a:pt x="90" y="1"/>
                      <a:pt x="89" y="0"/>
                      <a:pt x="87" y="0"/>
                    </a:cubicBezTo>
                    <a:cubicBezTo>
                      <a:pt x="3" y="0"/>
                      <a:pt x="3" y="0"/>
                      <a:pt x="3" y="0"/>
                    </a:cubicBezTo>
                    <a:cubicBezTo>
                      <a:pt x="1" y="0"/>
                      <a:pt x="0" y="1"/>
                      <a:pt x="0" y="3"/>
                    </a:cubicBezTo>
                    <a:cubicBezTo>
                      <a:pt x="0" y="4"/>
                      <a:pt x="1" y="6"/>
                      <a:pt x="3" y="6"/>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8" name="Freeform 42"/>
              <p:cNvSpPr>
                <a:spLocks noEditPoints="1"/>
              </p:cNvSpPr>
              <p:nvPr/>
            </p:nvSpPr>
            <p:spPr bwMode="auto">
              <a:xfrm>
                <a:off x="668338" y="1947863"/>
                <a:ext cx="492125" cy="315912"/>
              </a:xfrm>
              <a:custGeom>
                <a:avLst/>
                <a:gdLst>
                  <a:gd name="T0" fmla="*/ 101 w 131"/>
                  <a:gd name="T1" fmla="*/ 22 h 82"/>
                  <a:gd name="T2" fmla="*/ 99 w 131"/>
                  <a:gd name="T3" fmla="*/ 22 h 82"/>
                  <a:gd name="T4" fmla="*/ 63 w 131"/>
                  <a:gd name="T5" fmla="*/ 0 h 82"/>
                  <a:gd name="T6" fmla="*/ 23 w 131"/>
                  <a:gd name="T7" fmla="*/ 33 h 82"/>
                  <a:gd name="T8" fmla="*/ 0 w 131"/>
                  <a:gd name="T9" fmla="*/ 58 h 82"/>
                  <a:gd name="T10" fmla="*/ 25 w 131"/>
                  <a:gd name="T11" fmla="*/ 82 h 82"/>
                  <a:gd name="T12" fmla="*/ 101 w 131"/>
                  <a:gd name="T13" fmla="*/ 82 h 82"/>
                  <a:gd name="T14" fmla="*/ 131 w 131"/>
                  <a:gd name="T15" fmla="*/ 52 h 82"/>
                  <a:gd name="T16" fmla="*/ 101 w 131"/>
                  <a:gd name="T17" fmla="*/ 22 h 82"/>
                  <a:gd name="T18" fmla="*/ 101 w 131"/>
                  <a:gd name="T19" fmla="*/ 77 h 82"/>
                  <a:gd name="T20" fmla="*/ 25 w 131"/>
                  <a:gd name="T21" fmla="*/ 77 h 82"/>
                  <a:gd name="T22" fmla="*/ 6 w 131"/>
                  <a:gd name="T23" fmla="*/ 58 h 82"/>
                  <a:gd name="T24" fmla="*/ 25 w 131"/>
                  <a:gd name="T25" fmla="*/ 38 h 82"/>
                  <a:gd name="T26" fmla="*/ 28 w 131"/>
                  <a:gd name="T27" fmla="*/ 39 h 82"/>
                  <a:gd name="T28" fmla="*/ 28 w 131"/>
                  <a:gd name="T29" fmla="*/ 37 h 82"/>
                  <a:gd name="T30" fmla="*/ 29 w 131"/>
                  <a:gd name="T31" fmla="*/ 33 h 82"/>
                  <a:gd name="T32" fmla="*/ 29 w 131"/>
                  <a:gd name="T33" fmla="*/ 33 h 82"/>
                  <a:gd name="T34" fmla="*/ 29 w 131"/>
                  <a:gd name="T35" fmla="*/ 32 h 82"/>
                  <a:gd name="T36" fmla="*/ 29 w 131"/>
                  <a:gd name="T37" fmla="*/ 32 h 82"/>
                  <a:gd name="T38" fmla="*/ 63 w 131"/>
                  <a:gd name="T39" fmla="*/ 6 h 82"/>
                  <a:gd name="T40" fmla="*/ 94 w 131"/>
                  <a:gd name="T41" fmla="*/ 23 h 82"/>
                  <a:gd name="T42" fmla="*/ 83 w 131"/>
                  <a:gd name="T43" fmla="*/ 28 h 82"/>
                  <a:gd name="T44" fmla="*/ 83 w 131"/>
                  <a:gd name="T45" fmla="*/ 32 h 82"/>
                  <a:gd name="T46" fmla="*/ 87 w 131"/>
                  <a:gd name="T47" fmla="*/ 32 h 82"/>
                  <a:gd name="T48" fmla="*/ 98 w 131"/>
                  <a:gd name="T49" fmla="*/ 28 h 82"/>
                  <a:gd name="T50" fmla="*/ 101 w 131"/>
                  <a:gd name="T51" fmla="*/ 28 h 82"/>
                  <a:gd name="T52" fmla="*/ 126 w 131"/>
                  <a:gd name="T53" fmla="*/ 52 h 82"/>
                  <a:gd name="T54" fmla="*/ 101 w 131"/>
                  <a:gd name="T55" fmla="*/ 7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82">
                    <a:moveTo>
                      <a:pt x="101" y="22"/>
                    </a:moveTo>
                    <a:cubicBezTo>
                      <a:pt x="101" y="22"/>
                      <a:pt x="100" y="22"/>
                      <a:pt x="99" y="22"/>
                    </a:cubicBezTo>
                    <a:cubicBezTo>
                      <a:pt x="92" y="9"/>
                      <a:pt x="78" y="0"/>
                      <a:pt x="63" y="0"/>
                    </a:cubicBezTo>
                    <a:cubicBezTo>
                      <a:pt x="44" y="0"/>
                      <a:pt x="27" y="14"/>
                      <a:pt x="23" y="33"/>
                    </a:cubicBezTo>
                    <a:cubicBezTo>
                      <a:pt x="11" y="34"/>
                      <a:pt x="0" y="45"/>
                      <a:pt x="0" y="58"/>
                    </a:cubicBezTo>
                    <a:cubicBezTo>
                      <a:pt x="0" y="71"/>
                      <a:pt x="12" y="82"/>
                      <a:pt x="25" y="82"/>
                    </a:cubicBezTo>
                    <a:cubicBezTo>
                      <a:pt x="101" y="82"/>
                      <a:pt x="101" y="82"/>
                      <a:pt x="101" y="82"/>
                    </a:cubicBezTo>
                    <a:cubicBezTo>
                      <a:pt x="118" y="82"/>
                      <a:pt x="131" y="69"/>
                      <a:pt x="131" y="52"/>
                    </a:cubicBezTo>
                    <a:cubicBezTo>
                      <a:pt x="131" y="36"/>
                      <a:pt x="118" y="22"/>
                      <a:pt x="101" y="22"/>
                    </a:cubicBezTo>
                    <a:close/>
                    <a:moveTo>
                      <a:pt x="101" y="77"/>
                    </a:moveTo>
                    <a:cubicBezTo>
                      <a:pt x="25" y="77"/>
                      <a:pt x="25" y="77"/>
                      <a:pt x="25" y="77"/>
                    </a:cubicBezTo>
                    <a:cubicBezTo>
                      <a:pt x="15" y="77"/>
                      <a:pt x="6" y="68"/>
                      <a:pt x="6" y="58"/>
                    </a:cubicBezTo>
                    <a:cubicBezTo>
                      <a:pt x="6" y="47"/>
                      <a:pt x="15" y="38"/>
                      <a:pt x="25" y="38"/>
                    </a:cubicBezTo>
                    <a:cubicBezTo>
                      <a:pt x="26" y="38"/>
                      <a:pt x="27" y="39"/>
                      <a:pt x="28" y="39"/>
                    </a:cubicBezTo>
                    <a:cubicBezTo>
                      <a:pt x="28" y="38"/>
                      <a:pt x="28" y="38"/>
                      <a:pt x="28" y="37"/>
                    </a:cubicBezTo>
                    <a:cubicBezTo>
                      <a:pt x="28" y="36"/>
                      <a:pt x="28" y="35"/>
                      <a:pt x="29" y="33"/>
                    </a:cubicBezTo>
                    <a:cubicBezTo>
                      <a:pt x="29" y="33"/>
                      <a:pt x="29" y="33"/>
                      <a:pt x="29" y="33"/>
                    </a:cubicBezTo>
                    <a:cubicBezTo>
                      <a:pt x="29" y="33"/>
                      <a:pt x="29" y="33"/>
                      <a:pt x="29" y="32"/>
                    </a:cubicBezTo>
                    <a:cubicBezTo>
                      <a:pt x="29" y="32"/>
                      <a:pt x="29" y="32"/>
                      <a:pt x="29" y="32"/>
                    </a:cubicBezTo>
                    <a:cubicBezTo>
                      <a:pt x="34" y="17"/>
                      <a:pt x="47" y="6"/>
                      <a:pt x="63" y="6"/>
                    </a:cubicBezTo>
                    <a:cubicBezTo>
                      <a:pt x="76" y="6"/>
                      <a:pt x="87" y="13"/>
                      <a:pt x="94" y="23"/>
                    </a:cubicBezTo>
                    <a:cubicBezTo>
                      <a:pt x="90" y="24"/>
                      <a:pt x="86" y="26"/>
                      <a:pt x="83" y="28"/>
                    </a:cubicBezTo>
                    <a:cubicBezTo>
                      <a:pt x="82" y="29"/>
                      <a:pt x="82" y="31"/>
                      <a:pt x="83" y="32"/>
                    </a:cubicBezTo>
                    <a:cubicBezTo>
                      <a:pt x="84" y="33"/>
                      <a:pt x="85" y="33"/>
                      <a:pt x="87" y="32"/>
                    </a:cubicBezTo>
                    <a:cubicBezTo>
                      <a:pt x="90" y="30"/>
                      <a:pt x="94" y="28"/>
                      <a:pt x="98" y="28"/>
                    </a:cubicBezTo>
                    <a:cubicBezTo>
                      <a:pt x="99" y="28"/>
                      <a:pt x="100" y="28"/>
                      <a:pt x="101" y="28"/>
                    </a:cubicBezTo>
                    <a:cubicBezTo>
                      <a:pt x="115" y="28"/>
                      <a:pt x="126" y="39"/>
                      <a:pt x="126" y="52"/>
                    </a:cubicBezTo>
                    <a:cubicBezTo>
                      <a:pt x="126" y="66"/>
                      <a:pt x="115" y="77"/>
                      <a:pt x="101" y="77"/>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9" name="组合 278"/>
            <p:cNvGrpSpPr/>
            <p:nvPr/>
          </p:nvGrpSpPr>
          <p:grpSpPr>
            <a:xfrm>
              <a:off x="747211" y="4823268"/>
              <a:ext cx="710447" cy="646671"/>
              <a:chOff x="4391025" y="1912938"/>
              <a:chExt cx="420687" cy="396874"/>
            </a:xfrm>
          </p:grpSpPr>
          <p:sp>
            <p:nvSpPr>
              <p:cNvPr id="333" name="Freeform 21"/>
              <p:cNvSpPr>
                <a:spLocks noEditPoints="1"/>
              </p:cNvSpPr>
              <p:nvPr/>
            </p:nvSpPr>
            <p:spPr bwMode="auto">
              <a:xfrm>
                <a:off x="4391025" y="1912938"/>
                <a:ext cx="420687" cy="323850"/>
              </a:xfrm>
              <a:custGeom>
                <a:avLst/>
                <a:gdLst>
                  <a:gd name="T0" fmla="*/ 56 w 112"/>
                  <a:gd name="T1" fmla="*/ 4 h 84"/>
                  <a:gd name="T2" fmla="*/ 60 w 112"/>
                  <a:gd name="T3" fmla="*/ 5 h 84"/>
                  <a:gd name="T4" fmla="*/ 106 w 112"/>
                  <a:gd name="T5" fmla="*/ 37 h 84"/>
                  <a:gd name="T6" fmla="*/ 107 w 112"/>
                  <a:gd name="T7" fmla="*/ 39 h 84"/>
                  <a:gd name="T8" fmla="*/ 106 w 112"/>
                  <a:gd name="T9" fmla="*/ 41 h 84"/>
                  <a:gd name="T10" fmla="*/ 62 w 112"/>
                  <a:gd name="T11" fmla="*/ 78 h 84"/>
                  <a:gd name="T12" fmla="*/ 57 w 112"/>
                  <a:gd name="T13" fmla="*/ 80 h 84"/>
                  <a:gd name="T14" fmla="*/ 52 w 112"/>
                  <a:gd name="T15" fmla="*/ 79 h 84"/>
                  <a:gd name="T16" fmla="*/ 7 w 112"/>
                  <a:gd name="T17" fmla="*/ 48 h 84"/>
                  <a:gd name="T18" fmla="*/ 6 w 112"/>
                  <a:gd name="T19" fmla="*/ 45 h 84"/>
                  <a:gd name="T20" fmla="*/ 7 w 112"/>
                  <a:gd name="T21" fmla="*/ 43 h 84"/>
                  <a:gd name="T22" fmla="*/ 51 w 112"/>
                  <a:gd name="T23" fmla="*/ 6 h 84"/>
                  <a:gd name="T24" fmla="*/ 56 w 112"/>
                  <a:gd name="T25" fmla="*/ 4 h 84"/>
                  <a:gd name="T26" fmla="*/ 56 w 112"/>
                  <a:gd name="T27" fmla="*/ 0 h 84"/>
                  <a:gd name="T28" fmla="*/ 48 w 112"/>
                  <a:gd name="T29" fmla="*/ 3 h 84"/>
                  <a:gd name="T30" fmla="*/ 4 w 112"/>
                  <a:gd name="T31" fmla="*/ 40 h 84"/>
                  <a:gd name="T32" fmla="*/ 4 w 112"/>
                  <a:gd name="T33" fmla="*/ 51 h 84"/>
                  <a:gd name="T34" fmla="*/ 50 w 112"/>
                  <a:gd name="T35" fmla="*/ 83 h 84"/>
                  <a:gd name="T36" fmla="*/ 57 w 112"/>
                  <a:gd name="T37" fmla="*/ 84 h 84"/>
                  <a:gd name="T38" fmla="*/ 65 w 112"/>
                  <a:gd name="T39" fmla="*/ 82 h 84"/>
                  <a:gd name="T40" fmla="*/ 108 w 112"/>
                  <a:gd name="T41" fmla="*/ 45 h 84"/>
                  <a:gd name="T42" fmla="*/ 108 w 112"/>
                  <a:gd name="T43" fmla="*/ 33 h 84"/>
                  <a:gd name="T44" fmla="*/ 63 w 112"/>
                  <a:gd name="T45" fmla="*/ 2 h 84"/>
                  <a:gd name="T46" fmla="*/ 56 w 112"/>
                  <a:gd name="T4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2" h="84">
                    <a:moveTo>
                      <a:pt x="56" y="4"/>
                    </a:moveTo>
                    <a:cubicBezTo>
                      <a:pt x="58" y="4"/>
                      <a:pt x="59" y="5"/>
                      <a:pt x="60" y="5"/>
                    </a:cubicBezTo>
                    <a:cubicBezTo>
                      <a:pt x="106" y="37"/>
                      <a:pt x="106" y="37"/>
                      <a:pt x="106" y="37"/>
                    </a:cubicBezTo>
                    <a:cubicBezTo>
                      <a:pt x="106" y="37"/>
                      <a:pt x="107" y="38"/>
                      <a:pt x="107" y="39"/>
                    </a:cubicBezTo>
                    <a:cubicBezTo>
                      <a:pt x="107" y="40"/>
                      <a:pt x="106" y="41"/>
                      <a:pt x="106" y="41"/>
                    </a:cubicBezTo>
                    <a:cubicBezTo>
                      <a:pt x="62" y="78"/>
                      <a:pt x="62" y="78"/>
                      <a:pt x="62" y="78"/>
                    </a:cubicBezTo>
                    <a:cubicBezTo>
                      <a:pt x="61" y="79"/>
                      <a:pt x="59" y="80"/>
                      <a:pt x="57" y="80"/>
                    </a:cubicBezTo>
                    <a:cubicBezTo>
                      <a:pt x="55" y="80"/>
                      <a:pt x="53" y="80"/>
                      <a:pt x="52" y="79"/>
                    </a:cubicBezTo>
                    <a:cubicBezTo>
                      <a:pt x="7" y="48"/>
                      <a:pt x="7" y="48"/>
                      <a:pt x="7" y="48"/>
                    </a:cubicBezTo>
                    <a:cubicBezTo>
                      <a:pt x="6" y="47"/>
                      <a:pt x="6" y="46"/>
                      <a:pt x="6" y="45"/>
                    </a:cubicBezTo>
                    <a:cubicBezTo>
                      <a:pt x="6" y="45"/>
                      <a:pt x="6" y="44"/>
                      <a:pt x="7" y="43"/>
                    </a:cubicBezTo>
                    <a:cubicBezTo>
                      <a:pt x="51" y="6"/>
                      <a:pt x="51" y="6"/>
                      <a:pt x="51" y="6"/>
                    </a:cubicBezTo>
                    <a:cubicBezTo>
                      <a:pt x="52" y="5"/>
                      <a:pt x="54" y="4"/>
                      <a:pt x="56" y="4"/>
                    </a:cubicBezTo>
                    <a:moveTo>
                      <a:pt x="56" y="0"/>
                    </a:moveTo>
                    <a:cubicBezTo>
                      <a:pt x="53" y="0"/>
                      <a:pt x="50" y="1"/>
                      <a:pt x="48" y="3"/>
                    </a:cubicBezTo>
                    <a:cubicBezTo>
                      <a:pt x="4" y="40"/>
                      <a:pt x="4" y="40"/>
                      <a:pt x="4" y="40"/>
                    </a:cubicBezTo>
                    <a:cubicBezTo>
                      <a:pt x="0" y="43"/>
                      <a:pt x="0" y="48"/>
                      <a:pt x="4" y="51"/>
                    </a:cubicBezTo>
                    <a:cubicBezTo>
                      <a:pt x="50" y="83"/>
                      <a:pt x="50" y="83"/>
                      <a:pt x="50" y="83"/>
                    </a:cubicBezTo>
                    <a:cubicBezTo>
                      <a:pt x="52" y="84"/>
                      <a:pt x="54" y="84"/>
                      <a:pt x="57" y="84"/>
                    </a:cubicBezTo>
                    <a:cubicBezTo>
                      <a:pt x="59" y="84"/>
                      <a:pt x="63" y="84"/>
                      <a:pt x="65" y="82"/>
                    </a:cubicBezTo>
                    <a:cubicBezTo>
                      <a:pt x="108" y="45"/>
                      <a:pt x="108" y="45"/>
                      <a:pt x="108" y="45"/>
                    </a:cubicBezTo>
                    <a:cubicBezTo>
                      <a:pt x="112" y="41"/>
                      <a:pt x="112" y="36"/>
                      <a:pt x="108" y="33"/>
                    </a:cubicBezTo>
                    <a:cubicBezTo>
                      <a:pt x="63" y="2"/>
                      <a:pt x="63" y="2"/>
                      <a:pt x="63" y="2"/>
                    </a:cubicBezTo>
                    <a:cubicBezTo>
                      <a:pt x="61" y="0"/>
                      <a:pt x="58" y="0"/>
                      <a:pt x="56" y="0"/>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4" name="Freeform 45"/>
              <p:cNvSpPr>
                <a:spLocks/>
              </p:cNvSpPr>
              <p:nvPr/>
            </p:nvSpPr>
            <p:spPr bwMode="auto">
              <a:xfrm>
                <a:off x="4395788" y="2139950"/>
                <a:ext cx="407987" cy="169862"/>
              </a:xfrm>
              <a:custGeom>
                <a:avLst/>
                <a:gdLst>
                  <a:gd name="T0" fmla="*/ 56 w 109"/>
                  <a:gd name="T1" fmla="*/ 44 h 44"/>
                  <a:gd name="T2" fmla="*/ 48 w 109"/>
                  <a:gd name="T3" fmla="*/ 42 h 44"/>
                  <a:gd name="T4" fmla="*/ 2 w 109"/>
                  <a:gd name="T5" fmla="*/ 10 h 44"/>
                  <a:gd name="T6" fmla="*/ 0 w 109"/>
                  <a:gd name="T7" fmla="*/ 8 h 44"/>
                  <a:gd name="T8" fmla="*/ 4 w 109"/>
                  <a:gd name="T9" fmla="*/ 5 h 44"/>
                  <a:gd name="T10" fmla="*/ 5 w 109"/>
                  <a:gd name="T11" fmla="*/ 6 h 44"/>
                  <a:gd name="T12" fmla="*/ 50 w 109"/>
                  <a:gd name="T13" fmla="*/ 38 h 44"/>
                  <a:gd name="T14" fmla="*/ 62 w 109"/>
                  <a:gd name="T15" fmla="*/ 37 h 44"/>
                  <a:gd name="T16" fmla="*/ 106 w 109"/>
                  <a:gd name="T17" fmla="*/ 0 h 44"/>
                  <a:gd name="T18" fmla="*/ 109 w 109"/>
                  <a:gd name="T19" fmla="*/ 3 h 44"/>
                  <a:gd name="T20" fmla="*/ 65 w 109"/>
                  <a:gd name="T21" fmla="*/ 40 h 44"/>
                  <a:gd name="T22" fmla="*/ 56 w 109"/>
                  <a:gd name="T23"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9" h="44">
                    <a:moveTo>
                      <a:pt x="56" y="44"/>
                    </a:moveTo>
                    <a:cubicBezTo>
                      <a:pt x="53" y="44"/>
                      <a:pt x="50" y="43"/>
                      <a:pt x="48" y="42"/>
                    </a:cubicBezTo>
                    <a:cubicBezTo>
                      <a:pt x="2" y="10"/>
                      <a:pt x="2" y="10"/>
                      <a:pt x="2" y="10"/>
                    </a:cubicBezTo>
                    <a:cubicBezTo>
                      <a:pt x="1" y="10"/>
                      <a:pt x="1" y="9"/>
                      <a:pt x="0" y="8"/>
                    </a:cubicBezTo>
                    <a:cubicBezTo>
                      <a:pt x="4" y="5"/>
                      <a:pt x="4" y="5"/>
                      <a:pt x="4" y="5"/>
                    </a:cubicBezTo>
                    <a:cubicBezTo>
                      <a:pt x="4" y="6"/>
                      <a:pt x="4" y="6"/>
                      <a:pt x="5" y="6"/>
                    </a:cubicBezTo>
                    <a:cubicBezTo>
                      <a:pt x="50" y="38"/>
                      <a:pt x="50" y="38"/>
                      <a:pt x="50" y="38"/>
                    </a:cubicBezTo>
                    <a:cubicBezTo>
                      <a:pt x="53" y="40"/>
                      <a:pt x="59" y="40"/>
                      <a:pt x="62" y="37"/>
                    </a:cubicBezTo>
                    <a:cubicBezTo>
                      <a:pt x="106" y="0"/>
                      <a:pt x="106" y="0"/>
                      <a:pt x="106" y="0"/>
                    </a:cubicBezTo>
                    <a:cubicBezTo>
                      <a:pt x="109" y="3"/>
                      <a:pt x="109" y="3"/>
                      <a:pt x="109" y="3"/>
                    </a:cubicBezTo>
                    <a:cubicBezTo>
                      <a:pt x="65" y="40"/>
                      <a:pt x="65" y="40"/>
                      <a:pt x="65" y="40"/>
                    </a:cubicBezTo>
                    <a:cubicBezTo>
                      <a:pt x="63" y="43"/>
                      <a:pt x="59" y="44"/>
                      <a:pt x="56" y="44"/>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80" name="圆角矩形 279"/>
            <p:cNvSpPr/>
            <p:nvPr/>
          </p:nvSpPr>
          <p:spPr>
            <a:xfrm>
              <a:off x="2424212" y="4448153"/>
              <a:ext cx="4744989" cy="12452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12"/>
              <a:endParaRPr 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81" name="组合 280"/>
            <p:cNvGrpSpPr/>
            <p:nvPr/>
          </p:nvGrpSpPr>
          <p:grpSpPr>
            <a:xfrm>
              <a:off x="4228402" y="5532886"/>
              <a:ext cx="1010163" cy="346161"/>
              <a:chOff x="3160713" y="1951038"/>
              <a:chExt cx="423862" cy="307975"/>
            </a:xfrm>
          </p:grpSpPr>
          <p:sp>
            <p:nvSpPr>
              <p:cNvPr id="331" name="Freeform 20"/>
              <p:cNvSpPr>
                <a:spLocks/>
              </p:cNvSpPr>
              <p:nvPr/>
            </p:nvSpPr>
            <p:spPr bwMode="auto">
              <a:xfrm>
                <a:off x="3190875" y="1951038"/>
                <a:ext cx="355600" cy="307975"/>
              </a:xfrm>
              <a:custGeom>
                <a:avLst/>
                <a:gdLst>
                  <a:gd name="T0" fmla="*/ 74 w 95"/>
                  <a:gd name="T1" fmla="*/ 80 h 80"/>
                  <a:gd name="T2" fmla="*/ 59 w 95"/>
                  <a:gd name="T3" fmla="*/ 41 h 80"/>
                  <a:gd name="T4" fmla="*/ 47 w 95"/>
                  <a:gd name="T5" fmla="*/ 4 h 80"/>
                  <a:gd name="T6" fmla="*/ 36 w 95"/>
                  <a:gd name="T7" fmla="*/ 41 h 80"/>
                  <a:gd name="T8" fmla="*/ 20 w 95"/>
                  <a:gd name="T9" fmla="*/ 80 h 80"/>
                  <a:gd name="T10" fmla="*/ 4 w 95"/>
                  <a:gd name="T11" fmla="*/ 41 h 80"/>
                  <a:gd name="T12" fmla="*/ 0 w 95"/>
                  <a:gd name="T13" fmla="*/ 21 h 80"/>
                  <a:gd name="T14" fmla="*/ 2 w 95"/>
                  <a:gd name="T15" fmla="*/ 18 h 80"/>
                  <a:gd name="T16" fmla="*/ 4 w 95"/>
                  <a:gd name="T17" fmla="*/ 20 h 80"/>
                  <a:gd name="T18" fmla="*/ 8 w 95"/>
                  <a:gd name="T19" fmla="*/ 40 h 80"/>
                  <a:gd name="T20" fmla="*/ 20 w 95"/>
                  <a:gd name="T21" fmla="*/ 76 h 80"/>
                  <a:gd name="T22" fmla="*/ 31 w 95"/>
                  <a:gd name="T23" fmla="*/ 40 h 80"/>
                  <a:gd name="T24" fmla="*/ 47 w 95"/>
                  <a:gd name="T25" fmla="*/ 0 h 80"/>
                  <a:gd name="T26" fmla="*/ 63 w 95"/>
                  <a:gd name="T27" fmla="*/ 40 h 80"/>
                  <a:gd name="T28" fmla="*/ 74 w 95"/>
                  <a:gd name="T29" fmla="*/ 76 h 80"/>
                  <a:gd name="T30" fmla="*/ 86 w 95"/>
                  <a:gd name="T31" fmla="*/ 40 h 80"/>
                  <a:gd name="T32" fmla="*/ 90 w 95"/>
                  <a:gd name="T33" fmla="*/ 20 h 80"/>
                  <a:gd name="T34" fmla="*/ 93 w 95"/>
                  <a:gd name="T35" fmla="*/ 19 h 80"/>
                  <a:gd name="T36" fmla="*/ 94 w 95"/>
                  <a:gd name="T37" fmla="*/ 21 h 80"/>
                  <a:gd name="T38" fmla="*/ 90 w 95"/>
                  <a:gd name="T39" fmla="*/ 41 h 80"/>
                  <a:gd name="T40" fmla="*/ 74 w 95"/>
                  <a:gd name="T4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5" h="80">
                    <a:moveTo>
                      <a:pt x="74" y="80"/>
                    </a:moveTo>
                    <a:cubicBezTo>
                      <a:pt x="66" y="80"/>
                      <a:pt x="61" y="53"/>
                      <a:pt x="59" y="41"/>
                    </a:cubicBezTo>
                    <a:cubicBezTo>
                      <a:pt x="55" y="20"/>
                      <a:pt x="50" y="4"/>
                      <a:pt x="47" y="4"/>
                    </a:cubicBezTo>
                    <a:cubicBezTo>
                      <a:pt x="45" y="4"/>
                      <a:pt x="39" y="20"/>
                      <a:pt x="36" y="41"/>
                    </a:cubicBezTo>
                    <a:cubicBezTo>
                      <a:pt x="34" y="53"/>
                      <a:pt x="28" y="80"/>
                      <a:pt x="20" y="80"/>
                    </a:cubicBezTo>
                    <a:cubicBezTo>
                      <a:pt x="11" y="80"/>
                      <a:pt x="6" y="53"/>
                      <a:pt x="4" y="41"/>
                    </a:cubicBezTo>
                    <a:cubicBezTo>
                      <a:pt x="4" y="40"/>
                      <a:pt x="3" y="30"/>
                      <a:pt x="0" y="21"/>
                    </a:cubicBezTo>
                    <a:cubicBezTo>
                      <a:pt x="0" y="20"/>
                      <a:pt x="0" y="19"/>
                      <a:pt x="2" y="18"/>
                    </a:cubicBezTo>
                    <a:cubicBezTo>
                      <a:pt x="3" y="18"/>
                      <a:pt x="4" y="19"/>
                      <a:pt x="4" y="20"/>
                    </a:cubicBezTo>
                    <a:cubicBezTo>
                      <a:pt x="7" y="30"/>
                      <a:pt x="8" y="40"/>
                      <a:pt x="8" y="40"/>
                    </a:cubicBezTo>
                    <a:cubicBezTo>
                      <a:pt x="12" y="61"/>
                      <a:pt x="17" y="76"/>
                      <a:pt x="20" y="76"/>
                    </a:cubicBezTo>
                    <a:cubicBezTo>
                      <a:pt x="23" y="76"/>
                      <a:pt x="28" y="61"/>
                      <a:pt x="31" y="40"/>
                    </a:cubicBezTo>
                    <a:cubicBezTo>
                      <a:pt x="33" y="28"/>
                      <a:pt x="39" y="0"/>
                      <a:pt x="47" y="0"/>
                    </a:cubicBezTo>
                    <a:cubicBezTo>
                      <a:pt x="56" y="0"/>
                      <a:pt x="61" y="28"/>
                      <a:pt x="63" y="40"/>
                    </a:cubicBezTo>
                    <a:cubicBezTo>
                      <a:pt x="66" y="61"/>
                      <a:pt x="72" y="76"/>
                      <a:pt x="74" y="76"/>
                    </a:cubicBezTo>
                    <a:cubicBezTo>
                      <a:pt x="77" y="76"/>
                      <a:pt x="83" y="61"/>
                      <a:pt x="86" y="40"/>
                    </a:cubicBezTo>
                    <a:cubicBezTo>
                      <a:pt x="86" y="40"/>
                      <a:pt x="88" y="30"/>
                      <a:pt x="90" y="20"/>
                    </a:cubicBezTo>
                    <a:cubicBezTo>
                      <a:pt x="90" y="19"/>
                      <a:pt x="92" y="18"/>
                      <a:pt x="93" y="19"/>
                    </a:cubicBezTo>
                    <a:cubicBezTo>
                      <a:pt x="94" y="19"/>
                      <a:pt x="95" y="20"/>
                      <a:pt x="94" y="21"/>
                    </a:cubicBezTo>
                    <a:cubicBezTo>
                      <a:pt x="92" y="31"/>
                      <a:pt x="90" y="40"/>
                      <a:pt x="90" y="41"/>
                    </a:cubicBezTo>
                    <a:cubicBezTo>
                      <a:pt x="88" y="53"/>
                      <a:pt x="83" y="80"/>
                      <a:pt x="74" y="80"/>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2" name="Freeform 44"/>
              <p:cNvSpPr>
                <a:spLocks/>
              </p:cNvSpPr>
              <p:nvPr/>
            </p:nvSpPr>
            <p:spPr bwMode="auto">
              <a:xfrm>
                <a:off x="3160713" y="1951038"/>
                <a:ext cx="423862" cy="307975"/>
              </a:xfrm>
              <a:custGeom>
                <a:avLst/>
                <a:gdLst>
                  <a:gd name="T0" fmla="*/ 111 w 113"/>
                  <a:gd name="T1" fmla="*/ 80 h 80"/>
                  <a:gd name="T2" fmla="*/ 95 w 113"/>
                  <a:gd name="T3" fmla="*/ 41 h 80"/>
                  <a:gd name="T4" fmla="*/ 83 w 113"/>
                  <a:gd name="T5" fmla="*/ 4 h 80"/>
                  <a:gd name="T6" fmla="*/ 72 w 113"/>
                  <a:gd name="T7" fmla="*/ 41 h 80"/>
                  <a:gd name="T8" fmla="*/ 56 w 113"/>
                  <a:gd name="T9" fmla="*/ 80 h 80"/>
                  <a:gd name="T10" fmla="*/ 40 w 113"/>
                  <a:gd name="T11" fmla="*/ 41 h 80"/>
                  <a:gd name="T12" fmla="*/ 29 w 113"/>
                  <a:gd name="T13" fmla="*/ 4 h 80"/>
                  <a:gd name="T14" fmla="*/ 17 w 113"/>
                  <a:gd name="T15" fmla="*/ 41 h 80"/>
                  <a:gd name="T16" fmla="*/ 2 w 113"/>
                  <a:gd name="T17" fmla="*/ 80 h 80"/>
                  <a:gd name="T18" fmla="*/ 0 w 113"/>
                  <a:gd name="T19" fmla="*/ 78 h 80"/>
                  <a:gd name="T20" fmla="*/ 2 w 113"/>
                  <a:gd name="T21" fmla="*/ 76 h 80"/>
                  <a:gd name="T22" fmla="*/ 13 w 113"/>
                  <a:gd name="T23" fmla="*/ 40 h 80"/>
                  <a:gd name="T24" fmla="*/ 29 w 113"/>
                  <a:gd name="T25" fmla="*/ 0 h 80"/>
                  <a:gd name="T26" fmla="*/ 45 w 113"/>
                  <a:gd name="T27" fmla="*/ 40 h 80"/>
                  <a:gd name="T28" fmla="*/ 56 w 113"/>
                  <a:gd name="T29" fmla="*/ 76 h 80"/>
                  <a:gd name="T30" fmla="*/ 68 w 113"/>
                  <a:gd name="T31" fmla="*/ 40 h 80"/>
                  <a:gd name="T32" fmla="*/ 83 w 113"/>
                  <a:gd name="T33" fmla="*/ 0 h 80"/>
                  <a:gd name="T34" fmla="*/ 99 w 113"/>
                  <a:gd name="T35" fmla="*/ 40 h 80"/>
                  <a:gd name="T36" fmla="*/ 111 w 113"/>
                  <a:gd name="T37" fmla="*/ 76 h 80"/>
                  <a:gd name="T38" fmla="*/ 113 w 113"/>
                  <a:gd name="T39" fmla="*/ 78 h 80"/>
                  <a:gd name="T40" fmla="*/ 111 w 113"/>
                  <a:gd name="T4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80">
                    <a:moveTo>
                      <a:pt x="111" y="80"/>
                    </a:moveTo>
                    <a:cubicBezTo>
                      <a:pt x="102" y="80"/>
                      <a:pt x="97" y="52"/>
                      <a:pt x="95" y="41"/>
                    </a:cubicBezTo>
                    <a:cubicBezTo>
                      <a:pt x="92" y="20"/>
                      <a:pt x="86" y="4"/>
                      <a:pt x="83" y="4"/>
                    </a:cubicBezTo>
                    <a:cubicBezTo>
                      <a:pt x="81" y="4"/>
                      <a:pt x="75" y="20"/>
                      <a:pt x="72" y="41"/>
                    </a:cubicBezTo>
                    <a:cubicBezTo>
                      <a:pt x="70" y="52"/>
                      <a:pt x="65" y="80"/>
                      <a:pt x="56" y="80"/>
                    </a:cubicBezTo>
                    <a:cubicBezTo>
                      <a:pt x="48" y="80"/>
                      <a:pt x="42" y="52"/>
                      <a:pt x="40" y="41"/>
                    </a:cubicBezTo>
                    <a:cubicBezTo>
                      <a:pt x="37" y="20"/>
                      <a:pt x="32" y="4"/>
                      <a:pt x="29" y="4"/>
                    </a:cubicBezTo>
                    <a:cubicBezTo>
                      <a:pt x="26" y="4"/>
                      <a:pt x="21" y="20"/>
                      <a:pt x="17" y="41"/>
                    </a:cubicBezTo>
                    <a:cubicBezTo>
                      <a:pt x="16" y="52"/>
                      <a:pt x="10" y="80"/>
                      <a:pt x="2" y="80"/>
                    </a:cubicBezTo>
                    <a:cubicBezTo>
                      <a:pt x="0" y="80"/>
                      <a:pt x="0" y="79"/>
                      <a:pt x="0" y="78"/>
                    </a:cubicBezTo>
                    <a:cubicBezTo>
                      <a:pt x="0" y="77"/>
                      <a:pt x="0" y="76"/>
                      <a:pt x="2" y="76"/>
                    </a:cubicBezTo>
                    <a:cubicBezTo>
                      <a:pt x="4" y="76"/>
                      <a:pt x="10" y="61"/>
                      <a:pt x="13" y="40"/>
                    </a:cubicBezTo>
                    <a:cubicBezTo>
                      <a:pt x="15" y="28"/>
                      <a:pt x="20" y="0"/>
                      <a:pt x="29" y="0"/>
                    </a:cubicBezTo>
                    <a:cubicBezTo>
                      <a:pt x="37" y="0"/>
                      <a:pt x="43" y="28"/>
                      <a:pt x="45" y="40"/>
                    </a:cubicBezTo>
                    <a:cubicBezTo>
                      <a:pt x="48" y="61"/>
                      <a:pt x="54" y="76"/>
                      <a:pt x="56" y="76"/>
                    </a:cubicBezTo>
                    <a:cubicBezTo>
                      <a:pt x="59" y="76"/>
                      <a:pt x="64" y="61"/>
                      <a:pt x="68" y="40"/>
                    </a:cubicBezTo>
                    <a:cubicBezTo>
                      <a:pt x="70" y="28"/>
                      <a:pt x="75" y="0"/>
                      <a:pt x="83" y="0"/>
                    </a:cubicBezTo>
                    <a:cubicBezTo>
                      <a:pt x="92" y="0"/>
                      <a:pt x="97" y="28"/>
                      <a:pt x="99" y="40"/>
                    </a:cubicBezTo>
                    <a:cubicBezTo>
                      <a:pt x="103" y="61"/>
                      <a:pt x="108" y="76"/>
                      <a:pt x="111" y="76"/>
                    </a:cubicBezTo>
                    <a:cubicBezTo>
                      <a:pt x="112" y="76"/>
                      <a:pt x="113" y="77"/>
                      <a:pt x="113" y="78"/>
                    </a:cubicBezTo>
                    <a:cubicBezTo>
                      <a:pt x="113" y="79"/>
                      <a:pt x="112" y="80"/>
                      <a:pt x="111" y="80"/>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2" name="组合 281"/>
            <p:cNvGrpSpPr/>
            <p:nvPr/>
          </p:nvGrpSpPr>
          <p:grpSpPr>
            <a:xfrm>
              <a:off x="5619279" y="4630873"/>
              <a:ext cx="892343" cy="595111"/>
              <a:chOff x="668338" y="1947863"/>
              <a:chExt cx="492125" cy="315912"/>
            </a:xfrm>
          </p:grpSpPr>
          <p:sp>
            <p:nvSpPr>
              <p:cNvPr id="327" name="Freeform 11"/>
              <p:cNvSpPr>
                <a:spLocks noEditPoints="1"/>
              </p:cNvSpPr>
              <p:nvPr/>
            </p:nvSpPr>
            <p:spPr bwMode="auto">
              <a:xfrm>
                <a:off x="747713" y="2101850"/>
                <a:ext cx="336550" cy="84137"/>
              </a:xfrm>
              <a:custGeom>
                <a:avLst/>
                <a:gdLst>
                  <a:gd name="T0" fmla="*/ 0 w 90"/>
                  <a:gd name="T1" fmla="*/ 13 h 22"/>
                  <a:gd name="T2" fmla="*/ 9 w 90"/>
                  <a:gd name="T3" fmla="*/ 22 h 22"/>
                  <a:gd name="T4" fmla="*/ 81 w 90"/>
                  <a:gd name="T5" fmla="*/ 22 h 22"/>
                  <a:gd name="T6" fmla="*/ 90 w 90"/>
                  <a:gd name="T7" fmla="*/ 13 h 22"/>
                  <a:gd name="T8" fmla="*/ 90 w 90"/>
                  <a:gd name="T9" fmla="*/ 9 h 22"/>
                  <a:gd name="T10" fmla="*/ 81 w 90"/>
                  <a:gd name="T11" fmla="*/ 0 h 22"/>
                  <a:gd name="T12" fmla="*/ 9 w 90"/>
                  <a:gd name="T13" fmla="*/ 0 h 22"/>
                  <a:gd name="T14" fmla="*/ 0 w 90"/>
                  <a:gd name="T15" fmla="*/ 9 h 22"/>
                  <a:gd name="T16" fmla="*/ 0 w 90"/>
                  <a:gd name="T17" fmla="*/ 13 h 22"/>
                  <a:gd name="T18" fmla="*/ 5 w 90"/>
                  <a:gd name="T19" fmla="*/ 9 h 22"/>
                  <a:gd name="T20" fmla="*/ 9 w 90"/>
                  <a:gd name="T21" fmla="*/ 6 h 22"/>
                  <a:gd name="T22" fmla="*/ 81 w 90"/>
                  <a:gd name="T23" fmla="*/ 6 h 22"/>
                  <a:gd name="T24" fmla="*/ 85 w 90"/>
                  <a:gd name="T25" fmla="*/ 9 h 22"/>
                  <a:gd name="T26" fmla="*/ 85 w 90"/>
                  <a:gd name="T27" fmla="*/ 13 h 22"/>
                  <a:gd name="T28" fmla="*/ 81 w 90"/>
                  <a:gd name="T29" fmla="*/ 17 h 22"/>
                  <a:gd name="T30" fmla="*/ 9 w 90"/>
                  <a:gd name="T31" fmla="*/ 17 h 22"/>
                  <a:gd name="T32" fmla="*/ 5 w 90"/>
                  <a:gd name="T33" fmla="*/ 13 h 22"/>
                  <a:gd name="T34" fmla="*/ 5 w 90"/>
                  <a:gd name="T35"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22">
                    <a:moveTo>
                      <a:pt x="0" y="13"/>
                    </a:moveTo>
                    <a:cubicBezTo>
                      <a:pt x="0" y="18"/>
                      <a:pt x="4" y="22"/>
                      <a:pt x="9" y="22"/>
                    </a:cubicBezTo>
                    <a:cubicBezTo>
                      <a:pt x="81" y="22"/>
                      <a:pt x="81" y="22"/>
                      <a:pt x="81" y="22"/>
                    </a:cubicBezTo>
                    <a:cubicBezTo>
                      <a:pt x="86" y="22"/>
                      <a:pt x="90" y="18"/>
                      <a:pt x="90" y="13"/>
                    </a:cubicBezTo>
                    <a:cubicBezTo>
                      <a:pt x="90" y="9"/>
                      <a:pt x="90" y="9"/>
                      <a:pt x="90" y="9"/>
                    </a:cubicBezTo>
                    <a:cubicBezTo>
                      <a:pt x="90" y="4"/>
                      <a:pt x="86" y="0"/>
                      <a:pt x="81" y="0"/>
                    </a:cubicBezTo>
                    <a:cubicBezTo>
                      <a:pt x="9" y="0"/>
                      <a:pt x="9" y="0"/>
                      <a:pt x="9" y="0"/>
                    </a:cubicBezTo>
                    <a:cubicBezTo>
                      <a:pt x="4" y="0"/>
                      <a:pt x="0" y="4"/>
                      <a:pt x="0" y="9"/>
                    </a:cubicBezTo>
                    <a:lnTo>
                      <a:pt x="0" y="13"/>
                    </a:lnTo>
                    <a:close/>
                    <a:moveTo>
                      <a:pt x="5" y="9"/>
                    </a:moveTo>
                    <a:cubicBezTo>
                      <a:pt x="5" y="7"/>
                      <a:pt x="7" y="6"/>
                      <a:pt x="9" y="6"/>
                    </a:cubicBezTo>
                    <a:cubicBezTo>
                      <a:pt x="81" y="6"/>
                      <a:pt x="81" y="6"/>
                      <a:pt x="81" y="6"/>
                    </a:cubicBezTo>
                    <a:cubicBezTo>
                      <a:pt x="83" y="6"/>
                      <a:pt x="85" y="7"/>
                      <a:pt x="85" y="9"/>
                    </a:cubicBezTo>
                    <a:cubicBezTo>
                      <a:pt x="85" y="13"/>
                      <a:pt x="85" y="13"/>
                      <a:pt x="85" y="13"/>
                    </a:cubicBezTo>
                    <a:cubicBezTo>
                      <a:pt x="85" y="15"/>
                      <a:pt x="83" y="17"/>
                      <a:pt x="81" y="17"/>
                    </a:cubicBezTo>
                    <a:cubicBezTo>
                      <a:pt x="9" y="17"/>
                      <a:pt x="9" y="17"/>
                      <a:pt x="9" y="17"/>
                    </a:cubicBezTo>
                    <a:cubicBezTo>
                      <a:pt x="7" y="17"/>
                      <a:pt x="5" y="15"/>
                      <a:pt x="5" y="13"/>
                    </a:cubicBezTo>
                    <a:lnTo>
                      <a:pt x="5" y="9"/>
                    </a:ln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8" name="Oval 12"/>
              <p:cNvSpPr>
                <a:spLocks noChangeArrowheads="1"/>
              </p:cNvSpPr>
              <p:nvPr/>
            </p:nvSpPr>
            <p:spPr bwMode="auto">
              <a:xfrm>
                <a:off x="1001713" y="2128838"/>
                <a:ext cx="30162" cy="30162"/>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9" name="Freeform 13"/>
              <p:cNvSpPr>
                <a:spLocks/>
              </p:cNvSpPr>
              <p:nvPr/>
            </p:nvSpPr>
            <p:spPr bwMode="auto">
              <a:xfrm>
                <a:off x="747713" y="2205038"/>
                <a:ext cx="336550" cy="23812"/>
              </a:xfrm>
              <a:custGeom>
                <a:avLst/>
                <a:gdLst>
                  <a:gd name="T0" fmla="*/ 3 w 90"/>
                  <a:gd name="T1" fmla="*/ 6 h 6"/>
                  <a:gd name="T2" fmla="*/ 87 w 90"/>
                  <a:gd name="T3" fmla="*/ 6 h 6"/>
                  <a:gd name="T4" fmla="*/ 90 w 90"/>
                  <a:gd name="T5" fmla="*/ 3 h 6"/>
                  <a:gd name="T6" fmla="*/ 87 w 90"/>
                  <a:gd name="T7" fmla="*/ 0 h 6"/>
                  <a:gd name="T8" fmla="*/ 3 w 90"/>
                  <a:gd name="T9" fmla="*/ 0 h 6"/>
                  <a:gd name="T10" fmla="*/ 0 w 90"/>
                  <a:gd name="T11" fmla="*/ 3 h 6"/>
                  <a:gd name="T12" fmla="*/ 3 w 9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0" h="6">
                    <a:moveTo>
                      <a:pt x="3" y="6"/>
                    </a:moveTo>
                    <a:cubicBezTo>
                      <a:pt x="87" y="6"/>
                      <a:pt x="87" y="6"/>
                      <a:pt x="87" y="6"/>
                    </a:cubicBezTo>
                    <a:cubicBezTo>
                      <a:pt x="89" y="6"/>
                      <a:pt x="90" y="4"/>
                      <a:pt x="90" y="3"/>
                    </a:cubicBezTo>
                    <a:cubicBezTo>
                      <a:pt x="90" y="1"/>
                      <a:pt x="89" y="0"/>
                      <a:pt x="87" y="0"/>
                    </a:cubicBezTo>
                    <a:cubicBezTo>
                      <a:pt x="3" y="0"/>
                      <a:pt x="3" y="0"/>
                      <a:pt x="3" y="0"/>
                    </a:cubicBezTo>
                    <a:cubicBezTo>
                      <a:pt x="1" y="0"/>
                      <a:pt x="0" y="1"/>
                      <a:pt x="0" y="3"/>
                    </a:cubicBezTo>
                    <a:cubicBezTo>
                      <a:pt x="0" y="4"/>
                      <a:pt x="1" y="6"/>
                      <a:pt x="3" y="6"/>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0" name="Freeform 42"/>
              <p:cNvSpPr>
                <a:spLocks noEditPoints="1"/>
              </p:cNvSpPr>
              <p:nvPr/>
            </p:nvSpPr>
            <p:spPr bwMode="auto">
              <a:xfrm>
                <a:off x="668338" y="1947863"/>
                <a:ext cx="492125" cy="315912"/>
              </a:xfrm>
              <a:custGeom>
                <a:avLst/>
                <a:gdLst>
                  <a:gd name="T0" fmla="*/ 101 w 131"/>
                  <a:gd name="T1" fmla="*/ 22 h 82"/>
                  <a:gd name="T2" fmla="*/ 99 w 131"/>
                  <a:gd name="T3" fmla="*/ 22 h 82"/>
                  <a:gd name="T4" fmla="*/ 63 w 131"/>
                  <a:gd name="T5" fmla="*/ 0 h 82"/>
                  <a:gd name="T6" fmla="*/ 23 w 131"/>
                  <a:gd name="T7" fmla="*/ 33 h 82"/>
                  <a:gd name="T8" fmla="*/ 0 w 131"/>
                  <a:gd name="T9" fmla="*/ 58 h 82"/>
                  <a:gd name="T10" fmla="*/ 25 w 131"/>
                  <a:gd name="T11" fmla="*/ 82 h 82"/>
                  <a:gd name="T12" fmla="*/ 101 w 131"/>
                  <a:gd name="T13" fmla="*/ 82 h 82"/>
                  <a:gd name="T14" fmla="*/ 131 w 131"/>
                  <a:gd name="T15" fmla="*/ 52 h 82"/>
                  <a:gd name="T16" fmla="*/ 101 w 131"/>
                  <a:gd name="T17" fmla="*/ 22 h 82"/>
                  <a:gd name="T18" fmla="*/ 101 w 131"/>
                  <a:gd name="T19" fmla="*/ 77 h 82"/>
                  <a:gd name="T20" fmla="*/ 25 w 131"/>
                  <a:gd name="T21" fmla="*/ 77 h 82"/>
                  <a:gd name="T22" fmla="*/ 6 w 131"/>
                  <a:gd name="T23" fmla="*/ 58 h 82"/>
                  <a:gd name="T24" fmla="*/ 25 w 131"/>
                  <a:gd name="T25" fmla="*/ 38 h 82"/>
                  <a:gd name="T26" fmla="*/ 28 w 131"/>
                  <a:gd name="T27" fmla="*/ 39 h 82"/>
                  <a:gd name="T28" fmla="*/ 28 w 131"/>
                  <a:gd name="T29" fmla="*/ 37 h 82"/>
                  <a:gd name="T30" fmla="*/ 29 w 131"/>
                  <a:gd name="T31" fmla="*/ 33 h 82"/>
                  <a:gd name="T32" fmla="*/ 29 w 131"/>
                  <a:gd name="T33" fmla="*/ 33 h 82"/>
                  <a:gd name="T34" fmla="*/ 29 w 131"/>
                  <a:gd name="T35" fmla="*/ 32 h 82"/>
                  <a:gd name="T36" fmla="*/ 29 w 131"/>
                  <a:gd name="T37" fmla="*/ 32 h 82"/>
                  <a:gd name="T38" fmla="*/ 63 w 131"/>
                  <a:gd name="T39" fmla="*/ 6 h 82"/>
                  <a:gd name="T40" fmla="*/ 94 w 131"/>
                  <a:gd name="T41" fmla="*/ 23 h 82"/>
                  <a:gd name="T42" fmla="*/ 83 w 131"/>
                  <a:gd name="T43" fmla="*/ 28 h 82"/>
                  <a:gd name="T44" fmla="*/ 83 w 131"/>
                  <a:gd name="T45" fmla="*/ 32 h 82"/>
                  <a:gd name="T46" fmla="*/ 87 w 131"/>
                  <a:gd name="T47" fmla="*/ 32 h 82"/>
                  <a:gd name="T48" fmla="*/ 98 w 131"/>
                  <a:gd name="T49" fmla="*/ 28 h 82"/>
                  <a:gd name="T50" fmla="*/ 101 w 131"/>
                  <a:gd name="T51" fmla="*/ 28 h 82"/>
                  <a:gd name="T52" fmla="*/ 126 w 131"/>
                  <a:gd name="T53" fmla="*/ 52 h 82"/>
                  <a:gd name="T54" fmla="*/ 101 w 131"/>
                  <a:gd name="T55" fmla="*/ 7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82">
                    <a:moveTo>
                      <a:pt x="101" y="22"/>
                    </a:moveTo>
                    <a:cubicBezTo>
                      <a:pt x="101" y="22"/>
                      <a:pt x="100" y="22"/>
                      <a:pt x="99" y="22"/>
                    </a:cubicBezTo>
                    <a:cubicBezTo>
                      <a:pt x="92" y="9"/>
                      <a:pt x="78" y="0"/>
                      <a:pt x="63" y="0"/>
                    </a:cubicBezTo>
                    <a:cubicBezTo>
                      <a:pt x="44" y="0"/>
                      <a:pt x="27" y="14"/>
                      <a:pt x="23" y="33"/>
                    </a:cubicBezTo>
                    <a:cubicBezTo>
                      <a:pt x="11" y="34"/>
                      <a:pt x="0" y="45"/>
                      <a:pt x="0" y="58"/>
                    </a:cubicBezTo>
                    <a:cubicBezTo>
                      <a:pt x="0" y="71"/>
                      <a:pt x="12" y="82"/>
                      <a:pt x="25" y="82"/>
                    </a:cubicBezTo>
                    <a:cubicBezTo>
                      <a:pt x="101" y="82"/>
                      <a:pt x="101" y="82"/>
                      <a:pt x="101" y="82"/>
                    </a:cubicBezTo>
                    <a:cubicBezTo>
                      <a:pt x="118" y="82"/>
                      <a:pt x="131" y="69"/>
                      <a:pt x="131" y="52"/>
                    </a:cubicBezTo>
                    <a:cubicBezTo>
                      <a:pt x="131" y="36"/>
                      <a:pt x="118" y="22"/>
                      <a:pt x="101" y="22"/>
                    </a:cubicBezTo>
                    <a:close/>
                    <a:moveTo>
                      <a:pt x="101" y="77"/>
                    </a:moveTo>
                    <a:cubicBezTo>
                      <a:pt x="25" y="77"/>
                      <a:pt x="25" y="77"/>
                      <a:pt x="25" y="77"/>
                    </a:cubicBezTo>
                    <a:cubicBezTo>
                      <a:pt x="15" y="77"/>
                      <a:pt x="6" y="68"/>
                      <a:pt x="6" y="58"/>
                    </a:cubicBezTo>
                    <a:cubicBezTo>
                      <a:pt x="6" y="47"/>
                      <a:pt x="15" y="38"/>
                      <a:pt x="25" y="38"/>
                    </a:cubicBezTo>
                    <a:cubicBezTo>
                      <a:pt x="26" y="38"/>
                      <a:pt x="27" y="39"/>
                      <a:pt x="28" y="39"/>
                    </a:cubicBezTo>
                    <a:cubicBezTo>
                      <a:pt x="28" y="38"/>
                      <a:pt x="28" y="38"/>
                      <a:pt x="28" y="37"/>
                    </a:cubicBezTo>
                    <a:cubicBezTo>
                      <a:pt x="28" y="36"/>
                      <a:pt x="28" y="35"/>
                      <a:pt x="29" y="33"/>
                    </a:cubicBezTo>
                    <a:cubicBezTo>
                      <a:pt x="29" y="33"/>
                      <a:pt x="29" y="33"/>
                      <a:pt x="29" y="33"/>
                    </a:cubicBezTo>
                    <a:cubicBezTo>
                      <a:pt x="29" y="33"/>
                      <a:pt x="29" y="33"/>
                      <a:pt x="29" y="32"/>
                    </a:cubicBezTo>
                    <a:cubicBezTo>
                      <a:pt x="29" y="32"/>
                      <a:pt x="29" y="32"/>
                      <a:pt x="29" y="32"/>
                    </a:cubicBezTo>
                    <a:cubicBezTo>
                      <a:pt x="34" y="17"/>
                      <a:pt x="47" y="6"/>
                      <a:pt x="63" y="6"/>
                    </a:cubicBezTo>
                    <a:cubicBezTo>
                      <a:pt x="76" y="6"/>
                      <a:pt x="87" y="13"/>
                      <a:pt x="94" y="23"/>
                    </a:cubicBezTo>
                    <a:cubicBezTo>
                      <a:pt x="90" y="24"/>
                      <a:pt x="86" y="26"/>
                      <a:pt x="83" y="28"/>
                    </a:cubicBezTo>
                    <a:cubicBezTo>
                      <a:pt x="82" y="29"/>
                      <a:pt x="82" y="31"/>
                      <a:pt x="83" y="32"/>
                    </a:cubicBezTo>
                    <a:cubicBezTo>
                      <a:pt x="84" y="33"/>
                      <a:pt x="85" y="33"/>
                      <a:pt x="87" y="32"/>
                    </a:cubicBezTo>
                    <a:cubicBezTo>
                      <a:pt x="90" y="30"/>
                      <a:pt x="94" y="28"/>
                      <a:pt x="98" y="28"/>
                    </a:cubicBezTo>
                    <a:cubicBezTo>
                      <a:pt x="99" y="28"/>
                      <a:pt x="100" y="28"/>
                      <a:pt x="101" y="28"/>
                    </a:cubicBezTo>
                    <a:cubicBezTo>
                      <a:pt x="115" y="28"/>
                      <a:pt x="126" y="39"/>
                      <a:pt x="126" y="52"/>
                    </a:cubicBezTo>
                    <a:cubicBezTo>
                      <a:pt x="126" y="66"/>
                      <a:pt x="115" y="77"/>
                      <a:pt x="101" y="77"/>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83" name="圆角矩形 282"/>
            <p:cNvSpPr/>
            <p:nvPr/>
          </p:nvSpPr>
          <p:spPr>
            <a:xfrm>
              <a:off x="1884844" y="3929387"/>
              <a:ext cx="5936623" cy="230563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12"/>
              <a:endParaRPr 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84" name="组合 283"/>
            <p:cNvGrpSpPr/>
            <p:nvPr/>
          </p:nvGrpSpPr>
          <p:grpSpPr>
            <a:xfrm>
              <a:off x="4205687" y="2925738"/>
              <a:ext cx="785758" cy="755404"/>
              <a:chOff x="1338263" y="2989263"/>
              <a:chExt cx="414338" cy="422275"/>
            </a:xfrm>
          </p:grpSpPr>
          <p:sp>
            <p:nvSpPr>
              <p:cNvPr id="315" name="Freeform 11"/>
              <p:cNvSpPr>
                <a:spLocks/>
              </p:cNvSpPr>
              <p:nvPr/>
            </p:nvSpPr>
            <p:spPr bwMode="auto">
              <a:xfrm>
                <a:off x="1357313" y="3016251"/>
                <a:ext cx="195263" cy="268288"/>
              </a:xfrm>
              <a:custGeom>
                <a:avLst/>
                <a:gdLst>
                  <a:gd name="T0" fmla="*/ 7 w 123"/>
                  <a:gd name="T1" fmla="*/ 169 h 169"/>
                  <a:gd name="T2" fmla="*/ 0 w 123"/>
                  <a:gd name="T3" fmla="*/ 164 h 169"/>
                  <a:gd name="T4" fmla="*/ 116 w 123"/>
                  <a:gd name="T5" fmla="*/ 0 h 169"/>
                  <a:gd name="T6" fmla="*/ 123 w 123"/>
                  <a:gd name="T7" fmla="*/ 7 h 169"/>
                  <a:gd name="T8" fmla="*/ 7 w 123"/>
                  <a:gd name="T9" fmla="*/ 169 h 169"/>
                </a:gdLst>
                <a:ahLst/>
                <a:cxnLst>
                  <a:cxn ang="0">
                    <a:pos x="T0" y="T1"/>
                  </a:cxn>
                  <a:cxn ang="0">
                    <a:pos x="T2" y="T3"/>
                  </a:cxn>
                  <a:cxn ang="0">
                    <a:pos x="T4" y="T5"/>
                  </a:cxn>
                  <a:cxn ang="0">
                    <a:pos x="T6" y="T7"/>
                  </a:cxn>
                  <a:cxn ang="0">
                    <a:pos x="T8" y="T9"/>
                  </a:cxn>
                </a:cxnLst>
                <a:rect l="0" t="0" r="r" b="b"/>
                <a:pathLst>
                  <a:path w="123" h="169">
                    <a:moveTo>
                      <a:pt x="7" y="169"/>
                    </a:moveTo>
                    <a:lnTo>
                      <a:pt x="0" y="164"/>
                    </a:lnTo>
                    <a:lnTo>
                      <a:pt x="116" y="0"/>
                    </a:lnTo>
                    <a:lnTo>
                      <a:pt x="123" y="7"/>
                    </a:lnTo>
                    <a:lnTo>
                      <a:pt x="7" y="169"/>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6" name="Freeform 12"/>
              <p:cNvSpPr>
                <a:spLocks/>
              </p:cNvSpPr>
              <p:nvPr/>
            </p:nvSpPr>
            <p:spPr bwMode="auto">
              <a:xfrm>
                <a:off x="1541463" y="3016251"/>
                <a:ext cx="195263" cy="268288"/>
              </a:xfrm>
              <a:custGeom>
                <a:avLst/>
                <a:gdLst>
                  <a:gd name="T0" fmla="*/ 114 w 123"/>
                  <a:gd name="T1" fmla="*/ 169 h 169"/>
                  <a:gd name="T2" fmla="*/ 0 w 123"/>
                  <a:gd name="T3" fmla="*/ 7 h 169"/>
                  <a:gd name="T4" fmla="*/ 7 w 123"/>
                  <a:gd name="T5" fmla="*/ 0 h 169"/>
                  <a:gd name="T6" fmla="*/ 123 w 123"/>
                  <a:gd name="T7" fmla="*/ 164 h 169"/>
                  <a:gd name="T8" fmla="*/ 114 w 123"/>
                  <a:gd name="T9" fmla="*/ 169 h 169"/>
                </a:gdLst>
                <a:ahLst/>
                <a:cxnLst>
                  <a:cxn ang="0">
                    <a:pos x="T0" y="T1"/>
                  </a:cxn>
                  <a:cxn ang="0">
                    <a:pos x="T2" y="T3"/>
                  </a:cxn>
                  <a:cxn ang="0">
                    <a:pos x="T4" y="T5"/>
                  </a:cxn>
                  <a:cxn ang="0">
                    <a:pos x="T6" y="T7"/>
                  </a:cxn>
                  <a:cxn ang="0">
                    <a:pos x="T8" y="T9"/>
                  </a:cxn>
                </a:cxnLst>
                <a:rect l="0" t="0" r="r" b="b"/>
                <a:pathLst>
                  <a:path w="123" h="169">
                    <a:moveTo>
                      <a:pt x="114" y="169"/>
                    </a:moveTo>
                    <a:lnTo>
                      <a:pt x="0" y="7"/>
                    </a:lnTo>
                    <a:lnTo>
                      <a:pt x="7" y="0"/>
                    </a:lnTo>
                    <a:lnTo>
                      <a:pt x="123" y="164"/>
                    </a:lnTo>
                    <a:lnTo>
                      <a:pt x="114" y="169"/>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7" name="Freeform 13"/>
              <p:cNvSpPr>
                <a:spLocks/>
              </p:cNvSpPr>
              <p:nvPr/>
            </p:nvSpPr>
            <p:spPr bwMode="auto">
              <a:xfrm>
                <a:off x="1541463" y="3273426"/>
                <a:ext cx="192088" cy="119063"/>
              </a:xfrm>
              <a:custGeom>
                <a:avLst/>
                <a:gdLst>
                  <a:gd name="T0" fmla="*/ 5 w 121"/>
                  <a:gd name="T1" fmla="*/ 75 h 75"/>
                  <a:gd name="T2" fmla="*/ 0 w 121"/>
                  <a:gd name="T3" fmla="*/ 68 h 75"/>
                  <a:gd name="T4" fmla="*/ 116 w 121"/>
                  <a:gd name="T5" fmla="*/ 0 h 75"/>
                  <a:gd name="T6" fmla="*/ 121 w 121"/>
                  <a:gd name="T7" fmla="*/ 10 h 75"/>
                  <a:gd name="T8" fmla="*/ 5 w 121"/>
                  <a:gd name="T9" fmla="*/ 75 h 75"/>
                </a:gdLst>
                <a:ahLst/>
                <a:cxnLst>
                  <a:cxn ang="0">
                    <a:pos x="T0" y="T1"/>
                  </a:cxn>
                  <a:cxn ang="0">
                    <a:pos x="T2" y="T3"/>
                  </a:cxn>
                  <a:cxn ang="0">
                    <a:pos x="T4" y="T5"/>
                  </a:cxn>
                  <a:cxn ang="0">
                    <a:pos x="T6" y="T7"/>
                  </a:cxn>
                  <a:cxn ang="0">
                    <a:pos x="T8" y="T9"/>
                  </a:cxn>
                </a:cxnLst>
                <a:rect l="0" t="0" r="r" b="b"/>
                <a:pathLst>
                  <a:path w="121" h="75">
                    <a:moveTo>
                      <a:pt x="5" y="75"/>
                    </a:moveTo>
                    <a:lnTo>
                      <a:pt x="0" y="68"/>
                    </a:lnTo>
                    <a:lnTo>
                      <a:pt x="116" y="0"/>
                    </a:lnTo>
                    <a:lnTo>
                      <a:pt x="121" y="10"/>
                    </a:lnTo>
                    <a:lnTo>
                      <a:pt x="5" y="75"/>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8" name="Freeform 14"/>
              <p:cNvSpPr>
                <a:spLocks/>
              </p:cNvSpPr>
              <p:nvPr/>
            </p:nvSpPr>
            <p:spPr bwMode="auto">
              <a:xfrm>
                <a:off x="1357313" y="3273426"/>
                <a:ext cx="192088" cy="119063"/>
              </a:xfrm>
              <a:custGeom>
                <a:avLst/>
                <a:gdLst>
                  <a:gd name="T0" fmla="*/ 116 w 121"/>
                  <a:gd name="T1" fmla="*/ 75 h 75"/>
                  <a:gd name="T2" fmla="*/ 0 w 121"/>
                  <a:gd name="T3" fmla="*/ 10 h 75"/>
                  <a:gd name="T4" fmla="*/ 5 w 121"/>
                  <a:gd name="T5" fmla="*/ 0 h 75"/>
                  <a:gd name="T6" fmla="*/ 121 w 121"/>
                  <a:gd name="T7" fmla="*/ 68 h 75"/>
                  <a:gd name="T8" fmla="*/ 116 w 121"/>
                  <a:gd name="T9" fmla="*/ 75 h 75"/>
                </a:gdLst>
                <a:ahLst/>
                <a:cxnLst>
                  <a:cxn ang="0">
                    <a:pos x="T0" y="T1"/>
                  </a:cxn>
                  <a:cxn ang="0">
                    <a:pos x="T2" y="T3"/>
                  </a:cxn>
                  <a:cxn ang="0">
                    <a:pos x="T4" y="T5"/>
                  </a:cxn>
                  <a:cxn ang="0">
                    <a:pos x="T6" y="T7"/>
                  </a:cxn>
                  <a:cxn ang="0">
                    <a:pos x="T8" y="T9"/>
                  </a:cxn>
                </a:cxnLst>
                <a:rect l="0" t="0" r="r" b="b"/>
                <a:pathLst>
                  <a:path w="121" h="75">
                    <a:moveTo>
                      <a:pt x="116" y="75"/>
                    </a:moveTo>
                    <a:lnTo>
                      <a:pt x="0" y="10"/>
                    </a:lnTo>
                    <a:lnTo>
                      <a:pt x="5" y="0"/>
                    </a:lnTo>
                    <a:lnTo>
                      <a:pt x="121" y="68"/>
                    </a:lnTo>
                    <a:lnTo>
                      <a:pt x="116" y="75"/>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9" name="Rectangle 15"/>
              <p:cNvSpPr>
                <a:spLocks noChangeArrowheads="1"/>
              </p:cNvSpPr>
              <p:nvPr/>
            </p:nvSpPr>
            <p:spPr bwMode="auto">
              <a:xfrm>
                <a:off x="1538288" y="3024188"/>
                <a:ext cx="14288" cy="368300"/>
              </a:xfrm>
              <a:prstGeom prst="rect">
                <a:avLst/>
              </a:prstGeom>
              <a:solidFill>
                <a:srgbClr val="4545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0" name="Freeform 16"/>
              <p:cNvSpPr>
                <a:spLocks/>
              </p:cNvSpPr>
              <p:nvPr/>
            </p:nvSpPr>
            <p:spPr bwMode="auto">
              <a:xfrm>
                <a:off x="1519238" y="3173413"/>
                <a:ext cx="52388" cy="61913"/>
              </a:xfrm>
              <a:custGeom>
                <a:avLst/>
                <a:gdLst>
                  <a:gd name="T0" fmla="*/ 16 w 33"/>
                  <a:gd name="T1" fmla="*/ 39 h 39"/>
                  <a:gd name="T2" fmla="*/ 0 w 33"/>
                  <a:gd name="T3" fmla="*/ 0 h 39"/>
                  <a:gd name="T4" fmla="*/ 33 w 33"/>
                  <a:gd name="T5" fmla="*/ 0 h 39"/>
                  <a:gd name="T6" fmla="*/ 16 w 33"/>
                  <a:gd name="T7" fmla="*/ 39 h 39"/>
                </a:gdLst>
                <a:ahLst/>
                <a:cxnLst>
                  <a:cxn ang="0">
                    <a:pos x="T0" y="T1"/>
                  </a:cxn>
                  <a:cxn ang="0">
                    <a:pos x="T2" y="T3"/>
                  </a:cxn>
                  <a:cxn ang="0">
                    <a:pos x="T4" y="T5"/>
                  </a:cxn>
                  <a:cxn ang="0">
                    <a:pos x="T6" y="T7"/>
                  </a:cxn>
                </a:cxnLst>
                <a:rect l="0" t="0" r="r" b="b"/>
                <a:pathLst>
                  <a:path w="33" h="39">
                    <a:moveTo>
                      <a:pt x="16" y="39"/>
                    </a:moveTo>
                    <a:lnTo>
                      <a:pt x="0" y="0"/>
                    </a:lnTo>
                    <a:lnTo>
                      <a:pt x="33" y="0"/>
                    </a:lnTo>
                    <a:lnTo>
                      <a:pt x="16" y="39"/>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1" name="Freeform 17"/>
              <p:cNvSpPr>
                <a:spLocks/>
              </p:cNvSpPr>
              <p:nvPr/>
            </p:nvSpPr>
            <p:spPr bwMode="auto">
              <a:xfrm>
                <a:off x="1620838" y="3143251"/>
                <a:ext cx="60325" cy="65088"/>
              </a:xfrm>
              <a:custGeom>
                <a:avLst/>
                <a:gdLst>
                  <a:gd name="T0" fmla="*/ 38 w 38"/>
                  <a:gd name="T1" fmla="*/ 41 h 41"/>
                  <a:gd name="T2" fmla="*/ 0 w 38"/>
                  <a:gd name="T3" fmla="*/ 19 h 41"/>
                  <a:gd name="T4" fmla="*/ 26 w 38"/>
                  <a:gd name="T5" fmla="*/ 0 h 41"/>
                  <a:gd name="T6" fmla="*/ 38 w 38"/>
                  <a:gd name="T7" fmla="*/ 41 h 41"/>
                </a:gdLst>
                <a:ahLst/>
                <a:cxnLst>
                  <a:cxn ang="0">
                    <a:pos x="T0" y="T1"/>
                  </a:cxn>
                  <a:cxn ang="0">
                    <a:pos x="T2" y="T3"/>
                  </a:cxn>
                  <a:cxn ang="0">
                    <a:pos x="T4" y="T5"/>
                  </a:cxn>
                  <a:cxn ang="0">
                    <a:pos x="T6" y="T7"/>
                  </a:cxn>
                </a:cxnLst>
                <a:rect l="0" t="0" r="r" b="b"/>
                <a:pathLst>
                  <a:path w="38" h="41">
                    <a:moveTo>
                      <a:pt x="38" y="41"/>
                    </a:moveTo>
                    <a:lnTo>
                      <a:pt x="0" y="19"/>
                    </a:lnTo>
                    <a:lnTo>
                      <a:pt x="26" y="0"/>
                    </a:lnTo>
                    <a:lnTo>
                      <a:pt x="38" y="41"/>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2" name="Freeform 18"/>
              <p:cNvSpPr>
                <a:spLocks/>
              </p:cNvSpPr>
              <p:nvPr/>
            </p:nvSpPr>
            <p:spPr bwMode="auto">
              <a:xfrm>
                <a:off x="1412875" y="3143251"/>
                <a:ext cx="57150" cy="65088"/>
              </a:xfrm>
              <a:custGeom>
                <a:avLst/>
                <a:gdLst>
                  <a:gd name="T0" fmla="*/ 0 w 36"/>
                  <a:gd name="T1" fmla="*/ 41 h 41"/>
                  <a:gd name="T2" fmla="*/ 36 w 36"/>
                  <a:gd name="T3" fmla="*/ 19 h 41"/>
                  <a:gd name="T4" fmla="*/ 10 w 36"/>
                  <a:gd name="T5" fmla="*/ 0 h 41"/>
                  <a:gd name="T6" fmla="*/ 0 w 36"/>
                  <a:gd name="T7" fmla="*/ 41 h 41"/>
                </a:gdLst>
                <a:ahLst/>
                <a:cxnLst>
                  <a:cxn ang="0">
                    <a:pos x="T0" y="T1"/>
                  </a:cxn>
                  <a:cxn ang="0">
                    <a:pos x="T2" y="T3"/>
                  </a:cxn>
                  <a:cxn ang="0">
                    <a:pos x="T4" y="T5"/>
                  </a:cxn>
                  <a:cxn ang="0">
                    <a:pos x="T6" y="T7"/>
                  </a:cxn>
                </a:cxnLst>
                <a:rect l="0" t="0" r="r" b="b"/>
                <a:pathLst>
                  <a:path w="36" h="41">
                    <a:moveTo>
                      <a:pt x="0" y="41"/>
                    </a:moveTo>
                    <a:lnTo>
                      <a:pt x="36" y="19"/>
                    </a:lnTo>
                    <a:lnTo>
                      <a:pt x="10" y="0"/>
                    </a:lnTo>
                    <a:lnTo>
                      <a:pt x="0" y="41"/>
                    </a:ln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3" name="Oval 19"/>
              <p:cNvSpPr>
                <a:spLocks noChangeArrowheads="1"/>
              </p:cNvSpPr>
              <p:nvPr/>
            </p:nvSpPr>
            <p:spPr bwMode="auto">
              <a:xfrm>
                <a:off x="1514475" y="2989263"/>
                <a:ext cx="65088" cy="65088"/>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4" name="Oval 20"/>
              <p:cNvSpPr>
                <a:spLocks noChangeArrowheads="1"/>
              </p:cNvSpPr>
              <p:nvPr/>
            </p:nvSpPr>
            <p:spPr bwMode="auto">
              <a:xfrm>
                <a:off x="1522413" y="3360738"/>
                <a:ext cx="49213" cy="50800"/>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5" name="Oval 21"/>
              <p:cNvSpPr>
                <a:spLocks noChangeArrowheads="1"/>
              </p:cNvSpPr>
              <p:nvPr/>
            </p:nvSpPr>
            <p:spPr bwMode="auto">
              <a:xfrm>
                <a:off x="1338263" y="3257551"/>
                <a:ext cx="49213" cy="46038"/>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6" name="Oval 22"/>
              <p:cNvSpPr>
                <a:spLocks noChangeArrowheads="1"/>
              </p:cNvSpPr>
              <p:nvPr/>
            </p:nvSpPr>
            <p:spPr bwMode="auto">
              <a:xfrm>
                <a:off x="1703388" y="3257551"/>
                <a:ext cx="49213" cy="46038"/>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5" name="组合 284"/>
            <p:cNvGrpSpPr/>
            <p:nvPr/>
          </p:nvGrpSpPr>
          <p:grpSpPr>
            <a:xfrm>
              <a:off x="6646646" y="3648077"/>
              <a:ext cx="897616" cy="518396"/>
              <a:chOff x="95250" y="3046413"/>
              <a:chExt cx="439738" cy="300038"/>
            </a:xfrm>
          </p:grpSpPr>
          <p:sp>
            <p:nvSpPr>
              <p:cNvPr id="309" name="Oval 5"/>
              <p:cNvSpPr>
                <a:spLocks noChangeArrowheads="1"/>
              </p:cNvSpPr>
              <p:nvPr/>
            </p:nvSpPr>
            <p:spPr bwMode="auto">
              <a:xfrm>
                <a:off x="293688" y="3184526"/>
                <a:ext cx="41275" cy="42863"/>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0" name="Oval 6"/>
              <p:cNvSpPr>
                <a:spLocks noChangeArrowheads="1"/>
              </p:cNvSpPr>
              <p:nvPr/>
            </p:nvSpPr>
            <p:spPr bwMode="auto">
              <a:xfrm>
                <a:off x="222250" y="3249613"/>
                <a:ext cx="41275" cy="46038"/>
              </a:xfrm>
              <a:prstGeom prst="ellipse">
                <a:avLst/>
              </a:pr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1" name="Freeform 7"/>
              <p:cNvSpPr>
                <a:spLocks/>
              </p:cNvSpPr>
              <p:nvPr/>
            </p:nvSpPr>
            <p:spPr bwMode="auto">
              <a:xfrm>
                <a:off x="233363" y="3192463"/>
                <a:ext cx="90488" cy="92075"/>
              </a:xfrm>
              <a:custGeom>
                <a:avLst/>
                <a:gdLst>
                  <a:gd name="T0" fmla="*/ 3 w 24"/>
                  <a:gd name="T1" fmla="*/ 24 h 24"/>
                  <a:gd name="T2" fmla="*/ 1 w 24"/>
                  <a:gd name="T3" fmla="*/ 24 h 24"/>
                  <a:gd name="T4" fmla="*/ 1 w 24"/>
                  <a:gd name="T5" fmla="*/ 21 h 24"/>
                  <a:gd name="T6" fmla="*/ 20 w 24"/>
                  <a:gd name="T7" fmla="*/ 1 h 24"/>
                  <a:gd name="T8" fmla="*/ 23 w 24"/>
                  <a:gd name="T9" fmla="*/ 1 h 24"/>
                  <a:gd name="T10" fmla="*/ 24 w 24"/>
                  <a:gd name="T11" fmla="*/ 4 h 24"/>
                  <a:gd name="T12" fmla="*/ 4 w 24"/>
                  <a:gd name="T13" fmla="*/ 24 h 24"/>
                  <a:gd name="T14" fmla="*/ 3 w 24"/>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24">
                    <a:moveTo>
                      <a:pt x="3" y="24"/>
                    </a:moveTo>
                    <a:cubicBezTo>
                      <a:pt x="2" y="24"/>
                      <a:pt x="2" y="24"/>
                      <a:pt x="1" y="24"/>
                    </a:cubicBezTo>
                    <a:cubicBezTo>
                      <a:pt x="0" y="23"/>
                      <a:pt x="0" y="22"/>
                      <a:pt x="1" y="21"/>
                    </a:cubicBezTo>
                    <a:cubicBezTo>
                      <a:pt x="20" y="1"/>
                      <a:pt x="20" y="1"/>
                      <a:pt x="20" y="1"/>
                    </a:cubicBezTo>
                    <a:cubicBezTo>
                      <a:pt x="21" y="0"/>
                      <a:pt x="23" y="0"/>
                      <a:pt x="23" y="1"/>
                    </a:cubicBezTo>
                    <a:cubicBezTo>
                      <a:pt x="24" y="2"/>
                      <a:pt x="24" y="3"/>
                      <a:pt x="24" y="4"/>
                    </a:cubicBezTo>
                    <a:cubicBezTo>
                      <a:pt x="4" y="24"/>
                      <a:pt x="4" y="24"/>
                      <a:pt x="4" y="24"/>
                    </a:cubicBezTo>
                    <a:cubicBezTo>
                      <a:pt x="4" y="24"/>
                      <a:pt x="3" y="24"/>
                      <a:pt x="3" y="24"/>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2" name="Freeform 8"/>
              <p:cNvSpPr>
                <a:spLocks/>
              </p:cNvSpPr>
              <p:nvPr/>
            </p:nvSpPr>
            <p:spPr bwMode="auto">
              <a:xfrm>
                <a:off x="200025" y="3162301"/>
                <a:ext cx="127000" cy="53975"/>
              </a:xfrm>
              <a:custGeom>
                <a:avLst/>
                <a:gdLst>
                  <a:gd name="T0" fmla="*/ 32 w 34"/>
                  <a:gd name="T1" fmla="*/ 14 h 14"/>
                  <a:gd name="T2" fmla="*/ 31 w 34"/>
                  <a:gd name="T3" fmla="*/ 14 h 14"/>
                  <a:gd name="T4" fmla="*/ 2 w 34"/>
                  <a:gd name="T5" fmla="*/ 4 h 14"/>
                  <a:gd name="T6" fmla="*/ 0 w 34"/>
                  <a:gd name="T7" fmla="*/ 1 h 14"/>
                  <a:gd name="T8" fmla="*/ 3 w 34"/>
                  <a:gd name="T9" fmla="*/ 0 h 14"/>
                  <a:gd name="T10" fmla="*/ 33 w 34"/>
                  <a:gd name="T11" fmla="*/ 10 h 14"/>
                  <a:gd name="T12" fmla="*/ 34 w 34"/>
                  <a:gd name="T13" fmla="*/ 13 h 14"/>
                  <a:gd name="T14" fmla="*/ 32 w 34"/>
                  <a:gd name="T15" fmla="*/ 1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14">
                    <a:moveTo>
                      <a:pt x="32" y="14"/>
                    </a:moveTo>
                    <a:cubicBezTo>
                      <a:pt x="32" y="14"/>
                      <a:pt x="31" y="14"/>
                      <a:pt x="31" y="14"/>
                    </a:cubicBezTo>
                    <a:cubicBezTo>
                      <a:pt x="2" y="4"/>
                      <a:pt x="2" y="4"/>
                      <a:pt x="2" y="4"/>
                    </a:cubicBezTo>
                    <a:cubicBezTo>
                      <a:pt x="0" y="4"/>
                      <a:pt x="0" y="3"/>
                      <a:pt x="0" y="1"/>
                    </a:cubicBezTo>
                    <a:cubicBezTo>
                      <a:pt x="1" y="0"/>
                      <a:pt x="2" y="0"/>
                      <a:pt x="3" y="0"/>
                    </a:cubicBezTo>
                    <a:cubicBezTo>
                      <a:pt x="33" y="10"/>
                      <a:pt x="33" y="10"/>
                      <a:pt x="33" y="10"/>
                    </a:cubicBezTo>
                    <a:cubicBezTo>
                      <a:pt x="34" y="11"/>
                      <a:pt x="34" y="12"/>
                      <a:pt x="34" y="13"/>
                    </a:cubicBezTo>
                    <a:cubicBezTo>
                      <a:pt x="34" y="14"/>
                      <a:pt x="33" y="14"/>
                      <a:pt x="32" y="14"/>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3" name="Freeform 9"/>
              <p:cNvSpPr>
                <a:spLocks/>
              </p:cNvSpPr>
              <p:nvPr/>
            </p:nvSpPr>
            <p:spPr bwMode="auto">
              <a:xfrm>
                <a:off x="192088" y="3162301"/>
                <a:ext cx="57150" cy="106363"/>
              </a:xfrm>
              <a:custGeom>
                <a:avLst/>
                <a:gdLst>
                  <a:gd name="T0" fmla="*/ 13 w 15"/>
                  <a:gd name="T1" fmla="*/ 28 h 28"/>
                  <a:gd name="T2" fmla="*/ 11 w 15"/>
                  <a:gd name="T3" fmla="*/ 27 h 28"/>
                  <a:gd name="T4" fmla="*/ 1 w 15"/>
                  <a:gd name="T5" fmla="*/ 4 h 28"/>
                  <a:gd name="T6" fmla="*/ 2 w 15"/>
                  <a:gd name="T7" fmla="*/ 1 h 28"/>
                  <a:gd name="T8" fmla="*/ 5 w 15"/>
                  <a:gd name="T9" fmla="*/ 2 h 28"/>
                  <a:gd name="T10" fmla="*/ 15 w 15"/>
                  <a:gd name="T11" fmla="*/ 25 h 28"/>
                  <a:gd name="T12" fmla="*/ 13 w 15"/>
                  <a:gd name="T13" fmla="*/ 28 h 28"/>
                  <a:gd name="T14" fmla="*/ 13 w 15"/>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28">
                    <a:moveTo>
                      <a:pt x="13" y="28"/>
                    </a:moveTo>
                    <a:cubicBezTo>
                      <a:pt x="12" y="28"/>
                      <a:pt x="11" y="28"/>
                      <a:pt x="11" y="27"/>
                    </a:cubicBezTo>
                    <a:cubicBezTo>
                      <a:pt x="1" y="4"/>
                      <a:pt x="1" y="4"/>
                      <a:pt x="1" y="4"/>
                    </a:cubicBezTo>
                    <a:cubicBezTo>
                      <a:pt x="0" y="3"/>
                      <a:pt x="1" y="1"/>
                      <a:pt x="2" y="1"/>
                    </a:cubicBezTo>
                    <a:cubicBezTo>
                      <a:pt x="3" y="0"/>
                      <a:pt x="4" y="1"/>
                      <a:pt x="5" y="2"/>
                    </a:cubicBezTo>
                    <a:cubicBezTo>
                      <a:pt x="15" y="25"/>
                      <a:pt x="15" y="25"/>
                      <a:pt x="15" y="25"/>
                    </a:cubicBezTo>
                    <a:cubicBezTo>
                      <a:pt x="15" y="26"/>
                      <a:pt x="14" y="28"/>
                      <a:pt x="13" y="28"/>
                    </a:cubicBezTo>
                    <a:cubicBezTo>
                      <a:pt x="13" y="28"/>
                      <a:pt x="13" y="28"/>
                      <a:pt x="13" y="28"/>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4" name="Freeform 10"/>
              <p:cNvSpPr>
                <a:spLocks noEditPoints="1"/>
              </p:cNvSpPr>
              <p:nvPr/>
            </p:nvSpPr>
            <p:spPr bwMode="auto">
              <a:xfrm>
                <a:off x="95250" y="3046413"/>
                <a:ext cx="439738" cy="300038"/>
              </a:xfrm>
              <a:custGeom>
                <a:avLst/>
                <a:gdLst>
                  <a:gd name="T0" fmla="*/ 57 w 117"/>
                  <a:gd name="T1" fmla="*/ 5 h 78"/>
                  <a:gd name="T2" fmla="*/ 82 w 117"/>
                  <a:gd name="T3" fmla="*/ 25 h 78"/>
                  <a:gd name="T4" fmla="*/ 87 w 117"/>
                  <a:gd name="T5" fmla="*/ 29 h 78"/>
                  <a:gd name="T6" fmla="*/ 87 w 117"/>
                  <a:gd name="T7" fmla="*/ 29 h 78"/>
                  <a:gd name="T8" fmla="*/ 90 w 117"/>
                  <a:gd name="T9" fmla="*/ 29 h 78"/>
                  <a:gd name="T10" fmla="*/ 112 w 117"/>
                  <a:gd name="T11" fmla="*/ 51 h 78"/>
                  <a:gd name="T12" fmla="*/ 90 w 117"/>
                  <a:gd name="T13" fmla="*/ 73 h 78"/>
                  <a:gd name="T14" fmla="*/ 90 w 117"/>
                  <a:gd name="T15" fmla="*/ 73 h 78"/>
                  <a:gd name="T16" fmla="*/ 25 w 117"/>
                  <a:gd name="T17" fmla="*/ 73 h 78"/>
                  <a:gd name="T18" fmla="*/ 25 w 117"/>
                  <a:gd name="T19" fmla="*/ 73 h 78"/>
                  <a:gd name="T20" fmla="*/ 24 w 117"/>
                  <a:gd name="T21" fmla="*/ 73 h 78"/>
                  <a:gd name="T22" fmla="*/ 24 w 117"/>
                  <a:gd name="T23" fmla="*/ 73 h 78"/>
                  <a:gd name="T24" fmla="*/ 5 w 117"/>
                  <a:gd name="T25" fmla="*/ 54 h 78"/>
                  <a:gd name="T26" fmla="*/ 24 w 117"/>
                  <a:gd name="T27" fmla="*/ 35 h 78"/>
                  <a:gd name="T28" fmla="*/ 26 w 117"/>
                  <a:gd name="T29" fmla="*/ 35 h 78"/>
                  <a:gd name="T30" fmla="*/ 27 w 117"/>
                  <a:gd name="T31" fmla="*/ 35 h 78"/>
                  <a:gd name="T32" fmla="*/ 30 w 117"/>
                  <a:gd name="T33" fmla="*/ 34 h 78"/>
                  <a:gd name="T34" fmla="*/ 32 w 117"/>
                  <a:gd name="T35" fmla="*/ 30 h 78"/>
                  <a:gd name="T36" fmla="*/ 57 w 117"/>
                  <a:gd name="T37" fmla="*/ 5 h 78"/>
                  <a:gd name="T38" fmla="*/ 57 w 117"/>
                  <a:gd name="T39" fmla="*/ 0 h 78"/>
                  <a:gd name="T40" fmla="*/ 27 w 117"/>
                  <a:gd name="T41" fmla="*/ 30 h 78"/>
                  <a:gd name="T42" fmla="*/ 24 w 117"/>
                  <a:gd name="T43" fmla="*/ 30 h 78"/>
                  <a:gd name="T44" fmla="*/ 0 w 117"/>
                  <a:gd name="T45" fmla="*/ 54 h 78"/>
                  <a:gd name="T46" fmla="*/ 24 w 117"/>
                  <a:gd name="T47" fmla="*/ 78 h 78"/>
                  <a:gd name="T48" fmla="*/ 25 w 117"/>
                  <a:gd name="T49" fmla="*/ 78 h 78"/>
                  <a:gd name="T50" fmla="*/ 90 w 117"/>
                  <a:gd name="T51" fmla="*/ 78 h 78"/>
                  <a:gd name="T52" fmla="*/ 90 w 117"/>
                  <a:gd name="T53" fmla="*/ 78 h 78"/>
                  <a:gd name="T54" fmla="*/ 90 w 117"/>
                  <a:gd name="T55" fmla="*/ 78 h 78"/>
                  <a:gd name="T56" fmla="*/ 117 w 117"/>
                  <a:gd name="T57" fmla="*/ 51 h 78"/>
                  <a:gd name="T58" fmla="*/ 90 w 117"/>
                  <a:gd name="T59" fmla="*/ 24 h 78"/>
                  <a:gd name="T60" fmla="*/ 87 w 117"/>
                  <a:gd name="T61" fmla="*/ 24 h 78"/>
                  <a:gd name="T62" fmla="*/ 57 w 117"/>
                  <a:gd name="T6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7" h="78">
                    <a:moveTo>
                      <a:pt x="57" y="5"/>
                    </a:moveTo>
                    <a:cubicBezTo>
                      <a:pt x="69" y="5"/>
                      <a:pt x="79" y="13"/>
                      <a:pt x="82" y="25"/>
                    </a:cubicBezTo>
                    <a:cubicBezTo>
                      <a:pt x="82" y="27"/>
                      <a:pt x="84" y="29"/>
                      <a:pt x="87" y="29"/>
                    </a:cubicBezTo>
                    <a:cubicBezTo>
                      <a:pt x="87" y="29"/>
                      <a:pt x="87" y="29"/>
                      <a:pt x="87" y="29"/>
                    </a:cubicBezTo>
                    <a:cubicBezTo>
                      <a:pt x="88" y="29"/>
                      <a:pt x="89" y="29"/>
                      <a:pt x="90" y="29"/>
                    </a:cubicBezTo>
                    <a:cubicBezTo>
                      <a:pt x="102" y="29"/>
                      <a:pt x="112" y="39"/>
                      <a:pt x="112" y="51"/>
                    </a:cubicBezTo>
                    <a:cubicBezTo>
                      <a:pt x="112" y="63"/>
                      <a:pt x="102" y="73"/>
                      <a:pt x="90" y="73"/>
                    </a:cubicBezTo>
                    <a:cubicBezTo>
                      <a:pt x="90" y="73"/>
                      <a:pt x="90" y="73"/>
                      <a:pt x="90" y="73"/>
                    </a:cubicBezTo>
                    <a:cubicBezTo>
                      <a:pt x="25" y="73"/>
                      <a:pt x="25" y="73"/>
                      <a:pt x="25" y="73"/>
                    </a:cubicBezTo>
                    <a:cubicBezTo>
                      <a:pt x="25" y="73"/>
                      <a:pt x="25" y="73"/>
                      <a:pt x="25" y="73"/>
                    </a:cubicBezTo>
                    <a:cubicBezTo>
                      <a:pt x="25" y="73"/>
                      <a:pt x="25" y="73"/>
                      <a:pt x="24" y="73"/>
                    </a:cubicBezTo>
                    <a:cubicBezTo>
                      <a:pt x="24" y="73"/>
                      <a:pt x="24" y="73"/>
                      <a:pt x="24" y="73"/>
                    </a:cubicBezTo>
                    <a:cubicBezTo>
                      <a:pt x="14" y="73"/>
                      <a:pt x="5" y="65"/>
                      <a:pt x="5" y="54"/>
                    </a:cubicBezTo>
                    <a:cubicBezTo>
                      <a:pt x="5" y="44"/>
                      <a:pt x="14" y="35"/>
                      <a:pt x="24" y="35"/>
                    </a:cubicBezTo>
                    <a:cubicBezTo>
                      <a:pt x="25" y="35"/>
                      <a:pt x="26" y="35"/>
                      <a:pt x="26" y="35"/>
                    </a:cubicBezTo>
                    <a:cubicBezTo>
                      <a:pt x="27" y="35"/>
                      <a:pt x="27" y="35"/>
                      <a:pt x="27" y="35"/>
                    </a:cubicBezTo>
                    <a:cubicBezTo>
                      <a:pt x="28" y="35"/>
                      <a:pt x="29" y="35"/>
                      <a:pt x="30" y="34"/>
                    </a:cubicBezTo>
                    <a:cubicBezTo>
                      <a:pt x="31" y="33"/>
                      <a:pt x="32" y="32"/>
                      <a:pt x="32" y="30"/>
                    </a:cubicBezTo>
                    <a:cubicBezTo>
                      <a:pt x="32" y="16"/>
                      <a:pt x="43" y="5"/>
                      <a:pt x="57" y="5"/>
                    </a:cubicBezTo>
                    <a:moveTo>
                      <a:pt x="57" y="0"/>
                    </a:moveTo>
                    <a:cubicBezTo>
                      <a:pt x="40" y="0"/>
                      <a:pt x="27" y="14"/>
                      <a:pt x="27" y="30"/>
                    </a:cubicBezTo>
                    <a:cubicBezTo>
                      <a:pt x="26" y="30"/>
                      <a:pt x="25" y="30"/>
                      <a:pt x="24" y="30"/>
                    </a:cubicBezTo>
                    <a:cubicBezTo>
                      <a:pt x="11" y="30"/>
                      <a:pt x="0" y="41"/>
                      <a:pt x="0" y="54"/>
                    </a:cubicBezTo>
                    <a:cubicBezTo>
                      <a:pt x="0" y="67"/>
                      <a:pt x="11" y="78"/>
                      <a:pt x="24" y="78"/>
                    </a:cubicBezTo>
                    <a:cubicBezTo>
                      <a:pt x="25" y="78"/>
                      <a:pt x="25" y="78"/>
                      <a:pt x="25" y="78"/>
                    </a:cubicBezTo>
                    <a:cubicBezTo>
                      <a:pt x="90" y="78"/>
                      <a:pt x="90" y="78"/>
                      <a:pt x="90" y="78"/>
                    </a:cubicBezTo>
                    <a:cubicBezTo>
                      <a:pt x="90" y="78"/>
                      <a:pt x="90" y="78"/>
                      <a:pt x="90" y="78"/>
                    </a:cubicBezTo>
                    <a:cubicBezTo>
                      <a:pt x="90" y="78"/>
                      <a:pt x="90" y="78"/>
                      <a:pt x="90" y="78"/>
                    </a:cubicBezTo>
                    <a:cubicBezTo>
                      <a:pt x="105" y="78"/>
                      <a:pt x="117" y="66"/>
                      <a:pt x="117" y="51"/>
                    </a:cubicBezTo>
                    <a:cubicBezTo>
                      <a:pt x="117" y="36"/>
                      <a:pt x="105" y="24"/>
                      <a:pt x="90" y="24"/>
                    </a:cubicBezTo>
                    <a:cubicBezTo>
                      <a:pt x="89" y="24"/>
                      <a:pt x="88" y="24"/>
                      <a:pt x="87" y="24"/>
                    </a:cubicBezTo>
                    <a:cubicBezTo>
                      <a:pt x="84" y="10"/>
                      <a:pt x="72" y="0"/>
                      <a:pt x="57" y="0"/>
                    </a:cubicBezTo>
                    <a:close/>
                  </a:path>
                </a:pathLst>
              </a:custGeom>
              <a:solidFill>
                <a:srgbClr val="4545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6" name="组合 285"/>
            <p:cNvGrpSpPr/>
            <p:nvPr/>
          </p:nvGrpSpPr>
          <p:grpSpPr>
            <a:xfrm>
              <a:off x="4296526" y="2078848"/>
              <a:ext cx="589025" cy="496368"/>
              <a:chOff x="6659563" y="6438906"/>
              <a:chExt cx="423862" cy="420688"/>
            </a:xfrm>
          </p:grpSpPr>
          <p:sp>
            <p:nvSpPr>
              <p:cNvPr id="305" name="Freeform 4"/>
              <p:cNvSpPr>
                <a:spLocks noEditPoints="1"/>
              </p:cNvSpPr>
              <p:nvPr/>
            </p:nvSpPr>
            <p:spPr bwMode="auto">
              <a:xfrm>
                <a:off x="6659563" y="6438906"/>
                <a:ext cx="423862" cy="420688"/>
              </a:xfrm>
              <a:custGeom>
                <a:avLst/>
                <a:gdLst>
                  <a:gd name="T0" fmla="*/ 55 w 110"/>
                  <a:gd name="T1" fmla="*/ 0 h 109"/>
                  <a:gd name="T2" fmla="*/ 0 w 110"/>
                  <a:gd name="T3" fmla="*/ 54 h 109"/>
                  <a:gd name="T4" fmla="*/ 55 w 110"/>
                  <a:gd name="T5" fmla="*/ 109 h 109"/>
                  <a:gd name="T6" fmla="*/ 110 w 110"/>
                  <a:gd name="T7" fmla="*/ 54 h 109"/>
                  <a:gd name="T8" fmla="*/ 55 w 110"/>
                  <a:gd name="T9" fmla="*/ 0 h 109"/>
                  <a:gd name="T10" fmla="*/ 55 w 110"/>
                  <a:gd name="T11" fmla="*/ 104 h 109"/>
                  <a:gd name="T12" fmla="*/ 6 w 110"/>
                  <a:gd name="T13" fmla="*/ 54 h 109"/>
                  <a:gd name="T14" fmla="*/ 55 w 110"/>
                  <a:gd name="T15" fmla="*/ 5 h 109"/>
                  <a:gd name="T16" fmla="*/ 104 w 110"/>
                  <a:gd name="T17" fmla="*/ 54 h 109"/>
                  <a:gd name="T18" fmla="*/ 55 w 110"/>
                  <a:gd name="T19" fmla="*/ 104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09">
                    <a:moveTo>
                      <a:pt x="55" y="0"/>
                    </a:moveTo>
                    <a:cubicBezTo>
                      <a:pt x="25" y="0"/>
                      <a:pt x="0" y="24"/>
                      <a:pt x="0" y="54"/>
                    </a:cubicBezTo>
                    <a:cubicBezTo>
                      <a:pt x="0" y="84"/>
                      <a:pt x="25" y="109"/>
                      <a:pt x="55" y="109"/>
                    </a:cubicBezTo>
                    <a:cubicBezTo>
                      <a:pt x="85" y="109"/>
                      <a:pt x="110" y="84"/>
                      <a:pt x="110" y="54"/>
                    </a:cubicBezTo>
                    <a:cubicBezTo>
                      <a:pt x="110" y="24"/>
                      <a:pt x="85" y="0"/>
                      <a:pt x="55" y="0"/>
                    </a:cubicBezTo>
                    <a:close/>
                    <a:moveTo>
                      <a:pt x="55" y="104"/>
                    </a:moveTo>
                    <a:cubicBezTo>
                      <a:pt x="28" y="104"/>
                      <a:pt x="6" y="82"/>
                      <a:pt x="6" y="54"/>
                    </a:cubicBezTo>
                    <a:cubicBezTo>
                      <a:pt x="6" y="27"/>
                      <a:pt x="28" y="5"/>
                      <a:pt x="55" y="5"/>
                    </a:cubicBezTo>
                    <a:cubicBezTo>
                      <a:pt x="82" y="5"/>
                      <a:pt x="104" y="27"/>
                      <a:pt x="104" y="54"/>
                    </a:cubicBezTo>
                    <a:cubicBezTo>
                      <a:pt x="104" y="82"/>
                      <a:pt x="82" y="104"/>
                      <a:pt x="55" y="104"/>
                    </a:cubicBez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6" name="Freeform 5"/>
              <p:cNvSpPr>
                <a:spLocks/>
              </p:cNvSpPr>
              <p:nvPr/>
            </p:nvSpPr>
            <p:spPr bwMode="auto">
              <a:xfrm>
                <a:off x="6751638" y="6751638"/>
                <a:ext cx="238125" cy="65088"/>
              </a:xfrm>
              <a:custGeom>
                <a:avLst/>
                <a:gdLst>
                  <a:gd name="T0" fmla="*/ 31 w 62"/>
                  <a:gd name="T1" fmla="*/ 17 h 17"/>
                  <a:gd name="T2" fmla="*/ 1 w 62"/>
                  <a:gd name="T3" fmla="*/ 5 h 17"/>
                  <a:gd name="T4" fmla="*/ 1 w 62"/>
                  <a:gd name="T5" fmla="*/ 1 h 17"/>
                  <a:gd name="T6" fmla="*/ 5 w 62"/>
                  <a:gd name="T7" fmla="*/ 1 h 17"/>
                  <a:gd name="T8" fmla="*/ 31 w 62"/>
                  <a:gd name="T9" fmla="*/ 12 h 17"/>
                  <a:gd name="T10" fmla="*/ 57 w 62"/>
                  <a:gd name="T11" fmla="*/ 1 h 17"/>
                  <a:gd name="T12" fmla="*/ 61 w 62"/>
                  <a:gd name="T13" fmla="*/ 1 h 17"/>
                  <a:gd name="T14" fmla="*/ 61 w 62"/>
                  <a:gd name="T15" fmla="*/ 5 h 17"/>
                  <a:gd name="T16" fmla="*/ 31 w 62"/>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17">
                    <a:moveTo>
                      <a:pt x="31" y="17"/>
                    </a:moveTo>
                    <a:cubicBezTo>
                      <a:pt x="20" y="17"/>
                      <a:pt x="9" y="13"/>
                      <a:pt x="1" y="5"/>
                    </a:cubicBezTo>
                    <a:cubicBezTo>
                      <a:pt x="0" y="4"/>
                      <a:pt x="0" y="2"/>
                      <a:pt x="1" y="1"/>
                    </a:cubicBezTo>
                    <a:cubicBezTo>
                      <a:pt x="2" y="0"/>
                      <a:pt x="3" y="0"/>
                      <a:pt x="5" y="1"/>
                    </a:cubicBezTo>
                    <a:cubicBezTo>
                      <a:pt x="12" y="8"/>
                      <a:pt x="21" y="12"/>
                      <a:pt x="31" y="12"/>
                    </a:cubicBezTo>
                    <a:cubicBezTo>
                      <a:pt x="41" y="12"/>
                      <a:pt x="50" y="8"/>
                      <a:pt x="57" y="1"/>
                    </a:cubicBezTo>
                    <a:cubicBezTo>
                      <a:pt x="59" y="0"/>
                      <a:pt x="60" y="0"/>
                      <a:pt x="61" y="1"/>
                    </a:cubicBezTo>
                    <a:cubicBezTo>
                      <a:pt x="62" y="2"/>
                      <a:pt x="62" y="4"/>
                      <a:pt x="61" y="5"/>
                    </a:cubicBezTo>
                    <a:cubicBezTo>
                      <a:pt x="53" y="13"/>
                      <a:pt x="42" y="17"/>
                      <a:pt x="31" y="17"/>
                    </a:cubicBez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7" name="Rectangle 6"/>
              <p:cNvSpPr>
                <a:spLocks noChangeArrowheads="1"/>
              </p:cNvSpPr>
              <p:nvPr/>
            </p:nvSpPr>
            <p:spPr bwMode="auto">
              <a:xfrm>
                <a:off x="6794500" y="6581776"/>
                <a:ext cx="22225" cy="131763"/>
              </a:xfrm>
              <a:prstGeom prst="rect">
                <a:avLst/>
              </a:prstGeom>
              <a:solidFill>
                <a:srgbClr val="15B0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8" name="Freeform 7"/>
              <p:cNvSpPr>
                <a:spLocks noEditPoints="1"/>
              </p:cNvSpPr>
              <p:nvPr/>
            </p:nvSpPr>
            <p:spPr bwMode="auto">
              <a:xfrm>
                <a:off x="6848475" y="6581777"/>
                <a:ext cx="100012" cy="131763"/>
              </a:xfrm>
              <a:custGeom>
                <a:avLst/>
                <a:gdLst>
                  <a:gd name="T0" fmla="*/ 14 w 26"/>
                  <a:gd name="T1" fmla="*/ 22 h 34"/>
                  <a:gd name="T2" fmla="*/ 7 w 26"/>
                  <a:gd name="T3" fmla="*/ 22 h 34"/>
                  <a:gd name="T4" fmla="*/ 7 w 26"/>
                  <a:gd name="T5" fmla="*/ 34 h 34"/>
                  <a:gd name="T6" fmla="*/ 0 w 26"/>
                  <a:gd name="T7" fmla="*/ 34 h 34"/>
                  <a:gd name="T8" fmla="*/ 0 w 26"/>
                  <a:gd name="T9" fmla="*/ 0 h 34"/>
                  <a:gd name="T10" fmla="*/ 14 w 26"/>
                  <a:gd name="T11" fmla="*/ 0 h 34"/>
                  <a:gd name="T12" fmla="*/ 26 w 26"/>
                  <a:gd name="T13" fmla="*/ 11 h 34"/>
                  <a:gd name="T14" fmla="*/ 14 w 26"/>
                  <a:gd name="T15" fmla="*/ 22 h 34"/>
                  <a:gd name="T16" fmla="*/ 14 w 26"/>
                  <a:gd name="T17" fmla="*/ 5 h 34"/>
                  <a:gd name="T18" fmla="*/ 7 w 26"/>
                  <a:gd name="T19" fmla="*/ 5 h 34"/>
                  <a:gd name="T20" fmla="*/ 7 w 26"/>
                  <a:gd name="T21" fmla="*/ 16 h 34"/>
                  <a:gd name="T22" fmla="*/ 14 w 26"/>
                  <a:gd name="T23" fmla="*/ 16 h 34"/>
                  <a:gd name="T24" fmla="*/ 20 w 26"/>
                  <a:gd name="T25" fmla="*/ 11 h 34"/>
                  <a:gd name="T26" fmla="*/ 14 w 26"/>
                  <a:gd name="T27" fmla="*/ 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34">
                    <a:moveTo>
                      <a:pt x="14" y="22"/>
                    </a:moveTo>
                    <a:cubicBezTo>
                      <a:pt x="7" y="22"/>
                      <a:pt x="7" y="22"/>
                      <a:pt x="7" y="22"/>
                    </a:cubicBezTo>
                    <a:cubicBezTo>
                      <a:pt x="7" y="34"/>
                      <a:pt x="7" y="34"/>
                      <a:pt x="7" y="34"/>
                    </a:cubicBezTo>
                    <a:cubicBezTo>
                      <a:pt x="0" y="34"/>
                      <a:pt x="0" y="34"/>
                      <a:pt x="0" y="34"/>
                    </a:cubicBezTo>
                    <a:cubicBezTo>
                      <a:pt x="0" y="0"/>
                      <a:pt x="0" y="0"/>
                      <a:pt x="0" y="0"/>
                    </a:cubicBezTo>
                    <a:cubicBezTo>
                      <a:pt x="14" y="0"/>
                      <a:pt x="14" y="0"/>
                      <a:pt x="14" y="0"/>
                    </a:cubicBezTo>
                    <a:cubicBezTo>
                      <a:pt x="22" y="0"/>
                      <a:pt x="26" y="4"/>
                      <a:pt x="26" y="11"/>
                    </a:cubicBezTo>
                    <a:cubicBezTo>
                      <a:pt x="26" y="17"/>
                      <a:pt x="22" y="22"/>
                      <a:pt x="14" y="22"/>
                    </a:cubicBezTo>
                    <a:close/>
                    <a:moveTo>
                      <a:pt x="14" y="5"/>
                    </a:moveTo>
                    <a:cubicBezTo>
                      <a:pt x="7" y="5"/>
                      <a:pt x="7" y="5"/>
                      <a:pt x="7" y="5"/>
                    </a:cubicBezTo>
                    <a:cubicBezTo>
                      <a:pt x="7" y="16"/>
                      <a:pt x="7" y="16"/>
                      <a:pt x="7" y="16"/>
                    </a:cubicBezTo>
                    <a:cubicBezTo>
                      <a:pt x="14" y="16"/>
                      <a:pt x="14" y="16"/>
                      <a:pt x="14" y="16"/>
                    </a:cubicBezTo>
                    <a:cubicBezTo>
                      <a:pt x="18" y="16"/>
                      <a:pt x="20" y="14"/>
                      <a:pt x="20" y="11"/>
                    </a:cubicBezTo>
                    <a:cubicBezTo>
                      <a:pt x="20" y="8"/>
                      <a:pt x="18" y="5"/>
                      <a:pt x="14" y="5"/>
                    </a:cubicBezTo>
                    <a:close/>
                  </a:path>
                </a:pathLst>
              </a:custGeom>
              <a:solidFill>
                <a:srgbClr val="15B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287" name="直接箭头连接符 286"/>
            <p:cNvCxnSpPr>
              <a:stCxn id="333" idx="4"/>
            </p:cNvCxnSpPr>
            <p:nvPr/>
          </p:nvCxnSpPr>
          <p:spPr>
            <a:xfrm>
              <a:off x="1419598" y="5080829"/>
              <a:ext cx="1029988" cy="139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8" name="直接箭头连接符 287"/>
            <p:cNvCxnSpPr>
              <a:stCxn id="319" idx="2"/>
            </p:cNvCxnSpPr>
            <p:nvPr/>
          </p:nvCxnSpPr>
          <p:spPr>
            <a:xfrm>
              <a:off x="4598567" y="3647064"/>
              <a:ext cx="13548" cy="8010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89" name="TextBox 35"/>
            <p:cNvSpPr txBox="1"/>
            <p:nvPr/>
          </p:nvSpPr>
          <p:spPr>
            <a:xfrm>
              <a:off x="3939023" y="5883464"/>
              <a:ext cx="1529881" cy="325056"/>
            </a:xfrm>
            <a:prstGeom prst="rect">
              <a:avLst/>
            </a:prstGeom>
            <a:noFill/>
          </p:spPr>
          <p:txBody>
            <a:bodyPr wrap="none" rtlCol="0">
              <a:spAutoFit/>
            </a:bodyPr>
            <a:lstStyle/>
            <a:p>
              <a:pPr algn="ct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Auto Scaling</a:t>
              </a:r>
            </a:p>
          </p:txBody>
        </p:sp>
        <p:sp>
          <p:nvSpPr>
            <p:cNvPr id="292" name="文本框 291"/>
            <p:cNvSpPr txBox="1"/>
            <p:nvPr/>
          </p:nvSpPr>
          <p:spPr>
            <a:xfrm>
              <a:off x="3705497" y="3269225"/>
              <a:ext cx="608144" cy="325056"/>
            </a:xfrm>
            <a:prstGeom prst="rect">
              <a:avLst/>
            </a:prstGeom>
            <a:noFill/>
          </p:spPr>
          <p:txBody>
            <a:bodyPr wrap="none" rtlCol="0">
              <a:spAutoFit/>
            </a:bodyPr>
            <a:lstStyle/>
            <a:p>
              <a:pP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ELB</a:t>
              </a:r>
              <a:endPar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3" name="文本框 292"/>
            <p:cNvSpPr txBox="1"/>
            <p:nvPr/>
          </p:nvSpPr>
          <p:spPr>
            <a:xfrm>
              <a:off x="3702425" y="2140708"/>
              <a:ext cx="551422" cy="325056"/>
            </a:xfrm>
            <a:prstGeom prst="rect">
              <a:avLst/>
            </a:prstGeom>
            <a:noFill/>
          </p:spPr>
          <p:txBody>
            <a:bodyPr wrap="none" rtlCol="0">
              <a:spAutoFit/>
            </a:bodyPr>
            <a:lstStyle/>
            <a:p>
              <a:pP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EIP</a:t>
              </a:r>
              <a:endPar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4" name="TextBox 102"/>
            <p:cNvSpPr txBox="1"/>
            <p:nvPr/>
          </p:nvSpPr>
          <p:spPr>
            <a:xfrm>
              <a:off x="7043420" y="4217347"/>
              <a:ext cx="644609" cy="325056"/>
            </a:xfrm>
            <a:prstGeom prst="rect">
              <a:avLst/>
            </a:prstGeom>
            <a:noFill/>
          </p:spPr>
          <p:txBody>
            <a:bodyPr wrap="none" rtlCol="0">
              <a:spAutoFit/>
            </a:bodyPr>
            <a:lstStyle/>
            <a:p>
              <a:pPr algn="ct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VPC</a:t>
              </a:r>
            </a:p>
          </p:txBody>
        </p:sp>
        <p:grpSp>
          <p:nvGrpSpPr>
            <p:cNvPr id="295" name="组合 25684"/>
            <p:cNvGrpSpPr>
              <a:grpSpLocks/>
            </p:cNvGrpSpPr>
            <p:nvPr/>
          </p:nvGrpSpPr>
          <p:grpSpPr bwMode="auto">
            <a:xfrm>
              <a:off x="4326360" y="1337706"/>
              <a:ext cx="470864" cy="424960"/>
              <a:chOff x="4810126" y="3024982"/>
              <a:chExt cx="682625" cy="688973"/>
            </a:xfrm>
          </p:grpSpPr>
          <p:sp>
            <p:nvSpPr>
              <p:cNvPr id="300" name="Freeform 12"/>
              <p:cNvSpPr>
                <a:spLocks/>
              </p:cNvSpPr>
              <p:nvPr/>
            </p:nvSpPr>
            <p:spPr bwMode="auto">
              <a:xfrm>
                <a:off x="4810126" y="3024982"/>
                <a:ext cx="682625" cy="688973"/>
              </a:xfrm>
              <a:custGeom>
                <a:avLst/>
                <a:gdLst>
                  <a:gd name="T0" fmla="*/ 2147483646 w 804"/>
                  <a:gd name="T1" fmla="*/ 2147483646 h 805"/>
                  <a:gd name="T2" fmla="*/ 2147483646 w 804"/>
                  <a:gd name="T3" fmla="*/ 2147483646 h 805"/>
                  <a:gd name="T4" fmla="*/ 2147483646 w 804"/>
                  <a:gd name="T5" fmla="*/ 2147483646 h 805"/>
                  <a:gd name="T6" fmla="*/ 0 w 804"/>
                  <a:gd name="T7" fmla="*/ 2147483646 h 805"/>
                  <a:gd name="T8" fmla="*/ 2147483646 w 804"/>
                  <a:gd name="T9" fmla="*/ 0 h 805"/>
                  <a:gd name="T10" fmla="*/ 2147483646 w 804"/>
                  <a:gd name="T11" fmla="*/ 2147483646 h 8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4" h="805">
                    <a:moveTo>
                      <a:pt x="804" y="403"/>
                    </a:moveTo>
                    <a:lnTo>
                      <a:pt x="804" y="403"/>
                    </a:lnTo>
                    <a:cubicBezTo>
                      <a:pt x="804" y="625"/>
                      <a:pt x="624" y="805"/>
                      <a:pt x="402" y="805"/>
                    </a:cubicBezTo>
                    <a:cubicBezTo>
                      <a:pt x="180" y="805"/>
                      <a:pt x="0" y="625"/>
                      <a:pt x="0" y="403"/>
                    </a:cubicBezTo>
                    <a:cubicBezTo>
                      <a:pt x="0" y="181"/>
                      <a:pt x="180" y="0"/>
                      <a:pt x="402" y="0"/>
                    </a:cubicBezTo>
                    <a:cubicBezTo>
                      <a:pt x="624" y="0"/>
                      <a:pt x="804" y="181"/>
                      <a:pt x="804" y="403"/>
                    </a:cubicBezTo>
                    <a:close/>
                  </a:path>
                </a:pathLst>
              </a:custGeom>
              <a:solidFill>
                <a:srgbClr val="15B0E8"/>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01" name="组合 25662"/>
              <p:cNvGrpSpPr>
                <a:grpSpLocks/>
              </p:cNvGrpSpPr>
              <p:nvPr/>
            </p:nvGrpSpPr>
            <p:grpSpPr bwMode="auto">
              <a:xfrm>
                <a:off x="4927601" y="3164681"/>
                <a:ext cx="406400" cy="382588"/>
                <a:chOff x="4927601" y="2949576"/>
                <a:chExt cx="406400" cy="382588"/>
              </a:xfrm>
            </p:grpSpPr>
            <p:sp>
              <p:nvSpPr>
                <p:cNvPr id="302" name="Freeform 77"/>
                <p:cNvSpPr>
                  <a:spLocks noEditPoints="1"/>
                </p:cNvSpPr>
                <p:nvPr/>
              </p:nvSpPr>
              <p:spPr bwMode="auto">
                <a:xfrm>
                  <a:off x="5097463" y="2949576"/>
                  <a:ext cx="169863" cy="171450"/>
                </a:xfrm>
                <a:custGeom>
                  <a:avLst/>
                  <a:gdLst>
                    <a:gd name="T0" fmla="*/ 2147483646 w 201"/>
                    <a:gd name="T1" fmla="*/ 2147483646 h 201"/>
                    <a:gd name="T2" fmla="*/ 2147483646 w 201"/>
                    <a:gd name="T3" fmla="*/ 2147483646 h 201"/>
                    <a:gd name="T4" fmla="*/ 2147483646 w 201"/>
                    <a:gd name="T5" fmla="*/ 2147483646 h 201"/>
                    <a:gd name="T6" fmla="*/ 2147483646 w 201"/>
                    <a:gd name="T7" fmla="*/ 2147483646 h 201"/>
                    <a:gd name="T8" fmla="*/ 2147483646 w 201"/>
                    <a:gd name="T9" fmla="*/ 2147483646 h 201"/>
                    <a:gd name="T10" fmla="*/ 2147483646 w 201"/>
                    <a:gd name="T11" fmla="*/ 2147483646 h 201"/>
                    <a:gd name="T12" fmla="*/ 2147483646 w 201"/>
                    <a:gd name="T13" fmla="*/ 2147483646 h 201"/>
                    <a:gd name="T14" fmla="*/ 2147483646 w 201"/>
                    <a:gd name="T15" fmla="*/ 2147483646 h 201"/>
                    <a:gd name="T16" fmla="*/ 2147483646 w 201"/>
                    <a:gd name="T17" fmla="*/ 2147483646 h 201"/>
                    <a:gd name="T18" fmla="*/ 2147483646 w 201"/>
                    <a:gd name="T19" fmla="*/ 0 h 201"/>
                    <a:gd name="T20" fmla="*/ 0 w 201"/>
                    <a:gd name="T21" fmla="*/ 2147483646 h 201"/>
                    <a:gd name="T22" fmla="*/ 2147483646 w 201"/>
                    <a:gd name="T23" fmla="*/ 2147483646 h 2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1" h="201">
                      <a:moveTo>
                        <a:pt x="101" y="21"/>
                      </a:moveTo>
                      <a:lnTo>
                        <a:pt x="101" y="21"/>
                      </a:lnTo>
                      <a:cubicBezTo>
                        <a:pt x="145" y="21"/>
                        <a:pt x="181" y="56"/>
                        <a:pt x="181" y="101"/>
                      </a:cubicBezTo>
                      <a:cubicBezTo>
                        <a:pt x="181" y="145"/>
                        <a:pt x="145" y="181"/>
                        <a:pt x="101" y="181"/>
                      </a:cubicBezTo>
                      <a:cubicBezTo>
                        <a:pt x="57" y="181"/>
                        <a:pt x="21" y="145"/>
                        <a:pt x="21" y="101"/>
                      </a:cubicBezTo>
                      <a:cubicBezTo>
                        <a:pt x="21" y="56"/>
                        <a:pt x="57" y="21"/>
                        <a:pt x="101" y="21"/>
                      </a:cubicBezTo>
                      <a:close/>
                      <a:moveTo>
                        <a:pt x="101" y="201"/>
                      </a:moveTo>
                      <a:lnTo>
                        <a:pt x="101" y="201"/>
                      </a:lnTo>
                      <a:cubicBezTo>
                        <a:pt x="156" y="201"/>
                        <a:pt x="201" y="156"/>
                        <a:pt x="201" y="101"/>
                      </a:cubicBezTo>
                      <a:cubicBezTo>
                        <a:pt x="201" y="45"/>
                        <a:pt x="156" y="0"/>
                        <a:pt x="101" y="0"/>
                      </a:cubicBezTo>
                      <a:cubicBezTo>
                        <a:pt x="46" y="0"/>
                        <a:pt x="0" y="45"/>
                        <a:pt x="0" y="101"/>
                      </a:cubicBezTo>
                      <a:cubicBezTo>
                        <a:pt x="0" y="156"/>
                        <a:pt x="46" y="201"/>
                        <a:pt x="101" y="201"/>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3" name="Freeform 78"/>
                <p:cNvSpPr>
                  <a:spLocks noEditPoints="1"/>
                </p:cNvSpPr>
                <p:nvPr/>
              </p:nvSpPr>
              <p:spPr bwMode="auto">
                <a:xfrm>
                  <a:off x="4940301" y="3114676"/>
                  <a:ext cx="393700" cy="217488"/>
                </a:xfrm>
                <a:custGeom>
                  <a:avLst/>
                  <a:gdLst>
                    <a:gd name="T0" fmla="*/ 2147483646 w 463"/>
                    <a:gd name="T1" fmla="*/ 2147483646 h 253"/>
                    <a:gd name="T2" fmla="*/ 2147483646 w 463"/>
                    <a:gd name="T3" fmla="*/ 2147483646 h 253"/>
                    <a:gd name="T4" fmla="*/ 2147483646 w 463"/>
                    <a:gd name="T5" fmla="*/ 2147483646 h 253"/>
                    <a:gd name="T6" fmla="*/ 2147483646 w 463"/>
                    <a:gd name="T7" fmla="*/ 2147483646 h 253"/>
                    <a:gd name="T8" fmla="*/ 2147483646 w 463"/>
                    <a:gd name="T9" fmla="*/ 2147483646 h 253"/>
                    <a:gd name="T10" fmla="*/ 2147483646 w 463"/>
                    <a:gd name="T11" fmla="*/ 2147483646 h 253"/>
                    <a:gd name="T12" fmla="*/ 2147483646 w 463"/>
                    <a:gd name="T13" fmla="*/ 2147483646 h 253"/>
                    <a:gd name="T14" fmla="*/ 2147483646 w 463"/>
                    <a:gd name="T15" fmla="*/ 2147483646 h 253"/>
                    <a:gd name="T16" fmla="*/ 2147483646 w 463"/>
                    <a:gd name="T17" fmla="*/ 2147483646 h 253"/>
                    <a:gd name="T18" fmla="*/ 2147483646 w 463"/>
                    <a:gd name="T19" fmla="*/ 1270297549 h 253"/>
                    <a:gd name="T20" fmla="*/ 2147483646 w 463"/>
                    <a:gd name="T21" fmla="*/ 1270297549 h 253"/>
                    <a:gd name="T22" fmla="*/ 2147483646 w 463"/>
                    <a:gd name="T23" fmla="*/ 2147483646 h 253"/>
                    <a:gd name="T24" fmla="*/ 2147483646 w 463"/>
                    <a:gd name="T25" fmla="*/ 2147483646 h 253"/>
                    <a:gd name="T26" fmla="*/ 2147483646 w 463"/>
                    <a:gd name="T27" fmla="*/ 2147483646 h 253"/>
                    <a:gd name="T28" fmla="*/ 2147483646 w 463"/>
                    <a:gd name="T29" fmla="*/ 2147483646 h 253"/>
                    <a:gd name="T30" fmla="*/ 2147483646 w 463"/>
                    <a:gd name="T31" fmla="*/ 2147483646 h 253"/>
                    <a:gd name="T32" fmla="*/ 2147483646 w 463"/>
                    <a:gd name="T33" fmla="*/ 2147483646 h 253"/>
                    <a:gd name="T34" fmla="*/ 2147483646 w 463"/>
                    <a:gd name="T35" fmla="*/ 2147483646 h 253"/>
                    <a:gd name="T36" fmla="*/ 2147483646 w 463"/>
                    <a:gd name="T37" fmla="*/ 2147483646 h 253"/>
                    <a:gd name="T38" fmla="*/ 2147483646 w 463"/>
                    <a:gd name="T39" fmla="*/ 1905815537 h 253"/>
                    <a:gd name="T40" fmla="*/ 2147483646 w 463"/>
                    <a:gd name="T41" fmla="*/ 2147483646 h 253"/>
                    <a:gd name="T42" fmla="*/ 2147483646 w 463"/>
                    <a:gd name="T43" fmla="*/ 2147483646 h 253"/>
                    <a:gd name="T44" fmla="*/ 2147483646 w 463"/>
                    <a:gd name="T45" fmla="*/ 2147483646 h 253"/>
                    <a:gd name="T46" fmla="*/ 0 w 463"/>
                    <a:gd name="T47" fmla="*/ 2147483646 h 253"/>
                    <a:gd name="T48" fmla="*/ 0 w 463"/>
                    <a:gd name="T49" fmla="*/ 2147483646 h 253"/>
                    <a:gd name="T50" fmla="*/ 2147483646 w 463"/>
                    <a:gd name="T51" fmla="*/ 2147483646 h 253"/>
                    <a:gd name="T52" fmla="*/ 2147483646 w 463"/>
                    <a:gd name="T53" fmla="*/ 2147483646 h 253"/>
                    <a:gd name="T54" fmla="*/ 2147483646 w 463"/>
                    <a:gd name="T55" fmla="*/ 2147483646 h 253"/>
                    <a:gd name="T56" fmla="*/ 2147483646 w 463"/>
                    <a:gd name="T57" fmla="*/ 2147483646 h 253"/>
                    <a:gd name="T58" fmla="*/ 2147483646 w 463"/>
                    <a:gd name="T59" fmla="*/ 2147483646 h 253"/>
                    <a:gd name="T60" fmla="*/ 2147483646 w 463"/>
                    <a:gd name="T61" fmla="*/ 2147483646 h 253"/>
                    <a:gd name="T62" fmla="*/ 2147483646 w 463"/>
                    <a:gd name="T63" fmla="*/ 2147483646 h 253"/>
                    <a:gd name="T64" fmla="*/ 2147483646 w 463"/>
                    <a:gd name="T65" fmla="*/ 2147483646 h 253"/>
                    <a:gd name="T66" fmla="*/ 2147483646 w 463"/>
                    <a:gd name="T67" fmla="*/ 2147483646 h 253"/>
                    <a:gd name="T68" fmla="*/ 2147483646 w 463"/>
                    <a:gd name="T69" fmla="*/ 2147483646 h 253"/>
                    <a:gd name="T70" fmla="*/ 2147483646 w 463"/>
                    <a:gd name="T71" fmla="*/ 2147483646 h 253"/>
                    <a:gd name="T72" fmla="*/ 2147483646 w 463"/>
                    <a:gd name="T73" fmla="*/ 2147483646 h 253"/>
                    <a:gd name="T74" fmla="*/ 2147483646 w 463"/>
                    <a:gd name="T75" fmla="*/ 2147483646 h 253"/>
                    <a:gd name="T76" fmla="*/ 2147483646 w 463"/>
                    <a:gd name="T77" fmla="*/ 2147483646 h 253"/>
                    <a:gd name="T78" fmla="*/ 2147483646 w 463"/>
                    <a:gd name="T79" fmla="*/ 2147483646 h 253"/>
                    <a:gd name="T80" fmla="*/ 2147483646 w 463"/>
                    <a:gd name="T81" fmla="*/ 2147483646 h 253"/>
                    <a:gd name="T82" fmla="*/ 2147483646 w 463"/>
                    <a:gd name="T83" fmla="*/ 2147483646 h 253"/>
                    <a:gd name="T84" fmla="*/ 2147483646 w 463"/>
                    <a:gd name="T85" fmla="*/ 2147483646 h 253"/>
                    <a:gd name="T86" fmla="*/ 2147483646 w 463"/>
                    <a:gd name="T87" fmla="*/ 2147483646 h 253"/>
                    <a:gd name="T88" fmla="*/ 2147483646 w 463"/>
                    <a:gd name="T89" fmla="*/ 2147483646 h 253"/>
                    <a:gd name="T90" fmla="*/ 2147483646 w 463"/>
                    <a:gd name="T91" fmla="*/ 2147483646 h 253"/>
                    <a:gd name="T92" fmla="*/ 2147483646 w 463"/>
                    <a:gd name="T93" fmla="*/ 2147483646 h 253"/>
                    <a:gd name="T94" fmla="*/ 2147483646 w 463"/>
                    <a:gd name="T95" fmla="*/ 2147483646 h 253"/>
                    <a:gd name="T96" fmla="*/ 2147483646 w 463"/>
                    <a:gd name="T97" fmla="*/ 2147483646 h 253"/>
                    <a:gd name="T98" fmla="*/ 2147483646 w 463"/>
                    <a:gd name="T99" fmla="*/ 2147483646 h 253"/>
                    <a:gd name="T100" fmla="*/ 2147483646 w 463"/>
                    <a:gd name="T101" fmla="*/ 2147483646 h 253"/>
                    <a:gd name="T102" fmla="*/ 2147483646 w 463"/>
                    <a:gd name="T103" fmla="*/ 2147483646 h 253"/>
                    <a:gd name="T104" fmla="*/ 2147483646 w 463"/>
                    <a:gd name="T105" fmla="*/ 2147483646 h 253"/>
                    <a:gd name="T106" fmla="*/ 2147483646 w 463"/>
                    <a:gd name="T107" fmla="*/ 2147483646 h 253"/>
                    <a:gd name="T108" fmla="*/ 2147483646 w 463"/>
                    <a:gd name="T109" fmla="*/ 2147483646 h 253"/>
                    <a:gd name="T110" fmla="*/ 2147483646 w 463"/>
                    <a:gd name="T111" fmla="*/ 1270297549 h 25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63" h="253">
                      <a:moveTo>
                        <a:pt x="173" y="55"/>
                      </a:moveTo>
                      <a:lnTo>
                        <a:pt x="173" y="55"/>
                      </a:lnTo>
                      <a:lnTo>
                        <a:pt x="173" y="157"/>
                      </a:lnTo>
                      <a:lnTo>
                        <a:pt x="16" y="157"/>
                      </a:lnTo>
                      <a:lnTo>
                        <a:pt x="16" y="55"/>
                      </a:lnTo>
                      <a:lnTo>
                        <a:pt x="137" y="55"/>
                      </a:lnTo>
                      <a:lnTo>
                        <a:pt x="138" y="55"/>
                      </a:lnTo>
                      <a:lnTo>
                        <a:pt x="173" y="55"/>
                      </a:lnTo>
                      <a:close/>
                      <a:moveTo>
                        <a:pt x="384" y="2"/>
                      </a:moveTo>
                      <a:lnTo>
                        <a:pt x="384" y="2"/>
                      </a:lnTo>
                      <a:cubicBezTo>
                        <a:pt x="380" y="0"/>
                        <a:pt x="375" y="1"/>
                        <a:pt x="372" y="4"/>
                      </a:cubicBezTo>
                      <a:lnTo>
                        <a:pt x="332" y="48"/>
                      </a:lnTo>
                      <a:lnTo>
                        <a:pt x="309" y="31"/>
                      </a:lnTo>
                      <a:cubicBezTo>
                        <a:pt x="308" y="30"/>
                        <a:pt x="306" y="29"/>
                        <a:pt x="303" y="29"/>
                      </a:cubicBezTo>
                      <a:lnTo>
                        <a:pt x="262" y="29"/>
                      </a:lnTo>
                      <a:cubicBezTo>
                        <a:pt x="260" y="29"/>
                        <a:pt x="258" y="30"/>
                        <a:pt x="256" y="32"/>
                      </a:cubicBezTo>
                      <a:lnTo>
                        <a:pt x="235" y="48"/>
                      </a:lnTo>
                      <a:lnTo>
                        <a:pt x="195" y="4"/>
                      </a:lnTo>
                      <a:cubicBezTo>
                        <a:pt x="191" y="1"/>
                        <a:pt x="186" y="0"/>
                        <a:pt x="182" y="3"/>
                      </a:cubicBezTo>
                      <a:lnTo>
                        <a:pt x="127" y="38"/>
                      </a:lnTo>
                      <a:lnTo>
                        <a:pt x="127" y="39"/>
                      </a:lnTo>
                      <a:lnTo>
                        <a:pt x="8" y="39"/>
                      </a:lnTo>
                      <a:cubicBezTo>
                        <a:pt x="3" y="39"/>
                        <a:pt x="0" y="42"/>
                        <a:pt x="0" y="47"/>
                      </a:cubicBezTo>
                      <a:lnTo>
                        <a:pt x="0" y="165"/>
                      </a:lnTo>
                      <a:cubicBezTo>
                        <a:pt x="0" y="170"/>
                        <a:pt x="3" y="173"/>
                        <a:pt x="8" y="173"/>
                      </a:cubicBezTo>
                      <a:lnTo>
                        <a:pt x="181" y="173"/>
                      </a:lnTo>
                      <a:cubicBezTo>
                        <a:pt x="186" y="173"/>
                        <a:pt x="189" y="170"/>
                        <a:pt x="189" y="165"/>
                      </a:cubicBezTo>
                      <a:lnTo>
                        <a:pt x="189" y="47"/>
                      </a:lnTo>
                      <a:cubicBezTo>
                        <a:pt x="189" y="42"/>
                        <a:pt x="186" y="39"/>
                        <a:pt x="181" y="39"/>
                      </a:cubicBezTo>
                      <a:lnTo>
                        <a:pt x="163" y="39"/>
                      </a:lnTo>
                      <a:lnTo>
                        <a:pt x="186" y="24"/>
                      </a:lnTo>
                      <a:lnTo>
                        <a:pt x="226" y="69"/>
                      </a:lnTo>
                      <a:cubicBezTo>
                        <a:pt x="230" y="72"/>
                        <a:pt x="236" y="73"/>
                        <a:pt x="240" y="70"/>
                      </a:cubicBezTo>
                      <a:lnTo>
                        <a:pt x="262" y="52"/>
                      </a:lnTo>
                      <a:lnTo>
                        <a:pt x="267" y="69"/>
                      </a:lnTo>
                      <a:lnTo>
                        <a:pt x="255" y="150"/>
                      </a:lnTo>
                      <a:lnTo>
                        <a:pt x="285" y="182"/>
                      </a:lnTo>
                      <a:lnTo>
                        <a:pt x="315" y="150"/>
                      </a:lnTo>
                      <a:lnTo>
                        <a:pt x="299" y="70"/>
                      </a:lnTo>
                      <a:lnTo>
                        <a:pt x="303" y="52"/>
                      </a:lnTo>
                      <a:lnTo>
                        <a:pt x="327" y="69"/>
                      </a:lnTo>
                      <a:cubicBezTo>
                        <a:pt x="331" y="72"/>
                        <a:pt x="337" y="72"/>
                        <a:pt x="340" y="68"/>
                      </a:cubicBezTo>
                      <a:lnTo>
                        <a:pt x="382" y="24"/>
                      </a:lnTo>
                      <a:cubicBezTo>
                        <a:pt x="396" y="31"/>
                        <a:pt x="428" y="49"/>
                        <a:pt x="443" y="59"/>
                      </a:cubicBezTo>
                      <a:lnTo>
                        <a:pt x="443" y="222"/>
                      </a:lnTo>
                      <a:lnTo>
                        <a:pt x="401" y="222"/>
                      </a:lnTo>
                      <a:cubicBezTo>
                        <a:pt x="398" y="215"/>
                        <a:pt x="391" y="211"/>
                        <a:pt x="383" y="211"/>
                      </a:cubicBezTo>
                      <a:cubicBezTo>
                        <a:pt x="371" y="211"/>
                        <a:pt x="362" y="220"/>
                        <a:pt x="362" y="232"/>
                      </a:cubicBezTo>
                      <a:cubicBezTo>
                        <a:pt x="362" y="243"/>
                        <a:pt x="371" y="253"/>
                        <a:pt x="383" y="253"/>
                      </a:cubicBezTo>
                      <a:cubicBezTo>
                        <a:pt x="391" y="253"/>
                        <a:pt x="398" y="248"/>
                        <a:pt x="401" y="242"/>
                      </a:cubicBezTo>
                      <a:lnTo>
                        <a:pt x="453" y="242"/>
                      </a:lnTo>
                      <a:cubicBezTo>
                        <a:pt x="459" y="242"/>
                        <a:pt x="463" y="237"/>
                        <a:pt x="463" y="232"/>
                      </a:cubicBezTo>
                      <a:lnTo>
                        <a:pt x="463" y="54"/>
                      </a:lnTo>
                      <a:cubicBezTo>
                        <a:pt x="463" y="51"/>
                        <a:pt x="462" y="48"/>
                        <a:pt x="459" y="46"/>
                      </a:cubicBezTo>
                      <a:cubicBezTo>
                        <a:pt x="443" y="34"/>
                        <a:pt x="387" y="3"/>
                        <a:pt x="384" y="2"/>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4" name="Freeform 79"/>
                <p:cNvSpPr>
                  <a:spLocks/>
                </p:cNvSpPr>
                <p:nvPr/>
              </p:nvSpPr>
              <p:spPr bwMode="auto">
                <a:xfrm>
                  <a:off x="4927601" y="3270251"/>
                  <a:ext cx="301625" cy="61913"/>
                </a:xfrm>
                <a:custGeom>
                  <a:avLst/>
                  <a:gdLst>
                    <a:gd name="T0" fmla="*/ 2147483646 w 354"/>
                    <a:gd name="T1" fmla="*/ 2147483646 h 71"/>
                    <a:gd name="T2" fmla="*/ 2147483646 w 354"/>
                    <a:gd name="T3" fmla="*/ 2147483646 h 71"/>
                    <a:gd name="T4" fmla="*/ 2147483646 w 354"/>
                    <a:gd name="T5" fmla="*/ 2147483646 h 71"/>
                    <a:gd name="T6" fmla="*/ 2147483646 w 354"/>
                    <a:gd name="T7" fmla="*/ 2147483646 h 71"/>
                    <a:gd name="T8" fmla="*/ 2147483646 w 354"/>
                    <a:gd name="T9" fmla="*/ 2147483646 h 71"/>
                    <a:gd name="T10" fmla="*/ 2147483646 w 354"/>
                    <a:gd name="T11" fmla="*/ 2147483646 h 71"/>
                    <a:gd name="T12" fmla="*/ 2147483646 w 354"/>
                    <a:gd name="T13" fmla="*/ 2147483646 h 71"/>
                    <a:gd name="T14" fmla="*/ 2147483646 w 354"/>
                    <a:gd name="T15" fmla="*/ 0 h 71"/>
                    <a:gd name="T16" fmla="*/ 2147483646 w 354"/>
                    <a:gd name="T17" fmla="*/ 0 h 71"/>
                    <a:gd name="T18" fmla="*/ 0 w 354"/>
                    <a:gd name="T19" fmla="*/ 2147483646 h 71"/>
                    <a:gd name="T20" fmla="*/ 0 w 354"/>
                    <a:gd name="T21" fmla="*/ 2147483646 h 71"/>
                    <a:gd name="T22" fmla="*/ 2147483646 w 354"/>
                    <a:gd name="T23" fmla="*/ 2147483646 h 71"/>
                    <a:gd name="T24" fmla="*/ 2147483646 w 354"/>
                    <a:gd name="T25" fmla="*/ 2147483646 h 71"/>
                    <a:gd name="T26" fmla="*/ 2147483646 w 354"/>
                    <a:gd name="T27" fmla="*/ 2147483646 h 71"/>
                    <a:gd name="T28" fmla="*/ 2147483646 w 354"/>
                    <a:gd name="T29" fmla="*/ 2147483646 h 71"/>
                    <a:gd name="T30" fmla="*/ 2147483646 w 354"/>
                    <a:gd name="T31" fmla="*/ 2147483646 h 71"/>
                    <a:gd name="T32" fmla="*/ 2147483646 w 354"/>
                    <a:gd name="T33" fmla="*/ 2147483646 h 71"/>
                    <a:gd name="T34" fmla="*/ 2147483646 w 354"/>
                    <a:gd name="T35" fmla="*/ 2147483646 h 7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54" h="71">
                      <a:moveTo>
                        <a:pt x="333" y="29"/>
                      </a:moveTo>
                      <a:lnTo>
                        <a:pt x="333" y="29"/>
                      </a:lnTo>
                      <a:cubicBezTo>
                        <a:pt x="325" y="29"/>
                        <a:pt x="319" y="33"/>
                        <a:pt x="315" y="40"/>
                      </a:cubicBezTo>
                      <a:lnTo>
                        <a:pt x="145" y="40"/>
                      </a:lnTo>
                      <a:lnTo>
                        <a:pt x="145" y="27"/>
                      </a:lnTo>
                      <a:lnTo>
                        <a:pt x="219" y="27"/>
                      </a:lnTo>
                      <a:lnTo>
                        <a:pt x="219" y="14"/>
                      </a:lnTo>
                      <a:lnTo>
                        <a:pt x="196" y="0"/>
                      </a:lnTo>
                      <a:lnTo>
                        <a:pt x="15" y="0"/>
                      </a:lnTo>
                      <a:lnTo>
                        <a:pt x="0" y="14"/>
                      </a:lnTo>
                      <a:lnTo>
                        <a:pt x="0" y="27"/>
                      </a:lnTo>
                      <a:lnTo>
                        <a:pt x="124" y="27"/>
                      </a:lnTo>
                      <a:lnTo>
                        <a:pt x="124" y="50"/>
                      </a:lnTo>
                      <a:cubicBezTo>
                        <a:pt x="124" y="55"/>
                        <a:pt x="129" y="60"/>
                        <a:pt x="135" y="60"/>
                      </a:cubicBezTo>
                      <a:lnTo>
                        <a:pt x="315" y="60"/>
                      </a:lnTo>
                      <a:cubicBezTo>
                        <a:pt x="318" y="67"/>
                        <a:pt x="325" y="71"/>
                        <a:pt x="333" y="71"/>
                      </a:cubicBezTo>
                      <a:cubicBezTo>
                        <a:pt x="345" y="71"/>
                        <a:pt x="354" y="62"/>
                        <a:pt x="354" y="50"/>
                      </a:cubicBezTo>
                      <a:cubicBezTo>
                        <a:pt x="354" y="38"/>
                        <a:pt x="345" y="29"/>
                        <a:pt x="333" y="2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defTabSz="914112"/>
                  <a:endParaRPr lang="zh-CN" altLang="en-US" sz="32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cxnSp>
          <p:nvCxnSpPr>
            <p:cNvPr id="296" name="直接箭头连接符 295"/>
            <p:cNvCxnSpPr/>
            <p:nvPr/>
          </p:nvCxnSpPr>
          <p:spPr>
            <a:xfrm>
              <a:off x="4574191" y="1762664"/>
              <a:ext cx="0" cy="3550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7" name="文本框 296"/>
            <p:cNvSpPr txBox="1"/>
            <p:nvPr/>
          </p:nvSpPr>
          <p:spPr>
            <a:xfrm>
              <a:off x="531828" y="5459017"/>
              <a:ext cx="1155109" cy="325056"/>
            </a:xfrm>
            <a:prstGeom prst="rect">
              <a:avLst/>
            </a:prstGeom>
            <a:noFill/>
          </p:spPr>
          <p:txBody>
            <a:bodyPr wrap="none" rtlCol="0">
              <a:spAutoFit/>
            </a:bodyPr>
            <a:lstStyle/>
            <a:p>
              <a:pP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应用</a:t>
              </a:r>
            </a:p>
          </p:txBody>
        </p:sp>
        <p:sp>
          <p:nvSpPr>
            <p:cNvPr id="298" name="文本框 297"/>
            <p:cNvSpPr txBox="1"/>
            <p:nvPr/>
          </p:nvSpPr>
          <p:spPr>
            <a:xfrm>
              <a:off x="4339888" y="5228897"/>
              <a:ext cx="566980" cy="325056"/>
            </a:xfrm>
            <a:prstGeom prst="rect">
              <a:avLst/>
            </a:prstGeom>
            <a:noFill/>
          </p:spPr>
          <p:txBody>
            <a:bodyPr wrap="none" rtlCol="0">
              <a:spAutoFit/>
            </a:bodyPr>
            <a:lstStyle/>
            <a:p>
              <a:pPr defTabSz="914112"/>
              <a:r>
                <a:rPr lang="en-US" altLang="zh-CN"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9" name="直接箭头连接符 298"/>
            <p:cNvCxnSpPr/>
            <p:nvPr/>
          </p:nvCxnSpPr>
          <p:spPr>
            <a:xfrm>
              <a:off x="4579832" y="2586480"/>
              <a:ext cx="0" cy="3550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2635377" y="2324479"/>
            <a:ext cx="913723" cy="453457"/>
          </a:xfrm>
          <a:prstGeom prst="rect">
            <a:avLst/>
          </a:prstGeom>
          <a:noFill/>
        </p:spPr>
        <p:txBody>
          <a:bodyPr wrap="square" rtlCol="0">
            <a:spAutoFit/>
          </a:bodyPr>
          <a:lstStyle/>
          <a:p>
            <a:pPr defTabSz="914112">
              <a:lnSpc>
                <a:spcPts val="3439"/>
              </a:lnSpc>
            </a:pPr>
            <a:r>
              <a:rPr lang="zh-CN" altLang="en-US" sz="10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公网</a:t>
            </a:r>
            <a:r>
              <a:rPr lang="en-US" altLang="zh-CN" sz="10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en-US" sz="10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 name="直接连接符 18"/>
          <p:cNvCxnSpPr>
            <a:endCxn id="305" idx="6"/>
          </p:cNvCxnSpPr>
          <p:nvPr/>
        </p:nvCxnSpPr>
        <p:spPr>
          <a:xfrm flipV="1">
            <a:off x="3076547" y="2157708"/>
            <a:ext cx="5590507" cy="449253"/>
          </a:xfrm>
          <a:prstGeom prst="line">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315" idx="3"/>
          </p:cNvCxnSpPr>
          <p:nvPr/>
        </p:nvCxnSpPr>
        <p:spPr>
          <a:xfrm flipV="1">
            <a:off x="3144272" y="2791012"/>
            <a:ext cx="5747081" cy="479675"/>
          </a:xfrm>
          <a:prstGeom prst="line">
            <a:avLst/>
          </a:prstGeom>
          <a:ln w="127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05" idx="4"/>
            <a:endCxn id="338" idx="19"/>
          </p:cNvCxnSpPr>
          <p:nvPr/>
        </p:nvCxnSpPr>
        <p:spPr>
          <a:xfrm>
            <a:off x="4021662" y="4157484"/>
            <a:ext cx="3694144" cy="27207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332" idx="7"/>
          </p:cNvCxnSpPr>
          <p:nvPr/>
        </p:nvCxnSpPr>
        <p:spPr>
          <a:xfrm>
            <a:off x="4485573" y="3701465"/>
            <a:ext cx="4222403" cy="1660469"/>
          </a:xfrm>
          <a:prstGeom prst="line">
            <a:avLst/>
          </a:prstGeom>
          <a:ln w="127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176721" y="867444"/>
            <a:ext cx="35645" cy="5611770"/>
          </a:xfrm>
          <a:prstGeom prst="line">
            <a:avLst/>
          </a:prstGeom>
          <a:ln w="19050">
            <a:solidFill>
              <a:schemeClr val="bg1">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1" name="椭圆 30"/>
          <p:cNvSpPr/>
          <p:nvPr/>
        </p:nvSpPr>
        <p:spPr>
          <a:xfrm>
            <a:off x="6103505" y="2107587"/>
            <a:ext cx="218142" cy="192501"/>
          </a:xfrm>
          <a:prstGeom prst="ellipse">
            <a:avLst/>
          </a:prstGeom>
          <a:solidFill>
            <a:schemeClr val="bg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12"/>
            <a:r>
              <a:rPr lang="en-US" sz="1799"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344" name="椭圆 343"/>
          <p:cNvSpPr/>
          <p:nvPr/>
        </p:nvSpPr>
        <p:spPr>
          <a:xfrm>
            <a:off x="6275175" y="2767880"/>
            <a:ext cx="218142" cy="192501"/>
          </a:xfrm>
          <a:prstGeom prst="ellipse">
            <a:avLst/>
          </a:prstGeom>
          <a:solidFill>
            <a:schemeClr val="bg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12"/>
            <a:r>
              <a:rPr lang="en-US" sz="1799"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345" name="椭圆 344"/>
          <p:cNvSpPr/>
          <p:nvPr/>
        </p:nvSpPr>
        <p:spPr>
          <a:xfrm>
            <a:off x="5735295" y="4119236"/>
            <a:ext cx="218142" cy="192501"/>
          </a:xfrm>
          <a:prstGeom prst="ellipse">
            <a:avLst/>
          </a:prstGeom>
          <a:solidFill>
            <a:schemeClr val="bg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12"/>
            <a:r>
              <a:rPr lang="en-US" sz="1799"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346" name="椭圆 345"/>
          <p:cNvSpPr/>
          <p:nvPr/>
        </p:nvSpPr>
        <p:spPr>
          <a:xfrm>
            <a:off x="4638434" y="4100686"/>
            <a:ext cx="218142" cy="192501"/>
          </a:xfrm>
          <a:prstGeom prst="ellipse">
            <a:avLst/>
          </a:prstGeom>
          <a:solidFill>
            <a:schemeClr val="bg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12"/>
            <a:r>
              <a:rPr lang="en-US" sz="1799"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rPr>
              <a:t>4</a:t>
            </a:r>
          </a:p>
        </p:txBody>
      </p:sp>
      <p:grpSp>
        <p:nvGrpSpPr>
          <p:cNvPr id="239" name="组合 572"/>
          <p:cNvGrpSpPr/>
          <p:nvPr/>
        </p:nvGrpSpPr>
        <p:grpSpPr>
          <a:xfrm>
            <a:off x="4211083" y="3591098"/>
            <a:ext cx="327665" cy="303872"/>
            <a:chOff x="4902797" y="3439194"/>
            <a:chExt cx="347571" cy="246006"/>
          </a:xfrm>
          <a:solidFill>
            <a:srgbClr val="92D050"/>
          </a:solidFill>
        </p:grpSpPr>
        <p:sp>
          <p:nvSpPr>
            <p:cNvPr id="240" name="AutoShape 26"/>
            <p:cNvSpPr>
              <a:spLocks noChangeAspect="1" noChangeArrowheads="1" noTextEdit="1"/>
            </p:cNvSpPr>
            <p:nvPr/>
          </p:nvSpPr>
          <p:spPr bwMode="auto">
            <a:xfrm>
              <a:off x="4902797" y="3440751"/>
              <a:ext cx="347571" cy="242892"/>
            </a:xfrm>
            <a:prstGeom prst="rect">
              <a:avLst/>
            </a:prstGeom>
            <a:grpFill/>
            <a:ln w="9525">
              <a:noFill/>
              <a:miter lim="800000"/>
              <a:headEnd/>
              <a:tailEnd/>
            </a:ln>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1" name="Freeform 28"/>
            <p:cNvSpPr>
              <a:spLocks/>
            </p:cNvSpPr>
            <p:nvPr/>
          </p:nvSpPr>
          <p:spPr bwMode="auto">
            <a:xfrm>
              <a:off x="4902797" y="3439194"/>
              <a:ext cx="347571" cy="246006"/>
            </a:xfrm>
            <a:custGeom>
              <a:avLst/>
              <a:gdLst/>
              <a:ahLst/>
              <a:cxnLst>
                <a:cxn ang="0">
                  <a:pos x="185" y="134"/>
                </a:cxn>
                <a:cxn ang="0">
                  <a:pos x="159" y="67"/>
                </a:cxn>
                <a:cxn ang="0">
                  <a:pos x="140" y="8"/>
                </a:cxn>
                <a:cxn ang="0">
                  <a:pos x="121" y="67"/>
                </a:cxn>
                <a:cxn ang="0">
                  <a:pos x="95" y="134"/>
                </a:cxn>
                <a:cxn ang="0">
                  <a:pos x="68" y="67"/>
                </a:cxn>
                <a:cxn ang="0">
                  <a:pos x="50" y="8"/>
                </a:cxn>
                <a:cxn ang="0">
                  <a:pos x="31" y="67"/>
                </a:cxn>
                <a:cxn ang="0">
                  <a:pos x="4" y="134"/>
                </a:cxn>
                <a:cxn ang="0">
                  <a:pos x="0" y="130"/>
                </a:cxn>
                <a:cxn ang="0">
                  <a:pos x="4" y="126"/>
                </a:cxn>
                <a:cxn ang="0">
                  <a:pos x="23" y="66"/>
                </a:cxn>
                <a:cxn ang="0">
                  <a:pos x="50" y="0"/>
                </a:cxn>
                <a:cxn ang="0">
                  <a:pos x="76" y="66"/>
                </a:cxn>
                <a:cxn ang="0">
                  <a:pos x="95" y="126"/>
                </a:cxn>
                <a:cxn ang="0">
                  <a:pos x="113" y="66"/>
                </a:cxn>
                <a:cxn ang="0">
                  <a:pos x="140" y="0"/>
                </a:cxn>
                <a:cxn ang="0">
                  <a:pos x="166" y="66"/>
                </a:cxn>
                <a:cxn ang="0">
                  <a:pos x="185" y="126"/>
                </a:cxn>
                <a:cxn ang="0">
                  <a:pos x="189" y="130"/>
                </a:cxn>
                <a:cxn ang="0">
                  <a:pos x="185" y="134"/>
                </a:cxn>
              </a:cxnLst>
              <a:rect l="0" t="0" r="r" b="b"/>
              <a:pathLst>
                <a:path w="189" h="134">
                  <a:moveTo>
                    <a:pt x="185" y="134"/>
                  </a:moveTo>
                  <a:cubicBezTo>
                    <a:pt x="171" y="134"/>
                    <a:pt x="163" y="92"/>
                    <a:pt x="159" y="67"/>
                  </a:cubicBezTo>
                  <a:cubicBezTo>
                    <a:pt x="154" y="37"/>
                    <a:pt x="145" y="9"/>
                    <a:pt x="140" y="8"/>
                  </a:cubicBezTo>
                  <a:cubicBezTo>
                    <a:pt x="135" y="9"/>
                    <a:pt x="126" y="37"/>
                    <a:pt x="121" y="67"/>
                  </a:cubicBezTo>
                  <a:cubicBezTo>
                    <a:pt x="117" y="92"/>
                    <a:pt x="109" y="134"/>
                    <a:pt x="95" y="134"/>
                  </a:cubicBezTo>
                  <a:cubicBezTo>
                    <a:pt x="81" y="134"/>
                    <a:pt x="72" y="92"/>
                    <a:pt x="68" y="67"/>
                  </a:cubicBezTo>
                  <a:cubicBezTo>
                    <a:pt x="63" y="37"/>
                    <a:pt x="55" y="9"/>
                    <a:pt x="50" y="8"/>
                  </a:cubicBezTo>
                  <a:cubicBezTo>
                    <a:pt x="45" y="9"/>
                    <a:pt x="36" y="37"/>
                    <a:pt x="31" y="67"/>
                  </a:cubicBezTo>
                  <a:cubicBezTo>
                    <a:pt x="27" y="92"/>
                    <a:pt x="18" y="134"/>
                    <a:pt x="4" y="134"/>
                  </a:cubicBezTo>
                  <a:cubicBezTo>
                    <a:pt x="2" y="134"/>
                    <a:pt x="0" y="132"/>
                    <a:pt x="0" y="130"/>
                  </a:cubicBezTo>
                  <a:cubicBezTo>
                    <a:pt x="0" y="128"/>
                    <a:pt x="2" y="126"/>
                    <a:pt x="4" y="126"/>
                  </a:cubicBezTo>
                  <a:cubicBezTo>
                    <a:pt x="9" y="125"/>
                    <a:pt x="18" y="97"/>
                    <a:pt x="23" y="66"/>
                  </a:cubicBezTo>
                  <a:cubicBezTo>
                    <a:pt x="27" y="41"/>
                    <a:pt x="36" y="0"/>
                    <a:pt x="50" y="0"/>
                  </a:cubicBezTo>
                  <a:cubicBezTo>
                    <a:pt x="63" y="0"/>
                    <a:pt x="72" y="41"/>
                    <a:pt x="76" y="66"/>
                  </a:cubicBezTo>
                  <a:cubicBezTo>
                    <a:pt x="81" y="97"/>
                    <a:pt x="90" y="125"/>
                    <a:pt x="95" y="126"/>
                  </a:cubicBezTo>
                  <a:cubicBezTo>
                    <a:pt x="100" y="125"/>
                    <a:pt x="108" y="97"/>
                    <a:pt x="113" y="66"/>
                  </a:cubicBezTo>
                  <a:cubicBezTo>
                    <a:pt x="117" y="41"/>
                    <a:pt x="126" y="0"/>
                    <a:pt x="140" y="0"/>
                  </a:cubicBezTo>
                  <a:cubicBezTo>
                    <a:pt x="154" y="0"/>
                    <a:pt x="162" y="41"/>
                    <a:pt x="166" y="66"/>
                  </a:cubicBezTo>
                  <a:cubicBezTo>
                    <a:pt x="171" y="97"/>
                    <a:pt x="180" y="125"/>
                    <a:pt x="185" y="126"/>
                  </a:cubicBezTo>
                  <a:cubicBezTo>
                    <a:pt x="187" y="126"/>
                    <a:pt x="189" y="128"/>
                    <a:pt x="189" y="130"/>
                  </a:cubicBezTo>
                  <a:cubicBezTo>
                    <a:pt x="189" y="132"/>
                    <a:pt x="187" y="134"/>
                    <a:pt x="185" y="134"/>
                  </a:cubicBezTo>
                  <a:close/>
                </a:path>
              </a:pathLst>
            </a:custGeom>
            <a:grpFill/>
            <a:ln w="9525">
              <a:solidFill>
                <a:srgbClr val="FFFFFF"/>
              </a:solidFill>
              <a:round/>
              <a:headEnd/>
              <a:tailEnd/>
            </a:ln>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Freeform 29"/>
            <p:cNvSpPr>
              <a:spLocks/>
            </p:cNvSpPr>
            <p:nvPr/>
          </p:nvSpPr>
          <p:spPr bwMode="auto">
            <a:xfrm>
              <a:off x="4932951" y="3442368"/>
              <a:ext cx="292023" cy="239657"/>
            </a:xfrm>
            <a:custGeom>
              <a:avLst/>
              <a:gdLst/>
              <a:ahLst/>
              <a:cxnLst>
                <a:cxn ang="0">
                  <a:pos x="127" y="130"/>
                </a:cxn>
                <a:cxn ang="0">
                  <a:pos x="122" y="130"/>
                </a:cxn>
                <a:cxn ang="0">
                  <a:pos x="98" y="65"/>
                </a:cxn>
                <a:cxn ang="0">
                  <a:pos x="77" y="4"/>
                </a:cxn>
                <a:cxn ang="0">
                  <a:pos x="56" y="65"/>
                </a:cxn>
                <a:cxn ang="0">
                  <a:pos x="32" y="130"/>
                </a:cxn>
                <a:cxn ang="0">
                  <a:pos x="7" y="65"/>
                </a:cxn>
                <a:cxn ang="0">
                  <a:pos x="0" y="33"/>
                </a:cxn>
                <a:cxn ang="0">
                  <a:pos x="2" y="30"/>
                </a:cxn>
                <a:cxn ang="0">
                  <a:pos x="4" y="31"/>
                </a:cxn>
                <a:cxn ang="0">
                  <a:pos x="11" y="65"/>
                </a:cxn>
                <a:cxn ang="0">
                  <a:pos x="32" y="126"/>
                </a:cxn>
                <a:cxn ang="0">
                  <a:pos x="52" y="65"/>
                </a:cxn>
                <a:cxn ang="0">
                  <a:pos x="77" y="0"/>
                </a:cxn>
                <a:cxn ang="0">
                  <a:pos x="102" y="65"/>
                </a:cxn>
                <a:cxn ang="0">
                  <a:pos x="122" y="126"/>
                </a:cxn>
                <a:cxn ang="0">
                  <a:pos x="127" y="126"/>
                </a:cxn>
                <a:cxn ang="0">
                  <a:pos x="148" y="65"/>
                </a:cxn>
                <a:cxn ang="0">
                  <a:pos x="155" y="32"/>
                </a:cxn>
                <a:cxn ang="0">
                  <a:pos x="157" y="31"/>
                </a:cxn>
                <a:cxn ang="0">
                  <a:pos x="159" y="33"/>
                </a:cxn>
                <a:cxn ang="0">
                  <a:pos x="152" y="65"/>
                </a:cxn>
                <a:cxn ang="0">
                  <a:pos x="127" y="130"/>
                </a:cxn>
              </a:cxnLst>
              <a:rect l="0" t="0" r="r" b="b"/>
              <a:pathLst>
                <a:path w="159" h="130">
                  <a:moveTo>
                    <a:pt x="127" y="130"/>
                  </a:moveTo>
                  <a:cubicBezTo>
                    <a:pt x="122" y="130"/>
                    <a:pt x="122" y="130"/>
                    <a:pt x="122" y="130"/>
                  </a:cubicBezTo>
                  <a:cubicBezTo>
                    <a:pt x="109" y="130"/>
                    <a:pt x="99" y="76"/>
                    <a:pt x="98" y="65"/>
                  </a:cubicBezTo>
                  <a:cubicBezTo>
                    <a:pt x="94" y="40"/>
                    <a:pt x="84" y="4"/>
                    <a:pt x="77" y="4"/>
                  </a:cubicBezTo>
                  <a:cubicBezTo>
                    <a:pt x="70" y="4"/>
                    <a:pt x="61" y="35"/>
                    <a:pt x="56" y="65"/>
                  </a:cubicBezTo>
                  <a:cubicBezTo>
                    <a:pt x="55" y="76"/>
                    <a:pt x="45" y="130"/>
                    <a:pt x="32" y="130"/>
                  </a:cubicBezTo>
                  <a:cubicBezTo>
                    <a:pt x="18" y="130"/>
                    <a:pt x="9" y="76"/>
                    <a:pt x="7" y="65"/>
                  </a:cubicBezTo>
                  <a:cubicBezTo>
                    <a:pt x="7" y="65"/>
                    <a:pt x="5" y="48"/>
                    <a:pt x="0" y="33"/>
                  </a:cubicBezTo>
                  <a:cubicBezTo>
                    <a:pt x="0" y="31"/>
                    <a:pt x="1" y="30"/>
                    <a:pt x="2" y="30"/>
                  </a:cubicBezTo>
                  <a:cubicBezTo>
                    <a:pt x="3" y="30"/>
                    <a:pt x="4" y="30"/>
                    <a:pt x="4" y="31"/>
                  </a:cubicBezTo>
                  <a:cubicBezTo>
                    <a:pt x="9" y="48"/>
                    <a:pt x="11" y="64"/>
                    <a:pt x="11" y="65"/>
                  </a:cubicBezTo>
                  <a:cubicBezTo>
                    <a:pt x="16" y="95"/>
                    <a:pt x="25" y="126"/>
                    <a:pt x="32" y="126"/>
                  </a:cubicBezTo>
                  <a:cubicBezTo>
                    <a:pt x="39" y="126"/>
                    <a:pt x="48" y="90"/>
                    <a:pt x="52" y="65"/>
                  </a:cubicBezTo>
                  <a:cubicBezTo>
                    <a:pt x="54" y="54"/>
                    <a:pt x="64" y="0"/>
                    <a:pt x="77" y="0"/>
                  </a:cubicBezTo>
                  <a:cubicBezTo>
                    <a:pt x="91" y="0"/>
                    <a:pt x="100" y="54"/>
                    <a:pt x="102" y="65"/>
                  </a:cubicBezTo>
                  <a:cubicBezTo>
                    <a:pt x="106" y="95"/>
                    <a:pt x="115" y="126"/>
                    <a:pt x="122" y="126"/>
                  </a:cubicBezTo>
                  <a:cubicBezTo>
                    <a:pt x="127" y="126"/>
                    <a:pt x="127" y="126"/>
                    <a:pt x="127" y="126"/>
                  </a:cubicBezTo>
                  <a:cubicBezTo>
                    <a:pt x="135" y="126"/>
                    <a:pt x="144" y="90"/>
                    <a:pt x="148" y="65"/>
                  </a:cubicBezTo>
                  <a:cubicBezTo>
                    <a:pt x="148" y="64"/>
                    <a:pt x="151" y="48"/>
                    <a:pt x="155" y="32"/>
                  </a:cubicBezTo>
                  <a:cubicBezTo>
                    <a:pt x="155" y="31"/>
                    <a:pt x="156" y="31"/>
                    <a:pt x="157" y="31"/>
                  </a:cubicBezTo>
                  <a:cubicBezTo>
                    <a:pt x="158" y="31"/>
                    <a:pt x="159" y="32"/>
                    <a:pt x="159" y="33"/>
                  </a:cubicBezTo>
                  <a:cubicBezTo>
                    <a:pt x="154" y="49"/>
                    <a:pt x="152" y="65"/>
                    <a:pt x="152" y="65"/>
                  </a:cubicBezTo>
                  <a:cubicBezTo>
                    <a:pt x="150" y="76"/>
                    <a:pt x="141" y="130"/>
                    <a:pt x="127" y="130"/>
                  </a:cubicBezTo>
                  <a:close/>
                </a:path>
              </a:pathLst>
            </a:custGeom>
            <a:grpFill/>
            <a:ln w="9525">
              <a:solidFill>
                <a:srgbClr val="FFFFFF"/>
              </a:solidFill>
              <a:round/>
              <a:headEnd/>
              <a:tailEnd/>
            </a:ln>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3" name="文本框 242"/>
          <p:cNvSpPr txBox="1"/>
          <p:nvPr/>
        </p:nvSpPr>
        <p:spPr>
          <a:xfrm>
            <a:off x="3615807" y="3162821"/>
            <a:ext cx="1384166" cy="400110"/>
          </a:xfrm>
          <a:prstGeom prst="rect">
            <a:avLst/>
          </a:prstGeom>
          <a:noFill/>
        </p:spPr>
        <p:txBody>
          <a:bodyPr wrap="square" rtlCol="0">
            <a:spAutoFit/>
          </a:bodyPr>
          <a:lstStyle/>
          <a:p>
            <a:pPr defTabSz="914478"/>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监控平台：应对业务高峰与低谷</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4" name="图片 243"/>
          <p:cNvPicPr>
            <a:picLocks noChangeAspect="1"/>
          </p:cNvPicPr>
          <p:nvPr/>
        </p:nvPicPr>
        <p:blipFill>
          <a:blip r:embed="rId3"/>
          <a:stretch>
            <a:fillRect/>
          </a:stretch>
        </p:blipFill>
        <p:spPr>
          <a:xfrm>
            <a:off x="4188605" y="2495195"/>
            <a:ext cx="622253" cy="612459"/>
          </a:xfrm>
          <a:prstGeom prst="rect">
            <a:avLst/>
          </a:prstGeom>
        </p:spPr>
      </p:pic>
      <p:cxnSp>
        <p:nvCxnSpPr>
          <p:cNvPr id="245" name="直接箭头连接符 244"/>
          <p:cNvCxnSpPr/>
          <p:nvPr/>
        </p:nvCxnSpPr>
        <p:spPr>
          <a:xfrm flipH="1">
            <a:off x="2844851" y="3024542"/>
            <a:ext cx="1575535" cy="846283"/>
          </a:xfrm>
          <a:prstGeom prst="straightConnector1">
            <a:avLst/>
          </a:prstGeom>
          <a:noFill/>
          <a:ln w="9525" cap="flat" cmpd="sng" algn="ctr">
            <a:solidFill>
              <a:srgbClr val="4276AA">
                <a:shade val="95000"/>
                <a:satMod val="105000"/>
              </a:srgbClr>
            </a:solidFill>
            <a:prstDash val="solid"/>
            <a:tailEnd type="triangle"/>
          </a:ln>
          <a:effectLst/>
        </p:spPr>
      </p:cxnSp>
      <p:cxnSp>
        <p:nvCxnSpPr>
          <p:cNvPr id="246" name="直接箭头连接符 245"/>
          <p:cNvCxnSpPr/>
          <p:nvPr/>
        </p:nvCxnSpPr>
        <p:spPr>
          <a:xfrm flipH="1">
            <a:off x="3324334" y="3008982"/>
            <a:ext cx="1050581" cy="938011"/>
          </a:xfrm>
          <a:prstGeom prst="straightConnector1">
            <a:avLst/>
          </a:prstGeom>
          <a:noFill/>
          <a:ln w="9525" cap="flat" cmpd="sng" algn="ctr">
            <a:solidFill>
              <a:srgbClr val="4276AA">
                <a:shade val="95000"/>
                <a:satMod val="105000"/>
              </a:srgbClr>
            </a:solidFill>
            <a:prstDash val="solid"/>
            <a:tailEnd type="triangle"/>
          </a:ln>
          <a:effectLst/>
        </p:spPr>
      </p:cxnSp>
      <p:cxnSp>
        <p:nvCxnSpPr>
          <p:cNvPr id="247" name="直接箭头连接符 246"/>
          <p:cNvCxnSpPr/>
          <p:nvPr/>
        </p:nvCxnSpPr>
        <p:spPr>
          <a:xfrm flipH="1">
            <a:off x="3884707" y="3047603"/>
            <a:ext cx="465011" cy="855483"/>
          </a:xfrm>
          <a:prstGeom prst="straightConnector1">
            <a:avLst/>
          </a:prstGeom>
          <a:noFill/>
          <a:ln w="9525" cap="flat" cmpd="sng" algn="ctr">
            <a:solidFill>
              <a:srgbClr val="4276AA">
                <a:shade val="95000"/>
                <a:satMod val="105000"/>
              </a:srgbClr>
            </a:solidFill>
            <a:prstDash val="solid"/>
            <a:tailEnd type="triangle"/>
          </a:ln>
          <a:effectLst/>
        </p:spPr>
      </p:cxnSp>
      <p:sp>
        <p:nvSpPr>
          <p:cNvPr id="4" name="圆角矩形 3"/>
          <p:cNvSpPr/>
          <p:nvPr/>
        </p:nvSpPr>
        <p:spPr>
          <a:xfrm>
            <a:off x="9985809" y="5501060"/>
            <a:ext cx="928954" cy="203739"/>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RDS</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数据库</a:t>
            </a:r>
          </a:p>
        </p:txBody>
      </p:sp>
      <p:cxnSp>
        <p:nvCxnSpPr>
          <p:cNvPr id="6" name="直接箭头连接符 5"/>
          <p:cNvCxnSpPr/>
          <p:nvPr/>
        </p:nvCxnSpPr>
        <p:spPr>
          <a:xfrm>
            <a:off x="7738428" y="4824715"/>
            <a:ext cx="2497473" cy="687771"/>
          </a:xfrm>
          <a:prstGeom prst="straightConnector1">
            <a:avLst/>
          </a:prstGeom>
          <a:ln>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8" name="直接箭头连接符 247"/>
          <p:cNvCxnSpPr>
            <a:endCxn id="4" idx="0"/>
          </p:cNvCxnSpPr>
          <p:nvPr/>
        </p:nvCxnSpPr>
        <p:spPr>
          <a:xfrm>
            <a:off x="8840994" y="4822068"/>
            <a:ext cx="1609293" cy="678992"/>
          </a:xfrm>
          <a:prstGeom prst="straightConnector1">
            <a:avLst/>
          </a:prstGeom>
          <a:ln>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9" name="直接箭头连接符 248"/>
          <p:cNvCxnSpPr>
            <a:endCxn id="4" idx="0"/>
          </p:cNvCxnSpPr>
          <p:nvPr/>
        </p:nvCxnSpPr>
        <p:spPr>
          <a:xfrm>
            <a:off x="9968426" y="4768149"/>
            <a:ext cx="481861" cy="732910"/>
          </a:xfrm>
          <a:prstGeom prst="straightConnector1">
            <a:avLst/>
          </a:prstGeom>
          <a:ln>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572765" y="1633659"/>
            <a:ext cx="1890083" cy="467116"/>
          </a:xfrm>
          <a:prstGeom prst="rect">
            <a:avLst/>
          </a:prstGeom>
          <a:noFill/>
        </p:spPr>
        <p:txBody>
          <a:bodyPr wrap="square" rtlCol="0">
            <a:spAutoFit/>
          </a:bodyPr>
          <a:lstStyle/>
          <a:p>
            <a:pPr algn="l">
              <a:lnSpc>
                <a:spcPts val="3440"/>
              </a:lnSpc>
            </a:pPr>
            <a:r>
              <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公网：网线 </a:t>
            </a:r>
            <a:r>
              <a:rPr lang="en-US" altLang="zh-CN"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VS EIP</a:t>
            </a:r>
            <a:endPar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0" name="文本框 249"/>
          <p:cNvSpPr txBox="1"/>
          <p:nvPr/>
        </p:nvSpPr>
        <p:spPr>
          <a:xfrm>
            <a:off x="4647105" y="2364876"/>
            <a:ext cx="3268884" cy="467116"/>
          </a:xfrm>
          <a:prstGeom prst="rect">
            <a:avLst/>
          </a:prstGeom>
          <a:noFill/>
        </p:spPr>
        <p:txBody>
          <a:bodyPr wrap="square" rtlCol="0">
            <a:spAutoFit/>
          </a:bodyPr>
          <a:lstStyle/>
          <a:p>
            <a:pPr algn="ctr">
              <a:lnSpc>
                <a:spcPts val="3440"/>
              </a:lnSpc>
            </a:pPr>
            <a:r>
              <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负载均衡：</a:t>
            </a:r>
            <a:r>
              <a:rPr lang="en-US" altLang="zh-CN" sz="1400" dirty="0" err="1">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nginx</a:t>
            </a:r>
            <a:r>
              <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自建 </a:t>
            </a:r>
            <a:r>
              <a:rPr lang="en-US" altLang="zh-CN"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VS ELB</a:t>
            </a:r>
            <a:endPar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1" name="文本框 250"/>
          <p:cNvSpPr txBox="1"/>
          <p:nvPr/>
        </p:nvSpPr>
        <p:spPr>
          <a:xfrm>
            <a:off x="5138199" y="3564278"/>
            <a:ext cx="3268884" cy="467116"/>
          </a:xfrm>
          <a:prstGeom prst="rect">
            <a:avLst/>
          </a:prstGeom>
          <a:noFill/>
        </p:spPr>
        <p:txBody>
          <a:bodyPr wrap="square" rtlCol="0">
            <a:spAutoFit/>
          </a:bodyPr>
          <a:lstStyle/>
          <a:p>
            <a:pPr algn="l">
              <a:lnSpc>
                <a:spcPts val="3440"/>
              </a:lnSpc>
            </a:pPr>
            <a:r>
              <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弹性伸缩：自建监控 </a:t>
            </a:r>
            <a:r>
              <a:rPr lang="en-US" altLang="zh-CN"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VS AS</a:t>
            </a:r>
            <a:endPar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2" name="文本框 251"/>
          <p:cNvSpPr txBox="1"/>
          <p:nvPr/>
        </p:nvSpPr>
        <p:spPr>
          <a:xfrm>
            <a:off x="3639946" y="4117629"/>
            <a:ext cx="3153741" cy="528350"/>
          </a:xfrm>
          <a:prstGeom prst="rect">
            <a:avLst/>
          </a:prstGeom>
          <a:noFill/>
        </p:spPr>
        <p:txBody>
          <a:bodyPr wrap="square" rtlCol="0">
            <a:spAutoFit/>
          </a:bodyPr>
          <a:lstStyle/>
          <a:p>
            <a:pPr algn="l">
              <a:lnSpc>
                <a:spcPts val="3440"/>
              </a:lnSpc>
            </a:pPr>
            <a:r>
              <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服务器：物理服务器 </a:t>
            </a:r>
            <a:r>
              <a:rPr lang="en-US" altLang="zh-CN"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VS </a:t>
            </a:r>
            <a:r>
              <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华为云</a:t>
            </a:r>
            <a:r>
              <a:rPr lang="en-US" altLang="zh-CN"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400" dirty="0">
              <a:ln w="0"/>
              <a:solidFill>
                <a:srgbClr val="C00000"/>
              </a:solidFill>
              <a:effectLst>
                <a:outerShdw blurRad="38100" dist="25400" dir="5400000" algn="ctr" rotWithShape="0">
                  <a:srgbClr val="6E747A">
                    <a:alpha val="43000"/>
                  </a:srgbClr>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Freeform 35"/>
          <p:cNvSpPr>
            <a:spLocks noEditPoints="1"/>
          </p:cNvSpPr>
          <p:nvPr/>
        </p:nvSpPr>
        <p:spPr bwMode="auto">
          <a:xfrm>
            <a:off x="829822" y="2079652"/>
            <a:ext cx="564403" cy="374461"/>
          </a:xfrm>
          <a:custGeom>
            <a:avLst/>
            <a:gdLst/>
            <a:ahLst/>
            <a:cxnLst>
              <a:cxn ang="0">
                <a:pos x="14413" y="6228"/>
              </a:cxn>
              <a:cxn ang="0">
                <a:pos x="9353" y="6994"/>
              </a:cxn>
              <a:cxn ang="0">
                <a:pos x="8638" y="12659"/>
              </a:cxn>
              <a:cxn ang="0">
                <a:pos x="7871" y="1685"/>
              </a:cxn>
              <a:cxn ang="0">
                <a:pos x="7360" y="0"/>
              </a:cxn>
              <a:cxn ang="0">
                <a:pos x="3680" y="1685"/>
              </a:cxn>
              <a:cxn ang="0">
                <a:pos x="1534" y="12659"/>
              </a:cxn>
              <a:cxn ang="0">
                <a:pos x="0" y="13986"/>
              </a:cxn>
              <a:cxn ang="0">
                <a:pos x="15946" y="12659"/>
              </a:cxn>
              <a:cxn ang="0">
                <a:pos x="15334" y="6994"/>
              </a:cxn>
              <a:cxn ang="0">
                <a:pos x="5827" y="6125"/>
              </a:cxn>
              <a:cxn ang="0">
                <a:pos x="7002" y="8371"/>
              </a:cxn>
              <a:cxn ang="0">
                <a:pos x="5827" y="6125"/>
              </a:cxn>
              <a:cxn ang="0">
                <a:pos x="3731" y="9137"/>
              </a:cxn>
              <a:cxn ang="0">
                <a:pos x="2555" y="11382"/>
              </a:cxn>
              <a:cxn ang="0">
                <a:pos x="2555" y="3318"/>
              </a:cxn>
              <a:cxn ang="0">
                <a:pos x="3731" y="5564"/>
              </a:cxn>
              <a:cxn ang="0">
                <a:pos x="2555" y="3318"/>
              </a:cxn>
              <a:cxn ang="0">
                <a:pos x="10393" y="8065"/>
              </a:cxn>
              <a:cxn ang="0">
                <a:pos x="9525" y="9494"/>
              </a:cxn>
              <a:cxn ang="0">
                <a:pos x="13818" y="10464"/>
              </a:cxn>
              <a:cxn ang="0">
                <a:pos x="14687" y="11893"/>
              </a:cxn>
              <a:cxn ang="0">
                <a:pos x="13818" y="10464"/>
              </a:cxn>
              <a:cxn ang="0">
                <a:pos x="13256" y="10464"/>
              </a:cxn>
              <a:cxn ang="0">
                <a:pos x="12387" y="11893"/>
              </a:cxn>
              <a:cxn ang="0">
                <a:pos x="10955" y="10464"/>
              </a:cxn>
              <a:cxn ang="0">
                <a:pos x="11825" y="11893"/>
              </a:cxn>
              <a:cxn ang="0">
                <a:pos x="10955" y="10464"/>
              </a:cxn>
              <a:cxn ang="0">
                <a:pos x="10393" y="10464"/>
              </a:cxn>
              <a:cxn ang="0">
                <a:pos x="9525" y="11893"/>
              </a:cxn>
              <a:cxn ang="0">
                <a:pos x="13818" y="8065"/>
              </a:cxn>
              <a:cxn ang="0">
                <a:pos x="14687" y="9494"/>
              </a:cxn>
              <a:cxn ang="0">
                <a:pos x="13818" y="8065"/>
              </a:cxn>
              <a:cxn ang="0">
                <a:pos x="13256" y="8065"/>
              </a:cxn>
              <a:cxn ang="0">
                <a:pos x="12387" y="9494"/>
              </a:cxn>
              <a:cxn ang="0">
                <a:pos x="10955" y="8065"/>
              </a:cxn>
              <a:cxn ang="0">
                <a:pos x="11825" y="9494"/>
              </a:cxn>
              <a:cxn ang="0">
                <a:pos x="10955" y="8065"/>
              </a:cxn>
            </a:cxnLst>
            <a:rect l="0" t="0" r="r" b="b"/>
            <a:pathLst>
              <a:path w="16560" h="13986">
                <a:moveTo>
                  <a:pt x="14413" y="6994"/>
                </a:moveTo>
                <a:lnTo>
                  <a:pt x="14413" y="6228"/>
                </a:lnTo>
                <a:lnTo>
                  <a:pt x="9353" y="6228"/>
                </a:lnTo>
                <a:lnTo>
                  <a:pt x="9353" y="6994"/>
                </a:lnTo>
                <a:lnTo>
                  <a:pt x="8638" y="6994"/>
                </a:lnTo>
                <a:lnTo>
                  <a:pt x="8638" y="12659"/>
                </a:lnTo>
                <a:lnTo>
                  <a:pt x="7871" y="12659"/>
                </a:lnTo>
                <a:lnTo>
                  <a:pt x="7871" y="1685"/>
                </a:lnTo>
                <a:lnTo>
                  <a:pt x="7360" y="1685"/>
                </a:lnTo>
                <a:lnTo>
                  <a:pt x="7360" y="0"/>
                </a:lnTo>
                <a:lnTo>
                  <a:pt x="3680" y="1021"/>
                </a:lnTo>
                <a:lnTo>
                  <a:pt x="3680" y="1685"/>
                </a:lnTo>
                <a:lnTo>
                  <a:pt x="1534" y="1685"/>
                </a:lnTo>
                <a:lnTo>
                  <a:pt x="1534" y="12659"/>
                </a:lnTo>
                <a:lnTo>
                  <a:pt x="767" y="12659"/>
                </a:lnTo>
                <a:lnTo>
                  <a:pt x="0" y="13986"/>
                </a:lnTo>
                <a:lnTo>
                  <a:pt x="16560" y="13986"/>
                </a:lnTo>
                <a:lnTo>
                  <a:pt x="15946" y="12659"/>
                </a:lnTo>
                <a:lnTo>
                  <a:pt x="15334" y="12659"/>
                </a:lnTo>
                <a:lnTo>
                  <a:pt x="15334" y="6994"/>
                </a:lnTo>
                <a:lnTo>
                  <a:pt x="14413" y="6994"/>
                </a:lnTo>
                <a:close/>
                <a:moveTo>
                  <a:pt x="5827" y="6125"/>
                </a:moveTo>
                <a:lnTo>
                  <a:pt x="7002" y="6125"/>
                </a:lnTo>
                <a:lnTo>
                  <a:pt x="7002" y="8371"/>
                </a:lnTo>
                <a:lnTo>
                  <a:pt x="5827" y="8371"/>
                </a:lnTo>
                <a:lnTo>
                  <a:pt x="5827" y="6125"/>
                </a:lnTo>
                <a:close/>
                <a:moveTo>
                  <a:pt x="2555" y="9137"/>
                </a:moveTo>
                <a:lnTo>
                  <a:pt x="3731" y="9137"/>
                </a:lnTo>
                <a:lnTo>
                  <a:pt x="3731" y="11382"/>
                </a:lnTo>
                <a:lnTo>
                  <a:pt x="2555" y="11382"/>
                </a:lnTo>
                <a:lnTo>
                  <a:pt x="2555" y="9137"/>
                </a:lnTo>
                <a:close/>
                <a:moveTo>
                  <a:pt x="2555" y="3318"/>
                </a:moveTo>
                <a:lnTo>
                  <a:pt x="3731" y="3318"/>
                </a:lnTo>
                <a:lnTo>
                  <a:pt x="3731" y="5564"/>
                </a:lnTo>
                <a:lnTo>
                  <a:pt x="2555" y="5564"/>
                </a:lnTo>
                <a:lnTo>
                  <a:pt x="2555" y="3318"/>
                </a:lnTo>
                <a:close/>
                <a:moveTo>
                  <a:pt x="9525" y="8065"/>
                </a:moveTo>
                <a:lnTo>
                  <a:pt x="10393" y="8065"/>
                </a:lnTo>
                <a:lnTo>
                  <a:pt x="10393" y="9494"/>
                </a:lnTo>
                <a:lnTo>
                  <a:pt x="9525" y="9494"/>
                </a:lnTo>
                <a:lnTo>
                  <a:pt x="9525" y="8065"/>
                </a:lnTo>
                <a:close/>
                <a:moveTo>
                  <a:pt x="13818" y="10464"/>
                </a:moveTo>
                <a:lnTo>
                  <a:pt x="14687" y="10464"/>
                </a:lnTo>
                <a:lnTo>
                  <a:pt x="14687" y="11893"/>
                </a:lnTo>
                <a:lnTo>
                  <a:pt x="13818" y="11893"/>
                </a:lnTo>
                <a:lnTo>
                  <a:pt x="13818" y="10464"/>
                </a:lnTo>
                <a:close/>
                <a:moveTo>
                  <a:pt x="12387" y="10464"/>
                </a:moveTo>
                <a:lnTo>
                  <a:pt x="13256" y="10464"/>
                </a:lnTo>
                <a:lnTo>
                  <a:pt x="13256" y="11893"/>
                </a:lnTo>
                <a:lnTo>
                  <a:pt x="12387" y="11893"/>
                </a:lnTo>
                <a:lnTo>
                  <a:pt x="12387" y="10464"/>
                </a:lnTo>
                <a:close/>
                <a:moveTo>
                  <a:pt x="10955" y="10464"/>
                </a:moveTo>
                <a:lnTo>
                  <a:pt x="11825" y="10464"/>
                </a:lnTo>
                <a:lnTo>
                  <a:pt x="11825" y="11893"/>
                </a:lnTo>
                <a:lnTo>
                  <a:pt x="10955" y="11893"/>
                </a:lnTo>
                <a:lnTo>
                  <a:pt x="10955" y="10464"/>
                </a:lnTo>
                <a:close/>
                <a:moveTo>
                  <a:pt x="9525" y="10464"/>
                </a:moveTo>
                <a:lnTo>
                  <a:pt x="10393" y="10464"/>
                </a:lnTo>
                <a:lnTo>
                  <a:pt x="10393" y="11893"/>
                </a:lnTo>
                <a:lnTo>
                  <a:pt x="9525" y="11893"/>
                </a:lnTo>
                <a:lnTo>
                  <a:pt x="9525" y="10464"/>
                </a:lnTo>
                <a:close/>
                <a:moveTo>
                  <a:pt x="13818" y="8065"/>
                </a:moveTo>
                <a:lnTo>
                  <a:pt x="14687" y="8065"/>
                </a:lnTo>
                <a:lnTo>
                  <a:pt x="14687" y="9494"/>
                </a:lnTo>
                <a:lnTo>
                  <a:pt x="13818" y="9494"/>
                </a:lnTo>
                <a:lnTo>
                  <a:pt x="13818" y="8065"/>
                </a:lnTo>
                <a:close/>
                <a:moveTo>
                  <a:pt x="12387" y="8065"/>
                </a:moveTo>
                <a:lnTo>
                  <a:pt x="13256" y="8065"/>
                </a:lnTo>
                <a:lnTo>
                  <a:pt x="13256" y="9494"/>
                </a:lnTo>
                <a:lnTo>
                  <a:pt x="12387" y="9494"/>
                </a:lnTo>
                <a:lnTo>
                  <a:pt x="12387" y="8065"/>
                </a:lnTo>
                <a:close/>
                <a:moveTo>
                  <a:pt x="10955" y="8065"/>
                </a:moveTo>
                <a:lnTo>
                  <a:pt x="11825" y="8065"/>
                </a:lnTo>
                <a:lnTo>
                  <a:pt x="11825" y="9494"/>
                </a:lnTo>
                <a:lnTo>
                  <a:pt x="10955" y="9494"/>
                </a:lnTo>
                <a:lnTo>
                  <a:pt x="10955" y="8065"/>
                </a:lnTo>
                <a:close/>
              </a:path>
            </a:pathLst>
          </a:custGeom>
          <a:solidFill>
            <a:srgbClr val="FBA000"/>
          </a:solidFill>
          <a:ln w="9525">
            <a:noFill/>
            <a:round/>
            <a:headEnd/>
            <a:tailEnd/>
          </a:ln>
        </p:spPr>
        <p:txBody>
          <a:bodyPr vert="horz" wrap="square" lIns="121900" tIns="60950" rIns="121900" bIns="60950" numCol="1" anchor="t" anchorCtr="0" compatLnSpc="1">
            <a:prstTxWarp prst="textNoShape">
              <a:avLst/>
            </a:prstTxWarp>
          </a:bodyPr>
          <a:lstStyle/>
          <a:p>
            <a:pPr defTabSz="914112">
              <a:defRPr/>
            </a:pPr>
            <a:endParaRPr lang="zh-CN" altLang="en-US" sz="17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35362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b="1" dirty="0">
                <a:sym typeface="Huawei Sans" panose="020C0503030203020204" pitchFamily="34" charset="0"/>
              </a:rPr>
              <a:t>云上应用高可用部署实验</a:t>
            </a:r>
            <a:endParaRPr lang="en-US" altLang="zh-CN" b="1"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应用高可用架构介绍</a:t>
            </a:r>
            <a:endParaRPr lang="en-US" altLang="zh-CN" b="1" dirty="0">
              <a:solidFill>
                <a:schemeClr val="bg1">
                  <a:lumMod val="50000"/>
                </a:schemeClr>
              </a:solidFill>
              <a:sym typeface="Huawei Sans" panose="020C0503030203020204" pitchFamily="34" charset="0"/>
            </a:endParaRPr>
          </a:p>
          <a:p>
            <a:pPr lvl="1"/>
            <a:r>
              <a:rPr lang="zh-CN" altLang="en-US" dirty="0">
                <a:sym typeface="Huawei Sans" panose="020C0503030203020204" pitchFamily="34" charset="0"/>
              </a:rPr>
              <a:t>实验介绍</a:t>
            </a:r>
            <a:endParaRPr lang="en-US" altLang="zh-CN" dirty="0">
              <a:sym typeface="Huawei Sans" panose="020C0503030203020204" pitchFamily="34" charset="0"/>
            </a:endParaRPr>
          </a:p>
        </p:txBody>
      </p:sp>
    </p:spTree>
    <p:extLst>
      <p:ext uri="{BB962C8B-B14F-4D97-AF65-F5344CB8AC3E}">
        <p14:creationId xmlns:p14="http://schemas.microsoft.com/office/powerpoint/2010/main" val="3953317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a:sym typeface="Huawei Sans" panose="020C0503030203020204" pitchFamily="34" charset="0"/>
              </a:rPr>
              <a:t>云上应用高可用部署实验</a:t>
            </a:r>
          </a:p>
        </p:txBody>
      </p:sp>
      <p:sp>
        <p:nvSpPr>
          <p:cNvPr id="5" name="文本占位符 4"/>
          <p:cNvSpPr>
            <a:spLocks noGrp="1"/>
          </p:cNvSpPr>
          <p:nvPr>
            <p:ph type="body" sz="quarter" idx="10"/>
          </p:nvPr>
        </p:nvSpPr>
        <p:spPr>
          <a:xfrm>
            <a:off x="731838" y="1047750"/>
            <a:ext cx="4857432" cy="4879805"/>
          </a:xfrm>
        </p:spPr>
        <p:txBody>
          <a:bodyPr/>
          <a:lstStyle/>
          <a:p>
            <a:r>
              <a:rPr lang="zh-CN" altLang="en-US" dirty="0">
                <a:sym typeface="Huawei Sans" panose="020C0503030203020204" pitchFamily="34" charset="0"/>
              </a:rPr>
              <a:t>通过本实验，你能获得什么？</a:t>
            </a:r>
          </a:p>
          <a:p>
            <a:pPr lvl="1"/>
            <a:r>
              <a:rPr lang="zh-CN" altLang="en-US" sz="2000" dirty="0">
                <a:solidFill>
                  <a:prstClr val="black"/>
                </a:solidFill>
                <a:sym typeface="Huawei Sans" panose="020C0503030203020204" pitchFamily="34" charset="0"/>
              </a:rPr>
              <a:t>行业常见</a:t>
            </a:r>
            <a:r>
              <a:rPr lang="en-US" altLang="zh-CN" sz="2000" dirty="0">
                <a:solidFill>
                  <a:prstClr val="black"/>
                </a:solidFill>
                <a:sym typeface="Huawei Sans" panose="020C0503030203020204" pitchFamily="34" charset="0"/>
              </a:rPr>
              <a:t>Java Web</a:t>
            </a:r>
            <a:r>
              <a:rPr lang="zh-CN" altLang="en-US" sz="2000" dirty="0">
                <a:solidFill>
                  <a:prstClr val="black"/>
                </a:solidFill>
                <a:sym typeface="Huawei Sans" panose="020C0503030203020204" pitchFamily="34" charset="0"/>
              </a:rPr>
              <a:t>应用技术架构及部署到云服务上的通用方法</a:t>
            </a:r>
            <a:endParaRPr lang="zh-CN" altLang="en-US" dirty="0">
              <a:sym typeface="Huawei Sans" panose="020C0503030203020204" pitchFamily="34" charset="0"/>
            </a:endParaRPr>
          </a:p>
          <a:p>
            <a:pPr lvl="1"/>
            <a:r>
              <a:rPr lang="zh-CN" altLang="en-US" dirty="0">
                <a:sym typeface="Huawei Sans" panose="020C0503030203020204" pitchFamily="34" charset="0"/>
              </a:rPr>
              <a:t>掌握</a:t>
            </a:r>
            <a:r>
              <a:rPr lang="en-US" altLang="zh-CN" dirty="0" err="1">
                <a:sym typeface="Huawei Sans" panose="020C0503030203020204" pitchFamily="34" charset="0"/>
              </a:rPr>
              <a:t>GaussDB</a:t>
            </a:r>
            <a:r>
              <a:rPr lang="en-US" altLang="zh-CN" dirty="0">
                <a:sym typeface="Huawei Sans" panose="020C0503030203020204" pitchFamily="34" charset="0"/>
              </a:rPr>
              <a:t>(for MySQL)</a:t>
            </a:r>
            <a:r>
              <a:rPr lang="zh-CN" altLang="en-US" dirty="0">
                <a:sym typeface="Huawei Sans" panose="020C0503030203020204" pitchFamily="34" charset="0"/>
              </a:rPr>
              <a:t>数据库的云上迁移和部署方法</a:t>
            </a:r>
          </a:p>
          <a:p>
            <a:pPr lvl="1"/>
            <a:r>
              <a:rPr lang="zh-CN" altLang="en-US" dirty="0">
                <a:sym typeface="Huawei Sans" panose="020C0503030203020204" pitchFamily="34" charset="0"/>
              </a:rPr>
              <a:t>基于弹性负载均衡</a:t>
            </a:r>
            <a:r>
              <a:rPr lang="en-US" altLang="zh-CN" dirty="0">
                <a:sym typeface="Huawei Sans" panose="020C0503030203020204" pitchFamily="34" charset="0"/>
              </a:rPr>
              <a:t>ELB</a:t>
            </a:r>
            <a:r>
              <a:rPr lang="zh-CN" altLang="en-US" dirty="0">
                <a:sym typeface="Huawei Sans" panose="020C0503030203020204" pitchFamily="34" charset="0"/>
              </a:rPr>
              <a:t>、弹性伸缩</a:t>
            </a:r>
            <a:r>
              <a:rPr lang="en-US" altLang="zh-CN" dirty="0">
                <a:sym typeface="Huawei Sans" panose="020C0503030203020204" pitchFamily="34" charset="0"/>
              </a:rPr>
              <a:t>AS</a:t>
            </a:r>
            <a:r>
              <a:rPr lang="zh-CN" altLang="en-US" dirty="0">
                <a:sym typeface="Huawei Sans" panose="020C0503030203020204" pitchFamily="34" charset="0"/>
              </a:rPr>
              <a:t>构建高可用</a:t>
            </a:r>
            <a:r>
              <a:rPr lang="en-US" altLang="zh-CN" dirty="0">
                <a:sym typeface="Huawei Sans" panose="020C0503030203020204" pitchFamily="34" charset="0"/>
              </a:rPr>
              <a:t>Java Web</a:t>
            </a:r>
            <a:r>
              <a:rPr lang="zh-CN" altLang="en-US" dirty="0">
                <a:sym typeface="Huawei Sans" panose="020C0503030203020204" pitchFamily="34" charset="0"/>
              </a:rPr>
              <a:t>应用实战体验</a:t>
            </a:r>
          </a:p>
        </p:txBody>
      </p:sp>
      <p:pic>
        <p:nvPicPr>
          <p:cNvPr id="6" name="图片 5"/>
          <p:cNvPicPr>
            <a:picLocks noChangeAspect="1"/>
          </p:cNvPicPr>
          <p:nvPr/>
        </p:nvPicPr>
        <p:blipFill>
          <a:blip r:embed="rId3"/>
          <a:stretch>
            <a:fillRect/>
          </a:stretch>
        </p:blipFill>
        <p:spPr>
          <a:xfrm>
            <a:off x="5595004" y="1410159"/>
            <a:ext cx="5973870" cy="4186889"/>
          </a:xfrm>
          <a:prstGeom prst="rect">
            <a:avLst/>
          </a:prstGeom>
        </p:spPr>
      </p:pic>
    </p:spTree>
    <p:extLst>
      <p:ext uri="{BB962C8B-B14F-4D97-AF65-F5344CB8AC3E}">
        <p14:creationId xmlns:p14="http://schemas.microsoft.com/office/powerpoint/2010/main" val="1567335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mn-ea"/>
                <a:sym typeface="Huawei Sans" panose="020C0503030203020204" pitchFamily="34" charset="0"/>
              </a:rPr>
              <a:t>云上应用高可用部署实验概览</a:t>
            </a:r>
          </a:p>
        </p:txBody>
      </p:sp>
      <p:sp>
        <p:nvSpPr>
          <p:cNvPr id="8" name="文本框 7"/>
          <p:cNvSpPr txBox="1"/>
          <p:nvPr/>
        </p:nvSpPr>
        <p:spPr>
          <a:xfrm>
            <a:off x="1189267" y="2163546"/>
            <a:ext cx="3263918" cy="369332"/>
          </a:xfrm>
          <a:prstGeom prst="rect">
            <a:avLst/>
          </a:prstGeom>
          <a:noFill/>
        </p:spPr>
        <p:txBody>
          <a:bodyPr wrap="square" rtlCol="0">
            <a:spAutoFit/>
          </a:bodyPr>
          <a:lstStyle/>
          <a:p>
            <a:pPr algn="ct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云平台部署</a:t>
            </a:r>
            <a:r>
              <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rPr>
              <a:t>OA</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系统应用</a:t>
            </a:r>
          </a:p>
        </p:txBody>
      </p:sp>
      <p:sp>
        <p:nvSpPr>
          <p:cNvPr id="10" name="文本框 9"/>
          <p:cNvSpPr txBox="1"/>
          <p:nvPr/>
        </p:nvSpPr>
        <p:spPr>
          <a:xfrm>
            <a:off x="7063080" y="2163545"/>
            <a:ext cx="2913480" cy="369332"/>
          </a:xfrm>
          <a:prstGeom prst="rect">
            <a:avLst/>
          </a:prstGeom>
          <a:noFill/>
        </p:spPr>
        <p:txBody>
          <a:bodyPr wrap="square" rtlCol="0">
            <a:spAutoFit/>
          </a:bodyPr>
          <a:lstStyle/>
          <a:p>
            <a:pPr algn="ct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云平台</a:t>
            </a:r>
            <a:r>
              <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rPr>
              <a:t>OA</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系统高可用部署</a:t>
            </a:r>
          </a:p>
        </p:txBody>
      </p:sp>
      <p:cxnSp>
        <p:nvCxnSpPr>
          <p:cNvPr id="21" name="直接连接符 20"/>
          <p:cNvCxnSpPr/>
          <p:nvPr/>
        </p:nvCxnSpPr>
        <p:spPr>
          <a:xfrm flipH="1">
            <a:off x="5849262" y="2169828"/>
            <a:ext cx="12192" cy="28651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10915135" y="2153357"/>
            <a:ext cx="12192" cy="28651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29900" y="3442062"/>
            <a:ext cx="2066591" cy="156966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鲲鹏</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ECS</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购买</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安装</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JDK</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p>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克隆项目</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文本框 13"/>
          <p:cNvSpPr txBox="1"/>
          <p:nvPr/>
        </p:nvSpPr>
        <p:spPr>
          <a:xfrm>
            <a:off x="6791410" y="3442062"/>
            <a:ext cx="2114681" cy="1569660"/>
          </a:xfrm>
          <a:prstGeom prst="rect">
            <a:avLst/>
          </a:prstGeom>
          <a:noFill/>
        </p:spPr>
        <p:txBody>
          <a:bodyPr wrap="none" rtlCol="0">
            <a:spAutoFit/>
          </a:bodyPr>
          <a:lstStyle/>
          <a:p>
            <a:pPr marL="285750" lvl="0" indent="-285750">
              <a:lnSpc>
                <a:spcPct val="150000"/>
              </a:lnSpc>
              <a:buFont typeface="Arial" panose="020B0604020202020204" pitchFamily="34" charset="0"/>
              <a:buChar char="•"/>
              <a:defRP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配置弹性负载均衡</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lvl="0" indent="-285750">
              <a:lnSpc>
                <a:spcPct val="150000"/>
              </a:lnSpc>
              <a:buFont typeface="Arial" panose="020B0604020202020204" pitchFamily="34" charset="0"/>
              <a:buChar char="•"/>
              <a:defRP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配置弹性伸缩</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lvl="0" indent="-285750">
              <a:lnSpc>
                <a:spcPct val="150000"/>
              </a:lnSpc>
              <a:buFont typeface="Arial" panose="020B0604020202020204" pitchFamily="34" charset="0"/>
              <a:buChar char="•"/>
              <a:defRPr/>
            </a:pP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a:p>
            <a:pPr marL="285750" lvl="0" indent="-285750">
              <a:lnSpc>
                <a:spcPct val="150000"/>
              </a:lnSpc>
              <a:buFont typeface="Arial" panose="020B0604020202020204" pitchFamily="34" charset="0"/>
              <a:buChar char="•"/>
              <a:defRPr/>
            </a:pP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矩形 23"/>
          <p:cNvSpPr/>
          <p:nvPr/>
        </p:nvSpPr>
        <p:spPr>
          <a:xfrm>
            <a:off x="1051620" y="1961167"/>
            <a:ext cx="3743664" cy="778604"/>
          </a:xfrm>
          <a:prstGeom prst="rect">
            <a:avLst/>
          </a:prstGeom>
          <a:noFill/>
          <a:ln w="285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椭圆 24"/>
          <p:cNvSpPr/>
          <p:nvPr/>
        </p:nvSpPr>
        <p:spPr>
          <a:xfrm>
            <a:off x="761532" y="1606528"/>
            <a:ext cx="576064" cy="576064"/>
          </a:xfrm>
          <a:prstGeom prst="ellipse">
            <a:avLst/>
          </a:prstGeom>
          <a:solidFill>
            <a:srgbClr val="4870B9"/>
          </a:solidFill>
          <a:ln w="25400" cap="flat" cmpd="sng" algn="ctr">
            <a:solidFill>
              <a:srgbClr val="4870B9"/>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01</a:t>
            </a:r>
            <a:endParaRPr kumimoji="0" lang="zh-CN" altLang="en-US"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a:xfrm>
            <a:off x="6827287" y="1961167"/>
            <a:ext cx="3415081" cy="778604"/>
          </a:xfrm>
          <a:prstGeom prst="rect">
            <a:avLst/>
          </a:prstGeom>
          <a:noFill/>
          <a:ln w="28575">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椭圆 29"/>
          <p:cNvSpPr/>
          <p:nvPr/>
        </p:nvSpPr>
        <p:spPr>
          <a:xfrm>
            <a:off x="6589453" y="1606528"/>
            <a:ext cx="576064" cy="576064"/>
          </a:xfrm>
          <a:prstGeom prst="ellipse">
            <a:avLst/>
          </a:prstGeom>
          <a:solidFill>
            <a:srgbClr val="ED6D00"/>
          </a:solidFill>
          <a:ln w="25400" cap="flat" cmpd="sng" algn="ctr">
            <a:solidFill>
              <a:srgbClr val="ED6D00"/>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02</a:t>
            </a:r>
            <a:endParaRPr kumimoji="0" lang="zh-CN" altLang="en-US"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右箭头 6"/>
          <p:cNvSpPr/>
          <p:nvPr/>
        </p:nvSpPr>
        <p:spPr>
          <a:xfrm>
            <a:off x="936899" y="2907444"/>
            <a:ext cx="10523264" cy="694944"/>
          </a:xfrm>
          <a:prstGeom prst="right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 name="矩形 2"/>
          <p:cNvSpPr/>
          <p:nvPr/>
        </p:nvSpPr>
        <p:spPr>
          <a:xfrm>
            <a:off x="747404" y="1437007"/>
            <a:ext cx="4441284" cy="4134231"/>
          </a:xfrm>
          <a:prstGeom prst="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762454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ECS</a:t>
            </a:r>
            <a:r>
              <a:rPr lang="zh-CN" altLang="en-US" dirty="0">
                <a:sym typeface="Huawei Sans" panose="020C0503030203020204" pitchFamily="34" charset="0"/>
              </a:rPr>
              <a:t>的概念及优势</a:t>
            </a:r>
          </a:p>
        </p:txBody>
      </p:sp>
      <p:sp>
        <p:nvSpPr>
          <p:cNvPr id="4" name="文本占位符 3"/>
          <p:cNvSpPr>
            <a:spLocks noGrp="1"/>
          </p:cNvSpPr>
          <p:nvPr>
            <p:ph type="body" sz="quarter" idx="10"/>
          </p:nvPr>
        </p:nvSpPr>
        <p:spPr/>
        <p:txBody>
          <a:bodyPr/>
          <a:lstStyle/>
          <a:p>
            <a:r>
              <a:rPr lang="zh-CN" altLang="en-US" dirty="0">
                <a:sym typeface="Huawei Sans" panose="020C0503030203020204" pitchFamily="34" charset="0"/>
              </a:rPr>
              <a:t>弹性云服务器（</a:t>
            </a:r>
            <a:r>
              <a:rPr lang="en-US" altLang="zh-CN" dirty="0">
                <a:sym typeface="Huawei Sans" panose="020C0503030203020204" pitchFamily="34" charset="0"/>
              </a:rPr>
              <a:t>Elastic Cloud Server</a:t>
            </a:r>
            <a:r>
              <a:rPr lang="zh-CN" altLang="en-US" dirty="0">
                <a:sym typeface="Huawei Sans" panose="020C0503030203020204" pitchFamily="34" charset="0"/>
              </a:rPr>
              <a:t>）是一种可随时自助获取、可弹性伸缩的云服务器，帮助用户打造可靠、安全、灵活、高效的应用环境。</a:t>
            </a:r>
            <a:endParaRPr lang="en-US" altLang="zh-CN" dirty="0">
              <a:sym typeface="Huawei Sans" panose="020C0503030203020204" pitchFamily="34" charset="0"/>
            </a:endParaRPr>
          </a:p>
        </p:txBody>
      </p:sp>
      <p:grpSp>
        <p:nvGrpSpPr>
          <p:cNvPr id="5" name="组合 39"/>
          <p:cNvGrpSpPr/>
          <p:nvPr/>
        </p:nvGrpSpPr>
        <p:grpSpPr>
          <a:xfrm>
            <a:off x="3946664" y="2291745"/>
            <a:ext cx="4274271" cy="3611096"/>
            <a:chOff x="2506759" y="1436278"/>
            <a:chExt cx="3986661" cy="3128712"/>
          </a:xfrm>
        </p:grpSpPr>
        <p:grpSp>
          <p:nvGrpSpPr>
            <p:cNvPr id="6" name="组合 38"/>
            <p:cNvGrpSpPr>
              <a:grpSpLocks/>
            </p:cNvGrpSpPr>
            <p:nvPr/>
          </p:nvGrpSpPr>
          <p:grpSpPr bwMode="auto">
            <a:xfrm>
              <a:off x="3819897" y="1666010"/>
              <a:ext cx="1404987" cy="1047911"/>
              <a:chOff x="-108604" y="80473"/>
              <a:chExt cx="1998038" cy="1489818"/>
            </a:xfrm>
          </p:grpSpPr>
          <p:sp>
            <p:nvSpPr>
              <p:cNvPr id="22" name="六边形 39"/>
              <p:cNvSpPr>
                <a:spLocks noChangeArrowheads="1"/>
              </p:cNvSpPr>
              <p:nvPr/>
            </p:nvSpPr>
            <p:spPr bwMode="auto">
              <a:xfrm>
                <a:off x="39730" y="80473"/>
                <a:ext cx="1728193" cy="1489818"/>
              </a:xfrm>
              <a:prstGeom prst="hexagon">
                <a:avLst>
                  <a:gd name="adj" fmla="val 24999"/>
                  <a:gd name="vf" fmla="val 115470"/>
                </a:avLst>
              </a:prstGeom>
              <a:solidFill>
                <a:srgbClr val="3B79CE"/>
              </a:solidFill>
              <a:ln w="25400" cap="flat" cmpd="sng">
                <a:noFill/>
                <a:bevel/>
                <a:headEnd/>
                <a:tailEnd/>
              </a:ln>
            </p:spPr>
            <p:txBody>
              <a:bodyPr anchor="ctr"/>
              <a:lstStyle/>
              <a:p>
                <a:pPr algn="ctr" defTabSz="1219352" fontAlgn="auto">
                  <a:spcBef>
                    <a:spcPts val="0"/>
                  </a:spcBef>
                  <a:spcAft>
                    <a:spcPts val="0"/>
                  </a:spcAft>
                  <a:defRPr/>
                </a:pPr>
                <a:endParaRPr lang="zh-CN" altLang="zh-CN" sz="20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40"/>
              <p:cNvSpPr>
                <a:spLocks noChangeArrowheads="1"/>
              </p:cNvSpPr>
              <p:nvPr/>
            </p:nvSpPr>
            <p:spPr bwMode="auto">
              <a:xfrm>
                <a:off x="-108604" y="522448"/>
                <a:ext cx="1998038" cy="492850"/>
              </a:xfrm>
              <a:prstGeom prst="rect">
                <a:avLst/>
              </a:prstGeom>
              <a:noFill/>
              <a:ln w="9525">
                <a:noFill/>
                <a:miter lim="800000"/>
                <a:headEnd/>
                <a:tailEnd/>
              </a:ln>
            </p:spPr>
            <p:txBody>
              <a:bodyPr wrap="square">
                <a:spAutoFit/>
              </a:bodyPr>
              <a:lstStyle/>
              <a:p>
                <a:pPr algn="ctr"/>
                <a:r>
                  <a:rPr lang="zh-CN" altLang="en-US" sz="20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安全保障</a:t>
                </a:r>
              </a:p>
            </p:txBody>
          </p:sp>
        </p:grpSp>
        <p:grpSp>
          <p:nvGrpSpPr>
            <p:cNvPr id="7" name="组合 50"/>
            <p:cNvGrpSpPr>
              <a:grpSpLocks/>
            </p:cNvGrpSpPr>
            <p:nvPr/>
          </p:nvGrpSpPr>
          <p:grpSpPr bwMode="auto">
            <a:xfrm>
              <a:off x="3927870" y="3518192"/>
              <a:ext cx="1271110" cy="1046798"/>
              <a:chOff x="44943" y="1189744"/>
              <a:chExt cx="1807649" cy="1489822"/>
            </a:xfrm>
          </p:grpSpPr>
          <p:sp>
            <p:nvSpPr>
              <p:cNvPr id="20" name="六边形 51"/>
              <p:cNvSpPr>
                <a:spLocks noChangeArrowheads="1"/>
              </p:cNvSpPr>
              <p:nvPr/>
            </p:nvSpPr>
            <p:spPr bwMode="auto">
              <a:xfrm>
                <a:off x="100225" y="1189744"/>
                <a:ext cx="1728192" cy="1489822"/>
              </a:xfrm>
              <a:prstGeom prst="hexagon">
                <a:avLst>
                  <a:gd name="adj" fmla="val 24999"/>
                  <a:gd name="vf" fmla="val 115470"/>
                </a:avLst>
              </a:prstGeom>
              <a:solidFill>
                <a:srgbClr val="00B0F0"/>
              </a:solidFill>
              <a:ln w="25400" cap="flat" cmpd="sng">
                <a:noFill/>
                <a:bevel/>
                <a:headEnd/>
                <a:tailEnd/>
              </a:ln>
            </p:spPr>
            <p:txBody>
              <a:bodyPr anchor="ctr"/>
              <a:lstStyle/>
              <a:p>
                <a:pPr algn="ctr" defTabSz="1219352" fontAlgn="auto">
                  <a:spcBef>
                    <a:spcPts val="0"/>
                  </a:spcBef>
                  <a:spcAft>
                    <a:spcPts val="0"/>
                  </a:spcAft>
                  <a:defRPr/>
                </a:pPr>
                <a:endParaRPr lang="zh-CN" altLang="zh-CN" sz="20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52"/>
              <p:cNvSpPr>
                <a:spLocks noChangeArrowheads="1"/>
              </p:cNvSpPr>
              <p:nvPr/>
            </p:nvSpPr>
            <p:spPr bwMode="auto">
              <a:xfrm>
                <a:off x="44943" y="1680307"/>
                <a:ext cx="1807649" cy="493375"/>
              </a:xfrm>
              <a:prstGeom prst="rect">
                <a:avLst/>
              </a:prstGeom>
              <a:noFill/>
              <a:ln w="9525">
                <a:noFill/>
                <a:miter lim="800000"/>
                <a:headEnd/>
                <a:tailEnd/>
              </a:ln>
            </p:spPr>
            <p:txBody>
              <a:bodyPr wrap="square">
                <a:spAutoFit/>
              </a:bodyPr>
              <a:lstStyle/>
              <a:p>
                <a:pPr algn="ctr" defTabSz="1219352" fontAlgn="auto">
                  <a:spcBef>
                    <a:spcPts val="0"/>
                  </a:spcBef>
                  <a:spcAft>
                    <a:spcPts val="0"/>
                  </a:spcAft>
                  <a:defRPr/>
                </a:pPr>
                <a:r>
                  <a:rPr lang="zh-CN" altLang="en-US" sz="20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弹性伸缩</a:t>
                </a:r>
              </a:p>
            </p:txBody>
          </p:sp>
        </p:grpSp>
        <p:grpSp>
          <p:nvGrpSpPr>
            <p:cNvPr id="8" name="组合 53"/>
            <p:cNvGrpSpPr>
              <a:grpSpLocks/>
            </p:cNvGrpSpPr>
            <p:nvPr/>
          </p:nvGrpSpPr>
          <p:grpSpPr bwMode="auto">
            <a:xfrm>
              <a:off x="2800584" y="2662370"/>
              <a:ext cx="1269994" cy="1046797"/>
              <a:chOff x="-159964" y="-805048"/>
              <a:chExt cx="1807650" cy="1489821"/>
            </a:xfrm>
          </p:grpSpPr>
          <p:sp>
            <p:nvSpPr>
              <p:cNvPr id="18" name="六边形 54"/>
              <p:cNvSpPr>
                <a:spLocks noChangeArrowheads="1"/>
              </p:cNvSpPr>
              <p:nvPr/>
            </p:nvSpPr>
            <p:spPr bwMode="auto">
              <a:xfrm>
                <a:off x="-126257" y="-805048"/>
                <a:ext cx="1728192" cy="1489821"/>
              </a:xfrm>
              <a:prstGeom prst="hexagon">
                <a:avLst>
                  <a:gd name="adj" fmla="val 24999"/>
                  <a:gd name="vf" fmla="val 115470"/>
                </a:avLst>
              </a:prstGeom>
              <a:solidFill>
                <a:srgbClr val="FFC000"/>
              </a:solidFill>
              <a:ln w="25400" cap="flat" cmpd="sng">
                <a:noFill/>
                <a:bevel/>
                <a:headEnd/>
                <a:tailEnd/>
              </a:ln>
            </p:spPr>
            <p:txBody>
              <a:bodyPr anchor="ctr"/>
              <a:lstStyle/>
              <a:p>
                <a:pPr algn="ctr" defTabSz="1219352" fontAlgn="auto">
                  <a:spcBef>
                    <a:spcPts val="0"/>
                  </a:spcBef>
                  <a:spcAft>
                    <a:spcPts val="0"/>
                  </a:spcAft>
                  <a:defRPr/>
                </a:pPr>
                <a:endParaRPr lang="zh-CN" altLang="zh-CN" sz="20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55"/>
              <p:cNvSpPr>
                <a:spLocks noChangeArrowheads="1"/>
              </p:cNvSpPr>
              <p:nvPr/>
            </p:nvSpPr>
            <p:spPr bwMode="auto">
              <a:xfrm>
                <a:off x="-159964" y="-314485"/>
                <a:ext cx="1807650" cy="493375"/>
              </a:xfrm>
              <a:prstGeom prst="rect">
                <a:avLst/>
              </a:prstGeom>
              <a:noFill/>
              <a:ln w="9525">
                <a:noFill/>
                <a:miter lim="800000"/>
                <a:headEnd/>
                <a:tailEnd/>
              </a:ln>
            </p:spPr>
            <p:txBody>
              <a:bodyPr>
                <a:spAutoFit/>
              </a:bodyPr>
              <a:lstStyle/>
              <a:p>
                <a:pPr algn="ctr" defTabSz="1219352" fontAlgn="auto">
                  <a:spcBef>
                    <a:spcPts val="0"/>
                  </a:spcBef>
                  <a:spcAft>
                    <a:spcPts val="0"/>
                  </a:spcAft>
                  <a:defRPr/>
                </a:pPr>
                <a:r>
                  <a:rPr lang="zh-CN" altLang="en-US" sz="20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稳定可靠</a:t>
                </a:r>
              </a:p>
            </p:txBody>
          </p:sp>
        </p:grpSp>
        <p:grpSp>
          <p:nvGrpSpPr>
            <p:cNvPr id="9" name="组合 56"/>
            <p:cNvGrpSpPr>
              <a:grpSpLocks/>
            </p:cNvGrpSpPr>
            <p:nvPr/>
          </p:nvGrpSpPr>
          <p:grpSpPr bwMode="auto">
            <a:xfrm>
              <a:off x="4949951" y="2697615"/>
              <a:ext cx="1421713" cy="1046797"/>
              <a:chOff x="108125" y="-750824"/>
              <a:chExt cx="2021824" cy="1489821"/>
            </a:xfrm>
          </p:grpSpPr>
          <p:sp>
            <p:nvSpPr>
              <p:cNvPr id="16" name="六边形 57"/>
              <p:cNvSpPr>
                <a:spLocks noChangeArrowheads="1"/>
              </p:cNvSpPr>
              <p:nvPr/>
            </p:nvSpPr>
            <p:spPr bwMode="auto">
              <a:xfrm>
                <a:off x="205570" y="-750824"/>
                <a:ext cx="1728192" cy="1489821"/>
              </a:xfrm>
              <a:prstGeom prst="hexagon">
                <a:avLst>
                  <a:gd name="adj" fmla="val 24999"/>
                  <a:gd name="vf" fmla="val 115470"/>
                </a:avLst>
              </a:prstGeom>
              <a:solidFill>
                <a:srgbClr val="FD7A2A"/>
              </a:solidFill>
              <a:ln w="25400" cap="flat" cmpd="sng">
                <a:noFill/>
                <a:bevel/>
                <a:headEnd/>
                <a:tailEnd/>
              </a:ln>
            </p:spPr>
            <p:txBody>
              <a:bodyPr anchor="ctr"/>
              <a:lstStyle/>
              <a:p>
                <a:pPr algn="ctr" defTabSz="1219352" fontAlgn="auto">
                  <a:spcBef>
                    <a:spcPts val="0"/>
                  </a:spcBef>
                  <a:spcAft>
                    <a:spcPts val="0"/>
                  </a:spcAft>
                  <a:defRPr/>
                </a:pPr>
                <a:endParaRPr lang="zh-CN" altLang="zh-CN" sz="20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58"/>
              <p:cNvSpPr>
                <a:spLocks noChangeArrowheads="1"/>
              </p:cNvSpPr>
              <p:nvPr/>
            </p:nvSpPr>
            <p:spPr bwMode="auto">
              <a:xfrm>
                <a:off x="108125" y="-237381"/>
                <a:ext cx="2021824" cy="493375"/>
              </a:xfrm>
              <a:prstGeom prst="rect">
                <a:avLst/>
              </a:prstGeom>
              <a:noFill/>
              <a:ln w="9525">
                <a:noFill/>
                <a:miter lim="800000"/>
                <a:headEnd/>
                <a:tailEnd/>
              </a:ln>
            </p:spPr>
            <p:txBody>
              <a:bodyPr wrap="square">
                <a:spAutoFit/>
              </a:bodyPr>
              <a:lstStyle/>
              <a:p>
                <a:pPr algn="ctr"/>
                <a:r>
                  <a:rPr lang="zh-CN" altLang="en-US" sz="20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软硬结合</a:t>
                </a:r>
              </a:p>
            </p:txBody>
          </p:sp>
        </p:grpSp>
        <p:sp>
          <p:nvSpPr>
            <p:cNvPr id="10" name="直接连接符 25"/>
            <p:cNvSpPr>
              <a:spLocks noChangeShapeType="1"/>
            </p:cNvSpPr>
            <p:nvPr/>
          </p:nvSpPr>
          <p:spPr bwMode="auto">
            <a:xfrm flipH="1" flipV="1">
              <a:off x="4529590" y="1450068"/>
              <a:ext cx="0" cy="182876"/>
            </a:xfrm>
            <a:prstGeom prst="line">
              <a:avLst/>
            </a:prstGeom>
            <a:noFill/>
            <a:ln w="19050" cap="flat" cmpd="sng">
              <a:solidFill>
                <a:srgbClr val="3C78CE"/>
              </a:solidFill>
              <a:bevel/>
              <a:headEnd/>
              <a:tailEnd/>
            </a:ln>
          </p:spPr>
          <p:txBody>
            <a:bodyPr/>
            <a:lstStyle/>
            <a:p>
              <a:pPr defTabSz="1219352" fontAlgn="auto">
                <a:spcBef>
                  <a:spcPts val="0"/>
                </a:spcBef>
                <a:spcAft>
                  <a:spcPts val="0"/>
                </a:spcAft>
                <a:defRPr/>
              </a:pPr>
              <a:endParaRPr lang="zh-CN" altLang="en-US" sz="1600" kern="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直接连接符 26"/>
            <p:cNvSpPr>
              <a:spLocks noChangeShapeType="1"/>
            </p:cNvSpPr>
            <p:nvPr/>
          </p:nvSpPr>
          <p:spPr bwMode="auto">
            <a:xfrm flipV="1">
              <a:off x="3108342" y="1436278"/>
              <a:ext cx="2842496" cy="0"/>
            </a:xfrm>
            <a:prstGeom prst="line">
              <a:avLst/>
            </a:prstGeom>
            <a:noFill/>
            <a:ln w="19050" cap="flat" cmpd="sng">
              <a:solidFill>
                <a:srgbClr val="3C78CE"/>
              </a:solidFill>
              <a:bevel/>
              <a:headEnd/>
              <a:tailEnd/>
            </a:ln>
          </p:spPr>
          <p:txBody>
            <a:bodyPr/>
            <a:lstStyle/>
            <a:p>
              <a:pPr defTabSz="1219352" fontAlgn="auto">
                <a:spcBef>
                  <a:spcPts val="0"/>
                </a:spcBef>
                <a:spcAft>
                  <a:spcPts val="0"/>
                </a:spcAft>
                <a:defRPr/>
              </a:pPr>
              <a:endParaRPr lang="zh-CN" altLang="en-US" sz="1600" kern="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直接连接符 20"/>
            <p:cNvSpPr>
              <a:spLocks noChangeShapeType="1"/>
            </p:cNvSpPr>
            <p:nvPr/>
          </p:nvSpPr>
          <p:spPr bwMode="auto">
            <a:xfrm flipH="1">
              <a:off x="6262914" y="3173504"/>
              <a:ext cx="230506" cy="0"/>
            </a:xfrm>
            <a:prstGeom prst="line">
              <a:avLst/>
            </a:prstGeom>
            <a:noFill/>
            <a:ln w="19050" cap="flat" cmpd="sng">
              <a:solidFill>
                <a:srgbClr val="FF8500"/>
              </a:solidFill>
              <a:bevel/>
              <a:headEnd/>
              <a:tailEnd/>
            </a:ln>
          </p:spPr>
          <p:txBody>
            <a:bodyPr/>
            <a:lstStyle/>
            <a:p>
              <a:pPr defTabSz="1219352" fontAlgn="auto">
                <a:spcBef>
                  <a:spcPts val="0"/>
                </a:spcBef>
                <a:spcAft>
                  <a:spcPts val="0"/>
                </a:spcAft>
                <a:defRPr/>
              </a:pPr>
              <a:endParaRPr lang="zh-CN" altLang="en-US" sz="1600" kern="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直接连接符 21"/>
            <p:cNvSpPr>
              <a:spLocks noChangeShapeType="1"/>
            </p:cNvSpPr>
            <p:nvPr/>
          </p:nvSpPr>
          <p:spPr bwMode="auto">
            <a:xfrm flipH="1" flipV="1">
              <a:off x="6468973" y="2408049"/>
              <a:ext cx="24447" cy="1569725"/>
            </a:xfrm>
            <a:prstGeom prst="line">
              <a:avLst/>
            </a:prstGeom>
            <a:noFill/>
            <a:ln w="19050" cap="flat" cmpd="sng">
              <a:solidFill>
                <a:srgbClr val="FF8500"/>
              </a:solidFill>
              <a:bevel/>
              <a:headEnd/>
              <a:tailEnd/>
            </a:ln>
          </p:spPr>
          <p:txBody>
            <a:bodyPr/>
            <a:lstStyle/>
            <a:p>
              <a:pPr defTabSz="1219352" fontAlgn="auto">
                <a:spcBef>
                  <a:spcPts val="0"/>
                </a:spcBef>
                <a:spcAft>
                  <a:spcPts val="0"/>
                </a:spcAft>
                <a:defRPr/>
              </a:pPr>
              <a:endParaRPr lang="zh-CN" altLang="en-US" sz="1600" kern="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直接连接符 20"/>
            <p:cNvSpPr>
              <a:spLocks noChangeShapeType="1"/>
            </p:cNvSpPr>
            <p:nvPr/>
          </p:nvSpPr>
          <p:spPr bwMode="auto">
            <a:xfrm flipH="1">
              <a:off x="2531207" y="3211803"/>
              <a:ext cx="230506" cy="0"/>
            </a:xfrm>
            <a:prstGeom prst="line">
              <a:avLst/>
            </a:prstGeom>
            <a:noFill/>
            <a:ln w="19050" cap="flat" cmpd="sng">
              <a:solidFill>
                <a:srgbClr val="FF8500"/>
              </a:solidFill>
              <a:bevel/>
              <a:headEnd/>
              <a:tailEnd/>
            </a:ln>
          </p:spPr>
          <p:txBody>
            <a:bodyPr/>
            <a:lstStyle/>
            <a:p>
              <a:pPr defTabSz="1219352" fontAlgn="auto">
                <a:spcBef>
                  <a:spcPts val="0"/>
                </a:spcBef>
                <a:spcAft>
                  <a:spcPts val="0"/>
                </a:spcAft>
                <a:defRPr/>
              </a:pPr>
              <a:endParaRPr lang="zh-CN" altLang="en-US" sz="1600" kern="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直接连接符 21"/>
            <p:cNvSpPr>
              <a:spLocks noChangeShapeType="1"/>
            </p:cNvSpPr>
            <p:nvPr/>
          </p:nvSpPr>
          <p:spPr bwMode="auto">
            <a:xfrm flipH="1" flipV="1">
              <a:off x="2506759" y="2476019"/>
              <a:ext cx="24447" cy="1569728"/>
            </a:xfrm>
            <a:prstGeom prst="line">
              <a:avLst/>
            </a:prstGeom>
            <a:noFill/>
            <a:ln w="19050" cap="flat" cmpd="sng">
              <a:solidFill>
                <a:srgbClr val="FF8500"/>
              </a:solidFill>
              <a:bevel/>
              <a:headEnd/>
              <a:tailEnd/>
            </a:ln>
          </p:spPr>
          <p:txBody>
            <a:bodyPr/>
            <a:lstStyle/>
            <a:p>
              <a:pPr defTabSz="1219352" fontAlgn="auto">
                <a:spcBef>
                  <a:spcPts val="0"/>
                </a:spcBef>
                <a:spcAft>
                  <a:spcPts val="0"/>
                </a:spcAft>
                <a:defRPr/>
              </a:pPr>
              <a:endParaRPr lang="zh-CN" altLang="en-US" sz="1600" kern="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直接连接符 26"/>
          <p:cNvSpPr>
            <a:spLocks noChangeShapeType="1"/>
          </p:cNvSpPr>
          <p:nvPr/>
        </p:nvSpPr>
        <p:spPr bwMode="auto">
          <a:xfrm flipV="1">
            <a:off x="4541933" y="6214903"/>
            <a:ext cx="3047562" cy="0"/>
          </a:xfrm>
          <a:prstGeom prst="line">
            <a:avLst/>
          </a:prstGeom>
          <a:noFill/>
          <a:ln w="19050" cap="flat" cmpd="sng">
            <a:solidFill>
              <a:schemeClr val="tx2">
                <a:lumMod val="60000"/>
                <a:lumOff val="40000"/>
              </a:schemeClr>
            </a:solidFill>
            <a:bevel/>
            <a:headEnd/>
            <a:tailEnd/>
          </a:ln>
        </p:spPr>
        <p:txBody>
          <a:bodyPr/>
          <a:lstStyle/>
          <a:p>
            <a:pPr defTabSz="1219352" fontAlgn="auto">
              <a:spcBef>
                <a:spcPts val="0"/>
              </a:spcBef>
              <a:spcAft>
                <a:spcPts val="0"/>
              </a:spcAft>
              <a:defRPr/>
            </a:pPr>
            <a:endParaRPr lang="zh-CN" altLang="en-US" sz="1600" kern="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直接连接符 25"/>
          <p:cNvSpPr>
            <a:spLocks noChangeShapeType="1"/>
          </p:cNvSpPr>
          <p:nvPr/>
        </p:nvSpPr>
        <p:spPr bwMode="auto">
          <a:xfrm flipH="1" flipV="1">
            <a:off x="5880676" y="5989249"/>
            <a:ext cx="0" cy="211071"/>
          </a:xfrm>
          <a:prstGeom prst="line">
            <a:avLst/>
          </a:prstGeom>
          <a:noFill/>
          <a:ln w="19050" cap="flat" cmpd="sng">
            <a:solidFill>
              <a:srgbClr val="FF0000"/>
            </a:solidFill>
            <a:bevel/>
            <a:headEnd/>
            <a:tailEnd/>
          </a:ln>
        </p:spPr>
        <p:txBody>
          <a:bodyPr/>
          <a:lstStyle/>
          <a:p>
            <a:pPr defTabSz="1219352" fontAlgn="auto">
              <a:spcBef>
                <a:spcPts val="0"/>
              </a:spcBef>
              <a:spcAft>
                <a:spcPts val="0"/>
              </a:spcAft>
              <a:defRPr/>
            </a:pPr>
            <a:endParaRPr lang="zh-CN" altLang="en-US" sz="1600" kern="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39560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ECS</a:t>
            </a:r>
            <a:r>
              <a:rPr lang="zh-CN" altLang="en-US" dirty="0">
                <a:sym typeface="Huawei Sans" panose="020C0503030203020204" pitchFamily="34" charset="0"/>
              </a:rPr>
              <a:t>应用场景</a:t>
            </a:r>
          </a:p>
        </p:txBody>
      </p:sp>
      <p:graphicFrame>
        <p:nvGraphicFramePr>
          <p:cNvPr id="6" name="表格 5"/>
          <p:cNvGraphicFramePr>
            <a:graphicFrameLocks noGrp="1"/>
          </p:cNvGraphicFramePr>
          <p:nvPr>
            <p:extLst>
              <p:ext uri="{D42A27DB-BD31-4B8C-83A1-F6EECF244321}">
                <p14:modId xmlns:p14="http://schemas.microsoft.com/office/powerpoint/2010/main" val="1566010474"/>
              </p:ext>
            </p:extLst>
          </p:nvPr>
        </p:nvGraphicFramePr>
        <p:xfrm>
          <a:off x="1881837" y="1253062"/>
          <a:ext cx="8621405" cy="4704130"/>
        </p:xfrm>
        <a:graphic>
          <a:graphicData uri="http://schemas.openxmlformats.org/drawingml/2006/table">
            <a:tbl>
              <a:tblPr firstRow="1" bandRow="1">
                <a:tableStyleId>{21E4AEA4-8DFA-4A89-87EB-49C32662AFE0}</a:tableStyleId>
              </a:tblPr>
              <a:tblGrid>
                <a:gridCol w="3495294">
                  <a:extLst>
                    <a:ext uri="{9D8B030D-6E8A-4147-A177-3AD203B41FA5}">
                      <a16:colId xmlns:a16="http://schemas.microsoft.com/office/drawing/2014/main" val="20000"/>
                    </a:ext>
                  </a:extLst>
                </a:gridCol>
                <a:gridCol w="5126111">
                  <a:extLst>
                    <a:ext uri="{9D8B030D-6E8A-4147-A177-3AD203B41FA5}">
                      <a16:colId xmlns:a16="http://schemas.microsoft.com/office/drawing/2014/main" val="20001"/>
                    </a:ext>
                  </a:extLst>
                </a:gridCol>
              </a:tblGrid>
              <a:tr h="345490">
                <a:tc>
                  <a:txBody>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应用场景</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适用场景</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66703">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网站应用</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企业官网</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网站开发测试环境</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小型数据库应用</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66703">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企业电商</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广告精准营销</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电商</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移动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APP</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993874">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图形渲染</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高清视频</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图形渲染</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远程桌面</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工程制图</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39532">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数据分析</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err="1">
                          <a:latin typeface="Huawei Sans" panose="020C0503030203020204" pitchFamily="34" charset="0"/>
                          <a:ea typeface="方正兰亭黑简体" panose="02000000000000000000" pitchFamily="2" charset="-122"/>
                          <a:sym typeface="Huawei Sans" panose="020C0503030203020204" pitchFamily="34" charset="0"/>
                        </a:rPr>
                        <a:t>M</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apReduce</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sz="1600" dirty="0">
                          <a:latin typeface="Huawei Sans" panose="020C0503030203020204" pitchFamily="34" charset="0"/>
                          <a:ea typeface="方正兰亭黑简体" panose="02000000000000000000" pitchFamily="2" charset="-122"/>
                          <a:sym typeface="Huawei Sans" panose="020C0503030203020204" pitchFamily="34" charset="0"/>
                        </a:rPr>
                        <a:t>H</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adoop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计算密集型</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993874">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高性能计算</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科学计算</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基因工程</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游戏动画</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生物制药计算和存储系统</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37994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3500" dirty="0">
                <a:solidFill>
                  <a:schemeClr val="tx1"/>
                </a:solidFill>
                <a:cs typeface="+mn-ea"/>
                <a:sym typeface="Huawei Sans" panose="020C0503030203020204" pitchFamily="34" charset="0"/>
              </a:rPr>
              <a:t>华为云弹性云服务器型号和场景</a:t>
            </a:r>
          </a:p>
        </p:txBody>
      </p:sp>
      <p:sp>
        <p:nvSpPr>
          <p:cNvPr id="26" name="矩形 25"/>
          <p:cNvSpPr/>
          <p:nvPr/>
        </p:nvSpPr>
        <p:spPr>
          <a:xfrm>
            <a:off x="800216" y="3132733"/>
            <a:ext cx="3381054" cy="276999"/>
          </a:xfrm>
          <a:prstGeom prst="rect">
            <a:avLst/>
          </a:prstGeom>
        </p:spPr>
        <p:txBody>
          <a:bodyPr wrap="none">
            <a:spAutoFit/>
          </a:bodyPr>
          <a:lstStyle/>
          <a:p>
            <a:pPr algn="ctr" defTabSz="914478"/>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CPU:MEM=1:2/1:4 | 400</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万</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 PPS | 30G</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内网带宽</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7" name="直接连接符 26"/>
          <p:cNvCxnSpPr/>
          <p:nvPr/>
        </p:nvCxnSpPr>
        <p:spPr>
          <a:xfrm>
            <a:off x="4265982" y="1993186"/>
            <a:ext cx="0" cy="1339217"/>
          </a:xfrm>
          <a:prstGeom prst="line">
            <a:avLst/>
          </a:prstGeom>
          <a:noFill/>
          <a:ln w="6350" cap="flat" cmpd="sng" algn="ctr">
            <a:solidFill>
              <a:srgbClr val="DDDDDD"/>
            </a:solidFill>
            <a:prstDash val="solid"/>
            <a:miter lim="800000"/>
          </a:ln>
          <a:effectLst/>
        </p:spPr>
      </p:cxnSp>
      <p:sp>
        <p:nvSpPr>
          <p:cNvPr id="28" name="矩形 27"/>
          <p:cNvSpPr/>
          <p:nvPr/>
        </p:nvSpPr>
        <p:spPr>
          <a:xfrm>
            <a:off x="1582479" y="2610687"/>
            <a:ext cx="1816523" cy="553998"/>
          </a:xfrm>
          <a:prstGeom prst="rect">
            <a:avLst/>
          </a:prstGeom>
        </p:spPr>
        <p:txBody>
          <a:bodyPr wrap="none">
            <a:spAutoFit/>
          </a:bodyPr>
          <a:lstStyle/>
          <a:p>
            <a:pPr algn="ctr" defTabSz="914478"/>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通用型</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478"/>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通用计算增强型</a:t>
            </a: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KC1</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矩形 33"/>
          <p:cNvSpPr/>
          <p:nvPr/>
        </p:nvSpPr>
        <p:spPr>
          <a:xfrm>
            <a:off x="1100913" y="2155399"/>
            <a:ext cx="859531"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网站</a:t>
            </a:r>
            <a:r>
              <a:rPr kumimoji="0" lang="en-US" altLang="zh-CN"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电商</a:t>
            </a:r>
          </a:p>
        </p:txBody>
      </p:sp>
      <p:sp>
        <p:nvSpPr>
          <p:cNvPr id="35" name="椭圆 34"/>
          <p:cNvSpPr/>
          <p:nvPr/>
        </p:nvSpPr>
        <p:spPr>
          <a:xfrm>
            <a:off x="1294335" y="1695966"/>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矩形 35"/>
          <p:cNvSpPr/>
          <p:nvPr/>
        </p:nvSpPr>
        <p:spPr>
          <a:xfrm>
            <a:off x="1174187" y="1774710"/>
            <a:ext cx="702302" cy="276999"/>
          </a:xfrm>
          <a:prstGeom prst="rect">
            <a:avLst/>
          </a:prstGeom>
        </p:spPr>
        <p:txBody>
          <a:bodyPr wrap="squar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Web</a:t>
            </a:r>
            <a:endParaRPr kumimoji="0" lang="zh-CN" altLang="en-US" sz="12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矩形 37"/>
          <p:cNvSpPr/>
          <p:nvPr/>
        </p:nvSpPr>
        <p:spPr>
          <a:xfrm>
            <a:off x="1970575" y="2155399"/>
            <a:ext cx="492444"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游戏</a:t>
            </a:r>
          </a:p>
        </p:txBody>
      </p:sp>
      <p:sp>
        <p:nvSpPr>
          <p:cNvPr id="39" name="椭圆 38"/>
          <p:cNvSpPr/>
          <p:nvPr/>
        </p:nvSpPr>
        <p:spPr>
          <a:xfrm>
            <a:off x="1980455" y="1695966"/>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0" name="Picture 12" descr="âgame icon pngâçå¾çæç´¢ç»æ"/>
          <p:cNvPicPr>
            <a:picLocks noChangeAspect="1" noChangeArrowheads="1"/>
          </p:cNvPicPr>
          <p:nvPr/>
        </p:nvPicPr>
        <p:blipFill>
          <a:blip r:embed="rId3" cstate="print">
            <a:duotone>
              <a:srgbClr val="DDDDDD">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2053977" y="1772950"/>
            <a:ext cx="324724" cy="324724"/>
          </a:xfrm>
          <a:prstGeom prst="rect">
            <a:avLst/>
          </a:prstGeom>
          <a:noFill/>
          <a:extLst>
            <a:ext uri="{909E8E84-426E-40DD-AFC4-6F175D3DCCD1}">
              <a14:hiddenFill xmlns:a14="http://schemas.microsoft.com/office/drawing/2010/main">
                <a:solidFill>
                  <a:srgbClr val="FFFFFF"/>
                </a:solidFill>
              </a14:hiddenFill>
            </a:ext>
          </a:extLst>
        </p:spPr>
      </p:pic>
      <p:sp>
        <p:nvSpPr>
          <p:cNvPr id="42" name="矩形 41"/>
          <p:cNvSpPr/>
          <p:nvPr/>
        </p:nvSpPr>
        <p:spPr>
          <a:xfrm>
            <a:off x="3169457" y="2159752"/>
            <a:ext cx="954108"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高性能计算</a:t>
            </a:r>
          </a:p>
        </p:txBody>
      </p:sp>
      <p:sp>
        <p:nvSpPr>
          <p:cNvPr id="43" name="椭圆 42"/>
          <p:cNvSpPr/>
          <p:nvPr/>
        </p:nvSpPr>
        <p:spPr>
          <a:xfrm>
            <a:off x="3425176" y="1700319"/>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矩形 43"/>
          <p:cNvSpPr/>
          <p:nvPr/>
        </p:nvSpPr>
        <p:spPr>
          <a:xfrm>
            <a:off x="3339367" y="1783420"/>
            <a:ext cx="639114" cy="276999"/>
          </a:xfrm>
          <a:prstGeom prst="rect">
            <a:avLst/>
          </a:prstGeom>
        </p:spPr>
        <p:txBody>
          <a:bodyPr wrap="squar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HPC</a:t>
            </a:r>
            <a:endParaRPr kumimoji="0" lang="zh-CN" altLang="en-US" sz="12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矩形 45"/>
          <p:cNvSpPr/>
          <p:nvPr/>
        </p:nvSpPr>
        <p:spPr>
          <a:xfrm>
            <a:off x="5621489" y="2159750"/>
            <a:ext cx="646331"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大数据</a:t>
            </a:r>
          </a:p>
        </p:txBody>
      </p:sp>
      <p:sp>
        <p:nvSpPr>
          <p:cNvPr id="47" name="椭圆 46"/>
          <p:cNvSpPr/>
          <p:nvPr/>
        </p:nvSpPr>
        <p:spPr>
          <a:xfrm>
            <a:off x="5723320" y="1700317"/>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database_138026"/>
          <p:cNvSpPr>
            <a:spLocks noChangeAspect="1"/>
          </p:cNvSpPr>
          <p:nvPr/>
        </p:nvSpPr>
        <p:spPr bwMode="auto">
          <a:xfrm>
            <a:off x="5812021" y="1774737"/>
            <a:ext cx="313122" cy="331770"/>
          </a:xfrm>
          <a:custGeom>
            <a:avLst/>
            <a:gdLst>
              <a:gd name="connsiteX0" fmla="*/ 401062 w 545519"/>
              <a:gd name="connsiteY0" fmla="*/ 336045 h 578007"/>
              <a:gd name="connsiteX1" fmla="*/ 312169 w 545519"/>
              <a:gd name="connsiteY1" fmla="*/ 424790 h 578007"/>
              <a:gd name="connsiteX2" fmla="*/ 401062 w 545519"/>
              <a:gd name="connsiteY2" fmla="*/ 513534 h 578007"/>
              <a:gd name="connsiteX3" fmla="*/ 490715 w 545519"/>
              <a:gd name="connsiteY3" fmla="*/ 424790 h 578007"/>
              <a:gd name="connsiteX4" fmla="*/ 401062 w 545519"/>
              <a:gd name="connsiteY4" fmla="*/ 336045 h 578007"/>
              <a:gd name="connsiteX5" fmla="*/ 401062 w 545519"/>
              <a:gd name="connsiteY5" fmla="*/ 315565 h 578007"/>
              <a:gd name="connsiteX6" fmla="*/ 510469 w 545519"/>
              <a:gd name="connsiteY6" fmla="*/ 424790 h 578007"/>
              <a:gd name="connsiteX7" fmla="*/ 482358 w 545519"/>
              <a:gd name="connsiteY7" fmla="*/ 497606 h 578007"/>
              <a:gd name="connsiteX8" fmla="*/ 542379 w 545519"/>
              <a:gd name="connsiteY8" fmla="*/ 561320 h 578007"/>
              <a:gd name="connsiteX9" fmla="*/ 542379 w 545519"/>
              <a:gd name="connsiteY9" fmla="*/ 575732 h 578007"/>
              <a:gd name="connsiteX10" fmla="*/ 535542 w 545519"/>
              <a:gd name="connsiteY10" fmla="*/ 578007 h 578007"/>
              <a:gd name="connsiteX11" fmla="*/ 527944 w 545519"/>
              <a:gd name="connsiteY11" fmla="*/ 574973 h 578007"/>
              <a:gd name="connsiteX12" fmla="*/ 467162 w 545519"/>
              <a:gd name="connsiteY12" fmla="*/ 511259 h 578007"/>
              <a:gd name="connsiteX13" fmla="*/ 401062 w 545519"/>
              <a:gd name="connsiteY13" fmla="*/ 534014 h 578007"/>
              <a:gd name="connsiteX14" fmla="*/ 292415 w 545519"/>
              <a:gd name="connsiteY14" fmla="*/ 424790 h 578007"/>
              <a:gd name="connsiteX15" fmla="*/ 401062 w 545519"/>
              <a:gd name="connsiteY15" fmla="*/ 315565 h 578007"/>
              <a:gd name="connsiteX16" fmla="*/ 20507 w 545519"/>
              <a:gd name="connsiteY16" fmla="*/ 134262 h 578007"/>
              <a:gd name="connsiteX17" fmla="*/ 20507 w 545519"/>
              <a:gd name="connsiteY17" fmla="*/ 217701 h 578007"/>
              <a:gd name="connsiteX18" fmla="*/ 21267 w 545519"/>
              <a:gd name="connsiteY18" fmla="*/ 222252 h 578007"/>
              <a:gd name="connsiteX19" fmla="*/ 22027 w 545519"/>
              <a:gd name="connsiteY19" fmla="*/ 226045 h 578007"/>
              <a:gd name="connsiteX20" fmla="*/ 23546 w 545519"/>
              <a:gd name="connsiteY20" fmla="*/ 229079 h 578007"/>
              <a:gd name="connsiteX21" fmla="*/ 25824 w 545519"/>
              <a:gd name="connsiteY21" fmla="*/ 232872 h 578007"/>
              <a:gd name="connsiteX22" fmla="*/ 28103 w 545519"/>
              <a:gd name="connsiteY22" fmla="*/ 235147 h 578007"/>
              <a:gd name="connsiteX23" fmla="*/ 31900 w 545519"/>
              <a:gd name="connsiteY23" fmla="*/ 239699 h 578007"/>
              <a:gd name="connsiteX24" fmla="*/ 34939 w 545519"/>
              <a:gd name="connsiteY24" fmla="*/ 241974 h 578007"/>
              <a:gd name="connsiteX25" fmla="*/ 40255 w 545519"/>
              <a:gd name="connsiteY25" fmla="*/ 246525 h 578007"/>
              <a:gd name="connsiteX26" fmla="*/ 42534 w 545519"/>
              <a:gd name="connsiteY26" fmla="*/ 248042 h 578007"/>
              <a:gd name="connsiteX27" fmla="*/ 50129 w 545519"/>
              <a:gd name="connsiteY27" fmla="*/ 252594 h 578007"/>
              <a:gd name="connsiteX28" fmla="*/ 51648 w 545519"/>
              <a:gd name="connsiteY28" fmla="*/ 254111 h 578007"/>
              <a:gd name="connsiteX29" fmla="*/ 61522 w 545519"/>
              <a:gd name="connsiteY29" fmla="*/ 258662 h 578007"/>
              <a:gd name="connsiteX30" fmla="*/ 63041 w 545519"/>
              <a:gd name="connsiteY30" fmla="*/ 259421 h 578007"/>
              <a:gd name="connsiteX31" fmla="*/ 75194 w 545519"/>
              <a:gd name="connsiteY31" fmla="*/ 264730 h 578007"/>
              <a:gd name="connsiteX32" fmla="*/ 161781 w 545519"/>
              <a:gd name="connsiteY32" fmla="*/ 286728 h 578007"/>
              <a:gd name="connsiteX33" fmla="*/ 162540 w 545519"/>
              <a:gd name="connsiteY33" fmla="*/ 286728 h 578007"/>
              <a:gd name="connsiteX34" fmla="*/ 183048 w 545519"/>
              <a:gd name="connsiteY34" fmla="*/ 289762 h 578007"/>
              <a:gd name="connsiteX35" fmla="*/ 186845 w 545519"/>
              <a:gd name="connsiteY35" fmla="*/ 289762 h 578007"/>
              <a:gd name="connsiteX36" fmla="*/ 205074 w 545519"/>
              <a:gd name="connsiteY36" fmla="*/ 291279 h 578007"/>
              <a:gd name="connsiteX37" fmla="*/ 214189 w 545519"/>
              <a:gd name="connsiteY37" fmla="*/ 292038 h 578007"/>
              <a:gd name="connsiteX38" fmla="*/ 228620 w 545519"/>
              <a:gd name="connsiteY38" fmla="*/ 292796 h 578007"/>
              <a:gd name="connsiteX39" fmla="*/ 252925 w 545519"/>
              <a:gd name="connsiteY39" fmla="*/ 293555 h 578007"/>
              <a:gd name="connsiteX40" fmla="*/ 277989 w 545519"/>
              <a:gd name="connsiteY40" fmla="*/ 292796 h 578007"/>
              <a:gd name="connsiteX41" fmla="*/ 292421 w 545519"/>
              <a:gd name="connsiteY41" fmla="*/ 292038 h 578007"/>
              <a:gd name="connsiteX42" fmla="*/ 301535 w 545519"/>
              <a:gd name="connsiteY42" fmla="*/ 291279 h 578007"/>
              <a:gd name="connsiteX43" fmla="*/ 319764 w 545519"/>
              <a:gd name="connsiteY43" fmla="*/ 289762 h 578007"/>
              <a:gd name="connsiteX44" fmla="*/ 323561 w 545519"/>
              <a:gd name="connsiteY44" fmla="*/ 289762 h 578007"/>
              <a:gd name="connsiteX45" fmla="*/ 344069 w 545519"/>
              <a:gd name="connsiteY45" fmla="*/ 286728 h 578007"/>
              <a:gd name="connsiteX46" fmla="*/ 344828 w 545519"/>
              <a:gd name="connsiteY46" fmla="*/ 286728 h 578007"/>
              <a:gd name="connsiteX47" fmla="*/ 431415 w 545519"/>
              <a:gd name="connsiteY47" fmla="*/ 264730 h 578007"/>
              <a:gd name="connsiteX48" fmla="*/ 443568 w 545519"/>
              <a:gd name="connsiteY48" fmla="*/ 259421 h 578007"/>
              <a:gd name="connsiteX49" fmla="*/ 445087 w 545519"/>
              <a:gd name="connsiteY49" fmla="*/ 258662 h 578007"/>
              <a:gd name="connsiteX50" fmla="*/ 454201 w 545519"/>
              <a:gd name="connsiteY50" fmla="*/ 254111 h 578007"/>
              <a:gd name="connsiteX51" fmla="*/ 456480 w 545519"/>
              <a:gd name="connsiteY51" fmla="*/ 252594 h 578007"/>
              <a:gd name="connsiteX52" fmla="*/ 464075 w 545519"/>
              <a:gd name="connsiteY52" fmla="*/ 248042 h 578007"/>
              <a:gd name="connsiteX53" fmla="*/ 466354 w 545519"/>
              <a:gd name="connsiteY53" fmla="*/ 246525 h 578007"/>
              <a:gd name="connsiteX54" fmla="*/ 471671 w 545519"/>
              <a:gd name="connsiteY54" fmla="*/ 241974 h 578007"/>
              <a:gd name="connsiteX55" fmla="*/ 474709 w 545519"/>
              <a:gd name="connsiteY55" fmla="*/ 239699 h 578007"/>
              <a:gd name="connsiteX56" fmla="*/ 478506 w 545519"/>
              <a:gd name="connsiteY56" fmla="*/ 235906 h 578007"/>
              <a:gd name="connsiteX57" fmla="*/ 480785 w 545519"/>
              <a:gd name="connsiteY57" fmla="*/ 232872 h 578007"/>
              <a:gd name="connsiteX58" fmla="*/ 483064 w 545519"/>
              <a:gd name="connsiteY58" fmla="*/ 229079 h 578007"/>
              <a:gd name="connsiteX59" fmla="*/ 484583 w 545519"/>
              <a:gd name="connsiteY59" fmla="*/ 226045 h 578007"/>
              <a:gd name="connsiteX60" fmla="*/ 485342 w 545519"/>
              <a:gd name="connsiteY60" fmla="*/ 222252 h 578007"/>
              <a:gd name="connsiteX61" fmla="*/ 486102 w 545519"/>
              <a:gd name="connsiteY61" fmla="*/ 217701 h 578007"/>
              <a:gd name="connsiteX62" fmla="*/ 486102 w 545519"/>
              <a:gd name="connsiteY62" fmla="*/ 134262 h 578007"/>
              <a:gd name="connsiteX63" fmla="*/ 482304 w 545519"/>
              <a:gd name="connsiteY63" fmla="*/ 138054 h 578007"/>
              <a:gd name="connsiteX64" fmla="*/ 480025 w 545519"/>
              <a:gd name="connsiteY64" fmla="*/ 139571 h 578007"/>
              <a:gd name="connsiteX65" fmla="*/ 470151 w 545519"/>
              <a:gd name="connsiteY65" fmla="*/ 146398 h 578007"/>
              <a:gd name="connsiteX66" fmla="*/ 467873 w 545519"/>
              <a:gd name="connsiteY66" fmla="*/ 147915 h 578007"/>
              <a:gd name="connsiteX67" fmla="*/ 458758 w 545519"/>
              <a:gd name="connsiteY67" fmla="*/ 153225 h 578007"/>
              <a:gd name="connsiteX68" fmla="*/ 454961 w 545519"/>
              <a:gd name="connsiteY68" fmla="*/ 155501 h 578007"/>
              <a:gd name="connsiteX69" fmla="*/ 442808 w 545519"/>
              <a:gd name="connsiteY69" fmla="*/ 160811 h 578007"/>
              <a:gd name="connsiteX70" fmla="*/ 441289 w 545519"/>
              <a:gd name="connsiteY70" fmla="*/ 161569 h 578007"/>
              <a:gd name="connsiteX71" fmla="*/ 426099 w 545519"/>
              <a:gd name="connsiteY71" fmla="*/ 167637 h 578007"/>
              <a:gd name="connsiteX72" fmla="*/ 421541 w 545519"/>
              <a:gd name="connsiteY72" fmla="*/ 169154 h 578007"/>
              <a:gd name="connsiteX73" fmla="*/ 408629 w 545519"/>
              <a:gd name="connsiteY73" fmla="*/ 172947 h 578007"/>
              <a:gd name="connsiteX74" fmla="*/ 404072 w 545519"/>
              <a:gd name="connsiteY74" fmla="*/ 174464 h 578007"/>
              <a:gd name="connsiteX75" fmla="*/ 385084 w 545519"/>
              <a:gd name="connsiteY75" fmla="*/ 179015 h 578007"/>
              <a:gd name="connsiteX76" fmla="*/ 382805 w 545519"/>
              <a:gd name="connsiteY76" fmla="*/ 179774 h 578007"/>
              <a:gd name="connsiteX77" fmla="*/ 365336 w 545519"/>
              <a:gd name="connsiteY77" fmla="*/ 182808 h 578007"/>
              <a:gd name="connsiteX78" fmla="*/ 359260 w 545519"/>
              <a:gd name="connsiteY78" fmla="*/ 184325 h 578007"/>
              <a:gd name="connsiteX79" fmla="*/ 341031 w 545519"/>
              <a:gd name="connsiteY79" fmla="*/ 186601 h 578007"/>
              <a:gd name="connsiteX80" fmla="*/ 336474 w 545519"/>
              <a:gd name="connsiteY80" fmla="*/ 187359 h 578007"/>
              <a:gd name="connsiteX81" fmla="*/ 312928 w 545519"/>
              <a:gd name="connsiteY81" fmla="*/ 189635 h 578007"/>
              <a:gd name="connsiteX82" fmla="*/ 306852 w 545519"/>
              <a:gd name="connsiteY82" fmla="*/ 190394 h 578007"/>
              <a:gd name="connsiteX83" fmla="*/ 287863 w 545519"/>
              <a:gd name="connsiteY83" fmla="*/ 191152 h 578007"/>
              <a:gd name="connsiteX84" fmla="*/ 280268 w 545519"/>
              <a:gd name="connsiteY84" fmla="*/ 191911 h 578007"/>
              <a:gd name="connsiteX85" fmla="*/ 252925 w 545519"/>
              <a:gd name="connsiteY85" fmla="*/ 191911 h 578007"/>
              <a:gd name="connsiteX86" fmla="*/ 226341 w 545519"/>
              <a:gd name="connsiteY86" fmla="*/ 191911 h 578007"/>
              <a:gd name="connsiteX87" fmla="*/ 218746 w 545519"/>
              <a:gd name="connsiteY87" fmla="*/ 191152 h 578007"/>
              <a:gd name="connsiteX88" fmla="*/ 199757 w 545519"/>
              <a:gd name="connsiteY88" fmla="*/ 190394 h 578007"/>
              <a:gd name="connsiteX89" fmla="*/ 193681 w 545519"/>
              <a:gd name="connsiteY89" fmla="*/ 189635 h 578007"/>
              <a:gd name="connsiteX90" fmla="*/ 170136 w 545519"/>
              <a:gd name="connsiteY90" fmla="*/ 187359 h 578007"/>
              <a:gd name="connsiteX91" fmla="*/ 165578 w 545519"/>
              <a:gd name="connsiteY91" fmla="*/ 186601 h 578007"/>
              <a:gd name="connsiteX92" fmla="*/ 147350 w 545519"/>
              <a:gd name="connsiteY92" fmla="*/ 184325 h 578007"/>
              <a:gd name="connsiteX93" fmla="*/ 141273 w 545519"/>
              <a:gd name="connsiteY93" fmla="*/ 182808 h 578007"/>
              <a:gd name="connsiteX94" fmla="*/ 123804 w 545519"/>
              <a:gd name="connsiteY94" fmla="*/ 179774 h 578007"/>
              <a:gd name="connsiteX95" fmla="*/ 121525 w 545519"/>
              <a:gd name="connsiteY95" fmla="*/ 179015 h 578007"/>
              <a:gd name="connsiteX96" fmla="*/ 102537 w 545519"/>
              <a:gd name="connsiteY96" fmla="*/ 174464 h 578007"/>
              <a:gd name="connsiteX97" fmla="*/ 97980 w 545519"/>
              <a:gd name="connsiteY97" fmla="*/ 172947 h 578007"/>
              <a:gd name="connsiteX98" fmla="*/ 85068 w 545519"/>
              <a:gd name="connsiteY98" fmla="*/ 169154 h 578007"/>
              <a:gd name="connsiteX99" fmla="*/ 80511 w 545519"/>
              <a:gd name="connsiteY99" fmla="*/ 167637 h 578007"/>
              <a:gd name="connsiteX100" fmla="*/ 65320 w 545519"/>
              <a:gd name="connsiteY100" fmla="*/ 161569 h 578007"/>
              <a:gd name="connsiteX101" fmla="*/ 63801 w 545519"/>
              <a:gd name="connsiteY101" fmla="*/ 160811 h 578007"/>
              <a:gd name="connsiteX102" fmla="*/ 51648 w 545519"/>
              <a:gd name="connsiteY102" fmla="*/ 155501 h 578007"/>
              <a:gd name="connsiteX103" fmla="*/ 47851 w 545519"/>
              <a:gd name="connsiteY103" fmla="*/ 153225 h 578007"/>
              <a:gd name="connsiteX104" fmla="*/ 38736 w 545519"/>
              <a:gd name="connsiteY104" fmla="*/ 147915 h 578007"/>
              <a:gd name="connsiteX105" fmla="*/ 36458 w 545519"/>
              <a:gd name="connsiteY105" fmla="*/ 146398 h 578007"/>
              <a:gd name="connsiteX106" fmla="*/ 26584 w 545519"/>
              <a:gd name="connsiteY106" fmla="*/ 139571 h 578007"/>
              <a:gd name="connsiteX107" fmla="*/ 24305 w 545519"/>
              <a:gd name="connsiteY107" fmla="*/ 138054 h 578007"/>
              <a:gd name="connsiteX108" fmla="*/ 20507 w 545519"/>
              <a:gd name="connsiteY108" fmla="*/ 134262 h 578007"/>
              <a:gd name="connsiteX109" fmla="*/ 252925 w 545519"/>
              <a:gd name="connsiteY109" fmla="*/ 20481 h 578007"/>
              <a:gd name="connsiteX110" fmla="*/ 20507 w 545519"/>
              <a:gd name="connsiteY110" fmla="*/ 96335 h 578007"/>
              <a:gd name="connsiteX111" fmla="*/ 252925 w 545519"/>
              <a:gd name="connsiteY111" fmla="*/ 172189 h 578007"/>
              <a:gd name="connsiteX112" fmla="*/ 486102 w 545519"/>
              <a:gd name="connsiteY112" fmla="*/ 96335 h 578007"/>
              <a:gd name="connsiteX113" fmla="*/ 252925 w 545519"/>
              <a:gd name="connsiteY113" fmla="*/ 20481 h 578007"/>
              <a:gd name="connsiteX114" fmla="*/ 252925 w 545519"/>
              <a:gd name="connsiteY114" fmla="*/ 0 h 578007"/>
              <a:gd name="connsiteX115" fmla="*/ 505090 w 545519"/>
              <a:gd name="connsiteY115" fmla="*/ 85715 h 578007"/>
              <a:gd name="connsiteX116" fmla="*/ 506609 w 545519"/>
              <a:gd name="connsiteY116" fmla="*/ 91025 h 578007"/>
              <a:gd name="connsiteX117" fmla="*/ 506609 w 545519"/>
              <a:gd name="connsiteY117" fmla="*/ 96335 h 578007"/>
              <a:gd name="connsiteX118" fmla="*/ 506609 w 545519"/>
              <a:gd name="connsiteY118" fmla="*/ 217701 h 578007"/>
              <a:gd name="connsiteX119" fmla="*/ 506609 w 545519"/>
              <a:gd name="connsiteY119" fmla="*/ 222252 h 578007"/>
              <a:gd name="connsiteX120" fmla="*/ 506609 w 545519"/>
              <a:gd name="connsiteY120" fmla="*/ 303416 h 578007"/>
              <a:gd name="connsiteX121" fmla="*/ 495976 w 545519"/>
              <a:gd name="connsiteY121" fmla="*/ 313277 h 578007"/>
              <a:gd name="connsiteX122" fmla="*/ 486102 w 545519"/>
              <a:gd name="connsiteY122" fmla="*/ 303416 h 578007"/>
              <a:gd name="connsiteX123" fmla="*/ 486102 w 545519"/>
              <a:gd name="connsiteY123" fmla="*/ 255628 h 578007"/>
              <a:gd name="connsiteX124" fmla="*/ 477747 w 545519"/>
              <a:gd name="connsiteY124" fmla="*/ 262455 h 578007"/>
              <a:gd name="connsiteX125" fmla="*/ 252925 w 545519"/>
              <a:gd name="connsiteY125" fmla="*/ 313277 h 578007"/>
              <a:gd name="connsiteX126" fmla="*/ 28103 w 545519"/>
              <a:gd name="connsiteY126" fmla="*/ 262455 h 578007"/>
              <a:gd name="connsiteX127" fmla="*/ 21267 w 545519"/>
              <a:gd name="connsiteY127" fmla="*/ 256386 h 578007"/>
              <a:gd name="connsiteX128" fmla="*/ 20507 w 545519"/>
              <a:gd name="connsiteY128" fmla="*/ 255628 h 578007"/>
              <a:gd name="connsiteX129" fmla="*/ 20507 w 545519"/>
              <a:gd name="connsiteY129" fmla="*/ 339067 h 578007"/>
              <a:gd name="connsiteX130" fmla="*/ 21267 w 545519"/>
              <a:gd name="connsiteY130" fmla="*/ 343618 h 578007"/>
              <a:gd name="connsiteX131" fmla="*/ 22027 w 545519"/>
              <a:gd name="connsiteY131" fmla="*/ 347411 h 578007"/>
              <a:gd name="connsiteX132" fmla="*/ 23546 w 545519"/>
              <a:gd name="connsiteY132" fmla="*/ 350445 h 578007"/>
              <a:gd name="connsiteX133" fmla="*/ 25824 w 545519"/>
              <a:gd name="connsiteY133" fmla="*/ 354238 h 578007"/>
              <a:gd name="connsiteX134" fmla="*/ 28103 w 545519"/>
              <a:gd name="connsiteY134" fmla="*/ 356514 h 578007"/>
              <a:gd name="connsiteX135" fmla="*/ 31900 w 545519"/>
              <a:gd name="connsiteY135" fmla="*/ 361065 h 578007"/>
              <a:gd name="connsiteX136" fmla="*/ 34939 w 545519"/>
              <a:gd name="connsiteY136" fmla="*/ 363340 h 578007"/>
              <a:gd name="connsiteX137" fmla="*/ 40255 w 545519"/>
              <a:gd name="connsiteY137" fmla="*/ 367892 h 578007"/>
              <a:gd name="connsiteX138" fmla="*/ 42534 w 545519"/>
              <a:gd name="connsiteY138" fmla="*/ 369409 h 578007"/>
              <a:gd name="connsiteX139" fmla="*/ 50129 w 545519"/>
              <a:gd name="connsiteY139" fmla="*/ 373960 h 578007"/>
              <a:gd name="connsiteX140" fmla="*/ 51648 w 545519"/>
              <a:gd name="connsiteY140" fmla="*/ 375477 h 578007"/>
              <a:gd name="connsiteX141" fmla="*/ 61522 w 545519"/>
              <a:gd name="connsiteY141" fmla="*/ 380028 h 578007"/>
              <a:gd name="connsiteX142" fmla="*/ 63041 w 545519"/>
              <a:gd name="connsiteY142" fmla="*/ 380787 h 578007"/>
              <a:gd name="connsiteX143" fmla="*/ 75194 w 545519"/>
              <a:gd name="connsiteY143" fmla="*/ 386097 h 578007"/>
              <a:gd name="connsiteX144" fmla="*/ 161781 w 545519"/>
              <a:gd name="connsiteY144" fmla="*/ 408094 h 578007"/>
              <a:gd name="connsiteX145" fmla="*/ 162540 w 545519"/>
              <a:gd name="connsiteY145" fmla="*/ 408094 h 578007"/>
              <a:gd name="connsiteX146" fmla="*/ 183048 w 545519"/>
              <a:gd name="connsiteY146" fmla="*/ 411128 h 578007"/>
              <a:gd name="connsiteX147" fmla="*/ 186845 w 545519"/>
              <a:gd name="connsiteY147" fmla="*/ 411128 h 578007"/>
              <a:gd name="connsiteX148" fmla="*/ 205074 w 545519"/>
              <a:gd name="connsiteY148" fmla="*/ 412645 h 578007"/>
              <a:gd name="connsiteX149" fmla="*/ 214189 w 545519"/>
              <a:gd name="connsiteY149" fmla="*/ 413404 h 578007"/>
              <a:gd name="connsiteX150" fmla="*/ 228620 w 545519"/>
              <a:gd name="connsiteY150" fmla="*/ 414163 h 578007"/>
              <a:gd name="connsiteX151" fmla="*/ 252925 w 545519"/>
              <a:gd name="connsiteY151" fmla="*/ 414921 h 578007"/>
              <a:gd name="connsiteX152" fmla="*/ 263558 w 545519"/>
              <a:gd name="connsiteY152" fmla="*/ 424782 h 578007"/>
              <a:gd name="connsiteX153" fmla="*/ 252925 w 545519"/>
              <a:gd name="connsiteY153" fmla="*/ 434643 h 578007"/>
              <a:gd name="connsiteX154" fmla="*/ 28103 w 545519"/>
              <a:gd name="connsiteY154" fmla="*/ 383821 h 578007"/>
              <a:gd name="connsiteX155" fmla="*/ 21267 w 545519"/>
              <a:gd name="connsiteY155" fmla="*/ 377753 h 578007"/>
              <a:gd name="connsiteX156" fmla="*/ 20507 w 545519"/>
              <a:gd name="connsiteY156" fmla="*/ 376994 h 578007"/>
              <a:gd name="connsiteX157" fmla="*/ 20507 w 545519"/>
              <a:gd name="connsiteY157" fmla="*/ 461950 h 578007"/>
              <a:gd name="connsiteX158" fmla="*/ 20507 w 545519"/>
              <a:gd name="connsiteY158" fmla="*/ 463468 h 578007"/>
              <a:gd name="connsiteX159" fmla="*/ 203555 w 545519"/>
              <a:gd name="connsiteY159" fmla="*/ 534012 h 578007"/>
              <a:gd name="connsiteX160" fmla="*/ 212670 w 545519"/>
              <a:gd name="connsiteY160" fmla="*/ 545390 h 578007"/>
              <a:gd name="connsiteX161" fmla="*/ 202796 w 545519"/>
              <a:gd name="connsiteY161" fmla="*/ 554492 h 578007"/>
              <a:gd name="connsiteX162" fmla="*/ 202036 w 545519"/>
              <a:gd name="connsiteY162" fmla="*/ 554492 h 578007"/>
              <a:gd name="connsiteX163" fmla="*/ 1519 w 545519"/>
              <a:gd name="connsiteY163" fmla="*/ 469536 h 578007"/>
              <a:gd name="connsiteX164" fmla="*/ 0 w 545519"/>
              <a:gd name="connsiteY164" fmla="*/ 464985 h 578007"/>
              <a:gd name="connsiteX165" fmla="*/ 0 w 545519"/>
              <a:gd name="connsiteY165" fmla="*/ 343618 h 578007"/>
              <a:gd name="connsiteX166" fmla="*/ 0 w 545519"/>
              <a:gd name="connsiteY166" fmla="*/ 339067 h 578007"/>
              <a:gd name="connsiteX167" fmla="*/ 0 w 545519"/>
              <a:gd name="connsiteY167" fmla="*/ 222252 h 578007"/>
              <a:gd name="connsiteX168" fmla="*/ 0 w 545519"/>
              <a:gd name="connsiteY168" fmla="*/ 217701 h 578007"/>
              <a:gd name="connsiteX169" fmla="*/ 0 w 545519"/>
              <a:gd name="connsiteY169" fmla="*/ 96335 h 578007"/>
              <a:gd name="connsiteX170" fmla="*/ 0 w 545519"/>
              <a:gd name="connsiteY170" fmla="*/ 91025 h 578007"/>
              <a:gd name="connsiteX171" fmla="*/ 1519 w 545519"/>
              <a:gd name="connsiteY171" fmla="*/ 85715 h 578007"/>
              <a:gd name="connsiteX172" fmla="*/ 252925 w 545519"/>
              <a:gd name="connsiteY172" fmla="*/ 0 h 578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545519" h="578007">
                <a:moveTo>
                  <a:pt x="401062" y="336045"/>
                </a:moveTo>
                <a:cubicBezTo>
                  <a:pt x="352437" y="336045"/>
                  <a:pt x="312169" y="375487"/>
                  <a:pt x="312169" y="424790"/>
                </a:cubicBezTo>
                <a:cubicBezTo>
                  <a:pt x="312169" y="473334"/>
                  <a:pt x="352437" y="513534"/>
                  <a:pt x="401062" y="513534"/>
                </a:cubicBezTo>
                <a:cubicBezTo>
                  <a:pt x="450447" y="513534"/>
                  <a:pt x="490715" y="473334"/>
                  <a:pt x="490715" y="424790"/>
                </a:cubicBezTo>
                <a:cubicBezTo>
                  <a:pt x="490715" y="375487"/>
                  <a:pt x="450447" y="336045"/>
                  <a:pt x="401062" y="336045"/>
                </a:cubicBezTo>
                <a:close/>
                <a:moveTo>
                  <a:pt x="401062" y="315565"/>
                </a:moveTo>
                <a:cubicBezTo>
                  <a:pt x="461844" y="315565"/>
                  <a:pt x="510469" y="364109"/>
                  <a:pt x="510469" y="424790"/>
                </a:cubicBezTo>
                <a:cubicBezTo>
                  <a:pt x="510469" y="452854"/>
                  <a:pt x="499832" y="478643"/>
                  <a:pt x="482358" y="497606"/>
                </a:cubicBezTo>
                <a:lnTo>
                  <a:pt x="542379" y="561320"/>
                </a:lnTo>
                <a:cubicBezTo>
                  <a:pt x="546938" y="565113"/>
                  <a:pt x="546178" y="571181"/>
                  <a:pt x="542379" y="575732"/>
                </a:cubicBezTo>
                <a:cubicBezTo>
                  <a:pt x="540100" y="577249"/>
                  <a:pt x="537821" y="578007"/>
                  <a:pt x="535542" y="578007"/>
                </a:cubicBezTo>
                <a:cubicBezTo>
                  <a:pt x="532502" y="578007"/>
                  <a:pt x="530223" y="577249"/>
                  <a:pt x="527944" y="574973"/>
                </a:cubicBezTo>
                <a:lnTo>
                  <a:pt x="467162" y="511259"/>
                </a:lnTo>
                <a:cubicBezTo>
                  <a:pt x="448928" y="525671"/>
                  <a:pt x="426135" y="534014"/>
                  <a:pt x="401062" y="534014"/>
                </a:cubicBezTo>
                <a:cubicBezTo>
                  <a:pt x="341040" y="534014"/>
                  <a:pt x="292415" y="484711"/>
                  <a:pt x="292415" y="424790"/>
                </a:cubicBezTo>
                <a:cubicBezTo>
                  <a:pt x="292415" y="364109"/>
                  <a:pt x="341040" y="315565"/>
                  <a:pt x="401062" y="315565"/>
                </a:cubicBezTo>
                <a:close/>
                <a:moveTo>
                  <a:pt x="20507" y="134262"/>
                </a:moveTo>
                <a:lnTo>
                  <a:pt x="20507" y="217701"/>
                </a:lnTo>
                <a:cubicBezTo>
                  <a:pt x="20507" y="219218"/>
                  <a:pt x="20507" y="220735"/>
                  <a:pt x="21267" y="222252"/>
                </a:cubicBezTo>
                <a:cubicBezTo>
                  <a:pt x="21267" y="223769"/>
                  <a:pt x="22027" y="224528"/>
                  <a:pt x="22027" y="226045"/>
                </a:cubicBezTo>
                <a:cubicBezTo>
                  <a:pt x="22786" y="226803"/>
                  <a:pt x="23546" y="228320"/>
                  <a:pt x="23546" y="229079"/>
                </a:cubicBezTo>
                <a:cubicBezTo>
                  <a:pt x="24305" y="230596"/>
                  <a:pt x="25065" y="231355"/>
                  <a:pt x="25824" y="232872"/>
                </a:cubicBezTo>
                <a:cubicBezTo>
                  <a:pt x="26584" y="233630"/>
                  <a:pt x="27343" y="234389"/>
                  <a:pt x="28103" y="235147"/>
                </a:cubicBezTo>
                <a:cubicBezTo>
                  <a:pt x="29622" y="236664"/>
                  <a:pt x="30381" y="238181"/>
                  <a:pt x="31900" y="239699"/>
                </a:cubicBezTo>
                <a:cubicBezTo>
                  <a:pt x="32660" y="240457"/>
                  <a:pt x="33420" y="241216"/>
                  <a:pt x="34939" y="241974"/>
                </a:cubicBezTo>
                <a:cubicBezTo>
                  <a:pt x="36458" y="243491"/>
                  <a:pt x="37977" y="245008"/>
                  <a:pt x="40255" y="246525"/>
                </a:cubicBezTo>
                <a:cubicBezTo>
                  <a:pt x="41015" y="246525"/>
                  <a:pt x="41774" y="247284"/>
                  <a:pt x="42534" y="248042"/>
                </a:cubicBezTo>
                <a:cubicBezTo>
                  <a:pt x="44813" y="249560"/>
                  <a:pt x="47091" y="251077"/>
                  <a:pt x="50129" y="252594"/>
                </a:cubicBezTo>
                <a:cubicBezTo>
                  <a:pt x="50889" y="253352"/>
                  <a:pt x="51648" y="253352"/>
                  <a:pt x="51648" y="254111"/>
                </a:cubicBezTo>
                <a:cubicBezTo>
                  <a:pt x="54686" y="255628"/>
                  <a:pt x="58484" y="257145"/>
                  <a:pt x="61522" y="258662"/>
                </a:cubicBezTo>
                <a:cubicBezTo>
                  <a:pt x="62282" y="259421"/>
                  <a:pt x="62282" y="259421"/>
                  <a:pt x="63041" y="259421"/>
                </a:cubicBezTo>
                <a:cubicBezTo>
                  <a:pt x="66839" y="261696"/>
                  <a:pt x="70637" y="263213"/>
                  <a:pt x="75194" y="264730"/>
                </a:cubicBezTo>
                <a:cubicBezTo>
                  <a:pt x="97980" y="273833"/>
                  <a:pt x="127602" y="282177"/>
                  <a:pt x="161781" y="286728"/>
                </a:cubicBezTo>
                <a:cubicBezTo>
                  <a:pt x="162540" y="286728"/>
                  <a:pt x="162540" y="286728"/>
                  <a:pt x="162540" y="286728"/>
                </a:cubicBezTo>
                <a:cubicBezTo>
                  <a:pt x="169376" y="288245"/>
                  <a:pt x="176212" y="289004"/>
                  <a:pt x="183048" y="289762"/>
                </a:cubicBezTo>
                <a:cubicBezTo>
                  <a:pt x="183807" y="289762"/>
                  <a:pt x="185326" y="289762"/>
                  <a:pt x="186845" y="289762"/>
                </a:cubicBezTo>
                <a:cubicBezTo>
                  <a:pt x="192922" y="290521"/>
                  <a:pt x="198998" y="291279"/>
                  <a:pt x="205074" y="291279"/>
                </a:cubicBezTo>
                <a:cubicBezTo>
                  <a:pt x="208112" y="292038"/>
                  <a:pt x="211150" y="292038"/>
                  <a:pt x="214189" y="292038"/>
                </a:cubicBezTo>
                <a:cubicBezTo>
                  <a:pt x="218746" y="292038"/>
                  <a:pt x="224063" y="292796"/>
                  <a:pt x="228620" y="292796"/>
                </a:cubicBezTo>
                <a:cubicBezTo>
                  <a:pt x="236975" y="292796"/>
                  <a:pt x="244570" y="293555"/>
                  <a:pt x="252925" y="293555"/>
                </a:cubicBezTo>
                <a:cubicBezTo>
                  <a:pt x="261280" y="293555"/>
                  <a:pt x="269635" y="292796"/>
                  <a:pt x="277989" y="292796"/>
                </a:cubicBezTo>
                <a:cubicBezTo>
                  <a:pt x="282547" y="292796"/>
                  <a:pt x="287863" y="292038"/>
                  <a:pt x="292421" y="292038"/>
                </a:cubicBezTo>
                <a:cubicBezTo>
                  <a:pt x="295459" y="292038"/>
                  <a:pt x="298497" y="292038"/>
                  <a:pt x="301535" y="291279"/>
                </a:cubicBezTo>
                <a:cubicBezTo>
                  <a:pt x="307611" y="291279"/>
                  <a:pt x="313688" y="290521"/>
                  <a:pt x="319764" y="289762"/>
                </a:cubicBezTo>
                <a:cubicBezTo>
                  <a:pt x="321283" y="289762"/>
                  <a:pt x="322042" y="289762"/>
                  <a:pt x="323561" y="289762"/>
                </a:cubicBezTo>
                <a:cubicBezTo>
                  <a:pt x="330397" y="289004"/>
                  <a:pt x="337233" y="288245"/>
                  <a:pt x="344069" y="286728"/>
                </a:cubicBezTo>
                <a:cubicBezTo>
                  <a:pt x="344069" y="286728"/>
                  <a:pt x="344069" y="286728"/>
                  <a:pt x="344828" y="286728"/>
                </a:cubicBezTo>
                <a:cubicBezTo>
                  <a:pt x="379007" y="282177"/>
                  <a:pt x="408629" y="273833"/>
                  <a:pt x="431415" y="264730"/>
                </a:cubicBezTo>
                <a:cubicBezTo>
                  <a:pt x="435972" y="263213"/>
                  <a:pt x="439770" y="261696"/>
                  <a:pt x="443568" y="259421"/>
                </a:cubicBezTo>
                <a:cubicBezTo>
                  <a:pt x="444327" y="259421"/>
                  <a:pt x="444327" y="259421"/>
                  <a:pt x="445087" y="258662"/>
                </a:cubicBezTo>
                <a:cubicBezTo>
                  <a:pt x="448125" y="257145"/>
                  <a:pt x="451923" y="255628"/>
                  <a:pt x="454201" y="254111"/>
                </a:cubicBezTo>
                <a:cubicBezTo>
                  <a:pt x="454961" y="253352"/>
                  <a:pt x="455720" y="253352"/>
                  <a:pt x="456480" y="252594"/>
                </a:cubicBezTo>
                <a:cubicBezTo>
                  <a:pt x="459518" y="251077"/>
                  <a:pt x="461797" y="249560"/>
                  <a:pt x="464075" y="248042"/>
                </a:cubicBezTo>
                <a:cubicBezTo>
                  <a:pt x="464835" y="247284"/>
                  <a:pt x="465594" y="246525"/>
                  <a:pt x="466354" y="246525"/>
                </a:cubicBezTo>
                <a:cubicBezTo>
                  <a:pt x="468632" y="245008"/>
                  <a:pt x="470151" y="243491"/>
                  <a:pt x="471671" y="241974"/>
                </a:cubicBezTo>
                <a:cubicBezTo>
                  <a:pt x="473190" y="241216"/>
                  <a:pt x="473949" y="240457"/>
                  <a:pt x="474709" y="239699"/>
                </a:cubicBezTo>
                <a:cubicBezTo>
                  <a:pt x="476228" y="238181"/>
                  <a:pt x="476987" y="236664"/>
                  <a:pt x="478506" y="235906"/>
                </a:cubicBezTo>
                <a:cubicBezTo>
                  <a:pt x="479266" y="234389"/>
                  <a:pt x="480025" y="233630"/>
                  <a:pt x="480785" y="232872"/>
                </a:cubicBezTo>
                <a:cubicBezTo>
                  <a:pt x="481544" y="231355"/>
                  <a:pt x="482304" y="230596"/>
                  <a:pt x="483064" y="229079"/>
                </a:cubicBezTo>
                <a:cubicBezTo>
                  <a:pt x="483064" y="228320"/>
                  <a:pt x="483823" y="226803"/>
                  <a:pt x="484583" y="226045"/>
                </a:cubicBezTo>
                <a:cubicBezTo>
                  <a:pt x="484583" y="224528"/>
                  <a:pt x="485342" y="223769"/>
                  <a:pt x="485342" y="222252"/>
                </a:cubicBezTo>
                <a:cubicBezTo>
                  <a:pt x="486102" y="220735"/>
                  <a:pt x="486102" y="219218"/>
                  <a:pt x="486102" y="217701"/>
                </a:cubicBezTo>
                <a:lnTo>
                  <a:pt x="486102" y="134262"/>
                </a:lnTo>
                <a:cubicBezTo>
                  <a:pt x="485342" y="135779"/>
                  <a:pt x="483823" y="136537"/>
                  <a:pt x="482304" y="138054"/>
                </a:cubicBezTo>
                <a:cubicBezTo>
                  <a:pt x="481544" y="138054"/>
                  <a:pt x="480785" y="138813"/>
                  <a:pt x="480025" y="139571"/>
                </a:cubicBezTo>
                <a:cubicBezTo>
                  <a:pt x="476987" y="141847"/>
                  <a:pt x="473949" y="144123"/>
                  <a:pt x="470151" y="146398"/>
                </a:cubicBezTo>
                <a:cubicBezTo>
                  <a:pt x="469392" y="147157"/>
                  <a:pt x="468632" y="147157"/>
                  <a:pt x="467873" y="147915"/>
                </a:cubicBezTo>
                <a:cubicBezTo>
                  <a:pt x="464835" y="150191"/>
                  <a:pt x="461797" y="151708"/>
                  <a:pt x="458758" y="153225"/>
                </a:cubicBezTo>
                <a:cubicBezTo>
                  <a:pt x="457239" y="153984"/>
                  <a:pt x="455720" y="154742"/>
                  <a:pt x="454961" y="155501"/>
                </a:cubicBezTo>
                <a:cubicBezTo>
                  <a:pt x="451163" y="157018"/>
                  <a:pt x="447365" y="159293"/>
                  <a:pt x="442808" y="160811"/>
                </a:cubicBezTo>
                <a:cubicBezTo>
                  <a:pt x="442808" y="160811"/>
                  <a:pt x="442049" y="161569"/>
                  <a:pt x="441289" y="161569"/>
                </a:cubicBezTo>
                <a:cubicBezTo>
                  <a:pt x="436732" y="163845"/>
                  <a:pt x="431415" y="165362"/>
                  <a:pt x="426099" y="167637"/>
                </a:cubicBezTo>
                <a:cubicBezTo>
                  <a:pt x="424579" y="168396"/>
                  <a:pt x="423060" y="168396"/>
                  <a:pt x="421541" y="169154"/>
                </a:cubicBezTo>
                <a:cubicBezTo>
                  <a:pt x="417744" y="170672"/>
                  <a:pt x="413186" y="171430"/>
                  <a:pt x="408629" y="172947"/>
                </a:cubicBezTo>
                <a:cubicBezTo>
                  <a:pt x="407110" y="173706"/>
                  <a:pt x="405591" y="173706"/>
                  <a:pt x="404072" y="174464"/>
                </a:cubicBezTo>
                <a:cubicBezTo>
                  <a:pt x="397996" y="175981"/>
                  <a:pt x="391919" y="177498"/>
                  <a:pt x="385084" y="179015"/>
                </a:cubicBezTo>
                <a:cubicBezTo>
                  <a:pt x="384324" y="179015"/>
                  <a:pt x="383565" y="179774"/>
                  <a:pt x="382805" y="179774"/>
                </a:cubicBezTo>
                <a:cubicBezTo>
                  <a:pt x="376729" y="181291"/>
                  <a:pt x="371412" y="182050"/>
                  <a:pt x="365336" y="182808"/>
                </a:cubicBezTo>
                <a:cubicBezTo>
                  <a:pt x="363057" y="183567"/>
                  <a:pt x="360779" y="183567"/>
                  <a:pt x="359260" y="184325"/>
                </a:cubicBezTo>
                <a:cubicBezTo>
                  <a:pt x="353183" y="185084"/>
                  <a:pt x="347107" y="185842"/>
                  <a:pt x="341031" y="186601"/>
                </a:cubicBezTo>
                <a:cubicBezTo>
                  <a:pt x="339512" y="187359"/>
                  <a:pt x="337993" y="187359"/>
                  <a:pt x="336474" y="187359"/>
                </a:cubicBezTo>
                <a:cubicBezTo>
                  <a:pt x="328878" y="188118"/>
                  <a:pt x="321283" y="188876"/>
                  <a:pt x="312928" y="189635"/>
                </a:cubicBezTo>
                <a:cubicBezTo>
                  <a:pt x="311409" y="189635"/>
                  <a:pt x="309130" y="190394"/>
                  <a:pt x="306852" y="190394"/>
                </a:cubicBezTo>
                <a:cubicBezTo>
                  <a:pt x="300775" y="190394"/>
                  <a:pt x="293940" y="191152"/>
                  <a:pt x="287863" y="191152"/>
                </a:cubicBezTo>
                <a:cubicBezTo>
                  <a:pt x="284825" y="191152"/>
                  <a:pt x="282547" y="191911"/>
                  <a:pt x="280268" y="191911"/>
                </a:cubicBezTo>
                <a:cubicBezTo>
                  <a:pt x="271154" y="191911"/>
                  <a:pt x="262799" y="191911"/>
                  <a:pt x="252925" y="191911"/>
                </a:cubicBezTo>
                <a:cubicBezTo>
                  <a:pt x="243810" y="191911"/>
                  <a:pt x="235456" y="191911"/>
                  <a:pt x="226341" y="191911"/>
                </a:cubicBezTo>
                <a:cubicBezTo>
                  <a:pt x="224063" y="191911"/>
                  <a:pt x="221784" y="191152"/>
                  <a:pt x="218746" y="191152"/>
                </a:cubicBezTo>
                <a:cubicBezTo>
                  <a:pt x="212670" y="191152"/>
                  <a:pt x="205834" y="190394"/>
                  <a:pt x="199757" y="190394"/>
                </a:cubicBezTo>
                <a:cubicBezTo>
                  <a:pt x="197479" y="190394"/>
                  <a:pt x="195200" y="189635"/>
                  <a:pt x="193681" y="189635"/>
                </a:cubicBezTo>
                <a:cubicBezTo>
                  <a:pt x="185326" y="188876"/>
                  <a:pt x="177731" y="188118"/>
                  <a:pt x="170136" y="187359"/>
                </a:cubicBezTo>
                <a:cubicBezTo>
                  <a:pt x="168617" y="187359"/>
                  <a:pt x="167097" y="187359"/>
                  <a:pt x="165578" y="186601"/>
                </a:cubicBezTo>
                <a:cubicBezTo>
                  <a:pt x="159502" y="185842"/>
                  <a:pt x="153426" y="185084"/>
                  <a:pt x="147350" y="184325"/>
                </a:cubicBezTo>
                <a:cubicBezTo>
                  <a:pt x="145831" y="183567"/>
                  <a:pt x="143552" y="183567"/>
                  <a:pt x="141273" y="182808"/>
                </a:cubicBezTo>
                <a:cubicBezTo>
                  <a:pt x="135197" y="182050"/>
                  <a:pt x="129880" y="181291"/>
                  <a:pt x="123804" y="179774"/>
                </a:cubicBezTo>
                <a:cubicBezTo>
                  <a:pt x="123045" y="179774"/>
                  <a:pt x="122285" y="179015"/>
                  <a:pt x="121525" y="179015"/>
                </a:cubicBezTo>
                <a:cubicBezTo>
                  <a:pt x="114690" y="177498"/>
                  <a:pt x="108613" y="175981"/>
                  <a:pt x="102537" y="174464"/>
                </a:cubicBezTo>
                <a:cubicBezTo>
                  <a:pt x="101018" y="173706"/>
                  <a:pt x="99499" y="173706"/>
                  <a:pt x="97980" y="172947"/>
                </a:cubicBezTo>
                <a:cubicBezTo>
                  <a:pt x="93423" y="171430"/>
                  <a:pt x="88866" y="170672"/>
                  <a:pt x="85068" y="169154"/>
                </a:cubicBezTo>
                <a:cubicBezTo>
                  <a:pt x="83549" y="168396"/>
                  <a:pt x="82030" y="168396"/>
                  <a:pt x="80511" y="167637"/>
                </a:cubicBezTo>
                <a:cubicBezTo>
                  <a:pt x="75194" y="165362"/>
                  <a:pt x="69877" y="163845"/>
                  <a:pt x="65320" y="161569"/>
                </a:cubicBezTo>
                <a:cubicBezTo>
                  <a:pt x="64560" y="161569"/>
                  <a:pt x="63801" y="160811"/>
                  <a:pt x="63801" y="160811"/>
                </a:cubicBezTo>
                <a:cubicBezTo>
                  <a:pt x="59244" y="159293"/>
                  <a:pt x="55446" y="157018"/>
                  <a:pt x="51648" y="155501"/>
                </a:cubicBezTo>
                <a:cubicBezTo>
                  <a:pt x="50889" y="154742"/>
                  <a:pt x="49370" y="153984"/>
                  <a:pt x="47851" y="153225"/>
                </a:cubicBezTo>
                <a:cubicBezTo>
                  <a:pt x="44813" y="151708"/>
                  <a:pt x="41774" y="150191"/>
                  <a:pt x="38736" y="147915"/>
                </a:cubicBezTo>
                <a:cubicBezTo>
                  <a:pt x="37977" y="147157"/>
                  <a:pt x="37217" y="147157"/>
                  <a:pt x="36458" y="146398"/>
                </a:cubicBezTo>
                <a:cubicBezTo>
                  <a:pt x="32660" y="144123"/>
                  <a:pt x="29622" y="141847"/>
                  <a:pt x="26584" y="139571"/>
                </a:cubicBezTo>
                <a:cubicBezTo>
                  <a:pt x="25824" y="138813"/>
                  <a:pt x="25065" y="138054"/>
                  <a:pt x="24305" y="138054"/>
                </a:cubicBezTo>
                <a:cubicBezTo>
                  <a:pt x="22786" y="136537"/>
                  <a:pt x="21267" y="135779"/>
                  <a:pt x="20507" y="134262"/>
                </a:cubicBezTo>
                <a:close/>
                <a:moveTo>
                  <a:pt x="252925" y="20481"/>
                </a:moveTo>
                <a:cubicBezTo>
                  <a:pt x="116209" y="20481"/>
                  <a:pt x="20507" y="59925"/>
                  <a:pt x="20507" y="96335"/>
                </a:cubicBezTo>
                <a:cubicBezTo>
                  <a:pt x="20507" y="131986"/>
                  <a:pt x="116209" y="172189"/>
                  <a:pt x="252925" y="172189"/>
                </a:cubicBezTo>
                <a:cubicBezTo>
                  <a:pt x="390400" y="172189"/>
                  <a:pt x="486102" y="131986"/>
                  <a:pt x="486102" y="96335"/>
                </a:cubicBezTo>
                <a:cubicBezTo>
                  <a:pt x="486102" y="59925"/>
                  <a:pt x="390400" y="20481"/>
                  <a:pt x="252925" y="20481"/>
                </a:cubicBezTo>
                <a:close/>
                <a:moveTo>
                  <a:pt x="252925" y="0"/>
                </a:moveTo>
                <a:cubicBezTo>
                  <a:pt x="405591" y="0"/>
                  <a:pt x="492937" y="42478"/>
                  <a:pt x="505090" y="85715"/>
                </a:cubicBezTo>
                <a:cubicBezTo>
                  <a:pt x="505850" y="87232"/>
                  <a:pt x="506609" y="89508"/>
                  <a:pt x="506609" y="91025"/>
                </a:cubicBezTo>
                <a:lnTo>
                  <a:pt x="506609" y="96335"/>
                </a:lnTo>
                <a:lnTo>
                  <a:pt x="506609" y="217701"/>
                </a:lnTo>
                <a:lnTo>
                  <a:pt x="506609" y="222252"/>
                </a:lnTo>
                <a:lnTo>
                  <a:pt x="506609" y="303416"/>
                </a:lnTo>
                <a:cubicBezTo>
                  <a:pt x="506609" y="308726"/>
                  <a:pt x="502052" y="313277"/>
                  <a:pt x="495976" y="313277"/>
                </a:cubicBezTo>
                <a:cubicBezTo>
                  <a:pt x="490659" y="313277"/>
                  <a:pt x="486102" y="308726"/>
                  <a:pt x="486102" y="303416"/>
                </a:cubicBezTo>
                <a:lnTo>
                  <a:pt x="486102" y="255628"/>
                </a:lnTo>
                <a:cubicBezTo>
                  <a:pt x="483823" y="257903"/>
                  <a:pt x="480785" y="260179"/>
                  <a:pt x="477747" y="262455"/>
                </a:cubicBezTo>
                <a:cubicBezTo>
                  <a:pt x="439770" y="291279"/>
                  <a:pt x="363057" y="313277"/>
                  <a:pt x="252925" y="313277"/>
                </a:cubicBezTo>
                <a:cubicBezTo>
                  <a:pt x="142792" y="313277"/>
                  <a:pt x="66080" y="291279"/>
                  <a:pt x="28103" y="262455"/>
                </a:cubicBezTo>
                <a:cubicBezTo>
                  <a:pt x="25824" y="260179"/>
                  <a:pt x="23546" y="258662"/>
                  <a:pt x="21267" y="256386"/>
                </a:cubicBezTo>
                <a:cubicBezTo>
                  <a:pt x="21267" y="256386"/>
                  <a:pt x="20507" y="256386"/>
                  <a:pt x="20507" y="255628"/>
                </a:cubicBezTo>
                <a:lnTo>
                  <a:pt x="20507" y="339067"/>
                </a:lnTo>
                <a:cubicBezTo>
                  <a:pt x="20507" y="340584"/>
                  <a:pt x="20507" y="342101"/>
                  <a:pt x="21267" y="343618"/>
                </a:cubicBezTo>
                <a:cubicBezTo>
                  <a:pt x="21267" y="345135"/>
                  <a:pt x="22027" y="345894"/>
                  <a:pt x="22027" y="347411"/>
                </a:cubicBezTo>
                <a:cubicBezTo>
                  <a:pt x="22786" y="348170"/>
                  <a:pt x="23546" y="349687"/>
                  <a:pt x="23546" y="350445"/>
                </a:cubicBezTo>
                <a:cubicBezTo>
                  <a:pt x="24305" y="351962"/>
                  <a:pt x="25065" y="352721"/>
                  <a:pt x="25824" y="354238"/>
                </a:cubicBezTo>
                <a:cubicBezTo>
                  <a:pt x="26584" y="354996"/>
                  <a:pt x="27343" y="355755"/>
                  <a:pt x="28103" y="356514"/>
                </a:cubicBezTo>
                <a:cubicBezTo>
                  <a:pt x="29622" y="358031"/>
                  <a:pt x="30381" y="359548"/>
                  <a:pt x="31900" y="361065"/>
                </a:cubicBezTo>
                <a:cubicBezTo>
                  <a:pt x="32660" y="361823"/>
                  <a:pt x="33420" y="362582"/>
                  <a:pt x="34939" y="363340"/>
                </a:cubicBezTo>
                <a:cubicBezTo>
                  <a:pt x="36458" y="364857"/>
                  <a:pt x="37977" y="366375"/>
                  <a:pt x="40255" y="367892"/>
                </a:cubicBezTo>
                <a:cubicBezTo>
                  <a:pt x="41015" y="367892"/>
                  <a:pt x="41774" y="368650"/>
                  <a:pt x="42534" y="369409"/>
                </a:cubicBezTo>
                <a:cubicBezTo>
                  <a:pt x="44813" y="370926"/>
                  <a:pt x="47091" y="372443"/>
                  <a:pt x="50129" y="373960"/>
                </a:cubicBezTo>
                <a:cubicBezTo>
                  <a:pt x="50889" y="374718"/>
                  <a:pt x="51648" y="374718"/>
                  <a:pt x="51648" y="375477"/>
                </a:cubicBezTo>
                <a:cubicBezTo>
                  <a:pt x="54686" y="376994"/>
                  <a:pt x="58484" y="378511"/>
                  <a:pt x="61522" y="380028"/>
                </a:cubicBezTo>
                <a:cubicBezTo>
                  <a:pt x="62282" y="380787"/>
                  <a:pt x="62282" y="380787"/>
                  <a:pt x="63041" y="380787"/>
                </a:cubicBezTo>
                <a:cubicBezTo>
                  <a:pt x="66839" y="383062"/>
                  <a:pt x="70637" y="384580"/>
                  <a:pt x="75194" y="386097"/>
                </a:cubicBezTo>
                <a:cubicBezTo>
                  <a:pt x="97980" y="395199"/>
                  <a:pt x="127602" y="403543"/>
                  <a:pt x="161781" y="408094"/>
                </a:cubicBezTo>
                <a:cubicBezTo>
                  <a:pt x="162540" y="408094"/>
                  <a:pt x="162540" y="408094"/>
                  <a:pt x="162540" y="408094"/>
                </a:cubicBezTo>
                <a:cubicBezTo>
                  <a:pt x="169376" y="409611"/>
                  <a:pt x="176212" y="410370"/>
                  <a:pt x="183048" y="411128"/>
                </a:cubicBezTo>
                <a:cubicBezTo>
                  <a:pt x="183807" y="411128"/>
                  <a:pt x="185326" y="411128"/>
                  <a:pt x="186845" y="411128"/>
                </a:cubicBezTo>
                <a:cubicBezTo>
                  <a:pt x="192922" y="411887"/>
                  <a:pt x="198998" y="412645"/>
                  <a:pt x="205074" y="412645"/>
                </a:cubicBezTo>
                <a:cubicBezTo>
                  <a:pt x="208112" y="413404"/>
                  <a:pt x="211150" y="413404"/>
                  <a:pt x="214189" y="413404"/>
                </a:cubicBezTo>
                <a:cubicBezTo>
                  <a:pt x="218746" y="413404"/>
                  <a:pt x="224063" y="414163"/>
                  <a:pt x="228620" y="414163"/>
                </a:cubicBezTo>
                <a:cubicBezTo>
                  <a:pt x="236975" y="414163"/>
                  <a:pt x="244570" y="414921"/>
                  <a:pt x="252925" y="414921"/>
                </a:cubicBezTo>
                <a:cubicBezTo>
                  <a:pt x="259001" y="414921"/>
                  <a:pt x="263558" y="419472"/>
                  <a:pt x="263558" y="424782"/>
                </a:cubicBezTo>
                <a:cubicBezTo>
                  <a:pt x="263558" y="430092"/>
                  <a:pt x="259001" y="434643"/>
                  <a:pt x="252925" y="434643"/>
                </a:cubicBezTo>
                <a:cubicBezTo>
                  <a:pt x="142792" y="434643"/>
                  <a:pt x="66080" y="412645"/>
                  <a:pt x="28103" y="383821"/>
                </a:cubicBezTo>
                <a:cubicBezTo>
                  <a:pt x="25824" y="381545"/>
                  <a:pt x="23546" y="380028"/>
                  <a:pt x="21267" y="377753"/>
                </a:cubicBezTo>
                <a:cubicBezTo>
                  <a:pt x="21267" y="377753"/>
                  <a:pt x="20507" y="377753"/>
                  <a:pt x="20507" y="376994"/>
                </a:cubicBezTo>
                <a:lnTo>
                  <a:pt x="20507" y="461950"/>
                </a:lnTo>
                <a:cubicBezTo>
                  <a:pt x="20507" y="462709"/>
                  <a:pt x="20507" y="463468"/>
                  <a:pt x="20507" y="463468"/>
                </a:cubicBezTo>
                <a:cubicBezTo>
                  <a:pt x="25065" y="491533"/>
                  <a:pt x="91144" y="525668"/>
                  <a:pt x="203555" y="534012"/>
                </a:cubicBezTo>
                <a:cubicBezTo>
                  <a:pt x="208872" y="534770"/>
                  <a:pt x="213429" y="539321"/>
                  <a:pt x="212670" y="545390"/>
                </a:cubicBezTo>
                <a:cubicBezTo>
                  <a:pt x="212670" y="550700"/>
                  <a:pt x="208112" y="554492"/>
                  <a:pt x="202796" y="554492"/>
                </a:cubicBezTo>
                <a:cubicBezTo>
                  <a:pt x="202036" y="554492"/>
                  <a:pt x="202036" y="554492"/>
                  <a:pt x="202036" y="554492"/>
                </a:cubicBezTo>
                <a:cubicBezTo>
                  <a:pt x="109373" y="547665"/>
                  <a:pt x="12912" y="518841"/>
                  <a:pt x="1519" y="469536"/>
                </a:cubicBezTo>
                <a:cubicBezTo>
                  <a:pt x="760" y="468777"/>
                  <a:pt x="0" y="466502"/>
                  <a:pt x="0" y="464985"/>
                </a:cubicBezTo>
                <a:lnTo>
                  <a:pt x="0" y="343618"/>
                </a:lnTo>
                <a:lnTo>
                  <a:pt x="0" y="339067"/>
                </a:lnTo>
                <a:lnTo>
                  <a:pt x="0" y="222252"/>
                </a:lnTo>
                <a:lnTo>
                  <a:pt x="0" y="217701"/>
                </a:lnTo>
                <a:lnTo>
                  <a:pt x="0" y="96335"/>
                </a:lnTo>
                <a:lnTo>
                  <a:pt x="0" y="91025"/>
                </a:lnTo>
                <a:cubicBezTo>
                  <a:pt x="0" y="89508"/>
                  <a:pt x="760" y="87232"/>
                  <a:pt x="1519" y="85715"/>
                </a:cubicBezTo>
                <a:cubicBezTo>
                  <a:pt x="13672" y="42478"/>
                  <a:pt x="100259" y="0"/>
                  <a:pt x="252925" y="0"/>
                </a:cubicBezTo>
                <a:close/>
              </a:path>
            </a:pathLst>
          </a:custGeom>
          <a:solidFill>
            <a:srgbClr val="FFFFFF">
              <a:lumMod val="75000"/>
            </a:srgbClr>
          </a:solidFill>
          <a:ln>
            <a:noFill/>
          </a:ln>
        </p:spPr>
        <p:txBody>
          <a:bodyPr/>
          <a:lstStyle/>
          <a:p>
            <a:endParaRPr lang="zh-CN" altLang="en-US" sz="120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矩形 50"/>
          <p:cNvSpPr/>
          <p:nvPr/>
        </p:nvSpPr>
        <p:spPr>
          <a:xfrm>
            <a:off x="2699313" y="2155399"/>
            <a:ext cx="492444"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视频</a:t>
            </a:r>
          </a:p>
        </p:txBody>
      </p:sp>
      <p:sp>
        <p:nvSpPr>
          <p:cNvPr id="54" name="椭圆 53"/>
          <p:cNvSpPr/>
          <p:nvPr/>
        </p:nvSpPr>
        <p:spPr>
          <a:xfrm>
            <a:off x="2724201" y="1695966"/>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video-clip_157366"/>
          <p:cNvSpPr>
            <a:spLocks noChangeAspect="1"/>
          </p:cNvSpPr>
          <p:nvPr/>
        </p:nvSpPr>
        <p:spPr bwMode="auto">
          <a:xfrm>
            <a:off x="2805374" y="1787550"/>
            <a:ext cx="324408" cy="303436"/>
          </a:xfrm>
          <a:custGeom>
            <a:avLst/>
            <a:gdLst>
              <a:gd name="connsiteX0" fmla="*/ 470937 w 580346"/>
              <a:gd name="connsiteY0" fmla="*/ 425441 h 542827"/>
              <a:gd name="connsiteX1" fmla="*/ 470937 w 580346"/>
              <a:gd name="connsiteY1" fmla="*/ 524507 h 542827"/>
              <a:gd name="connsiteX2" fmla="*/ 517827 w 580346"/>
              <a:gd name="connsiteY2" fmla="*/ 524507 h 542827"/>
              <a:gd name="connsiteX3" fmla="*/ 561318 w 580346"/>
              <a:gd name="connsiteY3" fmla="*/ 479723 h 542827"/>
              <a:gd name="connsiteX4" fmla="*/ 561318 w 580346"/>
              <a:gd name="connsiteY4" fmla="*/ 425441 h 542827"/>
              <a:gd name="connsiteX5" fmla="*/ 18348 w 580346"/>
              <a:gd name="connsiteY5" fmla="*/ 425441 h 542827"/>
              <a:gd name="connsiteX6" fmla="*/ 18348 w 580346"/>
              <a:gd name="connsiteY6" fmla="*/ 479723 h 542827"/>
              <a:gd name="connsiteX7" fmla="*/ 61840 w 580346"/>
              <a:gd name="connsiteY7" fmla="*/ 524507 h 542827"/>
              <a:gd name="connsiteX8" fmla="*/ 108730 w 580346"/>
              <a:gd name="connsiteY8" fmla="*/ 524507 h 542827"/>
              <a:gd name="connsiteX9" fmla="*/ 108730 w 580346"/>
              <a:gd name="connsiteY9" fmla="*/ 425441 h 542827"/>
              <a:gd name="connsiteX10" fmla="*/ 470937 w 580346"/>
              <a:gd name="connsiteY10" fmla="*/ 325696 h 542827"/>
              <a:gd name="connsiteX11" fmla="*/ 470937 w 580346"/>
              <a:gd name="connsiteY11" fmla="*/ 406442 h 542827"/>
              <a:gd name="connsiteX12" fmla="*/ 561318 w 580346"/>
              <a:gd name="connsiteY12" fmla="*/ 406442 h 542827"/>
              <a:gd name="connsiteX13" fmla="*/ 561318 w 580346"/>
              <a:gd name="connsiteY13" fmla="*/ 325696 h 542827"/>
              <a:gd name="connsiteX14" fmla="*/ 18348 w 580346"/>
              <a:gd name="connsiteY14" fmla="*/ 325696 h 542827"/>
              <a:gd name="connsiteX15" fmla="*/ 18348 w 580346"/>
              <a:gd name="connsiteY15" fmla="*/ 406442 h 542827"/>
              <a:gd name="connsiteX16" fmla="*/ 108730 w 580346"/>
              <a:gd name="connsiteY16" fmla="*/ 406442 h 542827"/>
              <a:gd name="connsiteX17" fmla="*/ 108730 w 580346"/>
              <a:gd name="connsiteY17" fmla="*/ 325696 h 542827"/>
              <a:gd name="connsiteX18" fmla="*/ 470937 w 580346"/>
              <a:gd name="connsiteY18" fmla="*/ 225952 h 542827"/>
              <a:gd name="connsiteX19" fmla="*/ 470937 w 580346"/>
              <a:gd name="connsiteY19" fmla="*/ 307376 h 542827"/>
              <a:gd name="connsiteX20" fmla="*/ 561318 w 580346"/>
              <a:gd name="connsiteY20" fmla="*/ 307376 h 542827"/>
              <a:gd name="connsiteX21" fmla="*/ 561318 w 580346"/>
              <a:gd name="connsiteY21" fmla="*/ 225952 h 542827"/>
              <a:gd name="connsiteX22" fmla="*/ 18348 w 580346"/>
              <a:gd name="connsiteY22" fmla="*/ 225952 h 542827"/>
              <a:gd name="connsiteX23" fmla="*/ 18348 w 580346"/>
              <a:gd name="connsiteY23" fmla="*/ 307376 h 542827"/>
              <a:gd name="connsiteX24" fmla="*/ 108730 w 580346"/>
              <a:gd name="connsiteY24" fmla="*/ 307376 h 542827"/>
              <a:gd name="connsiteX25" fmla="*/ 108730 w 580346"/>
              <a:gd name="connsiteY25" fmla="*/ 225952 h 542827"/>
              <a:gd name="connsiteX26" fmla="*/ 244636 w 580346"/>
              <a:gd name="connsiteY26" fmla="*/ 213088 h 542827"/>
              <a:gd name="connsiteX27" fmla="*/ 244636 w 580346"/>
              <a:gd name="connsiteY27" fmla="*/ 329109 h 542827"/>
              <a:gd name="connsiteX28" fmla="*/ 360831 w 580346"/>
              <a:gd name="connsiteY28" fmla="*/ 271438 h 542827"/>
              <a:gd name="connsiteX29" fmla="*/ 239200 w 580346"/>
              <a:gd name="connsiteY29" fmla="*/ 190698 h 542827"/>
              <a:gd name="connsiteX30" fmla="*/ 384614 w 580346"/>
              <a:gd name="connsiteY30" fmla="*/ 263296 h 542827"/>
              <a:gd name="connsiteX31" fmla="*/ 389370 w 580346"/>
              <a:gd name="connsiteY31" fmla="*/ 271438 h 542827"/>
              <a:gd name="connsiteX32" fmla="*/ 384614 w 580346"/>
              <a:gd name="connsiteY32" fmla="*/ 278901 h 542827"/>
              <a:gd name="connsiteX33" fmla="*/ 239200 w 580346"/>
              <a:gd name="connsiteY33" fmla="*/ 351500 h 542827"/>
              <a:gd name="connsiteX34" fmla="*/ 235803 w 580346"/>
              <a:gd name="connsiteY34" fmla="*/ 352178 h 542827"/>
              <a:gd name="connsiteX35" fmla="*/ 231046 w 580346"/>
              <a:gd name="connsiteY35" fmla="*/ 350821 h 542827"/>
              <a:gd name="connsiteX36" fmla="*/ 226969 w 580346"/>
              <a:gd name="connsiteY36" fmla="*/ 343358 h 542827"/>
              <a:gd name="connsiteX37" fmla="*/ 226969 w 580346"/>
              <a:gd name="connsiteY37" fmla="*/ 198840 h 542827"/>
              <a:gd name="connsiteX38" fmla="*/ 231046 w 580346"/>
              <a:gd name="connsiteY38" fmla="*/ 191376 h 542827"/>
              <a:gd name="connsiteX39" fmla="*/ 239200 w 580346"/>
              <a:gd name="connsiteY39" fmla="*/ 190698 h 542827"/>
              <a:gd name="connsiteX40" fmla="*/ 470937 w 580346"/>
              <a:gd name="connsiteY40" fmla="*/ 126886 h 542827"/>
              <a:gd name="connsiteX41" fmla="*/ 470937 w 580346"/>
              <a:gd name="connsiteY41" fmla="*/ 207631 h 542827"/>
              <a:gd name="connsiteX42" fmla="*/ 561318 w 580346"/>
              <a:gd name="connsiteY42" fmla="*/ 207631 h 542827"/>
              <a:gd name="connsiteX43" fmla="*/ 561318 w 580346"/>
              <a:gd name="connsiteY43" fmla="*/ 126886 h 542827"/>
              <a:gd name="connsiteX44" fmla="*/ 18348 w 580346"/>
              <a:gd name="connsiteY44" fmla="*/ 126886 h 542827"/>
              <a:gd name="connsiteX45" fmla="*/ 18348 w 580346"/>
              <a:gd name="connsiteY45" fmla="*/ 207631 h 542827"/>
              <a:gd name="connsiteX46" fmla="*/ 108730 w 580346"/>
              <a:gd name="connsiteY46" fmla="*/ 207631 h 542827"/>
              <a:gd name="connsiteX47" fmla="*/ 108730 w 580346"/>
              <a:gd name="connsiteY47" fmla="*/ 126886 h 542827"/>
              <a:gd name="connsiteX48" fmla="*/ 470937 w 580346"/>
              <a:gd name="connsiteY48" fmla="*/ 17642 h 542827"/>
              <a:gd name="connsiteX49" fmla="*/ 470937 w 580346"/>
              <a:gd name="connsiteY49" fmla="*/ 107887 h 542827"/>
              <a:gd name="connsiteX50" fmla="*/ 561318 w 580346"/>
              <a:gd name="connsiteY50" fmla="*/ 107887 h 542827"/>
              <a:gd name="connsiteX51" fmla="*/ 561318 w 580346"/>
              <a:gd name="connsiteY51" fmla="*/ 62425 h 542827"/>
              <a:gd name="connsiteX52" fmla="*/ 517827 w 580346"/>
              <a:gd name="connsiteY52" fmla="*/ 17642 h 542827"/>
              <a:gd name="connsiteX53" fmla="*/ 127078 w 580346"/>
              <a:gd name="connsiteY53" fmla="*/ 17642 h 542827"/>
              <a:gd name="connsiteX54" fmla="*/ 127078 w 580346"/>
              <a:gd name="connsiteY54" fmla="*/ 116708 h 542827"/>
              <a:gd name="connsiteX55" fmla="*/ 127078 w 580346"/>
              <a:gd name="connsiteY55" fmla="*/ 117386 h 542827"/>
              <a:gd name="connsiteX56" fmla="*/ 127078 w 580346"/>
              <a:gd name="connsiteY56" fmla="*/ 118065 h 542827"/>
              <a:gd name="connsiteX57" fmla="*/ 127078 w 580346"/>
              <a:gd name="connsiteY57" fmla="*/ 216452 h 542827"/>
              <a:gd name="connsiteX58" fmla="*/ 127078 w 580346"/>
              <a:gd name="connsiteY58" fmla="*/ 217131 h 542827"/>
              <a:gd name="connsiteX59" fmla="*/ 127078 w 580346"/>
              <a:gd name="connsiteY59" fmla="*/ 217809 h 542827"/>
              <a:gd name="connsiteX60" fmla="*/ 127078 w 580346"/>
              <a:gd name="connsiteY60" fmla="*/ 315518 h 542827"/>
              <a:gd name="connsiteX61" fmla="*/ 127078 w 580346"/>
              <a:gd name="connsiteY61" fmla="*/ 316197 h 542827"/>
              <a:gd name="connsiteX62" fmla="*/ 127078 w 580346"/>
              <a:gd name="connsiteY62" fmla="*/ 316875 h 542827"/>
              <a:gd name="connsiteX63" fmla="*/ 127078 w 580346"/>
              <a:gd name="connsiteY63" fmla="*/ 415263 h 542827"/>
              <a:gd name="connsiteX64" fmla="*/ 127078 w 580346"/>
              <a:gd name="connsiteY64" fmla="*/ 415941 h 542827"/>
              <a:gd name="connsiteX65" fmla="*/ 127078 w 580346"/>
              <a:gd name="connsiteY65" fmla="*/ 416620 h 542827"/>
              <a:gd name="connsiteX66" fmla="*/ 127078 w 580346"/>
              <a:gd name="connsiteY66" fmla="*/ 524507 h 542827"/>
              <a:gd name="connsiteX67" fmla="*/ 452589 w 580346"/>
              <a:gd name="connsiteY67" fmla="*/ 524507 h 542827"/>
              <a:gd name="connsiteX68" fmla="*/ 452589 w 580346"/>
              <a:gd name="connsiteY68" fmla="*/ 416620 h 542827"/>
              <a:gd name="connsiteX69" fmla="*/ 452589 w 580346"/>
              <a:gd name="connsiteY69" fmla="*/ 415941 h 542827"/>
              <a:gd name="connsiteX70" fmla="*/ 452589 w 580346"/>
              <a:gd name="connsiteY70" fmla="*/ 415263 h 542827"/>
              <a:gd name="connsiteX71" fmla="*/ 452589 w 580346"/>
              <a:gd name="connsiteY71" fmla="*/ 316875 h 542827"/>
              <a:gd name="connsiteX72" fmla="*/ 452589 w 580346"/>
              <a:gd name="connsiteY72" fmla="*/ 316197 h 542827"/>
              <a:gd name="connsiteX73" fmla="*/ 452589 w 580346"/>
              <a:gd name="connsiteY73" fmla="*/ 315518 h 542827"/>
              <a:gd name="connsiteX74" fmla="*/ 452589 w 580346"/>
              <a:gd name="connsiteY74" fmla="*/ 217809 h 542827"/>
              <a:gd name="connsiteX75" fmla="*/ 452589 w 580346"/>
              <a:gd name="connsiteY75" fmla="*/ 217131 h 542827"/>
              <a:gd name="connsiteX76" fmla="*/ 452589 w 580346"/>
              <a:gd name="connsiteY76" fmla="*/ 216452 h 542827"/>
              <a:gd name="connsiteX77" fmla="*/ 452589 w 580346"/>
              <a:gd name="connsiteY77" fmla="*/ 118065 h 542827"/>
              <a:gd name="connsiteX78" fmla="*/ 452589 w 580346"/>
              <a:gd name="connsiteY78" fmla="*/ 117386 h 542827"/>
              <a:gd name="connsiteX79" fmla="*/ 452589 w 580346"/>
              <a:gd name="connsiteY79" fmla="*/ 116708 h 542827"/>
              <a:gd name="connsiteX80" fmla="*/ 452589 w 580346"/>
              <a:gd name="connsiteY80" fmla="*/ 17642 h 542827"/>
              <a:gd name="connsiteX81" fmla="*/ 61840 w 580346"/>
              <a:gd name="connsiteY81" fmla="*/ 17642 h 542827"/>
              <a:gd name="connsiteX82" fmla="*/ 18348 w 580346"/>
              <a:gd name="connsiteY82" fmla="*/ 62425 h 542827"/>
              <a:gd name="connsiteX83" fmla="*/ 18348 w 580346"/>
              <a:gd name="connsiteY83" fmla="*/ 107887 h 542827"/>
              <a:gd name="connsiteX84" fmla="*/ 108730 w 580346"/>
              <a:gd name="connsiteY84" fmla="*/ 107887 h 542827"/>
              <a:gd name="connsiteX85" fmla="*/ 108730 w 580346"/>
              <a:gd name="connsiteY85" fmla="*/ 17642 h 542827"/>
              <a:gd name="connsiteX86" fmla="*/ 61840 w 580346"/>
              <a:gd name="connsiteY86" fmla="*/ 0 h 542827"/>
              <a:gd name="connsiteX87" fmla="*/ 517827 w 580346"/>
              <a:gd name="connsiteY87" fmla="*/ 0 h 542827"/>
              <a:gd name="connsiteX88" fmla="*/ 579667 w 580346"/>
              <a:gd name="connsiteY88" fmla="*/ 62425 h 542827"/>
              <a:gd name="connsiteX89" fmla="*/ 579667 w 580346"/>
              <a:gd name="connsiteY89" fmla="*/ 216452 h 542827"/>
              <a:gd name="connsiteX90" fmla="*/ 580346 w 580346"/>
              <a:gd name="connsiteY90" fmla="*/ 217131 h 542827"/>
              <a:gd name="connsiteX91" fmla="*/ 579667 w 580346"/>
              <a:gd name="connsiteY91" fmla="*/ 217809 h 542827"/>
              <a:gd name="connsiteX92" fmla="*/ 579667 w 580346"/>
              <a:gd name="connsiteY92" fmla="*/ 479723 h 542827"/>
              <a:gd name="connsiteX93" fmla="*/ 517827 w 580346"/>
              <a:gd name="connsiteY93" fmla="*/ 542827 h 542827"/>
              <a:gd name="connsiteX94" fmla="*/ 61840 w 580346"/>
              <a:gd name="connsiteY94" fmla="*/ 542827 h 542827"/>
              <a:gd name="connsiteX95" fmla="*/ 0 w 580346"/>
              <a:gd name="connsiteY95" fmla="*/ 479723 h 542827"/>
              <a:gd name="connsiteX96" fmla="*/ 0 w 580346"/>
              <a:gd name="connsiteY96" fmla="*/ 62425 h 542827"/>
              <a:gd name="connsiteX97" fmla="*/ 61840 w 580346"/>
              <a:gd name="connsiteY97" fmla="*/ 0 h 54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80346" h="542827">
                <a:moveTo>
                  <a:pt x="470937" y="425441"/>
                </a:moveTo>
                <a:lnTo>
                  <a:pt x="470937" y="524507"/>
                </a:lnTo>
                <a:lnTo>
                  <a:pt x="517827" y="524507"/>
                </a:lnTo>
                <a:cubicBezTo>
                  <a:pt x="542291" y="524507"/>
                  <a:pt x="561318" y="504829"/>
                  <a:pt x="561318" y="479723"/>
                </a:cubicBezTo>
                <a:lnTo>
                  <a:pt x="561318" y="425441"/>
                </a:lnTo>
                <a:close/>
                <a:moveTo>
                  <a:pt x="18348" y="425441"/>
                </a:moveTo>
                <a:lnTo>
                  <a:pt x="18348" y="479723"/>
                </a:lnTo>
                <a:cubicBezTo>
                  <a:pt x="18348" y="504829"/>
                  <a:pt x="37376" y="524507"/>
                  <a:pt x="61840" y="524507"/>
                </a:cubicBezTo>
                <a:lnTo>
                  <a:pt x="108730" y="524507"/>
                </a:lnTo>
                <a:lnTo>
                  <a:pt x="108730" y="425441"/>
                </a:lnTo>
                <a:close/>
                <a:moveTo>
                  <a:pt x="470937" y="325696"/>
                </a:moveTo>
                <a:lnTo>
                  <a:pt x="470937" y="406442"/>
                </a:lnTo>
                <a:lnTo>
                  <a:pt x="561318" y="406442"/>
                </a:lnTo>
                <a:lnTo>
                  <a:pt x="561318" y="325696"/>
                </a:lnTo>
                <a:close/>
                <a:moveTo>
                  <a:pt x="18348" y="325696"/>
                </a:moveTo>
                <a:lnTo>
                  <a:pt x="18348" y="406442"/>
                </a:lnTo>
                <a:lnTo>
                  <a:pt x="108730" y="406442"/>
                </a:lnTo>
                <a:lnTo>
                  <a:pt x="108730" y="325696"/>
                </a:lnTo>
                <a:close/>
                <a:moveTo>
                  <a:pt x="470937" y="225952"/>
                </a:moveTo>
                <a:lnTo>
                  <a:pt x="470937" y="307376"/>
                </a:lnTo>
                <a:lnTo>
                  <a:pt x="561318" y="307376"/>
                </a:lnTo>
                <a:lnTo>
                  <a:pt x="561318" y="225952"/>
                </a:lnTo>
                <a:close/>
                <a:moveTo>
                  <a:pt x="18348" y="225952"/>
                </a:moveTo>
                <a:lnTo>
                  <a:pt x="18348" y="307376"/>
                </a:lnTo>
                <a:lnTo>
                  <a:pt x="108730" y="307376"/>
                </a:lnTo>
                <a:lnTo>
                  <a:pt x="108730" y="225952"/>
                </a:lnTo>
                <a:close/>
                <a:moveTo>
                  <a:pt x="244636" y="213088"/>
                </a:moveTo>
                <a:lnTo>
                  <a:pt x="244636" y="329109"/>
                </a:lnTo>
                <a:lnTo>
                  <a:pt x="360831" y="271438"/>
                </a:lnTo>
                <a:close/>
                <a:moveTo>
                  <a:pt x="239200" y="190698"/>
                </a:moveTo>
                <a:lnTo>
                  <a:pt x="384614" y="263296"/>
                </a:lnTo>
                <a:cubicBezTo>
                  <a:pt x="387332" y="264653"/>
                  <a:pt x="389370" y="268046"/>
                  <a:pt x="389370" y="271438"/>
                </a:cubicBezTo>
                <a:cubicBezTo>
                  <a:pt x="389370" y="274830"/>
                  <a:pt x="387332" y="277544"/>
                  <a:pt x="384614" y="278901"/>
                </a:cubicBezTo>
                <a:lnTo>
                  <a:pt x="239200" y="351500"/>
                </a:lnTo>
                <a:cubicBezTo>
                  <a:pt x="238521" y="352178"/>
                  <a:pt x="237162" y="352178"/>
                  <a:pt x="235803" y="352178"/>
                </a:cubicBezTo>
                <a:cubicBezTo>
                  <a:pt x="233764" y="352178"/>
                  <a:pt x="232405" y="352178"/>
                  <a:pt x="231046" y="350821"/>
                </a:cubicBezTo>
                <a:cubicBezTo>
                  <a:pt x="228328" y="349464"/>
                  <a:pt x="226969" y="346750"/>
                  <a:pt x="226969" y="343358"/>
                </a:cubicBezTo>
                <a:lnTo>
                  <a:pt x="226969" y="198840"/>
                </a:lnTo>
                <a:cubicBezTo>
                  <a:pt x="226969" y="195447"/>
                  <a:pt x="228328" y="192733"/>
                  <a:pt x="231046" y="191376"/>
                </a:cubicBezTo>
                <a:cubicBezTo>
                  <a:pt x="233764" y="190019"/>
                  <a:pt x="236482" y="189341"/>
                  <a:pt x="239200" y="190698"/>
                </a:cubicBezTo>
                <a:close/>
                <a:moveTo>
                  <a:pt x="470937" y="126886"/>
                </a:moveTo>
                <a:lnTo>
                  <a:pt x="470937" y="207631"/>
                </a:lnTo>
                <a:lnTo>
                  <a:pt x="561318" y="207631"/>
                </a:lnTo>
                <a:lnTo>
                  <a:pt x="561318" y="126886"/>
                </a:lnTo>
                <a:close/>
                <a:moveTo>
                  <a:pt x="18348" y="126886"/>
                </a:moveTo>
                <a:lnTo>
                  <a:pt x="18348" y="207631"/>
                </a:lnTo>
                <a:lnTo>
                  <a:pt x="108730" y="207631"/>
                </a:lnTo>
                <a:lnTo>
                  <a:pt x="108730" y="126886"/>
                </a:lnTo>
                <a:close/>
                <a:moveTo>
                  <a:pt x="470937" y="17642"/>
                </a:moveTo>
                <a:lnTo>
                  <a:pt x="470937" y="107887"/>
                </a:lnTo>
                <a:lnTo>
                  <a:pt x="561318" y="107887"/>
                </a:lnTo>
                <a:lnTo>
                  <a:pt x="561318" y="62425"/>
                </a:lnTo>
                <a:cubicBezTo>
                  <a:pt x="561318" y="37998"/>
                  <a:pt x="542291" y="17642"/>
                  <a:pt x="517827" y="17642"/>
                </a:cubicBezTo>
                <a:close/>
                <a:moveTo>
                  <a:pt x="127078" y="17642"/>
                </a:moveTo>
                <a:lnTo>
                  <a:pt x="127078" y="116708"/>
                </a:lnTo>
                <a:cubicBezTo>
                  <a:pt x="127078" y="116708"/>
                  <a:pt x="127078" y="117386"/>
                  <a:pt x="127078" y="117386"/>
                </a:cubicBezTo>
                <a:cubicBezTo>
                  <a:pt x="127078" y="117386"/>
                  <a:pt x="127078" y="118065"/>
                  <a:pt x="127078" y="118065"/>
                </a:cubicBezTo>
                <a:lnTo>
                  <a:pt x="127078" y="216452"/>
                </a:lnTo>
                <a:cubicBezTo>
                  <a:pt x="127078" y="216452"/>
                  <a:pt x="127078" y="216452"/>
                  <a:pt x="127078" y="217131"/>
                </a:cubicBezTo>
                <a:cubicBezTo>
                  <a:pt x="127078" y="217131"/>
                  <a:pt x="127078" y="217131"/>
                  <a:pt x="127078" y="217809"/>
                </a:cubicBezTo>
                <a:lnTo>
                  <a:pt x="127078" y="315518"/>
                </a:lnTo>
                <a:cubicBezTo>
                  <a:pt x="127078" y="316197"/>
                  <a:pt x="127078" y="316197"/>
                  <a:pt x="127078" y="316197"/>
                </a:cubicBezTo>
                <a:cubicBezTo>
                  <a:pt x="127078" y="316875"/>
                  <a:pt x="127078" y="316875"/>
                  <a:pt x="127078" y="316875"/>
                </a:cubicBezTo>
                <a:lnTo>
                  <a:pt x="127078" y="415263"/>
                </a:lnTo>
                <a:cubicBezTo>
                  <a:pt x="127078" y="415263"/>
                  <a:pt x="127078" y="415941"/>
                  <a:pt x="127078" y="415941"/>
                </a:cubicBezTo>
                <a:cubicBezTo>
                  <a:pt x="127078" y="415941"/>
                  <a:pt x="127078" y="416620"/>
                  <a:pt x="127078" y="416620"/>
                </a:cubicBezTo>
                <a:lnTo>
                  <a:pt x="127078" y="524507"/>
                </a:lnTo>
                <a:lnTo>
                  <a:pt x="452589" y="524507"/>
                </a:lnTo>
                <a:lnTo>
                  <a:pt x="452589" y="416620"/>
                </a:lnTo>
                <a:cubicBezTo>
                  <a:pt x="452589" y="416620"/>
                  <a:pt x="452589" y="415941"/>
                  <a:pt x="452589" y="415941"/>
                </a:cubicBezTo>
                <a:cubicBezTo>
                  <a:pt x="452589" y="415941"/>
                  <a:pt x="452589" y="415263"/>
                  <a:pt x="452589" y="415263"/>
                </a:cubicBezTo>
                <a:lnTo>
                  <a:pt x="452589" y="316875"/>
                </a:lnTo>
                <a:cubicBezTo>
                  <a:pt x="452589" y="316875"/>
                  <a:pt x="452589" y="316875"/>
                  <a:pt x="452589" y="316197"/>
                </a:cubicBezTo>
                <a:cubicBezTo>
                  <a:pt x="452589" y="316197"/>
                  <a:pt x="452589" y="316197"/>
                  <a:pt x="452589" y="315518"/>
                </a:cubicBezTo>
                <a:lnTo>
                  <a:pt x="452589" y="217809"/>
                </a:lnTo>
                <a:cubicBezTo>
                  <a:pt x="452589" y="217131"/>
                  <a:pt x="452589" y="217131"/>
                  <a:pt x="452589" y="217131"/>
                </a:cubicBezTo>
                <a:cubicBezTo>
                  <a:pt x="452589" y="216452"/>
                  <a:pt x="452589" y="216452"/>
                  <a:pt x="452589" y="216452"/>
                </a:cubicBezTo>
                <a:lnTo>
                  <a:pt x="452589" y="118065"/>
                </a:lnTo>
                <a:cubicBezTo>
                  <a:pt x="452589" y="118065"/>
                  <a:pt x="452589" y="117386"/>
                  <a:pt x="452589" y="117386"/>
                </a:cubicBezTo>
                <a:cubicBezTo>
                  <a:pt x="452589" y="117386"/>
                  <a:pt x="452589" y="116708"/>
                  <a:pt x="452589" y="116708"/>
                </a:cubicBezTo>
                <a:lnTo>
                  <a:pt x="452589" y="17642"/>
                </a:lnTo>
                <a:close/>
                <a:moveTo>
                  <a:pt x="61840" y="17642"/>
                </a:moveTo>
                <a:cubicBezTo>
                  <a:pt x="37376" y="17642"/>
                  <a:pt x="18348" y="37998"/>
                  <a:pt x="18348" y="62425"/>
                </a:cubicBezTo>
                <a:lnTo>
                  <a:pt x="18348" y="107887"/>
                </a:lnTo>
                <a:lnTo>
                  <a:pt x="108730" y="107887"/>
                </a:lnTo>
                <a:lnTo>
                  <a:pt x="108730" y="17642"/>
                </a:lnTo>
                <a:close/>
                <a:moveTo>
                  <a:pt x="61840" y="0"/>
                </a:moveTo>
                <a:lnTo>
                  <a:pt x="517827" y="0"/>
                </a:lnTo>
                <a:cubicBezTo>
                  <a:pt x="551805" y="0"/>
                  <a:pt x="579667" y="27820"/>
                  <a:pt x="579667" y="62425"/>
                </a:cubicBezTo>
                <a:lnTo>
                  <a:pt x="579667" y="216452"/>
                </a:lnTo>
                <a:cubicBezTo>
                  <a:pt x="579667" y="216452"/>
                  <a:pt x="580346" y="216452"/>
                  <a:pt x="580346" y="217131"/>
                </a:cubicBezTo>
                <a:cubicBezTo>
                  <a:pt x="580346" y="217131"/>
                  <a:pt x="579667" y="217131"/>
                  <a:pt x="579667" y="217809"/>
                </a:cubicBezTo>
                <a:lnTo>
                  <a:pt x="579667" y="479723"/>
                </a:lnTo>
                <a:cubicBezTo>
                  <a:pt x="579667" y="514329"/>
                  <a:pt x="551805" y="542827"/>
                  <a:pt x="517827" y="542827"/>
                </a:cubicBezTo>
                <a:lnTo>
                  <a:pt x="61840" y="542827"/>
                </a:lnTo>
                <a:cubicBezTo>
                  <a:pt x="27862" y="542827"/>
                  <a:pt x="0" y="514329"/>
                  <a:pt x="0" y="479723"/>
                </a:cubicBezTo>
                <a:lnTo>
                  <a:pt x="0" y="62425"/>
                </a:lnTo>
                <a:cubicBezTo>
                  <a:pt x="0" y="27820"/>
                  <a:pt x="27862" y="0"/>
                  <a:pt x="61840" y="0"/>
                </a:cubicBezTo>
                <a:close/>
              </a:path>
            </a:pathLst>
          </a:custGeom>
          <a:solidFill>
            <a:srgbClr val="FFFFFF">
              <a:lumMod val="75000"/>
            </a:srgbClr>
          </a:solidFill>
          <a:ln>
            <a:noFill/>
          </a:ln>
        </p:spPr>
        <p:txBody>
          <a:bodyPr/>
          <a:lstStyle/>
          <a:p>
            <a:endParaRPr lang="zh-CN" altLang="en-US" sz="120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矩形 55"/>
          <p:cNvSpPr/>
          <p:nvPr/>
        </p:nvSpPr>
        <p:spPr>
          <a:xfrm>
            <a:off x="4464677" y="3137086"/>
            <a:ext cx="1808508" cy="276999"/>
          </a:xfrm>
          <a:prstGeom prst="rect">
            <a:avLst/>
          </a:prstGeom>
        </p:spPr>
        <p:txBody>
          <a:bodyPr wrap="none">
            <a:spAutoFit/>
          </a:bodyPr>
          <a:lstStyle/>
          <a:p>
            <a:pPr algn="ctr" defTabSz="914478"/>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最大</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64U230G | 8*3.2TB</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矩形 56"/>
          <p:cNvSpPr/>
          <p:nvPr/>
        </p:nvSpPr>
        <p:spPr>
          <a:xfrm>
            <a:off x="4759625" y="2615040"/>
            <a:ext cx="1218602" cy="553998"/>
          </a:xfrm>
          <a:prstGeom prst="rect">
            <a:avLst/>
          </a:prstGeom>
        </p:spPr>
        <p:txBody>
          <a:bodyPr wrap="none">
            <a:spAutoFit/>
          </a:bodyPr>
          <a:lstStyle/>
          <a:p>
            <a:pPr algn="ctr" defTabSz="914478"/>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存储密集型</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478"/>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超高</a:t>
            </a: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IO</a:t>
            </a:r>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型</a:t>
            </a: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KI1</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矩形 58"/>
          <p:cNvSpPr/>
          <p:nvPr/>
        </p:nvSpPr>
        <p:spPr>
          <a:xfrm>
            <a:off x="4372238" y="2159752"/>
            <a:ext cx="1415772"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分布式缓存数据库</a:t>
            </a:r>
          </a:p>
        </p:txBody>
      </p:sp>
      <p:sp>
        <p:nvSpPr>
          <p:cNvPr id="60" name="椭圆 59"/>
          <p:cNvSpPr/>
          <p:nvPr/>
        </p:nvSpPr>
        <p:spPr>
          <a:xfrm>
            <a:off x="4843780" y="1700319"/>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1" name="square-server_84573"/>
          <p:cNvSpPr>
            <a:spLocks noChangeAspect="1"/>
          </p:cNvSpPr>
          <p:nvPr/>
        </p:nvSpPr>
        <p:spPr bwMode="auto">
          <a:xfrm>
            <a:off x="7981890" y="1796616"/>
            <a:ext cx="290262" cy="289822"/>
          </a:xfrm>
          <a:custGeom>
            <a:avLst/>
            <a:gdLst>
              <a:gd name="connsiteX0" fmla="*/ 324565 w 605169"/>
              <a:gd name="connsiteY0" fmla="*/ 487678 h 604252"/>
              <a:gd name="connsiteX1" fmla="*/ 334716 w 605169"/>
              <a:gd name="connsiteY1" fmla="*/ 491873 h 604252"/>
              <a:gd name="connsiteX2" fmla="*/ 339066 w 605169"/>
              <a:gd name="connsiteY2" fmla="*/ 502144 h 604252"/>
              <a:gd name="connsiteX3" fmla="*/ 334716 w 605169"/>
              <a:gd name="connsiteY3" fmla="*/ 512415 h 604252"/>
              <a:gd name="connsiteX4" fmla="*/ 324565 w 605169"/>
              <a:gd name="connsiteY4" fmla="*/ 516610 h 604252"/>
              <a:gd name="connsiteX5" fmla="*/ 314269 w 605169"/>
              <a:gd name="connsiteY5" fmla="*/ 512415 h 604252"/>
              <a:gd name="connsiteX6" fmla="*/ 310064 w 605169"/>
              <a:gd name="connsiteY6" fmla="*/ 502144 h 604252"/>
              <a:gd name="connsiteX7" fmla="*/ 314269 w 605169"/>
              <a:gd name="connsiteY7" fmla="*/ 491873 h 604252"/>
              <a:gd name="connsiteX8" fmla="*/ 324565 w 605169"/>
              <a:gd name="connsiteY8" fmla="*/ 487678 h 604252"/>
              <a:gd name="connsiteX9" fmla="*/ 255200 w 605169"/>
              <a:gd name="connsiteY9" fmla="*/ 487678 h 604252"/>
              <a:gd name="connsiteX10" fmla="*/ 265351 w 605169"/>
              <a:gd name="connsiteY10" fmla="*/ 491873 h 604252"/>
              <a:gd name="connsiteX11" fmla="*/ 269701 w 605169"/>
              <a:gd name="connsiteY11" fmla="*/ 502144 h 604252"/>
              <a:gd name="connsiteX12" fmla="*/ 265351 w 605169"/>
              <a:gd name="connsiteY12" fmla="*/ 512415 h 604252"/>
              <a:gd name="connsiteX13" fmla="*/ 255200 w 605169"/>
              <a:gd name="connsiteY13" fmla="*/ 516610 h 604252"/>
              <a:gd name="connsiteX14" fmla="*/ 244904 w 605169"/>
              <a:gd name="connsiteY14" fmla="*/ 512415 h 604252"/>
              <a:gd name="connsiteX15" fmla="*/ 240699 w 605169"/>
              <a:gd name="connsiteY15" fmla="*/ 502144 h 604252"/>
              <a:gd name="connsiteX16" fmla="*/ 244904 w 605169"/>
              <a:gd name="connsiteY16" fmla="*/ 491873 h 604252"/>
              <a:gd name="connsiteX17" fmla="*/ 255200 w 605169"/>
              <a:gd name="connsiteY17" fmla="*/ 487678 h 604252"/>
              <a:gd name="connsiteX18" fmla="*/ 185904 w 605169"/>
              <a:gd name="connsiteY18" fmla="*/ 487678 h 604252"/>
              <a:gd name="connsiteX19" fmla="*/ 196200 w 605169"/>
              <a:gd name="connsiteY19" fmla="*/ 491873 h 604252"/>
              <a:gd name="connsiteX20" fmla="*/ 200405 w 605169"/>
              <a:gd name="connsiteY20" fmla="*/ 502144 h 604252"/>
              <a:gd name="connsiteX21" fmla="*/ 196200 w 605169"/>
              <a:gd name="connsiteY21" fmla="*/ 512415 h 604252"/>
              <a:gd name="connsiteX22" fmla="*/ 185904 w 605169"/>
              <a:gd name="connsiteY22" fmla="*/ 516610 h 604252"/>
              <a:gd name="connsiteX23" fmla="*/ 175608 w 605169"/>
              <a:gd name="connsiteY23" fmla="*/ 512415 h 604252"/>
              <a:gd name="connsiteX24" fmla="*/ 171403 w 605169"/>
              <a:gd name="connsiteY24" fmla="*/ 502144 h 604252"/>
              <a:gd name="connsiteX25" fmla="*/ 175608 w 605169"/>
              <a:gd name="connsiteY25" fmla="*/ 491873 h 604252"/>
              <a:gd name="connsiteX26" fmla="*/ 185904 w 605169"/>
              <a:gd name="connsiteY26" fmla="*/ 487678 h 604252"/>
              <a:gd name="connsiteX27" fmla="*/ 116609 w 605169"/>
              <a:gd name="connsiteY27" fmla="*/ 487678 h 604252"/>
              <a:gd name="connsiteX28" fmla="*/ 126905 w 605169"/>
              <a:gd name="connsiteY28" fmla="*/ 491873 h 604252"/>
              <a:gd name="connsiteX29" fmla="*/ 131110 w 605169"/>
              <a:gd name="connsiteY29" fmla="*/ 502144 h 604252"/>
              <a:gd name="connsiteX30" fmla="*/ 126905 w 605169"/>
              <a:gd name="connsiteY30" fmla="*/ 512415 h 604252"/>
              <a:gd name="connsiteX31" fmla="*/ 116609 w 605169"/>
              <a:gd name="connsiteY31" fmla="*/ 516610 h 604252"/>
              <a:gd name="connsiteX32" fmla="*/ 106458 w 605169"/>
              <a:gd name="connsiteY32" fmla="*/ 512415 h 604252"/>
              <a:gd name="connsiteX33" fmla="*/ 102108 w 605169"/>
              <a:gd name="connsiteY33" fmla="*/ 502144 h 604252"/>
              <a:gd name="connsiteX34" fmla="*/ 106458 w 605169"/>
              <a:gd name="connsiteY34" fmla="*/ 491873 h 604252"/>
              <a:gd name="connsiteX35" fmla="*/ 116609 w 605169"/>
              <a:gd name="connsiteY35" fmla="*/ 487678 h 604252"/>
              <a:gd name="connsiteX36" fmla="*/ 447208 w 605169"/>
              <a:gd name="connsiteY36" fmla="*/ 475356 h 604252"/>
              <a:gd name="connsiteX37" fmla="*/ 420370 w 605169"/>
              <a:gd name="connsiteY37" fmla="*/ 502144 h 604252"/>
              <a:gd name="connsiteX38" fmla="*/ 447208 w 605169"/>
              <a:gd name="connsiteY38" fmla="*/ 528931 h 604252"/>
              <a:gd name="connsiteX39" fmla="*/ 474047 w 605169"/>
              <a:gd name="connsiteY39" fmla="*/ 502144 h 604252"/>
              <a:gd name="connsiteX40" fmla="*/ 447208 w 605169"/>
              <a:gd name="connsiteY40" fmla="*/ 475356 h 604252"/>
              <a:gd name="connsiteX41" fmla="*/ 447208 w 605169"/>
              <a:gd name="connsiteY41" fmla="*/ 446397 h 604252"/>
              <a:gd name="connsiteX42" fmla="*/ 503061 w 605169"/>
              <a:gd name="connsiteY42" fmla="*/ 502144 h 604252"/>
              <a:gd name="connsiteX43" fmla="*/ 447208 w 605169"/>
              <a:gd name="connsiteY43" fmla="*/ 557890 h 604252"/>
              <a:gd name="connsiteX44" fmla="*/ 391356 w 605169"/>
              <a:gd name="connsiteY44" fmla="*/ 502144 h 604252"/>
              <a:gd name="connsiteX45" fmla="*/ 447208 w 605169"/>
              <a:gd name="connsiteY45" fmla="*/ 446397 h 604252"/>
              <a:gd name="connsiteX46" fmla="*/ 324565 w 605169"/>
              <a:gd name="connsiteY46" fmla="*/ 287554 h 604252"/>
              <a:gd name="connsiteX47" fmla="*/ 334716 w 605169"/>
              <a:gd name="connsiteY47" fmla="*/ 291904 h 604252"/>
              <a:gd name="connsiteX48" fmla="*/ 339066 w 605169"/>
              <a:gd name="connsiteY48" fmla="*/ 302055 h 604252"/>
              <a:gd name="connsiteX49" fmla="*/ 334716 w 605169"/>
              <a:gd name="connsiteY49" fmla="*/ 312351 h 604252"/>
              <a:gd name="connsiteX50" fmla="*/ 324565 w 605169"/>
              <a:gd name="connsiteY50" fmla="*/ 316556 h 604252"/>
              <a:gd name="connsiteX51" fmla="*/ 314269 w 605169"/>
              <a:gd name="connsiteY51" fmla="*/ 312351 h 604252"/>
              <a:gd name="connsiteX52" fmla="*/ 310064 w 605169"/>
              <a:gd name="connsiteY52" fmla="*/ 302055 h 604252"/>
              <a:gd name="connsiteX53" fmla="*/ 314269 w 605169"/>
              <a:gd name="connsiteY53" fmla="*/ 291904 h 604252"/>
              <a:gd name="connsiteX54" fmla="*/ 324565 w 605169"/>
              <a:gd name="connsiteY54" fmla="*/ 287554 h 604252"/>
              <a:gd name="connsiteX55" fmla="*/ 255200 w 605169"/>
              <a:gd name="connsiteY55" fmla="*/ 287554 h 604252"/>
              <a:gd name="connsiteX56" fmla="*/ 265351 w 605169"/>
              <a:gd name="connsiteY56" fmla="*/ 291904 h 604252"/>
              <a:gd name="connsiteX57" fmla="*/ 269701 w 605169"/>
              <a:gd name="connsiteY57" fmla="*/ 302055 h 604252"/>
              <a:gd name="connsiteX58" fmla="*/ 265351 w 605169"/>
              <a:gd name="connsiteY58" fmla="*/ 312351 h 604252"/>
              <a:gd name="connsiteX59" fmla="*/ 255200 w 605169"/>
              <a:gd name="connsiteY59" fmla="*/ 316556 h 604252"/>
              <a:gd name="connsiteX60" fmla="*/ 244904 w 605169"/>
              <a:gd name="connsiteY60" fmla="*/ 312351 h 604252"/>
              <a:gd name="connsiteX61" fmla="*/ 240699 w 605169"/>
              <a:gd name="connsiteY61" fmla="*/ 302055 h 604252"/>
              <a:gd name="connsiteX62" fmla="*/ 244904 w 605169"/>
              <a:gd name="connsiteY62" fmla="*/ 291904 h 604252"/>
              <a:gd name="connsiteX63" fmla="*/ 255200 w 605169"/>
              <a:gd name="connsiteY63" fmla="*/ 287554 h 604252"/>
              <a:gd name="connsiteX64" fmla="*/ 185904 w 605169"/>
              <a:gd name="connsiteY64" fmla="*/ 287554 h 604252"/>
              <a:gd name="connsiteX65" fmla="*/ 196200 w 605169"/>
              <a:gd name="connsiteY65" fmla="*/ 291904 h 604252"/>
              <a:gd name="connsiteX66" fmla="*/ 200405 w 605169"/>
              <a:gd name="connsiteY66" fmla="*/ 302055 h 604252"/>
              <a:gd name="connsiteX67" fmla="*/ 196200 w 605169"/>
              <a:gd name="connsiteY67" fmla="*/ 312351 h 604252"/>
              <a:gd name="connsiteX68" fmla="*/ 185904 w 605169"/>
              <a:gd name="connsiteY68" fmla="*/ 316556 h 604252"/>
              <a:gd name="connsiteX69" fmla="*/ 175608 w 605169"/>
              <a:gd name="connsiteY69" fmla="*/ 312351 h 604252"/>
              <a:gd name="connsiteX70" fmla="*/ 171403 w 605169"/>
              <a:gd name="connsiteY70" fmla="*/ 302055 h 604252"/>
              <a:gd name="connsiteX71" fmla="*/ 175608 w 605169"/>
              <a:gd name="connsiteY71" fmla="*/ 291904 h 604252"/>
              <a:gd name="connsiteX72" fmla="*/ 185904 w 605169"/>
              <a:gd name="connsiteY72" fmla="*/ 287554 h 604252"/>
              <a:gd name="connsiteX73" fmla="*/ 116609 w 605169"/>
              <a:gd name="connsiteY73" fmla="*/ 287554 h 604252"/>
              <a:gd name="connsiteX74" fmla="*/ 126905 w 605169"/>
              <a:gd name="connsiteY74" fmla="*/ 291904 h 604252"/>
              <a:gd name="connsiteX75" fmla="*/ 131110 w 605169"/>
              <a:gd name="connsiteY75" fmla="*/ 302055 h 604252"/>
              <a:gd name="connsiteX76" fmla="*/ 126905 w 605169"/>
              <a:gd name="connsiteY76" fmla="*/ 312351 h 604252"/>
              <a:gd name="connsiteX77" fmla="*/ 116609 w 605169"/>
              <a:gd name="connsiteY77" fmla="*/ 316556 h 604252"/>
              <a:gd name="connsiteX78" fmla="*/ 106458 w 605169"/>
              <a:gd name="connsiteY78" fmla="*/ 312351 h 604252"/>
              <a:gd name="connsiteX79" fmla="*/ 102108 w 605169"/>
              <a:gd name="connsiteY79" fmla="*/ 302055 h 604252"/>
              <a:gd name="connsiteX80" fmla="*/ 106458 w 605169"/>
              <a:gd name="connsiteY80" fmla="*/ 291904 h 604252"/>
              <a:gd name="connsiteX81" fmla="*/ 116609 w 605169"/>
              <a:gd name="connsiteY81" fmla="*/ 287554 h 604252"/>
              <a:gd name="connsiteX82" fmla="*/ 447208 w 605169"/>
              <a:gd name="connsiteY82" fmla="*/ 275232 h 604252"/>
              <a:gd name="connsiteX83" fmla="*/ 420370 w 605169"/>
              <a:gd name="connsiteY83" fmla="*/ 302020 h 604252"/>
              <a:gd name="connsiteX84" fmla="*/ 447208 w 605169"/>
              <a:gd name="connsiteY84" fmla="*/ 328807 h 604252"/>
              <a:gd name="connsiteX85" fmla="*/ 474047 w 605169"/>
              <a:gd name="connsiteY85" fmla="*/ 302020 h 604252"/>
              <a:gd name="connsiteX86" fmla="*/ 447208 w 605169"/>
              <a:gd name="connsiteY86" fmla="*/ 275232 h 604252"/>
              <a:gd name="connsiteX87" fmla="*/ 447208 w 605169"/>
              <a:gd name="connsiteY87" fmla="*/ 246273 h 604252"/>
              <a:gd name="connsiteX88" fmla="*/ 503061 w 605169"/>
              <a:gd name="connsiteY88" fmla="*/ 302020 h 604252"/>
              <a:gd name="connsiteX89" fmla="*/ 447208 w 605169"/>
              <a:gd name="connsiteY89" fmla="*/ 357766 h 604252"/>
              <a:gd name="connsiteX90" fmla="*/ 391356 w 605169"/>
              <a:gd name="connsiteY90" fmla="*/ 302020 h 604252"/>
              <a:gd name="connsiteX91" fmla="*/ 447208 w 605169"/>
              <a:gd name="connsiteY91" fmla="*/ 246273 h 604252"/>
              <a:gd name="connsiteX92" fmla="*/ 324565 w 605169"/>
              <a:gd name="connsiteY92" fmla="*/ 97310 h 604252"/>
              <a:gd name="connsiteX93" fmla="*/ 334716 w 605169"/>
              <a:gd name="connsiteY93" fmla="*/ 101505 h 604252"/>
              <a:gd name="connsiteX94" fmla="*/ 339066 w 605169"/>
              <a:gd name="connsiteY94" fmla="*/ 111776 h 604252"/>
              <a:gd name="connsiteX95" fmla="*/ 334716 w 605169"/>
              <a:gd name="connsiteY95" fmla="*/ 121902 h 604252"/>
              <a:gd name="connsiteX96" fmla="*/ 324565 w 605169"/>
              <a:gd name="connsiteY96" fmla="*/ 126242 h 604252"/>
              <a:gd name="connsiteX97" fmla="*/ 314269 w 605169"/>
              <a:gd name="connsiteY97" fmla="*/ 121902 h 604252"/>
              <a:gd name="connsiteX98" fmla="*/ 310064 w 605169"/>
              <a:gd name="connsiteY98" fmla="*/ 111776 h 604252"/>
              <a:gd name="connsiteX99" fmla="*/ 314269 w 605169"/>
              <a:gd name="connsiteY99" fmla="*/ 101505 h 604252"/>
              <a:gd name="connsiteX100" fmla="*/ 324565 w 605169"/>
              <a:gd name="connsiteY100" fmla="*/ 97310 h 604252"/>
              <a:gd name="connsiteX101" fmla="*/ 255200 w 605169"/>
              <a:gd name="connsiteY101" fmla="*/ 97310 h 604252"/>
              <a:gd name="connsiteX102" fmla="*/ 265351 w 605169"/>
              <a:gd name="connsiteY102" fmla="*/ 101505 h 604252"/>
              <a:gd name="connsiteX103" fmla="*/ 269701 w 605169"/>
              <a:gd name="connsiteY103" fmla="*/ 111776 h 604252"/>
              <a:gd name="connsiteX104" fmla="*/ 265351 w 605169"/>
              <a:gd name="connsiteY104" fmla="*/ 121902 h 604252"/>
              <a:gd name="connsiteX105" fmla="*/ 255200 w 605169"/>
              <a:gd name="connsiteY105" fmla="*/ 126242 h 604252"/>
              <a:gd name="connsiteX106" fmla="*/ 244904 w 605169"/>
              <a:gd name="connsiteY106" fmla="*/ 121902 h 604252"/>
              <a:gd name="connsiteX107" fmla="*/ 240699 w 605169"/>
              <a:gd name="connsiteY107" fmla="*/ 111776 h 604252"/>
              <a:gd name="connsiteX108" fmla="*/ 244904 w 605169"/>
              <a:gd name="connsiteY108" fmla="*/ 101505 h 604252"/>
              <a:gd name="connsiteX109" fmla="*/ 255200 w 605169"/>
              <a:gd name="connsiteY109" fmla="*/ 97310 h 604252"/>
              <a:gd name="connsiteX110" fmla="*/ 185904 w 605169"/>
              <a:gd name="connsiteY110" fmla="*/ 97310 h 604252"/>
              <a:gd name="connsiteX111" fmla="*/ 196200 w 605169"/>
              <a:gd name="connsiteY111" fmla="*/ 101505 h 604252"/>
              <a:gd name="connsiteX112" fmla="*/ 200405 w 605169"/>
              <a:gd name="connsiteY112" fmla="*/ 111776 h 604252"/>
              <a:gd name="connsiteX113" fmla="*/ 196200 w 605169"/>
              <a:gd name="connsiteY113" fmla="*/ 121902 h 604252"/>
              <a:gd name="connsiteX114" fmla="*/ 185904 w 605169"/>
              <a:gd name="connsiteY114" fmla="*/ 126242 h 604252"/>
              <a:gd name="connsiteX115" fmla="*/ 175608 w 605169"/>
              <a:gd name="connsiteY115" fmla="*/ 121902 h 604252"/>
              <a:gd name="connsiteX116" fmla="*/ 171403 w 605169"/>
              <a:gd name="connsiteY116" fmla="*/ 111776 h 604252"/>
              <a:gd name="connsiteX117" fmla="*/ 175608 w 605169"/>
              <a:gd name="connsiteY117" fmla="*/ 101505 h 604252"/>
              <a:gd name="connsiteX118" fmla="*/ 185904 w 605169"/>
              <a:gd name="connsiteY118" fmla="*/ 97310 h 604252"/>
              <a:gd name="connsiteX119" fmla="*/ 116609 w 605169"/>
              <a:gd name="connsiteY119" fmla="*/ 97310 h 604252"/>
              <a:gd name="connsiteX120" fmla="*/ 126905 w 605169"/>
              <a:gd name="connsiteY120" fmla="*/ 101505 h 604252"/>
              <a:gd name="connsiteX121" fmla="*/ 131110 w 605169"/>
              <a:gd name="connsiteY121" fmla="*/ 111776 h 604252"/>
              <a:gd name="connsiteX122" fmla="*/ 126905 w 605169"/>
              <a:gd name="connsiteY122" fmla="*/ 121902 h 604252"/>
              <a:gd name="connsiteX123" fmla="*/ 116609 w 605169"/>
              <a:gd name="connsiteY123" fmla="*/ 126242 h 604252"/>
              <a:gd name="connsiteX124" fmla="*/ 106458 w 605169"/>
              <a:gd name="connsiteY124" fmla="*/ 121902 h 604252"/>
              <a:gd name="connsiteX125" fmla="*/ 102108 w 605169"/>
              <a:gd name="connsiteY125" fmla="*/ 111776 h 604252"/>
              <a:gd name="connsiteX126" fmla="*/ 106458 w 605169"/>
              <a:gd name="connsiteY126" fmla="*/ 101505 h 604252"/>
              <a:gd name="connsiteX127" fmla="*/ 116609 w 605169"/>
              <a:gd name="connsiteY127" fmla="*/ 97310 h 604252"/>
              <a:gd name="connsiteX128" fmla="*/ 447208 w 605169"/>
              <a:gd name="connsiteY128" fmla="*/ 84847 h 604252"/>
              <a:gd name="connsiteX129" fmla="*/ 420370 w 605169"/>
              <a:gd name="connsiteY129" fmla="*/ 111634 h 604252"/>
              <a:gd name="connsiteX130" fmla="*/ 447208 w 605169"/>
              <a:gd name="connsiteY130" fmla="*/ 138422 h 604252"/>
              <a:gd name="connsiteX131" fmla="*/ 474047 w 605169"/>
              <a:gd name="connsiteY131" fmla="*/ 111634 h 604252"/>
              <a:gd name="connsiteX132" fmla="*/ 447208 w 605169"/>
              <a:gd name="connsiteY132" fmla="*/ 84847 h 604252"/>
              <a:gd name="connsiteX133" fmla="*/ 447208 w 605169"/>
              <a:gd name="connsiteY133" fmla="*/ 55888 h 604252"/>
              <a:gd name="connsiteX134" fmla="*/ 503061 w 605169"/>
              <a:gd name="connsiteY134" fmla="*/ 111634 h 604252"/>
              <a:gd name="connsiteX135" fmla="*/ 447208 w 605169"/>
              <a:gd name="connsiteY135" fmla="*/ 167381 h 604252"/>
              <a:gd name="connsiteX136" fmla="*/ 391356 w 605169"/>
              <a:gd name="connsiteY136" fmla="*/ 111634 h 604252"/>
              <a:gd name="connsiteX137" fmla="*/ 447208 w 605169"/>
              <a:gd name="connsiteY137" fmla="*/ 55888 h 604252"/>
              <a:gd name="connsiteX138" fmla="*/ 96293 w 605169"/>
              <a:gd name="connsiteY138" fmla="*/ 28960 h 604252"/>
              <a:gd name="connsiteX139" fmla="*/ 29004 w 605169"/>
              <a:gd name="connsiteY139" fmla="*/ 96147 h 604252"/>
              <a:gd name="connsiteX140" fmla="*/ 29004 w 605169"/>
              <a:gd name="connsiteY140" fmla="*/ 184476 h 604252"/>
              <a:gd name="connsiteX141" fmla="*/ 488573 w 605169"/>
              <a:gd name="connsiteY141" fmla="*/ 184476 h 604252"/>
              <a:gd name="connsiteX142" fmla="*/ 503075 w 605169"/>
              <a:gd name="connsiteY142" fmla="*/ 198956 h 604252"/>
              <a:gd name="connsiteX143" fmla="*/ 488573 w 605169"/>
              <a:gd name="connsiteY143" fmla="*/ 213436 h 604252"/>
              <a:gd name="connsiteX144" fmla="*/ 29004 w 605169"/>
              <a:gd name="connsiteY144" fmla="*/ 213436 h 604252"/>
              <a:gd name="connsiteX145" fmla="*/ 29004 w 605169"/>
              <a:gd name="connsiteY145" fmla="*/ 508105 h 604252"/>
              <a:gd name="connsiteX146" fmla="*/ 96293 w 605169"/>
              <a:gd name="connsiteY146" fmla="*/ 575292 h 604252"/>
              <a:gd name="connsiteX147" fmla="*/ 508876 w 605169"/>
              <a:gd name="connsiteY147" fmla="*/ 575292 h 604252"/>
              <a:gd name="connsiteX148" fmla="*/ 576165 w 605169"/>
              <a:gd name="connsiteY148" fmla="*/ 508105 h 604252"/>
              <a:gd name="connsiteX149" fmla="*/ 576165 w 605169"/>
              <a:gd name="connsiteY149" fmla="*/ 422383 h 604252"/>
              <a:gd name="connsiteX150" fmla="*/ 89912 w 605169"/>
              <a:gd name="connsiteY150" fmla="*/ 422383 h 604252"/>
              <a:gd name="connsiteX151" fmla="*/ 75410 w 605169"/>
              <a:gd name="connsiteY151" fmla="*/ 407903 h 604252"/>
              <a:gd name="connsiteX152" fmla="*/ 89912 w 605169"/>
              <a:gd name="connsiteY152" fmla="*/ 393423 h 604252"/>
              <a:gd name="connsiteX153" fmla="*/ 576165 w 605169"/>
              <a:gd name="connsiteY153" fmla="*/ 393423 h 604252"/>
              <a:gd name="connsiteX154" fmla="*/ 576165 w 605169"/>
              <a:gd name="connsiteY154" fmla="*/ 96147 h 604252"/>
              <a:gd name="connsiteX155" fmla="*/ 508876 w 605169"/>
              <a:gd name="connsiteY155" fmla="*/ 28960 h 604252"/>
              <a:gd name="connsiteX156" fmla="*/ 96293 w 605169"/>
              <a:gd name="connsiteY156" fmla="*/ 0 h 604252"/>
              <a:gd name="connsiteX157" fmla="*/ 508876 w 605169"/>
              <a:gd name="connsiteY157" fmla="*/ 0 h 604252"/>
              <a:gd name="connsiteX158" fmla="*/ 605169 w 605169"/>
              <a:gd name="connsiteY158" fmla="*/ 96147 h 604252"/>
              <a:gd name="connsiteX159" fmla="*/ 605169 w 605169"/>
              <a:gd name="connsiteY159" fmla="*/ 508105 h 604252"/>
              <a:gd name="connsiteX160" fmla="*/ 508876 w 605169"/>
              <a:gd name="connsiteY160" fmla="*/ 604252 h 604252"/>
              <a:gd name="connsiteX161" fmla="*/ 96293 w 605169"/>
              <a:gd name="connsiteY161" fmla="*/ 604252 h 604252"/>
              <a:gd name="connsiteX162" fmla="*/ 0 w 605169"/>
              <a:gd name="connsiteY162" fmla="*/ 508105 h 604252"/>
              <a:gd name="connsiteX163" fmla="*/ 0 w 605169"/>
              <a:gd name="connsiteY163" fmla="*/ 96147 h 604252"/>
              <a:gd name="connsiteX164" fmla="*/ 96293 w 605169"/>
              <a:gd name="connsiteY164" fmla="*/ 0 h 60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605169" h="604252">
                <a:moveTo>
                  <a:pt x="324565" y="487678"/>
                </a:moveTo>
                <a:cubicBezTo>
                  <a:pt x="328335" y="487678"/>
                  <a:pt x="332106" y="489269"/>
                  <a:pt x="334716" y="491873"/>
                </a:cubicBezTo>
                <a:cubicBezTo>
                  <a:pt x="337471" y="494622"/>
                  <a:pt x="339066" y="498383"/>
                  <a:pt x="339066" y="502144"/>
                </a:cubicBezTo>
                <a:cubicBezTo>
                  <a:pt x="339066" y="505905"/>
                  <a:pt x="337471" y="509666"/>
                  <a:pt x="334716" y="512415"/>
                </a:cubicBezTo>
                <a:cubicBezTo>
                  <a:pt x="332106" y="515163"/>
                  <a:pt x="328335" y="516610"/>
                  <a:pt x="324565" y="516610"/>
                </a:cubicBezTo>
                <a:cubicBezTo>
                  <a:pt x="320650" y="516610"/>
                  <a:pt x="316879" y="515163"/>
                  <a:pt x="314269" y="512415"/>
                </a:cubicBezTo>
                <a:cubicBezTo>
                  <a:pt x="311514" y="509666"/>
                  <a:pt x="310064" y="505905"/>
                  <a:pt x="310064" y="502144"/>
                </a:cubicBezTo>
                <a:cubicBezTo>
                  <a:pt x="310064" y="498383"/>
                  <a:pt x="311514" y="494622"/>
                  <a:pt x="314269" y="491873"/>
                </a:cubicBezTo>
                <a:cubicBezTo>
                  <a:pt x="316879" y="489269"/>
                  <a:pt x="320650" y="487678"/>
                  <a:pt x="324565" y="487678"/>
                </a:cubicBezTo>
                <a:close/>
                <a:moveTo>
                  <a:pt x="255200" y="487678"/>
                </a:moveTo>
                <a:cubicBezTo>
                  <a:pt x="258970" y="487678"/>
                  <a:pt x="262741" y="489269"/>
                  <a:pt x="265351" y="491873"/>
                </a:cubicBezTo>
                <a:cubicBezTo>
                  <a:pt x="268106" y="494622"/>
                  <a:pt x="269701" y="498383"/>
                  <a:pt x="269701" y="502144"/>
                </a:cubicBezTo>
                <a:cubicBezTo>
                  <a:pt x="269701" y="505905"/>
                  <a:pt x="268106" y="509666"/>
                  <a:pt x="265351" y="512415"/>
                </a:cubicBezTo>
                <a:cubicBezTo>
                  <a:pt x="262741" y="515163"/>
                  <a:pt x="258970" y="516610"/>
                  <a:pt x="255200" y="516610"/>
                </a:cubicBezTo>
                <a:cubicBezTo>
                  <a:pt x="251285" y="516610"/>
                  <a:pt x="247659" y="515163"/>
                  <a:pt x="244904" y="512415"/>
                </a:cubicBezTo>
                <a:cubicBezTo>
                  <a:pt x="242149" y="509666"/>
                  <a:pt x="240699" y="505905"/>
                  <a:pt x="240699" y="502144"/>
                </a:cubicBezTo>
                <a:cubicBezTo>
                  <a:pt x="240699" y="498383"/>
                  <a:pt x="242149" y="494622"/>
                  <a:pt x="244904" y="491873"/>
                </a:cubicBezTo>
                <a:cubicBezTo>
                  <a:pt x="247659" y="489269"/>
                  <a:pt x="251285" y="487678"/>
                  <a:pt x="255200" y="487678"/>
                </a:cubicBezTo>
                <a:close/>
                <a:moveTo>
                  <a:pt x="185904" y="487678"/>
                </a:moveTo>
                <a:cubicBezTo>
                  <a:pt x="189674" y="487678"/>
                  <a:pt x="193445" y="489269"/>
                  <a:pt x="196200" y="491873"/>
                </a:cubicBezTo>
                <a:cubicBezTo>
                  <a:pt x="198810" y="494622"/>
                  <a:pt x="200405" y="498383"/>
                  <a:pt x="200405" y="502144"/>
                </a:cubicBezTo>
                <a:cubicBezTo>
                  <a:pt x="200405" y="505905"/>
                  <a:pt x="198810" y="509666"/>
                  <a:pt x="196200" y="512415"/>
                </a:cubicBezTo>
                <a:cubicBezTo>
                  <a:pt x="193445" y="515163"/>
                  <a:pt x="189674" y="516610"/>
                  <a:pt x="185904" y="516610"/>
                </a:cubicBezTo>
                <a:cubicBezTo>
                  <a:pt x="182134" y="516610"/>
                  <a:pt x="178363" y="515163"/>
                  <a:pt x="175608" y="512415"/>
                </a:cubicBezTo>
                <a:cubicBezTo>
                  <a:pt x="172998" y="509666"/>
                  <a:pt x="171403" y="505905"/>
                  <a:pt x="171403" y="502144"/>
                </a:cubicBezTo>
                <a:cubicBezTo>
                  <a:pt x="171403" y="498383"/>
                  <a:pt x="172998" y="494622"/>
                  <a:pt x="175608" y="491873"/>
                </a:cubicBezTo>
                <a:cubicBezTo>
                  <a:pt x="178363" y="489269"/>
                  <a:pt x="182134" y="487678"/>
                  <a:pt x="185904" y="487678"/>
                </a:cubicBezTo>
                <a:close/>
                <a:moveTo>
                  <a:pt x="116609" y="487678"/>
                </a:moveTo>
                <a:cubicBezTo>
                  <a:pt x="120379" y="487678"/>
                  <a:pt x="124150" y="489269"/>
                  <a:pt x="126905" y="491873"/>
                </a:cubicBezTo>
                <a:cubicBezTo>
                  <a:pt x="129660" y="494622"/>
                  <a:pt x="131110" y="498383"/>
                  <a:pt x="131110" y="502144"/>
                </a:cubicBezTo>
                <a:cubicBezTo>
                  <a:pt x="131110" y="505905"/>
                  <a:pt x="129660" y="509666"/>
                  <a:pt x="126905" y="512415"/>
                </a:cubicBezTo>
                <a:cubicBezTo>
                  <a:pt x="124150" y="515163"/>
                  <a:pt x="120379" y="516610"/>
                  <a:pt x="116609" y="516610"/>
                </a:cubicBezTo>
                <a:cubicBezTo>
                  <a:pt x="112839" y="516610"/>
                  <a:pt x="109068" y="515163"/>
                  <a:pt x="106458" y="512415"/>
                </a:cubicBezTo>
                <a:cubicBezTo>
                  <a:pt x="103703" y="509666"/>
                  <a:pt x="102108" y="505905"/>
                  <a:pt x="102108" y="502144"/>
                </a:cubicBezTo>
                <a:cubicBezTo>
                  <a:pt x="102108" y="498383"/>
                  <a:pt x="103703" y="494622"/>
                  <a:pt x="106458" y="491873"/>
                </a:cubicBezTo>
                <a:cubicBezTo>
                  <a:pt x="109068" y="489269"/>
                  <a:pt x="112839" y="487678"/>
                  <a:pt x="116609" y="487678"/>
                </a:cubicBezTo>
                <a:close/>
                <a:moveTo>
                  <a:pt x="447208" y="475356"/>
                </a:moveTo>
                <a:cubicBezTo>
                  <a:pt x="432411" y="475356"/>
                  <a:pt x="420370" y="487374"/>
                  <a:pt x="420370" y="502144"/>
                </a:cubicBezTo>
                <a:cubicBezTo>
                  <a:pt x="420370" y="516913"/>
                  <a:pt x="432411" y="528931"/>
                  <a:pt x="447208" y="528931"/>
                </a:cubicBezTo>
                <a:cubicBezTo>
                  <a:pt x="462006" y="528931"/>
                  <a:pt x="474047" y="516913"/>
                  <a:pt x="474047" y="502144"/>
                </a:cubicBezTo>
                <a:cubicBezTo>
                  <a:pt x="474047" y="487374"/>
                  <a:pt x="462006" y="475356"/>
                  <a:pt x="447208" y="475356"/>
                </a:cubicBezTo>
                <a:close/>
                <a:moveTo>
                  <a:pt x="447208" y="446397"/>
                </a:moveTo>
                <a:cubicBezTo>
                  <a:pt x="477964" y="446397"/>
                  <a:pt x="503061" y="471447"/>
                  <a:pt x="503061" y="502144"/>
                </a:cubicBezTo>
                <a:cubicBezTo>
                  <a:pt x="503061" y="532840"/>
                  <a:pt x="477964" y="557890"/>
                  <a:pt x="447208" y="557890"/>
                </a:cubicBezTo>
                <a:cubicBezTo>
                  <a:pt x="416308" y="557890"/>
                  <a:pt x="391356" y="532840"/>
                  <a:pt x="391356" y="502144"/>
                </a:cubicBezTo>
                <a:cubicBezTo>
                  <a:pt x="391356" y="471447"/>
                  <a:pt x="416308" y="446397"/>
                  <a:pt x="447208" y="446397"/>
                </a:cubicBezTo>
                <a:close/>
                <a:moveTo>
                  <a:pt x="324565" y="287554"/>
                </a:moveTo>
                <a:cubicBezTo>
                  <a:pt x="328335" y="287554"/>
                  <a:pt x="332106" y="289149"/>
                  <a:pt x="334716" y="291904"/>
                </a:cubicBezTo>
                <a:cubicBezTo>
                  <a:pt x="337471" y="294514"/>
                  <a:pt x="339066" y="298285"/>
                  <a:pt x="339066" y="302055"/>
                </a:cubicBezTo>
                <a:cubicBezTo>
                  <a:pt x="339066" y="305970"/>
                  <a:pt x="337471" y="309741"/>
                  <a:pt x="334716" y="312351"/>
                </a:cubicBezTo>
                <a:cubicBezTo>
                  <a:pt x="332106" y="315106"/>
                  <a:pt x="328335" y="316556"/>
                  <a:pt x="324565" y="316556"/>
                </a:cubicBezTo>
                <a:cubicBezTo>
                  <a:pt x="320650" y="316556"/>
                  <a:pt x="316879" y="315106"/>
                  <a:pt x="314269" y="312351"/>
                </a:cubicBezTo>
                <a:cubicBezTo>
                  <a:pt x="311514" y="309741"/>
                  <a:pt x="310064" y="305970"/>
                  <a:pt x="310064" y="302055"/>
                </a:cubicBezTo>
                <a:cubicBezTo>
                  <a:pt x="310064" y="298285"/>
                  <a:pt x="311514" y="294514"/>
                  <a:pt x="314269" y="291904"/>
                </a:cubicBezTo>
                <a:cubicBezTo>
                  <a:pt x="316879" y="289149"/>
                  <a:pt x="320650" y="287554"/>
                  <a:pt x="324565" y="287554"/>
                </a:cubicBezTo>
                <a:close/>
                <a:moveTo>
                  <a:pt x="255200" y="287554"/>
                </a:moveTo>
                <a:cubicBezTo>
                  <a:pt x="258970" y="287554"/>
                  <a:pt x="262741" y="289149"/>
                  <a:pt x="265351" y="291904"/>
                </a:cubicBezTo>
                <a:cubicBezTo>
                  <a:pt x="268106" y="294514"/>
                  <a:pt x="269701" y="298285"/>
                  <a:pt x="269701" y="302055"/>
                </a:cubicBezTo>
                <a:cubicBezTo>
                  <a:pt x="269701" y="305970"/>
                  <a:pt x="268106" y="309741"/>
                  <a:pt x="265351" y="312351"/>
                </a:cubicBezTo>
                <a:cubicBezTo>
                  <a:pt x="262741" y="315106"/>
                  <a:pt x="258970" y="316556"/>
                  <a:pt x="255200" y="316556"/>
                </a:cubicBezTo>
                <a:cubicBezTo>
                  <a:pt x="251285" y="316556"/>
                  <a:pt x="247659" y="315106"/>
                  <a:pt x="244904" y="312351"/>
                </a:cubicBezTo>
                <a:cubicBezTo>
                  <a:pt x="242149" y="309741"/>
                  <a:pt x="240699" y="305970"/>
                  <a:pt x="240699" y="302055"/>
                </a:cubicBezTo>
                <a:cubicBezTo>
                  <a:pt x="240699" y="298285"/>
                  <a:pt x="242149" y="294514"/>
                  <a:pt x="244904" y="291904"/>
                </a:cubicBezTo>
                <a:cubicBezTo>
                  <a:pt x="247659" y="289149"/>
                  <a:pt x="251285" y="287554"/>
                  <a:pt x="255200" y="287554"/>
                </a:cubicBezTo>
                <a:close/>
                <a:moveTo>
                  <a:pt x="185904" y="287554"/>
                </a:moveTo>
                <a:cubicBezTo>
                  <a:pt x="189674" y="287554"/>
                  <a:pt x="193445" y="289149"/>
                  <a:pt x="196200" y="291904"/>
                </a:cubicBezTo>
                <a:cubicBezTo>
                  <a:pt x="198810" y="294514"/>
                  <a:pt x="200405" y="298285"/>
                  <a:pt x="200405" y="302055"/>
                </a:cubicBezTo>
                <a:cubicBezTo>
                  <a:pt x="200405" y="305970"/>
                  <a:pt x="198810" y="309596"/>
                  <a:pt x="196200" y="312351"/>
                </a:cubicBezTo>
                <a:cubicBezTo>
                  <a:pt x="193445" y="315106"/>
                  <a:pt x="189674" y="316556"/>
                  <a:pt x="185904" y="316556"/>
                </a:cubicBezTo>
                <a:cubicBezTo>
                  <a:pt x="182134" y="316556"/>
                  <a:pt x="178363" y="315106"/>
                  <a:pt x="175608" y="312351"/>
                </a:cubicBezTo>
                <a:cubicBezTo>
                  <a:pt x="172998" y="309741"/>
                  <a:pt x="171403" y="305970"/>
                  <a:pt x="171403" y="302055"/>
                </a:cubicBezTo>
                <a:cubicBezTo>
                  <a:pt x="171403" y="298285"/>
                  <a:pt x="172998" y="294514"/>
                  <a:pt x="175608" y="291904"/>
                </a:cubicBezTo>
                <a:cubicBezTo>
                  <a:pt x="178363" y="289149"/>
                  <a:pt x="182134" y="287554"/>
                  <a:pt x="185904" y="287554"/>
                </a:cubicBezTo>
                <a:close/>
                <a:moveTo>
                  <a:pt x="116609" y="287554"/>
                </a:moveTo>
                <a:cubicBezTo>
                  <a:pt x="120379" y="287554"/>
                  <a:pt x="124150" y="289149"/>
                  <a:pt x="126905" y="291904"/>
                </a:cubicBezTo>
                <a:cubicBezTo>
                  <a:pt x="129660" y="294514"/>
                  <a:pt x="131110" y="298285"/>
                  <a:pt x="131110" y="302055"/>
                </a:cubicBezTo>
                <a:cubicBezTo>
                  <a:pt x="131110" y="305970"/>
                  <a:pt x="129660" y="309741"/>
                  <a:pt x="126905" y="312351"/>
                </a:cubicBezTo>
                <a:cubicBezTo>
                  <a:pt x="124150" y="315106"/>
                  <a:pt x="120379" y="316556"/>
                  <a:pt x="116609" y="316556"/>
                </a:cubicBezTo>
                <a:cubicBezTo>
                  <a:pt x="112839" y="316556"/>
                  <a:pt x="109068" y="315106"/>
                  <a:pt x="106458" y="312351"/>
                </a:cubicBezTo>
                <a:cubicBezTo>
                  <a:pt x="103703" y="309741"/>
                  <a:pt x="102108" y="305970"/>
                  <a:pt x="102108" y="302055"/>
                </a:cubicBezTo>
                <a:cubicBezTo>
                  <a:pt x="102108" y="298285"/>
                  <a:pt x="103703" y="294514"/>
                  <a:pt x="106458" y="291904"/>
                </a:cubicBezTo>
                <a:cubicBezTo>
                  <a:pt x="109068" y="289149"/>
                  <a:pt x="112839" y="287554"/>
                  <a:pt x="116609" y="287554"/>
                </a:cubicBezTo>
                <a:close/>
                <a:moveTo>
                  <a:pt x="447208" y="275232"/>
                </a:moveTo>
                <a:cubicBezTo>
                  <a:pt x="432411" y="275232"/>
                  <a:pt x="420370" y="287250"/>
                  <a:pt x="420370" y="302020"/>
                </a:cubicBezTo>
                <a:cubicBezTo>
                  <a:pt x="420370" y="316789"/>
                  <a:pt x="432411" y="328807"/>
                  <a:pt x="447208" y="328807"/>
                </a:cubicBezTo>
                <a:cubicBezTo>
                  <a:pt x="462006" y="328807"/>
                  <a:pt x="474047" y="316789"/>
                  <a:pt x="474047" y="302020"/>
                </a:cubicBezTo>
                <a:cubicBezTo>
                  <a:pt x="474047" y="287250"/>
                  <a:pt x="462006" y="275232"/>
                  <a:pt x="447208" y="275232"/>
                </a:cubicBezTo>
                <a:close/>
                <a:moveTo>
                  <a:pt x="447208" y="246273"/>
                </a:moveTo>
                <a:cubicBezTo>
                  <a:pt x="477964" y="246273"/>
                  <a:pt x="503061" y="271323"/>
                  <a:pt x="503061" y="302020"/>
                </a:cubicBezTo>
                <a:cubicBezTo>
                  <a:pt x="503061" y="332861"/>
                  <a:pt x="477964" y="357766"/>
                  <a:pt x="447208" y="357766"/>
                </a:cubicBezTo>
                <a:cubicBezTo>
                  <a:pt x="416308" y="357766"/>
                  <a:pt x="391356" y="332861"/>
                  <a:pt x="391356" y="302020"/>
                </a:cubicBezTo>
                <a:cubicBezTo>
                  <a:pt x="391356" y="271323"/>
                  <a:pt x="416308" y="246273"/>
                  <a:pt x="447208" y="246273"/>
                </a:cubicBezTo>
                <a:close/>
                <a:moveTo>
                  <a:pt x="324565" y="97310"/>
                </a:moveTo>
                <a:cubicBezTo>
                  <a:pt x="328335" y="97310"/>
                  <a:pt x="332106" y="98757"/>
                  <a:pt x="334716" y="101505"/>
                </a:cubicBezTo>
                <a:cubicBezTo>
                  <a:pt x="337471" y="104109"/>
                  <a:pt x="339066" y="107870"/>
                  <a:pt x="339066" y="111776"/>
                </a:cubicBezTo>
                <a:cubicBezTo>
                  <a:pt x="339066" y="115537"/>
                  <a:pt x="337471" y="119298"/>
                  <a:pt x="334716" y="121902"/>
                </a:cubicBezTo>
                <a:cubicBezTo>
                  <a:pt x="332106" y="124651"/>
                  <a:pt x="328335" y="126242"/>
                  <a:pt x="324565" y="126242"/>
                </a:cubicBezTo>
                <a:cubicBezTo>
                  <a:pt x="320650" y="126242"/>
                  <a:pt x="317024" y="124651"/>
                  <a:pt x="314269" y="121902"/>
                </a:cubicBezTo>
                <a:cubicBezTo>
                  <a:pt x="311514" y="119298"/>
                  <a:pt x="310064" y="115537"/>
                  <a:pt x="310064" y="111776"/>
                </a:cubicBezTo>
                <a:cubicBezTo>
                  <a:pt x="310064" y="107870"/>
                  <a:pt x="311514" y="104109"/>
                  <a:pt x="314269" y="101505"/>
                </a:cubicBezTo>
                <a:cubicBezTo>
                  <a:pt x="316879" y="98757"/>
                  <a:pt x="320650" y="97310"/>
                  <a:pt x="324565" y="97310"/>
                </a:cubicBezTo>
                <a:close/>
                <a:moveTo>
                  <a:pt x="255200" y="97310"/>
                </a:moveTo>
                <a:cubicBezTo>
                  <a:pt x="258970" y="97310"/>
                  <a:pt x="262741" y="98757"/>
                  <a:pt x="265351" y="101505"/>
                </a:cubicBezTo>
                <a:cubicBezTo>
                  <a:pt x="268106" y="104109"/>
                  <a:pt x="269701" y="107870"/>
                  <a:pt x="269701" y="111776"/>
                </a:cubicBezTo>
                <a:cubicBezTo>
                  <a:pt x="269701" y="115537"/>
                  <a:pt x="268106" y="119298"/>
                  <a:pt x="265351" y="121902"/>
                </a:cubicBezTo>
                <a:cubicBezTo>
                  <a:pt x="262741" y="124651"/>
                  <a:pt x="258970" y="126242"/>
                  <a:pt x="255200" y="126242"/>
                </a:cubicBezTo>
                <a:cubicBezTo>
                  <a:pt x="251285" y="126242"/>
                  <a:pt x="247659" y="124651"/>
                  <a:pt x="244904" y="121902"/>
                </a:cubicBezTo>
                <a:cubicBezTo>
                  <a:pt x="242149" y="119298"/>
                  <a:pt x="240699" y="115537"/>
                  <a:pt x="240699" y="111776"/>
                </a:cubicBezTo>
                <a:cubicBezTo>
                  <a:pt x="240699" y="107870"/>
                  <a:pt x="242149" y="104109"/>
                  <a:pt x="244904" y="101505"/>
                </a:cubicBezTo>
                <a:cubicBezTo>
                  <a:pt x="247659" y="98757"/>
                  <a:pt x="251285" y="97310"/>
                  <a:pt x="255200" y="97310"/>
                </a:cubicBezTo>
                <a:close/>
                <a:moveTo>
                  <a:pt x="185904" y="97310"/>
                </a:moveTo>
                <a:cubicBezTo>
                  <a:pt x="189674" y="97310"/>
                  <a:pt x="193445" y="98757"/>
                  <a:pt x="196200" y="101505"/>
                </a:cubicBezTo>
                <a:cubicBezTo>
                  <a:pt x="198810" y="104109"/>
                  <a:pt x="200405" y="107870"/>
                  <a:pt x="200405" y="111776"/>
                </a:cubicBezTo>
                <a:cubicBezTo>
                  <a:pt x="200405" y="115537"/>
                  <a:pt x="198810" y="119298"/>
                  <a:pt x="196200" y="121902"/>
                </a:cubicBezTo>
                <a:cubicBezTo>
                  <a:pt x="193445" y="124651"/>
                  <a:pt x="189674" y="126242"/>
                  <a:pt x="185904" y="126242"/>
                </a:cubicBezTo>
                <a:cubicBezTo>
                  <a:pt x="182134" y="126242"/>
                  <a:pt x="178363" y="124651"/>
                  <a:pt x="175608" y="121902"/>
                </a:cubicBezTo>
                <a:cubicBezTo>
                  <a:pt x="172998" y="119298"/>
                  <a:pt x="171403" y="115537"/>
                  <a:pt x="171403" y="111776"/>
                </a:cubicBezTo>
                <a:cubicBezTo>
                  <a:pt x="171403" y="107870"/>
                  <a:pt x="172998" y="104109"/>
                  <a:pt x="175608" y="101505"/>
                </a:cubicBezTo>
                <a:cubicBezTo>
                  <a:pt x="178363" y="98757"/>
                  <a:pt x="182134" y="97310"/>
                  <a:pt x="185904" y="97310"/>
                </a:cubicBezTo>
                <a:close/>
                <a:moveTo>
                  <a:pt x="116609" y="97310"/>
                </a:moveTo>
                <a:cubicBezTo>
                  <a:pt x="120379" y="97310"/>
                  <a:pt x="124150" y="98757"/>
                  <a:pt x="126905" y="101505"/>
                </a:cubicBezTo>
                <a:cubicBezTo>
                  <a:pt x="129660" y="104109"/>
                  <a:pt x="131110" y="107870"/>
                  <a:pt x="131110" y="111776"/>
                </a:cubicBezTo>
                <a:cubicBezTo>
                  <a:pt x="131110" y="115537"/>
                  <a:pt x="129660" y="119298"/>
                  <a:pt x="126905" y="121902"/>
                </a:cubicBezTo>
                <a:cubicBezTo>
                  <a:pt x="124150" y="124651"/>
                  <a:pt x="120379" y="126242"/>
                  <a:pt x="116609" y="126242"/>
                </a:cubicBezTo>
                <a:cubicBezTo>
                  <a:pt x="112839" y="126242"/>
                  <a:pt x="109068" y="124651"/>
                  <a:pt x="106458" y="121902"/>
                </a:cubicBezTo>
                <a:cubicBezTo>
                  <a:pt x="103703" y="119298"/>
                  <a:pt x="102108" y="115537"/>
                  <a:pt x="102108" y="111776"/>
                </a:cubicBezTo>
                <a:cubicBezTo>
                  <a:pt x="102108" y="107870"/>
                  <a:pt x="103703" y="104109"/>
                  <a:pt x="106458" y="101505"/>
                </a:cubicBezTo>
                <a:cubicBezTo>
                  <a:pt x="109068" y="98757"/>
                  <a:pt x="112839" y="97310"/>
                  <a:pt x="116609" y="97310"/>
                </a:cubicBezTo>
                <a:close/>
                <a:moveTo>
                  <a:pt x="447208" y="84847"/>
                </a:moveTo>
                <a:cubicBezTo>
                  <a:pt x="432411" y="84847"/>
                  <a:pt x="420370" y="96865"/>
                  <a:pt x="420370" y="111634"/>
                </a:cubicBezTo>
                <a:cubicBezTo>
                  <a:pt x="420370" y="126404"/>
                  <a:pt x="432411" y="138422"/>
                  <a:pt x="447208" y="138422"/>
                </a:cubicBezTo>
                <a:cubicBezTo>
                  <a:pt x="462006" y="138422"/>
                  <a:pt x="474047" y="126404"/>
                  <a:pt x="474047" y="111634"/>
                </a:cubicBezTo>
                <a:cubicBezTo>
                  <a:pt x="474047" y="96865"/>
                  <a:pt x="462006" y="84847"/>
                  <a:pt x="447208" y="84847"/>
                </a:cubicBezTo>
                <a:close/>
                <a:moveTo>
                  <a:pt x="447208" y="55888"/>
                </a:moveTo>
                <a:cubicBezTo>
                  <a:pt x="477964" y="55888"/>
                  <a:pt x="503061" y="80938"/>
                  <a:pt x="503061" y="111634"/>
                </a:cubicBezTo>
                <a:cubicBezTo>
                  <a:pt x="503061" y="142476"/>
                  <a:pt x="477964" y="167381"/>
                  <a:pt x="447208" y="167381"/>
                </a:cubicBezTo>
                <a:cubicBezTo>
                  <a:pt x="416308" y="167381"/>
                  <a:pt x="391356" y="142476"/>
                  <a:pt x="391356" y="111634"/>
                </a:cubicBezTo>
                <a:cubicBezTo>
                  <a:pt x="391356" y="80938"/>
                  <a:pt x="416308" y="55888"/>
                  <a:pt x="447208" y="55888"/>
                </a:cubicBezTo>
                <a:close/>
                <a:moveTo>
                  <a:pt x="96293" y="28960"/>
                </a:moveTo>
                <a:cubicBezTo>
                  <a:pt x="59168" y="28960"/>
                  <a:pt x="29004" y="59079"/>
                  <a:pt x="29004" y="96147"/>
                </a:cubicBezTo>
                <a:lnTo>
                  <a:pt x="29004" y="184476"/>
                </a:lnTo>
                <a:lnTo>
                  <a:pt x="488573" y="184476"/>
                </a:lnTo>
                <a:cubicBezTo>
                  <a:pt x="496549" y="184476"/>
                  <a:pt x="503075" y="190992"/>
                  <a:pt x="503075" y="198956"/>
                </a:cubicBezTo>
                <a:cubicBezTo>
                  <a:pt x="503075" y="206920"/>
                  <a:pt x="496549" y="213436"/>
                  <a:pt x="488573" y="213436"/>
                </a:cubicBezTo>
                <a:lnTo>
                  <a:pt x="29004" y="213436"/>
                </a:lnTo>
                <a:lnTo>
                  <a:pt x="29004" y="508105"/>
                </a:lnTo>
                <a:cubicBezTo>
                  <a:pt x="29004" y="545173"/>
                  <a:pt x="59168" y="575292"/>
                  <a:pt x="96293" y="575292"/>
                </a:cubicBezTo>
                <a:lnTo>
                  <a:pt x="508876" y="575292"/>
                </a:lnTo>
                <a:cubicBezTo>
                  <a:pt x="546001" y="575292"/>
                  <a:pt x="576165" y="545173"/>
                  <a:pt x="576165" y="508105"/>
                </a:cubicBezTo>
                <a:lnTo>
                  <a:pt x="576165" y="422383"/>
                </a:lnTo>
                <a:lnTo>
                  <a:pt x="89912" y="422383"/>
                </a:lnTo>
                <a:cubicBezTo>
                  <a:pt x="81936" y="422383"/>
                  <a:pt x="75410" y="416012"/>
                  <a:pt x="75410" y="407903"/>
                </a:cubicBezTo>
                <a:cubicBezTo>
                  <a:pt x="75410" y="399939"/>
                  <a:pt x="81936" y="393423"/>
                  <a:pt x="89912" y="393423"/>
                </a:cubicBezTo>
                <a:lnTo>
                  <a:pt x="576165" y="393423"/>
                </a:lnTo>
                <a:lnTo>
                  <a:pt x="576165" y="96147"/>
                </a:lnTo>
                <a:cubicBezTo>
                  <a:pt x="576165" y="59079"/>
                  <a:pt x="546001" y="28960"/>
                  <a:pt x="508876" y="28960"/>
                </a:cubicBezTo>
                <a:close/>
                <a:moveTo>
                  <a:pt x="96293" y="0"/>
                </a:moveTo>
                <a:lnTo>
                  <a:pt x="508876" y="0"/>
                </a:lnTo>
                <a:cubicBezTo>
                  <a:pt x="561953" y="0"/>
                  <a:pt x="605169" y="43151"/>
                  <a:pt x="605169" y="96147"/>
                </a:cubicBezTo>
                <a:lnTo>
                  <a:pt x="605169" y="508105"/>
                </a:lnTo>
                <a:cubicBezTo>
                  <a:pt x="605169" y="561102"/>
                  <a:pt x="561953" y="604252"/>
                  <a:pt x="508876" y="604252"/>
                </a:cubicBezTo>
                <a:lnTo>
                  <a:pt x="96293" y="604252"/>
                </a:lnTo>
                <a:cubicBezTo>
                  <a:pt x="43216" y="604252"/>
                  <a:pt x="0" y="561102"/>
                  <a:pt x="0" y="508105"/>
                </a:cubicBezTo>
                <a:lnTo>
                  <a:pt x="0" y="96147"/>
                </a:lnTo>
                <a:cubicBezTo>
                  <a:pt x="0" y="43151"/>
                  <a:pt x="43216" y="0"/>
                  <a:pt x="96293" y="0"/>
                </a:cubicBezTo>
                <a:close/>
              </a:path>
            </a:pathLst>
          </a:custGeom>
          <a:solidFill>
            <a:srgbClr val="FFFFFF">
              <a:lumMod val="75000"/>
            </a:srgbClr>
          </a:solidFill>
          <a:ln>
            <a:noFill/>
          </a:ln>
        </p:spPr>
        <p:txBody>
          <a:bodyPr/>
          <a:lstStyle/>
          <a:p>
            <a:endParaRPr lang="zh-CN" altLang="en-US" sz="120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2" name="直接连接符 61"/>
          <p:cNvCxnSpPr/>
          <p:nvPr/>
        </p:nvCxnSpPr>
        <p:spPr>
          <a:xfrm>
            <a:off x="6464904" y="2014954"/>
            <a:ext cx="0" cy="1339217"/>
          </a:xfrm>
          <a:prstGeom prst="line">
            <a:avLst/>
          </a:prstGeom>
          <a:noFill/>
          <a:ln w="6350" cap="flat" cmpd="sng" algn="ctr">
            <a:solidFill>
              <a:srgbClr val="DDDDDD"/>
            </a:solidFill>
            <a:prstDash val="solid"/>
            <a:miter lim="800000"/>
          </a:ln>
          <a:effectLst/>
        </p:spPr>
      </p:cxnSp>
      <p:sp>
        <p:nvSpPr>
          <p:cNvPr id="64" name="矩形 63"/>
          <p:cNvSpPr/>
          <p:nvPr/>
        </p:nvSpPr>
        <p:spPr>
          <a:xfrm>
            <a:off x="7289715" y="2155396"/>
            <a:ext cx="1670650"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Cassandra</a:t>
            </a: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内存数据库</a:t>
            </a:r>
          </a:p>
        </p:txBody>
      </p:sp>
      <p:sp>
        <p:nvSpPr>
          <p:cNvPr id="65" name="椭圆 64"/>
          <p:cNvSpPr/>
          <p:nvPr/>
        </p:nvSpPr>
        <p:spPr>
          <a:xfrm>
            <a:off x="7886289" y="1695963"/>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矩形 65"/>
          <p:cNvSpPr/>
          <p:nvPr/>
        </p:nvSpPr>
        <p:spPr>
          <a:xfrm>
            <a:off x="6595031" y="3132732"/>
            <a:ext cx="2276585" cy="276999"/>
          </a:xfrm>
          <a:prstGeom prst="rect">
            <a:avLst/>
          </a:prstGeom>
        </p:spPr>
        <p:txBody>
          <a:bodyPr wrap="none">
            <a:spAutoFit/>
          </a:bodyPr>
          <a:lstStyle/>
          <a:p>
            <a:pPr algn="ctr" defTabSz="914478"/>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CPU:MEM=1:8 | </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最大</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60U480G</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矩形 66"/>
          <p:cNvSpPr/>
          <p:nvPr/>
        </p:nvSpPr>
        <p:spPr>
          <a:xfrm>
            <a:off x="6982150" y="2610686"/>
            <a:ext cx="1502334" cy="553998"/>
          </a:xfrm>
          <a:prstGeom prst="rect">
            <a:avLst/>
          </a:prstGeom>
        </p:spPr>
        <p:txBody>
          <a:bodyPr wrap="none">
            <a:spAutoFit/>
          </a:bodyPr>
          <a:lstStyle/>
          <a:p>
            <a:pPr algn="ctr" defTabSz="914478"/>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内存密集型</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478"/>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内存优化型</a:t>
            </a: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KM1</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9" name="矩形 68"/>
          <p:cNvSpPr/>
          <p:nvPr/>
        </p:nvSpPr>
        <p:spPr>
          <a:xfrm>
            <a:off x="6493525" y="2155398"/>
            <a:ext cx="954108"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分布式缓存</a:t>
            </a:r>
          </a:p>
        </p:txBody>
      </p:sp>
      <p:sp>
        <p:nvSpPr>
          <p:cNvPr id="70" name="椭圆 69"/>
          <p:cNvSpPr/>
          <p:nvPr/>
        </p:nvSpPr>
        <p:spPr>
          <a:xfrm>
            <a:off x="6763232" y="1695965"/>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1" name="矩形 70"/>
          <p:cNvSpPr/>
          <p:nvPr/>
        </p:nvSpPr>
        <p:spPr>
          <a:xfrm>
            <a:off x="6592139" y="1783065"/>
            <a:ext cx="812884" cy="276999"/>
          </a:xfrm>
          <a:prstGeom prst="rect">
            <a:avLst/>
          </a:prstGeom>
        </p:spPr>
        <p:txBody>
          <a:bodyPr wrap="square">
            <a:spAutoFit/>
          </a:bodyPr>
          <a:lstStyle/>
          <a:p>
            <a:pPr algn="ctr" defTabSz="914478"/>
            <a:r>
              <a:rPr lang="en-US" altLang="zh-CN" sz="1200" b="1" dirty="0" err="1">
                <a:latin typeface="Huawei Sans" panose="020C0503030203020204" pitchFamily="34" charset="0"/>
                <a:ea typeface="方正兰亭黑简体" panose="02000000000000000000" pitchFamily="2" charset="-122"/>
                <a:cs typeface="+mn-ea"/>
                <a:sym typeface="Huawei Sans" panose="020C0503030203020204" pitchFamily="34" charset="0"/>
              </a:rPr>
              <a:t>Redis</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2" name="data-connection_76065"/>
          <p:cNvSpPr>
            <a:spLocks noChangeAspect="1"/>
          </p:cNvSpPr>
          <p:nvPr/>
        </p:nvSpPr>
        <p:spPr bwMode="auto">
          <a:xfrm>
            <a:off x="4910695" y="1772820"/>
            <a:ext cx="345490" cy="345008"/>
          </a:xfrm>
          <a:custGeom>
            <a:avLst/>
            <a:gdLst>
              <a:gd name="T0" fmla="*/ 0 w 3867"/>
              <a:gd name="T1" fmla="*/ 467 h 3867"/>
              <a:gd name="T2" fmla="*/ 400 w 3867"/>
              <a:gd name="T3" fmla="*/ 2938 h 3867"/>
              <a:gd name="T4" fmla="*/ 467 w 3867"/>
              <a:gd name="T5" fmla="*/ 3867 h 3867"/>
              <a:gd name="T6" fmla="*/ 2938 w 3867"/>
              <a:gd name="T7" fmla="*/ 3467 h 3867"/>
              <a:gd name="T8" fmla="*/ 3867 w 3867"/>
              <a:gd name="T9" fmla="*/ 3400 h 3867"/>
              <a:gd name="T10" fmla="*/ 3467 w 3867"/>
              <a:gd name="T11" fmla="*/ 928 h 3867"/>
              <a:gd name="T12" fmla="*/ 3400 w 3867"/>
              <a:gd name="T13" fmla="*/ 0 h 3867"/>
              <a:gd name="T14" fmla="*/ 928 w 3867"/>
              <a:gd name="T15" fmla="*/ 400 h 3867"/>
              <a:gd name="T16" fmla="*/ 467 w 3867"/>
              <a:gd name="T17" fmla="*/ 133 h 3867"/>
              <a:gd name="T18" fmla="*/ 467 w 3867"/>
              <a:gd name="T19" fmla="*/ 800 h 3867"/>
              <a:gd name="T20" fmla="*/ 467 w 3867"/>
              <a:gd name="T21" fmla="*/ 133 h 3867"/>
              <a:gd name="T22" fmla="*/ 3733 w 3867"/>
              <a:gd name="T23" fmla="*/ 467 h 3867"/>
              <a:gd name="T24" fmla="*/ 3067 w 3867"/>
              <a:gd name="T25" fmla="*/ 467 h 3867"/>
              <a:gd name="T26" fmla="*/ 467 w 3867"/>
              <a:gd name="T27" fmla="*/ 233 h 3867"/>
              <a:gd name="T28" fmla="*/ 266 w 3867"/>
              <a:gd name="T29" fmla="*/ 500 h 3867"/>
              <a:gd name="T30" fmla="*/ 300 w 3867"/>
              <a:gd name="T31" fmla="*/ 467 h 3867"/>
              <a:gd name="T32" fmla="*/ 500 w 3867"/>
              <a:gd name="T33" fmla="*/ 267 h 3867"/>
              <a:gd name="T34" fmla="*/ 467 w 3867"/>
              <a:gd name="T35" fmla="*/ 233 h 3867"/>
              <a:gd name="T36" fmla="*/ 3167 w 3867"/>
              <a:gd name="T37" fmla="*/ 467 h 3867"/>
              <a:gd name="T38" fmla="*/ 3233 w 3867"/>
              <a:gd name="T39" fmla="*/ 468 h 3867"/>
              <a:gd name="T40" fmla="*/ 3400 w 3867"/>
              <a:gd name="T41" fmla="*/ 300 h 3867"/>
              <a:gd name="T42" fmla="*/ 3401 w 3867"/>
              <a:gd name="T43" fmla="*/ 233 h 3867"/>
              <a:gd name="T44" fmla="*/ 928 w 3867"/>
              <a:gd name="T45" fmla="*/ 533 h 3867"/>
              <a:gd name="T46" fmla="*/ 3027 w 3867"/>
              <a:gd name="T47" fmla="*/ 746 h 3867"/>
              <a:gd name="T48" fmla="*/ 1933 w 3867"/>
              <a:gd name="T49" fmla="*/ 1067 h 3867"/>
              <a:gd name="T50" fmla="*/ 840 w 3867"/>
              <a:gd name="T51" fmla="*/ 746 h 3867"/>
              <a:gd name="T52" fmla="*/ 746 w 3867"/>
              <a:gd name="T53" fmla="*/ 840 h 3867"/>
              <a:gd name="T54" fmla="*/ 1067 w 3867"/>
              <a:gd name="T55" fmla="*/ 1933 h 3867"/>
              <a:gd name="T56" fmla="*/ 746 w 3867"/>
              <a:gd name="T57" fmla="*/ 3027 h 3867"/>
              <a:gd name="T58" fmla="*/ 533 w 3867"/>
              <a:gd name="T59" fmla="*/ 928 h 3867"/>
              <a:gd name="T60" fmla="*/ 3121 w 3867"/>
              <a:gd name="T61" fmla="*/ 840 h 3867"/>
              <a:gd name="T62" fmla="*/ 3333 w 3867"/>
              <a:gd name="T63" fmla="*/ 2938 h 3867"/>
              <a:gd name="T64" fmla="*/ 2591 w 3867"/>
              <a:gd name="T65" fmla="*/ 2497 h 3867"/>
              <a:gd name="T66" fmla="*/ 2591 w 3867"/>
              <a:gd name="T67" fmla="*/ 1370 h 3867"/>
              <a:gd name="T68" fmla="*/ 1933 w 3867"/>
              <a:gd name="T69" fmla="*/ 1200 h 3867"/>
              <a:gd name="T70" fmla="*/ 1933 w 3867"/>
              <a:gd name="T71" fmla="*/ 2667 h 3867"/>
              <a:gd name="T72" fmla="*/ 1933 w 3867"/>
              <a:gd name="T73" fmla="*/ 1200 h 3867"/>
              <a:gd name="T74" fmla="*/ 1500 w 3867"/>
              <a:gd name="T75" fmla="*/ 1933 h 3867"/>
              <a:gd name="T76" fmla="*/ 1567 w 3867"/>
              <a:gd name="T77" fmla="*/ 1934 h 3867"/>
              <a:gd name="T78" fmla="*/ 1933 w 3867"/>
              <a:gd name="T79" fmla="*/ 1567 h 3867"/>
              <a:gd name="T80" fmla="*/ 1934 w 3867"/>
              <a:gd name="T81" fmla="*/ 1500 h 3867"/>
              <a:gd name="T82" fmla="*/ 1370 w 3867"/>
              <a:gd name="T83" fmla="*/ 2591 h 3867"/>
              <a:gd name="T84" fmla="*/ 2497 w 3867"/>
              <a:gd name="T85" fmla="*/ 2591 h 3867"/>
              <a:gd name="T86" fmla="*/ 2938 w 3867"/>
              <a:gd name="T87" fmla="*/ 3333 h 3867"/>
              <a:gd name="T88" fmla="*/ 840 w 3867"/>
              <a:gd name="T89" fmla="*/ 3121 h 3867"/>
              <a:gd name="T90" fmla="*/ 467 w 3867"/>
              <a:gd name="T91" fmla="*/ 3067 h 3867"/>
              <a:gd name="T92" fmla="*/ 467 w 3867"/>
              <a:gd name="T93" fmla="*/ 3733 h 3867"/>
              <a:gd name="T94" fmla="*/ 467 w 3867"/>
              <a:gd name="T95" fmla="*/ 3067 h 3867"/>
              <a:gd name="T96" fmla="*/ 3733 w 3867"/>
              <a:gd name="T97" fmla="*/ 3400 h 3867"/>
              <a:gd name="T98" fmla="*/ 3067 w 3867"/>
              <a:gd name="T99" fmla="*/ 3400 h 3867"/>
              <a:gd name="T100" fmla="*/ 467 w 3867"/>
              <a:gd name="T101" fmla="*/ 3167 h 3867"/>
              <a:gd name="T102" fmla="*/ 266 w 3867"/>
              <a:gd name="T103" fmla="*/ 3434 h 3867"/>
              <a:gd name="T104" fmla="*/ 300 w 3867"/>
              <a:gd name="T105" fmla="*/ 3400 h 3867"/>
              <a:gd name="T106" fmla="*/ 500 w 3867"/>
              <a:gd name="T107" fmla="*/ 3200 h 3867"/>
              <a:gd name="T108" fmla="*/ 467 w 3867"/>
              <a:gd name="T109" fmla="*/ 3167 h 3867"/>
              <a:gd name="T110" fmla="*/ 3167 w 3867"/>
              <a:gd name="T111" fmla="*/ 3400 h 3867"/>
              <a:gd name="T112" fmla="*/ 3233 w 3867"/>
              <a:gd name="T113" fmla="*/ 3401 h 3867"/>
              <a:gd name="T114" fmla="*/ 3400 w 3867"/>
              <a:gd name="T115" fmla="*/ 3233 h 3867"/>
              <a:gd name="T116" fmla="*/ 3401 w 3867"/>
              <a:gd name="T117" fmla="*/ 3167 h 3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67" h="3867">
                <a:moveTo>
                  <a:pt x="467" y="0"/>
                </a:moveTo>
                <a:cubicBezTo>
                  <a:pt x="210" y="0"/>
                  <a:pt x="0" y="210"/>
                  <a:pt x="0" y="467"/>
                </a:cubicBezTo>
                <a:cubicBezTo>
                  <a:pt x="0" y="701"/>
                  <a:pt x="174" y="896"/>
                  <a:pt x="400" y="928"/>
                </a:cubicBezTo>
                <a:lnTo>
                  <a:pt x="400" y="2938"/>
                </a:lnTo>
                <a:cubicBezTo>
                  <a:pt x="174" y="2971"/>
                  <a:pt x="0" y="3166"/>
                  <a:pt x="0" y="3400"/>
                </a:cubicBezTo>
                <a:cubicBezTo>
                  <a:pt x="0" y="3657"/>
                  <a:pt x="210" y="3867"/>
                  <a:pt x="467" y="3867"/>
                </a:cubicBezTo>
                <a:cubicBezTo>
                  <a:pt x="701" y="3867"/>
                  <a:pt x="896" y="3692"/>
                  <a:pt x="928" y="3467"/>
                </a:cubicBezTo>
                <a:lnTo>
                  <a:pt x="2938" y="3467"/>
                </a:lnTo>
                <a:cubicBezTo>
                  <a:pt x="2971" y="3692"/>
                  <a:pt x="3166" y="3867"/>
                  <a:pt x="3400" y="3867"/>
                </a:cubicBezTo>
                <a:cubicBezTo>
                  <a:pt x="3657" y="3867"/>
                  <a:pt x="3867" y="3657"/>
                  <a:pt x="3867" y="3400"/>
                </a:cubicBezTo>
                <a:cubicBezTo>
                  <a:pt x="3867" y="3166"/>
                  <a:pt x="3692" y="2971"/>
                  <a:pt x="3467" y="2938"/>
                </a:cubicBezTo>
                <a:lnTo>
                  <a:pt x="3467" y="928"/>
                </a:lnTo>
                <a:cubicBezTo>
                  <a:pt x="3692" y="896"/>
                  <a:pt x="3867" y="701"/>
                  <a:pt x="3867" y="467"/>
                </a:cubicBezTo>
                <a:cubicBezTo>
                  <a:pt x="3867" y="210"/>
                  <a:pt x="3657" y="0"/>
                  <a:pt x="3400" y="0"/>
                </a:cubicBezTo>
                <a:cubicBezTo>
                  <a:pt x="3166" y="0"/>
                  <a:pt x="2971" y="174"/>
                  <a:pt x="2938" y="400"/>
                </a:cubicBezTo>
                <a:lnTo>
                  <a:pt x="928" y="400"/>
                </a:lnTo>
                <a:cubicBezTo>
                  <a:pt x="896" y="174"/>
                  <a:pt x="701" y="0"/>
                  <a:pt x="467" y="0"/>
                </a:cubicBezTo>
                <a:close/>
                <a:moveTo>
                  <a:pt x="467" y="133"/>
                </a:moveTo>
                <a:cubicBezTo>
                  <a:pt x="652" y="133"/>
                  <a:pt x="800" y="282"/>
                  <a:pt x="800" y="467"/>
                </a:cubicBezTo>
                <a:cubicBezTo>
                  <a:pt x="800" y="652"/>
                  <a:pt x="652" y="800"/>
                  <a:pt x="467" y="800"/>
                </a:cubicBezTo>
                <a:cubicBezTo>
                  <a:pt x="282" y="800"/>
                  <a:pt x="133" y="652"/>
                  <a:pt x="133" y="467"/>
                </a:cubicBezTo>
                <a:cubicBezTo>
                  <a:pt x="133" y="282"/>
                  <a:pt x="282" y="133"/>
                  <a:pt x="467" y="133"/>
                </a:cubicBezTo>
                <a:close/>
                <a:moveTo>
                  <a:pt x="3400" y="133"/>
                </a:moveTo>
                <a:cubicBezTo>
                  <a:pt x="3585" y="133"/>
                  <a:pt x="3733" y="282"/>
                  <a:pt x="3733" y="467"/>
                </a:cubicBezTo>
                <a:cubicBezTo>
                  <a:pt x="3733" y="652"/>
                  <a:pt x="3585" y="800"/>
                  <a:pt x="3400" y="800"/>
                </a:cubicBezTo>
                <a:cubicBezTo>
                  <a:pt x="3215" y="800"/>
                  <a:pt x="3067" y="652"/>
                  <a:pt x="3067" y="467"/>
                </a:cubicBezTo>
                <a:cubicBezTo>
                  <a:pt x="3067" y="282"/>
                  <a:pt x="3215" y="133"/>
                  <a:pt x="3400" y="133"/>
                </a:cubicBezTo>
                <a:close/>
                <a:moveTo>
                  <a:pt x="467" y="233"/>
                </a:moveTo>
                <a:cubicBezTo>
                  <a:pt x="338" y="233"/>
                  <a:pt x="233" y="338"/>
                  <a:pt x="233" y="467"/>
                </a:cubicBezTo>
                <a:cubicBezTo>
                  <a:pt x="233" y="485"/>
                  <a:pt x="248" y="500"/>
                  <a:pt x="266" y="500"/>
                </a:cubicBezTo>
                <a:cubicBezTo>
                  <a:pt x="285" y="501"/>
                  <a:pt x="300" y="486"/>
                  <a:pt x="300" y="468"/>
                </a:cubicBezTo>
                <a:lnTo>
                  <a:pt x="300" y="467"/>
                </a:lnTo>
                <a:cubicBezTo>
                  <a:pt x="300" y="374"/>
                  <a:pt x="374" y="300"/>
                  <a:pt x="467" y="300"/>
                </a:cubicBezTo>
                <a:cubicBezTo>
                  <a:pt x="485" y="300"/>
                  <a:pt x="500" y="286"/>
                  <a:pt x="500" y="267"/>
                </a:cubicBezTo>
                <a:cubicBezTo>
                  <a:pt x="501" y="249"/>
                  <a:pt x="486" y="234"/>
                  <a:pt x="468" y="233"/>
                </a:cubicBezTo>
                <a:cubicBezTo>
                  <a:pt x="467" y="233"/>
                  <a:pt x="467" y="233"/>
                  <a:pt x="467" y="233"/>
                </a:cubicBezTo>
                <a:close/>
                <a:moveTo>
                  <a:pt x="3400" y="233"/>
                </a:moveTo>
                <a:cubicBezTo>
                  <a:pt x="3272" y="233"/>
                  <a:pt x="3167" y="338"/>
                  <a:pt x="3167" y="467"/>
                </a:cubicBezTo>
                <a:cubicBezTo>
                  <a:pt x="3166" y="485"/>
                  <a:pt x="3181" y="500"/>
                  <a:pt x="3200" y="500"/>
                </a:cubicBezTo>
                <a:cubicBezTo>
                  <a:pt x="3218" y="501"/>
                  <a:pt x="3233" y="486"/>
                  <a:pt x="3233" y="468"/>
                </a:cubicBezTo>
                <a:lnTo>
                  <a:pt x="3233" y="467"/>
                </a:lnTo>
                <a:cubicBezTo>
                  <a:pt x="3233" y="374"/>
                  <a:pt x="3308" y="300"/>
                  <a:pt x="3400" y="300"/>
                </a:cubicBezTo>
                <a:cubicBezTo>
                  <a:pt x="3418" y="300"/>
                  <a:pt x="3434" y="286"/>
                  <a:pt x="3434" y="267"/>
                </a:cubicBezTo>
                <a:cubicBezTo>
                  <a:pt x="3434" y="249"/>
                  <a:pt x="3419" y="234"/>
                  <a:pt x="3401" y="233"/>
                </a:cubicBezTo>
                <a:cubicBezTo>
                  <a:pt x="3401" y="233"/>
                  <a:pt x="3400" y="233"/>
                  <a:pt x="3400" y="233"/>
                </a:cubicBezTo>
                <a:close/>
                <a:moveTo>
                  <a:pt x="928" y="533"/>
                </a:moveTo>
                <a:lnTo>
                  <a:pt x="2938" y="533"/>
                </a:lnTo>
                <a:cubicBezTo>
                  <a:pt x="2950" y="612"/>
                  <a:pt x="2981" y="685"/>
                  <a:pt x="3027" y="746"/>
                </a:cubicBezTo>
                <a:lnTo>
                  <a:pt x="2497" y="1276"/>
                </a:lnTo>
                <a:cubicBezTo>
                  <a:pt x="2345" y="1146"/>
                  <a:pt x="2148" y="1067"/>
                  <a:pt x="1933" y="1067"/>
                </a:cubicBezTo>
                <a:cubicBezTo>
                  <a:pt x="1718" y="1067"/>
                  <a:pt x="1522" y="1146"/>
                  <a:pt x="1370" y="1276"/>
                </a:cubicBezTo>
                <a:lnTo>
                  <a:pt x="840" y="746"/>
                </a:lnTo>
                <a:cubicBezTo>
                  <a:pt x="886" y="685"/>
                  <a:pt x="917" y="612"/>
                  <a:pt x="928" y="533"/>
                </a:cubicBezTo>
                <a:close/>
                <a:moveTo>
                  <a:pt x="746" y="840"/>
                </a:moveTo>
                <a:lnTo>
                  <a:pt x="1276" y="1370"/>
                </a:lnTo>
                <a:cubicBezTo>
                  <a:pt x="1146" y="1522"/>
                  <a:pt x="1067" y="1718"/>
                  <a:pt x="1067" y="1933"/>
                </a:cubicBezTo>
                <a:cubicBezTo>
                  <a:pt x="1067" y="2148"/>
                  <a:pt x="1146" y="2345"/>
                  <a:pt x="1276" y="2497"/>
                </a:cubicBezTo>
                <a:lnTo>
                  <a:pt x="746" y="3027"/>
                </a:lnTo>
                <a:cubicBezTo>
                  <a:pt x="685" y="2981"/>
                  <a:pt x="612" y="2950"/>
                  <a:pt x="533" y="2938"/>
                </a:cubicBezTo>
                <a:lnTo>
                  <a:pt x="533" y="928"/>
                </a:lnTo>
                <a:cubicBezTo>
                  <a:pt x="612" y="917"/>
                  <a:pt x="685" y="886"/>
                  <a:pt x="746" y="840"/>
                </a:cubicBezTo>
                <a:close/>
                <a:moveTo>
                  <a:pt x="3121" y="840"/>
                </a:moveTo>
                <a:cubicBezTo>
                  <a:pt x="3182" y="886"/>
                  <a:pt x="3254" y="917"/>
                  <a:pt x="3333" y="928"/>
                </a:cubicBezTo>
                <a:lnTo>
                  <a:pt x="3333" y="2938"/>
                </a:lnTo>
                <a:cubicBezTo>
                  <a:pt x="3254" y="2950"/>
                  <a:pt x="3182" y="2981"/>
                  <a:pt x="3121" y="3027"/>
                </a:cubicBezTo>
                <a:lnTo>
                  <a:pt x="2591" y="2497"/>
                </a:lnTo>
                <a:cubicBezTo>
                  <a:pt x="2721" y="2345"/>
                  <a:pt x="2800" y="2148"/>
                  <a:pt x="2800" y="1933"/>
                </a:cubicBezTo>
                <a:cubicBezTo>
                  <a:pt x="2800" y="1718"/>
                  <a:pt x="2721" y="1522"/>
                  <a:pt x="2591" y="1370"/>
                </a:cubicBezTo>
                <a:lnTo>
                  <a:pt x="3121" y="840"/>
                </a:lnTo>
                <a:close/>
                <a:moveTo>
                  <a:pt x="1933" y="1200"/>
                </a:moveTo>
                <a:cubicBezTo>
                  <a:pt x="2339" y="1200"/>
                  <a:pt x="2667" y="1528"/>
                  <a:pt x="2667" y="1933"/>
                </a:cubicBezTo>
                <a:cubicBezTo>
                  <a:pt x="2667" y="2339"/>
                  <a:pt x="2339" y="2667"/>
                  <a:pt x="1933" y="2667"/>
                </a:cubicBezTo>
                <a:cubicBezTo>
                  <a:pt x="1528" y="2667"/>
                  <a:pt x="1200" y="2339"/>
                  <a:pt x="1200" y="1933"/>
                </a:cubicBezTo>
                <a:cubicBezTo>
                  <a:pt x="1200" y="1528"/>
                  <a:pt x="1528" y="1200"/>
                  <a:pt x="1933" y="1200"/>
                </a:cubicBezTo>
                <a:close/>
                <a:moveTo>
                  <a:pt x="1933" y="1500"/>
                </a:moveTo>
                <a:cubicBezTo>
                  <a:pt x="1694" y="1500"/>
                  <a:pt x="1500" y="1694"/>
                  <a:pt x="1500" y="1933"/>
                </a:cubicBezTo>
                <a:cubicBezTo>
                  <a:pt x="1500" y="1952"/>
                  <a:pt x="1514" y="1967"/>
                  <a:pt x="1533" y="1967"/>
                </a:cubicBezTo>
                <a:cubicBezTo>
                  <a:pt x="1551" y="1967"/>
                  <a:pt x="1566" y="1953"/>
                  <a:pt x="1567" y="1934"/>
                </a:cubicBezTo>
                <a:lnTo>
                  <a:pt x="1567" y="1933"/>
                </a:lnTo>
                <a:cubicBezTo>
                  <a:pt x="1567" y="1730"/>
                  <a:pt x="1730" y="1567"/>
                  <a:pt x="1933" y="1567"/>
                </a:cubicBezTo>
                <a:cubicBezTo>
                  <a:pt x="1952" y="1567"/>
                  <a:pt x="1967" y="1552"/>
                  <a:pt x="1967" y="1534"/>
                </a:cubicBezTo>
                <a:cubicBezTo>
                  <a:pt x="1967" y="1515"/>
                  <a:pt x="1953" y="1500"/>
                  <a:pt x="1934" y="1500"/>
                </a:cubicBezTo>
                <a:cubicBezTo>
                  <a:pt x="1934" y="1500"/>
                  <a:pt x="1934" y="1500"/>
                  <a:pt x="1933" y="1500"/>
                </a:cubicBezTo>
                <a:close/>
                <a:moveTo>
                  <a:pt x="1370" y="2591"/>
                </a:moveTo>
                <a:cubicBezTo>
                  <a:pt x="1522" y="2721"/>
                  <a:pt x="1718" y="2800"/>
                  <a:pt x="1933" y="2800"/>
                </a:cubicBezTo>
                <a:cubicBezTo>
                  <a:pt x="2148" y="2800"/>
                  <a:pt x="2345" y="2721"/>
                  <a:pt x="2497" y="2591"/>
                </a:cubicBezTo>
                <a:lnTo>
                  <a:pt x="3027" y="3121"/>
                </a:lnTo>
                <a:cubicBezTo>
                  <a:pt x="2981" y="3182"/>
                  <a:pt x="2950" y="3254"/>
                  <a:pt x="2938" y="3333"/>
                </a:cubicBezTo>
                <a:lnTo>
                  <a:pt x="928" y="3333"/>
                </a:lnTo>
                <a:cubicBezTo>
                  <a:pt x="917" y="3254"/>
                  <a:pt x="886" y="3182"/>
                  <a:pt x="840" y="3121"/>
                </a:cubicBezTo>
                <a:lnTo>
                  <a:pt x="1370" y="2591"/>
                </a:lnTo>
                <a:close/>
                <a:moveTo>
                  <a:pt x="467" y="3067"/>
                </a:moveTo>
                <a:cubicBezTo>
                  <a:pt x="652" y="3067"/>
                  <a:pt x="800" y="3215"/>
                  <a:pt x="800" y="3400"/>
                </a:cubicBezTo>
                <a:cubicBezTo>
                  <a:pt x="800" y="3585"/>
                  <a:pt x="652" y="3733"/>
                  <a:pt x="467" y="3733"/>
                </a:cubicBezTo>
                <a:cubicBezTo>
                  <a:pt x="282" y="3733"/>
                  <a:pt x="133" y="3585"/>
                  <a:pt x="133" y="3400"/>
                </a:cubicBezTo>
                <a:cubicBezTo>
                  <a:pt x="133" y="3215"/>
                  <a:pt x="282" y="3067"/>
                  <a:pt x="467" y="3067"/>
                </a:cubicBezTo>
                <a:close/>
                <a:moveTo>
                  <a:pt x="3400" y="3067"/>
                </a:moveTo>
                <a:cubicBezTo>
                  <a:pt x="3585" y="3067"/>
                  <a:pt x="3733" y="3215"/>
                  <a:pt x="3733" y="3400"/>
                </a:cubicBezTo>
                <a:cubicBezTo>
                  <a:pt x="3733" y="3585"/>
                  <a:pt x="3585" y="3733"/>
                  <a:pt x="3400" y="3733"/>
                </a:cubicBezTo>
                <a:cubicBezTo>
                  <a:pt x="3215" y="3733"/>
                  <a:pt x="3067" y="3585"/>
                  <a:pt x="3067" y="3400"/>
                </a:cubicBezTo>
                <a:cubicBezTo>
                  <a:pt x="3067" y="3215"/>
                  <a:pt x="3215" y="3067"/>
                  <a:pt x="3400" y="3067"/>
                </a:cubicBezTo>
                <a:close/>
                <a:moveTo>
                  <a:pt x="467" y="3167"/>
                </a:moveTo>
                <a:cubicBezTo>
                  <a:pt x="338" y="3167"/>
                  <a:pt x="233" y="3272"/>
                  <a:pt x="233" y="3400"/>
                </a:cubicBezTo>
                <a:cubicBezTo>
                  <a:pt x="233" y="3418"/>
                  <a:pt x="248" y="3434"/>
                  <a:pt x="266" y="3434"/>
                </a:cubicBezTo>
                <a:cubicBezTo>
                  <a:pt x="285" y="3434"/>
                  <a:pt x="300" y="3419"/>
                  <a:pt x="300" y="3401"/>
                </a:cubicBezTo>
                <a:lnTo>
                  <a:pt x="300" y="3400"/>
                </a:lnTo>
                <a:cubicBezTo>
                  <a:pt x="300" y="3308"/>
                  <a:pt x="374" y="3233"/>
                  <a:pt x="467" y="3233"/>
                </a:cubicBezTo>
                <a:cubicBezTo>
                  <a:pt x="485" y="3234"/>
                  <a:pt x="500" y="3219"/>
                  <a:pt x="500" y="3200"/>
                </a:cubicBezTo>
                <a:cubicBezTo>
                  <a:pt x="501" y="3182"/>
                  <a:pt x="486" y="3167"/>
                  <a:pt x="468" y="3167"/>
                </a:cubicBezTo>
                <a:cubicBezTo>
                  <a:pt x="467" y="3167"/>
                  <a:pt x="467" y="3167"/>
                  <a:pt x="467" y="3167"/>
                </a:cubicBezTo>
                <a:close/>
                <a:moveTo>
                  <a:pt x="3400" y="3167"/>
                </a:moveTo>
                <a:cubicBezTo>
                  <a:pt x="3272" y="3167"/>
                  <a:pt x="3167" y="3272"/>
                  <a:pt x="3167" y="3400"/>
                </a:cubicBezTo>
                <a:cubicBezTo>
                  <a:pt x="3166" y="3418"/>
                  <a:pt x="3181" y="3434"/>
                  <a:pt x="3200" y="3434"/>
                </a:cubicBezTo>
                <a:cubicBezTo>
                  <a:pt x="3218" y="3434"/>
                  <a:pt x="3233" y="3419"/>
                  <a:pt x="3233" y="3401"/>
                </a:cubicBezTo>
                <a:lnTo>
                  <a:pt x="3233" y="3400"/>
                </a:lnTo>
                <a:cubicBezTo>
                  <a:pt x="3233" y="3308"/>
                  <a:pt x="3308" y="3233"/>
                  <a:pt x="3400" y="3233"/>
                </a:cubicBezTo>
                <a:cubicBezTo>
                  <a:pt x="3418" y="3234"/>
                  <a:pt x="3434" y="3219"/>
                  <a:pt x="3434" y="3200"/>
                </a:cubicBezTo>
                <a:cubicBezTo>
                  <a:pt x="3434" y="3182"/>
                  <a:pt x="3419" y="3167"/>
                  <a:pt x="3401" y="3167"/>
                </a:cubicBezTo>
                <a:cubicBezTo>
                  <a:pt x="3401" y="3167"/>
                  <a:pt x="3400" y="3167"/>
                  <a:pt x="3400" y="3167"/>
                </a:cubicBezTo>
                <a:close/>
              </a:path>
            </a:pathLst>
          </a:custGeom>
          <a:solidFill>
            <a:srgbClr val="FFFFFF">
              <a:lumMod val="75000"/>
            </a:srgbClr>
          </a:solidFill>
          <a:ln>
            <a:noFill/>
          </a:ln>
        </p:spPr>
        <p:txBody>
          <a:bodyPr/>
          <a:lstStyle/>
          <a:p>
            <a:endParaRPr lang="zh-CN" altLang="en-US" sz="120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3" name="直接连接符 72"/>
          <p:cNvCxnSpPr/>
          <p:nvPr/>
        </p:nvCxnSpPr>
        <p:spPr>
          <a:xfrm>
            <a:off x="9047010" y="2019307"/>
            <a:ext cx="0" cy="1339217"/>
          </a:xfrm>
          <a:prstGeom prst="line">
            <a:avLst/>
          </a:prstGeom>
          <a:noFill/>
          <a:ln w="6350" cap="flat" cmpd="sng" algn="ctr">
            <a:solidFill>
              <a:srgbClr val="DDDDDD"/>
            </a:solidFill>
            <a:prstDash val="solid"/>
            <a:miter lim="800000"/>
          </a:ln>
          <a:effectLst/>
        </p:spPr>
      </p:cxnSp>
      <p:sp>
        <p:nvSpPr>
          <p:cNvPr id="75" name="矩形 74"/>
          <p:cNvSpPr/>
          <p:nvPr/>
        </p:nvSpPr>
        <p:spPr>
          <a:xfrm>
            <a:off x="10345666" y="2159749"/>
            <a:ext cx="636714"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AI</a:t>
            </a: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训练</a:t>
            </a:r>
          </a:p>
        </p:txBody>
      </p:sp>
      <p:sp>
        <p:nvSpPr>
          <p:cNvPr id="76" name="椭圆 75"/>
          <p:cNvSpPr/>
          <p:nvPr/>
        </p:nvSpPr>
        <p:spPr>
          <a:xfrm>
            <a:off x="10425271" y="1700316"/>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矩形 76"/>
          <p:cNvSpPr/>
          <p:nvPr/>
        </p:nvSpPr>
        <p:spPr>
          <a:xfrm>
            <a:off x="9550602" y="3137085"/>
            <a:ext cx="1593706" cy="276999"/>
          </a:xfrm>
          <a:prstGeom prst="rect">
            <a:avLst/>
          </a:prstGeom>
        </p:spPr>
        <p:txBody>
          <a:bodyPr wrap="none">
            <a:spAutoFit/>
          </a:bodyPr>
          <a:lstStyle/>
          <a:p>
            <a:pPr algn="ctr" defTabSz="914478"/>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昇腾 </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310/910</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处理器</a:t>
            </a:r>
          </a:p>
        </p:txBody>
      </p:sp>
      <p:sp>
        <p:nvSpPr>
          <p:cNvPr id="78" name="矩形 77"/>
          <p:cNvSpPr/>
          <p:nvPr/>
        </p:nvSpPr>
        <p:spPr>
          <a:xfrm>
            <a:off x="9000764" y="2615039"/>
            <a:ext cx="2693366" cy="553998"/>
          </a:xfrm>
          <a:prstGeom prst="rect">
            <a:avLst/>
          </a:prstGeom>
        </p:spPr>
        <p:txBody>
          <a:bodyPr wrap="none">
            <a:spAutoFit/>
          </a:bodyPr>
          <a:lstStyle/>
          <a:p>
            <a:pPr algn="ctr" defTabSz="914478"/>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计算加速型</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478"/>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华为鲲鹏计算加速型</a:t>
            </a: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KAi1/KAt1</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 name="矩形 79"/>
          <p:cNvSpPr/>
          <p:nvPr/>
        </p:nvSpPr>
        <p:spPr>
          <a:xfrm>
            <a:off x="9611764" y="2159751"/>
            <a:ext cx="636714" cy="276999"/>
          </a:xfrm>
          <a:prstGeom prst="rect">
            <a:avLst/>
          </a:prstGeom>
        </p:spPr>
        <p:txBody>
          <a:bodyPr wrap="none">
            <a:sp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AI</a:t>
            </a: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推理</a:t>
            </a:r>
          </a:p>
        </p:txBody>
      </p:sp>
      <p:sp>
        <p:nvSpPr>
          <p:cNvPr id="81" name="椭圆 80"/>
          <p:cNvSpPr/>
          <p:nvPr/>
        </p:nvSpPr>
        <p:spPr>
          <a:xfrm>
            <a:off x="9693779" y="1700318"/>
            <a:ext cx="472688" cy="472688"/>
          </a:xfrm>
          <a:prstGeom prst="ellipse">
            <a:avLst/>
          </a:prstGeom>
          <a:noFill/>
          <a:ln w="12700" cap="flat" cmpd="sng" algn="ctr">
            <a:solidFill>
              <a:srgbClr val="9B9B9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 name="矩形 81"/>
          <p:cNvSpPr/>
          <p:nvPr/>
        </p:nvSpPr>
        <p:spPr>
          <a:xfrm>
            <a:off x="9609570" y="1792123"/>
            <a:ext cx="639114" cy="276999"/>
          </a:xfrm>
          <a:prstGeom prst="rect">
            <a:avLst/>
          </a:prstGeom>
        </p:spPr>
        <p:txBody>
          <a:bodyPr wrap="square">
            <a:spAutoFit/>
          </a:bodyPr>
          <a:lstStyle/>
          <a:p>
            <a:pPr algn="ctr" defTabSz="914478"/>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推理</a:t>
            </a:r>
          </a:p>
        </p:txBody>
      </p:sp>
      <p:sp>
        <p:nvSpPr>
          <p:cNvPr id="83" name="矩形 82"/>
          <p:cNvSpPr/>
          <p:nvPr/>
        </p:nvSpPr>
        <p:spPr>
          <a:xfrm>
            <a:off x="10345439" y="1796475"/>
            <a:ext cx="639114" cy="276999"/>
          </a:xfrm>
          <a:prstGeom prst="rect">
            <a:avLst/>
          </a:prstGeom>
        </p:spPr>
        <p:txBody>
          <a:bodyPr wrap="square">
            <a:spAutoFit/>
          </a:bodyPr>
          <a:lstStyle/>
          <a:p>
            <a:pPr algn="ctr" defTabSz="914478"/>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训练</a:t>
            </a:r>
          </a:p>
        </p:txBody>
      </p:sp>
      <p:sp>
        <p:nvSpPr>
          <p:cNvPr id="84" name="矩形 83"/>
          <p:cNvSpPr/>
          <p:nvPr/>
        </p:nvSpPr>
        <p:spPr>
          <a:xfrm>
            <a:off x="731838" y="4053900"/>
            <a:ext cx="10728325" cy="2146875"/>
          </a:xfrm>
          <a:prstGeom prst="rect">
            <a:avLst/>
          </a:prstGeom>
          <a:solidFill>
            <a:srgbClr val="FFFFFF"/>
          </a:solidFill>
          <a:ln w="12700" cap="flat" cmpd="sng" algn="ctr">
            <a:noFill/>
            <a:prstDash val="solid"/>
            <a:miter lim="800000"/>
          </a:ln>
          <a:effectLst>
            <a:outerShdw blurRad="368300" dist="38100" dir="5400000" sx="105000" sy="105000" algn="t" rotWithShape="0">
              <a:prstClr val="black">
                <a:alpha val="11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86" name="直接连接符 92"/>
          <p:cNvCxnSpPr>
            <a:cxnSpLocks noChangeAspect="1"/>
          </p:cNvCxnSpPr>
          <p:nvPr/>
        </p:nvCxnSpPr>
        <p:spPr>
          <a:xfrm>
            <a:off x="6360863" y="4885868"/>
            <a:ext cx="2518360" cy="0"/>
          </a:xfrm>
          <a:prstGeom prst="line">
            <a:avLst/>
          </a:prstGeom>
          <a:noFill/>
          <a:ln w="12700" cap="flat" cmpd="sng" algn="ctr">
            <a:gradFill flip="none" rotWithShape="1">
              <a:gsLst>
                <a:gs pos="33000">
                  <a:srgbClr val="EEECE1">
                    <a:lumMod val="50000"/>
                  </a:srgbClr>
                </a:gs>
                <a:gs pos="100000">
                  <a:sysClr val="window" lastClr="FFFFFF">
                    <a:alpha val="0"/>
                  </a:sysClr>
                </a:gs>
              </a:gsLst>
              <a:path path="circle">
                <a:fillToRect l="50000" t="50000" r="50000" b="50000"/>
              </a:path>
              <a:tileRect/>
            </a:gradFill>
            <a:prstDash val="solid"/>
          </a:ln>
          <a:effectLst/>
        </p:spPr>
      </p:cxnSp>
      <p:sp>
        <p:nvSpPr>
          <p:cNvPr id="87" name="文本框 86"/>
          <p:cNvSpPr txBox="1"/>
          <p:nvPr/>
        </p:nvSpPr>
        <p:spPr>
          <a:xfrm>
            <a:off x="6349615" y="4930000"/>
            <a:ext cx="2540857" cy="1200329"/>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全栈灾备保护</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a:lnSpc>
                <a:spcPct val="120000"/>
              </a:lnSpc>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集成</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HSS</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服务，抗攻击能力强</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a:lnSpc>
                <a:spcPct val="120000"/>
              </a:lnSpc>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秒级故障恢复、多维故障隔离</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a:lnSpc>
                <a:spcPct val="120000"/>
              </a:lnSpc>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千级虚拟机，分钟级发放</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a:lnSpc>
                <a:spcPct val="120000"/>
              </a:lnSpc>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秒级细粒度监控</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 name="文本框 87"/>
          <p:cNvSpPr txBox="1"/>
          <p:nvPr/>
        </p:nvSpPr>
        <p:spPr>
          <a:xfrm>
            <a:off x="6647935" y="4525828"/>
            <a:ext cx="1944216" cy="369332"/>
          </a:xfrm>
          <a:prstGeom prst="rect">
            <a:avLst/>
          </a:prstGeom>
          <a:noFill/>
        </p:spPr>
        <p:txBody>
          <a:bodyPr wrap="square" rtlCol="0">
            <a:spAutoFit/>
          </a:bodyPr>
          <a:lstStyle/>
          <a:p>
            <a:pPr algn="ctr"/>
            <a:r>
              <a:rPr lang="zh-CN" altLang="en-US" b="1" dirty="0">
                <a:solidFill>
                  <a:srgbClr val="FFC000"/>
                </a:solidFill>
                <a:latin typeface="Huawei Sans" panose="020C0503030203020204" pitchFamily="34" charset="0"/>
                <a:ea typeface="方正兰亭黑简体" panose="02000000000000000000" pitchFamily="2" charset="-122"/>
                <a:cs typeface="+mn-ea"/>
                <a:sym typeface="Huawei Sans" panose="020C0503030203020204" pitchFamily="34" charset="0"/>
              </a:rPr>
              <a:t>高稳定可靠</a:t>
            </a:r>
          </a:p>
        </p:txBody>
      </p:sp>
      <p:sp>
        <p:nvSpPr>
          <p:cNvPr id="90" name="椭圆 89"/>
          <p:cNvSpPr/>
          <p:nvPr/>
        </p:nvSpPr>
        <p:spPr>
          <a:xfrm>
            <a:off x="7446933" y="4186142"/>
            <a:ext cx="346221" cy="346221"/>
          </a:xfrm>
          <a:prstGeom prst="ellipse">
            <a:avLst/>
          </a:prstGeom>
          <a:solidFill>
            <a:srgbClr val="00B0F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a:defRPr/>
            </a:pPr>
            <a:endParaRPr lang="zh-CN" altLang="en-US" sz="1200"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 name="Freeform 121"/>
          <p:cNvSpPr>
            <a:spLocks/>
          </p:cNvSpPr>
          <p:nvPr/>
        </p:nvSpPr>
        <p:spPr bwMode="auto">
          <a:xfrm>
            <a:off x="7505891" y="4274965"/>
            <a:ext cx="204763" cy="190476"/>
          </a:xfrm>
          <a:custGeom>
            <a:avLst/>
            <a:gdLst/>
            <a:ahLst/>
            <a:cxnLst>
              <a:cxn ang="0">
                <a:pos x="166" y="2"/>
              </a:cxn>
              <a:cxn ang="0">
                <a:pos x="166" y="2"/>
              </a:cxn>
              <a:cxn ang="0">
                <a:pos x="160" y="0"/>
              </a:cxn>
              <a:cxn ang="0">
                <a:pos x="156" y="0"/>
              </a:cxn>
              <a:cxn ang="0">
                <a:pos x="150" y="2"/>
              </a:cxn>
              <a:cxn ang="0">
                <a:pos x="146" y="6"/>
              </a:cxn>
              <a:cxn ang="0">
                <a:pos x="72" y="120"/>
              </a:cxn>
              <a:cxn ang="0">
                <a:pos x="36" y="72"/>
              </a:cxn>
              <a:cxn ang="0">
                <a:pos x="0" y="72"/>
              </a:cxn>
              <a:cxn ang="0">
                <a:pos x="2" y="74"/>
              </a:cxn>
              <a:cxn ang="0">
                <a:pos x="62" y="154"/>
              </a:cxn>
              <a:cxn ang="0">
                <a:pos x="62" y="154"/>
              </a:cxn>
              <a:cxn ang="0">
                <a:pos x="66" y="158"/>
              </a:cxn>
              <a:cxn ang="0">
                <a:pos x="74" y="160"/>
              </a:cxn>
              <a:cxn ang="0">
                <a:pos x="74" y="160"/>
              </a:cxn>
              <a:cxn ang="0">
                <a:pos x="74" y="160"/>
              </a:cxn>
              <a:cxn ang="0">
                <a:pos x="80" y="158"/>
              </a:cxn>
              <a:cxn ang="0">
                <a:pos x="86" y="154"/>
              </a:cxn>
              <a:cxn ang="0">
                <a:pos x="170" y="22"/>
              </a:cxn>
              <a:cxn ang="0">
                <a:pos x="170" y="22"/>
              </a:cxn>
              <a:cxn ang="0">
                <a:pos x="172" y="16"/>
              </a:cxn>
              <a:cxn ang="0">
                <a:pos x="172" y="10"/>
              </a:cxn>
              <a:cxn ang="0">
                <a:pos x="170" y="6"/>
              </a:cxn>
              <a:cxn ang="0">
                <a:pos x="166" y="2"/>
              </a:cxn>
              <a:cxn ang="0">
                <a:pos x="166" y="2"/>
              </a:cxn>
            </a:cxnLst>
            <a:rect l="0" t="0" r="r" b="b"/>
            <a:pathLst>
              <a:path w="172" h="160">
                <a:moveTo>
                  <a:pt x="166" y="2"/>
                </a:moveTo>
                <a:lnTo>
                  <a:pt x="166" y="2"/>
                </a:lnTo>
                <a:lnTo>
                  <a:pt x="160" y="0"/>
                </a:lnTo>
                <a:lnTo>
                  <a:pt x="156" y="0"/>
                </a:lnTo>
                <a:lnTo>
                  <a:pt x="150" y="2"/>
                </a:lnTo>
                <a:lnTo>
                  <a:pt x="146" y="6"/>
                </a:lnTo>
                <a:lnTo>
                  <a:pt x="72" y="120"/>
                </a:lnTo>
                <a:lnTo>
                  <a:pt x="36" y="72"/>
                </a:lnTo>
                <a:lnTo>
                  <a:pt x="0" y="72"/>
                </a:lnTo>
                <a:lnTo>
                  <a:pt x="2" y="74"/>
                </a:lnTo>
                <a:lnTo>
                  <a:pt x="62" y="154"/>
                </a:lnTo>
                <a:lnTo>
                  <a:pt x="62" y="154"/>
                </a:lnTo>
                <a:lnTo>
                  <a:pt x="66" y="158"/>
                </a:lnTo>
                <a:lnTo>
                  <a:pt x="74" y="160"/>
                </a:lnTo>
                <a:lnTo>
                  <a:pt x="74" y="160"/>
                </a:lnTo>
                <a:lnTo>
                  <a:pt x="74" y="160"/>
                </a:lnTo>
                <a:lnTo>
                  <a:pt x="80" y="158"/>
                </a:lnTo>
                <a:lnTo>
                  <a:pt x="86" y="154"/>
                </a:lnTo>
                <a:lnTo>
                  <a:pt x="170" y="22"/>
                </a:lnTo>
                <a:lnTo>
                  <a:pt x="170" y="22"/>
                </a:lnTo>
                <a:lnTo>
                  <a:pt x="172" y="16"/>
                </a:lnTo>
                <a:lnTo>
                  <a:pt x="172" y="10"/>
                </a:lnTo>
                <a:lnTo>
                  <a:pt x="170" y="6"/>
                </a:lnTo>
                <a:lnTo>
                  <a:pt x="166" y="2"/>
                </a:lnTo>
                <a:lnTo>
                  <a:pt x="166" y="2"/>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defTabSz="685800">
              <a:defRPr/>
            </a:pPr>
            <a:endParaRPr lang="zh-CN" altLang="en-US" sz="1200"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93" name="直接连接符 92"/>
          <p:cNvCxnSpPr>
            <a:cxnSpLocks noChangeAspect="1"/>
          </p:cNvCxnSpPr>
          <p:nvPr/>
        </p:nvCxnSpPr>
        <p:spPr>
          <a:xfrm>
            <a:off x="662903" y="4885868"/>
            <a:ext cx="2518360" cy="0"/>
          </a:xfrm>
          <a:prstGeom prst="line">
            <a:avLst/>
          </a:prstGeom>
          <a:noFill/>
          <a:ln w="12700" cap="flat" cmpd="sng" algn="ctr">
            <a:gradFill flip="none" rotWithShape="1">
              <a:gsLst>
                <a:gs pos="33000">
                  <a:srgbClr val="EEECE1">
                    <a:lumMod val="50000"/>
                  </a:srgbClr>
                </a:gs>
                <a:gs pos="100000">
                  <a:sysClr val="window" lastClr="FFFFFF">
                    <a:alpha val="0"/>
                  </a:sysClr>
                </a:gs>
              </a:gsLst>
              <a:path path="circle">
                <a:fillToRect l="50000" t="50000" r="50000" b="50000"/>
              </a:path>
              <a:tileRect/>
            </a:gradFill>
            <a:prstDash val="solid"/>
          </a:ln>
          <a:effectLst/>
        </p:spPr>
      </p:cxnSp>
      <p:sp>
        <p:nvSpPr>
          <p:cNvPr id="94" name="文本框 93"/>
          <p:cNvSpPr txBox="1"/>
          <p:nvPr/>
        </p:nvSpPr>
        <p:spPr>
          <a:xfrm>
            <a:off x="760136" y="4930000"/>
            <a:ext cx="2448272" cy="535531"/>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通用</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存储</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内存</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计算加速型</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a:lnSpc>
                <a:spcPct val="120000"/>
              </a:lnSpc>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覆盖主流业务场景</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9" name="文本框 98"/>
          <p:cNvSpPr txBox="1"/>
          <p:nvPr/>
        </p:nvSpPr>
        <p:spPr>
          <a:xfrm>
            <a:off x="913011" y="4525828"/>
            <a:ext cx="1944216" cy="369332"/>
          </a:xfrm>
          <a:prstGeom prst="rect">
            <a:avLst/>
          </a:prstGeom>
          <a:noFill/>
        </p:spPr>
        <p:txBody>
          <a:bodyPr wrap="square" rtlCol="0">
            <a:spAutoFit/>
          </a:bodyPr>
          <a:lstStyle>
            <a:defPPr>
              <a:defRPr lang="en-US"/>
            </a:defPPr>
            <a:lvl1pPr algn="ctr" defTabSz="1219444">
              <a:defRPr sz="1600" b="1">
                <a:solidFill>
                  <a:srgbClr val="C00000"/>
                </a:solidFill>
                <a:latin typeface="微软雅黑" panose="020B0503020204020204" pitchFamily="34" charset="-122"/>
                <a:ea typeface="微软雅黑" panose="020B0503020204020204" pitchFamily="34" charset="-122"/>
              </a:defRPr>
            </a:lvl1p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C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全场景覆盖</a:t>
            </a:r>
          </a:p>
        </p:txBody>
      </p:sp>
      <p:sp>
        <p:nvSpPr>
          <p:cNvPr id="105" name="椭圆 104"/>
          <p:cNvSpPr/>
          <p:nvPr/>
        </p:nvSpPr>
        <p:spPr>
          <a:xfrm>
            <a:off x="1712009" y="4186142"/>
            <a:ext cx="346221" cy="346221"/>
          </a:xfrm>
          <a:prstGeom prst="ellipse">
            <a:avLst/>
          </a:prstGeom>
          <a:solidFill>
            <a:srgbClr val="00B0F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a:defRPr/>
            </a:pPr>
            <a:endParaRPr lang="zh-CN" altLang="en-US" sz="1200"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Freeform 7"/>
          <p:cNvSpPr>
            <a:spLocks/>
          </p:cNvSpPr>
          <p:nvPr/>
        </p:nvSpPr>
        <p:spPr bwMode="auto">
          <a:xfrm>
            <a:off x="1779973" y="4389187"/>
            <a:ext cx="213254" cy="68257"/>
          </a:xfrm>
          <a:custGeom>
            <a:avLst/>
            <a:gdLst/>
            <a:ahLst/>
            <a:cxnLst>
              <a:cxn ang="0">
                <a:pos x="15272" y="526"/>
              </a:cxn>
              <a:cxn ang="0">
                <a:pos x="14874" y="1276"/>
              </a:cxn>
              <a:cxn ang="0">
                <a:pos x="14376" y="1977"/>
              </a:cxn>
              <a:cxn ang="0">
                <a:pos x="13787" y="2620"/>
              </a:cxn>
              <a:cxn ang="0">
                <a:pos x="13112" y="3198"/>
              </a:cxn>
              <a:cxn ang="0">
                <a:pos x="12363" y="3706"/>
              </a:cxn>
              <a:cxn ang="0">
                <a:pos x="11544" y="4137"/>
              </a:cxn>
              <a:cxn ang="0">
                <a:pos x="10664" y="4483"/>
              </a:cxn>
              <a:cxn ang="0">
                <a:pos x="9731" y="4739"/>
              </a:cxn>
              <a:cxn ang="0">
                <a:pos x="8754" y="4897"/>
              </a:cxn>
              <a:cxn ang="0">
                <a:pos x="7739" y="4951"/>
              </a:cxn>
              <a:cxn ang="0">
                <a:pos x="6724" y="4897"/>
              </a:cxn>
              <a:cxn ang="0">
                <a:pos x="5747" y="4739"/>
              </a:cxn>
              <a:cxn ang="0">
                <a:pos x="4814" y="4483"/>
              </a:cxn>
              <a:cxn ang="0">
                <a:pos x="3934" y="4137"/>
              </a:cxn>
              <a:cxn ang="0">
                <a:pos x="3115" y="3706"/>
              </a:cxn>
              <a:cxn ang="0">
                <a:pos x="2365" y="3198"/>
              </a:cxn>
              <a:cxn ang="0">
                <a:pos x="1691" y="2620"/>
              </a:cxn>
              <a:cxn ang="0">
                <a:pos x="1102" y="1977"/>
              </a:cxn>
              <a:cxn ang="0">
                <a:pos x="604" y="1276"/>
              </a:cxn>
              <a:cxn ang="0">
                <a:pos x="206" y="526"/>
              </a:cxn>
              <a:cxn ang="0">
                <a:pos x="123" y="239"/>
              </a:cxn>
              <a:cxn ang="0">
                <a:pos x="549" y="930"/>
              </a:cxn>
              <a:cxn ang="0">
                <a:pos x="1061" y="1574"/>
              </a:cxn>
              <a:cxn ang="0">
                <a:pos x="1648" y="2166"/>
              </a:cxn>
              <a:cxn ang="0">
                <a:pos x="2308" y="2700"/>
              </a:cxn>
              <a:cxn ang="0">
                <a:pos x="3033" y="3172"/>
              </a:cxn>
              <a:cxn ang="0">
                <a:pos x="3816" y="3575"/>
              </a:cxn>
              <a:cxn ang="0">
                <a:pos x="4652" y="3905"/>
              </a:cxn>
              <a:cxn ang="0">
                <a:pos x="5534" y="4156"/>
              </a:cxn>
              <a:cxn ang="0">
                <a:pos x="6457" y="4324"/>
              </a:cxn>
              <a:cxn ang="0">
                <a:pos x="7414" y="4402"/>
              </a:cxn>
              <a:cxn ang="0">
                <a:pos x="8387" y="4387"/>
              </a:cxn>
              <a:cxn ang="0">
                <a:pos x="9333" y="4278"/>
              </a:cxn>
              <a:cxn ang="0">
                <a:pos x="10243" y="4082"/>
              </a:cxn>
              <a:cxn ang="0">
                <a:pos x="11110" y="3804"/>
              </a:cxn>
              <a:cxn ang="0">
                <a:pos x="11929" y="3449"/>
              </a:cxn>
              <a:cxn ang="0">
                <a:pos x="12694" y="3022"/>
              </a:cxn>
              <a:cxn ang="0">
                <a:pos x="13397" y="2529"/>
              </a:cxn>
              <a:cxn ang="0">
                <a:pos x="14033" y="1975"/>
              </a:cxn>
              <a:cxn ang="0">
                <a:pos x="14597" y="1365"/>
              </a:cxn>
              <a:cxn ang="0">
                <a:pos x="15080" y="705"/>
              </a:cxn>
              <a:cxn ang="0">
                <a:pos x="15478" y="0"/>
              </a:cxn>
            </a:cxnLst>
            <a:rect l="0" t="0" r="r" b="b"/>
            <a:pathLst>
              <a:path w="15478" h="4951">
                <a:moveTo>
                  <a:pt x="15478" y="0"/>
                </a:moveTo>
                <a:lnTo>
                  <a:pt x="15380" y="265"/>
                </a:lnTo>
                <a:lnTo>
                  <a:pt x="15272" y="526"/>
                </a:lnTo>
                <a:lnTo>
                  <a:pt x="15151" y="781"/>
                </a:lnTo>
                <a:lnTo>
                  <a:pt x="15018" y="1032"/>
                </a:lnTo>
                <a:lnTo>
                  <a:pt x="14874" y="1276"/>
                </a:lnTo>
                <a:lnTo>
                  <a:pt x="14718" y="1516"/>
                </a:lnTo>
                <a:lnTo>
                  <a:pt x="14552" y="1749"/>
                </a:lnTo>
                <a:lnTo>
                  <a:pt x="14376" y="1977"/>
                </a:lnTo>
                <a:lnTo>
                  <a:pt x="14189" y="2198"/>
                </a:lnTo>
                <a:lnTo>
                  <a:pt x="13993" y="2412"/>
                </a:lnTo>
                <a:lnTo>
                  <a:pt x="13787" y="2620"/>
                </a:lnTo>
                <a:lnTo>
                  <a:pt x="13571" y="2820"/>
                </a:lnTo>
                <a:lnTo>
                  <a:pt x="13346" y="3013"/>
                </a:lnTo>
                <a:lnTo>
                  <a:pt x="13112" y="3198"/>
                </a:lnTo>
                <a:lnTo>
                  <a:pt x="12871" y="3376"/>
                </a:lnTo>
                <a:lnTo>
                  <a:pt x="12620" y="3545"/>
                </a:lnTo>
                <a:lnTo>
                  <a:pt x="12363" y="3706"/>
                </a:lnTo>
                <a:lnTo>
                  <a:pt x="12097" y="3858"/>
                </a:lnTo>
                <a:lnTo>
                  <a:pt x="11823" y="4002"/>
                </a:lnTo>
                <a:lnTo>
                  <a:pt x="11544" y="4137"/>
                </a:lnTo>
                <a:lnTo>
                  <a:pt x="11257" y="4262"/>
                </a:lnTo>
                <a:lnTo>
                  <a:pt x="10963" y="4377"/>
                </a:lnTo>
                <a:lnTo>
                  <a:pt x="10664" y="4483"/>
                </a:lnTo>
                <a:lnTo>
                  <a:pt x="10358" y="4579"/>
                </a:lnTo>
                <a:lnTo>
                  <a:pt x="10047" y="4664"/>
                </a:lnTo>
                <a:lnTo>
                  <a:pt x="9731" y="4739"/>
                </a:lnTo>
                <a:lnTo>
                  <a:pt x="9410" y="4802"/>
                </a:lnTo>
                <a:lnTo>
                  <a:pt x="9084" y="4855"/>
                </a:lnTo>
                <a:lnTo>
                  <a:pt x="8754" y="4897"/>
                </a:lnTo>
                <a:lnTo>
                  <a:pt x="8419" y="4927"/>
                </a:lnTo>
                <a:lnTo>
                  <a:pt x="8081" y="4945"/>
                </a:lnTo>
                <a:lnTo>
                  <a:pt x="7739" y="4951"/>
                </a:lnTo>
                <a:lnTo>
                  <a:pt x="7397" y="4945"/>
                </a:lnTo>
                <a:lnTo>
                  <a:pt x="7059" y="4927"/>
                </a:lnTo>
                <a:lnTo>
                  <a:pt x="6724" y="4897"/>
                </a:lnTo>
                <a:lnTo>
                  <a:pt x="6394" y="4855"/>
                </a:lnTo>
                <a:lnTo>
                  <a:pt x="6068" y="4802"/>
                </a:lnTo>
                <a:lnTo>
                  <a:pt x="5747" y="4739"/>
                </a:lnTo>
                <a:lnTo>
                  <a:pt x="5430" y="4664"/>
                </a:lnTo>
                <a:lnTo>
                  <a:pt x="5119" y="4579"/>
                </a:lnTo>
                <a:lnTo>
                  <a:pt x="4814" y="4483"/>
                </a:lnTo>
                <a:lnTo>
                  <a:pt x="4514" y="4377"/>
                </a:lnTo>
                <a:lnTo>
                  <a:pt x="4221" y="4262"/>
                </a:lnTo>
                <a:lnTo>
                  <a:pt x="3934" y="4137"/>
                </a:lnTo>
                <a:lnTo>
                  <a:pt x="3655" y="4002"/>
                </a:lnTo>
                <a:lnTo>
                  <a:pt x="3381" y="3858"/>
                </a:lnTo>
                <a:lnTo>
                  <a:pt x="3115" y="3706"/>
                </a:lnTo>
                <a:lnTo>
                  <a:pt x="2858" y="3545"/>
                </a:lnTo>
                <a:lnTo>
                  <a:pt x="2607" y="3376"/>
                </a:lnTo>
                <a:lnTo>
                  <a:pt x="2365" y="3198"/>
                </a:lnTo>
                <a:lnTo>
                  <a:pt x="2131" y="3013"/>
                </a:lnTo>
                <a:lnTo>
                  <a:pt x="1907" y="2820"/>
                </a:lnTo>
                <a:lnTo>
                  <a:pt x="1691" y="2620"/>
                </a:lnTo>
                <a:lnTo>
                  <a:pt x="1485" y="2412"/>
                </a:lnTo>
                <a:lnTo>
                  <a:pt x="1288" y="2198"/>
                </a:lnTo>
                <a:lnTo>
                  <a:pt x="1102" y="1977"/>
                </a:lnTo>
                <a:lnTo>
                  <a:pt x="925" y="1749"/>
                </a:lnTo>
                <a:lnTo>
                  <a:pt x="759" y="1516"/>
                </a:lnTo>
                <a:lnTo>
                  <a:pt x="604" y="1276"/>
                </a:lnTo>
                <a:lnTo>
                  <a:pt x="460" y="1032"/>
                </a:lnTo>
                <a:lnTo>
                  <a:pt x="327" y="781"/>
                </a:lnTo>
                <a:lnTo>
                  <a:pt x="206" y="526"/>
                </a:lnTo>
                <a:lnTo>
                  <a:pt x="98" y="265"/>
                </a:lnTo>
                <a:lnTo>
                  <a:pt x="0" y="0"/>
                </a:lnTo>
                <a:lnTo>
                  <a:pt x="123" y="239"/>
                </a:lnTo>
                <a:lnTo>
                  <a:pt x="256" y="474"/>
                </a:lnTo>
                <a:lnTo>
                  <a:pt x="397" y="705"/>
                </a:lnTo>
                <a:lnTo>
                  <a:pt x="549" y="930"/>
                </a:lnTo>
                <a:lnTo>
                  <a:pt x="711" y="1151"/>
                </a:lnTo>
                <a:lnTo>
                  <a:pt x="881" y="1365"/>
                </a:lnTo>
                <a:lnTo>
                  <a:pt x="1061" y="1574"/>
                </a:lnTo>
                <a:lnTo>
                  <a:pt x="1249" y="1777"/>
                </a:lnTo>
                <a:lnTo>
                  <a:pt x="1444" y="1975"/>
                </a:lnTo>
                <a:lnTo>
                  <a:pt x="1648" y="2166"/>
                </a:lnTo>
                <a:lnTo>
                  <a:pt x="1860" y="2351"/>
                </a:lnTo>
                <a:lnTo>
                  <a:pt x="2081" y="2529"/>
                </a:lnTo>
                <a:lnTo>
                  <a:pt x="2308" y="2700"/>
                </a:lnTo>
                <a:lnTo>
                  <a:pt x="2543" y="2864"/>
                </a:lnTo>
                <a:lnTo>
                  <a:pt x="2784" y="3022"/>
                </a:lnTo>
                <a:lnTo>
                  <a:pt x="3033" y="3172"/>
                </a:lnTo>
                <a:lnTo>
                  <a:pt x="3287" y="3314"/>
                </a:lnTo>
                <a:lnTo>
                  <a:pt x="3549" y="3449"/>
                </a:lnTo>
                <a:lnTo>
                  <a:pt x="3816" y="3575"/>
                </a:lnTo>
                <a:lnTo>
                  <a:pt x="4089" y="3693"/>
                </a:lnTo>
                <a:lnTo>
                  <a:pt x="4368" y="3804"/>
                </a:lnTo>
                <a:lnTo>
                  <a:pt x="4652" y="3905"/>
                </a:lnTo>
                <a:lnTo>
                  <a:pt x="4942" y="3998"/>
                </a:lnTo>
                <a:lnTo>
                  <a:pt x="5235" y="4082"/>
                </a:lnTo>
                <a:lnTo>
                  <a:pt x="5534" y="4156"/>
                </a:lnTo>
                <a:lnTo>
                  <a:pt x="5838" y="4222"/>
                </a:lnTo>
                <a:lnTo>
                  <a:pt x="6145" y="4278"/>
                </a:lnTo>
                <a:lnTo>
                  <a:pt x="6457" y="4324"/>
                </a:lnTo>
                <a:lnTo>
                  <a:pt x="6772" y="4360"/>
                </a:lnTo>
                <a:lnTo>
                  <a:pt x="7091" y="4387"/>
                </a:lnTo>
                <a:lnTo>
                  <a:pt x="7414" y="4402"/>
                </a:lnTo>
                <a:lnTo>
                  <a:pt x="7739" y="4408"/>
                </a:lnTo>
                <a:lnTo>
                  <a:pt x="8064" y="4402"/>
                </a:lnTo>
                <a:lnTo>
                  <a:pt x="8387" y="4387"/>
                </a:lnTo>
                <a:lnTo>
                  <a:pt x="8705" y="4360"/>
                </a:lnTo>
                <a:lnTo>
                  <a:pt x="9021" y="4324"/>
                </a:lnTo>
                <a:lnTo>
                  <a:pt x="9333" y="4278"/>
                </a:lnTo>
                <a:lnTo>
                  <a:pt x="9640" y="4222"/>
                </a:lnTo>
                <a:lnTo>
                  <a:pt x="9944" y="4156"/>
                </a:lnTo>
                <a:lnTo>
                  <a:pt x="10243" y="4082"/>
                </a:lnTo>
                <a:lnTo>
                  <a:pt x="10536" y="3998"/>
                </a:lnTo>
                <a:lnTo>
                  <a:pt x="10826" y="3905"/>
                </a:lnTo>
                <a:lnTo>
                  <a:pt x="11110" y="3804"/>
                </a:lnTo>
                <a:lnTo>
                  <a:pt x="11389" y="3693"/>
                </a:lnTo>
                <a:lnTo>
                  <a:pt x="11661" y="3575"/>
                </a:lnTo>
                <a:lnTo>
                  <a:pt x="11929" y="3449"/>
                </a:lnTo>
                <a:lnTo>
                  <a:pt x="12191" y="3314"/>
                </a:lnTo>
                <a:lnTo>
                  <a:pt x="12445" y="3172"/>
                </a:lnTo>
                <a:lnTo>
                  <a:pt x="12694" y="3022"/>
                </a:lnTo>
                <a:lnTo>
                  <a:pt x="12935" y="2864"/>
                </a:lnTo>
                <a:lnTo>
                  <a:pt x="13170" y="2700"/>
                </a:lnTo>
                <a:lnTo>
                  <a:pt x="13397" y="2529"/>
                </a:lnTo>
                <a:lnTo>
                  <a:pt x="13617" y="2351"/>
                </a:lnTo>
                <a:lnTo>
                  <a:pt x="13829" y="2166"/>
                </a:lnTo>
                <a:lnTo>
                  <a:pt x="14033" y="1975"/>
                </a:lnTo>
                <a:lnTo>
                  <a:pt x="14229" y="1777"/>
                </a:lnTo>
                <a:lnTo>
                  <a:pt x="14417" y="1574"/>
                </a:lnTo>
                <a:lnTo>
                  <a:pt x="14597" y="1365"/>
                </a:lnTo>
                <a:lnTo>
                  <a:pt x="14767" y="1151"/>
                </a:lnTo>
                <a:lnTo>
                  <a:pt x="14928" y="930"/>
                </a:lnTo>
                <a:lnTo>
                  <a:pt x="15080" y="705"/>
                </a:lnTo>
                <a:lnTo>
                  <a:pt x="15222" y="474"/>
                </a:lnTo>
                <a:lnTo>
                  <a:pt x="15355" y="239"/>
                </a:lnTo>
                <a:lnTo>
                  <a:pt x="15478" y="0"/>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defTabSz="685800">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1" name="Freeform 8"/>
          <p:cNvSpPr>
            <a:spLocks noEditPoints="1"/>
          </p:cNvSpPr>
          <p:nvPr/>
        </p:nvSpPr>
        <p:spPr bwMode="auto">
          <a:xfrm>
            <a:off x="1775731" y="4258072"/>
            <a:ext cx="221738" cy="188189"/>
          </a:xfrm>
          <a:custGeom>
            <a:avLst/>
            <a:gdLst/>
            <a:ahLst/>
            <a:cxnLst>
              <a:cxn ang="0">
                <a:pos x="8871" y="35"/>
              </a:cxn>
              <a:cxn ang="0">
                <a:pos x="10057" y="216"/>
              </a:cxn>
              <a:cxn ang="0">
                <a:pos x="11178" y="538"/>
              </a:cxn>
              <a:cxn ang="0">
                <a:pos x="12219" y="992"/>
              </a:cxn>
              <a:cxn ang="0">
                <a:pos x="13166" y="1564"/>
              </a:cxn>
              <a:cxn ang="0">
                <a:pos x="14004" y="2243"/>
              </a:cxn>
              <a:cxn ang="0">
                <a:pos x="14721" y="3017"/>
              </a:cxn>
              <a:cxn ang="0">
                <a:pos x="15304" y="3875"/>
              </a:cxn>
              <a:cxn ang="0">
                <a:pos x="15737" y="4805"/>
              </a:cxn>
              <a:cxn ang="0">
                <a:pos x="16006" y="5795"/>
              </a:cxn>
              <a:cxn ang="0">
                <a:pos x="16100" y="6832"/>
              </a:cxn>
              <a:cxn ang="0">
                <a:pos x="16006" y="7870"/>
              </a:cxn>
              <a:cxn ang="0">
                <a:pos x="15737" y="8860"/>
              </a:cxn>
              <a:cxn ang="0">
                <a:pos x="15304" y="9790"/>
              </a:cxn>
              <a:cxn ang="0">
                <a:pos x="14721" y="10647"/>
              </a:cxn>
              <a:cxn ang="0">
                <a:pos x="14004" y="11422"/>
              </a:cxn>
              <a:cxn ang="0">
                <a:pos x="13166" y="12101"/>
              </a:cxn>
              <a:cxn ang="0">
                <a:pos x="12219" y="12673"/>
              </a:cxn>
              <a:cxn ang="0">
                <a:pos x="11178" y="13126"/>
              </a:cxn>
              <a:cxn ang="0">
                <a:pos x="10057" y="13449"/>
              </a:cxn>
              <a:cxn ang="0">
                <a:pos x="8871" y="13629"/>
              </a:cxn>
              <a:cxn ang="0">
                <a:pos x="7636" y="13655"/>
              </a:cxn>
              <a:cxn ang="0">
                <a:pos x="6431" y="13525"/>
              </a:cxn>
              <a:cxn ang="0">
                <a:pos x="5287" y="13248"/>
              </a:cxn>
              <a:cxn ang="0">
                <a:pos x="4218" y="12838"/>
              </a:cxn>
              <a:cxn ang="0">
                <a:pos x="3238" y="12304"/>
              </a:cxn>
              <a:cxn ang="0">
                <a:pos x="2363" y="11660"/>
              </a:cxn>
              <a:cxn ang="0">
                <a:pos x="1603" y="10916"/>
              </a:cxn>
              <a:cxn ang="0">
                <a:pos x="974" y="10084"/>
              </a:cxn>
              <a:cxn ang="0">
                <a:pos x="490" y="9177"/>
              </a:cxn>
              <a:cxn ang="0">
                <a:pos x="164" y="8206"/>
              </a:cxn>
              <a:cxn ang="0">
                <a:pos x="10" y="7183"/>
              </a:cxn>
              <a:cxn ang="0">
                <a:pos x="41" y="6136"/>
              </a:cxn>
              <a:cxn ang="0">
                <a:pos x="254" y="5129"/>
              </a:cxn>
              <a:cxn ang="0">
                <a:pos x="634" y="4178"/>
              </a:cxn>
              <a:cxn ang="0">
                <a:pos x="1168" y="3294"/>
              </a:cxn>
              <a:cxn ang="0">
                <a:pos x="1842" y="2490"/>
              </a:cxn>
              <a:cxn ang="0">
                <a:pos x="2642" y="1779"/>
              </a:cxn>
              <a:cxn ang="0">
                <a:pos x="3554" y="1169"/>
              </a:cxn>
              <a:cxn ang="0">
                <a:pos x="4565" y="675"/>
              </a:cxn>
              <a:cxn ang="0">
                <a:pos x="5660" y="308"/>
              </a:cxn>
              <a:cxn ang="0">
                <a:pos x="6826" y="79"/>
              </a:cxn>
              <a:cxn ang="0">
                <a:pos x="8050" y="0"/>
              </a:cxn>
              <a:cxn ang="0">
                <a:pos x="9888" y="3284"/>
              </a:cxn>
              <a:cxn ang="0">
                <a:pos x="7171" y="698"/>
              </a:cxn>
              <a:cxn ang="0">
                <a:pos x="7130" y="4461"/>
              </a:cxn>
              <a:cxn ang="0">
                <a:pos x="8970" y="9203"/>
              </a:cxn>
              <a:cxn ang="0">
                <a:pos x="8929" y="12966"/>
              </a:cxn>
              <a:cxn ang="0">
                <a:pos x="6212" y="10381"/>
              </a:cxn>
              <a:cxn ang="0">
                <a:pos x="1485" y="6832"/>
              </a:cxn>
              <a:cxn ang="0">
                <a:pos x="3841" y="5953"/>
              </a:cxn>
              <a:cxn ang="0">
                <a:pos x="3841" y="7711"/>
              </a:cxn>
              <a:cxn ang="0">
                <a:pos x="1485" y="6832"/>
              </a:cxn>
              <a:cxn ang="0">
                <a:pos x="12259" y="4994"/>
              </a:cxn>
              <a:cxn ang="0">
                <a:pos x="9674" y="7711"/>
              </a:cxn>
              <a:cxn ang="0">
                <a:pos x="13437" y="7752"/>
              </a:cxn>
            </a:cxnLst>
            <a:rect l="0" t="0" r="r" b="b"/>
            <a:pathLst>
              <a:path w="16100" h="13664">
                <a:moveTo>
                  <a:pt x="8050" y="0"/>
                </a:moveTo>
                <a:lnTo>
                  <a:pt x="8464" y="9"/>
                </a:lnTo>
                <a:lnTo>
                  <a:pt x="8871" y="35"/>
                </a:lnTo>
                <a:lnTo>
                  <a:pt x="9273" y="79"/>
                </a:lnTo>
                <a:lnTo>
                  <a:pt x="9669" y="139"/>
                </a:lnTo>
                <a:lnTo>
                  <a:pt x="10057" y="216"/>
                </a:lnTo>
                <a:lnTo>
                  <a:pt x="10439" y="308"/>
                </a:lnTo>
                <a:lnTo>
                  <a:pt x="10813" y="416"/>
                </a:lnTo>
                <a:lnTo>
                  <a:pt x="11178" y="538"/>
                </a:lnTo>
                <a:lnTo>
                  <a:pt x="11535" y="675"/>
                </a:lnTo>
                <a:lnTo>
                  <a:pt x="11882" y="827"/>
                </a:lnTo>
                <a:lnTo>
                  <a:pt x="12219" y="992"/>
                </a:lnTo>
                <a:lnTo>
                  <a:pt x="12545" y="1169"/>
                </a:lnTo>
                <a:lnTo>
                  <a:pt x="12861" y="1360"/>
                </a:lnTo>
                <a:lnTo>
                  <a:pt x="13166" y="1564"/>
                </a:lnTo>
                <a:lnTo>
                  <a:pt x="13458" y="1779"/>
                </a:lnTo>
                <a:lnTo>
                  <a:pt x="13737" y="2005"/>
                </a:lnTo>
                <a:lnTo>
                  <a:pt x="14004" y="2243"/>
                </a:lnTo>
                <a:lnTo>
                  <a:pt x="14258" y="2490"/>
                </a:lnTo>
                <a:lnTo>
                  <a:pt x="14497" y="2749"/>
                </a:lnTo>
                <a:lnTo>
                  <a:pt x="14721" y="3017"/>
                </a:lnTo>
                <a:lnTo>
                  <a:pt x="14932" y="3294"/>
                </a:lnTo>
                <a:lnTo>
                  <a:pt x="15126" y="3580"/>
                </a:lnTo>
                <a:lnTo>
                  <a:pt x="15304" y="3875"/>
                </a:lnTo>
                <a:lnTo>
                  <a:pt x="15466" y="4178"/>
                </a:lnTo>
                <a:lnTo>
                  <a:pt x="15610" y="4488"/>
                </a:lnTo>
                <a:lnTo>
                  <a:pt x="15737" y="4805"/>
                </a:lnTo>
                <a:lnTo>
                  <a:pt x="15845" y="5129"/>
                </a:lnTo>
                <a:lnTo>
                  <a:pt x="15936" y="5459"/>
                </a:lnTo>
                <a:lnTo>
                  <a:pt x="16006" y="5795"/>
                </a:lnTo>
                <a:lnTo>
                  <a:pt x="16058" y="6136"/>
                </a:lnTo>
                <a:lnTo>
                  <a:pt x="16089" y="6482"/>
                </a:lnTo>
                <a:lnTo>
                  <a:pt x="16100" y="6832"/>
                </a:lnTo>
                <a:lnTo>
                  <a:pt x="16089" y="7183"/>
                </a:lnTo>
                <a:lnTo>
                  <a:pt x="16058" y="7529"/>
                </a:lnTo>
                <a:lnTo>
                  <a:pt x="16006" y="7870"/>
                </a:lnTo>
                <a:lnTo>
                  <a:pt x="15936" y="8206"/>
                </a:lnTo>
                <a:lnTo>
                  <a:pt x="15845" y="8536"/>
                </a:lnTo>
                <a:lnTo>
                  <a:pt x="15737" y="8860"/>
                </a:lnTo>
                <a:lnTo>
                  <a:pt x="15610" y="9177"/>
                </a:lnTo>
                <a:lnTo>
                  <a:pt x="15466" y="9487"/>
                </a:lnTo>
                <a:lnTo>
                  <a:pt x="15304" y="9790"/>
                </a:lnTo>
                <a:lnTo>
                  <a:pt x="15126" y="10084"/>
                </a:lnTo>
                <a:lnTo>
                  <a:pt x="14932" y="10371"/>
                </a:lnTo>
                <a:lnTo>
                  <a:pt x="14721" y="10647"/>
                </a:lnTo>
                <a:lnTo>
                  <a:pt x="14497" y="10916"/>
                </a:lnTo>
                <a:lnTo>
                  <a:pt x="14258" y="11174"/>
                </a:lnTo>
                <a:lnTo>
                  <a:pt x="14004" y="11422"/>
                </a:lnTo>
                <a:lnTo>
                  <a:pt x="13737" y="11660"/>
                </a:lnTo>
                <a:lnTo>
                  <a:pt x="13458" y="11886"/>
                </a:lnTo>
                <a:lnTo>
                  <a:pt x="13166" y="12101"/>
                </a:lnTo>
                <a:lnTo>
                  <a:pt x="12861" y="12304"/>
                </a:lnTo>
                <a:lnTo>
                  <a:pt x="12545" y="12495"/>
                </a:lnTo>
                <a:lnTo>
                  <a:pt x="12219" y="12673"/>
                </a:lnTo>
                <a:lnTo>
                  <a:pt x="11882" y="12838"/>
                </a:lnTo>
                <a:lnTo>
                  <a:pt x="11535" y="12989"/>
                </a:lnTo>
                <a:lnTo>
                  <a:pt x="11178" y="13126"/>
                </a:lnTo>
                <a:lnTo>
                  <a:pt x="10813" y="13248"/>
                </a:lnTo>
                <a:lnTo>
                  <a:pt x="10439" y="13356"/>
                </a:lnTo>
                <a:lnTo>
                  <a:pt x="10057" y="13449"/>
                </a:lnTo>
                <a:lnTo>
                  <a:pt x="9669" y="13525"/>
                </a:lnTo>
                <a:lnTo>
                  <a:pt x="9273" y="13586"/>
                </a:lnTo>
                <a:lnTo>
                  <a:pt x="8871" y="13629"/>
                </a:lnTo>
                <a:lnTo>
                  <a:pt x="8464" y="13655"/>
                </a:lnTo>
                <a:lnTo>
                  <a:pt x="8050" y="13664"/>
                </a:lnTo>
                <a:lnTo>
                  <a:pt x="7636" y="13655"/>
                </a:lnTo>
                <a:lnTo>
                  <a:pt x="7229" y="13629"/>
                </a:lnTo>
                <a:lnTo>
                  <a:pt x="6826" y="13586"/>
                </a:lnTo>
                <a:lnTo>
                  <a:pt x="6431" y="13525"/>
                </a:lnTo>
                <a:lnTo>
                  <a:pt x="6043" y="13449"/>
                </a:lnTo>
                <a:lnTo>
                  <a:pt x="5660" y="13356"/>
                </a:lnTo>
                <a:lnTo>
                  <a:pt x="5287" y="13248"/>
                </a:lnTo>
                <a:lnTo>
                  <a:pt x="4922" y="13126"/>
                </a:lnTo>
                <a:lnTo>
                  <a:pt x="4565" y="12989"/>
                </a:lnTo>
                <a:lnTo>
                  <a:pt x="4218" y="12838"/>
                </a:lnTo>
                <a:lnTo>
                  <a:pt x="3881" y="12673"/>
                </a:lnTo>
                <a:lnTo>
                  <a:pt x="3554" y="12495"/>
                </a:lnTo>
                <a:lnTo>
                  <a:pt x="3238" y="12304"/>
                </a:lnTo>
                <a:lnTo>
                  <a:pt x="2934" y="12101"/>
                </a:lnTo>
                <a:lnTo>
                  <a:pt x="2642" y="11886"/>
                </a:lnTo>
                <a:lnTo>
                  <a:pt x="2363" y="11660"/>
                </a:lnTo>
                <a:lnTo>
                  <a:pt x="2095" y="11422"/>
                </a:lnTo>
                <a:lnTo>
                  <a:pt x="1842" y="11174"/>
                </a:lnTo>
                <a:lnTo>
                  <a:pt x="1603" y="10916"/>
                </a:lnTo>
                <a:lnTo>
                  <a:pt x="1378" y="10647"/>
                </a:lnTo>
                <a:lnTo>
                  <a:pt x="1168" y="10371"/>
                </a:lnTo>
                <a:lnTo>
                  <a:pt x="974" y="10084"/>
                </a:lnTo>
                <a:lnTo>
                  <a:pt x="796" y="9790"/>
                </a:lnTo>
                <a:lnTo>
                  <a:pt x="634" y="9487"/>
                </a:lnTo>
                <a:lnTo>
                  <a:pt x="490" y="9177"/>
                </a:lnTo>
                <a:lnTo>
                  <a:pt x="363" y="8860"/>
                </a:lnTo>
                <a:lnTo>
                  <a:pt x="254" y="8536"/>
                </a:lnTo>
                <a:lnTo>
                  <a:pt x="164" y="8206"/>
                </a:lnTo>
                <a:lnTo>
                  <a:pt x="93" y="7870"/>
                </a:lnTo>
                <a:lnTo>
                  <a:pt x="41" y="7529"/>
                </a:lnTo>
                <a:lnTo>
                  <a:pt x="10" y="7183"/>
                </a:lnTo>
                <a:lnTo>
                  <a:pt x="0" y="6832"/>
                </a:lnTo>
                <a:lnTo>
                  <a:pt x="10" y="6482"/>
                </a:lnTo>
                <a:lnTo>
                  <a:pt x="41" y="6136"/>
                </a:lnTo>
                <a:lnTo>
                  <a:pt x="93" y="5795"/>
                </a:lnTo>
                <a:lnTo>
                  <a:pt x="164" y="5459"/>
                </a:lnTo>
                <a:lnTo>
                  <a:pt x="254" y="5129"/>
                </a:lnTo>
                <a:lnTo>
                  <a:pt x="363" y="4805"/>
                </a:lnTo>
                <a:lnTo>
                  <a:pt x="490" y="4488"/>
                </a:lnTo>
                <a:lnTo>
                  <a:pt x="634" y="4178"/>
                </a:lnTo>
                <a:lnTo>
                  <a:pt x="796" y="3875"/>
                </a:lnTo>
                <a:lnTo>
                  <a:pt x="974" y="3580"/>
                </a:lnTo>
                <a:lnTo>
                  <a:pt x="1168" y="3294"/>
                </a:lnTo>
                <a:lnTo>
                  <a:pt x="1378" y="3017"/>
                </a:lnTo>
                <a:lnTo>
                  <a:pt x="1603" y="2749"/>
                </a:lnTo>
                <a:lnTo>
                  <a:pt x="1842" y="2490"/>
                </a:lnTo>
                <a:lnTo>
                  <a:pt x="2095" y="2243"/>
                </a:lnTo>
                <a:lnTo>
                  <a:pt x="2363" y="2005"/>
                </a:lnTo>
                <a:lnTo>
                  <a:pt x="2642" y="1779"/>
                </a:lnTo>
                <a:lnTo>
                  <a:pt x="2934" y="1564"/>
                </a:lnTo>
                <a:lnTo>
                  <a:pt x="3238" y="1360"/>
                </a:lnTo>
                <a:lnTo>
                  <a:pt x="3554" y="1169"/>
                </a:lnTo>
                <a:lnTo>
                  <a:pt x="3881" y="992"/>
                </a:lnTo>
                <a:lnTo>
                  <a:pt x="4218" y="827"/>
                </a:lnTo>
                <a:lnTo>
                  <a:pt x="4565" y="675"/>
                </a:lnTo>
                <a:lnTo>
                  <a:pt x="4922" y="538"/>
                </a:lnTo>
                <a:lnTo>
                  <a:pt x="5287" y="416"/>
                </a:lnTo>
                <a:lnTo>
                  <a:pt x="5660" y="308"/>
                </a:lnTo>
                <a:lnTo>
                  <a:pt x="6043" y="216"/>
                </a:lnTo>
                <a:lnTo>
                  <a:pt x="6431" y="139"/>
                </a:lnTo>
                <a:lnTo>
                  <a:pt x="6826" y="79"/>
                </a:lnTo>
                <a:lnTo>
                  <a:pt x="7229" y="35"/>
                </a:lnTo>
                <a:lnTo>
                  <a:pt x="7636" y="9"/>
                </a:lnTo>
                <a:lnTo>
                  <a:pt x="8050" y="0"/>
                </a:lnTo>
                <a:close/>
                <a:moveTo>
                  <a:pt x="8050" y="5640"/>
                </a:moveTo>
                <a:lnTo>
                  <a:pt x="8970" y="4461"/>
                </a:lnTo>
                <a:lnTo>
                  <a:pt x="9888" y="3284"/>
                </a:lnTo>
                <a:lnTo>
                  <a:pt x="8929" y="3284"/>
                </a:lnTo>
                <a:lnTo>
                  <a:pt x="8929" y="698"/>
                </a:lnTo>
                <a:lnTo>
                  <a:pt x="7171" y="698"/>
                </a:lnTo>
                <a:lnTo>
                  <a:pt x="7171" y="3284"/>
                </a:lnTo>
                <a:lnTo>
                  <a:pt x="6212" y="3284"/>
                </a:lnTo>
                <a:lnTo>
                  <a:pt x="7130" y="4461"/>
                </a:lnTo>
                <a:lnTo>
                  <a:pt x="8050" y="5640"/>
                </a:lnTo>
                <a:close/>
                <a:moveTo>
                  <a:pt x="8050" y="8024"/>
                </a:moveTo>
                <a:lnTo>
                  <a:pt x="8970" y="9203"/>
                </a:lnTo>
                <a:lnTo>
                  <a:pt x="9888" y="10381"/>
                </a:lnTo>
                <a:lnTo>
                  <a:pt x="8929" y="10381"/>
                </a:lnTo>
                <a:lnTo>
                  <a:pt x="8929" y="12966"/>
                </a:lnTo>
                <a:lnTo>
                  <a:pt x="7171" y="12966"/>
                </a:lnTo>
                <a:lnTo>
                  <a:pt x="7171" y="10381"/>
                </a:lnTo>
                <a:lnTo>
                  <a:pt x="6212" y="10381"/>
                </a:lnTo>
                <a:lnTo>
                  <a:pt x="7130" y="9203"/>
                </a:lnTo>
                <a:lnTo>
                  <a:pt x="8050" y="8024"/>
                </a:lnTo>
                <a:close/>
                <a:moveTo>
                  <a:pt x="1485" y="6832"/>
                </a:moveTo>
                <a:lnTo>
                  <a:pt x="2663" y="5912"/>
                </a:lnTo>
                <a:lnTo>
                  <a:pt x="3841" y="4994"/>
                </a:lnTo>
                <a:lnTo>
                  <a:pt x="3841" y="5953"/>
                </a:lnTo>
                <a:lnTo>
                  <a:pt x="6426" y="5953"/>
                </a:lnTo>
                <a:lnTo>
                  <a:pt x="6426" y="7711"/>
                </a:lnTo>
                <a:lnTo>
                  <a:pt x="3841" y="7711"/>
                </a:lnTo>
                <a:lnTo>
                  <a:pt x="3841" y="8670"/>
                </a:lnTo>
                <a:lnTo>
                  <a:pt x="2663" y="7752"/>
                </a:lnTo>
                <a:lnTo>
                  <a:pt x="1485" y="6832"/>
                </a:lnTo>
                <a:close/>
                <a:moveTo>
                  <a:pt x="14615" y="6832"/>
                </a:moveTo>
                <a:lnTo>
                  <a:pt x="13437" y="5912"/>
                </a:lnTo>
                <a:lnTo>
                  <a:pt x="12259" y="4994"/>
                </a:lnTo>
                <a:lnTo>
                  <a:pt x="12259" y="5953"/>
                </a:lnTo>
                <a:lnTo>
                  <a:pt x="9674" y="5953"/>
                </a:lnTo>
                <a:lnTo>
                  <a:pt x="9674" y="7711"/>
                </a:lnTo>
                <a:lnTo>
                  <a:pt x="12259" y="7711"/>
                </a:lnTo>
                <a:lnTo>
                  <a:pt x="12259" y="8670"/>
                </a:lnTo>
                <a:lnTo>
                  <a:pt x="13437" y="7752"/>
                </a:lnTo>
                <a:lnTo>
                  <a:pt x="14615" y="6832"/>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defTabSz="685800">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16" name="直接连接符 92"/>
          <p:cNvCxnSpPr>
            <a:cxnSpLocks noChangeAspect="1"/>
          </p:cNvCxnSpPr>
          <p:nvPr/>
        </p:nvCxnSpPr>
        <p:spPr>
          <a:xfrm>
            <a:off x="9061163" y="4885868"/>
            <a:ext cx="2518360" cy="0"/>
          </a:xfrm>
          <a:prstGeom prst="line">
            <a:avLst/>
          </a:prstGeom>
          <a:noFill/>
          <a:ln w="12700" cap="flat" cmpd="sng" algn="ctr">
            <a:gradFill flip="none" rotWithShape="1">
              <a:gsLst>
                <a:gs pos="33000">
                  <a:srgbClr val="EEECE1">
                    <a:lumMod val="50000"/>
                  </a:srgbClr>
                </a:gs>
                <a:gs pos="100000">
                  <a:sysClr val="window" lastClr="FFFFFF">
                    <a:alpha val="0"/>
                  </a:sysClr>
                </a:gs>
              </a:gsLst>
              <a:path path="circle">
                <a:fillToRect l="50000" t="50000" r="50000" b="50000"/>
              </a:path>
              <a:tileRect/>
            </a:gradFill>
            <a:prstDash val="solid"/>
          </a:ln>
          <a:effectLst/>
        </p:spPr>
      </p:cxnSp>
      <p:sp>
        <p:nvSpPr>
          <p:cNvPr id="118" name="文本框 117"/>
          <p:cNvSpPr txBox="1"/>
          <p:nvPr/>
        </p:nvSpPr>
        <p:spPr>
          <a:xfrm>
            <a:off x="9049915" y="4930000"/>
            <a:ext cx="2540857" cy="978729"/>
          </a:xfrm>
          <a:prstGeom prst="rect">
            <a:avLst/>
          </a:prstGeom>
          <a:noFill/>
        </p:spPr>
        <p:txBody>
          <a:bodyPr wrap="square" rtlCol="0">
            <a:spAutoFit/>
          </a:bodyPr>
          <a:lstStyle/>
          <a:p>
            <a:pPr marL="171450" indent="-171450">
              <a:lnSpc>
                <a:spcPct val="120000"/>
              </a:lnSpc>
              <a:buFont typeface="Arial" panose="020B0604020202020204" pitchFamily="34" charset="0"/>
              <a:buChar char="•"/>
              <a:defRP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已兼容</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20+</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款主流操作系统</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a:lnSpc>
                <a:spcPct val="120000"/>
              </a:lnSpc>
              <a:buFont typeface="Arial" panose="020B0604020202020204" pitchFamily="34" charset="0"/>
              <a:buChar char="•"/>
              <a:defRPr/>
            </a:pP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100+</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企业业务应用</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a:lnSpc>
                <a:spcPct val="120000"/>
              </a:lnSpc>
              <a:buFont typeface="Arial" panose="020B0604020202020204" pitchFamily="34" charset="0"/>
              <a:buChar char="•"/>
              <a:defRP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鲲鹏社区持续聚合鲲鹏资源</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a:lnSpc>
                <a:spcPct val="120000"/>
              </a:lnSpc>
              <a:buFont typeface="Arial" panose="020B0604020202020204" pitchFamily="34" charset="0"/>
              <a:buChar char="•"/>
              <a:defRP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持续打造鲲鹏生态</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9" name="文本框 118"/>
          <p:cNvSpPr txBox="1"/>
          <p:nvPr/>
        </p:nvSpPr>
        <p:spPr>
          <a:xfrm>
            <a:off x="9348235" y="4525828"/>
            <a:ext cx="1944216" cy="369332"/>
          </a:xfrm>
          <a:prstGeom prst="rect">
            <a:avLst/>
          </a:prstGeom>
          <a:noFill/>
        </p:spPr>
        <p:txBody>
          <a:bodyPr wrap="square" rtlCol="0">
            <a:spAutoFit/>
          </a:bodyPr>
          <a:lstStyle>
            <a:defPPr>
              <a:defRPr lang="en-US"/>
            </a:defPPr>
            <a:lvl1pPr algn="ctr" defTabSz="1219444">
              <a:defRPr sz="1600" b="1">
                <a:solidFill>
                  <a:srgbClr val="C00000"/>
                </a:solidFill>
                <a:latin typeface="微软雅黑" panose="020B0503020204020204" pitchFamily="34" charset="-122"/>
                <a:ea typeface="微软雅黑" panose="020B0503020204020204" pitchFamily="34" charset="-122"/>
              </a:defRPr>
            </a:lvl1p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C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持续丰富生态</a:t>
            </a:r>
          </a:p>
        </p:txBody>
      </p:sp>
      <p:sp>
        <p:nvSpPr>
          <p:cNvPr id="121" name="椭圆 120"/>
          <p:cNvSpPr/>
          <p:nvPr/>
        </p:nvSpPr>
        <p:spPr>
          <a:xfrm>
            <a:off x="10147233" y="4186142"/>
            <a:ext cx="346221" cy="346221"/>
          </a:xfrm>
          <a:prstGeom prst="ellipse">
            <a:avLst/>
          </a:prstGeom>
          <a:solidFill>
            <a:srgbClr val="00B0F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a:defRPr/>
            </a:pPr>
            <a:endParaRPr lang="zh-CN" altLang="en-US" sz="1200"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2" name="Freeform 65"/>
          <p:cNvSpPr>
            <a:spLocks/>
          </p:cNvSpPr>
          <p:nvPr/>
        </p:nvSpPr>
        <p:spPr bwMode="auto">
          <a:xfrm>
            <a:off x="10224929" y="4281287"/>
            <a:ext cx="69865" cy="41514"/>
          </a:xfrm>
          <a:custGeom>
            <a:avLst/>
            <a:gdLst/>
            <a:ahLst/>
            <a:cxnLst>
              <a:cxn ang="0">
                <a:pos x="0" y="78"/>
              </a:cxn>
              <a:cxn ang="0">
                <a:pos x="0" y="78"/>
              </a:cxn>
              <a:cxn ang="0">
                <a:pos x="0" y="82"/>
              </a:cxn>
              <a:cxn ang="0">
                <a:pos x="2" y="82"/>
              </a:cxn>
              <a:cxn ang="0">
                <a:pos x="134" y="82"/>
              </a:cxn>
              <a:cxn ang="0">
                <a:pos x="134" y="82"/>
              </a:cxn>
              <a:cxn ang="0">
                <a:pos x="136" y="82"/>
              </a:cxn>
              <a:cxn ang="0">
                <a:pos x="138" y="78"/>
              </a:cxn>
              <a:cxn ang="0">
                <a:pos x="138" y="4"/>
              </a:cxn>
              <a:cxn ang="0">
                <a:pos x="138" y="4"/>
              </a:cxn>
              <a:cxn ang="0">
                <a:pos x="136" y="2"/>
              </a:cxn>
              <a:cxn ang="0">
                <a:pos x="134" y="0"/>
              </a:cxn>
              <a:cxn ang="0">
                <a:pos x="2" y="0"/>
              </a:cxn>
              <a:cxn ang="0">
                <a:pos x="2" y="0"/>
              </a:cxn>
              <a:cxn ang="0">
                <a:pos x="0" y="2"/>
              </a:cxn>
              <a:cxn ang="0">
                <a:pos x="0" y="4"/>
              </a:cxn>
              <a:cxn ang="0">
                <a:pos x="0" y="78"/>
              </a:cxn>
            </a:cxnLst>
            <a:rect l="0" t="0" r="r" b="b"/>
            <a:pathLst>
              <a:path w="138" h="82">
                <a:moveTo>
                  <a:pt x="0" y="78"/>
                </a:moveTo>
                <a:lnTo>
                  <a:pt x="0" y="78"/>
                </a:lnTo>
                <a:lnTo>
                  <a:pt x="0" y="82"/>
                </a:lnTo>
                <a:lnTo>
                  <a:pt x="2" y="82"/>
                </a:lnTo>
                <a:lnTo>
                  <a:pt x="134" y="82"/>
                </a:lnTo>
                <a:lnTo>
                  <a:pt x="134" y="82"/>
                </a:lnTo>
                <a:lnTo>
                  <a:pt x="136" y="82"/>
                </a:lnTo>
                <a:lnTo>
                  <a:pt x="138" y="78"/>
                </a:lnTo>
                <a:lnTo>
                  <a:pt x="138" y="4"/>
                </a:lnTo>
                <a:lnTo>
                  <a:pt x="138" y="4"/>
                </a:lnTo>
                <a:lnTo>
                  <a:pt x="136" y="2"/>
                </a:lnTo>
                <a:lnTo>
                  <a:pt x="134" y="0"/>
                </a:lnTo>
                <a:lnTo>
                  <a:pt x="2" y="0"/>
                </a:lnTo>
                <a:lnTo>
                  <a:pt x="2" y="0"/>
                </a:lnTo>
                <a:lnTo>
                  <a:pt x="0" y="2"/>
                </a:lnTo>
                <a:lnTo>
                  <a:pt x="0" y="4"/>
                </a:lnTo>
                <a:lnTo>
                  <a:pt x="0" y="78"/>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defTabSz="685800">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3" name="Freeform 66"/>
          <p:cNvSpPr>
            <a:spLocks noEditPoints="1"/>
          </p:cNvSpPr>
          <p:nvPr/>
        </p:nvSpPr>
        <p:spPr bwMode="auto">
          <a:xfrm>
            <a:off x="10212779" y="4272174"/>
            <a:ext cx="93154" cy="91129"/>
          </a:xfrm>
          <a:custGeom>
            <a:avLst/>
            <a:gdLst/>
            <a:ahLst/>
            <a:cxnLst>
              <a:cxn ang="0">
                <a:pos x="168" y="120"/>
              </a:cxn>
              <a:cxn ang="0">
                <a:pos x="172" y="120"/>
              </a:cxn>
              <a:cxn ang="0">
                <a:pos x="180" y="114"/>
              </a:cxn>
              <a:cxn ang="0">
                <a:pos x="180" y="14"/>
              </a:cxn>
              <a:cxn ang="0">
                <a:pos x="180" y="8"/>
              </a:cxn>
              <a:cxn ang="0">
                <a:pos x="172" y="2"/>
              </a:cxn>
              <a:cxn ang="0">
                <a:pos x="18" y="0"/>
              </a:cxn>
              <a:cxn ang="0">
                <a:pos x="14" y="2"/>
              </a:cxn>
              <a:cxn ang="0">
                <a:pos x="6" y="8"/>
              </a:cxn>
              <a:cxn ang="0">
                <a:pos x="6" y="108"/>
              </a:cxn>
              <a:cxn ang="0">
                <a:pos x="6" y="114"/>
              </a:cxn>
              <a:cxn ang="0">
                <a:pos x="14" y="120"/>
              </a:cxn>
              <a:cxn ang="0">
                <a:pos x="18" y="120"/>
              </a:cxn>
              <a:cxn ang="0">
                <a:pos x="16" y="18"/>
              </a:cxn>
              <a:cxn ang="0">
                <a:pos x="22" y="12"/>
              </a:cxn>
              <a:cxn ang="0">
                <a:pos x="162" y="12"/>
              </a:cxn>
              <a:cxn ang="0">
                <a:pos x="168" y="18"/>
              </a:cxn>
              <a:cxn ang="0">
                <a:pos x="168" y="102"/>
              </a:cxn>
              <a:cxn ang="0">
                <a:pos x="162" y="106"/>
              </a:cxn>
              <a:cxn ang="0">
                <a:pos x="22" y="106"/>
              </a:cxn>
              <a:cxn ang="0">
                <a:pos x="16" y="102"/>
              </a:cxn>
              <a:cxn ang="0">
                <a:pos x="160" y="132"/>
              </a:cxn>
              <a:cxn ang="0">
                <a:pos x="24" y="132"/>
              </a:cxn>
              <a:cxn ang="0">
                <a:pos x="8" y="138"/>
              </a:cxn>
              <a:cxn ang="0">
                <a:pos x="0" y="152"/>
              </a:cxn>
              <a:cxn ang="0">
                <a:pos x="0" y="160"/>
              </a:cxn>
              <a:cxn ang="0">
                <a:pos x="8" y="174"/>
              </a:cxn>
              <a:cxn ang="0">
                <a:pos x="24" y="180"/>
              </a:cxn>
              <a:cxn ang="0">
                <a:pos x="160" y="180"/>
              </a:cxn>
              <a:cxn ang="0">
                <a:pos x="178" y="174"/>
              </a:cxn>
              <a:cxn ang="0">
                <a:pos x="184" y="160"/>
              </a:cxn>
              <a:cxn ang="0">
                <a:pos x="184" y="152"/>
              </a:cxn>
              <a:cxn ang="0">
                <a:pos x="178" y="138"/>
              </a:cxn>
              <a:cxn ang="0">
                <a:pos x="160" y="132"/>
              </a:cxn>
              <a:cxn ang="0">
                <a:pos x="156" y="164"/>
              </a:cxn>
              <a:cxn ang="0">
                <a:pos x="152" y="164"/>
              </a:cxn>
              <a:cxn ang="0">
                <a:pos x="146" y="158"/>
              </a:cxn>
              <a:cxn ang="0">
                <a:pos x="146" y="154"/>
              </a:cxn>
              <a:cxn ang="0">
                <a:pos x="148" y="148"/>
              </a:cxn>
              <a:cxn ang="0">
                <a:pos x="156" y="144"/>
              </a:cxn>
              <a:cxn ang="0">
                <a:pos x="160" y="146"/>
              </a:cxn>
              <a:cxn ang="0">
                <a:pos x="164" y="152"/>
              </a:cxn>
              <a:cxn ang="0">
                <a:pos x="166" y="154"/>
              </a:cxn>
              <a:cxn ang="0">
                <a:pos x="162" y="162"/>
              </a:cxn>
              <a:cxn ang="0">
                <a:pos x="156" y="164"/>
              </a:cxn>
            </a:cxnLst>
            <a:rect l="0" t="0" r="r" b="b"/>
            <a:pathLst>
              <a:path w="184" h="180">
                <a:moveTo>
                  <a:pt x="18" y="120"/>
                </a:moveTo>
                <a:lnTo>
                  <a:pt x="168" y="120"/>
                </a:lnTo>
                <a:lnTo>
                  <a:pt x="168" y="120"/>
                </a:lnTo>
                <a:lnTo>
                  <a:pt x="172" y="120"/>
                </a:lnTo>
                <a:lnTo>
                  <a:pt x="176" y="118"/>
                </a:lnTo>
                <a:lnTo>
                  <a:pt x="180" y="114"/>
                </a:lnTo>
                <a:lnTo>
                  <a:pt x="180" y="108"/>
                </a:lnTo>
                <a:lnTo>
                  <a:pt x="180" y="14"/>
                </a:lnTo>
                <a:lnTo>
                  <a:pt x="180" y="14"/>
                </a:lnTo>
                <a:lnTo>
                  <a:pt x="180" y="8"/>
                </a:lnTo>
                <a:lnTo>
                  <a:pt x="176" y="4"/>
                </a:lnTo>
                <a:lnTo>
                  <a:pt x="172" y="2"/>
                </a:lnTo>
                <a:lnTo>
                  <a:pt x="168" y="0"/>
                </a:lnTo>
                <a:lnTo>
                  <a:pt x="18" y="0"/>
                </a:lnTo>
                <a:lnTo>
                  <a:pt x="18" y="0"/>
                </a:lnTo>
                <a:lnTo>
                  <a:pt x="14" y="2"/>
                </a:lnTo>
                <a:lnTo>
                  <a:pt x="8" y="4"/>
                </a:lnTo>
                <a:lnTo>
                  <a:pt x="6" y="8"/>
                </a:lnTo>
                <a:lnTo>
                  <a:pt x="6" y="14"/>
                </a:lnTo>
                <a:lnTo>
                  <a:pt x="6" y="108"/>
                </a:lnTo>
                <a:lnTo>
                  <a:pt x="6" y="108"/>
                </a:lnTo>
                <a:lnTo>
                  <a:pt x="6" y="114"/>
                </a:lnTo>
                <a:lnTo>
                  <a:pt x="8" y="118"/>
                </a:lnTo>
                <a:lnTo>
                  <a:pt x="14" y="120"/>
                </a:lnTo>
                <a:lnTo>
                  <a:pt x="18" y="120"/>
                </a:lnTo>
                <a:lnTo>
                  <a:pt x="18" y="120"/>
                </a:lnTo>
                <a:close/>
                <a:moveTo>
                  <a:pt x="16" y="18"/>
                </a:moveTo>
                <a:lnTo>
                  <a:pt x="16" y="18"/>
                </a:lnTo>
                <a:lnTo>
                  <a:pt x="18" y="14"/>
                </a:lnTo>
                <a:lnTo>
                  <a:pt x="22" y="12"/>
                </a:lnTo>
                <a:lnTo>
                  <a:pt x="162" y="12"/>
                </a:lnTo>
                <a:lnTo>
                  <a:pt x="162" y="12"/>
                </a:lnTo>
                <a:lnTo>
                  <a:pt x="166" y="14"/>
                </a:lnTo>
                <a:lnTo>
                  <a:pt x="168" y="18"/>
                </a:lnTo>
                <a:lnTo>
                  <a:pt x="168" y="102"/>
                </a:lnTo>
                <a:lnTo>
                  <a:pt x="168" y="102"/>
                </a:lnTo>
                <a:lnTo>
                  <a:pt x="166" y="106"/>
                </a:lnTo>
                <a:lnTo>
                  <a:pt x="162" y="106"/>
                </a:lnTo>
                <a:lnTo>
                  <a:pt x="22" y="106"/>
                </a:lnTo>
                <a:lnTo>
                  <a:pt x="22" y="106"/>
                </a:lnTo>
                <a:lnTo>
                  <a:pt x="18" y="106"/>
                </a:lnTo>
                <a:lnTo>
                  <a:pt x="16" y="102"/>
                </a:lnTo>
                <a:lnTo>
                  <a:pt x="16" y="18"/>
                </a:lnTo>
                <a:close/>
                <a:moveTo>
                  <a:pt x="160" y="132"/>
                </a:moveTo>
                <a:lnTo>
                  <a:pt x="24" y="132"/>
                </a:lnTo>
                <a:lnTo>
                  <a:pt x="24" y="132"/>
                </a:lnTo>
                <a:lnTo>
                  <a:pt x="16" y="132"/>
                </a:lnTo>
                <a:lnTo>
                  <a:pt x="8" y="138"/>
                </a:lnTo>
                <a:lnTo>
                  <a:pt x="2" y="144"/>
                </a:lnTo>
                <a:lnTo>
                  <a:pt x="0" y="152"/>
                </a:lnTo>
                <a:lnTo>
                  <a:pt x="0" y="160"/>
                </a:lnTo>
                <a:lnTo>
                  <a:pt x="0" y="160"/>
                </a:lnTo>
                <a:lnTo>
                  <a:pt x="2" y="168"/>
                </a:lnTo>
                <a:lnTo>
                  <a:pt x="8" y="174"/>
                </a:lnTo>
                <a:lnTo>
                  <a:pt x="16" y="178"/>
                </a:lnTo>
                <a:lnTo>
                  <a:pt x="24" y="180"/>
                </a:lnTo>
                <a:lnTo>
                  <a:pt x="160" y="180"/>
                </a:lnTo>
                <a:lnTo>
                  <a:pt x="160" y="180"/>
                </a:lnTo>
                <a:lnTo>
                  <a:pt x="170" y="178"/>
                </a:lnTo>
                <a:lnTo>
                  <a:pt x="178" y="174"/>
                </a:lnTo>
                <a:lnTo>
                  <a:pt x="184" y="168"/>
                </a:lnTo>
                <a:lnTo>
                  <a:pt x="184" y="160"/>
                </a:lnTo>
                <a:lnTo>
                  <a:pt x="184" y="152"/>
                </a:lnTo>
                <a:lnTo>
                  <a:pt x="184" y="152"/>
                </a:lnTo>
                <a:lnTo>
                  <a:pt x="184" y="144"/>
                </a:lnTo>
                <a:lnTo>
                  <a:pt x="178" y="138"/>
                </a:lnTo>
                <a:lnTo>
                  <a:pt x="170" y="132"/>
                </a:lnTo>
                <a:lnTo>
                  <a:pt x="160" y="132"/>
                </a:lnTo>
                <a:lnTo>
                  <a:pt x="160" y="132"/>
                </a:lnTo>
                <a:close/>
                <a:moveTo>
                  <a:pt x="156" y="164"/>
                </a:moveTo>
                <a:lnTo>
                  <a:pt x="156" y="164"/>
                </a:lnTo>
                <a:lnTo>
                  <a:pt x="152" y="164"/>
                </a:lnTo>
                <a:lnTo>
                  <a:pt x="148" y="162"/>
                </a:lnTo>
                <a:lnTo>
                  <a:pt x="146" y="158"/>
                </a:lnTo>
                <a:lnTo>
                  <a:pt x="146" y="154"/>
                </a:lnTo>
                <a:lnTo>
                  <a:pt x="146" y="154"/>
                </a:lnTo>
                <a:lnTo>
                  <a:pt x="146" y="152"/>
                </a:lnTo>
                <a:lnTo>
                  <a:pt x="148" y="148"/>
                </a:lnTo>
                <a:lnTo>
                  <a:pt x="152" y="146"/>
                </a:lnTo>
                <a:lnTo>
                  <a:pt x="156" y="144"/>
                </a:lnTo>
                <a:lnTo>
                  <a:pt x="156" y="144"/>
                </a:lnTo>
                <a:lnTo>
                  <a:pt x="160" y="146"/>
                </a:lnTo>
                <a:lnTo>
                  <a:pt x="162" y="148"/>
                </a:lnTo>
                <a:lnTo>
                  <a:pt x="164" y="152"/>
                </a:lnTo>
                <a:lnTo>
                  <a:pt x="166" y="154"/>
                </a:lnTo>
                <a:lnTo>
                  <a:pt x="166" y="154"/>
                </a:lnTo>
                <a:lnTo>
                  <a:pt x="164" y="158"/>
                </a:lnTo>
                <a:lnTo>
                  <a:pt x="162" y="162"/>
                </a:lnTo>
                <a:lnTo>
                  <a:pt x="160" y="164"/>
                </a:lnTo>
                <a:lnTo>
                  <a:pt x="156" y="164"/>
                </a:lnTo>
                <a:lnTo>
                  <a:pt x="156" y="164"/>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defTabSz="685800">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4" name="Freeform 67"/>
          <p:cNvSpPr>
            <a:spLocks noEditPoints="1"/>
          </p:cNvSpPr>
          <p:nvPr/>
        </p:nvSpPr>
        <p:spPr bwMode="auto">
          <a:xfrm>
            <a:off x="10254293" y="4374441"/>
            <a:ext cx="68853" cy="67840"/>
          </a:xfrm>
          <a:custGeom>
            <a:avLst/>
            <a:gdLst/>
            <a:ahLst/>
            <a:cxnLst>
              <a:cxn ang="0">
                <a:pos x="122" y="106"/>
              </a:cxn>
              <a:cxn ang="0">
                <a:pos x="112" y="110"/>
              </a:cxn>
              <a:cxn ang="0">
                <a:pos x="108" y="120"/>
              </a:cxn>
              <a:cxn ang="0">
                <a:pos x="108" y="126"/>
              </a:cxn>
              <a:cxn ang="0">
                <a:pos x="116" y="134"/>
              </a:cxn>
              <a:cxn ang="0">
                <a:pos x="122" y="134"/>
              </a:cxn>
              <a:cxn ang="0">
                <a:pos x="132" y="130"/>
              </a:cxn>
              <a:cxn ang="0">
                <a:pos x="136" y="120"/>
              </a:cxn>
              <a:cxn ang="0">
                <a:pos x="136" y="114"/>
              </a:cxn>
              <a:cxn ang="0">
                <a:pos x="128" y="106"/>
              </a:cxn>
              <a:cxn ang="0">
                <a:pos x="122" y="106"/>
              </a:cxn>
              <a:cxn ang="0">
                <a:pos x="68" y="106"/>
              </a:cxn>
              <a:cxn ang="0">
                <a:pos x="58" y="110"/>
              </a:cxn>
              <a:cxn ang="0">
                <a:pos x="54" y="120"/>
              </a:cxn>
              <a:cxn ang="0">
                <a:pos x="54" y="126"/>
              </a:cxn>
              <a:cxn ang="0">
                <a:pos x="62" y="134"/>
              </a:cxn>
              <a:cxn ang="0">
                <a:pos x="68" y="134"/>
              </a:cxn>
              <a:cxn ang="0">
                <a:pos x="78" y="130"/>
              </a:cxn>
              <a:cxn ang="0">
                <a:pos x="82" y="120"/>
              </a:cxn>
              <a:cxn ang="0">
                <a:pos x="82" y="114"/>
              </a:cxn>
              <a:cxn ang="0">
                <a:pos x="74" y="106"/>
              </a:cxn>
              <a:cxn ang="0">
                <a:pos x="68" y="106"/>
              </a:cxn>
              <a:cxn ang="0">
                <a:pos x="14" y="106"/>
              </a:cxn>
              <a:cxn ang="0">
                <a:pos x="4" y="110"/>
              </a:cxn>
              <a:cxn ang="0">
                <a:pos x="0" y="120"/>
              </a:cxn>
              <a:cxn ang="0">
                <a:pos x="2" y="126"/>
              </a:cxn>
              <a:cxn ang="0">
                <a:pos x="10" y="134"/>
              </a:cxn>
              <a:cxn ang="0">
                <a:pos x="14" y="134"/>
              </a:cxn>
              <a:cxn ang="0">
                <a:pos x="26" y="130"/>
              </a:cxn>
              <a:cxn ang="0">
                <a:pos x="30" y="120"/>
              </a:cxn>
              <a:cxn ang="0">
                <a:pos x="28" y="114"/>
              </a:cxn>
              <a:cxn ang="0">
                <a:pos x="20" y="106"/>
              </a:cxn>
              <a:cxn ang="0">
                <a:pos x="14" y="106"/>
              </a:cxn>
              <a:cxn ang="0">
                <a:pos x="14" y="30"/>
              </a:cxn>
              <a:cxn ang="0">
                <a:pos x="26" y="26"/>
              </a:cxn>
              <a:cxn ang="0">
                <a:pos x="30" y="14"/>
              </a:cxn>
              <a:cxn ang="0">
                <a:pos x="28" y="10"/>
              </a:cxn>
              <a:cxn ang="0">
                <a:pos x="20" y="2"/>
              </a:cxn>
              <a:cxn ang="0">
                <a:pos x="14" y="0"/>
              </a:cxn>
              <a:cxn ang="0">
                <a:pos x="4" y="4"/>
              </a:cxn>
              <a:cxn ang="0">
                <a:pos x="0" y="14"/>
              </a:cxn>
              <a:cxn ang="0">
                <a:pos x="2" y="20"/>
              </a:cxn>
              <a:cxn ang="0">
                <a:pos x="10" y="28"/>
              </a:cxn>
              <a:cxn ang="0">
                <a:pos x="14" y="30"/>
              </a:cxn>
              <a:cxn ang="0">
                <a:pos x="14" y="82"/>
              </a:cxn>
              <a:cxn ang="0">
                <a:pos x="26" y="78"/>
              </a:cxn>
              <a:cxn ang="0">
                <a:pos x="30" y="68"/>
              </a:cxn>
              <a:cxn ang="0">
                <a:pos x="28" y="62"/>
              </a:cxn>
              <a:cxn ang="0">
                <a:pos x="20" y="54"/>
              </a:cxn>
              <a:cxn ang="0">
                <a:pos x="14" y="54"/>
              </a:cxn>
              <a:cxn ang="0">
                <a:pos x="4" y="58"/>
              </a:cxn>
              <a:cxn ang="0">
                <a:pos x="0" y="68"/>
              </a:cxn>
              <a:cxn ang="0">
                <a:pos x="2" y="74"/>
              </a:cxn>
              <a:cxn ang="0">
                <a:pos x="10" y="82"/>
              </a:cxn>
              <a:cxn ang="0">
                <a:pos x="14" y="82"/>
              </a:cxn>
            </a:cxnLst>
            <a:rect l="0" t="0" r="r" b="b"/>
            <a:pathLst>
              <a:path w="136" h="134">
                <a:moveTo>
                  <a:pt x="122" y="106"/>
                </a:moveTo>
                <a:lnTo>
                  <a:pt x="122" y="106"/>
                </a:lnTo>
                <a:lnTo>
                  <a:pt x="116" y="106"/>
                </a:lnTo>
                <a:lnTo>
                  <a:pt x="112" y="110"/>
                </a:lnTo>
                <a:lnTo>
                  <a:pt x="108" y="114"/>
                </a:lnTo>
                <a:lnTo>
                  <a:pt x="108" y="120"/>
                </a:lnTo>
                <a:lnTo>
                  <a:pt x="108" y="120"/>
                </a:lnTo>
                <a:lnTo>
                  <a:pt x="108" y="126"/>
                </a:lnTo>
                <a:lnTo>
                  <a:pt x="112" y="130"/>
                </a:lnTo>
                <a:lnTo>
                  <a:pt x="116" y="134"/>
                </a:lnTo>
                <a:lnTo>
                  <a:pt x="122" y="134"/>
                </a:lnTo>
                <a:lnTo>
                  <a:pt x="122" y="134"/>
                </a:lnTo>
                <a:lnTo>
                  <a:pt x="128" y="134"/>
                </a:lnTo>
                <a:lnTo>
                  <a:pt x="132" y="130"/>
                </a:lnTo>
                <a:lnTo>
                  <a:pt x="136" y="126"/>
                </a:lnTo>
                <a:lnTo>
                  <a:pt x="136" y="120"/>
                </a:lnTo>
                <a:lnTo>
                  <a:pt x="136" y="120"/>
                </a:lnTo>
                <a:lnTo>
                  <a:pt x="136" y="114"/>
                </a:lnTo>
                <a:lnTo>
                  <a:pt x="132" y="110"/>
                </a:lnTo>
                <a:lnTo>
                  <a:pt x="128" y="106"/>
                </a:lnTo>
                <a:lnTo>
                  <a:pt x="122" y="106"/>
                </a:lnTo>
                <a:lnTo>
                  <a:pt x="122" y="106"/>
                </a:lnTo>
                <a:close/>
                <a:moveTo>
                  <a:pt x="68" y="106"/>
                </a:moveTo>
                <a:lnTo>
                  <a:pt x="68" y="106"/>
                </a:lnTo>
                <a:lnTo>
                  <a:pt x="62" y="106"/>
                </a:lnTo>
                <a:lnTo>
                  <a:pt x="58" y="110"/>
                </a:lnTo>
                <a:lnTo>
                  <a:pt x="54" y="114"/>
                </a:lnTo>
                <a:lnTo>
                  <a:pt x="54" y="120"/>
                </a:lnTo>
                <a:lnTo>
                  <a:pt x="54" y="120"/>
                </a:lnTo>
                <a:lnTo>
                  <a:pt x="54" y="126"/>
                </a:lnTo>
                <a:lnTo>
                  <a:pt x="58" y="130"/>
                </a:lnTo>
                <a:lnTo>
                  <a:pt x="62" y="134"/>
                </a:lnTo>
                <a:lnTo>
                  <a:pt x="68" y="134"/>
                </a:lnTo>
                <a:lnTo>
                  <a:pt x="68" y="134"/>
                </a:lnTo>
                <a:lnTo>
                  <a:pt x="74" y="134"/>
                </a:lnTo>
                <a:lnTo>
                  <a:pt x="78" y="130"/>
                </a:lnTo>
                <a:lnTo>
                  <a:pt x="82" y="126"/>
                </a:lnTo>
                <a:lnTo>
                  <a:pt x="82" y="120"/>
                </a:lnTo>
                <a:lnTo>
                  <a:pt x="82" y="120"/>
                </a:lnTo>
                <a:lnTo>
                  <a:pt x="82" y="114"/>
                </a:lnTo>
                <a:lnTo>
                  <a:pt x="78" y="110"/>
                </a:lnTo>
                <a:lnTo>
                  <a:pt x="74" y="106"/>
                </a:lnTo>
                <a:lnTo>
                  <a:pt x="68" y="106"/>
                </a:lnTo>
                <a:lnTo>
                  <a:pt x="68" y="106"/>
                </a:lnTo>
                <a:close/>
                <a:moveTo>
                  <a:pt x="14" y="106"/>
                </a:moveTo>
                <a:lnTo>
                  <a:pt x="14" y="106"/>
                </a:lnTo>
                <a:lnTo>
                  <a:pt x="10" y="106"/>
                </a:lnTo>
                <a:lnTo>
                  <a:pt x="4" y="110"/>
                </a:lnTo>
                <a:lnTo>
                  <a:pt x="2" y="114"/>
                </a:lnTo>
                <a:lnTo>
                  <a:pt x="0" y="120"/>
                </a:lnTo>
                <a:lnTo>
                  <a:pt x="0" y="120"/>
                </a:lnTo>
                <a:lnTo>
                  <a:pt x="2" y="126"/>
                </a:lnTo>
                <a:lnTo>
                  <a:pt x="4" y="130"/>
                </a:lnTo>
                <a:lnTo>
                  <a:pt x="10" y="134"/>
                </a:lnTo>
                <a:lnTo>
                  <a:pt x="14" y="134"/>
                </a:lnTo>
                <a:lnTo>
                  <a:pt x="14" y="134"/>
                </a:lnTo>
                <a:lnTo>
                  <a:pt x="20" y="134"/>
                </a:lnTo>
                <a:lnTo>
                  <a:pt x="26" y="130"/>
                </a:lnTo>
                <a:lnTo>
                  <a:pt x="28" y="126"/>
                </a:lnTo>
                <a:lnTo>
                  <a:pt x="30" y="120"/>
                </a:lnTo>
                <a:lnTo>
                  <a:pt x="30" y="120"/>
                </a:lnTo>
                <a:lnTo>
                  <a:pt x="28" y="114"/>
                </a:lnTo>
                <a:lnTo>
                  <a:pt x="26" y="110"/>
                </a:lnTo>
                <a:lnTo>
                  <a:pt x="20" y="106"/>
                </a:lnTo>
                <a:lnTo>
                  <a:pt x="14" y="106"/>
                </a:lnTo>
                <a:lnTo>
                  <a:pt x="14" y="106"/>
                </a:lnTo>
                <a:close/>
                <a:moveTo>
                  <a:pt x="14" y="30"/>
                </a:moveTo>
                <a:lnTo>
                  <a:pt x="14" y="30"/>
                </a:lnTo>
                <a:lnTo>
                  <a:pt x="20" y="28"/>
                </a:lnTo>
                <a:lnTo>
                  <a:pt x="26" y="26"/>
                </a:lnTo>
                <a:lnTo>
                  <a:pt x="28" y="20"/>
                </a:lnTo>
                <a:lnTo>
                  <a:pt x="30" y="14"/>
                </a:lnTo>
                <a:lnTo>
                  <a:pt x="30" y="14"/>
                </a:lnTo>
                <a:lnTo>
                  <a:pt x="28" y="10"/>
                </a:lnTo>
                <a:lnTo>
                  <a:pt x="26" y="4"/>
                </a:lnTo>
                <a:lnTo>
                  <a:pt x="20" y="2"/>
                </a:lnTo>
                <a:lnTo>
                  <a:pt x="14" y="0"/>
                </a:lnTo>
                <a:lnTo>
                  <a:pt x="14" y="0"/>
                </a:lnTo>
                <a:lnTo>
                  <a:pt x="10" y="2"/>
                </a:lnTo>
                <a:lnTo>
                  <a:pt x="4" y="4"/>
                </a:lnTo>
                <a:lnTo>
                  <a:pt x="2" y="10"/>
                </a:lnTo>
                <a:lnTo>
                  <a:pt x="0" y="14"/>
                </a:lnTo>
                <a:lnTo>
                  <a:pt x="0" y="14"/>
                </a:lnTo>
                <a:lnTo>
                  <a:pt x="2" y="20"/>
                </a:lnTo>
                <a:lnTo>
                  <a:pt x="4" y="26"/>
                </a:lnTo>
                <a:lnTo>
                  <a:pt x="10" y="28"/>
                </a:lnTo>
                <a:lnTo>
                  <a:pt x="14" y="30"/>
                </a:lnTo>
                <a:lnTo>
                  <a:pt x="14" y="30"/>
                </a:lnTo>
                <a:close/>
                <a:moveTo>
                  <a:pt x="14" y="82"/>
                </a:moveTo>
                <a:lnTo>
                  <a:pt x="14" y="82"/>
                </a:lnTo>
                <a:lnTo>
                  <a:pt x="20" y="82"/>
                </a:lnTo>
                <a:lnTo>
                  <a:pt x="26" y="78"/>
                </a:lnTo>
                <a:lnTo>
                  <a:pt x="28" y="74"/>
                </a:lnTo>
                <a:lnTo>
                  <a:pt x="30" y="68"/>
                </a:lnTo>
                <a:lnTo>
                  <a:pt x="30" y="68"/>
                </a:lnTo>
                <a:lnTo>
                  <a:pt x="28" y="62"/>
                </a:lnTo>
                <a:lnTo>
                  <a:pt x="26" y="58"/>
                </a:lnTo>
                <a:lnTo>
                  <a:pt x="20" y="54"/>
                </a:lnTo>
                <a:lnTo>
                  <a:pt x="14" y="54"/>
                </a:lnTo>
                <a:lnTo>
                  <a:pt x="14" y="54"/>
                </a:lnTo>
                <a:lnTo>
                  <a:pt x="10" y="54"/>
                </a:lnTo>
                <a:lnTo>
                  <a:pt x="4" y="58"/>
                </a:lnTo>
                <a:lnTo>
                  <a:pt x="2" y="62"/>
                </a:lnTo>
                <a:lnTo>
                  <a:pt x="0" y="68"/>
                </a:lnTo>
                <a:lnTo>
                  <a:pt x="0" y="68"/>
                </a:lnTo>
                <a:lnTo>
                  <a:pt x="2" y="74"/>
                </a:lnTo>
                <a:lnTo>
                  <a:pt x="4" y="78"/>
                </a:lnTo>
                <a:lnTo>
                  <a:pt x="10" y="82"/>
                </a:lnTo>
                <a:lnTo>
                  <a:pt x="14" y="82"/>
                </a:lnTo>
                <a:lnTo>
                  <a:pt x="14" y="82"/>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defTabSz="685800">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5" name="Freeform 68"/>
          <p:cNvSpPr>
            <a:spLocks/>
          </p:cNvSpPr>
          <p:nvPr/>
        </p:nvSpPr>
        <p:spPr bwMode="auto">
          <a:xfrm>
            <a:off x="10347447" y="4365328"/>
            <a:ext cx="68853" cy="40502"/>
          </a:xfrm>
          <a:custGeom>
            <a:avLst/>
            <a:gdLst/>
            <a:ahLst/>
            <a:cxnLst>
              <a:cxn ang="0">
                <a:pos x="0" y="78"/>
              </a:cxn>
              <a:cxn ang="0">
                <a:pos x="0" y="78"/>
              </a:cxn>
              <a:cxn ang="0">
                <a:pos x="0" y="80"/>
              </a:cxn>
              <a:cxn ang="0">
                <a:pos x="2" y="80"/>
              </a:cxn>
              <a:cxn ang="0">
                <a:pos x="134" y="80"/>
              </a:cxn>
              <a:cxn ang="0">
                <a:pos x="134" y="80"/>
              </a:cxn>
              <a:cxn ang="0">
                <a:pos x="136" y="80"/>
              </a:cxn>
              <a:cxn ang="0">
                <a:pos x="136" y="78"/>
              </a:cxn>
              <a:cxn ang="0">
                <a:pos x="136" y="2"/>
              </a:cxn>
              <a:cxn ang="0">
                <a:pos x="136" y="2"/>
              </a:cxn>
              <a:cxn ang="0">
                <a:pos x="136" y="0"/>
              </a:cxn>
              <a:cxn ang="0">
                <a:pos x="134" y="0"/>
              </a:cxn>
              <a:cxn ang="0">
                <a:pos x="2" y="0"/>
              </a:cxn>
              <a:cxn ang="0">
                <a:pos x="2" y="0"/>
              </a:cxn>
              <a:cxn ang="0">
                <a:pos x="0" y="0"/>
              </a:cxn>
              <a:cxn ang="0">
                <a:pos x="0" y="2"/>
              </a:cxn>
              <a:cxn ang="0">
                <a:pos x="0" y="78"/>
              </a:cxn>
            </a:cxnLst>
            <a:rect l="0" t="0" r="r" b="b"/>
            <a:pathLst>
              <a:path w="136" h="80">
                <a:moveTo>
                  <a:pt x="0" y="78"/>
                </a:moveTo>
                <a:lnTo>
                  <a:pt x="0" y="78"/>
                </a:lnTo>
                <a:lnTo>
                  <a:pt x="0" y="80"/>
                </a:lnTo>
                <a:lnTo>
                  <a:pt x="2" y="80"/>
                </a:lnTo>
                <a:lnTo>
                  <a:pt x="134" y="80"/>
                </a:lnTo>
                <a:lnTo>
                  <a:pt x="134" y="80"/>
                </a:lnTo>
                <a:lnTo>
                  <a:pt x="136" y="80"/>
                </a:lnTo>
                <a:lnTo>
                  <a:pt x="136" y="78"/>
                </a:lnTo>
                <a:lnTo>
                  <a:pt x="136" y="2"/>
                </a:lnTo>
                <a:lnTo>
                  <a:pt x="136" y="2"/>
                </a:lnTo>
                <a:lnTo>
                  <a:pt x="136" y="0"/>
                </a:lnTo>
                <a:lnTo>
                  <a:pt x="134" y="0"/>
                </a:lnTo>
                <a:lnTo>
                  <a:pt x="2" y="0"/>
                </a:lnTo>
                <a:lnTo>
                  <a:pt x="2" y="0"/>
                </a:lnTo>
                <a:lnTo>
                  <a:pt x="0" y="0"/>
                </a:lnTo>
                <a:lnTo>
                  <a:pt x="0" y="2"/>
                </a:lnTo>
                <a:lnTo>
                  <a:pt x="0" y="78"/>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defTabSz="685800">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6" name="Freeform 69"/>
          <p:cNvSpPr>
            <a:spLocks noEditPoints="1"/>
          </p:cNvSpPr>
          <p:nvPr/>
        </p:nvSpPr>
        <p:spPr bwMode="auto">
          <a:xfrm>
            <a:off x="10335296" y="4356215"/>
            <a:ext cx="93154" cy="90116"/>
          </a:xfrm>
          <a:custGeom>
            <a:avLst/>
            <a:gdLst/>
            <a:ahLst/>
            <a:cxnLst>
              <a:cxn ang="0">
                <a:pos x="168" y="120"/>
              </a:cxn>
              <a:cxn ang="0">
                <a:pos x="172" y="118"/>
              </a:cxn>
              <a:cxn ang="0">
                <a:pos x="180" y="112"/>
              </a:cxn>
              <a:cxn ang="0">
                <a:pos x="180" y="12"/>
              </a:cxn>
              <a:cxn ang="0">
                <a:pos x="180" y="8"/>
              </a:cxn>
              <a:cxn ang="0">
                <a:pos x="172" y="0"/>
              </a:cxn>
              <a:cxn ang="0">
                <a:pos x="18" y="0"/>
              </a:cxn>
              <a:cxn ang="0">
                <a:pos x="12" y="0"/>
              </a:cxn>
              <a:cxn ang="0">
                <a:pos x="6" y="8"/>
              </a:cxn>
              <a:cxn ang="0">
                <a:pos x="4" y="106"/>
              </a:cxn>
              <a:cxn ang="0">
                <a:pos x="6" y="112"/>
              </a:cxn>
              <a:cxn ang="0">
                <a:pos x="12" y="118"/>
              </a:cxn>
              <a:cxn ang="0">
                <a:pos x="18" y="120"/>
              </a:cxn>
              <a:cxn ang="0">
                <a:pos x="16" y="16"/>
              </a:cxn>
              <a:cxn ang="0">
                <a:pos x="22" y="10"/>
              </a:cxn>
              <a:cxn ang="0">
                <a:pos x="162" y="10"/>
              </a:cxn>
              <a:cxn ang="0">
                <a:pos x="168" y="16"/>
              </a:cxn>
              <a:cxn ang="0">
                <a:pos x="168" y="100"/>
              </a:cxn>
              <a:cxn ang="0">
                <a:pos x="162" y="106"/>
              </a:cxn>
              <a:cxn ang="0">
                <a:pos x="22" y="106"/>
              </a:cxn>
              <a:cxn ang="0">
                <a:pos x="16" y="100"/>
              </a:cxn>
              <a:cxn ang="0">
                <a:pos x="160" y="130"/>
              </a:cxn>
              <a:cxn ang="0">
                <a:pos x="24" y="130"/>
              </a:cxn>
              <a:cxn ang="0">
                <a:pos x="8" y="136"/>
              </a:cxn>
              <a:cxn ang="0">
                <a:pos x="0" y="150"/>
              </a:cxn>
              <a:cxn ang="0">
                <a:pos x="0" y="158"/>
              </a:cxn>
              <a:cxn ang="0">
                <a:pos x="8" y="172"/>
              </a:cxn>
              <a:cxn ang="0">
                <a:pos x="24" y="178"/>
              </a:cxn>
              <a:cxn ang="0">
                <a:pos x="160" y="178"/>
              </a:cxn>
              <a:cxn ang="0">
                <a:pos x="178" y="172"/>
              </a:cxn>
              <a:cxn ang="0">
                <a:pos x="184" y="158"/>
              </a:cxn>
              <a:cxn ang="0">
                <a:pos x="184" y="150"/>
              </a:cxn>
              <a:cxn ang="0">
                <a:pos x="178" y="136"/>
              </a:cxn>
              <a:cxn ang="0">
                <a:pos x="160" y="130"/>
              </a:cxn>
              <a:cxn ang="0">
                <a:pos x="156" y="164"/>
              </a:cxn>
              <a:cxn ang="0">
                <a:pos x="152" y="162"/>
              </a:cxn>
              <a:cxn ang="0">
                <a:pos x="146" y="158"/>
              </a:cxn>
              <a:cxn ang="0">
                <a:pos x="146" y="154"/>
              </a:cxn>
              <a:cxn ang="0">
                <a:pos x="148" y="146"/>
              </a:cxn>
              <a:cxn ang="0">
                <a:pos x="156" y="144"/>
              </a:cxn>
              <a:cxn ang="0">
                <a:pos x="158" y="144"/>
              </a:cxn>
              <a:cxn ang="0">
                <a:pos x="164" y="150"/>
              </a:cxn>
              <a:cxn ang="0">
                <a:pos x="164" y="154"/>
              </a:cxn>
              <a:cxn ang="0">
                <a:pos x="162" y="160"/>
              </a:cxn>
              <a:cxn ang="0">
                <a:pos x="156" y="164"/>
              </a:cxn>
            </a:cxnLst>
            <a:rect l="0" t="0" r="r" b="b"/>
            <a:pathLst>
              <a:path w="184" h="178">
                <a:moveTo>
                  <a:pt x="18" y="120"/>
                </a:moveTo>
                <a:lnTo>
                  <a:pt x="168" y="120"/>
                </a:lnTo>
                <a:lnTo>
                  <a:pt x="168" y="120"/>
                </a:lnTo>
                <a:lnTo>
                  <a:pt x="172" y="118"/>
                </a:lnTo>
                <a:lnTo>
                  <a:pt x="176" y="116"/>
                </a:lnTo>
                <a:lnTo>
                  <a:pt x="180" y="112"/>
                </a:lnTo>
                <a:lnTo>
                  <a:pt x="180" y="106"/>
                </a:lnTo>
                <a:lnTo>
                  <a:pt x="180" y="12"/>
                </a:lnTo>
                <a:lnTo>
                  <a:pt x="180" y="12"/>
                </a:lnTo>
                <a:lnTo>
                  <a:pt x="180" y="8"/>
                </a:lnTo>
                <a:lnTo>
                  <a:pt x="176" y="4"/>
                </a:lnTo>
                <a:lnTo>
                  <a:pt x="172" y="0"/>
                </a:lnTo>
                <a:lnTo>
                  <a:pt x="168" y="0"/>
                </a:lnTo>
                <a:lnTo>
                  <a:pt x="18" y="0"/>
                </a:lnTo>
                <a:lnTo>
                  <a:pt x="18" y="0"/>
                </a:lnTo>
                <a:lnTo>
                  <a:pt x="12" y="0"/>
                </a:lnTo>
                <a:lnTo>
                  <a:pt x="8" y="4"/>
                </a:lnTo>
                <a:lnTo>
                  <a:pt x="6" y="8"/>
                </a:lnTo>
                <a:lnTo>
                  <a:pt x="4" y="12"/>
                </a:lnTo>
                <a:lnTo>
                  <a:pt x="4" y="106"/>
                </a:lnTo>
                <a:lnTo>
                  <a:pt x="4" y="106"/>
                </a:lnTo>
                <a:lnTo>
                  <a:pt x="6" y="112"/>
                </a:lnTo>
                <a:lnTo>
                  <a:pt x="8" y="116"/>
                </a:lnTo>
                <a:lnTo>
                  <a:pt x="12" y="118"/>
                </a:lnTo>
                <a:lnTo>
                  <a:pt x="18" y="120"/>
                </a:lnTo>
                <a:lnTo>
                  <a:pt x="18" y="120"/>
                </a:lnTo>
                <a:close/>
                <a:moveTo>
                  <a:pt x="16" y="16"/>
                </a:moveTo>
                <a:lnTo>
                  <a:pt x="16" y="16"/>
                </a:lnTo>
                <a:lnTo>
                  <a:pt x="18" y="12"/>
                </a:lnTo>
                <a:lnTo>
                  <a:pt x="22" y="10"/>
                </a:lnTo>
                <a:lnTo>
                  <a:pt x="162" y="10"/>
                </a:lnTo>
                <a:lnTo>
                  <a:pt x="162" y="10"/>
                </a:lnTo>
                <a:lnTo>
                  <a:pt x="166" y="12"/>
                </a:lnTo>
                <a:lnTo>
                  <a:pt x="168" y="16"/>
                </a:lnTo>
                <a:lnTo>
                  <a:pt x="168" y="100"/>
                </a:lnTo>
                <a:lnTo>
                  <a:pt x="168" y="100"/>
                </a:lnTo>
                <a:lnTo>
                  <a:pt x="166" y="104"/>
                </a:lnTo>
                <a:lnTo>
                  <a:pt x="162" y="106"/>
                </a:lnTo>
                <a:lnTo>
                  <a:pt x="22" y="106"/>
                </a:lnTo>
                <a:lnTo>
                  <a:pt x="22" y="106"/>
                </a:lnTo>
                <a:lnTo>
                  <a:pt x="18" y="104"/>
                </a:lnTo>
                <a:lnTo>
                  <a:pt x="16" y="100"/>
                </a:lnTo>
                <a:lnTo>
                  <a:pt x="16" y="16"/>
                </a:lnTo>
                <a:close/>
                <a:moveTo>
                  <a:pt x="160" y="130"/>
                </a:moveTo>
                <a:lnTo>
                  <a:pt x="24" y="130"/>
                </a:lnTo>
                <a:lnTo>
                  <a:pt x="24" y="130"/>
                </a:lnTo>
                <a:lnTo>
                  <a:pt x="16" y="132"/>
                </a:lnTo>
                <a:lnTo>
                  <a:pt x="8" y="136"/>
                </a:lnTo>
                <a:lnTo>
                  <a:pt x="2" y="142"/>
                </a:lnTo>
                <a:lnTo>
                  <a:pt x="0" y="150"/>
                </a:lnTo>
                <a:lnTo>
                  <a:pt x="0" y="158"/>
                </a:lnTo>
                <a:lnTo>
                  <a:pt x="0" y="158"/>
                </a:lnTo>
                <a:lnTo>
                  <a:pt x="2" y="166"/>
                </a:lnTo>
                <a:lnTo>
                  <a:pt x="8" y="172"/>
                </a:lnTo>
                <a:lnTo>
                  <a:pt x="16" y="176"/>
                </a:lnTo>
                <a:lnTo>
                  <a:pt x="24" y="178"/>
                </a:lnTo>
                <a:lnTo>
                  <a:pt x="160" y="178"/>
                </a:lnTo>
                <a:lnTo>
                  <a:pt x="160" y="178"/>
                </a:lnTo>
                <a:lnTo>
                  <a:pt x="170" y="176"/>
                </a:lnTo>
                <a:lnTo>
                  <a:pt x="178" y="172"/>
                </a:lnTo>
                <a:lnTo>
                  <a:pt x="182" y="166"/>
                </a:lnTo>
                <a:lnTo>
                  <a:pt x="184" y="158"/>
                </a:lnTo>
                <a:lnTo>
                  <a:pt x="184" y="150"/>
                </a:lnTo>
                <a:lnTo>
                  <a:pt x="184" y="150"/>
                </a:lnTo>
                <a:lnTo>
                  <a:pt x="182" y="142"/>
                </a:lnTo>
                <a:lnTo>
                  <a:pt x="178" y="136"/>
                </a:lnTo>
                <a:lnTo>
                  <a:pt x="170" y="132"/>
                </a:lnTo>
                <a:lnTo>
                  <a:pt x="160" y="130"/>
                </a:lnTo>
                <a:lnTo>
                  <a:pt x="160" y="130"/>
                </a:lnTo>
                <a:close/>
                <a:moveTo>
                  <a:pt x="156" y="164"/>
                </a:moveTo>
                <a:lnTo>
                  <a:pt x="156" y="164"/>
                </a:lnTo>
                <a:lnTo>
                  <a:pt x="152" y="162"/>
                </a:lnTo>
                <a:lnTo>
                  <a:pt x="148" y="160"/>
                </a:lnTo>
                <a:lnTo>
                  <a:pt x="146" y="158"/>
                </a:lnTo>
                <a:lnTo>
                  <a:pt x="146" y="154"/>
                </a:lnTo>
                <a:lnTo>
                  <a:pt x="146" y="154"/>
                </a:lnTo>
                <a:lnTo>
                  <a:pt x="146" y="150"/>
                </a:lnTo>
                <a:lnTo>
                  <a:pt x="148" y="146"/>
                </a:lnTo>
                <a:lnTo>
                  <a:pt x="152" y="144"/>
                </a:lnTo>
                <a:lnTo>
                  <a:pt x="156" y="144"/>
                </a:lnTo>
                <a:lnTo>
                  <a:pt x="156" y="144"/>
                </a:lnTo>
                <a:lnTo>
                  <a:pt x="158" y="144"/>
                </a:lnTo>
                <a:lnTo>
                  <a:pt x="162" y="146"/>
                </a:lnTo>
                <a:lnTo>
                  <a:pt x="164" y="150"/>
                </a:lnTo>
                <a:lnTo>
                  <a:pt x="164" y="154"/>
                </a:lnTo>
                <a:lnTo>
                  <a:pt x="164" y="154"/>
                </a:lnTo>
                <a:lnTo>
                  <a:pt x="164" y="158"/>
                </a:lnTo>
                <a:lnTo>
                  <a:pt x="162" y="160"/>
                </a:lnTo>
                <a:lnTo>
                  <a:pt x="158" y="162"/>
                </a:lnTo>
                <a:lnTo>
                  <a:pt x="156" y="164"/>
                </a:lnTo>
                <a:lnTo>
                  <a:pt x="156" y="164"/>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defTabSz="685800">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28" name="直接连接符 92"/>
          <p:cNvCxnSpPr>
            <a:cxnSpLocks noChangeAspect="1"/>
          </p:cNvCxnSpPr>
          <p:nvPr/>
        </p:nvCxnSpPr>
        <p:spPr>
          <a:xfrm>
            <a:off x="3388517" y="4885868"/>
            <a:ext cx="2518360" cy="0"/>
          </a:xfrm>
          <a:prstGeom prst="line">
            <a:avLst/>
          </a:prstGeom>
          <a:noFill/>
          <a:ln w="12700" cap="flat" cmpd="sng" algn="ctr">
            <a:gradFill flip="none" rotWithShape="1">
              <a:gsLst>
                <a:gs pos="33000">
                  <a:srgbClr val="EEECE1">
                    <a:lumMod val="50000"/>
                  </a:srgbClr>
                </a:gs>
                <a:gs pos="100000">
                  <a:sysClr val="window" lastClr="FFFFFF">
                    <a:alpha val="0"/>
                  </a:sysClr>
                </a:gs>
              </a:gsLst>
              <a:path path="circle">
                <a:fillToRect l="50000" t="50000" r="50000" b="50000"/>
              </a:path>
              <a:tileRect/>
            </a:gradFill>
            <a:prstDash val="solid"/>
          </a:ln>
          <a:effectLst/>
        </p:spPr>
      </p:cxnSp>
      <p:sp>
        <p:nvSpPr>
          <p:cNvPr id="129" name="文本框 128"/>
          <p:cNvSpPr txBox="1"/>
          <p:nvPr/>
        </p:nvSpPr>
        <p:spPr>
          <a:xfrm>
            <a:off x="3341030" y="4525828"/>
            <a:ext cx="2613335" cy="369332"/>
          </a:xfrm>
          <a:prstGeom prst="rect">
            <a:avLst/>
          </a:prstGeom>
          <a:noFill/>
        </p:spPr>
        <p:txBody>
          <a:bodyPr wrap="square" rtlCol="0">
            <a:spAutoFit/>
          </a:bodyPr>
          <a:lstStyle>
            <a:defPPr>
              <a:defRPr lang="en-US"/>
            </a:defPPr>
            <a:lvl1pPr algn="ctr" defTabSz="1219444">
              <a:defRPr sz="1600" b="1">
                <a:solidFill>
                  <a:srgbClr val="C00000"/>
                </a:solidFill>
                <a:latin typeface="微软雅黑" panose="020B0503020204020204" pitchFamily="34" charset="-122"/>
                <a:ea typeface="微软雅黑" panose="020B0503020204020204" pitchFamily="34" charset="-122"/>
              </a:defRPr>
            </a:lvl1p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C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高性价比</a:t>
            </a:r>
          </a:p>
        </p:txBody>
      </p:sp>
      <p:sp>
        <p:nvSpPr>
          <p:cNvPr id="130" name="椭圆 129"/>
          <p:cNvSpPr/>
          <p:nvPr/>
        </p:nvSpPr>
        <p:spPr>
          <a:xfrm>
            <a:off x="4474587" y="4186142"/>
            <a:ext cx="346221" cy="346221"/>
          </a:xfrm>
          <a:prstGeom prst="ellipse">
            <a:avLst/>
          </a:prstGeom>
          <a:solidFill>
            <a:srgbClr val="00B0F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a:defRPr/>
            </a:pPr>
            <a:r>
              <a:rPr lang="en-US" altLang="zh-CN"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1" name="文本框 130"/>
          <p:cNvSpPr txBox="1"/>
          <p:nvPr/>
        </p:nvSpPr>
        <p:spPr>
          <a:xfrm>
            <a:off x="3325279" y="4922313"/>
            <a:ext cx="2628096" cy="1200329"/>
          </a:xfrm>
          <a:prstGeom prst="rect">
            <a:avLst/>
          </a:prstGeom>
          <a:noFill/>
        </p:spPr>
        <p:txBody>
          <a:bodyPr wrap="square" rtlCol="0">
            <a:spAutoFit/>
          </a:bodyPr>
          <a:lstStyle>
            <a:defPPr>
              <a:defRPr lang="en-US"/>
            </a:defPPr>
            <a:lvl1pPr marL="171450" indent="-171450" defTabSz="1219444">
              <a:lnSpc>
                <a:spcPct val="120000"/>
              </a:lnSpc>
              <a:buFont typeface="Arial" panose="020B0604020202020204" pitchFamily="34" charset="0"/>
              <a:buChar char="•"/>
              <a:defRPr sz="1100">
                <a:solidFill>
                  <a:prstClr val="black"/>
                </a:solidFill>
                <a:latin typeface="微软雅黑" panose="020B0503020204020204" pitchFamily="34" charset="-122"/>
                <a:ea typeface="微软雅黑" panose="020B0503020204020204" pitchFamily="34" charset="-122"/>
              </a:defRPr>
            </a:lvl1pPr>
          </a:lstStyle>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性能领先业界同类实例</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8%</a:t>
            </a:r>
          </a:p>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支持</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30Gbps</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最大内网带宽</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相比业界通用架构云服务器，高负载场景，计算稳定性更优，性价比更高</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850476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ECS</a:t>
            </a:r>
            <a:r>
              <a:rPr lang="zh-CN" altLang="en-US" dirty="0">
                <a:sym typeface="Huawei Sans" panose="020C0503030203020204" pitchFamily="34" charset="0"/>
              </a:rPr>
              <a:t>购买流程</a:t>
            </a:r>
          </a:p>
        </p:txBody>
      </p:sp>
      <p:grpSp>
        <p:nvGrpSpPr>
          <p:cNvPr id="5" name="组合 29"/>
          <p:cNvGrpSpPr/>
          <p:nvPr/>
        </p:nvGrpSpPr>
        <p:grpSpPr>
          <a:xfrm>
            <a:off x="1811524" y="1736812"/>
            <a:ext cx="2158657" cy="1212316"/>
            <a:chOff x="3492108" y="1275606"/>
            <a:chExt cx="2052000" cy="1116124"/>
          </a:xfrm>
          <a:solidFill>
            <a:srgbClr val="00B0F0"/>
          </a:solidFill>
        </p:grpSpPr>
        <p:sp>
          <p:nvSpPr>
            <p:cNvPr id="6" name="对角圆角矩形 5"/>
            <p:cNvSpPr/>
            <p:nvPr/>
          </p:nvSpPr>
          <p:spPr>
            <a:xfrm>
              <a:off x="3492108" y="1671730"/>
              <a:ext cx="2052000" cy="720000"/>
            </a:xfrm>
            <a:prstGeom prst="round2DiagRect">
              <a:avLst/>
            </a:prstGeom>
            <a:grpFill/>
            <a:ln/>
          </p:spPr>
          <p:style>
            <a:lnRef idx="1">
              <a:schemeClr val="dk1"/>
            </a:lnRef>
            <a:fillRef idx="2">
              <a:schemeClr val="dk1"/>
            </a:fillRef>
            <a:effectRef idx="1">
              <a:schemeClr val="dk1"/>
            </a:effectRef>
            <a:fontRef idx="minor">
              <a:schemeClr val="dk1"/>
            </a:fontRef>
          </p:style>
          <p:txBody>
            <a:bodyPr rtlCol="0" anchor="ctr"/>
            <a:lstStyle/>
            <a:p>
              <a:pPr algn="ctr">
                <a:spcAft>
                  <a:spcPts val="450"/>
                </a:spcAft>
                <a:buClr>
                  <a:schemeClr val="tx2"/>
                </a:buClr>
              </a:pP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配置</a:t>
              </a:r>
              <a:r>
                <a:rPr lang="en-US" altLang="zh-CN"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ECS</a:t>
              </a: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规格</a:t>
              </a:r>
            </a:p>
          </p:txBody>
        </p:sp>
        <p:sp>
          <p:nvSpPr>
            <p:cNvPr id="7" name="TextBox 6"/>
            <p:cNvSpPr txBox="1"/>
            <p:nvPr/>
          </p:nvSpPr>
          <p:spPr>
            <a:xfrm>
              <a:off x="4355976" y="1275606"/>
              <a:ext cx="288000" cy="318762"/>
            </a:xfrm>
            <a:prstGeom prst="ellipse">
              <a:avLst/>
            </a:prstGeom>
            <a:grp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marL="270000" indent="-270000" algn="ctr">
                <a:spcBef>
                  <a:spcPts val="0"/>
                </a:spcBef>
                <a:spcAft>
                  <a:spcPts val="450"/>
                </a:spcAft>
                <a:buClr>
                  <a:schemeClr val="tx2"/>
                </a:buClr>
              </a:pPr>
              <a:r>
                <a:rPr lang="en-US" altLang="zh-CN"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a:t>
              </a:r>
              <a:endParaRPr lang="zh-CN" altLang="en-US"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8" name="组合 28"/>
          <p:cNvGrpSpPr/>
          <p:nvPr/>
        </p:nvGrpSpPr>
        <p:grpSpPr>
          <a:xfrm>
            <a:off x="4007844" y="1775919"/>
            <a:ext cx="2916324" cy="1173209"/>
            <a:chOff x="5616192" y="1275606"/>
            <a:chExt cx="2772232" cy="1080120"/>
          </a:xfrm>
          <a:solidFill>
            <a:srgbClr val="00B0F0"/>
          </a:solidFill>
        </p:grpSpPr>
        <p:cxnSp>
          <p:nvCxnSpPr>
            <p:cNvPr id="9" name="直接箭头连接符 8"/>
            <p:cNvCxnSpPr/>
            <p:nvPr/>
          </p:nvCxnSpPr>
          <p:spPr>
            <a:xfrm>
              <a:off x="5616192" y="1995686"/>
              <a:ext cx="684000" cy="0"/>
            </a:xfrm>
            <a:prstGeom prst="straightConnector1">
              <a:avLst/>
            </a:prstGeom>
            <a:grpFill/>
            <a:ln>
              <a:tailEnd type="triangle"/>
            </a:ln>
          </p:spPr>
          <p:style>
            <a:lnRef idx="1">
              <a:schemeClr val="dk1"/>
            </a:lnRef>
            <a:fillRef idx="2">
              <a:schemeClr val="dk1"/>
            </a:fillRef>
            <a:effectRef idx="1">
              <a:schemeClr val="dk1"/>
            </a:effectRef>
            <a:fontRef idx="minor">
              <a:schemeClr val="dk1"/>
            </a:fontRef>
          </p:style>
        </p:cxnSp>
        <p:grpSp>
          <p:nvGrpSpPr>
            <p:cNvPr id="10" name="组合 31"/>
            <p:cNvGrpSpPr/>
            <p:nvPr/>
          </p:nvGrpSpPr>
          <p:grpSpPr>
            <a:xfrm>
              <a:off x="6336196" y="1275606"/>
              <a:ext cx="2052228" cy="1080120"/>
              <a:chOff x="6336196" y="1275606"/>
              <a:chExt cx="2052228" cy="1080120"/>
            </a:xfrm>
            <a:grpFill/>
          </p:grpSpPr>
          <p:sp>
            <p:nvSpPr>
              <p:cNvPr id="11" name="对角圆角矩形 10"/>
              <p:cNvSpPr/>
              <p:nvPr/>
            </p:nvSpPr>
            <p:spPr>
              <a:xfrm>
                <a:off x="6336196" y="1635726"/>
                <a:ext cx="2052228" cy="720000"/>
              </a:xfrm>
              <a:prstGeom prst="round2DiagRect">
                <a:avLst/>
              </a:prstGeom>
              <a:grpFill/>
              <a:ln/>
            </p:spPr>
            <p:style>
              <a:lnRef idx="1">
                <a:schemeClr val="dk1"/>
              </a:lnRef>
              <a:fillRef idx="2">
                <a:schemeClr val="dk1"/>
              </a:fillRef>
              <a:effectRef idx="1">
                <a:schemeClr val="dk1"/>
              </a:effectRef>
              <a:fontRef idx="minor">
                <a:schemeClr val="dk1"/>
              </a:fontRef>
            </p:style>
            <p:txBody>
              <a:bodyPr rtlCol="0" anchor="ctr"/>
              <a:lstStyle/>
              <a:p>
                <a:pPr algn="ctr">
                  <a:spcAft>
                    <a:spcPts val="450"/>
                  </a:spcAft>
                  <a:buClr>
                    <a:schemeClr val="tx2"/>
                  </a:buClr>
                </a:pP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选择镜像并创建磁盘</a:t>
                </a:r>
              </a:p>
            </p:txBody>
          </p:sp>
          <p:sp>
            <p:nvSpPr>
              <p:cNvPr id="12" name="TextBox 11"/>
              <p:cNvSpPr txBox="1"/>
              <p:nvPr/>
            </p:nvSpPr>
            <p:spPr>
              <a:xfrm>
                <a:off x="7200308" y="1275606"/>
                <a:ext cx="288000" cy="318762"/>
              </a:xfrm>
              <a:prstGeom prst="ellipse">
                <a:avLst/>
              </a:prstGeom>
              <a:grp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marL="270000" indent="-270000" algn="ctr">
                  <a:spcBef>
                    <a:spcPts val="0"/>
                  </a:spcBef>
                  <a:spcAft>
                    <a:spcPts val="450"/>
                  </a:spcAft>
                  <a:buClr>
                    <a:schemeClr val="tx2"/>
                  </a:buClr>
                </a:pPr>
                <a:r>
                  <a:rPr lang="en-US" altLang="zh-CN"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2</a:t>
                </a:r>
                <a:endParaRPr lang="zh-CN" altLang="en-US"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grpSp>
        <p:nvGrpSpPr>
          <p:cNvPr id="13" name="组合 29"/>
          <p:cNvGrpSpPr/>
          <p:nvPr/>
        </p:nvGrpSpPr>
        <p:grpSpPr>
          <a:xfrm>
            <a:off x="7717524" y="3009016"/>
            <a:ext cx="2158896" cy="2262367"/>
            <a:chOff x="6372200" y="2427834"/>
            <a:chExt cx="2052228" cy="2082858"/>
          </a:xfrm>
          <a:solidFill>
            <a:srgbClr val="00B0F0"/>
          </a:solidFill>
        </p:grpSpPr>
        <p:cxnSp>
          <p:nvCxnSpPr>
            <p:cNvPr id="14" name="直接箭头连接符 13"/>
            <p:cNvCxnSpPr/>
            <p:nvPr/>
          </p:nvCxnSpPr>
          <p:spPr>
            <a:xfrm>
              <a:off x="7380312" y="2427834"/>
              <a:ext cx="0" cy="936000"/>
            </a:xfrm>
            <a:prstGeom prst="straightConnector1">
              <a:avLst/>
            </a:prstGeom>
            <a:grpFill/>
            <a:ln>
              <a:tailEnd type="triangle"/>
            </a:ln>
          </p:spPr>
          <p:style>
            <a:lnRef idx="1">
              <a:schemeClr val="dk1"/>
            </a:lnRef>
            <a:fillRef idx="2">
              <a:schemeClr val="dk1"/>
            </a:fillRef>
            <a:effectRef idx="1">
              <a:schemeClr val="dk1"/>
            </a:effectRef>
            <a:fontRef idx="minor">
              <a:schemeClr val="dk1"/>
            </a:fontRef>
          </p:style>
        </p:cxnSp>
        <p:grpSp>
          <p:nvGrpSpPr>
            <p:cNvPr id="15" name="组合 32"/>
            <p:cNvGrpSpPr/>
            <p:nvPr/>
          </p:nvGrpSpPr>
          <p:grpSpPr>
            <a:xfrm>
              <a:off x="6372200" y="3399922"/>
              <a:ext cx="2052228" cy="1110770"/>
              <a:chOff x="6372200" y="3399922"/>
              <a:chExt cx="2052228" cy="1110770"/>
            </a:xfrm>
            <a:grpFill/>
          </p:grpSpPr>
          <p:sp>
            <p:nvSpPr>
              <p:cNvPr id="16" name="对角圆角矩形 6"/>
              <p:cNvSpPr/>
              <p:nvPr/>
            </p:nvSpPr>
            <p:spPr>
              <a:xfrm>
                <a:off x="6372200" y="3399922"/>
                <a:ext cx="2052228" cy="720000"/>
              </a:xfrm>
              <a:prstGeom prst="round2DiagRect">
                <a:avLst/>
              </a:prstGeom>
              <a:grpFill/>
              <a:ln/>
            </p:spPr>
            <p:style>
              <a:lnRef idx="1">
                <a:schemeClr val="dk1"/>
              </a:lnRef>
              <a:fillRef idx="2">
                <a:schemeClr val="dk1"/>
              </a:fillRef>
              <a:effectRef idx="1">
                <a:schemeClr val="dk1"/>
              </a:effectRef>
              <a:fontRef idx="minor">
                <a:schemeClr val="dk1"/>
              </a:fontRef>
            </p:style>
            <p:txBody>
              <a:bodyPr rtlCol="0" anchor="ctr"/>
              <a:lstStyle/>
              <a:p>
                <a:pPr algn="ctr">
                  <a:spcAft>
                    <a:spcPts val="450"/>
                  </a:spcAft>
                  <a:buClr>
                    <a:schemeClr val="tx2"/>
                  </a:buClr>
                </a:pP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选择登录方式</a:t>
                </a:r>
              </a:p>
            </p:txBody>
          </p:sp>
          <p:sp>
            <p:nvSpPr>
              <p:cNvPr id="17" name="TextBox 16"/>
              <p:cNvSpPr txBox="1"/>
              <p:nvPr/>
            </p:nvSpPr>
            <p:spPr>
              <a:xfrm>
                <a:off x="7272332" y="4191930"/>
                <a:ext cx="288000" cy="318762"/>
              </a:xfrm>
              <a:prstGeom prst="ellipse">
                <a:avLst/>
              </a:prstGeom>
              <a:grp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marL="270000" indent="-270000" algn="ctr">
                  <a:spcBef>
                    <a:spcPts val="0"/>
                  </a:spcBef>
                  <a:spcAft>
                    <a:spcPts val="450"/>
                  </a:spcAft>
                  <a:buClr>
                    <a:schemeClr val="tx2"/>
                  </a:buClr>
                </a:pPr>
                <a:r>
                  <a:rPr lang="en-US" altLang="zh-CN"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4</a:t>
                </a:r>
                <a:endParaRPr lang="zh-CN" altLang="en-US"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grpSp>
        <p:nvGrpSpPr>
          <p:cNvPr id="18" name="组合 31"/>
          <p:cNvGrpSpPr/>
          <p:nvPr/>
        </p:nvGrpSpPr>
        <p:grpSpPr>
          <a:xfrm>
            <a:off x="6960096" y="1775919"/>
            <a:ext cx="2916324" cy="1173209"/>
            <a:chOff x="5616192" y="1275606"/>
            <a:chExt cx="2772232" cy="1080120"/>
          </a:xfrm>
          <a:solidFill>
            <a:srgbClr val="00B0F0"/>
          </a:solidFill>
        </p:grpSpPr>
        <p:cxnSp>
          <p:nvCxnSpPr>
            <p:cNvPr id="19" name="直接箭头连接符 18"/>
            <p:cNvCxnSpPr/>
            <p:nvPr/>
          </p:nvCxnSpPr>
          <p:spPr>
            <a:xfrm>
              <a:off x="5616192" y="1995686"/>
              <a:ext cx="684000" cy="0"/>
            </a:xfrm>
            <a:prstGeom prst="straightConnector1">
              <a:avLst/>
            </a:prstGeom>
            <a:grpFill/>
            <a:ln>
              <a:tailEnd type="triangle"/>
            </a:ln>
          </p:spPr>
          <p:style>
            <a:lnRef idx="1">
              <a:schemeClr val="dk1"/>
            </a:lnRef>
            <a:fillRef idx="2">
              <a:schemeClr val="dk1"/>
            </a:fillRef>
            <a:effectRef idx="1">
              <a:schemeClr val="dk1"/>
            </a:effectRef>
            <a:fontRef idx="minor">
              <a:schemeClr val="dk1"/>
            </a:fontRef>
          </p:style>
        </p:cxnSp>
        <p:grpSp>
          <p:nvGrpSpPr>
            <p:cNvPr id="20" name="组合 31"/>
            <p:cNvGrpSpPr/>
            <p:nvPr/>
          </p:nvGrpSpPr>
          <p:grpSpPr>
            <a:xfrm>
              <a:off x="6336196" y="1275606"/>
              <a:ext cx="2052228" cy="1080120"/>
              <a:chOff x="6336196" y="1275606"/>
              <a:chExt cx="2052228" cy="1080120"/>
            </a:xfrm>
            <a:grpFill/>
          </p:grpSpPr>
          <p:sp>
            <p:nvSpPr>
              <p:cNvPr id="21" name="对角圆角矩形 20"/>
              <p:cNvSpPr/>
              <p:nvPr/>
            </p:nvSpPr>
            <p:spPr>
              <a:xfrm>
                <a:off x="6336196" y="1635726"/>
                <a:ext cx="2052228" cy="720000"/>
              </a:xfrm>
              <a:prstGeom prst="round2DiagRect">
                <a:avLst/>
              </a:prstGeom>
              <a:grpFill/>
              <a:ln/>
            </p:spPr>
            <p:style>
              <a:lnRef idx="1">
                <a:schemeClr val="dk1"/>
              </a:lnRef>
              <a:fillRef idx="2">
                <a:schemeClr val="dk1"/>
              </a:fillRef>
              <a:effectRef idx="1">
                <a:schemeClr val="dk1"/>
              </a:effectRef>
              <a:fontRef idx="minor">
                <a:schemeClr val="dk1"/>
              </a:fontRef>
            </p:style>
            <p:txBody>
              <a:bodyPr rtlCol="0" anchor="ctr"/>
              <a:lstStyle/>
              <a:p>
                <a:pPr algn="ctr">
                  <a:spcBef>
                    <a:spcPts val="0"/>
                  </a:spcBef>
                  <a:spcAft>
                    <a:spcPts val="450"/>
                  </a:spcAft>
                  <a:buClr>
                    <a:schemeClr val="tx2"/>
                  </a:buClr>
                </a:pP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配置网络</a:t>
                </a:r>
              </a:p>
            </p:txBody>
          </p:sp>
          <p:sp>
            <p:nvSpPr>
              <p:cNvPr id="22" name="TextBox 21"/>
              <p:cNvSpPr txBox="1"/>
              <p:nvPr/>
            </p:nvSpPr>
            <p:spPr>
              <a:xfrm>
                <a:off x="7200308" y="1275606"/>
                <a:ext cx="288000" cy="318762"/>
              </a:xfrm>
              <a:prstGeom prst="ellipse">
                <a:avLst/>
              </a:prstGeom>
              <a:grp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marL="270000" indent="-270000" algn="ctr">
                  <a:spcBef>
                    <a:spcPts val="0"/>
                  </a:spcBef>
                  <a:spcAft>
                    <a:spcPts val="450"/>
                  </a:spcAft>
                  <a:buClr>
                    <a:schemeClr val="tx2"/>
                  </a:buClr>
                </a:pPr>
                <a:r>
                  <a:rPr lang="en-US" altLang="zh-CN"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3</a:t>
                </a:r>
                <a:endParaRPr lang="zh-CN" altLang="en-US"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grpSp>
        <p:nvGrpSpPr>
          <p:cNvPr id="23" name="组合 22"/>
          <p:cNvGrpSpPr/>
          <p:nvPr/>
        </p:nvGrpSpPr>
        <p:grpSpPr>
          <a:xfrm>
            <a:off x="4763852" y="4064895"/>
            <a:ext cx="2916324" cy="1206587"/>
            <a:chOff x="3491880" y="3363838"/>
            <a:chExt cx="2772232" cy="1110850"/>
          </a:xfrm>
          <a:solidFill>
            <a:srgbClr val="00B0F0"/>
          </a:solidFill>
        </p:grpSpPr>
        <p:sp>
          <p:nvSpPr>
            <p:cNvPr id="24" name="对角圆角矩形 23"/>
            <p:cNvSpPr/>
            <p:nvPr/>
          </p:nvSpPr>
          <p:spPr>
            <a:xfrm>
              <a:off x="3491880" y="3363838"/>
              <a:ext cx="2052228" cy="720000"/>
            </a:xfrm>
            <a:prstGeom prst="round2DiagRect">
              <a:avLst/>
            </a:prstGeom>
            <a:grpFill/>
            <a:ln/>
          </p:spPr>
          <p:style>
            <a:lnRef idx="1">
              <a:schemeClr val="dk1"/>
            </a:lnRef>
            <a:fillRef idx="2">
              <a:schemeClr val="dk1"/>
            </a:fillRef>
            <a:effectRef idx="1">
              <a:schemeClr val="dk1"/>
            </a:effectRef>
            <a:fontRef idx="minor">
              <a:schemeClr val="dk1"/>
            </a:fontRef>
          </p:style>
          <p:txBody>
            <a:bodyPr rtlCol="0" anchor="ctr"/>
            <a:lstStyle/>
            <a:p>
              <a:pPr algn="ctr">
                <a:spcAft>
                  <a:spcPts val="450"/>
                </a:spcAft>
                <a:buClr>
                  <a:schemeClr val="tx2"/>
                </a:buClr>
              </a:pP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确认配置并购买</a:t>
              </a:r>
            </a:p>
          </p:txBody>
        </p:sp>
        <p:sp>
          <p:nvSpPr>
            <p:cNvPr id="25" name="TextBox 24"/>
            <p:cNvSpPr txBox="1"/>
            <p:nvPr/>
          </p:nvSpPr>
          <p:spPr>
            <a:xfrm>
              <a:off x="4391980" y="4155926"/>
              <a:ext cx="288000" cy="318762"/>
            </a:xfrm>
            <a:prstGeom prst="ellipse">
              <a:avLst/>
            </a:prstGeom>
            <a:grp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marL="270000" indent="-270000" algn="ctr">
                <a:spcBef>
                  <a:spcPts val="0"/>
                </a:spcBef>
                <a:spcAft>
                  <a:spcPts val="450"/>
                </a:spcAft>
                <a:buClr>
                  <a:schemeClr val="tx2"/>
                </a:buClr>
              </a:pPr>
              <a:r>
                <a:rPr lang="en-US" altLang="zh-CN"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5</a:t>
              </a:r>
              <a:endParaRPr lang="zh-CN" altLang="en-US" sz="16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26" name="直接箭头连接符 25"/>
            <p:cNvCxnSpPr/>
            <p:nvPr/>
          </p:nvCxnSpPr>
          <p:spPr>
            <a:xfrm flipH="1">
              <a:off x="5580112" y="3723878"/>
              <a:ext cx="684000" cy="0"/>
            </a:xfrm>
            <a:prstGeom prst="straightConnector1">
              <a:avLst/>
            </a:prstGeom>
            <a:grpFill/>
            <a:ln>
              <a:tailEnd type="triangle"/>
            </a:ln>
          </p:spPr>
          <p:style>
            <a:lnRef idx="1">
              <a:schemeClr val="dk1"/>
            </a:lnRef>
            <a:fillRef idx="2">
              <a:schemeClr val="dk1"/>
            </a:fillRef>
            <a:effectRef idx="1">
              <a:schemeClr val="dk1"/>
            </a:effectRef>
            <a:fontRef idx="minor">
              <a:schemeClr val="dk1"/>
            </a:fontRef>
          </p:style>
        </p:cxnSp>
      </p:grpSp>
    </p:spTree>
    <p:extLst>
      <p:ext uri="{BB962C8B-B14F-4D97-AF65-F5344CB8AC3E}">
        <p14:creationId xmlns:p14="http://schemas.microsoft.com/office/powerpoint/2010/main" val="133243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lide(fromLeft)">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slide(fromLeft)">
                                      <p:cBhvr>
                                        <p:cTn id="16" dur="10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slide(fromTop)">
                                      <p:cBhvr>
                                        <p:cTn id="21" dur="10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2"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slide(fromRight)">
                                      <p:cBhvr>
                                        <p:cTn id="2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Step1 </a:t>
            </a:r>
            <a:r>
              <a:rPr lang="zh-CN" altLang="en-US" dirty="0">
                <a:sym typeface="Huawei Sans" panose="020C0503030203020204" pitchFamily="34" charset="0"/>
              </a:rPr>
              <a:t>配置</a:t>
            </a:r>
            <a:r>
              <a:rPr lang="en-US" altLang="zh-CN" dirty="0">
                <a:sym typeface="Huawei Sans" panose="020C0503030203020204" pitchFamily="34" charset="0"/>
              </a:rPr>
              <a:t>ECS</a:t>
            </a:r>
            <a:r>
              <a:rPr lang="zh-CN" altLang="en-US" dirty="0">
                <a:sym typeface="Huawei Sans" panose="020C0503030203020204" pitchFamily="34" charset="0"/>
              </a:rPr>
              <a:t>规格</a:t>
            </a:r>
          </a:p>
        </p:txBody>
      </p:sp>
      <p:sp>
        <p:nvSpPr>
          <p:cNvPr id="4" name="文本占位符 3"/>
          <p:cNvSpPr>
            <a:spLocks noGrp="1"/>
          </p:cNvSpPr>
          <p:nvPr>
            <p:ph type="body" sz="quarter" idx="4294967295"/>
          </p:nvPr>
        </p:nvSpPr>
        <p:spPr>
          <a:xfrm>
            <a:off x="884238" y="1247775"/>
            <a:ext cx="11307762" cy="4679950"/>
          </a:xfrm>
        </p:spPr>
        <p:txBody>
          <a:bodyPr/>
          <a:lstStyle/>
          <a:p>
            <a:r>
              <a:rPr lang="zh-CN" altLang="en-US" dirty="0">
                <a:sym typeface="Huawei Sans" panose="020C0503030203020204" pitchFamily="34" charset="0"/>
              </a:rPr>
              <a:t>选择计费模式</a:t>
            </a:r>
            <a:endParaRPr lang="en-US" altLang="zh-CN" dirty="0">
              <a:sym typeface="Huawei Sans" panose="020C0503030203020204" pitchFamily="34" charset="0"/>
            </a:endParaRPr>
          </a:p>
          <a:p>
            <a:endParaRPr lang="en-US" altLang="zh-CN" dirty="0">
              <a:sym typeface="Huawei Sans" panose="020C0503030203020204" pitchFamily="34" charset="0"/>
            </a:endParaRPr>
          </a:p>
          <a:p>
            <a:r>
              <a:rPr lang="zh-CN" altLang="en-US" dirty="0">
                <a:sym typeface="Huawei Sans" panose="020C0503030203020204" pitchFamily="34" charset="0"/>
              </a:rPr>
              <a:t>选择规格</a:t>
            </a:r>
            <a:endParaRPr lang="en-US" altLang="zh-CN" dirty="0">
              <a:sym typeface="Huawei Sans" panose="020C0503030203020204" pitchFamily="34" charset="0"/>
            </a:endParaRPr>
          </a:p>
        </p:txBody>
      </p:sp>
      <p:pic>
        <p:nvPicPr>
          <p:cNvPr id="2" name="图片 1"/>
          <p:cNvPicPr>
            <a:picLocks noChangeAspect="1"/>
          </p:cNvPicPr>
          <p:nvPr/>
        </p:nvPicPr>
        <p:blipFill>
          <a:blip r:embed="rId3"/>
          <a:stretch>
            <a:fillRect/>
          </a:stretch>
        </p:blipFill>
        <p:spPr>
          <a:xfrm>
            <a:off x="2238375" y="1794048"/>
            <a:ext cx="7715250" cy="676275"/>
          </a:xfrm>
          <a:prstGeom prst="rect">
            <a:avLst/>
          </a:prstGeom>
          <a:ln>
            <a:solidFill>
              <a:schemeClr val="bg1">
                <a:lumMod val="85000"/>
              </a:schemeClr>
            </a:solidFill>
          </a:ln>
        </p:spPr>
      </p:pic>
      <p:pic>
        <p:nvPicPr>
          <p:cNvPr id="6" name="图片 5"/>
          <p:cNvPicPr>
            <a:picLocks noChangeAspect="1"/>
          </p:cNvPicPr>
          <p:nvPr/>
        </p:nvPicPr>
        <p:blipFill>
          <a:blip r:embed="rId4"/>
          <a:stretch>
            <a:fillRect/>
          </a:stretch>
        </p:blipFill>
        <p:spPr>
          <a:xfrm>
            <a:off x="1097279" y="3016596"/>
            <a:ext cx="10248583" cy="2940167"/>
          </a:xfrm>
          <a:prstGeom prst="rect">
            <a:avLst/>
          </a:prstGeom>
          <a:ln>
            <a:solidFill>
              <a:schemeClr val="bg1">
                <a:lumMod val="85000"/>
              </a:schemeClr>
            </a:solidFill>
          </a:ln>
        </p:spPr>
      </p:pic>
    </p:spTree>
    <p:extLst>
      <p:ext uri="{BB962C8B-B14F-4D97-AF65-F5344CB8AC3E}">
        <p14:creationId xmlns:p14="http://schemas.microsoft.com/office/powerpoint/2010/main" val="2877107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Step2 </a:t>
            </a:r>
            <a:r>
              <a:rPr lang="zh-CN" altLang="en-US" dirty="0">
                <a:sym typeface="Huawei Sans" panose="020C0503030203020204" pitchFamily="34" charset="0"/>
              </a:rPr>
              <a:t>选择镜像并创建磁盘</a:t>
            </a:r>
          </a:p>
        </p:txBody>
      </p:sp>
      <p:sp>
        <p:nvSpPr>
          <p:cNvPr id="4" name="文本占位符 3"/>
          <p:cNvSpPr>
            <a:spLocks noGrp="1"/>
          </p:cNvSpPr>
          <p:nvPr>
            <p:ph type="body" sz="quarter" idx="4294967295"/>
          </p:nvPr>
        </p:nvSpPr>
        <p:spPr>
          <a:xfrm>
            <a:off x="884238" y="1247775"/>
            <a:ext cx="11307762" cy="4679950"/>
          </a:xfrm>
        </p:spPr>
        <p:txBody>
          <a:bodyPr/>
          <a:lstStyle/>
          <a:p>
            <a:r>
              <a:rPr lang="zh-CN" altLang="en-US" dirty="0">
                <a:sym typeface="Huawei Sans" panose="020C0503030203020204" pitchFamily="34" charset="0"/>
              </a:rPr>
              <a:t>选择镜像</a:t>
            </a:r>
            <a:endParaRPr lang="en-US" altLang="zh-CN" dirty="0">
              <a:sym typeface="Huawei Sans" panose="020C0503030203020204" pitchFamily="34" charset="0"/>
            </a:endParaRPr>
          </a:p>
          <a:p>
            <a:endParaRPr lang="en-US" altLang="zh-CN" dirty="0">
              <a:sym typeface="Huawei Sans" panose="020C0503030203020204" pitchFamily="34" charset="0"/>
            </a:endParaRPr>
          </a:p>
          <a:p>
            <a:r>
              <a:rPr lang="zh-CN" altLang="en-US" dirty="0">
                <a:sym typeface="Huawei Sans" panose="020C0503030203020204" pitchFamily="34" charset="0"/>
              </a:rPr>
              <a:t>设置磁盘</a:t>
            </a:r>
            <a:endParaRPr lang="en-US" altLang="zh-CN" dirty="0">
              <a:sym typeface="Huawei Sans" panose="020C0503030203020204" pitchFamily="34" charset="0"/>
            </a:endParaRPr>
          </a:p>
        </p:txBody>
      </p:sp>
      <p:pic>
        <p:nvPicPr>
          <p:cNvPr id="5" name="图片 4"/>
          <p:cNvPicPr>
            <a:picLocks noChangeAspect="1"/>
          </p:cNvPicPr>
          <p:nvPr/>
        </p:nvPicPr>
        <p:blipFill>
          <a:blip r:embed="rId3"/>
          <a:stretch>
            <a:fillRect/>
          </a:stretch>
        </p:blipFill>
        <p:spPr>
          <a:xfrm>
            <a:off x="2743200" y="1704749"/>
            <a:ext cx="7585393" cy="964706"/>
          </a:xfrm>
          <a:prstGeom prst="rect">
            <a:avLst/>
          </a:prstGeom>
          <a:ln>
            <a:solidFill>
              <a:schemeClr val="bg1">
                <a:lumMod val="85000"/>
              </a:schemeClr>
            </a:solidFill>
          </a:ln>
        </p:spPr>
      </p:pic>
      <p:pic>
        <p:nvPicPr>
          <p:cNvPr id="6" name="图片 5"/>
          <p:cNvPicPr>
            <a:picLocks noChangeAspect="1"/>
          </p:cNvPicPr>
          <p:nvPr/>
        </p:nvPicPr>
        <p:blipFill>
          <a:blip r:embed="rId4"/>
          <a:stretch>
            <a:fillRect/>
          </a:stretch>
        </p:blipFill>
        <p:spPr>
          <a:xfrm>
            <a:off x="1097279" y="3429000"/>
            <a:ext cx="10201599" cy="2057400"/>
          </a:xfrm>
          <a:prstGeom prst="rect">
            <a:avLst/>
          </a:prstGeom>
          <a:ln>
            <a:solidFill>
              <a:schemeClr val="bg1">
                <a:lumMod val="85000"/>
              </a:schemeClr>
            </a:solidFill>
          </a:ln>
        </p:spPr>
      </p:pic>
    </p:spTree>
    <p:extLst>
      <p:ext uri="{BB962C8B-B14F-4D97-AF65-F5344CB8AC3E}">
        <p14:creationId xmlns:p14="http://schemas.microsoft.com/office/powerpoint/2010/main" val="2189019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Step3 </a:t>
            </a:r>
            <a:r>
              <a:rPr lang="zh-CN" altLang="en-US" dirty="0">
                <a:sym typeface="Huawei Sans" panose="020C0503030203020204" pitchFamily="34" charset="0"/>
              </a:rPr>
              <a:t>配置网络</a:t>
            </a:r>
          </a:p>
        </p:txBody>
      </p:sp>
      <p:pic>
        <p:nvPicPr>
          <p:cNvPr id="2" name="图片 1"/>
          <p:cNvPicPr>
            <a:picLocks noChangeAspect="1"/>
          </p:cNvPicPr>
          <p:nvPr/>
        </p:nvPicPr>
        <p:blipFill>
          <a:blip r:embed="rId3"/>
          <a:stretch>
            <a:fillRect/>
          </a:stretch>
        </p:blipFill>
        <p:spPr>
          <a:xfrm>
            <a:off x="1421130" y="1013143"/>
            <a:ext cx="9349740" cy="5121963"/>
          </a:xfrm>
          <a:prstGeom prst="rect">
            <a:avLst/>
          </a:prstGeom>
          <a:ln>
            <a:solidFill>
              <a:schemeClr val="bg1">
                <a:lumMod val="85000"/>
              </a:schemeClr>
            </a:solidFill>
          </a:ln>
        </p:spPr>
      </p:pic>
    </p:spTree>
    <p:extLst>
      <p:ext uri="{BB962C8B-B14F-4D97-AF65-F5344CB8AC3E}">
        <p14:creationId xmlns:p14="http://schemas.microsoft.com/office/powerpoint/2010/main" val="271793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Step4 </a:t>
            </a:r>
            <a:r>
              <a:rPr lang="zh-CN" altLang="en-US" dirty="0">
                <a:sym typeface="Huawei Sans" panose="020C0503030203020204" pitchFamily="34" charset="0"/>
              </a:rPr>
              <a:t>选择登录方式</a:t>
            </a:r>
          </a:p>
        </p:txBody>
      </p:sp>
      <p:sp>
        <p:nvSpPr>
          <p:cNvPr id="7" name="文本占位符 3"/>
          <p:cNvSpPr>
            <a:spLocks noGrp="1"/>
          </p:cNvSpPr>
          <p:nvPr>
            <p:ph type="body" sz="quarter" idx="10"/>
          </p:nvPr>
        </p:nvSpPr>
        <p:spPr/>
        <p:txBody>
          <a:bodyPr/>
          <a:lstStyle/>
          <a:p>
            <a:r>
              <a:rPr lang="zh-CN" altLang="en-US" dirty="0">
                <a:sym typeface="Huawei Sans" panose="020C0503030203020204" pitchFamily="34" charset="0"/>
              </a:rPr>
              <a:t>密钥对：指使用密钥对作为弹性云服务器的鉴权方式。您可以选择使用已有的密钥，或者单击“查看密钥对”创建新的密钥。</a:t>
            </a:r>
            <a:endParaRPr lang="en-US" altLang="zh-CN" dirty="0">
              <a:sym typeface="Huawei Sans" panose="020C0503030203020204" pitchFamily="34" charset="0"/>
            </a:endParaRPr>
          </a:p>
          <a:p>
            <a:r>
              <a:rPr lang="zh-CN" altLang="en-US" dirty="0">
                <a:sym typeface="Huawei Sans" panose="020C0503030203020204" pitchFamily="34" charset="0"/>
              </a:rPr>
              <a:t>密码：指使用设置初始密码方式作为弹性云服务器的鉴权方式，此时，您可以通过用户名密码方式登录弹性云服务器。（</a:t>
            </a:r>
            <a:r>
              <a:rPr lang="en-US" altLang="zh-CN" dirty="0">
                <a:sym typeface="Huawei Sans" panose="020C0503030203020204" pitchFamily="34" charset="0"/>
              </a:rPr>
              <a:t>Linux</a:t>
            </a:r>
            <a:r>
              <a:rPr lang="zh-CN" altLang="en-US" dirty="0">
                <a:sym typeface="Huawei Sans" panose="020C0503030203020204" pitchFamily="34" charset="0"/>
              </a:rPr>
              <a:t>操作系统时为</a:t>
            </a:r>
            <a:r>
              <a:rPr lang="en-US" altLang="zh-CN" dirty="0">
                <a:solidFill>
                  <a:srgbClr val="C00000"/>
                </a:solidFill>
                <a:sym typeface="Huawei Sans" panose="020C0503030203020204" pitchFamily="34" charset="0"/>
              </a:rPr>
              <a:t>root</a:t>
            </a:r>
            <a:r>
              <a:rPr lang="zh-CN" altLang="en-US" dirty="0">
                <a:sym typeface="Huawei Sans" panose="020C0503030203020204" pitchFamily="34" charset="0"/>
              </a:rPr>
              <a:t>用户的初始密码，</a:t>
            </a:r>
            <a:r>
              <a:rPr lang="en-US" altLang="zh-CN" dirty="0">
                <a:sym typeface="Huawei Sans" panose="020C0503030203020204" pitchFamily="34" charset="0"/>
              </a:rPr>
              <a:t>Windows</a:t>
            </a:r>
            <a:r>
              <a:rPr lang="zh-CN" altLang="en-US" dirty="0">
                <a:sym typeface="Huawei Sans" panose="020C0503030203020204" pitchFamily="34" charset="0"/>
              </a:rPr>
              <a:t>操作系统时为</a:t>
            </a:r>
            <a:r>
              <a:rPr lang="en-US" altLang="zh-CN" dirty="0">
                <a:solidFill>
                  <a:srgbClr val="C00000"/>
                </a:solidFill>
                <a:sym typeface="Huawei Sans" panose="020C0503030203020204" pitchFamily="34" charset="0"/>
              </a:rPr>
              <a:t>Administrator</a:t>
            </a:r>
            <a:r>
              <a:rPr lang="zh-CN" altLang="en-US" dirty="0">
                <a:sym typeface="Huawei Sans" panose="020C0503030203020204" pitchFamily="34" charset="0"/>
              </a:rPr>
              <a:t>用户的初始密码。）</a:t>
            </a:r>
            <a:endParaRPr lang="en-US" altLang="zh-CN" dirty="0">
              <a:sym typeface="Huawei Sans" panose="020C0503030203020204" pitchFamily="34" charset="0"/>
            </a:endParaRPr>
          </a:p>
        </p:txBody>
      </p:sp>
      <p:pic>
        <p:nvPicPr>
          <p:cNvPr id="2" name="图片 1"/>
          <p:cNvPicPr>
            <a:picLocks noChangeAspect="1"/>
          </p:cNvPicPr>
          <p:nvPr/>
        </p:nvPicPr>
        <p:blipFill>
          <a:blip r:embed="rId3"/>
          <a:stretch>
            <a:fillRect/>
          </a:stretch>
        </p:blipFill>
        <p:spPr>
          <a:xfrm>
            <a:off x="2091689" y="3850957"/>
            <a:ext cx="7172325" cy="2309331"/>
          </a:xfrm>
          <a:prstGeom prst="rect">
            <a:avLst/>
          </a:prstGeom>
          <a:ln>
            <a:solidFill>
              <a:schemeClr val="bg1">
                <a:lumMod val="85000"/>
              </a:schemeClr>
            </a:solidFill>
          </a:ln>
        </p:spPr>
      </p:pic>
    </p:spTree>
    <p:extLst>
      <p:ext uri="{BB962C8B-B14F-4D97-AF65-F5344CB8AC3E}">
        <p14:creationId xmlns:p14="http://schemas.microsoft.com/office/powerpoint/2010/main" val="4117342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Step5 </a:t>
            </a:r>
            <a:r>
              <a:rPr lang="zh-CN" altLang="en-US" dirty="0">
                <a:sym typeface="Huawei Sans" panose="020C0503030203020204" pitchFamily="34" charset="0"/>
              </a:rPr>
              <a:t>确认配置并购买</a:t>
            </a:r>
          </a:p>
        </p:txBody>
      </p:sp>
      <p:pic>
        <p:nvPicPr>
          <p:cNvPr id="4" name="图片 3"/>
          <p:cNvPicPr>
            <a:picLocks noChangeAspect="1"/>
          </p:cNvPicPr>
          <p:nvPr/>
        </p:nvPicPr>
        <p:blipFill>
          <a:blip r:embed="rId3"/>
          <a:stretch>
            <a:fillRect/>
          </a:stretch>
        </p:blipFill>
        <p:spPr>
          <a:xfrm>
            <a:off x="1005840" y="1277430"/>
            <a:ext cx="10340340" cy="4740557"/>
          </a:xfrm>
          <a:prstGeom prst="rect">
            <a:avLst/>
          </a:prstGeom>
          <a:ln>
            <a:solidFill>
              <a:schemeClr val="bg1">
                <a:lumMod val="85000"/>
              </a:schemeClr>
            </a:solidFill>
          </a:ln>
        </p:spPr>
      </p:pic>
    </p:spTree>
    <p:extLst>
      <p:ext uri="{BB962C8B-B14F-4D97-AF65-F5344CB8AC3E}">
        <p14:creationId xmlns:p14="http://schemas.microsoft.com/office/powerpoint/2010/main" val="2958453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cs typeface="+mn-ea"/>
                <a:sym typeface="Huawei Sans" panose="020C0503030203020204" pitchFamily="34" charset="0"/>
              </a:rPr>
              <a:t>Java</a:t>
            </a:r>
            <a:r>
              <a:rPr lang="zh-CN" altLang="en-US">
                <a:cs typeface="+mn-ea"/>
                <a:sym typeface="Huawei Sans" panose="020C0503030203020204" pitchFamily="34" charset="0"/>
              </a:rPr>
              <a:t>项目从源码到可执行程序</a:t>
            </a:r>
            <a:endParaRPr lang="en-US" dirty="0">
              <a:cs typeface="+mn-ea"/>
              <a:sym typeface="Huawei Sans" panose="020C0503030203020204" pitchFamily="34" charset="0"/>
            </a:endParaRPr>
          </a:p>
        </p:txBody>
      </p:sp>
      <p:sp>
        <p:nvSpPr>
          <p:cNvPr id="3" name="文本占位符 2"/>
          <p:cNvSpPr>
            <a:spLocks noGrp="1"/>
          </p:cNvSpPr>
          <p:nvPr>
            <p:ph type="body" sz="quarter" idx="10"/>
          </p:nvPr>
        </p:nvSpPr>
        <p:spPr/>
        <p:txBody>
          <a:bodyPr/>
          <a:lstStyle/>
          <a:p>
            <a:r>
              <a:rPr lang="en-US" altLang="zh-CN" sz="2000" dirty="0">
                <a:cs typeface="+mn-ea"/>
                <a:sym typeface="Huawei Sans" panose="020C0503030203020204" pitchFamily="34" charset="0"/>
              </a:rPr>
              <a:t>OA</a:t>
            </a:r>
            <a:r>
              <a:rPr lang="zh-CN" altLang="en-US" sz="2000" dirty="0">
                <a:cs typeface="+mn-ea"/>
                <a:sym typeface="Huawei Sans" panose="020C0503030203020204" pitchFamily="34" charset="0"/>
              </a:rPr>
              <a:t>项目为</a:t>
            </a:r>
            <a:r>
              <a:rPr lang="en-US" altLang="zh-CN" sz="2000" dirty="0">
                <a:cs typeface="+mn-ea"/>
                <a:sym typeface="Huawei Sans" panose="020C0503030203020204" pitchFamily="34" charset="0"/>
              </a:rPr>
              <a:t>Java Web</a:t>
            </a:r>
            <a:r>
              <a:rPr lang="zh-CN" altLang="en-US" sz="2000" dirty="0">
                <a:cs typeface="+mn-ea"/>
                <a:sym typeface="Huawei Sans" panose="020C0503030203020204" pitchFamily="34" charset="0"/>
              </a:rPr>
              <a:t>项目，</a:t>
            </a:r>
            <a:r>
              <a:rPr lang="en-US" altLang="zh-CN" sz="2000" dirty="0">
                <a:cs typeface="+mn-ea"/>
                <a:sym typeface="Huawei Sans" panose="020C0503030203020204" pitchFamily="34" charset="0"/>
              </a:rPr>
              <a:t>Java</a:t>
            </a:r>
            <a:r>
              <a:rPr lang="zh-CN" altLang="en-US" sz="2000" dirty="0">
                <a:cs typeface="+mn-ea"/>
                <a:sym typeface="Huawei Sans" panose="020C0503030203020204" pitchFamily="34" charset="0"/>
              </a:rPr>
              <a:t>属于解释型语言，解释型语言的源代码由编译器生成字节码，然后再由虚拟机解释执行。虚拟机将不同</a:t>
            </a:r>
            <a:r>
              <a:rPr lang="en-US" altLang="zh-CN" sz="2000" dirty="0">
                <a:cs typeface="+mn-ea"/>
                <a:sym typeface="Huawei Sans" panose="020C0503030203020204" pitchFamily="34" charset="0"/>
              </a:rPr>
              <a:t>CPU</a:t>
            </a:r>
            <a:r>
              <a:rPr lang="zh-CN" altLang="en-US" sz="2000" dirty="0">
                <a:cs typeface="+mn-ea"/>
                <a:sym typeface="Huawei Sans" panose="020C0503030203020204" pitchFamily="34" charset="0"/>
              </a:rPr>
              <a:t>指令集的差异屏蔽，因此</a:t>
            </a:r>
            <a:r>
              <a:rPr lang="en-US" altLang="zh-CN" sz="2000" dirty="0">
                <a:cs typeface="+mn-ea"/>
                <a:sym typeface="Huawei Sans" panose="020C0503030203020204" pitchFamily="34" charset="0"/>
              </a:rPr>
              <a:t>Java</a:t>
            </a:r>
            <a:r>
              <a:rPr lang="zh-CN" altLang="en-US" sz="2000" dirty="0">
                <a:cs typeface="+mn-ea"/>
                <a:sym typeface="Huawei Sans" panose="020C0503030203020204" pitchFamily="34" charset="0"/>
              </a:rPr>
              <a:t>项目可以直接运行在</a:t>
            </a:r>
            <a:r>
              <a:rPr lang="en-US" altLang="zh-CN" sz="2000" dirty="0">
                <a:cs typeface="+mn-ea"/>
                <a:sym typeface="Huawei Sans" panose="020C0503030203020204" pitchFamily="34" charset="0"/>
              </a:rPr>
              <a:t>ECS</a:t>
            </a:r>
            <a:r>
              <a:rPr lang="zh-CN" altLang="en-US" sz="2000" dirty="0">
                <a:cs typeface="+mn-ea"/>
                <a:sym typeface="Huawei Sans" panose="020C0503030203020204" pitchFamily="34" charset="0"/>
              </a:rPr>
              <a:t>云主机为底座的平台上</a:t>
            </a:r>
            <a:endParaRPr lang="en-US" sz="2000" dirty="0">
              <a:cs typeface="+mn-ea"/>
              <a:sym typeface="Huawei Sans" panose="020C0503030203020204" pitchFamily="34" charset="0"/>
            </a:endParaRPr>
          </a:p>
        </p:txBody>
      </p:sp>
      <p:grpSp>
        <p:nvGrpSpPr>
          <p:cNvPr id="7" name="组合 6"/>
          <p:cNvGrpSpPr/>
          <p:nvPr/>
        </p:nvGrpSpPr>
        <p:grpSpPr>
          <a:xfrm>
            <a:off x="4475820" y="2708920"/>
            <a:ext cx="4417034" cy="3492388"/>
            <a:chOff x="2488532" y="1919460"/>
            <a:chExt cx="3649508" cy="3197958"/>
          </a:xfrm>
        </p:grpSpPr>
        <p:sp>
          <p:nvSpPr>
            <p:cNvPr id="8" name="文本框 7"/>
            <p:cNvSpPr txBox="1"/>
            <p:nvPr/>
          </p:nvSpPr>
          <p:spPr>
            <a:xfrm>
              <a:off x="2850946" y="4538588"/>
              <a:ext cx="751333" cy="578830"/>
            </a:xfrm>
            <a:prstGeom prst="rect">
              <a:avLst/>
            </a:prstGeom>
            <a:solidFill>
              <a:srgbClr val="FFFFFF">
                <a:lumMod val="75000"/>
              </a:srgbClr>
            </a:solidFill>
            <a:ln w="1905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defPPr>
                <a:defRPr lang="zh-CN"/>
              </a:defPPr>
              <a:lvl1pPr defTabSz="1218956">
                <a:lnSpc>
                  <a:spcPct val="110000"/>
                </a:lnSpc>
                <a:spcBef>
                  <a:spcPts val="600"/>
                </a:spcBef>
                <a:defRPr sz="1400" b="1">
                  <a:solidFill>
                    <a:srgbClr val="000000"/>
                  </a:solidFill>
                  <a:latin typeface="微软雅黑" panose="020B0503020204020204" pitchFamily="34" charset="-122"/>
                  <a:ea typeface="微软雅黑" panose="020B0503020204020204" pitchFamily="34" charset="-122"/>
                  <a:cs typeface="Arial" pitchFamily="34" charset="0"/>
                </a:defRPr>
              </a:lvl1pPr>
            </a:lstStyle>
            <a:p>
              <a:pPr marL="0" marR="0" lvl="0" indent="0" algn="ctr" defTabSz="1218956" eaLnBrk="1" fontAlgn="auto" latinLnBrk="0" hangingPunct="1">
                <a:lnSpc>
                  <a:spcPct val="100000"/>
                </a:lnSpc>
                <a:spcBef>
                  <a:spcPts val="300"/>
                </a:spcBef>
                <a:spcAft>
                  <a:spcPts val="0"/>
                </a:spcAft>
                <a:buClrTx/>
                <a:buSzTx/>
                <a:buFontTx/>
                <a:buNone/>
                <a:tabLst/>
                <a:defRPr/>
              </a:pPr>
              <a:r>
                <a:rPr kumimoji="0" lang="en-US" altLang="zh-CN"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JVM</a:t>
              </a:r>
              <a:endParaRPr kumimoji="0" lang="en-US" altLang="zh-CN"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9" name="直接箭头连接符 35"/>
            <p:cNvCxnSpPr>
              <a:stCxn id="15" idx="2"/>
              <a:endCxn id="10" idx="0"/>
            </p:cNvCxnSpPr>
            <p:nvPr/>
          </p:nvCxnSpPr>
          <p:spPr>
            <a:xfrm>
              <a:off x="3226614" y="3372560"/>
              <a:ext cx="0" cy="295440"/>
            </a:xfrm>
            <a:prstGeom prst="straightConnector1">
              <a:avLst/>
            </a:prstGeom>
            <a:noFill/>
            <a:ln w="28575" cap="flat" cmpd="sng" algn="ctr">
              <a:solidFill>
                <a:srgbClr val="EBEBEB">
                  <a:lumMod val="75000"/>
                </a:srgbClr>
              </a:solidFill>
              <a:prstDash val="solid"/>
              <a:miter lim="800000"/>
              <a:tailEnd type="triangle"/>
            </a:ln>
            <a:effectLst/>
          </p:spPr>
        </p:cxnSp>
        <p:sp>
          <p:nvSpPr>
            <p:cNvPr id="10" name="文本框 9"/>
            <p:cNvSpPr txBox="1"/>
            <p:nvPr/>
          </p:nvSpPr>
          <p:spPr>
            <a:xfrm>
              <a:off x="2488532" y="3668000"/>
              <a:ext cx="1476164" cy="575149"/>
            </a:xfrm>
            <a:prstGeom prst="rect">
              <a:avLst/>
            </a:prstGeom>
            <a:solidFill>
              <a:srgbClr val="00B0F0"/>
            </a:solidFill>
            <a:ln w="1905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defPPr>
                <a:defRPr lang="zh-CN"/>
              </a:defPPr>
              <a:lvl1pPr defTabSz="1218956">
                <a:lnSpc>
                  <a:spcPct val="110000"/>
                </a:lnSpc>
                <a:spcBef>
                  <a:spcPts val="600"/>
                </a:spcBef>
                <a:defRPr sz="1400" b="1">
                  <a:solidFill>
                    <a:srgbClr val="000000"/>
                  </a:solidFill>
                  <a:latin typeface="微软雅黑" panose="020B0503020204020204" pitchFamily="34" charset="-122"/>
                  <a:ea typeface="微软雅黑" panose="020B0503020204020204" pitchFamily="34" charset="-122"/>
                  <a:cs typeface="Arial" pitchFamily="34" charset="0"/>
                </a:defRPr>
              </a:lvl1pPr>
            </a:lstStyle>
            <a:p>
              <a:pPr marL="0" marR="0" lvl="0" indent="0" algn="ctr" defTabSz="1218956" eaLnBrk="1" fontAlgn="auto" latinLnBrk="0" hangingPunct="1">
                <a:lnSpc>
                  <a:spcPct val="100000"/>
                </a:lnSpc>
                <a:spcBef>
                  <a:spcPts val="300"/>
                </a:spcBef>
                <a:spcAft>
                  <a:spcPts val="0"/>
                </a:spcAft>
                <a:buClrTx/>
                <a:buSzTx/>
                <a:buFontTx/>
                <a:buNone/>
                <a:tabLst/>
                <a:defRPr/>
              </a:pPr>
              <a:r>
                <a:rPr kumimoji="0" lang="zh-CN" altLang="en-US"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类文件</a:t>
              </a:r>
              <a:endParaRPr kumimoji="0" lang="en-US" altLang="zh-CN"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ctr" defTabSz="1218956" eaLnBrk="1" fontAlgn="auto" latinLnBrk="0" hangingPunct="1">
                <a:lnSpc>
                  <a:spcPct val="100000"/>
                </a:lnSpc>
                <a:spcBef>
                  <a:spcPts val="300"/>
                </a:spcBef>
                <a:spcAft>
                  <a:spcPts val="0"/>
                </a:spcAft>
                <a:buClrTx/>
                <a:buSzTx/>
                <a:buFontTx/>
                <a:buNone/>
                <a:tabLst/>
                <a:defRPr/>
              </a:pPr>
              <a:r>
                <a:rPr kumimoji="0" lang="zh-CN" altLang="en-US"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（字节码）</a:t>
              </a:r>
              <a:endParaRPr kumimoji="0" lang="en-US" altLang="zh-CN"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文本框 10"/>
            <p:cNvSpPr txBox="1"/>
            <p:nvPr/>
          </p:nvSpPr>
          <p:spPr>
            <a:xfrm>
              <a:off x="4681110" y="3679588"/>
              <a:ext cx="1456930" cy="575149"/>
            </a:xfrm>
            <a:prstGeom prst="rect">
              <a:avLst/>
            </a:prstGeom>
            <a:solidFill>
              <a:srgbClr val="00B0F0"/>
            </a:solidFill>
            <a:ln w="1905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defPPr>
                <a:defRPr lang="zh-CN"/>
              </a:defPPr>
              <a:lvl1pPr defTabSz="1218956">
                <a:lnSpc>
                  <a:spcPct val="110000"/>
                </a:lnSpc>
                <a:spcBef>
                  <a:spcPts val="600"/>
                </a:spcBef>
                <a:defRPr sz="1400" b="1">
                  <a:solidFill>
                    <a:srgbClr val="000000"/>
                  </a:solidFill>
                  <a:latin typeface="微软雅黑" panose="020B0503020204020204" pitchFamily="34" charset="-122"/>
                  <a:ea typeface="微软雅黑" panose="020B0503020204020204" pitchFamily="34" charset="-122"/>
                  <a:cs typeface="Arial" pitchFamily="34" charset="0"/>
                </a:defRPr>
              </a:lvl1pPr>
            </a:lstStyle>
            <a:p>
              <a:pPr marL="0" marR="0" lvl="0" indent="0" algn="ctr" defTabSz="1218956" eaLnBrk="1" fontAlgn="auto" latinLnBrk="0" hangingPunct="1">
                <a:lnSpc>
                  <a:spcPct val="100000"/>
                </a:lnSpc>
                <a:spcBef>
                  <a:spcPts val="300"/>
                </a:spcBef>
                <a:spcAft>
                  <a:spcPts val="0"/>
                </a:spcAft>
                <a:buClrTx/>
                <a:buSzTx/>
                <a:buFontTx/>
                <a:buNone/>
                <a:tabLst/>
                <a:defRPr/>
              </a:pPr>
              <a:r>
                <a:rPr kumimoji="0" lang="en-US" altLang="zh-CN"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Java</a:t>
              </a:r>
              <a:r>
                <a:rPr kumimoji="0" lang="zh-CN" altLang="en-US"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库函数</a:t>
              </a:r>
              <a:endParaRPr kumimoji="0" lang="en-US" altLang="zh-CN"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ctr" defTabSz="1218956" eaLnBrk="1" fontAlgn="auto" latinLnBrk="0" hangingPunct="1">
                <a:lnSpc>
                  <a:spcPct val="100000"/>
                </a:lnSpc>
                <a:spcBef>
                  <a:spcPts val="300"/>
                </a:spcBef>
                <a:spcAft>
                  <a:spcPts val="0"/>
                </a:spcAft>
                <a:buClrTx/>
                <a:buSzTx/>
                <a:buFontTx/>
                <a:buNone/>
                <a:tabLst/>
                <a:defRPr/>
              </a:pPr>
              <a:r>
                <a:rPr kumimoji="0" lang="zh-CN" altLang="en-US"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（机器语言）</a:t>
              </a:r>
              <a:endParaRPr kumimoji="0" lang="en-US" altLang="zh-CN"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2" name="直接箭头连接符 60"/>
            <p:cNvCxnSpPr>
              <a:stCxn id="10" idx="2"/>
              <a:endCxn id="8" idx="0"/>
            </p:cNvCxnSpPr>
            <p:nvPr/>
          </p:nvCxnSpPr>
          <p:spPr>
            <a:xfrm flipH="1">
              <a:off x="3226613" y="4243149"/>
              <a:ext cx="1" cy="295439"/>
            </a:xfrm>
            <a:prstGeom prst="straightConnector1">
              <a:avLst/>
            </a:prstGeom>
            <a:noFill/>
            <a:ln w="28575" cap="flat" cmpd="sng" algn="ctr">
              <a:solidFill>
                <a:srgbClr val="EBEBEB">
                  <a:lumMod val="75000"/>
                </a:srgbClr>
              </a:solidFill>
              <a:prstDash val="solid"/>
              <a:miter lim="800000"/>
              <a:tailEnd type="triangle"/>
            </a:ln>
            <a:effectLst/>
          </p:spPr>
        </p:cxnSp>
        <p:cxnSp>
          <p:nvCxnSpPr>
            <p:cNvPr id="13" name="直接箭头连接符 63"/>
            <p:cNvCxnSpPr>
              <a:stCxn id="11" idx="2"/>
              <a:endCxn id="8" idx="0"/>
            </p:cNvCxnSpPr>
            <p:nvPr/>
          </p:nvCxnSpPr>
          <p:spPr>
            <a:xfrm rot="5400000">
              <a:off x="4176169" y="3305181"/>
              <a:ext cx="283851" cy="2182962"/>
            </a:xfrm>
            <a:prstGeom prst="bentConnector3">
              <a:avLst>
                <a:gd name="adj1" fmla="val 50000"/>
              </a:avLst>
            </a:prstGeom>
            <a:noFill/>
            <a:ln w="28575" cap="flat" cmpd="sng" algn="ctr">
              <a:solidFill>
                <a:srgbClr val="EBEBEB">
                  <a:lumMod val="75000"/>
                </a:srgbClr>
              </a:solidFill>
              <a:prstDash val="solid"/>
              <a:miter lim="800000"/>
              <a:tailEnd type="triangle"/>
            </a:ln>
            <a:effectLst/>
          </p:spPr>
        </p:cxnSp>
        <p:sp>
          <p:nvSpPr>
            <p:cNvPr id="14" name="文本框 13"/>
            <p:cNvSpPr txBox="1"/>
            <p:nvPr/>
          </p:nvSpPr>
          <p:spPr>
            <a:xfrm>
              <a:off x="2488532" y="1919460"/>
              <a:ext cx="1476164" cy="578830"/>
            </a:xfrm>
            <a:prstGeom prst="rect">
              <a:avLst/>
            </a:prstGeom>
            <a:solidFill>
              <a:srgbClr val="00B0F0"/>
            </a:solidFill>
            <a:ln w="1905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defPPr>
                <a:defRPr lang="zh-CN"/>
              </a:defPPr>
              <a:lvl1pPr defTabSz="1218956">
                <a:lnSpc>
                  <a:spcPct val="110000"/>
                </a:lnSpc>
                <a:spcBef>
                  <a:spcPts val="600"/>
                </a:spcBef>
                <a:defRPr sz="1400" b="1">
                  <a:solidFill>
                    <a:srgbClr val="000000"/>
                  </a:solidFill>
                  <a:latin typeface="微软雅黑" panose="020B0503020204020204" pitchFamily="34" charset="-122"/>
                  <a:ea typeface="微软雅黑" panose="020B0503020204020204" pitchFamily="34" charset="-122"/>
                  <a:cs typeface="Arial" pitchFamily="34" charset="0"/>
                </a:defRPr>
              </a:lvl1pPr>
            </a:lstStyle>
            <a:p>
              <a:pPr marL="0" marR="0" lvl="0" indent="0" algn="ctr" defTabSz="1218956" eaLnBrk="1" fontAlgn="auto" latinLnBrk="0" hangingPunct="1">
                <a:lnSpc>
                  <a:spcPct val="100000"/>
                </a:lnSpc>
                <a:spcBef>
                  <a:spcPts val="300"/>
                </a:spcBef>
                <a:spcAft>
                  <a:spcPts val="0"/>
                </a:spcAft>
                <a:buClrTx/>
                <a:buSzTx/>
                <a:buFontTx/>
                <a:buNone/>
                <a:tabLst/>
                <a:defRPr/>
              </a:pPr>
              <a:r>
                <a:rPr kumimoji="0" lang="en-US" altLang="zh-CN"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Java</a:t>
              </a:r>
              <a:r>
                <a:rPr kumimoji="0" lang="zh-CN" altLang="en-US"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语言程序</a:t>
              </a:r>
              <a:endParaRPr kumimoji="0" lang="en-US" altLang="zh-CN"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文本框 14"/>
            <p:cNvSpPr txBox="1"/>
            <p:nvPr/>
          </p:nvSpPr>
          <p:spPr>
            <a:xfrm>
              <a:off x="2850947" y="2793730"/>
              <a:ext cx="751333" cy="578830"/>
            </a:xfrm>
            <a:prstGeom prst="rect">
              <a:avLst/>
            </a:prstGeom>
            <a:solidFill>
              <a:srgbClr val="FFFFFF">
                <a:lumMod val="75000"/>
              </a:srgbClr>
            </a:solidFill>
            <a:ln w="1905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defPPr>
                <a:defRPr lang="zh-CN"/>
              </a:defPPr>
              <a:lvl1pPr defTabSz="1218956">
                <a:lnSpc>
                  <a:spcPct val="110000"/>
                </a:lnSpc>
                <a:spcBef>
                  <a:spcPts val="600"/>
                </a:spcBef>
                <a:defRPr sz="1400" b="1">
                  <a:solidFill>
                    <a:srgbClr val="000000"/>
                  </a:solidFill>
                  <a:latin typeface="微软雅黑" panose="020B0503020204020204" pitchFamily="34" charset="-122"/>
                  <a:ea typeface="微软雅黑" panose="020B0503020204020204" pitchFamily="34" charset="-122"/>
                  <a:cs typeface="Arial" pitchFamily="34" charset="0"/>
                </a:defRPr>
              </a:lvl1pPr>
            </a:lstStyle>
            <a:p>
              <a:pPr marL="0" marR="0" lvl="0" indent="0" algn="ctr" defTabSz="1218956" eaLnBrk="1" fontAlgn="auto" latinLnBrk="0" hangingPunct="1">
                <a:lnSpc>
                  <a:spcPct val="100000"/>
                </a:lnSpc>
                <a:spcBef>
                  <a:spcPts val="300"/>
                </a:spcBef>
                <a:spcAft>
                  <a:spcPts val="0"/>
                </a:spcAft>
                <a:buClrTx/>
                <a:buSzTx/>
                <a:buFontTx/>
                <a:buNone/>
                <a:tabLst/>
                <a:defRPr/>
              </a:pPr>
              <a:r>
                <a:rPr kumimoji="0" lang="zh-CN" altLang="en-US" sz="1600"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编译器</a:t>
              </a:r>
              <a:endParaRPr kumimoji="0" lang="en-US" altLang="zh-CN" b="1"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6" name="直接箭头连接符 15"/>
            <p:cNvCxnSpPr>
              <a:stCxn id="14" idx="2"/>
              <a:endCxn id="15" idx="0"/>
            </p:cNvCxnSpPr>
            <p:nvPr/>
          </p:nvCxnSpPr>
          <p:spPr>
            <a:xfrm>
              <a:off x="3226614" y="2498290"/>
              <a:ext cx="0" cy="295440"/>
            </a:xfrm>
            <a:prstGeom prst="straightConnector1">
              <a:avLst/>
            </a:prstGeom>
            <a:noFill/>
            <a:ln w="28575" cap="flat" cmpd="sng" algn="ctr">
              <a:solidFill>
                <a:srgbClr val="EBEBEB">
                  <a:lumMod val="75000"/>
                </a:srgbClr>
              </a:solidFill>
              <a:prstDash val="solid"/>
              <a:miter lim="800000"/>
              <a:tailEnd type="triangle"/>
            </a:ln>
            <a:effectLst/>
          </p:spPr>
        </p:cxnSp>
      </p:grpSp>
    </p:spTree>
    <p:extLst>
      <p:ext uri="{BB962C8B-B14F-4D97-AF65-F5344CB8AC3E}">
        <p14:creationId xmlns:p14="http://schemas.microsoft.com/office/powerpoint/2010/main" val="2106621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mn-ea"/>
                <a:sym typeface="Huawei Sans" panose="020C0503030203020204" pitchFamily="34" charset="0"/>
              </a:rPr>
              <a:t>Java</a:t>
            </a:r>
            <a:r>
              <a:rPr lang="zh-CN" altLang="en-US" dirty="0">
                <a:cs typeface="+mn-ea"/>
                <a:sym typeface="Huawei Sans" panose="020C0503030203020204" pitchFamily="34" charset="0"/>
              </a:rPr>
              <a:t>项目的编译构建</a:t>
            </a:r>
            <a:endParaRPr lang="en-US" dirty="0">
              <a:cs typeface="+mn-ea"/>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sz="1800" b="1" dirty="0">
                <a:cs typeface="+mn-ea"/>
                <a:sym typeface="Huawei Sans" panose="020C0503030203020204" pitchFamily="34" charset="0"/>
              </a:rPr>
              <a:t>编译构建是指把软件的源代码编译成目标文件，并把配置文件和资源文件等打包的过程</a:t>
            </a:r>
            <a:endParaRPr lang="en-US" altLang="zh-CN" sz="1800" b="1" dirty="0">
              <a:cs typeface="+mn-ea"/>
              <a:sym typeface="Huawei Sans" panose="020C0503030203020204" pitchFamily="34" charset="0"/>
            </a:endParaRPr>
          </a:p>
          <a:p>
            <a:pPr lvl="1"/>
            <a:r>
              <a:rPr lang="zh-CN" altLang="en-US" sz="1600" b="1" dirty="0">
                <a:cs typeface="+mn-ea"/>
                <a:sym typeface="Huawei Sans" panose="020C0503030203020204" pitchFamily="34" charset="0"/>
              </a:rPr>
              <a:t>输入</a:t>
            </a:r>
            <a:r>
              <a:rPr lang="zh-CN" altLang="en-US" sz="1600" dirty="0">
                <a:cs typeface="+mn-ea"/>
                <a:sym typeface="Huawei Sans" panose="020C0503030203020204" pitchFamily="34" charset="0"/>
              </a:rPr>
              <a:t>是源代码文件、库文件、配置文件、资源文件等</a:t>
            </a:r>
            <a:endParaRPr lang="en-US" altLang="zh-CN" sz="1600" dirty="0">
              <a:cs typeface="+mn-ea"/>
              <a:sym typeface="Huawei Sans" panose="020C0503030203020204" pitchFamily="34" charset="0"/>
            </a:endParaRPr>
          </a:p>
          <a:p>
            <a:pPr lvl="1"/>
            <a:r>
              <a:rPr lang="zh-CN" altLang="en-US" sz="1600" b="1" dirty="0">
                <a:cs typeface="+mn-ea"/>
                <a:sym typeface="Huawei Sans" panose="020C0503030203020204" pitchFamily="34" charset="0"/>
              </a:rPr>
              <a:t>输出</a:t>
            </a:r>
            <a:r>
              <a:rPr lang="zh-CN" altLang="en-US" sz="1400" dirty="0">
                <a:cs typeface="+mn-ea"/>
                <a:sym typeface="Huawei Sans" panose="020C0503030203020204" pitchFamily="34" charset="0"/>
              </a:rPr>
              <a:t>是软件包：</a:t>
            </a:r>
            <a:r>
              <a:rPr lang="zh-CN" altLang="en-US" sz="1600" dirty="0">
                <a:cs typeface="+mn-ea"/>
                <a:sym typeface="Huawei Sans" panose="020C0503030203020204" pitchFamily="34" charset="0"/>
              </a:rPr>
              <a:t>一个可以直接部署的软件，或者是一个可以被其它软件使用的</a:t>
            </a:r>
            <a:r>
              <a:rPr lang="en-US" altLang="zh-CN" sz="1600" dirty="0">
                <a:cs typeface="+mn-ea"/>
                <a:sym typeface="Huawei Sans" panose="020C0503030203020204" pitchFamily="34" charset="0"/>
              </a:rPr>
              <a:t>lib</a:t>
            </a:r>
          </a:p>
          <a:p>
            <a:pPr lvl="1"/>
            <a:r>
              <a:rPr lang="zh-CN" altLang="en-US" sz="1600" b="1" dirty="0">
                <a:cs typeface="+mn-ea"/>
                <a:sym typeface="Huawei Sans" panose="020C0503030203020204" pitchFamily="34" charset="0"/>
              </a:rPr>
              <a:t>编译器</a:t>
            </a:r>
            <a:r>
              <a:rPr lang="zh-CN" altLang="en-US" sz="1600" dirty="0">
                <a:cs typeface="+mn-ea"/>
                <a:sym typeface="Huawei Sans" panose="020C0503030203020204" pitchFamily="34" charset="0"/>
              </a:rPr>
              <a:t>完成“编译”过程，编译管理工具完成“构建”过程</a:t>
            </a:r>
            <a:endParaRPr lang="en-US" altLang="zh-CN" sz="1600" dirty="0">
              <a:cs typeface="+mn-ea"/>
              <a:sym typeface="Huawei Sans" panose="020C0503030203020204" pitchFamily="34" charset="0"/>
            </a:endParaRPr>
          </a:p>
          <a:p>
            <a:endParaRPr lang="en-US" sz="1800" dirty="0">
              <a:cs typeface="+mn-ea"/>
              <a:sym typeface="Huawei Sans" panose="020C0503030203020204" pitchFamily="34" charset="0"/>
            </a:endParaRPr>
          </a:p>
        </p:txBody>
      </p:sp>
      <p:grpSp>
        <p:nvGrpSpPr>
          <p:cNvPr id="6" name="组合 5"/>
          <p:cNvGrpSpPr/>
          <p:nvPr/>
        </p:nvGrpSpPr>
        <p:grpSpPr>
          <a:xfrm>
            <a:off x="1550424" y="3204518"/>
            <a:ext cx="9091152" cy="2969914"/>
            <a:chOff x="1080000" y="3420000"/>
            <a:chExt cx="8820000" cy="2970000"/>
          </a:xfrm>
        </p:grpSpPr>
        <p:sp>
          <p:nvSpPr>
            <p:cNvPr id="7" name="矩形 6"/>
            <p:cNvSpPr/>
            <p:nvPr/>
          </p:nvSpPr>
          <p:spPr>
            <a:xfrm>
              <a:off x="1080000" y="3420000"/>
              <a:ext cx="7920000" cy="360000"/>
            </a:xfrm>
            <a:prstGeom prst="rect">
              <a:avLst/>
            </a:prstGeom>
          </p:spPr>
          <p:txBody>
            <a:bodyPr wrap="square" lIns="0" tIns="0" rIns="0" bIns="0" anchor="ctr">
              <a:noAutofit/>
            </a:bodyPr>
            <a:lstStyle/>
            <a:p>
              <a:pPr defTabSz="1137492">
                <a:lnSpc>
                  <a:spcPct val="150000"/>
                </a:lnSpc>
                <a:spcAft>
                  <a:spcPts val="600"/>
                </a:spcAft>
              </a:pPr>
              <a:r>
                <a:rPr kumimoji="1"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下面以一个典型的</a:t>
              </a:r>
              <a:r>
                <a:rPr kumimoji="1"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Java web</a:t>
              </a:r>
              <a:r>
                <a:rPr kumimoji="1"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程序为例，展示其编译构建过程：依赖管理 </a:t>
              </a:r>
              <a:r>
                <a:rPr kumimoji="1"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kumimoji="1"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编译 </a:t>
              </a:r>
              <a:r>
                <a:rPr kumimoji="1"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kumimoji="1"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打包 </a:t>
              </a:r>
              <a:r>
                <a:rPr kumimoji="1"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kumimoji="1"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编译构建</a:t>
              </a:r>
              <a:endParaRPr kumimoji="1"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8" name="组合 7"/>
            <p:cNvGrpSpPr/>
            <p:nvPr/>
          </p:nvGrpSpPr>
          <p:grpSpPr>
            <a:xfrm>
              <a:off x="1620000" y="3959999"/>
              <a:ext cx="8280000" cy="2430001"/>
              <a:chOff x="1500936" y="4107426"/>
              <a:chExt cx="8280000" cy="2430001"/>
            </a:xfrm>
          </p:grpSpPr>
          <p:sp>
            <p:nvSpPr>
              <p:cNvPr id="9" name="矩形 8"/>
              <p:cNvSpPr/>
              <p:nvPr/>
            </p:nvSpPr>
            <p:spPr>
              <a:xfrm>
                <a:off x="2670936" y="4287427"/>
                <a:ext cx="72008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a.java</a:t>
                </a:r>
              </a:p>
            </p:txBody>
          </p:sp>
          <p:sp>
            <p:nvSpPr>
              <p:cNvPr id="10" name="矩形 9"/>
              <p:cNvSpPr/>
              <p:nvPr/>
            </p:nvSpPr>
            <p:spPr>
              <a:xfrm>
                <a:off x="2670936" y="4737427"/>
                <a:ext cx="72008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b.java</a:t>
                </a:r>
              </a:p>
            </p:txBody>
          </p:sp>
          <p:sp>
            <p:nvSpPr>
              <p:cNvPr id="11" name="矩形 10"/>
              <p:cNvSpPr/>
              <p:nvPr/>
            </p:nvSpPr>
            <p:spPr>
              <a:xfrm>
                <a:off x="2670936" y="5187427"/>
                <a:ext cx="72008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12" name="矩形 11"/>
              <p:cNvSpPr/>
              <p:nvPr/>
            </p:nvSpPr>
            <p:spPr>
              <a:xfrm>
                <a:off x="4830936" y="4287427"/>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a.class</a:t>
                </a:r>
                <a:endPar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矩形 12"/>
              <p:cNvSpPr/>
              <p:nvPr/>
            </p:nvSpPr>
            <p:spPr>
              <a:xfrm>
                <a:off x="4830936" y="4737427"/>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b.class</a:t>
                </a:r>
                <a:endPar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矩形 13"/>
              <p:cNvSpPr/>
              <p:nvPr/>
            </p:nvSpPr>
            <p:spPr>
              <a:xfrm>
                <a:off x="4830936" y="5187427"/>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*.class</a:t>
                </a:r>
              </a:p>
            </p:txBody>
          </p:sp>
          <p:sp>
            <p:nvSpPr>
              <p:cNvPr id="15" name="矩形 14"/>
              <p:cNvSpPr/>
              <p:nvPr/>
            </p:nvSpPr>
            <p:spPr>
              <a:xfrm>
                <a:off x="3853692" y="5727427"/>
                <a:ext cx="1607245"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config.property</a:t>
                </a:r>
                <a:endPar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a:xfrm>
                <a:off x="3853692" y="6177427"/>
                <a:ext cx="1607245"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m.css</a:t>
                </a:r>
              </a:p>
            </p:txBody>
          </p:sp>
          <p:cxnSp>
            <p:nvCxnSpPr>
              <p:cNvPr id="17" name="直接箭头连接符 16"/>
              <p:cNvCxnSpPr>
                <a:endCxn id="12" idx="1"/>
              </p:cNvCxnSpPr>
              <p:nvPr/>
            </p:nvCxnSpPr>
            <p:spPr>
              <a:xfrm>
                <a:off x="3391016" y="4467427"/>
                <a:ext cx="1439920" cy="0"/>
              </a:xfrm>
              <a:prstGeom prst="straightConnector1">
                <a:avLst/>
              </a:prstGeom>
              <a:ln w="158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0" idx="3"/>
                <a:endCxn id="13" idx="1"/>
              </p:cNvCxnSpPr>
              <p:nvPr/>
            </p:nvCxnSpPr>
            <p:spPr>
              <a:xfrm>
                <a:off x="3391016" y="4917427"/>
                <a:ext cx="1439920" cy="0"/>
              </a:xfrm>
              <a:prstGeom prst="straightConnector1">
                <a:avLst/>
              </a:prstGeom>
              <a:ln w="158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1" idx="3"/>
                <a:endCxn id="14" idx="1"/>
              </p:cNvCxnSpPr>
              <p:nvPr/>
            </p:nvCxnSpPr>
            <p:spPr>
              <a:xfrm>
                <a:off x="3391016" y="5367427"/>
                <a:ext cx="1439920" cy="0"/>
              </a:xfrm>
              <a:prstGeom prst="straightConnector1">
                <a:avLst/>
              </a:prstGeom>
              <a:ln w="158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8340936" y="5007427"/>
                <a:ext cx="144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software.war</a:t>
                </a:r>
                <a:endPar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1" name="直接箭头连接符 20"/>
              <p:cNvCxnSpPr>
                <a:stCxn id="12" idx="3"/>
                <a:endCxn id="20" idx="1"/>
              </p:cNvCxnSpPr>
              <p:nvPr/>
            </p:nvCxnSpPr>
            <p:spPr>
              <a:xfrm>
                <a:off x="5730936" y="4467427"/>
                <a:ext cx="2610000" cy="720000"/>
              </a:xfrm>
              <a:prstGeom prst="straightConnector1">
                <a:avLst/>
              </a:prstGeom>
              <a:ln w="158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3" idx="3"/>
                <a:endCxn id="20" idx="1"/>
              </p:cNvCxnSpPr>
              <p:nvPr/>
            </p:nvCxnSpPr>
            <p:spPr>
              <a:xfrm>
                <a:off x="5730936" y="4917427"/>
                <a:ext cx="2610000" cy="270000"/>
              </a:xfrm>
              <a:prstGeom prst="straightConnector1">
                <a:avLst/>
              </a:prstGeom>
              <a:ln w="158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4" idx="3"/>
                <a:endCxn id="20" idx="1"/>
              </p:cNvCxnSpPr>
              <p:nvPr/>
            </p:nvCxnSpPr>
            <p:spPr>
              <a:xfrm flipV="1">
                <a:off x="5730936" y="5187427"/>
                <a:ext cx="2610000" cy="180000"/>
              </a:xfrm>
              <a:prstGeom prst="straightConnector1">
                <a:avLst/>
              </a:prstGeom>
              <a:ln w="158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5" idx="3"/>
                <a:endCxn id="20" idx="1"/>
              </p:cNvCxnSpPr>
              <p:nvPr/>
            </p:nvCxnSpPr>
            <p:spPr>
              <a:xfrm flipV="1">
                <a:off x="5460937" y="5187427"/>
                <a:ext cx="2879999" cy="720000"/>
              </a:xfrm>
              <a:prstGeom prst="straightConnector1">
                <a:avLst/>
              </a:prstGeom>
              <a:ln w="158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6" idx="3"/>
                <a:endCxn id="20" idx="1"/>
              </p:cNvCxnSpPr>
              <p:nvPr/>
            </p:nvCxnSpPr>
            <p:spPr>
              <a:xfrm flipV="1">
                <a:off x="5460937" y="5187427"/>
                <a:ext cx="2879999" cy="1170000"/>
              </a:xfrm>
              <a:prstGeom prst="straightConnector1">
                <a:avLst/>
              </a:prstGeom>
              <a:ln w="158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400936" y="4107426"/>
                <a:ext cx="3600000" cy="153000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编译（</a:t>
                </a:r>
                <a:r>
                  <a:rPr lang="en-US" altLang="zh-CN" sz="1200" b="1"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javac</a:t>
                </a:r>
                <a:r>
                  <a:rPr lang="zh-CN" altLang="en-US" sz="12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sz="12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p:cNvSpPr/>
              <p:nvPr/>
            </p:nvSpPr>
            <p:spPr>
              <a:xfrm>
                <a:off x="7477361" y="4573157"/>
                <a:ext cx="360000" cy="180000"/>
              </a:xfrm>
              <a:prstGeom prst="rect">
                <a:avLst/>
              </a:prstGeom>
              <a:noFill/>
              <a:ln w="9525">
                <a:noFill/>
                <a:miter lim="800000"/>
                <a:headEnd/>
                <a:tailEnd/>
              </a:ln>
            </p:spPr>
            <p:txBody>
              <a:bodyPr vert="horz" wrap="none" lIns="0" tIns="0" rIns="0" bIns="0" numCol="1" anchor="ctr" anchorCtr="0" compatLnSpc="1">
                <a:prstTxWarp prst="textNoShape">
                  <a:avLst/>
                </a:prstTxWarp>
                <a:noAutofit/>
              </a:bodyPr>
              <a:lstStyle/>
              <a:p>
                <a:pPr algn="ctr"/>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打包</a:t>
                </a:r>
              </a:p>
            </p:txBody>
          </p:sp>
          <p:sp>
            <p:nvSpPr>
              <p:cNvPr id="28" name="矩形 27"/>
              <p:cNvSpPr/>
              <p:nvPr/>
            </p:nvSpPr>
            <p:spPr>
              <a:xfrm>
                <a:off x="1500936" y="4187917"/>
                <a:ext cx="360000" cy="12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依赖库</a:t>
                </a:r>
                <a:endParaRPr 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左右箭头 28"/>
              <p:cNvSpPr/>
              <p:nvPr/>
            </p:nvSpPr>
            <p:spPr>
              <a:xfrm>
                <a:off x="1860936" y="4647426"/>
                <a:ext cx="540000" cy="180000"/>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40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矩形 29"/>
              <p:cNvSpPr/>
              <p:nvPr/>
            </p:nvSpPr>
            <p:spPr>
              <a:xfrm>
                <a:off x="1932936" y="4827427"/>
                <a:ext cx="396000" cy="360000"/>
              </a:xfrm>
              <a:prstGeom prst="rect">
                <a:avLst/>
              </a:prstGeom>
              <a:noFill/>
              <a:ln w="9525">
                <a:noFill/>
                <a:miter lim="800000"/>
                <a:headEnd/>
                <a:tailEnd/>
              </a:ln>
            </p:spPr>
            <p:txBody>
              <a:bodyPr vert="horz" wrap="square" lIns="0" tIns="0" rIns="0" bIns="0" numCol="1" anchor="ctr" anchorCtr="0" compatLnSpc="1">
                <a:prstTxWarp prst="textNoShape">
                  <a:avLst/>
                </a:prstTxWarp>
                <a:noAutofit/>
              </a:bodyPr>
              <a:lstStyle/>
              <a:p>
                <a:pPr algn="ctr"/>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依赖管理</a:t>
                </a:r>
              </a:p>
            </p:txBody>
          </p:sp>
        </p:grpSp>
      </p:grpSp>
    </p:spTree>
    <p:extLst>
      <p:ext uri="{BB962C8B-B14F-4D97-AF65-F5344CB8AC3E}">
        <p14:creationId xmlns:p14="http://schemas.microsoft.com/office/powerpoint/2010/main" val="3110528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cs typeface="+mn-ea"/>
                <a:sym typeface="Huawei Sans" panose="020C0503030203020204" pitchFamily="34" charset="0"/>
              </a:rPr>
              <a:t>Java</a:t>
            </a:r>
            <a:r>
              <a:rPr lang="zh-CN" altLang="en-US">
                <a:cs typeface="+mn-ea"/>
                <a:sym typeface="Huawei Sans" panose="020C0503030203020204" pitchFamily="34" charset="0"/>
              </a:rPr>
              <a:t>构建工具</a:t>
            </a:r>
            <a:endParaRPr lang="en-US" dirty="0">
              <a:cs typeface="+mn-ea"/>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dirty="0">
                <a:cs typeface="+mn-ea"/>
                <a:sym typeface="Huawei Sans" panose="020C0503030203020204" pitchFamily="34" charset="0"/>
              </a:rPr>
              <a:t>在</a:t>
            </a:r>
            <a:r>
              <a:rPr lang="en-US" altLang="zh-CN" dirty="0">
                <a:cs typeface="+mn-ea"/>
                <a:sym typeface="Huawei Sans" panose="020C0503030203020204" pitchFamily="34" charset="0"/>
              </a:rPr>
              <a:t>Java</a:t>
            </a:r>
            <a:r>
              <a:rPr lang="zh-CN" altLang="en-US" dirty="0">
                <a:cs typeface="+mn-ea"/>
                <a:sym typeface="Huawei Sans" panose="020C0503030203020204" pitchFamily="34" charset="0"/>
              </a:rPr>
              <a:t>开发工具圈中，目前最主流的有以下三个开发工具，依赖管理已经成为了项目构建自动化工具中的一个主要部分</a:t>
            </a:r>
            <a:endParaRPr lang="en-US" altLang="zh-CN" dirty="0">
              <a:cs typeface="+mn-ea"/>
              <a:sym typeface="Huawei Sans" panose="020C0503030203020204" pitchFamily="34" charset="0"/>
            </a:endParaRPr>
          </a:p>
          <a:p>
            <a:endParaRPr lang="en-US" dirty="0">
              <a:cs typeface="+mn-ea"/>
              <a:sym typeface="Huawei Sans" panose="020C0503030203020204" pitchFamily="34" charset="0"/>
            </a:endParaRPr>
          </a:p>
        </p:txBody>
      </p:sp>
      <p:grpSp>
        <p:nvGrpSpPr>
          <p:cNvPr id="4" name="组合 3"/>
          <p:cNvGrpSpPr/>
          <p:nvPr/>
        </p:nvGrpSpPr>
        <p:grpSpPr>
          <a:xfrm>
            <a:off x="1008063" y="2471509"/>
            <a:ext cx="5025276" cy="3528914"/>
            <a:chOff x="550863" y="1988839"/>
            <a:chExt cx="6049193" cy="4319885"/>
          </a:xfrm>
        </p:grpSpPr>
        <p:sp>
          <p:nvSpPr>
            <p:cNvPr id="5" name="矩形 4"/>
            <p:cNvSpPr/>
            <p:nvPr/>
          </p:nvSpPr>
          <p:spPr bwMode="auto">
            <a:xfrm>
              <a:off x="550863" y="1988839"/>
              <a:ext cx="6049193" cy="4319885"/>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6" name="组合 5"/>
            <p:cNvGrpSpPr/>
            <p:nvPr/>
          </p:nvGrpSpPr>
          <p:grpSpPr>
            <a:xfrm>
              <a:off x="550863" y="4720008"/>
              <a:ext cx="0" cy="1553308"/>
              <a:chOff x="550863" y="4720008"/>
              <a:chExt cx="0" cy="1553308"/>
            </a:xfrm>
          </p:grpSpPr>
          <p:cxnSp>
            <p:nvCxnSpPr>
              <p:cNvPr id="7" name="直接连接符 6"/>
              <p:cNvCxnSpPr/>
              <p:nvPr/>
            </p:nvCxnSpPr>
            <p:spPr bwMode="auto">
              <a:xfrm>
                <a:off x="550863" y="4720008"/>
                <a:ext cx="0" cy="1187167"/>
              </a:xfrm>
              <a:prstGeom prst="line">
                <a:avLst/>
              </a:prstGeom>
              <a:solidFill>
                <a:schemeClr val="accent1"/>
              </a:solidFill>
              <a:ln w="25400" cap="rnd" cmpd="sng" algn="ctr">
                <a:solidFill>
                  <a:schemeClr val="bg1">
                    <a:lumMod val="50000"/>
                  </a:schemeClr>
                </a:solidFill>
                <a:prstDash val="solid"/>
                <a:round/>
                <a:headEnd type="none" w="med" len="med"/>
                <a:tailEnd type="none" w="med" len="med"/>
              </a:ln>
              <a:effectLst/>
            </p:spPr>
          </p:cxnSp>
          <p:cxnSp>
            <p:nvCxnSpPr>
              <p:cNvPr id="8" name="直接连接符 7"/>
              <p:cNvCxnSpPr/>
              <p:nvPr/>
            </p:nvCxnSpPr>
            <p:spPr bwMode="auto">
              <a:xfrm>
                <a:off x="550863" y="5998948"/>
                <a:ext cx="0" cy="274368"/>
              </a:xfrm>
              <a:prstGeom prst="line">
                <a:avLst/>
              </a:prstGeom>
              <a:solidFill>
                <a:schemeClr val="accent1"/>
              </a:solidFill>
              <a:ln w="25400" cap="rnd" cmpd="sng" algn="ctr">
                <a:solidFill>
                  <a:srgbClr val="C7000B"/>
                </a:solidFill>
                <a:prstDash val="solid"/>
                <a:round/>
                <a:headEnd type="none" w="med" len="med"/>
                <a:tailEnd type="none" w="med" len="med"/>
              </a:ln>
              <a:effectLst/>
            </p:spPr>
          </p:cxnSp>
        </p:grpSp>
      </p:gr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0229" y="2925738"/>
            <a:ext cx="3527530" cy="2846906"/>
          </a:xfrm>
          <a:prstGeom prst="rect">
            <a:avLst/>
          </a:prstGeom>
        </p:spPr>
      </p:pic>
      <p:sp>
        <p:nvSpPr>
          <p:cNvPr id="10" name="Shape 994"/>
          <p:cNvSpPr>
            <a:spLocks/>
          </p:cNvSpPr>
          <p:nvPr/>
        </p:nvSpPr>
        <p:spPr bwMode="auto">
          <a:xfrm>
            <a:off x="6303738" y="2561883"/>
            <a:ext cx="971369" cy="97251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1600" y="18659"/>
                </a:moveTo>
                <a:cubicBezTo>
                  <a:pt x="21600" y="20283"/>
                  <a:pt x="20283" y="21600"/>
                  <a:pt x="18659" y="21600"/>
                </a:cubicBezTo>
                <a:cubicBezTo>
                  <a:pt x="2941" y="21600"/>
                  <a:pt x="2941" y="21600"/>
                  <a:pt x="2941" y="21600"/>
                </a:cubicBezTo>
                <a:cubicBezTo>
                  <a:pt x="1317" y="21600"/>
                  <a:pt x="0" y="20283"/>
                  <a:pt x="0" y="18659"/>
                </a:cubicBezTo>
                <a:cubicBezTo>
                  <a:pt x="0" y="2898"/>
                  <a:pt x="0" y="2898"/>
                  <a:pt x="0" y="2898"/>
                </a:cubicBezTo>
                <a:cubicBezTo>
                  <a:pt x="0" y="1317"/>
                  <a:pt x="1317" y="0"/>
                  <a:pt x="2941" y="0"/>
                </a:cubicBezTo>
                <a:cubicBezTo>
                  <a:pt x="18659" y="0"/>
                  <a:pt x="18659" y="0"/>
                  <a:pt x="18659" y="0"/>
                </a:cubicBezTo>
                <a:cubicBezTo>
                  <a:pt x="20283" y="0"/>
                  <a:pt x="21600" y="1317"/>
                  <a:pt x="21600" y="2898"/>
                </a:cubicBezTo>
                <a:lnTo>
                  <a:pt x="21600" y="18659"/>
                </a:lnTo>
                <a:close/>
              </a:path>
            </a:pathLst>
          </a:custGeom>
          <a:solidFill>
            <a:schemeClr val="bg1">
              <a:lumMod val="65000"/>
            </a:schemeClr>
          </a:solidFill>
          <a:ln w="9525">
            <a:noFill/>
            <a:headEnd type="none" w="med" len="med"/>
            <a:tailEnd type="none" w="med" len="med"/>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lIns="0" tIns="0" rIns="0" bIns="0" anchor="ctr" anchorCtr="1"/>
          <a:lstStyle/>
          <a:p>
            <a:pPr algn="ctr" defTabSz="914355"/>
            <a:endParaRPr lang="zh-CN" altLang="en-US" sz="1100" b="1" spc="50">
              <a:solidFill>
                <a:srgbClr val="FFC000"/>
              </a:solidFill>
              <a:effectLst>
                <a:outerShdw blurRad="25400" dir="2700000" algn="tl">
                  <a:srgbClr val="000000">
                    <a:alpha val="30000"/>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1" name="Group 999"/>
          <p:cNvGrpSpPr>
            <a:grpSpLocks/>
          </p:cNvGrpSpPr>
          <p:nvPr/>
        </p:nvGrpSpPr>
        <p:grpSpPr bwMode="auto">
          <a:xfrm>
            <a:off x="6218471" y="2476096"/>
            <a:ext cx="1141904" cy="1144084"/>
            <a:chOff x="0" y="0"/>
            <a:chExt cx="844508" cy="845123"/>
          </a:xfrm>
        </p:grpSpPr>
        <p:sp>
          <p:nvSpPr>
            <p:cNvPr id="12" name="Shape 995"/>
            <p:cNvSpPr>
              <a:spLocks/>
            </p:cNvSpPr>
            <p:nvPr/>
          </p:nvSpPr>
          <p:spPr bwMode="auto">
            <a:xfrm>
              <a:off x="0" y="0"/>
              <a:ext cx="127357"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993" y="21600"/>
                  </a:moveTo>
                  <a:cubicBezTo>
                    <a:pt x="497" y="21600"/>
                    <a:pt x="0" y="21103"/>
                    <a:pt x="0" y="20607"/>
                  </a:cubicBezTo>
                  <a:cubicBezTo>
                    <a:pt x="0" y="9186"/>
                    <a:pt x="9434" y="0"/>
                    <a:pt x="20607" y="0"/>
                  </a:cubicBezTo>
                  <a:cubicBezTo>
                    <a:pt x="21352" y="0"/>
                    <a:pt x="21600" y="497"/>
                    <a:pt x="21600" y="993"/>
                  </a:cubicBezTo>
                  <a:cubicBezTo>
                    <a:pt x="21600" y="1490"/>
                    <a:pt x="21352" y="1986"/>
                    <a:pt x="20607" y="1986"/>
                  </a:cubicBezTo>
                  <a:cubicBezTo>
                    <a:pt x="10428" y="1986"/>
                    <a:pt x="1986" y="10428"/>
                    <a:pt x="1986" y="20607"/>
                  </a:cubicBezTo>
                  <a:cubicBezTo>
                    <a:pt x="1986" y="21103"/>
                    <a:pt x="1738" y="21600"/>
                    <a:pt x="993"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Shape 996"/>
            <p:cNvSpPr>
              <a:spLocks/>
            </p:cNvSpPr>
            <p:nvPr/>
          </p:nvSpPr>
          <p:spPr bwMode="auto">
            <a:xfrm>
              <a:off x="717151" y="0"/>
              <a:ext cx="127358"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0607" y="21600"/>
                  </a:moveTo>
                  <a:cubicBezTo>
                    <a:pt x="20110" y="21600"/>
                    <a:pt x="19614" y="21103"/>
                    <a:pt x="19614" y="20607"/>
                  </a:cubicBezTo>
                  <a:cubicBezTo>
                    <a:pt x="19614" y="10428"/>
                    <a:pt x="11172" y="1986"/>
                    <a:pt x="993" y="1986"/>
                  </a:cubicBezTo>
                  <a:cubicBezTo>
                    <a:pt x="497" y="1986"/>
                    <a:pt x="0" y="1490"/>
                    <a:pt x="0" y="993"/>
                  </a:cubicBezTo>
                  <a:cubicBezTo>
                    <a:pt x="0" y="497"/>
                    <a:pt x="497" y="0"/>
                    <a:pt x="993" y="0"/>
                  </a:cubicBezTo>
                  <a:cubicBezTo>
                    <a:pt x="12414" y="0"/>
                    <a:pt x="21600" y="9186"/>
                    <a:pt x="21600" y="20607"/>
                  </a:cubicBezTo>
                  <a:cubicBezTo>
                    <a:pt x="21600" y="21103"/>
                    <a:pt x="21103" y="21600"/>
                    <a:pt x="20607"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Shape 997"/>
            <p:cNvSpPr>
              <a:spLocks/>
            </p:cNvSpPr>
            <p:nvPr/>
          </p:nvSpPr>
          <p:spPr bwMode="auto">
            <a:xfrm>
              <a:off x="0" y="718385"/>
              <a:ext cx="127357"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0607" y="21600"/>
                  </a:moveTo>
                  <a:cubicBezTo>
                    <a:pt x="9434" y="21600"/>
                    <a:pt x="0" y="12414"/>
                    <a:pt x="0" y="993"/>
                  </a:cubicBezTo>
                  <a:cubicBezTo>
                    <a:pt x="0" y="497"/>
                    <a:pt x="497" y="0"/>
                    <a:pt x="993" y="0"/>
                  </a:cubicBezTo>
                  <a:cubicBezTo>
                    <a:pt x="1738" y="0"/>
                    <a:pt x="1986" y="497"/>
                    <a:pt x="1986" y="993"/>
                  </a:cubicBezTo>
                  <a:cubicBezTo>
                    <a:pt x="1986" y="11421"/>
                    <a:pt x="10428" y="19614"/>
                    <a:pt x="20607" y="19614"/>
                  </a:cubicBezTo>
                  <a:cubicBezTo>
                    <a:pt x="21352" y="19614"/>
                    <a:pt x="21600" y="20110"/>
                    <a:pt x="21600" y="20607"/>
                  </a:cubicBezTo>
                  <a:cubicBezTo>
                    <a:pt x="21600" y="21103"/>
                    <a:pt x="21352" y="21600"/>
                    <a:pt x="20607"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Shape 998"/>
            <p:cNvSpPr>
              <a:spLocks/>
            </p:cNvSpPr>
            <p:nvPr/>
          </p:nvSpPr>
          <p:spPr bwMode="auto">
            <a:xfrm>
              <a:off x="717151" y="718385"/>
              <a:ext cx="127358"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993" y="21600"/>
                  </a:moveTo>
                  <a:cubicBezTo>
                    <a:pt x="497" y="21600"/>
                    <a:pt x="0" y="21103"/>
                    <a:pt x="0" y="20607"/>
                  </a:cubicBezTo>
                  <a:cubicBezTo>
                    <a:pt x="0" y="20110"/>
                    <a:pt x="497" y="19614"/>
                    <a:pt x="993" y="19614"/>
                  </a:cubicBezTo>
                  <a:cubicBezTo>
                    <a:pt x="11172" y="19614"/>
                    <a:pt x="19614" y="11421"/>
                    <a:pt x="19614" y="993"/>
                  </a:cubicBezTo>
                  <a:cubicBezTo>
                    <a:pt x="19614" y="497"/>
                    <a:pt x="20110" y="0"/>
                    <a:pt x="20607" y="0"/>
                  </a:cubicBezTo>
                  <a:cubicBezTo>
                    <a:pt x="21103" y="0"/>
                    <a:pt x="21600" y="497"/>
                    <a:pt x="21600" y="993"/>
                  </a:cubicBezTo>
                  <a:cubicBezTo>
                    <a:pt x="21600" y="12414"/>
                    <a:pt x="12414" y="21600"/>
                    <a:pt x="993"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6" name="Shape 994"/>
          <p:cNvSpPr>
            <a:spLocks/>
          </p:cNvSpPr>
          <p:nvPr/>
        </p:nvSpPr>
        <p:spPr bwMode="auto">
          <a:xfrm>
            <a:off x="6303738" y="3866824"/>
            <a:ext cx="971369" cy="97251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1600" y="18659"/>
                </a:moveTo>
                <a:cubicBezTo>
                  <a:pt x="21600" y="20283"/>
                  <a:pt x="20283" y="21600"/>
                  <a:pt x="18659" y="21600"/>
                </a:cubicBezTo>
                <a:cubicBezTo>
                  <a:pt x="2941" y="21600"/>
                  <a:pt x="2941" y="21600"/>
                  <a:pt x="2941" y="21600"/>
                </a:cubicBezTo>
                <a:cubicBezTo>
                  <a:pt x="1317" y="21600"/>
                  <a:pt x="0" y="20283"/>
                  <a:pt x="0" y="18659"/>
                </a:cubicBezTo>
                <a:cubicBezTo>
                  <a:pt x="0" y="2898"/>
                  <a:pt x="0" y="2898"/>
                  <a:pt x="0" y="2898"/>
                </a:cubicBezTo>
                <a:cubicBezTo>
                  <a:pt x="0" y="1317"/>
                  <a:pt x="1317" y="0"/>
                  <a:pt x="2941" y="0"/>
                </a:cubicBezTo>
                <a:cubicBezTo>
                  <a:pt x="18659" y="0"/>
                  <a:pt x="18659" y="0"/>
                  <a:pt x="18659" y="0"/>
                </a:cubicBezTo>
                <a:cubicBezTo>
                  <a:pt x="20283" y="0"/>
                  <a:pt x="21600" y="1317"/>
                  <a:pt x="21600" y="2898"/>
                </a:cubicBezTo>
                <a:lnTo>
                  <a:pt x="21600" y="18659"/>
                </a:lnTo>
                <a:close/>
              </a:path>
            </a:pathLst>
          </a:custGeom>
          <a:solidFill>
            <a:schemeClr val="bg1">
              <a:lumMod val="65000"/>
            </a:schemeClr>
          </a:solidFill>
          <a:ln w="9525">
            <a:noFill/>
            <a:headEnd type="none" w="med" len="med"/>
            <a:tailEnd type="none" w="med" len="med"/>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lIns="0" tIns="0" rIns="0" bIns="0" anchor="ctr" anchorCtr="1"/>
          <a:lstStyle/>
          <a:p>
            <a:pPr algn="ctr" defTabSz="914355"/>
            <a:endParaRPr lang="zh-CN" altLang="en-US" sz="1100" b="1" spc="50">
              <a:solidFill>
                <a:srgbClr val="FFC000"/>
              </a:solidFill>
              <a:effectLst>
                <a:outerShdw blurRad="25400" dir="2700000" algn="tl">
                  <a:srgbClr val="000000">
                    <a:alpha val="30000"/>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7" name="Group 999"/>
          <p:cNvGrpSpPr>
            <a:grpSpLocks/>
          </p:cNvGrpSpPr>
          <p:nvPr/>
        </p:nvGrpSpPr>
        <p:grpSpPr bwMode="auto">
          <a:xfrm>
            <a:off x="6218471" y="3781037"/>
            <a:ext cx="1141904" cy="1144084"/>
            <a:chOff x="0" y="0"/>
            <a:chExt cx="844508" cy="845123"/>
          </a:xfrm>
        </p:grpSpPr>
        <p:sp>
          <p:nvSpPr>
            <p:cNvPr id="18" name="Shape 995"/>
            <p:cNvSpPr>
              <a:spLocks/>
            </p:cNvSpPr>
            <p:nvPr/>
          </p:nvSpPr>
          <p:spPr bwMode="auto">
            <a:xfrm>
              <a:off x="0" y="0"/>
              <a:ext cx="127357"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993" y="21600"/>
                  </a:moveTo>
                  <a:cubicBezTo>
                    <a:pt x="497" y="21600"/>
                    <a:pt x="0" y="21103"/>
                    <a:pt x="0" y="20607"/>
                  </a:cubicBezTo>
                  <a:cubicBezTo>
                    <a:pt x="0" y="9186"/>
                    <a:pt x="9434" y="0"/>
                    <a:pt x="20607" y="0"/>
                  </a:cubicBezTo>
                  <a:cubicBezTo>
                    <a:pt x="21352" y="0"/>
                    <a:pt x="21600" y="497"/>
                    <a:pt x="21600" y="993"/>
                  </a:cubicBezTo>
                  <a:cubicBezTo>
                    <a:pt x="21600" y="1490"/>
                    <a:pt x="21352" y="1986"/>
                    <a:pt x="20607" y="1986"/>
                  </a:cubicBezTo>
                  <a:cubicBezTo>
                    <a:pt x="10428" y="1986"/>
                    <a:pt x="1986" y="10428"/>
                    <a:pt x="1986" y="20607"/>
                  </a:cubicBezTo>
                  <a:cubicBezTo>
                    <a:pt x="1986" y="21103"/>
                    <a:pt x="1738" y="21600"/>
                    <a:pt x="993"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Shape 996"/>
            <p:cNvSpPr>
              <a:spLocks/>
            </p:cNvSpPr>
            <p:nvPr/>
          </p:nvSpPr>
          <p:spPr bwMode="auto">
            <a:xfrm>
              <a:off x="717151" y="0"/>
              <a:ext cx="127358"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0607" y="21600"/>
                  </a:moveTo>
                  <a:cubicBezTo>
                    <a:pt x="20110" y="21600"/>
                    <a:pt x="19614" y="21103"/>
                    <a:pt x="19614" y="20607"/>
                  </a:cubicBezTo>
                  <a:cubicBezTo>
                    <a:pt x="19614" y="10428"/>
                    <a:pt x="11172" y="1986"/>
                    <a:pt x="993" y="1986"/>
                  </a:cubicBezTo>
                  <a:cubicBezTo>
                    <a:pt x="497" y="1986"/>
                    <a:pt x="0" y="1490"/>
                    <a:pt x="0" y="993"/>
                  </a:cubicBezTo>
                  <a:cubicBezTo>
                    <a:pt x="0" y="497"/>
                    <a:pt x="497" y="0"/>
                    <a:pt x="993" y="0"/>
                  </a:cubicBezTo>
                  <a:cubicBezTo>
                    <a:pt x="12414" y="0"/>
                    <a:pt x="21600" y="9186"/>
                    <a:pt x="21600" y="20607"/>
                  </a:cubicBezTo>
                  <a:cubicBezTo>
                    <a:pt x="21600" y="21103"/>
                    <a:pt x="21103" y="21600"/>
                    <a:pt x="20607"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Shape 997"/>
            <p:cNvSpPr>
              <a:spLocks/>
            </p:cNvSpPr>
            <p:nvPr/>
          </p:nvSpPr>
          <p:spPr bwMode="auto">
            <a:xfrm>
              <a:off x="0" y="718385"/>
              <a:ext cx="127357"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0607" y="21600"/>
                  </a:moveTo>
                  <a:cubicBezTo>
                    <a:pt x="9434" y="21600"/>
                    <a:pt x="0" y="12414"/>
                    <a:pt x="0" y="993"/>
                  </a:cubicBezTo>
                  <a:cubicBezTo>
                    <a:pt x="0" y="497"/>
                    <a:pt x="497" y="0"/>
                    <a:pt x="993" y="0"/>
                  </a:cubicBezTo>
                  <a:cubicBezTo>
                    <a:pt x="1738" y="0"/>
                    <a:pt x="1986" y="497"/>
                    <a:pt x="1986" y="993"/>
                  </a:cubicBezTo>
                  <a:cubicBezTo>
                    <a:pt x="1986" y="11421"/>
                    <a:pt x="10428" y="19614"/>
                    <a:pt x="20607" y="19614"/>
                  </a:cubicBezTo>
                  <a:cubicBezTo>
                    <a:pt x="21352" y="19614"/>
                    <a:pt x="21600" y="20110"/>
                    <a:pt x="21600" y="20607"/>
                  </a:cubicBezTo>
                  <a:cubicBezTo>
                    <a:pt x="21600" y="21103"/>
                    <a:pt x="21352" y="21600"/>
                    <a:pt x="20607"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Shape 998"/>
            <p:cNvSpPr>
              <a:spLocks/>
            </p:cNvSpPr>
            <p:nvPr/>
          </p:nvSpPr>
          <p:spPr bwMode="auto">
            <a:xfrm>
              <a:off x="717151" y="718385"/>
              <a:ext cx="127358"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993" y="21600"/>
                  </a:moveTo>
                  <a:cubicBezTo>
                    <a:pt x="497" y="21600"/>
                    <a:pt x="0" y="21103"/>
                    <a:pt x="0" y="20607"/>
                  </a:cubicBezTo>
                  <a:cubicBezTo>
                    <a:pt x="0" y="20110"/>
                    <a:pt x="497" y="19614"/>
                    <a:pt x="993" y="19614"/>
                  </a:cubicBezTo>
                  <a:cubicBezTo>
                    <a:pt x="11172" y="19614"/>
                    <a:pt x="19614" y="11421"/>
                    <a:pt x="19614" y="993"/>
                  </a:cubicBezTo>
                  <a:cubicBezTo>
                    <a:pt x="19614" y="497"/>
                    <a:pt x="20110" y="0"/>
                    <a:pt x="20607" y="0"/>
                  </a:cubicBezTo>
                  <a:cubicBezTo>
                    <a:pt x="21103" y="0"/>
                    <a:pt x="21600" y="497"/>
                    <a:pt x="21600" y="993"/>
                  </a:cubicBezTo>
                  <a:cubicBezTo>
                    <a:pt x="21600" y="12414"/>
                    <a:pt x="12414" y="21600"/>
                    <a:pt x="993"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22" name="Shape 994"/>
          <p:cNvSpPr>
            <a:spLocks/>
          </p:cNvSpPr>
          <p:nvPr/>
        </p:nvSpPr>
        <p:spPr bwMode="auto">
          <a:xfrm>
            <a:off x="6303738" y="5171765"/>
            <a:ext cx="971369" cy="97251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1600" y="18659"/>
                </a:moveTo>
                <a:cubicBezTo>
                  <a:pt x="21600" y="20283"/>
                  <a:pt x="20283" y="21600"/>
                  <a:pt x="18659" y="21600"/>
                </a:cubicBezTo>
                <a:cubicBezTo>
                  <a:pt x="2941" y="21600"/>
                  <a:pt x="2941" y="21600"/>
                  <a:pt x="2941" y="21600"/>
                </a:cubicBezTo>
                <a:cubicBezTo>
                  <a:pt x="1317" y="21600"/>
                  <a:pt x="0" y="20283"/>
                  <a:pt x="0" y="18659"/>
                </a:cubicBezTo>
                <a:cubicBezTo>
                  <a:pt x="0" y="2898"/>
                  <a:pt x="0" y="2898"/>
                  <a:pt x="0" y="2898"/>
                </a:cubicBezTo>
                <a:cubicBezTo>
                  <a:pt x="0" y="1317"/>
                  <a:pt x="1317" y="0"/>
                  <a:pt x="2941" y="0"/>
                </a:cubicBezTo>
                <a:cubicBezTo>
                  <a:pt x="18659" y="0"/>
                  <a:pt x="18659" y="0"/>
                  <a:pt x="18659" y="0"/>
                </a:cubicBezTo>
                <a:cubicBezTo>
                  <a:pt x="20283" y="0"/>
                  <a:pt x="21600" y="1317"/>
                  <a:pt x="21600" y="2898"/>
                </a:cubicBezTo>
                <a:lnTo>
                  <a:pt x="21600" y="18659"/>
                </a:lnTo>
                <a:close/>
              </a:path>
            </a:pathLst>
          </a:custGeom>
          <a:solidFill>
            <a:schemeClr val="bg1">
              <a:lumMod val="65000"/>
            </a:schemeClr>
          </a:solidFill>
          <a:ln w="9525">
            <a:noFill/>
            <a:headEnd type="none" w="med" len="med"/>
            <a:tailEnd type="none" w="med" len="med"/>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lIns="0" tIns="0" rIns="0" bIns="0" anchor="ctr" anchorCtr="1"/>
          <a:lstStyle/>
          <a:p>
            <a:pPr algn="ctr" defTabSz="914355"/>
            <a:endParaRPr lang="zh-CN" altLang="en-US" sz="1100" b="1" spc="50">
              <a:solidFill>
                <a:srgbClr val="FFC000"/>
              </a:solidFill>
              <a:effectLst>
                <a:outerShdw blurRad="25400" dir="2700000" algn="tl">
                  <a:srgbClr val="000000">
                    <a:alpha val="30000"/>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3" name="Group 999"/>
          <p:cNvGrpSpPr>
            <a:grpSpLocks/>
          </p:cNvGrpSpPr>
          <p:nvPr/>
        </p:nvGrpSpPr>
        <p:grpSpPr bwMode="auto">
          <a:xfrm>
            <a:off x="6218471" y="5085978"/>
            <a:ext cx="1141904" cy="1144084"/>
            <a:chOff x="0" y="0"/>
            <a:chExt cx="844508" cy="845123"/>
          </a:xfrm>
        </p:grpSpPr>
        <p:sp>
          <p:nvSpPr>
            <p:cNvPr id="24" name="Shape 995"/>
            <p:cNvSpPr>
              <a:spLocks/>
            </p:cNvSpPr>
            <p:nvPr/>
          </p:nvSpPr>
          <p:spPr bwMode="auto">
            <a:xfrm>
              <a:off x="0" y="0"/>
              <a:ext cx="127357"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993" y="21600"/>
                  </a:moveTo>
                  <a:cubicBezTo>
                    <a:pt x="497" y="21600"/>
                    <a:pt x="0" y="21103"/>
                    <a:pt x="0" y="20607"/>
                  </a:cubicBezTo>
                  <a:cubicBezTo>
                    <a:pt x="0" y="9186"/>
                    <a:pt x="9434" y="0"/>
                    <a:pt x="20607" y="0"/>
                  </a:cubicBezTo>
                  <a:cubicBezTo>
                    <a:pt x="21352" y="0"/>
                    <a:pt x="21600" y="497"/>
                    <a:pt x="21600" y="993"/>
                  </a:cubicBezTo>
                  <a:cubicBezTo>
                    <a:pt x="21600" y="1490"/>
                    <a:pt x="21352" y="1986"/>
                    <a:pt x="20607" y="1986"/>
                  </a:cubicBezTo>
                  <a:cubicBezTo>
                    <a:pt x="10428" y="1986"/>
                    <a:pt x="1986" y="10428"/>
                    <a:pt x="1986" y="20607"/>
                  </a:cubicBezTo>
                  <a:cubicBezTo>
                    <a:pt x="1986" y="21103"/>
                    <a:pt x="1738" y="21600"/>
                    <a:pt x="993"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Shape 996"/>
            <p:cNvSpPr>
              <a:spLocks/>
            </p:cNvSpPr>
            <p:nvPr/>
          </p:nvSpPr>
          <p:spPr bwMode="auto">
            <a:xfrm>
              <a:off x="717151" y="0"/>
              <a:ext cx="127358"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0607" y="21600"/>
                  </a:moveTo>
                  <a:cubicBezTo>
                    <a:pt x="20110" y="21600"/>
                    <a:pt x="19614" y="21103"/>
                    <a:pt x="19614" y="20607"/>
                  </a:cubicBezTo>
                  <a:cubicBezTo>
                    <a:pt x="19614" y="10428"/>
                    <a:pt x="11172" y="1986"/>
                    <a:pt x="993" y="1986"/>
                  </a:cubicBezTo>
                  <a:cubicBezTo>
                    <a:pt x="497" y="1986"/>
                    <a:pt x="0" y="1490"/>
                    <a:pt x="0" y="993"/>
                  </a:cubicBezTo>
                  <a:cubicBezTo>
                    <a:pt x="0" y="497"/>
                    <a:pt x="497" y="0"/>
                    <a:pt x="993" y="0"/>
                  </a:cubicBezTo>
                  <a:cubicBezTo>
                    <a:pt x="12414" y="0"/>
                    <a:pt x="21600" y="9186"/>
                    <a:pt x="21600" y="20607"/>
                  </a:cubicBezTo>
                  <a:cubicBezTo>
                    <a:pt x="21600" y="21103"/>
                    <a:pt x="21103" y="21600"/>
                    <a:pt x="20607"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Shape 997"/>
            <p:cNvSpPr>
              <a:spLocks/>
            </p:cNvSpPr>
            <p:nvPr/>
          </p:nvSpPr>
          <p:spPr bwMode="auto">
            <a:xfrm>
              <a:off x="0" y="718385"/>
              <a:ext cx="127357"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0607" y="21600"/>
                  </a:moveTo>
                  <a:cubicBezTo>
                    <a:pt x="9434" y="21600"/>
                    <a:pt x="0" y="12414"/>
                    <a:pt x="0" y="993"/>
                  </a:cubicBezTo>
                  <a:cubicBezTo>
                    <a:pt x="0" y="497"/>
                    <a:pt x="497" y="0"/>
                    <a:pt x="993" y="0"/>
                  </a:cubicBezTo>
                  <a:cubicBezTo>
                    <a:pt x="1738" y="0"/>
                    <a:pt x="1986" y="497"/>
                    <a:pt x="1986" y="993"/>
                  </a:cubicBezTo>
                  <a:cubicBezTo>
                    <a:pt x="1986" y="11421"/>
                    <a:pt x="10428" y="19614"/>
                    <a:pt x="20607" y="19614"/>
                  </a:cubicBezTo>
                  <a:cubicBezTo>
                    <a:pt x="21352" y="19614"/>
                    <a:pt x="21600" y="20110"/>
                    <a:pt x="21600" y="20607"/>
                  </a:cubicBezTo>
                  <a:cubicBezTo>
                    <a:pt x="21600" y="21103"/>
                    <a:pt x="21352" y="21600"/>
                    <a:pt x="20607"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Shape 998"/>
            <p:cNvSpPr>
              <a:spLocks/>
            </p:cNvSpPr>
            <p:nvPr/>
          </p:nvSpPr>
          <p:spPr bwMode="auto">
            <a:xfrm>
              <a:off x="717151" y="718385"/>
              <a:ext cx="127358" cy="12673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993" y="21600"/>
                  </a:moveTo>
                  <a:cubicBezTo>
                    <a:pt x="497" y="21600"/>
                    <a:pt x="0" y="21103"/>
                    <a:pt x="0" y="20607"/>
                  </a:cubicBezTo>
                  <a:cubicBezTo>
                    <a:pt x="0" y="20110"/>
                    <a:pt x="497" y="19614"/>
                    <a:pt x="993" y="19614"/>
                  </a:cubicBezTo>
                  <a:cubicBezTo>
                    <a:pt x="11172" y="19614"/>
                    <a:pt x="19614" y="11421"/>
                    <a:pt x="19614" y="993"/>
                  </a:cubicBezTo>
                  <a:cubicBezTo>
                    <a:pt x="19614" y="497"/>
                    <a:pt x="20110" y="0"/>
                    <a:pt x="20607" y="0"/>
                  </a:cubicBezTo>
                  <a:cubicBezTo>
                    <a:pt x="21103" y="0"/>
                    <a:pt x="21600" y="497"/>
                    <a:pt x="21600" y="993"/>
                  </a:cubicBezTo>
                  <a:cubicBezTo>
                    <a:pt x="21600" y="12414"/>
                    <a:pt x="12414" y="21600"/>
                    <a:pt x="993" y="21600"/>
                  </a:cubicBezTo>
                  <a:close/>
                </a:path>
              </a:pathLst>
            </a:custGeom>
            <a:solidFill>
              <a:srgbClr val="C00000"/>
            </a:solidFill>
            <a:ln w="9525" cap="flat">
              <a:noFill/>
              <a:prstDash val="solid"/>
              <a:round/>
              <a:headEnd/>
              <a:tailEnd/>
            </a:ln>
          </p:spPr>
          <p:txBody>
            <a:bodyPr lIns="0" tIns="0" rIns="0" bIns="0"/>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cxnSp>
        <p:nvCxnSpPr>
          <p:cNvPr id="28" name="直接连接符 27"/>
          <p:cNvCxnSpPr/>
          <p:nvPr/>
        </p:nvCxnSpPr>
        <p:spPr>
          <a:xfrm>
            <a:off x="7761531" y="2476096"/>
            <a:ext cx="0" cy="114408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617515" y="2476096"/>
            <a:ext cx="0" cy="114408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761531" y="3781037"/>
            <a:ext cx="0" cy="114408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617515" y="3781037"/>
            <a:ext cx="0" cy="114408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761531" y="5085978"/>
            <a:ext cx="0" cy="114408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617515" y="5085978"/>
            <a:ext cx="0" cy="114408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4" name="TextBox 7"/>
          <p:cNvSpPr txBox="1"/>
          <p:nvPr/>
        </p:nvSpPr>
        <p:spPr>
          <a:xfrm>
            <a:off x="6466256" y="2724973"/>
            <a:ext cx="646331" cy="646331"/>
          </a:xfrm>
          <a:prstGeom prst="rect">
            <a:avLst/>
          </a:prstGeom>
          <a:noFill/>
        </p:spPr>
        <p:txBody>
          <a:bodyPr wrap="none" rtlCol="0">
            <a:spAutoFit/>
          </a:bodyPr>
          <a:lstStyle/>
          <a:p>
            <a:pPr lvl="0" algn="ctr"/>
            <a:r>
              <a:rPr lang="en-US" altLang="zh-CN" sz="18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Ivy</a:t>
            </a:r>
          </a:p>
          <a:p>
            <a:pPr lvl="0" algn="ctr"/>
            <a:r>
              <a:rPr lang="zh-CN" altLang="en-US" sz="18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依赖</a:t>
            </a:r>
          </a:p>
        </p:txBody>
      </p:sp>
      <p:sp>
        <p:nvSpPr>
          <p:cNvPr id="35" name="TextBox 67"/>
          <p:cNvSpPr txBox="1"/>
          <p:nvPr/>
        </p:nvSpPr>
        <p:spPr>
          <a:xfrm>
            <a:off x="6340420" y="4026025"/>
            <a:ext cx="898003" cy="684803"/>
          </a:xfrm>
          <a:prstGeom prst="rect">
            <a:avLst/>
          </a:prstGeom>
          <a:noFill/>
        </p:spPr>
        <p:txBody>
          <a:bodyPr wrap="none" rtlCol="0">
            <a:spAutoFit/>
          </a:bodyPr>
          <a:lstStyle/>
          <a:p>
            <a:pPr algn="ctr">
              <a:spcBef>
                <a:spcPts val="300"/>
              </a:spcBef>
              <a:defRPr/>
            </a:pPr>
            <a:r>
              <a:rPr lang="en-US" altLang="zh-CN" sz="18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Maven</a:t>
            </a:r>
          </a:p>
          <a:p>
            <a:pPr algn="ctr">
              <a:spcBef>
                <a:spcPts val="300"/>
              </a:spcBef>
              <a:defRPr/>
            </a:pPr>
            <a:r>
              <a:rPr lang="zh-CN" altLang="en-US" sz="18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依赖</a:t>
            </a:r>
          </a:p>
        </p:txBody>
      </p:sp>
      <p:sp>
        <p:nvSpPr>
          <p:cNvPr id="36" name="TextBox 68"/>
          <p:cNvSpPr txBox="1"/>
          <p:nvPr/>
        </p:nvSpPr>
        <p:spPr>
          <a:xfrm>
            <a:off x="6281110" y="5315619"/>
            <a:ext cx="1016624" cy="684803"/>
          </a:xfrm>
          <a:prstGeom prst="rect">
            <a:avLst/>
          </a:prstGeom>
          <a:noFill/>
        </p:spPr>
        <p:txBody>
          <a:bodyPr wrap="none" rtlCol="0">
            <a:spAutoFit/>
          </a:bodyPr>
          <a:lstStyle/>
          <a:p>
            <a:pPr lvl="0" algn="ctr">
              <a:spcBef>
                <a:spcPts val="300"/>
              </a:spcBef>
              <a:defRPr/>
            </a:pPr>
            <a:r>
              <a:rPr lang="en-US" altLang="zh-CN" sz="1800" kern="0" dirty="0" err="1">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Grandle</a:t>
            </a:r>
            <a:endParaRPr lang="en-US" altLang="zh-CN" sz="18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a:spcBef>
                <a:spcPts val="300"/>
              </a:spcBef>
              <a:defRPr/>
            </a:pPr>
            <a:r>
              <a:rPr lang="zh-CN" altLang="en-US" sz="18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依赖</a:t>
            </a:r>
          </a:p>
        </p:txBody>
      </p:sp>
      <p:pic>
        <p:nvPicPr>
          <p:cNvPr id="37" name="图片 36"/>
          <p:cNvPicPr>
            <a:picLocks noChangeAspect="1"/>
          </p:cNvPicPr>
          <p:nvPr/>
        </p:nvPicPr>
        <p:blipFill>
          <a:blip r:embed="rId4"/>
          <a:stretch>
            <a:fillRect/>
          </a:stretch>
        </p:blipFill>
        <p:spPr>
          <a:xfrm>
            <a:off x="7977555" y="2503914"/>
            <a:ext cx="3483040" cy="1088450"/>
          </a:xfrm>
          <a:prstGeom prst="rect">
            <a:avLst/>
          </a:prstGeom>
        </p:spPr>
      </p:pic>
      <p:pic>
        <p:nvPicPr>
          <p:cNvPr id="38" name="图片 37"/>
          <p:cNvPicPr>
            <a:picLocks noChangeAspect="1"/>
          </p:cNvPicPr>
          <p:nvPr/>
        </p:nvPicPr>
        <p:blipFill>
          <a:blip r:embed="rId5"/>
          <a:stretch>
            <a:fillRect/>
          </a:stretch>
        </p:blipFill>
        <p:spPr>
          <a:xfrm>
            <a:off x="7977556" y="3821440"/>
            <a:ext cx="3483040" cy="1063281"/>
          </a:xfrm>
          <a:prstGeom prst="rect">
            <a:avLst/>
          </a:prstGeom>
        </p:spPr>
      </p:pic>
      <p:pic>
        <p:nvPicPr>
          <p:cNvPr id="39" name="图片 38"/>
          <p:cNvPicPr>
            <a:picLocks noChangeAspect="1"/>
          </p:cNvPicPr>
          <p:nvPr/>
        </p:nvPicPr>
        <p:blipFill>
          <a:blip r:embed="rId6"/>
          <a:stretch>
            <a:fillRect/>
          </a:stretch>
        </p:blipFill>
        <p:spPr>
          <a:xfrm>
            <a:off x="7977555" y="5115785"/>
            <a:ext cx="3483040" cy="1084472"/>
          </a:xfrm>
          <a:prstGeom prst="rect">
            <a:avLst/>
          </a:prstGeom>
        </p:spPr>
      </p:pic>
    </p:spTree>
    <p:extLst>
      <p:ext uri="{BB962C8B-B14F-4D97-AF65-F5344CB8AC3E}">
        <p14:creationId xmlns:p14="http://schemas.microsoft.com/office/powerpoint/2010/main" val="1004909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cs typeface="+mn-ea"/>
                <a:sym typeface="Huawei Sans" panose="020C0503030203020204" pitchFamily="34" charset="0"/>
              </a:rPr>
              <a:t>Maven</a:t>
            </a:r>
            <a:r>
              <a:rPr lang="zh-CN" altLang="en-US">
                <a:cs typeface="+mn-ea"/>
                <a:sym typeface="Huawei Sans" panose="020C0503030203020204" pitchFamily="34" charset="0"/>
              </a:rPr>
              <a:t>介绍</a:t>
            </a:r>
            <a:endParaRPr lang="en-US" dirty="0">
              <a:cs typeface="+mn-ea"/>
              <a:sym typeface="Huawei Sans" panose="020C0503030203020204" pitchFamily="34" charset="0"/>
            </a:endParaRPr>
          </a:p>
        </p:txBody>
      </p:sp>
      <p:sp>
        <p:nvSpPr>
          <p:cNvPr id="3" name="文本占位符 2"/>
          <p:cNvSpPr>
            <a:spLocks noGrp="1"/>
          </p:cNvSpPr>
          <p:nvPr>
            <p:ph type="body" sz="quarter" idx="10"/>
          </p:nvPr>
        </p:nvSpPr>
        <p:spPr/>
        <p:txBody>
          <a:bodyPr/>
          <a:lstStyle/>
          <a:p>
            <a:r>
              <a:rPr lang="en-US" altLang="zh-CN" sz="2400" dirty="0">
                <a:cs typeface="+mn-ea"/>
                <a:sym typeface="Huawei Sans" panose="020C0503030203020204" pitchFamily="34" charset="0"/>
              </a:rPr>
              <a:t>Maven </a:t>
            </a:r>
            <a:r>
              <a:rPr lang="zh-CN" altLang="en-US" sz="2400" dirty="0">
                <a:cs typeface="+mn-ea"/>
                <a:sym typeface="Huawei Sans" panose="020C0503030203020204" pitchFamily="34" charset="0"/>
              </a:rPr>
              <a:t>是 </a:t>
            </a:r>
            <a:r>
              <a:rPr lang="en-US" altLang="zh-CN" sz="2400" dirty="0">
                <a:cs typeface="+mn-ea"/>
                <a:sym typeface="Huawei Sans" panose="020C0503030203020204" pitchFamily="34" charset="0"/>
              </a:rPr>
              <a:t>Apache </a:t>
            </a:r>
            <a:r>
              <a:rPr lang="zh-CN" altLang="en-US" sz="2400" dirty="0">
                <a:cs typeface="+mn-ea"/>
                <a:sym typeface="Huawei Sans" panose="020C0503030203020204" pitchFamily="34" charset="0"/>
              </a:rPr>
              <a:t>下的一个纯 </a:t>
            </a:r>
            <a:r>
              <a:rPr lang="en-US" altLang="zh-CN" sz="2400" dirty="0">
                <a:cs typeface="+mn-ea"/>
                <a:sym typeface="Huawei Sans" panose="020C0503030203020204" pitchFamily="34" charset="0"/>
              </a:rPr>
              <a:t>Java </a:t>
            </a:r>
            <a:r>
              <a:rPr lang="zh-CN" altLang="en-US" sz="2400" dirty="0">
                <a:cs typeface="+mn-ea"/>
                <a:sym typeface="Huawei Sans" panose="020C0503030203020204" pitchFamily="34" charset="0"/>
              </a:rPr>
              <a:t>开发的开源项目，基于项目对象模型（缩写：</a:t>
            </a:r>
            <a:r>
              <a:rPr lang="en-US" altLang="zh-CN" sz="2400" dirty="0">
                <a:cs typeface="+mn-ea"/>
                <a:sym typeface="Huawei Sans" panose="020C0503030203020204" pitchFamily="34" charset="0"/>
              </a:rPr>
              <a:t>POM</a:t>
            </a:r>
            <a:r>
              <a:rPr lang="zh-CN" altLang="en-US" sz="2400" dirty="0">
                <a:cs typeface="+mn-ea"/>
                <a:sym typeface="Huawei Sans" panose="020C0503030203020204" pitchFamily="34" charset="0"/>
              </a:rPr>
              <a:t>）可以对 </a:t>
            </a:r>
            <a:r>
              <a:rPr lang="en-US" altLang="zh-CN" sz="2400" dirty="0">
                <a:cs typeface="+mn-ea"/>
                <a:sym typeface="Huawei Sans" panose="020C0503030203020204" pitchFamily="34" charset="0"/>
              </a:rPr>
              <a:t>Java </a:t>
            </a:r>
            <a:r>
              <a:rPr lang="zh-CN" altLang="en-US" sz="2400" dirty="0">
                <a:cs typeface="+mn-ea"/>
                <a:sym typeface="Huawei Sans" panose="020C0503030203020204" pitchFamily="34" charset="0"/>
              </a:rPr>
              <a:t>项目进行构建、依赖管理</a:t>
            </a:r>
          </a:p>
          <a:p>
            <a:pPr lvl="1"/>
            <a:r>
              <a:rPr lang="en-US" altLang="zh-CN" sz="2000" dirty="0">
                <a:cs typeface="+mn-ea"/>
                <a:sym typeface="Huawei Sans" panose="020C0503030203020204" pitchFamily="34" charset="0"/>
              </a:rPr>
              <a:t>Maven</a:t>
            </a:r>
            <a:r>
              <a:rPr lang="zh-CN" altLang="en-US" sz="2000" dirty="0">
                <a:cs typeface="+mn-ea"/>
                <a:sym typeface="Huawei Sans" panose="020C0503030203020204" pitchFamily="34" charset="0"/>
              </a:rPr>
              <a:t>官网链接： </a:t>
            </a:r>
            <a:r>
              <a:rPr lang="en-US" altLang="zh-CN" sz="2000" dirty="0">
                <a:cs typeface="+mn-ea"/>
                <a:sym typeface="Huawei Sans" panose="020C0503030203020204" pitchFamily="34" charset="0"/>
                <a:hlinkClick r:id="rId3"/>
              </a:rPr>
              <a:t>http://maven.apache.org/</a:t>
            </a:r>
            <a:endParaRPr lang="en-US" altLang="zh-CN" sz="2000" dirty="0">
              <a:cs typeface="+mn-ea"/>
              <a:sym typeface="Huawei Sans" panose="020C0503030203020204" pitchFamily="34" charset="0"/>
            </a:endParaRPr>
          </a:p>
          <a:p>
            <a:pPr lvl="1"/>
            <a:r>
              <a:rPr lang="en-US" altLang="zh-CN" sz="2000" dirty="0">
                <a:cs typeface="+mn-ea"/>
                <a:sym typeface="Huawei Sans" panose="020C0503030203020204" pitchFamily="34" charset="0"/>
              </a:rPr>
              <a:t>Maven</a:t>
            </a:r>
            <a:r>
              <a:rPr lang="zh-CN" altLang="en-US" sz="2000" dirty="0">
                <a:cs typeface="+mn-ea"/>
                <a:sym typeface="Huawei Sans" panose="020C0503030203020204" pitchFamily="34" charset="0"/>
              </a:rPr>
              <a:t>下载链接： </a:t>
            </a:r>
            <a:r>
              <a:rPr lang="en-US" altLang="zh-CN" sz="2000" dirty="0">
                <a:cs typeface="+mn-ea"/>
                <a:sym typeface="Huawei Sans" panose="020C0503030203020204" pitchFamily="34" charset="0"/>
                <a:hlinkClick r:id="rId4"/>
              </a:rPr>
              <a:t>http://maven.apache.org/download.cgi</a:t>
            </a:r>
            <a:endParaRPr lang="en-US" altLang="zh-CN" sz="2000" dirty="0">
              <a:cs typeface="+mn-ea"/>
              <a:sym typeface="Huawei Sans" panose="020C0503030203020204" pitchFamily="34" charset="0"/>
            </a:endParaRPr>
          </a:p>
          <a:p>
            <a:pPr lvl="1"/>
            <a:r>
              <a:rPr lang="en-US" altLang="zh-CN" sz="2000" dirty="0">
                <a:cs typeface="+mn-ea"/>
                <a:sym typeface="Huawei Sans" panose="020C0503030203020204" pitchFamily="34" charset="0"/>
              </a:rPr>
              <a:t>Maven</a:t>
            </a:r>
            <a:r>
              <a:rPr lang="zh-CN" altLang="en-US" sz="2000" dirty="0">
                <a:cs typeface="+mn-ea"/>
                <a:sym typeface="Huawei Sans" panose="020C0503030203020204" pitchFamily="34" charset="0"/>
              </a:rPr>
              <a:t>安装指导： </a:t>
            </a:r>
            <a:r>
              <a:rPr lang="en-US" altLang="zh-CN" sz="2000" dirty="0">
                <a:cs typeface="+mn-ea"/>
                <a:sym typeface="Huawei Sans" panose="020C0503030203020204" pitchFamily="34" charset="0"/>
                <a:hlinkClick r:id="rId5"/>
              </a:rPr>
              <a:t>http://maven.apache.org/install.html</a:t>
            </a:r>
            <a:endParaRPr lang="en-US" altLang="zh-CN" sz="2000" dirty="0">
              <a:cs typeface="+mn-ea"/>
              <a:sym typeface="Huawei Sans" panose="020C0503030203020204" pitchFamily="34" charset="0"/>
            </a:endParaRPr>
          </a:p>
          <a:p>
            <a:endParaRPr lang="en-US" sz="2400" dirty="0">
              <a:cs typeface="+mn-ea"/>
              <a:sym typeface="Huawei Sans" panose="020C0503030203020204" pitchFamily="34" charset="0"/>
            </a:endParaRPr>
          </a:p>
        </p:txBody>
      </p:sp>
      <p:pic>
        <p:nvPicPr>
          <p:cNvPr id="12" name="图片 11"/>
          <p:cNvPicPr>
            <a:picLocks noChangeAspect="1"/>
          </p:cNvPicPr>
          <p:nvPr/>
        </p:nvPicPr>
        <p:blipFill>
          <a:blip r:embed="rId6"/>
          <a:stretch>
            <a:fillRect/>
          </a:stretch>
        </p:blipFill>
        <p:spPr>
          <a:xfrm>
            <a:off x="1415480" y="4787212"/>
            <a:ext cx="2932642" cy="741786"/>
          </a:xfrm>
          <a:prstGeom prst="rect">
            <a:avLst/>
          </a:prstGeom>
        </p:spPr>
      </p:pic>
    </p:spTree>
    <p:extLst>
      <p:ext uri="{BB962C8B-B14F-4D97-AF65-F5344CB8AC3E}">
        <p14:creationId xmlns:p14="http://schemas.microsoft.com/office/powerpoint/2010/main" val="2608427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cs typeface="+mn-ea"/>
                <a:sym typeface="Huawei Sans" panose="020C0503030203020204" pitchFamily="34" charset="0"/>
              </a:rPr>
              <a:t>Maven</a:t>
            </a:r>
            <a:r>
              <a:rPr lang="zh-CN" altLang="en-US">
                <a:cs typeface="+mn-ea"/>
                <a:sym typeface="Huawei Sans" panose="020C0503030203020204" pitchFamily="34" charset="0"/>
              </a:rPr>
              <a:t>依赖管理</a:t>
            </a:r>
            <a:endParaRPr lang="en-US" dirty="0">
              <a:cs typeface="+mn-ea"/>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sz="1800" dirty="0">
                <a:cs typeface="+mn-ea"/>
                <a:sym typeface="Huawei Sans" panose="020C0503030203020204" pitchFamily="34" charset="0"/>
              </a:rPr>
              <a:t>在</a:t>
            </a:r>
            <a:r>
              <a:rPr lang="en-US" altLang="zh-CN" sz="1800" dirty="0">
                <a:cs typeface="+mn-ea"/>
                <a:sym typeface="Huawei Sans" panose="020C0503030203020204" pitchFamily="34" charset="0"/>
              </a:rPr>
              <a:t>Java</a:t>
            </a:r>
            <a:r>
              <a:rPr lang="zh-CN" altLang="en-US" sz="1800" dirty="0">
                <a:cs typeface="+mn-ea"/>
                <a:sym typeface="Huawei Sans" panose="020C0503030203020204" pitchFamily="34" charset="0"/>
              </a:rPr>
              <a:t>世界中，可以用</a:t>
            </a:r>
            <a:r>
              <a:rPr lang="en-US" altLang="zh-CN" sz="1800" dirty="0" err="1">
                <a:cs typeface="+mn-ea"/>
                <a:sym typeface="Huawei Sans" panose="020C0503030203020204" pitchFamily="34" charset="0"/>
              </a:rPr>
              <a:t>groupId</a:t>
            </a:r>
            <a:r>
              <a:rPr lang="zh-CN" altLang="en-US" sz="1800" dirty="0">
                <a:cs typeface="+mn-ea"/>
                <a:sym typeface="Huawei Sans" panose="020C0503030203020204" pitchFamily="34" charset="0"/>
              </a:rPr>
              <a:t>、</a:t>
            </a:r>
            <a:r>
              <a:rPr lang="en-US" altLang="zh-CN" sz="1800" dirty="0" err="1">
                <a:cs typeface="+mn-ea"/>
                <a:sym typeface="Huawei Sans" panose="020C0503030203020204" pitchFamily="34" charset="0"/>
              </a:rPr>
              <a:t>artifactId</a:t>
            </a:r>
            <a:r>
              <a:rPr lang="zh-CN" altLang="en-US" sz="1800" dirty="0">
                <a:cs typeface="+mn-ea"/>
                <a:sym typeface="Huawei Sans" panose="020C0503030203020204" pitchFamily="34" charset="0"/>
              </a:rPr>
              <a:t>、</a:t>
            </a:r>
            <a:r>
              <a:rPr lang="en-US" altLang="zh-CN" sz="1800" dirty="0">
                <a:cs typeface="+mn-ea"/>
                <a:sym typeface="Huawei Sans" panose="020C0503030203020204" pitchFamily="34" charset="0"/>
              </a:rPr>
              <a:t>version</a:t>
            </a:r>
            <a:r>
              <a:rPr lang="zh-CN" altLang="en-US" sz="1800" dirty="0">
                <a:cs typeface="+mn-ea"/>
                <a:sym typeface="Huawei Sans" panose="020C0503030203020204" pitchFamily="34" charset="0"/>
              </a:rPr>
              <a:t>组成的</a:t>
            </a:r>
            <a:r>
              <a:rPr lang="en-US" altLang="zh-CN" sz="1800" dirty="0">
                <a:cs typeface="+mn-ea"/>
                <a:sym typeface="Huawei Sans" panose="020C0503030203020204" pitchFamily="34" charset="0"/>
              </a:rPr>
              <a:t>Coordination</a:t>
            </a:r>
            <a:r>
              <a:rPr lang="zh-CN" altLang="en-US" sz="1800" dirty="0">
                <a:cs typeface="+mn-ea"/>
                <a:sym typeface="Huawei Sans" panose="020C0503030203020204" pitchFamily="34" charset="0"/>
              </a:rPr>
              <a:t>（坐标）唯一标识一个依赖。</a:t>
            </a:r>
            <a:endParaRPr lang="en-US" altLang="zh-CN" sz="1800" dirty="0">
              <a:cs typeface="+mn-ea"/>
              <a:sym typeface="Huawei Sans" panose="020C0503030203020204" pitchFamily="34" charset="0"/>
            </a:endParaRPr>
          </a:p>
          <a:p>
            <a:r>
              <a:rPr lang="en-US" altLang="zh-CN" sz="1800" dirty="0">
                <a:cs typeface="+mn-ea"/>
                <a:sym typeface="Huawei Sans" panose="020C0503030203020204" pitchFamily="34" charset="0"/>
              </a:rPr>
              <a:t>pom.xml</a:t>
            </a:r>
            <a:r>
              <a:rPr lang="zh-CN" altLang="en-US" sz="1800" dirty="0">
                <a:cs typeface="+mn-ea"/>
                <a:sym typeface="Huawei Sans" panose="020C0503030203020204" pitchFamily="34" charset="0"/>
              </a:rPr>
              <a:t>文件中一个典型的依赖引用如下图，</a:t>
            </a:r>
            <a:r>
              <a:rPr lang="en-US" altLang="zh-CN" sz="1800" dirty="0">
                <a:cs typeface="+mn-ea"/>
                <a:sym typeface="Huawei Sans" panose="020C0503030203020204" pitchFamily="34" charset="0"/>
              </a:rPr>
              <a:t>Maven</a:t>
            </a:r>
            <a:r>
              <a:rPr lang="zh-CN" altLang="en-US" sz="1800" dirty="0">
                <a:cs typeface="+mn-ea"/>
                <a:sym typeface="Huawei Sans" panose="020C0503030203020204" pitchFamily="34" charset="0"/>
              </a:rPr>
              <a:t>编译时会自动拼接路径和文件名，去本地或远程仓查找。</a:t>
            </a:r>
            <a:endParaRPr lang="en-US" altLang="zh-CN" sz="1800" dirty="0">
              <a:cs typeface="+mn-ea"/>
              <a:sym typeface="Huawei Sans" panose="020C0503030203020204" pitchFamily="34" charset="0"/>
            </a:endParaRPr>
          </a:p>
          <a:p>
            <a:endParaRPr lang="en-US" sz="1800" dirty="0">
              <a:cs typeface="+mn-ea"/>
              <a:sym typeface="Huawei Sans" panose="020C0503030203020204" pitchFamily="34" charset="0"/>
            </a:endParaRPr>
          </a:p>
        </p:txBody>
      </p:sp>
      <p:grpSp>
        <p:nvGrpSpPr>
          <p:cNvPr id="10" name="组合 9"/>
          <p:cNvGrpSpPr/>
          <p:nvPr/>
        </p:nvGrpSpPr>
        <p:grpSpPr>
          <a:xfrm>
            <a:off x="912285" y="2780928"/>
            <a:ext cx="10730439" cy="3456360"/>
            <a:chOff x="518255" y="2623271"/>
            <a:chExt cx="11124469" cy="3614017"/>
          </a:xfrm>
        </p:grpSpPr>
        <p:pic>
          <p:nvPicPr>
            <p:cNvPr id="6" name="图片 5"/>
            <p:cNvPicPr>
              <a:picLocks noChangeAspect="1"/>
            </p:cNvPicPr>
            <p:nvPr/>
          </p:nvPicPr>
          <p:blipFill>
            <a:blip r:embed="rId3"/>
            <a:stretch>
              <a:fillRect/>
            </a:stretch>
          </p:blipFill>
          <p:spPr>
            <a:xfrm>
              <a:off x="6492341" y="2623271"/>
              <a:ext cx="4972229" cy="2954196"/>
            </a:xfrm>
            <a:prstGeom prst="rect">
              <a:avLst/>
            </a:prstGeom>
            <a:ln>
              <a:noFill/>
            </a:ln>
          </p:spPr>
        </p:pic>
        <p:pic>
          <p:nvPicPr>
            <p:cNvPr id="7" name="图片 6"/>
            <p:cNvPicPr>
              <a:picLocks noChangeAspect="1"/>
            </p:cNvPicPr>
            <p:nvPr/>
          </p:nvPicPr>
          <p:blipFill>
            <a:blip r:embed="rId4"/>
            <a:stretch>
              <a:fillRect/>
            </a:stretch>
          </p:blipFill>
          <p:spPr>
            <a:xfrm>
              <a:off x="747384" y="2623271"/>
              <a:ext cx="4939822" cy="2954196"/>
            </a:xfrm>
            <a:prstGeom prst="rect">
              <a:avLst/>
            </a:prstGeom>
          </p:spPr>
        </p:pic>
        <p:sp>
          <p:nvSpPr>
            <p:cNvPr id="8" name="梯形 7"/>
            <p:cNvSpPr/>
            <p:nvPr/>
          </p:nvSpPr>
          <p:spPr>
            <a:xfrm>
              <a:off x="518255" y="5799022"/>
              <a:ext cx="11124469" cy="438266"/>
            </a:xfrm>
            <a:prstGeom prst="trapezoid">
              <a:avLst>
                <a:gd name="adj" fmla="val 135325"/>
              </a:avLst>
            </a:prstGeom>
            <a:gradFill>
              <a:gsLst>
                <a:gs pos="0">
                  <a:srgbClr val="4BF0F0">
                    <a:alpha val="0"/>
                  </a:srgbClr>
                </a:gs>
                <a:gs pos="100000">
                  <a:schemeClr val="bg1">
                    <a:lumMod val="65000"/>
                    <a:alpha val="50000"/>
                  </a:schemeClr>
                </a:gs>
              </a:gsLst>
              <a:lin ang="5400000" scaled="0"/>
            </a:gradFill>
            <a:ln w="6350">
              <a:gradFill>
                <a:gsLst>
                  <a:gs pos="0">
                    <a:srgbClr val="4BF0F0">
                      <a:alpha val="0"/>
                    </a:srgbClr>
                  </a:gs>
                  <a:gs pos="50000">
                    <a:schemeClr val="bg1">
                      <a:lumMod val="65000"/>
                    </a:schemeClr>
                  </a:gs>
                  <a:gs pos="100000">
                    <a:schemeClr val="bg1">
                      <a:lumMod val="5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lIns="182871" tIns="91435" rIns="182871" bIns="91435" anchor="ctr"/>
            <a:lstStyle/>
            <a:p>
              <a:pPr algn="ctr">
                <a:defRPr/>
              </a:pPr>
              <a:endParaRPr lang="zh-CN" altLang="en-US" sz="1400" dirty="0">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矩形 8"/>
            <p:cNvSpPr/>
            <p:nvPr/>
          </p:nvSpPr>
          <p:spPr>
            <a:xfrm>
              <a:off x="2713213" y="5734050"/>
              <a:ext cx="6768750" cy="486612"/>
            </a:xfrm>
            <a:prstGeom prst="rect">
              <a:avLst/>
            </a:prstGeom>
          </p:spPr>
          <p:txBody>
            <a:bodyPr wrap="square">
              <a:spAutoFit/>
            </a:bodyPr>
            <a:lstStyle/>
            <a:p>
              <a:pPr algn="ctr">
                <a:lnSpc>
                  <a:spcPct val="150000"/>
                </a:lnSpc>
              </a:pPr>
              <a:r>
                <a:rPr lang="zh-CN" altLang="en-US" sz="1800" dirty="0">
                  <a:latin typeface="Huawei Sans" panose="020C0503030203020204" pitchFamily="34" charset="0"/>
                  <a:ea typeface="方正兰亭黑简体" panose="02000000000000000000" pitchFamily="2" charset="-122"/>
                  <a:cs typeface="+mn-ea"/>
                  <a:sym typeface="Huawei Sans" panose="020C0503030203020204" pitchFamily="34" charset="0"/>
                </a:rPr>
                <a:t>存储这些组件的仓库有</a:t>
              </a:r>
              <a:r>
                <a:rPr lang="zh-CN" altLang="en-US" sz="1800" b="1"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远程仓库和本地仓库</a:t>
              </a:r>
              <a:r>
                <a:rPr lang="zh-CN" altLang="en-US" sz="1800" dirty="0">
                  <a:latin typeface="Huawei Sans" panose="020C0503030203020204" pitchFamily="34" charset="0"/>
                  <a:ea typeface="方正兰亭黑简体" panose="02000000000000000000" pitchFamily="2" charset="-122"/>
                  <a:cs typeface="+mn-ea"/>
                  <a:sym typeface="Huawei Sans" panose="020C0503030203020204" pitchFamily="34" charset="0"/>
                </a:rPr>
                <a:t>之分</a:t>
              </a:r>
            </a:p>
          </p:txBody>
        </p:sp>
      </p:grpSp>
    </p:spTree>
    <p:extLst>
      <p:ext uri="{BB962C8B-B14F-4D97-AF65-F5344CB8AC3E}">
        <p14:creationId xmlns:p14="http://schemas.microsoft.com/office/powerpoint/2010/main" val="3540414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cs typeface="+mn-ea"/>
                <a:sym typeface="Huawei Sans" panose="020C0503030203020204" pitchFamily="34" charset="0"/>
              </a:rPr>
              <a:t>Maven</a:t>
            </a:r>
            <a:r>
              <a:rPr lang="zh-CN" altLang="en-US">
                <a:cs typeface="+mn-ea"/>
                <a:sym typeface="Huawei Sans" panose="020C0503030203020204" pitchFamily="34" charset="0"/>
              </a:rPr>
              <a:t>仓库搜索顺序</a:t>
            </a:r>
            <a:endParaRPr lang="en-US" dirty="0">
              <a:cs typeface="+mn-ea"/>
              <a:sym typeface="Huawei Sans" panose="020C0503030203020204" pitchFamily="34" charset="0"/>
            </a:endParaRPr>
          </a:p>
        </p:txBody>
      </p:sp>
      <p:grpSp>
        <p:nvGrpSpPr>
          <p:cNvPr id="118" name="组合 117"/>
          <p:cNvGrpSpPr/>
          <p:nvPr/>
        </p:nvGrpSpPr>
        <p:grpSpPr>
          <a:xfrm>
            <a:off x="1127449" y="1944057"/>
            <a:ext cx="10225136" cy="4005223"/>
            <a:chOff x="1127449" y="1944057"/>
            <a:chExt cx="10225136" cy="4005223"/>
          </a:xfrm>
        </p:grpSpPr>
        <p:sp>
          <p:nvSpPr>
            <p:cNvPr id="3" name="圆角矩形 2"/>
            <p:cNvSpPr/>
            <p:nvPr/>
          </p:nvSpPr>
          <p:spPr>
            <a:xfrm>
              <a:off x="1127929" y="4203431"/>
              <a:ext cx="3312291" cy="1745849"/>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圆角矩形 3"/>
            <p:cNvSpPr/>
            <p:nvPr/>
          </p:nvSpPr>
          <p:spPr>
            <a:xfrm>
              <a:off x="4583872" y="4203431"/>
              <a:ext cx="3312291" cy="1745849"/>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圆角矩形 4"/>
            <p:cNvSpPr/>
            <p:nvPr/>
          </p:nvSpPr>
          <p:spPr>
            <a:xfrm>
              <a:off x="8040294" y="4203431"/>
              <a:ext cx="3312291" cy="1745849"/>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TextBox 5"/>
            <p:cNvSpPr txBox="1"/>
            <p:nvPr/>
          </p:nvSpPr>
          <p:spPr>
            <a:xfrm>
              <a:off x="2256625" y="2531990"/>
              <a:ext cx="1114408" cy="369332"/>
            </a:xfrm>
            <a:prstGeom prst="rect">
              <a:avLst/>
            </a:prstGeom>
            <a:noFill/>
          </p:spPr>
          <p:txBody>
            <a:bodyPr wrap="none" rtlCol="0">
              <a:spAutoFit/>
            </a:bodyPr>
            <a:lstStyle/>
            <a:p>
              <a:r>
                <a:rPr lang="zh-CN" altLang="en-US" sz="1800" b="1" dirty="0">
                  <a:latin typeface="Huawei Sans" panose="020C0503030203020204" pitchFamily="34" charset="0"/>
                  <a:ea typeface="方正兰亭黑简体" panose="02000000000000000000" pitchFamily="2" charset="-122"/>
                  <a:cs typeface="+mn-ea"/>
                  <a:sym typeface="Huawei Sans" panose="020C0503030203020204" pitchFamily="34" charset="0"/>
                </a:rPr>
                <a:t>本地仓库</a:t>
              </a:r>
              <a:endParaRPr lang="en-US" altLang="zh-CN" sz="18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TextBox 27"/>
            <p:cNvSpPr txBox="1"/>
            <p:nvPr/>
          </p:nvSpPr>
          <p:spPr>
            <a:xfrm>
              <a:off x="5747412" y="2535580"/>
              <a:ext cx="1114408" cy="361637"/>
            </a:xfrm>
            <a:prstGeom prst="rect">
              <a:avLst/>
            </a:prstGeom>
            <a:noFill/>
          </p:spPr>
          <p:txBody>
            <a:bodyPr wrap="none" rtlCol="0">
              <a:spAutoFit/>
            </a:bodyPr>
            <a:lstStyle/>
            <a:p>
              <a:pPr algn="ctr" defTabSz="516313">
                <a:lnSpc>
                  <a:spcPts val="2117"/>
                </a:lnSpc>
              </a:pPr>
              <a:r>
                <a:rPr lang="zh-CN" altLang="en-US" sz="1800" b="1" dirty="0">
                  <a:latin typeface="Huawei Sans" panose="020C0503030203020204" pitchFamily="34" charset="0"/>
                  <a:ea typeface="方正兰亭黑简体" panose="02000000000000000000" pitchFamily="2" charset="-122"/>
                  <a:cs typeface="+mn-ea"/>
                  <a:sym typeface="Huawei Sans" panose="020C0503030203020204" pitchFamily="34" charset="0"/>
                </a:rPr>
                <a:t>远程仓库</a:t>
              </a:r>
              <a:endParaRPr lang="en-US" altLang="zh-CN" sz="18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TextBox 28"/>
            <p:cNvSpPr txBox="1"/>
            <p:nvPr/>
          </p:nvSpPr>
          <p:spPr>
            <a:xfrm>
              <a:off x="9322574" y="2535580"/>
              <a:ext cx="1114408" cy="361637"/>
            </a:xfrm>
            <a:prstGeom prst="rect">
              <a:avLst/>
            </a:prstGeom>
            <a:noFill/>
          </p:spPr>
          <p:txBody>
            <a:bodyPr wrap="none" rtlCol="0">
              <a:spAutoFit/>
            </a:bodyPr>
            <a:lstStyle/>
            <a:p>
              <a:pPr defTabSz="516313">
                <a:lnSpc>
                  <a:spcPts val="2117"/>
                </a:lnSpc>
              </a:pPr>
              <a:r>
                <a:rPr lang="zh-CN" altLang="en-US" sz="1800" b="1" dirty="0">
                  <a:latin typeface="Huawei Sans" panose="020C0503030203020204" pitchFamily="34" charset="0"/>
                  <a:ea typeface="方正兰亭黑简体" panose="02000000000000000000" pitchFamily="2" charset="-122"/>
                  <a:cs typeface="+mn-ea"/>
                  <a:sym typeface="Huawei Sans" panose="020C0503030203020204" pitchFamily="34" charset="0"/>
                </a:rPr>
                <a:t>中央仓库</a:t>
              </a:r>
              <a:endParaRPr lang="en-US" altLang="zh-CN" sz="18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TextBox 27"/>
            <p:cNvSpPr>
              <a:spLocks noChangeArrowheads="1"/>
            </p:cNvSpPr>
            <p:nvPr/>
          </p:nvSpPr>
          <p:spPr bwMode="auto">
            <a:xfrm>
              <a:off x="4658761" y="4404963"/>
              <a:ext cx="316250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itchFamily="34" charset="0"/>
                <a:buChar char="•"/>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没有配置远程仓库，去中央仓库搜索</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buFont typeface="Arial" pitchFamily="34" charset="0"/>
                <a:buChar char="•"/>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远程仓库找到，下载到本地仓库</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buFont typeface="Arial" pitchFamily="34" charset="0"/>
                <a:buChar char="•"/>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远程仓库没有找到，搜索下一个远程仓，依次类推，如果所有远程仓都未找到，搜索中央仓</a:t>
              </a:r>
            </a:p>
          </p:txBody>
        </p:sp>
        <p:sp>
          <p:nvSpPr>
            <p:cNvPr id="10" name="TextBox 27"/>
            <p:cNvSpPr>
              <a:spLocks noChangeArrowheads="1"/>
            </p:cNvSpPr>
            <p:nvPr/>
          </p:nvSpPr>
          <p:spPr bwMode="auto">
            <a:xfrm>
              <a:off x="8154234" y="4404963"/>
              <a:ext cx="308441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itchFamily="34" charset="0"/>
                <a:buChar char="•"/>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中央仓库找到，下载到本地仓库</a:t>
              </a:r>
            </a:p>
            <a:p>
              <a:pPr marL="285750" indent="-285750">
                <a:buFont typeface="Arial" pitchFamily="34" charset="0"/>
                <a:buChar char="•"/>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中央仓库没有找到，前台打印错误信息</a:t>
              </a:r>
            </a:p>
          </p:txBody>
        </p:sp>
        <p:grpSp>
          <p:nvGrpSpPr>
            <p:cNvPr id="11" name="组合 10"/>
            <p:cNvGrpSpPr/>
            <p:nvPr/>
          </p:nvGrpSpPr>
          <p:grpSpPr bwMode="auto">
            <a:xfrm flipH="1">
              <a:off x="2024635" y="1944057"/>
              <a:ext cx="1356876" cy="1520422"/>
              <a:chOff x="-1900278" y="1638945"/>
              <a:chExt cx="1900275" cy="2102936"/>
            </a:xfrm>
            <a:solidFill>
              <a:srgbClr val="00B0F0"/>
            </a:solidFill>
          </p:grpSpPr>
          <p:sp>
            <p:nvSpPr>
              <p:cNvPr id="12" name="Freeform 31"/>
              <p:cNvSpPr>
                <a:spLocks/>
              </p:cNvSpPr>
              <p:nvPr/>
            </p:nvSpPr>
            <p:spPr bwMode="auto">
              <a:xfrm>
                <a:off x="-1787182" y="1804646"/>
                <a:ext cx="1610809" cy="1752321"/>
              </a:xfrm>
              <a:custGeom>
                <a:avLst/>
                <a:gdLst/>
                <a:ahLst/>
                <a:cxnLst>
                  <a:cxn ang="0">
                    <a:pos x="438" y="1043"/>
                  </a:cxn>
                  <a:cxn ang="0">
                    <a:pos x="959" y="521"/>
                  </a:cxn>
                  <a:cxn ang="0">
                    <a:pos x="438" y="0"/>
                  </a:cxn>
                  <a:cxn ang="0">
                    <a:pos x="0" y="237"/>
                  </a:cxn>
                  <a:cxn ang="0">
                    <a:pos x="40" y="264"/>
                  </a:cxn>
                  <a:cxn ang="0">
                    <a:pos x="438" y="48"/>
                  </a:cxn>
                  <a:cxn ang="0">
                    <a:pos x="911" y="521"/>
                  </a:cxn>
                  <a:cxn ang="0">
                    <a:pos x="438" y="995"/>
                  </a:cxn>
                  <a:cxn ang="0">
                    <a:pos x="152" y="899"/>
                  </a:cxn>
                  <a:cxn ang="0">
                    <a:pos x="234" y="884"/>
                  </a:cxn>
                  <a:cxn ang="0">
                    <a:pos x="5" y="766"/>
                  </a:cxn>
                  <a:cxn ang="0">
                    <a:pos x="85" y="1011"/>
                  </a:cxn>
                  <a:cxn ang="0">
                    <a:pos x="114" y="930"/>
                  </a:cxn>
                  <a:cxn ang="0">
                    <a:pos x="438" y="1043"/>
                  </a:cxn>
                </a:cxnLst>
                <a:rect l="0" t="0" r="r" b="b"/>
                <a:pathLst>
                  <a:path w="959" h="1043">
                    <a:moveTo>
                      <a:pt x="438" y="1043"/>
                    </a:moveTo>
                    <a:cubicBezTo>
                      <a:pt x="725" y="1043"/>
                      <a:pt x="959" y="809"/>
                      <a:pt x="959" y="521"/>
                    </a:cubicBezTo>
                    <a:cubicBezTo>
                      <a:pt x="959" y="234"/>
                      <a:pt x="725" y="0"/>
                      <a:pt x="438" y="0"/>
                    </a:cubicBezTo>
                    <a:cubicBezTo>
                      <a:pt x="261" y="0"/>
                      <a:pt x="97" y="89"/>
                      <a:pt x="0" y="237"/>
                    </a:cubicBezTo>
                    <a:cubicBezTo>
                      <a:pt x="40" y="264"/>
                      <a:pt x="40" y="264"/>
                      <a:pt x="40" y="264"/>
                    </a:cubicBezTo>
                    <a:cubicBezTo>
                      <a:pt x="128" y="128"/>
                      <a:pt x="277" y="48"/>
                      <a:pt x="438" y="48"/>
                    </a:cubicBezTo>
                    <a:cubicBezTo>
                      <a:pt x="699" y="48"/>
                      <a:pt x="911" y="260"/>
                      <a:pt x="911" y="521"/>
                    </a:cubicBezTo>
                    <a:cubicBezTo>
                      <a:pt x="911" y="782"/>
                      <a:pt x="699" y="995"/>
                      <a:pt x="438" y="995"/>
                    </a:cubicBezTo>
                    <a:cubicBezTo>
                      <a:pt x="334" y="995"/>
                      <a:pt x="234" y="961"/>
                      <a:pt x="152" y="899"/>
                    </a:cubicBezTo>
                    <a:cubicBezTo>
                      <a:pt x="234" y="884"/>
                      <a:pt x="234" y="884"/>
                      <a:pt x="234" y="884"/>
                    </a:cubicBezTo>
                    <a:cubicBezTo>
                      <a:pt x="5" y="766"/>
                      <a:pt x="5" y="766"/>
                      <a:pt x="5" y="766"/>
                    </a:cubicBezTo>
                    <a:cubicBezTo>
                      <a:pt x="85" y="1011"/>
                      <a:pt x="85" y="1011"/>
                      <a:pt x="85" y="1011"/>
                    </a:cubicBezTo>
                    <a:cubicBezTo>
                      <a:pt x="114" y="930"/>
                      <a:pt x="114" y="930"/>
                      <a:pt x="114" y="930"/>
                    </a:cubicBezTo>
                    <a:cubicBezTo>
                      <a:pt x="206" y="1003"/>
                      <a:pt x="320" y="1043"/>
                      <a:pt x="438" y="10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Freeform 32"/>
              <p:cNvSpPr>
                <a:spLocks/>
              </p:cNvSpPr>
              <p:nvPr/>
            </p:nvSpPr>
            <p:spPr bwMode="auto">
              <a:xfrm>
                <a:off x="-1518359" y="3613862"/>
                <a:ext cx="44803" cy="35557"/>
              </a:xfrm>
              <a:custGeom>
                <a:avLst/>
                <a:gdLst/>
                <a:ahLst/>
                <a:cxnLst>
                  <a:cxn ang="0">
                    <a:pos x="0" y="11"/>
                  </a:cxn>
                  <a:cxn ang="0">
                    <a:pos x="22" y="21"/>
                  </a:cxn>
                  <a:cxn ang="0">
                    <a:pos x="27" y="10"/>
                  </a:cxn>
                  <a:cxn ang="0">
                    <a:pos x="6" y="0"/>
                  </a:cxn>
                  <a:cxn ang="0">
                    <a:pos x="0" y="11"/>
                  </a:cxn>
                </a:cxnLst>
                <a:rect l="0" t="0" r="r" b="b"/>
                <a:pathLst>
                  <a:path w="27" h="21">
                    <a:moveTo>
                      <a:pt x="0" y="11"/>
                    </a:moveTo>
                    <a:cubicBezTo>
                      <a:pt x="8" y="14"/>
                      <a:pt x="15" y="18"/>
                      <a:pt x="22" y="21"/>
                    </a:cubicBezTo>
                    <a:cubicBezTo>
                      <a:pt x="27" y="10"/>
                      <a:pt x="27" y="10"/>
                      <a:pt x="27" y="10"/>
                    </a:cubicBezTo>
                    <a:cubicBezTo>
                      <a:pt x="20" y="7"/>
                      <a:pt x="13" y="3"/>
                      <a:pt x="6" y="0"/>
                    </a:cubicBezTo>
                    <a:lnTo>
                      <a:pt x="0" y="1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Freeform 33"/>
              <p:cNvSpPr>
                <a:spLocks/>
              </p:cNvSpPr>
              <p:nvPr/>
            </p:nvSpPr>
            <p:spPr bwMode="auto">
              <a:xfrm>
                <a:off x="-1254515" y="1645344"/>
                <a:ext cx="83919" cy="33424"/>
              </a:xfrm>
              <a:custGeom>
                <a:avLst/>
                <a:gdLst/>
                <a:ahLst/>
                <a:cxnLst>
                  <a:cxn ang="0">
                    <a:pos x="50" y="12"/>
                  </a:cxn>
                  <a:cxn ang="0">
                    <a:pos x="49" y="0"/>
                  </a:cxn>
                  <a:cxn ang="0">
                    <a:pos x="0" y="8"/>
                  </a:cxn>
                  <a:cxn ang="0">
                    <a:pos x="3" y="20"/>
                  </a:cxn>
                  <a:cxn ang="0">
                    <a:pos x="50" y="12"/>
                  </a:cxn>
                </a:cxnLst>
                <a:rect l="0" t="0" r="r" b="b"/>
                <a:pathLst>
                  <a:path w="50" h="20">
                    <a:moveTo>
                      <a:pt x="50" y="12"/>
                    </a:moveTo>
                    <a:cubicBezTo>
                      <a:pt x="49" y="0"/>
                      <a:pt x="49" y="0"/>
                      <a:pt x="49" y="0"/>
                    </a:cubicBezTo>
                    <a:cubicBezTo>
                      <a:pt x="33" y="2"/>
                      <a:pt x="16" y="5"/>
                      <a:pt x="0" y="8"/>
                    </a:cubicBezTo>
                    <a:cubicBezTo>
                      <a:pt x="3" y="20"/>
                      <a:pt x="3" y="20"/>
                      <a:pt x="3" y="20"/>
                    </a:cubicBezTo>
                    <a:cubicBezTo>
                      <a:pt x="18" y="17"/>
                      <a:pt x="34" y="14"/>
                      <a:pt x="50"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Freeform 34"/>
              <p:cNvSpPr>
                <a:spLocks/>
              </p:cNvSpPr>
              <p:nvPr/>
            </p:nvSpPr>
            <p:spPr bwMode="auto">
              <a:xfrm>
                <a:off x="-1821319" y="1915587"/>
                <a:ext cx="72540" cy="72540"/>
              </a:xfrm>
              <a:custGeom>
                <a:avLst/>
                <a:gdLst/>
                <a:ahLst/>
                <a:cxnLst>
                  <a:cxn ang="0">
                    <a:pos x="43" y="9"/>
                  </a:cxn>
                  <a:cxn ang="0">
                    <a:pos x="35" y="0"/>
                  </a:cxn>
                  <a:cxn ang="0">
                    <a:pos x="0" y="34"/>
                  </a:cxn>
                  <a:cxn ang="0">
                    <a:pos x="9" y="43"/>
                  </a:cxn>
                  <a:cxn ang="0">
                    <a:pos x="43" y="9"/>
                  </a:cxn>
                </a:cxnLst>
                <a:rect l="0" t="0" r="r" b="b"/>
                <a:pathLst>
                  <a:path w="43" h="43">
                    <a:moveTo>
                      <a:pt x="43" y="9"/>
                    </a:moveTo>
                    <a:cubicBezTo>
                      <a:pt x="35" y="0"/>
                      <a:pt x="35" y="0"/>
                      <a:pt x="35" y="0"/>
                    </a:cubicBezTo>
                    <a:cubicBezTo>
                      <a:pt x="23" y="11"/>
                      <a:pt x="12" y="22"/>
                      <a:pt x="0" y="34"/>
                    </a:cubicBezTo>
                    <a:cubicBezTo>
                      <a:pt x="9" y="43"/>
                      <a:pt x="9" y="43"/>
                      <a:pt x="9" y="43"/>
                    </a:cubicBezTo>
                    <a:cubicBezTo>
                      <a:pt x="20" y="31"/>
                      <a:pt x="32" y="20"/>
                      <a:pt x="43"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Freeform 35"/>
              <p:cNvSpPr>
                <a:spLocks/>
              </p:cNvSpPr>
              <p:nvPr/>
            </p:nvSpPr>
            <p:spPr bwMode="auto">
              <a:xfrm>
                <a:off x="-1412393" y="1677347"/>
                <a:ext cx="83919" cy="43381"/>
              </a:xfrm>
              <a:custGeom>
                <a:avLst/>
                <a:gdLst/>
                <a:ahLst/>
                <a:cxnLst>
                  <a:cxn ang="0">
                    <a:pos x="50" y="12"/>
                  </a:cxn>
                  <a:cxn ang="0">
                    <a:pos x="47" y="0"/>
                  </a:cxn>
                  <a:cxn ang="0">
                    <a:pos x="0" y="15"/>
                  </a:cxn>
                  <a:cxn ang="0">
                    <a:pos x="4" y="26"/>
                  </a:cxn>
                  <a:cxn ang="0">
                    <a:pos x="50" y="12"/>
                  </a:cxn>
                </a:cxnLst>
                <a:rect l="0" t="0" r="r" b="b"/>
                <a:pathLst>
                  <a:path w="50" h="26">
                    <a:moveTo>
                      <a:pt x="50" y="12"/>
                    </a:moveTo>
                    <a:cubicBezTo>
                      <a:pt x="47" y="0"/>
                      <a:pt x="47" y="0"/>
                      <a:pt x="47" y="0"/>
                    </a:cubicBezTo>
                    <a:cubicBezTo>
                      <a:pt x="31" y="5"/>
                      <a:pt x="15" y="10"/>
                      <a:pt x="0" y="15"/>
                    </a:cubicBezTo>
                    <a:cubicBezTo>
                      <a:pt x="4" y="26"/>
                      <a:pt x="4" y="26"/>
                      <a:pt x="4" y="26"/>
                    </a:cubicBezTo>
                    <a:cubicBezTo>
                      <a:pt x="19" y="21"/>
                      <a:pt x="35" y="16"/>
                      <a:pt x="50"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Freeform 36"/>
              <p:cNvSpPr>
                <a:spLocks/>
              </p:cNvSpPr>
              <p:nvPr/>
            </p:nvSpPr>
            <p:spPr bwMode="auto">
              <a:xfrm>
                <a:off x="-1090233" y="1638945"/>
                <a:ext cx="82497" cy="21333"/>
              </a:xfrm>
              <a:custGeom>
                <a:avLst/>
                <a:gdLst/>
                <a:ahLst/>
                <a:cxnLst>
                  <a:cxn ang="0">
                    <a:pos x="22" y="12"/>
                  </a:cxn>
                  <a:cxn ang="0">
                    <a:pos x="23" y="12"/>
                  </a:cxn>
                  <a:cxn ang="0">
                    <a:pos x="48" y="13"/>
                  </a:cxn>
                  <a:cxn ang="0">
                    <a:pos x="49" y="1"/>
                  </a:cxn>
                  <a:cxn ang="0">
                    <a:pos x="23" y="0"/>
                  </a:cxn>
                  <a:cxn ang="0">
                    <a:pos x="22" y="0"/>
                  </a:cxn>
                  <a:cxn ang="0">
                    <a:pos x="0" y="1"/>
                  </a:cxn>
                  <a:cxn ang="0">
                    <a:pos x="0" y="13"/>
                  </a:cxn>
                  <a:cxn ang="0">
                    <a:pos x="22" y="12"/>
                  </a:cxn>
                </a:cxnLst>
                <a:rect l="0" t="0" r="r" b="b"/>
                <a:pathLst>
                  <a:path w="49" h="13">
                    <a:moveTo>
                      <a:pt x="22" y="12"/>
                    </a:moveTo>
                    <a:cubicBezTo>
                      <a:pt x="23" y="12"/>
                      <a:pt x="23" y="12"/>
                      <a:pt x="23" y="12"/>
                    </a:cubicBezTo>
                    <a:cubicBezTo>
                      <a:pt x="32" y="12"/>
                      <a:pt x="40" y="12"/>
                      <a:pt x="48" y="13"/>
                    </a:cubicBezTo>
                    <a:cubicBezTo>
                      <a:pt x="49" y="1"/>
                      <a:pt x="49" y="1"/>
                      <a:pt x="49" y="1"/>
                    </a:cubicBezTo>
                    <a:cubicBezTo>
                      <a:pt x="40" y="0"/>
                      <a:pt x="32" y="0"/>
                      <a:pt x="23" y="0"/>
                    </a:cubicBezTo>
                    <a:cubicBezTo>
                      <a:pt x="22" y="0"/>
                      <a:pt x="22" y="0"/>
                      <a:pt x="22" y="0"/>
                    </a:cubicBezTo>
                    <a:cubicBezTo>
                      <a:pt x="14" y="0"/>
                      <a:pt x="7" y="0"/>
                      <a:pt x="0" y="1"/>
                    </a:cubicBezTo>
                    <a:cubicBezTo>
                      <a:pt x="0" y="13"/>
                      <a:pt x="0" y="13"/>
                      <a:pt x="0" y="13"/>
                    </a:cubicBezTo>
                    <a:cubicBezTo>
                      <a:pt x="7" y="12"/>
                      <a:pt x="14" y="12"/>
                      <a:pt x="22"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Freeform 37"/>
              <p:cNvSpPr>
                <a:spLocks/>
              </p:cNvSpPr>
              <p:nvPr/>
            </p:nvSpPr>
            <p:spPr bwMode="auto">
              <a:xfrm>
                <a:off x="-1698285" y="1813182"/>
                <a:ext cx="77519" cy="65428"/>
              </a:xfrm>
              <a:custGeom>
                <a:avLst/>
                <a:gdLst/>
                <a:ahLst/>
                <a:cxnLst>
                  <a:cxn ang="0">
                    <a:pos x="46" y="10"/>
                  </a:cxn>
                  <a:cxn ang="0">
                    <a:pos x="39" y="0"/>
                  </a:cxn>
                  <a:cxn ang="0">
                    <a:pos x="0" y="29"/>
                  </a:cxn>
                  <a:cxn ang="0">
                    <a:pos x="7" y="39"/>
                  </a:cxn>
                  <a:cxn ang="0">
                    <a:pos x="46" y="10"/>
                  </a:cxn>
                </a:cxnLst>
                <a:rect l="0" t="0" r="r" b="b"/>
                <a:pathLst>
                  <a:path w="46" h="39">
                    <a:moveTo>
                      <a:pt x="46" y="10"/>
                    </a:moveTo>
                    <a:cubicBezTo>
                      <a:pt x="39" y="0"/>
                      <a:pt x="39" y="0"/>
                      <a:pt x="39" y="0"/>
                    </a:cubicBezTo>
                    <a:cubicBezTo>
                      <a:pt x="26" y="9"/>
                      <a:pt x="12" y="19"/>
                      <a:pt x="0" y="29"/>
                    </a:cubicBezTo>
                    <a:cubicBezTo>
                      <a:pt x="7" y="39"/>
                      <a:pt x="7" y="39"/>
                      <a:pt x="7" y="39"/>
                    </a:cubicBezTo>
                    <a:cubicBezTo>
                      <a:pt x="20" y="29"/>
                      <a:pt x="33" y="19"/>
                      <a:pt x="46" y="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Freeform 38"/>
              <p:cNvSpPr>
                <a:spLocks/>
              </p:cNvSpPr>
              <p:nvPr/>
            </p:nvSpPr>
            <p:spPr bwMode="auto">
              <a:xfrm>
                <a:off x="-1562451" y="1734243"/>
                <a:ext cx="82497" cy="54049"/>
              </a:xfrm>
              <a:custGeom>
                <a:avLst/>
                <a:gdLst/>
                <a:ahLst/>
                <a:cxnLst>
                  <a:cxn ang="0">
                    <a:pos x="49" y="11"/>
                  </a:cxn>
                  <a:cxn ang="0">
                    <a:pos x="44" y="0"/>
                  </a:cxn>
                  <a:cxn ang="0">
                    <a:pos x="0" y="22"/>
                  </a:cxn>
                  <a:cxn ang="0">
                    <a:pos x="6" y="32"/>
                  </a:cxn>
                  <a:cxn ang="0">
                    <a:pos x="49" y="11"/>
                  </a:cxn>
                </a:cxnLst>
                <a:rect l="0" t="0" r="r" b="b"/>
                <a:pathLst>
                  <a:path w="49" h="32">
                    <a:moveTo>
                      <a:pt x="49" y="11"/>
                    </a:moveTo>
                    <a:cubicBezTo>
                      <a:pt x="44" y="0"/>
                      <a:pt x="44" y="0"/>
                      <a:pt x="44" y="0"/>
                    </a:cubicBezTo>
                    <a:cubicBezTo>
                      <a:pt x="29" y="7"/>
                      <a:pt x="14" y="14"/>
                      <a:pt x="0" y="22"/>
                    </a:cubicBezTo>
                    <a:cubicBezTo>
                      <a:pt x="6" y="32"/>
                      <a:pt x="6" y="32"/>
                      <a:pt x="6" y="32"/>
                    </a:cubicBezTo>
                    <a:cubicBezTo>
                      <a:pt x="20" y="25"/>
                      <a:pt x="34" y="17"/>
                      <a:pt x="49" y="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Freeform 39"/>
              <p:cNvSpPr>
                <a:spLocks/>
              </p:cNvSpPr>
              <p:nvPr/>
            </p:nvSpPr>
            <p:spPr bwMode="auto">
              <a:xfrm>
                <a:off x="-241801" y="2038621"/>
                <a:ext cx="64006" cy="76807"/>
              </a:xfrm>
              <a:custGeom>
                <a:avLst/>
                <a:gdLst/>
                <a:ahLst/>
                <a:cxnLst>
                  <a:cxn ang="0">
                    <a:pos x="38" y="39"/>
                  </a:cxn>
                  <a:cxn ang="0">
                    <a:pos x="9" y="0"/>
                  </a:cxn>
                  <a:cxn ang="0">
                    <a:pos x="0" y="7"/>
                  </a:cxn>
                  <a:cxn ang="0">
                    <a:pos x="28" y="46"/>
                  </a:cxn>
                  <a:cxn ang="0">
                    <a:pos x="38" y="39"/>
                  </a:cxn>
                </a:cxnLst>
                <a:rect l="0" t="0" r="r" b="b"/>
                <a:pathLst>
                  <a:path w="38" h="46">
                    <a:moveTo>
                      <a:pt x="38" y="39"/>
                    </a:moveTo>
                    <a:cubicBezTo>
                      <a:pt x="29" y="26"/>
                      <a:pt x="19" y="12"/>
                      <a:pt x="9" y="0"/>
                    </a:cubicBezTo>
                    <a:cubicBezTo>
                      <a:pt x="0" y="7"/>
                      <a:pt x="0" y="7"/>
                      <a:pt x="0" y="7"/>
                    </a:cubicBezTo>
                    <a:cubicBezTo>
                      <a:pt x="10" y="20"/>
                      <a:pt x="19" y="33"/>
                      <a:pt x="28" y="46"/>
                    </a:cubicBezTo>
                    <a:lnTo>
                      <a:pt x="38" y="3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Freeform 40"/>
              <p:cNvSpPr>
                <a:spLocks/>
              </p:cNvSpPr>
              <p:nvPr/>
            </p:nvSpPr>
            <p:spPr bwMode="auto">
              <a:xfrm>
                <a:off x="-352744" y="1917725"/>
                <a:ext cx="72540" cy="71829"/>
              </a:xfrm>
              <a:custGeom>
                <a:avLst/>
                <a:gdLst/>
                <a:ahLst/>
                <a:cxnLst>
                  <a:cxn ang="0">
                    <a:pos x="34" y="43"/>
                  </a:cxn>
                  <a:cxn ang="0">
                    <a:pos x="43" y="34"/>
                  </a:cxn>
                  <a:cxn ang="0">
                    <a:pos x="8" y="0"/>
                  </a:cxn>
                  <a:cxn ang="0">
                    <a:pos x="0" y="9"/>
                  </a:cxn>
                  <a:cxn ang="0">
                    <a:pos x="34" y="43"/>
                  </a:cxn>
                </a:cxnLst>
                <a:rect l="0" t="0" r="r" b="b"/>
                <a:pathLst>
                  <a:path w="43" h="43">
                    <a:moveTo>
                      <a:pt x="34" y="43"/>
                    </a:moveTo>
                    <a:cubicBezTo>
                      <a:pt x="43" y="34"/>
                      <a:pt x="43" y="34"/>
                      <a:pt x="43" y="34"/>
                    </a:cubicBezTo>
                    <a:cubicBezTo>
                      <a:pt x="32" y="23"/>
                      <a:pt x="20" y="11"/>
                      <a:pt x="8" y="0"/>
                    </a:cubicBezTo>
                    <a:cubicBezTo>
                      <a:pt x="0" y="9"/>
                      <a:pt x="0" y="9"/>
                      <a:pt x="0" y="9"/>
                    </a:cubicBezTo>
                    <a:cubicBezTo>
                      <a:pt x="12" y="20"/>
                      <a:pt x="23" y="31"/>
                      <a:pt x="34" y="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Freeform 41"/>
              <p:cNvSpPr>
                <a:spLocks/>
              </p:cNvSpPr>
              <p:nvPr/>
            </p:nvSpPr>
            <p:spPr bwMode="auto">
              <a:xfrm>
                <a:off x="-39827" y="2481679"/>
                <a:ext cx="31293" cy="83919"/>
              </a:xfrm>
              <a:custGeom>
                <a:avLst/>
                <a:gdLst/>
                <a:ahLst/>
                <a:cxnLst>
                  <a:cxn ang="0">
                    <a:pos x="8" y="50"/>
                  </a:cxn>
                  <a:cxn ang="0">
                    <a:pos x="19" y="48"/>
                  </a:cxn>
                  <a:cxn ang="0">
                    <a:pos x="12" y="0"/>
                  </a:cxn>
                  <a:cxn ang="0">
                    <a:pos x="0" y="2"/>
                  </a:cxn>
                  <a:cxn ang="0">
                    <a:pos x="8" y="50"/>
                  </a:cxn>
                </a:cxnLst>
                <a:rect l="0" t="0" r="r" b="b"/>
                <a:pathLst>
                  <a:path w="19" h="50">
                    <a:moveTo>
                      <a:pt x="8" y="50"/>
                    </a:moveTo>
                    <a:cubicBezTo>
                      <a:pt x="19" y="48"/>
                      <a:pt x="19" y="48"/>
                      <a:pt x="19" y="48"/>
                    </a:cubicBezTo>
                    <a:cubicBezTo>
                      <a:pt x="18" y="32"/>
                      <a:pt x="15" y="16"/>
                      <a:pt x="12" y="0"/>
                    </a:cubicBezTo>
                    <a:cubicBezTo>
                      <a:pt x="0" y="2"/>
                      <a:pt x="0" y="2"/>
                      <a:pt x="0" y="2"/>
                    </a:cubicBezTo>
                    <a:cubicBezTo>
                      <a:pt x="3" y="18"/>
                      <a:pt x="6" y="34"/>
                      <a:pt x="8" y="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Freeform 42"/>
              <p:cNvSpPr>
                <a:spLocks/>
              </p:cNvSpPr>
              <p:nvPr/>
            </p:nvSpPr>
            <p:spPr bwMode="auto">
              <a:xfrm>
                <a:off x="-928794" y="1646768"/>
                <a:ext cx="83919" cy="32001"/>
              </a:xfrm>
              <a:custGeom>
                <a:avLst/>
                <a:gdLst/>
                <a:ahLst/>
                <a:cxnLst>
                  <a:cxn ang="0">
                    <a:pos x="50" y="7"/>
                  </a:cxn>
                  <a:cxn ang="0">
                    <a:pos x="2" y="0"/>
                  </a:cxn>
                  <a:cxn ang="0">
                    <a:pos x="0" y="11"/>
                  </a:cxn>
                  <a:cxn ang="0">
                    <a:pos x="48" y="19"/>
                  </a:cxn>
                  <a:cxn ang="0">
                    <a:pos x="50" y="7"/>
                  </a:cxn>
                </a:cxnLst>
                <a:rect l="0" t="0" r="r" b="b"/>
                <a:pathLst>
                  <a:path w="50" h="19">
                    <a:moveTo>
                      <a:pt x="50" y="7"/>
                    </a:moveTo>
                    <a:cubicBezTo>
                      <a:pt x="34" y="4"/>
                      <a:pt x="18" y="1"/>
                      <a:pt x="2" y="0"/>
                    </a:cubicBezTo>
                    <a:cubicBezTo>
                      <a:pt x="0" y="11"/>
                      <a:pt x="0" y="11"/>
                      <a:pt x="0" y="11"/>
                    </a:cubicBezTo>
                    <a:cubicBezTo>
                      <a:pt x="16" y="13"/>
                      <a:pt x="32" y="16"/>
                      <a:pt x="48" y="19"/>
                    </a:cubicBezTo>
                    <a:lnTo>
                      <a:pt x="50" y="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Freeform 43"/>
              <p:cNvSpPr>
                <a:spLocks/>
              </p:cNvSpPr>
              <p:nvPr/>
            </p:nvSpPr>
            <p:spPr bwMode="auto">
              <a:xfrm>
                <a:off x="-478621" y="1815317"/>
                <a:ext cx="77519" cy="65428"/>
              </a:xfrm>
              <a:custGeom>
                <a:avLst/>
                <a:gdLst/>
                <a:ahLst/>
                <a:cxnLst>
                  <a:cxn ang="0">
                    <a:pos x="46" y="29"/>
                  </a:cxn>
                  <a:cxn ang="0">
                    <a:pos x="7" y="0"/>
                  </a:cxn>
                  <a:cxn ang="0">
                    <a:pos x="0" y="10"/>
                  </a:cxn>
                  <a:cxn ang="0">
                    <a:pos x="39" y="39"/>
                  </a:cxn>
                  <a:cxn ang="0">
                    <a:pos x="46" y="29"/>
                  </a:cxn>
                </a:cxnLst>
                <a:rect l="0" t="0" r="r" b="b"/>
                <a:pathLst>
                  <a:path w="46" h="39">
                    <a:moveTo>
                      <a:pt x="46" y="29"/>
                    </a:moveTo>
                    <a:cubicBezTo>
                      <a:pt x="33" y="19"/>
                      <a:pt x="20" y="9"/>
                      <a:pt x="7" y="0"/>
                    </a:cubicBezTo>
                    <a:cubicBezTo>
                      <a:pt x="0" y="10"/>
                      <a:pt x="0" y="10"/>
                      <a:pt x="0" y="10"/>
                    </a:cubicBezTo>
                    <a:cubicBezTo>
                      <a:pt x="13" y="19"/>
                      <a:pt x="26" y="29"/>
                      <a:pt x="39" y="39"/>
                    </a:cubicBezTo>
                    <a:lnTo>
                      <a:pt x="46" y="2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Freeform 44"/>
              <p:cNvSpPr>
                <a:spLocks/>
              </p:cNvSpPr>
              <p:nvPr/>
            </p:nvSpPr>
            <p:spPr bwMode="auto">
              <a:xfrm>
                <a:off x="-770915" y="1678772"/>
                <a:ext cx="83919" cy="44092"/>
              </a:xfrm>
              <a:custGeom>
                <a:avLst/>
                <a:gdLst/>
                <a:ahLst/>
                <a:cxnLst>
                  <a:cxn ang="0">
                    <a:pos x="50" y="15"/>
                  </a:cxn>
                  <a:cxn ang="0">
                    <a:pos x="4" y="0"/>
                  </a:cxn>
                  <a:cxn ang="0">
                    <a:pos x="0" y="11"/>
                  </a:cxn>
                  <a:cxn ang="0">
                    <a:pos x="46" y="26"/>
                  </a:cxn>
                  <a:cxn ang="0">
                    <a:pos x="50" y="15"/>
                  </a:cxn>
                </a:cxnLst>
                <a:rect l="0" t="0" r="r" b="b"/>
                <a:pathLst>
                  <a:path w="50" h="26">
                    <a:moveTo>
                      <a:pt x="50" y="15"/>
                    </a:moveTo>
                    <a:cubicBezTo>
                      <a:pt x="35" y="9"/>
                      <a:pt x="19" y="4"/>
                      <a:pt x="4" y="0"/>
                    </a:cubicBezTo>
                    <a:cubicBezTo>
                      <a:pt x="0" y="11"/>
                      <a:pt x="0" y="11"/>
                      <a:pt x="0" y="11"/>
                    </a:cubicBezTo>
                    <a:cubicBezTo>
                      <a:pt x="16" y="15"/>
                      <a:pt x="31" y="20"/>
                      <a:pt x="46" y="26"/>
                    </a:cubicBezTo>
                    <a:lnTo>
                      <a:pt x="50" y="1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Freeform 45"/>
              <p:cNvSpPr>
                <a:spLocks/>
              </p:cNvSpPr>
              <p:nvPr/>
            </p:nvSpPr>
            <p:spPr bwMode="auto">
              <a:xfrm>
                <a:off x="-619433" y="1734245"/>
                <a:ext cx="81786" cy="55471"/>
              </a:xfrm>
              <a:custGeom>
                <a:avLst/>
                <a:gdLst/>
                <a:ahLst/>
                <a:cxnLst>
                  <a:cxn ang="0">
                    <a:pos x="49" y="23"/>
                  </a:cxn>
                  <a:cxn ang="0">
                    <a:pos x="5" y="0"/>
                  </a:cxn>
                  <a:cxn ang="0">
                    <a:pos x="0" y="11"/>
                  </a:cxn>
                  <a:cxn ang="0">
                    <a:pos x="43" y="33"/>
                  </a:cxn>
                  <a:cxn ang="0">
                    <a:pos x="49" y="23"/>
                  </a:cxn>
                </a:cxnLst>
                <a:rect l="0" t="0" r="r" b="b"/>
                <a:pathLst>
                  <a:path w="49" h="33">
                    <a:moveTo>
                      <a:pt x="49" y="23"/>
                    </a:moveTo>
                    <a:cubicBezTo>
                      <a:pt x="35" y="15"/>
                      <a:pt x="20" y="7"/>
                      <a:pt x="5" y="0"/>
                    </a:cubicBezTo>
                    <a:cubicBezTo>
                      <a:pt x="0" y="11"/>
                      <a:pt x="0" y="11"/>
                      <a:pt x="0" y="11"/>
                    </a:cubicBezTo>
                    <a:cubicBezTo>
                      <a:pt x="15" y="18"/>
                      <a:pt x="29" y="25"/>
                      <a:pt x="43" y="33"/>
                    </a:cubicBezTo>
                    <a:lnTo>
                      <a:pt x="49" y="2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Freeform 46"/>
              <p:cNvSpPr>
                <a:spLocks/>
              </p:cNvSpPr>
              <p:nvPr/>
            </p:nvSpPr>
            <p:spPr bwMode="auto">
              <a:xfrm>
                <a:off x="-1246688" y="3703473"/>
                <a:ext cx="83919" cy="32001"/>
              </a:xfrm>
              <a:custGeom>
                <a:avLst/>
                <a:gdLst/>
                <a:ahLst/>
                <a:cxnLst>
                  <a:cxn ang="0">
                    <a:pos x="0" y="12"/>
                  </a:cxn>
                  <a:cxn ang="0">
                    <a:pos x="49" y="19"/>
                  </a:cxn>
                  <a:cxn ang="0">
                    <a:pos x="50" y="7"/>
                  </a:cxn>
                  <a:cxn ang="0">
                    <a:pos x="3" y="0"/>
                  </a:cxn>
                  <a:cxn ang="0">
                    <a:pos x="0" y="12"/>
                  </a:cxn>
                </a:cxnLst>
                <a:rect l="0" t="0" r="r" b="b"/>
                <a:pathLst>
                  <a:path w="50" h="19">
                    <a:moveTo>
                      <a:pt x="0" y="12"/>
                    </a:moveTo>
                    <a:cubicBezTo>
                      <a:pt x="16" y="15"/>
                      <a:pt x="33" y="17"/>
                      <a:pt x="49" y="19"/>
                    </a:cubicBezTo>
                    <a:cubicBezTo>
                      <a:pt x="50" y="7"/>
                      <a:pt x="50" y="7"/>
                      <a:pt x="50" y="7"/>
                    </a:cubicBezTo>
                    <a:cubicBezTo>
                      <a:pt x="34" y="5"/>
                      <a:pt x="18" y="3"/>
                      <a:pt x="3" y="0"/>
                    </a:cubicBezTo>
                    <a:lnTo>
                      <a:pt x="0" y="1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Freeform 47"/>
              <p:cNvSpPr>
                <a:spLocks/>
              </p:cNvSpPr>
              <p:nvPr/>
            </p:nvSpPr>
            <p:spPr bwMode="auto">
              <a:xfrm>
                <a:off x="-83919" y="2323806"/>
                <a:ext cx="44092" cy="83919"/>
              </a:xfrm>
              <a:custGeom>
                <a:avLst/>
                <a:gdLst/>
                <a:ahLst/>
                <a:cxnLst>
                  <a:cxn ang="0">
                    <a:pos x="26" y="46"/>
                  </a:cxn>
                  <a:cxn ang="0">
                    <a:pos x="11" y="0"/>
                  </a:cxn>
                  <a:cxn ang="0">
                    <a:pos x="0" y="4"/>
                  </a:cxn>
                  <a:cxn ang="0">
                    <a:pos x="15" y="50"/>
                  </a:cxn>
                  <a:cxn ang="0">
                    <a:pos x="26" y="46"/>
                  </a:cxn>
                </a:cxnLst>
                <a:rect l="0" t="0" r="r" b="b"/>
                <a:pathLst>
                  <a:path w="26" h="50">
                    <a:moveTo>
                      <a:pt x="26" y="46"/>
                    </a:moveTo>
                    <a:cubicBezTo>
                      <a:pt x="22" y="31"/>
                      <a:pt x="17" y="15"/>
                      <a:pt x="11" y="0"/>
                    </a:cubicBezTo>
                    <a:cubicBezTo>
                      <a:pt x="0" y="4"/>
                      <a:pt x="0" y="4"/>
                      <a:pt x="0" y="4"/>
                    </a:cubicBezTo>
                    <a:cubicBezTo>
                      <a:pt x="5" y="19"/>
                      <a:pt x="10" y="34"/>
                      <a:pt x="15" y="50"/>
                    </a:cubicBezTo>
                    <a:lnTo>
                      <a:pt x="26" y="4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Freeform 48"/>
              <p:cNvSpPr>
                <a:spLocks/>
              </p:cNvSpPr>
              <p:nvPr/>
            </p:nvSpPr>
            <p:spPr bwMode="auto">
              <a:xfrm>
                <a:off x="-147926" y="3116758"/>
                <a:ext cx="54049" cy="82497"/>
              </a:xfrm>
              <a:custGeom>
                <a:avLst/>
                <a:gdLst/>
                <a:ahLst/>
                <a:cxnLst>
                  <a:cxn ang="0">
                    <a:pos x="0" y="43"/>
                  </a:cxn>
                  <a:cxn ang="0">
                    <a:pos x="10" y="49"/>
                  </a:cxn>
                  <a:cxn ang="0">
                    <a:pos x="32" y="5"/>
                  </a:cxn>
                  <a:cxn ang="0">
                    <a:pos x="21" y="0"/>
                  </a:cxn>
                  <a:cxn ang="0">
                    <a:pos x="0" y="43"/>
                  </a:cxn>
                </a:cxnLst>
                <a:rect l="0" t="0" r="r" b="b"/>
                <a:pathLst>
                  <a:path w="32" h="49">
                    <a:moveTo>
                      <a:pt x="0" y="43"/>
                    </a:moveTo>
                    <a:cubicBezTo>
                      <a:pt x="10" y="49"/>
                      <a:pt x="10" y="49"/>
                      <a:pt x="10" y="49"/>
                    </a:cubicBezTo>
                    <a:cubicBezTo>
                      <a:pt x="18" y="34"/>
                      <a:pt x="25" y="20"/>
                      <a:pt x="32" y="5"/>
                    </a:cubicBezTo>
                    <a:cubicBezTo>
                      <a:pt x="21" y="0"/>
                      <a:pt x="21" y="0"/>
                      <a:pt x="21" y="0"/>
                    </a:cubicBezTo>
                    <a:cubicBezTo>
                      <a:pt x="15" y="14"/>
                      <a:pt x="7" y="29"/>
                      <a:pt x="0" y="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Freeform 49"/>
              <p:cNvSpPr>
                <a:spLocks/>
              </p:cNvSpPr>
              <p:nvPr/>
            </p:nvSpPr>
            <p:spPr bwMode="auto">
              <a:xfrm>
                <a:off x="-152904" y="2174458"/>
                <a:ext cx="55471" cy="82497"/>
              </a:xfrm>
              <a:custGeom>
                <a:avLst/>
                <a:gdLst/>
                <a:ahLst/>
                <a:cxnLst>
                  <a:cxn ang="0">
                    <a:pos x="33" y="43"/>
                  </a:cxn>
                  <a:cxn ang="0">
                    <a:pos x="11" y="0"/>
                  </a:cxn>
                  <a:cxn ang="0">
                    <a:pos x="0" y="6"/>
                  </a:cxn>
                  <a:cxn ang="0">
                    <a:pos x="22" y="49"/>
                  </a:cxn>
                  <a:cxn ang="0">
                    <a:pos x="33" y="43"/>
                  </a:cxn>
                </a:cxnLst>
                <a:rect l="0" t="0" r="r" b="b"/>
                <a:pathLst>
                  <a:path w="33" h="49">
                    <a:moveTo>
                      <a:pt x="33" y="43"/>
                    </a:moveTo>
                    <a:cubicBezTo>
                      <a:pt x="26" y="29"/>
                      <a:pt x="19" y="14"/>
                      <a:pt x="11" y="0"/>
                    </a:cubicBezTo>
                    <a:cubicBezTo>
                      <a:pt x="0" y="6"/>
                      <a:pt x="0" y="6"/>
                      <a:pt x="0" y="6"/>
                    </a:cubicBezTo>
                    <a:cubicBezTo>
                      <a:pt x="8" y="20"/>
                      <a:pt x="15" y="34"/>
                      <a:pt x="22" y="49"/>
                    </a:cubicBezTo>
                    <a:lnTo>
                      <a:pt x="33" y="4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Freeform 50"/>
              <p:cNvSpPr>
                <a:spLocks/>
              </p:cNvSpPr>
              <p:nvPr/>
            </p:nvSpPr>
            <p:spPr bwMode="auto">
              <a:xfrm>
                <a:off x="-236821" y="3258283"/>
                <a:ext cx="64006" cy="76807"/>
              </a:xfrm>
              <a:custGeom>
                <a:avLst/>
                <a:gdLst/>
                <a:ahLst/>
                <a:cxnLst>
                  <a:cxn ang="0">
                    <a:pos x="0" y="39"/>
                  </a:cxn>
                  <a:cxn ang="0">
                    <a:pos x="9" y="46"/>
                  </a:cxn>
                  <a:cxn ang="0">
                    <a:pos x="38" y="6"/>
                  </a:cxn>
                  <a:cxn ang="0">
                    <a:pos x="28" y="0"/>
                  </a:cxn>
                  <a:cxn ang="0">
                    <a:pos x="0" y="39"/>
                  </a:cxn>
                </a:cxnLst>
                <a:rect l="0" t="0" r="r" b="b"/>
                <a:pathLst>
                  <a:path w="38" h="46">
                    <a:moveTo>
                      <a:pt x="0" y="39"/>
                    </a:moveTo>
                    <a:cubicBezTo>
                      <a:pt x="9" y="46"/>
                      <a:pt x="9" y="46"/>
                      <a:pt x="9" y="46"/>
                    </a:cubicBezTo>
                    <a:cubicBezTo>
                      <a:pt x="19" y="33"/>
                      <a:pt x="29" y="20"/>
                      <a:pt x="38" y="6"/>
                    </a:cubicBezTo>
                    <a:cubicBezTo>
                      <a:pt x="28" y="0"/>
                      <a:pt x="28" y="0"/>
                      <a:pt x="28" y="0"/>
                    </a:cubicBezTo>
                    <a:cubicBezTo>
                      <a:pt x="19" y="13"/>
                      <a:pt x="10" y="26"/>
                      <a:pt x="0" y="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Freeform 51"/>
              <p:cNvSpPr>
                <a:spLocks/>
              </p:cNvSpPr>
              <p:nvPr/>
            </p:nvSpPr>
            <p:spPr bwMode="auto">
              <a:xfrm>
                <a:off x="-21336" y="2645253"/>
                <a:ext cx="21333" cy="81783"/>
              </a:xfrm>
              <a:custGeom>
                <a:avLst/>
                <a:gdLst/>
                <a:ahLst/>
                <a:cxnLst>
                  <a:cxn ang="0">
                    <a:pos x="12" y="0"/>
                  </a:cxn>
                  <a:cxn ang="0">
                    <a:pos x="0" y="0"/>
                  </a:cxn>
                  <a:cxn ang="0">
                    <a:pos x="1" y="25"/>
                  </a:cxn>
                  <a:cxn ang="0">
                    <a:pos x="1" y="27"/>
                  </a:cxn>
                  <a:cxn ang="0">
                    <a:pos x="1" y="49"/>
                  </a:cxn>
                  <a:cxn ang="0">
                    <a:pos x="13" y="49"/>
                  </a:cxn>
                  <a:cxn ang="0">
                    <a:pos x="13" y="27"/>
                  </a:cxn>
                  <a:cxn ang="0">
                    <a:pos x="13" y="25"/>
                  </a:cxn>
                  <a:cxn ang="0">
                    <a:pos x="12" y="0"/>
                  </a:cxn>
                </a:cxnLst>
                <a:rect l="0" t="0" r="r" b="b"/>
                <a:pathLst>
                  <a:path w="13" h="49">
                    <a:moveTo>
                      <a:pt x="12" y="0"/>
                    </a:moveTo>
                    <a:cubicBezTo>
                      <a:pt x="0" y="0"/>
                      <a:pt x="0" y="0"/>
                      <a:pt x="0" y="0"/>
                    </a:cubicBezTo>
                    <a:cubicBezTo>
                      <a:pt x="1" y="9"/>
                      <a:pt x="1" y="17"/>
                      <a:pt x="1" y="25"/>
                    </a:cubicBezTo>
                    <a:cubicBezTo>
                      <a:pt x="1" y="27"/>
                      <a:pt x="1" y="27"/>
                      <a:pt x="1" y="27"/>
                    </a:cubicBezTo>
                    <a:cubicBezTo>
                      <a:pt x="1" y="34"/>
                      <a:pt x="1" y="41"/>
                      <a:pt x="1" y="49"/>
                    </a:cubicBezTo>
                    <a:cubicBezTo>
                      <a:pt x="13" y="49"/>
                      <a:pt x="13" y="49"/>
                      <a:pt x="13" y="49"/>
                    </a:cubicBezTo>
                    <a:cubicBezTo>
                      <a:pt x="13" y="42"/>
                      <a:pt x="13" y="34"/>
                      <a:pt x="13" y="27"/>
                    </a:cubicBezTo>
                    <a:cubicBezTo>
                      <a:pt x="13" y="25"/>
                      <a:pt x="13" y="25"/>
                      <a:pt x="13" y="25"/>
                    </a:cubicBezTo>
                    <a:cubicBezTo>
                      <a:pt x="13" y="17"/>
                      <a:pt x="13" y="8"/>
                      <a:pt x="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Freeform 52"/>
              <p:cNvSpPr>
                <a:spLocks/>
              </p:cNvSpPr>
              <p:nvPr/>
            </p:nvSpPr>
            <p:spPr bwMode="auto">
              <a:xfrm>
                <a:off x="-38402" y="2805978"/>
                <a:ext cx="32002" cy="83919"/>
              </a:xfrm>
              <a:custGeom>
                <a:avLst/>
                <a:gdLst/>
                <a:ahLst/>
                <a:cxnLst>
                  <a:cxn ang="0">
                    <a:pos x="0" y="48"/>
                  </a:cxn>
                  <a:cxn ang="0">
                    <a:pos x="12" y="50"/>
                  </a:cxn>
                  <a:cxn ang="0">
                    <a:pos x="19" y="2"/>
                  </a:cxn>
                  <a:cxn ang="0">
                    <a:pos x="7" y="0"/>
                  </a:cxn>
                  <a:cxn ang="0">
                    <a:pos x="0" y="48"/>
                  </a:cxn>
                </a:cxnLst>
                <a:rect l="0" t="0" r="r" b="b"/>
                <a:pathLst>
                  <a:path w="19" h="50">
                    <a:moveTo>
                      <a:pt x="0" y="48"/>
                    </a:moveTo>
                    <a:cubicBezTo>
                      <a:pt x="12" y="50"/>
                      <a:pt x="12" y="50"/>
                      <a:pt x="12" y="50"/>
                    </a:cubicBezTo>
                    <a:cubicBezTo>
                      <a:pt x="15" y="34"/>
                      <a:pt x="17" y="18"/>
                      <a:pt x="19" y="2"/>
                    </a:cubicBezTo>
                    <a:cubicBezTo>
                      <a:pt x="7" y="0"/>
                      <a:pt x="7" y="0"/>
                      <a:pt x="7" y="0"/>
                    </a:cubicBezTo>
                    <a:cubicBezTo>
                      <a:pt x="5" y="16"/>
                      <a:pt x="3" y="32"/>
                      <a:pt x="0" y="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Freeform 53"/>
              <p:cNvSpPr>
                <a:spLocks/>
              </p:cNvSpPr>
              <p:nvPr/>
            </p:nvSpPr>
            <p:spPr bwMode="auto">
              <a:xfrm>
                <a:off x="-82495" y="2965991"/>
                <a:ext cx="45514" cy="83919"/>
              </a:xfrm>
              <a:custGeom>
                <a:avLst/>
                <a:gdLst/>
                <a:ahLst/>
                <a:cxnLst>
                  <a:cxn ang="0">
                    <a:pos x="0" y="45"/>
                  </a:cxn>
                  <a:cxn ang="0">
                    <a:pos x="12" y="50"/>
                  </a:cxn>
                  <a:cxn ang="0">
                    <a:pos x="27" y="3"/>
                  </a:cxn>
                  <a:cxn ang="0">
                    <a:pos x="15" y="0"/>
                  </a:cxn>
                  <a:cxn ang="0">
                    <a:pos x="0" y="45"/>
                  </a:cxn>
                </a:cxnLst>
                <a:rect l="0" t="0" r="r" b="b"/>
                <a:pathLst>
                  <a:path w="27" h="50">
                    <a:moveTo>
                      <a:pt x="0" y="45"/>
                    </a:moveTo>
                    <a:cubicBezTo>
                      <a:pt x="12" y="50"/>
                      <a:pt x="12" y="50"/>
                      <a:pt x="12" y="50"/>
                    </a:cubicBezTo>
                    <a:cubicBezTo>
                      <a:pt x="17" y="34"/>
                      <a:pt x="22" y="19"/>
                      <a:pt x="27" y="3"/>
                    </a:cubicBezTo>
                    <a:cubicBezTo>
                      <a:pt x="15" y="0"/>
                      <a:pt x="15" y="0"/>
                      <a:pt x="15" y="0"/>
                    </a:cubicBezTo>
                    <a:cubicBezTo>
                      <a:pt x="11" y="15"/>
                      <a:pt x="6" y="30"/>
                      <a:pt x="0" y="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Freeform 54"/>
              <p:cNvSpPr>
                <a:spLocks/>
              </p:cNvSpPr>
              <p:nvPr/>
            </p:nvSpPr>
            <p:spPr bwMode="auto">
              <a:xfrm>
                <a:off x="-762377" y="3654405"/>
                <a:ext cx="83919" cy="45514"/>
              </a:xfrm>
              <a:custGeom>
                <a:avLst/>
                <a:gdLst/>
                <a:ahLst/>
                <a:cxnLst>
                  <a:cxn ang="0">
                    <a:pos x="0" y="15"/>
                  </a:cxn>
                  <a:cxn ang="0">
                    <a:pos x="3" y="27"/>
                  </a:cxn>
                  <a:cxn ang="0">
                    <a:pos x="50" y="11"/>
                  </a:cxn>
                  <a:cxn ang="0">
                    <a:pos x="45" y="0"/>
                  </a:cxn>
                  <a:cxn ang="0">
                    <a:pos x="0" y="15"/>
                  </a:cxn>
                </a:cxnLst>
                <a:rect l="0" t="0" r="r" b="b"/>
                <a:pathLst>
                  <a:path w="50" h="27">
                    <a:moveTo>
                      <a:pt x="0" y="15"/>
                    </a:moveTo>
                    <a:cubicBezTo>
                      <a:pt x="3" y="27"/>
                      <a:pt x="3" y="27"/>
                      <a:pt x="3" y="27"/>
                    </a:cubicBezTo>
                    <a:cubicBezTo>
                      <a:pt x="19" y="22"/>
                      <a:pt x="34" y="17"/>
                      <a:pt x="50" y="11"/>
                    </a:cubicBezTo>
                    <a:cubicBezTo>
                      <a:pt x="45" y="0"/>
                      <a:pt x="45" y="0"/>
                      <a:pt x="45" y="0"/>
                    </a:cubicBezTo>
                    <a:cubicBezTo>
                      <a:pt x="31" y="6"/>
                      <a:pt x="15" y="11"/>
                      <a:pt x="0" y="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Freeform 55"/>
              <p:cNvSpPr>
                <a:spLocks/>
              </p:cNvSpPr>
              <p:nvPr/>
            </p:nvSpPr>
            <p:spPr bwMode="auto">
              <a:xfrm>
                <a:off x="-920258" y="3699917"/>
                <a:ext cx="83919" cy="33424"/>
              </a:xfrm>
              <a:custGeom>
                <a:avLst/>
                <a:gdLst/>
                <a:ahLst/>
                <a:cxnLst>
                  <a:cxn ang="0">
                    <a:pos x="0" y="8"/>
                  </a:cxn>
                  <a:cxn ang="0">
                    <a:pos x="1" y="20"/>
                  </a:cxn>
                  <a:cxn ang="0">
                    <a:pos x="50" y="12"/>
                  </a:cxn>
                  <a:cxn ang="0">
                    <a:pos x="47" y="0"/>
                  </a:cxn>
                  <a:cxn ang="0">
                    <a:pos x="0" y="8"/>
                  </a:cxn>
                </a:cxnLst>
                <a:rect l="0" t="0" r="r" b="b"/>
                <a:pathLst>
                  <a:path w="50" h="20">
                    <a:moveTo>
                      <a:pt x="0" y="8"/>
                    </a:moveTo>
                    <a:cubicBezTo>
                      <a:pt x="1" y="20"/>
                      <a:pt x="1" y="20"/>
                      <a:pt x="1" y="20"/>
                    </a:cubicBezTo>
                    <a:cubicBezTo>
                      <a:pt x="18" y="18"/>
                      <a:pt x="34" y="15"/>
                      <a:pt x="50" y="12"/>
                    </a:cubicBezTo>
                    <a:cubicBezTo>
                      <a:pt x="47" y="0"/>
                      <a:pt x="47" y="0"/>
                      <a:pt x="47" y="0"/>
                    </a:cubicBezTo>
                    <a:cubicBezTo>
                      <a:pt x="32" y="3"/>
                      <a:pt x="16" y="6"/>
                      <a:pt x="0"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Freeform 56"/>
              <p:cNvSpPr>
                <a:spLocks/>
              </p:cNvSpPr>
              <p:nvPr/>
            </p:nvSpPr>
            <p:spPr bwMode="auto">
              <a:xfrm>
                <a:off x="-1404569" y="3661515"/>
                <a:ext cx="83919" cy="43381"/>
              </a:xfrm>
              <a:custGeom>
                <a:avLst/>
                <a:gdLst/>
                <a:ahLst/>
                <a:cxnLst>
                  <a:cxn ang="0">
                    <a:pos x="0" y="11"/>
                  </a:cxn>
                  <a:cxn ang="0">
                    <a:pos x="47" y="26"/>
                  </a:cxn>
                  <a:cxn ang="0">
                    <a:pos x="50" y="14"/>
                  </a:cxn>
                  <a:cxn ang="0">
                    <a:pos x="4" y="0"/>
                  </a:cxn>
                  <a:cxn ang="0">
                    <a:pos x="0" y="11"/>
                  </a:cxn>
                </a:cxnLst>
                <a:rect l="0" t="0" r="r" b="b"/>
                <a:pathLst>
                  <a:path w="50" h="26">
                    <a:moveTo>
                      <a:pt x="0" y="11"/>
                    </a:moveTo>
                    <a:cubicBezTo>
                      <a:pt x="15" y="17"/>
                      <a:pt x="31" y="22"/>
                      <a:pt x="47" y="26"/>
                    </a:cubicBezTo>
                    <a:cubicBezTo>
                      <a:pt x="50" y="14"/>
                      <a:pt x="50" y="14"/>
                      <a:pt x="50" y="14"/>
                    </a:cubicBezTo>
                    <a:cubicBezTo>
                      <a:pt x="34" y="10"/>
                      <a:pt x="19" y="5"/>
                      <a:pt x="4" y="0"/>
                    </a:cubicBezTo>
                    <a:lnTo>
                      <a:pt x="0" y="1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Freeform 57"/>
              <p:cNvSpPr>
                <a:spLocks/>
              </p:cNvSpPr>
              <p:nvPr/>
            </p:nvSpPr>
            <p:spPr bwMode="auto">
              <a:xfrm>
                <a:off x="-1081695" y="3719834"/>
                <a:ext cx="82497" cy="22047"/>
              </a:xfrm>
              <a:custGeom>
                <a:avLst/>
                <a:gdLst/>
                <a:ahLst/>
                <a:cxnLst>
                  <a:cxn ang="0">
                    <a:pos x="20" y="1"/>
                  </a:cxn>
                  <a:cxn ang="0">
                    <a:pos x="18" y="1"/>
                  </a:cxn>
                  <a:cxn ang="0">
                    <a:pos x="0" y="0"/>
                  </a:cxn>
                  <a:cxn ang="0">
                    <a:pos x="0" y="12"/>
                  </a:cxn>
                  <a:cxn ang="0">
                    <a:pos x="18" y="13"/>
                  </a:cxn>
                  <a:cxn ang="0">
                    <a:pos x="20" y="13"/>
                  </a:cxn>
                  <a:cxn ang="0">
                    <a:pos x="49" y="12"/>
                  </a:cxn>
                  <a:cxn ang="0">
                    <a:pos x="48" y="0"/>
                  </a:cxn>
                  <a:cxn ang="0">
                    <a:pos x="20" y="1"/>
                  </a:cxn>
                </a:cxnLst>
                <a:rect l="0" t="0" r="r" b="b"/>
                <a:pathLst>
                  <a:path w="49" h="13">
                    <a:moveTo>
                      <a:pt x="20" y="1"/>
                    </a:moveTo>
                    <a:cubicBezTo>
                      <a:pt x="18" y="1"/>
                      <a:pt x="18" y="1"/>
                      <a:pt x="18" y="1"/>
                    </a:cubicBezTo>
                    <a:cubicBezTo>
                      <a:pt x="12" y="1"/>
                      <a:pt x="6" y="1"/>
                      <a:pt x="0" y="0"/>
                    </a:cubicBezTo>
                    <a:cubicBezTo>
                      <a:pt x="0" y="12"/>
                      <a:pt x="0" y="12"/>
                      <a:pt x="0" y="12"/>
                    </a:cubicBezTo>
                    <a:cubicBezTo>
                      <a:pt x="6" y="13"/>
                      <a:pt x="12" y="13"/>
                      <a:pt x="18" y="13"/>
                    </a:cubicBezTo>
                    <a:cubicBezTo>
                      <a:pt x="20" y="13"/>
                      <a:pt x="20" y="13"/>
                      <a:pt x="20" y="13"/>
                    </a:cubicBezTo>
                    <a:cubicBezTo>
                      <a:pt x="30" y="13"/>
                      <a:pt x="39" y="12"/>
                      <a:pt x="49" y="12"/>
                    </a:cubicBezTo>
                    <a:cubicBezTo>
                      <a:pt x="48" y="0"/>
                      <a:pt x="48" y="0"/>
                      <a:pt x="48" y="0"/>
                    </a:cubicBezTo>
                    <a:cubicBezTo>
                      <a:pt x="39" y="0"/>
                      <a:pt x="29" y="1"/>
                      <a:pt x="20" y="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Freeform 58"/>
              <p:cNvSpPr>
                <a:spLocks/>
              </p:cNvSpPr>
              <p:nvPr/>
            </p:nvSpPr>
            <p:spPr bwMode="auto">
              <a:xfrm>
                <a:off x="-472219" y="3495104"/>
                <a:ext cx="77519" cy="65428"/>
              </a:xfrm>
              <a:custGeom>
                <a:avLst/>
                <a:gdLst/>
                <a:ahLst/>
                <a:cxnLst>
                  <a:cxn ang="0">
                    <a:pos x="0" y="29"/>
                  </a:cxn>
                  <a:cxn ang="0">
                    <a:pos x="7" y="39"/>
                  </a:cxn>
                  <a:cxn ang="0">
                    <a:pos x="46" y="10"/>
                  </a:cxn>
                  <a:cxn ang="0">
                    <a:pos x="39" y="0"/>
                  </a:cxn>
                  <a:cxn ang="0">
                    <a:pos x="0" y="29"/>
                  </a:cxn>
                </a:cxnLst>
                <a:rect l="0" t="0" r="r" b="b"/>
                <a:pathLst>
                  <a:path w="46" h="39">
                    <a:moveTo>
                      <a:pt x="0" y="29"/>
                    </a:moveTo>
                    <a:cubicBezTo>
                      <a:pt x="7" y="39"/>
                      <a:pt x="7" y="39"/>
                      <a:pt x="7" y="39"/>
                    </a:cubicBezTo>
                    <a:cubicBezTo>
                      <a:pt x="20" y="29"/>
                      <a:pt x="34" y="20"/>
                      <a:pt x="46" y="10"/>
                    </a:cubicBezTo>
                    <a:cubicBezTo>
                      <a:pt x="39" y="0"/>
                      <a:pt x="39" y="0"/>
                      <a:pt x="39" y="0"/>
                    </a:cubicBezTo>
                    <a:cubicBezTo>
                      <a:pt x="26" y="10"/>
                      <a:pt x="13" y="20"/>
                      <a:pt x="0" y="2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Freeform 59"/>
              <p:cNvSpPr>
                <a:spLocks/>
              </p:cNvSpPr>
              <p:nvPr/>
            </p:nvSpPr>
            <p:spPr bwMode="auto">
              <a:xfrm>
                <a:off x="-345628" y="3384161"/>
                <a:ext cx="71829" cy="71829"/>
              </a:xfrm>
              <a:custGeom>
                <a:avLst/>
                <a:gdLst/>
                <a:ahLst/>
                <a:cxnLst>
                  <a:cxn ang="0">
                    <a:pos x="0" y="35"/>
                  </a:cxn>
                  <a:cxn ang="0">
                    <a:pos x="8" y="43"/>
                  </a:cxn>
                  <a:cxn ang="0">
                    <a:pos x="43" y="9"/>
                  </a:cxn>
                  <a:cxn ang="0">
                    <a:pos x="34" y="0"/>
                  </a:cxn>
                  <a:cxn ang="0">
                    <a:pos x="0" y="35"/>
                  </a:cxn>
                </a:cxnLst>
                <a:rect l="0" t="0" r="r" b="b"/>
                <a:pathLst>
                  <a:path w="43" h="43">
                    <a:moveTo>
                      <a:pt x="0" y="35"/>
                    </a:moveTo>
                    <a:cubicBezTo>
                      <a:pt x="8" y="43"/>
                      <a:pt x="8" y="43"/>
                      <a:pt x="8" y="43"/>
                    </a:cubicBezTo>
                    <a:cubicBezTo>
                      <a:pt x="20" y="32"/>
                      <a:pt x="32" y="21"/>
                      <a:pt x="43" y="9"/>
                    </a:cubicBezTo>
                    <a:cubicBezTo>
                      <a:pt x="34" y="0"/>
                      <a:pt x="34" y="0"/>
                      <a:pt x="34" y="0"/>
                    </a:cubicBezTo>
                    <a:cubicBezTo>
                      <a:pt x="23" y="12"/>
                      <a:pt x="12" y="24"/>
                      <a:pt x="0" y="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Freeform 60"/>
              <p:cNvSpPr>
                <a:spLocks/>
              </p:cNvSpPr>
              <p:nvPr/>
            </p:nvSpPr>
            <p:spPr bwMode="auto">
              <a:xfrm>
                <a:off x="-611610" y="3585423"/>
                <a:ext cx="81075" cy="55471"/>
              </a:xfrm>
              <a:custGeom>
                <a:avLst/>
                <a:gdLst/>
                <a:ahLst/>
                <a:cxnLst>
                  <a:cxn ang="0">
                    <a:pos x="0" y="22"/>
                  </a:cxn>
                  <a:cxn ang="0">
                    <a:pos x="5" y="33"/>
                  </a:cxn>
                  <a:cxn ang="0">
                    <a:pos x="48" y="11"/>
                  </a:cxn>
                  <a:cxn ang="0">
                    <a:pos x="42" y="0"/>
                  </a:cxn>
                  <a:cxn ang="0">
                    <a:pos x="0" y="22"/>
                  </a:cxn>
                </a:cxnLst>
                <a:rect l="0" t="0" r="r" b="b"/>
                <a:pathLst>
                  <a:path w="48" h="33">
                    <a:moveTo>
                      <a:pt x="0" y="22"/>
                    </a:moveTo>
                    <a:cubicBezTo>
                      <a:pt x="5" y="33"/>
                      <a:pt x="5" y="33"/>
                      <a:pt x="5" y="33"/>
                    </a:cubicBezTo>
                    <a:cubicBezTo>
                      <a:pt x="20" y="26"/>
                      <a:pt x="34" y="19"/>
                      <a:pt x="48" y="11"/>
                    </a:cubicBezTo>
                    <a:cubicBezTo>
                      <a:pt x="42" y="0"/>
                      <a:pt x="42" y="0"/>
                      <a:pt x="42" y="0"/>
                    </a:cubicBezTo>
                    <a:cubicBezTo>
                      <a:pt x="28" y="8"/>
                      <a:pt x="14" y="16"/>
                      <a:pt x="0" y="2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Freeform 61"/>
              <p:cNvSpPr>
                <a:spLocks/>
              </p:cNvSpPr>
              <p:nvPr/>
            </p:nvSpPr>
            <p:spPr bwMode="auto">
              <a:xfrm>
                <a:off x="-1900278" y="2036514"/>
                <a:ext cx="40536" cy="44092"/>
              </a:xfrm>
              <a:custGeom>
                <a:avLst/>
                <a:gdLst/>
                <a:ahLst/>
                <a:cxnLst>
                  <a:cxn ang="0">
                    <a:pos x="0" y="19"/>
                  </a:cxn>
                  <a:cxn ang="0">
                    <a:pos x="10" y="26"/>
                  </a:cxn>
                  <a:cxn ang="0">
                    <a:pos x="24" y="8"/>
                  </a:cxn>
                  <a:cxn ang="0">
                    <a:pos x="15" y="0"/>
                  </a:cxn>
                  <a:cxn ang="0">
                    <a:pos x="0" y="19"/>
                  </a:cxn>
                </a:cxnLst>
                <a:rect l="0" t="0" r="r" b="b"/>
                <a:pathLst>
                  <a:path w="24" h="26">
                    <a:moveTo>
                      <a:pt x="0" y="19"/>
                    </a:moveTo>
                    <a:cubicBezTo>
                      <a:pt x="10" y="26"/>
                      <a:pt x="10" y="26"/>
                      <a:pt x="10" y="26"/>
                    </a:cubicBezTo>
                    <a:cubicBezTo>
                      <a:pt x="15" y="20"/>
                      <a:pt x="19" y="14"/>
                      <a:pt x="24" y="8"/>
                    </a:cubicBezTo>
                    <a:cubicBezTo>
                      <a:pt x="15" y="0"/>
                      <a:pt x="15" y="0"/>
                      <a:pt x="15" y="0"/>
                    </a:cubicBezTo>
                    <a:cubicBezTo>
                      <a:pt x="10" y="6"/>
                      <a:pt x="5" y="13"/>
                      <a:pt x="0" y="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43" name="组合 42"/>
            <p:cNvGrpSpPr/>
            <p:nvPr/>
          </p:nvGrpSpPr>
          <p:grpSpPr bwMode="auto">
            <a:xfrm flipH="1">
              <a:off x="5561820" y="1944057"/>
              <a:ext cx="1356876" cy="1520422"/>
              <a:chOff x="-1900278" y="1638945"/>
              <a:chExt cx="1900275" cy="2102936"/>
            </a:xfrm>
            <a:solidFill>
              <a:srgbClr val="00B0F0"/>
            </a:solidFill>
          </p:grpSpPr>
          <p:sp>
            <p:nvSpPr>
              <p:cNvPr id="44" name="Freeform 31"/>
              <p:cNvSpPr>
                <a:spLocks/>
              </p:cNvSpPr>
              <p:nvPr/>
            </p:nvSpPr>
            <p:spPr bwMode="auto">
              <a:xfrm>
                <a:off x="-1787182" y="1804646"/>
                <a:ext cx="1610809" cy="1752321"/>
              </a:xfrm>
              <a:custGeom>
                <a:avLst/>
                <a:gdLst/>
                <a:ahLst/>
                <a:cxnLst>
                  <a:cxn ang="0">
                    <a:pos x="438" y="1043"/>
                  </a:cxn>
                  <a:cxn ang="0">
                    <a:pos x="959" y="521"/>
                  </a:cxn>
                  <a:cxn ang="0">
                    <a:pos x="438" y="0"/>
                  </a:cxn>
                  <a:cxn ang="0">
                    <a:pos x="0" y="237"/>
                  </a:cxn>
                  <a:cxn ang="0">
                    <a:pos x="40" y="264"/>
                  </a:cxn>
                  <a:cxn ang="0">
                    <a:pos x="438" y="48"/>
                  </a:cxn>
                  <a:cxn ang="0">
                    <a:pos x="911" y="521"/>
                  </a:cxn>
                  <a:cxn ang="0">
                    <a:pos x="438" y="995"/>
                  </a:cxn>
                  <a:cxn ang="0">
                    <a:pos x="152" y="899"/>
                  </a:cxn>
                  <a:cxn ang="0">
                    <a:pos x="234" y="884"/>
                  </a:cxn>
                  <a:cxn ang="0">
                    <a:pos x="5" y="766"/>
                  </a:cxn>
                  <a:cxn ang="0">
                    <a:pos x="85" y="1011"/>
                  </a:cxn>
                  <a:cxn ang="0">
                    <a:pos x="114" y="930"/>
                  </a:cxn>
                  <a:cxn ang="0">
                    <a:pos x="438" y="1043"/>
                  </a:cxn>
                </a:cxnLst>
                <a:rect l="0" t="0" r="r" b="b"/>
                <a:pathLst>
                  <a:path w="959" h="1043">
                    <a:moveTo>
                      <a:pt x="438" y="1043"/>
                    </a:moveTo>
                    <a:cubicBezTo>
                      <a:pt x="725" y="1043"/>
                      <a:pt x="959" y="809"/>
                      <a:pt x="959" y="521"/>
                    </a:cubicBezTo>
                    <a:cubicBezTo>
                      <a:pt x="959" y="234"/>
                      <a:pt x="725" y="0"/>
                      <a:pt x="438" y="0"/>
                    </a:cubicBezTo>
                    <a:cubicBezTo>
                      <a:pt x="261" y="0"/>
                      <a:pt x="97" y="89"/>
                      <a:pt x="0" y="237"/>
                    </a:cubicBezTo>
                    <a:cubicBezTo>
                      <a:pt x="40" y="264"/>
                      <a:pt x="40" y="264"/>
                      <a:pt x="40" y="264"/>
                    </a:cubicBezTo>
                    <a:cubicBezTo>
                      <a:pt x="128" y="128"/>
                      <a:pt x="277" y="48"/>
                      <a:pt x="438" y="48"/>
                    </a:cubicBezTo>
                    <a:cubicBezTo>
                      <a:pt x="699" y="48"/>
                      <a:pt x="911" y="260"/>
                      <a:pt x="911" y="521"/>
                    </a:cubicBezTo>
                    <a:cubicBezTo>
                      <a:pt x="911" y="782"/>
                      <a:pt x="699" y="995"/>
                      <a:pt x="438" y="995"/>
                    </a:cubicBezTo>
                    <a:cubicBezTo>
                      <a:pt x="334" y="995"/>
                      <a:pt x="234" y="961"/>
                      <a:pt x="152" y="899"/>
                    </a:cubicBezTo>
                    <a:cubicBezTo>
                      <a:pt x="234" y="884"/>
                      <a:pt x="234" y="884"/>
                      <a:pt x="234" y="884"/>
                    </a:cubicBezTo>
                    <a:cubicBezTo>
                      <a:pt x="5" y="766"/>
                      <a:pt x="5" y="766"/>
                      <a:pt x="5" y="766"/>
                    </a:cubicBezTo>
                    <a:cubicBezTo>
                      <a:pt x="85" y="1011"/>
                      <a:pt x="85" y="1011"/>
                      <a:pt x="85" y="1011"/>
                    </a:cubicBezTo>
                    <a:cubicBezTo>
                      <a:pt x="114" y="930"/>
                      <a:pt x="114" y="930"/>
                      <a:pt x="114" y="930"/>
                    </a:cubicBezTo>
                    <a:cubicBezTo>
                      <a:pt x="206" y="1003"/>
                      <a:pt x="320" y="1043"/>
                      <a:pt x="438" y="10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Freeform 32"/>
              <p:cNvSpPr>
                <a:spLocks/>
              </p:cNvSpPr>
              <p:nvPr/>
            </p:nvSpPr>
            <p:spPr bwMode="auto">
              <a:xfrm>
                <a:off x="-1518359" y="3613862"/>
                <a:ext cx="44803" cy="35557"/>
              </a:xfrm>
              <a:custGeom>
                <a:avLst/>
                <a:gdLst/>
                <a:ahLst/>
                <a:cxnLst>
                  <a:cxn ang="0">
                    <a:pos x="0" y="11"/>
                  </a:cxn>
                  <a:cxn ang="0">
                    <a:pos x="22" y="21"/>
                  </a:cxn>
                  <a:cxn ang="0">
                    <a:pos x="27" y="10"/>
                  </a:cxn>
                  <a:cxn ang="0">
                    <a:pos x="6" y="0"/>
                  </a:cxn>
                  <a:cxn ang="0">
                    <a:pos x="0" y="11"/>
                  </a:cxn>
                </a:cxnLst>
                <a:rect l="0" t="0" r="r" b="b"/>
                <a:pathLst>
                  <a:path w="27" h="21">
                    <a:moveTo>
                      <a:pt x="0" y="11"/>
                    </a:moveTo>
                    <a:cubicBezTo>
                      <a:pt x="8" y="14"/>
                      <a:pt x="15" y="18"/>
                      <a:pt x="22" y="21"/>
                    </a:cubicBezTo>
                    <a:cubicBezTo>
                      <a:pt x="27" y="10"/>
                      <a:pt x="27" y="10"/>
                      <a:pt x="27" y="10"/>
                    </a:cubicBezTo>
                    <a:cubicBezTo>
                      <a:pt x="20" y="7"/>
                      <a:pt x="13" y="3"/>
                      <a:pt x="6" y="0"/>
                    </a:cubicBezTo>
                    <a:lnTo>
                      <a:pt x="0" y="1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Freeform 33"/>
              <p:cNvSpPr>
                <a:spLocks/>
              </p:cNvSpPr>
              <p:nvPr/>
            </p:nvSpPr>
            <p:spPr bwMode="auto">
              <a:xfrm>
                <a:off x="-1254515" y="1645344"/>
                <a:ext cx="83919" cy="33424"/>
              </a:xfrm>
              <a:custGeom>
                <a:avLst/>
                <a:gdLst/>
                <a:ahLst/>
                <a:cxnLst>
                  <a:cxn ang="0">
                    <a:pos x="50" y="12"/>
                  </a:cxn>
                  <a:cxn ang="0">
                    <a:pos x="49" y="0"/>
                  </a:cxn>
                  <a:cxn ang="0">
                    <a:pos x="0" y="8"/>
                  </a:cxn>
                  <a:cxn ang="0">
                    <a:pos x="3" y="20"/>
                  </a:cxn>
                  <a:cxn ang="0">
                    <a:pos x="50" y="12"/>
                  </a:cxn>
                </a:cxnLst>
                <a:rect l="0" t="0" r="r" b="b"/>
                <a:pathLst>
                  <a:path w="50" h="20">
                    <a:moveTo>
                      <a:pt x="50" y="12"/>
                    </a:moveTo>
                    <a:cubicBezTo>
                      <a:pt x="49" y="0"/>
                      <a:pt x="49" y="0"/>
                      <a:pt x="49" y="0"/>
                    </a:cubicBezTo>
                    <a:cubicBezTo>
                      <a:pt x="33" y="2"/>
                      <a:pt x="16" y="5"/>
                      <a:pt x="0" y="8"/>
                    </a:cubicBezTo>
                    <a:cubicBezTo>
                      <a:pt x="3" y="20"/>
                      <a:pt x="3" y="20"/>
                      <a:pt x="3" y="20"/>
                    </a:cubicBezTo>
                    <a:cubicBezTo>
                      <a:pt x="18" y="17"/>
                      <a:pt x="34" y="14"/>
                      <a:pt x="50"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Freeform 34"/>
              <p:cNvSpPr>
                <a:spLocks/>
              </p:cNvSpPr>
              <p:nvPr/>
            </p:nvSpPr>
            <p:spPr bwMode="auto">
              <a:xfrm>
                <a:off x="-1821319" y="1915587"/>
                <a:ext cx="72540" cy="72540"/>
              </a:xfrm>
              <a:custGeom>
                <a:avLst/>
                <a:gdLst/>
                <a:ahLst/>
                <a:cxnLst>
                  <a:cxn ang="0">
                    <a:pos x="43" y="9"/>
                  </a:cxn>
                  <a:cxn ang="0">
                    <a:pos x="35" y="0"/>
                  </a:cxn>
                  <a:cxn ang="0">
                    <a:pos x="0" y="34"/>
                  </a:cxn>
                  <a:cxn ang="0">
                    <a:pos x="9" y="43"/>
                  </a:cxn>
                  <a:cxn ang="0">
                    <a:pos x="43" y="9"/>
                  </a:cxn>
                </a:cxnLst>
                <a:rect l="0" t="0" r="r" b="b"/>
                <a:pathLst>
                  <a:path w="43" h="43">
                    <a:moveTo>
                      <a:pt x="43" y="9"/>
                    </a:moveTo>
                    <a:cubicBezTo>
                      <a:pt x="35" y="0"/>
                      <a:pt x="35" y="0"/>
                      <a:pt x="35" y="0"/>
                    </a:cubicBezTo>
                    <a:cubicBezTo>
                      <a:pt x="23" y="11"/>
                      <a:pt x="12" y="22"/>
                      <a:pt x="0" y="34"/>
                    </a:cubicBezTo>
                    <a:cubicBezTo>
                      <a:pt x="9" y="43"/>
                      <a:pt x="9" y="43"/>
                      <a:pt x="9" y="43"/>
                    </a:cubicBezTo>
                    <a:cubicBezTo>
                      <a:pt x="20" y="31"/>
                      <a:pt x="32" y="20"/>
                      <a:pt x="43"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Freeform 35"/>
              <p:cNvSpPr>
                <a:spLocks/>
              </p:cNvSpPr>
              <p:nvPr/>
            </p:nvSpPr>
            <p:spPr bwMode="auto">
              <a:xfrm>
                <a:off x="-1412393" y="1677347"/>
                <a:ext cx="83919" cy="43381"/>
              </a:xfrm>
              <a:custGeom>
                <a:avLst/>
                <a:gdLst/>
                <a:ahLst/>
                <a:cxnLst>
                  <a:cxn ang="0">
                    <a:pos x="50" y="12"/>
                  </a:cxn>
                  <a:cxn ang="0">
                    <a:pos x="47" y="0"/>
                  </a:cxn>
                  <a:cxn ang="0">
                    <a:pos x="0" y="15"/>
                  </a:cxn>
                  <a:cxn ang="0">
                    <a:pos x="4" y="26"/>
                  </a:cxn>
                  <a:cxn ang="0">
                    <a:pos x="50" y="12"/>
                  </a:cxn>
                </a:cxnLst>
                <a:rect l="0" t="0" r="r" b="b"/>
                <a:pathLst>
                  <a:path w="50" h="26">
                    <a:moveTo>
                      <a:pt x="50" y="12"/>
                    </a:moveTo>
                    <a:cubicBezTo>
                      <a:pt x="47" y="0"/>
                      <a:pt x="47" y="0"/>
                      <a:pt x="47" y="0"/>
                    </a:cubicBezTo>
                    <a:cubicBezTo>
                      <a:pt x="31" y="5"/>
                      <a:pt x="15" y="10"/>
                      <a:pt x="0" y="15"/>
                    </a:cubicBezTo>
                    <a:cubicBezTo>
                      <a:pt x="4" y="26"/>
                      <a:pt x="4" y="26"/>
                      <a:pt x="4" y="26"/>
                    </a:cubicBezTo>
                    <a:cubicBezTo>
                      <a:pt x="19" y="21"/>
                      <a:pt x="35" y="16"/>
                      <a:pt x="50"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Freeform 36"/>
              <p:cNvSpPr>
                <a:spLocks/>
              </p:cNvSpPr>
              <p:nvPr/>
            </p:nvSpPr>
            <p:spPr bwMode="auto">
              <a:xfrm>
                <a:off x="-1090233" y="1638945"/>
                <a:ext cx="82497" cy="21333"/>
              </a:xfrm>
              <a:custGeom>
                <a:avLst/>
                <a:gdLst/>
                <a:ahLst/>
                <a:cxnLst>
                  <a:cxn ang="0">
                    <a:pos x="22" y="12"/>
                  </a:cxn>
                  <a:cxn ang="0">
                    <a:pos x="23" y="12"/>
                  </a:cxn>
                  <a:cxn ang="0">
                    <a:pos x="48" y="13"/>
                  </a:cxn>
                  <a:cxn ang="0">
                    <a:pos x="49" y="1"/>
                  </a:cxn>
                  <a:cxn ang="0">
                    <a:pos x="23" y="0"/>
                  </a:cxn>
                  <a:cxn ang="0">
                    <a:pos x="22" y="0"/>
                  </a:cxn>
                  <a:cxn ang="0">
                    <a:pos x="0" y="1"/>
                  </a:cxn>
                  <a:cxn ang="0">
                    <a:pos x="0" y="13"/>
                  </a:cxn>
                  <a:cxn ang="0">
                    <a:pos x="22" y="12"/>
                  </a:cxn>
                </a:cxnLst>
                <a:rect l="0" t="0" r="r" b="b"/>
                <a:pathLst>
                  <a:path w="49" h="13">
                    <a:moveTo>
                      <a:pt x="22" y="12"/>
                    </a:moveTo>
                    <a:cubicBezTo>
                      <a:pt x="23" y="12"/>
                      <a:pt x="23" y="12"/>
                      <a:pt x="23" y="12"/>
                    </a:cubicBezTo>
                    <a:cubicBezTo>
                      <a:pt x="32" y="12"/>
                      <a:pt x="40" y="12"/>
                      <a:pt x="48" y="13"/>
                    </a:cubicBezTo>
                    <a:cubicBezTo>
                      <a:pt x="49" y="1"/>
                      <a:pt x="49" y="1"/>
                      <a:pt x="49" y="1"/>
                    </a:cubicBezTo>
                    <a:cubicBezTo>
                      <a:pt x="40" y="0"/>
                      <a:pt x="32" y="0"/>
                      <a:pt x="23" y="0"/>
                    </a:cubicBezTo>
                    <a:cubicBezTo>
                      <a:pt x="22" y="0"/>
                      <a:pt x="22" y="0"/>
                      <a:pt x="22" y="0"/>
                    </a:cubicBezTo>
                    <a:cubicBezTo>
                      <a:pt x="14" y="0"/>
                      <a:pt x="7" y="0"/>
                      <a:pt x="0" y="1"/>
                    </a:cubicBezTo>
                    <a:cubicBezTo>
                      <a:pt x="0" y="13"/>
                      <a:pt x="0" y="13"/>
                      <a:pt x="0" y="13"/>
                    </a:cubicBezTo>
                    <a:cubicBezTo>
                      <a:pt x="7" y="12"/>
                      <a:pt x="14" y="12"/>
                      <a:pt x="22"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Freeform 37"/>
              <p:cNvSpPr>
                <a:spLocks/>
              </p:cNvSpPr>
              <p:nvPr/>
            </p:nvSpPr>
            <p:spPr bwMode="auto">
              <a:xfrm>
                <a:off x="-1698285" y="1813182"/>
                <a:ext cx="77519" cy="65428"/>
              </a:xfrm>
              <a:custGeom>
                <a:avLst/>
                <a:gdLst/>
                <a:ahLst/>
                <a:cxnLst>
                  <a:cxn ang="0">
                    <a:pos x="46" y="10"/>
                  </a:cxn>
                  <a:cxn ang="0">
                    <a:pos x="39" y="0"/>
                  </a:cxn>
                  <a:cxn ang="0">
                    <a:pos x="0" y="29"/>
                  </a:cxn>
                  <a:cxn ang="0">
                    <a:pos x="7" y="39"/>
                  </a:cxn>
                  <a:cxn ang="0">
                    <a:pos x="46" y="10"/>
                  </a:cxn>
                </a:cxnLst>
                <a:rect l="0" t="0" r="r" b="b"/>
                <a:pathLst>
                  <a:path w="46" h="39">
                    <a:moveTo>
                      <a:pt x="46" y="10"/>
                    </a:moveTo>
                    <a:cubicBezTo>
                      <a:pt x="39" y="0"/>
                      <a:pt x="39" y="0"/>
                      <a:pt x="39" y="0"/>
                    </a:cubicBezTo>
                    <a:cubicBezTo>
                      <a:pt x="26" y="9"/>
                      <a:pt x="12" y="19"/>
                      <a:pt x="0" y="29"/>
                    </a:cubicBezTo>
                    <a:cubicBezTo>
                      <a:pt x="7" y="39"/>
                      <a:pt x="7" y="39"/>
                      <a:pt x="7" y="39"/>
                    </a:cubicBezTo>
                    <a:cubicBezTo>
                      <a:pt x="20" y="29"/>
                      <a:pt x="33" y="19"/>
                      <a:pt x="46" y="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Freeform 38"/>
              <p:cNvSpPr>
                <a:spLocks/>
              </p:cNvSpPr>
              <p:nvPr/>
            </p:nvSpPr>
            <p:spPr bwMode="auto">
              <a:xfrm>
                <a:off x="-1562451" y="1734243"/>
                <a:ext cx="82497" cy="54049"/>
              </a:xfrm>
              <a:custGeom>
                <a:avLst/>
                <a:gdLst/>
                <a:ahLst/>
                <a:cxnLst>
                  <a:cxn ang="0">
                    <a:pos x="49" y="11"/>
                  </a:cxn>
                  <a:cxn ang="0">
                    <a:pos x="44" y="0"/>
                  </a:cxn>
                  <a:cxn ang="0">
                    <a:pos x="0" y="22"/>
                  </a:cxn>
                  <a:cxn ang="0">
                    <a:pos x="6" y="32"/>
                  </a:cxn>
                  <a:cxn ang="0">
                    <a:pos x="49" y="11"/>
                  </a:cxn>
                </a:cxnLst>
                <a:rect l="0" t="0" r="r" b="b"/>
                <a:pathLst>
                  <a:path w="49" h="32">
                    <a:moveTo>
                      <a:pt x="49" y="11"/>
                    </a:moveTo>
                    <a:cubicBezTo>
                      <a:pt x="44" y="0"/>
                      <a:pt x="44" y="0"/>
                      <a:pt x="44" y="0"/>
                    </a:cubicBezTo>
                    <a:cubicBezTo>
                      <a:pt x="29" y="7"/>
                      <a:pt x="14" y="14"/>
                      <a:pt x="0" y="22"/>
                    </a:cubicBezTo>
                    <a:cubicBezTo>
                      <a:pt x="6" y="32"/>
                      <a:pt x="6" y="32"/>
                      <a:pt x="6" y="32"/>
                    </a:cubicBezTo>
                    <a:cubicBezTo>
                      <a:pt x="20" y="25"/>
                      <a:pt x="34" y="17"/>
                      <a:pt x="49" y="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Freeform 39"/>
              <p:cNvSpPr>
                <a:spLocks/>
              </p:cNvSpPr>
              <p:nvPr/>
            </p:nvSpPr>
            <p:spPr bwMode="auto">
              <a:xfrm>
                <a:off x="-241801" y="2038621"/>
                <a:ext cx="64006" cy="76807"/>
              </a:xfrm>
              <a:custGeom>
                <a:avLst/>
                <a:gdLst/>
                <a:ahLst/>
                <a:cxnLst>
                  <a:cxn ang="0">
                    <a:pos x="38" y="39"/>
                  </a:cxn>
                  <a:cxn ang="0">
                    <a:pos x="9" y="0"/>
                  </a:cxn>
                  <a:cxn ang="0">
                    <a:pos x="0" y="7"/>
                  </a:cxn>
                  <a:cxn ang="0">
                    <a:pos x="28" y="46"/>
                  </a:cxn>
                  <a:cxn ang="0">
                    <a:pos x="38" y="39"/>
                  </a:cxn>
                </a:cxnLst>
                <a:rect l="0" t="0" r="r" b="b"/>
                <a:pathLst>
                  <a:path w="38" h="46">
                    <a:moveTo>
                      <a:pt x="38" y="39"/>
                    </a:moveTo>
                    <a:cubicBezTo>
                      <a:pt x="29" y="26"/>
                      <a:pt x="19" y="12"/>
                      <a:pt x="9" y="0"/>
                    </a:cubicBezTo>
                    <a:cubicBezTo>
                      <a:pt x="0" y="7"/>
                      <a:pt x="0" y="7"/>
                      <a:pt x="0" y="7"/>
                    </a:cubicBezTo>
                    <a:cubicBezTo>
                      <a:pt x="10" y="20"/>
                      <a:pt x="19" y="33"/>
                      <a:pt x="28" y="46"/>
                    </a:cubicBezTo>
                    <a:lnTo>
                      <a:pt x="38" y="3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Freeform 40"/>
              <p:cNvSpPr>
                <a:spLocks/>
              </p:cNvSpPr>
              <p:nvPr/>
            </p:nvSpPr>
            <p:spPr bwMode="auto">
              <a:xfrm>
                <a:off x="-352744" y="1917725"/>
                <a:ext cx="72540" cy="71829"/>
              </a:xfrm>
              <a:custGeom>
                <a:avLst/>
                <a:gdLst/>
                <a:ahLst/>
                <a:cxnLst>
                  <a:cxn ang="0">
                    <a:pos x="34" y="43"/>
                  </a:cxn>
                  <a:cxn ang="0">
                    <a:pos x="43" y="34"/>
                  </a:cxn>
                  <a:cxn ang="0">
                    <a:pos x="8" y="0"/>
                  </a:cxn>
                  <a:cxn ang="0">
                    <a:pos x="0" y="9"/>
                  </a:cxn>
                  <a:cxn ang="0">
                    <a:pos x="34" y="43"/>
                  </a:cxn>
                </a:cxnLst>
                <a:rect l="0" t="0" r="r" b="b"/>
                <a:pathLst>
                  <a:path w="43" h="43">
                    <a:moveTo>
                      <a:pt x="34" y="43"/>
                    </a:moveTo>
                    <a:cubicBezTo>
                      <a:pt x="43" y="34"/>
                      <a:pt x="43" y="34"/>
                      <a:pt x="43" y="34"/>
                    </a:cubicBezTo>
                    <a:cubicBezTo>
                      <a:pt x="32" y="23"/>
                      <a:pt x="20" y="11"/>
                      <a:pt x="8" y="0"/>
                    </a:cubicBezTo>
                    <a:cubicBezTo>
                      <a:pt x="0" y="9"/>
                      <a:pt x="0" y="9"/>
                      <a:pt x="0" y="9"/>
                    </a:cubicBezTo>
                    <a:cubicBezTo>
                      <a:pt x="12" y="20"/>
                      <a:pt x="23" y="31"/>
                      <a:pt x="34" y="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Freeform 41"/>
              <p:cNvSpPr>
                <a:spLocks/>
              </p:cNvSpPr>
              <p:nvPr/>
            </p:nvSpPr>
            <p:spPr bwMode="auto">
              <a:xfrm>
                <a:off x="-39827" y="2481679"/>
                <a:ext cx="31293" cy="83919"/>
              </a:xfrm>
              <a:custGeom>
                <a:avLst/>
                <a:gdLst/>
                <a:ahLst/>
                <a:cxnLst>
                  <a:cxn ang="0">
                    <a:pos x="8" y="50"/>
                  </a:cxn>
                  <a:cxn ang="0">
                    <a:pos x="19" y="48"/>
                  </a:cxn>
                  <a:cxn ang="0">
                    <a:pos x="12" y="0"/>
                  </a:cxn>
                  <a:cxn ang="0">
                    <a:pos x="0" y="2"/>
                  </a:cxn>
                  <a:cxn ang="0">
                    <a:pos x="8" y="50"/>
                  </a:cxn>
                </a:cxnLst>
                <a:rect l="0" t="0" r="r" b="b"/>
                <a:pathLst>
                  <a:path w="19" h="50">
                    <a:moveTo>
                      <a:pt x="8" y="50"/>
                    </a:moveTo>
                    <a:cubicBezTo>
                      <a:pt x="19" y="48"/>
                      <a:pt x="19" y="48"/>
                      <a:pt x="19" y="48"/>
                    </a:cubicBezTo>
                    <a:cubicBezTo>
                      <a:pt x="18" y="32"/>
                      <a:pt x="15" y="16"/>
                      <a:pt x="12" y="0"/>
                    </a:cubicBezTo>
                    <a:cubicBezTo>
                      <a:pt x="0" y="2"/>
                      <a:pt x="0" y="2"/>
                      <a:pt x="0" y="2"/>
                    </a:cubicBezTo>
                    <a:cubicBezTo>
                      <a:pt x="3" y="18"/>
                      <a:pt x="6" y="34"/>
                      <a:pt x="8" y="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Freeform 42"/>
              <p:cNvSpPr>
                <a:spLocks/>
              </p:cNvSpPr>
              <p:nvPr/>
            </p:nvSpPr>
            <p:spPr bwMode="auto">
              <a:xfrm>
                <a:off x="-928794" y="1646768"/>
                <a:ext cx="83919" cy="32001"/>
              </a:xfrm>
              <a:custGeom>
                <a:avLst/>
                <a:gdLst/>
                <a:ahLst/>
                <a:cxnLst>
                  <a:cxn ang="0">
                    <a:pos x="50" y="7"/>
                  </a:cxn>
                  <a:cxn ang="0">
                    <a:pos x="2" y="0"/>
                  </a:cxn>
                  <a:cxn ang="0">
                    <a:pos x="0" y="11"/>
                  </a:cxn>
                  <a:cxn ang="0">
                    <a:pos x="48" y="19"/>
                  </a:cxn>
                  <a:cxn ang="0">
                    <a:pos x="50" y="7"/>
                  </a:cxn>
                </a:cxnLst>
                <a:rect l="0" t="0" r="r" b="b"/>
                <a:pathLst>
                  <a:path w="50" h="19">
                    <a:moveTo>
                      <a:pt x="50" y="7"/>
                    </a:moveTo>
                    <a:cubicBezTo>
                      <a:pt x="34" y="4"/>
                      <a:pt x="18" y="1"/>
                      <a:pt x="2" y="0"/>
                    </a:cubicBezTo>
                    <a:cubicBezTo>
                      <a:pt x="0" y="11"/>
                      <a:pt x="0" y="11"/>
                      <a:pt x="0" y="11"/>
                    </a:cubicBezTo>
                    <a:cubicBezTo>
                      <a:pt x="16" y="13"/>
                      <a:pt x="32" y="16"/>
                      <a:pt x="48" y="19"/>
                    </a:cubicBezTo>
                    <a:lnTo>
                      <a:pt x="50" y="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Freeform 43"/>
              <p:cNvSpPr>
                <a:spLocks/>
              </p:cNvSpPr>
              <p:nvPr/>
            </p:nvSpPr>
            <p:spPr bwMode="auto">
              <a:xfrm>
                <a:off x="-478621" y="1815317"/>
                <a:ext cx="77519" cy="65428"/>
              </a:xfrm>
              <a:custGeom>
                <a:avLst/>
                <a:gdLst/>
                <a:ahLst/>
                <a:cxnLst>
                  <a:cxn ang="0">
                    <a:pos x="46" y="29"/>
                  </a:cxn>
                  <a:cxn ang="0">
                    <a:pos x="7" y="0"/>
                  </a:cxn>
                  <a:cxn ang="0">
                    <a:pos x="0" y="10"/>
                  </a:cxn>
                  <a:cxn ang="0">
                    <a:pos x="39" y="39"/>
                  </a:cxn>
                  <a:cxn ang="0">
                    <a:pos x="46" y="29"/>
                  </a:cxn>
                </a:cxnLst>
                <a:rect l="0" t="0" r="r" b="b"/>
                <a:pathLst>
                  <a:path w="46" h="39">
                    <a:moveTo>
                      <a:pt x="46" y="29"/>
                    </a:moveTo>
                    <a:cubicBezTo>
                      <a:pt x="33" y="19"/>
                      <a:pt x="20" y="9"/>
                      <a:pt x="7" y="0"/>
                    </a:cubicBezTo>
                    <a:cubicBezTo>
                      <a:pt x="0" y="10"/>
                      <a:pt x="0" y="10"/>
                      <a:pt x="0" y="10"/>
                    </a:cubicBezTo>
                    <a:cubicBezTo>
                      <a:pt x="13" y="19"/>
                      <a:pt x="26" y="29"/>
                      <a:pt x="39" y="39"/>
                    </a:cubicBezTo>
                    <a:lnTo>
                      <a:pt x="46" y="2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Freeform 44"/>
              <p:cNvSpPr>
                <a:spLocks/>
              </p:cNvSpPr>
              <p:nvPr/>
            </p:nvSpPr>
            <p:spPr bwMode="auto">
              <a:xfrm>
                <a:off x="-770915" y="1678772"/>
                <a:ext cx="83919" cy="44092"/>
              </a:xfrm>
              <a:custGeom>
                <a:avLst/>
                <a:gdLst/>
                <a:ahLst/>
                <a:cxnLst>
                  <a:cxn ang="0">
                    <a:pos x="50" y="15"/>
                  </a:cxn>
                  <a:cxn ang="0">
                    <a:pos x="4" y="0"/>
                  </a:cxn>
                  <a:cxn ang="0">
                    <a:pos x="0" y="11"/>
                  </a:cxn>
                  <a:cxn ang="0">
                    <a:pos x="46" y="26"/>
                  </a:cxn>
                  <a:cxn ang="0">
                    <a:pos x="50" y="15"/>
                  </a:cxn>
                </a:cxnLst>
                <a:rect l="0" t="0" r="r" b="b"/>
                <a:pathLst>
                  <a:path w="50" h="26">
                    <a:moveTo>
                      <a:pt x="50" y="15"/>
                    </a:moveTo>
                    <a:cubicBezTo>
                      <a:pt x="35" y="9"/>
                      <a:pt x="19" y="4"/>
                      <a:pt x="4" y="0"/>
                    </a:cubicBezTo>
                    <a:cubicBezTo>
                      <a:pt x="0" y="11"/>
                      <a:pt x="0" y="11"/>
                      <a:pt x="0" y="11"/>
                    </a:cubicBezTo>
                    <a:cubicBezTo>
                      <a:pt x="16" y="15"/>
                      <a:pt x="31" y="20"/>
                      <a:pt x="46" y="26"/>
                    </a:cubicBezTo>
                    <a:lnTo>
                      <a:pt x="50" y="1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8" name="Freeform 45"/>
              <p:cNvSpPr>
                <a:spLocks/>
              </p:cNvSpPr>
              <p:nvPr/>
            </p:nvSpPr>
            <p:spPr bwMode="auto">
              <a:xfrm>
                <a:off x="-619433" y="1734245"/>
                <a:ext cx="81786" cy="55471"/>
              </a:xfrm>
              <a:custGeom>
                <a:avLst/>
                <a:gdLst/>
                <a:ahLst/>
                <a:cxnLst>
                  <a:cxn ang="0">
                    <a:pos x="49" y="23"/>
                  </a:cxn>
                  <a:cxn ang="0">
                    <a:pos x="5" y="0"/>
                  </a:cxn>
                  <a:cxn ang="0">
                    <a:pos x="0" y="11"/>
                  </a:cxn>
                  <a:cxn ang="0">
                    <a:pos x="43" y="33"/>
                  </a:cxn>
                  <a:cxn ang="0">
                    <a:pos x="49" y="23"/>
                  </a:cxn>
                </a:cxnLst>
                <a:rect l="0" t="0" r="r" b="b"/>
                <a:pathLst>
                  <a:path w="49" h="33">
                    <a:moveTo>
                      <a:pt x="49" y="23"/>
                    </a:moveTo>
                    <a:cubicBezTo>
                      <a:pt x="35" y="15"/>
                      <a:pt x="20" y="7"/>
                      <a:pt x="5" y="0"/>
                    </a:cubicBezTo>
                    <a:cubicBezTo>
                      <a:pt x="0" y="11"/>
                      <a:pt x="0" y="11"/>
                      <a:pt x="0" y="11"/>
                    </a:cubicBezTo>
                    <a:cubicBezTo>
                      <a:pt x="15" y="18"/>
                      <a:pt x="29" y="25"/>
                      <a:pt x="43" y="33"/>
                    </a:cubicBezTo>
                    <a:lnTo>
                      <a:pt x="49" y="2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Freeform 46"/>
              <p:cNvSpPr>
                <a:spLocks/>
              </p:cNvSpPr>
              <p:nvPr/>
            </p:nvSpPr>
            <p:spPr bwMode="auto">
              <a:xfrm>
                <a:off x="-1246688" y="3703473"/>
                <a:ext cx="83919" cy="32001"/>
              </a:xfrm>
              <a:custGeom>
                <a:avLst/>
                <a:gdLst/>
                <a:ahLst/>
                <a:cxnLst>
                  <a:cxn ang="0">
                    <a:pos x="0" y="12"/>
                  </a:cxn>
                  <a:cxn ang="0">
                    <a:pos x="49" y="19"/>
                  </a:cxn>
                  <a:cxn ang="0">
                    <a:pos x="50" y="7"/>
                  </a:cxn>
                  <a:cxn ang="0">
                    <a:pos x="3" y="0"/>
                  </a:cxn>
                  <a:cxn ang="0">
                    <a:pos x="0" y="12"/>
                  </a:cxn>
                </a:cxnLst>
                <a:rect l="0" t="0" r="r" b="b"/>
                <a:pathLst>
                  <a:path w="50" h="19">
                    <a:moveTo>
                      <a:pt x="0" y="12"/>
                    </a:moveTo>
                    <a:cubicBezTo>
                      <a:pt x="16" y="15"/>
                      <a:pt x="33" y="17"/>
                      <a:pt x="49" y="19"/>
                    </a:cubicBezTo>
                    <a:cubicBezTo>
                      <a:pt x="50" y="7"/>
                      <a:pt x="50" y="7"/>
                      <a:pt x="50" y="7"/>
                    </a:cubicBezTo>
                    <a:cubicBezTo>
                      <a:pt x="34" y="5"/>
                      <a:pt x="18" y="3"/>
                      <a:pt x="3" y="0"/>
                    </a:cubicBezTo>
                    <a:lnTo>
                      <a:pt x="0" y="1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Freeform 47"/>
              <p:cNvSpPr>
                <a:spLocks/>
              </p:cNvSpPr>
              <p:nvPr/>
            </p:nvSpPr>
            <p:spPr bwMode="auto">
              <a:xfrm>
                <a:off x="-83919" y="2323806"/>
                <a:ext cx="44092" cy="83919"/>
              </a:xfrm>
              <a:custGeom>
                <a:avLst/>
                <a:gdLst/>
                <a:ahLst/>
                <a:cxnLst>
                  <a:cxn ang="0">
                    <a:pos x="26" y="46"/>
                  </a:cxn>
                  <a:cxn ang="0">
                    <a:pos x="11" y="0"/>
                  </a:cxn>
                  <a:cxn ang="0">
                    <a:pos x="0" y="4"/>
                  </a:cxn>
                  <a:cxn ang="0">
                    <a:pos x="15" y="50"/>
                  </a:cxn>
                  <a:cxn ang="0">
                    <a:pos x="26" y="46"/>
                  </a:cxn>
                </a:cxnLst>
                <a:rect l="0" t="0" r="r" b="b"/>
                <a:pathLst>
                  <a:path w="26" h="50">
                    <a:moveTo>
                      <a:pt x="26" y="46"/>
                    </a:moveTo>
                    <a:cubicBezTo>
                      <a:pt x="22" y="31"/>
                      <a:pt x="17" y="15"/>
                      <a:pt x="11" y="0"/>
                    </a:cubicBezTo>
                    <a:cubicBezTo>
                      <a:pt x="0" y="4"/>
                      <a:pt x="0" y="4"/>
                      <a:pt x="0" y="4"/>
                    </a:cubicBezTo>
                    <a:cubicBezTo>
                      <a:pt x="5" y="19"/>
                      <a:pt x="10" y="34"/>
                      <a:pt x="15" y="50"/>
                    </a:cubicBezTo>
                    <a:lnTo>
                      <a:pt x="26" y="4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1" name="Freeform 48"/>
              <p:cNvSpPr>
                <a:spLocks/>
              </p:cNvSpPr>
              <p:nvPr/>
            </p:nvSpPr>
            <p:spPr bwMode="auto">
              <a:xfrm>
                <a:off x="-147926" y="3116758"/>
                <a:ext cx="54049" cy="82497"/>
              </a:xfrm>
              <a:custGeom>
                <a:avLst/>
                <a:gdLst/>
                <a:ahLst/>
                <a:cxnLst>
                  <a:cxn ang="0">
                    <a:pos x="0" y="43"/>
                  </a:cxn>
                  <a:cxn ang="0">
                    <a:pos x="10" y="49"/>
                  </a:cxn>
                  <a:cxn ang="0">
                    <a:pos x="32" y="5"/>
                  </a:cxn>
                  <a:cxn ang="0">
                    <a:pos x="21" y="0"/>
                  </a:cxn>
                  <a:cxn ang="0">
                    <a:pos x="0" y="43"/>
                  </a:cxn>
                </a:cxnLst>
                <a:rect l="0" t="0" r="r" b="b"/>
                <a:pathLst>
                  <a:path w="32" h="49">
                    <a:moveTo>
                      <a:pt x="0" y="43"/>
                    </a:moveTo>
                    <a:cubicBezTo>
                      <a:pt x="10" y="49"/>
                      <a:pt x="10" y="49"/>
                      <a:pt x="10" y="49"/>
                    </a:cubicBezTo>
                    <a:cubicBezTo>
                      <a:pt x="18" y="34"/>
                      <a:pt x="25" y="20"/>
                      <a:pt x="32" y="5"/>
                    </a:cubicBezTo>
                    <a:cubicBezTo>
                      <a:pt x="21" y="0"/>
                      <a:pt x="21" y="0"/>
                      <a:pt x="21" y="0"/>
                    </a:cubicBezTo>
                    <a:cubicBezTo>
                      <a:pt x="15" y="14"/>
                      <a:pt x="7" y="29"/>
                      <a:pt x="0" y="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Freeform 49"/>
              <p:cNvSpPr>
                <a:spLocks/>
              </p:cNvSpPr>
              <p:nvPr/>
            </p:nvSpPr>
            <p:spPr bwMode="auto">
              <a:xfrm>
                <a:off x="-152904" y="2174458"/>
                <a:ext cx="55471" cy="82497"/>
              </a:xfrm>
              <a:custGeom>
                <a:avLst/>
                <a:gdLst/>
                <a:ahLst/>
                <a:cxnLst>
                  <a:cxn ang="0">
                    <a:pos x="33" y="43"/>
                  </a:cxn>
                  <a:cxn ang="0">
                    <a:pos x="11" y="0"/>
                  </a:cxn>
                  <a:cxn ang="0">
                    <a:pos x="0" y="6"/>
                  </a:cxn>
                  <a:cxn ang="0">
                    <a:pos x="22" y="49"/>
                  </a:cxn>
                  <a:cxn ang="0">
                    <a:pos x="33" y="43"/>
                  </a:cxn>
                </a:cxnLst>
                <a:rect l="0" t="0" r="r" b="b"/>
                <a:pathLst>
                  <a:path w="33" h="49">
                    <a:moveTo>
                      <a:pt x="33" y="43"/>
                    </a:moveTo>
                    <a:cubicBezTo>
                      <a:pt x="26" y="29"/>
                      <a:pt x="19" y="14"/>
                      <a:pt x="11" y="0"/>
                    </a:cubicBezTo>
                    <a:cubicBezTo>
                      <a:pt x="0" y="6"/>
                      <a:pt x="0" y="6"/>
                      <a:pt x="0" y="6"/>
                    </a:cubicBezTo>
                    <a:cubicBezTo>
                      <a:pt x="8" y="20"/>
                      <a:pt x="15" y="34"/>
                      <a:pt x="22" y="49"/>
                    </a:cubicBezTo>
                    <a:lnTo>
                      <a:pt x="33" y="4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Freeform 50"/>
              <p:cNvSpPr>
                <a:spLocks/>
              </p:cNvSpPr>
              <p:nvPr/>
            </p:nvSpPr>
            <p:spPr bwMode="auto">
              <a:xfrm>
                <a:off x="-236821" y="3258283"/>
                <a:ext cx="64006" cy="76807"/>
              </a:xfrm>
              <a:custGeom>
                <a:avLst/>
                <a:gdLst/>
                <a:ahLst/>
                <a:cxnLst>
                  <a:cxn ang="0">
                    <a:pos x="0" y="39"/>
                  </a:cxn>
                  <a:cxn ang="0">
                    <a:pos x="9" y="46"/>
                  </a:cxn>
                  <a:cxn ang="0">
                    <a:pos x="38" y="6"/>
                  </a:cxn>
                  <a:cxn ang="0">
                    <a:pos x="28" y="0"/>
                  </a:cxn>
                  <a:cxn ang="0">
                    <a:pos x="0" y="39"/>
                  </a:cxn>
                </a:cxnLst>
                <a:rect l="0" t="0" r="r" b="b"/>
                <a:pathLst>
                  <a:path w="38" h="46">
                    <a:moveTo>
                      <a:pt x="0" y="39"/>
                    </a:moveTo>
                    <a:cubicBezTo>
                      <a:pt x="9" y="46"/>
                      <a:pt x="9" y="46"/>
                      <a:pt x="9" y="46"/>
                    </a:cubicBezTo>
                    <a:cubicBezTo>
                      <a:pt x="19" y="33"/>
                      <a:pt x="29" y="20"/>
                      <a:pt x="38" y="6"/>
                    </a:cubicBezTo>
                    <a:cubicBezTo>
                      <a:pt x="28" y="0"/>
                      <a:pt x="28" y="0"/>
                      <a:pt x="28" y="0"/>
                    </a:cubicBezTo>
                    <a:cubicBezTo>
                      <a:pt x="19" y="13"/>
                      <a:pt x="10" y="26"/>
                      <a:pt x="0" y="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Freeform 51"/>
              <p:cNvSpPr>
                <a:spLocks/>
              </p:cNvSpPr>
              <p:nvPr/>
            </p:nvSpPr>
            <p:spPr bwMode="auto">
              <a:xfrm>
                <a:off x="-21336" y="2645253"/>
                <a:ext cx="21333" cy="81783"/>
              </a:xfrm>
              <a:custGeom>
                <a:avLst/>
                <a:gdLst/>
                <a:ahLst/>
                <a:cxnLst>
                  <a:cxn ang="0">
                    <a:pos x="12" y="0"/>
                  </a:cxn>
                  <a:cxn ang="0">
                    <a:pos x="0" y="0"/>
                  </a:cxn>
                  <a:cxn ang="0">
                    <a:pos x="1" y="25"/>
                  </a:cxn>
                  <a:cxn ang="0">
                    <a:pos x="1" y="27"/>
                  </a:cxn>
                  <a:cxn ang="0">
                    <a:pos x="1" y="49"/>
                  </a:cxn>
                  <a:cxn ang="0">
                    <a:pos x="13" y="49"/>
                  </a:cxn>
                  <a:cxn ang="0">
                    <a:pos x="13" y="27"/>
                  </a:cxn>
                  <a:cxn ang="0">
                    <a:pos x="13" y="25"/>
                  </a:cxn>
                  <a:cxn ang="0">
                    <a:pos x="12" y="0"/>
                  </a:cxn>
                </a:cxnLst>
                <a:rect l="0" t="0" r="r" b="b"/>
                <a:pathLst>
                  <a:path w="13" h="49">
                    <a:moveTo>
                      <a:pt x="12" y="0"/>
                    </a:moveTo>
                    <a:cubicBezTo>
                      <a:pt x="0" y="0"/>
                      <a:pt x="0" y="0"/>
                      <a:pt x="0" y="0"/>
                    </a:cubicBezTo>
                    <a:cubicBezTo>
                      <a:pt x="1" y="9"/>
                      <a:pt x="1" y="17"/>
                      <a:pt x="1" y="25"/>
                    </a:cubicBezTo>
                    <a:cubicBezTo>
                      <a:pt x="1" y="27"/>
                      <a:pt x="1" y="27"/>
                      <a:pt x="1" y="27"/>
                    </a:cubicBezTo>
                    <a:cubicBezTo>
                      <a:pt x="1" y="34"/>
                      <a:pt x="1" y="41"/>
                      <a:pt x="1" y="49"/>
                    </a:cubicBezTo>
                    <a:cubicBezTo>
                      <a:pt x="13" y="49"/>
                      <a:pt x="13" y="49"/>
                      <a:pt x="13" y="49"/>
                    </a:cubicBezTo>
                    <a:cubicBezTo>
                      <a:pt x="13" y="42"/>
                      <a:pt x="13" y="34"/>
                      <a:pt x="13" y="27"/>
                    </a:cubicBezTo>
                    <a:cubicBezTo>
                      <a:pt x="13" y="25"/>
                      <a:pt x="13" y="25"/>
                      <a:pt x="13" y="25"/>
                    </a:cubicBezTo>
                    <a:cubicBezTo>
                      <a:pt x="13" y="17"/>
                      <a:pt x="13" y="8"/>
                      <a:pt x="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Freeform 52"/>
              <p:cNvSpPr>
                <a:spLocks/>
              </p:cNvSpPr>
              <p:nvPr/>
            </p:nvSpPr>
            <p:spPr bwMode="auto">
              <a:xfrm>
                <a:off x="-38402" y="2805978"/>
                <a:ext cx="32002" cy="83919"/>
              </a:xfrm>
              <a:custGeom>
                <a:avLst/>
                <a:gdLst/>
                <a:ahLst/>
                <a:cxnLst>
                  <a:cxn ang="0">
                    <a:pos x="0" y="48"/>
                  </a:cxn>
                  <a:cxn ang="0">
                    <a:pos x="12" y="50"/>
                  </a:cxn>
                  <a:cxn ang="0">
                    <a:pos x="19" y="2"/>
                  </a:cxn>
                  <a:cxn ang="0">
                    <a:pos x="7" y="0"/>
                  </a:cxn>
                  <a:cxn ang="0">
                    <a:pos x="0" y="48"/>
                  </a:cxn>
                </a:cxnLst>
                <a:rect l="0" t="0" r="r" b="b"/>
                <a:pathLst>
                  <a:path w="19" h="50">
                    <a:moveTo>
                      <a:pt x="0" y="48"/>
                    </a:moveTo>
                    <a:cubicBezTo>
                      <a:pt x="12" y="50"/>
                      <a:pt x="12" y="50"/>
                      <a:pt x="12" y="50"/>
                    </a:cubicBezTo>
                    <a:cubicBezTo>
                      <a:pt x="15" y="34"/>
                      <a:pt x="17" y="18"/>
                      <a:pt x="19" y="2"/>
                    </a:cubicBezTo>
                    <a:cubicBezTo>
                      <a:pt x="7" y="0"/>
                      <a:pt x="7" y="0"/>
                      <a:pt x="7" y="0"/>
                    </a:cubicBezTo>
                    <a:cubicBezTo>
                      <a:pt x="5" y="16"/>
                      <a:pt x="3" y="32"/>
                      <a:pt x="0" y="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Freeform 53"/>
              <p:cNvSpPr>
                <a:spLocks/>
              </p:cNvSpPr>
              <p:nvPr/>
            </p:nvSpPr>
            <p:spPr bwMode="auto">
              <a:xfrm>
                <a:off x="-82495" y="2965991"/>
                <a:ext cx="45514" cy="83919"/>
              </a:xfrm>
              <a:custGeom>
                <a:avLst/>
                <a:gdLst/>
                <a:ahLst/>
                <a:cxnLst>
                  <a:cxn ang="0">
                    <a:pos x="0" y="45"/>
                  </a:cxn>
                  <a:cxn ang="0">
                    <a:pos x="12" y="50"/>
                  </a:cxn>
                  <a:cxn ang="0">
                    <a:pos x="27" y="3"/>
                  </a:cxn>
                  <a:cxn ang="0">
                    <a:pos x="15" y="0"/>
                  </a:cxn>
                  <a:cxn ang="0">
                    <a:pos x="0" y="45"/>
                  </a:cxn>
                </a:cxnLst>
                <a:rect l="0" t="0" r="r" b="b"/>
                <a:pathLst>
                  <a:path w="27" h="50">
                    <a:moveTo>
                      <a:pt x="0" y="45"/>
                    </a:moveTo>
                    <a:cubicBezTo>
                      <a:pt x="12" y="50"/>
                      <a:pt x="12" y="50"/>
                      <a:pt x="12" y="50"/>
                    </a:cubicBezTo>
                    <a:cubicBezTo>
                      <a:pt x="17" y="34"/>
                      <a:pt x="22" y="19"/>
                      <a:pt x="27" y="3"/>
                    </a:cubicBezTo>
                    <a:cubicBezTo>
                      <a:pt x="15" y="0"/>
                      <a:pt x="15" y="0"/>
                      <a:pt x="15" y="0"/>
                    </a:cubicBezTo>
                    <a:cubicBezTo>
                      <a:pt x="11" y="15"/>
                      <a:pt x="6" y="30"/>
                      <a:pt x="0" y="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Freeform 54"/>
              <p:cNvSpPr>
                <a:spLocks/>
              </p:cNvSpPr>
              <p:nvPr/>
            </p:nvSpPr>
            <p:spPr bwMode="auto">
              <a:xfrm>
                <a:off x="-762377" y="3654405"/>
                <a:ext cx="83919" cy="45514"/>
              </a:xfrm>
              <a:custGeom>
                <a:avLst/>
                <a:gdLst/>
                <a:ahLst/>
                <a:cxnLst>
                  <a:cxn ang="0">
                    <a:pos x="0" y="15"/>
                  </a:cxn>
                  <a:cxn ang="0">
                    <a:pos x="3" y="27"/>
                  </a:cxn>
                  <a:cxn ang="0">
                    <a:pos x="50" y="11"/>
                  </a:cxn>
                  <a:cxn ang="0">
                    <a:pos x="45" y="0"/>
                  </a:cxn>
                  <a:cxn ang="0">
                    <a:pos x="0" y="15"/>
                  </a:cxn>
                </a:cxnLst>
                <a:rect l="0" t="0" r="r" b="b"/>
                <a:pathLst>
                  <a:path w="50" h="27">
                    <a:moveTo>
                      <a:pt x="0" y="15"/>
                    </a:moveTo>
                    <a:cubicBezTo>
                      <a:pt x="3" y="27"/>
                      <a:pt x="3" y="27"/>
                      <a:pt x="3" y="27"/>
                    </a:cubicBezTo>
                    <a:cubicBezTo>
                      <a:pt x="19" y="22"/>
                      <a:pt x="34" y="17"/>
                      <a:pt x="50" y="11"/>
                    </a:cubicBezTo>
                    <a:cubicBezTo>
                      <a:pt x="45" y="0"/>
                      <a:pt x="45" y="0"/>
                      <a:pt x="45" y="0"/>
                    </a:cubicBezTo>
                    <a:cubicBezTo>
                      <a:pt x="31" y="6"/>
                      <a:pt x="15" y="11"/>
                      <a:pt x="0" y="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8" name="Freeform 55"/>
              <p:cNvSpPr>
                <a:spLocks/>
              </p:cNvSpPr>
              <p:nvPr/>
            </p:nvSpPr>
            <p:spPr bwMode="auto">
              <a:xfrm>
                <a:off x="-920258" y="3699917"/>
                <a:ext cx="83919" cy="33424"/>
              </a:xfrm>
              <a:custGeom>
                <a:avLst/>
                <a:gdLst/>
                <a:ahLst/>
                <a:cxnLst>
                  <a:cxn ang="0">
                    <a:pos x="0" y="8"/>
                  </a:cxn>
                  <a:cxn ang="0">
                    <a:pos x="1" y="20"/>
                  </a:cxn>
                  <a:cxn ang="0">
                    <a:pos x="50" y="12"/>
                  </a:cxn>
                  <a:cxn ang="0">
                    <a:pos x="47" y="0"/>
                  </a:cxn>
                  <a:cxn ang="0">
                    <a:pos x="0" y="8"/>
                  </a:cxn>
                </a:cxnLst>
                <a:rect l="0" t="0" r="r" b="b"/>
                <a:pathLst>
                  <a:path w="50" h="20">
                    <a:moveTo>
                      <a:pt x="0" y="8"/>
                    </a:moveTo>
                    <a:cubicBezTo>
                      <a:pt x="1" y="20"/>
                      <a:pt x="1" y="20"/>
                      <a:pt x="1" y="20"/>
                    </a:cubicBezTo>
                    <a:cubicBezTo>
                      <a:pt x="18" y="18"/>
                      <a:pt x="34" y="15"/>
                      <a:pt x="50" y="12"/>
                    </a:cubicBezTo>
                    <a:cubicBezTo>
                      <a:pt x="47" y="0"/>
                      <a:pt x="47" y="0"/>
                      <a:pt x="47" y="0"/>
                    </a:cubicBezTo>
                    <a:cubicBezTo>
                      <a:pt x="32" y="3"/>
                      <a:pt x="16" y="6"/>
                      <a:pt x="0"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9" name="Freeform 56"/>
              <p:cNvSpPr>
                <a:spLocks/>
              </p:cNvSpPr>
              <p:nvPr/>
            </p:nvSpPr>
            <p:spPr bwMode="auto">
              <a:xfrm>
                <a:off x="-1404569" y="3661515"/>
                <a:ext cx="83919" cy="43381"/>
              </a:xfrm>
              <a:custGeom>
                <a:avLst/>
                <a:gdLst/>
                <a:ahLst/>
                <a:cxnLst>
                  <a:cxn ang="0">
                    <a:pos x="0" y="11"/>
                  </a:cxn>
                  <a:cxn ang="0">
                    <a:pos x="47" y="26"/>
                  </a:cxn>
                  <a:cxn ang="0">
                    <a:pos x="50" y="14"/>
                  </a:cxn>
                  <a:cxn ang="0">
                    <a:pos x="4" y="0"/>
                  </a:cxn>
                  <a:cxn ang="0">
                    <a:pos x="0" y="11"/>
                  </a:cxn>
                </a:cxnLst>
                <a:rect l="0" t="0" r="r" b="b"/>
                <a:pathLst>
                  <a:path w="50" h="26">
                    <a:moveTo>
                      <a:pt x="0" y="11"/>
                    </a:moveTo>
                    <a:cubicBezTo>
                      <a:pt x="15" y="17"/>
                      <a:pt x="31" y="22"/>
                      <a:pt x="47" y="26"/>
                    </a:cubicBezTo>
                    <a:cubicBezTo>
                      <a:pt x="50" y="14"/>
                      <a:pt x="50" y="14"/>
                      <a:pt x="50" y="14"/>
                    </a:cubicBezTo>
                    <a:cubicBezTo>
                      <a:pt x="34" y="10"/>
                      <a:pt x="19" y="5"/>
                      <a:pt x="4" y="0"/>
                    </a:cubicBezTo>
                    <a:lnTo>
                      <a:pt x="0" y="1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0" name="Freeform 57"/>
              <p:cNvSpPr>
                <a:spLocks/>
              </p:cNvSpPr>
              <p:nvPr/>
            </p:nvSpPr>
            <p:spPr bwMode="auto">
              <a:xfrm>
                <a:off x="-1081695" y="3719834"/>
                <a:ext cx="82497" cy="22047"/>
              </a:xfrm>
              <a:custGeom>
                <a:avLst/>
                <a:gdLst/>
                <a:ahLst/>
                <a:cxnLst>
                  <a:cxn ang="0">
                    <a:pos x="20" y="1"/>
                  </a:cxn>
                  <a:cxn ang="0">
                    <a:pos x="18" y="1"/>
                  </a:cxn>
                  <a:cxn ang="0">
                    <a:pos x="0" y="0"/>
                  </a:cxn>
                  <a:cxn ang="0">
                    <a:pos x="0" y="12"/>
                  </a:cxn>
                  <a:cxn ang="0">
                    <a:pos x="18" y="13"/>
                  </a:cxn>
                  <a:cxn ang="0">
                    <a:pos x="20" y="13"/>
                  </a:cxn>
                  <a:cxn ang="0">
                    <a:pos x="49" y="12"/>
                  </a:cxn>
                  <a:cxn ang="0">
                    <a:pos x="48" y="0"/>
                  </a:cxn>
                  <a:cxn ang="0">
                    <a:pos x="20" y="1"/>
                  </a:cxn>
                </a:cxnLst>
                <a:rect l="0" t="0" r="r" b="b"/>
                <a:pathLst>
                  <a:path w="49" h="13">
                    <a:moveTo>
                      <a:pt x="20" y="1"/>
                    </a:moveTo>
                    <a:cubicBezTo>
                      <a:pt x="18" y="1"/>
                      <a:pt x="18" y="1"/>
                      <a:pt x="18" y="1"/>
                    </a:cubicBezTo>
                    <a:cubicBezTo>
                      <a:pt x="12" y="1"/>
                      <a:pt x="6" y="1"/>
                      <a:pt x="0" y="0"/>
                    </a:cubicBezTo>
                    <a:cubicBezTo>
                      <a:pt x="0" y="12"/>
                      <a:pt x="0" y="12"/>
                      <a:pt x="0" y="12"/>
                    </a:cubicBezTo>
                    <a:cubicBezTo>
                      <a:pt x="6" y="13"/>
                      <a:pt x="12" y="13"/>
                      <a:pt x="18" y="13"/>
                    </a:cubicBezTo>
                    <a:cubicBezTo>
                      <a:pt x="20" y="13"/>
                      <a:pt x="20" y="13"/>
                      <a:pt x="20" y="13"/>
                    </a:cubicBezTo>
                    <a:cubicBezTo>
                      <a:pt x="30" y="13"/>
                      <a:pt x="39" y="12"/>
                      <a:pt x="49" y="12"/>
                    </a:cubicBezTo>
                    <a:cubicBezTo>
                      <a:pt x="48" y="0"/>
                      <a:pt x="48" y="0"/>
                      <a:pt x="48" y="0"/>
                    </a:cubicBezTo>
                    <a:cubicBezTo>
                      <a:pt x="39" y="0"/>
                      <a:pt x="29" y="1"/>
                      <a:pt x="20" y="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1" name="Freeform 58"/>
              <p:cNvSpPr>
                <a:spLocks/>
              </p:cNvSpPr>
              <p:nvPr/>
            </p:nvSpPr>
            <p:spPr bwMode="auto">
              <a:xfrm>
                <a:off x="-472219" y="3495104"/>
                <a:ext cx="77519" cy="65428"/>
              </a:xfrm>
              <a:custGeom>
                <a:avLst/>
                <a:gdLst/>
                <a:ahLst/>
                <a:cxnLst>
                  <a:cxn ang="0">
                    <a:pos x="0" y="29"/>
                  </a:cxn>
                  <a:cxn ang="0">
                    <a:pos x="7" y="39"/>
                  </a:cxn>
                  <a:cxn ang="0">
                    <a:pos x="46" y="10"/>
                  </a:cxn>
                  <a:cxn ang="0">
                    <a:pos x="39" y="0"/>
                  </a:cxn>
                  <a:cxn ang="0">
                    <a:pos x="0" y="29"/>
                  </a:cxn>
                </a:cxnLst>
                <a:rect l="0" t="0" r="r" b="b"/>
                <a:pathLst>
                  <a:path w="46" h="39">
                    <a:moveTo>
                      <a:pt x="0" y="29"/>
                    </a:moveTo>
                    <a:cubicBezTo>
                      <a:pt x="7" y="39"/>
                      <a:pt x="7" y="39"/>
                      <a:pt x="7" y="39"/>
                    </a:cubicBezTo>
                    <a:cubicBezTo>
                      <a:pt x="20" y="29"/>
                      <a:pt x="34" y="20"/>
                      <a:pt x="46" y="10"/>
                    </a:cubicBezTo>
                    <a:cubicBezTo>
                      <a:pt x="39" y="0"/>
                      <a:pt x="39" y="0"/>
                      <a:pt x="39" y="0"/>
                    </a:cubicBezTo>
                    <a:cubicBezTo>
                      <a:pt x="26" y="10"/>
                      <a:pt x="13" y="20"/>
                      <a:pt x="0" y="2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2" name="Freeform 59"/>
              <p:cNvSpPr>
                <a:spLocks/>
              </p:cNvSpPr>
              <p:nvPr/>
            </p:nvSpPr>
            <p:spPr bwMode="auto">
              <a:xfrm>
                <a:off x="-345628" y="3384161"/>
                <a:ext cx="71829" cy="71829"/>
              </a:xfrm>
              <a:custGeom>
                <a:avLst/>
                <a:gdLst/>
                <a:ahLst/>
                <a:cxnLst>
                  <a:cxn ang="0">
                    <a:pos x="0" y="35"/>
                  </a:cxn>
                  <a:cxn ang="0">
                    <a:pos x="8" y="43"/>
                  </a:cxn>
                  <a:cxn ang="0">
                    <a:pos x="43" y="9"/>
                  </a:cxn>
                  <a:cxn ang="0">
                    <a:pos x="34" y="0"/>
                  </a:cxn>
                  <a:cxn ang="0">
                    <a:pos x="0" y="35"/>
                  </a:cxn>
                </a:cxnLst>
                <a:rect l="0" t="0" r="r" b="b"/>
                <a:pathLst>
                  <a:path w="43" h="43">
                    <a:moveTo>
                      <a:pt x="0" y="35"/>
                    </a:moveTo>
                    <a:cubicBezTo>
                      <a:pt x="8" y="43"/>
                      <a:pt x="8" y="43"/>
                      <a:pt x="8" y="43"/>
                    </a:cubicBezTo>
                    <a:cubicBezTo>
                      <a:pt x="20" y="32"/>
                      <a:pt x="32" y="21"/>
                      <a:pt x="43" y="9"/>
                    </a:cubicBezTo>
                    <a:cubicBezTo>
                      <a:pt x="34" y="0"/>
                      <a:pt x="34" y="0"/>
                      <a:pt x="34" y="0"/>
                    </a:cubicBezTo>
                    <a:cubicBezTo>
                      <a:pt x="23" y="12"/>
                      <a:pt x="12" y="24"/>
                      <a:pt x="0" y="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3" name="Freeform 60"/>
              <p:cNvSpPr>
                <a:spLocks/>
              </p:cNvSpPr>
              <p:nvPr/>
            </p:nvSpPr>
            <p:spPr bwMode="auto">
              <a:xfrm>
                <a:off x="-611610" y="3585423"/>
                <a:ext cx="81075" cy="55471"/>
              </a:xfrm>
              <a:custGeom>
                <a:avLst/>
                <a:gdLst/>
                <a:ahLst/>
                <a:cxnLst>
                  <a:cxn ang="0">
                    <a:pos x="0" y="22"/>
                  </a:cxn>
                  <a:cxn ang="0">
                    <a:pos x="5" y="33"/>
                  </a:cxn>
                  <a:cxn ang="0">
                    <a:pos x="48" y="11"/>
                  </a:cxn>
                  <a:cxn ang="0">
                    <a:pos x="42" y="0"/>
                  </a:cxn>
                  <a:cxn ang="0">
                    <a:pos x="0" y="22"/>
                  </a:cxn>
                </a:cxnLst>
                <a:rect l="0" t="0" r="r" b="b"/>
                <a:pathLst>
                  <a:path w="48" h="33">
                    <a:moveTo>
                      <a:pt x="0" y="22"/>
                    </a:moveTo>
                    <a:cubicBezTo>
                      <a:pt x="5" y="33"/>
                      <a:pt x="5" y="33"/>
                      <a:pt x="5" y="33"/>
                    </a:cubicBezTo>
                    <a:cubicBezTo>
                      <a:pt x="20" y="26"/>
                      <a:pt x="34" y="19"/>
                      <a:pt x="48" y="11"/>
                    </a:cubicBezTo>
                    <a:cubicBezTo>
                      <a:pt x="42" y="0"/>
                      <a:pt x="42" y="0"/>
                      <a:pt x="42" y="0"/>
                    </a:cubicBezTo>
                    <a:cubicBezTo>
                      <a:pt x="28" y="8"/>
                      <a:pt x="14" y="16"/>
                      <a:pt x="0" y="2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4" name="Freeform 61"/>
              <p:cNvSpPr>
                <a:spLocks/>
              </p:cNvSpPr>
              <p:nvPr/>
            </p:nvSpPr>
            <p:spPr bwMode="auto">
              <a:xfrm>
                <a:off x="-1900278" y="2036514"/>
                <a:ext cx="40536" cy="44092"/>
              </a:xfrm>
              <a:custGeom>
                <a:avLst/>
                <a:gdLst/>
                <a:ahLst/>
                <a:cxnLst>
                  <a:cxn ang="0">
                    <a:pos x="0" y="19"/>
                  </a:cxn>
                  <a:cxn ang="0">
                    <a:pos x="10" y="26"/>
                  </a:cxn>
                  <a:cxn ang="0">
                    <a:pos x="24" y="8"/>
                  </a:cxn>
                  <a:cxn ang="0">
                    <a:pos x="15" y="0"/>
                  </a:cxn>
                  <a:cxn ang="0">
                    <a:pos x="0" y="19"/>
                  </a:cxn>
                </a:cxnLst>
                <a:rect l="0" t="0" r="r" b="b"/>
                <a:pathLst>
                  <a:path w="24" h="26">
                    <a:moveTo>
                      <a:pt x="0" y="19"/>
                    </a:moveTo>
                    <a:cubicBezTo>
                      <a:pt x="10" y="26"/>
                      <a:pt x="10" y="26"/>
                      <a:pt x="10" y="26"/>
                    </a:cubicBezTo>
                    <a:cubicBezTo>
                      <a:pt x="15" y="20"/>
                      <a:pt x="19" y="14"/>
                      <a:pt x="24" y="8"/>
                    </a:cubicBezTo>
                    <a:cubicBezTo>
                      <a:pt x="15" y="0"/>
                      <a:pt x="15" y="0"/>
                      <a:pt x="15" y="0"/>
                    </a:cubicBezTo>
                    <a:cubicBezTo>
                      <a:pt x="10" y="6"/>
                      <a:pt x="5" y="13"/>
                      <a:pt x="0" y="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75" name="组合 74"/>
            <p:cNvGrpSpPr/>
            <p:nvPr/>
          </p:nvGrpSpPr>
          <p:grpSpPr bwMode="auto">
            <a:xfrm flipH="1">
              <a:off x="9090583" y="1944057"/>
              <a:ext cx="1356876" cy="1520422"/>
              <a:chOff x="-1900278" y="1638945"/>
              <a:chExt cx="1900275" cy="2102936"/>
            </a:xfrm>
            <a:solidFill>
              <a:srgbClr val="00B0F0"/>
            </a:solidFill>
          </p:grpSpPr>
          <p:sp>
            <p:nvSpPr>
              <p:cNvPr id="76" name="Freeform 31"/>
              <p:cNvSpPr>
                <a:spLocks/>
              </p:cNvSpPr>
              <p:nvPr/>
            </p:nvSpPr>
            <p:spPr bwMode="auto">
              <a:xfrm>
                <a:off x="-1787182" y="1804646"/>
                <a:ext cx="1610809" cy="1752321"/>
              </a:xfrm>
              <a:custGeom>
                <a:avLst/>
                <a:gdLst/>
                <a:ahLst/>
                <a:cxnLst>
                  <a:cxn ang="0">
                    <a:pos x="438" y="1043"/>
                  </a:cxn>
                  <a:cxn ang="0">
                    <a:pos x="959" y="521"/>
                  </a:cxn>
                  <a:cxn ang="0">
                    <a:pos x="438" y="0"/>
                  </a:cxn>
                  <a:cxn ang="0">
                    <a:pos x="0" y="237"/>
                  </a:cxn>
                  <a:cxn ang="0">
                    <a:pos x="40" y="264"/>
                  </a:cxn>
                  <a:cxn ang="0">
                    <a:pos x="438" y="48"/>
                  </a:cxn>
                  <a:cxn ang="0">
                    <a:pos x="911" y="521"/>
                  </a:cxn>
                  <a:cxn ang="0">
                    <a:pos x="438" y="995"/>
                  </a:cxn>
                  <a:cxn ang="0">
                    <a:pos x="152" y="899"/>
                  </a:cxn>
                  <a:cxn ang="0">
                    <a:pos x="234" y="884"/>
                  </a:cxn>
                  <a:cxn ang="0">
                    <a:pos x="5" y="766"/>
                  </a:cxn>
                  <a:cxn ang="0">
                    <a:pos x="85" y="1011"/>
                  </a:cxn>
                  <a:cxn ang="0">
                    <a:pos x="114" y="930"/>
                  </a:cxn>
                  <a:cxn ang="0">
                    <a:pos x="438" y="1043"/>
                  </a:cxn>
                </a:cxnLst>
                <a:rect l="0" t="0" r="r" b="b"/>
                <a:pathLst>
                  <a:path w="959" h="1043">
                    <a:moveTo>
                      <a:pt x="438" y="1043"/>
                    </a:moveTo>
                    <a:cubicBezTo>
                      <a:pt x="725" y="1043"/>
                      <a:pt x="959" y="809"/>
                      <a:pt x="959" y="521"/>
                    </a:cubicBezTo>
                    <a:cubicBezTo>
                      <a:pt x="959" y="234"/>
                      <a:pt x="725" y="0"/>
                      <a:pt x="438" y="0"/>
                    </a:cubicBezTo>
                    <a:cubicBezTo>
                      <a:pt x="261" y="0"/>
                      <a:pt x="97" y="89"/>
                      <a:pt x="0" y="237"/>
                    </a:cubicBezTo>
                    <a:cubicBezTo>
                      <a:pt x="40" y="264"/>
                      <a:pt x="40" y="264"/>
                      <a:pt x="40" y="264"/>
                    </a:cubicBezTo>
                    <a:cubicBezTo>
                      <a:pt x="128" y="128"/>
                      <a:pt x="277" y="48"/>
                      <a:pt x="438" y="48"/>
                    </a:cubicBezTo>
                    <a:cubicBezTo>
                      <a:pt x="699" y="48"/>
                      <a:pt x="911" y="260"/>
                      <a:pt x="911" y="521"/>
                    </a:cubicBezTo>
                    <a:cubicBezTo>
                      <a:pt x="911" y="782"/>
                      <a:pt x="699" y="995"/>
                      <a:pt x="438" y="995"/>
                    </a:cubicBezTo>
                    <a:cubicBezTo>
                      <a:pt x="334" y="995"/>
                      <a:pt x="234" y="961"/>
                      <a:pt x="152" y="899"/>
                    </a:cubicBezTo>
                    <a:cubicBezTo>
                      <a:pt x="234" y="884"/>
                      <a:pt x="234" y="884"/>
                      <a:pt x="234" y="884"/>
                    </a:cubicBezTo>
                    <a:cubicBezTo>
                      <a:pt x="5" y="766"/>
                      <a:pt x="5" y="766"/>
                      <a:pt x="5" y="766"/>
                    </a:cubicBezTo>
                    <a:cubicBezTo>
                      <a:pt x="85" y="1011"/>
                      <a:pt x="85" y="1011"/>
                      <a:pt x="85" y="1011"/>
                    </a:cubicBezTo>
                    <a:cubicBezTo>
                      <a:pt x="114" y="930"/>
                      <a:pt x="114" y="930"/>
                      <a:pt x="114" y="930"/>
                    </a:cubicBezTo>
                    <a:cubicBezTo>
                      <a:pt x="206" y="1003"/>
                      <a:pt x="320" y="1043"/>
                      <a:pt x="438" y="10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Freeform 32"/>
              <p:cNvSpPr>
                <a:spLocks/>
              </p:cNvSpPr>
              <p:nvPr/>
            </p:nvSpPr>
            <p:spPr bwMode="auto">
              <a:xfrm>
                <a:off x="-1518359" y="3613862"/>
                <a:ext cx="44803" cy="35557"/>
              </a:xfrm>
              <a:custGeom>
                <a:avLst/>
                <a:gdLst/>
                <a:ahLst/>
                <a:cxnLst>
                  <a:cxn ang="0">
                    <a:pos x="0" y="11"/>
                  </a:cxn>
                  <a:cxn ang="0">
                    <a:pos x="22" y="21"/>
                  </a:cxn>
                  <a:cxn ang="0">
                    <a:pos x="27" y="10"/>
                  </a:cxn>
                  <a:cxn ang="0">
                    <a:pos x="6" y="0"/>
                  </a:cxn>
                  <a:cxn ang="0">
                    <a:pos x="0" y="11"/>
                  </a:cxn>
                </a:cxnLst>
                <a:rect l="0" t="0" r="r" b="b"/>
                <a:pathLst>
                  <a:path w="27" h="21">
                    <a:moveTo>
                      <a:pt x="0" y="11"/>
                    </a:moveTo>
                    <a:cubicBezTo>
                      <a:pt x="8" y="14"/>
                      <a:pt x="15" y="18"/>
                      <a:pt x="22" y="21"/>
                    </a:cubicBezTo>
                    <a:cubicBezTo>
                      <a:pt x="27" y="10"/>
                      <a:pt x="27" y="10"/>
                      <a:pt x="27" y="10"/>
                    </a:cubicBezTo>
                    <a:cubicBezTo>
                      <a:pt x="20" y="7"/>
                      <a:pt x="13" y="3"/>
                      <a:pt x="6" y="0"/>
                    </a:cubicBezTo>
                    <a:lnTo>
                      <a:pt x="0" y="1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 name="Freeform 33"/>
              <p:cNvSpPr>
                <a:spLocks/>
              </p:cNvSpPr>
              <p:nvPr/>
            </p:nvSpPr>
            <p:spPr bwMode="auto">
              <a:xfrm>
                <a:off x="-1254515" y="1645344"/>
                <a:ext cx="83919" cy="33424"/>
              </a:xfrm>
              <a:custGeom>
                <a:avLst/>
                <a:gdLst/>
                <a:ahLst/>
                <a:cxnLst>
                  <a:cxn ang="0">
                    <a:pos x="50" y="12"/>
                  </a:cxn>
                  <a:cxn ang="0">
                    <a:pos x="49" y="0"/>
                  </a:cxn>
                  <a:cxn ang="0">
                    <a:pos x="0" y="8"/>
                  </a:cxn>
                  <a:cxn ang="0">
                    <a:pos x="3" y="20"/>
                  </a:cxn>
                  <a:cxn ang="0">
                    <a:pos x="50" y="12"/>
                  </a:cxn>
                </a:cxnLst>
                <a:rect l="0" t="0" r="r" b="b"/>
                <a:pathLst>
                  <a:path w="50" h="20">
                    <a:moveTo>
                      <a:pt x="50" y="12"/>
                    </a:moveTo>
                    <a:cubicBezTo>
                      <a:pt x="49" y="0"/>
                      <a:pt x="49" y="0"/>
                      <a:pt x="49" y="0"/>
                    </a:cubicBezTo>
                    <a:cubicBezTo>
                      <a:pt x="33" y="2"/>
                      <a:pt x="16" y="5"/>
                      <a:pt x="0" y="8"/>
                    </a:cubicBezTo>
                    <a:cubicBezTo>
                      <a:pt x="3" y="20"/>
                      <a:pt x="3" y="20"/>
                      <a:pt x="3" y="20"/>
                    </a:cubicBezTo>
                    <a:cubicBezTo>
                      <a:pt x="18" y="17"/>
                      <a:pt x="34" y="14"/>
                      <a:pt x="50"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 name="Freeform 34"/>
              <p:cNvSpPr>
                <a:spLocks/>
              </p:cNvSpPr>
              <p:nvPr/>
            </p:nvSpPr>
            <p:spPr bwMode="auto">
              <a:xfrm>
                <a:off x="-1821319" y="1915587"/>
                <a:ext cx="72540" cy="72540"/>
              </a:xfrm>
              <a:custGeom>
                <a:avLst/>
                <a:gdLst/>
                <a:ahLst/>
                <a:cxnLst>
                  <a:cxn ang="0">
                    <a:pos x="43" y="9"/>
                  </a:cxn>
                  <a:cxn ang="0">
                    <a:pos x="35" y="0"/>
                  </a:cxn>
                  <a:cxn ang="0">
                    <a:pos x="0" y="34"/>
                  </a:cxn>
                  <a:cxn ang="0">
                    <a:pos x="9" y="43"/>
                  </a:cxn>
                  <a:cxn ang="0">
                    <a:pos x="43" y="9"/>
                  </a:cxn>
                </a:cxnLst>
                <a:rect l="0" t="0" r="r" b="b"/>
                <a:pathLst>
                  <a:path w="43" h="43">
                    <a:moveTo>
                      <a:pt x="43" y="9"/>
                    </a:moveTo>
                    <a:cubicBezTo>
                      <a:pt x="35" y="0"/>
                      <a:pt x="35" y="0"/>
                      <a:pt x="35" y="0"/>
                    </a:cubicBezTo>
                    <a:cubicBezTo>
                      <a:pt x="23" y="11"/>
                      <a:pt x="12" y="22"/>
                      <a:pt x="0" y="34"/>
                    </a:cubicBezTo>
                    <a:cubicBezTo>
                      <a:pt x="9" y="43"/>
                      <a:pt x="9" y="43"/>
                      <a:pt x="9" y="43"/>
                    </a:cubicBezTo>
                    <a:cubicBezTo>
                      <a:pt x="20" y="31"/>
                      <a:pt x="32" y="20"/>
                      <a:pt x="43"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 name="Freeform 35"/>
              <p:cNvSpPr>
                <a:spLocks/>
              </p:cNvSpPr>
              <p:nvPr/>
            </p:nvSpPr>
            <p:spPr bwMode="auto">
              <a:xfrm>
                <a:off x="-1412393" y="1677347"/>
                <a:ext cx="83919" cy="43381"/>
              </a:xfrm>
              <a:custGeom>
                <a:avLst/>
                <a:gdLst/>
                <a:ahLst/>
                <a:cxnLst>
                  <a:cxn ang="0">
                    <a:pos x="50" y="12"/>
                  </a:cxn>
                  <a:cxn ang="0">
                    <a:pos x="47" y="0"/>
                  </a:cxn>
                  <a:cxn ang="0">
                    <a:pos x="0" y="15"/>
                  </a:cxn>
                  <a:cxn ang="0">
                    <a:pos x="4" y="26"/>
                  </a:cxn>
                  <a:cxn ang="0">
                    <a:pos x="50" y="12"/>
                  </a:cxn>
                </a:cxnLst>
                <a:rect l="0" t="0" r="r" b="b"/>
                <a:pathLst>
                  <a:path w="50" h="26">
                    <a:moveTo>
                      <a:pt x="50" y="12"/>
                    </a:moveTo>
                    <a:cubicBezTo>
                      <a:pt x="47" y="0"/>
                      <a:pt x="47" y="0"/>
                      <a:pt x="47" y="0"/>
                    </a:cubicBezTo>
                    <a:cubicBezTo>
                      <a:pt x="31" y="5"/>
                      <a:pt x="15" y="10"/>
                      <a:pt x="0" y="15"/>
                    </a:cubicBezTo>
                    <a:cubicBezTo>
                      <a:pt x="4" y="26"/>
                      <a:pt x="4" y="26"/>
                      <a:pt x="4" y="26"/>
                    </a:cubicBezTo>
                    <a:cubicBezTo>
                      <a:pt x="19" y="21"/>
                      <a:pt x="35" y="16"/>
                      <a:pt x="50"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 name="Freeform 36"/>
              <p:cNvSpPr>
                <a:spLocks/>
              </p:cNvSpPr>
              <p:nvPr/>
            </p:nvSpPr>
            <p:spPr bwMode="auto">
              <a:xfrm>
                <a:off x="-1090233" y="1638945"/>
                <a:ext cx="82497" cy="21333"/>
              </a:xfrm>
              <a:custGeom>
                <a:avLst/>
                <a:gdLst/>
                <a:ahLst/>
                <a:cxnLst>
                  <a:cxn ang="0">
                    <a:pos x="22" y="12"/>
                  </a:cxn>
                  <a:cxn ang="0">
                    <a:pos x="23" y="12"/>
                  </a:cxn>
                  <a:cxn ang="0">
                    <a:pos x="48" y="13"/>
                  </a:cxn>
                  <a:cxn ang="0">
                    <a:pos x="49" y="1"/>
                  </a:cxn>
                  <a:cxn ang="0">
                    <a:pos x="23" y="0"/>
                  </a:cxn>
                  <a:cxn ang="0">
                    <a:pos x="22" y="0"/>
                  </a:cxn>
                  <a:cxn ang="0">
                    <a:pos x="0" y="1"/>
                  </a:cxn>
                  <a:cxn ang="0">
                    <a:pos x="0" y="13"/>
                  </a:cxn>
                  <a:cxn ang="0">
                    <a:pos x="22" y="12"/>
                  </a:cxn>
                </a:cxnLst>
                <a:rect l="0" t="0" r="r" b="b"/>
                <a:pathLst>
                  <a:path w="49" h="13">
                    <a:moveTo>
                      <a:pt x="22" y="12"/>
                    </a:moveTo>
                    <a:cubicBezTo>
                      <a:pt x="23" y="12"/>
                      <a:pt x="23" y="12"/>
                      <a:pt x="23" y="12"/>
                    </a:cubicBezTo>
                    <a:cubicBezTo>
                      <a:pt x="32" y="12"/>
                      <a:pt x="40" y="12"/>
                      <a:pt x="48" y="13"/>
                    </a:cubicBezTo>
                    <a:cubicBezTo>
                      <a:pt x="49" y="1"/>
                      <a:pt x="49" y="1"/>
                      <a:pt x="49" y="1"/>
                    </a:cubicBezTo>
                    <a:cubicBezTo>
                      <a:pt x="40" y="0"/>
                      <a:pt x="32" y="0"/>
                      <a:pt x="23" y="0"/>
                    </a:cubicBezTo>
                    <a:cubicBezTo>
                      <a:pt x="22" y="0"/>
                      <a:pt x="22" y="0"/>
                      <a:pt x="22" y="0"/>
                    </a:cubicBezTo>
                    <a:cubicBezTo>
                      <a:pt x="14" y="0"/>
                      <a:pt x="7" y="0"/>
                      <a:pt x="0" y="1"/>
                    </a:cubicBezTo>
                    <a:cubicBezTo>
                      <a:pt x="0" y="13"/>
                      <a:pt x="0" y="13"/>
                      <a:pt x="0" y="13"/>
                    </a:cubicBezTo>
                    <a:cubicBezTo>
                      <a:pt x="7" y="12"/>
                      <a:pt x="14" y="12"/>
                      <a:pt x="22" y="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 name="Freeform 37"/>
              <p:cNvSpPr>
                <a:spLocks/>
              </p:cNvSpPr>
              <p:nvPr/>
            </p:nvSpPr>
            <p:spPr bwMode="auto">
              <a:xfrm>
                <a:off x="-1698285" y="1813182"/>
                <a:ext cx="77519" cy="65428"/>
              </a:xfrm>
              <a:custGeom>
                <a:avLst/>
                <a:gdLst/>
                <a:ahLst/>
                <a:cxnLst>
                  <a:cxn ang="0">
                    <a:pos x="46" y="10"/>
                  </a:cxn>
                  <a:cxn ang="0">
                    <a:pos x="39" y="0"/>
                  </a:cxn>
                  <a:cxn ang="0">
                    <a:pos x="0" y="29"/>
                  </a:cxn>
                  <a:cxn ang="0">
                    <a:pos x="7" y="39"/>
                  </a:cxn>
                  <a:cxn ang="0">
                    <a:pos x="46" y="10"/>
                  </a:cxn>
                </a:cxnLst>
                <a:rect l="0" t="0" r="r" b="b"/>
                <a:pathLst>
                  <a:path w="46" h="39">
                    <a:moveTo>
                      <a:pt x="46" y="10"/>
                    </a:moveTo>
                    <a:cubicBezTo>
                      <a:pt x="39" y="0"/>
                      <a:pt x="39" y="0"/>
                      <a:pt x="39" y="0"/>
                    </a:cubicBezTo>
                    <a:cubicBezTo>
                      <a:pt x="26" y="9"/>
                      <a:pt x="12" y="19"/>
                      <a:pt x="0" y="29"/>
                    </a:cubicBezTo>
                    <a:cubicBezTo>
                      <a:pt x="7" y="39"/>
                      <a:pt x="7" y="39"/>
                      <a:pt x="7" y="39"/>
                    </a:cubicBezTo>
                    <a:cubicBezTo>
                      <a:pt x="20" y="29"/>
                      <a:pt x="33" y="19"/>
                      <a:pt x="46" y="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 name="Freeform 38"/>
              <p:cNvSpPr>
                <a:spLocks/>
              </p:cNvSpPr>
              <p:nvPr/>
            </p:nvSpPr>
            <p:spPr bwMode="auto">
              <a:xfrm>
                <a:off x="-1562451" y="1734243"/>
                <a:ext cx="82497" cy="54049"/>
              </a:xfrm>
              <a:custGeom>
                <a:avLst/>
                <a:gdLst/>
                <a:ahLst/>
                <a:cxnLst>
                  <a:cxn ang="0">
                    <a:pos x="49" y="11"/>
                  </a:cxn>
                  <a:cxn ang="0">
                    <a:pos x="44" y="0"/>
                  </a:cxn>
                  <a:cxn ang="0">
                    <a:pos x="0" y="22"/>
                  </a:cxn>
                  <a:cxn ang="0">
                    <a:pos x="6" y="32"/>
                  </a:cxn>
                  <a:cxn ang="0">
                    <a:pos x="49" y="11"/>
                  </a:cxn>
                </a:cxnLst>
                <a:rect l="0" t="0" r="r" b="b"/>
                <a:pathLst>
                  <a:path w="49" h="32">
                    <a:moveTo>
                      <a:pt x="49" y="11"/>
                    </a:moveTo>
                    <a:cubicBezTo>
                      <a:pt x="44" y="0"/>
                      <a:pt x="44" y="0"/>
                      <a:pt x="44" y="0"/>
                    </a:cubicBezTo>
                    <a:cubicBezTo>
                      <a:pt x="29" y="7"/>
                      <a:pt x="14" y="14"/>
                      <a:pt x="0" y="22"/>
                    </a:cubicBezTo>
                    <a:cubicBezTo>
                      <a:pt x="6" y="32"/>
                      <a:pt x="6" y="32"/>
                      <a:pt x="6" y="32"/>
                    </a:cubicBezTo>
                    <a:cubicBezTo>
                      <a:pt x="20" y="25"/>
                      <a:pt x="34" y="17"/>
                      <a:pt x="49" y="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 name="Freeform 39"/>
              <p:cNvSpPr>
                <a:spLocks/>
              </p:cNvSpPr>
              <p:nvPr/>
            </p:nvSpPr>
            <p:spPr bwMode="auto">
              <a:xfrm>
                <a:off x="-241801" y="2038621"/>
                <a:ext cx="64006" cy="76807"/>
              </a:xfrm>
              <a:custGeom>
                <a:avLst/>
                <a:gdLst/>
                <a:ahLst/>
                <a:cxnLst>
                  <a:cxn ang="0">
                    <a:pos x="38" y="39"/>
                  </a:cxn>
                  <a:cxn ang="0">
                    <a:pos x="9" y="0"/>
                  </a:cxn>
                  <a:cxn ang="0">
                    <a:pos x="0" y="7"/>
                  </a:cxn>
                  <a:cxn ang="0">
                    <a:pos x="28" y="46"/>
                  </a:cxn>
                  <a:cxn ang="0">
                    <a:pos x="38" y="39"/>
                  </a:cxn>
                </a:cxnLst>
                <a:rect l="0" t="0" r="r" b="b"/>
                <a:pathLst>
                  <a:path w="38" h="46">
                    <a:moveTo>
                      <a:pt x="38" y="39"/>
                    </a:moveTo>
                    <a:cubicBezTo>
                      <a:pt x="29" y="26"/>
                      <a:pt x="19" y="12"/>
                      <a:pt x="9" y="0"/>
                    </a:cubicBezTo>
                    <a:cubicBezTo>
                      <a:pt x="0" y="7"/>
                      <a:pt x="0" y="7"/>
                      <a:pt x="0" y="7"/>
                    </a:cubicBezTo>
                    <a:cubicBezTo>
                      <a:pt x="10" y="20"/>
                      <a:pt x="19" y="33"/>
                      <a:pt x="28" y="46"/>
                    </a:cubicBezTo>
                    <a:lnTo>
                      <a:pt x="38" y="3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Freeform 40"/>
              <p:cNvSpPr>
                <a:spLocks/>
              </p:cNvSpPr>
              <p:nvPr/>
            </p:nvSpPr>
            <p:spPr bwMode="auto">
              <a:xfrm>
                <a:off x="-352744" y="1917725"/>
                <a:ext cx="72540" cy="71829"/>
              </a:xfrm>
              <a:custGeom>
                <a:avLst/>
                <a:gdLst/>
                <a:ahLst/>
                <a:cxnLst>
                  <a:cxn ang="0">
                    <a:pos x="34" y="43"/>
                  </a:cxn>
                  <a:cxn ang="0">
                    <a:pos x="43" y="34"/>
                  </a:cxn>
                  <a:cxn ang="0">
                    <a:pos x="8" y="0"/>
                  </a:cxn>
                  <a:cxn ang="0">
                    <a:pos x="0" y="9"/>
                  </a:cxn>
                  <a:cxn ang="0">
                    <a:pos x="34" y="43"/>
                  </a:cxn>
                </a:cxnLst>
                <a:rect l="0" t="0" r="r" b="b"/>
                <a:pathLst>
                  <a:path w="43" h="43">
                    <a:moveTo>
                      <a:pt x="34" y="43"/>
                    </a:moveTo>
                    <a:cubicBezTo>
                      <a:pt x="43" y="34"/>
                      <a:pt x="43" y="34"/>
                      <a:pt x="43" y="34"/>
                    </a:cubicBezTo>
                    <a:cubicBezTo>
                      <a:pt x="32" y="23"/>
                      <a:pt x="20" y="11"/>
                      <a:pt x="8" y="0"/>
                    </a:cubicBezTo>
                    <a:cubicBezTo>
                      <a:pt x="0" y="9"/>
                      <a:pt x="0" y="9"/>
                      <a:pt x="0" y="9"/>
                    </a:cubicBezTo>
                    <a:cubicBezTo>
                      <a:pt x="12" y="20"/>
                      <a:pt x="23" y="31"/>
                      <a:pt x="34" y="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 name="Freeform 41"/>
              <p:cNvSpPr>
                <a:spLocks/>
              </p:cNvSpPr>
              <p:nvPr/>
            </p:nvSpPr>
            <p:spPr bwMode="auto">
              <a:xfrm>
                <a:off x="-39827" y="2481679"/>
                <a:ext cx="31293" cy="83919"/>
              </a:xfrm>
              <a:custGeom>
                <a:avLst/>
                <a:gdLst/>
                <a:ahLst/>
                <a:cxnLst>
                  <a:cxn ang="0">
                    <a:pos x="8" y="50"/>
                  </a:cxn>
                  <a:cxn ang="0">
                    <a:pos x="19" y="48"/>
                  </a:cxn>
                  <a:cxn ang="0">
                    <a:pos x="12" y="0"/>
                  </a:cxn>
                  <a:cxn ang="0">
                    <a:pos x="0" y="2"/>
                  </a:cxn>
                  <a:cxn ang="0">
                    <a:pos x="8" y="50"/>
                  </a:cxn>
                </a:cxnLst>
                <a:rect l="0" t="0" r="r" b="b"/>
                <a:pathLst>
                  <a:path w="19" h="50">
                    <a:moveTo>
                      <a:pt x="8" y="50"/>
                    </a:moveTo>
                    <a:cubicBezTo>
                      <a:pt x="19" y="48"/>
                      <a:pt x="19" y="48"/>
                      <a:pt x="19" y="48"/>
                    </a:cubicBezTo>
                    <a:cubicBezTo>
                      <a:pt x="18" y="32"/>
                      <a:pt x="15" y="16"/>
                      <a:pt x="12" y="0"/>
                    </a:cubicBezTo>
                    <a:cubicBezTo>
                      <a:pt x="0" y="2"/>
                      <a:pt x="0" y="2"/>
                      <a:pt x="0" y="2"/>
                    </a:cubicBezTo>
                    <a:cubicBezTo>
                      <a:pt x="3" y="18"/>
                      <a:pt x="6" y="34"/>
                      <a:pt x="8" y="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 name="Freeform 42"/>
              <p:cNvSpPr>
                <a:spLocks/>
              </p:cNvSpPr>
              <p:nvPr/>
            </p:nvSpPr>
            <p:spPr bwMode="auto">
              <a:xfrm>
                <a:off x="-928794" y="1646768"/>
                <a:ext cx="83919" cy="32001"/>
              </a:xfrm>
              <a:custGeom>
                <a:avLst/>
                <a:gdLst/>
                <a:ahLst/>
                <a:cxnLst>
                  <a:cxn ang="0">
                    <a:pos x="50" y="7"/>
                  </a:cxn>
                  <a:cxn ang="0">
                    <a:pos x="2" y="0"/>
                  </a:cxn>
                  <a:cxn ang="0">
                    <a:pos x="0" y="11"/>
                  </a:cxn>
                  <a:cxn ang="0">
                    <a:pos x="48" y="19"/>
                  </a:cxn>
                  <a:cxn ang="0">
                    <a:pos x="50" y="7"/>
                  </a:cxn>
                </a:cxnLst>
                <a:rect l="0" t="0" r="r" b="b"/>
                <a:pathLst>
                  <a:path w="50" h="19">
                    <a:moveTo>
                      <a:pt x="50" y="7"/>
                    </a:moveTo>
                    <a:cubicBezTo>
                      <a:pt x="34" y="4"/>
                      <a:pt x="18" y="1"/>
                      <a:pt x="2" y="0"/>
                    </a:cubicBezTo>
                    <a:cubicBezTo>
                      <a:pt x="0" y="11"/>
                      <a:pt x="0" y="11"/>
                      <a:pt x="0" y="11"/>
                    </a:cubicBezTo>
                    <a:cubicBezTo>
                      <a:pt x="16" y="13"/>
                      <a:pt x="32" y="16"/>
                      <a:pt x="48" y="19"/>
                    </a:cubicBezTo>
                    <a:lnTo>
                      <a:pt x="50" y="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 name="Freeform 43"/>
              <p:cNvSpPr>
                <a:spLocks/>
              </p:cNvSpPr>
              <p:nvPr/>
            </p:nvSpPr>
            <p:spPr bwMode="auto">
              <a:xfrm>
                <a:off x="-478621" y="1815317"/>
                <a:ext cx="77519" cy="65428"/>
              </a:xfrm>
              <a:custGeom>
                <a:avLst/>
                <a:gdLst/>
                <a:ahLst/>
                <a:cxnLst>
                  <a:cxn ang="0">
                    <a:pos x="46" y="29"/>
                  </a:cxn>
                  <a:cxn ang="0">
                    <a:pos x="7" y="0"/>
                  </a:cxn>
                  <a:cxn ang="0">
                    <a:pos x="0" y="10"/>
                  </a:cxn>
                  <a:cxn ang="0">
                    <a:pos x="39" y="39"/>
                  </a:cxn>
                  <a:cxn ang="0">
                    <a:pos x="46" y="29"/>
                  </a:cxn>
                </a:cxnLst>
                <a:rect l="0" t="0" r="r" b="b"/>
                <a:pathLst>
                  <a:path w="46" h="39">
                    <a:moveTo>
                      <a:pt x="46" y="29"/>
                    </a:moveTo>
                    <a:cubicBezTo>
                      <a:pt x="33" y="19"/>
                      <a:pt x="20" y="9"/>
                      <a:pt x="7" y="0"/>
                    </a:cubicBezTo>
                    <a:cubicBezTo>
                      <a:pt x="0" y="10"/>
                      <a:pt x="0" y="10"/>
                      <a:pt x="0" y="10"/>
                    </a:cubicBezTo>
                    <a:cubicBezTo>
                      <a:pt x="13" y="19"/>
                      <a:pt x="26" y="29"/>
                      <a:pt x="39" y="39"/>
                    </a:cubicBezTo>
                    <a:lnTo>
                      <a:pt x="46" y="2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 name="Freeform 44"/>
              <p:cNvSpPr>
                <a:spLocks/>
              </p:cNvSpPr>
              <p:nvPr/>
            </p:nvSpPr>
            <p:spPr bwMode="auto">
              <a:xfrm>
                <a:off x="-770915" y="1678772"/>
                <a:ext cx="83919" cy="44092"/>
              </a:xfrm>
              <a:custGeom>
                <a:avLst/>
                <a:gdLst/>
                <a:ahLst/>
                <a:cxnLst>
                  <a:cxn ang="0">
                    <a:pos x="50" y="15"/>
                  </a:cxn>
                  <a:cxn ang="0">
                    <a:pos x="4" y="0"/>
                  </a:cxn>
                  <a:cxn ang="0">
                    <a:pos x="0" y="11"/>
                  </a:cxn>
                  <a:cxn ang="0">
                    <a:pos x="46" y="26"/>
                  </a:cxn>
                  <a:cxn ang="0">
                    <a:pos x="50" y="15"/>
                  </a:cxn>
                </a:cxnLst>
                <a:rect l="0" t="0" r="r" b="b"/>
                <a:pathLst>
                  <a:path w="50" h="26">
                    <a:moveTo>
                      <a:pt x="50" y="15"/>
                    </a:moveTo>
                    <a:cubicBezTo>
                      <a:pt x="35" y="9"/>
                      <a:pt x="19" y="4"/>
                      <a:pt x="4" y="0"/>
                    </a:cubicBezTo>
                    <a:cubicBezTo>
                      <a:pt x="0" y="11"/>
                      <a:pt x="0" y="11"/>
                      <a:pt x="0" y="11"/>
                    </a:cubicBezTo>
                    <a:cubicBezTo>
                      <a:pt x="16" y="15"/>
                      <a:pt x="31" y="20"/>
                      <a:pt x="46" y="26"/>
                    </a:cubicBezTo>
                    <a:lnTo>
                      <a:pt x="50" y="1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 name="Freeform 45"/>
              <p:cNvSpPr>
                <a:spLocks/>
              </p:cNvSpPr>
              <p:nvPr/>
            </p:nvSpPr>
            <p:spPr bwMode="auto">
              <a:xfrm>
                <a:off x="-619433" y="1734245"/>
                <a:ext cx="81786" cy="55471"/>
              </a:xfrm>
              <a:custGeom>
                <a:avLst/>
                <a:gdLst/>
                <a:ahLst/>
                <a:cxnLst>
                  <a:cxn ang="0">
                    <a:pos x="49" y="23"/>
                  </a:cxn>
                  <a:cxn ang="0">
                    <a:pos x="5" y="0"/>
                  </a:cxn>
                  <a:cxn ang="0">
                    <a:pos x="0" y="11"/>
                  </a:cxn>
                  <a:cxn ang="0">
                    <a:pos x="43" y="33"/>
                  </a:cxn>
                  <a:cxn ang="0">
                    <a:pos x="49" y="23"/>
                  </a:cxn>
                </a:cxnLst>
                <a:rect l="0" t="0" r="r" b="b"/>
                <a:pathLst>
                  <a:path w="49" h="33">
                    <a:moveTo>
                      <a:pt x="49" y="23"/>
                    </a:moveTo>
                    <a:cubicBezTo>
                      <a:pt x="35" y="15"/>
                      <a:pt x="20" y="7"/>
                      <a:pt x="5" y="0"/>
                    </a:cubicBezTo>
                    <a:cubicBezTo>
                      <a:pt x="0" y="11"/>
                      <a:pt x="0" y="11"/>
                      <a:pt x="0" y="11"/>
                    </a:cubicBezTo>
                    <a:cubicBezTo>
                      <a:pt x="15" y="18"/>
                      <a:pt x="29" y="25"/>
                      <a:pt x="43" y="33"/>
                    </a:cubicBezTo>
                    <a:lnTo>
                      <a:pt x="49" y="2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 name="Freeform 46"/>
              <p:cNvSpPr>
                <a:spLocks/>
              </p:cNvSpPr>
              <p:nvPr/>
            </p:nvSpPr>
            <p:spPr bwMode="auto">
              <a:xfrm>
                <a:off x="-1246688" y="3703473"/>
                <a:ext cx="83919" cy="32001"/>
              </a:xfrm>
              <a:custGeom>
                <a:avLst/>
                <a:gdLst/>
                <a:ahLst/>
                <a:cxnLst>
                  <a:cxn ang="0">
                    <a:pos x="0" y="12"/>
                  </a:cxn>
                  <a:cxn ang="0">
                    <a:pos x="49" y="19"/>
                  </a:cxn>
                  <a:cxn ang="0">
                    <a:pos x="50" y="7"/>
                  </a:cxn>
                  <a:cxn ang="0">
                    <a:pos x="3" y="0"/>
                  </a:cxn>
                  <a:cxn ang="0">
                    <a:pos x="0" y="12"/>
                  </a:cxn>
                </a:cxnLst>
                <a:rect l="0" t="0" r="r" b="b"/>
                <a:pathLst>
                  <a:path w="50" h="19">
                    <a:moveTo>
                      <a:pt x="0" y="12"/>
                    </a:moveTo>
                    <a:cubicBezTo>
                      <a:pt x="16" y="15"/>
                      <a:pt x="33" y="17"/>
                      <a:pt x="49" y="19"/>
                    </a:cubicBezTo>
                    <a:cubicBezTo>
                      <a:pt x="50" y="7"/>
                      <a:pt x="50" y="7"/>
                      <a:pt x="50" y="7"/>
                    </a:cubicBezTo>
                    <a:cubicBezTo>
                      <a:pt x="34" y="5"/>
                      <a:pt x="18" y="3"/>
                      <a:pt x="3" y="0"/>
                    </a:cubicBezTo>
                    <a:lnTo>
                      <a:pt x="0" y="1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 name="Freeform 47"/>
              <p:cNvSpPr>
                <a:spLocks/>
              </p:cNvSpPr>
              <p:nvPr/>
            </p:nvSpPr>
            <p:spPr bwMode="auto">
              <a:xfrm>
                <a:off x="-83919" y="2323806"/>
                <a:ext cx="44092" cy="83919"/>
              </a:xfrm>
              <a:custGeom>
                <a:avLst/>
                <a:gdLst/>
                <a:ahLst/>
                <a:cxnLst>
                  <a:cxn ang="0">
                    <a:pos x="26" y="46"/>
                  </a:cxn>
                  <a:cxn ang="0">
                    <a:pos x="11" y="0"/>
                  </a:cxn>
                  <a:cxn ang="0">
                    <a:pos x="0" y="4"/>
                  </a:cxn>
                  <a:cxn ang="0">
                    <a:pos x="15" y="50"/>
                  </a:cxn>
                  <a:cxn ang="0">
                    <a:pos x="26" y="46"/>
                  </a:cxn>
                </a:cxnLst>
                <a:rect l="0" t="0" r="r" b="b"/>
                <a:pathLst>
                  <a:path w="26" h="50">
                    <a:moveTo>
                      <a:pt x="26" y="46"/>
                    </a:moveTo>
                    <a:cubicBezTo>
                      <a:pt x="22" y="31"/>
                      <a:pt x="17" y="15"/>
                      <a:pt x="11" y="0"/>
                    </a:cubicBezTo>
                    <a:cubicBezTo>
                      <a:pt x="0" y="4"/>
                      <a:pt x="0" y="4"/>
                      <a:pt x="0" y="4"/>
                    </a:cubicBezTo>
                    <a:cubicBezTo>
                      <a:pt x="5" y="19"/>
                      <a:pt x="10" y="34"/>
                      <a:pt x="15" y="50"/>
                    </a:cubicBezTo>
                    <a:lnTo>
                      <a:pt x="26" y="4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 name="Freeform 48"/>
              <p:cNvSpPr>
                <a:spLocks/>
              </p:cNvSpPr>
              <p:nvPr/>
            </p:nvSpPr>
            <p:spPr bwMode="auto">
              <a:xfrm>
                <a:off x="-147926" y="3116758"/>
                <a:ext cx="54049" cy="82497"/>
              </a:xfrm>
              <a:custGeom>
                <a:avLst/>
                <a:gdLst/>
                <a:ahLst/>
                <a:cxnLst>
                  <a:cxn ang="0">
                    <a:pos x="0" y="43"/>
                  </a:cxn>
                  <a:cxn ang="0">
                    <a:pos x="10" y="49"/>
                  </a:cxn>
                  <a:cxn ang="0">
                    <a:pos x="32" y="5"/>
                  </a:cxn>
                  <a:cxn ang="0">
                    <a:pos x="21" y="0"/>
                  </a:cxn>
                  <a:cxn ang="0">
                    <a:pos x="0" y="43"/>
                  </a:cxn>
                </a:cxnLst>
                <a:rect l="0" t="0" r="r" b="b"/>
                <a:pathLst>
                  <a:path w="32" h="49">
                    <a:moveTo>
                      <a:pt x="0" y="43"/>
                    </a:moveTo>
                    <a:cubicBezTo>
                      <a:pt x="10" y="49"/>
                      <a:pt x="10" y="49"/>
                      <a:pt x="10" y="49"/>
                    </a:cubicBezTo>
                    <a:cubicBezTo>
                      <a:pt x="18" y="34"/>
                      <a:pt x="25" y="20"/>
                      <a:pt x="32" y="5"/>
                    </a:cubicBezTo>
                    <a:cubicBezTo>
                      <a:pt x="21" y="0"/>
                      <a:pt x="21" y="0"/>
                      <a:pt x="21" y="0"/>
                    </a:cubicBezTo>
                    <a:cubicBezTo>
                      <a:pt x="15" y="14"/>
                      <a:pt x="7" y="29"/>
                      <a:pt x="0" y="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 name="Freeform 49"/>
              <p:cNvSpPr>
                <a:spLocks/>
              </p:cNvSpPr>
              <p:nvPr/>
            </p:nvSpPr>
            <p:spPr bwMode="auto">
              <a:xfrm>
                <a:off x="-152904" y="2174458"/>
                <a:ext cx="55471" cy="82497"/>
              </a:xfrm>
              <a:custGeom>
                <a:avLst/>
                <a:gdLst/>
                <a:ahLst/>
                <a:cxnLst>
                  <a:cxn ang="0">
                    <a:pos x="33" y="43"/>
                  </a:cxn>
                  <a:cxn ang="0">
                    <a:pos x="11" y="0"/>
                  </a:cxn>
                  <a:cxn ang="0">
                    <a:pos x="0" y="6"/>
                  </a:cxn>
                  <a:cxn ang="0">
                    <a:pos x="22" y="49"/>
                  </a:cxn>
                  <a:cxn ang="0">
                    <a:pos x="33" y="43"/>
                  </a:cxn>
                </a:cxnLst>
                <a:rect l="0" t="0" r="r" b="b"/>
                <a:pathLst>
                  <a:path w="33" h="49">
                    <a:moveTo>
                      <a:pt x="33" y="43"/>
                    </a:moveTo>
                    <a:cubicBezTo>
                      <a:pt x="26" y="29"/>
                      <a:pt x="19" y="14"/>
                      <a:pt x="11" y="0"/>
                    </a:cubicBezTo>
                    <a:cubicBezTo>
                      <a:pt x="0" y="6"/>
                      <a:pt x="0" y="6"/>
                      <a:pt x="0" y="6"/>
                    </a:cubicBezTo>
                    <a:cubicBezTo>
                      <a:pt x="8" y="20"/>
                      <a:pt x="15" y="34"/>
                      <a:pt x="22" y="49"/>
                    </a:cubicBezTo>
                    <a:lnTo>
                      <a:pt x="33" y="4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 name="Freeform 50"/>
              <p:cNvSpPr>
                <a:spLocks/>
              </p:cNvSpPr>
              <p:nvPr/>
            </p:nvSpPr>
            <p:spPr bwMode="auto">
              <a:xfrm>
                <a:off x="-236821" y="3258283"/>
                <a:ext cx="64006" cy="76807"/>
              </a:xfrm>
              <a:custGeom>
                <a:avLst/>
                <a:gdLst/>
                <a:ahLst/>
                <a:cxnLst>
                  <a:cxn ang="0">
                    <a:pos x="0" y="39"/>
                  </a:cxn>
                  <a:cxn ang="0">
                    <a:pos x="9" y="46"/>
                  </a:cxn>
                  <a:cxn ang="0">
                    <a:pos x="38" y="6"/>
                  </a:cxn>
                  <a:cxn ang="0">
                    <a:pos x="28" y="0"/>
                  </a:cxn>
                  <a:cxn ang="0">
                    <a:pos x="0" y="39"/>
                  </a:cxn>
                </a:cxnLst>
                <a:rect l="0" t="0" r="r" b="b"/>
                <a:pathLst>
                  <a:path w="38" h="46">
                    <a:moveTo>
                      <a:pt x="0" y="39"/>
                    </a:moveTo>
                    <a:cubicBezTo>
                      <a:pt x="9" y="46"/>
                      <a:pt x="9" y="46"/>
                      <a:pt x="9" y="46"/>
                    </a:cubicBezTo>
                    <a:cubicBezTo>
                      <a:pt x="19" y="33"/>
                      <a:pt x="29" y="20"/>
                      <a:pt x="38" y="6"/>
                    </a:cubicBezTo>
                    <a:cubicBezTo>
                      <a:pt x="28" y="0"/>
                      <a:pt x="28" y="0"/>
                      <a:pt x="28" y="0"/>
                    </a:cubicBezTo>
                    <a:cubicBezTo>
                      <a:pt x="19" y="13"/>
                      <a:pt x="10" y="26"/>
                      <a:pt x="0" y="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 name="Freeform 51"/>
              <p:cNvSpPr>
                <a:spLocks/>
              </p:cNvSpPr>
              <p:nvPr/>
            </p:nvSpPr>
            <p:spPr bwMode="auto">
              <a:xfrm>
                <a:off x="-21336" y="2645253"/>
                <a:ext cx="21333" cy="81783"/>
              </a:xfrm>
              <a:custGeom>
                <a:avLst/>
                <a:gdLst/>
                <a:ahLst/>
                <a:cxnLst>
                  <a:cxn ang="0">
                    <a:pos x="12" y="0"/>
                  </a:cxn>
                  <a:cxn ang="0">
                    <a:pos x="0" y="0"/>
                  </a:cxn>
                  <a:cxn ang="0">
                    <a:pos x="1" y="25"/>
                  </a:cxn>
                  <a:cxn ang="0">
                    <a:pos x="1" y="27"/>
                  </a:cxn>
                  <a:cxn ang="0">
                    <a:pos x="1" y="49"/>
                  </a:cxn>
                  <a:cxn ang="0">
                    <a:pos x="13" y="49"/>
                  </a:cxn>
                  <a:cxn ang="0">
                    <a:pos x="13" y="27"/>
                  </a:cxn>
                  <a:cxn ang="0">
                    <a:pos x="13" y="25"/>
                  </a:cxn>
                  <a:cxn ang="0">
                    <a:pos x="12" y="0"/>
                  </a:cxn>
                </a:cxnLst>
                <a:rect l="0" t="0" r="r" b="b"/>
                <a:pathLst>
                  <a:path w="13" h="49">
                    <a:moveTo>
                      <a:pt x="12" y="0"/>
                    </a:moveTo>
                    <a:cubicBezTo>
                      <a:pt x="0" y="0"/>
                      <a:pt x="0" y="0"/>
                      <a:pt x="0" y="0"/>
                    </a:cubicBezTo>
                    <a:cubicBezTo>
                      <a:pt x="1" y="9"/>
                      <a:pt x="1" y="17"/>
                      <a:pt x="1" y="25"/>
                    </a:cubicBezTo>
                    <a:cubicBezTo>
                      <a:pt x="1" y="27"/>
                      <a:pt x="1" y="27"/>
                      <a:pt x="1" y="27"/>
                    </a:cubicBezTo>
                    <a:cubicBezTo>
                      <a:pt x="1" y="34"/>
                      <a:pt x="1" y="41"/>
                      <a:pt x="1" y="49"/>
                    </a:cubicBezTo>
                    <a:cubicBezTo>
                      <a:pt x="13" y="49"/>
                      <a:pt x="13" y="49"/>
                      <a:pt x="13" y="49"/>
                    </a:cubicBezTo>
                    <a:cubicBezTo>
                      <a:pt x="13" y="42"/>
                      <a:pt x="13" y="34"/>
                      <a:pt x="13" y="27"/>
                    </a:cubicBezTo>
                    <a:cubicBezTo>
                      <a:pt x="13" y="25"/>
                      <a:pt x="13" y="25"/>
                      <a:pt x="13" y="25"/>
                    </a:cubicBezTo>
                    <a:cubicBezTo>
                      <a:pt x="13" y="17"/>
                      <a:pt x="13" y="8"/>
                      <a:pt x="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 name="Freeform 52"/>
              <p:cNvSpPr>
                <a:spLocks/>
              </p:cNvSpPr>
              <p:nvPr/>
            </p:nvSpPr>
            <p:spPr bwMode="auto">
              <a:xfrm>
                <a:off x="-38402" y="2805978"/>
                <a:ext cx="32002" cy="83919"/>
              </a:xfrm>
              <a:custGeom>
                <a:avLst/>
                <a:gdLst/>
                <a:ahLst/>
                <a:cxnLst>
                  <a:cxn ang="0">
                    <a:pos x="0" y="48"/>
                  </a:cxn>
                  <a:cxn ang="0">
                    <a:pos x="12" y="50"/>
                  </a:cxn>
                  <a:cxn ang="0">
                    <a:pos x="19" y="2"/>
                  </a:cxn>
                  <a:cxn ang="0">
                    <a:pos x="7" y="0"/>
                  </a:cxn>
                  <a:cxn ang="0">
                    <a:pos x="0" y="48"/>
                  </a:cxn>
                </a:cxnLst>
                <a:rect l="0" t="0" r="r" b="b"/>
                <a:pathLst>
                  <a:path w="19" h="50">
                    <a:moveTo>
                      <a:pt x="0" y="48"/>
                    </a:moveTo>
                    <a:cubicBezTo>
                      <a:pt x="12" y="50"/>
                      <a:pt x="12" y="50"/>
                      <a:pt x="12" y="50"/>
                    </a:cubicBezTo>
                    <a:cubicBezTo>
                      <a:pt x="15" y="34"/>
                      <a:pt x="17" y="18"/>
                      <a:pt x="19" y="2"/>
                    </a:cubicBezTo>
                    <a:cubicBezTo>
                      <a:pt x="7" y="0"/>
                      <a:pt x="7" y="0"/>
                      <a:pt x="7" y="0"/>
                    </a:cubicBezTo>
                    <a:cubicBezTo>
                      <a:pt x="5" y="16"/>
                      <a:pt x="3" y="32"/>
                      <a:pt x="0" y="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Freeform 53"/>
              <p:cNvSpPr>
                <a:spLocks/>
              </p:cNvSpPr>
              <p:nvPr/>
            </p:nvSpPr>
            <p:spPr bwMode="auto">
              <a:xfrm>
                <a:off x="-82495" y="2965991"/>
                <a:ext cx="45514" cy="83919"/>
              </a:xfrm>
              <a:custGeom>
                <a:avLst/>
                <a:gdLst/>
                <a:ahLst/>
                <a:cxnLst>
                  <a:cxn ang="0">
                    <a:pos x="0" y="45"/>
                  </a:cxn>
                  <a:cxn ang="0">
                    <a:pos x="12" y="50"/>
                  </a:cxn>
                  <a:cxn ang="0">
                    <a:pos x="27" y="3"/>
                  </a:cxn>
                  <a:cxn ang="0">
                    <a:pos x="15" y="0"/>
                  </a:cxn>
                  <a:cxn ang="0">
                    <a:pos x="0" y="45"/>
                  </a:cxn>
                </a:cxnLst>
                <a:rect l="0" t="0" r="r" b="b"/>
                <a:pathLst>
                  <a:path w="27" h="50">
                    <a:moveTo>
                      <a:pt x="0" y="45"/>
                    </a:moveTo>
                    <a:cubicBezTo>
                      <a:pt x="12" y="50"/>
                      <a:pt x="12" y="50"/>
                      <a:pt x="12" y="50"/>
                    </a:cubicBezTo>
                    <a:cubicBezTo>
                      <a:pt x="17" y="34"/>
                      <a:pt x="22" y="19"/>
                      <a:pt x="27" y="3"/>
                    </a:cubicBezTo>
                    <a:cubicBezTo>
                      <a:pt x="15" y="0"/>
                      <a:pt x="15" y="0"/>
                      <a:pt x="15" y="0"/>
                    </a:cubicBezTo>
                    <a:cubicBezTo>
                      <a:pt x="11" y="15"/>
                      <a:pt x="6" y="30"/>
                      <a:pt x="0" y="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9" name="Freeform 54"/>
              <p:cNvSpPr>
                <a:spLocks/>
              </p:cNvSpPr>
              <p:nvPr/>
            </p:nvSpPr>
            <p:spPr bwMode="auto">
              <a:xfrm>
                <a:off x="-762377" y="3654405"/>
                <a:ext cx="83919" cy="45514"/>
              </a:xfrm>
              <a:custGeom>
                <a:avLst/>
                <a:gdLst/>
                <a:ahLst/>
                <a:cxnLst>
                  <a:cxn ang="0">
                    <a:pos x="0" y="15"/>
                  </a:cxn>
                  <a:cxn ang="0">
                    <a:pos x="3" y="27"/>
                  </a:cxn>
                  <a:cxn ang="0">
                    <a:pos x="50" y="11"/>
                  </a:cxn>
                  <a:cxn ang="0">
                    <a:pos x="45" y="0"/>
                  </a:cxn>
                  <a:cxn ang="0">
                    <a:pos x="0" y="15"/>
                  </a:cxn>
                </a:cxnLst>
                <a:rect l="0" t="0" r="r" b="b"/>
                <a:pathLst>
                  <a:path w="50" h="27">
                    <a:moveTo>
                      <a:pt x="0" y="15"/>
                    </a:moveTo>
                    <a:cubicBezTo>
                      <a:pt x="3" y="27"/>
                      <a:pt x="3" y="27"/>
                      <a:pt x="3" y="27"/>
                    </a:cubicBezTo>
                    <a:cubicBezTo>
                      <a:pt x="19" y="22"/>
                      <a:pt x="34" y="17"/>
                      <a:pt x="50" y="11"/>
                    </a:cubicBezTo>
                    <a:cubicBezTo>
                      <a:pt x="45" y="0"/>
                      <a:pt x="45" y="0"/>
                      <a:pt x="45" y="0"/>
                    </a:cubicBezTo>
                    <a:cubicBezTo>
                      <a:pt x="31" y="6"/>
                      <a:pt x="15" y="11"/>
                      <a:pt x="0" y="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0" name="Freeform 55"/>
              <p:cNvSpPr>
                <a:spLocks/>
              </p:cNvSpPr>
              <p:nvPr/>
            </p:nvSpPr>
            <p:spPr bwMode="auto">
              <a:xfrm>
                <a:off x="-920258" y="3699917"/>
                <a:ext cx="83919" cy="33424"/>
              </a:xfrm>
              <a:custGeom>
                <a:avLst/>
                <a:gdLst/>
                <a:ahLst/>
                <a:cxnLst>
                  <a:cxn ang="0">
                    <a:pos x="0" y="8"/>
                  </a:cxn>
                  <a:cxn ang="0">
                    <a:pos x="1" y="20"/>
                  </a:cxn>
                  <a:cxn ang="0">
                    <a:pos x="50" y="12"/>
                  </a:cxn>
                  <a:cxn ang="0">
                    <a:pos x="47" y="0"/>
                  </a:cxn>
                  <a:cxn ang="0">
                    <a:pos x="0" y="8"/>
                  </a:cxn>
                </a:cxnLst>
                <a:rect l="0" t="0" r="r" b="b"/>
                <a:pathLst>
                  <a:path w="50" h="20">
                    <a:moveTo>
                      <a:pt x="0" y="8"/>
                    </a:moveTo>
                    <a:cubicBezTo>
                      <a:pt x="1" y="20"/>
                      <a:pt x="1" y="20"/>
                      <a:pt x="1" y="20"/>
                    </a:cubicBezTo>
                    <a:cubicBezTo>
                      <a:pt x="18" y="18"/>
                      <a:pt x="34" y="15"/>
                      <a:pt x="50" y="12"/>
                    </a:cubicBezTo>
                    <a:cubicBezTo>
                      <a:pt x="47" y="0"/>
                      <a:pt x="47" y="0"/>
                      <a:pt x="47" y="0"/>
                    </a:cubicBezTo>
                    <a:cubicBezTo>
                      <a:pt x="32" y="3"/>
                      <a:pt x="16" y="6"/>
                      <a:pt x="0"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1" name="Freeform 56"/>
              <p:cNvSpPr>
                <a:spLocks/>
              </p:cNvSpPr>
              <p:nvPr/>
            </p:nvSpPr>
            <p:spPr bwMode="auto">
              <a:xfrm>
                <a:off x="-1404569" y="3661515"/>
                <a:ext cx="83919" cy="43381"/>
              </a:xfrm>
              <a:custGeom>
                <a:avLst/>
                <a:gdLst/>
                <a:ahLst/>
                <a:cxnLst>
                  <a:cxn ang="0">
                    <a:pos x="0" y="11"/>
                  </a:cxn>
                  <a:cxn ang="0">
                    <a:pos x="47" y="26"/>
                  </a:cxn>
                  <a:cxn ang="0">
                    <a:pos x="50" y="14"/>
                  </a:cxn>
                  <a:cxn ang="0">
                    <a:pos x="4" y="0"/>
                  </a:cxn>
                  <a:cxn ang="0">
                    <a:pos x="0" y="11"/>
                  </a:cxn>
                </a:cxnLst>
                <a:rect l="0" t="0" r="r" b="b"/>
                <a:pathLst>
                  <a:path w="50" h="26">
                    <a:moveTo>
                      <a:pt x="0" y="11"/>
                    </a:moveTo>
                    <a:cubicBezTo>
                      <a:pt x="15" y="17"/>
                      <a:pt x="31" y="22"/>
                      <a:pt x="47" y="26"/>
                    </a:cubicBezTo>
                    <a:cubicBezTo>
                      <a:pt x="50" y="14"/>
                      <a:pt x="50" y="14"/>
                      <a:pt x="50" y="14"/>
                    </a:cubicBezTo>
                    <a:cubicBezTo>
                      <a:pt x="34" y="10"/>
                      <a:pt x="19" y="5"/>
                      <a:pt x="4" y="0"/>
                    </a:cubicBezTo>
                    <a:lnTo>
                      <a:pt x="0" y="1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2" name="Freeform 57"/>
              <p:cNvSpPr>
                <a:spLocks/>
              </p:cNvSpPr>
              <p:nvPr/>
            </p:nvSpPr>
            <p:spPr bwMode="auto">
              <a:xfrm>
                <a:off x="-1081695" y="3719834"/>
                <a:ext cx="82497" cy="22047"/>
              </a:xfrm>
              <a:custGeom>
                <a:avLst/>
                <a:gdLst/>
                <a:ahLst/>
                <a:cxnLst>
                  <a:cxn ang="0">
                    <a:pos x="20" y="1"/>
                  </a:cxn>
                  <a:cxn ang="0">
                    <a:pos x="18" y="1"/>
                  </a:cxn>
                  <a:cxn ang="0">
                    <a:pos x="0" y="0"/>
                  </a:cxn>
                  <a:cxn ang="0">
                    <a:pos x="0" y="12"/>
                  </a:cxn>
                  <a:cxn ang="0">
                    <a:pos x="18" y="13"/>
                  </a:cxn>
                  <a:cxn ang="0">
                    <a:pos x="20" y="13"/>
                  </a:cxn>
                  <a:cxn ang="0">
                    <a:pos x="49" y="12"/>
                  </a:cxn>
                  <a:cxn ang="0">
                    <a:pos x="48" y="0"/>
                  </a:cxn>
                  <a:cxn ang="0">
                    <a:pos x="20" y="1"/>
                  </a:cxn>
                </a:cxnLst>
                <a:rect l="0" t="0" r="r" b="b"/>
                <a:pathLst>
                  <a:path w="49" h="13">
                    <a:moveTo>
                      <a:pt x="20" y="1"/>
                    </a:moveTo>
                    <a:cubicBezTo>
                      <a:pt x="18" y="1"/>
                      <a:pt x="18" y="1"/>
                      <a:pt x="18" y="1"/>
                    </a:cubicBezTo>
                    <a:cubicBezTo>
                      <a:pt x="12" y="1"/>
                      <a:pt x="6" y="1"/>
                      <a:pt x="0" y="0"/>
                    </a:cubicBezTo>
                    <a:cubicBezTo>
                      <a:pt x="0" y="12"/>
                      <a:pt x="0" y="12"/>
                      <a:pt x="0" y="12"/>
                    </a:cubicBezTo>
                    <a:cubicBezTo>
                      <a:pt x="6" y="13"/>
                      <a:pt x="12" y="13"/>
                      <a:pt x="18" y="13"/>
                    </a:cubicBezTo>
                    <a:cubicBezTo>
                      <a:pt x="20" y="13"/>
                      <a:pt x="20" y="13"/>
                      <a:pt x="20" y="13"/>
                    </a:cubicBezTo>
                    <a:cubicBezTo>
                      <a:pt x="30" y="13"/>
                      <a:pt x="39" y="12"/>
                      <a:pt x="49" y="12"/>
                    </a:cubicBezTo>
                    <a:cubicBezTo>
                      <a:pt x="48" y="0"/>
                      <a:pt x="48" y="0"/>
                      <a:pt x="48" y="0"/>
                    </a:cubicBezTo>
                    <a:cubicBezTo>
                      <a:pt x="39" y="0"/>
                      <a:pt x="29" y="1"/>
                      <a:pt x="20" y="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3" name="Freeform 58"/>
              <p:cNvSpPr>
                <a:spLocks/>
              </p:cNvSpPr>
              <p:nvPr/>
            </p:nvSpPr>
            <p:spPr bwMode="auto">
              <a:xfrm>
                <a:off x="-472219" y="3495104"/>
                <a:ext cx="77519" cy="65428"/>
              </a:xfrm>
              <a:custGeom>
                <a:avLst/>
                <a:gdLst/>
                <a:ahLst/>
                <a:cxnLst>
                  <a:cxn ang="0">
                    <a:pos x="0" y="29"/>
                  </a:cxn>
                  <a:cxn ang="0">
                    <a:pos x="7" y="39"/>
                  </a:cxn>
                  <a:cxn ang="0">
                    <a:pos x="46" y="10"/>
                  </a:cxn>
                  <a:cxn ang="0">
                    <a:pos x="39" y="0"/>
                  </a:cxn>
                  <a:cxn ang="0">
                    <a:pos x="0" y="29"/>
                  </a:cxn>
                </a:cxnLst>
                <a:rect l="0" t="0" r="r" b="b"/>
                <a:pathLst>
                  <a:path w="46" h="39">
                    <a:moveTo>
                      <a:pt x="0" y="29"/>
                    </a:moveTo>
                    <a:cubicBezTo>
                      <a:pt x="7" y="39"/>
                      <a:pt x="7" y="39"/>
                      <a:pt x="7" y="39"/>
                    </a:cubicBezTo>
                    <a:cubicBezTo>
                      <a:pt x="20" y="29"/>
                      <a:pt x="34" y="20"/>
                      <a:pt x="46" y="10"/>
                    </a:cubicBezTo>
                    <a:cubicBezTo>
                      <a:pt x="39" y="0"/>
                      <a:pt x="39" y="0"/>
                      <a:pt x="39" y="0"/>
                    </a:cubicBezTo>
                    <a:cubicBezTo>
                      <a:pt x="26" y="10"/>
                      <a:pt x="13" y="20"/>
                      <a:pt x="0" y="2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4" name="Freeform 59"/>
              <p:cNvSpPr>
                <a:spLocks/>
              </p:cNvSpPr>
              <p:nvPr/>
            </p:nvSpPr>
            <p:spPr bwMode="auto">
              <a:xfrm>
                <a:off x="-345628" y="3384161"/>
                <a:ext cx="71829" cy="71829"/>
              </a:xfrm>
              <a:custGeom>
                <a:avLst/>
                <a:gdLst/>
                <a:ahLst/>
                <a:cxnLst>
                  <a:cxn ang="0">
                    <a:pos x="0" y="35"/>
                  </a:cxn>
                  <a:cxn ang="0">
                    <a:pos x="8" y="43"/>
                  </a:cxn>
                  <a:cxn ang="0">
                    <a:pos x="43" y="9"/>
                  </a:cxn>
                  <a:cxn ang="0">
                    <a:pos x="34" y="0"/>
                  </a:cxn>
                  <a:cxn ang="0">
                    <a:pos x="0" y="35"/>
                  </a:cxn>
                </a:cxnLst>
                <a:rect l="0" t="0" r="r" b="b"/>
                <a:pathLst>
                  <a:path w="43" h="43">
                    <a:moveTo>
                      <a:pt x="0" y="35"/>
                    </a:moveTo>
                    <a:cubicBezTo>
                      <a:pt x="8" y="43"/>
                      <a:pt x="8" y="43"/>
                      <a:pt x="8" y="43"/>
                    </a:cubicBezTo>
                    <a:cubicBezTo>
                      <a:pt x="20" y="32"/>
                      <a:pt x="32" y="21"/>
                      <a:pt x="43" y="9"/>
                    </a:cubicBezTo>
                    <a:cubicBezTo>
                      <a:pt x="34" y="0"/>
                      <a:pt x="34" y="0"/>
                      <a:pt x="34" y="0"/>
                    </a:cubicBezTo>
                    <a:cubicBezTo>
                      <a:pt x="23" y="12"/>
                      <a:pt x="12" y="24"/>
                      <a:pt x="0" y="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5" name="Freeform 60"/>
              <p:cNvSpPr>
                <a:spLocks/>
              </p:cNvSpPr>
              <p:nvPr/>
            </p:nvSpPr>
            <p:spPr bwMode="auto">
              <a:xfrm>
                <a:off x="-611610" y="3585423"/>
                <a:ext cx="81075" cy="55471"/>
              </a:xfrm>
              <a:custGeom>
                <a:avLst/>
                <a:gdLst/>
                <a:ahLst/>
                <a:cxnLst>
                  <a:cxn ang="0">
                    <a:pos x="0" y="22"/>
                  </a:cxn>
                  <a:cxn ang="0">
                    <a:pos x="5" y="33"/>
                  </a:cxn>
                  <a:cxn ang="0">
                    <a:pos x="48" y="11"/>
                  </a:cxn>
                  <a:cxn ang="0">
                    <a:pos x="42" y="0"/>
                  </a:cxn>
                  <a:cxn ang="0">
                    <a:pos x="0" y="22"/>
                  </a:cxn>
                </a:cxnLst>
                <a:rect l="0" t="0" r="r" b="b"/>
                <a:pathLst>
                  <a:path w="48" h="33">
                    <a:moveTo>
                      <a:pt x="0" y="22"/>
                    </a:moveTo>
                    <a:cubicBezTo>
                      <a:pt x="5" y="33"/>
                      <a:pt x="5" y="33"/>
                      <a:pt x="5" y="33"/>
                    </a:cubicBezTo>
                    <a:cubicBezTo>
                      <a:pt x="20" y="26"/>
                      <a:pt x="34" y="19"/>
                      <a:pt x="48" y="11"/>
                    </a:cubicBezTo>
                    <a:cubicBezTo>
                      <a:pt x="42" y="0"/>
                      <a:pt x="42" y="0"/>
                      <a:pt x="42" y="0"/>
                    </a:cubicBezTo>
                    <a:cubicBezTo>
                      <a:pt x="28" y="8"/>
                      <a:pt x="14" y="16"/>
                      <a:pt x="0" y="2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6" name="Freeform 61"/>
              <p:cNvSpPr>
                <a:spLocks/>
              </p:cNvSpPr>
              <p:nvPr/>
            </p:nvSpPr>
            <p:spPr bwMode="auto">
              <a:xfrm>
                <a:off x="-1900278" y="2036514"/>
                <a:ext cx="40536" cy="44092"/>
              </a:xfrm>
              <a:custGeom>
                <a:avLst/>
                <a:gdLst/>
                <a:ahLst/>
                <a:cxnLst>
                  <a:cxn ang="0">
                    <a:pos x="0" y="19"/>
                  </a:cxn>
                  <a:cxn ang="0">
                    <a:pos x="10" y="26"/>
                  </a:cxn>
                  <a:cxn ang="0">
                    <a:pos x="24" y="8"/>
                  </a:cxn>
                  <a:cxn ang="0">
                    <a:pos x="15" y="0"/>
                  </a:cxn>
                  <a:cxn ang="0">
                    <a:pos x="0" y="19"/>
                  </a:cxn>
                </a:cxnLst>
                <a:rect l="0" t="0" r="r" b="b"/>
                <a:pathLst>
                  <a:path w="24" h="26">
                    <a:moveTo>
                      <a:pt x="0" y="19"/>
                    </a:moveTo>
                    <a:cubicBezTo>
                      <a:pt x="10" y="26"/>
                      <a:pt x="10" y="26"/>
                      <a:pt x="10" y="26"/>
                    </a:cubicBezTo>
                    <a:cubicBezTo>
                      <a:pt x="15" y="20"/>
                      <a:pt x="19" y="14"/>
                      <a:pt x="24" y="8"/>
                    </a:cubicBezTo>
                    <a:cubicBezTo>
                      <a:pt x="15" y="0"/>
                      <a:pt x="15" y="0"/>
                      <a:pt x="15" y="0"/>
                    </a:cubicBezTo>
                    <a:cubicBezTo>
                      <a:pt x="10" y="6"/>
                      <a:pt x="5" y="13"/>
                      <a:pt x="0" y="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marL="0" lvl="4" indent="-228544" algn="ctr" defTabSz="2559771" fontAlgn="ctr">
                  <a:lnSpc>
                    <a:spcPct val="150000"/>
                  </a:lnSpc>
                  <a:buClr>
                    <a:srgbClr val="CC9900"/>
                  </a:buClr>
                  <a:buSzPct val="60000"/>
                  <a:buFont typeface="Wingdings" pitchFamily="2" charset="2"/>
                  <a:buChar char="n"/>
                  <a:defRPr/>
                </a:pPr>
                <a:endParaRPr lang="en-US" altLang="zh-CN" sz="3200" noProof="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07" name="右箭头 106"/>
            <p:cNvSpPr/>
            <p:nvPr/>
          </p:nvSpPr>
          <p:spPr>
            <a:xfrm>
              <a:off x="3855169" y="2435801"/>
              <a:ext cx="1187520" cy="471906"/>
            </a:xfrm>
            <a:prstGeom prst="rightArrow">
              <a:avLst>
                <a:gd name="adj1" fmla="val 68431"/>
                <a:gd name="adj2" fmla="val 51961"/>
              </a:avLst>
            </a:prstGeom>
            <a:gradFill flip="none" rotWithShape="1">
              <a:gsLst>
                <a:gs pos="0">
                  <a:srgbClr val="0070C0">
                    <a:alpha val="0"/>
                  </a:srgbClr>
                </a:gs>
                <a:gs pos="100000">
                  <a:schemeClr val="bg1">
                    <a:lumMod val="50000"/>
                    <a:alpha val="30000"/>
                  </a:schemeClr>
                </a:gs>
              </a:gsLst>
              <a:lin ang="0" scaled="1"/>
              <a:tileRect/>
            </a:gradFill>
            <a:ln w="3175">
              <a:gradFill flip="none" rotWithShape="1">
                <a:gsLst>
                  <a:gs pos="0">
                    <a:srgbClr val="00BAFB">
                      <a:alpha val="0"/>
                    </a:srgbClr>
                  </a:gs>
                  <a:gs pos="50000">
                    <a:srgbClr val="888888"/>
                  </a:gs>
                </a:gsLst>
                <a:lin ang="0" scaled="1"/>
                <a:tileRect/>
              </a:gradFill>
              <a:miter lim="800000"/>
              <a:headEnd/>
              <a:tailEnd/>
            </a:ln>
            <a:effectLst/>
          </p:spPr>
          <p:txBody>
            <a:bodyPr lIns="0" tIns="0" rIns="0" bIns="0"/>
            <a:lstStyle/>
            <a:p>
              <a:pPr indent="-260143" defTabSz="967316">
                <a:lnSpc>
                  <a:spcPts val="4045"/>
                </a:lnSpc>
                <a:buFont typeface="Arial" pitchFamily="34" charset="0"/>
                <a:buChar char="•"/>
                <a:defRPr/>
              </a:pPr>
              <a:endParaRPr lang="zh-CN" altLang="en-US" sz="6600" kern="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8" name="右箭头 107"/>
            <p:cNvSpPr/>
            <p:nvPr/>
          </p:nvSpPr>
          <p:spPr>
            <a:xfrm>
              <a:off x="7493459" y="2435801"/>
              <a:ext cx="1187520" cy="471906"/>
            </a:xfrm>
            <a:prstGeom prst="rightArrow">
              <a:avLst>
                <a:gd name="adj1" fmla="val 68431"/>
                <a:gd name="adj2" fmla="val 51961"/>
              </a:avLst>
            </a:prstGeom>
            <a:gradFill flip="none" rotWithShape="1">
              <a:gsLst>
                <a:gs pos="0">
                  <a:srgbClr val="0070C0">
                    <a:alpha val="0"/>
                  </a:srgbClr>
                </a:gs>
                <a:gs pos="100000">
                  <a:schemeClr val="bg1">
                    <a:lumMod val="50000"/>
                    <a:alpha val="30000"/>
                  </a:schemeClr>
                </a:gs>
              </a:gsLst>
              <a:lin ang="0" scaled="1"/>
              <a:tileRect/>
            </a:gradFill>
            <a:ln w="3175">
              <a:gradFill flip="none" rotWithShape="1">
                <a:gsLst>
                  <a:gs pos="0">
                    <a:srgbClr val="00BAFB">
                      <a:alpha val="0"/>
                    </a:srgbClr>
                  </a:gs>
                  <a:gs pos="50000">
                    <a:srgbClr val="888888"/>
                  </a:gs>
                </a:gsLst>
                <a:lin ang="0" scaled="1"/>
                <a:tileRect/>
              </a:gradFill>
              <a:miter lim="800000"/>
              <a:headEnd/>
              <a:tailEnd/>
            </a:ln>
            <a:effectLst/>
          </p:spPr>
          <p:txBody>
            <a:bodyPr lIns="0" tIns="0" rIns="0" bIns="0"/>
            <a:lstStyle/>
            <a:p>
              <a:pPr indent="-260143" defTabSz="967316">
                <a:lnSpc>
                  <a:spcPts val="4045"/>
                </a:lnSpc>
                <a:buFont typeface="Arial" pitchFamily="34" charset="0"/>
                <a:buChar char="•"/>
                <a:defRPr/>
              </a:pPr>
              <a:endParaRPr lang="zh-CN" altLang="en-US" sz="6600" kern="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文本框 12"/>
            <p:cNvSpPr txBox="1"/>
            <p:nvPr/>
          </p:nvSpPr>
          <p:spPr>
            <a:xfrm>
              <a:off x="1127449" y="3800411"/>
              <a:ext cx="3312291" cy="296428"/>
            </a:xfrm>
            <a:prstGeom prst="rect">
              <a:avLst/>
            </a:prstGeom>
            <a:solidFill>
              <a:srgbClr val="00B0F0"/>
            </a:solidFill>
          </p:spPr>
          <p:txBody>
            <a:bodyPr wrap="square" rtlCol="0">
              <a:spAutoFit/>
            </a:bodyPr>
            <a:lstStyle/>
            <a:p>
              <a:pPr algn="ctr">
                <a:lnSpc>
                  <a:spcPct val="120000"/>
                </a:lnSpc>
              </a:pPr>
              <a:endPar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0" name="文本框 12"/>
            <p:cNvSpPr txBox="1"/>
            <p:nvPr/>
          </p:nvSpPr>
          <p:spPr>
            <a:xfrm>
              <a:off x="4583871" y="3800411"/>
              <a:ext cx="3312291" cy="296428"/>
            </a:xfrm>
            <a:prstGeom prst="rect">
              <a:avLst/>
            </a:prstGeom>
            <a:solidFill>
              <a:srgbClr val="00B0F0"/>
            </a:solidFill>
          </p:spPr>
          <p:txBody>
            <a:bodyPr wrap="square" rtlCol="0">
              <a:spAutoFit/>
            </a:bodyPr>
            <a:lstStyle/>
            <a:p>
              <a:pPr algn="ctr">
                <a:lnSpc>
                  <a:spcPct val="120000"/>
                </a:lnSpc>
              </a:pPr>
              <a:endPar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1" name="文本框 12"/>
            <p:cNvSpPr txBox="1"/>
            <p:nvPr/>
          </p:nvSpPr>
          <p:spPr>
            <a:xfrm>
              <a:off x="8040293" y="3800411"/>
              <a:ext cx="3312291" cy="296428"/>
            </a:xfrm>
            <a:prstGeom prst="rect">
              <a:avLst/>
            </a:prstGeom>
            <a:solidFill>
              <a:srgbClr val="00B0F0"/>
            </a:solidFill>
          </p:spPr>
          <p:txBody>
            <a:bodyPr wrap="square" rtlCol="0">
              <a:spAutoFit/>
            </a:bodyPr>
            <a:lstStyle/>
            <a:p>
              <a:pPr algn="ctr">
                <a:lnSpc>
                  <a:spcPct val="120000"/>
                </a:lnSpc>
              </a:pPr>
              <a:endPar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2" name="文本框 99"/>
            <p:cNvSpPr txBox="1"/>
            <p:nvPr/>
          </p:nvSpPr>
          <p:spPr>
            <a:xfrm>
              <a:off x="1944981" y="3735733"/>
              <a:ext cx="1704054" cy="403020"/>
            </a:xfrm>
            <a:prstGeom prst="rect">
              <a:avLst/>
            </a:prstGeom>
            <a:noFill/>
            <a:ln w="63500" cap="flat" cmpd="sng" algn="ctr">
              <a:noFill/>
              <a:prstDash val="solid"/>
            </a:ln>
            <a:effectLst/>
          </p:spPr>
          <p:txBody>
            <a:bodyPr wrap="square" rtlCol="0" anchor="ctr">
              <a:noAutofit/>
            </a:bodyPr>
            <a:lstStyle>
              <a:defPPr>
                <a:defRPr lang="zh-CN"/>
              </a:defPPr>
              <a:lvl1pPr algn="ctr">
                <a:defRPr sz="1800" b="1">
                  <a:solidFill>
                    <a:prstClr val="white"/>
                  </a:solidFill>
                  <a:latin typeface="微软雅黑"/>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本地仓库搜索</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3" name="文本框 99"/>
            <p:cNvSpPr txBox="1"/>
            <p:nvPr/>
          </p:nvSpPr>
          <p:spPr>
            <a:xfrm>
              <a:off x="5387989" y="3735733"/>
              <a:ext cx="1704054" cy="403020"/>
            </a:xfrm>
            <a:prstGeom prst="rect">
              <a:avLst/>
            </a:prstGeom>
            <a:noFill/>
            <a:ln w="63500" cap="flat" cmpd="sng" algn="ctr">
              <a:noFill/>
              <a:prstDash val="solid"/>
            </a:ln>
            <a:effectLst/>
          </p:spPr>
          <p:txBody>
            <a:bodyPr wrap="square" rtlCol="0" anchor="ctr">
              <a:noAutofit/>
            </a:bodyPr>
            <a:lstStyle>
              <a:defPPr>
                <a:defRPr lang="zh-CN"/>
              </a:defPPr>
              <a:lvl1pPr algn="ctr">
                <a:defRPr sz="1800" b="1">
                  <a:solidFill>
                    <a:prstClr val="white"/>
                  </a:solidFill>
                  <a:latin typeface="微软雅黑"/>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远程仓库搜索</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4" name="文本框 99"/>
            <p:cNvSpPr txBox="1"/>
            <p:nvPr/>
          </p:nvSpPr>
          <p:spPr>
            <a:xfrm>
              <a:off x="8830997" y="3751803"/>
              <a:ext cx="1704054" cy="403020"/>
            </a:xfrm>
            <a:prstGeom prst="rect">
              <a:avLst/>
            </a:prstGeom>
            <a:noFill/>
            <a:ln w="63500" cap="flat" cmpd="sng" algn="ctr">
              <a:noFill/>
              <a:prstDash val="solid"/>
            </a:ln>
            <a:effectLst/>
          </p:spPr>
          <p:txBody>
            <a:bodyPr wrap="square" rtlCol="0" anchor="ctr">
              <a:noAutofit/>
            </a:bodyPr>
            <a:lstStyle>
              <a:defPPr>
                <a:defRPr lang="zh-CN"/>
              </a:defPPr>
              <a:lvl1pPr algn="ctr">
                <a:defRPr sz="1800" b="1">
                  <a:solidFill>
                    <a:prstClr val="white"/>
                  </a:solidFill>
                  <a:latin typeface="微软雅黑"/>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中央仓库搜索</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5" name="TextBox 27"/>
            <p:cNvSpPr>
              <a:spLocks noChangeArrowheads="1"/>
            </p:cNvSpPr>
            <p:nvPr/>
          </p:nvSpPr>
          <p:spPr bwMode="auto">
            <a:xfrm>
              <a:off x="1202822" y="4404963"/>
              <a:ext cx="316250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itchFamily="34" charset="0"/>
                <a:buChar char="•"/>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本地仓库找到，直接返回</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buFont typeface="Arial" pitchFamily="34" charset="0"/>
                <a:buChar char="•"/>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本地仓库没有找到，去远程仓库搜索</a:t>
              </a:r>
            </a:p>
          </p:txBody>
        </p:sp>
      </p:grpSp>
    </p:spTree>
    <p:extLst>
      <p:ext uri="{BB962C8B-B14F-4D97-AF65-F5344CB8AC3E}">
        <p14:creationId xmlns:p14="http://schemas.microsoft.com/office/powerpoint/2010/main" val="1202017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mn-ea"/>
                <a:sym typeface="Huawei Sans" panose="020C0503030203020204" pitchFamily="34" charset="0"/>
              </a:rPr>
              <a:t>鲲鹏</a:t>
            </a:r>
            <a:r>
              <a:rPr lang="en-US" altLang="zh-CN" dirty="0">
                <a:cs typeface="+mn-ea"/>
                <a:sym typeface="Huawei Sans" panose="020C0503030203020204" pitchFamily="34" charset="0"/>
              </a:rPr>
              <a:t>Maven</a:t>
            </a:r>
            <a:endParaRPr lang="en-US" dirty="0">
              <a:cs typeface="+mn-ea"/>
              <a:sym typeface="Huawei Sans" panose="020C0503030203020204" pitchFamily="34" charset="0"/>
            </a:endParaRPr>
          </a:p>
        </p:txBody>
      </p:sp>
      <p:sp>
        <p:nvSpPr>
          <p:cNvPr id="3" name="文本占位符 2"/>
          <p:cNvSpPr>
            <a:spLocks noGrp="1"/>
          </p:cNvSpPr>
          <p:nvPr>
            <p:ph type="body" sz="quarter" idx="10"/>
          </p:nvPr>
        </p:nvSpPr>
        <p:spPr/>
        <p:txBody>
          <a:bodyPr/>
          <a:lstStyle/>
          <a:p>
            <a:r>
              <a:rPr lang="en-US" altLang="zh-CN" sz="2000" dirty="0">
                <a:cs typeface="+mn-ea"/>
                <a:sym typeface="Huawei Sans" panose="020C0503030203020204" pitchFamily="34" charset="0"/>
              </a:rPr>
              <a:t>Maven</a:t>
            </a:r>
            <a:r>
              <a:rPr lang="zh-CN" altLang="en-US" sz="2000" dirty="0">
                <a:cs typeface="+mn-ea"/>
                <a:sym typeface="Huawei Sans" panose="020C0503030203020204" pitchFamily="34" charset="0"/>
              </a:rPr>
              <a:t>仓部分</a:t>
            </a:r>
            <a:r>
              <a:rPr lang="en-US" altLang="zh-CN" sz="2000" dirty="0">
                <a:cs typeface="+mn-ea"/>
                <a:sym typeface="Huawei Sans" panose="020C0503030203020204" pitchFamily="34" charset="0"/>
              </a:rPr>
              <a:t>jar</a:t>
            </a:r>
            <a:r>
              <a:rPr lang="zh-CN" altLang="en-US" sz="2000" dirty="0">
                <a:cs typeface="+mn-ea"/>
                <a:sym typeface="Huawei Sans" panose="020C0503030203020204" pitchFamily="34" charset="0"/>
              </a:rPr>
              <a:t>包依赖</a:t>
            </a:r>
            <a:r>
              <a:rPr lang="en-US" altLang="zh-CN" sz="2000" dirty="0">
                <a:cs typeface="+mn-ea"/>
                <a:sym typeface="Huawei Sans" panose="020C0503030203020204" pitchFamily="34" charset="0"/>
              </a:rPr>
              <a:t>x86 so</a:t>
            </a:r>
            <a:r>
              <a:rPr lang="zh-CN" altLang="en-US" sz="2000" dirty="0">
                <a:cs typeface="+mn-ea"/>
                <a:sym typeface="Huawei Sans" panose="020C0503030203020204" pitchFamily="34" charset="0"/>
              </a:rPr>
              <a:t>，无法在鲲鹏上直接使用，需要在鲲鹏上重新编译，部分</a:t>
            </a:r>
            <a:r>
              <a:rPr lang="en-US" altLang="zh-CN" sz="2000" dirty="0">
                <a:cs typeface="+mn-ea"/>
                <a:sym typeface="Huawei Sans" panose="020C0503030203020204" pitchFamily="34" charset="0"/>
              </a:rPr>
              <a:t>jar</a:t>
            </a:r>
            <a:r>
              <a:rPr lang="zh-CN" altLang="en-US" sz="2000" dirty="0">
                <a:cs typeface="+mn-ea"/>
                <a:sym typeface="Huawei Sans" panose="020C0503030203020204" pitchFamily="34" charset="0"/>
              </a:rPr>
              <a:t>包已编译好放在鲲鹏</a:t>
            </a:r>
            <a:r>
              <a:rPr lang="en-US" altLang="zh-CN" sz="2000" dirty="0">
                <a:cs typeface="+mn-ea"/>
                <a:sym typeface="Huawei Sans" panose="020C0503030203020204" pitchFamily="34" charset="0"/>
              </a:rPr>
              <a:t>maven</a:t>
            </a:r>
            <a:r>
              <a:rPr lang="zh-CN" altLang="en-US" sz="2000" dirty="0">
                <a:cs typeface="+mn-ea"/>
                <a:sym typeface="Huawei Sans" panose="020C0503030203020204" pitchFamily="34" charset="0"/>
              </a:rPr>
              <a:t>仓内，可以直接使用</a:t>
            </a:r>
            <a:endParaRPr lang="en-US" altLang="zh-CN" sz="2000" dirty="0">
              <a:cs typeface="+mn-ea"/>
              <a:sym typeface="Huawei Sans" panose="020C0503030203020204" pitchFamily="34" charset="0"/>
            </a:endParaRPr>
          </a:p>
          <a:p>
            <a:r>
              <a:rPr lang="zh-CN" altLang="en-US" sz="2000" dirty="0">
                <a:cs typeface="+mn-ea"/>
                <a:sym typeface="Huawei Sans" panose="020C0503030203020204" pitchFamily="34" charset="0"/>
              </a:rPr>
              <a:t>鲲鹏</a:t>
            </a:r>
            <a:r>
              <a:rPr lang="en-US" altLang="zh-CN" sz="2000" dirty="0">
                <a:cs typeface="+mn-ea"/>
                <a:sym typeface="Huawei Sans" panose="020C0503030203020204" pitchFamily="34" charset="0"/>
              </a:rPr>
              <a:t>Maven</a:t>
            </a:r>
            <a:r>
              <a:rPr lang="zh-CN" altLang="en-US" sz="2000" dirty="0">
                <a:cs typeface="+mn-ea"/>
                <a:sym typeface="Huawei Sans" panose="020C0503030203020204" pitchFamily="34" charset="0"/>
              </a:rPr>
              <a:t>链接：</a:t>
            </a:r>
            <a:r>
              <a:rPr lang="en-US" altLang="zh-CN" sz="2000" dirty="0">
                <a:cs typeface="+mn-ea"/>
                <a:sym typeface="Huawei Sans" panose="020C0503030203020204" pitchFamily="34" charset="0"/>
              </a:rPr>
              <a:t>https://mirrors.huaweicloud.com/kunpeng/maven/</a:t>
            </a:r>
            <a:endParaRPr lang="zh-CN" altLang="en-US" sz="2000" dirty="0">
              <a:cs typeface="+mn-ea"/>
              <a:sym typeface="Huawei Sans" panose="020C0503030203020204" pitchFamily="34" charset="0"/>
            </a:endParaRPr>
          </a:p>
          <a:p>
            <a:endParaRPr lang="en-US" sz="2000" dirty="0">
              <a:cs typeface="+mn-ea"/>
              <a:sym typeface="Huawei Sans" panose="020C0503030203020204" pitchFamily="34" charset="0"/>
            </a:endParaRPr>
          </a:p>
        </p:txBody>
      </p:sp>
      <p:pic>
        <p:nvPicPr>
          <p:cNvPr id="9" name="图片 8"/>
          <p:cNvPicPr>
            <a:picLocks noChangeAspect="1"/>
          </p:cNvPicPr>
          <p:nvPr/>
        </p:nvPicPr>
        <p:blipFill>
          <a:blip r:embed="rId3"/>
          <a:stretch>
            <a:fillRect/>
          </a:stretch>
        </p:blipFill>
        <p:spPr>
          <a:xfrm>
            <a:off x="2119225" y="2607276"/>
            <a:ext cx="7953549" cy="3593499"/>
          </a:xfrm>
          <a:prstGeom prst="rect">
            <a:avLst/>
          </a:prstGeom>
        </p:spPr>
      </p:pic>
    </p:spTree>
    <p:extLst>
      <p:ext uri="{BB962C8B-B14F-4D97-AF65-F5344CB8AC3E}">
        <p14:creationId xmlns:p14="http://schemas.microsoft.com/office/powerpoint/2010/main" val="4053052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990115" y="4146476"/>
            <a:ext cx="4607354" cy="1903604"/>
          </a:xfrm>
          <a:prstGeom prst="roundRect">
            <a:avLst>
              <a:gd name="adj" fmla="val 0"/>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圆角矩形 162"/>
          <p:cNvSpPr/>
          <p:nvPr/>
        </p:nvSpPr>
        <p:spPr>
          <a:xfrm>
            <a:off x="1019436" y="1294123"/>
            <a:ext cx="4584305" cy="2318929"/>
          </a:xfrm>
          <a:prstGeom prst="rect">
            <a:avLst/>
          </a:prstGeom>
          <a:gradFill flip="none" rotWithShape="1">
            <a:gsLst>
              <a:gs pos="0">
                <a:schemeClr val="bg1">
                  <a:lumMod val="50000"/>
                  <a:alpha val="0"/>
                </a:schemeClr>
              </a:gs>
              <a:gs pos="100000">
                <a:schemeClr val="bg1">
                  <a:lumMod val="50000"/>
                  <a:alpha val="11000"/>
                </a:schemeClr>
              </a:gs>
            </a:gsLst>
            <a:lin ang="5400000" scaled="0"/>
            <a:tileRect/>
          </a:gradFill>
          <a:ln w="12700">
            <a:solidFill>
              <a:srgbClr val="5AC8D2"/>
            </a:solidFill>
            <a:miter lim="800000"/>
          </a:ln>
        </p:spPr>
        <p:txBody>
          <a:bodyPr lIns="0" tIns="0" rIns="0" bIns="0"/>
          <a:lstStyle/>
          <a:p>
            <a:pPr indent="-186989" defTabSz="695306" fontAlgn="base">
              <a:lnSpc>
                <a:spcPts val="2909"/>
              </a:lnSpc>
              <a:buClr>
                <a:srgbClr val="CC9900"/>
              </a:buClr>
              <a:buFont typeface="Arial" pitchFamily="34" charset="0"/>
              <a:buChar char="•"/>
            </a:pPr>
            <a:endParaRPr sz="6798" b="1" kern="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4" name="组合 13"/>
          <p:cNvGrpSpPr/>
          <p:nvPr/>
        </p:nvGrpSpPr>
        <p:grpSpPr>
          <a:xfrm>
            <a:off x="387540" y="532546"/>
            <a:ext cx="329534" cy="391842"/>
            <a:chOff x="-1647825" y="2492375"/>
            <a:chExt cx="1947863" cy="2316163"/>
          </a:xfrm>
          <a:solidFill>
            <a:schemeClr val="bg1"/>
          </a:solidFill>
        </p:grpSpPr>
        <p:sp>
          <p:nvSpPr>
            <p:cNvPr id="20"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3" name="TextBox 2"/>
          <p:cNvSpPr txBox="1"/>
          <p:nvPr/>
        </p:nvSpPr>
        <p:spPr>
          <a:xfrm>
            <a:off x="1115212" y="1304728"/>
            <a:ext cx="4374766" cy="2308324"/>
          </a:xfrm>
          <a:prstGeom prst="rect">
            <a:avLst/>
          </a:prstGeom>
          <a:noFill/>
        </p:spPr>
        <p:txBody>
          <a:bodyPr wrap="square" rtlCol="0">
            <a:spAutoFit/>
          </a:bodyPr>
          <a:lstStyle/>
          <a:p>
            <a:pPr algn="just">
              <a:lnSpc>
                <a:spcPct val="150000"/>
              </a:lnSpc>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前面已了解</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仓库搜索顺序，可以将鲲鹏</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远程仓库放在首位，以便</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优先下载鲲鹏平台</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jar</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包。由于鲲鹏</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仓只放了</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arm</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相关</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jar</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，所以</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jar</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包不全，可以配置第二个</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远程仓库，当鲲鹏</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仓搜索不到时，会自动搜索下一个</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远程仓库。</a:t>
            </a:r>
            <a:endParaRPr lang="zh-CN" altLang="en-US" sz="1600" dirty="0">
              <a:solidFill>
                <a:srgbClr val="666A7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4" name="组合 23"/>
          <p:cNvGrpSpPr/>
          <p:nvPr/>
        </p:nvGrpSpPr>
        <p:grpSpPr>
          <a:xfrm>
            <a:off x="5663952" y="1268182"/>
            <a:ext cx="5808382" cy="4957171"/>
            <a:chOff x="550862" y="1988839"/>
            <a:chExt cx="9558532" cy="4319885"/>
          </a:xfrm>
        </p:grpSpPr>
        <p:sp>
          <p:nvSpPr>
            <p:cNvPr id="25" name="矩形 24"/>
            <p:cNvSpPr/>
            <p:nvPr/>
          </p:nvSpPr>
          <p:spPr bwMode="auto">
            <a:xfrm>
              <a:off x="550862" y="1988839"/>
              <a:ext cx="9558532" cy="4319885"/>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prstTxWarp prst="textNoShape">
                <a:avLst/>
              </a:prstTxWarp>
            </a:bodyPr>
            <a:lstStyle/>
            <a:p>
              <a:pPr defTabSz="914126"/>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6" name="组合 25"/>
            <p:cNvGrpSpPr/>
            <p:nvPr/>
          </p:nvGrpSpPr>
          <p:grpSpPr>
            <a:xfrm>
              <a:off x="550863" y="4720008"/>
              <a:ext cx="0" cy="1553308"/>
              <a:chOff x="550863" y="4720008"/>
              <a:chExt cx="0" cy="1553308"/>
            </a:xfrm>
          </p:grpSpPr>
          <p:cxnSp>
            <p:nvCxnSpPr>
              <p:cNvPr id="27" name="直接连接符 26"/>
              <p:cNvCxnSpPr/>
              <p:nvPr/>
            </p:nvCxnSpPr>
            <p:spPr bwMode="auto">
              <a:xfrm>
                <a:off x="550863" y="4720008"/>
                <a:ext cx="0" cy="1187167"/>
              </a:xfrm>
              <a:prstGeom prst="line">
                <a:avLst/>
              </a:prstGeom>
              <a:solidFill>
                <a:schemeClr val="accent1"/>
              </a:solidFill>
              <a:ln w="25400" cap="rnd" cmpd="sng" algn="ctr">
                <a:solidFill>
                  <a:schemeClr val="bg1">
                    <a:lumMod val="50000"/>
                  </a:schemeClr>
                </a:solidFill>
                <a:prstDash val="solid"/>
                <a:round/>
                <a:headEnd type="none" w="med" len="med"/>
                <a:tailEnd type="none" w="med" len="med"/>
              </a:ln>
              <a:effectLst/>
            </p:spPr>
          </p:cxnSp>
          <p:cxnSp>
            <p:nvCxnSpPr>
              <p:cNvPr id="28" name="直接连接符 27"/>
              <p:cNvCxnSpPr/>
              <p:nvPr/>
            </p:nvCxnSpPr>
            <p:spPr bwMode="auto">
              <a:xfrm>
                <a:off x="550863" y="5998948"/>
                <a:ext cx="0" cy="274368"/>
              </a:xfrm>
              <a:prstGeom prst="line">
                <a:avLst/>
              </a:prstGeom>
              <a:solidFill>
                <a:schemeClr val="accent1"/>
              </a:solidFill>
              <a:ln w="25400" cap="rnd" cmpd="sng" algn="ctr">
                <a:solidFill>
                  <a:srgbClr val="C7000B"/>
                </a:solidFill>
                <a:prstDash val="solid"/>
                <a:round/>
                <a:headEnd type="none" w="med" len="med"/>
                <a:tailEnd type="none" w="med" len="med"/>
              </a:ln>
              <a:effectLst/>
            </p:spPr>
          </p:cxnSp>
        </p:grpSp>
      </p:grpSp>
      <p:sp>
        <p:nvSpPr>
          <p:cNvPr id="29" name="矩形 28"/>
          <p:cNvSpPr/>
          <p:nvPr/>
        </p:nvSpPr>
        <p:spPr>
          <a:xfrm>
            <a:off x="5663951" y="1304728"/>
            <a:ext cx="6106689" cy="4595104"/>
          </a:xfrm>
          <a:prstGeom prst="rect">
            <a:avLst/>
          </a:prstGeom>
        </p:spPr>
        <p:txBody>
          <a:bodyPr wrap="square">
            <a:spAutoFit/>
          </a:bodyPr>
          <a:lstStyle/>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&lt;profile&gt;</a:t>
            </a:r>
          </a:p>
          <a:p>
            <a:pPr defTabSz="799860">
              <a:lnSpc>
                <a:spcPct val="90000"/>
              </a:lnSpc>
              <a:spcAft>
                <a:spcPct val="35000"/>
              </a:spcAft>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&lt;repositories&gt;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&lt;repository&gt;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&lt;id&gt;</a:t>
            </a:r>
            <a:r>
              <a:rPr lang="en-US" altLang="zh-CN" sz="1400" b="1" dirty="0" err="1">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kunpeng</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&lt;/id&gt;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a:t>
            </a:r>
            <a:r>
              <a:rPr lang="en-US" altLang="zh-CN" sz="1400" dirty="0" err="1">
                <a:latin typeface="Huawei Sans" panose="020C0503030203020204" pitchFamily="34" charset="0"/>
                <a:ea typeface="方正兰亭黑简体" panose="02000000000000000000" pitchFamily="2" charset="-122"/>
                <a:cs typeface="+mn-ea"/>
                <a:sym typeface="Huawei Sans" panose="020C0503030203020204" pitchFamily="34" charset="0"/>
              </a:rPr>
              <a:t>url</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&gt;</a:t>
            </a:r>
            <a:r>
              <a:rPr lang="en-US" altLang="zh-CN" sz="1400" b="1"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https://mirrors.huaweicloud.com/kunpeng/maven/</a:t>
            </a: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&lt;/</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url&gt;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&lt;releases&gt;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&lt;enabled&gt;true&lt;/enabled&gt;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&lt;/releases&gt;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&lt;/repository&gt; </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&lt;repository&gt;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&lt;id&gt;</a:t>
            </a:r>
            <a:r>
              <a:rPr lang="en-US" altLang="zh-CN" sz="1400" b="1" dirty="0" err="1">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huaweicloud</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&lt;/id&gt;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a:t>
            </a:r>
            <a:r>
              <a:rPr lang="en-US" altLang="zh-CN" sz="1400" dirty="0" err="1">
                <a:latin typeface="Huawei Sans" panose="020C0503030203020204" pitchFamily="34" charset="0"/>
                <a:ea typeface="方正兰亭黑简体" panose="02000000000000000000" pitchFamily="2" charset="-122"/>
                <a:cs typeface="+mn-ea"/>
                <a:sym typeface="Huawei Sans" panose="020C0503030203020204" pitchFamily="34" charset="0"/>
              </a:rPr>
              <a:t>url</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&gt;</a:t>
            </a:r>
            <a:r>
              <a:rPr lang="en-US" altLang="zh-CN" sz="1400" b="1"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https://mirrors.huaweicloud.com/repository/maven/</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&lt;/url&gt;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&lt;/repository&gt;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&lt;/repositories&gt;</a:t>
            </a:r>
          </a:p>
          <a:p>
            <a:pPr defTabSz="799860">
              <a:lnSpc>
                <a:spcPct val="90000"/>
              </a:lnSpc>
              <a:spcAft>
                <a:spcPct val="35000"/>
              </a:spcAft>
            </a:pP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&lt;/profile&gt;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TextBox 27"/>
          <p:cNvSpPr>
            <a:spLocks noChangeArrowheads="1"/>
          </p:cNvSpPr>
          <p:nvPr/>
        </p:nvSpPr>
        <p:spPr bwMode="auto">
          <a:xfrm>
            <a:off x="1058784" y="4377572"/>
            <a:ext cx="4605169" cy="128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664" indent="-285664">
              <a:lnSpc>
                <a:spcPct val="150000"/>
              </a:lnSpc>
              <a:spcAft>
                <a:spcPct val="35000"/>
              </a:spcAft>
              <a:buFont typeface="Arial" pitchFamily="34" charset="0"/>
              <a:buChar char="•"/>
            </a:pP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1.  </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编辑配置文件</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cs typeface="+mn-ea"/>
                <a:sym typeface="Huawei Sans" panose="020C0503030203020204" pitchFamily="34" charset="0"/>
              </a:rPr>
              <a:t>maven.home</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cs typeface="+mn-ea"/>
                <a:sym typeface="Huawei Sans" panose="020C0503030203020204" pitchFamily="34" charset="0"/>
              </a:rPr>
              <a:t>conf</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/settings.xml</a:t>
            </a:r>
          </a:p>
          <a:p>
            <a:pPr marL="285664" indent="-285664">
              <a:lnSpc>
                <a:spcPct val="150000"/>
              </a:lnSpc>
              <a:spcAft>
                <a:spcPct val="35000"/>
              </a:spcAft>
              <a:buFont typeface="Arial" pitchFamily="34" charset="0"/>
              <a:buChar char="•"/>
            </a:pP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2.  profiles</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标签下增加鲲鹏</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仓</a:t>
            </a:r>
          </a:p>
        </p:txBody>
      </p:sp>
      <p:sp>
        <p:nvSpPr>
          <p:cNvPr id="30" name="文本框 12"/>
          <p:cNvSpPr txBox="1"/>
          <p:nvPr/>
        </p:nvSpPr>
        <p:spPr>
          <a:xfrm>
            <a:off x="990114" y="3918004"/>
            <a:ext cx="4621991" cy="296428"/>
          </a:xfrm>
          <a:prstGeom prst="rect">
            <a:avLst/>
          </a:prstGeom>
          <a:solidFill>
            <a:srgbClr val="00B0F0"/>
          </a:solidFill>
        </p:spPr>
        <p:txBody>
          <a:bodyPr wrap="square" rtlCol="0">
            <a:spAutoFit/>
          </a:bodyPr>
          <a:lstStyle/>
          <a:p>
            <a:pPr algn="ctr">
              <a:lnSpc>
                <a:spcPct val="120000"/>
              </a:lnSpc>
            </a:pPr>
            <a:endPar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文本框 99"/>
          <p:cNvSpPr txBox="1"/>
          <p:nvPr/>
        </p:nvSpPr>
        <p:spPr>
          <a:xfrm>
            <a:off x="1959765" y="3858518"/>
            <a:ext cx="2481403" cy="431888"/>
          </a:xfrm>
          <a:prstGeom prst="rect">
            <a:avLst/>
          </a:prstGeom>
          <a:noFill/>
          <a:ln w="63500" cap="flat" cmpd="sng" algn="ctr">
            <a:noFill/>
            <a:prstDash val="solid"/>
          </a:ln>
          <a:effectLst/>
        </p:spPr>
        <p:txBody>
          <a:bodyPr wrap="square" rtlCol="0" anchor="ctr">
            <a:noAutofit/>
          </a:bodyPr>
          <a:lstStyle>
            <a:defPPr>
              <a:defRPr lang="zh-CN"/>
            </a:defPPr>
            <a:lvl1pPr algn="ctr">
              <a:defRPr sz="1800" b="1">
                <a:solidFill>
                  <a:prstClr val="white"/>
                </a:solidFill>
                <a:latin typeface="微软雅黑"/>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799" dirty="0">
                <a:latin typeface="Huawei Sans" panose="020C0503030203020204" pitchFamily="34" charset="0"/>
                <a:ea typeface="方正兰亭黑简体" panose="02000000000000000000" pitchFamily="2" charset="-122"/>
                <a:cs typeface="+mn-ea"/>
                <a:sym typeface="Huawei Sans" panose="020C0503030203020204" pitchFamily="34" charset="0"/>
              </a:rPr>
              <a:t>配置文法</a:t>
            </a:r>
            <a:endParaRPr lang="en-US" altLang="zh-CN" sz="1799"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 name="标题 1"/>
          <p:cNvSpPr>
            <a:spLocks noGrp="1"/>
          </p:cNvSpPr>
          <p:nvPr>
            <p:ph type="title"/>
          </p:nvPr>
        </p:nvSpPr>
        <p:spPr/>
        <p:txBody>
          <a:bodyPr/>
          <a:lstStyle/>
          <a:p>
            <a:r>
              <a:rPr lang="zh-CN" altLang="en-US" dirty="0">
                <a:cs typeface="+mn-ea"/>
                <a:sym typeface="Huawei Sans" panose="020C0503030203020204" pitchFamily="34" charset="0"/>
              </a:rPr>
              <a:t>如何配置优先搜索鲲鹏</a:t>
            </a:r>
            <a:r>
              <a:rPr lang="en-US" altLang="zh-CN" dirty="0">
                <a:cs typeface="+mn-ea"/>
                <a:sym typeface="Huawei Sans" panose="020C0503030203020204" pitchFamily="34" charset="0"/>
              </a:rPr>
              <a:t>Maven</a:t>
            </a:r>
            <a:r>
              <a:rPr lang="zh-CN" altLang="en-US" dirty="0">
                <a:cs typeface="+mn-ea"/>
                <a:sym typeface="Huawei Sans" panose="020C0503030203020204" pitchFamily="34" charset="0"/>
              </a:rPr>
              <a:t>仓</a:t>
            </a:r>
            <a:endParaRPr lang="en-US" dirty="0">
              <a:cs typeface="+mn-ea"/>
              <a:sym typeface="Huawei Sans" panose="020C0503030203020204" pitchFamily="34" charset="0"/>
            </a:endParaRPr>
          </a:p>
        </p:txBody>
      </p:sp>
    </p:spTree>
    <p:extLst>
      <p:ext uri="{BB962C8B-B14F-4D97-AF65-F5344CB8AC3E}">
        <p14:creationId xmlns:p14="http://schemas.microsoft.com/office/powerpoint/2010/main" val="2759516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mn-ea"/>
                <a:sym typeface="Huawei Sans" panose="020C0503030203020204" pitchFamily="34" charset="0"/>
              </a:rPr>
              <a:t>云上应用高可用部署实验概览</a:t>
            </a:r>
          </a:p>
        </p:txBody>
      </p:sp>
      <p:sp>
        <p:nvSpPr>
          <p:cNvPr id="8" name="文本框 7"/>
          <p:cNvSpPr txBox="1"/>
          <p:nvPr/>
        </p:nvSpPr>
        <p:spPr>
          <a:xfrm>
            <a:off x="1189267" y="2163546"/>
            <a:ext cx="3263918" cy="369332"/>
          </a:xfrm>
          <a:prstGeom prst="rect">
            <a:avLst/>
          </a:prstGeom>
          <a:noFill/>
        </p:spPr>
        <p:txBody>
          <a:bodyPr wrap="square" rtlCol="0">
            <a:spAutoFit/>
          </a:bodyPr>
          <a:lstStyle/>
          <a:p>
            <a:pPr algn="ct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云平台部署</a:t>
            </a:r>
            <a:r>
              <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rPr>
              <a:t>OA</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系统应用</a:t>
            </a:r>
          </a:p>
        </p:txBody>
      </p:sp>
      <p:sp>
        <p:nvSpPr>
          <p:cNvPr id="10" name="文本框 9"/>
          <p:cNvSpPr txBox="1"/>
          <p:nvPr/>
        </p:nvSpPr>
        <p:spPr>
          <a:xfrm>
            <a:off x="7063080" y="2163545"/>
            <a:ext cx="2913480" cy="369332"/>
          </a:xfrm>
          <a:prstGeom prst="rect">
            <a:avLst/>
          </a:prstGeom>
          <a:noFill/>
        </p:spPr>
        <p:txBody>
          <a:bodyPr wrap="square" rtlCol="0">
            <a:spAutoFit/>
          </a:bodyPr>
          <a:lstStyle/>
          <a:p>
            <a:pPr algn="ct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云平台</a:t>
            </a:r>
            <a:r>
              <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rPr>
              <a:t>OA</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系统高可用部署</a:t>
            </a:r>
          </a:p>
        </p:txBody>
      </p:sp>
      <p:cxnSp>
        <p:nvCxnSpPr>
          <p:cNvPr id="21" name="直接连接符 20"/>
          <p:cNvCxnSpPr/>
          <p:nvPr/>
        </p:nvCxnSpPr>
        <p:spPr>
          <a:xfrm flipH="1">
            <a:off x="5849262" y="2169828"/>
            <a:ext cx="12192" cy="28651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10915135" y="2153357"/>
            <a:ext cx="12192" cy="28651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29900" y="3442062"/>
            <a:ext cx="2066591" cy="156966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鲲鹏</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ECS</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购买</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安装</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JDK</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Maven</a:t>
            </a:r>
          </a:p>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克隆项目</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文本框 13"/>
          <p:cNvSpPr txBox="1"/>
          <p:nvPr/>
        </p:nvSpPr>
        <p:spPr>
          <a:xfrm>
            <a:off x="6791410" y="3442062"/>
            <a:ext cx="2114681" cy="1569660"/>
          </a:xfrm>
          <a:prstGeom prst="rect">
            <a:avLst/>
          </a:prstGeom>
          <a:noFill/>
        </p:spPr>
        <p:txBody>
          <a:bodyPr wrap="none" rtlCol="0">
            <a:spAutoFit/>
          </a:bodyPr>
          <a:lstStyle/>
          <a:p>
            <a:pPr marL="285750" lvl="0" indent="-285750">
              <a:lnSpc>
                <a:spcPct val="150000"/>
              </a:lnSpc>
              <a:buFont typeface="Arial" panose="020B0604020202020204" pitchFamily="34" charset="0"/>
              <a:buChar char="•"/>
              <a:defRP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配置弹性负载均衡</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lvl="0" indent="-285750">
              <a:lnSpc>
                <a:spcPct val="150000"/>
              </a:lnSpc>
              <a:buFont typeface="Arial" panose="020B0604020202020204" pitchFamily="34" charset="0"/>
              <a:buChar char="•"/>
              <a:defRP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配置弹性伸缩</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lvl="0" indent="-285750">
              <a:lnSpc>
                <a:spcPct val="150000"/>
              </a:lnSpc>
              <a:buFont typeface="Arial" panose="020B0604020202020204" pitchFamily="34" charset="0"/>
              <a:buChar char="•"/>
              <a:defRPr/>
            </a:pP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a:p>
            <a:pPr marL="285750" lvl="0" indent="-285750">
              <a:lnSpc>
                <a:spcPct val="150000"/>
              </a:lnSpc>
              <a:buFont typeface="Arial" panose="020B0604020202020204" pitchFamily="34" charset="0"/>
              <a:buChar char="•"/>
              <a:defRPr/>
            </a:pP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矩形 23"/>
          <p:cNvSpPr/>
          <p:nvPr/>
        </p:nvSpPr>
        <p:spPr>
          <a:xfrm>
            <a:off x="1051620" y="1961167"/>
            <a:ext cx="3743664" cy="778604"/>
          </a:xfrm>
          <a:prstGeom prst="rect">
            <a:avLst/>
          </a:prstGeom>
          <a:noFill/>
          <a:ln w="285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椭圆 24"/>
          <p:cNvSpPr/>
          <p:nvPr/>
        </p:nvSpPr>
        <p:spPr>
          <a:xfrm>
            <a:off x="761532" y="1606528"/>
            <a:ext cx="576064" cy="576064"/>
          </a:xfrm>
          <a:prstGeom prst="ellipse">
            <a:avLst/>
          </a:prstGeom>
          <a:solidFill>
            <a:srgbClr val="4870B9"/>
          </a:solidFill>
          <a:ln w="25400" cap="flat" cmpd="sng" algn="ctr">
            <a:solidFill>
              <a:srgbClr val="4870B9"/>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01</a:t>
            </a:r>
            <a:endParaRPr kumimoji="0" lang="zh-CN" altLang="en-US"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a:xfrm>
            <a:off x="6827287" y="1961167"/>
            <a:ext cx="3415081" cy="778604"/>
          </a:xfrm>
          <a:prstGeom prst="rect">
            <a:avLst/>
          </a:prstGeom>
          <a:noFill/>
          <a:ln w="28575">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椭圆 29"/>
          <p:cNvSpPr/>
          <p:nvPr/>
        </p:nvSpPr>
        <p:spPr>
          <a:xfrm>
            <a:off x="6589453" y="1606528"/>
            <a:ext cx="576064" cy="576064"/>
          </a:xfrm>
          <a:prstGeom prst="ellipse">
            <a:avLst/>
          </a:prstGeom>
          <a:solidFill>
            <a:srgbClr val="ED6D00"/>
          </a:solidFill>
          <a:ln w="25400" cap="flat" cmpd="sng" algn="ctr">
            <a:solidFill>
              <a:srgbClr val="ED6D00"/>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02</a:t>
            </a:r>
            <a:endParaRPr kumimoji="0" lang="zh-CN" altLang="en-US"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右箭头 6"/>
          <p:cNvSpPr/>
          <p:nvPr/>
        </p:nvSpPr>
        <p:spPr>
          <a:xfrm>
            <a:off x="936899" y="2907444"/>
            <a:ext cx="10523264" cy="694944"/>
          </a:xfrm>
          <a:prstGeom prst="right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 name="矩形 2"/>
          <p:cNvSpPr/>
          <p:nvPr/>
        </p:nvSpPr>
        <p:spPr>
          <a:xfrm>
            <a:off x="6265719" y="1437007"/>
            <a:ext cx="4441284" cy="4134231"/>
          </a:xfrm>
          <a:prstGeom prst="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4065433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高可用云上组网 </a:t>
            </a:r>
            <a:r>
              <a:rPr lang="en-US" altLang="zh-CN" dirty="0">
                <a:sym typeface="Huawei Sans" panose="020C0503030203020204" pitchFamily="34" charset="0"/>
              </a:rPr>
              <a:t>- </a:t>
            </a:r>
            <a:r>
              <a:rPr lang="zh-CN" altLang="en-US" dirty="0">
                <a:sym typeface="Huawei Sans" panose="020C0503030203020204" pitchFamily="34" charset="0"/>
              </a:rPr>
              <a:t>负载均衡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p:txBody>
          <a:bodyPr/>
          <a:lstStyle/>
          <a:p>
            <a:r>
              <a:rPr lang="zh-CN" altLang="en-US" dirty="0">
                <a:sym typeface="Huawei Sans" panose="020C0503030203020204" pitchFamily="34" charset="0"/>
              </a:rPr>
              <a:t>单个服务节点一旦故障，就会影响服务的可用性。在云上虚拟网络，如何提供高可用的服务呢？</a:t>
            </a:r>
            <a:endParaRPr lang="en-US" altLang="zh-CN" dirty="0">
              <a:sym typeface="Huawei Sans" panose="020C0503030203020204" pitchFamily="34" charset="0"/>
            </a:endParaRPr>
          </a:p>
          <a:p>
            <a:endParaRPr lang="en-US" altLang="zh-CN" dirty="0">
              <a:sym typeface="Huawei Sans" panose="020C0503030203020204" pitchFamily="34" charset="0"/>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8000" y="2895338"/>
            <a:ext cx="536848" cy="536848"/>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7895" y="2933227"/>
            <a:ext cx="536848" cy="536848"/>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92066" y="2970821"/>
            <a:ext cx="468052" cy="468052"/>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39891" y="3021421"/>
            <a:ext cx="468052" cy="468052"/>
          </a:xfrm>
          <a:prstGeom prst="rect">
            <a:avLst/>
          </a:prstGeom>
        </p:spPr>
      </p:pic>
      <p:cxnSp>
        <p:nvCxnSpPr>
          <p:cNvPr id="10" name="直接箭头连接符 9"/>
          <p:cNvCxnSpPr/>
          <p:nvPr/>
        </p:nvCxnSpPr>
        <p:spPr bwMode="auto">
          <a:xfrm>
            <a:off x="4159975" y="3477613"/>
            <a:ext cx="0" cy="432047"/>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3" name="直接箭头连接符 12"/>
          <p:cNvCxnSpPr/>
          <p:nvPr/>
        </p:nvCxnSpPr>
        <p:spPr bwMode="auto">
          <a:xfrm>
            <a:off x="6672064" y="3465004"/>
            <a:ext cx="0" cy="432046"/>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14" name="矩形 13"/>
          <p:cNvSpPr/>
          <p:nvPr/>
        </p:nvSpPr>
        <p:spPr bwMode="auto">
          <a:xfrm>
            <a:off x="2999656" y="3997444"/>
            <a:ext cx="4788532" cy="487485"/>
          </a:xfrm>
          <a:prstGeom prst="rect">
            <a:avLst/>
          </a:prstGeom>
          <a:solidFill>
            <a:srgbClr val="3298FF"/>
          </a:solidFill>
          <a:ln w="19050" cap="flat" cmpd="sng" algn="ctr">
            <a:solidFill>
              <a:srgbClr val="3298FF"/>
            </a:solidFill>
            <a:prstDash val="solid"/>
            <a:round/>
            <a:headEnd type="none" w="med" len="med"/>
            <a:tailEnd type="none" w="med" len="med"/>
          </a:ln>
          <a:effectLst/>
        </p:spPr>
        <p:txBody>
          <a:bodyPr vert="horz" wrap="square" lIns="68553" tIns="34277" rIns="68553" bIns="34277" numCol="1" rtlCol="0" anchor="ctr" anchorCtr="0" compatLnSpc="1">
            <a:prstTxWarp prst="textNoShape">
              <a:avLst/>
            </a:prstTxWarp>
          </a:bodyPr>
          <a:lstStyle/>
          <a:p>
            <a:pPr algn="ctr" defTabSz="685526">
              <a:buClr>
                <a:srgbClr val="CC9900"/>
              </a:buClr>
            </a:pP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负载平衡</a:t>
            </a:r>
          </a:p>
        </p:txBody>
      </p:sp>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24059" y="5151033"/>
            <a:ext cx="644860" cy="644860"/>
          </a:xfrm>
          <a:prstGeom prst="rect">
            <a:avLst/>
          </a:prstGeom>
        </p:spPr>
      </p:pic>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74340" y="5107805"/>
            <a:ext cx="644860" cy="644860"/>
          </a:xfrm>
          <a:prstGeom prst="rect">
            <a:avLst/>
          </a:prstGeom>
        </p:spPr>
      </p:pic>
      <p:pic>
        <p:nvPicPr>
          <p:cNvPr id="17" name="图片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57362" y="5107805"/>
            <a:ext cx="644860" cy="644860"/>
          </a:xfrm>
          <a:prstGeom prst="rect">
            <a:avLst/>
          </a:prstGeom>
        </p:spPr>
      </p:pic>
      <p:sp>
        <p:nvSpPr>
          <p:cNvPr id="15" name="文本框 14"/>
          <p:cNvSpPr txBox="1"/>
          <p:nvPr/>
        </p:nvSpPr>
        <p:spPr bwMode="auto">
          <a:xfrm>
            <a:off x="6034066" y="5107805"/>
            <a:ext cx="492736"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800" b="1"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8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auto">
          <a:xfrm>
            <a:off x="3884389" y="2413217"/>
            <a:ext cx="720080"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defRPr sz="1400">
                <a:latin typeface="+mn-ea"/>
                <a:ea typeface="+mn-ea"/>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客户端</a:t>
            </a:r>
          </a:p>
        </p:txBody>
      </p:sp>
      <p:sp>
        <p:nvSpPr>
          <p:cNvPr id="20" name="文本框 19"/>
          <p:cNvSpPr txBox="1"/>
          <p:nvPr/>
        </p:nvSpPr>
        <p:spPr bwMode="auto">
          <a:xfrm>
            <a:off x="6465832" y="2468223"/>
            <a:ext cx="720080"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客户端</a:t>
            </a:r>
          </a:p>
        </p:txBody>
      </p:sp>
      <p:sp>
        <p:nvSpPr>
          <p:cNvPr id="21" name="文本框 20"/>
          <p:cNvSpPr txBox="1"/>
          <p:nvPr/>
        </p:nvSpPr>
        <p:spPr bwMode="auto">
          <a:xfrm>
            <a:off x="3221215" y="5860159"/>
            <a:ext cx="850548"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auto">
          <a:xfrm>
            <a:off x="4943872" y="5860159"/>
            <a:ext cx="850548"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auto">
          <a:xfrm>
            <a:off x="6754518" y="5862098"/>
            <a:ext cx="948114"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 name="直接箭头连接符 23"/>
          <p:cNvCxnSpPr/>
          <p:nvPr/>
        </p:nvCxnSpPr>
        <p:spPr bwMode="auto">
          <a:xfrm>
            <a:off x="3689669" y="4617131"/>
            <a:ext cx="0" cy="391635"/>
          </a:xfrm>
          <a:prstGeom prst="straightConnector1">
            <a:avLst/>
          </a:prstGeom>
          <a:solidFill>
            <a:schemeClr val="accent1"/>
          </a:solidFill>
          <a:ln w="28575" cap="flat" cmpd="sng" algn="ctr">
            <a:solidFill>
              <a:schemeClr val="tx1"/>
            </a:solidFill>
            <a:prstDash val="solid"/>
            <a:round/>
            <a:headEnd type="triangle" w="med" len="med"/>
            <a:tailEnd type="triangle" w="med" len="med"/>
          </a:ln>
          <a:effectLst/>
        </p:spPr>
      </p:cxnSp>
      <p:cxnSp>
        <p:nvCxnSpPr>
          <p:cNvPr id="28" name="直接箭头连接符 27"/>
          <p:cNvCxnSpPr/>
          <p:nvPr/>
        </p:nvCxnSpPr>
        <p:spPr bwMode="auto">
          <a:xfrm>
            <a:off x="5339916" y="4617132"/>
            <a:ext cx="0" cy="391635"/>
          </a:xfrm>
          <a:prstGeom prst="straightConnector1">
            <a:avLst/>
          </a:prstGeom>
          <a:solidFill>
            <a:schemeClr val="accent1"/>
          </a:solidFill>
          <a:ln w="28575" cap="flat" cmpd="sng" algn="ctr">
            <a:solidFill>
              <a:schemeClr val="tx1"/>
            </a:solidFill>
            <a:prstDash val="solid"/>
            <a:round/>
            <a:headEnd type="triangle" w="med" len="med"/>
            <a:tailEnd type="triangle" w="med" len="med"/>
          </a:ln>
          <a:effectLst/>
        </p:spPr>
      </p:cxnSp>
      <p:cxnSp>
        <p:nvCxnSpPr>
          <p:cNvPr id="29" name="直接箭头连接符 28"/>
          <p:cNvCxnSpPr/>
          <p:nvPr/>
        </p:nvCxnSpPr>
        <p:spPr bwMode="auto">
          <a:xfrm>
            <a:off x="7140116" y="4617132"/>
            <a:ext cx="0" cy="391635"/>
          </a:xfrm>
          <a:prstGeom prst="straightConnector1">
            <a:avLst/>
          </a:prstGeom>
          <a:solidFill>
            <a:schemeClr val="accent1"/>
          </a:solidFill>
          <a:ln w="28575" cap="flat" cmpd="sng" algn="ctr">
            <a:solidFill>
              <a:schemeClr val="tx1"/>
            </a:solidFill>
            <a:prstDash val="solid"/>
            <a:round/>
            <a:headEnd type="triangle" w="med" len="med"/>
            <a:tailEnd type="triangle" w="med" len="med"/>
          </a:ln>
          <a:effectLst/>
        </p:spPr>
      </p:cxnSp>
    </p:spTree>
    <p:extLst>
      <p:ext uri="{BB962C8B-B14F-4D97-AF65-F5344CB8AC3E}">
        <p14:creationId xmlns:p14="http://schemas.microsoft.com/office/powerpoint/2010/main" val="2995102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高可用云上组网 </a:t>
            </a:r>
            <a:r>
              <a:rPr lang="en-US" altLang="zh-CN" dirty="0">
                <a:sym typeface="Huawei Sans" panose="020C0503030203020204" pitchFamily="34" charset="0"/>
              </a:rPr>
              <a:t>- </a:t>
            </a:r>
            <a:r>
              <a:rPr lang="zh-CN" altLang="en-US" dirty="0">
                <a:sym typeface="Huawei Sans" panose="020C0503030203020204" pitchFamily="34" charset="0"/>
              </a:rPr>
              <a:t>负载均衡 </a:t>
            </a:r>
            <a:r>
              <a:rPr lang="en-US" altLang="zh-CN" dirty="0">
                <a:sym typeface="Huawei Sans" panose="020C0503030203020204" pitchFamily="34" charset="0"/>
              </a:rPr>
              <a:t>(2)</a:t>
            </a:r>
            <a:endParaRPr lang="zh-CN" altLang="en-US" dirty="0">
              <a:cs typeface="Arial" panose="020B0604020202020204" pitchFamily="34" charset="0"/>
              <a:sym typeface="Huawei Sans" panose="020C0503030203020204" pitchFamily="34" charset="0"/>
            </a:endParaRPr>
          </a:p>
        </p:txBody>
      </p:sp>
      <p:sp>
        <p:nvSpPr>
          <p:cNvPr id="4" name="文本占位符 3"/>
          <p:cNvSpPr>
            <a:spLocks noGrp="1"/>
          </p:cNvSpPr>
          <p:nvPr>
            <p:ph type="body" sz="quarter" idx="10"/>
          </p:nvPr>
        </p:nvSpPr>
        <p:spPr/>
        <p:txBody>
          <a:bodyPr/>
          <a:lstStyle/>
          <a:p>
            <a:r>
              <a:rPr lang="zh-CN" altLang="en-US" dirty="0">
                <a:sym typeface="Huawei Sans" panose="020C0503030203020204" pitchFamily="34" charset="0"/>
              </a:rPr>
              <a:t>弹性负载均衡（</a:t>
            </a:r>
            <a:r>
              <a:rPr lang="en-US" altLang="zh-CN" dirty="0">
                <a:sym typeface="Huawei Sans" panose="020C0503030203020204" pitchFamily="34" charset="0"/>
              </a:rPr>
              <a:t>Elastic Load Balance</a:t>
            </a:r>
            <a:r>
              <a:rPr lang="zh-CN" altLang="en-US" dirty="0">
                <a:sym typeface="Huawei Sans" panose="020C0503030203020204" pitchFamily="34" charset="0"/>
              </a:rPr>
              <a:t>）通过将访问流量自动分发到多台弹性云服务器，扩展应用系统对外的服务能力，实现更高水平的应用程序容错性能。</a:t>
            </a:r>
            <a:endParaRPr lang="en-US" altLang="zh-CN" dirty="0">
              <a:sym typeface="Huawei Sans" panose="020C0503030203020204" pitchFamily="34" charset="0"/>
            </a:endParaRPr>
          </a:p>
          <a:p>
            <a:endParaRPr lang="en-US" altLang="zh-CN" dirty="0">
              <a:sym typeface="Huawei Sans" panose="020C0503030203020204" pitchFamily="34" charset="0"/>
            </a:endParaRPr>
          </a:p>
        </p:txBody>
      </p:sp>
      <p:grpSp>
        <p:nvGrpSpPr>
          <p:cNvPr id="2" name="组合 1"/>
          <p:cNvGrpSpPr/>
          <p:nvPr/>
        </p:nvGrpSpPr>
        <p:grpSpPr>
          <a:xfrm>
            <a:off x="3652442" y="2225319"/>
            <a:ext cx="4891706" cy="3960019"/>
            <a:chOff x="3652442" y="2225319"/>
            <a:chExt cx="4891706" cy="3960019"/>
          </a:xfrm>
        </p:grpSpPr>
        <p:sp>
          <p:nvSpPr>
            <p:cNvPr id="5" name="任意多边形 4"/>
            <p:cNvSpPr/>
            <p:nvPr/>
          </p:nvSpPr>
          <p:spPr>
            <a:xfrm>
              <a:off x="4270931" y="2808115"/>
              <a:ext cx="1805382" cy="2763339"/>
            </a:xfrm>
            <a:custGeom>
              <a:avLst/>
              <a:gdLst>
                <a:gd name="connsiteX0" fmla="*/ 2133600 w 2133600"/>
                <a:gd name="connsiteY0" fmla="*/ 0 h 3265714"/>
                <a:gd name="connsiteX1" fmla="*/ 0 w 2133600"/>
                <a:gd name="connsiteY1" fmla="*/ 3265714 h 3265714"/>
                <a:gd name="connsiteX2" fmla="*/ 2119086 w 2133600"/>
                <a:gd name="connsiteY2" fmla="*/ 2061028 h 3265714"/>
                <a:gd name="connsiteX3" fmla="*/ 2133600 w 2133600"/>
                <a:gd name="connsiteY3" fmla="*/ 0 h 3265714"/>
              </a:gdLst>
              <a:ahLst/>
              <a:cxnLst>
                <a:cxn ang="0">
                  <a:pos x="connsiteX0" y="connsiteY0"/>
                </a:cxn>
                <a:cxn ang="0">
                  <a:pos x="connsiteX1" y="connsiteY1"/>
                </a:cxn>
                <a:cxn ang="0">
                  <a:pos x="connsiteX2" y="connsiteY2"/>
                </a:cxn>
                <a:cxn ang="0">
                  <a:pos x="connsiteX3" y="connsiteY3"/>
                </a:cxn>
              </a:cxnLst>
              <a:rect l="l" t="t" r="r" b="b"/>
              <a:pathLst>
                <a:path w="2133600" h="3265714">
                  <a:moveTo>
                    <a:pt x="2133600" y="0"/>
                  </a:moveTo>
                  <a:lnTo>
                    <a:pt x="0" y="3265714"/>
                  </a:lnTo>
                  <a:lnTo>
                    <a:pt x="2119086" y="2061028"/>
                  </a:lnTo>
                  <a:lnTo>
                    <a:pt x="2133600" y="0"/>
                  </a:lnTo>
                  <a:close/>
                </a:path>
              </a:pathLst>
            </a:custGeom>
            <a:gradFill>
              <a:gsLst>
                <a:gs pos="0">
                  <a:srgbClr val="006699"/>
                </a:gs>
                <a:gs pos="100000">
                  <a:srgbClr val="99CCCC"/>
                </a:gs>
              </a:gsLst>
              <a:lin ang="2400000" scaled="0"/>
            </a:gradFill>
            <a:ln>
              <a:noFill/>
            </a:ln>
          </p:spPr>
          <p:txBody>
            <a:bodyPr vert="horz" wrap="squar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B2B2B2"/>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任意多边形 5"/>
            <p:cNvSpPr/>
            <p:nvPr/>
          </p:nvSpPr>
          <p:spPr>
            <a:xfrm>
              <a:off x="6064032" y="2820396"/>
              <a:ext cx="1879070" cy="2751058"/>
            </a:xfrm>
            <a:custGeom>
              <a:avLst/>
              <a:gdLst>
                <a:gd name="connsiteX0" fmla="*/ 29028 w 2220685"/>
                <a:gd name="connsiteY0" fmla="*/ 0 h 3251200"/>
                <a:gd name="connsiteX1" fmla="*/ 2220685 w 2220685"/>
                <a:gd name="connsiteY1" fmla="*/ 3251200 h 3251200"/>
                <a:gd name="connsiteX2" fmla="*/ 0 w 2220685"/>
                <a:gd name="connsiteY2" fmla="*/ 2046514 h 3251200"/>
                <a:gd name="connsiteX3" fmla="*/ 29028 w 2220685"/>
                <a:gd name="connsiteY3" fmla="*/ 0 h 3251200"/>
              </a:gdLst>
              <a:ahLst/>
              <a:cxnLst>
                <a:cxn ang="0">
                  <a:pos x="connsiteX0" y="connsiteY0"/>
                </a:cxn>
                <a:cxn ang="0">
                  <a:pos x="connsiteX1" y="connsiteY1"/>
                </a:cxn>
                <a:cxn ang="0">
                  <a:pos x="connsiteX2" y="connsiteY2"/>
                </a:cxn>
                <a:cxn ang="0">
                  <a:pos x="connsiteX3" y="connsiteY3"/>
                </a:cxn>
              </a:cxnLst>
              <a:rect l="l" t="t" r="r" b="b"/>
              <a:pathLst>
                <a:path w="2220685" h="3251200">
                  <a:moveTo>
                    <a:pt x="29028" y="0"/>
                  </a:moveTo>
                  <a:lnTo>
                    <a:pt x="2220685" y="3251200"/>
                  </a:lnTo>
                  <a:lnTo>
                    <a:pt x="0" y="2046514"/>
                  </a:lnTo>
                  <a:lnTo>
                    <a:pt x="29028" y="0"/>
                  </a:lnTo>
                  <a:close/>
                </a:path>
              </a:pathLst>
            </a:custGeom>
            <a:gradFill flip="none" rotWithShape="1">
              <a:gsLst>
                <a:gs pos="33000">
                  <a:srgbClr val="006699"/>
                </a:gs>
                <a:gs pos="53000">
                  <a:srgbClr val="99CCFF"/>
                </a:gs>
              </a:gsLst>
              <a:lin ang="19500000" scaled="0"/>
              <a:tileRect/>
            </a:gradFill>
            <a:ln>
              <a:noFill/>
            </a:ln>
          </p:spPr>
          <p:txBody>
            <a:bodyPr vert="horz" wrap="squar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B2B2B2"/>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任意多边形 6"/>
            <p:cNvSpPr/>
            <p:nvPr/>
          </p:nvSpPr>
          <p:spPr>
            <a:xfrm>
              <a:off x="4270931" y="4552089"/>
              <a:ext cx="3672171" cy="1031647"/>
            </a:xfrm>
            <a:custGeom>
              <a:avLst/>
              <a:gdLst>
                <a:gd name="connsiteX0" fmla="*/ 0 w 4339771"/>
                <a:gd name="connsiteY0" fmla="*/ 1219200 h 1219200"/>
                <a:gd name="connsiteX1" fmla="*/ 4339771 w 4339771"/>
                <a:gd name="connsiteY1" fmla="*/ 1219200 h 1219200"/>
                <a:gd name="connsiteX2" fmla="*/ 2133600 w 4339771"/>
                <a:gd name="connsiteY2" fmla="*/ 0 h 1219200"/>
                <a:gd name="connsiteX3" fmla="*/ 0 w 4339771"/>
                <a:gd name="connsiteY3" fmla="*/ 1219200 h 1219200"/>
              </a:gdLst>
              <a:ahLst/>
              <a:cxnLst>
                <a:cxn ang="0">
                  <a:pos x="connsiteX0" y="connsiteY0"/>
                </a:cxn>
                <a:cxn ang="0">
                  <a:pos x="connsiteX1" y="connsiteY1"/>
                </a:cxn>
                <a:cxn ang="0">
                  <a:pos x="connsiteX2" y="connsiteY2"/>
                </a:cxn>
                <a:cxn ang="0">
                  <a:pos x="connsiteX3" y="connsiteY3"/>
                </a:cxn>
              </a:cxnLst>
              <a:rect l="l" t="t" r="r" b="b"/>
              <a:pathLst>
                <a:path w="4339771" h="1219200">
                  <a:moveTo>
                    <a:pt x="0" y="1219200"/>
                  </a:moveTo>
                  <a:lnTo>
                    <a:pt x="4339771" y="1219200"/>
                  </a:lnTo>
                  <a:lnTo>
                    <a:pt x="2133600" y="0"/>
                  </a:lnTo>
                  <a:lnTo>
                    <a:pt x="0" y="1219200"/>
                  </a:lnTo>
                  <a:close/>
                </a:path>
              </a:pathLst>
            </a:custGeom>
            <a:gradFill>
              <a:gsLst>
                <a:gs pos="0">
                  <a:srgbClr val="99CCCC">
                    <a:alpha val="0"/>
                  </a:srgbClr>
                </a:gs>
                <a:gs pos="91000">
                  <a:srgbClr val="0070C0"/>
                </a:gs>
              </a:gsLst>
              <a:lin ang="5400000" scaled="0"/>
            </a:gradFill>
            <a:ln>
              <a:noFill/>
            </a:ln>
          </p:spPr>
          <p:txBody>
            <a:bodyPr vert="horz" wrap="squar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B2B2B2"/>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Oval 376"/>
            <p:cNvSpPr>
              <a:spLocks noChangeArrowheads="1"/>
            </p:cNvSpPr>
            <p:nvPr/>
          </p:nvSpPr>
          <p:spPr bwMode="auto">
            <a:xfrm>
              <a:off x="5482003" y="2225319"/>
              <a:ext cx="1218364" cy="1218364"/>
            </a:xfrm>
            <a:prstGeom prst="ellipse">
              <a:avLst/>
            </a:prstGeom>
            <a:solidFill>
              <a:srgbClr val="FFFFFF"/>
            </a:solidFill>
            <a:ln w="57150" cap="rnd" algn="ctr">
              <a:solidFill>
                <a:srgbClr val="FF99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Oval 381"/>
            <p:cNvSpPr>
              <a:spLocks noChangeArrowheads="1"/>
            </p:cNvSpPr>
            <p:nvPr/>
          </p:nvSpPr>
          <p:spPr bwMode="auto">
            <a:xfrm>
              <a:off x="5480659" y="3929954"/>
              <a:ext cx="1218365" cy="1218364"/>
            </a:xfrm>
            <a:prstGeom prst="ellipse">
              <a:avLst/>
            </a:prstGeom>
            <a:solidFill>
              <a:srgbClr val="FFFFFF"/>
            </a:solidFill>
            <a:ln w="57150" cap="rnd" algn="ctr">
              <a:solidFill>
                <a:srgbClr val="C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Oval 385"/>
            <p:cNvSpPr>
              <a:spLocks noChangeArrowheads="1"/>
            </p:cNvSpPr>
            <p:nvPr/>
          </p:nvSpPr>
          <p:spPr bwMode="auto">
            <a:xfrm>
              <a:off x="3653785" y="4966974"/>
              <a:ext cx="1218365" cy="1218364"/>
            </a:xfrm>
            <a:prstGeom prst="ellipse">
              <a:avLst/>
            </a:prstGeom>
            <a:solidFill>
              <a:srgbClr val="FFFFFF"/>
            </a:solidFill>
            <a:ln w="57150" cap="rnd" algn="ctr">
              <a:solidFill>
                <a:srgbClr val="B2B2B2">
                  <a:lumMod val="50000"/>
                </a:srgbClr>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Oval 390"/>
            <p:cNvSpPr>
              <a:spLocks noChangeArrowheads="1"/>
            </p:cNvSpPr>
            <p:nvPr/>
          </p:nvSpPr>
          <p:spPr bwMode="auto">
            <a:xfrm>
              <a:off x="7308878" y="4966974"/>
              <a:ext cx="1218364" cy="1218364"/>
            </a:xfrm>
            <a:prstGeom prst="ellipse">
              <a:avLst/>
            </a:prstGeom>
            <a:solidFill>
              <a:srgbClr val="FFFFFF"/>
            </a:solidFill>
            <a:ln w="57150" cap="rnd" algn="ctr">
              <a:solidFill>
                <a:srgbClr val="006699"/>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Freeform 394"/>
            <p:cNvSpPr>
              <a:spLocks/>
            </p:cNvSpPr>
            <p:nvPr/>
          </p:nvSpPr>
          <p:spPr bwMode="auto">
            <a:xfrm rot="3600000">
              <a:off x="4757969" y="5149661"/>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B2B2B2">
                <a:lumMod val="50000"/>
              </a:srgbClr>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Freeform 395"/>
            <p:cNvSpPr>
              <a:spLocks/>
            </p:cNvSpPr>
            <p:nvPr/>
          </p:nvSpPr>
          <p:spPr bwMode="auto">
            <a:xfrm rot="5400000">
              <a:off x="4872149" y="5478767"/>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B2B2B2">
                <a:lumMod val="50000"/>
              </a:srgbClr>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Freeform 396"/>
            <p:cNvSpPr>
              <a:spLocks/>
            </p:cNvSpPr>
            <p:nvPr/>
          </p:nvSpPr>
          <p:spPr bwMode="auto">
            <a:xfrm rot="1800000">
              <a:off x="4567222" y="4906526"/>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B2B2B2">
                <a:lumMod val="50000"/>
              </a:srgbClr>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Freeform 397"/>
            <p:cNvSpPr>
              <a:spLocks/>
            </p:cNvSpPr>
            <p:nvPr/>
          </p:nvSpPr>
          <p:spPr bwMode="auto">
            <a:xfrm>
              <a:off x="5993796" y="3764729"/>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FF6600"/>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Freeform 398"/>
            <p:cNvSpPr>
              <a:spLocks/>
            </p:cNvSpPr>
            <p:nvPr/>
          </p:nvSpPr>
          <p:spPr bwMode="auto">
            <a:xfrm rot="14400000">
              <a:off x="5396033" y="4776226"/>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FF6600"/>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Freeform 399"/>
            <p:cNvSpPr>
              <a:spLocks/>
            </p:cNvSpPr>
            <p:nvPr/>
          </p:nvSpPr>
          <p:spPr bwMode="auto">
            <a:xfrm rot="7200000">
              <a:off x="6594247" y="4792346"/>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FF6600"/>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Freeform 400"/>
            <p:cNvSpPr>
              <a:spLocks/>
            </p:cNvSpPr>
            <p:nvPr/>
          </p:nvSpPr>
          <p:spPr bwMode="auto">
            <a:xfrm rot="10800000">
              <a:off x="5993796" y="3435623"/>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FF9900"/>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401"/>
            <p:cNvSpPr>
              <a:spLocks/>
            </p:cNvSpPr>
            <p:nvPr/>
          </p:nvSpPr>
          <p:spPr bwMode="auto">
            <a:xfrm rot="9000000">
              <a:off x="6395440" y="3321444"/>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FF9900"/>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402"/>
            <p:cNvSpPr>
              <a:spLocks/>
            </p:cNvSpPr>
            <p:nvPr/>
          </p:nvSpPr>
          <p:spPr bwMode="auto">
            <a:xfrm rot="12600000">
              <a:off x="5602899" y="3321444"/>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FF9900"/>
            </a:solidFill>
            <a:ln w="12700" cap="rnd">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403"/>
            <p:cNvSpPr>
              <a:spLocks/>
            </p:cNvSpPr>
            <p:nvPr/>
          </p:nvSpPr>
          <p:spPr bwMode="auto">
            <a:xfrm rot="19800000">
              <a:off x="7431117" y="4906526"/>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006699"/>
            </a:solidFill>
            <a:ln w="12700" cap="rnd">
              <a:solidFill>
                <a:srgbClr val="006699"/>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404"/>
            <p:cNvSpPr>
              <a:spLocks/>
            </p:cNvSpPr>
            <p:nvPr/>
          </p:nvSpPr>
          <p:spPr bwMode="auto">
            <a:xfrm rot="18000000">
              <a:off x="7240370" y="5149661"/>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006699"/>
            </a:solidFill>
            <a:ln w="12700" cap="rnd">
              <a:solidFill>
                <a:srgbClr val="006699"/>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405"/>
            <p:cNvSpPr>
              <a:spLocks/>
            </p:cNvSpPr>
            <p:nvPr/>
          </p:nvSpPr>
          <p:spPr bwMode="auto">
            <a:xfrm rot="16200000">
              <a:off x="7118131" y="5478767"/>
              <a:ext cx="182687" cy="182687"/>
            </a:xfrm>
            <a:custGeom>
              <a:avLst/>
              <a:gdLst>
                <a:gd name="T0" fmla="*/ 108188 w 453"/>
                <a:gd name="T1" fmla="*/ 0 h 454"/>
                <a:gd name="T2" fmla="*/ 0 w 453"/>
                <a:gd name="T3" fmla="*/ 215900 h 454"/>
                <a:gd name="T4" fmla="*/ 215900 w 453"/>
                <a:gd name="T5" fmla="*/ 215900 h 454"/>
                <a:gd name="T6" fmla="*/ 108188 w 453"/>
                <a:gd name="T7" fmla="*/ 0 h 454"/>
                <a:gd name="T8" fmla="*/ 0 60000 65536"/>
                <a:gd name="T9" fmla="*/ 0 60000 65536"/>
                <a:gd name="T10" fmla="*/ 0 60000 65536"/>
                <a:gd name="T11" fmla="*/ 0 60000 65536"/>
                <a:gd name="T12" fmla="*/ 0 w 453"/>
                <a:gd name="T13" fmla="*/ 0 h 454"/>
                <a:gd name="T14" fmla="*/ 453 w 453"/>
                <a:gd name="T15" fmla="*/ 454 h 454"/>
              </a:gdLst>
              <a:ahLst/>
              <a:cxnLst>
                <a:cxn ang="T8">
                  <a:pos x="T0" y="T1"/>
                </a:cxn>
                <a:cxn ang="T9">
                  <a:pos x="T2" y="T3"/>
                </a:cxn>
                <a:cxn ang="T10">
                  <a:pos x="T4" y="T5"/>
                </a:cxn>
                <a:cxn ang="T11">
                  <a:pos x="T6" y="T7"/>
                </a:cxn>
              </a:cxnLst>
              <a:rect l="T12" t="T13" r="T14" b="T15"/>
              <a:pathLst>
                <a:path w="453" h="454">
                  <a:moveTo>
                    <a:pt x="227" y="0"/>
                  </a:moveTo>
                  <a:lnTo>
                    <a:pt x="0" y="454"/>
                  </a:lnTo>
                  <a:lnTo>
                    <a:pt x="453" y="454"/>
                  </a:lnTo>
                  <a:lnTo>
                    <a:pt x="227" y="0"/>
                  </a:lnTo>
                  <a:close/>
                </a:path>
              </a:pathLst>
            </a:custGeom>
            <a:solidFill>
              <a:srgbClr val="006699"/>
            </a:solidFill>
            <a:ln w="12700" cap="rnd">
              <a:solidFill>
                <a:srgbClr val="006699"/>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 Box 412"/>
            <p:cNvSpPr txBox="1">
              <a:spLocks noChangeArrowheads="1"/>
            </p:cNvSpPr>
            <p:nvPr/>
          </p:nvSpPr>
          <p:spPr bwMode="auto">
            <a:xfrm>
              <a:off x="5426928" y="2659201"/>
              <a:ext cx="1280156" cy="338554"/>
            </a:xfrm>
            <a:prstGeom prst="rect">
              <a:avLst/>
            </a:prstGeom>
            <a:noFill/>
            <a:ln w="9525">
              <a:noFill/>
              <a:miter lim="800000"/>
              <a:headEnd/>
              <a:tailEnd/>
            </a:ln>
          </p:spPr>
          <p:txBody>
            <a:bodyPr anchor="ctr">
              <a:spAutoFit/>
            </a:bodyPr>
            <a:lstStyle/>
            <a:p>
              <a:pPr algn="ctr">
                <a:spcBef>
                  <a:spcPct val="50000"/>
                </a:spcBef>
              </a:pPr>
              <a:r>
                <a:rPr lang="zh-CN" altLang="en-US" sz="1600" b="1" dirty="0">
                  <a:latin typeface="Huawei Sans" panose="020C0503030203020204" pitchFamily="34" charset="0"/>
                  <a:ea typeface="方正兰亭黑简体" panose="02000000000000000000" pitchFamily="2" charset="-122"/>
                  <a:cs typeface="HY헤드라인M"/>
                  <a:sym typeface="Huawei Sans" panose="020C0503030203020204" pitchFamily="34" charset="0"/>
                </a:rPr>
                <a:t>高可用</a:t>
              </a:r>
              <a:r>
                <a:rPr lang="en-US" altLang="ko-KR" sz="1600" b="1" dirty="0">
                  <a:latin typeface="Huawei Sans" panose="020C0503030203020204" pitchFamily="34" charset="0"/>
                  <a:ea typeface="方正兰亭黑简体" panose="02000000000000000000" pitchFamily="2" charset="-122"/>
                  <a:cs typeface="HY헤드라인M"/>
                  <a:sym typeface="Huawei Sans" panose="020C0503030203020204" pitchFamily="34" charset="0"/>
                </a:rPr>
                <a:t> </a:t>
              </a:r>
            </a:p>
          </p:txBody>
        </p:sp>
        <p:sp>
          <p:nvSpPr>
            <p:cNvPr id="25" name="Text Box 413"/>
            <p:cNvSpPr txBox="1">
              <a:spLocks noChangeArrowheads="1"/>
            </p:cNvSpPr>
            <p:nvPr/>
          </p:nvSpPr>
          <p:spPr bwMode="auto">
            <a:xfrm>
              <a:off x="3652442" y="5392797"/>
              <a:ext cx="1280155" cy="338554"/>
            </a:xfrm>
            <a:prstGeom prst="rect">
              <a:avLst/>
            </a:prstGeom>
            <a:noFill/>
            <a:ln w="9525">
              <a:noFill/>
              <a:miter lim="800000"/>
              <a:headEnd/>
              <a:tailEnd/>
            </a:ln>
          </p:spPr>
          <p:txBody>
            <a:bodyPr anchor="ctr">
              <a:spAutoFit/>
            </a:bodyPr>
            <a:lstStyle/>
            <a:p>
              <a:pPr algn="ctr">
                <a:spcBef>
                  <a:spcPct val="50000"/>
                </a:spcBef>
              </a:pPr>
              <a:r>
                <a:rPr lang="zh-CN" altLang="en-US" sz="1600" b="1" dirty="0">
                  <a:latin typeface="Huawei Sans" panose="020C0503030203020204" pitchFamily="34" charset="0"/>
                  <a:ea typeface="方正兰亭黑简体" panose="02000000000000000000" pitchFamily="2" charset="-122"/>
                  <a:cs typeface="HY헤드라인M"/>
                  <a:sym typeface="Huawei Sans" panose="020C0503030203020204" pitchFamily="34" charset="0"/>
                </a:rPr>
                <a:t>超灵活</a:t>
              </a:r>
              <a:endParaRPr lang="en-US" altLang="ko-KR" sz="1600" b="1" dirty="0">
                <a:latin typeface="Huawei Sans" panose="020C0503030203020204" pitchFamily="34" charset="0"/>
                <a:ea typeface="方正兰亭黑简体" panose="02000000000000000000" pitchFamily="2" charset="-122"/>
                <a:cs typeface="HY헤드라인M"/>
                <a:sym typeface="Huawei Sans" panose="020C0503030203020204" pitchFamily="34" charset="0"/>
              </a:endParaRPr>
            </a:p>
          </p:txBody>
        </p:sp>
        <p:sp>
          <p:nvSpPr>
            <p:cNvPr id="26" name="Text Box 414"/>
            <p:cNvSpPr txBox="1">
              <a:spLocks noChangeArrowheads="1"/>
            </p:cNvSpPr>
            <p:nvPr/>
          </p:nvSpPr>
          <p:spPr bwMode="auto">
            <a:xfrm>
              <a:off x="7263992" y="5398201"/>
              <a:ext cx="1280156" cy="338554"/>
            </a:xfrm>
            <a:prstGeom prst="rect">
              <a:avLst/>
            </a:prstGeom>
            <a:noFill/>
            <a:ln w="9525">
              <a:noFill/>
              <a:miter lim="800000"/>
              <a:headEnd/>
              <a:tailEnd/>
            </a:ln>
          </p:spPr>
          <p:txBody>
            <a:bodyPr anchor="ctr">
              <a:spAutoFit/>
            </a:bodyPr>
            <a:lstStyle/>
            <a:p>
              <a:pPr algn="ctr">
                <a:spcBef>
                  <a:spcPct val="50000"/>
                </a:spcBef>
              </a:pPr>
              <a:r>
                <a:rPr lang="zh-CN" altLang="en-US" sz="1600" b="1" dirty="0">
                  <a:latin typeface="Huawei Sans" panose="020C0503030203020204" pitchFamily="34" charset="0"/>
                  <a:ea typeface="方正兰亭黑简体" panose="02000000000000000000" pitchFamily="2" charset="-122"/>
                  <a:cs typeface="HY헤드라인M"/>
                  <a:sym typeface="Huawei Sans" panose="020C0503030203020204" pitchFamily="34" charset="0"/>
                </a:rPr>
                <a:t>高性能</a:t>
              </a:r>
              <a:endParaRPr lang="en-US" altLang="ko-KR" sz="1600" b="1" dirty="0">
                <a:latin typeface="Huawei Sans" panose="020C0503030203020204" pitchFamily="34" charset="0"/>
                <a:ea typeface="方正兰亭黑简体" panose="02000000000000000000" pitchFamily="2" charset="-122"/>
                <a:cs typeface="HY헤드라인M"/>
                <a:sym typeface="Huawei Sans" panose="020C0503030203020204" pitchFamily="34" charset="0"/>
              </a:endParaRPr>
            </a:p>
          </p:txBody>
        </p:sp>
        <p:sp>
          <p:nvSpPr>
            <p:cNvPr id="27" name="Text Box 415"/>
            <p:cNvSpPr txBox="1">
              <a:spLocks noChangeArrowheads="1"/>
            </p:cNvSpPr>
            <p:nvPr/>
          </p:nvSpPr>
          <p:spPr bwMode="auto">
            <a:xfrm>
              <a:off x="5426928" y="4369210"/>
              <a:ext cx="1280156" cy="338554"/>
            </a:xfrm>
            <a:prstGeom prst="rect">
              <a:avLst/>
            </a:prstGeom>
            <a:noFill/>
            <a:ln w="9525">
              <a:noFill/>
              <a:miter lim="800000"/>
              <a:headEnd/>
              <a:tailEnd/>
            </a:ln>
          </p:spPr>
          <p:txBody>
            <a:bodyPr anchor="ctr">
              <a:spAutoFit/>
            </a:bodyPr>
            <a:lstStyle/>
            <a:p>
              <a:pPr algn="ctr">
                <a:spcBef>
                  <a:spcPct val="50000"/>
                </a:spcBef>
              </a:pPr>
              <a:r>
                <a:rPr lang="zh-CN" altLang="en-US" sz="1600" b="1" dirty="0">
                  <a:latin typeface="Huawei Sans" panose="020C0503030203020204" pitchFamily="34" charset="0"/>
                  <a:ea typeface="方正兰亭黑简体" panose="02000000000000000000" pitchFamily="2" charset="-122"/>
                  <a:cs typeface="HY헤드라인M"/>
                  <a:sym typeface="Huawei Sans" panose="020C0503030203020204" pitchFamily="34" charset="0"/>
                </a:rPr>
                <a:t>产品优势</a:t>
              </a:r>
              <a:endParaRPr lang="en-US" altLang="ko-KR" sz="1600" b="1" dirty="0">
                <a:latin typeface="Huawei Sans" panose="020C0503030203020204" pitchFamily="34" charset="0"/>
                <a:ea typeface="方正兰亭黑简体" panose="02000000000000000000" pitchFamily="2" charset="-122"/>
                <a:cs typeface="HY헤드라인M"/>
                <a:sym typeface="Huawei Sans" panose="020C0503030203020204" pitchFamily="34" charset="0"/>
              </a:endParaRPr>
            </a:p>
          </p:txBody>
        </p:sp>
      </p:grpSp>
    </p:spTree>
    <p:extLst>
      <p:ext uri="{BB962C8B-B14F-4D97-AF65-F5344CB8AC3E}">
        <p14:creationId xmlns:p14="http://schemas.microsoft.com/office/powerpoint/2010/main" val="2275394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高可用云上组网 </a:t>
            </a:r>
            <a:r>
              <a:rPr lang="en-US" altLang="zh-CN" dirty="0">
                <a:sym typeface="Huawei Sans" panose="020C0503030203020204" pitchFamily="34" charset="0"/>
              </a:rPr>
              <a:t>- </a:t>
            </a:r>
            <a:r>
              <a:rPr lang="zh-CN" altLang="en-US" dirty="0">
                <a:sym typeface="Huawei Sans" panose="020C0503030203020204" pitchFamily="34" charset="0"/>
              </a:rPr>
              <a:t>负载均衡 </a:t>
            </a:r>
            <a:r>
              <a:rPr lang="en-US" altLang="zh-CN" dirty="0">
                <a:sym typeface="Huawei Sans" panose="020C0503030203020204" pitchFamily="34" charset="0"/>
              </a:rPr>
              <a:t>(3)</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p:txBody>
          <a:bodyPr/>
          <a:lstStyle/>
          <a:p>
            <a:r>
              <a:rPr lang="zh-CN" altLang="en-US">
                <a:sym typeface="Huawei Sans" panose="020C0503030203020204" pitchFamily="34" charset="0"/>
              </a:rPr>
              <a:t>负载均衡方案</a:t>
            </a:r>
            <a:endParaRPr lang="en-US" altLang="zh-CN">
              <a:sym typeface="Huawei Sans" panose="020C0503030203020204" pitchFamily="34" charset="0"/>
            </a:endParaRPr>
          </a:p>
          <a:p>
            <a:pPr lvl="1"/>
            <a:r>
              <a:rPr lang="zh-CN" altLang="en-US">
                <a:sym typeface="Huawei Sans" panose="020C0503030203020204" pitchFamily="34" charset="0"/>
              </a:rPr>
              <a:t>在</a:t>
            </a:r>
            <a:r>
              <a:rPr lang="en-US" altLang="zh-CN">
                <a:sym typeface="Huawei Sans" panose="020C0503030203020204" pitchFamily="34" charset="0"/>
              </a:rPr>
              <a:t>VPC/</a:t>
            </a:r>
            <a:r>
              <a:rPr lang="zh-CN" altLang="en-US">
                <a:sym typeface="Huawei Sans" panose="020C0503030203020204" pitchFamily="34" charset="0"/>
              </a:rPr>
              <a:t>子网内创建弹性负载均衡实例作为服务接口对外提供服务</a:t>
            </a:r>
            <a:endParaRPr lang="en-US" altLang="zh-CN">
              <a:sym typeface="Huawei Sans" panose="020C0503030203020204" pitchFamily="34" charset="0"/>
            </a:endParaRPr>
          </a:p>
          <a:p>
            <a:pPr lvl="1"/>
            <a:r>
              <a:rPr lang="zh-CN" altLang="en-US">
                <a:sym typeface="Huawei Sans" panose="020C0503030203020204" pitchFamily="34" charset="0"/>
              </a:rPr>
              <a:t>实例内创建监听业务端口的监听器，配置监听器的后端服务器组，以及流量分发策略</a:t>
            </a:r>
            <a:endParaRPr lang="en-US" altLang="zh-CN">
              <a:sym typeface="Huawei Sans" panose="020C0503030203020204" pitchFamily="34" charset="0"/>
            </a:endParaRPr>
          </a:p>
          <a:p>
            <a:pPr lvl="1"/>
            <a:r>
              <a:rPr lang="zh-CN" altLang="en-US">
                <a:sym typeface="Huawei Sans" panose="020C0503030203020204" pitchFamily="34" charset="0"/>
              </a:rPr>
              <a:t>将负责业务处理的服务器加入到对应的后端服务器组中</a:t>
            </a:r>
            <a:endParaRPr lang="en-US" altLang="zh-CN" dirty="0">
              <a:sym typeface="Huawei Sans" panose="020C0503030203020204" pitchFamily="34" charset="0"/>
            </a:endParaRPr>
          </a:p>
        </p:txBody>
      </p:sp>
      <p:grpSp>
        <p:nvGrpSpPr>
          <p:cNvPr id="5" name="组合 4"/>
          <p:cNvGrpSpPr/>
          <p:nvPr/>
        </p:nvGrpSpPr>
        <p:grpSpPr>
          <a:xfrm>
            <a:off x="3179676" y="3347491"/>
            <a:ext cx="6228692" cy="2975092"/>
            <a:chOff x="3179676" y="3442240"/>
            <a:chExt cx="6228692" cy="2975092"/>
          </a:xfrm>
        </p:grpSpPr>
        <p:sp>
          <p:nvSpPr>
            <p:cNvPr id="7" name="矩形 6"/>
            <p:cNvSpPr/>
            <p:nvPr/>
          </p:nvSpPr>
          <p:spPr bwMode="auto">
            <a:xfrm>
              <a:off x="3179676" y="3442240"/>
              <a:ext cx="6228692" cy="2975092"/>
            </a:xfrm>
            <a:prstGeom prst="rect">
              <a:avLst/>
            </a:prstGeom>
            <a:noFill/>
            <a:ln w="19050" cap="flat" cmpd="sng" algn="ctr">
              <a:solidFill>
                <a:srgbClr val="3298FF"/>
              </a:solidFill>
              <a:prstDash val="sysDash"/>
              <a:round/>
              <a:headEnd type="none" w="med" len="med"/>
              <a:tailEnd type="none" w="med" len="med"/>
            </a:ln>
            <a:effectLst/>
          </p:spPr>
          <p:txBody>
            <a:bodyPr vert="horz" wrap="square" lIns="68553" tIns="34277" rIns="68553" bIns="34277" numCol="1" rtlCol="0" anchor="t" anchorCtr="0" compatLnSpc="1">
              <a:prstTxWarp prst="textNoShape">
                <a:avLst/>
              </a:prstTxWarp>
            </a:bodyPr>
            <a:lstStyle/>
            <a:p>
              <a:pPr defTabSz="685526">
                <a:buClr>
                  <a:srgbClr val="CC9900"/>
                </a:buClr>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53"/>
            <p:cNvSpPr txBox="1"/>
            <p:nvPr/>
          </p:nvSpPr>
          <p:spPr>
            <a:xfrm>
              <a:off x="3291446" y="3552957"/>
              <a:ext cx="280526" cy="184666"/>
            </a:xfrm>
            <a:prstGeom prst="rect">
              <a:avLst/>
            </a:prstGeom>
            <a:noFill/>
          </p:spPr>
          <p:txBody>
            <a:bodyPr wrap="none" lIns="0" tIns="0" rIns="0" bIns="0" rtlCol="0">
              <a:spAutoFit/>
            </a:bodyPr>
            <a:lstStyle/>
            <a:p>
              <a:pPr defTabSz="685526">
                <a:buClr>
                  <a:srgbClr val="CC9900"/>
                </a:buClr>
              </a:pPr>
              <a:r>
                <a:rPr lang="en-US" altLang="zh-CN" sz="1200" dirty="0">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VPC</a:t>
              </a:r>
              <a:endParaRPr lang="zh-CN" altLang="en-US" sz="1200" dirty="0" err="1">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 name="矩形 8"/>
            <p:cNvSpPr/>
            <p:nvPr/>
          </p:nvSpPr>
          <p:spPr bwMode="auto">
            <a:xfrm>
              <a:off x="7644437" y="3727997"/>
              <a:ext cx="1556629" cy="2545320"/>
            </a:xfrm>
            <a:prstGeom prst="rect">
              <a:avLst/>
            </a:prstGeom>
            <a:noFill/>
            <a:ln w="19050" cap="flat" cmpd="sng" algn="ctr">
              <a:solidFill>
                <a:srgbClr val="3298FF"/>
              </a:solidFill>
              <a:prstDash val="sysDash"/>
              <a:round/>
              <a:headEnd type="none" w="med" len="med"/>
              <a:tailEnd type="none" w="med" len="med"/>
            </a:ln>
            <a:effectLst/>
          </p:spPr>
          <p:txBody>
            <a:bodyPr vert="horz" wrap="square" lIns="68553" tIns="34277" rIns="68553" bIns="34277" numCol="1" rtlCol="0" anchor="t" anchorCtr="0" compatLnSpc="1">
              <a:prstTxWarp prst="textNoShape">
                <a:avLst/>
              </a:prstTxWarp>
            </a:bodyPr>
            <a:lstStyle/>
            <a:p>
              <a:pPr defTabSz="685526">
                <a:buClr>
                  <a:srgbClr val="CC9900"/>
                </a:buClr>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53"/>
            <p:cNvSpPr txBox="1"/>
            <p:nvPr/>
          </p:nvSpPr>
          <p:spPr>
            <a:xfrm>
              <a:off x="7732420" y="3977863"/>
              <a:ext cx="1373774" cy="184666"/>
            </a:xfrm>
            <a:prstGeom prst="rect">
              <a:avLst/>
            </a:prstGeom>
            <a:noFill/>
          </p:spPr>
          <p:txBody>
            <a:bodyPr wrap="none" lIns="0" tIns="0" rIns="0" bIns="0" rtlCol="0">
              <a:spAutoFit/>
            </a:bodyPr>
            <a:lstStyle/>
            <a:p>
              <a:pPr defTabSz="685526">
                <a:buClr>
                  <a:srgbClr val="CC9900"/>
                </a:buClr>
              </a:pPr>
              <a:r>
                <a:rPr lang="zh-CN" altLang="en-US" sz="1200" dirty="0">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子网</a:t>
              </a:r>
              <a:r>
                <a:rPr lang="en-US" altLang="zh-CN" sz="1200" dirty="0">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:192.168.1.0/24</a:t>
              </a:r>
              <a:endParaRPr lang="zh-CN" altLang="en-US" sz="1200" dirty="0" err="1">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00378" y="5112256"/>
              <a:ext cx="282845" cy="313015"/>
            </a:xfrm>
            <a:prstGeom prst="rect">
              <a:avLst/>
            </a:prstGeom>
            <a:solidFill>
              <a:schemeClr val="bg1"/>
            </a:solidFill>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68435" y="4732112"/>
              <a:ext cx="362520" cy="362520"/>
            </a:xfrm>
            <a:prstGeom prst="rect">
              <a:avLst/>
            </a:prstGeom>
          </p:spPr>
        </p:pic>
        <p:cxnSp>
          <p:nvCxnSpPr>
            <p:cNvPr id="13" name="直接连接符 12"/>
            <p:cNvCxnSpPr>
              <a:stCxn id="21" idx="3"/>
              <a:endCxn id="12" idx="1"/>
            </p:cNvCxnSpPr>
            <p:nvPr/>
          </p:nvCxnSpPr>
          <p:spPr bwMode="auto">
            <a:xfrm flipV="1">
              <a:off x="6598867" y="4913372"/>
              <a:ext cx="269568" cy="386726"/>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4" name="直接连接符 13"/>
            <p:cNvCxnSpPr>
              <a:stCxn id="11" idx="1"/>
              <a:endCxn id="12" idx="3"/>
            </p:cNvCxnSpPr>
            <p:nvPr/>
          </p:nvCxnSpPr>
          <p:spPr bwMode="auto">
            <a:xfrm flipH="1" flipV="1">
              <a:off x="7230955" y="4913372"/>
              <a:ext cx="269423" cy="355392"/>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15" name="TextBox 320"/>
            <p:cNvSpPr txBox="1"/>
            <p:nvPr/>
          </p:nvSpPr>
          <p:spPr>
            <a:xfrm>
              <a:off x="6826998" y="4461453"/>
              <a:ext cx="461665" cy="184666"/>
            </a:xfrm>
            <a:prstGeom prst="rect">
              <a:avLst/>
            </a:prstGeom>
            <a:noFill/>
          </p:spPr>
          <p:txBody>
            <a:bodyPr wrap="none" lIns="0" tIns="0" rIns="0" bIns="0" rtlCol="0">
              <a:spAutoFit/>
            </a:bodyPr>
            <a:lstStyle/>
            <a:p>
              <a:pPr defTabSz="914400" fontAlgn="base">
                <a:spcBef>
                  <a:spcPct val="0"/>
                </a:spcBef>
                <a:spcAft>
                  <a:spcPct val="0"/>
                </a:spcAft>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路由器</a:t>
              </a:r>
            </a:p>
          </p:txBody>
        </p:sp>
        <p:sp>
          <p:nvSpPr>
            <p:cNvPr id="16" name="圆角矩形 15"/>
            <p:cNvSpPr/>
            <p:nvPr/>
          </p:nvSpPr>
          <p:spPr bwMode="auto">
            <a:xfrm>
              <a:off x="8210754" y="4974863"/>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26"/>
            <p:cNvSpPr txBox="1"/>
            <p:nvPr/>
          </p:nvSpPr>
          <p:spPr>
            <a:xfrm>
              <a:off x="8185593" y="5061365"/>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TextBox 38"/>
            <p:cNvSpPr txBox="1"/>
            <p:nvPr/>
          </p:nvSpPr>
          <p:spPr>
            <a:xfrm>
              <a:off x="7874786" y="5522690"/>
              <a:ext cx="1156086" cy="276999"/>
            </a:xfrm>
            <a:prstGeom prst="rect">
              <a:avLst/>
            </a:prstGeom>
            <a:noFill/>
          </p:spPr>
          <p:txBody>
            <a:bodyPr wrap="none" rtlCol="0">
              <a:spAutoFit/>
            </a:bodyPr>
            <a:lstStyle/>
            <a:p>
              <a:pPr algn="ctr" defTabSz="914400" fontAlgn="base">
                <a:spcBef>
                  <a:spcPct val="0"/>
                </a:spcBef>
                <a:spcAft>
                  <a:spcPct val="0"/>
                </a:spcAft>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192.168.1.100</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auto">
            <a:xfrm>
              <a:off x="3323692" y="3727996"/>
              <a:ext cx="3133542" cy="2545320"/>
            </a:xfrm>
            <a:prstGeom prst="rect">
              <a:avLst/>
            </a:prstGeom>
            <a:noFill/>
            <a:ln w="19050" cap="flat" cmpd="sng" algn="ctr">
              <a:solidFill>
                <a:srgbClr val="3298FF"/>
              </a:solidFill>
              <a:prstDash val="sysDash"/>
              <a:round/>
              <a:headEnd type="none" w="med" len="med"/>
              <a:tailEnd type="none" w="med" len="med"/>
            </a:ln>
            <a:effectLst/>
          </p:spPr>
          <p:txBody>
            <a:bodyPr vert="horz" wrap="square" lIns="68553" tIns="34277" rIns="68553" bIns="34277" numCol="1" rtlCol="0" anchor="t" anchorCtr="0" compatLnSpc="1">
              <a:prstTxWarp prst="textNoShape">
                <a:avLst/>
              </a:prstTxWarp>
            </a:bodyPr>
            <a:lstStyle/>
            <a:p>
              <a:pPr defTabSz="685526">
                <a:buClr>
                  <a:srgbClr val="CC9900"/>
                </a:buClr>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53"/>
            <p:cNvSpPr txBox="1"/>
            <p:nvPr/>
          </p:nvSpPr>
          <p:spPr>
            <a:xfrm>
              <a:off x="3390832" y="3794010"/>
              <a:ext cx="1373774" cy="184666"/>
            </a:xfrm>
            <a:prstGeom prst="rect">
              <a:avLst/>
            </a:prstGeom>
            <a:noFill/>
          </p:spPr>
          <p:txBody>
            <a:bodyPr wrap="none" lIns="0" tIns="0" rIns="0" bIns="0" rtlCol="0">
              <a:spAutoFit/>
            </a:bodyPr>
            <a:lstStyle/>
            <a:p>
              <a:pPr defTabSz="685526">
                <a:buClr>
                  <a:srgbClr val="CC9900"/>
                </a:buClr>
              </a:pPr>
              <a:r>
                <a:rPr lang="zh-CN" altLang="en-US" sz="1200" dirty="0">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子网</a:t>
              </a:r>
              <a:r>
                <a:rPr lang="en-US" altLang="zh-CN" sz="1200" dirty="0">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:192.168.2.0/24</a:t>
              </a:r>
              <a:endParaRPr lang="zh-CN" altLang="en-US" sz="1200" dirty="0" err="1">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6022" y="5143590"/>
              <a:ext cx="282845" cy="313015"/>
            </a:xfrm>
            <a:prstGeom prst="rect">
              <a:avLst/>
            </a:prstGeom>
            <a:solidFill>
              <a:schemeClr val="bg1"/>
            </a:solidFill>
          </p:spPr>
        </p:pic>
        <p:sp>
          <p:nvSpPr>
            <p:cNvPr id="22" name="圆角矩形 21"/>
            <p:cNvSpPr/>
            <p:nvPr/>
          </p:nvSpPr>
          <p:spPr bwMode="auto">
            <a:xfrm>
              <a:off x="3515379" y="5610017"/>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26"/>
            <p:cNvSpPr txBox="1"/>
            <p:nvPr/>
          </p:nvSpPr>
          <p:spPr>
            <a:xfrm>
              <a:off x="3490218" y="5696519"/>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38"/>
            <p:cNvSpPr txBox="1"/>
            <p:nvPr/>
          </p:nvSpPr>
          <p:spPr>
            <a:xfrm>
              <a:off x="3947191" y="5784581"/>
              <a:ext cx="1069525" cy="276999"/>
            </a:xfrm>
            <a:prstGeom prst="rect">
              <a:avLst/>
            </a:prstGeom>
            <a:noFill/>
          </p:spPr>
          <p:txBody>
            <a:bodyPr wrap="none" rtlCol="0">
              <a:spAutoFit/>
            </a:bodyPr>
            <a:lstStyle/>
            <a:p>
              <a:pPr algn="ctr" defTabSz="914400" fontAlgn="base">
                <a:spcBef>
                  <a:spcPct val="0"/>
                </a:spcBef>
                <a:spcAft>
                  <a:spcPct val="0"/>
                </a:spcAft>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192.168.2.10</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bwMode="auto">
            <a:xfrm>
              <a:off x="3516681" y="4336446"/>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6"/>
            <p:cNvSpPr txBox="1"/>
            <p:nvPr/>
          </p:nvSpPr>
          <p:spPr>
            <a:xfrm>
              <a:off x="3491520" y="4422948"/>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38"/>
            <p:cNvSpPr txBox="1"/>
            <p:nvPr/>
          </p:nvSpPr>
          <p:spPr>
            <a:xfrm>
              <a:off x="3964633" y="4453045"/>
              <a:ext cx="1069524"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192.168.2.20</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38"/>
            <p:cNvSpPr txBox="1"/>
            <p:nvPr/>
          </p:nvSpPr>
          <p:spPr>
            <a:xfrm>
              <a:off x="5342184" y="5707519"/>
              <a:ext cx="1415772" cy="646331"/>
            </a:xfrm>
            <a:prstGeom prst="rect">
              <a:avLst/>
            </a:prstGeom>
            <a:noFill/>
          </p:spPr>
          <p:txBody>
            <a:bodyPr wrap="none" rtlCol="0">
              <a:spAutoFit/>
            </a:bodyPr>
            <a:lstStyle/>
            <a:p>
              <a:pPr algn="ctr" fontAlgn="base">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弹性负载均衡实例</a:t>
              </a:r>
            </a:p>
            <a:p>
              <a:pPr algn="ctr" defTabSz="914400" fontAlgn="base">
                <a:spcBef>
                  <a:spcPct val="0"/>
                </a:spcBef>
                <a:spcAft>
                  <a:spcPct val="0"/>
                </a:spcAft>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192.168.2.11</a:t>
              </a:r>
            </a:p>
            <a:p>
              <a:pPr algn="ctr" defTabSz="914400" fontAlgn="base">
                <a:spcBef>
                  <a:spcPct val="0"/>
                </a:spcBef>
                <a:spcAft>
                  <a:spcPct val="0"/>
                </a:spcAft>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监听器端口：</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圆角矩形 33"/>
            <p:cNvSpPr/>
            <p:nvPr/>
          </p:nvSpPr>
          <p:spPr bwMode="auto">
            <a:xfrm>
              <a:off x="3516681" y="4975530"/>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26"/>
            <p:cNvSpPr txBox="1"/>
            <p:nvPr/>
          </p:nvSpPr>
          <p:spPr>
            <a:xfrm>
              <a:off x="3491520" y="5062032"/>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38"/>
            <p:cNvSpPr txBox="1"/>
            <p:nvPr/>
          </p:nvSpPr>
          <p:spPr>
            <a:xfrm>
              <a:off x="3964633" y="5092129"/>
              <a:ext cx="1069524"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192.168.2.15</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组合 39"/>
            <p:cNvGrpSpPr/>
            <p:nvPr/>
          </p:nvGrpSpPr>
          <p:grpSpPr>
            <a:xfrm>
              <a:off x="5447785" y="4998133"/>
              <a:ext cx="449263" cy="449262"/>
              <a:chOff x="8214829" y="4148052"/>
              <a:chExt cx="449263" cy="449262"/>
            </a:xfrm>
          </p:grpSpPr>
          <p:sp>
            <p:nvSpPr>
              <p:cNvPr id="41" name="Freeform 55"/>
              <p:cNvSpPr>
                <a:spLocks noEditPoints="1"/>
              </p:cNvSpPr>
              <p:nvPr/>
            </p:nvSpPr>
            <p:spPr bwMode="auto">
              <a:xfrm>
                <a:off x="8214829" y="4148052"/>
                <a:ext cx="449263" cy="449262"/>
              </a:xfrm>
              <a:custGeom>
                <a:avLst/>
                <a:gdLst/>
                <a:ahLst/>
                <a:cxnLst>
                  <a:cxn ang="0">
                    <a:pos x="60" y="6"/>
                  </a:cxn>
                  <a:cxn ang="0">
                    <a:pos x="114" y="60"/>
                  </a:cxn>
                  <a:cxn ang="0">
                    <a:pos x="60" y="115"/>
                  </a:cxn>
                  <a:cxn ang="0">
                    <a:pos x="5" y="60"/>
                  </a:cxn>
                  <a:cxn ang="0">
                    <a:pos x="60" y="6"/>
                  </a:cxn>
                  <a:cxn ang="0">
                    <a:pos x="60" y="0"/>
                  </a:cxn>
                  <a:cxn ang="0">
                    <a:pos x="0" y="60"/>
                  </a:cxn>
                  <a:cxn ang="0">
                    <a:pos x="60" y="120"/>
                  </a:cxn>
                  <a:cxn ang="0">
                    <a:pos x="120" y="60"/>
                  </a:cxn>
                  <a:cxn ang="0">
                    <a:pos x="60" y="0"/>
                  </a:cxn>
                </a:cxnLst>
                <a:rect l="0" t="0" r="r" b="b"/>
                <a:pathLst>
                  <a:path w="120" h="120">
                    <a:moveTo>
                      <a:pt x="60" y="6"/>
                    </a:moveTo>
                    <a:cubicBezTo>
                      <a:pt x="90" y="6"/>
                      <a:pt x="114" y="30"/>
                      <a:pt x="114" y="60"/>
                    </a:cubicBezTo>
                    <a:cubicBezTo>
                      <a:pt x="114" y="91"/>
                      <a:pt x="90" y="115"/>
                      <a:pt x="60" y="115"/>
                    </a:cubicBezTo>
                    <a:cubicBezTo>
                      <a:pt x="30" y="115"/>
                      <a:pt x="5" y="91"/>
                      <a:pt x="5" y="60"/>
                    </a:cubicBezTo>
                    <a:cubicBezTo>
                      <a:pt x="5" y="30"/>
                      <a:pt x="30" y="6"/>
                      <a:pt x="60" y="6"/>
                    </a:cubicBezTo>
                    <a:moveTo>
                      <a:pt x="60" y="0"/>
                    </a:moveTo>
                    <a:cubicBezTo>
                      <a:pt x="27" y="0"/>
                      <a:pt x="0" y="27"/>
                      <a:pt x="0" y="60"/>
                    </a:cubicBezTo>
                    <a:cubicBezTo>
                      <a:pt x="0" y="94"/>
                      <a:pt x="27" y="120"/>
                      <a:pt x="60" y="120"/>
                    </a:cubicBezTo>
                    <a:cubicBezTo>
                      <a:pt x="93" y="120"/>
                      <a:pt x="120" y="94"/>
                      <a:pt x="120" y="60"/>
                    </a:cubicBezTo>
                    <a:cubicBezTo>
                      <a:pt x="120" y="27"/>
                      <a:pt x="93" y="0"/>
                      <a:pt x="60" y="0"/>
                    </a:cubicBezTo>
                    <a:close/>
                  </a:path>
                </a:pathLst>
              </a:custGeom>
              <a:solidFill>
                <a:srgbClr val="3298FF"/>
              </a:solid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328"/>
              <p:cNvGrpSpPr/>
              <p:nvPr/>
            </p:nvGrpSpPr>
            <p:grpSpPr>
              <a:xfrm>
                <a:off x="8279632" y="4191549"/>
                <a:ext cx="331666" cy="343710"/>
                <a:chOff x="3300418" y="4514854"/>
                <a:chExt cx="655640" cy="679448"/>
              </a:xfrm>
              <a:solidFill>
                <a:srgbClr val="72A7DF"/>
              </a:solidFill>
            </p:grpSpPr>
            <p:sp>
              <p:nvSpPr>
                <p:cNvPr id="43" name="Oval 80"/>
                <p:cNvSpPr>
                  <a:spLocks noChangeArrowheads="1"/>
                </p:cNvSpPr>
                <p:nvPr/>
              </p:nvSpPr>
              <p:spPr bwMode="auto">
                <a:xfrm>
                  <a:off x="3573471" y="4514854"/>
                  <a:ext cx="104775" cy="104775"/>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Oval 81"/>
                <p:cNvSpPr>
                  <a:spLocks noChangeArrowheads="1"/>
                </p:cNvSpPr>
                <p:nvPr/>
              </p:nvSpPr>
              <p:spPr bwMode="auto">
                <a:xfrm>
                  <a:off x="3584582" y="5114927"/>
                  <a:ext cx="79375" cy="79375"/>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Oval 82"/>
                <p:cNvSpPr>
                  <a:spLocks noChangeArrowheads="1"/>
                </p:cNvSpPr>
                <p:nvPr/>
              </p:nvSpPr>
              <p:spPr bwMode="auto">
                <a:xfrm>
                  <a:off x="3300418" y="4946651"/>
                  <a:ext cx="77788" cy="7778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Oval 83"/>
                <p:cNvSpPr>
                  <a:spLocks noChangeArrowheads="1"/>
                </p:cNvSpPr>
                <p:nvPr/>
              </p:nvSpPr>
              <p:spPr bwMode="auto">
                <a:xfrm>
                  <a:off x="3876683" y="4946651"/>
                  <a:ext cx="79375" cy="7778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Freeform 84"/>
                <p:cNvSpPr>
                  <a:spLocks/>
                </p:cNvSpPr>
                <p:nvPr/>
              </p:nvSpPr>
              <p:spPr bwMode="auto">
                <a:xfrm>
                  <a:off x="3617921" y="4556126"/>
                  <a:ext cx="15874" cy="608013"/>
                </a:xfrm>
                <a:custGeom>
                  <a:avLst/>
                  <a:gdLst/>
                  <a:ahLst/>
                  <a:cxnLst>
                    <a:cxn ang="0">
                      <a:pos x="2" y="162"/>
                    </a:cxn>
                    <a:cxn ang="0">
                      <a:pos x="0" y="160"/>
                    </a:cxn>
                    <a:cxn ang="0">
                      <a:pos x="0" y="2"/>
                    </a:cxn>
                    <a:cxn ang="0">
                      <a:pos x="2" y="0"/>
                    </a:cxn>
                    <a:cxn ang="0">
                      <a:pos x="4" y="2"/>
                    </a:cxn>
                    <a:cxn ang="0">
                      <a:pos x="4" y="160"/>
                    </a:cxn>
                    <a:cxn ang="0">
                      <a:pos x="2" y="162"/>
                    </a:cxn>
                  </a:cxnLst>
                  <a:rect l="0" t="0" r="r" b="b"/>
                  <a:pathLst>
                    <a:path w="4" h="162">
                      <a:moveTo>
                        <a:pt x="2" y="162"/>
                      </a:moveTo>
                      <a:cubicBezTo>
                        <a:pt x="1" y="162"/>
                        <a:pt x="0" y="161"/>
                        <a:pt x="0" y="160"/>
                      </a:cubicBezTo>
                      <a:cubicBezTo>
                        <a:pt x="0" y="2"/>
                        <a:pt x="0" y="2"/>
                        <a:pt x="0" y="2"/>
                      </a:cubicBezTo>
                      <a:cubicBezTo>
                        <a:pt x="0" y="1"/>
                        <a:pt x="1" y="0"/>
                        <a:pt x="2" y="0"/>
                      </a:cubicBezTo>
                      <a:cubicBezTo>
                        <a:pt x="3" y="0"/>
                        <a:pt x="4" y="1"/>
                        <a:pt x="4" y="2"/>
                      </a:cubicBezTo>
                      <a:cubicBezTo>
                        <a:pt x="4" y="160"/>
                        <a:pt x="4" y="160"/>
                        <a:pt x="4" y="160"/>
                      </a:cubicBezTo>
                      <a:cubicBezTo>
                        <a:pt x="4" y="161"/>
                        <a:pt x="3" y="162"/>
                        <a:pt x="2" y="162"/>
                      </a:cubicBezTo>
                      <a:close/>
                    </a:path>
                  </a:pathLst>
                </a:custGeom>
                <a:solidFill>
                  <a:srgbClr val="3298FF"/>
                </a:solid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Freeform 85"/>
                <p:cNvSpPr>
                  <a:spLocks/>
                </p:cNvSpPr>
                <p:nvPr/>
              </p:nvSpPr>
              <p:spPr bwMode="auto">
                <a:xfrm>
                  <a:off x="3325813" y="4556125"/>
                  <a:ext cx="603250" cy="619125"/>
                </a:xfrm>
                <a:custGeom>
                  <a:avLst/>
                  <a:gdLst/>
                  <a:ahLst/>
                  <a:cxnLst>
                    <a:cxn ang="0">
                      <a:pos x="80" y="165"/>
                    </a:cxn>
                    <a:cxn ang="0">
                      <a:pos x="78" y="164"/>
                    </a:cxn>
                    <a:cxn ang="0">
                      <a:pos x="2" y="117"/>
                    </a:cxn>
                    <a:cxn ang="0">
                      <a:pos x="0" y="115"/>
                    </a:cxn>
                    <a:cxn ang="0">
                      <a:pos x="1" y="112"/>
                    </a:cxn>
                    <a:cxn ang="0">
                      <a:pos x="75" y="2"/>
                    </a:cxn>
                    <a:cxn ang="0">
                      <a:pos x="79" y="1"/>
                    </a:cxn>
                    <a:cxn ang="0">
                      <a:pos x="80" y="5"/>
                    </a:cxn>
                    <a:cxn ang="0">
                      <a:pos x="7" y="113"/>
                    </a:cxn>
                    <a:cxn ang="0">
                      <a:pos x="80" y="158"/>
                    </a:cxn>
                    <a:cxn ang="0">
                      <a:pos x="156" y="113"/>
                    </a:cxn>
                    <a:cxn ang="0">
                      <a:pos x="160" y="114"/>
                    </a:cxn>
                    <a:cxn ang="0">
                      <a:pos x="159" y="118"/>
                    </a:cxn>
                    <a:cxn ang="0">
                      <a:pos x="81" y="164"/>
                    </a:cxn>
                    <a:cxn ang="0">
                      <a:pos x="80" y="165"/>
                    </a:cxn>
                  </a:cxnLst>
                  <a:rect l="0" t="0" r="r" b="b"/>
                  <a:pathLst>
                    <a:path w="161" h="165">
                      <a:moveTo>
                        <a:pt x="80" y="165"/>
                      </a:moveTo>
                      <a:cubicBezTo>
                        <a:pt x="79" y="165"/>
                        <a:pt x="79" y="164"/>
                        <a:pt x="78" y="164"/>
                      </a:cubicBezTo>
                      <a:cubicBezTo>
                        <a:pt x="2" y="117"/>
                        <a:pt x="2" y="117"/>
                        <a:pt x="2" y="117"/>
                      </a:cubicBezTo>
                      <a:cubicBezTo>
                        <a:pt x="1" y="116"/>
                        <a:pt x="0" y="115"/>
                        <a:pt x="0" y="115"/>
                      </a:cubicBezTo>
                      <a:cubicBezTo>
                        <a:pt x="0" y="114"/>
                        <a:pt x="0" y="113"/>
                        <a:pt x="1" y="112"/>
                      </a:cubicBezTo>
                      <a:cubicBezTo>
                        <a:pt x="75" y="2"/>
                        <a:pt x="75" y="2"/>
                        <a:pt x="75" y="2"/>
                      </a:cubicBezTo>
                      <a:cubicBezTo>
                        <a:pt x="76" y="0"/>
                        <a:pt x="78" y="0"/>
                        <a:pt x="79" y="1"/>
                      </a:cubicBezTo>
                      <a:cubicBezTo>
                        <a:pt x="81" y="2"/>
                        <a:pt x="81" y="4"/>
                        <a:pt x="80" y="5"/>
                      </a:cubicBezTo>
                      <a:cubicBezTo>
                        <a:pt x="7" y="113"/>
                        <a:pt x="7" y="113"/>
                        <a:pt x="7" y="113"/>
                      </a:cubicBezTo>
                      <a:cubicBezTo>
                        <a:pt x="80" y="158"/>
                        <a:pt x="80" y="158"/>
                        <a:pt x="80" y="158"/>
                      </a:cubicBezTo>
                      <a:cubicBezTo>
                        <a:pt x="156" y="113"/>
                        <a:pt x="156" y="113"/>
                        <a:pt x="156" y="113"/>
                      </a:cubicBezTo>
                      <a:cubicBezTo>
                        <a:pt x="157" y="112"/>
                        <a:pt x="159" y="113"/>
                        <a:pt x="160" y="114"/>
                      </a:cubicBezTo>
                      <a:cubicBezTo>
                        <a:pt x="161" y="116"/>
                        <a:pt x="160" y="117"/>
                        <a:pt x="159" y="118"/>
                      </a:cubicBezTo>
                      <a:cubicBezTo>
                        <a:pt x="81" y="164"/>
                        <a:pt x="81" y="164"/>
                        <a:pt x="81" y="164"/>
                      </a:cubicBezTo>
                      <a:cubicBezTo>
                        <a:pt x="81" y="164"/>
                        <a:pt x="80" y="165"/>
                        <a:pt x="80" y="165"/>
                      </a:cubicBezTo>
                      <a:close/>
                    </a:path>
                  </a:pathLst>
                </a:custGeom>
                <a:solidFill>
                  <a:srgbClr val="3298FF"/>
                </a:solid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86"/>
                <p:cNvSpPr>
                  <a:spLocks/>
                </p:cNvSpPr>
                <p:nvPr/>
              </p:nvSpPr>
              <p:spPr bwMode="auto">
                <a:xfrm>
                  <a:off x="3611570" y="4552950"/>
                  <a:ext cx="317501" cy="441326"/>
                </a:xfrm>
                <a:custGeom>
                  <a:avLst/>
                  <a:gdLst/>
                  <a:ahLst/>
                  <a:cxnLst>
                    <a:cxn ang="0">
                      <a:pos x="81" y="118"/>
                    </a:cxn>
                    <a:cxn ang="0">
                      <a:pos x="79" y="117"/>
                    </a:cxn>
                    <a:cxn ang="0">
                      <a:pos x="1" y="5"/>
                    </a:cxn>
                    <a:cxn ang="0">
                      <a:pos x="2" y="1"/>
                    </a:cxn>
                    <a:cxn ang="0">
                      <a:pos x="6" y="2"/>
                    </a:cxn>
                    <a:cxn ang="0">
                      <a:pos x="84" y="113"/>
                    </a:cxn>
                    <a:cxn ang="0">
                      <a:pos x="83" y="118"/>
                    </a:cxn>
                    <a:cxn ang="0">
                      <a:pos x="81" y="118"/>
                    </a:cxn>
                  </a:cxnLst>
                  <a:rect l="0" t="0" r="r" b="b"/>
                  <a:pathLst>
                    <a:path w="85" h="118">
                      <a:moveTo>
                        <a:pt x="81" y="118"/>
                      </a:moveTo>
                      <a:cubicBezTo>
                        <a:pt x="81" y="118"/>
                        <a:pt x="80" y="118"/>
                        <a:pt x="79" y="117"/>
                      </a:cubicBezTo>
                      <a:cubicBezTo>
                        <a:pt x="1" y="5"/>
                        <a:pt x="1" y="5"/>
                        <a:pt x="1" y="5"/>
                      </a:cubicBezTo>
                      <a:cubicBezTo>
                        <a:pt x="0" y="4"/>
                        <a:pt x="1" y="2"/>
                        <a:pt x="2" y="1"/>
                      </a:cubicBezTo>
                      <a:cubicBezTo>
                        <a:pt x="3" y="0"/>
                        <a:pt x="5" y="1"/>
                        <a:pt x="6" y="2"/>
                      </a:cubicBezTo>
                      <a:cubicBezTo>
                        <a:pt x="84" y="113"/>
                        <a:pt x="84" y="113"/>
                        <a:pt x="84" y="113"/>
                      </a:cubicBezTo>
                      <a:cubicBezTo>
                        <a:pt x="85" y="115"/>
                        <a:pt x="85" y="117"/>
                        <a:pt x="83" y="118"/>
                      </a:cubicBezTo>
                      <a:cubicBezTo>
                        <a:pt x="83" y="118"/>
                        <a:pt x="82" y="118"/>
                        <a:pt x="81" y="118"/>
                      </a:cubicBezTo>
                      <a:close/>
                    </a:path>
                  </a:pathLst>
                </a:custGeom>
                <a:solidFill>
                  <a:srgbClr val="3298FF"/>
                </a:solid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87"/>
                <p:cNvSpPr>
                  <a:spLocks/>
                </p:cNvSpPr>
                <p:nvPr/>
              </p:nvSpPr>
              <p:spPr bwMode="auto">
                <a:xfrm>
                  <a:off x="3581407" y="4811708"/>
                  <a:ext cx="85725" cy="101601"/>
                </a:xfrm>
                <a:custGeom>
                  <a:avLst/>
                  <a:gdLst/>
                  <a:ahLst/>
                  <a:cxnLst>
                    <a:cxn ang="0">
                      <a:pos x="28" y="64"/>
                    </a:cxn>
                    <a:cxn ang="0">
                      <a:pos x="0" y="0"/>
                    </a:cxn>
                    <a:cxn ang="0">
                      <a:pos x="54" y="0"/>
                    </a:cxn>
                    <a:cxn ang="0">
                      <a:pos x="28" y="64"/>
                    </a:cxn>
                  </a:cxnLst>
                  <a:rect l="0" t="0" r="r" b="b"/>
                  <a:pathLst>
                    <a:path w="54" h="64">
                      <a:moveTo>
                        <a:pt x="28" y="64"/>
                      </a:moveTo>
                      <a:lnTo>
                        <a:pt x="0" y="0"/>
                      </a:lnTo>
                      <a:lnTo>
                        <a:pt x="54" y="0"/>
                      </a:lnTo>
                      <a:lnTo>
                        <a:pt x="28" y="6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88"/>
                <p:cNvSpPr>
                  <a:spLocks/>
                </p:cNvSpPr>
                <p:nvPr/>
              </p:nvSpPr>
              <p:spPr bwMode="auto">
                <a:xfrm>
                  <a:off x="3741747" y="4759327"/>
                  <a:ext cx="93662" cy="104775"/>
                </a:xfrm>
                <a:custGeom>
                  <a:avLst/>
                  <a:gdLst/>
                  <a:ahLst/>
                  <a:cxnLst>
                    <a:cxn ang="0">
                      <a:pos x="59" y="66"/>
                    </a:cxn>
                    <a:cxn ang="0">
                      <a:pos x="0" y="35"/>
                    </a:cxn>
                    <a:cxn ang="0">
                      <a:pos x="43" y="0"/>
                    </a:cxn>
                    <a:cxn ang="0">
                      <a:pos x="59" y="66"/>
                    </a:cxn>
                  </a:cxnLst>
                  <a:rect l="0" t="0" r="r" b="b"/>
                  <a:pathLst>
                    <a:path w="59" h="66">
                      <a:moveTo>
                        <a:pt x="59" y="66"/>
                      </a:moveTo>
                      <a:lnTo>
                        <a:pt x="0" y="35"/>
                      </a:lnTo>
                      <a:lnTo>
                        <a:pt x="43" y="0"/>
                      </a:lnTo>
                      <a:lnTo>
                        <a:pt x="59" y="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89"/>
                <p:cNvSpPr>
                  <a:spLocks/>
                </p:cNvSpPr>
                <p:nvPr/>
              </p:nvSpPr>
              <p:spPr bwMode="auto">
                <a:xfrm>
                  <a:off x="3416299" y="4759324"/>
                  <a:ext cx="96838" cy="104775"/>
                </a:xfrm>
                <a:custGeom>
                  <a:avLst/>
                  <a:gdLst/>
                  <a:ahLst/>
                  <a:cxnLst>
                    <a:cxn ang="0">
                      <a:pos x="0" y="66"/>
                    </a:cxn>
                    <a:cxn ang="0">
                      <a:pos x="61" y="35"/>
                    </a:cxn>
                    <a:cxn ang="0">
                      <a:pos x="16" y="0"/>
                    </a:cxn>
                    <a:cxn ang="0">
                      <a:pos x="0" y="66"/>
                    </a:cxn>
                  </a:cxnLst>
                  <a:rect l="0" t="0" r="r" b="b"/>
                  <a:pathLst>
                    <a:path w="61" h="66">
                      <a:moveTo>
                        <a:pt x="0" y="66"/>
                      </a:moveTo>
                      <a:lnTo>
                        <a:pt x="61" y="35"/>
                      </a:lnTo>
                      <a:lnTo>
                        <a:pt x="16" y="0"/>
                      </a:lnTo>
                      <a:lnTo>
                        <a:pt x="0" y="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2" name="任意多边形 1"/>
            <p:cNvSpPr/>
            <p:nvPr/>
          </p:nvSpPr>
          <p:spPr bwMode="auto">
            <a:xfrm>
              <a:off x="5844209" y="4923819"/>
              <a:ext cx="2355574" cy="403195"/>
            </a:xfrm>
            <a:custGeom>
              <a:avLst/>
              <a:gdLst>
                <a:gd name="connsiteX0" fmla="*/ 2355574 w 2355574"/>
                <a:gd name="connsiteY0" fmla="*/ 288296 h 403195"/>
                <a:gd name="connsiteX1" fmla="*/ 1848678 w 2355574"/>
                <a:gd name="connsiteY1" fmla="*/ 337992 h 403195"/>
                <a:gd name="connsiteX2" fmla="*/ 1252330 w 2355574"/>
                <a:gd name="connsiteY2" fmla="*/ 62 h 403195"/>
                <a:gd name="connsiteX3" fmla="*/ 646043 w 2355574"/>
                <a:gd name="connsiteY3" fmla="*/ 367809 h 403195"/>
                <a:gd name="connsiteX4" fmla="*/ 0 w 2355574"/>
                <a:gd name="connsiteY4" fmla="*/ 367809 h 403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5574" h="403195">
                  <a:moveTo>
                    <a:pt x="2355574" y="288296"/>
                  </a:moveTo>
                  <a:cubicBezTo>
                    <a:pt x="2194063" y="337163"/>
                    <a:pt x="2032552" y="386031"/>
                    <a:pt x="1848678" y="337992"/>
                  </a:cubicBezTo>
                  <a:cubicBezTo>
                    <a:pt x="1664804" y="289953"/>
                    <a:pt x="1452769" y="-4907"/>
                    <a:pt x="1252330" y="62"/>
                  </a:cubicBezTo>
                  <a:cubicBezTo>
                    <a:pt x="1051891" y="5031"/>
                    <a:pt x="854765" y="306518"/>
                    <a:pt x="646043" y="367809"/>
                  </a:cubicBezTo>
                  <a:cubicBezTo>
                    <a:pt x="437321" y="429100"/>
                    <a:pt x="218660" y="398454"/>
                    <a:pt x="0" y="367809"/>
                  </a:cubicBezTo>
                </a:path>
              </a:pathLst>
            </a:custGeom>
            <a:noFill/>
            <a:ln w="19050" cap="flat" cmpd="sng" algn="ctr">
              <a:solidFill>
                <a:srgbClr val="FF000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任意多边形 52"/>
            <p:cNvSpPr/>
            <p:nvPr/>
          </p:nvSpPr>
          <p:spPr bwMode="auto">
            <a:xfrm>
              <a:off x="4913376" y="4561036"/>
              <a:ext cx="719328" cy="414528"/>
            </a:xfrm>
            <a:custGeom>
              <a:avLst/>
              <a:gdLst>
                <a:gd name="connsiteX0" fmla="*/ 0 w 719328"/>
                <a:gd name="connsiteY0" fmla="*/ 0 h 414528"/>
                <a:gd name="connsiteX1" fmla="*/ 487680 w 719328"/>
                <a:gd name="connsiteY1" fmla="*/ 73152 h 414528"/>
                <a:gd name="connsiteX2" fmla="*/ 719328 w 719328"/>
                <a:gd name="connsiteY2" fmla="*/ 414528 h 414528"/>
              </a:gdLst>
              <a:ahLst/>
              <a:cxnLst>
                <a:cxn ang="0">
                  <a:pos x="connsiteX0" y="connsiteY0"/>
                </a:cxn>
                <a:cxn ang="0">
                  <a:pos x="connsiteX1" y="connsiteY1"/>
                </a:cxn>
                <a:cxn ang="0">
                  <a:pos x="connsiteX2" y="connsiteY2"/>
                </a:cxn>
              </a:cxnLst>
              <a:rect l="l" t="t" r="r" b="b"/>
              <a:pathLst>
                <a:path w="719328" h="414528">
                  <a:moveTo>
                    <a:pt x="0" y="0"/>
                  </a:moveTo>
                  <a:cubicBezTo>
                    <a:pt x="183896" y="2032"/>
                    <a:pt x="367792" y="4064"/>
                    <a:pt x="487680" y="73152"/>
                  </a:cubicBezTo>
                  <a:cubicBezTo>
                    <a:pt x="607568" y="142240"/>
                    <a:pt x="672592" y="347472"/>
                    <a:pt x="719328" y="414528"/>
                  </a:cubicBezTo>
                </a:path>
              </a:pathLst>
            </a:custGeom>
            <a:noFill/>
            <a:ln w="19050" cap="flat" cmpd="sng" algn="ctr">
              <a:solidFill>
                <a:srgbClr val="FF0000"/>
              </a:solidFill>
              <a:prstDash val="solid"/>
              <a:round/>
              <a:headEnd type="arrow"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auto">
            <a:xfrm rot="1036673">
              <a:off x="4956229" y="5175384"/>
              <a:ext cx="524256" cy="135636"/>
            </a:xfrm>
            <a:custGeom>
              <a:avLst/>
              <a:gdLst>
                <a:gd name="connsiteX0" fmla="*/ 524256 w 524256"/>
                <a:gd name="connsiteY0" fmla="*/ 0 h 135636"/>
                <a:gd name="connsiteX1" fmla="*/ 134112 w 524256"/>
                <a:gd name="connsiteY1" fmla="*/ 121920 h 135636"/>
                <a:gd name="connsiteX2" fmla="*/ 0 w 524256"/>
                <a:gd name="connsiteY2" fmla="*/ 134112 h 135636"/>
              </a:gdLst>
              <a:ahLst/>
              <a:cxnLst>
                <a:cxn ang="0">
                  <a:pos x="connsiteX0" y="connsiteY0"/>
                </a:cxn>
                <a:cxn ang="0">
                  <a:pos x="connsiteX1" y="connsiteY1"/>
                </a:cxn>
                <a:cxn ang="0">
                  <a:pos x="connsiteX2" y="connsiteY2"/>
                </a:cxn>
              </a:cxnLst>
              <a:rect l="l" t="t" r="r" b="b"/>
              <a:pathLst>
                <a:path w="524256" h="135636">
                  <a:moveTo>
                    <a:pt x="524256" y="0"/>
                  </a:moveTo>
                  <a:cubicBezTo>
                    <a:pt x="372872" y="49784"/>
                    <a:pt x="221488" y="99568"/>
                    <a:pt x="134112" y="121920"/>
                  </a:cubicBezTo>
                  <a:cubicBezTo>
                    <a:pt x="46736" y="144272"/>
                    <a:pt x="18288" y="132080"/>
                    <a:pt x="0" y="134112"/>
                  </a:cubicBezTo>
                </a:path>
              </a:pathLst>
            </a:custGeom>
            <a:noFill/>
            <a:ln w="19050" cap="flat" cmpd="sng" algn="ctr">
              <a:solidFill>
                <a:srgbClr val="FF0000"/>
              </a:solidFill>
              <a:prstDash val="dash"/>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任意多边形 54"/>
            <p:cNvSpPr/>
            <p:nvPr/>
          </p:nvSpPr>
          <p:spPr bwMode="auto">
            <a:xfrm rot="1201731">
              <a:off x="5037636" y="5242509"/>
              <a:ext cx="633984" cy="768878"/>
            </a:xfrm>
            <a:custGeom>
              <a:avLst/>
              <a:gdLst>
                <a:gd name="connsiteX0" fmla="*/ 633984 w 633984"/>
                <a:gd name="connsiteY0" fmla="*/ 0 h 768878"/>
                <a:gd name="connsiteX1" fmla="*/ 377952 w 633984"/>
                <a:gd name="connsiteY1" fmla="*/ 451104 h 768878"/>
                <a:gd name="connsiteX2" fmla="*/ 146304 w 633984"/>
                <a:gd name="connsiteY2" fmla="*/ 719328 h 768878"/>
                <a:gd name="connsiteX3" fmla="*/ 0 w 633984"/>
                <a:gd name="connsiteY3" fmla="*/ 768096 h 768878"/>
              </a:gdLst>
              <a:ahLst/>
              <a:cxnLst>
                <a:cxn ang="0">
                  <a:pos x="connsiteX0" y="connsiteY0"/>
                </a:cxn>
                <a:cxn ang="0">
                  <a:pos x="connsiteX1" y="connsiteY1"/>
                </a:cxn>
                <a:cxn ang="0">
                  <a:pos x="connsiteX2" y="connsiteY2"/>
                </a:cxn>
                <a:cxn ang="0">
                  <a:pos x="connsiteX3" y="connsiteY3"/>
                </a:cxn>
              </a:cxnLst>
              <a:rect l="l" t="t" r="r" b="b"/>
              <a:pathLst>
                <a:path w="633984" h="768878">
                  <a:moveTo>
                    <a:pt x="633984" y="0"/>
                  </a:moveTo>
                  <a:cubicBezTo>
                    <a:pt x="546608" y="165608"/>
                    <a:pt x="459232" y="331216"/>
                    <a:pt x="377952" y="451104"/>
                  </a:cubicBezTo>
                  <a:cubicBezTo>
                    <a:pt x="296672" y="570992"/>
                    <a:pt x="209296" y="666496"/>
                    <a:pt x="146304" y="719328"/>
                  </a:cubicBezTo>
                  <a:cubicBezTo>
                    <a:pt x="83312" y="772160"/>
                    <a:pt x="41656" y="770128"/>
                    <a:pt x="0" y="768096"/>
                  </a:cubicBezTo>
                </a:path>
              </a:pathLst>
            </a:custGeom>
            <a:noFill/>
            <a:ln w="19050" cap="flat" cmpd="sng" algn="ctr">
              <a:solidFill>
                <a:srgbClr val="FF0000"/>
              </a:solidFill>
              <a:prstDash val="dash"/>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auto">
            <a:xfrm>
              <a:off x="3403475" y="3977863"/>
              <a:ext cx="1547301" cy="2189036"/>
            </a:xfrm>
            <a:prstGeom prst="roundRect">
              <a:avLst/>
            </a:prstGeom>
            <a:noFill/>
            <a:ln w="19050" cap="flat" cmpd="sng" algn="ctr">
              <a:solidFill>
                <a:srgbClr val="3298FF"/>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38"/>
            <p:cNvSpPr txBox="1"/>
            <p:nvPr/>
          </p:nvSpPr>
          <p:spPr>
            <a:xfrm>
              <a:off x="3638374" y="4053828"/>
              <a:ext cx="1107997" cy="276999"/>
            </a:xfrm>
            <a:prstGeom prst="rect">
              <a:avLst/>
            </a:prstGeom>
            <a:noFill/>
          </p:spPr>
          <p:txBody>
            <a:bodyPr wrap="none" rtlCol="0">
              <a:spAutoFit/>
            </a:bodyPr>
            <a:lstStyle/>
            <a:p>
              <a:pPr algn="ctr" fontAlgn="base">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后端服务器组</a:t>
              </a:r>
            </a:p>
          </p:txBody>
        </p:sp>
      </p:grpSp>
    </p:spTree>
    <p:extLst>
      <p:ext uri="{BB962C8B-B14F-4D97-AF65-F5344CB8AC3E}">
        <p14:creationId xmlns:p14="http://schemas.microsoft.com/office/powerpoint/2010/main" val="30680275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高可用云上组网 </a:t>
            </a:r>
            <a:r>
              <a:rPr lang="en-US" altLang="zh-CN" dirty="0">
                <a:sym typeface="Huawei Sans" panose="020C0503030203020204" pitchFamily="34" charset="0"/>
              </a:rPr>
              <a:t>- </a:t>
            </a:r>
            <a:r>
              <a:rPr lang="zh-CN" altLang="en-US" dirty="0">
                <a:sym typeface="Huawei Sans" panose="020C0503030203020204" pitchFamily="34" charset="0"/>
              </a:rPr>
              <a:t>负载均衡 </a:t>
            </a:r>
            <a:r>
              <a:rPr lang="en-US" altLang="zh-CN" dirty="0">
                <a:sym typeface="Huawei Sans" panose="020C0503030203020204" pitchFamily="34" charset="0"/>
              </a:rPr>
              <a:t>(4)</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p:txBody>
          <a:bodyPr/>
          <a:lstStyle/>
          <a:p>
            <a:r>
              <a:rPr lang="zh-CN" altLang="en-US">
                <a:sym typeface="Huawei Sans" panose="020C0503030203020204" pitchFamily="34" charset="0"/>
              </a:rPr>
              <a:t>基于什么样的协议进行负载均衡？</a:t>
            </a:r>
            <a:endParaRPr lang="en-US" altLang="zh-CN" dirty="0">
              <a:sym typeface="Huawei Sans" panose="020C0503030203020204" pitchFamily="34" charset="0"/>
            </a:endParaRPr>
          </a:p>
        </p:txBody>
      </p:sp>
      <p:graphicFrame>
        <p:nvGraphicFramePr>
          <p:cNvPr id="51" name="表格 50"/>
          <p:cNvGraphicFramePr>
            <a:graphicFrameLocks noGrp="1"/>
          </p:cNvGraphicFramePr>
          <p:nvPr>
            <p:extLst>
              <p:ext uri="{D42A27DB-BD31-4B8C-83A1-F6EECF244321}">
                <p14:modId xmlns:p14="http://schemas.microsoft.com/office/powerpoint/2010/main" val="4270577763"/>
              </p:ext>
            </p:extLst>
          </p:nvPr>
        </p:nvGraphicFramePr>
        <p:xfrm>
          <a:off x="6550287" y="2168861"/>
          <a:ext cx="5054325" cy="3113336"/>
        </p:xfrm>
        <a:graphic>
          <a:graphicData uri="http://schemas.openxmlformats.org/drawingml/2006/table">
            <a:tbl>
              <a:tblPr/>
              <a:tblGrid>
                <a:gridCol w="942971">
                  <a:extLst>
                    <a:ext uri="{9D8B030D-6E8A-4147-A177-3AD203B41FA5}">
                      <a16:colId xmlns:a16="http://schemas.microsoft.com/office/drawing/2014/main" val="20000"/>
                    </a:ext>
                  </a:extLst>
                </a:gridCol>
                <a:gridCol w="678939">
                  <a:extLst>
                    <a:ext uri="{9D8B030D-6E8A-4147-A177-3AD203B41FA5}">
                      <a16:colId xmlns:a16="http://schemas.microsoft.com/office/drawing/2014/main" val="20001"/>
                    </a:ext>
                  </a:extLst>
                </a:gridCol>
                <a:gridCol w="3432415">
                  <a:extLst>
                    <a:ext uri="{9D8B030D-6E8A-4147-A177-3AD203B41FA5}">
                      <a16:colId xmlns:a16="http://schemas.microsoft.com/office/drawing/2014/main" val="20002"/>
                    </a:ext>
                  </a:extLst>
                </a:gridCol>
              </a:tblGrid>
              <a:tr h="351680">
                <a:tc gridSpan="2">
                  <a:txBody>
                    <a:bodyPr/>
                    <a:lstStyle/>
                    <a:p>
                      <a:pPr marL="0" algn="ctr" defTabSz="914034" rtl="0" eaLnBrk="1" latinLnBrk="0" hangingPunct="1"/>
                      <a:r>
                        <a:rPr lang="zh-CN" altLang="en-US" sz="16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协议类型</a:t>
                      </a:r>
                    </a:p>
                  </a:txBody>
                  <a:tcPr marL="90000" marR="90000" marT="46800" marB="4680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sz="1400" b="1" dirty="0">
                        <a:solidFill>
                          <a:srgbClr val="3D3F43"/>
                        </a:solidFill>
                        <a:effectLst/>
                        <a:latin typeface="+mn-ea"/>
                        <a:ea typeface="+mn-ea"/>
                      </a:endParaRPr>
                    </a:p>
                  </a:txBody>
                  <a:tcPr marL="40562" marR="16225" marT="40562" marB="162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7FF"/>
                    </a:solidFill>
                  </a:tcPr>
                </a:tc>
                <a:tc>
                  <a:txBody>
                    <a:bodyPr/>
                    <a:lstStyle/>
                    <a:p>
                      <a:pPr marL="0" algn="ctr" defTabSz="914034" rtl="0" eaLnBrk="1" latinLnBrk="0" hangingPunct="1"/>
                      <a:r>
                        <a:rPr lang="zh-CN" altLang="en-US" sz="16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适用场景</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064804">
                <a:tc rowSpan="2">
                  <a:txBody>
                    <a:bodyPr/>
                    <a:lstStyle/>
                    <a:p>
                      <a:pPr marL="0" algn="l" defTabSz="914034" rtl="0" eaLnBrk="1" latinLnBrk="0" hangingPunct="1"/>
                      <a:r>
                        <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四层协议</a:t>
                      </a:r>
                    </a:p>
                  </a:txBody>
                  <a:tcPr marL="90000" marR="90000" marT="46800" marB="4680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en-US" altLang="zh-CN"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TCP</a:t>
                      </a: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适用于注重可靠性，对数据准确性要求高的场景，如文件传输、发送或接收邮件、远程登录。对性能和并发规模有要求的</a:t>
                      </a:r>
                      <a:r>
                        <a:rPr lang="en-US" altLang="zh-CN"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Web</a:t>
                      </a:r>
                      <a:r>
                        <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应用。</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5211">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400" dirty="0">
                        <a:solidFill>
                          <a:srgbClr val="3D3F43"/>
                        </a:solidFill>
                        <a:effectLst/>
                        <a:latin typeface="+mn-ea"/>
                        <a:ea typeface="+mn-ea"/>
                      </a:endParaRPr>
                    </a:p>
                  </a:txBody>
                  <a:tcPr marL="40562" marR="40562" marT="40562" marB="162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en-US" altLang="zh-CN"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UDP</a:t>
                      </a:r>
                      <a:endPar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适用于关注实时性而相对不注重可靠性的场景，如视频聊天、游戏、金融实时行情推送。</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5617">
                <a:tc rowSpan="2">
                  <a:txBody>
                    <a:bodyPr/>
                    <a:lstStyle/>
                    <a:p>
                      <a:pPr marL="0" algn="l" defTabSz="914034" rtl="0" eaLnBrk="1" latinLnBrk="0" hangingPunct="1"/>
                      <a:r>
                        <a:rPr lang="en-US" altLang="zh-CN"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7</a:t>
                      </a:r>
                      <a:r>
                        <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层协议</a:t>
                      </a:r>
                    </a:p>
                  </a:txBody>
                  <a:tcPr marL="90000" marR="90000" marT="46800" marB="4680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en-US" altLang="zh-CN"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HTTP</a:t>
                      </a:r>
                      <a:endPar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需要对数据内容进行识别的应用，如</a:t>
                      </a:r>
                      <a:r>
                        <a:rPr lang="en-US" altLang="zh-CN"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Web</a:t>
                      </a:r>
                      <a:r>
                        <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应用、移动游戏等</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6024">
                <a:tc vMerge="1">
                  <a:txBody>
                    <a:bodyPr/>
                    <a:lstStyle/>
                    <a:p>
                      <a:endParaRPr lang="zh-CN" altLang="en-US" sz="1400" dirty="0">
                        <a:solidFill>
                          <a:srgbClr val="3D3F43"/>
                        </a:solidFill>
                        <a:effectLst/>
                        <a:latin typeface="+mn-ea"/>
                        <a:ea typeface="+mn-ea"/>
                      </a:endParaRPr>
                    </a:p>
                  </a:txBody>
                  <a:tcPr marL="40562" marR="40562" marT="40562" marB="162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en-US" altLang="zh-CN"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HTTPS</a:t>
                      </a:r>
                      <a:endPar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400" kern="1200" dirty="0">
                          <a:solidFill>
                            <a:srgbClr val="3D3F43"/>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需要加密传输的应用</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5" name="矩形 54"/>
          <p:cNvSpPr/>
          <p:nvPr/>
        </p:nvSpPr>
        <p:spPr bwMode="auto">
          <a:xfrm>
            <a:off x="692742" y="2620822"/>
            <a:ext cx="3636404" cy="2680386"/>
          </a:xfrm>
          <a:prstGeom prst="rect">
            <a:avLst/>
          </a:prstGeom>
          <a:noFill/>
          <a:ln w="19050" cap="flat" cmpd="sng" algn="ctr">
            <a:solidFill>
              <a:srgbClr val="3298FF"/>
            </a:solidFill>
            <a:prstDash val="sysDash"/>
            <a:round/>
            <a:headEnd type="none" w="med" len="med"/>
            <a:tailEnd type="none" w="med" len="med"/>
          </a:ln>
          <a:effectLst/>
        </p:spPr>
        <p:txBody>
          <a:bodyPr vert="horz" wrap="square" lIns="68553" tIns="34277" rIns="68553" bIns="34277" numCol="1" rtlCol="0" anchor="t" anchorCtr="0" compatLnSpc="1">
            <a:prstTxWarp prst="textNoShape">
              <a:avLst/>
            </a:prstTxWarp>
          </a:bodyPr>
          <a:lstStyle/>
          <a:p>
            <a:pPr defTabSz="685526">
              <a:buClr>
                <a:srgbClr val="CC9900"/>
              </a:buClr>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TextBox 53"/>
          <p:cNvSpPr txBox="1"/>
          <p:nvPr/>
        </p:nvSpPr>
        <p:spPr>
          <a:xfrm>
            <a:off x="804512" y="2745789"/>
            <a:ext cx="280526" cy="184666"/>
          </a:xfrm>
          <a:prstGeom prst="rect">
            <a:avLst/>
          </a:prstGeom>
          <a:noFill/>
        </p:spPr>
        <p:txBody>
          <a:bodyPr wrap="none" lIns="0" tIns="0" rIns="0" bIns="0" rtlCol="0">
            <a:spAutoFit/>
          </a:bodyPr>
          <a:lstStyle/>
          <a:p>
            <a:pPr defTabSz="685526">
              <a:buClr>
                <a:srgbClr val="CC9900"/>
              </a:buClr>
            </a:pPr>
            <a:r>
              <a:rPr lang="en-US" altLang="zh-CN" sz="1200" dirty="0">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VPC</a:t>
            </a:r>
            <a:endParaRPr lang="zh-CN" altLang="en-US" sz="1200" dirty="0" err="1">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105" name="图片 10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0231" y="3986434"/>
            <a:ext cx="362520" cy="362520"/>
          </a:xfrm>
          <a:prstGeom prst="rect">
            <a:avLst/>
          </a:prstGeom>
        </p:spPr>
      </p:pic>
      <p:cxnSp>
        <p:nvCxnSpPr>
          <p:cNvPr id="106" name="直接连接符 105"/>
          <p:cNvCxnSpPr>
            <a:stCxn id="114" idx="3"/>
            <a:endCxn id="105" idx="1"/>
          </p:cNvCxnSpPr>
          <p:nvPr/>
        </p:nvCxnSpPr>
        <p:spPr bwMode="auto">
          <a:xfrm flipV="1">
            <a:off x="3109599" y="4167694"/>
            <a:ext cx="140632" cy="1"/>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112" name="矩形 111"/>
          <p:cNvSpPr/>
          <p:nvPr/>
        </p:nvSpPr>
        <p:spPr bwMode="auto">
          <a:xfrm>
            <a:off x="836758" y="3010096"/>
            <a:ext cx="2126962" cy="2147096"/>
          </a:xfrm>
          <a:prstGeom prst="rect">
            <a:avLst/>
          </a:prstGeom>
          <a:noFill/>
          <a:ln w="19050" cap="flat" cmpd="sng" algn="ctr">
            <a:solidFill>
              <a:srgbClr val="3298FF"/>
            </a:solidFill>
            <a:prstDash val="sysDash"/>
            <a:round/>
            <a:headEnd type="none" w="med" len="med"/>
            <a:tailEnd type="none" w="med" len="med"/>
          </a:ln>
          <a:effectLst/>
        </p:spPr>
        <p:txBody>
          <a:bodyPr vert="horz" wrap="square" lIns="68553" tIns="34277" rIns="68553" bIns="34277" numCol="1" rtlCol="0" anchor="t" anchorCtr="0" compatLnSpc="1">
            <a:prstTxWarp prst="textNoShape">
              <a:avLst/>
            </a:prstTxWarp>
          </a:bodyPr>
          <a:lstStyle/>
          <a:p>
            <a:pPr defTabSz="685526">
              <a:buClr>
                <a:srgbClr val="CC9900"/>
              </a:buClr>
            </a:pP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53"/>
          <p:cNvSpPr txBox="1"/>
          <p:nvPr/>
        </p:nvSpPr>
        <p:spPr>
          <a:xfrm>
            <a:off x="939390" y="3104964"/>
            <a:ext cx="1373774" cy="184666"/>
          </a:xfrm>
          <a:prstGeom prst="rect">
            <a:avLst/>
          </a:prstGeom>
          <a:noFill/>
        </p:spPr>
        <p:txBody>
          <a:bodyPr wrap="none" lIns="0" tIns="0" rIns="0" bIns="0" rtlCol="0">
            <a:spAutoFit/>
          </a:bodyPr>
          <a:lstStyle/>
          <a:p>
            <a:pPr defTabSz="685526">
              <a:buClr>
                <a:srgbClr val="CC9900"/>
              </a:buClr>
            </a:pPr>
            <a:r>
              <a:rPr lang="zh-CN" altLang="en-US" sz="1200" dirty="0">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子网</a:t>
            </a:r>
            <a:r>
              <a:rPr lang="en-US" altLang="zh-CN" sz="1200" dirty="0">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:192.168.2.0/24</a:t>
            </a:r>
            <a:endParaRPr lang="zh-CN" altLang="en-US" sz="1200" dirty="0" err="1">
              <a:solidFill>
                <a:srgbClr val="000000">
                  <a:lumMod val="75000"/>
                  <a:lumOff val="25000"/>
                </a:srgb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114" name="图片 1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26754" y="4011187"/>
            <a:ext cx="282845" cy="313015"/>
          </a:xfrm>
          <a:prstGeom prst="rect">
            <a:avLst/>
          </a:prstGeom>
          <a:solidFill>
            <a:schemeClr val="bg1"/>
          </a:solidFill>
        </p:spPr>
      </p:pic>
      <p:sp>
        <p:nvSpPr>
          <p:cNvPr id="115" name="圆角矩形 114"/>
          <p:cNvSpPr/>
          <p:nvPr/>
        </p:nvSpPr>
        <p:spPr bwMode="auto">
          <a:xfrm>
            <a:off x="2240038" y="3435216"/>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TextBox 26"/>
          <p:cNvSpPr txBox="1"/>
          <p:nvPr/>
        </p:nvSpPr>
        <p:spPr>
          <a:xfrm>
            <a:off x="2214877" y="3521718"/>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圆角矩形 117"/>
          <p:cNvSpPr/>
          <p:nvPr/>
        </p:nvSpPr>
        <p:spPr bwMode="auto">
          <a:xfrm>
            <a:off x="1029747" y="3429000"/>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TextBox 26"/>
          <p:cNvSpPr txBox="1"/>
          <p:nvPr/>
        </p:nvSpPr>
        <p:spPr>
          <a:xfrm>
            <a:off x="1004586" y="3515502"/>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TextBox 38"/>
          <p:cNvSpPr txBox="1"/>
          <p:nvPr/>
        </p:nvSpPr>
        <p:spPr>
          <a:xfrm>
            <a:off x="4366918" y="3810539"/>
            <a:ext cx="1415772" cy="461665"/>
          </a:xfrm>
          <a:prstGeom prst="rect">
            <a:avLst/>
          </a:prstGeom>
          <a:solidFill>
            <a:schemeClr val="bg1"/>
          </a:solidFill>
        </p:spPr>
        <p:txBody>
          <a:bodyPr wrap="none" rtlCol="0">
            <a:spAutoFit/>
          </a:bodyPr>
          <a:lstStyle/>
          <a:p>
            <a:pPr algn="ctr" fontAlgn="base">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公网负载均衡实例</a:t>
            </a:r>
          </a:p>
          <a:p>
            <a:pPr algn="ctr" defTabSz="914400" fontAlgn="base">
              <a:spcBef>
                <a:spcPct val="0"/>
              </a:spcBef>
              <a:spcAft>
                <a:spcPct val="0"/>
              </a:spcAft>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116.15.42.5</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圆角矩形 121"/>
          <p:cNvSpPr/>
          <p:nvPr/>
        </p:nvSpPr>
        <p:spPr bwMode="auto">
          <a:xfrm>
            <a:off x="1623561" y="3429000"/>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TextBox 26"/>
          <p:cNvSpPr txBox="1"/>
          <p:nvPr/>
        </p:nvSpPr>
        <p:spPr>
          <a:xfrm>
            <a:off x="1598400" y="3515502"/>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圆角矩形 145"/>
          <p:cNvSpPr/>
          <p:nvPr/>
        </p:nvSpPr>
        <p:spPr bwMode="auto">
          <a:xfrm>
            <a:off x="2239641" y="4387415"/>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TextBox 26"/>
          <p:cNvSpPr txBox="1"/>
          <p:nvPr/>
        </p:nvSpPr>
        <p:spPr>
          <a:xfrm>
            <a:off x="2214480" y="4473917"/>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圆角矩形 147"/>
          <p:cNvSpPr/>
          <p:nvPr/>
        </p:nvSpPr>
        <p:spPr bwMode="auto">
          <a:xfrm>
            <a:off x="1029350" y="4381199"/>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TextBox 26"/>
          <p:cNvSpPr txBox="1"/>
          <p:nvPr/>
        </p:nvSpPr>
        <p:spPr>
          <a:xfrm>
            <a:off x="1004189" y="4467701"/>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圆角矩形 149"/>
          <p:cNvSpPr/>
          <p:nvPr/>
        </p:nvSpPr>
        <p:spPr bwMode="auto">
          <a:xfrm>
            <a:off x="1623164" y="4381199"/>
            <a:ext cx="519283" cy="519283"/>
          </a:xfrm>
          <a:prstGeom prst="roundRect">
            <a:avLst/>
          </a:prstGeom>
          <a:solidFill>
            <a:srgbClr val="3298FF"/>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4400" fontAlgn="base">
              <a:spcBef>
                <a:spcPct val="0"/>
              </a:spcBef>
              <a:spcAft>
                <a:spcPct val="0"/>
              </a:spcAft>
              <a:buClr>
                <a:srgbClr val="CC9900"/>
              </a:buClr>
            </a:pPr>
            <a:endParaRPr lang="zh-CN" altLang="en-US" sz="1200"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TextBox 26"/>
          <p:cNvSpPr txBox="1"/>
          <p:nvPr/>
        </p:nvSpPr>
        <p:spPr>
          <a:xfrm>
            <a:off x="1598003" y="4467701"/>
            <a:ext cx="445956" cy="276999"/>
          </a:xfrm>
          <a:prstGeom prst="rect">
            <a:avLst/>
          </a:prstGeom>
          <a:noFill/>
        </p:spPr>
        <p:txBody>
          <a:bodyPr wrap="none" rtlCol="0">
            <a:spAutoFit/>
          </a:bodyPr>
          <a:lstStyle/>
          <a:p>
            <a:pPr defTabSz="914400" fontAlgn="base">
              <a:spcBef>
                <a:spcPct val="0"/>
              </a:spcBef>
              <a:spcAft>
                <a:spcPct val="0"/>
              </a:spcAft>
              <a:buClr>
                <a:srgbClr val="CC9900"/>
              </a:buClr>
            </a:pPr>
            <a:r>
              <a:rPr lang="en-US" altLang="zh-CN" sz="120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zh-CN" altLang="en-US" sz="1200"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圆角矩形 151"/>
          <p:cNvSpPr/>
          <p:nvPr/>
        </p:nvSpPr>
        <p:spPr bwMode="auto">
          <a:xfrm>
            <a:off x="928788" y="3328956"/>
            <a:ext cx="1912063" cy="694308"/>
          </a:xfrm>
          <a:prstGeom prst="roundRect">
            <a:avLst/>
          </a:prstGeom>
          <a:noFill/>
          <a:ln w="19050" cap="flat" cmpd="sng" algn="ctr">
            <a:solidFill>
              <a:srgbClr val="3298FF"/>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圆角矩形 152"/>
          <p:cNvSpPr/>
          <p:nvPr/>
        </p:nvSpPr>
        <p:spPr bwMode="auto">
          <a:xfrm>
            <a:off x="944207" y="4318868"/>
            <a:ext cx="1912063" cy="694308"/>
          </a:xfrm>
          <a:prstGeom prst="roundRect">
            <a:avLst/>
          </a:prstGeom>
          <a:noFill/>
          <a:ln w="19050" cap="flat" cmpd="sng" algn="ctr">
            <a:solidFill>
              <a:srgbClr val="3298FF"/>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4" name="图片 15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2039" y="3457751"/>
            <a:ext cx="392234" cy="387876"/>
          </a:xfrm>
          <a:prstGeom prst="rect">
            <a:avLst/>
          </a:prstGeom>
          <a:solidFill>
            <a:schemeClr val="bg1"/>
          </a:solidFill>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87749" y="3945170"/>
            <a:ext cx="445047" cy="445047"/>
          </a:xfrm>
          <a:prstGeom prst="rect">
            <a:avLst/>
          </a:prstGeom>
          <a:solidFill>
            <a:schemeClr val="bg1"/>
          </a:solidFill>
        </p:spPr>
      </p:pic>
      <p:grpSp>
        <p:nvGrpSpPr>
          <p:cNvPr id="159" name="组合 159"/>
          <p:cNvGrpSpPr/>
          <p:nvPr/>
        </p:nvGrpSpPr>
        <p:grpSpPr>
          <a:xfrm>
            <a:off x="5939206" y="3528490"/>
            <a:ext cx="372818" cy="734164"/>
            <a:chOff x="-2665413" y="2789238"/>
            <a:chExt cx="619125" cy="1219200"/>
          </a:xfrm>
        </p:grpSpPr>
        <p:sp>
          <p:nvSpPr>
            <p:cNvPr id="160" name="Freeform 49"/>
            <p:cNvSpPr>
              <a:spLocks/>
            </p:cNvSpPr>
            <p:nvPr/>
          </p:nvSpPr>
          <p:spPr bwMode="auto">
            <a:xfrm>
              <a:off x="-2665413" y="2789238"/>
              <a:ext cx="619125" cy="1219200"/>
            </a:xfrm>
            <a:custGeom>
              <a:avLst/>
              <a:gdLst/>
              <a:ahLst/>
              <a:cxnLst>
                <a:cxn ang="0">
                  <a:pos x="536" y="992"/>
                </a:cxn>
                <a:cxn ang="0">
                  <a:pos x="472" y="1056"/>
                </a:cxn>
                <a:cxn ang="0">
                  <a:pos x="64" y="1056"/>
                </a:cxn>
                <a:cxn ang="0">
                  <a:pos x="0" y="992"/>
                </a:cxn>
                <a:cxn ang="0">
                  <a:pos x="0" y="64"/>
                </a:cxn>
                <a:cxn ang="0">
                  <a:pos x="64" y="0"/>
                </a:cxn>
                <a:cxn ang="0">
                  <a:pos x="472" y="0"/>
                </a:cxn>
                <a:cxn ang="0">
                  <a:pos x="536" y="64"/>
                </a:cxn>
                <a:cxn ang="0">
                  <a:pos x="536" y="992"/>
                </a:cxn>
              </a:cxnLst>
              <a:rect l="0" t="0" r="r" b="b"/>
              <a:pathLst>
                <a:path w="536" h="1056">
                  <a:moveTo>
                    <a:pt x="536" y="992"/>
                  </a:moveTo>
                  <a:cubicBezTo>
                    <a:pt x="536" y="1027"/>
                    <a:pt x="507" y="1056"/>
                    <a:pt x="472" y="1056"/>
                  </a:cubicBezTo>
                  <a:cubicBezTo>
                    <a:pt x="64" y="1056"/>
                    <a:pt x="64" y="1056"/>
                    <a:pt x="64" y="1056"/>
                  </a:cubicBezTo>
                  <a:cubicBezTo>
                    <a:pt x="29" y="1056"/>
                    <a:pt x="0" y="1027"/>
                    <a:pt x="0" y="992"/>
                  </a:cubicBezTo>
                  <a:cubicBezTo>
                    <a:pt x="0" y="64"/>
                    <a:pt x="0" y="64"/>
                    <a:pt x="0" y="64"/>
                  </a:cubicBezTo>
                  <a:cubicBezTo>
                    <a:pt x="0" y="28"/>
                    <a:pt x="29" y="0"/>
                    <a:pt x="64" y="0"/>
                  </a:cubicBezTo>
                  <a:cubicBezTo>
                    <a:pt x="472" y="0"/>
                    <a:pt x="472" y="0"/>
                    <a:pt x="472" y="0"/>
                  </a:cubicBezTo>
                  <a:cubicBezTo>
                    <a:pt x="507" y="0"/>
                    <a:pt x="536" y="28"/>
                    <a:pt x="536" y="64"/>
                  </a:cubicBezTo>
                  <a:lnTo>
                    <a:pt x="536" y="992"/>
                  </a:lnTo>
                  <a:close/>
                </a:path>
              </a:pathLst>
            </a:custGeom>
            <a:solidFill>
              <a:srgbClr val="E0E0E0"/>
            </a:solid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Freeform 50"/>
            <p:cNvSpPr>
              <a:spLocks/>
            </p:cNvSpPr>
            <p:nvPr/>
          </p:nvSpPr>
          <p:spPr bwMode="auto">
            <a:xfrm>
              <a:off x="-2600325" y="2908300"/>
              <a:ext cx="488950" cy="933450"/>
            </a:xfrm>
            <a:custGeom>
              <a:avLst/>
              <a:gdLst/>
              <a:ahLst/>
              <a:cxnLst>
                <a:cxn ang="0">
                  <a:pos x="424" y="776"/>
                </a:cxn>
                <a:cxn ang="0">
                  <a:pos x="392" y="808"/>
                </a:cxn>
                <a:cxn ang="0">
                  <a:pos x="32" y="808"/>
                </a:cxn>
                <a:cxn ang="0">
                  <a:pos x="0" y="776"/>
                </a:cxn>
                <a:cxn ang="0">
                  <a:pos x="0" y="32"/>
                </a:cxn>
                <a:cxn ang="0">
                  <a:pos x="32" y="0"/>
                </a:cxn>
                <a:cxn ang="0">
                  <a:pos x="392" y="0"/>
                </a:cxn>
                <a:cxn ang="0">
                  <a:pos x="424" y="32"/>
                </a:cxn>
                <a:cxn ang="0">
                  <a:pos x="424" y="776"/>
                </a:cxn>
              </a:cxnLst>
              <a:rect l="0" t="0" r="r" b="b"/>
              <a:pathLst>
                <a:path w="424" h="808">
                  <a:moveTo>
                    <a:pt x="424" y="776"/>
                  </a:moveTo>
                  <a:cubicBezTo>
                    <a:pt x="424" y="794"/>
                    <a:pt x="410" y="808"/>
                    <a:pt x="392" y="808"/>
                  </a:cubicBezTo>
                  <a:cubicBezTo>
                    <a:pt x="32" y="808"/>
                    <a:pt x="32" y="808"/>
                    <a:pt x="32" y="808"/>
                  </a:cubicBezTo>
                  <a:cubicBezTo>
                    <a:pt x="14" y="808"/>
                    <a:pt x="0" y="794"/>
                    <a:pt x="0" y="776"/>
                  </a:cubicBezTo>
                  <a:cubicBezTo>
                    <a:pt x="0" y="32"/>
                    <a:pt x="0" y="32"/>
                    <a:pt x="0" y="32"/>
                  </a:cubicBezTo>
                  <a:cubicBezTo>
                    <a:pt x="0" y="14"/>
                    <a:pt x="14" y="0"/>
                    <a:pt x="32" y="0"/>
                  </a:cubicBezTo>
                  <a:cubicBezTo>
                    <a:pt x="392" y="0"/>
                    <a:pt x="392" y="0"/>
                    <a:pt x="392" y="0"/>
                  </a:cubicBezTo>
                  <a:cubicBezTo>
                    <a:pt x="410" y="0"/>
                    <a:pt x="424" y="14"/>
                    <a:pt x="424" y="32"/>
                  </a:cubicBezTo>
                  <a:lnTo>
                    <a:pt x="424" y="776"/>
                  </a:lnTo>
                  <a:close/>
                </a:path>
              </a:pathLst>
            </a:custGeom>
            <a:solidFill>
              <a:srgbClr val="5D5E5F"/>
            </a:solid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Line 51"/>
            <p:cNvSpPr>
              <a:spLocks noChangeShapeType="1"/>
            </p:cNvSpPr>
            <p:nvPr/>
          </p:nvSpPr>
          <p:spPr bwMode="auto">
            <a:xfrm>
              <a:off x="-2390775" y="2873375"/>
              <a:ext cx="109537" cy="1588"/>
            </a:xfrm>
            <a:prstGeom prst="line">
              <a:avLst/>
            </a:prstGeom>
            <a:noFill/>
            <a:ln w="9525" cap="rnd">
              <a:solidFill>
                <a:srgbClr val="5D5E5F"/>
              </a:solidFill>
              <a:prstDash val="solid"/>
              <a:miter lim="800000"/>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Oval 52"/>
            <p:cNvSpPr>
              <a:spLocks noChangeArrowheads="1"/>
            </p:cNvSpPr>
            <p:nvPr/>
          </p:nvSpPr>
          <p:spPr bwMode="auto">
            <a:xfrm>
              <a:off x="-2430463" y="2862263"/>
              <a:ext cx="20637" cy="20638"/>
            </a:xfrm>
            <a:prstGeom prst="ellipse">
              <a:avLst/>
            </a:prstGeom>
            <a:solidFill>
              <a:srgbClr val="5D5E5F"/>
            </a:solid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Oval 53"/>
            <p:cNvSpPr>
              <a:spLocks noChangeArrowheads="1"/>
            </p:cNvSpPr>
            <p:nvPr/>
          </p:nvSpPr>
          <p:spPr bwMode="auto">
            <a:xfrm>
              <a:off x="-2413000" y="3867150"/>
              <a:ext cx="114300" cy="114300"/>
            </a:xfrm>
            <a:prstGeom prst="ellipse">
              <a:avLst/>
            </a:prstGeom>
            <a:solidFill>
              <a:srgbClr val="5D5E5F"/>
            </a:solidFill>
            <a:ln w="9525">
              <a:noFill/>
              <a:round/>
              <a:headEnd/>
              <a:tailEnd/>
            </a:ln>
          </p:spPr>
          <p:txBody>
            <a:bodyPr vert="horz" wrap="square" lIns="91440" tIns="45720" rIns="91440" bIns="45720" numCol="1"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2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 name="任意多边形 12"/>
          <p:cNvSpPr/>
          <p:nvPr/>
        </p:nvSpPr>
        <p:spPr bwMode="auto">
          <a:xfrm>
            <a:off x="4259042" y="3376910"/>
            <a:ext cx="1588816" cy="804287"/>
          </a:xfrm>
          <a:custGeom>
            <a:avLst/>
            <a:gdLst>
              <a:gd name="connsiteX0" fmla="*/ 1588816 w 1588816"/>
              <a:gd name="connsiteY0" fmla="*/ 461387 h 804287"/>
              <a:gd name="connsiteX1" fmla="*/ 983026 w 1588816"/>
              <a:gd name="connsiteY1" fmla="*/ 4187 h 804287"/>
              <a:gd name="connsiteX2" fmla="*/ 137206 w 1588816"/>
              <a:gd name="connsiteY2" fmla="*/ 267077 h 804287"/>
              <a:gd name="connsiteX3" fmla="*/ 11476 w 1588816"/>
              <a:gd name="connsiteY3" fmla="*/ 804287 h 804287"/>
            </a:gdLst>
            <a:ahLst/>
            <a:cxnLst>
              <a:cxn ang="0">
                <a:pos x="connsiteX0" y="connsiteY0"/>
              </a:cxn>
              <a:cxn ang="0">
                <a:pos x="connsiteX1" y="connsiteY1"/>
              </a:cxn>
              <a:cxn ang="0">
                <a:pos x="connsiteX2" y="connsiteY2"/>
              </a:cxn>
              <a:cxn ang="0">
                <a:pos x="connsiteX3" y="connsiteY3"/>
              </a:cxn>
            </a:cxnLst>
            <a:rect l="l" t="t" r="r" b="b"/>
            <a:pathLst>
              <a:path w="1588816" h="804287">
                <a:moveTo>
                  <a:pt x="1588816" y="461387"/>
                </a:moveTo>
                <a:cubicBezTo>
                  <a:pt x="1406888" y="248979"/>
                  <a:pt x="1224961" y="36572"/>
                  <a:pt x="983026" y="4187"/>
                </a:cubicBezTo>
                <a:cubicBezTo>
                  <a:pt x="741091" y="-28198"/>
                  <a:pt x="299131" y="133727"/>
                  <a:pt x="137206" y="267077"/>
                </a:cubicBezTo>
                <a:cubicBezTo>
                  <a:pt x="-24719" y="400427"/>
                  <a:pt x="-6622" y="602357"/>
                  <a:pt x="11476" y="804287"/>
                </a:cubicBezTo>
              </a:path>
            </a:pathLst>
          </a:custGeom>
          <a:noFill/>
          <a:ln w="19050" cap="flat" cmpd="sng" algn="ctr">
            <a:solidFill>
              <a:srgbClr val="FF000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TextBox 38"/>
          <p:cNvSpPr txBox="1"/>
          <p:nvPr/>
        </p:nvSpPr>
        <p:spPr>
          <a:xfrm>
            <a:off x="4578516" y="2763981"/>
            <a:ext cx="1173719" cy="646331"/>
          </a:xfrm>
          <a:prstGeom prst="rect">
            <a:avLst/>
          </a:prstGeom>
          <a:solidFill>
            <a:schemeClr val="bg1"/>
          </a:solidFill>
        </p:spPr>
        <p:txBody>
          <a:bodyPr wrap="none" rtlCol="0">
            <a:spAutoFit/>
          </a:bodyPr>
          <a:lstStyle/>
          <a:p>
            <a:pPr algn="ctr" fontAlgn="base">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访问：</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hlinkClick r:id="rId7"/>
              </a:rPr>
              <a:t>www.123.com</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www.456.com</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任意多边形 13"/>
          <p:cNvSpPr/>
          <p:nvPr/>
        </p:nvSpPr>
        <p:spPr bwMode="auto">
          <a:xfrm>
            <a:off x="1927368" y="3390316"/>
            <a:ext cx="2240280" cy="856872"/>
          </a:xfrm>
          <a:custGeom>
            <a:avLst/>
            <a:gdLst>
              <a:gd name="connsiteX0" fmla="*/ 2240280 w 2240280"/>
              <a:gd name="connsiteY0" fmla="*/ 790881 h 856872"/>
              <a:gd name="connsiteX1" fmla="*/ 1165860 w 2240280"/>
              <a:gd name="connsiteY1" fmla="*/ 790881 h 856872"/>
              <a:gd name="connsiteX2" fmla="*/ 1062990 w 2240280"/>
              <a:gd name="connsiteY2" fmla="*/ 105081 h 856872"/>
              <a:gd name="connsiteX3" fmla="*/ 0 w 2240280"/>
              <a:gd name="connsiteY3" fmla="*/ 13641 h 856872"/>
            </a:gdLst>
            <a:ahLst/>
            <a:cxnLst>
              <a:cxn ang="0">
                <a:pos x="connsiteX0" y="connsiteY0"/>
              </a:cxn>
              <a:cxn ang="0">
                <a:pos x="connsiteX1" y="connsiteY1"/>
              </a:cxn>
              <a:cxn ang="0">
                <a:pos x="connsiteX2" y="connsiteY2"/>
              </a:cxn>
              <a:cxn ang="0">
                <a:pos x="connsiteX3" y="connsiteY3"/>
              </a:cxn>
            </a:cxnLst>
            <a:rect l="l" t="t" r="r" b="b"/>
            <a:pathLst>
              <a:path w="2240280" h="856872">
                <a:moveTo>
                  <a:pt x="2240280" y="790881"/>
                </a:moveTo>
                <a:cubicBezTo>
                  <a:pt x="1801177" y="848031"/>
                  <a:pt x="1362075" y="905181"/>
                  <a:pt x="1165860" y="790881"/>
                </a:cubicBezTo>
                <a:cubicBezTo>
                  <a:pt x="969645" y="676581"/>
                  <a:pt x="1257300" y="234621"/>
                  <a:pt x="1062990" y="105081"/>
                </a:cubicBezTo>
                <a:cubicBezTo>
                  <a:pt x="868680" y="-24459"/>
                  <a:pt x="434340" y="-5409"/>
                  <a:pt x="0" y="13641"/>
                </a:cubicBezTo>
              </a:path>
            </a:pathLst>
          </a:custGeom>
          <a:noFill/>
          <a:ln w="19050" cap="flat" cmpd="sng" algn="ctr">
            <a:solidFill>
              <a:srgbClr val="FF000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TextBox 38"/>
          <p:cNvSpPr txBox="1"/>
          <p:nvPr/>
        </p:nvSpPr>
        <p:spPr>
          <a:xfrm>
            <a:off x="2938875" y="3151887"/>
            <a:ext cx="1173719" cy="461665"/>
          </a:xfrm>
          <a:prstGeom prst="rect">
            <a:avLst/>
          </a:prstGeom>
          <a:noFill/>
        </p:spPr>
        <p:txBody>
          <a:bodyPr wrap="none" rtlCol="0">
            <a:spAutoFit/>
          </a:bodyPr>
          <a:lstStyle/>
          <a:p>
            <a:pPr algn="ctr" fontAlgn="base">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访问：</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hlinkClick r:id="rId7"/>
              </a:rPr>
              <a:t>www.123.com</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任意多边形 166"/>
          <p:cNvSpPr/>
          <p:nvPr/>
        </p:nvSpPr>
        <p:spPr bwMode="auto">
          <a:xfrm flipV="1">
            <a:off x="1897305" y="4102821"/>
            <a:ext cx="2240280" cy="756643"/>
          </a:xfrm>
          <a:custGeom>
            <a:avLst/>
            <a:gdLst>
              <a:gd name="connsiteX0" fmla="*/ 2240280 w 2240280"/>
              <a:gd name="connsiteY0" fmla="*/ 790881 h 856872"/>
              <a:gd name="connsiteX1" fmla="*/ 1165860 w 2240280"/>
              <a:gd name="connsiteY1" fmla="*/ 790881 h 856872"/>
              <a:gd name="connsiteX2" fmla="*/ 1062990 w 2240280"/>
              <a:gd name="connsiteY2" fmla="*/ 105081 h 856872"/>
              <a:gd name="connsiteX3" fmla="*/ 0 w 2240280"/>
              <a:gd name="connsiteY3" fmla="*/ 13641 h 856872"/>
            </a:gdLst>
            <a:ahLst/>
            <a:cxnLst>
              <a:cxn ang="0">
                <a:pos x="connsiteX0" y="connsiteY0"/>
              </a:cxn>
              <a:cxn ang="0">
                <a:pos x="connsiteX1" y="connsiteY1"/>
              </a:cxn>
              <a:cxn ang="0">
                <a:pos x="connsiteX2" y="connsiteY2"/>
              </a:cxn>
              <a:cxn ang="0">
                <a:pos x="connsiteX3" y="connsiteY3"/>
              </a:cxn>
            </a:cxnLst>
            <a:rect l="l" t="t" r="r" b="b"/>
            <a:pathLst>
              <a:path w="2240280" h="856872">
                <a:moveTo>
                  <a:pt x="2240280" y="790881"/>
                </a:moveTo>
                <a:cubicBezTo>
                  <a:pt x="1801177" y="848031"/>
                  <a:pt x="1362075" y="905181"/>
                  <a:pt x="1165860" y="790881"/>
                </a:cubicBezTo>
                <a:cubicBezTo>
                  <a:pt x="969645" y="676581"/>
                  <a:pt x="1257300" y="234621"/>
                  <a:pt x="1062990" y="105081"/>
                </a:cubicBezTo>
                <a:cubicBezTo>
                  <a:pt x="868680" y="-24459"/>
                  <a:pt x="434340" y="-5409"/>
                  <a:pt x="0" y="13641"/>
                </a:cubicBezTo>
              </a:path>
            </a:pathLst>
          </a:custGeom>
          <a:noFill/>
          <a:ln w="19050" cap="flat" cmpd="sng" algn="ctr">
            <a:solidFill>
              <a:srgbClr val="FF000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TextBox 38"/>
          <p:cNvSpPr txBox="1"/>
          <p:nvPr/>
        </p:nvSpPr>
        <p:spPr>
          <a:xfrm>
            <a:off x="2913882" y="4755846"/>
            <a:ext cx="1173719" cy="461665"/>
          </a:xfrm>
          <a:prstGeom prst="rect">
            <a:avLst/>
          </a:prstGeom>
          <a:noFill/>
        </p:spPr>
        <p:txBody>
          <a:bodyPr wrap="none" rtlCol="0">
            <a:spAutoFit/>
          </a:bodyPr>
          <a:lstStyle/>
          <a:p>
            <a:pPr algn="ctr" fontAlgn="base">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访问：</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hlinkClick r:id="rId7"/>
              </a:rPr>
              <a:t>www.456.com</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7179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高可用云上组网 </a:t>
            </a:r>
            <a:r>
              <a:rPr lang="en-US" altLang="zh-CN" dirty="0">
                <a:sym typeface="Huawei Sans" panose="020C0503030203020204" pitchFamily="34" charset="0"/>
              </a:rPr>
              <a:t>- </a:t>
            </a:r>
            <a:r>
              <a:rPr lang="zh-CN" altLang="en-US" dirty="0">
                <a:sym typeface="Huawei Sans" panose="020C0503030203020204" pitchFamily="34" charset="0"/>
              </a:rPr>
              <a:t>负载均衡 </a:t>
            </a:r>
            <a:r>
              <a:rPr lang="en-US" altLang="zh-CN" dirty="0">
                <a:sym typeface="Huawei Sans" panose="020C0503030203020204" pitchFamily="34" charset="0"/>
              </a:rPr>
              <a:t>(5)</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p:txBody>
          <a:bodyPr/>
          <a:lstStyle/>
          <a:p>
            <a:r>
              <a:rPr lang="zh-CN" altLang="en-US">
                <a:sym typeface="Huawei Sans" panose="020C0503030203020204" pitchFamily="34" charset="0"/>
              </a:rPr>
              <a:t>基于什么样的策略做业务分发？</a:t>
            </a:r>
            <a:endParaRPr lang="en-US" altLang="zh-CN" dirty="0">
              <a:sym typeface="Huawei Sans" panose="020C0503030203020204" pitchFamily="34" charset="0"/>
            </a:endParaRPr>
          </a:p>
        </p:txBody>
      </p:sp>
      <p:graphicFrame>
        <p:nvGraphicFramePr>
          <p:cNvPr id="51" name="表格 50"/>
          <p:cNvGraphicFramePr>
            <a:graphicFrameLocks noGrp="1"/>
          </p:cNvGraphicFramePr>
          <p:nvPr>
            <p:extLst>
              <p:ext uri="{D42A27DB-BD31-4B8C-83A1-F6EECF244321}">
                <p14:modId xmlns:p14="http://schemas.microsoft.com/office/powerpoint/2010/main" val="2773994604"/>
              </p:ext>
            </p:extLst>
          </p:nvPr>
        </p:nvGraphicFramePr>
        <p:xfrm>
          <a:off x="1199456" y="1988840"/>
          <a:ext cx="9757084" cy="4191713"/>
        </p:xfrm>
        <a:graphic>
          <a:graphicData uri="http://schemas.openxmlformats.org/drawingml/2006/table">
            <a:tbl>
              <a:tblPr/>
              <a:tblGrid>
                <a:gridCol w="1193905">
                  <a:extLst>
                    <a:ext uri="{9D8B030D-6E8A-4147-A177-3AD203B41FA5}">
                      <a16:colId xmlns:a16="http://schemas.microsoft.com/office/drawing/2014/main" val="20000"/>
                    </a:ext>
                  </a:extLst>
                </a:gridCol>
                <a:gridCol w="741044">
                  <a:extLst>
                    <a:ext uri="{9D8B030D-6E8A-4147-A177-3AD203B41FA5}">
                      <a16:colId xmlns:a16="http://schemas.microsoft.com/office/drawing/2014/main" val="20001"/>
                    </a:ext>
                  </a:extLst>
                </a:gridCol>
                <a:gridCol w="7822135">
                  <a:extLst>
                    <a:ext uri="{9D8B030D-6E8A-4147-A177-3AD203B41FA5}">
                      <a16:colId xmlns:a16="http://schemas.microsoft.com/office/drawing/2014/main" val="20002"/>
                    </a:ext>
                  </a:extLst>
                </a:gridCol>
              </a:tblGrid>
              <a:tr h="495851">
                <a:tc>
                  <a:txBody>
                    <a:bodyPr/>
                    <a:lstStyle/>
                    <a:p>
                      <a:pPr marL="0" algn="ctr" defTabSz="914034" rtl="0" eaLnBrk="1" latinLnBrk="0" hangingPunct="1"/>
                      <a:r>
                        <a:rPr lang="zh-CN" altLang="en-US" sz="1799"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调度算法</a:t>
                      </a:r>
                    </a:p>
                  </a:txBody>
                  <a:tcPr marL="90000" marR="90000" marT="46800" marB="4680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799"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权重</a:t>
                      </a: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799"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算法策略</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959099">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轮询</a:t>
                      </a:r>
                      <a:endPar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90000" marR="90000" marT="46800" marB="4680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支持</a:t>
                      </a: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根据后端服务器的权重，按顺序依次将请求分发给不同的服务器。它用相应的权重表示服务器的处理性能，按照权重的高低以及轮询方式将请求分配给各服务器，相同权重的服务器处理相同数目的连接数。常用于短连接服务，例如</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HTTP</a:t>
                      </a:r>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等服务。</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52745">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最少连接</a:t>
                      </a:r>
                    </a:p>
                  </a:txBody>
                  <a:tcPr marL="90000" marR="90000" marT="46800" marB="4680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支持</a:t>
                      </a: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最少连接是通过当前活跃的连接数来估计服务器负载情况的一种动态调度算法。加权最少连接就是在最少连接数的基础上，根据服务器的不同处理能力，给每个服务器分配不同的权重，使其能够接受相应权值数的服务请求。常用于长连接服务，例如数据库连接等服务。</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52745">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源</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IP</a:t>
                      </a:r>
                      <a:endPar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90000" marR="90000" marT="46800" marB="4680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只支持</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0</a:t>
                      </a:r>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权重</a:t>
                      </a: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marL="0" algn="l" defTabSz="914034" rtl="0" eaLnBrk="1" latinLnBrk="0" hangingPunct="1"/>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将请求的源</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IP</a:t>
                      </a:r>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地址进行</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Hash</a:t>
                      </a:r>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运算，得到一个具体的数值，同时对后端服务器进行编号，按照运算结果将请求分发到对应编号的服务器上。这可以使得对不同源</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IP</a:t>
                      </a:r>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的访问进行负载分发，同时使得同一个客户端</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IP</a:t>
                      </a:r>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的请求始终被派发至某特定的服务器。该方式适合负载均衡无</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cookie</a:t>
                      </a:r>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功能的</a:t>
                      </a:r>
                      <a:r>
                        <a:rPr lang="en-US" altLang="zh-CN"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TCP</a:t>
                      </a:r>
                      <a:r>
                        <a:rPr lang="zh-CN" altLang="en-US" sz="1799"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协议</a:t>
                      </a:r>
                    </a:p>
                  </a:txBody>
                  <a:tcPr marL="90000" marR="90000" marT="46800" marB="4680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299069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cs typeface="Arial" panose="020B0604020202020204" pitchFamily="34" charset="0"/>
                <a:sym typeface="Huawei Sans" panose="020C0503030203020204" pitchFamily="34" charset="0"/>
              </a:rPr>
              <a:t>ELB</a:t>
            </a:r>
            <a:r>
              <a:rPr lang="zh-CN" altLang="en-US" dirty="0">
                <a:cs typeface="Arial" panose="020B0604020202020204" pitchFamily="34" charset="0"/>
                <a:sym typeface="Huawei Sans" panose="020C0503030203020204" pitchFamily="34" charset="0"/>
              </a:rPr>
              <a:t>产品架构</a:t>
            </a:r>
          </a:p>
        </p:txBody>
      </p:sp>
      <p:sp>
        <p:nvSpPr>
          <p:cNvPr id="36" name="文本占位符 35"/>
          <p:cNvSpPr>
            <a:spLocks noGrp="1"/>
          </p:cNvSpPr>
          <p:nvPr>
            <p:ph type="body" sz="quarter" idx="10"/>
          </p:nvPr>
        </p:nvSpPr>
        <p:spPr/>
        <p:txBody>
          <a:bodyPr/>
          <a:lstStyle/>
          <a:p>
            <a:r>
              <a:rPr lang="en-US" altLang="zh-CN" kern="0" dirty="0">
                <a:cs typeface="Arial" panose="020B0604020202020204" pitchFamily="34" charset="0"/>
                <a:sym typeface="Huawei Sans" panose="020C0503030203020204" pitchFamily="34" charset="0"/>
              </a:rPr>
              <a:t>Load Balancer – ELB</a:t>
            </a:r>
            <a:r>
              <a:rPr lang="zh-CN" altLang="zh-CN" kern="0" dirty="0">
                <a:cs typeface="Arial" panose="020B0604020202020204" pitchFamily="34" charset="0"/>
                <a:sym typeface="Huawei Sans" panose="020C0503030203020204" pitchFamily="34" charset="0"/>
              </a:rPr>
              <a:t>实例</a:t>
            </a:r>
            <a:r>
              <a:rPr lang="en-US" altLang="zh-CN" kern="0" dirty="0">
                <a:cs typeface="Arial" panose="020B0604020202020204" pitchFamily="34" charset="0"/>
                <a:sym typeface="Huawei Sans" panose="020C0503030203020204" pitchFamily="34" charset="0"/>
              </a:rPr>
              <a:t> </a:t>
            </a:r>
          </a:p>
          <a:p>
            <a:r>
              <a:rPr lang="en-US" altLang="zh-CN" kern="0" dirty="0">
                <a:cs typeface="Arial" panose="020B0604020202020204" pitchFamily="34" charset="0"/>
                <a:sym typeface="Huawei Sans" panose="020C0503030203020204" pitchFamily="34" charset="0"/>
              </a:rPr>
              <a:t>Listener – </a:t>
            </a:r>
            <a:r>
              <a:rPr lang="zh-CN" altLang="en-US" kern="0" dirty="0">
                <a:cs typeface="Arial" panose="020B0604020202020204" pitchFamily="34" charset="0"/>
                <a:sym typeface="Huawei Sans" panose="020C0503030203020204" pitchFamily="34" charset="0"/>
              </a:rPr>
              <a:t>监听器</a:t>
            </a:r>
            <a:endParaRPr lang="en-US" altLang="zh-CN" kern="0" dirty="0">
              <a:cs typeface="Arial" panose="020B0604020202020204" pitchFamily="34" charset="0"/>
              <a:sym typeface="Huawei Sans" panose="020C0503030203020204" pitchFamily="34" charset="0"/>
            </a:endParaRPr>
          </a:p>
          <a:p>
            <a:r>
              <a:rPr lang="en-US" altLang="zh-CN" kern="0" dirty="0">
                <a:cs typeface="Arial" panose="020B0604020202020204" pitchFamily="34" charset="0"/>
                <a:sym typeface="Huawei Sans" panose="020C0503030203020204" pitchFamily="34" charset="0"/>
              </a:rPr>
              <a:t>Member – </a:t>
            </a:r>
            <a:r>
              <a:rPr lang="zh-CN" altLang="en-US" kern="0" dirty="0">
                <a:cs typeface="Arial" panose="020B0604020202020204" pitchFamily="34" charset="0"/>
                <a:sym typeface="Huawei Sans" panose="020C0503030203020204" pitchFamily="34" charset="0"/>
              </a:rPr>
              <a:t>后端云服务器</a:t>
            </a:r>
            <a:endParaRPr lang="en-US" altLang="zh-CN" kern="0" dirty="0">
              <a:cs typeface="Arial" panose="020B0604020202020204" pitchFamily="34" charset="0"/>
              <a:sym typeface="Huawei Sans" panose="020C0503030203020204" pitchFamily="34" charset="0"/>
            </a:endParaRPr>
          </a:p>
          <a:p>
            <a:r>
              <a:rPr lang="en-US" altLang="zh-CN" kern="0" dirty="0">
                <a:cs typeface="Arial" panose="020B0604020202020204" pitchFamily="34" charset="0"/>
                <a:sym typeface="Huawei Sans" panose="020C0503030203020204" pitchFamily="34" charset="0"/>
              </a:rPr>
              <a:t>Pool – </a:t>
            </a:r>
            <a:r>
              <a:rPr lang="zh-CN" altLang="en-US" kern="0" dirty="0">
                <a:cs typeface="Arial" panose="020B0604020202020204" pitchFamily="34" charset="0"/>
                <a:sym typeface="Huawei Sans" panose="020C0503030203020204" pitchFamily="34" charset="0"/>
              </a:rPr>
              <a:t>后端云服务器组</a:t>
            </a:r>
            <a:endParaRPr lang="en-US" altLang="zh-CN" kern="0" dirty="0">
              <a:cs typeface="Arial" panose="020B0604020202020204" pitchFamily="34" charset="0"/>
              <a:sym typeface="Huawei Sans" panose="020C0503030203020204" pitchFamily="34" charset="0"/>
            </a:endParaRPr>
          </a:p>
          <a:p>
            <a:r>
              <a:rPr lang="en-US" altLang="zh-CN" kern="0" dirty="0">
                <a:cs typeface="Arial" panose="020B0604020202020204" pitchFamily="34" charset="0"/>
                <a:sym typeface="Huawei Sans" panose="020C0503030203020204" pitchFamily="34" charset="0"/>
              </a:rPr>
              <a:t>Health Check – </a:t>
            </a:r>
            <a:r>
              <a:rPr lang="zh-CN" altLang="en-US" kern="0" dirty="0">
                <a:cs typeface="Arial" panose="020B0604020202020204" pitchFamily="34" charset="0"/>
                <a:sym typeface="Huawei Sans" panose="020C0503030203020204" pitchFamily="34" charset="0"/>
              </a:rPr>
              <a:t>健康检查</a:t>
            </a:r>
          </a:p>
          <a:p>
            <a:endParaRPr lang="zh-CN" altLang="en-US" dirty="0">
              <a:sym typeface="Huawei Sans" panose="020C0503030203020204" pitchFamily="34" charset="0"/>
            </a:endParaRPr>
          </a:p>
        </p:txBody>
      </p:sp>
      <p:sp>
        <p:nvSpPr>
          <p:cNvPr id="5" name="圆角矩形 4"/>
          <p:cNvSpPr/>
          <p:nvPr/>
        </p:nvSpPr>
        <p:spPr bwMode="auto">
          <a:xfrm>
            <a:off x="6101333" y="908720"/>
            <a:ext cx="3240360"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Load Balancer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auto">
          <a:xfrm>
            <a:off x="5995417" y="1508787"/>
            <a:ext cx="1008112"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Listener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auto">
          <a:xfrm>
            <a:off x="5951984" y="2048846"/>
            <a:ext cx="1080120" cy="2520280"/>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auto">
          <a:xfrm>
            <a:off x="6023992" y="2468893"/>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bwMode="auto">
          <a:xfrm>
            <a:off x="7219553" y="1508787"/>
            <a:ext cx="1008112"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Listener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auto">
          <a:xfrm>
            <a:off x="8443689" y="1508787"/>
            <a:ext cx="1008112"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Listener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auto">
          <a:xfrm>
            <a:off x="6023992" y="2888940"/>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1"/>
          <p:cNvSpPr/>
          <p:nvPr/>
        </p:nvSpPr>
        <p:spPr bwMode="auto">
          <a:xfrm>
            <a:off x="6023992" y="3308987"/>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圆角矩形 12"/>
          <p:cNvSpPr/>
          <p:nvPr/>
        </p:nvSpPr>
        <p:spPr bwMode="auto">
          <a:xfrm>
            <a:off x="6023992" y="3729033"/>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13"/>
          <p:cNvSpPr/>
          <p:nvPr/>
        </p:nvSpPr>
        <p:spPr bwMode="auto">
          <a:xfrm>
            <a:off x="7185645" y="2048846"/>
            <a:ext cx="1080120" cy="2520280"/>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圆角矩形 14"/>
          <p:cNvSpPr/>
          <p:nvPr/>
        </p:nvSpPr>
        <p:spPr bwMode="auto">
          <a:xfrm>
            <a:off x="7291561" y="2468893"/>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圆角矩形 15"/>
          <p:cNvSpPr/>
          <p:nvPr/>
        </p:nvSpPr>
        <p:spPr bwMode="auto">
          <a:xfrm>
            <a:off x="7291561" y="2888940"/>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auto">
          <a:xfrm>
            <a:off x="7291561" y="3308987"/>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圆角矩形 17"/>
          <p:cNvSpPr/>
          <p:nvPr/>
        </p:nvSpPr>
        <p:spPr bwMode="auto">
          <a:xfrm>
            <a:off x="7291561" y="3729033"/>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圆角矩形 18"/>
          <p:cNvSpPr/>
          <p:nvPr/>
        </p:nvSpPr>
        <p:spPr bwMode="auto">
          <a:xfrm>
            <a:off x="8415114" y="2048846"/>
            <a:ext cx="1080120" cy="2520280"/>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bwMode="auto">
          <a:xfrm>
            <a:off x="8487122" y="2468893"/>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auto">
          <a:xfrm>
            <a:off x="8487122" y="2888940"/>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auto">
          <a:xfrm>
            <a:off x="8487122" y="3308987"/>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bwMode="auto">
          <a:xfrm>
            <a:off x="8487122" y="3729033"/>
            <a:ext cx="936104" cy="300033"/>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Member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 name="直接连接符 23"/>
          <p:cNvCxnSpPr>
            <a:stCxn id="5" idx="2"/>
            <a:endCxn id="6" idx="0"/>
          </p:cNvCxnSpPr>
          <p:nvPr/>
        </p:nvCxnSpPr>
        <p:spPr bwMode="auto">
          <a:xfrm flipH="1">
            <a:off x="6499473" y="1208753"/>
            <a:ext cx="1222040" cy="300033"/>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5" name="直接连接符 24"/>
          <p:cNvCxnSpPr>
            <a:stCxn id="5" idx="2"/>
            <a:endCxn id="9" idx="0"/>
          </p:cNvCxnSpPr>
          <p:nvPr/>
        </p:nvCxnSpPr>
        <p:spPr bwMode="auto">
          <a:xfrm>
            <a:off x="7721513" y="1208753"/>
            <a:ext cx="2096" cy="300033"/>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6" name="直接连接符 25"/>
          <p:cNvCxnSpPr>
            <a:stCxn id="5" idx="2"/>
            <a:endCxn id="10" idx="0"/>
          </p:cNvCxnSpPr>
          <p:nvPr/>
        </p:nvCxnSpPr>
        <p:spPr bwMode="auto">
          <a:xfrm>
            <a:off x="7721513" y="1208753"/>
            <a:ext cx="1226232" cy="300033"/>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7" name="直接连接符 26"/>
          <p:cNvCxnSpPr>
            <a:stCxn id="6" idx="2"/>
            <a:endCxn id="7" idx="0"/>
          </p:cNvCxnSpPr>
          <p:nvPr/>
        </p:nvCxnSpPr>
        <p:spPr bwMode="auto">
          <a:xfrm flipH="1">
            <a:off x="6492045" y="1808820"/>
            <a:ext cx="7429" cy="240027"/>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8" name="直接连接符 27"/>
          <p:cNvCxnSpPr>
            <a:stCxn id="9" idx="2"/>
            <a:endCxn id="14" idx="0"/>
          </p:cNvCxnSpPr>
          <p:nvPr/>
        </p:nvCxnSpPr>
        <p:spPr bwMode="auto">
          <a:xfrm>
            <a:off x="7723609" y="1808820"/>
            <a:ext cx="2096" cy="240027"/>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9" name="直接连接符 28"/>
          <p:cNvCxnSpPr>
            <a:stCxn id="10" idx="2"/>
            <a:endCxn id="19" idx="0"/>
          </p:cNvCxnSpPr>
          <p:nvPr/>
        </p:nvCxnSpPr>
        <p:spPr bwMode="auto">
          <a:xfrm>
            <a:off x="8947746" y="1808820"/>
            <a:ext cx="7429" cy="240027"/>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0" name="圆角矩形 29"/>
          <p:cNvSpPr/>
          <p:nvPr/>
        </p:nvSpPr>
        <p:spPr bwMode="auto">
          <a:xfrm>
            <a:off x="5957317" y="4941168"/>
            <a:ext cx="1080120" cy="504056"/>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Health</a:t>
            </a:r>
          </a:p>
          <a:p>
            <a:pPr marL="0" marR="0" indent="0" algn="ctr" defTabSz="914400" rtl="0" eaLnBrk="1" fontAlgn="base" latinLnBrk="0" hangingPunct="1">
              <a:lnSpc>
                <a:spcPct val="100000"/>
              </a:lnSpc>
              <a:spcBef>
                <a:spcPct val="0"/>
              </a:spcBef>
              <a:spcAft>
                <a:spcPct val="0"/>
              </a:spcAft>
              <a:buClr>
                <a:srgbClr val="CC9900"/>
              </a:buClr>
              <a:buSzTx/>
              <a:tabLs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Check</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圆角矩形 30"/>
          <p:cNvSpPr/>
          <p:nvPr/>
        </p:nvSpPr>
        <p:spPr bwMode="auto">
          <a:xfrm>
            <a:off x="7262986" y="4941168"/>
            <a:ext cx="936104" cy="504056"/>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Health</a:t>
            </a:r>
          </a:p>
          <a:p>
            <a:pPr marL="0" marR="0" indent="0" algn="ctr" defTabSz="914400" rtl="0" eaLnBrk="1" fontAlgn="base" latinLnBrk="0" hangingPunct="1">
              <a:lnSpc>
                <a:spcPct val="100000"/>
              </a:lnSpc>
              <a:spcBef>
                <a:spcPct val="0"/>
              </a:spcBef>
              <a:spcAft>
                <a:spcPct val="0"/>
              </a:spcAft>
              <a:buClr>
                <a:srgbClr val="CC9900"/>
              </a:buClr>
              <a:buSzTx/>
              <a:tabLs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Check</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31"/>
          <p:cNvSpPr/>
          <p:nvPr/>
        </p:nvSpPr>
        <p:spPr bwMode="auto">
          <a:xfrm>
            <a:off x="8549605" y="4905164"/>
            <a:ext cx="864096" cy="504056"/>
          </a:xfrm>
          <a:prstGeom prst="round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Health</a:t>
            </a:r>
          </a:p>
          <a:p>
            <a:pPr marL="0" marR="0" indent="0" algn="ctr" defTabSz="914400" rtl="0" eaLnBrk="1" fontAlgn="base" latinLnBrk="0" hangingPunct="1">
              <a:lnSpc>
                <a:spcPct val="100000"/>
              </a:lnSpc>
              <a:spcBef>
                <a:spcPct val="0"/>
              </a:spcBef>
              <a:spcAft>
                <a:spcPct val="0"/>
              </a:spcAft>
              <a:buClr>
                <a:srgbClr val="CC9900"/>
              </a:buClr>
              <a:buSzTx/>
              <a:tabLs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Check</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a:stCxn id="7" idx="2"/>
            <a:endCxn id="30" idx="0"/>
          </p:cNvCxnSpPr>
          <p:nvPr/>
        </p:nvCxnSpPr>
        <p:spPr bwMode="auto">
          <a:xfrm>
            <a:off x="6492044" y="4569126"/>
            <a:ext cx="5333" cy="372042"/>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4" name="直接连接符 33"/>
          <p:cNvCxnSpPr>
            <a:stCxn id="14" idx="2"/>
            <a:endCxn id="31" idx="0"/>
          </p:cNvCxnSpPr>
          <p:nvPr/>
        </p:nvCxnSpPr>
        <p:spPr bwMode="auto">
          <a:xfrm>
            <a:off x="7725705" y="4569126"/>
            <a:ext cx="5333" cy="372042"/>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5" name="直接连接符 34"/>
          <p:cNvCxnSpPr>
            <a:endCxn id="32" idx="0"/>
          </p:cNvCxnSpPr>
          <p:nvPr/>
        </p:nvCxnSpPr>
        <p:spPr bwMode="auto">
          <a:xfrm>
            <a:off x="8974224" y="4569126"/>
            <a:ext cx="7429" cy="336038"/>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 name="文本框 1"/>
          <p:cNvSpPr txBox="1"/>
          <p:nvPr/>
        </p:nvSpPr>
        <p:spPr bwMode="auto">
          <a:xfrm>
            <a:off x="6192310" y="4224909"/>
            <a:ext cx="562525"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Pool</a:t>
            </a:r>
            <a:endPar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8" name="文本框 37"/>
          <p:cNvSpPr txBox="1"/>
          <p:nvPr/>
        </p:nvSpPr>
        <p:spPr bwMode="auto">
          <a:xfrm>
            <a:off x="7447108" y="4218894"/>
            <a:ext cx="562525"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Pool</a:t>
            </a:r>
            <a:endPar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9" name="文本框 38"/>
          <p:cNvSpPr txBox="1"/>
          <p:nvPr/>
        </p:nvSpPr>
        <p:spPr bwMode="auto">
          <a:xfrm>
            <a:off x="8673911" y="4206908"/>
            <a:ext cx="562525"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Pool</a:t>
            </a:r>
            <a:endPar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19360820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Arial" panose="020B0604020202020204" pitchFamily="34" charset="0"/>
                <a:sym typeface="Huawei Sans" panose="020C0503030203020204" pitchFamily="34" charset="0"/>
              </a:rPr>
              <a:t>ELB</a:t>
            </a:r>
            <a:r>
              <a:rPr lang="zh-CN" altLang="en-US" dirty="0">
                <a:cs typeface="Arial" panose="020B0604020202020204" pitchFamily="34" charset="0"/>
                <a:sym typeface="Huawei Sans" panose="020C0503030203020204" pitchFamily="34" charset="0"/>
              </a:rPr>
              <a:t>管理操作</a:t>
            </a:r>
            <a:endParaRPr lang="en-US" dirty="0">
              <a:cs typeface="Arial" panose="020B0604020202020204" pitchFamily="34" charset="0"/>
              <a:sym typeface="Huawei Sans" panose="020C0503030203020204" pitchFamily="34" charset="0"/>
            </a:endParaRPr>
          </a:p>
        </p:txBody>
      </p:sp>
      <p:grpSp>
        <p:nvGrpSpPr>
          <p:cNvPr id="3" name="Group 3"/>
          <p:cNvGrpSpPr>
            <a:grpSpLocks/>
          </p:cNvGrpSpPr>
          <p:nvPr/>
        </p:nvGrpSpPr>
        <p:grpSpPr bwMode="auto">
          <a:xfrm>
            <a:off x="3827748" y="1988840"/>
            <a:ext cx="3352800" cy="3429000"/>
            <a:chOff x="2064" y="1614"/>
            <a:chExt cx="1686" cy="1735"/>
          </a:xfrm>
        </p:grpSpPr>
        <p:sp>
          <p:nvSpPr>
            <p:cNvPr id="4" name="Oval 4"/>
            <p:cNvSpPr>
              <a:spLocks noChangeArrowheads="1"/>
            </p:cNvSpPr>
            <p:nvPr/>
          </p:nvSpPr>
          <p:spPr bwMode="gray">
            <a:xfrm>
              <a:off x="2068" y="1614"/>
              <a:ext cx="1676" cy="1681"/>
            </a:xfrm>
            <a:prstGeom prst="ellipse">
              <a:avLst/>
            </a:prstGeom>
            <a:gradFill rotWithShape="1">
              <a:gsLst>
                <a:gs pos="0">
                  <a:schemeClr val="bg1">
                    <a:gamma/>
                    <a:shade val="0"/>
                    <a:invGamma/>
                    <a:alpha val="27000"/>
                  </a:schemeClr>
                </a:gs>
                <a:gs pos="50000">
                  <a:schemeClr val="bg1">
                    <a:alpha val="0"/>
                  </a:schemeClr>
                </a:gs>
                <a:gs pos="100000">
                  <a:schemeClr val="bg1">
                    <a:gamma/>
                    <a:shade val="0"/>
                    <a:invGamma/>
                    <a:alpha val="27000"/>
                  </a:schemeClr>
                </a:gs>
              </a:gsLst>
              <a:lin ang="2700000" scaled="1"/>
            </a:gradFill>
            <a:ln w="9525">
              <a:noFill/>
              <a:round/>
              <a:headEnd/>
              <a:tailEnd/>
            </a:ln>
            <a:effectLst/>
          </p:spPr>
          <p:txBody>
            <a:bodyPr wrap="none" anchor="ctr"/>
            <a:lstStyle/>
            <a:p>
              <a:pPr>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Picture 5" descr="aa"/>
            <p:cNvPicPr>
              <a:picLocks noChangeAspect="1" noChangeArrowheads="1"/>
            </p:cNvPicPr>
            <p:nvPr/>
          </p:nvPicPr>
          <p:blipFill>
            <a:blip r:embed="rId2" cstate="print"/>
            <a:srcRect/>
            <a:stretch>
              <a:fillRect/>
            </a:stretch>
          </p:blipFill>
          <p:spPr bwMode="gray">
            <a:xfrm>
              <a:off x="2064" y="1614"/>
              <a:ext cx="1683" cy="1694"/>
            </a:xfrm>
            <a:prstGeom prst="rect">
              <a:avLst/>
            </a:prstGeom>
            <a:noFill/>
            <a:ln w="9525">
              <a:noFill/>
              <a:miter lim="800000"/>
              <a:headEnd/>
              <a:tailEnd/>
            </a:ln>
          </p:spPr>
        </p:pic>
        <p:sp>
          <p:nvSpPr>
            <p:cNvPr id="6" name="Arc 6"/>
            <p:cNvSpPr>
              <a:spLocks/>
            </p:cNvSpPr>
            <p:nvPr/>
          </p:nvSpPr>
          <p:spPr bwMode="black">
            <a:xfrm>
              <a:off x="2912" y="1616"/>
              <a:ext cx="837" cy="847"/>
            </a:xfrm>
            <a:custGeom>
              <a:avLst/>
              <a:gdLst>
                <a:gd name="T0" fmla="*/ 0 w 21597"/>
                <a:gd name="T1" fmla="*/ 0 h 21600"/>
                <a:gd name="T2" fmla="*/ 0 w 21597"/>
                <a:gd name="T3" fmla="*/ 0 h 21600"/>
                <a:gd name="T4" fmla="*/ 0 w 21597"/>
                <a:gd name="T5" fmla="*/ 0 h 21600"/>
                <a:gd name="T6" fmla="*/ 0 60000 65536"/>
                <a:gd name="T7" fmla="*/ 0 60000 65536"/>
                <a:gd name="T8" fmla="*/ 0 60000 65536"/>
                <a:gd name="T9" fmla="*/ 0 w 21597"/>
                <a:gd name="T10" fmla="*/ 0 h 21600"/>
                <a:gd name="T11" fmla="*/ 21597 w 21597"/>
                <a:gd name="T12" fmla="*/ 21600 h 21600"/>
              </a:gdLst>
              <a:ahLst/>
              <a:cxnLst>
                <a:cxn ang="T6">
                  <a:pos x="T0" y="T1"/>
                </a:cxn>
                <a:cxn ang="T7">
                  <a:pos x="T2" y="T3"/>
                </a:cxn>
                <a:cxn ang="T8">
                  <a:pos x="T4" y="T5"/>
                </a:cxn>
              </a:cxnLst>
              <a:rect l="T9" t="T10" r="T11" b="T12"/>
              <a:pathLst>
                <a:path w="21597" h="21600" fill="none" extrusionOk="0">
                  <a:moveTo>
                    <a:pt x="-1" y="0"/>
                  </a:moveTo>
                  <a:cubicBezTo>
                    <a:pt x="11791" y="0"/>
                    <a:pt x="21403" y="9456"/>
                    <a:pt x="21597" y="21245"/>
                  </a:cubicBezTo>
                </a:path>
                <a:path w="21597" h="21600" stroke="0" extrusionOk="0">
                  <a:moveTo>
                    <a:pt x="-1" y="0"/>
                  </a:moveTo>
                  <a:cubicBezTo>
                    <a:pt x="11791" y="0"/>
                    <a:pt x="21403" y="9456"/>
                    <a:pt x="21597" y="21245"/>
                  </a:cubicBezTo>
                  <a:lnTo>
                    <a:pt x="0" y="21600"/>
                  </a:lnTo>
                  <a:lnTo>
                    <a:pt x="-1" y="0"/>
                  </a:lnTo>
                  <a:close/>
                </a:path>
              </a:pathLst>
            </a:custGeom>
            <a:solidFill>
              <a:schemeClr val="folHlink">
                <a:alpha val="58823"/>
              </a:schemeClr>
            </a:solidFill>
            <a:ln w="9525">
              <a:noFill/>
              <a:round/>
              <a:headEnd/>
              <a:tailEnd/>
            </a:ln>
          </p:spPr>
          <p:txBody>
            <a:bodyPr wrap="none" anchor="ct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Arc 7"/>
            <p:cNvSpPr>
              <a:spLocks/>
            </p:cNvSpPr>
            <p:nvPr/>
          </p:nvSpPr>
          <p:spPr bwMode="gray">
            <a:xfrm rot="5400000">
              <a:off x="2898" y="2453"/>
              <a:ext cx="862" cy="842"/>
            </a:xfrm>
            <a:custGeom>
              <a:avLst/>
              <a:gdLst>
                <a:gd name="T0" fmla="*/ 0 w 22011"/>
                <a:gd name="T1" fmla="*/ 0 h 21670"/>
                <a:gd name="T2" fmla="*/ 0 w 22011"/>
                <a:gd name="T3" fmla="*/ 0 h 21670"/>
                <a:gd name="T4" fmla="*/ 0 w 22011"/>
                <a:gd name="T5" fmla="*/ 0 h 21670"/>
                <a:gd name="T6" fmla="*/ 0 60000 65536"/>
                <a:gd name="T7" fmla="*/ 0 60000 65536"/>
                <a:gd name="T8" fmla="*/ 0 60000 65536"/>
                <a:gd name="T9" fmla="*/ 0 w 22011"/>
                <a:gd name="T10" fmla="*/ 0 h 21670"/>
                <a:gd name="T11" fmla="*/ 22011 w 22011"/>
                <a:gd name="T12" fmla="*/ 21670 h 21670"/>
              </a:gdLst>
              <a:ahLst/>
              <a:cxnLst>
                <a:cxn ang="T6">
                  <a:pos x="T0" y="T1"/>
                </a:cxn>
                <a:cxn ang="T7">
                  <a:pos x="T2" y="T3"/>
                </a:cxn>
                <a:cxn ang="T8">
                  <a:pos x="T4" y="T5"/>
                </a:cxn>
              </a:cxnLst>
              <a:rect l="T9" t="T10" r="T11" b="T12"/>
              <a:pathLst>
                <a:path w="22011" h="21670" fill="none" extrusionOk="0">
                  <a:moveTo>
                    <a:pt x="-1" y="3"/>
                  </a:moveTo>
                  <a:cubicBezTo>
                    <a:pt x="136" y="1"/>
                    <a:pt x="273" y="-1"/>
                    <a:pt x="411" y="0"/>
                  </a:cubicBezTo>
                  <a:cubicBezTo>
                    <a:pt x="12340" y="0"/>
                    <a:pt x="22011" y="9670"/>
                    <a:pt x="22011" y="21600"/>
                  </a:cubicBezTo>
                  <a:cubicBezTo>
                    <a:pt x="22011" y="21623"/>
                    <a:pt x="22010" y="21646"/>
                    <a:pt x="22010" y="21669"/>
                  </a:cubicBezTo>
                </a:path>
                <a:path w="22011" h="21670" stroke="0" extrusionOk="0">
                  <a:moveTo>
                    <a:pt x="-1" y="3"/>
                  </a:moveTo>
                  <a:cubicBezTo>
                    <a:pt x="136" y="1"/>
                    <a:pt x="273" y="-1"/>
                    <a:pt x="411" y="0"/>
                  </a:cubicBezTo>
                  <a:cubicBezTo>
                    <a:pt x="12340" y="0"/>
                    <a:pt x="22011" y="9670"/>
                    <a:pt x="22011" y="21600"/>
                  </a:cubicBezTo>
                  <a:cubicBezTo>
                    <a:pt x="22011" y="21623"/>
                    <a:pt x="22010" y="21646"/>
                    <a:pt x="22010" y="21669"/>
                  </a:cubicBezTo>
                  <a:lnTo>
                    <a:pt x="411" y="21600"/>
                  </a:lnTo>
                  <a:lnTo>
                    <a:pt x="-1" y="3"/>
                  </a:lnTo>
                  <a:close/>
                </a:path>
              </a:pathLst>
            </a:custGeom>
            <a:solidFill>
              <a:srgbClr val="93C052">
                <a:alpha val="50195"/>
              </a:srgbClr>
            </a:solidFill>
            <a:ln w="9525">
              <a:noFill/>
              <a:round/>
              <a:headEnd/>
              <a:tailEnd/>
            </a:ln>
          </p:spPr>
          <p:txBody>
            <a:bodyPr wrap="none" anchor="ct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Arc 8"/>
            <p:cNvSpPr>
              <a:spLocks/>
            </p:cNvSpPr>
            <p:nvPr/>
          </p:nvSpPr>
          <p:spPr bwMode="gray">
            <a:xfrm rot="5400000" flipH="1" flipV="1">
              <a:off x="2071" y="1620"/>
              <a:ext cx="844" cy="844"/>
            </a:xfrm>
            <a:custGeom>
              <a:avLst/>
              <a:gdLst>
                <a:gd name="T0" fmla="*/ 0 w 21600"/>
                <a:gd name="T1" fmla="*/ 0 h 21787"/>
                <a:gd name="T2" fmla="*/ 0 w 21600"/>
                <a:gd name="T3" fmla="*/ 0 h 21787"/>
                <a:gd name="T4" fmla="*/ 0 w 21600"/>
                <a:gd name="T5" fmla="*/ 0 h 21787"/>
                <a:gd name="T6" fmla="*/ 0 60000 65536"/>
                <a:gd name="T7" fmla="*/ 0 60000 65536"/>
                <a:gd name="T8" fmla="*/ 0 60000 65536"/>
                <a:gd name="T9" fmla="*/ 0 w 21600"/>
                <a:gd name="T10" fmla="*/ 0 h 21787"/>
                <a:gd name="T11" fmla="*/ 21600 w 21600"/>
                <a:gd name="T12" fmla="*/ 21787 h 21787"/>
              </a:gdLst>
              <a:ahLst/>
              <a:cxnLst>
                <a:cxn ang="T6">
                  <a:pos x="T0" y="T1"/>
                </a:cxn>
                <a:cxn ang="T7">
                  <a:pos x="T2" y="T3"/>
                </a:cxn>
                <a:cxn ang="T8">
                  <a:pos x="T4" y="T5"/>
                </a:cxn>
              </a:cxnLst>
              <a:rect l="T9" t="T10" r="T11" b="T12"/>
              <a:pathLst>
                <a:path w="21600" h="21787" fill="none" extrusionOk="0">
                  <a:moveTo>
                    <a:pt x="425" y="0"/>
                  </a:moveTo>
                  <a:cubicBezTo>
                    <a:pt x="12187" y="232"/>
                    <a:pt x="21600" y="9832"/>
                    <a:pt x="21600" y="21596"/>
                  </a:cubicBezTo>
                  <a:cubicBezTo>
                    <a:pt x="21600" y="21659"/>
                    <a:pt x="21599" y="21723"/>
                    <a:pt x="21599" y="21787"/>
                  </a:cubicBezTo>
                </a:path>
                <a:path w="21600" h="21787" stroke="0" extrusionOk="0">
                  <a:moveTo>
                    <a:pt x="425" y="0"/>
                  </a:moveTo>
                  <a:cubicBezTo>
                    <a:pt x="12187" y="232"/>
                    <a:pt x="21600" y="9832"/>
                    <a:pt x="21600" y="21596"/>
                  </a:cubicBezTo>
                  <a:cubicBezTo>
                    <a:pt x="21600" y="21659"/>
                    <a:pt x="21599" y="21723"/>
                    <a:pt x="21599" y="21787"/>
                  </a:cubicBezTo>
                  <a:lnTo>
                    <a:pt x="0" y="21596"/>
                  </a:lnTo>
                  <a:lnTo>
                    <a:pt x="425" y="0"/>
                  </a:lnTo>
                  <a:close/>
                </a:path>
              </a:pathLst>
            </a:custGeom>
            <a:solidFill>
              <a:srgbClr val="93C052">
                <a:alpha val="50195"/>
              </a:srgbClr>
            </a:solidFill>
            <a:ln w="9525">
              <a:noFill/>
              <a:round/>
              <a:headEnd/>
              <a:tailEnd/>
            </a:ln>
          </p:spPr>
          <p:txBody>
            <a:bodyPr wrap="none" anchor="ct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Arc 9"/>
            <p:cNvSpPr>
              <a:spLocks/>
            </p:cNvSpPr>
            <p:nvPr/>
          </p:nvSpPr>
          <p:spPr bwMode="black">
            <a:xfrm rot="10419033">
              <a:off x="2115" y="2395"/>
              <a:ext cx="840" cy="954"/>
            </a:xfrm>
            <a:custGeom>
              <a:avLst/>
              <a:gdLst>
                <a:gd name="T0" fmla="*/ 0 w 21600"/>
                <a:gd name="T1" fmla="*/ 0 h 24319"/>
                <a:gd name="T2" fmla="*/ 0 w 21600"/>
                <a:gd name="T3" fmla="*/ 0 h 24319"/>
                <a:gd name="T4" fmla="*/ 0 w 21600"/>
                <a:gd name="T5" fmla="*/ 0 h 24319"/>
                <a:gd name="T6" fmla="*/ 0 60000 65536"/>
                <a:gd name="T7" fmla="*/ 0 60000 65536"/>
                <a:gd name="T8" fmla="*/ 0 60000 65536"/>
                <a:gd name="T9" fmla="*/ 0 w 21600"/>
                <a:gd name="T10" fmla="*/ 0 h 24319"/>
                <a:gd name="T11" fmla="*/ 21600 w 21600"/>
                <a:gd name="T12" fmla="*/ 24319 h 24319"/>
              </a:gdLst>
              <a:ahLst/>
              <a:cxnLst>
                <a:cxn ang="T6">
                  <a:pos x="T0" y="T1"/>
                </a:cxn>
                <a:cxn ang="T7">
                  <a:pos x="T2" y="T3"/>
                </a:cxn>
                <a:cxn ang="T8">
                  <a:pos x="T4" y="T5"/>
                </a:cxn>
              </a:cxnLst>
              <a:rect l="T9" t="T10" r="T11" b="T12"/>
              <a:pathLst>
                <a:path w="21600" h="24319" fill="none" extrusionOk="0">
                  <a:moveTo>
                    <a:pt x="2373" y="-1"/>
                  </a:moveTo>
                  <a:cubicBezTo>
                    <a:pt x="13317" y="1209"/>
                    <a:pt x="21600" y="10458"/>
                    <a:pt x="21600" y="21469"/>
                  </a:cubicBezTo>
                  <a:cubicBezTo>
                    <a:pt x="21600" y="22422"/>
                    <a:pt x="21536" y="23374"/>
                    <a:pt x="21411" y="24319"/>
                  </a:cubicBezTo>
                </a:path>
                <a:path w="21600" h="24319" stroke="0" extrusionOk="0">
                  <a:moveTo>
                    <a:pt x="2373" y="-1"/>
                  </a:moveTo>
                  <a:cubicBezTo>
                    <a:pt x="13317" y="1209"/>
                    <a:pt x="21600" y="10458"/>
                    <a:pt x="21600" y="21469"/>
                  </a:cubicBezTo>
                  <a:cubicBezTo>
                    <a:pt x="21600" y="22422"/>
                    <a:pt x="21536" y="23374"/>
                    <a:pt x="21411" y="24319"/>
                  </a:cubicBezTo>
                  <a:lnTo>
                    <a:pt x="0" y="21469"/>
                  </a:lnTo>
                  <a:lnTo>
                    <a:pt x="2373" y="-1"/>
                  </a:lnTo>
                  <a:close/>
                </a:path>
              </a:pathLst>
            </a:custGeom>
            <a:solidFill>
              <a:schemeClr val="folHlink">
                <a:alpha val="50195"/>
              </a:schemeClr>
            </a:solidFill>
            <a:ln w="9525">
              <a:noFill/>
              <a:round/>
              <a:headEnd/>
              <a:tailEnd/>
            </a:ln>
          </p:spPr>
          <p:txBody>
            <a:bodyPr wrap="none" anchor="ct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WordArt 10"/>
            <p:cNvSpPr>
              <a:spLocks noChangeArrowheads="1" noChangeShapeType="1" noTextEdit="1"/>
            </p:cNvSpPr>
            <p:nvPr/>
          </p:nvSpPr>
          <p:spPr bwMode="gray">
            <a:xfrm rot="-2622708">
              <a:off x="2261" y="1927"/>
              <a:ext cx="845" cy="625"/>
            </a:xfrm>
            <a:prstGeom prst="rect">
              <a:avLst/>
            </a:prstGeom>
          </p:spPr>
          <p:txBody>
            <a:bodyPr spcFirstLastPara="1" wrap="none" fromWordArt="1" anchor="ctr">
              <a:prstTxWarp prst="textArchUp">
                <a:avLst>
                  <a:gd name="adj" fmla="val 12208396"/>
                </a:avLst>
              </a:prstTxWarp>
            </a:bodyPr>
            <a:lstStyle/>
            <a:p>
              <a:pPr algn="ctr"/>
              <a:r>
                <a:rPr lang="zh-CN" altLang="en-US" kern="10" dirty="0">
                  <a:ln w="6350">
                    <a:solidFill>
                      <a:srgbClr val="FFFFFF"/>
                    </a:solidFill>
                    <a:round/>
                    <a:headEnd/>
                    <a:tailEnd/>
                  </a:ln>
                  <a:solidFill>
                    <a:srgbClr val="FFFFFF"/>
                  </a:solidFill>
                  <a:latin typeface="Huawei Sans" panose="020C0503030203020204" pitchFamily="34" charset="0"/>
                  <a:ea typeface="方正兰亭黑简体" panose="02000000000000000000" pitchFamily="2" charset="-122"/>
                  <a:cs typeface="Verdana"/>
                  <a:sym typeface="Huawei Sans" panose="020C0503030203020204" pitchFamily="34" charset="0"/>
                </a:rPr>
                <a:t>负载均衡管理</a:t>
              </a:r>
            </a:p>
          </p:txBody>
        </p:sp>
        <p:sp>
          <p:nvSpPr>
            <p:cNvPr id="11" name="WordArt 11"/>
            <p:cNvSpPr>
              <a:spLocks noChangeArrowheads="1" noChangeShapeType="1" noTextEdit="1"/>
            </p:cNvSpPr>
            <p:nvPr/>
          </p:nvSpPr>
          <p:spPr bwMode="gray">
            <a:xfrm rot="2686923">
              <a:off x="2744" y="1938"/>
              <a:ext cx="843" cy="625"/>
            </a:xfrm>
            <a:prstGeom prst="rect">
              <a:avLst/>
            </a:prstGeom>
          </p:spPr>
          <p:txBody>
            <a:bodyPr spcFirstLastPara="1" wrap="none" fromWordArt="1" anchor="ctr">
              <a:prstTxWarp prst="textArchUp">
                <a:avLst>
                  <a:gd name="adj" fmla="val 12211372"/>
                </a:avLst>
              </a:prstTxWarp>
            </a:bodyPr>
            <a:lstStyle/>
            <a:p>
              <a:pPr algn="ctr"/>
              <a:r>
                <a:rPr lang="zh-CN" altLang="en-US" kern="10" dirty="0">
                  <a:ln w="6350">
                    <a:solidFill>
                      <a:srgbClr val="FFFFFF"/>
                    </a:solidFill>
                    <a:round/>
                    <a:headEnd/>
                    <a:tailEnd/>
                  </a:ln>
                  <a:solidFill>
                    <a:srgbClr val="FFFFFF"/>
                  </a:solidFill>
                  <a:latin typeface="Huawei Sans" panose="020C0503030203020204" pitchFamily="34" charset="0"/>
                  <a:ea typeface="方正兰亭黑简体" panose="02000000000000000000" pitchFamily="2" charset="-122"/>
                  <a:cs typeface="Verdana"/>
                  <a:sym typeface="Huawei Sans" panose="020C0503030203020204" pitchFamily="34" charset="0"/>
                </a:rPr>
                <a:t>监听器管理</a:t>
              </a:r>
            </a:p>
          </p:txBody>
        </p:sp>
        <p:sp>
          <p:nvSpPr>
            <p:cNvPr id="12" name="WordArt 12"/>
            <p:cNvSpPr>
              <a:spLocks noChangeArrowheads="1" noChangeShapeType="1" noTextEdit="1"/>
            </p:cNvSpPr>
            <p:nvPr/>
          </p:nvSpPr>
          <p:spPr bwMode="gray">
            <a:xfrm rot="2760178">
              <a:off x="2197" y="2629"/>
              <a:ext cx="785" cy="312"/>
            </a:xfrm>
            <a:prstGeom prst="rect">
              <a:avLst/>
            </a:prstGeom>
          </p:spPr>
          <p:txBody>
            <a:bodyPr spcFirstLastPara="1" wrap="none" fromWordArt="1" anchor="ctr">
              <a:prstTxWarp prst="textArchDown">
                <a:avLst>
                  <a:gd name="adj" fmla="val 433212"/>
                </a:avLst>
              </a:prstTxWarp>
            </a:bodyPr>
            <a:lstStyle/>
            <a:p>
              <a:pPr algn="ctr"/>
              <a:r>
                <a:rPr lang="zh-CN" altLang="en-US" kern="10" dirty="0">
                  <a:ln w="6350">
                    <a:solidFill>
                      <a:srgbClr val="FFFFFF"/>
                    </a:solidFill>
                    <a:round/>
                    <a:headEnd/>
                    <a:tailEnd/>
                  </a:ln>
                  <a:solidFill>
                    <a:srgbClr val="FFFFFF"/>
                  </a:solidFill>
                  <a:latin typeface="Huawei Sans" panose="020C0503030203020204" pitchFamily="34" charset="0"/>
                  <a:ea typeface="方正兰亭黑简体" panose="02000000000000000000" pitchFamily="2" charset="-122"/>
                  <a:cs typeface="Verdana"/>
                  <a:sym typeface="Huawei Sans" panose="020C0503030203020204" pitchFamily="34" charset="0"/>
                </a:rPr>
                <a:t>后端服务器组管理</a:t>
              </a:r>
            </a:p>
          </p:txBody>
        </p:sp>
        <p:sp>
          <p:nvSpPr>
            <p:cNvPr id="13" name="WordArt 13"/>
            <p:cNvSpPr>
              <a:spLocks noChangeArrowheads="1" noChangeShapeType="1" noTextEdit="1"/>
            </p:cNvSpPr>
            <p:nvPr/>
          </p:nvSpPr>
          <p:spPr bwMode="gray">
            <a:xfrm rot="-2515986">
              <a:off x="2849" y="2613"/>
              <a:ext cx="777" cy="315"/>
            </a:xfrm>
            <a:prstGeom prst="rect">
              <a:avLst/>
            </a:prstGeom>
          </p:spPr>
          <p:txBody>
            <a:bodyPr spcFirstLastPara="1" wrap="none" fromWordArt="1" anchor="ctr">
              <a:prstTxWarp prst="textArchDown">
                <a:avLst>
                  <a:gd name="adj" fmla="val 441787"/>
                </a:avLst>
              </a:prstTxWarp>
            </a:bodyPr>
            <a:lstStyle/>
            <a:p>
              <a:pPr algn="ctr"/>
              <a:r>
                <a:rPr lang="zh-CN" altLang="en-US" kern="10" dirty="0">
                  <a:ln w="6350">
                    <a:solidFill>
                      <a:srgbClr val="FFFFFF"/>
                    </a:solidFill>
                    <a:round/>
                    <a:headEnd/>
                    <a:tailEnd/>
                  </a:ln>
                  <a:solidFill>
                    <a:srgbClr val="FFFFFF"/>
                  </a:solidFill>
                  <a:latin typeface="Huawei Sans" panose="020C0503030203020204" pitchFamily="34" charset="0"/>
                  <a:ea typeface="方正兰亭黑简体" panose="02000000000000000000" pitchFamily="2" charset="-122"/>
                  <a:cs typeface="Verdana"/>
                  <a:sym typeface="Huawei Sans" panose="020C0503030203020204" pitchFamily="34" charset="0"/>
                </a:rPr>
                <a:t>证书管理</a:t>
              </a:r>
              <a:endParaRPr lang="en-US" altLang="zh-CN" kern="10" dirty="0">
                <a:ln w="6350">
                  <a:solidFill>
                    <a:srgbClr val="FFFFFF"/>
                  </a:solidFill>
                  <a:round/>
                  <a:headEnd/>
                  <a:tailEnd/>
                </a:ln>
                <a:solidFill>
                  <a:srgbClr val="FFFFFF"/>
                </a:solidFill>
                <a:latin typeface="Huawei Sans" panose="020C0503030203020204" pitchFamily="34" charset="0"/>
                <a:ea typeface="方正兰亭黑简体" panose="02000000000000000000" pitchFamily="2" charset="-122"/>
                <a:cs typeface="Verdana"/>
                <a:sym typeface="Huawei Sans" panose="020C0503030203020204" pitchFamily="34" charset="0"/>
              </a:endParaRPr>
            </a:p>
          </p:txBody>
        </p:sp>
        <p:grpSp>
          <p:nvGrpSpPr>
            <p:cNvPr id="14" name="Group 14"/>
            <p:cNvGrpSpPr>
              <a:grpSpLocks/>
            </p:cNvGrpSpPr>
            <p:nvPr/>
          </p:nvGrpSpPr>
          <p:grpSpPr bwMode="auto">
            <a:xfrm>
              <a:off x="2457" y="2000"/>
              <a:ext cx="901" cy="888"/>
              <a:chOff x="2457" y="2000"/>
              <a:chExt cx="901" cy="888"/>
            </a:xfrm>
          </p:grpSpPr>
          <p:pic>
            <p:nvPicPr>
              <p:cNvPr id="16" name="Picture 15" descr="circuler_1"/>
              <p:cNvPicPr>
                <a:picLocks noChangeAspect="1" noChangeArrowheads="1"/>
              </p:cNvPicPr>
              <p:nvPr/>
            </p:nvPicPr>
            <p:blipFill>
              <a:blip r:embed="rId3" cstate="print"/>
              <a:srcRect/>
              <a:stretch>
                <a:fillRect/>
              </a:stretch>
            </p:blipFill>
            <p:spPr bwMode="ltGray">
              <a:xfrm>
                <a:off x="2457" y="2000"/>
                <a:ext cx="901" cy="886"/>
              </a:xfrm>
              <a:prstGeom prst="rect">
                <a:avLst/>
              </a:prstGeom>
              <a:noFill/>
              <a:ln w="9525">
                <a:noFill/>
                <a:miter lim="800000"/>
                <a:headEnd/>
                <a:tailEnd/>
              </a:ln>
            </p:spPr>
          </p:pic>
          <p:sp>
            <p:nvSpPr>
              <p:cNvPr id="17" name="Oval 16"/>
              <p:cNvSpPr>
                <a:spLocks noChangeArrowheads="1"/>
              </p:cNvSpPr>
              <p:nvPr/>
            </p:nvSpPr>
            <p:spPr bwMode="ltGray">
              <a:xfrm>
                <a:off x="2457" y="2000"/>
                <a:ext cx="895" cy="888"/>
              </a:xfrm>
              <a:prstGeom prst="ellipse">
                <a:avLst/>
              </a:prstGeom>
              <a:gradFill rotWithShape="1">
                <a:gsLst>
                  <a:gs pos="0">
                    <a:srgbClr val="F8F8F8">
                      <a:gamma/>
                      <a:shade val="26275"/>
                      <a:invGamma/>
                      <a:alpha val="89999"/>
                    </a:srgbClr>
                  </a:gs>
                  <a:gs pos="50000">
                    <a:srgbClr val="F8F8F8">
                      <a:alpha val="45000"/>
                    </a:srgbClr>
                  </a:gs>
                  <a:gs pos="100000">
                    <a:srgbClr val="F8F8F8">
                      <a:gamma/>
                      <a:shade val="26275"/>
                      <a:invGamma/>
                      <a:alpha val="89999"/>
                    </a:srgbClr>
                  </a:gs>
                </a:gsLst>
                <a:lin ang="5400000" scaled="1"/>
              </a:gradFill>
              <a:ln w="9525" algn="ctr">
                <a:noFill/>
                <a:round/>
                <a:headEnd/>
                <a:tailEnd/>
              </a:ln>
              <a:effectLst/>
            </p:spPr>
            <p:txBody>
              <a:bodyPr wrap="none" anchor="ctr"/>
              <a:lstStyle/>
              <a:p>
                <a:pPr>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Freeform 17"/>
              <p:cNvSpPr>
                <a:spLocks/>
              </p:cNvSpPr>
              <p:nvPr/>
            </p:nvSpPr>
            <p:spPr bwMode="ltGray">
              <a:xfrm>
                <a:off x="2550" y="2018"/>
                <a:ext cx="703" cy="308"/>
              </a:xfrm>
              <a:custGeom>
                <a:avLst/>
                <a:gdLst>
                  <a:gd name="T0" fmla="*/ 1 w 1321"/>
                  <a:gd name="T1" fmla="*/ 0 h 712"/>
                  <a:gd name="T2" fmla="*/ 1 w 1321"/>
                  <a:gd name="T3" fmla="*/ 0 h 712"/>
                  <a:gd name="T4" fmla="*/ 1 w 1321"/>
                  <a:gd name="T5" fmla="*/ 0 h 712"/>
                  <a:gd name="T6" fmla="*/ 1 w 1321"/>
                  <a:gd name="T7" fmla="*/ 0 h 712"/>
                  <a:gd name="T8" fmla="*/ 1 w 1321"/>
                  <a:gd name="T9" fmla="*/ 0 h 712"/>
                  <a:gd name="T10" fmla="*/ 1 w 1321"/>
                  <a:gd name="T11" fmla="*/ 0 h 712"/>
                  <a:gd name="T12" fmla="*/ 1 w 1321"/>
                  <a:gd name="T13" fmla="*/ 0 h 712"/>
                  <a:gd name="T14" fmla="*/ 1 w 1321"/>
                  <a:gd name="T15" fmla="*/ 0 h 712"/>
                  <a:gd name="T16" fmla="*/ 1 w 1321"/>
                  <a:gd name="T17" fmla="*/ 0 h 712"/>
                  <a:gd name="T18" fmla="*/ 1 w 1321"/>
                  <a:gd name="T19" fmla="*/ 0 h 712"/>
                  <a:gd name="T20" fmla="*/ 1 w 1321"/>
                  <a:gd name="T21" fmla="*/ 0 h 712"/>
                  <a:gd name="T22" fmla="*/ 1 w 1321"/>
                  <a:gd name="T23" fmla="*/ 0 h 712"/>
                  <a:gd name="T24" fmla="*/ 1 w 1321"/>
                  <a:gd name="T25" fmla="*/ 0 h 712"/>
                  <a:gd name="T26" fmla="*/ 1 w 1321"/>
                  <a:gd name="T27" fmla="*/ 0 h 712"/>
                  <a:gd name="T28" fmla="*/ 1 w 1321"/>
                  <a:gd name="T29" fmla="*/ 0 h 712"/>
                  <a:gd name="T30" fmla="*/ 1 w 1321"/>
                  <a:gd name="T31" fmla="*/ 0 h 712"/>
                  <a:gd name="T32" fmla="*/ 1 w 1321"/>
                  <a:gd name="T33" fmla="*/ 0 h 712"/>
                  <a:gd name="T34" fmla="*/ 1 w 1321"/>
                  <a:gd name="T35" fmla="*/ 0 h 712"/>
                  <a:gd name="T36" fmla="*/ 1 w 1321"/>
                  <a:gd name="T37" fmla="*/ 0 h 712"/>
                  <a:gd name="T38" fmla="*/ 1 w 1321"/>
                  <a:gd name="T39" fmla="*/ 0 h 712"/>
                  <a:gd name="T40" fmla="*/ 1 w 1321"/>
                  <a:gd name="T41" fmla="*/ 0 h 712"/>
                  <a:gd name="T42" fmla="*/ 1 w 1321"/>
                  <a:gd name="T43" fmla="*/ 0 h 712"/>
                  <a:gd name="T44" fmla="*/ 1 w 1321"/>
                  <a:gd name="T45" fmla="*/ 0 h 712"/>
                  <a:gd name="T46" fmla="*/ 1 w 1321"/>
                  <a:gd name="T47" fmla="*/ 0 h 712"/>
                  <a:gd name="T48" fmla="*/ 1 w 1321"/>
                  <a:gd name="T49" fmla="*/ 0 h 712"/>
                  <a:gd name="T50" fmla="*/ 1 w 1321"/>
                  <a:gd name="T51" fmla="*/ 0 h 712"/>
                  <a:gd name="T52" fmla="*/ 1 w 1321"/>
                  <a:gd name="T53" fmla="*/ 0 h 712"/>
                  <a:gd name="T54" fmla="*/ 1 w 1321"/>
                  <a:gd name="T55" fmla="*/ 0 h 712"/>
                  <a:gd name="T56" fmla="*/ 0 w 1321"/>
                  <a:gd name="T57" fmla="*/ 0 h 712"/>
                  <a:gd name="T58" fmla="*/ 0 w 1321"/>
                  <a:gd name="T59" fmla="*/ 0 h 712"/>
                  <a:gd name="T60" fmla="*/ 1 w 1321"/>
                  <a:gd name="T61" fmla="*/ 0 h 712"/>
                  <a:gd name="T62" fmla="*/ 1 w 1321"/>
                  <a:gd name="T63" fmla="*/ 0 h 712"/>
                  <a:gd name="T64" fmla="*/ 1 w 1321"/>
                  <a:gd name="T65" fmla="*/ 0 h 712"/>
                  <a:gd name="T66" fmla="*/ 1 w 1321"/>
                  <a:gd name="T67" fmla="*/ 0 h 712"/>
                  <a:gd name="T68" fmla="*/ 1 w 1321"/>
                  <a:gd name="T69" fmla="*/ 0 h 712"/>
                  <a:gd name="T70" fmla="*/ 1 w 1321"/>
                  <a:gd name="T71" fmla="*/ 0 h 712"/>
                  <a:gd name="T72" fmla="*/ 1 w 1321"/>
                  <a:gd name="T73" fmla="*/ 0 h 712"/>
                  <a:gd name="T74" fmla="*/ 1 w 1321"/>
                  <a:gd name="T75" fmla="*/ 0 h 712"/>
                  <a:gd name="T76" fmla="*/ 1 w 1321"/>
                  <a:gd name="T77" fmla="*/ 0 h 712"/>
                  <a:gd name="T78" fmla="*/ 1 w 1321"/>
                  <a:gd name="T79" fmla="*/ 0 h 712"/>
                  <a:gd name="T80" fmla="*/ 1 w 1321"/>
                  <a:gd name="T81" fmla="*/ 0 h 712"/>
                  <a:gd name="T82" fmla="*/ 1 w 1321"/>
                  <a:gd name="T83" fmla="*/ 0 h 712"/>
                  <a:gd name="T84" fmla="*/ 1 w 1321"/>
                  <a:gd name="T85" fmla="*/ 0 h 712"/>
                  <a:gd name="T86" fmla="*/ 1 w 1321"/>
                  <a:gd name="T87" fmla="*/ 0 h 712"/>
                  <a:gd name="T88" fmla="*/ 1 w 1321"/>
                  <a:gd name="T89" fmla="*/ 0 h 712"/>
                  <a:gd name="T90" fmla="*/ 1 w 1321"/>
                  <a:gd name="T91" fmla="*/ 0 h 712"/>
                  <a:gd name="T92" fmla="*/ 1 w 1321"/>
                  <a:gd name="T93" fmla="*/ 0 h 712"/>
                  <a:gd name="T94" fmla="*/ 1 w 1321"/>
                  <a:gd name="T95" fmla="*/ 0 h 712"/>
                  <a:gd name="T96" fmla="*/ 1 w 1321"/>
                  <a:gd name="T97" fmla="*/ 0 h 712"/>
                  <a:gd name="T98" fmla="*/ 1 w 1321"/>
                  <a:gd name="T99" fmla="*/ 0 h 712"/>
                  <a:gd name="T100" fmla="*/ 1 w 1321"/>
                  <a:gd name="T101" fmla="*/ 0 h 712"/>
                  <a:gd name="T102" fmla="*/ 1 w 1321"/>
                  <a:gd name="T103" fmla="*/ 0 h 712"/>
                  <a:gd name="T104" fmla="*/ 1 w 1321"/>
                  <a:gd name="T105" fmla="*/ 0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DDDDDD"/>
                  </a:gs>
                </a:gsLst>
                <a:lin ang="5400000" scaled="1"/>
              </a:gradFill>
              <a:ln w="0">
                <a:noFill/>
                <a:round/>
                <a:headEnd/>
                <a:tailEnd/>
              </a:ln>
            </p:spPr>
            <p:txBody>
              <a:bodyPr anchor="ct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 name="Group 18"/>
              <p:cNvGrpSpPr>
                <a:grpSpLocks/>
              </p:cNvGrpSpPr>
              <p:nvPr/>
            </p:nvGrpSpPr>
            <p:grpSpPr bwMode="auto">
              <a:xfrm rot="-1297425" flipH="1" flipV="1">
                <a:off x="2525" y="2693"/>
                <a:ext cx="781" cy="188"/>
                <a:chOff x="2532" y="1051"/>
                <a:chExt cx="893" cy="246"/>
              </a:xfrm>
            </p:grpSpPr>
            <p:grpSp>
              <p:nvGrpSpPr>
                <p:cNvPr id="20" name="Group 19"/>
                <p:cNvGrpSpPr>
                  <a:grpSpLocks/>
                </p:cNvGrpSpPr>
                <p:nvPr/>
              </p:nvGrpSpPr>
              <p:grpSpPr bwMode="auto">
                <a:xfrm>
                  <a:off x="2532" y="1051"/>
                  <a:ext cx="743" cy="185"/>
                  <a:chOff x="1565" y="2568"/>
                  <a:chExt cx="1118" cy="279"/>
                </a:xfrm>
              </p:grpSpPr>
              <p:sp>
                <p:nvSpPr>
                  <p:cNvPr id="26" name="AutoShape 20"/>
                  <p:cNvSpPr>
                    <a:spLocks noChangeArrowheads="1"/>
                  </p:cNvSpPr>
                  <p:nvPr/>
                </p:nvSpPr>
                <p:spPr bwMode="ltGray">
                  <a:xfrm rot="5263130">
                    <a:off x="1859" y="2274"/>
                    <a:ext cx="227" cy="816"/>
                  </a:xfrm>
                  <a:prstGeom prst="moon">
                    <a:avLst>
                      <a:gd name="adj" fmla="val 49773"/>
                    </a:avLst>
                  </a:prstGeom>
                  <a:solidFill>
                    <a:srgbClr val="F8F8F8">
                      <a:alpha val="3922"/>
                    </a:srgbClr>
                  </a:solidFill>
                  <a:ln w="9525">
                    <a:noFill/>
                    <a:miter lim="800000"/>
                    <a:headEnd/>
                    <a:tailEnd/>
                  </a:ln>
                </p:spPr>
                <p:txBody>
                  <a:bodyPr wrap="none" anchor="ctr"/>
                  <a:lstStyle/>
                  <a:p>
                    <a:endParaRPr lang="zh-CN"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AutoShape 21"/>
                  <p:cNvSpPr>
                    <a:spLocks noChangeArrowheads="1"/>
                  </p:cNvSpPr>
                  <p:nvPr/>
                </p:nvSpPr>
                <p:spPr bwMode="ltGray">
                  <a:xfrm rot="6078281">
                    <a:off x="1995" y="2274"/>
                    <a:ext cx="227" cy="816"/>
                  </a:xfrm>
                  <a:prstGeom prst="moon">
                    <a:avLst>
                      <a:gd name="adj" fmla="val 49773"/>
                    </a:avLst>
                  </a:prstGeom>
                  <a:solidFill>
                    <a:srgbClr val="F8F8F8">
                      <a:alpha val="3922"/>
                    </a:srgbClr>
                  </a:solidFill>
                  <a:ln w="9525">
                    <a:noFill/>
                    <a:miter lim="800000"/>
                    <a:headEnd/>
                    <a:tailEnd/>
                  </a:ln>
                </p:spPr>
                <p:txBody>
                  <a:bodyPr wrap="none" anchor="ctr"/>
                  <a:lstStyle/>
                  <a:p>
                    <a:endParaRPr lang="zh-CN"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AutoShape 22"/>
                  <p:cNvSpPr>
                    <a:spLocks noChangeArrowheads="1"/>
                  </p:cNvSpPr>
                  <p:nvPr/>
                </p:nvSpPr>
                <p:spPr bwMode="ltGray">
                  <a:xfrm rot="6373927">
                    <a:off x="2071" y="2296"/>
                    <a:ext cx="227" cy="816"/>
                  </a:xfrm>
                  <a:prstGeom prst="moon">
                    <a:avLst>
                      <a:gd name="adj" fmla="val 49773"/>
                    </a:avLst>
                  </a:prstGeom>
                  <a:solidFill>
                    <a:srgbClr val="F8F8F8">
                      <a:alpha val="3922"/>
                    </a:srgbClr>
                  </a:solidFill>
                  <a:ln w="9525">
                    <a:noFill/>
                    <a:miter lim="800000"/>
                    <a:headEnd/>
                    <a:tailEnd/>
                  </a:ln>
                </p:spPr>
                <p:txBody>
                  <a:bodyPr wrap="none" anchor="ctr"/>
                  <a:lstStyle/>
                  <a:p>
                    <a:endParaRPr lang="zh-CN"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AutoShape 23"/>
                  <p:cNvSpPr>
                    <a:spLocks noChangeArrowheads="1"/>
                  </p:cNvSpPr>
                  <p:nvPr/>
                </p:nvSpPr>
                <p:spPr bwMode="ltGray">
                  <a:xfrm rot="6906312">
                    <a:off x="2161" y="2326"/>
                    <a:ext cx="227" cy="816"/>
                  </a:xfrm>
                  <a:prstGeom prst="moon">
                    <a:avLst>
                      <a:gd name="adj" fmla="val 49773"/>
                    </a:avLst>
                  </a:prstGeom>
                  <a:solidFill>
                    <a:srgbClr val="F8F8F8">
                      <a:alpha val="3922"/>
                    </a:srgbClr>
                  </a:solidFill>
                  <a:ln w="9525">
                    <a:noFill/>
                    <a:miter lim="800000"/>
                    <a:headEnd/>
                    <a:tailEnd/>
                  </a:ln>
                </p:spPr>
                <p:txBody>
                  <a:bodyPr wrap="none" anchor="ctr"/>
                  <a:lstStyle/>
                  <a:p>
                    <a:endParaRPr lang="zh-CN" altLang="zh-CN">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1" name="Group 24"/>
                <p:cNvGrpSpPr>
                  <a:grpSpLocks/>
                </p:cNvGrpSpPr>
                <p:nvPr/>
              </p:nvGrpSpPr>
              <p:grpSpPr bwMode="auto">
                <a:xfrm rot="1353540">
                  <a:off x="2682" y="1111"/>
                  <a:ext cx="743" cy="186"/>
                  <a:chOff x="1565" y="2568"/>
                  <a:chExt cx="1118" cy="279"/>
                </a:xfrm>
              </p:grpSpPr>
              <p:sp>
                <p:nvSpPr>
                  <p:cNvPr id="22" name="AutoShape 25"/>
                  <p:cNvSpPr>
                    <a:spLocks noChangeArrowheads="1"/>
                  </p:cNvSpPr>
                  <p:nvPr/>
                </p:nvSpPr>
                <p:spPr bwMode="ltGray">
                  <a:xfrm rot="5263130">
                    <a:off x="1859" y="2274"/>
                    <a:ext cx="227" cy="816"/>
                  </a:xfrm>
                  <a:prstGeom prst="moon">
                    <a:avLst>
                      <a:gd name="adj" fmla="val 49773"/>
                    </a:avLst>
                  </a:prstGeom>
                  <a:solidFill>
                    <a:srgbClr val="F8F8F8">
                      <a:alpha val="3922"/>
                    </a:srgbClr>
                  </a:solidFill>
                  <a:ln w="9525">
                    <a:noFill/>
                    <a:miter lim="800000"/>
                    <a:headEnd/>
                    <a:tailEnd/>
                  </a:ln>
                </p:spPr>
                <p:txBody>
                  <a:bodyPr wrap="none" anchor="ctr"/>
                  <a:lstStyle/>
                  <a:p>
                    <a:endParaRPr lang="zh-CN"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AutoShape 26"/>
                  <p:cNvSpPr>
                    <a:spLocks noChangeArrowheads="1"/>
                  </p:cNvSpPr>
                  <p:nvPr/>
                </p:nvSpPr>
                <p:spPr bwMode="ltGray">
                  <a:xfrm rot="6078281">
                    <a:off x="1995" y="2274"/>
                    <a:ext cx="227" cy="816"/>
                  </a:xfrm>
                  <a:prstGeom prst="moon">
                    <a:avLst>
                      <a:gd name="adj" fmla="val 49773"/>
                    </a:avLst>
                  </a:prstGeom>
                  <a:solidFill>
                    <a:srgbClr val="F8F8F8">
                      <a:alpha val="3922"/>
                    </a:srgbClr>
                  </a:solidFill>
                  <a:ln w="9525">
                    <a:noFill/>
                    <a:miter lim="800000"/>
                    <a:headEnd/>
                    <a:tailEnd/>
                  </a:ln>
                </p:spPr>
                <p:txBody>
                  <a:bodyPr wrap="none" anchor="ctr"/>
                  <a:lstStyle/>
                  <a:p>
                    <a:endParaRPr lang="zh-CN"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AutoShape 27"/>
                  <p:cNvSpPr>
                    <a:spLocks noChangeArrowheads="1"/>
                  </p:cNvSpPr>
                  <p:nvPr/>
                </p:nvSpPr>
                <p:spPr bwMode="ltGray">
                  <a:xfrm rot="6373927">
                    <a:off x="2071" y="2296"/>
                    <a:ext cx="227" cy="816"/>
                  </a:xfrm>
                  <a:prstGeom prst="moon">
                    <a:avLst>
                      <a:gd name="adj" fmla="val 49773"/>
                    </a:avLst>
                  </a:prstGeom>
                  <a:solidFill>
                    <a:srgbClr val="F8F8F8">
                      <a:alpha val="3922"/>
                    </a:srgbClr>
                  </a:solidFill>
                  <a:ln w="9525">
                    <a:noFill/>
                    <a:miter lim="800000"/>
                    <a:headEnd/>
                    <a:tailEnd/>
                  </a:ln>
                </p:spPr>
                <p:txBody>
                  <a:bodyPr wrap="none" anchor="ctr"/>
                  <a:lstStyle/>
                  <a:p>
                    <a:endParaRPr lang="zh-CN"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AutoShape 28"/>
                  <p:cNvSpPr>
                    <a:spLocks noChangeArrowheads="1"/>
                  </p:cNvSpPr>
                  <p:nvPr/>
                </p:nvSpPr>
                <p:spPr bwMode="ltGray">
                  <a:xfrm rot="6906312">
                    <a:off x="2161" y="2326"/>
                    <a:ext cx="227" cy="816"/>
                  </a:xfrm>
                  <a:prstGeom prst="moon">
                    <a:avLst>
                      <a:gd name="adj" fmla="val 49773"/>
                    </a:avLst>
                  </a:prstGeom>
                  <a:solidFill>
                    <a:srgbClr val="F8F8F8">
                      <a:alpha val="3922"/>
                    </a:srgbClr>
                  </a:solidFill>
                  <a:ln w="9525">
                    <a:noFill/>
                    <a:miter lim="800000"/>
                    <a:headEnd/>
                    <a:tailEnd/>
                  </a:ln>
                </p:spPr>
                <p:txBody>
                  <a:bodyPr wrap="none" anchor="ctr"/>
                  <a:lstStyle/>
                  <a:p>
                    <a:endParaRPr lang="zh-CN" altLang="zh-CN">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sp>
          <p:nvSpPr>
            <p:cNvPr id="15" name="Rectangle 29"/>
            <p:cNvSpPr>
              <a:spLocks noChangeArrowheads="1"/>
            </p:cNvSpPr>
            <p:nvPr/>
          </p:nvSpPr>
          <p:spPr bwMode="gray">
            <a:xfrm>
              <a:off x="2752" y="2332"/>
              <a:ext cx="315" cy="202"/>
            </a:xfrm>
            <a:prstGeom prst="rect">
              <a:avLst/>
            </a:prstGeom>
            <a:noFill/>
            <a:ln w="9525" algn="ctr">
              <a:noFill/>
              <a:miter lim="800000"/>
              <a:headEnd/>
              <a:tailEnd/>
            </a:ln>
          </p:spPr>
          <p:txBody>
            <a:bodyPr wrap="none" anchor="ctr">
              <a:spAutoFit/>
            </a:bodyPr>
            <a:lstStyle/>
            <a:p>
              <a:pPr algn="ctr"/>
              <a:r>
                <a:rPr lang="en-US" altLang="zh-CN" sz="2000" b="1"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ELB</a:t>
              </a:r>
            </a:p>
          </p:txBody>
        </p:sp>
      </p:grpSp>
      <p:sp>
        <p:nvSpPr>
          <p:cNvPr id="30" name="AutoShape 30"/>
          <p:cNvSpPr>
            <a:spLocks/>
          </p:cNvSpPr>
          <p:nvPr/>
        </p:nvSpPr>
        <p:spPr bwMode="auto">
          <a:xfrm>
            <a:off x="7180548" y="1607840"/>
            <a:ext cx="2362200" cy="838200"/>
          </a:xfrm>
          <a:prstGeom prst="accentCallout2">
            <a:avLst>
              <a:gd name="adj1" fmla="val 13634"/>
              <a:gd name="adj2" fmla="val -3227"/>
              <a:gd name="adj3" fmla="val 13634"/>
              <a:gd name="adj4" fmla="val -24125"/>
              <a:gd name="adj5" fmla="val 92236"/>
              <a:gd name="adj6" fmla="val -39583"/>
            </a:avLst>
          </a:prstGeom>
          <a:noFill/>
          <a:ln w="9525">
            <a:solidFill>
              <a:schemeClr val="tx2"/>
            </a:solidFill>
            <a:miter lim="800000"/>
            <a:headEnd type="triangle" w="med" len="med"/>
            <a:tailEnd type="oval" w="med" len="med"/>
          </a:ln>
        </p:spPr>
        <p:txBody>
          <a:bodyPr anchor="ctr"/>
          <a:lstStyle/>
          <a:p>
            <a:pPr marL="285750" indent="-285750">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添加监听器</a:t>
            </a:r>
            <a:endParaRPr lang="en-US" altLang="zh-CN"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修改监听器</a:t>
            </a:r>
            <a:endParaRPr lang="en-US" altLang="zh-CN"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删除监听器</a:t>
            </a:r>
            <a:endParaRPr lang="en-US" altLang="zh-CN"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AutoShape 31"/>
          <p:cNvSpPr>
            <a:spLocks/>
          </p:cNvSpPr>
          <p:nvPr/>
        </p:nvSpPr>
        <p:spPr bwMode="auto">
          <a:xfrm>
            <a:off x="7180548" y="5113040"/>
            <a:ext cx="2362200" cy="838200"/>
          </a:xfrm>
          <a:prstGeom prst="accentCallout2">
            <a:avLst>
              <a:gd name="adj1" fmla="val 13634"/>
              <a:gd name="adj2" fmla="val -3227"/>
              <a:gd name="adj3" fmla="val 13634"/>
              <a:gd name="adj4" fmla="val -18616"/>
              <a:gd name="adj5" fmla="val -40343"/>
              <a:gd name="adj6" fmla="val -34005"/>
            </a:avLst>
          </a:prstGeom>
          <a:noFill/>
          <a:ln w="9525">
            <a:solidFill>
              <a:schemeClr val="tx2"/>
            </a:solidFill>
            <a:miter lim="800000"/>
            <a:headEnd type="triangle" w="med" len="med"/>
            <a:tailEnd type="oval" w="med" len="med"/>
          </a:ln>
        </p:spPr>
        <p:txBody>
          <a:bodyPr anchor="ctr"/>
          <a:lstStyle/>
          <a:p>
            <a:pPr marL="285750" indent="-285750">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创建证书</a:t>
            </a:r>
            <a:endParaRPr lang="en-US" altLang="zh-CN"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修改证书</a:t>
            </a:r>
            <a:endParaRPr lang="en-US" altLang="zh-CN"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删除证书</a:t>
            </a:r>
            <a:endParaRPr lang="en-US" altLang="zh-CN"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AutoShape 32"/>
          <p:cNvSpPr>
            <a:spLocks/>
          </p:cNvSpPr>
          <p:nvPr/>
        </p:nvSpPr>
        <p:spPr bwMode="auto">
          <a:xfrm flipH="1">
            <a:off x="1713966" y="1615778"/>
            <a:ext cx="2070919" cy="838200"/>
          </a:xfrm>
          <a:prstGeom prst="accentCallout2">
            <a:avLst>
              <a:gd name="adj1" fmla="val 13634"/>
              <a:gd name="adj2" fmla="val -3333"/>
              <a:gd name="adj3" fmla="val 13634"/>
              <a:gd name="adj4" fmla="val -18819"/>
              <a:gd name="adj5" fmla="val 89769"/>
              <a:gd name="adj6" fmla="val -34444"/>
            </a:avLst>
          </a:prstGeom>
          <a:noFill/>
          <a:ln w="9525">
            <a:solidFill>
              <a:schemeClr val="tx2"/>
            </a:solidFill>
            <a:miter lim="800000"/>
            <a:headEnd type="triangle" w="med" len="med"/>
            <a:tailEnd type="oval" w="med" len="med"/>
          </a:ln>
        </p:spPr>
        <p:txBody>
          <a:bodyPr anchor="ctr"/>
          <a:lstStyle/>
          <a:p>
            <a:pPr marL="342900" indent="-342900" algn="r">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创建</a:t>
            </a:r>
            <a:r>
              <a:rPr lang="en-US" altLang="zh-CN" sz="1600" dirty="0">
                <a:solidFill>
                  <a:srgbClr val="1C1C1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ELB</a:t>
            </a:r>
          </a:p>
          <a:p>
            <a:pPr marL="342900" indent="-342900" algn="r">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删除</a:t>
            </a:r>
            <a:r>
              <a:rPr lang="en-US" altLang="zh-CN" sz="1600" dirty="0">
                <a:solidFill>
                  <a:srgbClr val="1C1C1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ELB</a:t>
            </a:r>
          </a:p>
        </p:txBody>
      </p:sp>
      <p:sp>
        <p:nvSpPr>
          <p:cNvPr id="33" name="AutoShape 33"/>
          <p:cNvSpPr>
            <a:spLocks/>
          </p:cNvSpPr>
          <p:nvPr/>
        </p:nvSpPr>
        <p:spPr bwMode="auto">
          <a:xfrm>
            <a:off x="1687798" y="5147965"/>
            <a:ext cx="2139950" cy="803275"/>
          </a:xfrm>
          <a:prstGeom prst="accentCallout2">
            <a:avLst>
              <a:gd name="adj1" fmla="val 14231"/>
              <a:gd name="adj2" fmla="val 103227"/>
              <a:gd name="adj3" fmla="val 14231"/>
              <a:gd name="adj4" fmla="val 118750"/>
              <a:gd name="adj5" fmla="val -46838"/>
              <a:gd name="adj6" fmla="val 130106"/>
            </a:avLst>
          </a:prstGeom>
          <a:noFill/>
          <a:ln w="9525">
            <a:solidFill>
              <a:schemeClr val="tx2"/>
            </a:solidFill>
            <a:miter lim="800000"/>
            <a:headEnd type="triangle" w="med" len="med"/>
            <a:tailEnd type="oval" w="med" len="med"/>
          </a:ln>
        </p:spPr>
        <p:txBody>
          <a:bodyPr anchor="ctr"/>
          <a:lstStyle/>
          <a:p>
            <a:pPr marL="285750" indent="-285750" algn="r">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添加后端服务器组</a:t>
            </a:r>
            <a:endParaRPr lang="en-US" altLang="zh-CN"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r">
              <a:buClr>
                <a:schemeClr val="bg1">
                  <a:lumMod val="50000"/>
                </a:schemeClr>
              </a:buClr>
              <a:buSzPct val="60000"/>
              <a:buFont typeface="Wingdings" panose="05000000000000000000" pitchFamily="2" charset="2"/>
              <a:buChar char="l"/>
            </a:pPr>
            <a:r>
              <a:rPr lang="zh-CN" altLang="en-US"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rPr>
              <a:t>移除后端服务器组</a:t>
            </a:r>
            <a:endParaRPr lang="en-US" altLang="zh-CN" sz="1600" dirty="0">
              <a:solidFill>
                <a:srgbClr val="1C1C1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280592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弹性</a:t>
            </a:r>
            <a:r>
              <a:rPr lang="zh-CN" altLang="zh-CN" dirty="0">
                <a:sym typeface="Huawei Sans" panose="020C0503030203020204" pitchFamily="34" charset="0"/>
              </a:rPr>
              <a:t>负载均衡管理</a:t>
            </a:r>
            <a:endParaRPr 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dirty="0">
                <a:sym typeface="Huawei Sans" panose="020C0503030203020204" pitchFamily="34" charset="0"/>
              </a:rPr>
              <a:t>创建弹性负载均衡</a:t>
            </a:r>
          </a:p>
          <a:p>
            <a:r>
              <a:rPr lang="zh-CN" altLang="en-US" dirty="0">
                <a:sym typeface="Huawei Sans" panose="020C0503030203020204" pitchFamily="34" charset="0"/>
              </a:rPr>
              <a:t>查询弹性负载均衡</a:t>
            </a:r>
          </a:p>
          <a:p>
            <a:r>
              <a:rPr lang="zh-CN" altLang="en-US" dirty="0">
                <a:sym typeface="Huawei Sans" panose="020C0503030203020204" pitchFamily="34" charset="0"/>
              </a:rPr>
              <a:t>启用弹性负载均衡</a:t>
            </a:r>
          </a:p>
          <a:p>
            <a:r>
              <a:rPr lang="zh-CN" altLang="en-US" dirty="0">
                <a:sym typeface="Huawei Sans" panose="020C0503030203020204" pitchFamily="34" charset="0"/>
              </a:rPr>
              <a:t>停用弹性负载均衡</a:t>
            </a:r>
          </a:p>
          <a:p>
            <a:r>
              <a:rPr lang="zh-CN" altLang="en-US" dirty="0">
                <a:sym typeface="Huawei Sans" panose="020C0503030203020204" pitchFamily="34" charset="0"/>
              </a:rPr>
              <a:t>删除弹性负载均衡</a:t>
            </a:r>
          </a:p>
          <a:p>
            <a:r>
              <a:rPr lang="zh-CN" altLang="en-US" dirty="0">
                <a:sym typeface="Huawei Sans" panose="020C0503030203020204" pitchFamily="34" charset="0"/>
              </a:rPr>
              <a:t>调整带宽</a:t>
            </a:r>
          </a:p>
        </p:txBody>
      </p:sp>
    </p:spTree>
    <p:extLst>
      <p:ext uri="{BB962C8B-B14F-4D97-AF65-F5344CB8AC3E}">
        <p14:creationId xmlns:p14="http://schemas.microsoft.com/office/powerpoint/2010/main" val="3975413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创建弹性负载均衡</a:t>
            </a:r>
            <a:endParaRPr lang="en-US" dirty="0">
              <a:sym typeface="Huawei Sans" panose="020C0503030203020204" pitchFamily="34" charset="0"/>
            </a:endParaRPr>
          </a:p>
        </p:txBody>
      </p:sp>
      <p:pic>
        <p:nvPicPr>
          <p:cNvPr id="4" name="图片 3"/>
          <p:cNvPicPr>
            <a:picLocks noChangeAspect="1"/>
          </p:cNvPicPr>
          <p:nvPr/>
        </p:nvPicPr>
        <p:blipFill>
          <a:blip r:embed="rId3"/>
          <a:stretch>
            <a:fillRect/>
          </a:stretch>
        </p:blipFill>
        <p:spPr>
          <a:xfrm>
            <a:off x="1070132" y="1304765"/>
            <a:ext cx="6430024" cy="5039572"/>
          </a:xfrm>
          <a:prstGeom prst="rect">
            <a:avLst/>
          </a:prstGeom>
          <a:ln w="12700">
            <a:solidFill>
              <a:schemeClr val="bg1">
                <a:lumMod val="85000"/>
              </a:schemeClr>
            </a:solidFill>
          </a:ln>
        </p:spPr>
      </p:pic>
    </p:spTree>
    <p:extLst>
      <p:ext uri="{BB962C8B-B14F-4D97-AF65-F5344CB8AC3E}">
        <p14:creationId xmlns:p14="http://schemas.microsoft.com/office/powerpoint/2010/main" val="254828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创建负载均衡 </a:t>
            </a:r>
            <a:r>
              <a:rPr lang="en-US" altLang="zh-CN" dirty="0">
                <a:sym typeface="Huawei Sans" panose="020C0503030203020204" pitchFamily="34" charset="0"/>
              </a:rPr>
              <a:t>- </a:t>
            </a:r>
            <a:r>
              <a:rPr lang="zh-CN" altLang="en-US" dirty="0">
                <a:sym typeface="Huawei Sans" panose="020C0503030203020204" pitchFamily="34" charset="0"/>
              </a:rPr>
              <a:t>配置参数（</a:t>
            </a:r>
            <a:r>
              <a:rPr lang="en-US" altLang="zh-CN" dirty="0">
                <a:sym typeface="Huawei Sans" panose="020C0503030203020204" pitchFamily="34" charset="0"/>
              </a:rPr>
              <a:t>1/2</a:t>
            </a:r>
            <a:r>
              <a:rPr lang="zh-CN" altLang="en-US" dirty="0">
                <a:sym typeface="Huawei Sans" panose="020C0503030203020204" pitchFamily="34" charset="0"/>
              </a:rPr>
              <a:t>）</a:t>
            </a:r>
            <a:endParaRPr lang="en-US" dirty="0">
              <a:sym typeface="Huawei Sans" panose="020C0503030203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2366244688"/>
              </p:ext>
            </p:extLst>
          </p:nvPr>
        </p:nvGraphicFramePr>
        <p:xfrm>
          <a:off x="1014607" y="1319012"/>
          <a:ext cx="9037004" cy="4741390"/>
        </p:xfrm>
        <a:graphic>
          <a:graphicData uri="http://schemas.openxmlformats.org/drawingml/2006/table">
            <a:tbl>
              <a:tblPr firstRow="1" firstCol="1" lastRow="1" lastCol="1" bandRow="1" bandCol="1"/>
              <a:tblGrid>
                <a:gridCol w="1331864">
                  <a:extLst>
                    <a:ext uri="{9D8B030D-6E8A-4147-A177-3AD203B41FA5}">
                      <a16:colId xmlns:a16="http://schemas.microsoft.com/office/drawing/2014/main" val="20000"/>
                    </a:ext>
                  </a:extLst>
                </a:gridCol>
                <a:gridCol w="6089789">
                  <a:extLst>
                    <a:ext uri="{9D8B030D-6E8A-4147-A177-3AD203B41FA5}">
                      <a16:colId xmlns:a16="http://schemas.microsoft.com/office/drawing/2014/main" val="20001"/>
                    </a:ext>
                  </a:extLst>
                </a:gridCol>
                <a:gridCol w="1615351">
                  <a:extLst>
                    <a:ext uri="{9D8B030D-6E8A-4147-A177-3AD203B41FA5}">
                      <a16:colId xmlns:a16="http://schemas.microsoft.com/office/drawing/2014/main" val="20002"/>
                    </a:ext>
                  </a:extLst>
                </a:gridCol>
              </a:tblGrid>
              <a:tr h="453804">
                <a:tc>
                  <a:txBody>
                    <a:bodyPr/>
                    <a:lstStyle/>
                    <a:p>
                      <a:pPr algn="ctr">
                        <a:lnSpc>
                          <a:spcPts val="1200"/>
                        </a:lnSpc>
                        <a:spcBef>
                          <a:spcPts val="400"/>
                        </a:spcBef>
                        <a:spcAft>
                          <a:spcPts val="400"/>
                        </a:spcAft>
                      </a:pPr>
                      <a:r>
                        <a:rPr lang="zh-CN" sz="16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参数</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lnSpc>
                          <a:spcPts val="1200"/>
                        </a:lnSpc>
                        <a:spcBef>
                          <a:spcPts val="400"/>
                        </a:spcBef>
                        <a:spcAft>
                          <a:spcPts val="400"/>
                        </a:spcAft>
                      </a:pPr>
                      <a:r>
                        <a:rPr lang="zh-CN" sz="16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说明</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lnSpc>
                          <a:spcPts val="1200"/>
                        </a:lnSpc>
                        <a:spcBef>
                          <a:spcPts val="400"/>
                        </a:spcBef>
                        <a:spcAft>
                          <a:spcPts val="400"/>
                        </a:spcAft>
                      </a:pPr>
                      <a:r>
                        <a:rPr lang="zh-CN" sz="16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取值样例</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68775">
                <a:tc>
                  <a:txBody>
                    <a:bodyPr/>
                    <a:lstStyle/>
                    <a:p>
                      <a:pPr algn="ct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名称</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弹性负载均衡器的名称。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elb_01</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28608">
                <a:tc>
                  <a:txBody>
                    <a:bodyPr/>
                    <a:lstStyle/>
                    <a:p>
                      <a:pPr algn="ct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类型</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可选公网或者私网。</a:t>
                      </a:r>
                    </a:p>
                    <a:p>
                      <a:pPr marL="285750" lvl="0" indent="-285750">
                        <a:lnSpc>
                          <a:spcPts val="1200"/>
                        </a:lnSpc>
                        <a:spcBef>
                          <a:spcPts val="400"/>
                        </a:spcBef>
                        <a:spcAft>
                          <a:spcPts val="400"/>
                        </a:spcAft>
                        <a:buClrTx/>
                        <a:buSzPct val="100000"/>
                        <a:buFont typeface="Arial" panose="020B0604020202020204" pitchFamily="34" charset="0"/>
                        <a:buChar char="•"/>
                        <a:tabLst>
                          <a:tab pos="180340" algn="l"/>
                        </a:tabLs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公网：在公网环境中使用弹性负载均衡。</a:t>
                      </a:r>
                    </a:p>
                    <a:p>
                      <a:pPr marL="285750" lvl="0" indent="-285750">
                        <a:lnSpc>
                          <a:spcPts val="1200"/>
                        </a:lnSpc>
                        <a:spcBef>
                          <a:spcPts val="400"/>
                        </a:spcBef>
                        <a:spcAft>
                          <a:spcPts val="400"/>
                        </a:spcAft>
                        <a:buClrTx/>
                        <a:buSzPct val="100000"/>
                        <a:buFont typeface="Arial" panose="020B0604020202020204" pitchFamily="34" charset="0"/>
                        <a:buChar char="•"/>
                        <a:tabLst>
                          <a:tab pos="180340" algn="l"/>
                        </a:tabLs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私网：在同一个子网内使用弹性负载均衡</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私网</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8018">
                <a:tc>
                  <a:txBody>
                    <a:bodyPr/>
                    <a:lstStyle/>
                    <a:p>
                      <a:pPr algn="ct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所属</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VPC</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所属虚拟私有云。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VPC_01</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52237">
                <a:tc>
                  <a:txBody>
                    <a:bodyPr/>
                    <a:lstStyle/>
                    <a:p>
                      <a:pPr algn="ct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子网</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弹性负载均衡类型为私网情况下，选择的负载均衡所在的子网。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subnet01</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03114">
                <a:tc>
                  <a:txBody>
                    <a:bodyPr/>
                    <a:lstStyle/>
                    <a:p>
                      <a:pPr marL="0" marR="0" lvl="0" indent="0" algn="ctr" defTabSz="914400" rtl="0" eaLnBrk="1" fontAlgn="auto" latinLnBrk="0" hangingPunct="1">
                        <a:lnSpc>
                          <a:spcPts val="1200"/>
                        </a:lnSpc>
                        <a:spcBef>
                          <a:spcPts val="400"/>
                        </a:spcBef>
                        <a:spcAft>
                          <a:spcPts val="40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虚拟</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ts val="1200"/>
                        </a:lnSpc>
                        <a:spcBef>
                          <a:spcPts val="400"/>
                        </a:spcBef>
                        <a:spcAft>
                          <a:spcPts val="40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自动分配或手动分配。选择手动分配时需要输入相应的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手动分配</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76834">
                <a:tc>
                  <a:txBody>
                    <a:bodyPr/>
                    <a:lstStyle/>
                    <a:p>
                      <a:pPr algn="ctr">
                        <a:lnSpc>
                          <a:spcPts val="1200"/>
                        </a:lnSpc>
                        <a:spcBef>
                          <a:spcPts val="400"/>
                        </a:spcBef>
                        <a:spcAft>
                          <a:spcPts val="4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弹性公网</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您可以根据实际情况选择以下方式：</a:t>
                      </a:r>
                    </a:p>
                    <a:p>
                      <a:pPr marL="285750" indent="-285750">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新创建：新创建一个弹性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p>
                      <a:pPr marL="285750" indent="-285750">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使用已有：使用已有弹性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创建负载均衡器，需在页面选择已有弹性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nSpc>
                          <a:spcPts val="12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使用已有</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20986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创建负载均衡 </a:t>
            </a:r>
            <a:r>
              <a:rPr lang="en-US" altLang="zh-CN" dirty="0">
                <a:sym typeface="Huawei Sans" panose="020C0503030203020204" pitchFamily="34" charset="0"/>
              </a:rPr>
              <a:t>- </a:t>
            </a:r>
            <a:r>
              <a:rPr lang="zh-CN" altLang="en-US" dirty="0">
                <a:sym typeface="Huawei Sans" panose="020C0503030203020204" pitchFamily="34" charset="0"/>
              </a:rPr>
              <a:t>配置参数（</a:t>
            </a:r>
            <a:r>
              <a:rPr lang="en-US" altLang="zh-CN" dirty="0">
                <a:sym typeface="Huawei Sans" panose="020C0503030203020204" pitchFamily="34" charset="0"/>
              </a:rPr>
              <a:t>2/2</a:t>
            </a:r>
            <a:r>
              <a:rPr lang="zh-CN" altLang="en-US" dirty="0">
                <a:sym typeface="Huawei Sans" panose="020C0503030203020204" pitchFamily="34" charset="0"/>
              </a:rPr>
              <a:t>）</a:t>
            </a:r>
            <a:endParaRPr lang="en-US" dirty="0">
              <a:sym typeface="Huawei Sans" panose="020C0503030203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1668016442"/>
              </p:ext>
            </p:extLst>
          </p:nvPr>
        </p:nvGraphicFramePr>
        <p:xfrm>
          <a:off x="1011747" y="1448780"/>
          <a:ext cx="9109012" cy="4032449"/>
        </p:xfrm>
        <a:graphic>
          <a:graphicData uri="http://schemas.openxmlformats.org/drawingml/2006/table">
            <a:tbl>
              <a:tblPr firstRow="1" firstCol="1" lastRow="1" lastCol="1" bandRow="1" bandCol="1"/>
              <a:tblGrid>
                <a:gridCol w="1363575">
                  <a:extLst>
                    <a:ext uri="{9D8B030D-6E8A-4147-A177-3AD203B41FA5}">
                      <a16:colId xmlns:a16="http://schemas.microsoft.com/office/drawing/2014/main" val="20000"/>
                    </a:ext>
                  </a:extLst>
                </a:gridCol>
                <a:gridCol w="6161261">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tblGrid>
              <a:tr h="552619">
                <a:tc>
                  <a:txBody>
                    <a:bodyPr/>
                    <a:lstStyle/>
                    <a:p>
                      <a:pPr algn="ctr">
                        <a:lnSpc>
                          <a:spcPct val="100000"/>
                        </a:lnSpc>
                        <a:spcBef>
                          <a:spcPts val="400"/>
                        </a:spcBef>
                        <a:spcAft>
                          <a:spcPts val="400"/>
                        </a:spcAft>
                      </a:pPr>
                      <a:r>
                        <a:rPr lang="zh-CN" sz="16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参数</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lnSpc>
                          <a:spcPct val="100000"/>
                        </a:lnSpc>
                        <a:spcBef>
                          <a:spcPts val="400"/>
                        </a:spcBef>
                        <a:spcAft>
                          <a:spcPts val="400"/>
                        </a:spcAft>
                      </a:pPr>
                      <a:r>
                        <a:rPr lang="zh-CN" sz="16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说明</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lnSpc>
                          <a:spcPct val="100000"/>
                        </a:lnSpc>
                        <a:spcBef>
                          <a:spcPts val="400"/>
                        </a:spcBef>
                        <a:spcAft>
                          <a:spcPts val="400"/>
                        </a:spcAft>
                      </a:pPr>
                      <a:r>
                        <a:rPr lang="zh-CN" sz="16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取值样例</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162754">
                <a:tc>
                  <a:txBody>
                    <a:bodyPr/>
                    <a:lstStyle/>
                    <a:p>
                      <a:pPr algn="ctr">
                        <a:lnSpc>
                          <a:spcPct val="1000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弹性公网</a:t>
                      </a:r>
                      <a:r>
                        <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类型</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使用新创建弹性公网</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时，选择的弹性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的链路类型</a:t>
                      </a:r>
                    </a:p>
                    <a:p>
                      <a:pPr marL="285750" indent="-285750" algn="l">
                        <a:lnSpc>
                          <a:spcPct val="1000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静态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：网络结构发生变化时，无法实时自动调整网络设置以保障用户体验。</a:t>
                      </a:r>
                    </a:p>
                    <a:p>
                      <a:pPr marL="285750" indent="-285750" algn="l">
                        <a:lnSpc>
                          <a:spcPct val="1000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全动态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：可以根据设定的寻路协议实时自动优化网络结构，以保证客户使用的网络持续稳定、高效。</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全动态</a:t>
                      </a:r>
                      <a:r>
                        <a:rPr lang="en-US" sz="1400" dirty="0">
                          <a:latin typeface="Huawei Sans" panose="020C0503030203020204" pitchFamily="34" charset="0"/>
                          <a:ea typeface="方正兰亭黑简体" panose="02000000000000000000" pitchFamily="2" charset="-122"/>
                          <a:sym typeface="Huawei Sans" panose="020C0503030203020204" pitchFamily="34" charset="0"/>
                        </a:rPr>
                        <a:t>BGP</a:t>
                      </a:r>
                    </a:p>
                    <a:p>
                      <a:pPr algn="l">
                        <a:lnSpc>
                          <a:spcPct val="100000"/>
                        </a:lnSpc>
                        <a:spcBef>
                          <a:spcPts val="400"/>
                        </a:spcBef>
                        <a:spcAft>
                          <a:spcPts val="400"/>
                        </a:spcAft>
                      </a:pP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06912">
                <a:tc>
                  <a:txBody>
                    <a:bodyPr/>
                    <a:lstStyle/>
                    <a:p>
                      <a:pPr algn="ctr">
                        <a:lnSpc>
                          <a:spcPct val="1000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计费方式</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使用新创建弹性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时，按带宽计费或者按流量计费。</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按宽带计费</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06912">
                <a:tc>
                  <a:txBody>
                    <a:bodyPr/>
                    <a:lstStyle/>
                    <a:p>
                      <a:pPr algn="ctr">
                        <a:lnSpc>
                          <a:spcPct val="1000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带宽</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使用新创建弹性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时，公网带宽大小。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100</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27468">
                <a:tc>
                  <a:txBody>
                    <a:bodyPr/>
                    <a:lstStyle/>
                    <a:p>
                      <a:pPr algn="ctr">
                        <a:lnSpc>
                          <a:spcPct val="1000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描述</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负载均衡器相关描述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75784">
                <a:tc>
                  <a:txBody>
                    <a:bodyPr/>
                    <a:lstStyle/>
                    <a:p>
                      <a:pPr algn="ctr">
                        <a:lnSpc>
                          <a:spcPct val="1000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标签</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标签用于标识云资源，可对云资源进行分类和搜索。标签由标签“键”和标签“值”组成，标签键用于标记标签，标签值用于表示具体的标签内容。</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l">
                        <a:lnSpc>
                          <a:spcPct val="100000"/>
                        </a:lnSpc>
                        <a:spcBef>
                          <a:spcPts val="400"/>
                        </a:spcBef>
                        <a:spcAft>
                          <a:spcPts val="400"/>
                        </a:spcAft>
                      </a:pP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62410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监听器</a:t>
            </a:r>
            <a:r>
              <a:rPr lang="zh-CN" altLang="zh-CN" dirty="0">
                <a:sym typeface="Huawei Sans" panose="020C0503030203020204" pitchFamily="34" charset="0"/>
              </a:rPr>
              <a:t>管理</a:t>
            </a:r>
            <a:endParaRPr 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r>
              <a:rPr lang="zh-CN" altLang="en-US" dirty="0">
                <a:sym typeface="Huawei Sans" panose="020C0503030203020204" pitchFamily="34" charset="0"/>
              </a:rPr>
              <a:t>添加监听器</a:t>
            </a:r>
          </a:p>
          <a:p>
            <a:r>
              <a:rPr lang="zh-CN" altLang="en-US" dirty="0">
                <a:sym typeface="Huawei Sans" panose="020C0503030203020204" pitchFamily="34" charset="0"/>
              </a:rPr>
              <a:t>修改监听器</a:t>
            </a:r>
          </a:p>
          <a:p>
            <a:r>
              <a:rPr lang="zh-CN" altLang="en-US" dirty="0">
                <a:sym typeface="Huawei Sans" panose="020C0503030203020204" pitchFamily="34" charset="0"/>
              </a:rPr>
              <a:t>删除监听器</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5865736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Huawei Sans" panose="020C0503030203020204" pitchFamily="34" charset="0"/>
              </a:rPr>
              <a:t>添加监听器</a:t>
            </a:r>
            <a:endParaRPr lang="en-US" dirty="0">
              <a:sym typeface="Huawei Sans" panose="020C0503030203020204" pitchFamily="34" charset="0"/>
            </a:endParaRPr>
          </a:p>
        </p:txBody>
      </p:sp>
      <p:pic>
        <p:nvPicPr>
          <p:cNvPr id="3" name="图片 2"/>
          <p:cNvPicPr>
            <a:picLocks noChangeAspect="1"/>
          </p:cNvPicPr>
          <p:nvPr/>
        </p:nvPicPr>
        <p:blipFill>
          <a:blip r:embed="rId3"/>
          <a:stretch>
            <a:fillRect/>
          </a:stretch>
        </p:blipFill>
        <p:spPr>
          <a:xfrm>
            <a:off x="1008063" y="1233488"/>
            <a:ext cx="4715662" cy="3934677"/>
          </a:xfrm>
          <a:prstGeom prst="rect">
            <a:avLst/>
          </a:prstGeom>
          <a:ln>
            <a:solidFill>
              <a:schemeClr val="bg1">
                <a:lumMod val="65000"/>
              </a:schemeClr>
            </a:solidFill>
          </a:ln>
        </p:spPr>
      </p:pic>
      <p:pic>
        <p:nvPicPr>
          <p:cNvPr id="4" name="图片 3"/>
          <p:cNvPicPr>
            <a:picLocks noChangeAspect="1"/>
          </p:cNvPicPr>
          <p:nvPr/>
        </p:nvPicPr>
        <p:blipFill>
          <a:blip r:embed="rId4"/>
          <a:stretch>
            <a:fillRect/>
          </a:stretch>
        </p:blipFill>
        <p:spPr>
          <a:xfrm>
            <a:off x="6190243" y="1233488"/>
            <a:ext cx="5184576" cy="2570935"/>
          </a:xfrm>
          <a:prstGeom prst="rect">
            <a:avLst/>
          </a:prstGeom>
          <a:ln>
            <a:solidFill>
              <a:schemeClr val="bg1">
                <a:lumMod val="65000"/>
              </a:schemeClr>
            </a:solidFill>
          </a:ln>
        </p:spPr>
      </p:pic>
      <p:pic>
        <p:nvPicPr>
          <p:cNvPr id="5" name="图片 4"/>
          <p:cNvPicPr>
            <a:picLocks noChangeAspect="1"/>
          </p:cNvPicPr>
          <p:nvPr/>
        </p:nvPicPr>
        <p:blipFill>
          <a:blip r:embed="rId5"/>
          <a:stretch>
            <a:fillRect/>
          </a:stretch>
        </p:blipFill>
        <p:spPr>
          <a:xfrm>
            <a:off x="6190243" y="3877163"/>
            <a:ext cx="5061197" cy="2108121"/>
          </a:xfrm>
          <a:prstGeom prst="rect">
            <a:avLst/>
          </a:prstGeom>
          <a:ln>
            <a:solidFill>
              <a:schemeClr val="bg1">
                <a:lumMod val="65000"/>
              </a:schemeClr>
            </a:solidFill>
          </a:ln>
        </p:spPr>
      </p:pic>
    </p:spTree>
    <p:extLst>
      <p:ext uri="{BB962C8B-B14F-4D97-AF65-F5344CB8AC3E}">
        <p14:creationId xmlns:p14="http://schemas.microsoft.com/office/powerpoint/2010/main" val="28872359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Arial" panose="020B0604020202020204" pitchFamily="34" charset="0"/>
                <a:sym typeface="Huawei Sans" panose="020C0503030203020204" pitchFamily="34" charset="0"/>
              </a:rPr>
              <a:t>ELB</a:t>
            </a:r>
            <a:r>
              <a:rPr lang="zh-CN" altLang="zh-CN" dirty="0">
                <a:cs typeface="Arial" panose="020B0604020202020204" pitchFamily="34" charset="0"/>
                <a:sym typeface="Huawei Sans" panose="020C0503030203020204" pitchFamily="34" charset="0"/>
              </a:rPr>
              <a:t>添加监听器</a:t>
            </a:r>
            <a:r>
              <a:rPr lang="en-US" altLang="zh-CN" dirty="0">
                <a:cs typeface="Arial" panose="020B0604020202020204" pitchFamily="34" charset="0"/>
                <a:sym typeface="Huawei Sans" panose="020C0503030203020204" pitchFamily="34" charset="0"/>
              </a:rPr>
              <a:t> - </a:t>
            </a:r>
            <a:r>
              <a:rPr lang="zh-CN" altLang="en-US" dirty="0">
                <a:cs typeface="Arial" panose="020B0604020202020204" pitchFamily="34" charset="0"/>
                <a:sym typeface="Huawei Sans" panose="020C0503030203020204" pitchFamily="34" charset="0"/>
              </a:rPr>
              <a:t>参数说明 </a:t>
            </a:r>
            <a:r>
              <a:rPr lang="en-US" altLang="zh-CN" dirty="0">
                <a:cs typeface="Arial" panose="020B0604020202020204" pitchFamily="34" charset="0"/>
                <a:sym typeface="Huawei Sans" panose="020C0503030203020204" pitchFamily="34" charset="0"/>
              </a:rPr>
              <a:t>(1/3)</a:t>
            </a:r>
            <a:endParaRPr lang="en-US" dirty="0">
              <a:cs typeface="Arial" panose="020B0604020202020204" pitchFamily="34" charset="0"/>
              <a:sym typeface="Huawei Sans" panose="020C0503030203020204" pitchFamily="34"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3853037351"/>
              </p:ext>
            </p:extLst>
          </p:nvPr>
        </p:nvGraphicFramePr>
        <p:xfrm>
          <a:off x="1019436" y="1304764"/>
          <a:ext cx="9649072" cy="4183476"/>
        </p:xfrm>
        <a:graphic>
          <a:graphicData uri="http://schemas.openxmlformats.org/drawingml/2006/table">
            <a:tbl>
              <a:tblPr firstRow="1" firstCol="1" lastRow="1" lastCol="1" bandRow="1" bandCol="1"/>
              <a:tblGrid>
                <a:gridCol w="1126966">
                  <a:extLst>
                    <a:ext uri="{9D8B030D-6E8A-4147-A177-3AD203B41FA5}">
                      <a16:colId xmlns:a16="http://schemas.microsoft.com/office/drawing/2014/main" val="20000"/>
                    </a:ext>
                  </a:extLst>
                </a:gridCol>
                <a:gridCol w="1229418">
                  <a:extLst>
                    <a:ext uri="{9D8B030D-6E8A-4147-A177-3AD203B41FA5}">
                      <a16:colId xmlns:a16="http://schemas.microsoft.com/office/drawing/2014/main" val="20001"/>
                    </a:ext>
                  </a:extLst>
                </a:gridCol>
                <a:gridCol w="5636503">
                  <a:extLst>
                    <a:ext uri="{9D8B030D-6E8A-4147-A177-3AD203B41FA5}">
                      <a16:colId xmlns:a16="http://schemas.microsoft.com/office/drawing/2014/main" val="20002"/>
                    </a:ext>
                  </a:extLst>
                </a:gridCol>
                <a:gridCol w="1656185">
                  <a:extLst>
                    <a:ext uri="{9D8B030D-6E8A-4147-A177-3AD203B41FA5}">
                      <a16:colId xmlns:a16="http://schemas.microsoft.com/office/drawing/2014/main" val="20003"/>
                    </a:ext>
                  </a:extLst>
                </a:gridCol>
              </a:tblGrid>
              <a:tr h="396044">
                <a:tc>
                  <a:txBody>
                    <a:bodyPr/>
                    <a:lstStyle/>
                    <a:p>
                      <a:pPr marL="0" marR="0" lvl="0" indent="0" algn="ctr" defTabSz="914400" rtl="0" eaLnBrk="1" fontAlgn="auto" latinLnBrk="0" hangingPunct="1">
                        <a:lnSpc>
                          <a:spcPct val="100000"/>
                        </a:lnSpc>
                        <a:spcBef>
                          <a:spcPts val="400"/>
                        </a:spcBef>
                        <a:spcAft>
                          <a:spcPts val="400"/>
                        </a:spcAft>
                        <a:buClrTx/>
                        <a:buSzTx/>
                        <a:buFontTx/>
                        <a:buNone/>
                        <a:tabLst/>
                        <a:defRPr/>
                      </a:pPr>
                      <a:r>
                        <a:rPr lang="zh-CN" altLang="en-US" sz="1600" b="1"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配置类型</a:t>
                      </a:r>
                    </a:p>
                  </a:txBody>
                  <a:tcPr marL="48044" marR="4804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lnSpc>
                          <a:spcPct val="100000"/>
                        </a:lnSpc>
                        <a:spcBef>
                          <a:spcPts val="400"/>
                        </a:spcBef>
                        <a:spcAft>
                          <a:spcPts val="400"/>
                        </a:spcAft>
                      </a:pPr>
                      <a:r>
                        <a:rPr lang="zh-CN" sz="16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参数</a:t>
                      </a:r>
                      <a:endParaRPr lang="en-US" altLang="zh-CN" sz="16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8044" marR="48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lnSpc>
                          <a:spcPct val="100000"/>
                        </a:lnSpc>
                        <a:spcBef>
                          <a:spcPts val="400"/>
                        </a:spcBef>
                        <a:spcAft>
                          <a:spcPts val="400"/>
                        </a:spcAft>
                      </a:pPr>
                      <a:r>
                        <a:rPr lang="zh-CN" sz="16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说明</a:t>
                      </a:r>
                    </a:p>
                  </a:txBody>
                  <a:tcPr marL="48044" marR="48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a:lnSpc>
                          <a:spcPct val="100000"/>
                        </a:lnSpc>
                        <a:spcBef>
                          <a:spcPts val="400"/>
                        </a:spcBef>
                        <a:spcAft>
                          <a:spcPts val="400"/>
                        </a:spcAft>
                      </a:pPr>
                      <a:r>
                        <a:rPr lang="zh-CN" sz="16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取值样例</a:t>
                      </a:r>
                    </a:p>
                  </a:txBody>
                  <a:tcPr marL="48044" marR="4804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89271">
                <a:tc rowSpan="6">
                  <a:txBody>
                    <a:bodyPr/>
                    <a:lstStyle/>
                    <a:p>
                      <a:pPr algn="ctr">
                        <a:lnSpc>
                          <a:spcPts val="1200"/>
                        </a:lnSpc>
                        <a:spcBef>
                          <a:spcPts val="400"/>
                        </a:spcBef>
                        <a:spcAft>
                          <a:spcPts val="400"/>
                        </a:spcAft>
                      </a:pPr>
                      <a:endPar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ctr">
                        <a:lnSpc>
                          <a:spcPts val="12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监听器</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1046" marR="41046"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名称</a:t>
                      </a:r>
                    </a:p>
                  </a:txBody>
                  <a:tcPr marL="41046" marR="410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监听器名称。</a:t>
                      </a:r>
                    </a:p>
                  </a:txBody>
                  <a:tcPr marL="41046" marR="410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Listener01</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1046" marR="41046"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113832">
                <a:tc vMerge="1">
                  <a:txBody>
                    <a:bodyPr/>
                    <a:lstStyle/>
                    <a:p>
                      <a:pPr>
                        <a:lnSpc>
                          <a:spcPts val="1200"/>
                        </a:lnSpc>
                        <a:spcBef>
                          <a:spcPts val="400"/>
                        </a:spcBef>
                        <a:spcAft>
                          <a:spcPts val="400"/>
                        </a:spcAft>
                      </a:pPr>
                      <a:endParaRPr lang="zh-CN" sz="1400" dirty="0">
                        <a:effectLst/>
                        <a:latin typeface="+mn-lt"/>
                        <a:ea typeface="+mn-ea"/>
                        <a:cs typeface="Arial" panose="020B0604020202020204" pitchFamily="34" charset="0"/>
                      </a:endParaRPr>
                    </a:p>
                  </a:txBody>
                  <a:tcPr marL="41046" marR="41046"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前端</a:t>
                      </a:r>
                      <a:r>
                        <a:rPr lang="zh-CN"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a:t>
                      </a:r>
                      <a:r>
                        <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zh-CN"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端口</a:t>
                      </a:r>
                    </a:p>
                  </a:txBody>
                  <a:tcPr marL="41046" marR="410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云服务开通的协议和端口。</a:t>
                      </a:r>
                    </a:p>
                    <a:p>
                      <a:pPr marL="342900" lvl="0" indent="-342900" algn="l">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TCP</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4</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层负载均衡服务</a:t>
                      </a:r>
                    </a:p>
                    <a:p>
                      <a:pPr marL="342900" lvl="0" indent="-342900" algn="l">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UDP</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4</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层负载均衡服务</a:t>
                      </a:r>
                    </a:p>
                    <a:p>
                      <a:pPr marL="342900" lvl="0" indent="-342900" algn="l">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HTTP/HTTPS</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7</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层负载均衡服务</a:t>
                      </a:r>
                    </a:p>
                  </a:txBody>
                  <a:tcPr marL="41046" marR="410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TCP/22</a:t>
                      </a:r>
                    </a:p>
                    <a:p>
                      <a:pPr algn="l">
                        <a:lnSpc>
                          <a:spcPts val="1200"/>
                        </a:lnSpc>
                        <a:spcBef>
                          <a:spcPts val="400"/>
                        </a:spcBef>
                        <a:spcAft>
                          <a:spcPts val="400"/>
                        </a:spcAf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HTTP/80</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1046" marR="41046"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8210">
                <a:tc vMerge="1">
                  <a:txBody>
                    <a:bodyPr/>
                    <a:lstStyle/>
                    <a:p>
                      <a:pPr>
                        <a:lnSpc>
                          <a:spcPts val="1200"/>
                        </a:lnSpc>
                        <a:spcBef>
                          <a:spcPts val="400"/>
                        </a:spcBef>
                        <a:spcAft>
                          <a:spcPts val="400"/>
                        </a:spcAft>
                      </a:pPr>
                      <a:endParaRPr lang="zh-CN" sz="1400" dirty="0">
                        <a:effectLst/>
                        <a:latin typeface="+mn-ea"/>
                        <a:ea typeface="+mn-ea"/>
                        <a:cs typeface="Arial" panose="020B0604020202020204" pitchFamily="34" charset="0"/>
                      </a:endParaRPr>
                    </a:p>
                  </a:txBody>
                  <a:tcPr marL="41046" marR="41046"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双向认证</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用户需要在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HTTPS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监听上同时绑定服务器证书与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证书，才能进行服务端与客户端的双向认证。</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marL="38100" marR="38100" marT="38100" marB="38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0929">
                <a:tc vMerge="1">
                  <a:txBody>
                    <a:bodyPr/>
                    <a:lstStyle/>
                    <a:p>
                      <a:pPr>
                        <a:lnSpc>
                          <a:spcPts val="1200"/>
                        </a:lnSpc>
                        <a:spcBef>
                          <a:spcPts val="400"/>
                        </a:spcBef>
                        <a:spcAft>
                          <a:spcPts val="400"/>
                        </a:spcAft>
                      </a:pPr>
                      <a:endParaRPr lang="zh-CN" sz="1400" dirty="0">
                        <a:effectLst/>
                        <a:latin typeface="+mn-ea"/>
                        <a:ea typeface="+mn-ea"/>
                        <a:cs typeface="Arial" panose="020B0604020202020204" pitchFamily="34" charset="0"/>
                      </a:endParaRPr>
                    </a:p>
                  </a:txBody>
                  <a:tcPr marL="41046" marR="41046"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Bef>
                          <a:spcPts val="400"/>
                        </a:spcBef>
                        <a:spcAft>
                          <a:spcPts val="400"/>
                        </a:spcAft>
                      </a:pPr>
                      <a:r>
                        <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CA</a:t>
                      </a: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证书</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协议类型为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HTTPS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时，需使用证书。且双向认证开关打开时为必选参数。</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marL="38100" marR="38100" marT="38100" marB="38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08631">
                <a:tc vMerge="1">
                  <a:txBody>
                    <a:bodyPr/>
                    <a:lstStyle/>
                    <a:p>
                      <a:pPr>
                        <a:lnSpc>
                          <a:spcPts val="1200"/>
                        </a:lnSpc>
                        <a:spcBef>
                          <a:spcPts val="400"/>
                        </a:spcBef>
                        <a:spcAft>
                          <a:spcPts val="400"/>
                        </a:spcAft>
                      </a:pPr>
                      <a:endParaRPr lang="zh-CN" sz="1400" dirty="0">
                        <a:effectLst/>
                        <a:latin typeface="+mn-ea"/>
                        <a:ea typeface="+mn-ea"/>
                        <a:cs typeface="Arial" panose="020B0604020202020204" pitchFamily="34" charset="0"/>
                      </a:endParaRPr>
                    </a:p>
                  </a:txBody>
                  <a:tcPr marL="41046" marR="41046"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服务器</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证书</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HTTPS</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的负载均衡使用的证书。</a:t>
                      </a:r>
                      <a:endPar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l">
                        <a:lnSpc>
                          <a:spcPct val="100000"/>
                        </a:lnSpc>
                        <a:spcBef>
                          <a:spcPts val="400"/>
                        </a:spcBef>
                        <a:spcAft>
                          <a:spcPts val="40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当且仅当负载均衡器协议为</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HTTPS</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该选项才有效。</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en-US" sz="1400" dirty="0" err="1">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certmiij</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/9125267e1b1a4526b346cdfb9b9f856a</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30791">
                <a:tc vMerge="1">
                  <a:txBody>
                    <a:bodyPr/>
                    <a:lstStyle/>
                    <a:p>
                      <a:pPr>
                        <a:lnSpc>
                          <a:spcPts val="1200"/>
                        </a:lnSpc>
                        <a:spcBef>
                          <a:spcPts val="400"/>
                        </a:spcBef>
                        <a:spcAft>
                          <a:spcPts val="400"/>
                        </a:spcAft>
                      </a:pPr>
                      <a:endParaRPr lang="zh-CN" sz="1400" dirty="0">
                        <a:effectLst/>
                        <a:latin typeface="+mn-ea"/>
                        <a:ea typeface="+mn-ea"/>
                        <a:cs typeface="Arial" panose="020B0604020202020204" pitchFamily="34" charset="0"/>
                      </a:endParaRPr>
                    </a:p>
                  </a:txBody>
                  <a:tcPr marL="41046" marR="41046"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描述</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1046" marR="410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ts val="1200"/>
                        </a:lnSpc>
                        <a:spcBef>
                          <a:spcPts val="400"/>
                        </a:spcBef>
                        <a:spcAft>
                          <a:spcPts val="400"/>
                        </a:spcAft>
                        <a:buClr>
                          <a:schemeClr val="bg1">
                            <a:lumMod val="50000"/>
                          </a:schemeClr>
                        </a:buClr>
                        <a:buSzPct val="60000"/>
                        <a:buFont typeface="Wingdings" panose="05000000000000000000" pitchFamily="2" charset="2"/>
                        <a:buNone/>
                        <a:tabLst>
                          <a:tab pos="180340" algn="l"/>
                        </a:tabLst>
                        <a:defRPr/>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l" defTabSz="914400" rtl="0" eaLnBrk="1" fontAlgn="auto" latinLnBrk="0" hangingPunct="1">
                        <a:lnSpc>
                          <a:spcPts val="1200"/>
                        </a:lnSpc>
                        <a:spcBef>
                          <a:spcPts val="400"/>
                        </a:spcBef>
                        <a:spcAft>
                          <a:spcPts val="400"/>
                        </a:spcAft>
                        <a:buClr>
                          <a:schemeClr val="bg1">
                            <a:lumMod val="50000"/>
                          </a:schemeClr>
                        </a:buClr>
                        <a:buSzPct val="60000"/>
                        <a:buFont typeface="Wingdings" panose="05000000000000000000" pitchFamily="2" charset="2"/>
                        <a:buNone/>
                        <a:tabLst>
                          <a:tab pos="180340" algn="l"/>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对于监听器描述。</a:t>
                      </a:r>
                    </a:p>
                    <a:p>
                      <a:pPr marL="342900" lvl="0" indent="-342900" algn="l">
                        <a:lnSpc>
                          <a:spcPts val="1200"/>
                        </a:lnSpc>
                        <a:spcBef>
                          <a:spcPts val="400"/>
                        </a:spcBef>
                        <a:spcAft>
                          <a:spcPts val="400"/>
                        </a:spcAft>
                        <a:buClr>
                          <a:schemeClr val="bg1">
                            <a:lumMod val="50000"/>
                          </a:schemeClr>
                        </a:buClr>
                        <a:buSzPct val="60000"/>
                        <a:buFont typeface="Wingdings" panose="05000000000000000000" pitchFamily="2" charset="2"/>
                        <a:buChar char=""/>
                        <a:tabLst>
                          <a:tab pos="180340" algn="l"/>
                        </a:tabLst>
                      </a:pP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1046" marR="410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1046" marR="41046"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026354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Arial" panose="020B0604020202020204" pitchFamily="34" charset="0"/>
                <a:sym typeface="Huawei Sans" panose="020C0503030203020204" pitchFamily="34" charset="0"/>
              </a:rPr>
              <a:t>ELB</a:t>
            </a:r>
            <a:r>
              <a:rPr lang="zh-CN" altLang="zh-CN" dirty="0">
                <a:cs typeface="Arial" panose="020B0604020202020204" pitchFamily="34" charset="0"/>
                <a:sym typeface="Huawei Sans" panose="020C0503030203020204" pitchFamily="34" charset="0"/>
              </a:rPr>
              <a:t>添加监听器</a:t>
            </a:r>
            <a:r>
              <a:rPr lang="en-US" altLang="zh-CN" dirty="0">
                <a:cs typeface="Arial" panose="020B0604020202020204" pitchFamily="34" charset="0"/>
                <a:sym typeface="Huawei Sans" panose="020C0503030203020204" pitchFamily="34" charset="0"/>
              </a:rPr>
              <a:t> - </a:t>
            </a:r>
            <a:r>
              <a:rPr lang="zh-CN" altLang="en-US" dirty="0">
                <a:cs typeface="Arial" panose="020B0604020202020204" pitchFamily="34" charset="0"/>
                <a:sym typeface="Huawei Sans" panose="020C0503030203020204" pitchFamily="34" charset="0"/>
              </a:rPr>
              <a:t>参数说明 </a:t>
            </a:r>
            <a:r>
              <a:rPr lang="en-US" altLang="zh-CN" dirty="0">
                <a:cs typeface="Arial" panose="020B0604020202020204" pitchFamily="34" charset="0"/>
                <a:sym typeface="Huawei Sans" panose="020C0503030203020204" pitchFamily="34" charset="0"/>
              </a:rPr>
              <a:t>(2/3)</a:t>
            </a:r>
            <a:endParaRPr lang="en-US" dirty="0">
              <a:cs typeface="Arial" panose="020B0604020202020204" pitchFamily="34" charset="0"/>
              <a:sym typeface="Huawei Sans" panose="020C0503030203020204" pitchFamily="34"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1347808032"/>
              </p:ext>
            </p:extLst>
          </p:nvPr>
        </p:nvGraphicFramePr>
        <p:xfrm>
          <a:off x="1010415" y="1376772"/>
          <a:ext cx="9613068" cy="4219032"/>
        </p:xfrm>
        <a:graphic>
          <a:graphicData uri="http://schemas.openxmlformats.org/drawingml/2006/table">
            <a:tbl>
              <a:tblPr firstRow="1" firstCol="1" lastRow="1" lastCol="1" bandRow="1" bandCol="1"/>
              <a:tblGrid>
                <a:gridCol w="1269161">
                  <a:extLst>
                    <a:ext uri="{9D8B030D-6E8A-4147-A177-3AD203B41FA5}">
                      <a16:colId xmlns:a16="http://schemas.microsoft.com/office/drawing/2014/main" val="20000"/>
                    </a:ext>
                  </a:extLst>
                </a:gridCol>
                <a:gridCol w="1507176">
                  <a:extLst>
                    <a:ext uri="{9D8B030D-6E8A-4147-A177-3AD203B41FA5}">
                      <a16:colId xmlns:a16="http://schemas.microsoft.com/office/drawing/2014/main" val="20001"/>
                    </a:ext>
                  </a:extLst>
                </a:gridCol>
                <a:gridCol w="5170929">
                  <a:extLst>
                    <a:ext uri="{9D8B030D-6E8A-4147-A177-3AD203B41FA5}">
                      <a16:colId xmlns:a16="http://schemas.microsoft.com/office/drawing/2014/main" val="20002"/>
                    </a:ext>
                  </a:extLst>
                </a:gridCol>
                <a:gridCol w="1665802">
                  <a:extLst>
                    <a:ext uri="{9D8B030D-6E8A-4147-A177-3AD203B41FA5}">
                      <a16:colId xmlns:a16="http://schemas.microsoft.com/office/drawing/2014/main" val="20003"/>
                    </a:ext>
                  </a:extLst>
                </a:gridCol>
              </a:tblGrid>
              <a:tr h="396044">
                <a:tc>
                  <a:txBody>
                    <a:bodyPr/>
                    <a:lstStyle/>
                    <a:p>
                      <a:pPr marL="0" marR="0" lvl="0" indent="0" algn="ctr" defTabSz="914400" rtl="0" eaLnBrk="1" fontAlgn="auto" latinLnBrk="0" hangingPunct="1">
                        <a:lnSpc>
                          <a:spcPct val="100000"/>
                        </a:lnSpc>
                        <a:spcBef>
                          <a:spcPts val="400"/>
                        </a:spcBef>
                        <a:spcAft>
                          <a:spcPts val="400"/>
                        </a:spcAft>
                        <a:buClrTx/>
                        <a:buSzTx/>
                        <a:buFontTx/>
                        <a:buNone/>
                        <a:tabLst/>
                        <a:defRPr/>
                      </a:pPr>
                      <a:r>
                        <a:rPr lang="zh-CN" altLang="en-US" sz="1800" b="1"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配置类型</a:t>
                      </a:r>
                    </a:p>
                  </a:txBody>
                  <a:tcPr marL="48044" marR="4804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Bef>
                          <a:spcPts val="400"/>
                        </a:spcBef>
                        <a:spcAft>
                          <a:spcPts val="400"/>
                        </a:spcAft>
                      </a:pPr>
                      <a:r>
                        <a:rPr lang="zh-CN" sz="18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参数</a:t>
                      </a:r>
                      <a:endParaRPr lang="en-US" altLang="zh-CN" sz="18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8044" marR="48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Bef>
                          <a:spcPts val="400"/>
                        </a:spcBef>
                        <a:spcAft>
                          <a:spcPts val="400"/>
                        </a:spcAft>
                      </a:pPr>
                      <a:r>
                        <a:rPr lang="zh-CN" sz="18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说明</a:t>
                      </a:r>
                    </a:p>
                  </a:txBody>
                  <a:tcPr marL="48044" marR="48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Bef>
                          <a:spcPts val="400"/>
                        </a:spcBef>
                        <a:spcAft>
                          <a:spcPts val="400"/>
                        </a:spcAft>
                      </a:pPr>
                      <a:r>
                        <a:rPr lang="zh-CN" sz="18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取值样例</a:t>
                      </a:r>
                    </a:p>
                  </a:txBody>
                  <a:tcPr marL="48044" marR="4804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950379">
                <a:tc rowSpan="7">
                  <a:txBody>
                    <a:bodyPr/>
                    <a:lstStyle/>
                    <a:p>
                      <a:pPr algn="ctr">
                        <a:lnSpc>
                          <a:spcPct val="100000"/>
                        </a:lnSpc>
                        <a:spcBef>
                          <a:spcPts val="400"/>
                        </a:spcBef>
                        <a:spcAft>
                          <a:spcPts val="400"/>
                        </a:spcAft>
                      </a:pPr>
                      <a:r>
                        <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后端服务器组</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后端云服务器组</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把具有相同特性的后端云服务器放在一个组。</a:t>
                      </a:r>
                    </a:p>
                    <a:p>
                      <a:pPr marL="285750" indent="-285750" algn="l">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新创建</a:t>
                      </a:r>
                    </a:p>
                    <a:p>
                      <a:pPr marL="285750" indent="-285750" algn="l">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使用已有</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新创建</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2874">
                <a:tc vMerge="1">
                  <a:txBody>
                    <a:bodyPr/>
                    <a:lstStyle/>
                    <a:p>
                      <a:pPr>
                        <a:lnSpc>
                          <a:spcPct val="100000"/>
                        </a:lnSpc>
                        <a:spcBef>
                          <a:spcPts val="400"/>
                        </a:spcBef>
                        <a:spcAft>
                          <a:spcPts val="400"/>
                        </a:spcAft>
                      </a:pPr>
                      <a:endParaRPr lang="zh-CN" sz="1400" dirty="0">
                        <a:effectLst/>
                        <a:latin typeface="+mn-lt"/>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名称</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400"/>
                        </a:spcBef>
                        <a:spcAft>
                          <a:spcPts val="400"/>
                        </a:spcAft>
                        <a:buClr>
                          <a:schemeClr val="bg1">
                            <a:lumMod val="50000"/>
                          </a:schemeClr>
                        </a:buClr>
                        <a:buSzPct val="60000"/>
                        <a:buFont typeface="Wingdings" panose="05000000000000000000" pitchFamily="2" charset="2"/>
                        <a:buNone/>
                        <a:tabLst>
                          <a:tab pos="180340" algn="l"/>
                        </a:tabLst>
                        <a:defRPr/>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后端云服务器组名称。</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sz="16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pool-i28r</a:t>
                      </a: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1221">
                <a:tc vMerge="1">
                  <a:txBody>
                    <a:bodyPr/>
                    <a:lstStyle/>
                    <a:p>
                      <a:pPr>
                        <a:lnSpc>
                          <a:spcPct val="100000"/>
                        </a:lnSpc>
                        <a:spcBef>
                          <a:spcPts val="400"/>
                        </a:spcBef>
                        <a:spcAft>
                          <a:spcPts val="400"/>
                        </a:spcAft>
                      </a:pPr>
                      <a:endParaRPr lang="zh-CN" sz="1400" dirty="0">
                        <a:effectLst/>
                        <a:latin typeface="+mn-lt"/>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分配策略类型</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负载均衡采用的算法。</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包含加权轮询算法，加权最少连接和源</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算法。</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加权</a:t>
                      </a:r>
                      <a:r>
                        <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轮询算法</a:t>
                      </a: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04251">
                <a:tc vMerge="1">
                  <a:txBody>
                    <a:bodyPr/>
                    <a:lstStyle/>
                    <a:p>
                      <a:pPr>
                        <a:lnSpc>
                          <a:spcPct val="100000"/>
                        </a:lnSpc>
                        <a:spcBef>
                          <a:spcPts val="400"/>
                        </a:spcBef>
                        <a:spcAft>
                          <a:spcPts val="400"/>
                        </a:spcAft>
                      </a:pPr>
                      <a:endParaRPr lang="zh-CN" sz="1400" dirty="0">
                        <a:effectLst/>
                        <a:latin typeface="+mn-lt"/>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Bef>
                          <a:spcPts val="400"/>
                        </a:spcBef>
                        <a:spcAft>
                          <a:spcPts val="400"/>
                        </a:spcAft>
                      </a:pPr>
                      <a:r>
                        <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会话保持</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开启会话保持后，弹性负载均衡将属于同一个会话的请求都转发到同一个云服务器进行处理。</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r>
                        <a:rPr lang="en-US" sz="16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ON</a:t>
                      </a:r>
                      <a:endParaRPr lang="zh-CN" altLang="en-US" sz="16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44291">
                <a:tc vMerge="1">
                  <a:txBody>
                    <a:bodyPr/>
                    <a:lstStyle/>
                    <a:p>
                      <a:pPr>
                        <a:lnSpc>
                          <a:spcPct val="100000"/>
                        </a:lnSpc>
                        <a:spcBef>
                          <a:spcPts val="400"/>
                        </a:spcBef>
                        <a:spcAft>
                          <a:spcPts val="400"/>
                        </a:spcAft>
                      </a:pPr>
                      <a:endParaRPr lang="zh-CN" sz="1400" dirty="0">
                        <a:effectLst/>
                        <a:latin typeface="+mn-lt"/>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Bef>
                          <a:spcPts val="400"/>
                        </a:spcBef>
                        <a:spcAft>
                          <a:spcPts val="400"/>
                        </a:spcAft>
                      </a:pPr>
                      <a:r>
                        <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会话保持类型</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会话保持的方式包括：</a:t>
                      </a:r>
                    </a:p>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源</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HTTP_COOKIE</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，应用程序</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COOKIE</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ts val="1200"/>
                        </a:lnSpc>
                        <a:spcBef>
                          <a:spcPts val="400"/>
                        </a:spcBef>
                        <a:spcAft>
                          <a:spcPts val="400"/>
                        </a:spcAft>
                        <a:buClrTx/>
                        <a:buSzTx/>
                        <a:buFontTx/>
                        <a:buNone/>
                        <a:tabLst/>
                        <a:defRPr/>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源</a:t>
                      </a:r>
                      <a:r>
                        <a:rPr 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a:t>
                      </a:r>
                    </a:p>
                    <a:p>
                      <a:pPr algn="l">
                        <a:lnSpc>
                          <a:spcPts val="1200"/>
                        </a:lnSpc>
                        <a:spcBef>
                          <a:spcPts val="400"/>
                        </a:spcBef>
                        <a:spcAft>
                          <a:spcPts val="400"/>
                        </a:spcAft>
                      </a:pPr>
                      <a:endPar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2470">
                <a:tc vMerge="1">
                  <a:txBody>
                    <a:bodyPr/>
                    <a:lstStyle/>
                    <a:p>
                      <a:pPr>
                        <a:lnSpc>
                          <a:spcPct val="100000"/>
                        </a:lnSpc>
                        <a:spcBef>
                          <a:spcPts val="400"/>
                        </a:spcBef>
                        <a:spcAft>
                          <a:spcPts val="400"/>
                        </a:spcAft>
                      </a:pPr>
                      <a:endParaRPr lang="zh-CN" sz="1400" dirty="0">
                        <a:effectLst/>
                        <a:latin typeface="+mn-lt"/>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cookie</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名称</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当会话保持选择应用程序</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COOKIE</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时，需要填写</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cookie</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名称。</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cookie1223</a:t>
                      </a:r>
                    </a:p>
                  </a:txBody>
                  <a:tcPr marL="38100" marR="38100" marT="38100" marB="38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77502">
                <a:tc vMerge="1">
                  <a:txBody>
                    <a:bodyPr/>
                    <a:lstStyle/>
                    <a:p>
                      <a:endParaRPr lang="en-US"/>
                    </a:p>
                  </a:txBody>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描述</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后端云服务器组的描述</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txBody>
                  <a:tcPr marL="38100" marR="38100" marT="38100" marB="38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066291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Arial" panose="020B0604020202020204" pitchFamily="34" charset="0"/>
                <a:sym typeface="Huawei Sans" panose="020C0503030203020204" pitchFamily="34" charset="0"/>
              </a:rPr>
              <a:t>ELB</a:t>
            </a:r>
            <a:r>
              <a:rPr lang="zh-CN" altLang="zh-CN" dirty="0">
                <a:cs typeface="Arial" panose="020B0604020202020204" pitchFamily="34" charset="0"/>
                <a:sym typeface="Huawei Sans" panose="020C0503030203020204" pitchFamily="34" charset="0"/>
              </a:rPr>
              <a:t>添加监听器</a:t>
            </a:r>
            <a:r>
              <a:rPr lang="en-US" altLang="zh-CN" dirty="0">
                <a:cs typeface="Arial" panose="020B0604020202020204" pitchFamily="34" charset="0"/>
                <a:sym typeface="Huawei Sans" panose="020C0503030203020204" pitchFamily="34" charset="0"/>
              </a:rPr>
              <a:t> - </a:t>
            </a:r>
            <a:r>
              <a:rPr lang="zh-CN" altLang="en-US" dirty="0">
                <a:cs typeface="Arial" panose="020B0604020202020204" pitchFamily="34" charset="0"/>
                <a:sym typeface="Huawei Sans" panose="020C0503030203020204" pitchFamily="34" charset="0"/>
              </a:rPr>
              <a:t>参数说明 </a:t>
            </a:r>
            <a:r>
              <a:rPr lang="en-US" altLang="zh-CN" dirty="0">
                <a:cs typeface="Arial" panose="020B0604020202020204" pitchFamily="34" charset="0"/>
                <a:sym typeface="Huawei Sans" panose="020C0503030203020204" pitchFamily="34" charset="0"/>
              </a:rPr>
              <a:t>(3/3)</a:t>
            </a:r>
            <a:endParaRPr lang="en-US" dirty="0">
              <a:cs typeface="Arial" panose="020B0604020202020204" pitchFamily="34" charset="0"/>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256754950"/>
              </p:ext>
            </p:extLst>
          </p:nvPr>
        </p:nvGraphicFramePr>
        <p:xfrm>
          <a:off x="1008063" y="1376772"/>
          <a:ext cx="9649071" cy="4977214"/>
        </p:xfrm>
        <a:graphic>
          <a:graphicData uri="http://schemas.openxmlformats.org/drawingml/2006/table">
            <a:tbl>
              <a:tblPr firstRow="1" firstCol="1" lastRow="1" lastCol="1" bandRow="1" bandCol="1"/>
              <a:tblGrid>
                <a:gridCol w="1184363">
                  <a:extLst>
                    <a:ext uri="{9D8B030D-6E8A-4147-A177-3AD203B41FA5}">
                      <a16:colId xmlns:a16="http://schemas.microsoft.com/office/drawing/2014/main" val="20000"/>
                    </a:ext>
                  </a:extLst>
                </a:gridCol>
                <a:gridCol w="1602373">
                  <a:extLst>
                    <a:ext uri="{9D8B030D-6E8A-4147-A177-3AD203B41FA5}">
                      <a16:colId xmlns:a16="http://schemas.microsoft.com/office/drawing/2014/main" val="20001"/>
                    </a:ext>
                  </a:extLst>
                </a:gridCol>
                <a:gridCol w="5181521">
                  <a:extLst>
                    <a:ext uri="{9D8B030D-6E8A-4147-A177-3AD203B41FA5}">
                      <a16:colId xmlns:a16="http://schemas.microsoft.com/office/drawing/2014/main" val="20002"/>
                    </a:ext>
                  </a:extLst>
                </a:gridCol>
                <a:gridCol w="1680814">
                  <a:extLst>
                    <a:ext uri="{9D8B030D-6E8A-4147-A177-3AD203B41FA5}">
                      <a16:colId xmlns:a16="http://schemas.microsoft.com/office/drawing/2014/main" val="20003"/>
                    </a:ext>
                  </a:extLst>
                </a:gridCol>
              </a:tblGrid>
              <a:tr h="468052">
                <a:tc>
                  <a:txBody>
                    <a:bodyPr/>
                    <a:lstStyle/>
                    <a:p>
                      <a:pPr marL="0" marR="0" lvl="0" indent="0" algn="ctr" defTabSz="914400" rtl="0" eaLnBrk="1" fontAlgn="auto" latinLnBrk="0" hangingPunct="1">
                        <a:lnSpc>
                          <a:spcPct val="100000"/>
                        </a:lnSpc>
                        <a:spcBef>
                          <a:spcPts val="400"/>
                        </a:spcBef>
                        <a:spcAft>
                          <a:spcPts val="400"/>
                        </a:spcAft>
                        <a:buClrTx/>
                        <a:buSzTx/>
                        <a:buFontTx/>
                        <a:buNone/>
                        <a:tabLst/>
                        <a:defRPr/>
                      </a:pPr>
                      <a:r>
                        <a:rPr lang="zh-CN" altLang="en-US" sz="1600" b="1"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配置类型</a:t>
                      </a:r>
                    </a:p>
                  </a:txBody>
                  <a:tcPr marL="48044" marR="4804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Bef>
                          <a:spcPts val="400"/>
                        </a:spcBef>
                        <a:spcAft>
                          <a:spcPts val="400"/>
                        </a:spcAft>
                      </a:pPr>
                      <a:r>
                        <a:rPr lang="zh-CN" sz="16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参数</a:t>
                      </a:r>
                      <a:endParaRPr lang="en-US" altLang="zh-CN" sz="16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8044" marR="48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Bef>
                          <a:spcPts val="400"/>
                        </a:spcBef>
                        <a:spcAft>
                          <a:spcPts val="400"/>
                        </a:spcAft>
                      </a:pPr>
                      <a:r>
                        <a:rPr lang="zh-CN" sz="16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说明</a:t>
                      </a:r>
                    </a:p>
                  </a:txBody>
                  <a:tcPr marL="48044" marR="48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Bef>
                          <a:spcPts val="400"/>
                        </a:spcBef>
                        <a:spcAft>
                          <a:spcPts val="400"/>
                        </a:spcAft>
                      </a:pPr>
                      <a:r>
                        <a:rPr lang="zh-CN" sz="1600" b="1"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取值样例</a:t>
                      </a:r>
                    </a:p>
                  </a:txBody>
                  <a:tcPr marL="48044" marR="4804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95398">
                <a:tc rowSpan="8">
                  <a:txBody>
                    <a:bodyPr/>
                    <a:lstStyle/>
                    <a:p>
                      <a:pPr algn="ctr">
                        <a:lnSpc>
                          <a:spcPct val="100000"/>
                        </a:lnSpc>
                        <a:spcBef>
                          <a:spcPts val="400"/>
                        </a:spcBef>
                        <a:spcAft>
                          <a:spcPts val="400"/>
                        </a:spcAft>
                      </a:pPr>
                      <a:r>
                        <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健康检查</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是否开启</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开启健康检查。</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ts val="1200"/>
                        </a:lnSpc>
                        <a:spcBef>
                          <a:spcPts val="400"/>
                        </a:spcBef>
                        <a:spcAft>
                          <a:spcPts val="400"/>
                        </a:spcAft>
                      </a:pPr>
                      <a:endParaRPr 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l">
                        <a:lnSpc>
                          <a:spcPts val="1200"/>
                        </a:lnSpc>
                        <a:spcBef>
                          <a:spcPts val="400"/>
                        </a:spcBef>
                        <a:spcAft>
                          <a:spcPts val="400"/>
                        </a:spcAft>
                      </a:pPr>
                      <a:r>
                        <a:rPr 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ON</a:t>
                      </a:r>
                      <a:endParaRPr lang="zh-CN" alt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9662">
                <a:tc vMerge="1">
                  <a:txBody>
                    <a:bodyPr/>
                    <a:lstStyle/>
                    <a:p>
                      <a:pPr>
                        <a:lnSpc>
                          <a:spcPct val="100000"/>
                        </a:lnSpc>
                        <a:spcBef>
                          <a:spcPts val="400"/>
                        </a:spcBef>
                        <a:spcAft>
                          <a:spcPts val="400"/>
                        </a:spcAft>
                      </a:pPr>
                      <a:endParaRPr lang="zh-CN" sz="1400" dirty="0">
                        <a:effectLst/>
                        <a:latin typeface="+mn-ea"/>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健康检查协议</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健康检查支持</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TCP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方式，设置后不可修改。</a:t>
                      </a:r>
                    </a:p>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当前端协议选择</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UDP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，健康检查协议默认为</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UDP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en-US" alt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TCP</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09662">
                <a:tc vMerge="1">
                  <a:txBody>
                    <a:bodyPr/>
                    <a:lstStyle/>
                    <a:p>
                      <a:endParaRPr lang="en-US"/>
                    </a:p>
                  </a:txBody>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域名</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健康检查的请求域名。默认值为空，由数字、字母、‘</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组成的字符串，只能以数字或字符开头。只有健康检查协议为</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时，需要设置。</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www.elb.com</a:t>
                      </a:r>
                    </a:p>
                  </a:txBody>
                  <a:tcPr marL="38100" marR="38100" marT="38100" marB="38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09662">
                <a:tc vMerge="1">
                  <a:txBody>
                    <a:bodyPr/>
                    <a:lstStyle/>
                    <a:p>
                      <a:endParaRPr lang="en-US"/>
                    </a:p>
                  </a:txBody>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健康检查端口</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健康检查端口号，取值范围</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65535]</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，为可选参数。</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en-US" alt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80</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68052">
                <a:tc vMerge="1">
                  <a:txBody>
                    <a:bodyPr/>
                    <a:lstStyle/>
                    <a:p>
                      <a:pPr>
                        <a:lnSpc>
                          <a:spcPct val="100000"/>
                        </a:lnSpc>
                        <a:spcBef>
                          <a:spcPts val="400"/>
                        </a:spcBef>
                        <a:spcAft>
                          <a:spcPts val="400"/>
                        </a:spcAft>
                      </a:pPr>
                      <a:endParaRPr lang="zh-CN" sz="1400" dirty="0">
                        <a:effectLst/>
                        <a:latin typeface="+mn-ea"/>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检查周期（秒）</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每次健康检查响应的最大间隔时间。</a:t>
                      </a:r>
                    </a:p>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取值范围：</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1-50</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秒</a:t>
                      </a:r>
                    </a:p>
                  </a:txBody>
                  <a:tcPr marL="80272" marR="802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400"/>
                        </a:spcBef>
                        <a:spcAft>
                          <a:spcPts val="400"/>
                        </a:spcAft>
                      </a:pPr>
                      <a:r>
                        <a:rPr lang="en-US"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5</a:t>
                      </a:r>
                      <a:endParaRPr lang="zh-CN" sz="16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80272" marR="80272"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24548">
                <a:tc vMerge="1">
                  <a:txBody>
                    <a:bodyPr/>
                    <a:lstStyle/>
                    <a:p>
                      <a:pPr>
                        <a:lnSpc>
                          <a:spcPct val="100000"/>
                        </a:lnSpc>
                        <a:spcBef>
                          <a:spcPts val="400"/>
                        </a:spcBef>
                        <a:spcAft>
                          <a:spcPts val="400"/>
                        </a:spcAft>
                      </a:pPr>
                      <a:endParaRPr lang="zh-CN" sz="1400" dirty="0">
                        <a:effectLst/>
                        <a:latin typeface="+mn-ea"/>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超时时间（秒）</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每次健康检查响应的最大超时时间。范围</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[1-50]</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a:t>
                      </a:r>
                    </a:p>
                  </a:txBody>
                  <a:tcPr marL="38100" marR="38100" marT="38100" marB="38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24548">
                <a:tc vMerge="1">
                  <a:txBody>
                    <a:bodyPr/>
                    <a:lstStyle/>
                    <a:p>
                      <a:endParaRPr lang="zh-CN" altLang="en-US"/>
                    </a:p>
                  </a:txBody>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检查路径</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指定健康检查的</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URL</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地址的路径。当“健康检查协议”为</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时生效。长度范围：</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80]</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/test.html</a:t>
                      </a:r>
                    </a:p>
                  </a:txBody>
                  <a:tcPr marL="38100" marR="38100" marT="38100" marB="38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10612">
                <a:tc vMerge="1">
                  <a:txBody>
                    <a:bodyPr/>
                    <a:lstStyle/>
                    <a:p>
                      <a:pPr>
                        <a:lnSpc>
                          <a:spcPct val="100000"/>
                        </a:lnSpc>
                        <a:spcBef>
                          <a:spcPts val="400"/>
                        </a:spcBef>
                        <a:spcAft>
                          <a:spcPts val="400"/>
                        </a:spcAft>
                      </a:pPr>
                      <a:endParaRPr lang="zh-CN" sz="1400" dirty="0">
                        <a:effectLst/>
                        <a:latin typeface="+mn-ea"/>
                        <a:ea typeface="+mn-ea"/>
                        <a:cs typeface="Arial" panose="020B0604020202020204" pitchFamily="34" charset="0"/>
                      </a:endParaRPr>
                    </a:p>
                  </a:txBody>
                  <a:tcPr marL="80272" marR="80272" marT="0" marB="0">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最大重试次数</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zh-CN" altLang="en-US" sz="16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健康检查最大的重试次数，范围</a:t>
                      </a:r>
                      <a:r>
                        <a:rPr lang="en-US" altLang="zh-CN" sz="16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[1-10]</a:t>
                      </a:r>
                      <a:r>
                        <a:rPr lang="zh-CN" altLang="en-US" sz="16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a:t>
                      </a:r>
                    </a:p>
                  </a:txBody>
                  <a:tcPr marL="38100" marR="38100" marT="38100" marB="38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142888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后端服务器组</a:t>
            </a:r>
            <a:r>
              <a:rPr lang="zh-CN" altLang="zh-CN" dirty="0">
                <a:sym typeface="Huawei Sans" panose="020C0503030203020204" pitchFamily="34" charset="0"/>
              </a:rPr>
              <a:t>管理</a:t>
            </a:r>
            <a:endParaRPr 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dirty="0">
                <a:sym typeface="Huawei Sans" panose="020C0503030203020204" pitchFamily="34" charset="0"/>
              </a:rPr>
              <a:t>添加后端服务器组</a:t>
            </a:r>
          </a:p>
          <a:p>
            <a:r>
              <a:rPr lang="zh-CN" altLang="en-US" dirty="0">
                <a:sym typeface="Huawei Sans" panose="020C0503030203020204" pitchFamily="34" charset="0"/>
              </a:rPr>
              <a:t>移除后端服务器组</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662974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Huawei Sans" panose="020C0503030203020204" pitchFamily="34" charset="0"/>
              </a:rPr>
              <a:t>添加后端服务器</a:t>
            </a:r>
            <a:r>
              <a:rPr lang="zh-CN" altLang="en-US" dirty="0">
                <a:sym typeface="Huawei Sans" panose="020C0503030203020204" pitchFamily="34" charset="0"/>
              </a:rPr>
              <a:t>组</a:t>
            </a:r>
            <a:endParaRPr lang="en-US" dirty="0">
              <a:sym typeface="Huawei Sans" panose="020C0503030203020204" pitchFamily="34" charset="0"/>
            </a:endParaRPr>
          </a:p>
        </p:txBody>
      </p:sp>
      <p:pic>
        <p:nvPicPr>
          <p:cNvPr id="5" name="图片 4"/>
          <p:cNvPicPr>
            <a:picLocks noChangeAspect="1"/>
          </p:cNvPicPr>
          <p:nvPr/>
        </p:nvPicPr>
        <p:blipFill>
          <a:blip r:embed="rId3"/>
          <a:stretch>
            <a:fillRect/>
          </a:stretch>
        </p:blipFill>
        <p:spPr>
          <a:xfrm>
            <a:off x="1127448" y="1448780"/>
            <a:ext cx="10236848" cy="4752528"/>
          </a:xfrm>
          <a:prstGeom prst="rect">
            <a:avLst/>
          </a:prstGeom>
          <a:ln w="12700">
            <a:solidFill>
              <a:schemeClr val="bg1">
                <a:lumMod val="85000"/>
              </a:schemeClr>
            </a:solidFill>
          </a:ln>
        </p:spPr>
      </p:pic>
    </p:spTree>
    <p:extLst>
      <p:ext uri="{BB962C8B-B14F-4D97-AF65-F5344CB8AC3E}">
        <p14:creationId xmlns:p14="http://schemas.microsoft.com/office/powerpoint/2010/main" val="3088615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高可用云上组网 </a:t>
            </a:r>
            <a:r>
              <a:rPr lang="en-US" altLang="zh-CN" dirty="0">
                <a:sym typeface="Huawei Sans" panose="020C0503030203020204" pitchFamily="34" charset="0"/>
              </a:rPr>
              <a:t>- </a:t>
            </a:r>
            <a:r>
              <a:rPr lang="zh-CN" altLang="en-US" dirty="0">
                <a:sym typeface="Huawei Sans" panose="020C0503030203020204" pitchFamily="34" charset="0"/>
              </a:rPr>
              <a:t>弹性伸缩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79" name="TextBox 206"/>
          <p:cNvSpPr txBox="1"/>
          <p:nvPr/>
        </p:nvSpPr>
        <p:spPr>
          <a:xfrm>
            <a:off x="731838" y="1134442"/>
            <a:ext cx="10728325" cy="705642"/>
          </a:xfrm>
          <a:prstGeom prst="rect">
            <a:avLst/>
          </a:prstGeom>
          <a:solidFill>
            <a:srgbClr val="EBF9F1">
              <a:alpha val="37000"/>
            </a:srgbClr>
          </a:solidFill>
        </p:spPr>
        <p:txBody>
          <a:bodyPr wrap="square" rtlCol="0">
            <a:spAutoFit/>
          </a:bodyPr>
          <a:lstStyle/>
          <a:p>
            <a:pPr>
              <a:lnSpc>
                <a:spcPct val="150000"/>
              </a:lnSpc>
              <a:buNone/>
            </a:pPr>
            <a:r>
              <a:rPr lang="zh-CN" altLang="en-US"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弹性伸缩（</a:t>
            </a:r>
            <a:r>
              <a:rPr lang="en-US" altLang="zh-CN"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Auto Scaling</a:t>
            </a:r>
            <a:r>
              <a:rPr lang="zh-CN" altLang="en-US"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可根据用户的业务需求和预设策略，自动调整计算资源或弹性</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资源，使云服务器数量或弹性</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带宽自动随业务负载增长而增加，随业务负载降低而减少，节省云上业务资费，保证业务平稳健康运行。</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0" name="组合 79"/>
          <p:cNvGrpSpPr/>
          <p:nvPr/>
        </p:nvGrpSpPr>
        <p:grpSpPr>
          <a:xfrm>
            <a:off x="742615" y="2202688"/>
            <a:ext cx="4260270" cy="944302"/>
            <a:chOff x="6096628" y="1441068"/>
            <a:chExt cx="4996512" cy="1321528"/>
          </a:xfrm>
        </p:grpSpPr>
        <p:sp>
          <p:nvSpPr>
            <p:cNvPr id="81" name="同侧圆角矩形 80"/>
            <p:cNvSpPr/>
            <p:nvPr/>
          </p:nvSpPr>
          <p:spPr bwMode="auto">
            <a:xfrm>
              <a:off x="6107039" y="1841878"/>
              <a:ext cx="4921835" cy="916257"/>
            </a:xfrm>
            <a:prstGeom prst="round2SameRect">
              <a:avLst>
                <a:gd name="adj1" fmla="val 0"/>
                <a:gd name="adj2" fmla="val 0"/>
              </a:avLst>
            </a:prstGeom>
            <a:solidFill>
              <a:schemeClr val="bg1"/>
            </a:solidFill>
            <a:ln w="12700" algn="ctr">
              <a:noFill/>
              <a:round/>
              <a:headEnd/>
              <a:tailEnd/>
            </a:ln>
            <a:effectLst>
              <a:outerShdw blurRad="63500" sx="101000" sy="101000" algn="ctr" rotWithShape="0">
                <a:prstClr val="black">
                  <a:alpha val="20000"/>
                </a:prstClr>
              </a:outerShdw>
            </a:effectLst>
          </p:spPr>
          <p:txBody>
            <a:bodyPr wrap="none" lIns="68552" tIns="34276" rIns="68552" bIns="34276" anchor="ctr"/>
            <a:lstStyle/>
            <a:p>
              <a:pPr eaLnBrk="0" hangingPunct="0">
                <a:buClr>
                  <a:srgbClr val="990000"/>
                </a:buClr>
                <a:buSzPct val="60000"/>
                <a:buNone/>
              </a:pPr>
              <a:endParaRPr lang="zh-CN" altLang="zh-CN"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2" name="同侧圆角矩形 81"/>
            <p:cNvSpPr/>
            <p:nvPr/>
          </p:nvSpPr>
          <p:spPr>
            <a:xfrm>
              <a:off x="6096628" y="1441068"/>
              <a:ext cx="4929046" cy="405287"/>
            </a:xfrm>
            <a:prstGeom prst="round2SameRect">
              <a:avLst/>
            </a:prstGeom>
            <a:solidFill>
              <a:srgbClr val="4F81B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b="1" kern="0" dirty="0">
                  <a:solidFill>
                    <a:sysClr val="window" lastClr="FFFFFF"/>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rPr>
                <a:t>丰富的伸缩对象：</a:t>
              </a:r>
              <a:r>
                <a:rPr lang="en-US" altLang="zh-CN" sz="1400" b="1" kern="0" dirty="0">
                  <a:solidFill>
                    <a:sysClr val="window" lastClr="FFFFFF"/>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rPr>
                <a:t>ECS</a:t>
              </a:r>
              <a:r>
                <a:rPr lang="zh-CN" altLang="en-US" sz="1400" b="1" kern="0" dirty="0">
                  <a:solidFill>
                    <a:sysClr val="window" lastClr="FFFFFF"/>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rPr>
                <a:t>实例及弹性</a:t>
              </a:r>
              <a:r>
                <a:rPr lang="en-US" altLang="zh-CN" sz="1400" b="1" kern="0" dirty="0">
                  <a:solidFill>
                    <a:sysClr val="window" lastClr="FFFFFF"/>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b="1" kern="0" dirty="0">
                  <a:solidFill>
                    <a:sysClr val="window" lastClr="FFFFFF"/>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rPr>
                <a:t>带宽</a:t>
              </a:r>
            </a:p>
          </p:txBody>
        </p:sp>
        <p:sp>
          <p:nvSpPr>
            <p:cNvPr id="83" name="TextBox 91"/>
            <p:cNvSpPr txBox="1"/>
            <p:nvPr/>
          </p:nvSpPr>
          <p:spPr>
            <a:xfrm>
              <a:off x="6159565" y="1858071"/>
              <a:ext cx="4933575" cy="90452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用户可根据业务访问量的变化，配置伸缩策略，通过弹性伸缩服务控制伸缩组中云服务器的数量或弹性</a:t>
              </a:r>
              <a:r>
                <a:rPr lang="en-US"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带宽，进行扩容和减容操作，从而保证服务正常运行。</a:t>
              </a:r>
              <a:endParaRPr lang="en-US" sz="1200" dirty="0" err="1">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4" name="组合 83"/>
          <p:cNvGrpSpPr/>
          <p:nvPr/>
        </p:nvGrpSpPr>
        <p:grpSpPr>
          <a:xfrm>
            <a:off x="736467" y="3332230"/>
            <a:ext cx="4228754" cy="990277"/>
            <a:chOff x="6096628" y="1441068"/>
            <a:chExt cx="4959549" cy="1385869"/>
          </a:xfrm>
        </p:grpSpPr>
        <p:sp>
          <p:nvSpPr>
            <p:cNvPr id="85" name="同侧圆角矩形 84"/>
            <p:cNvSpPr/>
            <p:nvPr/>
          </p:nvSpPr>
          <p:spPr bwMode="auto">
            <a:xfrm>
              <a:off x="6096630" y="1866726"/>
              <a:ext cx="4925650" cy="896453"/>
            </a:xfrm>
            <a:prstGeom prst="round2SameRect">
              <a:avLst>
                <a:gd name="adj1" fmla="val 0"/>
                <a:gd name="adj2" fmla="val 0"/>
              </a:avLst>
            </a:prstGeom>
            <a:solidFill>
              <a:schemeClr val="bg1"/>
            </a:solidFill>
            <a:ln w="12700" algn="ctr">
              <a:noFill/>
              <a:round/>
              <a:headEnd/>
              <a:tailEnd/>
            </a:ln>
            <a:effectLst>
              <a:outerShdw blurRad="63500" sx="101000" sy="101000" algn="ctr" rotWithShape="0">
                <a:prstClr val="black">
                  <a:alpha val="20000"/>
                </a:prstClr>
              </a:outerShdw>
            </a:effectLst>
          </p:spPr>
          <p:txBody>
            <a:bodyPr wrap="none" lIns="68552" tIns="34276" rIns="68552" bIns="34276" anchor="ctr"/>
            <a:lstStyle/>
            <a:p>
              <a:pPr eaLnBrk="0" hangingPunct="0">
                <a:buClr>
                  <a:srgbClr val="990000"/>
                </a:buClr>
                <a:buSzPct val="60000"/>
                <a:buNone/>
              </a:pPr>
              <a:endParaRPr lang="zh-CN" altLang="zh-CN"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6" name="同侧圆角矩形 85"/>
            <p:cNvSpPr/>
            <p:nvPr/>
          </p:nvSpPr>
          <p:spPr>
            <a:xfrm>
              <a:off x="6096628" y="1441068"/>
              <a:ext cx="4929046" cy="405287"/>
            </a:xfrm>
            <a:prstGeom prst="round2SameRect">
              <a:avLst/>
            </a:prstGeom>
            <a:solidFill>
              <a:srgbClr val="4F81B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b="1" kern="0" dirty="0">
                  <a:solidFill>
                    <a:sysClr val="window" lastClr="FFFFFF"/>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rPr>
                <a:t>丰富的监控告警伸缩策略</a:t>
              </a:r>
            </a:p>
          </p:txBody>
        </p:sp>
        <p:sp>
          <p:nvSpPr>
            <p:cNvPr id="87" name="TextBox 91"/>
            <p:cNvSpPr txBox="1"/>
            <p:nvPr/>
          </p:nvSpPr>
          <p:spPr>
            <a:xfrm>
              <a:off x="6122602" y="1922412"/>
              <a:ext cx="4933575" cy="90452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对于具有随机性的访问量波动的业务，可通过华为云云监控服务，对</a:t>
              </a:r>
              <a:r>
                <a:rPr lang="en-US" sz="1200" dirty="0">
                  <a:latin typeface="Huawei Sans" panose="020C0503030203020204" pitchFamily="34" charset="0"/>
                  <a:ea typeface="方正兰亭黑简体" panose="02000000000000000000" pitchFamily="2" charset="-122"/>
                  <a:sym typeface="Huawei Sans" panose="020C0503030203020204" pitchFamily="34" charset="0"/>
                </a:rPr>
                <a:t>CPU/MEM/Network</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等指标进行监控，触发伸缩活动；</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8" name="组合 87"/>
          <p:cNvGrpSpPr/>
          <p:nvPr/>
        </p:nvGrpSpPr>
        <p:grpSpPr>
          <a:xfrm>
            <a:off x="724780" y="4401699"/>
            <a:ext cx="4208383" cy="835471"/>
            <a:chOff x="6090016" y="1441068"/>
            <a:chExt cx="4935658" cy="1169222"/>
          </a:xfrm>
        </p:grpSpPr>
        <p:sp>
          <p:nvSpPr>
            <p:cNvPr id="89" name="同侧圆角矩形 88"/>
            <p:cNvSpPr/>
            <p:nvPr/>
          </p:nvSpPr>
          <p:spPr bwMode="auto">
            <a:xfrm>
              <a:off x="6117453" y="1854304"/>
              <a:ext cx="4904562" cy="755986"/>
            </a:xfrm>
            <a:prstGeom prst="round2SameRect">
              <a:avLst>
                <a:gd name="adj1" fmla="val 0"/>
                <a:gd name="adj2" fmla="val 0"/>
              </a:avLst>
            </a:prstGeom>
            <a:solidFill>
              <a:schemeClr val="bg1"/>
            </a:solidFill>
            <a:ln w="12700" algn="ctr">
              <a:noFill/>
              <a:round/>
              <a:headEnd/>
              <a:tailEnd/>
            </a:ln>
            <a:effectLst>
              <a:outerShdw blurRad="63500" sx="101000" sy="101000" algn="ctr" rotWithShape="0">
                <a:prstClr val="black">
                  <a:alpha val="20000"/>
                </a:prstClr>
              </a:outerShdw>
            </a:effectLst>
          </p:spPr>
          <p:txBody>
            <a:bodyPr wrap="none" lIns="68552" tIns="34276" rIns="68552" bIns="34276" anchor="ctr"/>
            <a:lstStyle/>
            <a:p>
              <a:pPr eaLnBrk="0" hangingPunct="0">
                <a:buClr>
                  <a:srgbClr val="990000"/>
                </a:buClr>
                <a:buSzPct val="60000"/>
                <a:buNone/>
              </a:pPr>
              <a:endParaRPr lang="zh-CN" altLang="zh-CN"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0" name="同侧圆角矩形 89"/>
            <p:cNvSpPr/>
            <p:nvPr/>
          </p:nvSpPr>
          <p:spPr>
            <a:xfrm>
              <a:off x="6096628" y="1441068"/>
              <a:ext cx="4929046" cy="405287"/>
            </a:xfrm>
            <a:prstGeom prst="round2SameRect">
              <a:avLst/>
            </a:prstGeom>
            <a:solidFill>
              <a:srgbClr val="4F81B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b="1" kern="0" dirty="0">
                  <a:solidFill>
                    <a:sysClr val="window" lastClr="FFFFFF"/>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rPr>
                <a:t>定时周期伸缩策略</a:t>
              </a:r>
            </a:p>
          </p:txBody>
        </p:sp>
        <p:sp>
          <p:nvSpPr>
            <p:cNvPr id="91" name="TextBox 91"/>
            <p:cNvSpPr txBox="1"/>
            <p:nvPr/>
          </p:nvSpPr>
          <p:spPr>
            <a:xfrm>
              <a:off x="6090016" y="1942023"/>
              <a:ext cx="4933575" cy="64608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对于有规律可预期的访问量波动，可通过配置定时调度策略，实现定时</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周期性伸缩。</a:t>
              </a:r>
            </a:p>
          </p:txBody>
        </p:sp>
      </p:grpSp>
      <p:sp>
        <p:nvSpPr>
          <p:cNvPr id="92" name="矩形 91"/>
          <p:cNvSpPr/>
          <p:nvPr/>
        </p:nvSpPr>
        <p:spPr>
          <a:xfrm>
            <a:off x="558579" y="1929181"/>
            <a:ext cx="4483223" cy="297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弹性伸缩服务优势</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3" name="组合 92"/>
          <p:cNvGrpSpPr/>
          <p:nvPr/>
        </p:nvGrpSpPr>
        <p:grpSpPr>
          <a:xfrm>
            <a:off x="735220" y="5395553"/>
            <a:ext cx="4208383" cy="835471"/>
            <a:chOff x="6090016" y="1441068"/>
            <a:chExt cx="4935658" cy="1169222"/>
          </a:xfrm>
        </p:grpSpPr>
        <p:sp>
          <p:nvSpPr>
            <p:cNvPr id="94" name="同侧圆角矩形 93"/>
            <p:cNvSpPr/>
            <p:nvPr/>
          </p:nvSpPr>
          <p:spPr bwMode="auto">
            <a:xfrm>
              <a:off x="6117453" y="1854304"/>
              <a:ext cx="4904562" cy="755986"/>
            </a:xfrm>
            <a:prstGeom prst="round2SameRect">
              <a:avLst>
                <a:gd name="adj1" fmla="val 0"/>
                <a:gd name="adj2" fmla="val 0"/>
              </a:avLst>
            </a:prstGeom>
            <a:solidFill>
              <a:schemeClr val="bg1"/>
            </a:solidFill>
            <a:ln w="12700" algn="ctr">
              <a:noFill/>
              <a:round/>
              <a:headEnd/>
              <a:tailEnd/>
            </a:ln>
            <a:effectLst>
              <a:outerShdw blurRad="63500" sx="101000" sy="101000" algn="ctr" rotWithShape="0">
                <a:prstClr val="black">
                  <a:alpha val="20000"/>
                </a:prstClr>
              </a:outerShdw>
            </a:effectLst>
          </p:spPr>
          <p:txBody>
            <a:bodyPr wrap="none" lIns="68552" tIns="34276" rIns="68552" bIns="34276" anchor="ctr"/>
            <a:lstStyle/>
            <a:p>
              <a:pPr eaLnBrk="0" hangingPunct="0">
                <a:buClr>
                  <a:srgbClr val="990000"/>
                </a:buClr>
                <a:buSzPct val="60000"/>
                <a:buNone/>
              </a:pPr>
              <a:endParaRPr lang="zh-CN" altLang="zh-CN"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5" name="同侧圆角矩形 94"/>
            <p:cNvSpPr/>
            <p:nvPr/>
          </p:nvSpPr>
          <p:spPr>
            <a:xfrm>
              <a:off x="6096628" y="1441068"/>
              <a:ext cx="4929046" cy="405287"/>
            </a:xfrm>
            <a:prstGeom prst="round2SameRect">
              <a:avLst/>
            </a:prstGeom>
            <a:solidFill>
              <a:srgbClr val="4F81B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b="1" kern="0" dirty="0">
                  <a:solidFill>
                    <a:sysClr val="window" lastClr="FFFFFF"/>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rPr>
                <a:t>灵活的伸缩活动管理功能</a:t>
              </a:r>
            </a:p>
          </p:txBody>
        </p:sp>
        <p:sp>
          <p:nvSpPr>
            <p:cNvPr id="96" name="TextBox 91"/>
            <p:cNvSpPr txBox="1"/>
            <p:nvPr/>
          </p:nvSpPr>
          <p:spPr>
            <a:xfrm>
              <a:off x="6090016" y="1942023"/>
              <a:ext cx="4933575" cy="64608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支持多种伸缩过程管理，包括生命周期挂钩，实例保护，实例备用，满足个性化管理。</a:t>
              </a:r>
            </a:p>
          </p:txBody>
        </p:sp>
      </p:grpSp>
      <p:sp>
        <p:nvSpPr>
          <p:cNvPr id="97" name="矩形 96"/>
          <p:cNvSpPr/>
          <p:nvPr/>
        </p:nvSpPr>
        <p:spPr>
          <a:xfrm>
            <a:off x="4869602" y="1959773"/>
            <a:ext cx="6982380" cy="297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弹性伸缩服务系统架构</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8" name="组合 118"/>
          <p:cNvGrpSpPr/>
          <p:nvPr/>
        </p:nvGrpSpPr>
        <p:grpSpPr>
          <a:xfrm>
            <a:off x="5027966" y="2456995"/>
            <a:ext cx="6743000" cy="3827341"/>
            <a:chOff x="1297488" y="1848164"/>
            <a:chExt cx="8004466" cy="3829156"/>
          </a:xfrm>
        </p:grpSpPr>
        <p:pic>
          <p:nvPicPr>
            <p:cNvPr id="99" name="Picture 3" descr="E:\BUI_HwClouds\Doc\VI\2.产品\架构图图标集合\弹性伸缩服务\images\弹性伸缩服务964_17.png"/>
            <p:cNvPicPr>
              <a:picLocks noChangeAspect="1" noChangeArrowheads="1"/>
            </p:cNvPicPr>
            <p:nvPr/>
          </p:nvPicPr>
          <p:blipFill>
            <a:blip r:embed="rId3" cstate="print">
              <a:grayscl/>
            </a:blip>
            <a:srcRect/>
            <a:stretch>
              <a:fillRect/>
            </a:stretch>
          </p:blipFill>
          <p:spPr bwMode="auto">
            <a:xfrm>
              <a:off x="1370149" y="3160027"/>
              <a:ext cx="790575" cy="571500"/>
            </a:xfrm>
            <a:prstGeom prst="rect">
              <a:avLst/>
            </a:prstGeom>
            <a:noFill/>
          </p:spPr>
        </p:pic>
        <p:pic>
          <p:nvPicPr>
            <p:cNvPr id="100" name="Picture 5" descr="E:\BUI_HwClouds\Doc\VI\2.产品\架构图图标集合\弹性伸缩服务\images\弹性伸缩服务964_07.png"/>
            <p:cNvPicPr>
              <a:picLocks noChangeAspect="1" noChangeArrowheads="1"/>
            </p:cNvPicPr>
            <p:nvPr/>
          </p:nvPicPr>
          <p:blipFill>
            <a:blip r:embed="rId4" cstate="print">
              <a:grayscl/>
            </a:blip>
            <a:srcRect/>
            <a:stretch>
              <a:fillRect/>
            </a:stretch>
          </p:blipFill>
          <p:spPr bwMode="auto">
            <a:xfrm>
              <a:off x="6876678" y="3068960"/>
              <a:ext cx="809625" cy="714375"/>
            </a:xfrm>
            <a:prstGeom prst="rect">
              <a:avLst/>
            </a:prstGeom>
            <a:noFill/>
          </p:spPr>
        </p:pic>
        <p:pic>
          <p:nvPicPr>
            <p:cNvPr id="101" name="Picture 6" descr="E:\BUI_HwClouds\Doc\VI\2.产品\架构图图标集合\弹性伸缩服务\images\弹性伸缩服务964_09.png"/>
            <p:cNvPicPr>
              <a:picLocks noChangeAspect="1" noChangeArrowheads="1"/>
            </p:cNvPicPr>
            <p:nvPr/>
          </p:nvPicPr>
          <p:blipFill>
            <a:blip r:embed="rId5" cstate="print">
              <a:grayscl/>
            </a:blip>
            <a:srcRect/>
            <a:stretch>
              <a:fillRect/>
            </a:stretch>
          </p:blipFill>
          <p:spPr bwMode="auto">
            <a:xfrm>
              <a:off x="4655737" y="3068960"/>
              <a:ext cx="1162050" cy="714375"/>
            </a:xfrm>
            <a:prstGeom prst="rect">
              <a:avLst/>
            </a:prstGeom>
            <a:noFill/>
          </p:spPr>
        </p:pic>
        <p:pic>
          <p:nvPicPr>
            <p:cNvPr id="102" name="Picture 7" descr="E:\BUI_HwClouds\Doc\VI\2.产品\架构图图标集合\弹性伸缩服务\images\弹性伸缩服务964_12.png"/>
            <p:cNvPicPr>
              <a:picLocks noChangeAspect="1" noChangeArrowheads="1"/>
            </p:cNvPicPr>
            <p:nvPr/>
          </p:nvPicPr>
          <p:blipFill>
            <a:blip r:embed="rId6" cstate="print">
              <a:grayscl/>
            </a:blip>
            <a:srcRect/>
            <a:stretch>
              <a:fillRect/>
            </a:stretch>
          </p:blipFill>
          <p:spPr bwMode="auto">
            <a:xfrm>
              <a:off x="4864620" y="4873388"/>
              <a:ext cx="781050" cy="571500"/>
            </a:xfrm>
            <a:prstGeom prst="rect">
              <a:avLst/>
            </a:prstGeom>
            <a:noFill/>
          </p:spPr>
        </p:pic>
        <p:pic>
          <p:nvPicPr>
            <p:cNvPr id="103" name="Picture 8" descr="E:\BUI_HwClouds\Doc\VI\2.产品\架构图图标集合\弹性伸缩服务\images\弹性伸缩服务964_14.png"/>
            <p:cNvPicPr>
              <a:picLocks noChangeAspect="1" noChangeArrowheads="1"/>
            </p:cNvPicPr>
            <p:nvPr/>
          </p:nvPicPr>
          <p:blipFill>
            <a:blip r:embed="rId7" cstate="print">
              <a:grayscl/>
            </a:blip>
            <a:srcRect/>
            <a:stretch>
              <a:fillRect/>
            </a:stretch>
          </p:blipFill>
          <p:spPr bwMode="auto">
            <a:xfrm>
              <a:off x="8415625" y="3116608"/>
              <a:ext cx="685099" cy="619125"/>
            </a:xfrm>
            <a:prstGeom prst="rect">
              <a:avLst/>
            </a:prstGeom>
            <a:noFill/>
          </p:spPr>
        </p:pic>
        <p:pic>
          <p:nvPicPr>
            <p:cNvPr id="104" name="Picture 5" descr="E:\BUI_HwClouds\Doc\VI\2.产品\架构图图标集合\弹性伸缩服务\images\弹性伸缩服务964_07.png"/>
            <p:cNvPicPr>
              <a:picLocks noChangeAspect="1" noChangeArrowheads="1"/>
            </p:cNvPicPr>
            <p:nvPr/>
          </p:nvPicPr>
          <p:blipFill>
            <a:blip r:embed="rId4" cstate="print">
              <a:grayscl/>
            </a:blip>
            <a:srcRect/>
            <a:stretch>
              <a:fillRect/>
            </a:stretch>
          </p:blipFill>
          <p:spPr bwMode="auto">
            <a:xfrm>
              <a:off x="2795758" y="3068961"/>
              <a:ext cx="798303" cy="704385"/>
            </a:xfrm>
            <a:prstGeom prst="rect">
              <a:avLst/>
            </a:prstGeom>
            <a:noFill/>
          </p:spPr>
        </p:pic>
        <p:cxnSp>
          <p:nvCxnSpPr>
            <p:cNvPr id="105" name="直接连接符 104"/>
            <p:cNvCxnSpPr/>
            <p:nvPr/>
          </p:nvCxnSpPr>
          <p:spPr>
            <a:xfrm>
              <a:off x="1764110" y="2132856"/>
              <a:ext cx="6984776" cy="0"/>
            </a:xfrm>
            <a:prstGeom prst="line">
              <a:avLst/>
            </a:prstGeom>
            <a:ln w="12700">
              <a:solidFill>
                <a:schemeClr val="tx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a:off x="1764110" y="2132856"/>
              <a:ext cx="0" cy="936104"/>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flipV="1">
              <a:off x="1764110" y="3933056"/>
              <a:ext cx="0" cy="1224136"/>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a:off x="1764110" y="5157192"/>
              <a:ext cx="3096344" cy="0"/>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H="1">
              <a:off x="5724550" y="5157192"/>
              <a:ext cx="3024336" cy="0"/>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8748886" y="3933056"/>
              <a:ext cx="0" cy="1224136"/>
            </a:xfrm>
            <a:prstGeom prst="line">
              <a:avLst/>
            </a:prstGeom>
            <a:ln w="12700">
              <a:solidFill>
                <a:schemeClr val="tx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a:off x="8748886" y="2132856"/>
              <a:ext cx="0" cy="864096"/>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flipH="1">
              <a:off x="2196158" y="3427574"/>
              <a:ext cx="432048" cy="0"/>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p:nvPr/>
          </p:nvCxnSpPr>
          <p:spPr>
            <a:xfrm>
              <a:off x="7884790" y="3427574"/>
              <a:ext cx="504056" cy="0"/>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a:off x="5806480" y="3426148"/>
              <a:ext cx="998190" cy="2852"/>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15" name="直接箭头连接符 114"/>
            <p:cNvCxnSpPr>
              <a:stCxn id="104" idx="3"/>
              <a:endCxn id="101" idx="1"/>
            </p:cNvCxnSpPr>
            <p:nvPr/>
          </p:nvCxnSpPr>
          <p:spPr>
            <a:xfrm>
              <a:off x="3594061" y="3421153"/>
              <a:ext cx="1061676" cy="4993"/>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16" name="圆角矩形 115"/>
            <p:cNvSpPr/>
            <p:nvPr/>
          </p:nvSpPr>
          <p:spPr>
            <a:xfrm>
              <a:off x="2628206" y="2636912"/>
              <a:ext cx="5256584" cy="1368152"/>
            </a:xfrm>
            <a:prstGeom prst="roundRect">
              <a:avLst>
                <a:gd name="adj" fmla="val 6147"/>
              </a:avLst>
            </a:prstGeom>
            <a:noFill/>
            <a:ln w="12700">
              <a:solidFill>
                <a:schemeClr val="tx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TextBox 42"/>
            <p:cNvSpPr txBox="1"/>
            <p:nvPr/>
          </p:nvSpPr>
          <p:spPr>
            <a:xfrm>
              <a:off x="1933342" y="4955875"/>
              <a:ext cx="2595922" cy="461884"/>
            </a:xfrm>
            <a:prstGeom prst="rect">
              <a:avLst/>
            </a:prstGeom>
            <a:solidFill>
              <a:srgbClr val="F2F6FA"/>
            </a:solidFill>
            <a:ln w="12700">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CPU/MEM/Network</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指标监控</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监控触发伸缩</a:t>
              </a:r>
            </a:p>
          </p:txBody>
        </p:sp>
        <p:sp>
          <p:nvSpPr>
            <p:cNvPr id="118" name="TextBox 44"/>
            <p:cNvSpPr txBox="1"/>
            <p:nvPr/>
          </p:nvSpPr>
          <p:spPr>
            <a:xfrm>
              <a:off x="6695151" y="5024209"/>
              <a:ext cx="1568363" cy="277130"/>
            </a:xfrm>
            <a:prstGeom prst="rect">
              <a:avLst/>
            </a:prstGeom>
            <a:solidFill>
              <a:srgbClr val="F2F6FA"/>
            </a:solidFill>
            <a:ln w="12700">
              <a:noFill/>
            </a:ln>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周期性伸缩</a:t>
              </a:r>
            </a:p>
          </p:txBody>
        </p:sp>
        <p:sp>
          <p:nvSpPr>
            <p:cNvPr id="119" name="TextBox 45"/>
            <p:cNvSpPr txBox="1"/>
            <p:nvPr/>
          </p:nvSpPr>
          <p:spPr>
            <a:xfrm>
              <a:off x="5945548" y="3265741"/>
              <a:ext cx="584569" cy="277130"/>
            </a:xfrm>
            <a:prstGeom prst="rect">
              <a:avLst/>
            </a:prstGeom>
            <a:solidFill>
              <a:srgbClr val="F2F6FA"/>
            </a:solidFill>
            <a:ln w="12700">
              <a:noFill/>
            </a:ln>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减容</a:t>
              </a:r>
            </a:p>
          </p:txBody>
        </p:sp>
        <p:sp>
          <p:nvSpPr>
            <p:cNvPr id="120" name="TextBox 46"/>
            <p:cNvSpPr txBox="1"/>
            <p:nvPr/>
          </p:nvSpPr>
          <p:spPr>
            <a:xfrm>
              <a:off x="3836739" y="3265741"/>
              <a:ext cx="548747" cy="461884"/>
            </a:xfrm>
            <a:prstGeom prst="rect">
              <a:avLst/>
            </a:prstGeom>
            <a:solidFill>
              <a:srgbClr val="F2F6FA"/>
            </a:solidFill>
            <a:ln w="12700">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扩容</a:t>
              </a:r>
            </a:p>
          </p:txBody>
        </p:sp>
        <p:sp>
          <p:nvSpPr>
            <p:cNvPr id="121" name="TextBox 47"/>
            <p:cNvSpPr txBox="1"/>
            <p:nvPr/>
          </p:nvSpPr>
          <p:spPr>
            <a:xfrm>
              <a:off x="2903998" y="1848164"/>
              <a:ext cx="864097" cy="461884"/>
            </a:xfrm>
            <a:prstGeom prst="rect">
              <a:avLst/>
            </a:prstGeom>
            <a:solidFill>
              <a:srgbClr val="F2F6FA"/>
            </a:solidFill>
            <a:ln w="12700">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配置策略</a:t>
              </a:r>
            </a:p>
          </p:txBody>
        </p:sp>
        <p:sp>
          <p:nvSpPr>
            <p:cNvPr id="122" name="TextBox 49"/>
            <p:cNvSpPr txBox="1"/>
            <p:nvPr/>
          </p:nvSpPr>
          <p:spPr>
            <a:xfrm>
              <a:off x="2578682" y="2730130"/>
              <a:ext cx="1224137" cy="277130"/>
            </a:xfrm>
            <a:prstGeom prst="rect">
              <a:avLst/>
            </a:prstGeom>
            <a:noFill/>
            <a:ln w="19050">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300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访问量</a:t>
              </a:r>
            </a:p>
          </p:txBody>
        </p:sp>
        <p:sp>
          <p:nvSpPr>
            <p:cNvPr id="123" name="TextBox 50"/>
            <p:cNvSpPr txBox="1"/>
            <p:nvPr/>
          </p:nvSpPr>
          <p:spPr>
            <a:xfrm>
              <a:off x="4547122" y="2747261"/>
              <a:ext cx="1368152" cy="277130"/>
            </a:xfrm>
            <a:prstGeom prst="rect">
              <a:avLst/>
            </a:prstGeom>
            <a:noFill/>
            <a:ln w="19050">
              <a:noFill/>
            </a:ln>
          </p:spPr>
          <p:txBody>
            <a:bodyPr wrap="square" rtlCol="0">
              <a:spAutoFit/>
            </a:bodyPr>
            <a:lstStyle>
              <a:defPPr>
                <a:defRPr lang="zh-CN"/>
              </a:defPPr>
              <a:lvl1pPr algn="ctr">
                <a:defRPr sz="1000">
                  <a:latin typeface="微软雅黑" pitchFamily="34" charset="-122"/>
                  <a:ea typeface="微软雅黑" pitchFamily="34" charset="-122"/>
                </a:defRPr>
              </a:lvl1p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访问量</a:t>
              </a:r>
            </a:p>
          </p:txBody>
        </p:sp>
        <p:sp>
          <p:nvSpPr>
            <p:cNvPr id="124" name="TextBox 51"/>
            <p:cNvSpPr txBox="1"/>
            <p:nvPr/>
          </p:nvSpPr>
          <p:spPr>
            <a:xfrm>
              <a:off x="6562384" y="2730130"/>
              <a:ext cx="1430237" cy="277130"/>
            </a:xfrm>
            <a:prstGeom prst="rect">
              <a:avLst/>
            </a:prstGeom>
            <a:noFill/>
            <a:ln w="19050">
              <a:noFill/>
            </a:ln>
          </p:spPr>
          <p:txBody>
            <a:bodyPr wrap="square" rtlCol="0">
              <a:spAutoFit/>
            </a:bodyPr>
            <a:lstStyle>
              <a:defPPr>
                <a:defRPr lang="zh-CN"/>
              </a:defPPr>
              <a:lvl1pPr algn="ctr">
                <a:defRPr sz="1000">
                  <a:latin typeface="微软雅黑" pitchFamily="34" charset="-122"/>
                  <a:ea typeface="微软雅黑" pitchFamily="34" charset="-122"/>
                </a:defRPr>
              </a:lvl1p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300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访问量</a:t>
              </a:r>
            </a:p>
          </p:txBody>
        </p:sp>
        <p:sp>
          <p:nvSpPr>
            <p:cNvPr id="125" name="TextBox 52"/>
            <p:cNvSpPr txBox="1"/>
            <p:nvPr/>
          </p:nvSpPr>
          <p:spPr>
            <a:xfrm>
              <a:off x="1297488" y="3729535"/>
              <a:ext cx="936103" cy="277130"/>
            </a:xfrm>
            <a:prstGeom prst="rect">
              <a:avLst/>
            </a:prstGeom>
            <a:noFill/>
            <a:ln w="19050">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云监控</a:t>
              </a:r>
            </a:p>
          </p:txBody>
        </p:sp>
        <p:sp>
          <p:nvSpPr>
            <p:cNvPr id="126" name="TextBox 53"/>
            <p:cNvSpPr txBox="1"/>
            <p:nvPr/>
          </p:nvSpPr>
          <p:spPr>
            <a:xfrm>
              <a:off x="2474865" y="3714077"/>
              <a:ext cx="1676816" cy="277130"/>
            </a:xfrm>
            <a:prstGeom prst="rect">
              <a:avLst/>
            </a:prstGeom>
            <a:noFill/>
            <a:ln w="19050">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云服务器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弹性</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TextBox 56"/>
            <p:cNvSpPr txBox="1"/>
            <p:nvPr/>
          </p:nvSpPr>
          <p:spPr>
            <a:xfrm>
              <a:off x="8235407" y="3689591"/>
              <a:ext cx="1066547" cy="277130"/>
            </a:xfrm>
            <a:prstGeom prst="rect">
              <a:avLst/>
            </a:prstGeom>
            <a:noFill/>
            <a:ln w="19050">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定时调度</a:t>
              </a:r>
            </a:p>
          </p:txBody>
        </p:sp>
        <p:cxnSp>
          <p:nvCxnSpPr>
            <p:cNvPr id="128" name="直接箭头连接符 127"/>
            <p:cNvCxnSpPr/>
            <p:nvPr/>
          </p:nvCxnSpPr>
          <p:spPr>
            <a:xfrm flipV="1">
              <a:off x="5247275" y="4005064"/>
              <a:ext cx="0" cy="792088"/>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29" name="直接箭头连接符 128"/>
            <p:cNvCxnSpPr/>
            <p:nvPr/>
          </p:nvCxnSpPr>
          <p:spPr>
            <a:xfrm>
              <a:off x="5224661" y="2420888"/>
              <a:ext cx="0" cy="216024"/>
            </a:xfrm>
            <a:prstGeom prst="straightConnector1">
              <a:avLst/>
            </a:prstGeom>
            <a:ln w="12700">
              <a:solidFill>
                <a:schemeClr val="tx2">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30" name="TextBox 68"/>
            <p:cNvSpPr txBox="1"/>
            <p:nvPr/>
          </p:nvSpPr>
          <p:spPr>
            <a:xfrm>
              <a:off x="4276361" y="5400190"/>
              <a:ext cx="1947610" cy="277130"/>
            </a:xfrm>
            <a:prstGeom prst="rect">
              <a:avLst/>
            </a:prstGeom>
            <a:noFill/>
            <a:ln w="19050">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弹性伸缩服务</a:t>
              </a:r>
            </a:p>
          </p:txBody>
        </p:sp>
        <p:sp>
          <p:nvSpPr>
            <p:cNvPr id="131" name="TextBox 57"/>
            <p:cNvSpPr txBox="1"/>
            <p:nvPr/>
          </p:nvSpPr>
          <p:spPr>
            <a:xfrm>
              <a:off x="4777118" y="4300953"/>
              <a:ext cx="949922" cy="277130"/>
            </a:xfrm>
            <a:prstGeom prst="rect">
              <a:avLst/>
            </a:prstGeom>
            <a:solidFill>
              <a:srgbClr val="F2F6FA"/>
            </a:solidFill>
            <a:ln w="12700">
              <a:noFill/>
            </a:ln>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伸缩控制</a:t>
              </a:r>
            </a:p>
          </p:txBody>
        </p:sp>
        <p:pic>
          <p:nvPicPr>
            <p:cNvPr id="132" name="Picture 4" descr="E:\BUI_HwClouds\Doc\VI\2.产品\架构图图标集合\弹性伸缩服务\images\弹性伸缩服务964_03.png"/>
            <p:cNvPicPr>
              <a:picLocks noChangeAspect="1" noChangeArrowheads="1"/>
            </p:cNvPicPr>
            <p:nvPr/>
          </p:nvPicPr>
          <p:blipFill>
            <a:blip r:embed="rId8" cstate="print">
              <a:grayscl/>
            </a:blip>
            <a:srcRect/>
            <a:stretch>
              <a:fillRect/>
            </a:stretch>
          </p:blipFill>
          <p:spPr bwMode="auto">
            <a:xfrm>
              <a:off x="4826533" y="1892472"/>
              <a:ext cx="771525" cy="457200"/>
            </a:xfrm>
            <a:prstGeom prst="rect">
              <a:avLst/>
            </a:prstGeom>
            <a:noFill/>
          </p:spPr>
        </p:pic>
      </p:grpSp>
    </p:spTree>
    <p:extLst>
      <p:ext uri="{BB962C8B-B14F-4D97-AF65-F5344CB8AC3E}">
        <p14:creationId xmlns:p14="http://schemas.microsoft.com/office/powerpoint/2010/main" val="41269930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高可用云上组网 </a:t>
            </a:r>
            <a:r>
              <a:rPr lang="en-US" altLang="zh-CN" dirty="0">
                <a:sym typeface="Huawei Sans" panose="020C0503030203020204" pitchFamily="34" charset="0"/>
              </a:rPr>
              <a:t>- </a:t>
            </a:r>
            <a:r>
              <a:rPr lang="zh-CN" altLang="en-US" dirty="0">
                <a:sym typeface="Huawei Sans" panose="020C0503030203020204" pitchFamily="34" charset="0"/>
              </a:rPr>
              <a:t>弹性伸缩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r>
              <a:rPr lang="zh-CN" altLang="en-US">
                <a:sym typeface="Huawei Sans" panose="020C0503030203020204" pitchFamily="34" charset="0"/>
              </a:rPr>
              <a:t>使用弹性伸缩服务实现动态扩展</a:t>
            </a:r>
            <a:endParaRPr lang="zh-CN" altLang="en-US" dirty="0">
              <a:sym typeface="Huawei Sans" panose="020C0503030203020204" pitchFamily="34" charset="0"/>
            </a:endParaRPr>
          </a:p>
        </p:txBody>
      </p:sp>
      <p:sp>
        <p:nvSpPr>
          <p:cNvPr id="142" name="TextBox 75"/>
          <p:cNvSpPr txBox="1"/>
          <p:nvPr/>
        </p:nvSpPr>
        <p:spPr>
          <a:xfrm>
            <a:off x="6674178" y="4634032"/>
            <a:ext cx="4457068" cy="1569660"/>
          </a:xfrm>
          <a:prstGeom prst="rect">
            <a:avLst/>
          </a:prstGeom>
          <a:noFill/>
          <a:ln>
            <a:solidFill>
              <a:srgbClr val="1F497D">
                <a:lumMod val="40000"/>
                <a:lumOff val="60000"/>
              </a:srgbClr>
            </a:solidFill>
            <a:prstDash val="dash"/>
          </a:ln>
        </p:spPr>
        <p:txBody>
          <a:bodyPr wrap="square" rtlCol="0">
            <a:spAutoFit/>
          </a:bodyPr>
          <a:lstStyle/>
          <a:p>
            <a:pPr marL="0" marR="0" lvl="0" indent="0" defTabSz="1219444"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具体场景</a:t>
            </a:r>
            <a:endParaRPr kumimoji="0" lang="en-US" altLang="zh-CN"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企业网站、电商、移动应用等</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1219444"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业务特点</a:t>
            </a:r>
            <a:endParaRPr kumimoji="0" lang="en-US" altLang="zh-CN"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业务请求有突发式暴增或者访问量起伏不定</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1219444"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常用部署</a:t>
            </a:r>
            <a:endParaRPr kumimoji="0" lang="en-US" altLang="zh-CN"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使用弹性伸缩服务，在需要时才向应用程序添加新实例，并在不需要时终止。对于预期内的营销活动或者未知的业务高峰，无需提前准备大量云服务器，从而降低了系统稳定运行的成本</a:t>
            </a:r>
          </a:p>
        </p:txBody>
      </p:sp>
      <p:sp>
        <p:nvSpPr>
          <p:cNvPr id="143" name="圆角矩形 142"/>
          <p:cNvSpPr/>
          <p:nvPr/>
        </p:nvSpPr>
        <p:spPr>
          <a:xfrm>
            <a:off x="7649899" y="3399469"/>
            <a:ext cx="1056442" cy="310719"/>
          </a:xfrm>
          <a:prstGeom prst="roundRect">
            <a:avLst/>
          </a:prstGeom>
          <a:solidFill>
            <a:srgbClr val="92D050"/>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低成本</a:t>
            </a:r>
          </a:p>
        </p:txBody>
      </p:sp>
      <p:sp>
        <p:nvSpPr>
          <p:cNvPr id="144" name="圆角矩形 143"/>
          <p:cNvSpPr/>
          <p:nvPr/>
        </p:nvSpPr>
        <p:spPr>
          <a:xfrm>
            <a:off x="7649899" y="4198847"/>
            <a:ext cx="1056442" cy="310719"/>
          </a:xfrm>
          <a:prstGeom prst="roundRect">
            <a:avLst/>
          </a:prstGeom>
          <a:solidFill>
            <a:srgbClr val="4BACC6"/>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自动化</a:t>
            </a:r>
          </a:p>
        </p:txBody>
      </p:sp>
      <p:sp>
        <p:nvSpPr>
          <p:cNvPr id="145" name="圆角矩形 144"/>
          <p:cNvSpPr/>
          <p:nvPr/>
        </p:nvSpPr>
        <p:spPr>
          <a:xfrm>
            <a:off x="8890943" y="4198847"/>
            <a:ext cx="1056442" cy="310719"/>
          </a:xfrm>
          <a:prstGeom prst="roundRect">
            <a:avLst/>
          </a:prstGeom>
          <a:solidFill>
            <a:srgbClr val="FF0000"/>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策略灵活</a:t>
            </a:r>
          </a:p>
        </p:txBody>
      </p:sp>
      <p:sp>
        <p:nvSpPr>
          <p:cNvPr id="146" name="圆角矩形 145"/>
          <p:cNvSpPr/>
          <p:nvPr/>
        </p:nvSpPr>
        <p:spPr>
          <a:xfrm>
            <a:off x="8890943" y="3813475"/>
            <a:ext cx="1056442" cy="310719"/>
          </a:xfrm>
          <a:prstGeom prst="roundRect">
            <a:avLst/>
          </a:prstGeom>
          <a:solidFill>
            <a:srgbClr val="F79646"/>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健康检查</a:t>
            </a:r>
          </a:p>
        </p:txBody>
      </p:sp>
      <p:sp>
        <p:nvSpPr>
          <p:cNvPr id="147" name="圆角矩形 146"/>
          <p:cNvSpPr/>
          <p:nvPr/>
        </p:nvSpPr>
        <p:spPr>
          <a:xfrm>
            <a:off x="8902712" y="3391646"/>
            <a:ext cx="1056442" cy="310719"/>
          </a:xfrm>
          <a:prstGeom prst="roundRect">
            <a:avLst/>
          </a:prstGeom>
          <a:solidFill>
            <a:srgbClr val="C0504D"/>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可视化</a:t>
            </a:r>
          </a:p>
        </p:txBody>
      </p:sp>
      <p:sp>
        <p:nvSpPr>
          <p:cNvPr id="148" name="圆角矩形 147"/>
          <p:cNvSpPr/>
          <p:nvPr/>
        </p:nvSpPr>
        <p:spPr>
          <a:xfrm>
            <a:off x="7649899" y="3814354"/>
            <a:ext cx="1056442" cy="310719"/>
          </a:xfrm>
          <a:prstGeom prst="roundRect">
            <a:avLst/>
          </a:prstGeom>
          <a:solidFill>
            <a:srgbClr val="ABE5C5"/>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高可用</a:t>
            </a:r>
          </a:p>
        </p:txBody>
      </p:sp>
      <p:sp>
        <p:nvSpPr>
          <p:cNvPr id="149" name="圆角矩形 148"/>
          <p:cNvSpPr/>
          <p:nvPr/>
        </p:nvSpPr>
        <p:spPr>
          <a:xfrm>
            <a:off x="8233370" y="1646738"/>
            <a:ext cx="1056442" cy="310719"/>
          </a:xfrm>
          <a:prstGeom prst="roundRect">
            <a:avLst/>
          </a:prstGeom>
          <a:solidFill>
            <a:srgbClr val="1F497D"/>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资源浪费</a:t>
            </a:r>
          </a:p>
        </p:txBody>
      </p:sp>
      <p:sp>
        <p:nvSpPr>
          <p:cNvPr id="150" name="圆角矩形 149"/>
          <p:cNvSpPr/>
          <p:nvPr/>
        </p:nvSpPr>
        <p:spPr>
          <a:xfrm>
            <a:off x="8233370" y="2323190"/>
            <a:ext cx="1056442" cy="310719"/>
          </a:xfrm>
          <a:prstGeom prst="roundRect">
            <a:avLst/>
          </a:prstGeom>
          <a:solidFill>
            <a:srgbClr val="1F497D"/>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人力维护</a:t>
            </a:r>
          </a:p>
        </p:txBody>
      </p:sp>
      <p:sp>
        <p:nvSpPr>
          <p:cNvPr id="151" name="圆角矩形 150"/>
          <p:cNvSpPr/>
          <p:nvPr/>
        </p:nvSpPr>
        <p:spPr>
          <a:xfrm>
            <a:off x="8233370" y="1982867"/>
            <a:ext cx="1056442" cy="310719"/>
          </a:xfrm>
          <a:prstGeom prst="roundRect">
            <a:avLst/>
          </a:prstGeom>
          <a:solidFill>
            <a:srgbClr val="1F497D"/>
          </a:solidFill>
          <a:ln w="25400" cap="flat" cmpd="sng" algn="ctr">
            <a:no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低可用</a:t>
            </a:r>
          </a:p>
        </p:txBody>
      </p:sp>
      <p:sp>
        <p:nvSpPr>
          <p:cNvPr id="152" name="右箭头 151"/>
          <p:cNvSpPr/>
          <p:nvPr/>
        </p:nvSpPr>
        <p:spPr>
          <a:xfrm rot="5400000">
            <a:off x="8626923" y="2611195"/>
            <a:ext cx="279987" cy="426128"/>
          </a:xfrm>
          <a:prstGeom prst="rightArrow">
            <a:avLst/>
          </a:prstGeom>
          <a:noFill/>
          <a:ln w="25400" cap="flat" cmpd="sng" algn="ctr">
            <a:solidFill>
              <a:sysClr val="window" lastClr="FFFFFF">
                <a:lumMod val="50000"/>
              </a:sysClr>
            </a:solidFill>
            <a:prstDash val="solid"/>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3" name="Picture 2"/>
          <p:cNvPicPr>
            <a:picLocks noChangeAspect="1" noChangeArrowheads="1"/>
          </p:cNvPicPr>
          <p:nvPr/>
        </p:nvPicPr>
        <p:blipFill>
          <a:blip r:embed="rId3" cstate="print"/>
          <a:srcRect/>
          <a:stretch>
            <a:fillRect/>
          </a:stretch>
        </p:blipFill>
        <p:spPr bwMode="auto">
          <a:xfrm>
            <a:off x="989036" y="1586698"/>
            <a:ext cx="4490511" cy="4764272"/>
          </a:xfrm>
          <a:prstGeom prst="rect">
            <a:avLst/>
          </a:prstGeom>
          <a:noFill/>
          <a:ln w="9525">
            <a:solidFill>
              <a:schemeClr val="bg1">
                <a:lumMod val="85000"/>
              </a:schemeClr>
            </a:solidFill>
            <a:miter lim="800000"/>
            <a:headEnd/>
            <a:tailEnd/>
          </a:ln>
        </p:spPr>
      </p:pic>
      <p:sp>
        <p:nvSpPr>
          <p:cNvPr id="154" name="TextBox 75"/>
          <p:cNvSpPr txBox="1"/>
          <p:nvPr/>
        </p:nvSpPr>
        <p:spPr>
          <a:xfrm>
            <a:off x="7635868" y="3003955"/>
            <a:ext cx="2306723" cy="338554"/>
          </a:xfrm>
          <a:prstGeom prst="rect">
            <a:avLst/>
          </a:prstGeom>
          <a:noFill/>
          <a:ln>
            <a:solidFill>
              <a:srgbClr val="1F497D">
                <a:lumMod val="40000"/>
                <a:lumOff val="60000"/>
              </a:srgbClr>
            </a:solidFill>
            <a:prstDash val="dash"/>
          </a:ln>
        </p:spPr>
        <p:txBody>
          <a:bodyPr wrap="squar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应用弹性伸缩后</a:t>
            </a:r>
          </a:p>
        </p:txBody>
      </p:sp>
      <p:sp>
        <p:nvSpPr>
          <p:cNvPr id="155" name="TextBox 75"/>
          <p:cNvSpPr txBox="1"/>
          <p:nvPr/>
        </p:nvSpPr>
        <p:spPr>
          <a:xfrm>
            <a:off x="7605274" y="1302588"/>
            <a:ext cx="2306723" cy="338554"/>
          </a:xfrm>
          <a:prstGeom prst="rect">
            <a:avLst/>
          </a:prstGeom>
          <a:noFill/>
          <a:ln>
            <a:solidFill>
              <a:srgbClr val="1F497D">
                <a:lumMod val="40000"/>
                <a:lumOff val="60000"/>
              </a:srgbClr>
            </a:solidFill>
            <a:prstDash val="dash"/>
          </a:ln>
        </p:spPr>
        <p:txBody>
          <a:bodyPr wrap="squar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应用弹性伸缩前</a:t>
            </a:r>
          </a:p>
        </p:txBody>
      </p:sp>
    </p:spTree>
    <p:extLst>
      <p:ext uri="{BB962C8B-B14F-4D97-AF65-F5344CB8AC3E}">
        <p14:creationId xmlns:p14="http://schemas.microsoft.com/office/powerpoint/2010/main" val="25681467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AS</a:t>
            </a:r>
            <a:r>
              <a:rPr lang="zh-CN" altLang="en-US" dirty="0">
                <a:sym typeface="Huawei Sans" panose="020C0503030203020204" pitchFamily="34" charset="0"/>
              </a:rPr>
              <a:t>应用场景</a:t>
            </a:r>
          </a:p>
        </p:txBody>
      </p:sp>
      <p:sp>
        <p:nvSpPr>
          <p:cNvPr id="5" name="文本占位符 4"/>
          <p:cNvSpPr>
            <a:spLocks noGrp="1"/>
          </p:cNvSpPr>
          <p:nvPr>
            <p:ph type="body" sz="quarter" idx="4294967295"/>
          </p:nvPr>
        </p:nvSpPr>
        <p:spPr>
          <a:xfrm>
            <a:off x="884238" y="1247775"/>
            <a:ext cx="11307762" cy="4679950"/>
          </a:xfrm>
        </p:spPr>
        <p:txBody>
          <a:bodyPr/>
          <a:lstStyle/>
          <a:p>
            <a:pPr marL="0" indent="0">
              <a:buNone/>
            </a:pPr>
            <a:r>
              <a:rPr lang="en-US" dirty="0">
                <a:sym typeface="Huawei Sans" panose="020C0503030203020204" pitchFamily="34" charset="0"/>
              </a:rPr>
              <a:t> </a:t>
            </a:r>
          </a:p>
        </p:txBody>
      </p:sp>
      <p:graphicFrame>
        <p:nvGraphicFramePr>
          <p:cNvPr id="6" name="表格 5"/>
          <p:cNvGraphicFramePr>
            <a:graphicFrameLocks noGrp="1"/>
          </p:cNvGraphicFramePr>
          <p:nvPr>
            <p:extLst>
              <p:ext uri="{D42A27DB-BD31-4B8C-83A1-F6EECF244321}">
                <p14:modId xmlns:p14="http://schemas.microsoft.com/office/powerpoint/2010/main" val="150646642"/>
              </p:ext>
            </p:extLst>
          </p:nvPr>
        </p:nvGraphicFramePr>
        <p:xfrm>
          <a:off x="1091444" y="1665547"/>
          <a:ext cx="10380889" cy="4239591"/>
        </p:xfrm>
        <a:graphic>
          <a:graphicData uri="http://schemas.openxmlformats.org/drawingml/2006/table">
            <a:tbl>
              <a:tblPr firstRow="1" bandRow="1">
                <a:tableStyleId>{073A0DAA-6AF3-43AB-8588-CEC1D06C72B9}</a:tableStyleId>
              </a:tblPr>
              <a:tblGrid>
                <a:gridCol w="3204357">
                  <a:extLst>
                    <a:ext uri="{9D8B030D-6E8A-4147-A177-3AD203B41FA5}">
                      <a16:colId xmlns:a16="http://schemas.microsoft.com/office/drawing/2014/main" val="20000"/>
                    </a:ext>
                  </a:extLst>
                </a:gridCol>
                <a:gridCol w="7176532">
                  <a:extLst>
                    <a:ext uri="{9D8B030D-6E8A-4147-A177-3AD203B41FA5}">
                      <a16:colId xmlns:a16="http://schemas.microsoft.com/office/drawing/2014/main" val="20001"/>
                    </a:ext>
                  </a:extLst>
                </a:gridCol>
              </a:tblGrid>
              <a:tr h="355253">
                <a:tc>
                  <a:txBody>
                    <a:bodyPr/>
                    <a:lstStyle/>
                    <a:p>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典型应用场景</a:t>
                      </a:r>
                      <a:endPar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场景描述</a:t>
                      </a:r>
                      <a:endPar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6862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8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应用服务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常见</a:t>
                      </a:r>
                      <a:r>
                        <a:rPr lang="en-US"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 Web </a:t>
                      </a:r>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服务的逻辑层服务器扩缩容。</a:t>
                      </a:r>
                      <a:endParaRPr lang="zh-CN" altLang="zh-CN" sz="1800" b="0" dirty="0">
                        <a:effectLst/>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如企业网站、电商、视频网站、在线教育、移动应用等，客户端的请求通过负载均衡到达应用服务器。当访问量快速变化时，弹性伸缩服务可根据请求量弹性扩缩应用服务器的数量。</a:t>
                      </a:r>
                      <a:r>
                        <a:rPr lang="zh-CN" altLang="en-US"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若您使用</a:t>
                      </a:r>
                      <a:r>
                        <a:rPr lang="zh-CN" altLang="en-US" sz="1800" b="0" kern="1200" baseline="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了伸缩带宽功能，弹性伸缩服务也可根据访问流量多少自动调整</a:t>
                      </a:r>
                      <a:r>
                        <a:rPr lang="en-US" altLang="zh-CN" sz="1800" b="0" kern="1200" baseline="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IP</a:t>
                      </a:r>
                      <a:r>
                        <a:rPr lang="zh-CN" altLang="en-US" sz="1800" b="0" kern="1200" baseline="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公网带宽大小。</a:t>
                      </a:r>
                      <a:endParaRPr lang="zh-CN" altLang="zh-CN" sz="1800" b="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0489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高性能计算集群部署</a:t>
                      </a:r>
                      <a:endParaRPr lang="zh-CN" altLang="en-US" sz="18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常见</a:t>
                      </a:r>
                      <a:r>
                        <a:rPr lang="en-US"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 Web </a:t>
                      </a:r>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服务的分布式后台扩缩容。</a:t>
                      </a:r>
                      <a:endParaRPr lang="zh-CN" altLang="zh-CN" sz="1800" b="0" dirty="0">
                        <a:effectLst/>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如分布式大数据计算的计算节点、数据检索服务器等后端计算集群，根据计算量大小实时调整集群服务器数量。</a:t>
                      </a:r>
                      <a:endParaRPr lang="zh-CN" altLang="zh-CN" sz="1800" b="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13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请求类服务器部署</a:t>
                      </a:r>
                      <a:endParaRPr lang="zh-CN" altLang="en-US" sz="18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用于发送请求或收集数据的服务器集群的部署。</a:t>
                      </a:r>
                      <a:endParaRPr lang="zh-CN" altLang="zh-CN" sz="1800" b="0" dirty="0">
                        <a:effectLst/>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此类服务有明显的时效性，可依靠弹性伸缩服务快速完成请求服务器的创建部署和</a:t>
                      </a:r>
                      <a:r>
                        <a:rPr lang="zh-CN" altLang="en-US"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容量的扩大或缩小</a:t>
                      </a:r>
                      <a:r>
                        <a:rPr lang="zh-CN" altLang="zh-CN" sz="1800" b="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zh-CN" altLang="zh-CN" sz="1800" b="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43010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伸缩组向导式创建流程式</a:t>
            </a:r>
          </a:p>
        </p:txBody>
      </p:sp>
      <p:grpSp>
        <p:nvGrpSpPr>
          <p:cNvPr id="3" name="组合 29"/>
          <p:cNvGrpSpPr/>
          <p:nvPr/>
        </p:nvGrpSpPr>
        <p:grpSpPr>
          <a:xfrm>
            <a:off x="1439727" y="2323858"/>
            <a:ext cx="2487159" cy="1429178"/>
            <a:chOff x="3492108" y="1275606"/>
            <a:chExt cx="2052000" cy="1116124"/>
          </a:xfrm>
        </p:grpSpPr>
        <p:sp>
          <p:nvSpPr>
            <p:cNvPr id="5" name="对角圆角矩形 4"/>
            <p:cNvSpPr/>
            <p:nvPr/>
          </p:nvSpPr>
          <p:spPr>
            <a:xfrm>
              <a:off x="3492108" y="1671730"/>
              <a:ext cx="2052000" cy="720000"/>
            </a:xfrm>
            <a:prstGeom prst="round2Diag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50"/>
                </a:spcAft>
                <a:buClr>
                  <a:schemeClr val="tx2"/>
                </a:buClr>
              </a:pP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创建伸缩组</a:t>
              </a:r>
            </a:p>
          </p:txBody>
        </p:sp>
        <p:sp>
          <p:nvSpPr>
            <p:cNvPr id="6" name="TextBox 6"/>
            <p:cNvSpPr txBox="1"/>
            <p:nvPr/>
          </p:nvSpPr>
          <p:spPr>
            <a:xfrm>
              <a:off x="4355976" y="1275606"/>
              <a:ext cx="288000" cy="304192"/>
            </a:xfrm>
            <a:prstGeom prst="ellipse">
              <a:avLst/>
            </a:prstGeom>
            <a:solidFill>
              <a:schemeClr val="bg1">
                <a:lumMod val="50000"/>
              </a:schemeClr>
            </a:solidFill>
            <a:ln w="19050">
              <a:noFill/>
            </a:ln>
          </p:spPr>
          <p:txBody>
            <a:bodyPr wrap="square" lIns="0" tIns="0" rIns="0" bIns="0" rtlCol="0">
              <a:spAutoFit/>
            </a:bodyPr>
            <a:lstStyle/>
            <a:p>
              <a:pPr marL="270000" indent="-270000" algn="ctr">
                <a:spcBef>
                  <a:spcPts val="0"/>
                </a:spcBef>
                <a:spcAft>
                  <a:spcPts val="450"/>
                </a:spcAft>
                <a:buClr>
                  <a:schemeClr val="tx2"/>
                </a:buClr>
              </a:pPr>
              <a:r>
                <a:rPr lang="en-US" altLang="zh-CN"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a:t>
              </a:r>
              <a:endParaRPr lang="zh-CN" altLang="en-US"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7" name="组合 28"/>
          <p:cNvGrpSpPr/>
          <p:nvPr/>
        </p:nvGrpSpPr>
        <p:grpSpPr>
          <a:xfrm>
            <a:off x="3528036" y="2359861"/>
            <a:ext cx="3360128" cy="1383075"/>
            <a:chOff x="5616192" y="1275606"/>
            <a:chExt cx="2772232" cy="1080120"/>
          </a:xfrm>
        </p:grpSpPr>
        <p:cxnSp>
          <p:nvCxnSpPr>
            <p:cNvPr id="8" name="直接箭头连接符 7"/>
            <p:cNvCxnSpPr/>
            <p:nvPr/>
          </p:nvCxnSpPr>
          <p:spPr>
            <a:xfrm>
              <a:off x="5616192" y="1995686"/>
              <a:ext cx="684000" cy="0"/>
            </a:xfrm>
            <a:prstGeom prst="straightConnector1">
              <a:avLst/>
            </a:prstGeom>
            <a:ln w="28575">
              <a:solidFill>
                <a:srgbClr val="404040"/>
              </a:solidFill>
              <a:prstDash val="dash"/>
              <a:miter lim="800000"/>
              <a:tailEnd type="triangle"/>
            </a:ln>
            <a:effectLst/>
          </p:spPr>
          <p:style>
            <a:lnRef idx="2">
              <a:schemeClr val="accent1"/>
            </a:lnRef>
            <a:fillRef idx="0">
              <a:schemeClr val="accent1"/>
            </a:fillRef>
            <a:effectRef idx="1">
              <a:schemeClr val="accent1"/>
            </a:effectRef>
            <a:fontRef idx="minor">
              <a:schemeClr val="tx1"/>
            </a:fontRef>
          </p:style>
        </p:cxnSp>
        <p:grpSp>
          <p:nvGrpSpPr>
            <p:cNvPr id="9" name="组合 31"/>
            <p:cNvGrpSpPr/>
            <p:nvPr/>
          </p:nvGrpSpPr>
          <p:grpSpPr>
            <a:xfrm>
              <a:off x="6336196" y="1275606"/>
              <a:ext cx="2052228" cy="1080120"/>
              <a:chOff x="6336196" y="1275606"/>
              <a:chExt cx="2052228" cy="1080120"/>
            </a:xfrm>
          </p:grpSpPr>
          <p:sp>
            <p:nvSpPr>
              <p:cNvPr id="10" name="对角圆角矩形 9"/>
              <p:cNvSpPr/>
              <p:nvPr/>
            </p:nvSpPr>
            <p:spPr>
              <a:xfrm>
                <a:off x="6336196" y="1635726"/>
                <a:ext cx="2052228" cy="720000"/>
              </a:xfrm>
              <a:prstGeom prst="round2Diag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50"/>
                  </a:spcAft>
                  <a:buClr>
                    <a:schemeClr val="tx2"/>
                  </a:buClr>
                </a:pP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创建伸缩配置</a:t>
                </a:r>
              </a:p>
            </p:txBody>
          </p:sp>
          <p:sp>
            <p:nvSpPr>
              <p:cNvPr id="11" name="TextBox 11"/>
              <p:cNvSpPr txBox="1"/>
              <p:nvPr/>
            </p:nvSpPr>
            <p:spPr>
              <a:xfrm>
                <a:off x="7200308" y="1275606"/>
                <a:ext cx="288000" cy="304192"/>
              </a:xfrm>
              <a:prstGeom prst="ellipse">
                <a:avLst/>
              </a:prstGeom>
              <a:solidFill>
                <a:schemeClr val="bg1">
                  <a:lumMod val="50000"/>
                </a:schemeClr>
              </a:solidFill>
              <a:ln w="19050">
                <a:noFill/>
              </a:ln>
            </p:spPr>
            <p:txBody>
              <a:bodyPr wrap="square" lIns="0" tIns="0" rIns="0" bIns="0" rtlCol="0">
                <a:spAutoFit/>
              </a:bodyPr>
              <a:lstStyle/>
              <a:p>
                <a:pPr marL="270000" indent="-270000" algn="ctr">
                  <a:spcBef>
                    <a:spcPts val="0"/>
                  </a:spcBef>
                  <a:spcAft>
                    <a:spcPts val="450"/>
                  </a:spcAft>
                  <a:buClr>
                    <a:schemeClr val="tx2"/>
                  </a:buClr>
                </a:pPr>
                <a:r>
                  <a:rPr lang="en-US" altLang="zh-CN"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2</a:t>
                </a:r>
                <a:endParaRPr lang="zh-CN" altLang="en-US"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grpSp>
        <p:nvGrpSpPr>
          <p:cNvPr id="12" name="组合 31"/>
          <p:cNvGrpSpPr/>
          <p:nvPr/>
        </p:nvGrpSpPr>
        <p:grpSpPr>
          <a:xfrm>
            <a:off x="6336272" y="2359861"/>
            <a:ext cx="3360128" cy="1383075"/>
            <a:chOff x="5616192" y="1275606"/>
            <a:chExt cx="2772232" cy="1080120"/>
          </a:xfrm>
        </p:grpSpPr>
        <p:cxnSp>
          <p:nvCxnSpPr>
            <p:cNvPr id="13" name="直接箭头连接符 12"/>
            <p:cNvCxnSpPr/>
            <p:nvPr/>
          </p:nvCxnSpPr>
          <p:spPr>
            <a:xfrm>
              <a:off x="5616192" y="1995686"/>
              <a:ext cx="684000" cy="0"/>
            </a:xfrm>
            <a:prstGeom prst="straightConnector1">
              <a:avLst/>
            </a:prstGeom>
            <a:ln w="28575">
              <a:solidFill>
                <a:srgbClr val="404040"/>
              </a:solidFill>
              <a:prstDash val="dash"/>
              <a:miter lim="800000"/>
              <a:tailEnd type="triangle"/>
            </a:ln>
            <a:effectLst/>
          </p:spPr>
          <p:style>
            <a:lnRef idx="2">
              <a:schemeClr val="accent1"/>
            </a:lnRef>
            <a:fillRef idx="0">
              <a:schemeClr val="accent1"/>
            </a:fillRef>
            <a:effectRef idx="1">
              <a:schemeClr val="accent1"/>
            </a:effectRef>
            <a:fontRef idx="minor">
              <a:schemeClr val="tx1"/>
            </a:fontRef>
          </p:style>
        </p:cxnSp>
        <p:grpSp>
          <p:nvGrpSpPr>
            <p:cNvPr id="14" name="组合 31"/>
            <p:cNvGrpSpPr/>
            <p:nvPr/>
          </p:nvGrpSpPr>
          <p:grpSpPr>
            <a:xfrm>
              <a:off x="6336196" y="1275606"/>
              <a:ext cx="2052228" cy="1080120"/>
              <a:chOff x="6336196" y="1275606"/>
              <a:chExt cx="2052228" cy="1080120"/>
            </a:xfrm>
          </p:grpSpPr>
          <p:sp>
            <p:nvSpPr>
              <p:cNvPr id="15" name="对角圆角矩形 14"/>
              <p:cNvSpPr/>
              <p:nvPr/>
            </p:nvSpPr>
            <p:spPr>
              <a:xfrm>
                <a:off x="6336196" y="1635726"/>
                <a:ext cx="2052228" cy="720000"/>
              </a:xfrm>
              <a:prstGeom prst="round2Diag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450"/>
                  </a:spcAft>
                  <a:buClr>
                    <a:schemeClr val="tx2"/>
                  </a:buClr>
                </a:pPr>
                <a:r>
                  <a:rPr lang="zh-CN" altLang="en-US" sz="16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创建伸缩策略</a:t>
                </a:r>
              </a:p>
            </p:txBody>
          </p:sp>
          <p:sp>
            <p:nvSpPr>
              <p:cNvPr id="16" name="TextBox 21"/>
              <p:cNvSpPr txBox="1"/>
              <p:nvPr/>
            </p:nvSpPr>
            <p:spPr>
              <a:xfrm>
                <a:off x="7200308" y="1275606"/>
                <a:ext cx="288000" cy="304192"/>
              </a:xfrm>
              <a:prstGeom prst="ellipse">
                <a:avLst/>
              </a:prstGeom>
              <a:solidFill>
                <a:schemeClr val="bg1">
                  <a:lumMod val="50000"/>
                </a:schemeClr>
              </a:solidFill>
              <a:ln w="19050">
                <a:noFill/>
              </a:ln>
            </p:spPr>
            <p:txBody>
              <a:bodyPr wrap="square" lIns="0" tIns="0" rIns="0" bIns="0" rtlCol="0">
                <a:spAutoFit/>
              </a:bodyPr>
              <a:lstStyle/>
              <a:p>
                <a:pPr marL="270000" indent="-270000" algn="ctr">
                  <a:spcBef>
                    <a:spcPts val="0"/>
                  </a:spcBef>
                  <a:spcAft>
                    <a:spcPts val="450"/>
                  </a:spcAft>
                  <a:buClr>
                    <a:schemeClr val="tx2"/>
                  </a:buClr>
                </a:pPr>
                <a:r>
                  <a:rPr lang="en-US" altLang="zh-CN"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3</a:t>
                </a:r>
                <a:endParaRPr lang="zh-CN" altLang="en-US"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spTree>
    <p:extLst>
      <p:ext uri="{BB962C8B-B14F-4D97-AF65-F5344CB8AC3E}">
        <p14:creationId xmlns:p14="http://schemas.microsoft.com/office/powerpoint/2010/main" val="3439393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lide(fromLeft)">
                                      <p:cBhvr>
                                        <p:cTn id="11" dur="1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slide(fromLeft)">
                                      <p:cBhvr>
                                        <p:cTn id="16"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配置参数</a:t>
            </a:r>
            <a:r>
              <a:rPr lang="en-US" altLang="zh-CN" dirty="0">
                <a:sym typeface="Huawei Sans" panose="020C0503030203020204" pitchFamily="34" charset="0"/>
              </a:rPr>
              <a:t> – </a:t>
            </a:r>
            <a:r>
              <a:rPr lang="zh-CN" altLang="en-US" dirty="0">
                <a:sym typeface="Huawei Sans" panose="020C0503030203020204" pitchFamily="34" charset="0"/>
              </a:rPr>
              <a:t>创建伸缩组</a:t>
            </a:r>
            <a:r>
              <a:rPr lang="en-US" altLang="zh-CN" dirty="0">
                <a:sym typeface="Huawei Sans" panose="020C0503030203020204" pitchFamily="34" charset="0"/>
              </a:rPr>
              <a:t>_1</a:t>
            </a:r>
            <a:endParaRPr lang="zh-CN" altLang="en-US" dirty="0">
              <a:sym typeface="Huawei Sans" panose="020C0503030203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8514" y="1131570"/>
            <a:ext cx="7433770" cy="5177750"/>
          </a:xfrm>
          <a:prstGeom prst="rect">
            <a:avLst/>
          </a:prstGeom>
          <a:ln>
            <a:solidFill>
              <a:schemeClr val="bg1">
                <a:lumMod val="65000"/>
              </a:schemeClr>
            </a:solidFill>
          </a:ln>
        </p:spPr>
      </p:pic>
    </p:spTree>
    <p:extLst>
      <p:ext uri="{BB962C8B-B14F-4D97-AF65-F5344CB8AC3E}">
        <p14:creationId xmlns:p14="http://schemas.microsoft.com/office/powerpoint/2010/main" val="36680575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配置参数</a:t>
            </a:r>
            <a:r>
              <a:rPr lang="en-US" altLang="zh-CN" dirty="0">
                <a:sym typeface="Huawei Sans" panose="020C0503030203020204" pitchFamily="34" charset="0"/>
              </a:rPr>
              <a:t> – </a:t>
            </a:r>
            <a:r>
              <a:rPr lang="zh-CN" altLang="en-US" dirty="0">
                <a:sym typeface="Huawei Sans" panose="020C0503030203020204" pitchFamily="34" charset="0"/>
              </a:rPr>
              <a:t>创建伸缩组</a:t>
            </a:r>
            <a:r>
              <a:rPr lang="en-US" altLang="zh-CN" dirty="0">
                <a:sym typeface="Huawei Sans" panose="020C0503030203020204" pitchFamily="34" charset="0"/>
              </a:rPr>
              <a:t>_2</a:t>
            </a:r>
            <a:endParaRPr lang="zh-CN" altLang="en-US" dirty="0">
              <a:sym typeface="Huawei Sans" panose="020C0503030203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7468" y="1268760"/>
            <a:ext cx="7848872" cy="5079016"/>
          </a:xfrm>
          <a:prstGeom prst="rect">
            <a:avLst/>
          </a:prstGeom>
          <a:ln>
            <a:solidFill>
              <a:schemeClr val="bg1">
                <a:lumMod val="65000"/>
              </a:schemeClr>
            </a:solidFill>
          </a:ln>
        </p:spPr>
      </p:pic>
    </p:spTree>
    <p:extLst>
      <p:ext uri="{BB962C8B-B14F-4D97-AF65-F5344CB8AC3E}">
        <p14:creationId xmlns:p14="http://schemas.microsoft.com/office/powerpoint/2010/main" val="31499078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参数说明 </a:t>
            </a:r>
            <a:r>
              <a:rPr lang="en-US" altLang="zh-CN" dirty="0">
                <a:sym typeface="Huawei Sans" panose="020C0503030203020204" pitchFamily="34" charset="0"/>
              </a:rPr>
              <a:t>– </a:t>
            </a:r>
            <a:r>
              <a:rPr lang="zh-CN" altLang="en-US" dirty="0">
                <a:sym typeface="Huawei Sans" panose="020C0503030203020204" pitchFamily="34" charset="0"/>
              </a:rPr>
              <a:t>创建伸缩组参数</a:t>
            </a:r>
          </a:p>
        </p:txBody>
      </p:sp>
      <p:graphicFrame>
        <p:nvGraphicFramePr>
          <p:cNvPr id="2" name="表格 1"/>
          <p:cNvGraphicFramePr>
            <a:graphicFrameLocks noGrp="1"/>
          </p:cNvGraphicFramePr>
          <p:nvPr>
            <p:extLst>
              <p:ext uri="{D42A27DB-BD31-4B8C-83A1-F6EECF244321}">
                <p14:modId xmlns:p14="http://schemas.microsoft.com/office/powerpoint/2010/main" val="140401750"/>
              </p:ext>
            </p:extLst>
          </p:nvPr>
        </p:nvGraphicFramePr>
        <p:xfrm>
          <a:off x="1109446" y="1302692"/>
          <a:ext cx="9973107" cy="4937138"/>
        </p:xfrm>
        <a:graphic>
          <a:graphicData uri="http://schemas.openxmlformats.org/drawingml/2006/table">
            <a:tbl>
              <a:tblPr firstRow="1" bandRow="1">
                <a:tableStyleId>{5C22544A-7EE6-4342-B048-85BDC9FD1C3A}</a:tableStyleId>
              </a:tblPr>
              <a:tblGrid>
                <a:gridCol w="1656184">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gridCol w="1476163">
                  <a:extLst>
                    <a:ext uri="{9D8B030D-6E8A-4147-A177-3AD203B41FA5}">
                      <a16:colId xmlns:a16="http://schemas.microsoft.com/office/drawing/2014/main" val="20002"/>
                    </a:ext>
                  </a:extLst>
                </a:gridCol>
              </a:tblGrid>
              <a:tr h="422691">
                <a:tc>
                  <a:txBody>
                    <a:bodyPr/>
                    <a:lstStyle/>
                    <a:p>
                      <a:pPr marL="0" algn="l" defTabSz="914400" rtl="0" eaLnBrk="1" latinLnBrk="0" hangingPunct="1">
                        <a:lnSpc>
                          <a:spcPct val="150000"/>
                        </a:lnSpc>
                        <a:spcAft>
                          <a:spcPts val="0"/>
                        </a:spcAft>
                      </a:pPr>
                      <a:r>
                        <a:rPr 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参数</a:t>
                      </a:r>
                      <a:endParaRPr 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50000"/>
                        </a:lnSpc>
                        <a:spcAft>
                          <a:spcPts val="0"/>
                        </a:spcAft>
                      </a:pPr>
                      <a:r>
                        <a:rPr 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解释</a:t>
                      </a:r>
                      <a:endParaRPr 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取值样例</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22691">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最大</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最小实例数</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最大</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最小实例数是指伸缩组中云服务器个数的最大值</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最小值。</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10/5</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台</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22691">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期望实例数</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期望实例数是指伸缩组中期望的云服务器数量。</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6</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台</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47836">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可用分区</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指在同一地域下，电力、网络隔离的物理区域，可用分区之内内网互通，不同可用分区之间物理隔离。</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57193">
                <a:tc>
                  <a:txBody>
                    <a:bodyPr/>
                    <a:lstStyle/>
                    <a:p>
                      <a:pPr>
                        <a:lnSpc>
                          <a:spcPct val="150000"/>
                        </a:lnSpc>
                        <a:spcAft>
                          <a:spcPts val="0"/>
                        </a:spcAft>
                      </a:pP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VPC</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弹性云服务器使用的网络是虚拟私有云（</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VPC</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）提供的。同一伸缩组内的弹性云服务器均属于该</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VPC</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60040">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子网</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默认情况下，一个</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VPC</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子网内的弹性云服务器均可以进行通信，不同</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VPC</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子网内的弹性云服务器不能进行通信。</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24036">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安全组</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用户可以在安全组中定义各种访问规则，当弹性云服务器加入该安全组后，即受到这些访问规则的保护。</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22691">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负载均衡</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可选参数。选择使用负载均衡器后，访问流量将自动分发到伸缩组内的所有弹性云服务器，扩展应用系统对外的服务能力，实现更高水平的应用程序容错性能。</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22691">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健康检查方式</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健康检查会将异常的云服务器从伸缩组中移除，并重新创建新的云服务器，伸缩组的健康检查方式包括以下两种：云服务器健康检查、弹性负载均衡健康检查。</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00148">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健康检查间隔</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伸缩组执行健康检查的周期。</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5</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分钟</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98725">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实例移除策略</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实例优先被移除的策略。当满足条件时，会触发实例移除活动。</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422691">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移除实例时是否释放弹性</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IP</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0"/>
                        </a:spcAft>
                      </a:pP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若伸缩组的伸缩配置使用了弹性</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，在进行伸的活动时，会给创建出来的云服务器绑定一个弹性</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。若勾选“是”，当进行缩的活动时，会将云服务器上的弹性</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释放，否则仅做解绑定操作，保留弹性</a:t>
                      </a:r>
                      <a:r>
                        <a:rPr lang="en-US" sz="1050" kern="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050" kern="1200" dirty="0">
                          <a:effectLst/>
                          <a:latin typeface="Huawei Sans" panose="020C0503030203020204" pitchFamily="34" charset="0"/>
                          <a:ea typeface="方正兰亭黑简体" panose="02000000000000000000" pitchFamily="2" charset="-122"/>
                          <a:sym typeface="Huawei Sans" panose="020C0503030203020204" pitchFamily="34" charset="0"/>
                        </a:rPr>
                        <a:t>资源。</a:t>
                      </a:r>
                      <a:endParaRPr lang="en-US" sz="105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44" marR="71944" marT="35972" marB="359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8616888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配置参数 </a:t>
            </a:r>
            <a:r>
              <a:rPr lang="en-US" altLang="zh-CN" dirty="0">
                <a:sym typeface="Huawei Sans" panose="020C0503030203020204" pitchFamily="34" charset="0"/>
              </a:rPr>
              <a:t>– </a:t>
            </a:r>
            <a:r>
              <a:rPr lang="zh-CN" altLang="en-US" dirty="0">
                <a:sym typeface="Huawei Sans" panose="020C0503030203020204" pitchFamily="34" charset="0"/>
              </a:rPr>
              <a:t>创建伸缩配置</a:t>
            </a:r>
            <a:r>
              <a:rPr lang="en-US" altLang="zh-CN" dirty="0">
                <a:sym typeface="Huawei Sans" panose="020C0503030203020204" pitchFamily="34" charset="0"/>
              </a:rPr>
              <a:t>_1</a:t>
            </a:r>
            <a:endParaRPr lang="zh-CN" altLang="en-US" dirty="0">
              <a:sym typeface="Huawei Sans" panose="020C0503030203020204" pitchFamily="34" charset="0"/>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3473" y="1134865"/>
            <a:ext cx="8712967" cy="5065910"/>
          </a:xfrm>
          <a:prstGeom prst="rect">
            <a:avLst/>
          </a:prstGeom>
          <a:ln>
            <a:solidFill>
              <a:schemeClr val="bg1">
                <a:lumMod val="65000"/>
              </a:schemeClr>
            </a:solidFill>
          </a:ln>
        </p:spPr>
      </p:pic>
    </p:spTree>
    <p:extLst>
      <p:ext uri="{BB962C8B-B14F-4D97-AF65-F5344CB8AC3E}">
        <p14:creationId xmlns:p14="http://schemas.microsoft.com/office/powerpoint/2010/main" val="1332606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配置参数 </a:t>
            </a:r>
            <a:r>
              <a:rPr lang="en-US" altLang="zh-CN" dirty="0">
                <a:sym typeface="Huawei Sans" panose="020C0503030203020204" pitchFamily="34" charset="0"/>
              </a:rPr>
              <a:t>– </a:t>
            </a:r>
            <a:r>
              <a:rPr lang="zh-CN" altLang="en-US" dirty="0">
                <a:sym typeface="Huawei Sans" panose="020C0503030203020204" pitchFamily="34" charset="0"/>
              </a:rPr>
              <a:t>创建伸缩配置</a:t>
            </a:r>
            <a:r>
              <a:rPr lang="en-US" altLang="zh-CN" dirty="0">
                <a:sym typeface="Huawei Sans" panose="020C0503030203020204" pitchFamily="34" charset="0"/>
              </a:rPr>
              <a:t>_2</a:t>
            </a:r>
            <a:endParaRPr lang="zh-CN" altLang="en-US" dirty="0">
              <a:sym typeface="Huawei Sans" panose="020C0503030203020204" pitchFamily="34" charset="0"/>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6095" y="1157917"/>
            <a:ext cx="7968257" cy="5042858"/>
          </a:xfrm>
          <a:prstGeom prst="rect">
            <a:avLst/>
          </a:prstGeom>
          <a:ln>
            <a:solidFill>
              <a:schemeClr val="bg1">
                <a:lumMod val="65000"/>
              </a:schemeClr>
            </a:solidFill>
          </a:ln>
        </p:spPr>
      </p:pic>
    </p:spTree>
    <p:extLst>
      <p:ext uri="{BB962C8B-B14F-4D97-AF65-F5344CB8AC3E}">
        <p14:creationId xmlns:p14="http://schemas.microsoft.com/office/powerpoint/2010/main" val="25726748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配置参数 </a:t>
            </a:r>
            <a:r>
              <a:rPr lang="en-US" altLang="zh-CN" dirty="0">
                <a:sym typeface="Huawei Sans" panose="020C0503030203020204" pitchFamily="34" charset="0"/>
              </a:rPr>
              <a:t>– </a:t>
            </a:r>
            <a:r>
              <a:rPr lang="zh-CN" altLang="en-US" dirty="0">
                <a:sym typeface="Huawei Sans" panose="020C0503030203020204" pitchFamily="34" charset="0"/>
              </a:rPr>
              <a:t>创建伸缩配置参数</a:t>
            </a:r>
          </a:p>
        </p:txBody>
      </p:sp>
      <p:graphicFrame>
        <p:nvGraphicFramePr>
          <p:cNvPr id="3" name="表格 2"/>
          <p:cNvGraphicFramePr>
            <a:graphicFrameLocks noGrp="1"/>
          </p:cNvGraphicFramePr>
          <p:nvPr>
            <p:extLst>
              <p:ext uri="{D42A27DB-BD31-4B8C-83A1-F6EECF244321}">
                <p14:modId xmlns:p14="http://schemas.microsoft.com/office/powerpoint/2010/main" val="733711479"/>
              </p:ext>
            </p:extLst>
          </p:nvPr>
        </p:nvGraphicFramePr>
        <p:xfrm>
          <a:off x="1008063" y="1268760"/>
          <a:ext cx="10436449" cy="4953096"/>
        </p:xfrm>
        <a:graphic>
          <a:graphicData uri="http://schemas.openxmlformats.org/drawingml/2006/table">
            <a:tbl>
              <a:tblPr firstRow="1" bandRow="1">
                <a:tableStyleId>{073A0DAA-6AF3-43AB-8588-CEC1D06C72B9}</a:tableStyleId>
              </a:tblPr>
              <a:tblGrid>
                <a:gridCol w="965600">
                  <a:extLst>
                    <a:ext uri="{9D8B030D-6E8A-4147-A177-3AD203B41FA5}">
                      <a16:colId xmlns:a16="http://schemas.microsoft.com/office/drawing/2014/main" val="20000"/>
                    </a:ext>
                  </a:extLst>
                </a:gridCol>
                <a:gridCol w="6775027">
                  <a:extLst>
                    <a:ext uri="{9D8B030D-6E8A-4147-A177-3AD203B41FA5}">
                      <a16:colId xmlns:a16="http://schemas.microsoft.com/office/drawing/2014/main" val="20001"/>
                    </a:ext>
                  </a:extLst>
                </a:gridCol>
                <a:gridCol w="2695822">
                  <a:extLst>
                    <a:ext uri="{9D8B030D-6E8A-4147-A177-3AD203B41FA5}">
                      <a16:colId xmlns:a16="http://schemas.microsoft.com/office/drawing/2014/main" val="20002"/>
                    </a:ext>
                  </a:extLst>
                </a:gridCol>
              </a:tblGrid>
              <a:tr h="324036">
                <a:tc>
                  <a:txBody>
                    <a:bodyPr/>
                    <a:lstStyle/>
                    <a:p>
                      <a:pPr marL="0" algn="l" defTabSz="914400" rtl="0" eaLnBrk="1" latinLnBrk="0" hangingPunct="1"/>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参数</a:t>
                      </a:r>
                      <a:endParaRPr 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解释</a:t>
                      </a:r>
                      <a:endParaRPr 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取值样例</a:t>
                      </a:r>
                      <a:endParaRPr 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82312">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配置名称</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创建伸缩配置的名称。</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8458">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配置模板</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选择“使用新模板”</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重新选择云服务器类型、</a:t>
                      </a:r>
                      <a:r>
                        <a:rPr lang="en-US" sz="1050" kern="1200" dirty="0" err="1">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vCPU</a:t>
                      </a: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、内存、镜像、磁盘等参数信息，创建新的弹性伸缩配置。</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使用新模板</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7646">
                <a:tc>
                  <a:txBody>
                    <a:bodyPr/>
                    <a:lstStyle/>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规格</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公有云提供了多种类型的弹性云服务器，针对不同的应用场景，可以选择不同规格的弹性云服务器。</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sz="1050" kern="120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内存优化型</a:t>
                      </a:r>
                      <a:endParaRPr lang="en-US" sz="1050" kern="120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2028">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镜像</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defTabSz="914400" rtl="0" eaLnBrk="1" latinLnBrk="0" hangingPunct="1">
                        <a:lnSpc>
                          <a:spcPct val="150000"/>
                        </a:lnSpc>
                        <a:spcBef>
                          <a:spcPts val="400"/>
                        </a:spcBef>
                        <a:spcAft>
                          <a:spcPts val="0"/>
                        </a:spcAft>
                        <a:buSzPts val="650"/>
                        <a:buFont typeface="Wingdings" panose="05000000000000000000" pitchFamily="2" charset="2"/>
                        <a:buNone/>
                        <a:tabLst>
                          <a:tab pos="180340" algn="l"/>
                        </a:tabLs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公共镜像</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私有镜像</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共享镜像</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公共镜像</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96044">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磁盘</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也称云硬盘，包括系统盘和数据盘。</a:t>
                      </a:r>
                      <a:endPar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硬盘类型：</a:t>
                      </a: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普通</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IO</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、高</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IO</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、超高</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“系统盘”选为“普通</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IO</a:t>
                      </a:r>
                      <a:r>
                        <a:rPr 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94248">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安全组</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安全组是一个逻辑上的分组，用来实现安全组内和组间弹性云服务器的访问控制，加强弹性云服务器云主机的安全保护。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169196">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弹性公网</a:t>
                      </a:r>
                      <a:r>
                        <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IP</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弹性公网</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IP</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是指将公网</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IP</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地址和路由网络中关联的弹性云服务器绑定，以实现虚拟私有云内的弹性云服务器通过固定的公网</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IP</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地址对外提供访问服务。根据实际情况选择以下两种方式：</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lvl="0" indent="0" algn="l" defTabSz="914400" rtl="0" eaLnBrk="1" latinLnBrk="0" hangingPunct="1">
                        <a:lnSpc>
                          <a:spcPct val="150000"/>
                        </a:lnSpc>
                        <a:spcBef>
                          <a:spcPts val="400"/>
                        </a:spcBef>
                        <a:spcAft>
                          <a:spcPts val="0"/>
                        </a:spcAft>
                        <a:buSzPts val="650"/>
                        <a:buFont typeface="Wingdings" panose="05000000000000000000" pitchFamily="2" charset="2"/>
                        <a:buNone/>
                        <a:tabLst>
                          <a:tab pos="180340" algn="l"/>
                        </a:tabLs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不使用：弹性云服务器不能与互联网互通，仅可作为私有网络中部署业务或者集群所需弹性云服务器进行使用。</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lvl="0" indent="0" algn="l" defTabSz="914400" rtl="0" eaLnBrk="1" latinLnBrk="0" hangingPunct="1">
                        <a:lnSpc>
                          <a:spcPct val="150000"/>
                        </a:lnSpc>
                        <a:spcBef>
                          <a:spcPts val="400"/>
                        </a:spcBef>
                        <a:spcAft>
                          <a:spcPts val="0"/>
                        </a:spcAft>
                        <a:buSzPts val="650"/>
                        <a:buFont typeface="Wingdings" panose="05000000000000000000" pitchFamily="2" charset="2"/>
                        <a:buNone/>
                        <a:tabLst>
                          <a:tab pos="180340" algn="l"/>
                        </a:tabLs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自动分配：自动为每台弹性云服务器分配独享带宽的弹性</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IP</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，带宽值可以由您设定。</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自动分配</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56200">
                <a:tc>
                  <a:txBody>
                    <a:bodyPr/>
                    <a:lstStyle/>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登录方式</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使用密钥对作为弹性云服务器的鉴权方式，请在密钥对页面先创建或导入密钥对。</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秘钥对</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518458">
                <a:tc>
                  <a:txBody>
                    <a:bodyPr/>
                    <a:lstStyle/>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高级配置</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高级配置可对文件注入、用户数据注入和云服务器组进行配置。可选择“暂不配置”和“现在配置”。</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507236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配置参数 </a:t>
            </a:r>
            <a:r>
              <a:rPr lang="en-US" altLang="zh-CN" dirty="0">
                <a:sym typeface="Huawei Sans" panose="020C0503030203020204" pitchFamily="34" charset="0"/>
              </a:rPr>
              <a:t>– </a:t>
            </a:r>
            <a:r>
              <a:rPr lang="zh-CN" altLang="en-US" dirty="0">
                <a:sym typeface="Huawei Sans" panose="020C0503030203020204" pitchFamily="34" charset="0"/>
              </a:rPr>
              <a:t>添加伸缩策略</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476" y="1102268"/>
            <a:ext cx="6804756" cy="5098507"/>
          </a:xfrm>
          <a:prstGeom prst="rect">
            <a:avLst/>
          </a:prstGeom>
          <a:ln>
            <a:solidFill>
              <a:schemeClr val="bg1">
                <a:lumMod val="65000"/>
              </a:schemeClr>
            </a:solidFill>
          </a:ln>
        </p:spPr>
      </p:pic>
    </p:spTree>
    <p:extLst>
      <p:ext uri="{BB962C8B-B14F-4D97-AF65-F5344CB8AC3E}">
        <p14:creationId xmlns:p14="http://schemas.microsoft.com/office/powerpoint/2010/main" val="1688953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配置参数 </a:t>
            </a:r>
            <a:r>
              <a:rPr lang="en-US" altLang="zh-CN" dirty="0">
                <a:sym typeface="Huawei Sans" panose="020C0503030203020204" pitchFamily="34" charset="0"/>
              </a:rPr>
              <a:t>– </a:t>
            </a:r>
            <a:r>
              <a:rPr lang="zh-CN" altLang="en-US" dirty="0">
                <a:sym typeface="Huawei Sans" panose="020C0503030203020204" pitchFamily="34" charset="0"/>
              </a:rPr>
              <a:t>伸缩策略参数说明</a:t>
            </a:r>
          </a:p>
        </p:txBody>
      </p:sp>
      <p:graphicFrame>
        <p:nvGraphicFramePr>
          <p:cNvPr id="2" name="表格 1"/>
          <p:cNvGraphicFramePr>
            <a:graphicFrameLocks noGrp="1"/>
          </p:cNvGraphicFramePr>
          <p:nvPr>
            <p:extLst>
              <p:ext uri="{D42A27DB-BD31-4B8C-83A1-F6EECF244321}">
                <p14:modId xmlns:p14="http://schemas.microsoft.com/office/powerpoint/2010/main" val="2806133801"/>
              </p:ext>
            </p:extLst>
          </p:nvPr>
        </p:nvGraphicFramePr>
        <p:xfrm>
          <a:off x="1357055" y="1102916"/>
          <a:ext cx="9477890" cy="5119767"/>
        </p:xfrm>
        <a:graphic>
          <a:graphicData uri="http://schemas.openxmlformats.org/drawingml/2006/table">
            <a:tbl>
              <a:tblPr firstRow="1" bandRow="1">
                <a:tableStyleId>{073A0DAA-6AF3-43AB-8588-CEC1D06C72B9}</a:tableStyleId>
              </a:tblPr>
              <a:tblGrid>
                <a:gridCol w="836930">
                  <a:extLst>
                    <a:ext uri="{9D8B030D-6E8A-4147-A177-3AD203B41FA5}">
                      <a16:colId xmlns:a16="http://schemas.microsoft.com/office/drawing/2014/main" val="20000"/>
                    </a:ext>
                  </a:extLst>
                </a:gridCol>
                <a:gridCol w="6084676">
                  <a:extLst>
                    <a:ext uri="{9D8B030D-6E8A-4147-A177-3AD203B41FA5}">
                      <a16:colId xmlns:a16="http://schemas.microsoft.com/office/drawing/2014/main" val="20001"/>
                    </a:ext>
                  </a:extLst>
                </a:gridCol>
                <a:gridCol w="2556284">
                  <a:extLst>
                    <a:ext uri="{9D8B030D-6E8A-4147-A177-3AD203B41FA5}">
                      <a16:colId xmlns:a16="http://schemas.microsoft.com/office/drawing/2014/main" val="20002"/>
                    </a:ext>
                  </a:extLst>
                </a:gridCol>
              </a:tblGrid>
              <a:tr h="363554">
                <a:tc>
                  <a:txBody>
                    <a:bodyPr/>
                    <a:lstStyle/>
                    <a:p>
                      <a:pPr marL="0" algn="l" defTabSz="914400" rtl="0" eaLnBrk="1" latinLnBrk="0" hangingPunct="1">
                        <a:lnSpc>
                          <a:spcPct val="150000"/>
                        </a:lnSpc>
                        <a:spcAft>
                          <a:spcPts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参数</a:t>
                      </a:r>
                      <a:endParaRPr 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解释</a:t>
                      </a:r>
                      <a:endParaRPr 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取值样例</a:t>
                      </a:r>
                      <a:endParaRPr 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98420">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策略名称</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创建伸缩策略的名称。</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as-policy-p6g5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5478">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策略类型</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告警策略、定时策略、周期策略</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告警策略</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4705">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监控类型</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设置告警的监控类型，可选择系统监控或自定义监控。</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系统监控</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415299">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触发告警</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Bef>
                          <a:spcPts val="400"/>
                        </a:spcBef>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可选择已有的告警和新建告警。若选择新建告警，需配置如下参数：</a:t>
                      </a:r>
                      <a:endPar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告警名称：新建告警的名称，例如</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as-alarm-7o1u</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触发条件：选择弹性伸缩支持的监控指标及对监控质保设定的条件，例如</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CPU</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利用率最大值</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&gt;70%</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监控周期：设定对弹性伸缩支持的监控指标监控的周期，例如</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5</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分钟。</a:t>
                      </a:r>
                      <a:endPar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连续出现次数：在监控周期内，连续达到触发条件几次后，开始执行伸缩活动，例如</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1</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次。</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238875">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执行动作</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设置伸缩活动执行动作及实例的个数。执行动作包括：</a:t>
                      </a:r>
                      <a:endPar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增加：当执行伸缩活动时，向伸缩组增加实例。</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减少：当执行伸缩活动时，从伸缩组中减少实例。</a:t>
                      </a:r>
                      <a:endParaRPr lang="en-US" altLang="zh-CN"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00" rtl="0" eaLnBrk="1" fontAlgn="auto" latinLnBrk="0" hangingPunct="1">
                        <a:lnSpc>
                          <a:spcPct val="150000"/>
                        </a:lnSpc>
                        <a:spcBef>
                          <a:spcPts val="40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设置为：将伸缩组中的期望实例数设置为固定值。</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增加</a:t>
                      </a: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1</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个实例</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980212">
                <a:tc>
                  <a:txBody>
                    <a:bodyPr/>
                    <a:lstStyle/>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冷却时间</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冷却时间是指冷却伸缩活动的时间，在每次伸缩活动完成之后，系统开始计算冷却时间。</a:t>
                      </a:r>
                    </a:p>
                    <a:p>
                      <a:pPr marL="0" algn="l" defTabSz="914400" rtl="0" eaLnBrk="1" latinLnBrk="0" hangingPunct="1">
                        <a:lnSpc>
                          <a:spcPct val="150000"/>
                        </a:lnSpc>
                        <a:spcAft>
                          <a:spcPts val="0"/>
                        </a:spcAft>
                      </a:pP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伸缩组在冷却时间内，会拒绝由告警策略触发的伸缩活动，其他类型的伸缩策略（如定时策略和周期策略等）触发的伸缩活动不受限制，但会重新开始计算冷却时间，单位为秒。</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50000"/>
                        </a:lnSpc>
                        <a:spcAft>
                          <a:spcPts val="0"/>
                        </a:spcAft>
                      </a:pPr>
                      <a:r>
                        <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900</a:t>
                      </a:r>
                      <a:r>
                        <a:rPr lang="zh-CN" alt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秒</a:t>
                      </a:r>
                      <a:endParaRPr lang="en-US" sz="1050" kern="1200" dirty="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48484501"/>
      </p:ext>
    </p:extLst>
  </p:cSld>
  <p:clrMapOvr>
    <a:masterClrMapping/>
  </p:clrMapOvr>
</p:sld>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226774B8D87F4D92D9D1F6859ED44E" ma:contentTypeVersion="0" ma:contentTypeDescription="Create a new document." ma:contentTypeScope="" ma:versionID="2405c1ce63a3409bcef189279c704bc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C0B7D1-9D1B-4D75-900E-434169096BEF}">
  <ds:schemaRefs>
    <ds:schemaRef ds:uri="http://schemas.microsoft.com/sharepoint/v3/contenttype/forms"/>
  </ds:schemaRefs>
</ds:datastoreItem>
</file>

<file path=customXml/itemProps2.xml><?xml version="1.0" encoding="utf-8"?>
<ds:datastoreItem xmlns:ds="http://schemas.openxmlformats.org/officeDocument/2006/customXml" ds:itemID="{A1A4E927-2E19-40DA-AC21-D3EBC4321306}">
  <ds:schemaRefs>
    <ds:schemaRef ds:uri="http://schemas.microsoft.com/office/2006/metadata/properties"/>
    <ds:schemaRef ds:uri="http://schemas.microsoft.com/office/infopath/2007/PartnerControls"/>
    <ds:schemaRef ds:uri="http://www.w3.org/XML/1998/namespace"/>
    <ds:schemaRef ds:uri="http://purl.org/dc/dcmitype/"/>
    <ds:schemaRef ds:uri="http://purl.org/dc/elements/1.1/"/>
    <ds:schemaRef ds:uri="http://schemas.microsoft.com/office/2006/documentManagement/types"/>
    <ds:schemaRef ds:uri="http://purl.org/dc/terms/"/>
    <ds:schemaRef ds:uri="http://schemas.openxmlformats.org/package/2006/metadata/core-properties"/>
  </ds:schemaRefs>
</ds:datastoreItem>
</file>

<file path=customXml/itemProps3.xml><?xml version="1.0" encoding="utf-8"?>
<ds:datastoreItem xmlns:ds="http://schemas.openxmlformats.org/officeDocument/2006/customXml" ds:itemID="{73BB0E4A-51FC-4B4D-8B7E-209EA6035D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5117</TotalTime>
  <Words>7933</Words>
  <Application>Microsoft Office PowerPoint</Application>
  <PresentationFormat>宽屏</PresentationFormat>
  <Paragraphs>861</Paragraphs>
  <Slides>56</Slides>
  <Notes>46</Notes>
  <HiddenSlides>0</HiddenSlides>
  <MMClips>0</MMClips>
  <ScaleCrop>false</ScaleCrop>
  <HeadingPairs>
    <vt:vector size="6" baseType="variant">
      <vt:variant>
        <vt:lpstr>已用的字体</vt:lpstr>
      </vt:variant>
      <vt:variant>
        <vt:i4>10</vt:i4>
      </vt:variant>
      <vt:variant>
        <vt:lpstr>主题</vt:lpstr>
      </vt:variant>
      <vt:variant>
        <vt:i4>4</vt:i4>
      </vt:variant>
      <vt:variant>
        <vt:lpstr>幻灯片标题</vt:lpstr>
      </vt:variant>
      <vt:variant>
        <vt:i4>56</vt:i4>
      </vt:variant>
    </vt:vector>
  </HeadingPairs>
  <TitlesOfParts>
    <vt:vector size="70" baseType="lpstr">
      <vt:lpstr>HY헤드라인M</vt:lpstr>
      <vt:lpstr>方正兰亭黑简体</vt:lpstr>
      <vt:lpstr>宋体</vt:lpstr>
      <vt:lpstr>Microsoft YaHei</vt:lpstr>
      <vt:lpstr>Microsoft YaHei</vt:lpstr>
      <vt:lpstr>Arial</vt:lpstr>
      <vt:lpstr>Book Antiqua</vt:lpstr>
      <vt:lpstr>Huawei Sans</vt:lpstr>
      <vt:lpstr>Verdana</vt:lpstr>
      <vt:lpstr>Wingdings</vt:lpstr>
      <vt:lpstr>1_标题页模板</vt:lpstr>
      <vt:lpstr>2_功能页模板</vt:lpstr>
      <vt:lpstr>3_内容页模板</vt:lpstr>
      <vt:lpstr>4_感谢页模板</vt:lpstr>
      <vt:lpstr>实验配套理论 云上应用高可用部署实验</vt:lpstr>
      <vt:lpstr>PowerPoint 演示文稿</vt:lpstr>
      <vt:lpstr>行业常见高可用Web应用架构示例</vt:lpstr>
      <vt:lpstr>基于云服务构建高可用的Web应用</vt:lpstr>
      <vt:lpstr>Web应用高可用架构在线下与在华为云云服务上部署的差异 </vt:lpstr>
      <vt:lpstr>PowerPoint 演示文稿</vt:lpstr>
      <vt:lpstr>云上应用高可用部署实验</vt:lpstr>
      <vt:lpstr>云上应用高可用部署实验概览</vt:lpstr>
      <vt:lpstr>ECS的概念及优势</vt:lpstr>
      <vt:lpstr>ECS应用场景</vt:lpstr>
      <vt:lpstr>华为云弹性云服务器型号和场景</vt:lpstr>
      <vt:lpstr>ECS购买流程</vt:lpstr>
      <vt:lpstr>Step1 配置ECS规格</vt:lpstr>
      <vt:lpstr>Step2 选择镜像并创建磁盘</vt:lpstr>
      <vt:lpstr>Step3 配置网络</vt:lpstr>
      <vt:lpstr>Step4 选择登录方式</vt:lpstr>
      <vt:lpstr>Step5 确认配置并购买</vt:lpstr>
      <vt:lpstr>Java项目从源码到可执行程序</vt:lpstr>
      <vt:lpstr>Java项目的编译构建</vt:lpstr>
      <vt:lpstr>Java构建工具</vt:lpstr>
      <vt:lpstr>Maven介绍</vt:lpstr>
      <vt:lpstr>Maven依赖管理</vt:lpstr>
      <vt:lpstr>Maven仓库搜索顺序</vt:lpstr>
      <vt:lpstr>鲲鹏Maven</vt:lpstr>
      <vt:lpstr>如何配置优先搜索鲲鹏Maven仓</vt:lpstr>
      <vt:lpstr>云上应用高可用部署实验概览</vt:lpstr>
      <vt:lpstr>高可用云上组网 - 负载均衡 (1)</vt:lpstr>
      <vt:lpstr>高可用云上组网 - 负载均衡 (2)</vt:lpstr>
      <vt:lpstr>高可用云上组网 - 负载均衡 (3)</vt:lpstr>
      <vt:lpstr>高可用云上组网 - 负载均衡 (4)</vt:lpstr>
      <vt:lpstr>高可用云上组网 - 负载均衡 (5)</vt:lpstr>
      <vt:lpstr>ELB产品架构</vt:lpstr>
      <vt:lpstr>ELB管理操作</vt:lpstr>
      <vt:lpstr>弹性负载均衡管理</vt:lpstr>
      <vt:lpstr>创建弹性负载均衡</vt:lpstr>
      <vt:lpstr>创建负载均衡 - 配置参数（1/2）</vt:lpstr>
      <vt:lpstr>创建负载均衡 - 配置参数（2/2）</vt:lpstr>
      <vt:lpstr>监听器管理</vt:lpstr>
      <vt:lpstr>添加监听器</vt:lpstr>
      <vt:lpstr>ELB添加监听器 - 参数说明 (1/3)</vt:lpstr>
      <vt:lpstr>ELB添加监听器 - 参数说明 (2/3)</vt:lpstr>
      <vt:lpstr>ELB添加监听器 - 参数说明 (3/3)</vt:lpstr>
      <vt:lpstr>后端服务器组管理</vt:lpstr>
      <vt:lpstr>添加后端服务器组</vt:lpstr>
      <vt:lpstr>高可用云上组网 - 弹性伸缩 (1)</vt:lpstr>
      <vt:lpstr>高可用云上组网 - 弹性伸缩 (2)</vt:lpstr>
      <vt:lpstr>AS应用场景</vt:lpstr>
      <vt:lpstr>伸缩组向导式创建流程式</vt:lpstr>
      <vt:lpstr>配置参数 – 创建伸缩组_1</vt:lpstr>
      <vt:lpstr>配置参数 – 创建伸缩组_2</vt:lpstr>
      <vt:lpstr>参数说明 – 创建伸缩组参数</vt:lpstr>
      <vt:lpstr>配置参数 – 创建伸缩配置_1</vt:lpstr>
      <vt:lpstr>配置参数 – 创建伸缩配置_2</vt:lpstr>
      <vt:lpstr>配置参数 – 创建伸缩配置参数</vt:lpstr>
      <vt:lpstr>配置参数 – 添加伸缩策略</vt:lpstr>
      <vt:lpstr>配置参数 – 伸缩策略参数说明</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fu lin</cp:lastModifiedBy>
  <cp:revision>284</cp:revision>
  <cp:lastPrinted>2020-07-31T09:33:18Z</cp:lastPrinted>
  <dcterms:created xsi:type="dcterms:W3CDTF">2018-11-29T10:16:29Z</dcterms:created>
  <dcterms:modified xsi:type="dcterms:W3CDTF">2024-09-21T13:09:48Z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(3)u6i9E+YpFvRz5kkKcqECaxs2pVUOfZTJxg9IZUTUG4JYhEn8jaQpw0v8SHeB0181qjaUFE6q
/FcRs5JT9iA7ue1iTjv4LyLoW7HWBjn3HEmcB5dgRUHlMZXf6f0iula7dNlUntPAckvjZLxa
4hdRVjucxttUHya0/sLLT0NSFCmQK+Fqg8CtV/W0ZLbHZdYckkVTlJLHRoeJP5q0c1DhLT11
fFuoDe5B//Z6ppiHl7</vt:lpwstr>
  </property>
  <property fmtid="{D5CDD505-2E9C-101B-9397-08002B2CF9AE}" pid="3" name="_2015_ms_pID_7253431">
    <vt:lpwstr>rAu70YnjlD50Pe8gP8pAQ1s+SqpmM5xpEM9NQ/V86JDG2c7mwlbOR+
o6T75zv4028OJ+AGrMW+GzkuCyC8KipNCPNG0HIj6pE1IJZS2e5nr9ZjW4u//IKEh6xi/HKN
ASQNk/O7r5n09e+VZv3hw5giMHDEChSFmSWP8CHujaIikwfLw+vrz/NaEkjACJcwx6ORKvlf
lIEwSCwpS2ICTSEoUYrp6PTWGNe4C+QclkfW</vt:lpwstr>
  </property>
  <property fmtid="{D5CDD505-2E9C-101B-9397-08002B2CF9AE}" pid="4" name="_2015_ms_pID_7253432">
    <vt:lpwstr>6Q==</vt:lpwstr>
  </property>
  <property fmtid="{D5CDD505-2E9C-101B-9397-08002B2CF9AE}" pid="5" name="ContentTypeId">
    <vt:lpwstr>0x010100CC226774B8D87F4D92D9D1F6859ED44E</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1597996600</vt:lpwstr>
  </property>
</Properties>
</file>