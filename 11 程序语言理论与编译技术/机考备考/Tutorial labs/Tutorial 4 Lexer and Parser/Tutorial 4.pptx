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heme/theme2.xml" ContentType="application/vnd.openxmlformats-officedocument.them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2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3.xml" ContentType="application/vnd.openxmlformats-officedocument.presentationml.notesSlide+xml"/>
  <Override PartName="/ppt/tags/tag156.xml" ContentType="application/vnd.openxmlformats-officedocument.presentationml.tags+xml"/>
  <Override PartName="/ppt/notesSlides/notesSlide4.xml" ContentType="application/vnd.openxmlformats-officedocument.presentationml.notesSlide+xml"/>
  <Override PartName="/ppt/tags/tag157.xml" ContentType="application/vnd.openxmlformats-officedocument.presentationml.tags+xml"/>
  <Override PartName="/ppt/notesSlides/notesSlide5.xml" ContentType="application/vnd.openxmlformats-officedocument.presentationml.notesSl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6.xml" ContentType="application/vnd.openxmlformats-officedocument.presentationml.notesSlide+xml"/>
  <Override PartName="/ppt/tags/tag16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9"/>
  </p:notesMasterIdLst>
  <p:sldIdLst>
    <p:sldId id="266" r:id="rId2"/>
    <p:sldId id="268" r:id="rId3"/>
    <p:sldId id="285" r:id="rId4"/>
    <p:sldId id="309" r:id="rId5"/>
    <p:sldId id="276" r:id="rId6"/>
    <p:sldId id="313" r:id="rId7"/>
    <p:sldId id="290" r:id="rId8"/>
    <p:sldId id="291" r:id="rId9"/>
    <p:sldId id="310" r:id="rId10"/>
    <p:sldId id="312" r:id="rId11"/>
    <p:sldId id="311" r:id="rId12"/>
    <p:sldId id="277" r:id="rId13"/>
    <p:sldId id="293" r:id="rId14"/>
    <p:sldId id="314" r:id="rId15"/>
    <p:sldId id="315" r:id="rId16"/>
    <p:sldId id="316" r:id="rId17"/>
    <p:sldId id="317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页" id="{39CECE6F-3A3C-4D42-9C08-10485A2AC975}">
          <p14:sldIdLst>
            <p14:sldId id="266"/>
          </p14:sldIdLst>
        </p14:section>
        <p14:section name="使用dune构建项目" id="{B5B6A22B-0C09-4F7B-B4E5-4AF29387F8AD}">
          <p14:sldIdLst>
            <p14:sldId id="268"/>
            <p14:sldId id="285"/>
            <p14:sldId id="309"/>
          </p14:sldIdLst>
        </p14:section>
        <p14:section name="Lexer and Parser" id="{1BA3F198-0484-4DB3-9676-C3DC1A4F3F64}">
          <p14:sldIdLst>
            <p14:sldId id="276"/>
            <p14:sldId id="313"/>
            <p14:sldId id="290"/>
            <p14:sldId id="291"/>
            <p14:sldId id="310"/>
            <p14:sldId id="312"/>
            <p14:sldId id="311"/>
          </p14:sldIdLst>
        </p14:section>
        <p14:section name="递归下降语法分析" id="{E548CCFE-589D-418E-B58A-45F187A14813}">
          <p14:sldIdLst>
            <p14:sldId id="277"/>
            <p14:sldId id="293"/>
            <p14:sldId id="314"/>
            <p14:sldId id="315"/>
            <p14:sldId id="316"/>
          </p14:sldIdLst>
        </p14:section>
        <p14:section name="大练习" id="{6495530D-A7EE-4A75-8727-3DBB08BAEEAE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847" autoAdjust="0"/>
  </p:normalViewPr>
  <p:slideViewPr>
    <p:cSldViewPr snapToGrid="0">
      <p:cViewPr varScale="1">
        <p:scale>
          <a:sx n="89" d="100"/>
          <a:sy n="89" d="100"/>
        </p:scale>
        <p:origin x="153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A1C0B-CB41-4B0D-A882-EBD663799ACB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F771C-A0E1-44EC-ACBA-32D3BB8FF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16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995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158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15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669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71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06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None/>
                </a:pPr>
                <a:endParaRPr lang="en-US" altLang="zh-CN" b="0" i="0" dirty="0">
                  <a:effectLst/>
                  <a:latin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思考题解答：</a:t>
                </a:r>
                <a:endParaRPr lang="en-US" altLang="zh-CN" b="0" i="0" dirty="0">
                  <a:effectLst/>
                  <a:latin typeface="Roboto" panose="02000000000000000000" pitchFamily="2" charset="0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en-US" altLang="zh-CN" sz="1200" dirty="0">
                    <a:solidFill>
                      <a:schemeClr val="accent1"/>
                    </a:solidFill>
                    <a:latin typeface="Cascadia Code" panose="020B0609020000020004" pitchFamily="49" charset="0"/>
                    <a:ea typeface="汉仪中黑 197" panose="00020600040101010101" charset="-122"/>
                    <a:cs typeface="Cascadia Code" panose="020B0609020000020004" pitchFamily="49" charset="0"/>
                  </a:rPr>
                  <a:t>int -&gt; int -&gt; int</a:t>
                </a:r>
                <a:r>
                  <a:rPr lang="en-US" altLang="zh-CN" sz="1200" dirty="0">
                    <a:solidFill>
                      <a:schemeClr val="accent1"/>
                    </a:solidFill>
                    <a:latin typeface="Cambria" panose="02040503050406030204" charset="0"/>
                    <a:ea typeface="汉仪中黑 197" panose="00020600040101010101" charset="-122"/>
                  </a:rPr>
                  <a:t> </a:t>
                </a:r>
                <a:r>
                  <a:rPr lang="zh-CN" altLang="en-US" dirty="0">
                    <a:solidFill>
                      <a:schemeClr val="accent1"/>
                    </a:solidFill>
                    <a:latin typeface="Cambria" panose="02040503050406030204" charset="0"/>
                    <a:ea typeface="汉仪中黑 197" panose="00020600040101010101" charset="-122"/>
                  </a:rPr>
                  <a:t>怎么表示为映射关系？</a:t>
                </a:r>
                <a:endParaRPr lang="en-US" altLang="zh-CN" dirty="0">
                  <a:solidFill>
                    <a:schemeClr val="accent1"/>
                  </a:solidFill>
                  <a:latin typeface="Cambria" panose="02040503050406030204" charset="0"/>
                  <a:ea typeface="汉仪中黑 197" panose="00020600040101010101" charset="-122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None/>
                  <a:tabLst/>
                  <a:defRPr/>
                </a:pP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int -&gt; int -&gt; int 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可以表示为：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ℤ → (ℤ → ℤ)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zh-CN" altLang="en-US" dirty="0">
                    <a:solidFill>
                      <a:schemeClr val="accent1"/>
                    </a:solidFill>
                    <a:latin typeface="Cambria" panose="02040503050406030204" charset="0"/>
                    <a:ea typeface="汉仪中黑 197" panose="00020600040101010101" charset="-122"/>
                  </a:rPr>
                  <a:t>这种映射关系和 </a:t>
                </a:r>
                <a:r>
                  <a:rPr lang="en-US" altLang="zh-CN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ℤ×ℤ</a:t>
                </a:r>
                <a:r>
                  <a:rPr lang="en-US" altLang="zh-CN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zh-CN" altLang="en-US" i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→</a:t>
                </a:r>
                <a:r>
                  <a:rPr lang="en-US" altLang="zh-CN" b="0" i="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b="0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" </a:t>
                </a:r>
                <a:r>
                  <a:rPr lang="en-US" altLang="zh-CN" i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ℤ</a:t>
                </a:r>
                <a:r>
                  <a:rPr lang="en-US" altLang="zh-CN" dirty="0">
                    <a:solidFill>
                      <a:schemeClr val="accent1"/>
                    </a:solidFill>
                    <a:latin typeface="Cambria" panose="02040503050406030204" charset="0"/>
                    <a:ea typeface="汉仪中黑 197" panose="00020600040101010101" charset="-122"/>
                  </a:rPr>
                  <a:t> </a:t>
                </a:r>
                <a:r>
                  <a:rPr lang="zh-CN" altLang="en-US" dirty="0">
                    <a:solidFill>
                      <a:schemeClr val="accent1"/>
                    </a:solidFill>
                    <a:latin typeface="Cambria" panose="02040503050406030204" charset="0"/>
                    <a:ea typeface="汉仪中黑 197" panose="00020600040101010101" charset="-122"/>
                  </a:rPr>
                  <a:t>等价吗？</a:t>
                </a:r>
                <a:endParaRPr lang="en-US" altLang="zh-CN" b="0" i="0" dirty="0">
                  <a:effectLst/>
                  <a:latin typeface="Roboto" panose="02000000000000000000" pitchFamily="2" charset="0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None/>
                  <a:tabLst/>
                  <a:defRPr/>
                </a:pP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ℤ×ℤ → ℤ 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表示从整数对 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(a, b) 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到整数的映射；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int -&gt; int -&gt; int 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表示从整数 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a 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到“整数到整数函数” 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f’(b)</a:t>
                </a: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的映射，相当于把前者拆成了两步。</a:t>
                </a:r>
                <a:br>
                  <a:rPr lang="en-US" altLang="zh-CN" b="0" i="0" dirty="0">
                    <a:effectLst/>
                    <a:latin typeface="Roboto" panose="02000000000000000000" pitchFamily="2" charset="0"/>
                  </a:rPr>
                </a:br>
                <a:r>
                  <a:rPr lang="zh-CN" altLang="en-US" b="0" i="0" dirty="0">
                    <a:effectLst/>
                    <a:latin typeface="Roboto" panose="02000000000000000000" pitchFamily="2" charset="0"/>
                  </a:rPr>
                  <a:t>这两种表示方式是等价的，也就是所谓的柯里化同构：</a:t>
                </a:r>
                <a:r>
                  <a:rPr lang="en-US" altLang="zh-CN" b="0" i="0" dirty="0">
                    <a:effectLst/>
                    <a:latin typeface="Roboto" panose="02000000000000000000" pitchFamily="2" charset="0"/>
                  </a:rPr>
                  <a:t>(ℤ×ℤ → ℤ) ≅ (ℤ → (ℤ → ℤ))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09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33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238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image" Target="file:///C:\Users\1V994W2\PycharmProjects\PPT_Background_Generation/pic_temp/pic_sup.png" TargetMode="External"/><Relationship Id="rId4" Type="http://schemas.openxmlformats.org/officeDocument/2006/relationships/tags" Target="../tags/tag11.xml"/><Relationship Id="rId9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file:///C:\Users\1V994W2\PycharmProjects\PPT_Background_Generation/pic_temp/1_pic_quater_left_down.png" TargetMode="Externa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png"/><Relationship Id="rId5" Type="http://schemas.openxmlformats.org/officeDocument/2006/relationships/tags" Target="../tags/tag19.xml"/><Relationship Id="rId10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tags" Target="../tags/tag18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file:///C:\Users\1V994W2\PycharmProjects\PPT_Background_Generation/pic_temp/pic_half_left.png" TargetMode="Externa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32.xml"/><Relationship Id="rId10" Type="http://schemas.openxmlformats.org/officeDocument/2006/relationships/image" Target="../media/image2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2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0.xml"/><Relationship Id="rId15" Type="http://schemas.openxmlformats.org/officeDocument/2006/relationships/image" Target="file:///C:\Users\1V994W2\PycharmProjects\PPT_Background_Generation/pic_temp/1_pic_quater_left_down.png" TargetMode="Externa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50.xml"/><Relationship Id="rId10" Type="http://schemas.openxmlformats.org/officeDocument/2006/relationships/image" Target="../media/image2.png"/><Relationship Id="rId4" Type="http://schemas.openxmlformats.org/officeDocument/2006/relationships/tags" Target="../tags/tag49.xml"/><Relationship Id="rId9" Type="http://schemas.openxmlformats.org/officeDocument/2006/relationships/image" Target="file:///C:\Users\1V994W2\Documents\Tencent%20Files\574576071\FileRecv\&#25340;&#35013;&#32032;&#26448;\&#31616;&#32422;&#28385;&#29256;-60\\57\subject_holdright_148,80,52_0_staid_full_0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59.xml"/><Relationship Id="rId10" Type="http://schemas.openxmlformats.org/officeDocument/2006/relationships/image" Target="../media/image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file:///C:\Users\1V994W2\PycharmProjects\PPT_Background_Generation/pic_temp/1_pic_quater_left_down.png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png"/><Relationship Id="rId5" Type="http://schemas.openxmlformats.org/officeDocument/2006/relationships/tags" Target="../tags/tag67.xml"/><Relationship Id="rId10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tags" Target="../tags/tag66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74.xml"/><Relationship Id="rId10" Type="http://schemas.openxmlformats.org/officeDocument/2006/relationships/image" Target="../media/image3.png"/><Relationship Id="rId4" Type="http://schemas.openxmlformats.org/officeDocument/2006/relationships/tags" Target="../tags/tag73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10" Type="http://schemas.openxmlformats.org/officeDocument/2006/relationships/image" Target="file:///C:\Users\1V994W2\PycharmProjects\PPT_Background_Generation/pic_temp/pic_sup.png" TargetMode="External"/><Relationship Id="rId4" Type="http://schemas.openxmlformats.org/officeDocument/2006/relationships/tags" Target="../tags/tag79.xml"/><Relationship Id="rId9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87.xml"/><Relationship Id="rId10" Type="http://schemas.openxmlformats.org/officeDocument/2006/relationships/image" Target="../media/image3.png"/><Relationship Id="rId4" Type="http://schemas.openxmlformats.org/officeDocument/2006/relationships/tags" Target="../tags/tag86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3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93.xml"/><Relationship Id="rId10" Type="http://schemas.openxmlformats.org/officeDocument/2006/relationships/image" Target="../media/image2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01.xml"/><Relationship Id="rId10" Type="http://schemas.openxmlformats.org/officeDocument/2006/relationships/image" Target="../media/image2.png"/><Relationship Id="rId4" Type="http://schemas.openxmlformats.org/officeDocument/2006/relationships/tags" Target="../tags/tag100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image" Target="../media/image3.png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image" Target="../media/image2.png"/><Relationship Id="rId5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image" Target="file:///C:\Users\1V994W2\PycharmProjects\PPT_Background_Generation/pic_temp/1_pic_quater_left_down.png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image" Target="../media/image3.png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file:///C:\Users\1V994W2\PycharmProjects\PPT_Background_Generation/pic_temp/0_pic_quater_right_down.png" TargetMode="Externa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2.png"/><Relationship Id="rId5" Type="http://schemas.openxmlformats.org/officeDocument/2006/relationships/tags" Target="../tags/tag11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image" Target="file:///C:\Users\1V994W2\PycharmProjects\PPT_Background_Generation/pic_temp/1_pic_quater_left_down.png" TargetMode="Externa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2.png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24.xml"/><Relationship Id="rId16" Type="http://schemas.openxmlformats.org/officeDocument/2006/relationships/image" Target="file:///C:\Users\1V994W2\PycharmProjects\PPT_Background_Generation/pic_temp/1_pic_quater_left_down.png" TargetMode="Externa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3.pn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image" Target="file:///C:\Users\1V994W2\PycharmProjects\PPT_Background_Generation/pic_temp/0_pic_quater_right_down.png" TargetMode="Externa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image" Target="../media/image7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38.xml"/><Relationship Id="rId10" Type="http://schemas.openxmlformats.org/officeDocument/2006/relationships/image" Target="../media/image6.png"/><Relationship Id="rId4" Type="http://schemas.openxmlformats.org/officeDocument/2006/relationships/tags" Target="../tags/tag137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/>
          <p:cNvPicPr/>
          <p:nvPr userDrawn="1">
            <p:custDataLst>
              <p:tags r:id="rId1"/>
            </p:custDataLst>
          </p:nvPr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921000" y="2311082"/>
            <a:ext cx="6350000" cy="144018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7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>
              <a:buClrTx/>
              <a:buSzTx/>
              <a:buFontTx/>
            </a:pPr>
            <a:r>
              <a:rPr lang="zh-CN" altLang="en-US" dirty="0"/>
              <a:t>编辑标题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2921000" y="4153854"/>
            <a:ext cx="6350000" cy="39306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lang="zh-CN" altLang="en-US" sz="2000" spc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  <p:cxnSp>
        <p:nvCxnSpPr>
          <p:cNvPr id="8" name="直接连接符 8"/>
          <p:cNvCxnSpPr/>
          <p:nvPr userDrawn="1">
            <p:custDataLst>
              <p:tags r:id="rId7"/>
            </p:custDataLst>
          </p:nvPr>
        </p:nvCxnSpPr>
        <p:spPr>
          <a:xfrm>
            <a:off x="5609590" y="3950653"/>
            <a:ext cx="972185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3" hasCustomPrompt="1"/>
            <p:custDataLst>
              <p:tags r:id="rId5"/>
            </p:custDataLst>
          </p:nvPr>
        </p:nvSpPr>
        <p:spPr>
          <a:xfrm>
            <a:off x="5084446" y="3823971"/>
            <a:ext cx="5767705" cy="32194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kumimoji="0" lang="zh-CN" altLang="en-US" sz="1800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dist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idx="14" hasCustomPrompt="1"/>
            <p:custDataLst>
              <p:tags r:id="rId6"/>
            </p:custDataLst>
          </p:nvPr>
        </p:nvSpPr>
        <p:spPr>
          <a:xfrm>
            <a:off x="5084446" y="2785110"/>
            <a:ext cx="5767705" cy="83566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kumimoji="0" lang="zh-CN" altLang="en-US" sz="4800" b="0" i="0" spc="5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 algn="dist"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5"/>
          <p:cNvPicPr/>
          <p:nvPr userDrawn="1">
            <p:custDataLst>
              <p:tags r:id="rId1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10" name="图片 7"/>
          <p:cNvPicPr/>
          <p:nvPr userDrawn="1">
            <p:custDataLst>
              <p:tags r:id="rId2"/>
            </p:custDataLst>
          </p:nvPr>
        </p:nvPicPr>
        <p:blipFill>
          <a:blip r:embed="rId14" r:link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391942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1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2025/3/20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1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13" hasCustomPrompt="1"/>
            <p:custDataLst>
              <p:tags r:id="rId5"/>
            </p:custDataLst>
          </p:nvPr>
        </p:nvSpPr>
        <p:spPr>
          <a:xfrm>
            <a:off x="3412807" y="2379663"/>
            <a:ext cx="536575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hasCustomPrompt="1"/>
            <p:custDataLst>
              <p:tags r:id="rId6"/>
            </p:custDataLst>
          </p:nvPr>
        </p:nvSpPr>
        <p:spPr>
          <a:xfrm>
            <a:off x="3413442" y="4117022"/>
            <a:ext cx="5365115" cy="36131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  <p:cxnSp>
        <p:nvCxnSpPr>
          <p:cNvPr id="8" name="直接连接符 10"/>
          <p:cNvCxnSpPr/>
          <p:nvPr userDrawn="1">
            <p:custDataLst>
              <p:tags r:id="rId7"/>
            </p:custDataLst>
          </p:nvPr>
        </p:nvCxnSpPr>
        <p:spPr>
          <a:xfrm>
            <a:off x="3355657" y="3913822"/>
            <a:ext cx="54800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1"/>
            </p:custDataLst>
          </p:nvPr>
        </p:nvPicPr>
        <p:blipFill>
          <a:blip r:embed="rId8" r:link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3"/>
            </p:custDataLst>
          </p:nvPr>
        </p:nvPicPr>
        <p:blipFill>
          <a:blip r:embed="rId12" r:link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2"/>
            </p:custDataLst>
          </p:nvPr>
        </p:nvPicPr>
        <p:blipFill>
          <a:blip r:embed="rId11" r:link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3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4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6"/>
          <p:cNvPicPr/>
          <p:nvPr userDrawn="1">
            <p:custDataLst>
              <p:tags r:id="rId2"/>
            </p:custDataLst>
          </p:nvPr>
        </p:nvPicPr>
        <p:blipFill>
          <a:blip r:embed="rId13" r:link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391942"/>
            <a:ext cx="720090" cy="466058"/>
          </a:xfrm>
          <a:prstGeom prst="rect">
            <a:avLst/>
          </a:prstGeom>
        </p:spPr>
      </p:pic>
      <p:pic>
        <p:nvPicPr>
          <p:cNvPr id="10" name="图片 8"/>
          <p:cNvPicPr/>
          <p:nvPr userDrawn="1">
            <p:custDataLst>
              <p:tags r:id="rId3"/>
            </p:custDataLst>
          </p:nvPr>
        </p:nvPicPr>
        <p:blipFill>
          <a:blip r:embed="rId15" r:link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942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1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2"/>
            </p:custDataLst>
          </p:nvPr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809369"/>
            <a:ext cx="1620202" cy="1048631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3"/>
            </p:custDataLst>
          </p:nvPr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9369"/>
            <a:ext cx="1620202" cy="10486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49.xml"/><Relationship Id="rId4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55.xml"/><Relationship Id="rId4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Relationship Id="rId4" Type="http://schemas.openxmlformats.org/officeDocument/2006/relationships/hyperlink" Target="https://ocaml.org/manual/5.2/lexyacc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62.xml"/><Relationship Id="rId4" Type="http://schemas.openxmlformats.org/officeDocument/2006/relationships/tags" Target="../tags/tag1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3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Tutorial 4</a:t>
            </a:r>
            <a:br>
              <a:rPr lang="en-US" altLang="zh-CN" sz="7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</a:br>
            <a:r>
              <a:rPr lang="en-US" altLang="zh-CN" sz="3100" dirty="0" err="1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Lexer</a:t>
            </a:r>
            <a:r>
              <a:rPr lang="en-US" altLang="zh-CN" sz="31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 and Parser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4"/>
            <p:custDataLst>
              <p:tags r:id="rId3"/>
            </p:custDataLst>
          </p:nvPr>
        </p:nvSpPr>
        <p:spPr>
          <a:xfrm>
            <a:off x="2921000" y="4154170"/>
            <a:ext cx="6350000" cy="152654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000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Programming Languages &amp; Compilers </a:t>
            </a:r>
            <a:r>
              <a:rPr lang="en-US" altLang="zh-CN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Spring 2025</a:t>
            </a:r>
            <a:endParaRPr lang="en-US" altLang="zh-CN" sz="2000" dirty="0">
              <a:solidFill>
                <a:schemeClr val="dk1">
                  <a:lumMod val="65000"/>
                  <a:lumOff val="3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School of Computer Science, Wuhan University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44850" y="2983230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244850" y="2712085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PART ONE</a:t>
            </a:r>
            <a:endParaRPr lang="en-US" altLang="zh-CN" b="1" spc="200"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3390900" y="4088765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0" name="Title 2"/>
          <p:cNvSpPr>
            <a:spLocks noGrp="1"/>
          </p:cNvSpPr>
          <p:nvPr>
            <p:ph type="ctrTitle" idx="14"/>
            <p:custDataLst>
              <p:tags r:id="rId5"/>
            </p:custDataLst>
          </p:nvPr>
        </p:nvSpPr>
        <p:spPr>
          <a:xfrm>
            <a:off x="5084446" y="3050540"/>
            <a:ext cx="5767705" cy="83566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dist"/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使用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构建项目</a:t>
            </a:r>
            <a:endParaRPr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8F4A-0C54-BC09-9902-42EAA764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AA3AC-2F5E-CCB5-B82D-0F618F91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介绍</a:t>
            </a:r>
            <a:endParaRPr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440FCD-9C98-D0AA-5746-4DAF51C28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10085700" cy="470534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提供了多种方法将模块组织成库，使用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构建包含模块的库的项目结构。</a:t>
            </a:r>
            <a:endParaRPr lang="en-US" altLang="zh-CN" b="1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参考文档：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https://ocaml.org/docs/libraries-dune</a:t>
            </a:r>
          </a:p>
          <a:p>
            <a:pPr marL="0" indent="0">
              <a:buNone/>
            </a:pPr>
            <a:endParaRPr lang="en-US" altLang="zh-CN" b="1" dirty="0">
              <a:latin typeface="Cambria" panose="02040503050406030204" charset="0"/>
              <a:ea typeface="汉仪中黑 197" panose="0002060004010101010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以下是两个重要文件：</a:t>
            </a:r>
            <a:endParaRPr lang="en-US" altLang="zh-CN" b="1" dirty="0">
              <a:solidFill>
                <a:schemeClr val="accent1"/>
              </a:solidFill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dune-project</a:t>
            </a:r>
          </a:p>
          <a:p>
            <a:pPr marL="0" indent="0">
              <a:buNone/>
            </a:pP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这个文件位于项目的根目录下，用于定义项目的元数据和配置。</a:t>
            </a:r>
          </a:p>
          <a:p>
            <a:pPr marL="0" indent="0">
              <a:buNone/>
            </a:pP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包含字段如 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(lang dune x)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指定使用的 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版本，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(name </a:t>
            </a:r>
            <a:r>
              <a:rPr lang="en-US" altLang="zh-CN" b="1" dirty="0" err="1">
                <a:latin typeface="Cambria" panose="02040503050406030204" charset="0"/>
                <a:ea typeface="汉仪中黑 197" panose="00020600040101010101" charset="-122"/>
              </a:rPr>
              <a:t>project_name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)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定义项目名称等。</a:t>
            </a:r>
          </a:p>
          <a:p>
            <a:endParaRPr lang="en-US" altLang="zh-CN" b="1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 </a:t>
            </a:r>
          </a:p>
          <a:p>
            <a:pPr marL="0" indent="0">
              <a:buNone/>
            </a:pP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在每个包含源代码的目录下通常都会有一个 </a:t>
            </a:r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 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文件，用来定义该目录下的构建规则。</a:t>
            </a:r>
          </a:p>
          <a:p>
            <a:pPr marL="0" indent="0">
              <a:buNone/>
            </a:pP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例如，你可以在这个文件中定义库、可执行文件等，并指定它们的依赖关系。</a:t>
            </a:r>
          </a:p>
          <a:p>
            <a:endParaRPr lang="zh-CN" altLang="en-US" b="1" dirty="0">
              <a:solidFill>
                <a:schemeClr val="accent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33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7758112-B6FB-44F2-BECA-5D646436A6A0}"/>
              </a:ext>
            </a:extLst>
          </p:cNvPr>
          <p:cNvSpPr txBox="1"/>
          <p:nvPr/>
        </p:nvSpPr>
        <p:spPr>
          <a:xfrm>
            <a:off x="797243" y="2852142"/>
            <a:ext cx="690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（构建库）</a:t>
            </a:r>
            <a:endParaRPr lang="en-US" altLang="zh-CN" b="1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4992AA-B40B-4E55-8686-2ACC07933860}"/>
              </a:ext>
            </a:extLst>
          </p:cNvPr>
          <p:cNvSpPr txBox="1"/>
          <p:nvPr/>
        </p:nvSpPr>
        <p:spPr>
          <a:xfrm>
            <a:off x="797243" y="1215447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dune-project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35845977-8BCC-4120-8744-6FD4D7FB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文件示例</a:t>
            </a:r>
            <a:endParaRPr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6DDA78-0A1A-40C1-801D-77AED9F317CA}"/>
              </a:ext>
            </a:extLst>
          </p:cNvPr>
          <p:cNvSpPr txBox="1"/>
          <p:nvPr/>
        </p:nvSpPr>
        <p:spPr>
          <a:xfrm>
            <a:off x="6287453" y="2852142"/>
            <a:ext cx="690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b="1" dirty="0">
                <a:latin typeface="Cambria" panose="02040503050406030204" charset="0"/>
                <a:ea typeface="汉仪中黑 197" panose="00020600040101010101" charset="-122"/>
              </a:rPr>
              <a:t>（构建可执行文件）</a:t>
            </a:r>
            <a:endParaRPr lang="en-US" altLang="zh-CN" b="1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F7257B-C147-4ECF-934F-E3812A892B96}"/>
              </a:ext>
            </a:extLst>
          </p:cNvPr>
          <p:cNvSpPr txBox="1"/>
          <p:nvPr/>
        </p:nvSpPr>
        <p:spPr>
          <a:xfrm>
            <a:off x="370046" y="5274307"/>
            <a:ext cx="51892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使用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lexer,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ast, 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和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parser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模块构建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lex_project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6FFD25-DAC3-4924-9502-3E86A9E3B6FE}"/>
              </a:ext>
            </a:extLst>
          </p:cNvPr>
          <p:cNvSpPr txBox="1"/>
          <p:nvPr/>
        </p:nvSpPr>
        <p:spPr>
          <a:xfrm>
            <a:off x="6369367" y="5252993"/>
            <a:ext cx="41490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使用</a:t>
            </a:r>
            <a:r>
              <a:rPr lang="en-US" altLang="zh-CN" sz="1500" b="1" spc="150" dirty="0" err="1">
                <a:latin typeface="Cambria" panose="02040503050406030204" charset="0"/>
                <a:ea typeface="汉仪中黑 197" panose="00020600040101010101" charset="-122"/>
              </a:rPr>
              <a:t>lex_project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库构建可执行文件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77BF22-7BA7-4D0B-A153-58D7CC39F783}"/>
              </a:ext>
            </a:extLst>
          </p:cNvPr>
          <p:cNvSpPr txBox="1"/>
          <p:nvPr/>
        </p:nvSpPr>
        <p:spPr>
          <a:xfrm>
            <a:off x="6369367" y="3775568"/>
            <a:ext cx="3685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executable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libraries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lex_project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01C959-7C1A-4725-822C-B616BA212DB9}"/>
              </a:ext>
            </a:extLst>
          </p:cNvPr>
          <p:cNvSpPr txBox="1"/>
          <p:nvPr/>
        </p:nvSpPr>
        <p:spPr>
          <a:xfrm>
            <a:off x="797243" y="3812805"/>
            <a:ext cx="4151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library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lex_project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modules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lexer</a:t>
            </a: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ast</a:t>
            </a: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parser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A1C9B93-B2CE-472A-A943-6C1895612033}"/>
              </a:ext>
            </a:extLst>
          </p:cNvPr>
          <p:cNvSpPr txBox="1"/>
          <p:nvPr/>
        </p:nvSpPr>
        <p:spPr>
          <a:xfrm>
            <a:off x="736858" y="1962524"/>
            <a:ext cx="65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dune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385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44850" y="2983230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244850" y="2712085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PART TWO</a:t>
            </a:r>
            <a:endParaRPr lang="en-US" altLang="zh-CN" b="1" spc="200"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3390900" y="4088765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0" name="Title 2"/>
          <p:cNvSpPr>
            <a:spLocks noGrp="1"/>
          </p:cNvSpPr>
          <p:nvPr>
            <p:ph type="ctrTitle" idx="14"/>
            <p:custDataLst>
              <p:tags r:id="rId5"/>
            </p:custDataLst>
          </p:nvPr>
        </p:nvSpPr>
        <p:spPr>
          <a:xfrm>
            <a:off x="5053330" y="3118802"/>
            <a:ext cx="5679440" cy="83566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dist"/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Lexer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 and Parser</a:t>
            </a:r>
            <a:endParaRPr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B685110-9C07-B885-8B71-CC70059A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>
                <a:latin typeface="Cambria" panose="02040503050406030204" charset="0"/>
                <a:ea typeface="汉仪中黑 197" panose="00020600040101010101" charset="-122"/>
              </a:rPr>
              <a:t>Token and Abstract Tree(AST)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021D6E-1D99-CA32-D5E1-A0EDE3258424}"/>
              </a:ext>
            </a:extLst>
          </p:cNvPr>
          <p:cNvSpPr txBox="1"/>
          <p:nvPr/>
        </p:nvSpPr>
        <p:spPr>
          <a:xfrm>
            <a:off x="669930" y="1135674"/>
            <a:ext cx="1003545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Token 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是词法分析器从源代码中提取的最小语法单元，是语法分析的输入，表示程序的基本组成部分。</a:t>
            </a:r>
          </a:p>
          <a:p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示例（表达式：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3 + 5 * 2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）：</a:t>
            </a:r>
          </a:p>
          <a:p>
            <a:pPr lvl="8"/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3 → INT (3)</a:t>
            </a:r>
          </a:p>
          <a:p>
            <a:pPr lvl="8"/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+ → PLUS</a:t>
            </a:r>
          </a:p>
          <a:p>
            <a:pPr lvl="8"/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5 → INT(5)</a:t>
            </a:r>
          </a:p>
          <a:p>
            <a:pPr lvl="8"/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* → TIMES</a:t>
            </a:r>
          </a:p>
          <a:p>
            <a:pPr lvl="8"/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2 → INT(2)</a:t>
            </a:r>
            <a:endParaRPr lang="zh-CN" altLang="en-US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0B01DA-D2CD-BC75-97B1-BEDDC5CFD5A3}"/>
              </a:ext>
            </a:extLst>
          </p:cNvPr>
          <p:cNvSpPr txBox="1"/>
          <p:nvPr/>
        </p:nvSpPr>
        <p:spPr>
          <a:xfrm>
            <a:off x="669929" y="3137003"/>
            <a:ext cx="97852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是语法分析器生成的树状结构，表示程序的语法结构。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保留了运算的优先级和运算结构，同时去掉了不必要的细节，输入是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token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列表：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INT(3) 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，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PLUS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，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INT(5)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，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TIMES 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，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INT(2)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。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FD7420-5835-CD3B-727F-2806B3DA686F}"/>
              </a:ext>
            </a:extLst>
          </p:cNvPr>
          <p:cNvSpPr/>
          <p:nvPr/>
        </p:nvSpPr>
        <p:spPr>
          <a:xfrm>
            <a:off x="6082995" y="4627300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Num(3)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431CF20-B96B-275D-33F2-480D5CD73EE9}"/>
              </a:ext>
            </a:extLst>
          </p:cNvPr>
          <p:cNvSpPr/>
          <p:nvPr/>
        </p:nvSpPr>
        <p:spPr>
          <a:xfrm>
            <a:off x="6899657" y="3869144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Add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CB68110-AF79-06E5-5C78-413A3EF18906}"/>
              </a:ext>
            </a:extLst>
          </p:cNvPr>
          <p:cNvSpPr/>
          <p:nvPr/>
        </p:nvSpPr>
        <p:spPr>
          <a:xfrm>
            <a:off x="7080799" y="5387499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Num(5)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125C0D-B101-5AC8-E89B-64360503184B}"/>
              </a:ext>
            </a:extLst>
          </p:cNvPr>
          <p:cNvSpPr/>
          <p:nvPr/>
        </p:nvSpPr>
        <p:spPr>
          <a:xfrm>
            <a:off x="7618525" y="4627301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Mul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A5F6D9-0927-C951-8B2B-01FD1BB1B51F}"/>
              </a:ext>
            </a:extLst>
          </p:cNvPr>
          <p:cNvSpPr/>
          <p:nvPr/>
        </p:nvSpPr>
        <p:spPr>
          <a:xfrm>
            <a:off x="8357521" y="5425820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Num(2)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4BE940E-F123-FEBF-EDC7-46846B431483}"/>
              </a:ext>
            </a:extLst>
          </p:cNvPr>
          <p:cNvCxnSpPr>
            <a:stCxn id="34" idx="2"/>
            <a:endCxn id="33" idx="0"/>
          </p:cNvCxnSpPr>
          <p:nvPr/>
        </p:nvCxnSpPr>
        <p:spPr>
          <a:xfrm flipH="1">
            <a:off x="6656652" y="4300465"/>
            <a:ext cx="816662" cy="3268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C9EA557-2D16-CCB1-14B4-BCB11AC02A4D}"/>
              </a:ext>
            </a:extLst>
          </p:cNvPr>
          <p:cNvCxnSpPr>
            <a:stCxn id="34" idx="2"/>
            <a:endCxn id="36" idx="0"/>
          </p:cNvCxnSpPr>
          <p:nvPr/>
        </p:nvCxnSpPr>
        <p:spPr>
          <a:xfrm>
            <a:off x="7473314" y="4300465"/>
            <a:ext cx="718868" cy="326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93EE4F4-B3F5-0945-A72E-017BE2CC0CB8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 flipH="1">
            <a:off x="7654456" y="5058622"/>
            <a:ext cx="537726" cy="328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2DFDCC9-20DB-0D7D-6759-FDD6A4C51C5D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8192182" y="5058622"/>
            <a:ext cx="738996" cy="3671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0CCB6EE-3B14-F7A5-A00D-E7F80E8C2E3A}"/>
              </a:ext>
            </a:extLst>
          </p:cNvPr>
          <p:cNvSpPr txBox="1"/>
          <p:nvPr/>
        </p:nvSpPr>
        <p:spPr>
          <a:xfrm>
            <a:off x="1565422" y="4283673"/>
            <a:ext cx="3185696" cy="147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expr * expr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expr * expr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expr * expr</a:t>
            </a: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expr * expr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0A3559-6CBA-FF50-44FD-74B24D833439}"/>
              </a:ext>
            </a:extLst>
          </p:cNvPr>
          <p:cNvSpPr txBox="1"/>
          <p:nvPr/>
        </p:nvSpPr>
        <p:spPr>
          <a:xfrm>
            <a:off x="669929" y="6287473"/>
            <a:ext cx="82823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具体如何根据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token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生成一颗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，接下来讲述两种方法。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889A4D-58A8-6138-6C9A-781E3AA26E36}"/>
              </a:ext>
            </a:extLst>
          </p:cNvPr>
          <p:cNvSpPr txBox="1"/>
          <p:nvPr/>
        </p:nvSpPr>
        <p:spPr>
          <a:xfrm>
            <a:off x="2053919" y="5784684"/>
            <a:ext cx="60974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的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ocaml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9425CD-6169-CDE4-0836-DC4E36419AAD}"/>
              </a:ext>
            </a:extLst>
          </p:cNvPr>
          <p:cNvSpPr txBox="1"/>
          <p:nvPr/>
        </p:nvSpPr>
        <p:spPr>
          <a:xfrm>
            <a:off x="6899657" y="5806876"/>
            <a:ext cx="60974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根据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token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生成的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</a:t>
            </a:r>
            <a:endParaRPr lang="zh-CN" altLang="en-US" sz="1500" b="1" spc="150"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966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7E8B-9F45-52FB-9BAC-D7404642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7323C4BB-9585-4162-9AFB-1070ADA1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atin typeface="Cambria" panose="02040503050406030204" charset="0"/>
                <a:ea typeface="汉仪中黑 197" panose="00020600040101010101" charset="-122"/>
              </a:rPr>
              <a:t>ocamllex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512EEE-710C-4CA1-AC54-F6910801EBA6}"/>
              </a:ext>
            </a:extLst>
          </p:cNvPr>
          <p:cNvSpPr txBox="1"/>
          <p:nvPr/>
        </p:nvSpPr>
        <p:spPr>
          <a:xfrm>
            <a:off x="669930" y="1264265"/>
            <a:ext cx="102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ym typeface="+mn-ea"/>
              </a:rPr>
              <a:t>ocamllex</a:t>
            </a:r>
            <a:r>
              <a:rPr lang="zh-CN" altLang="en-US" noProof="1">
                <a:sym typeface="+mn-ea"/>
              </a:rPr>
              <a:t> 根据一组正则表达式和附加的语义操作生成词法分析器，其风格类似于 </a:t>
            </a:r>
            <a:r>
              <a:rPr lang="en-US" altLang="zh-CN" noProof="1">
                <a:sym typeface="+mn-ea"/>
              </a:rPr>
              <a:t>lex</a:t>
            </a:r>
            <a:r>
              <a:rPr lang="zh-CN" altLang="en-US" noProof="1">
                <a:sym typeface="+mn-ea"/>
              </a:rPr>
              <a:t>。其语法如下：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027D69-9E17-4DAC-A3E9-57798259A98B}"/>
              </a:ext>
            </a:extLst>
          </p:cNvPr>
          <p:cNvSpPr txBox="1"/>
          <p:nvPr/>
        </p:nvSpPr>
        <p:spPr>
          <a:xfrm>
            <a:off x="827866" y="2090601"/>
            <a:ext cx="353472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 </a:t>
            </a:r>
            <a:r>
              <a:rPr lang="en-US" altLang="zh-CN" dirty="0">
                <a:solidFill>
                  <a:schemeClr val="accent2"/>
                </a:solidFill>
              </a:rPr>
              <a:t>header</a:t>
            </a:r>
            <a:r>
              <a:rPr lang="en-US" altLang="zh-CN" dirty="0"/>
              <a:t> }</a:t>
            </a:r>
          </a:p>
          <a:p>
            <a:r>
              <a:rPr lang="en-US" altLang="zh-CN" dirty="0">
                <a:solidFill>
                  <a:schemeClr val="accent2"/>
                </a:solidFill>
              </a:rPr>
              <a:t>let ident = </a:t>
            </a:r>
            <a:r>
              <a:rPr lang="en-US" altLang="zh-CN" dirty="0" err="1">
                <a:solidFill>
                  <a:schemeClr val="accent2"/>
                </a:solidFill>
              </a:rPr>
              <a:t>regexp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[refill { refill-handler }]</a:t>
            </a:r>
          </a:p>
          <a:p>
            <a:r>
              <a:rPr lang="en-US" altLang="zh-CN" dirty="0">
                <a:solidFill>
                  <a:schemeClr val="accent2"/>
                </a:solidFill>
              </a:rPr>
              <a:t>rule </a:t>
            </a:r>
            <a:r>
              <a:rPr lang="en-US" altLang="zh-CN" dirty="0" err="1">
                <a:solidFill>
                  <a:schemeClr val="accent2"/>
                </a:solidFill>
              </a:rPr>
              <a:t>entrypoint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/>
              <a:t>[arg1… </a:t>
            </a:r>
            <a:r>
              <a:rPr lang="en-US" altLang="zh-CN" dirty="0" err="1"/>
              <a:t>argn</a:t>
            </a:r>
            <a:r>
              <a:rPr lang="en-US" altLang="zh-CN" dirty="0"/>
              <a:t>] =</a:t>
            </a:r>
          </a:p>
          <a:p>
            <a:r>
              <a:rPr lang="en-US" altLang="zh-CN" dirty="0"/>
              <a:t>  parse </a:t>
            </a:r>
            <a:r>
              <a:rPr lang="en-US" altLang="zh-CN" dirty="0" err="1">
                <a:solidFill>
                  <a:schemeClr val="accent2"/>
                </a:solidFill>
              </a:rPr>
              <a:t>regexp</a:t>
            </a:r>
            <a:r>
              <a:rPr lang="en-US" altLang="zh-CN" dirty="0"/>
              <a:t> { action }</a:t>
            </a:r>
          </a:p>
          <a:p>
            <a:r>
              <a:rPr lang="en-US" altLang="zh-CN" dirty="0"/>
              <a:t>      | …</a:t>
            </a:r>
          </a:p>
          <a:p>
            <a:r>
              <a:rPr lang="en-US" altLang="zh-CN" dirty="0"/>
              <a:t>      | </a:t>
            </a:r>
            <a:r>
              <a:rPr lang="en-US" altLang="zh-CN" dirty="0" err="1"/>
              <a:t>regexp</a:t>
            </a:r>
            <a:r>
              <a:rPr lang="en-US" altLang="zh-CN" dirty="0"/>
              <a:t> { action }</a:t>
            </a:r>
          </a:p>
          <a:p>
            <a:r>
              <a:rPr lang="en-US" altLang="zh-CN" dirty="0"/>
              <a:t>and </a:t>
            </a:r>
            <a:r>
              <a:rPr lang="en-US" altLang="zh-CN" dirty="0" err="1"/>
              <a:t>entrypoint</a:t>
            </a:r>
            <a:r>
              <a:rPr lang="en-US" altLang="zh-CN" dirty="0"/>
              <a:t> [arg1… </a:t>
            </a:r>
            <a:r>
              <a:rPr lang="en-US" altLang="zh-CN" dirty="0" err="1"/>
              <a:t>argn</a:t>
            </a:r>
            <a:r>
              <a:rPr lang="en-US" altLang="zh-CN" dirty="0"/>
              <a:t>] =</a:t>
            </a:r>
          </a:p>
          <a:p>
            <a:r>
              <a:rPr lang="en-US" altLang="zh-CN" dirty="0"/>
              <a:t>  parse …</a:t>
            </a:r>
          </a:p>
          <a:p>
            <a:r>
              <a:rPr lang="en-US" altLang="zh-CN" dirty="0"/>
              <a:t>and …</a:t>
            </a:r>
          </a:p>
          <a:p>
            <a:r>
              <a:rPr lang="en-US" altLang="zh-CN" dirty="0"/>
              <a:t>{ trailer }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403DFA-32F3-4396-B211-BD7830D4FF79}"/>
              </a:ext>
            </a:extLst>
          </p:cNvPr>
          <p:cNvSpPr txBox="1"/>
          <p:nvPr/>
        </p:nvSpPr>
        <p:spPr>
          <a:xfrm>
            <a:off x="4960189" y="2242502"/>
            <a:ext cx="668655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spc="150" noProof="1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header&amp;trailer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：通常，头部部分包含操作所需的 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open 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指令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r>
              <a:rPr lang="en-US" altLang="zh-CN" sz="1500" b="1" spc="150" noProof="1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let ident = regexp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：可以为经常出现的正则表达式命名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r>
              <a:rPr lang="en-US" altLang="zh-CN" sz="1500" b="1" spc="150" noProof="1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rule entrypoint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：它接受 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n+1 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个参数，最后一个隐式参数的类型为 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Lexing.lexbuf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，从 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Lexing.lexbuf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 参数中读取字符，并与规则中提供的正则表达式进行匹配，然后计算相应的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action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并将其作为函数的结果返回。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r>
              <a:rPr lang="en-US" altLang="zh-CN" sz="1500" b="1" spc="150" noProof="1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regexp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：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Ocaml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正则表达式。参考：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https://ocaml.org/manual/5.2/lexyacc.html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      2.4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小节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825117-F483-909C-0E5D-7E7FAF5E9B16}"/>
              </a:ext>
            </a:extLst>
          </p:cNvPr>
          <p:cNvSpPr txBox="1"/>
          <p:nvPr/>
        </p:nvSpPr>
        <p:spPr>
          <a:xfrm>
            <a:off x="758855" y="5838827"/>
            <a:ext cx="7643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ocamllex</a:t>
            </a:r>
            <a:r>
              <a:rPr lang="zh-CN" altLang="en-US"/>
              <a:t>的文件后缀名为</a:t>
            </a:r>
            <a:r>
              <a:rPr lang="en-US" altLang="zh-CN"/>
              <a:t>.mll</a:t>
            </a:r>
            <a:r>
              <a:rPr lang="zh-CN" altLang="en-US"/>
              <a:t>，通过</a:t>
            </a:r>
            <a:r>
              <a:rPr lang="en-US" altLang="zh-CN"/>
              <a:t>ocamllex</a:t>
            </a:r>
            <a:r>
              <a:rPr lang="zh-CN" altLang="en-US"/>
              <a:t>命令生成对应的</a:t>
            </a:r>
            <a:r>
              <a:rPr lang="en-US" altLang="zh-CN"/>
              <a:t>.ml</a:t>
            </a:r>
            <a:r>
              <a:rPr lang="zh-CN" altLang="en-US"/>
              <a:t>文件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401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4C20-CF84-4806-9511-34D3661D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A3B1EFF-22E3-4216-9559-C1D7C77E1FBE}"/>
              </a:ext>
            </a:extLst>
          </p:cNvPr>
          <p:cNvSpPr txBox="1"/>
          <p:nvPr/>
        </p:nvSpPr>
        <p:spPr>
          <a:xfrm>
            <a:off x="114245" y="2344520"/>
            <a:ext cx="677531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rule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parse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FFD68F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FFD68F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read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lexbuf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(* </a:t>
            </a:r>
            <a:r>
              <a:rPr lang="zh-CN" altLang="en-US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跳过空白符 *</a:t>
            </a:r>
            <a:r>
              <a:rPr lang="en-US" altLang="zh-CN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zh-CN" altLang="en-US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‘0’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‘9’</a:t>
            </a:r>
            <a:r>
              <a:rPr lang="en-US" altLang="zh-CN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zh-CN" altLang="en-US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int_of_string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num)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DADADA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_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failwith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"Unknown character"</a:t>
            </a:r>
            <a:r>
              <a:rPr lang="en-US" altLang="zh-CN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82199F4-53D4-4E8F-A04D-3FD55B73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atin typeface="Cambria" panose="02040503050406030204" charset="0"/>
                <a:ea typeface="汉仪中黑 197" panose="00020600040101010101" charset="-122"/>
              </a:rPr>
              <a:t>ocamllex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示例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B6D4C2-795E-4579-A604-70A936C38887}"/>
              </a:ext>
            </a:extLst>
          </p:cNvPr>
          <p:cNvSpPr txBox="1"/>
          <p:nvPr/>
        </p:nvSpPr>
        <p:spPr>
          <a:xfrm>
            <a:off x="669930" y="1153313"/>
            <a:ext cx="512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333333"/>
                </a:solidFill>
                <a:latin typeface="Fira Mono" panose="020B0509050000020004" pitchFamily="49" charset="0"/>
              </a:rPr>
              <a:t>词法规则</a:t>
            </a:r>
            <a:r>
              <a:rPr lang="en-US" altLang="zh-CN">
                <a:solidFill>
                  <a:srgbClr val="333333"/>
                </a:solidFill>
                <a:latin typeface="Fira Mono" panose="020B0509050000020004" pitchFamily="49" charset="0"/>
              </a:rPr>
              <a:t>read</a:t>
            </a:r>
            <a:r>
              <a:rPr lang="zh-CN" altLang="en-US"/>
              <a:t>：将</a:t>
            </a:r>
            <a:r>
              <a:rPr lang="zh-CN" altLang="en-US" dirty="0"/>
              <a:t>数字和基本运算符变为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FC900B-A1FA-2542-5999-C22E5AB61B33}"/>
              </a:ext>
            </a:extLst>
          </p:cNvPr>
          <p:cNvSpPr txBox="1"/>
          <p:nvPr/>
        </p:nvSpPr>
        <p:spPr>
          <a:xfrm>
            <a:off x="6889558" y="2850747"/>
            <a:ext cx="54556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空白字符（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 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'\t'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'\n'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）会被忽略</a:t>
            </a:r>
          </a:p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数字序列（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'0'-'9'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）会被识别为整数，并转换为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`INT`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标记。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符号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'+'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'-'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'*'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和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'/'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分别被识别为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`PLUS`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`MINUS`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`TIMES`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和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`DIV`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标记。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文件结束符（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eof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）被识别为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`EOF`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标记。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任何无法识别的字符都会导致词法分析器抛出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"Unknown character"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错误。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0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AA78557-19AA-48DB-BC0F-BA95A9C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atin typeface="Cambria" panose="02040503050406030204" charset="0"/>
                <a:ea typeface="汉仪中黑 197" panose="00020600040101010101" charset="-122"/>
              </a:rPr>
              <a:t>ocamlyacc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CD0B49-4F70-420C-B812-3AFC88E7F789}"/>
              </a:ext>
            </a:extLst>
          </p:cNvPr>
          <p:cNvSpPr txBox="1"/>
          <p:nvPr/>
        </p:nvSpPr>
        <p:spPr>
          <a:xfrm>
            <a:off x="758855" y="1431779"/>
            <a:ext cx="9488033" cy="34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ocamlyacc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 命令根据上下文无关语法规范生成一个解析器，类似于 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yacc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。其语法形式如下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:</a:t>
            </a:r>
            <a:endParaRPr lang="zh-CN" altLang="en-US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4173DE-5C26-4647-B3E7-114133DA4CC2}"/>
              </a:ext>
            </a:extLst>
          </p:cNvPr>
          <p:cNvSpPr txBox="1"/>
          <p:nvPr/>
        </p:nvSpPr>
        <p:spPr>
          <a:xfrm>
            <a:off x="922325" y="2600729"/>
            <a:ext cx="2197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%{</a:t>
            </a:r>
          </a:p>
          <a:p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2"/>
                </a:solidFill>
              </a:rPr>
              <a:t>header</a:t>
            </a:r>
          </a:p>
          <a:p>
            <a:r>
              <a:rPr lang="en-US" altLang="zh-CN" dirty="0"/>
              <a:t>%}</a:t>
            </a:r>
          </a:p>
          <a:p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2"/>
                </a:solidFill>
              </a:rPr>
              <a:t>declarations</a:t>
            </a:r>
          </a:p>
          <a:p>
            <a:r>
              <a:rPr lang="en-US" altLang="zh-CN" dirty="0"/>
              <a:t>%%</a:t>
            </a:r>
          </a:p>
          <a:p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2"/>
                </a:solidFill>
              </a:rPr>
              <a:t>rules</a:t>
            </a:r>
          </a:p>
          <a:p>
            <a:r>
              <a:rPr lang="en-US" altLang="zh-CN" dirty="0"/>
              <a:t>%%</a:t>
            </a:r>
          </a:p>
          <a:p>
            <a:r>
              <a:rPr lang="en-US" altLang="zh-CN" dirty="0"/>
              <a:t>  trailer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79DAC3-61DB-4BF4-923D-5925A722DBB2}"/>
              </a:ext>
            </a:extLst>
          </p:cNvPr>
          <p:cNvSpPr txBox="1"/>
          <p:nvPr/>
        </p:nvSpPr>
        <p:spPr>
          <a:xfrm>
            <a:off x="3119743" y="2412790"/>
            <a:ext cx="864870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spc="150" dirty="0" err="1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</a:rPr>
              <a:t>header&amp;trailer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：通常，头部部分包含操作所需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的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open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指令和所需的辅助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函数。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sz="1500" b="1" spc="150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</a:rPr>
              <a:t>declarations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：声明每行一个。它们都以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%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符号开头。常用：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  <a:sym typeface="Wingdings" panose="05000000000000000000" pitchFamily="2" charset="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  <a:sym typeface="Wingdings" panose="05000000000000000000" pitchFamily="2" charset="2"/>
              </a:rPr>
              <a:t>1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  <a:sym typeface="Wingdings" panose="05000000000000000000" pitchFamily="2" charset="2"/>
              </a:rPr>
              <a:t>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%token constr … constr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，将给定的符号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constr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… constr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 声明为标记（终结符）。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%token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&lt; typexpr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&gt; constr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… </a:t>
            </a:r>
            <a:r>
              <a:rPr lang="en-US" altLang="zh-CN" sz="1500" b="1" spc="150" dirty="0" err="1">
                <a:latin typeface="Cambria" panose="02040503050406030204" charset="0"/>
                <a:ea typeface="汉仪中黑 197" panose="00020600040101010101" charset="-122"/>
              </a:rPr>
              <a:t>constr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，将给定的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符号 </a:t>
            </a:r>
            <a:r>
              <a:rPr lang="en-US" altLang="zh-CN" sz="1500" b="1" spc="150" err="1">
                <a:latin typeface="Cambria" panose="02040503050406030204" charset="0"/>
                <a:ea typeface="汉仪中黑 197" panose="00020600040101010101" charset="-122"/>
              </a:rPr>
              <a:t>constr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… </a:t>
            </a:r>
            <a:r>
              <a:rPr lang="en-US" altLang="zh-CN" sz="1500" b="1" spc="150" dirty="0" err="1">
                <a:latin typeface="Cambria" panose="02040503050406030204" charset="0"/>
                <a:ea typeface="汉仪中黑 197" panose="00020600040101010101" charset="-122"/>
              </a:rPr>
              <a:t>constr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 声明为标记，并附带给定类型的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属性。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3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%start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symbol … symbol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，将给定的符号声明为语法的入口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点。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4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%type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&lt; typexpr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 &gt; symbol … symbol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，指定给定符号的语义属性类型。起始符号强制性要求有该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属性。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sz="1500" b="1" spc="150" dirty="0">
                <a:solidFill>
                  <a:schemeClr val="accent2"/>
                </a:solidFill>
                <a:latin typeface="Cambria" panose="02040503050406030204" charset="0"/>
                <a:ea typeface="汉仪中黑 197" panose="00020600040101010101" charset="-122"/>
              </a:rPr>
              <a:t>rules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：和</a:t>
            </a:r>
            <a:r>
              <a:rPr lang="en-US" altLang="zh-CN" sz="1500" b="1" spc="150" dirty="0" err="1">
                <a:latin typeface="Cambria" panose="02040503050406030204" charset="0"/>
                <a:ea typeface="汉仪中黑 197" panose="00020600040101010101" charset="-122"/>
              </a:rPr>
              <a:t>ocamlllex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相同，匹配，然后计算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相应的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action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并将其作为函数的结果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返回。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B7891D-84FE-AAFC-0EFA-EDF5E90DC80C}"/>
              </a:ext>
            </a:extLst>
          </p:cNvPr>
          <p:cNvSpPr txBox="1"/>
          <p:nvPr/>
        </p:nvSpPr>
        <p:spPr>
          <a:xfrm>
            <a:off x="758855" y="5732524"/>
            <a:ext cx="84023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ocamlyacc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的文件后缀名为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.mly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，通过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ocamlyacc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命令生成对应的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.ml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和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.mli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237104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A3CC40A-C5BD-5EA7-CECC-2C00160CF747}"/>
              </a:ext>
            </a:extLst>
          </p:cNvPr>
          <p:cNvSpPr txBox="1"/>
          <p:nvPr/>
        </p:nvSpPr>
        <p:spPr>
          <a:xfrm>
            <a:off x="5609325" y="1310652"/>
            <a:ext cx="67091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`%token`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定义了解析器可以识别的标记类型。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`INT`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：整数标记，携带一个整数值。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`PLUS`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`MINUS`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`TIMES`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`DIV`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：加减乘除运算符标记。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`EOF`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：文件结束标记。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`%start`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定义了解析器的起始规则，这里是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`main`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`%type`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定义了起始规则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`main`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的返回类型，这里是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`Ast.expr`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，表示抽象语法树中的表达式类型。</a:t>
            </a:r>
          </a:p>
          <a:p>
            <a:endParaRPr lang="zh-CN" altLang="en-US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解析规则：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`main`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是解析的起点，要求输入是一个表达式（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`expr`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）后跟文件结束标记（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`EOF`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`expr`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定义了加法和减法的语法规则，支持递归解析。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`term`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定义了乘法和除法的语法规则，支持递归解析。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`factor`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定义了基本的语法单元，这里是整数（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`INT`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）。</a:t>
            </a:r>
          </a:p>
          <a:p>
            <a:endParaRPr lang="zh-CN" altLang="en-US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每个规则右侧的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`{ ... }`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部分定义了如何将解析的内容转换为抽象语法树节点。</a:t>
            </a: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 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- `Add`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`Sub`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`Mul`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、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`Div`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和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`Num`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是抽象语法树的构造器，定义在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`Ast`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模块中，由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open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在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header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中导入。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95ADEF-DF82-DB46-CFA9-90CC8310C1EF}"/>
              </a:ext>
            </a:extLst>
          </p:cNvPr>
          <p:cNvSpPr txBox="1"/>
          <p:nvPr/>
        </p:nvSpPr>
        <p:spPr>
          <a:xfrm>
            <a:off x="347546" y="838367"/>
            <a:ext cx="6185138" cy="584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%{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Ast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b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%token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INT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%token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PLUS MINUS TIMES DIV EOF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%start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main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%type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&lt;Ast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.expr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main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%%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effectLst/>
                <a:latin typeface="Consolas" panose="020B0609020204030204" pitchFamily="49" charset="0"/>
              </a:rPr>
              <a:t>main: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expr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b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effectLst/>
                <a:latin typeface="Consolas" panose="020B0609020204030204" pitchFamily="49" charset="0"/>
              </a:rPr>
              <a:t>expr: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term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expr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$3</a:t>
            </a:r>
            <a:r>
              <a:rPr lang="en-US" altLang="zh-CN"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term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expr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lang="en-US" altLang="zh-CN"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$3</a:t>
            </a:r>
            <a:r>
              <a:rPr lang="en-US" altLang="zh-CN"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term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b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effectLst/>
                <a:latin typeface="Consolas" panose="020B0609020204030204" pitchFamily="49" charset="0"/>
              </a:rPr>
              <a:t>term: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factor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TIMES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term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Mul</a:t>
            </a:r>
            <a:r>
              <a:rPr lang="en-US" altLang="zh-CN"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$3</a:t>
            </a:r>
            <a:r>
              <a:rPr lang="en-US" altLang="zh-CN"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factor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term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zh-CN"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$3</a:t>
            </a:r>
            <a:r>
              <a:rPr lang="en-US" altLang="zh-CN"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>
                <a:latin typeface="Consolas" panose="020B0609020204030204" pitchFamily="49" charset="0"/>
              </a:rPr>
              <a:t>factor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b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>
                <a:effectLst/>
                <a:latin typeface="Consolas" panose="020B0609020204030204" pitchFamily="49" charset="0"/>
              </a:rPr>
              <a:t>factor:</a:t>
            </a:r>
          </a:p>
          <a:p>
            <a:pPr>
              <a:lnSpc>
                <a:spcPts val="1600"/>
              </a:lnSpc>
              <a:buNone/>
            </a:pP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$1</a:t>
            </a:r>
            <a:r>
              <a:rPr lang="en-US" altLang="zh-CN" b="0"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3B295FC-0846-DEAD-358F-27F87123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81" y="37481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en-US" altLang="zh-CN">
                <a:latin typeface="Cambria" panose="02040503050406030204" charset="0"/>
                <a:ea typeface="汉仪中黑 197" panose="00020600040101010101" charset="-122"/>
              </a:rPr>
              <a:t>ocamlyacc</a:t>
            </a:r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示例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53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7DD86F1-B008-4C8E-8E66-7E07C623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0" y="40894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练习</a:t>
            </a:r>
            <a:r>
              <a:rPr lang="en-US" altLang="zh-CN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1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597CF0-22AC-4E4A-B36F-551612592E03}"/>
              </a:ext>
            </a:extLst>
          </p:cNvPr>
          <p:cNvSpPr txBox="1"/>
          <p:nvPr/>
        </p:nvSpPr>
        <p:spPr>
          <a:xfrm>
            <a:off x="669930" y="1497330"/>
            <a:ext cx="9095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1. 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为你的电脑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安装好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ocaml</a:t>
            </a:r>
            <a:r>
              <a:rPr lang="en-US" altLang="zh-CN" sz="1500" b="1" spc="150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环境</a:t>
            </a:r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endParaRPr lang="en-US" altLang="zh-CN" sz="1500" b="1" spc="150" dirty="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2.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按步骤实现练习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1</a:t>
            </a:r>
            <a:r>
              <a:rPr lang="zh-CN" altLang="en-US" sz="1500" b="1" spc="150" dirty="0">
                <a:latin typeface="Cambria" panose="02040503050406030204" charset="0"/>
                <a:ea typeface="汉仪中黑 197" panose="00020600040101010101" charset="-122"/>
              </a:rPr>
              <a:t>中提供的代码并运行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，熟悉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dune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，</a:t>
            </a:r>
            <a:r>
              <a:rPr lang="en-US" altLang="zh-CN" sz="1500" b="1" spc="150" err="1">
                <a:latin typeface="Cambria" panose="02040503050406030204" charset="0"/>
                <a:ea typeface="汉仪中黑 197" panose="00020600040101010101" charset="-122"/>
              </a:rPr>
              <a:t>ocamllex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以及</a:t>
            </a:r>
            <a:r>
              <a:rPr lang="en-US" altLang="zh-CN" sz="1500" b="1" spc="150" err="1">
                <a:latin typeface="Cambria" panose="02040503050406030204" charset="0"/>
                <a:ea typeface="汉仪中黑 197" panose="00020600040101010101" charset="-122"/>
              </a:rPr>
              <a:t>ocamlyacc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。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思考：按照这样的语法分析规则，能否保证四则运算的优先级关系？运算的结合性又是左结合还是右结合？为什么？可以写几个用例测试一下。</a:t>
            </a:r>
            <a:endParaRPr lang="zh-CN" altLang="en-US" sz="1500" b="1" spc="150" dirty="0"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51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44850" y="2983230"/>
            <a:ext cx="1659890" cy="110680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6600" b="1" spc="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244850" y="2712085"/>
            <a:ext cx="1659890" cy="338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ctr"/>
            <a:r>
              <a:rPr lang="en-US" altLang="zh-CN" b="1" spc="20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PART THREE</a:t>
            </a:r>
            <a:endParaRPr lang="en-US" altLang="zh-CN" b="1" spc="200"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3390900" y="4088765"/>
            <a:ext cx="136779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0" name="Title 2"/>
          <p:cNvSpPr>
            <a:spLocks noGrp="1"/>
          </p:cNvSpPr>
          <p:nvPr>
            <p:ph type="ctrTitle" idx="14"/>
            <p:custDataLst>
              <p:tags r:id="rId5"/>
            </p:custDataLst>
          </p:nvPr>
        </p:nvSpPr>
        <p:spPr>
          <a:xfrm>
            <a:off x="5084446" y="3050540"/>
            <a:ext cx="5767705" cy="83566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dist"/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递归下降语法分析</a:t>
            </a:r>
            <a:endParaRPr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99-7A63-352B-1D77-B3240757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AA5A825-046B-AFA1-5311-994068F88464}"/>
              </a:ext>
            </a:extLst>
          </p:cNvPr>
          <p:cNvSpPr txBox="1"/>
          <p:nvPr/>
        </p:nvSpPr>
        <p:spPr>
          <a:xfrm>
            <a:off x="951062" y="1223844"/>
            <a:ext cx="9253987" cy="1155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递归下降分析法是一种自顶向下的分析方法，文法的每个非终结符对应一个递归过程（函数）。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分析过程就是从文法开始符触发执行一组递归过程（函数），这样向下推到直到推出句子；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或者说从根节点出发，自顶向下为输入串寻找一个</a:t>
            </a:r>
            <a:r>
              <a:rPr lang="zh-CN" altLang="en-US" sz="1500" b="1" spc="150" noProof="1">
                <a:solidFill>
                  <a:schemeClr val="accent1"/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最左匹配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序列，建立一颗语法树。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5F0927B-842D-5A55-1668-FAE2084D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81" y="37481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介绍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86558E-46B4-5E08-E9F9-9BDFB74693A2}"/>
              </a:ext>
            </a:extLst>
          </p:cNvPr>
          <p:cNvSpPr txBox="1"/>
          <p:nvPr/>
        </p:nvSpPr>
        <p:spPr>
          <a:xfrm>
            <a:off x="1763426" y="2958755"/>
            <a:ext cx="1876917" cy="11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示例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1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E-&gt;E+i | i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412713-742E-99DC-B360-5A4F21A7C522}"/>
              </a:ext>
            </a:extLst>
          </p:cNvPr>
          <p:cNvSpPr txBox="1"/>
          <p:nvPr/>
        </p:nvSpPr>
        <p:spPr>
          <a:xfrm>
            <a:off x="4479673" y="3538917"/>
            <a:ext cx="5817439" cy="62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当分析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E-&gt;E+i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产生式时，由于进行最左匹配，将在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parseE()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的过程中无限递归。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E05CB-BB4A-127F-FC99-6AED9A53F15E}"/>
              </a:ext>
            </a:extLst>
          </p:cNvPr>
          <p:cNvSpPr txBox="1"/>
          <p:nvPr/>
        </p:nvSpPr>
        <p:spPr>
          <a:xfrm>
            <a:off x="1694417" y="4518349"/>
            <a:ext cx="1876917" cy="196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示例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E-&gt;aB | aC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B-&gt;b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C-&gt;c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4E2928-93FF-BF89-68BD-0E3C901D0B84}"/>
              </a:ext>
            </a:extLst>
          </p:cNvPr>
          <p:cNvSpPr txBox="1"/>
          <p:nvPr/>
        </p:nvSpPr>
        <p:spPr>
          <a:xfrm>
            <a:off x="4387610" y="5322917"/>
            <a:ext cx="5817439" cy="62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当分析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E-&gt;aB | aC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产生式时，使用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进行最左匹配时有两个匹配的产生式，出现岔路。</a:t>
            </a: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90550432-F9CB-1404-48F2-6861B7D3496B}"/>
              </a:ext>
            </a:extLst>
          </p:cNvPr>
          <p:cNvSpPr txBox="1">
            <a:spLocks/>
          </p:cNvSpPr>
          <p:nvPr/>
        </p:nvSpPr>
        <p:spPr>
          <a:xfrm>
            <a:off x="523281" y="2565881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 fontScale="97500" lnSpcReduction="1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限制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314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B1181497-78D4-D8A8-27DA-4D2049ED995C}"/>
              </a:ext>
            </a:extLst>
          </p:cNvPr>
          <p:cNvSpPr txBox="1"/>
          <p:nvPr/>
        </p:nvSpPr>
        <p:spPr>
          <a:xfrm>
            <a:off x="1217960" y="1302287"/>
            <a:ext cx="8925416" cy="1176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为了实现确定的自顶向下分析，要求文法满足下述两个条件：</a:t>
            </a:r>
            <a:b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</a:b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1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 文法不含左递归，即不存在这样的非终结符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：有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A-&gt;A……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存在；</a:t>
            </a:r>
            <a:b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</a:b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） 无回溯，对文法的任一非终结符号，当其产生式右部有多个候选式可供选择时，各候选式所推出的终结符号串的首字符集合要两两不相交。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119D0C9-7788-2021-445F-2C4667D2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81" y="37481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文法限制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91F29E0-715A-FF90-7A0C-6A7CF22A4A2E}"/>
              </a:ext>
            </a:extLst>
          </p:cNvPr>
          <p:cNvSpPr txBox="1"/>
          <p:nvPr/>
        </p:nvSpPr>
        <p:spPr>
          <a:xfrm>
            <a:off x="2068228" y="3658002"/>
            <a:ext cx="1876917" cy="11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示例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1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E-&gt;E+i | i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7B1E86-4169-BC6F-C081-D821FFFF4DF7}"/>
              </a:ext>
            </a:extLst>
          </p:cNvPr>
          <p:cNvSpPr txBox="1"/>
          <p:nvPr/>
        </p:nvSpPr>
        <p:spPr>
          <a:xfrm>
            <a:off x="5752386" y="3658002"/>
            <a:ext cx="1876917" cy="196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示例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E-&gt;aB | aC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B-&gt;b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C-&gt;c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8C4327-2533-B64F-4611-824FE86AC351}"/>
              </a:ext>
            </a:extLst>
          </p:cNvPr>
          <p:cNvSpPr txBox="1"/>
          <p:nvPr/>
        </p:nvSpPr>
        <p:spPr>
          <a:xfrm>
            <a:off x="1278093" y="3083521"/>
            <a:ext cx="6096000" cy="34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因此以下文法不能进行递归下降分析：</a:t>
            </a:r>
          </a:p>
        </p:txBody>
      </p:sp>
    </p:spTree>
    <p:extLst>
      <p:ext uri="{BB962C8B-B14F-4D97-AF65-F5344CB8AC3E}">
        <p14:creationId xmlns:p14="http://schemas.microsoft.com/office/powerpoint/2010/main" val="47250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DACD4-892F-9DE4-0202-E5A2AE2A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递归下降分析过程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FE5A76-3F0F-AA5D-EBEF-DA508FB17F1B}"/>
              </a:ext>
            </a:extLst>
          </p:cNvPr>
          <p:cNvSpPr txBox="1"/>
          <p:nvPr/>
        </p:nvSpPr>
        <p:spPr>
          <a:xfrm>
            <a:off x="1087565" y="2246964"/>
            <a:ext cx="1876917" cy="1559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E-&gt;aA | bB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A-&gt;aB | b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B-&gt;bA | a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2F93C485-9690-F191-846C-41E79FA46A60}"/>
              </a:ext>
            </a:extLst>
          </p:cNvPr>
          <p:cNvSpPr/>
          <p:nvPr/>
        </p:nvSpPr>
        <p:spPr>
          <a:xfrm>
            <a:off x="2323505" y="3116407"/>
            <a:ext cx="1281953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8380AE-4687-5CC8-7B2D-06A0E34C5BCA}"/>
              </a:ext>
            </a:extLst>
          </p:cNvPr>
          <p:cNvSpPr txBox="1"/>
          <p:nvPr/>
        </p:nvSpPr>
        <p:spPr>
          <a:xfrm>
            <a:off x="3705717" y="2539229"/>
            <a:ext cx="1281953" cy="11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parseE()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parseA()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parseB()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3B61F7-0585-4EED-DADD-E815F6A41C06}"/>
              </a:ext>
            </a:extLst>
          </p:cNvPr>
          <p:cNvSpPr txBox="1"/>
          <p:nvPr/>
        </p:nvSpPr>
        <p:spPr>
          <a:xfrm>
            <a:off x="964605" y="1040396"/>
            <a:ext cx="9253987" cy="7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为每一个非终结符设计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parse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函数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根据下一个终结符选择下一个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parse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13C1DE-BFD8-8E5F-684F-C7578407D248}"/>
              </a:ext>
            </a:extLst>
          </p:cNvPr>
          <p:cNvSpPr txBox="1"/>
          <p:nvPr/>
        </p:nvSpPr>
        <p:spPr>
          <a:xfrm>
            <a:off x="7498492" y="1467949"/>
            <a:ext cx="17032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输入：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aabb</a:t>
            </a:r>
            <a:endParaRPr lang="zh-CN" altLang="en-US" sz="1500" b="1" spc="15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66B0D-3FD8-2A43-5801-ECAA50C8EF8C}"/>
              </a:ext>
            </a:extLst>
          </p:cNvPr>
          <p:cNvSpPr/>
          <p:nvPr/>
        </p:nvSpPr>
        <p:spPr>
          <a:xfrm>
            <a:off x="7113010" y="2421593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parseE()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0E65BE-31E4-849E-3D9B-6DCF974CF71C}"/>
              </a:ext>
            </a:extLst>
          </p:cNvPr>
          <p:cNvSpPr/>
          <p:nvPr/>
        </p:nvSpPr>
        <p:spPr>
          <a:xfrm>
            <a:off x="6570560" y="2982829"/>
            <a:ext cx="2232212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a-&gt;parseA()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4D890-B211-5BEC-7214-93679E877655}"/>
              </a:ext>
            </a:extLst>
          </p:cNvPr>
          <p:cNvSpPr/>
          <p:nvPr/>
        </p:nvSpPr>
        <p:spPr>
          <a:xfrm>
            <a:off x="6570560" y="3560007"/>
            <a:ext cx="2232212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a-&gt;parseB()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2693E3-4586-3E37-F824-255C2FE22C5B}"/>
              </a:ext>
            </a:extLst>
          </p:cNvPr>
          <p:cNvSpPr txBox="1"/>
          <p:nvPr/>
        </p:nvSpPr>
        <p:spPr>
          <a:xfrm>
            <a:off x="7113010" y="2025499"/>
            <a:ext cx="12819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分析过程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57303D-70E4-F4CD-3761-BCA2CB2AB809}"/>
              </a:ext>
            </a:extLst>
          </p:cNvPr>
          <p:cNvSpPr txBox="1"/>
          <p:nvPr/>
        </p:nvSpPr>
        <p:spPr>
          <a:xfrm>
            <a:off x="9363152" y="1954970"/>
            <a:ext cx="12819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接受字符串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05DD4D-A16B-8CA1-E82B-121EE8BF5491}"/>
              </a:ext>
            </a:extLst>
          </p:cNvPr>
          <p:cNvSpPr/>
          <p:nvPr/>
        </p:nvSpPr>
        <p:spPr>
          <a:xfrm>
            <a:off x="9386586" y="2964314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C253CB-A99A-80F5-173D-F6AB2EBD7C6D}"/>
              </a:ext>
            </a:extLst>
          </p:cNvPr>
          <p:cNvSpPr/>
          <p:nvPr/>
        </p:nvSpPr>
        <p:spPr>
          <a:xfrm>
            <a:off x="9386585" y="3524556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aa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606BCF-DCF0-B3DA-7CD2-05F051BA5C4B}"/>
              </a:ext>
            </a:extLst>
          </p:cNvPr>
          <p:cNvSpPr/>
          <p:nvPr/>
        </p:nvSpPr>
        <p:spPr>
          <a:xfrm>
            <a:off x="6570560" y="4137185"/>
            <a:ext cx="2232212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b-&gt;parseA()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1BC91C-9075-58A8-228E-5CD6D0A6064A}"/>
              </a:ext>
            </a:extLst>
          </p:cNvPr>
          <p:cNvSpPr/>
          <p:nvPr/>
        </p:nvSpPr>
        <p:spPr>
          <a:xfrm>
            <a:off x="6570560" y="4648299"/>
            <a:ext cx="2232212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b-&gt;return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B1C8FF-8B50-EB61-62CE-80C0F08E715C}"/>
              </a:ext>
            </a:extLst>
          </p:cNvPr>
          <p:cNvSpPr/>
          <p:nvPr/>
        </p:nvSpPr>
        <p:spPr>
          <a:xfrm>
            <a:off x="9386584" y="4137185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aab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A1D2C2-6E0B-8114-9A24-D3683DE5A0E8}"/>
              </a:ext>
            </a:extLst>
          </p:cNvPr>
          <p:cNvSpPr/>
          <p:nvPr/>
        </p:nvSpPr>
        <p:spPr>
          <a:xfrm>
            <a:off x="9386583" y="4642056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spc="15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aabb</a:t>
            </a:r>
            <a:endParaRPr lang="zh-CN" altLang="en-US" sz="1500" b="1" spc="15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3CF9FB-8D6F-6473-31AD-0D649B3AEA93}"/>
              </a:ext>
            </a:extLst>
          </p:cNvPr>
          <p:cNvSpPr txBox="1"/>
          <p:nvPr/>
        </p:nvSpPr>
        <p:spPr>
          <a:xfrm>
            <a:off x="1087565" y="3912748"/>
            <a:ext cx="2540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parseA</a:t>
            </a:r>
            <a:r>
              <a:rPr lang="zh-CN" altLang="en-US" sz="18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示例实现：</a:t>
            </a:r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DD6CCED-CE90-6FCB-C981-1759E99E7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17" y="4282080"/>
            <a:ext cx="5058481" cy="1705213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87B3E351-6291-A0F0-5A5D-CE9E387778B3}"/>
              </a:ext>
            </a:extLst>
          </p:cNvPr>
          <p:cNvSpPr txBox="1"/>
          <p:nvPr/>
        </p:nvSpPr>
        <p:spPr>
          <a:xfrm>
            <a:off x="357704" y="6189828"/>
            <a:ext cx="80982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*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通过使用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and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关键字，我们可以在同一个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let rec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声明中定义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parseE, parseA,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和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parseB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这三个函数，使得它们可以互相调用而不会出现未定义的引用问题。</a:t>
            </a:r>
          </a:p>
        </p:txBody>
      </p:sp>
    </p:spTree>
    <p:extLst>
      <p:ext uri="{BB962C8B-B14F-4D97-AF65-F5344CB8AC3E}">
        <p14:creationId xmlns:p14="http://schemas.microsoft.com/office/powerpoint/2010/main" val="392689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736DE25-7267-A943-E547-67B2634E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练习</a:t>
            </a:r>
            <a:r>
              <a:rPr lang="en-US" altLang="zh-CN">
                <a:latin typeface="Cambria" panose="02040503050406030204" charset="0"/>
                <a:ea typeface="汉仪中黑 197" panose="00020600040101010101" charset="-122"/>
              </a:rPr>
              <a:t> 2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282D28-6F7E-72D4-2DAF-3B874588CB39}"/>
              </a:ext>
            </a:extLst>
          </p:cNvPr>
          <p:cNvSpPr txBox="1"/>
          <p:nvPr/>
        </p:nvSpPr>
        <p:spPr>
          <a:xfrm>
            <a:off x="1419258" y="4029814"/>
            <a:ext cx="1876917" cy="1576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G[E]: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E-&gt;aAB | bB 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A-&gt;aB | b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B-&gt;bA | </a:t>
            </a:r>
            <a:r>
              <a:rPr lang="en-US" altLang="zh-CN" sz="1600" b="1" spc="150">
                <a:solidFill>
                  <a:srgbClr val="474747"/>
                </a:solidFill>
                <a:latin typeface="Arial" panose="020B0604020202020204" pitchFamily="34" charset="0"/>
                <a:ea typeface="汉仪中黑 197" panose="00020600040101010101" charset="-122"/>
              </a:rPr>
              <a:t>a</a:t>
            </a:r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D11283-B489-DFF5-746E-45E23387E3C6}"/>
              </a:ext>
            </a:extLst>
          </p:cNvPr>
          <p:cNvSpPr txBox="1"/>
          <p:nvPr/>
        </p:nvSpPr>
        <p:spPr>
          <a:xfrm>
            <a:off x="580282" y="1398718"/>
            <a:ext cx="9478117" cy="2021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为下面的简单文法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G[E]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（相比上一页稍有修改）实现递归下降语法分析，实现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parseE, parseA, parseB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方法，检验一个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char list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是否合法。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endParaRPr lang="en-US" altLang="zh-CN" dirty="0"/>
          </a:p>
          <a:p>
            <a:r>
              <a:rPr lang="zh-CN" altLang="en-US" b="1"/>
              <a:t>注意：</a:t>
            </a:r>
            <a:endParaRPr lang="en-US" altLang="zh-CN" b="1"/>
          </a:p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1.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你不需要设计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AST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数据结构进行存储，只需要判断一个字符串是否可以由该文法产生，输出“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Success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”或“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Failed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”。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2.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如何处理</a:t>
            </a:r>
            <a:r>
              <a:rPr lang="en-US" altLang="zh-CN" sz="1500" b="1" spc="150">
                <a:latin typeface="Cambria" panose="02040503050406030204" charset="0"/>
                <a:ea typeface="汉仪中黑 197" panose="00020600040101010101" charset="-122"/>
              </a:rPr>
              <a:t>E-&gt;aAB </a:t>
            </a: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产生式？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59BCE2-E9BA-764D-4F36-FAABAC88EDEF}"/>
              </a:ext>
            </a:extLst>
          </p:cNvPr>
          <p:cNvSpPr txBox="1"/>
          <p:nvPr/>
        </p:nvSpPr>
        <p:spPr>
          <a:xfrm>
            <a:off x="580283" y="4038779"/>
            <a:ext cx="99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文法：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9693C4-1D6F-4E2A-F324-5B2C1BE381D0}"/>
              </a:ext>
            </a:extLst>
          </p:cNvPr>
          <p:cNvSpPr txBox="1"/>
          <p:nvPr/>
        </p:nvSpPr>
        <p:spPr>
          <a:xfrm>
            <a:off x="4601111" y="4038779"/>
            <a:ext cx="278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示例输入（</a:t>
            </a:r>
            <a:r>
              <a:rPr lang="en-US" altLang="zh-CN"/>
              <a:t>char</a:t>
            </a:r>
            <a:r>
              <a:rPr lang="zh-CN" altLang="en-US"/>
              <a:t> </a:t>
            </a:r>
            <a:r>
              <a:rPr lang="en-US" altLang="zh-CN"/>
              <a:t>list</a:t>
            </a:r>
            <a:r>
              <a:rPr lang="zh-CN" altLang="en-US"/>
              <a:t>）：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12A0869-938D-FF64-B960-D962584F4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37" y="4560767"/>
            <a:ext cx="4229690" cy="51442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6FDCD5E-017F-C0F7-5370-A2F50D9D8C0C}"/>
              </a:ext>
            </a:extLst>
          </p:cNvPr>
          <p:cNvSpPr txBox="1"/>
          <p:nvPr/>
        </p:nvSpPr>
        <p:spPr>
          <a:xfrm>
            <a:off x="4601111" y="5293909"/>
            <a:ext cx="278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预期：</a:t>
            </a:r>
            <a:r>
              <a:rPr lang="en-US" altLang="zh-CN"/>
              <a:t>Success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21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D9DA6-70E3-6619-BC8C-261BAA3F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2DDA06D-E137-0734-5EEF-AE2AB286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81" y="374818"/>
            <a:ext cx="10852237" cy="441964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atin typeface="Cambria" panose="02040503050406030204" charset="0"/>
                <a:ea typeface="汉仪中黑 197" panose="00020600040101010101" charset="-122"/>
              </a:rPr>
              <a:t>练习 </a:t>
            </a:r>
            <a:r>
              <a:rPr lang="en-US" altLang="zh-CN">
                <a:latin typeface="Cambria" panose="02040503050406030204" charset="0"/>
                <a:ea typeface="汉仪中黑 197" panose="00020600040101010101" charset="-122"/>
              </a:rPr>
              <a:t>3</a:t>
            </a:r>
            <a:endParaRPr lang="zh-CN" altLang="en-US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670D9A-91A6-B5E4-AAB1-F1D96B89DCA4}"/>
              </a:ext>
            </a:extLst>
          </p:cNvPr>
          <p:cNvSpPr txBox="1"/>
          <p:nvPr/>
        </p:nvSpPr>
        <p:spPr>
          <a:xfrm>
            <a:off x="977815" y="1126797"/>
            <a:ext cx="8925416" cy="1561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下面是一个简单的函数式语言的语法，请你任选两种语法分析方法之一：</a:t>
            </a:r>
            <a:endParaRPr lang="en-US" altLang="zh-CN" sz="1500" b="1" spc="150">
              <a:latin typeface="Cambria" panose="02040503050406030204" charset="0"/>
              <a:ea typeface="汉仪中黑 197" panose="00020600040101010101" charset="-122"/>
            </a:endParaRPr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ocamllex + ocamlyacc</a:t>
            </a:r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递归下降语法分析</a:t>
            </a:r>
            <a:endParaRPr lang="en-US" altLang="zh-CN" sz="1500" b="1" spc="150" noProof="1">
              <a:latin typeface="Cambria" panose="02040503050406030204" charset="0"/>
              <a:ea typeface="汉仪中黑 197" panose="00020600040101010101" charset="-122"/>
              <a:sym typeface="+mn-ea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实现一个词法和语法分析器，能够为该语法的任一合法句子生成所对应的抽象语法树</a:t>
            </a:r>
            <a:r>
              <a:rPr lang="en-US" altLang="zh-CN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AST</a:t>
            </a:r>
            <a:r>
              <a:rPr lang="zh-CN" altLang="en-US" sz="1500" b="1" spc="150" noProof="1">
                <a:latin typeface="Cambria" panose="02040503050406030204" charset="0"/>
                <a:ea typeface="汉仪中黑 197" panose="00020600040101010101" charset="-122"/>
                <a:sym typeface="+mn-ea"/>
              </a:rPr>
              <a:t>。</a:t>
            </a:r>
            <a:endParaRPr lang="zh-CN" altLang="en-US" sz="1500" b="1" spc="150">
              <a:latin typeface="Cambria" panose="02040503050406030204" charset="0"/>
              <a:ea typeface="汉仪中黑 197" panose="00020600040101010101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FDFCCC-656F-3898-A9FB-C4ED744E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261" y="3079242"/>
            <a:ext cx="6544523" cy="218152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1BC9BFF-4D68-1AD9-D1C5-2A3CE6F1DD69}"/>
              </a:ext>
            </a:extLst>
          </p:cNvPr>
          <p:cNvSpPr txBox="1"/>
          <p:nvPr/>
        </p:nvSpPr>
        <p:spPr>
          <a:xfrm>
            <a:off x="977815" y="5793580"/>
            <a:ext cx="8134893" cy="7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参考代码：https://www.cis.upenn.edu/~bcpierce/tapl/checkers/arith/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zh-CN" altLang="en-US" sz="1500" b="1" spc="150">
                <a:latin typeface="Cambria" panose="02040503050406030204" charset="0"/>
                <a:ea typeface="汉仪中黑 197" panose="00020600040101010101" charset="-122"/>
              </a:rPr>
              <a:t>参考书籍：《Types and Programming Languages》</a:t>
            </a:r>
          </a:p>
        </p:txBody>
      </p:sp>
    </p:spTree>
    <p:extLst>
      <p:ext uri="{BB962C8B-B14F-4D97-AF65-F5344CB8AC3E}">
        <p14:creationId xmlns:p14="http://schemas.microsoft.com/office/powerpoint/2010/main" val="42922540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3M2Y5NzIzMDFlZjAyY2Q4Njk5ODkyYjFjNzBiNTQifQ=="/>
  <p:tag name="FULLTEXTBEAUTIFY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204420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17、18、20、23、26、31、3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title"/>
  <p:tag name="KSO_WM_BEAUTIFY_FLAG" val="#wm#"/>
  <p:tag name="KSO_WM_COMBINE_RELATE_SLIDE_ID" val="background20180946_1"/>
  <p:tag name="KSO_WM_TEMPLATE_CATEGORY" val="custom"/>
  <p:tag name="KSO_WM_TEMPLATE_INDEX" val="20204420"/>
  <p:tag name="KSO_WM_SLIDE_ID" val="custom20204420_1"/>
  <p:tag name="KSO_WM_SLIDE_INDEX" val="1"/>
  <p:tag name="KSO_WM_TEMPLATE_SUBCATEGORY" val="0"/>
  <p:tag name="KSO_WM_TEMPLATE_THUMBS_INDEX" val="1、4、7、9、12、16、17、19、22、25、29、32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SUBTYPE" val="pureTxt"/>
  <p:tag name="KSO_WM_TEMPLATE_MASTER_TYPE" val="1"/>
  <p:tag name="KSO_WM_TEMPLATE_COLOR_TYPE" val="1"/>
  <p:tag name="KSO_WM_TEMPLATE_MASTER_THUMB_INDEX" val="1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1.0"/>
  <p:tag name="KSO_WM_BEAUTIFY_FLAG" val="#wm#"/>
  <p:tag name="KSO_WM_UNIT_PRESET_TEXT" val="个人工作汇报"/>
  <p:tag name="KSO_WM_TEMPLATE_CATEGORY" val="custom"/>
  <p:tag name="KSO_WM_TEMPLATE_INDEX" val="20204420"/>
  <p:tag name="KSO_WM_UNIT_ID" val="custom20204420_1*a*1"/>
  <p:tag name="KSO_WM_UNIT_TEXT_FILL_FORE_SCHEMECOLOR_INDEX_BRIGHTNESS" val="0.15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LAYERLEVEL" val="1"/>
  <p:tag name="KSO_WM_TAG_VERSION" val="1.0"/>
  <p:tag name="KSO_WM_BEAUTIFY_FLAG" val="#wm#"/>
  <p:tag name="KSO_WM_UNIT_PRESET_TEXT" val="单击此处添加副标题内容"/>
  <p:tag name="KSO_WM_TEMPLATE_CATEGORY" val="custom"/>
  <p:tag name="KSO_WM_TEMPLATE_INDEX" val="20204420"/>
  <p:tag name="KSO_WM_UNIT_ID" val="custom20204420_1*b*1"/>
  <p:tag name="KSO_WM_UNIT_TEXT_FILL_FORE_SCHEMECOLOR_INDEX_BRIGHTNESS" val="0.35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0"/>
  <p:tag name="KSO_WM_SLIDE_LAYOUT" val="a_b_e"/>
  <p:tag name="KSO_WM_SLIDE_LAYOUT_CNT" val="1_1_1"/>
  <p:tag name="KSO_WM_SLIDE_TYPE" val="sectionTitle"/>
  <p:tag name="KSO_WM_BEAUTIFY_FLAG" val="#wm#"/>
  <p:tag name="KSO_WM_COMBINE_RELATE_SLIDE_ID" val="background20180946_6"/>
  <p:tag name="KSO_WM_TEMPLATE_CATEGORY" val="custom"/>
  <p:tag name="KSO_WM_TEMPLATE_INDEX" val="20204420"/>
  <p:tag name="KSO_WM_SLIDE_ID" val="custom20204420_7"/>
  <p:tag name="KSO_WM_SLIDE_INDEX" val="7"/>
  <p:tag name="KSO_WM_TEMPLATE_SUBCATEGORY" val="0"/>
  <p:tag name="KSO_WM_SLIDE_SUBTYPE" val="pureTxt"/>
  <p:tag name="KSO_WM_TEMPLATE_MASTER_TYPE" val="1"/>
  <p:tag name="KSO_WM_TEMPLATE_COLOR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420"/>
  <p:tag name="KSO_WM_UNIT_ID" val="custom20204420_7*e*1"/>
  <p:tag name="KSO_WM_UNIT_TEXT_FILL_FORE_SCHEMECOLOR_INDEX_BRIGHTNESS" val="0"/>
  <p:tag name="KSO_WM_UNIT_TEXT_FILL_FORE_SCHEMECOLOR_INDEX" val="5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SHOW_EDIT_AREA_INDICATION" val="0"/>
  <p:tag name="KSO_WM_UNIT_TYPE" val="i"/>
  <p:tag name="KSO_WM_UNIT_INDEX" val="1"/>
  <p:tag name="KSO_WM_TEMPLATE_CATEGORY" val="custom"/>
  <p:tag name="KSO_WM_TEMPLATE_INDEX" val="20204420"/>
  <p:tag name="KSO_WM_UNIT_ID" val="custom20204420_7*i*1"/>
  <p:tag name="KSO_WM_UNIT_TEXT_FILL_FORE_SCHEMECOLOR_INDEX_BRIGHTNESS" val="0"/>
  <p:tag name="KSO_WM_UNIT_TEXT_FILL_FORE_SCHEMECOLOR_INDEX" val="5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i"/>
  <p:tag name="KSO_WM_UNIT_INDEX" val="2"/>
  <p:tag name="KSO_WM_TEMPLATE_CATEGORY" val="custom"/>
  <p:tag name="KSO_WM_TEMPLATE_INDEX" val="20204420"/>
  <p:tag name="KSO_WM_UNIT_ID" val="custom20204420_7*i*2"/>
  <p:tag name="KSO_WM_UNIT_LINE_FORE_SCHEMECOLOR_INDEX_BRIGHTNESS" val="0"/>
  <p:tag name="KSO_WM_UNIT_LINE_FORE_SCHEMECOLOR_INDEX" val="5"/>
  <p:tag name="KSO_WM_UNIT_LINE_FILL_TYPE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添加大标题"/>
  <p:tag name="KSO_WM_TEMPLATE_CATEGORY" val="custom"/>
  <p:tag name="KSO_WM_TEMPLATE_INDEX" val="20204420"/>
  <p:tag name="KSO_WM_UNIT_ID" val="custom20204420_7*a*1"/>
  <p:tag name="KSO_WM_UNIT_TEXT_FILL_FORE_SCHEMECOLOR_INDEX_BRIGHTNESS" val="0.15"/>
  <p:tag name="KSO_WM_UNIT_TEXT_FILL_FORE_SCHEMECOLOR_INDEX" val="13"/>
  <p:tag name="KSO_WM_UNIT_TEXT_FILL_TYPE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0"/>
  <p:tag name="KSO_WM_SLIDE_LAYOUT" val="a_b_e"/>
  <p:tag name="KSO_WM_SLIDE_LAYOUT_CNT" val="1_1_1"/>
  <p:tag name="KSO_WM_SLIDE_TYPE" val="sectionTitle"/>
  <p:tag name="KSO_WM_BEAUTIFY_FLAG" val="#wm#"/>
  <p:tag name="KSO_WM_COMBINE_RELATE_SLIDE_ID" val="background20180946_6"/>
  <p:tag name="KSO_WM_TEMPLATE_CATEGORY" val="custom"/>
  <p:tag name="KSO_WM_TEMPLATE_INDEX" val="20204420"/>
  <p:tag name="KSO_WM_SLIDE_ID" val="custom20204420_7"/>
  <p:tag name="KSO_WM_SLIDE_INDEX" val="7"/>
  <p:tag name="KSO_WM_TEMPLATE_SUBCATEGORY" val="0"/>
  <p:tag name="KSO_WM_SLIDE_SUBTYPE" val="pureTxt"/>
  <p:tag name="KSO_WM_TEMPLATE_MASTER_TYPE" val="1"/>
  <p:tag name="KSO_WM_TEMPLATE_COLOR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420"/>
  <p:tag name="KSO_WM_UNIT_ID" val="custom20204420_7*e*1"/>
  <p:tag name="KSO_WM_UNIT_TEXT_FILL_FORE_SCHEMECOLOR_INDEX_BRIGHTNESS" val="0"/>
  <p:tag name="KSO_WM_UNIT_TEXT_FILL_FORE_SCHEMECOLOR_INDEX" val="5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SHOW_EDIT_AREA_INDICATION" val="0"/>
  <p:tag name="KSO_WM_UNIT_TYPE" val="i"/>
  <p:tag name="KSO_WM_UNIT_INDEX" val="1"/>
  <p:tag name="KSO_WM_TEMPLATE_CATEGORY" val="custom"/>
  <p:tag name="KSO_WM_TEMPLATE_INDEX" val="20204420"/>
  <p:tag name="KSO_WM_UNIT_ID" val="custom20204420_7*i*1"/>
  <p:tag name="KSO_WM_UNIT_TEXT_FILL_FORE_SCHEMECOLOR_INDEX_BRIGHTNESS" val="0"/>
  <p:tag name="KSO_WM_UNIT_TEXT_FILL_FORE_SCHEMECOLOR_INDEX" val="5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i"/>
  <p:tag name="KSO_WM_UNIT_INDEX" val="2"/>
  <p:tag name="KSO_WM_TEMPLATE_CATEGORY" val="custom"/>
  <p:tag name="KSO_WM_TEMPLATE_INDEX" val="20204420"/>
  <p:tag name="KSO_WM_UNIT_ID" val="custom20204420_7*i*2"/>
  <p:tag name="KSO_WM_UNIT_LINE_FORE_SCHEMECOLOR_INDEX_BRIGHTNESS" val="0"/>
  <p:tag name="KSO_WM_UNIT_LINE_FORE_SCHEMECOLOR_INDEX" val="5"/>
  <p:tag name="KSO_WM_UNIT_LINE_FILL_TYPE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添加大标题"/>
  <p:tag name="KSO_WM_TEMPLATE_CATEGORY" val="custom"/>
  <p:tag name="KSO_WM_TEMPLATE_INDEX" val="20204420"/>
  <p:tag name="KSO_WM_UNIT_ID" val="custom20204420_7*a*1"/>
  <p:tag name="KSO_WM_UNIT_TEXT_FILL_FORE_SCHEMECOLOR_INDEX_BRIGHTNESS" val="0.15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0"/>
  <p:tag name="KSO_WM_SLIDE_LAYOUT" val="a_b_e"/>
  <p:tag name="KSO_WM_SLIDE_LAYOUT_CNT" val="1_1_1"/>
  <p:tag name="KSO_WM_SLIDE_TYPE" val="sectionTitle"/>
  <p:tag name="KSO_WM_BEAUTIFY_FLAG" val="#wm#"/>
  <p:tag name="KSO_WM_COMBINE_RELATE_SLIDE_ID" val="background20180946_6"/>
  <p:tag name="KSO_WM_TEMPLATE_CATEGORY" val="custom"/>
  <p:tag name="KSO_WM_TEMPLATE_INDEX" val="20204420"/>
  <p:tag name="KSO_WM_SLIDE_ID" val="custom20204420_7"/>
  <p:tag name="KSO_WM_SLIDE_INDEX" val="7"/>
  <p:tag name="KSO_WM_TEMPLATE_SUBCATEGORY" val="0"/>
  <p:tag name="KSO_WM_SLIDE_SUBTYPE" val="pureTxt"/>
  <p:tag name="KSO_WM_TEMPLATE_MASTER_TYPE" val="1"/>
  <p:tag name="KSO_WM_TEMPLATE_COLOR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420"/>
  <p:tag name="KSO_WM_UNIT_ID" val="custom20204420_7*e*1"/>
  <p:tag name="KSO_WM_UNIT_TEXT_FILL_FORE_SCHEMECOLOR_INDEX_BRIGHTNESS" val="0"/>
  <p:tag name="KSO_WM_UNIT_TEXT_FILL_FORE_SCHEMECOLOR_INDEX" val="5"/>
  <p:tag name="KSO_WM_UNIT_TEXT_FILL_TYPE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SHOW_EDIT_AREA_INDICATION" val="0"/>
  <p:tag name="KSO_WM_UNIT_TYPE" val="i"/>
  <p:tag name="KSO_WM_UNIT_INDEX" val="1"/>
  <p:tag name="KSO_WM_TEMPLATE_CATEGORY" val="custom"/>
  <p:tag name="KSO_WM_TEMPLATE_INDEX" val="20204420"/>
  <p:tag name="KSO_WM_UNIT_ID" val="custom20204420_7*i*1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i"/>
  <p:tag name="KSO_WM_UNIT_INDEX" val="2"/>
  <p:tag name="KSO_WM_TEMPLATE_CATEGORY" val="custom"/>
  <p:tag name="KSO_WM_TEMPLATE_INDEX" val="20204420"/>
  <p:tag name="KSO_WM_UNIT_ID" val="custom20204420_7*i*2"/>
  <p:tag name="KSO_WM_UNIT_LINE_FORE_SCHEMECOLOR_INDEX_BRIGHTNESS" val="0"/>
  <p:tag name="KSO_WM_UNIT_LINE_FORE_SCHEMECOLOR_INDEX" val="5"/>
  <p:tag name="KSO_WM_UNIT_LINE_FILL_TYP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添加大标题"/>
  <p:tag name="KSO_WM_TEMPLATE_CATEGORY" val="custom"/>
  <p:tag name="KSO_WM_TEMPLATE_INDEX" val="20204420"/>
  <p:tag name="KSO_WM_UNIT_ID" val="custom20204420_7*a*1"/>
  <p:tag name="KSO_WM_UNIT_TEXT_FILL_FORE_SCHEMECOLOR_INDEX_BRIGHTNESS" val="0.15"/>
  <p:tag name="KSO_WM_UNIT_TEXT_FILL_FORE_SCHEMECOLOR_INDEX" val="13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0"/>
</p:tagLst>
</file>

<file path=ppt/theme/theme1.xml><?xml version="1.0" encoding="utf-8"?>
<a:theme xmlns:a="http://schemas.openxmlformats.org/drawingml/2006/main" name="4_Office 主题​​">
  <a:themeElements>
    <a:clrScheme name="自定义 3">
      <a:dk1>
        <a:srgbClr val="000000"/>
      </a:dk1>
      <a:lt1>
        <a:srgbClr val="FFFFFF"/>
      </a:lt1>
      <a:dk2>
        <a:srgbClr val="EFEBEA"/>
      </a:dk2>
      <a:lt2>
        <a:srgbClr val="FCFBFB"/>
      </a:lt2>
      <a:accent1>
        <a:srgbClr val="F44200"/>
      </a:accent1>
      <a:accent2>
        <a:srgbClr val="FF7947"/>
      </a:accent2>
      <a:accent3>
        <a:srgbClr val="6E6C35"/>
      </a:accent3>
      <a:accent4>
        <a:srgbClr val="567B43"/>
      </a:accent4>
      <a:accent5>
        <a:srgbClr val="42885B"/>
      </a:accent5>
      <a:accent6>
        <a:srgbClr val="34937E"/>
      </a:accent6>
      <a:hlink>
        <a:srgbClr val="0563C1"/>
      </a:hlink>
      <a:folHlink>
        <a:srgbClr val="954F72"/>
      </a:folHlink>
    </a:clrScheme>
    <a:fontScheme name="LaTeX">
      <a:majorFont>
        <a:latin typeface="Cambria"/>
        <a:ea typeface="汉仪中黑 197"/>
        <a:cs typeface=""/>
      </a:majorFont>
      <a:minorFont>
        <a:latin typeface="Cambria"/>
        <a:ea typeface="汉仪中黑 197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2140</Words>
  <Application>Microsoft Office PowerPoint</Application>
  <PresentationFormat>宽屏</PresentationFormat>
  <Paragraphs>244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微软雅黑</vt:lpstr>
      <vt:lpstr>Arial</vt:lpstr>
      <vt:lpstr>Cambria</vt:lpstr>
      <vt:lpstr>Consolas</vt:lpstr>
      <vt:lpstr>Fira Mono</vt:lpstr>
      <vt:lpstr>Roboto</vt:lpstr>
      <vt:lpstr>4_Office 主题​​</vt:lpstr>
      <vt:lpstr>Tutorial 4 Lexer and Parser</vt:lpstr>
      <vt:lpstr>使用dune构建项目</vt:lpstr>
      <vt:lpstr>Dune介绍</vt:lpstr>
      <vt:lpstr>文件示例</vt:lpstr>
      <vt:lpstr>Lexer and Parser</vt:lpstr>
      <vt:lpstr>Token and Abstract Tree(AST)</vt:lpstr>
      <vt:lpstr>ocamllex</vt:lpstr>
      <vt:lpstr>ocamllex示例</vt:lpstr>
      <vt:lpstr>ocamlyacc</vt:lpstr>
      <vt:lpstr>ocamlyacc示例</vt:lpstr>
      <vt:lpstr>练习 1</vt:lpstr>
      <vt:lpstr>递归下降语法分析</vt:lpstr>
      <vt:lpstr>介绍</vt:lpstr>
      <vt:lpstr>文法限制</vt:lpstr>
      <vt:lpstr>递归下降分析过程</vt:lpstr>
      <vt:lpstr>练习 2</vt:lpstr>
      <vt:lpstr>练习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4 Lexer and Parser</dc:title>
  <dc:creator>noveky ez</dc:creator>
  <cp:lastModifiedBy>曼琦 尤</cp:lastModifiedBy>
  <cp:revision>933</cp:revision>
  <dcterms:created xsi:type="dcterms:W3CDTF">2025-02-16T15:03:00Z</dcterms:created>
  <dcterms:modified xsi:type="dcterms:W3CDTF">2025-03-20T15:19:15Z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4BF6EFE64D60478BB3CD8203F35275CA_12</vt:lpwstr>
  </property>
  <property fmtid="{D5CDD505-2E9C-101B-9397-08002B2CF9AE}" pid="3" name="KSOProductBuildVer">
    <vt:lpwstr>2052-12.1.0.16388</vt:lpwstr>
  </property>
</Properties>
</file>