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heme/theme2.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1.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2.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notesSlides/notesSlide3.xml" ContentType="application/vnd.openxmlformats-officedocument.presentationml.notesSlide+xml"/>
  <Override PartName="/ppt/tags/tag153.xml" ContentType="application/vnd.openxmlformats-officedocument.presentationml.tags+xml"/>
  <Override PartName="/ppt/notesSlides/notesSlide4.xml" ContentType="application/vnd.openxmlformats-officedocument.presentationml.notesSlide+xml"/>
  <Override PartName="/ppt/tags/tag154.xml" ContentType="application/vnd.openxmlformats-officedocument.presentationml.tags+xml"/>
  <Override PartName="/ppt/notesSlides/notesSlide5.xml" ContentType="application/vnd.openxmlformats-officedocument.presentationml.notesSlide+xml"/>
  <Override PartName="/ppt/tags/tag155.xml" ContentType="application/vnd.openxmlformats-officedocument.presentationml.tags+xml"/>
  <Override PartName="/ppt/notesSlides/notesSlide6.xml" ContentType="application/vnd.openxmlformats-officedocument.presentationml.notesSlide+xml"/>
  <Override PartName="/ppt/tags/tag156.xml" ContentType="application/vnd.openxmlformats-officedocument.presentationml.tags+xml"/>
  <Override PartName="/ppt/notesSlides/notesSlide7.xml" ContentType="application/vnd.openxmlformats-officedocument.presentationml.notesSlide+xml"/>
  <Override PartName="/ppt/tags/tag157.xml" ContentType="application/vnd.openxmlformats-officedocument.presentationml.tags+xml"/>
  <Override PartName="/ppt/notesSlides/notesSlide8.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9.xml" ContentType="application/vnd.openxmlformats-officedocument.presentationml.notesSlide+xml"/>
  <Override PartName="/ppt/tags/tag164.xml" ContentType="application/vnd.openxmlformats-officedocument.presentationml.tags+xml"/>
  <Override PartName="/ppt/notesSlides/notesSlide10.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1.xml" ContentType="application/vnd.openxmlformats-officedocument.presentationml.notesSlide+xml"/>
  <Override PartName="/ppt/tags/tag170.xml" ContentType="application/vnd.openxmlformats-officedocument.presentationml.tags+xml"/>
  <Override PartName="/ppt/notesSlides/notesSlide12.xml" ContentType="application/vnd.openxmlformats-officedocument.presentationml.notesSlide+xml"/>
  <Override PartName="/ppt/tags/tag171.xml" ContentType="application/vnd.openxmlformats-officedocument.presentationml.tags+xml"/>
  <Override PartName="/ppt/notesSlides/notesSlide13.xml" ContentType="application/vnd.openxmlformats-officedocument.presentationml.notesSlide+xml"/>
  <Override PartName="/ppt/tags/tag172.xml" ContentType="application/vnd.openxmlformats-officedocument.presentationml.tags+xml"/>
  <Override PartName="/ppt/notesSlides/notesSlide14.xml" ContentType="application/vnd.openxmlformats-officedocument.presentationml.notesSlide+xml"/>
  <Override PartName="/ppt/tags/tag173.xml" ContentType="application/vnd.openxmlformats-officedocument.presentationml.tags+xml"/>
  <Override PartName="/ppt/notesSlides/notesSlide15.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6.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7"/>
  </p:notesMasterIdLst>
  <p:sldIdLst>
    <p:sldId id="266" r:id="rId2"/>
    <p:sldId id="268" r:id="rId3"/>
    <p:sldId id="285" r:id="rId4"/>
    <p:sldId id="284" r:id="rId5"/>
    <p:sldId id="281" r:id="rId6"/>
    <p:sldId id="286" r:id="rId7"/>
    <p:sldId id="287" r:id="rId8"/>
    <p:sldId id="300" r:id="rId9"/>
    <p:sldId id="303" r:id="rId10"/>
    <p:sldId id="302" r:id="rId11"/>
    <p:sldId id="276" r:id="rId12"/>
    <p:sldId id="290" r:id="rId13"/>
    <p:sldId id="291" r:id="rId14"/>
    <p:sldId id="277" r:id="rId15"/>
    <p:sldId id="293" r:id="rId16"/>
    <p:sldId id="297" r:id="rId17"/>
    <p:sldId id="294" r:id="rId18"/>
    <p:sldId id="296" r:id="rId19"/>
    <p:sldId id="292" r:id="rId20"/>
    <p:sldId id="289" r:id="rId21"/>
    <p:sldId id="305" r:id="rId22"/>
    <p:sldId id="304" r:id="rId23"/>
    <p:sldId id="306" r:id="rId24"/>
    <p:sldId id="307" r:id="rId25"/>
    <p:sldId id="308"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页" id="{39CECE6F-3A3C-4D42-9C08-10485A2AC975}">
          <p14:sldIdLst>
            <p14:sldId id="266"/>
          </p14:sldIdLst>
        </p14:section>
        <p14:section name="开发环境配置" id="{B5B6A22B-0C09-4F7B-B4E5-4AF29387F8AD}">
          <p14:sldIdLst>
            <p14:sldId id="268"/>
            <p14:sldId id="285"/>
            <p14:sldId id="284"/>
            <p14:sldId id="281"/>
            <p14:sldId id="286"/>
            <p14:sldId id="287"/>
            <p14:sldId id="300"/>
            <p14:sldId id="303"/>
            <p14:sldId id="302"/>
          </p14:sldIdLst>
        </p14:section>
        <p14:section name="Hello, OCaml!" id="{1BA3F198-0484-4DB3-9676-C3DC1A4F3F64}">
          <p14:sldIdLst>
            <p14:sldId id="276"/>
            <p14:sldId id="290"/>
            <p14:sldId id="291"/>
          </p14:sldIdLst>
        </p14:section>
        <p14:section name="OCaml 例程讲解" id="{E548CCFE-589D-418E-B58A-45F187A14813}">
          <p14:sldIdLst>
            <p14:sldId id="277"/>
            <p14:sldId id="293"/>
            <p14:sldId id="297"/>
            <p14:sldId id="294"/>
            <p14:sldId id="296"/>
          </p14:sldIdLst>
        </p14:section>
        <p14:section name="OCaml 编程练习" id="{6495530D-A7EE-4A75-8727-3DBB08BAEEAE}">
          <p14:sldIdLst>
            <p14:sldId id="292"/>
            <p14:sldId id="289"/>
          </p14:sldIdLst>
        </p14:section>
        <p14:section name="练习题参考解答" id="{95F0A3CB-56B5-4E55-B268-DBEC79E54F2C}">
          <p14:sldIdLst>
            <p14:sldId id="305"/>
            <p14:sldId id="304"/>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847" autoAdjust="0"/>
  </p:normalViewPr>
  <p:slideViewPr>
    <p:cSldViewPr snapToGrid="0">
      <p:cViewPr varScale="1">
        <p:scale>
          <a:sx n="97" d="100"/>
          <a:sy n="97" d="100"/>
        </p:scale>
        <p:origin x="2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A1C0B-CB41-4B0D-A882-EBD663799ACB}" type="datetimeFigureOut">
              <a:rPr lang="zh-CN" altLang="en-US" smtClean="0"/>
              <a:t>2025/2/23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F771C-A0E1-44EC-ACBA-32D3BB8FFF37}" type="slidenum">
              <a:rPr lang="zh-CN" altLang="en-US" smtClean="0"/>
              <a:t>‹#›</a:t>
            </a:fld>
            <a:endParaRPr lang="zh-CN" altLang="en-US"/>
          </a:p>
        </p:txBody>
      </p:sp>
    </p:spTree>
    <p:extLst>
      <p:ext uri="{BB962C8B-B14F-4D97-AF65-F5344CB8AC3E}">
        <p14:creationId xmlns:p14="http://schemas.microsoft.com/office/powerpoint/2010/main" val="968164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9F771C-A0E1-44EC-ACBA-32D3BB8FFF37}" type="slidenum">
              <a:rPr lang="zh-CN" altLang="en-US" smtClean="0"/>
              <a:t>1</a:t>
            </a:fld>
            <a:endParaRPr lang="zh-CN" altLang="en-US"/>
          </a:p>
        </p:txBody>
      </p:sp>
    </p:spTree>
    <p:extLst>
      <p:ext uri="{BB962C8B-B14F-4D97-AF65-F5344CB8AC3E}">
        <p14:creationId xmlns:p14="http://schemas.microsoft.com/office/powerpoint/2010/main" val="950995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9F771C-A0E1-44EC-ACBA-32D3BB8FFF37}" type="slidenum">
              <a:rPr lang="zh-CN" altLang="en-US" smtClean="0"/>
              <a:t>3</a:t>
            </a:fld>
            <a:endParaRPr lang="zh-CN" altLang="en-US"/>
          </a:p>
        </p:txBody>
      </p:sp>
    </p:spTree>
    <p:extLst>
      <p:ext uri="{BB962C8B-B14F-4D97-AF65-F5344CB8AC3E}">
        <p14:creationId xmlns:p14="http://schemas.microsoft.com/office/powerpoint/2010/main" val="4217158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dirty="0"/>
              <a:t>OCaml </a:t>
            </a:r>
            <a:r>
              <a:rPr lang="zh-CN" altLang="en-US" dirty="0"/>
              <a:t>安装教程：</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dirty="0"/>
              <a:t>Linux/macOS/*BSD</a:t>
            </a:r>
            <a:r>
              <a:rPr lang="zh-CN" altLang="en-US" dirty="0"/>
              <a:t>：</a:t>
            </a:r>
            <a:r>
              <a:rPr lang="en-US" altLang="zh-CN" b="0" dirty="0">
                <a:solidFill>
                  <a:srgbClr val="24292E"/>
                </a:solidFill>
                <a:effectLst/>
                <a:latin typeface="Cascadia Code" panose="020B0609020000020004" pitchFamily="49" charset="0"/>
              </a:rPr>
              <a:t>https://ocaml.org/install#linux_mac_bsd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0" dirty="0">
                <a:solidFill>
                  <a:srgbClr val="24292E"/>
                </a:solidFill>
                <a:effectLst/>
                <a:latin typeface="Cascadia Code" panose="020B0609020000020004" pitchFamily="49" charset="0"/>
              </a:rPr>
              <a:t>Windows</a:t>
            </a:r>
            <a:r>
              <a:rPr lang="zh-CN" altLang="en-US" b="0" dirty="0">
                <a:solidFill>
                  <a:srgbClr val="24292E"/>
                </a:solidFill>
                <a:effectLst/>
                <a:latin typeface="Cascadia Code" panose="020B0609020000020004" pitchFamily="49" charset="0"/>
              </a:rPr>
              <a:t>：</a:t>
            </a:r>
            <a:r>
              <a:rPr lang="en-US" altLang="zh-CN" b="0" dirty="0">
                <a:solidFill>
                  <a:srgbClr val="24292E"/>
                </a:solidFill>
                <a:effectLst/>
                <a:latin typeface="Cascadia Code" panose="020B0609020000020004" pitchFamily="49" charset="0"/>
              </a:rPr>
              <a:t>https://ocaml.org/install#windows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b="0" dirty="0">
                <a:solidFill>
                  <a:srgbClr val="24292E"/>
                </a:solidFill>
                <a:effectLst/>
                <a:latin typeface="Cascadia Code" panose="020B0609020000020004" pitchFamily="49" charset="0"/>
              </a:rPr>
              <a:t>目前看来 </a:t>
            </a:r>
            <a:r>
              <a:rPr lang="en-US" altLang="zh-CN" b="0" dirty="0">
                <a:solidFill>
                  <a:srgbClr val="24292E"/>
                </a:solidFill>
                <a:effectLst/>
                <a:latin typeface="Cascadia Code" panose="020B0609020000020004" pitchFamily="49" charset="0"/>
              </a:rPr>
              <a:t>Windows </a:t>
            </a:r>
            <a:r>
              <a:rPr lang="zh-CN" altLang="en-US" b="0" dirty="0">
                <a:solidFill>
                  <a:srgbClr val="24292E"/>
                </a:solidFill>
                <a:effectLst/>
                <a:latin typeface="Cascadia Code" panose="020B0609020000020004" pitchFamily="49" charset="0"/>
              </a:rPr>
              <a:t>安装更容易遇到问题，还是推荐用虚拟机或 </a:t>
            </a:r>
            <a:r>
              <a:rPr lang="en-US" altLang="zh-CN" b="0" dirty="0">
                <a:solidFill>
                  <a:srgbClr val="24292E"/>
                </a:solidFill>
                <a:effectLst/>
                <a:latin typeface="Cascadia Code" panose="020B0609020000020004" pitchFamily="49" charset="0"/>
              </a:rPr>
              <a:t>WSL</a:t>
            </a:r>
            <a:r>
              <a:rPr lang="zh-CN" altLang="en-US" b="0" dirty="0">
                <a:solidFill>
                  <a:srgbClr val="24292E"/>
                </a:solidFill>
                <a:effectLst/>
                <a:latin typeface="Cascadia Code" panose="020B0609020000020004" pitchFamily="49" charset="0"/>
              </a:rPr>
              <a:t>。</a:t>
            </a:r>
            <a:endParaRPr lang="en-US" altLang="zh-CN" b="0" dirty="0">
              <a:solidFill>
                <a:srgbClr val="24292E"/>
              </a:solidFill>
              <a:effectLst/>
              <a:latin typeface="Cascadia Code" panose="020B0609020000020004" pitchFamily="49" charset="0"/>
            </a:endParaRPr>
          </a:p>
        </p:txBody>
      </p:sp>
      <p:sp>
        <p:nvSpPr>
          <p:cNvPr id="4" name="灯片编号占位符 3"/>
          <p:cNvSpPr>
            <a:spLocks noGrp="1"/>
          </p:cNvSpPr>
          <p:nvPr>
            <p:ph type="sldNum" sz="quarter" idx="5"/>
          </p:nvPr>
        </p:nvSpPr>
        <p:spPr/>
        <p:txBody>
          <a:bodyPr/>
          <a:lstStyle/>
          <a:p>
            <a:fld id="{179F771C-A0E1-44EC-ACBA-32D3BB8FFF37}" type="slidenum">
              <a:rPr lang="zh-CN" altLang="en-US" smtClean="0"/>
              <a:t>5</a:t>
            </a:fld>
            <a:endParaRPr lang="zh-CN" altLang="en-US"/>
          </a:p>
        </p:txBody>
      </p:sp>
    </p:spTree>
    <p:extLst>
      <p:ext uri="{BB962C8B-B14F-4D97-AF65-F5344CB8AC3E}">
        <p14:creationId xmlns:p14="http://schemas.microsoft.com/office/powerpoint/2010/main" val="3647684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dirty="0" err="1"/>
              <a:t>ocaml</a:t>
            </a:r>
            <a:r>
              <a:rPr lang="en-US" altLang="zh-CN" dirty="0"/>
              <a:t>-</a:t>
            </a:r>
            <a:r>
              <a:rPr lang="en-US" altLang="zh-CN" dirty="0" err="1"/>
              <a:t>lsp</a:t>
            </a:r>
            <a:r>
              <a:rPr lang="en-US" altLang="zh-CN" dirty="0"/>
              <a:t>-server </a:t>
            </a:r>
            <a:r>
              <a:rPr lang="zh-CN" altLang="en-US" dirty="0"/>
              <a:t>是语言服务器，</a:t>
            </a:r>
            <a:r>
              <a:rPr lang="en-US" altLang="zh-CN" dirty="0"/>
              <a:t>VS Code </a:t>
            </a:r>
            <a:r>
              <a:rPr lang="zh-CN" altLang="en-US" dirty="0"/>
              <a:t>中代码高亮、补全、类型信息标注主要靠它；</a:t>
            </a:r>
            <a:endParaRPr lang="en-US" altLang="zh-CN" dirty="0"/>
          </a:p>
          <a:p>
            <a:pPr marL="171450" indent="-171450">
              <a:buFont typeface="Arial" panose="020B0604020202020204" pitchFamily="34" charset="0"/>
              <a:buChar char="•"/>
            </a:pPr>
            <a:r>
              <a:rPr lang="en-US" altLang="zh-CN" dirty="0" err="1"/>
              <a:t>ocamlformat</a:t>
            </a:r>
            <a:r>
              <a:rPr lang="en-US" altLang="zh-CN" dirty="0"/>
              <a:t> </a:t>
            </a:r>
            <a:r>
              <a:rPr lang="zh-CN" altLang="en-US" dirty="0"/>
              <a:t>是代码格式化工具，配合 </a:t>
            </a:r>
            <a:r>
              <a:rPr lang="en-US" altLang="zh-CN" dirty="0" err="1"/>
              <a:t>ocamlformat-vscode</a:t>
            </a:r>
            <a:r>
              <a:rPr lang="en-US" altLang="zh-CN" dirty="0"/>
              <a:t> </a:t>
            </a:r>
            <a:r>
              <a:rPr lang="zh-CN" altLang="en-US" dirty="0"/>
              <a:t>插件规范化代码格式（推荐设置项 </a:t>
            </a:r>
            <a:r>
              <a:rPr lang="en-US" altLang="zh-CN" dirty="0"/>
              <a:t>Editor: Format On Save</a:t>
            </a:r>
            <a:r>
              <a:rPr lang="zh-CN" altLang="en-US" dirty="0"/>
              <a:t>）；</a:t>
            </a:r>
            <a:endParaRPr lang="en-US" altLang="zh-CN" dirty="0"/>
          </a:p>
          <a:p>
            <a:pPr marL="171450" indent="-171450">
              <a:buFont typeface="Arial" panose="020B0604020202020204" pitchFamily="34" charset="0"/>
              <a:buChar char="•"/>
            </a:pPr>
            <a:r>
              <a:rPr lang="en-US" altLang="zh-CN" dirty="0" err="1"/>
              <a:t>odoc</a:t>
            </a:r>
            <a:r>
              <a:rPr lang="en-US" altLang="zh-CN" dirty="0"/>
              <a:t> </a:t>
            </a:r>
            <a:r>
              <a:rPr lang="zh-CN" altLang="en-US" dirty="0"/>
              <a:t>是文档生成工具；</a:t>
            </a:r>
            <a:endParaRPr lang="en-US" altLang="zh-CN" dirty="0"/>
          </a:p>
          <a:p>
            <a:pPr marL="171450" indent="-171450">
              <a:buFont typeface="Arial" panose="020B0604020202020204" pitchFamily="34" charset="0"/>
              <a:buChar char="•"/>
            </a:pPr>
            <a:r>
              <a:rPr lang="en-US" altLang="zh-CN" dirty="0" err="1"/>
              <a:t>utop</a:t>
            </a:r>
            <a:r>
              <a:rPr lang="en-US" altLang="zh-CN" dirty="0"/>
              <a:t> </a:t>
            </a:r>
            <a:r>
              <a:rPr lang="zh-CN" altLang="en-US" dirty="0"/>
              <a:t>是增强版的 </a:t>
            </a:r>
            <a:r>
              <a:rPr lang="en-US" altLang="zh-CN" dirty="0"/>
              <a:t>REPL</a:t>
            </a:r>
            <a:r>
              <a:rPr lang="zh-CN" altLang="en-US" dirty="0"/>
              <a:t>。</a:t>
            </a:r>
            <a:endParaRPr lang="en-US" altLang="zh-CN" dirty="0"/>
          </a:p>
        </p:txBody>
      </p:sp>
      <p:sp>
        <p:nvSpPr>
          <p:cNvPr id="4" name="灯片编号占位符 3"/>
          <p:cNvSpPr>
            <a:spLocks noGrp="1"/>
          </p:cNvSpPr>
          <p:nvPr>
            <p:ph type="sldNum" sz="quarter" idx="5"/>
          </p:nvPr>
        </p:nvSpPr>
        <p:spPr/>
        <p:txBody>
          <a:bodyPr/>
          <a:lstStyle/>
          <a:p>
            <a:fld id="{179F771C-A0E1-44EC-ACBA-32D3BB8FFF37}" type="slidenum">
              <a:rPr lang="zh-CN" altLang="en-US" smtClean="0"/>
              <a:t>6</a:t>
            </a:fld>
            <a:endParaRPr lang="zh-CN" altLang="en-US"/>
          </a:p>
        </p:txBody>
      </p:sp>
    </p:spTree>
    <p:extLst>
      <p:ext uri="{BB962C8B-B14F-4D97-AF65-F5344CB8AC3E}">
        <p14:creationId xmlns:p14="http://schemas.microsoft.com/office/powerpoint/2010/main" val="4067454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 </a:t>
            </a:r>
            <a:r>
              <a:rPr lang="en-US" altLang="zh-CN" dirty="0"/>
              <a:t>WSL </a:t>
            </a:r>
            <a:r>
              <a:rPr lang="zh-CN" altLang="en-US" dirty="0"/>
              <a:t>的同学要把 </a:t>
            </a:r>
            <a:r>
              <a:rPr lang="en-US" altLang="zh-CN" dirty="0"/>
              <a:t>VS Code </a:t>
            </a:r>
            <a:r>
              <a:rPr lang="zh-CN" altLang="en-US" dirty="0"/>
              <a:t>装在 </a:t>
            </a:r>
            <a:r>
              <a:rPr lang="en-US" altLang="zh-CN" dirty="0"/>
              <a:t>Windows </a:t>
            </a:r>
            <a:r>
              <a:rPr lang="zh-CN" altLang="en-US" dirty="0"/>
              <a:t>侧，然后安装 </a:t>
            </a:r>
            <a:r>
              <a:rPr lang="en-US" altLang="zh-CN" dirty="0"/>
              <a:t>WSL </a:t>
            </a:r>
            <a:r>
              <a:rPr lang="zh-CN" altLang="en-US" dirty="0"/>
              <a:t>插件，用来连接到 </a:t>
            </a:r>
            <a:r>
              <a:rPr lang="en-US" altLang="zh-CN" dirty="0"/>
              <a:t>WSL</a:t>
            </a:r>
            <a:r>
              <a:rPr lang="zh-CN" altLang="en-US" dirty="0"/>
              <a:t>。（讲义</a:t>
            </a:r>
            <a:r>
              <a:rPr lang="en-US" altLang="zh-CN" dirty="0"/>
              <a:t> 1.2.2 </a:t>
            </a:r>
            <a:r>
              <a:rPr lang="zh-CN" altLang="en-US" dirty="0"/>
              <a:t>节）</a:t>
            </a:r>
          </a:p>
        </p:txBody>
      </p:sp>
      <p:sp>
        <p:nvSpPr>
          <p:cNvPr id="4" name="灯片编号占位符 3"/>
          <p:cNvSpPr>
            <a:spLocks noGrp="1"/>
          </p:cNvSpPr>
          <p:nvPr>
            <p:ph type="sldNum" sz="quarter" idx="5"/>
          </p:nvPr>
        </p:nvSpPr>
        <p:spPr/>
        <p:txBody>
          <a:bodyPr/>
          <a:lstStyle/>
          <a:p>
            <a:fld id="{179F771C-A0E1-44EC-ACBA-32D3BB8FFF37}" type="slidenum">
              <a:rPr lang="zh-CN" altLang="en-US" smtClean="0"/>
              <a:t>7</a:t>
            </a:fld>
            <a:endParaRPr lang="zh-CN" altLang="en-US"/>
          </a:p>
        </p:txBody>
      </p:sp>
    </p:spTree>
    <p:extLst>
      <p:ext uri="{BB962C8B-B14F-4D97-AF65-F5344CB8AC3E}">
        <p14:creationId xmlns:p14="http://schemas.microsoft.com/office/powerpoint/2010/main" val="777756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6A754-C124-A662-11B8-DF36941852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C950B3-0FA7-B377-7942-01FB406C33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A8CF2F-47A7-95B7-11B0-9F532C218843}"/>
              </a:ext>
            </a:extLst>
          </p:cNvPr>
          <p:cNvSpPr>
            <a:spLocks noGrp="1"/>
          </p:cNvSpPr>
          <p:nvPr>
            <p:ph type="body" idx="1"/>
          </p:nvPr>
        </p:nvSpPr>
        <p:spPr/>
        <p:txBody>
          <a:bodyPr/>
          <a:lstStyle/>
          <a:p>
            <a:r>
              <a:rPr lang="zh-CN" altLang="en-US" dirty="0"/>
              <a:t>使用 </a:t>
            </a:r>
            <a:r>
              <a:rPr lang="en-US" altLang="zh-CN" dirty="0"/>
              <a:t>WSL </a:t>
            </a:r>
            <a:r>
              <a:rPr lang="zh-CN" altLang="en-US" dirty="0"/>
              <a:t>的同学要把 </a:t>
            </a:r>
            <a:r>
              <a:rPr lang="en-US" altLang="zh-CN" dirty="0"/>
              <a:t>VS Code </a:t>
            </a:r>
            <a:r>
              <a:rPr lang="zh-CN" altLang="en-US" dirty="0"/>
              <a:t>装在 </a:t>
            </a:r>
            <a:r>
              <a:rPr lang="en-US" altLang="zh-CN" dirty="0"/>
              <a:t>Windows </a:t>
            </a:r>
            <a:r>
              <a:rPr lang="zh-CN" altLang="en-US" dirty="0"/>
              <a:t>侧，然后安装 </a:t>
            </a:r>
            <a:r>
              <a:rPr lang="en-US" altLang="zh-CN" dirty="0"/>
              <a:t>WSL </a:t>
            </a:r>
            <a:r>
              <a:rPr lang="zh-CN" altLang="en-US" dirty="0"/>
              <a:t>插件，用来连接到 </a:t>
            </a:r>
            <a:r>
              <a:rPr lang="en-US" altLang="zh-CN" dirty="0"/>
              <a:t>WSL</a:t>
            </a:r>
            <a:r>
              <a:rPr lang="zh-CN" altLang="en-US" dirty="0"/>
              <a:t>。（讲义</a:t>
            </a:r>
            <a:r>
              <a:rPr lang="en-US" altLang="zh-CN" dirty="0"/>
              <a:t> 1.2.2 </a:t>
            </a:r>
            <a:r>
              <a:rPr lang="zh-CN" altLang="en-US" dirty="0"/>
              <a:t>节）</a:t>
            </a:r>
          </a:p>
        </p:txBody>
      </p:sp>
      <p:sp>
        <p:nvSpPr>
          <p:cNvPr id="4" name="灯片编号占位符 3">
            <a:extLst>
              <a:ext uri="{FF2B5EF4-FFF2-40B4-BE49-F238E27FC236}">
                <a16:creationId xmlns:a16="http://schemas.microsoft.com/office/drawing/2014/main" id="{A4DD5CEC-22D6-0961-C793-006489B2C0A4}"/>
              </a:ext>
            </a:extLst>
          </p:cNvPr>
          <p:cNvSpPr>
            <a:spLocks noGrp="1"/>
          </p:cNvSpPr>
          <p:nvPr>
            <p:ph type="sldNum" sz="quarter" idx="5"/>
          </p:nvPr>
        </p:nvSpPr>
        <p:spPr/>
        <p:txBody>
          <a:bodyPr/>
          <a:lstStyle/>
          <a:p>
            <a:fld id="{179F771C-A0E1-44EC-ACBA-32D3BB8FFF37}" type="slidenum">
              <a:rPr lang="zh-CN" altLang="en-US" smtClean="0"/>
              <a:t>8</a:t>
            </a:fld>
            <a:endParaRPr lang="zh-CN" altLang="en-US"/>
          </a:p>
        </p:txBody>
      </p:sp>
    </p:spTree>
    <p:extLst>
      <p:ext uri="{BB962C8B-B14F-4D97-AF65-F5344CB8AC3E}">
        <p14:creationId xmlns:p14="http://schemas.microsoft.com/office/powerpoint/2010/main" val="2207254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2E581-022B-94D5-D208-C15EB701B5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F79445-A7CA-465D-9385-2822D0E35C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60FC5F-C373-F1CD-D71B-418D80BB7698}"/>
              </a:ext>
            </a:extLst>
          </p:cNvPr>
          <p:cNvSpPr>
            <a:spLocks noGrp="1"/>
          </p:cNvSpPr>
          <p:nvPr>
            <p:ph type="body" idx="1"/>
          </p:nvPr>
        </p:nvSpPr>
        <p:spPr/>
        <p:txBody>
          <a:bodyPr/>
          <a:lstStyle/>
          <a:p>
            <a:r>
              <a:rPr lang="zh-CN" altLang="en-US" dirty="0"/>
              <a:t>使用 </a:t>
            </a:r>
            <a:r>
              <a:rPr lang="en-US" altLang="zh-CN" dirty="0"/>
              <a:t>WSL </a:t>
            </a:r>
            <a:r>
              <a:rPr lang="zh-CN" altLang="en-US" dirty="0"/>
              <a:t>的同学要把 </a:t>
            </a:r>
            <a:r>
              <a:rPr lang="en-US" altLang="zh-CN" dirty="0"/>
              <a:t>VS Code </a:t>
            </a:r>
            <a:r>
              <a:rPr lang="zh-CN" altLang="en-US" dirty="0"/>
              <a:t>装在 </a:t>
            </a:r>
            <a:r>
              <a:rPr lang="en-US" altLang="zh-CN" dirty="0"/>
              <a:t>Windows </a:t>
            </a:r>
            <a:r>
              <a:rPr lang="zh-CN" altLang="en-US" dirty="0"/>
              <a:t>侧，然后安装 </a:t>
            </a:r>
            <a:r>
              <a:rPr lang="en-US" altLang="zh-CN" dirty="0"/>
              <a:t>WSL </a:t>
            </a:r>
            <a:r>
              <a:rPr lang="zh-CN" altLang="en-US" dirty="0"/>
              <a:t>插件，用来连接到 </a:t>
            </a:r>
            <a:r>
              <a:rPr lang="en-US" altLang="zh-CN" dirty="0"/>
              <a:t>WSL</a:t>
            </a:r>
            <a:r>
              <a:rPr lang="zh-CN" altLang="en-US" dirty="0"/>
              <a:t>。（讲义</a:t>
            </a:r>
            <a:r>
              <a:rPr lang="en-US" altLang="zh-CN" dirty="0"/>
              <a:t> 1.2.2 </a:t>
            </a:r>
            <a:r>
              <a:rPr lang="zh-CN" altLang="en-US" dirty="0"/>
              <a:t>节）</a:t>
            </a:r>
          </a:p>
        </p:txBody>
      </p:sp>
      <p:sp>
        <p:nvSpPr>
          <p:cNvPr id="4" name="灯片编号占位符 3">
            <a:extLst>
              <a:ext uri="{FF2B5EF4-FFF2-40B4-BE49-F238E27FC236}">
                <a16:creationId xmlns:a16="http://schemas.microsoft.com/office/drawing/2014/main" id="{DB3D021A-0547-4222-DEAC-E0CD67ED3492}"/>
              </a:ext>
            </a:extLst>
          </p:cNvPr>
          <p:cNvSpPr>
            <a:spLocks noGrp="1"/>
          </p:cNvSpPr>
          <p:nvPr>
            <p:ph type="sldNum" sz="quarter" idx="5"/>
          </p:nvPr>
        </p:nvSpPr>
        <p:spPr/>
        <p:txBody>
          <a:bodyPr/>
          <a:lstStyle/>
          <a:p>
            <a:fld id="{179F771C-A0E1-44EC-ACBA-32D3BB8FFF37}" type="slidenum">
              <a:rPr lang="zh-CN" altLang="en-US" smtClean="0"/>
              <a:t>9</a:t>
            </a:fld>
            <a:endParaRPr lang="zh-CN" altLang="en-US"/>
          </a:p>
        </p:txBody>
      </p:sp>
    </p:spTree>
    <p:extLst>
      <p:ext uri="{BB962C8B-B14F-4D97-AF65-F5344CB8AC3E}">
        <p14:creationId xmlns:p14="http://schemas.microsoft.com/office/powerpoint/2010/main" val="369489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09C5-85F7-0D5A-D2EB-B6209BDB3A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BEF6C9-8D11-B6E4-D919-52D4D29D5F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01281C-DB7C-D367-EB33-DF17766A7594}"/>
              </a:ext>
            </a:extLst>
          </p:cNvPr>
          <p:cNvSpPr>
            <a:spLocks noGrp="1"/>
          </p:cNvSpPr>
          <p:nvPr>
            <p:ph type="body" idx="1"/>
          </p:nvPr>
        </p:nvSpPr>
        <p:spPr/>
        <p:txBody>
          <a:bodyPr/>
          <a:lstStyle/>
          <a:p>
            <a:r>
              <a:rPr lang="zh-CN" altLang="en-US" dirty="0"/>
              <a:t>使用 </a:t>
            </a:r>
            <a:r>
              <a:rPr lang="en-US" altLang="zh-CN" dirty="0"/>
              <a:t>WSL </a:t>
            </a:r>
            <a:r>
              <a:rPr lang="zh-CN" altLang="en-US" dirty="0"/>
              <a:t>的同学要把 </a:t>
            </a:r>
            <a:r>
              <a:rPr lang="en-US" altLang="zh-CN" dirty="0"/>
              <a:t>VS Code </a:t>
            </a:r>
            <a:r>
              <a:rPr lang="zh-CN" altLang="en-US" dirty="0"/>
              <a:t>装在 </a:t>
            </a:r>
            <a:r>
              <a:rPr lang="en-US" altLang="zh-CN" dirty="0"/>
              <a:t>Windows </a:t>
            </a:r>
            <a:r>
              <a:rPr lang="zh-CN" altLang="en-US" dirty="0"/>
              <a:t>侧，然后安装 </a:t>
            </a:r>
            <a:r>
              <a:rPr lang="en-US" altLang="zh-CN" dirty="0"/>
              <a:t>WSL </a:t>
            </a:r>
            <a:r>
              <a:rPr lang="zh-CN" altLang="en-US" dirty="0"/>
              <a:t>插件，用来连接到 </a:t>
            </a:r>
            <a:r>
              <a:rPr lang="en-US" altLang="zh-CN" dirty="0"/>
              <a:t>WSL</a:t>
            </a:r>
            <a:r>
              <a:rPr lang="zh-CN" altLang="en-US" dirty="0"/>
              <a:t>。（讲义</a:t>
            </a:r>
            <a:r>
              <a:rPr lang="en-US" altLang="zh-CN" dirty="0"/>
              <a:t> 1.2.2 </a:t>
            </a:r>
            <a:r>
              <a:rPr lang="zh-CN" altLang="en-US" dirty="0"/>
              <a:t>节）</a:t>
            </a:r>
          </a:p>
        </p:txBody>
      </p:sp>
      <p:sp>
        <p:nvSpPr>
          <p:cNvPr id="4" name="灯片编号占位符 3">
            <a:extLst>
              <a:ext uri="{FF2B5EF4-FFF2-40B4-BE49-F238E27FC236}">
                <a16:creationId xmlns:a16="http://schemas.microsoft.com/office/drawing/2014/main" id="{A358C7D9-60FD-D299-1570-BA6D62E51087}"/>
              </a:ext>
            </a:extLst>
          </p:cNvPr>
          <p:cNvSpPr>
            <a:spLocks noGrp="1"/>
          </p:cNvSpPr>
          <p:nvPr>
            <p:ph type="sldNum" sz="quarter" idx="5"/>
          </p:nvPr>
        </p:nvSpPr>
        <p:spPr/>
        <p:txBody>
          <a:bodyPr/>
          <a:lstStyle/>
          <a:p>
            <a:fld id="{179F771C-A0E1-44EC-ACBA-32D3BB8FFF37}" type="slidenum">
              <a:rPr lang="zh-CN" altLang="en-US" smtClean="0"/>
              <a:t>10</a:t>
            </a:fld>
            <a:endParaRPr lang="zh-CN" altLang="en-US"/>
          </a:p>
        </p:txBody>
      </p:sp>
    </p:spTree>
    <p:extLst>
      <p:ext uri="{BB962C8B-B14F-4D97-AF65-F5344CB8AC3E}">
        <p14:creationId xmlns:p14="http://schemas.microsoft.com/office/powerpoint/2010/main" val="987195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9F771C-A0E1-44EC-ACBA-32D3BB8FFF37}" type="slidenum">
              <a:rPr lang="zh-CN" altLang="en-US" smtClean="0"/>
              <a:t>12</a:t>
            </a:fld>
            <a:endParaRPr lang="zh-CN" altLang="en-US"/>
          </a:p>
        </p:txBody>
      </p:sp>
    </p:spTree>
    <p:extLst>
      <p:ext uri="{BB962C8B-B14F-4D97-AF65-F5344CB8AC3E}">
        <p14:creationId xmlns:p14="http://schemas.microsoft.com/office/powerpoint/2010/main" val="2153669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9F771C-A0E1-44EC-ACBA-32D3BB8FFF37}" type="slidenum">
              <a:rPr lang="zh-CN" altLang="en-US" smtClean="0"/>
              <a:t>13</a:t>
            </a:fld>
            <a:endParaRPr lang="zh-CN" altLang="en-US"/>
          </a:p>
        </p:txBody>
      </p:sp>
    </p:spTree>
    <p:extLst>
      <p:ext uri="{BB962C8B-B14F-4D97-AF65-F5344CB8AC3E}">
        <p14:creationId xmlns:p14="http://schemas.microsoft.com/office/powerpoint/2010/main" val="4136571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这些例程兼具了</a:t>
            </a:r>
            <a:r>
              <a:rPr lang="en-US" altLang="zh-CN" dirty="0"/>
              <a:t> OCaml </a:t>
            </a:r>
            <a:r>
              <a:rPr lang="zh-CN" altLang="en-US" dirty="0"/>
              <a:t>入门的一部分内容（完整内容见讲义第 </a:t>
            </a:r>
            <a:r>
              <a:rPr lang="en-US" altLang="zh-CN" dirty="0"/>
              <a:t>3 </a:t>
            </a:r>
            <a:r>
              <a:rPr lang="zh-CN" altLang="en-US" dirty="0"/>
              <a:t>节），以及函数</a:t>
            </a:r>
            <a:r>
              <a:rPr lang="zh-CN" altLang="en-US"/>
              <a:t>式编程的入门科普</a:t>
            </a:r>
            <a:r>
              <a:rPr lang="zh-CN" altLang="en-US" dirty="0"/>
              <a:t>作用。</a:t>
            </a:r>
            <a:endParaRPr lang="en-US" altLang="zh-CN" dirty="0"/>
          </a:p>
        </p:txBody>
      </p:sp>
      <p:sp>
        <p:nvSpPr>
          <p:cNvPr id="4" name="灯片编号占位符 3"/>
          <p:cNvSpPr>
            <a:spLocks noGrp="1"/>
          </p:cNvSpPr>
          <p:nvPr>
            <p:ph type="sldNum" sz="quarter" idx="5"/>
          </p:nvPr>
        </p:nvSpPr>
        <p:spPr/>
        <p:txBody>
          <a:bodyPr/>
          <a:lstStyle/>
          <a:p>
            <a:fld id="{179F771C-A0E1-44EC-ACBA-32D3BB8FFF37}" type="slidenum">
              <a:rPr lang="zh-CN" altLang="en-US" smtClean="0"/>
              <a:t>14</a:t>
            </a:fld>
            <a:endParaRPr lang="zh-CN" altLang="en-US"/>
          </a:p>
        </p:txBody>
      </p:sp>
    </p:spTree>
    <p:extLst>
      <p:ext uri="{BB962C8B-B14F-4D97-AF65-F5344CB8AC3E}">
        <p14:creationId xmlns:p14="http://schemas.microsoft.com/office/powerpoint/2010/main" val="8576061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effectLst/>
                    <a:latin typeface="Roboto" panose="02000000000000000000" pitchFamily="2" charset="0"/>
                  </a:rPr>
                  <a:t>这个例程覆盖了基本数据类型、算术运算符和函数定义的知识。</a:t>
                </a:r>
                <a:endParaRPr lang="en-US" altLang="zh-CN" b="0" i="0" dirty="0">
                  <a:effectLst/>
                  <a:latin typeface="Roboto" panose="02000000000000000000" pitchFamily="2" charset="0"/>
                </a:endParaRPr>
              </a:p>
              <a:p>
                <a:pPr algn="l">
                  <a:buFont typeface="Arial" panose="020B0604020202020204" pitchFamily="34" charset="0"/>
                  <a:buNone/>
                </a:pPr>
                <a:endParaRPr lang="en-US" altLang="zh-CN" b="0" i="0" dirty="0">
                  <a:effectLst/>
                  <a:latin typeface="Roboto" panose="02000000000000000000" pitchFamily="2" charset="0"/>
                </a:endParaRPr>
              </a:p>
              <a:p>
                <a:pPr algn="l">
                  <a:buFont typeface="Arial" panose="020B0604020202020204" pitchFamily="34" charset="0"/>
                  <a:buNone/>
                </a:pPr>
                <a:r>
                  <a:rPr lang="zh-CN" altLang="en-US" b="0" i="0" dirty="0">
                    <a:effectLst/>
                    <a:latin typeface="Roboto" panose="02000000000000000000" pitchFamily="2" charset="0"/>
                  </a:rPr>
                  <a:t>思考题参考解答：</a:t>
                </a:r>
                <a:endParaRPr lang="en-US" altLang="zh-CN" b="0" i="0" dirty="0">
                  <a:effectLst/>
                  <a:latin typeface="Roboto"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sz="12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int -&gt; int -&gt; int</a:t>
                </a:r>
                <a:r>
                  <a:rPr lang="en-US" altLang="zh-CN" sz="1200"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怎么表示为映射关系？</a:t>
                </a:r>
                <a:endParaRPr lang="en-US" altLang="zh-CN" dirty="0">
                  <a:solidFill>
                    <a:schemeClr val="accent1"/>
                  </a:solidFill>
                  <a:latin typeface="Cambria" panose="02040503050406030204" charset="0"/>
                  <a:ea typeface="汉仪中黑 197" panose="00020600040101010101" charset="-122"/>
                </a:endParaRP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en-US" altLang="zh-CN" b="0" i="0" dirty="0">
                    <a:effectLst/>
                    <a:latin typeface="Roboto" panose="02000000000000000000" pitchFamily="2" charset="0"/>
                  </a:rPr>
                  <a:t>int -&gt; int -&gt; int </a:t>
                </a:r>
                <a:r>
                  <a:rPr lang="zh-CN" altLang="en-US" b="0" i="0" dirty="0">
                    <a:effectLst/>
                    <a:latin typeface="Roboto" panose="02000000000000000000" pitchFamily="2" charset="0"/>
                  </a:rPr>
                  <a:t>可以表示为：</a:t>
                </a:r>
                <a:r>
                  <a:rPr lang="en-US" altLang="zh-CN" b="0" i="0" dirty="0">
                    <a:effectLst/>
                    <a:latin typeface="Roboto" panose="02000000000000000000" pitchFamily="2" charset="0"/>
                  </a:rPr>
                  <a:t>ℤ → (ℤ → ℤ)</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CN" altLang="en-US" dirty="0">
                    <a:solidFill>
                      <a:schemeClr val="accent1"/>
                    </a:solidFill>
                    <a:latin typeface="Cambria" panose="02040503050406030204" charset="0"/>
                    <a:ea typeface="汉仪中黑 197" panose="00020600040101010101" charset="-122"/>
                  </a:rPr>
                  <a:t>这种映射关系和 </a:t>
                </a:r>
                <a14:m>
                  <m:oMath xmlns:m="http://schemas.openxmlformats.org/officeDocument/2006/math">
                    <m:r>
                      <a:rPr lang="en-US" altLang="zh-CN" i="1" smtClean="0">
                        <a:solidFill>
                          <a:schemeClr val="accent1"/>
                        </a:solidFill>
                        <a:latin typeface="Cambria Math" panose="02040503050406030204" pitchFamily="18" charset="0"/>
                      </a:rPr>
                      <m:t>ℤ</m:t>
                    </m:r>
                    <m:r>
                      <a:rPr lang="en-US" altLang="zh-CN" i="1" smtClean="0">
                        <a:solidFill>
                          <a:schemeClr val="accent1"/>
                        </a:solidFill>
                        <a:latin typeface="Cambria Math" panose="02040503050406030204" pitchFamily="18" charset="0"/>
                      </a:rPr>
                      <m:t>×</m:t>
                    </m:r>
                    <m:r>
                      <a:rPr lang="en-US" altLang="zh-CN" i="1" smtClean="0">
                        <a:solidFill>
                          <a:schemeClr val="accent1"/>
                        </a:solidFill>
                        <a:latin typeface="Cambria Math" panose="02040503050406030204" pitchFamily="18" charset="0"/>
                      </a:rPr>
                      <m:t>ℤ</m:t>
                    </m:r>
                    <m:r>
                      <m:rPr>
                        <m:nor/>
                      </m:rPr>
                      <a:rPr lang="en-US" altLang="zh-CN" b="0" i="0" smtClean="0">
                        <a:solidFill>
                          <a:schemeClr val="accent1"/>
                        </a:solidFill>
                        <a:latin typeface="Cambria Math" panose="02040503050406030204" pitchFamily="18" charset="0"/>
                      </a:rPr>
                      <m:t> </m:t>
                    </m:r>
                    <m:r>
                      <m:rPr>
                        <m:nor/>
                      </m:rPr>
                      <a:rPr lang="zh-CN" altLang="en-US" dirty="0">
                        <a:solidFill>
                          <a:schemeClr val="accent1"/>
                        </a:solidFill>
                      </a:rPr>
                      <m:t>→</m:t>
                    </m:r>
                    <m:r>
                      <m:rPr>
                        <m:nor/>
                      </m:rPr>
                      <a:rPr lang="en-US" altLang="zh-CN" b="0" i="0" dirty="0" smtClean="0">
                        <a:solidFill>
                          <a:schemeClr val="accent1"/>
                        </a:solidFill>
                      </a:rPr>
                      <m:t> </m:t>
                    </m:r>
                    <m:r>
                      <a:rPr lang="en-US" altLang="zh-CN" i="1" smtClean="0">
                        <a:solidFill>
                          <a:schemeClr val="accent1"/>
                        </a:solidFill>
                        <a:latin typeface="Cambria Math" panose="02040503050406030204" pitchFamily="18" charset="0"/>
                      </a:rPr>
                      <m:t>ℤ</m:t>
                    </m:r>
                  </m:oMath>
                </a14:m>
                <a:r>
                  <a:rPr lang="en-US" altLang="zh-CN"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等价吗？</a:t>
                </a:r>
                <a:endParaRPr lang="en-US" altLang="zh-CN" b="0" i="0" dirty="0">
                  <a:effectLst/>
                  <a:latin typeface="Roboto" panose="020000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0" i="0" dirty="0">
                    <a:effectLst/>
                    <a:latin typeface="Roboto" panose="02000000000000000000" pitchFamily="2" charset="0"/>
                  </a:rPr>
                  <a:t>ℤ×ℤ → ℤ </a:t>
                </a:r>
                <a:r>
                  <a:rPr lang="zh-CN" altLang="en-US" b="0" i="0" dirty="0">
                    <a:effectLst/>
                    <a:latin typeface="Roboto" panose="02000000000000000000" pitchFamily="2" charset="0"/>
                  </a:rPr>
                  <a:t>表示从整数对 </a:t>
                </a:r>
                <a:r>
                  <a:rPr lang="en-US" altLang="zh-CN" b="0" i="0" dirty="0">
                    <a:effectLst/>
                    <a:latin typeface="Roboto" panose="02000000000000000000" pitchFamily="2" charset="0"/>
                  </a:rPr>
                  <a:t>(a, b) </a:t>
                </a:r>
                <a:r>
                  <a:rPr lang="zh-CN" altLang="en-US" b="0" i="0" dirty="0">
                    <a:effectLst/>
                    <a:latin typeface="Roboto" panose="02000000000000000000" pitchFamily="2" charset="0"/>
                  </a:rPr>
                  <a:t>到整数的映射；</a:t>
                </a:r>
                <a:r>
                  <a:rPr lang="en-US" altLang="zh-CN" b="0" i="0" dirty="0">
                    <a:effectLst/>
                    <a:latin typeface="Roboto" panose="02000000000000000000" pitchFamily="2" charset="0"/>
                  </a:rPr>
                  <a:t>int -&gt; int -&gt; int </a:t>
                </a:r>
                <a:r>
                  <a:rPr lang="zh-CN" altLang="en-US" b="0" i="0" dirty="0">
                    <a:effectLst/>
                    <a:latin typeface="Roboto" panose="02000000000000000000" pitchFamily="2" charset="0"/>
                  </a:rPr>
                  <a:t>表示从整数 </a:t>
                </a:r>
                <a:r>
                  <a:rPr lang="en-US" altLang="zh-CN" b="0" i="0" dirty="0">
                    <a:effectLst/>
                    <a:latin typeface="Roboto" panose="02000000000000000000" pitchFamily="2" charset="0"/>
                  </a:rPr>
                  <a:t>a </a:t>
                </a:r>
                <a:r>
                  <a:rPr lang="zh-CN" altLang="en-US" b="0" i="0" dirty="0">
                    <a:effectLst/>
                    <a:latin typeface="Roboto" panose="02000000000000000000" pitchFamily="2" charset="0"/>
                  </a:rPr>
                  <a:t>到“整数到整数函数” </a:t>
                </a:r>
                <a:r>
                  <a:rPr lang="en-US" altLang="zh-CN" b="0" i="0" dirty="0">
                    <a:effectLst/>
                    <a:latin typeface="Roboto" panose="02000000000000000000" pitchFamily="2" charset="0"/>
                  </a:rPr>
                  <a:t>f’(b)</a:t>
                </a:r>
                <a:r>
                  <a:rPr lang="zh-CN" altLang="en-US" b="0" i="0" dirty="0">
                    <a:effectLst/>
                    <a:latin typeface="Roboto" panose="02000000000000000000" pitchFamily="2" charset="0"/>
                  </a:rPr>
                  <a:t>的映射，相当于把前者拆成了两步。</a:t>
                </a:r>
                <a:endParaRPr lang="en-US" altLang="zh-CN" b="0" i="0" dirty="0">
                  <a:effectLst/>
                  <a:latin typeface="Roboto" panose="02000000000000000000" pitchFamily="2"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这两种表示方式是等价的，也就是所谓的柯里化同构：</a:t>
                </a:r>
                <a:r>
                  <a:rPr lang="en-US" altLang="zh-CN" b="0" i="0" dirty="0">
                    <a:effectLst/>
                    <a:latin typeface="Roboto" panose="02000000000000000000" pitchFamily="2" charset="0"/>
                  </a:rPr>
                  <a:t>(ℤ×ℤ → ℤ) ≅ (ℤ → (ℤ → ℤ))</a:t>
                </a:r>
              </a:p>
            </p:txBody>
          </p:sp>
        </mc:Choice>
        <mc:Fallback xmlns="">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effectLst/>
                    <a:latin typeface="Roboto" panose="02000000000000000000" pitchFamily="2" charset="0"/>
                  </a:rPr>
                  <a:t>思考题解答：</a:t>
                </a:r>
                <a:endParaRPr lang="en-US" altLang="zh-CN" b="0" i="0" dirty="0">
                  <a:effectLst/>
                  <a:latin typeface="Roboto"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sz="12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int -&gt; int -&gt; int</a:t>
                </a:r>
                <a:r>
                  <a:rPr lang="en-US" altLang="zh-CN" sz="1200"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怎么表示为映射关系？</a:t>
                </a:r>
                <a:endParaRPr lang="en-US" altLang="zh-CN" dirty="0">
                  <a:solidFill>
                    <a:schemeClr val="accent1"/>
                  </a:solidFill>
                  <a:latin typeface="Cambria" panose="02040503050406030204" charset="0"/>
                  <a:ea typeface="汉仪中黑 197" panose="00020600040101010101" charset="-122"/>
                </a:endParaRP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en-US" altLang="zh-CN" b="0" i="0" dirty="0">
                    <a:effectLst/>
                    <a:latin typeface="Roboto" panose="02000000000000000000" pitchFamily="2" charset="0"/>
                  </a:rPr>
                  <a:t>int -&gt; int -&gt; int </a:t>
                </a:r>
                <a:r>
                  <a:rPr lang="zh-CN" altLang="en-US" b="0" i="0" dirty="0">
                    <a:effectLst/>
                    <a:latin typeface="Roboto" panose="02000000000000000000" pitchFamily="2" charset="0"/>
                  </a:rPr>
                  <a:t>可以表示为：</a:t>
                </a:r>
                <a:r>
                  <a:rPr lang="en-US" altLang="zh-CN" b="0" i="0" dirty="0">
                    <a:effectLst/>
                    <a:latin typeface="Roboto" panose="02000000000000000000" pitchFamily="2" charset="0"/>
                  </a:rPr>
                  <a:t>ℤ → (ℤ → ℤ)</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CN" altLang="en-US" dirty="0">
                    <a:solidFill>
                      <a:schemeClr val="accent1"/>
                    </a:solidFill>
                    <a:latin typeface="Cambria" panose="02040503050406030204" charset="0"/>
                    <a:ea typeface="汉仪中黑 197" panose="00020600040101010101" charset="-122"/>
                  </a:rPr>
                  <a:t>这种映射关系和 </a:t>
                </a:r>
                <a:r>
                  <a:rPr lang="en-US" altLang="zh-CN" i="0">
                    <a:solidFill>
                      <a:schemeClr val="accent1"/>
                    </a:solidFill>
                    <a:latin typeface="Cambria Math" panose="02040503050406030204" pitchFamily="18" charset="0"/>
                  </a:rPr>
                  <a:t>ℤ×ℤ</a:t>
                </a:r>
                <a:r>
                  <a:rPr lang="en-US" altLang="zh-CN" b="0" i="0">
                    <a:solidFill>
                      <a:schemeClr val="accent1"/>
                    </a:solidFill>
                    <a:latin typeface="Cambria Math" panose="02040503050406030204" pitchFamily="18" charset="0"/>
                  </a:rPr>
                  <a:t>" </a:t>
                </a:r>
                <a:r>
                  <a:rPr lang="zh-CN" altLang="en-US" i="0" dirty="0">
                    <a:solidFill>
                      <a:schemeClr val="accent1"/>
                    </a:solidFill>
                    <a:latin typeface="Cambria Math" panose="02040503050406030204" pitchFamily="18" charset="0"/>
                  </a:rPr>
                  <a:t>→</a:t>
                </a:r>
                <a:r>
                  <a:rPr lang="en-US" altLang="zh-CN" b="0" i="0" dirty="0">
                    <a:solidFill>
                      <a:schemeClr val="accent1"/>
                    </a:solidFill>
                    <a:latin typeface="Cambria Math" panose="02040503050406030204" pitchFamily="18" charset="0"/>
                  </a:rPr>
                  <a:t> </a:t>
                </a:r>
                <a:r>
                  <a:rPr lang="en-US" altLang="zh-CN" b="0" i="0">
                    <a:solidFill>
                      <a:schemeClr val="accent1"/>
                    </a:solidFill>
                    <a:latin typeface="Cambria Math" panose="02040503050406030204" pitchFamily="18" charset="0"/>
                  </a:rPr>
                  <a:t>" </a:t>
                </a:r>
                <a:r>
                  <a:rPr lang="en-US" altLang="zh-CN" i="0">
                    <a:solidFill>
                      <a:schemeClr val="accent1"/>
                    </a:solidFill>
                    <a:latin typeface="Cambria Math" panose="02040503050406030204" pitchFamily="18" charset="0"/>
                  </a:rPr>
                  <a:t>ℤ</a:t>
                </a:r>
                <a:r>
                  <a:rPr lang="en-US" altLang="zh-CN"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等价吗？</a:t>
                </a:r>
                <a:endParaRPr lang="en-US" altLang="zh-CN" b="0" i="0" dirty="0">
                  <a:effectLst/>
                  <a:latin typeface="Roboto" panose="02000000000000000000" pitchFamily="2" charset="0"/>
                </a:endParaRP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en-US" altLang="zh-CN" b="0" i="0" dirty="0">
                    <a:effectLst/>
                    <a:latin typeface="Roboto" panose="02000000000000000000" pitchFamily="2" charset="0"/>
                  </a:rPr>
                  <a:t>ℤ×ℤ → ℤ </a:t>
                </a:r>
                <a:r>
                  <a:rPr lang="zh-CN" altLang="en-US" b="0" i="0" dirty="0">
                    <a:effectLst/>
                    <a:latin typeface="Roboto" panose="02000000000000000000" pitchFamily="2" charset="0"/>
                  </a:rPr>
                  <a:t>表示从整数对 </a:t>
                </a:r>
                <a:r>
                  <a:rPr lang="en-US" altLang="zh-CN" b="0" i="0" dirty="0">
                    <a:effectLst/>
                    <a:latin typeface="Roboto" panose="02000000000000000000" pitchFamily="2" charset="0"/>
                  </a:rPr>
                  <a:t>(a, b) </a:t>
                </a:r>
                <a:r>
                  <a:rPr lang="zh-CN" altLang="en-US" b="0" i="0" dirty="0">
                    <a:effectLst/>
                    <a:latin typeface="Roboto" panose="02000000000000000000" pitchFamily="2" charset="0"/>
                  </a:rPr>
                  <a:t>到整数的映射；</a:t>
                </a:r>
                <a:r>
                  <a:rPr lang="en-US" altLang="zh-CN" b="0" i="0" dirty="0">
                    <a:effectLst/>
                    <a:latin typeface="Roboto" panose="02000000000000000000" pitchFamily="2" charset="0"/>
                  </a:rPr>
                  <a:t>int -&gt; int -&gt; int </a:t>
                </a:r>
                <a:r>
                  <a:rPr lang="zh-CN" altLang="en-US" b="0" i="0" dirty="0">
                    <a:effectLst/>
                    <a:latin typeface="Roboto" panose="02000000000000000000" pitchFamily="2" charset="0"/>
                  </a:rPr>
                  <a:t>表示从整数 </a:t>
                </a:r>
                <a:r>
                  <a:rPr lang="en-US" altLang="zh-CN" b="0" i="0" dirty="0">
                    <a:effectLst/>
                    <a:latin typeface="Roboto" panose="02000000000000000000" pitchFamily="2" charset="0"/>
                  </a:rPr>
                  <a:t>a </a:t>
                </a:r>
                <a:r>
                  <a:rPr lang="zh-CN" altLang="en-US" b="0" i="0" dirty="0">
                    <a:effectLst/>
                    <a:latin typeface="Roboto" panose="02000000000000000000" pitchFamily="2" charset="0"/>
                  </a:rPr>
                  <a:t>到“整数到整数函数” </a:t>
                </a:r>
                <a:r>
                  <a:rPr lang="en-US" altLang="zh-CN" b="0" i="0" dirty="0">
                    <a:effectLst/>
                    <a:latin typeface="Roboto" panose="02000000000000000000" pitchFamily="2" charset="0"/>
                  </a:rPr>
                  <a:t>f’(b)</a:t>
                </a:r>
                <a:r>
                  <a:rPr lang="zh-CN" altLang="en-US" b="0" i="0" dirty="0">
                    <a:effectLst/>
                    <a:latin typeface="Roboto" panose="02000000000000000000" pitchFamily="2" charset="0"/>
                  </a:rPr>
                  <a:t>的映射，相当于把前者拆成了两步。</a:t>
                </a:r>
                <a:br>
                  <a:rPr lang="en-US" altLang="zh-CN" b="0" i="0" dirty="0">
                    <a:effectLst/>
                    <a:latin typeface="Roboto" panose="02000000000000000000" pitchFamily="2" charset="0"/>
                  </a:rPr>
                </a:br>
                <a:r>
                  <a:rPr lang="zh-CN" altLang="en-US" b="0" i="0" dirty="0">
                    <a:effectLst/>
                    <a:latin typeface="Roboto" panose="02000000000000000000" pitchFamily="2" charset="0"/>
                  </a:rPr>
                  <a:t>这两种表示方式是等价的，也就是所谓的柯里化同构：</a:t>
                </a:r>
                <a:r>
                  <a:rPr lang="en-US" altLang="zh-CN" b="0" i="0" dirty="0">
                    <a:effectLst/>
                    <a:latin typeface="Roboto" panose="02000000000000000000" pitchFamily="2" charset="0"/>
                  </a:rPr>
                  <a:t>(ℤ×ℤ → ℤ) ≅ (ℤ → (ℤ → ℤ))</a:t>
                </a:r>
              </a:p>
            </p:txBody>
          </p:sp>
        </mc:Fallback>
      </mc:AlternateContent>
      <p:sp>
        <p:nvSpPr>
          <p:cNvPr id="4" name="灯片编号占位符 3"/>
          <p:cNvSpPr>
            <a:spLocks noGrp="1"/>
          </p:cNvSpPr>
          <p:nvPr>
            <p:ph type="sldNum" sz="quarter" idx="5"/>
          </p:nvPr>
        </p:nvSpPr>
        <p:spPr/>
        <p:txBody>
          <a:bodyPr/>
          <a:lstStyle/>
          <a:p>
            <a:fld id="{179F771C-A0E1-44EC-ACBA-32D3BB8FFF37}" type="slidenum">
              <a:rPr lang="zh-CN" altLang="en-US" smtClean="0"/>
              <a:t>15</a:t>
            </a:fld>
            <a:endParaRPr lang="zh-CN" altLang="en-US"/>
          </a:p>
        </p:txBody>
      </p:sp>
    </p:spTree>
    <p:extLst>
      <p:ext uri="{BB962C8B-B14F-4D97-AF65-F5344CB8AC3E}">
        <p14:creationId xmlns:p14="http://schemas.microsoft.com/office/powerpoint/2010/main" val="370109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99EA6-2B27-E2FB-5153-A45E1CE89C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DFF116-9A7F-EA77-8B4C-879B03A75A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C6ED80-9134-A822-12D3-5875E742028C}"/>
              </a:ext>
            </a:extLst>
          </p:cNvPr>
          <p:cNvSpPr>
            <a:spLocks noGrp="1"/>
          </p:cNvSpPr>
          <p:nvPr>
            <p:ph type="body" idx="1"/>
          </p:nvPr>
        </p:nvSpPr>
        <p:spPr/>
        <p:txBody>
          <a:bodyPr/>
          <a:lstStyle/>
          <a:p>
            <a:pPr algn="l">
              <a:buFont typeface="Arial" panose="020B0604020202020204" pitchFamily="34" charset="0"/>
              <a:buNone/>
            </a:pPr>
            <a:r>
              <a:rPr lang="zh-CN" altLang="en-US" b="0" i="0" dirty="0">
                <a:effectLst/>
                <a:latin typeface="Roboto" panose="02000000000000000000" pitchFamily="2" charset="0"/>
              </a:rPr>
              <a:t>这个例程覆盖了条件分支和模式匹配的知识。</a:t>
            </a:r>
            <a:endParaRPr lang="en-US" altLang="zh-CN" b="0" i="0" dirty="0">
              <a:effectLst/>
              <a:latin typeface="Roboto" panose="02000000000000000000" pitchFamily="2" charset="0"/>
            </a:endParaRPr>
          </a:p>
        </p:txBody>
      </p:sp>
      <p:sp>
        <p:nvSpPr>
          <p:cNvPr id="4" name="灯片编号占位符 3">
            <a:extLst>
              <a:ext uri="{FF2B5EF4-FFF2-40B4-BE49-F238E27FC236}">
                <a16:creationId xmlns:a16="http://schemas.microsoft.com/office/drawing/2014/main" id="{7292DC04-2E3A-2754-F223-60A18463234E}"/>
              </a:ext>
            </a:extLst>
          </p:cNvPr>
          <p:cNvSpPr>
            <a:spLocks noGrp="1"/>
          </p:cNvSpPr>
          <p:nvPr>
            <p:ph type="sldNum" sz="quarter" idx="5"/>
          </p:nvPr>
        </p:nvSpPr>
        <p:spPr/>
        <p:txBody>
          <a:bodyPr/>
          <a:lstStyle/>
          <a:p>
            <a:fld id="{179F771C-A0E1-44EC-ACBA-32D3BB8FFF37}" type="slidenum">
              <a:rPr lang="zh-CN" altLang="en-US" smtClean="0"/>
              <a:t>16</a:t>
            </a:fld>
            <a:endParaRPr lang="zh-CN" altLang="en-US"/>
          </a:p>
        </p:txBody>
      </p:sp>
    </p:spTree>
    <p:extLst>
      <p:ext uri="{BB962C8B-B14F-4D97-AF65-F5344CB8AC3E}">
        <p14:creationId xmlns:p14="http://schemas.microsoft.com/office/powerpoint/2010/main" val="775142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62E65-DDB7-228D-CEF7-1E911498A7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D6344A-71DA-E1BD-957A-43DCB4CDBB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E9A213-385D-917D-6C06-51A2D0FF71D2}"/>
              </a:ext>
            </a:extLst>
          </p:cNvPr>
          <p:cNvSpPr>
            <a:spLocks noGrp="1"/>
          </p:cNvSpPr>
          <p:nvPr>
            <p:ph type="body" idx="1"/>
          </p:nvPr>
        </p:nvSpPr>
        <p:spPr/>
        <p:txBody>
          <a:bodyPr/>
          <a:lstStyle/>
          <a:p>
            <a:pPr algn="l">
              <a:buFont typeface="Arial" panose="020B0604020202020204" pitchFamily="34" charset="0"/>
              <a:buNone/>
            </a:pPr>
            <a:r>
              <a:rPr lang="zh-CN" altLang="en-US" b="0" i="0" dirty="0">
                <a:effectLst/>
                <a:latin typeface="Roboto" panose="02000000000000000000" pitchFamily="2" charset="0"/>
              </a:rPr>
              <a:t>思考题参考解答：</a:t>
            </a:r>
            <a:endParaRPr lang="en-US" altLang="zh-CN" b="0" i="0" dirty="0">
              <a:effectLst/>
              <a:latin typeface="Roboto"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CN" altLang="en-US" dirty="0">
                <a:solidFill>
                  <a:schemeClr val="accent1"/>
                </a:solidFill>
                <a:latin typeface="Cambria" panose="02040503050406030204" charset="0"/>
                <a:ea typeface="汉仪中黑 197" panose="00020600040101010101" charset="-122"/>
              </a:rPr>
              <a:t>为什么函数式编程的声明式结构比命令式结构更适合类型推理？</a:t>
            </a:r>
            <a:endParaRPr lang="en-US" altLang="zh-CN" b="0" i="0" dirty="0">
              <a:effectLst/>
              <a:latin typeface="Roboto" panose="02000000000000000000" pitchFamily="2" charset="0"/>
            </a:endParaRPr>
          </a:p>
          <a:p>
            <a:pPr marL="628650" lvl="1" indent="-171450" algn="l">
              <a:buFont typeface="Arial" panose="020B0604020202020204" pitchFamily="34" charset="0"/>
              <a:buChar char="•"/>
            </a:pPr>
            <a:r>
              <a:rPr lang="zh-CN" altLang="en-US" b="1" i="0" dirty="0">
                <a:effectLst/>
                <a:latin typeface="Roboto" panose="02000000000000000000" pitchFamily="2" charset="0"/>
              </a:rPr>
              <a:t>声明式结构直接描述了数学关系而非执行步骤</a:t>
            </a:r>
            <a:r>
              <a:rPr lang="zh-CN" altLang="en-US" b="0" i="0" dirty="0">
                <a:effectLst/>
                <a:latin typeface="Roboto" panose="02000000000000000000" pitchFamily="2" charset="0"/>
              </a:rPr>
              <a:t>。每个声明式表达式都可以看作是一个数学函数或关系，其类型对应着函数的定义域和值域。这种基于数学的形式化描述使得编译器可以通过类型统一（</a:t>
            </a:r>
            <a:r>
              <a:rPr lang="en-US" altLang="zh-CN" b="0" i="0" dirty="0">
                <a:effectLst/>
                <a:latin typeface="Roboto" panose="02000000000000000000" pitchFamily="2" charset="0"/>
              </a:rPr>
              <a:t>unification algorithm</a:t>
            </a:r>
            <a:r>
              <a:rPr lang="zh-CN" altLang="en-US" b="0" i="0" dirty="0">
                <a:effectLst/>
                <a:latin typeface="Roboto" panose="02000000000000000000" pitchFamily="2" charset="0"/>
              </a:rPr>
              <a:t>，基于并查集求解等价关系）等代数方法进行严格的类型推导，这比追踪程序的执行状态和控制流要简单很多。</a:t>
            </a:r>
            <a:endParaRPr lang="en-US" altLang="zh-CN" b="0" i="0" dirty="0">
              <a:effectLst/>
              <a:latin typeface="Roboto" panose="02000000000000000000" pitchFamily="2" charset="0"/>
            </a:endParaRPr>
          </a:p>
          <a:p>
            <a:pPr marL="628650" lvl="1" indent="-171450" algn="l">
              <a:buFont typeface="Arial" panose="020B0604020202020204" pitchFamily="34" charset="0"/>
              <a:buChar char="•"/>
            </a:pPr>
            <a:r>
              <a:rPr lang="zh-CN" altLang="en-US" b="0" i="0" dirty="0">
                <a:effectLst/>
                <a:latin typeface="Roboto" panose="02000000000000000000" pitchFamily="2" charset="0"/>
              </a:rPr>
              <a:t>从另一个角度来看，</a:t>
            </a:r>
            <a:r>
              <a:rPr lang="zh-CN" altLang="en-US" b="1" i="0" dirty="0">
                <a:effectLst/>
                <a:latin typeface="Roboto" panose="02000000000000000000" pitchFamily="2" charset="0"/>
              </a:rPr>
              <a:t>声明式结构比命令式结构具有更严格的形式约束</a:t>
            </a:r>
            <a:r>
              <a:rPr lang="zh-CN" altLang="en-US" b="0" i="0" dirty="0">
                <a:effectLst/>
                <a:latin typeface="Roboto" panose="02000000000000000000" pitchFamily="2" charset="0"/>
              </a:rPr>
              <a:t>。在声明式结构中，每个表达式都必须有明确的值和类型，所有可能的情况都需要显式处理。这种结构性约束让类型系统能够通过形式化的规则进行完整的类型检查和推导，而不会遗漏任何情况。</a:t>
            </a:r>
            <a:endParaRPr lang="en-US" altLang="zh-CN" b="0" i="0" dirty="0">
              <a:effectLst/>
              <a:latin typeface="Roboto" panose="02000000000000000000" pitchFamily="2" charset="0"/>
            </a:endParaRPr>
          </a:p>
          <a:p>
            <a:pPr marL="228600" indent="-228600" algn="l">
              <a:buFont typeface="+mj-lt"/>
              <a:buAutoNum type="arabicPeriod"/>
            </a:pPr>
            <a:r>
              <a:rPr lang="zh-CN" altLang="en-US" b="0" i="0" dirty="0">
                <a:effectLst/>
                <a:latin typeface="Roboto" panose="02000000000000000000" pitchFamily="2" charset="0"/>
              </a:rPr>
              <a:t>为什么函数式编程的严格形式约束反而让代码更自然易懂？</a:t>
            </a:r>
            <a:endParaRPr lang="en-US" altLang="zh-CN" b="0" i="0" dirty="0">
              <a:effectLst/>
              <a:latin typeface="Roboto" panose="02000000000000000000" pitchFamily="2" charset="0"/>
            </a:endParaRPr>
          </a:p>
          <a:p>
            <a:pPr marL="685800" lvl="1" indent="-228600" algn="l">
              <a:buFont typeface="Arial" panose="020B0604020202020204" pitchFamily="34" charset="0"/>
              <a:buChar char="•"/>
            </a:pPr>
            <a:r>
              <a:rPr lang="zh-CN" altLang="en-US" b="0" i="0" dirty="0">
                <a:effectLst/>
                <a:latin typeface="Roboto" panose="02000000000000000000" pitchFamily="2" charset="0"/>
              </a:rPr>
              <a:t>这源于</a:t>
            </a:r>
            <a:r>
              <a:rPr lang="zh-CN" altLang="en-US" b="1" i="0" dirty="0">
                <a:effectLst/>
                <a:latin typeface="Roboto" panose="02000000000000000000" pitchFamily="2" charset="0"/>
              </a:rPr>
              <a:t>函数式编程对人类思维方式的恰当抽象</a:t>
            </a:r>
            <a:r>
              <a:rPr lang="zh-CN" altLang="en-US" b="0" i="0" dirty="0">
                <a:effectLst/>
                <a:latin typeface="Roboto" panose="02000000000000000000" pitchFamily="2" charset="0"/>
              </a:rPr>
              <a:t>。当我们理解或描述事物时，我们首先关注的是“它是什么”（本质和关系），而不是“如何得到它”（执行步骤）。函数式编程的声明式结构，虽然要求更严格的形式约束，但这些约束恰恰来自于对自然思维模式的形式化：用函数表达变换关系，用模式匹配表达分类，用类型表达概念边界。这比命令式编程中描述具体执行步骤更接近人类认知和表达的本质方式，因此反而更容易理解和使用。</a:t>
            </a:r>
            <a:endParaRPr lang="en-US" altLang="zh-CN" b="0" i="0" dirty="0">
              <a:effectLst/>
              <a:latin typeface="Roboto" panose="02000000000000000000" pitchFamily="2" charset="0"/>
            </a:endParaRPr>
          </a:p>
          <a:p>
            <a:pPr marL="685800" lvl="1" indent="-228600" algn="l">
              <a:buFont typeface="Arial" panose="020B0604020202020204" pitchFamily="34" charset="0"/>
              <a:buChar char="•"/>
            </a:pPr>
            <a:r>
              <a:rPr lang="zh-CN" altLang="en-US" b="0" i="0" dirty="0">
                <a:effectLst/>
                <a:latin typeface="Roboto" panose="02000000000000000000" pitchFamily="2" charset="0"/>
              </a:rPr>
              <a:t>举例来说，函数式编程有一个核心原则：“所有表达式都必须有值”。这个原则就像废话一样显然（说明</a:t>
            </a:r>
            <a:r>
              <a:rPr lang="zh-CN" altLang="en-US" b="1" i="0" dirty="0">
                <a:effectLst/>
                <a:latin typeface="Roboto" panose="02000000000000000000" pitchFamily="2" charset="0"/>
              </a:rPr>
              <a:t>非常符合直觉</a:t>
            </a:r>
            <a:r>
              <a:rPr lang="zh-CN" altLang="en-US" b="0" i="0" dirty="0">
                <a:effectLst/>
                <a:latin typeface="Roboto" panose="02000000000000000000" pitchFamily="2" charset="0"/>
              </a:rPr>
              <a:t>），但它恰恰确保了程序完整性和类型安全性（说明</a:t>
            </a:r>
            <a:r>
              <a:rPr lang="zh-CN" altLang="en-US" b="1" i="0" dirty="0">
                <a:effectLst/>
                <a:latin typeface="Roboto" panose="02000000000000000000" pitchFamily="2" charset="0"/>
              </a:rPr>
              <a:t>是一种有效而严格的约束</a:t>
            </a:r>
            <a:r>
              <a:rPr lang="zh-CN" altLang="en-US" b="0" i="0" dirty="0">
                <a:effectLst/>
                <a:latin typeface="Roboto" panose="02000000000000000000" pitchFamily="2" charset="0"/>
              </a:rPr>
              <a:t>）。对于一个 </a:t>
            </a:r>
            <a:r>
              <a:rPr lang="en-US" altLang="zh-CN" b="0" i="0" dirty="0">
                <a:effectLst/>
                <a:latin typeface="Roboto" panose="02000000000000000000" pitchFamily="2" charset="0"/>
              </a:rPr>
              <a:t>if-else </a:t>
            </a:r>
            <a:r>
              <a:rPr lang="zh-CN" altLang="en-US" b="0" i="0" dirty="0">
                <a:effectLst/>
                <a:latin typeface="Roboto" panose="02000000000000000000" pitchFamily="2" charset="0"/>
              </a:rPr>
              <a:t>表达式，如果没有 </a:t>
            </a:r>
            <a:r>
              <a:rPr lang="en-US" altLang="zh-CN" b="0" i="0" dirty="0">
                <a:effectLst/>
                <a:latin typeface="Roboto" panose="02000000000000000000" pitchFamily="2" charset="0"/>
              </a:rPr>
              <a:t>else </a:t>
            </a:r>
            <a:r>
              <a:rPr lang="zh-CN" altLang="en-US" b="0" i="0" dirty="0">
                <a:effectLst/>
                <a:latin typeface="Roboto" panose="02000000000000000000" pitchFamily="2" charset="0"/>
              </a:rPr>
              <a:t>分支，那么条件为假时它就没有值，这是不被允许的；同时，</a:t>
            </a:r>
            <a:r>
              <a:rPr lang="en-US" altLang="zh-CN" b="0" i="0" dirty="0">
                <a:effectLst/>
                <a:latin typeface="Roboto" panose="02000000000000000000" pitchFamily="2" charset="0"/>
              </a:rPr>
              <a:t>then </a:t>
            </a:r>
            <a:r>
              <a:rPr lang="zh-CN" altLang="en-US" b="0" i="0" dirty="0">
                <a:effectLst/>
                <a:latin typeface="Roboto" panose="02000000000000000000" pitchFamily="2" charset="0"/>
              </a:rPr>
              <a:t>分支和 </a:t>
            </a:r>
            <a:r>
              <a:rPr lang="en-US" altLang="zh-CN" b="0" i="0" dirty="0">
                <a:effectLst/>
                <a:latin typeface="Roboto" panose="02000000000000000000" pitchFamily="2" charset="0"/>
              </a:rPr>
              <a:t>else </a:t>
            </a:r>
            <a:r>
              <a:rPr lang="zh-CN" altLang="en-US" b="0" i="0" dirty="0">
                <a:effectLst/>
                <a:latin typeface="Roboto" panose="02000000000000000000" pitchFamily="2" charset="0"/>
              </a:rPr>
              <a:t>分支的类型必须一致，暗含了“表达式的值一定有确定的类型”这一原则。</a:t>
            </a:r>
            <a:endParaRPr lang="en-US" altLang="zh-CN" b="0" i="0" dirty="0">
              <a:effectLst/>
              <a:latin typeface="Roboto" panose="02000000000000000000" pitchFamily="2" charset="0"/>
            </a:endParaRPr>
          </a:p>
        </p:txBody>
      </p:sp>
      <p:sp>
        <p:nvSpPr>
          <p:cNvPr id="4" name="灯片编号占位符 3">
            <a:extLst>
              <a:ext uri="{FF2B5EF4-FFF2-40B4-BE49-F238E27FC236}">
                <a16:creationId xmlns:a16="http://schemas.microsoft.com/office/drawing/2014/main" id="{17BB3CE8-4579-CD9D-69B0-C1668F49BA45}"/>
              </a:ext>
            </a:extLst>
          </p:cNvPr>
          <p:cNvSpPr>
            <a:spLocks noGrp="1"/>
          </p:cNvSpPr>
          <p:nvPr>
            <p:ph type="sldNum" sz="quarter" idx="5"/>
          </p:nvPr>
        </p:nvSpPr>
        <p:spPr/>
        <p:txBody>
          <a:bodyPr/>
          <a:lstStyle/>
          <a:p>
            <a:fld id="{179F771C-A0E1-44EC-ACBA-32D3BB8FFF37}" type="slidenum">
              <a:rPr lang="zh-CN" altLang="en-US" smtClean="0"/>
              <a:t>17</a:t>
            </a:fld>
            <a:endParaRPr lang="zh-CN" altLang="en-US"/>
          </a:p>
        </p:txBody>
      </p:sp>
    </p:spTree>
    <p:extLst>
      <p:ext uri="{BB962C8B-B14F-4D97-AF65-F5344CB8AC3E}">
        <p14:creationId xmlns:p14="http://schemas.microsoft.com/office/powerpoint/2010/main" val="2337896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C7BE0-2A4A-BB1D-5589-1612693EF3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D1E1C3-15FD-808E-9B0F-7A4FE2B25C8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95401A16-90A9-4917-81D0-9470137BA510}"/>
                  </a:ext>
                </a:extLst>
              </p:cNvPr>
              <p:cNvSpPr>
                <a:spLocks noGrp="1"/>
              </p:cNvSpPr>
              <p:nvPr>
                <p:ph type="body" idx="1"/>
              </p:nvPr>
            </p:nvSpPr>
            <p:spPr/>
            <p:txBody>
              <a:bodyPr/>
              <a:lstStyle/>
              <a:p>
                <a:pPr algn="l">
                  <a:buFont typeface="Arial" panose="020B0604020202020204" pitchFamily="34" charset="0"/>
                  <a:buNone/>
                </a:pPr>
                <a:r>
                  <a:rPr lang="zh-CN" altLang="en-US" b="0" i="0" dirty="0">
                    <a:effectLst/>
                    <a:latin typeface="Roboto" panose="02000000000000000000" pitchFamily="2" charset="0"/>
                  </a:rPr>
                  <a:t>这个例程覆盖了递归函数定义和模式匹配的知识。</a:t>
                </a:r>
                <a:endParaRPr lang="en-US" altLang="zh-CN" b="0" i="0" dirty="0">
                  <a:effectLst/>
                  <a:latin typeface="Roboto" panose="02000000000000000000" pitchFamily="2" charset="0"/>
                </a:endParaRPr>
              </a:p>
              <a:p>
                <a:pPr algn="l">
                  <a:buFont typeface="Arial" panose="020B0604020202020204" pitchFamily="34" charset="0"/>
                  <a:buNone/>
                </a:pPr>
                <a:endParaRPr lang="en-US" altLang="zh-CN" b="0" i="0" dirty="0">
                  <a:effectLst/>
                  <a:latin typeface="Roboto" panose="02000000000000000000" pitchFamily="2" charset="0"/>
                </a:endParaRPr>
              </a:p>
              <a:p>
                <a:pPr algn="l">
                  <a:buFont typeface="Arial" panose="020B0604020202020204" pitchFamily="34" charset="0"/>
                  <a:buNone/>
                </a:pPr>
                <a:r>
                  <a:rPr lang="zh-CN" altLang="en-US" b="0" i="0" dirty="0">
                    <a:effectLst/>
                    <a:latin typeface="Roboto" panose="02000000000000000000" pitchFamily="2" charset="0"/>
                  </a:rPr>
                  <a:t>思考题参考解答：</a:t>
                </a:r>
                <a:endParaRPr lang="en-US" altLang="zh-CN" b="0" i="0" dirty="0">
                  <a:effectLst/>
                  <a:latin typeface="Roboto"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sz="12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empty_lst</a:t>
                </a:r>
                <a:r>
                  <a:rPr lang="en-US" altLang="zh-CN" sz="12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zh-CN" altLang="en-US" dirty="0">
                    <a:solidFill>
                      <a:schemeClr val="accent1"/>
                    </a:solidFill>
                    <a:latin typeface="Cambria" panose="02040503050406030204" charset="0"/>
                    <a:ea typeface="汉仪中黑 197" panose="00020600040101010101" charset="-122"/>
                  </a:rPr>
                  <a:t>的元素类型是什么？</a:t>
                </a:r>
                <a:endParaRPr lang="en-US" altLang="zh-CN" dirty="0">
                  <a:solidFill>
                    <a:schemeClr val="accent1"/>
                  </a:solidFill>
                  <a:latin typeface="Cambria" panose="02040503050406030204" charset="0"/>
                  <a:ea typeface="汉仪中黑 197" panose="00020600040101010101" charset="-122"/>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dirty="0">
                    <a:latin typeface="Cambria" panose="02040503050406030204" charset="0"/>
                    <a:ea typeface="汉仪中黑 197" panose="00020600040101010101" charset="-122"/>
                  </a:rPr>
                  <a:t>’a </a:t>
                </a:r>
                <a:r>
                  <a:rPr lang="zh-CN" altLang="en-US" dirty="0">
                    <a:latin typeface="Cambria" panose="02040503050406030204" charset="0"/>
                    <a:ea typeface="汉仪中黑 197" panose="00020600040101010101" charset="-122"/>
                  </a:rPr>
                  <a:t>是一个自由的类型变量（</a:t>
                </a:r>
                <a:r>
                  <a:rPr lang="en-US" altLang="zh-CN" dirty="0">
                    <a:latin typeface="Cambria" panose="02040503050406030204" charset="0"/>
                    <a:ea typeface="汉仪中黑 197" panose="00020600040101010101" charset="-122"/>
                  </a:rPr>
                  <a:t>free type variable</a:t>
                </a:r>
                <a:r>
                  <a:rPr lang="zh-CN" altLang="en-US" dirty="0">
                    <a:latin typeface="Cambria" panose="02040503050406030204" charset="0"/>
                    <a:ea typeface="汉仪中黑 197" panose="00020600040101010101" charset="-122"/>
                  </a:rPr>
                  <a:t>），空列表的元素类型是不受约束的。</a:t>
                </a:r>
                <a:endParaRPr lang="en-US" altLang="zh-CN" dirty="0">
                  <a:latin typeface="Cambria" panose="02040503050406030204" charset="0"/>
                  <a:ea typeface="汉仪中黑 197" panose="00020600040101010101" charset="-122"/>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latin typeface="Cambria" panose="02040503050406030204" charset="0"/>
                    <a:ea typeface="汉仪中黑 197" panose="00020600040101010101" charset="-122"/>
                  </a:rPr>
                  <a:t>只有空列表和特定类型的列表拼接之后，它才被约束（</a:t>
                </a:r>
                <a:r>
                  <a:rPr lang="en-US" altLang="zh-CN" dirty="0">
                    <a:latin typeface="Cambria" panose="02040503050406030204" charset="0"/>
                    <a:ea typeface="汉仪中黑 197" panose="00020600040101010101" charset="-122"/>
                  </a:rPr>
                  <a:t>bound</a:t>
                </a:r>
                <a:r>
                  <a:rPr lang="zh-CN" altLang="en-US" dirty="0">
                    <a:latin typeface="Cambria" panose="02040503050406030204" charset="0"/>
                    <a:ea typeface="汉仪中黑 197" panose="00020600040101010101" charset="-122"/>
                  </a:rPr>
                  <a:t>）为具体的类型。</a:t>
                </a:r>
                <a:endParaRPr lang="en-US" altLang="zh-CN" b="0" i="0" dirty="0">
                  <a:effectLst/>
                  <a:latin typeface="Cambria" panose="02040503050406030204" charset="0"/>
                  <a:ea typeface="汉仪中黑 197" panose="00020600040101010101" charset="-122"/>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dirty="0">
                    <a:solidFill>
                      <a:schemeClr val="accent1"/>
                    </a:solidFill>
                    <a:latin typeface="Cambria" panose="02040503050406030204" charset="0"/>
                    <a:ea typeface="汉仪中黑 197" panose="00020600040101010101" charset="-122"/>
                  </a:rPr>
                  <a:t>sum </a:t>
                </a:r>
                <a:r>
                  <a:rPr lang="zh-CN" altLang="en-US" dirty="0">
                    <a:solidFill>
                      <a:schemeClr val="accent1"/>
                    </a:solidFill>
                    <a:latin typeface="Cambria" panose="02040503050406030204" charset="0"/>
                    <a:ea typeface="汉仪中黑 197" panose="00020600040101010101" charset="-122"/>
                  </a:rPr>
                  <a:t>的类型签名是如何推导出来的？</a:t>
                </a:r>
                <a:endParaRPr lang="en-US" altLang="zh-CN" dirty="0">
                  <a:solidFill>
                    <a:schemeClr val="accent1"/>
                  </a:solidFill>
                  <a:latin typeface="Cambria" panose="02040503050406030204" charset="0"/>
                  <a:ea typeface="汉仪中黑 197" panose="00020600040101010101" charset="-122"/>
                </a:endParaRP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从 </a:t>
                </a:r>
                <a:r>
                  <a:rPr lang="en-US" altLang="zh-CN" b="0" i="0" dirty="0">
                    <a:effectLst/>
                    <a:latin typeface="Roboto" panose="02000000000000000000" pitchFamily="2" charset="0"/>
                  </a:rPr>
                  <a:t>[] -&gt; 0 </a:t>
                </a:r>
                <a:r>
                  <a:rPr lang="zh-CN" altLang="en-US" b="0" i="0" dirty="0">
                    <a:effectLst/>
                    <a:latin typeface="Roboto" panose="02000000000000000000" pitchFamily="2" charset="0"/>
                  </a:rPr>
                  <a:t>这个分支来看：</a:t>
                </a:r>
                <a:endParaRPr lang="en-US" altLang="zh-CN" b="0" i="0" dirty="0">
                  <a:effectLst/>
                  <a:latin typeface="Roboto" panose="02000000000000000000" pitchFamily="2" charset="0"/>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函数的输入参数是列表类型；</a:t>
                </a:r>
                <a:endParaRPr lang="en-US" altLang="zh-CN" b="0" i="0" dirty="0">
                  <a:effectLst/>
                  <a:latin typeface="Roboto" panose="02000000000000000000" pitchFamily="2" charset="0"/>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函数的返回类型 </a:t>
                </a:r>
                <a:r>
                  <a:rPr lang="en-US" altLang="zh-CN" b="0" i="0" dirty="0">
                    <a:effectLst/>
                    <a:latin typeface="Roboto" panose="02000000000000000000" pitchFamily="2" charset="0"/>
                  </a:rPr>
                  <a:t>int</a:t>
                </a:r>
                <a:r>
                  <a:rPr lang="zh-CN" altLang="en-US" b="0" i="0" dirty="0">
                    <a:effectLst/>
                    <a:latin typeface="Roboto" panose="02000000000000000000" pitchFamily="2" charset="0"/>
                  </a:rPr>
                  <a:t>；</a:t>
                </a:r>
                <a:endParaRPr lang="en-US" altLang="zh-CN" b="0" i="0" dirty="0">
                  <a:effectLst/>
                  <a:latin typeface="Roboto" panose="02000000000000000000" pitchFamily="2" charset="0"/>
                </a:endParaRP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从 </a:t>
                </a:r>
                <a:r>
                  <a:rPr lang="en-US" altLang="zh-CN" b="0" i="0" dirty="0">
                    <a:effectLst/>
                    <a:latin typeface="Roboto" panose="02000000000000000000" pitchFamily="2" charset="0"/>
                  </a:rPr>
                  <a:t>head :: tail -&gt; head + sum tail </a:t>
                </a:r>
                <a:r>
                  <a:rPr lang="zh-CN" altLang="en-US" b="0" i="0" dirty="0">
                    <a:effectLst/>
                    <a:latin typeface="Roboto" panose="02000000000000000000" pitchFamily="2" charset="0"/>
                  </a:rPr>
                  <a:t>这个分支来看：</a:t>
                </a:r>
                <a:endParaRPr lang="en-US" altLang="zh-CN" b="0" i="0" dirty="0">
                  <a:effectLst/>
                  <a:latin typeface="Roboto" panose="02000000000000000000" pitchFamily="2" charset="0"/>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模式 </a:t>
                </a:r>
                <a:r>
                  <a:rPr lang="en-US" altLang="zh-CN" b="0" i="0" dirty="0">
                    <a:effectLst/>
                    <a:latin typeface="Roboto" panose="02000000000000000000" pitchFamily="2" charset="0"/>
                  </a:rPr>
                  <a:t>head :: tail </a:t>
                </a:r>
                <a:r>
                  <a:rPr lang="zh-CN" altLang="en-US" b="0" i="0" dirty="0">
                    <a:effectLst/>
                    <a:latin typeface="Roboto" panose="02000000000000000000" pitchFamily="2" charset="0"/>
                  </a:rPr>
                  <a:t>是列表类型，验证了函数的输入参数是列表类型；</a:t>
                </a:r>
                <a:endParaRPr lang="en-US" altLang="zh-CN" b="0" i="0" dirty="0">
                  <a:effectLst/>
                  <a:latin typeface="Roboto" panose="02000000000000000000" pitchFamily="2" charset="0"/>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0" i="0" dirty="0">
                    <a:effectLst/>
                    <a:latin typeface="Roboto" panose="02000000000000000000" pitchFamily="2" charset="0"/>
                  </a:rPr>
                  <a:t>+</a:t>
                </a:r>
                <a:r>
                  <a:rPr lang="zh-CN" altLang="en-US" b="0" i="0" dirty="0">
                    <a:effectLst/>
                    <a:latin typeface="Roboto" panose="02000000000000000000" pitchFamily="2" charset="0"/>
                  </a:rPr>
                  <a:t>（整数加法）运算符限制了 </a:t>
                </a:r>
                <a:r>
                  <a:rPr lang="en-US" altLang="zh-CN" b="0" i="0" dirty="0">
                    <a:effectLst/>
                    <a:latin typeface="Roboto" panose="02000000000000000000" pitchFamily="2" charset="0"/>
                  </a:rPr>
                  <a:t>head </a:t>
                </a:r>
                <a:r>
                  <a:rPr lang="zh-CN" altLang="en-US" b="0" i="0" dirty="0">
                    <a:effectLst/>
                    <a:latin typeface="Roboto" panose="02000000000000000000" pitchFamily="2" charset="0"/>
                  </a:rPr>
                  <a:t>和 </a:t>
                </a:r>
                <a:r>
                  <a:rPr lang="en-US" altLang="zh-CN" b="0" i="0" dirty="0">
                    <a:effectLst/>
                    <a:latin typeface="Roboto" panose="02000000000000000000" pitchFamily="2" charset="0"/>
                  </a:rPr>
                  <a:t>sum tail </a:t>
                </a:r>
                <a:r>
                  <a:rPr lang="zh-CN" altLang="en-US" b="0" i="0" dirty="0">
                    <a:effectLst/>
                    <a:latin typeface="Roboto" panose="02000000000000000000" pitchFamily="2" charset="0"/>
                  </a:rPr>
                  <a:t>必须都是 </a:t>
                </a:r>
                <a:r>
                  <a:rPr lang="en-US" altLang="zh-CN" b="0" i="0" dirty="0">
                    <a:effectLst/>
                    <a:latin typeface="Roboto" panose="02000000000000000000" pitchFamily="2" charset="0"/>
                  </a:rPr>
                  <a:t>int </a:t>
                </a:r>
                <a:r>
                  <a:rPr lang="zh-CN" altLang="en-US" b="0" i="0" dirty="0">
                    <a:effectLst/>
                    <a:latin typeface="Roboto" panose="02000000000000000000" pitchFamily="2" charset="0"/>
                  </a:rPr>
                  <a:t>类型，并且验证了返回类型是 </a:t>
                </a:r>
                <a:r>
                  <a:rPr lang="en-US" altLang="zh-CN" b="0" i="0" dirty="0">
                    <a:effectLst/>
                    <a:latin typeface="Roboto" panose="02000000000000000000" pitchFamily="2" charset="0"/>
                  </a:rPr>
                  <a:t>int</a:t>
                </a:r>
                <a:r>
                  <a:rPr lang="zh-CN" altLang="en-US" b="0" i="0" dirty="0">
                    <a:effectLst/>
                    <a:latin typeface="Roboto" panose="02000000000000000000" pitchFamily="2" charset="0"/>
                  </a:rPr>
                  <a:t>；</a:t>
                </a:r>
                <a:endParaRPr lang="en-US" altLang="zh-CN" b="0" i="0" dirty="0">
                  <a:effectLst/>
                  <a:latin typeface="Roboto" panose="02000000000000000000" pitchFamily="2" charset="0"/>
                </a:endParaRPr>
              </a:p>
              <a:p>
                <a:pPr marL="1143000" marR="0" lvl="2"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b="0" i="0" dirty="0">
                    <a:effectLst/>
                    <a:latin typeface="Roboto" panose="02000000000000000000" pitchFamily="2" charset="0"/>
                  </a:rPr>
                  <a:t>tail </a:t>
                </a:r>
                <a:r>
                  <a:rPr lang="zh-CN" altLang="en-US" b="0" i="0" dirty="0">
                    <a:effectLst/>
                    <a:latin typeface="Roboto" panose="02000000000000000000" pitchFamily="2" charset="0"/>
                  </a:rPr>
                  <a:t>与 </a:t>
                </a:r>
                <a:r>
                  <a:rPr lang="en-US" altLang="zh-CN" b="0" i="0" dirty="0">
                    <a:effectLst/>
                    <a:latin typeface="Roboto" panose="02000000000000000000" pitchFamily="2" charset="0"/>
                  </a:rPr>
                  <a:t>sum </a:t>
                </a:r>
                <a:r>
                  <a:rPr lang="zh-CN" altLang="en-US" b="0" i="0" dirty="0">
                    <a:effectLst/>
                    <a:latin typeface="Roboto" panose="02000000000000000000" pitchFamily="2" charset="0"/>
                  </a:rPr>
                  <a:t>函数的参数同类型。</a:t>
                </a:r>
                <a:endParaRPr lang="en-US" altLang="zh-CN" b="0" i="0" dirty="0">
                  <a:effectLst/>
                  <a:latin typeface="Roboto" panose="02000000000000000000" pitchFamily="2" charset="0"/>
                </a:endParaRP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0" i="0" dirty="0">
                    <a:effectLst/>
                    <a:latin typeface="Roboto" panose="02000000000000000000" pitchFamily="2" charset="0"/>
                  </a:rPr>
                  <a:t>实际上从模式匹配的任意一个分支都可以推出参数类型和返回类型，但是每个分支都推导一遍可以检测不同分支之间类型不匹配的错误。</a:t>
                </a:r>
              </a:p>
            </p:txBody>
          </p:sp>
        </mc:Choice>
        <mc:Fallback xmlns="">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effectLst/>
                    <a:latin typeface="Roboto" panose="02000000000000000000" pitchFamily="2" charset="0"/>
                  </a:rPr>
                  <a:t>思考题解答：</a:t>
                </a:r>
                <a:endParaRPr lang="en-US" altLang="zh-CN" b="0" i="0" dirty="0">
                  <a:effectLst/>
                  <a:latin typeface="Roboto"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sz="12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int -&gt; int -&gt; int</a:t>
                </a:r>
                <a:r>
                  <a:rPr lang="en-US" altLang="zh-CN" sz="1200"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怎么表示为映射关系？</a:t>
                </a:r>
                <a:endParaRPr lang="en-US" altLang="zh-CN" dirty="0">
                  <a:solidFill>
                    <a:schemeClr val="accent1"/>
                  </a:solidFill>
                  <a:latin typeface="Cambria" panose="02040503050406030204" charset="0"/>
                  <a:ea typeface="汉仪中黑 197" panose="00020600040101010101" charset="-122"/>
                </a:endParaRP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en-US" altLang="zh-CN" b="0" i="0" dirty="0">
                    <a:effectLst/>
                    <a:latin typeface="Roboto" panose="02000000000000000000" pitchFamily="2" charset="0"/>
                  </a:rPr>
                  <a:t>int -&gt; int -&gt; int </a:t>
                </a:r>
                <a:r>
                  <a:rPr lang="zh-CN" altLang="en-US" b="0" i="0" dirty="0">
                    <a:effectLst/>
                    <a:latin typeface="Roboto" panose="02000000000000000000" pitchFamily="2" charset="0"/>
                  </a:rPr>
                  <a:t>可以表示为：</a:t>
                </a:r>
                <a:r>
                  <a:rPr lang="en-US" altLang="zh-CN" b="0" i="0" dirty="0">
                    <a:effectLst/>
                    <a:latin typeface="Roboto" panose="02000000000000000000" pitchFamily="2" charset="0"/>
                  </a:rPr>
                  <a:t>ℤ → (ℤ → ℤ)</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CN" altLang="en-US" dirty="0">
                    <a:solidFill>
                      <a:schemeClr val="accent1"/>
                    </a:solidFill>
                    <a:latin typeface="Cambria" panose="02040503050406030204" charset="0"/>
                    <a:ea typeface="汉仪中黑 197" panose="00020600040101010101" charset="-122"/>
                  </a:rPr>
                  <a:t>这种映射关系和 </a:t>
                </a:r>
                <a:r>
                  <a:rPr lang="en-US" altLang="zh-CN" i="0">
                    <a:solidFill>
                      <a:schemeClr val="accent1"/>
                    </a:solidFill>
                    <a:latin typeface="Cambria Math" panose="02040503050406030204" pitchFamily="18" charset="0"/>
                  </a:rPr>
                  <a:t>ℤ×ℤ</a:t>
                </a:r>
                <a:r>
                  <a:rPr lang="en-US" altLang="zh-CN" b="0" i="0">
                    <a:solidFill>
                      <a:schemeClr val="accent1"/>
                    </a:solidFill>
                    <a:latin typeface="Cambria Math" panose="02040503050406030204" pitchFamily="18" charset="0"/>
                  </a:rPr>
                  <a:t>" </a:t>
                </a:r>
                <a:r>
                  <a:rPr lang="zh-CN" altLang="en-US" i="0" dirty="0">
                    <a:solidFill>
                      <a:schemeClr val="accent1"/>
                    </a:solidFill>
                    <a:latin typeface="Cambria Math" panose="02040503050406030204" pitchFamily="18" charset="0"/>
                  </a:rPr>
                  <a:t>→</a:t>
                </a:r>
                <a:r>
                  <a:rPr lang="en-US" altLang="zh-CN" b="0" i="0" dirty="0">
                    <a:solidFill>
                      <a:schemeClr val="accent1"/>
                    </a:solidFill>
                    <a:latin typeface="Cambria Math" panose="02040503050406030204" pitchFamily="18" charset="0"/>
                  </a:rPr>
                  <a:t> </a:t>
                </a:r>
                <a:r>
                  <a:rPr lang="en-US" altLang="zh-CN" b="0" i="0">
                    <a:solidFill>
                      <a:schemeClr val="accent1"/>
                    </a:solidFill>
                    <a:latin typeface="Cambria Math" panose="02040503050406030204" pitchFamily="18" charset="0"/>
                  </a:rPr>
                  <a:t>" </a:t>
                </a:r>
                <a:r>
                  <a:rPr lang="en-US" altLang="zh-CN" i="0">
                    <a:solidFill>
                      <a:schemeClr val="accent1"/>
                    </a:solidFill>
                    <a:latin typeface="Cambria Math" panose="02040503050406030204" pitchFamily="18" charset="0"/>
                  </a:rPr>
                  <a:t>ℤ</a:t>
                </a:r>
                <a:r>
                  <a:rPr lang="en-US" altLang="zh-CN"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等价吗？</a:t>
                </a:r>
                <a:endParaRPr lang="en-US" altLang="zh-CN" b="0" i="0" dirty="0">
                  <a:effectLst/>
                  <a:latin typeface="Roboto" panose="02000000000000000000" pitchFamily="2" charset="0"/>
                </a:endParaRP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en-US" altLang="zh-CN" b="0" i="0" dirty="0">
                    <a:effectLst/>
                    <a:latin typeface="Roboto" panose="02000000000000000000" pitchFamily="2" charset="0"/>
                  </a:rPr>
                  <a:t>ℤ×ℤ → ℤ </a:t>
                </a:r>
                <a:r>
                  <a:rPr lang="zh-CN" altLang="en-US" b="0" i="0" dirty="0">
                    <a:effectLst/>
                    <a:latin typeface="Roboto" panose="02000000000000000000" pitchFamily="2" charset="0"/>
                  </a:rPr>
                  <a:t>表示从整数对 </a:t>
                </a:r>
                <a:r>
                  <a:rPr lang="en-US" altLang="zh-CN" b="0" i="0" dirty="0">
                    <a:effectLst/>
                    <a:latin typeface="Roboto" panose="02000000000000000000" pitchFamily="2" charset="0"/>
                  </a:rPr>
                  <a:t>(a, b) </a:t>
                </a:r>
                <a:r>
                  <a:rPr lang="zh-CN" altLang="en-US" b="0" i="0" dirty="0">
                    <a:effectLst/>
                    <a:latin typeface="Roboto" panose="02000000000000000000" pitchFamily="2" charset="0"/>
                  </a:rPr>
                  <a:t>到整数的映射；</a:t>
                </a:r>
                <a:r>
                  <a:rPr lang="en-US" altLang="zh-CN" b="0" i="0" dirty="0">
                    <a:effectLst/>
                    <a:latin typeface="Roboto" panose="02000000000000000000" pitchFamily="2" charset="0"/>
                  </a:rPr>
                  <a:t>int -&gt; int -&gt; int </a:t>
                </a:r>
                <a:r>
                  <a:rPr lang="zh-CN" altLang="en-US" b="0" i="0" dirty="0">
                    <a:effectLst/>
                    <a:latin typeface="Roboto" panose="02000000000000000000" pitchFamily="2" charset="0"/>
                  </a:rPr>
                  <a:t>表示从整数 </a:t>
                </a:r>
                <a:r>
                  <a:rPr lang="en-US" altLang="zh-CN" b="0" i="0" dirty="0">
                    <a:effectLst/>
                    <a:latin typeface="Roboto" panose="02000000000000000000" pitchFamily="2" charset="0"/>
                  </a:rPr>
                  <a:t>a </a:t>
                </a:r>
                <a:r>
                  <a:rPr lang="zh-CN" altLang="en-US" b="0" i="0" dirty="0">
                    <a:effectLst/>
                    <a:latin typeface="Roboto" panose="02000000000000000000" pitchFamily="2" charset="0"/>
                  </a:rPr>
                  <a:t>到“整数到整数函数” </a:t>
                </a:r>
                <a:r>
                  <a:rPr lang="en-US" altLang="zh-CN" b="0" i="0" dirty="0">
                    <a:effectLst/>
                    <a:latin typeface="Roboto" panose="02000000000000000000" pitchFamily="2" charset="0"/>
                  </a:rPr>
                  <a:t>f’(b)</a:t>
                </a:r>
                <a:r>
                  <a:rPr lang="zh-CN" altLang="en-US" b="0" i="0" dirty="0">
                    <a:effectLst/>
                    <a:latin typeface="Roboto" panose="02000000000000000000" pitchFamily="2" charset="0"/>
                  </a:rPr>
                  <a:t>的映射，相当于把前者拆成了两步。</a:t>
                </a:r>
                <a:br>
                  <a:rPr lang="en-US" altLang="zh-CN" b="0" i="0" dirty="0">
                    <a:effectLst/>
                    <a:latin typeface="Roboto" panose="02000000000000000000" pitchFamily="2" charset="0"/>
                  </a:rPr>
                </a:br>
                <a:r>
                  <a:rPr lang="zh-CN" altLang="en-US" b="0" i="0" dirty="0">
                    <a:effectLst/>
                    <a:latin typeface="Roboto" panose="02000000000000000000" pitchFamily="2" charset="0"/>
                  </a:rPr>
                  <a:t>这两种表示方式是等价的，也就是所谓的柯里化同构：</a:t>
                </a:r>
                <a:r>
                  <a:rPr lang="en-US" altLang="zh-CN" b="0" i="0" dirty="0">
                    <a:effectLst/>
                    <a:latin typeface="Roboto" panose="02000000000000000000" pitchFamily="2" charset="0"/>
                  </a:rPr>
                  <a:t>(ℤ×ℤ → ℤ) ≅ (ℤ → (ℤ → ℤ))</a:t>
                </a:r>
              </a:p>
            </p:txBody>
          </p:sp>
        </mc:Fallback>
      </mc:AlternateContent>
      <p:sp>
        <p:nvSpPr>
          <p:cNvPr id="4" name="灯片编号占位符 3">
            <a:extLst>
              <a:ext uri="{FF2B5EF4-FFF2-40B4-BE49-F238E27FC236}">
                <a16:creationId xmlns:a16="http://schemas.microsoft.com/office/drawing/2014/main" id="{475B53F6-6339-B806-4F9E-575EED7A5ACB}"/>
              </a:ext>
            </a:extLst>
          </p:cNvPr>
          <p:cNvSpPr>
            <a:spLocks noGrp="1"/>
          </p:cNvSpPr>
          <p:nvPr>
            <p:ph type="sldNum" sz="quarter" idx="5"/>
          </p:nvPr>
        </p:nvSpPr>
        <p:spPr/>
        <p:txBody>
          <a:bodyPr/>
          <a:lstStyle/>
          <a:p>
            <a:fld id="{179F771C-A0E1-44EC-ACBA-32D3BB8FFF37}" type="slidenum">
              <a:rPr lang="zh-CN" altLang="en-US" smtClean="0"/>
              <a:t>18</a:t>
            </a:fld>
            <a:endParaRPr lang="zh-CN" altLang="en-US"/>
          </a:p>
        </p:txBody>
      </p:sp>
    </p:spTree>
    <p:extLst>
      <p:ext uri="{BB962C8B-B14F-4D97-AF65-F5344CB8AC3E}">
        <p14:creationId xmlns:p14="http://schemas.microsoft.com/office/powerpoint/2010/main" val="5926001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说出每段代码的思路和来由，也就是说清楚“我为什么这么写”，主要是为了保证大家是自己写的</a:t>
            </a:r>
          </a:p>
        </p:txBody>
      </p:sp>
      <p:sp>
        <p:nvSpPr>
          <p:cNvPr id="4" name="灯片编号占位符 3"/>
          <p:cNvSpPr>
            <a:spLocks noGrp="1"/>
          </p:cNvSpPr>
          <p:nvPr>
            <p:ph type="sldNum" sz="quarter" idx="5"/>
          </p:nvPr>
        </p:nvSpPr>
        <p:spPr/>
        <p:txBody>
          <a:bodyPr/>
          <a:lstStyle/>
          <a:p>
            <a:fld id="{179F771C-A0E1-44EC-ACBA-32D3BB8FFF37}" type="slidenum">
              <a:rPr lang="zh-CN" altLang="en-US" smtClean="0"/>
              <a:t>20</a:t>
            </a:fld>
            <a:endParaRPr lang="zh-CN" altLang="en-US"/>
          </a:p>
        </p:txBody>
      </p:sp>
    </p:spTree>
    <p:extLst>
      <p:ext uri="{BB962C8B-B14F-4D97-AF65-F5344CB8AC3E}">
        <p14:creationId xmlns:p14="http://schemas.microsoft.com/office/powerpoint/2010/main" val="167268289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file:///C:\Users\1V994W2\PycharmProjects\PPT_Background_Generation/pic_temp/pic_sup.png" TargetMode="External"/><Relationship Id="rId4" Type="http://schemas.openxmlformats.org/officeDocument/2006/relationships/tags" Target="../tags/tag11.xml"/><Relationship Id="rId9"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png"/><Relationship Id="rId5" Type="http://schemas.openxmlformats.org/officeDocument/2006/relationships/tags" Target="../tags/tag19.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8.xml"/><Relationship Id="rId9"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file:///C:\Users\1V994W2\PycharmProjects\PPT_Background_Generation/pic_temp/pic_half_left.png" TargetMode="Externa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3.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2.xml"/><Relationship Id="rId10" Type="http://schemas.openxmlformats.org/officeDocument/2006/relationships/image" Target="../media/image2.png"/><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2.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1.xml"/><Relationship Id="rId5" Type="http://schemas.openxmlformats.org/officeDocument/2006/relationships/tags" Target="../tags/tag4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50.xml"/><Relationship Id="rId10" Type="http://schemas.openxmlformats.org/officeDocument/2006/relationships/image" Target="../media/image2.png"/><Relationship Id="rId4" Type="http://schemas.openxmlformats.org/officeDocument/2006/relationships/tags" Target="../tags/tag49.xml"/><Relationship Id="rId9" Type="http://schemas.openxmlformats.org/officeDocument/2006/relationships/image" Target="file:///C:\Users\1V994W2\Documents\Tencent%20Files\574576071\FileRecv\&#25340;&#35013;&#32032;&#26448;\&#31616;&#32422;&#28385;&#29256;-60\\57\subject_holdright_148,80,52_0_staid_full_0.pn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3.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59.xml"/><Relationship Id="rId10" Type="http://schemas.openxmlformats.org/officeDocument/2006/relationships/image" Target="../media/image2.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image" Target="../media/image3.png"/><Relationship Id="rId5" Type="http://schemas.openxmlformats.org/officeDocument/2006/relationships/tags" Target="../tags/tag67.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66.xml"/><Relationship Id="rId9"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2.xml"/><Relationship Id="rId7"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74.xml"/><Relationship Id="rId10" Type="http://schemas.openxmlformats.org/officeDocument/2006/relationships/image" Target="../media/image3.png"/><Relationship Id="rId4" Type="http://schemas.openxmlformats.org/officeDocument/2006/relationships/tags" Target="../tags/tag73.xml"/><Relationship Id="rId9" Type="http://schemas.openxmlformats.org/officeDocument/2006/relationships/image" Target="file:///C:\Users\1V994W2\PycharmProjects\PPT_Background_Generation/pic_temp/0_pic_quater_right_down.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8.xml"/><Relationship Id="rId7" Type="http://schemas.openxmlformats.org/officeDocument/2006/relationships/tags" Target="../tags/tag8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10" Type="http://schemas.openxmlformats.org/officeDocument/2006/relationships/image" Target="file:///C:\Users\1V994W2\PycharmProjects\PPT_Background_Generation/pic_temp/pic_sup.png" TargetMode="External"/><Relationship Id="rId4" Type="http://schemas.openxmlformats.org/officeDocument/2006/relationships/tags" Target="../tags/tag79.xml"/><Relationship Id="rId9"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5.xml"/><Relationship Id="rId7" Type="http://schemas.openxmlformats.org/officeDocument/2006/relationships/slideMaster" Target="../slideMasters/slideMaster1.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7.xml"/><Relationship Id="rId10" Type="http://schemas.openxmlformats.org/officeDocument/2006/relationships/image" Target="../media/image3.png"/><Relationship Id="rId4" Type="http://schemas.openxmlformats.org/officeDocument/2006/relationships/tags" Target="../tags/tag86.xml"/><Relationship Id="rId9" Type="http://schemas.openxmlformats.org/officeDocument/2006/relationships/image" Target="file:///C:\Users\1V994W2\PycharmProjects\PPT_Background_Generation/pic_temp/0_pic_quater_right_down.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3.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3.xml"/><Relationship Id="rId10" Type="http://schemas.openxmlformats.org/officeDocument/2006/relationships/image" Target="../media/image2.png"/><Relationship Id="rId4" Type="http://schemas.openxmlformats.org/officeDocument/2006/relationships/tags" Target="../tags/tag92.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01.xml"/><Relationship Id="rId10" Type="http://schemas.openxmlformats.org/officeDocument/2006/relationships/image" Target="../media/image2.png"/><Relationship Id="rId4" Type="http://schemas.openxmlformats.org/officeDocument/2006/relationships/tags" Target="../tags/tag100.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3.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2.png"/><Relationship Id="rId5" Type="http://schemas.openxmlformats.org/officeDocument/2006/relationships/tags" Target="../tags/tag109.xml"/><Relationship Id="rId10" Type="http://schemas.openxmlformats.org/officeDocument/2006/relationships/slideMaster" Target="../slideMasters/slideMaster1.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file:///C:\Users\1V994W2\PycharmProjects\PPT_Background_Generation/pic_temp/1_pic_quater_left_down.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3.png"/><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2.png"/><Relationship Id="rId5" Type="http://schemas.openxmlformats.org/officeDocument/2006/relationships/tags" Target="../tags/tag118.xml"/><Relationship Id="rId10"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file:///C:\Users\1V994W2\PycharmProjects\PPT_Background_Generation/pic_temp/1_pic_quater_left_down.png"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2.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slideMaster" Target="../slideMasters/slideMaster1.xml"/><Relationship Id="rId2" Type="http://schemas.openxmlformats.org/officeDocument/2006/relationships/tags" Target="../tags/tag12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3.png"/><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image" Target="file:///C:\Users\1V994W2\PycharmProjects\PPT_Background_Generation/pic_temp/0_pic_quater_right_down.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image" Target="../media/image7.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8.xml"/><Relationship Id="rId10" Type="http://schemas.openxmlformats.org/officeDocument/2006/relationships/image" Target="../media/image6.png"/><Relationship Id="rId4" Type="http://schemas.openxmlformats.org/officeDocument/2006/relationships/tags" Target="../tags/tag137.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9" r:link="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6" name="日期占位符 15"/>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17" name="页脚占位符 16"/>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921000" y="2311082"/>
            <a:ext cx="6350000" cy="1440180"/>
          </a:xfrm>
        </p:spPr>
        <p:txBody>
          <a:bodyPr vert="horz" wrap="square" lIns="0" tIns="0" rIns="0" bIns="0" rtlCol="0" anchor="b" anchorCtr="0">
            <a:normAutofit/>
          </a:bodyPr>
          <a:lstStyle>
            <a:lvl1pPr algn="dist">
              <a:defRPr lang="zh-CN" altLang="en-US" sz="7200" b="0" spc="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921000" y="4153854"/>
            <a:ext cx="6350000" cy="393065"/>
          </a:xfrm>
        </p:spPr>
        <p:txBody>
          <a:bodyPr vert="horz" wrap="square" lIns="0" tIns="0" rIns="0" bIns="0" rtlCol="0" anchor="t" anchorCtr="0">
            <a:normAutofit/>
          </a:bodyPr>
          <a:lstStyle>
            <a:lvl1pPr algn="dist">
              <a:defRPr lang="zh-CN" altLang="en-US" sz="2000" spc="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a:t>单击此处编辑副标题</a:t>
            </a:r>
          </a:p>
        </p:txBody>
      </p:sp>
      <p:cxnSp>
        <p:nvCxnSpPr>
          <p:cNvPr id="8" name="直接连接符 8"/>
          <p:cNvCxnSpPr/>
          <p:nvPr userDrawn="1">
            <p:custDataLst>
              <p:tags r:id="rId7"/>
            </p:custDataLst>
          </p:nvPr>
        </p:nvCxnSpPr>
        <p:spPr>
          <a:xfrm>
            <a:off x="5609590" y="3950653"/>
            <a:ext cx="972185"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7" name="图片 7"/>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1397000"/>
            <a:ext cx="3612445" cy="4064000"/>
          </a:xfrm>
          <a:prstGeom prst="rect">
            <a:avLst/>
          </a:prstGeom>
        </p:spPr>
      </p:pic>
      <p:sp>
        <p:nvSpPr>
          <p:cNvPr id="4" name="日期占位符 3"/>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5" name="页脚占位符 4"/>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Subtitle 1"/>
          <p:cNvSpPr>
            <a:spLocks noGrp="1"/>
          </p:cNvSpPr>
          <p:nvPr>
            <p:ph type="subTitle" idx="13" hasCustomPrompt="1"/>
            <p:custDataLst>
              <p:tags r:id="rId5"/>
            </p:custDataLst>
          </p:nvPr>
        </p:nvSpPr>
        <p:spPr>
          <a:xfrm>
            <a:off x="5084446" y="3823971"/>
            <a:ext cx="5767705" cy="321945"/>
          </a:xfrm>
        </p:spPr>
        <p:txBody>
          <a:bodyPr vert="horz" wrap="square" lIns="0" tIns="0" rIns="0" bIns="0" rtlCol="0" anchor="t" anchorCtr="0">
            <a:normAutofit/>
          </a:bodyPr>
          <a:lstStyle>
            <a:lvl1pPr algn="dist">
              <a:defRPr kumimoji="0" lang="zh-CN" altLang="en-US" sz="180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6"/>
            </p:custDataLst>
          </p:nvPr>
        </p:nvSpPr>
        <p:spPr>
          <a:xfrm>
            <a:off x="5084446" y="2785110"/>
            <a:ext cx="5767705" cy="835660"/>
          </a:xfrm>
        </p:spPr>
        <p:txBody>
          <a:bodyPr vert="horz" wrap="square" lIns="0" tIns="0" rIns="0" bIns="0" rtlCol="0" anchor="b" anchorCtr="0">
            <a:normAutofit/>
          </a:bodyPr>
          <a:lstStyle>
            <a:lvl1pPr algn="dist">
              <a:defRPr kumimoji="0" lang="zh-CN" altLang="en-US" sz="48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10" name="图片 7"/>
          <p:cNvPicPr/>
          <p:nvPr userDrawn="1">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8" name="页脚占位符 7"/>
          <p:cNvSpPr>
            <a:spLocks noGrp="1"/>
          </p:cNvSpPr>
          <p:nvPr>
            <p:ph type="ftr" sz="quarter" idx="11"/>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304800" y="2194560"/>
            <a:ext cx="4389120" cy="2468880"/>
          </a:xfrm>
          <a:prstGeom prst="rect">
            <a:avLst/>
          </a:prstGeom>
        </p:spPr>
      </p:pic>
      <p:pic>
        <p:nvPicPr>
          <p:cNvPr id="6"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6391942"/>
            <a:ext cx="720090" cy="466058"/>
          </a:xfrm>
          <a:prstGeom prst="rect">
            <a:avLst/>
          </a:prstGeom>
        </p:spPr>
      </p:pic>
      <p:sp>
        <p:nvSpPr>
          <p:cNvPr id="2" name="标题 1"/>
          <p:cNvSpPr>
            <a:spLocks noGrp="1"/>
          </p:cNvSpPr>
          <p:nvPr>
            <p:ph type="title"/>
            <p:custDataLst>
              <p:tags r:id="rId3"/>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3" name="页脚占位符 2"/>
          <p:cNvSpPr>
            <a:spLocks noGrp="1"/>
          </p:cNvSpPr>
          <p:nvPr>
            <p:ph type="ftr" sz="quarter" idx="11"/>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3"/>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t>2025/2/23</a:t>
            </a:fld>
            <a:endParaRPr lang="zh-CN" altLang="en-US" dirty="0"/>
          </a:p>
        </p:txBody>
      </p:sp>
      <p:sp>
        <p:nvSpPr>
          <p:cNvPr id="6" name="页脚占位符 5"/>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7" name="图片 7"/>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竖排标题 1"/>
          <p:cNvSpPr>
            <a:spLocks noGrp="1"/>
          </p:cNvSpPr>
          <p:nvPr>
            <p:ph type="title" orient="vert"/>
            <p:custDataLst>
              <p:tags r:id="rId3"/>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6"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9" r:link="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3412807" y="2379663"/>
            <a:ext cx="5365750" cy="1398905"/>
          </a:xfrm>
        </p:spPr>
        <p:txBody>
          <a:bodyPr vert="horz" wrap="square" lIns="0" tIns="0" rIns="0" bIns="0" rtlCol="0" anchor="b" anchorCtr="0">
            <a:normAutofit/>
          </a:bodyPr>
          <a:lstStyle>
            <a:lvl1pPr algn="dist">
              <a:defRPr lang="zh-CN" altLang="en-US" sz="8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3413442" y="4117022"/>
            <a:ext cx="5365115" cy="361315"/>
          </a:xfrm>
        </p:spPr>
        <p:txBody>
          <a:bodyPr vert="horz" wrap="square" lIns="0" tIns="0" rIns="0" bIns="0" rtlCol="0" anchor="t" anchorCtr="0">
            <a:normAutofit/>
          </a:bodyPr>
          <a:lstStyle>
            <a:lvl1pPr algn="dist">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a:t>单击此处编辑副标题</a:t>
            </a:r>
          </a:p>
        </p:txBody>
      </p:sp>
      <p:cxnSp>
        <p:nvCxnSpPr>
          <p:cNvPr id="8" name="直接连接符 10"/>
          <p:cNvCxnSpPr/>
          <p:nvPr userDrawn="1">
            <p:custDataLst>
              <p:tags r:id="rId7"/>
            </p:custDataLst>
          </p:nvPr>
        </p:nvCxnSpPr>
        <p:spPr>
          <a:xfrm>
            <a:off x="3355657" y="3913822"/>
            <a:ext cx="5480050"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6"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3"/>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92075" y="303809"/>
            <a:ext cx="11607851" cy="6250382"/>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6"/>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8" name="图片 8"/>
          <p:cNvPicPr/>
          <p:nvPr userDrawn="1">
            <p:custDataLst>
              <p:tags r:id="rId3"/>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4824603" cy="6858000"/>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6"/>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hasCustomPrompt="1"/>
            <p:custDataLst>
              <p:tags r:id="rId3"/>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0"/>
            <a:ext cx="12192000" cy="2664333"/>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8" name="图片 8"/>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28971"/>
            <a:ext cx="12192000" cy="1829029"/>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720090" cy="466058"/>
          </a:xfrm>
          <a:prstGeom prst="rect">
            <a:avLst/>
          </a:prstGeom>
        </p:spPr>
      </p:pic>
      <p:pic>
        <p:nvPicPr>
          <p:cNvPr id="8" name="图片 8"/>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11471910" y="0"/>
            <a:ext cx="720090" cy="466058"/>
          </a:xfrm>
          <a:prstGeom prst="rect">
            <a:avLst/>
          </a:prstGeom>
        </p:spPr>
      </p:pic>
      <p:sp>
        <p:nvSpPr>
          <p:cNvPr id="2" name="标题 1"/>
          <p:cNvSpPr>
            <a:spLocks noGrp="1"/>
          </p:cNvSpPr>
          <p:nvPr>
            <p:ph type="title"/>
            <p:custDataLst>
              <p:tags r:id="rId4"/>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6"/>
          <p:cNvPicPr/>
          <p:nvPr userDrawn="1">
            <p:custDataLst>
              <p:tags r:id="rId2"/>
            </p:custDataLst>
          </p:nvPr>
        </p:nvPicPr>
        <p:blipFill>
          <a:blip r:embed="rId13" r:link="rId14" cstate="print">
            <a:extLst>
              <a:ext uri="{28A0092B-C50C-407E-A947-70E740481C1C}">
                <a14:useLocalDpi xmlns:a14="http://schemas.microsoft.com/office/drawing/2010/main" val="0"/>
              </a:ext>
            </a:extLst>
          </a:blip>
          <a:stretch>
            <a:fillRect/>
          </a:stretch>
        </p:blipFill>
        <p:spPr>
          <a:xfrm>
            <a:off x="11471910" y="6391942"/>
            <a:ext cx="720090" cy="466058"/>
          </a:xfrm>
          <a:prstGeom prst="rect">
            <a:avLst/>
          </a:prstGeom>
        </p:spPr>
      </p:pic>
      <p:pic>
        <p:nvPicPr>
          <p:cNvPr id="10" name="图片 8"/>
          <p:cNvPicPr/>
          <p:nvPr userDrawn="1">
            <p:custDataLst>
              <p:tags r:id="rId3"/>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6391942"/>
            <a:ext cx="720090" cy="466058"/>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953691"/>
            <a:ext cx="12192000" cy="4950618"/>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6"/>
          <p:cNvPicPr/>
          <p:nvPr userDrawn="1">
            <p:custDataLst>
              <p:tags r:id="rId2"/>
            </p:custDataLst>
          </p:nvPr>
        </p:nvPicPr>
        <p:blipFill>
          <a:blip r:embed="rId10" r:link="rId11">
            <a:extLst>
              <a:ext uri="{28A0092B-C50C-407E-A947-70E740481C1C}">
                <a14:useLocalDpi xmlns:a14="http://schemas.microsoft.com/office/drawing/2010/main" val="0"/>
              </a:ext>
            </a:extLst>
          </a:blip>
          <a:stretch>
            <a:fillRect/>
          </a:stretch>
        </p:blipFill>
        <p:spPr>
          <a:xfrm>
            <a:off x="10571797" y="5809369"/>
            <a:ext cx="1620202" cy="1048631"/>
          </a:xfrm>
          <a:prstGeom prst="rect">
            <a:avLst/>
          </a:prstGeom>
        </p:spPr>
      </p:pic>
      <p:pic>
        <p:nvPicPr>
          <p:cNvPr id="8" name="图片 8"/>
          <p:cNvPicPr/>
          <p:nvPr userDrawn="1">
            <p:custDataLst>
              <p:tags r:id="rId3"/>
            </p:custDataLst>
          </p:nvPr>
        </p:nvPicPr>
        <p:blipFill>
          <a:blip r:embed="rId12" r:link="rId13">
            <a:extLst>
              <a:ext uri="{28A0092B-C50C-407E-A947-70E740481C1C}">
                <a14:useLocalDpi xmlns:a14="http://schemas.microsoft.com/office/drawing/2010/main" val="0"/>
              </a:ext>
            </a:extLst>
          </a:blip>
          <a:stretch>
            <a:fillRect/>
          </a:stretch>
        </p:blipFill>
        <p:spPr>
          <a:xfrm>
            <a:off x="0" y="5809369"/>
            <a:ext cx="1620202" cy="1048631"/>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2025/2/23</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slideLayout" Target="../slideLayouts/slideLayout3.xml"/><Relationship Id="rId5" Type="http://schemas.openxmlformats.org/officeDocument/2006/relationships/tags" Target="../tags/tag149.xml"/><Relationship Id="rId4" Type="http://schemas.openxmlformats.org/officeDocument/2006/relationships/tags" Target="../tags/tag14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50.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ags" Target="../tags/tag15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5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5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code.visualstudio.com/"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55.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5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3.xml"/><Relationship Id="rId5" Type="http://schemas.openxmlformats.org/officeDocument/2006/relationships/tags" Target="../tags/tag162.xml"/><Relationship Id="rId4" Type="http://schemas.openxmlformats.org/officeDocument/2006/relationships/tags" Target="../tags/tag16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6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6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tags" Target="../tags/tag167.xml"/><Relationship Id="rId7" Type="http://schemas.openxmlformats.org/officeDocument/2006/relationships/notesSlide" Target="../notesSlides/notesSlide11.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slideLayout" Target="../slideLayouts/slideLayout3.xml"/><Relationship Id="rId5" Type="http://schemas.openxmlformats.org/officeDocument/2006/relationships/tags" Target="../tags/tag169.xml"/><Relationship Id="rId4" Type="http://schemas.openxmlformats.org/officeDocument/2006/relationships/tags" Target="../tags/tag16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70.xml"/><Relationship Id="rId5" Type="http://schemas.openxmlformats.org/officeDocument/2006/relationships/image" Target="../media/image22.png"/><Relationship Id="rId4" Type="http://schemas.openxmlformats.org/officeDocument/2006/relationships/image" Target="../media/image19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7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72.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73.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slideLayout" Target="../slideLayouts/slideLayout3.xml"/><Relationship Id="rId5" Type="http://schemas.openxmlformats.org/officeDocument/2006/relationships/tags" Target="../tags/tag178.xml"/><Relationship Id="rId4" Type="http://schemas.openxmlformats.org/officeDocument/2006/relationships/tags" Target="../tags/tag17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9.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slideLayout" Target="../slideLayouts/slideLayout3.xml"/><Relationship Id="rId5" Type="http://schemas.openxmlformats.org/officeDocument/2006/relationships/tags" Target="../tags/tag184.xml"/><Relationship Id="rId4" Type="http://schemas.openxmlformats.org/officeDocument/2006/relationships/tags" Target="../tags/tag183.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3"/>
            <p:custDataLst>
              <p:tags r:id="rId2"/>
            </p:custDataLst>
          </p:nvPr>
        </p:nvSpPr>
        <p:spPr/>
        <p:txBody>
          <a:bodyPr vert="horz" wrap="square" lIns="0" tIns="0" rIns="0" bIns="0" rtlCol="0" anchor="b" anchorCtr="0">
            <a:normAutofit fontScale="90000"/>
          </a:bodyPr>
          <a:lstStyle/>
          <a:p>
            <a:pPr marL="0" indent="0" algn="dist">
              <a:lnSpc>
                <a:spcPct val="100000"/>
              </a:lnSpc>
              <a:spcBef>
                <a:spcPts val="0"/>
              </a:spcBef>
              <a:spcAft>
                <a:spcPts val="0"/>
              </a:spcAft>
              <a:buSzPct val="100000"/>
              <a:buNone/>
            </a:pPr>
            <a:r>
              <a:rPr lang="en-US" altLang="zh-CN" sz="7200" dirty="0">
                <a:solidFill>
                  <a:schemeClr val="accent1">
                    <a:lumMod val="50000"/>
                  </a:schemeClr>
                </a:solidFill>
                <a:latin typeface="Cambria" panose="02040503050406030204" charset="0"/>
                <a:ea typeface="汉仪中黑 197" panose="00020600040101010101" charset="-122"/>
              </a:rPr>
              <a:t>Tutorial 1</a:t>
            </a:r>
            <a:br>
              <a:rPr lang="en-US" altLang="zh-CN" sz="7200" dirty="0">
                <a:solidFill>
                  <a:schemeClr val="accent1">
                    <a:lumMod val="50000"/>
                  </a:schemeClr>
                </a:solidFill>
                <a:latin typeface="Cambria" panose="02040503050406030204" charset="0"/>
                <a:ea typeface="汉仪中黑 197" panose="00020600040101010101" charset="-122"/>
              </a:rPr>
            </a:br>
            <a:r>
              <a:rPr lang="en-US" altLang="zh-CN" sz="3100" dirty="0">
                <a:solidFill>
                  <a:schemeClr val="accent1">
                    <a:lumMod val="50000"/>
                  </a:schemeClr>
                </a:solidFill>
                <a:latin typeface="Cambria" panose="02040503050406030204" charset="0"/>
                <a:ea typeface="汉仪中黑 197" panose="00020600040101010101" charset="-122"/>
              </a:rPr>
              <a:t>Basic Programming Tasks of OCaml</a:t>
            </a:r>
          </a:p>
        </p:txBody>
      </p:sp>
      <p:sp>
        <p:nvSpPr>
          <p:cNvPr id="3" name="Subtitle 2"/>
          <p:cNvSpPr>
            <a:spLocks noGrp="1"/>
          </p:cNvSpPr>
          <p:nvPr>
            <p:ph type="subTitle" idx="14"/>
            <p:custDataLst>
              <p:tags r:id="rId3"/>
            </p:custDataLst>
          </p:nvPr>
        </p:nvSpPr>
        <p:spPr>
          <a:xfrm>
            <a:off x="2921000" y="4154170"/>
            <a:ext cx="6350000" cy="1526540"/>
          </a:xfrm>
        </p:spPr>
        <p:txBody>
          <a:bodyPr vert="horz" wrap="square" lIns="0" tIns="0" rIns="0" bIns="0" rtlCol="0" anchor="t" anchorCtr="0">
            <a:normAutofit/>
          </a:bodyPr>
          <a:lstStyle/>
          <a:p>
            <a:pPr marL="0" indent="0" algn="ctr">
              <a:lnSpc>
                <a:spcPct val="150000"/>
              </a:lnSpc>
              <a:spcBef>
                <a:spcPts val="0"/>
              </a:spcBef>
              <a:spcAft>
                <a:spcPts val="0"/>
              </a:spcAft>
              <a:buSzPct val="100000"/>
              <a:buNone/>
            </a:pPr>
            <a:r>
              <a:rPr lang="en-US" altLang="zh-CN" sz="2000" dirty="0">
                <a:solidFill>
                  <a:schemeClr val="dk1">
                    <a:lumMod val="65000"/>
                    <a:lumOff val="35000"/>
                  </a:schemeClr>
                </a:solidFill>
                <a:latin typeface="Cambria" panose="02040503050406030204" charset="0"/>
                <a:ea typeface="汉仪中黑 197" panose="00020600040101010101" charset="-122"/>
              </a:rPr>
              <a:t>Programming Languages &amp; Compilers </a:t>
            </a:r>
            <a:r>
              <a:rPr lang="en-US" altLang="zh-CN" dirty="0">
                <a:solidFill>
                  <a:schemeClr val="dk1">
                    <a:lumMod val="65000"/>
                    <a:lumOff val="35000"/>
                  </a:schemeClr>
                </a:solidFill>
                <a:latin typeface="Cambria" panose="02040503050406030204" charset="0"/>
                <a:ea typeface="汉仪中黑 197" panose="00020600040101010101" charset="-122"/>
                <a:sym typeface="+mn-ea"/>
              </a:rPr>
              <a:t>Spring 2025</a:t>
            </a:r>
            <a:endParaRPr lang="en-US" altLang="zh-CN" sz="2000" dirty="0">
              <a:solidFill>
                <a:schemeClr val="dk1">
                  <a:lumMod val="65000"/>
                  <a:lumOff val="35000"/>
                </a:schemeClr>
              </a:solidFill>
              <a:latin typeface="Cambria" panose="02040503050406030204" charset="0"/>
              <a:ea typeface="汉仪中黑 197" panose="00020600040101010101" charset="-122"/>
            </a:endParaRPr>
          </a:p>
          <a:p>
            <a:pPr marL="0" indent="0" algn="ctr">
              <a:lnSpc>
                <a:spcPct val="150000"/>
              </a:lnSpc>
              <a:spcBef>
                <a:spcPts val="0"/>
              </a:spcBef>
              <a:spcAft>
                <a:spcPts val="0"/>
              </a:spcAft>
              <a:buSzPct val="100000"/>
              <a:buNone/>
            </a:pPr>
            <a:r>
              <a:rPr lang="en-US" altLang="zh-CN" dirty="0">
                <a:solidFill>
                  <a:schemeClr val="dk1">
                    <a:lumMod val="65000"/>
                    <a:lumOff val="35000"/>
                  </a:schemeClr>
                </a:solidFill>
                <a:latin typeface="Cambria" panose="02040503050406030204" charset="0"/>
                <a:ea typeface="汉仪中黑 197" panose="00020600040101010101" charset="-122"/>
              </a:rPr>
              <a:t>School of Computer Science, Wuhan University</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3244850" y="2983230"/>
            <a:ext cx="1659890" cy="1106805"/>
          </a:xfrm>
          <a:prstGeom prst="rect">
            <a:avLst/>
          </a:prstGeom>
          <a:noFill/>
        </p:spPr>
        <p:txBody>
          <a:bodyPr wrap="square" rtlCol="0" anchor="ctr" anchorCtr="0">
            <a:normAutofit/>
          </a:bodyPr>
          <a:lstStyle/>
          <a:p>
            <a:pPr algn="ctr"/>
            <a:r>
              <a:rPr lang="en-US" altLang="zh-CN" sz="6600" b="1" spc="200" dirty="0">
                <a:solidFill>
                  <a:schemeClr val="accent1">
                    <a:lumMod val="50000"/>
                  </a:schemeClr>
                </a:solidFill>
                <a:latin typeface="Cambria" panose="02040503050406030204" charset="0"/>
                <a:ea typeface="汉仪中黑 197" panose="00020600040101010101" charset="-122"/>
                <a:cs typeface="Arial" panose="020B0604020202020204" pitchFamily="34" charset="0"/>
              </a:rPr>
              <a:t>01</a:t>
            </a:r>
          </a:p>
        </p:txBody>
      </p:sp>
      <p:sp>
        <p:nvSpPr>
          <p:cNvPr id="2" name="文本框 1"/>
          <p:cNvSpPr txBox="1"/>
          <p:nvPr>
            <p:custDataLst>
              <p:tags r:id="rId3"/>
            </p:custDataLst>
          </p:nvPr>
        </p:nvSpPr>
        <p:spPr>
          <a:xfrm>
            <a:off x="3244850" y="2712085"/>
            <a:ext cx="1659890" cy="338455"/>
          </a:xfrm>
          <a:prstGeom prst="rect">
            <a:avLst/>
          </a:prstGeom>
          <a:noFill/>
        </p:spPr>
        <p:txBody>
          <a:bodyPr wrap="square" lIns="0" tIns="0" rIns="0" bIns="0" rtlCol="0" anchor="b" anchorCtr="0">
            <a:normAutofit/>
          </a:bodyPr>
          <a:lstStyle/>
          <a:p>
            <a:pPr algn="ctr"/>
            <a:r>
              <a:rPr lang="en-US" altLang="zh-CN" b="1" spc="200">
                <a:solidFill>
                  <a:schemeClr val="accent1">
                    <a:lumMod val="50000"/>
                  </a:schemeClr>
                </a:solidFill>
                <a:latin typeface="Cambria" panose="02040503050406030204" charset="0"/>
                <a:ea typeface="汉仪中黑 197" panose="00020600040101010101" charset="-122"/>
                <a:sym typeface="+mn-ea"/>
              </a:rPr>
              <a:t>PART ONE</a:t>
            </a:r>
            <a:endParaRPr lang="en-US" altLang="zh-CN" b="1" spc="200" dirty="0">
              <a:solidFill>
                <a:schemeClr val="accent1">
                  <a:lumMod val="50000"/>
                </a:schemeClr>
              </a:solidFill>
              <a:latin typeface="Cambria" panose="02040503050406030204" charset="0"/>
              <a:ea typeface="汉仪中黑 197" panose="00020600040101010101" charset="-122"/>
              <a:sym typeface="+mn-ea"/>
            </a:endParaRPr>
          </a:p>
        </p:txBody>
      </p:sp>
      <p:cxnSp>
        <p:nvCxnSpPr>
          <p:cNvPr id="12" name="直接连接符 11"/>
          <p:cNvCxnSpPr/>
          <p:nvPr>
            <p:custDataLst>
              <p:tags r:id="rId4"/>
            </p:custDataLst>
          </p:nvPr>
        </p:nvCxnSpPr>
        <p:spPr>
          <a:xfrm>
            <a:off x="3390900" y="4088765"/>
            <a:ext cx="1367790" cy="0"/>
          </a:xfrm>
          <a:prstGeom prst="line">
            <a:avLst/>
          </a:prstGeom>
          <a:noFill/>
          <a:ln w="19050" cap="flat" cmpd="sng" algn="ctr">
            <a:solidFill>
              <a:schemeClr val="accent1"/>
            </a:solidFill>
            <a:prstDash val="solid"/>
            <a:miter lim="800000"/>
          </a:ln>
          <a:effectLst/>
        </p:spPr>
      </p:cxnSp>
      <p:sp>
        <p:nvSpPr>
          <p:cNvPr id="10" name="Title 2"/>
          <p:cNvSpPr>
            <a:spLocks noGrp="1"/>
          </p:cNvSpPr>
          <p:nvPr>
            <p:ph type="ctrTitle" idx="14"/>
            <p:custDataLst>
              <p:tags r:id="rId5"/>
            </p:custDataLst>
          </p:nvPr>
        </p:nvSpPr>
        <p:spPr>
          <a:xfrm>
            <a:off x="5084446" y="3050540"/>
            <a:ext cx="5767705" cy="835660"/>
          </a:xfrm>
        </p:spPr>
        <p:txBody>
          <a:bodyPr vert="horz" wrap="square" lIns="0" tIns="0" rIns="0" bIns="0" rtlCol="0" anchor="b" anchorCtr="0">
            <a:normAutofit/>
          </a:bodyPr>
          <a:lstStyle/>
          <a:p>
            <a:pPr algn="dist"/>
            <a:r>
              <a:rPr dirty="0">
                <a:solidFill>
                  <a:schemeClr val="accent1">
                    <a:lumMod val="50000"/>
                  </a:schemeClr>
                </a:solidFill>
                <a:latin typeface="Cambria" panose="02040503050406030204" charset="0"/>
                <a:ea typeface="汉仪中黑 197" panose="00020600040101010101" charset="-122"/>
              </a:rPr>
              <a:t>开发环境配置</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8F4A-0C54-BC09-9902-42EAA7646A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5AA3AC-2F5E-CCB5-B82D-0F618F916D33}"/>
              </a:ext>
            </a:extLst>
          </p:cNvPr>
          <p:cNvSpPr>
            <a:spLocks noGrp="1"/>
          </p:cNvSpPr>
          <p:nvPr>
            <p:ph type="title"/>
          </p:nvPr>
        </p:nvSpPr>
        <p:spPr/>
        <p:txBody>
          <a:bodyPr>
            <a:normAutofit fontScale="90000"/>
          </a:bodyPr>
          <a:lstStyle/>
          <a:p>
            <a:r>
              <a:rPr dirty="0">
                <a:latin typeface="Cambria" panose="02040503050406030204" charset="0"/>
                <a:ea typeface="汉仪中黑 197" panose="00020600040101010101" charset="-122"/>
              </a:rPr>
              <a:t>开发环境配置</a:t>
            </a:r>
          </a:p>
        </p:txBody>
      </p:sp>
      <p:sp>
        <p:nvSpPr>
          <p:cNvPr id="3" name="内容占位符 2">
            <a:extLst>
              <a:ext uri="{FF2B5EF4-FFF2-40B4-BE49-F238E27FC236}">
                <a16:creationId xmlns:a16="http://schemas.microsoft.com/office/drawing/2014/main" id="{97440FCD-9C98-D0AA-5746-4DAF51C284A1}"/>
              </a:ext>
            </a:extLst>
          </p:cNvPr>
          <p:cNvSpPr>
            <a:spLocks noGrp="1"/>
          </p:cNvSpPr>
          <p:nvPr>
            <p:ph sz="half" idx="1"/>
          </p:nvPr>
        </p:nvSpPr>
        <p:spPr/>
        <p:txBody>
          <a:bodyPr>
            <a:normAutofit/>
          </a:bodyPr>
          <a:lstStyle/>
          <a:p>
            <a:r>
              <a:rPr b="1" dirty="0">
                <a:latin typeface="Cambria" panose="02040503050406030204" charset="0"/>
                <a:ea typeface="汉仪中黑 197" panose="00020600040101010101" charset="-122"/>
              </a:rPr>
              <a:t>准备好</a:t>
            </a:r>
            <a:r>
              <a:rPr lang="en-US" altLang="zh-CN" b="1" dirty="0">
                <a:latin typeface="Cambria" panose="02040503050406030204" charset="0"/>
                <a:ea typeface="汉仪中黑 197" panose="00020600040101010101" charset="-122"/>
              </a:rPr>
              <a:t> Linux/macOS </a:t>
            </a:r>
            <a:r>
              <a:rPr b="1" dirty="0">
                <a:latin typeface="Cambria" panose="02040503050406030204" charset="0"/>
                <a:ea typeface="汉仪中黑 197" panose="00020600040101010101" charset="-122"/>
              </a:rPr>
              <a:t>环境</a:t>
            </a:r>
            <a:r>
              <a:rPr lang="zh-CN" altLang="en-US" b="1" dirty="0">
                <a:latin typeface="Cambria" panose="02040503050406030204" charset="0"/>
                <a:ea typeface="汉仪中黑 197" panose="00020600040101010101" charset="-122"/>
              </a:rPr>
              <a:t>：</a:t>
            </a:r>
            <a:endParaRPr b="1" dirty="0">
              <a:latin typeface="Cambria" panose="02040503050406030204" charset="0"/>
              <a:ea typeface="汉仪中黑 197" panose="00020600040101010101" charset="-122"/>
            </a:endParaRPr>
          </a:p>
          <a:p>
            <a:pPr lvl="1"/>
            <a:r>
              <a:rPr lang="zh-CN" altLang="en-US" i="1" dirty="0">
                <a:solidFill>
                  <a:schemeClr val="accent4"/>
                </a:solidFill>
                <a:latin typeface="Cambria" panose="02040503050406030204" charset="0"/>
                <a:ea typeface="汉仪中黑 197" panose="00020600040101010101" charset="-122"/>
              </a:rPr>
              <a:t>注：用 </a:t>
            </a:r>
            <a:r>
              <a:rPr lang="en-US" altLang="zh-CN" i="1" dirty="0">
                <a:solidFill>
                  <a:schemeClr val="accent4"/>
                </a:solidFill>
                <a:latin typeface="Cambria" panose="02040503050406030204" charset="0"/>
                <a:ea typeface="汉仪中黑 197" panose="00020600040101010101" charset="-122"/>
              </a:rPr>
              <a:t>Debian/Ubuntu </a:t>
            </a:r>
            <a:r>
              <a:rPr lang="zh-CN" altLang="en-US" i="1" dirty="0">
                <a:solidFill>
                  <a:schemeClr val="accent4"/>
                </a:solidFill>
                <a:latin typeface="Cambria" panose="02040503050406030204" charset="0"/>
                <a:ea typeface="汉仪中黑 197" panose="00020600040101010101" charset="-122"/>
              </a:rPr>
              <a:t>以外 </a:t>
            </a:r>
            <a:r>
              <a:rPr lang="en-US" altLang="zh-CN" i="1" dirty="0">
                <a:solidFill>
                  <a:schemeClr val="accent4"/>
                </a:solidFill>
                <a:latin typeface="Cambria" panose="02040503050406030204" charset="0"/>
                <a:ea typeface="汉仪中黑 197" panose="00020600040101010101" charset="-122"/>
              </a:rPr>
              <a:t>Linux </a:t>
            </a:r>
            <a:r>
              <a:rPr lang="zh-CN" altLang="en-US" i="1" dirty="0">
                <a:solidFill>
                  <a:schemeClr val="accent4"/>
                </a:solidFill>
                <a:latin typeface="Cambria" panose="02040503050406030204" charset="0"/>
                <a:ea typeface="汉仪中黑 197" panose="00020600040101010101" charset="-122"/>
              </a:rPr>
              <a:t>发行版的同学，除了用到的包管理器可能不是 </a:t>
            </a:r>
            <a:r>
              <a:rPr lang="en-US" i="1" dirty="0">
                <a:solidFill>
                  <a:schemeClr val="accent4"/>
                </a:solidFill>
                <a:latin typeface="Cambria" panose="02040503050406030204" charset="0"/>
                <a:ea typeface="汉仪中黑 197" panose="00020600040101010101" charset="-122"/>
              </a:rPr>
              <a:t>apt </a:t>
            </a:r>
            <a:r>
              <a:rPr lang="zh-CN" altLang="en-US" i="1" dirty="0">
                <a:solidFill>
                  <a:schemeClr val="accent4"/>
                </a:solidFill>
                <a:latin typeface="Cambria" panose="02040503050406030204" charset="0"/>
                <a:ea typeface="汉仪中黑 197" panose="00020600040101010101" charset="-122"/>
              </a:rPr>
              <a:t>外，大同小异。</a:t>
            </a:r>
          </a:p>
          <a:p>
            <a:pPr lvl="1"/>
            <a:r>
              <a:rPr b="1" dirty="0">
                <a:latin typeface="Cambria" panose="02040503050406030204" charset="0"/>
                <a:ea typeface="汉仪中黑 197" panose="00020600040101010101" charset="-122"/>
              </a:rPr>
              <a:t>用</a:t>
            </a:r>
            <a:r>
              <a:rPr lang="en-US" altLang="zh-CN" b="1" dirty="0">
                <a:latin typeface="Cambria" panose="02040503050406030204" charset="0"/>
                <a:ea typeface="汉仪中黑 197" panose="00020600040101010101" charset="-122"/>
              </a:rPr>
              <a:t> Windows </a:t>
            </a:r>
            <a:r>
              <a:rPr b="1" dirty="0">
                <a:latin typeface="Cambria" panose="02040503050406030204" charset="0"/>
                <a:ea typeface="汉仪中黑 197" panose="00020600040101010101" charset="-122"/>
              </a:rPr>
              <a:t>系统的同学，有两种推荐方法：</a:t>
            </a:r>
          </a:p>
          <a:p>
            <a:pPr marL="1257300" lvl="2" indent="-342900">
              <a:buFont typeface="+mj-lt"/>
              <a:buAutoNum type="arabicPeriod"/>
            </a:pPr>
            <a:r>
              <a:rPr lang="zh-CN" altLang="en-US" b="1" dirty="0">
                <a:latin typeface="Cambria" panose="02040503050406030204" charset="0"/>
                <a:ea typeface="汉仪中黑 197" panose="00020600040101010101" charset="-122"/>
              </a:rPr>
              <a:t>预配置虚拟机（</a:t>
            </a:r>
            <a:r>
              <a:rPr lang="en-US" altLang="zh-CN" b="1" dirty="0">
                <a:latin typeface="Cambria" panose="02040503050406030204" charset="0"/>
                <a:ea typeface="汉仪中黑 197" panose="00020600040101010101" charset="-122"/>
              </a:rPr>
              <a:t>WHU-PLC-VM</a:t>
            </a:r>
            <a:r>
              <a:rPr lang="zh-CN" altLang="en-US" b="1" dirty="0">
                <a:latin typeface="Cambria" panose="02040503050406030204" charset="0"/>
                <a:ea typeface="汉仪中黑 197" panose="00020600040101010101" charset="-122"/>
              </a:rPr>
              <a:t>）：</a:t>
            </a:r>
          </a:p>
          <a:p>
            <a:pPr lvl="3"/>
            <a:r>
              <a:rPr lang="en-US" altLang="zh-CN" dirty="0">
                <a:latin typeface="Cambria" panose="02040503050406030204" charset="0"/>
                <a:ea typeface="汉仪中黑 197" panose="00020600040101010101" charset="-122"/>
              </a:rPr>
              <a:t>OCaml</a:t>
            </a:r>
            <a:r>
              <a:rPr lang="zh-CN" altLang="en-US" dirty="0">
                <a:latin typeface="Cambria" panose="02040503050406030204" charset="0"/>
                <a:ea typeface="汉仪中黑 197" panose="00020600040101010101" charset="-122"/>
              </a:rPr>
              <a:t> 和 </a:t>
            </a:r>
            <a:r>
              <a:rPr lang="en-US" altLang="zh-CN" dirty="0">
                <a:latin typeface="Cambria" panose="02040503050406030204" charset="0"/>
                <a:ea typeface="汉仪中黑 197" panose="00020600040101010101" charset="-122"/>
              </a:rPr>
              <a:t>VS Code </a:t>
            </a:r>
            <a:r>
              <a:rPr lang="zh-CN" altLang="en-US" dirty="0">
                <a:latin typeface="Cambria" panose="02040503050406030204" charset="0"/>
                <a:ea typeface="汉仪中黑 197" panose="00020600040101010101" charset="-122"/>
              </a:rPr>
              <a:t>环境已经配置好。</a:t>
            </a:r>
          </a:p>
          <a:p>
            <a:pPr lvl="3"/>
            <a:r>
              <a:rPr lang="zh-CN" altLang="en-US" dirty="0">
                <a:latin typeface="Cambria" panose="02040503050406030204" charset="0"/>
                <a:ea typeface="汉仪中黑 197" panose="00020600040101010101" charset="-122"/>
              </a:rPr>
              <a:t>需要的同学可以带一个 </a:t>
            </a:r>
            <a:r>
              <a:rPr lang="en-US" altLang="zh-CN" dirty="0">
                <a:latin typeface="Cambria" panose="02040503050406030204" charset="0"/>
                <a:ea typeface="汉仪中黑 197" panose="00020600040101010101" charset="-122"/>
              </a:rPr>
              <a:t>U </a:t>
            </a:r>
            <a:r>
              <a:rPr lang="zh-CN" altLang="en-US" dirty="0">
                <a:latin typeface="Cambria" panose="02040503050406030204" charset="0"/>
                <a:ea typeface="汉仪中黑 197" panose="00020600040101010101" charset="-122"/>
              </a:rPr>
              <a:t>盘找助教拷贝 </a:t>
            </a:r>
            <a:r>
              <a:rPr lang="en-US" altLang="zh-CN" dirty="0">
                <a:latin typeface="Cambria" panose="02040503050406030204" charset="0"/>
                <a:ea typeface="汉仪中黑 197" panose="00020600040101010101" charset="-122"/>
              </a:rPr>
              <a:t>VMware </a:t>
            </a:r>
            <a:r>
              <a:rPr lang="zh-CN" altLang="en-US" dirty="0">
                <a:latin typeface="Cambria" panose="02040503050406030204" charset="0"/>
                <a:ea typeface="汉仪中黑 197" panose="00020600040101010101" charset="-122"/>
              </a:rPr>
              <a:t>安装包和虚拟机文件。</a:t>
            </a:r>
          </a:p>
          <a:p>
            <a:pPr lvl="3"/>
            <a:r>
              <a:rPr lang="zh-CN" altLang="en-US" dirty="0">
                <a:latin typeface="Cambria" panose="02040503050406030204" charset="0"/>
                <a:ea typeface="汉仪中黑 197" panose="00020600040101010101" charset="-122"/>
              </a:rPr>
              <a:t>安装好 </a:t>
            </a:r>
            <a:r>
              <a:rPr lang="en-US" altLang="zh-CN" dirty="0">
                <a:latin typeface="Cambria" panose="02040503050406030204" charset="0"/>
                <a:ea typeface="汉仪中黑 197" panose="00020600040101010101" charset="-122"/>
              </a:rPr>
              <a:t>VMware </a:t>
            </a:r>
            <a:r>
              <a:rPr lang="zh-CN" altLang="en-US" dirty="0">
                <a:latin typeface="Cambria" panose="02040503050406030204" charset="0"/>
                <a:ea typeface="汉仪中黑 197" panose="00020600040101010101" charset="-122"/>
              </a:rPr>
              <a:t>后，双击虚拟机文件或将其拖入 </a:t>
            </a:r>
            <a:r>
              <a:rPr lang="en-US" altLang="zh-CN" dirty="0">
                <a:latin typeface="Cambria" panose="02040503050406030204" charset="0"/>
                <a:ea typeface="汉仪中黑 197" panose="00020600040101010101" charset="-122"/>
              </a:rPr>
              <a:t>VMware Workstation </a:t>
            </a:r>
            <a:r>
              <a:rPr lang="zh-CN" altLang="en-US" dirty="0">
                <a:latin typeface="Cambria" panose="02040503050406030204" charset="0"/>
                <a:ea typeface="汉仪中黑 197" panose="00020600040101010101" charset="-122"/>
              </a:rPr>
              <a:t>窗口即可导入。</a:t>
            </a:r>
          </a:p>
          <a:p>
            <a:pPr lvl="3"/>
            <a:r>
              <a:rPr lang="zh-CN" altLang="en-US" dirty="0">
                <a:latin typeface="Cambria" panose="02040503050406030204" charset="0"/>
                <a:ea typeface="汉仪中黑 197" panose="00020600040101010101" charset="-122"/>
              </a:rPr>
              <a:t>用户名：</a:t>
            </a:r>
            <a:r>
              <a:rPr lang="en-US" altLang="zh-CN" b="1" dirty="0" err="1">
                <a:solidFill>
                  <a:schemeClr val="accent1"/>
                </a:solidFill>
                <a:latin typeface="Cambria" panose="02040503050406030204" charset="0"/>
                <a:ea typeface="汉仪中黑 197" panose="00020600040101010101" charset="-122"/>
              </a:rPr>
              <a:t>whu</a:t>
            </a:r>
            <a:r>
              <a:rPr lang="en-US" altLang="zh-CN" b="1" dirty="0">
                <a:solidFill>
                  <a:schemeClr val="accent1"/>
                </a:solidFill>
                <a:latin typeface="Cambria" panose="02040503050406030204" charset="0"/>
                <a:ea typeface="汉仪中黑 197" panose="00020600040101010101" charset="-122"/>
              </a:rPr>
              <a:t>-plc</a:t>
            </a:r>
            <a:br>
              <a:rPr lang="zh-CN" altLang="en-US" dirty="0">
                <a:latin typeface="Cambria" panose="02040503050406030204" charset="0"/>
                <a:ea typeface="汉仪中黑 197" panose="00020600040101010101" charset="-122"/>
              </a:rPr>
            </a:br>
            <a:r>
              <a:rPr lang="zh-CN" altLang="en-US" dirty="0">
                <a:latin typeface="Cambria" panose="02040503050406030204" charset="0"/>
                <a:ea typeface="汉仪中黑 197" panose="00020600040101010101" charset="-122"/>
              </a:rPr>
              <a:t>密码：</a:t>
            </a:r>
            <a:r>
              <a:rPr lang="en-US" altLang="zh-CN" b="1" dirty="0">
                <a:solidFill>
                  <a:schemeClr val="accent1"/>
                </a:solidFill>
                <a:latin typeface="Cambria" panose="02040503050406030204" charset="0"/>
                <a:ea typeface="汉仪中黑 197" panose="00020600040101010101" charset="-122"/>
              </a:rPr>
              <a:t>123456</a:t>
            </a:r>
            <a:endParaRPr lang="zh-CN" altLang="en-US" b="1" dirty="0">
              <a:solidFill>
                <a:schemeClr val="accent1"/>
              </a:solidFill>
              <a:latin typeface="Cambria" panose="02040503050406030204" charset="0"/>
              <a:ea typeface="汉仪中黑 197" panose="00020600040101010101" charset="-122"/>
            </a:endParaRPr>
          </a:p>
        </p:txBody>
      </p:sp>
      <p:pic>
        <p:nvPicPr>
          <p:cNvPr id="10" name="内容占位符 9">
            <a:extLst>
              <a:ext uri="{FF2B5EF4-FFF2-40B4-BE49-F238E27FC236}">
                <a16:creationId xmlns:a16="http://schemas.microsoft.com/office/drawing/2014/main" id="{52D0AA42-EA49-09B9-57D3-7A931321CE2F}"/>
              </a:ext>
            </a:extLst>
          </p:cNvPr>
          <p:cNvPicPr>
            <a:picLocks noGrp="1" noChangeAspect="1"/>
          </p:cNvPicPr>
          <p:nvPr>
            <p:ph sz="half" idx="2"/>
          </p:nvPr>
        </p:nvPicPr>
        <p:blipFill>
          <a:blip r:embed="rId4"/>
          <a:stretch>
            <a:fillRect/>
          </a:stretch>
        </p:blipFill>
        <p:spPr>
          <a:xfrm>
            <a:off x="6238875" y="1918670"/>
            <a:ext cx="5283200" cy="3457223"/>
          </a:xfrm>
        </p:spPr>
      </p:pic>
    </p:spTree>
    <p:custDataLst>
      <p:tags r:id="rId1"/>
    </p:custDataLst>
    <p:extLst>
      <p:ext uri="{BB962C8B-B14F-4D97-AF65-F5344CB8AC3E}">
        <p14:creationId xmlns:p14="http://schemas.microsoft.com/office/powerpoint/2010/main" val="717330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81E75-1615-0628-B8BF-1C04E45937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76F161-D8E0-C76E-3D2D-B6EADFB8A260}"/>
              </a:ext>
            </a:extLst>
          </p:cNvPr>
          <p:cNvSpPr>
            <a:spLocks noGrp="1"/>
          </p:cNvSpPr>
          <p:nvPr>
            <p:ph type="title"/>
          </p:nvPr>
        </p:nvSpPr>
        <p:spPr/>
        <p:txBody>
          <a:bodyPr>
            <a:normAutofit fontScale="90000"/>
          </a:bodyPr>
          <a:lstStyle/>
          <a:p>
            <a:r>
              <a:rPr dirty="0">
                <a:solidFill>
                  <a:schemeClr val="bg1">
                    <a:lumMod val="75000"/>
                  </a:schemeClr>
                </a:solidFill>
                <a:latin typeface="Cambria" panose="02040503050406030204" charset="0"/>
                <a:ea typeface="汉仪中黑 197" panose="00020600040101010101" charset="-122"/>
              </a:rPr>
              <a:t>开发环境配置</a:t>
            </a:r>
          </a:p>
        </p:txBody>
      </p:sp>
      <p:sp>
        <p:nvSpPr>
          <p:cNvPr id="3" name="内容占位符 2">
            <a:extLst>
              <a:ext uri="{FF2B5EF4-FFF2-40B4-BE49-F238E27FC236}">
                <a16:creationId xmlns:a16="http://schemas.microsoft.com/office/drawing/2014/main" id="{F8E1815D-8A68-72FC-F1F5-1F0F23ABD4F2}"/>
              </a:ext>
            </a:extLst>
          </p:cNvPr>
          <p:cNvSpPr>
            <a:spLocks noGrp="1"/>
          </p:cNvSpPr>
          <p:nvPr>
            <p:ph sz="half" idx="1"/>
          </p:nvPr>
        </p:nvSpPr>
        <p:spPr/>
        <p:txBody>
          <a:bodyPr>
            <a:normAutofit lnSpcReduction="10000"/>
          </a:bodyPr>
          <a:lstStyle/>
          <a:p>
            <a:r>
              <a:rPr lang="zh-CN" altLang="en-US" b="1" dirty="0">
                <a:solidFill>
                  <a:schemeClr val="bg1">
                    <a:lumMod val="75000"/>
                  </a:schemeClr>
                </a:solidFill>
                <a:latin typeface="Cambria" panose="02040503050406030204" charset="0"/>
                <a:ea typeface="汉仪中黑 197" panose="00020600040101010101" charset="-122"/>
              </a:rPr>
              <a:t>准备好 </a:t>
            </a:r>
            <a:r>
              <a:rPr lang="en-US" altLang="zh-CN" b="1" dirty="0">
                <a:solidFill>
                  <a:schemeClr val="bg1">
                    <a:lumMod val="75000"/>
                  </a:schemeClr>
                </a:solidFill>
                <a:latin typeface="Cambria" panose="02040503050406030204" charset="0"/>
                <a:ea typeface="汉仪中黑 197" panose="00020600040101010101" charset="-122"/>
              </a:rPr>
              <a:t>Linux/macOS </a:t>
            </a:r>
            <a:r>
              <a:rPr lang="zh-CN" altLang="en-US" b="1" dirty="0">
                <a:solidFill>
                  <a:schemeClr val="bg1">
                    <a:lumMod val="75000"/>
                  </a:schemeClr>
                </a:solidFill>
                <a:latin typeface="Cambria" panose="02040503050406030204" charset="0"/>
                <a:ea typeface="汉仪中黑 197" panose="00020600040101010101" charset="-122"/>
              </a:rPr>
              <a:t>环境：</a:t>
            </a:r>
          </a:p>
          <a:p>
            <a:pPr lvl="1"/>
            <a:r>
              <a:rPr lang="zh-CN" altLang="en-US" b="1" dirty="0">
                <a:solidFill>
                  <a:schemeClr val="bg1">
                    <a:lumMod val="75000"/>
                  </a:schemeClr>
                </a:solidFill>
                <a:latin typeface="Cambria" panose="02040503050406030204" charset="0"/>
                <a:ea typeface="汉仪中黑 197" panose="00020600040101010101" charset="-122"/>
              </a:rPr>
              <a:t>用 </a:t>
            </a:r>
            <a:r>
              <a:rPr lang="en-US" altLang="zh-CN" b="1" dirty="0">
                <a:solidFill>
                  <a:schemeClr val="bg1">
                    <a:lumMod val="75000"/>
                  </a:schemeClr>
                </a:solidFill>
                <a:latin typeface="Cambria" panose="02040503050406030204" charset="0"/>
                <a:ea typeface="汉仪中黑 197" panose="00020600040101010101" charset="-122"/>
              </a:rPr>
              <a:t>Windows </a:t>
            </a:r>
            <a:r>
              <a:rPr lang="zh-CN" altLang="en-US" b="1" dirty="0">
                <a:solidFill>
                  <a:schemeClr val="bg1">
                    <a:lumMod val="75000"/>
                  </a:schemeClr>
                </a:solidFill>
                <a:latin typeface="Cambria" panose="02040503050406030204" charset="0"/>
                <a:ea typeface="汉仪中黑 197" panose="00020600040101010101" charset="-122"/>
              </a:rPr>
              <a:t>系统的同学，有两种推荐方法：</a:t>
            </a:r>
          </a:p>
          <a:p>
            <a:pPr marL="1257300" lvl="2" indent="-342900">
              <a:buFont typeface="+mj-lt"/>
              <a:buAutoNum type="arabicPeriod" startAt="2"/>
            </a:pPr>
            <a:r>
              <a:rPr lang="en-US" altLang="zh-CN" b="1" dirty="0">
                <a:latin typeface="Cambria" panose="02040503050406030204" charset="0"/>
                <a:ea typeface="汉仪中黑 197" panose="00020600040101010101" charset="-122"/>
              </a:rPr>
              <a:t>WSL</a:t>
            </a:r>
            <a:r>
              <a:rPr lang="zh-CN" altLang="en-US" b="1" dirty="0">
                <a:latin typeface="Cambria" panose="02040503050406030204" charset="0"/>
                <a:ea typeface="汉仪中黑 197" panose="00020600040101010101" charset="-122"/>
              </a:rPr>
              <a:t>（</a:t>
            </a:r>
            <a:r>
              <a:rPr lang="en-US" altLang="zh-CN" b="1" dirty="0">
                <a:latin typeface="Cambria" panose="02040503050406030204" charset="0"/>
                <a:ea typeface="汉仪中黑 197" panose="00020600040101010101" charset="-122"/>
              </a:rPr>
              <a:t>Windows Subsystem for Linux</a:t>
            </a:r>
            <a:r>
              <a:rPr lang="zh-CN" altLang="en-US" b="1" dirty="0">
                <a:latin typeface="Cambria" panose="02040503050406030204" charset="0"/>
                <a:ea typeface="汉仪中黑 197" panose="00020600040101010101" charset="-122"/>
              </a:rPr>
              <a:t>）：</a:t>
            </a:r>
          </a:p>
          <a:p>
            <a:pPr lvl="3"/>
            <a:r>
              <a:rPr lang="en-US" altLang="zh-CN" dirty="0">
                <a:latin typeface="Cambria" panose="02040503050406030204" charset="0"/>
                <a:ea typeface="汉仪中黑 197" panose="00020600040101010101" charset="-122"/>
              </a:rPr>
              <a:t>WSL </a:t>
            </a:r>
            <a:r>
              <a:rPr lang="zh-CN" altLang="en-US" dirty="0">
                <a:latin typeface="Cambria" panose="02040503050406030204" charset="0"/>
                <a:ea typeface="汉仪中黑 197" panose="00020600040101010101" charset="-122"/>
              </a:rPr>
              <a:t>提供了在 </a:t>
            </a:r>
            <a:r>
              <a:rPr lang="en-US" altLang="zh-CN" dirty="0">
                <a:latin typeface="Cambria" panose="02040503050406030204" charset="0"/>
                <a:ea typeface="汉仪中黑 197" panose="00020600040101010101" charset="-122"/>
              </a:rPr>
              <a:t>Windows </a:t>
            </a:r>
            <a:r>
              <a:rPr lang="zh-CN" altLang="en-US" dirty="0">
                <a:latin typeface="Cambria" panose="02040503050406030204" charset="0"/>
                <a:ea typeface="汉仪中黑 197" panose="00020600040101010101" charset="-122"/>
              </a:rPr>
              <a:t>系统中运行原生 </a:t>
            </a:r>
            <a:r>
              <a:rPr lang="en-US" altLang="zh-CN" dirty="0">
                <a:latin typeface="Cambria" panose="02040503050406030204" charset="0"/>
                <a:ea typeface="汉仪中黑 197" panose="00020600040101010101" charset="-122"/>
              </a:rPr>
              <a:t>Linux </a:t>
            </a:r>
            <a:r>
              <a:rPr lang="zh-CN" altLang="en-US" dirty="0">
                <a:latin typeface="Cambria" panose="02040503050406030204" charset="0"/>
                <a:ea typeface="汉仪中黑 197" panose="00020600040101010101" charset="-122"/>
              </a:rPr>
              <a:t>的方式，其文件系统与 </a:t>
            </a:r>
            <a:r>
              <a:rPr lang="en-US" altLang="zh-CN" dirty="0">
                <a:latin typeface="Cambria" panose="02040503050406030204" charset="0"/>
                <a:ea typeface="汉仪中黑 197" panose="00020600040101010101" charset="-122"/>
              </a:rPr>
              <a:t>Windows </a:t>
            </a:r>
            <a:r>
              <a:rPr lang="zh-CN" altLang="en-US" dirty="0">
                <a:latin typeface="Cambria" panose="02040503050406030204" charset="0"/>
                <a:ea typeface="汉仪中黑 197" panose="00020600040101010101" charset="-122"/>
              </a:rPr>
              <a:t>完全集成，非常便捷。</a:t>
            </a:r>
            <a:endParaRPr lang="en-US" altLang="zh-CN" dirty="0">
              <a:latin typeface="Cambria" panose="02040503050406030204" charset="0"/>
              <a:ea typeface="汉仪中黑 197" panose="00020600040101010101" charset="-122"/>
            </a:endParaRPr>
          </a:p>
          <a:p>
            <a:pPr lvl="3"/>
            <a:r>
              <a:rPr lang="zh-CN" altLang="en-US" dirty="0">
                <a:latin typeface="Cambria" panose="02040503050406030204" charset="0"/>
                <a:ea typeface="汉仪中黑 197" panose="00020600040101010101" charset="-122"/>
              </a:rPr>
              <a:t>按 </a:t>
            </a:r>
            <a:r>
              <a:rPr lang="en-US" altLang="zh-CN" dirty="0">
                <a:latin typeface="Cambria" panose="02040503050406030204" charset="0"/>
                <a:ea typeface="汉仪中黑 197" panose="00020600040101010101" charset="-122"/>
              </a:rPr>
              <a:t>Win + X </a:t>
            </a:r>
            <a:r>
              <a:rPr lang="zh-CN" altLang="en-US" dirty="0">
                <a:latin typeface="Cambria" panose="02040503050406030204" charset="0"/>
                <a:ea typeface="汉仪中黑 197" panose="00020600040101010101" charset="-122"/>
              </a:rPr>
              <a:t>并选择终端管理员</a:t>
            </a:r>
            <a:r>
              <a:rPr lang="zh-CN" altLang="en-US" dirty="0">
                <a:latin typeface="+mj-lt"/>
                <a:ea typeface="汉仪中黑 197" panose="00020600040101010101" charset="-122"/>
              </a:rPr>
              <a:t>，运行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wsl</a:t>
            </a:r>
            <a:r>
              <a:rPr lang="zh-CN" altLang="en-US"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––install</a:t>
            </a:r>
            <a:r>
              <a:rPr lang="zh-CN" altLang="en-US"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zh-CN" altLang="en-US" dirty="0">
                <a:latin typeface="+mj-lt"/>
                <a:ea typeface="汉仪中黑 197" panose="00020600040101010101" charset="-122"/>
              </a:rPr>
              <a:t>命令，并重启电脑。</a:t>
            </a:r>
            <a:r>
              <a:rPr lang="zh-CN" altLang="en-US" dirty="0">
                <a:latin typeface="Cambria" panose="02040503050406030204" charset="0"/>
                <a:ea typeface="汉仪中黑 197" panose="00020600040101010101" charset="-122"/>
              </a:rPr>
              <a:t>该命令会启用 </a:t>
            </a:r>
            <a:r>
              <a:rPr lang="en-US" altLang="zh-CN" dirty="0">
                <a:latin typeface="+mj-lt"/>
                <a:ea typeface="汉仪中黑 197" panose="00020600040101010101" charset="-122"/>
              </a:rPr>
              <a:t>WSL </a:t>
            </a:r>
            <a:r>
              <a:rPr lang="zh-CN" altLang="en-US" dirty="0">
                <a:latin typeface="+mj-lt"/>
                <a:ea typeface="汉仪中黑 197" panose="00020600040101010101" charset="-122"/>
              </a:rPr>
              <a:t>并安装 </a:t>
            </a:r>
            <a:r>
              <a:rPr lang="en-US" altLang="zh-CN" dirty="0">
                <a:latin typeface="+mj-lt"/>
                <a:ea typeface="汉仪中黑 197" panose="00020600040101010101" charset="-122"/>
              </a:rPr>
              <a:t>Linux</a:t>
            </a:r>
            <a:r>
              <a:rPr lang="zh-CN" altLang="en-US" dirty="0">
                <a:latin typeface="+mj-lt"/>
                <a:ea typeface="汉仪中黑 197" panose="00020600040101010101" charset="-122"/>
              </a:rPr>
              <a:t>；</a:t>
            </a:r>
          </a:p>
          <a:p>
            <a:pPr lvl="3"/>
            <a:r>
              <a:rPr lang="zh-CN" altLang="en-US" dirty="0">
                <a:latin typeface="+mj-ea"/>
                <a:ea typeface="+mj-ea"/>
                <a:cs typeface="Cascadia Mono" panose="020B0609020000020004" pitchFamily="49" charset="0"/>
              </a:rPr>
              <a:t>从「开始」菜单启动 </a:t>
            </a:r>
            <a:r>
              <a:rPr lang="en-US" altLang="zh-CN" dirty="0">
                <a:latin typeface="+mj-ea"/>
                <a:ea typeface="+mj-ea"/>
                <a:cs typeface="Cascadia Mono" panose="020B0609020000020004" pitchFamily="49" charset="0"/>
              </a:rPr>
              <a:t>WSL</a:t>
            </a:r>
            <a:r>
              <a:rPr lang="zh-CN" altLang="en-US" dirty="0">
                <a:latin typeface="+mj-ea"/>
                <a:ea typeface="+mj-ea"/>
                <a:cs typeface="Cascadia Mono" panose="020B0609020000020004" pitchFamily="49" charset="0"/>
              </a:rPr>
              <a:t>，跟随</a:t>
            </a:r>
            <a:r>
              <a:rPr lang="zh-CN" altLang="en-US" dirty="0">
                <a:latin typeface="+mj-lt"/>
                <a:ea typeface="汉仪中黑 197" panose="00020600040101010101" charset="-122"/>
                <a:cs typeface="Cascadia Mono" panose="020B0609020000020004" pitchFamily="49" charset="0"/>
              </a:rPr>
              <a:t>提示创建一个默认用户，指定用户名和密码，然后就可以开始使用了。</a:t>
            </a:r>
            <a:endParaRPr lang="en-US" altLang="zh-CN" dirty="0">
              <a:latin typeface="+mj-lt"/>
              <a:ea typeface="汉仪中黑 197" panose="00020600040101010101" charset="-122"/>
              <a:cs typeface="Cascadia Mono" panose="020B0609020000020004" pitchFamily="49" charset="0"/>
            </a:endParaRPr>
          </a:p>
          <a:p>
            <a:pPr lvl="3"/>
            <a:r>
              <a:rPr lang="zh-CN" altLang="en-US" dirty="0">
                <a:latin typeface="+mj-lt"/>
                <a:ea typeface="汉仪中黑 197" panose="00020600040101010101" charset="-122"/>
                <a:cs typeface="Cascadia Mono" panose="020B0609020000020004" pitchFamily="49" charset="0"/>
              </a:rPr>
              <a:t>需要在 </a:t>
            </a:r>
            <a:r>
              <a:rPr lang="en-US" altLang="zh-CN" dirty="0">
                <a:latin typeface="+mj-lt"/>
                <a:ea typeface="汉仪中黑 197" panose="00020600040101010101" charset="-122"/>
                <a:cs typeface="Cascadia Mono" panose="020B0609020000020004" pitchFamily="49" charset="0"/>
              </a:rPr>
              <a:t>VS Code </a:t>
            </a:r>
            <a:r>
              <a:rPr lang="zh-CN" altLang="en-US" dirty="0">
                <a:latin typeface="+mj-lt"/>
                <a:ea typeface="汉仪中黑 197" panose="00020600040101010101" charset="-122"/>
                <a:cs typeface="Cascadia Mono" panose="020B0609020000020004" pitchFamily="49" charset="0"/>
              </a:rPr>
              <a:t>安装</a:t>
            </a:r>
            <a:r>
              <a:rPr lang="en-US" altLang="zh-CN" dirty="0">
                <a:latin typeface="+mj-lt"/>
                <a:ea typeface="汉仪中黑 197" panose="00020600040101010101" charset="-122"/>
                <a:cs typeface="Cascadia Mono" panose="020B0609020000020004" pitchFamily="49" charset="0"/>
              </a:rPr>
              <a:t> </a:t>
            </a:r>
            <a:r>
              <a:rPr lang="en-US" altLang="zh-CN" i="1" dirty="0">
                <a:latin typeface="+mj-lt"/>
                <a:ea typeface="汉仪中黑 197" panose="00020600040101010101" charset="-122"/>
                <a:cs typeface="Cascadia Mono" panose="020B0609020000020004" pitchFamily="49" charset="0"/>
              </a:rPr>
              <a:t>WSL</a:t>
            </a:r>
            <a:r>
              <a:rPr lang="en-US" altLang="zh-CN" dirty="0">
                <a:latin typeface="+mj-lt"/>
                <a:ea typeface="汉仪中黑 197" panose="00020600040101010101" charset="-122"/>
                <a:cs typeface="Cascadia Mono" panose="020B0609020000020004" pitchFamily="49" charset="0"/>
              </a:rPr>
              <a:t> </a:t>
            </a:r>
            <a:r>
              <a:rPr lang="zh-CN" altLang="en-US" dirty="0">
                <a:latin typeface="+mj-lt"/>
                <a:ea typeface="汉仪中黑 197" panose="00020600040101010101" charset="-122"/>
                <a:cs typeface="Cascadia Mono" panose="020B0609020000020004" pitchFamily="49" charset="0"/>
              </a:rPr>
              <a:t>插件。</a:t>
            </a:r>
            <a:endParaRPr lang="en-US" altLang="zh-CN" dirty="0">
              <a:latin typeface="+mj-lt"/>
              <a:ea typeface="汉仪中黑 197" panose="00020600040101010101" charset="-122"/>
              <a:cs typeface="Cascadia Mono" panose="020B0609020000020004" pitchFamily="49" charset="0"/>
            </a:endParaRPr>
          </a:p>
        </p:txBody>
      </p:sp>
      <p:pic>
        <p:nvPicPr>
          <p:cNvPr id="15" name="图片 14">
            <a:extLst>
              <a:ext uri="{FF2B5EF4-FFF2-40B4-BE49-F238E27FC236}">
                <a16:creationId xmlns:a16="http://schemas.microsoft.com/office/drawing/2014/main" id="{55CD049B-B30A-6BA2-D9EB-C2A9744B152C}"/>
              </a:ext>
            </a:extLst>
          </p:cNvPr>
          <p:cNvPicPr>
            <a:picLocks noChangeAspect="1"/>
          </p:cNvPicPr>
          <p:nvPr/>
        </p:nvPicPr>
        <p:blipFill>
          <a:blip r:embed="rId3"/>
          <a:stretch>
            <a:fillRect/>
          </a:stretch>
        </p:blipFill>
        <p:spPr>
          <a:xfrm>
            <a:off x="6769326" y="4690504"/>
            <a:ext cx="4419806" cy="1958142"/>
          </a:xfrm>
          <a:prstGeom prst="rect">
            <a:avLst/>
          </a:prstGeom>
        </p:spPr>
      </p:pic>
      <p:pic>
        <p:nvPicPr>
          <p:cNvPr id="21" name="内容占位符 20">
            <a:extLst>
              <a:ext uri="{FF2B5EF4-FFF2-40B4-BE49-F238E27FC236}">
                <a16:creationId xmlns:a16="http://schemas.microsoft.com/office/drawing/2014/main" id="{BA153D4C-7A5B-7281-AFA2-DDC3BCBA3762}"/>
              </a:ext>
            </a:extLst>
          </p:cNvPr>
          <p:cNvPicPr>
            <a:picLocks noGrp="1" noChangeAspect="1"/>
          </p:cNvPicPr>
          <p:nvPr>
            <p:ph sz="half" idx="2"/>
          </p:nvPr>
        </p:nvPicPr>
        <p:blipFill>
          <a:blip r:embed="rId4"/>
          <a:stretch>
            <a:fillRect/>
          </a:stretch>
        </p:blipFill>
        <p:spPr>
          <a:xfrm>
            <a:off x="6710114" y="443234"/>
            <a:ext cx="4538230" cy="4247270"/>
          </a:xfrm>
        </p:spPr>
      </p:pic>
    </p:spTree>
    <p:custDataLst>
      <p:tags r:id="rId1"/>
    </p:custDataLst>
    <p:extLst>
      <p:ext uri="{BB962C8B-B14F-4D97-AF65-F5344CB8AC3E}">
        <p14:creationId xmlns:p14="http://schemas.microsoft.com/office/powerpoint/2010/main" val="269750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开发环境配置</a:t>
            </a:r>
            <a:endParaRPr lang="en-US" altLang="zh-CN" dirty="0">
              <a:solidFill>
                <a:schemeClr val="bg1">
                  <a:lumMod val="75000"/>
                </a:schemeClr>
              </a:solidFill>
              <a:latin typeface="Cambria" panose="02040503050406030204" charset="0"/>
              <a:ea typeface="汉仪中黑 197" panose="00020600040101010101" charset="-122"/>
            </a:endParaRPr>
          </a:p>
        </p:txBody>
      </p:sp>
      <p:sp>
        <p:nvSpPr>
          <p:cNvPr id="3" name="内容占位符 2"/>
          <p:cNvSpPr>
            <a:spLocks noGrp="1"/>
          </p:cNvSpPr>
          <p:nvPr>
            <p:ph idx="1"/>
          </p:nvPr>
        </p:nvSpPr>
        <p:spPr/>
        <p:txBody>
          <a:bodyPr/>
          <a:lstStyle/>
          <a:p>
            <a:r>
              <a:rPr lang="zh-CN" altLang="en-US" b="1" dirty="0">
                <a:latin typeface="Cambria" panose="02040503050406030204" charset="0"/>
                <a:ea typeface="汉仪中黑 197" panose="00020600040101010101" charset="-122"/>
              </a:rPr>
              <a:t>安装 </a:t>
            </a:r>
            <a:r>
              <a:rPr lang="en-US" altLang="zh-CN" b="1" dirty="0">
                <a:latin typeface="Cambria" panose="02040503050406030204" charset="0"/>
                <a:ea typeface="汉仪中黑 197" panose="00020600040101010101" charset="-122"/>
              </a:rPr>
              <a:t>OCaml</a:t>
            </a:r>
            <a:r>
              <a:rPr lang="zh-CN" altLang="en-US" b="1" dirty="0">
                <a:latin typeface="Cambria" panose="02040503050406030204" charset="0"/>
                <a:ea typeface="汉仪中黑 197" panose="00020600040101010101" charset="-122"/>
              </a:rPr>
              <a:t>：</a:t>
            </a:r>
            <a:endParaRPr lang="en-US" altLang="zh-CN" b="1" dirty="0">
              <a:latin typeface="Cambria" panose="02040503050406030204" charset="0"/>
              <a:ea typeface="汉仪中黑 197" panose="00020600040101010101" charset="-122"/>
            </a:endParaRPr>
          </a:p>
          <a:p>
            <a:pPr lvl="1"/>
            <a:r>
              <a:rPr lang="zh-CN" altLang="en-US" b="1" dirty="0">
                <a:latin typeface="Cambria" panose="02040503050406030204" charset="0"/>
                <a:ea typeface="汉仪中黑 197" panose="00020600040101010101" charset="-122"/>
              </a:rPr>
              <a:t>安装 </a:t>
            </a:r>
            <a:r>
              <a:rPr lang="en-US" altLang="zh-CN" b="1" dirty="0">
                <a:latin typeface="Cambria" panose="02040503050406030204" charset="0"/>
                <a:ea typeface="汉仪中黑 197" panose="00020600040101010101" charset="-122"/>
              </a:rPr>
              <a:t>opam</a:t>
            </a:r>
            <a:r>
              <a:rPr lang="zh-CN" altLang="en-US" b="1" dirty="0">
                <a:latin typeface="Cambria" panose="02040503050406030204" charset="0"/>
                <a:ea typeface="汉仪中黑 197" panose="00020600040101010101" charset="-122"/>
              </a:rPr>
              <a:t>：</a:t>
            </a:r>
            <a:endParaRPr lang="en-US" altLang="zh-CN" b="1" dirty="0">
              <a:latin typeface="Cambria" panose="02040503050406030204" charset="0"/>
              <a:ea typeface="汉仪中黑 197" panose="00020600040101010101" charset="-122"/>
            </a:endParaRPr>
          </a:p>
          <a:p>
            <a:pPr lvl="2"/>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sudo</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apt update;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sudo</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apt install opam</a:t>
            </a:r>
            <a:r>
              <a:rPr lang="zh-CN" altLang="en-US" dirty="0">
                <a:latin typeface="Cambria" panose="02040503050406030204" charset="0"/>
                <a:ea typeface="汉仪中黑 197" panose="00020600040101010101" charset="-122"/>
              </a:rPr>
              <a:t>（</a:t>
            </a:r>
            <a:r>
              <a:rPr lang="en-US" altLang="zh-CN" dirty="0">
                <a:latin typeface="Cambria" panose="02040503050406030204" charset="0"/>
                <a:ea typeface="汉仪中黑 197" panose="00020600040101010101" charset="-122"/>
              </a:rPr>
              <a:t>Linux</a:t>
            </a:r>
            <a:r>
              <a:rPr lang="zh-CN" altLang="en-US" dirty="0">
                <a:latin typeface="Cambria" panose="02040503050406030204" charset="0"/>
                <a:ea typeface="汉仪中黑 197" panose="00020600040101010101" charset="-122"/>
              </a:rPr>
              <a:t>）</a:t>
            </a:r>
            <a:endParaRPr lang="en-US" altLang="zh-CN" dirty="0">
              <a:latin typeface="Cambria" panose="02040503050406030204" charset="0"/>
              <a:ea typeface="汉仪中黑 197" panose="00020600040101010101" charset="-122"/>
            </a:endParaRPr>
          </a:p>
          <a:p>
            <a:pPr lvl="2"/>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brew install opam</a:t>
            </a:r>
            <a:r>
              <a:rPr lang="zh-CN" altLang="en-US" dirty="0">
                <a:latin typeface="Cambria" panose="02040503050406030204" charset="0"/>
                <a:ea typeface="汉仪中黑 197" panose="00020600040101010101" charset="-122"/>
              </a:rPr>
              <a:t>（</a:t>
            </a:r>
            <a:r>
              <a:rPr lang="en-US" altLang="zh-CN" dirty="0">
                <a:latin typeface="Cambria" panose="02040503050406030204" charset="0"/>
                <a:ea typeface="汉仪中黑 197" panose="00020600040101010101" charset="-122"/>
              </a:rPr>
              <a:t>macOS</a:t>
            </a:r>
            <a:r>
              <a:rPr lang="zh-CN" altLang="en-US" dirty="0">
                <a:latin typeface="Cambria" panose="02040503050406030204" charset="0"/>
                <a:ea typeface="汉仪中黑 197" panose="00020600040101010101" charset="-122"/>
              </a:rPr>
              <a:t>）</a:t>
            </a:r>
            <a:r>
              <a:rPr lang="en-US" altLang="zh-CN" dirty="0">
                <a:latin typeface="Cambria" panose="02040503050406030204" charset="0"/>
                <a:ea typeface="汉仪中黑 197" panose="00020600040101010101" charset="-122"/>
              </a:rPr>
              <a:t> </a:t>
            </a:r>
          </a:p>
          <a:p>
            <a:pPr lvl="1"/>
            <a:r>
              <a:rPr lang="zh-CN" altLang="en-US" b="1" dirty="0">
                <a:latin typeface="Cambria" panose="02040503050406030204" charset="0"/>
                <a:ea typeface="汉仪中黑 197" panose="00020600040101010101" charset="-122"/>
              </a:rPr>
              <a:t>初始化</a:t>
            </a:r>
            <a:r>
              <a:rPr lang="en-US" altLang="zh-CN" b="1" dirty="0">
                <a:latin typeface="Cambria" panose="02040503050406030204" charset="0"/>
                <a:ea typeface="汉仪中黑 197" panose="00020600040101010101" charset="-122"/>
              </a:rPr>
              <a:t> opam</a:t>
            </a:r>
            <a:r>
              <a:rPr lang="zh-CN" altLang="en-US" b="1" dirty="0">
                <a:latin typeface="Cambria" panose="02040503050406030204" charset="0"/>
                <a:ea typeface="汉仪中黑 197" panose="00020600040101010101" charset="-122"/>
              </a:rPr>
              <a:t>：</a:t>
            </a:r>
            <a:endParaRPr lang="en-US" altLang="zh-CN" b="1" dirty="0">
              <a:latin typeface="Cambria" panose="02040503050406030204" charset="0"/>
              <a:ea typeface="汉仪中黑 197" panose="00020600040101010101" charset="-122"/>
            </a:endParaRPr>
          </a:p>
          <a:p>
            <a:pPr lvl="2"/>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opam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init</a:t>
            </a:r>
            <a:endPar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endParaRPr>
          </a:p>
          <a:p>
            <a:pPr lvl="2"/>
            <a:r>
              <a:rPr lang="en-US" altLang="zh-CN" i="1" dirty="0">
                <a:latin typeface="Cambria" panose="02040503050406030204" charset="0"/>
                <a:ea typeface="汉仪中黑 197" panose="00020600040101010101" charset="-122"/>
              </a:rPr>
              <a:t>Do you want opam to modify ~/.profile? </a:t>
            </a:r>
            <a:r>
              <a:rPr lang="zh-CN" altLang="en-US" dirty="0">
                <a:latin typeface="Cambria" panose="02040503050406030204" charset="0"/>
                <a:ea typeface="汉仪中黑 197" panose="00020600040101010101" charset="-122"/>
              </a:rPr>
              <a:t>选择 </a:t>
            </a:r>
            <a:r>
              <a:rPr lang="en-US" altLang="zh-CN" dirty="0">
                <a:solidFill>
                  <a:schemeClr val="accent1"/>
                </a:solidFill>
                <a:latin typeface="Cambria" panose="02040503050406030204" charset="0"/>
                <a:ea typeface="汉仪中黑 197" panose="00020600040101010101" charset="-122"/>
              </a:rPr>
              <a:t>y</a:t>
            </a:r>
          </a:p>
        </p:txBody>
      </p:sp>
      <p:pic>
        <p:nvPicPr>
          <p:cNvPr id="7" name="图片 6">
            <a:extLst>
              <a:ext uri="{FF2B5EF4-FFF2-40B4-BE49-F238E27FC236}">
                <a16:creationId xmlns:a16="http://schemas.microsoft.com/office/drawing/2014/main" id="{977F98C3-BAF0-376B-9339-A5C0C7782CBB}"/>
              </a:ext>
            </a:extLst>
          </p:cNvPr>
          <p:cNvPicPr>
            <a:picLocks noChangeAspect="1"/>
          </p:cNvPicPr>
          <p:nvPr/>
        </p:nvPicPr>
        <p:blipFill>
          <a:blip r:embed="rId4"/>
          <a:stretch>
            <a:fillRect/>
          </a:stretch>
        </p:blipFill>
        <p:spPr>
          <a:xfrm>
            <a:off x="1898394" y="4120547"/>
            <a:ext cx="6204206" cy="2220868"/>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567F7-3B41-3A5F-CBDF-904A72E403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C6D2D8-D079-4927-B1F2-13F7DCA481BB}"/>
              </a:ext>
            </a:extLst>
          </p:cNvPr>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开发环境配置</a:t>
            </a:r>
            <a:endParaRPr lang="en-US" altLang="zh-CN" dirty="0">
              <a:solidFill>
                <a:schemeClr val="bg1">
                  <a:lumMod val="75000"/>
                </a:schemeClr>
              </a:solidFill>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4EBE40EF-30C4-F31B-35F7-4563F32F883B}"/>
              </a:ext>
            </a:extLst>
          </p:cNvPr>
          <p:cNvSpPr>
            <a:spLocks noGrp="1"/>
          </p:cNvSpPr>
          <p:nvPr>
            <p:ph idx="1"/>
          </p:nvPr>
        </p:nvSpPr>
        <p:spPr/>
        <p:txBody>
          <a:bodyPr/>
          <a:lstStyle/>
          <a:p>
            <a:r>
              <a:rPr lang="zh-CN" altLang="en-US" b="1" dirty="0">
                <a:solidFill>
                  <a:schemeClr val="bg1">
                    <a:lumMod val="75000"/>
                  </a:schemeClr>
                </a:solidFill>
                <a:latin typeface="Cambria" panose="02040503050406030204" charset="0"/>
                <a:ea typeface="汉仪中黑 197" panose="00020600040101010101" charset="-122"/>
              </a:rPr>
              <a:t>安装 </a:t>
            </a:r>
            <a:r>
              <a:rPr lang="en-US" altLang="zh-CN" b="1" dirty="0">
                <a:solidFill>
                  <a:schemeClr val="bg1">
                    <a:lumMod val="75000"/>
                  </a:schemeClr>
                </a:solidFill>
                <a:latin typeface="Cambria" panose="02040503050406030204" charset="0"/>
                <a:ea typeface="汉仪中黑 197" panose="00020600040101010101" charset="-122"/>
              </a:rPr>
              <a:t>OCaml</a:t>
            </a:r>
            <a:r>
              <a:rPr lang="zh-CN" altLang="en-US" b="1" dirty="0">
                <a:solidFill>
                  <a:schemeClr val="bg1">
                    <a:lumMod val="75000"/>
                  </a:schemeClr>
                </a:solidFill>
                <a:latin typeface="Cambria" panose="02040503050406030204" charset="0"/>
                <a:ea typeface="汉仪中黑 197" panose="00020600040101010101" charset="-122"/>
              </a:rPr>
              <a:t>：</a:t>
            </a:r>
            <a:endParaRPr lang="en-US" altLang="zh-CN" b="1" dirty="0">
              <a:solidFill>
                <a:schemeClr val="bg1">
                  <a:lumMod val="75000"/>
                </a:schemeClr>
              </a:solidFill>
              <a:latin typeface="Cambria" panose="02040503050406030204" charset="0"/>
              <a:ea typeface="汉仪中黑 197" panose="00020600040101010101" charset="-122"/>
            </a:endParaRPr>
          </a:p>
          <a:p>
            <a:pPr lvl="1"/>
            <a:r>
              <a:rPr lang="zh-CN" altLang="en-US" b="1" dirty="0">
                <a:latin typeface="Cambria" panose="02040503050406030204" charset="0"/>
                <a:ea typeface="汉仪中黑 197" panose="00020600040101010101" charset="-122"/>
              </a:rPr>
              <a:t>安装开发环境：</a:t>
            </a:r>
            <a:endParaRPr lang="en-US" altLang="zh-CN" b="1" dirty="0">
              <a:latin typeface="Cambria" panose="02040503050406030204" charset="0"/>
              <a:ea typeface="汉仪中黑 197" panose="00020600040101010101" charset="-122"/>
            </a:endParaRPr>
          </a:p>
          <a:p>
            <a:pPr lvl="2"/>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opam install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lsp</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-server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odoc</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ocamlformat</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utop</a:t>
            </a:r>
            <a:endPar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endParaRPr>
          </a:p>
          <a:p>
            <a:pPr lvl="1"/>
            <a:r>
              <a:rPr lang="zh-CN" altLang="en-US" b="1" dirty="0">
                <a:latin typeface="Cambria" panose="02040503050406030204" charset="0"/>
                <a:ea typeface="汉仪中黑 197" panose="00020600040101010101" charset="-122"/>
              </a:rPr>
              <a:t>验证安装：</a:t>
            </a:r>
            <a:endParaRPr lang="en-US" altLang="zh-CN" b="1" dirty="0">
              <a:latin typeface="Cambria" panose="02040503050406030204" charset="0"/>
              <a:ea typeface="汉仪中黑 197" panose="00020600040101010101" charset="-122"/>
            </a:endParaRPr>
          </a:p>
        </p:txBody>
      </p:sp>
      <p:pic>
        <p:nvPicPr>
          <p:cNvPr id="13" name="图片 12">
            <a:extLst>
              <a:ext uri="{FF2B5EF4-FFF2-40B4-BE49-F238E27FC236}">
                <a16:creationId xmlns:a16="http://schemas.microsoft.com/office/drawing/2014/main" id="{445FA5D6-EF50-502B-2E55-0A9596C547CF}"/>
              </a:ext>
            </a:extLst>
          </p:cNvPr>
          <p:cNvPicPr>
            <a:picLocks noChangeAspect="1"/>
          </p:cNvPicPr>
          <p:nvPr/>
        </p:nvPicPr>
        <p:blipFill>
          <a:blip r:embed="rId4"/>
          <a:stretch>
            <a:fillRect/>
          </a:stretch>
        </p:blipFill>
        <p:spPr>
          <a:xfrm>
            <a:off x="1428469" y="2752653"/>
            <a:ext cx="7899681" cy="2046192"/>
          </a:xfrm>
          <a:prstGeom prst="rect">
            <a:avLst/>
          </a:prstGeom>
        </p:spPr>
      </p:pic>
    </p:spTree>
    <p:custDataLst>
      <p:tags r:id="rId1"/>
    </p:custDataLst>
    <p:extLst>
      <p:ext uri="{BB962C8B-B14F-4D97-AF65-F5344CB8AC3E}">
        <p14:creationId xmlns:p14="http://schemas.microsoft.com/office/powerpoint/2010/main" val="220786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CBEB-F190-BD77-1E28-629329EA87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E1AC205-3923-4DF0-2C91-5FCC6F2F0B89}"/>
              </a:ext>
            </a:extLst>
          </p:cNvPr>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开发环境配置</a:t>
            </a:r>
            <a:endParaRPr lang="en-US" altLang="zh-CN" dirty="0">
              <a:solidFill>
                <a:schemeClr val="bg1">
                  <a:lumMod val="75000"/>
                </a:schemeClr>
              </a:solidFill>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2EC2C46A-4076-70C0-D52C-8C6A14FE700C}"/>
              </a:ext>
            </a:extLst>
          </p:cNvPr>
          <p:cNvSpPr>
            <a:spLocks noGrp="1"/>
          </p:cNvSpPr>
          <p:nvPr>
            <p:ph idx="1"/>
          </p:nvPr>
        </p:nvSpPr>
        <p:spPr/>
        <p:txBody>
          <a:bodyPr/>
          <a:lstStyle/>
          <a:p>
            <a:r>
              <a:rPr lang="zh-CN" altLang="en-US" b="1" dirty="0">
                <a:latin typeface="Cambria" panose="02040503050406030204" charset="0"/>
                <a:ea typeface="汉仪中黑 197" panose="00020600040101010101" charset="-122"/>
              </a:rPr>
              <a:t>安装 </a:t>
            </a:r>
            <a:r>
              <a:rPr lang="en-US" altLang="zh-CN" b="1" dirty="0">
                <a:latin typeface="Cambria" panose="02040503050406030204" charset="0"/>
                <a:ea typeface="汉仪中黑 197" panose="00020600040101010101" charset="-122"/>
              </a:rPr>
              <a:t>Visual Studio Code</a:t>
            </a:r>
            <a:r>
              <a:rPr lang="zh-CN" altLang="en-US" b="1" dirty="0">
                <a:latin typeface="Cambria" panose="02040503050406030204" charset="0"/>
                <a:ea typeface="汉仪中黑 197" panose="00020600040101010101" charset="-122"/>
              </a:rPr>
              <a:t>：</a:t>
            </a:r>
            <a:endParaRPr lang="en-US" altLang="zh-CN" b="1" dirty="0">
              <a:latin typeface="Cambria" panose="02040503050406030204" charset="0"/>
              <a:ea typeface="汉仪中黑 197" panose="00020600040101010101" charset="-122"/>
            </a:endParaRPr>
          </a:p>
          <a:p>
            <a:pPr lvl="1"/>
            <a:r>
              <a:rPr lang="en-US" altLang="zh-CN" dirty="0">
                <a:latin typeface="Cambria" panose="02040503050406030204" charset="0"/>
                <a:ea typeface="汉仪中黑 197" panose="00020600040101010101" charset="-122"/>
                <a:hlinkClick r:id="rId4"/>
              </a:rPr>
              <a:t>https://code.visualstudio.com/</a:t>
            </a:r>
            <a:endParaRPr lang="en-US" altLang="zh-CN" dirty="0">
              <a:latin typeface="Cambria" panose="02040503050406030204" charset="0"/>
              <a:ea typeface="汉仪中黑 197" panose="00020600040101010101" charset="-122"/>
            </a:endParaRPr>
          </a:p>
          <a:p>
            <a:pPr lvl="1"/>
            <a:r>
              <a:rPr lang="zh-CN" altLang="en-US" b="1" dirty="0">
                <a:latin typeface="Cambria" panose="02040503050406030204" charset="0"/>
                <a:ea typeface="汉仪中黑 197" panose="00020600040101010101" charset="-122"/>
              </a:rPr>
              <a:t>安装 </a:t>
            </a:r>
            <a:r>
              <a:rPr lang="en-US" altLang="zh-CN" b="1" i="1" dirty="0">
                <a:latin typeface="Cambria" panose="02040503050406030204" charset="0"/>
                <a:ea typeface="汉仪中黑 197" panose="00020600040101010101" charset="-122"/>
              </a:rPr>
              <a:t>OCaml Platform </a:t>
            </a:r>
            <a:r>
              <a:rPr lang="zh-CN" altLang="en-US" b="1" dirty="0">
                <a:latin typeface="Cambria" panose="02040503050406030204" charset="0"/>
                <a:ea typeface="汉仪中黑 197" panose="00020600040101010101" charset="-122"/>
              </a:rPr>
              <a:t>和 </a:t>
            </a:r>
            <a:r>
              <a:rPr lang="en-US" altLang="zh-CN" b="1" i="1" dirty="0" err="1">
                <a:latin typeface="Cambria" panose="02040503050406030204" charset="0"/>
                <a:ea typeface="汉仪中黑 197" panose="00020600040101010101" charset="-122"/>
              </a:rPr>
              <a:t>ocamlformat</a:t>
            </a:r>
            <a:r>
              <a:rPr lang="en-US" altLang="zh-CN" b="1" i="1" dirty="0">
                <a:latin typeface="Cambria" panose="02040503050406030204" charset="0"/>
                <a:ea typeface="汉仪中黑 197" panose="00020600040101010101" charset="-122"/>
              </a:rPr>
              <a:t>–</a:t>
            </a:r>
            <a:r>
              <a:rPr lang="en-US" altLang="zh-CN" b="1" i="1" dirty="0" err="1">
                <a:latin typeface="Cambria" panose="02040503050406030204" charset="0"/>
                <a:ea typeface="汉仪中黑 197" panose="00020600040101010101" charset="-122"/>
              </a:rPr>
              <a:t>vscode</a:t>
            </a:r>
            <a:r>
              <a:rPr lang="en-US" altLang="zh-CN" b="1" i="1" dirty="0">
                <a:latin typeface="Cambria" panose="02040503050406030204" charset="0"/>
                <a:ea typeface="汉仪中黑 197" panose="00020600040101010101" charset="-122"/>
              </a:rPr>
              <a:t> </a:t>
            </a:r>
            <a:r>
              <a:rPr lang="zh-CN" altLang="en-US" b="1" dirty="0">
                <a:latin typeface="Cambria" panose="02040503050406030204" charset="0"/>
                <a:ea typeface="汉仪中黑 197" panose="00020600040101010101" charset="-122"/>
              </a:rPr>
              <a:t>插件：</a:t>
            </a:r>
            <a:endParaRPr lang="en-US" altLang="zh-CN" b="1" dirty="0">
              <a:latin typeface="Cambria" panose="02040503050406030204" charset="0"/>
              <a:ea typeface="汉仪中黑 197" panose="00020600040101010101" charset="-122"/>
            </a:endParaRPr>
          </a:p>
        </p:txBody>
      </p:sp>
      <p:pic>
        <p:nvPicPr>
          <p:cNvPr id="14" name="图片 13">
            <a:extLst>
              <a:ext uri="{FF2B5EF4-FFF2-40B4-BE49-F238E27FC236}">
                <a16:creationId xmlns:a16="http://schemas.microsoft.com/office/drawing/2014/main" id="{991F2473-B628-1226-C47E-24F702BDA174}"/>
              </a:ext>
            </a:extLst>
          </p:cNvPr>
          <p:cNvPicPr>
            <a:picLocks noChangeAspect="1"/>
          </p:cNvPicPr>
          <p:nvPr/>
        </p:nvPicPr>
        <p:blipFill>
          <a:blip r:embed="rId5"/>
          <a:stretch>
            <a:fillRect/>
          </a:stretch>
        </p:blipFill>
        <p:spPr>
          <a:xfrm>
            <a:off x="5937250" y="2384352"/>
            <a:ext cx="4335284" cy="2775093"/>
          </a:xfrm>
          <a:prstGeom prst="rect">
            <a:avLst/>
          </a:prstGeom>
        </p:spPr>
      </p:pic>
      <p:pic>
        <p:nvPicPr>
          <p:cNvPr id="16" name="图片 15">
            <a:extLst>
              <a:ext uri="{FF2B5EF4-FFF2-40B4-BE49-F238E27FC236}">
                <a16:creationId xmlns:a16="http://schemas.microsoft.com/office/drawing/2014/main" id="{566E04B1-CB2B-3F24-D420-7E6328C57E0B}"/>
              </a:ext>
            </a:extLst>
          </p:cNvPr>
          <p:cNvPicPr>
            <a:picLocks noChangeAspect="1"/>
          </p:cNvPicPr>
          <p:nvPr/>
        </p:nvPicPr>
        <p:blipFill>
          <a:blip r:embed="rId6"/>
          <a:stretch>
            <a:fillRect/>
          </a:stretch>
        </p:blipFill>
        <p:spPr>
          <a:xfrm>
            <a:off x="1465891" y="2384352"/>
            <a:ext cx="4335284" cy="2775093"/>
          </a:xfrm>
          <a:prstGeom prst="rect">
            <a:avLst/>
          </a:prstGeom>
        </p:spPr>
      </p:pic>
    </p:spTree>
    <p:custDataLst>
      <p:tags r:id="rId1"/>
    </p:custDataLst>
    <p:extLst>
      <p:ext uri="{BB962C8B-B14F-4D97-AF65-F5344CB8AC3E}">
        <p14:creationId xmlns:p14="http://schemas.microsoft.com/office/powerpoint/2010/main" val="1214906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A663C-06C0-381B-1236-4BB6AFC593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ACFAB58-CA64-818A-F71B-92E8009EC443}"/>
              </a:ext>
            </a:extLst>
          </p:cNvPr>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开发环境配置</a:t>
            </a:r>
            <a:endParaRPr lang="en-US" altLang="zh-CN" dirty="0">
              <a:solidFill>
                <a:schemeClr val="bg1">
                  <a:lumMod val="75000"/>
                </a:schemeClr>
              </a:solidFill>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BB49710B-C099-294E-90A6-AC91447F325F}"/>
              </a:ext>
            </a:extLst>
          </p:cNvPr>
          <p:cNvSpPr>
            <a:spLocks noGrp="1"/>
          </p:cNvSpPr>
          <p:nvPr>
            <p:ph idx="1"/>
          </p:nvPr>
        </p:nvSpPr>
        <p:spPr/>
        <p:txBody>
          <a:bodyPr>
            <a:normAutofit/>
          </a:bodyPr>
          <a:lstStyle/>
          <a:p>
            <a:r>
              <a:rPr lang="zh-CN" altLang="en-US" sz="1800" b="1" dirty="0">
                <a:latin typeface="Cambria" panose="02040503050406030204" charset="0"/>
                <a:ea typeface="汉仪中黑 197" panose="00020600040101010101" charset="-122"/>
              </a:rPr>
              <a:t>常见问题：</a:t>
            </a:r>
            <a:endParaRPr lang="en-US" altLang="zh-CN" sz="1800" b="1" dirty="0">
              <a:latin typeface="Cambria" panose="02040503050406030204" charset="0"/>
              <a:ea typeface="汉仪中黑 197" panose="00020600040101010101" charset="-122"/>
            </a:endParaRPr>
          </a:p>
          <a:p>
            <a:pPr lvl="1"/>
            <a:r>
              <a:rPr lang="en-US" altLang="zh-CN" sz="1800" b="1" dirty="0">
                <a:latin typeface="Cambria" panose="02040503050406030204" charset="0"/>
                <a:ea typeface="汉仪中黑 197" panose="00020600040101010101" charset="-122"/>
              </a:rPr>
              <a:t>WSL </a:t>
            </a:r>
            <a:r>
              <a:rPr lang="zh-CN" altLang="en-US" sz="1800" b="1" dirty="0">
                <a:latin typeface="Cambria" panose="02040503050406030204" charset="0"/>
                <a:ea typeface="汉仪中黑 197" panose="00020600040101010101" charset="-122"/>
              </a:rPr>
              <a:t>无法通过 </a:t>
            </a:r>
            <a:r>
              <a:rPr lang="en-US" altLang="zh-CN" b="1"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wsl</a:t>
            </a:r>
            <a:r>
              <a:rPr lang="en-US" altLang="zh-CN" b="1"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––install </a:t>
            </a:r>
            <a:r>
              <a:rPr lang="zh-CN" altLang="en-US" sz="1800" b="1" dirty="0">
                <a:latin typeface="Cambria" panose="02040503050406030204" charset="0"/>
                <a:ea typeface="汉仪中黑 197" panose="00020600040101010101" charset="-122"/>
              </a:rPr>
              <a:t>安装：</a:t>
            </a:r>
            <a:endParaRPr lang="en-US" altLang="zh-CN" sz="1800" b="1"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尝试 </a:t>
            </a:r>
            <a:r>
              <a:rPr lang="en-US" altLang="zh-CN" sz="1800" dirty="0">
                <a:latin typeface="Cambria" panose="02040503050406030204" charset="0"/>
                <a:ea typeface="汉仪中黑 197" panose="00020600040101010101" charset="-122"/>
              </a:rPr>
              <a:t>Microsoft Store </a:t>
            </a:r>
            <a:r>
              <a:rPr lang="zh-CN" altLang="en-US" sz="1800" dirty="0">
                <a:latin typeface="Cambria" panose="02040503050406030204" charset="0"/>
                <a:ea typeface="汉仪中黑 197" panose="00020600040101010101" charset="-122"/>
              </a:rPr>
              <a:t>搜索 </a:t>
            </a:r>
            <a:r>
              <a:rPr lang="en-US" altLang="zh-CN" sz="1800" dirty="0">
                <a:latin typeface="Cambria" panose="02040503050406030204" charset="0"/>
                <a:ea typeface="汉仪中黑 197" panose="00020600040101010101" charset="-122"/>
              </a:rPr>
              <a:t>WSL</a:t>
            </a:r>
            <a:r>
              <a:rPr lang="zh-CN" altLang="en-US" sz="1800" dirty="0">
                <a:latin typeface="Cambria" panose="02040503050406030204" charset="0"/>
                <a:ea typeface="汉仪中黑 197" panose="00020600040101010101" charset="-122"/>
              </a:rPr>
              <a:t>，</a:t>
            </a:r>
            <a:br>
              <a:rPr lang="en-US" altLang="zh-CN" sz="1800" dirty="0">
                <a:latin typeface="Cambria" panose="02040503050406030204" charset="0"/>
                <a:ea typeface="汉仪中黑 197" panose="00020600040101010101" charset="-122"/>
              </a:rPr>
            </a:br>
            <a:r>
              <a:rPr lang="zh-CN" altLang="en-US" sz="1800" dirty="0">
                <a:latin typeface="Cambria" panose="02040503050406030204" charset="0"/>
                <a:ea typeface="汉仪中黑 197" panose="00020600040101010101" charset="-122"/>
              </a:rPr>
              <a:t>安装 </a:t>
            </a:r>
            <a:r>
              <a:rPr lang="en-US" altLang="zh-CN" sz="1800" dirty="0">
                <a:latin typeface="Cambria" panose="02040503050406030204" charset="0"/>
                <a:ea typeface="汉仪中黑 197" panose="00020600040101010101" charset="-122"/>
              </a:rPr>
              <a:t>Ubuntu LTS </a:t>
            </a:r>
            <a:r>
              <a:rPr lang="zh-CN" altLang="en-US" sz="1800" dirty="0">
                <a:latin typeface="Cambria" panose="02040503050406030204" charset="0"/>
                <a:ea typeface="汉仪中黑 197" panose="00020600040101010101" charset="-122"/>
              </a:rPr>
              <a:t>版本，见右图。</a:t>
            </a:r>
            <a:endParaRPr lang="en-US" altLang="zh-CN" sz="1800" dirty="0">
              <a:latin typeface="Cambria" panose="02040503050406030204" charset="0"/>
              <a:ea typeface="汉仪中黑 197" panose="00020600040101010101" charset="-122"/>
            </a:endParaRPr>
          </a:p>
          <a:p>
            <a:pPr lvl="1"/>
            <a:r>
              <a:rPr lang="en-US" altLang="zh-CN" sz="1800" b="1" dirty="0">
                <a:latin typeface="Cambria" panose="02040503050406030204" charset="0"/>
                <a:ea typeface="汉仪中黑 197" panose="00020600040101010101" charset="-122"/>
              </a:rPr>
              <a:t>WSL </a:t>
            </a:r>
            <a:r>
              <a:rPr lang="zh-CN" altLang="en-US" sz="1800" b="1" dirty="0">
                <a:latin typeface="Cambria" panose="02040503050406030204" charset="0"/>
                <a:ea typeface="汉仪中黑 197" panose="00020600040101010101" charset="-122"/>
              </a:rPr>
              <a:t>无法启动：</a:t>
            </a:r>
            <a:endParaRPr lang="en-US" altLang="zh-CN" sz="1800" b="1"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可能是没启用 </a:t>
            </a:r>
            <a:r>
              <a:rPr lang="en-US" altLang="zh-CN" sz="1800" dirty="0">
                <a:latin typeface="Cambria" panose="02040503050406030204" charset="0"/>
                <a:ea typeface="汉仪中黑 197" panose="00020600040101010101" charset="-122"/>
              </a:rPr>
              <a:t>WSL/</a:t>
            </a:r>
            <a:r>
              <a:rPr lang="zh-CN" altLang="en-US" sz="1800" dirty="0">
                <a:latin typeface="Cambria" panose="02040503050406030204" charset="0"/>
                <a:ea typeface="汉仪中黑 197" panose="00020600040101010101" charset="-122"/>
              </a:rPr>
              <a:t>虚拟化。</a:t>
            </a:r>
            <a:endParaRPr lang="en-US" altLang="zh-CN" sz="1800"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控制面板 </a:t>
            </a:r>
            <a:r>
              <a:rPr lang="en-US" altLang="zh-CN" sz="1800" dirty="0">
                <a:latin typeface="Cambria" panose="02040503050406030204" charset="0"/>
                <a:ea typeface="汉仪中黑 197" panose="00020600040101010101" charset="-122"/>
              </a:rPr>
              <a:t>&gt; </a:t>
            </a:r>
            <a:r>
              <a:rPr lang="zh-CN" altLang="en-US" sz="1800" dirty="0">
                <a:latin typeface="Cambria" panose="02040503050406030204" charset="0"/>
                <a:ea typeface="汉仪中黑 197" panose="00020600040101010101" charset="-122"/>
              </a:rPr>
              <a:t>程序 </a:t>
            </a:r>
            <a:r>
              <a:rPr lang="en-US" altLang="zh-CN" sz="1800" dirty="0">
                <a:latin typeface="Cambria" panose="02040503050406030204" charset="0"/>
                <a:ea typeface="汉仪中黑 197" panose="00020600040101010101" charset="-122"/>
              </a:rPr>
              <a:t>&gt; </a:t>
            </a:r>
            <a:r>
              <a:rPr lang="zh-CN" altLang="en-US" sz="1800" dirty="0">
                <a:latin typeface="Cambria" panose="02040503050406030204" charset="0"/>
                <a:ea typeface="汉仪中黑 197" panose="00020600040101010101" charset="-122"/>
              </a:rPr>
              <a:t>启用或关闭 </a:t>
            </a:r>
            <a:r>
              <a:rPr lang="en-US" altLang="zh-CN" sz="1800" dirty="0">
                <a:latin typeface="Cambria" panose="02040503050406030204" charset="0"/>
                <a:ea typeface="汉仪中黑 197" panose="00020600040101010101" charset="-122"/>
              </a:rPr>
              <a:t>Windows </a:t>
            </a:r>
            <a:r>
              <a:rPr lang="zh-CN" altLang="en-US" sz="1800" dirty="0">
                <a:latin typeface="Cambria" panose="02040503050406030204" charset="0"/>
                <a:ea typeface="汉仪中黑 197" panose="00020600040101010101" charset="-122"/>
              </a:rPr>
              <a:t>功能，</a:t>
            </a:r>
            <a:br>
              <a:rPr lang="en-US" altLang="zh-CN" sz="1800" dirty="0">
                <a:latin typeface="Cambria" panose="02040503050406030204" charset="0"/>
                <a:ea typeface="汉仪中黑 197" panose="00020600040101010101" charset="-122"/>
              </a:rPr>
            </a:br>
            <a:r>
              <a:rPr lang="zh-CN" altLang="en-US" sz="1800" dirty="0">
                <a:latin typeface="Cambria" panose="02040503050406030204" charset="0"/>
                <a:ea typeface="汉仪中黑 197" panose="00020600040101010101" charset="-122"/>
              </a:rPr>
              <a:t>见右图。</a:t>
            </a:r>
            <a:endParaRPr lang="en-US" altLang="zh-CN" sz="1800" dirty="0">
              <a:latin typeface="Cambria" panose="02040503050406030204" charset="0"/>
              <a:ea typeface="汉仪中黑 197" panose="00020600040101010101" charset="-122"/>
            </a:endParaRPr>
          </a:p>
          <a:p>
            <a:pPr lvl="1"/>
            <a:r>
              <a:rPr lang="en-US" altLang="zh-CN" b="1"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sudo</a:t>
            </a:r>
            <a:r>
              <a:rPr lang="zh-CN" altLang="en-US" b="1"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en-US" altLang="zh-CN" b="1"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apt install opam </a:t>
            </a:r>
            <a:r>
              <a:rPr lang="zh-CN" altLang="en-US" sz="1800" b="1" dirty="0">
                <a:latin typeface="Cambria" panose="02040503050406030204" charset="0"/>
                <a:ea typeface="汉仪中黑 197" panose="00020600040101010101" charset="-122"/>
              </a:rPr>
              <a:t>找不到包：</a:t>
            </a:r>
            <a:endParaRPr lang="en-US" altLang="zh-CN" sz="1800" b="1"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先运行 </a:t>
            </a:r>
            <a:r>
              <a:rPr lang="en-US" altLang="zh-CN"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sudo</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apt update </a:t>
            </a:r>
            <a:r>
              <a:rPr lang="zh-CN" altLang="en-US" sz="1800" dirty="0">
                <a:latin typeface="Cambria" panose="02040503050406030204" charset="0"/>
                <a:ea typeface="汉仪中黑 197" panose="00020600040101010101" charset="-122"/>
              </a:rPr>
              <a:t>试试。</a:t>
            </a:r>
            <a:endParaRPr lang="en-US" altLang="zh-CN" sz="1800" dirty="0">
              <a:latin typeface="Cambria" panose="02040503050406030204" charset="0"/>
              <a:ea typeface="汉仪中黑 197" panose="00020600040101010101" charset="-122"/>
            </a:endParaRPr>
          </a:p>
        </p:txBody>
      </p:sp>
      <p:pic>
        <p:nvPicPr>
          <p:cNvPr id="1026" name="Picture 2">
            <a:extLst>
              <a:ext uri="{FF2B5EF4-FFF2-40B4-BE49-F238E27FC236}">
                <a16:creationId xmlns:a16="http://schemas.microsoft.com/office/drawing/2014/main" id="{CE6251B2-C608-8FC6-8011-7CD6C9DC17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3392" y="3586406"/>
            <a:ext cx="3258438" cy="3081179"/>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1D7C243C-3420-B219-3587-38EEBC5381DA}"/>
              </a:ext>
            </a:extLst>
          </p:cNvPr>
          <p:cNvPicPr>
            <a:picLocks noChangeAspect="1"/>
          </p:cNvPicPr>
          <p:nvPr/>
        </p:nvPicPr>
        <p:blipFill>
          <a:blip r:embed="rId5"/>
          <a:stretch>
            <a:fillRect/>
          </a:stretch>
        </p:blipFill>
        <p:spPr>
          <a:xfrm>
            <a:off x="7342539" y="285828"/>
            <a:ext cx="4079291" cy="3143172"/>
          </a:xfrm>
          <a:prstGeom prst="rect">
            <a:avLst/>
          </a:prstGeom>
        </p:spPr>
      </p:pic>
    </p:spTree>
    <p:custDataLst>
      <p:tags r:id="rId1"/>
    </p:custDataLst>
    <p:extLst>
      <p:ext uri="{BB962C8B-B14F-4D97-AF65-F5344CB8AC3E}">
        <p14:creationId xmlns:p14="http://schemas.microsoft.com/office/powerpoint/2010/main" val="2017588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04970-4AA7-2320-BC18-25BE8B563D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82AF19F-1733-16BD-8F12-12B72552E004}"/>
              </a:ext>
            </a:extLst>
          </p:cNvPr>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开发环境配置</a:t>
            </a:r>
            <a:endParaRPr lang="en-US" altLang="zh-CN" dirty="0">
              <a:solidFill>
                <a:schemeClr val="bg1">
                  <a:lumMod val="75000"/>
                </a:schemeClr>
              </a:solidFill>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87871402-C334-3154-CA33-BCF6ECCDA08D}"/>
              </a:ext>
            </a:extLst>
          </p:cNvPr>
          <p:cNvSpPr>
            <a:spLocks noGrp="1"/>
          </p:cNvSpPr>
          <p:nvPr>
            <p:ph idx="1"/>
          </p:nvPr>
        </p:nvSpPr>
        <p:spPr/>
        <p:txBody>
          <a:bodyPr>
            <a:normAutofit/>
          </a:bodyPr>
          <a:lstStyle/>
          <a:p>
            <a:r>
              <a:rPr lang="zh-CN" altLang="en-US" sz="1800" b="1" dirty="0">
                <a:solidFill>
                  <a:schemeClr val="bg1">
                    <a:lumMod val="75000"/>
                  </a:schemeClr>
                </a:solidFill>
                <a:latin typeface="Cambria" panose="02040503050406030204" charset="0"/>
                <a:ea typeface="汉仪中黑 197" panose="00020600040101010101" charset="-122"/>
              </a:rPr>
              <a:t>常见问题：</a:t>
            </a:r>
            <a:endParaRPr lang="en-US" altLang="zh-CN" sz="1800" b="1" dirty="0">
              <a:solidFill>
                <a:schemeClr val="bg1">
                  <a:lumMod val="75000"/>
                </a:schemeClr>
              </a:solidFill>
              <a:latin typeface="Cambria" panose="02040503050406030204" charset="0"/>
              <a:ea typeface="汉仪中黑 197" panose="00020600040101010101" charset="-122"/>
            </a:endParaRPr>
          </a:p>
          <a:p>
            <a:pPr lvl="1"/>
            <a:r>
              <a:rPr lang="zh-CN" altLang="en-US" sz="1800" b="1" dirty="0">
                <a:latin typeface="Cambria" panose="02040503050406030204" charset="0"/>
                <a:ea typeface="汉仪中黑 197" panose="00020600040101010101" charset="-122"/>
              </a:rPr>
              <a:t>如何正确使用 </a:t>
            </a:r>
            <a:r>
              <a:rPr lang="en-US" altLang="zh-CN" sz="1800" b="1" dirty="0">
                <a:latin typeface="Cambria" panose="02040503050406030204" charset="0"/>
                <a:ea typeface="汉仪中黑 197" panose="00020600040101010101" charset="-122"/>
              </a:rPr>
              <a:t>WSL +</a:t>
            </a:r>
            <a:r>
              <a:rPr lang="zh-CN" altLang="en-US" sz="1800" b="1" dirty="0">
                <a:latin typeface="Cambria" panose="02040503050406030204" charset="0"/>
                <a:ea typeface="汉仪中黑 197" panose="00020600040101010101" charset="-122"/>
              </a:rPr>
              <a:t> </a:t>
            </a:r>
            <a:r>
              <a:rPr lang="en-US" altLang="zh-CN" sz="1800" b="1" dirty="0">
                <a:latin typeface="Cambria" panose="02040503050406030204" charset="0"/>
                <a:ea typeface="汉仪中黑 197" panose="00020600040101010101" charset="-122"/>
              </a:rPr>
              <a:t>VS Code</a:t>
            </a:r>
            <a:r>
              <a:rPr lang="zh-CN" altLang="en-US" sz="1800" b="1" dirty="0">
                <a:latin typeface="Cambria" panose="02040503050406030204" charset="0"/>
                <a:ea typeface="汉仪中黑 197" panose="00020600040101010101" charset="-122"/>
              </a:rPr>
              <a:t>：</a:t>
            </a:r>
            <a:endParaRPr lang="en-US" altLang="zh-CN" sz="1800" b="1"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安装好 </a:t>
            </a:r>
            <a:r>
              <a:rPr lang="en-US" altLang="zh-CN" sz="1800" dirty="0">
                <a:latin typeface="Cambria" panose="02040503050406030204" charset="0"/>
                <a:ea typeface="汉仪中黑 197" panose="00020600040101010101" charset="-122"/>
              </a:rPr>
              <a:t>WSL </a:t>
            </a:r>
            <a:r>
              <a:rPr lang="zh-CN" altLang="en-US" sz="1800" dirty="0">
                <a:latin typeface="Cambria" panose="02040503050406030204" charset="0"/>
                <a:ea typeface="汉仪中黑 197" panose="00020600040101010101" charset="-122"/>
              </a:rPr>
              <a:t>后，在 </a:t>
            </a:r>
            <a:r>
              <a:rPr lang="en-US" altLang="zh-CN" sz="1800" dirty="0">
                <a:latin typeface="Cambria" panose="02040503050406030204" charset="0"/>
                <a:ea typeface="汉仪中黑 197" panose="00020600040101010101" charset="-122"/>
              </a:rPr>
              <a:t>Windows </a:t>
            </a:r>
            <a:r>
              <a:rPr lang="zh-CN" altLang="en-US" sz="1800" dirty="0">
                <a:latin typeface="Cambria" panose="02040503050406030204" charset="0"/>
                <a:ea typeface="汉仪中黑 197" panose="00020600040101010101" charset="-122"/>
              </a:rPr>
              <a:t>端安装 </a:t>
            </a:r>
            <a:r>
              <a:rPr lang="en-US" altLang="zh-CN" sz="1800" dirty="0">
                <a:latin typeface="Cambria" panose="02040503050406030204" charset="0"/>
                <a:ea typeface="汉仪中黑 197" panose="00020600040101010101" charset="-122"/>
              </a:rPr>
              <a:t>VS Code</a:t>
            </a:r>
            <a:r>
              <a:rPr lang="zh-CN" altLang="en-US" sz="1800" dirty="0">
                <a:latin typeface="Cambria" panose="02040503050406030204" charset="0"/>
                <a:ea typeface="汉仪中黑 197" panose="00020600040101010101" charset="-122"/>
              </a:rPr>
              <a:t>，并安装 </a:t>
            </a:r>
            <a:r>
              <a:rPr lang="en-US" altLang="zh-CN" sz="1800" i="1" dirty="0">
                <a:latin typeface="Cambria" panose="02040503050406030204" charset="0"/>
                <a:ea typeface="汉仪中黑 197" panose="00020600040101010101" charset="-122"/>
              </a:rPr>
              <a:t>WSL</a:t>
            </a:r>
            <a:r>
              <a:rPr lang="en-US" altLang="zh-CN" sz="1800" dirty="0">
                <a:latin typeface="Cambria" panose="02040503050406030204" charset="0"/>
                <a:ea typeface="汉仪中黑 197" panose="00020600040101010101" charset="-122"/>
              </a:rPr>
              <a:t> </a:t>
            </a:r>
            <a:r>
              <a:rPr lang="zh-CN" altLang="en-US" sz="1800" dirty="0">
                <a:latin typeface="Cambria" panose="02040503050406030204" charset="0"/>
                <a:ea typeface="汉仪中黑 197" panose="00020600040101010101" charset="-122"/>
              </a:rPr>
              <a:t>插件。</a:t>
            </a:r>
            <a:endParaRPr lang="en-US" altLang="zh-CN" sz="1800"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在 </a:t>
            </a:r>
            <a:r>
              <a:rPr lang="en-US" altLang="zh-CN" sz="1800" dirty="0">
                <a:latin typeface="Cambria" panose="02040503050406030204" charset="0"/>
                <a:ea typeface="汉仪中黑 197" panose="00020600040101010101" charset="-122"/>
              </a:rPr>
              <a:t>WSL </a:t>
            </a:r>
            <a:r>
              <a:rPr lang="zh-CN" altLang="en-US" sz="1800" dirty="0">
                <a:latin typeface="Cambria" panose="02040503050406030204" charset="0"/>
                <a:ea typeface="汉仪中黑 197" panose="00020600040101010101" charset="-122"/>
              </a:rPr>
              <a:t>终端运行 </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code</a:t>
            </a:r>
            <a:r>
              <a:rPr lang="en-US" altLang="zh-CN" sz="1800" dirty="0">
                <a:latin typeface="Cambria" panose="02040503050406030204" charset="0"/>
                <a:ea typeface="汉仪中黑 197" panose="00020600040101010101" charset="-122"/>
              </a:rPr>
              <a:t> </a:t>
            </a:r>
            <a:r>
              <a:rPr lang="zh-CN" altLang="en-US" sz="1800" dirty="0">
                <a:latin typeface="Cambria" panose="02040503050406030204" charset="0"/>
                <a:ea typeface="汉仪中黑 197" panose="00020600040101010101" charset="-122"/>
              </a:rPr>
              <a:t>命令（后面可以空格跟上目录名，如 </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a:t>
            </a:r>
            <a:r>
              <a:rPr lang="en-US" altLang="zh-CN" sz="1800" dirty="0">
                <a:latin typeface="Cambria" panose="02040503050406030204" charset="0"/>
                <a:ea typeface="汉仪中黑 197" panose="00020600040101010101" charset="-122"/>
              </a:rPr>
              <a:t> </a:t>
            </a:r>
            <a:r>
              <a:rPr lang="zh-CN" altLang="en-US" sz="1800" dirty="0">
                <a:latin typeface="Cambria" panose="02040503050406030204" charset="0"/>
                <a:ea typeface="汉仪中黑 197" panose="00020600040101010101" charset="-122"/>
              </a:rPr>
              <a:t>代表当前目录），才能让 </a:t>
            </a:r>
            <a:r>
              <a:rPr lang="en-US" altLang="zh-CN" sz="1800" dirty="0">
                <a:latin typeface="Cambria" panose="02040503050406030204" charset="0"/>
                <a:ea typeface="汉仪中黑 197" panose="00020600040101010101" charset="-122"/>
              </a:rPr>
              <a:t>VS Code </a:t>
            </a:r>
            <a:r>
              <a:rPr lang="zh-CN" altLang="en-US" sz="1800" dirty="0">
                <a:latin typeface="Cambria" panose="02040503050406030204" charset="0"/>
                <a:ea typeface="汉仪中黑 197" panose="00020600040101010101" charset="-122"/>
              </a:rPr>
              <a:t>连接到 </a:t>
            </a:r>
            <a:r>
              <a:rPr lang="en-US" altLang="zh-CN" sz="1800" dirty="0">
                <a:latin typeface="Cambria" panose="02040503050406030204" charset="0"/>
                <a:ea typeface="汉仪中黑 197" panose="00020600040101010101" charset="-122"/>
              </a:rPr>
              <a:t>WSL</a:t>
            </a:r>
            <a:r>
              <a:rPr lang="zh-CN" altLang="en-US" sz="1800" dirty="0">
                <a:latin typeface="Cambria" panose="02040503050406030204" charset="0"/>
                <a:ea typeface="汉仪中黑 197" panose="00020600040101010101" charset="-122"/>
              </a:rPr>
              <a:t>。如果不行，一个临时的办法是：先启动 </a:t>
            </a:r>
            <a:r>
              <a:rPr lang="en-US" altLang="zh-CN" sz="1800" dirty="0">
                <a:latin typeface="Cambria" panose="02040503050406030204" charset="0"/>
                <a:ea typeface="汉仪中黑 197" panose="00020600040101010101" charset="-122"/>
              </a:rPr>
              <a:t>VS Code</a:t>
            </a:r>
            <a:r>
              <a:rPr lang="zh-CN" altLang="en-US" sz="1800" dirty="0">
                <a:latin typeface="Cambria" panose="02040503050406030204" charset="0"/>
                <a:ea typeface="汉仪中黑 197" panose="00020600040101010101" charset="-122"/>
              </a:rPr>
              <a:t>，然后点击左下角的远程连接，选择“连接到 </a:t>
            </a:r>
            <a:r>
              <a:rPr lang="en-US" altLang="zh-CN" sz="1800" dirty="0">
                <a:latin typeface="Cambria" panose="02040503050406030204" charset="0"/>
                <a:ea typeface="汉仪中黑 197" panose="00020600040101010101" charset="-122"/>
              </a:rPr>
              <a:t>WSL</a:t>
            </a:r>
            <a:r>
              <a:rPr lang="zh-CN" altLang="en-US" sz="1800" dirty="0">
                <a:latin typeface="Cambria" panose="02040503050406030204" charset="0"/>
                <a:ea typeface="汉仪中黑 197" panose="00020600040101010101" charset="-122"/>
              </a:rPr>
              <a:t>”；然后在 </a:t>
            </a:r>
            <a:r>
              <a:rPr lang="en-US" altLang="zh-CN" sz="1800" dirty="0">
                <a:latin typeface="Cambria" panose="02040503050406030204" charset="0"/>
                <a:ea typeface="汉仪中黑 197" panose="00020600040101010101" charset="-122"/>
              </a:rPr>
              <a:t>Windows </a:t>
            </a:r>
            <a:r>
              <a:rPr lang="zh-CN" altLang="en-US" sz="1800" dirty="0">
                <a:latin typeface="Cambria" panose="02040503050406030204" charset="0"/>
                <a:ea typeface="汉仪中黑 197" panose="00020600040101010101" charset="-122"/>
              </a:rPr>
              <a:t>终端运行</a:t>
            </a:r>
            <a:br>
              <a:rPr lang="en-US" altLang="zh-CN" sz="1800" dirty="0">
                <a:latin typeface="Cambria" panose="02040503050406030204" charset="0"/>
                <a:ea typeface="汉仪中黑 197" panose="00020600040101010101" charset="-122"/>
              </a:rPr>
            </a:br>
            <a:r>
              <a:rPr lang="en-US" altLang="zh-CN"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wsl</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––shutdown </a:t>
            </a:r>
            <a:r>
              <a:rPr lang="zh-CN" altLang="en-US" sz="1800" dirty="0">
                <a:latin typeface="Cambria" panose="02040503050406030204" charset="0"/>
                <a:ea typeface="汉仪中黑 197" panose="00020600040101010101" charset="-122"/>
              </a:rPr>
              <a:t>重启 </a:t>
            </a:r>
            <a:r>
              <a:rPr lang="en-US" altLang="zh-CN" sz="1800" dirty="0">
                <a:latin typeface="Cambria" panose="02040503050406030204" charset="0"/>
                <a:ea typeface="汉仪中黑 197" panose="00020600040101010101" charset="-122"/>
              </a:rPr>
              <a:t>WSL</a:t>
            </a:r>
            <a:r>
              <a:rPr lang="zh-CN" altLang="en-US" sz="1800" dirty="0">
                <a:latin typeface="Cambria" panose="02040503050406030204" charset="0"/>
                <a:ea typeface="汉仪中黑 197" panose="00020600040101010101" charset="-122"/>
              </a:rPr>
              <a:t>，再重启一下你的电脑试试。</a:t>
            </a:r>
            <a:endParaRPr lang="en-US" altLang="zh-CN" sz="1800" dirty="0">
              <a:latin typeface="Cambria" panose="02040503050406030204" charset="0"/>
              <a:ea typeface="汉仪中黑 197" panose="00020600040101010101" charset="-122"/>
            </a:endParaRPr>
          </a:p>
          <a:p>
            <a:pPr lvl="2"/>
            <a:r>
              <a:rPr lang="en-US" altLang="zh-CN" sz="1800" dirty="0">
                <a:latin typeface="Cambria" panose="02040503050406030204" charset="0"/>
                <a:ea typeface="汉仪中黑 197" panose="00020600040101010101" charset="-122"/>
              </a:rPr>
              <a:t>OCaml </a:t>
            </a:r>
            <a:r>
              <a:rPr lang="zh-CN" altLang="en-US" sz="1800" dirty="0">
                <a:latin typeface="Cambria" panose="02040503050406030204" charset="0"/>
                <a:ea typeface="汉仪中黑 197" panose="00020600040101010101" charset="-122"/>
              </a:rPr>
              <a:t>插件都需要在 </a:t>
            </a:r>
            <a:r>
              <a:rPr lang="en-US" altLang="zh-CN" sz="1800" dirty="0">
                <a:latin typeface="Cambria" panose="02040503050406030204" charset="0"/>
                <a:ea typeface="汉仪中黑 197" panose="00020600040101010101" charset="-122"/>
              </a:rPr>
              <a:t>VS Code </a:t>
            </a:r>
            <a:r>
              <a:rPr lang="zh-CN" altLang="en-US" sz="1800" dirty="0">
                <a:latin typeface="Cambria" panose="02040503050406030204" charset="0"/>
                <a:ea typeface="汉仪中黑 197" panose="00020600040101010101" charset="-122"/>
              </a:rPr>
              <a:t>连接到 </a:t>
            </a:r>
            <a:r>
              <a:rPr lang="en-US" altLang="zh-CN" sz="1800" dirty="0">
                <a:latin typeface="Cambria" panose="02040503050406030204" charset="0"/>
                <a:ea typeface="汉仪中黑 197" panose="00020600040101010101" charset="-122"/>
              </a:rPr>
              <a:t>WSL </a:t>
            </a:r>
            <a:r>
              <a:rPr lang="zh-CN" altLang="en-US" sz="1800" dirty="0">
                <a:latin typeface="Cambria" panose="02040503050406030204" charset="0"/>
                <a:ea typeface="汉仪中黑 197" panose="00020600040101010101" charset="-122"/>
              </a:rPr>
              <a:t>的状态下安装。</a:t>
            </a:r>
            <a:endParaRPr lang="en-US" altLang="zh-CN" sz="1800" dirty="0">
              <a:latin typeface="Cambria" panose="02040503050406030204" charset="0"/>
              <a:ea typeface="汉仪中黑 197" panose="00020600040101010101" charset="-122"/>
            </a:endParaRPr>
          </a:p>
          <a:p>
            <a:pPr lvl="1"/>
            <a:endParaRPr lang="en-US" altLang="zh-CN" sz="1800" b="1" dirty="0">
              <a:latin typeface="Cambria" panose="02040503050406030204" charset="0"/>
              <a:ea typeface="汉仪中黑 197" panose="00020600040101010101" charset="-122"/>
            </a:endParaRPr>
          </a:p>
        </p:txBody>
      </p:sp>
    </p:spTree>
    <p:custDataLst>
      <p:tags r:id="rId1"/>
    </p:custDataLst>
    <p:extLst>
      <p:ext uri="{BB962C8B-B14F-4D97-AF65-F5344CB8AC3E}">
        <p14:creationId xmlns:p14="http://schemas.microsoft.com/office/powerpoint/2010/main" val="2486892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BFBE2-4316-00C7-3534-6F06934933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76FCCAD-C14B-1CE1-B2B7-F903888C0EE6}"/>
              </a:ext>
            </a:extLst>
          </p:cNvPr>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开发环境配置</a:t>
            </a:r>
            <a:endParaRPr lang="en-US" altLang="zh-CN" dirty="0">
              <a:solidFill>
                <a:schemeClr val="bg1">
                  <a:lumMod val="75000"/>
                </a:schemeClr>
              </a:solidFill>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3B7045FA-2BFD-1B5C-8269-8B5A5092A8A1}"/>
              </a:ext>
            </a:extLst>
          </p:cNvPr>
          <p:cNvSpPr>
            <a:spLocks noGrp="1"/>
          </p:cNvSpPr>
          <p:nvPr>
            <p:ph idx="1"/>
          </p:nvPr>
        </p:nvSpPr>
        <p:spPr/>
        <p:txBody>
          <a:bodyPr>
            <a:normAutofit/>
          </a:bodyPr>
          <a:lstStyle/>
          <a:p>
            <a:r>
              <a:rPr lang="zh-CN" altLang="en-US" sz="1800" b="1" dirty="0">
                <a:solidFill>
                  <a:schemeClr val="bg1">
                    <a:lumMod val="75000"/>
                  </a:schemeClr>
                </a:solidFill>
                <a:latin typeface="Cambria" panose="02040503050406030204" charset="0"/>
                <a:ea typeface="汉仪中黑 197" panose="00020600040101010101" charset="-122"/>
              </a:rPr>
              <a:t>常见问题：</a:t>
            </a:r>
            <a:endParaRPr lang="en-US" altLang="zh-CN" sz="1800" b="1" dirty="0">
              <a:solidFill>
                <a:schemeClr val="bg1">
                  <a:lumMod val="75000"/>
                </a:schemeClr>
              </a:solidFill>
              <a:latin typeface="Cambria" panose="02040503050406030204" charset="0"/>
              <a:ea typeface="汉仪中黑 197" panose="00020600040101010101" charset="-122"/>
            </a:endParaRPr>
          </a:p>
          <a:p>
            <a:pPr lvl="1"/>
            <a:r>
              <a:rPr lang="en-US" altLang="zh-CN" sz="1800" b="1" dirty="0">
                <a:latin typeface="Cambria" panose="02040503050406030204" charset="0"/>
                <a:ea typeface="汉仪中黑 197" panose="00020600040101010101" charset="-122"/>
              </a:rPr>
              <a:t>OCaml </a:t>
            </a:r>
            <a:r>
              <a:rPr lang="zh-CN" altLang="en-US" sz="1800" b="1" dirty="0">
                <a:latin typeface="Cambria" panose="02040503050406030204" charset="0"/>
                <a:ea typeface="汉仪中黑 197" panose="00020600040101010101" charset="-122"/>
              </a:rPr>
              <a:t>开发环境不全（无法补全</a:t>
            </a:r>
            <a:r>
              <a:rPr lang="en-US" altLang="zh-CN" sz="1800" b="1" dirty="0">
                <a:latin typeface="Cambria" panose="02040503050406030204" charset="0"/>
                <a:ea typeface="汉仪中黑 197" panose="00020600040101010101" charset="-122"/>
              </a:rPr>
              <a:t>/</a:t>
            </a:r>
            <a:r>
              <a:rPr lang="zh-CN" altLang="en-US" sz="1800" b="1" dirty="0">
                <a:latin typeface="Cambria" panose="02040503050406030204" charset="0"/>
                <a:ea typeface="汉仪中黑 197" panose="00020600040101010101" charset="-122"/>
              </a:rPr>
              <a:t>格式化代码）：</a:t>
            </a:r>
            <a:endParaRPr lang="en-US" altLang="zh-CN" sz="1800" b="1" dirty="0">
              <a:latin typeface="Cambria" panose="02040503050406030204" charset="0"/>
              <a:ea typeface="汉仪中黑 197" panose="00020600040101010101" charset="-122"/>
            </a:endParaRPr>
          </a:p>
          <a:p>
            <a:pPr lvl="2"/>
            <a:r>
              <a:rPr lang="zh-CN" altLang="en-US" sz="1800" dirty="0">
                <a:latin typeface="Cascadia Code" panose="020B0609020000020004" pitchFamily="49" charset="0"/>
                <a:ea typeface="汉仪中黑 197" panose="00020600040101010101" charset="-122"/>
                <a:cs typeface="Cascadia Code" panose="020B0609020000020004" pitchFamily="49" charset="0"/>
              </a:rPr>
              <a:t>通</a:t>
            </a:r>
            <a:r>
              <a:rPr lang="zh-CN" altLang="en-US" sz="1800" dirty="0">
                <a:latin typeface="+mj-lt"/>
                <a:ea typeface="汉仪中黑 197" panose="00020600040101010101" charset="-122"/>
                <a:cs typeface="Cascadia Code" panose="020B0609020000020004" pitchFamily="49" charset="0"/>
              </a:rPr>
              <a:t>过 </a:t>
            </a:r>
            <a:r>
              <a:rPr lang="en-US" altLang="zh-CN" sz="1800" dirty="0">
                <a:latin typeface="+mj-lt"/>
                <a:ea typeface="汉仪中黑 197" panose="00020600040101010101" charset="-122"/>
                <a:cs typeface="Cascadia Code" panose="020B0609020000020004" pitchFamily="49" charset="0"/>
              </a:rPr>
              <a:t>opam </a:t>
            </a:r>
            <a:r>
              <a:rPr lang="zh-CN" altLang="en-US" sz="1800" dirty="0">
                <a:latin typeface="Cascadia Code" panose="020B0609020000020004" pitchFamily="49" charset="0"/>
                <a:ea typeface="汉仪中黑 197" panose="00020600040101010101" charset="-122"/>
                <a:cs typeface="Cascadia Code" panose="020B0609020000020004" pitchFamily="49" charset="0"/>
              </a:rPr>
              <a:t>安装语言服务器和格式化工具：</a:t>
            </a:r>
            <a:br>
              <a:rPr lang="en-US" altLang="zh-CN" sz="18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b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opam install </a:t>
            </a:r>
            <a:r>
              <a:rPr lang="en-US" altLang="zh-CN"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a:t>
            </a:r>
            <a:r>
              <a:rPr lang="en-US" altLang="zh-CN"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lsp</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-server </a:t>
            </a:r>
            <a:r>
              <a:rPr lang="en-US" altLang="zh-CN"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a:t>
            </a:r>
            <a:r>
              <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-format</a:t>
            </a:r>
          </a:p>
          <a:p>
            <a:pPr lvl="2"/>
            <a:r>
              <a:rPr lang="en-US" altLang="zh-CN" sz="1800" dirty="0">
                <a:latin typeface="Cambria" panose="02040503050406030204" charset="0"/>
                <a:ea typeface="汉仪中黑 197" panose="00020600040101010101" charset="-122"/>
              </a:rPr>
              <a:t>VS Code </a:t>
            </a:r>
            <a:r>
              <a:rPr lang="zh-CN" altLang="en-US" sz="1800" dirty="0">
                <a:latin typeface="Cambria" panose="02040503050406030204" charset="0"/>
                <a:ea typeface="汉仪中黑 197" panose="00020600040101010101" charset="-122"/>
              </a:rPr>
              <a:t>安装 </a:t>
            </a:r>
            <a:r>
              <a:rPr lang="en-US" altLang="zh-CN" sz="1800" i="1" dirty="0">
                <a:latin typeface="Cambria" panose="02040503050406030204" charset="0"/>
                <a:ea typeface="汉仪中黑 197" panose="00020600040101010101" charset="-122"/>
              </a:rPr>
              <a:t>OCaml Platform </a:t>
            </a:r>
            <a:r>
              <a:rPr lang="zh-CN" altLang="en-US" sz="1800" dirty="0">
                <a:latin typeface="Cambria" panose="02040503050406030204" charset="0"/>
                <a:ea typeface="汉仪中黑 197" panose="00020600040101010101" charset="-122"/>
              </a:rPr>
              <a:t>和 </a:t>
            </a:r>
            <a:r>
              <a:rPr lang="en-US" altLang="zh-CN" sz="1800" i="1" dirty="0" err="1">
                <a:latin typeface="Cambria" panose="02040503050406030204" charset="0"/>
                <a:ea typeface="汉仪中黑 197" panose="00020600040101010101" charset="-122"/>
              </a:rPr>
              <a:t>ocamlformat-vscode</a:t>
            </a:r>
            <a:r>
              <a:rPr lang="en-US" altLang="zh-CN" sz="1800" i="1" dirty="0">
                <a:latin typeface="Cambria" panose="02040503050406030204" charset="0"/>
                <a:ea typeface="汉仪中黑 197" panose="00020600040101010101" charset="-122"/>
              </a:rPr>
              <a:t> </a:t>
            </a:r>
            <a:r>
              <a:rPr lang="zh-CN" altLang="en-US" sz="1800" dirty="0">
                <a:latin typeface="Cambria" panose="02040503050406030204" charset="0"/>
                <a:ea typeface="汉仪中黑 197" panose="00020600040101010101" charset="-122"/>
              </a:rPr>
              <a:t>插件；</a:t>
            </a:r>
            <a:endParaRPr lang="en-US" altLang="zh-CN" sz="1800" dirty="0">
              <a:latin typeface="Cambria" panose="02040503050406030204" charset="0"/>
              <a:ea typeface="汉仪中黑 197" panose="00020600040101010101" charset="-122"/>
            </a:endParaRPr>
          </a:p>
          <a:p>
            <a:pPr lvl="2"/>
            <a:r>
              <a:rPr lang="en-US" altLang="zh-CN" sz="1800" dirty="0">
                <a:latin typeface="Cambria" panose="02040503050406030204" charset="0"/>
                <a:ea typeface="汉仪中黑 197" panose="00020600040101010101" charset="-122"/>
              </a:rPr>
              <a:t>VS Code </a:t>
            </a:r>
            <a:r>
              <a:rPr lang="zh-CN" altLang="en-US" sz="1800" dirty="0">
                <a:latin typeface="Cambria" panose="02040503050406030204" charset="0"/>
                <a:ea typeface="汉仪中黑 197" panose="00020600040101010101" charset="-122"/>
              </a:rPr>
              <a:t>里新建一个 </a:t>
            </a:r>
            <a:r>
              <a:rPr lang="en-US" altLang="zh-CN" sz="1800" dirty="0">
                <a:latin typeface="Cambria" panose="02040503050406030204" charset="0"/>
                <a:ea typeface="汉仪中黑 197" panose="00020600040101010101" charset="-122"/>
              </a:rPr>
              <a:t>.ml </a:t>
            </a:r>
            <a:r>
              <a:rPr lang="zh-CN" altLang="en-US" sz="1800" dirty="0">
                <a:latin typeface="Cambria" panose="02040503050406030204" charset="0"/>
                <a:ea typeface="汉仪中黑 197" panose="00020600040101010101" charset="-122"/>
              </a:rPr>
              <a:t>文件，在文件内右键，选择 </a:t>
            </a:r>
            <a:r>
              <a:rPr lang="en-US" altLang="zh-CN" sz="1800" i="1" dirty="0">
                <a:latin typeface="Cambria" panose="02040503050406030204" charset="0"/>
                <a:ea typeface="汉仪中黑 197" panose="00020600040101010101" charset="-122"/>
              </a:rPr>
              <a:t>Format Document </a:t>
            </a:r>
            <a:r>
              <a:rPr lang="zh-CN" altLang="en-US" sz="1800" dirty="0">
                <a:latin typeface="Cambria" panose="02040503050406030204" charset="0"/>
                <a:ea typeface="汉仪中黑 197" panose="00020600040101010101" charset="-122"/>
              </a:rPr>
              <a:t>（格式化文档），选择 </a:t>
            </a:r>
            <a:r>
              <a:rPr lang="en-US" altLang="zh-CN" sz="1800" i="1" dirty="0">
                <a:latin typeface="Cambria" panose="02040503050406030204" charset="0"/>
                <a:ea typeface="汉仪中黑 197" panose="00020600040101010101" charset="-122"/>
              </a:rPr>
              <a:t>Configure Default Formatter</a:t>
            </a:r>
            <a:r>
              <a:rPr lang="zh-CN" altLang="en-US" sz="1800" dirty="0">
                <a:latin typeface="Cambria" panose="02040503050406030204" charset="0"/>
                <a:ea typeface="汉仪中黑 197" panose="00020600040101010101" charset="-122"/>
              </a:rPr>
              <a:t>（配置默认格式化工具），选择 </a:t>
            </a:r>
            <a:r>
              <a:rPr lang="en-US" altLang="zh-CN" sz="1800" i="1" dirty="0" err="1">
                <a:latin typeface="Cambria" panose="02040503050406030204" charset="0"/>
                <a:ea typeface="汉仪中黑 197" panose="00020600040101010101" charset="-122"/>
              </a:rPr>
              <a:t>ocamlformat-vscode</a:t>
            </a:r>
            <a:r>
              <a:rPr lang="zh-CN" altLang="en-US" sz="1800" dirty="0">
                <a:latin typeface="Cambria" panose="02040503050406030204" charset="0"/>
                <a:ea typeface="汉仪中黑 197" panose="00020600040101010101" charset="-122"/>
              </a:rPr>
              <a:t>。</a:t>
            </a:r>
            <a:endParaRPr lang="en-US" altLang="zh-CN" sz="1800" dirty="0">
              <a:latin typeface="Cambria" panose="02040503050406030204" charset="0"/>
              <a:ea typeface="汉仪中黑 197" panose="00020600040101010101" charset="-122"/>
            </a:endParaRPr>
          </a:p>
          <a:p>
            <a:pPr lvl="2"/>
            <a:r>
              <a:rPr lang="en-US" altLang="zh-CN" sz="1800" dirty="0">
                <a:latin typeface="Cambria" panose="02040503050406030204" charset="0"/>
                <a:ea typeface="汉仪中黑 197" panose="00020600040101010101" charset="-122"/>
              </a:rPr>
              <a:t>VS Code </a:t>
            </a:r>
            <a:r>
              <a:rPr lang="zh-CN" altLang="en-US" sz="1800" dirty="0">
                <a:latin typeface="Cambria" panose="02040503050406030204" charset="0"/>
                <a:ea typeface="汉仪中黑 197" panose="00020600040101010101" charset="-122"/>
              </a:rPr>
              <a:t>设置里勾选 </a:t>
            </a:r>
            <a:r>
              <a:rPr lang="en-US" altLang="zh-CN" sz="1800" i="1" dirty="0">
                <a:latin typeface="Cambria" panose="02040503050406030204" charset="0"/>
                <a:ea typeface="汉仪中黑 197" panose="00020600040101010101" charset="-122"/>
              </a:rPr>
              <a:t>Editor: Format On Save</a:t>
            </a:r>
            <a:r>
              <a:rPr lang="zh-CN" altLang="en-US" sz="1800" dirty="0">
                <a:latin typeface="Cambria" panose="02040503050406030204" charset="0"/>
                <a:ea typeface="汉仪中黑 197" panose="00020600040101010101" charset="-122"/>
              </a:rPr>
              <a:t>（保存文件时运行格式化工具）。</a:t>
            </a:r>
            <a:endParaRPr lang="en-US" altLang="zh-CN" sz="1800" dirty="0">
              <a:latin typeface="Cambria" panose="02040503050406030204" charset="0"/>
              <a:ea typeface="汉仪中黑 197" panose="00020600040101010101" charset="-122"/>
            </a:endParaRPr>
          </a:p>
          <a:p>
            <a:pPr lvl="2"/>
            <a:r>
              <a:rPr lang="zh-CN" altLang="en-US" sz="1800" dirty="0">
                <a:latin typeface="Cambria" panose="02040503050406030204" charset="0"/>
                <a:ea typeface="汉仪中黑 197" panose="00020600040101010101" charset="-122"/>
              </a:rPr>
              <a:t>编写一段代码然后保存试试。观察 </a:t>
            </a:r>
            <a:r>
              <a:rPr lang="en-US" altLang="zh-CN" sz="1800" dirty="0">
                <a:latin typeface="Cambria" panose="02040503050406030204" charset="0"/>
                <a:ea typeface="汉仪中黑 197" panose="00020600040101010101" charset="-122"/>
              </a:rPr>
              <a:t>let </a:t>
            </a:r>
            <a:r>
              <a:rPr lang="zh-CN" altLang="en-US" sz="1800" dirty="0">
                <a:latin typeface="Cambria" panose="02040503050406030204" charset="0"/>
                <a:ea typeface="汉仪中黑 197" panose="00020600040101010101" charset="-122"/>
              </a:rPr>
              <a:t>表达式上方有没有显示类型提示，以及是否成功格式化了。</a:t>
            </a:r>
            <a:endParaRPr lang="en-US" altLang="zh-CN" sz="1800" dirty="0">
              <a:latin typeface="Cambria" panose="02040503050406030204" charset="0"/>
              <a:ea typeface="汉仪中黑 197" panose="00020600040101010101" charset="-122"/>
            </a:endParaRPr>
          </a:p>
        </p:txBody>
      </p:sp>
      <p:pic>
        <p:nvPicPr>
          <p:cNvPr id="8" name="图片 7">
            <a:extLst>
              <a:ext uri="{FF2B5EF4-FFF2-40B4-BE49-F238E27FC236}">
                <a16:creationId xmlns:a16="http://schemas.microsoft.com/office/drawing/2014/main" id="{399396C5-AC7F-9CC1-D053-514226F60464}"/>
              </a:ext>
            </a:extLst>
          </p:cNvPr>
          <p:cNvPicPr>
            <a:picLocks noChangeAspect="1"/>
          </p:cNvPicPr>
          <p:nvPr/>
        </p:nvPicPr>
        <p:blipFill>
          <a:blip r:embed="rId4"/>
          <a:stretch>
            <a:fillRect/>
          </a:stretch>
        </p:blipFill>
        <p:spPr>
          <a:xfrm>
            <a:off x="7824536" y="1598844"/>
            <a:ext cx="4229317" cy="1149409"/>
          </a:xfrm>
          <a:prstGeom prst="rect">
            <a:avLst/>
          </a:prstGeom>
        </p:spPr>
      </p:pic>
      <p:cxnSp>
        <p:nvCxnSpPr>
          <p:cNvPr id="10" name="直接箭头连接符 9">
            <a:extLst>
              <a:ext uri="{FF2B5EF4-FFF2-40B4-BE49-F238E27FC236}">
                <a16:creationId xmlns:a16="http://schemas.microsoft.com/office/drawing/2014/main" id="{72919501-DCEE-2A3A-EAA8-12C7F6503B79}"/>
              </a:ext>
            </a:extLst>
          </p:cNvPr>
          <p:cNvCxnSpPr>
            <a:cxnSpLocks/>
          </p:cNvCxnSpPr>
          <p:nvPr/>
        </p:nvCxnSpPr>
        <p:spPr>
          <a:xfrm flipV="1">
            <a:off x="8492735" y="2835298"/>
            <a:ext cx="138148" cy="785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710616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3244850" y="2983230"/>
            <a:ext cx="1659890" cy="1106805"/>
          </a:xfrm>
          <a:prstGeom prst="rect">
            <a:avLst/>
          </a:prstGeom>
          <a:noFill/>
        </p:spPr>
        <p:txBody>
          <a:bodyPr wrap="square" rtlCol="0" anchor="ctr" anchorCtr="0">
            <a:normAutofit/>
          </a:bodyPr>
          <a:lstStyle/>
          <a:p>
            <a:pPr algn="ctr"/>
            <a:r>
              <a:rPr lang="en-US" altLang="zh-CN" sz="6600" b="1" spc="200" dirty="0">
                <a:solidFill>
                  <a:schemeClr val="accent1">
                    <a:lumMod val="50000"/>
                  </a:schemeClr>
                </a:solidFill>
                <a:latin typeface="Cambria" panose="02040503050406030204" charset="0"/>
                <a:ea typeface="汉仪中黑 197" panose="00020600040101010101" charset="-122"/>
                <a:cs typeface="Arial" panose="020B0604020202020204" pitchFamily="34" charset="0"/>
              </a:rPr>
              <a:t>02</a:t>
            </a:r>
          </a:p>
        </p:txBody>
      </p:sp>
      <p:sp>
        <p:nvSpPr>
          <p:cNvPr id="2" name="文本框 1"/>
          <p:cNvSpPr txBox="1"/>
          <p:nvPr>
            <p:custDataLst>
              <p:tags r:id="rId3"/>
            </p:custDataLst>
          </p:nvPr>
        </p:nvSpPr>
        <p:spPr>
          <a:xfrm>
            <a:off x="3244850" y="2712085"/>
            <a:ext cx="1659890" cy="338455"/>
          </a:xfrm>
          <a:prstGeom prst="rect">
            <a:avLst/>
          </a:prstGeom>
          <a:noFill/>
        </p:spPr>
        <p:txBody>
          <a:bodyPr wrap="square" lIns="0" tIns="0" rIns="0" bIns="0" rtlCol="0" anchor="b" anchorCtr="0">
            <a:normAutofit/>
          </a:bodyPr>
          <a:lstStyle/>
          <a:p>
            <a:pPr algn="ctr"/>
            <a:r>
              <a:rPr lang="en-US" altLang="zh-CN" b="1" spc="200">
                <a:solidFill>
                  <a:schemeClr val="accent1">
                    <a:lumMod val="50000"/>
                  </a:schemeClr>
                </a:solidFill>
                <a:latin typeface="Cambria" panose="02040503050406030204" charset="0"/>
                <a:ea typeface="汉仪中黑 197" panose="00020600040101010101" charset="-122"/>
                <a:sym typeface="+mn-ea"/>
              </a:rPr>
              <a:t>PART TWO</a:t>
            </a:r>
            <a:endParaRPr lang="en-US" altLang="zh-CN" b="1" spc="200" dirty="0">
              <a:solidFill>
                <a:schemeClr val="accent1">
                  <a:lumMod val="50000"/>
                </a:schemeClr>
              </a:solidFill>
              <a:latin typeface="Cambria" panose="02040503050406030204" charset="0"/>
              <a:ea typeface="汉仪中黑 197" panose="00020600040101010101" charset="-122"/>
              <a:sym typeface="+mn-ea"/>
            </a:endParaRPr>
          </a:p>
        </p:txBody>
      </p:sp>
      <p:cxnSp>
        <p:nvCxnSpPr>
          <p:cNvPr id="12" name="直接连接符 11"/>
          <p:cNvCxnSpPr/>
          <p:nvPr>
            <p:custDataLst>
              <p:tags r:id="rId4"/>
            </p:custDataLst>
          </p:nvPr>
        </p:nvCxnSpPr>
        <p:spPr>
          <a:xfrm>
            <a:off x="3390900" y="4088765"/>
            <a:ext cx="1367790" cy="0"/>
          </a:xfrm>
          <a:prstGeom prst="line">
            <a:avLst/>
          </a:prstGeom>
          <a:noFill/>
          <a:ln w="19050" cap="flat" cmpd="sng" algn="ctr">
            <a:solidFill>
              <a:schemeClr val="accent1"/>
            </a:solidFill>
            <a:prstDash val="solid"/>
            <a:miter lim="800000"/>
          </a:ln>
          <a:effectLst/>
        </p:spPr>
      </p:cxnSp>
      <p:sp>
        <p:nvSpPr>
          <p:cNvPr id="10" name="Title 2"/>
          <p:cNvSpPr>
            <a:spLocks noGrp="1"/>
          </p:cNvSpPr>
          <p:nvPr>
            <p:ph type="ctrTitle" idx="14"/>
            <p:custDataLst>
              <p:tags r:id="rId5"/>
            </p:custDataLst>
          </p:nvPr>
        </p:nvSpPr>
        <p:spPr>
          <a:xfrm>
            <a:off x="5084446" y="3050540"/>
            <a:ext cx="5767705" cy="835660"/>
          </a:xfrm>
        </p:spPr>
        <p:txBody>
          <a:bodyPr vert="horz" wrap="square" lIns="0" tIns="0" rIns="0" bIns="0" rtlCol="0" anchor="b" anchorCtr="0">
            <a:normAutofit/>
          </a:bodyPr>
          <a:lstStyle/>
          <a:p>
            <a:pPr algn="dist"/>
            <a:r>
              <a:rPr lang="en-US" dirty="0">
                <a:solidFill>
                  <a:schemeClr val="accent1">
                    <a:lumMod val="50000"/>
                  </a:schemeClr>
                </a:solidFill>
                <a:latin typeface="Cambria" panose="02040503050406030204" charset="0"/>
                <a:ea typeface="汉仪中黑 197" panose="00020600040101010101" charset="-122"/>
              </a:rPr>
              <a:t>Hello, OCaml!</a:t>
            </a:r>
            <a:endParaRPr dirty="0">
              <a:solidFill>
                <a:schemeClr val="accent1">
                  <a:lumMod val="50000"/>
                </a:schemeClr>
              </a:solidFill>
              <a:latin typeface="Cambria" panose="02040503050406030204" charset="0"/>
              <a:ea typeface="汉仪中黑 197" panose="00020600040101010101" charset="-122"/>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7E8B-9F45-52FB-9BAC-D7404642C2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11DF70-91C1-CA72-DC79-ADBC54FF5172}"/>
              </a:ext>
            </a:extLst>
          </p:cNvPr>
          <p:cNvSpPr>
            <a:spLocks noGrp="1"/>
          </p:cNvSpPr>
          <p:nvPr>
            <p:ph type="title"/>
          </p:nvPr>
        </p:nvSpPr>
        <p:spPr/>
        <p:txBody>
          <a:bodyPr>
            <a:normAutofit fontScale="90000"/>
          </a:bodyPr>
          <a:lstStyle/>
          <a:p>
            <a:r>
              <a:rPr lang="zh-CN" altLang="en-US" dirty="0">
                <a:latin typeface="Cambria" panose="02040503050406030204" charset="0"/>
                <a:ea typeface="汉仪中黑 197" panose="00020600040101010101" charset="-122"/>
              </a:rPr>
              <a:t>用 </a:t>
            </a:r>
            <a:r>
              <a:rPr lang="en-US" altLang="zh-CN" dirty="0">
                <a:latin typeface="Cambria" panose="02040503050406030204" charset="0"/>
                <a:ea typeface="汉仪中黑 197" panose="00020600040101010101" charset="-122"/>
              </a:rPr>
              <a:t>OCaml </a:t>
            </a:r>
            <a:r>
              <a:rPr lang="zh-CN" altLang="en-US" dirty="0">
                <a:latin typeface="Cambria" panose="02040503050406030204" charset="0"/>
                <a:ea typeface="汉仪中黑 197" panose="00020600040101010101" charset="-122"/>
              </a:rPr>
              <a:t>编写 </a:t>
            </a:r>
            <a:r>
              <a:rPr lang="en-US" altLang="zh-CN" dirty="0">
                <a:latin typeface="Cambria" panose="02040503050406030204" charset="0"/>
                <a:ea typeface="汉仪中黑 197" panose="00020600040101010101" charset="-122"/>
              </a:rPr>
              <a:t>Hello World</a:t>
            </a:r>
          </a:p>
        </p:txBody>
      </p:sp>
      <p:sp>
        <p:nvSpPr>
          <p:cNvPr id="3" name="内容占位符 2">
            <a:extLst>
              <a:ext uri="{FF2B5EF4-FFF2-40B4-BE49-F238E27FC236}">
                <a16:creationId xmlns:a16="http://schemas.microsoft.com/office/drawing/2014/main" id="{2E57F1F8-9F76-F38A-414E-2503687F6E7D}"/>
              </a:ext>
            </a:extLst>
          </p:cNvPr>
          <p:cNvSpPr>
            <a:spLocks noGrp="1"/>
          </p:cNvSpPr>
          <p:nvPr>
            <p:ph idx="1"/>
          </p:nvPr>
        </p:nvSpPr>
        <p:spPr>
          <a:xfrm>
            <a:off x="669882" y="952508"/>
            <a:ext cx="10852237" cy="5388905"/>
          </a:xfrm>
        </p:spPr>
        <p:txBody>
          <a:bodyPr>
            <a:normAutofit/>
          </a:bodyPr>
          <a:lstStyle/>
          <a:p>
            <a:r>
              <a:rPr lang="zh-CN" altLang="en-US" b="1" dirty="0">
                <a:latin typeface="Cambria" panose="02040503050406030204" charset="0"/>
                <a:ea typeface="汉仪中黑 197" panose="00020600040101010101" charset="-122"/>
              </a:rPr>
              <a:t>我们来编写两个版本的 </a:t>
            </a:r>
            <a:r>
              <a:rPr lang="en-US" altLang="zh-CN" b="1" dirty="0">
                <a:latin typeface="Cambria" panose="02040503050406030204" charset="0"/>
                <a:ea typeface="汉仪中黑 197" panose="00020600040101010101" charset="-122"/>
              </a:rPr>
              <a:t>Hello World</a:t>
            </a:r>
            <a:r>
              <a:rPr lang="zh-CN" altLang="en-US" b="1" dirty="0">
                <a:latin typeface="Cambria" panose="02040503050406030204" charset="0"/>
                <a:ea typeface="汉仪中黑 197" panose="00020600040101010101" charset="-122"/>
              </a:rPr>
              <a:t>：</a:t>
            </a:r>
            <a:endParaRPr lang="en-US" altLang="zh-CN" b="1" dirty="0">
              <a:latin typeface="Cambria" panose="02040503050406030204" charset="0"/>
              <a:ea typeface="汉仪中黑 197" panose="00020600040101010101" charset="-122"/>
            </a:endParaRPr>
          </a:p>
          <a:p>
            <a:pPr marL="800100" lvl="1" indent="-342900">
              <a:buFont typeface="+mj-lt"/>
              <a:buAutoNum type="arabicPeriod"/>
            </a:pPr>
            <a:r>
              <a:rPr lang="en-US" altLang="zh-CN" b="1" dirty="0">
                <a:latin typeface="Cambria" panose="02040503050406030204" charset="0"/>
                <a:ea typeface="汉仪中黑 197" panose="00020600040101010101" charset="-122"/>
              </a:rPr>
              <a:t>REPL </a:t>
            </a:r>
            <a:r>
              <a:rPr lang="zh-CN" altLang="en-US" b="1" dirty="0">
                <a:latin typeface="Cambria" panose="02040503050406030204" charset="0"/>
                <a:ea typeface="汉仪中黑 197" panose="00020600040101010101" charset="-122"/>
              </a:rPr>
              <a:t>版：</a:t>
            </a:r>
            <a:endParaRPr lang="en-US" altLang="zh-CN" b="1"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终端运行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a:t>
            </a:r>
            <a:r>
              <a:rPr lang="en-US" altLang="zh-CN" dirty="0">
                <a:solidFill>
                  <a:schemeClr val="accent1"/>
                </a:solidFill>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进入 </a:t>
            </a:r>
            <a:r>
              <a:rPr lang="en-US" altLang="zh-CN" dirty="0">
                <a:latin typeface="Cambria" panose="02040503050406030204" charset="0"/>
                <a:ea typeface="汉仪中黑 197" panose="00020600040101010101" charset="-122"/>
              </a:rPr>
              <a:t>REPL</a:t>
            </a:r>
            <a:r>
              <a:rPr lang="zh-CN" altLang="en-US" dirty="0">
                <a:latin typeface="Cambria" panose="02040503050406030204" charset="0"/>
                <a:ea typeface="汉仪中黑 197" panose="00020600040101010101" charset="-122"/>
              </a:rPr>
              <a:t>；</a:t>
            </a:r>
            <a:endParaRPr lang="en-US" altLang="zh-CN"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在 </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提示符后输入 </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let greeting = “Hello, OCaml!”;;</a:t>
            </a:r>
            <a:r>
              <a:rPr lang="zh-CN" altLang="en-US" dirty="0">
                <a:latin typeface="Cascadia Code" panose="020B0609020000020004" pitchFamily="49" charset="0"/>
                <a:ea typeface="汉仪中黑 197" panose="00020600040101010101" charset="-122"/>
                <a:cs typeface="Cascadia Code" panose="020B0609020000020004" pitchFamily="49" charset="0"/>
              </a:rPr>
              <a:t> </a:t>
            </a:r>
            <a:endParaRPr lang="en-US" altLang="zh-CN" dirty="0">
              <a:latin typeface="Cascadia Code" panose="020B0609020000020004" pitchFamily="49" charset="0"/>
              <a:ea typeface="汉仪中黑 197" panose="00020600040101010101" charset="-122"/>
              <a:cs typeface="Cascadia Code" panose="020B0609020000020004" pitchFamily="49" charset="0"/>
            </a:endParaRPr>
          </a:p>
          <a:p>
            <a:pPr marL="1371600" lvl="3" indent="0">
              <a:buNone/>
            </a:pPr>
            <a:r>
              <a:rPr lang="zh-CN" altLang="en-US" dirty="0">
                <a:latin typeface="Cambria" panose="02040503050406030204" charset="0"/>
                <a:ea typeface="汉仪中黑 197" panose="00020600040101010101" charset="-122"/>
              </a:rPr>
              <a:t>（定义一个 </a:t>
            </a:r>
            <a:r>
              <a:rPr lang="en-US" altLang="zh-CN" dirty="0">
                <a:latin typeface="Cambria" panose="02040503050406030204" charset="0"/>
                <a:ea typeface="汉仪中黑 197" panose="00020600040101010101" charset="-122"/>
              </a:rPr>
              <a:t>greeting </a:t>
            </a:r>
            <a:r>
              <a:rPr lang="zh-CN" altLang="en-US" dirty="0">
                <a:latin typeface="Cambria" panose="02040503050406030204" charset="0"/>
                <a:ea typeface="汉仪中黑 197" panose="00020600040101010101" charset="-122"/>
              </a:rPr>
              <a:t>字符串）</a:t>
            </a:r>
            <a:endParaRPr lang="en-US" altLang="zh-CN"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回车，得到：</a:t>
            </a:r>
            <a:r>
              <a:rPr lang="en-US" altLang="zh-CN" i="1" dirty="0" err="1">
                <a:latin typeface="Cambria" panose="02040503050406030204" charset="0"/>
                <a:ea typeface="汉仪中黑 197" panose="00020600040101010101" charset="-122"/>
              </a:rPr>
              <a:t>val</a:t>
            </a:r>
            <a:r>
              <a:rPr lang="en-US" altLang="zh-CN" i="1" dirty="0">
                <a:latin typeface="Cambria" panose="02040503050406030204" charset="0"/>
                <a:ea typeface="汉仪中黑 197" panose="00020600040101010101" charset="-122"/>
              </a:rPr>
              <a:t> greeting : string = “Hello, OCaml!”</a:t>
            </a:r>
          </a:p>
          <a:p>
            <a:pPr lvl="2"/>
            <a:r>
              <a:rPr lang="zh-CN" altLang="en-US" dirty="0">
                <a:latin typeface="Cambria" panose="02040503050406030204" charset="0"/>
                <a:ea typeface="汉仪中黑 197" panose="00020600040101010101" charset="-122"/>
              </a:rPr>
              <a:t>输入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print_endline</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greeting;;</a:t>
            </a:r>
            <a:r>
              <a:rPr lang="zh-CN" altLang="en-US" dirty="0">
                <a:latin typeface="Cambria" panose="02040503050406030204" charset="0"/>
                <a:ea typeface="汉仪中黑 197" panose="00020600040101010101" charset="-122"/>
              </a:rPr>
              <a:t>（打印 </a:t>
            </a:r>
            <a:r>
              <a:rPr lang="en-US" altLang="zh-CN" dirty="0">
                <a:latin typeface="Cambria" panose="02040503050406030204" charset="0"/>
                <a:ea typeface="汉仪中黑 197" panose="00020600040101010101" charset="-122"/>
              </a:rPr>
              <a:t>greeting </a:t>
            </a:r>
            <a:r>
              <a:rPr lang="zh-CN" altLang="en-US" dirty="0">
                <a:latin typeface="Cambria" panose="02040503050406030204" charset="0"/>
                <a:ea typeface="汉仪中黑 197" panose="00020600040101010101" charset="-122"/>
              </a:rPr>
              <a:t>并换行）</a:t>
            </a:r>
            <a:endParaRPr lang="en-US" altLang="zh-CN" dirty="0">
              <a:solidFill>
                <a:schemeClr val="accent1"/>
              </a:solidFill>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回车，得到：</a:t>
            </a:r>
            <a:r>
              <a:rPr lang="en-US" altLang="zh-CN" i="1" dirty="0">
                <a:latin typeface="Cambria" panose="02040503050406030204" charset="0"/>
                <a:ea typeface="汉仪中黑 197" panose="00020600040101010101" charset="-122"/>
              </a:rPr>
              <a:t>Hello, OCaml!</a:t>
            </a:r>
            <a:endParaRPr lang="en-US" altLang="zh-CN"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按 </a:t>
            </a:r>
            <a:r>
              <a:rPr lang="en-US" altLang="zh-CN" dirty="0">
                <a:latin typeface="Cambria" panose="02040503050406030204" charset="0"/>
                <a:ea typeface="汉仪中黑 197" panose="00020600040101010101" charset="-122"/>
              </a:rPr>
              <a:t>Ctrl + D </a:t>
            </a:r>
            <a:r>
              <a:rPr lang="zh-CN" altLang="en-US" dirty="0">
                <a:latin typeface="Cambria" panose="02040503050406030204" charset="0"/>
                <a:ea typeface="汉仪中黑 197" panose="00020600040101010101" charset="-122"/>
              </a:rPr>
              <a:t>或输入 </a:t>
            </a:r>
            <a:r>
              <a:rPr lang="en-US" altLang="zh-CN" dirty="0">
                <a:latin typeface="Cambria" panose="02040503050406030204" charset="0"/>
                <a:ea typeface="汉仪中黑 197" panose="00020600040101010101" charset="-122"/>
              </a:rPr>
              <a:t>Ctrl + Z </a:t>
            </a:r>
            <a:r>
              <a:rPr lang="zh-CN" altLang="en-US" dirty="0">
                <a:latin typeface="Cambria" panose="02040503050406030204" charset="0"/>
                <a:ea typeface="汉仪中黑 197" panose="00020600040101010101" charset="-122"/>
              </a:rPr>
              <a:t>回车，退出 </a:t>
            </a:r>
            <a:r>
              <a:rPr lang="en-US" altLang="zh-CN" dirty="0">
                <a:latin typeface="Cambria" panose="02040503050406030204" charset="0"/>
                <a:ea typeface="汉仪中黑 197" panose="00020600040101010101" charset="-122"/>
              </a:rPr>
              <a:t>REPL</a:t>
            </a:r>
            <a:r>
              <a:rPr lang="zh-CN" altLang="en-US" dirty="0">
                <a:latin typeface="Cambria" panose="02040503050406030204" charset="0"/>
                <a:ea typeface="汉仪中黑 197" panose="00020600040101010101" charset="-122"/>
              </a:rPr>
              <a:t>。</a:t>
            </a:r>
            <a:endParaRPr lang="en-US" altLang="zh-CN" i="1"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恭喜！你完成了 </a:t>
            </a:r>
            <a:r>
              <a:rPr lang="en-US" altLang="zh-CN" dirty="0">
                <a:latin typeface="Cambria" panose="02040503050406030204" charset="0"/>
                <a:ea typeface="汉仪中黑 197" panose="00020600040101010101" charset="-122"/>
              </a:rPr>
              <a:t>OCaml </a:t>
            </a:r>
            <a:r>
              <a:rPr lang="zh-CN" altLang="en-US" dirty="0">
                <a:latin typeface="Cambria" panose="02040503050406030204" charset="0"/>
                <a:ea typeface="汉仪中黑 197" panose="00020600040101010101" charset="-122"/>
              </a:rPr>
              <a:t>的 </a:t>
            </a:r>
            <a:r>
              <a:rPr lang="en-US" altLang="zh-CN" dirty="0">
                <a:latin typeface="Cambria" panose="02040503050406030204" charset="0"/>
                <a:ea typeface="汉仪中黑 197" panose="00020600040101010101" charset="-122"/>
              </a:rPr>
              <a:t>Hello World </a:t>
            </a:r>
            <a:r>
              <a:rPr lang="zh-CN" altLang="en-US" dirty="0">
                <a:latin typeface="Cambria" panose="02040503050406030204" charset="0"/>
                <a:ea typeface="汉仪中黑 197" panose="00020600040101010101" charset="-122"/>
              </a:rPr>
              <a:t>仪式。（鼓掌👏）</a:t>
            </a:r>
            <a:endParaRPr lang="en-US" altLang="zh-CN" dirty="0">
              <a:latin typeface="Cambria" panose="02040503050406030204" charset="0"/>
              <a:ea typeface="汉仪中黑 197" panose="00020600040101010101" charset="-122"/>
            </a:endParaRPr>
          </a:p>
        </p:txBody>
      </p:sp>
      <p:pic>
        <p:nvPicPr>
          <p:cNvPr id="10" name="图片 9">
            <a:extLst>
              <a:ext uri="{FF2B5EF4-FFF2-40B4-BE49-F238E27FC236}">
                <a16:creationId xmlns:a16="http://schemas.microsoft.com/office/drawing/2014/main" id="{3FA2E459-CA72-E29D-83C5-E0036A18DB64}"/>
              </a:ext>
            </a:extLst>
          </p:cNvPr>
          <p:cNvPicPr>
            <a:picLocks noChangeAspect="1"/>
          </p:cNvPicPr>
          <p:nvPr/>
        </p:nvPicPr>
        <p:blipFill>
          <a:blip r:embed="rId4"/>
          <a:stretch>
            <a:fillRect/>
          </a:stretch>
        </p:blipFill>
        <p:spPr>
          <a:xfrm>
            <a:off x="8073871" y="2279600"/>
            <a:ext cx="3829247" cy="1930499"/>
          </a:xfrm>
          <a:prstGeom prst="rect">
            <a:avLst/>
          </a:prstGeom>
        </p:spPr>
      </p:pic>
    </p:spTree>
    <p:custDataLst>
      <p:tags r:id="rId1"/>
    </p:custDataLst>
    <p:extLst>
      <p:ext uri="{BB962C8B-B14F-4D97-AF65-F5344CB8AC3E}">
        <p14:creationId xmlns:p14="http://schemas.microsoft.com/office/powerpoint/2010/main" val="3924010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74C20-CF84-4806-9511-34D3661D2B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6690D9-A000-536B-DE25-7134429FEFF3}"/>
              </a:ext>
            </a:extLst>
          </p:cNvPr>
          <p:cNvSpPr>
            <a:spLocks noGrp="1"/>
          </p:cNvSpPr>
          <p:nvPr>
            <p:ph type="title"/>
          </p:nvPr>
        </p:nvSpPr>
        <p:spPr/>
        <p:txBody>
          <a:bodyPr>
            <a:normAutofit fontScale="90000"/>
          </a:bodyPr>
          <a:lstStyle/>
          <a:p>
            <a:r>
              <a:rPr lang="zh-CN" altLang="en-US" dirty="0">
                <a:solidFill>
                  <a:schemeClr val="bg1">
                    <a:lumMod val="75000"/>
                  </a:schemeClr>
                </a:solidFill>
                <a:latin typeface="Cambria" panose="02040503050406030204" charset="0"/>
                <a:ea typeface="汉仪中黑 197" panose="00020600040101010101" charset="-122"/>
              </a:rPr>
              <a:t>用 </a:t>
            </a:r>
            <a:r>
              <a:rPr lang="en-US" altLang="zh-CN" dirty="0">
                <a:solidFill>
                  <a:schemeClr val="bg1">
                    <a:lumMod val="75000"/>
                  </a:schemeClr>
                </a:solidFill>
                <a:latin typeface="Cambria" panose="02040503050406030204" charset="0"/>
                <a:ea typeface="汉仪中黑 197" panose="00020600040101010101" charset="-122"/>
              </a:rPr>
              <a:t>OCaml </a:t>
            </a:r>
            <a:r>
              <a:rPr lang="zh-CN" altLang="en-US" dirty="0">
                <a:solidFill>
                  <a:schemeClr val="bg1">
                    <a:lumMod val="75000"/>
                  </a:schemeClr>
                </a:solidFill>
                <a:latin typeface="Cambria" panose="02040503050406030204" charset="0"/>
                <a:ea typeface="汉仪中黑 197" panose="00020600040101010101" charset="-122"/>
              </a:rPr>
              <a:t>编写 </a:t>
            </a:r>
            <a:r>
              <a:rPr lang="en-US" altLang="zh-CN" dirty="0">
                <a:solidFill>
                  <a:schemeClr val="bg1">
                    <a:lumMod val="75000"/>
                  </a:schemeClr>
                </a:solidFill>
                <a:latin typeface="Cambria" panose="02040503050406030204" charset="0"/>
                <a:ea typeface="汉仪中黑 197" panose="00020600040101010101" charset="-122"/>
              </a:rPr>
              <a:t>Hello World</a:t>
            </a:r>
          </a:p>
        </p:txBody>
      </p:sp>
      <p:sp>
        <p:nvSpPr>
          <p:cNvPr id="3" name="内容占位符 2">
            <a:extLst>
              <a:ext uri="{FF2B5EF4-FFF2-40B4-BE49-F238E27FC236}">
                <a16:creationId xmlns:a16="http://schemas.microsoft.com/office/drawing/2014/main" id="{81E35859-D781-09C9-A999-D882BAFD364D}"/>
              </a:ext>
            </a:extLst>
          </p:cNvPr>
          <p:cNvSpPr>
            <a:spLocks noGrp="1"/>
          </p:cNvSpPr>
          <p:nvPr>
            <p:ph idx="1"/>
          </p:nvPr>
        </p:nvSpPr>
        <p:spPr>
          <a:xfrm>
            <a:off x="669882" y="952508"/>
            <a:ext cx="10852237" cy="5388905"/>
          </a:xfrm>
        </p:spPr>
        <p:txBody>
          <a:bodyPr>
            <a:normAutofit/>
          </a:bodyPr>
          <a:lstStyle/>
          <a:p>
            <a:r>
              <a:rPr lang="zh-CN" altLang="en-US" b="1" dirty="0">
                <a:solidFill>
                  <a:schemeClr val="bg1">
                    <a:lumMod val="75000"/>
                  </a:schemeClr>
                </a:solidFill>
                <a:latin typeface="Cambria" panose="02040503050406030204" charset="0"/>
                <a:ea typeface="汉仪中黑 197" panose="00020600040101010101" charset="-122"/>
              </a:rPr>
              <a:t>我们来编写两个版本的 </a:t>
            </a:r>
            <a:r>
              <a:rPr lang="en-US" altLang="zh-CN" b="1" dirty="0">
                <a:solidFill>
                  <a:schemeClr val="bg1">
                    <a:lumMod val="75000"/>
                  </a:schemeClr>
                </a:solidFill>
                <a:latin typeface="Cambria" panose="02040503050406030204" charset="0"/>
                <a:ea typeface="汉仪中黑 197" panose="00020600040101010101" charset="-122"/>
              </a:rPr>
              <a:t>Hello World</a:t>
            </a:r>
            <a:r>
              <a:rPr lang="zh-CN" altLang="en-US" b="1" dirty="0">
                <a:solidFill>
                  <a:schemeClr val="bg1">
                    <a:lumMod val="75000"/>
                  </a:schemeClr>
                </a:solidFill>
                <a:latin typeface="Cambria" panose="02040503050406030204" charset="0"/>
                <a:ea typeface="汉仪中黑 197" panose="00020600040101010101" charset="-122"/>
              </a:rPr>
              <a:t>：</a:t>
            </a:r>
            <a:endParaRPr lang="en-US" altLang="zh-CN" b="1" dirty="0">
              <a:solidFill>
                <a:schemeClr val="bg1">
                  <a:lumMod val="75000"/>
                </a:schemeClr>
              </a:solidFill>
              <a:latin typeface="Cambria" panose="02040503050406030204" charset="0"/>
              <a:ea typeface="汉仪中黑 197" panose="00020600040101010101" charset="-122"/>
            </a:endParaRPr>
          </a:p>
          <a:p>
            <a:pPr marL="800100" lvl="1" indent="-342900">
              <a:buFont typeface="+mj-lt"/>
              <a:buAutoNum type="arabicPeriod" startAt="2"/>
            </a:pPr>
            <a:r>
              <a:rPr lang="zh-CN" altLang="en-US" b="1" dirty="0">
                <a:latin typeface="Cambria" panose="02040503050406030204" charset="0"/>
                <a:ea typeface="汉仪中黑 197" panose="00020600040101010101" charset="-122"/>
              </a:rPr>
              <a:t>源文件版：</a:t>
            </a:r>
            <a:endParaRPr lang="en-US" altLang="zh-CN" b="1"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创建一个目录并进入：</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mkdir</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cd </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ocaml</a:t>
            </a:r>
            <a:endParaRPr lang="en-US" altLang="zh-CN" dirty="0">
              <a:solidFill>
                <a:schemeClr val="accent1"/>
              </a:solidFill>
              <a:latin typeface="Cascadia Code" panose="020B0609020000020004" pitchFamily="49" charset="0"/>
              <a:ea typeface="汉仪中黑 197" panose="00020600040101010101" charset="-122"/>
              <a:cs typeface="Cascadia Code" panose="020B0609020000020004" pitchFamily="49" charset="0"/>
            </a:endParaRPr>
          </a:p>
          <a:p>
            <a:pPr lvl="2"/>
            <a:r>
              <a:rPr lang="zh-CN" altLang="en-US" dirty="0">
                <a:latin typeface="Cambria" panose="02040503050406030204" charset="0"/>
                <a:ea typeface="汉仪中黑 197" panose="00020600040101010101" charset="-122"/>
              </a:rPr>
              <a:t>用 </a:t>
            </a:r>
            <a:r>
              <a:rPr lang="en-US" altLang="zh-CN" dirty="0">
                <a:latin typeface="Cambria" panose="02040503050406030204" charset="0"/>
                <a:ea typeface="汉仪中黑 197" panose="00020600040101010101" charset="-122"/>
              </a:rPr>
              <a:t>VS Code </a:t>
            </a:r>
            <a:r>
              <a:rPr lang="zh-CN" altLang="en-US" dirty="0">
                <a:latin typeface="Cambria" panose="02040503050406030204" charset="0"/>
                <a:ea typeface="汉仪中黑 197" panose="00020600040101010101" charset="-122"/>
              </a:rPr>
              <a:t>打开当前目录：</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code .</a:t>
            </a:r>
          </a:p>
          <a:p>
            <a:pPr lvl="2"/>
            <a:r>
              <a:rPr lang="zh-CN" altLang="en-US" dirty="0">
                <a:latin typeface="Cambria" panose="02040503050406030204" charset="0"/>
                <a:ea typeface="汉仪中黑 197" panose="00020600040101010101" charset="-122"/>
              </a:rPr>
              <a:t>新建文件：</a:t>
            </a:r>
            <a:r>
              <a:rPr lang="en-US" altLang="zh-CN" i="1" dirty="0">
                <a:latin typeface="Cambria" panose="02040503050406030204" charset="0"/>
                <a:ea typeface="汉仪中黑 197" panose="00020600040101010101" charset="-122"/>
              </a:rPr>
              <a:t>hello.ml</a:t>
            </a:r>
          </a:p>
          <a:p>
            <a:pPr lvl="2"/>
            <a:r>
              <a:rPr lang="zh-CN" altLang="en-US" dirty="0">
                <a:latin typeface="Cambria" panose="02040503050406030204" charset="0"/>
                <a:ea typeface="汉仪中黑 197" panose="00020600040101010101" charset="-122"/>
              </a:rPr>
              <a:t>在文件中输入：</a:t>
            </a:r>
            <a:endParaRPr lang="en-US" altLang="zh-CN" dirty="0">
              <a:latin typeface="Cambria" panose="02040503050406030204" charset="0"/>
              <a:ea typeface="汉仪中黑 197" panose="00020600040101010101" charset="-122"/>
            </a:endParaRPr>
          </a:p>
          <a:p>
            <a:pPr marL="1371600" lvl="3" indent="0">
              <a:lnSpc>
                <a:spcPts val="1425"/>
              </a:lnSpc>
              <a:buNone/>
            </a:pPr>
            <a:r>
              <a:rPr lang="en-US" altLang="zh-CN" sz="1400" b="0" dirty="0">
                <a:solidFill>
                  <a:srgbClr val="D73A49"/>
                </a:solidFill>
                <a:effectLst/>
                <a:latin typeface="Cascadia Code" panose="020B0609020000020004" pitchFamily="49" charset="0"/>
              </a:rPr>
              <a:t>let</a:t>
            </a:r>
            <a:r>
              <a:rPr lang="en-US" altLang="zh-CN" sz="1400" b="0" dirty="0">
                <a:solidFill>
                  <a:srgbClr val="24292E"/>
                </a:solidFill>
                <a:effectLst/>
                <a:latin typeface="Cascadia Code" panose="020B0609020000020004" pitchFamily="49" charset="0"/>
              </a:rPr>
              <a:t> </a:t>
            </a:r>
            <a:r>
              <a:rPr lang="en-US" altLang="zh-CN" sz="1400" b="0" dirty="0">
                <a:solidFill>
                  <a:srgbClr val="6F42C1"/>
                </a:solidFill>
                <a:effectLst/>
                <a:latin typeface="Cascadia Code" panose="020B0609020000020004" pitchFamily="49" charset="0"/>
              </a:rPr>
              <a:t>greeting</a:t>
            </a:r>
            <a:r>
              <a:rPr lang="en-US" altLang="zh-CN" sz="1400" b="0" dirty="0">
                <a:solidFill>
                  <a:srgbClr val="24292E"/>
                </a:solidFill>
                <a:effectLst/>
                <a:latin typeface="Cascadia Code" panose="020B0609020000020004" pitchFamily="49" charset="0"/>
              </a:rPr>
              <a:t> </a:t>
            </a:r>
            <a:r>
              <a:rPr lang="en-US" altLang="zh-CN" sz="1400" b="0" dirty="0">
                <a:solidFill>
                  <a:srgbClr val="D73A49"/>
                </a:solidFill>
                <a:effectLst/>
                <a:latin typeface="Cascadia Code" panose="020B0609020000020004" pitchFamily="49" charset="0"/>
              </a:rPr>
              <a:t>=</a:t>
            </a:r>
            <a:r>
              <a:rPr lang="en-US" altLang="zh-CN" sz="1400" b="0" dirty="0">
                <a:solidFill>
                  <a:srgbClr val="24292E"/>
                </a:solidFill>
                <a:effectLst/>
                <a:latin typeface="Cascadia Code" panose="020B0609020000020004" pitchFamily="49" charset="0"/>
              </a:rPr>
              <a:t> </a:t>
            </a:r>
            <a:r>
              <a:rPr lang="en-US" altLang="zh-CN" sz="1400" b="0" dirty="0">
                <a:solidFill>
                  <a:srgbClr val="032F62"/>
                </a:solidFill>
                <a:effectLst/>
                <a:latin typeface="Cascadia Code" panose="020B0609020000020004" pitchFamily="49" charset="0"/>
              </a:rPr>
              <a:t>"Hello, OCaml!"</a:t>
            </a:r>
            <a:endParaRPr lang="en-US" altLang="zh-CN" sz="1400" b="0" dirty="0">
              <a:solidFill>
                <a:srgbClr val="24292E"/>
              </a:solidFill>
              <a:effectLst/>
              <a:latin typeface="Cascadia Code" panose="020B0609020000020004" pitchFamily="49" charset="0"/>
            </a:endParaRPr>
          </a:p>
          <a:p>
            <a:pPr marL="1371600" lvl="3" indent="0">
              <a:lnSpc>
                <a:spcPts val="1425"/>
              </a:lnSpc>
              <a:buNone/>
            </a:pPr>
            <a:r>
              <a:rPr lang="en-US" altLang="zh-CN" sz="1400" b="0" dirty="0">
                <a:solidFill>
                  <a:srgbClr val="D73A49"/>
                </a:solidFill>
                <a:effectLst/>
                <a:latin typeface="Cascadia Code" panose="020B0609020000020004" pitchFamily="49" charset="0"/>
              </a:rPr>
              <a:t>let</a:t>
            </a:r>
            <a:r>
              <a:rPr lang="en-US" altLang="zh-CN" sz="1400" b="0" dirty="0">
                <a:solidFill>
                  <a:srgbClr val="24292E"/>
                </a:solidFill>
                <a:effectLst/>
                <a:latin typeface="Cascadia Code" panose="020B0609020000020004" pitchFamily="49" charset="0"/>
              </a:rPr>
              <a:t> </a:t>
            </a:r>
            <a:r>
              <a:rPr lang="en-US" altLang="zh-CN" sz="1400" b="0" dirty="0">
                <a:solidFill>
                  <a:srgbClr val="005CC5"/>
                </a:solidFill>
                <a:effectLst/>
                <a:latin typeface="Cascadia Code" panose="020B0609020000020004" pitchFamily="49" charset="0"/>
              </a:rPr>
              <a:t>()</a:t>
            </a:r>
            <a:r>
              <a:rPr lang="en-US" altLang="zh-CN" sz="1400" b="0" dirty="0">
                <a:solidFill>
                  <a:srgbClr val="24292E"/>
                </a:solidFill>
                <a:effectLst/>
                <a:latin typeface="Cascadia Code" panose="020B0609020000020004" pitchFamily="49" charset="0"/>
              </a:rPr>
              <a:t> </a:t>
            </a:r>
            <a:r>
              <a:rPr lang="en-US" altLang="zh-CN" sz="1400" b="0" dirty="0">
                <a:solidFill>
                  <a:srgbClr val="D73A49"/>
                </a:solidFill>
                <a:effectLst/>
                <a:latin typeface="Cascadia Code" panose="020B0609020000020004" pitchFamily="49" charset="0"/>
              </a:rPr>
              <a:t>=</a:t>
            </a:r>
            <a:r>
              <a:rPr lang="en-US" altLang="zh-CN" sz="1400" b="0" dirty="0">
                <a:solidFill>
                  <a:srgbClr val="24292E"/>
                </a:solidFill>
                <a:effectLst/>
                <a:latin typeface="Cascadia Code" panose="020B0609020000020004" pitchFamily="49" charset="0"/>
              </a:rPr>
              <a:t> </a:t>
            </a:r>
            <a:r>
              <a:rPr lang="en-US" altLang="zh-CN" sz="1400" b="0" dirty="0" err="1">
                <a:solidFill>
                  <a:srgbClr val="24292E"/>
                </a:solidFill>
                <a:effectLst/>
                <a:latin typeface="Cascadia Code" panose="020B0609020000020004" pitchFamily="49" charset="0"/>
              </a:rPr>
              <a:t>print_endline</a:t>
            </a:r>
            <a:r>
              <a:rPr lang="en-US" altLang="zh-CN" sz="1400" b="0" dirty="0">
                <a:solidFill>
                  <a:srgbClr val="24292E"/>
                </a:solidFill>
                <a:effectLst/>
                <a:latin typeface="Cascadia Code" panose="020B0609020000020004" pitchFamily="49" charset="0"/>
              </a:rPr>
              <a:t> greeting</a:t>
            </a:r>
            <a:endParaRPr lang="en-US" altLang="zh-CN" sz="1400" dirty="0">
              <a:latin typeface="Cambria" panose="02040503050406030204" charset="0"/>
              <a:ea typeface="汉仪中黑 197" panose="00020600040101010101" charset="-122"/>
            </a:endParaRPr>
          </a:p>
          <a:p>
            <a:pPr lvl="2"/>
            <a:r>
              <a:rPr lang="zh-CN" altLang="en-US" dirty="0">
                <a:latin typeface="Cambria" panose="02040503050406030204" charset="0"/>
                <a:ea typeface="汉仪中黑 197" panose="00020600040101010101" charset="-122"/>
              </a:rPr>
              <a:t>按 </a:t>
            </a:r>
            <a:r>
              <a:rPr lang="en-US" altLang="zh-CN" dirty="0">
                <a:latin typeface="Cambria" panose="02040503050406030204" charset="0"/>
                <a:ea typeface="汉仪中黑 197" panose="00020600040101010101" charset="-122"/>
              </a:rPr>
              <a:t>Ctrl + ` </a:t>
            </a:r>
            <a:r>
              <a:rPr lang="zh-CN" altLang="en-US" dirty="0">
                <a:latin typeface="Cambria" panose="02040503050406030204" charset="0"/>
                <a:ea typeface="汉仪中黑 197" panose="00020600040101010101" charset="-122"/>
              </a:rPr>
              <a:t>打开内置终端，运行 </a:t>
            </a:r>
            <a:r>
              <a:rPr lang="en-US" altLang="zh-CN" dirty="0" err="1">
                <a:latin typeface="Cambria" panose="02040503050406030204" charset="0"/>
                <a:ea typeface="汉仪中黑 197" panose="00020600040101010101" charset="-122"/>
              </a:rPr>
              <a:t>ocaml</a:t>
            </a:r>
            <a:r>
              <a:rPr lang="en-US" altLang="zh-CN" dirty="0">
                <a:latin typeface="Cambria" panose="02040503050406030204" charset="0"/>
                <a:ea typeface="汉仪中黑 197" panose="00020600040101010101" charset="-122"/>
              </a:rPr>
              <a:t>  hello.ml</a:t>
            </a:r>
          </a:p>
          <a:p>
            <a:pPr lvl="2"/>
            <a:r>
              <a:rPr lang="zh-CN" altLang="en-US" dirty="0">
                <a:latin typeface="Cambria" panose="02040503050406030204" charset="0"/>
                <a:ea typeface="汉仪中黑 197" panose="00020600040101010101" charset="-122"/>
              </a:rPr>
              <a:t>得到输出：</a:t>
            </a:r>
            <a:r>
              <a:rPr lang="en-US" altLang="zh-CN" i="1" dirty="0">
                <a:latin typeface="Cambria" panose="02040503050406030204" charset="0"/>
                <a:ea typeface="汉仪中黑 197" panose="00020600040101010101" charset="-122"/>
              </a:rPr>
              <a:t>Hello, OCaml!</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a:t>
            </a:r>
            <a:endParaRPr lang="en-US" altLang="zh-CN" i="1" dirty="0">
              <a:latin typeface="Cambria" panose="02040503050406030204" charset="0"/>
              <a:ea typeface="汉仪中黑 197" panose="00020600040101010101" charset="-122"/>
            </a:endParaRPr>
          </a:p>
        </p:txBody>
      </p:sp>
      <p:pic>
        <p:nvPicPr>
          <p:cNvPr id="7" name="图片 6">
            <a:extLst>
              <a:ext uri="{FF2B5EF4-FFF2-40B4-BE49-F238E27FC236}">
                <a16:creationId xmlns:a16="http://schemas.microsoft.com/office/drawing/2014/main" id="{4805AB80-07F1-B2D5-2C9D-900E7703ABEC}"/>
              </a:ext>
            </a:extLst>
          </p:cNvPr>
          <p:cNvPicPr>
            <a:picLocks noChangeAspect="1"/>
          </p:cNvPicPr>
          <p:nvPr/>
        </p:nvPicPr>
        <p:blipFill>
          <a:blip r:embed="rId4"/>
          <a:stretch>
            <a:fillRect/>
          </a:stretch>
        </p:blipFill>
        <p:spPr>
          <a:xfrm>
            <a:off x="8150096" y="552628"/>
            <a:ext cx="3372023" cy="501676"/>
          </a:xfrm>
          <a:prstGeom prst="rect">
            <a:avLst/>
          </a:prstGeom>
        </p:spPr>
      </p:pic>
      <p:pic>
        <p:nvPicPr>
          <p:cNvPr id="9" name="图片 8">
            <a:extLst>
              <a:ext uri="{FF2B5EF4-FFF2-40B4-BE49-F238E27FC236}">
                <a16:creationId xmlns:a16="http://schemas.microsoft.com/office/drawing/2014/main" id="{FCCF0F63-F0DD-0CD9-BFEF-D3E8D8ACD24F}"/>
              </a:ext>
            </a:extLst>
          </p:cNvPr>
          <p:cNvPicPr>
            <a:picLocks noChangeAspect="1"/>
          </p:cNvPicPr>
          <p:nvPr/>
        </p:nvPicPr>
        <p:blipFill>
          <a:blip r:embed="rId5"/>
          <a:stretch>
            <a:fillRect/>
          </a:stretch>
        </p:blipFill>
        <p:spPr>
          <a:xfrm>
            <a:off x="8150095" y="1194404"/>
            <a:ext cx="3372023" cy="3746693"/>
          </a:xfrm>
          <a:prstGeom prst="rect">
            <a:avLst/>
          </a:prstGeom>
        </p:spPr>
      </p:pic>
      <p:pic>
        <p:nvPicPr>
          <p:cNvPr id="12" name="图片 11">
            <a:extLst>
              <a:ext uri="{FF2B5EF4-FFF2-40B4-BE49-F238E27FC236}">
                <a16:creationId xmlns:a16="http://schemas.microsoft.com/office/drawing/2014/main" id="{82A79F79-225D-0F39-FDDA-CE07D6953832}"/>
              </a:ext>
            </a:extLst>
          </p:cNvPr>
          <p:cNvPicPr>
            <a:picLocks noChangeAspect="1"/>
          </p:cNvPicPr>
          <p:nvPr/>
        </p:nvPicPr>
        <p:blipFill>
          <a:blip r:embed="rId6"/>
          <a:stretch>
            <a:fillRect/>
          </a:stretch>
        </p:blipFill>
        <p:spPr>
          <a:xfrm>
            <a:off x="6810176" y="5081197"/>
            <a:ext cx="4711942" cy="1333569"/>
          </a:xfrm>
          <a:prstGeom prst="rect">
            <a:avLst/>
          </a:prstGeom>
        </p:spPr>
      </p:pic>
    </p:spTree>
    <p:custDataLst>
      <p:tags r:id="rId1"/>
    </p:custDataLst>
    <p:extLst>
      <p:ext uri="{BB962C8B-B14F-4D97-AF65-F5344CB8AC3E}">
        <p14:creationId xmlns:p14="http://schemas.microsoft.com/office/powerpoint/2010/main" val="9804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3244850" y="2983230"/>
            <a:ext cx="1659890" cy="1106805"/>
          </a:xfrm>
          <a:prstGeom prst="rect">
            <a:avLst/>
          </a:prstGeom>
          <a:noFill/>
        </p:spPr>
        <p:txBody>
          <a:bodyPr wrap="square" rtlCol="0" anchor="ctr" anchorCtr="0">
            <a:normAutofit/>
          </a:bodyPr>
          <a:lstStyle/>
          <a:p>
            <a:pPr algn="ctr"/>
            <a:r>
              <a:rPr lang="en-US" altLang="zh-CN" sz="6600" b="1" spc="200" dirty="0">
                <a:solidFill>
                  <a:schemeClr val="accent1">
                    <a:lumMod val="50000"/>
                  </a:schemeClr>
                </a:solidFill>
                <a:latin typeface="Cambria" panose="02040503050406030204" charset="0"/>
                <a:ea typeface="汉仪中黑 197" panose="00020600040101010101" charset="-122"/>
                <a:cs typeface="Arial" panose="020B0604020202020204" pitchFamily="34" charset="0"/>
              </a:rPr>
              <a:t>03</a:t>
            </a:r>
          </a:p>
        </p:txBody>
      </p:sp>
      <p:sp>
        <p:nvSpPr>
          <p:cNvPr id="2" name="文本框 1"/>
          <p:cNvSpPr txBox="1"/>
          <p:nvPr>
            <p:custDataLst>
              <p:tags r:id="rId3"/>
            </p:custDataLst>
          </p:nvPr>
        </p:nvSpPr>
        <p:spPr>
          <a:xfrm>
            <a:off x="3244850" y="2712085"/>
            <a:ext cx="1659890" cy="338455"/>
          </a:xfrm>
          <a:prstGeom prst="rect">
            <a:avLst/>
          </a:prstGeom>
          <a:noFill/>
        </p:spPr>
        <p:txBody>
          <a:bodyPr wrap="square" lIns="0" tIns="0" rIns="0" bIns="0" rtlCol="0" anchor="b" anchorCtr="0">
            <a:normAutofit/>
          </a:bodyPr>
          <a:lstStyle/>
          <a:p>
            <a:pPr algn="ctr"/>
            <a:r>
              <a:rPr lang="en-US" altLang="zh-CN" b="1" spc="200">
                <a:solidFill>
                  <a:schemeClr val="accent1">
                    <a:lumMod val="50000"/>
                  </a:schemeClr>
                </a:solidFill>
                <a:latin typeface="Cambria" panose="02040503050406030204" charset="0"/>
                <a:ea typeface="汉仪中黑 197" panose="00020600040101010101" charset="-122"/>
                <a:sym typeface="+mn-ea"/>
              </a:rPr>
              <a:t>PART THREE</a:t>
            </a:r>
            <a:endParaRPr lang="en-US" altLang="zh-CN" b="1" spc="200" dirty="0">
              <a:solidFill>
                <a:schemeClr val="accent1">
                  <a:lumMod val="50000"/>
                </a:schemeClr>
              </a:solidFill>
              <a:latin typeface="Cambria" panose="02040503050406030204" charset="0"/>
              <a:ea typeface="汉仪中黑 197" panose="00020600040101010101" charset="-122"/>
              <a:sym typeface="+mn-ea"/>
            </a:endParaRPr>
          </a:p>
        </p:txBody>
      </p:sp>
      <p:cxnSp>
        <p:nvCxnSpPr>
          <p:cNvPr id="12" name="直接连接符 11"/>
          <p:cNvCxnSpPr/>
          <p:nvPr>
            <p:custDataLst>
              <p:tags r:id="rId4"/>
            </p:custDataLst>
          </p:nvPr>
        </p:nvCxnSpPr>
        <p:spPr>
          <a:xfrm>
            <a:off x="3390900" y="4088765"/>
            <a:ext cx="1367790" cy="0"/>
          </a:xfrm>
          <a:prstGeom prst="line">
            <a:avLst/>
          </a:prstGeom>
          <a:noFill/>
          <a:ln w="19050" cap="flat" cmpd="sng" algn="ctr">
            <a:solidFill>
              <a:schemeClr val="accent1"/>
            </a:solidFill>
            <a:prstDash val="solid"/>
            <a:miter lim="800000"/>
          </a:ln>
          <a:effectLst/>
        </p:spPr>
      </p:cxnSp>
      <p:sp>
        <p:nvSpPr>
          <p:cNvPr id="10" name="Title 2"/>
          <p:cNvSpPr>
            <a:spLocks noGrp="1"/>
          </p:cNvSpPr>
          <p:nvPr>
            <p:ph type="ctrTitle" idx="14"/>
            <p:custDataLst>
              <p:tags r:id="rId5"/>
            </p:custDataLst>
          </p:nvPr>
        </p:nvSpPr>
        <p:spPr>
          <a:xfrm>
            <a:off x="5084446" y="3050540"/>
            <a:ext cx="5767705" cy="835660"/>
          </a:xfrm>
        </p:spPr>
        <p:txBody>
          <a:bodyPr vert="horz" wrap="square" lIns="0" tIns="0" rIns="0" bIns="0" rtlCol="0" anchor="b" anchorCtr="0">
            <a:normAutofit/>
          </a:bodyPr>
          <a:lstStyle/>
          <a:p>
            <a:pPr algn="dist"/>
            <a:r>
              <a:rPr lang="en-US" altLang="zh-CN" dirty="0">
                <a:solidFill>
                  <a:schemeClr val="accent1">
                    <a:lumMod val="50000"/>
                  </a:schemeClr>
                </a:solidFill>
                <a:latin typeface="Cambria" panose="02040503050406030204" charset="0"/>
                <a:ea typeface="汉仪中黑 197" panose="00020600040101010101" charset="-122"/>
              </a:rPr>
              <a:t>OCaml </a:t>
            </a:r>
            <a:r>
              <a:rPr lang="zh-CN" altLang="en-US" dirty="0">
                <a:solidFill>
                  <a:schemeClr val="accent1">
                    <a:lumMod val="50000"/>
                  </a:schemeClr>
                </a:solidFill>
                <a:latin typeface="Cambria" panose="02040503050406030204" charset="0"/>
                <a:ea typeface="汉仪中黑 197" panose="00020600040101010101" charset="-122"/>
              </a:rPr>
              <a:t>例程讲解</a:t>
            </a:r>
            <a:endParaRPr dirty="0">
              <a:solidFill>
                <a:schemeClr val="accent1">
                  <a:lumMod val="50000"/>
                </a:schemeClr>
              </a:solidFill>
              <a:latin typeface="Cambria" panose="02040503050406030204" charset="0"/>
              <a:ea typeface="汉仪中黑 197" panose="00020600040101010101"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28399-7A63-352B-1D77-B3240757BC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EB24C5-0447-47DF-740B-688626776698}"/>
              </a:ext>
            </a:extLst>
          </p:cNvPr>
          <p:cNvSpPr>
            <a:spLocks noGrp="1"/>
          </p:cNvSpPr>
          <p:nvPr>
            <p:ph type="title"/>
          </p:nvPr>
        </p:nvSpPr>
        <p:spPr/>
        <p:txBody>
          <a:bodyPr>
            <a:normAutofit fontScale="90000"/>
          </a:bodyPr>
          <a:lstStyle/>
          <a:p>
            <a:r>
              <a:rPr lang="zh-CN" altLang="en-US" dirty="0">
                <a:latin typeface="Cambria" panose="02040503050406030204" charset="0"/>
                <a:ea typeface="汉仪中黑 197" panose="00020600040101010101" charset="-122"/>
              </a:rPr>
              <a:t>数值类型和函数类型</a:t>
            </a:r>
            <a:endParaRPr lang="en-US" altLang="zh-CN" dirty="0">
              <a:latin typeface="Cambria" panose="02040503050406030204" charset="0"/>
              <a:ea typeface="汉仪中黑 197" panose="00020600040101010101" charset="-122"/>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3039D2-CBE8-BE31-43E6-88F2982B95B2}"/>
                  </a:ext>
                </a:extLst>
              </p:cNvPr>
              <p:cNvSpPr>
                <a:spLocks noGrp="1"/>
              </p:cNvSpPr>
              <p:nvPr>
                <p:ph sz="half" idx="1"/>
              </p:nvPr>
            </p:nvSpPr>
            <p:spPr>
              <a:xfrm>
                <a:off x="669930" y="952508"/>
                <a:ext cx="8258170" cy="5388907"/>
              </a:xfrm>
            </p:spPr>
            <p:txBody>
              <a:bodyPr>
                <a:normAutofit/>
              </a:bodyPr>
              <a:lstStyle/>
              <a:p>
                <a:r>
                  <a:rPr lang="en-US" altLang="zh-CN" b="1" dirty="0">
                    <a:latin typeface="Cambria" panose="02040503050406030204" charset="0"/>
                    <a:ea typeface="汉仪中黑 197" panose="00020600040101010101" charset="-122"/>
                  </a:rPr>
                  <a:t>OCaml </a:t>
                </a:r>
                <a:r>
                  <a:rPr lang="zh-CN" altLang="en-US" b="1" dirty="0">
                    <a:latin typeface="Cambria" panose="02040503050406030204" charset="0"/>
                    <a:ea typeface="汉仪中黑 197" panose="00020600040101010101" charset="-122"/>
                  </a:rPr>
                  <a:t>的特点：</a:t>
                </a:r>
                <a:endParaRPr lang="en-US" altLang="zh-CN" b="1"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强类型系统；</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静态类型检查；</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编译器自动推导类型；</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不同数值类型的运算符不同；</a:t>
                </a:r>
                <a:endParaRPr lang="en-US" altLang="zh-CN" dirty="0">
                  <a:latin typeface="Cambria" panose="02040503050406030204" charset="0"/>
                  <a:ea typeface="汉仪中黑 197" panose="00020600040101010101" charset="-122"/>
                </a:endParaRPr>
              </a:p>
              <a:p>
                <a:pPr lvl="1"/>
                <a:r>
                  <a:rPr lang="en-US" altLang="zh-CN" dirty="0">
                    <a:latin typeface="Cambria" panose="02040503050406030204" charset="0"/>
                    <a:ea typeface="汉仪中黑 197" panose="00020600040101010101" charset="-122"/>
                  </a:rPr>
                  <a:t>……</a:t>
                </a:r>
              </a:p>
              <a:p>
                <a:r>
                  <a:rPr lang="zh-CN" altLang="en-US" b="1" dirty="0">
                    <a:latin typeface="Cambria" panose="02040503050406030204" charset="0"/>
                    <a:ea typeface="汉仪中黑 197" panose="00020600040101010101" charset="-122"/>
                  </a:rPr>
                  <a:t>关于函数的“类型签名”（</a:t>
                </a:r>
                <a:r>
                  <a:rPr lang="en-US" altLang="zh-CN" b="1" dirty="0">
                    <a:latin typeface="Cambria" panose="02040503050406030204" charset="0"/>
                    <a:ea typeface="汉仪中黑 197" panose="00020600040101010101" charset="-122"/>
                  </a:rPr>
                  <a:t>type signature</a:t>
                </a:r>
                <a:r>
                  <a:rPr lang="zh-CN" altLang="en-US" b="1" dirty="0">
                    <a:latin typeface="Cambria" panose="02040503050406030204" charset="0"/>
                    <a:ea typeface="汉仪中黑 197" panose="00020600040101010101" charset="-122"/>
                  </a:rPr>
                  <a:t>）：</a:t>
                </a:r>
                <a:endParaRPr lang="en-US" altLang="zh-CN" b="1"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数学上，</a:t>
                </a:r>
                <a:r>
                  <a:rPr lang="en-US" altLang="zh-CN" i="1" dirty="0">
                    <a:latin typeface="Cambria" panose="02040503050406030204" charset="0"/>
                    <a:ea typeface="汉仪中黑 197" panose="00020600040101010101" charset="-122"/>
                  </a:rPr>
                  <a:t>f</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可以看成一个“二元函数”：</a:t>
                </a:r>
                <a14:m>
                  <m:oMath xmlns:m="http://schemas.openxmlformats.org/officeDocument/2006/math">
                    <m:r>
                      <a:rPr lang="en-US" altLang="zh-CN" i="1" smtClean="0">
                        <a:latin typeface="Cambria Math" panose="02040503050406030204" pitchFamily="18" charset="0"/>
                      </a:rPr>
                      <m:t>𝑓</m:t>
                    </m:r>
                    <m:r>
                      <a:rPr lang="en-US" altLang="zh-CN" i="1" smtClean="0">
                        <a:latin typeface="Cambria Math" panose="02040503050406030204" pitchFamily="18" charset="0"/>
                      </a:rPr>
                      <m:t>: </m:t>
                    </m:r>
                    <m:r>
                      <a:rPr lang="en-US" altLang="zh-CN" i="1" smtClean="0">
                        <a:latin typeface="Cambria Math" panose="02040503050406030204" pitchFamily="18" charset="0"/>
                      </a:rPr>
                      <m:t>ℤ</m:t>
                    </m:r>
                    <m:r>
                      <a:rPr lang="en-US" altLang="zh-CN" i="1" smtClean="0">
                        <a:latin typeface="Cambria Math" panose="02040503050406030204" pitchFamily="18" charset="0"/>
                      </a:rPr>
                      <m:t>×</m:t>
                    </m:r>
                    <m:r>
                      <a:rPr lang="en-US" altLang="zh-CN" i="1" smtClean="0">
                        <a:latin typeface="Cambria Math" panose="02040503050406030204" pitchFamily="18" charset="0"/>
                      </a:rPr>
                      <m:t>ℤ</m:t>
                    </m:r>
                    <m:r>
                      <m:rPr>
                        <m:nor/>
                      </m:rPr>
                      <a:rPr lang="en-US" altLang="zh-CN" b="0" i="0" smtClean="0">
                        <a:latin typeface="Cambria Math" panose="02040503050406030204" pitchFamily="18" charset="0"/>
                      </a:rPr>
                      <m:t> </m:t>
                    </m:r>
                    <m:r>
                      <m:rPr>
                        <m:nor/>
                      </m:rPr>
                      <a:rPr lang="zh-CN" altLang="en-US" dirty="0"/>
                      <m:t>→</m:t>
                    </m:r>
                    <m:r>
                      <m:rPr>
                        <m:nor/>
                      </m:rPr>
                      <a:rPr lang="en-US" altLang="zh-CN" b="0" i="0" dirty="0" smtClean="0"/>
                      <m:t> </m:t>
                    </m:r>
                    <m:r>
                      <a:rPr lang="en-US" altLang="zh-CN" i="1" smtClean="0">
                        <a:latin typeface="Cambria Math" panose="02040503050406030204" pitchFamily="18" charset="0"/>
                      </a:rPr>
                      <m:t>ℤ</m:t>
                    </m:r>
                  </m:oMath>
                </a14:m>
                <a:endParaRPr lang="en-US" altLang="zh-CN" i="1" dirty="0">
                  <a:latin typeface="Cambria" panose="02040503050406030204" charset="0"/>
                  <a:ea typeface="汉仪中黑 197" panose="00020600040101010101" charset="-122"/>
                </a:endParaRPr>
              </a:p>
              <a:p>
                <a:pPr lvl="1"/>
                <a:r>
                  <a:rPr lang="en-US" altLang="zh-CN" i="1" dirty="0">
                    <a:latin typeface="Cambria" panose="02040503050406030204" charset="0"/>
                    <a:ea typeface="汉仪中黑 197" panose="00020600040101010101" charset="-122"/>
                  </a:rPr>
                  <a:t>f</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的类型签名是 </a:t>
                </a:r>
                <a:r>
                  <a:rPr lang="en-US" altLang="zh-CN" sz="1400" dirty="0">
                    <a:latin typeface="Cascadia Code" panose="020B0609020000020004" pitchFamily="49" charset="0"/>
                    <a:ea typeface="汉仪中黑 197" panose="00020600040101010101" charset="-122"/>
                    <a:cs typeface="Cascadia Code" panose="020B0609020000020004" pitchFamily="49" charset="0"/>
                  </a:rPr>
                  <a:t>int -&gt; int -&gt; int</a:t>
                </a:r>
                <a:r>
                  <a:rPr lang="zh-CN" altLang="en-US" dirty="0">
                    <a:latin typeface="Cascadia Code" panose="020B0609020000020004" pitchFamily="49" charset="0"/>
                    <a:ea typeface="汉仪中黑 197" panose="00020600040101010101" charset="-122"/>
                    <a:cs typeface="Cascadia Code" panose="020B0609020000020004" pitchFamily="49" charset="0"/>
                  </a:rPr>
                  <a:t>，相当于 </a:t>
                </a:r>
                <a:r>
                  <a:rPr lang="en-US" altLang="zh-CN" sz="1400" dirty="0">
                    <a:latin typeface="Cascadia Code" panose="020B0609020000020004" pitchFamily="49" charset="0"/>
                    <a:ea typeface="汉仪中黑 197" panose="00020600040101010101" charset="-122"/>
                    <a:cs typeface="Cascadia Code" panose="020B0609020000020004" pitchFamily="49" charset="0"/>
                  </a:rPr>
                  <a:t>int -&gt; (int -&gt; int)</a:t>
                </a:r>
              </a:p>
              <a:p>
                <a:pPr lvl="1"/>
                <a:r>
                  <a:rPr lang="en-US" altLang="zh-CN" sz="1400" dirty="0">
                    <a:latin typeface="Cascadia Code" panose="020B0609020000020004" pitchFamily="49" charset="0"/>
                    <a:ea typeface="汉仪中黑 197" panose="00020600040101010101" charset="-122"/>
                    <a:cs typeface="Cascadia Code" panose="020B0609020000020004" pitchFamily="49" charset="0"/>
                  </a:rPr>
                  <a:t>f 1 2 </a:t>
                </a:r>
                <a:r>
                  <a:rPr lang="zh-CN" altLang="en-US" dirty="0">
                    <a:latin typeface="Cascadia Code" panose="020B0609020000020004" pitchFamily="49" charset="0"/>
                    <a:ea typeface="汉仪中黑 197" panose="00020600040101010101" charset="-122"/>
                    <a:cs typeface="Cascadia Code" panose="020B0609020000020004" pitchFamily="49" charset="0"/>
                  </a:rPr>
                  <a:t>相当于 </a:t>
                </a:r>
                <a:r>
                  <a:rPr lang="en-US" altLang="zh-CN" sz="1400" dirty="0">
                    <a:latin typeface="Cascadia Code" panose="020B0609020000020004" pitchFamily="49" charset="0"/>
                    <a:ea typeface="汉仪中黑 197" panose="00020600040101010101" charset="-122"/>
                    <a:cs typeface="Cascadia Code" panose="020B0609020000020004" pitchFamily="49" charset="0"/>
                  </a:rPr>
                  <a:t>(f 1) 2</a:t>
                </a:r>
                <a:r>
                  <a:rPr lang="zh-CN" altLang="en-US" dirty="0">
                    <a:latin typeface="Cascadia Code" panose="020B0609020000020004" pitchFamily="49" charset="0"/>
                    <a:ea typeface="汉仪中黑 197" panose="00020600040101010101" charset="-122"/>
                    <a:cs typeface="Cascadia Code" panose="020B0609020000020004" pitchFamily="49" charset="0"/>
                  </a:rPr>
                  <a:t>，其中</a:t>
                </a:r>
                <a:r>
                  <a:rPr lang="en-US" altLang="zh-CN" dirty="0">
                    <a:latin typeface="Cascadia Code" panose="020B0609020000020004" pitchFamily="49" charset="0"/>
                    <a:ea typeface="汉仪中黑 197" panose="00020600040101010101" charset="-122"/>
                    <a:cs typeface="Cascadia Code" panose="020B0609020000020004" pitchFamily="49" charset="0"/>
                  </a:rPr>
                  <a:t> </a:t>
                </a:r>
                <a:r>
                  <a:rPr lang="en-US" altLang="zh-CN" sz="1400" dirty="0">
                    <a:latin typeface="Cascadia Code" panose="020B0609020000020004" pitchFamily="49" charset="0"/>
                    <a:ea typeface="汉仪中黑 197" panose="00020600040101010101" charset="-122"/>
                    <a:cs typeface="Cascadia Code" panose="020B0609020000020004" pitchFamily="49" charset="0"/>
                  </a:rPr>
                  <a:t>f 1</a:t>
                </a:r>
                <a:r>
                  <a:rPr lang="en-US" altLang="zh-CN" dirty="0">
                    <a:latin typeface="Cascadia Code" panose="020B0609020000020004" pitchFamily="49" charset="0"/>
                    <a:ea typeface="汉仪中黑 197" panose="00020600040101010101" charset="-122"/>
                    <a:cs typeface="Cascadia Code" panose="020B0609020000020004" pitchFamily="49" charset="0"/>
                  </a:rPr>
                  <a:t> </a:t>
                </a:r>
                <a:r>
                  <a:rPr lang="zh-CN" altLang="en-US" dirty="0">
                    <a:latin typeface="Cascadia Code" panose="020B0609020000020004" pitchFamily="49" charset="0"/>
                    <a:ea typeface="汉仪中黑 197" panose="00020600040101010101" charset="-122"/>
                    <a:cs typeface="Cascadia Code" panose="020B0609020000020004" pitchFamily="49" charset="0"/>
                  </a:rPr>
                  <a:t>返回一个类型签名为 </a:t>
                </a:r>
                <a:r>
                  <a:rPr lang="en-US" altLang="zh-CN" sz="1400" dirty="0">
                    <a:latin typeface="Cascadia Code" panose="020B0609020000020004" pitchFamily="49" charset="0"/>
                    <a:ea typeface="汉仪中黑 197" panose="00020600040101010101" charset="-122"/>
                    <a:cs typeface="Cascadia Code" panose="020B0609020000020004" pitchFamily="49" charset="0"/>
                  </a:rPr>
                  <a:t>int -&gt; int </a:t>
                </a:r>
                <a:r>
                  <a:rPr lang="zh-CN" altLang="en-US" dirty="0">
                    <a:latin typeface="Cascadia Code" panose="020B0609020000020004" pitchFamily="49" charset="0"/>
                    <a:ea typeface="汉仪中黑 197" panose="00020600040101010101" charset="-122"/>
                    <a:cs typeface="Cascadia Code" panose="020B0609020000020004" pitchFamily="49" charset="0"/>
                  </a:rPr>
                  <a:t>的函数，相当于 </a:t>
                </a:r>
                <a:r>
                  <a:rPr lang="en-US" altLang="zh-CN" sz="1400" dirty="0">
                    <a:latin typeface="Cascadia Code" panose="020B0609020000020004" pitchFamily="49" charset="0"/>
                    <a:ea typeface="汉仪中黑 197" panose="00020600040101010101" charset="-122"/>
                    <a:cs typeface="Cascadia Code" panose="020B0609020000020004" pitchFamily="49" charset="0"/>
                  </a:rPr>
                  <a:t>fun b -&gt; 1 + b</a:t>
                </a:r>
                <a:r>
                  <a:rPr lang="zh-CN" altLang="en-US" dirty="0">
                    <a:latin typeface="Cascadia Code" panose="020B0609020000020004" pitchFamily="49" charset="0"/>
                    <a:ea typeface="汉仪中黑 197" panose="00020600040101010101" charset="-122"/>
                    <a:cs typeface="Cascadia Code" panose="020B0609020000020004" pitchFamily="49" charset="0"/>
                  </a:rPr>
                  <a:t>。</a:t>
                </a:r>
                <a:endParaRPr lang="en-US" altLang="zh-CN" dirty="0">
                  <a:latin typeface="Cascadia Code" panose="020B0609020000020004" pitchFamily="49" charset="0"/>
                  <a:ea typeface="汉仪中黑 197" panose="00020600040101010101" charset="-122"/>
                  <a:cs typeface="Cascadia Code" panose="020B0609020000020004" pitchFamily="49" charset="0"/>
                </a:endParaRPr>
              </a:p>
              <a:p>
                <a:pPr lvl="1"/>
                <a:r>
                  <a:rPr lang="zh-CN" altLang="en-US" b="1" dirty="0">
                    <a:solidFill>
                      <a:schemeClr val="accent1"/>
                    </a:solidFill>
                    <a:latin typeface="Cambria" panose="02040503050406030204" charset="0"/>
                    <a:ea typeface="汉仪中黑 197" panose="00020600040101010101" charset="-122"/>
                  </a:rPr>
                  <a:t>思考：</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int -&gt; int -&gt; int</a:t>
                </a:r>
                <a:r>
                  <a:rPr lang="en-US" altLang="zh-CN" sz="1400"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怎么表示为映射关系？和 </a:t>
                </a:r>
                <a14:m>
                  <m:oMath xmlns:m="http://schemas.openxmlformats.org/officeDocument/2006/math">
                    <m:r>
                      <a:rPr lang="en-US" altLang="zh-CN" i="1" smtClean="0">
                        <a:solidFill>
                          <a:schemeClr val="accent1"/>
                        </a:solidFill>
                        <a:latin typeface="Cambria Math" panose="02040503050406030204" pitchFamily="18" charset="0"/>
                      </a:rPr>
                      <m:t>ℤ</m:t>
                    </m:r>
                    <m:r>
                      <a:rPr lang="en-US" altLang="zh-CN" i="1" smtClean="0">
                        <a:solidFill>
                          <a:schemeClr val="accent1"/>
                        </a:solidFill>
                        <a:latin typeface="Cambria Math" panose="02040503050406030204" pitchFamily="18" charset="0"/>
                      </a:rPr>
                      <m:t>×</m:t>
                    </m:r>
                    <m:r>
                      <a:rPr lang="en-US" altLang="zh-CN" i="1" smtClean="0">
                        <a:solidFill>
                          <a:schemeClr val="accent1"/>
                        </a:solidFill>
                        <a:latin typeface="Cambria Math" panose="02040503050406030204" pitchFamily="18" charset="0"/>
                      </a:rPr>
                      <m:t>ℤ</m:t>
                    </m:r>
                    <m:r>
                      <m:rPr>
                        <m:nor/>
                      </m:rPr>
                      <a:rPr lang="en-US" altLang="zh-CN" b="0" i="0" smtClean="0">
                        <a:solidFill>
                          <a:schemeClr val="accent1"/>
                        </a:solidFill>
                        <a:latin typeface="Cambria Math" panose="02040503050406030204" pitchFamily="18" charset="0"/>
                      </a:rPr>
                      <m:t> </m:t>
                    </m:r>
                    <m:r>
                      <m:rPr>
                        <m:nor/>
                      </m:rPr>
                      <a:rPr lang="zh-CN" altLang="en-US" dirty="0">
                        <a:solidFill>
                          <a:schemeClr val="accent1"/>
                        </a:solidFill>
                      </a:rPr>
                      <m:t>→</m:t>
                    </m:r>
                    <m:r>
                      <m:rPr>
                        <m:nor/>
                      </m:rPr>
                      <a:rPr lang="en-US" altLang="zh-CN" b="0" i="0" dirty="0" smtClean="0">
                        <a:solidFill>
                          <a:schemeClr val="accent1"/>
                        </a:solidFill>
                      </a:rPr>
                      <m:t> </m:t>
                    </m:r>
                    <m:r>
                      <a:rPr lang="en-US" altLang="zh-CN" i="1" smtClean="0">
                        <a:solidFill>
                          <a:schemeClr val="accent1"/>
                        </a:solidFill>
                        <a:latin typeface="Cambria Math" panose="02040503050406030204" pitchFamily="18" charset="0"/>
                      </a:rPr>
                      <m:t>ℤ</m:t>
                    </m:r>
                  </m:oMath>
                </a14:m>
                <a:r>
                  <a:rPr lang="en-US" altLang="zh-CN" dirty="0">
                    <a:solidFill>
                      <a:schemeClr val="accent1"/>
                    </a:solidFill>
                    <a:latin typeface="Cambria" panose="02040503050406030204" charset="0"/>
                    <a:ea typeface="汉仪中黑 197" panose="00020600040101010101" charset="-122"/>
                  </a:rPr>
                  <a:t> </a:t>
                </a:r>
                <a:r>
                  <a:rPr lang="zh-CN" altLang="en-US" dirty="0">
                    <a:solidFill>
                      <a:schemeClr val="accent1"/>
                    </a:solidFill>
                    <a:latin typeface="Cambria" panose="02040503050406030204" charset="0"/>
                    <a:ea typeface="汉仪中黑 197" panose="00020600040101010101" charset="-122"/>
                  </a:rPr>
                  <a:t>等价吗？</a:t>
                </a:r>
                <a:endParaRPr lang="en-US" altLang="zh-CN" dirty="0">
                  <a:solidFill>
                    <a:schemeClr val="accent1"/>
                  </a:solidFill>
                  <a:latin typeface="Cambria" panose="02040503050406030204" charset="0"/>
                  <a:ea typeface="汉仪中黑 197" panose="00020600040101010101" charset="-122"/>
                </a:endParaRPr>
              </a:p>
            </p:txBody>
          </p:sp>
        </mc:Choice>
        <mc:Fallback xmlns="">
          <p:sp>
            <p:nvSpPr>
              <p:cNvPr id="3" name="内容占位符 2">
                <a:extLst>
                  <a:ext uri="{FF2B5EF4-FFF2-40B4-BE49-F238E27FC236}">
                    <a16:creationId xmlns:a16="http://schemas.microsoft.com/office/drawing/2014/main" id="{333039D2-CBE8-BE31-43E6-88F2982B95B2}"/>
                  </a:ext>
                </a:extLst>
              </p:cNvPr>
              <p:cNvSpPr>
                <a:spLocks noGrp="1" noRot="1" noChangeAspect="1" noMove="1" noResize="1" noEditPoints="1" noAdjustHandles="1" noChangeArrowheads="1" noChangeShapeType="1" noTextEdit="1"/>
              </p:cNvSpPr>
              <p:nvPr>
                <p:ph sz="half" idx="1"/>
              </p:nvPr>
            </p:nvSpPr>
            <p:spPr>
              <a:xfrm>
                <a:off x="669930" y="952508"/>
                <a:ext cx="8258170" cy="5388907"/>
              </a:xfrm>
              <a:blipFill>
                <a:blip r:embed="rId4"/>
                <a:stretch>
                  <a:fillRect l="-295"/>
                </a:stretch>
              </a:blipFill>
            </p:spPr>
            <p:txBody>
              <a:bodyPr/>
              <a:lstStyle/>
              <a:p>
                <a:r>
                  <a:rPr lang="zh-CN" altLang="en-US">
                    <a:noFill/>
                  </a:rPr>
                  <a:t> </a:t>
                </a:r>
              </a:p>
            </p:txBody>
          </p:sp>
        </mc:Fallback>
      </mc:AlternateContent>
      <p:pic>
        <p:nvPicPr>
          <p:cNvPr id="14" name="内容占位符 13">
            <a:extLst>
              <a:ext uri="{FF2B5EF4-FFF2-40B4-BE49-F238E27FC236}">
                <a16:creationId xmlns:a16="http://schemas.microsoft.com/office/drawing/2014/main" id="{10A3CF8A-497E-3AA0-8DDC-D9D522E1D62E}"/>
              </a:ext>
            </a:extLst>
          </p:cNvPr>
          <p:cNvPicPr>
            <a:picLocks noGrp="1" noChangeAspect="1"/>
          </p:cNvPicPr>
          <p:nvPr>
            <p:ph sz="half" idx="2"/>
          </p:nvPr>
        </p:nvPicPr>
        <p:blipFill>
          <a:blip r:embed="rId5"/>
          <a:stretch>
            <a:fillRect/>
          </a:stretch>
        </p:blipFill>
        <p:spPr>
          <a:xfrm>
            <a:off x="8928100" y="2072080"/>
            <a:ext cx="2032104" cy="3149762"/>
          </a:xfrm>
          <a:prstGeom prst="rect">
            <a:avLst/>
          </a:prstGeom>
        </p:spPr>
      </p:pic>
    </p:spTree>
    <p:custDataLst>
      <p:tags r:id="rId1"/>
    </p:custDataLst>
    <p:extLst>
      <p:ext uri="{BB962C8B-B14F-4D97-AF65-F5344CB8AC3E}">
        <p14:creationId xmlns:p14="http://schemas.microsoft.com/office/powerpoint/2010/main" val="1592314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3BA2E-BB28-AF61-736C-C2DC9C19E1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5BF0F7-26B8-4398-9C14-0872B6E16FAB}"/>
              </a:ext>
            </a:extLst>
          </p:cNvPr>
          <p:cNvSpPr>
            <a:spLocks noGrp="1"/>
          </p:cNvSpPr>
          <p:nvPr>
            <p:ph type="title"/>
          </p:nvPr>
        </p:nvSpPr>
        <p:spPr/>
        <p:txBody>
          <a:bodyPr>
            <a:normAutofit fontScale="90000"/>
          </a:bodyPr>
          <a:lstStyle/>
          <a:p>
            <a:r>
              <a:rPr lang="zh-CN" altLang="en-US" dirty="0">
                <a:latin typeface="Cambria" panose="02040503050406030204" charset="0"/>
                <a:ea typeface="汉仪中黑 197" panose="00020600040101010101" charset="-122"/>
              </a:rPr>
              <a:t>分支结构</a:t>
            </a:r>
            <a:endParaRPr lang="en-US" altLang="zh-CN" dirty="0">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4E495D2F-296C-2DF8-D46C-1F7F25FAE39B}"/>
              </a:ext>
            </a:extLst>
          </p:cNvPr>
          <p:cNvSpPr>
            <a:spLocks noGrp="1"/>
          </p:cNvSpPr>
          <p:nvPr>
            <p:ph sz="half" idx="1"/>
          </p:nvPr>
        </p:nvSpPr>
        <p:spPr>
          <a:xfrm>
            <a:off x="669929" y="952508"/>
            <a:ext cx="7785236" cy="5388907"/>
          </a:xfrm>
        </p:spPr>
        <p:txBody>
          <a:bodyPr>
            <a:normAutofit/>
          </a:bodyPr>
          <a:lstStyle/>
          <a:p>
            <a:r>
              <a:rPr lang="zh-CN" altLang="en-US" b="1" dirty="0">
                <a:latin typeface="Cambria" panose="02040503050406030204" charset="0"/>
                <a:ea typeface="汉仪中黑 197" panose="00020600040101010101" charset="-122"/>
              </a:rPr>
              <a:t>条件分支：</a:t>
            </a:r>
            <a:endParaRPr lang="en-US" altLang="zh-CN" b="1" dirty="0">
              <a:latin typeface="Cambria" panose="02040503050406030204" charset="0"/>
              <a:ea typeface="汉仪中黑 197" panose="00020600040101010101" charset="-122"/>
            </a:endParaRPr>
          </a:p>
          <a:p>
            <a:pPr lvl="1"/>
            <a:r>
              <a:rPr lang="en-US" altLang="zh-CN" sz="1400" dirty="0">
                <a:latin typeface="Cascadia Code" panose="020B0609020000020004" pitchFamily="49" charset="0"/>
                <a:ea typeface="汉仪中黑 197" panose="00020600040101010101" charset="-122"/>
                <a:cs typeface="Cascadia Code" panose="020B0609020000020004" pitchFamily="49" charset="0"/>
              </a:rPr>
              <a:t>if-else</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表达式，根据条件真假选择表达式来返回；</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必须包含 </a:t>
            </a:r>
            <a:r>
              <a:rPr lang="en-US" altLang="zh-CN" sz="1400" dirty="0">
                <a:latin typeface="Cascadia Code" panose="020B0609020000020004" pitchFamily="49" charset="0"/>
                <a:ea typeface="汉仪中黑 197" panose="00020600040101010101" charset="-122"/>
                <a:cs typeface="Cascadia Code" panose="020B0609020000020004" pitchFamily="49" charset="0"/>
              </a:rPr>
              <a:t>else</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分支；</a:t>
            </a:r>
            <a:endParaRPr lang="en-US" altLang="zh-CN" dirty="0">
              <a:latin typeface="Cambria" panose="02040503050406030204" charset="0"/>
              <a:ea typeface="汉仪中黑 197" panose="00020600040101010101" charset="-122"/>
            </a:endParaRPr>
          </a:p>
          <a:p>
            <a:pPr lvl="1"/>
            <a:r>
              <a:rPr lang="en-US" altLang="zh-CN" sz="1400" dirty="0">
                <a:latin typeface="Cascadia Code" panose="020B0609020000020004" pitchFamily="49" charset="0"/>
                <a:ea typeface="汉仪中黑 197" panose="00020600040101010101" charset="-122"/>
                <a:cs typeface="Cascadia Code" panose="020B0609020000020004" pitchFamily="49" charset="0"/>
              </a:rPr>
              <a:t>then</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和 </a:t>
            </a:r>
            <a:r>
              <a:rPr lang="en-US" altLang="zh-CN" sz="1400" dirty="0">
                <a:latin typeface="Cascadia Code" panose="020B0609020000020004" pitchFamily="49" charset="0"/>
                <a:ea typeface="汉仪中黑 197" panose="00020600040101010101" charset="-122"/>
                <a:cs typeface="Cascadia Code" panose="020B0609020000020004" pitchFamily="49" charset="0"/>
              </a:rPr>
              <a:t>else</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分支必须返回相同类型的值。</a:t>
            </a:r>
            <a:endParaRPr lang="en-US" altLang="zh-CN" dirty="0">
              <a:latin typeface="Cambria" panose="02040503050406030204" charset="0"/>
              <a:ea typeface="汉仪中黑 197" panose="00020600040101010101" charset="-122"/>
            </a:endParaRPr>
          </a:p>
          <a:p>
            <a:r>
              <a:rPr lang="zh-CN" altLang="en-US" b="1" dirty="0">
                <a:latin typeface="Cambria" panose="02040503050406030204" charset="0"/>
                <a:ea typeface="汉仪中黑 197" panose="00020600040101010101" charset="-122"/>
              </a:rPr>
              <a:t>模式匹配：</a:t>
            </a:r>
            <a:endParaRPr lang="en-US" altLang="zh-CN" b="1" dirty="0">
              <a:latin typeface="Cambria" panose="02040503050406030204" charset="0"/>
              <a:ea typeface="汉仪中黑 197" panose="00020600040101010101" charset="-122"/>
            </a:endParaRPr>
          </a:p>
          <a:p>
            <a:pPr lvl="1"/>
            <a:r>
              <a:rPr lang="en-US" altLang="zh-CN" sz="1400" dirty="0">
                <a:latin typeface="Cascadia Code" panose="020B0609020000020004" pitchFamily="49" charset="0"/>
                <a:ea typeface="汉仪中黑 197" panose="00020600040101010101" charset="-122"/>
                <a:cs typeface="Cascadia Code" panose="020B0609020000020004" pitchFamily="49" charset="0"/>
              </a:rPr>
              <a:t>match</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表达式，根据不同模式选择不同表达式来返回；</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模式必须完整覆盖所有可能情况；</a:t>
            </a:r>
            <a:endParaRPr lang="en-US" altLang="zh-CN" dirty="0">
              <a:latin typeface="Cambria" panose="02040503050406030204" charset="0"/>
              <a:ea typeface="汉仪中黑 197" panose="00020600040101010101" charset="-122"/>
            </a:endParaRPr>
          </a:p>
          <a:p>
            <a:pPr lvl="1"/>
            <a:r>
              <a:rPr lang="en-US" altLang="zh-CN" sz="1400" dirty="0">
                <a:latin typeface="Cascadia Code" panose="020B0609020000020004" pitchFamily="49" charset="0"/>
                <a:ea typeface="汉仪中黑 197" panose="00020600040101010101" charset="-122"/>
                <a:cs typeface="Cascadia Code" panose="020B0609020000020004" pitchFamily="49" charset="0"/>
              </a:rPr>
              <a:t>_</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是通配符模式，匹配任何剩余的情况，可确保完整性；</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所有分支必须返回相同类型的值。</a:t>
            </a:r>
            <a:endParaRPr lang="en-US" altLang="zh-CN" dirty="0">
              <a:latin typeface="Cambria" panose="02040503050406030204" charset="0"/>
              <a:ea typeface="汉仪中黑 197" panose="00020600040101010101" charset="-122"/>
            </a:endParaRPr>
          </a:p>
          <a:p>
            <a:r>
              <a:rPr lang="en-US" altLang="zh-CN" sz="1400" dirty="0">
                <a:latin typeface="Cascadia Code" panose="020B0609020000020004" pitchFamily="49" charset="0"/>
                <a:ea typeface="汉仪中黑 197" panose="00020600040101010101" charset="-122"/>
                <a:cs typeface="Cascadia Code" panose="020B0609020000020004" pitchFamily="49" charset="0"/>
              </a:rPr>
              <a:t>if-else</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表达式必须有</a:t>
            </a:r>
            <a:r>
              <a:rPr lang="en-US" altLang="zh-CN" dirty="0">
                <a:latin typeface="Cambria" panose="02040503050406030204" charset="0"/>
                <a:ea typeface="汉仪中黑 197" panose="00020600040101010101" charset="-122"/>
              </a:rPr>
              <a:t> </a:t>
            </a:r>
            <a:r>
              <a:rPr lang="en-US" altLang="zh-CN" sz="1400" dirty="0">
                <a:latin typeface="Cascadia Code" panose="020B0609020000020004" pitchFamily="49" charset="0"/>
                <a:ea typeface="汉仪中黑 197" panose="00020600040101010101" charset="-122"/>
                <a:cs typeface="Cascadia Code" panose="020B0609020000020004" pitchFamily="49" charset="0"/>
              </a:rPr>
              <a:t>else</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分支，而 </a:t>
            </a:r>
            <a:r>
              <a:rPr lang="en-US" altLang="zh-CN" sz="1400" dirty="0">
                <a:latin typeface="Cascadia Code" panose="020B0609020000020004" pitchFamily="49" charset="0"/>
                <a:ea typeface="汉仪中黑 197" panose="00020600040101010101" charset="-122"/>
                <a:cs typeface="Cascadia Code" panose="020B0609020000020004" pitchFamily="49" charset="0"/>
              </a:rPr>
              <a:t>match</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表达式必须覆盖所有可能的情况，否则就会有至少一类情况无法返回值。这引出一个非常有意思的问题。（见下页）</a:t>
            </a:r>
            <a:endParaRPr lang="en-US" altLang="zh-CN" dirty="0">
              <a:latin typeface="Cambria" panose="02040503050406030204" charset="0"/>
              <a:ea typeface="汉仪中黑 197" panose="00020600040101010101" charset="-122"/>
            </a:endParaRPr>
          </a:p>
        </p:txBody>
      </p:sp>
      <p:pic>
        <p:nvPicPr>
          <p:cNvPr id="8" name="内容占位符 7">
            <a:extLst>
              <a:ext uri="{FF2B5EF4-FFF2-40B4-BE49-F238E27FC236}">
                <a16:creationId xmlns:a16="http://schemas.microsoft.com/office/drawing/2014/main" id="{CDBBFDF3-BCAE-23B4-302B-E51CD8B337A6}"/>
              </a:ext>
            </a:extLst>
          </p:cNvPr>
          <p:cNvPicPr>
            <a:picLocks noGrp="1" noChangeAspect="1"/>
          </p:cNvPicPr>
          <p:nvPr>
            <p:ph sz="half" idx="2"/>
          </p:nvPr>
        </p:nvPicPr>
        <p:blipFill>
          <a:blip r:embed="rId4"/>
          <a:stretch>
            <a:fillRect/>
          </a:stretch>
        </p:blipFill>
        <p:spPr>
          <a:xfrm>
            <a:off x="8455165" y="2053029"/>
            <a:ext cx="2508379" cy="3187864"/>
          </a:xfrm>
        </p:spPr>
      </p:pic>
    </p:spTree>
    <p:custDataLst>
      <p:tags r:id="rId1"/>
    </p:custDataLst>
    <p:extLst>
      <p:ext uri="{BB962C8B-B14F-4D97-AF65-F5344CB8AC3E}">
        <p14:creationId xmlns:p14="http://schemas.microsoft.com/office/powerpoint/2010/main" val="1122986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A7F7-C29C-E8A5-D392-74ACDE9E1BD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8CBB14-C956-9F41-9AB8-20645D513D72}"/>
              </a:ext>
            </a:extLst>
          </p:cNvPr>
          <p:cNvSpPr>
            <a:spLocks noGrp="1"/>
          </p:cNvSpPr>
          <p:nvPr>
            <p:ph type="title"/>
          </p:nvPr>
        </p:nvSpPr>
        <p:spPr/>
        <p:txBody>
          <a:bodyPr>
            <a:normAutofit fontScale="90000"/>
          </a:bodyPr>
          <a:lstStyle/>
          <a:p>
            <a:r>
              <a:rPr lang="zh-CN" altLang="en-US" dirty="0">
                <a:latin typeface="Cambria" panose="02040503050406030204" charset="0"/>
                <a:ea typeface="汉仪中黑 197" panose="00020600040101010101" charset="-122"/>
              </a:rPr>
              <a:t>函数式编程的范式</a:t>
            </a:r>
            <a:endParaRPr lang="en-US" altLang="zh-CN" dirty="0">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1B24771E-D37B-46E6-8E9F-48965FA5D9D4}"/>
              </a:ext>
            </a:extLst>
          </p:cNvPr>
          <p:cNvSpPr>
            <a:spLocks noGrp="1"/>
          </p:cNvSpPr>
          <p:nvPr>
            <p:ph sz="half" idx="1"/>
          </p:nvPr>
        </p:nvSpPr>
        <p:spPr>
          <a:xfrm>
            <a:off x="669930" y="952508"/>
            <a:ext cx="5730870" cy="5388907"/>
          </a:xfrm>
        </p:spPr>
        <p:txBody>
          <a:bodyPr>
            <a:normAutofit lnSpcReduction="10000"/>
          </a:bodyPr>
          <a:lstStyle/>
          <a:p>
            <a:r>
              <a:rPr lang="zh-CN" altLang="en-US" b="1" dirty="0">
                <a:latin typeface="Cambria" panose="02040503050406030204" charset="0"/>
                <a:ea typeface="汉仪中黑 197" panose="00020600040101010101" charset="-122"/>
              </a:rPr>
              <a:t>以一个 </a:t>
            </a:r>
            <a:r>
              <a:rPr lang="en-US" altLang="zh-CN" b="1" dirty="0">
                <a:latin typeface="Cambria" panose="02040503050406030204" charset="0"/>
                <a:ea typeface="汉仪中黑 197" panose="00020600040101010101" charset="-122"/>
              </a:rPr>
              <a:t>C++ </a:t>
            </a:r>
            <a:r>
              <a:rPr lang="zh-CN" altLang="en-US" b="1" dirty="0">
                <a:latin typeface="Cambria" panose="02040503050406030204" charset="0"/>
                <a:ea typeface="汉仪中黑 197" panose="00020600040101010101" charset="-122"/>
              </a:rPr>
              <a:t>版本和一个 </a:t>
            </a:r>
            <a:r>
              <a:rPr lang="en-US" altLang="zh-CN" b="1" dirty="0">
                <a:latin typeface="Cambria" panose="02040503050406030204" charset="0"/>
                <a:ea typeface="汉仪中黑 197" panose="00020600040101010101" charset="-122"/>
              </a:rPr>
              <a:t>OCaml </a:t>
            </a:r>
            <a:r>
              <a:rPr lang="zh-CN" altLang="en-US" b="1" dirty="0">
                <a:latin typeface="Cambria" panose="02040503050406030204" charset="0"/>
                <a:ea typeface="汉仪中黑 197" panose="00020600040101010101" charset="-122"/>
              </a:rPr>
              <a:t>版本的 </a:t>
            </a:r>
            <a:r>
              <a:rPr lang="en-US" altLang="zh-CN" sz="1400" b="1" dirty="0" err="1">
                <a:latin typeface="Cascadia Code" panose="020B0609020000020004" pitchFamily="49" charset="0"/>
                <a:ea typeface="汉仪中黑 197" panose="00020600040101010101" charset="-122"/>
                <a:cs typeface="Cascadia Code" panose="020B0609020000020004" pitchFamily="49" charset="0"/>
              </a:rPr>
              <a:t>describe_number</a:t>
            </a:r>
            <a:r>
              <a:rPr lang="en-US" altLang="zh-CN" sz="1400" b="1" dirty="0">
                <a:latin typeface="Cascadia Code" panose="020B0609020000020004" pitchFamily="49" charset="0"/>
                <a:ea typeface="汉仪中黑 197" panose="00020600040101010101" charset="-122"/>
                <a:cs typeface="Cascadia Code" panose="020B0609020000020004" pitchFamily="49" charset="0"/>
              </a:rPr>
              <a:t> </a:t>
            </a:r>
            <a:r>
              <a:rPr lang="zh-CN" altLang="en-US" b="1" dirty="0">
                <a:latin typeface="Cambria" panose="02040503050406030204" charset="0"/>
                <a:ea typeface="汉仪中黑 197" panose="00020600040101010101" charset="-122"/>
              </a:rPr>
              <a:t>函数为例对比说明函数式和命令式的写法之不同：</a:t>
            </a:r>
            <a:endParaRPr lang="en-US" altLang="zh-CN" b="1" dirty="0">
              <a:latin typeface="Cambria" panose="02040503050406030204" charset="0"/>
              <a:ea typeface="汉仪中黑 197" panose="00020600040101010101" charset="-122"/>
            </a:endParaRPr>
          </a:p>
          <a:p>
            <a:pPr lvl="1"/>
            <a:r>
              <a:rPr lang="zh-CN" altLang="en-US" b="1" dirty="0">
                <a:latin typeface="Cambria" panose="02040503050406030204" charset="0"/>
                <a:ea typeface="汉仪中黑 197" panose="00020600040101010101" charset="-122"/>
              </a:rPr>
              <a:t>命令式编程（</a:t>
            </a:r>
            <a:r>
              <a:rPr lang="en-US" altLang="zh-CN" b="1" dirty="0">
                <a:latin typeface="Cambria" panose="02040503050406030204" charset="0"/>
                <a:ea typeface="汉仪中黑 197" panose="00020600040101010101" charset="-122"/>
              </a:rPr>
              <a:t>C++</a:t>
            </a:r>
            <a:r>
              <a:rPr lang="zh-CN" altLang="en-US" b="1" dirty="0">
                <a:latin typeface="Cambria" panose="02040503050406030204" charset="0"/>
                <a:ea typeface="汉仪中黑 197" panose="00020600040101010101" charset="-122"/>
              </a:rPr>
              <a:t>）：</a:t>
            </a:r>
            <a:r>
              <a:rPr lang="en-US" altLang="zh-CN" dirty="0">
                <a:latin typeface="Cambria" panose="02040503050406030204" charset="0"/>
                <a:ea typeface="汉仪中黑 197" panose="00020600040101010101" charset="-122"/>
              </a:rPr>
              <a:t>switch </a:t>
            </a:r>
            <a:r>
              <a:rPr lang="zh-CN" altLang="en-US" dirty="0">
                <a:latin typeface="Cambria" panose="02040503050406030204" charset="0"/>
                <a:ea typeface="汉仪中黑 197" panose="00020600040101010101" charset="-122"/>
              </a:rPr>
              <a:t>语句是命令式控制流结构，需要配合 </a:t>
            </a:r>
            <a:r>
              <a:rPr lang="en-US" altLang="zh-CN" dirty="0">
                <a:latin typeface="Cambria" panose="02040503050406030204" charset="0"/>
                <a:ea typeface="汉仪中黑 197" panose="00020600040101010101" charset="-122"/>
              </a:rPr>
              <a:t>return </a:t>
            </a:r>
            <a:r>
              <a:rPr lang="zh-CN" altLang="en-US" dirty="0">
                <a:latin typeface="Cambria" panose="02040503050406030204" charset="0"/>
                <a:ea typeface="汉仪中黑 197" panose="00020600040101010101" charset="-122"/>
              </a:rPr>
              <a:t>来返回值，和计算机执行程序的底层方式更接近。</a:t>
            </a:r>
            <a:endParaRPr lang="en-US" altLang="zh-CN" dirty="0">
              <a:latin typeface="Cambria" panose="02040503050406030204" charset="0"/>
              <a:ea typeface="汉仪中黑 197" panose="00020600040101010101" charset="-122"/>
            </a:endParaRPr>
          </a:p>
          <a:p>
            <a:pPr lvl="1"/>
            <a:r>
              <a:rPr lang="zh-CN" altLang="en-US" b="1" dirty="0">
                <a:latin typeface="Cambria" panose="02040503050406030204" charset="0"/>
                <a:ea typeface="汉仪中黑 197" panose="00020600040101010101" charset="-122"/>
              </a:rPr>
              <a:t>函数式编程（</a:t>
            </a:r>
            <a:r>
              <a:rPr lang="en-US" altLang="zh-CN" b="1" dirty="0">
                <a:latin typeface="Cambria" panose="02040503050406030204" charset="0"/>
                <a:ea typeface="汉仪中黑 197" panose="00020600040101010101" charset="-122"/>
              </a:rPr>
              <a:t>OCaml</a:t>
            </a:r>
            <a:r>
              <a:rPr lang="zh-CN" altLang="en-US" b="1" dirty="0">
                <a:latin typeface="Cambria" panose="02040503050406030204" charset="0"/>
                <a:ea typeface="汉仪中黑 197" panose="00020600040101010101" charset="-122"/>
              </a:rPr>
              <a:t>）：</a:t>
            </a:r>
            <a:r>
              <a:rPr lang="zh-CN" altLang="en-US" dirty="0">
                <a:latin typeface="Cambria" panose="02040503050406030204" charset="0"/>
                <a:ea typeface="汉仪中黑 197" panose="00020600040101010101" charset="-122"/>
              </a:rPr>
              <a:t>模式匹配是声明式结构，整个函数体是一个</a:t>
            </a:r>
            <a:r>
              <a:rPr lang="en-US" altLang="zh-CN" dirty="0">
                <a:latin typeface="Cambria" panose="02040503050406030204" charset="0"/>
                <a:ea typeface="汉仪中黑 197" panose="00020600040101010101" charset="-122"/>
              </a:rPr>
              <a:t> match </a:t>
            </a:r>
            <a:r>
              <a:rPr lang="zh-CN" altLang="en-US" dirty="0">
                <a:latin typeface="Cambria" panose="02040503050406030204" charset="0"/>
                <a:ea typeface="汉仪中黑 197" panose="00020600040101010101" charset="-122"/>
              </a:rPr>
              <a:t>表达式，更简洁、符合直觉、不易出错。</a:t>
            </a:r>
            <a:endParaRPr lang="en-US" altLang="zh-CN" dirty="0">
              <a:latin typeface="Cambria" panose="02040503050406030204" charset="0"/>
              <a:ea typeface="汉仪中黑 197" panose="00020600040101010101" charset="-122"/>
            </a:endParaRPr>
          </a:p>
          <a:p>
            <a:r>
              <a:rPr lang="zh-CN" altLang="en-US" b="1" dirty="0">
                <a:solidFill>
                  <a:schemeClr val="accent1"/>
                </a:solidFill>
                <a:latin typeface="Cambria" panose="02040503050406030204" charset="0"/>
                <a:ea typeface="汉仪中黑 197" panose="00020600040101010101" charset="-122"/>
              </a:rPr>
              <a:t>思考：</a:t>
            </a:r>
            <a:endParaRPr lang="en-US" altLang="zh-CN" b="1" dirty="0">
              <a:solidFill>
                <a:schemeClr val="accent1"/>
              </a:solidFill>
              <a:latin typeface="Cambria" panose="02040503050406030204" charset="0"/>
              <a:ea typeface="汉仪中黑 197" panose="00020600040101010101" charset="-122"/>
            </a:endParaRPr>
          </a:p>
          <a:p>
            <a:pPr marL="800100" lvl="1" indent="-342900">
              <a:buFont typeface="+mj-lt"/>
              <a:buAutoNum type="arabicPeriod"/>
            </a:pPr>
            <a:r>
              <a:rPr lang="zh-CN" altLang="en-US" dirty="0">
                <a:solidFill>
                  <a:schemeClr val="accent1"/>
                </a:solidFill>
                <a:latin typeface="Cambria" panose="02040503050406030204" charset="0"/>
                <a:ea typeface="汉仪中黑 197" panose="00020600040101010101" charset="-122"/>
              </a:rPr>
              <a:t>为什么函数式编程的声明式结构天然比命令式结构更适合类型推理？</a:t>
            </a:r>
            <a:endParaRPr lang="en-US" altLang="zh-CN" dirty="0">
              <a:solidFill>
                <a:schemeClr val="accent1"/>
              </a:solidFill>
              <a:latin typeface="Cambria" panose="02040503050406030204" charset="0"/>
              <a:ea typeface="汉仪中黑 197" panose="00020600040101010101" charset="-122"/>
            </a:endParaRPr>
          </a:p>
          <a:p>
            <a:pPr marL="800100" lvl="1" indent="-342900">
              <a:buFont typeface="+mj-lt"/>
              <a:buAutoNum type="arabicPeriod"/>
            </a:pPr>
            <a:r>
              <a:rPr lang="zh-CN" altLang="en-US" dirty="0">
                <a:solidFill>
                  <a:schemeClr val="accent1"/>
                </a:solidFill>
                <a:latin typeface="Cambria" panose="02040503050406030204" charset="0"/>
                <a:ea typeface="汉仪中黑 197" panose="00020600040101010101" charset="-122"/>
              </a:rPr>
              <a:t>声明式结构具有更严格的形式约束，按理说这会让编程变得更困难。但实际上函数式编程往往给人自然、优雅的感觉。请解释这个表面上的矛盾。</a:t>
            </a:r>
            <a:endParaRPr lang="en-US" altLang="zh-CN" dirty="0">
              <a:solidFill>
                <a:schemeClr val="accent1"/>
              </a:solidFill>
              <a:latin typeface="Cambria" panose="02040503050406030204" charset="0"/>
              <a:ea typeface="汉仪中黑 197" panose="00020600040101010101" charset="-122"/>
            </a:endParaRPr>
          </a:p>
        </p:txBody>
      </p:sp>
      <p:pic>
        <p:nvPicPr>
          <p:cNvPr id="7" name="内容占位符 6">
            <a:extLst>
              <a:ext uri="{FF2B5EF4-FFF2-40B4-BE49-F238E27FC236}">
                <a16:creationId xmlns:a16="http://schemas.microsoft.com/office/drawing/2014/main" id="{08310843-EDD2-3FC1-5410-5ADF2AA072D8}"/>
              </a:ext>
            </a:extLst>
          </p:cNvPr>
          <p:cNvPicPr>
            <a:picLocks noGrp="1" noChangeAspect="1"/>
          </p:cNvPicPr>
          <p:nvPr>
            <p:ph sz="half" idx="2"/>
          </p:nvPr>
        </p:nvPicPr>
        <p:blipFill>
          <a:blip r:embed="rId4"/>
          <a:stretch>
            <a:fillRect/>
          </a:stretch>
        </p:blipFill>
        <p:spPr>
          <a:xfrm>
            <a:off x="7223059" y="1140466"/>
            <a:ext cx="3486329" cy="2908449"/>
          </a:xfrm>
        </p:spPr>
      </p:pic>
      <p:pic>
        <p:nvPicPr>
          <p:cNvPr id="9" name="图片 8">
            <a:extLst>
              <a:ext uri="{FF2B5EF4-FFF2-40B4-BE49-F238E27FC236}">
                <a16:creationId xmlns:a16="http://schemas.microsoft.com/office/drawing/2014/main" id="{B0D6B32E-EBC4-4A4A-CACB-0A1B31370397}"/>
              </a:ext>
            </a:extLst>
          </p:cNvPr>
          <p:cNvPicPr>
            <a:picLocks noChangeAspect="1"/>
          </p:cNvPicPr>
          <p:nvPr/>
        </p:nvPicPr>
        <p:blipFill>
          <a:blip r:embed="rId5"/>
          <a:stretch>
            <a:fillRect/>
          </a:stretch>
        </p:blipFill>
        <p:spPr>
          <a:xfrm>
            <a:off x="7223059" y="4291808"/>
            <a:ext cx="2502029" cy="1720938"/>
          </a:xfrm>
          <a:prstGeom prst="rect">
            <a:avLst/>
          </a:prstGeom>
        </p:spPr>
      </p:pic>
    </p:spTree>
    <p:custDataLst>
      <p:tags r:id="rId1"/>
    </p:custDataLst>
    <p:extLst>
      <p:ext uri="{BB962C8B-B14F-4D97-AF65-F5344CB8AC3E}">
        <p14:creationId xmlns:p14="http://schemas.microsoft.com/office/powerpoint/2010/main" val="2627353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B1518-A357-C904-BF3B-A2C55F827A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10ED716-33A6-4619-E607-E41E845BC2FD}"/>
              </a:ext>
            </a:extLst>
          </p:cNvPr>
          <p:cNvSpPr>
            <a:spLocks noGrp="1"/>
          </p:cNvSpPr>
          <p:nvPr>
            <p:ph type="title"/>
          </p:nvPr>
        </p:nvSpPr>
        <p:spPr/>
        <p:txBody>
          <a:bodyPr>
            <a:normAutofit fontScale="90000"/>
          </a:bodyPr>
          <a:lstStyle/>
          <a:p>
            <a:r>
              <a:rPr lang="zh-CN" altLang="en-US" dirty="0">
                <a:latin typeface="Cambria" panose="02040503050406030204" charset="0"/>
                <a:ea typeface="汉仪中黑 197" panose="00020600040101010101" charset="-122"/>
              </a:rPr>
              <a:t>列表（</a:t>
            </a:r>
            <a:r>
              <a:rPr lang="en-US" altLang="zh-CN" sz="2200" dirty="0">
                <a:latin typeface="Cascadia Code" panose="020B0609020000020004" pitchFamily="49" charset="0"/>
                <a:ea typeface="汉仪中黑 197" panose="00020600040101010101" charset="-122"/>
                <a:cs typeface="Cascadia Code" panose="020B0609020000020004" pitchFamily="49" charset="0"/>
              </a:rPr>
              <a:t>list</a:t>
            </a:r>
            <a:r>
              <a:rPr lang="zh-CN" altLang="en-US" dirty="0">
                <a:latin typeface="Cambria" panose="02040503050406030204" charset="0"/>
                <a:ea typeface="汉仪中黑 197" panose="00020600040101010101" charset="-122"/>
              </a:rPr>
              <a:t>）基础</a:t>
            </a:r>
            <a:endParaRPr lang="en-US" altLang="zh-CN" dirty="0">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5FBB0014-76E2-B418-2C24-13674FCC8E40}"/>
              </a:ext>
            </a:extLst>
          </p:cNvPr>
          <p:cNvSpPr>
            <a:spLocks noGrp="1"/>
          </p:cNvSpPr>
          <p:nvPr>
            <p:ph sz="half" idx="1"/>
          </p:nvPr>
        </p:nvSpPr>
        <p:spPr>
          <a:xfrm>
            <a:off x="669930" y="952508"/>
            <a:ext cx="5651929" cy="5388907"/>
          </a:xfrm>
        </p:spPr>
        <p:txBody>
          <a:bodyPr>
            <a:normAutofit lnSpcReduction="10000"/>
          </a:bodyPr>
          <a:lstStyle/>
          <a:p>
            <a:r>
              <a:rPr lang="zh-CN" altLang="en-US" b="1" dirty="0">
                <a:latin typeface="Cambria" panose="02040503050406030204" charset="0"/>
                <a:ea typeface="汉仪中黑 197" panose="00020600040101010101" charset="-122"/>
              </a:rPr>
              <a:t>列表的构造方式：</a:t>
            </a:r>
            <a:endParaRPr lang="en-US" altLang="zh-CN" b="1"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字面值，形如 </a:t>
            </a:r>
            <a:r>
              <a:rPr lang="en-US" altLang="zh-CN" dirty="0">
                <a:latin typeface="Cambria" panose="02040503050406030204" charset="0"/>
                <a:ea typeface="汉仪中黑 197" panose="00020600040101010101" charset="-122"/>
              </a:rPr>
              <a:t>[ </a:t>
            </a:r>
            <a:r>
              <a:rPr lang="en-US" altLang="zh-CN" i="1" dirty="0">
                <a:latin typeface="Cambria" panose="02040503050406030204" charset="0"/>
                <a:ea typeface="汉仪中黑 197" panose="00020600040101010101" charset="-122"/>
              </a:rPr>
              <a:t>x</a:t>
            </a:r>
            <a:r>
              <a:rPr lang="en-US" altLang="zh-CN" baseline="-25000" dirty="0">
                <a:latin typeface="Cambria" panose="02040503050406030204" charset="0"/>
                <a:ea typeface="汉仪中黑 197" panose="00020600040101010101" charset="-122"/>
              </a:rPr>
              <a:t>1</a:t>
            </a:r>
            <a:r>
              <a:rPr lang="en-US" altLang="zh-CN" dirty="0">
                <a:latin typeface="Cambria" panose="02040503050406030204" charset="0"/>
                <a:ea typeface="汉仪中黑 197" panose="00020600040101010101" charset="-122"/>
              </a:rPr>
              <a:t>; </a:t>
            </a:r>
            <a:r>
              <a:rPr lang="en-US" altLang="zh-CN" i="1" dirty="0">
                <a:latin typeface="Cambria" panose="02040503050406030204" charset="0"/>
                <a:ea typeface="汉仪中黑 197" panose="00020600040101010101" charset="-122"/>
              </a:rPr>
              <a:t>x</a:t>
            </a:r>
            <a:r>
              <a:rPr lang="en-US" altLang="zh-CN" baseline="-25000" dirty="0">
                <a:latin typeface="Cambria" panose="02040503050406030204" charset="0"/>
                <a:ea typeface="汉仪中黑 197" panose="00020600040101010101" charset="-122"/>
              </a:rPr>
              <a:t>2</a:t>
            </a:r>
            <a:r>
              <a:rPr lang="en-US" altLang="zh-CN" dirty="0">
                <a:latin typeface="Cambria" panose="02040503050406030204" charset="0"/>
                <a:ea typeface="汉仪中黑 197" panose="00020600040101010101" charset="-122"/>
              </a:rPr>
              <a:t>; …; </a:t>
            </a:r>
            <a:r>
              <a:rPr lang="en-US" altLang="zh-CN" i="1" dirty="0" err="1">
                <a:latin typeface="Cambria" panose="02040503050406030204" charset="0"/>
                <a:ea typeface="汉仪中黑 197" panose="00020600040101010101" charset="-122"/>
              </a:rPr>
              <a:t>x</a:t>
            </a:r>
            <a:r>
              <a:rPr lang="en-US" altLang="zh-CN" baseline="-25000" dirty="0" err="1">
                <a:latin typeface="Cambria" panose="02040503050406030204" charset="0"/>
                <a:ea typeface="汉仪中黑 197" panose="00020600040101010101" charset="-122"/>
              </a:rPr>
              <a:t>n</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表示空列表）；</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用 </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运算符拼接首元素 </a:t>
            </a:r>
            <a:r>
              <a:rPr lang="en-US" altLang="zh-CN" dirty="0">
                <a:latin typeface="Cambria" panose="02040503050406030204" charset="0"/>
                <a:ea typeface="汉仪中黑 197" panose="00020600040101010101" charset="-122"/>
              </a:rPr>
              <a:t>head </a:t>
            </a:r>
            <a:r>
              <a:rPr lang="zh-CN" altLang="en-US" dirty="0">
                <a:latin typeface="Cambria" panose="02040503050406030204" charset="0"/>
                <a:ea typeface="汉仪中黑 197" panose="00020600040101010101" charset="-122"/>
              </a:rPr>
              <a:t>和尾列表 </a:t>
            </a:r>
            <a:r>
              <a:rPr lang="en-US" altLang="zh-CN" dirty="0">
                <a:latin typeface="Cambria" panose="02040503050406030204" charset="0"/>
                <a:ea typeface="汉仪中黑 197" panose="00020600040101010101" charset="-122"/>
              </a:rPr>
              <a:t>tail</a:t>
            </a:r>
            <a:r>
              <a:rPr lang="zh-CN" altLang="en-US" dirty="0">
                <a:latin typeface="Cambria" panose="02040503050406030204" charset="0"/>
                <a:ea typeface="汉仪中黑 197" panose="00020600040101010101" charset="-122"/>
              </a:rPr>
              <a:t>；</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用 </a:t>
            </a:r>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运算符拼接两个列表。</a:t>
            </a:r>
            <a:endParaRPr lang="en-US" altLang="zh-CN" dirty="0">
              <a:latin typeface="Cambria" panose="02040503050406030204" charset="0"/>
              <a:ea typeface="汉仪中黑 197" panose="00020600040101010101" charset="-122"/>
            </a:endParaRPr>
          </a:p>
          <a:p>
            <a:r>
              <a:rPr lang="zh-CN" altLang="en-US" b="1" dirty="0">
                <a:latin typeface="Cambria" panose="02040503050406030204" charset="0"/>
                <a:ea typeface="汉仪中黑 197" panose="00020600040101010101" charset="-122"/>
              </a:rPr>
              <a:t>列表的性质：</a:t>
            </a:r>
            <a:endParaRPr lang="en-US" altLang="zh-CN" b="1"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所有元素必须是相同类型；</a:t>
            </a:r>
            <a:endParaRPr lang="en-US" altLang="zh-CN" dirty="0">
              <a:latin typeface="Cambria" panose="02040503050406030204" charset="0"/>
              <a:ea typeface="汉仪中黑 197" panose="00020600040101010101" charset="-122"/>
            </a:endParaRPr>
          </a:p>
          <a:p>
            <a:pPr lvl="2"/>
            <a:r>
              <a:rPr lang="zh-CN" altLang="en-US" b="1"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思考：</a:t>
            </a:r>
            <a:r>
              <a:rPr lang="en-US" altLang="zh-CN" sz="1400" dirty="0" err="1">
                <a:solidFill>
                  <a:schemeClr val="accent1"/>
                </a:solidFill>
                <a:latin typeface="Cascadia Code" panose="020B0609020000020004" pitchFamily="49" charset="0"/>
                <a:ea typeface="汉仪中黑 197" panose="00020600040101010101" charset="-122"/>
                <a:cs typeface="Cascadia Code" panose="020B0609020000020004" pitchFamily="49" charset="0"/>
              </a:rPr>
              <a:t>empty_lst</a:t>
            </a:r>
            <a:r>
              <a:rPr lang="en-US" altLang="zh-CN" sz="1400" dirty="0">
                <a:solidFill>
                  <a:schemeClr val="accent1"/>
                </a:solidFill>
                <a:latin typeface="Cascadia Code" panose="020B0609020000020004" pitchFamily="49" charset="0"/>
                <a:ea typeface="汉仪中黑 197" panose="00020600040101010101" charset="-122"/>
                <a:cs typeface="Cascadia Code" panose="020B0609020000020004" pitchFamily="49" charset="0"/>
              </a:rPr>
              <a:t> </a:t>
            </a:r>
            <a:r>
              <a:rPr lang="zh-CN" altLang="en-US" dirty="0">
                <a:solidFill>
                  <a:schemeClr val="accent1"/>
                </a:solidFill>
                <a:latin typeface="Cambria" panose="02040503050406030204" charset="0"/>
                <a:ea typeface="汉仪中黑 197" panose="00020600040101010101" charset="-122"/>
              </a:rPr>
              <a:t>的元素类型是什么？</a:t>
            </a:r>
            <a:endParaRPr lang="en-US" altLang="zh-CN" dirty="0">
              <a:latin typeface="Cambria" panose="02040503050406030204" charset="0"/>
              <a:ea typeface="汉仪中黑 197" panose="00020600040101010101" charset="-122"/>
            </a:endParaRPr>
          </a:p>
          <a:p>
            <a:pPr lvl="1"/>
            <a:r>
              <a:rPr lang="zh-CN" altLang="en-US" dirty="0">
                <a:latin typeface="Cambria" panose="02040503050406030204" charset="0"/>
                <a:ea typeface="汉仪中黑 197" panose="00020600040101010101" charset="-122"/>
              </a:rPr>
              <a:t>列表是不可变的，对列表的操作会返回新的列表而不是修改原列表。</a:t>
            </a:r>
            <a:endParaRPr lang="en-US" altLang="zh-CN" dirty="0">
              <a:latin typeface="Cambria" panose="02040503050406030204" charset="0"/>
              <a:ea typeface="汉仪中黑 197" panose="00020600040101010101" charset="-122"/>
            </a:endParaRPr>
          </a:p>
          <a:p>
            <a:r>
              <a:rPr lang="zh-CN" altLang="en-US" b="1" dirty="0">
                <a:latin typeface="Cambria" panose="02040503050406030204" charset="0"/>
                <a:ea typeface="汉仪中黑 197" panose="00020600040101010101" charset="-122"/>
              </a:rPr>
              <a:t>列表的模式匹配：</a:t>
            </a:r>
            <a:endParaRPr lang="en-US" altLang="zh-CN" b="1" dirty="0">
              <a:latin typeface="Cambria" panose="02040503050406030204" charset="0"/>
              <a:ea typeface="汉仪中黑 197" panose="00020600040101010101" charset="-122"/>
            </a:endParaRPr>
          </a:p>
          <a:p>
            <a:pPr lvl="1"/>
            <a:r>
              <a:rPr lang="en-US" altLang="zh-CN" dirty="0">
                <a:latin typeface="Cambria" panose="02040503050406030204" charset="0"/>
                <a:ea typeface="汉仪中黑 197" panose="00020600040101010101" charset="-122"/>
              </a:rPr>
              <a:t>[] </a:t>
            </a:r>
            <a:r>
              <a:rPr lang="zh-CN" altLang="en-US" dirty="0">
                <a:latin typeface="Cambria" panose="02040503050406030204" charset="0"/>
                <a:ea typeface="汉仪中黑 197" panose="00020600040101010101" charset="-122"/>
              </a:rPr>
              <a:t>匹配空列表；</a:t>
            </a:r>
            <a:endParaRPr lang="en-US" altLang="zh-CN" dirty="0">
              <a:latin typeface="Cambria" panose="02040503050406030204" charset="0"/>
              <a:ea typeface="汉仪中黑 197" panose="00020600040101010101" charset="-122"/>
            </a:endParaRPr>
          </a:p>
          <a:p>
            <a:pPr lvl="1"/>
            <a:r>
              <a:rPr lang="en-US" altLang="zh-CN" dirty="0">
                <a:latin typeface="Cambria" panose="02040503050406030204" charset="0"/>
                <a:ea typeface="汉仪中黑 197" panose="00020600040101010101" charset="-122"/>
              </a:rPr>
              <a:t>head :: tail </a:t>
            </a:r>
            <a:r>
              <a:rPr lang="zh-CN" altLang="en-US" dirty="0">
                <a:latin typeface="Cambria" panose="02040503050406030204" charset="0"/>
                <a:ea typeface="汉仪中黑 197" panose="00020600040101010101" charset="-122"/>
              </a:rPr>
              <a:t>将列表解构为 </a:t>
            </a:r>
            <a:r>
              <a:rPr lang="en-US" altLang="zh-CN" dirty="0">
                <a:latin typeface="Cambria" panose="02040503050406030204" charset="0"/>
                <a:ea typeface="汉仪中黑 197" panose="00020600040101010101" charset="-122"/>
              </a:rPr>
              <a:t>head </a:t>
            </a:r>
            <a:r>
              <a:rPr lang="zh-CN" altLang="en-US" dirty="0">
                <a:latin typeface="Cambria" panose="02040503050406030204" charset="0"/>
                <a:ea typeface="汉仪中黑 197" panose="00020600040101010101" charset="-122"/>
              </a:rPr>
              <a:t>元素和 </a:t>
            </a:r>
            <a:r>
              <a:rPr lang="en-US" altLang="zh-CN" dirty="0">
                <a:latin typeface="Cambria" panose="02040503050406030204" charset="0"/>
                <a:ea typeface="汉仪中黑 197" panose="00020600040101010101" charset="-122"/>
              </a:rPr>
              <a:t>tail </a:t>
            </a:r>
            <a:r>
              <a:rPr lang="zh-CN" altLang="en-US" dirty="0">
                <a:latin typeface="Cambria" panose="02040503050406030204" charset="0"/>
                <a:ea typeface="汉仪中黑 197" panose="00020600040101010101" charset="-122"/>
              </a:rPr>
              <a:t>列表。</a:t>
            </a:r>
            <a:endParaRPr lang="en-US" altLang="zh-CN" dirty="0">
              <a:latin typeface="Cambria" panose="02040503050406030204" charset="0"/>
              <a:ea typeface="汉仪中黑 197" panose="00020600040101010101" charset="-122"/>
            </a:endParaRPr>
          </a:p>
          <a:p>
            <a:pPr lvl="1"/>
            <a:r>
              <a:rPr lang="zh-CN" altLang="en-US" b="1" dirty="0">
                <a:solidFill>
                  <a:schemeClr val="accent1"/>
                </a:solidFill>
                <a:latin typeface="Cambria" panose="02040503050406030204" charset="0"/>
                <a:ea typeface="汉仪中黑 197" panose="00020600040101010101" charset="-122"/>
              </a:rPr>
              <a:t>思考：</a:t>
            </a:r>
            <a:r>
              <a:rPr lang="en-US" altLang="zh-CN" dirty="0">
                <a:solidFill>
                  <a:schemeClr val="accent1"/>
                </a:solidFill>
                <a:latin typeface="Cambria" panose="02040503050406030204" charset="0"/>
                <a:ea typeface="汉仪中黑 197" panose="00020600040101010101" charset="-122"/>
              </a:rPr>
              <a:t>sum </a:t>
            </a:r>
            <a:r>
              <a:rPr lang="zh-CN" altLang="en-US" dirty="0">
                <a:solidFill>
                  <a:schemeClr val="accent1"/>
                </a:solidFill>
                <a:latin typeface="Cambria" panose="02040503050406030204" charset="0"/>
                <a:ea typeface="汉仪中黑 197" panose="00020600040101010101" charset="-122"/>
              </a:rPr>
              <a:t>的类型签名是如何推导出来的？</a:t>
            </a:r>
            <a:endParaRPr lang="en-US" altLang="zh-CN" dirty="0">
              <a:solidFill>
                <a:schemeClr val="accent1"/>
              </a:solidFill>
              <a:latin typeface="Cambria" panose="02040503050406030204" charset="0"/>
              <a:ea typeface="汉仪中黑 197" panose="00020600040101010101" charset="-122"/>
            </a:endParaRPr>
          </a:p>
        </p:txBody>
      </p:sp>
      <p:pic>
        <p:nvPicPr>
          <p:cNvPr id="13" name="内容占位符 12">
            <a:extLst>
              <a:ext uri="{FF2B5EF4-FFF2-40B4-BE49-F238E27FC236}">
                <a16:creationId xmlns:a16="http://schemas.microsoft.com/office/drawing/2014/main" id="{1B0488A8-22C3-90EE-402D-5D89D15FDD2B}"/>
              </a:ext>
            </a:extLst>
          </p:cNvPr>
          <p:cNvPicPr>
            <a:picLocks noGrp="1" noChangeAspect="1"/>
          </p:cNvPicPr>
          <p:nvPr>
            <p:ph sz="half" idx="2"/>
          </p:nvPr>
        </p:nvPicPr>
        <p:blipFill>
          <a:blip r:embed="rId4"/>
          <a:stretch>
            <a:fillRect/>
          </a:stretch>
        </p:blipFill>
        <p:spPr>
          <a:xfrm>
            <a:off x="6813444" y="1567549"/>
            <a:ext cx="4134062" cy="4159464"/>
          </a:xfrm>
        </p:spPr>
      </p:pic>
    </p:spTree>
    <p:custDataLst>
      <p:tags r:id="rId1"/>
    </p:custDataLst>
    <p:extLst>
      <p:ext uri="{BB962C8B-B14F-4D97-AF65-F5344CB8AC3E}">
        <p14:creationId xmlns:p14="http://schemas.microsoft.com/office/powerpoint/2010/main" val="1185973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2C66-9735-7120-6763-E206728EE5B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2C2CCCA-60D2-408E-4225-4DDF9B9EBD9C}"/>
              </a:ext>
            </a:extLst>
          </p:cNvPr>
          <p:cNvSpPr txBox="1"/>
          <p:nvPr>
            <p:custDataLst>
              <p:tags r:id="rId2"/>
            </p:custDataLst>
          </p:nvPr>
        </p:nvSpPr>
        <p:spPr>
          <a:xfrm>
            <a:off x="3244850" y="2983230"/>
            <a:ext cx="1659890" cy="1106805"/>
          </a:xfrm>
          <a:prstGeom prst="rect">
            <a:avLst/>
          </a:prstGeom>
          <a:noFill/>
        </p:spPr>
        <p:txBody>
          <a:bodyPr wrap="square" rtlCol="0" anchor="ctr" anchorCtr="0">
            <a:normAutofit/>
          </a:bodyPr>
          <a:lstStyle/>
          <a:p>
            <a:pPr algn="ctr"/>
            <a:r>
              <a:rPr lang="en-US" altLang="zh-CN" sz="6600" b="1" spc="200" dirty="0">
                <a:solidFill>
                  <a:schemeClr val="accent1">
                    <a:lumMod val="50000"/>
                  </a:schemeClr>
                </a:solidFill>
                <a:latin typeface="Cambria" panose="02040503050406030204" charset="0"/>
                <a:ea typeface="汉仪中黑 197" panose="00020600040101010101" charset="-122"/>
                <a:cs typeface="Arial" panose="020B0604020202020204" pitchFamily="34" charset="0"/>
              </a:rPr>
              <a:t>04</a:t>
            </a:r>
          </a:p>
        </p:txBody>
      </p:sp>
      <p:sp>
        <p:nvSpPr>
          <p:cNvPr id="2" name="文本框 1">
            <a:extLst>
              <a:ext uri="{FF2B5EF4-FFF2-40B4-BE49-F238E27FC236}">
                <a16:creationId xmlns:a16="http://schemas.microsoft.com/office/drawing/2014/main" id="{15C75324-16F9-C17E-D436-13B175C2AA42}"/>
              </a:ext>
            </a:extLst>
          </p:cNvPr>
          <p:cNvSpPr txBox="1"/>
          <p:nvPr>
            <p:custDataLst>
              <p:tags r:id="rId3"/>
            </p:custDataLst>
          </p:nvPr>
        </p:nvSpPr>
        <p:spPr>
          <a:xfrm>
            <a:off x="3244850" y="2712085"/>
            <a:ext cx="1659890" cy="338455"/>
          </a:xfrm>
          <a:prstGeom prst="rect">
            <a:avLst/>
          </a:prstGeom>
          <a:noFill/>
        </p:spPr>
        <p:txBody>
          <a:bodyPr wrap="square" lIns="0" tIns="0" rIns="0" bIns="0" rtlCol="0" anchor="b" anchorCtr="0">
            <a:normAutofit/>
          </a:bodyPr>
          <a:lstStyle/>
          <a:p>
            <a:pPr algn="ctr"/>
            <a:r>
              <a:rPr lang="en-US" altLang="zh-CN" b="1" spc="200" dirty="0">
                <a:solidFill>
                  <a:schemeClr val="accent1">
                    <a:lumMod val="50000"/>
                  </a:schemeClr>
                </a:solidFill>
                <a:latin typeface="Cambria" panose="02040503050406030204" charset="0"/>
                <a:ea typeface="汉仪中黑 197" panose="00020600040101010101" charset="-122"/>
                <a:sym typeface="+mn-ea"/>
              </a:rPr>
              <a:t>PART FOUR</a:t>
            </a:r>
          </a:p>
        </p:txBody>
      </p:sp>
      <p:cxnSp>
        <p:nvCxnSpPr>
          <p:cNvPr id="12" name="直接连接符 11">
            <a:extLst>
              <a:ext uri="{FF2B5EF4-FFF2-40B4-BE49-F238E27FC236}">
                <a16:creationId xmlns:a16="http://schemas.microsoft.com/office/drawing/2014/main" id="{37A68697-7B61-741E-6684-7FF9C0A8FE64}"/>
              </a:ext>
            </a:extLst>
          </p:cNvPr>
          <p:cNvCxnSpPr/>
          <p:nvPr>
            <p:custDataLst>
              <p:tags r:id="rId4"/>
            </p:custDataLst>
          </p:nvPr>
        </p:nvCxnSpPr>
        <p:spPr>
          <a:xfrm>
            <a:off x="3390900" y="4088765"/>
            <a:ext cx="1367790" cy="0"/>
          </a:xfrm>
          <a:prstGeom prst="line">
            <a:avLst/>
          </a:prstGeom>
          <a:noFill/>
          <a:ln w="19050" cap="flat" cmpd="sng" algn="ctr">
            <a:solidFill>
              <a:schemeClr val="accent1"/>
            </a:solidFill>
            <a:prstDash val="solid"/>
            <a:miter lim="800000"/>
          </a:ln>
          <a:effectLst/>
        </p:spPr>
      </p:cxnSp>
      <p:sp>
        <p:nvSpPr>
          <p:cNvPr id="10" name="Title 2">
            <a:extLst>
              <a:ext uri="{FF2B5EF4-FFF2-40B4-BE49-F238E27FC236}">
                <a16:creationId xmlns:a16="http://schemas.microsoft.com/office/drawing/2014/main" id="{271BA61F-189A-28A3-DBA7-31CEABB9B2A8}"/>
              </a:ext>
            </a:extLst>
          </p:cNvPr>
          <p:cNvSpPr>
            <a:spLocks noGrp="1"/>
          </p:cNvSpPr>
          <p:nvPr>
            <p:ph type="ctrTitle" idx="14"/>
            <p:custDataLst>
              <p:tags r:id="rId5"/>
            </p:custDataLst>
          </p:nvPr>
        </p:nvSpPr>
        <p:spPr>
          <a:xfrm>
            <a:off x="5084446" y="3050540"/>
            <a:ext cx="5767705" cy="835660"/>
          </a:xfrm>
        </p:spPr>
        <p:txBody>
          <a:bodyPr vert="horz" wrap="square" lIns="0" tIns="0" rIns="0" bIns="0" rtlCol="0" anchor="b" anchorCtr="0">
            <a:normAutofit/>
          </a:bodyPr>
          <a:lstStyle/>
          <a:p>
            <a:pPr algn="dist"/>
            <a:r>
              <a:rPr lang="en-US" dirty="0">
                <a:solidFill>
                  <a:schemeClr val="accent1">
                    <a:lumMod val="50000"/>
                  </a:schemeClr>
                </a:solidFill>
                <a:latin typeface="Cambria" panose="02040503050406030204" charset="0"/>
                <a:ea typeface="汉仪中黑 197" panose="00020600040101010101" charset="-122"/>
              </a:rPr>
              <a:t>OCaml </a:t>
            </a:r>
            <a:r>
              <a:rPr dirty="0">
                <a:solidFill>
                  <a:schemeClr val="accent1">
                    <a:lumMod val="50000"/>
                  </a:schemeClr>
                </a:solidFill>
                <a:latin typeface="Cambria" panose="02040503050406030204" charset="0"/>
                <a:ea typeface="汉仪中黑 197" panose="00020600040101010101" charset="-122"/>
              </a:rPr>
              <a:t>编程练习</a:t>
            </a:r>
          </a:p>
        </p:txBody>
      </p:sp>
    </p:spTree>
    <p:custDataLst>
      <p:tags r:id="rId1"/>
    </p:custDataLst>
    <p:extLst>
      <p:ext uri="{BB962C8B-B14F-4D97-AF65-F5344CB8AC3E}">
        <p14:creationId xmlns:p14="http://schemas.microsoft.com/office/powerpoint/2010/main" val="2414635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4FAD0-40AB-002A-34AC-32543E86D8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DBBEB6-FE72-1488-94B0-622AFEA4606B}"/>
              </a:ext>
            </a:extLst>
          </p:cNvPr>
          <p:cNvSpPr>
            <a:spLocks noGrp="1"/>
          </p:cNvSpPr>
          <p:nvPr>
            <p:ph type="title"/>
          </p:nvPr>
        </p:nvSpPr>
        <p:spPr/>
        <p:txBody>
          <a:bodyPr>
            <a:normAutofit fontScale="90000"/>
          </a:bodyPr>
          <a:lstStyle/>
          <a:p>
            <a:r>
              <a:rPr lang="en-US" altLang="zh-CN" dirty="0">
                <a:latin typeface="Cambria" panose="02040503050406030204" charset="0"/>
                <a:ea typeface="汉仪中黑 197" panose="00020600040101010101" charset="-122"/>
              </a:rPr>
              <a:t>OCaml </a:t>
            </a:r>
            <a:r>
              <a:rPr lang="zh-CN" altLang="en-US" dirty="0">
                <a:latin typeface="Cambria" panose="02040503050406030204" charset="0"/>
                <a:ea typeface="汉仪中黑 197" panose="00020600040101010101" charset="-122"/>
              </a:rPr>
              <a:t>基础编程练习</a:t>
            </a:r>
            <a:endParaRPr lang="en-US" altLang="zh-CN" dirty="0">
              <a:latin typeface="Cambria" panose="02040503050406030204" charset="0"/>
              <a:ea typeface="汉仪中黑 197" panose="00020600040101010101" charset="-122"/>
            </a:endParaRPr>
          </a:p>
        </p:txBody>
      </p:sp>
      <p:sp>
        <p:nvSpPr>
          <p:cNvPr id="3" name="内容占位符 2">
            <a:extLst>
              <a:ext uri="{FF2B5EF4-FFF2-40B4-BE49-F238E27FC236}">
                <a16:creationId xmlns:a16="http://schemas.microsoft.com/office/drawing/2014/main" id="{EE7B0C79-AE71-22AD-31E3-4192BB5607B9}"/>
              </a:ext>
            </a:extLst>
          </p:cNvPr>
          <p:cNvSpPr>
            <a:spLocks noGrp="1"/>
          </p:cNvSpPr>
          <p:nvPr>
            <p:ph idx="1"/>
          </p:nvPr>
        </p:nvSpPr>
        <p:spPr>
          <a:xfrm>
            <a:off x="669882" y="952509"/>
            <a:ext cx="10852237" cy="441964"/>
          </a:xfrm>
        </p:spPr>
        <p:txBody>
          <a:bodyPr/>
          <a:lstStyle/>
          <a:p>
            <a:r>
              <a:rPr lang="zh-CN" altLang="en-US" dirty="0">
                <a:latin typeface="Cambria" panose="02040503050406030204" charset="0"/>
                <a:ea typeface="汉仪中黑 197" panose="00020600040101010101" charset="-122"/>
              </a:rPr>
              <a:t>完成讲义第 </a:t>
            </a:r>
            <a:r>
              <a:rPr lang="en-US" altLang="zh-CN" dirty="0">
                <a:latin typeface="Cambria" panose="02040503050406030204" charset="0"/>
                <a:ea typeface="汉仪中黑 197" panose="00020600040101010101" charset="-122"/>
              </a:rPr>
              <a:t>4 </a:t>
            </a:r>
            <a:r>
              <a:rPr lang="zh-CN" altLang="en-US" dirty="0">
                <a:latin typeface="Cambria" panose="02040503050406030204" charset="0"/>
                <a:ea typeface="汉仪中黑 197" panose="00020600040101010101" charset="-122"/>
              </a:rPr>
              <a:t>节中的练习题，下课前找助教验收。讲义上有完成练习所需的必要知识。</a:t>
            </a:r>
          </a:p>
        </p:txBody>
      </p:sp>
      <p:sp>
        <p:nvSpPr>
          <p:cNvPr id="6" name="内容占位符 2">
            <a:extLst>
              <a:ext uri="{FF2B5EF4-FFF2-40B4-BE49-F238E27FC236}">
                <a16:creationId xmlns:a16="http://schemas.microsoft.com/office/drawing/2014/main" id="{08932915-CF6D-A672-213D-33DE6CD1C4BA}"/>
              </a:ext>
            </a:extLst>
          </p:cNvPr>
          <p:cNvSpPr txBox="1">
            <a:spLocks/>
          </p:cNvSpPr>
          <p:nvPr/>
        </p:nvSpPr>
        <p:spPr>
          <a:xfrm>
            <a:off x="669881" y="4324349"/>
            <a:ext cx="10852237" cy="2017065"/>
          </a:xfrm>
          <a:prstGeom prst="rect">
            <a:avLst/>
          </a:prstGeo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latin typeface="Cambria" panose="02040503050406030204" charset="0"/>
                <a:ea typeface="汉仪中黑 197" panose="00020600040101010101" charset="-122"/>
              </a:rPr>
              <a:t>验收要求：</a:t>
            </a:r>
          </a:p>
          <a:p>
            <a:pPr lvl="1"/>
            <a:r>
              <a:rPr lang="zh-CN" altLang="en-US" dirty="0">
                <a:latin typeface="Cambria" panose="02040503050406030204" charset="0"/>
                <a:ea typeface="汉仪中黑 197" panose="00020600040101010101" charset="-122"/>
              </a:rPr>
              <a:t>代码没有编译错误，并可以运行得到正确结果；</a:t>
            </a:r>
          </a:p>
          <a:p>
            <a:pPr lvl="1"/>
            <a:r>
              <a:rPr lang="zh-CN" altLang="en-US" dirty="0">
                <a:latin typeface="Cambria" panose="02040503050406030204" charset="0"/>
                <a:ea typeface="汉仪中黑 197" panose="00020600040101010101" charset="-122"/>
              </a:rPr>
              <a:t>能说出每段代码的思路和来由（验收不是打分形式，只是避免一知半解的状况） 。</a:t>
            </a:r>
            <a:endParaRPr lang="en-US" altLang="zh-CN" dirty="0">
              <a:latin typeface="Cambria" panose="02040503050406030204" charset="0"/>
              <a:ea typeface="汉仪中黑 197" panose="00020600040101010101" charset="-122"/>
            </a:endParaRPr>
          </a:p>
          <a:p>
            <a:r>
              <a:rPr lang="zh-CN" altLang="en-US" dirty="0">
                <a:latin typeface="Cambria" panose="02040503050406030204" charset="0"/>
                <a:ea typeface="汉仪中黑 197" panose="00020600040101010101" charset="-122"/>
              </a:rPr>
              <a:t>助教欢迎大家随时来提问。</a:t>
            </a:r>
          </a:p>
        </p:txBody>
      </p:sp>
      <p:pic>
        <p:nvPicPr>
          <p:cNvPr id="7" name="图片 6">
            <a:extLst>
              <a:ext uri="{FF2B5EF4-FFF2-40B4-BE49-F238E27FC236}">
                <a16:creationId xmlns:a16="http://schemas.microsoft.com/office/drawing/2014/main" id="{FF5FF505-1B8F-998E-F1AF-668118A76B09}"/>
              </a:ext>
            </a:extLst>
          </p:cNvPr>
          <p:cNvPicPr>
            <a:picLocks noChangeAspect="1"/>
          </p:cNvPicPr>
          <p:nvPr/>
        </p:nvPicPr>
        <p:blipFill>
          <a:blip r:embed="rId4"/>
          <a:stretch>
            <a:fillRect/>
          </a:stretch>
        </p:blipFill>
        <p:spPr>
          <a:xfrm>
            <a:off x="955511" y="1461784"/>
            <a:ext cx="6369377" cy="1320868"/>
          </a:xfrm>
          <a:prstGeom prst="rect">
            <a:avLst/>
          </a:prstGeom>
        </p:spPr>
      </p:pic>
      <p:pic>
        <p:nvPicPr>
          <p:cNvPr id="9" name="图片 8">
            <a:extLst>
              <a:ext uri="{FF2B5EF4-FFF2-40B4-BE49-F238E27FC236}">
                <a16:creationId xmlns:a16="http://schemas.microsoft.com/office/drawing/2014/main" id="{A7667692-6A57-F5EB-0C2B-E633F9C91293}"/>
              </a:ext>
            </a:extLst>
          </p:cNvPr>
          <p:cNvPicPr>
            <a:picLocks noChangeAspect="1"/>
          </p:cNvPicPr>
          <p:nvPr/>
        </p:nvPicPr>
        <p:blipFill>
          <a:blip r:embed="rId5"/>
          <a:stretch>
            <a:fillRect/>
          </a:stretch>
        </p:blipFill>
        <p:spPr>
          <a:xfrm>
            <a:off x="955510" y="2782652"/>
            <a:ext cx="6369377" cy="1479424"/>
          </a:xfrm>
          <a:prstGeom prst="rect">
            <a:avLst/>
          </a:prstGeom>
        </p:spPr>
      </p:pic>
    </p:spTree>
    <p:custDataLst>
      <p:tags r:id="rId1"/>
    </p:custDataLst>
    <p:extLst>
      <p:ext uri="{BB962C8B-B14F-4D97-AF65-F5344CB8AC3E}">
        <p14:creationId xmlns:p14="http://schemas.microsoft.com/office/powerpoint/2010/main" val="167453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3B3C8-ED40-D5B4-E186-F40D3A21933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1B8F234-3666-71E5-8CB9-B1D1F7683709}"/>
              </a:ext>
            </a:extLst>
          </p:cNvPr>
          <p:cNvSpPr txBox="1"/>
          <p:nvPr>
            <p:custDataLst>
              <p:tags r:id="rId2"/>
            </p:custDataLst>
          </p:nvPr>
        </p:nvSpPr>
        <p:spPr>
          <a:xfrm>
            <a:off x="3244850" y="2983230"/>
            <a:ext cx="1659890" cy="1106805"/>
          </a:xfrm>
          <a:prstGeom prst="rect">
            <a:avLst/>
          </a:prstGeom>
          <a:noFill/>
        </p:spPr>
        <p:txBody>
          <a:bodyPr wrap="square" rtlCol="0" anchor="ctr" anchorCtr="0">
            <a:normAutofit/>
          </a:bodyPr>
          <a:lstStyle/>
          <a:p>
            <a:pPr algn="ctr"/>
            <a:r>
              <a:rPr lang="en-US" altLang="zh-CN" sz="6600" b="1" spc="200" dirty="0">
                <a:solidFill>
                  <a:schemeClr val="accent1">
                    <a:lumMod val="50000"/>
                  </a:schemeClr>
                </a:solidFill>
                <a:latin typeface="Cambria" panose="02040503050406030204" charset="0"/>
                <a:ea typeface="汉仪中黑 197" panose="00020600040101010101" charset="-122"/>
                <a:cs typeface="Arial" panose="020B0604020202020204" pitchFamily="34" charset="0"/>
              </a:rPr>
              <a:t>05</a:t>
            </a:r>
          </a:p>
        </p:txBody>
      </p:sp>
      <p:sp>
        <p:nvSpPr>
          <p:cNvPr id="2" name="文本框 1">
            <a:extLst>
              <a:ext uri="{FF2B5EF4-FFF2-40B4-BE49-F238E27FC236}">
                <a16:creationId xmlns:a16="http://schemas.microsoft.com/office/drawing/2014/main" id="{3F149CC9-3245-4871-E725-3E4E5A4D81A1}"/>
              </a:ext>
            </a:extLst>
          </p:cNvPr>
          <p:cNvSpPr txBox="1"/>
          <p:nvPr>
            <p:custDataLst>
              <p:tags r:id="rId3"/>
            </p:custDataLst>
          </p:nvPr>
        </p:nvSpPr>
        <p:spPr>
          <a:xfrm>
            <a:off x="3244850" y="2712085"/>
            <a:ext cx="1659890" cy="338455"/>
          </a:xfrm>
          <a:prstGeom prst="rect">
            <a:avLst/>
          </a:prstGeom>
          <a:noFill/>
        </p:spPr>
        <p:txBody>
          <a:bodyPr wrap="square" lIns="0" tIns="0" rIns="0" bIns="0" rtlCol="0" anchor="b" anchorCtr="0">
            <a:normAutofit/>
          </a:bodyPr>
          <a:lstStyle/>
          <a:p>
            <a:pPr algn="ctr"/>
            <a:r>
              <a:rPr lang="en-US" altLang="zh-CN" b="1" spc="200" dirty="0">
                <a:solidFill>
                  <a:schemeClr val="accent1">
                    <a:lumMod val="50000"/>
                  </a:schemeClr>
                </a:solidFill>
                <a:latin typeface="Cambria" panose="02040503050406030204" charset="0"/>
                <a:ea typeface="汉仪中黑 197" panose="00020600040101010101" charset="-122"/>
                <a:sym typeface="+mn-ea"/>
              </a:rPr>
              <a:t>PART FIVE</a:t>
            </a:r>
          </a:p>
        </p:txBody>
      </p:sp>
      <p:cxnSp>
        <p:nvCxnSpPr>
          <p:cNvPr id="12" name="直接连接符 11">
            <a:extLst>
              <a:ext uri="{FF2B5EF4-FFF2-40B4-BE49-F238E27FC236}">
                <a16:creationId xmlns:a16="http://schemas.microsoft.com/office/drawing/2014/main" id="{6CE67F48-40D4-1F6E-FAA3-81C8218D75B9}"/>
              </a:ext>
            </a:extLst>
          </p:cNvPr>
          <p:cNvCxnSpPr/>
          <p:nvPr>
            <p:custDataLst>
              <p:tags r:id="rId4"/>
            </p:custDataLst>
          </p:nvPr>
        </p:nvCxnSpPr>
        <p:spPr>
          <a:xfrm>
            <a:off x="3390900" y="4088765"/>
            <a:ext cx="1367790" cy="0"/>
          </a:xfrm>
          <a:prstGeom prst="line">
            <a:avLst/>
          </a:prstGeom>
          <a:noFill/>
          <a:ln w="19050" cap="flat" cmpd="sng" algn="ctr">
            <a:solidFill>
              <a:schemeClr val="accent1"/>
            </a:solidFill>
            <a:prstDash val="solid"/>
            <a:miter lim="800000"/>
          </a:ln>
          <a:effectLst/>
        </p:spPr>
      </p:cxnSp>
      <p:sp>
        <p:nvSpPr>
          <p:cNvPr id="10" name="Title 2">
            <a:extLst>
              <a:ext uri="{FF2B5EF4-FFF2-40B4-BE49-F238E27FC236}">
                <a16:creationId xmlns:a16="http://schemas.microsoft.com/office/drawing/2014/main" id="{C4221553-3BAF-61CD-E1D6-534A9F1C82AF}"/>
              </a:ext>
            </a:extLst>
          </p:cNvPr>
          <p:cNvSpPr>
            <a:spLocks noGrp="1"/>
          </p:cNvSpPr>
          <p:nvPr>
            <p:ph type="ctrTitle" idx="14"/>
            <p:custDataLst>
              <p:tags r:id="rId5"/>
            </p:custDataLst>
          </p:nvPr>
        </p:nvSpPr>
        <p:spPr>
          <a:xfrm>
            <a:off x="5084446" y="3050540"/>
            <a:ext cx="5767705" cy="835660"/>
          </a:xfrm>
        </p:spPr>
        <p:txBody>
          <a:bodyPr vert="horz" wrap="square" lIns="0" tIns="0" rIns="0" bIns="0" rtlCol="0" anchor="b" anchorCtr="0">
            <a:normAutofit/>
          </a:bodyPr>
          <a:lstStyle/>
          <a:p>
            <a:pPr algn="dist"/>
            <a:r>
              <a:rPr lang="zh-CN" altLang="en-US" dirty="0">
                <a:solidFill>
                  <a:schemeClr val="accent1">
                    <a:lumMod val="50000"/>
                  </a:schemeClr>
                </a:solidFill>
                <a:latin typeface="Cambria" panose="02040503050406030204" charset="0"/>
                <a:ea typeface="汉仪中黑 197" panose="00020600040101010101" charset="-122"/>
              </a:rPr>
              <a:t>练习题参考解答</a:t>
            </a:r>
            <a:endParaRPr dirty="0">
              <a:solidFill>
                <a:schemeClr val="accent1">
                  <a:lumMod val="50000"/>
                </a:schemeClr>
              </a:solidFill>
              <a:latin typeface="Cambria" panose="02040503050406030204" charset="0"/>
              <a:ea typeface="汉仪中黑 197" panose="00020600040101010101" charset="-122"/>
            </a:endParaRPr>
          </a:p>
        </p:txBody>
      </p:sp>
    </p:spTree>
    <p:custDataLst>
      <p:tags r:id="rId1"/>
    </p:custDataLst>
    <p:extLst>
      <p:ext uri="{BB962C8B-B14F-4D97-AF65-F5344CB8AC3E}">
        <p14:creationId xmlns:p14="http://schemas.microsoft.com/office/powerpoint/2010/main" val="538684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1D28A33-75C1-DCA9-7071-33614A3186D3}"/>
              </a:ext>
            </a:extLst>
          </p:cNvPr>
          <p:cNvPicPr>
            <a:picLocks noChangeAspect="1"/>
          </p:cNvPicPr>
          <p:nvPr/>
        </p:nvPicPr>
        <p:blipFill>
          <a:blip r:embed="rId2"/>
          <a:stretch>
            <a:fillRect/>
          </a:stretch>
        </p:blipFill>
        <p:spPr>
          <a:xfrm>
            <a:off x="2190025" y="0"/>
            <a:ext cx="7811950" cy="6858000"/>
          </a:xfrm>
          <a:prstGeom prst="rect">
            <a:avLst/>
          </a:prstGeom>
        </p:spPr>
      </p:pic>
    </p:spTree>
    <p:extLst>
      <p:ext uri="{BB962C8B-B14F-4D97-AF65-F5344CB8AC3E}">
        <p14:creationId xmlns:p14="http://schemas.microsoft.com/office/powerpoint/2010/main" val="3145737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ECF3302-54D0-517E-0E89-380863B2EB94}"/>
              </a:ext>
            </a:extLst>
          </p:cNvPr>
          <p:cNvPicPr>
            <a:picLocks noChangeAspect="1"/>
          </p:cNvPicPr>
          <p:nvPr/>
        </p:nvPicPr>
        <p:blipFill>
          <a:blip r:embed="rId2"/>
          <a:stretch>
            <a:fillRect/>
          </a:stretch>
        </p:blipFill>
        <p:spPr>
          <a:xfrm>
            <a:off x="856981" y="301464"/>
            <a:ext cx="10478038" cy="6255071"/>
          </a:xfrm>
          <a:prstGeom prst="rect">
            <a:avLst/>
          </a:prstGeom>
        </p:spPr>
      </p:pic>
    </p:spTree>
    <p:extLst>
      <p:ext uri="{BB962C8B-B14F-4D97-AF65-F5344CB8AC3E}">
        <p14:creationId xmlns:p14="http://schemas.microsoft.com/office/powerpoint/2010/main" val="2254249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C9B64D0-4DCA-164D-4AEB-4DE0AA530984}"/>
              </a:ext>
            </a:extLst>
          </p:cNvPr>
          <p:cNvPicPr>
            <a:picLocks noChangeAspect="1"/>
          </p:cNvPicPr>
          <p:nvPr/>
        </p:nvPicPr>
        <p:blipFill>
          <a:blip r:embed="rId2"/>
          <a:stretch>
            <a:fillRect/>
          </a:stretch>
        </p:blipFill>
        <p:spPr>
          <a:xfrm>
            <a:off x="920484" y="577703"/>
            <a:ext cx="10351032" cy="5702593"/>
          </a:xfrm>
          <a:prstGeom prst="rect">
            <a:avLst/>
          </a:prstGeom>
        </p:spPr>
      </p:pic>
    </p:spTree>
    <p:extLst>
      <p:ext uri="{BB962C8B-B14F-4D97-AF65-F5344CB8AC3E}">
        <p14:creationId xmlns:p14="http://schemas.microsoft.com/office/powerpoint/2010/main" val="1037808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D6A5E40-2325-2BD7-F876-4B0A0BEB815D}"/>
              </a:ext>
            </a:extLst>
          </p:cNvPr>
          <p:cNvPicPr>
            <a:picLocks noChangeAspect="1"/>
          </p:cNvPicPr>
          <p:nvPr/>
        </p:nvPicPr>
        <p:blipFill>
          <a:blip r:embed="rId2"/>
          <a:stretch>
            <a:fillRect/>
          </a:stretch>
        </p:blipFill>
        <p:spPr>
          <a:xfrm>
            <a:off x="1586210" y="0"/>
            <a:ext cx="9019579" cy="6858000"/>
          </a:xfrm>
          <a:prstGeom prst="rect">
            <a:avLst/>
          </a:prstGeom>
        </p:spPr>
      </p:pic>
    </p:spTree>
    <p:extLst>
      <p:ext uri="{BB962C8B-B14F-4D97-AF65-F5344CB8AC3E}">
        <p14:creationId xmlns:p14="http://schemas.microsoft.com/office/powerpoint/2010/main" val="16828940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c3M2Y5NzIzMDFlZjAyY2Q4Njk5ODkyYjFjNzBiNTQifQ=="/>
  <p:tag name="FULLTEXTBEAUTIFYED"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0"/>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0"/>
  <p:tag name="KSO_WM_TEMPLATE_SUBCATEGORY" val="0"/>
  <p:tag name="KSO_WM_TEMPLATE_MASTER_TYPE" val="1"/>
  <p:tag name="KSO_WM_TEMPLATE_COLOR_TYPE" val="1"/>
  <p:tag name="KSO_WM_TEMPLATE_MASTER_THUMB_INDEX" val="12"/>
  <p:tag name="KSO_WM_TEMPLATE_THUMBS_INDEX" val="1、4、7、9、12、16、17、18、20、23、26、31、33"/>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y"/>
  <p:tag name="KSO_WM_UNIT_INDEX" val="1"/>
  <p:tag name="KSO_WM_UNIT_ID" val="_1*y*1"/>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0"/>
  <p:tag name="KSO_WM_UNIT_ID" val="_13*i*0"/>
  <p:tag name="KSO_WM_UNIT_BK_DARK_LIGHT" val="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0"/>
  <p:tag name="KSO_WM_UNIT_ID" val="_15*i*0"/>
  <p:tag name="KSO_WM_UNIT_BK_DARK_LIGHT" val="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0"/>
  <p:tag name="KSO_WM_UNIT_ID" val="_17*i*0"/>
  <p:tag name="KSO_WM_UNIT_BK_DARK_LIGHT" val="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0"/>
  <p:tag name="KSO_WM_UNIT_ID" val="_18*i*0"/>
  <p:tag name="KSO_WM_UNIT_BK_DARK_LIGHT" val="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80946_1"/>
  <p:tag name="KSO_WM_TEMPLATE_CATEGORY" val="custom"/>
  <p:tag name="KSO_WM_TEMPLATE_INDEX" val="20204420"/>
  <p:tag name="KSO_WM_SLIDE_ID" val="custom20204420_1"/>
  <p:tag name="KSO_WM_SLIDE_INDEX" val="1"/>
  <p:tag name="KSO_WM_TEMPLATE_SUBCATEGORY" val="0"/>
  <p:tag name="KSO_WM_TEMPLATE_THUMBS_INDEX" val="1、4、7、9、12、16、17、19、22、25、29、32"/>
  <p:tag name="KSO_WM_TEMPLATE_TOPIC_ID" val="2869567"/>
  <p:tag name="KSO_WM_TEMPLATE_OUTLINE_ID" val="15"/>
  <p:tag name="KSO_WM_TEMPLATE_SCENE_ID" val="1"/>
  <p:tag name="KSO_WM_TEMPLATE_JOB_ID" val="2"/>
  <p:tag name="KSO_WM_TEMPLATE_TOPIC_DEFAULT" val="1"/>
  <p:tag name="KSO_WM_SLIDE_SUBTYPE" val="pureTxt"/>
  <p:tag name="KSO_WM_TEMPLATE_MASTER_TYPE" val="1"/>
  <p:tag name="KSO_WM_TEMPLATE_COLOR_TYPE" val="1"/>
  <p:tag name="KSO_WM_TEMPLATE_MASTER_THUMB_INDEX" val="12"/>
</p:tagLst>
</file>

<file path=ppt/tags/tag14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个人工作汇报"/>
  <p:tag name="KSO_WM_TEMPLATE_CATEGORY" val="custom"/>
  <p:tag name="KSO_WM_TEMPLATE_INDEX" val="20204420"/>
  <p:tag name="KSO_WM_UNIT_ID" val="custom20204420_1*a*1"/>
  <p:tag name="KSO_WM_UNIT_TEXT_FILL_FORE_SCHEMECOLOR_INDEX_BRIGHTNESS" val="0.15"/>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LAYERLEVEL" val="1"/>
  <p:tag name="KSO_WM_TAG_VERSION" val="1.0"/>
  <p:tag name="KSO_WM_BEAUTIFY_FLAG" val="#wm#"/>
  <p:tag name="KSO_WM_UNIT_PRESET_TEXT" val="单击此处添加副标题内容"/>
  <p:tag name="KSO_WM_TEMPLATE_CATEGORY" val="custom"/>
  <p:tag name="KSO_WM_TEMPLATE_INDEX" val="20204420"/>
  <p:tag name="KSO_WM_UNIT_ID" val="custom20204420_1*b*1"/>
  <p:tag name="KSO_WM_UNIT_TEXT_FILL_FORE_SCHEMECOLOR_INDEX_BRIGHTNESS" val="0.35"/>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_e"/>
  <p:tag name="KSO_WM_SLIDE_LAYOUT_CNT" val="1_1_1"/>
  <p:tag name="KSO_WM_SLIDE_TYPE" val="sectionTitle"/>
  <p:tag name="KSO_WM_BEAUTIFY_FLAG" val="#wm#"/>
  <p:tag name="KSO_WM_COMBINE_RELATE_SLIDE_ID" val="background20180946_6"/>
  <p:tag name="KSO_WM_TEMPLATE_CATEGORY" val="custom"/>
  <p:tag name="KSO_WM_TEMPLATE_INDEX" val="20204420"/>
  <p:tag name="KSO_WM_SLIDE_ID" val="custom20204420_7"/>
  <p:tag name="KSO_WM_SLIDE_INDEX" val="7"/>
  <p:tag name="KSO_WM_TEMPLATE_SUBCATEGORY" val="0"/>
  <p:tag name="KSO_WM_SLIDE_SUBTYPE" val="pureTxt"/>
  <p:tag name="KSO_WM_TEMPLATE_MASTER_TYPE" val="1"/>
  <p:tag name="KSO_WM_TEMPLATE_COLOR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420"/>
  <p:tag name="KSO_WM_UNIT_ID" val="custom20204420_7*e*1"/>
  <p:tag name="KSO_WM_UNIT_TEXT_FILL_FORE_SCHEMECOLOR_INDEX_BRIGHTNESS" val="0"/>
  <p:tag name="KSO_WM_UNIT_TEXT_FILL_FORE_SCHEMECOLOR_INDEX" val="5"/>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NOCLEAR" val="0"/>
  <p:tag name="KSO_WM_UNIT_SHOW_EDIT_AREA_INDICATION" val="0"/>
  <p:tag name="KSO_WM_UNIT_TYPE" val="i"/>
  <p:tag name="KSO_WM_UNIT_INDEX" val="1"/>
  <p:tag name="KSO_WM_TEMPLATE_CATEGORY" val="custom"/>
  <p:tag name="KSO_WM_TEMPLATE_INDEX" val="20204420"/>
  <p:tag name="KSO_WM_UNIT_ID" val="custom20204420_7*i*1"/>
  <p:tag name="KSO_WM_UNIT_TEXT_FILL_FORE_SCHEMECOLOR_INDEX_BRIGHTNESS" val="0"/>
  <p:tag name="KSO_WM_UNIT_TEXT_FILL_FORE_SCHEMECOLOR_INDEX" val="5"/>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i"/>
  <p:tag name="KSO_WM_UNIT_INDEX" val="2"/>
  <p:tag name="KSO_WM_TEMPLATE_CATEGORY" val="custom"/>
  <p:tag name="KSO_WM_TEMPLATE_INDEX" val="20204420"/>
  <p:tag name="KSO_WM_UNIT_ID" val="custom20204420_7*i*2"/>
  <p:tag name="KSO_WM_UNIT_LINE_FORE_SCHEMECOLOR_INDEX_BRIGHTNESS" val="0"/>
  <p:tag name="KSO_WM_UNIT_LINE_FORE_SCHEMECOLOR_INDEX" val="5"/>
  <p:tag name="KSO_WM_UNIT_LINE_FILL_TYPE" val="2"/>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添加大标题"/>
  <p:tag name="KSO_WM_TEMPLATE_CATEGORY" val="custom"/>
  <p:tag name="KSO_WM_TEMPLATE_INDEX" val="20204420"/>
  <p:tag name="KSO_WM_UNIT_ID" val="custom20204420_7*a*1"/>
  <p:tag name="KSO_WM_UNIT_TEXT_FILL_FORE_SCHEMECOLOR_INDEX_BRIGHTNESS" val="0.15"/>
  <p:tag name="KSO_WM_UNIT_TEXT_FILL_FORE_SCHEMECOLOR_INDEX" val="13"/>
  <p:tag name="KSO_WM_UNIT_TEXT_FILL_TYPE" val="1"/>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_e"/>
  <p:tag name="KSO_WM_SLIDE_LAYOUT_CNT" val="1_1_1"/>
  <p:tag name="KSO_WM_SLIDE_TYPE" val="sectionTitle"/>
  <p:tag name="KSO_WM_BEAUTIFY_FLAG" val="#wm#"/>
  <p:tag name="KSO_WM_COMBINE_RELATE_SLIDE_ID" val="background20180946_6"/>
  <p:tag name="KSO_WM_TEMPLATE_CATEGORY" val="custom"/>
  <p:tag name="KSO_WM_TEMPLATE_INDEX" val="20204420"/>
  <p:tag name="KSO_WM_SLIDE_ID" val="custom20204420_7"/>
  <p:tag name="KSO_WM_SLIDE_INDEX" val="7"/>
  <p:tag name="KSO_WM_TEMPLATE_SUBCATEGORY" val="0"/>
  <p:tag name="KSO_WM_SLIDE_SUBTYPE" val="pureTxt"/>
  <p:tag name="KSO_WM_TEMPLATE_MASTER_TYPE" val="1"/>
  <p:tag name="KSO_WM_TEMPLATE_COLOR_TYPE" val="1"/>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420"/>
  <p:tag name="KSO_WM_UNIT_ID" val="custom20204420_7*e*1"/>
  <p:tag name="KSO_WM_UNIT_TEXT_FILL_FORE_SCHEMECOLOR_INDEX_BRIGHTNESS" val="0"/>
  <p:tag name="KSO_WM_UNIT_TEXT_FILL_FORE_SCHEMECOLOR_INDEX" val="5"/>
  <p:tag name="KSO_WM_UNIT_TEXT_FILL_TYPE" val="1"/>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NOCLEAR" val="0"/>
  <p:tag name="KSO_WM_UNIT_SHOW_EDIT_AREA_INDICATION" val="0"/>
  <p:tag name="KSO_WM_UNIT_TYPE" val="i"/>
  <p:tag name="KSO_WM_UNIT_INDEX" val="1"/>
  <p:tag name="KSO_WM_TEMPLATE_CATEGORY" val="custom"/>
  <p:tag name="KSO_WM_TEMPLATE_INDEX" val="20204420"/>
  <p:tag name="KSO_WM_UNIT_ID" val="custom20204420_7*i*1"/>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i"/>
  <p:tag name="KSO_WM_UNIT_INDEX" val="2"/>
  <p:tag name="KSO_WM_TEMPLATE_CATEGORY" val="custom"/>
  <p:tag name="KSO_WM_TEMPLATE_INDEX" val="20204420"/>
  <p:tag name="KSO_WM_UNIT_ID" val="custom20204420_7*i*2"/>
  <p:tag name="KSO_WM_UNIT_LINE_FORE_SCHEMECOLOR_INDEX_BRIGHTNESS" val="0"/>
  <p:tag name="KSO_WM_UNIT_LINE_FORE_SCHEMECOLOR_INDEX" val="5"/>
  <p:tag name="KSO_WM_UNIT_LINE_FILL_TYPE"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添加大标题"/>
  <p:tag name="KSO_WM_TEMPLATE_CATEGORY" val="custom"/>
  <p:tag name="KSO_WM_TEMPLATE_INDEX" val="20204420"/>
  <p:tag name="KSO_WM_UNIT_ID" val="custom20204420_7*a*1"/>
  <p:tag name="KSO_WM_UNIT_TEXT_FILL_FORE_SCHEMECOLOR_INDEX_BRIGHTNESS" val="0.15"/>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_e"/>
  <p:tag name="KSO_WM_SLIDE_LAYOUT_CNT" val="1_1_1"/>
  <p:tag name="KSO_WM_SLIDE_TYPE" val="sectionTitle"/>
  <p:tag name="KSO_WM_BEAUTIFY_FLAG" val="#wm#"/>
  <p:tag name="KSO_WM_COMBINE_RELATE_SLIDE_ID" val="background20180946_6"/>
  <p:tag name="KSO_WM_TEMPLATE_CATEGORY" val="custom"/>
  <p:tag name="KSO_WM_TEMPLATE_INDEX" val="20204420"/>
  <p:tag name="KSO_WM_SLIDE_ID" val="custom20204420_7"/>
  <p:tag name="KSO_WM_SLIDE_INDEX" val="7"/>
  <p:tag name="KSO_WM_TEMPLATE_SUBCATEGORY" val="0"/>
  <p:tag name="KSO_WM_SLIDE_SUBTYPE" val="pureTxt"/>
  <p:tag name="KSO_WM_TEMPLATE_MASTER_TYPE" val="1"/>
  <p:tag name="KSO_WM_TEMPLATE_COLOR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420"/>
  <p:tag name="KSO_WM_UNIT_ID" val="custom20204420_7*e*1"/>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NOCLEAR" val="0"/>
  <p:tag name="KSO_WM_UNIT_SHOW_EDIT_AREA_INDICATION" val="0"/>
  <p:tag name="KSO_WM_UNIT_TYPE" val="i"/>
  <p:tag name="KSO_WM_UNIT_INDEX" val="1"/>
  <p:tag name="KSO_WM_TEMPLATE_CATEGORY" val="custom"/>
  <p:tag name="KSO_WM_TEMPLATE_INDEX" val="20204420"/>
  <p:tag name="KSO_WM_UNIT_ID" val="custom20204420_7*i*1"/>
  <p:tag name="KSO_WM_UNIT_TEXT_FILL_FORE_SCHEMECOLOR_INDEX_BRIGHTNESS" val="0"/>
  <p:tag name="KSO_WM_UNIT_TEXT_FILL_FORE_SCHEMECOLOR_INDEX" val="5"/>
  <p:tag name="KSO_WM_UNIT_TEXT_FILL_TYPE"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i"/>
  <p:tag name="KSO_WM_UNIT_INDEX" val="2"/>
  <p:tag name="KSO_WM_TEMPLATE_CATEGORY" val="custom"/>
  <p:tag name="KSO_WM_TEMPLATE_INDEX" val="20204420"/>
  <p:tag name="KSO_WM_UNIT_ID" val="custom20204420_7*i*2"/>
  <p:tag name="KSO_WM_UNIT_LINE_FORE_SCHEMECOLOR_INDEX_BRIGHTNESS" val="0"/>
  <p:tag name="KSO_WM_UNIT_LINE_FORE_SCHEMECOLOR_INDEX" val="5"/>
  <p:tag name="KSO_WM_UNIT_LINE_FILL_TYPE"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添加大标题"/>
  <p:tag name="KSO_WM_TEMPLATE_CATEGORY" val="custom"/>
  <p:tag name="KSO_WM_TEMPLATE_INDEX" val="20204420"/>
  <p:tag name="KSO_WM_UNIT_ID" val="custom20204420_7*a*1"/>
  <p:tag name="KSO_WM_UNIT_TEXT_FILL_FORE_SCHEMECOLOR_INDEX_BRIGHTNESS" val="0.15"/>
  <p:tag name="KSO_WM_UNIT_TEXT_FILL_FORE_SCHEMECOLOR_INDEX" val="13"/>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_e"/>
  <p:tag name="KSO_WM_SLIDE_LAYOUT_CNT" val="1_1_1"/>
  <p:tag name="KSO_WM_SLIDE_TYPE" val="sectionTitle"/>
  <p:tag name="KSO_WM_BEAUTIFY_FLAG" val="#wm#"/>
  <p:tag name="KSO_WM_COMBINE_RELATE_SLIDE_ID" val="background20180946_6"/>
  <p:tag name="KSO_WM_TEMPLATE_CATEGORY" val="custom"/>
  <p:tag name="KSO_WM_TEMPLATE_INDEX" val="20204420"/>
  <p:tag name="KSO_WM_SLIDE_ID" val="custom20204420_7"/>
  <p:tag name="KSO_WM_SLIDE_INDEX" val="7"/>
  <p:tag name="KSO_WM_TEMPLATE_SUBCATEGORY" val="0"/>
  <p:tag name="KSO_WM_SLIDE_SUBTYPE" val="pureTxt"/>
  <p:tag name="KSO_WM_TEMPLATE_MASTER_TYPE" val="1"/>
  <p:tag name="KSO_WM_TEMPLATE_COLOR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420"/>
  <p:tag name="KSO_WM_UNIT_ID" val="custom20204420_7*e*1"/>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NOCLEAR" val="0"/>
  <p:tag name="KSO_WM_UNIT_SHOW_EDIT_AREA_INDICATION" val="0"/>
  <p:tag name="KSO_WM_UNIT_TYPE" val="i"/>
  <p:tag name="KSO_WM_UNIT_INDEX" val="1"/>
  <p:tag name="KSO_WM_TEMPLATE_CATEGORY" val="custom"/>
  <p:tag name="KSO_WM_TEMPLATE_INDEX" val="20204420"/>
  <p:tag name="KSO_WM_UNIT_ID" val="custom20204420_7*i*1"/>
  <p:tag name="KSO_WM_UNIT_TEXT_FILL_FORE_SCHEMECOLOR_INDEX_BRIGHTNESS" val="0"/>
  <p:tag name="KSO_WM_UNIT_TEXT_FILL_FORE_SCHEMECOLOR_INDEX" val="5"/>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i"/>
  <p:tag name="KSO_WM_UNIT_INDEX" val="2"/>
  <p:tag name="KSO_WM_TEMPLATE_CATEGORY" val="custom"/>
  <p:tag name="KSO_WM_TEMPLATE_INDEX" val="20204420"/>
  <p:tag name="KSO_WM_UNIT_ID" val="custom20204420_7*i*2"/>
  <p:tag name="KSO_WM_UNIT_LINE_FORE_SCHEMECOLOR_INDEX_BRIGHTNESS" val="0"/>
  <p:tag name="KSO_WM_UNIT_LINE_FORE_SCHEMECOLOR_INDEX" val="5"/>
  <p:tag name="KSO_WM_UNIT_LINE_FILL_TYPE" val="2"/>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添加大标题"/>
  <p:tag name="KSO_WM_TEMPLATE_CATEGORY" val="custom"/>
  <p:tag name="KSO_WM_TEMPLATE_INDEX" val="20204420"/>
  <p:tag name="KSO_WM_UNIT_ID" val="custom20204420_7*a*1"/>
  <p:tag name="KSO_WM_UNIT_TEXT_FILL_FORE_SCHEMECOLOR_INDEX_BRIGHTNESS" val="0.15"/>
  <p:tag name="KSO_WM_UNIT_TEXT_FILL_FORE_SCHEMECOLOR_INDEX" val="13"/>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0"/>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_e"/>
  <p:tag name="KSO_WM_SLIDE_LAYOUT_CNT" val="1_1_1"/>
  <p:tag name="KSO_WM_SLIDE_TYPE" val="sectionTitle"/>
  <p:tag name="KSO_WM_BEAUTIFY_FLAG" val="#wm#"/>
  <p:tag name="KSO_WM_COMBINE_RELATE_SLIDE_ID" val="background20180946_6"/>
  <p:tag name="KSO_WM_TEMPLATE_CATEGORY" val="custom"/>
  <p:tag name="KSO_WM_TEMPLATE_INDEX" val="20204420"/>
  <p:tag name="KSO_WM_SLIDE_ID" val="custom20204420_7"/>
  <p:tag name="KSO_WM_SLIDE_INDEX" val="7"/>
  <p:tag name="KSO_WM_TEMPLATE_SUBCATEGORY" val="0"/>
  <p:tag name="KSO_WM_SLIDE_SUBTYPE" val="pureTxt"/>
  <p:tag name="KSO_WM_TEMPLATE_MASTER_TYPE" val="1"/>
  <p:tag name="KSO_WM_TEMPLATE_COLOR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420"/>
  <p:tag name="KSO_WM_UNIT_ID" val="custom20204420_7*e*1"/>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NOCLEAR" val="0"/>
  <p:tag name="KSO_WM_UNIT_SHOW_EDIT_AREA_INDICATION" val="0"/>
  <p:tag name="KSO_WM_UNIT_TYPE" val="i"/>
  <p:tag name="KSO_WM_UNIT_INDEX" val="1"/>
  <p:tag name="KSO_WM_TEMPLATE_CATEGORY" val="custom"/>
  <p:tag name="KSO_WM_TEMPLATE_INDEX" val="20204420"/>
  <p:tag name="KSO_WM_UNIT_ID" val="custom20204420_7*i*1"/>
  <p:tag name="KSO_WM_UNIT_TEXT_FILL_FORE_SCHEMECOLOR_INDEX_BRIGHTNESS" val="0"/>
  <p:tag name="KSO_WM_UNIT_TEXT_FILL_FORE_SCHEMECOLOR_INDEX" val="5"/>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i"/>
  <p:tag name="KSO_WM_UNIT_INDEX" val="2"/>
  <p:tag name="KSO_WM_TEMPLATE_CATEGORY" val="custom"/>
  <p:tag name="KSO_WM_TEMPLATE_INDEX" val="20204420"/>
  <p:tag name="KSO_WM_UNIT_ID" val="custom20204420_7*i*2"/>
  <p:tag name="KSO_WM_UNIT_LINE_FORE_SCHEMECOLOR_INDEX_BRIGHTNESS" val="0"/>
  <p:tag name="KSO_WM_UNIT_LINE_FORE_SCHEMECOLOR_INDEX" val="5"/>
  <p:tag name="KSO_WM_UNIT_LINE_FILL_TYPE" val="2"/>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添加大标题"/>
  <p:tag name="KSO_WM_TEMPLATE_CATEGORY" val="custom"/>
  <p:tag name="KSO_WM_TEMPLATE_INDEX" val="20204420"/>
  <p:tag name="KSO_WM_UNIT_ID" val="custom20204420_7*a*1"/>
  <p:tag name="KSO_WM_UNIT_TEXT_FILL_FORE_SCHEMECOLOR_INDEX_BRIGHTNESS" val="0.15"/>
  <p:tag name="KSO_WM_UNIT_TEXT_FILL_FORE_SCHEMECOLOR_INDEX" val="13"/>
  <p:tag name="KSO_WM_UNIT_TEXT_FILL_TYPE" val="1"/>
</p:tagLst>
</file>

<file path=ppt/theme/theme1.xml><?xml version="1.0" encoding="utf-8"?>
<a:theme xmlns:a="http://schemas.openxmlformats.org/drawingml/2006/main" name="4_Office 主题​​">
  <a:themeElements>
    <a:clrScheme name="自定义 3">
      <a:dk1>
        <a:srgbClr val="000000"/>
      </a:dk1>
      <a:lt1>
        <a:srgbClr val="FFFFFF"/>
      </a:lt1>
      <a:dk2>
        <a:srgbClr val="EFEBEA"/>
      </a:dk2>
      <a:lt2>
        <a:srgbClr val="FCFBFB"/>
      </a:lt2>
      <a:accent1>
        <a:srgbClr val="F44200"/>
      </a:accent1>
      <a:accent2>
        <a:srgbClr val="FF7947"/>
      </a:accent2>
      <a:accent3>
        <a:srgbClr val="6E6C35"/>
      </a:accent3>
      <a:accent4>
        <a:srgbClr val="567B43"/>
      </a:accent4>
      <a:accent5>
        <a:srgbClr val="42885B"/>
      </a:accent5>
      <a:accent6>
        <a:srgbClr val="34937E"/>
      </a:accent6>
      <a:hlink>
        <a:srgbClr val="0563C1"/>
      </a:hlink>
      <a:folHlink>
        <a:srgbClr val="954F72"/>
      </a:folHlink>
    </a:clrScheme>
    <a:fontScheme name="LaTeX">
      <a:majorFont>
        <a:latin typeface="Cambria"/>
        <a:ea typeface="汉仪中黑 197"/>
        <a:cs typeface=""/>
      </a:majorFont>
      <a:minorFont>
        <a:latin typeface="Cambria"/>
        <a:ea typeface="汉仪中黑 197"/>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2630</TotalTime>
  <Words>2521</Words>
  <Application>Microsoft Office PowerPoint</Application>
  <PresentationFormat>宽屏</PresentationFormat>
  <Paragraphs>207</Paragraphs>
  <Slides>25</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等线</vt:lpstr>
      <vt:lpstr>微软雅黑</vt:lpstr>
      <vt:lpstr>Arial</vt:lpstr>
      <vt:lpstr>Cambria</vt:lpstr>
      <vt:lpstr>Cambria Math</vt:lpstr>
      <vt:lpstr>Cascadia Code</vt:lpstr>
      <vt:lpstr>Roboto</vt:lpstr>
      <vt:lpstr>4_Office 主题​​</vt:lpstr>
      <vt:lpstr>Tutorial 1 Basic Programming Tasks of OCaml</vt:lpstr>
      <vt:lpstr>开发环境配置</vt:lpstr>
      <vt:lpstr>开发环境配置</vt:lpstr>
      <vt:lpstr>开发环境配置</vt:lpstr>
      <vt:lpstr>开发环境配置</vt:lpstr>
      <vt:lpstr>开发环境配置</vt:lpstr>
      <vt:lpstr>开发环境配置</vt:lpstr>
      <vt:lpstr>开发环境配置</vt:lpstr>
      <vt:lpstr>开发环境配置</vt:lpstr>
      <vt:lpstr>开发环境配置</vt:lpstr>
      <vt:lpstr>Hello, OCaml!</vt:lpstr>
      <vt:lpstr>用 OCaml 编写 Hello World</vt:lpstr>
      <vt:lpstr>用 OCaml 编写 Hello World</vt:lpstr>
      <vt:lpstr>OCaml 例程讲解</vt:lpstr>
      <vt:lpstr>数值类型和函数类型</vt:lpstr>
      <vt:lpstr>分支结构</vt:lpstr>
      <vt:lpstr>函数式编程的范式</vt:lpstr>
      <vt:lpstr>列表（list）基础</vt:lpstr>
      <vt:lpstr>OCaml 编程练习</vt:lpstr>
      <vt:lpstr>OCaml 基础编程练习</vt:lpstr>
      <vt:lpstr>练习题参考解答</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noveky ez</dc:creator>
  <cp:lastModifiedBy>noveky ez</cp:lastModifiedBy>
  <cp:revision>749</cp:revision>
  <dcterms:created xsi:type="dcterms:W3CDTF">2025-02-16T15:03:00Z</dcterms:created>
  <dcterms:modified xsi:type="dcterms:W3CDTF">2025-02-23T10:40:42Z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4BF6EFE64D60478BB3CD8203F35275CA_12</vt:lpwstr>
  </property>
  <property fmtid="{D5CDD505-2E9C-101B-9397-08002B2CF9AE}" pid="3" name="KSOProductBuildVer">
    <vt:lpwstr>2052-12.1.0.16388</vt:lpwstr>
  </property>
</Properties>
</file>