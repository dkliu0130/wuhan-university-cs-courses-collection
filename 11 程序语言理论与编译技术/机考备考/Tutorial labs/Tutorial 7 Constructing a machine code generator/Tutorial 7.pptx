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6" r:id="rId3"/>
    <p:sldId id="285" r:id="rId5"/>
    <p:sldId id="284" r:id="rId6"/>
    <p:sldId id="287" r:id="rId7"/>
    <p:sldId id="308" r:id="rId8"/>
    <p:sldId id="309" r:id="rId9"/>
    <p:sldId id="315" r:id="rId10"/>
    <p:sldId id="316" r:id="rId11"/>
    <p:sldId id="301" r:id="rId12"/>
    <p:sldId id="311" r:id="rId13"/>
    <p:sldId id="313" r:id="rId14"/>
    <p:sldId id="314" r:id="rId15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3"/>
    <p:restoredTop sz="73847" autoAdjust="0"/>
  </p:normalViewPr>
  <p:slideViewPr>
    <p:cSldViewPr snapToGrid="0">
      <p:cViewPr>
        <p:scale>
          <a:sx n="47" d="100"/>
          <a:sy n="47" d="100"/>
        </p:scale>
        <p:origin x="1386" y="4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55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A1C0B-CB41-4B0D-A882-EBD663799A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9F771C-A0E1-44EC-ACBA-32D3BB8FFF3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F771C-A0E1-44EC-ACBA-32D3BB8FFF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F771C-A0E1-44EC-ACBA-32D3BB8FFF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 </a:t>
            </a:r>
            <a:r>
              <a:rPr lang="en-US" altLang="zh-CN" dirty="0"/>
              <a:t>WSL </a:t>
            </a:r>
            <a:r>
              <a:rPr lang="zh-CN" altLang="en-US" dirty="0"/>
              <a:t>的同学要把 </a:t>
            </a:r>
            <a:r>
              <a:rPr lang="en-US" altLang="zh-CN" dirty="0"/>
              <a:t>VS Code </a:t>
            </a:r>
            <a:r>
              <a:rPr lang="zh-CN" altLang="en-US" dirty="0"/>
              <a:t>装在 </a:t>
            </a:r>
            <a:r>
              <a:rPr lang="en-US" altLang="zh-CN" dirty="0"/>
              <a:t>Windows </a:t>
            </a:r>
            <a:r>
              <a:rPr lang="zh-CN" altLang="en-US" dirty="0"/>
              <a:t>侧，然后安装 </a:t>
            </a:r>
            <a:r>
              <a:rPr lang="en-US" altLang="zh-CN" dirty="0"/>
              <a:t>WSL </a:t>
            </a:r>
            <a:r>
              <a:rPr lang="zh-CN" altLang="en-US" dirty="0"/>
              <a:t>插件，用来连接到 </a:t>
            </a:r>
            <a:r>
              <a:rPr lang="en-US" altLang="zh-CN" dirty="0"/>
              <a:t>WSL</a:t>
            </a:r>
            <a:r>
              <a:rPr lang="zh-CN" altLang="en-US" dirty="0"/>
              <a:t>。（讲义</a:t>
            </a:r>
            <a:r>
              <a:rPr lang="en-US" altLang="zh-CN" dirty="0"/>
              <a:t> 1.2.2 </a:t>
            </a:r>
            <a:r>
              <a:rPr lang="zh-CN" altLang="en-US" dirty="0"/>
              <a:t>节）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F771C-A0E1-44EC-ACBA-32D3BB8FFF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 </a:t>
            </a:r>
            <a:r>
              <a:rPr lang="en-US" altLang="zh-CN" dirty="0"/>
              <a:t>WSL </a:t>
            </a:r>
            <a:r>
              <a:rPr lang="zh-CN" altLang="en-US" dirty="0"/>
              <a:t>的同学要把 </a:t>
            </a:r>
            <a:r>
              <a:rPr lang="en-US" altLang="zh-CN" dirty="0"/>
              <a:t>VS Code </a:t>
            </a:r>
            <a:r>
              <a:rPr lang="zh-CN" altLang="en-US" dirty="0"/>
              <a:t>装在 </a:t>
            </a:r>
            <a:r>
              <a:rPr lang="en-US" altLang="zh-CN" dirty="0"/>
              <a:t>Windows </a:t>
            </a:r>
            <a:r>
              <a:rPr lang="zh-CN" altLang="en-US" dirty="0"/>
              <a:t>侧，然后安装 </a:t>
            </a:r>
            <a:r>
              <a:rPr lang="en-US" altLang="zh-CN" dirty="0"/>
              <a:t>WSL </a:t>
            </a:r>
            <a:r>
              <a:rPr lang="zh-CN" altLang="en-US" dirty="0"/>
              <a:t>插件，用来连接到 </a:t>
            </a:r>
            <a:r>
              <a:rPr lang="en-US" altLang="zh-CN" dirty="0"/>
              <a:t>WSL</a:t>
            </a:r>
            <a:r>
              <a:rPr lang="zh-CN" altLang="en-US" dirty="0"/>
              <a:t>。（讲义</a:t>
            </a:r>
            <a:r>
              <a:rPr lang="en-US" altLang="zh-CN" dirty="0"/>
              <a:t> 1.2.2 </a:t>
            </a:r>
            <a:r>
              <a:rPr lang="zh-CN" altLang="en-US" dirty="0"/>
              <a:t>节）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F771C-A0E1-44EC-ACBA-32D3BB8FFF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 </a:t>
            </a:r>
            <a:r>
              <a:rPr lang="en-US" altLang="zh-CN" dirty="0"/>
              <a:t>WSL </a:t>
            </a:r>
            <a:r>
              <a:rPr lang="zh-CN" altLang="en-US" dirty="0"/>
              <a:t>的同学要把 </a:t>
            </a:r>
            <a:r>
              <a:rPr lang="en-US" altLang="zh-CN" dirty="0"/>
              <a:t>VS Code </a:t>
            </a:r>
            <a:r>
              <a:rPr lang="zh-CN" altLang="en-US" dirty="0"/>
              <a:t>装在 </a:t>
            </a:r>
            <a:r>
              <a:rPr lang="en-US" altLang="zh-CN" dirty="0"/>
              <a:t>Windows </a:t>
            </a:r>
            <a:r>
              <a:rPr lang="zh-CN" altLang="en-US" dirty="0"/>
              <a:t>侧，然后安装 </a:t>
            </a:r>
            <a:r>
              <a:rPr lang="en-US" altLang="zh-CN" dirty="0"/>
              <a:t>WSL </a:t>
            </a:r>
            <a:r>
              <a:rPr lang="zh-CN" altLang="en-US" dirty="0"/>
              <a:t>插件，用来连接到 </a:t>
            </a:r>
            <a:r>
              <a:rPr lang="en-US" altLang="zh-CN" dirty="0"/>
              <a:t>WSL</a:t>
            </a:r>
            <a:r>
              <a:rPr lang="zh-CN" altLang="en-US" dirty="0"/>
              <a:t>。（讲义</a:t>
            </a:r>
            <a:r>
              <a:rPr lang="en-US" altLang="zh-CN" dirty="0"/>
              <a:t> 1.2.2 </a:t>
            </a:r>
            <a:r>
              <a:rPr lang="zh-CN" altLang="en-US" dirty="0"/>
              <a:t>节）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F771C-A0E1-44EC-ACBA-32D3BB8FFF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 </a:t>
            </a:r>
            <a:r>
              <a:rPr lang="en-US" altLang="zh-CN" dirty="0"/>
              <a:t>WSL </a:t>
            </a:r>
            <a:r>
              <a:rPr lang="zh-CN" altLang="en-US" dirty="0"/>
              <a:t>的同学要把 </a:t>
            </a:r>
            <a:r>
              <a:rPr lang="en-US" altLang="zh-CN" dirty="0"/>
              <a:t>VS Code </a:t>
            </a:r>
            <a:r>
              <a:rPr lang="zh-CN" altLang="en-US" dirty="0"/>
              <a:t>装在 </a:t>
            </a:r>
            <a:r>
              <a:rPr lang="en-US" altLang="zh-CN" dirty="0"/>
              <a:t>Windows </a:t>
            </a:r>
            <a:r>
              <a:rPr lang="zh-CN" altLang="en-US" dirty="0"/>
              <a:t>侧，然后安装 </a:t>
            </a:r>
            <a:r>
              <a:rPr lang="en-US" altLang="zh-CN" dirty="0"/>
              <a:t>WSL </a:t>
            </a:r>
            <a:r>
              <a:rPr lang="zh-CN" altLang="en-US" dirty="0"/>
              <a:t>插件，用来连接到 </a:t>
            </a:r>
            <a:r>
              <a:rPr lang="en-US" altLang="zh-CN" dirty="0"/>
              <a:t>WSL</a:t>
            </a:r>
            <a:r>
              <a:rPr lang="zh-CN" altLang="en-US" dirty="0"/>
              <a:t>。（讲义</a:t>
            </a:r>
            <a:r>
              <a:rPr lang="en-US" altLang="zh-CN" dirty="0"/>
              <a:t> 1.2.2 </a:t>
            </a:r>
            <a:r>
              <a:rPr lang="zh-CN" altLang="en-US" dirty="0"/>
              <a:t>节）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F771C-A0E1-44EC-ACBA-32D3BB8FFF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 </a:t>
            </a:r>
            <a:r>
              <a:rPr lang="en-US" altLang="zh-CN" dirty="0"/>
              <a:t>WSL </a:t>
            </a:r>
            <a:r>
              <a:rPr lang="zh-CN" altLang="en-US" dirty="0"/>
              <a:t>的同学要把 </a:t>
            </a:r>
            <a:r>
              <a:rPr lang="en-US" altLang="zh-CN" dirty="0"/>
              <a:t>VS Code </a:t>
            </a:r>
            <a:r>
              <a:rPr lang="zh-CN" altLang="en-US" dirty="0"/>
              <a:t>装在 </a:t>
            </a:r>
            <a:r>
              <a:rPr lang="en-US" altLang="zh-CN" dirty="0"/>
              <a:t>Windows </a:t>
            </a:r>
            <a:r>
              <a:rPr lang="zh-CN" altLang="en-US" dirty="0"/>
              <a:t>侧，然后安装 </a:t>
            </a:r>
            <a:r>
              <a:rPr lang="en-US" altLang="zh-CN" dirty="0"/>
              <a:t>WSL </a:t>
            </a:r>
            <a:r>
              <a:rPr lang="zh-CN" altLang="en-US" dirty="0"/>
              <a:t>插件，用来连接到 </a:t>
            </a:r>
            <a:r>
              <a:rPr lang="en-US" altLang="zh-CN" dirty="0"/>
              <a:t>WSL</a:t>
            </a:r>
            <a:r>
              <a:rPr lang="zh-CN" altLang="en-US" dirty="0"/>
              <a:t>。（讲义</a:t>
            </a:r>
            <a:r>
              <a:rPr lang="en-US" altLang="zh-CN" dirty="0"/>
              <a:t> 1.2.2 </a:t>
            </a:r>
            <a:r>
              <a:rPr lang="zh-CN" altLang="en-US" dirty="0"/>
              <a:t>节）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F771C-A0E1-44EC-ACBA-32D3BB8FFF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F771C-A0E1-44EC-ACBA-32D3BB8FFF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F771C-A0E1-44EC-ACBA-32D3BB8FFF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F771C-A0E1-44EC-ACBA-32D3BB8FFF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F771C-A0E1-44EC-ACBA-32D3BB8FFF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9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8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image" Target="file:///C:\Users\1V994W2\PycharmProjects\PPT_Background_Generation/pic_temp/pic_half_left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22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21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30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2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image" Target="file:///C:\Users\1V994W2\PycharmProjects\PPT_Background_Generation/pic_temp/0_pic_quater_right_down.png" TargetMode="External"/><Relationship Id="rId6" Type="http://schemas.openxmlformats.org/officeDocument/2006/relationships/image" Target="../media/image2.png"/><Relationship Id="rId5" Type="http://schemas.openxmlformats.org/officeDocument/2006/relationships/tags" Target="../tags/tag40.xml"/><Relationship Id="rId4" Type="http://schemas.openxmlformats.org/officeDocument/2006/relationships/image" Target="file:///C:\Users\1V994W2\Documents\Tencent%20Files\574576071\FileRecv\&#25340;&#35013;&#32032;&#26448;\&#31616;&#32422;&#28385;&#29256;-60\\57\subject_holdright_148,80,52_0_staid_full_0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39.xml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49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48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57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56.xml"/><Relationship Id="rId12" Type="http://schemas.openxmlformats.org/officeDocument/2006/relationships/tags" Target="../tags/tag62.xml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64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63.xml"/><Relationship Id="rId11" Type="http://schemas.openxmlformats.org/officeDocument/2006/relationships/tags" Target="../tags/tag68.xml"/><Relationship Id="rId10" Type="http://schemas.openxmlformats.org/officeDocument/2006/relationships/tags" Target="../tags/tag67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69.xml"/><Relationship Id="rId10" Type="http://schemas.openxmlformats.org/officeDocument/2006/relationships/tags" Target="../tags/tag75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image" Target="file:///C:\Users\1V994W2\PycharmProjects\PPT_Background_Generation/pic_temp/1_pic_quater_left_down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77.xml"/><Relationship Id="rId4" Type="http://schemas.openxmlformats.org/officeDocument/2006/relationships/image" Target="file:///C:\Users\1V994W2\PycharmProjects\PPT_Background_Generation/pic_temp/0_pic_quater_right_down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76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84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00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4" Type="http://schemas.openxmlformats.org/officeDocument/2006/relationships/tags" Target="../tags/tag106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09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4" Type="http://schemas.openxmlformats.org/officeDocument/2006/relationships/tags" Target="../tags/tag115.xml"/><Relationship Id="rId13" Type="http://schemas.openxmlformats.org/officeDocument/2006/relationships/tags" Target="../tags/tag114.xml"/><Relationship Id="rId12" Type="http://schemas.openxmlformats.org/officeDocument/2006/relationships/tags" Target="../tags/tag113.xml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19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18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6" Type="http://schemas.openxmlformats.org/officeDocument/2006/relationships/tags" Target="../tags/tag126.xml"/><Relationship Id="rId15" Type="http://schemas.openxmlformats.org/officeDocument/2006/relationships/tags" Target="../tags/tag125.xml"/><Relationship Id="rId14" Type="http://schemas.openxmlformats.org/officeDocument/2006/relationships/tags" Target="../tags/tag124.xml"/><Relationship Id="rId13" Type="http://schemas.openxmlformats.org/officeDocument/2006/relationships/tags" Target="../tags/tag123.xml"/><Relationship Id="rId12" Type="http://schemas.openxmlformats.org/officeDocument/2006/relationships/tags" Target="../tags/tag122.xml"/><Relationship Id="rId11" Type="http://schemas.openxmlformats.org/officeDocument/2006/relationships/tags" Target="../tags/tag121.xml"/><Relationship Id="rId10" Type="http://schemas.openxmlformats.org/officeDocument/2006/relationships/tags" Target="../tags/tag120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image" Target="file:///C:\Users\1V994W2\PycharmProjects\PPT_Background_Generation/pic_temp/1_pic_quater_left_down.png" TargetMode="External"/><Relationship Id="rId7" Type="http://schemas.openxmlformats.org/officeDocument/2006/relationships/image" Target="../media/image7.png"/><Relationship Id="rId6" Type="http://schemas.openxmlformats.org/officeDocument/2006/relationships/tags" Target="../tags/tag129.xml"/><Relationship Id="rId5" Type="http://schemas.openxmlformats.org/officeDocument/2006/relationships/image" Target="file:///C:\Users\1V994W2\PycharmProjects\PPT_Background_Generation/pic_temp/0_pic_quater_right_down.png" TargetMode="External"/><Relationship Id="rId4" Type="http://schemas.openxmlformats.org/officeDocument/2006/relationships/image" Target="../media/image6.png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idx="13" hasCustomPrompt="1"/>
            <p:custDataLst>
              <p:tags r:id="rId8"/>
            </p:custDataLst>
          </p:nvPr>
        </p:nvSpPr>
        <p:spPr>
          <a:xfrm>
            <a:off x="2921000" y="2311082"/>
            <a:ext cx="6350000" cy="1440180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dist">
              <a:defRPr lang="zh-CN" altLang="en-US" sz="7200" b="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lvl="0" algn="dist">
              <a:buClrTx/>
              <a:buSzTx/>
              <a:buFontTx/>
            </a:pPr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4" hasCustomPrompt="1"/>
            <p:custDataLst>
              <p:tags r:id="rId9"/>
            </p:custDataLst>
          </p:nvPr>
        </p:nvSpPr>
        <p:spPr>
          <a:xfrm>
            <a:off x="2921000" y="4153854"/>
            <a:ext cx="6350000" cy="393065"/>
          </a:xfrm>
        </p:spPr>
        <p:txBody>
          <a:bodyPr vert="horz" wrap="square" lIns="0" tIns="0" rIns="0" bIns="0" rtlCol="0" anchor="t" anchorCtr="0">
            <a:normAutofit/>
          </a:bodyPr>
          <a:lstStyle>
            <a:lvl1pPr algn="dist">
              <a:defRPr lang="zh-CN" altLang="en-US" sz="2000" spc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cxnSp>
        <p:nvCxnSpPr>
          <p:cNvPr id="8" name="直接连接符 8"/>
          <p:cNvCxnSpPr/>
          <p:nvPr userDrawn="1">
            <p:custDataLst>
              <p:tags r:id="rId10"/>
            </p:custDataLst>
          </p:nvPr>
        </p:nvCxnSpPr>
        <p:spPr>
          <a:xfrm>
            <a:off x="5609590" y="3950653"/>
            <a:ext cx="972185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66058"/>
          </a:xfrm>
          <a:prstGeom prst="rect">
            <a:avLst/>
          </a:prstGeom>
        </p:spPr>
      </p:pic>
      <p:pic>
        <p:nvPicPr>
          <p:cNvPr id="7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660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3" hasCustomPrompt="1"/>
            <p:custDataLst>
              <p:tags r:id="rId8"/>
            </p:custDataLst>
          </p:nvPr>
        </p:nvSpPr>
        <p:spPr>
          <a:xfrm>
            <a:off x="5084446" y="3823971"/>
            <a:ext cx="5767705" cy="321945"/>
          </a:xfrm>
        </p:spPr>
        <p:txBody>
          <a:bodyPr vert="horz" wrap="square" lIns="0" tIns="0" rIns="0" bIns="0" rtlCol="0" anchor="t" anchorCtr="0">
            <a:normAutofit/>
          </a:bodyPr>
          <a:lstStyle>
            <a:lvl1pPr algn="dist">
              <a:defRPr kumimoji="0" lang="zh-CN" altLang="en-US" sz="1800" b="0" i="0" spc="2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marR="0" lvl="0" indent="0" algn="dist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3" name="Title 2"/>
          <p:cNvSpPr>
            <a:spLocks noGrp="1"/>
          </p:cNvSpPr>
          <p:nvPr>
            <p:ph type="ctrTitle" idx="14" hasCustomPrompt="1"/>
            <p:custDataLst>
              <p:tags r:id="rId9"/>
            </p:custDataLst>
          </p:nvPr>
        </p:nvSpPr>
        <p:spPr>
          <a:xfrm>
            <a:off x="5084446" y="2785110"/>
            <a:ext cx="5767705" cy="835660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dist">
              <a:defRPr kumimoji="0" lang="zh-CN" altLang="en-US" sz="4800" b="0" i="0" spc="50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marR="0" lvl="0" indent="0" algn="dist">
              <a:spcAft>
                <a:spcPts val="0"/>
              </a:spcAft>
              <a:buClrTx/>
              <a:buSzTx/>
              <a:buFontTx/>
            </a:pPr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6605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660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66058"/>
          </a:xfrm>
          <a:prstGeom prst="rect">
            <a:avLst/>
          </a:prstGeom>
        </p:spPr>
      </p:pic>
      <p:pic>
        <p:nvPicPr>
          <p:cNvPr id="10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660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1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2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pic>
        <p:nvPicPr>
          <p:cNvPr id="6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391942"/>
            <a:ext cx="720090" cy="4660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6605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660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66058"/>
          </a:xfrm>
          <a:prstGeom prst="rect">
            <a:avLst/>
          </a:prstGeom>
        </p:spPr>
      </p:pic>
      <p:pic>
        <p:nvPicPr>
          <p:cNvPr id="7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66058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66058"/>
          </a:xfrm>
          <a:prstGeom prst="rect">
            <a:avLst/>
          </a:prstGeom>
        </p:spPr>
      </p:pic>
      <p:pic>
        <p:nvPicPr>
          <p:cNvPr id="6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66058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13" hasCustomPrompt="1"/>
            <p:custDataLst>
              <p:tags r:id="rId8"/>
            </p:custDataLst>
          </p:nvPr>
        </p:nvSpPr>
        <p:spPr>
          <a:xfrm>
            <a:off x="3412807" y="2379663"/>
            <a:ext cx="5365750" cy="1398905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dist">
              <a:defRPr lang="zh-CN" altLang="en-US" sz="8000" b="0" spc="1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lvl="0" algn="dist"/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4" hasCustomPrompt="1"/>
            <p:custDataLst>
              <p:tags r:id="rId9"/>
            </p:custDataLst>
          </p:nvPr>
        </p:nvSpPr>
        <p:spPr>
          <a:xfrm>
            <a:off x="3413442" y="4117022"/>
            <a:ext cx="5365115" cy="361315"/>
          </a:xfrm>
        </p:spPr>
        <p:txBody>
          <a:bodyPr vert="horz" wrap="square" lIns="0" tIns="0" rIns="0" bIns="0" rtlCol="0" anchor="t" anchorCtr="0">
            <a:normAutofit/>
          </a:bodyPr>
          <a:lstStyle>
            <a:lvl1pPr algn="dist">
              <a:defRPr lang="zh-CN" altLang="en-US" sz="2000" spc="2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cxnSp>
        <p:nvCxnSpPr>
          <p:cNvPr id="8" name="直接连接符 10"/>
          <p:cNvCxnSpPr/>
          <p:nvPr userDrawn="1">
            <p:custDataLst>
              <p:tags r:id="rId10"/>
            </p:custDataLst>
          </p:nvPr>
        </p:nvCxnSpPr>
        <p:spPr>
          <a:xfrm>
            <a:off x="3355657" y="3913822"/>
            <a:ext cx="548005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66058"/>
          </a:xfrm>
          <a:prstGeom prst="rect">
            <a:avLst/>
          </a:prstGeom>
        </p:spPr>
      </p:pic>
      <p:pic>
        <p:nvPicPr>
          <p:cNvPr id="6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660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4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6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66058"/>
          </a:xfrm>
          <a:prstGeom prst="rect">
            <a:avLst/>
          </a:prstGeom>
        </p:spPr>
      </p:pic>
      <p:pic>
        <p:nvPicPr>
          <p:cNvPr id="8" name="图片 8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660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6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660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6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66058"/>
          </a:xfrm>
          <a:prstGeom prst="rect">
            <a:avLst/>
          </a:prstGeom>
        </p:spPr>
      </p:pic>
      <p:pic>
        <p:nvPicPr>
          <p:cNvPr id="8" name="图片 8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660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4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6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0090" cy="466058"/>
          </a:xfrm>
          <a:prstGeom prst="rect">
            <a:avLst/>
          </a:prstGeom>
        </p:spPr>
      </p:pic>
      <p:pic>
        <p:nvPicPr>
          <p:cNvPr id="8" name="图片 8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0"/>
            <a:ext cx="720090" cy="4660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6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910" y="6391942"/>
            <a:ext cx="720090" cy="466058"/>
          </a:xfrm>
          <a:prstGeom prst="rect">
            <a:avLst/>
          </a:prstGeom>
        </p:spPr>
      </p:pic>
      <p:pic>
        <p:nvPicPr>
          <p:cNvPr id="10" name="图片 8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942"/>
            <a:ext cx="720090" cy="4660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4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6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797" y="5809369"/>
            <a:ext cx="1620202" cy="1048631"/>
          </a:xfrm>
          <a:prstGeom prst="rect">
            <a:avLst/>
          </a:prstGeom>
        </p:spPr>
      </p:pic>
      <p:pic>
        <p:nvPicPr>
          <p:cNvPr id="8" name="图片 8"/>
          <p:cNvPicPr/>
          <p:nvPr userDrawn="1"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09369"/>
            <a:ext cx="1620202" cy="104863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tags" Target="../tags/tag140.xml"/><Relationship Id="rId23" Type="http://schemas.openxmlformats.org/officeDocument/2006/relationships/tags" Target="../tags/tag139.xml"/><Relationship Id="rId22" Type="http://schemas.openxmlformats.org/officeDocument/2006/relationships/tags" Target="../tags/tag138.xml"/><Relationship Id="rId21" Type="http://schemas.openxmlformats.org/officeDocument/2006/relationships/tags" Target="../tags/tag137.xml"/><Relationship Id="rId20" Type="http://schemas.openxmlformats.org/officeDocument/2006/relationships/tags" Target="../tags/tag136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35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144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45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8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9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0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2.xml"/><Relationship Id="rId2" Type="http://schemas.openxmlformats.org/officeDocument/2006/relationships/image" Target="../media/image11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13"/>
            <p:custDataLst>
              <p:tags r:id="rId1"/>
            </p:custDataLst>
          </p:nvPr>
        </p:nvSpPr>
        <p:spPr>
          <a:xfrm>
            <a:off x="2921000" y="2242502"/>
            <a:ext cx="6748780" cy="1440180"/>
          </a:xfrm>
        </p:spPr>
        <p:txBody>
          <a:bodyPr vert="horz" wrap="square" lIns="0" tIns="0" rIns="0" bIns="0" rtlCol="0" anchor="b" anchorCtr="0">
            <a:normAutofit fontScale="9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7200" dirty="0">
                <a:solidFill>
                  <a:schemeClr val="accent1">
                    <a:lumMod val="50000"/>
                  </a:schemeClr>
                </a:solidFill>
                <a:latin typeface="Cambria" panose="02040503050406030204" charset="0"/>
                <a:ea typeface="汉仪中黑 197" panose="00020600040101010101" charset="-122"/>
              </a:rPr>
              <a:t>Tutorial 7</a:t>
            </a:r>
            <a:br>
              <a:rPr lang="en-US" altLang="zh-CN" sz="7200" dirty="0">
                <a:solidFill>
                  <a:schemeClr val="accent1">
                    <a:lumMod val="50000"/>
                  </a:schemeClr>
                </a:solidFill>
                <a:latin typeface="Cambria" panose="02040503050406030204" charset="0"/>
                <a:ea typeface="汉仪中黑 197" panose="00020600040101010101" charset="-122"/>
              </a:rPr>
            </a:br>
            <a:r>
              <a:rPr lang="en-US" altLang="zh-CN" sz="4400" dirty="0">
                <a:solidFill>
                  <a:schemeClr val="accent1">
                    <a:lumMod val="50000"/>
                  </a:schemeClr>
                </a:solidFill>
                <a:latin typeface="Cambria" panose="02040503050406030204" charset="0"/>
                <a:ea typeface="汉仪中黑 197" panose="00020600040101010101" charset="-122"/>
              </a:rPr>
              <a:t>Instruction Selection</a:t>
            </a:r>
            <a:endParaRPr lang="en-US" altLang="zh-CN" sz="4400" dirty="0">
              <a:solidFill>
                <a:schemeClr val="accent1">
                  <a:lumMod val="50000"/>
                </a:schemeClr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4"/>
            <p:custDataLst>
              <p:tags r:id="rId2"/>
            </p:custDataLst>
          </p:nvPr>
        </p:nvSpPr>
        <p:spPr>
          <a:xfrm>
            <a:off x="2921000" y="4154170"/>
            <a:ext cx="6350000" cy="1526540"/>
          </a:xfrm>
        </p:spPr>
        <p:txBody>
          <a:bodyPr vert="horz" wrap="square" lIns="0" tIns="0" rIns="0" bIns="0" rtlCol="0" anchor="t" anchorCtr="0">
            <a:norm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2000" dirty="0">
                <a:solidFill>
                  <a:schemeClr val="dk1">
                    <a:lumMod val="65000"/>
                    <a:lumOff val="35000"/>
                  </a:schemeClr>
                </a:solidFill>
                <a:latin typeface="Cambria" panose="02040503050406030204" charset="0"/>
                <a:ea typeface="汉仪中黑 197" panose="00020600040101010101" charset="-122"/>
              </a:rPr>
              <a:t>Programming Languages &amp; Compilers </a:t>
            </a:r>
            <a:r>
              <a:rPr lang="en-US" altLang="zh-CN" dirty="0">
                <a:solidFill>
                  <a:schemeClr val="dk1">
                    <a:lumMod val="65000"/>
                    <a:lumOff val="35000"/>
                  </a:schemeClr>
                </a:solidFill>
                <a:latin typeface="Cambria" panose="02040503050406030204" charset="0"/>
                <a:ea typeface="汉仪中黑 197" panose="00020600040101010101" charset="-122"/>
                <a:sym typeface="+mn-ea"/>
              </a:rPr>
              <a:t>Spring 2025</a:t>
            </a:r>
            <a:endParaRPr lang="en-US" altLang="zh-CN" sz="2000" dirty="0">
              <a:solidFill>
                <a:schemeClr val="dk1">
                  <a:lumMod val="65000"/>
                  <a:lumOff val="35000"/>
                </a:schemeClr>
              </a:solidFill>
              <a:latin typeface="Cambria" panose="02040503050406030204" charset="0"/>
              <a:ea typeface="汉仪中黑 197" panose="00020600040101010101" charset="-122"/>
            </a:endParaRP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dirty="0">
                <a:solidFill>
                  <a:schemeClr val="dk1">
                    <a:lumMod val="65000"/>
                    <a:lumOff val="35000"/>
                  </a:schemeClr>
                </a:solidFill>
                <a:latin typeface="Cambria" panose="02040503050406030204" charset="0"/>
                <a:ea typeface="汉仪中黑 197" panose="00020600040101010101" charset="-122"/>
              </a:rPr>
              <a:t>School of Computer Science, Wuhan University</a:t>
            </a:r>
            <a:endParaRPr lang="en-US" altLang="zh-CN" dirty="0">
              <a:solidFill>
                <a:schemeClr val="dk1">
                  <a:lumMod val="65000"/>
                  <a:lumOff val="35000"/>
                </a:schemeClr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Cambria" panose="02040503050406030204" charset="0"/>
                <a:ea typeface="汉仪中黑 197" panose="00020600040101010101" charset="-122"/>
              </a:rPr>
              <a:t>tutorial</a:t>
            </a:r>
            <a:r>
              <a:rPr lang="zh-CN" altLang="en-US" dirty="0">
                <a:latin typeface="Cambria" panose="02040503050406030204" charset="0"/>
                <a:ea typeface="汉仪中黑 197" panose="00020600040101010101" charset="-122"/>
              </a:rPr>
              <a:t>回顾</a:t>
            </a:r>
            <a:endParaRPr dirty="0">
              <a:latin typeface="Cambria" panose="02040503050406030204" charset="0"/>
              <a:ea typeface="汉仪中黑 197" panose="0002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264" y="1217612"/>
            <a:ext cx="3285688" cy="4928532"/>
          </a:xfrm>
          <a:prstGeom prst="rect">
            <a:avLst/>
          </a:prstGeom>
        </p:spPr>
      </p:pic>
      <p:sp>
        <p:nvSpPr>
          <p:cNvPr id="7" name="内容占位符 2"/>
          <p:cNvSpPr>
            <a:spLocks noGrp="1"/>
          </p:cNvSpPr>
          <p:nvPr>
            <p:ph sz="half" idx="1"/>
          </p:nvPr>
        </p:nvSpPr>
        <p:spPr>
          <a:xfrm>
            <a:off x="669882" y="1348262"/>
            <a:ext cx="7225382" cy="4928532"/>
          </a:xfrm>
        </p:spPr>
        <p:txBody>
          <a:bodyPr>
            <a:normAutofit/>
          </a:bodyPr>
          <a:lstStyle/>
          <a:p>
            <a:r>
              <a:rPr lang="en-US" altLang="zh-CN" sz="1800" dirty="0">
                <a:latin typeface="+mn-lt"/>
                <a:cs typeface="Linux Libertine" panose="02000503000000000000" pitchFamily="2" charset="0"/>
              </a:rPr>
              <a:t>Tutorial 6 </a:t>
            </a:r>
            <a:r>
              <a:rPr lang="zh-CN" altLang="en-US" sz="1800" dirty="0">
                <a:latin typeface="+mn-lt"/>
                <a:cs typeface="Linux Libertine" panose="02000503000000000000" pitchFamily="2" charset="0"/>
              </a:rPr>
              <a:t>实现从</a:t>
            </a:r>
            <a:r>
              <a:rPr lang="en-US" altLang="zh-CN" sz="1800" b="1" dirty="0">
                <a:latin typeface="+mn-lt"/>
                <a:ea typeface="Linux Libertine" panose="02000503000000000000" pitchFamily="2" charset="0"/>
                <a:cs typeface="Linux Libertine" panose="02000503000000000000" pitchFamily="2" charset="0"/>
              </a:rPr>
              <a:t>AST</a:t>
            </a:r>
            <a:r>
              <a:rPr lang="zh-CN" altLang="en-US" sz="1800" b="1" dirty="0">
                <a:latin typeface="+mn-lt"/>
                <a:cs typeface="Linux Libertine" panose="02000503000000000000" pitchFamily="2" charset="0"/>
              </a:rPr>
              <a:t>到</a:t>
            </a:r>
            <a:r>
              <a:rPr lang="en-US" altLang="zh-CN" sz="1800" b="1" dirty="0">
                <a:latin typeface="+mn-lt"/>
                <a:ea typeface="Linux Libertine" panose="02000503000000000000" pitchFamily="2" charset="0"/>
                <a:cs typeface="Linux Libertine" panose="02000503000000000000" pitchFamily="2" charset="0"/>
              </a:rPr>
              <a:t>RISC-V</a:t>
            </a:r>
            <a:r>
              <a:rPr lang="zh-CN" altLang="en-US" sz="1800" dirty="0">
                <a:latin typeface="+mn-lt"/>
                <a:cs typeface="Linux Libertine" panose="02000503000000000000" pitchFamily="2" charset="0"/>
              </a:rPr>
              <a:t>（不考虑实现</a:t>
            </a:r>
            <a:r>
              <a:rPr lang="en-US" altLang="zh-CN" sz="1800" dirty="0">
                <a:latin typeface="+mn-lt"/>
                <a:cs typeface="Linux Libertine" panose="02000503000000000000" pitchFamily="2" charset="0"/>
              </a:rPr>
              <a:t>Instruction Selection</a:t>
            </a:r>
            <a:r>
              <a:rPr lang="zh-CN" altLang="en-US" sz="1800" dirty="0">
                <a:latin typeface="+mn-lt"/>
                <a:cs typeface="Linux Libertine" panose="02000503000000000000" pitchFamily="2" charset="0"/>
              </a:rPr>
              <a:t>）</a:t>
            </a:r>
            <a:endParaRPr lang="en-US" altLang="zh-CN" sz="1800" dirty="0">
              <a:latin typeface="+mn-lt"/>
              <a:cs typeface="Linux Libertine" panose="02000503000000000000" pitchFamily="2" charset="0"/>
            </a:endParaRPr>
          </a:p>
          <a:p>
            <a:endParaRPr lang="en-US" altLang="zh-CN" sz="1800" dirty="0">
              <a:latin typeface="+mn-lt"/>
              <a:cs typeface="Linux Libertine" panose="02000503000000000000" pitchFamily="2" charset="0"/>
            </a:endParaRPr>
          </a:p>
          <a:p>
            <a:r>
              <a:rPr lang="zh-CN" altLang="en-US" sz="1800" dirty="0">
                <a:latin typeface="+mn-lt"/>
              </a:rPr>
              <a:t>用 </a:t>
            </a:r>
            <a:r>
              <a:rPr lang="en-GB" altLang="zh-CN" sz="1800" dirty="0">
                <a:latin typeface="+mn-lt"/>
              </a:rPr>
              <a:t>x8 </a:t>
            </a:r>
            <a:r>
              <a:rPr lang="zh-CN" altLang="en-US" sz="1800" dirty="0">
                <a:latin typeface="+mn-lt"/>
              </a:rPr>
              <a:t>作为帧指针</a:t>
            </a:r>
            <a:r>
              <a:rPr lang="en-US" altLang="zh-CN" sz="1800" dirty="0">
                <a:latin typeface="+mn-lt"/>
              </a:rPr>
              <a:t>(</a:t>
            </a:r>
            <a:r>
              <a:rPr lang="en-GB" altLang="zh-CN" sz="1800" dirty="0" err="1">
                <a:latin typeface="+mn-lt"/>
              </a:rPr>
              <a:t>fp</a:t>
            </a:r>
            <a:r>
              <a:rPr lang="en-GB" altLang="zh-CN" sz="1800" dirty="0">
                <a:latin typeface="+mn-lt"/>
              </a:rPr>
              <a:t>) </a:t>
            </a:r>
            <a:r>
              <a:rPr lang="zh-CN" altLang="en-US" sz="1800" dirty="0">
                <a:latin typeface="+mn-lt"/>
              </a:rPr>
              <a:t>来固定指向当前函数的</a:t>
            </a:r>
            <a:r>
              <a:rPr lang="zh-CN" altLang="en-US" sz="1800" b="1" dirty="0">
                <a:latin typeface="+mn-lt"/>
              </a:rPr>
              <a:t>栈桢基址</a:t>
            </a:r>
            <a:endParaRPr lang="en-US" altLang="zh-CN" sz="1800" b="1" dirty="0">
              <a:latin typeface="+mn-lt"/>
            </a:endParaRPr>
          </a:p>
          <a:p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zh-CN" altLang="en-US" sz="1800" dirty="0">
                <a:latin typeface="+mn-lt"/>
              </a:rPr>
              <a:t>使用 </a:t>
            </a:r>
            <a:r>
              <a:rPr lang="en-GB" altLang="zh-CN" sz="1800" b="1" dirty="0">
                <a:latin typeface="+mn-lt"/>
              </a:rPr>
              <a:t>a0 </a:t>
            </a:r>
            <a:r>
              <a:rPr lang="zh-CN" altLang="en-US" sz="1800" b="1" dirty="0">
                <a:latin typeface="+mn-lt"/>
              </a:rPr>
              <a:t>寄存器</a:t>
            </a:r>
            <a:r>
              <a:rPr lang="zh-CN" altLang="en-US" sz="1800" dirty="0">
                <a:latin typeface="+mn-lt"/>
              </a:rPr>
              <a:t>作为表达式计算结果的默认存放寄存器（函数返回值也约定放在 </a:t>
            </a:r>
            <a:r>
              <a:rPr lang="en-GB" altLang="zh-CN" sz="1800" dirty="0">
                <a:latin typeface="+mn-lt"/>
              </a:rPr>
              <a:t>a0</a:t>
            </a:r>
            <a:r>
              <a:rPr lang="zh-CN" altLang="en-GB" sz="1800" dirty="0">
                <a:latin typeface="+mn-lt"/>
              </a:rPr>
              <a:t>）</a:t>
            </a:r>
            <a:endParaRPr lang="en-US" altLang="zh-CN" sz="1800" dirty="0">
              <a:latin typeface="+mn-lt"/>
            </a:endParaRPr>
          </a:p>
          <a:p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zh-CN" altLang="en-US" sz="1800" dirty="0">
                <a:latin typeface="+mn-lt"/>
                <a:ea typeface="汉仪中黑 197" panose="00020600040101010101" charset="-122"/>
              </a:rPr>
              <a:t>避免寄存器分配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: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使用栈来保存局部变量和临时数据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endParaRPr lang="zh-CN" altLang="en-US" sz="1800" dirty="0">
              <a:latin typeface="+mn-lt"/>
              <a:cs typeface="Linux Libertine" panose="02000503000000000000" pitchFamily="2" charset="0"/>
            </a:endParaRPr>
          </a:p>
          <a:p>
            <a:endParaRPr lang="en-US" altLang="zh-CN" sz="1800" dirty="0">
              <a:latin typeface="+mn-lt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Cambria" panose="02040503050406030204" charset="0"/>
                <a:ea typeface="汉仪中黑 197" panose="00020600040101010101" charset="-122"/>
              </a:rPr>
              <a:t>实验内容</a:t>
            </a:r>
            <a:endParaRPr dirty="0"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882" y="1362550"/>
            <a:ext cx="5283242" cy="4928532"/>
          </a:xfrm>
        </p:spPr>
        <p:txBody>
          <a:bodyPr>
            <a:normAutofit/>
          </a:bodyPr>
          <a:lstStyle/>
          <a:p>
            <a:r>
              <a:rPr lang="zh-CN" altLang="en-US" sz="1800" dirty="0">
                <a:latin typeface="+mn-lt"/>
                <a:cs typeface="Linux Libertine" panose="02000503000000000000" pitchFamily="2" charset="0"/>
              </a:rPr>
              <a:t>本次实验在</a:t>
            </a:r>
            <a:r>
              <a:rPr lang="en-US" altLang="zh-CN" sz="1800" dirty="0">
                <a:latin typeface="+mn-lt"/>
                <a:cs typeface="Linux Libertine" panose="02000503000000000000" pitchFamily="2" charset="0"/>
              </a:rPr>
              <a:t>Tutorial 6</a:t>
            </a:r>
            <a:r>
              <a:rPr lang="zh-CN" altLang="en-US" sz="1800" dirty="0">
                <a:latin typeface="+mn-lt"/>
                <a:cs typeface="Linux Libertine" panose="02000503000000000000" pitchFamily="2" charset="0"/>
              </a:rPr>
              <a:t>的基础上，实现</a:t>
            </a:r>
            <a:r>
              <a:rPr lang="en-US" altLang="zh-CN" sz="1800" b="1" dirty="0">
                <a:latin typeface="+mn-lt"/>
                <a:cs typeface="Linux Libertine" panose="02000503000000000000" pitchFamily="2" charset="0"/>
              </a:rPr>
              <a:t>Instruction Selection</a:t>
            </a:r>
            <a:r>
              <a:rPr lang="zh-CN" altLang="en-US" sz="1800" b="1" dirty="0">
                <a:latin typeface="+mn-lt"/>
                <a:cs typeface="Linux Libertine" panose="02000503000000000000" pitchFamily="2" charset="0"/>
              </a:rPr>
              <a:t>（</a:t>
            </a:r>
            <a:r>
              <a:rPr lang="en-US" altLang="zh-CN" sz="1800" b="1" dirty="0">
                <a:latin typeface="+mn-lt"/>
                <a:cs typeface="Linux Libertine" panose="02000503000000000000" pitchFamily="2" charset="0"/>
              </a:rPr>
              <a:t>tree covering</a:t>
            </a:r>
            <a:r>
              <a:rPr lang="zh-CN" altLang="en-US" sz="1800" b="1" dirty="0">
                <a:latin typeface="+mn-lt"/>
                <a:cs typeface="Linux Libertine" panose="02000503000000000000" pitchFamily="2" charset="0"/>
              </a:rPr>
              <a:t>）</a:t>
            </a:r>
            <a:endParaRPr lang="en-US" altLang="zh-CN" sz="1800" b="1" dirty="0">
              <a:latin typeface="+mn-lt"/>
              <a:cs typeface="Linux Libertine" panose="02000503000000000000" pitchFamily="2" charset="0"/>
            </a:endParaRPr>
          </a:p>
          <a:p>
            <a:endParaRPr lang="en-US" altLang="zh-CN" sz="1800" dirty="0">
              <a:latin typeface="+mn-lt"/>
              <a:cs typeface="Linux Libertine" panose="02000503000000000000" pitchFamily="2" charset="0"/>
            </a:endParaRPr>
          </a:p>
          <a:p>
            <a:r>
              <a:rPr lang="zh-CN" altLang="en-US" sz="1800" dirty="0">
                <a:latin typeface="+mn-lt"/>
                <a:cs typeface="Linux Libertine" panose="02000503000000000000" pitchFamily="2" charset="0"/>
              </a:rPr>
              <a:t>使用虚拟寄存器保存局部变量和临时数据，且设定虚拟寄存器个数没有限制</a:t>
            </a:r>
            <a:endParaRPr lang="en-US" altLang="zh-CN" sz="1800" dirty="0">
              <a:latin typeface="+mn-lt"/>
              <a:cs typeface="Linux Libertine" panose="02000503000000000000" pitchFamily="2" charset="0"/>
            </a:endParaRPr>
          </a:p>
          <a:p>
            <a:endParaRPr lang="en-US" altLang="zh-CN" sz="1800" dirty="0">
              <a:latin typeface="+mn-lt"/>
              <a:cs typeface="Linux Libertine" panose="02000503000000000000" pitchFamily="2" charset="0"/>
            </a:endParaRPr>
          </a:p>
          <a:p>
            <a:r>
              <a:rPr lang="zh-CN" altLang="en-US" sz="1800" dirty="0">
                <a:latin typeface="+mn-lt"/>
              </a:rPr>
              <a:t>使用 </a:t>
            </a:r>
            <a:r>
              <a:rPr lang="en-GB" altLang="zh-CN" sz="1800" b="1" dirty="0">
                <a:latin typeface="+mn-lt"/>
              </a:rPr>
              <a:t>a0 </a:t>
            </a:r>
            <a:r>
              <a:rPr lang="zh-CN" altLang="en-US" sz="1800" b="1" dirty="0">
                <a:latin typeface="+mn-lt"/>
              </a:rPr>
              <a:t>寄存器</a:t>
            </a:r>
            <a:r>
              <a:rPr lang="zh-CN" altLang="en-US" sz="1800" dirty="0">
                <a:latin typeface="+mn-lt"/>
              </a:rPr>
              <a:t>作为表达式计算结果的默认存放寄存器（函数返回值也约定放在 </a:t>
            </a:r>
            <a:r>
              <a:rPr lang="en-GB" altLang="zh-CN" sz="1800" dirty="0">
                <a:latin typeface="+mn-lt"/>
              </a:rPr>
              <a:t>a0</a:t>
            </a:r>
            <a:r>
              <a:rPr lang="zh-CN" altLang="en-GB" sz="1800" dirty="0">
                <a:latin typeface="+mn-lt"/>
              </a:rPr>
              <a:t>）</a:t>
            </a:r>
            <a:endParaRPr lang="en-US" altLang="zh-CN" sz="1800" dirty="0">
              <a:latin typeface="+mn-lt"/>
            </a:endParaRPr>
          </a:p>
          <a:p>
            <a:endParaRPr lang="zh-CN" altLang="en-US" sz="1800" dirty="0">
              <a:latin typeface="+mn-lt"/>
              <a:cs typeface="Linux Libertine" panose="02000503000000000000" pitchFamily="2" charset="0"/>
            </a:endParaRPr>
          </a:p>
          <a:p>
            <a:endParaRPr lang="en-US" altLang="zh-CN" sz="1800" dirty="0">
              <a:latin typeface="+mn-lt"/>
              <a:ea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114" y="1182695"/>
            <a:ext cx="3285688" cy="4928532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/>
        </p:nvCxnSpPr>
        <p:spPr>
          <a:xfrm>
            <a:off x="5886012" y="1828800"/>
            <a:ext cx="1999639" cy="1661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Cambria" panose="02040503050406030204" charset="0"/>
                <a:ea typeface="汉仪中黑 197" panose="00020600040101010101" charset="-122"/>
              </a:rPr>
              <a:t>实验步骤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9550444" cy="538890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zh-CN" altLang="en-US" sz="1800" dirty="0">
                <a:latin typeface="+mn-lt"/>
                <a:ea typeface="汉仪中黑 197" panose="00020600040101010101" charset="-122"/>
              </a:rPr>
              <a:t>下载群里的 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Simpl_riscv.zip 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和 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tutorial7.zip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zh-CN" altLang="en-US" sz="1800" dirty="0">
                <a:latin typeface="+mn-lt"/>
                <a:ea typeface="汉仪中黑 197" panose="00020600040101010101" charset="-122"/>
              </a:rPr>
              <a:t>将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tutorial7.zip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中的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main.ml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替换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Simpl_riscv/Simpl_riscv/bin/main.ml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zh-CN" altLang="en-US" sz="1800" dirty="0">
                <a:latin typeface="+mn-lt"/>
                <a:ea typeface="汉仪中黑 197" panose="00020600040101010101" charset="-122"/>
              </a:rPr>
              <a:t>完成本次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tutorial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的任务，补全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main.ml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代码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zh-CN" altLang="en-US" sz="1800" dirty="0">
                <a:latin typeface="+mn-lt"/>
                <a:ea typeface="汉仪中黑 197" panose="00020600040101010101" charset="-122"/>
              </a:rPr>
              <a:t>使用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tutorial7.zip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中的例子，将得到的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RISC v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汇编与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tutorial6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得到的汇编进行对比，深刻理解基于树模式匹配的指令选择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charset="0"/>
                <a:ea typeface="汉仪中黑 197" panose="00020600040101010101" charset="-122"/>
              </a:rPr>
              <a:t>main.ml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charset="0"/>
                <a:ea typeface="汉仪中黑 197" panose="00020600040101010101" charset="-122"/>
              </a:rPr>
              <a:t>部分新增代码解析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9550444" cy="538890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zh-CN" altLang="en-US" sz="1800" b="1" dirty="0">
                <a:latin typeface="+mn-lt"/>
                <a:ea typeface="汉仪中黑 197" panose="00020600040101010101" charset="-122"/>
              </a:rPr>
              <a:t>虚拟寄存器分配</a:t>
            </a:r>
            <a:endParaRPr lang="en-US" altLang="zh-CN" sz="1800" b="1" dirty="0">
              <a:latin typeface="+mn-lt"/>
              <a:ea typeface="汉仪中黑 197" panose="00020600040101010101" charset="-122"/>
            </a:endParaRPr>
          </a:p>
          <a:p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zh-CN" altLang="en-US" sz="1800" dirty="0">
                <a:latin typeface="+mn-lt"/>
                <a:ea typeface="汉仪中黑 197" panose="00020600040101010101" charset="-122"/>
              </a:rPr>
              <a:t>引入虚拟寄存器系统，替代原来的栈内存管理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zh-CN" altLang="en-US" sz="1800" dirty="0">
                <a:latin typeface="+mn-lt"/>
                <a:ea typeface="汉仪中黑 197" panose="00020600040101010101" charset="-122"/>
              </a:rPr>
              <a:t>每次需要临时存储值时，分配一个新的虚拟寄存器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(a1, a2...)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而非使用栈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en-US" altLang="zh-CN" sz="1800" dirty="0" err="1">
                <a:latin typeface="+mn-lt"/>
                <a:ea typeface="汉仪中黑 197" panose="00020600040101010101" charset="-122"/>
              </a:rPr>
              <a:t>vreg_count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记录已分配的虚拟寄存器数量，</a:t>
            </a:r>
            <a:r>
              <a:rPr lang="en-US" altLang="zh-CN" sz="1800" dirty="0" err="1">
                <a:latin typeface="+mn-lt"/>
                <a:ea typeface="汉仪中黑 197" panose="00020600040101010101" charset="-122"/>
              </a:rPr>
              <a:t>fresh_vreg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函数返回新的寄存器编号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zh-CN" altLang="en-US" sz="1800" dirty="0">
                <a:latin typeface="+mn-lt"/>
                <a:ea typeface="汉仪中黑 197" panose="00020600040101010101" charset="-122"/>
              </a:rPr>
              <a:t>在</a:t>
            </a:r>
            <a:r>
              <a:rPr lang="en-US" altLang="zh-CN" sz="1800" dirty="0" err="1">
                <a:latin typeface="+mn-lt"/>
                <a:ea typeface="汉仪中黑 197" panose="00020600040101010101" charset="-122"/>
              </a:rPr>
              <a:t>Simpl_riscv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的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main.ml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中，是使用栈</a:t>
            </a:r>
            <a:r>
              <a:rPr lang="en-US" altLang="zh-CN" sz="1800" dirty="0" err="1">
                <a:latin typeface="+mn-lt"/>
                <a:ea typeface="汉仪中黑 197" panose="00020600040101010101" charset="-122"/>
              </a:rPr>
              <a:t>sp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去保存左操作数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2989" y="1082693"/>
            <a:ext cx="3995256" cy="13509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3211" y="4773627"/>
            <a:ext cx="4032102" cy="8159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charset="0"/>
                <a:ea typeface="汉仪中黑 197" panose="00020600040101010101" charset="-122"/>
              </a:rPr>
              <a:t>main.ml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charset="0"/>
                <a:ea typeface="汉仪中黑 197" panose="00020600040101010101" charset="-122"/>
              </a:rPr>
              <a:t>部分新增代码解析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9550444" cy="538890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zh-CN" altLang="en-US" sz="1800" b="1" dirty="0">
                <a:latin typeface="+mn-lt"/>
                <a:ea typeface="汉仪中黑 197" panose="00020600040101010101" charset="-122"/>
              </a:rPr>
              <a:t>简单的常量折叠</a:t>
            </a:r>
            <a:endParaRPr lang="en-US" altLang="zh-CN" sz="1800" b="1" dirty="0">
              <a:latin typeface="+mn-lt"/>
              <a:ea typeface="汉仪中黑 197" panose="00020600040101010101" charset="-122"/>
            </a:endParaRPr>
          </a:p>
          <a:p>
            <a:pPr marL="0" indent="0">
              <a:buNone/>
            </a:pP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pPr marL="0" indent="0">
              <a:buNone/>
            </a:pP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zh-CN" altLang="en-US" sz="1800" b="1" dirty="0">
                <a:latin typeface="+mn-lt"/>
                <a:ea typeface="汉仪中黑 197" panose="00020600040101010101" charset="-122"/>
              </a:rPr>
              <a:t>返回值结构改变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：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string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包含指令序列，结果寄存器编号指明结果存储在哪个寄存器                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pPr marL="0" indent="0">
              <a:buNone/>
            </a:pP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endParaRPr lang="en-US" altLang="zh-CN" sz="1800" dirty="0">
              <a:latin typeface="+mn-lt"/>
              <a:ea typeface="汉仪中黑 197" panose="0002060004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6420" y="1290399"/>
            <a:ext cx="2452185" cy="1228719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365306" y="1272378"/>
            <a:ext cx="1147313" cy="4313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500" b="1" spc="150" dirty="0">
                <a:solidFill>
                  <a:schemeClr val="tx1"/>
                </a:solidFill>
                <a:latin typeface="Cambria" panose="02040503050406030204" charset="0"/>
                <a:ea typeface="汉仪中黑 197" panose="00020600040101010101" charset="-122"/>
              </a:rPr>
              <a:t>Num(10)</a:t>
            </a:r>
            <a:endParaRPr lang="zh-CN" altLang="en-US" sz="1500" b="1" spc="150" dirty="0">
              <a:solidFill>
                <a:schemeClr val="tx1"/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11" name="箭头: 右 10"/>
          <p:cNvSpPr/>
          <p:nvPr/>
        </p:nvSpPr>
        <p:spPr>
          <a:xfrm>
            <a:off x="5434012" y="1385644"/>
            <a:ext cx="652463" cy="2047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264693" y="1068991"/>
            <a:ext cx="4991100" cy="17462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359" y="3996254"/>
            <a:ext cx="8187459" cy="57307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charset="0"/>
                <a:ea typeface="汉仪中黑 197" panose="00020600040101010101" charset="-122"/>
              </a:rPr>
              <a:t>main.ml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charset="0"/>
                <a:ea typeface="汉仪中黑 197" panose="00020600040101010101" charset="-122"/>
              </a:rPr>
              <a:t>部分新增代码解析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9550444" cy="538890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zh-CN" altLang="en-US" sz="1800" b="1" dirty="0">
                <a:latin typeface="+mn-lt"/>
                <a:ea typeface="汉仪中黑 197" panose="00020600040101010101" charset="-122"/>
              </a:rPr>
              <a:t>基于树模式匹配的指令选择算法</a:t>
            </a:r>
            <a:endParaRPr lang="en-US" altLang="zh-CN" sz="1800" b="1" dirty="0">
              <a:latin typeface="+mn-lt"/>
              <a:ea typeface="汉仪中黑 197" panose="00020600040101010101" charset="-122"/>
            </a:endParaRPr>
          </a:p>
          <a:p>
            <a:r>
              <a:rPr lang="zh-CN" altLang="en-US" sz="1800" dirty="0">
                <a:latin typeface="+mn-lt"/>
                <a:ea typeface="汉仪中黑 197" panose="00020600040101010101" charset="-122"/>
              </a:rPr>
              <a:t>算法流程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pPr lvl="1"/>
            <a:r>
              <a:rPr lang="zh-CN" altLang="en-US" sz="1800" dirty="0">
                <a:latin typeface="+mn-lt"/>
                <a:ea typeface="汉仪中黑 197" panose="00020600040101010101" charset="-122"/>
              </a:rPr>
              <a:t>自顶向下递归遍历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AST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：从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AST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根节点开始，递归处理每个子节点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pPr lvl="1"/>
            <a:r>
              <a:rPr lang="zh-CN" altLang="en-US" sz="1800" dirty="0">
                <a:latin typeface="+mn-lt"/>
                <a:ea typeface="汉仪中黑 197" panose="00020600040101010101" charset="-122"/>
              </a:rPr>
              <a:t>首先检查常量折叠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pPr lvl="1"/>
            <a:r>
              <a:rPr lang="zh-CN" altLang="en-US" sz="1800" dirty="0">
                <a:latin typeface="+mn-lt"/>
                <a:ea typeface="汉仪中黑 197" panose="00020600040101010101" charset="-122"/>
              </a:rPr>
              <a:t>返回 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(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指令序列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, 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虚拟寄存器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) 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对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zh-CN" altLang="en-US" sz="1800" dirty="0">
                <a:latin typeface="+mn-lt"/>
                <a:ea typeface="汉仪中黑 197" panose="00020600040101010101" charset="-122"/>
              </a:rPr>
              <a:t>模式识别与匹配：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pPr lvl="1"/>
            <a:r>
              <a:rPr lang="zh-CN" altLang="en-US" sz="1800" dirty="0">
                <a:latin typeface="+mn-lt"/>
                <a:ea typeface="汉仪中黑 197" panose="00020600040101010101" charset="-122"/>
              </a:rPr>
              <a:t>在遍历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AST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时，匹配节点的结构根据模式选择最优指令序列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zh-CN" altLang="en-US" sz="1800" dirty="0">
                <a:latin typeface="+mn-lt"/>
                <a:ea typeface="汉仪中黑 197" panose="00020600040101010101" charset="-122"/>
              </a:rPr>
              <a:t>虚拟寄存器分配：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pPr lvl="1"/>
            <a:r>
              <a:rPr lang="zh-CN" altLang="en-US" sz="1800" dirty="0">
                <a:latin typeface="+mn-lt"/>
                <a:ea typeface="汉仪中黑 197" panose="00020600040101010101" charset="-122"/>
              </a:rPr>
              <a:t>为每个中间结果分配唯一的虚拟寄存器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pPr lvl="1"/>
            <a:r>
              <a:rPr lang="zh-CN" altLang="en-US" sz="1800" dirty="0">
                <a:latin typeface="+mn-lt"/>
                <a:ea typeface="汉仪中黑 197" panose="00020600040101010101" charset="-122"/>
              </a:rPr>
              <a:t>使用 </a:t>
            </a:r>
            <a:r>
              <a:rPr lang="en-US" altLang="zh-CN" sz="1800" dirty="0" err="1">
                <a:latin typeface="+mn-lt"/>
                <a:ea typeface="汉仪中黑 197" panose="00020600040101010101" charset="-122"/>
              </a:rPr>
              <a:t>fresh_vreg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 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函数生成新的寄存器编号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pPr marL="0" indent="0">
              <a:buNone/>
            </a:pP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endParaRPr lang="en-US" altLang="zh-CN" sz="1800" dirty="0">
              <a:latin typeface="+mn-lt"/>
              <a:ea typeface="汉仪中黑 197" panose="0002060004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20" y="443234"/>
            <a:ext cx="11347160" cy="6248819"/>
          </a:xfrm>
        </p:spPr>
      </p:pic>
      <p:sp>
        <p:nvSpPr>
          <p:cNvPr id="8" name="箭头: 右 7"/>
          <p:cNvSpPr/>
          <p:nvPr/>
        </p:nvSpPr>
        <p:spPr>
          <a:xfrm>
            <a:off x="5120640" y="1686558"/>
            <a:ext cx="975360" cy="3589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22420" y="5134187"/>
            <a:ext cx="3218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-O(0/1/2) -</a:t>
            </a:r>
            <a:r>
              <a:rPr lang="en-US" altLang="zh-CN" dirty="0" err="1">
                <a:highlight>
                  <a:srgbClr val="FFFF00"/>
                </a:highlight>
              </a:rPr>
              <a:t>ftree</a:t>
            </a:r>
            <a:r>
              <a:rPr lang="en-US" altLang="zh-CN" dirty="0">
                <a:highlight>
                  <a:srgbClr val="FFFF00"/>
                </a:highlight>
              </a:rPr>
              <a:t>-vectorize</a:t>
            </a:r>
            <a:endParaRPr lang="zh-CN" altLang="en-US" dirty="0">
              <a:highlight>
                <a:srgbClr val="FFFF00"/>
              </a:highlight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Cambria" panose="02040503050406030204" charset="0"/>
                <a:ea typeface="汉仪中黑 197" panose="00020600040101010101" charset="-122"/>
              </a:rPr>
              <a:t>Task1: </a:t>
            </a:r>
            <a:r>
              <a:rPr lang="zh-CN" altLang="en-US" dirty="0">
                <a:latin typeface="Cambria" panose="02040503050406030204" charset="0"/>
                <a:ea typeface="汉仪中黑 197" panose="00020600040101010101" charset="-122"/>
              </a:rPr>
              <a:t>常量折叠补全函数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eval_const_expr</a:t>
            </a:r>
            <a:endParaRPr lang="en-US" altLang="zh-CN" dirty="0"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9550444" cy="538890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en-US" altLang="zh-CN" sz="1800" dirty="0">
                <a:latin typeface="+mn-lt"/>
                <a:ea typeface="汉仪中黑 197" panose="00020600040101010101" charset="-122"/>
              </a:rPr>
              <a:t>1. 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对于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op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类型为 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Add, Sub, Mul, </a:t>
            </a:r>
            <a:r>
              <a:rPr lang="en-US" altLang="zh-CN" sz="1800" dirty="0" err="1">
                <a:latin typeface="+mn-lt"/>
                <a:ea typeface="汉仪中黑 197" panose="00020600040101010101" charset="-122"/>
              </a:rPr>
              <a:t>Div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，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pPr marL="457200" lvl="1" indent="0">
              <a:buNone/>
            </a:pPr>
            <a:r>
              <a:rPr lang="zh-CN" altLang="en-US" sz="1800" dirty="0">
                <a:latin typeface="+mn-lt"/>
                <a:ea typeface="汉仪中黑 197" panose="00020600040101010101" charset="-122"/>
              </a:rPr>
              <a:t>并且两个操作数为 立即数 的子树进行常量折叠</a:t>
            </a:r>
            <a:endParaRPr lang="zh-CN" altLang="en-US" sz="1800" dirty="0">
              <a:latin typeface="+mn-lt"/>
              <a:ea typeface="汉仪中黑 197" panose="00020600040101010101" charset="-122"/>
            </a:endParaRPr>
          </a:p>
          <a:p>
            <a:pPr marL="457200" lvl="1" indent="0">
              <a:buNone/>
            </a:pP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pPr marL="457200" lvl="1" indent="0">
              <a:buNone/>
            </a:pPr>
            <a:r>
              <a:rPr sz="1800" dirty="0">
                <a:latin typeface="+mn-lt"/>
                <a:ea typeface="汉仪中黑 197" panose="00020600040101010101" charset="-122"/>
              </a:rPr>
              <a:t>拓展：实现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 “</a:t>
            </a:r>
            <a:r>
              <a:rPr sz="1800" dirty="0">
                <a:latin typeface="+mn-lt"/>
                <a:ea typeface="汉仪中黑 197" panose="00020600040101010101" charset="-122"/>
              </a:rPr>
              <a:t>更强大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” </a:t>
            </a:r>
            <a:r>
              <a:rPr sz="1800" dirty="0">
                <a:latin typeface="+mn-lt"/>
                <a:ea typeface="汉仪中黑 197" panose="00020600040101010101" charset="-122"/>
              </a:rPr>
              <a:t>的常量折叠，课上</a:t>
            </a:r>
            <a:r>
              <a:rPr sz="1800" dirty="0">
                <a:latin typeface="+mn-lt"/>
                <a:ea typeface="汉仪中黑 197" panose="00020600040101010101" charset="-122"/>
              </a:rPr>
              <a:t>不做要求</a:t>
            </a:r>
            <a:endParaRPr sz="1800" dirty="0">
              <a:latin typeface="+mn-lt"/>
              <a:ea typeface="汉仪中黑 197" panose="00020600040101010101" charset="-122"/>
            </a:endParaRPr>
          </a:p>
          <a:p>
            <a:pPr marL="457200" lvl="1" indent="457200">
              <a:buNone/>
            </a:pPr>
            <a:r>
              <a:rPr lang="en-US" altLang="zh-CN" sz="1800" dirty="0">
                <a:latin typeface="+mn-lt"/>
                <a:ea typeface="汉仪中黑 197" panose="00020600040101010101" charset="-122"/>
              </a:rPr>
              <a:t>e.g. 5 * 9 - 10 + 0 / 10 -&gt;  35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Cambria" panose="02040503050406030204" charset="0"/>
                <a:ea typeface="汉仪中黑 197" panose="00020600040101010101" charset="-122"/>
              </a:rPr>
              <a:t>Task2:</a:t>
            </a:r>
            <a:r>
              <a:rPr lang="zh-CN" altLang="en-US" dirty="0">
                <a:latin typeface="Cambria" panose="02040503050406030204" charset="0"/>
                <a:ea typeface="汉仪中黑 197" panose="00020600040101010101" charset="-122"/>
              </a:rPr>
              <a:t>加法操作优化</a:t>
            </a:r>
            <a:r>
              <a:rPr lang="en-US" altLang="zh-CN" dirty="0">
                <a:latin typeface="Cambria" panose="02040503050406030204" charset="0"/>
                <a:ea typeface="汉仪中黑 197" panose="00020600040101010101" charset="-122"/>
              </a:rPr>
              <a:t> </a:t>
            </a:r>
            <a:r>
              <a:rPr lang="zh-CN" altLang="en-US" dirty="0">
                <a:latin typeface="Cambria" panose="02040503050406030204" charset="0"/>
                <a:ea typeface="汉仪中黑 197" panose="00020600040101010101" charset="-122"/>
              </a:rPr>
              <a:t>补全</a:t>
            </a:r>
            <a:r>
              <a:rPr lang="en-US" altLang="zh-CN" dirty="0">
                <a:latin typeface="Cambria" panose="02040503050406030204" charset="0"/>
                <a:ea typeface="汉仪中黑 197" panose="00020600040101010101" charset="-122"/>
              </a:rPr>
              <a:t> </a:t>
            </a:r>
            <a:r>
              <a:rPr lang="en-US" altLang="zh-C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Binop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(op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e1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e2) op</a:t>
            </a:r>
            <a:r>
              <a:rPr lang="zh-CN" altLang="en-US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zh-CN" altLang="en-US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</a:t>
            </a:r>
            <a:endParaRPr lang="en-US" altLang="zh-CN" dirty="0"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9550444" cy="590549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en-US" altLang="zh-CN" sz="1800" dirty="0">
                <a:latin typeface="+mn-lt"/>
                <a:ea typeface="汉仪中黑 197" panose="00020600040101010101" charset="-122"/>
              </a:rPr>
              <a:t>1. 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识别 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a + (b * c) 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模式，使用乘加指令 </a:t>
            </a:r>
            <a:r>
              <a:rPr lang="en-US" altLang="zh-CN" sz="1800" dirty="0" err="1">
                <a:latin typeface="+mn-lt"/>
                <a:ea typeface="汉仪中黑 197" panose="00020600040101010101" charset="-122"/>
              </a:rPr>
              <a:t>madd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pPr lvl="1"/>
            <a:r>
              <a:rPr lang="en-US" altLang="zh-CN" sz="1800" dirty="0">
                <a:latin typeface="+mn-lt"/>
                <a:ea typeface="汉仪中黑 197" panose="00020600040101010101" charset="-122"/>
              </a:rPr>
              <a:t>E.g.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 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simpl_test6.in &amp; output6.s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pPr lvl="1"/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en-US" altLang="zh-CN" sz="1800" dirty="0">
                <a:latin typeface="+mn-lt"/>
                <a:ea typeface="汉仪中黑 197" panose="00020600040101010101" charset="-122"/>
              </a:rPr>
              <a:t>2. 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识别 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a + 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常量 模式，使用立即数加法 </a:t>
            </a:r>
            <a:r>
              <a:rPr lang="en-US" altLang="zh-CN" sz="1800" dirty="0" err="1">
                <a:latin typeface="+mn-lt"/>
                <a:ea typeface="汉仪中黑 197" panose="00020600040101010101" charset="-122"/>
              </a:rPr>
              <a:t>addi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pPr lvl="1"/>
            <a:r>
              <a:rPr lang="en-US" altLang="zh-CN" sz="1800" dirty="0">
                <a:latin typeface="+mn-lt"/>
                <a:ea typeface="汉仪中黑 197" panose="00020600040101010101" charset="-122"/>
              </a:rPr>
              <a:t>E.g.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 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simpl_test7.in &amp; output7.s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pPr lvl="1"/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en-US" altLang="zh-CN" sz="1800" dirty="0">
                <a:latin typeface="+mn-lt"/>
                <a:ea typeface="汉仪中黑 197" panose="00020600040101010101" charset="-122"/>
              </a:rPr>
              <a:t>3. 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一般情况下的加法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zh-CN" altLang="en-US" sz="1800" dirty="0">
                <a:latin typeface="+mn-lt"/>
                <a:ea typeface="汉仪中黑 197" panose="00020600040101010101" charset="-122"/>
              </a:rPr>
              <a:t>由于设计的树模式匹配的指令选择是自顶向下的，所以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simpl_test6.in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中的例子生成的汇编指令是</a:t>
            </a:r>
            <a:r>
              <a:rPr lang="en-US" altLang="zh-CN" sz="1800" dirty="0" err="1">
                <a:latin typeface="+mn-lt"/>
                <a:ea typeface="汉仪中黑 197" panose="00020600040101010101" charset="-122"/>
              </a:rPr>
              <a:t>madd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而不是</a:t>
            </a:r>
            <a:r>
              <a:rPr lang="en-US" altLang="zh-CN" sz="1800" dirty="0" err="1">
                <a:latin typeface="+mn-lt"/>
                <a:ea typeface="汉仪中黑 197" panose="00020600040101010101" charset="-122"/>
              </a:rPr>
              <a:t>addi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zh-CN" altLang="en-US" sz="1800" dirty="0">
                <a:latin typeface="+mn-lt"/>
                <a:ea typeface="汉仪中黑 197" panose="00020600040101010101" charset="-122"/>
              </a:rPr>
              <a:t>可以参考</a:t>
            </a:r>
            <a:r>
              <a:rPr lang="en-US" altLang="zh-CN" sz="1800" dirty="0" err="1">
                <a:latin typeface="+mn-lt"/>
                <a:ea typeface="汉仪中黑 197" panose="00020600040101010101" charset="-122"/>
              </a:rPr>
              <a:t>Binop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分支中</a:t>
            </a:r>
            <a:r>
              <a:rPr lang="en-US" altLang="zh-CN" sz="1800" dirty="0" err="1">
                <a:latin typeface="+mn-lt"/>
                <a:ea typeface="汉仪中黑 197" panose="00020600040101010101" charset="-122"/>
              </a:rPr>
              <a:t>Div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的实现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1465" y="1201487"/>
            <a:ext cx="3382863" cy="181793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608" y="3590687"/>
            <a:ext cx="2452185" cy="122871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8246494" y="3572666"/>
            <a:ext cx="1147313" cy="4313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500" b="1" spc="150" dirty="0">
                <a:solidFill>
                  <a:schemeClr val="tx1"/>
                </a:solidFill>
                <a:latin typeface="Cambria" panose="02040503050406030204" charset="0"/>
                <a:ea typeface="汉仪中黑 197" panose="00020600040101010101" charset="-122"/>
              </a:rPr>
              <a:t>Num(10)</a:t>
            </a:r>
            <a:endParaRPr lang="zh-CN" altLang="en-US" sz="1500" b="1" spc="150" dirty="0">
              <a:solidFill>
                <a:schemeClr val="tx1"/>
              </a:solidFill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12" name="箭头: 右 11"/>
          <p:cNvSpPr/>
          <p:nvPr/>
        </p:nvSpPr>
        <p:spPr>
          <a:xfrm>
            <a:off x="7315200" y="3685932"/>
            <a:ext cx="652463" cy="2047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45881" y="3369279"/>
            <a:ext cx="4991100" cy="17462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Cambria" panose="02040503050406030204" charset="0"/>
                <a:ea typeface="汉仪中黑 197" panose="00020600040101010101" charset="-122"/>
              </a:rPr>
              <a:t>Task3:</a:t>
            </a:r>
            <a:r>
              <a:rPr lang="zh-CN" altLang="en-US" dirty="0">
                <a:latin typeface="Cambria" panose="02040503050406030204" charset="0"/>
                <a:ea typeface="汉仪中黑 197" panose="00020600040101010101" charset="-122"/>
              </a:rPr>
              <a:t>乘法操作优化</a:t>
            </a:r>
            <a:r>
              <a:rPr lang="en-US" altLang="zh-CN" dirty="0">
                <a:latin typeface="Cambria" panose="02040503050406030204" charset="0"/>
                <a:ea typeface="汉仪中黑 197" panose="00020600040101010101" charset="-122"/>
              </a:rPr>
              <a:t> </a:t>
            </a:r>
            <a:r>
              <a:rPr lang="zh-CN" altLang="en-US" dirty="0">
                <a:latin typeface="Cambria" panose="02040503050406030204" charset="0"/>
                <a:ea typeface="汉仪中黑 197" panose="00020600040101010101" charset="-122"/>
              </a:rPr>
              <a:t>补全</a:t>
            </a:r>
            <a:r>
              <a:rPr lang="en-US" altLang="zh-CN" dirty="0">
                <a:latin typeface="Cambria" panose="02040503050406030204" charset="0"/>
                <a:ea typeface="汉仪中黑 197" panose="00020600040101010101" charset="-122"/>
              </a:rPr>
              <a:t> </a:t>
            </a:r>
            <a:r>
              <a:rPr lang="en-US" altLang="zh-C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Binop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(op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e1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e2) op</a:t>
            </a:r>
            <a:r>
              <a:rPr lang="zh-CN" altLang="en-US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zh-CN" altLang="en-US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latin typeface="Consolas" panose="020B0609020204030204" pitchFamily="49" charset="0"/>
              </a:rPr>
              <a:t>Mul</a:t>
            </a:r>
            <a:endParaRPr lang="en-US" altLang="zh-CN" dirty="0"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9550444" cy="538890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en-US" altLang="zh-CN" sz="1800" dirty="0">
                <a:latin typeface="+mn-lt"/>
                <a:ea typeface="汉仪中黑 197" panose="00020600040101010101" charset="-122"/>
              </a:rPr>
              <a:t>1. 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识别 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a * 2^n 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模式，使用左移指令 </a:t>
            </a:r>
            <a:r>
              <a:rPr lang="en-US" altLang="zh-CN" sz="1800" dirty="0" err="1">
                <a:latin typeface="+mn-lt"/>
                <a:ea typeface="汉仪中黑 197" panose="00020600040101010101" charset="-122"/>
              </a:rPr>
              <a:t>slli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           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en-US" altLang="zh-CN" sz="1800" dirty="0">
                <a:latin typeface="+mn-lt"/>
                <a:ea typeface="汉仪中黑 197" panose="00020600040101010101" charset="-122"/>
              </a:rPr>
              <a:t>2. 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识别 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2^n * a 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模式，使用左移指令 </a:t>
            </a:r>
            <a:r>
              <a:rPr lang="en-US" altLang="zh-CN" sz="1800" dirty="0" err="1">
                <a:latin typeface="+mn-lt"/>
                <a:ea typeface="汉仪中黑 197" panose="00020600040101010101" charset="-122"/>
              </a:rPr>
              <a:t>slli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pPr lvl="1"/>
            <a:r>
              <a:rPr lang="en-US" altLang="zh-CN" sz="1800" dirty="0">
                <a:latin typeface="+mn-lt"/>
                <a:ea typeface="汉仪中黑 197" panose="00020600040101010101" charset="-122"/>
              </a:rPr>
              <a:t>e.g. simpl_test8.in &amp; output8.s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pPr lvl="1"/>
            <a:r>
              <a:rPr lang="zh-CN" altLang="en-US" sz="1800" dirty="0">
                <a:latin typeface="+mn-lt"/>
                <a:ea typeface="汉仪中黑 197" panose="00020600040101010101" charset="-122"/>
              </a:rPr>
              <a:t>需要使用辅助函数 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log2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en-US" altLang="zh-CN" sz="1800" dirty="0">
                <a:latin typeface="+mn-lt"/>
                <a:ea typeface="汉仪中黑 197" panose="00020600040101010101" charset="-122"/>
              </a:rPr>
              <a:t>3. 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识别两个常数相乘，直接计算结果           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en-US" altLang="zh-CN" sz="1800" dirty="0">
                <a:latin typeface="+mn-lt"/>
                <a:ea typeface="汉仪中黑 197" panose="00020600040101010101" charset="-122"/>
              </a:rPr>
              <a:t>4. 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一般乘法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Cambria" panose="02040503050406030204" charset="0"/>
                <a:ea typeface="汉仪中黑 197" panose="00020600040101010101" charset="-122"/>
              </a:rPr>
              <a:t>Task4:</a:t>
            </a:r>
            <a:r>
              <a:rPr lang="zh-CN" altLang="en-US" dirty="0">
                <a:latin typeface="Cambria" panose="02040503050406030204" charset="0"/>
                <a:ea typeface="汉仪中黑 197" panose="00020600040101010101" charset="-122"/>
              </a:rPr>
              <a:t>减法操作优化</a:t>
            </a:r>
            <a:r>
              <a:rPr lang="en-US" altLang="zh-CN" dirty="0">
                <a:latin typeface="Cambria" panose="02040503050406030204" charset="0"/>
                <a:ea typeface="汉仪中黑 197" panose="00020600040101010101" charset="-122"/>
              </a:rPr>
              <a:t> </a:t>
            </a:r>
            <a:r>
              <a:rPr lang="zh-CN" altLang="en-US" dirty="0">
                <a:latin typeface="Cambria" panose="02040503050406030204" charset="0"/>
                <a:ea typeface="汉仪中黑 197" panose="00020600040101010101" charset="-122"/>
              </a:rPr>
              <a:t>补全</a:t>
            </a:r>
            <a:r>
              <a:rPr lang="en-US" altLang="zh-CN" dirty="0">
                <a:latin typeface="Cambria" panose="02040503050406030204" charset="0"/>
                <a:ea typeface="汉仪中黑 197" panose="00020600040101010101" charset="-122"/>
              </a:rPr>
              <a:t> </a:t>
            </a:r>
            <a:r>
              <a:rPr lang="en-US" altLang="zh-C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Binop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(op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e1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e2) op</a:t>
            </a:r>
            <a:r>
              <a:rPr lang="zh-CN" altLang="en-US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zh-CN" altLang="en-US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latin typeface="Consolas" panose="020B0609020204030204" pitchFamily="49" charset="0"/>
              </a:rPr>
              <a:t>Sub</a:t>
            </a:r>
            <a:endParaRPr lang="en-US" altLang="zh-CN" dirty="0">
              <a:latin typeface="Cambria" panose="02040503050406030204" charset="0"/>
              <a:ea typeface="汉仪中黑 197" panose="00020600040101010101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9550444" cy="538890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en-US" altLang="zh-CN" sz="1800" dirty="0">
                <a:latin typeface="+mn-lt"/>
                <a:ea typeface="汉仪中黑 197" panose="00020600040101010101" charset="-122"/>
              </a:rPr>
              <a:t>1. 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识别 </a:t>
            </a:r>
            <a:r>
              <a:rPr lang="en-US" altLang="zh-CN" sz="1800" dirty="0">
                <a:latin typeface="+mn-lt"/>
                <a:ea typeface="汉仪中黑 197" panose="00020600040101010101" charset="-122"/>
              </a:rPr>
              <a:t>a - 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常量 模式，使用负数立即数加法           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  <a:p>
            <a:r>
              <a:rPr lang="en-US" altLang="zh-CN" sz="1800" dirty="0">
                <a:latin typeface="+mn-lt"/>
                <a:ea typeface="汉仪中黑 197" panose="00020600040101010101" charset="-122"/>
              </a:rPr>
              <a:t>2. </a:t>
            </a:r>
            <a:r>
              <a:rPr lang="zh-CN" altLang="en-US" sz="1800" dirty="0">
                <a:latin typeface="+mn-lt"/>
                <a:ea typeface="汉仪中黑 197" panose="00020600040101010101" charset="-122"/>
              </a:rPr>
              <a:t>一般减法</a:t>
            </a:r>
            <a:endParaRPr lang="en-US" altLang="zh-CN" sz="1800" dirty="0">
              <a:latin typeface="+mn-lt"/>
              <a:ea typeface="汉仪中黑 197" panose="0002060004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TYPE" val="y"/>
  <p:tag name="KSO_WM_UNIT_INDEX" val="1"/>
  <p:tag name="KSO_WM_UNIT_ID" val="_1*y*1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2.xml><?xml version="1.0" encoding="utf-8"?>
<p:tagLst xmlns:p="http://schemas.openxmlformats.org/presentationml/2006/main">
  <p:tag name="KSO_WM_UNIT_TYPE" val="i"/>
  <p:tag name="KSO_WM_UNIT_SUBTYPE" val="h"/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0.xml><?xml version="1.0" encoding="utf-8"?>
<p:tagLst xmlns:p="http://schemas.openxmlformats.org/presentationml/2006/main">
  <p:tag name="KSO_WM_UNIT_TYPE" val="i"/>
  <p:tag name="KSO_WM_UNIT_SUBTYPE" val="h"/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8.xml><?xml version="1.0" encoding="utf-8"?>
<p:tagLst xmlns:p="http://schemas.openxmlformats.org/presentationml/2006/main">
  <p:tag name="KSO_WM_UNIT_TYPE" val="i"/>
  <p:tag name="KSO_WM_UNIT_SUBTYPE" val="h"/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7.xml><?xml version="1.0" encoding="utf-8"?>
<p:tagLst xmlns:p="http://schemas.openxmlformats.org/presentationml/2006/main">
  <p:tag name="KSO_WM_UNIT_TYPE" val="i"/>
  <p:tag name="KSO_WM_UNIT_SUBTYPE" val="h"/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6.xml><?xml version="1.0" encoding="utf-8"?>
<p:tagLst xmlns:p="http://schemas.openxmlformats.org/presentationml/2006/main">
  <p:tag name="KSO_WM_UNIT_TYPE" val="i"/>
  <p:tag name="KSO_WM_UNIT_SUBTYPE" val="h"/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7.xml><?xml version="1.0" encoding="utf-8"?>
<p:tagLst xmlns:p="http://schemas.openxmlformats.org/presentationml/2006/main">
  <p:tag name="KSO_WM_UNIT_TYPE" val="i"/>
  <p:tag name="KSO_WM_UNIT_SUBTYPE" val="h"/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420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420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204420"/>
  <p:tag name="KSO_WM_TEMPLATE_SUBCATEGORY" val="0"/>
  <p:tag name="KSO_WM_TEMPLATE_MASTER_TYPE" val="1"/>
  <p:tag name="KSO_WM_TEMPLATE_COLOR_TYPE" val="1"/>
  <p:tag name="KSO_WM_TEMPLATE_MASTER_THUMB_INDEX" val="12"/>
  <p:tag name="KSO_WM_TEMPLATE_THUMBS_INDEX" val="1、4、7、9、12、16、17、18、20、23、26、31、33"/>
</p:tagLst>
</file>

<file path=ppt/tags/tag141.xml><?xml version="1.0" encoding="utf-8"?>
<p:tagLst xmlns:p="http://schemas.openxmlformats.org/presentationml/2006/main">
  <p:tag name="KSO_WM_UNIT_ISCONTENTSTITLE" val="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LAYERLEVEL" val="1"/>
  <p:tag name="KSO_WM_TAG_VERSION" val="1.0"/>
  <p:tag name="KSO_WM_BEAUTIFY_FLAG" val="#wm#"/>
  <p:tag name="KSO_WM_UNIT_PRESET_TEXT" val="个人工作汇报"/>
  <p:tag name="KSO_WM_TEMPLATE_CATEGORY" val="custom"/>
  <p:tag name="KSO_WM_TEMPLATE_INDEX" val="20204420"/>
  <p:tag name="KSO_WM_UNIT_ID" val="custom20204420_1*a*1"/>
  <p:tag name="KSO_WM_UNIT_TEXT_FILL_FORE_SCHEMECOLOR_INDEX_BRIGHTNESS" val="0.15"/>
  <p:tag name="KSO_WM_UNIT_TEXT_FILL_FORE_SCHEMECOLOR_INDEX" val="13"/>
  <p:tag name="KSO_WM_UNIT_TEXT_FILL_TYPE" val="1"/>
</p:tagLst>
</file>

<file path=ppt/tags/tag142.xml><?xml version="1.0" encoding="utf-8"?>
<p:tagLst xmlns:p="http://schemas.openxmlformats.org/presentationml/2006/main">
  <p:tag name="KSO_WM_UNIT_ISCONTENTSTITLE" val="0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LAYERLEVEL" val="1"/>
  <p:tag name="KSO_WM_TAG_VERSION" val="1.0"/>
  <p:tag name="KSO_WM_BEAUTIFY_FLAG" val="#wm#"/>
  <p:tag name="KSO_WM_UNIT_PRESET_TEXT" val="单击此处添加副标题内容"/>
  <p:tag name="KSO_WM_TEMPLATE_CATEGORY" val="custom"/>
  <p:tag name="KSO_WM_TEMPLATE_INDEX" val="20204420"/>
  <p:tag name="KSO_WM_UNIT_ID" val="custom20204420_1*b*1"/>
  <p:tag name="KSO_WM_UNIT_TEXT_FILL_FORE_SCHEMECOLOR_INDEX_BRIGHTNESS" val="0.35"/>
  <p:tag name="KSO_WM_UNIT_TEXT_FILL_FORE_SCHEMECOLOR_INDEX" val="13"/>
  <p:tag name="KSO_WM_UNIT_TEXT_FILL_TYPE" val="1"/>
</p:tagLst>
</file>

<file path=ppt/tags/tag143.xml><?xml version="1.0" encoding="utf-8"?>
<p:tagLst xmlns:p="http://schemas.openxmlformats.org/presentationml/2006/main">
  <p:tag name="KSO_WM_TAG_VERSION" val="1.0"/>
  <p:tag name="KSO_WM_SLIDE_ITEM_CNT" val="0"/>
  <p:tag name="KSO_WM_SLIDE_LAYOUT" val="a_b"/>
  <p:tag name="KSO_WM_SLIDE_LAYOUT_CNT" val="1_1"/>
  <p:tag name="KSO_WM_SLIDE_TYPE" val="title"/>
  <p:tag name="KSO_WM_BEAUTIFY_FLAG" val="#wm#"/>
  <p:tag name="KSO_WM_COMBINE_RELATE_SLIDE_ID" val="background20180946_1"/>
  <p:tag name="KSO_WM_TEMPLATE_CATEGORY" val="custom"/>
  <p:tag name="KSO_WM_TEMPLATE_INDEX" val="20204420"/>
  <p:tag name="KSO_WM_SLIDE_ID" val="custom20204420_1"/>
  <p:tag name="KSO_WM_SLIDE_INDEX" val="1"/>
  <p:tag name="KSO_WM_TEMPLATE_SUBCATEGORY" val="0"/>
  <p:tag name="KSO_WM_TEMPLATE_THUMBS_INDEX" val="1、4、7、9、12、16、17、19、22、25、29、32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SLIDE_SUBTYPE" val="pureTxt"/>
  <p:tag name="KSO_WM_TEMPLATE_MASTER_TYPE" val="1"/>
  <p:tag name="KSO_WM_TEMPLATE_COLOR_TYPE" val="1"/>
  <p:tag name="KSO_WM_TEMPLATE_MASTER_THUMB_INDEX" val="12"/>
</p:tagLst>
</file>

<file path=ppt/tags/tag144.xml><?xml version="1.0" encoding="utf-8"?>
<p:tagLst xmlns:p="http://schemas.openxmlformats.org/presentationml/2006/main">
  <p:tag name="KSO_WM_BEAUTIFY_FLAG" val="#wm#"/>
  <p:tag name="KSO_WM_TEMPLATE_CATEGORY" val="custom"/>
  <p:tag name="KSO_WM_TEMPLATE_INDEX" val="20204420"/>
</p:tagLst>
</file>

<file path=ppt/tags/tag145.xml><?xml version="1.0" encoding="utf-8"?>
<p:tagLst xmlns:p="http://schemas.openxmlformats.org/presentationml/2006/main">
  <p:tag name="KSO_WM_BEAUTIFY_FLAG" val="#wm#"/>
  <p:tag name="KSO_WM_TEMPLATE_CATEGORY" val="custom"/>
  <p:tag name="KSO_WM_TEMPLATE_INDEX" val="20204420"/>
</p:tagLst>
</file>

<file path=ppt/tags/tag146.xml><?xml version="1.0" encoding="utf-8"?>
<p:tagLst xmlns:p="http://schemas.openxmlformats.org/presentationml/2006/main">
  <p:tag name="KSO_WM_BEAUTIFY_FLAG" val="#wm#"/>
  <p:tag name="KSO_WM_TEMPLATE_CATEGORY" val="custom"/>
  <p:tag name="KSO_WM_TEMPLATE_INDEX" val="20204420"/>
</p:tagLst>
</file>

<file path=ppt/tags/tag147.xml><?xml version="1.0" encoding="utf-8"?>
<p:tagLst xmlns:p="http://schemas.openxmlformats.org/presentationml/2006/main">
  <p:tag name="KSO_WM_BEAUTIFY_FLAG" val="#wm#"/>
  <p:tag name="KSO_WM_TEMPLATE_CATEGORY" val="custom"/>
  <p:tag name="KSO_WM_TEMPLATE_INDEX" val="20204420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04420"/>
</p:tagLst>
</file>

<file path=ppt/tags/tag149.xml><?xml version="1.0" encoding="utf-8"?>
<p:tagLst xmlns:p="http://schemas.openxmlformats.org/presentationml/2006/main">
  <p:tag name="KSO_WM_BEAUTIFY_FLAG" val="#wm#"/>
  <p:tag name="KSO_WM_TEMPLATE_CATEGORY" val="custom"/>
  <p:tag name="KSO_WM_TEMPLATE_INDEX" val="20204420"/>
</p:tagLst>
</file>

<file path=ppt/tags/tag150.xml><?xml version="1.0" encoding="utf-8"?>
<p:tagLst xmlns:p="http://schemas.openxmlformats.org/presentationml/2006/main">
  <p:tag name="KSO_WM_BEAUTIFY_FLAG" val="#wm#"/>
  <p:tag name="KSO_WM_TEMPLATE_CATEGORY" val="custom"/>
  <p:tag name="KSO_WM_TEMPLATE_INDEX" val="20204420"/>
</p:tagLst>
</file>

<file path=ppt/tags/tag151.xml><?xml version="1.0" encoding="utf-8"?>
<p:tagLst xmlns:p="http://schemas.openxmlformats.org/presentationml/2006/main">
  <p:tag name="KSO_WM_BEAUTIFY_FLAG" val="#wm#"/>
  <p:tag name="KSO_WM_TEMPLATE_CATEGORY" val="custom"/>
  <p:tag name="KSO_WM_TEMPLATE_INDEX" val="20204420"/>
</p:tagLst>
</file>

<file path=ppt/tags/tag152.xml><?xml version="1.0" encoding="utf-8"?>
<p:tagLst xmlns:p="http://schemas.openxmlformats.org/presentationml/2006/main">
  <p:tag name="KSO_WM_BEAUTIFY_FLAG" val="#wm#"/>
  <p:tag name="KSO_WM_TEMPLATE_CATEGORY" val="custom"/>
  <p:tag name="KSO_WM_TEMPLATE_INDEX" val="20204420"/>
</p:tagLst>
</file>

<file path=ppt/tags/tag153.xml><?xml version="1.0" encoding="utf-8"?>
<p:tagLst xmlns:p="http://schemas.openxmlformats.org/presentationml/2006/main">
  <p:tag name="KSO_WM_BEAUTIFY_FLAG" val="#wm#"/>
  <p:tag name="KSO_WM_TEMPLATE_CATEGORY" val="custom"/>
  <p:tag name="KSO_WM_TEMPLATE_INDEX" val="20204420"/>
</p:tagLst>
</file>

<file path=ppt/tags/tag154.xml><?xml version="1.0" encoding="utf-8"?>
<p:tagLst xmlns:p="http://schemas.openxmlformats.org/presentationml/2006/main">
  <p:tag name="KSO_WM_BEAUTIFY_FLAG" val="#wm#"/>
  <p:tag name="KSO_WM_TEMPLATE_CATEGORY" val="custom"/>
  <p:tag name="KSO_WM_TEMPLATE_INDEX" val="20204420"/>
</p:tagLst>
</file>

<file path=ppt/tags/tag155.xml><?xml version="1.0" encoding="utf-8"?>
<p:tagLst xmlns:p="http://schemas.openxmlformats.org/presentationml/2006/main">
  <p:tag name="COMMONDATA" val="eyJoZGlkIjoiOTc3M2Y5NzIzMDFlZjAyY2Q4Njk5ODkyYjFjNzBiNTQifQ=="/>
  <p:tag name="FULLTEXTBEAUTIFYED" val="1"/>
</p:tagLst>
</file>

<file path=ppt/theme/theme1.xml><?xml version="1.0" encoding="utf-8"?>
<a:theme xmlns:a="http://schemas.openxmlformats.org/drawingml/2006/main" name="4_Office 主题​​">
  <a:themeElements>
    <a:clrScheme name="自定义 3">
      <a:dk1>
        <a:srgbClr val="000000"/>
      </a:dk1>
      <a:lt1>
        <a:srgbClr val="FFFFFF"/>
      </a:lt1>
      <a:dk2>
        <a:srgbClr val="EFEBEA"/>
      </a:dk2>
      <a:lt2>
        <a:srgbClr val="FCFBFB"/>
      </a:lt2>
      <a:accent1>
        <a:srgbClr val="F44200"/>
      </a:accent1>
      <a:accent2>
        <a:srgbClr val="FF7947"/>
      </a:accent2>
      <a:accent3>
        <a:srgbClr val="6E6C35"/>
      </a:accent3>
      <a:accent4>
        <a:srgbClr val="567B43"/>
      </a:accent4>
      <a:accent5>
        <a:srgbClr val="42885B"/>
      </a:accent5>
      <a:accent6>
        <a:srgbClr val="34937E"/>
      </a:accent6>
      <a:hlink>
        <a:srgbClr val="0563C1"/>
      </a:hlink>
      <a:folHlink>
        <a:srgbClr val="954F72"/>
      </a:folHlink>
    </a:clrScheme>
    <a:fontScheme name="LaTeX">
      <a:majorFont>
        <a:latin typeface="Cambria"/>
        <a:ea typeface="汉仪中黑 197"/>
        <a:cs typeface=""/>
      </a:majorFont>
      <a:minorFont>
        <a:latin typeface="Cambria"/>
        <a:ea typeface="汉仪中黑 197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1740</Words>
  <Application>WPS 演示</Application>
  <PresentationFormat>宽屏</PresentationFormat>
  <Paragraphs>120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汉仪旗黑-85S</vt:lpstr>
      <vt:lpstr>黑体</vt:lpstr>
      <vt:lpstr>Cambria</vt:lpstr>
      <vt:lpstr>汉仪中黑 197</vt:lpstr>
      <vt:lpstr>Linux Libertine</vt:lpstr>
      <vt:lpstr>Consolas</vt:lpstr>
      <vt:lpstr>Arial Unicode MS</vt:lpstr>
      <vt:lpstr>等线</vt:lpstr>
      <vt:lpstr>MV Boli</vt:lpstr>
      <vt:lpstr>4_Office 主题​​</vt:lpstr>
      <vt:lpstr>Tutorial 7 Instruction Selection</vt:lpstr>
      <vt:lpstr>tutorial回顾</vt:lpstr>
      <vt:lpstr>实验内容</vt:lpstr>
      <vt:lpstr>实验步骤</vt:lpstr>
      <vt:lpstr>main.ml 部分新增代码解析</vt:lpstr>
      <vt:lpstr>main.ml 部分新增代码解析</vt:lpstr>
      <vt:lpstr>main.ml 部分新增代码解析</vt:lpstr>
      <vt:lpstr>PowerPoint 演示文稿</vt:lpstr>
      <vt:lpstr>Task1: 常量折叠补全函数eval_const_expr</vt:lpstr>
      <vt:lpstr>Task2:加法操作优化 补全 Binop (op, e1, e2) op = Add</vt:lpstr>
      <vt:lpstr>Task3:乘法操作优化 补全 Binop (op, e1, e2) op = Mul</vt:lpstr>
      <vt:lpstr>Task4:减法操作优化 补全 Binop (op, e1, e2) op = Sub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7 Instruction Selection</dc:title>
  <dc:creator>noveky ez</dc:creator>
  <cp:lastModifiedBy>13052</cp:lastModifiedBy>
  <cp:revision>639</cp:revision>
  <dcterms:created xsi:type="dcterms:W3CDTF">2025-02-16T15:03:00Z</dcterms:created>
  <dcterms:modified xsi:type="dcterms:W3CDTF">2025-04-23T14:02:44Z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4BF6EFE64D60478BB3CD8203F35275CA_12</vt:lpwstr>
  </property>
  <property fmtid="{D5CDD505-2E9C-101B-9397-08002B2CF9AE}" pid="3" name="KSOProductBuildVer">
    <vt:lpwstr>2052-12.1.0.20784</vt:lpwstr>
  </property>
</Properties>
</file>