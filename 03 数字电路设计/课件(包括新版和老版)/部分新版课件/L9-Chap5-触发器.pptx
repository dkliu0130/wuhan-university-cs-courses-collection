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86" r:id="rId4"/>
    <p:sldId id="476" r:id="rId6"/>
    <p:sldId id="536" r:id="rId7"/>
    <p:sldId id="537" r:id="rId8"/>
    <p:sldId id="538" r:id="rId9"/>
    <p:sldId id="539" r:id="rId10"/>
    <p:sldId id="616" r:id="rId11"/>
    <p:sldId id="612" r:id="rId12"/>
    <p:sldId id="606" r:id="rId13"/>
    <p:sldId id="540" r:id="rId14"/>
    <p:sldId id="573" r:id="rId15"/>
    <p:sldId id="607" r:id="rId16"/>
    <p:sldId id="542" r:id="rId17"/>
    <p:sldId id="610" r:id="rId18"/>
    <p:sldId id="543" r:id="rId19"/>
    <p:sldId id="569" r:id="rId20"/>
    <p:sldId id="544" r:id="rId21"/>
    <p:sldId id="546" r:id="rId22"/>
    <p:sldId id="547" r:id="rId23"/>
    <p:sldId id="548" r:id="rId24"/>
    <p:sldId id="549" r:id="rId25"/>
    <p:sldId id="550" r:id="rId26"/>
    <p:sldId id="551" r:id="rId27"/>
    <p:sldId id="552" r:id="rId28"/>
    <p:sldId id="570" r:id="rId29"/>
    <p:sldId id="554" r:id="rId30"/>
    <p:sldId id="613" r:id="rId31"/>
    <p:sldId id="553" r:id="rId32"/>
    <p:sldId id="555" r:id="rId33"/>
    <p:sldId id="556" r:id="rId34"/>
    <p:sldId id="557" r:id="rId35"/>
    <p:sldId id="558" r:id="rId36"/>
    <p:sldId id="560" r:id="rId37"/>
    <p:sldId id="559" r:id="rId38"/>
    <p:sldId id="561" r:id="rId39"/>
    <p:sldId id="562" r:id="rId40"/>
    <p:sldId id="563" r:id="rId41"/>
    <p:sldId id="564" r:id="rId42"/>
    <p:sldId id="565" r:id="rId43"/>
    <p:sldId id="566" r:id="rId44"/>
    <p:sldId id="582" r:id="rId45"/>
    <p:sldId id="583" r:id="rId46"/>
    <p:sldId id="585" r:id="rId47"/>
    <p:sldId id="586" r:id="rId48"/>
    <p:sldId id="596" r:id="rId49"/>
    <p:sldId id="587" r:id="rId50"/>
    <p:sldId id="588" r:id="rId51"/>
    <p:sldId id="589" r:id="rId52"/>
    <p:sldId id="576" r:id="rId53"/>
    <p:sldId id="577" r:id="rId54"/>
    <p:sldId id="614" r:id="rId55"/>
    <p:sldId id="615" r:id="rId56"/>
    <p:sldId id="279" r:id="rId57"/>
  </p:sldIdLst>
  <p:sldSz cx="9144000" cy="6858000" type="screen4x3"/>
  <p:notesSz cx="6858000" cy="9144000"/>
  <p:custDataLst>
    <p:tags r:id="rId6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4EBF6"/>
    <a:srgbClr val="E6ECF7"/>
    <a:srgbClr val="FF33CC"/>
    <a:srgbClr val="170A8E"/>
    <a:srgbClr val="2B56F5"/>
    <a:srgbClr val="3CB871"/>
    <a:srgbClr val="CC9900"/>
    <a:srgbClr val="1F4E79"/>
    <a:srgbClr val="3D74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6279" autoAdjust="0"/>
  </p:normalViewPr>
  <p:slideViewPr>
    <p:cSldViewPr snapToGrid="0" showGuides="1">
      <p:cViewPr varScale="1">
        <p:scale>
          <a:sx n="89" d="100"/>
          <a:sy n="89" d="100"/>
        </p:scale>
        <p:origin x="-1314" y="-10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1" Type="http://schemas.openxmlformats.org/officeDocument/2006/relationships/tags" Target="tags/tag19.xml"/><Relationship Id="rId60" Type="http://schemas.openxmlformats.org/officeDocument/2006/relationships/tableStyles" Target="tableStyles.xml"/><Relationship Id="rId6" Type="http://schemas.openxmlformats.org/officeDocument/2006/relationships/slide" Target="slides/slide2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.wmf"/><Relationship Id="rId8" Type="http://schemas.openxmlformats.org/officeDocument/2006/relationships/image" Target="../media/image25.wmf"/><Relationship Id="rId7" Type="http://schemas.openxmlformats.org/officeDocument/2006/relationships/image" Target="../media/image24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1" Type="http://schemas.openxmlformats.org/officeDocument/2006/relationships/image" Target="../media/image28.wmf"/><Relationship Id="rId10" Type="http://schemas.openxmlformats.org/officeDocument/2006/relationships/image" Target="../media/image27.wmf"/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.wmf"/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1.vml.rels><?xml version="1.0" encoding="UTF-8" standalone="yes"?>
<Relationships xmlns="http://schemas.openxmlformats.org/package/2006/relationships"><Relationship Id="rId6" Type="http://schemas.openxmlformats.org/officeDocument/2006/relationships/image" Target="../media/image33.wmf"/><Relationship Id="rId5" Type="http://schemas.openxmlformats.org/officeDocument/2006/relationships/image" Target="../media/image53.wmf"/><Relationship Id="rId4" Type="http://schemas.openxmlformats.org/officeDocument/2006/relationships/image" Target="../media/image52.wmf"/><Relationship Id="rId3" Type="http://schemas.openxmlformats.org/officeDocument/2006/relationships/image" Target="../media/image51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5.wmf"/><Relationship Id="rId1" Type="http://schemas.openxmlformats.org/officeDocument/2006/relationships/image" Target="../media/image57.e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0.wmf"/><Relationship Id="rId3" Type="http://schemas.openxmlformats.org/officeDocument/2006/relationships/image" Target="../media/image5.wmf"/><Relationship Id="rId2" Type="http://schemas.openxmlformats.org/officeDocument/2006/relationships/image" Target="../media/image59.emf"/><Relationship Id="rId1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image" Target="../media/image77.wmf"/></Relationships>
</file>

<file path=ppt/drawings/_rels/vmlDrawing19.vml.rels><?xml version="1.0" encoding="UTF-8" standalone="yes"?>
<Relationships xmlns="http://schemas.openxmlformats.org/package/2006/relationships"><Relationship Id="rId4" Type="http://schemas.openxmlformats.org/officeDocument/2006/relationships/image" Target="../media/image81.wmf"/><Relationship Id="rId3" Type="http://schemas.openxmlformats.org/officeDocument/2006/relationships/image" Target="../media/image80.wmf"/><Relationship Id="rId2" Type="http://schemas.openxmlformats.org/officeDocument/2006/relationships/image" Target="../media/image77.wmf"/><Relationship Id="rId1" Type="http://schemas.openxmlformats.org/officeDocument/2006/relationships/image" Target="../media/image7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79.wmf"/><Relationship Id="rId1" Type="http://schemas.openxmlformats.org/officeDocument/2006/relationships/image" Target="../media/image82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2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92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301BD9-4243-4367-977C-650CCA5948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7FACFBAA-4F33-4BF6-B348-50D59E4A3B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FACFBAA-4F33-4BF6-B348-50D59E4A3B0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CFBAA-4F33-4BF6-B348-50D59E4A3B0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image" Target="../media/image1.jpe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slide" Target="slide2.xml"/><Relationship Id="rId3" Type="http://schemas.openxmlformats.org/officeDocument/2006/relationships/slide" Target="slide9.xml"/><Relationship Id="rId2" Type="http://schemas.openxmlformats.org/officeDocument/2006/relationships/slide" Target="slide12.xml"/><Relationship Id="rId1" Type="http://schemas.openxmlformats.org/officeDocument/2006/relationships/slide" Target="slid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slide" Target="slide2.xml"/><Relationship Id="rId3" Type="http://schemas.openxmlformats.org/officeDocument/2006/relationships/slide" Target="slide9.xml"/><Relationship Id="rId2" Type="http://schemas.openxmlformats.org/officeDocument/2006/relationships/slide" Target="slide12.xml"/><Relationship Id="rId1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7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3" Type="http://schemas.openxmlformats.org/officeDocument/2006/relationships/notesSlide" Target="../notesSlides/notesSlide16.xml"/><Relationship Id="rId12" Type="http://schemas.openxmlformats.org/officeDocument/2006/relationships/vmlDrawing" Target="../drawings/vmlDrawing1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9.jpeg"/><Relationship Id="rId18" Type="http://schemas.openxmlformats.org/officeDocument/2006/relationships/notesSlide" Target="../notesSlides/notesSlide17.xml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0.png"/><Relationship Id="rId14" Type="http://schemas.openxmlformats.org/officeDocument/2006/relationships/oleObject" Target="../embeddings/oleObject12.bin"/><Relationship Id="rId13" Type="http://schemas.openxmlformats.org/officeDocument/2006/relationships/oleObject" Target="../embeddings/oleObject11.bin"/><Relationship Id="rId12" Type="http://schemas.openxmlformats.org/officeDocument/2006/relationships/oleObject" Target="../embeddings/oleObject10.bin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8.wmf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wmf"/><Relationship Id="rId8" Type="http://schemas.openxmlformats.org/officeDocument/2006/relationships/oleObject" Target="../embeddings/oleObject16.bin"/><Relationship Id="rId7" Type="http://schemas.openxmlformats.org/officeDocument/2006/relationships/image" Target="../media/image5.wmf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4.bin"/><Relationship Id="rId3" Type="http://schemas.openxmlformats.org/officeDocument/2006/relationships/image" Target="../media/image11.wmf"/><Relationship Id="rId27" Type="http://schemas.openxmlformats.org/officeDocument/2006/relationships/notesSlide" Target="../notesSlides/notesSlide18.xml"/><Relationship Id="rId26" Type="http://schemas.openxmlformats.org/officeDocument/2006/relationships/vmlDrawing" Target="../drawings/vmlDrawing3.v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9.jpeg"/><Relationship Id="rId23" Type="http://schemas.openxmlformats.org/officeDocument/2006/relationships/image" Target="../media/image16.png"/><Relationship Id="rId22" Type="http://schemas.openxmlformats.org/officeDocument/2006/relationships/image" Target="../media/image15.wmf"/><Relationship Id="rId21" Type="http://schemas.openxmlformats.org/officeDocument/2006/relationships/oleObject" Target="../embeddings/oleObject24.bin"/><Relationship Id="rId20" Type="http://schemas.openxmlformats.org/officeDocument/2006/relationships/image" Target="../media/image14.wmf"/><Relationship Id="rId2" Type="http://schemas.openxmlformats.org/officeDocument/2006/relationships/oleObject" Target="../embeddings/oleObject13.bin"/><Relationship Id="rId19" Type="http://schemas.openxmlformats.org/officeDocument/2006/relationships/oleObject" Target="../embeddings/oleObject23.bin"/><Relationship Id="rId18" Type="http://schemas.openxmlformats.org/officeDocument/2006/relationships/oleObject" Target="../embeddings/oleObject22.bin"/><Relationship Id="rId17" Type="http://schemas.openxmlformats.org/officeDocument/2006/relationships/oleObject" Target="../embeddings/oleObject21.bin"/><Relationship Id="rId16" Type="http://schemas.openxmlformats.org/officeDocument/2006/relationships/oleObject" Target="../embeddings/oleObject20.bin"/><Relationship Id="rId15" Type="http://schemas.openxmlformats.org/officeDocument/2006/relationships/image" Target="../media/image13.wmf"/><Relationship Id="rId14" Type="http://schemas.openxmlformats.org/officeDocument/2006/relationships/oleObject" Target="../embeddings/oleObject19.bin"/><Relationship Id="rId13" Type="http://schemas.openxmlformats.org/officeDocument/2006/relationships/image" Target="../media/image8.wmf"/><Relationship Id="rId12" Type="http://schemas.openxmlformats.org/officeDocument/2006/relationships/oleObject" Target="../embeddings/oleObject18.bin"/><Relationship Id="rId11" Type="http://schemas.openxmlformats.org/officeDocument/2006/relationships/image" Target="../media/image7.wmf"/><Relationship Id="rId10" Type="http://schemas.openxmlformats.org/officeDocument/2006/relationships/oleObject" Target="../embeddings/oleObject17.bin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.bin"/><Relationship Id="rId8" Type="http://schemas.openxmlformats.org/officeDocument/2006/relationships/image" Target="../media/image20.w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25.bin"/><Relationship Id="rId29" Type="http://schemas.openxmlformats.org/officeDocument/2006/relationships/notesSlide" Target="../notesSlides/notesSlide19.xml"/><Relationship Id="rId28" Type="http://schemas.openxmlformats.org/officeDocument/2006/relationships/vmlDrawing" Target="../drawings/vmlDrawing4.vml"/><Relationship Id="rId27" Type="http://schemas.openxmlformats.org/officeDocument/2006/relationships/slideLayout" Target="../slideLayouts/slideLayout1.xml"/><Relationship Id="rId26" Type="http://schemas.openxmlformats.org/officeDocument/2006/relationships/image" Target="../media/image9.jpeg"/><Relationship Id="rId25" Type="http://schemas.openxmlformats.org/officeDocument/2006/relationships/image" Target="../media/image28.wmf"/><Relationship Id="rId24" Type="http://schemas.openxmlformats.org/officeDocument/2006/relationships/oleObject" Target="../embeddings/oleObject36.bin"/><Relationship Id="rId23" Type="http://schemas.openxmlformats.org/officeDocument/2006/relationships/image" Target="../media/image27.wmf"/><Relationship Id="rId22" Type="http://schemas.openxmlformats.org/officeDocument/2006/relationships/oleObject" Target="../embeddings/oleObject35.bin"/><Relationship Id="rId21" Type="http://schemas.openxmlformats.org/officeDocument/2006/relationships/image" Target="../media/image26.wmf"/><Relationship Id="rId20" Type="http://schemas.openxmlformats.org/officeDocument/2006/relationships/oleObject" Target="../embeddings/oleObject34.bin"/><Relationship Id="rId2" Type="http://schemas.openxmlformats.org/officeDocument/2006/relationships/image" Target="../media/image17.png"/><Relationship Id="rId19" Type="http://schemas.openxmlformats.org/officeDocument/2006/relationships/oleObject" Target="../embeddings/oleObject33.bin"/><Relationship Id="rId18" Type="http://schemas.openxmlformats.org/officeDocument/2006/relationships/image" Target="../media/image25.wmf"/><Relationship Id="rId17" Type="http://schemas.openxmlformats.org/officeDocument/2006/relationships/oleObject" Target="../embeddings/oleObject32.bin"/><Relationship Id="rId16" Type="http://schemas.openxmlformats.org/officeDocument/2006/relationships/image" Target="../media/image24.wmf"/><Relationship Id="rId15" Type="http://schemas.openxmlformats.org/officeDocument/2006/relationships/oleObject" Target="../embeddings/oleObject31.bin"/><Relationship Id="rId14" Type="http://schemas.openxmlformats.org/officeDocument/2006/relationships/image" Target="../media/image23.wmf"/><Relationship Id="rId13" Type="http://schemas.openxmlformats.org/officeDocument/2006/relationships/oleObject" Target="../embeddings/oleObject30.bin"/><Relationship Id="rId12" Type="http://schemas.openxmlformats.org/officeDocument/2006/relationships/image" Target="../media/image22.wmf"/><Relationship Id="rId11" Type="http://schemas.openxmlformats.org/officeDocument/2006/relationships/oleObject" Target="../embeddings/oleObject29.bin"/><Relationship Id="rId10" Type="http://schemas.openxmlformats.org/officeDocument/2006/relationships/image" Target="../media/image21.wmf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0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39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37.bin"/><Relationship Id="rId2" Type="http://schemas.openxmlformats.org/officeDocument/2006/relationships/image" Target="../media/image29.png"/><Relationship Id="rId15" Type="http://schemas.openxmlformats.org/officeDocument/2006/relationships/notesSlide" Target="../notesSlides/notesSlide20.xml"/><Relationship Id="rId14" Type="http://schemas.openxmlformats.org/officeDocument/2006/relationships/vmlDrawing" Target="../drawings/vmlDrawing5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9.jpeg"/><Relationship Id="rId11" Type="http://schemas.openxmlformats.org/officeDocument/2006/relationships/image" Target="../media/image30.png"/><Relationship Id="rId10" Type="http://schemas.openxmlformats.org/officeDocument/2006/relationships/image" Target="../media/image8.wmf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3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36.png"/><Relationship Id="rId5" Type="http://schemas.openxmlformats.org/officeDocument/2006/relationships/image" Target="../media/image9.jpeg"/><Relationship Id="rId4" Type="http://schemas.openxmlformats.org/officeDocument/2006/relationships/image" Target="../media/image35.emf"/><Relationship Id="rId3" Type="http://schemas.openxmlformats.org/officeDocument/2006/relationships/image" Target="../media/image32.png"/><Relationship Id="rId2" Type="http://schemas.openxmlformats.org/officeDocument/2006/relationships/image" Target="../media/image34.png"/><Relationship Id="rId13" Type="http://schemas.openxmlformats.org/officeDocument/2006/relationships/notesSlide" Target="../notesSlides/notesSlide22.xml"/><Relationship Id="rId12" Type="http://schemas.openxmlformats.org/officeDocument/2006/relationships/vmlDrawing" Target="../drawings/vmlDrawing7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8.wmf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9.jpeg"/><Relationship Id="rId7" Type="http://schemas.openxmlformats.org/officeDocument/2006/relationships/image" Target="../media/image32.png"/><Relationship Id="rId6" Type="http://schemas.openxmlformats.org/officeDocument/2006/relationships/image" Target="../media/image34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0" Type="http://schemas.openxmlformats.org/officeDocument/2006/relationships/notesSlide" Target="../notesSlides/notesSlide23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jpe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1.xml"/><Relationship Id="rId7" Type="http://schemas.openxmlformats.org/officeDocument/2006/relationships/oleObject" Target="../embeddings/oleObject45.bin"/><Relationship Id="rId6" Type="http://schemas.openxmlformats.org/officeDocument/2006/relationships/image" Target="../media/image33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9.jpe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48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6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9.jpeg"/><Relationship Id="rId13" Type="http://schemas.openxmlformats.org/officeDocument/2006/relationships/notesSlide" Target="../notesSlides/notesSlide26.xml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3.wmf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slide" Target="slide2.xml"/><Relationship Id="rId3" Type="http://schemas.openxmlformats.org/officeDocument/2006/relationships/slide" Target="slide9.xml"/><Relationship Id="rId2" Type="http://schemas.openxmlformats.org/officeDocument/2006/relationships/slide" Target="slide12.xml"/><Relationship Id="rId1" Type="http://schemas.openxmlformats.org/officeDocument/2006/relationships/slide" Target="slid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3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9.jpeg"/><Relationship Id="rId13" Type="http://schemas.openxmlformats.org/officeDocument/2006/relationships/notesSlide" Target="../notesSlides/notesSlide30.xml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3.wmf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7.bin"/><Relationship Id="rId8" Type="http://schemas.openxmlformats.org/officeDocument/2006/relationships/image" Target="../media/image51.wmf"/><Relationship Id="rId7" Type="http://schemas.openxmlformats.org/officeDocument/2006/relationships/oleObject" Target="../embeddings/oleObject56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4.bin"/><Relationship Id="rId2" Type="http://schemas.openxmlformats.org/officeDocument/2006/relationships/image" Target="../media/image9.jpeg"/><Relationship Id="rId18" Type="http://schemas.openxmlformats.org/officeDocument/2006/relationships/notesSlide" Target="../notesSlides/notesSlide31.xml"/><Relationship Id="rId17" Type="http://schemas.openxmlformats.org/officeDocument/2006/relationships/vmlDrawing" Target="../drawings/vmlDrawing11.v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3.wmf"/><Relationship Id="rId14" Type="http://schemas.openxmlformats.org/officeDocument/2006/relationships/oleObject" Target="../embeddings/oleObject59.bin"/><Relationship Id="rId13" Type="http://schemas.openxmlformats.org/officeDocument/2006/relationships/image" Target="../media/image56.png"/><Relationship Id="rId12" Type="http://schemas.openxmlformats.org/officeDocument/2006/relationships/image" Target="../media/image53.wmf"/><Relationship Id="rId11" Type="http://schemas.openxmlformats.org/officeDocument/2006/relationships/oleObject" Target="../embeddings/oleObject58.bin"/><Relationship Id="rId10" Type="http://schemas.openxmlformats.org/officeDocument/2006/relationships/image" Target="../media/image52.wmf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3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57.e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9.jpeg"/><Relationship Id="rId11" Type="http://schemas.openxmlformats.org/officeDocument/2006/relationships/notesSlide" Target="../notesSlides/notesSlide32.xml"/><Relationship Id="rId10" Type="http://schemas.openxmlformats.org/officeDocument/2006/relationships/vmlDrawing" Target="../drawings/vmlDrawing12.v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59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58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9.jpeg"/><Relationship Id="rId14" Type="http://schemas.openxmlformats.org/officeDocument/2006/relationships/notesSlide" Target="../notesSlides/notesSlide33.xml"/><Relationship Id="rId13" Type="http://schemas.openxmlformats.org/officeDocument/2006/relationships/vmlDrawing" Target="../drawings/vmlDrawing13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61.emf"/><Relationship Id="rId10" Type="http://schemas.openxmlformats.org/officeDocument/2006/relationships/image" Target="../media/image60.wmf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6.png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6.xml"/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7.emf"/><Relationship Id="rId3" Type="http://schemas.openxmlformats.org/officeDocument/2006/relationships/image" Target="../media/image62.pn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9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68.bin"/><Relationship Id="rId6" Type="http://schemas.openxmlformats.org/officeDocument/2006/relationships/image" Target="../media/image69.png"/><Relationship Id="rId5" Type="http://schemas.openxmlformats.org/officeDocument/2006/relationships/image" Target="../media/image35.emf"/><Relationship Id="rId4" Type="http://schemas.openxmlformats.org/officeDocument/2006/relationships/image" Target="../media/image68.png"/><Relationship Id="rId3" Type="http://schemas.openxmlformats.org/officeDocument/2006/relationships/image" Target="../media/image62.png"/><Relationship Id="rId2" Type="http://schemas.openxmlformats.org/officeDocument/2006/relationships/image" Target="../media/image9.jpeg"/><Relationship Id="rId13" Type="http://schemas.openxmlformats.org/officeDocument/2006/relationships/notesSlide" Target="../notesSlides/notesSlide37.xml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1.wmf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6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3.wmf"/><Relationship Id="rId6" Type="http://schemas.openxmlformats.org/officeDocument/2006/relationships/oleObject" Target="../embeddings/oleObject71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70.bin"/><Relationship Id="rId3" Type="http://schemas.openxmlformats.org/officeDocument/2006/relationships/image" Target="../media/image67.emf"/><Relationship Id="rId2" Type="http://schemas.openxmlformats.org/officeDocument/2006/relationships/image" Target="../media/image9.jpeg"/><Relationship Id="rId10" Type="http://schemas.openxmlformats.org/officeDocument/2006/relationships/notesSlide" Target="../notesSlides/notesSlide38.xml"/><Relationship Id="rId1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wmf"/><Relationship Id="rId3" Type="http://schemas.openxmlformats.org/officeDocument/2006/relationships/oleObject" Target="../embeddings/oleObject72.bin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6.pn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1.xml"/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3.bin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80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9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9.jpeg"/><Relationship Id="rId13" Type="http://schemas.openxmlformats.org/officeDocument/2006/relationships/notesSlide" Target="../notesSlides/notesSlide42.xml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81.wmf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1.bin"/><Relationship Id="rId8" Type="http://schemas.openxmlformats.org/officeDocument/2006/relationships/image" Target="../media/image83.png"/><Relationship Id="rId7" Type="http://schemas.openxmlformats.org/officeDocument/2006/relationships/image" Target="../media/image79.wmf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79.bin"/><Relationship Id="rId3" Type="http://schemas.openxmlformats.org/officeDocument/2006/relationships/image" Target="../media/image67.emf"/><Relationship Id="rId2" Type="http://schemas.openxmlformats.org/officeDocument/2006/relationships/image" Target="../media/image9.jpeg"/><Relationship Id="rId14" Type="http://schemas.openxmlformats.org/officeDocument/2006/relationships/notesSlide" Target="../notesSlides/notesSlide43.xml"/><Relationship Id="rId13" Type="http://schemas.openxmlformats.org/officeDocument/2006/relationships/vmlDrawing" Target="../drawings/vmlDrawing20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85.png"/><Relationship Id="rId10" Type="http://schemas.openxmlformats.org/officeDocument/2006/relationships/image" Target="../media/image84.wmf"/><Relationship Id="rId1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7" Type="http://schemas.openxmlformats.org/officeDocument/2006/relationships/vmlDrawing" Target="../drawings/vmlDrawing21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2.wmf"/><Relationship Id="rId4" Type="http://schemas.openxmlformats.org/officeDocument/2006/relationships/oleObject" Target="../embeddings/oleObject82.bin"/><Relationship Id="rId3" Type="http://schemas.openxmlformats.org/officeDocument/2006/relationships/image" Target="../media/image86.png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6.bin"/><Relationship Id="rId8" Type="http://schemas.openxmlformats.org/officeDocument/2006/relationships/image" Target="../media/image89.wmf"/><Relationship Id="rId7" Type="http://schemas.openxmlformats.org/officeDocument/2006/relationships/oleObject" Target="../embeddings/oleObject85.bin"/><Relationship Id="rId6" Type="http://schemas.openxmlformats.org/officeDocument/2006/relationships/image" Target="../media/image88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87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9.jpeg"/><Relationship Id="rId14" Type="http://schemas.openxmlformats.org/officeDocument/2006/relationships/notesSlide" Target="../notesSlides/notesSlide46.xml"/><Relationship Id="rId13" Type="http://schemas.openxmlformats.org/officeDocument/2006/relationships/vmlDrawing" Target="../drawings/vmlDrawing22.v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91.emf"/><Relationship Id="rId10" Type="http://schemas.openxmlformats.org/officeDocument/2006/relationships/image" Target="../media/image90.wmf"/><Relationship Id="rId1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3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0.wmf"/><Relationship Id="rId6" Type="http://schemas.openxmlformats.org/officeDocument/2006/relationships/oleObject" Target="../embeddings/oleObject88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87.bin"/><Relationship Id="rId3" Type="http://schemas.openxmlformats.org/officeDocument/2006/relationships/image" Target="../media/image67.emf"/><Relationship Id="rId2" Type="http://schemas.openxmlformats.org/officeDocument/2006/relationships/image" Target="../media/image9.jpeg"/><Relationship Id="rId10" Type="http://schemas.openxmlformats.org/officeDocument/2006/relationships/notesSlide" Target="../notesSlides/notesSlide47.xml"/><Relationship Id="rId1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8.xml"/><Relationship Id="rId7" Type="http://schemas.openxmlformats.org/officeDocument/2006/relationships/vmlDrawing" Target="../drawings/vmlDrawing24.v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wmf"/><Relationship Id="rId3" Type="http://schemas.openxmlformats.org/officeDocument/2006/relationships/oleObject" Target="../embeddings/oleObject89.bin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1.xml"/><Relationship Id="rId8" Type="http://schemas.openxmlformats.org/officeDocument/2006/relationships/vmlDrawing" Target="../drawings/vmlDrawing25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1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90.bin"/><Relationship Id="rId2" Type="http://schemas.openxmlformats.org/officeDocument/2006/relationships/image" Target="../media/image96.png"/><Relationship Id="rId1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9.png"/><Relationship Id="rId1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_淘宝网chenying0907出品 3"/>
          <p:cNvSpPr/>
          <p:nvPr>
            <p:custDataLst>
              <p:tags r:id="rId1"/>
            </p:custDataLst>
          </p:nvPr>
        </p:nvSpPr>
        <p:spPr>
          <a:xfrm>
            <a:off x="0" y="2394284"/>
            <a:ext cx="233314" cy="32298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PA_淘宝网chenying0907出品 4"/>
          <p:cNvSpPr/>
          <p:nvPr>
            <p:custDataLst>
              <p:tags r:id="rId2"/>
            </p:custDataLst>
          </p:nvPr>
        </p:nvSpPr>
        <p:spPr>
          <a:xfrm>
            <a:off x="5791596" y="2394284"/>
            <a:ext cx="233314" cy="32298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PA_淘宝网chenying0907出品 7"/>
          <p:cNvSpPr/>
          <p:nvPr>
            <p:custDataLst>
              <p:tags r:id="rId3"/>
            </p:custDataLst>
          </p:nvPr>
        </p:nvSpPr>
        <p:spPr>
          <a:xfrm>
            <a:off x="6046708" y="4124970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PA_直接连接符 9"/>
          <p:cNvCxnSpPr/>
          <p:nvPr>
            <p:custDataLst>
              <p:tags r:id="rId4"/>
            </p:custDataLst>
          </p:nvPr>
        </p:nvCxnSpPr>
        <p:spPr>
          <a:xfrm>
            <a:off x="6024911" y="562411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A_淘宝网chenying0907出品 10"/>
          <p:cNvSpPr/>
          <p:nvPr>
            <p:custDataLst>
              <p:tags r:id="rId5"/>
            </p:custDataLst>
          </p:nvPr>
        </p:nvSpPr>
        <p:spPr>
          <a:xfrm>
            <a:off x="6350719" y="4178970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PA_淘宝网chenying0907出品 11"/>
          <p:cNvSpPr/>
          <p:nvPr>
            <p:custDataLst>
              <p:tags r:id="rId6"/>
            </p:custDataLst>
          </p:nvPr>
        </p:nvSpPr>
        <p:spPr>
          <a:xfrm>
            <a:off x="6660739" y="4178970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PA_淘宝网chenying0907出品 12"/>
          <p:cNvSpPr/>
          <p:nvPr>
            <p:custDataLst>
              <p:tags r:id="rId7"/>
            </p:custDataLst>
          </p:nvPr>
        </p:nvSpPr>
        <p:spPr>
          <a:xfrm>
            <a:off x="6965302" y="4205970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PA_淘宝网chenying0907出品 13"/>
          <p:cNvSpPr/>
          <p:nvPr>
            <p:custDataLst>
              <p:tags r:id="rId8"/>
            </p:custDataLst>
          </p:nvPr>
        </p:nvSpPr>
        <p:spPr>
          <a:xfrm>
            <a:off x="7284553" y="4232970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PA_淘宝网chenying0907出品 14"/>
          <p:cNvSpPr/>
          <p:nvPr>
            <p:custDataLst>
              <p:tags r:id="rId9"/>
            </p:custDataLst>
          </p:nvPr>
        </p:nvSpPr>
        <p:spPr>
          <a:xfrm>
            <a:off x="7601500" y="4259970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PA_淘宝网chenying0907出品 15"/>
          <p:cNvSpPr/>
          <p:nvPr>
            <p:custDataLst>
              <p:tags r:id="rId10"/>
            </p:custDataLst>
          </p:nvPr>
        </p:nvSpPr>
        <p:spPr>
          <a:xfrm rot="20959521">
            <a:off x="8008894" y="4298337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PA_淘宝网chenying0907出品 16"/>
          <p:cNvSpPr/>
          <p:nvPr>
            <p:custDataLst>
              <p:tags r:id="rId11"/>
            </p:custDataLst>
          </p:nvPr>
        </p:nvSpPr>
        <p:spPr>
          <a:xfrm rot="19779136">
            <a:off x="8519314" y="4329534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PA_直接连接符 17"/>
          <p:cNvCxnSpPr/>
          <p:nvPr>
            <p:custDataLst>
              <p:tags r:id="rId12"/>
            </p:custDataLst>
          </p:nvPr>
        </p:nvCxnSpPr>
        <p:spPr>
          <a:xfrm>
            <a:off x="233316" y="562411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A_直接连接符 19"/>
          <p:cNvCxnSpPr/>
          <p:nvPr>
            <p:custDataLst>
              <p:tags r:id="rId13"/>
            </p:custDataLst>
          </p:nvPr>
        </p:nvCxnSpPr>
        <p:spPr>
          <a:xfrm>
            <a:off x="233314" y="2400902"/>
            <a:ext cx="555828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PA_直接连接符 20"/>
          <p:cNvCxnSpPr/>
          <p:nvPr>
            <p:custDataLst>
              <p:tags r:id="rId14"/>
            </p:custDataLst>
          </p:nvPr>
        </p:nvCxnSpPr>
        <p:spPr>
          <a:xfrm>
            <a:off x="233315" y="50738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A_淘宝网chenying0907出品 21"/>
          <p:cNvSpPr txBox="1"/>
          <p:nvPr>
            <p:custDataLst>
              <p:tags r:id="rId15"/>
            </p:custDataLst>
          </p:nvPr>
        </p:nvSpPr>
        <p:spPr>
          <a:xfrm>
            <a:off x="157120" y="2701156"/>
            <a:ext cx="571066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5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第五章  时序逻辑电路</a:t>
            </a:r>
            <a:endParaRPr lang="zh-CN" altLang="en-US" sz="45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PA_淘宝网chenying0907出品 23"/>
          <p:cNvSpPr txBox="1"/>
          <p:nvPr>
            <p:custDataLst>
              <p:tags r:id="rId16"/>
            </p:custDataLst>
          </p:nvPr>
        </p:nvSpPr>
        <p:spPr>
          <a:xfrm>
            <a:off x="1175493" y="5193706"/>
            <a:ext cx="2210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武汉大学计算机学院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PA_淘宝网chenying0907出品 25"/>
          <p:cNvSpPr txBox="1"/>
          <p:nvPr>
            <p:custDataLst>
              <p:tags r:id="rId17"/>
            </p:custDataLst>
          </p:nvPr>
        </p:nvSpPr>
        <p:spPr>
          <a:xfrm>
            <a:off x="1036047" y="424695"/>
            <a:ext cx="2085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 武汉大学</a:t>
            </a:r>
            <a:endParaRPr lang="en-US" altLang="zh-CN" sz="20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sz="2000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Wuhan University</a:t>
            </a:r>
            <a:endParaRPr lang="zh-CN" altLang="en-US" sz="2000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379" cy="1211379"/>
          </a:xfrm>
          <a:prstGeom prst="rect">
            <a:avLst/>
          </a:prstGeom>
        </p:spPr>
      </p:pic>
      <p:sp>
        <p:nvSpPr>
          <p:cNvPr id="27" name="PA_淘宝网chenying0907出品 22"/>
          <p:cNvSpPr txBox="1"/>
          <p:nvPr>
            <p:custDataLst>
              <p:tags r:id="rId19"/>
            </p:custDataLst>
          </p:nvPr>
        </p:nvSpPr>
        <p:spPr>
          <a:xfrm>
            <a:off x="3278669" y="5193706"/>
            <a:ext cx="2371613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2023-2024</a:t>
            </a: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第二学期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4092" y="3760205"/>
            <a:ext cx="243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5.1 </a:t>
            </a:r>
            <a:r>
              <a:rPr lang="zh-CN" altLang="en-US" sz="2400" b="1" dirty="0"/>
              <a:t>概述</a:t>
            </a:r>
            <a:endParaRPr lang="en-US" altLang="zh-CN" sz="2400" b="1" dirty="0"/>
          </a:p>
          <a:p>
            <a:r>
              <a:rPr lang="en-US" altLang="zh-CN" sz="2400" b="1" dirty="0"/>
              <a:t>5.2 </a:t>
            </a:r>
            <a:r>
              <a:rPr lang="zh-CN" altLang="en-US" sz="2400" b="1" dirty="0"/>
              <a:t>集成触发器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487538" y="2920756"/>
            <a:ext cx="167129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3158834" y="-15801"/>
            <a:ext cx="598516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158833" y="15801"/>
            <a:ext cx="3386343" cy="2404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827660" y="4362508"/>
            <a:ext cx="3316340" cy="2495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405821" y="2789630"/>
            <a:ext cx="4093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概述</a:t>
            </a:r>
            <a:endParaRPr lang="zh-CN" altLang="en-US" sz="3200" dirty="0"/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4405821" y="3932445"/>
            <a:ext cx="3787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>
                    <a:lumMod val="65000"/>
                  </a:schemeClr>
                </a:solidFill>
              </a:rPr>
              <a:t>集成触发器</a:t>
            </a:r>
            <a:endParaRPr lang="zh-CN" altLang="en-US" sz="3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0100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  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28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6534" y="1725296"/>
            <a:ext cx="3424344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时序逻辑电路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具有记忆功能的电路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727288" y="1725295"/>
            <a:ext cx="357195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能记忆一位二进制数的电路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57687" y="1050845"/>
            <a:ext cx="1640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82565" y="1050845"/>
            <a:ext cx="1687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核心部件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左大括号 3"/>
          <p:cNvSpPr/>
          <p:nvPr/>
        </p:nvSpPr>
        <p:spPr>
          <a:xfrm rot="16200000">
            <a:off x="3863915" y="1053718"/>
            <a:ext cx="461666" cy="4010048"/>
          </a:xfrm>
          <a:prstGeom prst="leftBrace">
            <a:avLst>
              <a:gd name="adj1" fmla="val 8333"/>
              <a:gd name="adj2" fmla="val 51100"/>
            </a:avLst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797810" y="3528321"/>
            <a:ext cx="4593876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时序逻辑电路的分析与设计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23429" y="3517037"/>
            <a:ext cx="9063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z="2800" b="1" dirty="0"/>
              <a:t>方法</a:t>
            </a:r>
            <a:endParaRPr lang="zh-CN" altLang="en-US" sz="2800" b="1" dirty="0"/>
          </a:p>
        </p:txBody>
      </p:sp>
      <p:sp>
        <p:nvSpPr>
          <p:cNvPr id="12" name="箭头: 下 11"/>
          <p:cNvSpPr/>
          <p:nvPr/>
        </p:nvSpPr>
        <p:spPr>
          <a:xfrm>
            <a:off x="3986464" y="4230163"/>
            <a:ext cx="160421" cy="46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077935" y="4867837"/>
            <a:ext cx="4122339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sz="2800" dirty="0"/>
              <a:t>计数器与寄存器</a:t>
            </a:r>
            <a:endParaRPr lang="zh-CN" altLang="en-US" sz="2800" dirty="0"/>
          </a:p>
        </p:txBody>
      </p:sp>
      <p:sp>
        <p:nvSpPr>
          <p:cNvPr id="15" name="矩形 14"/>
          <p:cNvSpPr/>
          <p:nvPr/>
        </p:nvSpPr>
        <p:spPr>
          <a:xfrm>
            <a:off x="6423429" y="4869978"/>
            <a:ext cx="1167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应用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5838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5.1.1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时序逻辑电路的特点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文本框 494593"/>
          <p:cNvSpPr txBox="1">
            <a:spLocks noChangeArrowheads="1"/>
          </p:cNvSpPr>
          <p:nvPr/>
        </p:nvSpPr>
        <p:spPr bwMode="auto">
          <a:xfrm>
            <a:off x="372979" y="1010555"/>
            <a:ext cx="252262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ea typeface="宋体" panose="02010600030101010101" pitchFamily="2" charset="-122"/>
              </a:rPr>
              <a:t>数字逻辑电路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>
            <a:spLocks noChangeArrowheads="1"/>
          </p:cNvSpPr>
          <p:nvPr/>
        </p:nvSpPr>
        <p:spPr bwMode="auto">
          <a:xfrm>
            <a:off x="3201113" y="684880"/>
            <a:ext cx="2377529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组合逻辑电路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时序逻辑电路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" name="左大括号 17"/>
          <p:cNvSpPr/>
          <p:nvPr/>
        </p:nvSpPr>
        <p:spPr bwMode="auto">
          <a:xfrm>
            <a:off x="2895600" y="847468"/>
            <a:ext cx="208548" cy="802071"/>
          </a:xfrm>
          <a:prstGeom prst="leftBrace">
            <a:avLst>
              <a:gd name="adj1" fmla="val 41644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200"/>
          </a:p>
        </p:txBody>
      </p:sp>
      <p:sp>
        <p:nvSpPr>
          <p:cNvPr id="19" name="文本框 18"/>
          <p:cNvSpPr txBox="1">
            <a:spLocks noChangeArrowheads="1"/>
          </p:cNvSpPr>
          <p:nvPr/>
        </p:nvSpPr>
        <p:spPr bwMode="auto">
          <a:xfrm>
            <a:off x="321412" y="4679475"/>
            <a:ext cx="8719343" cy="193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342900" indent="-342900" eaLnBrk="1" hangingPunct="1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功能：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任何时刻的稳定输出，不仅与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该时刻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的输入有关，还与电路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原状态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有关，即与以前的输入有关</a:t>
            </a: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结构：</a:t>
            </a:r>
            <a:r>
              <a:rPr lang="zh-CN" altLang="en-US" b="1" dirty="0">
                <a:ea typeface="楷体_GB2312" pitchFamily="49" charset="-122"/>
              </a:rPr>
              <a:t>由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组合电路</a:t>
            </a:r>
            <a:r>
              <a:rPr lang="zh-CN" altLang="en-US" b="1" dirty="0">
                <a:ea typeface="楷体_GB2312" pitchFamily="49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存储电路</a:t>
            </a:r>
            <a:r>
              <a:rPr lang="zh-CN" altLang="en-US" b="1" dirty="0">
                <a:ea typeface="楷体_GB2312" pitchFamily="49" charset="-122"/>
              </a:rPr>
              <a:t>组成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21" name="矩形 494598"/>
          <p:cNvSpPr>
            <a:spLocks noChangeArrowheads="1"/>
          </p:cNvSpPr>
          <p:nvPr/>
        </p:nvSpPr>
        <p:spPr bwMode="auto">
          <a:xfrm>
            <a:off x="104377" y="4156254"/>
            <a:ext cx="37942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7030A0"/>
                </a:solidFill>
                <a:latin typeface="黑体" panose="02010609060101010101" pitchFamily="49" charset="-122"/>
              </a:rPr>
              <a:t>时序逻辑电路</a:t>
            </a:r>
            <a:r>
              <a:rPr lang="zh-CN" altLang="en-US" b="1" dirty="0">
                <a:latin typeface="黑体" panose="02010609060101010101" pitchFamily="49" charset="-122"/>
              </a:rPr>
              <a:t>的特点</a:t>
            </a:r>
            <a:r>
              <a:rPr lang="en-US" altLang="zh-CN" b="1" dirty="0">
                <a:latin typeface="黑体" panose="02010609060101010101" pitchFamily="49" charset="-122"/>
              </a:rPr>
              <a:t>:</a:t>
            </a:r>
            <a:endParaRPr lang="zh-CN" altLang="en-US" b="1" dirty="0">
              <a:latin typeface="黑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21413" y="2251122"/>
            <a:ext cx="4178398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组合逻辑电路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的特点：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输出随当前输入变化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644191" y="2318842"/>
            <a:ext cx="3861012" cy="1310250"/>
            <a:chOff x="4644191" y="2318842"/>
            <a:chExt cx="3861012" cy="1310250"/>
          </a:xfrm>
        </p:grpSpPr>
        <p:grpSp>
          <p:nvGrpSpPr>
            <p:cNvPr id="22" name="Group 27"/>
            <p:cNvGrpSpPr/>
            <p:nvPr/>
          </p:nvGrpSpPr>
          <p:grpSpPr bwMode="auto">
            <a:xfrm>
              <a:off x="4644191" y="2318842"/>
              <a:ext cx="3861012" cy="1310250"/>
              <a:chOff x="3120" y="988"/>
              <a:chExt cx="2550" cy="760"/>
            </a:xfrm>
          </p:grpSpPr>
          <p:sp>
            <p:nvSpPr>
              <p:cNvPr id="23" name="Rectangle 28"/>
              <p:cNvSpPr>
                <a:spLocks noChangeArrowheads="1"/>
              </p:cNvSpPr>
              <p:nvPr/>
            </p:nvSpPr>
            <p:spPr bwMode="auto">
              <a:xfrm>
                <a:off x="3936" y="1046"/>
                <a:ext cx="912" cy="672"/>
              </a:xfrm>
              <a:prstGeom prst="rect">
                <a:avLst/>
              </a:prstGeom>
              <a:solidFill>
                <a:srgbClr val="CCFFCC"/>
              </a:solidFill>
              <a:ln w="38100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 dirty="0"/>
                  <a:t>组合逻辑</a:t>
                </a:r>
                <a:endParaRPr lang="zh-CN" altLang="en-US" sz="2000" b="1" dirty="0"/>
              </a:p>
              <a:p>
                <a:pPr algn="ctr" eaLnBrk="1" hangingPunct="1"/>
                <a:r>
                  <a:rPr lang="zh-CN" altLang="en-US" sz="2000" b="1" dirty="0"/>
                  <a:t>电      路</a:t>
                </a:r>
                <a:endParaRPr lang="zh-CN" altLang="en-US" sz="2000" b="1" dirty="0"/>
              </a:p>
            </p:txBody>
          </p:sp>
          <p:sp>
            <p:nvSpPr>
              <p:cNvPr id="24" name="Line 29"/>
              <p:cNvSpPr>
                <a:spLocks noChangeShapeType="1"/>
              </p:cNvSpPr>
              <p:nvPr/>
            </p:nvSpPr>
            <p:spPr bwMode="auto">
              <a:xfrm>
                <a:off x="3408" y="1133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5" name="Text Box 30"/>
              <p:cNvSpPr txBox="1">
                <a:spLocks noChangeArrowheads="1"/>
              </p:cNvSpPr>
              <p:nvPr/>
            </p:nvSpPr>
            <p:spPr bwMode="auto">
              <a:xfrm>
                <a:off x="3123" y="998"/>
                <a:ext cx="308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Line 31"/>
              <p:cNvSpPr>
                <a:spLocks noChangeShapeType="1"/>
              </p:cNvSpPr>
              <p:nvPr/>
            </p:nvSpPr>
            <p:spPr bwMode="auto">
              <a:xfrm>
                <a:off x="3404" y="1306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7" name="Text Box 32"/>
              <p:cNvSpPr txBox="1">
                <a:spLocks noChangeArrowheads="1"/>
              </p:cNvSpPr>
              <p:nvPr/>
            </p:nvSpPr>
            <p:spPr bwMode="auto">
              <a:xfrm>
                <a:off x="3120" y="1172"/>
                <a:ext cx="30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20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" name="Line 33"/>
              <p:cNvSpPr>
                <a:spLocks noChangeShapeType="1"/>
              </p:cNvSpPr>
              <p:nvPr/>
            </p:nvSpPr>
            <p:spPr bwMode="auto">
              <a:xfrm>
                <a:off x="3404" y="1613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29" name="Text Box 34"/>
              <p:cNvSpPr txBox="1">
                <a:spLocks noChangeArrowheads="1"/>
              </p:cNvSpPr>
              <p:nvPr/>
            </p:nvSpPr>
            <p:spPr bwMode="auto">
              <a:xfrm>
                <a:off x="3120" y="1478"/>
                <a:ext cx="346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000" b="1" baseline="-25000">
                    <a:latin typeface="Times New Roman" panose="02020603050405020304" pitchFamily="18" charset="0"/>
                  </a:rPr>
                  <a:t>m</a:t>
                </a:r>
                <a:endParaRPr lang="en-US" altLang="zh-CN" sz="20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Line 35"/>
              <p:cNvSpPr>
                <a:spLocks noChangeShapeType="1"/>
              </p:cNvSpPr>
              <p:nvPr/>
            </p:nvSpPr>
            <p:spPr bwMode="auto">
              <a:xfrm>
                <a:off x="4852" y="1123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1" name="Text Box 36"/>
              <p:cNvSpPr txBox="1">
                <a:spLocks noChangeArrowheads="1"/>
              </p:cNvSpPr>
              <p:nvPr/>
            </p:nvSpPr>
            <p:spPr bwMode="auto">
              <a:xfrm>
                <a:off x="5380" y="988"/>
                <a:ext cx="289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baseline="-25000">
                    <a:latin typeface="Times New Roman" panose="02020603050405020304" pitchFamily="18" charset="0"/>
                  </a:rPr>
                  <a:t>1</a:t>
                </a:r>
                <a:endParaRPr lang="en-US" altLang="zh-CN" sz="20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" name="Line 37"/>
              <p:cNvSpPr>
                <a:spLocks noChangeShapeType="1"/>
              </p:cNvSpPr>
              <p:nvPr/>
            </p:nvSpPr>
            <p:spPr bwMode="auto">
              <a:xfrm>
                <a:off x="4848" y="1296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3" name="Text Box 38"/>
              <p:cNvSpPr txBox="1">
                <a:spLocks noChangeArrowheads="1"/>
              </p:cNvSpPr>
              <p:nvPr/>
            </p:nvSpPr>
            <p:spPr bwMode="auto">
              <a:xfrm>
                <a:off x="5376" y="1161"/>
                <a:ext cx="288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baseline="-25000">
                    <a:latin typeface="Times New Roman" panose="02020603050405020304" pitchFamily="18" charset="0"/>
                  </a:rPr>
                  <a:t>2</a:t>
                </a:r>
                <a:endParaRPr lang="en-US" altLang="zh-CN" sz="2000" b="1" baseline="-25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" name="Line 39"/>
              <p:cNvSpPr>
                <a:spLocks noChangeShapeType="1"/>
              </p:cNvSpPr>
              <p:nvPr/>
            </p:nvSpPr>
            <p:spPr bwMode="auto">
              <a:xfrm>
                <a:off x="4848" y="1603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5" name="Text Box 40"/>
              <p:cNvSpPr txBox="1">
                <a:spLocks noChangeArrowheads="1"/>
              </p:cNvSpPr>
              <p:nvPr/>
            </p:nvSpPr>
            <p:spPr bwMode="auto">
              <a:xfrm>
                <a:off x="5376" y="1469"/>
                <a:ext cx="294" cy="2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 b="1"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baseline="-25000">
                    <a:latin typeface="Times New Roman" panose="02020603050405020304" pitchFamily="18" charset="0"/>
                  </a:rPr>
                  <a:t>n</a:t>
                </a:r>
                <a:endParaRPr lang="en-US" altLang="zh-CN" sz="2000" b="1" baseline="-250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5229578" y="2747321"/>
              <a:ext cx="249382" cy="608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endParaRPr lang="en-US" altLang="zh-CN" sz="1600" b="1" dirty="0"/>
            </a:p>
            <a:p>
              <a:pPr>
                <a:lnSpc>
                  <a:spcPct val="50000"/>
                </a:lnSpc>
              </a:pPr>
              <a:r>
                <a:rPr lang="en-US" altLang="zh-CN" sz="1600" b="1" dirty="0"/>
                <a:t>.</a:t>
              </a:r>
              <a:endParaRPr lang="en-US" altLang="zh-CN" sz="1600" b="1" dirty="0"/>
            </a:p>
            <a:p>
              <a:pPr>
                <a:lnSpc>
                  <a:spcPct val="50000"/>
                </a:lnSpc>
              </a:pPr>
              <a:r>
                <a:rPr lang="en-US" altLang="zh-CN" sz="1600" b="1" dirty="0"/>
                <a:t>.</a:t>
              </a:r>
              <a:endParaRPr lang="en-US" altLang="zh-CN" sz="1600" b="1" dirty="0"/>
            </a:p>
            <a:p>
              <a:pPr>
                <a:lnSpc>
                  <a:spcPct val="50000"/>
                </a:lnSpc>
              </a:pPr>
              <a:r>
                <a:rPr lang="en-US" altLang="zh-CN" sz="1600" b="1" dirty="0"/>
                <a:t>.</a:t>
              </a:r>
              <a:endParaRPr lang="zh-CN" altLang="en-US" sz="1600" b="1" dirty="0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532604" y="2730022"/>
              <a:ext cx="249382" cy="608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endParaRPr lang="en-US" altLang="zh-CN" sz="1600" b="1" dirty="0"/>
            </a:p>
            <a:p>
              <a:pPr>
                <a:lnSpc>
                  <a:spcPct val="50000"/>
                </a:lnSpc>
              </a:pPr>
              <a:r>
                <a:rPr lang="en-US" altLang="zh-CN" sz="1600" b="1" dirty="0"/>
                <a:t>.</a:t>
              </a:r>
              <a:endParaRPr lang="en-US" altLang="zh-CN" sz="1600" b="1" dirty="0"/>
            </a:p>
            <a:p>
              <a:pPr>
                <a:lnSpc>
                  <a:spcPct val="50000"/>
                </a:lnSpc>
              </a:pPr>
              <a:r>
                <a:rPr lang="en-US" altLang="zh-CN" sz="1600" b="1" dirty="0"/>
                <a:t>.</a:t>
              </a:r>
              <a:endParaRPr lang="en-US" altLang="zh-CN" sz="1600" b="1" dirty="0"/>
            </a:p>
            <a:p>
              <a:pPr>
                <a:lnSpc>
                  <a:spcPct val="50000"/>
                </a:lnSpc>
              </a:pPr>
              <a:r>
                <a:rPr lang="en-US" altLang="zh-CN" sz="1600" b="1" dirty="0"/>
                <a:t>.</a:t>
              </a:r>
              <a:endParaRPr lang="zh-CN" altLang="en-US" sz="16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57262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5.1.1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时序逻辑电路的特点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1" name="标题 495618"/>
          <p:cNvSpPr txBox="1">
            <a:spLocks noChangeArrowheads="1"/>
          </p:cNvSpPr>
          <p:nvPr/>
        </p:nvSpPr>
        <p:spPr>
          <a:xfrm>
            <a:off x="569588" y="661371"/>
            <a:ext cx="3296560" cy="6777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时序电路一般结构</a:t>
            </a:r>
            <a:endParaRPr lang="zh-CN" altLang="en-US" sz="54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958517" y="1385190"/>
            <a:ext cx="7226965" cy="4333820"/>
            <a:chOff x="876883" y="1385190"/>
            <a:chExt cx="7539647" cy="4596979"/>
          </a:xfrm>
        </p:grpSpPr>
        <p:pic>
          <p:nvPicPr>
            <p:cNvPr id="10" name="图片 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6883" y="1385190"/>
              <a:ext cx="7539647" cy="4596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0827" y="2646194"/>
              <a:ext cx="1581150" cy="619125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3956587" y="2542673"/>
              <a:ext cx="1319329" cy="881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rgbClr val="FFFF00"/>
                  </a:solidFill>
                </a:rPr>
                <a:t>组合逻辑电路</a:t>
              </a:r>
              <a:endParaRPr lang="zh-CN" altLang="en-US" sz="2400" b="1" dirty="0">
                <a:solidFill>
                  <a:srgbClr val="FFFF00"/>
                </a:solidFill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85067" y="4896282"/>
              <a:ext cx="1581150" cy="619125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3884789" y="5025709"/>
              <a:ext cx="1523833" cy="4896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2400" b="1">
                  <a:solidFill>
                    <a:srgbClr val="FFFF00"/>
                  </a:solidFill>
                </a:defRPr>
              </a:lvl1pPr>
            </a:lstStyle>
            <a:p>
              <a:r>
                <a:rPr lang="zh-CN" altLang="en-US" dirty="0"/>
                <a:t>存储电路</a:t>
              </a:r>
              <a:endParaRPr lang="zh-CN" altLang="en-US" dirty="0"/>
            </a:p>
          </p:txBody>
        </p:sp>
      </p:grpSp>
      <p:sp>
        <p:nvSpPr>
          <p:cNvPr id="13" name="对话气泡: 矩形 12"/>
          <p:cNvSpPr/>
          <p:nvPr/>
        </p:nvSpPr>
        <p:spPr>
          <a:xfrm>
            <a:off x="5125452" y="5920426"/>
            <a:ext cx="1608222" cy="733926"/>
          </a:xfrm>
          <a:prstGeom prst="wedgeRectCallout">
            <a:avLst>
              <a:gd name="adj1" fmla="val -71932"/>
              <a:gd name="adj2" fmla="val -123485"/>
            </a:avLst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6399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5.1.2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时序逻辑电路的分类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9" name="矩形 496641"/>
          <p:cNvSpPr>
            <a:spLocks noChangeArrowheads="1"/>
          </p:cNvSpPr>
          <p:nvPr/>
        </p:nvSpPr>
        <p:spPr bwMode="auto">
          <a:xfrm>
            <a:off x="424314" y="1035254"/>
            <a:ext cx="4152099" cy="523220"/>
          </a:xfrm>
          <a:prstGeom prst="rect">
            <a:avLst/>
          </a:prstGeom>
          <a:noFill/>
          <a:ln w="9525">
            <a:solidFill>
              <a:srgbClr val="3B812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按有无统一时钟脉冲分：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 496642"/>
          <p:cNvSpPr>
            <a:spLocks noChangeArrowheads="1"/>
          </p:cNvSpPr>
          <p:nvPr/>
        </p:nvSpPr>
        <p:spPr bwMode="auto">
          <a:xfrm>
            <a:off x="454002" y="1558474"/>
            <a:ext cx="7944040" cy="1304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457200" indent="-457200" defTabSz="9144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同步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有统一的时钟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，状态变更与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同步</a:t>
            </a:r>
            <a:endParaRPr lang="zh-CN" altLang="en-US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 defTabSz="9144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异步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无统一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CP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，状态变更不同步，逐级进</a:t>
            </a: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</a:rPr>
              <a:t>行</a:t>
            </a:r>
            <a:endParaRPr lang="zh-CN" altLang="en-US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1" name="矩形 496644"/>
          <p:cNvSpPr>
            <a:spLocks noChangeArrowheads="1"/>
          </p:cNvSpPr>
          <p:nvPr/>
        </p:nvSpPr>
        <p:spPr bwMode="auto">
          <a:xfrm>
            <a:off x="424314" y="3167390"/>
            <a:ext cx="3430747" cy="523220"/>
          </a:xfrm>
          <a:prstGeom prst="rect">
            <a:avLst/>
          </a:prstGeom>
          <a:noFill/>
          <a:ln w="9525">
            <a:solidFill>
              <a:srgbClr val="3B812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按输出信号特点分：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矩形 496645"/>
          <p:cNvSpPr>
            <a:spLocks noChangeArrowheads="1"/>
          </p:cNvSpPr>
          <p:nvPr/>
        </p:nvSpPr>
        <p:spPr bwMode="auto">
          <a:xfrm>
            <a:off x="424314" y="3738650"/>
            <a:ext cx="8458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457200" indent="-457200" defTabSz="9144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米里型（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Mealy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输出信号不仅与存储状态有关</a:t>
            </a:r>
            <a:r>
              <a:rPr lang="en-US" altLang="zh-CN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还与外部输入有关</a:t>
            </a:r>
            <a:endParaRPr lang="zh-CN" altLang="en-US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 defTabSz="9144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莫尔型（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Moore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rgbClr val="000000"/>
                </a:solidFill>
                <a:ea typeface="楷体_GB2312" pitchFamily="49" charset="-122"/>
              </a:rPr>
              <a:t>输出信号仅与存储状态有关</a:t>
            </a:r>
            <a:endParaRPr lang="zh-CN" altLang="en-US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23" name="圆角矩形标注 496648"/>
          <p:cNvSpPr>
            <a:spLocks noChangeArrowheads="1"/>
          </p:cNvSpPr>
          <p:nvPr/>
        </p:nvSpPr>
        <p:spPr bwMode="auto">
          <a:xfrm>
            <a:off x="5682188" y="5818015"/>
            <a:ext cx="3020738" cy="937080"/>
          </a:xfrm>
          <a:prstGeom prst="wedgeRoundRectCallout">
            <a:avLst>
              <a:gd name="adj1" fmla="val -9181"/>
              <a:gd name="adj2" fmla="val -75542"/>
              <a:gd name="adj3" fmla="val 16667"/>
            </a:avLst>
          </a:prstGeom>
          <a:solidFill>
            <a:srgbClr val="CC9900"/>
          </a:solidFill>
          <a:ln w="9525">
            <a:solidFill>
              <a:srgbClr val="3B812F"/>
            </a:solidFill>
            <a:miter lim="800000"/>
          </a:ln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外部输入改变存储状态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</a:rPr>
              <a:t>状态改变输出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1" grpId="0" animBg="1"/>
      <p:bldP spid="22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6399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5.1.2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时序逻辑电路的分类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2" name="矩形 496645"/>
          <p:cNvSpPr>
            <a:spLocks noChangeArrowheads="1"/>
          </p:cNvSpPr>
          <p:nvPr/>
        </p:nvSpPr>
        <p:spPr bwMode="auto">
          <a:xfrm>
            <a:off x="256959" y="634846"/>
            <a:ext cx="84582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457200" indent="-457200" defTabSz="9144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米利型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Mealy</a:t>
            </a:r>
            <a:r>
              <a:rPr lang="zh-CN" altLang="en-US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）</a:t>
            </a:r>
            <a:endParaRPr lang="zh-CN" altLang="en-US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10" name="矩形 496645"/>
          <p:cNvSpPr>
            <a:spLocks noChangeArrowheads="1"/>
          </p:cNvSpPr>
          <p:nvPr/>
        </p:nvSpPr>
        <p:spPr bwMode="auto">
          <a:xfrm>
            <a:off x="262950" y="3676041"/>
            <a:ext cx="84582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9pPr>
          </a:lstStyle>
          <a:p>
            <a:pPr marL="457200" indent="-457200" defTabSz="914400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摩尔</a:t>
            </a:r>
            <a:r>
              <a:rPr lang="zh-CN" altLang="en-US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型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Moore</a:t>
            </a:r>
            <a:r>
              <a:rPr lang="zh-CN" altLang="en-US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）</a:t>
            </a:r>
            <a:endParaRPr lang="zh-CN" altLang="en-US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852961" y="1687550"/>
            <a:ext cx="6817289" cy="1744139"/>
            <a:chOff x="852961" y="1687550"/>
            <a:chExt cx="6817289" cy="1744139"/>
          </a:xfrm>
        </p:grpSpPr>
        <p:sp>
          <p:nvSpPr>
            <p:cNvPr id="21" name="矩形 496644"/>
            <p:cNvSpPr>
              <a:spLocks noChangeArrowheads="1"/>
            </p:cNvSpPr>
            <p:nvPr/>
          </p:nvSpPr>
          <p:spPr bwMode="auto">
            <a:xfrm>
              <a:off x="1839291" y="1870004"/>
              <a:ext cx="726755" cy="12003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en-US" altLang="zh-CN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b="1" kern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次态逻辑</a:t>
              </a:r>
              <a:endParaRPr lang="en-US" altLang="zh-CN" b="1" kern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矩形 496644"/>
            <p:cNvSpPr>
              <a:spLocks noChangeArrowheads="1"/>
            </p:cNvSpPr>
            <p:nvPr/>
          </p:nvSpPr>
          <p:spPr bwMode="auto">
            <a:xfrm>
              <a:off x="3709808" y="1870004"/>
              <a:ext cx="918599" cy="12003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en-US" altLang="zh-CN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b="1" kern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状态</a:t>
              </a:r>
              <a:endParaRPr lang="en-US" altLang="zh-CN" b="1" kern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b="1" kern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存储器</a:t>
              </a:r>
              <a:endParaRPr lang="en-US" altLang="zh-CN" b="1" kern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" name="矩形 496644"/>
            <p:cNvSpPr>
              <a:spLocks noChangeArrowheads="1"/>
            </p:cNvSpPr>
            <p:nvPr/>
          </p:nvSpPr>
          <p:spPr bwMode="auto">
            <a:xfrm>
              <a:off x="5765321" y="1870004"/>
              <a:ext cx="918599" cy="12003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en-US" altLang="zh-CN" sz="1800" b="1" kern="0" dirty="0" smtClean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00" b="1" kern="0" dirty="0" smtClean="0">
                  <a:ea typeface="宋体" panose="02010600030101010101" pitchFamily="2" charset="-122"/>
                </a:rPr>
                <a:t>  输出</a:t>
              </a:r>
              <a:endParaRPr lang="en-US" altLang="zh-CN" sz="1800" b="1" kern="0" dirty="0" smtClean="0"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sz="1800" b="1" kern="0" dirty="0">
                  <a:ea typeface="宋体" panose="02010600030101010101" pitchFamily="2" charset="-122"/>
                </a:rPr>
                <a:t> </a:t>
              </a:r>
              <a:r>
                <a:rPr lang="en-US" altLang="zh-CN" sz="1800" b="1" kern="0" dirty="0" smtClean="0">
                  <a:ea typeface="宋体" panose="02010600030101010101" pitchFamily="2" charset="-122"/>
                </a:rPr>
                <a:t> </a:t>
              </a:r>
              <a:r>
                <a:rPr lang="zh-CN" altLang="en-US" sz="1800" b="1" kern="0" dirty="0" smtClean="0">
                  <a:ea typeface="宋体" panose="02010600030101010101" pitchFamily="2" charset="-122"/>
                </a:rPr>
                <a:t>逻辑</a:t>
              </a:r>
              <a:endParaRPr lang="en-US" altLang="zh-CN" sz="1800" b="1" kern="0" dirty="0" smtClean="0"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800" b="1" kern="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3" name="直接箭头连接符 2"/>
            <p:cNvCxnSpPr/>
            <p:nvPr/>
          </p:nvCxnSpPr>
          <p:spPr>
            <a:xfrm>
              <a:off x="852961" y="2162287"/>
              <a:ext cx="9863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21" idx="3"/>
              <a:endCxn id="11" idx="1"/>
            </p:cNvCxnSpPr>
            <p:nvPr/>
          </p:nvCxnSpPr>
          <p:spPr>
            <a:xfrm>
              <a:off x="2566046" y="2470169"/>
              <a:ext cx="114376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4621559" y="2500145"/>
              <a:ext cx="114376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193440" y="2500145"/>
              <a:ext cx="0" cy="9315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 flipH="1">
              <a:off x="1346126" y="3431689"/>
              <a:ext cx="38473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1346126" y="2775473"/>
              <a:ext cx="0" cy="6562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1346126" y="2775473"/>
              <a:ext cx="4931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1564918" y="1696515"/>
              <a:ext cx="0" cy="46577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flipH="1">
              <a:off x="1564918" y="1687550"/>
              <a:ext cx="38473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5412232" y="1689343"/>
              <a:ext cx="0" cy="4729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>
              <a:off x="5412232" y="2162287"/>
              <a:ext cx="353089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/>
            <p:nvPr/>
          </p:nvCxnSpPr>
          <p:spPr>
            <a:xfrm>
              <a:off x="6683920" y="2470168"/>
              <a:ext cx="9863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852961" y="181466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输入</a:t>
              </a:r>
              <a:endParaRPr lang="zh-CN" altLang="en-US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853919" y="211308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输出</a:t>
              </a:r>
              <a:endParaRPr lang="zh-CN" altLang="en-US" dirty="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852961" y="4667235"/>
            <a:ext cx="6817289" cy="1617023"/>
            <a:chOff x="852961" y="4667235"/>
            <a:chExt cx="6817289" cy="1617023"/>
          </a:xfrm>
        </p:grpSpPr>
        <p:sp>
          <p:nvSpPr>
            <p:cNvPr id="42" name="矩形 496644"/>
            <p:cNvSpPr>
              <a:spLocks noChangeArrowheads="1"/>
            </p:cNvSpPr>
            <p:nvPr/>
          </p:nvSpPr>
          <p:spPr bwMode="auto">
            <a:xfrm>
              <a:off x="1839291" y="4722573"/>
              <a:ext cx="726755" cy="12003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en-US" altLang="zh-CN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b="1" kern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次态逻辑</a:t>
              </a:r>
              <a:endParaRPr lang="en-US" altLang="zh-CN" b="1" kern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矩形 496644"/>
            <p:cNvSpPr>
              <a:spLocks noChangeArrowheads="1"/>
            </p:cNvSpPr>
            <p:nvPr/>
          </p:nvSpPr>
          <p:spPr bwMode="auto">
            <a:xfrm>
              <a:off x="3709808" y="4722573"/>
              <a:ext cx="918599" cy="12003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en-US" altLang="zh-CN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b="1" kern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状态</a:t>
              </a:r>
              <a:endParaRPr lang="en-US" altLang="zh-CN" b="1" kern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r>
                <a:rPr lang="zh-CN" altLang="en-US" b="1" kern="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存储器</a:t>
              </a:r>
              <a:endParaRPr lang="en-US" altLang="zh-CN" b="1" kern="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4" name="矩形 496644"/>
            <p:cNvSpPr>
              <a:spLocks noChangeArrowheads="1"/>
            </p:cNvSpPr>
            <p:nvPr/>
          </p:nvSpPr>
          <p:spPr bwMode="auto">
            <a:xfrm>
              <a:off x="5765321" y="4722573"/>
              <a:ext cx="918599" cy="12003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defRPr>
              </a:lvl9pPr>
            </a:lstStyle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en-US" altLang="zh-CN" sz="1800" b="1" kern="0" dirty="0" smtClean="0">
                <a:solidFill>
                  <a:srgbClr val="C00000"/>
                </a:solidFill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800" b="1" kern="0" dirty="0" smtClean="0">
                  <a:ea typeface="宋体" panose="02010600030101010101" pitchFamily="2" charset="-122"/>
                </a:rPr>
                <a:t>  输出</a:t>
              </a:r>
              <a:endParaRPr lang="en-US" altLang="zh-CN" sz="1800" b="1" kern="0" dirty="0" smtClean="0"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en-US" altLang="zh-CN" sz="1800" b="1" kern="0" dirty="0">
                  <a:ea typeface="宋体" panose="02010600030101010101" pitchFamily="2" charset="-122"/>
                </a:rPr>
                <a:t> </a:t>
              </a:r>
              <a:r>
                <a:rPr lang="en-US" altLang="zh-CN" sz="1800" b="1" kern="0" dirty="0" smtClean="0">
                  <a:ea typeface="宋体" panose="02010600030101010101" pitchFamily="2" charset="-122"/>
                </a:rPr>
                <a:t> </a:t>
              </a:r>
              <a:r>
                <a:rPr lang="zh-CN" altLang="en-US" sz="1800" b="1" kern="0" dirty="0" smtClean="0">
                  <a:ea typeface="宋体" panose="02010600030101010101" pitchFamily="2" charset="-122"/>
                </a:rPr>
                <a:t>逻辑</a:t>
              </a:r>
              <a:endParaRPr lang="en-US" altLang="zh-CN" sz="1800" b="1" kern="0" dirty="0" smtClean="0">
                <a:ea typeface="宋体" panose="02010600030101010101" pitchFamily="2" charset="-122"/>
              </a:endParaRPr>
            </a:p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800" b="1" kern="0" dirty="0">
                <a:solidFill>
                  <a:srgbClr val="C00000"/>
                </a:solidFill>
                <a:ea typeface="宋体" panose="02010600030101010101" pitchFamily="2" charset="-122"/>
              </a:endParaRPr>
            </a:p>
          </p:txBody>
        </p:sp>
        <p:cxnSp>
          <p:nvCxnSpPr>
            <p:cNvPr id="45" name="直接箭头连接符 44"/>
            <p:cNvCxnSpPr/>
            <p:nvPr/>
          </p:nvCxnSpPr>
          <p:spPr>
            <a:xfrm>
              <a:off x="852961" y="5014856"/>
              <a:ext cx="9863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/>
            <p:cNvCxnSpPr>
              <a:stCxn id="42" idx="3"/>
              <a:endCxn id="43" idx="1"/>
            </p:cNvCxnSpPr>
            <p:nvPr/>
          </p:nvCxnSpPr>
          <p:spPr>
            <a:xfrm>
              <a:off x="2566046" y="5322738"/>
              <a:ext cx="114376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/>
            <p:nvPr/>
          </p:nvCxnSpPr>
          <p:spPr>
            <a:xfrm>
              <a:off x="4621559" y="5352714"/>
              <a:ext cx="114376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5193440" y="5352714"/>
              <a:ext cx="0" cy="93154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>
              <a:off x="1346126" y="6284258"/>
              <a:ext cx="384731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1346126" y="5628042"/>
              <a:ext cx="0" cy="65621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>
              <a:off x="1346126" y="5628042"/>
              <a:ext cx="49316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>
              <a:off x="6683920" y="5322737"/>
              <a:ext cx="9863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852961" y="4667235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输入</a:t>
              </a:r>
              <a:endParaRPr lang="zh-CN" altLang="en-US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853919" y="496564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/>
                <a:t>输出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1487538" y="2920756"/>
            <a:ext cx="167129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0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solidFill>
                  <a:schemeClr val="accent1">
                    <a:lumMod val="50000"/>
                  </a:schemeClr>
                </a:solidFill>
              </a:rPr>
              <a:t>Contents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淘宝网chenying0907出品 11"/>
          <p:cNvSpPr/>
          <p:nvPr/>
        </p:nvSpPr>
        <p:spPr>
          <a:xfrm>
            <a:off x="3158834" y="-15801"/>
            <a:ext cx="5985166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p:cxnSp>
        <p:nvCxnSpPr>
          <p:cNvPr id="16" name="直接连接符 15"/>
          <p:cNvCxnSpPr/>
          <p:nvPr/>
        </p:nvCxnSpPr>
        <p:spPr>
          <a:xfrm flipH="1">
            <a:off x="3158833" y="15801"/>
            <a:ext cx="3386343" cy="240418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5827660" y="4362508"/>
            <a:ext cx="3316340" cy="249549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淘宝网chenying0907出品 20"/>
          <p:cNvSpPr txBox="1"/>
          <p:nvPr/>
        </p:nvSpPr>
        <p:spPr>
          <a:xfrm>
            <a:off x="4405821" y="2789630"/>
            <a:ext cx="4093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4405821" y="3932445"/>
            <a:ext cx="3787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/>
              <a:t>集成触发器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淘宝网chenying0907出品 10"/>
          <p:cNvSpPr txBox="1"/>
          <p:nvPr/>
        </p:nvSpPr>
        <p:spPr>
          <a:xfrm>
            <a:off x="457533" y="364805"/>
            <a:ext cx="4114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 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集成触发器</a:t>
            </a:r>
            <a:endParaRPr lang="en-US" altLang="zh-CN" sz="3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16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2242743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defRPr>
            </a:lvl1pPr>
          </a:lstStyle>
          <a:p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14" name="Text Box 2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3503574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rPr>
              <a:t>脉冲触发的触发器</a:t>
            </a:r>
            <a:endParaRPr lang="zh-CN" altLang="en-US" sz="3200" b="1" dirty="0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  <p:sp>
        <p:nvSpPr>
          <p:cNvPr id="15" name="Text Box 3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2880049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rPr>
              <a:t>电平触发的触发器</a:t>
            </a:r>
            <a:endParaRPr lang="zh-CN" altLang="en-US" sz="3200" b="1" dirty="0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  <p:sp>
        <p:nvSpPr>
          <p:cNvPr id="19" name="Text Box 4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1574728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latin typeface="楷体_GB2312" pitchFamily="49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22" name="Text Box 68"/>
          <p:cNvSpPr txBox="1">
            <a:spLocks noChangeArrowheads="1"/>
          </p:cNvSpPr>
          <p:nvPr/>
        </p:nvSpPr>
        <p:spPr bwMode="auto">
          <a:xfrm>
            <a:off x="1977093" y="4859748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eaLnBrk="0" hangingPunct="0"/>
            <a:endParaRPr lang="zh-CN" altLang="en-US" sz="3200" b="1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  <p:sp>
        <p:nvSpPr>
          <p:cNvPr id="25" name="Text Box 8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4158572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rPr>
              <a:t>边沿触发的触发器</a:t>
            </a:r>
            <a:endParaRPr lang="zh-CN" altLang="en-US" sz="3200" b="1" dirty="0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665082" y="5317671"/>
            <a:ext cx="7129463" cy="5232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>
            <a:spAutoFit/>
          </a:bodyPr>
          <a:lstStyle/>
          <a:p>
            <a:r>
              <a:rPr lang="zh-CN" altLang="en-US" sz="2800" b="1" dirty="0">
                <a:ea typeface="宋体" panose="02010600030101010101" pitchFamily="2" charset="-122"/>
              </a:rPr>
              <a:t>触发器是构成时序逻辑电路的基本单元电路</a:t>
            </a:r>
            <a:endParaRPr lang="zh-CN" altLang="en-US" sz="2800" b="1" dirty="0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9860" y="1324711"/>
            <a:ext cx="2381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数字电路对二值信号的处理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3211336" y="1155817"/>
            <a:ext cx="393761" cy="112300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25820" y="894207"/>
            <a:ext cx="357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数值运算和逻辑运算</a:t>
            </a:r>
            <a:endParaRPr lang="zh-CN" altLang="en-US" sz="28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3725820" y="1953787"/>
            <a:ext cx="357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存储</a:t>
            </a:r>
            <a:endParaRPr lang="zh-CN" altLang="en-US" sz="2800" b="1" dirty="0"/>
          </a:p>
        </p:txBody>
      </p:sp>
      <p:sp>
        <p:nvSpPr>
          <p:cNvPr id="5" name="矩形 4"/>
          <p:cNvSpPr/>
          <p:nvPr/>
        </p:nvSpPr>
        <p:spPr>
          <a:xfrm>
            <a:off x="516327" y="2890391"/>
            <a:ext cx="8198911" cy="1077218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ea typeface="宋体" panose="02010600030101010101" pitchFamily="2" charset="-122"/>
              </a:rPr>
              <a:t>能够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存储</a:t>
            </a:r>
            <a:r>
              <a:rPr lang="en-US" altLang="zh-CN" sz="3200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3200" b="1" dirty="0">
                <a:solidFill>
                  <a:srgbClr val="FF0000"/>
                </a:solidFill>
                <a:ea typeface="宋体" panose="02010600030101010101" pitchFamily="2" charset="-122"/>
              </a:rPr>
              <a:t>位二值信号</a:t>
            </a:r>
            <a:r>
              <a:rPr lang="zh-CN" altLang="en-US" sz="3200" b="1" dirty="0">
                <a:ea typeface="宋体" panose="02010600030101010101" pitchFamily="2" charset="-122"/>
              </a:rPr>
              <a:t>的基本单元电路统称为</a:t>
            </a:r>
            <a:r>
              <a:rPr lang="zh-CN" altLang="en-US" sz="3200" b="1" dirty="0">
                <a:solidFill>
                  <a:srgbClr val="0000FF"/>
                </a:solidFill>
                <a:ea typeface="宋体" panose="02010600030101010101" pitchFamily="2" charset="-122"/>
              </a:rPr>
              <a:t>触发器</a:t>
            </a:r>
            <a:endParaRPr lang="zh-CN" altLang="en-US" sz="3200" dirty="0">
              <a:solidFill>
                <a:srgbClr val="0000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30170" y="4220162"/>
            <a:ext cx="60420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Flip - Flop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，简写为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FF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，又称双稳态触发器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 autoUpdateAnimBg="0"/>
      <p:bldP spid="5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6" name="Rectangle 3"/>
          <p:cNvSpPr txBox="1">
            <a:spLocks noChangeArrowheads="1"/>
          </p:cNvSpPr>
          <p:nvPr/>
        </p:nvSpPr>
        <p:spPr bwMode="auto">
          <a:xfrm>
            <a:off x="201990" y="858981"/>
            <a:ext cx="7114667" cy="821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10000"/>
              </a:lnSpc>
              <a:buClrTx/>
            </a:pPr>
            <a:r>
              <a:rPr lang="zh-CN" altLang="en-US" sz="3600" b="1" kern="0" dirty="0">
                <a:solidFill>
                  <a:srgbClr val="0000FF"/>
                </a:solidFill>
                <a:latin typeface="Times New Roman" panose="02020603050405020304"/>
                <a:ea typeface="隶书" panose="02010509060101010101" charset="-122"/>
              </a:rPr>
              <a:t>触发器的特点</a:t>
            </a:r>
            <a:endParaRPr lang="zh-CN" altLang="en-US" sz="3600" b="1" kern="0" dirty="0">
              <a:solidFill>
                <a:srgbClr val="0000FF"/>
              </a:solidFill>
              <a:latin typeface="Times New Roman" panose="02020603050405020304"/>
              <a:ea typeface="隶书" panose="02010509060101010101" charset="-122"/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388124" y="1659521"/>
            <a:ext cx="86071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有两个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稳定状态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简称稳态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，用来表示逻辑</a:t>
            </a:r>
            <a:r>
              <a:rPr lang="zh-CN" altLang="en-US" sz="2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2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2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AutoShape 6"/>
          <p:cNvSpPr>
            <a:spLocks noChangeArrowheads="1"/>
          </p:cNvSpPr>
          <p:nvPr/>
        </p:nvSpPr>
        <p:spPr bwMode="auto">
          <a:xfrm>
            <a:off x="2907488" y="2581086"/>
            <a:ext cx="4972050" cy="420687"/>
          </a:xfrm>
          <a:prstGeom prst="wedgeRectCallout">
            <a:avLst>
              <a:gd name="adj1" fmla="val 56901"/>
              <a:gd name="adj2" fmla="val -168259"/>
            </a:avLst>
          </a:prstGeom>
          <a:solidFill>
            <a:srgbClr val="CCECFF">
              <a:alpha val="50000"/>
            </a:srgbClr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ctr">
              <a:spcBef>
                <a:spcPct val="20000"/>
              </a:spcBef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一个触发器可存储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位二进制数码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388125" y="3224941"/>
            <a:ext cx="8335962" cy="113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在输入信号作用下，触发器的两个稳定状态可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相互转换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称为状态的翻转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382192" y="5326181"/>
            <a:ext cx="8379615" cy="113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输入信号作用后，新状态可长期保持下来，电路具有</a:t>
            </a:r>
            <a:r>
              <a:rPr lang="zh-CN" altLang="en-US" sz="2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记忆功能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对话气泡: 矩形 1"/>
          <p:cNvSpPr/>
          <p:nvPr/>
        </p:nvSpPr>
        <p:spPr>
          <a:xfrm>
            <a:off x="3858856" y="4611376"/>
            <a:ext cx="2178809" cy="630017"/>
          </a:xfrm>
          <a:prstGeom prst="wedgeRectCallout">
            <a:avLst>
              <a:gd name="adj1" fmla="val -146937"/>
              <a:gd name="adj2" fmla="val -11527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rgbClr val="FF0000"/>
                </a:solidFill>
              </a:rPr>
              <a:t>一触即发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utoUpdateAnimBg="0"/>
      <p:bldP spid="15" grpId="0" bldLvl="0" animBg="1" autoUpdateAnimBg="0"/>
      <p:bldP spid="16" grpId="0" bldLvl="0" autoUpdateAnimBg="0"/>
      <p:bldP spid="17" grpId="0" bldLvl="0" autoUpdateAnimBg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633663" y="1200098"/>
            <a:ext cx="7162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762000" defTabSz="914400" fontAlgn="base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3600" b="1" kern="0" dirty="0">
                <a:solidFill>
                  <a:srgbClr val="0000FF"/>
                </a:solidFill>
                <a:latin typeface="Times New Roman" panose="02020603050405020304"/>
                <a:ea typeface="隶书" panose="02010509060101010101" charset="-122"/>
              </a:rPr>
              <a:t>触发器的分类</a:t>
            </a:r>
            <a:endParaRPr lang="en-US" altLang="zh-CN" sz="3600" b="1" kern="0" dirty="0">
              <a:solidFill>
                <a:srgbClr val="0000FF"/>
              </a:solidFill>
              <a:latin typeface="Times New Roman" panose="02020603050405020304"/>
              <a:ea typeface="隶书" panose="02010509060101010101" charset="-122"/>
            </a:endParaRPr>
          </a:p>
          <a:p>
            <a:pPr marL="457200" indent="-4572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按逻辑功能分：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zh-CN" altLang="en-US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Reset-Set </a:t>
            </a:r>
            <a:r>
              <a:rPr lang="zh-CN" altLang="en-US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r>
              <a:rPr lang="zh-CN" altLang="zh-CN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(delay/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data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J-K</a:t>
            </a:r>
            <a:r>
              <a:rPr lang="zh-CN" altLang="zh-CN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zh-CN" altLang="en-US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&amp; </a:t>
            </a:r>
            <a:r>
              <a:rPr lang="en-US" altLang="zh-CN" sz="1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 Jack </a:t>
            </a:r>
            <a:r>
              <a:rPr lang="en-US" altLang="zh-CN" sz="1400" b="1" dirty="0" err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Kilby</a:t>
            </a:r>
            <a:r>
              <a:rPr lang="en-US" altLang="zh-CN" sz="1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/Jump-Key  </a:t>
            </a:r>
            <a:r>
              <a:rPr lang="zh-CN" altLang="en-US" sz="14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zh-CN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型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Toggle</a:t>
            </a:r>
            <a:r>
              <a:rPr lang="en-US" altLang="zh-CN" sz="1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28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按触发方式分：</a:t>
            </a:r>
            <a:r>
              <a:rPr lang="zh-CN" altLang="en-US" sz="28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电平触发方式、脉冲触发方式和边沿触发方式 </a:t>
            </a:r>
            <a:endParaRPr lang="zh-CN" altLang="en-US" sz="2800" b="1" kern="0" dirty="0">
              <a:solidFill>
                <a:prstClr val="black"/>
              </a:solidFill>
              <a:latin typeface="Times New Roman" panose="02020603050405020304"/>
              <a:ea typeface="隶书" panose="020105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280569" y="634846"/>
            <a:ext cx="8397846" cy="288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indent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Times New Roman" panose="02020603050405020304"/>
                <a:ea typeface="隶书" panose="02010509060101010101" charset="-122"/>
              </a:rPr>
              <a:t>触发器的现态和次态</a:t>
            </a:r>
            <a:endParaRPr lang="zh-CN" altLang="en-US" b="1" kern="0" dirty="0">
              <a:solidFill>
                <a:srgbClr val="0000FF"/>
              </a:solidFill>
              <a:latin typeface="Times New Roman" panose="02020603050405020304"/>
              <a:ea typeface="隶书" panose="02010509060101010101" charset="-122"/>
            </a:endParaRPr>
          </a:p>
          <a:p>
            <a:pPr indent="-285750" defTabSz="914400" eaLnBrk="1" hangingPunct="1">
              <a:lnSpc>
                <a:spcPct val="150000"/>
              </a:lnSpc>
              <a:spcAft>
                <a:spcPts val="0"/>
              </a:spcAft>
              <a:buClr>
                <a:srgbClr val="006600"/>
              </a:buClr>
              <a:buSzPct val="55000"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/>
                <a:ea typeface="隶书" panose="02010509060101010101" charset="-122"/>
              </a:rPr>
              <a:t>现态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现在状态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):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输入变化前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触发器所处的状态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-285750" defTabSz="914400" eaLnBrk="1" hangingPunct="1">
              <a:lnSpc>
                <a:spcPct val="150000"/>
              </a:lnSpc>
              <a:spcAft>
                <a:spcPts val="0"/>
              </a:spcAft>
              <a:buClr>
                <a:srgbClr val="006600"/>
              </a:buClr>
              <a:buSzPct val="55000"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/>
                <a:ea typeface="隶书" panose="02010509060101010101" charset="-122"/>
              </a:rPr>
              <a:t>次态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下一状态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): 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输入变化后</a:t>
            </a:r>
            <a:r>
              <a: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触发器进入的状态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-285750" defTabSz="914400" eaLnBrk="1" hangingPunct="1">
              <a:lnSpc>
                <a:spcPct val="150000"/>
              </a:lnSpc>
              <a:spcAft>
                <a:spcPts val="0"/>
              </a:spcAft>
              <a:buClr>
                <a:srgbClr val="006600"/>
              </a:buClr>
              <a:buSzPct val="55000"/>
              <a:buNone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400" b="1" kern="0" dirty="0">
                <a:solidFill>
                  <a:srgbClr val="FF0000"/>
                </a:solidFill>
                <a:latin typeface="Times New Roman" panose="02020603050405020304"/>
                <a:ea typeface="楷体_GB2312" pitchFamily="49" charset="-122"/>
              </a:rPr>
              <a:t>次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/>
                <a:ea typeface="楷体_GB2312" pitchFamily="49" charset="-122"/>
              </a:rPr>
              <a:t>态是对某一时刻而言，过了该时刻就应看作现态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/>
              <a:ea typeface="楷体_GB2312" pitchFamily="49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280569" y="3920350"/>
            <a:ext cx="8397846" cy="288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rgbClr val="006600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0"/>
              </a:spcBef>
              <a:spcAft>
                <a:spcPct val="2000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+mn-lt"/>
                <a:ea typeface="宋体" panose="02010600030101010101" pitchFamily="2" charset="-122"/>
              </a:defRPr>
            </a:lvl9pPr>
          </a:lstStyle>
          <a:p>
            <a:pPr marL="0" marR="0" indent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zh-CN" altLang="en-US" b="1" kern="0" dirty="0">
                <a:solidFill>
                  <a:srgbClr val="0000FF"/>
                </a:solidFill>
                <a:latin typeface="Times New Roman" panose="02020603050405020304"/>
                <a:ea typeface="隶书" panose="02010509060101010101" charset="-122"/>
              </a:rPr>
              <a:t>触发器逻辑功能的描述方式</a:t>
            </a:r>
            <a:endParaRPr lang="en-US" altLang="zh-CN" b="1" kern="0" dirty="0">
              <a:solidFill>
                <a:srgbClr val="0000FF"/>
              </a:solidFill>
              <a:latin typeface="Times New Roman" panose="02020603050405020304"/>
              <a:ea typeface="隶书" panose="02010509060101010101" charset="-122"/>
            </a:endParaRPr>
          </a:p>
          <a:p>
            <a:pPr marL="0" marR="0" indent="0"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>
                <a:srgbClr val="3333CC"/>
              </a:buClr>
              <a:buSzPct val="60000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状态转移真值表（功能表）、特征方程、激励表、状态转换图、波形图（时序图）等</a:t>
            </a:r>
            <a:endParaRPr lang="zh-CN" altLang="en-US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淘宝网chenying0907出品 10"/>
          <p:cNvSpPr txBox="1"/>
          <p:nvPr/>
        </p:nvSpPr>
        <p:spPr>
          <a:xfrm>
            <a:off x="457533" y="364805"/>
            <a:ext cx="4114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 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集成触发器</a:t>
            </a:r>
            <a:endParaRPr lang="en-US" altLang="zh-CN" sz="3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16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2242743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latin typeface="楷体_GB2312" pitchFamily="49" charset="-122"/>
              </a:defRPr>
            </a:lvl1pPr>
          </a:lstStyle>
          <a:p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25" name="Text Box 2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3503574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rPr>
              <a:t>脉冲触发的触发器</a:t>
            </a:r>
            <a:endParaRPr lang="zh-CN" altLang="en-US" sz="3200" b="1" dirty="0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  <p:sp>
        <p:nvSpPr>
          <p:cNvPr id="26" name="Text Box 3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2880049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defRPr>
            </a:lvl1pPr>
          </a:lstStyle>
          <a:p>
            <a:r>
              <a:rPr lang="zh-CN" altLang="en-US" dirty="0"/>
              <a:t>电平触发的触发器</a:t>
            </a:r>
            <a:endParaRPr lang="zh-CN" altLang="en-US" dirty="0"/>
          </a:p>
        </p:txBody>
      </p:sp>
      <p:sp>
        <p:nvSpPr>
          <p:cNvPr id="27" name="Text Box 4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1574728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4" name="Text Box 8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4158572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rPr>
              <a:t>边沿触发的触发器</a:t>
            </a:r>
            <a:endParaRPr lang="zh-CN" altLang="en-US" sz="3200" b="1" dirty="0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0" name="Text Box 4"/>
          <p:cNvSpPr txBox="1">
            <a:spLocks noChangeArrowheads="1"/>
          </p:cNvSpPr>
          <p:nvPr/>
        </p:nvSpPr>
        <p:spPr bwMode="auto">
          <a:xfrm>
            <a:off x="215899" y="877634"/>
            <a:ext cx="8496300" cy="1308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基本R</a:t>
            </a:r>
            <a:r>
              <a:rPr lang="en-US" altLang="zh-CN" sz="2800" b="1" dirty="0">
                <a:solidFill>
                  <a:srgbClr val="FF0000"/>
                </a:solidFill>
              </a:rPr>
              <a:t>-</a:t>
            </a:r>
            <a:r>
              <a:rPr lang="zh-CN" altLang="en-US" sz="2800" b="1" dirty="0">
                <a:solidFill>
                  <a:srgbClr val="FF0000"/>
                </a:solidFill>
              </a:rPr>
              <a:t>S触发器</a:t>
            </a:r>
            <a:r>
              <a:rPr lang="zh-CN" altLang="en-US" sz="2800" b="1" dirty="0"/>
              <a:t>（又叫</a:t>
            </a:r>
            <a:r>
              <a:rPr lang="zh-CN" altLang="en-US" sz="2800" b="1" i="1" dirty="0">
                <a:solidFill>
                  <a:srgbClr val="0000FF"/>
                </a:solidFill>
              </a:rPr>
              <a:t>SR</a:t>
            </a:r>
            <a:r>
              <a:rPr lang="zh-CN" altLang="en-US" sz="2800" b="1" dirty="0">
                <a:solidFill>
                  <a:srgbClr val="0000FF"/>
                </a:solidFill>
                <a:sym typeface="Arial" panose="020B0604020202020204" pitchFamily="34" charset="0"/>
              </a:rPr>
              <a:t>锁存器</a:t>
            </a:r>
            <a:r>
              <a:rPr lang="zh-CN" altLang="en-US" sz="2800" b="1" dirty="0"/>
              <a:t>）是构成各种触发器的基本部件，也是最简单的一种触发器。</a:t>
            </a:r>
            <a:endParaRPr lang="zh-CN" altLang="en-US" sz="2800" b="1" dirty="0"/>
          </a:p>
        </p:txBody>
      </p:sp>
      <p:sp>
        <p:nvSpPr>
          <p:cNvPr id="81" name="Rectangle 5"/>
          <p:cNvSpPr>
            <a:spLocks noChangeArrowheads="1"/>
          </p:cNvSpPr>
          <p:nvPr/>
        </p:nvSpPr>
        <p:spPr bwMode="auto">
          <a:xfrm>
            <a:off x="271347" y="2714613"/>
            <a:ext cx="8280400" cy="1294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170A8E"/>
                </a:solidFill>
                <a:latin typeface="Tahoma" panose="020B0604030504040204" pitchFamily="34" charset="0"/>
              </a:rPr>
              <a:t>锁存器</a:t>
            </a: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</a:rPr>
              <a:t>---</a:t>
            </a:r>
            <a:r>
              <a:rPr lang="zh-CN" altLang="en-US" sz="2800" b="1" dirty="0">
                <a:solidFill>
                  <a:srgbClr val="FF0066"/>
                </a:solidFill>
                <a:latin typeface="Tahoma" panose="020B0604030504040204" pitchFamily="34" charset="0"/>
              </a:rPr>
              <a:t>不需要触发信号</a:t>
            </a:r>
            <a:r>
              <a:rPr lang="zh-CN" altLang="en-US" sz="2800" b="1" dirty="0">
                <a:latin typeface="Tahoma" panose="020B0604030504040204" pitchFamily="34" charset="0"/>
              </a:rPr>
              <a:t>，由输入信号</a:t>
            </a:r>
            <a:r>
              <a:rPr lang="zh-CN" altLang="en-US" sz="2800" b="1" dirty="0">
                <a:solidFill>
                  <a:srgbClr val="CC0000"/>
                </a:solidFill>
                <a:latin typeface="Tahoma" panose="020B0604030504040204" pitchFamily="34" charset="0"/>
              </a:rPr>
              <a:t>直接</a:t>
            </a:r>
            <a:r>
              <a:rPr lang="zh-CN" altLang="en-US" sz="2800" b="1" dirty="0">
                <a:latin typeface="Tahoma" panose="020B0604030504040204" pitchFamily="34" charset="0"/>
              </a:rPr>
              <a:t>完成置0或置1操作。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82" name="Rectangle 6"/>
          <p:cNvSpPr>
            <a:spLocks noChangeArrowheads="1"/>
          </p:cNvSpPr>
          <p:nvPr/>
        </p:nvSpPr>
        <p:spPr bwMode="auto">
          <a:xfrm>
            <a:off x="271347" y="4575864"/>
            <a:ext cx="8567906" cy="1941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170A8E"/>
                </a:solidFill>
                <a:latin typeface="Tahoma" panose="020B0604030504040204" pitchFamily="34" charset="0"/>
              </a:rPr>
              <a:t>触发器</a:t>
            </a:r>
            <a:r>
              <a:rPr lang="zh-CN" altLang="en-US" sz="2800" b="1" dirty="0">
                <a:solidFill>
                  <a:schemeClr val="tx2"/>
                </a:solidFill>
                <a:latin typeface="Tahoma" panose="020B0604030504040204" pitchFamily="34" charset="0"/>
              </a:rPr>
              <a:t>---</a:t>
            </a:r>
            <a:r>
              <a:rPr lang="zh-CN" altLang="en-US" sz="2800" b="1" dirty="0">
                <a:solidFill>
                  <a:srgbClr val="FF0066"/>
                </a:solidFill>
                <a:latin typeface="Tahoma" panose="020B0604030504040204" pitchFamily="34" charset="0"/>
              </a:rPr>
              <a:t>需要一个触发信号</a:t>
            </a:r>
            <a:r>
              <a:rPr lang="zh-CN" altLang="en-US" sz="2800" b="1" dirty="0">
                <a:latin typeface="Tahoma" panose="020B0604030504040204" pitchFamily="34" charset="0"/>
              </a:rPr>
              <a:t>（称为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时钟信号</a:t>
            </a:r>
            <a:r>
              <a:rPr lang="zh-CN" altLang="en-US" sz="2800" b="1" dirty="0">
                <a:latin typeface="Tahoma" panose="020B0604030504040204" pitchFamily="34" charset="0"/>
              </a:rPr>
              <a:t>CLOCK)，只有触发信号有效时，才按输入信号完成置0或置1操作。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83" name="Group 53"/>
          <p:cNvGrpSpPr/>
          <p:nvPr/>
        </p:nvGrpSpPr>
        <p:grpSpPr bwMode="auto">
          <a:xfrm>
            <a:off x="934020" y="4033970"/>
            <a:ext cx="2851454" cy="1311275"/>
            <a:chOff x="549" y="2576"/>
            <a:chExt cx="1869" cy="826"/>
          </a:xfrm>
        </p:grpSpPr>
        <p:sp>
          <p:nvSpPr>
            <p:cNvPr id="84" name="Oval 36"/>
            <p:cNvSpPr>
              <a:spLocks noChangeArrowheads="1"/>
            </p:cNvSpPr>
            <p:nvPr/>
          </p:nvSpPr>
          <p:spPr bwMode="auto">
            <a:xfrm>
              <a:off x="549" y="2593"/>
              <a:ext cx="480" cy="48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5" name="Oval 37"/>
            <p:cNvSpPr>
              <a:spLocks noChangeArrowheads="1"/>
            </p:cNvSpPr>
            <p:nvPr/>
          </p:nvSpPr>
          <p:spPr bwMode="auto">
            <a:xfrm>
              <a:off x="1938" y="2576"/>
              <a:ext cx="480" cy="48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6" name="AutoShape 40"/>
            <p:cNvSpPr>
              <a:spLocks noChangeArrowheads="1"/>
            </p:cNvSpPr>
            <p:nvPr/>
          </p:nvSpPr>
          <p:spPr bwMode="auto">
            <a:xfrm>
              <a:off x="943" y="3109"/>
              <a:ext cx="1175" cy="293"/>
            </a:xfrm>
            <a:prstGeom prst="wedgeRoundRectCallout">
              <a:avLst>
                <a:gd name="adj1" fmla="val -35449"/>
                <a:gd name="adj2" fmla="val -137370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两个输入端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7" name="Group 52"/>
          <p:cNvGrpSpPr/>
          <p:nvPr/>
        </p:nvGrpSpPr>
        <p:grpSpPr bwMode="auto">
          <a:xfrm>
            <a:off x="1043270" y="2384558"/>
            <a:ext cx="2599718" cy="2398427"/>
            <a:chOff x="908" y="1641"/>
            <a:chExt cx="2280" cy="1893"/>
          </a:xfrm>
        </p:grpSpPr>
        <p:grpSp>
          <p:nvGrpSpPr>
            <p:cNvPr id="88" name="Group 10"/>
            <p:cNvGrpSpPr/>
            <p:nvPr/>
          </p:nvGrpSpPr>
          <p:grpSpPr bwMode="auto">
            <a:xfrm>
              <a:off x="908" y="1796"/>
              <a:ext cx="816" cy="1311"/>
              <a:chOff x="1249" y="1452"/>
              <a:chExt cx="816" cy="1284"/>
            </a:xfrm>
          </p:grpSpPr>
          <p:sp>
            <p:nvSpPr>
              <p:cNvPr id="109" name="Rectangle 3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Oval 4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Line 5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Line 6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Line 7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Text Box 8"/>
              <p:cNvSpPr txBox="1">
                <a:spLocks noChangeArrowheads="1"/>
              </p:cNvSpPr>
              <p:nvPr/>
            </p:nvSpPr>
            <p:spPr bwMode="auto">
              <a:xfrm>
                <a:off x="1316" y="1837"/>
                <a:ext cx="575" cy="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15" name="Text Box 9"/>
              <p:cNvSpPr txBox="1">
                <a:spLocks noChangeArrowheads="1"/>
              </p:cNvSpPr>
              <p:nvPr/>
            </p:nvSpPr>
            <p:spPr bwMode="auto">
              <a:xfrm>
                <a:off x="1521" y="2027"/>
                <a:ext cx="470" cy="3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G</a:t>
                </a:r>
                <a:r>
                  <a:rPr kumimoji="1" lang="en-US" altLang="zh-CN" sz="20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1</a:t>
                </a:r>
                <a:endPara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89" name="Group 11"/>
            <p:cNvGrpSpPr/>
            <p:nvPr/>
          </p:nvGrpSpPr>
          <p:grpSpPr bwMode="auto">
            <a:xfrm>
              <a:off x="2372" y="1784"/>
              <a:ext cx="816" cy="1356"/>
              <a:chOff x="1249" y="1452"/>
              <a:chExt cx="816" cy="1328"/>
            </a:xfrm>
          </p:grpSpPr>
          <p:sp>
            <p:nvSpPr>
              <p:cNvPr id="102" name="Rectangle 12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Oval 13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Line 14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Line 15"/>
              <p:cNvSpPr>
                <a:spLocks noChangeShapeType="1"/>
              </p:cNvSpPr>
              <p:nvPr/>
            </p:nvSpPr>
            <p:spPr bwMode="auto">
              <a:xfrm flipH="1">
                <a:off x="1877" y="2400"/>
                <a:ext cx="3" cy="3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Line 16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Text Box 17"/>
              <p:cNvSpPr txBox="1">
                <a:spLocks noChangeArrowheads="1"/>
              </p:cNvSpPr>
              <p:nvPr/>
            </p:nvSpPr>
            <p:spPr bwMode="auto">
              <a:xfrm>
                <a:off x="1317" y="1836"/>
                <a:ext cx="574" cy="3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108" name="Text Box 18"/>
              <p:cNvSpPr txBox="1">
                <a:spLocks noChangeArrowheads="1"/>
              </p:cNvSpPr>
              <p:nvPr/>
            </p:nvSpPr>
            <p:spPr bwMode="auto">
              <a:xfrm>
                <a:off x="1520" y="2027"/>
                <a:ext cx="409" cy="3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G</a:t>
                </a:r>
                <a:r>
                  <a:rPr kumimoji="1" lang="en-US" altLang="zh-CN" sz="2000" b="1" i="0" u="none" strike="noStrike" kern="0" cap="none" spc="0" normalizeH="0" baseline="-2500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2</a:t>
                </a:r>
                <a:endParaRPr kumimoji="1" lang="en-US" altLang="zh-CN" sz="2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90" name="Oval 19"/>
            <p:cNvSpPr>
              <a:spLocks noChangeArrowheads="1"/>
            </p:cNvSpPr>
            <p:nvPr/>
          </p:nvSpPr>
          <p:spPr bwMode="auto">
            <a:xfrm>
              <a:off x="2736" y="1906"/>
              <a:ext cx="60" cy="62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Line 21"/>
            <p:cNvSpPr>
              <a:spLocks noChangeShapeType="1"/>
            </p:cNvSpPr>
            <p:nvPr/>
          </p:nvSpPr>
          <p:spPr bwMode="auto">
            <a:xfrm>
              <a:off x="1296" y="1943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22"/>
            <p:cNvSpPr>
              <a:spLocks noChangeShapeType="1"/>
            </p:cNvSpPr>
            <p:nvPr/>
          </p:nvSpPr>
          <p:spPr bwMode="auto">
            <a:xfrm flipV="1">
              <a:off x="2244" y="1931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23"/>
            <p:cNvSpPr>
              <a:spLocks noChangeShapeType="1"/>
            </p:cNvSpPr>
            <p:nvPr/>
          </p:nvSpPr>
          <p:spPr bwMode="auto">
            <a:xfrm>
              <a:off x="2352" y="3070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24"/>
            <p:cNvSpPr>
              <a:spLocks noChangeShapeType="1"/>
            </p:cNvSpPr>
            <p:nvPr/>
          </p:nvSpPr>
          <p:spPr bwMode="auto">
            <a:xfrm>
              <a:off x="1536" y="3095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25"/>
            <p:cNvSpPr>
              <a:spLocks noChangeShapeType="1"/>
            </p:cNvSpPr>
            <p:nvPr/>
          </p:nvSpPr>
          <p:spPr bwMode="auto">
            <a:xfrm flipH="1">
              <a:off x="1740" y="1931"/>
              <a:ext cx="504" cy="115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26"/>
            <p:cNvSpPr>
              <a:spLocks noChangeShapeType="1"/>
            </p:cNvSpPr>
            <p:nvPr/>
          </p:nvSpPr>
          <p:spPr bwMode="auto">
            <a:xfrm>
              <a:off x="1824" y="1931"/>
              <a:ext cx="540" cy="114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7" name="Oval 27"/>
            <p:cNvSpPr>
              <a:spLocks noChangeArrowheads="1"/>
            </p:cNvSpPr>
            <p:nvPr/>
          </p:nvSpPr>
          <p:spPr bwMode="auto">
            <a:xfrm>
              <a:off x="1272" y="1906"/>
              <a:ext cx="60" cy="62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98" name="Object 29"/>
            <p:cNvGraphicFramePr>
              <a:graphicFrameLocks noChangeAspect="1"/>
            </p:cNvGraphicFramePr>
            <p:nvPr/>
          </p:nvGraphicFramePr>
          <p:xfrm>
            <a:off x="923" y="1641"/>
            <a:ext cx="240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" name="Equation" r:id="rId2" imgW="165100" imgH="241300" progId="Equation.3">
                    <p:embed/>
                  </p:oleObj>
                </mc:Choice>
                <mc:Fallback>
                  <p:oleObj name="Equation" r:id="rId2" imgW="165100" imgH="2413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3" y="1641"/>
                          <a:ext cx="240" cy="3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30"/>
            <p:cNvGraphicFramePr>
              <a:graphicFrameLocks noChangeAspect="1"/>
            </p:cNvGraphicFramePr>
            <p:nvPr/>
          </p:nvGraphicFramePr>
          <p:xfrm>
            <a:off x="2900" y="1698"/>
            <a:ext cx="23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3" name="Equation" r:id="rId4" imgW="165100" imgH="203200" progId="Equation.3">
                    <p:embed/>
                  </p:oleObj>
                </mc:Choice>
                <mc:Fallback>
                  <p:oleObj name="Equation" r:id="rId4" imgW="165100" imgH="2032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00" y="1698"/>
                          <a:ext cx="238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Object 31"/>
            <p:cNvGraphicFramePr>
              <a:graphicFrameLocks noChangeAspect="1"/>
            </p:cNvGraphicFramePr>
            <p:nvPr/>
          </p:nvGraphicFramePr>
          <p:xfrm>
            <a:off x="972" y="3099"/>
            <a:ext cx="353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4" name="Equation" r:id="rId6" imgW="228600" imgH="215900" progId="Equation.3">
                    <p:embed/>
                  </p:oleObj>
                </mc:Choice>
                <mc:Fallback>
                  <p:oleObj name="Equation" r:id="rId6" imgW="228600" imgH="2159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2" y="3099"/>
                          <a:ext cx="353" cy="3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" name="Object 33"/>
            <p:cNvGraphicFramePr>
              <a:graphicFrameLocks noChangeAspect="1"/>
            </p:cNvGraphicFramePr>
            <p:nvPr/>
          </p:nvGraphicFramePr>
          <p:xfrm>
            <a:off x="2827" y="3193"/>
            <a:ext cx="33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5" name="Equation" r:id="rId8" imgW="215900" imgH="215900" progId="Equation.3">
                    <p:embed/>
                  </p:oleObj>
                </mc:Choice>
                <mc:Fallback>
                  <p:oleObj name="Equation" r:id="rId8" imgW="215900" imgH="2159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7" y="3193"/>
                          <a:ext cx="33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6" name="AutoShape 35"/>
          <p:cNvSpPr>
            <a:spLocks noChangeArrowheads="1"/>
          </p:cNvSpPr>
          <p:nvPr/>
        </p:nvSpPr>
        <p:spPr bwMode="auto">
          <a:xfrm>
            <a:off x="3161812" y="1247905"/>
            <a:ext cx="956586" cy="471487"/>
          </a:xfrm>
          <a:prstGeom prst="wedgeRoundRectCallout">
            <a:avLst>
              <a:gd name="adj1" fmla="val -94417"/>
              <a:gd name="adj2" fmla="val 272379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反馈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17" name="Group 54"/>
          <p:cNvGrpSpPr/>
          <p:nvPr/>
        </p:nvGrpSpPr>
        <p:grpSpPr bwMode="auto">
          <a:xfrm>
            <a:off x="959667" y="1741620"/>
            <a:ext cx="2691257" cy="1162050"/>
            <a:chOff x="568" y="1132"/>
            <a:chExt cx="1764" cy="732"/>
          </a:xfrm>
        </p:grpSpPr>
        <p:sp>
          <p:nvSpPr>
            <p:cNvPr id="118" name="Oval 38"/>
            <p:cNvSpPr>
              <a:spLocks noChangeArrowheads="1"/>
            </p:cNvSpPr>
            <p:nvPr/>
          </p:nvSpPr>
          <p:spPr bwMode="auto">
            <a:xfrm>
              <a:off x="568" y="1444"/>
              <a:ext cx="418" cy="417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Oval 39"/>
            <p:cNvSpPr>
              <a:spLocks noChangeArrowheads="1"/>
            </p:cNvSpPr>
            <p:nvPr/>
          </p:nvSpPr>
          <p:spPr bwMode="auto">
            <a:xfrm>
              <a:off x="1927" y="1446"/>
              <a:ext cx="405" cy="418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AutoShape 41"/>
            <p:cNvSpPr>
              <a:spLocks noChangeArrowheads="1"/>
            </p:cNvSpPr>
            <p:nvPr/>
          </p:nvSpPr>
          <p:spPr bwMode="auto">
            <a:xfrm>
              <a:off x="918" y="1132"/>
              <a:ext cx="1175" cy="292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两个输出端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83814" y="633452"/>
            <a:ext cx="699789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0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一、电路结构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122" name="AutoShape 47"/>
          <p:cNvSpPr>
            <a:spLocks noChangeArrowheads="1"/>
          </p:cNvSpPr>
          <p:nvPr/>
        </p:nvSpPr>
        <p:spPr bwMode="auto">
          <a:xfrm flipH="1">
            <a:off x="481690" y="1295332"/>
            <a:ext cx="938278" cy="417513"/>
          </a:xfrm>
          <a:prstGeom prst="wedgeRoundRectCallout">
            <a:avLst>
              <a:gd name="adj1" fmla="val -106525"/>
              <a:gd name="adj2" fmla="val 301267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000000"/>
            </a:solidFill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反馈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" name="Rectangle 48"/>
          <p:cNvSpPr>
            <a:spLocks noChangeArrowheads="1"/>
          </p:cNvSpPr>
          <p:nvPr/>
        </p:nvSpPr>
        <p:spPr bwMode="auto">
          <a:xfrm>
            <a:off x="388426" y="5599236"/>
            <a:ext cx="422275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正是由于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1" charset="-122"/>
              </a:rPr>
              <a:t>引入反馈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1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才使电路</a:t>
            </a:r>
            <a:endParaRPr kumimoji="1" lang="zh-CN" alt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长城楷体" pitchFamily="1" charset="-122"/>
            </a:endParaRP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具有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1" charset="-122"/>
              </a:rPr>
              <a:t>记忆功能</a:t>
            </a:r>
            <a:r>
              <a:rPr kumimoji="1"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1" charset="-122"/>
              </a:rPr>
              <a:t> </a:t>
            </a:r>
            <a:r>
              <a:rPr kumimoji="1" lang="en-US" altLang="zh-CN" sz="2400" b="1" dirty="0">
                <a:solidFill>
                  <a:srgbClr val="000099"/>
                </a:solidFill>
                <a:latin typeface="Times New Roman" panose="02020603050405020304" pitchFamily="18" charset="0"/>
                <a:ea typeface="长城楷体" pitchFamily="1" charset="-122"/>
              </a:rPr>
              <a:t>!</a:t>
            </a:r>
            <a:endParaRPr kumimoji="1" lang="en-US" altLang="zh-CN" sz="2400" b="1" dirty="0">
              <a:solidFill>
                <a:srgbClr val="000099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124" name="Text Box 55"/>
          <p:cNvSpPr txBox="1">
            <a:spLocks noChangeArrowheads="1"/>
          </p:cNvSpPr>
          <p:nvPr/>
        </p:nvSpPr>
        <p:spPr bwMode="auto">
          <a:xfrm>
            <a:off x="5237714" y="1749591"/>
            <a:ext cx="17819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输入信号：</a:t>
            </a:r>
            <a:endParaRPr kumimoji="1"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5" name="Group 70"/>
          <p:cNvGrpSpPr/>
          <p:nvPr/>
        </p:nvGrpSpPr>
        <p:grpSpPr bwMode="auto">
          <a:xfrm>
            <a:off x="4981231" y="3514971"/>
            <a:ext cx="4076904" cy="523217"/>
            <a:chOff x="3286" y="2246"/>
            <a:chExt cx="2292" cy="601"/>
          </a:xfrm>
        </p:grpSpPr>
        <p:sp>
          <p:nvSpPr>
            <p:cNvPr id="126" name="Text Box 66"/>
            <p:cNvSpPr txBox="1">
              <a:spLocks noChangeArrowheads="1"/>
            </p:cNvSpPr>
            <p:nvPr/>
          </p:nvSpPr>
          <p:spPr bwMode="auto">
            <a:xfrm>
              <a:off x="3286" y="2246"/>
              <a:ext cx="2292" cy="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输出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和</a:t>
              </a: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</a:t>
              </a: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互为相反逻辑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67"/>
            <p:cNvSpPr>
              <a:spLocks noChangeShapeType="1"/>
            </p:cNvSpPr>
            <p:nvPr/>
          </p:nvSpPr>
          <p:spPr bwMode="auto">
            <a:xfrm>
              <a:off x="4105" y="2351"/>
              <a:ext cx="12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9" name="Text Box 69"/>
          <p:cNvSpPr txBox="1">
            <a:spLocks noChangeArrowheads="1"/>
          </p:cNvSpPr>
          <p:nvPr/>
        </p:nvSpPr>
        <p:spPr bwMode="auto">
          <a:xfrm>
            <a:off x="6295573" y="4460797"/>
            <a:ext cx="11806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“0”</a:t>
            </a:r>
            <a:r>
              <a:rPr kumimoji="1"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态</a:t>
            </a:r>
            <a:endParaRPr kumimoji="1"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0" name="Group 74"/>
          <p:cNvGrpSpPr/>
          <p:nvPr/>
        </p:nvGrpSpPr>
        <p:grpSpPr bwMode="auto">
          <a:xfrm>
            <a:off x="7387573" y="4025428"/>
            <a:ext cx="1368457" cy="2032001"/>
            <a:chOff x="3754" y="2830"/>
            <a:chExt cx="679" cy="1280"/>
          </a:xfrm>
        </p:grpSpPr>
        <p:sp>
          <p:nvSpPr>
            <p:cNvPr id="131" name="AutoShape 71"/>
            <p:cNvSpPr/>
            <p:nvPr/>
          </p:nvSpPr>
          <p:spPr bwMode="auto">
            <a:xfrm>
              <a:off x="3754" y="2967"/>
              <a:ext cx="163" cy="488"/>
            </a:xfrm>
            <a:prstGeom prst="leftBrace">
              <a:avLst>
                <a:gd name="adj1" fmla="val 24949"/>
                <a:gd name="adj2" fmla="val 50000"/>
              </a:avLst>
            </a:prstGeom>
            <a:noFill/>
            <a:ln w="5715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2" name="Text Box 72"/>
            <p:cNvSpPr txBox="1">
              <a:spLocks noChangeArrowheads="1"/>
            </p:cNvSpPr>
            <p:nvPr/>
          </p:nvSpPr>
          <p:spPr bwMode="auto">
            <a:xfrm>
              <a:off x="3905" y="2830"/>
              <a:ext cx="528" cy="1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73"/>
            <p:cNvSpPr>
              <a:spLocks noChangeShapeType="1"/>
            </p:cNvSpPr>
            <p:nvPr/>
          </p:nvSpPr>
          <p:spPr bwMode="auto">
            <a:xfrm flipV="1">
              <a:off x="3964" y="3279"/>
              <a:ext cx="9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" name="Text Box 75"/>
          <p:cNvSpPr txBox="1">
            <a:spLocks noChangeArrowheads="1"/>
          </p:cNvSpPr>
          <p:nvPr/>
        </p:nvSpPr>
        <p:spPr bwMode="auto">
          <a:xfrm>
            <a:off x="6279500" y="5583011"/>
            <a:ext cx="1141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“1”</a:t>
            </a:r>
            <a:r>
              <a:rPr kumimoji="1"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态</a:t>
            </a:r>
            <a:endParaRPr kumimoji="1"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5" name="Group 76"/>
          <p:cNvGrpSpPr/>
          <p:nvPr/>
        </p:nvGrpSpPr>
        <p:grpSpPr bwMode="auto">
          <a:xfrm>
            <a:off x="7387573" y="5300514"/>
            <a:ext cx="1589088" cy="1169988"/>
            <a:chOff x="3754" y="2891"/>
            <a:chExt cx="1001" cy="737"/>
          </a:xfrm>
        </p:grpSpPr>
        <p:sp>
          <p:nvSpPr>
            <p:cNvPr id="136" name="AutoShape 77"/>
            <p:cNvSpPr/>
            <p:nvPr/>
          </p:nvSpPr>
          <p:spPr bwMode="auto">
            <a:xfrm>
              <a:off x="3754" y="2967"/>
              <a:ext cx="163" cy="488"/>
            </a:xfrm>
            <a:prstGeom prst="leftBrace">
              <a:avLst>
                <a:gd name="adj1" fmla="val 24949"/>
                <a:gd name="adj2" fmla="val 50000"/>
              </a:avLst>
            </a:prstGeom>
            <a:noFill/>
            <a:ln w="5715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Text Box 78"/>
            <p:cNvSpPr txBox="1">
              <a:spLocks noChangeArrowheads="1"/>
            </p:cNvSpPr>
            <p:nvPr/>
          </p:nvSpPr>
          <p:spPr bwMode="auto">
            <a:xfrm>
              <a:off x="3894" y="2891"/>
              <a:ext cx="861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8" name="Line 79"/>
            <p:cNvSpPr>
              <a:spLocks noChangeShapeType="1"/>
            </p:cNvSpPr>
            <p:nvPr/>
          </p:nvSpPr>
          <p:spPr bwMode="auto">
            <a:xfrm>
              <a:off x="3950" y="3321"/>
              <a:ext cx="1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9" name="Group 83"/>
          <p:cNvGrpSpPr/>
          <p:nvPr/>
        </p:nvGrpSpPr>
        <p:grpSpPr bwMode="auto">
          <a:xfrm>
            <a:off x="1174582" y="4283603"/>
            <a:ext cx="2313335" cy="107516"/>
            <a:chOff x="802" y="2730"/>
            <a:chExt cx="1288" cy="18"/>
          </a:xfrm>
        </p:grpSpPr>
        <p:sp>
          <p:nvSpPr>
            <p:cNvPr id="140" name="Line 81"/>
            <p:cNvSpPr>
              <a:spLocks noChangeShapeType="1"/>
            </p:cNvSpPr>
            <p:nvPr/>
          </p:nvSpPr>
          <p:spPr bwMode="auto">
            <a:xfrm>
              <a:off x="802" y="2730"/>
              <a:ext cx="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Line 82"/>
            <p:cNvSpPr>
              <a:spLocks noChangeShapeType="1"/>
            </p:cNvSpPr>
            <p:nvPr/>
          </p:nvSpPr>
          <p:spPr bwMode="auto">
            <a:xfrm>
              <a:off x="1977" y="2748"/>
              <a:ext cx="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42" name="Group 91"/>
          <p:cNvGrpSpPr/>
          <p:nvPr/>
        </p:nvGrpSpPr>
        <p:grpSpPr bwMode="auto">
          <a:xfrm>
            <a:off x="7132496" y="1318482"/>
            <a:ext cx="1550988" cy="2038350"/>
            <a:chOff x="3754" y="822"/>
            <a:chExt cx="977" cy="1284"/>
          </a:xfrm>
        </p:grpSpPr>
        <p:sp>
          <p:nvSpPr>
            <p:cNvPr id="143" name="Line 57"/>
            <p:cNvSpPr>
              <a:spLocks noChangeShapeType="1"/>
            </p:cNvSpPr>
            <p:nvPr/>
          </p:nvSpPr>
          <p:spPr bwMode="auto">
            <a:xfrm>
              <a:off x="3754" y="1120"/>
              <a:ext cx="97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4" name="Group 60"/>
            <p:cNvGrpSpPr/>
            <p:nvPr/>
          </p:nvGrpSpPr>
          <p:grpSpPr bwMode="auto">
            <a:xfrm>
              <a:off x="3855" y="825"/>
              <a:ext cx="681" cy="1191"/>
              <a:chOff x="3231" y="1102"/>
              <a:chExt cx="681" cy="1282"/>
            </a:xfrm>
          </p:grpSpPr>
          <p:sp>
            <p:nvSpPr>
              <p:cNvPr id="154" name="Line 58"/>
              <p:cNvSpPr>
                <a:spLocks noChangeShapeType="1"/>
              </p:cNvSpPr>
              <p:nvPr/>
            </p:nvSpPr>
            <p:spPr bwMode="auto">
              <a:xfrm>
                <a:off x="3231" y="1102"/>
                <a:ext cx="0" cy="12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Line 59"/>
              <p:cNvSpPr>
                <a:spLocks noChangeShapeType="1"/>
              </p:cNvSpPr>
              <p:nvPr/>
            </p:nvSpPr>
            <p:spPr bwMode="auto">
              <a:xfrm>
                <a:off x="3912" y="1107"/>
                <a:ext cx="0" cy="127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5" name="Group 65"/>
            <p:cNvGrpSpPr/>
            <p:nvPr/>
          </p:nvGrpSpPr>
          <p:grpSpPr bwMode="auto">
            <a:xfrm>
              <a:off x="3853" y="1116"/>
              <a:ext cx="780" cy="990"/>
              <a:chOff x="3229" y="1402"/>
              <a:chExt cx="780" cy="990"/>
            </a:xfrm>
          </p:grpSpPr>
          <p:sp>
            <p:nvSpPr>
              <p:cNvPr id="150" name="Text Box 61"/>
              <p:cNvSpPr txBox="1">
                <a:spLocks noChangeArrowheads="1"/>
              </p:cNvSpPr>
              <p:nvPr/>
            </p:nvSpPr>
            <p:spPr bwMode="auto">
              <a:xfrm>
                <a:off x="3238" y="1402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0      0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Text Box 62"/>
              <p:cNvSpPr txBox="1">
                <a:spLocks noChangeArrowheads="1"/>
              </p:cNvSpPr>
              <p:nvPr/>
            </p:nvSpPr>
            <p:spPr bwMode="auto">
              <a:xfrm>
                <a:off x="3234" y="2104"/>
                <a:ext cx="77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1      1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Text Box 63"/>
              <p:cNvSpPr txBox="1">
                <a:spLocks noChangeArrowheads="1"/>
              </p:cNvSpPr>
              <p:nvPr/>
            </p:nvSpPr>
            <p:spPr bwMode="auto">
              <a:xfrm>
                <a:off x="3229" y="1851"/>
                <a:ext cx="71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1      0</a:t>
                </a:r>
                <a:endPara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Text Box 64"/>
              <p:cNvSpPr txBox="1">
                <a:spLocks noChangeArrowheads="1"/>
              </p:cNvSpPr>
              <p:nvPr/>
            </p:nvSpPr>
            <p:spPr bwMode="auto">
              <a:xfrm>
                <a:off x="3230" y="1615"/>
                <a:ext cx="65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宋体" panose="02010600030101010101" pitchFamily="2" charset="-122"/>
                  </a:rPr>
                  <a:t>0      1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46" name="Group 86"/>
            <p:cNvGrpSpPr/>
            <p:nvPr/>
          </p:nvGrpSpPr>
          <p:grpSpPr bwMode="auto">
            <a:xfrm>
              <a:off x="3842" y="822"/>
              <a:ext cx="864" cy="288"/>
              <a:chOff x="3842" y="741"/>
              <a:chExt cx="864" cy="288"/>
            </a:xfrm>
          </p:grpSpPr>
          <p:sp>
            <p:nvSpPr>
              <p:cNvPr id="147" name="Text Box 56"/>
              <p:cNvSpPr txBox="1">
                <a:spLocks noChangeArrowheads="1"/>
              </p:cNvSpPr>
              <p:nvPr/>
            </p:nvSpPr>
            <p:spPr bwMode="auto">
              <a:xfrm>
                <a:off x="3842" y="741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R</a:t>
                </a:r>
                <a:r>
                  <a:rPr kumimoji="1" lang="en-US" altLang="zh-CN" sz="2400" b="1" i="1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r>
                  <a:rPr kumimoji="1" lang="en-US" altLang="zh-CN" sz="24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  S</a:t>
                </a:r>
                <a:r>
                  <a:rPr kumimoji="1" lang="en-US" altLang="zh-CN" sz="2400" b="1" i="1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</a:rPr>
                  <a:t>D</a:t>
                </a:r>
                <a:endPara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Line 84"/>
              <p:cNvSpPr>
                <a:spLocks noChangeShapeType="1"/>
              </p:cNvSpPr>
              <p:nvPr/>
            </p:nvSpPr>
            <p:spPr bwMode="auto">
              <a:xfrm>
                <a:off x="3909" y="784"/>
                <a:ext cx="12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Line 85"/>
              <p:cNvSpPr>
                <a:spLocks noChangeShapeType="1"/>
              </p:cNvSpPr>
              <p:nvPr/>
            </p:nvSpPr>
            <p:spPr bwMode="auto">
              <a:xfrm>
                <a:off x="4277" y="784"/>
                <a:ext cx="13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4849934" y="4526262"/>
            <a:ext cx="14096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2800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触发器的状态</a:t>
            </a:r>
            <a:endParaRPr lang="zh-CN" altLang="en-US" sz="2800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6" name="AutoShape 71"/>
          <p:cNvSpPr/>
          <p:nvPr/>
        </p:nvSpPr>
        <p:spPr bwMode="auto">
          <a:xfrm>
            <a:off x="6079475" y="4506089"/>
            <a:ext cx="258763" cy="1384995"/>
          </a:xfrm>
          <a:prstGeom prst="leftBrace">
            <a:avLst>
              <a:gd name="adj1" fmla="val 24949"/>
              <a:gd name="adj2" fmla="val 50000"/>
            </a:avLst>
          </a:prstGeom>
          <a:noFill/>
          <a:ln w="571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 animBg="1"/>
      <p:bldP spid="122" grpId="0" animBg="1"/>
      <p:bldP spid="123" grpId="0" autoUpdateAnimBg="0"/>
      <p:bldP spid="124" grpId="0" autoUpdateAnimBg="0"/>
      <p:bldP spid="129" grpId="0"/>
      <p:bldP spid="134" grpId="0"/>
      <p:bldP spid="2" grpId="0"/>
      <p:bldP spid="1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0986" y="579646"/>
            <a:ext cx="523316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二、工作原理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257" name="Rectangle 1026"/>
          <p:cNvSpPr>
            <a:spLocks noChangeArrowheads="1"/>
          </p:cNvSpPr>
          <p:nvPr/>
        </p:nvSpPr>
        <p:spPr bwMode="auto">
          <a:xfrm>
            <a:off x="4754229" y="2748394"/>
            <a:ext cx="4154488" cy="29019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8" name="Rectangle 1027"/>
          <p:cNvSpPr>
            <a:spLocks noChangeArrowheads="1"/>
          </p:cNvSpPr>
          <p:nvPr/>
        </p:nvSpPr>
        <p:spPr bwMode="auto">
          <a:xfrm>
            <a:off x="190167" y="2736314"/>
            <a:ext cx="4154487" cy="29019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0" name="Text Box 1029"/>
          <p:cNvSpPr txBox="1">
            <a:spLocks noChangeArrowheads="1"/>
          </p:cNvSpPr>
          <p:nvPr/>
        </p:nvSpPr>
        <p:spPr bwMode="auto">
          <a:xfrm>
            <a:off x="405999" y="2030737"/>
            <a:ext cx="2741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若现态为“</a:t>
            </a:r>
            <a:r>
              <a:rPr kumimoji="1"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0”</a:t>
            </a: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态</a:t>
            </a:r>
            <a:endParaRPr kumimoji="1"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1" name="Text Box 1030"/>
          <p:cNvSpPr txBox="1">
            <a:spLocks noChangeArrowheads="1"/>
          </p:cNvSpPr>
          <p:nvPr/>
        </p:nvSpPr>
        <p:spPr bwMode="auto">
          <a:xfrm>
            <a:off x="1287129" y="2723495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2" name="Text Box 1031"/>
          <p:cNvSpPr txBox="1">
            <a:spLocks noChangeArrowheads="1"/>
          </p:cNvSpPr>
          <p:nvPr/>
        </p:nvSpPr>
        <p:spPr bwMode="auto">
          <a:xfrm>
            <a:off x="2925429" y="5085695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3" name="Text Box 1032"/>
          <p:cNvSpPr txBox="1">
            <a:spLocks noChangeArrowheads="1"/>
          </p:cNvSpPr>
          <p:nvPr/>
        </p:nvSpPr>
        <p:spPr bwMode="auto">
          <a:xfrm>
            <a:off x="3077829" y="2761595"/>
            <a:ext cx="400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5" name="Text Box 1034"/>
          <p:cNvSpPr txBox="1">
            <a:spLocks noChangeArrowheads="1"/>
          </p:cNvSpPr>
          <p:nvPr/>
        </p:nvSpPr>
        <p:spPr bwMode="auto">
          <a:xfrm>
            <a:off x="1306179" y="3237845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6" name="Text Box 1035"/>
          <p:cNvSpPr txBox="1">
            <a:spLocks noChangeArrowheads="1"/>
          </p:cNvSpPr>
          <p:nvPr/>
        </p:nvSpPr>
        <p:spPr bwMode="auto">
          <a:xfrm>
            <a:off x="467979" y="5047595"/>
            <a:ext cx="342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7" name="Text Box 1036"/>
          <p:cNvSpPr txBox="1">
            <a:spLocks noChangeArrowheads="1"/>
          </p:cNvSpPr>
          <p:nvPr/>
        </p:nvSpPr>
        <p:spPr bwMode="auto">
          <a:xfrm>
            <a:off x="4011279" y="5020608"/>
            <a:ext cx="342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8" name="Text Box 1037"/>
          <p:cNvSpPr txBox="1">
            <a:spLocks noChangeArrowheads="1"/>
          </p:cNvSpPr>
          <p:nvPr/>
        </p:nvSpPr>
        <p:spPr bwMode="auto">
          <a:xfrm>
            <a:off x="3039729" y="3237845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9" name="Text Box 1038"/>
          <p:cNvSpPr txBox="1">
            <a:spLocks noChangeArrowheads="1"/>
          </p:cNvSpPr>
          <p:nvPr/>
        </p:nvSpPr>
        <p:spPr bwMode="auto">
          <a:xfrm>
            <a:off x="194471" y="6091655"/>
            <a:ext cx="28312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次态仍保持“</a:t>
            </a:r>
            <a:r>
              <a:rPr kumimoji="1" lang="en-US" altLang="zh-CN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0”</a:t>
            </a:r>
            <a:r>
              <a:rPr kumimoji="1"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态</a:t>
            </a:r>
            <a:endParaRPr kumimoji="1"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70" name="Group 1039"/>
          <p:cNvGrpSpPr/>
          <p:nvPr/>
        </p:nvGrpSpPr>
        <p:grpSpPr bwMode="auto">
          <a:xfrm>
            <a:off x="5151104" y="2826182"/>
            <a:ext cx="3619500" cy="2624137"/>
            <a:chOff x="3308" y="1439"/>
            <a:chExt cx="2280" cy="1653"/>
          </a:xfrm>
        </p:grpSpPr>
        <p:grpSp>
          <p:nvGrpSpPr>
            <p:cNvPr id="271" name="Group 1040"/>
            <p:cNvGrpSpPr/>
            <p:nvPr/>
          </p:nvGrpSpPr>
          <p:grpSpPr bwMode="auto">
            <a:xfrm>
              <a:off x="3308" y="1536"/>
              <a:ext cx="816" cy="1284"/>
              <a:chOff x="1249" y="1452"/>
              <a:chExt cx="816" cy="1284"/>
            </a:xfrm>
          </p:grpSpPr>
          <p:sp>
            <p:nvSpPr>
              <p:cNvPr id="292" name="Rectangle 1041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3" name="Oval 1042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4" name="Line 1043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5" name="Line 1044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6" name="Line 1045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" name="Text Box 1046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98" name="Text Box 1047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72" name="Group 1048"/>
            <p:cNvGrpSpPr/>
            <p:nvPr/>
          </p:nvGrpSpPr>
          <p:grpSpPr bwMode="auto">
            <a:xfrm>
              <a:off x="4772" y="1524"/>
              <a:ext cx="816" cy="1284"/>
              <a:chOff x="1249" y="1452"/>
              <a:chExt cx="816" cy="1284"/>
            </a:xfrm>
          </p:grpSpPr>
          <p:sp>
            <p:nvSpPr>
              <p:cNvPr id="285" name="Rectangle 1049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" name="Oval 1050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" name="Line 1051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8" name="Line 1052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9" name="Line 1053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0" name="Text Box 1054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91" name="Text Box 1055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273" name="Oval 1056"/>
            <p:cNvSpPr>
              <a:spLocks noChangeArrowheads="1"/>
            </p:cNvSpPr>
            <p:nvPr/>
          </p:nvSpPr>
          <p:spPr bwMode="auto">
            <a:xfrm>
              <a:off x="5136" y="1644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4" name="Line 1057"/>
            <p:cNvSpPr>
              <a:spLocks noChangeShapeType="1"/>
            </p:cNvSpPr>
            <p:nvPr/>
          </p:nvSpPr>
          <p:spPr bwMode="auto">
            <a:xfrm>
              <a:off x="3696" y="1680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5" name="Line 1058"/>
            <p:cNvSpPr>
              <a:spLocks noChangeShapeType="1"/>
            </p:cNvSpPr>
            <p:nvPr/>
          </p:nvSpPr>
          <p:spPr bwMode="auto">
            <a:xfrm flipV="1">
              <a:off x="4644" y="1668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6" name="Line 1059"/>
            <p:cNvSpPr>
              <a:spLocks noChangeShapeType="1"/>
            </p:cNvSpPr>
            <p:nvPr/>
          </p:nvSpPr>
          <p:spPr bwMode="auto">
            <a:xfrm>
              <a:off x="4752" y="2784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" name="Line 1060"/>
            <p:cNvSpPr>
              <a:spLocks noChangeShapeType="1"/>
            </p:cNvSpPr>
            <p:nvPr/>
          </p:nvSpPr>
          <p:spPr bwMode="auto">
            <a:xfrm>
              <a:off x="3936" y="2808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8" name="Line 1061"/>
            <p:cNvSpPr>
              <a:spLocks noChangeShapeType="1"/>
            </p:cNvSpPr>
            <p:nvPr/>
          </p:nvSpPr>
          <p:spPr bwMode="auto">
            <a:xfrm flipH="1">
              <a:off x="4140" y="1668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9" name="Line 1062"/>
            <p:cNvSpPr>
              <a:spLocks noChangeShapeType="1"/>
            </p:cNvSpPr>
            <p:nvPr/>
          </p:nvSpPr>
          <p:spPr bwMode="auto">
            <a:xfrm>
              <a:off x="4224" y="1668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0" name="Oval 1063"/>
            <p:cNvSpPr>
              <a:spLocks noChangeArrowheads="1"/>
            </p:cNvSpPr>
            <p:nvPr/>
          </p:nvSpPr>
          <p:spPr bwMode="auto">
            <a:xfrm>
              <a:off x="3672" y="1644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81" name="Object 1064"/>
            <p:cNvGraphicFramePr>
              <a:graphicFrameLocks noChangeAspect="1"/>
            </p:cNvGraphicFramePr>
            <p:nvPr/>
          </p:nvGraphicFramePr>
          <p:xfrm>
            <a:off x="3404" y="1439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2" name="Equation" r:id="rId3" imgW="165100" imgH="241300" progId="Equation.3">
                    <p:embed/>
                  </p:oleObj>
                </mc:Choice>
                <mc:Fallback>
                  <p:oleObj name="Equation" r:id="rId3" imgW="165100" imgH="241300" progId="Equation.3">
                    <p:embed/>
                    <p:pic>
                      <p:nvPicPr>
                        <p:cNvPr id="0" name="Object 10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4" y="1439"/>
                          <a:ext cx="20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2" name="Object 1065"/>
            <p:cNvGraphicFramePr>
              <a:graphicFrameLocks noChangeAspect="1"/>
            </p:cNvGraphicFramePr>
            <p:nvPr/>
          </p:nvGraphicFramePr>
          <p:xfrm>
            <a:off x="5300" y="1480"/>
            <a:ext cx="2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" name="Equation" r:id="rId5" imgW="165100" imgH="203200" progId="Equation.3">
                    <p:embed/>
                  </p:oleObj>
                </mc:Choice>
                <mc:Fallback>
                  <p:oleObj name="Equation" r:id="rId5" imgW="165100" imgH="203200" progId="Equation.3">
                    <p:embed/>
                    <p:pic>
                      <p:nvPicPr>
                        <p:cNvPr id="0" name="Object 10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00" y="1480"/>
                          <a:ext cx="21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3" name="Object 1066"/>
            <p:cNvGraphicFramePr>
              <a:graphicFrameLocks noChangeAspect="1"/>
            </p:cNvGraphicFramePr>
            <p:nvPr/>
          </p:nvGraphicFramePr>
          <p:xfrm>
            <a:off x="3513" y="2811"/>
            <a:ext cx="2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4" name="Equation" r:id="rId7" imgW="228600" imgH="215900" progId="Equation.3">
                    <p:embed/>
                  </p:oleObj>
                </mc:Choice>
                <mc:Fallback>
                  <p:oleObj name="Equation" r:id="rId7" imgW="228600" imgH="215900" progId="Equation.3">
                    <p:embed/>
                    <p:pic>
                      <p:nvPicPr>
                        <p:cNvPr id="0" name="Object 10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3" y="2811"/>
                          <a:ext cx="28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4" name="Object 1067"/>
            <p:cNvGraphicFramePr>
              <a:graphicFrameLocks noChangeAspect="1"/>
            </p:cNvGraphicFramePr>
            <p:nvPr/>
          </p:nvGraphicFramePr>
          <p:xfrm>
            <a:off x="5134" y="2793"/>
            <a:ext cx="29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5" name="Equation" r:id="rId9" imgW="215900" imgH="215900" progId="Equation.3">
                    <p:embed/>
                  </p:oleObj>
                </mc:Choice>
                <mc:Fallback>
                  <p:oleObj name="Equation" r:id="rId9" imgW="215900" imgH="215900" progId="Equation.3">
                    <p:embed/>
                    <p:pic>
                      <p:nvPicPr>
                        <p:cNvPr id="0" name="Object 10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4" y="2793"/>
                          <a:ext cx="29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9" name="Text Box 1068"/>
          <p:cNvSpPr txBox="1">
            <a:spLocks noChangeArrowheads="1"/>
          </p:cNvSpPr>
          <p:nvPr/>
        </p:nvSpPr>
        <p:spPr bwMode="auto">
          <a:xfrm>
            <a:off x="4776234" y="1991078"/>
            <a:ext cx="249204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defTabSz="914400" fontAlgn="base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若现态为“</a:t>
            </a:r>
            <a:r>
              <a:rPr lang="en-US" altLang="zh-CN" dirty="0"/>
              <a:t>1”</a:t>
            </a:r>
            <a:r>
              <a:rPr lang="zh-CN" altLang="en-US" dirty="0"/>
              <a:t>态</a:t>
            </a:r>
            <a:endParaRPr lang="zh-CN" altLang="en-US" dirty="0"/>
          </a:p>
        </p:txBody>
      </p:sp>
      <p:sp>
        <p:nvSpPr>
          <p:cNvPr id="300" name="Text Box 1069"/>
          <p:cNvSpPr txBox="1">
            <a:spLocks noChangeArrowheads="1"/>
          </p:cNvSpPr>
          <p:nvPr/>
        </p:nvSpPr>
        <p:spPr bwMode="auto">
          <a:xfrm>
            <a:off x="5878974" y="3117307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1" name="Text Box 1070"/>
          <p:cNvSpPr txBox="1">
            <a:spLocks noChangeArrowheads="1"/>
          </p:cNvSpPr>
          <p:nvPr/>
        </p:nvSpPr>
        <p:spPr bwMode="auto">
          <a:xfrm>
            <a:off x="7481554" y="4942319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2" name="Text Box 1071"/>
          <p:cNvSpPr txBox="1">
            <a:spLocks noChangeArrowheads="1"/>
          </p:cNvSpPr>
          <p:nvPr/>
        </p:nvSpPr>
        <p:spPr bwMode="auto">
          <a:xfrm>
            <a:off x="7615113" y="3099758"/>
            <a:ext cx="400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B05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B05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4" name="Text Box 1073"/>
          <p:cNvSpPr txBox="1">
            <a:spLocks noChangeArrowheads="1"/>
          </p:cNvSpPr>
          <p:nvPr/>
        </p:nvSpPr>
        <p:spPr bwMode="auto">
          <a:xfrm>
            <a:off x="5857541" y="2670712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5" name="Text Box 1074"/>
          <p:cNvSpPr txBox="1">
            <a:spLocks noChangeArrowheads="1"/>
          </p:cNvSpPr>
          <p:nvPr/>
        </p:nvSpPr>
        <p:spPr bwMode="auto">
          <a:xfrm>
            <a:off x="5024104" y="4904219"/>
            <a:ext cx="342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6" name="Text Box 1075"/>
          <p:cNvSpPr txBox="1">
            <a:spLocks noChangeArrowheads="1"/>
          </p:cNvSpPr>
          <p:nvPr/>
        </p:nvSpPr>
        <p:spPr bwMode="auto">
          <a:xfrm>
            <a:off x="8402304" y="4877232"/>
            <a:ext cx="476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" name="Text Box 1076"/>
          <p:cNvSpPr txBox="1">
            <a:spLocks noChangeArrowheads="1"/>
          </p:cNvSpPr>
          <p:nvPr/>
        </p:nvSpPr>
        <p:spPr bwMode="auto">
          <a:xfrm>
            <a:off x="7611729" y="2652350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8" name="Text Box 1077"/>
          <p:cNvSpPr txBox="1">
            <a:spLocks noChangeArrowheads="1"/>
          </p:cNvSpPr>
          <p:nvPr/>
        </p:nvSpPr>
        <p:spPr bwMode="auto">
          <a:xfrm>
            <a:off x="4822993" y="6034519"/>
            <a:ext cx="25578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defTabSz="914400" fontAlgn="base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次态变为“</a:t>
            </a:r>
            <a:r>
              <a:rPr lang="en-US" altLang="zh-CN" dirty="0"/>
              <a:t>0”</a:t>
            </a:r>
            <a:r>
              <a:rPr lang="zh-CN" altLang="en-US" dirty="0"/>
              <a:t>态</a:t>
            </a:r>
            <a:endParaRPr lang="zh-CN" altLang="en-US" dirty="0"/>
          </a:p>
        </p:txBody>
      </p:sp>
      <p:sp>
        <p:nvSpPr>
          <p:cNvPr id="311" name="Rectangle 1080"/>
          <p:cNvSpPr>
            <a:spLocks noChangeArrowheads="1"/>
          </p:cNvSpPr>
          <p:nvPr/>
        </p:nvSpPr>
        <p:spPr bwMode="auto">
          <a:xfrm>
            <a:off x="4572001" y="1507958"/>
            <a:ext cx="47290" cy="53329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2" name="Text Box 1081"/>
          <p:cNvSpPr txBox="1">
            <a:spLocks noChangeArrowheads="1"/>
          </p:cNvSpPr>
          <p:nvPr/>
        </p:nvSpPr>
        <p:spPr bwMode="auto">
          <a:xfrm>
            <a:off x="5424154" y="1214067"/>
            <a:ext cx="1847850" cy="584775"/>
          </a:xfrm>
          <a:prstGeom prst="rect">
            <a:avLst/>
          </a:prstGeom>
          <a:noFill/>
          <a:ln w="9525">
            <a:solidFill>
              <a:srgbClr val="0000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置“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0”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！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13" name="Group 1082"/>
          <p:cNvGrpSpPr/>
          <p:nvPr/>
        </p:nvGrpSpPr>
        <p:grpSpPr bwMode="auto">
          <a:xfrm>
            <a:off x="556879" y="2988608"/>
            <a:ext cx="3619500" cy="2624137"/>
            <a:chOff x="308" y="1475"/>
            <a:chExt cx="2280" cy="1653"/>
          </a:xfrm>
        </p:grpSpPr>
        <p:grpSp>
          <p:nvGrpSpPr>
            <p:cNvPr id="314" name="Group 1083"/>
            <p:cNvGrpSpPr/>
            <p:nvPr/>
          </p:nvGrpSpPr>
          <p:grpSpPr bwMode="auto">
            <a:xfrm>
              <a:off x="308" y="1572"/>
              <a:ext cx="816" cy="1284"/>
              <a:chOff x="1249" y="1452"/>
              <a:chExt cx="816" cy="1284"/>
            </a:xfrm>
          </p:grpSpPr>
          <p:sp>
            <p:nvSpPr>
              <p:cNvPr id="335" name="Rectangle 1084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6" name="Oval 1085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" name="Line 1086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" name="Line 1087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9" name="Line 1088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0" name="Text Box 1089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41" name="Text Box 1090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315" name="Group 1091"/>
            <p:cNvGrpSpPr/>
            <p:nvPr/>
          </p:nvGrpSpPr>
          <p:grpSpPr bwMode="auto">
            <a:xfrm>
              <a:off x="1772" y="1560"/>
              <a:ext cx="816" cy="1284"/>
              <a:chOff x="1249" y="1452"/>
              <a:chExt cx="816" cy="1284"/>
            </a:xfrm>
          </p:grpSpPr>
          <p:sp>
            <p:nvSpPr>
              <p:cNvPr id="328" name="Rectangle 1092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9" name="Oval 1093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0" name="Line 1094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1" name="Line 1095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2" name="Line 1096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3" name="Text Box 1097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34" name="Text Box 1098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316" name="Oval 1099"/>
            <p:cNvSpPr>
              <a:spLocks noChangeArrowheads="1"/>
            </p:cNvSpPr>
            <p:nvPr/>
          </p:nvSpPr>
          <p:spPr bwMode="auto">
            <a:xfrm>
              <a:off x="2136" y="1680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7" name="Line 1100"/>
            <p:cNvSpPr>
              <a:spLocks noChangeShapeType="1"/>
            </p:cNvSpPr>
            <p:nvPr/>
          </p:nvSpPr>
          <p:spPr bwMode="auto">
            <a:xfrm>
              <a:off x="696" y="1716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8" name="Line 1101"/>
            <p:cNvSpPr>
              <a:spLocks noChangeShapeType="1"/>
            </p:cNvSpPr>
            <p:nvPr/>
          </p:nvSpPr>
          <p:spPr bwMode="auto">
            <a:xfrm flipV="1">
              <a:off x="1644" y="1704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9" name="Line 1102"/>
            <p:cNvSpPr>
              <a:spLocks noChangeShapeType="1"/>
            </p:cNvSpPr>
            <p:nvPr/>
          </p:nvSpPr>
          <p:spPr bwMode="auto">
            <a:xfrm>
              <a:off x="1752" y="2820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0" name="Line 1103"/>
            <p:cNvSpPr>
              <a:spLocks noChangeShapeType="1"/>
            </p:cNvSpPr>
            <p:nvPr/>
          </p:nvSpPr>
          <p:spPr bwMode="auto">
            <a:xfrm>
              <a:off x="936" y="2844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1" name="Line 1104"/>
            <p:cNvSpPr>
              <a:spLocks noChangeShapeType="1"/>
            </p:cNvSpPr>
            <p:nvPr/>
          </p:nvSpPr>
          <p:spPr bwMode="auto">
            <a:xfrm flipH="1">
              <a:off x="1140" y="1704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2" name="Line 1105"/>
            <p:cNvSpPr>
              <a:spLocks noChangeShapeType="1"/>
            </p:cNvSpPr>
            <p:nvPr/>
          </p:nvSpPr>
          <p:spPr bwMode="auto">
            <a:xfrm>
              <a:off x="1224" y="1704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3" name="Oval 1106"/>
            <p:cNvSpPr>
              <a:spLocks noChangeArrowheads="1"/>
            </p:cNvSpPr>
            <p:nvPr/>
          </p:nvSpPr>
          <p:spPr bwMode="auto">
            <a:xfrm>
              <a:off x="672" y="1680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24" name="Object 1107"/>
            <p:cNvGraphicFramePr>
              <a:graphicFrameLocks noChangeAspect="1"/>
            </p:cNvGraphicFramePr>
            <p:nvPr/>
          </p:nvGraphicFramePr>
          <p:xfrm>
            <a:off x="404" y="1475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6" name="Equation" r:id="rId11" imgW="165100" imgH="241300" progId="Equation.3">
                    <p:embed/>
                  </p:oleObj>
                </mc:Choice>
                <mc:Fallback>
                  <p:oleObj name="Equation" r:id="rId11" imgW="165100" imgH="241300" progId="Equation.3">
                    <p:embed/>
                    <p:pic>
                      <p:nvPicPr>
                        <p:cNvPr id="0" name="Object 1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" y="1475"/>
                          <a:ext cx="20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5" name="Object 1108"/>
            <p:cNvGraphicFramePr>
              <a:graphicFrameLocks noChangeAspect="1"/>
            </p:cNvGraphicFramePr>
            <p:nvPr/>
          </p:nvGraphicFramePr>
          <p:xfrm>
            <a:off x="2300" y="1516"/>
            <a:ext cx="2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7" name="Equation" r:id="rId12" imgW="165100" imgH="203200" progId="Equation.3">
                    <p:embed/>
                  </p:oleObj>
                </mc:Choice>
                <mc:Fallback>
                  <p:oleObj name="Equation" r:id="rId12" imgW="165100" imgH="203200" progId="Equation.3">
                    <p:embed/>
                    <p:pic>
                      <p:nvPicPr>
                        <p:cNvPr id="0" name="Object 1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0" y="1516"/>
                          <a:ext cx="21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6" name="Object 1109"/>
            <p:cNvGraphicFramePr>
              <a:graphicFrameLocks noChangeAspect="1"/>
            </p:cNvGraphicFramePr>
            <p:nvPr/>
          </p:nvGraphicFramePr>
          <p:xfrm>
            <a:off x="513" y="2847"/>
            <a:ext cx="2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8" name="Equation" r:id="rId13" imgW="228600" imgH="215900" progId="Equation.3">
                    <p:embed/>
                  </p:oleObj>
                </mc:Choice>
                <mc:Fallback>
                  <p:oleObj name="Equation" r:id="rId13" imgW="228600" imgH="215900" progId="Equation.3">
                    <p:embed/>
                    <p:pic>
                      <p:nvPicPr>
                        <p:cNvPr id="0" name="Object 1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" y="2847"/>
                          <a:ext cx="28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" name="Object 1110"/>
            <p:cNvGraphicFramePr>
              <a:graphicFrameLocks noChangeAspect="1"/>
            </p:cNvGraphicFramePr>
            <p:nvPr/>
          </p:nvGraphicFramePr>
          <p:xfrm>
            <a:off x="2134" y="2829"/>
            <a:ext cx="29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9" name="Equation" r:id="rId14" imgW="215900" imgH="215900" progId="Equation.3">
                    <p:embed/>
                  </p:oleObj>
                </mc:Choice>
                <mc:Fallback>
                  <p:oleObj name="Equation" r:id="rId14" imgW="215900" imgH="215900" progId="Equation.3">
                    <p:embed/>
                    <p:pic>
                      <p:nvPicPr>
                        <p:cNvPr id="0" name="Object 1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4" y="2829"/>
                          <a:ext cx="29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2" name="Group 1111"/>
          <p:cNvGrpSpPr/>
          <p:nvPr/>
        </p:nvGrpSpPr>
        <p:grpSpPr bwMode="auto">
          <a:xfrm>
            <a:off x="7329154" y="5768835"/>
            <a:ext cx="1060450" cy="1004887"/>
            <a:chOff x="3754" y="2891"/>
            <a:chExt cx="668" cy="633"/>
          </a:xfrm>
        </p:grpSpPr>
        <p:sp>
          <p:nvSpPr>
            <p:cNvPr id="343" name="AutoShape 1112"/>
            <p:cNvSpPr/>
            <p:nvPr/>
          </p:nvSpPr>
          <p:spPr bwMode="auto">
            <a:xfrm>
              <a:off x="3754" y="2967"/>
              <a:ext cx="163" cy="488"/>
            </a:xfrm>
            <a:prstGeom prst="leftBrace">
              <a:avLst>
                <a:gd name="adj1" fmla="val 24949"/>
                <a:gd name="adj2" fmla="val 50000"/>
              </a:avLst>
            </a:prstGeom>
            <a:noFill/>
            <a:ln w="5715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4" name="Text Box 1113"/>
            <p:cNvSpPr txBox="1">
              <a:spLocks noChangeArrowheads="1"/>
            </p:cNvSpPr>
            <p:nvPr/>
          </p:nvSpPr>
          <p:spPr bwMode="auto">
            <a:xfrm>
              <a:off x="3894" y="2891"/>
              <a:ext cx="528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Q=0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Q=1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5" name="Line 1114"/>
            <p:cNvSpPr>
              <a:spLocks noChangeShapeType="1"/>
            </p:cNvSpPr>
            <p:nvPr/>
          </p:nvSpPr>
          <p:spPr bwMode="auto">
            <a:xfrm>
              <a:off x="3932" y="3281"/>
              <a:ext cx="1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46" name="Group 1115"/>
          <p:cNvGrpSpPr/>
          <p:nvPr/>
        </p:nvGrpSpPr>
        <p:grpSpPr bwMode="auto">
          <a:xfrm>
            <a:off x="3007145" y="5803041"/>
            <a:ext cx="1060450" cy="1004888"/>
            <a:chOff x="3754" y="2891"/>
            <a:chExt cx="668" cy="633"/>
          </a:xfrm>
        </p:grpSpPr>
        <p:sp>
          <p:nvSpPr>
            <p:cNvPr id="347" name="AutoShape 1116"/>
            <p:cNvSpPr/>
            <p:nvPr/>
          </p:nvSpPr>
          <p:spPr bwMode="auto">
            <a:xfrm>
              <a:off x="3754" y="2967"/>
              <a:ext cx="163" cy="488"/>
            </a:xfrm>
            <a:prstGeom prst="leftBrace">
              <a:avLst>
                <a:gd name="adj1" fmla="val 24949"/>
                <a:gd name="adj2" fmla="val 50000"/>
              </a:avLst>
            </a:prstGeom>
            <a:noFill/>
            <a:ln w="5715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8" name="Text Box 1117"/>
            <p:cNvSpPr txBox="1">
              <a:spLocks noChangeArrowheads="1"/>
            </p:cNvSpPr>
            <p:nvPr/>
          </p:nvSpPr>
          <p:spPr bwMode="auto">
            <a:xfrm>
              <a:off x="3894" y="2891"/>
              <a:ext cx="528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9" name="Line 1118"/>
            <p:cNvSpPr>
              <a:spLocks noChangeShapeType="1"/>
            </p:cNvSpPr>
            <p:nvPr/>
          </p:nvSpPr>
          <p:spPr bwMode="auto">
            <a:xfrm>
              <a:off x="3932" y="3281"/>
              <a:ext cx="1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0" name="Group 1119"/>
          <p:cNvGrpSpPr/>
          <p:nvPr/>
        </p:nvGrpSpPr>
        <p:grpSpPr bwMode="auto">
          <a:xfrm>
            <a:off x="2926766" y="1775362"/>
            <a:ext cx="1060450" cy="1004887"/>
            <a:chOff x="3754" y="2891"/>
            <a:chExt cx="668" cy="633"/>
          </a:xfrm>
        </p:grpSpPr>
        <p:sp>
          <p:nvSpPr>
            <p:cNvPr id="351" name="AutoShape 1120"/>
            <p:cNvSpPr/>
            <p:nvPr/>
          </p:nvSpPr>
          <p:spPr bwMode="auto">
            <a:xfrm>
              <a:off x="3754" y="2967"/>
              <a:ext cx="163" cy="488"/>
            </a:xfrm>
            <a:prstGeom prst="leftBrace">
              <a:avLst>
                <a:gd name="adj1" fmla="val 24949"/>
                <a:gd name="adj2" fmla="val 50000"/>
              </a:avLst>
            </a:prstGeom>
            <a:noFill/>
            <a:ln w="5715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2" name="Text Box 1121"/>
            <p:cNvSpPr txBox="1">
              <a:spLocks noChangeArrowheads="1"/>
            </p:cNvSpPr>
            <p:nvPr/>
          </p:nvSpPr>
          <p:spPr bwMode="auto">
            <a:xfrm>
              <a:off x="3894" y="2891"/>
              <a:ext cx="528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3" name="Line 1122"/>
            <p:cNvSpPr>
              <a:spLocks noChangeShapeType="1"/>
            </p:cNvSpPr>
            <p:nvPr/>
          </p:nvSpPr>
          <p:spPr bwMode="auto">
            <a:xfrm>
              <a:off x="3932" y="3281"/>
              <a:ext cx="1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54" name="Group 1123"/>
          <p:cNvGrpSpPr/>
          <p:nvPr/>
        </p:nvGrpSpPr>
        <p:grpSpPr bwMode="auto">
          <a:xfrm>
            <a:off x="7302417" y="1710683"/>
            <a:ext cx="1060450" cy="1004888"/>
            <a:chOff x="3754" y="2891"/>
            <a:chExt cx="668" cy="633"/>
          </a:xfrm>
        </p:grpSpPr>
        <p:sp>
          <p:nvSpPr>
            <p:cNvPr id="355" name="AutoShape 1124"/>
            <p:cNvSpPr/>
            <p:nvPr/>
          </p:nvSpPr>
          <p:spPr bwMode="auto">
            <a:xfrm>
              <a:off x="3754" y="2967"/>
              <a:ext cx="163" cy="488"/>
            </a:xfrm>
            <a:prstGeom prst="leftBrace">
              <a:avLst>
                <a:gd name="adj1" fmla="val 24949"/>
                <a:gd name="adj2" fmla="val 50000"/>
              </a:avLst>
            </a:prstGeom>
            <a:noFill/>
            <a:ln w="57150">
              <a:solidFill>
                <a:srgbClr val="000099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56" name="Text Box 1125"/>
            <p:cNvSpPr txBox="1">
              <a:spLocks noChangeArrowheads="1"/>
            </p:cNvSpPr>
            <p:nvPr/>
          </p:nvSpPr>
          <p:spPr bwMode="auto">
            <a:xfrm>
              <a:off x="3894" y="2891"/>
              <a:ext cx="528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Q=0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7" name="Line 1126"/>
            <p:cNvSpPr>
              <a:spLocks noChangeShapeType="1"/>
            </p:cNvSpPr>
            <p:nvPr/>
          </p:nvSpPr>
          <p:spPr bwMode="auto">
            <a:xfrm>
              <a:off x="3932" y="3281"/>
              <a:ext cx="1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58" name="Line 1129"/>
          <p:cNvSpPr>
            <a:spLocks noChangeShapeType="1"/>
          </p:cNvSpPr>
          <p:nvPr/>
        </p:nvSpPr>
        <p:spPr bwMode="auto">
          <a:xfrm>
            <a:off x="942642" y="5206345"/>
            <a:ext cx="1984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9" name="Line 1130"/>
          <p:cNvSpPr>
            <a:spLocks noChangeShapeType="1"/>
          </p:cNvSpPr>
          <p:nvPr/>
        </p:nvSpPr>
        <p:spPr bwMode="auto">
          <a:xfrm>
            <a:off x="3487404" y="5185708"/>
            <a:ext cx="238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0" name="Line 1131"/>
          <p:cNvSpPr>
            <a:spLocks noChangeShapeType="1"/>
          </p:cNvSpPr>
          <p:nvPr/>
        </p:nvSpPr>
        <p:spPr bwMode="auto">
          <a:xfrm>
            <a:off x="5552742" y="5042332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1" name="Line 1132"/>
          <p:cNvSpPr>
            <a:spLocks noChangeShapeType="1"/>
          </p:cNvSpPr>
          <p:nvPr/>
        </p:nvSpPr>
        <p:spPr bwMode="auto">
          <a:xfrm>
            <a:off x="8097504" y="5042332"/>
            <a:ext cx="217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箭头: 下弧形 2"/>
          <p:cNvSpPr/>
          <p:nvPr/>
        </p:nvSpPr>
        <p:spPr>
          <a:xfrm rot="16029342">
            <a:off x="6112319" y="3013617"/>
            <a:ext cx="619458" cy="364690"/>
          </a:xfrm>
          <a:prstGeom prst="curvedUpArrow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61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箭头: 上弧形 3"/>
          <p:cNvSpPr/>
          <p:nvPr/>
        </p:nvSpPr>
        <p:spPr>
          <a:xfrm rot="16200000">
            <a:off x="7228787" y="3001971"/>
            <a:ext cx="560386" cy="321468"/>
          </a:xfrm>
          <a:prstGeom prst="curvedDownArrow">
            <a:avLst/>
          </a:prstGeom>
          <a:gradFill>
            <a:gsLst>
              <a:gs pos="0">
                <a:schemeClr val="accent4">
                  <a:lumMod val="67000"/>
                </a:schemeClr>
              </a:gs>
              <a:gs pos="61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45309" y="1210748"/>
            <a:ext cx="3402013" cy="523220"/>
            <a:chOff x="639429" y="1114572"/>
            <a:chExt cx="3402013" cy="523220"/>
          </a:xfrm>
        </p:grpSpPr>
        <p:sp>
          <p:nvSpPr>
            <p:cNvPr id="259" name="Text Box 1028"/>
            <p:cNvSpPr txBox="1">
              <a:spLocks noChangeArrowheads="1"/>
            </p:cNvSpPr>
            <p:nvPr/>
          </p:nvSpPr>
          <p:spPr bwMode="auto">
            <a:xfrm>
              <a:off x="639429" y="1114572"/>
              <a:ext cx="3402013" cy="5232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输入                       时</a:t>
              </a:r>
              <a:endParaRPr kumimoji="1"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矩形 4"/>
                <p:cNvSpPr/>
                <p:nvPr/>
              </p:nvSpPr>
              <p:spPr>
                <a:xfrm>
                  <a:off x="1358396" y="1167288"/>
                  <a:ext cx="2190087" cy="4008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000" b="1" i="1" smtClean="0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0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0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000" b="1" i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zh-CN" altLang="en-US" sz="2000" b="1" i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sz="2000" b="1" i="1">
                            <a:latin typeface="Cambria Math" panose="02040503050406030204" pitchFamily="18" charset="0"/>
                          </a:rPr>
                          <m:t>      </m:t>
                        </m:r>
                        <m:acc>
                          <m:accPr>
                            <m:chr m:val="̅"/>
                            <m:ctrlPr>
                              <a:rPr lang="zh-CN" altLang="en-US" sz="20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0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0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2000" b="1" dirty="0"/>
                </a:p>
              </p:txBody>
            </p:sp>
          </mc:Choice>
          <mc:Fallback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8396" y="1167288"/>
                  <a:ext cx="2190087" cy="400815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" grpId="0"/>
      <p:bldP spid="261" grpId="0"/>
      <p:bldP spid="262" grpId="0"/>
      <p:bldP spid="263" grpId="0"/>
      <p:bldP spid="265" grpId="0"/>
      <p:bldP spid="266" grpId="0"/>
      <p:bldP spid="267" grpId="0"/>
      <p:bldP spid="268" grpId="0"/>
      <p:bldP spid="269" grpId="0"/>
      <p:bldP spid="299" grpId="0"/>
      <p:bldP spid="300" grpId="0"/>
      <p:bldP spid="301" grpId="0"/>
      <p:bldP spid="302" grpId="0"/>
      <p:bldP spid="304" grpId="0"/>
      <p:bldP spid="305" grpId="0"/>
      <p:bldP spid="306" grpId="0"/>
      <p:bldP spid="307" grpId="0"/>
      <p:bldP spid="308" grpId="0"/>
      <p:bldP spid="312" grpId="0" animBg="1"/>
      <p:bldP spid="3" grpId="0" animBg="1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11" name="Rectangle 1080"/>
          <p:cNvSpPr>
            <a:spLocks noChangeArrowheads="1"/>
          </p:cNvSpPr>
          <p:nvPr/>
        </p:nvSpPr>
        <p:spPr bwMode="auto">
          <a:xfrm>
            <a:off x="4572001" y="1507958"/>
            <a:ext cx="47290" cy="53329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2" name="Text Box 32"/>
          <p:cNvSpPr txBox="1">
            <a:spLocks noChangeArrowheads="1"/>
          </p:cNvSpPr>
          <p:nvPr/>
        </p:nvSpPr>
        <p:spPr bwMode="auto">
          <a:xfrm>
            <a:off x="461905" y="1998839"/>
            <a:ext cx="1743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若现态：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3" name="Object 33"/>
          <p:cNvGraphicFramePr>
            <a:graphicFrameLocks noChangeAspect="1"/>
          </p:cNvGraphicFramePr>
          <p:nvPr/>
        </p:nvGraphicFramePr>
        <p:xfrm>
          <a:off x="2108826" y="1977536"/>
          <a:ext cx="1636431" cy="516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2" name="Equation" r:id="rId2" imgW="862965" imgH="241300" progId="Equation.3">
                  <p:embed/>
                </p:oleObj>
              </mc:Choice>
              <mc:Fallback>
                <p:oleObj name="Equation" r:id="rId2" imgW="862965" imgH="2413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826" y="1977536"/>
                        <a:ext cx="1636431" cy="5160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Text Box 34"/>
          <p:cNvSpPr txBox="1">
            <a:spLocks noChangeArrowheads="1"/>
          </p:cNvSpPr>
          <p:nvPr/>
        </p:nvSpPr>
        <p:spPr bwMode="auto">
          <a:xfrm>
            <a:off x="1362018" y="2705276"/>
            <a:ext cx="495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5" name="Text Box 35"/>
          <p:cNvSpPr txBox="1">
            <a:spLocks noChangeArrowheads="1"/>
          </p:cNvSpPr>
          <p:nvPr/>
        </p:nvSpPr>
        <p:spPr bwMode="auto">
          <a:xfrm>
            <a:off x="3152718" y="2743376"/>
            <a:ext cx="400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6" name="Text Box 38"/>
          <p:cNvSpPr txBox="1">
            <a:spLocks noChangeArrowheads="1"/>
          </p:cNvSpPr>
          <p:nvPr/>
        </p:nvSpPr>
        <p:spPr bwMode="auto">
          <a:xfrm>
            <a:off x="542868" y="5029376"/>
            <a:ext cx="3429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7" name="Text Box 39"/>
          <p:cNvSpPr txBox="1">
            <a:spLocks noChangeArrowheads="1"/>
          </p:cNvSpPr>
          <p:nvPr/>
        </p:nvSpPr>
        <p:spPr bwMode="auto">
          <a:xfrm>
            <a:off x="4086168" y="5002389"/>
            <a:ext cx="342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8" name="Text Box 40"/>
          <p:cNvSpPr txBox="1">
            <a:spLocks noChangeArrowheads="1"/>
          </p:cNvSpPr>
          <p:nvPr/>
        </p:nvSpPr>
        <p:spPr bwMode="auto">
          <a:xfrm>
            <a:off x="1647768" y="5067476"/>
            <a:ext cx="419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9" name="Text Box 41"/>
          <p:cNvSpPr txBox="1">
            <a:spLocks noChangeArrowheads="1"/>
          </p:cNvSpPr>
          <p:nvPr/>
        </p:nvSpPr>
        <p:spPr bwMode="auto">
          <a:xfrm>
            <a:off x="1362018" y="3257726"/>
            <a:ext cx="552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1" name="Text Box 43"/>
          <p:cNvSpPr txBox="1">
            <a:spLocks noChangeArrowheads="1"/>
          </p:cNvSpPr>
          <p:nvPr/>
        </p:nvSpPr>
        <p:spPr bwMode="auto">
          <a:xfrm>
            <a:off x="3114618" y="3238676"/>
            <a:ext cx="552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2" name="Text Box 44"/>
          <p:cNvSpPr txBox="1">
            <a:spLocks noChangeArrowheads="1"/>
          </p:cNvSpPr>
          <p:nvPr/>
        </p:nvSpPr>
        <p:spPr bwMode="auto">
          <a:xfrm>
            <a:off x="457143" y="5958470"/>
            <a:ext cx="236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次态变为：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3" name="Object 45"/>
          <p:cNvGraphicFramePr>
            <a:graphicFrameLocks noChangeAspect="1"/>
          </p:cNvGraphicFramePr>
          <p:nvPr/>
        </p:nvGraphicFramePr>
        <p:xfrm>
          <a:off x="2246543" y="5926235"/>
          <a:ext cx="1873494" cy="579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3" name="Equation" r:id="rId4" imgW="862965" imgH="241300" progId="Equation.3">
                  <p:embed/>
                </p:oleObj>
              </mc:Choice>
              <mc:Fallback>
                <p:oleObj name="Equation" r:id="rId4" imgW="862965" imgH="2413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543" y="5926235"/>
                        <a:ext cx="1873494" cy="579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" name="AutoShape 46"/>
          <p:cNvSpPr>
            <a:spLocks noChangeArrowheads="1"/>
          </p:cNvSpPr>
          <p:nvPr/>
        </p:nvSpPr>
        <p:spPr bwMode="auto">
          <a:xfrm rot="10800000" flipH="1">
            <a:off x="1661247" y="2925145"/>
            <a:ext cx="323850" cy="666750"/>
          </a:xfrm>
          <a:prstGeom prst="curvedLeftArrow">
            <a:avLst>
              <a:gd name="adj1" fmla="val 41176"/>
              <a:gd name="adj2" fmla="val 82353"/>
              <a:gd name="adj3" fmla="val 33333"/>
            </a:avLst>
          </a:prstGeom>
          <a:gradFill rotWithShape="0">
            <a:gsLst>
              <a:gs pos="0">
                <a:srgbClr val="FF0000"/>
              </a:gs>
              <a:gs pos="100000">
                <a:srgbClr val="3399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" name="AutoShape 47"/>
          <p:cNvSpPr>
            <a:spLocks noChangeArrowheads="1"/>
          </p:cNvSpPr>
          <p:nvPr/>
        </p:nvSpPr>
        <p:spPr bwMode="auto">
          <a:xfrm rot="10800000">
            <a:off x="2855798" y="2912469"/>
            <a:ext cx="323850" cy="666750"/>
          </a:xfrm>
          <a:prstGeom prst="curvedLeftArrow">
            <a:avLst>
              <a:gd name="adj1" fmla="val 41176"/>
              <a:gd name="adj2" fmla="val 82353"/>
              <a:gd name="adj3" fmla="val 33333"/>
            </a:avLst>
          </a:prstGeom>
          <a:gradFill rotWithShape="0">
            <a:gsLst>
              <a:gs pos="0">
                <a:srgbClr val="FF0000"/>
              </a:gs>
              <a:gs pos="100000">
                <a:srgbClr val="33993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16" name="Group 120"/>
          <p:cNvGrpSpPr/>
          <p:nvPr/>
        </p:nvGrpSpPr>
        <p:grpSpPr bwMode="auto">
          <a:xfrm>
            <a:off x="669868" y="2951339"/>
            <a:ext cx="3619500" cy="2624137"/>
            <a:chOff x="332" y="1583"/>
            <a:chExt cx="2280" cy="1653"/>
          </a:xfrm>
        </p:grpSpPr>
        <p:grpSp>
          <p:nvGrpSpPr>
            <p:cNvPr id="217" name="Group 49"/>
            <p:cNvGrpSpPr/>
            <p:nvPr/>
          </p:nvGrpSpPr>
          <p:grpSpPr bwMode="auto">
            <a:xfrm>
              <a:off x="332" y="1680"/>
              <a:ext cx="816" cy="1284"/>
              <a:chOff x="1249" y="1452"/>
              <a:chExt cx="816" cy="1284"/>
            </a:xfrm>
          </p:grpSpPr>
          <p:sp>
            <p:nvSpPr>
              <p:cNvPr id="238" name="Rectangle 50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9" name="Oval 51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0" name="Line 52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Line 53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Line 54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Text Box 55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44" name="Text Box 56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18" name="Group 57"/>
            <p:cNvGrpSpPr/>
            <p:nvPr/>
          </p:nvGrpSpPr>
          <p:grpSpPr bwMode="auto">
            <a:xfrm>
              <a:off x="1796" y="1668"/>
              <a:ext cx="816" cy="1284"/>
              <a:chOff x="1249" y="1452"/>
              <a:chExt cx="816" cy="1284"/>
            </a:xfrm>
          </p:grpSpPr>
          <p:sp>
            <p:nvSpPr>
              <p:cNvPr id="231" name="Rectangle 58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2" name="Oval 59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3" name="Line 60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4" name="Line 61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" name="Line 62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" name="Text Box 63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37" name="Text Box 64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219" name="Oval 65"/>
            <p:cNvSpPr>
              <a:spLocks noChangeArrowheads="1"/>
            </p:cNvSpPr>
            <p:nvPr/>
          </p:nvSpPr>
          <p:spPr bwMode="auto">
            <a:xfrm>
              <a:off x="2160" y="1788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0" name="Line 66"/>
            <p:cNvSpPr>
              <a:spLocks noChangeShapeType="1"/>
            </p:cNvSpPr>
            <p:nvPr/>
          </p:nvSpPr>
          <p:spPr bwMode="auto">
            <a:xfrm>
              <a:off x="720" y="1824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1" name="Line 67"/>
            <p:cNvSpPr>
              <a:spLocks noChangeShapeType="1"/>
            </p:cNvSpPr>
            <p:nvPr/>
          </p:nvSpPr>
          <p:spPr bwMode="auto">
            <a:xfrm flipV="1">
              <a:off x="1668" y="1812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2" name="Line 68"/>
            <p:cNvSpPr>
              <a:spLocks noChangeShapeType="1"/>
            </p:cNvSpPr>
            <p:nvPr/>
          </p:nvSpPr>
          <p:spPr bwMode="auto">
            <a:xfrm>
              <a:off x="1776" y="2928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3" name="Line 69"/>
            <p:cNvSpPr>
              <a:spLocks noChangeShapeType="1"/>
            </p:cNvSpPr>
            <p:nvPr/>
          </p:nvSpPr>
          <p:spPr bwMode="auto">
            <a:xfrm>
              <a:off x="960" y="2952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4" name="Line 70"/>
            <p:cNvSpPr>
              <a:spLocks noChangeShapeType="1"/>
            </p:cNvSpPr>
            <p:nvPr/>
          </p:nvSpPr>
          <p:spPr bwMode="auto">
            <a:xfrm flipH="1">
              <a:off x="1164" y="1812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" name="Line 71"/>
            <p:cNvSpPr>
              <a:spLocks noChangeShapeType="1"/>
            </p:cNvSpPr>
            <p:nvPr/>
          </p:nvSpPr>
          <p:spPr bwMode="auto">
            <a:xfrm>
              <a:off x="1248" y="1812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6" name="Oval 72"/>
            <p:cNvSpPr>
              <a:spLocks noChangeArrowheads="1"/>
            </p:cNvSpPr>
            <p:nvPr/>
          </p:nvSpPr>
          <p:spPr bwMode="auto">
            <a:xfrm>
              <a:off x="696" y="1788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7" name="Object 73"/>
            <p:cNvGraphicFramePr>
              <a:graphicFrameLocks noChangeAspect="1"/>
            </p:cNvGraphicFramePr>
            <p:nvPr/>
          </p:nvGraphicFramePr>
          <p:xfrm>
            <a:off x="428" y="1583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4" name="Equation" r:id="rId6" imgW="165100" imgH="241300" progId="Equation.3">
                    <p:embed/>
                  </p:oleObj>
                </mc:Choice>
                <mc:Fallback>
                  <p:oleObj name="Equation" r:id="rId6" imgW="165100" imgH="241300" progId="Equation.3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" y="1583"/>
                          <a:ext cx="20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8" name="Object 74"/>
            <p:cNvGraphicFramePr>
              <a:graphicFrameLocks noChangeAspect="1"/>
            </p:cNvGraphicFramePr>
            <p:nvPr/>
          </p:nvGraphicFramePr>
          <p:xfrm>
            <a:off x="2324" y="1624"/>
            <a:ext cx="2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5" name="Equation" r:id="rId8" imgW="165100" imgH="203200" progId="Equation.3">
                    <p:embed/>
                  </p:oleObj>
                </mc:Choice>
                <mc:Fallback>
                  <p:oleObj name="Equation" r:id="rId8" imgW="165100" imgH="203200" progId="Equation.3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4" y="1624"/>
                          <a:ext cx="21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9" name="Object 75"/>
            <p:cNvGraphicFramePr>
              <a:graphicFrameLocks noChangeAspect="1"/>
            </p:cNvGraphicFramePr>
            <p:nvPr/>
          </p:nvGraphicFramePr>
          <p:xfrm>
            <a:off x="537" y="2955"/>
            <a:ext cx="2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6" name="Equation" r:id="rId10" imgW="228600" imgH="215900" progId="Equation.3">
                    <p:embed/>
                  </p:oleObj>
                </mc:Choice>
                <mc:Fallback>
                  <p:oleObj name="Equation" r:id="rId10" imgW="228600" imgH="215900" progId="Equation.3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" y="2955"/>
                          <a:ext cx="28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" name="Object 76"/>
            <p:cNvGraphicFramePr>
              <a:graphicFrameLocks noChangeAspect="1"/>
            </p:cNvGraphicFramePr>
            <p:nvPr/>
          </p:nvGraphicFramePr>
          <p:xfrm>
            <a:off x="2158" y="2937"/>
            <a:ext cx="29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67" name="Equation" r:id="rId12" imgW="215900" imgH="215900" progId="Equation.3">
                    <p:embed/>
                  </p:oleObj>
                </mc:Choice>
                <mc:Fallback>
                  <p:oleObj name="Equation" r:id="rId12" imgW="215900" imgH="215900" progId="Equation.3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8" y="2937"/>
                          <a:ext cx="29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6" name="Text Box 78"/>
          <p:cNvSpPr txBox="1">
            <a:spLocks noChangeArrowheads="1"/>
          </p:cNvSpPr>
          <p:nvPr/>
        </p:nvSpPr>
        <p:spPr bwMode="auto">
          <a:xfrm>
            <a:off x="5113280" y="1975027"/>
            <a:ext cx="17668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若现态：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7" name="Object 79"/>
          <p:cNvGraphicFramePr>
            <a:graphicFrameLocks noChangeAspect="1"/>
          </p:cNvGraphicFramePr>
          <p:nvPr/>
        </p:nvGraphicFramePr>
        <p:xfrm>
          <a:off x="6576658" y="1905805"/>
          <a:ext cx="1514831" cy="541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8" name="Equation" r:id="rId14" imgW="862965" imgH="241300" progId="Equation.3">
                  <p:embed/>
                </p:oleObj>
              </mc:Choice>
              <mc:Fallback>
                <p:oleObj name="Equation" r:id="rId14" imgW="862965" imgH="241300" progId="Equation.3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6658" y="1905805"/>
                        <a:ext cx="1514831" cy="541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" name="Text Box 80"/>
          <p:cNvSpPr txBox="1">
            <a:spLocks noChangeArrowheads="1"/>
          </p:cNvSpPr>
          <p:nvPr/>
        </p:nvSpPr>
        <p:spPr bwMode="auto">
          <a:xfrm>
            <a:off x="5834064" y="2732263"/>
            <a:ext cx="49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0" name="Text Box 82"/>
          <p:cNvSpPr txBox="1">
            <a:spLocks noChangeArrowheads="1"/>
          </p:cNvSpPr>
          <p:nvPr/>
        </p:nvSpPr>
        <p:spPr bwMode="auto">
          <a:xfrm>
            <a:off x="7624764" y="2770363"/>
            <a:ext cx="40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1" name="Text Box 83"/>
          <p:cNvSpPr txBox="1">
            <a:spLocks noChangeArrowheads="1"/>
          </p:cNvSpPr>
          <p:nvPr/>
        </p:nvSpPr>
        <p:spPr bwMode="auto">
          <a:xfrm>
            <a:off x="6138864" y="5075413"/>
            <a:ext cx="400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2" name="Text Box 84"/>
          <p:cNvSpPr txBox="1">
            <a:spLocks noChangeArrowheads="1"/>
          </p:cNvSpPr>
          <p:nvPr/>
        </p:nvSpPr>
        <p:spPr bwMode="auto">
          <a:xfrm>
            <a:off x="5853114" y="3246613"/>
            <a:ext cx="49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4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3" name="Text Box 85"/>
          <p:cNvSpPr txBox="1">
            <a:spLocks noChangeArrowheads="1"/>
          </p:cNvSpPr>
          <p:nvPr/>
        </p:nvSpPr>
        <p:spPr bwMode="auto">
          <a:xfrm>
            <a:off x="5014914" y="5056363"/>
            <a:ext cx="34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4" name="Text Box 86"/>
          <p:cNvSpPr txBox="1">
            <a:spLocks noChangeArrowheads="1"/>
          </p:cNvSpPr>
          <p:nvPr/>
        </p:nvSpPr>
        <p:spPr bwMode="auto">
          <a:xfrm>
            <a:off x="8558214" y="5029376"/>
            <a:ext cx="342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5" name="Text Box 87"/>
          <p:cNvSpPr txBox="1">
            <a:spLocks noChangeArrowheads="1"/>
          </p:cNvSpPr>
          <p:nvPr/>
        </p:nvSpPr>
        <p:spPr bwMode="auto">
          <a:xfrm>
            <a:off x="7586664" y="3246613"/>
            <a:ext cx="495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24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6" name="Text Box 88"/>
          <p:cNvSpPr txBox="1">
            <a:spLocks noChangeArrowheads="1"/>
          </p:cNvSpPr>
          <p:nvPr/>
        </p:nvSpPr>
        <p:spPr bwMode="auto">
          <a:xfrm>
            <a:off x="4953762" y="5961231"/>
            <a:ext cx="1911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次态保持：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9" name="Object 89"/>
          <p:cNvGraphicFramePr>
            <a:graphicFrameLocks noChangeAspect="1"/>
          </p:cNvGraphicFramePr>
          <p:nvPr/>
        </p:nvGraphicFramePr>
        <p:xfrm>
          <a:off x="6690121" y="5928153"/>
          <a:ext cx="1873833" cy="528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69" name="Equation" r:id="rId16" imgW="862965" imgH="241300" progId="Equation.3">
                  <p:embed/>
                </p:oleObj>
              </mc:Choice>
              <mc:Fallback>
                <p:oleObj name="Equation" r:id="rId16" imgW="862965" imgH="241300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0121" y="5928153"/>
                        <a:ext cx="1873833" cy="528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0" name="Group 121"/>
          <p:cNvGrpSpPr/>
          <p:nvPr/>
        </p:nvGrpSpPr>
        <p:grpSpPr bwMode="auto">
          <a:xfrm>
            <a:off x="5141914" y="2978326"/>
            <a:ext cx="3619500" cy="2624137"/>
            <a:chOff x="3212" y="1583"/>
            <a:chExt cx="2280" cy="1653"/>
          </a:xfrm>
        </p:grpSpPr>
        <p:grpSp>
          <p:nvGrpSpPr>
            <p:cNvPr id="362" name="Group 91"/>
            <p:cNvGrpSpPr/>
            <p:nvPr/>
          </p:nvGrpSpPr>
          <p:grpSpPr bwMode="auto">
            <a:xfrm>
              <a:off x="3212" y="1680"/>
              <a:ext cx="816" cy="1284"/>
              <a:chOff x="1249" y="1452"/>
              <a:chExt cx="816" cy="1284"/>
            </a:xfrm>
          </p:grpSpPr>
          <p:sp>
            <p:nvSpPr>
              <p:cNvPr id="383" name="Rectangle 92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4" name="Oval 93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5" name="Line 94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6" name="Line 95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7" name="Line 96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8" name="Text Box 97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89" name="Text Box 98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363" name="Group 99"/>
            <p:cNvGrpSpPr/>
            <p:nvPr/>
          </p:nvGrpSpPr>
          <p:grpSpPr bwMode="auto">
            <a:xfrm>
              <a:off x="4676" y="1668"/>
              <a:ext cx="816" cy="1284"/>
              <a:chOff x="1249" y="1452"/>
              <a:chExt cx="816" cy="1284"/>
            </a:xfrm>
          </p:grpSpPr>
          <p:sp>
            <p:nvSpPr>
              <p:cNvPr id="376" name="Rectangle 100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7" name="Oval 101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8" name="Line 102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9" name="Line 103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0" name="Line 104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1" name="Text Box 105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82" name="Text Box 106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364" name="Oval 107"/>
            <p:cNvSpPr>
              <a:spLocks noChangeArrowheads="1"/>
            </p:cNvSpPr>
            <p:nvPr/>
          </p:nvSpPr>
          <p:spPr bwMode="auto">
            <a:xfrm>
              <a:off x="5040" y="1788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5" name="Line 108"/>
            <p:cNvSpPr>
              <a:spLocks noChangeShapeType="1"/>
            </p:cNvSpPr>
            <p:nvPr/>
          </p:nvSpPr>
          <p:spPr bwMode="auto">
            <a:xfrm>
              <a:off x="3600" y="1824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6" name="Line 109"/>
            <p:cNvSpPr>
              <a:spLocks noChangeShapeType="1"/>
            </p:cNvSpPr>
            <p:nvPr/>
          </p:nvSpPr>
          <p:spPr bwMode="auto">
            <a:xfrm flipV="1">
              <a:off x="4548" y="1812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7" name="Line 110"/>
            <p:cNvSpPr>
              <a:spLocks noChangeShapeType="1"/>
            </p:cNvSpPr>
            <p:nvPr/>
          </p:nvSpPr>
          <p:spPr bwMode="auto">
            <a:xfrm>
              <a:off x="4656" y="2928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8" name="Line 111"/>
            <p:cNvSpPr>
              <a:spLocks noChangeShapeType="1"/>
            </p:cNvSpPr>
            <p:nvPr/>
          </p:nvSpPr>
          <p:spPr bwMode="auto">
            <a:xfrm>
              <a:off x="3840" y="2952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69" name="Line 112"/>
            <p:cNvSpPr>
              <a:spLocks noChangeShapeType="1"/>
            </p:cNvSpPr>
            <p:nvPr/>
          </p:nvSpPr>
          <p:spPr bwMode="auto">
            <a:xfrm flipH="1">
              <a:off x="4044" y="1812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0" name="Line 113"/>
            <p:cNvSpPr>
              <a:spLocks noChangeShapeType="1"/>
            </p:cNvSpPr>
            <p:nvPr/>
          </p:nvSpPr>
          <p:spPr bwMode="auto">
            <a:xfrm>
              <a:off x="4128" y="1812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1" name="Oval 114"/>
            <p:cNvSpPr>
              <a:spLocks noChangeArrowheads="1"/>
            </p:cNvSpPr>
            <p:nvPr/>
          </p:nvSpPr>
          <p:spPr bwMode="auto">
            <a:xfrm>
              <a:off x="3576" y="1788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72" name="Object 115"/>
            <p:cNvGraphicFramePr>
              <a:graphicFrameLocks noChangeAspect="1"/>
            </p:cNvGraphicFramePr>
            <p:nvPr/>
          </p:nvGraphicFramePr>
          <p:xfrm>
            <a:off x="3308" y="1583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0" name="Equation" r:id="rId17" imgW="165100" imgH="241300" progId="Equation.3">
                    <p:embed/>
                  </p:oleObj>
                </mc:Choice>
                <mc:Fallback>
                  <p:oleObj name="Equation" r:id="rId17" imgW="165100" imgH="241300" progId="Equation.3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8" y="1583"/>
                          <a:ext cx="20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3" name="Object 116"/>
            <p:cNvGraphicFramePr>
              <a:graphicFrameLocks noChangeAspect="1"/>
            </p:cNvGraphicFramePr>
            <p:nvPr/>
          </p:nvGraphicFramePr>
          <p:xfrm>
            <a:off x="5204" y="1624"/>
            <a:ext cx="2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1" name="Equation" r:id="rId18" imgW="165100" imgH="203200" progId="Equation.3">
                    <p:embed/>
                  </p:oleObj>
                </mc:Choice>
                <mc:Fallback>
                  <p:oleObj name="Equation" r:id="rId18" imgW="165100" imgH="203200" progId="Equation.3">
                    <p:embed/>
                    <p:pic>
                      <p:nvPicPr>
                        <p:cNvPr id="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4" y="1624"/>
                          <a:ext cx="21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4" name="Object 117"/>
            <p:cNvGraphicFramePr>
              <a:graphicFrameLocks noChangeAspect="1"/>
            </p:cNvGraphicFramePr>
            <p:nvPr/>
          </p:nvGraphicFramePr>
          <p:xfrm>
            <a:off x="3417" y="2955"/>
            <a:ext cx="2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2" name="Equation" r:id="rId19" imgW="228600" imgH="215900" progId="Equation.3">
                    <p:embed/>
                  </p:oleObj>
                </mc:Choice>
                <mc:Fallback>
                  <p:oleObj name="Equation" r:id="rId19" imgW="228600" imgH="215900" progId="Equation.3">
                    <p:embed/>
                    <p:pic>
                      <p:nvPicPr>
                        <p:cNvPr id="0" name="Object 1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7" y="2955"/>
                          <a:ext cx="28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5" name="Object 118"/>
            <p:cNvGraphicFramePr>
              <a:graphicFrameLocks noChangeAspect="1"/>
            </p:cNvGraphicFramePr>
            <p:nvPr/>
          </p:nvGraphicFramePr>
          <p:xfrm>
            <a:off x="5038" y="2937"/>
            <a:ext cx="29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" name="Equation" r:id="rId21" imgW="215900" imgH="215900" progId="Equation.3">
                    <p:embed/>
                  </p:oleObj>
                </mc:Choice>
                <mc:Fallback>
                  <p:oleObj name="Equation" r:id="rId21" imgW="215900" imgH="215900" progId="Equation.3">
                    <p:embed/>
                    <p:pic>
                      <p:nvPicPr>
                        <p:cNvPr id="0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8" y="2937"/>
                          <a:ext cx="29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0" name="Line 123"/>
          <p:cNvSpPr>
            <a:spLocks noChangeShapeType="1"/>
          </p:cNvSpPr>
          <p:nvPr/>
        </p:nvSpPr>
        <p:spPr bwMode="auto">
          <a:xfrm>
            <a:off x="1057218" y="5169076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1" name="Line 124"/>
          <p:cNvSpPr>
            <a:spLocks noChangeShapeType="1"/>
          </p:cNvSpPr>
          <p:nvPr/>
        </p:nvSpPr>
        <p:spPr bwMode="auto">
          <a:xfrm>
            <a:off x="3601981" y="5150026"/>
            <a:ext cx="1984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2" name="Line 125"/>
          <p:cNvSpPr>
            <a:spLocks noChangeShapeType="1"/>
          </p:cNvSpPr>
          <p:nvPr/>
        </p:nvSpPr>
        <p:spPr bwMode="auto">
          <a:xfrm>
            <a:off x="5529264" y="5196063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3" name="Line 126"/>
          <p:cNvSpPr>
            <a:spLocks noChangeShapeType="1"/>
          </p:cNvSpPr>
          <p:nvPr/>
        </p:nvSpPr>
        <p:spPr bwMode="auto">
          <a:xfrm>
            <a:off x="8093077" y="5177013"/>
            <a:ext cx="179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5" name="Text Box 119"/>
          <p:cNvSpPr txBox="1">
            <a:spLocks noChangeArrowheads="1"/>
          </p:cNvSpPr>
          <p:nvPr/>
        </p:nvSpPr>
        <p:spPr bwMode="auto">
          <a:xfrm>
            <a:off x="5656585" y="1304527"/>
            <a:ext cx="2163762" cy="584775"/>
          </a:xfrm>
          <a:prstGeom prst="rect">
            <a:avLst/>
          </a:prstGeom>
          <a:noFill/>
          <a:ln w="9525">
            <a:solidFill>
              <a:schemeClr val="tx2">
                <a:lumMod val="75000"/>
              </a:schemeClr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置“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1”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！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57143" y="1335592"/>
            <a:ext cx="3847860" cy="523220"/>
            <a:chOff x="551687" y="1186052"/>
            <a:chExt cx="3847860" cy="523220"/>
          </a:xfrm>
        </p:grpSpPr>
        <p:sp>
          <p:nvSpPr>
            <p:cNvPr id="396" name="Text Box 1028"/>
            <p:cNvSpPr txBox="1">
              <a:spLocks noChangeArrowheads="1"/>
            </p:cNvSpPr>
            <p:nvPr/>
          </p:nvSpPr>
          <p:spPr bwMode="auto">
            <a:xfrm>
              <a:off x="551687" y="1186052"/>
              <a:ext cx="3847860" cy="5232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输入                            时 </a:t>
              </a:r>
              <a:endParaRPr kumimoji="1"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7" name="矩形 396"/>
                <p:cNvSpPr/>
                <p:nvPr/>
              </p:nvSpPr>
              <p:spPr>
                <a:xfrm>
                  <a:off x="1329973" y="1220803"/>
                  <a:ext cx="2587888" cy="462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400" b="1" i="1" smtClean="0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sz="2400" b="1" i="1">
                            <a:latin typeface="Cambria Math" panose="02040503050406030204" pitchFamily="18" charset="0"/>
                          </a:rPr>
                          <m:t>      </m:t>
                        </m:r>
                        <m:acc>
                          <m:accPr>
                            <m:chr m:val="̅"/>
                            <m:ctrlPr>
                              <a:rPr lang="zh-CN" altLang="en-US" sz="24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zh-CN" altLang="en-US" sz="2400" b="1" dirty="0"/>
                </a:p>
              </p:txBody>
            </p:sp>
          </mc:Choice>
          <mc:Fallback>
            <p:sp>
              <p:nvSpPr>
                <p:cNvPr id="397" name="矩形 39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9973" y="1220803"/>
                  <a:ext cx="2587888" cy="462434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7" name="Text Box 46" descr="花束"/>
          <p:cNvSpPr txBox="1">
            <a:spLocks noChangeArrowheads="1"/>
          </p:cNvSpPr>
          <p:nvPr/>
        </p:nvSpPr>
        <p:spPr bwMode="auto">
          <a:xfrm>
            <a:off x="221149" y="588279"/>
            <a:ext cx="523316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二、工作原理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/>
      <p:bldP spid="204" grpId="0"/>
      <p:bldP spid="205" grpId="0"/>
      <p:bldP spid="206" grpId="0"/>
      <p:bldP spid="207" grpId="0"/>
      <p:bldP spid="208" grpId="0"/>
      <p:bldP spid="209" grpId="0"/>
      <p:bldP spid="211" grpId="0"/>
      <p:bldP spid="212" grpId="0"/>
      <p:bldP spid="214" grpId="0" animBg="1"/>
      <p:bldP spid="215" grpId="0" animBg="1"/>
      <p:bldP spid="246" grpId="0"/>
      <p:bldP spid="248" grpId="0"/>
      <p:bldP spid="250" grpId="0"/>
      <p:bldP spid="251" grpId="0"/>
      <p:bldP spid="252" grpId="0"/>
      <p:bldP spid="253" grpId="0"/>
      <p:bldP spid="254" grpId="0"/>
      <p:bldP spid="255" grpId="0"/>
      <p:bldP spid="256" grpId="0"/>
      <p:bldP spid="39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311" name="Rectangle 1080"/>
          <p:cNvSpPr>
            <a:spLocks noChangeArrowheads="1"/>
          </p:cNvSpPr>
          <p:nvPr/>
        </p:nvSpPr>
        <p:spPr bwMode="auto">
          <a:xfrm>
            <a:off x="4573571" y="1113680"/>
            <a:ext cx="45719" cy="572727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09460" y="1258289"/>
            <a:ext cx="3727063" cy="523220"/>
            <a:chOff x="596283" y="1178426"/>
            <a:chExt cx="3727063" cy="523220"/>
          </a:xfrm>
        </p:grpSpPr>
        <p:sp>
          <p:nvSpPr>
            <p:cNvPr id="396" name="Text Box 1028"/>
            <p:cNvSpPr txBox="1">
              <a:spLocks noChangeArrowheads="1"/>
            </p:cNvSpPr>
            <p:nvPr/>
          </p:nvSpPr>
          <p:spPr bwMode="auto">
            <a:xfrm>
              <a:off x="596283" y="1178426"/>
              <a:ext cx="3727063" cy="52322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/>
          </p:spPr>
          <p:txBody>
            <a:bodyPr wrap="square"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zh-CN" altLang="en-US" sz="28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输入                           时</a:t>
              </a:r>
              <a:endParaRPr kumimoji="1"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7" name="矩形 396"/>
                <p:cNvSpPr/>
                <p:nvPr/>
              </p:nvSpPr>
              <p:spPr>
                <a:xfrm>
                  <a:off x="1329973" y="1220803"/>
                  <a:ext cx="2587888" cy="4624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400" b="1" i="1" smtClean="0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，</m:t>
                        </m:r>
                        <m:r>
                          <m:rPr>
                            <m:nor/>
                          </m:rPr>
                          <a:rPr lang="zh-CN" altLang="en-US" sz="2400" b="1" i="1">
                            <a:latin typeface="Cambria Math" panose="02040503050406030204" pitchFamily="18" charset="0"/>
                          </a:rPr>
                          <m:t>      </m:t>
                        </m:r>
                        <m:acc>
                          <m:accPr>
                            <m:chr m:val="̅"/>
                            <m:ctrlPr>
                              <a:rPr lang="zh-CN" altLang="en-US" sz="24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400" b="1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2400" b="1" dirty="0"/>
                </a:p>
              </p:txBody>
            </p:sp>
          </mc:Choice>
          <mc:Fallback>
            <p:sp>
              <p:nvSpPr>
                <p:cNvPr id="397" name="矩形 39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9973" y="1220803"/>
                  <a:ext cx="2587888" cy="46243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5" name="Text Box 3"/>
          <p:cNvSpPr txBox="1">
            <a:spLocks noChangeArrowheads="1"/>
          </p:cNvSpPr>
          <p:nvPr/>
        </p:nvSpPr>
        <p:spPr bwMode="auto">
          <a:xfrm>
            <a:off x="625692" y="1896861"/>
            <a:ext cx="26130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若现态：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6" name="Text Box 34"/>
          <p:cNvSpPr txBox="1">
            <a:spLocks noChangeArrowheads="1"/>
          </p:cNvSpPr>
          <p:nvPr/>
        </p:nvSpPr>
        <p:spPr bwMode="auto">
          <a:xfrm>
            <a:off x="3036303" y="2624805"/>
            <a:ext cx="552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7" name="Text Box 35"/>
          <p:cNvSpPr txBox="1">
            <a:spLocks noChangeArrowheads="1"/>
          </p:cNvSpPr>
          <p:nvPr/>
        </p:nvSpPr>
        <p:spPr bwMode="auto">
          <a:xfrm>
            <a:off x="1378953" y="2624805"/>
            <a:ext cx="552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8" name="Text Box 36"/>
          <p:cNvSpPr txBox="1">
            <a:spLocks noChangeArrowheads="1"/>
          </p:cNvSpPr>
          <p:nvPr/>
        </p:nvSpPr>
        <p:spPr bwMode="auto">
          <a:xfrm>
            <a:off x="426453" y="4701255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89" name="Text Box 37"/>
          <p:cNvSpPr txBox="1">
            <a:spLocks noChangeArrowheads="1"/>
          </p:cNvSpPr>
          <p:nvPr/>
        </p:nvSpPr>
        <p:spPr bwMode="auto">
          <a:xfrm>
            <a:off x="4038016" y="4727991"/>
            <a:ext cx="476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0" name="Text Box 38"/>
          <p:cNvSpPr txBox="1">
            <a:spLocks noChangeArrowheads="1"/>
          </p:cNvSpPr>
          <p:nvPr/>
        </p:nvSpPr>
        <p:spPr bwMode="auto">
          <a:xfrm>
            <a:off x="1886953" y="4712368"/>
            <a:ext cx="552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1" name="Text Box 39"/>
          <p:cNvSpPr txBox="1">
            <a:spLocks noChangeArrowheads="1"/>
          </p:cNvSpPr>
          <p:nvPr/>
        </p:nvSpPr>
        <p:spPr bwMode="auto">
          <a:xfrm>
            <a:off x="1398003" y="3082005"/>
            <a:ext cx="546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2" name="Text Box 40"/>
          <p:cNvSpPr txBox="1">
            <a:spLocks noChangeArrowheads="1"/>
          </p:cNvSpPr>
          <p:nvPr/>
        </p:nvSpPr>
        <p:spPr bwMode="auto">
          <a:xfrm>
            <a:off x="2579103" y="4720305"/>
            <a:ext cx="400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3" name="Text Box 41"/>
          <p:cNvSpPr txBox="1">
            <a:spLocks noChangeArrowheads="1"/>
          </p:cNvSpPr>
          <p:nvPr/>
        </p:nvSpPr>
        <p:spPr bwMode="auto">
          <a:xfrm>
            <a:off x="3055353" y="3062955"/>
            <a:ext cx="4191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4" name="Text Box 42"/>
          <p:cNvSpPr txBox="1">
            <a:spLocks noChangeArrowheads="1"/>
          </p:cNvSpPr>
          <p:nvPr/>
        </p:nvSpPr>
        <p:spPr bwMode="auto">
          <a:xfrm>
            <a:off x="378327" y="5592092"/>
            <a:ext cx="4025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次态保持：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5" name="Object 43"/>
          <p:cNvGraphicFramePr>
            <a:graphicFrameLocks noChangeAspect="1"/>
          </p:cNvGraphicFramePr>
          <p:nvPr/>
        </p:nvGraphicFramePr>
        <p:xfrm>
          <a:off x="2163178" y="1851976"/>
          <a:ext cx="1625600" cy="55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6" name="Equation" r:id="rId3" imgW="862965" imgH="241300" progId="Equation.3">
                  <p:embed/>
                </p:oleObj>
              </mc:Choice>
              <mc:Fallback>
                <p:oleObj name="Equation" r:id="rId3" imgW="862965" imgH="241300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3178" y="1851976"/>
                        <a:ext cx="1625600" cy="55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" name="Object 44"/>
          <p:cNvGraphicFramePr>
            <a:graphicFrameLocks noChangeAspect="1"/>
          </p:cNvGraphicFramePr>
          <p:nvPr/>
        </p:nvGraphicFramePr>
        <p:xfrm>
          <a:off x="1284162" y="6125492"/>
          <a:ext cx="225266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7" name="Equation" r:id="rId5" imgW="862965" imgH="241300" progId="Equation.3">
                  <p:embed/>
                </p:oleObj>
              </mc:Choice>
              <mc:Fallback>
                <p:oleObj name="Equation" r:id="rId5" imgW="862965" imgH="241300" progId="Equation.3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162" y="6125492"/>
                        <a:ext cx="2252663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" name="Text Box 74"/>
          <p:cNvSpPr txBox="1">
            <a:spLocks noChangeArrowheads="1"/>
          </p:cNvSpPr>
          <p:nvPr/>
        </p:nvSpPr>
        <p:spPr bwMode="auto">
          <a:xfrm>
            <a:off x="4827024" y="1897717"/>
            <a:ext cx="29257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若现态：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98" name="Object 75"/>
          <p:cNvGraphicFramePr>
            <a:graphicFrameLocks noChangeAspect="1"/>
          </p:cNvGraphicFramePr>
          <p:nvPr/>
        </p:nvGraphicFramePr>
        <p:xfrm>
          <a:off x="6324600" y="1863725"/>
          <a:ext cx="19764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8" name="Equation" r:id="rId7" imgW="862965" imgH="241300" progId="Equation.3">
                  <p:embed/>
                </p:oleObj>
              </mc:Choice>
              <mc:Fallback>
                <p:oleObj name="Equation" r:id="rId7" imgW="862965" imgH="24130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1863725"/>
                        <a:ext cx="1976438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" name="Text Box 77"/>
          <p:cNvSpPr txBox="1">
            <a:spLocks noChangeArrowheads="1"/>
          </p:cNvSpPr>
          <p:nvPr/>
        </p:nvSpPr>
        <p:spPr bwMode="auto">
          <a:xfrm>
            <a:off x="7486650" y="2633662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1" name="Text Box 78"/>
          <p:cNvSpPr txBox="1">
            <a:spLocks noChangeArrowheads="1"/>
          </p:cNvSpPr>
          <p:nvPr/>
        </p:nvSpPr>
        <p:spPr bwMode="auto">
          <a:xfrm>
            <a:off x="5676900" y="2652712"/>
            <a:ext cx="533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10" name="Text Box 79"/>
          <p:cNvSpPr txBox="1">
            <a:spLocks noChangeArrowheads="1"/>
          </p:cNvSpPr>
          <p:nvPr/>
        </p:nvSpPr>
        <p:spPr bwMode="auto">
          <a:xfrm>
            <a:off x="4800600" y="4710112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5" name="Text Box 80"/>
          <p:cNvSpPr txBox="1">
            <a:spLocks noChangeArrowheads="1"/>
          </p:cNvSpPr>
          <p:nvPr/>
        </p:nvSpPr>
        <p:spPr bwMode="auto">
          <a:xfrm>
            <a:off x="8439150" y="4702175"/>
            <a:ext cx="476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49" name="Text Box 81"/>
          <p:cNvSpPr txBox="1">
            <a:spLocks noChangeArrowheads="1"/>
          </p:cNvSpPr>
          <p:nvPr/>
        </p:nvSpPr>
        <p:spPr bwMode="auto">
          <a:xfrm>
            <a:off x="6305550" y="4729162"/>
            <a:ext cx="400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7" name="Text Box 82"/>
          <p:cNvSpPr txBox="1">
            <a:spLocks noChangeArrowheads="1"/>
          </p:cNvSpPr>
          <p:nvPr/>
        </p:nvSpPr>
        <p:spPr bwMode="auto">
          <a:xfrm>
            <a:off x="5657850" y="3109912"/>
            <a:ext cx="4762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8" name="Text Box 83"/>
          <p:cNvSpPr txBox="1">
            <a:spLocks noChangeArrowheads="1"/>
          </p:cNvSpPr>
          <p:nvPr/>
        </p:nvSpPr>
        <p:spPr bwMode="auto">
          <a:xfrm>
            <a:off x="6908800" y="4729162"/>
            <a:ext cx="4254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9" name="Text Box 84"/>
          <p:cNvSpPr txBox="1">
            <a:spLocks noChangeArrowheads="1"/>
          </p:cNvSpPr>
          <p:nvPr/>
        </p:nvSpPr>
        <p:spPr bwMode="auto">
          <a:xfrm>
            <a:off x="7448550" y="3090862"/>
            <a:ext cx="5270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9933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1" lang="en-US" altLang="zh-CN" sz="3200" b="1">
              <a:solidFill>
                <a:srgbClr val="339933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60" name="Text Box 85"/>
          <p:cNvSpPr txBox="1">
            <a:spLocks noChangeArrowheads="1"/>
          </p:cNvSpPr>
          <p:nvPr/>
        </p:nvSpPr>
        <p:spPr bwMode="auto">
          <a:xfrm>
            <a:off x="4800600" y="5591503"/>
            <a:ext cx="4019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次态保持：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1" name="Object 86"/>
          <p:cNvGraphicFramePr>
            <a:graphicFrameLocks noChangeAspect="1"/>
          </p:cNvGraphicFramePr>
          <p:nvPr/>
        </p:nvGraphicFramePr>
        <p:xfrm>
          <a:off x="5728703" y="6105853"/>
          <a:ext cx="226536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89" name="Equation" r:id="rId9" imgW="862965" imgH="241300" progId="Equation.3">
                  <p:embed/>
                </p:oleObj>
              </mc:Choice>
              <mc:Fallback>
                <p:oleObj name="Equation" r:id="rId9" imgW="862965" imgH="241300" progId="Equation.3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8703" y="6105853"/>
                        <a:ext cx="226536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2" name="Group 177"/>
          <p:cNvGrpSpPr/>
          <p:nvPr/>
        </p:nvGrpSpPr>
        <p:grpSpPr bwMode="auto">
          <a:xfrm>
            <a:off x="4984750" y="2822575"/>
            <a:ext cx="3619500" cy="2624137"/>
            <a:chOff x="3056" y="1451"/>
            <a:chExt cx="2280" cy="1653"/>
          </a:xfrm>
        </p:grpSpPr>
        <p:grpSp>
          <p:nvGrpSpPr>
            <p:cNvPr id="263" name="Group 88"/>
            <p:cNvGrpSpPr/>
            <p:nvPr/>
          </p:nvGrpSpPr>
          <p:grpSpPr bwMode="auto">
            <a:xfrm>
              <a:off x="3056" y="1548"/>
              <a:ext cx="816" cy="1284"/>
              <a:chOff x="1249" y="1452"/>
              <a:chExt cx="816" cy="1284"/>
            </a:xfrm>
          </p:grpSpPr>
          <p:sp>
            <p:nvSpPr>
              <p:cNvPr id="284" name="Rectangle 89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5" name="Oval 90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" name="Line 91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" name="Line 92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8" name="Line 93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9" name="Text Box 94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90" name="Text Box 95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64" name="Group 96"/>
            <p:cNvGrpSpPr/>
            <p:nvPr/>
          </p:nvGrpSpPr>
          <p:grpSpPr bwMode="auto">
            <a:xfrm>
              <a:off x="4520" y="1536"/>
              <a:ext cx="816" cy="1284"/>
              <a:chOff x="1249" y="1452"/>
              <a:chExt cx="816" cy="1284"/>
            </a:xfrm>
          </p:grpSpPr>
          <p:sp>
            <p:nvSpPr>
              <p:cNvPr id="277" name="Rectangle 97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8" name="Oval 98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9" name="Line 99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0" name="Line 100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1" name="Line 101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2" name="Text Box 102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83" name="Text Box 103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265" name="Oval 104"/>
            <p:cNvSpPr>
              <a:spLocks noChangeArrowheads="1"/>
            </p:cNvSpPr>
            <p:nvPr/>
          </p:nvSpPr>
          <p:spPr bwMode="auto">
            <a:xfrm>
              <a:off x="4884" y="1656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" name="Line 105"/>
            <p:cNvSpPr>
              <a:spLocks noChangeShapeType="1"/>
            </p:cNvSpPr>
            <p:nvPr/>
          </p:nvSpPr>
          <p:spPr bwMode="auto">
            <a:xfrm>
              <a:off x="3444" y="1692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" name="Line 106"/>
            <p:cNvSpPr>
              <a:spLocks noChangeShapeType="1"/>
            </p:cNvSpPr>
            <p:nvPr/>
          </p:nvSpPr>
          <p:spPr bwMode="auto">
            <a:xfrm flipV="1">
              <a:off x="4392" y="1680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" name="Line 107"/>
            <p:cNvSpPr>
              <a:spLocks noChangeShapeType="1"/>
            </p:cNvSpPr>
            <p:nvPr/>
          </p:nvSpPr>
          <p:spPr bwMode="auto">
            <a:xfrm>
              <a:off x="4500" y="2796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9" name="Line 108"/>
            <p:cNvSpPr>
              <a:spLocks noChangeShapeType="1"/>
            </p:cNvSpPr>
            <p:nvPr/>
          </p:nvSpPr>
          <p:spPr bwMode="auto">
            <a:xfrm>
              <a:off x="3684" y="2820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0" name="Line 109"/>
            <p:cNvSpPr>
              <a:spLocks noChangeShapeType="1"/>
            </p:cNvSpPr>
            <p:nvPr/>
          </p:nvSpPr>
          <p:spPr bwMode="auto">
            <a:xfrm flipH="1">
              <a:off x="3888" y="1680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1" name="Line 110"/>
            <p:cNvSpPr>
              <a:spLocks noChangeShapeType="1"/>
            </p:cNvSpPr>
            <p:nvPr/>
          </p:nvSpPr>
          <p:spPr bwMode="auto">
            <a:xfrm>
              <a:off x="3972" y="1680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2" name="Oval 111"/>
            <p:cNvSpPr>
              <a:spLocks noChangeArrowheads="1"/>
            </p:cNvSpPr>
            <p:nvPr/>
          </p:nvSpPr>
          <p:spPr bwMode="auto">
            <a:xfrm>
              <a:off x="3420" y="1656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73" name="Object 112"/>
            <p:cNvGraphicFramePr>
              <a:graphicFrameLocks noChangeAspect="1"/>
            </p:cNvGraphicFramePr>
            <p:nvPr/>
          </p:nvGraphicFramePr>
          <p:xfrm>
            <a:off x="3152" y="1451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0" name="Equation" r:id="rId11" imgW="165100" imgH="241300" progId="Equation.3">
                    <p:embed/>
                  </p:oleObj>
                </mc:Choice>
                <mc:Fallback>
                  <p:oleObj name="Equation" r:id="rId11" imgW="165100" imgH="241300" progId="Equation.3">
                    <p:embed/>
                    <p:pic>
                      <p:nvPicPr>
                        <p:cNvPr id="0" name="Object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1451"/>
                          <a:ext cx="20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4" name="Object 113"/>
            <p:cNvGraphicFramePr>
              <a:graphicFrameLocks noChangeAspect="1"/>
            </p:cNvGraphicFramePr>
            <p:nvPr/>
          </p:nvGraphicFramePr>
          <p:xfrm>
            <a:off x="5048" y="1492"/>
            <a:ext cx="2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1" name="Equation" r:id="rId13" imgW="165100" imgH="203200" progId="Equation.3">
                    <p:embed/>
                  </p:oleObj>
                </mc:Choice>
                <mc:Fallback>
                  <p:oleObj name="Equation" r:id="rId13" imgW="165100" imgH="203200" progId="Equation.3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8" y="1492"/>
                          <a:ext cx="21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5" name="Object 114"/>
            <p:cNvGraphicFramePr>
              <a:graphicFrameLocks noChangeAspect="1"/>
            </p:cNvGraphicFramePr>
            <p:nvPr/>
          </p:nvGraphicFramePr>
          <p:xfrm>
            <a:off x="3261" y="2823"/>
            <a:ext cx="2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2" name="Equation" r:id="rId15" imgW="228600" imgH="215900" progId="Equation.3">
                    <p:embed/>
                  </p:oleObj>
                </mc:Choice>
                <mc:Fallback>
                  <p:oleObj name="Equation" r:id="rId15" imgW="228600" imgH="215900" progId="Equation.3">
                    <p:embed/>
                    <p:pic>
                      <p:nvPicPr>
                        <p:cNvPr id="0" name="Object 1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1" y="2823"/>
                          <a:ext cx="28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" name="Object 115"/>
            <p:cNvGraphicFramePr>
              <a:graphicFrameLocks noChangeAspect="1"/>
            </p:cNvGraphicFramePr>
            <p:nvPr/>
          </p:nvGraphicFramePr>
          <p:xfrm>
            <a:off x="4883" y="2805"/>
            <a:ext cx="298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3" name="Equation" r:id="rId17" imgW="215900" imgH="215900" progId="Equation.3">
                    <p:embed/>
                  </p:oleObj>
                </mc:Choice>
                <mc:Fallback>
                  <p:oleObj name="Equation" r:id="rId17" imgW="215900" imgH="215900" progId="Equation.3">
                    <p:embed/>
                    <p:pic>
                      <p:nvPicPr>
                        <p:cNvPr id="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83" y="2805"/>
                          <a:ext cx="298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1" name="Group 176"/>
          <p:cNvGrpSpPr/>
          <p:nvPr/>
        </p:nvGrpSpPr>
        <p:grpSpPr bwMode="auto">
          <a:xfrm>
            <a:off x="616953" y="2775618"/>
            <a:ext cx="3619500" cy="2624137"/>
            <a:chOff x="332" y="1487"/>
            <a:chExt cx="2280" cy="1653"/>
          </a:xfrm>
        </p:grpSpPr>
        <p:grpSp>
          <p:nvGrpSpPr>
            <p:cNvPr id="292" name="Group 147"/>
            <p:cNvGrpSpPr/>
            <p:nvPr/>
          </p:nvGrpSpPr>
          <p:grpSpPr bwMode="auto">
            <a:xfrm>
              <a:off x="332" y="1584"/>
              <a:ext cx="816" cy="1284"/>
              <a:chOff x="1249" y="1452"/>
              <a:chExt cx="816" cy="1284"/>
            </a:xfrm>
          </p:grpSpPr>
          <p:sp>
            <p:nvSpPr>
              <p:cNvPr id="316" name="Rectangle 148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" name="Oval 149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" name="Line 150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9" name="Line 151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0" name="Line 152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1" name="Text Box 153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22" name="Text Box 154"/>
              <p:cNvSpPr txBox="1">
                <a:spLocks noChangeArrowheads="1"/>
              </p:cNvSpPr>
              <p:nvPr/>
            </p:nvSpPr>
            <p:spPr bwMode="auto">
              <a:xfrm>
                <a:off x="1520" y="2029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293" name="Group 155"/>
            <p:cNvGrpSpPr/>
            <p:nvPr/>
          </p:nvGrpSpPr>
          <p:grpSpPr bwMode="auto">
            <a:xfrm>
              <a:off x="1796" y="1572"/>
              <a:ext cx="816" cy="1284"/>
              <a:chOff x="1249" y="1452"/>
              <a:chExt cx="816" cy="1284"/>
            </a:xfrm>
          </p:grpSpPr>
          <p:sp>
            <p:nvSpPr>
              <p:cNvPr id="306" name="Rectangle 156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" name="Oval 157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" name="Line 158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2" name="Line 159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3" name="Line 160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4" name="Text Box 161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315" name="Text Box 162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294" name="Oval 163"/>
            <p:cNvSpPr>
              <a:spLocks noChangeArrowheads="1"/>
            </p:cNvSpPr>
            <p:nvPr/>
          </p:nvSpPr>
          <p:spPr bwMode="auto">
            <a:xfrm>
              <a:off x="2160" y="1692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5" name="Line 164"/>
            <p:cNvSpPr>
              <a:spLocks noChangeShapeType="1"/>
            </p:cNvSpPr>
            <p:nvPr/>
          </p:nvSpPr>
          <p:spPr bwMode="auto">
            <a:xfrm>
              <a:off x="720" y="1728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6" name="Line 165"/>
            <p:cNvSpPr>
              <a:spLocks noChangeShapeType="1"/>
            </p:cNvSpPr>
            <p:nvPr/>
          </p:nvSpPr>
          <p:spPr bwMode="auto">
            <a:xfrm flipV="1">
              <a:off x="1668" y="1716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" name="Line 166"/>
            <p:cNvSpPr>
              <a:spLocks noChangeShapeType="1"/>
            </p:cNvSpPr>
            <p:nvPr/>
          </p:nvSpPr>
          <p:spPr bwMode="auto">
            <a:xfrm>
              <a:off x="1776" y="2832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8" name="Line 167"/>
            <p:cNvSpPr>
              <a:spLocks noChangeShapeType="1"/>
            </p:cNvSpPr>
            <p:nvPr/>
          </p:nvSpPr>
          <p:spPr bwMode="auto">
            <a:xfrm>
              <a:off x="960" y="2856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9" name="Line 168"/>
            <p:cNvSpPr>
              <a:spLocks noChangeShapeType="1"/>
            </p:cNvSpPr>
            <p:nvPr/>
          </p:nvSpPr>
          <p:spPr bwMode="auto">
            <a:xfrm flipH="1">
              <a:off x="1164" y="1716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0" name="Line 169"/>
            <p:cNvSpPr>
              <a:spLocks noChangeShapeType="1"/>
            </p:cNvSpPr>
            <p:nvPr/>
          </p:nvSpPr>
          <p:spPr bwMode="auto">
            <a:xfrm>
              <a:off x="1248" y="1716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1" name="Oval 170"/>
            <p:cNvSpPr>
              <a:spLocks noChangeArrowheads="1"/>
            </p:cNvSpPr>
            <p:nvPr/>
          </p:nvSpPr>
          <p:spPr bwMode="auto">
            <a:xfrm>
              <a:off x="696" y="1692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302" name="Object 171"/>
            <p:cNvGraphicFramePr>
              <a:graphicFrameLocks noChangeAspect="1"/>
            </p:cNvGraphicFramePr>
            <p:nvPr/>
          </p:nvGraphicFramePr>
          <p:xfrm>
            <a:off x="428" y="1487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4" name="Equation" r:id="rId19" imgW="165100" imgH="241300" progId="Equation.3">
                    <p:embed/>
                  </p:oleObj>
                </mc:Choice>
                <mc:Fallback>
                  <p:oleObj name="Equation" r:id="rId19" imgW="165100" imgH="241300" progId="Equation.3">
                    <p:embed/>
                    <p:pic>
                      <p:nvPicPr>
                        <p:cNvPr id="0" name="Object 1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" y="1487"/>
                          <a:ext cx="20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3" name="Object 172"/>
            <p:cNvGraphicFramePr>
              <a:graphicFrameLocks noChangeAspect="1"/>
            </p:cNvGraphicFramePr>
            <p:nvPr/>
          </p:nvGraphicFramePr>
          <p:xfrm>
            <a:off x="2324" y="1528"/>
            <a:ext cx="2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5" name="Equation" r:id="rId20" imgW="165100" imgH="203200" progId="Equation.3">
                    <p:embed/>
                  </p:oleObj>
                </mc:Choice>
                <mc:Fallback>
                  <p:oleObj name="Equation" r:id="rId20" imgW="165100" imgH="203200" progId="Equation.3">
                    <p:embed/>
                    <p:pic>
                      <p:nvPicPr>
                        <p:cNvPr id="0" name="Object 1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4" y="1528"/>
                          <a:ext cx="21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4" name="Object 173"/>
            <p:cNvGraphicFramePr>
              <a:graphicFrameLocks noChangeAspect="1"/>
            </p:cNvGraphicFramePr>
            <p:nvPr/>
          </p:nvGraphicFramePr>
          <p:xfrm>
            <a:off x="537" y="2859"/>
            <a:ext cx="2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6" name="Equation" r:id="rId22" imgW="228600" imgH="215900" progId="Equation.3">
                    <p:embed/>
                  </p:oleObj>
                </mc:Choice>
                <mc:Fallback>
                  <p:oleObj name="Equation" r:id="rId22" imgW="228600" imgH="215900" progId="Equation.3">
                    <p:embed/>
                    <p:pic>
                      <p:nvPicPr>
                        <p:cNvPr id="0" name="Object 1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" y="2859"/>
                          <a:ext cx="28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5" name="Object 174"/>
            <p:cNvGraphicFramePr>
              <a:graphicFrameLocks noChangeAspect="1"/>
            </p:cNvGraphicFramePr>
            <p:nvPr/>
          </p:nvGraphicFramePr>
          <p:xfrm>
            <a:off x="2158" y="2841"/>
            <a:ext cx="29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97" name="Equation" r:id="rId24" imgW="215900" imgH="215900" progId="Equation.3">
                    <p:embed/>
                  </p:oleObj>
                </mc:Choice>
                <mc:Fallback>
                  <p:oleObj name="Equation" r:id="rId24" imgW="215900" imgH="215900" progId="Equation.3">
                    <p:embed/>
                    <p:pic>
                      <p:nvPicPr>
                        <p:cNvPr id="0" name="Object 1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8" y="2841"/>
                          <a:ext cx="29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3" name="Text Box 175"/>
          <p:cNvSpPr txBox="1">
            <a:spLocks noChangeArrowheads="1"/>
          </p:cNvSpPr>
          <p:nvPr/>
        </p:nvSpPr>
        <p:spPr bwMode="auto">
          <a:xfrm>
            <a:off x="5623175" y="1225451"/>
            <a:ext cx="1543050" cy="584775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33CC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保持！</a:t>
            </a:r>
            <a:endParaRPr kumimoji="1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FF33CC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4" name="Line 179"/>
          <p:cNvSpPr>
            <a:spLocks noChangeShapeType="1"/>
          </p:cNvSpPr>
          <p:nvPr/>
        </p:nvSpPr>
        <p:spPr bwMode="auto">
          <a:xfrm>
            <a:off x="1004303" y="4993355"/>
            <a:ext cx="2381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5" name="Line 180"/>
          <p:cNvSpPr>
            <a:spLocks noChangeShapeType="1"/>
          </p:cNvSpPr>
          <p:nvPr/>
        </p:nvSpPr>
        <p:spPr bwMode="auto">
          <a:xfrm>
            <a:off x="3549066" y="4972718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6" name="Line 181"/>
          <p:cNvSpPr>
            <a:spLocks noChangeShapeType="1"/>
          </p:cNvSpPr>
          <p:nvPr/>
        </p:nvSpPr>
        <p:spPr bwMode="auto">
          <a:xfrm>
            <a:off x="5381625" y="5038725"/>
            <a:ext cx="2174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" name="Line 182"/>
          <p:cNvSpPr>
            <a:spLocks noChangeShapeType="1"/>
          </p:cNvSpPr>
          <p:nvPr/>
        </p:nvSpPr>
        <p:spPr bwMode="auto">
          <a:xfrm>
            <a:off x="7945438" y="5037137"/>
            <a:ext cx="19843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Text Box 46" descr="花束"/>
          <p:cNvSpPr txBox="1">
            <a:spLocks noChangeArrowheads="1"/>
          </p:cNvSpPr>
          <p:nvPr/>
        </p:nvSpPr>
        <p:spPr bwMode="auto">
          <a:xfrm>
            <a:off x="221149" y="588279"/>
            <a:ext cx="523316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6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二、工作原理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  <p:bldP spid="193" grpId="0"/>
      <p:bldP spid="194" grpId="0"/>
      <p:bldP spid="197" grpId="0"/>
      <p:bldP spid="200" grpId="0"/>
      <p:bldP spid="201" grpId="0"/>
      <p:bldP spid="210" grpId="0"/>
      <p:bldP spid="245" grpId="0"/>
      <p:bldP spid="249" grpId="0"/>
      <p:bldP spid="257" grpId="0"/>
      <p:bldP spid="258" grpId="0"/>
      <p:bldP spid="259" grpId="0"/>
      <p:bldP spid="260" grpId="0"/>
      <p:bldP spid="3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grpSp>
        <p:nvGrpSpPr>
          <p:cNvPr id="169" name="Group 34"/>
          <p:cNvGrpSpPr/>
          <p:nvPr/>
        </p:nvGrpSpPr>
        <p:grpSpPr bwMode="auto">
          <a:xfrm>
            <a:off x="456696" y="4483050"/>
            <a:ext cx="4000500" cy="598487"/>
            <a:chOff x="1560" y="2551"/>
            <a:chExt cx="2520" cy="377"/>
          </a:xfrm>
        </p:grpSpPr>
        <p:sp>
          <p:nvSpPr>
            <p:cNvPr id="170" name="Text Box 32"/>
            <p:cNvSpPr txBox="1">
              <a:spLocks noChangeArrowheads="1"/>
            </p:cNvSpPr>
            <p:nvPr/>
          </p:nvSpPr>
          <p:spPr bwMode="auto">
            <a:xfrm>
              <a:off x="1560" y="2563"/>
              <a:ext cx="3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71" name="Text Box 33"/>
            <p:cNvSpPr txBox="1">
              <a:spLocks noChangeArrowheads="1"/>
            </p:cNvSpPr>
            <p:nvPr/>
          </p:nvSpPr>
          <p:spPr bwMode="auto">
            <a:xfrm>
              <a:off x="3756" y="2551"/>
              <a:ext cx="3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0</a:t>
              </a:r>
              <a:endParaRPr kumimoji="1"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72" name="Group 37"/>
          <p:cNvGrpSpPr/>
          <p:nvPr/>
        </p:nvGrpSpPr>
        <p:grpSpPr bwMode="auto">
          <a:xfrm>
            <a:off x="1294896" y="2357387"/>
            <a:ext cx="2324100" cy="617538"/>
            <a:chOff x="2088" y="1212"/>
            <a:chExt cx="1464" cy="389"/>
          </a:xfrm>
        </p:grpSpPr>
        <p:sp>
          <p:nvSpPr>
            <p:cNvPr id="173" name="Text Box 35"/>
            <p:cNvSpPr txBox="1">
              <a:spLocks noChangeArrowheads="1"/>
            </p:cNvSpPr>
            <p:nvPr/>
          </p:nvSpPr>
          <p:spPr bwMode="auto">
            <a:xfrm>
              <a:off x="2088" y="1212"/>
              <a:ext cx="3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74" name="Text Box 36"/>
            <p:cNvSpPr txBox="1">
              <a:spLocks noChangeArrowheads="1"/>
            </p:cNvSpPr>
            <p:nvPr/>
          </p:nvSpPr>
          <p:spPr bwMode="auto">
            <a:xfrm>
              <a:off x="3228" y="1236"/>
              <a:ext cx="32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b="1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endParaRPr kumimoji="1"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175" name="Text Box 38"/>
          <p:cNvSpPr txBox="1">
            <a:spLocks noChangeArrowheads="1"/>
          </p:cNvSpPr>
          <p:nvPr/>
        </p:nvSpPr>
        <p:spPr bwMode="auto">
          <a:xfrm>
            <a:off x="1025021" y="5425737"/>
            <a:ext cx="30289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输出：</a:t>
            </a:r>
            <a:r>
              <a:rPr kumimoji="1"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全是</a:t>
            </a: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kumimoji="1"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Rectangle 40"/>
              <p:cNvSpPr>
                <a:spLocks noChangeArrowheads="1"/>
              </p:cNvSpPr>
              <p:nvPr/>
            </p:nvSpPr>
            <p:spPr bwMode="auto">
              <a:xfrm>
                <a:off x="5333274" y="2513156"/>
                <a:ext cx="3392629" cy="2678554"/>
              </a:xfrm>
              <a:prstGeom prst="rect">
                <a:avLst/>
              </a:prstGeom>
              <a:noFill/>
              <a:ln w="38100">
                <a:solidFill>
                  <a:srgbClr val="00206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13335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5240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7145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19050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3622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8194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276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7338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lvl="0" algn="just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注意：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当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>
                            <a:latin typeface="Cambria Math" panose="02040503050406030204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800" b="1" i="1">
                        <a:latin typeface="Cambria Math" panose="02040503050406030204" pitchFamily="18" charset="0"/>
                      </a:rPr>
                      <m:t>  </m:t>
                    </m:r>
                    <m:acc>
                      <m:accPr>
                        <m:chr m:val="̅"/>
                        <m:ctrlPr>
                          <a:rPr lang="zh-CN" altLang="en-US" sz="2800" b="1" i="1">
                            <a:latin typeface="Cambria Math" panose="02040503050406030204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zh-CN" altLang="en-US" sz="2800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acc>
                  </m:oMath>
                </a14:m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同时由</a:t>
                </a: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变为</a:t>
                </a: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时，翻转快的门输出变为</a:t>
                </a: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，另一个不得翻转。因此，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该状态为不定状态</a:t>
                </a:r>
                <a:endPara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76" name="Rectangle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3274" y="2513156"/>
                <a:ext cx="3392629" cy="2678554"/>
              </a:xfrm>
              <a:prstGeom prst="rect">
                <a:avLst/>
              </a:prstGeom>
              <a:blipFill rotWithShape="1">
                <a:blip r:embed="rId2"/>
                <a:stretch>
                  <a:fillRect l="-578" t="-728" r="-2759" b="-689"/>
                </a:stretch>
              </a:blipFill>
              <a:ln w="38100">
                <a:solidFill>
                  <a:srgbClr val="00206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FFCC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7" name="Group 113"/>
          <p:cNvGrpSpPr/>
          <p:nvPr/>
        </p:nvGrpSpPr>
        <p:grpSpPr bwMode="auto">
          <a:xfrm>
            <a:off x="621796" y="2584400"/>
            <a:ext cx="3619500" cy="2624137"/>
            <a:chOff x="272" y="731"/>
            <a:chExt cx="2280" cy="1653"/>
          </a:xfrm>
        </p:grpSpPr>
        <p:grpSp>
          <p:nvGrpSpPr>
            <p:cNvPr id="178" name="Group 42"/>
            <p:cNvGrpSpPr/>
            <p:nvPr/>
          </p:nvGrpSpPr>
          <p:grpSpPr bwMode="auto">
            <a:xfrm>
              <a:off x="272" y="828"/>
              <a:ext cx="816" cy="1284"/>
              <a:chOff x="1249" y="1452"/>
              <a:chExt cx="816" cy="1284"/>
            </a:xfrm>
          </p:grpSpPr>
          <p:sp>
            <p:nvSpPr>
              <p:cNvPr id="216" name="Rectangle 43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7" name="Oval 44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8" name="Line 45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9" name="Line 46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0" name="Line 47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1" name="Text Box 48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22" name="Text Box 49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grpSp>
          <p:nvGrpSpPr>
            <p:cNvPr id="179" name="Group 50"/>
            <p:cNvGrpSpPr/>
            <p:nvPr/>
          </p:nvGrpSpPr>
          <p:grpSpPr bwMode="auto">
            <a:xfrm>
              <a:off x="1736" y="816"/>
              <a:ext cx="816" cy="1284"/>
              <a:chOff x="1249" y="1452"/>
              <a:chExt cx="816" cy="1284"/>
            </a:xfrm>
          </p:grpSpPr>
          <p:sp>
            <p:nvSpPr>
              <p:cNvPr id="208" name="Rectangle 51"/>
              <p:cNvSpPr>
                <a:spLocks noChangeArrowheads="1"/>
              </p:cNvSpPr>
              <p:nvPr/>
            </p:nvSpPr>
            <p:spPr bwMode="auto">
              <a:xfrm>
                <a:off x="1249" y="1872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" name="Oval 52"/>
              <p:cNvSpPr>
                <a:spLocks noChangeArrowheads="1"/>
              </p:cNvSpPr>
              <p:nvPr/>
            </p:nvSpPr>
            <p:spPr bwMode="auto">
              <a:xfrm>
                <a:off x="1597" y="1776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1" name="Line 53"/>
              <p:cNvSpPr>
                <a:spLocks noChangeShapeType="1"/>
              </p:cNvSpPr>
              <p:nvPr/>
            </p:nvSpPr>
            <p:spPr bwMode="auto">
              <a:xfrm>
                <a:off x="1440" y="2388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2" name="Line 54"/>
              <p:cNvSpPr>
                <a:spLocks noChangeShapeType="1"/>
              </p:cNvSpPr>
              <p:nvPr/>
            </p:nvSpPr>
            <p:spPr bwMode="auto">
              <a:xfrm>
                <a:off x="1880" y="2400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3" name="Line 55"/>
              <p:cNvSpPr>
                <a:spLocks noChangeShapeType="1"/>
              </p:cNvSpPr>
              <p:nvPr/>
            </p:nvSpPr>
            <p:spPr bwMode="auto">
              <a:xfrm>
                <a:off x="1644" y="1452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4" name="Text Box 56"/>
              <p:cNvSpPr txBox="1">
                <a:spLocks noChangeArrowheads="1"/>
              </p:cNvSpPr>
              <p:nvPr/>
            </p:nvSpPr>
            <p:spPr bwMode="auto">
              <a:xfrm>
                <a:off x="1316" y="1836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215" name="Text Box 57"/>
              <p:cNvSpPr txBox="1">
                <a:spLocks noChangeArrowheads="1"/>
              </p:cNvSpPr>
              <p:nvPr/>
            </p:nvSpPr>
            <p:spPr bwMode="auto">
              <a:xfrm>
                <a:off x="1520" y="2028"/>
                <a:ext cx="408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  <a:endPara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80" name="Oval 58"/>
            <p:cNvSpPr>
              <a:spLocks noChangeArrowheads="1"/>
            </p:cNvSpPr>
            <p:nvPr/>
          </p:nvSpPr>
          <p:spPr bwMode="auto">
            <a:xfrm>
              <a:off x="2100" y="936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1" name="Line 59"/>
            <p:cNvSpPr>
              <a:spLocks noChangeShapeType="1"/>
            </p:cNvSpPr>
            <p:nvPr/>
          </p:nvSpPr>
          <p:spPr bwMode="auto">
            <a:xfrm>
              <a:off x="660" y="972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2" name="Line 60"/>
            <p:cNvSpPr>
              <a:spLocks noChangeShapeType="1"/>
            </p:cNvSpPr>
            <p:nvPr/>
          </p:nvSpPr>
          <p:spPr bwMode="auto">
            <a:xfrm flipV="1">
              <a:off x="1608" y="960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3" name="Line 61"/>
            <p:cNvSpPr>
              <a:spLocks noChangeShapeType="1"/>
            </p:cNvSpPr>
            <p:nvPr/>
          </p:nvSpPr>
          <p:spPr bwMode="auto">
            <a:xfrm>
              <a:off x="1716" y="2076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" name="Line 62"/>
            <p:cNvSpPr>
              <a:spLocks noChangeShapeType="1"/>
            </p:cNvSpPr>
            <p:nvPr/>
          </p:nvSpPr>
          <p:spPr bwMode="auto">
            <a:xfrm>
              <a:off x="900" y="2100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9" name="Line 63"/>
            <p:cNvSpPr>
              <a:spLocks noChangeShapeType="1"/>
            </p:cNvSpPr>
            <p:nvPr/>
          </p:nvSpPr>
          <p:spPr bwMode="auto">
            <a:xfrm flipH="1">
              <a:off x="1104" y="960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2" name="Line 64"/>
            <p:cNvSpPr>
              <a:spLocks noChangeShapeType="1"/>
            </p:cNvSpPr>
            <p:nvPr/>
          </p:nvSpPr>
          <p:spPr bwMode="auto">
            <a:xfrm>
              <a:off x="1188" y="960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3" name="Oval 65"/>
            <p:cNvSpPr>
              <a:spLocks noChangeArrowheads="1"/>
            </p:cNvSpPr>
            <p:nvPr/>
          </p:nvSpPr>
          <p:spPr bwMode="auto">
            <a:xfrm>
              <a:off x="636" y="936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04" name="Object 66"/>
            <p:cNvGraphicFramePr>
              <a:graphicFrameLocks noChangeAspect="1"/>
            </p:cNvGraphicFramePr>
            <p:nvPr/>
          </p:nvGraphicFramePr>
          <p:xfrm>
            <a:off x="368" y="731"/>
            <a:ext cx="201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8" name="Equation" r:id="rId3" imgW="165100" imgH="241300" progId="Equation.3">
                    <p:embed/>
                  </p:oleObj>
                </mc:Choice>
                <mc:Fallback>
                  <p:oleObj name="Equation" r:id="rId3" imgW="165100" imgH="241300" progId="Equation.3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" y="731"/>
                          <a:ext cx="201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" name="Object 67"/>
            <p:cNvGraphicFramePr>
              <a:graphicFrameLocks noChangeAspect="1"/>
            </p:cNvGraphicFramePr>
            <p:nvPr/>
          </p:nvGraphicFramePr>
          <p:xfrm>
            <a:off x="2264" y="772"/>
            <a:ext cx="21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19" name="Equation" r:id="rId5" imgW="165100" imgH="203200" progId="Equation.3">
                    <p:embed/>
                  </p:oleObj>
                </mc:Choice>
                <mc:Fallback>
                  <p:oleObj name="Equation" r:id="rId5" imgW="165100" imgH="203200" progId="Equation.3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4" y="772"/>
                          <a:ext cx="21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6" name="Object 68"/>
            <p:cNvGraphicFramePr>
              <a:graphicFrameLocks noChangeAspect="1"/>
            </p:cNvGraphicFramePr>
            <p:nvPr/>
          </p:nvGraphicFramePr>
          <p:xfrm>
            <a:off x="477" y="2103"/>
            <a:ext cx="28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0" name="Equation" r:id="rId7" imgW="228600" imgH="215900" progId="Equation.3">
                    <p:embed/>
                  </p:oleObj>
                </mc:Choice>
                <mc:Fallback>
                  <p:oleObj name="Equation" r:id="rId7" imgW="228600" imgH="215900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" y="2103"/>
                          <a:ext cx="287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" name="Object 69"/>
            <p:cNvGraphicFramePr>
              <a:graphicFrameLocks noChangeAspect="1"/>
            </p:cNvGraphicFramePr>
            <p:nvPr/>
          </p:nvGraphicFramePr>
          <p:xfrm>
            <a:off x="2099" y="2085"/>
            <a:ext cx="298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1" name="Equation" r:id="rId9" imgW="215900" imgH="215900" progId="Equation.3">
                    <p:embed/>
                  </p:oleObj>
                </mc:Choice>
                <mc:Fallback>
                  <p:oleObj name="Equation" r:id="rId9" imgW="215900" imgH="21590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9" y="2085"/>
                          <a:ext cx="298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4" name="Line 119"/>
          <p:cNvSpPr>
            <a:spLocks noChangeShapeType="1"/>
          </p:cNvSpPr>
          <p:nvPr/>
        </p:nvSpPr>
        <p:spPr bwMode="auto">
          <a:xfrm>
            <a:off x="1025021" y="4784675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6" name="Line 120"/>
          <p:cNvSpPr>
            <a:spLocks noChangeShapeType="1"/>
          </p:cNvSpPr>
          <p:nvPr/>
        </p:nvSpPr>
        <p:spPr bwMode="auto">
          <a:xfrm>
            <a:off x="3561846" y="4776737"/>
            <a:ext cx="219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9" name="Text Box 1028"/>
          <p:cNvSpPr txBox="1">
            <a:spLocks noChangeArrowheads="1"/>
          </p:cNvSpPr>
          <p:nvPr/>
        </p:nvSpPr>
        <p:spPr bwMode="auto">
          <a:xfrm>
            <a:off x="587533" y="1913446"/>
            <a:ext cx="372706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                           时</a:t>
            </a:r>
            <a:endParaRPr kumimoji="1"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0" name="矩形 329"/>
              <p:cNvSpPr/>
              <p:nvPr/>
            </p:nvSpPr>
            <p:spPr>
              <a:xfrm>
                <a:off x="1321223" y="1955823"/>
                <a:ext cx="2587888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400" b="1" i="1" smtClean="0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，</m:t>
                      </m:r>
                      <m:r>
                        <m:rPr>
                          <m:nor/>
                        </m:rPr>
                        <a:rPr lang="zh-CN" altLang="en-US" sz="2400" b="1" i="1">
                          <a:latin typeface="Cambria Math" panose="02040503050406030204" pitchFamily="18" charset="0"/>
                        </a:rPr>
                        <m:t>      </m:t>
                      </m:r>
                      <m:acc>
                        <m:accPr>
                          <m:chr m:val="̅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30" name="矩形 3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1223" y="1955823"/>
                <a:ext cx="2587888" cy="462434"/>
              </a:xfrm>
              <a:prstGeom prst="rect">
                <a:avLst/>
              </a:prstGeom>
              <a:blipFill rotWithShape="1">
                <a:blip r:embed="rId11"/>
                <a:stretch>
                  <a:fillRect l="-16" t="-5" r="2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 Box 46" descr="花束"/>
          <p:cNvSpPr txBox="1">
            <a:spLocks noChangeArrowheads="1"/>
          </p:cNvSpPr>
          <p:nvPr/>
        </p:nvSpPr>
        <p:spPr bwMode="auto">
          <a:xfrm>
            <a:off x="221149" y="773107"/>
            <a:ext cx="5233168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1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二、工作原理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76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5" y="620964"/>
            <a:ext cx="70971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三、逻辑功能的描述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1185884"/>
            <a:ext cx="8422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状态转移真值表（功能表）</a:t>
            </a:r>
            <a:endParaRPr lang="en-US" altLang="zh-CN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反映触发器状态变化与输入之间的关系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" name="Rectangle 4"/>
          <p:cNvSpPr>
            <a:spLocks noChangeArrowheads="1"/>
          </p:cNvSpPr>
          <p:nvPr/>
        </p:nvSpPr>
        <p:spPr bwMode="auto">
          <a:xfrm>
            <a:off x="482632" y="2118177"/>
            <a:ext cx="4762842" cy="5208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b="1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zh-CN" altLang="en-US" dirty="0">
                <a:solidFill>
                  <a:srgbClr val="C00000"/>
                </a:solidFill>
              </a:rPr>
              <a:t>基本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en-US" altLang="zh-CN" i="1" dirty="0">
                <a:solidFill>
                  <a:srgbClr val="C00000"/>
                </a:solidFill>
              </a:rPr>
              <a:t>S</a:t>
            </a:r>
            <a:r>
              <a:rPr lang="zh-CN" altLang="en-US" dirty="0">
                <a:solidFill>
                  <a:srgbClr val="C00000"/>
                </a:solidFill>
              </a:rPr>
              <a:t>触发器的状态转移真值表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85" name="Line 83"/>
          <p:cNvSpPr>
            <a:spLocks noChangeShapeType="1"/>
          </p:cNvSpPr>
          <p:nvPr/>
        </p:nvSpPr>
        <p:spPr bwMode="auto">
          <a:xfrm>
            <a:off x="9054463" y="1932965"/>
            <a:ext cx="0" cy="517525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6" name="Line 90"/>
          <p:cNvSpPr>
            <a:spLocks noChangeShapeType="1"/>
          </p:cNvSpPr>
          <p:nvPr/>
        </p:nvSpPr>
        <p:spPr bwMode="auto">
          <a:xfrm>
            <a:off x="9054463" y="2450490"/>
            <a:ext cx="0" cy="2055813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5581" y="2630452"/>
            <a:ext cx="5496944" cy="4160400"/>
            <a:chOff x="151334" y="2395949"/>
            <a:chExt cx="5205284" cy="3737967"/>
          </a:xfrm>
        </p:grpSpPr>
        <p:pic>
          <p:nvPicPr>
            <p:cNvPr id="83" name="Picture 7" descr="B5-2-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334" y="2395949"/>
              <a:ext cx="5205284" cy="37379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9608" y="3229438"/>
              <a:ext cx="276658" cy="276658"/>
            </a:xfrm>
            <a:prstGeom prst="rect">
              <a:avLst/>
            </a:prstGeom>
          </p:spPr>
        </p:pic>
        <p:pic>
          <p:nvPicPr>
            <p:cNvPr id="115" name="图片 1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9608" y="3597107"/>
              <a:ext cx="276658" cy="276658"/>
            </a:xfrm>
            <a:prstGeom prst="rect">
              <a:avLst/>
            </a:prstGeom>
          </p:spPr>
        </p:pic>
      </p:grpSp>
      <p:sp>
        <p:nvSpPr>
          <p:cNvPr id="131" name="Text Box 46"/>
          <p:cNvSpPr txBox="1">
            <a:spLocks noChangeArrowheads="1"/>
          </p:cNvSpPr>
          <p:nvPr/>
        </p:nvSpPr>
        <p:spPr bwMode="auto">
          <a:xfrm>
            <a:off x="6058791" y="2860299"/>
            <a:ext cx="24603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kumimoji="1"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触发器的简化功能表</a:t>
            </a:r>
            <a:endParaRPr kumimoji="1"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32" name="Group 47"/>
          <p:cNvGrpSpPr/>
          <p:nvPr/>
        </p:nvGrpSpPr>
        <p:grpSpPr bwMode="auto">
          <a:xfrm>
            <a:off x="5758813" y="3735387"/>
            <a:ext cx="3295650" cy="2049462"/>
            <a:chOff x="3420" y="624"/>
            <a:chExt cx="2076" cy="1348"/>
          </a:xfrm>
        </p:grpSpPr>
        <p:sp>
          <p:nvSpPr>
            <p:cNvPr id="133" name="Rectangle 48"/>
            <p:cNvSpPr>
              <a:spLocks noChangeArrowheads="1"/>
            </p:cNvSpPr>
            <p:nvPr/>
          </p:nvSpPr>
          <p:spPr bwMode="auto">
            <a:xfrm>
              <a:off x="4206" y="624"/>
              <a:ext cx="129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34" name="Object 49"/>
            <p:cNvGraphicFramePr>
              <a:graphicFrameLocks noChangeAspect="1"/>
            </p:cNvGraphicFramePr>
            <p:nvPr/>
          </p:nvGraphicFramePr>
          <p:xfrm>
            <a:off x="4921" y="625"/>
            <a:ext cx="280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0" name="Equation" r:id="rId5" imgW="177800" imgH="228600" progId="Equation.3">
                    <p:embed/>
                  </p:oleObj>
                </mc:Choice>
                <mc:Fallback>
                  <p:oleObj name="Equation" r:id="rId5" imgW="177800" imgH="2286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625"/>
                          <a:ext cx="280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5" name="Rectangle 50"/>
            <p:cNvSpPr>
              <a:spLocks noChangeArrowheads="1"/>
            </p:cNvSpPr>
            <p:nvPr/>
          </p:nvSpPr>
          <p:spPr bwMode="auto">
            <a:xfrm>
              <a:off x="4206" y="950"/>
              <a:ext cx="1290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不定状态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0      1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1      0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lvl="0"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b="1" kern="0" dirty="0">
                  <a:solidFill>
                    <a:srgbClr val="000000"/>
                  </a:solidFill>
                  <a:ea typeface="楷体_GB2312" pitchFamily="49" charset="-122"/>
                </a:rPr>
                <a:t>保持原状态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36" name="Rectangle 51"/>
            <p:cNvSpPr>
              <a:spLocks noChangeArrowheads="1"/>
            </p:cNvSpPr>
            <p:nvPr/>
          </p:nvSpPr>
          <p:spPr bwMode="auto">
            <a:xfrm>
              <a:off x="3420" y="950"/>
              <a:ext cx="786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7" name="Rectangle 52"/>
            <p:cNvSpPr>
              <a:spLocks noChangeArrowheads="1"/>
            </p:cNvSpPr>
            <p:nvPr/>
          </p:nvSpPr>
          <p:spPr bwMode="auto">
            <a:xfrm>
              <a:off x="3420" y="624"/>
              <a:ext cx="78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S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1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8" name="Line 53"/>
            <p:cNvSpPr>
              <a:spLocks noChangeShapeType="1"/>
            </p:cNvSpPr>
            <p:nvPr/>
          </p:nvSpPr>
          <p:spPr bwMode="auto">
            <a:xfrm>
              <a:off x="3420" y="624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39" name="Line 54"/>
            <p:cNvSpPr>
              <a:spLocks noChangeShapeType="1"/>
            </p:cNvSpPr>
            <p:nvPr/>
          </p:nvSpPr>
          <p:spPr bwMode="auto">
            <a:xfrm>
              <a:off x="3420" y="950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0" name="Line 55"/>
            <p:cNvSpPr>
              <a:spLocks noChangeShapeType="1"/>
            </p:cNvSpPr>
            <p:nvPr/>
          </p:nvSpPr>
          <p:spPr bwMode="auto">
            <a:xfrm>
              <a:off x="3420" y="1972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1" name="Line 56"/>
            <p:cNvSpPr>
              <a:spLocks noChangeShapeType="1"/>
            </p:cNvSpPr>
            <p:nvPr/>
          </p:nvSpPr>
          <p:spPr bwMode="auto">
            <a:xfrm>
              <a:off x="4206" y="624"/>
              <a:ext cx="0" cy="13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2" name="Line 57"/>
            <p:cNvSpPr>
              <a:spLocks noChangeShapeType="1"/>
            </p:cNvSpPr>
            <p:nvPr/>
          </p:nvSpPr>
          <p:spPr bwMode="auto">
            <a:xfrm>
              <a:off x="3569" y="664"/>
              <a:ext cx="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43" name="Line 58"/>
            <p:cNvSpPr>
              <a:spLocks noChangeShapeType="1"/>
            </p:cNvSpPr>
            <p:nvPr/>
          </p:nvSpPr>
          <p:spPr bwMode="auto">
            <a:xfrm>
              <a:off x="3860" y="682"/>
              <a:ext cx="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131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2" name="文本框 81"/>
          <p:cNvSpPr txBox="1"/>
          <p:nvPr/>
        </p:nvSpPr>
        <p:spPr>
          <a:xfrm>
            <a:off x="0" y="1185884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用逻辑函数描述触发器的功能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79109" y="1716926"/>
            <a:ext cx="4380696" cy="4936202"/>
            <a:chOff x="633192" y="1998166"/>
            <a:chExt cx="3190875" cy="4276326"/>
          </a:xfrm>
        </p:grpSpPr>
        <p:grpSp>
          <p:nvGrpSpPr>
            <p:cNvPr id="3" name="组合 2"/>
            <p:cNvGrpSpPr/>
            <p:nvPr/>
          </p:nvGrpSpPr>
          <p:grpSpPr>
            <a:xfrm>
              <a:off x="633192" y="2683567"/>
              <a:ext cx="3190875" cy="3590925"/>
              <a:chOff x="633192" y="2683567"/>
              <a:chExt cx="3190875" cy="3590925"/>
            </a:xfrm>
          </p:grpSpPr>
          <p:pic>
            <p:nvPicPr>
              <p:cNvPr id="2" name="图片 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3192" y="2683567"/>
                <a:ext cx="3190875" cy="3590925"/>
              </a:xfrm>
              <a:prstGeom prst="rect">
                <a:avLst/>
              </a:prstGeom>
            </p:spPr>
          </p:pic>
          <p:pic>
            <p:nvPicPr>
              <p:cNvPr id="84" name="图片 8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4619" y="3429000"/>
                <a:ext cx="276658" cy="276658"/>
              </a:xfrm>
              <a:prstGeom prst="rect">
                <a:avLst/>
              </a:prstGeom>
            </p:spPr>
          </p:pic>
          <p:pic>
            <p:nvPicPr>
              <p:cNvPr id="85" name="图片 8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4619" y="3833363"/>
                <a:ext cx="276658" cy="276658"/>
              </a:xfrm>
              <a:prstGeom prst="rect">
                <a:avLst/>
              </a:prstGeom>
            </p:spPr>
          </p:pic>
        </p:grpSp>
        <p:sp>
          <p:nvSpPr>
            <p:cNvPr id="4" name="文本框 3"/>
            <p:cNvSpPr txBox="1"/>
            <p:nvPr/>
          </p:nvSpPr>
          <p:spPr>
            <a:xfrm>
              <a:off x="950605" y="1998166"/>
              <a:ext cx="2441355" cy="355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基本</a:t>
              </a:r>
              <a:r>
                <a:rPr lang="en-US" altLang="zh-CN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R-S</a:t>
              </a:r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触发器状态转移表</a:t>
              </a:r>
              <a:endPara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2909454" y="2458817"/>
              <a:ext cx="0" cy="27125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>
              <a:off x="654338" y="2431837"/>
              <a:ext cx="0" cy="27125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>
              <a:off x="3810212" y="2458088"/>
              <a:ext cx="0" cy="27125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1132949" y="2367411"/>
              <a:ext cx="17237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B56F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     入</a:t>
              </a:r>
              <a:endParaRPr lang="zh-CN" altLang="en-US" sz="20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3037734" y="2338733"/>
              <a:ext cx="766260" cy="346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B56F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 出</a:t>
              </a:r>
              <a:endParaRPr lang="zh-CN" altLang="en-US" sz="20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508" y="4362763"/>
            <a:ext cx="3437839" cy="15312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sp>
        <p:nvSpPr>
          <p:cNvPr id="99" name="AutoShape 11"/>
          <p:cNvSpPr>
            <a:spLocks noChangeArrowheads="1"/>
          </p:cNvSpPr>
          <p:nvPr/>
        </p:nvSpPr>
        <p:spPr bwMode="auto">
          <a:xfrm>
            <a:off x="6696427" y="5961830"/>
            <a:ext cx="2209800" cy="838200"/>
          </a:xfrm>
          <a:prstGeom prst="wedgeRectCallout">
            <a:avLst>
              <a:gd name="adj1" fmla="val -64508"/>
              <a:gd name="adj2" fmla="val -72912"/>
            </a:avLst>
          </a:prstGeom>
          <a:solidFill>
            <a:srgbClr val="FFFF66"/>
          </a:solidFill>
          <a:ln w="57150">
            <a:solidFill>
              <a:srgbClr val="CC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latin typeface="Times New Roman" panose="02020603050405020304" pitchFamily="18" charset="0"/>
              </a:rPr>
              <a:t>约束条件：不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kumimoji="1" lang="zh-CN" altLang="en-US" sz="2400" b="1" dirty="0">
                <a:latin typeface="Times New Roman" panose="02020603050405020304" pitchFamily="18" charset="0"/>
              </a:rPr>
              <a:t>能同时为零</a:t>
            </a:r>
            <a:endParaRPr kumimoji="1"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00" name="Text Box 46" descr="花束"/>
          <p:cNvSpPr txBox="1">
            <a:spLocks noChangeArrowheads="1"/>
          </p:cNvSpPr>
          <p:nvPr/>
        </p:nvSpPr>
        <p:spPr bwMode="auto">
          <a:xfrm>
            <a:off x="191805" y="620964"/>
            <a:ext cx="70971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5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三、逻辑功能的描述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graphicFrame>
        <p:nvGraphicFramePr>
          <p:cNvPr id="111" name="Group 4"/>
          <p:cNvGraphicFramePr>
            <a:graphicFrameLocks noGrp="1"/>
          </p:cNvGraphicFramePr>
          <p:nvPr/>
        </p:nvGraphicFramePr>
        <p:xfrm>
          <a:off x="5546176" y="2538980"/>
          <a:ext cx="2456644" cy="1247720"/>
        </p:xfrm>
        <a:graphic>
          <a:graphicData uri="http://schemas.openxmlformats.org/drawingml/2006/table">
            <a:tbl>
              <a:tblPr/>
              <a:tblGrid>
                <a:gridCol w="614161"/>
                <a:gridCol w="614161"/>
                <a:gridCol w="614161"/>
                <a:gridCol w="614161"/>
              </a:tblGrid>
              <a:tr h="623860"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×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3860"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×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0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kumimoji="1" sz="2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隶书" panose="02010509060101010101" charset="-122"/>
                        </a:defRPr>
                      </a:lvl1pPr>
                      <a:lvl2pPr marL="742950" indent="-28575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rgbClr val="006600"/>
                        </a:buClr>
                        <a:buSzPct val="55000"/>
                        <a:buFont typeface="Wingdings" panose="05000000000000000000" pitchFamily="2" charset="2"/>
                        <a:defRPr kumimoji="1" sz="24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kumimoji="1" sz="20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algn="l" defTabSz="914400" rtl="0" eaLnBrk="0" latinLnBrk="0" hangingPunct="0">
                        <a:lnSpc>
                          <a:spcPct val="120000"/>
                        </a:lnSpc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 kumimoji="1" sz="18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2000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隶书" panose="02010509060101010101" charset="-122"/>
                        </a:rPr>
                        <a:t>1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隶书" panose="0201050906010101010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4965181" y="1818615"/>
            <a:ext cx="3031997" cy="1844844"/>
            <a:chOff x="4965181" y="1818615"/>
            <a:chExt cx="3031997" cy="1844844"/>
          </a:xfrm>
        </p:grpSpPr>
        <p:sp>
          <p:nvSpPr>
            <p:cNvPr id="112" name="Line 21"/>
            <p:cNvSpPr>
              <a:spLocks noChangeShapeType="1"/>
            </p:cNvSpPr>
            <p:nvPr/>
          </p:nvSpPr>
          <p:spPr bwMode="auto">
            <a:xfrm flipH="1" flipV="1">
              <a:off x="5015646" y="2027355"/>
              <a:ext cx="532730" cy="4998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5033811" y="1818615"/>
                  <a:ext cx="69325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defTabSz="914400"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000" b="1" i="1" smtClean="0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0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en-US" sz="20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0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0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13" name="Text 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33811" y="1818615"/>
                  <a:ext cx="693251" cy="400110"/>
                </a:xfrm>
                <a:prstGeom prst="rect">
                  <a:avLst/>
                </a:prstGeom>
                <a:blipFill rotWithShape="1">
                  <a:blip r:embed="rId6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" name="Text Box 23"/>
            <p:cNvSpPr txBox="1">
              <a:spLocks noChangeArrowheads="1"/>
            </p:cNvSpPr>
            <p:nvPr/>
          </p:nvSpPr>
          <p:spPr bwMode="auto">
            <a:xfrm>
              <a:off x="5588121" y="2098352"/>
              <a:ext cx="2409057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00   01   11   10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5" name="Text Box 24"/>
            <p:cNvSpPr txBox="1">
              <a:spLocks noChangeArrowheads="1"/>
            </p:cNvSpPr>
            <p:nvPr/>
          </p:nvSpPr>
          <p:spPr bwMode="auto">
            <a:xfrm>
              <a:off x="5185410" y="2506732"/>
              <a:ext cx="364202" cy="1156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  <a:p>
              <a:pPr defTabSz="914400" eaLnBrk="1" fontAlgn="base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16" name="Object 25"/>
            <p:cNvGraphicFramePr>
              <a:graphicFrameLocks noChangeAspect="1"/>
            </p:cNvGraphicFramePr>
            <p:nvPr/>
          </p:nvGraphicFramePr>
          <p:xfrm>
            <a:off x="4965181" y="2216028"/>
            <a:ext cx="399380" cy="4228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8" name="Equation" r:id="rId7" imgW="215900" imgH="228600" progId="Equation.3">
                    <p:embed/>
                  </p:oleObj>
                </mc:Choice>
                <mc:Fallback>
                  <p:oleObj name="Equation" r:id="rId7" imgW="215900" imgH="2286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5181" y="2216028"/>
                          <a:ext cx="399380" cy="4228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7" name="Object 26"/>
          <p:cNvGraphicFramePr>
            <a:graphicFrameLocks noChangeAspect="1"/>
          </p:cNvGraphicFramePr>
          <p:nvPr/>
        </p:nvGraphicFramePr>
        <p:xfrm>
          <a:off x="6129020" y="3773805"/>
          <a:ext cx="1050290" cy="6178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Equation" r:id="rId9" imgW="304800" imgH="228600" progId="Equation.3">
                  <p:embed/>
                </p:oleObj>
              </mc:Choice>
              <mc:Fallback>
                <p:oleObj name="Equation" r:id="rId9" imgW="30480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020" y="3773805"/>
                        <a:ext cx="1050290" cy="6178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6897010" y="3228532"/>
            <a:ext cx="1092461" cy="477964"/>
          </a:xfrm>
          <a:prstGeom prst="rect">
            <a:avLst/>
          </a:prstGeom>
          <a:noFill/>
          <a:ln w="41275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右中括号 13"/>
          <p:cNvSpPr/>
          <p:nvPr/>
        </p:nvSpPr>
        <p:spPr>
          <a:xfrm>
            <a:off x="5464422" y="2586344"/>
            <a:ext cx="532730" cy="1158717"/>
          </a:xfrm>
          <a:prstGeom prst="rightBracket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左中括号 14"/>
          <p:cNvSpPr/>
          <p:nvPr/>
        </p:nvSpPr>
        <p:spPr>
          <a:xfrm>
            <a:off x="7599056" y="2599677"/>
            <a:ext cx="532730" cy="1138116"/>
          </a:xfrm>
          <a:prstGeom prst="leftBracket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2" name="文本框 81"/>
          <p:cNvSpPr txBox="1"/>
          <p:nvPr/>
        </p:nvSpPr>
        <p:spPr>
          <a:xfrm>
            <a:off x="0" y="1185884"/>
            <a:ext cx="6837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状态转移图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用图形来描述触发器的功能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4" name="Group 51"/>
          <p:cNvGrpSpPr/>
          <p:nvPr/>
        </p:nvGrpSpPr>
        <p:grpSpPr bwMode="auto">
          <a:xfrm>
            <a:off x="5616567" y="4154459"/>
            <a:ext cx="2114550" cy="498475"/>
            <a:chOff x="1445" y="3174"/>
            <a:chExt cx="1332" cy="314"/>
          </a:xfrm>
        </p:grpSpPr>
        <p:sp>
          <p:nvSpPr>
            <p:cNvPr id="35" name="Oval 40"/>
            <p:cNvSpPr>
              <a:spLocks noChangeArrowheads="1"/>
            </p:cNvSpPr>
            <p:nvPr/>
          </p:nvSpPr>
          <p:spPr bwMode="auto">
            <a:xfrm>
              <a:off x="1445" y="3174"/>
              <a:ext cx="311" cy="314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0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36" name="Oval 41"/>
            <p:cNvSpPr>
              <a:spLocks noChangeArrowheads="1"/>
            </p:cNvSpPr>
            <p:nvPr/>
          </p:nvSpPr>
          <p:spPr bwMode="auto">
            <a:xfrm>
              <a:off x="2467" y="3174"/>
              <a:ext cx="310" cy="314"/>
            </a:xfrm>
            <a:prstGeom prst="ellipse">
              <a:avLst/>
            </a:prstGeom>
            <a:noFill/>
            <a:ln w="19050">
              <a:solidFill>
                <a:srgbClr val="FF66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7" name="Group 52"/>
          <p:cNvGrpSpPr/>
          <p:nvPr/>
        </p:nvGrpSpPr>
        <p:grpSpPr bwMode="auto">
          <a:xfrm>
            <a:off x="5648317" y="3162272"/>
            <a:ext cx="2274889" cy="1028701"/>
            <a:chOff x="1465" y="2549"/>
            <a:chExt cx="1433" cy="648"/>
          </a:xfrm>
        </p:grpSpPr>
        <p:sp>
          <p:nvSpPr>
            <p:cNvPr id="38" name="Arc 42"/>
            <p:cNvSpPr/>
            <p:nvPr/>
          </p:nvSpPr>
          <p:spPr bwMode="auto">
            <a:xfrm>
              <a:off x="1618" y="2891"/>
              <a:ext cx="985" cy="306"/>
            </a:xfrm>
            <a:custGeom>
              <a:avLst/>
              <a:gdLst>
                <a:gd name="T0" fmla="*/ 0 w 43200"/>
                <a:gd name="T1" fmla="*/ 306 h 22367"/>
                <a:gd name="T2" fmla="*/ 985 w 43200"/>
                <a:gd name="T3" fmla="*/ 296 h 22367"/>
                <a:gd name="T4" fmla="*/ 493 w 43200"/>
                <a:gd name="T5" fmla="*/ 296 h 22367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367"/>
                <a:gd name="T11" fmla="*/ 43200 w 43200"/>
                <a:gd name="T12" fmla="*/ 22367 h 223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367" fill="none" extrusionOk="0">
                  <a:moveTo>
                    <a:pt x="13" y="22367"/>
                  </a:moveTo>
                  <a:cubicBezTo>
                    <a:pt x="4" y="22111"/>
                    <a:pt x="0" y="2185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367" stroke="0" extrusionOk="0">
                  <a:moveTo>
                    <a:pt x="13" y="22367"/>
                  </a:moveTo>
                  <a:cubicBezTo>
                    <a:pt x="4" y="22111"/>
                    <a:pt x="0" y="2185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465" y="2549"/>
                  <a:ext cx="1433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sz="2800" b="1" dirty="0"/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=1,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=0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9" name="Text 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65" y="2549"/>
                  <a:ext cx="1433" cy="330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53"/>
          <p:cNvGrpSpPr/>
          <p:nvPr/>
        </p:nvGrpSpPr>
        <p:grpSpPr bwMode="auto">
          <a:xfrm>
            <a:off x="5694358" y="4649765"/>
            <a:ext cx="2168528" cy="1022351"/>
            <a:chOff x="1494" y="3486"/>
            <a:chExt cx="1366" cy="644"/>
          </a:xfrm>
        </p:grpSpPr>
        <p:sp>
          <p:nvSpPr>
            <p:cNvPr id="41" name="Arc 43"/>
            <p:cNvSpPr/>
            <p:nvPr/>
          </p:nvSpPr>
          <p:spPr bwMode="auto">
            <a:xfrm flipH="1" flipV="1">
              <a:off x="1623" y="3486"/>
              <a:ext cx="984" cy="272"/>
            </a:xfrm>
            <a:custGeom>
              <a:avLst/>
              <a:gdLst>
                <a:gd name="T0" fmla="*/ 0 w 43192"/>
                <a:gd name="T1" fmla="*/ 265 h 21600"/>
                <a:gd name="T2" fmla="*/ 984 w 43192"/>
                <a:gd name="T3" fmla="*/ 272 h 21600"/>
                <a:gd name="T4" fmla="*/ 492 w 43192"/>
                <a:gd name="T5" fmla="*/ 272 h 21600"/>
                <a:gd name="T6" fmla="*/ 0 60000 65536"/>
                <a:gd name="T7" fmla="*/ 0 60000 65536"/>
                <a:gd name="T8" fmla="*/ 0 60000 65536"/>
                <a:gd name="T9" fmla="*/ 0 w 43192"/>
                <a:gd name="T10" fmla="*/ 0 h 21600"/>
                <a:gd name="T11" fmla="*/ 43192 w 4319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192" h="21600" fill="none" extrusionOk="0">
                  <a:moveTo>
                    <a:pt x="-1" y="21016"/>
                  </a:moveTo>
                  <a:cubicBezTo>
                    <a:pt x="315" y="9318"/>
                    <a:pt x="9889" y="-1"/>
                    <a:pt x="21592" y="0"/>
                  </a:cubicBezTo>
                  <a:cubicBezTo>
                    <a:pt x="33521" y="0"/>
                    <a:pt x="43192" y="9670"/>
                    <a:pt x="43192" y="21600"/>
                  </a:cubicBezTo>
                </a:path>
                <a:path w="43192" h="21600" stroke="0" extrusionOk="0">
                  <a:moveTo>
                    <a:pt x="-1" y="21016"/>
                  </a:moveTo>
                  <a:cubicBezTo>
                    <a:pt x="315" y="9318"/>
                    <a:pt x="9889" y="-1"/>
                    <a:pt x="21592" y="0"/>
                  </a:cubicBezTo>
                  <a:cubicBezTo>
                    <a:pt x="33521" y="0"/>
                    <a:pt x="43192" y="9670"/>
                    <a:pt x="43192" y="21600"/>
                  </a:cubicBezTo>
                  <a:lnTo>
                    <a:pt x="21592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1494" y="3800"/>
                  <a:ext cx="136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=0, 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=1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2" name="Text 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94" y="3800"/>
                  <a:ext cx="1366" cy="33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54"/>
          <p:cNvGrpSpPr/>
          <p:nvPr/>
        </p:nvGrpSpPr>
        <p:grpSpPr bwMode="auto">
          <a:xfrm>
            <a:off x="4271407" y="3904152"/>
            <a:ext cx="1450977" cy="955673"/>
            <a:chOff x="609" y="3024"/>
            <a:chExt cx="914" cy="602"/>
          </a:xfrm>
        </p:grpSpPr>
        <p:sp>
          <p:nvSpPr>
            <p:cNvPr id="44" name="Arc 44"/>
            <p:cNvSpPr/>
            <p:nvPr/>
          </p:nvSpPr>
          <p:spPr bwMode="auto">
            <a:xfrm flipH="1">
              <a:off x="1279" y="3139"/>
              <a:ext cx="244" cy="447"/>
            </a:xfrm>
            <a:custGeom>
              <a:avLst/>
              <a:gdLst>
                <a:gd name="T0" fmla="*/ 17 w 41359"/>
                <a:gd name="T1" fmla="*/ 83 h 43200"/>
                <a:gd name="T2" fmla="*/ 0 w 41359"/>
                <a:gd name="T3" fmla="*/ 314 h 43200"/>
                <a:gd name="T4" fmla="*/ 117 w 41359"/>
                <a:gd name="T5" fmla="*/ 224 h 43200"/>
                <a:gd name="T6" fmla="*/ 0 60000 65536"/>
                <a:gd name="T7" fmla="*/ 0 60000 65536"/>
                <a:gd name="T8" fmla="*/ 0 60000 65536"/>
                <a:gd name="T9" fmla="*/ 0 w 41359"/>
                <a:gd name="T10" fmla="*/ 0 h 43200"/>
                <a:gd name="T11" fmla="*/ 41359 w 4135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359" h="43200" fill="none" extrusionOk="0">
                  <a:moveTo>
                    <a:pt x="2923" y="8066"/>
                  </a:moveTo>
                  <a:cubicBezTo>
                    <a:pt x="7023" y="2966"/>
                    <a:pt x="13215" y="-1"/>
                    <a:pt x="19759" y="0"/>
                  </a:cubicBezTo>
                  <a:cubicBezTo>
                    <a:pt x="31688" y="0"/>
                    <a:pt x="41359" y="9670"/>
                    <a:pt x="41359" y="21600"/>
                  </a:cubicBezTo>
                  <a:cubicBezTo>
                    <a:pt x="41359" y="33529"/>
                    <a:pt x="31688" y="43200"/>
                    <a:pt x="19759" y="43200"/>
                  </a:cubicBezTo>
                  <a:cubicBezTo>
                    <a:pt x="11204" y="43200"/>
                    <a:pt x="3455" y="38151"/>
                    <a:pt x="-1" y="30325"/>
                  </a:cubicBezTo>
                </a:path>
                <a:path w="41359" h="43200" stroke="0" extrusionOk="0">
                  <a:moveTo>
                    <a:pt x="2923" y="8066"/>
                  </a:moveTo>
                  <a:cubicBezTo>
                    <a:pt x="7023" y="2966"/>
                    <a:pt x="13215" y="-1"/>
                    <a:pt x="19759" y="0"/>
                  </a:cubicBezTo>
                  <a:cubicBezTo>
                    <a:pt x="31688" y="0"/>
                    <a:pt x="41359" y="9670"/>
                    <a:pt x="41359" y="21600"/>
                  </a:cubicBezTo>
                  <a:cubicBezTo>
                    <a:pt x="41359" y="33529"/>
                    <a:pt x="31688" y="43200"/>
                    <a:pt x="19759" y="43200"/>
                  </a:cubicBezTo>
                  <a:cubicBezTo>
                    <a:pt x="11204" y="43200"/>
                    <a:pt x="3455" y="38151"/>
                    <a:pt x="-1" y="30325"/>
                  </a:cubicBezTo>
                  <a:lnTo>
                    <a:pt x="19759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 Box 48"/>
                <p:cNvSpPr txBox="1">
                  <a:spLocks noChangeArrowheads="1"/>
                </p:cNvSpPr>
                <p:nvPr/>
              </p:nvSpPr>
              <p:spPr bwMode="auto">
                <a:xfrm>
                  <a:off x="609" y="3024"/>
                  <a:ext cx="759" cy="6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</a:t>
                  </a:r>
                  <a:r>
                    <a:rPr lang="en-US" altLang="zh-CN" sz="2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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  <a:p>
                  <a:pPr eaLnBrk="1" hangingPunct="1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=1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5" name="Text 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09" y="3024"/>
                  <a:ext cx="759" cy="602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55"/>
          <p:cNvGrpSpPr/>
          <p:nvPr/>
        </p:nvGrpSpPr>
        <p:grpSpPr bwMode="auto">
          <a:xfrm>
            <a:off x="7591423" y="3933790"/>
            <a:ext cx="1552577" cy="955673"/>
            <a:chOff x="2689" y="3035"/>
            <a:chExt cx="978" cy="602"/>
          </a:xfrm>
        </p:grpSpPr>
        <p:sp>
          <p:nvSpPr>
            <p:cNvPr id="47" name="Arc 45"/>
            <p:cNvSpPr/>
            <p:nvPr/>
          </p:nvSpPr>
          <p:spPr bwMode="auto">
            <a:xfrm>
              <a:off x="2689" y="3131"/>
              <a:ext cx="266" cy="447"/>
            </a:xfrm>
            <a:custGeom>
              <a:avLst/>
              <a:gdLst>
                <a:gd name="T0" fmla="*/ 15 w 39237"/>
                <a:gd name="T1" fmla="*/ 67 h 43200"/>
                <a:gd name="T2" fmla="*/ 0 w 39237"/>
                <a:gd name="T3" fmla="*/ 353 h 43200"/>
                <a:gd name="T4" fmla="*/ 120 w 39237"/>
                <a:gd name="T5" fmla="*/ 224 h 43200"/>
                <a:gd name="T6" fmla="*/ 0 60000 65536"/>
                <a:gd name="T7" fmla="*/ 0 60000 65536"/>
                <a:gd name="T8" fmla="*/ 0 60000 65536"/>
                <a:gd name="T9" fmla="*/ 0 w 39237"/>
                <a:gd name="T10" fmla="*/ 0 h 43200"/>
                <a:gd name="T11" fmla="*/ 39237 w 39237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237" h="43200" fill="none" extrusionOk="0">
                  <a:moveTo>
                    <a:pt x="2225" y="6466"/>
                  </a:moveTo>
                  <a:cubicBezTo>
                    <a:pt x="6286" y="2330"/>
                    <a:pt x="11840" y="-1"/>
                    <a:pt x="17637" y="0"/>
                  </a:cubicBezTo>
                  <a:cubicBezTo>
                    <a:pt x="29566" y="0"/>
                    <a:pt x="39237" y="9670"/>
                    <a:pt x="39237" y="21600"/>
                  </a:cubicBezTo>
                  <a:cubicBezTo>
                    <a:pt x="39237" y="33529"/>
                    <a:pt x="29566" y="43200"/>
                    <a:pt x="17637" y="43200"/>
                  </a:cubicBezTo>
                  <a:cubicBezTo>
                    <a:pt x="10624" y="43200"/>
                    <a:pt x="4048" y="39795"/>
                    <a:pt x="0" y="34069"/>
                  </a:cubicBezTo>
                </a:path>
                <a:path w="39237" h="43200" stroke="0" extrusionOk="0">
                  <a:moveTo>
                    <a:pt x="2225" y="6466"/>
                  </a:moveTo>
                  <a:cubicBezTo>
                    <a:pt x="6286" y="2330"/>
                    <a:pt x="11840" y="-1"/>
                    <a:pt x="17637" y="0"/>
                  </a:cubicBezTo>
                  <a:cubicBezTo>
                    <a:pt x="29566" y="0"/>
                    <a:pt x="39237" y="9670"/>
                    <a:pt x="39237" y="21600"/>
                  </a:cubicBezTo>
                  <a:cubicBezTo>
                    <a:pt x="39237" y="33529"/>
                    <a:pt x="29566" y="43200"/>
                    <a:pt x="17637" y="43200"/>
                  </a:cubicBezTo>
                  <a:cubicBezTo>
                    <a:pt x="10624" y="43200"/>
                    <a:pt x="4048" y="39795"/>
                    <a:pt x="0" y="34069"/>
                  </a:cubicBezTo>
                  <a:lnTo>
                    <a:pt x="17637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 Box 49"/>
                <p:cNvSpPr txBox="1">
                  <a:spLocks noChangeArrowheads="1"/>
                </p:cNvSpPr>
                <p:nvPr/>
              </p:nvSpPr>
              <p:spPr bwMode="auto">
                <a:xfrm>
                  <a:off x="2881" y="3035"/>
                  <a:ext cx="786" cy="6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=1 </a:t>
                  </a:r>
                  <a:endParaRPr lang="en-US" altLang="zh-CN" sz="2800" b="1" dirty="0">
                    <a:latin typeface="Times New Roman" panose="02020603050405020304" pitchFamily="18" charset="0"/>
                  </a:endParaRPr>
                </a:p>
                <a:p>
                  <a:pPr eaLnBrk="1" hangingPunct="1"/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8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800" b="1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altLang="zh-CN" sz="2800" b="1" dirty="0">
                      <a:latin typeface="Times New Roman" panose="02020603050405020304" pitchFamily="18" charset="0"/>
                    </a:rPr>
                    <a:t>= </a:t>
                  </a:r>
                  <a:r>
                    <a:rPr lang="en-US" altLang="zh-CN" sz="2800" b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</a:t>
                  </a:r>
                  <a:endParaRPr lang="en-US" altLang="zh-CN" sz="2800" b="1" dirty="0">
                    <a:latin typeface="Times New Roman" panose="02020603050405020304" pitchFamily="18" charset="0"/>
                    <a:sym typeface="Symbol" panose="05050102010706020507" pitchFamily="18" charset="2"/>
                  </a:endParaRPr>
                </a:p>
              </p:txBody>
            </p:sp>
          </mc:Choice>
          <mc:Fallback>
            <p:sp>
              <p:nvSpPr>
                <p:cNvPr id="48" name="Text 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81" y="3035"/>
                  <a:ext cx="786" cy="602"/>
                </a:xfrm>
                <a:prstGeom prst="rect">
                  <a:avLst/>
                </a:prstGeom>
                <a:blipFill rotWithShape="1">
                  <a:blip r:embed="rId5"/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文本框 4"/>
          <p:cNvSpPr txBox="1"/>
          <p:nvPr/>
        </p:nvSpPr>
        <p:spPr>
          <a:xfrm>
            <a:off x="5015141" y="1986370"/>
            <a:ext cx="32242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基本</a:t>
            </a:r>
            <a:r>
              <a:rPr lang="en-US" altLang="zh-CN" sz="2800" b="1" dirty="0">
                <a:solidFill>
                  <a:srgbClr val="FF0000"/>
                </a:solidFill>
              </a:rPr>
              <a:t>R-S</a:t>
            </a:r>
            <a:r>
              <a:rPr lang="zh-CN" altLang="en-US" sz="2800" b="1" dirty="0">
                <a:solidFill>
                  <a:srgbClr val="FF0000"/>
                </a:solidFill>
              </a:rPr>
              <a:t>触发器的状态转移图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0" y="1871727"/>
            <a:ext cx="4380696" cy="4936202"/>
            <a:chOff x="633192" y="1998166"/>
            <a:chExt cx="3190875" cy="4276326"/>
          </a:xfrm>
        </p:grpSpPr>
        <p:grpSp>
          <p:nvGrpSpPr>
            <p:cNvPr id="52" name="组合 51"/>
            <p:cNvGrpSpPr/>
            <p:nvPr/>
          </p:nvGrpSpPr>
          <p:grpSpPr>
            <a:xfrm>
              <a:off x="633192" y="2683567"/>
              <a:ext cx="3190875" cy="3590925"/>
              <a:chOff x="633192" y="2683567"/>
              <a:chExt cx="3190875" cy="3590925"/>
            </a:xfrm>
          </p:grpSpPr>
          <p:pic>
            <p:nvPicPr>
              <p:cNvPr id="59" name="图片 58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3192" y="2683567"/>
                <a:ext cx="3190875" cy="3590925"/>
              </a:xfrm>
              <a:prstGeom prst="rect">
                <a:avLst/>
              </a:prstGeom>
            </p:spPr>
          </p:pic>
          <p:pic>
            <p:nvPicPr>
              <p:cNvPr id="60" name="图片 59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4619" y="3429000"/>
                <a:ext cx="276658" cy="276658"/>
              </a:xfrm>
              <a:prstGeom prst="rect">
                <a:avLst/>
              </a:prstGeom>
            </p:spPr>
          </p:pic>
          <p:pic>
            <p:nvPicPr>
              <p:cNvPr id="61" name="图片 60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4619" y="3833363"/>
                <a:ext cx="276658" cy="276658"/>
              </a:xfrm>
              <a:prstGeom prst="rect">
                <a:avLst/>
              </a:prstGeom>
            </p:spPr>
          </p:pic>
        </p:grpSp>
        <p:sp>
          <p:nvSpPr>
            <p:cNvPr id="53" name="文本框 52"/>
            <p:cNvSpPr txBox="1"/>
            <p:nvPr/>
          </p:nvSpPr>
          <p:spPr>
            <a:xfrm>
              <a:off x="950605" y="1998166"/>
              <a:ext cx="2441355" cy="355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基本</a:t>
              </a:r>
              <a:r>
                <a:rPr lang="en-US" altLang="zh-CN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R-S</a:t>
              </a:r>
              <a:r>
                <a:rPr lang="zh-CN" altLang="en-US" sz="2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触发器状态转移表</a:t>
              </a:r>
              <a:endPara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>
              <a:off x="2909454" y="2458817"/>
              <a:ext cx="0" cy="27125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654338" y="2431837"/>
              <a:ext cx="0" cy="27125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3810212" y="2458088"/>
              <a:ext cx="0" cy="27125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/>
          </p:nvSpPr>
          <p:spPr>
            <a:xfrm>
              <a:off x="1132949" y="2367411"/>
              <a:ext cx="17237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B56F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     入</a:t>
              </a:r>
              <a:endParaRPr lang="zh-CN" altLang="en-US" sz="20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037734" y="2338733"/>
              <a:ext cx="766260" cy="3466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2B56F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输 出</a:t>
              </a:r>
              <a:endParaRPr lang="zh-CN" altLang="en-US" sz="20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63" name="Text Box 46" descr="花束"/>
          <p:cNvSpPr txBox="1">
            <a:spLocks noChangeArrowheads="1"/>
          </p:cNvSpPr>
          <p:nvPr/>
        </p:nvSpPr>
        <p:spPr bwMode="auto">
          <a:xfrm>
            <a:off x="191805" y="620964"/>
            <a:ext cx="70971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8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三、逻辑功能的描述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2" name="文本框 81"/>
          <p:cNvSpPr txBox="1"/>
          <p:nvPr/>
        </p:nvSpPr>
        <p:spPr>
          <a:xfrm>
            <a:off x="0" y="1185884"/>
            <a:ext cx="6527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激励表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是状态转移图的表格表达方式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8257" y="2791505"/>
            <a:ext cx="4872593" cy="3540151"/>
            <a:chOff x="58257" y="2791505"/>
            <a:chExt cx="4872593" cy="3540151"/>
          </a:xfrm>
        </p:grpSpPr>
        <p:grpSp>
          <p:nvGrpSpPr>
            <p:cNvPr id="34" name="Group 51"/>
            <p:cNvGrpSpPr/>
            <p:nvPr/>
          </p:nvGrpSpPr>
          <p:grpSpPr bwMode="auto">
            <a:xfrm>
              <a:off x="1403417" y="4813999"/>
              <a:ext cx="2114550" cy="498475"/>
              <a:chOff x="1445" y="3174"/>
              <a:chExt cx="1332" cy="314"/>
            </a:xfrm>
          </p:grpSpPr>
          <p:sp>
            <p:nvSpPr>
              <p:cNvPr id="35" name="Oval 40"/>
              <p:cNvSpPr>
                <a:spLocks noChangeArrowheads="1"/>
              </p:cNvSpPr>
              <p:nvPr/>
            </p:nvSpPr>
            <p:spPr bwMode="auto">
              <a:xfrm>
                <a:off x="1445" y="3174"/>
                <a:ext cx="311" cy="314"/>
              </a:xfrm>
              <a:prstGeom prst="ellipse">
                <a:avLst/>
              </a:prstGeom>
              <a:noFill/>
              <a:ln w="19050">
                <a:solidFill>
                  <a:srgbClr val="FF66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0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" name="Oval 41"/>
              <p:cNvSpPr>
                <a:spLocks noChangeArrowheads="1"/>
              </p:cNvSpPr>
              <p:nvPr/>
            </p:nvSpPr>
            <p:spPr bwMode="auto">
              <a:xfrm>
                <a:off x="2467" y="3174"/>
                <a:ext cx="310" cy="314"/>
              </a:xfrm>
              <a:prstGeom prst="ellipse">
                <a:avLst/>
              </a:prstGeom>
              <a:noFill/>
              <a:ln w="19050">
                <a:solidFill>
                  <a:srgbClr val="FF66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>
                    <a:latin typeface="Times New Roman" panose="02020603050405020304" pitchFamily="18" charset="0"/>
                  </a:rPr>
                  <a:t>1</a:t>
                </a:r>
                <a:endParaRPr lang="en-US" altLang="zh-CN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7" name="Group 52"/>
            <p:cNvGrpSpPr/>
            <p:nvPr/>
          </p:nvGrpSpPr>
          <p:grpSpPr bwMode="auto">
            <a:xfrm>
              <a:off x="1435167" y="3821812"/>
              <a:ext cx="2274889" cy="1028701"/>
              <a:chOff x="1465" y="2549"/>
              <a:chExt cx="1433" cy="648"/>
            </a:xfrm>
          </p:grpSpPr>
          <p:sp>
            <p:nvSpPr>
              <p:cNvPr id="38" name="Arc 42"/>
              <p:cNvSpPr/>
              <p:nvPr/>
            </p:nvSpPr>
            <p:spPr bwMode="auto">
              <a:xfrm>
                <a:off x="1618" y="2891"/>
                <a:ext cx="985" cy="306"/>
              </a:xfrm>
              <a:custGeom>
                <a:avLst/>
                <a:gdLst>
                  <a:gd name="T0" fmla="*/ 0 w 43200"/>
                  <a:gd name="T1" fmla="*/ 306 h 22367"/>
                  <a:gd name="T2" fmla="*/ 985 w 43200"/>
                  <a:gd name="T3" fmla="*/ 296 h 22367"/>
                  <a:gd name="T4" fmla="*/ 493 w 43200"/>
                  <a:gd name="T5" fmla="*/ 296 h 2236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2367"/>
                  <a:gd name="T11" fmla="*/ 43200 w 43200"/>
                  <a:gd name="T12" fmla="*/ 22367 h 223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2367" fill="none" extrusionOk="0">
                    <a:moveTo>
                      <a:pt x="13" y="22367"/>
                    </a:moveTo>
                    <a:cubicBezTo>
                      <a:pt x="4" y="22111"/>
                      <a:pt x="0" y="2185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2367" stroke="0" extrusionOk="0">
                    <a:moveTo>
                      <a:pt x="13" y="22367"/>
                    </a:moveTo>
                    <a:cubicBezTo>
                      <a:pt x="4" y="22111"/>
                      <a:pt x="0" y="21855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65" y="2549"/>
                    <a:ext cx="1433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r>
                      <a:rPr lang="zh-CN" altLang="en-US" sz="2800" b="1" dirty="0"/>
                      <a:t>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=1,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=0</a:t>
                    </a:r>
                    <a:endParaRPr lang="en-US" altLang="zh-CN" sz="2800" b="1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39" name="Text Box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65" y="2549"/>
                    <a:ext cx="1433" cy="330"/>
                  </a:xfrm>
                  <a:prstGeom prst="rect">
                    <a:avLst/>
                  </a:prstGeom>
                  <a:blipFill rotWithShape="1">
                    <a:blip r:embed="rId2"/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Group 53"/>
            <p:cNvGrpSpPr/>
            <p:nvPr/>
          </p:nvGrpSpPr>
          <p:grpSpPr bwMode="auto">
            <a:xfrm>
              <a:off x="1481208" y="5309305"/>
              <a:ext cx="2168528" cy="1022351"/>
              <a:chOff x="1494" y="3486"/>
              <a:chExt cx="1366" cy="644"/>
            </a:xfrm>
          </p:grpSpPr>
          <p:sp>
            <p:nvSpPr>
              <p:cNvPr id="41" name="Arc 43"/>
              <p:cNvSpPr/>
              <p:nvPr/>
            </p:nvSpPr>
            <p:spPr bwMode="auto">
              <a:xfrm flipH="1" flipV="1">
                <a:off x="1623" y="3486"/>
                <a:ext cx="984" cy="272"/>
              </a:xfrm>
              <a:custGeom>
                <a:avLst/>
                <a:gdLst>
                  <a:gd name="T0" fmla="*/ 0 w 43192"/>
                  <a:gd name="T1" fmla="*/ 265 h 21600"/>
                  <a:gd name="T2" fmla="*/ 984 w 43192"/>
                  <a:gd name="T3" fmla="*/ 272 h 21600"/>
                  <a:gd name="T4" fmla="*/ 492 w 43192"/>
                  <a:gd name="T5" fmla="*/ 272 h 21600"/>
                  <a:gd name="T6" fmla="*/ 0 60000 65536"/>
                  <a:gd name="T7" fmla="*/ 0 60000 65536"/>
                  <a:gd name="T8" fmla="*/ 0 60000 65536"/>
                  <a:gd name="T9" fmla="*/ 0 w 43192"/>
                  <a:gd name="T10" fmla="*/ 0 h 21600"/>
                  <a:gd name="T11" fmla="*/ 43192 w 431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2" h="21600" fill="none" extrusionOk="0">
                    <a:moveTo>
                      <a:pt x="-1" y="21016"/>
                    </a:moveTo>
                    <a:cubicBezTo>
                      <a:pt x="315" y="9318"/>
                      <a:pt x="9889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6"/>
                    </a:moveTo>
                    <a:cubicBezTo>
                      <a:pt x="315" y="9318"/>
                      <a:pt x="9889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Text Box 4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94" y="3800"/>
                    <a:ext cx="1366" cy="33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=0, </a:t>
                    </a:r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=1</a:t>
                    </a:r>
                    <a:endParaRPr lang="en-US" altLang="zh-CN" sz="2800" b="1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42" name="Text Box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94" y="3800"/>
                    <a:ext cx="1366" cy="330"/>
                  </a:xfrm>
                  <a:prstGeom prst="rect">
                    <a:avLst/>
                  </a:prstGeom>
                  <a:blipFill rotWithShape="1">
                    <a:blip r:embed="rId3"/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Group 54"/>
            <p:cNvGrpSpPr/>
            <p:nvPr/>
          </p:nvGrpSpPr>
          <p:grpSpPr bwMode="auto">
            <a:xfrm>
              <a:off x="58257" y="4563692"/>
              <a:ext cx="1450977" cy="955673"/>
              <a:chOff x="609" y="3024"/>
              <a:chExt cx="914" cy="602"/>
            </a:xfrm>
          </p:grpSpPr>
          <p:sp>
            <p:nvSpPr>
              <p:cNvPr id="44" name="Arc 44"/>
              <p:cNvSpPr/>
              <p:nvPr/>
            </p:nvSpPr>
            <p:spPr bwMode="auto">
              <a:xfrm flipH="1">
                <a:off x="1279" y="3139"/>
                <a:ext cx="244" cy="447"/>
              </a:xfrm>
              <a:custGeom>
                <a:avLst/>
                <a:gdLst>
                  <a:gd name="T0" fmla="*/ 17 w 41359"/>
                  <a:gd name="T1" fmla="*/ 83 h 43200"/>
                  <a:gd name="T2" fmla="*/ 0 w 41359"/>
                  <a:gd name="T3" fmla="*/ 314 h 43200"/>
                  <a:gd name="T4" fmla="*/ 117 w 41359"/>
                  <a:gd name="T5" fmla="*/ 224 h 43200"/>
                  <a:gd name="T6" fmla="*/ 0 60000 65536"/>
                  <a:gd name="T7" fmla="*/ 0 60000 65536"/>
                  <a:gd name="T8" fmla="*/ 0 60000 65536"/>
                  <a:gd name="T9" fmla="*/ 0 w 41359"/>
                  <a:gd name="T10" fmla="*/ 0 h 43200"/>
                  <a:gd name="T11" fmla="*/ 41359 w 4135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1359" h="43200" fill="none" extrusionOk="0">
                    <a:moveTo>
                      <a:pt x="2923" y="8066"/>
                    </a:moveTo>
                    <a:cubicBezTo>
                      <a:pt x="7023" y="2966"/>
                      <a:pt x="13215" y="-1"/>
                      <a:pt x="19759" y="0"/>
                    </a:cubicBezTo>
                    <a:cubicBezTo>
                      <a:pt x="31688" y="0"/>
                      <a:pt x="41359" y="9670"/>
                      <a:pt x="41359" y="21600"/>
                    </a:cubicBezTo>
                    <a:cubicBezTo>
                      <a:pt x="41359" y="33529"/>
                      <a:pt x="31688" y="43200"/>
                      <a:pt x="19759" y="43200"/>
                    </a:cubicBezTo>
                    <a:cubicBezTo>
                      <a:pt x="11204" y="43200"/>
                      <a:pt x="3455" y="38151"/>
                      <a:pt x="-1" y="30325"/>
                    </a:cubicBezTo>
                  </a:path>
                  <a:path w="41359" h="43200" stroke="0" extrusionOk="0">
                    <a:moveTo>
                      <a:pt x="2923" y="8066"/>
                    </a:moveTo>
                    <a:cubicBezTo>
                      <a:pt x="7023" y="2966"/>
                      <a:pt x="13215" y="-1"/>
                      <a:pt x="19759" y="0"/>
                    </a:cubicBezTo>
                    <a:cubicBezTo>
                      <a:pt x="31688" y="0"/>
                      <a:pt x="41359" y="9670"/>
                      <a:pt x="41359" y="21600"/>
                    </a:cubicBezTo>
                    <a:cubicBezTo>
                      <a:pt x="41359" y="33529"/>
                      <a:pt x="31688" y="43200"/>
                      <a:pt x="19759" y="43200"/>
                    </a:cubicBezTo>
                    <a:cubicBezTo>
                      <a:pt x="11204" y="43200"/>
                      <a:pt x="3455" y="38151"/>
                      <a:pt x="-1" y="30325"/>
                    </a:cubicBezTo>
                    <a:lnTo>
                      <a:pt x="19759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5" name="Text Box 4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09" y="3024"/>
                    <a:ext cx="759" cy="60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</a:t>
                    </a:r>
                    <a:r>
                      <a:rPr lang="en-US" altLang="zh-CN" sz="2800" b="1" dirty="0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</a:t>
                    </a:r>
                    <a:endParaRPr lang="en-US" altLang="zh-CN" sz="2800" b="1" dirty="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=1</a:t>
                    </a:r>
                    <a:endParaRPr lang="en-US" altLang="zh-CN" sz="2800" b="1" dirty="0">
                      <a:latin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45" name="Text Box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09" y="3024"/>
                    <a:ext cx="759" cy="602"/>
                  </a:xfrm>
                  <a:prstGeom prst="rect">
                    <a:avLst/>
                  </a:prstGeom>
                  <a:blipFill rotWithShape="1">
                    <a:blip r:embed="rId4"/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6" name="Group 55"/>
            <p:cNvGrpSpPr/>
            <p:nvPr/>
          </p:nvGrpSpPr>
          <p:grpSpPr bwMode="auto">
            <a:xfrm>
              <a:off x="3378273" y="4593330"/>
              <a:ext cx="1552577" cy="955673"/>
              <a:chOff x="2689" y="3035"/>
              <a:chExt cx="978" cy="602"/>
            </a:xfrm>
          </p:grpSpPr>
          <p:sp>
            <p:nvSpPr>
              <p:cNvPr id="47" name="Arc 45"/>
              <p:cNvSpPr/>
              <p:nvPr/>
            </p:nvSpPr>
            <p:spPr bwMode="auto">
              <a:xfrm>
                <a:off x="2689" y="3131"/>
                <a:ext cx="266" cy="447"/>
              </a:xfrm>
              <a:custGeom>
                <a:avLst/>
                <a:gdLst>
                  <a:gd name="T0" fmla="*/ 15 w 39237"/>
                  <a:gd name="T1" fmla="*/ 67 h 43200"/>
                  <a:gd name="T2" fmla="*/ 0 w 39237"/>
                  <a:gd name="T3" fmla="*/ 353 h 43200"/>
                  <a:gd name="T4" fmla="*/ 120 w 39237"/>
                  <a:gd name="T5" fmla="*/ 224 h 43200"/>
                  <a:gd name="T6" fmla="*/ 0 60000 65536"/>
                  <a:gd name="T7" fmla="*/ 0 60000 65536"/>
                  <a:gd name="T8" fmla="*/ 0 60000 65536"/>
                  <a:gd name="T9" fmla="*/ 0 w 39237"/>
                  <a:gd name="T10" fmla="*/ 0 h 43200"/>
                  <a:gd name="T11" fmla="*/ 39237 w 39237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237" h="43200" fill="none" extrusionOk="0">
                    <a:moveTo>
                      <a:pt x="2225" y="6466"/>
                    </a:moveTo>
                    <a:cubicBezTo>
                      <a:pt x="6286" y="2330"/>
                      <a:pt x="11840" y="-1"/>
                      <a:pt x="17637" y="0"/>
                    </a:cubicBezTo>
                    <a:cubicBezTo>
                      <a:pt x="29566" y="0"/>
                      <a:pt x="39237" y="9670"/>
                      <a:pt x="39237" y="21600"/>
                    </a:cubicBezTo>
                    <a:cubicBezTo>
                      <a:pt x="39237" y="33529"/>
                      <a:pt x="29566" y="43200"/>
                      <a:pt x="17637" y="43200"/>
                    </a:cubicBezTo>
                    <a:cubicBezTo>
                      <a:pt x="10624" y="43200"/>
                      <a:pt x="4048" y="39795"/>
                      <a:pt x="0" y="34069"/>
                    </a:cubicBezTo>
                  </a:path>
                  <a:path w="39237" h="43200" stroke="0" extrusionOk="0">
                    <a:moveTo>
                      <a:pt x="2225" y="6466"/>
                    </a:moveTo>
                    <a:cubicBezTo>
                      <a:pt x="6286" y="2330"/>
                      <a:pt x="11840" y="-1"/>
                      <a:pt x="17637" y="0"/>
                    </a:cubicBezTo>
                    <a:cubicBezTo>
                      <a:pt x="29566" y="0"/>
                      <a:pt x="39237" y="9670"/>
                      <a:pt x="39237" y="21600"/>
                    </a:cubicBezTo>
                    <a:cubicBezTo>
                      <a:pt x="39237" y="33529"/>
                      <a:pt x="29566" y="43200"/>
                      <a:pt x="17637" y="43200"/>
                    </a:cubicBezTo>
                    <a:cubicBezTo>
                      <a:pt x="10624" y="43200"/>
                      <a:pt x="4048" y="39795"/>
                      <a:pt x="0" y="34069"/>
                    </a:cubicBezTo>
                    <a:lnTo>
                      <a:pt x="17637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8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1" y="3035"/>
                    <a:ext cx="786" cy="60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=1 </a:t>
                    </a:r>
                    <a:endParaRPr lang="en-US" altLang="zh-CN" sz="2800" b="1" dirty="0">
                      <a:latin typeface="Times New Roman" panose="02020603050405020304" pitchFamily="18" charset="0"/>
                    </a:endParaRPr>
                  </a:p>
                  <a:p>
                    <a:pPr eaLnBrk="1" hangingPunct="1"/>
                    <a14:m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8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8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8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  <m:r>
                          <a:rPr lang="zh-CN" altLang="en-US" sz="2800" b="1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zh-CN" sz="2800" b="1" dirty="0">
                        <a:latin typeface="Times New Roman" panose="02020603050405020304" pitchFamily="18" charset="0"/>
                      </a:rPr>
                      <a:t>= </a:t>
                    </a:r>
                    <a:r>
                      <a:rPr lang="en-US" altLang="zh-CN" sz="2800" b="1" dirty="0">
                        <a:latin typeface="Times New Roman" panose="02020603050405020304" pitchFamily="18" charset="0"/>
                        <a:sym typeface="Symbol" panose="05050102010706020507" pitchFamily="18" charset="2"/>
                      </a:rPr>
                      <a:t></a:t>
                    </a:r>
                    <a:endParaRPr lang="en-US" altLang="zh-CN" sz="2800" b="1" dirty="0">
                      <a:latin typeface="Times New Roman" panose="02020603050405020304" pitchFamily="18" charset="0"/>
                      <a:sym typeface="Symbol" panose="05050102010706020507" pitchFamily="18" charset="2"/>
                    </a:endParaRPr>
                  </a:p>
                </p:txBody>
              </p:sp>
            </mc:Choice>
            <mc:Fallback>
              <p:sp>
                <p:nvSpPr>
                  <p:cNvPr id="48" name="Text Box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81" y="3035"/>
                    <a:ext cx="786" cy="602"/>
                  </a:xfrm>
                  <a:prstGeom prst="rect">
                    <a:avLst/>
                  </a:prstGeom>
                  <a:blipFill rotWithShape="1">
                    <a:blip r:embed="rId5"/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" name="文本框 4"/>
            <p:cNvSpPr txBox="1"/>
            <p:nvPr/>
          </p:nvSpPr>
          <p:spPr>
            <a:xfrm>
              <a:off x="787486" y="2791505"/>
              <a:ext cx="32242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FF0000"/>
                  </a:solidFill>
                </a:rPr>
                <a:t>基本</a:t>
              </a:r>
              <a:r>
                <a:rPr lang="en-US" altLang="zh-CN" sz="2800" b="1" dirty="0">
                  <a:solidFill>
                    <a:srgbClr val="FF0000"/>
                  </a:solidFill>
                </a:rPr>
                <a:t>R-S</a:t>
              </a:r>
              <a:r>
                <a:rPr lang="zh-CN" altLang="en-US" sz="2800" b="1" dirty="0">
                  <a:solidFill>
                    <a:srgbClr val="FF0000"/>
                  </a:solidFill>
                </a:rPr>
                <a:t>触发器的状态转移图</a:t>
              </a:r>
              <a:endParaRPr lang="zh-CN" altLang="en-US" sz="28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Group 26"/>
              <p:cNvGraphicFramePr>
                <a:graphicFrameLocks noGrp="1"/>
              </p:cNvGraphicFramePr>
              <p:nvPr/>
            </p:nvGraphicFramePr>
            <p:xfrm>
              <a:off x="5352398" y="3908834"/>
              <a:ext cx="3286610" cy="2317337"/>
            </p:xfrm>
            <a:graphic>
              <a:graphicData uri="http://schemas.openxmlformats.org/drawingml/2006/table">
                <a:tbl>
                  <a:tblPr/>
                  <a:tblGrid>
                    <a:gridCol w="1643305"/>
                    <a:gridCol w="1643305"/>
                  </a:tblGrid>
                  <a:tr h="3961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 </a:t>
                          </a:r>
                          <a:r>
                            <a:rPr kumimoji="1" lang="en-US" altLang="zh-CN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Q</a:t>
                          </a:r>
                          <a:r>
                            <a:rPr kumimoji="1" lang="en-US" altLang="zh-CN" sz="2800" b="1" i="0" u="none" strike="noStrike" cap="none" normalizeH="0" baseline="3000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n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   Q</a:t>
                          </a:r>
                          <a:r>
                            <a:rPr kumimoji="1" lang="en-US" altLang="zh-CN" sz="2800" b="1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n+1</a:t>
                          </a:r>
                          <a:endParaRPr kumimoji="1" lang="en-US" altLang="zh-CN" sz="2800" b="1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T="45712" marB="45712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CN" altLang="en-US" sz="2800" b="1" i="1" smtClean="0">
                                      <a:latin typeface="Cambria Math" panose="02040503050406030204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zh-CN" altLang="en-US" sz="2800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zh-CN" altLang="en-US" sz="2800" b="1" i="1" smtClean="0">
                                      <a:latin typeface="Cambria Math" panose="02040503050406030204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altLang="en-US" sz="2800" b="1" i="1">
                                          <a:latin typeface="Cambria Math" panose="02040503050406030204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zh-CN" altLang="en-US" sz="2800" b="1" i="1">
                                          <a:latin typeface="Cambria Math" panose="02040503050406030204" pitchFamily="18" charset="0"/>
                                        </a:rPr>
                                        <m:t>𝑫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</a:txBody>
                      <a:tcPr marT="45712" marB="45712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  <a:tr h="13103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0      0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0      1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1      0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1      1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</a:txBody>
                      <a:tcPr marT="45712" marB="45712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Φ     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1      0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0      1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  1    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Φ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45712" marB="45712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Group 26"/>
              <p:cNvGraphicFramePr>
                <a:graphicFrameLocks noGrp="1"/>
              </p:cNvGraphicFramePr>
              <p:nvPr/>
            </p:nvGraphicFramePr>
            <p:xfrm>
              <a:off x="5352398" y="3908834"/>
              <a:ext cx="3286610" cy="2317337"/>
            </p:xfrm>
            <a:graphic>
              <a:graphicData uri="http://schemas.openxmlformats.org/drawingml/2006/table">
                <a:tbl>
                  <a:tblPr/>
                  <a:tblGrid>
                    <a:gridCol w="1643305"/>
                    <a:gridCol w="1643305"/>
                  </a:tblGrid>
                  <a:tr h="5238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 </a:t>
                          </a:r>
                          <a:r>
                            <a:rPr kumimoji="1" lang="en-US" altLang="zh-CN" sz="2800" b="1" i="0" u="none" strike="noStrike" cap="none" normalizeH="0" baseline="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Q</a:t>
                          </a:r>
                          <a:r>
                            <a:rPr kumimoji="1" lang="en-US" altLang="zh-CN" sz="2800" b="1" i="0" u="none" strike="noStrike" cap="none" normalizeH="0" baseline="30000" dirty="0" err="1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n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   Q</a:t>
                          </a:r>
                          <a:r>
                            <a:rPr kumimoji="1" lang="en-US" altLang="zh-CN" sz="2800" b="1" i="0" u="none" strike="noStrike" cap="none" normalizeH="0" baseline="3000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n+1</a:t>
                          </a:r>
                          <a:endParaRPr kumimoji="1" lang="en-US" altLang="zh-CN" sz="2800" b="1" i="0" u="none" strike="noStrike" cap="none" normalizeH="0" baseline="3000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a:txBody>
                      <a:tcPr marT="45712" marB="45712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T="45712" marB="45712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6"/>
                        </a:blipFill>
                      </a:tcPr>
                    </a:tc>
                  </a:tr>
                  <a:tr h="131039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0      0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0      1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1      0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1      1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</a:txBody>
                      <a:tcPr marT="45712" marB="45712" horzOverflow="overflow">
                        <a:lnL cap="flat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a:t>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Φ     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1      0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</a:rPr>
                            <a:t>0      1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</a:endParaRPr>
                        </a:p>
                        <a:p>
                          <a:pPr marL="0" marR="0" lvl="0" indent="0" algn="l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0"/>
                            </a:spcBef>
                            <a:spcAft>
                              <a:spcPct val="0"/>
                            </a:spcAft>
                            <a:buClr>
                              <a:schemeClr val="folHlink"/>
                            </a:buClr>
                            <a:buSzPct val="60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   1    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隶书" panose="02010509060101010101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kumimoji="1" lang="en-US" altLang="zh-CN" sz="2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a:t>Φ</a:t>
                          </a:r>
                          <a:endParaRPr kumimoji="1" lang="en-US" altLang="zh-CN" sz="28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隶书" panose="02010509060101010101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T="45712" marB="45712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cap="flat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50" name="文本框 49"/>
          <p:cNvSpPr txBox="1"/>
          <p:nvPr/>
        </p:nvSpPr>
        <p:spPr>
          <a:xfrm>
            <a:off x="5495472" y="2757360"/>
            <a:ext cx="309803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基本</a:t>
            </a:r>
            <a:r>
              <a:rPr lang="en-US" altLang="zh-CN" sz="2800" b="1" dirty="0">
                <a:solidFill>
                  <a:srgbClr val="FF0000"/>
                </a:solidFill>
              </a:rPr>
              <a:t>R-S</a:t>
            </a:r>
            <a:r>
              <a:rPr lang="zh-CN" altLang="en-US" sz="2800" b="1" dirty="0">
                <a:solidFill>
                  <a:srgbClr val="FF0000"/>
                </a:solidFill>
              </a:rPr>
              <a:t>触发器的激励表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9385" y="1732371"/>
            <a:ext cx="8179599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激励表描述触发器由现态</a:t>
            </a:r>
            <a:r>
              <a:rPr kumimoji="1" lang="en-US" altLang="zh-CN" sz="2400" b="1" dirty="0" err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kumimoji="1" lang="en-US" altLang="zh-CN" sz="2400" b="1" baseline="30000" dirty="0" err="1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转移到次态</a:t>
            </a:r>
            <a:r>
              <a:rPr kumimoji="1" lang="en-US" altLang="zh-CN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kumimoji="1" lang="en-US" altLang="zh-CN" sz="2400" b="1" baseline="30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n+1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时对输入控制信号的要求</a:t>
            </a:r>
            <a:endParaRPr lang="zh-CN" altLang="en-US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5954537" y="4204491"/>
            <a:ext cx="2450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Box 46" descr="花束"/>
          <p:cNvSpPr txBox="1">
            <a:spLocks noChangeArrowheads="1"/>
          </p:cNvSpPr>
          <p:nvPr/>
        </p:nvSpPr>
        <p:spPr bwMode="auto">
          <a:xfrm>
            <a:off x="191805" y="620964"/>
            <a:ext cx="70971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7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三、逻辑功能的描述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82" name="文本框 81"/>
          <p:cNvSpPr txBox="1"/>
          <p:nvPr/>
        </p:nvSpPr>
        <p:spPr>
          <a:xfrm>
            <a:off x="0" y="1158729"/>
            <a:ext cx="7146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波形图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输出信号波形随输入信号发生变化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2" name="Text Box 46" descr="花束"/>
          <p:cNvSpPr txBox="1">
            <a:spLocks noChangeArrowheads="1"/>
          </p:cNvSpPr>
          <p:nvPr/>
        </p:nvSpPr>
        <p:spPr bwMode="auto">
          <a:xfrm>
            <a:off x="191805" y="620964"/>
            <a:ext cx="70971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三、逻辑功能的描述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503" name="Rectangle 5"/>
          <p:cNvSpPr>
            <a:spLocks noChangeArrowheads="1"/>
          </p:cNvSpPr>
          <p:nvPr/>
        </p:nvSpPr>
        <p:spPr bwMode="auto">
          <a:xfrm>
            <a:off x="7343444" y="2515959"/>
            <a:ext cx="723900" cy="1536700"/>
          </a:xfrm>
          <a:prstGeom prst="rect">
            <a:avLst/>
          </a:prstGeom>
          <a:solidFill>
            <a:srgbClr val="99FF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04" name="Rectangle 6"/>
          <p:cNvSpPr>
            <a:spLocks noChangeArrowheads="1"/>
          </p:cNvSpPr>
          <p:nvPr/>
        </p:nvSpPr>
        <p:spPr bwMode="auto">
          <a:xfrm>
            <a:off x="8334006" y="2515959"/>
            <a:ext cx="336550" cy="1536700"/>
          </a:xfrm>
          <a:prstGeom prst="rect">
            <a:avLst/>
          </a:prstGeom>
          <a:solidFill>
            <a:srgbClr val="99FF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06" name="Group 10"/>
          <p:cNvGrpSpPr/>
          <p:nvPr/>
        </p:nvGrpSpPr>
        <p:grpSpPr bwMode="auto">
          <a:xfrm>
            <a:off x="1619295" y="2371497"/>
            <a:ext cx="7389011" cy="1905000"/>
            <a:chOff x="0" y="0"/>
            <a:chExt cx="4640" cy="1200"/>
          </a:xfrm>
        </p:grpSpPr>
        <p:sp>
          <p:nvSpPr>
            <p:cNvPr id="508" name="AutoShape 12"/>
            <p:cNvSpPr>
              <a:spLocks noChangeArrowheads="1"/>
            </p:cNvSpPr>
            <p:nvPr/>
          </p:nvSpPr>
          <p:spPr bwMode="auto">
            <a:xfrm>
              <a:off x="0" y="0"/>
              <a:ext cx="4640" cy="1200"/>
            </a:xfrm>
            <a:prstGeom prst="flowChartProcess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515" name="Line 19"/>
            <p:cNvSpPr>
              <a:spLocks noChangeShapeType="1"/>
            </p:cNvSpPr>
            <p:nvPr/>
          </p:nvSpPr>
          <p:spPr bwMode="auto">
            <a:xfrm flipH="1" flipV="1">
              <a:off x="3249" y="1068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" name="Line 20"/>
            <p:cNvSpPr>
              <a:spLocks noChangeShapeType="1"/>
            </p:cNvSpPr>
            <p:nvPr/>
          </p:nvSpPr>
          <p:spPr bwMode="auto">
            <a:xfrm flipH="1">
              <a:off x="3477" y="639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7" name="Line 21"/>
            <p:cNvSpPr>
              <a:spLocks noChangeShapeType="1"/>
            </p:cNvSpPr>
            <p:nvPr/>
          </p:nvSpPr>
          <p:spPr bwMode="auto">
            <a:xfrm flipH="1">
              <a:off x="3261" y="636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" name="Line 22"/>
            <p:cNvSpPr>
              <a:spLocks noChangeShapeType="1"/>
            </p:cNvSpPr>
            <p:nvPr/>
          </p:nvSpPr>
          <p:spPr bwMode="auto">
            <a:xfrm flipH="1" flipV="1">
              <a:off x="4401" y="648"/>
              <a:ext cx="126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9" name="Line 23"/>
            <p:cNvSpPr>
              <a:spLocks noChangeShapeType="1"/>
            </p:cNvSpPr>
            <p:nvPr/>
          </p:nvSpPr>
          <p:spPr bwMode="auto">
            <a:xfrm flipH="1" flipV="1">
              <a:off x="4185" y="1068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0" name="Line 24"/>
            <p:cNvSpPr>
              <a:spLocks noChangeShapeType="1"/>
            </p:cNvSpPr>
            <p:nvPr/>
          </p:nvSpPr>
          <p:spPr bwMode="auto">
            <a:xfrm flipH="1">
              <a:off x="4413" y="648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1" name="Line 25"/>
            <p:cNvSpPr>
              <a:spLocks noChangeShapeType="1"/>
            </p:cNvSpPr>
            <p:nvPr/>
          </p:nvSpPr>
          <p:spPr bwMode="auto">
            <a:xfrm flipH="1">
              <a:off x="4194" y="648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2" name="Line 26"/>
            <p:cNvSpPr>
              <a:spLocks noChangeShapeType="1"/>
            </p:cNvSpPr>
            <p:nvPr/>
          </p:nvSpPr>
          <p:spPr bwMode="auto">
            <a:xfrm flipH="1" flipV="1">
              <a:off x="3465" y="648"/>
              <a:ext cx="741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3" name="Line 27"/>
            <p:cNvSpPr>
              <a:spLocks noChangeShapeType="1"/>
            </p:cNvSpPr>
            <p:nvPr/>
          </p:nvSpPr>
          <p:spPr bwMode="auto">
            <a:xfrm flipH="1" flipV="1">
              <a:off x="2184" y="648"/>
              <a:ext cx="1083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4" name="Line 28"/>
            <p:cNvSpPr>
              <a:spLocks noChangeShapeType="1"/>
            </p:cNvSpPr>
            <p:nvPr/>
          </p:nvSpPr>
          <p:spPr bwMode="auto">
            <a:xfrm flipH="1" flipV="1">
              <a:off x="4031" y="88"/>
              <a:ext cx="49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5" name="Line 29"/>
            <p:cNvSpPr>
              <a:spLocks noChangeShapeType="1"/>
            </p:cNvSpPr>
            <p:nvPr/>
          </p:nvSpPr>
          <p:spPr bwMode="auto">
            <a:xfrm flipH="1" flipV="1">
              <a:off x="3813" y="514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6" name="Line 30"/>
            <p:cNvSpPr>
              <a:spLocks noChangeShapeType="1"/>
            </p:cNvSpPr>
            <p:nvPr/>
          </p:nvSpPr>
          <p:spPr bwMode="auto">
            <a:xfrm flipH="1">
              <a:off x="4041" y="88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7" name="Line 31"/>
            <p:cNvSpPr>
              <a:spLocks noChangeShapeType="1"/>
            </p:cNvSpPr>
            <p:nvPr/>
          </p:nvSpPr>
          <p:spPr bwMode="auto">
            <a:xfrm flipH="1" flipV="1">
              <a:off x="3108" y="88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8" name="Line 32"/>
            <p:cNvSpPr>
              <a:spLocks noChangeShapeType="1"/>
            </p:cNvSpPr>
            <p:nvPr/>
          </p:nvSpPr>
          <p:spPr bwMode="auto">
            <a:xfrm flipH="1" flipV="1">
              <a:off x="2880" y="517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9" name="Line 33"/>
            <p:cNvSpPr>
              <a:spLocks noChangeShapeType="1"/>
            </p:cNvSpPr>
            <p:nvPr/>
          </p:nvSpPr>
          <p:spPr bwMode="auto">
            <a:xfrm flipH="1">
              <a:off x="3108" y="76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0" name="Line 34"/>
            <p:cNvSpPr>
              <a:spLocks noChangeShapeType="1"/>
            </p:cNvSpPr>
            <p:nvPr/>
          </p:nvSpPr>
          <p:spPr bwMode="auto">
            <a:xfrm flipV="1">
              <a:off x="3348" y="88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1" name="Line 35"/>
            <p:cNvSpPr>
              <a:spLocks noChangeShapeType="1"/>
            </p:cNvSpPr>
            <p:nvPr/>
          </p:nvSpPr>
          <p:spPr bwMode="auto">
            <a:xfrm flipV="1">
              <a:off x="3573" y="514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" name="Line 36"/>
            <p:cNvSpPr>
              <a:spLocks noChangeShapeType="1"/>
            </p:cNvSpPr>
            <p:nvPr/>
          </p:nvSpPr>
          <p:spPr bwMode="auto">
            <a:xfrm>
              <a:off x="3585" y="76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3" name="Line 37"/>
            <p:cNvSpPr>
              <a:spLocks noChangeShapeType="1"/>
            </p:cNvSpPr>
            <p:nvPr/>
          </p:nvSpPr>
          <p:spPr bwMode="auto">
            <a:xfrm flipV="1">
              <a:off x="2424" y="88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4" name="Line 38"/>
            <p:cNvSpPr>
              <a:spLocks noChangeShapeType="1"/>
            </p:cNvSpPr>
            <p:nvPr/>
          </p:nvSpPr>
          <p:spPr bwMode="auto">
            <a:xfrm flipV="1">
              <a:off x="2640" y="517"/>
              <a:ext cx="240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5" name="Line 39"/>
            <p:cNvSpPr>
              <a:spLocks noChangeShapeType="1"/>
            </p:cNvSpPr>
            <p:nvPr/>
          </p:nvSpPr>
          <p:spPr bwMode="auto">
            <a:xfrm>
              <a:off x="2652" y="79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6" name="Line 40"/>
            <p:cNvSpPr>
              <a:spLocks noChangeShapeType="1"/>
            </p:cNvSpPr>
            <p:nvPr/>
          </p:nvSpPr>
          <p:spPr bwMode="auto">
            <a:xfrm flipH="1" flipV="1">
              <a:off x="2184" y="88"/>
              <a:ext cx="288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7" name="Rectangle 41"/>
                <p:cNvSpPr>
                  <a:spLocks noChangeArrowheads="1"/>
                </p:cNvSpPr>
                <p:nvPr/>
              </p:nvSpPr>
              <p:spPr bwMode="auto">
                <a:xfrm>
                  <a:off x="1849" y="716"/>
                  <a:ext cx="395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i="1">
                            <a:latin typeface="Cambria Math" panose="02040503050406030204" pitchFamily="18" charset="0"/>
                          </a:rPr>
                          <m:t>  </m:t>
                        </m:r>
                        <m:acc>
                          <m:accPr>
                            <m:chr m:val="̅"/>
                            <m:ctrlPr>
                              <a:rPr lang="zh-CN" altLang="en-US" sz="24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37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49" y="716"/>
                  <a:ext cx="395" cy="291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8" name="Rectangle 42"/>
                <p:cNvSpPr>
                  <a:spLocks noChangeArrowheads="1"/>
                </p:cNvSpPr>
                <p:nvPr/>
              </p:nvSpPr>
              <p:spPr bwMode="auto">
                <a:xfrm>
                  <a:off x="1834" y="125"/>
                  <a:ext cx="398" cy="2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just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zh-CN" altLang="en-US" sz="2400" b="1" i="1">
                                <a:latin typeface="Cambria Math" panose="02040503050406030204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lang="en-US" altLang="zh-CN" sz="2400" b="1" baseline="-25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mc:Choice>
          <mc:Fallback>
            <p:sp>
              <p:nvSpPr>
                <p:cNvPr id="538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4" y="125"/>
                  <a:ext cx="398" cy="29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9" name="AutoShape 43"/>
          <p:cNvSpPr>
            <a:spLocks noChangeArrowheads="1"/>
          </p:cNvSpPr>
          <p:nvPr/>
        </p:nvSpPr>
        <p:spPr bwMode="auto">
          <a:xfrm>
            <a:off x="4882394" y="4171722"/>
            <a:ext cx="774700" cy="381000"/>
          </a:xfrm>
          <a:prstGeom prst="wedgeRectCallout">
            <a:avLst>
              <a:gd name="adj1" fmla="val 4509"/>
              <a:gd name="adj2" fmla="val -125833"/>
            </a:avLst>
          </a:prstGeom>
          <a:solidFill>
            <a:srgbClr val="CCCCFF">
              <a:alpha val="50000"/>
            </a:srgbClr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0" rIns="72000" bIns="0"/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保持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40" name="Rectangle 44"/>
          <p:cNvSpPr>
            <a:spLocks noChangeArrowheads="1"/>
          </p:cNvSpPr>
          <p:nvPr/>
        </p:nvSpPr>
        <p:spPr bwMode="auto">
          <a:xfrm>
            <a:off x="5087606" y="2515959"/>
            <a:ext cx="744538" cy="153670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1" name="Rectangle 45"/>
          <p:cNvSpPr>
            <a:spLocks noChangeArrowheads="1"/>
          </p:cNvSpPr>
          <p:nvPr/>
        </p:nvSpPr>
        <p:spPr bwMode="auto">
          <a:xfrm>
            <a:off x="8064169" y="2515959"/>
            <a:ext cx="255587" cy="151130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2" name="Rectangle 46"/>
          <p:cNvSpPr>
            <a:spLocks noChangeArrowheads="1"/>
          </p:cNvSpPr>
          <p:nvPr/>
        </p:nvSpPr>
        <p:spPr bwMode="auto">
          <a:xfrm>
            <a:off x="8640431" y="2515959"/>
            <a:ext cx="196850" cy="156210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43" name="Group 47"/>
          <p:cNvGrpSpPr/>
          <p:nvPr/>
        </p:nvGrpSpPr>
        <p:grpSpPr bwMode="auto">
          <a:xfrm>
            <a:off x="5819019" y="3235097"/>
            <a:ext cx="2822581" cy="2616200"/>
            <a:chOff x="0" y="0"/>
            <a:chExt cx="1778" cy="1648"/>
          </a:xfrm>
        </p:grpSpPr>
        <p:sp>
          <p:nvSpPr>
            <p:cNvPr id="544" name="Line 48"/>
            <p:cNvSpPr>
              <a:spLocks noChangeShapeType="1"/>
            </p:cNvSpPr>
            <p:nvPr/>
          </p:nvSpPr>
          <p:spPr bwMode="auto">
            <a:xfrm>
              <a:off x="0" y="8"/>
              <a:ext cx="0" cy="164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5" name="Line 49"/>
            <p:cNvSpPr>
              <a:spLocks noChangeShapeType="1"/>
            </p:cNvSpPr>
            <p:nvPr/>
          </p:nvSpPr>
          <p:spPr bwMode="auto">
            <a:xfrm>
              <a:off x="456" y="0"/>
              <a:ext cx="0" cy="164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6" name="Line 50"/>
            <p:cNvSpPr>
              <a:spLocks noChangeShapeType="1"/>
            </p:cNvSpPr>
            <p:nvPr/>
          </p:nvSpPr>
          <p:spPr bwMode="auto">
            <a:xfrm>
              <a:off x="623" y="560"/>
              <a:ext cx="0" cy="108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7" name="Line 51"/>
            <p:cNvSpPr>
              <a:spLocks noChangeShapeType="1"/>
            </p:cNvSpPr>
            <p:nvPr/>
          </p:nvSpPr>
          <p:spPr bwMode="auto">
            <a:xfrm>
              <a:off x="845" y="560"/>
              <a:ext cx="0" cy="108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8" name="Line 52"/>
            <p:cNvSpPr>
              <a:spLocks noChangeShapeType="1"/>
            </p:cNvSpPr>
            <p:nvPr/>
          </p:nvSpPr>
          <p:spPr bwMode="auto">
            <a:xfrm>
              <a:off x="948" y="0"/>
              <a:ext cx="0" cy="164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49" name="Line 53"/>
            <p:cNvSpPr>
              <a:spLocks noChangeShapeType="1"/>
            </p:cNvSpPr>
            <p:nvPr/>
          </p:nvSpPr>
          <p:spPr bwMode="auto">
            <a:xfrm>
              <a:off x="1410" y="6"/>
              <a:ext cx="0" cy="1640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50" name="Line 54"/>
            <p:cNvSpPr>
              <a:spLocks noChangeShapeType="1"/>
            </p:cNvSpPr>
            <p:nvPr/>
          </p:nvSpPr>
          <p:spPr bwMode="auto">
            <a:xfrm>
              <a:off x="1559" y="560"/>
              <a:ext cx="0" cy="108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551" name="Line 55"/>
            <p:cNvSpPr>
              <a:spLocks noChangeShapeType="1"/>
            </p:cNvSpPr>
            <p:nvPr/>
          </p:nvSpPr>
          <p:spPr bwMode="auto">
            <a:xfrm>
              <a:off x="1778" y="560"/>
              <a:ext cx="0" cy="1084"/>
            </a:xfrm>
            <a:prstGeom prst="line">
              <a:avLst/>
            </a:prstGeom>
            <a:noFill/>
            <a:ln w="19050" cmpd="sng">
              <a:solidFill>
                <a:schemeClr val="tx1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52" name="AutoShape 56"/>
          <p:cNvSpPr>
            <a:spLocks noChangeArrowheads="1"/>
          </p:cNvSpPr>
          <p:nvPr/>
        </p:nvSpPr>
        <p:spPr bwMode="auto">
          <a:xfrm>
            <a:off x="3655232" y="4027260"/>
            <a:ext cx="1227161" cy="1187882"/>
          </a:xfrm>
          <a:prstGeom prst="wedgeRectCallout">
            <a:avLst>
              <a:gd name="adj1" fmla="val 94871"/>
              <a:gd name="adj2" fmla="val 88863"/>
            </a:avLst>
          </a:prstGeom>
          <a:solidFill>
            <a:srgbClr val="CCCCFF">
              <a:alpha val="50000"/>
            </a:srgbClr>
          </a:solidFill>
          <a:ln w="9525" cmpd="sng">
            <a:solidFill>
              <a:srgbClr val="CC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0" rIns="72000" bIns="0"/>
          <a:lstStyle/>
          <a:p>
            <a:pPr algn="ctr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初态为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，故保持为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3" name="Rectangle 57"/>
          <p:cNvSpPr>
            <a:spLocks noChangeArrowheads="1"/>
          </p:cNvSpPr>
          <p:nvPr/>
        </p:nvSpPr>
        <p:spPr bwMode="auto">
          <a:xfrm>
            <a:off x="5832144" y="2515959"/>
            <a:ext cx="723900" cy="1549400"/>
          </a:xfrm>
          <a:prstGeom prst="rect">
            <a:avLst/>
          </a:prstGeom>
          <a:solidFill>
            <a:srgbClr val="99FF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4" name="AutoShape 58"/>
          <p:cNvSpPr>
            <a:spLocks noChangeArrowheads="1"/>
          </p:cNvSpPr>
          <p:nvPr/>
        </p:nvSpPr>
        <p:spPr bwMode="auto">
          <a:xfrm>
            <a:off x="5819019" y="4171722"/>
            <a:ext cx="673100" cy="381000"/>
          </a:xfrm>
          <a:prstGeom prst="wedgeRectCallout">
            <a:avLst>
              <a:gd name="adj1" fmla="val -3773"/>
              <a:gd name="adj2" fmla="val -117917"/>
            </a:avLst>
          </a:prstGeom>
          <a:solidFill>
            <a:srgbClr val="CCCCFF">
              <a:alpha val="50000"/>
            </a:srgbClr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0" rIns="72000" bIns="0"/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zh-CN" altLang="en-US" sz="24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5" name="Rectangle 59"/>
          <p:cNvSpPr>
            <a:spLocks noChangeArrowheads="1"/>
          </p:cNvSpPr>
          <p:nvPr/>
        </p:nvSpPr>
        <p:spPr bwMode="auto">
          <a:xfrm>
            <a:off x="6551281" y="2515959"/>
            <a:ext cx="288925" cy="153670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6" name="AutoShape 60"/>
          <p:cNvSpPr>
            <a:spLocks noChangeArrowheads="1"/>
          </p:cNvSpPr>
          <p:nvPr/>
        </p:nvSpPr>
        <p:spPr bwMode="auto">
          <a:xfrm>
            <a:off x="6466719" y="1939697"/>
            <a:ext cx="774700" cy="381000"/>
          </a:xfrm>
          <a:prstGeom prst="wedgeRectCallout">
            <a:avLst>
              <a:gd name="adj1" fmla="val -28481"/>
              <a:gd name="adj2" fmla="val 122083"/>
            </a:avLst>
          </a:prstGeom>
          <a:solidFill>
            <a:srgbClr val="CCCCFF">
              <a:alpha val="50000"/>
            </a:srgbClr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0" rIns="72000" bIns="0"/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保持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57" name="Rectangle 61"/>
          <p:cNvSpPr>
            <a:spLocks noChangeArrowheads="1"/>
          </p:cNvSpPr>
          <p:nvPr/>
        </p:nvSpPr>
        <p:spPr bwMode="auto">
          <a:xfrm>
            <a:off x="7127544" y="2515959"/>
            <a:ext cx="228600" cy="153670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558" name="Group 62"/>
          <p:cNvGrpSpPr/>
          <p:nvPr/>
        </p:nvGrpSpPr>
        <p:grpSpPr bwMode="auto">
          <a:xfrm>
            <a:off x="4666494" y="5206034"/>
            <a:ext cx="1160462" cy="547688"/>
            <a:chOff x="0" y="0"/>
            <a:chExt cx="731" cy="345"/>
          </a:xfrm>
        </p:grpSpPr>
        <p:sp>
          <p:nvSpPr>
            <p:cNvPr id="559" name="Line 63"/>
            <p:cNvSpPr>
              <a:spLocks noChangeShapeType="1"/>
            </p:cNvSpPr>
            <p:nvPr/>
          </p:nvSpPr>
          <p:spPr bwMode="auto">
            <a:xfrm flipH="1">
              <a:off x="254" y="345"/>
              <a:ext cx="477" cy="0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0" name="Rectangle 64"/>
            <p:cNvSpPr>
              <a:spLocks noChangeArrowheads="1"/>
            </p:cNvSpPr>
            <p:nvPr/>
          </p:nvSpPr>
          <p:spPr bwMode="auto">
            <a:xfrm>
              <a:off x="0" y="0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561" name="Line 65"/>
          <p:cNvSpPr>
            <a:spLocks noChangeShapeType="1"/>
          </p:cNvSpPr>
          <p:nvPr/>
        </p:nvSpPr>
        <p:spPr bwMode="auto">
          <a:xfrm flipH="1">
            <a:off x="5819019" y="5756047"/>
            <a:ext cx="757237" cy="0"/>
          </a:xfrm>
          <a:prstGeom prst="line">
            <a:avLst/>
          </a:prstGeom>
          <a:noFill/>
          <a:ln w="38100" cmpd="sng">
            <a:solidFill>
              <a:srgbClr val="FF00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2" name="Line 66"/>
          <p:cNvSpPr>
            <a:spLocks noChangeShapeType="1"/>
          </p:cNvSpPr>
          <p:nvPr/>
        </p:nvSpPr>
        <p:spPr bwMode="auto">
          <a:xfrm flipH="1">
            <a:off x="6527044" y="5748109"/>
            <a:ext cx="280987" cy="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3" name="Line 67"/>
          <p:cNvSpPr>
            <a:spLocks noChangeShapeType="1"/>
          </p:cNvSpPr>
          <p:nvPr/>
        </p:nvSpPr>
        <p:spPr bwMode="auto">
          <a:xfrm flipH="1">
            <a:off x="8036756" y="5748109"/>
            <a:ext cx="257175" cy="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4" name="Line 68"/>
          <p:cNvSpPr>
            <a:spLocks noChangeShapeType="1"/>
          </p:cNvSpPr>
          <p:nvPr/>
        </p:nvSpPr>
        <p:spPr bwMode="auto">
          <a:xfrm flipH="1">
            <a:off x="8608256" y="5081359"/>
            <a:ext cx="190500" cy="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5" name="Line 69"/>
          <p:cNvSpPr>
            <a:spLocks noChangeShapeType="1"/>
          </p:cNvSpPr>
          <p:nvPr/>
        </p:nvSpPr>
        <p:spPr bwMode="auto">
          <a:xfrm flipH="1">
            <a:off x="7141406" y="5081359"/>
            <a:ext cx="161925" cy="0"/>
          </a:xfrm>
          <a:prstGeom prst="line">
            <a:avLst/>
          </a:prstGeom>
          <a:noFill/>
          <a:ln w="38100" cmpd="sng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66" name="Group 70"/>
          <p:cNvGrpSpPr/>
          <p:nvPr/>
        </p:nvGrpSpPr>
        <p:grpSpPr bwMode="auto">
          <a:xfrm>
            <a:off x="8255831" y="5062309"/>
            <a:ext cx="361950" cy="685800"/>
            <a:chOff x="0" y="0"/>
            <a:chExt cx="228" cy="432"/>
          </a:xfrm>
        </p:grpSpPr>
        <p:sp>
          <p:nvSpPr>
            <p:cNvPr id="567" name="Line 71"/>
            <p:cNvSpPr>
              <a:spLocks noChangeShapeType="1"/>
            </p:cNvSpPr>
            <p:nvPr/>
          </p:nvSpPr>
          <p:spPr bwMode="auto">
            <a:xfrm flipH="1">
              <a:off x="0" y="12"/>
              <a:ext cx="228" cy="0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8" name="Line 72"/>
            <p:cNvSpPr>
              <a:spLocks noChangeShapeType="1"/>
            </p:cNvSpPr>
            <p:nvPr/>
          </p:nvSpPr>
          <p:spPr bwMode="auto">
            <a:xfrm flipH="1" flipV="1">
              <a:off x="9" y="0"/>
              <a:ext cx="0" cy="432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9" name="Group 73"/>
          <p:cNvGrpSpPr/>
          <p:nvPr/>
        </p:nvGrpSpPr>
        <p:grpSpPr bwMode="auto">
          <a:xfrm>
            <a:off x="7293806" y="5076597"/>
            <a:ext cx="757238" cy="685800"/>
            <a:chOff x="0" y="0"/>
            <a:chExt cx="477" cy="432"/>
          </a:xfrm>
        </p:grpSpPr>
        <p:sp>
          <p:nvSpPr>
            <p:cNvPr id="570" name="Line 74"/>
            <p:cNvSpPr>
              <a:spLocks noChangeShapeType="1"/>
            </p:cNvSpPr>
            <p:nvPr/>
          </p:nvSpPr>
          <p:spPr bwMode="auto">
            <a:xfrm flipH="1">
              <a:off x="0" y="423"/>
              <a:ext cx="477" cy="0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1" name="Line 75"/>
            <p:cNvSpPr>
              <a:spLocks noChangeShapeType="1"/>
            </p:cNvSpPr>
            <p:nvPr/>
          </p:nvSpPr>
          <p:spPr bwMode="auto">
            <a:xfrm flipH="1" flipV="1">
              <a:off x="6" y="0"/>
              <a:ext cx="0" cy="432"/>
            </a:xfrm>
            <a:prstGeom prst="line">
              <a:avLst/>
            </a:prstGeom>
            <a:noFill/>
            <a:ln w="38100" cmpd="sng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2" name="Group 76"/>
          <p:cNvGrpSpPr/>
          <p:nvPr/>
        </p:nvGrpSpPr>
        <p:grpSpPr bwMode="auto">
          <a:xfrm>
            <a:off x="6769931" y="5081359"/>
            <a:ext cx="381000" cy="685800"/>
            <a:chOff x="0" y="0"/>
            <a:chExt cx="240" cy="432"/>
          </a:xfrm>
        </p:grpSpPr>
        <p:sp>
          <p:nvSpPr>
            <p:cNvPr id="573" name="Line 77"/>
            <p:cNvSpPr>
              <a:spLocks noChangeShapeType="1"/>
            </p:cNvSpPr>
            <p:nvPr/>
          </p:nvSpPr>
          <p:spPr bwMode="auto">
            <a:xfrm flipH="1">
              <a:off x="0" y="0"/>
              <a:ext cx="240" cy="0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" name="Line 78"/>
            <p:cNvSpPr>
              <a:spLocks noChangeShapeType="1"/>
            </p:cNvSpPr>
            <p:nvPr/>
          </p:nvSpPr>
          <p:spPr bwMode="auto">
            <a:xfrm flipH="1" flipV="1">
              <a:off x="12" y="0"/>
              <a:ext cx="0" cy="432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6" name="Group 80"/>
          <p:cNvGrpSpPr/>
          <p:nvPr/>
        </p:nvGrpSpPr>
        <p:grpSpPr bwMode="auto">
          <a:xfrm flipV="1">
            <a:off x="5098294" y="5827484"/>
            <a:ext cx="3719512" cy="704850"/>
            <a:chOff x="0" y="0"/>
            <a:chExt cx="2343" cy="444"/>
          </a:xfrm>
        </p:grpSpPr>
        <p:sp>
          <p:nvSpPr>
            <p:cNvPr id="577" name="Line 81"/>
            <p:cNvSpPr>
              <a:spLocks noChangeShapeType="1"/>
            </p:cNvSpPr>
            <p:nvPr/>
          </p:nvSpPr>
          <p:spPr bwMode="auto">
            <a:xfrm flipH="1">
              <a:off x="0" y="432"/>
              <a:ext cx="477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8" name="Line 82"/>
            <p:cNvSpPr>
              <a:spLocks noChangeShapeType="1"/>
            </p:cNvSpPr>
            <p:nvPr/>
          </p:nvSpPr>
          <p:spPr bwMode="auto">
            <a:xfrm flipH="1">
              <a:off x="456" y="432"/>
              <a:ext cx="477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9" name="Line 83"/>
            <p:cNvSpPr>
              <a:spLocks noChangeShapeType="1"/>
            </p:cNvSpPr>
            <p:nvPr/>
          </p:nvSpPr>
          <p:spPr bwMode="auto">
            <a:xfrm flipH="1">
              <a:off x="912" y="432"/>
              <a:ext cx="177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0" name="Line 84"/>
            <p:cNvSpPr>
              <a:spLocks noChangeShapeType="1"/>
            </p:cNvSpPr>
            <p:nvPr/>
          </p:nvSpPr>
          <p:spPr bwMode="auto">
            <a:xfrm flipH="1">
              <a:off x="1863" y="432"/>
              <a:ext cx="162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1" name="Line 85"/>
            <p:cNvSpPr>
              <a:spLocks noChangeShapeType="1"/>
            </p:cNvSpPr>
            <p:nvPr/>
          </p:nvSpPr>
          <p:spPr bwMode="auto">
            <a:xfrm flipH="1">
              <a:off x="2223" y="12"/>
              <a:ext cx="120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2" name="Line 86"/>
            <p:cNvSpPr>
              <a:spLocks noChangeShapeType="1"/>
            </p:cNvSpPr>
            <p:nvPr/>
          </p:nvSpPr>
          <p:spPr bwMode="auto">
            <a:xfrm flipH="1">
              <a:off x="1299" y="12"/>
              <a:ext cx="102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3" name="Line 87"/>
            <p:cNvSpPr>
              <a:spLocks noChangeShapeType="1"/>
            </p:cNvSpPr>
            <p:nvPr/>
          </p:nvSpPr>
          <p:spPr bwMode="auto">
            <a:xfrm flipH="1">
              <a:off x="2001" y="12"/>
              <a:ext cx="228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" name="Line 88"/>
            <p:cNvSpPr>
              <a:spLocks noChangeShapeType="1"/>
            </p:cNvSpPr>
            <p:nvPr/>
          </p:nvSpPr>
          <p:spPr bwMode="auto">
            <a:xfrm flipH="1" flipV="1">
              <a:off x="2010" y="0"/>
              <a:ext cx="0" cy="432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5" name="Line 89"/>
            <p:cNvSpPr>
              <a:spLocks noChangeShapeType="1"/>
            </p:cNvSpPr>
            <p:nvPr/>
          </p:nvSpPr>
          <p:spPr bwMode="auto">
            <a:xfrm flipH="1">
              <a:off x="1395" y="432"/>
              <a:ext cx="477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6" name="Line 90"/>
            <p:cNvSpPr>
              <a:spLocks noChangeShapeType="1"/>
            </p:cNvSpPr>
            <p:nvPr/>
          </p:nvSpPr>
          <p:spPr bwMode="auto">
            <a:xfrm flipH="1" flipV="1">
              <a:off x="1401" y="9"/>
              <a:ext cx="0" cy="432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7" name="Line 91"/>
            <p:cNvSpPr>
              <a:spLocks noChangeShapeType="1"/>
            </p:cNvSpPr>
            <p:nvPr/>
          </p:nvSpPr>
          <p:spPr bwMode="auto">
            <a:xfrm flipH="1">
              <a:off x="1065" y="12"/>
              <a:ext cx="240" cy="0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8" name="Line 92"/>
            <p:cNvSpPr>
              <a:spLocks noChangeShapeType="1"/>
            </p:cNvSpPr>
            <p:nvPr/>
          </p:nvSpPr>
          <p:spPr bwMode="auto">
            <a:xfrm flipH="1" flipV="1">
              <a:off x="1077" y="12"/>
              <a:ext cx="0" cy="432"/>
            </a:xfrm>
            <a:prstGeom prst="line">
              <a:avLst/>
            </a:prstGeom>
            <a:noFill/>
            <a:ln w="38100" cmpd="sng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9" name="Rectangle 93"/>
          <p:cNvSpPr>
            <a:spLocks noChangeArrowheads="1"/>
          </p:cNvSpPr>
          <p:nvPr/>
        </p:nvSpPr>
        <p:spPr bwMode="auto">
          <a:xfrm>
            <a:off x="6840206" y="2515959"/>
            <a:ext cx="322263" cy="1549400"/>
          </a:xfrm>
          <a:prstGeom prst="rect">
            <a:avLst/>
          </a:prstGeom>
          <a:solidFill>
            <a:srgbClr val="99FF99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90" name="AutoShape 94"/>
          <p:cNvSpPr>
            <a:spLocks noChangeArrowheads="1"/>
          </p:cNvSpPr>
          <p:nvPr/>
        </p:nvSpPr>
        <p:spPr bwMode="auto">
          <a:xfrm>
            <a:off x="6682619" y="4171722"/>
            <a:ext cx="698500" cy="381000"/>
          </a:xfrm>
          <a:prstGeom prst="wedgeRectCallout">
            <a:avLst>
              <a:gd name="adj1" fmla="val -1000"/>
              <a:gd name="adj2" fmla="val -117917"/>
            </a:avLst>
          </a:prstGeom>
          <a:solidFill>
            <a:srgbClr val="CCCCFF">
              <a:alpha val="50000"/>
            </a:srgbClr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0" rIns="72000" bIns="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置</a:t>
            </a:r>
            <a:r>
              <a:rPr lang="zh-CN" altLang="en-US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92" name="AutoShape 96"/>
          <p:cNvSpPr>
            <a:spLocks noChangeArrowheads="1"/>
          </p:cNvSpPr>
          <p:nvPr/>
        </p:nvSpPr>
        <p:spPr bwMode="auto">
          <a:xfrm>
            <a:off x="7330319" y="4171722"/>
            <a:ext cx="774700" cy="381000"/>
          </a:xfrm>
          <a:prstGeom prst="wedgeRectCallout">
            <a:avLst>
              <a:gd name="adj1" fmla="val -4917"/>
              <a:gd name="adj2" fmla="val -136667"/>
            </a:avLst>
          </a:prstGeom>
          <a:solidFill>
            <a:srgbClr val="CCCCFF">
              <a:alpha val="50000"/>
            </a:srgbClr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0" rIns="72000" bIns="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置0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1125" y="1792761"/>
            <a:ext cx="2912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假设初始状态为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" name="Text Box 46"/>
          <p:cNvSpPr txBox="1">
            <a:spLocks noChangeArrowheads="1"/>
          </p:cNvSpPr>
          <p:nvPr/>
        </p:nvSpPr>
        <p:spPr bwMode="auto">
          <a:xfrm>
            <a:off x="434960" y="2532481"/>
            <a:ext cx="246031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kumimoji="1" lang="en-US" altLang="zh-CN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kumimoji="1"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触发器的功能表</a:t>
            </a:r>
            <a:endParaRPr kumimoji="1" lang="zh-CN" altLang="en-US" sz="24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94" name="Group 47"/>
          <p:cNvGrpSpPr/>
          <p:nvPr/>
        </p:nvGrpSpPr>
        <p:grpSpPr bwMode="auto">
          <a:xfrm>
            <a:off x="142729" y="3412750"/>
            <a:ext cx="3295650" cy="2049462"/>
            <a:chOff x="3420" y="624"/>
            <a:chExt cx="2076" cy="1348"/>
          </a:xfrm>
        </p:grpSpPr>
        <p:sp>
          <p:nvSpPr>
            <p:cNvPr id="595" name="Rectangle 48"/>
            <p:cNvSpPr>
              <a:spLocks noChangeArrowheads="1"/>
            </p:cNvSpPr>
            <p:nvPr/>
          </p:nvSpPr>
          <p:spPr bwMode="auto">
            <a:xfrm>
              <a:off x="4206" y="624"/>
              <a:ext cx="129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96" name="Object 49"/>
            <p:cNvGraphicFramePr>
              <a:graphicFrameLocks noChangeAspect="1"/>
            </p:cNvGraphicFramePr>
            <p:nvPr/>
          </p:nvGraphicFramePr>
          <p:xfrm>
            <a:off x="4921" y="625"/>
            <a:ext cx="280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42" name="Equation" r:id="rId5" imgW="177800" imgH="228600" progId="Equation.3">
                    <p:embed/>
                  </p:oleObj>
                </mc:Choice>
                <mc:Fallback>
                  <p:oleObj name="Equation" r:id="rId5" imgW="177800" imgH="2286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625"/>
                          <a:ext cx="280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7" name="Rectangle 50"/>
            <p:cNvSpPr>
              <a:spLocks noChangeArrowheads="1"/>
            </p:cNvSpPr>
            <p:nvPr/>
          </p:nvSpPr>
          <p:spPr bwMode="auto">
            <a:xfrm>
              <a:off x="4206" y="950"/>
              <a:ext cx="1290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不定状态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0      1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1      0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保持原状态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98" name="Rectangle 51"/>
            <p:cNvSpPr>
              <a:spLocks noChangeArrowheads="1"/>
            </p:cNvSpPr>
            <p:nvPr/>
          </p:nvSpPr>
          <p:spPr bwMode="auto">
            <a:xfrm>
              <a:off x="3420" y="950"/>
              <a:ext cx="786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1    0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1    1</a:t>
              </a:r>
              <a:endPara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9" name="Rectangle 52"/>
            <p:cNvSpPr>
              <a:spLocks noChangeArrowheads="1"/>
            </p:cNvSpPr>
            <p:nvPr/>
          </p:nvSpPr>
          <p:spPr bwMode="auto">
            <a:xfrm>
              <a:off x="3420" y="624"/>
              <a:ext cx="78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S</a:t>
              </a:r>
              <a:r>
                <a:rPr kumimoji="1" lang="en-US" altLang="zh-CN" sz="24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1" lang="en-US" altLang="zh-CN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0" name="Line 53"/>
            <p:cNvSpPr>
              <a:spLocks noChangeShapeType="1"/>
            </p:cNvSpPr>
            <p:nvPr/>
          </p:nvSpPr>
          <p:spPr bwMode="auto">
            <a:xfrm>
              <a:off x="3420" y="624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1" name="Line 54"/>
            <p:cNvSpPr>
              <a:spLocks noChangeShapeType="1"/>
            </p:cNvSpPr>
            <p:nvPr/>
          </p:nvSpPr>
          <p:spPr bwMode="auto">
            <a:xfrm>
              <a:off x="3420" y="950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2" name="Line 55"/>
            <p:cNvSpPr>
              <a:spLocks noChangeShapeType="1"/>
            </p:cNvSpPr>
            <p:nvPr/>
          </p:nvSpPr>
          <p:spPr bwMode="auto">
            <a:xfrm>
              <a:off x="3420" y="1972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3" name="Line 56"/>
            <p:cNvSpPr>
              <a:spLocks noChangeShapeType="1"/>
            </p:cNvSpPr>
            <p:nvPr/>
          </p:nvSpPr>
          <p:spPr bwMode="auto">
            <a:xfrm>
              <a:off x="4206" y="624"/>
              <a:ext cx="0" cy="13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4" name="Line 57"/>
            <p:cNvSpPr>
              <a:spLocks noChangeShapeType="1"/>
            </p:cNvSpPr>
            <p:nvPr/>
          </p:nvSpPr>
          <p:spPr bwMode="auto">
            <a:xfrm>
              <a:off x="3569" y="664"/>
              <a:ext cx="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05" name="Line 58"/>
            <p:cNvSpPr>
              <a:spLocks noChangeShapeType="1"/>
            </p:cNvSpPr>
            <p:nvPr/>
          </p:nvSpPr>
          <p:spPr bwMode="auto">
            <a:xfrm>
              <a:off x="3860" y="682"/>
              <a:ext cx="1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05" name="Object 49"/>
          <p:cNvGraphicFramePr>
            <a:graphicFrameLocks noChangeAspect="1"/>
          </p:cNvGraphicFramePr>
          <p:nvPr/>
        </p:nvGraphicFramePr>
        <p:xfrm>
          <a:off x="4719949" y="5894577"/>
          <a:ext cx="444500" cy="500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3" name="Equation" r:id="rId7" imgW="177800" imgH="228600" progId="Equation.3">
                  <p:embed/>
                </p:oleObj>
              </mc:Choice>
              <mc:Fallback>
                <p:oleObj name="Equation" r:id="rId7" imgW="177800" imgH="2286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9949" y="5894577"/>
                        <a:ext cx="444500" cy="500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" grpId="0" animBg="1" autoUpdateAnimBg="0"/>
      <p:bldP spid="504" grpId="0" animBg="1" autoUpdateAnimBg="0"/>
      <p:bldP spid="539" grpId="0" animBg="1" autoUpdateAnimBg="0"/>
      <p:bldP spid="541" grpId="0" animBg="1" autoUpdateAnimBg="0"/>
      <p:bldP spid="542" grpId="0" animBg="1" autoUpdateAnimBg="0"/>
      <p:bldP spid="552" grpId="0" bldLvl="0" animBg="1" autoUpdateAnimBg="0"/>
      <p:bldP spid="554" grpId="0" animBg="1" autoUpdateAnimBg="0"/>
      <p:bldP spid="556" grpId="0" animBg="1" autoUpdateAnimBg="0"/>
      <p:bldP spid="590" grpId="0" animBg="1" autoUpdateAnimBg="0"/>
      <p:bldP spid="592" grpId="0" bldLvl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</a:t>
            </a: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R-S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62" name="Text Box 46" descr="花束"/>
          <p:cNvSpPr txBox="1">
            <a:spLocks noChangeArrowheads="1"/>
          </p:cNvSpPr>
          <p:nvPr/>
        </p:nvSpPr>
        <p:spPr bwMode="auto">
          <a:xfrm>
            <a:off x="191805" y="620964"/>
            <a:ext cx="709714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四、特点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grpSp>
        <p:nvGrpSpPr>
          <p:cNvPr id="28" name="Group 118"/>
          <p:cNvGrpSpPr/>
          <p:nvPr/>
        </p:nvGrpSpPr>
        <p:grpSpPr bwMode="auto">
          <a:xfrm>
            <a:off x="4751380" y="1102474"/>
            <a:ext cx="3790612" cy="2742982"/>
            <a:chOff x="3126" y="2501"/>
            <a:chExt cx="2634" cy="1556"/>
          </a:xfrm>
        </p:grpSpPr>
        <p:sp>
          <p:nvSpPr>
            <p:cNvPr id="29" name="Text Box 96"/>
            <p:cNvSpPr txBox="1">
              <a:spLocks noChangeArrowheads="1"/>
            </p:cNvSpPr>
            <p:nvPr/>
          </p:nvSpPr>
          <p:spPr bwMode="auto">
            <a:xfrm>
              <a:off x="3126" y="3382"/>
              <a:ext cx="902" cy="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复位端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0" name="Text Box 97"/>
            <p:cNvSpPr txBox="1">
              <a:spLocks noChangeArrowheads="1"/>
            </p:cNvSpPr>
            <p:nvPr/>
          </p:nvSpPr>
          <p:spPr bwMode="auto">
            <a:xfrm>
              <a:off x="4813" y="3389"/>
              <a:ext cx="947" cy="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CC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置位端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" name="Line 99"/>
            <p:cNvSpPr>
              <a:spLocks noChangeShapeType="1"/>
            </p:cNvSpPr>
            <p:nvPr/>
          </p:nvSpPr>
          <p:spPr bwMode="auto">
            <a:xfrm>
              <a:off x="4258" y="3359"/>
              <a:ext cx="0" cy="2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100"/>
            <p:cNvSpPr>
              <a:spLocks noChangeShapeType="1"/>
            </p:cNvSpPr>
            <p:nvPr/>
          </p:nvSpPr>
          <p:spPr bwMode="auto">
            <a:xfrm>
              <a:off x="4262" y="2614"/>
              <a:ext cx="0" cy="2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101"/>
            <p:cNvSpPr>
              <a:spLocks noChangeShapeType="1"/>
            </p:cNvSpPr>
            <p:nvPr/>
          </p:nvSpPr>
          <p:spPr bwMode="auto">
            <a:xfrm>
              <a:off x="4537" y="3343"/>
              <a:ext cx="0" cy="2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102"/>
            <p:cNvSpPr>
              <a:spLocks noChangeShapeType="1"/>
            </p:cNvSpPr>
            <p:nvPr/>
          </p:nvSpPr>
          <p:spPr bwMode="auto">
            <a:xfrm>
              <a:off x="4538" y="2612"/>
              <a:ext cx="0" cy="2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2" name="Object 103"/>
            <p:cNvGraphicFramePr>
              <a:graphicFrameLocks noChangeAspect="1"/>
            </p:cNvGraphicFramePr>
            <p:nvPr/>
          </p:nvGraphicFramePr>
          <p:xfrm>
            <a:off x="4540" y="2519"/>
            <a:ext cx="22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14" name="Equation" r:id="rId3" imgW="165100" imgH="203200" progId="Equation.3">
                    <p:embed/>
                  </p:oleObj>
                </mc:Choice>
                <mc:Fallback>
                  <p:oleObj name="Equation" r:id="rId3" imgW="165100" imgH="203200" progId="Equation.3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" y="2519"/>
                          <a:ext cx="226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104"/>
            <p:cNvGraphicFramePr>
              <a:graphicFrameLocks noChangeAspect="1"/>
            </p:cNvGraphicFramePr>
            <p:nvPr/>
          </p:nvGraphicFramePr>
          <p:xfrm>
            <a:off x="3935" y="3314"/>
            <a:ext cx="317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15" name="Equation" r:id="rId5" imgW="241300" imgH="215900" progId="Equation.3">
                    <p:embed/>
                  </p:oleObj>
                </mc:Choice>
                <mc:Fallback>
                  <p:oleObj name="Equation" r:id="rId5" imgW="241300" imgH="215900" progId="Equation.3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5" y="3314"/>
                          <a:ext cx="317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Object 105"/>
            <p:cNvGraphicFramePr>
              <a:graphicFrameLocks noChangeAspect="1"/>
            </p:cNvGraphicFramePr>
            <p:nvPr/>
          </p:nvGraphicFramePr>
          <p:xfrm>
            <a:off x="4601" y="3315"/>
            <a:ext cx="313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16" name="Equation" r:id="rId7" imgW="228600" imgH="215900" progId="Equation.3">
                    <p:embed/>
                  </p:oleObj>
                </mc:Choice>
                <mc:Fallback>
                  <p:oleObj name="Equation" r:id="rId7" imgW="228600" imgH="215900" progId="Equation.3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1" y="3315"/>
                          <a:ext cx="313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5" name="Rectangle 109"/>
            <p:cNvSpPr>
              <a:spLocks noChangeArrowheads="1"/>
            </p:cNvSpPr>
            <p:nvPr/>
          </p:nvSpPr>
          <p:spPr bwMode="auto">
            <a:xfrm>
              <a:off x="4073" y="2814"/>
              <a:ext cx="647" cy="47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6" name="Object 110"/>
            <p:cNvGraphicFramePr>
              <a:graphicFrameLocks noChangeAspect="1"/>
            </p:cNvGraphicFramePr>
            <p:nvPr/>
          </p:nvGraphicFramePr>
          <p:xfrm>
            <a:off x="4019" y="2501"/>
            <a:ext cx="230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17" name="Equation" r:id="rId9" imgW="177800" imgH="228600" progId="Equation.3">
                    <p:embed/>
                  </p:oleObj>
                </mc:Choice>
                <mc:Fallback>
                  <p:oleObj name="Equation" r:id="rId9" imgW="177800" imgH="228600" progId="Equation.3">
                    <p:embed/>
                    <p:pic>
                      <p:nvPicPr>
                        <p:cNvPr id="0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9" y="2501"/>
                          <a:ext cx="230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Text Box 111"/>
            <p:cNvSpPr txBox="1">
              <a:spLocks noChangeArrowheads="1"/>
            </p:cNvSpPr>
            <p:nvPr/>
          </p:nvSpPr>
          <p:spPr bwMode="auto">
            <a:xfrm>
              <a:off x="3812" y="3766"/>
              <a:ext cx="12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逻辑符号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58" name="Oval 116"/>
            <p:cNvSpPr>
              <a:spLocks noChangeArrowheads="1"/>
            </p:cNvSpPr>
            <p:nvPr/>
          </p:nvSpPr>
          <p:spPr bwMode="auto">
            <a:xfrm>
              <a:off x="4228" y="3293"/>
              <a:ext cx="65" cy="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9" name="Oval 117"/>
            <p:cNvSpPr>
              <a:spLocks noChangeArrowheads="1"/>
            </p:cNvSpPr>
            <p:nvPr/>
          </p:nvSpPr>
          <p:spPr bwMode="auto">
            <a:xfrm>
              <a:off x="4507" y="3297"/>
              <a:ext cx="65" cy="67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4645085" y="4133498"/>
            <a:ext cx="386936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由于基本</a:t>
            </a:r>
            <a:r>
              <a:rPr lang="en-US" altLang="zh-CN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触发器的状态由输入信号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直接控制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，以及存在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约束条件</a:t>
            </a:r>
            <a:r>
              <a:rPr lang="zh-CN" altLang="en-US" sz="24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，其在应用方面存在很大的局限性和不便</a:t>
            </a:r>
            <a:endParaRPr lang="zh-CN" altLang="en-US" sz="24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0" name="Text Box 5"/>
          <p:cNvSpPr txBox="1">
            <a:spLocks noChangeArrowheads="1"/>
          </p:cNvSpPr>
          <p:nvPr/>
        </p:nvSpPr>
        <p:spPr bwMode="auto">
          <a:xfrm>
            <a:off x="335498" y="1448360"/>
            <a:ext cx="3869627" cy="375006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直接控制：</a:t>
            </a:r>
            <a:r>
              <a:rPr lang="zh-CN" altLang="en-US" sz="2800" b="1" dirty="0">
                <a:latin typeface="楷体_GB2312" pitchFamily="49" charset="-122"/>
              </a:rPr>
              <a:t>输入信号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直接</a:t>
            </a:r>
            <a:r>
              <a:rPr lang="zh-CN" altLang="en-US" sz="2800" b="1" dirty="0">
                <a:latin typeface="楷体_GB2312" pitchFamily="49" charset="-122"/>
              </a:rPr>
              <a:t>加在输出门上，在输入信号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</a:rPr>
              <a:t>全部</a:t>
            </a:r>
            <a:r>
              <a:rPr lang="zh-CN" altLang="en-US" sz="2800" b="1" dirty="0">
                <a:latin typeface="楷体_GB2312" pitchFamily="49" charset="-122"/>
              </a:rPr>
              <a:t>作用时间内，都能直接改变输出端的状态，</a:t>
            </a:r>
            <a:r>
              <a:rPr lang="zh-CN" altLang="en-US" sz="2800" b="1" dirty="0">
                <a:latin typeface="楷体_GB2312" pitchFamily="49" charset="-122"/>
                <a:sym typeface="Arial" panose="020B0604020202020204" pitchFamily="34" charset="0"/>
              </a:rPr>
              <a:t>即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sym typeface="Arial" panose="020B0604020202020204" pitchFamily="34" charset="0"/>
              </a:rPr>
              <a:t>只要有输入信号，就能作用于电路</a:t>
            </a:r>
            <a:endParaRPr lang="zh-CN" altLang="en-US" sz="2800" b="1" dirty="0">
              <a:latin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淘宝网chenying0907出品 10"/>
          <p:cNvSpPr txBox="1"/>
          <p:nvPr/>
        </p:nvSpPr>
        <p:spPr>
          <a:xfrm>
            <a:off x="457533" y="364805"/>
            <a:ext cx="4114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   </a:t>
            </a:r>
            <a:r>
              <a:rPr lang="zh-CN" altLang="en-US" sz="3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集成触发器</a:t>
            </a:r>
            <a:endParaRPr lang="en-US" altLang="zh-CN" sz="36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Box 16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2242743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defRPr>
            </a:lvl1pPr>
          </a:lstStyle>
          <a:p>
            <a:r>
              <a:rPr lang="zh-CN" altLang="en-US" dirty="0"/>
              <a:t>基本</a:t>
            </a:r>
            <a:r>
              <a:rPr lang="en-US" altLang="zh-CN" dirty="0"/>
              <a:t>R-S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25" name="Text Box 28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3503574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rPr>
              <a:t>脉冲触发的触发器</a:t>
            </a:r>
            <a:endParaRPr lang="zh-CN" altLang="en-US" sz="3200" b="1" dirty="0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  <p:sp>
        <p:nvSpPr>
          <p:cNvPr id="26" name="Text Box 30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2880049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latin typeface="楷体_GB2312" pitchFamily="49" charset="-122"/>
              </a:defRPr>
            </a:lvl1pPr>
          </a:lstStyle>
          <a:p>
            <a:r>
              <a:rPr lang="zh-CN" altLang="en-US" dirty="0"/>
              <a:t>电平触发的触发器</a:t>
            </a:r>
            <a:endParaRPr lang="zh-CN" altLang="en-US" dirty="0"/>
          </a:p>
        </p:txBody>
      </p:sp>
      <p:sp>
        <p:nvSpPr>
          <p:cNvPr id="27" name="Text Box 4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1574728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0" hangingPunct="0">
              <a:defRPr sz="3200" b="1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defRPr>
            </a:lvl1pPr>
          </a:lstStyle>
          <a:p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34" name="Text Box 86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41244" y="4158572"/>
            <a:ext cx="496307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3200" b="1" dirty="0">
                <a:solidFill>
                  <a:schemeClr val="bg2">
                    <a:lumMod val="75000"/>
                  </a:schemeClr>
                </a:solidFill>
                <a:latin typeface="楷体_GB2312" pitchFamily="49" charset="-122"/>
              </a:rPr>
              <a:t>边沿触发的触发器</a:t>
            </a:r>
            <a:endParaRPr lang="zh-CN" altLang="en-US" sz="3200" b="1" dirty="0">
              <a:solidFill>
                <a:schemeClr val="bg2">
                  <a:lumMod val="75000"/>
                </a:schemeClr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366688" y="824511"/>
            <a:ext cx="8322299" cy="2035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在数字系统中，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rPr>
              <a:t>为协调各部分的动作，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常常要求某些触发器在</a:t>
            </a:r>
            <a:r>
              <a:rPr lang="zh-CN" altLang="en-US" sz="2800" b="1" dirty="0">
                <a:solidFill>
                  <a:srgbClr val="CC3300"/>
                </a:solidFill>
                <a:latin typeface="Arial" panose="020B0604020202020204" pitchFamily="34" charset="0"/>
                <a:ea typeface="楷体_GB2312" pitchFamily="49" charset="-122"/>
              </a:rPr>
              <a:t>同一时刻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动作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rPr>
              <a:t>（即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rPr>
              <a:t>改变状态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rPr>
              <a:t>，也称为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rPr>
              <a:t>翻转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  <a:sym typeface="Arial" panose="020B0604020202020204" pitchFamily="34" charset="0"/>
              </a:rPr>
              <a:t>）。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这就要求有一个</a:t>
            </a:r>
            <a:r>
              <a:rPr lang="zh-CN" altLang="en-US" sz="2800" b="1" dirty="0">
                <a:solidFill>
                  <a:srgbClr val="CC3300"/>
                </a:solidFill>
                <a:latin typeface="Arial" panose="020B0604020202020204" pitchFamily="34" charset="0"/>
                <a:ea typeface="楷体_GB2312" pitchFamily="49" charset="-122"/>
              </a:rPr>
              <a:t>同步信号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来控制，这个控制信号叫做</a:t>
            </a:r>
            <a:r>
              <a:rPr lang="zh-CN" altLang="en-US" sz="2800" b="1" dirty="0">
                <a:solidFill>
                  <a:srgbClr val="CC3300"/>
                </a:solidFill>
                <a:latin typeface="Arial" panose="020B0604020202020204" pitchFamily="34" charset="0"/>
                <a:ea typeface="楷体_GB2312" pitchFamily="49" charset="-122"/>
              </a:rPr>
              <a:t>时钟脉冲信号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（Clock 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Pulse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CP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rPr>
              <a:t>）</a:t>
            </a:r>
            <a:endParaRPr lang="zh-CN" altLang="en-US" sz="2800" b="1" dirty="0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5" name="AutoShape 5"/>
          <p:cNvSpPr>
            <a:spLocks noChangeArrowheads="1"/>
          </p:cNvSpPr>
          <p:nvPr/>
        </p:nvSpPr>
        <p:spPr bwMode="auto">
          <a:xfrm>
            <a:off x="3447595" y="5288570"/>
            <a:ext cx="4303623" cy="954107"/>
          </a:xfrm>
          <a:prstGeom prst="wedgeRectCallout">
            <a:avLst>
              <a:gd name="adj1" fmla="val 33914"/>
              <a:gd name="adj2" fmla="val -126462"/>
            </a:avLst>
          </a:prstGeom>
          <a:solidFill>
            <a:srgbClr val="CCECFF"/>
          </a:solidFill>
          <a:ln w="9525" cmpd="sng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电平触发器（也称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同步触发器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）是其中最简单的一种 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6" name="AutoShape 6"/>
          <p:cNvSpPr>
            <a:spLocks noChangeArrowheads="1"/>
          </p:cNvSpPr>
          <p:nvPr/>
        </p:nvSpPr>
        <p:spPr bwMode="auto">
          <a:xfrm>
            <a:off x="3915549" y="2995854"/>
            <a:ext cx="4218833" cy="871752"/>
          </a:xfrm>
          <a:prstGeom prst="wedgeRectCallout">
            <a:avLst>
              <a:gd name="adj1" fmla="val -69982"/>
              <a:gd name="adj2" fmla="val -69346"/>
            </a:avLst>
          </a:prstGeom>
          <a:solidFill>
            <a:srgbClr val="CCCCFF">
              <a:alpha val="50000"/>
            </a:srgbClr>
          </a:solidFill>
          <a:ln w="9525" cmpd="sng">
            <a:solidFill>
              <a:srgbClr val="0000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Clock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Pulse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是一串周期性的矩形脉冲 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366688" y="4151678"/>
            <a:ext cx="8146410" cy="95410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CCFF">
                    <a:alpha val="5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defTabSz="914400" fontAlgn="base">
              <a:spcBef>
                <a:spcPct val="20000"/>
              </a:spcBef>
              <a:spcAft>
                <a:spcPct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具有时钟脉冲控制的触发器统称为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时钟触发器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，又称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钟控触发器</a:t>
            </a:r>
            <a:r>
              <a: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。 </a:t>
            </a:r>
            <a:endParaRPr lang="zh-CN" altLang="en-US" sz="2800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bldLvl="0" animBg="1" autoUpdateAnimBg="0"/>
      <p:bldP spid="57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一、钟控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R-S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127510" y="583126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电路结构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81283" y="2036892"/>
            <a:ext cx="7147397" cy="3855358"/>
            <a:chOff x="544063" y="1501321"/>
            <a:chExt cx="7147397" cy="3855358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1279" y="1501321"/>
              <a:ext cx="6650181" cy="3855358"/>
            </a:xfrm>
            <a:prstGeom prst="rect">
              <a:avLst/>
            </a:prstGeom>
          </p:spPr>
        </p:pic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544063" y="3486518"/>
              <a:ext cx="4873884" cy="4001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" name="Group 7"/>
            <p:cNvGrpSpPr/>
            <p:nvPr/>
          </p:nvGrpSpPr>
          <p:grpSpPr bwMode="auto">
            <a:xfrm>
              <a:off x="3941974" y="2945633"/>
              <a:ext cx="457200" cy="457200"/>
              <a:chOff x="2064" y="1818"/>
              <a:chExt cx="288" cy="288"/>
            </a:xfrm>
          </p:grpSpPr>
          <p:sp>
            <p:nvSpPr>
              <p:cNvPr id="20" name="Text Box 8"/>
              <p:cNvSpPr txBox="1">
                <a:spLocks noChangeArrowheads="1"/>
              </p:cNvSpPr>
              <p:nvPr/>
            </p:nvSpPr>
            <p:spPr bwMode="auto">
              <a:xfrm>
                <a:off x="2064" y="181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C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R</a:t>
                </a:r>
                <a:endPara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Freeform 9"/>
              <p:cNvSpPr/>
              <p:nvPr/>
            </p:nvSpPr>
            <p:spPr bwMode="auto">
              <a:xfrm>
                <a:off x="2132" y="1872"/>
                <a:ext cx="133" cy="1"/>
              </a:xfrm>
              <a:custGeom>
                <a:avLst/>
                <a:gdLst>
                  <a:gd name="T0" fmla="*/ 0 w 133"/>
                  <a:gd name="T1" fmla="*/ 0 h 1"/>
                  <a:gd name="T2" fmla="*/ 133 w 1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3" h="1">
                    <a:moveTo>
                      <a:pt x="0" y="0"/>
                    </a:moveTo>
                    <a:cubicBezTo>
                      <a:pt x="44" y="0"/>
                      <a:pt x="89" y="0"/>
                      <a:pt x="133" y="0"/>
                    </a:cubicBez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" name="Group 10"/>
            <p:cNvGrpSpPr/>
            <p:nvPr/>
          </p:nvGrpSpPr>
          <p:grpSpPr bwMode="auto">
            <a:xfrm>
              <a:off x="1564918" y="2945633"/>
              <a:ext cx="503238" cy="457200"/>
              <a:chOff x="613" y="1813"/>
              <a:chExt cx="288" cy="281"/>
            </a:xfrm>
          </p:grpSpPr>
          <p:sp>
            <p:nvSpPr>
              <p:cNvPr id="23" name="Text Box 11"/>
              <p:cNvSpPr txBox="1">
                <a:spLocks noChangeArrowheads="1"/>
              </p:cNvSpPr>
              <p:nvPr/>
            </p:nvSpPr>
            <p:spPr bwMode="auto">
              <a:xfrm>
                <a:off x="613" y="1813"/>
                <a:ext cx="288" cy="2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CC33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kumimoji="1" lang="en-US" altLang="zh-C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</a:t>
                </a:r>
                <a:endParaRPr kumimoji="1" lang="en-US" altLang="zh-CN" sz="2400" dirty="0">
                  <a:solidFill>
                    <a:srgbClr val="FF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Freeform 12"/>
              <p:cNvSpPr/>
              <p:nvPr/>
            </p:nvSpPr>
            <p:spPr bwMode="auto">
              <a:xfrm>
                <a:off x="692" y="1867"/>
                <a:ext cx="133" cy="1"/>
              </a:xfrm>
              <a:custGeom>
                <a:avLst/>
                <a:gdLst>
                  <a:gd name="T0" fmla="*/ 0 w 133"/>
                  <a:gd name="T1" fmla="*/ 0 h 1"/>
                  <a:gd name="T2" fmla="*/ 133 w 13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3" h="1">
                    <a:moveTo>
                      <a:pt x="0" y="0"/>
                    </a:moveTo>
                    <a:cubicBezTo>
                      <a:pt x="44" y="0"/>
                      <a:pt x="89" y="0"/>
                      <a:pt x="133" y="0"/>
                    </a:cubicBezTo>
                  </a:path>
                </a:pathLst>
              </a:custGeom>
              <a:noFill/>
              <a:ln w="28575" cmpd="sng">
                <a:solidFill>
                  <a:srgbClr val="CC33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2922578" y="1367956"/>
            <a:ext cx="176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电路结构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83215" y="1379851"/>
            <a:ext cx="176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逻辑符号</a:t>
            </a:r>
            <a:endParaRPr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对话气泡: 矩形 4"/>
          <p:cNvSpPr/>
          <p:nvPr/>
        </p:nvSpPr>
        <p:spPr>
          <a:xfrm>
            <a:off x="3534386" y="6161868"/>
            <a:ext cx="2196310" cy="542515"/>
          </a:xfrm>
          <a:prstGeom prst="wedgeRectCallout">
            <a:avLst>
              <a:gd name="adj1" fmla="val -41152"/>
              <a:gd name="adj2" fmla="val -12298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时钟信号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643276" y="1917410"/>
            <a:ext cx="4025110" cy="201102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对话气泡: 矩形 26"/>
          <p:cNvSpPr/>
          <p:nvPr/>
        </p:nvSpPr>
        <p:spPr>
          <a:xfrm>
            <a:off x="70048" y="2660072"/>
            <a:ext cx="1494870" cy="1147655"/>
          </a:xfrm>
          <a:prstGeom prst="wedgeRectCallout">
            <a:avLst>
              <a:gd name="adj1" fmla="val 56971"/>
              <a:gd name="adj2" fmla="val -7984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626404" y="4952635"/>
            <a:ext cx="245007" cy="219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5778804" y="5105035"/>
            <a:ext cx="245007" cy="219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931204" y="5257435"/>
            <a:ext cx="245007" cy="219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3019" y="5348935"/>
            <a:ext cx="209550" cy="2571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056" y="5373840"/>
            <a:ext cx="209550" cy="25717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243262" y="5382716"/>
            <a:ext cx="341930" cy="25717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235" y="5234774"/>
            <a:ext cx="209550" cy="25717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923" y="5214747"/>
            <a:ext cx="209550" cy="257175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417" y="5234773"/>
            <a:ext cx="209550" cy="257175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536" y="2200599"/>
            <a:ext cx="209550" cy="25717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728" y="2200598"/>
            <a:ext cx="209550" cy="257175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896" y="2076911"/>
            <a:ext cx="209550" cy="25717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766" y="2106787"/>
            <a:ext cx="209550" cy="25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一、钟控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R-S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127510" y="563736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" name="Text Box 65"/>
          <p:cNvSpPr txBox="1">
            <a:spLocks noChangeArrowheads="1"/>
          </p:cNvSpPr>
          <p:nvPr/>
        </p:nvSpPr>
        <p:spPr bwMode="auto">
          <a:xfrm>
            <a:off x="2480797" y="1250169"/>
            <a:ext cx="1425575" cy="52322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CP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=0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时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144" name="Text Box 66"/>
          <p:cNvSpPr txBox="1">
            <a:spLocks noChangeArrowheads="1"/>
          </p:cNvSpPr>
          <p:nvPr/>
        </p:nvSpPr>
        <p:spPr bwMode="auto">
          <a:xfrm>
            <a:off x="3230803" y="5733354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1" charset="-122"/>
              </a:rPr>
              <a:t>0</a:t>
            </a:r>
            <a:endParaRPr kumimoji="1"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grpSp>
        <p:nvGrpSpPr>
          <p:cNvPr id="145" name="Group 69"/>
          <p:cNvGrpSpPr/>
          <p:nvPr/>
        </p:nvGrpSpPr>
        <p:grpSpPr bwMode="auto">
          <a:xfrm>
            <a:off x="1625839" y="3910114"/>
            <a:ext cx="3332163" cy="644526"/>
            <a:chOff x="2033" y="1909"/>
            <a:chExt cx="2099" cy="406"/>
          </a:xfrm>
        </p:grpSpPr>
        <p:sp>
          <p:nvSpPr>
            <p:cNvPr id="146" name="Text Box 67"/>
            <p:cNvSpPr txBox="1">
              <a:spLocks noChangeArrowheads="1"/>
            </p:cNvSpPr>
            <p:nvPr/>
          </p:nvSpPr>
          <p:spPr bwMode="auto">
            <a:xfrm>
              <a:off x="2033" y="1909"/>
              <a:ext cx="3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1" charset="-122"/>
                </a:rPr>
                <a:t>1</a:t>
              </a:r>
              <a:endPara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1" charset="-122"/>
              </a:endParaRPr>
            </a:p>
          </p:txBody>
        </p:sp>
        <p:sp>
          <p:nvSpPr>
            <p:cNvPr id="147" name="Text Box 68"/>
            <p:cNvSpPr txBox="1">
              <a:spLocks noChangeArrowheads="1"/>
            </p:cNvSpPr>
            <p:nvPr/>
          </p:nvSpPr>
          <p:spPr bwMode="auto">
            <a:xfrm>
              <a:off x="3752" y="1950"/>
              <a:ext cx="3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长城楷体" pitchFamily="1" charset="-122"/>
                </a:rPr>
                <a:t>1</a:t>
              </a:r>
              <a:endParaRPr kumimoji="1"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长城楷体" pitchFamily="1" charset="-122"/>
              </a:endParaRPr>
            </a:p>
          </p:txBody>
        </p:sp>
      </p:grpSp>
      <p:sp>
        <p:nvSpPr>
          <p:cNvPr id="148" name="Text Box 70"/>
          <p:cNvSpPr txBox="1">
            <a:spLocks noChangeArrowheads="1"/>
          </p:cNvSpPr>
          <p:nvPr/>
        </p:nvSpPr>
        <p:spPr bwMode="auto">
          <a:xfrm>
            <a:off x="5962822" y="5466905"/>
            <a:ext cx="2731272" cy="523220"/>
          </a:xfrm>
          <a:prstGeom prst="rect">
            <a:avLst/>
          </a:prstGeom>
          <a:noFill/>
          <a:ln w="38100">
            <a:solidFill>
              <a:srgbClr val="00CC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触发器保持原态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51" name="Group 204"/>
          <p:cNvGrpSpPr/>
          <p:nvPr/>
        </p:nvGrpSpPr>
        <p:grpSpPr bwMode="auto">
          <a:xfrm>
            <a:off x="1347564" y="1820090"/>
            <a:ext cx="3657600" cy="4705350"/>
            <a:chOff x="410" y="598"/>
            <a:chExt cx="2304" cy="2964"/>
          </a:xfrm>
        </p:grpSpPr>
        <p:grpSp>
          <p:nvGrpSpPr>
            <p:cNvPr id="152" name="Group 205"/>
            <p:cNvGrpSpPr/>
            <p:nvPr/>
          </p:nvGrpSpPr>
          <p:grpSpPr bwMode="auto">
            <a:xfrm>
              <a:off x="422" y="732"/>
              <a:ext cx="816" cy="1284"/>
              <a:chOff x="2792" y="936"/>
              <a:chExt cx="816" cy="1284"/>
            </a:xfrm>
          </p:grpSpPr>
          <p:sp>
            <p:nvSpPr>
              <p:cNvPr id="201" name="Rectangle 206"/>
              <p:cNvSpPr>
                <a:spLocks noChangeArrowheads="1"/>
              </p:cNvSpPr>
              <p:nvPr/>
            </p:nvSpPr>
            <p:spPr bwMode="auto">
              <a:xfrm>
                <a:off x="2792" y="1356"/>
                <a:ext cx="816" cy="52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2" name="Oval 207"/>
              <p:cNvSpPr>
                <a:spLocks noChangeArrowheads="1"/>
              </p:cNvSpPr>
              <p:nvPr/>
            </p:nvSpPr>
            <p:spPr bwMode="auto">
              <a:xfrm>
                <a:off x="3140" y="1260"/>
                <a:ext cx="96" cy="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3" name="Line 208"/>
              <p:cNvSpPr>
                <a:spLocks noChangeShapeType="1"/>
              </p:cNvSpPr>
              <p:nvPr/>
            </p:nvSpPr>
            <p:spPr bwMode="auto">
              <a:xfrm>
                <a:off x="3423" y="1884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" name="Line 209"/>
              <p:cNvSpPr>
                <a:spLocks noChangeShapeType="1"/>
              </p:cNvSpPr>
              <p:nvPr/>
            </p:nvSpPr>
            <p:spPr bwMode="auto">
              <a:xfrm>
                <a:off x="3187" y="936"/>
                <a:ext cx="0" cy="3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" name="Text Box 210"/>
              <p:cNvSpPr txBox="1">
                <a:spLocks noChangeArrowheads="1"/>
              </p:cNvSpPr>
              <p:nvPr/>
            </p:nvSpPr>
            <p:spPr bwMode="auto">
              <a:xfrm>
                <a:off x="3030" y="1375"/>
                <a:ext cx="576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1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endParaRPr>
              </a:p>
            </p:txBody>
          </p:sp>
        </p:grpSp>
        <p:sp>
          <p:nvSpPr>
            <p:cNvPr id="153" name="Rectangle 212"/>
            <p:cNvSpPr>
              <a:spLocks noChangeArrowheads="1"/>
            </p:cNvSpPr>
            <p:nvPr/>
          </p:nvSpPr>
          <p:spPr bwMode="auto">
            <a:xfrm>
              <a:off x="1886" y="1140"/>
              <a:ext cx="816" cy="52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4" name="Oval 213"/>
            <p:cNvSpPr>
              <a:spLocks noChangeArrowheads="1"/>
            </p:cNvSpPr>
            <p:nvPr/>
          </p:nvSpPr>
          <p:spPr bwMode="auto">
            <a:xfrm>
              <a:off x="2234" y="1044"/>
              <a:ext cx="96" cy="9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214"/>
            <p:cNvSpPr>
              <a:spLocks noChangeShapeType="1"/>
            </p:cNvSpPr>
            <p:nvPr/>
          </p:nvSpPr>
          <p:spPr bwMode="auto">
            <a:xfrm>
              <a:off x="2077" y="1656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6" name="Line 215"/>
            <p:cNvSpPr>
              <a:spLocks noChangeShapeType="1"/>
            </p:cNvSpPr>
            <p:nvPr/>
          </p:nvSpPr>
          <p:spPr bwMode="auto">
            <a:xfrm>
              <a:off x="2301" y="1668"/>
              <a:ext cx="0" cy="62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7" name="Line 216"/>
            <p:cNvSpPr>
              <a:spLocks noChangeShapeType="1"/>
            </p:cNvSpPr>
            <p:nvPr/>
          </p:nvSpPr>
          <p:spPr bwMode="auto">
            <a:xfrm>
              <a:off x="2281" y="720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8" name="Text Box 217"/>
            <p:cNvSpPr txBox="1">
              <a:spLocks noChangeArrowheads="1"/>
            </p:cNvSpPr>
            <p:nvPr/>
          </p:nvSpPr>
          <p:spPr bwMode="auto">
            <a:xfrm>
              <a:off x="2092" y="1159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rPr>
                <a:t>&amp;</a:t>
              </a:r>
              <a:endPara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1" charset="-122"/>
              </a:endParaRPr>
            </a:p>
          </p:txBody>
        </p:sp>
        <p:sp>
          <p:nvSpPr>
            <p:cNvPr id="160" name="Oval 219"/>
            <p:cNvSpPr>
              <a:spLocks noChangeArrowheads="1"/>
            </p:cNvSpPr>
            <p:nvPr/>
          </p:nvSpPr>
          <p:spPr bwMode="auto">
            <a:xfrm>
              <a:off x="2250" y="840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1" name="Line 220"/>
            <p:cNvSpPr>
              <a:spLocks noChangeShapeType="1"/>
            </p:cNvSpPr>
            <p:nvPr/>
          </p:nvSpPr>
          <p:spPr bwMode="auto">
            <a:xfrm>
              <a:off x="810" y="876"/>
              <a:ext cx="54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2" name="Line 221"/>
            <p:cNvSpPr>
              <a:spLocks noChangeShapeType="1"/>
            </p:cNvSpPr>
            <p:nvPr/>
          </p:nvSpPr>
          <p:spPr bwMode="auto">
            <a:xfrm flipV="1">
              <a:off x="1758" y="864"/>
              <a:ext cx="540" cy="1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" name="Line 222"/>
            <p:cNvSpPr>
              <a:spLocks noChangeShapeType="1"/>
            </p:cNvSpPr>
            <p:nvPr/>
          </p:nvSpPr>
          <p:spPr bwMode="auto">
            <a:xfrm>
              <a:off x="1866" y="1980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4" name="Line 223"/>
            <p:cNvSpPr>
              <a:spLocks noChangeShapeType="1"/>
            </p:cNvSpPr>
            <p:nvPr/>
          </p:nvSpPr>
          <p:spPr bwMode="auto">
            <a:xfrm>
              <a:off x="1050" y="2004"/>
              <a:ext cx="2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5" name="Line 224"/>
            <p:cNvSpPr>
              <a:spLocks noChangeShapeType="1"/>
            </p:cNvSpPr>
            <p:nvPr/>
          </p:nvSpPr>
          <p:spPr bwMode="auto">
            <a:xfrm flipH="1">
              <a:off x="1254" y="864"/>
              <a:ext cx="504" cy="113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6" name="Line 225"/>
            <p:cNvSpPr>
              <a:spLocks noChangeShapeType="1"/>
            </p:cNvSpPr>
            <p:nvPr/>
          </p:nvSpPr>
          <p:spPr bwMode="auto">
            <a:xfrm>
              <a:off x="1338" y="864"/>
              <a:ext cx="540" cy="112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7" name="Oval 226"/>
            <p:cNvSpPr>
              <a:spLocks noChangeArrowheads="1"/>
            </p:cNvSpPr>
            <p:nvPr/>
          </p:nvSpPr>
          <p:spPr bwMode="auto">
            <a:xfrm>
              <a:off x="786" y="840"/>
              <a:ext cx="60" cy="60"/>
            </a:xfrm>
            <a:prstGeom prst="ellipse">
              <a:avLst/>
            </a:prstGeom>
            <a:solidFill>
              <a:srgbClr val="000000"/>
            </a:solidFill>
            <a:ln w="38100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69" name="Object 228"/>
            <p:cNvGraphicFramePr>
              <a:graphicFrameLocks noChangeAspect="1"/>
            </p:cNvGraphicFramePr>
            <p:nvPr/>
          </p:nvGraphicFramePr>
          <p:xfrm>
            <a:off x="2306" y="598"/>
            <a:ext cx="235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8" name="Equation" r:id="rId3" imgW="165100" imgH="203200" progId="Equation.3">
                    <p:embed/>
                  </p:oleObj>
                </mc:Choice>
                <mc:Fallback>
                  <p:oleObj name="Equation" r:id="rId3" imgW="165100" imgH="203200" progId="Equation.3">
                    <p:embed/>
                    <p:pic>
                      <p:nvPicPr>
                        <p:cNvPr id="0" name="Object 2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6" y="598"/>
                          <a:ext cx="235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0" name="Line 229"/>
            <p:cNvSpPr>
              <a:spLocks noChangeShapeType="1"/>
            </p:cNvSpPr>
            <p:nvPr/>
          </p:nvSpPr>
          <p:spPr bwMode="auto">
            <a:xfrm>
              <a:off x="805" y="1680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7" name="Rectangle 236"/>
            <p:cNvSpPr>
              <a:spLocks noChangeArrowheads="1"/>
            </p:cNvSpPr>
            <p:nvPr/>
          </p:nvSpPr>
          <p:spPr bwMode="auto">
            <a:xfrm>
              <a:off x="410" y="2376"/>
              <a:ext cx="816" cy="52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8" name="Oval 237"/>
            <p:cNvSpPr>
              <a:spLocks noChangeArrowheads="1"/>
            </p:cNvSpPr>
            <p:nvPr/>
          </p:nvSpPr>
          <p:spPr bwMode="auto">
            <a:xfrm>
              <a:off x="758" y="2280"/>
              <a:ext cx="96" cy="9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9" name="Line 238"/>
            <p:cNvSpPr>
              <a:spLocks noChangeShapeType="1"/>
            </p:cNvSpPr>
            <p:nvPr/>
          </p:nvSpPr>
          <p:spPr bwMode="auto">
            <a:xfrm>
              <a:off x="601" y="2892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0" name="Line 239"/>
            <p:cNvSpPr>
              <a:spLocks noChangeShapeType="1"/>
            </p:cNvSpPr>
            <p:nvPr/>
          </p:nvSpPr>
          <p:spPr bwMode="auto">
            <a:xfrm>
              <a:off x="805" y="1956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1" name="Text Box 240"/>
            <p:cNvSpPr txBox="1">
              <a:spLocks noChangeArrowheads="1"/>
            </p:cNvSpPr>
            <p:nvPr/>
          </p:nvSpPr>
          <p:spPr bwMode="auto">
            <a:xfrm>
              <a:off x="637" y="2389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rPr>
                <a:t>&amp;</a:t>
              </a:r>
              <a:endPara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1" charset="-122"/>
              </a:endParaRPr>
            </a:p>
          </p:txBody>
        </p:sp>
        <p:sp>
          <p:nvSpPr>
            <p:cNvPr id="183" name="Rectangle 242"/>
            <p:cNvSpPr>
              <a:spLocks noChangeArrowheads="1"/>
            </p:cNvSpPr>
            <p:nvPr/>
          </p:nvSpPr>
          <p:spPr bwMode="auto">
            <a:xfrm>
              <a:off x="1898" y="2364"/>
              <a:ext cx="816" cy="52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" name="Oval 243"/>
            <p:cNvSpPr>
              <a:spLocks noChangeArrowheads="1"/>
            </p:cNvSpPr>
            <p:nvPr/>
          </p:nvSpPr>
          <p:spPr bwMode="auto">
            <a:xfrm>
              <a:off x="2246" y="2268"/>
              <a:ext cx="96" cy="96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5" name="Line 244"/>
            <p:cNvSpPr>
              <a:spLocks noChangeShapeType="1"/>
            </p:cNvSpPr>
            <p:nvPr/>
          </p:nvSpPr>
          <p:spPr bwMode="auto">
            <a:xfrm>
              <a:off x="2529" y="2892"/>
              <a:ext cx="0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6" name="Text Box 245"/>
            <p:cNvSpPr txBox="1">
              <a:spLocks noChangeArrowheads="1"/>
            </p:cNvSpPr>
            <p:nvPr/>
          </p:nvSpPr>
          <p:spPr bwMode="auto">
            <a:xfrm>
              <a:off x="2116" y="2383"/>
              <a:ext cx="576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rPr>
                <a:t>&amp;</a:t>
              </a:r>
              <a:endPara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1" charset="-122"/>
              </a:endParaRPr>
            </a:p>
          </p:txBody>
        </p:sp>
        <p:grpSp>
          <p:nvGrpSpPr>
            <p:cNvPr id="188" name="Group 247"/>
            <p:cNvGrpSpPr/>
            <p:nvPr/>
          </p:nvGrpSpPr>
          <p:grpSpPr bwMode="auto">
            <a:xfrm>
              <a:off x="1026" y="2904"/>
              <a:ext cx="216" cy="192"/>
              <a:chOff x="1128" y="3708"/>
              <a:chExt cx="216" cy="192"/>
            </a:xfrm>
          </p:grpSpPr>
          <p:sp>
            <p:nvSpPr>
              <p:cNvPr id="199" name="Line 248"/>
              <p:cNvSpPr>
                <a:spLocks noChangeShapeType="1"/>
              </p:cNvSpPr>
              <p:nvPr/>
            </p:nvSpPr>
            <p:spPr bwMode="auto">
              <a:xfrm flipH="1">
                <a:off x="1143" y="3708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0" name="Line 249"/>
              <p:cNvSpPr>
                <a:spLocks noChangeShapeType="1"/>
              </p:cNvSpPr>
              <p:nvPr/>
            </p:nvSpPr>
            <p:spPr bwMode="auto">
              <a:xfrm>
                <a:off x="1128" y="3900"/>
                <a:ext cx="21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189" name="Object 250"/>
            <p:cNvGraphicFramePr>
              <a:graphicFrameLocks noChangeAspect="1"/>
            </p:cNvGraphicFramePr>
            <p:nvPr/>
          </p:nvGraphicFramePr>
          <p:xfrm>
            <a:off x="476" y="3256"/>
            <a:ext cx="261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9" name="Equation" r:id="rId5" imgW="165100" imgH="165100" progId="Equation.3">
                    <p:embed/>
                  </p:oleObj>
                </mc:Choice>
                <mc:Fallback>
                  <p:oleObj name="Equation" r:id="rId5" imgW="165100" imgH="165100" progId="Equation.3">
                    <p:embed/>
                    <p:pic>
                      <p:nvPicPr>
                        <p:cNvPr id="0" name="Object 2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3256"/>
                          <a:ext cx="261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0" name="Object 251"/>
            <p:cNvGraphicFramePr>
              <a:graphicFrameLocks noChangeAspect="1"/>
            </p:cNvGraphicFramePr>
            <p:nvPr/>
          </p:nvGraphicFramePr>
          <p:xfrm>
            <a:off x="2391" y="3243"/>
            <a:ext cx="23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40" name="Equation" r:id="rId7" imgW="152400" imgH="177800" progId="Equation.3">
                    <p:embed/>
                  </p:oleObj>
                </mc:Choice>
                <mc:Fallback>
                  <p:oleObj name="Equation" r:id="rId7" imgW="152400" imgH="177800" progId="Equation.3">
                    <p:embed/>
                    <p:pic>
                      <p:nvPicPr>
                        <p:cNvPr id="0" name="Object 2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1" y="3243"/>
                          <a:ext cx="23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1" name="Group 252"/>
            <p:cNvGrpSpPr/>
            <p:nvPr/>
          </p:nvGrpSpPr>
          <p:grpSpPr bwMode="auto">
            <a:xfrm flipH="1">
              <a:off x="1890" y="2904"/>
              <a:ext cx="216" cy="192"/>
              <a:chOff x="1128" y="3708"/>
              <a:chExt cx="216" cy="192"/>
            </a:xfrm>
          </p:grpSpPr>
          <p:sp>
            <p:nvSpPr>
              <p:cNvPr id="197" name="Line 253"/>
              <p:cNvSpPr>
                <a:spLocks noChangeShapeType="1"/>
              </p:cNvSpPr>
              <p:nvPr/>
            </p:nvSpPr>
            <p:spPr bwMode="auto">
              <a:xfrm flipH="1">
                <a:off x="1143" y="3708"/>
                <a:ext cx="0" cy="19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8" name="Line 254"/>
              <p:cNvSpPr>
                <a:spLocks noChangeShapeType="1"/>
              </p:cNvSpPr>
              <p:nvPr/>
            </p:nvSpPr>
            <p:spPr bwMode="auto">
              <a:xfrm>
                <a:off x="1128" y="3900"/>
                <a:ext cx="21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92" name="Line 255"/>
            <p:cNvSpPr>
              <a:spLocks noChangeShapeType="1"/>
            </p:cNvSpPr>
            <p:nvPr/>
          </p:nvSpPr>
          <p:spPr bwMode="auto">
            <a:xfrm>
              <a:off x="1146" y="3096"/>
              <a:ext cx="81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3" name="Line 256"/>
            <p:cNvSpPr>
              <a:spLocks noChangeShapeType="1"/>
            </p:cNvSpPr>
            <p:nvPr/>
          </p:nvSpPr>
          <p:spPr bwMode="auto">
            <a:xfrm>
              <a:off x="1554" y="3096"/>
              <a:ext cx="0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" name="Text Box 257"/>
            <p:cNvSpPr txBox="1">
              <a:spLocks noChangeArrowheads="1"/>
            </p:cNvSpPr>
            <p:nvPr/>
          </p:nvSpPr>
          <p:spPr bwMode="auto">
            <a:xfrm>
              <a:off x="1329" y="3235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rPr>
                <a:t>CP</a:t>
              </a:r>
              <a:endParaRPr kumimoji="1" lang="en-US" altLang="zh-CN" sz="3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1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749457" y="2757837"/>
            <a:ext cx="769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00FF"/>
                </a:solidFill>
              </a:rPr>
              <a:t>G1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4998926" y="2799026"/>
            <a:ext cx="6187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000FF"/>
                </a:solidFill>
              </a:defRPr>
            </a:lvl1pPr>
          </a:lstStyle>
          <a:p>
            <a:r>
              <a:rPr lang="en-US" altLang="zh-CN" dirty="0"/>
              <a:t>G2</a:t>
            </a:r>
            <a:endParaRPr lang="zh-CN" altLang="en-US" dirty="0"/>
          </a:p>
        </p:txBody>
      </p:sp>
      <p:sp>
        <p:nvSpPr>
          <p:cNvPr id="267" name="文本框 266"/>
          <p:cNvSpPr txBox="1"/>
          <p:nvPr/>
        </p:nvSpPr>
        <p:spPr>
          <a:xfrm>
            <a:off x="717583" y="4719521"/>
            <a:ext cx="769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000FF"/>
                </a:solidFill>
              </a:defRPr>
            </a:lvl1pPr>
          </a:lstStyle>
          <a:p>
            <a:r>
              <a:rPr lang="en-US" altLang="zh-CN" dirty="0"/>
              <a:t>G3</a:t>
            </a:r>
            <a:endParaRPr lang="zh-CN" altLang="en-US" dirty="0"/>
          </a:p>
        </p:txBody>
      </p:sp>
      <p:sp>
        <p:nvSpPr>
          <p:cNvPr id="268" name="文本框 267"/>
          <p:cNvSpPr txBox="1"/>
          <p:nvPr/>
        </p:nvSpPr>
        <p:spPr>
          <a:xfrm>
            <a:off x="4998927" y="4781105"/>
            <a:ext cx="618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0000FF"/>
                </a:solidFill>
              </a:defRPr>
            </a:lvl1pPr>
          </a:lstStyle>
          <a:p>
            <a:r>
              <a:rPr lang="en-US" altLang="zh-CN" dirty="0"/>
              <a:t>G4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002113" y="1976788"/>
            <a:ext cx="2520858" cy="2813655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G3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门和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门的输出被锁定为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28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lang="en-US" altLang="zh-CN" sz="28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2800" b="1" dirty="0">
                <a:solidFill>
                  <a:srgbClr val="2B56F5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状态保持不变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3" name="Text Box 8"/>
          <p:cNvSpPr txBox="1">
            <a:spLocks noChangeArrowheads="1"/>
          </p:cNvSpPr>
          <p:nvPr/>
        </p:nvSpPr>
        <p:spPr bwMode="auto">
          <a:xfrm>
            <a:off x="1573947" y="3582215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4" name="Freeform 9"/>
          <p:cNvSpPr/>
          <p:nvPr/>
        </p:nvSpPr>
        <p:spPr bwMode="auto">
          <a:xfrm>
            <a:off x="4431875" y="3604440"/>
            <a:ext cx="211138" cy="1588"/>
          </a:xfrm>
          <a:custGeom>
            <a:avLst/>
            <a:gdLst>
              <a:gd name="T0" fmla="*/ 0 w 133"/>
              <a:gd name="T1" fmla="*/ 0 h 1"/>
              <a:gd name="T2" fmla="*/ 133 w 13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33" h="1">
                <a:moveTo>
                  <a:pt x="0" y="0"/>
                </a:moveTo>
                <a:cubicBezTo>
                  <a:pt x="44" y="0"/>
                  <a:pt x="89" y="0"/>
                  <a:pt x="133" y="0"/>
                </a:cubicBezTo>
              </a:path>
            </a:pathLst>
          </a:custGeom>
          <a:noFill/>
          <a:ln w="28575" cmpd="sng">
            <a:solidFill>
              <a:srgbClr val="CC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5" name="Text Box 11"/>
          <p:cNvSpPr txBox="1">
            <a:spLocks noChangeArrowheads="1"/>
          </p:cNvSpPr>
          <p:nvPr/>
        </p:nvSpPr>
        <p:spPr bwMode="auto">
          <a:xfrm>
            <a:off x="4280006" y="3548878"/>
            <a:ext cx="503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endParaRPr kumimoji="1" lang="en-US" altLang="zh-CN" sz="2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" name="Freeform 12"/>
          <p:cNvSpPr/>
          <p:nvPr/>
        </p:nvSpPr>
        <p:spPr bwMode="auto">
          <a:xfrm>
            <a:off x="1678963" y="3654206"/>
            <a:ext cx="232398" cy="1627"/>
          </a:xfrm>
          <a:custGeom>
            <a:avLst/>
            <a:gdLst>
              <a:gd name="T0" fmla="*/ 0 w 133"/>
              <a:gd name="T1" fmla="*/ 0 h 1"/>
              <a:gd name="T2" fmla="*/ 133 w 13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33" h="1">
                <a:moveTo>
                  <a:pt x="0" y="0"/>
                </a:moveTo>
                <a:cubicBezTo>
                  <a:pt x="44" y="0"/>
                  <a:pt x="89" y="0"/>
                  <a:pt x="133" y="0"/>
                </a:cubicBezTo>
              </a:path>
            </a:pathLst>
          </a:custGeom>
          <a:noFill/>
          <a:ln w="28575" cmpd="sng">
            <a:solidFill>
              <a:srgbClr val="CC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9" name="Object 49"/>
          <p:cNvGraphicFramePr>
            <a:graphicFrameLocks noChangeAspect="1"/>
          </p:cNvGraphicFramePr>
          <p:nvPr/>
        </p:nvGraphicFramePr>
        <p:xfrm>
          <a:off x="1595214" y="1782000"/>
          <a:ext cx="444500" cy="500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1" name="Equation" r:id="rId9" imgW="177800" imgH="228600" progId="Equation.3">
                  <p:embed/>
                </p:oleObj>
              </mc:Choice>
              <mc:Fallback>
                <p:oleObj name="Equation" r:id="rId9" imgW="177800" imgH="2286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214" y="1782000"/>
                        <a:ext cx="444500" cy="500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0" autoUpdateAnimBg="0"/>
      <p:bldP spid="148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一、钟控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R-S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15010" y="61532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9" name="Text Box 84"/>
          <p:cNvSpPr txBox="1">
            <a:spLocks noChangeArrowheads="1"/>
          </p:cNvSpPr>
          <p:nvPr/>
        </p:nvSpPr>
        <p:spPr bwMode="auto">
          <a:xfrm>
            <a:off x="1475551" y="1298518"/>
            <a:ext cx="1425575" cy="52322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CP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=1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长城楷体" pitchFamily="1" charset="-122"/>
              </a:rPr>
              <a:t>时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208" name="Text Box 261"/>
          <p:cNvSpPr txBox="1">
            <a:spLocks noChangeArrowheads="1"/>
          </p:cNvSpPr>
          <p:nvPr/>
        </p:nvSpPr>
        <p:spPr bwMode="auto">
          <a:xfrm>
            <a:off x="2631620" y="5748428"/>
            <a:ext cx="528364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1" charset="-122"/>
              </a:rPr>
              <a:t>1</a:t>
            </a:r>
            <a:endParaRPr kumimoji="1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长城楷体" pitchFamily="1" charset="-122"/>
            </a:endParaRPr>
          </a:p>
        </p:txBody>
      </p:sp>
      <p:graphicFrame>
        <p:nvGraphicFramePr>
          <p:cNvPr id="209" name="Object 262"/>
          <p:cNvGraphicFramePr>
            <a:graphicFrameLocks noChangeAspect="1"/>
          </p:cNvGraphicFramePr>
          <p:nvPr/>
        </p:nvGraphicFramePr>
        <p:xfrm>
          <a:off x="915587" y="3772967"/>
          <a:ext cx="425452" cy="524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0" name="Equation" r:id="rId3" imgW="165100" imgH="203200" progId="Equation.DSMT4">
                  <p:embed/>
                </p:oleObj>
              </mc:Choice>
              <mc:Fallback>
                <p:oleObj name="Equation" r:id="rId3" imgW="165100" imgH="203200" progId="Equation.DSMT4">
                  <p:embed/>
                  <p:pic>
                    <p:nvPicPr>
                      <p:cNvPr id="0" name="Object 2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5587" y="3772967"/>
                        <a:ext cx="425452" cy="52414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Object 263"/>
          <p:cNvGraphicFramePr>
            <a:graphicFrameLocks noChangeAspect="1"/>
          </p:cNvGraphicFramePr>
          <p:nvPr/>
        </p:nvGraphicFramePr>
        <p:xfrm>
          <a:off x="3804606" y="3773503"/>
          <a:ext cx="404591" cy="58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1" name="Equation" r:id="rId5" imgW="152400" imgH="215900" progId="Equation.3">
                  <p:embed/>
                </p:oleObj>
              </mc:Choice>
              <mc:Fallback>
                <p:oleObj name="Equation" r:id="rId5" imgW="152400" imgH="215900" progId="Equation.3">
                  <p:embed/>
                  <p:pic>
                    <p:nvPicPr>
                      <p:cNvPr id="0" name="Object 2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4606" y="3773503"/>
                        <a:ext cx="404591" cy="5809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172755" y="1916204"/>
            <a:ext cx="4900072" cy="4675188"/>
            <a:chOff x="172755" y="1916204"/>
            <a:chExt cx="4900072" cy="4675188"/>
          </a:xfrm>
        </p:grpSpPr>
        <p:grpSp>
          <p:nvGrpSpPr>
            <p:cNvPr id="2" name="组合 1"/>
            <p:cNvGrpSpPr/>
            <p:nvPr/>
          </p:nvGrpSpPr>
          <p:grpSpPr>
            <a:xfrm>
              <a:off x="764624" y="1916204"/>
              <a:ext cx="3657600" cy="4675188"/>
              <a:chOff x="5130742" y="1781020"/>
              <a:chExt cx="3657600" cy="4675188"/>
            </a:xfrm>
          </p:grpSpPr>
          <p:grpSp>
            <p:nvGrpSpPr>
              <p:cNvPr id="211" name="Group 264"/>
              <p:cNvGrpSpPr/>
              <p:nvPr/>
            </p:nvGrpSpPr>
            <p:grpSpPr bwMode="auto">
              <a:xfrm>
                <a:off x="5149792" y="1958820"/>
                <a:ext cx="1295400" cy="2038350"/>
                <a:chOff x="2792" y="936"/>
                <a:chExt cx="816" cy="1284"/>
              </a:xfrm>
            </p:grpSpPr>
            <p:sp>
              <p:nvSpPr>
                <p:cNvPr id="260" name="Rectangle 265"/>
                <p:cNvSpPr>
                  <a:spLocks noChangeArrowheads="1"/>
                </p:cNvSpPr>
                <p:nvPr/>
              </p:nvSpPr>
              <p:spPr bwMode="auto">
                <a:xfrm>
                  <a:off x="2792" y="1356"/>
                  <a:ext cx="816" cy="528"/>
                </a:xfrm>
                <a:prstGeom prst="rect">
                  <a:avLst/>
                </a:prstGeom>
                <a:noFill/>
                <a:ln w="38100">
                  <a:solidFill>
                    <a:srgbClr val="000000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1" name="Oval 266"/>
                <p:cNvSpPr>
                  <a:spLocks noChangeArrowheads="1"/>
                </p:cNvSpPr>
                <p:nvPr/>
              </p:nvSpPr>
              <p:spPr bwMode="auto">
                <a:xfrm>
                  <a:off x="3140" y="1260"/>
                  <a:ext cx="96" cy="96"/>
                </a:xfrm>
                <a:prstGeom prst="ellips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2" name="Line 267"/>
                <p:cNvSpPr>
                  <a:spLocks noChangeShapeType="1"/>
                </p:cNvSpPr>
                <p:nvPr/>
              </p:nvSpPr>
              <p:spPr bwMode="auto">
                <a:xfrm>
                  <a:off x="3423" y="1884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3" name="Line 268"/>
                <p:cNvSpPr>
                  <a:spLocks noChangeShapeType="1"/>
                </p:cNvSpPr>
                <p:nvPr/>
              </p:nvSpPr>
              <p:spPr bwMode="auto">
                <a:xfrm>
                  <a:off x="3187" y="936"/>
                  <a:ext cx="0" cy="33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4" name="Text Box 269"/>
                <p:cNvSpPr txBox="1">
                  <a:spLocks noChangeArrowheads="1"/>
                </p:cNvSpPr>
                <p:nvPr/>
              </p:nvSpPr>
              <p:spPr bwMode="auto">
                <a:xfrm>
                  <a:off x="3022" y="1337"/>
                  <a:ext cx="576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1" lang="en-US" altLang="zh-CN" sz="32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长城楷体" pitchFamily="1" charset="-122"/>
                    </a:rPr>
                    <a:t>&amp;</a:t>
                  </a:r>
                  <a:endParaRPr kumimoji="1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1" charset="-122"/>
                  </a:endParaRPr>
                </a:p>
              </p:txBody>
            </p:sp>
          </p:grpSp>
          <p:sp>
            <p:nvSpPr>
              <p:cNvPr id="212" name="Rectangle 271"/>
              <p:cNvSpPr>
                <a:spLocks noChangeArrowheads="1"/>
              </p:cNvSpPr>
              <p:nvPr/>
            </p:nvSpPr>
            <p:spPr bwMode="auto">
              <a:xfrm>
                <a:off x="7473892" y="2606520"/>
                <a:ext cx="1295400" cy="83820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3" name="Oval 272"/>
              <p:cNvSpPr>
                <a:spLocks noChangeArrowheads="1"/>
              </p:cNvSpPr>
              <p:nvPr/>
            </p:nvSpPr>
            <p:spPr bwMode="auto">
              <a:xfrm>
                <a:off x="8026342" y="2454120"/>
                <a:ext cx="152400" cy="15240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4" name="Line 273"/>
              <p:cNvSpPr>
                <a:spLocks noChangeShapeType="1"/>
              </p:cNvSpPr>
              <p:nvPr/>
            </p:nvSpPr>
            <p:spPr bwMode="auto">
              <a:xfrm>
                <a:off x="7777105" y="3425670"/>
                <a:ext cx="0" cy="5334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" name="Line 274"/>
              <p:cNvSpPr>
                <a:spLocks noChangeShapeType="1"/>
              </p:cNvSpPr>
              <p:nvPr/>
            </p:nvSpPr>
            <p:spPr bwMode="auto">
              <a:xfrm>
                <a:off x="8132705" y="3444720"/>
                <a:ext cx="0" cy="9906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6" name="Line 275"/>
              <p:cNvSpPr>
                <a:spLocks noChangeShapeType="1"/>
              </p:cNvSpPr>
              <p:nvPr/>
            </p:nvSpPr>
            <p:spPr bwMode="auto">
              <a:xfrm>
                <a:off x="8100955" y="1939770"/>
                <a:ext cx="0" cy="5334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7" name="Text Box 276"/>
              <p:cNvSpPr txBox="1">
                <a:spLocks noChangeArrowheads="1"/>
              </p:cNvSpPr>
              <p:nvPr/>
            </p:nvSpPr>
            <p:spPr bwMode="auto">
              <a:xfrm>
                <a:off x="7823822" y="2584093"/>
                <a:ext cx="914400" cy="579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1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endParaRPr>
              </a:p>
            </p:txBody>
          </p:sp>
          <p:sp>
            <p:nvSpPr>
              <p:cNvPr id="219" name="Oval 278"/>
              <p:cNvSpPr>
                <a:spLocks noChangeArrowheads="1"/>
              </p:cNvSpPr>
              <p:nvPr/>
            </p:nvSpPr>
            <p:spPr bwMode="auto">
              <a:xfrm>
                <a:off x="8051742" y="2130270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0" name="Line 279"/>
              <p:cNvSpPr>
                <a:spLocks noChangeShapeType="1"/>
              </p:cNvSpPr>
              <p:nvPr/>
            </p:nvSpPr>
            <p:spPr bwMode="auto">
              <a:xfrm>
                <a:off x="5765742" y="2187420"/>
                <a:ext cx="85725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1" name="Line 280"/>
              <p:cNvSpPr>
                <a:spLocks noChangeShapeType="1"/>
              </p:cNvSpPr>
              <p:nvPr/>
            </p:nvSpPr>
            <p:spPr bwMode="auto">
              <a:xfrm flipV="1">
                <a:off x="7270692" y="2168370"/>
                <a:ext cx="857250" cy="1905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2" name="Line 281"/>
              <p:cNvSpPr>
                <a:spLocks noChangeShapeType="1"/>
              </p:cNvSpPr>
              <p:nvPr/>
            </p:nvSpPr>
            <p:spPr bwMode="auto">
              <a:xfrm>
                <a:off x="7442142" y="3940020"/>
                <a:ext cx="3429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3" name="Line 282"/>
              <p:cNvSpPr>
                <a:spLocks noChangeShapeType="1"/>
              </p:cNvSpPr>
              <p:nvPr/>
            </p:nvSpPr>
            <p:spPr bwMode="auto">
              <a:xfrm>
                <a:off x="6146742" y="3978120"/>
                <a:ext cx="3429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4" name="Line 283"/>
              <p:cNvSpPr>
                <a:spLocks noChangeShapeType="1"/>
              </p:cNvSpPr>
              <p:nvPr/>
            </p:nvSpPr>
            <p:spPr bwMode="auto">
              <a:xfrm flipH="1">
                <a:off x="6470592" y="2168370"/>
                <a:ext cx="800100" cy="180022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" name="Line 284"/>
              <p:cNvSpPr>
                <a:spLocks noChangeShapeType="1"/>
              </p:cNvSpPr>
              <p:nvPr/>
            </p:nvSpPr>
            <p:spPr bwMode="auto">
              <a:xfrm>
                <a:off x="6603942" y="2168370"/>
                <a:ext cx="857250" cy="17811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6" name="Oval 285"/>
              <p:cNvSpPr>
                <a:spLocks noChangeArrowheads="1"/>
              </p:cNvSpPr>
              <p:nvPr/>
            </p:nvSpPr>
            <p:spPr bwMode="auto">
              <a:xfrm>
                <a:off x="5727642" y="2130270"/>
                <a:ext cx="95250" cy="95250"/>
              </a:xfrm>
              <a:prstGeom prst="ellipse">
                <a:avLst/>
              </a:prstGeom>
              <a:solidFill>
                <a:srgbClr val="000000"/>
              </a:solidFill>
              <a:ln w="38100">
                <a:solidFill>
                  <a:srgbClr val="00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28" name="Object 287"/>
              <p:cNvGraphicFramePr>
                <a:graphicFrameLocks noChangeAspect="1"/>
              </p:cNvGraphicFramePr>
              <p:nvPr/>
            </p:nvGraphicFramePr>
            <p:xfrm>
              <a:off x="8210492" y="1781020"/>
              <a:ext cx="373063" cy="463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2" name="Equation" r:id="rId7" imgW="165100" imgH="203200" progId="Equation.3">
                      <p:embed/>
                    </p:oleObj>
                  </mc:Choice>
                  <mc:Fallback>
                    <p:oleObj name="Equation" r:id="rId7" imgW="165100" imgH="203200" progId="Equation.3">
                      <p:embed/>
                      <p:pic>
                        <p:nvPicPr>
                          <p:cNvPr id="0" name="Object 28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10492" y="1781020"/>
                            <a:ext cx="373063" cy="4635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9" name="Line 288"/>
              <p:cNvSpPr>
                <a:spLocks noChangeShapeType="1"/>
              </p:cNvSpPr>
              <p:nvPr/>
            </p:nvSpPr>
            <p:spPr bwMode="auto">
              <a:xfrm>
                <a:off x="5757805" y="3463770"/>
                <a:ext cx="0" cy="5334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" name="Rectangle 295"/>
              <p:cNvSpPr>
                <a:spLocks noChangeArrowheads="1"/>
              </p:cNvSpPr>
              <p:nvPr/>
            </p:nvSpPr>
            <p:spPr bwMode="auto">
              <a:xfrm>
                <a:off x="5130742" y="4568670"/>
                <a:ext cx="1295400" cy="83820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7" name="Oval 296"/>
              <p:cNvSpPr>
                <a:spLocks noChangeArrowheads="1"/>
              </p:cNvSpPr>
              <p:nvPr/>
            </p:nvSpPr>
            <p:spPr bwMode="auto">
              <a:xfrm>
                <a:off x="5683192" y="4416270"/>
                <a:ext cx="152400" cy="15240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8" name="Line 297"/>
              <p:cNvSpPr>
                <a:spLocks noChangeShapeType="1"/>
              </p:cNvSpPr>
              <p:nvPr/>
            </p:nvSpPr>
            <p:spPr bwMode="auto">
              <a:xfrm>
                <a:off x="5433955" y="5387820"/>
                <a:ext cx="0" cy="5334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9" name="Line 298"/>
              <p:cNvSpPr>
                <a:spLocks noChangeShapeType="1"/>
              </p:cNvSpPr>
              <p:nvPr/>
            </p:nvSpPr>
            <p:spPr bwMode="auto">
              <a:xfrm>
                <a:off x="5757805" y="3901920"/>
                <a:ext cx="0" cy="5334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0" name="Text Box 299"/>
              <p:cNvSpPr txBox="1">
                <a:spLocks noChangeArrowheads="1"/>
              </p:cNvSpPr>
              <p:nvPr/>
            </p:nvSpPr>
            <p:spPr bwMode="auto">
              <a:xfrm>
                <a:off x="5473642" y="4546943"/>
                <a:ext cx="914400" cy="579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1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endParaRPr>
              </a:p>
            </p:txBody>
          </p:sp>
          <p:sp>
            <p:nvSpPr>
              <p:cNvPr id="242" name="Rectangle 301"/>
              <p:cNvSpPr>
                <a:spLocks noChangeArrowheads="1"/>
              </p:cNvSpPr>
              <p:nvPr/>
            </p:nvSpPr>
            <p:spPr bwMode="auto">
              <a:xfrm>
                <a:off x="7492942" y="4549620"/>
                <a:ext cx="1295400" cy="83820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Oval 302"/>
              <p:cNvSpPr>
                <a:spLocks noChangeArrowheads="1"/>
              </p:cNvSpPr>
              <p:nvPr/>
            </p:nvSpPr>
            <p:spPr bwMode="auto">
              <a:xfrm>
                <a:off x="8045392" y="4397220"/>
                <a:ext cx="152400" cy="15240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4" name="Line 303"/>
              <p:cNvSpPr>
                <a:spLocks noChangeShapeType="1"/>
              </p:cNvSpPr>
              <p:nvPr/>
            </p:nvSpPr>
            <p:spPr bwMode="auto">
              <a:xfrm>
                <a:off x="8494655" y="5387820"/>
                <a:ext cx="0" cy="5334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" name="Text Box 304"/>
              <p:cNvSpPr txBox="1">
                <a:spLocks noChangeArrowheads="1"/>
              </p:cNvSpPr>
              <p:nvPr/>
            </p:nvSpPr>
            <p:spPr bwMode="auto">
              <a:xfrm>
                <a:off x="7838071" y="4499766"/>
                <a:ext cx="914400" cy="579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1" charset="-122"/>
                  </a:rPr>
                  <a:t>&amp;</a:t>
                </a:r>
                <a:endPara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endParaRPr>
              </a:p>
            </p:txBody>
          </p:sp>
          <p:grpSp>
            <p:nvGrpSpPr>
              <p:cNvPr id="247" name="Group 306"/>
              <p:cNvGrpSpPr/>
              <p:nvPr/>
            </p:nvGrpSpPr>
            <p:grpSpPr bwMode="auto">
              <a:xfrm>
                <a:off x="6108642" y="5406870"/>
                <a:ext cx="342900" cy="304800"/>
                <a:chOff x="1128" y="3708"/>
                <a:chExt cx="216" cy="192"/>
              </a:xfrm>
            </p:grpSpPr>
            <p:sp>
              <p:nvSpPr>
                <p:cNvPr id="258" name="Line 307"/>
                <p:cNvSpPr>
                  <a:spLocks noChangeShapeType="1"/>
                </p:cNvSpPr>
                <p:nvPr/>
              </p:nvSpPr>
              <p:spPr bwMode="auto">
                <a:xfrm flipH="1">
                  <a:off x="1143" y="3708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9" name="Line 308"/>
                <p:cNvSpPr>
                  <a:spLocks noChangeShapeType="1"/>
                </p:cNvSpPr>
                <p:nvPr/>
              </p:nvSpPr>
              <p:spPr bwMode="auto">
                <a:xfrm>
                  <a:off x="1128" y="3900"/>
                  <a:ext cx="21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aphicFrame>
            <p:nvGraphicFramePr>
              <p:cNvPr id="248" name="Object 309"/>
              <p:cNvGraphicFramePr>
                <a:graphicFrameLocks noChangeAspect="1"/>
              </p:cNvGraphicFramePr>
              <p:nvPr/>
            </p:nvGraphicFramePr>
            <p:xfrm>
              <a:off x="5235517" y="5965670"/>
              <a:ext cx="414338" cy="4143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3" name="Equation" r:id="rId9" imgW="165100" imgH="165100" progId="Equation.3">
                      <p:embed/>
                    </p:oleObj>
                  </mc:Choice>
                  <mc:Fallback>
                    <p:oleObj name="Equation" r:id="rId9" imgW="165100" imgH="165100" progId="Equation.3">
                      <p:embed/>
                      <p:pic>
                        <p:nvPicPr>
                          <p:cNvPr id="0" name="Object 30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5517" y="5965670"/>
                            <a:ext cx="414338" cy="4143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49" name="Object 310"/>
              <p:cNvGraphicFramePr>
                <a:graphicFrameLocks noChangeAspect="1"/>
              </p:cNvGraphicFramePr>
              <p:nvPr/>
            </p:nvGraphicFramePr>
            <p:xfrm>
              <a:off x="8277167" y="5945033"/>
              <a:ext cx="374650" cy="441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14" name="Equation" r:id="rId11" imgW="152400" imgH="177800" progId="Equation.3">
                      <p:embed/>
                    </p:oleObj>
                  </mc:Choice>
                  <mc:Fallback>
                    <p:oleObj name="Equation" r:id="rId11" imgW="152400" imgH="177800" progId="Equation.3">
                      <p:embed/>
                      <p:pic>
                        <p:nvPicPr>
                          <p:cNvPr id="0" name="Object 3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277167" y="5945033"/>
                            <a:ext cx="374650" cy="441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50" name="Group 311"/>
              <p:cNvGrpSpPr/>
              <p:nvPr/>
            </p:nvGrpSpPr>
            <p:grpSpPr bwMode="auto">
              <a:xfrm flipH="1">
                <a:off x="7480242" y="5406870"/>
                <a:ext cx="342900" cy="304800"/>
                <a:chOff x="1128" y="3708"/>
                <a:chExt cx="216" cy="192"/>
              </a:xfrm>
            </p:grpSpPr>
            <p:sp>
              <p:nvSpPr>
                <p:cNvPr id="256" name="Line 312"/>
                <p:cNvSpPr>
                  <a:spLocks noChangeShapeType="1"/>
                </p:cNvSpPr>
                <p:nvPr/>
              </p:nvSpPr>
              <p:spPr bwMode="auto">
                <a:xfrm flipH="1">
                  <a:off x="1143" y="3708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7" name="Line 313"/>
                <p:cNvSpPr>
                  <a:spLocks noChangeShapeType="1"/>
                </p:cNvSpPr>
                <p:nvPr/>
              </p:nvSpPr>
              <p:spPr bwMode="auto">
                <a:xfrm>
                  <a:off x="1128" y="3900"/>
                  <a:ext cx="216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251" name="Line 314"/>
              <p:cNvSpPr>
                <a:spLocks noChangeShapeType="1"/>
              </p:cNvSpPr>
              <p:nvPr/>
            </p:nvSpPr>
            <p:spPr bwMode="auto">
              <a:xfrm>
                <a:off x="6299142" y="5711670"/>
                <a:ext cx="1295400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2" name="Line 315"/>
              <p:cNvSpPr>
                <a:spLocks noChangeShapeType="1"/>
              </p:cNvSpPr>
              <p:nvPr/>
            </p:nvSpPr>
            <p:spPr bwMode="auto">
              <a:xfrm>
                <a:off x="6946842" y="5711670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3" name="Text Box 316"/>
              <p:cNvSpPr txBox="1">
                <a:spLocks noChangeArrowheads="1"/>
              </p:cNvSpPr>
              <p:nvPr/>
            </p:nvSpPr>
            <p:spPr bwMode="auto">
              <a:xfrm>
                <a:off x="6599180" y="5937095"/>
                <a:ext cx="7620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8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1" charset="-122"/>
                  </a:rPr>
                  <a:t>CP</a:t>
                </a:r>
                <a:endParaRPr kumimoji="1" lang="en-US" altLang="zh-CN" sz="32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1" charset="-122"/>
                </a:endParaRPr>
              </a:p>
            </p:txBody>
          </p:sp>
        </p:grpSp>
        <p:sp>
          <p:nvSpPr>
            <p:cNvPr id="114" name="文本框 113"/>
            <p:cNvSpPr txBox="1"/>
            <p:nvPr/>
          </p:nvSpPr>
          <p:spPr>
            <a:xfrm>
              <a:off x="189345" y="2852497"/>
              <a:ext cx="7695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rgbClr val="0000FF"/>
                  </a:solidFill>
                </a:rPr>
                <a:t>G1</a:t>
              </a:r>
              <a:endParaRPr lang="zh-CN" altLang="en-US" sz="2800" b="1" dirty="0">
                <a:solidFill>
                  <a:srgbClr val="0000FF"/>
                </a:solidFill>
              </a:endParaRPr>
            </a:p>
          </p:txBody>
        </p:sp>
        <p:sp>
          <p:nvSpPr>
            <p:cNvPr id="115" name="文本框 114"/>
            <p:cNvSpPr txBox="1"/>
            <p:nvPr/>
          </p:nvSpPr>
          <p:spPr>
            <a:xfrm>
              <a:off x="4454098" y="2852497"/>
              <a:ext cx="61872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000FF"/>
                  </a:solidFill>
                </a:defRPr>
              </a:lvl1pPr>
            </a:lstStyle>
            <a:p>
              <a:r>
                <a:rPr lang="en-US" altLang="zh-CN" dirty="0"/>
                <a:t>G2</a:t>
              </a:r>
              <a:endParaRPr lang="zh-CN" altLang="en-US" dirty="0"/>
            </a:p>
          </p:txBody>
        </p:sp>
        <p:sp>
          <p:nvSpPr>
            <p:cNvPr id="116" name="文本框 115"/>
            <p:cNvSpPr txBox="1"/>
            <p:nvPr/>
          </p:nvSpPr>
          <p:spPr>
            <a:xfrm>
              <a:off x="172755" y="4772992"/>
              <a:ext cx="7695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000FF"/>
                  </a:solidFill>
                </a:defRPr>
              </a:lvl1pPr>
            </a:lstStyle>
            <a:p>
              <a:r>
                <a:rPr lang="en-US" altLang="zh-CN" dirty="0"/>
                <a:t>G3</a:t>
              </a:r>
              <a:endParaRPr lang="zh-CN" altLang="en-US" dirty="0"/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4454099" y="4834576"/>
              <a:ext cx="618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 b="1">
                  <a:solidFill>
                    <a:srgbClr val="0000FF"/>
                  </a:solidFill>
                </a:defRPr>
              </a:lvl1pPr>
            </a:lstStyle>
            <a:p>
              <a:r>
                <a:rPr lang="en-US" altLang="zh-CN" dirty="0"/>
                <a:t>G4</a:t>
              </a:r>
              <a:endParaRPr lang="zh-CN" altLang="en-US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文本框 117"/>
              <p:cNvSpPr txBox="1"/>
              <p:nvPr/>
            </p:nvSpPr>
            <p:spPr>
              <a:xfrm>
                <a:off x="5690976" y="3242136"/>
                <a:ext cx="2520858" cy="1742336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800" b="1" dirty="0">
                    <a:solidFill>
                      <a:srgbClr val="0000FF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CP=1</a:t>
                </a:r>
                <a:r>
                  <a:rPr lang="zh-CN" altLang="en-US" sz="28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时，</a:t>
                </a:r>
                <a:r>
                  <a:rPr lang="zh-CN" altLang="en-US" sz="2800" b="1" dirty="0">
                    <a:solidFill>
                      <a:srgbClr val="2B56F5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基本</a:t>
                </a:r>
                <a:r>
                  <a:rPr lang="en-US" altLang="zh-CN" sz="2800" b="1" dirty="0">
                    <a:solidFill>
                      <a:srgbClr val="2B56F5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R-S</a:t>
                </a:r>
                <a:r>
                  <a:rPr lang="zh-CN" altLang="en-US" sz="2800" b="1" dirty="0">
                    <a:solidFill>
                      <a:srgbClr val="2B56F5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触发器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状态由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mtClean="0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acc>
                    <m:r>
                      <a:rPr lang="zh-CN" altLang="en-US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和</m:t>
                    </m:r>
                    <m:acc>
                      <m:accPr>
                        <m:chr m:val="̅"/>
                        <m:ctrlP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</m:acc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决定</a:t>
                </a:r>
                <a:endParaRPr lang="zh-CN" altLang="en-US" sz="2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18" name="文本框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0976" y="3242136"/>
                <a:ext cx="2520858" cy="1742336"/>
              </a:xfrm>
              <a:prstGeom prst="rect">
                <a:avLst/>
              </a:prstGeom>
              <a:blipFill rotWithShape="1">
                <a:blip r:embed="rId13"/>
                <a:stretch>
                  <a:fillRect l="-206" t="-282" r="-176" b="-271"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Object 49"/>
          <p:cNvGraphicFramePr>
            <a:graphicFrameLocks noChangeAspect="1"/>
          </p:cNvGraphicFramePr>
          <p:nvPr/>
        </p:nvGraphicFramePr>
        <p:xfrm>
          <a:off x="1006445" y="1756896"/>
          <a:ext cx="444500" cy="500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5" name="Equation" r:id="rId14" imgW="177800" imgH="228600" progId="Equation.3">
                  <p:embed/>
                </p:oleObj>
              </mc:Choice>
              <mc:Fallback>
                <p:oleObj name="Equation" r:id="rId14" imgW="177800" imgH="2286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45" y="1756896"/>
                        <a:ext cx="444500" cy="500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/>
      <p:bldP spid="1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一、钟控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R-S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15013" y="593072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功能表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3" name="Text Box 2"/>
          <p:cNvSpPr txBox="1">
            <a:spLocks noChangeArrowheads="1"/>
          </p:cNvSpPr>
          <p:nvPr/>
        </p:nvSpPr>
        <p:spPr bwMode="auto">
          <a:xfrm>
            <a:off x="370805" y="1416040"/>
            <a:ext cx="41180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钟控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 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触发器的功能表</a:t>
            </a:r>
            <a:endParaRPr kumimoji="1"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0200" y="1930400"/>
            <a:ext cx="4659313" cy="4921250"/>
            <a:chOff x="1831805" y="1994569"/>
            <a:chExt cx="4659313" cy="4921250"/>
          </a:xfrm>
        </p:grpSpPr>
        <p:graphicFrame>
          <p:nvGraphicFramePr>
            <p:cNvPr id="64" name="Object 3"/>
            <p:cNvGraphicFramePr>
              <a:graphicFrameLocks noChangeAspect="1"/>
            </p:cNvGraphicFramePr>
            <p:nvPr/>
          </p:nvGraphicFramePr>
          <p:xfrm>
            <a:off x="1831805" y="1994569"/>
            <a:ext cx="4659313" cy="4921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2" name="Document" r:id="rId3" imgW="4601210" imgH="4886960" progId="Word.Document.8">
                    <p:embed/>
                  </p:oleObj>
                </mc:Choice>
                <mc:Fallback>
                  <p:oleObj name="Document" r:id="rId3" imgW="4601210" imgH="4886960" progId="Word.Document.8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1805" y="1994569"/>
                          <a:ext cx="4659313" cy="4921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5"/>
            <p:cNvGraphicFramePr>
              <a:graphicFrameLocks noChangeAspect="1"/>
            </p:cNvGraphicFramePr>
            <p:nvPr/>
          </p:nvGraphicFramePr>
          <p:xfrm>
            <a:off x="5763701" y="2040947"/>
            <a:ext cx="390115" cy="674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3" name="Equation" r:id="rId5" imgW="165100" imgH="241300" progId="Equation.3">
                    <p:embed/>
                  </p:oleObj>
                </mc:Choice>
                <mc:Fallback>
                  <p:oleObj name="Equation" r:id="rId5" imgW="165100" imgH="2413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63701" y="2040947"/>
                          <a:ext cx="390115" cy="674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3" name="Text Box 46"/>
          <p:cNvSpPr txBox="1">
            <a:spLocks noChangeArrowheads="1"/>
          </p:cNvSpPr>
          <p:nvPr/>
        </p:nvSpPr>
        <p:spPr bwMode="auto">
          <a:xfrm>
            <a:off x="5831781" y="2132806"/>
            <a:ext cx="271341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kumimoji="1"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kumimoji="1"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触发器的功能表</a:t>
            </a:r>
            <a:endParaRPr kumimoji="1"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4" name="Group 47"/>
          <p:cNvGrpSpPr/>
          <p:nvPr/>
        </p:nvGrpSpPr>
        <p:grpSpPr bwMode="auto">
          <a:xfrm>
            <a:off x="5450557" y="3097191"/>
            <a:ext cx="3396664" cy="2432801"/>
            <a:chOff x="3420" y="624"/>
            <a:chExt cx="2076" cy="1348"/>
          </a:xfrm>
        </p:grpSpPr>
        <p:sp>
          <p:nvSpPr>
            <p:cNvPr id="85" name="Rectangle 48"/>
            <p:cNvSpPr>
              <a:spLocks noChangeArrowheads="1"/>
            </p:cNvSpPr>
            <p:nvPr/>
          </p:nvSpPr>
          <p:spPr bwMode="auto">
            <a:xfrm>
              <a:off x="4206" y="624"/>
              <a:ext cx="129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6" name="Object 49"/>
            <p:cNvGraphicFramePr>
              <a:graphicFrameLocks noChangeAspect="1"/>
            </p:cNvGraphicFramePr>
            <p:nvPr/>
          </p:nvGraphicFramePr>
          <p:xfrm>
            <a:off x="4912" y="643"/>
            <a:ext cx="227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64" name="Equation" r:id="rId7" imgW="177800" imgH="228600" progId="Equation.3">
                    <p:embed/>
                  </p:oleObj>
                </mc:Choice>
                <mc:Fallback>
                  <p:oleObj name="Equation" r:id="rId7" imgW="177800" imgH="228600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2" y="643"/>
                          <a:ext cx="227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Rectangle 50"/>
            <p:cNvSpPr>
              <a:spLocks noChangeArrowheads="1"/>
            </p:cNvSpPr>
            <p:nvPr/>
          </p:nvSpPr>
          <p:spPr bwMode="auto">
            <a:xfrm>
              <a:off x="4206" y="950"/>
              <a:ext cx="1290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保持原状态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0      1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1      0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不定状态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88" name="Rectangle 51"/>
            <p:cNvSpPr>
              <a:spLocks noChangeArrowheads="1"/>
            </p:cNvSpPr>
            <p:nvPr/>
          </p:nvSpPr>
          <p:spPr bwMode="auto">
            <a:xfrm>
              <a:off x="3420" y="950"/>
              <a:ext cx="786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9" name="Rectangle 52"/>
            <p:cNvSpPr>
              <a:spLocks noChangeArrowheads="1"/>
            </p:cNvSpPr>
            <p:nvPr/>
          </p:nvSpPr>
          <p:spPr bwMode="auto">
            <a:xfrm>
              <a:off x="3420" y="624"/>
              <a:ext cx="78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S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53"/>
            <p:cNvSpPr>
              <a:spLocks noChangeShapeType="1"/>
            </p:cNvSpPr>
            <p:nvPr/>
          </p:nvSpPr>
          <p:spPr bwMode="auto">
            <a:xfrm>
              <a:off x="3420" y="624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1" name="Line 54"/>
            <p:cNvSpPr>
              <a:spLocks noChangeShapeType="1"/>
            </p:cNvSpPr>
            <p:nvPr/>
          </p:nvSpPr>
          <p:spPr bwMode="auto">
            <a:xfrm>
              <a:off x="3420" y="950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2" name="Line 55"/>
            <p:cNvSpPr>
              <a:spLocks noChangeShapeType="1"/>
            </p:cNvSpPr>
            <p:nvPr/>
          </p:nvSpPr>
          <p:spPr bwMode="auto">
            <a:xfrm>
              <a:off x="3420" y="1972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3" name="Line 56"/>
            <p:cNvSpPr>
              <a:spLocks noChangeShapeType="1"/>
            </p:cNvSpPr>
            <p:nvPr/>
          </p:nvSpPr>
          <p:spPr bwMode="auto">
            <a:xfrm>
              <a:off x="4206" y="624"/>
              <a:ext cx="0" cy="13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57"/>
            <p:cNvSpPr>
              <a:spLocks noChangeShapeType="1"/>
            </p:cNvSpPr>
            <p:nvPr/>
          </p:nvSpPr>
          <p:spPr bwMode="auto">
            <a:xfrm>
              <a:off x="3548" y="682"/>
              <a:ext cx="21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58"/>
            <p:cNvSpPr>
              <a:spLocks noChangeShapeType="1"/>
            </p:cNvSpPr>
            <p:nvPr/>
          </p:nvSpPr>
          <p:spPr bwMode="auto">
            <a:xfrm>
              <a:off x="3890" y="682"/>
              <a:ext cx="23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一、钟控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R-S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15013" y="634846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0" name="Group 16"/>
          <p:cNvGrpSpPr/>
          <p:nvPr/>
        </p:nvGrpSpPr>
        <p:grpSpPr bwMode="auto">
          <a:xfrm>
            <a:off x="4076015" y="5009288"/>
            <a:ext cx="4964740" cy="1361670"/>
            <a:chOff x="3024" y="2694"/>
            <a:chExt cx="2686" cy="672"/>
          </a:xfrm>
        </p:grpSpPr>
        <p:graphicFrame>
          <p:nvGraphicFramePr>
            <p:cNvPr id="41" name="Object 12"/>
            <p:cNvGraphicFramePr>
              <a:graphicFrameLocks noChangeAspect="1"/>
            </p:cNvGraphicFramePr>
            <p:nvPr/>
          </p:nvGraphicFramePr>
          <p:xfrm>
            <a:off x="3120" y="3014"/>
            <a:ext cx="2556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0" name="Equation" r:id="rId3" imgW="1879600" imgH="241300" progId="Equation.DSMT4">
                    <p:embed/>
                  </p:oleObj>
                </mc:Choice>
                <mc:Fallback>
                  <p:oleObj name="Equation" r:id="rId3" imgW="1879600" imgH="2413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3014"/>
                          <a:ext cx="2556" cy="330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Text Box 14"/>
            <p:cNvSpPr txBox="1">
              <a:spLocks noChangeArrowheads="1"/>
            </p:cNvSpPr>
            <p:nvPr/>
          </p:nvSpPr>
          <p:spPr bwMode="auto">
            <a:xfrm>
              <a:off x="3024" y="2694"/>
              <a:ext cx="2246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charset="-122"/>
                </a:rPr>
                <a:t>将时钟信号引入特征方程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charset="-122"/>
              </a:endParaRPr>
            </a:p>
          </p:txBody>
        </p:sp>
        <p:sp>
          <p:nvSpPr>
            <p:cNvPr id="43" name="Rectangle 15"/>
            <p:cNvSpPr>
              <a:spLocks noChangeArrowheads="1"/>
            </p:cNvSpPr>
            <p:nvPr/>
          </p:nvSpPr>
          <p:spPr bwMode="auto">
            <a:xfrm>
              <a:off x="3024" y="2694"/>
              <a:ext cx="2686" cy="672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4" name="Text Box 2"/>
          <p:cNvSpPr txBox="1">
            <a:spLocks noChangeArrowheads="1"/>
          </p:cNvSpPr>
          <p:nvPr/>
        </p:nvSpPr>
        <p:spPr bwMode="auto">
          <a:xfrm>
            <a:off x="83068" y="1464166"/>
            <a:ext cx="402072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钟控</a:t>
            </a:r>
            <a:r>
              <a:rPr kumimoji="1" lang="en-US" altLang="zh-CN" sz="28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kumimoji="1" lang="zh-CN" altLang="en-US" sz="28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触发器的功能表</a:t>
            </a:r>
            <a:endParaRPr kumimoji="1" lang="zh-CN" altLang="en-US" sz="2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153302" y="2106367"/>
            <a:ext cx="3922713" cy="4046537"/>
            <a:chOff x="1699154" y="2183808"/>
            <a:chExt cx="4745710" cy="4931448"/>
          </a:xfrm>
        </p:grpSpPr>
        <p:graphicFrame>
          <p:nvGraphicFramePr>
            <p:cNvPr id="46" name="Object 3"/>
            <p:cNvGraphicFramePr>
              <a:graphicFrameLocks noChangeAspect="1"/>
            </p:cNvGraphicFramePr>
            <p:nvPr/>
          </p:nvGraphicFramePr>
          <p:xfrm>
            <a:off x="1699154" y="2183808"/>
            <a:ext cx="4745710" cy="4931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1" name="Document" r:id="rId5" imgW="4683760" imgH="4894580" progId="Word.Document.8">
                    <p:embed/>
                  </p:oleObj>
                </mc:Choice>
                <mc:Fallback>
                  <p:oleObj name="Document" r:id="rId5" imgW="4683760" imgH="4894580" progId="Word.Document.8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9154" y="2183808"/>
                          <a:ext cx="4745710" cy="4931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Object 5"/>
            <p:cNvGraphicFramePr>
              <a:graphicFrameLocks noChangeAspect="1"/>
            </p:cNvGraphicFramePr>
            <p:nvPr/>
          </p:nvGraphicFramePr>
          <p:xfrm>
            <a:off x="5683490" y="2231086"/>
            <a:ext cx="390115" cy="6746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2" name="Equation" r:id="rId7" imgW="165100" imgH="241300" progId="Equation.DSMT4">
                    <p:embed/>
                  </p:oleObj>
                </mc:Choice>
                <mc:Fallback>
                  <p:oleObj name="Equation" r:id="rId7" imgW="165100" imgH="2413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83490" y="2231086"/>
                          <a:ext cx="390115" cy="6746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4603271" y="1464167"/>
            <a:ext cx="4072890" cy="3135763"/>
            <a:chOff x="4492746" y="1557137"/>
            <a:chExt cx="4072890" cy="2878674"/>
          </a:xfrm>
        </p:grpSpPr>
        <p:grpSp>
          <p:nvGrpSpPr>
            <p:cNvPr id="36" name="Group 18"/>
            <p:cNvGrpSpPr/>
            <p:nvPr/>
          </p:nvGrpSpPr>
          <p:grpSpPr bwMode="auto">
            <a:xfrm>
              <a:off x="4492746" y="1557137"/>
              <a:ext cx="4072890" cy="2878674"/>
              <a:chOff x="1152" y="3043"/>
              <a:chExt cx="2391" cy="1433"/>
            </a:xfrm>
          </p:grpSpPr>
          <p:sp>
            <p:nvSpPr>
              <p:cNvPr id="38" name="Text Box 8"/>
              <p:cNvSpPr txBox="1">
                <a:spLocks noChangeArrowheads="1"/>
              </p:cNvSpPr>
              <p:nvPr/>
            </p:nvSpPr>
            <p:spPr bwMode="auto">
              <a:xfrm>
                <a:off x="1152" y="3043"/>
                <a:ext cx="2391" cy="8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57200" marR="0" lvl="0" indent="-457200" defTabSz="91440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CP=0, 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保持原状态</a:t>
                </a:r>
                <a:endPara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R="0" lvl="0" defTabSz="91440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defRPr/>
                </a:pPr>
                <a:r>
                  <a:rPr kumimoji="1" lang="zh-CN" altLang="en-US" sz="3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宋体" panose="02010600030101010101" pitchFamily="2" charset="-122"/>
                  </a:rPr>
                  <a:t> </a:t>
                </a:r>
                <a:endParaRPr kumimoji="1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 marR="0" lvl="0" defTabSz="91440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defRPr/>
                </a:pPr>
                <a:endPara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  <a:p>
                <a:pPr marL="457200" marR="0" lvl="0" indent="-457200" defTabSz="914400" eaLnBrk="1" fontAlgn="base" latinLnBrk="0" hangingPunct="1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Ø"/>
                  <a:defRPr/>
                </a:pP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CP=1, 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基本</a:t>
                </a:r>
                <a:r>
                  <a:rPr kumimoji="1" lang="en-US" altLang="zh-CN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R-S</a:t>
                </a:r>
                <a:r>
                  <a:rPr kumimoji="1" lang="zh-CN" altLang="en-US" sz="2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触发器</a:t>
                </a:r>
                <a:endPara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39" name="Object 9"/>
              <p:cNvGraphicFramePr>
                <a:graphicFrameLocks noChangeAspect="1"/>
              </p:cNvGraphicFramePr>
              <p:nvPr/>
            </p:nvGraphicFramePr>
            <p:xfrm>
              <a:off x="1472" y="3886"/>
              <a:ext cx="1604" cy="5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413" name="Equation" r:id="rId9" imgW="1066800" imgH="482600" progId="Equation.DSMT4">
                      <p:embed/>
                    </p:oleObj>
                  </mc:Choice>
                  <mc:Fallback>
                    <p:oleObj name="Equation" r:id="rId9" imgW="1066800" imgH="482600" progId="Equation.DSMT4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72" y="3886"/>
                            <a:ext cx="1604" cy="590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09411" y="2103127"/>
              <a:ext cx="1375609" cy="569276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一、钟控 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R-S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 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4215013" y="634846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时序波形图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28" name="Group 2"/>
          <p:cNvGrpSpPr/>
          <p:nvPr/>
        </p:nvGrpSpPr>
        <p:grpSpPr bwMode="auto">
          <a:xfrm>
            <a:off x="1143000" y="2286000"/>
            <a:ext cx="4343400" cy="685800"/>
            <a:chOff x="672" y="3072"/>
            <a:chExt cx="2160" cy="240"/>
          </a:xfrm>
        </p:grpSpPr>
        <p:grpSp>
          <p:nvGrpSpPr>
            <p:cNvPr id="129" name="Group 3"/>
            <p:cNvGrpSpPr/>
            <p:nvPr/>
          </p:nvGrpSpPr>
          <p:grpSpPr bwMode="auto">
            <a:xfrm>
              <a:off x="2208" y="3072"/>
              <a:ext cx="384" cy="240"/>
              <a:chOff x="720" y="3072"/>
              <a:chExt cx="384" cy="240"/>
            </a:xfrm>
          </p:grpSpPr>
          <p:sp>
            <p:nvSpPr>
              <p:cNvPr id="151" name="Line 4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52" name="Line 5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53" name="Line 6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54" name="Line 7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</p:grpSp>
        <p:grpSp>
          <p:nvGrpSpPr>
            <p:cNvPr id="130" name="Group 8"/>
            <p:cNvGrpSpPr/>
            <p:nvPr/>
          </p:nvGrpSpPr>
          <p:grpSpPr bwMode="auto">
            <a:xfrm>
              <a:off x="1056" y="3072"/>
              <a:ext cx="384" cy="240"/>
              <a:chOff x="720" y="3072"/>
              <a:chExt cx="384" cy="240"/>
            </a:xfrm>
          </p:grpSpPr>
          <p:sp>
            <p:nvSpPr>
              <p:cNvPr id="147" name="Line 9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8" name="Line 10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9" name="Line 11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50" name="Line 12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</p:grpSp>
        <p:grpSp>
          <p:nvGrpSpPr>
            <p:cNvPr id="131" name="Group 13"/>
            <p:cNvGrpSpPr/>
            <p:nvPr/>
          </p:nvGrpSpPr>
          <p:grpSpPr bwMode="auto">
            <a:xfrm>
              <a:off x="1440" y="3072"/>
              <a:ext cx="384" cy="240"/>
              <a:chOff x="720" y="3072"/>
              <a:chExt cx="384" cy="240"/>
            </a:xfrm>
          </p:grpSpPr>
          <p:sp>
            <p:nvSpPr>
              <p:cNvPr id="143" name="Line 14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4" name="Line 15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5" name="Line 16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6" name="Line 17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</p:grpSp>
        <p:grpSp>
          <p:nvGrpSpPr>
            <p:cNvPr id="132" name="Group 18"/>
            <p:cNvGrpSpPr/>
            <p:nvPr/>
          </p:nvGrpSpPr>
          <p:grpSpPr bwMode="auto">
            <a:xfrm>
              <a:off x="1824" y="3072"/>
              <a:ext cx="384" cy="240"/>
              <a:chOff x="720" y="3072"/>
              <a:chExt cx="384" cy="240"/>
            </a:xfrm>
          </p:grpSpPr>
          <p:sp>
            <p:nvSpPr>
              <p:cNvPr id="139" name="Line 19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0" name="Line 20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1" name="Line 21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42" name="Line 22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</p:grpSp>
        <p:grpSp>
          <p:nvGrpSpPr>
            <p:cNvPr id="133" name="Group 23"/>
            <p:cNvGrpSpPr/>
            <p:nvPr/>
          </p:nvGrpSpPr>
          <p:grpSpPr bwMode="auto">
            <a:xfrm>
              <a:off x="672" y="3072"/>
              <a:ext cx="384" cy="240"/>
              <a:chOff x="720" y="3072"/>
              <a:chExt cx="384" cy="240"/>
            </a:xfrm>
          </p:grpSpPr>
          <p:sp>
            <p:nvSpPr>
              <p:cNvPr id="135" name="Line 24"/>
              <p:cNvSpPr>
                <a:spLocks noChangeShapeType="1"/>
              </p:cNvSpPr>
              <p:nvPr/>
            </p:nvSpPr>
            <p:spPr bwMode="auto">
              <a:xfrm>
                <a:off x="720" y="331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36" name="Line 25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37" name="Line 26"/>
              <p:cNvSpPr>
                <a:spLocks noChangeShapeType="1"/>
              </p:cNvSpPr>
              <p:nvPr/>
            </p:nvSpPr>
            <p:spPr bwMode="auto">
              <a:xfrm>
                <a:off x="912" y="3072"/>
                <a:ext cx="192" cy="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  <p:sp>
            <p:nvSpPr>
              <p:cNvPr id="138" name="Line 27"/>
              <p:cNvSpPr>
                <a:spLocks noChangeShapeType="1"/>
              </p:cNvSpPr>
              <p:nvPr/>
            </p:nvSpPr>
            <p:spPr bwMode="auto">
              <a:xfrm>
                <a:off x="1104" y="3072"/>
                <a:ext cx="0" cy="240"/>
              </a:xfrm>
              <a:prstGeom prst="line">
                <a:avLst/>
              </a:prstGeom>
              <a:noFill/>
              <a:ln w="28575" cap="sq">
                <a:solidFill>
                  <a:srgbClr val="3333CC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3600" b="1" i="0" u="none" strike="noStrike" kern="0" cap="none" spc="0" normalizeH="0" baseline="0" noProof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ea typeface="楷体_GB2312" pitchFamily="49" charset="-122"/>
                </a:endParaRPr>
              </a:p>
            </p:txBody>
          </p:sp>
        </p:grpSp>
        <p:sp>
          <p:nvSpPr>
            <p:cNvPr id="134" name="Line 28"/>
            <p:cNvSpPr>
              <a:spLocks noChangeShapeType="1"/>
            </p:cNvSpPr>
            <p:nvPr/>
          </p:nvSpPr>
          <p:spPr bwMode="auto">
            <a:xfrm>
              <a:off x="2592" y="3312"/>
              <a:ext cx="240" cy="0"/>
            </a:xfrm>
            <a:prstGeom prst="line">
              <a:avLst/>
            </a:prstGeom>
            <a:noFill/>
            <a:ln w="28575" cap="sq">
              <a:solidFill>
                <a:srgbClr val="3333CC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  <p:sp>
        <p:nvSpPr>
          <p:cNvPr id="155" name="Text Box 29"/>
          <p:cNvSpPr txBox="1">
            <a:spLocks noChangeArrowheads="1"/>
          </p:cNvSpPr>
          <p:nvPr/>
        </p:nvSpPr>
        <p:spPr bwMode="auto">
          <a:xfrm>
            <a:off x="447675" y="2295525"/>
            <a:ext cx="7254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>
                <a:solidFill>
                  <a:srgbClr val="3333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CP</a:t>
            </a:r>
            <a:endParaRPr kumimoji="1" lang="en-US" altLang="zh-CN" sz="320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56" name="Text Box 30"/>
          <p:cNvSpPr txBox="1">
            <a:spLocks noChangeArrowheads="1"/>
          </p:cNvSpPr>
          <p:nvPr/>
        </p:nvSpPr>
        <p:spPr bwMode="auto">
          <a:xfrm>
            <a:off x="375347" y="1238439"/>
            <a:ext cx="59570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初态</a:t>
            </a:r>
            <a:r>
              <a:rPr kumimoji="1"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Q=0</a:t>
            </a:r>
            <a:r>
              <a: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，在</a:t>
            </a:r>
            <a:r>
              <a:rPr kumimoji="1"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CP</a:t>
            </a:r>
            <a:r>
              <a: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作用下</a:t>
            </a:r>
            <a:r>
              <a:rPr kumimoji="1"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kumimoji="1"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端的波形</a:t>
            </a:r>
            <a:endParaRPr kumimoji="1"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7" name="Line 31"/>
          <p:cNvSpPr>
            <a:spLocks noChangeShapeType="1"/>
          </p:cNvSpPr>
          <p:nvPr/>
        </p:nvSpPr>
        <p:spPr bwMode="auto">
          <a:xfrm>
            <a:off x="914400" y="32004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58" name="Line 32"/>
          <p:cNvSpPr>
            <a:spLocks noChangeShapeType="1"/>
          </p:cNvSpPr>
          <p:nvPr/>
        </p:nvSpPr>
        <p:spPr bwMode="auto">
          <a:xfrm>
            <a:off x="1274763" y="3200400"/>
            <a:ext cx="0" cy="549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59" name="Line 33"/>
          <p:cNvSpPr>
            <a:spLocks noChangeShapeType="1"/>
          </p:cNvSpPr>
          <p:nvPr/>
        </p:nvSpPr>
        <p:spPr bwMode="auto">
          <a:xfrm>
            <a:off x="1295400" y="3762375"/>
            <a:ext cx="838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0" name="Line 34"/>
          <p:cNvSpPr>
            <a:spLocks noChangeShapeType="1"/>
          </p:cNvSpPr>
          <p:nvPr/>
        </p:nvSpPr>
        <p:spPr bwMode="auto">
          <a:xfrm>
            <a:off x="2133600" y="3200400"/>
            <a:ext cx="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1" name="Line 35"/>
          <p:cNvSpPr>
            <a:spLocks noChangeShapeType="1"/>
          </p:cNvSpPr>
          <p:nvPr/>
        </p:nvSpPr>
        <p:spPr bwMode="auto">
          <a:xfrm>
            <a:off x="2133600" y="32004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2" name="Line 36"/>
          <p:cNvSpPr>
            <a:spLocks noChangeShapeType="1"/>
          </p:cNvSpPr>
          <p:nvPr/>
        </p:nvSpPr>
        <p:spPr bwMode="auto">
          <a:xfrm flipH="1">
            <a:off x="2805113" y="3219450"/>
            <a:ext cx="0" cy="5715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3" name="Line 37"/>
          <p:cNvSpPr>
            <a:spLocks noChangeShapeType="1"/>
          </p:cNvSpPr>
          <p:nvPr/>
        </p:nvSpPr>
        <p:spPr bwMode="auto">
          <a:xfrm flipV="1">
            <a:off x="2800350" y="3776663"/>
            <a:ext cx="857250" cy="19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4" name="Line 38"/>
          <p:cNvSpPr>
            <a:spLocks noChangeShapeType="1"/>
          </p:cNvSpPr>
          <p:nvPr/>
        </p:nvSpPr>
        <p:spPr bwMode="auto">
          <a:xfrm>
            <a:off x="3657600" y="3200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5" name="Line 39"/>
          <p:cNvSpPr>
            <a:spLocks noChangeShapeType="1"/>
          </p:cNvSpPr>
          <p:nvPr/>
        </p:nvSpPr>
        <p:spPr bwMode="auto">
          <a:xfrm>
            <a:off x="4800600" y="32004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6" name="Line 40"/>
          <p:cNvSpPr>
            <a:spLocks noChangeShapeType="1"/>
          </p:cNvSpPr>
          <p:nvPr/>
        </p:nvSpPr>
        <p:spPr bwMode="auto">
          <a:xfrm>
            <a:off x="3657600" y="32004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7" name="Line 41"/>
          <p:cNvSpPr>
            <a:spLocks noChangeShapeType="1"/>
          </p:cNvSpPr>
          <p:nvPr/>
        </p:nvSpPr>
        <p:spPr bwMode="auto">
          <a:xfrm>
            <a:off x="4800600" y="38100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68" name="Text Box 42"/>
          <p:cNvSpPr txBox="1">
            <a:spLocks noChangeArrowheads="1"/>
          </p:cNvSpPr>
          <p:nvPr/>
        </p:nvSpPr>
        <p:spPr bwMode="auto">
          <a:xfrm>
            <a:off x="481013" y="3292475"/>
            <a:ext cx="4095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170A8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endParaRPr kumimoji="1" lang="en-US" altLang="zh-CN" sz="3200" b="1" dirty="0">
              <a:solidFill>
                <a:srgbClr val="170A8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9" name="Line 43"/>
          <p:cNvSpPr>
            <a:spLocks noChangeShapeType="1"/>
          </p:cNvSpPr>
          <p:nvPr/>
        </p:nvSpPr>
        <p:spPr bwMode="auto">
          <a:xfrm>
            <a:off x="685800" y="41148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0" name="Line 44"/>
          <p:cNvSpPr>
            <a:spLocks noChangeShapeType="1"/>
          </p:cNvSpPr>
          <p:nvPr/>
        </p:nvSpPr>
        <p:spPr bwMode="auto">
          <a:xfrm>
            <a:off x="1066800" y="4114800"/>
            <a:ext cx="1588" cy="5318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1" name="Line 45"/>
          <p:cNvSpPr>
            <a:spLocks noChangeShapeType="1"/>
          </p:cNvSpPr>
          <p:nvPr/>
        </p:nvSpPr>
        <p:spPr bwMode="auto">
          <a:xfrm>
            <a:off x="1066800" y="4676775"/>
            <a:ext cx="1809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2" name="Line 46"/>
          <p:cNvSpPr>
            <a:spLocks noChangeShapeType="1"/>
          </p:cNvSpPr>
          <p:nvPr/>
        </p:nvSpPr>
        <p:spPr bwMode="auto">
          <a:xfrm>
            <a:off x="2895600" y="4095750"/>
            <a:ext cx="0" cy="5699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3" name="Line 47"/>
          <p:cNvSpPr>
            <a:spLocks noChangeShapeType="1"/>
          </p:cNvSpPr>
          <p:nvPr/>
        </p:nvSpPr>
        <p:spPr bwMode="auto">
          <a:xfrm>
            <a:off x="2895600" y="4100513"/>
            <a:ext cx="1981200" cy="142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4" name="Line 48"/>
          <p:cNvSpPr>
            <a:spLocks noChangeShapeType="1"/>
          </p:cNvSpPr>
          <p:nvPr/>
        </p:nvSpPr>
        <p:spPr bwMode="auto">
          <a:xfrm>
            <a:off x="4876800" y="41148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5" name="Line 49"/>
          <p:cNvSpPr>
            <a:spLocks noChangeShapeType="1"/>
          </p:cNvSpPr>
          <p:nvPr/>
        </p:nvSpPr>
        <p:spPr bwMode="auto">
          <a:xfrm>
            <a:off x="4876800" y="4724400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6" name="Text Box 50"/>
          <p:cNvSpPr txBox="1">
            <a:spLocks noChangeArrowheads="1"/>
          </p:cNvSpPr>
          <p:nvPr/>
        </p:nvSpPr>
        <p:spPr bwMode="auto">
          <a:xfrm>
            <a:off x="447675" y="4206875"/>
            <a:ext cx="477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3300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170A8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endParaRPr kumimoji="1" lang="en-US" altLang="zh-CN" sz="3200" b="1" dirty="0">
              <a:solidFill>
                <a:srgbClr val="170A8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7" name="Line 51"/>
          <p:cNvSpPr>
            <a:spLocks noChangeShapeType="1"/>
          </p:cNvSpPr>
          <p:nvPr/>
        </p:nvSpPr>
        <p:spPr bwMode="auto">
          <a:xfrm>
            <a:off x="1524000" y="2971800"/>
            <a:ext cx="0" cy="2514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8" name="Line 52"/>
          <p:cNvSpPr>
            <a:spLocks noChangeShapeType="1"/>
          </p:cNvSpPr>
          <p:nvPr/>
        </p:nvSpPr>
        <p:spPr bwMode="auto">
          <a:xfrm>
            <a:off x="2300288" y="3005138"/>
            <a:ext cx="0" cy="2514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79" name="Line 53"/>
          <p:cNvSpPr>
            <a:spLocks noChangeShapeType="1"/>
          </p:cNvSpPr>
          <p:nvPr/>
        </p:nvSpPr>
        <p:spPr bwMode="auto">
          <a:xfrm>
            <a:off x="3062288" y="3019425"/>
            <a:ext cx="0" cy="2514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80" name="Line 54"/>
          <p:cNvSpPr>
            <a:spLocks noChangeShapeType="1"/>
          </p:cNvSpPr>
          <p:nvPr/>
        </p:nvSpPr>
        <p:spPr bwMode="auto">
          <a:xfrm>
            <a:off x="3857625" y="3005138"/>
            <a:ext cx="0" cy="2514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81" name="Line 55"/>
          <p:cNvSpPr>
            <a:spLocks noChangeShapeType="1"/>
          </p:cNvSpPr>
          <p:nvPr/>
        </p:nvSpPr>
        <p:spPr bwMode="auto">
          <a:xfrm>
            <a:off x="838200" y="5510213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82" name="Text Box 56"/>
          <p:cNvSpPr txBox="1">
            <a:spLocks noChangeArrowheads="1"/>
          </p:cNvSpPr>
          <p:nvPr/>
        </p:nvSpPr>
        <p:spPr bwMode="auto">
          <a:xfrm>
            <a:off x="408151" y="4969769"/>
            <a:ext cx="5000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66FF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3200" b="1" dirty="0">
                <a:solidFill>
                  <a:srgbClr val="170A8E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kumimoji="1" lang="en-US" altLang="zh-CN" sz="3200" b="1" dirty="0">
              <a:solidFill>
                <a:srgbClr val="170A8E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3" name="Line 57"/>
          <p:cNvSpPr>
            <a:spLocks noChangeShapeType="1"/>
          </p:cNvSpPr>
          <p:nvPr/>
        </p:nvSpPr>
        <p:spPr bwMode="auto">
          <a:xfrm>
            <a:off x="1524000" y="5514975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84" name="Line 58"/>
          <p:cNvSpPr>
            <a:spLocks noChangeShapeType="1"/>
          </p:cNvSpPr>
          <p:nvPr/>
        </p:nvSpPr>
        <p:spPr bwMode="auto">
          <a:xfrm flipV="1">
            <a:off x="2286000" y="4905375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85" name="Line 59"/>
          <p:cNvSpPr>
            <a:spLocks noChangeShapeType="1"/>
          </p:cNvSpPr>
          <p:nvPr/>
        </p:nvSpPr>
        <p:spPr bwMode="auto">
          <a:xfrm>
            <a:off x="2286000" y="4876800"/>
            <a:ext cx="762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86" name="Line 60"/>
          <p:cNvSpPr>
            <a:spLocks noChangeShapeType="1"/>
          </p:cNvSpPr>
          <p:nvPr/>
        </p:nvSpPr>
        <p:spPr bwMode="auto">
          <a:xfrm>
            <a:off x="3048000" y="4876800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87" name="Line 61"/>
          <p:cNvSpPr>
            <a:spLocks noChangeShapeType="1"/>
          </p:cNvSpPr>
          <p:nvPr/>
        </p:nvSpPr>
        <p:spPr bwMode="auto">
          <a:xfrm>
            <a:off x="3048000" y="548640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88" name="Line 62"/>
          <p:cNvSpPr>
            <a:spLocks noChangeShapeType="1"/>
          </p:cNvSpPr>
          <p:nvPr/>
        </p:nvSpPr>
        <p:spPr bwMode="auto">
          <a:xfrm>
            <a:off x="4219575" y="2971800"/>
            <a:ext cx="0" cy="25146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600" b="1" i="0" u="none" strike="noStrike" kern="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楷体_GB2312" pitchFamily="49" charset="-122"/>
            </a:endParaRPr>
          </a:p>
        </p:txBody>
      </p:sp>
      <p:sp>
        <p:nvSpPr>
          <p:cNvPr id="190" name="Line 64"/>
          <p:cNvSpPr>
            <a:spLocks noChangeShapeType="1"/>
          </p:cNvSpPr>
          <p:nvPr/>
        </p:nvSpPr>
        <p:spPr bwMode="auto">
          <a:xfrm>
            <a:off x="3857625" y="4876800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91" name="Line 65"/>
          <p:cNvSpPr>
            <a:spLocks noChangeShapeType="1"/>
          </p:cNvSpPr>
          <p:nvPr/>
        </p:nvSpPr>
        <p:spPr bwMode="auto">
          <a:xfrm flipV="1">
            <a:off x="3845560" y="4862195"/>
            <a:ext cx="1529715" cy="14605"/>
          </a:xfrm>
          <a:prstGeom prst="line">
            <a:avLst/>
          </a:prstGeom>
          <a:noFill/>
          <a:ln w="38100">
            <a:solidFill>
              <a:srgbClr val="FF66FF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92" name="Line 66"/>
          <p:cNvSpPr>
            <a:spLocks noChangeShapeType="1"/>
          </p:cNvSpPr>
          <p:nvPr/>
        </p:nvSpPr>
        <p:spPr bwMode="auto">
          <a:xfrm>
            <a:off x="3856990" y="5487035"/>
            <a:ext cx="1624330" cy="13970"/>
          </a:xfrm>
          <a:prstGeom prst="line">
            <a:avLst/>
          </a:prstGeom>
          <a:noFill/>
          <a:ln w="38100">
            <a:solidFill>
              <a:srgbClr val="FF66FF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93" name="Line 67"/>
          <p:cNvSpPr>
            <a:spLocks noChangeShapeType="1"/>
          </p:cNvSpPr>
          <p:nvPr/>
        </p:nvSpPr>
        <p:spPr bwMode="auto">
          <a:xfrm>
            <a:off x="4600574" y="2971799"/>
            <a:ext cx="17145" cy="2538413"/>
          </a:xfrm>
          <a:prstGeom prst="line">
            <a:avLst/>
          </a:prstGeom>
          <a:noFill/>
          <a:ln w="12700">
            <a:solidFill>
              <a:srgbClr val="FF3300"/>
            </a:solidFill>
            <a:prstDash val="sysDot"/>
            <a:rou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3600" b="1">
              <a:solidFill>
                <a:srgbClr val="008000"/>
              </a:solidFill>
              <a:ea typeface="楷体_GB2312" pitchFamily="49" charset="-122"/>
            </a:endParaRPr>
          </a:p>
        </p:txBody>
      </p:sp>
      <p:sp>
        <p:nvSpPr>
          <p:cNvPr id="194" name="Text Box 68"/>
          <p:cNvSpPr txBox="1">
            <a:spLocks noChangeArrowheads="1"/>
          </p:cNvSpPr>
          <p:nvPr/>
        </p:nvSpPr>
        <p:spPr bwMode="auto">
          <a:xfrm>
            <a:off x="3845560" y="4969510"/>
            <a:ext cx="1845310" cy="437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 dirty="0">
                <a:solidFill>
                  <a:srgbClr val="FF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不定</a:t>
            </a:r>
            <a:endParaRPr kumimoji="1"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95" name="Group 69"/>
          <p:cNvGrpSpPr/>
          <p:nvPr/>
        </p:nvGrpSpPr>
        <p:grpSpPr bwMode="auto">
          <a:xfrm>
            <a:off x="3716334" y="5860192"/>
            <a:ext cx="2133600" cy="762000"/>
            <a:chOff x="2160" y="3648"/>
            <a:chExt cx="1344" cy="480"/>
          </a:xfrm>
        </p:grpSpPr>
        <p:sp>
          <p:nvSpPr>
            <p:cNvPr id="196" name="AutoShape 70"/>
            <p:cNvSpPr>
              <a:spLocks noChangeArrowheads="1"/>
            </p:cNvSpPr>
            <p:nvPr/>
          </p:nvSpPr>
          <p:spPr bwMode="auto">
            <a:xfrm flipV="1">
              <a:off x="2160" y="3648"/>
              <a:ext cx="1344" cy="480"/>
            </a:xfrm>
            <a:prstGeom prst="cloudCallout">
              <a:avLst>
                <a:gd name="adj1" fmla="val 9332"/>
                <a:gd name="adj2" fmla="val 98983"/>
              </a:avLst>
            </a:prstGeom>
            <a:solidFill>
              <a:srgbClr val="FFFFFF"/>
            </a:solidFill>
            <a:ln w="38100">
              <a:solidFill>
                <a:srgbClr val="FF3300"/>
              </a:solidFill>
              <a:round/>
              <a:tailEnd type="none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7" name="Text Box 71"/>
            <p:cNvSpPr txBox="1">
              <a:spLocks noChangeArrowheads="1"/>
            </p:cNvSpPr>
            <p:nvPr/>
          </p:nvSpPr>
          <p:spPr bwMode="auto">
            <a:xfrm>
              <a:off x="2306" y="3753"/>
              <a:ext cx="10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禁止出现</a:t>
              </a:r>
              <a:endParaRPr kumimoji="1" lang="zh-CN" altLang="en-US" sz="3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8" name="Group 72"/>
          <p:cNvGrpSpPr/>
          <p:nvPr/>
        </p:nvGrpSpPr>
        <p:grpSpPr bwMode="auto">
          <a:xfrm>
            <a:off x="5936045" y="2749611"/>
            <a:ext cx="3248025" cy="2557463"/>
            <a:chOff x="3570" y="1619"/>
            <a:chExt cx="2046" cy="1611"/>
          </a:xfrm>
        </p:grpSpPr>
        <p:sp>
          <p:nvSpPr>
            <p:cNvPr id="199" name="Text Box 73"/>
            <p:cNvSpPr txBox="1">
              <a:spLocks noChangeArrowheads="1"/>
            </p:cNvSpPr>
            <p:nvPr/>
          </p:nvSpPr>
          <p:spPr bwMode="auto">
            <a:xfrm>
              <a:off x="3688" y="2798"/>
              <a:ext cx="19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不定，禁止</a:t>
              </a:r>
              <a:r>
                <a:rPr kumimoji="1" lang="zh-CN" altLang="en-US" sz="32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endParaRPr kumimoji="1" lang="zh-CN" altLang="en-US" sz="32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0" name="Line 74"/>
            <p:cNvSpPr>
              <a:spLocks noChangeShapeType="1"/>
            </p:cNvSpPr>
            <p:nvPr/>
          </p:nvSpPr>
          <p:spPr bwMode="auto">
            <a:xfrm>
              <a:off x="3570" y="1646"/>
              <a:ext cx="1728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01" name="Text Box 75"/>
            <p:cNvSpPr txBox="1">
              <a:spLocks noChangeArrowheads="1"/>
            </p:cNvSpPr>
            <p:nvPr/>
          </p:nvSpPr>
          <p:spPr bwMode="auto">
            <a:xfrm>
              <a:off x="3678" y="1628"/>
              <a:ext cx="2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kumimoji="1" lang="en-US" altLang="zh-CN" sz="32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2" name="Text Box 76"/>
            <p:cNvSpPr txBox="1">
              <a:spLocks noChangeArrowheads="1"/>
            </p:cNvSpPr>
            <p:nvPr/>
          </p:nvSpPr>
          <p:spPr bwMode="auto">
            <a:xfrm>
              <a:off x="4062" y="1619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3" name="Text Box 77"/>
            <p:cNvSpPr txBox="1">
              <a:spLocks noChangeArrowheads="1"/>
            </p:cNvSpPr>
            <p:nvPr/>
          </p:nvSpPr>
          <p:spPr bwMode="auto">
            <a:xfrm>
              <a:off x="4296" y="1646"/>
              <a:ext cx="780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Q</a:t>
              </a:r>
              <a:r>
                <a:rPr kumimoji="1" lang="en-US" altLang="zh-CN" sz="3200" b="1" i="1" u="none" strike="noStrike" kern="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3200" b="1" i="0" u="none" strike="noStrike" kern="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+1</a:t>
              </a:r>
              <a:endParaRPr kumimoji="1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4" name="Line 78"/>
            <p:cNvSpPr>
              <a:spLocks noChangeShapeType="1"/>
            </p:cNvSpPr>
            <p:nvPr/>
          </p:nvSpPr>
          <p:spPr bwMode="auto">
            <a:xfrm>
              <a:off x="4434" y="1646"/>
              <a:ext cx="0" cy="1584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06" name="Line 80"/>
            <p:cNvSpPr>
              <a:spLocks noChangeShapeType="1"/>
            </p:cNvSpPr>
            <p:nvPr/>
          </p:nvSpPr>
          <p:spPr bwMode="auto">
            <a:xfrm>
              <a:off x="3585" y="2027"/>
              <a:ext cx="1713" cy="3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  <p:sp>
          <p:nvSpPr>
            <p:cNvPr id="207" name="Text Box 81"/>
            <p:cNvSpPr txBox="1">
              <a:spLocks noChangeArrowheads="1"/>
            </p:cNvSpPr>
            <p:nvPr/>
          </p:nvSpPr>
          <p:spPr bwMode="auto">
            <a:xfrm>
              <a:off x="3696" y="2016"/>
              <a:ext cx="129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Q</a:t>
              </a:r>
              <a:r>
                <a:rPr kumimoji="1" lang="en-US" altLang="zh-CN" sz="3200" b="1" i="1" u="none" strike="noStrike" kern="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r>
                <a:rPr kumimoji="1" lang="en-US" altLang="zh-CN" sz="3200" b="1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1" lang="en-US" altLang="zh-CN" sz="32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8" name="Text Box 82"/>
            <p:cNvSpPr txBox="1">
              <a:spLocks noChangeArrowheads="1"/>
            </p:cNvSpPr>
            <p:nvPr/>
          </p:nvSpPr>
          <p:spPr bwMode="auto">
            <a:xfrm>
              <a:off x="3687" y="2289"/>
              <a:ext cx="128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</a:t>
              </a: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 </a:t>
              </a:r>
              <a:r>
                <a:rPr kumimoji="1" lang="en-US" altLang="zh-CN" sz="32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1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kumimoji="1" lang="en-US" altLang="zh-CN" sz="32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9" name="Text Box 83"/>
            <p:cNvSpPr txBox="1">
              <a:spLocks noChangeArrowheads="1"/>
            </p:cNvSpPr>
            <p:nvPr/>
          </p:nvSpPr>
          <p:spPr bwMode="auto">
            <a:xfrm>
              <a:off x="3630" y="2540"/>
              <a:ext cx="127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32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   </a:t>
              </a: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 </a:t>
              </a:r>
              <a:r>
                <a:rPr kumimoji="1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kumimoji="1" lang="en-US" altLang="zh-CN" sz="32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CC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32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</a:t>
              </a:r>
              <a:endParaRPr kumimoji="1" lang="en-US" altLang="zh-CN" sz="3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0" name="Line 84"/>
            <p:cNvSpPr>
              <a:spLocks noChangeShapeType="1"/>
            </p:cNvSpPr>
            <p:nvPr/>
          </p:nvSpPr>
          <p:spPr bwMode="auto">
            <a:xfrm>
              <a:off x="3603" y="3218"/>
              <a:ext cx="1839" cy="12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3600" b="1" i="0" u="none" strike="noStrike" kern="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楷体_GB2312" pitchFamily="49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6121938" y="2304192"/>
            <a:ext cx="2471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时的真值表</a:t>
            </a:r>
            <a:endParaRPr lang="zh-CN" altLang="en-US" sz="2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80091" y="1723006"/>
            <a:ext cx="3060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时，保持原状态</a:t>
            </a:r>
            <a:endParaRPr lang="zh-CN" altLang="en-US" sz="24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直接连接符 9"/>
          <p:cNvCxnSpPr>
            <a:stCxn id="147" idx="0"/>
          </p:cNvCxnSpPr>
          <p:nvPr/>
        </p:nvCxnSpPr>
        <p:spPr>
          <a:xfrm>
            <a:off x="1915160" y="2971800"/>
            <a:ext cx="0" cy="2562225"/>
          </a:xfrm>
          <a:prstGeom prst="line">
            <a:avLst/>
          </a:prstGeom>
          <a:ln w="22225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对话气泡: 矩形 10"/>
          <p:cNvSpPr/>
          <p:nvPr/>
        </p:nvSpPr>
        <p:spPr>
          <a:xfrm>
            <a:off x="365162" y="5657027"/>
            <a:ext cx="1492828" cy="1114233"/>
          </a:xfrm>
          <a:prstGeom prst="wedgeRectCallout">
            <a:avLst>
              <a:gd name="adj1" fmla="val 35074"/>
              <a:gd name="adj2" fmla="val -6202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</a:rPr>
              <a:t>CP=1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algn="ctr"/>
            <a:r>
              <a:rPr lang="en-US" altLang="zh-CN" sz="2400" b="1" dirty="0">
                <a:solidFill>
                  <a:srgbClr val="C00000"/>
                </a:solidFill>
              </a:rPr>
              <a:t>S=0</a:t>
            </a:r>
            <a:r>
              <a:rPr lang="zh-CN" altLang="en-US" sz="2400" b="1" dirty="0">
                <a:solidFill>
                  <a:srgbClr val="C00000"/>
                </a:solidFill>
              </a:rPr>
              <a:t>，</a:t>
            </a:r>
            <a:r>
              <a:rPr lang="en-US" altLang="zh-CN" sz="2400" b="1" dirty="0">
                <a:solidFill>
                  <a:srgbClr val="C00000"/>
                </a:solidFill>
              </a:rPr>
              <a:t>R=0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保持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2" name="对话气泡: 矩形 11"/>
          <p:cNvSpPr/>
          <p:nvPr/>
        </p:nvSpPr>
        <p:spPr>
          <a:xfrm>
            <a:off x="2133600" y="5786323"/>
            <a:ext cx="1382535" cy="924153"/>
          </a:xfrm>
          <a:prstGeom prst="wedgeRectCallout">
            <a:avLst>
              <a:gd name="adj1" fmla="val -48681"/>
              <a:gd name="adj2" fmla="val -7687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C00000"/>
                </a:solidFill>
              </a:rPr>
              <a:t>CP=0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保持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6065707" y="5688717"/>
            <a:ext cx="2978606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钟控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触发器输入信号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受约束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条件限制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0" animBg="1"/>
      <p:bldP spid="185" grpId="0" animBg="1"/>
      <p:bldP spid="186" grpId="0" animBg="1"/>
      <p:bldP spid="187" grpId="0" animBg="1"/>
      <p:bldP spid="190" grpId="0" animBg="1"/>
      <p:bldP spid="191" grpId="0" bldLvl="0" animBg="1"/>
      <p:bldP spid="192" grpId="0" bldLvl="0" animBg="1"/>
      <p:bldP spid="194" grpId="0" bldLvl="0" animBg="1"/>
      <p:bldP spid="11" grpId="0" animBg="1"/>
      <p:bldP spid="12" grpId="0" animBg="1"/>
      <p:bldP spid="9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D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564163" y="608128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电路结构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126" y="1638581"/>
            <a:ext cx="3284031" cy="4174616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221643" y="1638581"/>
            <a:ext cx="3602863" cy="186856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对话气泡: 矩形 9"/>
          <p:cNvSpPr/>
          <p:nvPr/>
        </p:nvSpPr>
        <p:spPr>
          <a:xfrm>
            <a:off x="92785" y="2564670"/>
            <a:ext cx="1034016" cy="1690498"/>
          </a:xfrm>
          <a:prstGeom prst="wedgeRectCallout">
            <a:avLst>
              <a:gd name="adj1" fmla="val 56750"/>
              <a:gd name="adj2" fmla="val -90716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基本</a:t>
            </a:r>
            <a:r>
              <a:rPr lang="en-US" altLang="zh-CN" sz="2800" b="1" dirty="0">
                <a:solidFill>
                  <a:srgbClr val="FF0000"/>
                </a:solidFill>
              </a:rPr>
              <a:t>R-S</a:t>
            </a:r>
            <a:r>
              <a:rPr lang="zh-CN" altLang="en-US" sz="2800" b="1" dirty="0">
                <a:solidFill>
                  <a:srgbClr val="FF0000"/>
                </a:solidFill>
              </a:rPr>
              <a:t>触发器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533" y="1354770"/>
            <a:ext cx="2615918" cy="2060483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121635" y="3382744"/>
            <a:ext cx="1704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逻辑符号</a:t>
            </a:r>
            <a:endParaRPr lang="zh-CN" altLang="en-US" sz="2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矩形 99"/>
              <p:cNvSpPr/>
              <p:nvPr/>
            </p:nvSpPr>
            <p:spPr>
              <a:xfrm>
                <a:off x="1514726" y="3245534"/>
                <a:ext cx="649537" cy="524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CN" sz="2800" b="1" i="1" baseline="-250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00" name="矩形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726" y="3245534"/>
                <a:ext cx="649537" cy="524118"/>
              </a:xfrm>
              <a:prstGeom prst="rect">
                <a:avLst/>
              </a:prstGeom>
              <a:blipFill rotWithShape="1">
                <a:blip r:embed="rId5"/>
                <a:stretch>
                  <a:fillRect l="-39" t="-9" r="28" b="-5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矩形 100"/>
              <p:cNvSpPr/>
              <p:nvPr/>
            </p:nvSpPr>
            <p:spPr>
              <a:xfrm>
                <a:off x="3761940" y="3245534"/>
                <a:ext cx="69602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r>
                            <a:rPr lang="en-US" altLang="zh-CN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800" b="1" i="1" baseline="-2500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101" name="矩形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940" y="3245534"/>
                <a:ext cx="696023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29" t="-9" r="38" b="-48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/>
            </p:nvSpPr>
            <p:spPr>
              <a:xfrm>
                <a:off x="4867113" y="4402466"/>
                <a:ext cx="4098758" cy="1939762"/>
              </a:xfrm>
              <a:prstGeom prst="rect">
                <a:avLst/>
              </a:prstGeom>
              <a:noFill/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钟控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D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触发器只有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一个输入端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D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，保证了后端的基本</a:t>
                </a:r>
                <a:r>
                  <a:rPr lang="en-US" altLang="zh-CN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R-S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触发器的两个输入端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US" altLang="zh-CN" sz="2400" b="1" i="1" baseline="-25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b="1" i="1">
                            <a:solidFill>
                              <a:srgbClr val="0000FF"/>
                            </a:solidFill>
                            <a:latin typeface="Cambria Math" panose="02040503050406030204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CN" sz="2400" b="1" i="1" baseline="-250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始终保持</a:t>
                </a:r>
                <a:r>
                  <a:rPr lang="zh-CN" altLang="en-US" sz="2400" b="1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相反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状态，从而</a:t>
                </a:r>
                <a:r>
                  <a:rPr lang="zh-CN" altLang="en-US" sz="2400" b="1" dirty="0">
                    <a:solidFill>
                      <a:srgbClr val="FF33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解决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了电路的</a:t>
                </a:r>
                <a:r>
                  <a:rPr lang="zh-CN" altLang="en-US" sz="2400" b="1" dirty="0">
                    <a:solidFill>
                      <a:srgbClr val="FF33CC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输入约束</a:t>
                </a:r>
                <a:r>
                  <a:rPr lang="zh-CN" altLang="en-US" sz="2400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问题</a:t>
                </a:r>
                <a:endParaRPr lang="zh-CN" altLang="en-US" sz="2400" b="1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113" y="4402466"/>
                <a:ext cx="4098758" cy="1939762"/>
              </a:xfrm>
              <a:prstGeom prst="rect">
                <a:avLst/>
              </a:prstGeom>
              <a:blipFill rotWithShape="1">
                <a:blip r:embed="rId7"/>
                <a:stretch>
                  <a:fillRect l="-120" t="-262" r="-101" b="-237"/>
                </a:stretch>
              </a:blipFill>
              <a:ln>
                <a:solidFill>
                  <a:schemeClr val="accent1">
                    <a:shade val="50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1221643" y="3725889"/>
            <a:ext cx="3520987" cy="218140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对话气泡: 矩形 14"/>
          <p:cNvSpPr/>
          <p:nvPr/>
        </p:nvSpPr>
        <p:spPr>
          <a:xfrm>
            <a:off x="1093779" y="6212670"/>
            <a:ext cx="2470383" cy="560015"/>
          </a:xfrm>
          <a:prstGeom prst="wedgeRectCallout">
            <a:avLst>
              <a:gd name="adj1" fmla="val -13984"/>
              <a:gd name="adj2" fmla="val -101563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B050"/>
                </a:solidFill>
              </a:rPr>
              <a:t>触发引导电路</a:t>
            </a:r>
            <a:endParaRPr lang="zh-CN" altLang="en-US" sz="28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  <p:bldP spid="100" grpId="0"/>
      <p:bldP spid="101" grpId="0"/>
      <p:bldP spid="13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D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18760" y="577859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8" y="1716402"/>
            <a:ext cx="3284031" cy="417461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83053" y="4842908"/>
            <a:ext cx="429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684796" y="3374322"/>
            <a:ext cx="429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51033" y="3406406"/>
            <a:ext cx="429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4265993" y="4885895"/>
            <a:ext cx="389722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保持原状态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767" y="5664038"/>
            <a:ext cx="2036428" cy="7552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14" name="Text Box 46"/>
          <p:cNvSpPr txBox="1">
            <a:spLocks noChangeArrowheads="1"/>
          </p:cNvSpPr>
          <p:nvPr/>
        </p:nvSpPr>
        <p:spPr bwMode="auto">
          <a:xfrm>
            <a:off x="5968827" y="791684"/>
            <a:ext cx="271341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kumimoji="1"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kumimoji="1"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触发器的功能表</a:t>
            </a:r>
            <a:endParaRPr kumimoji="1" lang="zh-CN" altLang="en-US" sz="28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" name="Group 47"/>
          <p:cNvGrpSpPr/>
          <p:nvPr/>
        </p:nvGrpSpPr>
        <p:grpSpPr bwMode="auto">
          <a:xfrm>
            <a:off x="5587603" y="1756069"/>
            <a:ext cx="3396664" cy="2432801"/>
            <a:chOff x="3420" y="624"/>
            <a:chExt cx="2076" cy="1348"/>
          </a:xfrm>
        </p:grpSpPr>
        <p:sp>
          <p:nvSpPr>
            <p:cNvPr id="17" name="Rectangle 48"/>
            <p:cNvSpPr>
              <a:spLocks noChangeArrowheads="1"/>
            </p:cNvSpPr>
            <p:nvPr/>
          </p:nvSpPr>
          <p:spPr bwMode="auto">
            <a:xfrm>
              <a:off x="4206" y="624"/>
              <a:ext cx="1290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   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8" name="Object 49"/>
            <p:cNvGraphicFramePr>
              <a:graphicFrameLocks noChangeAspect="1"/>
            </p:cNvGraphicFramePr>
            <p:nvPr/>
          </p:nvGraphicFramePr>
          <p:xfrm>
            <a:off x="4912" y="643"/>
            <a:ext cx="227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2" name="Equation" r:id="rId5" imgW="177800" imgH="228600" progId="Equation.3">
                    <p:embed/>
                  </p:oleObj>
                </mc:Choice>
                <mc:Fallback>
                  <p:oleObj name="Equation" r:id="rId5" imgW="177800" imgH="228600" progId="Equation.3">
                    <p:embed/>
                    <p:pic>
                      <p:nvPicPr>
                        <p:cNvPr id="0" name="图片 143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12" y="643"/>
                          <a:ext cx="227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50"/>
            <p:cNvSpPr>
              <a:spLocks noChangeArrowheads="1"/>
            </p:cNvSpPr>
            <p:nvPr/>
          </p:nvSpPr>
          <p:spPr bwMode="auto">
            <a:xfrm>
              <a:off x="4206" y="950"/>
              <a:ext cx="1290" cy="10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保持原状态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0      1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1      0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</a:rPr>
                <a:t>不定状态</a:t>
              </a:r>
              <a:endPara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0" name="Rectangle 51"/>
            <p:cNvSpPr>
              <a:spLocks noChangeArrowheads="1"/>
            </p:cNvSpPr>
            <p:nvPr/>
          </p:nvSpPr>
          <p:spPr bwMode="auto">
            <a:xfrm>
              <a:off x="3420" y="950"/>
              <a:ext cx="786" cy="9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 marL="533400" indent="-5334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914400" indent="-4572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295400" indent="-381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7145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171700" indent="-3429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6289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30861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5433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4000500" indent="-3429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0    1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1    0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533400" marR="0" lvl="0" indent="-53340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0    0</a:t>
              </a:r>
              <a:endParaRPr kumimoji="1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Rectangle 52"/>
            <p:cNvSpPr>
              <a:spLocks noChangeArrowheads="1"/>
            </p:cNvSpPr>
            <p:nvPr/>
          </p:nvSpPr>
          <p:spPr bwMode="auto">
            <a:xfrm>
              <a:off x="3420" y="624"/>
              <a:ext cx="78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1" lang="en-US" altLang="zh-CN" sz="2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 S</a:t>
              </a:r>
              <a:r>
                <a:rPr kumimoji="1" lang="en-US" altLang="zh-CN" sz="2800" b="1" i="1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1" lang="en-US" altLang="zh-CN" sz="28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53"/>
            <p:cNvSpPr>
              <a:spLocks noChangeShapeType="1"/>
            </p:cNvSpPr>
            <p:nvPr/>
          </p:nvSpPr>
          <p:spPr bwMode="auto">
            <a:xfrm>
              <a:off x="3420" y="624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54"/>
            <p:cNvSpPr>
              <a:spLocks noChangeShapeType="1"/>
            </p:cNvSpPr>
            <p:nvPr/>
          </p:nvSpPr>
          <p:spPr bwMode="auto">
            <a:xfrm>
              <a:off x="3420" y="950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55"/>
            <p:cNvSpPr>
              <a:spLocks noChangeShapeType="1"/>
            </p:cNvSpPr>
            <p:nvPr/>
          </p:nvSpPr>
          <p:spPr bwMode="auto">
            <a:xfrm>
              <a:off x="3420" y="1972"/>
              <a:ext cx="207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56"/>
            <p:cNvSpPr>
              <a:spLocks noChangeShapeType="1"/>
            </p:cNvSpPr>
            <p:nvPr/>
          </p:nvSpPr>
          <p:spPr bwMode="auto">
            <a:xfrm>
              <a:off x="4206" y="624"/>
              <a:ext cx="0" cy="13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57"/>
            <p:cNvSpPr>
              <a:spLocks noChangeShapeType="1"/>
            </p:cNvSpPr>
            <p:nvPr/>
          </p:nvSpPr>
          <p:spPr bwMode="auto">
            <a:xfrm>
              <a:off x="3548" y="682"/>
              <a:ext cx="21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58"/>
            <p:cNvSpPr>
              <a:spLocks noChangeShapeType="1"/>
            </p:cNvSpPr>
            <p:nvPr/>
          </p:nvSpPr>
          <p:spPr bwMode="auto">
            <a:xfrm>
              <a:off x="3890" y="682"/>
              <a:ext cx="231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1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5.2.2</a:t>
            </a: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常用触发器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D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345371" y="602305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工作原理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031" y="1638001"/>
            <a:ext cx="3284031" cy="417461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68316" y="4764507"/>
            <a:ext cx="429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zh-CN" altLang="en-US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725140" y="5988067"/>
            <a:ext cx="3571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CP=1, 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实现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触发器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功能</a:t>
            </a:r>
            <a:r>
              <a:rPr kumimoji="1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170A8E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kumimoji="1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170A8E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1092882" y="3241141"/>
                <a:ext cx="582211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CN" sz="2400" b="1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882" y="3241141"/>
                <a:ext cx="582211" cy="462434"/>
              </a:xfrm>
              <a:prstGeom prst="rect">
                <a:avLst/>
              </a:prstGeom>
              <a:blipFill rotWithShape="1">
                <a:blip r:embed="rId4"/>
                <a:stretch>
                  <a:fillRect l="-8" t="-22" r="103" b="-4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680378" y="1540043"/>
            <a:ext cx="3602863" cy="216527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713" y="1589680"/>
            <a:ext cx="3073631" cy="13690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</p:pic>
      <p:sp>
        <p:nvSpPr>
          <p:cNvPr id="5" name="文本框 4"/>
          <p:cNvSpPr txBox="1"/>
          <p:nvPr/>
        </p:nvSpPr>
        <p:spPr>
          <a:xfrm>
            <a:off x="4862926" y="1092983"/>
            <a:ext cx="3799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</a:t>
            </a:r>
            <a:r>
              <a:rPr lang="en-US" altLang="zh-CN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R-S</a:t>
            </a:r>
            <a:r>
              <a:rPr lang="zh-CN" altLang="en-US" sz="24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触发器的特征方程</a:t>
            </a:r>
            <a:endParaRPr lang="zh-CN" altLang="en-US" sz="2400" b="1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/>
              <p:cNvSpPr/>
              <p:nvPr/>
            </p:nvSpPr>
            <p:spPr>
              <a:xfrm>
                <a:off x="3269173" y="3268920"/>
                <a:ext cx="6222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</m:ctrlPr>
                        </m:accPr>
                        <m:e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altLang="zh-CN" sz="2400" b="1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9173" y="3268920"/>
                <a:ext cx="622286" cy="461665"/>
              </a:xfrm>
              <a:prstGeom prst="rect">
                <a:avLst/>
              </a:prstGeom>
              <a:blipFill rotWithShape="1">
                <a:blip r:embed="rId6"/>
                <a:stretch>
                  <a:fillRect l="-31" t="-125" r="29" b="-31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箭头: 下 10"/>
          <p:cNvSpPr/>
          <p:nvPr/>
        </p:nvSpPr>
        <p:spPr>
          <a:xfrm>
            <a:off x="6663117" y="4335398"/>
            <a:ext cx="312821" cy="4932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282713" y="3063582"/>
          <a:ext cx="3078056" cy="1209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0" name="Equation" r:id="rId7" imgW="34137600" imgH="13411200" progId="Equation.DSMT4">
                  <p:embed/>
                </p:oleObj>
              </mc:Choice>
              <mc:Fallback>
                <p:oleObj name="Equation" r:id="rId7" imgW="34137600" imgH="13411200" progId="Equation.DSMT4">
                  <p:embed/>
                  <p:pic>
                    <p:nvPicPr>
                      <p:cNvPr id="0" name="图片 154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82713" y="3063582"/>
                        <a:ext cx="3078056" cy="1209236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282713" y="4898467"/>
          <a:ext cx="3073631" cy="1777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name="Equation" r:id="rId9" imgW="31089600" imgH="17983200" progId="Equation.DSMT4">
                  <p:embed/>
                </p:oleObj>
              </mc:Choice>
              <mc:Fallback>
                <p:oleObj name="Equation" r:id="rId9" imgW="31089600" imgH="17983200" progId="Equation.DSMT4">
                  <p:embed/>
                  <p:pic>
                    <p:nvPicPr>
                      <p:cNvPr id="0" name="图片 154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82713" y="4898467"/>
                        <a:ext cx="3073631" cy="1777884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4" grpId="0" animBg="1"/>
      <p:bldP spid="5" grpId="0"/>
      <p:bldP spid="19" grpId="0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D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31600" y="59913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167847" y="1689795"/>
            <a:ext cx="18373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96" y="2388770"/>
            <a:ext cx="2036428" cy="7552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167847" y="3517081"/>
            <a:ext cx="18373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3440122" y="2046350"/>
            <a:ext cx="593558" cy="2739189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Group 27"/>
          <p:cNvGrpSpPr/>
          <p:nvPr/>
        </p:nvGrpSpPr>
        <p:grpSpPr bwMode="auto">
          <a:xfrm>
            <a:off x="4104574" y="2753164"/>
            <a:ext cx="4779963" cy="1431926"/>
            <a:chOff x="2801" y="3043"/>
            <a:chExt cx="3011" cy="902"/>
          </a:xfrm>
        </p:grpSpPr>
        <p:grpSp>
          <p:nvGrpSpPr>
            <p:cNvPr id="29" name="Group 25"/>
            <p:cNvGrpSpPr/>
            <p:nvPr/>
          </p:nvGrpSpPr>
          <p:grpSpPr bwMode="auto">
            <a:xfrm>
              <a:off x="2801" y="3043"/>
              <a:ext cx="3011" cy="902"/>
              <a:chOff x="1013" y="3043"/>
              <a:chExt cx="3329" cy="902"/>
            </a:xfrm>
          </p:grpSpPr>
          <p:sp>
            <p:nvSpPr>
              <p:cNvPr id="31" name="Text Box 21"/>
              <p:cNvSpPr txBox="1">
                <a:spLocks noChangeArrowheads="1"/>
              </p:cNvSpPr>
              <p:nvPr/>
            </p:nvSpPr>
            <p:spPr bwMode="auto">
              <a:xfrm>
                <a:off x="1013" y="3043"/>
                <a:ext cx="3285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charset="-122"/>
                  </a:rPr>
                  <a:t>将时钟信号引入特征方程</a:t>
                </a:r>
                <a:endPara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charset="-122"/>
                </a:endParaRPr>
              </a:p>
            </p:txBody>
          </p:sp>
          <p:sp>
            <p:nvSpPr>
              <p:cNvPr id="32" name="Rectangle 22"/>
              <p:cNvSpPr>
                <a:spLocks noChangeArrowheads="1"/>
              </p:cNvSpPr>
              <p:nvPr/>
            </p:nvSpPr>
            <p:spPr bwMode="auto">
              <a:xfrm>
                <a:off x="1057" y="3077"/>
                <a:ext cx="3285" cy="86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30" name="Object 24"/>
            <p:cNvGraphicFramePr>
              <a:graphicFrameLocks noChangeAspect="1"/>
            </p:cNvGraphicFramePr>
            <p:nvPr/>
          </p:nvGraphicFramePr>
          <p:xfrm>
            <a:off x="2941" y="3414"/>
            <a:ext cx="275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4" name="公式" r:id="rId4" imgW="36880800" imgH="5791200" progId="Equation.3">
                    <p:embed/>
                  </p:oleObj>
                </mc:Choice>
                <mc:Fallback>
                  <p:oleObj name="公式" r:id="rId4" imgW="36880800" imgH="579120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1" y="3414"/>
                          <a:ext cx="2750" cy="432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010996" y="4474919"/>
          <a:ext cx="2036428" cy="797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5" name="Equation" r:id="rId6" imgW="14020800" imgH="5486400" progId="Equation.DSMT4">
                  <p:embed/>
                </p:oleObj>
              </mc:Choice>
              <mc:Fallback>
                <p:oleObj name="Equation" r:id="rId6" imgW="14020800" imgH="5486400" progId="Equation.DSMT4">
                  <p:embed/>
                  <p:pic>
                    <p:nvPicPr>
                      <p:cNvPr id="0" name="图片 1643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10996" y="4474919"/>
                        <a:ext cx="2036428" cy="797776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D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240436" y="594354"/>
            <a:ext cx="3545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状态转移真值表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" name="Object 24"/>
          <p:cNvGraphicFramePr>
            <a:graphicFrameLocks noChangeAspect="1"/>
          </p:cNvGraphicFramePr>
          <p:nvPr/>
        </p:nvGraphicFramePr>
        <p:xfrm>
          <a:off x="2110592" y="1612003"/>
          <a:ext cx="4040188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3" imgW="1422400" imgH="241300" progId="Equation.3">
                  <p:embed/>
                </p:oleObj>
              </mc:Choice>
              <mc:Fallback>
                <p:oleObj name="Equation" r:id="rId3" imgW="1422400" imgH="2413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0592" y="1612003"/>
                        <a:ext cx="4040188" cy="685801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Picture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86" y="2981770"/>
            <a:ext cx="5156872" cy="2470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791199" y="2927564"/>
            <a:ext cx="2759263" cy="264687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触发器的输入信号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没有约束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限制条件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可实现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保持、置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和置</a:t>
            </a:r>
            <a:r>
              <a:rPr lang="en-US" altLang="zh-CN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二、钟控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D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75122" y="62096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波形图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1" name="Rectangle 6"/>
          <p:cNvSpPr>
            <a:spLocks noChangeArrowheads="1"/>
          </p:cNvSpPr>
          <p:nvPr/>
        </p:nvSpPr>
        <p:spPr bwMode="auto">
          <a:xfrm>
            <a:off x="294450" y="1277177"/>
            <a:ext cx="29025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触发器初始状态为</a:t>
            </a:r>
            <a:r>
              <a:rPr lang="zh-CN" altLang="en-US" sz="24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solidFill>
                  <a:srgbClr val="CC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02" name="Group 7"/>
          <p:cNvGrpSpPr/>
          <p:nvPr/>
        </p:nvGrpSpPr>
        <p:grpSpPr bwMode="auto">
          <a:xfrm>
            <a:off x="630238" y="2199964"/>
            <a:ext cx="7556500" cy="2769515"/>
            <a:chOff x="0" y="27"/>
            <a:chExt cx="11900" cy="4360"/>
          </a:xfrm>
        </p:grpSpPr>
        <p:sp>
          <p:nvSpPr>
            <p:cNvPr id="203" name="AutoShape 8"/>
            <p:cNvSpPr>
              <a:spLocks noChangeArrowheads="1"/>
            </p:cNvSpPr>
            <p:nvPr/>
          </p:nvSpPr>
          <p:spPr bwMode="auto">
            <a:xfrm>
              <a:off x="0" y="27"/>
              <a:ext cx="11900" cy="4360"/>
            </a:xfrm>
            <a:prstGeom prst="flowChartProcess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1" name="Line 16"/>
            <p:cNvSpPr>
              <a:spLocks noChangeShapeType="1"/>
            </p:cNvSpPr>
            <p:nvPr/>
          </p:nvSpPr>
          <p:spPr bwMode="auto">
            <a:xfrm>
              <a:off x="6799" y="2247"/>
              <a:ext cx="120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2" name="Line 17"/>
            <p:cNvSpPr>
              <a:spLocks noChangeShapeType="1"/>
            </p:cNvSpPr>
            <p:nvPr/>
          </p:nvSpPr>
          <p:spPr bwMode="auto">
            <a:xfrm flipV="1">
              <a:off x="6829" y="2239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3" name="Line 18"/>
            <p:cNvSpPr>
              <a:spLocks noChangeShapeType="1"/>
            </p:cNvSpPr>
            <p:nvPr/>
          </p:nvSpPr>
          <p:spPr bwMode="auto">
            <a:xfrm flipV="1">
              <a:off x="7969" y="2247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4" name="Line 19"/>
            <p:cNvSpPr>
              <a:spLocks noChangeShapeType="1"/>
            </p:cNvSpPr>
            <p:nvPr/>
          </p:nvSpPr>
          <p:spPr bwMode="auto">
            <a:xfrm>
              <a:off x="4399" y="3297"/>
              <a:ext cx="57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5" name="Line 20"/>
            <p:cNvSpPr>
              <a:spLocks noChangeShapeType="1"/>
            </p:cNvSpPr>
            <p:nvPr/>
          </p:nvSpPr>
          <p:spPr bwMode="auto">
            <a:xfrm>
              <a:off x="4939" y="2247"/>
              <a:ext cx="99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6" name="Line 21"/>
            <p:cNvSpPr>
              <a:spLocks noChangeShapeType="1"/>
            </p:cNvSpPr>
            <p:nvPr/>
          </p:nvSpPr>
          <p:spPr bwMode="auto">
            <a:xfrm flipV="1">
              <a:off x="4939" y="2217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7" name="Line 22"/>
            <p:cNvSpPr>
              <a:spLocks noChangeShapeType="1"/>
            </p:cNvSpPr>
            <p:nvPr/>
          </p:nvSpPr>
          <p:spPr bwMode="auto">
            <a:xfrm flipV="1">
              <a:off x="5922" y="2217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8" name="Line 23"/>
            <p:cNvSpPr>
              <a:spLocks noChangeShapeType="1"/>
            </p:cNvSpPr>
            <p:nvPr/>
          </p:nvSpPr>
          <p:spPr bwMode="auto">
            <a:xfrm>
              <a:off x="5892" y="3297"/>
              <a:ext cx="952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19" name="Line 24"/>
            <p:cNvSpPr>
              <a:spLocks noChangeShapeType="1"/>
            </p:cNvSpPr>
            <p:nvPr/>
          </p:nvSpPr>
          <p:spPr bwMode="auto">
            <a:xfrm>
              <a:off x="7954" y="3297"/>
              <a:ext cx="1103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0" name="Line 25"/>
            <p:cNvSpPr>
              <a:spLocks noChangeShapeType="1"/>
            </p:cNvSpPr>
            <p:nvPr/>
          </p:nvSpPr>
          <p:spPr bwMode="auto">
            <a:xfrm flipH="1">
              <a:off x="10336" y="1897"/>
              <a:ext cx="1225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1" name="Line 26"/>
            <p:cNvSpPr>
              <a:spLocks noChangeShapeType="1"/>
            </p:cNvSpPr>
            <p:nvPr/>
          </p:nvSpPr>
          <p:spPr bwMode="auto">
            <a:xfrm flipH="1" flipV="1">
              <a:off x="10362" y="817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2" name="Line 27"/>
            <p:cNvSpPr>
              <a:spLocks noChangeShapeType="1"/>
            </p:cNvSpPr>
            <p:nvPr/>
          </p:nvSpPr>
          <p:spPr bwMode="auto">
            <a:xfrm flipH="1" flipV="1">
              <a:off x="7154" y="847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3" name="Line 28"/>
            <p:cNvSpPr>
              <a:spLocks noChangeShapeType="1"/>
            </p:cNvSpPr>
            <p:nvPr/>
          </p:nvSpPr>
          <p:spPr bwMode="auto">
            <a:xfrm flipV="1">
              <a:off x="8772" y="847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4" name="Line 29"/>
            <p:cNvSpPr>
              <a:spLocks noChangeShapeType="1"/>
            </p:cNvSpPr>
            <p:nvPr/>
          </p:nvSpPr>
          <p:spPr bwMode="auto">
            <a:xfrm>
              <a:off x="4999" y="1897"/>
              <a:ext cx="60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5" name="Line 30"/>
            <p:cNvSpPr>
              <a:spLocks noChangeShapeType="1"/>
            </p:cNvSpPr>
            <p:nvPr/>
          </p:nvSpPr>
          <p:spPr bwMode="auto">
            <a:xfrm>
              <a:off x="5539" y="824"/>
              <a:ext cx="164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6" name="Line 31"/>
            <p:cNvSpPr>
              <a:spLocks noChangeShapeType="1"/>
            </p:cNvSpPr>
            <p:nvPr/>
          </p:nvSpPr>
          <p:spPr bwMode="auto">
            <a:xfrm flipV="1">
              <a:off x="5569" y="839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7" name="Line 32"/>
            <p:cNvSpPr>
              <a:spLocks noChangeShapeType="1"/>
            </p:cNvSpPr>
            <p:nvPr/>
          </p:nvSpPr>
          <p:spPr bwMode="auto">
            <a:xfrm flipH="1">
              <a:off x="4399" y="1897"/>
              <a:ext cx="72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28" name="Rectangle 33"/>
            <p:cNvSpPr>
              <a:spLocks noChangeArrowheads="1"/>
            </p:cNvSpPr>
            <p:nvPr/>
          </p:nvSpPr>
          <p:spPr bwMode="auto">
            <a:xfrm>
              <a:off x="3859" y="2414"/>
              <a:ext cx="638" cy="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9" name="Rectangle 34"/>
            <p:cNvSpPr>
              <a:spLocks noChangeArrowheads="1"/>
            </p:cNvSpPr>
            <p:nvPr/>
          </p:nvSpPr>
          <p:spPr bwMode="auto">
            <a:xfrm>
              <a:off x="3696" y="979"/>
              <a:ext cx="909" cy="7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kumimoji="0" lang="zh-CN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0" name="Line 35"/>
            <p:cNvSpPr>
              <a:spLocks noChangeShapeType="1"/>
            </p:cNvSpPr>
            <p:nvPr/>
          </p:nvSpPr>
          <p:spPr bwMode="auto">
            <a:xfrm>
              <a:off x="7129" y="1904"/>
              <a:ext cx="164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1" name="Line 36"/>
            <p:cNvSpPr>
              <a:spLocks noChangeShapeType="1"/>
            </p:cNvSpPr>
            <p:nvPr/>
          </p:nvSpPr>
          <p:spPr bwMode="auto">
            <a:xfrm>
              <a:off x="8749" y="839"/>
              <a:ext cx="1640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2" name="Line 37"/>
            <p:cNvSpPr>
              <a:spLocks noChangeShapeType="1"/>
            </p:cNvSpPr>
            <p:nvPr/>
          </p:nvSpPr>
          <p:spPr bwMode="auto">
            <a:xfrm flipV="1">
              <a:off x="9064" y="2247"/>
              <a:ext cx="0" cy="108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3" name="Line 38"/>
            <p:cNvSpPr>
              <a:spLocks noChangeShapeType="1"/>
            </p:cNvSpPr>
            <p:nvPr/>
          </p:nvSpPr>
          <p:spPr bwMode="auto">
            <a:xfrm>
              <a:off x="9034" y="2247"/>
              <a:ext cx="885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4" name="Line 39"/>
            <p:cNvSpPr>
              <a:spLocks noChangeShapeType="1"/>
            </p:cNvSpPr>
            <p:nvPr/>
          </p:nvSpPr>
          <p:spPr bwMode="auto">
            <a:xfrm flipV="1">
              <a:off x="9919" y="2217"/>
              <a:ext cx="0" cy="111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5" name="Line 40"/>
            <p:cNvSpPr>
              <a:spLocks noChangeShapeType="1"/>
            </p:cNvSpPr>
            <p:nvPr/>
          </p:nvSpPr>
          <p:spPr bwMode="auto">
            <a:xfrm>
              <a:off x="9904" y="3297"/>
              <a:ext cx="1673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36" name="Group 41"/>
          <p:cNvGrpSpPr/>
          <p:nvPr/>
        </p:nvGrpSpPr>
        <p:grpSpPr bwMode="auto">
          <a:xfrm>
            <a:off x="4140200" y="3429000"/>
            <a:ext cx="3048000" cy="2616200"/>
            <a:chOff x="0" y="0"/>
            <a:chExt cx="1920" cy="1648"/>
          </a:xfrm>
        </p:grpSpPr>
        <p:sp>
          <p:nvSpPr>
            <p:cNvPr id="237" name="Line 42"/>
            <p:cNvSpPr>
              <a:spLocks noChangeShapeType="1"/>
            </p:cNvSpPr>
            <p:nvPr/>
          </p:nvSpPr>
          <p:spPr bwMode="auto">
            <a:xfrm>
              <a:off x="0" y="8"/>
              <a:ext cx="0" cy="1640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8" name="Line 43"/>
            <p:cNvSpPr>
              <a:spLocks noChangeShapeType="1"/>
            </p:cNvSpPr>
            <p:nvPr/>
          </p:nvSpPr>
          <p:spPr bwMode="auto">
            <a:xfrm>
              <a:off x="636" y="6"/>
              <a:ext cx="0" cy="1640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39" name="Line 44"/>
            <p:cNvSpPr>
              <a:spLocks noChangeShapeType="1"/>
            </p:cNvSpPr>
            <p:nvPr/>
          </p:nvSpPr>
          <p:spPr bwMode="auto">
            <a:xfrm>
              <a:off x="146" y="564"/>
              <a:ext cx="0" cy="1084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0" name="Line 45"/>
            <p:cNvSpPr>
              <a:spLocks noChangeShapeType="1"/>
            </p:cNvSpPr>
            <p:nvPr/>
          </p:nvSpPr>
          <p:spPr bwMode="auto">
            <a:xfrm>
              <a:off x="506" y="562"/>
              <a:ext cx="0" cy="1084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1" name="Line 46"/>
            <p:cNvSpPr>
              <a:spLocks noChangeShapeType="1"/>
            </p:cNvSpPr>
            <p:nvPr/>
          </p:nvSpPr>
          <p:spPr bwMode="auto">
            <a:xfrm>
              <a:off x="1284" y="6"/>
              <a:ext cx="0" cy="1640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2" name="Line 47"/>
            <p:cNvSpPr>
              <a:spLocks noChangeShapeType="1"/>
            </p:cNvSpPr>
            <p:nvPr/>
          </p:nvSpPr>
          <p:spPr bwMode="auto">
            <a:xfrm>
              <a:off x="1920" y="0"/>
              <a:ext cx="0" cy="1640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3" name="Line 48"/>
            <p:cNvSpPr>
              <a:spLocks noChangeShapeType="1"/>
            </p:cNvSpPr>
            <p:nvPr/>
          </p:nvSpPr>
          <p:spPr bwMode="auto">
            <a:xfrm>
              <a:off x="1742" y="560"/>
              <a:ext cx="0" cy="1084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4" name="Line 49"/>
            <p:cNvSpPr>
              <a:spLocks noChangeShapeType="1"/>
            </p:cNvSpPr>
            <p:nvPr/>
          </p:nvSpPr>
          <p:spPr bwMode="auto">
            <a:xfrm>
              <a:off x="1400" y="560"/>
              <a:ext cx="0" cy="1084"/>
            </a:xfrm>
            <a:prstGeom prst="line">
              <a:avLst/>
            </a:prstGeom>
            <a:noFill/>
            <a:ln w="19050" cmpd="sng">
              <a:solidFill>
                <a:srgbClr val="000000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45" name="Group 50"/>
          <p:cNvGrpSpPr/>
          <p:nvPr/>
        </p:nvGrpSpPr>
        <p:grpSpPr bwMode="auto">
          <a:xfrm>
            <a:off x="3021013" y="5430838"/>
            <a:ext cx="1135062" cy="547687"/>
            <a:chOff x="0" y="0"/>
            <a:chExt cx="731" cy="345"/>
          </a:xfrm>
        </p:grpSpPr>
        <p:sp>
          <p:nvSpPr>
            <p:cNvPr id="246" name="Line 51"/>
            <p:cNvSpPr>
              <a:spLocks noChangeShapeType="1"/>
            </p:cNvSpPr>
            <p:nvPr/>
          </p:nvSpPr>
          <p:spPr bwMode="auto">
            <a:xfrm flipH="1">
              <a:off x="254" y="345"/>
              <a:ext cx="477" cy="0"/>
            </a:xfrm>
            <a:prstGeom prst="line">
              <a:avLst/>
            </a:prstGeom>
            <a:noFill/>
            <a:ln w="38100" cmpd="sng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47" name="Rectangle 52"/>
            <p:cNvSpPr>
              <a:spLocks noChangeArrowheads="1"/>
            </p:cNvSpPr>
            <p:nvPr/>
          </p:nvSpPr>
          <p:spPr bwMode="auto">
            <a:xfrm>
              <a:off x="0" y="0"/>
              <a:ext cx="2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0" lang="en-US" altLang="zh-CN" sz="2400" b="1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48" name="Line 53"/>
          <p:cNvSpPr>
            <a:spLocks noChangeShapeType="1"/>
          </p:cNvSpPr>
          <p:nvPr/>
        </p:nvSpPr>
        <p:spPr bwMode="auto">
          <a:xfrm flipH="1">
            <a:off x="5162550" y="5299132"/>
            <a:ext cx="1047750" cy="0"/>
          </a:xfrm>
          <a:prstGeom prst="line">
            <a:avLst/>
          </a:prstGeom>
          <a:noFill/>
          <a:ln w="38100" cmpd="sng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49" name="Line 54"/>
          <p:cNvSpPr>
            <a:spLocks noChangeShapeType="1"/>
          </p:cNvSpPr>
          <p:nvPr/>
        </p:nvSpPr>
        <p:spPr bwMode="auto">
          <a:xfrm flipH="1">
            <a:off x="7203324" y="5972983"/>
            <a:ext cx="762000" cy="0"/>
          </a:xfrm>
          <a:prstGeom prst="line">
            <a:avLst/>
          </a:prstGeom>
          <a:noFill/>
          <a:ln w="38100" cmpd="sng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250" name="Group 55"/>
          <p:cNvGrpSpPr/>
          <p:nvPr/>
        </p:nvGrpSpPr>
        <p:grpSpPr bwMode="auto">
          <a:xfrm>
            <a:off x="6359525" y="5292725"/>
            <a:ext cx="561975" cy="685800"/>
            <a:chOff x="0" y="0"/>
            <a:chExt cx="228" cy="432"/>
          </a:xfrm>
        </p:grpSpPr>
        <p:sp>
          <p:nvSpPr>
            <p:cNvPr id="251" name="Line 56"/>
            <p:cNvSpPr>
              <a:spLocks noChangeShapeType="1"/>
            </p:cNvSpPr>
            <p:nvPr/>
          </p:nvSpPr>
          <p:spPr bwMode="auto">
            <a:xfrm flipH="1">
              <a:off x="0" y="12"/>
              <a:ext cx="228" cy="0"/>
            </a:xfrm>
            <a:prstGeom prst="line">
              <a:avLst/>
            </a:prstGeom>
            <a:noFill/>
            <a:ln w="444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52" name="Line 57"/>
            <p:cNvSpPr>
              <a:spLocks noChangeShapeType="1"/>
            </p:cNvSpPr>
            <p:nvPr/>
          </p:nvSpPr>
          <p:spPr bwMode="auto">
            <a:xfrm flipH="1" flipV="1">
              <a:off x="9" y="0"/>
              <a:ext cx="0" cy="432"/>
            </a:xfrm>
            <a:prstGeom prst="line">
              <a:avLst/>
            </a:prstGeom>
            <a:noFill/>
            <a:ln w="444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53" name="Group 58"/>
          <p:cNvGrpSpPr/>
          <p:nvPr/>
        </p:nvGrpSpPr>
        <p:grpSpPr bwMode="auto">
          <a:xfrm>
            <a:off x="6156325" y="5302250"/>
            <a:ext cx="206375" cy="685800"/>
            <a:chOff x="0" y="0"/>
            <a:chExt cx="477" cy="432"/>
          </a:xfrm>
        </p:grpSpPr>
        <p:sp>
          <p:nvSpPr>
            <p:cNvPr id="254" name="Line 59"/>
            <p:cNvSpPr>
              <a:spLocks noChangeShapeType="1"/>
            </p:cNvSpPr>
            <p:nvPr/>
          </p:nvSpPr>
          <p:spPr bwMode="auto">
            <a:xfrm flipH="1">
              <a:off x="0" y="423"/>
              <a:ext cx="477" cy="0"/>
            </a:xfrm>
            <a:prstGeom prst="line">
              <a:avLst/>
            </a:prstGeom>
            <a:noFill/>
            <a:ln w="444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55" name="Line 60"/>
            <p:cNvSpPr>
              <a:spLocks noChangeShapeType="1"/>
            </p:cNvSpPr>
            <p:nvPr/>
          </p:nvSpPr>
          <p:spPr bwMode="auto">
            <a:xfrm flipH="1" flipV="1">
              <a:off x="6" y="0"/>
              <a:ext cx="0" cy="432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56" name="Group 61"/>
          <p:cNvGrpSpPr/>
          <p:nvPr/>
        </p:nvGrpSpPr>
        <p:grpSpPr bwMode="auto">
          <a:xfrm>
            <a:off x="4152900" y="5302250"/>
            <a:ext cx="257175" cy="685800"/>
            <a:chOff x="0" y="0"/>
            <a:chExt cx="240" cy="432"/>
          </a:xfrm>
        </p:grpSpPr>
        <p:sp>
          <p:nvSpPr>
            <p:cNvPr id="257" name="Line 62"/>
            <p:cNvSpPr>
              <a:spLocks noChangeShapeType="1"/>
            </p:cNvSpPr>
            <p:nvPr/>
          </p:nvSpPr>
          <p:spPr bwMode="auto">
            <a:xfrm flipH="1">
              <a:off x="0" y="0"/>
              <a:ext cx="240" cy="0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58" name="Line 63"/>
            <p:cNvSpPr>
              <a:spLocks noChangeShapeType="1"/>
            </p:cNvSpPr>
            <p:nvPr/>
          </p:nvSpPr>
          <p:spPr bwMode="auto">
            <a:xfrm flipH="1" flipV="1">
              <a:off x="12" y="0"/>
              <a:ext cx="0" cy="432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59" name="Group 64"/>
          <p:cNvGrpSpPr/>
          <p:nvPr/>
        </p:nvGrpSpPr>
        <p:grpSpPr bwMode="auto">
          <a:xfrm>
            <a:off x="4381500" y="5316538"/>
            <a:ext cx="595313" cy="685800"/>
            <a:chOff x="0" y="0"/>
            <a:chExt cx="477" cy="432"/>
          </a:xfrm>
        </p:grpSpPr>
        <p:sp>
          <p:nvSpPr>
            <p:cNvPr id="260" name="Line 65"/>
            <p:cNvSpPr>
              <a:spLocks noChangeShapeType="1"/>
            </p:cNvSpPr>
            <p:nvPr/>
          </p:nvSpPr>
          <p:spPr bwMode="auto">
            <a:xfrm flipH="1">
              <a:off x="0" y="423"/>
              <a:ext cx="477" cy="0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61" name="Line 66"/>
            <p:cNvSpPr>
              <a:spLocks noChangeShapeType="1"/>
            </p:cNvSpPr>
            <p:nvPr/>
          </p:nvSpPr>
          <p:spPr bwMode="auto">
            <a:xfrm flipH="1" flipV="1">
              <a:off x="6" y="0"/>
              <a:ext cx="0" cy="432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62" name="Group 67"/>
          <p:cNvGrpSpPr/>
          <p:nvPr/>
        </p:nvGrpSpPr>
        <p:grpSpPr bwMode="auto">
          <a:xfrm>
            <a:off x="4932363" y="5302250"/>
            <a:ext cx="201613" cy="685800"/>
            <a:chOff x="0" y="0"/>
            <a:chExt cx="240" cy="432"/>
          </a:xfrm>
        </p:grpSpPr>
        <p:sp>
          <p:nvSpPr>
            <p:cNvPr id="263" name="Line 68"/>
            <p:cNvSpPr>
              <a:spLocks noChangeShapeType="1"/>
            </p:cNvSpPr>
            <p:nvPr/>
          </p:nvSpPr>
          <p:spPr bwMode="auto">
            <a:xfrm flipH="1">
              <a:off x="0" y="0"/>
              <a:ext cx="240" cy="0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64" name="Line 69"/>
            <p:cNvSpPr>
              <a:spLocks noChangeShapeType="1"/>
            </p:cNvSpPr>
            <p:nvPr/>
          </p:nvSpPr>
          <p:spPr bwMode="auto">
            <a:xfrm flipH="1" flipV="1">
              <a:off x="12" y="0"/>
              <a:ext cx="0" cy="432"/>
            </a:xfrm>
            <a:prstGeom prst="line">
              <a:avLst/>
            </a:prstGeom>
            <a:noFill/>
            <a:ln w="3810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grpSp>
        <p:nvGrpSpPr>
          <p:cNvPr id="265" name="Group 70"/>
          <p:cNvGrpSpPr/>
          <p:nvPr/>
        </p:nvGrpSpPr>
        <p:grpSpPr bwMode="auto">
          <a:xfrm>
            <a:off x="6911975" y="5307013"/>
            <a:ext cx="300038" cy="685800"/>
            <a:chOff x="0" y="0"/>
            <a:chExt cx="477" cy="432"/>
          </a:xfrm>
        </p:grpSpPr>
        <p:sp>
          <p:nvSpPr>
            <p:cNvPr id="266" name="Line 71"/>
            <p:cNvSpPr>
              <a:spLocks noChangeShapeType="1"/>
            </p:cNvSpPr>
            <p:nvPr/>
          </p:nvSpPr>
          <p:spPr bwMode="auto">
            <a:xfrm flipH="1">
              <a:off x="0" y="423"/>
              <a:ext cx="477" cy="0"/>
            </a:xfrm>
            <a:prstGeom prst="line">
              <a:avLst/>
            </a:prstGeom>
            <a:noFill/>
            <a:ln w="444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67" name="Line 72"/>
            <p:cNvSpPr>
              <a:spLocks noChangeShapeType="1"/>
            </p:cNvSpPr>
            <p:nvPr/>
          </p:nvSpPr>
          <p:spPr bwMode="auto">
            <a:xfrm flipH="1" flipV="1">
              <a:off x="6" y="0"/>
              <a:ext cx="0" cy="432"/>
            </a:xfrm>
            <a:prstGeom prst="line">
              <a:avLst/>
            </a:prstGeom>
            <a:noFill/>
            <a:ln w="444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</p:grpSp>
      <p:sp>
        <p:nvSpPr>
          <p:cNvPr id="268" name="Rectangle 73"/>
          <p:cNvSpPr>
            <a:spLocks noChangeArrowheads="1"/>
          </p:cNvSpPr>
          <p:nvPr/>
        </p:nvSpPr>
        <p:spPr bwMode="auto">
          <a:xfrm>
            <a:off x="4068763" y="3717925"/>
            <a:ext cx="35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lang="zh-CN" altLang="en-US" sz="2400" b="1">
              <a:solidFill>
                <a:srgbClr val="0000F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9" name="Rectangle 74"/>
          <p:cNvSpPr>
            <a:spLocks noChangeArrowheads="1"/>
          </p:cNvSpPr>
          <p:nvPr/>
        </p:nvSpPr>
        <p:spPr bwMode="auto">
          <a:xfrm>
            <a:off x="4500563" y="3717925"/>
            <a:ext cx="35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0" name="Rectangle 75"/>
          <p:cNvSpPr>
            <a:spLocks noChangeArrowheads="1"/>
          </p:cNvSpPr>
          <p:nvPr/>
        </p:nvSpPr>
        <p:spPr bwMode="auto">
          <a:xfrm>
            <a:off x="4860925" y="3717925"/>
            <a:ext cx="35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1" name="Rectangle 76"/>
          <p:cNvSpPr>
            <a:spLocks noChangeArrowheads="1"/>
          </p:cNvSpPr>
          <p:nvPr/>
        </p:nvSpPr>
        <p:spPr bwMode="auto">
          <a:xfrm>
            <a:off x="6084888" y="3789363"/>
            <a:ext cx="35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2" name="Rectangle 77"/>
          <p:cNvSpPr>
            <a:spLocks noChangeArrowheads="1"/>
          </p:cNvSpPr>
          <p:nvPr/>
        </p:nvSpPr>
        <p:spPr bwMode="auto">
          <a:xfrm>
            <a:off x="6445250" y="3789363"/>
            <a:ext cx="35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1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3" name="Rectangle 78"/>
          <p:cNvSpPr>
            <a:spLocks noChangeArrowheads="1"/>
          </p:cNvSpPr>
          <p:nvPr/>
        </p:nvSpPr>
        <p:spPr bwMode="auto">
          <a:xfrm>
            <a:off x="6877050" y="3789363"/>
            <a:ext cx="352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</a:rPr>
              <a:t>0</a:t>
            </a: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74" name="Group 79"/>
          <p:cNvGrpSpPr/>
          <p:nvPr/>
        </p:nvGrpSpPr>
        <p:grpSpPr bwMode="auto">
          <a:xfrm>
            <a:off x="2713038" y="2022475"/>
            <a:ext cx="4102100" cy="1358900"/>
            <a:chOff x="0" y="0"/>
            <a:chExt cx="2512" cy="856"/>
          </a:xfrm>
        </p:grpSpPr>
        <p:sp>
          <p:nvSpPr>
            <p:cNvPr id="275" name="Rectangle 80"/>
            <p:cNvSpPr>
              <a:spLocks noChangeArrowheads="1"/>
            </p:cNvSpPr>
            <p:nvPr/>
          </p:nvSpPr>
          <p:spPr bwMode="auto">
            <a:xfrm>
              <a:off x="436" y="432"/>
              <a:ext cx="472" cy="424"/>
            </a:xfrm>
            <a:prstGeom prst="rect">
              <a:avLst/>
            </a:prstGeom>
            <a:solidFill>
              <a:srgbClr val="FF33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6" name="AutoShape 81"/>
            <p:cNvSpPr>
              <a:spLocks noChangeArrowheads="1"/>
            </p:cNvSpPr>
            <p:nvPr/>
          </p:nvSpPr>
          <p:spPr bwMode="auto">
            <a:xfrm>
              <a:off x="0" y="0"/>
              <a:ext cx="2512" cy="240"/>
            </a:xfrm>
            <a:prstGeom prst="wedgeRectCallout">
              <a:avLst>
                <a:gd name="adj1" fmla="val -23727"/>
                <a:gd name="adj2" fmla="val 118750"/>
              </a:avLst>
            </a:prstGeom>
            <a:solidFill>
              <a:srgbClr val="CCCCFF"/>
            </a:solidFill>
            <a:ln w="9525" cmpd="sng">
              <a:solidFill>
                <a:srgbClr val="FF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0" rIns="72000" bIns="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zh-CN" altLang="en-US" sz="24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zh-CN" altLang="en-US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0时，触发器状态不变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77" name="Group 82"/>
          <p:cNvGrpSpPr/>
          <p:nvPr/>
        </p:nvGrpSpPr>
        <p:grpSpPr bwMode="auto">
          <a:xfrm>
            <a:off x="3817938" y="1758950"/>
            <a:ext cx="2832100" cy="1631950"/>
            <a:chOff x="0" y="0"/>
            <a:chExt cx="1688" cy="1028"/>
          </a:xfrm>
        </p:grpSpPr>
        <p:sp>
          <p:nvSpPr>
            <p:cNvPr id="278" name="Rectangle 83"/>
            <p:cNvSpPr>
              <a:spLocks noChangeArrowheads="1"/>
            </p:cNvSpPr>
            <p:nvPr/>
          </p:nvSpPr>
          <p:spPr bwMode="auto">
            <a:xfrm>
              <a:off x="208" y="604"/>
              <a:ext cx="618" cy="424"/>
            </a:xfrm>
            <a:prstGeom prst="rect">
              <a:avLst/>
            </a:prstGeom>
            <a:solidFill>
              <a:srgbClr val="00CC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楷体_GB2312" pitchFamily="49" charset="-122"/>
              </a:endParaRPr>
            </a:p>
          </p:txBody>
        </p:sp>
        <p:sp>
          <p:nvSpPr>
            <p:cNvPr id="279" name="AutoShape 84"/>
            <p:cNvSpPr>
              <a:spLocks noChangeArrowheads="1"/>
            </p:cNvSpPr>
            <p:nvPr/>
          </p:nvSpPr>
          <p:spPr bwMode="auto">
            <a:xfrm>
              <a:off x="0" y="0"/>
              <a:ext cx="1688" cy="448"/>
            </a:xfrm>
            <a:prstGeom prst="wedgeRectCallout">
              <a:avLst>
                <a:gd name="adj1" fmla="val -20852"/>
                <a:gd name="adj2" fmla="val 76116"/>
              </a:avLst>
            </a:prstGeom>
            <a:solidFill>
              <a:srgbClr val="CCCCFF"/>
            </a:solidFill>
            <a:ln w="9525" cmpd="sng">
              <a:solidFill>
                <a:srgbClr val="00CC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0" rIns="72000" bIns="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r>
                <a:rPr lang="zh-CN" altLang="en-US" sz="24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</a:t>
              </a:r>
              <a:r>
                <a:rPr lang="zh-CN" altLang="en-US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1时，</a:t>
              </a:r>
              <a:r>
                <a:rPr lang="zh-CN" altLang="en-US" sz="24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触发器次态跟随</a:t>
              </a:r>
              <a:r>
                <a:rPr lang="zh-CN" altLang="en-US" sz="2400" b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zh-CN" altLang="en-US" sz="24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信号</a:t>
              </a:r>
              <a:endPara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0" name="Rectangle 85"/>
          <p:cNvSpPr>
            <a:spLocks noChangeArrowheads="1"/>
          </p:cNvSpPr>
          <p:nvPr/>
        </p:nvSpPr>
        <p:spPr bwMode="auto">
          <a:xfrm>
            <a:off x="5195888" y="2705100"/>
            <a:ext cx="990600" cy="66675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81" name="Rectangle 86"/>
          <p:cNvSpPr>
            <a:spLocks noChangeArrowheads="1"/>
          </p:cNvSpPr>
          <p:nvPr/>
        </p:nvSpPr>
        <p:spPr bwMode="auto">
          <a:xfrm>
            <a:off x="6215063" y="2733675"/>
            <a:ext cx="990600" cy="666750"/>
          </a:xfrm>
          <a:prstGeom prst="rect">
            <a:avLst/>
          </a:prstGeom>
          <a:solidFill>
            <a:srgbClr val="00CC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82" name="Rectangle 87"/>
          <p:cNvSpPr>
            <a:spLocks noChangeArrowheads="1"/>
          </p:cNvSpPr>
          <p:nvPr/>
        </p:nvSpPr>
        <p:spPr bwMode="auto">
          <a:xfrm>
            <a:off x="7224713" y="2705100"/>
            <a:ext cx="752475" cy="66675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83" name="AutoShape 88"/>
          <p:cNvSpPr>
            <a:spLocks noChangeArrowheads="1"/>
          </p:cNvSpPr>
          <p:nvPr/>
        </p:nvSpPr>
        <p:spPr bwMode="auto">
          <a:xfrm>
            <a:off x="2411413" y="6237288"/>
            <a:ext cx="1512887" cy="406400"/>
          </a:xfrm>
          <a:prstGeom prst="wedgeRectCallout">
            <a:avLst>
              <a:gd name="adj1" fmla="val 28069"/>
              <a:gd name="adj2" fmla="val -113671"/>
            </a:avLst>
          </a:prstGeom>
          <a:solidFill>
            <a:srgbClr val="FFFF66"/>
          </a:solidFill>
          <a:ln w="9525" cmpd="sng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0" rIns="72000" bIns="0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初始状态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30" y="2882772"/>
            <a:ext cx="2152650" cy="1666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utoUpdateAnimBg="0"/>
      <p:bldP spid="269" grpId="0" autoUpdateAnimBg="0"/>
      <p:bldP spid="270" grpId="0" autoUpdateAnimBg="0"/>
      <p:bldP spid="271" grpId="0" autoUpdateAnimBg="0"/>
      <p:bldP spid="272" grpId="0" autoUpdateAnimBg="0"/>
      <p:bldP spid="273" grpId="0" autoUpdateAnimBg="0"/>
      <p:bldP spid="283" grpId="0" bldLvl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J-K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677757" y="620964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电路结构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89335" y="1606134"/>
            <a:ext cx="6830229" cy="2807362"/>
            <a:chOff x="785763" y="1612231"/>
            <a:chExt cx="6830229" cy="2807362"/>
          </a:xfrm>
        </p:grpSpPr>
        <p:grpSp>
          <p:nvGrpSpPr>
            <p:cNvPr id="95" name="Group 28"/>
            <p:cNvGrpSpPr/>
            <p:nvPr/>
          </p:nvGrpSpPr>
          <p:grpSpPr bwMode="auto">
            <a:xfrm>
              <a:off x="785763" y="1612231"/>
              <a:ext cx="6830229" cy="2807362"/>
              <a:chOff x="432" y="1248"/>
              <a:chExt cx="3628" cy="1461"/>
            </a:xfrm>
          </p:grpSpPr>
          <p:graphicFrame>
            <p:nvGraphicFramePr>
              <p:cNvPr id="96" name="Object 15"/>
              <p:cNvGraphicFramePr>
                <a:graphicFrameLocks noChangeAspect="1"/>
              </p:cNvGraphicFramePr>
              <p:nvPr/>
            </p:nvGraphicFramePr>
            <p:xfrm>
              <a:off x="432" y="1248"/>
              <a:ext cx="3408" cy="14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82" name="" r:id="rId3" imgW="3533140" imgH="1423035" progId="Visio.Drawing.6">
                      <p:embed/>
                    </p:oleObj>
                  </mc:Choice>
                  <mc:Fallback>
                    <p:oleObj name="" r:id="rId3" imgW="3533140" imgH="1423035" progId="Visio.Drawing.6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2" y="1248"/>
                            <a:ext cx="3408" cy="146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7" name="Rectangle 17"/>
              <p:cNvSpPr>
                <a:spLocks noChangeArrowheads="1"/>
              </p:cNvSpPr>
              <p:nvPr/>
            </p:nvSpPr>
            <p:spPr bwMode="auto">
              <a:xfrm>
                <a:off x="1968" y="1344"/>
                <a:ext cx="1248" cy="1296"/>
              </a:xfrm>
              <a:prstGeom prst="rect">
                <a:avLst/>
              </a:prstGeom>
              <a:noFill/>
              <a:ln w="47625">
                <a:solidFill>
                  <a:srgbClr val="FF0000"/>
                </a:solidFill>
                <a:prstDash val="sysDot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" name="Text Box 26"/>
              <p:cNvSpPr txBox="1">
                <a:spLocks noChangeArrowheads="1"/>
              </p:cNvSpPr>
              <p:nvPr/>
            </p:nvSpPr>
            <p:spPr bwMode="auto">
              <a:xfrm>
                <a:off x="3744" y="1468"/>
                <a:ext cx="3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n+1</a:t>
                </a:r>
                <a:endPara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Text Box 27"/>
              <p:cNvSpPr txBox="1">
                <a:spLocks noChangeArrowheads="1"/>
              </p:cNvSpPr>
              <p:nvPr/>
            </p:nvSpPr>
            <p:spPr bwMode="auto">
              <a:xfrm>
                <a:off x="3744" y="2188"/>
                <a:ext cx="31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n+1</a:t>
                </a:r>
                <a:endPara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02" name="Line 10"/>
            <p:cNvSpPr>
              <a:spLocks noChangeShapeType="1"/>
            </p:cNvSpPr>
            <p:nvPr/>
          </p:nvSpPr>
          <p:spPr bwMode="auto">
            <a:xfrm flipH="1" flipV="1">
              <a:off x="6164186" y="2306052"/>
              <a:ext cx="5778" cy="2077695"/>
            </a:xfrm>
            <a:prstGeom prst="line">
              <a:avLst/>
            </a:prstGeom>
            <a:noFill/>
            <a:ln w="571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11"/>
            <p:cNvSpPr>
              <a:spLocks noChangeShapeType="1"/>
            </p:cNvSpPr>
            <p:nvPr/>
          </p:nvSpPr>
          <p:spPr bwMode="auto">
            <a:xfrm flipH="1" flipV="1">
              <a:off x="1817873" y="4380900"/>
              <a:ext cx="4352091" cy="2852"/>
            </a:xfrm>
            <a:prstGeom prst="line">
              <a:avLst/>
            </a:prstGeom>
            <a:noFill/>
            <a:ln w="571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12"/>
            <p:cNvSpPr>
              <a:spLocks noChangeShapeType="1"/>
            </p:cNvSpPr>
            <p:nvPr/>
          </p:nvSpPr>
          <p:spPr bwMode="auto">
            <a:xfrm>
              <a:off x="1817873" y="3954379"/>
              <a:ext cx="0" cy="430638"/>
            </a:xfrm>
            <a:prstGeom prst="line">
              <a:avLst/>
            </a:prstGeom>
            <a:noFill/>
            <a:ln w="571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3"/>
            <p:cNvSpPr>
              <a:spLocks noChangeShapeType="1"/>
            </p:cNvSpPr>
            <p:nvPr/>
          </p:nvSpPr>
          <p:spPr bwMode="auto">
            <a:xfrm>
              <a:off x="1836909" y="3978510"/>
              <a:ext cx="160775" cy="6190"/>
            </a:xfrm>
            <a:prstGeom prst="line">
              <a:avLst/>
            </a:prstGeom>
            <a:noFill/>
            <a:ln w="57150" cmpd="sng">
              <a:solidFill>
                <a:srgbClr val="FF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6"/>
            <p:cNvSpPr>
              <a:spLocks noChangeShapeType="1"/>
            </p:cNvSpPr>
            <p:nvPr/>
          </p:nvSpPr>
          <p:spPr bwMode="auto">
            <a:xfrm flipV="1">
              <a:off x="6482054" y="1645998"/>
              <a:ext cx="5778" cy="2037139"/>
            </a:xfrm>
            <a:prstGeom prst="line">
              <a:avLst/>
            </a:prstGeom>
            <a:noFill/>
            <a:ln w="57150" cmpd="sng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7"/>
            <p:cNvSpPr>
              <a:spLocks noChangeShapeType="1"/>
            </p:cNvSpPr>
            <p:nvPr/>
          </p:nvSpPr>
          <p:spPr bwMode="auto">
            <a:xfrm flipH="1" flipV="1">
              <a:off x="1789801" y="1661257"/>
              <a:ext cx="4734258" cy="1267"/>
            </a:xfrm>
            <a:prstGeom prst="line">
              <a:avLst/>
            </a:prstGeom>
            <a:noFill/>
            <a:ln w="57150" cmpd="sng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8"/>
            <p:cNvSpPr>
              <a:spLocks noChangeShapeType="1"/>
            </p:cNvSpPr>
            <p:nvPr/>
          </p:nvSpPr>
          <p:spPr bwMode="auto">
            <a:xfrm>
              <a:off x="1817875" y="1691202"/>
              <a:ext cx="0" cy="343767"/>
            </a:xfrm>
            <a:prstGeom prst="line">
              <a:avLst/>
            </a:prstGeom>
            <a:noFill/>
            <a:ln w="57150" cmpd="sng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9"/>
            <p:cNvSpPr>
              <a:spLocks noChangeShapeType="1"/>
            </p:cNvSpPr>
            <p:nvPr/>
          </p:nvSpPr>
          <p:spPr bwMode="auto">
            <a:xfrm flipV="1">
              <a:off x="1789801" y="2062061"/>
              <a:ext cx="205667" cy="2853"/>
            </a:xfrm>
            <a:prstGeom prst="line">
              <a:avLst/>
            </a:prstGeom>
            <a:noFill/>
            <a:ln w="57150" cmpd="sng">
              <a:solidFill>
                <a:srgbClr val="00FF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对话气泡: 矩形 2"/>
          <p:cNvSpPr/>
          <p:nvPr/>
        </p:nvSpPr>
        <p:spPr>
          <a:xfrm>
            <a:off x="6988977" y="4182146"/>
            <a:ext cx="1435768" cy="842180"/>
          </a:xfrm>
          <a:prstGeom prst="wedgeRectCallout">
            <a:avLst>
              <a:gd name="adj1" fmla="val -117100"/>
              <a:gd name="adj2" fmla="val -6490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</a:rPr>
              <a:t>基本</a:t>
            </a:r>
            <a:r>
              <a:rPr lang="en-US" altLang="zh-CN" sz="2800" dirty="0">
                <a:solidFill>
                  <a:srgbClr val="FF0000"/>
                </a:solidFill>
              </a:rPr>
              <a:t>R-S</a:t>
            </a:r>
            <a:r>
              <a:rPr lang="zh-CN" altLang="en-US" sz="2800" dirty="0">
                <a:solidFill>
                  <a:srgbClr val="FF0000"/>
                </a:solidFill>
              </a:rPr>
              <a:t>触发器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340339" y="4773167"/>
            <a:ext cx="2794001" cy="1790700"/>
            <a:chOff x="1694872" y="4779952"/>
            <a:chExt cx="2794001" cy="1790700"/>
          </a:xfrm>
        </p:grpSpPr>
        <p:graphicFrame>
          <p:nvGraphicFramePr>
            <p:cNvPr id="111" name="Object 34"/>
            <p:cNvGraphicFramePr>
              <a:graphicFrameLocks noChangeAspect="1"/>
            </p:cNvGraphicFramePr>
            <p:nvPr/>
          </p:nvGraphicFramePr>
          <p:xfrm>
            <a:off x="2258435" y="4779952"/>
            <a:ext cx="1847850" cy="179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83" name="BMP 图象" r:id="rId5" imgW="1847850" imgH="1790700" progId="Paint.Picture">
                    <p:embed/>
                  </p:oleObj>
                </mc:Choice>
                <mc:Fallback>
                  <p:oleObj name="BMP 图象" r:id="rId5" imgW="1847850" imgH="1790700" progId="Paint.Picture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8435" y="4779952"/>
                          <a:ext cx="1847850" cy="1790700"/>
                        </a:xfrm>
                        <a:prstGeom prst="rect">
                          <a:avLst/>
                        </a:prstGeom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" name="Rectangle 35"/>
            <p:cNvSpPr>
              <a:spLocks noChangeArrowheads="1"/>
            </p:cNvSpPr>
            <p:nvPr/>
          </p:nvSpPr>
          <p:spPr bwMode="auto">
            <a:xfrm>
              <a:off x="4084060" y="581024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3" name="Rectangle 37"/>
            <p:cNvSpPr>
              <a:spLocks noChangeArrowheads="1"/>
            </p:cNvSpPr>
            <p:nvPr/>
          </p:nvSpPr>
          <p:spPr bwMode="auto">
            <a:xfrm>
              <a:off x="4084060" y="4832340"/>
              <a:ext cx="4048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 b="1" i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4" name="Rectangle 39"/>
            <p:cNvSpPr>
              <a:spLocks noChangeArrowheads="1"/>
            </p:cNvSpPr>
            <p:nvPr/>
          </p:nvSpPr>
          <p:spPr bwMode="auto">
            <a:xfrm>
              <a:off x="1913947" y="4832340"/>
              <a:ext cx="336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kumimoji="1" lang="en-US" altLang="zh-CN" sz="2400" b="1" i="1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Rectangle 41"/>
            <p:cNvSpPr>
              <a:spLocks noChangeArrowheads="1"/>
            </p:cNvSpPr>
            <p:nvPr/>
          </p:nvSpPr>
          <p:spPr bwMode="auto">
            <a:xfrm>
              <a:off x="1694872" y="5327640"/>
              <a:ext cx="5730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kumimoji="1" lang="en-US" altLang="zh-CN" sz="2400" b="1" i="1" u="none" strike="noStrike" kern="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6" name="Rectangle 42"/>
            <p:cNvSpPr>
              <a:spLocks noChangeArrowheads="1"/>
            </p:cNvSpPr>
            <p:nvPr/>
          </p:nvSpPr>
          <p:spPr bwMode="auto">
            <a:xfrm>
              <a:off x="1913947" y="5822940"/>
              <a:ext cx="3873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kumimoji="1" lang="en-US" altLang="zh-CN" sz="2400" b="1" i="1" u="none" strike="noStrike" kern="0" cap="none" spc="0" normalizeH="0" baseline="-25000" noProof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8" name="文本框 117"/>
          <p:cNvSpPr txBox="1"/>
          <p:nvPr/>
        </p:nvSpPr>
        <p:spPr>
          <a:xfrm>
            <a:off x="785763" y="5274907"/>
            <a:ext cx="1704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70A8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逻辑符号</a:t>
            </a:r>
            <a:endParaRPr lang="zh-CN" altLang="en-US" sz="2800" b="1" dirty="0">
              <a:solidFill>
                <a:srgbClr val="170A8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52272" y="5866305"/>
            <a:ext cx="202406" cy="532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1312696" y="1631753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329780" y="3288051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7105267" y="1863919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105267" y="3221229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J-K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677757" y="620964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工作原理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9" name="Object 20"/>
          <p:cNvGraphicFramePr>
            <a:graphicFrameLocks noChangeAspect="1"/>
          </p:cNvGraphicFramePr>
          <p:nvPr/>
        </p:nvGraphicFramePr>
        <p:xfrm>
          <a:off x="3677757" y="4772123"/>
          <a:ext cx="2979056" cy="171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4" name="Equation" r:id="rId3" imgW="1409065" imgH="799465" progId="Equation.3">
                  <p:embed/>
                </p:oleObj>
              </mc:Choice>
              <mc:Fallback>
                <p:oleObj name="Equation" r:id="rId3" imgW="1409065" imgH="799465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757" y="4772123"/>
                        <a:ext cx="2979056" cy="17141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" name="Group 28"/>
          <p:cNvGrpSpPr/>
          <p:nvPr/>
        </p:nvGrpSpPr>
        <p:grpSpPr bwMode="auto">
          <a:xfrm>
            <a:off x="91908" y="1343707"/>
            <a:ext cx="6284829" cy="2662974"/>
            <a:chOff x="432" y="1248"/>
            <a:chExt cx="3628" cy="1461"/>
          </a:xfrm>
        </p:grpSpPr>
        <p:graphicFrame>
          <p:nvGraphicFramePr>
            <p:cNvPr id="31" name="Object 15"/>
            <p:cNvGraphicFramePr>
              <a:graphicFrameLocks noChangeAspect="1"/>
            </p:cNvGraphicFramePr>
            <p:nvPr/>
          </p:nvGraphicFramePr>
          <p:xfrm>
            <a:off x="432" y="1248"/>
            <a:ext cx="3408" cy="1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5" name="Visio" r:id="rId5" imgW="3533140" imgH="1423035" progId="Visio.Drawing.11">
                    <p:embed/>
                  </p:oleObj>
                </mc:Choice>
                <mc:Fallback>
                  <p:oleObj name="Visio" r:id="rId5" imgW="3533140" imgH="1423035" progId="Visio.Drawing.11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248"/>
                          <a:ext cx="3408" cy="146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1968" y="1344"/>
              <a:ext cx="1248" cy="12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Text Box 26"/>
            <p:cNvSpPr txBox="1">
              <a:spLocks noChangeArrowheads="1"/>
            </p:cNvSpPr>
            <p:nvPr/>
          </p:nvSpPr>
          <p:spPr bwMode="auto">
            <a:xfrm>
              <a:off x="3744" y="1468"/>
              <a:ext cx="3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n+1</a:t>
              </a:r>
              <a:endPara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Text Box 27"/>
            <p:cNvSpPr txBox="1">
              <a:spLocks noChangeArrowheads="1"/>
            </p:cNvSpPr>
            <p:nvPr/>
          </p:nvSpPr>
          <p:spPr bwMode="auto">
            <a:xfrm>
              <a:off x="3744" y="2188"/>
              <a:ext cx="31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n+1</a:t>
              </a:r>
              <a:endParaRPr kumimoji="1" lang="en-US" altLang="zh-CN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376737" y="1394592"/>
            <a:ext cx="2330012" cy="2048873"/>
            <a:chOff x="6376737" y="1394592"/>
            <a:chExt cx="2330012" cy="2048873"/>
          </a:xfrm>
        </p:grpSpPr>
        <p:sp>
          <p:nvSpPr>
            <p:cNvPr id="2" name="文本框 1"/>
            <p:cNvSpPr txBox="1"/>
            <p:nvPr/>
          </p:nvSpPr>
          <p:spPr>
            <a:xfrm>
              <a:off x="6376737" y="1394592"/>
              <a:ext cx="1624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当</a:t>
              </a:r>
              <a:r>
                <a:rPr lang="en-US" altLang="zh-CN" sz="28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CP=0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时，</a:t>
              </a: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36" name="Object 18"/>
            <p:cNvGraphicFramePr>
              <a:graphicFrameLocks noChangeAspect="1"/>
            </p:cNvGraphicFramePr>
            <p:nvPr/>
          </p:nvGraphicFramePr>
          <p:xfrm>
            <a:off x="6835775" y="1930400"/>
            <a:ext cx="1639888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6" name="Equation" r:id="rId7" imgW="17678400" imgH="5791200" progId="Equation.DSMT4">
                    <p:embed/>
                  </p:oleObj>
                </mc:Choice>
                <mc:Fallback>
                  <p:oleObj name="Equation" r:id="rId7" imgW="17678400" imgH="57912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775" y="1930400"/>
                          <a:ext cx="1639888" cy="5461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文本框 3"/>
            <p:cNvSpPr txBox="1"/>
            <p:nvPr/>
          </p:nvSpPr>
          <p:spPr>
            <a:xfrm>
              <a:off x="6605233" y="2489358"/>
              <a:ext cx="210151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/>
                <a:t>触发器处于保持状态</a:t>
              </a:r>
              <a:endParaRPr lang="zh-CN" altLang="en-US" sz="2800" dirty="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83891" y="4419537"/>
            <a:ext cx="2029616" cy="1989285"/>
            <a:chOff x="783891" y="4419537"/>
            <a:chExt cx="2029616" cy="1989285"/>
          </a:xfrm>
        </p:grpSpPr>
        <p:graphicFrame>
          <p:nvGraphicFramePr>
            <p:cNvPr id="28" name="Object 18"/>
            <p:cNvGraphicFramePr>
              <a:graphicFrameLocks noChangeAspect="1"/>
            </p:cNvGraphicFramePr>
            <p:nvPr/>
          </p:nvGraphicFramePr>
          <p:xfrm>
            <a:off x="1120835" y="5103404"/>
            <a:ext cx="1692672" cy="1305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7" name="Equation" r:id="rId9" imgW="17678400" imgH="13411200" progId="Equation.DSMT4">
                    <p:embed/>
                  </p:oleObj>
                </mc:Choice>
                <mc:Fallback>
                  <p:oleObj name="Equation" r:id="rId9" imgW="17678400" imgH="134112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0835" y="5103404"/>
                          <a:ext cx="1692672" cy="130541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文本框 37"/>
            <p:cNvSpPr txBox="1"/>
            <p:nvPr/>
          </p:nvSpPr>
          <p:spPr>
            <a:xfrm>
              <a:off x="783891" y="4419537"/>
              <a:ext cx="1624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当</a:t>
              </a:r>
              <a:r>
                <a:rPr lang="en-US" altLang="zh-CN" sz="28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CP=1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时，</a:t>
              </a: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609324" y="1335917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67513" y="2883297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917380" y="1627522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922922" y="2824036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J-K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31600" y="59913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173279" y="1304785"/>
            <a:ext cx="18373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11" y="2003866"/>
            <a:ext cx="2036428" cy="7552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173279" y="2901028"/>
            <a:ext cx="18373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3011596" y="1640299"/>
            <a:ext cx="593558" cy="2393561"/>
          </a:xfrm>
          <a:prstGeom prst="rightBrace">
            <a:avLst>
              <a:gd name="adj1" fmla="val 8333"/>
              <a:gd name="adj2" fmla="val 42258"/>
            </a:avLst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Group 27"/>
          <p:cNvGrpSpPr/>
          <p:nvPr/>
        </p:nvGrpSpPr>
        <p:grpSpPr bwMode="auto">
          <a:xfrm>
            <a:off x="3745165" y="1640299"/>
            <a:ext cx="5350709" cy="1379538"/>
            <a:chOff x="2388" y="3057"/>
            <a:chExt cx="3424" cy="869"/>
          </a:xfrm>
        </p:grpSpPr>
        <p:grpSp>
          <p:nvGrpSpPr>
            <p:cNvPr id="29" name="Group 25"/>
            <p:cNvGrpSpPr/>
            <p:nvPr/>
          </p:nvGrpSpPr>
          <p:grpSpPr bwMode="auto">
            <a:xfrm>
              <a:off x="2388" y="3057"/>
              <a:ext cx="3424" cy="869"/>
              <a:chOff x="556" y="3057"/>
              <a:chExt cx="3786" cy="869"/>
            </a:xfrm>
          </p:grpSpPr>
          <p:sp>
            <p:nvSpPr>
              <p:cNvPr id="31" name="Text Box 21"/>
              <p:cNvSpPr txBox="1">
                <a:spLocks noChangeArrowheads="1"/>
              </p:cNvSpPr>
              <p:nvPr/>
            </p:nvSpPr>
            <p:spPr bwMode="auto">
              <a:xfrm>
                <a:off x="835" y="3057"/>
                <a:ext cx="3328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charset="-122"/>
                  </a:rPr>
                  <a:t>将时钟信号引入特征方程</a:t>
                </a:r>
                <a:endPara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charset="-122"/>
                </a:endParaRPr>
              </a:p>
            </p:txBody>
          </p:sp>
          <p:sp>
            <p:nvSpPr>
              <p:cNvPr id="32" name="Rectangle 22"/>
              <p:cNvSpPr>
                <a:spLocks noChangeArrowheads="1"/>
              </p:cNvSpPr>
              <p:nvPr/>
            </p:nvSpPr>
            <p:spPr bwMode="auto">
              <a:xfrm>
                <a:off x="556" y="3077"/>
                <a:ext cx="3786" cy="84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30" name="Object 24"/>
            <p:cNvGraphicFramePr>
              <a:graphicFrameLocks noChangeAspect="1"/>
            </p:cNvGraphicFramePr>
            <p:nvPr/>
          </p:nvGraphicFramePr>
          <p:xfrm>
            <a:off x="2464" y="3423"/>
            <a:ext cx="322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4" name="Equation" r:id="rId4" imgW="49682400" imgH="6096000" progId="Equation.DSMT4">
                    <p:embed/>
                  </p:oleObj>
                </mc:Choice>
                <mc:Fallback>
                  <p:oleObj name="Equation" r:id="rId4" imgW="49682400" imgH="6096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4" y="3423"/>
                          <a:ext cx="3228" cy="397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20"/>
          <p:cNvGraphicFramePr>
            <a:graphicFrameLocks noChangeAspect="1"/>
          </p:cNvGraphicFramePr>
          <p:nvPr/>
        </p:nvGraphicFramePr>
        <p:xfrm>
          <a:off x="234285" y="3522425"/>
          <a:ext cx="2979056" cy="171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Equation" r:id="rId6" imgW="1409065" imgH="799465" progId="Equation.DSMT4">
                  <p:embed/>
                </p:oleObj>
              </mc:Choice>
              <mc:Fallback>
                <p:oleObj name="Equation" r:id="rId6" imgW="1409065" imgH="799465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285" y="3522425"/>
                        <a:ext cx="2979056" cy="17141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797666" y="3915317"/>
            <a:ext cx="482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由基本</a:t>
            </a:r>
            <a:r>
              <a:rPr lang="en-US" altLang="zh-CN" sz="2400" b="1" dirty="0"/>
              <a:t>R-S</a:t>
            </a:r>
            <a:r>
              <a:rPr lang="zh-CN" altLang="en-US" sz="2400" b="1" dirty="0"/>
              <a:t>触发器的约束条件：</a:t>
            </a:r>
            <a:endParaRPr lang="zh-CN" alt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947283" y="4454736"/>
                <a:ext cx="1955856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en-US" sz="2400" b="1" i="1">
                                  <a:latin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zh-CN" altLang="en-US" sz="24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acc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b="1" i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7283" y="4454736"/>
                <a:ext cx="1955856" cy="462434"/>
              </a:xfrm>
              <a:prstGeom prst="rect">
                <a:avLst/>
              </a:prstGeom>
              <a:blipFill rotWithShape="1">
                <a:blip r:embed="rId8"/>
                <a:stretch>
                  <a:fillRect l="-32" t="-46" r="3" b="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/>
          <p:cNvSpPr txBox="1"/>
          <p:nvPr/>
        </p:nvSpPr>
        <p:spPr>
          <a:xfrm>
            <a:off x="3797666" y="4994924"/>
            <a:ext cx="48231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得到钟控</a:t>
            </a:r>
            <a:r>
              <a:rPr lang="en-US" altLang="zh-CN" sz="2400" b="1" dirty="0"/>
              <a:t>J-K</a:t>
            </a:r>
            <a:r>
              <a:rPr lang="zh-CN" altLang="en-US" sz="2400" b="1" dirty="0"/>
              <a:t>触发器的约束条件：</a:t>
            </a:r>
            <a:endParaRPr lang="zh-CN" altLang="en-US" sz="2400" b="1" dirty="0"/>
          </a:p>
        </p:txBody>
      </p:sp>
      <p:graphicFrame>
        <p:nvGraphicFramePr>
          <p:cNvPr id="24" name="Object 18"/>
          <p:cNvGraphicFramePr>
            <a:graphicFrameLocks noChangeAspect="1"/>
          </p:cNvGraphicFramePr>
          <p:nvPr/>
        </p:nvGraphicFramePr>
        <p:xfrm>
          <a:off x="3925124" y="3261336"/>
          <a:ext cx="2751309" cy="60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6" name="Equation" r:id="rId9" imgW="32308800" imgH="7010400" progId="Equation.DSMT4">
                  <p:embed/>
                </p:oleObj>
              </mc:Choice>
              <mc:Fallback>
                <p:oleObj name="Equation" r:id="rId9" imgW="32308800" imgH="7010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5124" y="3261336"/>
                        <a:ext cx="2751309" cy="605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3970827" y="5538535"/>
                <a:ext cx="4086823" cy="9188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plcHide m:val="on"/>
                          <m:ctrlPr>
                            <a:rPr lang="zh-CN" altLang="en-US" sz="2400" b="1" i="1">
                              <a:latin typeface="Cambria Math" panose="02040503050406030204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̅"/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4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zh-CN" altLang="en-US" sz="2400" b="1" i="1">
                                        <a:latin typeface="Cambria Math" panose="02040503050406030204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zh-CN" altLang="en-US" sz="2400" b="1" i="1">
                                        <a:latin typeface="Cambria Math" panose="02040503050406030204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lang="zh-CN" altLang="en-US" sz="2400" b="1" i="1">
                                            <a:latin typeface="Cambria Math" panose="02040503050406030204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4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e>
                                      <m:sup>
                                        <m:r>
                                          <a:rPr lang="zh-CN" altLang="en-US" sz="2400" b="1" i="1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p>
                                    </m:sSup>
                                  </m:e>
                                </m:acc>
                              </m:e>
                            </m:acc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  <m:sSup>
                                  <m:sSupPr>
                                    <m:ctrlPr>
                                      <a:rPr lang="zh-CN" altLang="en-US" sz="2400" b="1" i="1">
                                        <a:latin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p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</m:e>
                            </m:acc>
                          </m:e>
                        </m:mr>
                        <m:mr>
                          <m:e>
                            <m:r>
                              <m:rPr>
                                <m:nor/>
                              </m:rPr>
                              <a:rPr lang="zh-CN" altLang="en-US" sz="2400" b="1" i="1">
                                <a:latin typeface="Cambria Math" panose="02040503050406030204" pitchFamily="18" charset="0"/>
                              </a:rPr>
                              <m:t>           </m:t>
                            </m:r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𝑱</m:t>
                                </m:r>
                              </m:e>
                            </m:acc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e>
                              <m:sup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p>
                            </m:sSup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</m:acc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sz="2400" b="1" i="1">
                                    <a:latin typeface="Cambria Math" panose="02040503050406030204"/>
                                  </a:rPr>
                                </m:ctrlPr>
                              </m:accPr>
                              <m:e>
                                <m:sSup>
                                  <m:sSupPr>
                                    <m:ctrlPr>
                                      <a:rPr lang="zh-CN" altLang="en-US" sz="2400" b="1" i="1">
                                        <a:latin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  <m:sup>
                                    <m:r>
                                      <a:rPr lang="zh-CN" altLang="en-US" sz="2400" b="1" i="1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p>
                                </m:sSup>
                              </m:e>
                            </m:acc>
                            <m: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≡</m:t>
                            </m:r>
                            <m:r>
                              <a:rPr lang="zh-CN" altLang="en-US" sz="2400" b="1" i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827" y="5538535"/>
                <a:ext cx="4086823" cy="918841"/>
              </a:xfrm>
              <a:prstGeom prst="rect">
                <a:avLst/>
              </a:prstGeom>
              <a:blipFill rotWithShape="1">
                <a:blip r:embed="rId11"/>
                <a:stretch>
                  <a:fillRect l="-4" t="-7" r="3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2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J-K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31600" y="59913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功能表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1" y="2674227"/>
            <a:ext cx="4910137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" name="Object 24"/>
          <p:cNvGraphicFramePr>
            <a:graphicFrameLocks noChangeAspect="1"/>
          </p:cNvGraphicFramePr>
          <p:nvPr/>
        </p:nvGraphicFramePr>
        <p:xfrm>
          <a:off x="869374" y="1515980"/>
          <a:ext cx="5857987" cy="720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0" name="Equation" r:id="rId4" imgW="49682400" imgH="6096000" progId="Equation.DSMT4">
                  <p:embed/>
                </p:oleObj>
              </mc:Choice>
              <mc:Fallback>
                <p:oleObj name="Equation" r:id="rId4" imgW="49682400" imgH="6096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374" y="1515980"/>
                        <a:ext cx="5857987" cy="72045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62439" y="3086934"/>
            <a:ext cx="3457074" cy="2424895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钟控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J-K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触发器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不受约束条件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限制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可以在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信号的控制下实现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保持、置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、置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和翻转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的功能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三、钟控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J-K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243" name="Rectangle 2"/>
          <p:cNvSpPr>
            <a:spLocks noChangeArrowheads="1"/>
          </p:cNvSpPr>
          <p:nvPr/>
        </p:nvSpPr>
        <p:spPr bwMode="auto">
          <a:xfrm>
            <a:off x="8054792" y="3419475"/>
            <a:ext cx="257175" cy="1500188"/>
          </a:xfrm>
          <a:prstGeom prst="rect">
            <a:avLst/>
          </a:prstGeom>
          <a:solidFill>
            <a:srgbClr val="00CC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4" name="Rectangle 3"/>
          <p:cNvSpPr>
            <a:spLocks noChangeArrowheads="1"/>
          </p:cNvSpPr>
          <p:nvPr/>
        </p:nvSpPr>
        <p:spPr bwMode="auto">
          <a:xfrm>
            <a:off x="7826192" y="3419475"/>
            <a:ext cx="231775" cy="1500188"/>
          </a:xfrm>
          <a:prstGeom prst="rect">
            <a:avLst/>
          </a:prstGeom>
          <a:solidFill>
            <a:srgbClr val="00CC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" name="Rectangle 4"/>
          <p:cNvSpPr>
            <a:spLocks noChangeArrowheads="1"/>
          </p:cNvSpPr>
          <p:nvPr/>
        </p:nvSpPr>
        <p:spPr bwMode="auto">
          <a:xfrm>
            <a:off x="7318192" y="3419475"/>
            <a:ext cx="498475" cy="1511300"/>
          </a:xfrm>
          <a:prstGeom prst="rect">
            <a:avLst/>
          </a:prstGeom>
          <a:solidFill>
            <a:srgbClr val="00CC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" name="Rectangle 5"/>
          <p:cNvSpPr>
            <a:spLocks noChangeArrowheads="1"/>
          </p:cNvSpPr>
          <p:nvPr/>
        </p:nvSpPr>
        <p:spPr bwMode="auto">
          <a:xfrm>
            <a:off x="5819592" y="3419475"/>
            <a:ext cx="473075" cy="1536700"/>
          </a:xfrm>
          <a:prstGeom prst="rect">
            <a:avLst/>
          </a:prstGeom>
          <a:solidFill>
            <a:srgbClr val="00CC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7" name="Rectangle 6"/>
          <p:cNvSpPr>
            <a:spLocks noChangeArrowheads="1"/>
          </p:cNvSpPr>
          <p:nvPr/>
        </p:nvSpPr>
        <p:spPr bwMode="auto">
          <a:xfrm>
            <a:off x="5286192" y="3419475"/>
            <a:ext cx="498475" cy="1536700"/>
          </a:xfrm>
          <a:prstGeom prst="rect">
            <a:avLst/>
          </a:prstGeom>
          <a:solidFill>
            <a:srgbClr val="00CC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49" name="Group 10"/>
          <p:cNvGrpSpPr/>
          <p:nvPr/>
        </p:nvGrpSpPr>
        <p:grpSpPr bwMode="auto">
          <a:xfrm>
            <a:off x="5273492" y="3286125"/>
            <a:ext cx="3048000" cy="2978150"/>
            <a:chOff x="3010" y="1538"/>
            <a:chExt cx="1920" cy="1876"/>
          </a:xfrm>
        </p:grpSpPr>
        <p:sp>
          <p:nvSpPr>
            <p:cNvPr id="250" name="Line 11"/>
            <p:cNvSpPr>
              <a:spLocks noChangeShapeType="1"/>
            </p:cNvSpPr>
            <p:nvPr/>
          </p:nvSpPr>
          <p:spPr bwMode="auto">
            <a:xfrm>
              <a:off x="3010" y="1547"/>
              <a:ext cx="0" cy="186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1" name="Line 12"/>
            <p:cNvSpPr>
              <a:spLocks noChangeShapeType="1"/>
            </p:cNvSpPr>
            <p:nvPr/>
          </p:nvSpPr>
          <p:spPr bwMode="auto">
            <a:xfrm>
              <a:off x="3646" y="1545"/>
              <a:ext cx="0" cy="186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2" name="Line 13"/>
            <p:cNvSpPr>
              <a:spLocks noChangeShapeType="1"/>
            </p:cNvSpPr>
            <p:nvPr/>
          </p:nvSpPr>
          <p:spPr bwMode="auto">
            <a:xfrm>
              <a:off x="3342" y="2048"/>
              <a:ext cx="0" cy="136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3" name="Line 14"/>
            <p:cNvSpPr>
              <a:spLocks noChangeShapeType="1"/>
            </p:cNvSpPr>
            <p:nvPr/>
          </p:nvSpPr>
          <p:spPr bwMode="auto">
            <a:xfrm>
              <a:off x="4294" y="1539"/>
              <a:ext cx="0" cy="187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4" name="Line 15"/>
            <p:cNvSpPr>
              <a:spLocks noChangeShapeType="1"/>
            </p:cNvSpPr>
            <p:nvPr/>
          </p:nvSpPr>
          <p:spPr bwMode="auto">
            <a:xfrm>
              <a:off x="4930" y="1538"/>
              <a:ext cx="0" cy="186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5" name="Line 16"/>
            <p:cNvSpPr>
              <a:spLocks noChangeShapeType="1"/>
            </p:cNvSpPr>
            <p:nvPr/>
          </p:nvSpPr>
          <p:spPr bwMode="auto">
            <a:xfrm>
              <a:off x="4752" y="2175"/>
              <a:ext cx="0" cy="123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" name="Line 17"/>
            <p:cNvSpPr>
              <a:spLocks noChangeShapeType="1"/>
            </p:cNvSpPr>
            <p:nvPr/>
          </p:nvSpPr>
          <p:spPr bwMode="auto">
            <a:xfrm>
              <a:off x="4620" y="2055"/>
              <a:ext cx="0" cy="135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lg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7" name="Group 19"/>
          <p:cNvGrpSpPr/>
          <p:nvPr/>
        </p:nvGrpSpPr>
        <p:grpSpPr bwMode="auto">
          <a:xfrm>
            <a:off x="4025718" y="2603500"/>
            <a:ext cx="4852988" cy="2327275"/>
            <a:chOff x="2224" y="1108"/>
            <a:chExt cx="3057" cy="1466"/>
          </a:xfrm>
        </p:grpSpPr>
        <p:sp>
          <p:nvSpPr>
            <p:cNvPr id="259" name="Line 21"/>
            <p:cNvSpPr>
              <a:spLocks noChangeShapeType="1"/>
            </p:cNvSpPr>
            <p:nvPr/>
          </p:nvSpPr>
          <p:spPr bwMode="auto">
            <a:xfrm flipH="1">
              <a:off x="4921" y="1540"/>
              <a:ext cx="3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0" name="Line 22"/>
            <p:cNvSpPr>
              <a:spLocks noChangeShapeType="1"/>
            </p:cNvSpPr>
            <p:nvPr/>
          </p:nvSpPr>
          <p:spPr bwMode="auto">
            <a:xfrm flipH="1" flipV="1">
              <a:off x="4931" y="1108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1" name="Line 23"/>
            <p:cNvSpPr>
              <a:spLocks noChangeShapeType="1"/>
            </p:cNvSpPr>
            <p:nvPr/>
          </p:nvSpPr>
          <p:spPr bwMode="auto">
            <a:xfrm flipH="1" flipV="1">
              <a:off x="3648" y="112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2" name="Line 24"/>
            <p:cNvSpPr>
              <a:spLocks noChangeShapeType="1"/>
            </p:cNvSpPr>
            <p:nvPr/>
          </p:nvSpPr>
          <p:spPr bwMode="auto">
            <a:xfrm flipV="1">
              <a:off x="4295" y="1120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3" name="Line 25"/>
            <p:cNvSpPr>
              <a:spLocks noChangeShapeType="1"/>
            </p:cNvSpPr>
            <p:nvPr/>
          </p:nvSpPr>
          <p:spPr bwMode="auto">
            <a:xfrm>
              <a:off x="2786" y="1540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4" name="Line 26"/>
            <p:cNvSpPr>
              <a:spLocks noChangeShapeType="1"/>
            </p:cNvSpPr>
            <p:nvPr/>
          </p:nvSpPr>
          <p:spPr bwMode="auto">
            <a:xfrm>
              <a:off x="3002" y="1111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5" name="Line 27"/>
            <p:cNvSpPr>
              <a:spLocks noChangeShapeType="1"/>
            </p:cNvSpPr>
            <p:nvPr/>
          </p:nvSpPr>
          <p:spPr bwMode="auto">
            <a:xfrm flipV="1">
              <a:off x="3014" y="1117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" name="Line 28"/>
            <p:cNvSpPr>
              <a:spLocks noChangeShapeType="1"/>
            </p:cNvSpPr>
            <p:nvPr/>
          </p:nvSpPr>
          <p:spPr bwMode="auto">
            <a:xfrm flipH="1">
              <a:off x="2546" y="1540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" name="Rectangle 29"/>
            <p:cNvSpPr>
              <a:spLocks noChangeArrowheads="1"/>
            </p:cNvSpPr>
            <p:nvPr/>
          </p:nvSpPr>
          <p:spPr bwMode="auto">
            <a:xfrm>
              <a:off x="2300" y="170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8" name="Rectangle 30"/>
            <p:cNvSpPr>
              <a:spLocks noChangeArrowheads="1"/>
            </p:cNvSpPr>
            <p:nvPr/>
          </p:nvSpPr>
          <p:spPr bwMode="auto">
            <a:xfrm>
              <a:off x="2224" y="1173"/>
              <a:ext cx="3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CP</a:t>
              </a:r>
              <a:endParaRPr kumimoji="1" lang="en-US" altLang="zh-CN" sz="2400" b="1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9" name="Line 31"/>
            <p:cNvSpPr>
              <a:spLocks noChangeShapeType="1"/>
            </p:cNvSpPr>
            <p:nvPr/>
          </p:nvSpPr>
          <p:spPr bwMode="auto">
            <a:xfrm>
              <a:off x="3638" y="1543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0" name="Line 32"/>
            <p:cNvSpPr>
              <a:spLocks noChangeShapeType="1"/>
            </p:cNvSpPr>
            <p:nvPr/>
          </p:nvSpPr>
          <p:spPr bwMode="auto">
            <a:xfrm>
              <a:off x="4286" y="1117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2" name="Line 44"/>
            <p:cNvSpPr>
              <a:spLocks noChangeShapeType="1"/>
            </p:cNvSpPr>
            <p:nvPr/>
          </p:nvSpPr>
          <p:spPr bwMode="auto">
            <a:xfrm flipH="1" flipV="1">
              <a:off x="3987" y="163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3" name="Line 45"/>
            <p:cNvSpPr>
              <a:spLocks noChangeShapeType="1"/>
            </p:cNvSpPr>
            <p:nvPr/>
          </p:nvSpPr>
          <p:spPr bwMode="auto">
            <a:xfrm flipV="1">
              <a:off x="4634" y="163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4" name="Line 46"/>
            <p:cNvSpPr>
              <a:spLocks noChangeShapeType="1"/>
            </p:cNvSpPr>
            <p:nvPr/>
          </p:nvSpPr>
          <p:spPr bwMode="auto">
            <a:xfrm>
              <a:off x="2549" y="2052"/>
              <a:ext cx="8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5" name="Line 47"/>
            <p:cNvSpPr>
              <a:spLocks noChangeShapeType="1"/>
            </p:cNvSpPr>
            <p:nvPr/>
          </p:nvSpPr>
          <p:spPr bwMode="auto">
            <a:xfrm>
              <a:off x="3341" y="1623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" name="Line 48"/>
            <p:cNvSpPr>
              <a:spLocks noChangeShapeType="1"/>
            </p:cNvSpPr>
            <p:nvPr/>
          </p:nvSpPr>
          <p:spPr bwMode="auto">
            <a:xfrm flipV="1">
              <a:off x="3353" y="1629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" name="Line 49"/>
            <p:cNvSpPr>
              <a:spLocks noChangeShapeType="1"/>
            </p:cNvSpPr>
            <p:nvPr/>
          </p:nvSpPr>
          <p:spPr bwMode="auto">
            <a:xfrm>
              <a:off x="3977" y="2055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8" name="Line 50"/>
            <p:cNvSpPr>
              <a:spLocks noChangeShapeType="1"/>
            </p:cNvSpPr>
            <p:nvPr/>
          </p:nvSpPr>
          <p:spPr bwMode="auto">
            <a:xfrm>
              <a:off x="4625" y="1629"/>
              <a:ext cx="6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9" name="Rectangle 51"/>
            <p:cNvSpPr>
              <a:spLocks noChangeArrowheads="1"/>
            </p:cNvSpPr>
            <p:nvPr/>
          </p:nvSpPr>
          <p:spPr bwMode="auto">
            <a:xfrm>
              <a:off x="2276" y="2215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just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endParaRPr kumimoji="1" lang="en-US" altLang="zh-CN" sz="24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0" name="Line 52"/>
            <p:cNvSpPr>
              <a:spLocks noChangeShapeType="1"/>
            </p:cNvSpPr>
            <p:nvPr/>
          </p:nvSpPr>
          <p:spPr bwMode="auto">
            <a:xfrm flipH="1" flipV="1">
              <a:off x="3974" y="214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1" name="Line 53"/>
            <p:cNvSpPr>
              <a:spLocks noChangeShapeType="1"/>
            </p:cNvSpPr>
            <p:nvPr/>
          </p:nvSpPr>
          <p:spPr bwMode="auto">
            <a:xfrm flipV="1">
              <a:off x="4753" y="2142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2" name="Line 54"/>
            <p:cNvSpPr>
              <a:spLocks noChangeShapeType="1"/>
            </p:cNvSpPr>
            <p:nvPr/>
          </p:nvSpPr>
          <p:spPr bwMode="auto">
            <a:xfrm>
              <a:off x="2536" y="2133"/>
              <a:ext cx="14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3" name="Line 55"/>
            <p:cNvSpPr>
              <a:spLocks noChangeShapeType="1"/>
            </p:cNvSpPr>
            <p:nvPr/>
          </p:nvSpPr>
          <p:spPr bwMode="auto">
            <a:xfrm>
              <a:off x="3964" y="2565"/>
              <a:ext cx="7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4" name="Line 56"/>
            <p:cNvSpPr>
              <a:spLocks noChangeShapeType="1"/>
            </p:cNvSpPr>
            <p:nvPr/>
          </p:nvSpPr>
          <p:spPr bwMode="auto">
            <a:xfrm>
              <a:off x="4751" y="2139"/>
              <a:ext cx="5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295" name="Rectangle 57"/>
          <p:cNvSpPr>
            <a:spLocks noChangeArrowheads="1"/>
          </p:cNvSpPr>
          <p:nvPr/>
        </p:nvSpPr>
        <p:spPr bwMode="auto">
          <a:xfrm>
            <a:off x="6306955" y="2620336"/>
            <a:ext cx="990600" cy="66675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6" name="Rectangle 58"/>
          <p:cNvSpPr>
            <a:spLocks noChangeArrowheads="1"/>
          </p:cNvSpPr>
          <p:nvPr/>
        </p:nvSpPr>
        <p:spPr bwMode="auto">
          <a:xfrm>
            <a:off x="7326130" y="2648911"/>
            <a:ext cx="990600" cy="666750"/>
          </a:xfrm>
          <a:prstGeom prst="rect">
            <a:avLst/>
          </a:prstGeom>
          <a:solidFill>
            <a:srgbClr val="00CC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" name="Rectangle 59"/>
          <p:cNvSpPr>
            <a:spLocks noChangeArrowheads="1"/>
          </p:cNvSpPr>
          <p:nvPr/>
        </p:nvSpPr>
        <p:spPr bwMode="auto">
          <a:xfrm>
            <a:off x="8335780" y="2610812"/>
            <a:ext cx="523875" cy="666750"/>
          </a:xfrm>
          <a:prstGeom prst="rect">
            <a:avLst/>
          </a:prstGeom>
          <a:solidFill>
            <a:srgbClr val="FF33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98" name="Group 60"/>
          <p:cNvGrpSpPr/>
          <p:nvPr/>
        </p:nvGrpSpPr>
        <p:grpSpPr bwMode="auto">
          <a:xfrm>
            <a:off x="4114617" y="5713413"/>
            <a:ext cx="1165225" cy="547687"/>
            <a:chOff x="2280" y="3067"/>
            <a:chExt cx="727" cy="345"/>
          </a:xfrm>
        </p:grpSpPr>
        <p:sp>
          <p:nvSpPr>
            <p:cNvPr id="299" name="Line 61"/>
            <p:cNvSpPr>
              <a:spLocks noChangeShapeType="1"/>
            </p:cNvSpPr>
            <p:nvPr/>
          </p:nvSpPr>
          <p:spPr bwMode="auto">
            <a:xfrm flipH="1">
              <a:off x="2540" y="3412"/>
              <a:ext cx="46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0" name="Rectangle 62"/>
            <p:cNvSpPr>
              <a:spLocks noChangeArrowheads="1"/>
            </p:cNvSpPr>
            <p:nvPr/>
          </p:nvSpPr>
          <p:spPr bwMode="auto">
            <a:xfrm>
              <a:off x="2280" y="3067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just" defTabSz="914400" fontAlgn="base">
                <a:spcBef>
                  <a:spcPct val="5000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Q</a:t>
              </a:r>
              <a:endParaRPr kumimoji="1"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1" name="Line 63"/>
          <p:cNvSpPr>
            <a:spLocks noChangeShapeType="1"/>
          </p:cNvSpPr>
          <p:nvPr/>
        </p:nvSpPr>
        <p:spPr bwMode="auto">
          <a:xfrm flipH="1">
            <a:off x="8332605" y="6261100"/>
            <a:ext cx="5238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2" name="Line 64"/>
          <p:cNvSpPr>
            <a:spLocks noChangeShapeType="1"/>
          </p:cNvSpPr>
          <p:nvPr/>
        </p:nvSpPr>
        <p:spPr bwMode="auto">
          <a:xfrm flipH="1">
            <a:off x="7808730" y="5591175"/>
            <a:ext cx="2190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03" name="Group 65"/>
          <p:cNvGrpSpPr/>
          <p:nvPr/>
        </p:nvGrpSpPr>
        <p:grpSpPr bwMode="auto">
          <a:xfrm>
            <a:off x="5779905" y="5594350"/>
            <a:ext cx="514350" cy="685800"/>
            <a:chOff x="4113" y="2632"/>
            <a:chExt cx="240" cy="432"/>
          </a:xfrm>
        </p:grpSpPr>
        <p:sp>
          <p:nvSpPr>
            <p:cNvPr id="304" name="Line 66"/>
            <p:cNvSpPr>
              <a:spLocks noChangeShapeType="1"/>
            </p:cNvSpPr>
            <p:nvPr/>
          </p:nvSpPr>
          <p:spPr bwMode="auto">
            <a:xfrm flipH="1">
              <a:off x="4113" y="2632"/>
              <a:ext cx="2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5" name="Line 67"/>
            <p:cNvSpPr>
              <a:spLocks noChangeShapeType="1"/>
            </p:cNvSpPr>
            <p:nvPr/>
          </p:nvSpPr>
          <p:spPr bwMode="auto">
            <a:xfrm flipH="1" flipV="1">
              <a:off x="4125" y="2632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6" name="Group 68"/>
          <p:cNvGrpSpPr/>
          <p:nvPr/>
        </p:nvGrpSpPr>
        <p:grpSpPr bwMode="auto">
          <a:xfrm>
            <a:off x="8037330" y="5576888"/>
            <a:ext cx="300037" cy="698500"/>
            <a:chOff x="4443" y="2629"/>
            <a:chExt cx="477" cy="432"/>
          </a:xfrm>
        </p:grpSpPr>
        <p:sp>
          <p:nvSpPr>
            <p:cNvPr id="307" name="Line 69"/>
            <p:cNvSpPr>
              <a:spLocks noChangeShapeType="1"/>
            </p:cNvSpPr>
            <p:nvPr/>
          </p:nvSpPr>
          <p:spPr bwMode="auto">
            <a:xfrm flipH="1">
              <a:off x="4443" y="3052"/>
              <a:ext cx="47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" name="Line 70"/>
            <p:cNvSpPr>
              <a:spLocks noChangeShapeType="1"/>
            </p:cNvSpPr>
            <p:nvPr/>
          </p:nvSpPr>
          <p:spPr bwMode="auto">
            <a:xfrm flipH="1" flipV="1">
              <a:off x="4449" y="2629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9" name="Line 71"/>
          <p:cNvSpPr>
            <a:spLocks noChangeShapeType="1"/>
          </p:cNvSpPr>
          <p:nvPr/>
        </p:nvSpPr>
        <p:spPr bwMode="auto">
          <a:xfrm flipH="1">
            <a:off x="5270317" y="6261100"/>
            <a:ext cx="5508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10" name="Group 72"/>
          <p:cNvGrpSpPr/>
          <p:nvPr/>
        </p:nvGrpSpPr>
        <p:grpSpPr bwMode="auto">
          <a:xfrm>
            <a:off x="2622368" y="1532899"/>
            <a:ext cx="3105150" cy="1752600"/>
            <a:chOff x="1520" y="480"/>
            <a:chExt cx="1753" cy="1104"/>
          </a:xfrm>
        </p:grpSpPr>
        <p:sp>
          <p:nvSpPr>
            <p:cNvPr id="311" name="Rectangle 73"/>
            <p:cNvSpPr>
              <a:spLocks noChangeArrowheads="1"/>
            </p:cNvSpPr>
            <p:nvPr/>
          </p:nvSpPr>
          <p:spPr bwMode="auto">
            <a:xfrm>
              <a:off x="2542" y="1160"/>
              <a:ext cx="472" cy="424"/>
            </a:xfrm>
            <a:prstGeom prst="rect">
              <a:avLst/>
            </a:prstGeom>
            <a:solidFill>
              <a:srgbClr val="FF33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2" name="AutoShape 74"/>
            <p:cNvSpPr>
              <a:spLocks noChangeArrowheads="1"/>
            </p:cNvSpPr>
            <p:nvPr/>
          </p:nvSpPr>
          <p:spPr bwMode="auto">
            <a:xfrm>
              <a:off x="1520" y="480"/>
              <a:ext cx="1753" cy="472"/>
            </a:xfrm>
            <a:prstGeom prst="wedgeRectCallout">
              <a:avLst>
                <a:gd name="adj1" fmla="val 18227"/>
                <a:gd name="adj2" fmla="val 84958"/>
              </a:avLst>
            </a:prstGeom>
            <a:solidFill>
              <a:srgbClr val="CCCCFF"/>
            </a:solidFill>
            <a:ln w="9525">
              <a:solidFill>
                <a:srgbClr val="FF33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0" rIns="72000" bIns="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 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0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时，触发器状态不变。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3" name="Group 75"/>
          <p:cNvGrpSpPr/>
          <p:nvPr/>
        </p:nvGrpSpPr>
        <p:grpSpPr bwMode="auto">
          <a:xfrm>
            <a:off x="4541655" y="1556711"/>
            <a:ext cx="4445000" cy="1749425"/>
            <a:chOff x="2550" y="488"/>
            <a:chExt cx="2800" cy="1102"/>
          </a:xfrm>
        </p:grpSpPr>
        <p:sp>
          <p:nvSpPr>
            <p:cNvPr id="314" name="AutoShape 76"/>
            <p:cNvSpPr>
              <a:spLocks noChangeArrowheads="1"/>
            </p:cNvSpPr>
            <p:nvPr/>
          </p:nvSpPr>
          <p:spPr bwMode="auto">
            <a:xfrm>
              <a:off x="2550" y="488"/>
              <a:ext cx="2800" cy="448"/>
            </a:xfrm>
            <a:prstGeom prst="wedgeRectCallout">
              <a:avLst>
                <a:gd name="adj1" fmla="val -23500"/>
                <a:gd name="adj2" fmla="val 92634"/>
              </a:avLst>
            </a:prstGeom>
            <a:solidFill>
              <a:srgbClr val="CCCCFF"/>
            </a:solidFill>
            <a:ln w="9525">
              <a:solidFill>
                <a:srgbClr val="00CC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0" rIns="72000" bIns="0"/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CP </a:t>
              </a:r>
              <a:r>
                <a:rPr kumimoji="1"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= 1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时，触发器根据 </a:t>
              </a:r>
              <a:r>
                <a: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、</a:t>
              </a:r>
              <a:r>
                <a: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信号取值按照 </a:t>
              </a:r>
              <a:r>
                <a:rPr kumimoji="1"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JK 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功能工作。</a:t>
              </a:r>
              <a:endPara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15" name="Rectangle 77"/>
            <p:cNvSpPr>
              <a:spLocks noChangeArrowheads="1"/>
            </p:cNvSpPr>
            <p:nvPr/>
          </p:nvSpPr>
          <p:spPr bwMode="auto">
            <a:xfrm>
              <a:off x="3026" y="1166"/>
              <a:ext cx="618" cy="424"/>
            </a:xfrm>
            <a:prstGeom prst="rect">
              <a:avLst/>
            </a:prstGeom>
            <a:solidFill>
              <a:srgbClr val="00CC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40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16" name="Line 78"/>
          <p:cNvSpPr>
            <a:spLocks noChangeShapeType="1"/>
          </p:cNvSpPr>
          <p:nvPr/>
        </p:nvSpPr>
        <p:spPr bwMode="auto">
          <a:xfrm flipH="1">
            <a:off x="6310130" y="5594350"/>
            <a:ext cx="10350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7" name="Line 79"/>
          <p:cNvSpPr>
            <a:spLocks noChangeShapeType="1"/>
          </p:cNvSpPr>
          <p:nvPr/>
        </p:nvSpPr>
        <p:spPr bwMode="auto">
          <a:xfrm flipH="1">
            <a:off x="7289617" y="5594350"/>
            <a:ext cx="5238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sz="4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18" name="Group 135"/>
          <p:cNvGraphicFramePr>
            <a:graphicFrameLocks noGrp="1"/>
          </p:cNvGraphicFramePr>
          <p:nvPr/>
        </p:nvGraphicFramePr>
        <p:xfrm>
          <a:off x="509406" y="3772820"/>
          <a:ext cx="2162175" cy="2286000"/>
        </p:xfrm>
        <a:graphic>
          <a:graphicData uri="http://schemas.openxmlformats.org/drawingml/2006/table">
            <a:tbl>
              <a:tblPr/>
              <a:tblGrid>
                <a:gridCol w="704850"/>
                <a:gridCol w="538163"/>
                <a:gridCol w="919162"/>
              </a:tblGrid>
              <a:tr h="2825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n+1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75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3" name="Line 98"/>
          <p:cNvSpPr>
            <a:spLocks noChangeShapeType="1"/>
          </p:cNvSpPr>
          <p:nvPr/>
        </p:nvSpPr>
        <p:spPr bwMode="auto">
          <a:xfrm>
            <a:off x="2093731" y="5680995"/>
            <a:ext cx="2587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82345" y="2941823"/>
            <a:ext cx="1813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钟控</a:t>
            </a:r>
            <a:r>
              <a:rPr lang="en-US" altLang="zh-CN" sz="2400" b="1" dirty="0">
                <a:solidFill>
                  <a:srgbClr val="FF0000"/>
                </a:solidFill>
              </a:rPr>
              <a:t>J-K</a:t>
            </a:r>
            <a:r>
              <a:rPr lang="zh-CN" altLang="en-US" sz="2400" b="1" dirty="0">
                <a:solidFill>
                  <a:srgbClr val="FF0000"/>
                </a:solidFill>
              </a:rPr>
              <a:t>触发器功能表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3431600" y="59913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波形图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83382" y="1567040"/>
            <a:ext cx="154568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</a:rPr>
              <a:t>初始状态为</a:t>
            </a:r>
            <a:r>
              <a:rPr lang="en-US" altLang="zh-CN" sz="2800" b="1" dirty="0">
                <a:solidFill>
                  <a:srgbClr val="0000FF"/>
                </a:solidFill>
              </a:rPr>
              <a:t>0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四、钟控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T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31599" y="599133"/>
            <a:ext cx="4099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电路结构与工作原理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" name="Object 16"/>
          <p:cNvGraphicFramePr>
            <a:graphicFrameLocks noChangeAspect="1"/>
          </p:cNvGraphicFramePr>
          <p:nvPr/>
        </p:nvGraphicFramePr>
        <p:xfrm>
          <a:off x="0" y="1351281"/>
          <a:ext cx="6689556" cy="2753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6" name="" r:id="rId3" imgW="3672205" imgH="1421765" progId="Visio.Drawing.6">
                  <p:embed/>
                </p:oleObj>
              </mc:Choice>
              <mc:Fallback>
                <p:oleObj name="" r:id="rId3" imgW="3672205" imgH="1421765" progId="Visio.Drawing.6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351281"/>
                        <a:ext cx="6689556" cy="27538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/>
          <p:cNvGrpSpPr/>
          <p:nvPr/>
        </p:nvGrpSpPr>
        <p:grpSpPr>
          <a:xfrm>
            <a:off x="854241" y="4483704"/>
            <a:ext cx="1922297" cy="1221771"/>
            <a:chOff x="6304545" y="1379209"/>
            <a:chExt cx="1922297" cy="1221771"/>
          </a:xfrm>
        </p:grpSpPr>
        <p:sp>
          <p:nvSpPr>
            <p:cNvPr id="12" name="文本框 11"/>
            <p:cNvSpPr txBox="1"/>
            <p:nvPr/>
          </p:nvSpPr>
          <p:spPr>
            <a:xfrm>
              <a:off x="6304545" y="1379209"/>
              <a:ext cx="1624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当</a:t>
              </a:r>
              <a:r>
                <a:rPr lang="en-US" altLang="zh-CN" sz="28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CP=0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时，</a:t>
              </a: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3" name="Object 18"/>
            <p:cNvGraphicFramePr>
              <a:graphicFrameLocks noChangeAspect="1"/>
            </p:cNvGraphicFramePr>
            <p:nvPr/>
          </p:nvGraphicFramePr>
          <p:xfrm>
            <a:off x="6420267" y="2053293"/>
            <a:ext cx="1806575" cy="547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27" name="Equation" r:id="rId5" imgW="19507200" imgH="5791200" progId="Equation.DSMT4">
                    <p:embed/>
                  </p:oleObj>
                </mc:Choice>
                <mc:Fallback>
                  <p:oleObj name="Equation" r:id="rId5" imgW="19507200" imgH="57912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0267" y="2053293"/>
                          <a:ext cx="1806575" cy="54768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文本框 19"/>
          <p:cNvSpPr txBox="1"/>
          <p:nvPr/>
        </p:nvSpPr>
        <p:spPr>
          <a:xfrm>
            <a:off x="4042148" y="5067033"/>
            <a:ext cx="166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1" name="Object 8"/>
          <p:cNvGraphicFramePr>
            <a:graphicFrameLocks noChangeAspect="1"/>
          </p:cNvGraphicFramePr>
          <p:nvPr/>
        </p:nvGraphicFramePr>
        <p:xfrm>
          <a:off x="5895975" y="4208463"/>
          <a:ext cx="274796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8" name="Equation" r:id="rId7" imgW="29565600" imgH="6096000" progId="Equation.DSMT4">
                  <p:embed/>
                </p:oleObj>
              </mc:Choice>
              <mc:Fallback>
                <p:oleObj name="Equation" r:id="rId7" imgW="29565600" imgH="6096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975" y="4208463"/>
                        <a:ext cx="2747963" cy="576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/>
          <p:cNvGraphicFramePr>
            <a:graphicFrameLocks noChangeAspect="1"/>
          </p:cNvGraphicFramePr>
          <p:nvPr/>
        </p:nvGraphicFramePr>
        <p:xfrm>
          <a:off x="5893132" y="4875275"/>
          <a:ext cx="2804135" cy="159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9" name="Equation" r:id="rId9" imgW="1422400" imgH="800100" progId="Equation.3">
                  <p:embed/>
                </p:oleObj>
              </mc:Choice>
              <mc:Fallback>
                <p:oleObj name="Equation" r:id="rId9" imgW="1422400" imgH="800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3132" y="4875275"/>
                        <a:ext cx="2804135" cy="1599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433" y="5861721"/>
            <a:ext cx="1458366" cy="540864"/>
          </a:xfrm>
          <a:prstGeom prst="rect">
            <a:avLst/>
          </a:prstGeom>
        </p:spPr>
      </p:pic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3407910" y="1547101"/>
            <a:ext cx="2161926" cy="236222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17583" y="1313298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95396" y="2935391"/>
            <a:ext cx="349134" cy="520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四、钟控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T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31600" y="59913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特征方程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167847" y="1689795"/>
            <a:ext cx="18373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CP=0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879" y="2388876"/>
            <a:ext cx="2036428" cy="75524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</p:pic>
      <p:sp>
        <p:nvSpPr>
          <p:cNvPr id="22" name="Text Box 28"/>
          <p:cNvSpPr txBox="1">
            <a:spLocks noChangeArrowheads="1"/>
          </p:cNvSpPr>
          <p:nvPr/>
        </p:nvSpPr>
        <p:spPr bwMode="auto">
          <a:xfrm>
            <a:off x="167847" y="3517081"/>
            <a:ext cx="18373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CP=1</a:t>
            </a:r>
            <a:r>
              <a:rPr kumimoji="1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kumimoji="1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endParaRPr kumimoji="1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右大括号 7"/>
          <p:cNvSpPr/>
          <p:nvPr/>
        </p:nvSpPr>
        <p:spPr>
          <a:xfrm>
            <a:off x="3006164" y="2025309"/>
            <a:ext cx="593558" cy="2739189"/>
          </a:xfrm>
          <a:prstGeom prst="righ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Group 27"/>
          <p:cNvGrpSpPr/>
          <p:nvPr/>
        </p:nvGrpSpPr>
        <p:grpSpPr bwMode="auto">
          <a:xfrm>
            <a:off x="3460777" y="2920117"/>
            <a:ext cx="5435601" cy="1379538"/>
            <a:chOff x="2388" y="3057"/>
            <a:chExt cx="3424" cy="869"/>
          </a:xfrm>
        </p:grpSpPr>
        <p:grpSp>
          <p:nvGrpSpPr>
            <p:cNvPr id="29" name="Group 25"/>
            <p:cNvGrpSpPr/>
            <p:nvPr/>
          </p:nvGrpSpPr>
          <p:grpSpPr bwMode="auto">
            <a:xfrm>
              <a:off x="2388" y="3057"/>
              <a:ext cx="3424" cy="869"/>
              <a:chOff x="556" y="3057"/>
              <a:chExt cx="3786" cy="869"/>
            </a:xfrm>
          </p:grpSpPr>
          <p:sp>
            <p:nvSpPr>
              <p:cNvPr id="31" name="Text Box 21"/>
              <p:cNvSpPr txBox="1">
                <a:spLocks noChangeArrowheads="1"/>
              </p:cNvSpPr>
              <p:nvPr/>
            </p:nvSpPr>
            <p:spPr bwMode="auto">
              <a:xfrm>
                <a:off x="835" y="3057"/>
                <a:ext cx="3328" cy="3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隶书" panose="02010509060101010101" charset="-122"/>
                  </a:rPr>
                  <a:t>将时钟信号引入特征方程</a:t>
                </a:r>
                <a:endParaRPr kumimoji="1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隶书" panose="02010509060101010101" charset="-122"/>
                </a:endParaRPr>
              </a:p>
            </p:txBody>
          </p:sp>
          <p:sp>
            <p:nvSpPr>
              <p:cNvPr id="32" name="Rectangle 22"/>
              <p:cNvSpPr>
                <a:spLocks noChangeArrowheads="1"/>
              </p:cNvSpPr>
              <p:nvPr/>
            </p:nvSpPr>
            <p:spPr bwMode="auto">
              <a:xfrm>
                <a:off x="556" y="3077"/>
                <a:ext cx="3786" cy="84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30" name="Object 24"/>
            <p:cNvGraphicFramePr>
              <a:graphicFrameLocks noChangeAspect="1"/>
            </p:cNvGraphicFramePr>
            <p:nvPr/>
          </p:nvGraphicFramePr>
          <p:xfrm>
            <a:off x="2445" y="3423"/>
            <a:ext cx="3267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02" name="Equation" r:id="rId4" imgW="50292000" imgH="6096000" progId="Equation.DSMT4">
                    <p:embed/>
                  </p:oleObj>
                </mc:Choice>
                <mc:Fallback>
                  <p:oleObj name="Equation" r:id="rId4" imgW="50292000" imgH="6096000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5" y="3423"/>
                          <a:ext cx="3267" cy="397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9"/>
          <p:cNvGraphicFramePr>
            <a:graphicFrameLocks noChangeAspect="1"/>
          </p:cNvGraphicFramePr>
          <p:nvPr/>
        </p:nvGraphicFramePr>
        <p:xfrm>
          <a:off x="202029" y="4407347"/>
          <a:ext cx="2804135" cy="159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3" name="Equation" r:id="rId6" imgW="1422400" imgH="800100" progId="Equation.3">
                  <p:embed/>
                </p:oleObj>
              </mc:Choice>
              <mc:Fallback>
                <p:oleObj name="Equation" r:id="rId6" imgW="1422400" imgH="800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029" y="4407347"/>
                        <a:ext cx="2804135" cy="1599662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429706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四、钟控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T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触发器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3431600" y="599133"/>
            <a:ext cx="3031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功能表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0" name="Object 24"/>
          <p:cNvGraphicFramePr>
            <a:graphicFrameLocks noChangeAspect="1"/>
          </p:cNvGraphicFramePr>
          <p:nvPr/>
        </p:nvGraphicFramePr>
        <p:xfrm>
          <a:off x="451880" y="1639968"/>
          <a:ext cx="5743678" cy="69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Equation" r:id="rId3" imgW="50292000" imgH="6096000" progId="Equation.DSMT4">
                  <p:embed/>
                </p:oleObj>
              </mc:Choice>
              <mc:Fallback>
                <p:oleObj name="Equation" r:id="rId3" imgW="50292000" imgH="6096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80" y="1639968"/>
                        <a:ext cx="5743678" cy="69796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95" y="3028309"/>
            <a:ext cx="4704929" cy="2418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框 18"/>
          <p:cNvSpPr txBox="1"/>
          <p:nvPr/>
        </p:nvSpPr>
        <p:spPr>
          <a:xfrm>
            <a:off x="5511191" y="2948092"/>
            <a:ext cx="2759263" cy="2578783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触发器的输入信号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没有约束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限制条件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85750" indent="-285750">
              <a:lnSpc>
                <a:spcPct val="13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可实现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保持和翻转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电平触发的触发器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sp>
        <p:nvSpPr>
          <p:cNvPr id="121" name="Text Box 46" descr="花束"/>
          <p:cNvSpPr txBox="1">
            <a:spLocks noChangeArrowheads="1"/>
          </p:cNvSpPr>
          <p:nvPr/>
        </p:nvSpPr>
        <p:spPr bwMode="auto">
          <a:xfrm>
            <a:off x="191806" y="620964"/>
            <a:ext cx="559210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长城楷体" pitchFamily="1" charset="-122"/>
              </a:rPr>
              <a:t>五、电平触发方式的动作特点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长城楷体" pitchFamily="1" charset="-122"/>
            </a:endParaRPr>
          </a:p>
        </p:txBody>
      </p:sp>
      <p:sp>
        <p:nvSpPr>
          <p:cNvPr id="90" name="Text Box 5"/>
          <p:cNvSpPr txBox="1">
            <a:spLocks noChangeArrowheads="1"/>
          </p:cNvSpPr>
          <p:nvPr/>
        </p:nvSpPr>
        <p:spPr bwMode="auto">
          <a:xfrm>
            <a:off x="147525" y="1180575"/>
            <a:ext cx="884894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只有当</a:t>
            </a:r>
            <a:r>
              <a:rPr lang="zh-CN" altLang="en-US" sz="2800" b="1" dirty="0">
                <a:ea typeface="宋体" panose="02010600030101010101" pitchFamily="2" charset="-122"/>
              </a:rPr>
              <a:t>C</a:t>
            </a:r>
            <a:r>
              <a:rPr lang="en-US" altLang="zh-CN" sz="2800" b="1" dirty="0">
                <a:ea typeface="宋体" panose="02010600030101010101" pitchFamily="2" charset="-122"/>
              </a:rPr>
              <a:t>P</a:t>
            </a:r>
            <a:r>
              <a:rPr lang="zh-CN" altLang="en-US" sz="2800" b="1" dirty="0"/>
              <a:t>变为</a:t>
            </a:r>
            <a:r>
              <a:rPr lang="zh-CN" altLang="en-US" sz="2800" b="1" dirty="0">
                <a:solidFill>
                  <a:srgbClr val="CC3300"/>
                </a:solidFill>
              </a:rPr>
              <a:t>有效电平</a:t>
            </a:r>
            <a:r>
              <a:rPr lang="zh-CN" altLang="en-US" sz="2800" b="1" dirty="0"/>
              <a:t>时，触发器才能接受输入信号，并根据输入信号将触发器的输出置成相应的状态</a:t>
            </a:r>
            <a:endParaRPr lang="zh-CN" altLang="en-US" sz="2800" b="1" dirty="0"/>
          </a:p>
        </p:txBody>
      </p:sp>
      <p:sp>
        <p:nvSpPr>
          <p:cNvPr id="91" name="Rectangle 6"/>
          <p:cNvSpPr>
            <a:spLocks noChangeArrowheads="1"/>
          </p:cNvSpPr>
          <p:nvPr/>
        </p:nvSpPr>
        <p:spPr bwMode="auto">
          <a:xfrm>
            <a:off x="191806" y="3423552"/>
            <a:ext cx="820737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/>
              <a:t>在</a:t>
            </a:r>
            <a:r>
              <a:rPr lang="zh-CN" altLang="en-US" sz="2800" b="1" i="1" dirty="0">
                <a:solidFill>
                  <a:srgbClr val="CC3300"/>
                </a:solidFill>
              </a:rPr>
              <a:t>C</a:t>
            </a:r>
            <a:r>
              <a:rPr lang="en-US" altLang="zh-CN" sz="2800" b="1" i="1" dirty="0">
                <a:solidFill>
                  <a:srgbClr val="CC3300"/>
                </a:solidFill>
              </a:rPr>
              <a:t>P</a:t>
            </a:r>
            <a:r>
              <a:rPr lang="zh-CN" altLang="en-US" sz="2800" b="1" dirty="0">
                <a:solidFill>
                  <a:srgbClr val="CC3300"/>
                </a:solidFill>
              </a:rPr>
              <a:t>为有效电平</a:t>
            </a:r>
            <a:r>
              <a:rPr lang="zh-CN" altLang="en-US" sz="2800" b="1" dirty="0"/>
              <a:t>的</a:t>
            </a:r>
            <a:r>
              <a:rPr lang="zh-CN" altLang="en-US" sz="2800" b="1" dirty="0">
                <a:solidFill>
                  <a:srgbClr val="CC3300"/>
                </a:solidFill>
              </a:rPr>
              <a:t>全部</a:t>
            </a:r>
            <a:r>
              <a:rPr lang="zh-CN" altLang="en-US" sz="2800" b="1" dirty="0"/>
              <a:t>时间里，输入信号的变化都将引起触发器输出状态的变化</a:t>
            </a:r>
            <a:endParaRPr lang="zh-CN" altLang="en-US" sz="2800" b="1" dirty="0">
              <a:solidFill>
                <a:srgbClr val="FFFF66"/>
              </a:solidFill>
            </a:endParaRPr>
          </a:p>
        </p:txBody>
      </p:sp>
      <p:sp>
        <p:nvSpPr>
          <p:cNvPr id="92" name="Rectangle 7"/>
          <p:cNvSpPr>
            <a:spLocks noChangeArrowheads="1"/>
          </p:cNvSpPr>
          <p:nvPr/>
        </p:nvSpPr>
        <p:spPr bwMode="auto">
          <a:xfrm>
            <a:off x="191806" y="4650898"/>
            <a:ext cx="884894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楷体_GB2312" pitchFamily="49" charset="-122"/>
              </a:rPr>
              <a:t>在</a:t>
            </a:r>
            <a:r>
              <a:rPr lang="zh-CN" altLang="en-US" sz="2800" b="1" dirty="0">
                <a:solidFill>
                  <a:srgbClr val="3333FF"/>
                </a:solidFill>
              </a:rPr>
              <a:t>C</a:t>
            </a:r>
            <a:r>
              <a:rPr lang="en-US" altLang="zh-CN" sz="2800" b="1" dirty="0">
                <a:solidFill>
                  <a:srgbClr val="3333FF"/>
                </a:solidFill>
              </a:rPr>
              <a:t>P</a:t>
            </a:r>
            <a:r>
              <a:rPr lang="zh-CN" altLang="en-US" sz="2800" b="1" dirty="0">
                <a:solidFill>
                  <a:srgbClr val="3333FF"/>
                </a:solidFill>
              </a:rPr>
              <a:t>有效电平</a:t>
            </a:r>
            <a:r>
              <a:rPr lang="zh-CN" altLang="en-US" sz="2800" b="1" dirty="0">
                <a:latin typeface="楷体_GB2312" pitchFamily="49" charset="-122"/>
              </a:rPr>
              <a:t>期间,若输入信号</a:t>
            </a:r>
            <a:r>
              <a:rPr lang="zh-CN" altLang="en-US" sz="2800" b="1" dirty="0">
                <a:solidFill>
                  <a:srgbClr val="3333FF"/>
                </a:solidFill>
                <a:latin typeface="楷体_GB2312" pitchFamily="49" charset="-122"/>
              </a:rPr>
              <a:t>多次发生变化</a:t>
            </a:r>
            <a:r>
              <a:rPr lang="zh-CN" altLang="en-US" sz="2800" b="1" dirty="0">
                <a:latin typeface="楷体_GB2312" pitchFamily="49" charset="-122"/>
              </a:rPr>
              <a:t>，则触发器状态将</a:t>
            </a:r>
            <a:r>
              <a:rPr lang="zh-CN" altLang="en-US" sz="2800" b="1" dirty="0">
                <a:solidFill>
                  <a:srgbClr val="3333FF"/>
                </a:solidFill>
                <a:latin typeface="楷体_GB2312" pitchFamily="49" charset="-122"/>
              </a:rPr>
              <a:t>多次翻转</a:t>
            </a:r>
            <a:r>
              <a:rPr lang="zh-CN" altLang="en-US" sz="2800" b="1" dirty="0">
                <a:latin typeface="楷体_GB2312" pitchFamily="49" charset="-122"/>
              </a:rPr>
              <a:t>，从而降低了电路的抗干扰能力</a:t>
            </a:r>
            <a:endParaRPr lang="zh-CN" altLang="en-US" sz="2800" b="1" dirty="0">
              <a:latin typeface="楷体_GB2312" pitchFamily="49" charset="-122"/>
            </a:endParaRPr>
          </a:p>
        </p:txBody>
      </p:sp>
      <p:sp>
        <p:nvSpPr>
          <p:cNvPr id="93" name="AutoShape 8"/>
          <p:cNvSpPr>
            <a:spLocks noChangeArrowheads="1"/>
          </p:cNvSpPr>
          <p:nvPr/>
        </p:nvSpPr>
        <p:spPr bwMode="auto">
          <a:xfrm>
            <a:off x="2102284" y="5770213"/>
            <a:ext cx="5688012" cy="863600"/>
          </a:xfrm>
          <a:prstGeom prst="wedgeRectCallout">
            <a:avLst>
              <a:gd name="adj1" fmla="val -37139"/>
              <a:gd name="adj2" fmla="val -87792"/>
            </a:avLst>
          </a:prstGeom>
          <a:solidFill>
            <a:schemeClr val="bg1">
              <a:alpha val="75999"/>
            </a:schemeClr>
          </a:solidFill>
          <a:ln w="9525" cmpd="sng">
            <a:solidFill>
              <a:srgbClr val="00CC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电平触发器在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有效电平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期间，输出发生多次翻转的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现象称为</a:t>
            </a:r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空翻</a:t>
            </a:r>
            <a:r>
              <a:rPr lang="zh-CN" altLang="en-US" sz="2400" b="1" dirty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b="1" dirty="0">
              <a:solidFill>
                <a:srgbClr val="CC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4" name="AutoShape 9"/>
          <p:cNvSpPr>
            <a:spLocks noChangeArrowheads="1"/>
          </p:cNvSpPr>
          <p:nvPr/>
        </p:nvSpPr>
        <p:spPr bwMode="auto">
          <a:xfrm>
            <a:off x="1720679" y="2345452"/>
            <a:ext cx="5545137" cy="804862"/>
          </a:xfrm>
          <a:prstGeom prst="wedgeRectCallout">
            <a:avLst>
              <a:gd name="adj1" fmla="val -10778"/>
              <a:gd name="adj2" fmla="val -140510"/>
            </a:avLst>
          </a:prstGeom>
          <a:solidFill>
            <a:srgbClr val="CCECFF">
              <a:alpha val="50000"/>
            </a:srgbClr>
          </a:solidFill>
          <a:ln w="9525" cmpd="sng">
            <a:solidFill>
              <a:srgbClr val="00CC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1 期间翻转的称正电平触发式；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</a:pP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C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en-US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 0 期间翻转的称负电平触发式。 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ldLvl="0" autoUpdateAnimBg="0"/>
      <p:bldP spid="91" grpId="0"/>
      <p:bldP spid="92" grpId="0"/>
      <p:bldP spid="93" grpId="0" animBg="1"/>
      <p:bldP spid="9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84" y="1053357"/>
            <a:ext cx="7277276" cy="23934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64339" y="615323"/>
            <a:ext cx="2144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第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章习题</a:t>
            </a:r>
            <a:endParaRPr lang="zh-CN" altLang="en-US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84" y="3602427"/>
            <a:ext cx="7135683" cy="311441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3" y="859624"/>
            <a:ext cx="8255829" cy="1575477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1379467" y="1083480"/>
            <a:ext cx="11184" cy="2776538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1769992" y="1083479"/>
            <a:ext cx="8859" cy="3045199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203504" y="1083467"/>
            <a:ext cx="20247" cy="3010622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4646544" y="1088230"/>
            <a:ext cx="12896" cy="3040448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159165" y="1078704"/>
            <a:ext cx="14581" cy="3644109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6486236" y="1109202"/>
            <a:ext cx="11184" cy="3634583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422224" y="1109202"/>
            <a:ext cx="10025" cy="3564077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619125" y="3248025"/>
            <a:ext cx="1162051" cy="142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781176" y="3248025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V="1">
            <a:off x="1769992" y="3855242"/>
            <a:ext cx="1459277" cy="9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3213030" y="3252787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V="1">
            <a:off x="3201792" y="3248023"/>
            <a:ext cx="1455936" cy="71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4657876" y="3238498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4646692" y="3855240"/>
            <a:ext cx="527054" cy="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V="1">
            <a:off x="6464025" y="3226879"/>
            <a:ext cx="969382" cy="71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6486236" y="3357662"/>
            <a:ext cx="95704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不定态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aphicFrame>
        <p:nvGraphicFramePr>
          <p:cNvPr id="56" name="对象 55"/>
          <p:cNvGraphicFramePr>
            <a:graphicFrameLocks noChangeAspect="1"/>
          </p:cNvGraphicFramePr>
          <p:nvPr/>
        </p:nvGraphicFramePr>
        <p:xfrm>
          <a:off x="261282" y="3059429"/>
          <a:ext cx="293610" cy="39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0" name="Equation" r:id="rId3" imgW="3657600" imgH="4876800" progId="Equation.DSMT4">
                  <p:embed/>
                </p:oleObj>
              </mc:Choice>
              <mc:Fallback>
                <p:oleObj name="Equation" r:id="rId3" imgW="3657600" imgH="4876800" progId="Equation.DSMT4">
                  <p:embed/>
                  <p:pic>
                    <p:nvPicPr>
                      <p:cNvPr id="0" name="图片 2564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1282" y="3059429"/>
                        <a:ext cx="293610" cy="391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/>
          <p:cNvGraphicFramePr>
            <a:graphicFrameLocks noChangeAspect="1"/>
          </p:cNvGraphicFramePr>
          <p:nvPr/>
        </p:nvGraphicFramePr>
        <p:xfrm>
          <a:off x="289080" y="4440710"/>
          <a:ext cx="293688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1" name="Equation" r:id="rId5" imgW="3657600" imgH="5791200" progId="Equation.DSMT4">
                  <p:embed/>
                </p:oleObj>
              </mc:Choice>
              <mc:Fallback>
                <p:oleObj name="Equation" r:id="rId5" imgW="3657600" imgH="5791200" progId="Equation.DSMT4">
                  <p:embed/>
                  <p:pic>
                    <p:nvPicPr>
                      <p:cNvPr id="0" name="图片 2565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89080" y="4440710"/>
                        <a:ext cx="293688" cy="465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8" name="直接连接符 57"/>
          <p:cNvCxnSpPr/>
          <p:nvPr/>
        </p:nvCxnSpPr>
        <p:spPr>
          <a:xfrm flipV="1">
            <a:off x="633556" y="4666135"/>
            <a:ext cx="1162051" cy="142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1781176" y="4057094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1769992" y="4064038"/>
            <a:ext cx="1459277" cy="952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3213030" y="4061856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3209096" y="4675308"/>
            <a:ext cx="1455936" cy="71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4657876" y="4047567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4646692" y="4064038"/>
            <a:ext cx="527054" cy="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6464025" y="4687569"/>
            <a:ext cx="9682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6497421" y="4207615"/>
            <a:ext cx="92364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不定态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42" name="直接连接符 41"/>
          <p:cNvCxnSpPr/>
          <p:nvPr/>
        </p:nvCxnSpPr>
        <p:spPr>
          <a:xfrm>
            <a:off x="5170403" y="3235354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5159165" y="3235354"/>
            <a:ext cx="1327071" cy="23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5170349" y="4055803"/>
            <a:ext cx="2272928" cy="584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6486235" y="3855240"/>
            <a:ext cx="969382" cy="714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97420" y="3248023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6497420" y="4075066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7431894" y="3226879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432149" y="4080352"/>
            <a:ext cx="0" cy="60721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443277" y="3234025"/>
            <a:ext cx="69440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431894" y="4068422"/>
            <a:ext cx="705789" cy="119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1346126" y="615323"/>
            <a:ext cx="76946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淘宝网chenying0907出品 6"/>
          <p:cNvSpPr txBox="1"/>
          <p:nvPr/>
        </p:nvSpPr>
        <p:spPr>
          <a:xfrm>
            <a:off x="1564918" y="50071"/>
            <a:ext cx="48118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4472C4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3200" b="1" dirty="0">
              <a:solidFill>
                <a:srgbClr val="4472C4">
                  <a:lumMod val="7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35167" cy="61532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60" y="852476"/>
            <a:ext cx="7534330" cy="2933721"/>
          </a:xfrm>
          <a:prstGeom prst="rect">
            <a:avLst/>
          </a:prstGeom>
        </p:spPr>
      </p:pic>
      <p:cxnSp>
        <p:nvCxnSpPr>
          <p:cNvPr id="46" name="直接连接符 45"/>
          <p:cNvCxnSpPr/>
          <p:nvPr/>
        </p:nvCxnSpPr>
        <p:spPr>
          <a:xfrm>
            <a:off x="2793847" y="1612114"/>
            <a:ext cx="6421" cy="320277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4960871" y="1119188"/>
            <a:ext cx="6421" cy="3695696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5910124" y="1602593"/>
            <a:ext cx="6421" cy="320277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 flipH="1">
            <a:off x="6159387" y="1123951"/>
            <a:ext cx="8051" cy="3686175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6935628" y="1602593"/>
            <a:ext cx="6421" cy="320277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7175442" y="1119188"/>
            <a:ext cx="3211" cy="3695696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1238250" y="4810126"/>
            <a:ext cx="1562018" cy="47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>
            <a:off x="1763677" y="1602593"/>
            <a:ext cx="6421" cy="320277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2793847" y="4167188"/>
            <a:ext cx="6421" cy="6476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2793847" y="4167188"/>
            <a:ext cx="217344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843127" y="1602593"/>
            <a:ext cx="6421" cy="3202770"/>
          </a:xfrm>
          <a:prstGeom prst="line">
            <a:avLst/>
          </a:prstGeom>
          <a:ln w="254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flipV="1">
            <a:off x="4961093" y="4157667"/>
            <a:ext cx="6421" cy="6476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4967292" y="4800597"/>
            <a:ext cx="949253" cy="47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5913328" y="4167188"/>
            <a:ext cx="6421" cy="6476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919749" y="4162423"/>
            <a:ext cx="1014451" cy="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V="1">
            <a:off x="6932764" y="4152901"/>
            <a:ext cx="6421" cy="64769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6938963" y="4795831"/>
            <a:ext cx="949253" cy="4766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822254" y="4524376"/>
            <a:ext cx="385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6640592" y="4194740"/>
            <a:ext cx="58135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www.1ppt.com/moban/     </a:t>
            </a:r>
            <a:r>
              <a:rPr lang="zh-CN" altLang="en-US" sz="100" kern="0" dirty="0">
                <a:solidFill>
                  <a:prstClr val="white"/>
                </a:solidFill>
              </a:rPr>
              <a:t>行业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www.1ppt.com/hangye/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节日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模板：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www.1ppt.com/jieri/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素材下载：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www.1ppt.com/sucai/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背景图片：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www.1ppt.com/beijing/      PPT</a:t>
            </a:r>
            <a:r>
              <a:rPr lang="zh-CN" altLang="en-US" sz="100" kern="0" dirty="0">
                <a:solidFill>
                  <a:prstClr val="white"/>
                </a:solidFill>
              </a:rPr>
              <a:t>图表下载：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www.1ppt.com/tubiao/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优秀</a:t>
            </a:r>
            <a:r>
              <a:rPr lang="en-US" altLang="zh-CN" sz="100" kern="0" dirty="0">
                <a:solidFill>
                  <a:prstClr val="white"/>
                </a:solidFill>
              </a:rPr>
              <a:t>PPT</a:t>
            </a:r>
            <a:r>
              <a:rPr lang="zh-CN" altLang="en-US" sz="100" kern="0" dirty="0">
                <a:solidFill>
                  <a:prstClr val="white"/>
                </a:solidFill>
              </a:rPr>
              <a:t>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www.1ppt.com/xiazai/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www.1ppt.com/powerpoint/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Word</a:t>
            </a:r>
            <a:r>
              <a:rPr lang="zh-CN" altLang="en-US" sz="100" kern="0" dirty="0">
                <a:solidFill>
                  <a:prstClr val="white"/>
                </a:solidFill>
              </a:rPr>
              <a:t>教程： 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www.1ppt.com/word/              Excel</a:t>
            </a:r>
            <a:r>
              <a:rPr lang="zh-CN" altLang="en-US" sz="100" kern="0" dirty="0">
                <a:solidFill>
                  <a:prstClr val="white"/>
                </a:solidFill>
              </a:rPr>
              <a:t>教程：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www.1ppt.com/excel/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资料下载：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www.1ppt.com/ziliao/                PPT</a:t>
            </a:r>
            <a:r>
              <a:rPr lang="zh-CN" altLang="en-US" sz="100" kern="0" dirty="0">
                <a:solidFill>
                  <a:prstClr val="white"/>
                </a:solidFill>
              </a:rPr>
              <a:t>课件下载：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www.1ppt.com/kejian/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范文下载：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www.1ppt.com/fanwen/             </a:t>
            </a:r>
            <a:r>
              <a:rPr lang="zh-CN" altLang="en-US" sz="100" kern="0" dirty="0">
                <a:solidFill>
                  <a:prstClr val="white"/>
                </a:solidFill>
              </a:rPr>
              <a:t>试卷下载：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www.1ppt.com/shiti/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教案下载：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www.1ppt.com/jiaoan/        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zh-CN" altLang="en-US" sz="100" kern="0" dirty="0">
                <a:solidFill>
                  <a:prstClr val="white"/>
                </a:solidFill>
              </a:rPr>
              <a:t>字体下载：</a:t>
            </a:r>
            <a:r>
              <a:rPr lang="en-US" altLang="zh-CN" sz="100" kern="0" dirty="0">
                <a:solidFill>
                  <a:prstClr val="white"/>
                </a:solidFill>
              </a:rPr>
              <a:t>www.1ppt.com/ziti/</a:t>
            </a:r>
            <a:endParaRPr lang="en-US" altLang="zh-CN" sz="100" kern="0" dirty="0">
              <a:solidFill>
                <a:prstClr val="white"/>
              </a:solidFill>
            </a:endParaRPr>
          </a:p>
          <a:p>
            <a:pPr>
              <a:defRPr/>
            </a:pPr>
            <a:r>
              <a:rPr lang="en-US" altLang="zh-CN" sz="100" kern="0" dirty="0">
                <a:solidFill>
                  <a:prstClr val="white"/>
                </a:solidFill>
              </a:rPr>
              <a:t> </a:t>
            </a:r>
            <a:endParaRPr lang="zh-CN" altLang="en-US" sz="100" kern="0" dirty="0">
              <a:solidFill>
                <a:prstClr val="white"/>
              </a:solidFill>
            </a:endParaRPr>
          </a:p>
        </p:txBody>
      </p:sp>
      <p:sp>
        <p:nvSpPr>
          <p:cNvPr id="4" name="淘宝网chenying0907出品 3"/>
          <p:cNvSpPr/>
          <p:nvPr/>
        </p:nvSpPr>
        <p:spPr>
          <a:xfrm>
            <a:off x="0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淘宝网chenying0907出品 4"/>
          <p:cNvSpPr/>
          <p:nvPr/>
        </p:nvSpPr>
        <p:spPr>
          <a:xfrm>
            <a:off x="5791596" y="2836881"/>
            <a:ext cx="233314" cy="190892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淘宝网chenying0907出品 7"/>
          <p:cNvSpPr/>
          <p:nvPr/>
        </p:nvSpPr>
        <p:spPr>
          <a:xfrm>
            <a:off x="6046708" y="3246665"/>
            <a:ext cx="289874" cy="1485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>
            <a:off x="6024911" y="4745807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网chenying0907出品 10"/>
          <p:cNvSpPr/>
          <p:nvPr/>
        </p:nvSpPr>
        <p:spPr>
          <a:xfrm>
            <a:off x="6350719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淘宝网chenying0907出品 11"/>
          <p:cNvSpPr/>
          <p:nvPr/>
        </p:nvSpPr>
        <p:spPr>
          <a:xfrm>
            <a:off x="6676531" y="3300665"/>
            <a:ext cx="289874" cy="1431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淘宝网chenying0907出品 12"/>
          <p:cNvSpPr/>
          <p:nvPr/>
        </p:nvSpPr>
        <p:spPr>
          <a:xfrm>
            <a:off x="6980542" y="3327665"/>
            <a:ext cx="289874" cy="1404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淘宝网chenying0907出品 13"/>
          <p:cNvSpPr/>
          <p:nvPr/>
        </p:nvSpPr>
        <p:spPr>
          <a:xfrm>
            <a:off x="7284553" y="3354665"/>
            <a:ext cx="289874" cy="1377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淘宝网chenying0907出品 14"/>
          <p:cNvSpPr/>
          <p:nvPr/>
        </p:nvSpPr>
        <p:spPr>
          <a:xfrm>
            <a:off x="7601500" y="3381665"/>
            <a:ext cx="289874" cy="135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淘宝网chenying0907出品 15"/>
          <p:cNvSpPr/>
          <p:nvPr/>
        </p:nvSpPr>
        <p:spPr>
          <a:xfrm rot="20959521">
            <a:off x="8008894" y="3420032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淘宝网chenying0907出品 16"/>
          <p:cNvSpPr/>
          <p:nvPr/>
        </p:nvSpPr>
        <p:spPr>
          <a:xfrm rot="19779136">
            <a:off x="8519314" y="3451229"/>
            <a:ext cx="289874" cy="129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/>
        </p:nvCxnSpPr>
        <p:spPr>
          <a:xfrm>
            <a:off x="233316" y="474580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33316" y="285101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233315" y="4195517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网chenying0907出品 21"/>
          <p:cNvSpPr txBox="1"/>
          <p:nvPr/>
        </p:nvSpPr>
        <p:spPr>
          <a:xfrm>
            <a:off x="1550958" y="3076801"/>
            <a:ext cx="2882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zh-CN" altLang="en-US" sz="5400" b="1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淘宝网chenying0907出品 22"/>
          <p:cNvSpPr txBox="1"/>
          <p:nvPr/>
        </p:nvSpPr>
        <p:spPr>
          <a:xfrm>
            <a:off x="651868" y="4297539"/>
            <a:ext cx="1824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淘宝网chenying0907出品 23"/>
          <p:cNvSpPr txBox="1"/>
          <p:nvPr/>
        </p:nvSpPr>
        <p:spPr>
          <a:xfrm>
            <a:off x="2871046" y="4297540"/>
            <a:ext cx="2712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B962C8B-B14F-4D97-AF65-F5344CB8AC3E}" type="datetime1"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淘宝网chenying0907出品 25"/>
          <p:cNvSpPr txBox="1"/>
          <p:nvPr/>
        </p:nvSpPr>
        <p:spPr>
          <a:xfrm>
            <a:off x="920435" y="287549"/>
            <a:ext cx="2085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武汉大学</a:t>
            </a:r>
            <a:endParaRPr lang="en-US" altLang="zh-CN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r>
              <a:rPr lang="en-US" altLang="zh-CN" b="1" dirty="0">
                <a:latin typeface="华文行楷" panose="02010800040101010101" pitchFamily="2" charset="-122"/>
                <a:ea typeface="华文行楷" panose="02010800040101010101" pitchFamily="2" charset="-122"/>
              </a:rPr>
              <a:t>    Wuhan University</a:t>
            </a:r>
            <a:endParaRPr lang="zh-CN" altLang="en-US" b="1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61"/>
            <a:ext cx="920433" cy="920433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PA" val="v3.0.1"/>
</p:tagLst>
</file>

<file path=ppt/tags/tag3.xml><?xml version="1.0" encoding="utf-8"?>
<p:tagLst xmlns:p="http://schemas.openxmlformats.org/presentationml/2006/main">
  <p:tag name="PA" val="v3.0.1"/>
</p:tagLst>
</file>

<file path=ppt/tags/tag4.xml><?xml version="1.0" encoding="utf-8"?>
<p:tagLst xmlns:p="http://schemas.openxmlformats.org/presentationml/2006/main">
  <p:tag name="PA" val="v3.0.1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PA" val="v3.0.1"/>
</p:tagLst>
</file>

<file path=ppt/tags/tag7.xml><?xml version="1.0" encoding="utf-8"?>
<p:tagLst xmlns:p="http://schemas.openxmlformats.org/presentationml/2006/main">
  <p:tag name="PA" val="v3.0.1"/>
</p:tagLst>
</file>

<file path=ppt/tags/tag8.xml><?xml version="1.0" encoding="utf-8"?>
<p:tagLst xmlns:p="http://schemas.openxmlformats.org/presentationml/2006/main">
  <p:tag name="PA" val="v3.0.1"/>
</p:tagLst>
</file>

<file path=ppt/tags/tag9.xml><?xml version="1.0" encoding="utf-8"?>
<p:tagLst xmlns:p="http://schemas.openxmlformats.org/presentationml/2006/main">
  <p:tag name="PA" val="v3.0.1"/>
</p:tagLst>
</file>

<file path=ppt/tags/tag10.xml><?xml version="1.0" encoding="utf-8"?>
<p:tagLst xmlns:p="http://schemas.openxmlformats.org/presentationml/2006/main">
  <p:tag name="PA" val="v3.0.1"/>
</p:tagLst>
</file>

<file path=ppt/tags/tag11.xml><?xml version="1.0" encoding="utf-8"?>
<p:tagLst xmlns:p="http://schemas.openxmlformats.org/presentationml/2006/main">
  <p:tag name="PA" val="v3.0.1"/>
</p:tagLst>
</file>

<file path=ppt/tags/tag12.xml><?xml version="1.0" encoding="utf-8"?>
<p:tagLst xmlns:p="http://schemas.openxmlformats.org/presentationml/2006/main">
  <p:tag name="PA" val="v3.0.1"/>
</p:tagLst>
</file>

<file path=ppt/tags/tag13.xml><?xml version="1.0" encoding="utf-8"?>
<p:tagLst xmlns:p="http://schemas.openxmlformats.org/presentationml/2006/main">
  <p:tag name="PA" val="v3.0.1"/>
</p:tagLst>
</file>

<file path=ppt/tags/tag14.xml><?xml version="1.0" encoding="utf-8"?>
<p:tagLst xmlns:p="http://schemas.openxmlformats.org/presentationml/2006/main">
  <p:tag name="PA" val="v3.0.1"/>
</p:tagLst>
</file>

<file path=ppt/tags/tag15.xml><?xml version="1.0" encoding="utf-8"?>
<p:tagLst xmlns:p="http://schemas.openxmlformats.org/presentationml/2006/main">
  <p:tag name="PA" val="v3.0.1"/>
</p:tagLst>
</file>

<file path=ppt/tags/tag16.xml><?xml version="1.0" encoding="utf-8"?>
<p:tagLst xmlns:p="http://schemas.openxmlformats.org/presentationml/2006/main">
  <p:tag name="PA" val="v3.0.1"/>
</p:tagLst>
</file>

<file path=ppt/tags/tag17.xml><?xml version="1.0" encoding="utf-8"?>
<p:tagLst xmlns:p="http://schemas.openxmlformats.org/presentationml/2006/main">
  <p:tag name="PA" val="v3.0.1"/>
</p:tagLst>
</file>

<file path=ppt/tags/tag18.xml><?xml version="1.0" encoding="utf-8"?>
<p:tagLst xmlns:p="http://schemas.openxmlformats.org/presentationml/2006/main">
  <p:tag name="PA" val="v3.0.1"/>
</p:tagLst>
</file>

<file path=ppt/tags/tag19.xml><?xml version="1.0" encoding="utf-8"?>
<p:tagLst xmlns:p="http://schemas.openxmlformats.org/presentationml/2006/main">
  <p:tag name="ISPRING_PRESENTATION_TITLE" val="PowerPoint 演示文稿3"/>
  <p:tag name="COMMONDATA" val="eyJoZGlkIjoiMDM5Zjk4NTdiZmFhODE1YWE0OTMwYzI1MDRiNWU2OTYifQ=="/>
  <p:tag name="KSO_WPP_MARK_KEY" val="1468ce86-19ed-453e-8602-30283452a395"/>
  <p:tag name="commondata" val="eyJoZGlkIjoiNDg3NzM1Mjc0YTM1YzBmZTFmNzkyMmIyZjRlNzBlMDQifQ=="/>
</p:tagLst>
</file>

<file path=ppt/theme/theme1.xml><?xml version="1.0" encoding="utf-8"?>
<a:theme xmlns:a="http://schemas.openxmlformats.org/drawingml/2006/main" name="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第一PPT，www.1ppt.com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5808</Words>
  <Application>WPS 演示</Application>
  <PresentationFormat>全屏显示(4:3)</PresentationFormat>
  <Paragraphs>1199</Paragraphs>
  <Slides>53</Slides>
  <Notes>53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91</vt:i4>
      </vt:variant>
      <vt:variant>
        <vt:lpstr>幻灯片标题</vt:lpstr>
      </vt:variant>
      <vt:variant>
        <vt:i4>53</vt:i4>
      </vt:variant>
    </vt:vector>
  </HeadingPairs>
  <TitlesOfParts>
    <vt:vector size="169" baseType="lpstr">
      <vt:lpstr>Arial</vt:lpstr>
      <vt:lpstr>宋体</vt:lpstr>
      <vt:lpstr>Wingdings</vt:lpstr>
      <vt:lpstr>微软雅黑</vt:lpstr>
      <vt:lpstr>华文行楷</vt:lpstr>
      <vt:lpstr>黑体</vt:lpstr>
      <vt:lpstr>Calibri</vt:lpstr>
      <vt:lpstr>Times New Roman</vt:lpstr>
      <vt:lpstr>楷体_GB2312</vt:lpstr>
      <vt:lpstr>新宋体</vt:lpstr>
      <vt:lpstr>Tahoma</vt:lpstr>
      <vt:lpstr>楷体</vt:lpstr>
      <vt:lpstr>等线</vt:lpstr>
      <vt:lpstr>Arial Unicode MS</vt:lpstr>
      <vt:lpstr>Times New Roman</vt:lpstr>
      <vt:lpstr>隶书</vt:lpstr>
      <vt:lpstr>长城楷体</vt:lpstr>
      <vt:lpstr>Cambria Math</vt:lpstr>
      <vt:lpstr>Cambria Math</vt:lpstr>
      <vt:lpstr>Symbol</vt:lpstr>
      <vt:lpstr>幼圆</vt:lpstr>
      <vt:lpstr>Calibri Light</vt:lpstr>
      <vt:lpstr>等线 Light</vt:lpstr>
      <vt:lpstr>第一PPT，www.1ppt.com</vt:lpstr>
      <vt:lpstr>1_第一PPT，www.1ppt.com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Equation.3</vt:lpstr>
      <vt:lpstr>Equation.3</vt:lpstr>
      <vt:lpstr>Equation.DSMT4</vt:lpstr>
      <vt:lpstr>Word.Document.8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Equation.DSMT4</vt:lpstr>
      <vt:lpstr>Equation.3</vt:lpstr>
      <vt:lpstr>Visio.Drawing.6</vt:lpstr>
      <vt:lpstr>Paint.Picture</vt:lpstr>
      <vt:lpstr>Equation.3</vt:lpstr>
      <vt:lpstr>Visio.Drawing.11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Visio.Drawing.6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公开课开题报告</dc:title>
  <dc:creator>第一PPT模板网-WWW.1PPT.COM</dc:creator>
  <cp:keywords>第一PPT模板网-WWW.1PPT.COM</cp:keywords>
  <cp:lastModifiedBy>刘树波</cp:lastModifiedBy>
  <cp:revision>2551</cp:revision>
  <dcterms:created xsi:type="dcterms:W3CDTF">2016-04-09T13:02:00Z</dcterms:created>
  <dcterms:modified xsi:type="dcterms:W3CDTF">2024-01-11T03:48:32Z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DA51DCEC76B74BDA945CD9BD89CF55E1_12</vt:lpwstr>
  </property>
</Properties>
</file>