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86" r:id="rId3"/>
    <p:sldId id="513" r:id="rId5"/>
    <p:sldId id="459" r:id="rId6"/>
    <p:sldId id="514" r:id="rId7"/>
    <p:sldId id="515" r:id="rId8"/>
    <p:sldId id="554" r:id="rId9"/>
    <p:sldId id="516" r:id="rId10"/>
    <p:sldId id="517" r:id="rId11"/>
    <p:sldId id="543" r:id="rId12"/>
    <p:sldId id="544" r:id="rId13"/>
    <p:sldId id="545" r:id="rId14"/>
    <p:sldId id="555" r:id="rId15"/>
    <p:sldId id="556" r:id="rId16"/>
    <p:sldId id="519" r:id="rId17"/>
    <p:sldId id="520" r:id="rId18"/>
    <p:sldId id="521" r:id="rId19"/>
    <p:sldId id="522" r:id="rId20"/>
    <p:sldId id="547" r:id="rId21"/>
    <p:sldId id="523" r:id="rId22"/>
    <p:sldId id="524" r:id="rId23"/>
    <p:sldId id="525" r:id="rId24"/>
    <p:sldId id="526" r:id="rId25"/>
    <p:sldId id="527" r:id="rId26"/>
    <p:sldId id="528" r:id="rId27"/>
    <p:sldId id="529" r:id="rId28"/>
    <p:sldId id="546" r:id="rId29"/>
    <p:sldId id="542" r:id="rId30"/>
    <p:sldId id="530" r:id="rId31"/>
    <p:sldId id="531" r:id="rId32"/>
    <p:sldId id="532" r:id="rId33"/>
    <p:sldId id="533" r:id="rId34"/>
    <p:sldId id="534" r:id="rId35"/>
    <p:sldId id="548" r:id="rId36"/>
    <p:sldId id="535" r:id="rId37"/>
    <p:sldId id="536" r:id="rId38"/>
    <p:sldId id="537" r:id="rId39"/>
    <p:sldId id="538" r:id="rId40"/>
    <p:sldId id="539" r:id="rId41"/>
    <p:sldId id="540" r:id="rId42"/>
    <p:sldId id="549" r:id="rId43"/>
    <p:sldId id="541" r:id="rId44"/>
    <p:sldId id="550" r:id="rId45"/>
    <p:sldId id="557" r:id="rId46"/>
    <p:sldId id="558" r:id="rId47"/>
    <p:sldId id="559" r:id="rId48"/>
    <p:sldId id="560" r:id="rId49"/>
    <p:sldId id="561" r:id="rId50"/>
    <p:sldId id="562" r:id="rId51"/>
    <p:sldId id="551" r:id="rId52"/>
    <p:sldId id="552" r:id="rId53"/>
    <p:sldId id="553" r:id="rId54"/>
    <p:sldId id="279" r:id="rId55"/>
  </p:sldIdLst>
  <p:sldSz cx="9144000" cy="6858000" type="screen4x3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0000FF"/>
    <a:srgbClr val="2B56F5"/>
    <a:srgbClr val="170A8E"/>
    <a:srgbClr val="CC9900"/>
    <a:srgbClr val="1F4E79"/>
    <a:srgbClr val="3D74A7"/>
    <a:srgbClr val="5B9BD5"/>
    <a:srgbClr val="EAEFF7"/>
    <a:srgbClr val="D2D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80480" autoAdjust="0"/>
  </p:normalViewPr>
  <p:slideViewPr>
    <p:cSldViewPr snapToGrid="0" showGuides="1">
      <p:cViewPr varScale="1">
        <p:scale>
          <a:sx n="89" d="100"/>
          <a:sy n="89" d="100"/>
        </p:scale>
        <p:origin x="-1368" y="-13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gs" Target="tags/tag1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png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67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oleObject" Target="../embeddings/oleObject2.bin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oleObject" Target="../embeddings/oleObject8.bin"/><Relationship Id="rId7" Type="http://schemas.openxmlformats.org/officeDocument/2006/relationships/image" Target="../media/image16.wmf"/><Relationship Id="rId6" Type="http://schemas.openxmlformats.org/officeDocument/2006/relationships/oleObject" Target="../embeddings/oleObject7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6.bin"/><Relationship Id="rId3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2" Type="http://schemas.openxmlformats.org/officeDocument/2006/relationships/notesSlide" Target="../notesSlides/notesSlide10.xml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2.wmf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9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4.png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33.png"/><Relationship Id="rId10" Type="http://schemas.openxmlformats.org/officeDocument/2006/relationships/notesSlide" Target="../notesSlides/notesSlide20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9.emf"/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3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45.wmf"/><Relationship Id="rId2" Type="http://schemas.openxmlformats.org/officeDocument/2006/relationships/oleObject" Target="../embeddings/oleObject22.bin"/><Relationship Id="rId1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6.wmf"/><Relationship Id="rId1" Type="http://schemas.openxmlformats.org/officeDocument/2006/relationships/oleObject" Target="../embeddings/oleObject23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vmlDrawing" Target="../drawings/vmlDrawing15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1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24.bin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vmlDrawing" Target="../drawings/vmlDrawing16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54.wmf"/><Relationship Id="rId1" Type="http://schemas.openxmlformats.org/officeDocument/2006/relationships/oleObject" Target="../embeddings/oleObject26.bin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9.xml"/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6.wmf"/><Relationship Id="rId3" Type="http://schemas.openxmlformats.org/officeDocument/2006/relationships/image" Target="../media/image2.png"/><Relationship Id="rId2" Type="http://schemas.openxmlformats.org/officeDocument/2006/relationships/image" Target="../media/image55.wmf"/><Relationship Id="rId1" Type="http://schemas.openxmlformats.org/officeDocument/2006/relationships/oleObject" Target="../embeddings/oleObject27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57.png"/><Relationship Id="rId1" Type="http://schemas.openxmlformats.org/officeDocument/2006/relationships/oleObject" Target="../embeddings/oleObject28.bin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vmlDrawing" Target="../drawings/vmlDrawing19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58.png"/><Relationship Id="rId1" Type="http://schemas.openxmlformats.org/officeDocument/2006/relationships/oleObject" Target="../embeddings/oleObject29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3.xml"/><Relationship Id="rId7" Type="http://schemas.openxmlformats.org/officeDocument/2006/relationships/vmlDrawing" Target="../drawings/vmlDrawing20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31.bin"/><Relationship Id="rId3" Type="http://schemas.openxmlformats.org/officeDocument/2006/relationships/image" Target="../media/image59.wmf"/><Relationship Id="rId2" Type="http://schemas.openxmlformats.org/officeDocument/2006/relationships/oleObject" Target="../embeddings/oleObject30.bin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vmlDrawing" Target="../drawings/vmlDrawing2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1.wmf"/><Relationship Id="rId2" Type="http://schemas.openxmlformats.org/officeDocument/2006/relationships/oleObject" Target="../embeddings/oleObject32.bin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5.xml"/><Relationship Id="rId6" Type="http://schemas.openxmlformats.org/officeDocument/2006/relationships/vmlDrawing" Target="../drawings/vmlDrawing2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3.png"/><Relationship Id="rId3" Type="http://schemas.openxmlformats.org/officeDocument/2006/relationships/image" Target="../media/image62.wmf"/><Relationship Id="rId2" Type="http://schemas.openxmlformats.org/officeDocument/2006/relationships/oleObject" Target="../embeddings/oleObject33.bin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vmlDrawing" Target="../drawings/vmlDrawing23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4.wmf"/><Relationship Id="rId2" Type="http://schemas.openxmlformats.org/officeDocument/2006/relationships/oleObject" Target="../embeddings/oleObject34.bin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7.xml"/><Relationship Id="rId5" Type="http://schemas.openxmlformats.org/officeDocument/2006/relationships/vmlDrawing" Target="../drawings/vmlDrawing24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5.wmf"/><Relationship Id="rId2" Type="http://schemas.openxmlformats.org/officeDocument/2006/relationships/oleObject" Target="../embeddings/oleObject35.bin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6.png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9.xml"/><Relationship Id="rId5" Type="http://schemas.openxmlformats.org/officeDocument/2006/relationships/vmlDrawing" Target="../drawings/vmlDrawing25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7.wmf"/><Relationship Id="rId2" Type="http://schemas.openxmlformats.org/officeDocument/2006/relationships/oleObject" Target="../embeddings/oleObject36.bin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0.xml"/><Relationship Id="rId7" Type="http://schemas.openxmlformats.org/officeDocument/2006/relationships/vmlDrawing" Target="../drawings/vmlDrawing26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8.bin"/><Relationship Id="rId3" Type="http://schemas.openxmlformats.org/officeDocument/2006/relationships/image" Target="../media/image67.wmf"/><Relationship Id="rId2" Type="http://schemas.openxmlformats.org/officeDocument/2006/relationships/oleObject" Target="../embeddings/oleObject37.bin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1.xml"/><Relationship Id="rId5" Type="http://schemas.openxmlformats.org/officeDocument/2006/relationships/vmlDrawing" Target="../drawings/vmlDrawing27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5.wmf"/><Relationship Id="rId2" Type="http://schemas.openxmlformats.org/officeDocument/2006/relationships/oleObject" Target="../embeddings/oleObject39.bin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_淘宝网chenying0907出品 25"/>
          <p:cNvSpPr txBox="1"/>
          <p:nvPr/>
        </p:nvSpPr>
        <p:spPr>
          <a:xfrm>
            <a:off x="920434" y="270442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57"/>
            <a:ext cx="920433" cy="920433"/>
          </a:xfrm>
          <a:prstGeom prst="rect">
            <a:avLst/>
          </a:prstGeom>
        </p:spPr>
      </p:pic>
      <p:sp>
        <p:nvSpPr>
          <p:cNvPr id="29" name="PA_淘宝网chenying0907出品 3"/>
          <p:cNvSpPr/>
          <p:nvPr/>
        </p:nvSpPr>
        <p:spPr>
          <a:xfrm>
            <a:off x="0" y="2065808"/>
            <a:ext cx="233314" cy="33610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0" name="PA_淘宝网chenying0907出品 4"/>
          <p:cNvSpPr/>
          <p:nvPr/>
        </p:nvSpPr>
        <p:spPr>
          <a:xfrm>
            <a:off x="5791593" y="2065808"/>
            <a:ext cx="233314" cy="33610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1" name="PA_淘宝网chenying0907出品 7"/>
          <p:cNvSpPr/>
          <p:nvPr/>
        </p:nvSpPr>
        <p:spPr>
          <a:xfrm>
            <a:off x="6046707" y="3927756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cxnSp>
        <p:nvCxnSpPr>
          <p:cNvPr id="32" name="PA_直接连接符 9"/>
          <p:cNvCxnSpPr/>
          <p:nvPr/>
        </p:nvCxnSpPr>
        <p:spPr>
          <a:xfrm>
            <a:off x="6024908" y="5426898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PA_淘宝网chenying0907出品 10"/>
          <p:cNvSpPr/>
          <p:nvPr/>
        </p:nvSpPr>
        <p:spPr>
          <a:xfrm>
            <a:off x="6350719" y="3981756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4" name="PA_淘宝网chenying0907出品 11"/>
          <p:cNvSpPr/>
          <p:nvPr/>
        </p:nvSpPr>
        <p:spPr>
          <a:xfrm>
            <a:off x="6660738" y="3981756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5" name="PA_淘宝网chenying0907出品 12"/>
          <p:cNvSpPr/>
          <p:nvPr/>
        </p:nvSpPr>
        <p:spPr>
          <a:xfrm>
            <a:off x="6965301" y="4008756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6" name="PA_淘宝网chenying0907出品 13"/>
          <p:cNvSpPr/>
          <p:nvPr/>
        </p:nvSpPr>
        <p:spPr>
          <a:xfrm>
            <a:off x="7284553" y="4035756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7" name="PA_淘宝网chenying0907出品 14"/>
          <p:cNvSpPr/>
          <p:nvPr/>
        </p:nvSpPr>
        <p:spPr>
          <a:xfrm>
            <a:off x="7601497" y="4062756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8" name="PA_淘宝网chenying0907出品 15"/>
          <p:cNvSpPr/>
          <p:nvPr/>
        </p:nvSpPr>
        <p:spPr>
          <a:xfrm rot="20959521">
            <a:off x="8008894" y="4101123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39" name="PA_淘宝网chenying0907出品 16"/>
          <p:cNvSpPr/>
          <p:nvPr/>
        </p:nvSpPr>
        <p:spPr>
          <a:xfrm rot="19779136">
            <a:off x="8519313" y="4132320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cxnSp>
        <p:nvCxnSpPr>
          <p:cNvPr id="40" name="PA_直接连接符 17"/>
          <p:cNvCxnSpPr/>
          <p:nvPr/>
        </p:nvCxnSpPr>
        <p:spPr>
          <a:xfrm>
            <a:off x="233315" y="5426898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PA_直接连接符 19"/>
          <p:cNvCxnSpPr/>
          <p:nvPr/>
        </p:nvCxnSpPr>
        <p:spPr>
          <a:xfrm>
            <a:off x="260475" y="2065808"/>
            <a:ext cx="555828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PA_直接连接符 20"/>
          <p:cNvCxnSpPr/>
          <p:nvPr/>
        </p:nvCxnSpPr>
        <p:spPr>
          <a:xfrm>
            <a:off x="233314" y="4876608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A_淘宝网chenying0907出品 21"/>
          <p:cNvSpPr txBox="1"/>
          <p:nvPr/>
        </p:nvSpPr>
        <p:spPr>
          <a:xfrm>
            <a:off x="163292" y="2296217"/>
            <a:ext cx="572548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  组合逻辑电路</a:t>
            </a:r>
            <a:endParaRPr lang="zh-CN" altLang="en-US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PA_淘宝网chenying0907出品 23"/>
          <p:cNvSpPr txBox="1"/>
          <p:nvPr/>
        </p:nvSpPr>
        <p:spPr>
          <a:xfrm>
            <a:off x="1072234" y="4979332"/>
            <a:ext cx="226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武汉大学计算机学院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PA_淘宝网chenying0907出品 22"/>
          <p:cNvSpPr txBox="1"/>
          <p:nvPr/>
        </p:nvSpPr>
        <p:spPr>
          <a:xfrm>
            <a:off x="3338526" y="4979331"/>
            <a:ext cx="248022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2023-2024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</a:rPr>
              <a:t>第二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学期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4"/>
          <p:cNvSpPr txBox="1"/>
          <p:nvPr/>
        </p:nvSpPr>
        <p:spPr>
          <a:xfrm>
            <a:off x="826416" y="3477981"/>
            <a:ext cx="4257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/>
              <a:t>4.4  </a:t>
            </a:r>
            <a:r>
              <a:rPr lang="zh-CN" altLang="en-US" sz="3200" b="1" dirty="0"/>
              <a:t>常用组合逻辑电路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淘宝网chenying0907出品 10"/>
          <p:cNvSpPr txBox="1"/>
          <p:nvPr/>
        </p:nvSpPr>
        <p:spPr>
          <a:xfrm>
            <a:off x="950159" y="3078790"/>
            <a:ext cx="20752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淘宝网chenying0907出品 11"/>
          <p:cNvSpPr/>
          <p:nvPr/>
        </p:nvSpPr>
        <p:spPr>
          <a:xfrm>
            <a:off x="3025365" y="0"/>
            <a:ext cx="611863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3025365" y="39481"/>
            <a:ext cx="2394626" cy="19630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840121" y="4809438"/>
            <a:ext cx="2303880" cy="20485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淘宝网chenying0907出品 20"/>
          <p:cNvSpPr txBox="1"/>
          <p:nvPr/>
        </p:nvSpPr>
        <p:spPr>
          <a:xfrm>
            <a:off x="4003720" y="2143109"/>
            <a:ext cx="360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加法器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3" name="淘宝网chenying0907出品 25"/>
          <p:cNvSpPr txBox="1"/>
          <p:nvPr/>
        </p:nvSpPr>
        <p:spPr>
          <a:xfrm>
            <a:off x="4015057" y="2947845"/>
            <a:ext cx="413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编码器</a:t>
            </a:r>
            <a:endParaRPr lang="zh-CN" altLang="en-US" dirty="0"/>
          </a:p>
        </p:txBody>
      </p:sp>
      <p:sp>
        <p:nvSpPr>
          <p:cNvPr id="34" name="淘宝网chenying0907出品 29"/>
          <p:cNvSpPr txBox="1"/>
          <p:nvPr/>
        </p:nvSpPr>
        <p:spPr>
          <a:xfrm>
            <a:off x="4015057" y="3752581"/>
            <a:ext cx="4890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译码器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91992" y="916055"/>
            <a:ext cx="8018975" cy="166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加法器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是实现二进制数加法运算的逻辑电路；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计算机中加、减、乘、除等运算都是转换为若干步加法运算实现的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253717" y="3212023"/>
            <a:ext cx="8274225" cy="208253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半加器：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只考虑加数和被加数，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不考虑低位进位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的逻辑部件</a:t>
            </a:r>
            <a:endParaRPr lang="en-US" altLang="zh-CN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全加器：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同时考虑加数、被加数、低位进位的逻辑部件</a:t>
            </a:r>
            <a:endParaRPr lang="en-US" altLang="zh-CN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串行加法器：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低位加法完成，进位信号产生后，相邻高位加法运算才能进行</a:t>
            </a:r>
            <a:endParaRPr lang="en-US" altLang="zh-CN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并行加法器：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提前产生进位信号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，高位加法不必等到低位加法完成后再进行</a:t>
            </a:r>
            <a:endParaRPr lang="zh-CN" altLang="en-US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82954"/>
            <a:ext cx="236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半加器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3"/>
          <p:cNvSpPr txBox="1">
            <a:spLocks noChangeArrowheads="1"/>
          </p:cNvSpPr>
          <p:nvPr/>
        </p:nvSpPr>
        <p:spPr bwMode="auto">
          <a:xfrm>
            <a:off x="73603" y="1526182"/>
            <a:ext cx="278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）半加器真值表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5" name="Group 4"/>
          <p:cNvGrpSpPr/>
          <p:nvPr/>
        </p:nvGrpSpPr>
        <p:grpSpPr bwMode="auto">
          <a:xfrm>
            <a:off x="258778" y="2289769"/>
            <a:ext cx="4097338" cy="2308225"/>
            <a:chOff x="36" y="1326"/>
            <a:chExt cx="2581" cy="1454"/>
          </a:xfrm>
        </p:grpSpPr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36" y="1326"/>
              <a:ext cx="2581" cy="1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    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输入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  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输出</a:t>
              </a:r>
              <a:endPara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被加数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  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加数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和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S  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进位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0             0          0         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0             1          1         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1             0          1         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1             1          0         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FF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Line 6"/>
            <p:cNvSpPr>
              <a:spLocks noChangeShapeType="1"/>
            </p:cNvSpPr>
            <p:nvPr/>
          </p:nvSpPr>
          <p:spPr bwMode="auto">
            <a:xfrm flipV="1">
              <a:off x="118" y="2777"/>
              <a:ext cx="244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 flipH="1">
              <a:off x="1440" y="1344"/>
              <a:ext cx="0" cy="1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74" y="1580"/>
              <a:ext cx="2519" cy="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36" y="1335"/>
              <a:ext cx="2557" cy="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grpSp>
        <p:nvGrpSpPr>
          <p:cNvPr id="21" name="Group 10"/>
          <p:cNvGrpSpPr/>
          <p:nvPr/>
        </p:nvGrpSpPr>
        <p:grpSpPr bwMode="auto">
          <a:xfrm>
            <a:off x="112783" y="4904381"/>
            <a:ext cx="3429000" cy="1441450"/>
            <a:chOff x="480" y="2836"/>
            <a:chExt cx="2160" cy="908"/>
          </a:xfrm>
        </p:grpSpPr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480" y="2836"/>
              <a:ext cx="13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）逻辑函数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3" name="Object 12"/>
            <p:cNvGraphicFramePr>
              <a:graphicFrameLocks noChangeAspect="1"/>
            </p:cNvGraphicFramePr>
            <p:nvPr/>
          </p:nvGraphicFramePr>
          <p:xfrm>
            <a:off x="912" y="3209"/>
            <a:ext cx="1728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公式" r:id="rId2" imgW="1358265" imgH="431800" progId="Equation.3">
                    <p:embed/>
                  </p:oleObj>
                </mc:Choice>
                <mc:Fallback>
                  <p:oleObj name="公式" r:id="rId2" imgW="1358265" imgH="431800" progId="Equation.3">
                    <p:embed/>
                    <p:pic>
                      <p:nvPicPr>
                        <p:cNvPr id="0" name="图片 10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209"/>
                          <a:ext cx="1728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4448191" y="1032820"/>
            <a:ext cx="28237" cy="5825179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25" name="Group 14"/>
          <p:cNvGrpSpPr/>
          <p:nvPr/>
        </p:nvGrpSpPr>
        <p:grpSpPr bwMode="auto">
          <a:xfrm>
            <a:off x="4567827" y="4390982"/>
            <a:ext cx="3926935" cy="2073171"/>
            <a:chOff x="3255" y="2857"/>
            <a:chExt cx="1913" cy="1065"/>
          </a:xfrm>
        </p:grpSpPr>
        <p:pic>
          <p:nvPicPr>
            <p:cNvPr id="26" name="Picture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1" y="3172"/>
              <a:ext cx="1307" cy="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7" name="Text Box 16"/>
            <p:cNvSpPr txBox="1">
              <a:spLocks noChangeArrowheads="1"/>
            </p:cNvSpPr>
            <p:nvPr/>
          </p:nvSpPr>
          <p:spPr bwMode="auto">
            <a:xfrm>
              <a:off x="3255" y="2857"/>
              <a:ext cx="1070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（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4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）逻辑符号</a:t>
              </a:r>
              <a:endParaRPr lang="zh-CN" altLang="en-US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8" name="Group 17"/>
          <p:cNvGrpSpPr/>
          <p:nvPr/>
        </p:nvGrpSpPr>
        <p:grpSpPr bwMode="auto">
          <a:xfrm>
            <a:off x="4641452" y="1032820"/>
            <a:ext cx="4066085" cy="2815881"/>
            <a:chOff x="3072" y="960"/>
            <a:chExt cx="2208" cy="1444"/>
          </a:xfrm>
        </p:grpSpPr>
        <p:sp>
          <p:nvSpPr>
            <p:cNvPr id="29" name="Text Box 18"/>
            <p:cNvSpPr txBox="1">
              <a:spLocks noChangeArrowheads="1"/>
            </p:cNvSpPr>
            <p:nvPr/>
          </p:nvSpPr>
          <p:spPr bwMode="auto">
            <a:xfrm>
              <a:off x="3072" y="960"/>
              <a:ext cx="11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）逻辑图</a:t>
              </a:r>
              <a:endPara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pic>
          <p:nvPicPr>
            <p:cNvPr id="30" name="Picture 1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6" y="1296"/>
              <a:ext cx="1584" cy="11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82954"/>
            <a:ext cx="236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全加器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3998920" y="682954"/>
            <a:ext cx="30338" cy="6124677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184828" y="2107868"/>
            <a:ext cx="278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）全加器真值表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84828" y="1369505"/>
            <a:ext cx="3739621" cy="461665"/>
          </a:xfrm>
          <a:prstGeom prst="rect">
            <a:avLst/>
          </a:prstGeom>
          <a:noFill/>
          <a:ln w="15875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位全加器的逻辑函数设计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 Box 12"/>
          <p:cNvSpPr txBox="1">
            <a:spLocks noChangeArrowheads="1"/>
          </p:cNvSpPr>
          <p:nvPr/>
        </p:nvSpPr>
        <p:spPr bwMode="auto">
          <a:xfrm>
            <a:off x="3957707" y="791842"/>
            <a:ext cx="40511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）逻辑函数最小项表达式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Rectangle 13"/>
          <p:cNvSpPr>
            <a:spLocks noChangeArrowheads="1"/>
          </p:cNvSpPr>
          <p:nvPr/>
        </p:nvSpPr>
        <p:spPr bwMode="auto">
          <a:xfrm>
            <a:off x="4610880" y="1233973"/>
            <a:ext cx="3847320" cy="1147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latinLnBrk="1">
              <a:lnSpc>
                <a:spcPct val="150000"/>
              </a:lnSpc>
              <a:spcBef>
                <a:spcPct val="20000"/>
              </a:spcBef>
            </a:pP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F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</a:t>
            </a: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(A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</a:t>
            </a:r>
            <a:r>
              <a:rPr lang="zh-CN" altLang="en-US" b="1">
                <a:latin typeface="华文仿宋" panose="02010600040101010101" pitchFamily="2" charset="-122"/>
                <a:ea typeface="华文仿宋" panose="02010600040101010101" pitchFamily="2" charset="-122"/>
              </a:rPr>
              <a:t>，</a:t>
            </a: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B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</a:t>
            </a:r>
            <a:r>
              <a:rPr lang="zh-CN" altLang="en-US" b="1">
                <a:latin typeface="华文仿宋" panose="02010600040101010101" pitchFamily="2" charset="-122"/>
                <a:ea typeface="华文仿宋" panose="02010600040101010101" pitchFamily="2" charset="-122"/>
              </a:rPr>
              <a:t>，</a:t>
            </a: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C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i-1</a:t>
            </a: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)=∑m(1,2,4,7)</a:t>
            </a:r>
            <a:b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</a:b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C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</a:t>
            </a: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(A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</a:t>
            </a:r>
            <a:r>
              <a:rPr lang="zh-CN" altLang="en-US" b="1">
                <a:latin typeface="华文仿宋" panose="02010600040101010101" pitchFamily="2" charset="-122"/>
                <a:ea typeface="华文仿宋" panose="02010600040101010101" pitchFamily="2" charset="-122"/>
              </a:rPr>
              <a:t>，</a:t>
            </a: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B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</a:t>
            </a:r>
            <a:r>
              <a:rPr lang="zh-CN" altLang="en-US" b="1">
                <a:latin typeface="华文仿宋" panose="02010600040101010101" pitchFamily="2" charset="-122"/>
                <a:ea typeface="华文仿宋" panose="02010600040101010101" pitchFamily="2" charset="-122"/>
              </a:rPr>
              <a:t>，</a:t>
            </a: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C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i-1</a:t>
            </a:r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)=∑m(3,5,6,7)</a:t>
            </a:r>
            <a:endParaRPr lang="en-US" altLang="zh-CN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802818" y="2507482"/>
            <a:ext cx="2504788" cy="461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）卡诺图化简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-96059" y="2490371"/>
            <a:ext cx="3863976" cy="4067893"/>
            <a:chOff x="-96059" y="2490371"/>
            <a:chExt cx="3863976" cy="4067893"/>
          </a:xfrm>
        </p:grpSpPr>
        <p:grpSp>
          <p:nvGrpSpPr>
            <p:cNvPr id="41" name="Group 4"/>
            <p:cNvGrpSpPr/>
            <p:nvPr/>
          </p:nvGrpSpPr>
          <p:grpSpPr bwMode="auto">
            <a:xfrm>
              <a:off x="-96059" y="2772076"/>
              <a:ext cx="3863976" cy="3786188"/>
              <a:chOff x="-63" y="1394"/>
              <a:chExt cx="2434" cy="2385"/>
            </a:xfrm>
          </p:grpSpPr>
          <p:grpSp>
            <p:nvGrpSpPr>
              <p:cNvPr id="42" name="Group 5"/>
              <p:cNvGrpSpPr/>
              <p:nvPr/>
            </p:nvGrpSpPr>
            <p:grpSpPr bwMode="auto">
              <a:xfrm>
                <a:off x="-63" y="1394"/>
                <a:ext cx="2415" cy="2385"/>
                <a:chOff x="-63" y="1394"/>
                <a:chExt cx="2415" cy="2385"/>
              </a:xfrm>
            </p:grpSpPr>
            <p:sp>
              <p:nvSpPr>
                <p:cNvPr id="44" name="Rectangle 6"/>
                <p:cNvSpPr>
                  <a:spLocks noChangeArrowheads="1"/>
                </p:cNvSpPr>
                <p:nvPr/>
              </p:nvSpPr>
              <p:spPr bwMode="auto">
                <a:xfrm>
                  <a:off x="-63" y="1394"/>
                  <a:ext cx="2405" cy="23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    </a:t>
                  </a:r>
                  <a:r>
                    <a:rPr lang="zh-CN" altLang="en-US" b="1" kern="0" dirty="0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输  入</a:t>
                  </a:r>
                  <a:r>
                    <a:rPr lang="zh-CN" altLang="en-US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         </a:t>
                  </a:r>
                  <a:r>
                    <a:rPr lang="zh-CN" altLang="en-US" b="1" kern="0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输  出</a:t>
                  </a:r>
                  <a:endParaRPr lang="zh-CN" altLang="en-US" b="1" kern="0" dirty="0">
                    <a:solidFill>
                      <a:srgbClr val="FF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</a:t>
                  </a: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b="1" kern="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B</a:t>
                  </a:r>
                  <a:r>
                    <a:rPr lang="en-US" altLang="zh-CN" b="1" kern="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      </a:t>
                  </a:r>
                  <a:r>
                    <a:rPr lang="en-US" altLang="zh-CN" b="1" kern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b="1" kern="0" baseline="-250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i-1 </a:t>
                  </a:r>
                  <a:r>
                    <a:rPr lang="en-US" altLang="zh-CN" b="1" kern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F</a:t>
                  </a:r>
                  <a:r>
                    <a:rPr lang="en-US" altLang="zh-CN" b="1" kern="0" baseline="-250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 kern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</a:t>
                  </a: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b="1" kern="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</a:t>
                  </a:r>
                  <a:endParaRPr lang="en-US" altLang="zh-CN" b="1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</a:t>
                  </a: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0      0      0          0        0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0      0      1          1        0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0      1      0          1        0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0      1      1          0        1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1      0      0          1        0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1      0      1          0        1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1      1      0          0        1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1      1      1          1        1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Line 7"/>
                <p:cNvSpPr>
                  <a:spLocks noChangeShapeType="1"/>
                </p:cNvSpPr>
                <p:nvPr/>
              </p:nvSpPr>
              <p:spPr bwMode="auto">
                <a:xfrm>
                  <a:off x="1584" y="1680"/>
                  <a:ext cx="1" cy="209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6" name="Line 8"/>
                <p:cNvSpPr>
                  <a:spLocks noChangeShapeType="1"/>
                </p:cNvSpPr>
                <p:nvPr/>
              </p:nvSpPr>
              <p:spPr bwMode="auto">
                <a:xfrm>
                  <a:off x="304" y="3779"/>
                  <a:ext cx="20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7" name="Line 9"/>
                <p:cNvSpPr>
                  <a:spLocks noChangeShapeType="1"/>
                </p:cNvSpPr>
                <p:nvPr/>
              </p:nvSpPr>
              <p:spPr bwMode="auto">
                <a:xfrm>
                  <a:off x="267" y="1680"/>
                  <a:ext cx="20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43" name="Line 10"/>
              <p:cNvSpPr>
                <a:spLocks noChangeShapeType="1"/>
              </p:cNvSpPr>
              <p:nvPr/>
            </p:nvSpPr>
            <p:spPr bwMode="auto">
              <a:xfrm>
                <a:off x="295" y="1921"/>
                <a:ext cx="207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" name="矩形标注 1"/>
            <p:cNvSpPr/>
            <p:nvPr/>
          </p:nvSpPr>
          <p:spPr>
            <a:xfrm>
              <a:off x="1854383" y="2490371"/>
              <a:ext cx="758188" cy="623645"/>
            </a:xfrm>
            <a:prstGeom prst="wedgeRectCallout">
              <a:avLst>
                <a:gd name="adj1" fmla="val -44629"/>
                <a:gd name="adj2" fmla="val 9213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进位输入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0204" y="2996104"/>
            <a:ext cx="4502310" cy="201379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562600" y="4665170"/>
            <a:ext cx="205567" cy="277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492750" y="4619369"/>
            <a:ext cx="843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>
                <a:latin typeface="华文仿宋" panose="02010600040101010101" pitchFamily="2" charset="-122"/>
                <a:ea typeface="华文仿宋" panose="02010600040101010101" pitchFamily="2" charset="-122"/>
              </a:rPr>
              <a:t>F</a:t>
            </a:r>
            <a:r>
              <a:rPr lang="en-US" altLang="zh-CN" b="1" baseline="-25000">
                <a:latin typeface="华文仿宋" panose="02010600040101010101" pitchFamily="2" charset="-122"/>
                <a:ea typeface="华文仿宋" panose="02010600040101010101" pitchFamily="2" charset="-122"/>
              </a:rPr>
              <a:t>i</a:t>
            </a:r>
            <a:endParaRPr lang="zh-CN" altLang="en-US"/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3791662" y="4884713"/>
            <a:ext cx="25058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）函数表达式</a:t>
            </a:r>
            <a:endParaRPr lang="zh-CN" altLang="en-US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729" y="5420941"/>
            <a:ext cx="2080531" cy="1416398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7529688" y="4064000"/>
            <a:ext cx="185562" cy="4124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8365419" y="4064000"/>
            <a:ext cx="185562" cy="4124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7938324" y="3630210"/>
            <a:ext cx="185562" cy="8462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37397" y="5544365"/>
            <a:ext cx="198002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solidFill>
                  <a:srgbClr val="FF0000"/>
                </a:solidFill>
              </a:rPr>
              <a:t>C</a:t>
            </a:r>
            <a:r>
              <a:rPr lang="en-US" altLang="zh-CN" sz="1400" baseline="-25000">
                <a:solidFill>
                  <a:srgbClr val="FF0000"/>
                </a:solidFill>
              </a:rPr>
              <a:t>n </a:t>
            </a:r>
            <a:r>
              <a:rPr lang="zh-CN" altLang="en-US" sz="1400">
                <a:solidFill>
                  <a:srgbClr val="FF0000"/>
                </a:solidFill>
              </a:rPr>
              <a:t>中的第二步并不是</a:t>
            </a:r>
            <a:endParaRPr lang="en-US" altLang="zh-CN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第一步化简得到的，而</a:t>
            </a:r>
            <a:endParaRPr lang="en-US" altLang="zh-CN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是不同的圈法得到的。</a:t>
            </a:r>
            <a:endParaRPr lang="en-US" altLang="zh-CN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因为第二种圈法可以共</a:t>
            </a:r>
            <a:endParaRPr lang="en-US" altLang="zh-CN" sz="1400">
              <a:solidFill>
                <a:srgbClr val="FF0000"/>
              </a:solidFill>
            </a:endParaRPr>
          </a:p>
          <a:p>
            <a:r>
              <a:rPr lang="zh-CN" altLang="en-US" sz="1400">
                <a:solidFill>
                  <a:srgbClr val="FF0000"/>
                </a:solidFill>
              </a:rPr>
              <a:t>用</a:t>
            </a:r>
            <a:r>
              <a:rPr lang="en-US" altLang="zh-CN" sz="1400">
                <a:solidFill>
                  <a:srgbClr val="FF0000"/>
                </a:solidFill>
              </a:rPr>
              <a:t>F</a:t>
            </a:r>
            <a:r>
              <a:rPr lang="en-US" altLang="zh-CN" sz="1400" baseline="-25000">
                <a:solidFill>
                  <a:srgbClr val="FF0000"/>
                </a:solidFill>
              </a:rPr>
              <a:t>n</a:t>
            </a:r>
            <a:r>
              <a:rPr lang="zh-CN" altLang="en-US" sz="1400">
                <a:solidFill>
                  <a:srgbClr val="FF0000"/>
                </a:solidFill>
              </a:rPr>
              <a:t>中的异或门。</a:t>
            </a:r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038521" y="5757418"/>
            <a:ext cx="190546" cy="190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4748321" y="6066490"/>
            <a:ext cx="190546" cy="190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FF0000"/>
                </a:solidFill>
              </a:rPr>
              <a:t>2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9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82954"/>
            <a:ext cx="236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全加器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Line 13"/>
          <p:cNvSpPr>
            <a:spLocks noChangeShapeType="1"/>
          </p:cNvSpPr>
          <p:nvPr/>
        </p:nvSpPr>
        <p:spPr bwMode="auto">
          <a:xfrm flipH="1">
            <a:off x="3998920" y="682954"/>
            <a:ext cx="30338" cy="6124677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184828" y="2107868"/>
            <a:ext cx="2787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）全加器真值表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84828" y="1369505"/>
            <a:ext cx="3739621" cy="461665"/>
          </a:xfrm>
          <a:prstGeom prst="rect">
            <a:avLst/>
          </a:prstGeom>
          <a:noFill/>
          <a:ln w="15875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位全加器的逻辑函数设计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3888632" y="802431"/>
            <a:ext cx="25042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）逻辑电路图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4" name="Group 17"/>
          <p:cNvGrpSpPr/>
          <p:nvPr/>
        </p:nvGrpSpPr>
        <p:grpSpPr bwMode="auto">
          <a:xfrm>
            <a:off x="4014089" y="4443623"/>
            <a:ext cx="3960751" cy="1794978"/>
            <a:chOff x="3108" y="2885"/>
            <a:chExt cx="1790" cy="1024"/>
          </a:xfrm>
        </p:grpSpPr>
        <p:sp>
          <p:nvSpPr>
            <p:cNvPr id="55" name="Text Box 18"/>
            <p:cNvSpPr txBox="1">
              <a:spLocks noChangeArrowheads="1"/>
            </p:cNvSpPr>
            <p:nvPr/>
          </p:nvSpPr>
          <p:spPr bwMode="auto">
            <a:xfrm>
              <a:off x="3108" y="2885"/>
              <a:ext cx="993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000000"/>
                  </a:solidFill>
                  <a:latin typeface="宋体" panose="02010600030101010101" pitchFamily="2" charset="-122"/>
                </a:rPr>
                <a:t>（</a:t>
              </a:r>
              <a:r>
                <a:rPr lang="en-US" altLang="zh-CN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6</a:t>
              </a:r>
              <a:r>
                <a:rPr lang="zh-CN" altLang="en-US" b="1">
                  <a:solidFill>
                    <a:srgbClr val="000000"/>
                  </a:solidFill>
                  <a:latin typeface="宋体" panose="02010600030101010101" pitchFamily="2" charset="-122"/>
                </a:rPr>
                <a:t>）</a:t>
              </a:r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逻辑符号</a:t>
              </a:r>
              <a:endParaRPr lang="zh-CN" altLang="en-US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pic>
          <p:nvPicPr>
            <p:cNvPr id="56" name="Picture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7" y="3181"/>
              <a:ext cx="1481" cy="7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" name="组合 2"/>
          <p:cNvGrpSpPr/>
          <p:nvPr/>
        </p:nvGrpSpPr>
        <p:grpSpPr>
          <a:xfrm>
            <a:off x="-96059" y="2490371"/>
            <a:ext cx="3863976" cy="4067893"/>
            <a:chOff x="-96059" y="2490371"/>
            <a:chExt cx="3863976" cy="4067893"/>
          </a:xfrm>
        </p:grpSpPr>
        <p:grpSp>
          <p:nvGrpSpPr>
            <p:cNvPr id="41" name="Group 4"/>
            <p:cNvGrpSpPr/>
            <p:nvPr/>
          </p:nvGrpSpPr>
          <p:grpSpPr bwMode="auto">
            <a:xfrm>
              <a:off x="-96059" y="2772076"/>
              <a:ext cx="3863976" cy="3786188"/>
              <a:chOff x="-63" y="1394"/>
              <a:chExt cx="2434" cy="2385"/>
            </a:xfrm>
          </p:grpSpPr>
          <p:grpSp>
            <p:nvGrpSpPr>
              <p:cNvPr id="42" name="Group 5"/>
              <p:cNvGrpSpPr/>
              <p:nvPr/>
            </p:nvGrpSpPr>
            <p:grpSpPr bwMode="auto">
              <a:xfrm>
                <a:off x="-63" y="1394"/>
                <a:ext cx="2415" cy="2385"/>
                <a:chOff x="-63" y="1394"/>
                <a:chExt cx="2415" cy="2385"/>
              </a:xfrm>
            </p:grpSpPr>
            <p:sp>
              <p:nvSpPr>
                <p:cNvPr id="44" name="Rectangle 6"/>
                <p:cNvSpPr>
                  <a:spLocks noChangeArrowheads="1"/>
                </p:cNvSpPr>
                <p:nvPr/>
              </p:nvSpPr>
              <p:spPr bwMode="auto">
                <a:xfrm>
                  <a:off x="-63" y="1394"/>
                  <a:ext cx="2405" cy="23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    </a:t>
                  </a:r>
                  <a:r>
                    <a:rPr lang="zh-CN" altLang="en-US" b="1" kern="0" dirty="0">
                      <a:solidFill>
                        <a:srgbClr val="0000FF"/>
                      </a:solidFill>
                      <a:latin typeface="Times New Roman" panose="02020603050405020304" pitchFamily="18" charset="0"/>
                    </a:rPr>
                    <a:t>输  入</a:t>
                  </a:r>
                  <a:r>
                    <a:rPr lang="zh-CN" altLang="en-US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         </a:t>
                  </a:r>
                  <a:r>
                    <a:rPr lang="zh-CN" altLang="en-US" b="1" kern="0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输  出</a:t>
                  </a:r>
                  <a:endParaRPr lang="zh-CN" altLang="en-US" b="1" kern="0" dirty="0">
                    <a:solidFill>
                      <a:srgbClr val="FF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</a:t>
                  </a: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b="1" kern="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B</a:t>
                  </a:r>
                  <a:r>
                    <a:rPr lang="en-US" altLang="zh-CN" b="1" kern="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      </a:t>
                  </a:r>
                  <a:r>
                    <a:rPr lang="en-US" altLang="zh-CN" b="1" kern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b="1" kern="0" baseline="-250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i-1 </a:t>
                  </a:r>
                  <a:r>
                    <a:rPr lang="en-US" altLang="zh-CN" b="1" kern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F</a:t>
                  </a:r>
                  <a:r>
                    <a:rPr lang="en-US" altLang="zh-CN" b="1" kern="0" baseline="-2500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</a:t>
                  </a:r>
                  <a:r>
                    <a:rPr lang="en-US" altLang="zh-CN" b="1" kern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</a:t>
                  </a: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b="1" kern="0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i</a:t>
                  </a:r>
                  <a:endParaRPr lang="en-US" altLang="zh-CN" b="1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b="1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</a:t>
                  </a: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0      0      0          0        0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0      0      1          1        0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0      1      0          1        0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0      1      1          0        1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1      0      0          1        0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1      0      1          0        1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1      1      0          0        1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altLang="zh-CN" kern="0" dirty="0">
                      <a:solidFill>
                        <a:srgbClr val="000000"/>
                      </a:solidFill>
                      <a:latin typeface="Times New Roman" panose="02020603050405020304" pitchFamily="18" charset="0"/>
                    </a:rPr>
                    <a:t>       1      1      1          1        1</a:t>
                  </a:r>
                  <a:endParaRPr lang="en-US" altLang="zh-CN" kern="0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Line 7"/>
                <p:cNvSpPr>
                  <a:spLocks noChangeShapeType="1"/>
                </p:cNvSpPr>
                <p:nvPr/>
              </p:nvSpPr>
              <p:spPr bwMode="auto">
                <a:xfrm>
                  <a:off x="1584" y="1680"/>
                  <a:ext cx="1" cy="209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6" name="Line 8"/>
                <p:cNvSpPr>
                  <a:spLocks noChangeShapeType="1"/>
                </p:cNvSpPr>
                <p:nvPr/>
              </p:nvSpPr>
              <p:spPr bwMode="auto">
                <a:xfrm>
                  <a:off x="304" y="3779"/>
                  <a:ext cx="20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7" name="Line 9"/>
                <p:cNvSpPr>
                  <a:spLocks noChangeShapeType="1"/>
                </p:cNvSpPr>
                <p:nvPr/>
              </p:nvSpPr>
              <p:spPr bwMode="auto">
                <a:xfrm>
                  <a:off x="267" y="1680"/>
                  <a:ext cx="208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kumimoji="1" lang="zh-CN" altLang="en-US" sz="2400" kern="0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43" name="Line 10"/>
              <p:cNvSpPr>
                <a:spLocks noChangeShapeType="1"/>
              </p:cNvSpPr>
              <p:nvPr/>
            </p:nvSpPr>
            <p:spPr bwMode="auto">
              <a:xfrm>
                <a:off x="295" y="1921"/>
                <a:ext cx="207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" name="矩形标注 1"/>
            <p:cNvSpPr/>
            <p:nvPr/>
          </p:nvSpPr>
          <p:spPr>
            <a:xfrm>
              <a:off x="1854383" y="2490371"/>
              <a:ext cx="758188" cy="623645"/>
            </a:xfrm>
            <a:prstGeom prst="wedgeRectCallout">
              <a:avLst>
                <a:gd name="adj1" fmla="val -44629"/>
                <a:gd name="adj2" fmla="val 92131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进位输入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7" name="Picture 5" descr="4-4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376" y="1528702"/>
            <a:ext cx="3963034" cy="2655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82954"/>
            <a:ext cx="2364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全加器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95065" y="1402276"/>
            <a:ext cx="4842856" cy="46166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位全加器的</a:t>
            </a:r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程序设计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09898" y="2060044"/>
            <a:ext cx="8744248" cy="5262245"/>
          </a:xfrm>
          <a:prstGeom prst="rect">
            <a:avLst/>
          </a:prstGeom>
          <a:ln w="158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module</a:t>
            </a:r>
            <a:r>
              <a:rPr lang="en-US" altLang="zh-CN" sz="2400" b="1" dirty="0"/>
              <a:t> samp4_4_1(A,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B,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C0,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S,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C1);</a:t>
            </a:r>
            <a:r>
              <a:rPr lang="zh-CN" altLang="en-US" sz="2400" b="1" dirty="0"/>
              <a:t>  </a:t>
            </a:r>
            <a:r>
              <a:rPr lang="en-US" altLang="zh-CN" sz="2400" b="1" dirty="0"/>
              <a:t>//</a:t>
            </a:r>
            <a:r>
              <a:rPr lang="zh-CN" altLang="en-US" sz="2400" b="1" dirty="0"/>
              <a:t>调用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位全加器的顶层模块</a:t>
            </a:r>
            <a:br>
              <a:rPr lang="zh-CN" altLang="en-US" sz="2400" b="1" dirty="0"/>
            </a:br>
            <a:r>
              <a:rPr lang="zh-CN" altLang="en-US" sz="2400" b="1" dirty="0"/>
              <a:t>　 </a:t>
            </a:r>
            <a:r>
              <a:rPr lang="en-US" altLang="zh-CN" sz="2400" b="1" dirty="0"/>
              <a:t>input   A,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B,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C0;</a:t>
            </a:r>
            <a:r>
              <a:rPr lang="zh-CN" altLang="en-US" sz="2400" b="1" dirty="0"/>
              <a:t> </a:t>
            </a:r>
            <a:br>
              <a:rPr lang="zh-CN" altLang="en-US" sz="2400" b="1" dirty="0"/>
            </a:br>
            <a:r>
              <a:rPr lang="zh-CN" altLang="en-US" sz="2400" b="1" dirty="0"/>
              <a:t>　 </a:t>
            </a:r>
            <a:r>
              <a:rPr lang="en-US" altLang="zh-CN" sz="2400" b="1" dirty="0"/>
              <a:t>output   S,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C1;</a:t>
            </a:r>
            <a:br>
              <a:rPr lang="zh-CN" altLang="en-US" sz="2400" b="1" dirty="0"/>
            </a:br>
            <a:r>
              <a:rPr lang="zh-CN" altLang="en-US" sz="2400" b="1" dirty="0"/>
              <a:t>　 </a:t>
            </a:r>
            <a:r>
              <a:rPr lang="en-US" altLang="zh-CN" sz="2400" b="1" dirty="0" err="1">
                <a:solidFill>
                  <a:srgbClr val="FF33CC"/>
                </a:solidFill>
              </a:rPr>
              <a:t>adder_full</a:t>
            </a:r>
            <a:r>
              <a:rPr lang="en-US" altLang="zh-CN" sz="2400" b="1" dirty="0">
                <a:solidFill>
                  <a:srgbClr val="FF33CC"/>
                </a:solidFill>
              </a:rPr>
              <a:t>  u1(</a:t>
            </a:r>
            <a:r>
              <a:rPr lang="en-US" altLang="zh-CN" sz="2400" b="1" dirty="0">
                <a:solidFill>
                  <a:srgbClr val="00B050"/>
                </a:solidFill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</a:rPr>
              <a:t>ia</a:t>
            </a:r>
            <a:r>
              <a:rPr lang="en-US" altLang="zh-CN" sz="2400" b="1" dirty="0">
                <a:solidFill>
                  <a:srgbClr val="00B050"/>
                </a:solidFill>
              </a:rPr>
              <a:t>(A),</a:t>
            </a:r>
            <a:r>
              <a:rPr lang="zh-CN" altLang="en-US" sz="2400" b="1" dirty="0">
                <a:solidFill>
                  <a:srgbClr val="00B050"/>
                </a:solidFill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</a:rPr>
              <a:t>ib</a:t>
            </a:r>
            <a:r>
              <a:rPr lang="en-US" altLang="zh-CN" sz="2400" b="1" dirty="0">
                <a:solidFill>
                  <a:srgbClr val="00B050"/>
                </a:solidFill>
              </a:rPr>
              <a:t>(B),</a:t>
            </a:r>
            <a:r>
              <a:rPr lang="zh-CN" altLang="en-US" sz="2400" b="1" dirty="0">
                <a:solidFill>
                  <a:srgbClr val="00B050"/>
                </a:solidFill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</a:rPr>
              <a:t>ic</a:t>
            </a:r>
            <a:r>
              <a:rPr lang="en-US" altLang="zh-CN" sz="2400" b="1" dirty="0">
                <a:solidFill>
                  <a:srgbClr val="00B050"/>
                </a:solidFill>
              </a:rPr>
              <a:t>(C0),</a:t>
            </a:r>
            <a:r>
              <a:rPr lang="zh-CN" altLang="en-US" sz="2400" b="1" dirty="0">
                <a:solidFill>
                  <a:srgbClr val="00B050"/>
                </a:solidFill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</a:rPr>
              <a:t>os</a:t>
            </a:r>
            <a:r>
              <a:rPr lang="en-US" altLang="zh-CN" sz="2400" b="1" dirty="0">
                <a:solidFill>
                  <a:srgbClr val="00B050"/>
                </a:solidFill>
              </a:rPr>
              <a:t>(S),</a:t>
            </a:r>
            <a:r>
              <a:rPr lang="zh-CN" altLang="en-US" sz="2400" b="1" dirty="0">
                <a:solidFill>
                  <a:srgbClr val="00B050"/>
                </a:solidFill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</a:rPr>
              <a:t>oc</a:t>
            </a:r>
            <a:r>
              <a:rPr lang="en-US" altLang="zh-CN" sz="2400" b="1" dirty="0">
                <a:solidFill>
                  <a:srgbClr val="00B050"/>
                </a:solidFill>
              </a:rPr>
              <a:t>(C1)</a:t>
            </a:r>
            <a:r>
              <a:rPr lang="en-US" altLang="zh-CN" sz="2400" b="1" dirty="0">
                <a:solidFill>
                  <a:srgbClr val="FF33CC"/>
                </a:solidFill>
              </a:rPr>
              <a:t>);  </a:t>
            </a:r>
            <a:endParaRPr lang="en-US" altLang="zh-CN" sz="2400" b="1" dirty="0">
              <a:solidFill>
                <a:srgbClr val="FF33CC"/>
              </a:solidFill>
            </a:endParaRPr>
          </a:p>
          <a:p>
            <a:r>
              <a:rPr lang="en-US" altLang="zh-CN" sz="2400" b="1" dirty="0">
                <a:solidFill>
                  <a:srgbClr val="FF33CC"/>
                </a:solidFill>
              </a:rPr>
              <a:t>     </a:t>
            </a:r>
            <a:r>
              <a:rPr lang="en-US" altLang="zh-CN" sz="2400" b="1" dirty="0" err="1">
                <a:solidFill>
                  <a:srgbClr val="FF33CC"/>
                </a:solidFill>
                <a:sym typeface="+mn-ea"/>
              </a:rPr>
              <a:t>adder_full</a:t>
            </a:r>
            <a:r>
              <a:rPr lang="en-US" altLang="zh-CN" sz="2400" b="1" dirty="0">
                <a:solidFill>
                  <a:srgbClr val="FF33CC"/>
                </a:solidFill>
                <a:sym typeface="+mn-ea"/>
              </a:rPr>
              <a:t>  u1(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  <a:sym typeface="+mn-ea"/>
              </a:rPr>
              <a:t>ib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(B)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,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  <a:sym typeface="+mn-ea"/>
              </a:rPr>
              <a:t>ia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(A)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,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  <a:sym typeface="+mn-ea"/>
              </a:rPr>
              <a:t>ic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(C0),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  <a:sym typeface="+mn-ea"/>
              </a:rPr>
              <a:t>os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(S),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.</a:t>
            </a:r>
            <a:r>
              <a:rPr lang="en-US" altLang="zh-CN" sz="2400" b="1" dirty="0" err="1">
                <a:solidFill>
                  <a:srgbClr val="00B050"/>
                </a:solidFill>
                <a:sym typeface="+mn-ea"/>
              </a:rPr>
              <a:t>oc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(C1)</a:t>
            </a:r>
            <a:r>
              <a:rPr lang="en-US" altLang="zh-CN" sz="2400" b="1" dirty="0">
                <a:solidFill>
                  <a:srgbClr val="FF33CC"/>
                </a:solidFill>
                <a:sym typeface="+mn-ea"/>
              </a:rPr>
              <a:t>);  </a:t>
            </a:r>
            <a:endParaRPr lang="en-US" altLang="zh-CN" sz="2400" b="1" dirty="0">
              <a:solidFill>
                <a:srgbClr val="FF33CC"/>
              </a:solidFill>
              <a:sym typeface="+mn-ea"/>
            </a:endParaRPr>
          </a:p>
          <a:p>
            <a:r>
              <a:rPr lang="en-US" altLang="zh-CN" sz="2400" b="1" dirty="0">
                <a:solidFill>
                  <a:srgbClr val="FF33CC"/>
                </a:solidFill>
                <a:sym typeface="+mn-ea"/>
              </a:rPr>
              <a:t>     </a:t>
            </a:r>
            <a:r>
              <a:rPr lang="en-US" altLang="zh-CN" sz="2400" b="1" dirty="0" err="1">
                <a:solidFill>
                  <a:srgbClr val="FF33CC"/>
                </a:solidFill>
                <a:sym typeface="+mn-ea"/>
              </a:rPr>
              <a:t>adder_full</a:t>
            </a:r>
            <a:r>
              <a:rPr lang="en-US" altLang="zh-CN" sz="2400" b="1" dirty="0">
                <a:solidFill>
                  <a:srgbClr val="FF33CC"/>
                </a:solidFill>
                <a:sym typeface="+mn-ea"/>
              </a:rPr>
              <a:t>  u1(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A,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</a:t>
            </a:r>
            <a:r>
              <a:rPr lang="en-US" sz="2400" b="1" dirty="0">
                <a:solidFill>
                  <a:srgbClr val="00B050"/>
                </a:solidFill>
                <a:sym typeface="+mn-ea"/>
              </a:rPr>
              <a:t>B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,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CO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,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S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,</a:t>
            </a:r>
            <a:r>
              <a:rPr lang="zh-CN" altLang="en-US" sz="2400" b="1" dirty="0">
                <a:solidFill>
                  <a:srgbClr val="00B050"/>
                </a:solidFill>
                <a:sym typeface="+mn-ea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sym typeface="+mn-ea"/>
              </a:rPr>
              <a:t>C1</a:t>
            </a:r>
            <a:r>
              <a:rPr lang="en-US" altLang="zh-CN" sz="2400" b="1" dirty="0">
                <a:solidFill>
                  <a:srgbClr val="FF33CC"/>
                </a:solidFill>
                <a:sym typeface="+mn-ea"/>
              </a:rPr>
              <a:t>);  </a:t>
            </a:r>
            <a:endParaRPr lang="en-US" altLang="zh-CN" sz="2400" b="1" dirty="0">
              <a:solidFill>
                <a:srgbClr val="FF33CC"/>
              </a:solidFill>
            </a:endParaRPr>
          </a:p>
          <a:p>
            <a:r>
              <a:rPr lang="en-US" altLang="zh-CN" sz="2400" b="1" dirty="0">
                <a:solidFill>
                  <a:srgbClr val="FF33CC"/>
                </a:solidFill>
              </a:rPr>
              <a:t>                            //</a:t>
            </a:r>
            <a:r>
              <a:rPr lang="zh-CN" altLang="en-US" sz="2400" b="1" dirty="0">
                <a:solidFill>
                  <a:srgbClr val="FF33CC"/>
                </a:solidFill>
              </a:rPr>
              <a:t>调用</a:t>
            </a:r>
            <a:r>
              <a:rPr lang="en-US" altLang="zh-CN" sz="2400" b="1" dirty="0">
                <a:solidFill>
                  <a:srgbClr val="FF33CC"/>
                </a:solidFill>
              </a:rPr>
              <a:t>1</a:t>
            </a:r>
            <a:r>
              <a:rPr lang="zh-CN" altLang="en-US" sz="2400" b="1" dirty="0">
                <a:solidFill>
                  <a:srgbClr val="FF33CC"/>
                </a:solidFill>
              </a:rPr>
              <a:t>位全加器模块</a:t>
            </a:r>
            <a:endParaRPr lang="en-US" altLang="zh-CN" sz="2400" b="1" dirty="0">
              <a:solidFill>
                <a:srgbClr val="FF33CC"/>
              </a:solidFill>
            </a:endParaRPr>
          </a:p>
          <a:p>
            <a:r>
              <a:rPr lang="en-US" altLang="zh-CN" sz="2400" b="1" dirty="0" err="1">
                <a:solidFill>
                  <a:srgbClr val="0000FF"/>
                </a:solidFill>
              </a:rPr>
              <a:t>endmodule</a:t>
            </a:r>
            <a:br>
              <a:rPr lang="en-US" altLang="zh-CN" sz="2400" b="1" dirty="0"/>
            </a:br>
            <a:br>
              <a:rPr lang="en-US" altLang="zh-CN" sz="2400" b="1" dirty="0"/>
            </a:br>
            <a:r>
              <a:rPr lang="en-US" altLang="zh-CN" sz="2400" b="1" dirty="0">
                <a:solidFill>
                  <a:srgbClr val="0000FF"/>
                </a:solidFill>
              </a:rPr>
              <a:t>module</a:t>
            </a:r>
            <a:r>
              <a:rPr lang="en-US" altLang="zh-CN" sz="2400" b="1" dirty="0"/>
              <a:t>  </a:t>
            </a:r>
            <a:r>
              <a:rPr lang="en-US" altLang="zh-CN" sz="2400" b="1" dirty="0" err="1"/>
              <a:t>adder_full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ia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ib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ic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os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oc</a:t>
            </a:r>
            <a:r>
              <a:rPr lang="en-US" altLang="zh-CN" sz="2400" b="1" dirty="0"/>
              <a:t>);</a:t>
            </a:r>
            <a:r>
              <a:rPr lang="zh-CN" altLang="en-US" sz="2400" b="1" dirty="0"/>
              <a:t>     </a:t>
            </a:r>
            <a:r>
              <a:rPr lang="en-US" altLang="zh-CN" sz="2400" b="1" dirty="0"/>
              <a:t>// 1</a:t>
            </a:r>
            <a:r>
              <a:rPr lang="zh-CN" altLang="en-US" sz="2400" b="1" dirty="0"/>
              <a:t>位全加器模块</a:t>
            </a:r>
            <a:br>
              <a:rPr lang="zh-CN" altLang="en-US" sz="2400" b="1" dirty="0"/>
            </a:br>
            <a:r>
              <a:rPr lang="zh-CN" altLang="en-US" sz="2400" b="1" dirty="0"/>
              <a:t>    </a:t>
            </a:r>
            <a:r>
              <a:rPr lang="en-US" altLang="zh-CN" sz="2400" b="1" dirty="0"/>
              <a:t>input </a:t>
            </a:r>
            <a:r>
              <a:rPr lang="en-US" altLang="zh-CN" sz="2400" b="1" dirty="0" err="1"/>
              <a:t>ia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ib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ic</a:t>
            </a:r>
            <a:r>
              <a:rPr lang="en-US" altLang="zh-CN" sz="2400" b="1" dirty="0"/>
              <a:t>;</a:t>
            </a:r>
            <a:r>
              <a:rPr lang="zh-CN" altLang="en-US" sz="2400" b="1" dirty="0"/>
              <a:t> </a:t>
            </a:r>
            <a:br>
              <a:rPr lang="zh-CN" altLang="en-US" sz="2400" b="1" dirty="0"/>
            </a:br>
            <a:r>
              <a:rPr lang="zh-CN" altLang="en-US" sz="2400" b="1" dirty="0"/>
              <a:t>    </a:t>
            </a:r>
            <a:r>
              <a:rPr lang="en-US" altLang="zh-CN" sz="2400" b="1" dirty="0"/>
              <a:t>output </a:t>
            </a:r>
            <a:r>
              <a:rPr lang="en-US" altLang="zh-CN" sz="2400" b="1" dirty="0" err="1"/>
              <a:t>os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oc</a:t>
            </a:r>
            <a:r>
              <a:rPr lang="en-US" altLang="zh-CN" sz="2400" b="1" dirty="0"/>
              <a:t>;</a:t>
            </a:r>
            <a:r>
              <a:rPr lang="zh-CN" altLang="en-US" sz="2400" b="1" dirty="0"/>
              <a:t> </a:t>
            </a:r>
            <a:br>
              <a:rPr lang="zh-CN" altLang="en-US" sz="2400" b="1" dirty="0"/>
            </a:br>
            <a:r>
              <a:rPr lang="zh-CN" altLang="en-US" sz="2400" b="1" dirty="0"/>
              <a:t>    </a:t>
            </a:r>
            <a:r>
              <a:rPr lang="en-US" altLang="zh-CN" sz="2400" b="1" dirty="0"/>
              <a:t>assign   {</a:t>
            </a:r>
            <a:r>
              <a:rPr lang="en-US" altLang="zh-CN" sz="2400" b="1" dirty="0" err="1"/>
              <a:t>oc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os</a:t>
            </a:r>
            <a:r>
              <a:rPr lang="en-US" altLang="zh-CN" sz="2400" b="1" dirty="0"/>
              <a:t>}=</a:t>
            </a:r>
            <a:r>
              <a:rPr lang="en-US" altLang="zh-CN" sz="2400" b="1" dirty="0" err="1"/>
              <a:t>ia+ib+ic</a:t>
            </a:r>
            <a:r>
              <a:rPr lang="en-US" altLang="zh-CN" sz="2400" b="1" dirty="0"/>
              <a:t>;</a:t>
            </a:r>
            <a:r>
              <a:rPr lang="zh-CN" altLang="en-US" sz="2400" b="1" dirty="0"/>
              <a:t> </a:t>
            </a:r>
            <a:br>
              <a:rPr lang="zh-CN" altLang="en-US" sz="2400" b="1" dirty="0"/>
            </a:br>
            <a:r>
              <a:rPr lang="en-US" altLang="zh-CN" sz="2400" b="1" dirty="0" err="1">
                <a:solidFill>
                  <a:srgbClr val="0000FF"/>
                </a:solidFill>
              </a:rPr>
              <a:t>endmodule</a:t>
            </a:r>
            <a:r>
              <a:rPr lang="zh-CN" altLang="en-US" sz="2400" b="1" dirty="0"/>
              <a:t> 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51157"/>
            <a:ext cx="3828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串行进位加法器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727461" y="4962702"/>
            <a:ext cx="3317705" cy="1134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 eaLnBrk="1" hangingPunct="1">
              <a:buClr>
                <a:srgbClr val="006600"/>
              </a:buClr>
              <a:buSzPct val="55000"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优点：电路容易实现</a:t>
            </a:r>
            <a:endParaRPr kumimoji="1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-285750" eaLnBrk="1" hangingPunct="1">
              <a:buClr>
                <a:srgbClr val="006600"/>
              </a:buClr>
              <a:buSzPct val="55000"/>
            </a:pPr>
            <a:r>
              <a:rPr kumimoji="1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缺点：速度慢</a:t>
            </a:r>
            <a:endParaRPr kumimoji="1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1675940" y="1728061"/>
          <a:ext cx="5512226" cy="3215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BMP 图象" r:id="rId2" imgW="4048125" imgH="1962150" progId="Paint.Picture">
                  <p:embed/>
                </p:oleObj>
              </mc:Choice>
              <mc:Fallback>
                <p:oleObj name="BMP 图象" r:id="rId2" imgW="4048125" imgH="1962150" progId="Paint.Picture">
                  <p:embed/>
                  <p:pic>
                    <p:nvPicPr>
                      <p:cNvPr id="0" name="图片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5940" y="1728061"/>
                        <a:ext cx="5512226" cy="3215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5"/>
          <p:cNvGrpSpPr/>
          <p:nvPr/>
        </p:nvGrpSpPr>
        <p:grpSpPr bwMode="auto">
          <a:xfrm>
            <a:off x="2034153" y="2276525"/>
            <a:ext cx="527013" cy="271669"/>
            <a:chOff x="2544" y="2400"/>
            <a:chExt cx="288" cy="144"/>
          </a:xfrm>
        </p:grpSpPr>
        <p:sp>
          <p:nvSpPr>
            <p:cNvPr id="17" name="Line 6"/>
            <p:cNvSpPr>
              <a:spLocks noChangeShapeType="1"/>
            </p:cNvSpPr>
            <p:nvPr/>
          </p:nvSpPr>
          <p:spPr bwMode="auto">
            <a:xfrm>
              <a:off x="2544" y="2400"/>
              <a:ext cx="288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>
              <a:off x="2832" y="2400"/>
              <a:ext cx="0" cy="144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8"/>
          <p:cNvGrpSpPr/>
          <p:nvPr/>
        </p:nvGrpSpPr>
        <p:grpSpPr bwMode="auto">
          <a:xfrm>
            <a:off x="2871240" y="2298103"/>
            <a:ext cx="838200" cy="1295400"/>
            <a:chOff x="3024" y="1872"/>
            <a:chExt cx="528" cy="816"/>
          </a:xfrm>
        </p:grpSpPr>
        <p:sp>
          <p:nvSpPr>
            <p:cNvPr id="20" name="Line 9"/>
            <p:cNvSpPr>
              <a:spLocks noChangeShapeType="1"/>
            </p:cNvSpPr>
            <p:nvPr/>
          </p:nvSpPr>
          <p:spPr bwMode="auto">
            <a:xfrm>
              <a:off x="3024" y="2544"/>
              <a:ext cx="0" cy="144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0"/>
            <p:cNvSpPr>
              <a:spLocks noChangeShapeType="1"/>
            </p:cNvSpPr>
            <p:nvPr/>
          </p:nvSpPr>
          <p:spPr bwMode="auto">
            <a:xfrm flipV="1">
              <a:off x="3292" y="1872"/>
              <a:ext cx="0" cy="816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1"/>
            <p:cNvSpPr>
              <a:spLocks noChangeShapeType="1"/>
            </p:cNvSpPr>
            <p:nvPr/>
          </p:nvSpPr>
          <p:spPr bwMode="auto">
            <a:xfrm>
              <a:off x="3292" y="1872"/>
              <a:ext cx="260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 flipH="1">
              <a:off x="3549" y="1872"/>
              <a:ext cx="3" cy="163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13"/>
            <p:cNvSpPr>
              <a:spLocks noChangeShapeType="1"/>
            </p:cNvSpPr>
            <p:nvPr/>
          </p:nvSpPr>
          <p:spPr bwMode="auto">
            <a:xfrm flipH="1">
              <a:off x="3024" y="2688"/>
              <a:ext cx="288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" name="Group 14"/>
          <p:cNvGrpSpPr/>
          <p:nvPr/>
        </p:nvGrpSpPr>
        <p:grpSpPr bwMode="auto">
          <a:xfrm>
            <a:off x="4032215" y="2298102"/>
            <a:ext cx="831850" cy="1318044"/>
            <a:chOff x="3772" y="1920"/>
            <a:chExt cx="524" cy="792"/>
          </a:xfrm>
        </p:grpSpPr>
        <p:sp>
          <p:nvSpPr>
            <p:cNvPr id="28" name="Line 15"/>
            <p:cNvSpPr>
              <a:spLocks noChangeShapeType="1"/>
            </p:cNvSpPr>
            <p:nvPr/>
          </p:nvSpPr>
          <p:spPr bwMode="auto">
            <a:xfrm flipH="1">
              <a:off x="3772" y="2561"/>
              <a:ext cx="0" cy="151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16"/>
            <p:cNvSpPr>
              <a:spLocks noChangeShapeType="1"/>
            </p:cNvSpPr>
            <p:nvPr/>
          </p:nvSpPr>
          <p:spPr bwMode="auto">
            <a:xfrm>
              <a:off x="4032" y="1920"/>
              <a:ext cx="0" cy="792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17"/>
            <p:cNvSpPr>
              <a:spLocks noChangeShapeType="1"/>
            </p:cNvSpPr>
            <p:nvPr/>
          </p:nvSpPr>
          <p:spPr bwMode="auto">
            <a:xfrm>
              <a:off x="4032" y="1926"/>
              <a:ext cx="264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18"/>
            <p:cNvSpPr>
              <a:spLocks noChangeShapeType="1"/>
            </p:cNvSpPr>
            <p:nvPr/>
          </p:nvSpPr>
          <p:spPr bwMode="auto">
            <a:xfrm>
              <a:off x="4296" y="1926"/>
              <a:ext cx="0" cy="144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19"/>
            <p:cNvSpPr>
              <a:spLocks noChangeShapeType="1"/>
            </p:cNvSpPr>
            <p:nvPr/>
          </p:nvSpPr>
          <p:spPr bwMode="auto">
            <a:xfrm flipH="1">
              <a:off x="3772" y="2712"/>
              <a:ext cx="260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3" name="Group 20"/>
          <p:cNvGrpSpPr/>
          <p:nvPr/>
        </p:nvGrpSpPr>
        <p:grpSpPr bwMode="auto">
          <a:xfrm>
            <a:off x="5206966" y="2340244"/>
            <a:ext cx="838200" cy="1315844"/>
            <a:chOff x="4512" y="1920"/>
            <a:chExt cx="528" cy="816"/>
          </a:xfrm>
        </p:grpSpPr>
        <p:sp>
          <p:nvSpPr>
            <p:cNvPr id="34" name="Line 21"/>
            <p:cNvSpPr>
              <a:spLocks noChangeShapeType="1"/>
            </p:cNvSpPr>
            <p:nvPr/>
          </p:nvSpPr>
          <p:spPr bwMode="auto">
            <a:xfrm>
              <a:off x="4512" y="2571"/>
              <a:ext cx="0" cy="165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22"/>
            <p:cNvSpPr>
              <a:spLocks noChangeShapeType="1"/>
            </p:cNvSpPr>
            <p:nvPr/>
          </p:nvSpPr>
          <p:spPr bwMode="auto">
            <a:xfrm flipV="1">
              <a:off x="4752" y="1920"/>
              <a:ext cx="0" cy="816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23"/>
            <p:cNvSpPr>
              <a:spLocks noChangeShapeType="1"/>
            </p:cNvSpPr>
            <p:nvPr/>
          </p:nvSpPr>
          <p:spPr bwMode="auto">
            <a:xfrm>
              <a:off x="4752" y="1920"/>
              <a:ext cx="288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24"/>
            <p:cNvSpPr>
              <a:spLocks noChangeShapeType="1"/>
            </p:cNvSpPr>
            <p:nvPr/>
          </p:nvSpPr>
          <p:spPr bwMode="auto">
            <a:xfrm>
              <a:off x="5040" y="1920"/>
              <a:ext cx="0" cy="144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5"/>
            <p:cNvSpPr>
              <a:spLocks noChangeShapeType="1"/>
            </p:cNvSpPr>
            <p:nvPr/>
          </p:nvSpPr>
          <p:spPr bwMode="auto">
            <a:xfrm flipH="1">
              <a:off x="4512" y="2720"/>
              <a:ext cx="240" cy="0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146" y="4486326"/>
            <a:ext cx="4024640" cy="443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51157"/>
            <a:ext cx="3828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并行进位加法器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Text Box 4"/>
          <p:cNvSpPr txBox="1">
            <a:spLocks noChangeArrowheads="1"/>
          </p:cNvSpPr>
          <p:nvPr/>
        </p:nvSpPr>
        <p:spPr bwMode="auto">
          <a:xfrm>
            <a:off x="252811" y="1348068"/>
            <a:ext cx="77559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设加数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和被加数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均为四位二进制数，表示如下：</a:t>
            </a:r>
            <a:endParaRPr lang="zh-CN" altLang="en-US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252811" y="2622730"/>
            <a:ext cx="7724942" cy="1532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设从低位到高位四个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位全加器的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进位输入信号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依次为：</a:t>
            </a:r>
            <a:endParaRPr lang="en-US" altLang="zh-CN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C</a:t>
            </a:r>
            <a:r>
              <a:rPr lang="en-US" altLang="zh-CN" b="1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b="1" baseline="-25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则产生的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进位输出信号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依次为：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C</a:t>
            </a:r>
            <a:r>
              <a:rPr lang="en-US" altLang="zh-CN" b="1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b="1" baseline="-25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b="1" baseline="-25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6" name="Object 3"/>
          <p:cNvGraphicFramePr>
            <a:graphicFrameLocks noChangeAspect="1"/>
          </p:cNvGraphicFramePr>
          <p:nvPr/>
        </p:nvGraphicFramePr>
        <p:xfrm>
          <a:off x="1780206" y="1998744"/>
          <a:ext cx="40957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公式" r:id="rId2" imgW="52425600" imgH="5486400" progId="Equation.3">
                  <p:embed/>
                </p:oleObj>
              </mc:Choice>
              <mc:Fallback>
                <p:oleObj name="公式" r:id="rId2" imgW="52425600" imgH="5486400" progId="Equation.3">
                  <p:embed/>
                  <p:pic>
                    <p:nvPicPr>
                      <p:cNvPr id="0" name="图片 30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206" y="1998744"/>
                        <a:ext cx="4095750" cy="434975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5"/>
          <p:cNvGraphicFramePr>
            <a:graphicFrameLocks noChangeAspect="1"/>
          </p:cNvGraphicFramePr>
          <p:nvPr/>
        </p:nvGraphicFramePr>
        <p:xfrm>
          <a:off x="1646917" y="5032418"/>
          <a:ext cx="5267325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4" imgW="2933700" imgH="914400" progId="Equation.3">
                  <p:embed/>
                </p:oleObj>
              </mc:Choice>
              <mc:Fallback>
                <p:oleObj name="Equation" r:id="rId4" imgW="2933700" imgH="914400" progId="Equation.3">
                  <p:embed/>
                  <p:pic>
                    <p:nvPicPr>
                      <p:cNvPr id="0" name="图片 30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917" y="5032418"/>
                        <a:ext cx="5267325" cy="165735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47"/>
          <p:cNvSpPr txBox="1"/>
          <p:nvPr/>
        </p:nvSpPr>
        <p:spPr>
          <a:xfrm>
            <a:off x="252811" y="4469346"/>
            <a:ext cx="4453066" cy="46166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位并行全加器的逻辑函数：</a:t>
            </a:r>
            <a:endParaRPr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utoUpdateAnimBg="0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51157"/>
            <a:ext cx="3828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并行进位加法器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1905884" y="1344209"/>
          <a:ext cx="5357813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2" imgW="71628000" imgH="21945600" progId="Equation.DSMT4">
                  <p:embed/>
                </p:oleObj>
              </mc:Choice>
              <mc:Fallback>
                <p:oleObj name="Equation" r:id="rId2" imgW="71628000" imgH="21945600" progId="Equation.DSMT4">
                  <p:embed/>
                  <p:pic>
                    <p:nvPicPr>
                      <p:cNvPr id="0" name="图片 40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884" y="1344209"/>
                        <a:ext cx="5357813" cy="165735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5B9BD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6"/>
          <p:cNvGrpSpPr/>
          <p:nvPr/>
        </p:nvGrpSpPr>
        <p:grpSpPr bwMode="auto">
          <a:xfrm>
            <a:off x="38771" y="3414416"/>
            <a:ext cx="9092038" cy="560389"/>
            <a:chOff x="490" y="2819"/>
            <a:chExt cx="5282" cy="353"/>
          </a:xfrm>
        </p:grpSpPr>
        <p:sp>
          <p:nvSpPr>
            <p:cNvPr id="21" name="Text Box 7"/>
            <p:cNvSpPr txBox="1">
              <a:spLocks noChangeArrowheads="1"/>
            </p:cNvSpPr>
            <p:nvPr/>
          </p:nvSpPr>
          <p:spPr bwMode="auto">
            <a:xfrm>
              <a:off x="490" y="2819"/>
              <a:ext cx="5282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进位生成项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为：         ，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进位传递项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为：          ，则：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2" name="Object 8"/>
            <p:cNvGraphicFramePr>
              <a:graphicFrameLocks noChangeAspect="1"/>
            </p:cNvGraphicFramePr>
            <p:nvPr/>
          </p:nvGraphicFramePr>
          <p:xfrm>
            <a:off x="1920" y="2898"/>
            <a:ext cx="8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4" imgW="647700" imgH="215900" progId="Equation.3">
                    <p:embed/>
                  </p:oleObj>
                </mc:Choice>
                <mc:Fallback>
                  <p:oleObj name="Equation" r:id="rId4" imgW="647700" imgH="215900" progId="Equation.3">
                    <p:embed/>
                    <p:pic>
                      <p:nvPicPr>
                        <p:cNvPr id="0" name="图片 40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2898"/>
                          <a:ext cx="81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9"/>
            <p:cNvGraphicFramePr>
              <a:graphicFrameLocks noChangeAspect="1"/>
            </p:cNvGraphicFramePr>
            <p:nvPr/>
          </p:nvGraphicFramePr>
          <p:xfrm>
            <a:off x="4109" y="2898"/>
            <a:ext cx="97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6" imgW="774065" imgH="215900" progId="Equation.3">
                    <p:embed/>
                  </p:oleObj>
                </mc:Choice>
                <mc:Fallback>
                  <p:oleObj name="Equation" r:id="rId6" imgW="774065" imgH="215900" progId="Equation.3">
                    <p:embed/>
                    <p:pic>
                      <p:nvPicPr>
                        <p:cNvPr id="0" name="图片 40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9" y="2898"/>
                          <a:ext cx="97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10"/>
          <p:cNvGraphicFramePr>
            <a:graphicFrameLocks noChangeAspect="1"/>
          </p:cNvGraphicFramePr>
          <p:nvPr/>
        </p:nvGraphicFramePr>
        <p:xfrm>
          <a:off x="737300" y="4293905"/>
          <a:ext cx="7718319" cy="2309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8" imgW="3441700" imgH="914400" progId="Equation.DSMT4">
                  <p:embed/>
                </p:oleObj>
              </mc:Choice>
              <mc:Fallback>
                <p:oleObj name="Equation" r:id="rId8" imgW="3441700" imgH="914400" progId="Equation.DSMT4">
                  <p:embed/>
                  <p:pic>
                    <p:nvPicPr>
                      <p:cNvPr id="0" name="图片 4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300" y="4293905"/>
                        <a:ext cx="7718319" cy="230986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5B9BD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51157"/>
            <a:ext cx="3828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并行进位加法器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Picture 5" descr="4-4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7" y="2228188"/>
            <a:ext cx="5052053" cy="443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5467166" y="5216786"/>
            <a:ext cx="3650260" cy="1001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优点：运算速度快</a:t>
            </a:r>
            <a:endParaRPr lang="en-US" altLang="zh-CN" sz="2400" dirty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缺点：电路结构较复杂</a:t>
            </a:r>
            <a:endParaRPr lang="zh-CN" altLang="en-US" sz="2400" dirty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" name="Group 5"/>
          <p:cNvGrpSpPr/>
          <p:nvPr/>
        </p:nvGrpSpPr>
        <p:grpSpPr bwMode="auto">
          <a:xfrm>
            <a:off x="5568744" y="2597194"/>
            <a:ext cx="3350531" cy="1850972"/>
            <a:chOff x="402" y="1695"/>
            <a:chExt cx="4320" cy="2016"/>
          </a:xfrm>
        </p:grpSpPr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402" y="1695"/>
              <a:ext cx="4320" cy="201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1402" y="3143"/>
              <a:ext cx="2570" cy="30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rPr>
                <a:t> 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B</a:t>
              </a: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B</a:t>
              </a: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B</a:t>
              </a: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B</a:t>
              </a: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</a:t>
              </a:r>
              <a:endPara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1661" y="1725"/>
              <a:ext cx="1926" cy="30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S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S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S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S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1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3790" y="2644"/>
              <a:ext cx="557" cy="30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C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0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6" name="Rectangle 10"/>
            <p:cNvSpPr>
              <a:spLocks noChangeArrowheads="1"/>
            </p:cNvSpPr>
            <p:nvPr/>
          </p:nvSpPr>
          <p:spPr bwMode="auto">
            <a:xfrm>
              <a:off x="611" y="2362"/>
              <a:ext cx="642" cy="30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   C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4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1702" y="2428"/>
              <a:ext cx="1544" cy="52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74</a:t>
              </a:r>
              <a:r>
                <a:rPr kumimoji="0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LS</a:t>
              </a: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283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 bwMode="auto">
            <a:xfrm flipH="1">
              <a:off x="976" y="2709"/>
              <a:ext cx="72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9" name="Line 13"/>
            <p:cNvSpPr>
              <a:spLocks noChangeShapeType="1"/>
            </p:cNvSpPr>
            <p:nvPr/>
          </p:nvSpPr>
          <p:spPr bwMode="auto">
            <a:xfrm flipH="1">
              <a:off x="3246" y="2709"/>
              <a:ext cx="72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0" name="Line 14"/>
            <p:cNvSpPr>
              <a:spLocks noChangeShapeType="1"/>
            </p:cNvSpPr>
            <p:nvPr/>
          </p:nvSpPr>
          <p:spPr bwMode="auto">
            <a:xfrm flipV="1">
              <a:off x="2262" y="2102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1" name="Line 15"/>
            <p:cNvSpPr>
              <a:spLocks noChangeShapeType="1"/>
            </p:cNvSpPr>
            <p:nvPr/>
          </p:nvSpPr>
          <p:spPr bwMode="auto">
            <a:xfrm flipV="1">
              <a:off x="2134" y="2929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2" name="Line 16"/>
            <p:cNvSpPr>
              <a:spLocks noChangeShapeType="1"/>
            </p:cNvSpPr>
            <p:nvPr/>
          </p:nvSpPr>
          <p:spPr bwMode="auto">
            <a:xfrm flipV="1">
              <a:off x="2837" y="2928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 flipV="1">
              <a:off x="1879" y="2102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4" name="Line 18"/>
            <p:cNvSpPr>
              <a:spLocks noChangeShapeType="1"/>
            </p:cNvSpPr>
            <p:nvPr/>
          </p:nvSpPr>
          <p:spPr bwMode="auto">
            <a:xfrm flipV="1">
              <a:off x="3079" y="2096"/>
              <a:ext cx="0" cy="30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 flipV="1">
              <a:off x="2676" y="2102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flipV="1">
              <a:off x="1774" y="2928"/>
              <a:ext cx="0" cy="30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7" name="Line 21"/>
            <p:cNvSpPr>
              <a:spLocks noChangeShapeType="1"/>
            </p:cNvSpPr>
            <p:nvPr/>
          </p:nvSpPr>
          <p:spPr bwMode="auto">
            <a:xfrm flipV="1">
              <a:off x="1953" y="2928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8" name="Line 22"/>
            <p:cNvSpPr>
              <a:spLocks noChangeShapeType="1"/>
            </p:cNvSpPr>
            <p:nvPr/>
          </p:nvSpPr>
          <p:spPr bwMode="auto">
            <a:xfrm flipV="1">
              <a:off x="2314" y="2929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39" name="Line 23"/>
            <p:cNvSpPr>
              <a:spLocks noChangeShapeType="1"/>
            </p:cNvSpPr>
            <p:nvPr/>
          </p:nvSpPr>
          <p:spPr bwMode="auto">
            <a:xfrm flipV="1">
              <a:off x="3185" y="2927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0" name="Line 24"/>
            <p:cNvSpPr>
              <a:spLocks noChangeShapeType="1"/>
            </p:cNvSpPr>
            <p:nvPr/>
          </p:nvSpPr>
          <p:spPr bwMode="auto">
            <a:xfrm flipV="1">
              <a:off x="3020" y="2927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41" name="Line 25"/>
            <p:cNvSpPr>
              <a:spLocks noChangeShapeType="1"/>
            </p:cNvSpPr>
            <p:nvPr/>
          </p:nvSpPr>
          <p:spPr bwMode="auto">
            <a:xfrm flipV="1">
              <a:off x="2669" y="2929"/>
              <a:ext cx="0" cy="3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66FF"/>
                </a:buClr>
                <a:buSzPct val="80000"/>
                <a:buFont typeface="Wingdings" panose="05000000000000000000" pitchFamily="2" charset="2"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47973" y="1530942"/>
            <a:ext cx="296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逻辑电路图</a:t>
            </a:r>
            <a:endParaRPr lang="zh-CN" altLang="en-US" sz="2400" b="1" dirty="0"/>
          </a:p>
        </p:txBody>
      </p:sp>
      <p:sp>
        <p:nvSpPr>
          <p:cNvPr id="42" name="文本框 41"/>
          <p:cNvSpPr txBox="1"/>
          <p:nvPr/>
        </p:nvSpPr>
        <p:spPr>
          <a:xfrm>
            <a:off x="5376837" y="1538737"/>
            <a:ext cx="2960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逻辑符号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51157"/>
            <a:ext cx="3828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加法器应用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7972" y="1530942"/>
            <a:ext cx="86039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/>
              <a:t>例：试用一位全加器实现两位二进制乘法器。</a:t>
            </a:r>
            <a:br>
              <a:rPr lang="zh-CN" altLang="en-US" sz="2400" b="1"/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解：设有两个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2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位二进制数分别为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A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=A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A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0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，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B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=B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B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0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，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P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是其乘法运算结果， 则有： </a:t>
            </a:r>
            <a:b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　　　　　　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P=A×B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=A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A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0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×B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B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0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</a:t>
            </a:r>
            <a:b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由于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位二进制的乘法运算的结果最多是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4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位二进制数， 因此设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P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=P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3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P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2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P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P</a:t>
            </a:r>
            <a:r>
              <a:rPr kumimoji="1" lang="en-US" altLang="zh-CN" sz="2400" b="1" kern="0" baseline="-25000">
                <a:solidFill>
                  <a:srgbClr val="000000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0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，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其各位产生的计算过程如下：</a:t>
            </a:r>
            <a:endParaRPr lang="zh-CN" altLang="en-US" sz="2400" b="1" dirty="0"/>
          </a:p>
        </p:txBody>
      </p:sp>
      <p:pic>
        <p:nvPicPr>
          <p:cNvPr id="43" name="Picture 4" descr="1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933056"/>
            <a:ext cx="4103688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4.4.1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0" y="651157"/>
            <a:ext cx="38280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加法器应用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06482" y="1484784"/>
            <a:ext cx="8229600" cy="3456384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lang="zh-CN" altLang="en-US" sz="2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defRPr>
            </a:lvl1pPr>
            <a:lvl2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其中：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 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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                          　　　　　　　　　　　　　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</a:t>
            </a:r>
            <a:b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其中， 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C</a:t>
            </a:r>
            <a:r>
              <a:rPr kumimoji="1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1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是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A</a:t>
            </a:r>
            <a:r>
              <a:rPr lang="en-US" altLang="zh-CN" kern="0" baseline="-25000">
                <a:solidFill>
                  <a:srgbClr val="000000"/>
                </a:solidFill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B</a:t>
            </a:r>
            <a:r>
              <a:rPr lang="en-US" altLang="zh-CN" kern="0" baseline="-25000">
                <a:solidFill>
                  <a:srgbClr val="000000"/>
                </a:solidFill>
              </a:rPr>
              <a:t>0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+A</a:t>
            </a:r>
            <a:r>
              <a:rPr lang="en-US" altLang="zh-CN" kern="0" baseline="-25000">
                <a:solidFill>
                  <a:srgbClr val="000000"/>
                </a:solidFill>
              </a:rPr>
              <a:t>0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B</a:t>
            </a:r>
            <a:r>
              <a:rPr lang="en-US" altLang="zh-CN" kern="0" baseline="-25000">
                <a:solidFill>
                  <a:srgbClr val="000000"/>
                </a:solidFill>
              </a:rPr>
              <a:t>1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的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进位输出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C</a:t>
            </a:r>
            <a:r>
              <a:rPr lang="en-US" altLang="zh-CN" kern="0" baseline="-25000" dirty="0">
                <a:solidFill>
                  <a:srgbClr val="000000"/>
                </a:solidFill>
              </a:rPr>
              <a:t>2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是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A</a:t>
            </a:r>
            <a:r>
              <a:rPr lang="en-US" altLang="zh-CN" kern="0" baseline="-25000">
                <a:solidFill>
                  <a:srgbClr val="000000"/>
                </a:solidFill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B</a:t>
            </a:r>
            <a:r>
              <a:rPr lang="en-US" altLang="zh-CN" kern="0" baseline="-25000">
                <a:solidFill>
                  <a:srgbClr val="000000"/>
                </a:solidFill>
              </a:rPr>
              <a:t>1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+C</a:t>
            </a:r>
            <a:r>
              <a:rPr lang="en-US" altLang="zh-CN" kern="0" baseline="-25000" dirty="0">
                <a:solidFill>
                  <a:srgbClr val="000000"/>
                </a:solidFill>
              </a:rPr>
              <a:t>1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的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进位输出。 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j-cs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520215" y="2296319"/>
          <a:ext cx="2787650" cy="226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公式" r:id="rId2" imgW="24384000" imgH="19812000" progId="">
                  <p:embed/>
                </p:oleObj>
              </mc:Choice>
              <mc:Fallback>
                <p:oleObj name="公式" r:id="rId2" imgW="24384000" imgH="19812000" progId="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15" y="2296319"/>
                        <a:ext cx="2787650" cy="226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347" y="1606550"/>
            <a:ext cx="3295337" cy="28290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淘宝网chenying0907出品 10"/>
          <p:cNvSpPr txBox="1"/>
          <p:nvPr/>
        </p:nvSpPr>
        <p:spPr>
          <a:xfrm>
            <a:off x="950159" y="3078790"/>
            <a:ext cx="20752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淘宝网chenying0907出品 11"/>
          <p:cNvSpPr/>
          <p:nvPr/>
        </p:nvSpPr>
        <p:spPr>
          <a:xfrm>
            <a:off x="3025365" y="0"/>
            <a:ext cx="611863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3025365" y="39481"/>
            <a:ext cx="2394626" cy="19630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840121" y="4809438"/>
            <a:ext cx="2303880" cy="20485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淘宝网chenying0907出品 20"/>
          <p:cNvSpPr txBox="1"/>
          <p:nvPr/>
        </p:nvSpPr>
        <p:spPr>
          <a:xfrm>
            <a:off x="4003720" y="2143109"/>
            <a:ext cx="360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加法器</a:t>
            </a:r>
            <a:endParaRPr lang="zh-CN" altLang="en-US" dirty="0"/>
          </a:p>
        </p:txBody>
      </p:sp>
      <p:sp>
        <p:nvSpPr>
          <p:cNvPr id="33" name="淘宝网chenying0907出品 25"/>
          <p:cNvSpPr txBox="1"/>
          <p:nvPr/>
        </p:nvSpPr>
        <p:spPr>
          <a:xfrm>
            <a:off x="4015057" y="2947845"/>
            <a:ext cx="413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编码器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4" name="淘宝网chenying0907出品 29"/>
          <p:cNvSpPr txBox="1"/>
          <p:nvPr/>
        </p:nvSpPr>
        <p:spPr>
          <a:xfrm>
            <a:off x="4015057" y="3752581"/>
            <a:ext cx="4890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译码器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198478" y="830243"/>
            <a:ext cx="8823321" cy="1311128"/>
          </a:xfrm>
          <a:prstGeom prst="rect">
            <a:avLst/>
          </a:prstGeom>
          <a:noFill/>
          <a:ln w="22225">
            <a:solidFill>
              <a:sysClr val="windowText" lastClr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457200" eaLnBrk="1" fontAlgn="base" latinLnBrk="0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将一系列的输入信息（高、低电平）变换为以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按一定的规律编排的代码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多位输出信息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，使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每组代码都对应一位有效输入信息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，这种功能称为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。具有编码功能的逻辑电路称为编码器。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0" name="Group 4"/>
          <p:cNvGrpSpPr/>
          <p:nvPr/>
        </p:nvGrpSpPr>
        <p:grpSpPr bwMode="auto">
          <a:xfrm>
            <a:off x="1627463" y="3538127"/>
            <a:ext cx="1129565" cy="981074"/>
            <a:chOff x="2367" y="2754"/>
            <a:chExt cx="882" cy="824"/>
          </a:xfrm>
        </p:grpSpPr>
        <p:sp>
          <p:nvSpPr>
            <p:cNvPr id="61" name="Text Box 5"/>
            <p:cNvSpPr txBox="1">
              <a:spLocks noChangeArrowheads="1"/>
            </p:cNvSpPr>
            <p:nvPr/>
          </p:nvSpPr>
          <p:spPr bwMode="auto">
            <a:xfrm>
              <a:off x="2394" y="2754"/>
              <a:ext cx="74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kern="0" dirty="0">
                  <a:solidFill>
                    <a:srgbClr val="C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译 码</a:t>
              </a:r>
              <a:endParaRPr lang="zh-CN" altLang="en-US" b="1" kern="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62" name="Line 6"/>
            <p:cNvSpPr>
              <a:spLocks noChangeShapeType="1"/>
            </p:cNvSpPr>
            <p:nvPr/>
          </p:nvSpPr>
          <p:spPr bwMode="auto">
            <a:xfrm flipH="1">
              <a:off x="2367" y="2754"/>
              <a:ext cx="848" cy="17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Tahoma" panose="020B0604030504040204" pitchFamily="34" charset="0"/>
                <a:ea typeface="等线" panose="02010600030101010101" pitchFamily="2" charset="-122"/>
              </a:endParaRPr>
            </a:p>
          </p:txBody>
        </p:sp>
        <p:sp>
          <p:nvSpPr>
            <p:cNvPr id="63" name="Text Box 7"/>
            <p:cNvSpPr txBox="1">
              <a:spLocks noChangeArrowheads="1"/>
            </p:cNvSpPr>
            <p:nvPr/>
          </p:nvSpPr>
          <p:spPr bwMode="auto">
            <a:xfrm>
              <a:off x="2384" y="3190"/>
              <a:ext cx="865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kern="0" dirty="0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译码器</a:t>
              </a:r>
              <a:endParaRPr lang="zh-CN" altLang="en-US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64" name="Line 8"/>
            <p:cNvSpPr>
              <a:spLocks noChangeShapeType="1"/>
            </p:cNvSpPr>
            <p:nvPr/>
          </p:nvSpPr>
          <p:spPr bwMode="auto">
            <a:xfrm flipH="1" flipV="1">
              <a:off x="2768" y="3010"/>
              <a:ext cx="5" cy="20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 kern="0">
                <a:solidFill>
                  <a:srgbClr val="000000"/>
                </a:solidFill>
                <a:latin typeface="Tahoma" panose="020B0604030504040204" pitchFamily="34" charset="0"/>
                <a:ea typeface="等线" panose="02010600030101010101" pitchFamily="2" charset="-122"/>
              </a:endParaRPr>
            </a:p>
          </p:txBody>
        </p:sp>
      </p:grpSp>
      <p:grpSp>
        <p:nvGrpSpPr>
          <p:cNvPr id="65" name="Group 9"/>
          <p:cNvGrpSpPr/>
          <p:nvPr/>
        </p:nvGrpSpPr>
        <p:grpSpPr bwMode="auto">
          <a:xfrm>
            <a:off x="198478" y="2429102"/>
            <a:ext cx="4769268" cy="1283493"/>
            <a:chOff x="612" y="1442"/>
            <a:chExt cx="3888" cy="1078"/>
          </a:xfrm>
        </p:grpSpPr>
        <p:sp>
          <p:nvSpPr>
            <p:cNvPr id="66" name="Text Box 10"/>
            <p:cNvSpPr txBox="1">
              <a:spLocks noChangeArrowheads="1"/>
            </p:cNvSpPr>
            <p:nvPr/>
          </p:nvSpPr>
          <p:spPr bwMode="auto">
            <a:xfrm>
              <a:off x="2696" y="2101"/>
              <a:ext cx="180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n</a:t>
              </a:r>
              <a:r>
                <a:rPr lang="zh-CN" altLang="en-US" b="1" kern="0" dirty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位二进制代码</a:t>
              </a:r>
              <a:endParaRPr lang="zh-CN" altLang="en-US" b="1" kern="0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612" y="2132"/>
              <a:ext cx="1237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m</a:t>
              </a:r>
              <a:r>
                <a:rPr lang="zh-CN" altLang="en-US" b="1" kern="0" dirty="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种信息</a:t>
              </a:r>
              <a:endParaRPr lang="zh-CN" altLang="en-US" b="1" kern="0" dirty="0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68" name="Line 12"/>
            <p:cNvSpPr>
              <a:spLocks noChangeShapeType="1"/>
            </p:cNvSpPr>
            <p:nvPr/>
          </p:nvSpPr>
          <p:spPr bwMode="auto">
            <a:xfrm flipV="1">
              <a:off x="1797" y="2295"/>
              <a:ext cx="899" cy="1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kern="0">
                <a:solidFill>
                  <a:srgbClr val="000000"/>
                </a:solidFill>
                <a:latin typeface="Tahoma" panose="020B0604030504040204" pitchFamily="34" charset="0"/>
                <a:ea typeface="等线" panose="02010600030101010101" pitchFamily="2" charset="-122"/>
              </a:endParaRPr>
            </a:p>
          </p:txBody>
        </p:sp>
        <p:sp>
          <p:nvSpPr>
            <p:cNvPr id="69" name="Text Box 13"/>
            <p:cNvSpPr txBox="1">
              <a:spLocks noChangeArrowheads="1"/>
            </p:cNvSpPr>
            <p:nvPr/>
          </p:nvSpPr>
          <p:spPr bwMode="auto">
            <a:xfrm>
              <a:off x="1793" y="1938"/>
              <a:ext cx="77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kern="0" dirty="0">
                  <a:solidFill>
                    <a:srgbClr val="C0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编 码</a:t>
              </a:r>
              <a:endParaRPr lang="zh-CN" altLang="en-US" b="1" kern="0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0" name="Line 14"/>
            <p:cNvSpPr>
              <a:spLocks noChangeShapeType="1"/>
            </p:cNvSpPr>
            <p:nvPr/>
          </p:nvSpPr>
          <p:spPr bwMode="auto">
            <a:xfrm>
              <a:off x="2186" y="1848"/>
              <a:ext cx="7" cy="22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kern="0">
                <a:solidFill>
                  <a:srgbClr val="000000"/>
                </a:solidFill>
                <a:latin typeface="Tahoma" panose="020B0604030504040204" pitchFamily="34" charset="0"/>
                <a:ea typeface="等线" panose="02010600030101010101" pitchFamily="2" charset="-122"/>
              </a:endParaRPr>
            </a:p>
          </p:txBody>
        </p:sp>
        <p:sp>
          <p:nvSpPr>
            <p:cNvPr id="71" name="Text Box 15"/>
            <p:cNvSpPr txBox="1">
              <a:spLocks noChangeArrowheads="1"/>
            </p:cNvSpPr>
            <p:nvPr/>
          </p:nvSpPr>
          <p:spPr bwMode="auto">
            <a:xfrm>
              <a:off x="1735" y="1442"/>
              <a:ext cx="903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kern="0" dirty="0">
                  <a:solidFill>
                    <a:srgbClr val="FF0000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编码器</a:t>
              </a:r>
              <a:endParaRPr lang="zh-CN" altLang="en-US" b="1" kern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72" name="Rectangle 16"/>
            <p:cNvSpPr>
              <a:spLocks noChangeArrowheads="1"/>
            </p:cNvSpPr>
            <p:nvPr/>
          </p:nvSpPr>
          <p:spPr bwMode="auto">
            <a:xfrm>
              <a:off x="3002" y="1827"/>
              <a:ext cx="736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 kern="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m≤2</a:t>
              </a:r>
              <a:r>
                <a:rPr lang="en-US" altLang="zh-CN" b="1" kern="0" baseline="30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endParaRPr lang="en-US" altLang="zh-CN" b="1" kern="0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73" name="Object 17"/>
          <p:cNvGraphicFramePr>
            <a:graphicFrameLocks noChangeAspect="1"/>
          </p:cNvGraphicFramePr>
          <p:nvPr/>
        </p:nvGraphicFramePr>
        <p:xfrm>
          <a:off x="198478" y="4658118"/>
          <a:ext cx="4244230" cy="1651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Visio" r:id="rId2" imgW="2635885" imgH="1059815" progId="Visio.Drawing.11">
                  <p:embed/>
                </p:oleObj>
              </mc:Choice>
              <mc:Fallback>
                <p:oleObj name="Visio" r:id="rId2" imgW="2635885" imgH="1059815" progId="Visio.Drawing.11">
                  <p:embed/>
                  <p:pic>
                    <p:nvPicPr>
                      <p:cNvPr id="0" name="图片 6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78" y="4658118"/>
                        <a:ext cx="4244230" cy="1651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" name="组合 73"/>
          <p:cNvGrpSpPr/>
          <p:nvPr/>
        </p:nvGrpSpPr>
        <p:grpSpPr>
          <a:xfrm>
            <a:off x="5286880" y="2940682"/>
            <a:ext cx="3734919" cy="3157038"/>
            <a:chOff x="5121665" y="3009190"/>
            <a:chExt cx="3734919" cy="2853675"/>
          </a:xfrm>
        </p:grpSpPr>
        <p:sp>
          <p:nvSpPr>
            <p:cNvPr id="75" name="Rectangle 3"/>
            <p:cNvSpPr txBox="1">
              <a:spLocks noChangeArrowheads="1"/>
            </p:cNvSpPr>
            <p:nvPr/>
          </p:nvSpPr>
          <p:spPr>
            <a:xfrm>
              <a:off x="5121665" y="3009190"/>
              <a:ext cx="3667706" cy="2853675"/>
            </a:xfrm>
            <a:prstGeom prst="rect">
              <a:avLst/>
            </a:prstGeom>
            <a:noFill/>
            <a:ln w="22225">
              <a:solidFill>
                <a:srgbClr val="4472C4"/>
              </a:solidFill>
            </a:ln>
          </p:spPr>
          <p:txBody>
            <a:bodyPr vert="horz" lIns="68580" tIns="34290" rIns="68580" bIns="3429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编码器的分类</a:t>
              </a:r>
              <a:endPara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257175" marR="0" lvl="0" indent="-257175" algn="l" defTabSz="914400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56F5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按照输出的代码种类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56F5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539750" marR="0" lvl="2" indent="-257175" algn="l" defTabSz="914400" rtl="0" eaLnBrk="1" fontAlgn="auto" latinLnBrk="0" hangingPunct="1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二进制编码器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539750" marR="0" lvl="2" indent="-257175" algn="l" defTabSz="914400" rtl="0" eaLnBrk="1" fontAlgn="auto" latinLnBrk="0" hangingPunct="1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二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--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十进制编码器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257175" marR="0" lvl="2" indent="-257175" algn="l" defTabSz="914400" rtl="0" eaLnBrk="1" fontAlgn="auto" latinLnBrk="0" hangingPunct="1">
                <a:lnSpc>
                  <a:spcPct val="12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56F5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按是否有优先权编码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B56F5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539750" marR="0" lvl="2" indent="-257175" algn="l" defTabSz="914400" rtl="0" eaLnBrk="1" fontAlgn="auto" latinLnBrk="0" hangingPunct="1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普通编码器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539750" marR="0" lvl="2" indent="-257175" algn="l" defTabSz="914400" rtl="0" eaLnBrk="1" fontAlgn="auto" latinLnBrk="0" hangingPunct="1">
                <a:lnSpc>
                  <a:spcPct val="12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优先编码器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6" name="Text Box 4"/>
            <p:cNvSpPr txBox="1">
              <a:spLocks noChangeArrowheads="1"/>
            </p:cNvSpPr>
            <p:nvPr/>
          </p:nvSpPr>
          <p:spPr bwMode="auto">
            <a:xfrm>
              <a:off x="7256780" y="3799558"/>
              <a:ext cx="1203706" cy="417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＝</a:t>
              </a: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77" name="Rectangle 5"/>
            <p:cNvSpPr>
              <a:spLocks noChangeArrowheads="1"/>
            </p:cNvSpPr>
            <p:nvPr/>
          </p:nvSpPr>
          <p:spPr bwMode="auto">
            <a:xfrm>
              <a:off x="7778585" y="4175288"/>
              <a:ext cx="1077999" cy="417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m&lt;2</a:t>
              </a:r>
              <a:r>
                <a:rPr kumimoji="1" lang="en-US" altLang="zh-CN" b="1" i="0" u="none" strike="noStrike" kern="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kumimoji="1" lang="en-US" altLang="zh-CN" b="1" i="0" u="none" strike="noStrike" kern="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370" y="0"/>
            <a:ext cx="1435167" cy="61939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1422797" y="619399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26671" y="756330"/>
            <a:ext cx="2817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6" name="Group 6"/>
          <p:cNvGrpSpPr/>
          <p:nvPr/>
        </p:nvGrpSpPr>
        <p:grpSpPr bwMode="auto">
          <a:xfrm>
            <a:off x="1635213" y="3099524"/>
            <a:ext cx="3991113" cy="3685827"/>
            <a:chOff x="1178" y="827"/>
            <a:chExt cx="3507" cy="3980"/>
          </a:xfrm>
        </p:grpSpPr>
        <p:sp>
          <p:nvSpPr>
            <p:cNvPr id="37" name="Rectangle 4"/>
            <p:cNvSpPr>
              <a:spLocks noChangeArrowheads="1"/>
            </p:cNvSpPr>
            <p:nvPr/>
          </p:nvSpPr>
          <p:spPr bwMode="auto">
            <a:xfrm>
              <a:off x="1749" y="4308"/>
              <a:ext cx="2731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defTabSz="457200">
                <a:spcBef>
                  <a:spcPct val="20000"/>
                </a:spcBef>
              </a:pPr>
              <a:r>
                <a:rPr lang="zh-CN" altLang="en-US" b="1" dirty="0">
                  <a:solidFill>
                    <a:srgbClr val="FF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普通的</a:t>
              </a:r>
              <a:r>
                <a:rPr lang="en-US" altLang="zh-CN" b="1" dirty="0">
                  <a:solidFill>
                    <a:srgbClr val="FF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lang="zh-CN" altLang="en-US" b="1" dirty="0">
                  <a:solidFill>
                    <a:srgbClr val="FF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线</a:t>
              </a:r>
              <a:r>
                <a:rPr lang="en-US" altLang="zh-CN" b="1" dirty="0">
                  <a:solidFill>
                    <a:srgbClr val="FF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-3</a:t>
              </a:r>
              <a:r>
                <a:rPr lang="zh-CN" altLang="en-US" b="1" dirty="0">
                  <a:solidFill>
                    <a:srgbClr val="FF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线编码器</a:t>
              </a:r>
              <a:endParaRPr lang="zh-CN" altLang="en-US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38" name="Picture 5" descr="4-4-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" y="827"/>
              <a:ext cx="3507" cy="3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组合 38"/>
          <p:cNvGrpSpPr/>
          <p:nvPr/>
        </p:nvGrpSpPr>
        <p:grpSpPr>
          <a:xfrm>
            <a:off x="501991" y="1292899"/>
            <a:ext cx="5555786" cy="984188"/>
            <a:chOff x="640238" y="5331544"/>
            <a:chExt cx="5321484" cy="2008582"/>
          </a:xfrm>
        </p:grpSpPr>
        <p:sp>
          <p:nvSpPr>
            <p:cNvPr id="40" name="文本框 39"/>
            <p:cNvSpPr txBox="1"/>
            <p:nvPr/>
          </p:nvSpPr>
          <p:spPr>
            <a:xfrm>
              <a:off x="640238" y="5331544"/>
              <a:ext cx="5321484" cy="2008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个输入信号：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defTabSz="4572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个输出信号：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位二进制代码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</a:rPr>
                <a:t>Y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</a:rPr>
                <a:t>2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</a:rPr>
                <a:t>Y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</a:rPr>
                <a:t>1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</a:rPr>
                <a:t>Y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等线" panose="02010600030101010101" pitchFamily="2" charset="-122"/>
                </a:rPr>
                <a:t>0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1" name="Object 4"/>
            <p:cNvGraphicFramePr>
              <a:graphicFrameLocks noChangeAspect="1"/>
            </p:cNvGraphicFramePr>
            <p:nvPr/>
          </p:nvGraphicFramePr>
          <p:xfrm>
            <a:off x="2539545" y="5505041"/>
            <a:ext cx="1003266" cy="876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" name="Equation" r:id="rId3" imgW="457200" imgH="254000" progId="Equation.DSMT4">
                    <p:embed/>
                  </p:oleObj>
                </mc:Choice>
                <mc:Fallback>
                  <p:oleObj name="Equation" r:id="rId3" imgW="457200" imgH="254000" progId="Equation.DSMT4">
                    <p:embed/>
                    <p:pic>
                      <p:nvPicPr>
                        <p:cNvPr id="0" name="图片 71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9545" y="5505041"/>
                          <a:ext cx="1003266" cy="876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文本框 41"/>
            <p:cNvSpPr txBox="1"/>
            <p:nvPr/>
          </p:nvSpPr>
          <p:spPr>
            <a:xfrm>
              <a:off x="3332976" y="5393645"/>
              <a:ext cx="2209453" cy="942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（低电平有效）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43" name="Object 4"/>
          <p:cNvGraphicFramePr>
            <a:graphicFrameLocks noChangeAspect="1"/>
          </p:cNvGraphicFramePr>
          <p:nvPr/>
        </p:nvGraphicFramePr>
        <p:xfrm>
          <a:off x="6415317" y="3846998"/>
          <a:ext cx="2183387" cy="2214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18897600" imgH="19202400" progId="Equation.DSMT4">
                  <p:embed/>
                </p:oleObj>
              </mc:Choice>
              <mc:Fallback>
                <p:oleObj name="Equation" r:id="rId5" imgW="18897600" imgH="19202400" progId="Equation.DSMT4">
                  <p:embed/>
                  <p:pic>
                    <p:nvPicPr>
                      <p:cNvPr id="0" name="图片 7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317" y="3846998"/>
                        <a:ext cx="2183387" cy="22145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68032" y="4491937"/>
            <a:ext cx="512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输入信号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1280643" y="4386592"/>
            <a:ext cx="269078" cy="1862510"/>
          </a:xfrm>
          <a:prstGeom prst="leftBrace">
            <a:avLst/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左大括号 3"/>
          <p:cNvSpPr/>
          <p:nvPr/>
        </p:nvSpPr>
        <p:spPr>
          <a:xfrm rot="5400000">
            <a:off x="3587379" y="1587204"/>
            <a:ext cx="283948" cy="2662901"/>
          </a:xfrm>
          <a:prstGeom prst="leftBrace">
            <a:avLst/>
          </a:prstGeom>
          <a:ln w="158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008642" y="2399164"/>
            <a:ext cx="1555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输出信号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49367" y="63074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1" y="84031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77837" y="788382"/>
            <a:ext cx="2929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6" name="Group 6"/>
          <p:cNvGrpSpPr/>
          <p:nvPr/>
        </p:nvGrpSpPr>
        <p:grpSpPr bwMode="auto">
          <a:xfrm>
            <a:off x="341044" y="1585501"/>
            <a:ext cx="5627169" cy="3648756"/>
            <a:chOff x="476" y="703"/>
            <a:chExt cx="4808" cy="2371"/>
          </a:xfrm>
        </p:grpSpPr>
        <p:sp>
          <p:nvSpPr>
            <p:cNvPr id="47" name="Rectangle 4"/>
            <p:cNvSpPr>
              <a:spLocks noChangeArrowheads="1"/>
            </p:cNvSpPr>
            <p:nvPr/>
          </p:nvSpPr>
          <p:spPr bwMode="auto">
            <a:xfrm>
              <a:off x="659" y="703"/>
              <a:ext cx="436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普通</a:t>
              </a:r>
              <a:r>
                <a:rPr lang="en-US" altLang="zh-CN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lang="zh-CN" altLang="en-US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线</a:t>
              </a:r>
              <a:r>
                <a:rPr lang="en-US" altLang="zh-CN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—3</a:t>
              </a:r>
              <a:r>
                <a:rPr lang="zh-CN" altLang="en-US" b="1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线编码器输入输出关系表</a:t>
              </a:r>
              <a:endPara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48" name="Picture 5" descr="B4-4-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" y="1117"/>
              <a:ext cx="4808" cy="19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组合 13"/>
          <p:cNvGrpSpPr/>
          <p:nvPr/>
        </p:nvGrpSpPr>
        <p:grpSpPr>
          <a:xfrm>
            <a:off x="554691" y="2911657"/>
            <a:ext cx="3667226" cy="2205389"/>
            <a:chOff x="5260258" y="4272116"/>
            <a:chExt cx="4527755" cy="2177569"/>
          </a:xfrm>
        </p:grpSpPr>
        <p:sp>
          <p:nvSpPr>
            <p:cNvPr id="13" name="椭圆 12"/>
            <p:cNvSpPr/>
            <p:nvPr/>
          </p:nvSpPr>
          <p:spPr>
            <a:xfrm>
              <a:off x="5260258" y="4272116"/>
              <a:ext cx="196645" cy="2064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  <p:sp>
          <p:nvSpPr>
            <p:cNvPr id="49" name="椭圆 48"/>
            <p:cNvSpPr/>
            <p:nvPr/>
          </p:nvSpPr>
          <p:spPr>
            <a:xfrm>
              <a:off x="5876755" y="4557252"/>
              <a:ext cx="196645" cy="2064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0" name="椭圆 49"/>
            <p:cNvSpPr/>
            <p:nvPr/>
          </p:nvSpPr>
          <p:spPr>
            <a:xfrm>
              <a:off x="6499122" y="4845656"/>
              <a:ext cx="196645" cy="2064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1" name="椭圆 50"/>
            <p:cNvSpPr/>
            <p:nvPr/>
          </p:nvSpPr>
          <p:spPr>
            <a:xfrm>
              <a:off x="7113639" y="5084262"/>
              <a:ext cx="196645" cy="2064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2" name="椭圆 51"/>
            <p:cNvSpPr/>
            <p:nvPr/>
          </p:nvSpPr>
          <p:spPr>
            <a:xfrm>
              <a:off x="7732514" y="5404646"/>
              <a:ext cx="196645" cy="2064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3" name="椭圆 52"/>
            <p:cNvSpPr/>
            <p:nvPr/>
          </p:nvSpPr>
          <p:spPr>
            <a:xfrm>
              <a:off x="8374181" y="5665611"/>
              <a:ext cx="196645" cy="2064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4" name="椭圆 53"/>
            <p:cNvSpPr/>
            <p:nvPr/>
          </p:nvSpPr>
          <p:spPr>
            <a:xfrm>
              <a:off x="8981767" y="5948174"/>
              <a:ext cx="196645" cy="2064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5" name="椭圆 54"/>
            <p:cNvSpPr/>
            <p:nvPr/>
          </p:nvSpPr>
          <p:spPr>
            <a:xfrm>
              <a:off x="9591368" y="6243207"/>
              <a:ext cx="196645" cy="20647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188657" y="1683186"/>
            <a:ext cx="2569687" cy="45243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功能：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位输出信号表示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个输入信号中的某一个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有效输入的编号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任何时刻只允许所有输入中的一个有效，否则会出现输出混乱情况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487723" y="2903229"/>
            <a:ext cx="1238865" cy="209116"/>
          </a:xfrm>
          <a:prstGeom prst="round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弧形 6"/>
          <p:cNvSpPr/>
          <p:nvPr/>
        </p:nvSpPr>
        <p:spPr>
          <a:xfrm>
            <a:off x="669997" y="2567098"/>
            <a:ext cx="4140267" cy="697329"/>
          </a:xfrm>
          <a:prstGeom prst="arc">
            <a:avLst>
              <a:gd name="adj1" fmla="val 10756078"/>
              <a:gd name="adj2" fmla="val 0"/>
            </a:avLst>
          </a:prstGeom>
          <a:ln w="25400">
            <a:solidFill>
              <a:srgbClr val="FF33CC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4502655" y="3188891"/>
            <a:ext cx="1238865" cy="209116"/>
          </a:xfrm>
          <a:prstGeom prst="round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弧形 24"/>
          <p:cNvSpPr/>
          <p:nvPr/>
        </p:nvSpPr>
        <p:spPr>
          <a:xfrm>
            <a:off x="1213290" y="2966534"/>
            <a:ext cx="3611906" cy="583556"/>
          </a:xfrm>
          <a:prstGeom prst="arc">
            <a:avLst>
              <a:gd name="adj1" fmla="val 10756078"/>
              <a:gd name="adj2" fmla="val 0"/>
            </a:avLst>
          </a:prstGeom>
          <a:ln w="25400">
            <a:solidFill>
              <a:srgbClr val="FF33CC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69622" y="5738873"/>
            <a:ext cx="5186829" cy="461665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每一组输入信号中只有一个有效信号</a:t>
            </a:r>
            <a:endParaRPr lang="zh-CN" altLang="en-US" sz="2400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69997" y="3156155"/>
            <a:ext cx="3392649" cy="2582718"/>
            <a:chOff x="669997" y="3156155"/>
            <a:chExt cx="3392649" cy="2582718"/>
          </a:xfrm>
        </p:grpSpPr>
        <p:cxnSp>
          <p:nvCxnSpPr>
            <p:cNvPr id="18" name="直接箭头连接符 17"/>
            <p:cNvCxnSpPr>
              <a:stCxn id="16" idx="0"/>
            </p:cNvCxnSpPr>
            <p:nvPr/>
          </p:nvCxnSpPr>
          <p:spPr>
            <a:xfrm flipH="1" flipV="1">
              <a:off x="669997" y="3156155"/>
              <a:ext cx="2493040" cy="258271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6" idx="0"/>
            </p:cNvCxnSpPr>
            <p:nvPr/>
          </p:nvCxnSpPr>
          <p:spPr>
            <a:xfrm flipH="1" flipV="1">
              <a:off x="1171443" y="3409552"/>
              <a:ext cx="1991594" cy="2329321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6" idx="0"/>
              <a:endCxn id="50" idx="5"/>
            </p:cNvCxnSpPr>
            <p:nvPr/>
          </p:nvCxnSpPr>
          <p:spPr>
            <a:xfrm flipH="1" flipV="1">
              <a:off x="1694047" y="3671016"/>
              <a:ext cx="1468990" cy="206785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6" idx="0"/>
              <a:endCxn id="51" idx="5"/>
            </p:cNvCxnSpPr>
            <p:nvPr/>
          </p:nvCxnSpPr>
          <p:spPr>
            <a:xfrm flipH="1" flipV="1">
              <a:off x="2191771" y="3912671"/>
              <a:ext cx="971266" cy="1826202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6" idx="0"/>
              <a:endCxn id="52" idx="5"/>
            </p:cNvCxnSpPr>
            <p:nvPr/>
          </p:nvCxnSpPr>
          <p:spPr>
            <a:xfrm flipH="1" flipV="1">
              <a:off x="2693025" y="4237148"/>
              <a:ext cx="470012" cy="1501725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6" idx="0"/>
            </p:cNvCxnSpPr>
            <p:nvPr/>
          </p:nvCxnSpPr>
          <p:spPr>
            <a:xfrm flipH="1" flipV="1">
              <a:off x="3144134" y="4555957"/>
              <a:ext cx="18903" cy="1182916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stCxn id="16" idx="0"/>
              <a:endCxn id="54" idx="3"/>
            </p:cNvCxnSpPr>
            <p:nvPr/>
          </p:nvCxnSpPr>
          <p:spPr>
            <a:xfrm flipV="1">
              <a:off x="3163037" y="4787620"/>
              <a:ext cx="429191" cy="95125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16" idx="0"/>
            </p:cNvCxnSpPr>
            <p:nvPr/>
          </p:nvCxnSpPr>
          <p:spPr>
            <a:xfrm flipV="1">
              <a:off x="3163037" y="5109724"/>
              <a:ext cx="899609" cy="629149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 animBg="1"/>
      <p:bldP spid="7" grpId="0" animBg="1"/>
      <p:bldP spid="24" grpId="0" animBg="1"/>
      <p:bldP spid="2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49367" y="63074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1" y="84031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06202" y="733441"/>
            <a:ext cx="2929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普通编码器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 4"/>
          <p:cNvSpPr txBox="1">
            <a:spLocks noChangeArrowheads="1"/>
          </p:cNvSpPr>
          <p:nvPr/>
        </p:nvSpPr>
        <p:spPr bwMode="auto">
          <a:xfrm>
            <a:off x="633432" y="1359358"/>
            <a:ext cx="6994525" cy="4862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//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普通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8-3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线编码器模块定义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module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encoder1(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iIN_N,oY_N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); 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input[7:0]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iIN_N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output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reg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[2:0]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always@(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iIN_N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 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case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iIN_N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     8'b01111111: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=3'b000;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8'b10111111: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=3'b001;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8'b11011111: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=3'b010;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8'b11101111: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=3'b011;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8'b11110111: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=3'b100;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8'b11111011: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=3'b101;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8'b11111101: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=3'b110;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8'b11111110: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=3'b111;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	     default: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oY_N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=3'bxxx;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      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endcase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5B00B6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</a:rPr>
              <a:t>endmodule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49371" y="66769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5" y="120981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99919" y="796167"/>
            <a:ext cx="3590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339668" y="1650670"/>
            <a:ext cx="8464664" cy="8309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允许几个输入端</a:t>
            </a: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同时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加上有效信号，电路只对其中</a:t>
            </a: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优先级别最高的信号编码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（优先级别由设计者根据需要确定）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06341" y="3167920"/>
            <a:ext cx="3937634" cy="2577629"/>
            <a:chOff x="5006341" y="3167920"/>
            <a:chExt cx="3937634" cy="2577629"/>
          </a:xfrm>
        </p:grpSpPr>
        <p:sp>
          <p:nvSpPr>
            <p:cNvPr id="12" name="文本框 11"/>
            <p:cNvSpPr txBox="1"/>
            <p:nvPr/>
          </p:nvSpPr>
          <p:spPr>
            <a:xfrm>
              <a:off x="5006341" y="3167920"/>
              <a:ext cx="3937634" cy="257762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>
                <a:spcAft>
                  <a:spcPts val="900"/>
                </a:spcAft>
              </a:pPr>
              <a:r>
                <a:rPr lang="zh-CN" altLang="en-US" sz="2400" b="1" dirty="0">
                  <a:solidFill>
                    <a:srgbClr val="FF33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输出端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endPara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2400" b="1" dirty="0">
                  <a:solidFill>
                    <a:srgbClr val="170A8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2400" b="1" dirty="0">
                  <a:solidFill>
                    <a:srgbClr val="170A8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位输出编码信号：</a:t>
              </a:r>
              <a:endPara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endPara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rgbClr val="170A8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选通输出端</a:t>
              </a:r>
              <a:r>
                <a:rPr lang="en-US" altLang="zh-CN" sz="2800" b="1" i="1" dirty="0">
                  <a:solidFill>
                    <a:srgbClr val="170A8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sz="2800" b="1" baseline="-25000" dirty="0">
                  <a:solidFill>
                    <a:srgbClr val="170A8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和</a:t>
              </a:r>
              <a:r>
                <a:rPr lang="zh-CN" altLang="en-US" sz="2400" b="1" dirty="0">
                  <a:solidFill>
                    <a:srgbClr val="170A8E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扩展输出端   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：用于电路的</a:t>
              </a:r>
              <a:r>
                <a:rPr lang="zh-CN" altLang="en-US" sz="24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扩展</a:t>
              </a:r>
              <a:endPara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矩形 2"/>
                <p:cNvSpPr/>
                <p:nvPr/>
              </p:nvSpPr>
              <p:spPr>
                <a:xfrm>
                  <a:off x="7518533" y="3721568"/>
                  <a:ext cx="969434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400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zh-CN" altLang="en-US" sz="2400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zh-CN" altLang="en-US" sz="2400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533" y="3721568"/>
                  <a:ext cx="969434" cy="461665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5381705" y="5204461"/>
                  <a:ext cx="508935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400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𝐸𝑋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1705" y="5204461"/>
                  <a:ext cx="508935" cy="46166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/>
          <p:cNvGrpSpPr/>
          <p:nvPr/>
        </p:nvGrpSpPr>
        <p:grpSpPr>
          <a:xfrm>
            <a:off x="235470" y="2758491"/>
            <a:ext cx="4626958" cy="3842207"/>
            <a:chOff x="235470" y="2758491"/>
            <a:chExt cx="4626958" cy="3842207"/>
          </a:xfrm>
        </p:grpSpPr>
        <p:grpSp>
          <p:nvGrpSpPr>
            <p:cNvPr id="33" name="组合 32"/>
            <p:cNvGrpSpPr/>
            <p:nvPr/>
          </p:nvGrpSpPr>
          <p:grpSpPr>
            <a:xfrm>
              <a:off x="235470" y="2758491"/>
              <a:ext cx="4626958" cy="3842207"/>
              <a:chOff x="564502" y="5335923"/>
              <a:chExt cx="5075446" cy="2445883"/>
            </a:xfrm>
          </p:grpSpPr>
          <p:sp>
            <p:nvSpPr>
              <p:cNvPr id="34" name="文本框 33"/>
              <p:cNvSpPr txBox="1"/>
              <p:nvPr/>
            </p:nvSpPr>
            <p:spPr>
              <a:xfrm>
                <a:off x="564502" y="5335923"/>
                <a:ext cx="5075446" cy="2445883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900"/>
                  </a:spcAft>
                </a:pPr>
                <a:r>
                  <a:rPr lang="zh-CN" altLang="en-US" sz="2400" b="1" dirty="0">
                    <a:solidFill>
                      <a:srgbClr val="FF33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输入端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en-US" altLang="zh-CN" sz="2400" b="1" dirty="0">
                    <a:solidFill>
                      <a:srgbClr val="170A8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r>
                  <a:rPr lang="zh-CN" altLang="en-US" sz="2400" b="1" dirty="0">
                    <a:solidFill>
                      <a:srgbClr val="170A8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个输入信号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     （优先权递增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低电平有效）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b="1" dirty="0">
                    <a:solidFill>
                      <a:srgbClr val="170A8E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选通控制输入端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214630" indent="-21463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取值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：编码器的输出取决于输入信号（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编码电路工作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214630" indent="-214630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取值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：所有输出均被封锁为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（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编码电路不工作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）</a:t>
                </a:r>
                <a:endParaRPr lang="en-US" altLang="zh-CN" sz="2400" b="1" dirty="0">
                  <a:solidFill>
                    <a:srgbClr val="00B0F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35" name="Object 4"/>
              <p:cNvGraphicFramePr>
                <a:graphicFrameLocks noChangeAspect="1"/>
              </p:cNvGraphicFramePr>
              <p:nvPr/>
            </p:nvGraphicFramePr>
            <p:xfrm>
              <a:off x="2889752" y="5636334"/>
              <a:ext cx="746623" cy="3126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4" name="Equation" r:id="rId4" imgW="457200" imgH="254000" progId="Equation.DSMT4">
                      <p:embed/>
                    </p:oleObj>
                  </mc:Choice>
                  <mc:Fallback>
                    <p:oleObj name="Equation" r:id="rId4" imgW="457200" imgH="254000" progId="Equation.DSMT4">
                      <p:embed/>
                      <p:pic>
                        <p:nvPicPr>
                          <p:cNvPr id="0" name="图片 819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9752" y="5636334"/>
                            <a:ext cx="746623" cy="312667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" name="Object 4"/>
            <p:cNvGraphicFramePr>
              <a:graphicFrameLocks noChangeAspect="1"/>
            </p:cNvGraphicFramePr>
            <p:nvPr/>
          </p:nvGraphicFramePr>
          <p:xfrm>
            <a:off x="2695575" y="4332784"/>
            <a:ext cx="514350" cy="4540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95" name="Equation" r:id="rId6" imgW="203200" imgH="190500" progId="Equation.DSMT4">
                    <p:embed/>
                  </p:oleObj>
                </mc:Choice>
                <mc:Fallback>
                  <p:oleObj name="Equation" r:id="rId6" imgW="203200" imgH="190500" progId="Equation.DSMT4">
                    <p:embed/>
                    <p:pic>
                      <p:nvPicPr>
                        <p:cNvPr id="0" name="图片 81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5575" y="4332784"/>
                          <a:ext cx="514350" cy="45407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27244" y="62948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68" y="82771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21287" y="672134"/>
            <a:ext cx="35377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721" y="2517311"/>
            <a:ext cx="5829300" cy="2553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2689316" y="1052974"/>
            <a:ext cx="3766030" cy="504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74LS148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功能表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Line 6"/>
          <p:cNvSpPr>
            <a:spLocks noChangeShapeType="1"/>
          </p:cNvSpPr>
          <p:nvPr/>
        </p:nvSpPr>
        <p:spPr bwMode="auto">
          <a:xfrm flipH="1">
            <a:off x="1955918" y="3309119"/>
            <a:ext cx="3200400" cy="1657350"/>
          </a:xfrm>
          <a:prstGeom prst="line">
            <a:avLst/>
          </a:prstGeom>
          <a:noFill/>
          <a:ln w="12700">
            <a:solidFill>
              <a:srgbClr val="FF6600"/>
            </a:solidFill>
            <a:prstDash val="sysDot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6" name="Text Box 7"/>
          <p:cNvSpPr txBox="1">
            <a:spLocks noChangeArrowheads="1"/>
          </p:cNvSpPr>
          <p:nvPr/>
        </p:nvSpPr>
        <p:spPr bwMode="auto">
          <a:xfrm>
            <a:off x="6582741" y="1364437"/>
            <a:ext cx="461665" cy="1230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扩展输出端</a:t>
            </a:r>
            <a:endParaRPr lang="zh-CN" altLang="en-US" sz="1800" b="1" kern="0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Text Box 8"/>
          <p:cNvSpPr txBox="1">
            <a:spLocks noChangeArrowheads="1"/>
          </p:cNvSpPr>
          <p:nvPr/>
        </p:nvSpPr>
        <p:spPr bwMode="auto">
          <a:xfrm>
            <a:off x="6980881" y="1355366"/>
            <a:ext cx="461665" cy="1230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选通输出端</a:t>
            </a:r>
            <a:endParaRPr lang="zh-CN" altLang="en-US" sz="1800" b="1" kern="0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2211" y="1854874"/>
            <a:ext cx="776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选通输入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60352" y="2126284"/>
            <a:ext cx="1991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位输入信号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493878" y="1901755"/>
            <a:ext cx="1066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位输出信号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689967" y="2894657"/>
            <a:ext cx="265951" cy="2423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2" name="直接连接符 11"/>
          <p:cNvCxnSpPr/>
          <p:nvPr/>
        </p:nvCxnSpPr>
        <p:spPr>
          <a:xfrm>
            <a:off x="1689967" y="3298917"/>
            <a:ext cx="355148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7113071" y="3136980"/>
            <a:ext cx="265951" cy="193836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" name="组合 1"/>
          <p:cNvGrpSpPr/>
          <p:nvPr/>
        </p:nvGrpSpPr>
        <p:grpSpPr>
          <a:xfrm>
            <a:off x="257706" y="5236315"/>
            <a:ext cx="8629251" cy="389530"/>
            <a:chOff x="257706" y="5236315"/>
            <a:chExt cx="8629251" cy="389530"/>
          </a:xfrm>
        </p:grpSpPr>
        <p:sp>
          <p:nvSpPr>
            <p:cNvPr id="8" name="文本框 7"/>
            <p:cNvSpPr txBox="1"/>
            <p:nvPr/>
          </p:nvSpPr>
          <p:spPr>
            <a:xfrm>
              <a:off x="257706" y="5236315"/>
              <a:ext cx="8629251" cy="3895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marL="257175" indent="-257175">
                <a:lnSpc>
                  <a:spcPct val="11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当   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=1</a:t>
              </a: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时，电路不工作，所有输出都为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；</a:t>
              </a:r>
              <a:endPara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0" name="Object 4"/>
            <p:cNvGraphicFramePr>
              <a:graphicFrameLocks noChangeAspect="1"/>
            </p:cNvGraphicFramePr>
            <p:nvPr/>
          </p:nvGraphicFramePr>
          <p:xfrm>
            <a:off x="837894" y="5277529"/>
            <a:ext cx="459946" cy="297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Equation" r:id="rId3" imgW="203200" imgH="190500" progId="Equation.DSMT4">
                    <p:embed/>
                  </p:oleObj>
                </mc:Choice>
                <mc:Fallback>
                  <p:oleObj name="Equation" r:id="rId3" imgW="203200" imgH="190500" progId="Equation.DSMT4">
                    <p:embed/>
                    <p:pic>
                      <p:nvPicPr>
                        <p:cNvPr id="0" name="图片 92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7894" y="5277529"/>
                          <a:ext cx="459946" cy="29731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57705" y="5616053"/>
            <a:ext cx="8662961" cy="430887"/>
            <a:chOff x="257705" y="5616053"/>
            <a:chExt cx="8662961" cy="430887"/>
          </a:xfrm>
        </p:grpSpPr>
        <p:sp>
          <p:nvSpPr>
            <p:cNvPr id="11" name="矩形 10"/>
            <p:cNvSpPr/>
            <p:nvPr/>
          </p:nvSpPr>
          <p:spPr>
            <a:xfrm>
              <a:off x="257705" y="5616053"/>
              <a:ext cx="8662961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57175" lvl="0" indent="-257175">
                <a:lnSpc>
                  <a:spcPct val="11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   </a:t>
              </a:r>
              <a:r>
                <a:rPr lang="en-US" altLang="zh-CN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=0</a:t>
              </a: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，且所有输入端均为</a:t>
              </a:r>
              <a:r>
                <a:rPr lang="en-US" altLang="zh-CN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时，选通输出信号</a:t>
              </a:r>
              <a:r>
                <a:rPr lang="en-US" altLang="zh-CN" sz="2000" b="1" dirty="0" err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Ys</a:t>
              </a:r>
              <a:r>
                <a:rPr lang="en-US" altLang="zh-CN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=0</a:t>
              </a: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，其余输出端均为</a:t>
              </a:r>
              <a:r>
                <a:rPr lang="en-US" altLang="zh-CN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1" name="Object 4"/>
            <p:cNvGraphicFramePr>
              <a:graphicFrameLocks noChangeAspect="1"/>
            </p:cNvGraphicFramePr>
            <p:nvPr/>
          </p:nvGraphicFramePr>
          <p:xfrm>
            <a:off x="837894" y="5667059"/>
            <a:ext cx="459946" cy="297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9" name="Equation" r:id="rId5" imgW="203200" imgH="190500" progId="Equation.DSMT4">
                    <p:embed/>
                  </p:oleObj>
                </mc:Choice>
                <mc:Fallback>
                  <p:oleObj name="Equation" r:id="rId5" imgW="203200" imgH="190500" progId="Equation.DSMT4">
                    <p:embed/>
                    <p:pic>
                      <p:nvPicPr>
                        <p:cNvPr id="0" name="图片 92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7894" y="5667059"/>
                          <a:ext cx="459946" cy="29731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257705" y="6046940"/>
            <a:ext cx="8629252" cy="777106"/>
            <a:chOff x="257705" y="6046940"/>
            <a:chExt cx="8629252" cy="777106"/>
          </a:xfrm>
        </p:grpSpPr>
        <p:sp>
          <p:nvSpPr>
            <p:cNvPr id="17" name="矩形 16"/>
            <p:cNvSpPr/>
            <p:nvPr/>
          </p:nvSpPr>
          <p:spPr>
            <a:xfrm>
              <a:off x="257705" y="6046940"/>
              <a:ext cx="8629252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57175" lvl="0" indent="-257175">
                <a:lnSpc>
                  <a:spcPct val="11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   </a:t>
              </a:r>
              <a:r>
                <a:rPr lang="en-US" altLang="zh-CN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=0</a:t>
              </a: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，且输入端包含</a:t>
              </a:r>
              <a:r>
                <a:rPr lang="zh-CN" altLang="en-US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有效信号</a:t>
              </a: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时，三位输出信号为最高有效信号的编码（</a:t>
              </a:r>
              <a:r>
                <a:rPr lang="zh-CN" altLang="en-US" sz="20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反码</a:t>
              </a: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）；此时</a:t>
              </a:r>
              <a:r>
                <a:rPr lang="en-US" altLang="zh-CN" sz="2000" b="1" dirty="0" err="1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Ys</a:t>
              </a:r>
              <a:r>
                <a:rPr lang="en-US" altLang="zh-CN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=1,</a:t>
              </a:r>
              <a:r>
                <a:rPr lang="zh-CN" altLang="en-US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扩展输出信号    </a:t>
              </a:r>
              <a:r>
                <a:rPr lang="en-US" altLang="zh-CN" sz="2000" b="1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=0</a:t>
              </a:r>
              <a:endPara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3" name="Object 4"/>
            <p:cNvGraphicFramePr>
              <a:graphicFrameLocks noChangeAspect="1"/>
            </p:cNvGraphicFramePr>
            <p:nvPr/>
          </p:nvGraphicFramePr>
          <p:xfrm>
            <a:off x="883193" y="6105149"/>
            <a:ext cx="404796" cy="297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0" name="Equation" r:id="rId6" imgW="203200" imgH="190500" progId="Equation.DSMT4">
                    <p:embed/>
                  </p:oleObj>
                </mc:Choice>
                <mc:Fallback>
                  <p:oleObj name="Equation" r:id="rId6" imgW="203200" imgH="190500" progId="Equation.DSMT4">
                    <p:embed/>
                    <p:pic>
                      <p:nvPicPr>
                        <p:cNvPr id="0" name="图片 92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3193" y="6105149"/>
                          <a:ext cx="404796" cy="29731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矩形 33"/>
                <p:cNvSpPr/>
                <p:nvPr/>
              </p:nvSpPr>
              <p:spPr>
                <a:xfrm>
                  <a:off x="4775247" y="6393159"/>
                  <a:ext cx="466206" cy="43088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1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0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0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</a:rPr>
                                  <m:t>𝑬𝑿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>
            <p:sp>
              <p:nvSpPr>
                <p:cNvPr id="34" name="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5247" y="6393159"/>
                  <a:ext cx="466206" cy="430887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矩形 18"/>
          <p:cNvSpPr/>
          <p:nvPr/>
        </p:nvSpPr>
        <p:spPr>
          <a:xfrm>
            <a:off x="1689967" y="3330816"/>
            <a:ext cx="3518321" cy="1692063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49371" y="600178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5" y="53466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0695" y="689131"/>
            <a:ext cx="2616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695" y="1978113"/>
            <a:ext cx="3259131" cy="4247317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</a:rPr>
              <a:t>module</a:t>
            </a:r>
            <a:r>
              <a:rPr lang="en-US" altLang="zh-CN" b="1" dirty="0"/>
              <a:t> encoder_74148(</a:t>
            </a:r>
            <a:r>
              <a:rPr lang="en-US" altLang="zh-CN" b="1" dirty="0" err="1"/>
              <a:t>iST_N</a:t>
            </a:r>
            <a:r>
              <a:rPr lang="en-US" altLang="zh-CN" b="1" dirty="0"/>
              <a:t>,</a:t>
            </a:r>
            <a:r>
              <a:rPr lang="zh-CN" altLang="en-US" b="1" dirty="0"/>
              <a:t> </a:t>
            </a:r>
            <a:r>
              <a:rPr lang="en-US" altLang="zh-CN" b="1" dirty="0" err="1"/>
              <a:t>iIN_N</a:t>
            </a:r>
            <a:r>
              <a:rPr lang="en-US" altLang="zh-CN" b="1" dirty="0"/>
              <a:t>,</a:t>
            </a:r>
            <a:r>
              <a:rPr lang="zh-CN" altLang="en-US" b="1" dirty="0"/>
              <a:t> </a:t>
            </a:r>
            <a:r>
              <a:rPr lang="en-US" altLang="zh-CN" b="1" dirty="0" err="1"/>
              <a:t>oY_N</a:t>
            </a:r>
            <a:r>
              <a:rPr lang="en-US" altLang="zh-CN" b="1" dirty="0"/>
              <a:t>,</a:t>
            </a:r>
            <a:r>
              <a:rPr lang="zh-CN" altLang="en-US" b="1" dirty="0"/>
              <a:t> </a:t>
            </a:r>
            <a:r>
              <a:rPr lang="en-US" altLang="zh-CN" b="1" dirty="0" err="1"/>
              <a:t>oYEX_N</a:t>
            </a:r>
            <a:r>
              <a:rPr lang="en-US" altLang="zh-CN" b="1" dirty="0"/>
              <a:t>,</a:t>
            </a:r>
            <a:r>
              <a:rPr lang="zh-CN" altLang="en-US" b="1" dirty="0"/>
              <a:t> </a:t>
            </a:r>
            <a:r>
              <a:rPr lang="en-US" altLang="zh-CN" b="1" dirty="0" err="1"/>
              <a:t>oYS</a:t>
            </a:r>
            <a:r>
              <a:rPr lang="en-US" altLang="zh-CN" b="1" dirty="0"/>
              <a:t>);</a:t>
            </a:r>
            <a:r>
              <a:rPr lang="zh-CN" altLang="en-US" b="1" dirty="0"/>
              <a:t> </a:t>
            </a:r>
            <a:endParaRPr lang="en-US" altLang="zh-CN" b="1" dirty="0"/>
          </a:p>
          <a:p>
            <a:r>
              <a:rPr lang="en-US" altLang="zh-CN" b="1" dirty="0"/>
              <a:t>  </a:t>
            </a:r>
            <a:endParaRPr lang="en-US" altLang="zh-CN" b="1" dirty="0"/>
          </a:p>
          <a:p>
            <a:r>
              <a:rPr lang="en-US" altLang="zh-CN" b="1" dirty="0"/>
              <a:t>  input </a:t>
            </a:r>
            <a:r>
              <a:rPr lang="en-US" altLang="zh-CN" b="1" dirty="0" err="1"/>
              <a:t>iST_N</a:t>
            </a:r>
            <a:r>
              <a:rPr lang="en-US" altLang="zh-CN" b="1" dirty="0"/>
              <a:t>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</a:t>
            </a:r>
            <a:r>
              <a:rPr lang="en-US" altLang="zh-CN" b="1" dirty="0"/>
              <a:t>input </a:t>
            </a:r>
            <a:r>
              <a:rPr lang="zh-CN" altLang="en-US" b="1" dirty="0"/>
              <a:t>［</a:t>
            </a:r>
            <a:r>
              <a:rPr lang="en-US" altLang="zh-CN" b="1" dirty="0"/>
              <a:t>7:0</a:t>
            </a:r>
            <a:r>
              <a:rPr lang="zh-CN" altLang="en-US" b="1" dirty="0"/>
              <a:t>］ </a:t>
            </a:r>
            <a:r>
              <a:rPr lang="en-US" altLang="zh-CN" b="1" dirty="0" err="1"/>
              <a:t>iIN_N</a:t>
            </a:r>
            <a:r>
              <a:rPr lang="en-US" altLang="zh-CN" b="1" dirty="0"/>
              <a:t>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</a:t>
            </a:r>
            <a:r>
              <a:rPr lang="en-US" altLang="zh-CN" b="1" dirty="0"/>
              <a:t>output reg </a:t>
            </a:r>
            <a:r>
              <a:rPr lang="zh-CN" altLang="en-US" b="1" dirty="0"/>
              <a:t>［</a:t>
            </a:r>
            <a:r>
              <a:rPr lang="en-US" altLang="zh-CN" b="1" dirty="0"/>
              <a:t>2:0</a:t>
            </a:r>
            <a:r>
              <a:rPr lang="zh-CN" altLang="en-US" b="1" dirty="0"/>
              <a:t>］ </a:t>
            </a:r>
            <a:r>
              <a:rPr lang="en-US" altLang="zh-CN" b="1" dirty="0" err="1"/>
              <a:t>oY_N</a:t>
            </a:r>
            <a:r>
              <a:rPr lang="en-US" altLang="zh-CN" b="1" dirty="0"/>
              <a:t>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</a:t>
            </a:r>
            <a:r>
              <a:rPr lang="en-US" altLang="zh-CN" b="1" dirty="0"/>
              <a:t>output </a:t>
            </a:r>
            <a:r>
              <a:rPr lang="en-US" altLang="zh-CN" b="1" dirty="0" err="1"/>
              <a:t>reg</a:t>
            </a:r>
            <a:r>
              <a:rPr lang="en-US" altLang="zh-CN" b="1" dirty="0"/>
              <a:t> </a:t>
            </a:r>
            <a:r>
              <a:rPr lang="en-US" altLang="zh-CN" b="1" dirty="0" err="1"/>
              <a:t>oYEX_N</a:t>
            </a:r>
            <a:r>
              <a:rPr lang="en-US" altLang="zh-CN" b="1" dirty="0"/>
              <a:t>,</a:t>
            </a:r>
            <a:r>
              <a:rPr lang="zh-CN" altLang="en-US" b="1" dirty="0"/>
              <a:t> </a:t>
            </a:r>
            <a:r>
              <a:rPr lang="en-US" altLang="zh-CN" b="1" dirty="0" err="1"/>
              <a:t>oYS</a:t>
            </a:r>
            <a:r>
              <a:rPr lang="en-US" altLang="zh-CN" b="1" dirty="0"/>
              <a:t>;</a:t>
            </a:r>
            <a:endParaRPr lang="en-US" altLang="zh-CN" b="1" dirty="0"/>
          </a:p>
          <a:p>
            <a:br>
              <a:rPr lang="zh-CN" altLang="en-US" b="1" dirty="0"/>
            </a:br>
            <a:r>
              <a:rPr lang="zh-CN" altLang="en-US" b="1" dirty="0"/>
              <a:t>  </a:t>
            </a:r>
            <a:r>
              <a:rPr lang="en-US" altLang="zh-CN" b="1" dirty="0"/>
              <a:t>always@(</a:t>
            </a:r>
            <a:r>
              <a:rPr lang="en-US" altLang="zh-CN" b="1" dirty="0" err="1"/>
              <a:t>iST_N</a:t>
            </a:r>
            <a:r>
              <a:rPr lang="en-US" altLang="zh-CN" b="1" dirty="0"/>
              <a:t>,</a:t>
            </a:r>
            <a:r>
              <a:rPr lang="zh-CN" altLang="en-US" b="1" dirty="0"/>
              <a:t> </a:t>
            </a:r>
            <a:r>
              <a:rPr lang="en-US" altLang="zh-CN" b="1" dirty="0" err="1"/>
              <a:t>iIN_N</a:t>
            </a:r>
            <a:r>
              <a:rPr lang="en-US" altLang="zh-CN" b="1" dirty="0"/>
              <a:t>)</a:t>
            </a:r>
            <a:endParaRPr lang="en-US" altLang="zh-CN" b="1" dirty="0"/>
          </a:p>
          <a:p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if</a:t>
            </a:r>
            <a:r>
              <a:rPr lang="en-US" altLang="zh-CN" b="1" dirty="0"/>
              <a:t>(!</a:t>
            </a:r>
            <a:r>
              <a:rPr lang="en-US" altLang="zh-CN" b="1" dirty="0" err="1"/>
              <a:t>iST_N</a:t>
            </a:r>
            <a:r>
              <a:rPr lang="en-US" altLang="zh-CN" b="1" dirty="0"/>
              <a:t>)   </a:t>
            </a:r>
            <a:r>
              <a:rPr lang="en-US" altLang="zh-CN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选通输入端有效</a:t>
            </a:r>
            <a:b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00B050"/>
                </a:solidFill>
              </a:rPr>
              <a:t>begin</a:t>
            </a:r>
            <a:br>
              <a:rPr lang="en-US" altLang="zh-CN" b="1" dirty="0"/>
            </a:br>
            <a:r>
              <a:rPr lang="en-US" altLang="zh-CN" b="1" dirty="0"/>
              <a:t>        </a:t>
            </a:r>
            <a:r>
              <a:rPr lang="en-US" altLang="zh-CN" b="1" dirty="0" err="1"/>
              <a:t>oYEX_N</a:t>
            </a:r>
            <a:r>
              <a:rPr lang="en-US" altLang="zh-CN" b="1" dirty="0"/>
              <a:t>=0;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</a:t>
            </a:r>
            <a:r>
              <a:rPr lang="en-US" altLang="zh-CN" b="1" dirty="0" err="1"/>
              <a:t>oYS</a:t>
            </a:r>
            <a:r>
              <a:rPr lang="en-US" altLang="zh-CN" b="1" dirty="0"/>
              <a:t>=1;</a:t>
            </a:r>
            <a:r>
              <a:rPr lang="zh-CN" altLang="en-US" b="1" dirty="0"/>
              <a:t> </a:t>
            </a:r>
            <a:endParaRPr lang="en-US" altLang="zh-CN" b="1" dirty="0"/>
          </a:p>
          <a:p>
            <a:r>
              <a:rPr lang="en-US" altLang="zh-CN" b="1" dirty="0"/>
              <a:t>        </a:t>
            </a:r>
            <a:endParaRPr lang="zh-CN" altLang="en-US" b="1" dirty="0"/>
          </a:p>
        </p:txBody>
      </p:sp>
      <p:sp>
        <p:nvSpPr>
          <p:cNvPr id="4" name="矩形 3"/>
          <p:cNvSpPr/>
          <p:nvPr/>
        </p:nvSpPr>
        <p:spPr>
          <a:xfrm>
            <a:off x="6226331" y="2532110"/>
            <a:ext cx="2771422" cy="3970318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         else  </a:t>
            </a:r>
            <a:r>
              <a:rPr lang="en-US" altLang="zh-CN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无有效输入</a:t>
            </a:r>
            <a:br>
              <a:rPr lang="en-US" altLang="zh-CN" b="1" dirty="0"/>
            </a:br>
            <a:r>
              <a:rPr lang="en-US" altLang="zh-CN" b="1" dirty="0"/>
              <a:t>              </a:t>
            </a:r>
            <a:r>
              <a:rPr lang="en-US" altLang="zh-CN" b="1" dirty="0">
                <a:solidFill>
                  <a:srgbClr val="FF33CC"/>
                </a:solidFill>
              </a:rPr>
              <a:t>begin</a:t>
            </a:r>
            <a:br>
              <a:rPr lang="en-US" altLang="zh-CN" b="1" dirty="0"/>
            </a:br>
            <a:r>
              <a:rPr lang="en-US" altLang="zh-CN" b="1" dirty="0"/>
              <a:t>         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=3′h7;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      </a:t>
            </a:r>
            <a:r>
              <a:rPr lang="en-US" altLang="zh-CN" b="1" dirty="0" err="1"/>
              <a:t>oYEX_N</a:t>
            </a:r>
            <a:r>
              <a:rPr lang="en-US" altLang="zh-CN" b="1" dirty="0"/>
              <a:t>=1;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      </a:t>
            </a:r>
            <a:r>
              <a:rPr lang="en-US" altLang="zh-CN" b="1" dirty="0" err="1"/>
              <a:t>oYS</a:t>
            </a:r>
            <a:r>
              <a:rPr lang="en-US" altLang="zh-CN" b="1" dirty="0"/>
              <a:t>=0;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   </a:t>
            </a:r>
            <a:r>
              <a:rPr lang="en-US" altLang="zh-CN" b="1" dirty="0">
                <a:solidFill>
                  <a:srgbClr val="FF33CC"/>
                </a:solidFill>
              </a:rPr>
              <a:t>end</a:t>
            </a:r>
            <a:br>
              <a:rPr lang="en-US" altLang="zh-CN" b="1" dirty="0"/>
            </a:br>
            <a:r>
              <a:rPr lang="en-US" altLang="zh-CN" b="1" dirty="0"/>
              <a:t>       </a:t>
            </a:r>
            <a:r>
              <a:rPr lang="en-US" altLang="zh-CN" b="1" dirty="0" err="1">
                <a:solidFill>
                  <a:srgbClr val="00B050"/>
                </a:solidFill>
              </a:rPr>
              <a:t>end</a:t>
            </a:r>
            <a:br>
              <a:rPr lang="en-US" altLang="zh-CN" b="1" dirty="0"/>
            </a:br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FF0000"/>
                </a:solidFill>
              </a:rPr>
              <a:t>else </a:t>
            </a:r>
            <a:r>
              <a:rPr lang="en-US" altLang="zh-CN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//</a:t>
            </a:r>
            <a:r>
              <a:rPr lang="zh-CN" altLang="en-US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选通输入端无效</a:t>
            </a:r>
            <a:endParaRPr lang="en-US" altLang="zh-CN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b="1" dirty="0"/>
              <a:t>       </a:t>
            </a:r>
            <a:r>
              <a:rPr lang="en-US" altLang="zh-CN" b="1" dirty="0">
                <a:solidFill>
                  <a:srgbClr val="CC9900"/>
                </a:solidFill>
              </a:rPr>
              <a:t>begin</a:t>
            </a:r>
            <a:br>
              <a:rPr lang="en-US" altLang="zh-CN" b="1" dirty="0"/>
            </a:br>
            <a:r>
              <a:rPr lang="en-US" altLang="zh-CN" b="1" dirty="0"/>
              <a:t> 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=3′h7;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      </a:t>
            </a:r>
            <a:r>
              <a:rPr lang="en-US" altLang="zh-CN" b="1" dirty="0" err="1"/>
              <a:t>oYEX_N</a:t>
            </a:r>
            <a:r>
              <a:rPr lang="en-US" altLang="zh-CN" b="1" dirty="0"/>
              <a:t>=1;</a:t>
            </a:r>
            <a:br>
              <a:rPr lang="zh-CN" altLang="en-US" b="1" dirty="0"/>
            </a:br>
            <a:r>
              <a:rPr lang="zh-CN" altLang="en-US" b="1" dirty="0"/>
              <a:t>          </a:t>
            </a:r>
            <a:r>
              <a:rPr lang="en-US" altLang="zh-CN" b="1" dirty="0" err="1"/>
              <a:t>oYS</a:t>
            </a:r>
            <a:r>
              <a:rPr lang="en-US" altLang="zh-CN" b="1" dirty="0"/>
              <a:t>=1;</a:t>
            </a:r>
            <a:br>
              <a:rPr lang="zh-CN" altLang="en-US" b="1" dirty="0"/>
            </a:br>
            <a:r>
              <a:rPr lang="zh-CN" altLang="en-US" b="1" dirty="0"/>
              <a:t>       </a:t>
            </a:r>
            <a:r>
              <a:rPr lang="en-US" altLang="zh-CN" b="1" dirty="0">
                <a:solidFill>
                  <a:srgbClr val="CC9900"/>
                </a:solidFill>
              </a:rPr>
              <a:t>end </a:t>
            </a:r>
            <a:r>
              <a:rPr lang="en-US" altLang="zh-CN" b="1" dirty="0"/>
              <a:t> </a:t>
            </a:r>
            <a:br>
              <a:rPr lang="en-US" altLang="zh-CN" b="1" dirty="0"/>
            </a:br>
            <a:r>
              <a:rPr lang="en-US" altLang="zh-CN" b="1" dirty="0" err="1">
                <a:solidFill>
                  <a:srgbClr val="0000FF"/>
                </a:solidFill>
              </a:rPr>
              <a:t>endmodule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72424" y="1978113"/>
            <a:ext cx="2773844" cy="4524315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if</a:t>
            </a:r>
            <a:r>
              <a:rPr lang="en-US" altLang="zh-CN" b="1" dirty="0"/>
              <a:t>(</a:t>
            </a:r>
            <a:r>
              <a:rPr lang="en-US" altLang="zh-CN" b="1" dirty="0" err="1"/>
              <a:t>iIN_N</a:t>
            </a:r>
            <a:r>
              <a:rPr lang="zh-CN" altLang="en-US" b="1" dirty="0"/>
              <a:t>［</a:t>
            </a:r>
            <a:r>
              <a:rPr lang="en-US" altLang="zh-CN" b="1" dirty="0"/>
              <a:t>7</a:t>
            </a:r>
            <a:r>
              <a:rPr lang="zh-CN" altLang="en-US" b="1" dirty="0"/>
              <a:t>］</a:t>
            </a:r>
            <a:r>
              <a:rPr lang="en-US" altLang="zh-CN" b="1" dirty="0"/>
              <a:t>==0)</a:t>
            </a:r>
            <a:br>
              <a:rPr lang="en-US" altLang="zh-CN" b="1" dirty="0"/>
            </a:br>
            <a:r>
              <a:rPr lang="en-US" altLang="zh-CN" b="1" dirty="0"/>
              <a:t>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=3′h0;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else if</a:t>
            </a:r>
            <a:r>
              <a:rPr lang="en-US" altLang="zh-CN" b="1" dirty="0"/>
              <a:t>(</a:t>
            </a:r>
            <a:r>
              <a:rPr lang="en-US" altLang="zh-CN" b="1" dirty="0" err="1"/>
              <a:t>iIN_N</a:t>
            </a:r>
            <a:r>
              <a:rPr lang="zh-CN" altLang="en-US" b="1" dirty="0"/>
              <a:t>［</a:t>
            </a:r>
            <a:r>
              <a:rPr lang="en-US" altLang="zh-CN" b="1" dirty="0"/>
              <a:t>6</a:t>
            </a:r>
            <a:r>
              <a:rPr lang="zh-CN" altLang="en-US" b="1" dirty="0"/>
              <a:t>］</a:t>
            </a:r>
            <a:r>
              <a:rPr lang="en-US" altLang="zh-CN" b="1" dirty="0"/>
              <a:t>==0)</a:t>
            </a:r>
            <a:br>
              <a:rPr lang="en-US" altLang="zh-CN" b="1" dirty="0"/>
            </a:br>
            <a:r>
              <a:rPr lang="en-US" altLang="zh-CN" b="1" dirty="0"/>
              <a:t>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=3′h1;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else if</a:t>
            </a:r>
            <a:r>
              <a:rPr lang="en-US" altLang="zh-CN" b="1" dirty="0"/>
              <a:t>(</a:t>
            </a:r>
            <a:r>
              <a:rPr lang="en-US" altLang="zh-CN" b="1" dirty="0" err="1"/>
              <a:t>iIN_N</a:t>
            </a:r>
            <a:r>
              <a:rPr lang="zh-CN" altLang="en-US" b="1" dirty="0"/>
              <a:t>［</a:t>
            </a:r>
            <a:r>
              <a:rPr lang="en-US" altLang="zh-CN" b="1" dirty="0"/>
              <a:t>5</a:t>
            </a:r>
            <a:r>
              <a:rPr lang="zh-CN" altLang="en-US" b="1" dirty="0"/>
              <a:t>］</a:t>
            </a:r>
            <a:r>
              <a:rPr lang="en-US" altLang="zh-CN" b="1" dirty="0"/>
              <a:t>==0)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=3′h2;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else if</a:t>
            </a:r>
            <a:r>
              <a:rPr lang="en-US" altLang="zh-CN" b="1" dirty="0"/>
              <a:t>(</a:t>
            </a:r>
            <a:r>
              <a:rPr lang="en-US" altLang="zh-CN" b="1" dirty="0" err="1"/>
              <a:t>iIN_N</a:t>
            </a:r>
            <a:r>
              <a:rPr lang="zh-CN" altLang="en-US" b="1" dirty="0"/>
              <a:t>［</a:t>
            </a:r>
            <a:r>
              <a:rPr lang="en-US" altLang="zh-CN" b="1" dirty="0"/>
              <a:t>4</a:t>
            </a:r>
            <a:r>
              <a:rPr lang="zh-CN" altLang="en-US" b="1" dirty="0"/>
              <a:t>］</a:t>
            </a:r>
            <a:r>
              <a:rPr lang="en-US" altLang="zh-CN" b="1" dirty="0"/>
              <a:t>==0)</a:t>
            </a:r>
            <a:br>
              <a:rPr lang="en-US" altLang="zh-CN" b="1" dirty="0"/>
            </a:br>
            <a:r>
              <a:rPr lang="en-US" altLang="zh-CN" b="1" dirty="0"/>
              <a:t>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=3′h3;</a:t>
            </a:r>
            <a:endParaRPr lang="en-US" altLang="zh-CN" b="1" dirty="0"/>
          </a:p>
          <a:p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else if</a:t>
            </a:r>
            <a:r>
              <a:rPr lang="en-US" altLang="zh-CN" b="1" dirty="0"/>
              <a:t>(</a:t>
            </a:r>
            <a:r>
              <a:rPr lang="en-US" altLang="zh-CN" b="1" dirty="0" err="1"/>
              <a:t>iIN_N</a:t>
            </a:r>
            <a:r>
              <a:rPr lang="zh-CN" altLang="en-US" b="1" dirty="0"/>
              <a:t>［</a:t>
            </a:r>
            <a:r>
              <a:rPr lang="en-US" altLang="zh-CN" b="1" dirty="0"/>
              <a:t>3</a:t>
            </a:r>
            <a:r>
              <a:rPr lang="zh-CN" altLang="en-US" b="1" dirty="0"/>
              <a:t>］</a:t>
            </a:r>
            <a:r>
              <a:rPr lang="en-US" altLang="zh-CN" b="1" dirty="0"/>
              <a:t>==0)</a:t>
            </a:r>
            <a:br>
              <a:rPr lang="en-US" altLang="zh-CN" b="1" dirty="0"/>
            </a:br>
            <a:r>
              <a:rPr lang="en-US" altLang="zh-CN" b="1" dirty="0"/>
              <a:t>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=3′h4;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else if</a:t>
            </a:r>
            <a:r>
              <a:rPr lang="en-US" altLang="zh-CN" b="1" dirty="0"/>
              <a:t>(</a:t>
            </a:r>
            <a:r>
              <a:rPr lang="en-US" altLang="zh-CN" b="1" dirty="0" err="1"/>
              <a:t>iIN_N</a:t>
            </a:r>
            <a:r>
              <a:rPr lang="zh-CN" altLang="en-US" b="1" dirty="0"/>
              <a:t>［</a:t>
            </a:r>
            <a:r>
              <a:rPr lang="en-US" altLang="zh-CN" b="1" dirty="0"/>
              <a:t>2</a:t>
            </a:r>
            <a:r>
              <a:rPr lang="zh-CN" altLang="en-US" b="1" dirty="0"/>
              <a:t>］</a:t>
            </a:r>
            <a:r>
              <a:rPr lang="en-US" altLang="zh-CN" b="1" dirty="0"/>
              <a:t>==0)</a:t>
            </a:r>
            <a:br>
              <a:rPr lang="en-US" altLang="zh-CN" b="1" dirty="0"/>
            </a:br>
            <a:r>
              <a:rPr lang="en-US" altLang="zh-CN" b="1" dirty="0"/>
              <a:t>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=3′h5;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else if</a:t>
            </a:r>
            <a:r>
              <a:rPr lang="en-US" altLang="zh-CN" b="1" dirty="0"/>
              <a:t>(</a:t>
            </a:r>
            <a:r>
              <a:rPr lang="en-US" altLang="zh-CN" b="1" dirty="0" err="1"/>
              <a:t>iIN_N</a:t>
            </a:r>
            <a:r>
              <a:rPr lang="zh-CN" altLang="en-US" b="1" dirty="0"/>
              <a:t>［</a:t>
            </a:r>
            <a:r>
              <a:rPr lang="en-US" altLang="zh-CN" b="1" dirty="0"/>
              <a:t>1</a:t>
            </a:r>
            <a:r>
              <a:rPr lang="zh-CN" altLang="en-US" b="1" dirty="0"/>
              <a:t>］</a:t>
            </a:r>
            <a:r>
              <a:rPr lang="en-US" altLang="zh-CN" b="1" dirty="0"/>
              <a:t>==0)</a:t>
            </a:r>
            <a:endParaRPr lang="en-US" altLang="zh-CN" b="1" dirty="0"/>
          </a:p>
          <a:p>
            <a:r>
              <a:rPr lang="zh-CN" altLang="en-US" b="1" dirty="0"/>
              <a:t>　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=3′h6;</a:t>
            </a:r>
            <a:r>
              <a:rPr lang="zh-CN" altLang="en-US" b="1" dirty="0"/>
              <a:t> </a:t>
            </a:r>
            <a:br>
              <a:rPr lang="zh-CN" altLang="en-US" b="1" dirty="0"/>
            </a:br>
            <a:r>
              <a:rPr lang="zh-CN" altLang="en-US" b="1" dirty="0"/>
              <a:t>    </a:t>
            </a:r>
            <a:r>
              <a:rPr lang="en-US" altLang="zh-CN" b="1" dirty="0">
                <a:solidFill>
                  <a:srgbClr val="C00000"/>
                </a:solidFill>
              </a:rPr>
              <a:t>else if</a:t>
            </a:r>
            <a:r>
              <a:rPr lang="en-US" altLang="zh-CN" b="1" dirty="0"/>
              <a:t>(</a:t>
            </a:r>
            <a:r>
              <a:rPr lang="en-US" altLang="zh-CN" b="1" dirty="0" err="1"/>
              <a:t>iIN_N</a:t>
            </a:r>
            <a:r>
              <a:rPr lang="zh-CN" altLang="en-US" b="1" dirty="0"/>
              <a:t>［</a:t>
            </a:r>
            <a:r>
              <a:rPr lang="en-US" altLang="zh-CN" b="1" dirty="0"/>
              <a:t>0</a:t>
            </a:r>
            <a:r>
              <a:rPr lang="zh-CN" altLang="en-US" b="1" dirty="0"/>
              <a:t>］</a:t>
            </a:r>
            <a:r>
              <a:rPr lang="en-US" altLang="zh-CN" b="1" dirty="0"/>
              <a:t>==0)</a:t>
            </a:r>
            <a:br>
              <a:rPr lang="en-US" altLang="zh-CN" b="1" dirty="0"/>
            </a:br>
            <a:r>
              <a:rPr lang="en-US" altLang="zh-CN" b="1" dirty="0"/>
              <a:t>         </a:t>
            </a:r>
            <a:r>
              <a:rPr lang="en-US" altLang="zh-CN" b="1" dirty="0" err="1"/>
              <a:t>oY_N</a:t>
            </a:r>
            <a:r>
              <a:rPr lang="en-US" altLang="zh-CN" b="1" dirty="0"/>
              <a:t>=3′h7;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4695269" y="839361"/>
            <a:ext cx="28264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从高位到低位，按照优先级递减顺序，逐个检查是否为有效输入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49371" y="582836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5" y="36124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68308" y="681727"/>
            <a:ext cx="2706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Text Box 3"/>
          <p:cNvSpPr txBox="1">
            <a:spLocks noChangeArrowheads="1"/>
          </p:cNvSpPr>
          <p:nvPr/>
        </p:nvSpPr>
        <p:spPr bwMode="auto">
          <a:xfrm>
            <a:off x="678582" y="1270516"/>
            <a:ext cx="75713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线优先编码器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74LS148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16-4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线优先编码器。</a:t>
            </a:r>
            <a:endParaRPr lang="zh-CN" altLang="en-US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" name="Picture 6" descr="4-4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68" y="1963223"/>
            <a:ext cx="6267493" cy="301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595993" y="5042783"/>
            <a:ext cx="1654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低位输入端</a:t>
            </a:r>
            <a:endParaRPr lang="zh-CN" altLang="en-US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49216" y="5042783"/>
            <a:ext cx="16515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高位输入端</a:t>
            </a:r>
            <a:endParaRPr lang="zh-CN" altLang="en-US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7518" y="5593449"/>
            <a:ext cx="6045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系统由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片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74LS148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构成，低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位输入端接入芯片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，高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位输入端接入芯片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高位选通输出端与低位选通控制端连接</a:t>
            </a:r>
            <a:endParaRPr lang="en-US" altLang="zh-CN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107773" y="3727780"/>
            <a:ext cx="938213" cy="3149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文本框 9"/>
          <p:cNvSpPr txBox="1"/>
          <p:nvPr/>
        </p:nvSpPr>
        <p:spPr>
          <a:xfrm>
            <a:off x="3875670" y="3215382"/>
            <a:ext cx="756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选通输出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94223" y="3791823"/>
            <a:ext cx="804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选通控制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989323" y="3145492"/>
            <a:ext cx="690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选通控制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655842" y="2709131"/>
            <a:ext cx="804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扩展输出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6852459" y="4874515"/>
                <a:ext cx="2021836" cy="17571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400" i="1">
                              <a:latin typeface="Cambria Math" panose="02040503050406030204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𝐸𝑋</m:t>
                                        </m:r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    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    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zh-CN" altLang="en-US" sz="2400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20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   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400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altLang="en-US" sz="2400" i="1">
                                            <a:latin typeface="Cambria Math" panose="0204050305040603020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24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zh-CN" altLang="en-US" sz="2400" i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459" y="4874515"/>
                <a:ext cx="2021836" cy="1757148"/>
              </a:xfrm>
              <a:prstGeom prst="rect">
                <a:avLst/>
              </a:prstGeom>
              <a:blipFill rotWithShape="1">
                <a:blip r:embed="rId3"/>
                <a:stretch>
                  <a:fillRect l="-9" t="-15" r="-225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5" grpId="0" animBg="1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49371" y="574488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5" y="27776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33831" y="695095"/>
            <a:ext cx="3361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" name="Picture 6" descr="4-4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15" y="1302807"/>
            <a:ext cx="5902897" cy="283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846762" y="4096070"/>
            <a:ext cx="1886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低位输入端</a:t>
            </a:r>
            <a:endParaRPr lang="zh-CN" altLang="en-US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67059" y="4116188"/>
            <a:ext cx="1358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高位输入端</a:t>
            </a:r>
            <a:endParaRPr lang="zh-CN" altLang="en-US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87" y="4465402"/>
            <a:ext cx="5191124" cy="2274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文本框 17"/>
          <p:cNvSpPr txBox="1"/>
          <p:nvPr/>
        </p:nvSpPr>
        <p:spPr>
          <a:xfrm>
            <a:off x="3494881" y="2691557"/>
            <a:ext cx="650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选通输出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55987" y="5201847"/>
            <a:ext cx="5191124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2300754" y="2341893"/>
            <a:ext cx="650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选通控制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77030" y="1896321"/>
            <a:ext cx="672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扩展输出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375075" y="980755"/>
            <a:ext cx="2521841" cy="1015663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当芯片</a:t>
            </a:r>
            <a:r>
              <a:rPr lang="en-US" altLang="zh-CN" sz="2000" b="1" dirty="0">
                <a:solidFill>
                  <a:srgbClr val="0000FF"/>
                </a:solidFill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</a:rPr>
              <a:t>的选通控制端为</a:t>
            </a:r>
            <a:r>
              <a:rPr lang="en-US" altLang="zh-CN" sz="2000" b="1" dirty="0">
                <a:solidFill>
                  <a:srgbClr val="0000FF"/>
                </a:solidFill>
              </a:rPr>
              <a:t>0</a:t>
            </a:r>
            <a:r>
              <a:rPr lang="zh-CN" altLang="en-US" sz="2000" b="1" dirty="0">
                <a:solidFill>
                  <a:srgbClr val="0000FF"/>
                </a:solidFill>
              </a:rPr>
              <a:t>，且所有高位输入为</a:t>
            </a:r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</a:rPr>
              <a:t>时：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矩形 26"/>
              <p:cNvSpPr/>
              <p:nvPr/>
            </p:nvSpPr>
            <p:spPr>
              <a:xfrm>
                <a:off x="6495012" y="3015660"/>
                <a:ext cx="23517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𝟐𝟐</m:t>
                              </m:r>
                            </m:sub>
                          </m:sSub>
                        </m:e>
                      </m:acc>
                      <m:r>
                        <a:rPr lang="zh-CN" alt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𝟐𝟏</m:t>
                              </m:r>
                            </m:sub>
                          </m:sSub>
                        </m:e>
                      </m:acc>
                      <m:r>
                        <a:rPr lang="zh-CN" alt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𝟐𝟎</m:t>
                              </m:r>
                            </m:sub>
                          </m:sSub>
                        </m:e>
                      </m:acc>
                      <m:r>
                        <a:rPr lang="zh-CN" altLang="en-US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012" y="3015660"/>
                <a:ext cx="235173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0" t="-12" r="24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矩形 27"/>
              <p:cNvSpPr/>
              <p:nvPr/>
            </p:nvSpPr>
            <p:spPr>
              <a:xfrm>
                <a:off x="6570836" y="4689969"/>
                <a:ext cx="189192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acc>
                      <m:r>
                        <a:rPr lang="zh-CN" altLang="en-US" sz="20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zh-CN" altLang="en-US" sz="2000" b="1" i="1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𝑬𝑿</m:t>
                              </m:r>
                            </m:sub>
                          </m:sSub>
                        </m:e>
                      </m:acc>
                      <m:r>
                        <a:rPr lang="en-US" altLang="zh-CN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000" b="1" dirty="0"/>
              </a:p>
            </p:txBody>
          </p:sp>
        </mc:Choice>
        <mc:Fallback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836" y="4689969"/>
                <a:ext cx="1891928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26" t="-123" r="6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5572879" y="2988224"/>
            <a:ext cx="344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0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50787" y="4115294"/>
            <a:ext cx="12304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11111111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925593" y="2992482"/>
            <a:ext cx="344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0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30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07969" y="2285708"/>
            <a:ext cx="1663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1     1     1     1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70287" y="2210823"/>
            <a:ext cx="27448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lvl="0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prstClr val="black"/>
                </a:solidFill>
              </a:rPr>
              <a:t>芯片</a:t>
            </a:r>
            <a:r>
              <a:rPr lang="en-US" altLang="zh-CN" sz="2000" b="1" dirty="0">
                <a:solidFill>
                  <a:prstClr val="black"/>
                </a:solidFill>
              </a:rPr>
              <a:t>2</a:t>
            </a:r>
            <a:r>
              <a:rPr lang="zh-CN" altLang="en-US" sz="2000" b="1" dirty="0">
                <a:solidFill>
                  <a:prstClr val="black"/>
                </a:solidFill>
              </a:rPr>
              <a:t>的三个编码输出端均为</a:t>
            </a:r>
            <a:r>
              <a:rPr lang="en-US" altLang="zh-CN" sz="2000" b="1" dirty="0">
                <a:solidFill>
                  <a:prstClr val="black"/>
                </a:solidFill>
              </a:rPr>
              <a:t>1:</a:t>
            </a:r>
            <a:endParaRPr lang="en-US" altLang="zh-CN" sz="2000" b="1" dirty="0">
              <a:solidFill>
                <a:prstClr val="black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48169" y="3468092"/>
            <a:ext cx="28380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prstClr val="black"/>
                </a:solidFill>
              </a:rPr>
              <a:t>芯片</a:t>
            </a:r>
            <a:r>
              <a:rPr lang="en-US" altLang="zh-CN" sz="2000" b="1" dirty="0">
                <a:solidFill>
                  <a:prstClr val="black"/>
                </a:solidFill>
              </a:rPr>
              <a:t>2</a:t>
            </a:r>
            <a:r>
              <a:rPr lang="zh-CN" altLang="en-US" sz="2000" b="1" dirty="0">
                <a:solidFill>
                  <a:prstClr val="black"/>
                </a:solidFill>
              </a:rPr>
              <a:t>的扩展输出端为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，则整个电路输出的最高位：</a:t>
            </a:r>
            <a:endParaRPr lang="en-US" altLang="zh-CN" sz="2000" b="1" dirty="0">
              <a:solidFill>
                <a:prstClr val="black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70287" y="5111627"/>
            <a:ext cx="279513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lvl="0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prstClr val="black"/>
                </a:solidFill>
              </a:rPr>
              <a:t>芯片</a:t>
            </a:r>
            <a:r>
              <a:rPr lang="en-US" altLang="zh-CN" sz="2000" b="1" dirty="0">
                <a:solidFill>
                  <a:prstClr val="black"/>
                </a:solidFill>
              </a:rPr>
              <a:t>2</a:t>
            </a:r>
            <a:r>
              <a:rPr lang="zh-CN" altLang="en-US" sz="2000" b="1" dirty="0">
                <a:solidFill>
                  <a:prstClr val="black"/>
                </a:solidFill>
              </a:rPr>
              <a:t>的选通输出为</a:t>
            </a:r>
            <a:r>
              <a:rPr lang="en-US" altLang="zh-CN" sz="2000" b="1" dirty="0">
                <a:solidFill>
                  <a:prstClr val="black"/>
                </a:solidFill>
              </a:rPr>
              <a:t>0</a:t>
            </a:r>
            <a:r>
              <a:rPr lang="zh-CN" altLang="en-US" sz="2000" b="1" dirty="0">
                <a:solidFill>
                  <a:prstClr val="black"/>
                </a:solidFill>
              </a:rPr>
              <a:t>，则芯片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的选通控制为</a:t>
            </a:r>
            <a:r>
              <a:rPr lang="en-US" altLang="zh-CN" sz="2000" b="1" dirty="0">
                <a:solidFill>
                  <a:prstClr val="black"/>
                </a:solidFill>
              </a:rPr>
              <a:t>0</a:t>
            </a:r>
            <a:r>
              <a:rPr lang="zh-CN" altLang="en-US" sz="2000" b="1" dirty="0">
                <a:solidFill>
                  <a:prstClr val="black"/>
                </a:solidFill>
              </a:rPr>
              <a:t>，所以芯片</a:t>
            </a:r>
            <a:r>
              <a:rPr lang="en-US" altLang="zh-CN" sz="2000" b="1" dirty="0">
                <a:solidFill>
                  <a:prstClr val="black"/>
                </a:solidFill>
              </a:rPr>
              <a:t>1</a:t>
            </a:r>
            <a:r>
              <a:rPr lang="zh-CN" altLang="en-US" sz="2000" b="1" dirty="0">
                <a:solidFill>
                  <a:prstClr val="black"/>
                </a:solidFill>
              </a:rPr>
              <a:t>进入工作状态；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28" grpId="0"/>
      <p:bldP spid="4" grpId="0"/>
      <p:bldP spid="8" grpId="0"/>
      <p:bldP spid="29" grpId="0"/>
      <p:bldP spid="31" grpId="0"/>
      <p:bldP spid="7" grpId="0"/>
      <p:bldP spid="12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49371" y="586086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5" y="39374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01154" y="695209"/>
            <a:ext cx="3346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" name="Picture 6" descr="4-4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4" y="1440818"/>
            <a:ext cx="4290248" cy="206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55706" y="3521118"/>
            <a:ext cx="1548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低位输入端</a:t>
            </a:r>
            <a:endParaRPr lang="en-US" altLang="zh-CN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有有效输入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391009" y="3528669"/>
            <a:ext cx="1548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高位输入端</a:t>
            </a:r>
            <a:endParaRPr lang="en-US" altLang="zh-CN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输入全为</a:t>
            </a:r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900" y="1820831"/>
            <a:ext cx="4514742" cy="1977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025753" y="1186931"/>
            <a:ext cx="3777283" cy="572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74LS148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功能表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974768" y="2635578"/>
            <a:ext cx="432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560477" y="1817754"/>
            <a:ext cx="646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扩展输出</a:t>
            </a:r>
            <a:endParaRPr lang="zh-CN" altLang="en-US" sz="16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06509" y="4783533"/>
            <a:ext cx="1533604" cy="1323439"/>
            <a:chOff x="206509" y="4783533"/>
            <a:chExt cx="1533604" cy="1323439"/>
          </a:xfrm>
        </p:grpSpPr>
        <p:sp>
          <p:nvSpPr>
            <p:cNvPr id="8" name="文本框 7"/>
            <p:cNvSpPr txBox="1"/>
            <p:nvPr/>
          </p:nvSpPr>
          <p:spPr>
            <a:xfrm>
              <a:off x="206509" y="4783533"/>
              <a:ext cx="1225095" cy="1323439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2000" b="1" dirty="0">
                  <a:solidFill>
                    <a:srgbClr val="0000FF"/>
                  </a:solidFill>
                </a:rPr>
                <a:t>当芯片</a:t>
              </a:r>
              <a:r>
                <a:rPr lang="en-US" altLang="zh-CN" sz="2000" b="1" dirty="0">
                  <a:solidFill>
                    <a:srgbClr val="0000FF"/>
                  </a:solidFill>
                </a:rPr>
                <a:t>1</a:t>
              </a:r>
              <a:r>
                <a:rPr lang="zh-CN" altLang="en-US" sz="2000" b="1" dirty="0">
                  <a:solidFill>
                    <a:srgbClr val="0000FF"/>
                  </a:solidFill>
                </a:rPr>
                <a:t>进入正常工作状态时：</a:t>
              </a:r>
              <a:endParaRPr lang="en-US" altLang="zh-CN" sz="2000" b="1" dirty="0">
                <a:solidFill>
                  <a:srgbClr val="0000FF"/>
                </a:solidFill>
              </a:endParaRPr>
            </a:p>
          </p:txBody>
        </p:sp>
        <p:sp>
          <p:nvSpPr>
            <p:cNvPr id="17" name="箭头: 右 16"/>
            <p:cNvSpPr/>
            <p:nvPr/>
          </p:nvSpPr>
          <p:spPr>
            <a:xfrm>
              <a:off x="1465793" y="5372585"/>
              <a:ext cx="274320" cy="1453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6575176" y="5372516"/>
            <a:ext cx="2076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输出值的范围：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1000~1111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555832" y="2446421"/>
            <a:ext cx="878305" cy="13523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74302" y="4500954"/>
            <a:ext cx="7173934" cy="2142125"/>
            <a:chOff x="1774302" y="4500954"/>
            <a:chExt cx="7173934" cy="2142125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13401" y="4567896"/>
              <a:ext cx="894420" cy="358035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1774302" y="4500954"/>
              <a:ext cx="7173934" cy="2142125"/>
              <a:chOff x="1774302" y="4500954"/>
              <a:chExt cx="7173934" cy="214212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774302" y="4500954"/>
                <a:ext cx="7173934" cy="2142125"/>
              </a:xfrm>
              <a:prstGeom prst="rect">
                <a:avLst/>
              </a:prstGeom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257175" indent="-257175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b="1" dirty="0"/>
                  <a:t>芯片</a:t>
                </a:r>
                <a:r>
                  <a:rPr lang="en-US" altLang="zh-CN" sz="2000" b="1" dirty="0"/>
                  <a:t>1</a:t>
                </a:r>
                <a:r>
                  <a:rPr lang="zh-CN" altLang="en-US" sz="2000" b="1" dirty="0"/>
                  <a:t>的三个输出端为最优先有效输出端的编码：</a:t>
                </a:r>
                <a:endParaRPr lang="en-US" altLang="zh-CN" sz="2000" b="1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100" b="1" dirty="0"/>
                  <a:t>      </a:t>
                </a:r>
                <a:endParaRPr lang="en-US" altLang="zh-CN" sz="1100" b="1" dirty="0"/>
              </a:p>
              <a:p>
                <a:pPr>
                  <a:lnSpc>
                    <a:spcPct val="120000"/>
                  </a:lnSpc>
                </a:pPr>
                <a:endParaRPr lang="en-US" altLang="zh-CN" sz="2000" b="1" dirty="0"/>
              </a:p>
              <a:p>
                <a:pPr marL="257175" indent="-257175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b="1" dirty="0"/>
                  <a:t>整个电路的输出为：</a:t>
                </a:r>
                <a:endParaRPr lang="en-US" altLang="zh-CN" sz="2000" b="1" dirty="0"/>
              </a:p>
              <a:p>
                <a:pPr marL="257175" indent="-257175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endParaRPr lang="en-US" altLang="zh-CN" sz="2000" b="1" dirty="0"/>
              </a:p>
              <a:p>
                <a:pPr marL="257175" indent="-257175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endParaRPr lang="zh-CN" altLang="en-US" sz="2000" b="1" dirty="0"/>
              </a:p>
            </p:txBody>
          </p:sp>
          <p:graphicFrame>
            <p:nvGraphicFramePr>
              <p:cNvPr id="2" name="对象 1"/>
              <p:cNvGraphicFramePr>
                <a:graphicFrameLocks noChangeAspect="1"/>
              </p:cNvGraphicFramePr>
              <p:nvPr/>
            </p:nvGraphicFramePr>
            <p:xfrm>
              <a:off x="4407638" y="4925931"/>
              <a:ext cx="1727123" cy="1666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42" name="Equation" r:id="rId5" imgW="25908000" imgH="24993600" progId="Equation.DSMT4">
                      <p:embed/>
                    </p:oleObj>
                  </mc:Choice>
                  <mc:Fallback>
                    <p:oleObj name="Equation" r:id="rId5" imgW="25908000" imgH="24993600" progId="Equation.DSMT4">
                      <p:embed/>
                      <p:pic>
                        <p:nvPicPr>
                          <p:cNvPr id="0" name="图片 10241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407638" y="4925931"/>
                            <a:ext cx="1727123" cy="166616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7" name="文本框 26"/>
          <p:cNvSpPr txBox="1"/>
          <p:nvPr/>
        </p:nvSpPr>
        <p:spPr>
          <a:xfrm>
            <a:off x="2550266" y="2098847"/>
            <a:ext cx="1663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1   1   1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61304" y="2440135"/>
            <a:ext cx="2781124" cy="1352377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标注 12"/>
          <p:cNvSpPr/>
          <p:nvPr/>
        </p:nvSpPr>
        <p:spPr>
          <a:xfrm>
            <a:off x="5444262" y="3948748"/>
            <a:ext cx="2047920" cy="394420"/>
          </a:xfrm>
          <a:prstGeom prst="wedgeRectCallout">
            <a:avLst>
              <a:gd name="adj1" fmla="val -56158"/>
              <a:gd name="adj2" fmla="val -92411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输入端有有效输入</a:t>
            </a:r>
            <a:endParaRPr lang="zh-CN" altLang="en-US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010783" y="2669760"/>
            <a:ext cx="432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763638" y="4100595"/>
            <a:ext cx="6912746" cy="26776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芯片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的选通输出为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，扩展输出为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芯片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的选通控制为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，则芯片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不工作，其所有输出均为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；</a:t>
            </a:r>
            <a:endParaRPr lang="en-US" altLang="zh-CN" sz="2000" b="1" dirty="0"/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000" b="1" dirty="0"/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000" b="1" dirty="0"/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整个电路的输出为：</a:t>
            </a:r>
            <a:endParaRPr lang="en-US" altLang="zh-CN" sz="2000" b="1" dirty="0"/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000" b="1" dirty="0"/>
          </a:p>
          <a:p>
            <a:pPr marL="257175" indent="-25717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zh-CN" altLang="en-US" sz="2000" b="1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1449371" y="58257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5" y="35861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26928" y="727086"/>
            <a:ext cx="3061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" name="Picture 6" descr="4-4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28" y="1272586"/>
            <a:ext cx="4290248" cy="206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400540" y="3333596"/>
            <a:ext cx="1548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低位输入端</a:t>
            </a:r>
            <a:endParaRPr lang="zh-CN" altLang="en-US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39153" y="3311919"/>
            <a:ext cx="1548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高位输入端</a:t>
            </a:r>
            <a:endParaRPr lang="en-US" altLang="zh-CN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有有效输入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513" y="1778894"/>
            <a:ext cx="4514742" cy="1977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4917878" y="1272586"/>
            <a:ext cx="3802011" cy="504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74LS148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功能表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462" y="4375941"/>
            <a:ext cx="968598" cy="1631216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b="1" dirty="0">
                <a:solidFill>
                  <a:srgbClr val="0000FF"/>
                </a:solidFill>
              </a:rPr>
              <a:t>当芯片</a:t>
            </a:r>
            <a:r>
              <a:rPr lang="en-US" altLang="zh-CN" sz="2000" b="1" dirty="0">
                <a:solidFill>
                  <a:srgbClr val="0000FF"/>
                </a:solidFill>
              </a:rPr>
              <a:t>2</a:t>
            </a:r>
            <a:r>
              <a:rPr lang="zh-CN" altLang="en-US" sz="2000" b="1" dirty="0">
                <a:solidFill>
                  <a:srgbClr val="0000FF"/>
                </a:solidFill>
              </a:rPr>
              <a:t>输入端有有效输入信号时：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027311" y="2495428"/>
            <a:ext cx="534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272052" y="2029380"/>
            <a:ext cx="5342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选通输出</a:t>
            </a:r>
            <a:endParaRPr lang="zh-CN" altLang="en-US" sz="135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68824" y="1755612"/>
            <a:ext cx="58866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扩展输出</a:t>
            </a:r>
            <a:endParaRPr lang="zh-CN" altLang="en-US" sz="135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箭头: 右 16"/>
          <p:cNvSpPr/>
          <p:nvPr/>
        </p:nvSpPr>
        <p:spPr>
          <a:xfrm>
            <a:off x="1169222" y="5118881"/>
            <a:ext cx="274320" cy="1453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/>
          </a:p>
        </p:txBody>
      </p:sp>
      <p:sp>
        <p:nvSpPr>
          <p:cNvPr id="4" name="矩形 3"/>
          <p:cNvSpPr/>
          <p:nvPr/>
        </p:nvSpPr>
        <p:spPr>
          <a:xfrm>
            <a:off x="8572842" y="2414543"/>
            <a:ext cx="422309" cy="131023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1" name="直接连接符 10"/>
          <p:cNvCxnSpPr/>
          <p:nvPr/>
        </p:nvCxnSpPr>
        <p:spPr>
          <a:xfrm>
            <a:off x="4703486" y="2222909"/>
            <a:ext cx="4291665" cy="28825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357578" y="5448524"/>
            <a:ext cx="2138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输出值的范围：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r>
              <a:rPr lang="en-US" altLang="zh-CN" sz="2400" b="1" dirty="0">
                <a:solidFill>
                  <a:srgbClr val="FF0000"/>
                </a:solidFill>
              </a:rPr>
              <a:t>0000~0111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7633" y="2498375"/>
            <a:ext cx="227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1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25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4356921" y="5030586"/>
          <a:ext cx="1747837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4" imgW="26212800" imgH="24993600" progId="Equation.DSMT4">
                  <p:embed/>
                </p:oleObj>
              </mc:Choice>
              <mc:Fallback>
                <p:oleObj name="Equation" r:id="rId4" imgW="26212800" imgH="24993600" progId="Equation.DSMT4">
                  <p:embed/>
                  <p:pic>
                    <p:nvPicPr>
                      <p:cNvPr id="0" name="图片 1126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56921" y="5030586"/>
                        <a:ext cx="1747837" cy="166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3430043" y="1851624"/>
            <a:ext cx="534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03285" y="1914821"/>
            <a:ext cx="1663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1   1   1   1</a:t>
            </a:r>
            <a:endParaRPr lang="zh-CN" altLang="en-US" sz="2000" b="1" dirty="0">
              <a:solidFill>
                <a:srgbClr val="0000FF"/>
              </a:solidFill>
            </a:endParaRPr>
          </a:p>
        </p:txBody>
      </p:sp>
      <p:sp>
        <p:nvSpPr>
          <p:cNvPr id="2" name="左大括号 1"/>
          <p:cNvSpPr/>
          <p:nvPr/>
        </p:nvSpPr>
        <p:spPr>
          <a:xfrm>
            <a:off x="1537231" y="4305617"/>
            <a:ext cx="248064" cy="166024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690788" y="2404484"/>
            <a:ext cx="2781124" cy="1352377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标注 30"/>
          <p:cNvSpPr/>
          <p:nvPr/>
        </p:nvSpPr>
        <p:spPr>
          <a:xfrm>
            <a:off x="6104758" y="3849530"/>
            <a:ext cx="2024512" cy="351346"/>
          </a:xfrm>
          <a:prstGeom prst="wedgeRectCallout">
            <a:avLst>
              <a:gd name="adj1" fmla="val -52764"/>
              <a:gd name="adj2" fmla="val -79219"/>
            </a:avLst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输入端有有效输入</a:t>
            </a:r>
            <a:endParaRPr lang="zh-CN" altLang="en-US" b="1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  <p:bldP spid="4" grpId="0" animBg="1"/>
      <p:bldP spid="29" grpId="0"/>
      <p:bldP spid="10" grpId="0"/>
      <p:bldP spid="27" grpId="0"/>
      <p:bldP spid="28" grpId="0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449371" y="58257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95" y="35861"/>
            <a:ext cx="1435167" cy="61532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26928" y="727086"/>
            <a:ext cx="3061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优先编码器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" name="Picture 6" descr="4-4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721" y="1302665"/>
            <a:ext cx="5870825" cy="282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225127" y="4112133"/>
            <a:ext cx="1548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低位输入端</a:t>
            </a:r>
            <a:endParaRPr lang="zh-CN" altLang="en-US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85171" y="4117554"/>
            <a:ext cx="154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高位输入端</a:t>
            </a:r>
            <a:endParaRPr lang="en-US" altLang="zh-CN" sz="2000" b="1" dirty="0">
              <a:solidFill>
                <a:srgbClr val="FF33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淘宝网chenying0907出品 6"/>
          <p:cNvSpPr txBox="1"/>
          <p:nvPr/>
        </p:nvSpPr>
        <p:spPr>
          <a:xfrm>
            <a:off x="1549721" y="4826"/>
            <a:ext cx="467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4.4.2 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  <a:endParaRPr lang="zh-CN" altLang="en-US" sz="3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0540" y="4512243"/>
            <a:ext cx="82437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总结：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当高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位有有效输入时，输出为：</a:t>
            </a:r>
            <a:endParaRPr lang="en-US" altLang="zh-CN" sz="2400" b="1" dirty="0"/>
          </a:p>
          <a:p>
            <a:r>
              <a:rPr lang="en-US" altLang="zh-CN" sz="2400" b="1" dirty="0"/>
              <a:t>                                   0000—0111</a:t>
            </a:r>
            <a:endParaRPr lang="en-US" altLang="zh-CN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/>
              <a:t>当高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位无有效输入，低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位有有效输入时，输出为：</a:t>
            </a:r>
            <a:endParaRPr lang="en-US" altLang="zh-CN" sz="2400" b="1" dirty="0"/>
          </a:p>
          <a:p>
            <a:r>
              <a:rPr lang="en-US" altLang="zh-CN" sz="2400" b="1" dirty="0"/>
              <a:t>                                   1000-1111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淘宝网chenying0907出品 10"/>
          <p:cNvSpPr txBox="1"/>
          <p:nvPr/>
        </p:nvSpPr>
        <p:spPr>
          <a:xfrm>
            <a:off x="950159" y="3078790"/>
            <a:ext cx="20752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主要内容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</a:rPr>
              <a:t> Main Content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淘宝网chenying0907出品 11"/>
          <p:cNvSpPr/>
          <p:nvPr/>
        </p:nvSpPr>
        <p:spPr>
          <a:xfrm>
            <a:off x="3025365" y="0"/>
            <a:ext cx="611863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3025365" y="39481"/>
            <a:ext cx="2394626" cy="19630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6840121" y="4809438"/>
            <a:ext cx="2303880" cy="20485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淘宝网chenying0907出品 20"/>
          <p:cNvSpPr txBox="1"/>
          <p:nvPr/>
        </p:nvSpPr>
        <p:spPr>
          <a:xfrm>
            <a:off x="4003720" y="2143109"/>
            <a:ext cx="3605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加法器</a:t>
            </a:r>
            <a:endParaRPr lang="zh-CN" altLang="en-US" dirty="0"/>
          </a:p>
        </p:txBody>
      </p:sp>
      <p:sp>
        <p:nvSpPr>
          <p:cNvPr id="33" name="淘宝网chenying0907出品 25"/>
          <p:cNvSpPr txBox="1"/>
          <p:nvPr/>
        </p:nvSpPr>
        <p:spPr>
          <a:xfrm>
            <a:off x="4015057" y="2947845"/>
            <a:ext cx="4139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编码器</a:t>
            </a:r>
            <a:endParaRPr lang="zh-CN" altLang="en-US" dirty="0"/>
          </a:p>
        </p:txBody>
      </p:sp>
      <p:sp>
        <p:nvSpPr>
          <p:cNvPr id="34" name="淘宝网chenying0907出品 29"/>
          <p:cNvSpPr txBox="1"/>
          <p:nvPr/>
        </p:nvSpPr>
        <p:spPr>
          <a:xfrm>
            <a:off x="4015057" y="3752581"/>
            <a:ext cx="48900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译码器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44415" y="1376386"/>
            <a:ext cx="79750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0000FF"/>
                </a:solidFill>
              </a:rPr>
              <a:t>译码 ：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 将具有特定含义的二进制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代码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变换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(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翻译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)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成一定的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输出信号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以表示二进制代码的原意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,</a:t>
            </a:r>
            <a:r>
              <a:rPr kumimoji="1" lang="zh-CN" altLang="en-US" sz="2400" b="1" dirty="0">
                <a:latin typeface="宋体" panose="02010600030101010101" pitchFamily="2" charset="-122"/>
              </a:rPr>
              <a:t>这一过程称为译码</a:t>
            </a:r>
            <a:endParaRPr kumimoji="1" lang="en-US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93885" y="5024414"/>
            <a:ext cx="526447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  实现译码功能的组合电路称为译码器</a:t>
            </a:r>
            <a:endParaRPr kumimoji="1"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675809" y="3110303"/>
            <a:ext cx="7792381" cy="1049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</a:rPr>
              <a:t>译码是编码的逆过程，即将某个二进制代码翻译成电路的某种状态。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4" name="Group 14"/>
          <p:cNvGrpSpPr/>
          <p:nvPr/>
        </p:nvGrpSpPr>
        <p:grpSpPr bwMode="auto">
          <a:xfrm>
            <a:off x="4592330" y="4452914"/>
            <a:ext cx="3875860" cy="1566863"/>
            <a:chOff x="2498" y="1121"/>
            <a:chExt cx="2427" cy="987"/>
          </a:xfrm>
        </p:grpSpPr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2498" y="1442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endParaRPr kumimoji="1" lang="zh-CN" altLang="en-US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3265" y="1121"/>
              <a:ext cx="1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二进制译码器</a:t>
              </a:r>
              <a:endPara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3273" y="1474"/>
              <a:ext cx="16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二</a:t>
              </a: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—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十进制译码器</a:t>
              </a:r>
              <a:endPara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3273" y="1820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显示译码器</a:t>
              </a:r>
              <a:endPara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" name="AutoShape 19"/>
            <p:cNvSpPr/>
            <p:nvPr/>
          </p:nvSpPr>
          <p:spPr bwMode="auto">
            <a:xfrm>
              <a:off x="3130" y="1272"/>
              <a:ext cx="135" cy="692"/>
            </a:xfrm>
            <a:prstGeom prst="leftBrace">
              <a:avLst>
                <a:gd name="adj1" fmla="val 2699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365276" y="1619657"/>
            <a:ext cx="2922289" cy="415498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二进制译码器把输入的</a:t>
            </a:r>
            <a:r>
              <a:rPr kumimoji="1" lang="en-US" altLang="zh-CN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kumimoji="1"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代码翻译为</a:t>
            </a:r>
            <a:r>
              <a:rPr kumimoji="1" lang="en-US" altLang="zh-CN" sz="22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2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个输出的高低电平信号，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其中有一个为有效电平，其编号对应于输入的二进制代码</a:t>
            </a:r>
            <a:endParaRPr kumimoji="1"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常见的译码器有</a:t>
            </a:r>
            <a:r>
              <a:rPr kumimoji="1"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2-4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译码器、</a:t>
            </a:r>
            <a:r>
              <a:rPr kumimoji="1"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3-8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译码器和</a:t>
            </a:r>
            <a:r>
              <a:rPr kumimoji="1"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4-16</a:t>
            </a:r>
            <a:r>
              <a:rPr kumimoji="1"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译码器。</a:t>
            </a:r>
            <a:endParaRPr kumimoji="1" lang="zh-CN" altLang="en-US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" name="Group 4"/>
          <p:cNvGrpSpPr/>
          <p:nvPr/>
        </p:nvGrpSpPr>
        <p:grpSpPr bwMode="auto">
          <a:xfrm>
            <a:off x="4065191" y="1324382"/>
            <a:ext cx="3873500" cy="3965575"/>
            <a:chOff x="2848" y="911"/>
            <a:chExt cx="2440" cy="2498"/>
          </a:xfrm>
        </p:grpSpPr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3532" y="911"/>
              <a:ext cx="1024" cy="2498"/>
            </a:xfrm>
            <a:prstGeom prst="rect">
              <a:avLst/>
            </a:prstGeom>
            <a:solidFill>
              <a:srgbClr val="FFFFFF"/>
            </a:solidFill>
            <a:ln w="49213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6"/>
            <p:cNvSpPr>
              <a:spLocks noChangeArrowheads="1"/>
            </p:cNvSpPr>
            <p:nvPr/>
          </p:nvSpPr>
          <p:spPr bwMode="auto">
            <a:xfrm rot="16200000">
              <a:off x="3224" y="1994"/>
              <a:ext cx="16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3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线－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8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线译码器</a:t>
              </a:r>
              <a:endParaRPr kumimoji="1"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5056" y="1008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5216" y="1104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7" name="Line 9"/>
            <p:cNvSpPr>
              <a:spLocks noChangeShapeType="1"/>
            </p:cNvSpPr>
            <p:nvPr/>
          </p:nvSpPr>
          <p:spPr bwMode="auto">
            <a:xfrm flipH="1">
              <a:off x="4524" y="1128"/>
              <a:ext cx="4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0"/>
            <p:cNvSpPr>
              <a:spLocks noChangeShapeType="1"/>
            </p:cNvSpPr>
            <p:nvPr/>
          </p:nvSpPr>
          <p:spPr bwMode="auto">
            <a:xfrm flipH="1">
              <a:off x="4524" y="2013"/>
              <a:ext cx="4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1"/>
            <p:cNvSpPr>
              <a:spLocks noChangeShapeType="1"/>
            </p:cNvSpPr>
            <p:nvPr/>
          </p:nvSpPr>
          <p:spPr bwMode="auto">
            <a:xfrm flipH="1">
              <a:off x="4524" y="1423"/>
              <a:ext cx="4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2"/>
            <p:cNvSpPr>
              <a:spLocks noChangeShapeType="1"/>
            </p:cNvSpPr>
            <p:nvPr/>
          </p:nvSpPr>
          <p:spPr bwMode="auto">
            <a:xfrm flipH="1">
              <a:off x="4524" y="1718"/>
              <a:ext cx="4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13"/>
            <p:cNvSpPr>
              <a:spLocks noChangeArrowheads="1"/>
            </p:cNvSpPr>
            <p:nvPr/>
          </p:nvSpPr>
          <p:spPr bwMode="auto">
            <a:xfrm>
              <a:off x="2848" y="1248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2972" y="134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15"/>
            <p:cNvSpPr>
              <a:spLocks noChangeArrowheads="1"/>
            </p:cNvSpPr>
            <p:nvPr/>
          </p:nvSpPr>
          <p:spPr bwMode="auto">
            <a:xfrm>
              <a:off x="2848" y="1978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16"/>
            <p:cNvSpPr>
              <a:spLocks noChangeArrowheads="1"/>
            </p:cNvSpPr>
            <p:nvPr/>
          </p:nvSpPr>
          <p:spPr bwMode="auto">
            <a:xfrm>
              <a:off x="2972" y="208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17"/>
            <p:cNvSpPr>
              <a:spLocks noChangeArrowheads="1"/>
            </p:cNvSpPr>
            <p:nvPr/>
          </p:nvSpPr>
          <p:spPr bwMode="auto">
            <a:xfrm>
              <a:off x="2848" y="2707"/>
              <a:ext cx="12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6" name="Rectangle 18"/>
            <p:cNvSpPr>
              <a:spLocks noChangeArrowheads="1"/>
            </p:cNvSpPr>
            <p:nvPr/>
          </p:nvSpPr>
          <p:spPr bwMode="auto">
            <a:xfrm>
              <a:off x="2972" y="281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7" name="Line 19"/>
            <p:cNvSpPr>
              <a:spLocks noChangeShapeType="1"/>
            </p:cNvSpPr>
            <p:nvPr/>
          </p:nvSpPr>
          <p:spPr bwMode="auto">
            <a:xfrm flipH="1">
              <a:off x="4524" y="2308"/>
              <a:ext cx="4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0"/>
            <p:cNvSpPr>
              <a:spLocks noChangeShapeType="1"/>
            </p:cNvSpPr>
            <p:nvPr/>
          </p:nvSpPr>
          <p:spPr bwMode="auto">
            <a:xfrm flipH="1">
              <a:off x="4524" y="3177"/>
              <a:ext cx="4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21"/>
            <p:cNvSpPr>
              <a:spLocks noChangeShapeType="1"/>
            </p:cNvSpPr>
            <p:nvPr/>
          </p:nvSpPr>
          <p:spPr bwMode="auto">
            <a:xfrm flipH="1">
              <a:off x="4524" y="2603"/>
              <a:ext cx="4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 flipH="1">
              <a:off x="4524" y="2882"/>
              <a:ext cx="434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23"/>
            <p:cNvSpPr>
              <a:spLocks noChangeArrowheads="1"/>
            </p:cNvSpPr>
            <p:nvPr/>
          </p:nvSpPr>
          <p:spPr bwMode="auto">
            <a:xfrm>
              <a:off x="5056" y="1303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2" name="Rectangle 24"/>
            <p:cNvSpPr>
              <a:spLocks noChangeArrowheads="1"/>
            </p:cNvSpPr>
            <p:nvPr/>
          </p:nvSpPr>
          <p:spPr bwMode="auto">
            <a:xfrm>
              <a:off x="5198" y="139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3" name="Rectangle 25"/>
            <p:cNvSpPr>
              <a:spLocks noChangeArrowheads="1"/>
            </p:cNvSpPr>
            <p:nvPr/>
          </p:nvSpPr>
          <p:spPr bwMode="auto">
            <a:xfrm>
              <a:off x="5056" y="1598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26"/>
            <p:cNvSpPr>
              <a:spLocks noChangeArrowheads="1"/>
            </p:cNvSpPr>
            <p:nvPr/>
          </p:nvSpPr>
          <p:spPr bwMode="auto">
            <a:xfrm>
              <a:off x="5198" y="169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5" name="Rectangle 27"/>
            <p:cNvSpPr>
              <a:spLocks noChangeArrowheads="1"/>
            </p:cNvSpPr>
            <p:nvPr/>
          </p:nvSpPr>
          <p:spPr bwMode="auto">
            <a:xfrm>
              <a:off x="5056" y="1893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6" name="Rectangle 28"/>
            <p:cNvSpPr>
              <a:spLocks noChangeArrowheads="1"/>
            </p:cNvSpPr>
            <p:nvPr/>
          </p:nvSpPr>
          <p:spPr bwMode="auto">
            <a:xfrm>
              <a:off x="5198" y="198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7" name="Rectangle 29"/>
            <p:cNvSpPr>
              <a:spLocks noChangeArrowheads="1"/>
            </p:cNvSpPr>
            <p:nvPr/>
          </p:nvSpPr>
          <p:spPr bwMode="auto">
            <a:xfrm>
              <a:off x="5056" y="2188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8" name="Rectangle 30"/>
            <p:cNvSpPr>
              <a:spLocks noChangeArrowheads="1"/>
            </p:cNvSpPr>
            <p:nvPr/>
          </p:nvSpPr>
          <p:spPr bwMode="auto">
            <a:xfrm>
              <a:off x="5198" y="2281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31"/>
            <p:cNvSpPr>
              <a:spLocks noChangeArrowheads="1"/>
            </p:cNvSpPr>
            <p:nvPr/>
          </p:nvSpPr>
          <p:spPr bwMode="auto">
            <a:xfrm>
              <a:off x="5056" y="2483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32"/>
            <p:cNvSpPr>
              <a:spLocks noChangeArrowheads="1"/>
            </p:cNvSpPr>
            <p:nvPr/>
          </p:nvSpPr>
          <p:spPr bwMode="auto">
            <a:xfrm>
              <a:off x="5198" y="257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1" name="Rectangle 33"/>
            <p:cNvSpPr>
              <a:spLocks noChangeArrowheads="1"/>
            </p:cNvSpPr>
            <p:nvPr/>
          </p:nvSpPr>
          <p:spPr bwMode="auto">
            <a:xfrm>
              <a:off x="5056" y="2762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2" name="Rectangle 34"/>
            <p:cNvSpPr>
              <a:spLocks noChangeArrowheads="1"/>
            </p:cNvSpPr>
            <p:nvPr/>
          </p:nvSpPr>
          <p:spPr bwMode="auto">
            <a:xfrm>
              <a:off x="5198" y="2870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3" name="Rectangle 35"/>
            <p:cNvSpPr>
              <a:spLocks noChangeArrowheads="1"/>
            </p:cNvSpPr>
            <p:nvPr/>
          </p:nvSpPr>
          <p:spPr bwMode="auto">
            <a:xfrm>
              <a:off x="5056" y="3057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36"/>
            <p:cNvSpPr>
              <a:spLocks noChangeArrowheads="1"/>
            </p:cNvSpPr>
            <p:nvPr/>
          </p:nvSpPr>
          <p:spPr bwMode="auto">
            <a:xfrm>
              <a:off x="5198" y="316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5" name="Line 37"/>
            <p:cNvSpPr>
              <a:spLocks noChangeShapeType="1"/>
            </p:cNvSpPr>
            <p:nvPr/>
          </p:nvSpPr>
          <p:spPr bwMode="auto">
            <a:xfrm flipH="1">
              <a:off x="3084" y="1372"/>
              <a:ext cx="45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38"/>
            <p:cNvSpPr>
              <a:spLocks noChangeShapeType="1"/>
            </p:cNvSpPr>
            <p:nvPr/>
          </p:nvSpPr>
          <p:spPr bwMode="auto">
            <a:xfrm flipH="1">
              <a:off x="3084" y="2102"/>
              <a:ext cx="45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39"/>
            <p:cNvSpPr>
              <a:spLocks noChangeShapeType="1"/>
            </p:cNvSpPr>
            <p:nvPr/>
          </p:nvSpPr>
          <p:spPr bwMode="auto">
            <a:xfrm flipH="1">
              <a:off x="3084" y="2831"/>
              <a:ext cx="45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40"/>
            <p:cNvSpPr/>
            <p:nvPr/>
          </p:nvSpPr>
          <p:spPr bwMode="auto">
            <a:xfrm>
              <a:off x="4772" y="3146"/>
              <a:ext cx="186" cy="77"/>
            </a:xfrm>
            <a:custGeom>
              <a:avLst/>
              <a:gdLst>
                <a:gd name="T0" fmla="*/ 0 w 186"/>
                <a:gd name="T1" fmla="*/ 77 h 77"/>
                <a:gd name="T2" fmla="*/ 31 w 186"/>
                <a:gd name="T3" fmla="*/ 31 h 77"/>
                <a:gd name="T4" fmla="*/ 0 w 186"/>
                <a:gd name="T5" fmla="*/ 0 h 77"/>
                <a:gd name="T6" fmla="*/ 186 w 186"/>
                <a:gd name="T7" fmla="*/ 31 h 77"/>
                <a:gd name="T8" fmla="*/ 0 w 186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77">
                  <a:moveTo>
                    <a:pt x="0" y="77"/>
                  </a:moveTo>
                  <a:lnTo>
                    <a:pt x="31" y="31"/>
                  </a:lnTo>
                  <a:lnTo>
                    <a:pt x="0" y="0"/>
                  </a:lnTo>
                  <a:lnTo>
                    <a:pt x="186" y="3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41"/>
            <p:cNvSpPr/>
            <p:nvPr/>
          </p:nvSpPr>
          <p:spPr bwMode="auto">
            <a:xfrm>
              <a:off x="4772" y="2851"/>
              <a:ext cx="186" cy="77"/>
            </a:xfrm>
            <a:custGeom>
              <a:avLst/>
              <a:gdLst>
                <a:gd name="T0" fmla="*/ 0 w 186"/>
                <a:gd name="T1" fmla="*/ 77 h 77"/>
                <a:gd name="T2" fmla="*/ 31 w 186"/>
                <a:gd name="T3" fmla="*/ 31 h 77"/>
                <a:gd name="T4" fmla="*/ 0 w 186"/>
                <a:gd name="T5" fmla="*/ 0 h 77"/>
                <a:gd name="T6" fmla="*/ 186 w 186"/>
                <a:gd name="T7" fmla="*/ 31 h 77"/>
                <a:gd name="T8" fmla="*/ 0 w 186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77">
                  <a:moveTo>
                    <a:pt x="0" y="77"/>
                  </a:moveTo>
                  <a:lnTo>
                    <a:pt x="31" y="31"/>
                  </a:lnTo>
                  <a:lnTo>
                    <a:pt x="0" y="0"/>
                  </a:lnTo>
                  <a:lnTo>
                    <a:pt x="186" y="3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42"/>
            <p:cNvSpPr/>
            <p:nvPr/>
          </p:nvSpPr>
          <p:spPr bwMode="auto">
            <a:xfrm>
              <a:off x="4772" y="2556"/>
              <a:ext cx="186" cy="78"/>
            </a:xfrm>
            <a:custGeom>
              <a:avLst/>
              <a:gdLst>
                <a:gd name="T0" fmla="*/ 0 w 186"/>
                <a:gd name="T1" fmla="*/ 78 h 78"/>
                <a:gd name="T2" fmla="*/ 31 w 186"/>
                <a:gd name="T3" fmla="*/ 47 h 78"/>
                <a:gd name="T4" fmla="*/ 0 w 186"/>
                <a:gd name="T5" fmla="*/ 0 h 78"/>
                <a:gd name="T6" fmla="*/ 186 w 186"/>
                <a:gd name="T7" fmla="*/ 47 h 78"/>
                <a:gd name="T8" fmla="*/ 0 w 186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78">
                  <a:moveTo>
                    <a:pt x="0" y="78"/>
                  </a:moveTo>
                  <a:lnTo>
                    <a:pt x="31" y="47"/>
                  </a:lnTo>
                  <a:lnTo>
                    <a:pt x="0" y="0"/>
                  </a:lnTo>
                  <a:lnTo>
                    <a:pt x="186" y="47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43"/>
            <p:cNvSpPr/>
            <p:nvPr/>
          </p:nvSpPr>
          <p:spPr bwMode="auto">
            <a:xfrm>
              <a:off x="4772" y="2261"/>
              <a:ext cx="186" cy="78"/>
            </a:xfrm>
            <a:custGeom>
              <a:avLst/>
              <a:gdLst>
                <a:gd name="T0" fmla="*/ 0 w 186"/>
                <a:gd name="T1" fmla="*/ 78 h 78"/>
                <a:gd name="T2" fmla="*/ 31 w 186"/>
                <a:gd name="T3" fmla="*/ 47 h 78"/>
                <a:gd name="T4" fmla="*/ 0 w 186"/>
                <a:gd name="T5" fmla="*/ 0 h 78"/>
                <a:gd name="T6" fmla="*/ 186 w 186"/>
                <a:gd name="T7" fmla="*/ 47 h 78"/>
                <a:gd name="T8" fmla="*/ 0 w 186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78">
                  <a:moveTo>
                    <a:pt x="0" y="78"/>
                  </a:moveTo>
                  <a:lnTo>
                    <a:pt x="31" y="47"/>
                  </a:lnTo>
                  <a:lnTo>
                    <a:pt x="0" y="0"/>
                  </a:lnTo>
                  <a:lnTo>
                    <a:pt x="186" y="47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44"/>
            <p:cNvSpPr/>
            <p:nvPr/>
          </p:nvSpPr>
          <p:spPr bwMode="auto">
            <a:xfrm>
              <a:off x="4772" y="1966"/>
              <a:ext cx="186" cy="78"/>
            </a:xfrm>
            <a:custGeom>
              <a:avLst/>
              <a:gdLst>
                <a:gd name="T0" fmla="*/ 0 w 186"/>
                <a:gd name="T1" fmla="*/ 78 h 78"/>
                <a:gd name="T2" fmla="*/ 31 w 186"/>
                <a:gd name="T3" fmla="*/ 47 h 78"/>
                <a:gd name="T4" fmla="*/ 0 w 186"/>
                <a:gd name="T5" fmla="*/ 0 h 78"/>
                <a:gd name="T6" fmla="*/ 186 w 186"/>
                <a:gd name="T7" fmla="*/ 47 h 78"/>
                <a:gd name="T8" fmla="*/ 0 w 186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78">
                  <a:moveTo>
                    <a:pt x="0" y="78"/>
                  </a:moveTo>
                  <a:lnTo>
                    <a:pt x="31" y="47"/>
                  </a:lnTo>
                  <a:lnTo>
                    <a:pt x="0" y="0"/>
                  </a:lnTo>
                  <a:lnTo>
                    <a:pt x="186" y="47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45"/>
            <p:cNvSpPr/>
            <p:nvPr/>
          </p:nvSpPr>
          <p:spPr bwMode="auto">
            <a:xfrm>
              <a:off x="4772" y="1671"/>
              <a:ext cx="186" cy="78"/>
            </a:xfrm>
            <a:custGeom>
              <a:avLst/>
              <a:gdLst>
                <a:gd name="T0" fmla="*/ 0 w 186"/>
                <a:gd name="T1" fmla="*/ 78 h 78"/>
                <a:gd name="T2" fmla="*/ 31 w 186"/>
                <a:gd name="T3" fmla="*/ 47 h 78"/>
                <a:gd name="T4" fmla="*/ 0 w 186"/>
                <a:gd name="T5" fmla="*/ 0 h 78"/>
                <a:gd name="T6" fmla="*/ 186 w 186"/>
                <a:gd name="T7" fmla="*/ 47 h 78"/>
                <a:gd name="T8" fmla="*/ 0 w 186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78">
                  <a:moveTo>
                    <a:pt x="0" y="78"/>
                  </a:moveTo>
                  <a:lnTo>
                    <a:pt x="31" y="47"/>
                  </a:lnTo>
                  <a:lnTo>
                    <a:pt x="0" y="0"/>
                  </a:lnTo>
                  <a:lnTo>
                    <a:pt x="186" y="47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46"/>
            <p:cNvSpPr/>
            <p:nvPr/>
          </p:nvSpPr>
          <p:spPr bwMode="auto">
            <a:xfrm>
              <a:off x="4772" y="1392"/>
              <a:ext cx="186" cy="62"/>
            </a:xfrm>
            <a:custGeom>
              <a:avLst/>
              <a:gdLst>
                <a:gd name="T0" fmla="*/ 0 w 186"/>
                <a:gd name="T1" fmla="*/ 62 h 62"/>
                <a:gd name="T2" fmla="*/ 31 w 186"/>
                <a:gd name="T3" fmla="*/ 31 h 62"/>
                <a:gd name="T4" fmla="*/ 0 w 186"/>
                <a:gd name="T5" fmla="*/ 0 h 62"/>
                <a:gd name="T6" fmla="*/ 186 w 186"/>
                <a:gd name="T7" fmla="*/ 31 h 62"/>
                <a:gd name="T8" fmla="*/ 0 w 18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62">
                  <a:moveTo>
                    <a:pt x="0" y="62"/>
                  </a:moveTo>
                  <a:lnTo>
                    <a:pt x="31" y="31"/>
                  </a:lnTo>
                  <a:lnTo>
                    <a:pt x="0" y="0"/>
                  </a:lnTo>
                  <a:lnTo>
                    <a:pt x="186" y="31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47"/>
            <p:cNvSpPr/>
            <p:nvPr/>
          </p:nvSpPr>
          <p:spPr bwMode="auto">
            <a:xfrm>
              <a:off x="3332" y="2800"/>
              <a:ext cx="202" cy="77"/>
            </a:xfrm>
            <a:custGeom>
              <a:avLst/>
              <a:gdLst>
                <a:gd name="T0" fmla="*/ 0 w 202"/>
                <a:gd name="T1" fmla="*/ 77 h 77"/>
                <a:gd name="T2" fmla="*/ 31 w 202"/>
                <a:gd name="T3" fmla="*/ 31 h 77"/>
                <a:gd name="T4" fmla="*/ 0 w 202"/>
                <a:gd name="T5" fmla="*/ 0 h 77"/>
                <a:gd name="T6" fmla="*/ 202 w 202"/>
                <a:gd name="T7" fmla="*/ 31 h 77"/>
                <a:gd name="T8" fmla="*/ 0 w 202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77">
                  <a:moveTo>
                    <a:pt x="0" y="77"/>
                  </a:moveTo>
                  <a:lnTo>
                    <a:pt x="31" y="31"/>
                  </a:lnTo>
                  <a:lnTo>
                    <a:pt x="0" y="0"/>
                  </a:lnTo>
                  <a:lnTo>
                    <a:pt x="202" y="3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48"/>
            <p:cNvSpPr/>
            <p:nvPr/>
          </p:nvSpPr>
          <p:spPr bwMode="auto">
            <a:xfrm>
              <a:off x="3363" y="2070"/>
              <a:ext cx="186" cy="78"/>
            </a:xfrm>
            <a:custGeom>
              <a:avLst/>
              <a:gdLst>
                <a:gd name="T0" fmla="*/ 0 w 186"/>
                <a:gd name="T1" fmla="*/ 78 h 78"/>
                <a:gd name="T2" fmla="*/ 31 w 186"/>
                <a:gd name="T3" fmla="*/ 32 h 78"/>
                <a:gd name="T4" fmla="*/ 0 w 186"/>
                <a:gd name="T5" fmla="*/ 0 h 78"/>
                <a:gd name="T6" fmla="*/ 186 w 186"/>
                <a:gd name="T7" fmla="*/ 32 h 78"/>
                <a:gd name="T8" fmla="*/ 0 w 186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78">
                  <a:moveTo>
                    <a:pt x="0" y="78"/>
                  </a:moveTo>
                  <a:lnTo>
                    <a:pt x="31" y="32"/>
                  </a:lnTo>
                  <a:lnTo>
                    <a:pt x="0" y="0"/>
                  </a:lnTo>
                  <a:lnTo>
                    <a:pt x="186" y="32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49"/>
            <p:cNvSpPr/>
            <p:nvPr/>
          </p:nvSpPr>
          <p:spPr bwMode="auto">
            <a:xfrm>
              <a:off x="3332" y="1341"/>
              <a:ext cx="202" cy="62"/>
            </a:xfrm>
            <a:custGeom>
              <a:avLst/>
              <a:gdLst>
                <a:gd name="T0" fmla="*/ 0 w 202"/>
                <a:gd name="T1" fmla="*/ 62 h 62"/>
                <a:gd name="T2" fmla="*/ 31 w 202"/>
                <a:gd name="T3" fmla="*/ 31 h 62"/>
                <a:gd name="T4" fmla="*/ 0 w 202"/>
                <a:gd name="T5" fmla="*/ 0 h 62"/>
                <a:gd name="T6" fmla="*/ 202 w 202"/>
                <a:gd name="T7" fmla="*/ 31 h 62"/>
                <a:gd name="T8" fmla="*/ 0 w 202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2">
                  <a:moveTo>
                    <a:pt x="0" y="62"/>
                  </a:moveTo>
                  <a:lnTo>
                    <a:pt x="31" y="31"/>
                  </a:lnTo>
                  <a:lnTo>
                    <a:pt x="0" y="0"/>
                  </a:lnTo>
                  <a:lnTo>
                    <a:pt x="202" y="31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50"/>
            <p:cNvSpPr/>
            <p:nvPr/>
          </p:nvSpPr>
          <p:spPr bwMode="auto">
            <a:xfrm>
              <a:off x="4772" y="1097"/>
              <a:ext cx="186" cy="62"/>
            </a:xfrm>
            <a:custGeom>
              <a:avLst/>
              <a:gdLst>
                <a:gd name="T0" fmla="*/ 0 w 186"/>
                <a:gd name="T1" fmla="*/ 62 h 62"/>
                <a:gd name="T2" fmla="*/ 31 w 186"/>
                <a:gd name="T3" fmla="*/ 31 h 62"/>
                <a:gd name="T4" fmla="*/ 0 w 186"/>
                <a:gd name="T5" fmla="*/ 0 h 62"/>
                <a:gd name="T6" fmla="*/ 186 w 186"/>
                <a:gd name="T7" fmla="*/ 31 h 62"/>
                <a:gd name="T8" fmla="*/ 0 w 18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62">
                  <a:moveTo>
                    <a:pt x="0" y="62"/>
                  </a:moveTo>
                  <a:lnTo>
                    <a:pt x="31" y="31"/>
                  </a:lnTo>
                  <a:lnTo>
                    <a:pt x="0" y="0"/>
                  </a:lnTo>
                  <a:lnTo>
                    <a:pt x="186" y="31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0000"/>
            </a:solidFill>
            <a:ln w="25400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" name="Rectangle 51"/>
          <p:cNvSpPr>
            <a:spLocks noChangeArrowheads="1"/>
          </p:cNvSpPr>
          <p:nvPr/>
        </p:nvSpPr>
        <p:spPr bwMode="auto">
          <a:xfrm>
            <a:off x="3382170" y="5424248"/>
            <a:ext cx="17958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二进制代码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0" name="Rectangle 52"/>
          <p:cNvSpPr>
            <a:spLocks noChangeArrowheads="1"/>
          </p:cNvSpPr>
          <p:nvPr/>
        </p:nvSpPr>
        <p:spPr bwMode="auto">
          <a:xfrm>
            <a:off x="6808728" y="6021897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高低电平信号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71" name="Group 53"/>
          <p:cNvGrpSpPr/>
          <p:nvPr/>
        </p:nvGrpSpPr>
        <p:grpSpPr bwMode="auto">
          <a:xfrm>
            <a:off x="3912791" y="1716902"/>
            <a:ext cx="533400" cy="3721100"/>
            <a:chOff x="2776" y="1176"/>
            <a:chExt cx="336" cy="2344"/>
          </a:xfrm>
        </p:grpSpPr>
        <p:sp>
          <p:nvSpPr>
            <p:cNvPr id="72" name="AutoShape 54"/>
            <p:cNvSpPr>
              <a:spLocks noChangeArrowheads="1"/>
            </p:cNvSpPr>
            <p:nvPr/>
          </p:nvSpPr>
          <p:spPr bwMode="auto">
            <a:xfrm>
              <a:off x="2776" y="1176"/>
              <a:ext cx="336" cy="1864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AutoShape 55"/>
            <p:cNvSpPr>
              <a:spLocks noChangeArrowheads="1"/>
            </p:cNvSpPr>
            <p:nvPr/>
          </p:nvSpPr>
          <p:spPr bwMode="auto">
            <a:xfrm>
              <a:off x="2800" y="3040"/>
              <a:ext cx="288" cy="480"/>
            </a:xfrm>
            <a:prstGeom prst="downArrow">
              <a:avLst>
                <a:gd name="adj1" fmla="val 50000"/>
                <a:gd name="adj2" fmla="val 41667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74" name="Group 56"/>
          <p:cNvGrpSpPr/>
          <p:nvPr/>
        </p:nvGrpSpPr>
        <p:grpSpPr bwMode="auto">
          <a:xfrm>
            <a:off x="7417991" y="1249769"/>
            <a:ext cx="609600" cy="4724400"/>
            <a:chOff x="4960" y="864"/>
            <a:chExt cx="384" cy="2976"/>
          </a:xfrm>
        </p:grpSpPr>
        <p:sp>
          <p:nvSpPr>
            <p:cNvPr id="75" name="AutoShape 57"/>
            <p:cNvSpPr>
              <a:spLocks noChangeArrowheads="1"/>
            </p:cNvSpPr>
            <p:nvPr/>
          </p:nvSpPr>
          <p:spPr bwMode="auto">
            <a:xfrm>
              <a:off x="4960" y="864"/>
              <a:ext cx="384" cy="2496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AutoShape 58"/>
            <p:cNvSpPr>
              <a:spLocks noChangeArrowheads="1"/>
            </p:cNvSpPr>
            <p:nvPr/>
          </p:nvSpPr>
          <p:spPr bwMode="auto">
            <a:xfrm>
              <a:off x="5008" y="3360"/>
              <a:ext cx="288" cy="480"/>
            </a:xfrm>
            <a:prstGeom prst="downArrow">
              <a:avLst>
                <a:gd name="adj1" fmla="val 50000"/>
                <a:gd name="adj2" fmla="val 41667"/>
              </a:avLst>
            </a:prstGeom>
            <a:noFill/>
            <a:ln w="9525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77" name="文本框 76"/>
          <p:cNvSpPr txBox="1"/>
          <p:nvPr/>
        </p:nvSpPr>
        <p:spPr>
          <a:xfrm>
            <a:off x="12708" y="615323"/>
            <a:ext cx="3800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sz="2800" dirty="0">
                <a:solidFill>
                  <a:srgbClr val="0000FF"/>
                </a:solidFill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</a:rPr>
              <a:t>二进制译码器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  <p:bldP spid="69" grpId="0" autoUpdateAnimBg="0"/>
      <p:bldP spid="7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352258"/>
          <p:cNvSpPr>
            <a:spLocks noChangeArrowheads="1"/>
          </p:cNvSpPr>
          <p:nvPr/>
        </p:nvSpPr>
        <p:spPr bwMode="auto">
          <a:xfrm>
            <a:off x="664532" y="5740887"/>
            <a:ext cx="7360278" cy="8309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170A8E"/>
                </a:solidFill>
                <a:ea typeface="宋体" panose="02010600030101010101" pitchFamily="2" charset="-122"/>
              </a:rPr>
              <a:t>说明</a:t>
            </a:r>
            <a:r>
              <a:rPr lang="zh-CN" altLang="en-US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</a:rPr>
              <a:t>—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译码器是多输入、多输出组合逻辑电路，每个输出对应一个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变量最小项</a:t>
            </a:r>
            <a:r>
              <a:rPr lang="en-US" altLang="zh-CN" sz="2400" b="1" dirty="0">
                <a:ea typeface="楷体_GB2312" pitchFamily="49" charset="-122"/>
              </a:rPr>
              <a:t>——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也称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最小项发生器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9" name="矩形 352259"/>
          <p:cNvSpPr>
            <a:spLocks noChangeArrowheads="1"/>
          </p:cNvSpPr>
          <p:nvPr/>
        </p:nvSpPr>
        <p:spPr bwMode="auto">
          <a:xfrm>
            <a:off x="2466629" y="1244479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ea typeface="楷体_GB2312" pitchFamily="49" charset="-122"/>
              </a:rPr>
              <a:t>真值表</a:t>
            </a:r>
            <a:endParaRPr lang="zh-CN" altLang="en-US" sz="2400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grpSp>
        <p:nvGrpSpPr>
          <p:cNvPr id="80" name="组合 352260"/>
          <p:cNvGrpSpPr/>
          <p:nvPr/>
        </p:nvGrpSpPr>
        <p:grpSpPr bwMode="auto">
          <a:xfrm>
            <a:off x="724689" y="1743078"/>
            <a:ext cx="4754635" cy="3723923"/>
            <a:chOff x="0" y="0"/>
            <a:chExt cx="2845" cy="2226"/>
          </a:xfrm>
        </p:grpSpPr>
        <p:graphicFrame>
          <p:nvGraphicFramePr>
            <p:cNvPr id="81" name="对象 352261"/>
            <p:cNvGraphicFramePr>
              <a:graphicFrameLocks noChangeAspect="1"/>
            </p:cNvGraphicFramePr>
            <p:nvPr/>
          </p:nvGraphicFramePr>
          <p:xfrm>
            <a:off x="0" y="0"/>
            <a:ext cx="284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" name="" r:id="rId1" imgW="1749425" imgH="177800" progId="Equation.3">
                    <p:embed/>
                  </p:oleObj>
                </mc:Choice>
                <mc:Fallback>
                  <p:oleObj name="" r:id="rId1" imgW="1749425" imgH="177800" progId="Equation.3">
                    <p:embed/>
                    <p:pic>
                      <p:nvPicPr>
                        <p:cNvPr id="0" name="图片 122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845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" name="矩形 352262"/>
            <p:cNvSpPr>
              <a:spLocks noChangeArrowheads="1"/>
            </p:cNvSpPr>
            <p:nvPr/>
          </p:nvSpPr>
          <p:spPr bwMode="auto">
            <a:xfrm>
              <a:off x="30" y="305"/>
              <a:ext cx="2781" cy="1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457200" indent="-4572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0   0   0    </a:t>
              </a: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1 </a:t>
              </a:r>
              <a:r>
                <a:rPr lang="en-US" altLang="zh-CN" sz="2400" b="1" dirty="0">
                  <a:ea typeface="宋体" panose="02010600030101010101" pitchFamily="2" charset="-122"/>
                </a:rPr>
                <a:t>   0    0   0   0    0   0   0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0   0   1    0    </a:t>
              </a: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400" b="1" dirty="0">
                  <a:ea typeface="宋体" panose="02010600030101010101" pitchFamily="2" charset="-122"/>
                </a:rPr>
                <a:t>    0   0   0    0   0   0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0   1   0    0    0    </a:t>
              </a: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400" b="1" dirty="0">
                  <a:ea typeface="宋体" panose="02010600030101010101" pitchFamily="2" charset="-122"/>
                </a:rPr>
                <a:t>   0   0    0   0   0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0   1   1    0    0    0   </a:t>
              </a: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400" b="1" dirty="0">
                  <a:ea typeface="宋体" panose="02010600030101010101" pitchFamily="2" charset="-122"/>
                </a:rPr>
                <a:t>   0    0   0   0  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1   0   0    0    0    0   0   </a:t>
              </a: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400" b="1" dirty="0">
                  <a:ea typeface="宋体" panose="02010600030101010101" pitchFamily="2" charset="-122"/>
                </a:rPr>
                <a:t>    0   0   0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1   0   1    0    0    0   0   0    </a:t>
              </a: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400" b="1" dirty="0">
                  <a:ea typeface="宋体" panose="02010600030101010101" pitchFamily="2" charset="-122"/>
                </a:rPr>
                <a:t>   0   0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1   1   0    0    0    0   0   0    0   </a:t>
              </a: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400" b="1" dirty="0">
                  <a:ea typeface="宋体" panose="02010600030101010101" pitchFamily="2" charset="-122"/>
                </a:rPr>
                <a:t>   0</a:t>
              </a:r>
              <a:endParaRPr lang="en-US" altLang="zh-CN" sz="2400" b="1" dirty="0">
                <a:ea typeface="宋体" panose="02010600030101010101" pitchFamily="2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dirty="0">
                  <a:ea typeface="宋体" panose="02010600030101010101" pitchFamily="2" charset="-122"/>
                </a:rPr>
                <a:t>1   1   1    0    0    0   0   0    0   0   </a:t>
              </a:r>
              <a:r>
                <a: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2400" b="1" dirty="0">
                  <a:ea typeface="宋体" panose="02010600030101010101" pitchFamily="2" charset="-122"/>
                </a:rPr>
                <a:t> </a:t>
              </a:r>
              <a:endParaRPr lang="en-US" altLang="zh-CN" sz="2400" b="1" dirty="0">
                <a:solidFill>
                  <a:schemeClr val="accent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3" name="直接连接符 352263"/>
            <p:cNvSpPr>
              <a:spLocks noChangeShapeType="1"/>
            </p:cNvSpPr>
            <p:nvPr/>
          </p:nvSpPr>
          <p:spPr bwMode="auto">
            <a:xfrm>
              <a:off x="30" y="258"/>
              <a:ext cx="26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直接连接符 352264"/>
            <p:cNvSpPr>
              <a:spLocks noChangeShapeType="1"/>
            </p:cNvSpPr>
            <p:nvPr/>
          </p:nvSpPr>
          <p:spPr bwMode="auto">
            <a:xfrm>
              <a:off x="750" y="18"/>
              <a:ext cx="0" cy="2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矩形 352265"/>
          <p:cNvSpPr>
            <a:spLocks noChangeArrowheads="1"/>
          </p:cNvSpPr>
          <p:nvPr/>
        </p:nvSpPr>
        <p:spPr bwMode="auto">
          <a:xfrm>
            <a:off x="6596856" y="1370625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C00000"/>
                </a:solidFill>
                <a:ea typeface="楷体_GB2312" pitchFamily="49" charset="-122"/>
              </a:rPr>
              <a:t>表达式</a:t>
            </a:r>
            <a:endParaRPr lang="zh-CN" altLang="en-US" sz="2400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graphicFrame>
        <p:nvGraphicFramePr>
          <p:cNvPr id="86" name="对象 352266"/>
          <p:cNvGraphicFramePr>
            <a:graphicFrameLocks noChangeAspect="1"/>
          </p:cNvGraphicFramePr>
          <p:nvPr/>
        </p:nvGraphicFramePr>
        <p:xfrm>
          <a:off x="6447555" y="1974488"/>
          <a:ext cx="1577254" cy="3264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" r:id="rId3" imgW="546100" imgH="1130300" progId="Equation.3">
                  <p:embed/>
                </p:oleObj>
              </mc:Choice>
              <mc:Fallback>
                <p:oleObj name="" r:id="rId3" imgW="546100" imgH="1130300" progId="Equation.3">
                  <p:embed/>
                  <p:pic>
                    <p:nvPicPr>
                      <p:cNvPr id="0" name="图片 12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7555" y="1974488"/>
                        <a:ext cx="1577254" cy="326426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2708" y="615323"/>
            <a:ext cx="3800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二进制译码器</a:t>
            </a:r>
            <a:endParaRPr lang="zh-CN" altLang="en-US" dirty="0"/>
          </a:p>
        </p:txBody>
      </p:sp>
      <p:cxnSp>
        <p:nvCxnSpPr>
          <p:cNvPr id="17" name="直接连接符 16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/>
      <p:bldP spid="8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353283"/>
          <p:cNvSpPr>
            <a:spLocks noChangeArrowheads="1"/>
          </p:cNvSpPr>
          <p:nvPr/>
        </p:nvSpPr>
        <p:spPr bwMode="auto">
          <a:xfrm>
            <a:off x="277463" y="1490315"/>
            <a:ext cx="36651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74LS138 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3/8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译码器）</a:t>
            </a: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        </a:t>
            </a:r>
            <a:endParaRPr lang="en-US" altLang="zh-CN" b="1" baseline="-2500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矩形 353284"/>
          <p:cNvSpPr>
            <a:spLocks noChangeArrowheads="1"/>
          </p:cNvSpPr>
          <p:nvPr/>
        </p:nvSpPr>
        <p:spPr bwMode="auto">
          <a:xfrm>
            <a:off x="5695951" y="180975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图形符号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grpSp>
        <p:nvGrpSpPr>
          <p:cNvPr id="20" name="组合 353286"/>
          <p:cNvGrpSpPr/>
          <p:nvPr/>
        </p:nvGrpSpPr>
        <p:grpSpPr bwMode="auto">
          <a:xfrm>
            <a:off x="4019551" y="2343150"/>
            <a:ext cx="4600575" cy="3581400"/>
            <a:chOff x="0" y="0"/>
            <a:chExt cx="2898" cy="2256"/>
          </a:xfrm>
        </p:grpSpPr>
        <p:pic>
          <p:nvPicPr>
            <p:cNvPr id="21" name="图片 353287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898" cy="2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右大括号 353288"/>
            <p:cNvSpPr/>
            <p:nvPr/>
          </p:nvSpPr>
          <p:spPr bwMode="auto">
            <a:xfrm>
              <a:off x="1152" y="336"/>
              <a:ext cx="48" cy="528"/>
            </a:xfrm>
            <a:prstGeom prst="rightBrace">
              <a:avLst>
                <a:gd name="adj1" fmla="val 91616"/>
                <a:gd name="adj2" fmla="val 50000"/>
              </a:avLst>
            </a:prstGeom>
            <a:noFill/>
            <a:ln w="952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/>
            </a:p>
          </p:txBody>
        </p:sp>
        <p:grpSp>
          <p:nvGrpSpPr>
            <p:cNvPr id="23" name="组合 353289"/>
            <p:cNvGrpSpPr/>
            <p:nvPr/>
          </p:nvGrpSpPr>
          <p:grpSpPr bwMode="auto">
            <a:xfrm>
              <a:off x="1200" y="336"/>
              <a:ext cx="432" cy="484"/>
              <a:chOff x="0" y="0"/>
              <a:chExt cx="432" cy="484"/>
            </a:xfrm>
          </p:grpSpPr>
          <p:sp>
            <p:nvSpPr>
              <p:cNvPr id="24" name="矩形 353290"/>
              <p:cNvSpPr>
                <a:spLocks noChangeArrowheads="1"/>
              </p:cNvSpPr>
              <p:nvPr/>
            </p:nvSpPr>
            <p:spPr bwMode="auto">
              <a:xfrm>
                <a:off x="240" y="0"/>
                <a:ext cx="192" cy="4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75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solidFill>
                      <a:schemeClr val="bg1"/>
                    </a:solidFill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solidFill>
                      <a:schemeClr val="bg1"/>
                    </a:solidFill>
                    <a:ea typeface="宋体" panose="02010600030101010101" pitchFamily="2" charset="-122"/>
                  </a:rPr>
                  <a:t>7</a:t>
                </a:r>
                <a:endParaRPr lang="en-US" altLang="zh-CN" sz="2400" b="1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5" name="矩形 353291"/>
              <p:cNvSpPr>
                <a:spLocks noChangeArrowheads="1"/>
              </p:cNvSpPr>
              <p:nvPr/>
            </p:nvSpPr>
            <p:spPr bwMode="auto">
              <a:xfrm>
                <a:off x="0" y="14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75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solidFill>
                      <a:schemeClr val="bg1"/>
                    </a:solidFill>
                    <a:ea typeface="宋体" panose="02010600030101010101" pitchFamily="2" charset="-122"/>
                  </a:rPr>
                  <a:t>G</a:t>
                </a:r>
                <a:endParaRPr lang="en-US" altLang="zh-CN" sz="2400" b="1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6" name="直接连接符 353292"/>
              <p:cNvSpPr>
                <a:spLocks noChangeShapeType="1"/>
              </p:cNvSpPr>
              <p:nvPr/>
            </p:nvSpPr>
            <p:spPr bwMode="auto">
              <a:xfrm>
                <a:off x="240" y="240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0" name="矩形 353336"/>
          <p:cNvSpPr>
            <a:spLocks noChangeArrowheads="1"/>
          </p:cNvSpPr>
          <p:nvPr/>
        </p:nvSpPr>
        <p:spPr bwMode="auto">
          <a:xfrm>
            <a:off x="790576" y="2432231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一般符号</a:t>
            </a:r>
            <a:endParaRPr lang="zh-CN" altLang="en-US" sz="2400" b="1" dirty="0"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7200" y="3067050"/>
            <a:ext cx="2727158" cy="2238876"/>
            <a:chOff x="717885" y="3171825"/>
            <a:chExt cx="2514600" cy="2133600"/>
          </a:xfrm>
        </p:grpSpPr>
        <p:grpSp>
          <p:nvGrpSpPr>
            <p:cNvPr id="27" name="组合 353293"/>
            <p:cNvGrpSpPr/>
            <p:nvPr/>
          </p:nvGrpSpPr>
          <p:grpSpPr bwMode="auto">
            <a:xfrm>
              <a:off x="717885" y="3171825"/>
              <a:ext cx="2514600" cy="2133600"/>
              <a:chOff x="0" y="0"/>
              <a:chExt cx="1584" cy="1344"/>
            </a:xfrm>
          </p:grpSpPr>
          <p:sp>
            <p:nvSpPr>
              <p:cNvPr id="28" name="矩形 353294"/>
              <p:cNvSpPr>
                <a:spLocks noChangeArrowheads="1"/>
              </p:cNvSpPr>
              <p:nvPr/>
            </p:nvSpPr>
            <p:spPr bwMode="auto">
              <a:xfrm>
                <a:off x="0" y="288"/>
                <a:ext cx="1536" cy="76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graphicFrame>
            <p:nvGraphicFramePr>
              <p:cNvPr id="29" name="对象 353295"/>
              <p:cNvGraphicFramePr>
                <a:graphicFrameLocks noChangeAspect="1"/>
              </p:cNvGraphicFramePr>
              <p:nvPr/>
            </p:nvGraphicFramePr>
            <p:xfrm>
              <a:off x="48" y="336"/>
              <a:ext cx="1536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14" name="Equation" r:id="rId2" imgW="1268730" imgH="215900" progId="Equation.DSMT4">
                      <p:embed/>
                    </p:oleObj>
                  </mc:Choice>
                  <mc:Fallback>
                    <p:oleObj name="Equation" r:id="rId2" imgW="1268730" imgH="215900" progId="Equation.DSMT4">
                      <p:embed/>
                      <p:pic>
                        <p:nvPicPr>
                          <p:cNvPr id="0" name="图片 133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336"/>
                            <a:ext cx="1536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0" name="组合 353296"/>
              <p:cNvGrpSpPr/>
              <p:nvPr/>
            </p:nvGrpSpPr>
            <p:grpSpPr bwMode="auto">
              <a:xfrm>
                <a:off x="48" y="0"/>
                <a:ext cx="96" cy="288"/>
                <a:chOff x="0" y="0"/>
                <a:chExt cx="96" cy="288"/>
              </a:xfrm>
            </p:grpSpPr>
            <p:sp>
              <p:nvSpPr>
                <p:cNvPr id="68" name="椭圆 353297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69" name="直接连接符 353298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53299"/>
              <p:cNvGrpSpPr/>
              <p:nvPr/>
            </p:nvGrpSpPr>
            <p:grpSpPr bwMode="auto">
              <a:xfrm>
                <a:off x="240" y="0"/>
                <a:ext cx="96" cy="288"/>
                <a:chOff x="0" y="0"/>
                <a:chExt cx="96" cy="288"/>
              </a:xfrm>
            </p:grpSpPr>
            <p:sp>
              <p:nvSpPr>
                <p:cNvPr id="66" name="椭圆 353300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67" name="直接连接符 353301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" name="组合 353302"/>
              <p:cNvGrpSpPr/>
              <p:nvPr/>
            </p:nvGrpSpPr>
            <p:grpSpPr bwMode="auto">
              <a:xfrm>
                <a:off x="432" y="0"/>
                <a:ext cx="96" cy="288"/>
                <a:chOff x="0" y="0"/>
                <a:chExt cx="96" cy="288"/>
              </a:xfrm>
            </p:grpSpPr>
            <p:sp>
              <p:nvSpPr>
                <p:cNvPr id="64" name="椭圆 353303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65" name="直接连接符 353304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53305"/>
              <p:cNvGrpSpPr/>
              <p:nvPr/>
            </p:nvGrpSpPr>
            <p:grpSpPr bwMode="auto">
              <a:xfrm>
                <a:off x="624" y="0"/>
                <a:ext cx="96" cy="288"/>
                <a:chOff x="0" y="0"/>
                <a:chExt cx="96" cy="288"/>
              </a:xfrm>
            </p:grpSpPr>
            <p:sp>
              <p:nvSpPr>
                <p:cNvPr id="62" name="椭圆 353306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63" name="直接连接符 353307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" name="组合 353308"/>
              <p:cNvGrpSpPr/>
              <p:nvPr/>
            </p:nvGrpSpPr>
            <p:grpSpPr bwMode="auto">
              <a:xfrm>
                <a:off x="816" y="0"/>
                <a:ext cx="96" cy="288"/>
                <a:chOff x="0" y="0"/>
                <a:chExt cx="96" cy="288"/>
              </a:xfrm>
            </p:grpSpPr>
            <p:sp>
              <p:nvSpPr>
                <p:cNvPr id="60" name="椭圆 353309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61" name="直接连接符 353310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53311"/>
              <p:cNvGrpSpPr/>
              <p:nvPr/>
            </p:nvGrpSpPr>
            <p:grpSpPr bwMode="auto">
              <a:xfrm>
                <a:off x="1008" y="0"/>
                <a:ext cx="96" cy="288"/>
                <a:chOff x="0" y="0"/>
                <a:chExt cx="96" cy="288"/>
              </a:xfrm>
            </p:grpSpPr>
            <p:sp>
              <p:nvSpPr>
                <p:cNvPr id="58" name="椭圆 353312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9" name="直接连接符 353313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3314"/>
              <p:cNvGrpSpPr/>
              <p:nvPr/>
            </p:nvGrpSpPr>
            <p:grpSpPr bwMode="auto">
              <a:xfrm>
                <a:off x="1200" y="0"/>
                <a:ext cx="96" cy="288"/>
                <a:chOff x="0" y="0"/>
                <a:chExt cx="96" cy="288"/>
              </a:xfrm>
            </p:grpSpPr>
            <p:sp>
              <p:nvSpPr>
                <p:cNvPr id="56" name="椭圆 353315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7" name="直接连接符 353316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53317"/>
              <p:cNvGrpSpPr/>
              <p:nvPr/>
            </p:nvGrpSpPr>
            <p:grpSpPr bwMode="auto">
              <a:xfrm>
                <a:off x="1392" y="0"/>
                <a:ext cx="96" cy="288"/>
                <a:chOff x="0" y="0"/>
                <a:chExt cx="96" cy="288"/>
              </a:xfrm>
            </p:grpSpPr>
            <p:sp>
              <p:nvSpPr>
                <p:cNvPr id="54" name="椭圆 353318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5" name="直接连接符 353319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53320"/>
              <p:cNvGrpSpPr/>
              <p:nvPr/>
            </p:nvGrpSpPr>
            <p:grpSpPr bwMode="auto">
              <a:xfrm flipV="1">
                <a:off x="1344" y="1056"/>
                <a:ext cx="96" cy="288"/>
                <a:chOff x="0" y="0"/>
                <a:chExt cx="96" cy="288"/>
              </a:xfrm>
            </p:grpSpPr>
            <p:sp>
              <p:nvSpPr>
                <p:cNvPr id="52" name="椭圆 353321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3" name="直接连接符 353322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53323"/>
              <p:cNvGrpSpPr/>
              <p:nvPr/>
            </p:nvGrpSpPr>
            <p:grpSpPr bwMode="auto">
              <a:xfrm flipV="1">
                <a:off x="1152" y="1056"/>
                <a:ext cx="96" cy="288"/>
                <a:chOff x="0" y="0"/>
                <a:chExt cx="96" cy="288"/>
              </a:xfrm>
            </p:grpSpPr>
            <p:sp>
              <p:nvSpPr>
                <p:cNvPr id="50" name="椭圆 353324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1" name="直接连接符 353325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0" name="直接连接符 35332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直接连接符 353327"/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直接连接符 353328"/>
              <p:cNvSpPr>
                <a:spLocks noChangeShapeType="1"/>
              </p:cNvSpPr>
              <p:nvPr/>
            </p:nvSpPr>
            <p:spPr bwMode="auto">
              <a:xfrm>
                <a:off x="336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直接连接符 353329"/>
              <p:cNvSpPr>
                <a:spLocks noChangeShapeType="1"/>
              </p:cNvSpPr>
              <p:nvPr/>
            </p:nvSpPr>
            <p:spPr bwMode="auto">
              <a:xfrm>
                <a:off x="480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矩形 353330"/>
              <p:cNvSpPr>
                <a:spLocks noChangeArrowheads="1"/>
              </p:cNvSpPr>
              <p:nvPr/>
            </p:nvSpPr>
            <p:spPr bwMode="auto">
              <a:xfrm>
                <a:off x="48" y="831"/>
                <a:ext cx="5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600" b="1">
                    <a:ea typeface="宋体" panose="02010600030101010101" pitchFamily="2" charset="-122"/>
                  </a:rPr>
                  <a:t>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2</a:t>
                </a:r>
                <a:r>
                  <a:rPr lang="en-US" altLang="zh-CN" sz="1600" b="1">
                    <a:ea typeface="宋体" panose="02010600030101010101" pitchFamily="2" charset="-122"/>
                  </a:rPr>
                  <a:t> 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1</a:t>
                </a:r>
                <a:r>
                  <a:rPr lang="en-US" altLang="zh-CN" sz="1600" b="1">
                    <a:ea typeface="宋体" panose="02010600030101010101" pitchFamily="2" charset="-122"/>
                  </a:rPr>
                  <a:t> 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0</a:t>
                </a:r>
                <a:endParaRPr lang="en-US" altLang="zh-CN" sz="1600" b="1">
                  <a:ea typeface="宋体" panose="02010600030101010101" pitchFamily="2" charset="-122"/>
                </a:endParaRPr>
              </a:p>
            </p:txBody>
          </p:sp>
          <p:sp>
            <p:nvSpPr>
              <p:cNvPr id="45" name="矩形 353331"/>
              <p:cNvSpPr>
                <a:spLocks noChangeArrowheads="1"/>
              </p:cNvSpPr>
              <p:nvPr/>
            </p:nvSpPr>
            <p:spPr bwMode="auto">
              <a:xfrm>
                <a:off x="816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A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46" name="矩形 353332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B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47" name="矩形 353333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C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48" name="直接连接符 353334"/>
              <p:cNvSpPr>
                <a:spLocks noChangeShapeType="1"/>
              </p:cNvSpPr>
              <p:nvPr/>
            </p:nvSpPr>
            <p:spPr bwMode="auto">
              <a:xfrm>
                <a:off x="1104" y="91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直接连接符 353335"/>
              <p:cNvSpPr>
                <a:spLocks noChangeShapeType="1"/>
              </p:cNvSpPr>
              <p:nvPr/>
            </p:nvSpPr>
            <p:spPr bwMode="auto">
              <a:xfrm>
                <a:off x="1344" y="91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1428751" y="4126469"/>
              <a:ext cx="1041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74LS138</a:t>
              </a:r>
              <a:endParaRPr lang="zh-CN" altLang="en-US" dirty="0"/>
            </a:p>
          </p:txBody>
        </p:sp>
      </p:grpSp>
      <p:cxnSp>
        <p:nvCxnSpPr>
          <p:cNvPr id="72" name="直接连接符 7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12708" y="615323"/>
            <a:ext cx="3800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二进制译码器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354306"/>
          <p:cNvGrpSpPr/>
          <p:nvPr/>
        </p:nvGrpSpPr>
        <p:grpSpPr bwMode="auto">
          <a:xfrm>
            <a:off x="193363" y="2499580"/>
            <a:ext cx="2827691" cy="3217670"/>
            <a:chOff x="-8338" y="-342"/>
            <a:chExt cx="3509" cy="936"/>
          </a:xfrm>
        </p:grpSpPr>
        <p:sp>
          <p:nvSpPr>
            <p:cNvPr id="73" name="文本框 354307"/>
            <p:cNvSpPr txBox="1">
              <a:spLocks noChangeArrowheads="1"/>
            </p:cNvSpPr>
            <p:nvPr/>
          </p:nvSpPr>
          <p:spPr bwMode="auto">
            <a:xfrm>
              <a:off x="-8338" y="-342"/>
              <a:ext cx="3509" cy="9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342900" indent="-342900" eaLnBrk="1" hangingPunct="1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个输入端</a:t>
              </a: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:</a:t>
              </a:r>
              <a:endParaRPr lang="en-US" altLang="zh-CN" sz="24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ts val="1200"/>
                </a:spcAft>
              </a:pP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    A,B,C</a:t>
              </a:r>
              <a:endParaRPr lang="en-US" altLang="zh-CN" sz="2400" b="1" dirty="0">
                <a:latin typeface="楷体_GB2312" pitchFamily="49" charset="-122"/>
                <a:ea typeface="楷体_GB2312" pitchFamily="49" charset="-122"/>
              </a:endParaRPr>
            </a:p>
            <a:p>
              <a:pPr marL="342900" indent="-342900" eaLnBrk="1" hangingPunct="1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8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个输出端</a:t>
              </a: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: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en-US" altLang="zh-CN" sz="2400" b="1" dirty="0">
                <a:latin typeface="楷体_GB2312" pitchFamily="49" charset="-122"/>
                <a:ea typeface="楷体_GB2312" pitchFamily="49" charset="-122"/>
              </a:endParaRPr>
            </a:p>
            <a:p>
              <a:pPr>
                <a:spcAft>
                  <a:spcPts val="1200"/>
                </a:spcAft>
              </a:pP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    Y</a:t>
              </a:r>
              <a:r>
                <a:rPr lang="en-US" altLang="zh-CN" sz="2400" b="1" baseline="-25000" dirty="0">
                  <a:latin typeface="楷体_GB2312" pitchFamily="49" charset="-122"/>
                  <a:ea typeface="楷体_GB2312" pitchFamily="49" charset="-122"/>
                </a:rPr>
                <a:t>0  </a:t>
              </a:r>
              <a:r>
                <a:rPr lang="en-US" altLang="zh-CN" sz="2400" b="1" dirty="0">
                  <a:ea typeface="楷体_GB2312" pitchFamily="49" charset="-122"/>
                </a:rPr>
                <a:t>…</a:t>
              </a: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 Y</a:t>
              </a:r>
              <a:r>
                <a:rPr lang="en-US" altLang="zh-CN" sz="2400" b="1" baseline="-25000" dirty="0">
                  <a:latin typeface="楷体_GB2312" pitchFamily="49" charset="-122"/>
                  <a:ea typeface="楷体_GB2312" pitchFamily="49" charset="-122"/>
                </a:rPr>
                <a:t>7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zh-CN" altLang="en-US" sz="24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低有效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）</a:t>
              </a:r>
              <a:endParaRPr lang="zh-CN" altLang="en-US" sz="2400" b="1" dirty="0">
                <a:latin typeface="楷体_GB2312" pitchFamily="49" charset="-122"/>
                <a:ea typeface="楷体_GB2312" pitchFamily="49" charset="-122"/>
              </a:endParaRPr>
            </a:p>
            <a:p>
              <a:pPr marL="342900" indent="-342900" eaLnBrk="1" hangingPunct="1">
                <a:spcAft>
                  <a:spcPts val="600"/>
                </a:spcAft>
                <a:buFont typeface="Wingdings" panose="05000000000000000000" pitchFamily="2" charset="2"/>
                <a:buChar char="Ø"/>
              </a:pP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个使能端 ：</a:t>
              </a:r>
              <a:endParaRPr lang="en-US" altLang="zh-CN" sz="24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Aft>
                  <a:spcPts val="600"/>
                </a:spcAft>
              </a:pP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  ST</a:t>
              </a:r>
              <a:r>
                <a:rPr lang="en-US" altLang="zh-CN" sz="2400" b="1" baseline="-25000" dirty="0">
                  <a:latin typeface="楷体_GB2312" pitchFamily="49" charset="-122"/>
                  <a:ea typeface="楷体_GB2312" pitchFamily="49" charset="-122"/>
                </a:rPr>
                <a:t>A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ST</a:t>
              </a:r>
              <a:r>
                <a:rPr lang="en-US" altLang="zh-CN" sz="2400" b="1" baseline="-25000" dirty="0">
                  <a:latin typeface="楷体_GB2312" pitchFamily="49" charset="-122"/>
                  <a:ea typeface="楷体_GB2312" pitchFamily="49" charset="-122"/>
                </a:rPr>
                <a:t>B</a:t>
              </a:r>
              <a:r>
                <a:rPr lang="zh-CN" altLang="en-US" sz="2400" b="1" dirty="0">
                  <a:latin typeface="楷体_GB2312" pitchFamily="49" charset="-122"/>
                  <a:ea typeface="楷体_GB2312" pitchFamily="49" charset="-122"/>
                </a:rPr>
                <a:t>、</a:t>
              </a:r>
              <a:r>
                <a:rPr lang="en-US" altLang="zh-CN" sz="2400" b="1" dirty="0">
                  <a:latin typeface="楷体_GB2312" pitchFamily="49" charset="-122"/>
                  <a:ea typeface="楷体_GB2312" pitchFamily="49" charset="-122"/>
                </a:rPr>
                <a:t>ST</a:t>
              </a:r>
              <a:r>
                <a:rPr lang="en-US" altLang="zh-CN" sz="2400" b="1" baseline="-25000" dirty="0">
                  <a:latin typeface="楷体_GB2312" pitchFamily="49" charset="-122"/>
                  <a:ea typeface="楷体_GB2312" pitchFamily="49" charset="-122"/>
                </a:rPr>
                <a:t>C</a:t>
              </a:r>
              <a:endParaRPr lang="en-US" altLang="zh-CN" sz="24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4" name="直接连接符 354308"/>
            <p:cNvSpPr>
              <a:spLocks noChangeShapeType="1"/>
            </p:cNvSpPr>
            <p:nvPr/>
          </p:nvSpPr>
          <p:spPr bwMode="auto">
            <a:xfrm>
              <a:off x="-6083" y="481"/>
              <a:ext cx="47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Aft>
                  <a:spcPts val="600"/>
                </a:spcAft>
              </a:pPr>
              <a:endParaRPr lang="zh-CN" altLang="en-US" b="1"/>
            </a:p>
          </p:txBody>
        </p:sp>
        <p:sp>
          <p:nvSpPr>
            <p:cNvPr id="75" name="直接连接符 354309"/>
            <p:cNvSpPr>
              <a:spLocks noChangeShapeType="1"/>
            </p:cNvSpPr>
            <p:nvPr/>
          </p:nvSpPr>
          <p:spPr bwMode="auto">
            <a:xfrm>
              <a:off x="-6967" y="481"/>
              <a:ext cx="48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Aft>
                  <a:spcPts val="600"/>
                </a:spcAft>
              </a:pPr>
              <a:endParaRPr lang="zh-CN" altLang="en-US" b="1"/>
            </a:p>
          </p:txBody>
        </p:sp>
        <p:sp>
          <p:nvSpPr>
            <p:cNvPr id="76" name="直接连接符 354310"/>
            <p:cNvSpPr>
              <a:spLocks noChangeShapeType="1"/>
            </p:cNvSpPr>
            <p:nvPr/>
          </p:nvSpPr>
          <p:spPr bwMode="auto">
            <a:xfrm>
              <a:off x="-6377" y="83"/>
              <a:ext cx="33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Aft>
                  <a:spcPts val="600"/>
                </a:spcAft>
              </a:pPr>
              <a:endParaRPr lang="zh-CN" altLang="en-US" b="1"/>
            </a:p>
          </p:txBody>
        </p:sp>
        <p:sp>
          <p:nvSpPr>
            <p:cNvPr id="78" name="直接连接符 354311"/>
            <p:cNvSpPr>
              <a:spLocks noChangeShapeType="1"/>
            </p:cNvSpPr>
            <p:nvPr/>
          </p:nvSpPr>
          <p:spPr bwMode="auto">
            <a:xfrm>
              <a:off x="-7518" y="85"/>
              <a:ext cx="31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spcAft>
                  <a:spcPts val="600"/>
                </a:spcAft>
              </a:pPr>
              <a:endParaRPr lang="zh-CN" altLang="en-US" b="1"/>
            </a:p>
          </p:txBody>
        </p:sp>
      </p:grpSp>
      <p:sp>
        <p:nvSpPr>
          <p:cNvPr id="79" name="矩形 354312"/>
          <p:cNvSpPr>
            <a:spLocks noChangeArrowheads="1"/>
          </p:cNvSpPr>
          <p:nvPr/>
        </p:nvSpPr>
        <p:spPr bwMode="auto">
          <a:xfrm>
            <a:off x="4647509" y="1386443"/>
            <a:ext cx="2603598" cy="333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C00000"/>
                </a:solidFill>
                <a:ea typeface="宋体" panose="02010600030101010101" pitchFamily="2" charset="-122"/>
              </a:rPr>
              <a:t>74LS138</a:t>
            </a:r>
            <a:r>
              <a:rPr lang="zh-CN" altLang="en-US" b="1" dirty="0">
                <a:solidFill>
                  <a:srgbClr val="C00000"/>
                </a:solidFill>
                <a:ea typeface="宋体" panose="02010600030101010101" pitchFamily="2" charset="-122"/>
              </a:rPr>
              <a:t>功能表</a:t>
            </a:r>
            <a:endParaRPr lang="zh-CN" altLang="en-US" b="1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131000" y="1846572"/>
            <a:ext cx="5923859" cy="4339139"/>
            <a:chOff x="2818790" y="1182669"/>
            <a:chExt cx="5825647" cy="4267200"/>
          </a:xfrm>
        </p:grpSpPr>
        <p:sp>
          <p:nvSpPr>
            <p:cNvPr id="80" name="直接连接符 354313"/>
            <p:cNvSpPr>
              <a:spLocks noChangeShapeType="1"/>
            </p:cNvSpPr>
            <p:nvPr/>
          </p:nvSpPr>
          <p:spPr bwMode="auto">
            <a:xfrm>
              <a:off x="4438650" y="1201694"/>
              <a:ext cx="0" cy="4248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直接连接符 354314"/>
            <p:cNvSpPr>
              <a:spLocks noChangeShapeType="1"/>
            </p:cNvSpPr>
            <p:nvPr/>
          </p:nvSpPr>
          <p:spPr bwMode="auto">
            <a:xfrm>
              <a:off x="5642096" y="1182669"/>
              <a:ext cx="0" cy="426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" name="组合 354315"/>
            <p:cNvGrpSpPr/>
            <p:nvPr/>
          </p:nvGrpSpPr>
          <p:grpSpPr bwMode="auto">
            <a:xfrm>
              <a:off x="2818790" y="1239197"/>
              <a:ext cx="5825647" cy="4130677"/>
              <a:chOff x="221" y="73"/>
              <a:chExt cx="3761" cy="2602"/>
            </a:xfrm>
          </p:grpSpPr>
          <p:graphicFrame>
            <p:nvGraphicFramePr>
              <p:cNvPr id="83" name="对象 354316"/>
              <p:cNvGraphicFramePr>
                <a:graphicFrameLocks noChangeAspect="1"/>
              </p:cNvGraphicFramePr>
              <p:nvPr/>
            </p:nvGraphicFramePr>
            <p:xfrm>
              <a:off x="277" y="73"/>
              <a:ext cx="3683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38" name="Equation" r:id="rId1" imgW="81991200" imgH="6096000" progId="Equation.DSMT4">
                      <p:embed/>
                    </p:oleObj>
                  </mc:Choice>
                  <mc:Fallback>
                    <p:oleObj name="Equation" r:id="rId1" imgW="81991200" imgH="6096000" progId="Equation.DSMT4">
                      <p:embed/>
                      <p:pic>
                        <p:nvPicPr>
                          <p:cNvPr id="0" name="图片 143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7" y="73"/>
                            <a:ext cx="3683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4" name="矩形 354317"/>
              <p:cNvSpPr>
                <a:spLocks noChangeArrowheads="1"/>
              </p:cNvSpPr>
              <p:nvPr/>
            </p:nvSpPr>
            <p:spPr bwMode="auto">
              <a:xfrm>
                <a:off x="297" y="392"/>
                <a:ext cx="3683" cy="4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solidFill>
                      <a:srgbClr val="FF33CC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      ×      × × ×   1   1   1   1   1   1   1   1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×       1      × × ×   1   1   1   1   1   1   1   1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85" name="矩形 354318"/>
              <p:cNvSpPr>
                <a:spLocks noChangeArrowheads="1"/>
              </p:cNvSpPr>
              <p:nvPr/>
            </p:nvSpPr>
            <p:spPr bwMode="auto">
              <a:xfrm>
                <a:off x="309" y="856"/>
                <a:ext cx="3671" cy="18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457200" indent="-4572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1         0       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0   0   0   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  1   1   1   1   1   1   1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1         0       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0   0   1    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1  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  1   1   1   1   1   1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1         0       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0   1   0    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1   1  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  1   1   1   1   1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1         0       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0   1   1    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1   1   1  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  1   1   1   1  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1         0       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1   0   0    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1   1   1   1  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  1   1   1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1         0       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1   0   1    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1   1   1   1   1  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  1   1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AutoNum type="arabicPlain"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     0       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1   1   0    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1   1   1   1   1   1  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   1</a:t>
                </a:r>
                <a:endParaRPr lang="en-US" altLang="zh-CN" sz="2400" b="1" dirty="0">
                  <a:ea typeface="宋体" panose="02010600030101010101" pitchFamily="2" charset="-122"/>
                </a:endParaRPr>
              </a:p>
              <a:p>
                <a:pPr eaLnBrk="1" hangingPunct="1">
                  <a:lnSpc>
                    <a:spcPct val="50000"/>
                  </a:lnSpc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dirty="0">
                    <a:ea typeface="宋体" panose="02010600030101010101" pitchFamily="2" charset="-122"/>
                  </a:rPr>
                  <a:t>1         0       </a:t>
                </a:r>
                <a:r>
                  <a:rPr lang="en-US" altLang="zh-CN" sz="2400" b="1" dirty="0">
                    <a:solidFill>
                      <a:srgbClr val="0000FF"/>
                    </a:solidFill>
                    <a:ea typeface="宋体" panose="02010600030101010101" pitchFamily="2" charset="-122"/>
                  </a:rPr>
                  <a:t>1   1   1    </a:t>
                </a:r>
                <a:r>
                  <a:rPr lang="en-US" altLang="zh-CN" sz="2400" b="1" dirty="0">
                    <a:ea typeface="宋体" panose="02010600030101010101" pitchFamily="2" charset="-122"/>
                  </a:rPr>
                  <a:t>1   1   1   1   1   1   1   </a:t>
                </a:r>
                <a:r>
                  <a: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rPr>
                  <a:t>0</a:t>
                </a:r>
                <a:endParaRPr lang="en-US" altLang="zh-CN" sz="2400" b="1" dirty="0">
                  <a:solidFill>
                    <a:srgbClr val="FF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6" name="直接连接符 354319"/>
              <p:cNvSpPr>
                <a:spLocks noChangeShapeType="1"/>
              </p:cNvSpPr>
              <p:nvPr/>
            </p:nvSpPr>
            <p:spPr bwMode="auto">
              <a:xfrm>
                <a:off x="221" y="323"/>
                <a:ext cx="3761" cy="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直接连接符 354320"/>
              <p:cNvSpPr>
                <a:spLocks noChangeShapeType="1"/>
              </p:cNvSpPr>
              <p:nvPr/>
            </p:nvSpPr>
            <p:spPr bwMode="auto">
              <a:xfrm flipV="1">
                <a:off x="224" y="777"/>
                <a:ext cx="3758" cy="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cxnSp>
        <p:nvCxnSpPr>
          <p:cNvPr id="24" name="直接连接符 2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2708" y="615323"/>
            <a:ext cx="3800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二进制译码器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9563" y="615323"/>
            <a:ext cx="3800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二进制译码器</a:t>
            </a:r>
            <a:endParaRPr lang="zh-CN" altLang="en-US" dirty="0"/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3279654" y="834649"/>
            <a:ext cx="5617756" cy="5909310"/>
          </a:xfrm>
          <a:prstGeom prst="rect">
            <a:avLst/>
          </a:prstGeom>
          <a:noFill/>
          <a:ln w="15875" algn="ctr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0000FF"/>
                </a:solidFill>
                <a:ea typeface="DotumChe" panose="020B0609000101010101" pitchFamily="49" charset="-127"/>
              </a:rPr>
              <a:t>module</a:t>
            </a:r>
            <a:r>
              <a:rPr lang="en-US" altLang="zh-CN" sz="1800" b="1" dirty="0">
                <a:ea typeface="DotumChe" panose="020B0609000101010101" pitchFamily="49" charset="-127"/>
              </a:rPr>
              <a:t> decoder(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iSTA</a:t>
            </a:r>
            <a:r>
              <a:rPr lang="en-US" altLang="zh-CN" sz="1800" b="1" dirty="0">
                <a:ea typeface="DotumChe" panose="020B0609000101010101" pitchFamily="49" charset="-127"/>
              </a:rPr>
              <a:t>, 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iSTB_N</a:t>
            </a:r>
            <a:r>
              <a:rPr lang="en-US" altLang="zh-CN" sz="1800" b="1" dirty="0">
                <a:ea typeface="DotumChe" panose="020B0609000101010101" pitchFamily="49" charset="-127"/>
              </a:rPr>
              <a:t>, 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iSTC_N</a:t>
            </a:r>
            <a:r>
              <a:rPr lang="en-US" altLang="zh-CN" sz="1800" b="1" dirty="0">
                <a:ea typeface="DotumChe" panose="020B0609000101010101" pitchFamily="49" charset="-127"/>
              </a:rPr>
              <a:t>, </a:t>
            </a:r>
            <a:r>
              <a:rPr lang="en-US" altLang="zh-CN" sz="1800" b="1" dirty="0" err="1">
                <a:ea typeface="DotumChe" panose="020B0609000101010101" pitchFamily="49" charset="-127"/>
              </a:rPr>
              <a:t>iA,oY_N</a:t>
            </a:r>
            <a:r>
              <a:rPr lang="en-US" altLang="zh-CN" sz="1800" b="1" dirty="0">
                <a:ea typeface="DotumChe" panose="020B0609000101010101" pitchFamily="49" charset="-127"/>
              </a:rPr>
              <a:t>);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input 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iSTA</a:t>
            </a:r>
            <a:r>
              <a:rPr lang="en-US" altLang="zh-CN" sz="1800" b="1" dirty="0">
                <a:ea typeface="DotumChe" panose="020B0609000101010101" pitchFamily="49" charset="-127"/>
              </a:rPr>
              <a:t>, 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iSTB_N</a:t>
            </a:r>
            <a:r>
              <a:rPr lang="en-US" altLang="zh-CN" sz="1800" b="1" dirty="0">
                <a:ea typeface="DotumChe" panose="020B0609000101010101" pitchFamily="49" charset="-127"/>
              </a:rPr>
              <a:t>, 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iSTC_N</a:t>
            </a:r>
            <a:r>
              <a:rPr lang="en-US" altLang="zh-CN" sz="1800" b="1" dirty="0">
                <a:ea typeface="DotumChe" panose="020B0609000101010101" pitchFamily="49" charset="-127"/>
              </a:rPr>
              <a:t>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input [2:0] </a:t>
            </a:r>
            <a:r>
              <a:rPr lang="en-US" altLang="zh-CN" sz="1800" b="1" dirty="0" err="1">
                <a:ea typeface="DotumChe" panose="020B0609000101010101" pitchFamily="49" charset="-127"/>
              </a:rPr>
              <a:t>iA</a:t>
            </a:r>
            <a:r>
              <a:rPr lang="en-US" altLang="zh-CN" sz="1800" b="1" dirty="0">
                <a:ea typeface="DotumChe" panose="020B0609000101010101" pitchFamily="49" charset="-127"/>
              </a:rPr>
              <a:t>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output  [7:0] </a:t>
            </a:r>
            <a:r>
              <a:rPr lang="en-US" altLang="zh-CN" sz="1800" b="1" dirty="0" err="1">
                <a:ea typeface="DotumChe" panose="020B0609000101010101" pitchFamily="49" charset="-127"/>
              </a:rPr>
              <a:t>oY_N</a:t>
            </a:r>
            <a:r>
              <a:rPr lang="en-US" altLang="zh-CN" sz="1800" b="1" dirty="0">
                <a:ea typeface="DotumChe" panose="020B0609000101010101" pitchFamily="49" charset="-127"/>
              </a:rPr>
              <a:t>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</a:t>
            </a:r>
            <a:r>
              <a:rPr lang="en-US" altLang="zh-CN" sz="1800" b="1" dirty="0" err="1">
                <a:ea typeface="DotumChe" panose="020B0609000101010101" pitchFamily="49" charset="-127"/>
              </a:rPr>
              <a:t>reg</a:t>
            </a:r>
            <a:r>
              <a:rPr lang="en-US" altLang="zh-CN" sz="1800" b="1" dirty="0">
                <a:ea typeface="DotumChe" panose="020B0609000101010101" pitchFamily="49" charset="-127"/>
              </a:rPr>
              <a:t> [7:0]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assign </a:t>
            </a:r>
            <a:r>
              <a:rPr lang="en-US" altLang="zh-CN" sz="1800" b="1" dirty="0" err="1">
                <a:ea typeface="DotumChe" panose="020B0609000101010101" pitchFamily="49" charset="-127"/>
              </a:rPr>
              <a:t>oY_N</a:t>
            </a:r>
            <a:r>
              <a:rPr lang="en-US" altLang="zh-CN" sz="1800" b="1" dirty="0">
                <a:ea typeface="DotumChe" panose="020B0609000101010101" pitchFamily="49" charset="-127"/>
              </a:rPr>
              <a:t>=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always@(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iSTA</a:t>
            </a:r>
            <a:r>
              <a:rPr lang="en-US" altLang="zh-CN" sz="1800" b="1" dirty="0">
                <a:ea typeface="DotumChe" panose="020B0609000101010101" pitchFamily="49" charset="-127"/>
              </a:rPr>
              <a:t>, 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iSTB_N</a:t>
            </a:r>
            <a:r>
              <a:rPr lang="en-US" altLang="zh-CN" sz="1800" b="1" dirty="0">
                <a:ea typeface="DotumChe" panose="020B0609000101010101" pitchFamily="49" charset="-127"/>
              </a:rPr>
              <a:t>, 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iSTC_N</a:t>
            </a:r>
            <a:r>
              <a:rPr lang="en-US" altLang="zh-CN" sz="1800" b="1" dirty="0">
                <a:ea typeface="DotumChe" panose="020B0609000101010101" pitchFamily="49" charset="-127"/>
              </a:rPr>
              <a:t>, </a:t>
            </a:r>
            <a:r>
              <a:rPr lang="en-US" altLang="zh-CN" sz="1800" b="1" dirty="0" err="1">
                <a:ea typeface="DotumChe" panose="020B0609000101010101" pitchFamily="49" charset="-127"/>
              </a:rPr>
              <a:t>iA</a:t>
            </a:r>
            <a:r>
              <a:rPr lang="en-US" altLang="zh-CN" sz="1800" b="1" dirty="0">
                <a:ea typeface="DotumChe" panose="020B0609000101010101" pitchFamily="49" charset="-127"/>
              </a:rPr>
              <a:t>)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</a:t>
            </a:r>
            <a:r>
              <a:rPr lang="en-US" altLang="zh-CN" sz="1800" b="1" dirty="0">
                <a:solidFill>
                  <a:srgbClr val="FF0000"/>
                </a:solidFill>
                <a:ea typeface="DotumChe" panose="020B0609000101010101" pitchFamily="49" charset="-127"/>
              </a:rPr>
              <a:t>if</a:t>
            </a:r>
            <a:r>
              <a:rPr lang="en-US" altLang="zh-CN" sz="1800" b="1" dirty="0">
                <a:ea typeface="DotumChe" panose="020B0609000101010101" pitchFamily="49" charset="-127"/>
              </a:rPr>
              <a:t>(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iSTA</a:t>
            </a:r>
            <a:r>
              <a:rPr lang="en-US" altLang="zh-CN" sz="1800" b="1" dirty="0">
                <a:ea typeface="DotumChe" panose="020B0609000101010101" pitchFamily="49" charset="-127"/>
              </a:rPr>
              <a:t> &amp;&amp; !(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iSTB_N</a:t>
            </a:r>
            <a:r>
              <a:rPr lang="en-US" altLang="zh-CN" sz="1800" b="1" dirty="0">
                <a:ea typeface="DotumChe" panose="020B0609000101010101" pitchFamily="49" charset="-127"/>
              </a:rPr>
              <a:t>||</a:t>
            </a:r>
            <a:r>
              <a:rPr lang="en-US" altLang="zh-CN" sz="1800" b="1" dirty="0" err="1">
                <a:ea typeface="DotumChe" panose="020B0609000101010101" pitchFamily="49" charset="-127"/>
              </a:rPr>
              <a:t>iSTC_N</a:t>
            </a:r>
            <a:r>
              <a:rPr lang="en-US" altLang="zh-CN" sz="1800" b="1" dirty="0">
                <a:ea typeface="DotumChe" panose="020B0609000101010101" pitchFamily="49" charset="-127"/>
              </a:rPr>
              <a:t>))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</a:t>
            </a:r>
            <a:r>
              <a:rPr lang="en-US" altLang="zh-CN" sz="1800" b="1" dirty="0">
                <a:solidFill>
                  <a:srgbClr val="FF33CC"/>
                </a:solidFill>
                <a:ea typeface="DotumChe" panose="020B0609000101010101" pitchFamily="49" charset="-127"/>
              </a:rPr>
              <a:t>case</a:t>
            </a:r>
            <a:r>
              <a:rPr lang="en-US" altLang="zh-CN" sz="1800" b="1" dirty="0">
                <a:ea typeface="DotumChe" panose="020B0609000101010101" pitchFamily="49" charset="-127"/>
              </a:rPr>
              <a:t>(</a:t>
            </a:r>
            <a:r>
              <a:rPr lang="en-US" altLang="zh-CN" sz="1800" b="1" dirty="0" err="1">
                <a:ea typeface="DotumChe" panose="020B0609000101010101" pitchFamily="49" charset="-127"/>
              </a:rPr>
              <a:t>iA</a:t>
            </a:r>
            <a:r>
              <a:rPr lang="en-US" altLang="zh-CN" sz="1800" b="1" dirty="0">
                <a:ea typeface="DotumChe" panose="020B0609000101010101" pitchFamily="49" charset="-127"/>
              </a:rPr>
              <a:t>)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    3'b000: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 = 8'b01111111;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    3'b001: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 = 8'b10111111;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    3'b010: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 = 8'b11011111;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    3'b011: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 = 8'b11101111;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    3'b100: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 = 8'b11110111;	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    3'b101: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 = 8'b11111011;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    3'b110: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 = 8'b11111101;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    3'b111: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 = 8'b11111110;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</a:t>
            </a:r>
            <a:r>
              <a:rPr lang="en-US" altLang="zh-CN" sz="1800" b="1" dirty="0" err="1">
                <a:solidFill>
                  <a:srgbClr val="FF33CC"/>
                </a:solidFill>
                <a:ea typeface="DotumChe" panose="020B0609000101010101" pitchFamily="49" charset="-127"/>
              </a:rPr>
              <a:t>endcase</a:t>
            </a:r>
            <a:endParaRPr lang="en-US" altLang="zh-CN" sz="1800" b="1" dirty="0">
              <a:solidFill>
                <a:srgbClr val="FF33CC"/>
              </a:solidFill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</a:t>
            </a:r>
            <a:r>
              <a:rPr lang="en-US" altLang="zh-CN" sz="1800" b="1" dirty="0">
                <a:solidFill>
                  <a:srgbClr val="FF0000"/>
                </a:solidFill>
                <a:ea typeface="DotumChe" panose="020B0609000101010101" pitchFamily="49" charset="-127"/>
              </a:rPr>
              <a:t>else</a:t>
            </a:r>
            <a:endParaRPr lang="en-US" altLang="zh-CN" sz="1800" b="1" dirty="0">
              <a:solidFill>
                <a:srgbClr val="FF0000"/>
              </a:solidFill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DotumChe" panose="020B0609000101010101" pitchFamily="49" charset="-127"/>
              </a:rPr>
              <a:t>            </a:t>
            </a:r>
            <a:r>
              <a:rPr lang="en-US" altLang="zh-CN" sz="1800" b="1" dirty="0" err="1">
                <a:ea typeface="DotumChe" panose="020B0609000101010101" pitchFamily="49" charset="-127"/>
              </a:rPr>
              <a:t>m_y</a:t>
            </a:r>
            <a:r>
              <a:rPr lang="en-US" altLang="zh-CN" sz="1800" b="1" dirty="0">
                <a:ea typeface="DotumChe" panose="020B0609000101010101" pitchFamily="49" charset="-127"/>
              </a:rPr>
              <a:t>=8'hff;</a:t>
            </a:r>
            <a:endParaRPr lang="en-US" altLang="zh-CN" sz="1800" b="1" dirty="0">
              <a:ea typeface="DotumChe" panose="020B0609000101010101" pitchFamily="49" charset="-127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 err="1">
                <a:solidFill>
                  <a:srgbClr val="0000FF"/>
                </a:solidFill>
                <a:ea typeface="DotumChe" panose="020B0609000101010101" pitchFamily="49" charset="-127"/>
              </a:rPr>
              <a:t>endmodule</a:t>
            </a:r>
            <a:endParaRPr lang="en-US" altLang="zh-CN" sz="1800" b="1" dirty="0">
              <a:solidFill>
                <a:srgbClr val="0000FF"/>
              </a:solidFill>
              <a:ea typeface="DotumChe" panose="020B0609000101010101" pitchFamily="49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4781" y="2928194"/>
            <a:ext cx="1908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3-8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译码器的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Verilog HDL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实现代码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5" descr="4-4-1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89" y="1841081"/>
            <a:ext cx="5721075" cy="3419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 Box 2"/>
          <p:cNvSpPr txBox="1">
            <a:spLocks noChangeArrowheads="1"/>
          </p:cNvSpPr>
          <p:nvPr/>
        </p:nvSpPr>
        <p:spPr bwMode="auto">
          <a:xfrm>
            <a:off x="6169262" y="2352011"/>
            <a:ext cx="27574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Tx/>
              <a:buSzTx/>
              <a:buNone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latin typeface="宋体" panose="02010600030101010101" pitchFamily="2" charset="-122"/>
              </a:rPr>
              <a:t>：译码输入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6" name="Text Box 12"/>
          <p:cNvSpPr txBox="1">
            <a:spLocks noChangeArrowheads="1"/>
          </p:cNvSpPr>
          <p:nvPr/>
        </p:nvSpPr>
        <p:spPr bwMode="auto">
          <a:xfrm>
            <a:off x="3894668" y="1321995"/>
            <a:ext cx="1485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高位输出</a:t>
            </a:r>
            <a:endParaRPr lang="zh-CN" altLang="en-US" dirty="0">
              <a:solidFill>
                <a:srgbClr val="FF33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67" name="Text Box 13"/>
          <p:cNvSpPr txBox="1">
            <a:spLocks noChangeArrowheads="1"/>
          </p:cNvSpPr>
          <p:nvPr/>
        </p:nvSpPr>
        <p:spPr bwMode="auto">
          <a:xfrm>
            <a:off x="851945" y="1334178"/>
            <a:ext cx="143509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dirty="0">
                <a:solidFill>
                  <a:srgbClr val="FF33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低位输出</a:t>
            </a:r>
            <a:endParaRPr lang="zh-CN" altLang="en-US" dirty="0">
              <a:solidFill>
                <a:srgbClr val="FF33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68" name="Oval 14"/>
          <p:cNvSpPr>
            <a:spLocks noChangeArrowheads="1"/>
          </p:cNvSpPr>
          <p:nvPr/>
        </p:nvSpPr>
        <p:spPr bwMode="auto">
          <a:xfrm>
            <a:off x="413756" y="3367912"/>
            <a:ext cx="360363" cy="1256445"/>
          </a:xfrm>
          <a:prstGeom prst="ellipse">
            <a:avLst/>
          </a:prstGeom>
          <a:noFill/>
          <a:ln w="2857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zh-CN" altLang="en-US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69" name="Oval 15"/>
          <p:cNvSpPr>
            <a:spLocks noChangeArrowheads="1"/>
          </p:cNvSpPr>
          <p:nvPr/>
        </p:nvSpPr>
        <p:spPr bwMode="auto">
          <a:xfrm>
            <a:off x="3409275" y="3367912"/>
            <a:ext cx="319088" cy="1892302"/>
          </a:xfrm>
          <a:prstGeom prst="ellipse">
            <a:avLst/>
          </a:prstGeom>
          <a:noFill/>
          <a:ln w="28575">
            <a:solidFill>
              <a:srgbClr val="0000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004699" y="3189332"/>
            <a:ext cx="3086613" cy="2249462"/>
            <a:chOff x="6565388" y="3103777"/>
            <a:chExt cx="2506123" cy="2666663"/>
          </a:xfrm>
        </p:grpSpPr>
        <p:sp>
          <p:nvSpPr>
            <p:cNvPr id="59" name="Text Box 4"/>
            <p:cNvSpPr txBox="1">
              <a:spLocks noChangeArrowheads="1"/>
            </p:cNvSpPr>
            <p:nvPr/>
          </p:nvSpPr>
          <p:spPr bwMode="auto">
            <a:xfrm>
              <a:off x="6565388" y="3103777"/>
              <a:ext cx="2506123" cy="26666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Aft>
                  <a:spcPct val="0"/>
                </a:spcAft>
                <a:buClrTx/>
                <a:buSzTx/>
                <a:buNone/>
              </a:pPr>
              <a:r>
                <a:rPr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=0</a:t>
              </a:r>
              <a:r>
                <a:rPr lang="zh-CN" altLang="en-US" b="1" dirty="0">
                  <a:latin typeface="宋体" panose="02010600030101010101" pitchFamily="2" charset="-122"/>
                </a:rPr>
                <a:t>时，片</a:t>
              </a:r>
              <a:r>
                <a:rPr lang="en-US" altLang="zh-CN" b="1" dirty="0">
                  <a:latin typeface="宋体" panose="02010600030101010101" pitchFamily="2" charset="-122"/>
                </a:rPr>
                <a:t>1</a:t>
              </a:r>
              <a:r>
                <a:rPr lang="zh-CN" altLang="en-US" b="1" dirty="0">
                  <a:latin typeface="宋体" panose="02010600030101010101" pitchFamily="2" charset="-122"/>
                </a:rPr>
                <a:t>工作，片</a:t>
              </a:r>
              <a:r>
                <a:rPr lang="en-US" altLang="zh-CN" b="1" dirty="0">
                  <a:latin typeface="宋体" panose="02010600030101010101" pitchFamily="2" charset="-122"/>
                </a:rPr>
                <a:t>2</a:t>
              </a:r>
              <a:r>
                <a:rPr lang="zh-CN" altLang="en-US" b="1" dirty="0">
                  <a:latin typeface="宋体" panose="02010600030101010101" pitchFamily="2" charset="-122"/>
                </a:rPr>
                <a:t>禁止。</a:t>
              </a:r>
              <a:endParaRPr lang="en-US" altLang="zh-CN" b="1" dirty="0">
                <a:latin typeface="宋体" panose="02010600030101010101" pitchFamily="2" charset="-122"/>
              </a:endParaRPr>
            </a:p>
            <a:p>
              <a:pPr>
                <a:spcAft>
                  <a:spcPct val="0"/>
                </a:spcAft>
                <a:buClrTx/>
                <a:buSzTx/>
                <a:buNone/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="1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b="1" dirty="0">
                  <a:latin typeface="宋体" panose="02010600030101010101" pitchFamily="2" charset="-122"/>
                </a:rPr>
                <a:t>：</a:t>
              </a:r>
              <a:r>
                <a:rPr lang="en-US" altLang="zh-CN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000</a:t>
              </a:r>
              <a:r>
                <a:rPr lang="en-US" altLang="zh-CN" b="1" dirty="0">
                  <a:latin typeface="宋体" panose="02010600030101010101" pitchFamily="2" charset="-122"/>
                </a:rPr>
                <a:t>-</a:t>
              </a:r>
              <a:r>
                <a:rPr lang="en-US" altLang="zh-CN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0</a:t>
              </a:r>
              <a:r>
                <a:rPr lang="en-US" altLang="zh-CN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111</a:t>
              </a:r>
              <a:endParaRPr lang="en-US" altLang="zh-CN" b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  <a:p>
              <a:pPr eaLnBrk="1" hangingPunct="1"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latin typeface="宋体" panose="02010600030101010101" pitchFamily="2" charset="-122"/>
                </a:rPr>
                <a:t>有效输出产生于：</a:t>
              </a:r>
              <a:endParaRPr lang="en-US" altLang="zh-CN" b="1" dirty="0">
                <a:latin typeface="宋体" panose="02010600030101010101" pitchFamily="2" charset="-122"/>
              </a:endParaRPr>
            </a:p>
            <a:p>
              <a:pPr eaLnBrk="1" hangingPunct="1"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b="1" dirty="0">
                <a:latin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7578924" y="5179286"/>
                  <a:ext cx="957006" cy="52322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zh-CN" altLang="en-US" sz="28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i="0">
                            <a:latin typeface="Cambria Math" panose="02040503050406030204" pitchFamily="18" charset="0"/>
                          </a:rPr>
                          <m:t>~</m:t>
                        </m:r>
                        <m:acc>
                          <m:accPr>
                            <m:chr m:val="̅"/>
                            <m:ctrlPr>
                              <a:rPr lang="zh-CN" altLang="en-US" sz="2800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zh-CN" altLang="en-US" sz="2800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8924" y="5179286"/>
                  <a:ext cx="957006" cy="52322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/>
          <p:cNvGrpSpPr/>
          <p:nvPr/>
        </p:nvGrpSpPr>
        <p:grpSpPr>
          <a:xfrm>
            <a:off x="1386348" y="5441729"/>
            <a:ext cx="3924750" cy="1224369"/>
            <a:chOff x="2401171" y="5363119"/>
            <a:chExt cx="3924750" cy="1224369"/>
          </a:xfrm>
        </p:grpSpPr>
        <p:sp>
          <p:nvSpPr>
            <p:cNvPr id="61" name="Text Box 6"/>
            <p:cNvSpPr txBox="1">
              <a:spLocks noChangeArrowheads="1"/>
            </p:cNvSpPr>
            <p:nvPr/>
          </p:nvSpPr>
          <p:spPr bwMode="auto">
            <a:xfrm>
              <a:off x="2401171" y="5363119"/>
              <a:ext cx="3924750" cy="12003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=1</a:t>
              </a:r>
              <a:r>
                <a:rPr lang="zh-CN" altLang="en-US" b="1" dirty="0">
                  <a:latin typeface="宋体" panose="02010600030101010101" pitchFamily="2" charset="-122"/>
                </a:rPr>
                <a:t>时，片</a:t>
              </a:r>
              <a:r>
                <a:rPr lang="en-US" altLang="zh-CN" b="1" dirty="0">
                  <a:latin typeface="宋体" panose="02010600030101010101" pitchFamily="2" charset="-122"/>
                </a:rPr>
                <a:t>2</a:t>
              </a:r>
              <a:r>
                <a:rPr lang="zh-CN" altLang="en-US" b="1" dirty="0">
                  <a:latin typeface="宋体" panose="02010600030101010101" pitchFamily="2" charset="-122"/>
                </a:rPr>
                <a:t>工作，片</a:t>
              </a:r>
              <a:r>
                <a:rPr lang="en-US" altLang="zh-CN" b="1" dirty="0">
                  <a:latin typeface="宋体" panose="02010600030101010101" pitchFamily="2" charset="-122"/>
                </a:rPr>
                <a:t>1</a:t>
              </a:r>
              <a:r>
                <a:rPr lang="zh-CN" altLang="en-US" b="1" dirty="0">
                  <a:latin typeface="宋体" panose="02010600030101010101" pitchFamily="2" charset="-122"/>
                </a:rPr>
                <a:t>禁止</a:t>
              </a:r>
              <a:endParaRPr lang="en-US" altLang="zh-CN" b="1" dirty="0">
                <a:latin typeface="宋体" panose="02010600030101010101" pitchFamily="2" charset="-122"/>
              </a:endParaRPr>
            </a:p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None/>
              </a:pP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baseline="-25000" dirty="0">
                  <a:latin typeface="黑体" panose="02010609060101010101" pitchFamily="49" charset="-122"/>
                  <a:ea typeface="黑体" panose="02010609060101010101" pitchFamily="49" charset="-122"/>
                </a:rPr>
                <a:t>0 </a:t>
              </a:r>
              <a:r>
                <a:rPr lang="zh-CN" altLang="en-US" b="1" dirty="0">
                  <a:latin typeface="宋体" panose="02010600030101010101" pitchFamily="2" charset="-122"/>
                </a:rPr>
                <a:t>：</a:t>
              </a:r>
              <a:r>
                <a:rPr lang="en-US" altLang="zh-CN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000</a:t>
              </a:r>
              <a:r>
                <a:rPr lang="en-US" altLang="zh-CN" b="1" dirty="0">
                  <a:latin typeface="宋体" panose="02010600030101010101" pitchFamily="2" charset="-122"/>
                </a:rPr>
                <a:t>-</a:t>
              </a:r>
              <a:r>
                <a:rPr lang="en-US" altLang="zh-CN" b="1" dirty="0">
                  <a:solidFill>
                    <a:srgbClr val="FF3300"/>
                  </a:solidFill>
                  <a:latin typeface="宋体" panose="02010600030101010101" pitchFamily="2" charset="-122"/>
                </a:rPr>
                <a:t>1</a:t>
              </a:r>
              <a:r>
                <a:rPr lang="en-US" altLang="zh-CN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111</a:t>
              </a:r>
              <a:endParaRPr lang="en-US" altLang="zh-CN" b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latin typeface="宋体" panose="02010600030101010101" pitchFamily="2" charset="-122"/>
                </a:rPr>
                <a:t>有效输出产生于：</a:t>
              </a:r>
              <a:endParaRPr lang="en-US" altLang="zh-CN" b="1" dirty="0">
                <a:latin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4940903" y="6187378"/>
                  <a:ext cx="991105" cy="400110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000" i="1" smtClean="0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000" i="0">
                            <a:latin typeface="Cambria Math" panose="02040503050406030204" pitchFamily="18" charset="0"/>
                          </a:rPr>
                          <m:t>~</m:t>
                        </m:r>
                        <m:acc>
                          <m:accPr>
                            <m:chr m:val="̅"/>
                            <m:ctrlPr>
                              <a:rPr lang="zh-CN" altLang="en-US" sz="2000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0903" y="6187378"/>
                  <a:ext cx="991105" cy="40011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文本框 11"/>
          <p:cNvSpPr txBox="1"/>
          <p:nvPr/>
        </p:nvSpPr>
        <p:spPr>
          <a:xfrm>
            <a:off x="4223351" y="736454"/>
            <a:ext cx="3981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两片</a:t>
            </a:r>
            <a:r>
              <a:rPr lang="en-US" altLang="zh-CN" sz="2400" b="1" dirty="0">
                <a:solidFill>
                  <a:srgbClr val="0000FF"/>
                </a:solidFill>
              </a:rPr>
              <a:t>74LS138</a:t>
            </a:r>
            <a:r>
              <a:rPr lang="zh-CN" altLang="en-US" sz="2400" b="1" dirty="0">
                <a:solidFill>
                  <a:srgbClr val="0000FF"/>
                </a:solidFill>
              </a:rPr>
              <a:t>构成</a:t>
            </a:r>
            <a:r>
              <a:rPr lang="en-US" altLang="zh-CN" sz="2400" b="1" dirty="0">
                <a:solidFill>
                  <a:srgbClr val="0000FF"/>
                </a:solidFill>
              </a:rPr>
              <a:t>4-16</a:t>
            </a:r>
            <a:r>
              <a:rPr lang="zh-CN" altLang="en-US" sz="2400" b="1" dirty="0">
                <a:solidFill>
                  <a:srgbClr val="0000FF"/>
                </a:solidFill>
              </a:rPr>
              <a:t>译码器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3" name="星形: 六角 2"/>
          <p:cNvSpPr/>
          <p:nvPr/>
        </p:nvSpPr>
        <p:spPr>
          <a:xfrm>
            <a:off x="5703474" y="5490999"/>
            <a:ext cx="2579812" cy="1200329"/>
          </a:xfrm>
          <a:prstGeom prst="star6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33CC"/>
                </a:solidFill>
              </a:rPr>
              <a:t>用最高位地址作为片选信号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2708" y="615323"/>
            <a:ext cx="3800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二进制译码器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6" grpId="0"/>
      <p:bldP spid="67" grpId="0"/>
      <p:bldP spid="68" grpId="0" animBg="1"/>
      <p:bldP spid="69" grpId="0" animBg="1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4161077" y="705090"/>
            <a:ext cx="3086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用</a:t>
            </a:r>
            <a:r>
              <a:rPr lang="en-US" altLang="zh-CN" sz="2400" b="1" dirty="0">
                <a:solidFill>
                  <a:srgbClr val="0000FF"/>
                </a:solidFill>
              </a:rPr>
              <a:t>74LS138</a:t>
            </a:r>
            <a:r>
              <a:rPr lang="zh-CN" altLang="en-US" sz="2400" b="1" dirty="0">
                <a:solidFill>
                  <a:srgbClr val="0000FF"/>
                </a:solidFill>
              </a:rPr>
              <a:t>实现函数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406215" y="3019926"/>
          <a:ext cx="5044168" cy="3296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" r:id="rId1" imgW="3850640" imgH="1792605" progId="Visio.Drawing.6">
                  <p:embed/>
                </p:oleObj>
              </mc:Choice>
              <mc:Fallback>
                <p:oleObj name="" r:id="rId1" imgW="3850640" imgH="1792605" progId="Visio.Drawing.6">
                  <p:embed/>
                  <p:pic>
                    <p:nvPicPr>
                      <p:cNvPr id="0" name="图片 153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15" y="3019926"/>
                        <a:ext cx="5044168" cy="3296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43685" y="1346901"/>
            <a:ext cx="8550443" cy="1372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latin typeface="Tahoma" panose="020B0604030504040204" pitchFamily="34" charset="0"/>
              </a:rPr>
              <a:t>译码器的输出分别对应一个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最小项</a:t>
            </a: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高电平译码</a:t>
            </a:r>
            <a:r>
              <a:rPr lang="zh-CN" altLang="en-US" b="1" dirty="0">
                <a:latin typeface="Tahoma" panose="020B0604030504040204" pitchFamily="34" charset="0"/>
              </a:rPr>
              <a:t>）或一个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最小项的非</a:t>
            </a: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低电平译码</a:t>
            </a:r>
            <a:r>
              <a:rPr lang="zh-CN" altLang="en-US" b="1" dirty="0">
                <a:latin typeface="Tahoma" panose="020B0604030504040204" pitchFamily="34" charset="0"/>
              </a:rPr>
              <a:t>），所以附加适当门，可实现任意函数。</a:t>
            </a:r>
            <a:endParaRPr lang="zh-CN" altLang="en-US" b="1" dirty="0">
              <a:latin typeface="Tahoma" panose="020B0604030504040204" pitchFamily="34" charset="0"/>
            </a:endParaRPr>
          </a:p>
          <a:p>
            <a:pPr eaLnBrk="1" hangingPunct="1"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 dirty="0">
                <a:latin typeface="Tahoma" panose="020B0604030504040204" pitchFamily="34" charset="0"/>
              </a:rPr>
              <a:t>特点：方法简单，无须简化，工作可靠。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5091482" y="3456497"/>
          <a:ext cx="3346195" cy="243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3" imgW="1397000" imgH="1016000" progId="Equation.3">
                  <p:embed/>
                </p:oleObj>
              </mc:Choice>
              <mc:Fallback>
                <p:oleObj name="Equation" r:id="rId3" imgW="1397000" imgH="1016000" progId="Equation.3">
                  <p:embed/>
                  <p:pic>
                    <p:nvPicPr>
                      <p:cNvPr id="0" name="图片 153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482" y="3456497"/>
                        <a:ext cx="3346195" cy="24344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708" y="615323"/>
            <a:ext cx="3800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二进制译码器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30007" y="1869603"/>
            <a:ext cx="2537256" cy="408111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十进制译码器把输入的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kumimoji="1"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BCD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翻译为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个输出的高低电平信号，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其中有一个为有效电平，其编号对应于输入的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BCD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endParaRPr kumimoji="1"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3624776" y="1817540"/>
            <a:ext cx="4562977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1"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十进制译码器</a:t>
            </a:r>
            <a:r>
              <a:rPr kumimoji="1"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74LS42</a:t>
            </a:r>
            <a:r>
              <a:rPr kumimoji="1"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逻辑图</a:t>
            </a:r>
            <a:endParaRPr kumimoji="1"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708" y="615323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2. </a:t>
            </a:r>
            <a:r>
              <a:rPr lang="zh-CN" altLang="en-US" dirty="0"/>
              <a:t>二</a:t>
            </a:r>
            <a:r>
              <a:rPr lang="en-US" altLang="zh-CN" dirty="0"/>
              <a:t>—</a:t>
            </a:r>
            <a:r>
              <a:rPr lang="zh-CN" altLang="en-US" dirty="0"/>
              <a:t>十进制译码器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797969" y="2503730"/>
            <a:ext cx="3705226" cy="3564196"/>
            <a:chOff x="3797969" y="2503730"/>
            <a:chExt cx="3705226" cy="3564196"/>
          </a:xfrm>
        </p:grpSpPr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7969" y="2503730"/>
              <a:ext cx="3705226" cy="3564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3" name="直接连接符 2"/>
            <p:cNvCxnSpPr/>
            <p:nvPr/>
          </p:nvCxnSpPr>
          <p:spPr>
            <a:xfrm>
              <a:off x="6801113" y="3063451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6801113" y="3340575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6801113" y="3600843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6801113" y="3901733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801112" y="4174643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801112" y="4456887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801112" y="4740015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801112" y="5015702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6801112" y="5284398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6801112" y="5572646"/>
              <a:ext cx="139057" cy="9270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886034" y="797192"/>
            <a:ext cx="25157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74LS42</a:t>
            </a:r>
            <a:r>
              <a:rPr lang="zh-CN" altLang="en-US" sz="2400" b="1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的真值表</a:t>
            </a:r>
            <a:endParaRPr lang="zh-CN" altLang="en-US" sz="2400" b="1" dirty="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654566" y="1128940"/>
            <a:ext cx="5535613" cy="5448303"/>
            <a:chOff x="1744344" y="1244242"/>
            <a:chExt cx="5535613" cy="5448303"/>
          </a:xfrm>
        </p:grpSpPr>
        <p:grpSp>
          <p:nvGrpSpPr>
            <p:cNvPr id="4" name="组合 3"/>
            <p:cNvGrpSpPr/>
            <p:nvPr/>
          </p:nvGrpSpPr>
          <p:grpSpPr>
            <a:xfrm>
              <a:off x="1744344" y="1244242"/>
              <a:ext cx="5535613" cy="5448303"/>
              <a:chOff x="3188133" y="1813124"/>
              <a:chExt cx="5535613" cy="5448303"/>
            </a:xfrm>
          </p:grpSpPr>
          <p:grpSp>
            <p:nvGrpSpPr>
              <p:cNvPr id="14" name="组合 13"/>
              <p:cNvGrpSpPr/>
              <p:nvPr/>
            </p:nvGrpSpPr>
            <p:grpSpPr bwMode="auto">
              <a:xfrm>
                <a:off x="3188133" y="1813124"/>
                <a:ext cx="5535613" cy="5448303"/>
                <a:chOff x="0" y="0"/>
                <a:chExt cx="3487" cy="3432"/>
              </a:xfrm>
            </p:grpSpPr>
            <p:sp>
              <p:nvSpPr>
                <p:cNvPr id="15" name="矩形 36045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87" cy="34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marL="457200" indent="-4572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000" b="1" dirty="0">
                      <a:ea typeface="宋体" panose="02010600030101010101" pitchFamily="2" charset="-122"/>
                    </a:rPr>
                    <a:t>A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3</a:t>
                  </a:r>
                  <a:r>
                    <a:rPr lang="en-US" altLang="zh-CN" sz="2000" b="1" dirty="0">
                      <a:ea typeface="宋体" panose="02010600030101010101" pitchFamily="2" charset="-122"/>
                    </a:rPr>
                    <a:t> A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2</a:t>
                  </a:r>
                  <a:r>
                    <a:rPr lang="en-US" altLang="zh-CN" sz="2000" b="1" dirty="0">
                      <a:ea typeface="宋体" panose="02010600030101010101" pitchFamily="2" charset="-122"/>
                    </a:rPr>
                    <a:t> A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1</a:t>
                  </a:r>
                  <a:r>
                    <a:rPr lang="en-US" altLang="zh-CN" sz="2000" b="1" dirty="0">
                      <a:ea typeface="宋体" panose="02010600030101010101" pitchFamily="2" charset="-122"/>
                    </a:rPr>
                    <a:t> A</a:t>
                  </a:r>
                  <a:r>
                    <a:rPr lang="en-US" altLang="zh-CN" sz="2000" baseline="-25000" dirty="0"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000" b="1" dirty="0">
                      <a:ea typeface="宋体" panose="02010600030101010101" pitchFamily="2" charset="-122"/>
                    </a:rPr>
                    <a:t>    </a:t>
                  </a:r>
                  <a:endParaRPr lang="en-US" altLang="zh-CN" sz="2400" b="1" dirty="0">
                    <a:ea typeface="宋体" panose="02010600030101010101" pitchFamily="2" charset="-122"/>
                  </a:endParaRPr>
                </a:p>
                <a:p>
                  <a:pPr eaLnBrk="1" hangingPunct="1">
                    <a:spcBef>
                      <a:spcPct val="5000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2400" b="1" dirty="0">
                      <a:ea typeface="宋体" panose="02010600030101010101" pitchFamily="2" charset="-122"/>
                    </a:rPr>
                    <a:t> 0  0  0  0  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 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1   1   1   1   1   1   1   1   1 </a:t>
                  </a:r>
                  <a:endParaRPr lang="en-US" altLang="zh-CN" sz="2400" b="1" dirty="0">
                    <a:latin typeface="楷体_GB2312" pitchFamily="49" charset="-122"/>
                    <a:ea typeface="楷体_GB2312" pitchFamily="49" charset="-122"/>
                  </a:endParaRPr>
                </a:p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2400" b="1" dirty="0">
                      <a:ea typeface="宋体" panose="02010600030101010101" pitchFamily="2" charset="-122"/>
                    </a:rPr>
                    <a:t> 0  0  0  1     1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 1   1   1   1   1   1   1   1</a:t>
                  </a:r>
                  <a:endParaRPr lang="en-US" altLang="zh-CN" sz="2400" b="1" dirty="0"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ea typeface="宋体" panose="02010600030101010101" pitchFamily="2" charset="-122"/>
                    </a:rPr>
                    <a:t> 0  0  1  0     1   1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 1   1   1   1   1   1   1</a:t>
                  </a:r>
                  <a:endParaRPr lang="en-US" altLang="zh-CN" sz="2400" b="1" dirty="0"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ea typeface="宋体" panose="02010600030101010101" pitchFamily="2" charset="-122"/>
                    </a:rPr>
                    <a:t> 0  0  1  1     1   1   1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 1   1   1   1   1   1</a:t>
                  </a:r>
                  <a:endParaRPr lang="en-US" altLang="zh-CN" sz="2400" b="1" dirty="0"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ea typeface="宋体" panose="02010600030101010101" pitchFamily="2" charset="-122"/>
                    </a:rPr>
                    <a:t> 0  1  0  0     1   1   1   1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 1   1   1   1   1</a:t>
                  </a:r>
                  <a:endParaRPr lang="en-US" altLang="zh-CN" sz="2400" b="1" dirty="0">
                    <a:ea typeface="宋体" panose="02010600030101010101" pitchFamily="2" charset="-122"/>
                  </a:endParaRPr>
                </a:p>
                <a:p>
                  <a:pPr>
                    <a:buFont typeface="Arial" panose="020B0604020202020204" pitchFamily="34" charset="0"/>
                    <a:buNone/>
                  </a:pPr>
                  <a:r>
                    <a:rPr lang="en-US" altLang="zh-CN" sz="2400" b="1" dirty="0">
                      <a:ea typeface="宋体" panose="02010600030101010101" pitchFamily="2" charset="-122"/>
                    </a:rPr>
                    <a:t> 0  1  0  1     1   1   1   1   1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 1   1   1   1</a:t>
                  </a:r>
                  <a:endParaRPr lang="en-US" altLang="zh-CN" sz="2400" b="1" dirty="0"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ea typeface="宋体" panose="02010600030101010101" pitchFamily="2" charset="-122"/>
                    </a:rPr>
                    <a:t> 0  1  1  0     1   1   1   1   1   1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 1   1   1</a:t>
                  </a:r>
                  <a:endParaRPr lang="en-US" altLang="zh-CN" sz="2400" b="1" dirty="0"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ea typeface="宋体" panose="02010600030101010101" pitchFamily="2" charset="-122"/>
                    </a:rPr>
                    <a:t> 0  1  1  1     1   1   1   1   1   1   1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 1   1</a:t>
                  </a:r>
                  <a:endParaRPr lang="en-US" altLang="zh-CN" sz="2400" b="1" dirty="0"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1  0  0  0     1   1   1   1   1   1   1   1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   1</a:t>
                  </a:r>
                  <a:r>
                    <a:rPr lang="en-US" altLang="zh-CN" sz="2400" b="1" dirty="0">
                      <a:solidFill>
                        <a:schemeClr val="accent1"/>
                      </a:solidFill>
                      <a:ea typeface="宋体" panose="02010600030101010101" pitchFamily="2" charset="-122"/>
                    </a:rPr>
                    <a:t>        </a:t>
                  </a:r>
                  <a:endParaRPr lang="zh-CN" altLang="en-US" sz="2400" b="1" dirty="0">
                    <a:solidFill>
                      <a:schemeClr val="accent1"/>
                    </a:solidFill>
                    <a:ea typeface="宋体" panose="02010600030101010101" pitchFamily="2" charset="-122"/>
                  </a:endParaRPr>
                </a:p>
                <a:p>
                  <a:r>
                    <a:rPr lang="zh-CN" altLang="en-US" sz="2400" b="1" dirty="0"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 dirty="0">
                      <a:ea typeface="宋体" panose="02010600030101010101" pitchFamily="2" charset="-122"/>
                    </a:rPr>
                    <a:t>1  0  0  1     1   1   1   1   1   1   1   1   1   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0</a:t>
                  </a:r>
                  <a:endParaRPr lang="en-US" altLang="zh-CN" sz="2400" b="1" dirty="0">
                    <a:solidFill>
                      <a:srgbClr val="FF0000"/>
                    </a:solidFill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solidFill>
                        <a:srgbClr val="FF0000"/>
                      </a:solidFill>
                      <a:ea typeface="宋体" panose="02010600030101010101" pitchFamily="2" charset="-122"/>
                    </a:rPr>
                    <a:t> </a:t>
                  </a:r>
                  <a:r>
                    <a:rPr lang="en-US" altLang="zh-CN" sz="2400" b="1" dirty="0">
                      <a:solidFill>
                        <a:srgbClr val="2B56F5"/>
                      </a:solidFill>
                      <a:ea typeface="宋体" panose="02010600030101010101" pitchFamily="2" charset="-122"/>
                    </a:rPr>
                    <a:t>1  0  1  0     1   1   1   1   1   1   1   1   1   1</a:t>
                  </a:r>
                  <a:endParaRPr lang="en-US" altLang="zh-CN" sz="2400" b="1" dirty="0">
                    <a:solidFill>
                      <a:srgbClr val="2B56F5"/>
                    </a:solidFill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solidFill>
                        <a:srgbClr val="2B56F5"/>
                      </a:solidFill>
                      <a:ea typeface="宋体" panose="02010600030101010101" pitchFamily="2" charset="-122"/>
                    </a:rPr>
                    <a:t>      ∶                         ∶</a:t>
                  </a:r>
                  <a:endParaRPr lang="en-US" altLang="zh-CN" sz="2400" b="1" dirty="0">
                    <a:solidFill>
                      <a:srgbClr val="2B56F5"/>
                    </a:solidFill>
                    <a:ea typeface="宋体" panose="02010600030101010101" pitchFamily="2" charset="-122"/>
                  </a:endParaRPr>
                </a:p>
                <a:p>
                  <a:r>
                    <a:rPr lang="en-US" altLang="zh-CN" sz="2400" b="1" dirty="0">
                      <a:solidFill>
                        <a:srgbClr val="2B56F5"/>
                      </a:solidFill>
                      <a:ea typeface="宋体" panose="02010600030101010101" pitchFamily="2" charset="-122"/>
                    </a:rPr>
                    <a:t> 1  1  1  1     1   1   1   1   1   1   1   1   1   1</a:t>
                  </a:r>
                  <a:endParaRPr lang="en-US" altLang="zh-CN" sz="2400" b="1" dirty="0">
                    <a:solidFill>
                      <a:srgbClr val="2B56F5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直接连接符 360456"/>
                <p:cNvSpPr>
                  <a:spLocks noChangeShapeType="1"/>
                </p:cNvSpPr>
                <p:nvPr/>
              </p:nvSpPr>
              <p:spPr bwMode="auto">
                <a:xfrm>
                  <a:off x="96" y="336"/>
                  <a:ext cx="3231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直接连接符 360458"/>
                <p:cNvSpPr>
                  <a:spLocks noChangeShapeType="1"/>
                </p:cNvSpPr>
                <p:nvPr/>
              </p:nvSpPr>
              <p:spPr bwMode="auto">
                <a:xfrm>
                  <a:off x="78" y="2682"/>
                  <a:ext cx="3267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直接连接符 360459"/>
                <p:cNvSpPr>
                  <a:spLocks noChangeShapeType="1"/>
                </p:cNvSpPr>
                <p:nvPr/>
              </p:nvSpPr>
              <p:spPr bwMode="auto">
                <a:xfrm flipV="1">
                  <a:off x="888" y="59"/>
                  <a:ext cx="21" cy="33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" name="矩形 2"/>
                  <p:cNvSpPr/>
                  <p:nvPr/>
                </p:nvSpPr>
                <p:spPr>
                  <a:xfrm>
                    <a:off x="4634839" y="1906656"/>
                    <a:ext cx="3639061" cy="46166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      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i="1">
                                  <a:latin typeface="Cambria Math" panose="02040503050406030204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zh-CN" altLang="en-US" sz="2400" i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 </m:t>
                          </m:r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>
              <p:sp>
                <p:nvSpPr>
                  <p:cNvPr id="3" name="矩形 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4839" y="1906656"/>
                    <a:ext cx="3639061" cy="461665"/>
                  </a:xfrm>
                  <a:prstGeom prst="rect">
                    <a:avLst/>
                  </a:prstGeom>
                  <a:blipFill rotWithShape="1">
                    <a:blip r:embed="rId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直接连接符 360458"/>
            <p:cNvSpPr>
              <a:spLocks noChangeShapeType="1"/>
            </p:cNvSpPr>
            <p:nvPr/>
          </p:nvSpPr>
          <p:spPr bwMode="auto">
            <a:xfrm>
              <a:off x="1888806" y="6618605"/>
              <a:ext cx="5186363" cy="63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" name="左大括号 7"/>
          <p:cNvSpPr/>
          <p:nvPr/>
        </p:nvSpPr>
        <p:spPr>
          <a:xfrm>
            <a:off x="2143787" y="5499596"/>
            <a:ext cx="352487" cy="971190"/>
          </a:xfrm>
          <a:prstGeom prst="leftBrace">
            <a:avLst>
              <a:gd name="adj1" fmla="val 8333"/>
              <a:gd name="adj2" fmla="val 5045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13611" y="5785136"/>
            <a:ext cx="1479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33CC"/>
                </a:solidFill>
              </a:rPr>
              <a:t>冗余输入</a:t>
            </a:r>
            <a:r>
              <a:rPr lang="en-US" altLang="zh-CN" sz="2000" b="1" dirty="0">
                <a:solidFill>
                  <a:srgbClr val="FF33CC"/>
                </a:solidFill>
              </a:rPr>
              <a:t>,</a:t>
            </a:r>
            <a:r>
              <a:rPr lang="zh-CN" altLang="en-US" sz="2000" b="1" dirty="0">
                <a:solidFill>
                  <a:srgbClr val="FF33CC"/>
                </a:solidFill>
              </a:rPr>
              <a:t>无有效输出</a:t>
            </a:r>
            <a:endParaRPr lang="zh-CN" altLang="en-US" sz="2000" b="1" dirty="0">
              <a:solidFill>
                <a:srgbClr val="FF33CC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12708" y="615323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2. </a:t>
            </a:r>
            <a:r>
              <a:rPr lang="zh-CN" altLang="en-US" dirty="0"/>
              <a:t>二</a:t>
            </a:r>
            <a:r>
              <a:rPr lang="en-US" altLang="zh-CN" dirty="0"/>
              <a:t>—</a:t>
            </a:r>
            <a:r>
              <a:rPr lang="zh-CN" altLang="en-US" dirty="0"/>
              <a:t>十进制译码器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501315" y="1351789"/>
            <a:ext cx="7772400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在数字系统中，常需把结果用十进制数码显示出来，数字显示电路包括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译码驱动电路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数码显示器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。    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/>
        </p:nvGraphicFramePr>
        <p:xfrm>
          <a:off x="693034" y="2895600"/>
          <a:ext cx="6454454" cy="226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" r:id="rId1" imgW="7725410" imgH="2731770" progId="Visio.Drawing.6">
                  <p:embed/>
                </p:oleObj>
              </mc:Choice>
              <mc:Fallback>
                <p:oleObj name="" r:id="rId1" imgW="7725410" imgH="2731770" progId="Visio.Drawing.6">
                  <p:embed/>
                  <p:pic>
                    <p:nvPicPr>
                      <p:cNvPr id="0" name="图片 16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034" y="2895600"/>
                        <a:ext cx="6454454" cy="2268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3041650" y="5471046"/>
            <a:ext cx="306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8421BCD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显示译码电路框图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3. </a:t>
            </a:r>
            <a:r>
              <a:rPr lang="zh-CN" altLang="en-US" dirty="0"/>
              <a:t>数字显示译码器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6310709" y="1577674"/>
          <a:ext cx="1560044" cy="1830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BMP 图像" r:id="rId1" imgW="847725" imgH="1219200" progId="Paint.Picture">
                  <p:embed/>
                </p:oleObj>
              </mc:Choice>
              <mc:Fallback>
                <p:oleObj name="BMP 图像" r:id="rId1" imgW="847725" imgH="1219200" progId="Paint.Picture">
                  <p:embed/>
                  <p:pic>
                    <p:nvPicPr>
                      <p:cNvPr id="0" name="图片 174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709" y="1577674"/>
                        <a:ext cx="1560044" cy="1830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45684" y="1176809"/>
            <a:ext cx="5059951" cy="1963381"/>
            <a:chOff x="231911" y="1353817"/>
            <a:chExt cx="5059951" cy="1963381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231911" y="1353817"/>
              <a:ext cx="250421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b="1" dirty="0"/>
                <a:t>（</a:t>
              </a:r>
              <a:r>
                <a:rPr lang="en-US" altLang="zh-CN" b="1" dirty="0"/>
                <a:t>1</a:t>
              </a:r>
              <a:r>
                <a:rPr lang="zh-CN" altLang="en-US" b="1" dirty="0"/>
                <a:t>）七段数码管</a:t>
              </a:r>
              <a:endParaRPr lang="zh-CN" altLang="en-US" b="1" dirty="0"/>
            </a:p>
          </p:txBody>
        </p:sp>
        <p:grpSp>
          <p:nvGrpSpPr>
            <p:cNvPr id="13" name="Group 6"/>
            <p:cNvGrpSpPr/>
            <p:nvPr/>
          </p:nvGrpSpPr>
          <p:grpSpPr bwMode="auto">
            <a:xfrm>
              <a:off x="1436755" y="2321835"/>
              <a:ext cx="1112837" cy="995363"/>
              <a:chOff x="1187" y="1423"/>
              <a:chExt cx="701" cy="627"/>
            </a:xfrm>
          </p:grpSpPr>
          <p:sp>
            <p:nvSpPr>
              <p:cNvPr id="14" name="Text Box 7"/>
              <p:cNvSpPr txBox="1">
                <a:spLocks noChangeArrowheads="1"/>
              </p:cNvSpPr>
              <p:nvPr/>
            </p:nvSpPr>
            <p:spPr bwMode="auto">
              <a:xfrm>
                <a:off x="1187" y="1423"/>
                <a:ext cx="701" cy="29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FF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120000"/>
                  </a:lnSpc>
                  <a:spcAft>
                    <a:spcPct val="2000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Aft>
                    <a:spcPct val="20000"/>
                  </a:spcAft>
                  <a:buClr>
                    <a:srgbClr val="006600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Aft>
                    <a:spcPct val="20000"/>
                  </a:spcAft>
                  <a:buClr>
                    <a:srgbClr val="996600"/>
                  </a:buClr>
                  <a:buSzPct val="50000"/>
                  <a:buFont typeface="Wingdings" panose="05000000000000000000" pitchFamily="2" charset="2"/>
                  <a:buChar char="n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zh-CN" altLang="en-US" b="1">
                    <a:latin typeface="宋体" panose="02010600030101010101" pitchFamily="2" charset="-122"/>
                  </a:rPr>
                  <a:t>共阴极</a:t>
                </a:r>
                <a:endParaRPr lang="zh-CN" altLang="en-US" b="1">
                  <a:latin typeface="宋体" panose="02010600030101010101" pitchFamily="2" charset="-122"/>
                </a:endParaRPr>
              </a:p>
            </p:txBody>
          </p:sp>
          <p:sp>
            <p:nvSpPr>
              <p:cNvPr id="15" name="Rectangle 8"/>
              <p:cNvSpPr>
                <a:spLocks noChangeArrowheads="1"/>
              </p:cNvSpPr>
              <p:nvPr/>
            </p:nvSpPr>
            <p:spPr bwMode="auto">
              <a:xfrm>
                <a:off x="1187" y="1759"/>
                <a:ext cx="701" cy="291"/>
              </a:xfrm>
              <a:prstGeom prst="rect">
                <a:avLst/>
              </a:prstGeom>
              <a:solidFill>
                <a:srgbClr val="FFFF66"/>
              </a:solidFill>
              <a:ln w="9525">
                <a:solidFill>
                  <a:srgbClr val="FF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120000"/>
                  </a:lnSpc>
                  <a:spcAft>
                    <a:spcPct val="2000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120000"/>
                  </a:lnSpc>
                  <a:spcAft>
                    <a:spcPct val="20000"/>
                  </a:spcAft>
                  <a:buClr>
                    <a:srgbClr val="006600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120000"/>
                  </a:lnSpc>
                  <a:spcAft>
                    <a:spcPct val="20000"/>
                  </a:spcAft>
                  <a:buClr>
                    <a:srgbClr val="996600"/>
                  </a:buClr>
                  <a:buSzPct val="50000"/>
                  <a:buFont typeface="Wingdings" panose="05000000000000000000" pitchFamily="2" charset="2"/>
                  <a:buChar char="n"/>
                  <a:defRPr kumimoj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120000"/>
                  </a:lnSpc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2000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zh-CN" altLang="en-US" b="1" dirty="0">
                    <a:latin typeface="宋体" panose="02010600030101010101" pitchFamily="2" charset="-122"/>
                  </a:rPr>
                  <a:t>共阳极</a:t>
                </a:r>
                <a:endParaRPr lang="zh-CN" altLang="en-US" b="1" dirty="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2341829" y="2321189"/>
              <a:ext cx="173156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latin typeface="宋体" panose="02010600030101010101" pitchFamily="2" charset="-122"/>
                </a:rPr>
                <a:t>：高电平亮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2341829" y="2849826"/>
              <a:ext cx="173156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latin typeface="宋体" panose="02010600030101010101" pitchFamily="2" charset="-122"/>
                </a:rPr>
                <a:t>：低电平亮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1085261" y="1859226"/>
              <a:ext cx="420660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latin typeface="宋体" panose="02010600030101010101" pitchFamily="2" charset="-122"/>
                </a:rPr>
                <a:t>每一段由一个发光二极管组成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3. </a:t>
            </a:r>
            <a:r>
              <a:rPr lang="zh-CN" altLang="en-US" dirty="0"/>
              <a:t>数字显示译码器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285604" y="3245338"/>
            <a:ext cx="6248715" cy="3543086"/>
            <a:chOff x="1285604" y="3245338"/>
            <a:chExt cx="6248715" cy="3543086"/>
          </a:xfrm>
        </p:grpSpPr>
        <p:pic>
          <p:nvPicPr>
            <p:cNvPr id="24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000" t="3702" r="16856" b="74684"/>
            <a:stretch>
              <a:fillRect/>
            </a:stretch>
          </p:blipFill>
          <p:spPr bwMode="auto">
            <a:xfrm>
              <a:off x="1285604" y="3245338"/>
              <a:ext cx="6248715" cy="35430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矩形 2"/>
            <p:cNvSpPr/>
            <p:nvPr/>
          </p:nvSpPr>
          <p:spPr>
            <a:xfrm>
              <a:off x="3135086" y="5081873"/>
              <a:ext cx="4167473" cy="1382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52979" y="1292599"/>
            <a:ext cx="31229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Aft>
                <a:spcPct val="20000"/>
              </a:spcAft>
              <a:buClr>
                <a:srgbClr val="996600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）七段显示译码器</a:t>
            </a:r>
            <a:endParaRPr lang="zh-CN" altLang="en-US" b="1" dirty="0"/>
          </a:p>
        </p:txBody>
      </p:sp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768744" y="2092652"/>
          <a:ext cx="3793434" cy="3086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BMP 图象" r:id="rId1" imgW="1790700" imgH="1457325" progId="Paint.Picture">
                  <p:embed/>
                </p:oleObj>
              </mc:Choice>
              <mc:Fallback>
                <p:oleObj name="BMP 图象" r:id="rId1" imgW="1790700" imgH="1457325" progId="Paint.Picture">
                  <p:embed/>
                  <p:pic>
                    <p:nvPicPr>
                      <p:cNvPr id="0" name="图片 184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744" y="2092652"/>
                        <a:ext cx="3793434" cy="30865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672446" y="3797657"/>
            <a:ext cx="1594591" cy="1882506"/>
            <a:chOff x="672446" y="3797657"/>
            <a:chExt cx="1594591" cy="1882506"/>
          </a:xfrm>
        </p:grpSpPr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672446" y="4849166"/>
              <a:ext cx="1594591" cy="830997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输入</a:t>
              </a:r>
              <a:r>
                <a:rPr lang="zh-CN" altLang="en-US" b="1" dirty="0">
                  <a:latin typeface="宋体" panose="02010600030101010101" pitchFamily="2" charset="-122"/>
                </a:rPr>
                <a:t>：</a:t>
              </a:r>
              <a:endParaRPr lang="en-US" altLang="zh-CN" b="1" dirty="0">
                <a:latin typeface="宋体" panose="02010600030101010101" pitchFamily="2" charset="-122"/>
              </a:endParaRPr>
            </a:p>
            <a:p>
              <a:pPr algn="just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latin typeface="宋体" panose="02010600030101010101" pitchFamily="2" charset="-122"/>
                </a:rPr>
                <a:t>8421BCD</a:t>
              </a:r>
              <a:r>
                <a:rPr lang="zh-CN" altLang="en-US" b="1" dirty="0">
                  <a:latin typeface="宋体" panose="02010600030101010101" pitchFamily="2" charset="-122"/>
                </a:rPr>
                <a:t>码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 flipH="1" flipV="1">
              <a:off x="1386349" y="3797657"/>
              <a:ext cx="1804" cy="1002481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3. </a:t>
            </a:r>
            <a:r>
              <a:rPr lang="zh-CN" altLang="en-US" dirty="0"/>
              <a:t>数字显示译码器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4732125" y="2507226"/>
            <a:ext cx="4079734" cy="1538046"/>
            <a:chOff x="4732125" y="2507226"/>
            <a:chExt cx="4079734" cy="1538046"/>
          </a:xfrm>
        </p:grpSpPr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5816473" y="2676084"/>
              <a:ext cx="2995386" cy="1200329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120000"/>
                </a:lnSpc>
                <a:spcAft>
                  <a:spcPct val="2000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120000"/>
                </a:lnSpc>
                <a:spcAft>
                  <a:spcPct val="20000"/>
                </a:spcAft>
                <a:buClr>
                  <a:srgbClr val="006600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120000"/>
                </a:lnSpc>
                <a:spcAft>
                  <a:spcPct val="20000"/>
                </a:spcAft>
                <a:buClr>
                  <a:srgbClr val="996600"/>
                </a:buClr>
                <a:buSzPct val="50000"/>
                <a:buFont typeface="Wingdings" panose="05000000000000000000" pitchFamily="2" charset="2"/>
                <a:buChar char="n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120000"/>
                </a:lnSpc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2000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输出</a:t>
              </a:r>
              <a:r>
                <a:rPr lang="zh-CN" altLang="en-US" b="1" dirty="0">
                  <a:latin typeface="宋体" panose="02010600030101010101" pitchFamily="2" charset="-122"/>
                </a:rPr>
                <a:t>：译码结果，可驱动相应的七段数码管显示正确的数字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5180935" y="3275398"/>
              <a:ext cx="635538" cy="85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右大括号 4"/>
            <p:cNvSpPr/>
            <p:nvPr/>
          </p:nvSpPr>
          <p:spPr>
            <a:xfrm>
              <a:off x="4732125" y="2507226"/>
              <a:ext cx="328678" cy="1538046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2351041" y="1267797"/>
            <a:ext cx="450294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 dirty="0">
                <a:solidFill>
                  <a:srgbClr val="C00000"/>
                </a:solidFill>
                <a:ea typeface="楷体_GB2312" pitchFamily="49" charset="-122"/>
              </a:rPr>
              <a:t>BCD</a:t>
            </a:r>
            <a:r>
              <a:rPr kumimoji="0" lang="zh-CN" altLang="en-US" b="1" dirty="0">
                <a:solidFill>
                  <a:srgbClr val="C00000"/>
                </a:solidFill>
                <a:ea typeface="楷体_GB2312" pitchFamily="49" charset="-122"/>
              </a:rPr>
              <a:t>七段字符显示译码器</a:t>
            </a:r>
            <a:r>
              <a:rPr kumimoji="0" lang="en-US" altLang="zh-CN" b="1" dirty="0">
                <a:solidFill>
                  <a:srgbClr val="C00000"/>
                </a:solidFill>
                <a:ea typeface="楷体_GB2312" pitchFamily="49" charset="-122"/>
              </a:rPr>
              <a:t>74LS48    </a:t>
            </a:r>
            <a:endParaRPr kumimoji="0"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graphicFrame>
        <p:nvGraphicFramePr>
          <p:cNvPr id="25" name="Group 3"/>
          <p:cNvGraphicFramePr>
            <a:graphicFrameLocks noGrp="1"/>
          </p:cNvGraphicFramePr>
          <p:nvPr/>
        </p:nvGraphicFramePr>
        <p:xfrm>
          <a:off x="360295" y="1739900"/>
          <a:ext cx="8244049" cy="5033971"/>
        </p:xfrm>
        <a:graphic>
          <a:graphicData uri="http://schemas.openxmlformats.org/drawingml/2006/table">
            <a:tbl>
              <a:tblPr/>
              <a:tblGrid>
                <a:gridCol w="1013359"/>
                <a:gridCol w="521254"/>
                <a:gridCol w="490389"/>
                <a:gridCol w="507537"/>
                <a:gridCol w="675572"/>
                <a:gridCol w="589841"/>
                <a:gridCol w="591556"/>
                <a:gridCol w="589841"/>
                <a:gridCol w="593270"/>
                <a:gridCol w="589841"/>
                <a:gridCol w="673858"/>
                <a:gridCol w="677289"/>
                <a:gridCol w="730442"/>
              </a:tblGrid>
              <a:tr h="340203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输              入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8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输                    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数字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1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字形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83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435">
                <a:tc gridSpan="1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6" name="Group 260"/>
          <p:cNvGrpSpPr/>
          <p:nvPr/>
        </p:nvGrpSpPr>
        <p:grpSpPr bwMode="auto">
          <a:xfrm>
            <a:off x="7875682" y="3212310"/>
            <a:ext cx="1160463" cy="2089150"/>
            <a:chOff x="4694" y="1253"/>
            <a:chExt cx="731" cy="1316"/>
          </a:xfrm>
        </p:grpSpPr>
        <p:graphicFrame>
          <p:nvGraphicFramePr>
            <p:cNvPr id="17" name="Object 261"/>
            <p:cNvGraphicFramePr>
              <a:graphicFrameLocks noChangeAspect="1"/>
            </p:cNvGraphicFramePr>
            <p:nvPr/>
          </p:nvGraphicFramePr>
          <p:xfrm>
            <a:off x="4694" y="1253"/>
            <a:ext cx="731" cy="1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58" name="Photo Editor 照片" r:id="rId1" imgW="5038725" imgH="9077325" progId="MSPhotoEd.3">
                    <p:embed/>
                  </p:oleObj>
                </mc:Choice>
                <mc:Fallback>
                  <p:oleObj name="Photo Editor 照片" r:id="rId1" imgW="5038725" imgH="9077325" progId="MSPhotoEd.3">
                    <p:embed/>
                    <p:pic>
                      <p:nvPicPr>
                        <p:cNvPr id="0" name="图片 194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253"/>
                          <a:ext cx="731" cy="1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262"/>
            <p:cNvSpPr>
              <a:spLocks noChangeArrowheads="1"/>
            </p:cNvSpPr>
            <p:nvPr/>
          </p:nvSpPr>
          <p:spPr bwMode="auto">
            <a:xfrm>
              <a:off x="4903" y="1570"/>
              <a:ext cx="46" cy="182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263"/>
            <p:cNvSpPr>
              <a:spLocks noChangeArrowheads="1"/>
            </p:cNvSpPr>
            <p:nvPr/>
          </p:nvSpPr>
          <p:spPr bwMode="auto">
            <a:xfrm>
              <a:off x="5129" y="1842"/>
              <a:ext cx="46" cy="182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264"/>
            <p:cNvSpPr>
              <a:spLocks noChangeArrowheads="1"/>
            </p:cNvSpPr>
            <p:nvPr/>
          </p:nvSpPr>
          <p:spPr bwMode="auto">
            <a:xfrm>
              <a:off x="5148" y="1570"/>
              <a:ext cx="46" cy="182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265"/>
            <p:cNvSpPr>
              <a:spLocks noChangeArrowheads="1"/>
            </p:cNvSpPr>
            <p:nvPr/>
          </p:nvSpPr>
          <p:spPr bwMode="auto">
            <a:xfrm rot="5400000">
              <a:off x="5035" y="1702"/>
              <a:ext cx="46" cy="182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3. </a:t>
            </a:r>
            <a:r>
              <a:rPr lang="zh-CN" altLang="en-US" dirty="0"/>
              <a:t>数字显示译码器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3. </a:t>
            </a:r>
            <a:r>
              <a:rPr lang="zh-CN" altLang="en-US" dirty="0"/>
              <a:t>数字显示译码器</a:t>
            </a:r>
            <a:endParaRPr lang="zh-CN" altLang="en-US" dirty="0"/>
          </a:p>
        </p:txBody>
      </p:sp>
      <p:sp>
        <p:nvSpPr>
          <p:cNvPr id="32" name="Rectangle 5"/>
          <p:cNvSpPr txBox="1">
            <a:spLocks noChangeArrowheads="1"/>
          </p:cNvSpPr>
          <p:nvPr/>
        </p:nvSpPr>
        <p:spPr bwMode="auto">
          <a:xfrm>
            <a:off x="3456072" y="661209"/>
            <a:ext cx="5262478" cy="5573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</a:rPr>
              <a:t>具有共阴共阳输出可选控制的七段译码模块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Rectangle 6"/>
          <p:cNvSpPr txBox="1">
            <a:spLocks noChangeArrowheads="1"/>
          </p:cNvSpPr>
          <p:nvPr/>
        </p:nvSpPr>
        <p:spPr bwMode="auto">
          <a:xfrm>
            <a:off x="96838" y="1433513"/>
            <a:ext cx="4678362" cy="5329237"/>
          </a:xfrm>
          <a:prstGeom prst="rect">
            <a:avLst/>
          </a:prstGeom>
          <a:noFill/>
          <a:ln w="25400">
            <a:solidFill>
              <a:srgbClr val="170A8E"/>
            </a:solidFill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module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samp4_4_7(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flag,A,Y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);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input flag;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input[3:0] A;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output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reg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[6:0] Y;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seg_decoder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u1 (.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iflag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(flag), .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iA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(A), .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(Y));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Endmodule</a:t>
            </a:r>
            <a:endParaRPr lang="en-US" altLang="zh-CN" sz="1800" b="1" kern="0" dirty="0">
              <a:solidFill>
                <a:srgbClr val="0000FF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1800" b="1" kern="0" dirty="0">
              <a:solidFill>
                <a:srgbClr val="0000FF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module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seg_decoder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(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iflag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iA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,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); 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        //</a:t>
            </a:r>
            <a:r>
              <a:rPr lang="zh-CN" altLang="en-US" sz="1800" b="1" kern="0" dirty="0">
                <a:effectLst/>
                <a:latin typeface="Times New Roman" panose="02020603050405020304" pitchFamily="18" charset="0"/>
              </a:rPr>
              <a:t>七段译码模块定义</a:t>
            </a:r>
            <a:endParaRPr lang="zh-CN" altLang="en-US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input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iflag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;    //</a:t>
            </a:r>
            <a:r>
              <a:rPr lang="zh-CN" altLang="en-US" sz="1800" b="1" kern="0" dirty="0">
                <a:effectLst/>
                <a:latin typeface="Times New Roman" panose="02020603050405020304" pitchFamily="18" charset="0"/>
              </a:rPr>
              <a:t>共阴、共阳输出控制端， </a:t>
            </a:r>
            <a:endParaRPr lang="zh-CN" altLang="en-US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input[3:0]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iA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;         //</a:t>
            </a:r>
            <a:r>
              <a:rPr lang="zh-CN" altLang="en-US" sz="1800" b="1" kern="0" dirty="0">
                <a:effectLst/>
                <a:latin typeface="Times New Roman" panose="02020603050405020304" pitchFamily="18" charset="0"/>
              </a:rPr>
              <a:t>四位二进制输入</a:t>
            </a:r>
            <a:endParaRPr lang="zh-CN" altLang="en-US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output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reg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[6:0]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always@(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iflag,iA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)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</a:t>
            </a:r>
            <a:r>
              <a:rPr lang="en-US" altLang="zh-CN" sz="1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begin</a:t>
            </a:r>
            <a:endParaRPr lang="en-US" altLang="zh-CN" sz="18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</a:t>
            </a:r>
            <a:r>
              <a:rPr lang="en-US" altLang="zh-CN" sz="1800" b="1" kern="0" dirty="0">
                <a:solidFill>
                  <a:srgbClr val="FF33CC"/>
                </a:solidFill>
                <a:effectLst/>
                <a:latin typeface="Times New Roman" panose="02020603050405020304" pitchFamily="18" charset="0"/>
              </a:rPr>
              <a:t>case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(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iA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)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4'b0000: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=7'h3f;  //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iflag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=1</a:t>
            </a:r>
            <a:r>
              <a:rPr lang="zh-CN" altLang="en-US" sz="1800" b="1" kern="0" dirty="0">
                <a:effectLst/>
                <a:latin typeface="Times New Roman" panose="02020603050405020304" pitchFamily="18" charset="0"/>
              </a:rPr>
              <a:t>共阴极输出</a:t>
            </a:r>
            <a:endParaRPr lang="zh-CN" altLang="en-US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b="1" kern="0" dirty="0">
                <a:effectLst/>
                <a:latin typeface="Times New Roman" panose="02020603050405020304" pitchFamily="18" charset="0"/>
              </a:rPr>
              <a:t>         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4'b0001: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=7'h06;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4'b0010: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=7'h5b;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4'b0011: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=7'h4f;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34" name="Rectangle 7"/>
          <p:cNvSpPr txBox="1">
            <a:spLocks noChangeArrowheads="1"/>
          </p:cNvSpPr>
          <p:nvPr/>
        </p:nvSpPr>
        <p:spPr bwMode="auto">
          <a:xfrm>
            <a:off x="5045242" y="1433513"/>
            <a:ext cx="3952708" cy="5329237"/>
          </a:xfrm>
          <a:prstGeom prst="rect">
            <a:avLst/>
          </a:prstGeom>
          <a:noFill/>
          <a:ln w="25400">
            <a:solidFill>
              <a:srgbClr val="170A8E"/>
            </a:solidFill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18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4'b0100: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=7'h66; 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4'b0101: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=7'h6d;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4'b0110: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=7'h7d;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4'b0111: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=7'h27;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4'b1000: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=7'h7f;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4'b1001: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=7'h6f;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4'b1010: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=7'h77;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4'b1011: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=7'h7c;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4'b1100: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=7'h58;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4'b1101: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=7'h5e;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4'b1110: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=7'h79;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4'b1111: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=7'h71;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</a:t>
            </a:r>
            <a:r>
              <a:rPr lang="en-US" altLang="zh-CN" sz="1800" b="1" kern="0" dirty="0" err="1">
                <a:solidFill>
                  <a:srgbClr val="FF33CC"/>
                </a:solidFill>
                <a:effectLst/>
                <a:latin typeface="Times New Roman" panose="02020603050405020304" pitchFamily="18" charset="0"/>
              </a:rPr>
              <a:t>endcase</a:t>
            </a:r>
            <a:endParaRPr lang="en-US" altLang="zh-CN" sz="1800" b="1" kern="0" dirty="0">
              <a:solidFill>
                <a:srgbClr val="FF33CC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if(!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iflag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)       </a:t>
            </a: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          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=~</a:t>
            </a:r>
            <a:r>
              <a:rPr lang="en-US" altLang="zh-CN" sz="1800" b="1" kern="0" dirty="0" err="1">
                <a:effectLst/>
                <a:latin typeface="Times New Roman" panose="02020603050405020304" pitchFamily="18" charset="0"/>
              </a:rPr>
              <a:t>oY</a:t>
            </a:r>
            <a:r>
              <a:rPr lang="en-US" altLang="zh-CN" sz="1800" b="1" kern="0" dirty="0">
                <a:effectLst/>
                <a:latin typeface="Times New Roman" panose="02020603050405020304" pitchFamily="18" charset="0"/>
              </a:rPr>
              <a:t>;     //</a:t>
            </a:r>
            <a:r>
              <a:rPr lang="en-US" altLang="zh-CN" sz="1800" b="1" kern="0" err="1">
                <a:effectLst/>
                <a:latin typeface="Times New Roman" panose="02020603050405020304" pitchFamily="18" charset="0"/>
              </a:rPr>
              <a:t>iflag</a:t>
            </a:r>
            <a:r>
              <a:rPr lang="en-US" altLang="zh-CN" sz="1800" b="1" kern="0">
                <a:effectLst/>
                <a:latin typeface="Times New Roman" panose="02020603050405020304" pitchFamily="18" charset="0"/>
              </a:rPr>
              <a:t>=0</a:t>
            </a:r>
            <a:r>
              <a:rPr lang="zh-CN" altLang="en-US" sz="1800" b="1" kern="0">
                <a:effectLst/>
                <a:latin typeface="Times New Roman" panose="02020603050405020304" pitchFamily="18" charset="0"/>
              </a:rPr>
              <a:t>共</a:t>
            </a:r>
            <a:r>
              <a:rPr lang="zh-CN" altLang="en-US" sz="1800" b="1" kern="0" dirty="0">
                <a:effectLst/>
                <a:latin typeface="Times New Roman" panose="02020603050405020304" pitchFamily="18" charset="0"/>
              </a:rPr>
              <a:t>阳极输出</a:t>
            </a:r>
            <a:endParaRPr lang="zh-CN" altLang="en-US" sz="1800" b="1" kern="0" dirty="0"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    end</a:t>
            </a:r>
            <a:endParaRPr lang="en-US" altLang="zh-CN" sz="18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kern="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</a:rPr>
              <a:t>endmodule</a:t>
            </a:r>
            <a:endParaRPr lang="en-US" altLang="zh-CN" sz="1800" b="1" kern="0" dirty="0">
              <a:solidFill>
                <a:srgbClr val="0000FF"/>
              </a:solidFill>
              <a:effectLst/>
              <a:latin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1800" b="1" kern="0" dirty="0"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4. </a:t>
            </a:r>
            <a:r>
              <a:rPr lang="zh-CN" altLang="en-US"/>
              <a:t>译码器应用</a:t>
            </a:r>
            <a:endParaRPr lang="zh-CN" alt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406482" y="1484784"/>
            <a:ext cx="8229600" cy="3456384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lang="zh-CN" altLang="en-US" sz="2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defRPr>
            </a:lvl1pPr>
            <a:lvl2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　　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【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例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】  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用译码器实现下面两个函数。 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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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    　解：这两个输出函数均为三输入变量函数， 下面分别用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3-8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译码器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+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与非门和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3-8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译码器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+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与门实现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F1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、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F2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。 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　　方法一： 选用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3-8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译码器和与非门实现。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j-cs"/>
            </a:endParaRPr>
          </a:p>
        </p:txBody>
      </p:sp>
      <p:sp>
        <p:nvSpPr>
          <p:cNvPr id="16" name="灯片编号占位符 1"/>
          <p:cNvSpPr txBox="1"/>
          <p:nvPr/>
        </p:nvSpPr>
        <p:spPr bwMode="auto">
          <a:xfrm>
            <a:off x="8148761" y="6579210"/>
            <a:ext cx="982663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1" compatLnSpc="1">
            <a:spAutoFit/>
          </a:bodyPr>
          <a:lstStyle>
            <a:defPPr>
              <a:defRPr lang="ko-KR"/>
            </a:defPPr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BF0B5F-2615-41A0-AC65-2A7E462A8AC6}" type="slidenum">
              <a:rPr kumimoji="0" lang="en-US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</a:fld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pSp>
        <p:nvGrpSpPr>
          <p:cNvPr id="17" name="Group 8"/>
          <p:cNvGrpSpPr/>
          <p:nvPr/>
        </p:nvGrpSpPr>
        <p:grpSpPr bwMode="auto">
          <a:xfrm>
            <a:off x="2696450" y="2504157"/>
            <a:ext cx="3649663" cy="1417638"/>
            <a:chOff x="1474" y="890"/>
            <a:chExt cx="2299" cy="893"/>
          </a:xfrm>
        </p:grpSpPr>
        <p:graphicFrame>
          <p:nvGraphicFramePr>
            <p:cNvPr id="18" name="Object 4"/>
            <p:cNvGraphicFramePr>
              <a:graphicFrameLocks noChangeAspect="1"/>
            </p:cNvGraphicFramePr>
            <p:nvPr/>
          </p:nvGraphicFramePr>
          <p:xfrm>
            <a:off x="1565" y="890"/>
            <a:ext cx="2095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2" name="Equation" r:id="rId2" imgW="24993600" imgH="5181600" progId="">
                    <p:embed/>
                  </p:oleObj>
                </mc:Choice>
                <mc:Fallback>
                  <p:oleObj name="Equation" r:id="rId2" imgW="24993600" imgH="5181600" progId="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890"/>
                          <a:ext cx="2095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6"/>
            <p:cNvGraphicFramePr>
              <a:graphicFrameLocks noChangeAspect="1"/>
            </p:cNvGraphicFramePr>
            <p:nvPr/>
          </p:nvGraphicFramePr>
          <p:xfrm>
            <a:off x="1474" y="1344"/>
            <a:ext cx="2299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83" name="Equation" r:id="rId4" imgW="27432000" imgH="5181600" progId="">
                    <p:embed/>
                  </p:oleObj>
                </mc:Choice>
                <mc:Fallback>
                  <p:oleObj name="Equation" r:id="rId4" imgW="27432000" imgH="5181600" progId="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1344"/>
                          <a:ext cx="2299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4. </a:t>
            </a:r>
            <a:r>
              <a:rPr lang="zh-CN" altLang="en-US"/>
              <a:t>译码器应用</a:t>
            </a:r>
            <a:endParaRPr lang="zh-CN" altLang="en-US" dirty="0"/>
          </a:p>
        </p:txBody>
      </p:sp>
      <p:sp>
        <p:nvSpPr>
          <p:cNvPr id="16" name="灯片编号占位符 1"/>
          <p:cNvSpPr txBox="1"/>
          <p:nvPr/>
        </p:nvSpPr>
        <p:spPr bwMode="auto">
          <a:xfrm>
            <a:off x="8148761" y="6579210"/>
            <a:ext cx="982663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1" compatLnSpc="1">
            <a:spAutoFit/>
          </a:bodyPr>
          <a:lstStyle>
            <a:defPPr>
              <a:defRPr lang="ko-KR"/>
            </a:defPPr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BF0B5F-2615-41A0-AC65-2A7E462A8AC6}" type="slidenum">
              <a:rPr kumimoji="0" lang="en-US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</a:fld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406482" y="1196752"/>
            <a:ext cx="8229600" cy="3744416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lang="zh-CN" altLang="en-US" sz="2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defRPr>
            </a:lvl1pPr>
            <a:lvl2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　　将输出函数写成最小项之和的形式， 并变换为译码器反码输出形式， 用与非门作为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F1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、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F2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的输出门。 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j-cs"/>
            </a:endParaRPr>
          </a:p>
        </p:txBody>
      </p:sp>
      <p:sp>
        <p:nvSpPr>
          <p:cNvPr id="12" name="灯片编号占位符 1"/>
          <p:cNvSpPr txBox="1"/>
          <p:nvPr/>
        </p:nvSpPr>
        <p:spPr bwMode="auto">
          <a:xfrm>
            <a:off x="8148761" y="6579210"/>
            <a:ext cx="982663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1" compatLnSpc="1">
            <a:spAutoFit/>
          </a:bodyPr>
          <a:lstStyle>
            <a:defPPr>
              <a:defRPr lang="ko-KR"/>
            </a:defPPr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0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6BF0B5F-2615-41A0-AC65-2A7E462A8AC6}" type="slidenum">
              <a:rPr kumimoji="0" lang="en-US" altLang="ko-K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</a:fld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graphicFrame>
        <p:nvGraphicFramePr>
          <p:cNvPr id="24" name="Object 5"/>
          <p:cNvGraphicFramePr>
            <a:graphicFrameLocks noChangeAspect="1"/>
          </p:cNvGraphicFramePr>
          <p:nvPr/>
        </p:nvGraphicFramePr>
        <p:xfrm>
          <a:off x="406482" y="2246923"/>
          <a:ext cx="7056438" cy="433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2" imgW="63703200" imgH="39014400" progId="">
                  <p:embed/>
                </p:oleObj>
              </mc:Choice>
              <mc:Fallback>
                <p:oleObj name="Equation" r:id="rId2" imgW="63703200" imgH="390144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82" y="2246923"/>
                        <a:ext cx="7056438" cy="433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4. </a:t>
            </a:r>
            <a:r>
              <a:rPr lang="zh-CN" altLang="en-US"/>
              <a:t>译码器应用</a:t>
            </a:r>
            <a:endParaRPr lang="zh-CN" altLang="en-US" dirty="0"/>
          </a:p>
        </p:txBody>
      </p:sp>
      <p:grpSp>
        <p:nvGrpSpPr>
          <p:cNvPr id="15" name="Group 7"/>
          <p:cNvGrpSpPr/>
          <p:nvPr/>
        </p:nvGrpSpPr>
        <p:grpSpPr bwMode="auto">
          <a:xfrm>
            <a:off x="1263651" y="1023938"/>
            <a:ext cx="6845300" cy="2633662"/>
            <a:chOff x="880" y="1525"/>
            <a:chExt cx="4312" cy="1659"/>
          </a:xfrm>
        </p:grpSpPr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4468" y="1888"/>
              <a:ext cx="724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(4.4.11)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8" name="Object 5"/>
            <p:cNvGraphicFramePr>
              <a:graphicFrameLocks noChangeAspect="1"/>
            </p:cNvGraphicFramePr>
            <p:nvPr/>
          </p:nvGraphicFramePr>
          <p:xfrm>
            <a:off x="880" y="1525"/>
            <a:ext cx="3460" cy="1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0" name="Equation" r:id="rId2" imgW="45110400" imgH="21640800" progId="">
                    <p:embed/>
                  </p:oleObj>
                </mc:Choice>
                <mc:Fallback>
                  <p:oleObj name="Equation" r:id="rId2" imgW="45110400" imgH="21640800" progId="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0" y="1525"/>
                          <a:ext cx="3460" cy="16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" name="Picture 5" descr="4-4-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1" y="3767090"/>
            <a:ext cx="5219700" cy="2981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4743491" y="6237087"/>
            <a:ext cx="27494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用译码器和与非门实现</a:t>
            </a:r>
            <a:endParaRPr kumimoji="1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4. </a:t>
            </a:r>
            <a:r>
              <a:rPr lang="zh-CN" altLang="en-US"/>
              <a:t>译码器应用</a:t>
            </a:r>
            <a:endParaRPr lang="zh-CN" altLang="en-US" dirty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409035" y="1236236"/>
            <a:ext cx="8558006" cy="3456384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lang="zh-CN" altLang="en-US" sz="2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defRPr>
            </a:lvl1pPr>
            <a:lvl2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　　方法二： 选用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3-8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译码器和与门实现。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　　将输出函数写成最大项之积的形式， 然后进行如下变换：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								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j-cs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2413151" y="2669578"/>
          <a:ext cx="4549775" cy="388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2" imgW="35661600" imgH="30175200" progId="">
                  <p:embed/>
                </p:oleObj>
              </mc:Choice>
              <mc:Fallback>
                <p:oleObj name="Equation" r:id="rId2" imgW="35661600" imgH="30175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151" y="2669578"/>
                        <a:ext cx="4549775" cy="3881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4. </a:t>
            </a:r>
            <a:r>
              <a:rPr lang="zh-CN" altLang="en-US"/>
              <a:t>译码器应用</a:t>
            </a:r>
            <a:endParaRPr lang="zh-CN" altLang="en-US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406482" y="1484784"/>
            <a:ext cx="8229600" cy="3456384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lang="zh-CN" altLang="en-US" sz="2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defRPr>
            </a:lvl1pPr>
            <a:lvl2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						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						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j-cs"/>
            </a:endParaRPr>
          </a:p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kern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j-cs"/>
            </a:endParaRPr>
          </a:p>
        </p:txBody>
      </p:sp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1403648" y="1683276"/>
          <a:ext cx="5400675" cy="367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2" imgW="44500800" imgH="30175200" progId="">
                  <p:embed/>
                </p:oleObj>
              </mc:Choice>
              <mc:Fallback>
                <p:oleObj name="Equation" r:id="rId2" imgW="44500800" imgH="30175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683276"/>
                        <a:ext cx="5400675" cy="367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4010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  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0782" y="606035"/>
            <a:ext cx="5004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4. </a:t>
            </a:r>
            <a:r>
              <a:rPr lang="zh-CN" altLang="en-US"/>
              <a:t>译码器应用</a:t>
            </a:r>
            <a:endParaRPr lang="zh-CN" altLang="en-US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406482" y="1484784"/>
            <a:ext cx="8229600" cy="3456384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lang="zh-CN" altLang="en-US" sz="2400" b="1" dirty="0">
                <a:solidFill>
                  <a:schemeClr val="tx1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defRPr>
            </a:lvl1pPr>
            <a:lvl2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2pPr>
            <a:lvl3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3pPr>
            <a:lvl4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4pPr>
            <a:lvl5pPr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5pPr>
            <a:lvl6pPr marL="4572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6pPr>
            <a:lvl7pPr marL="9144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7pPr>
            <a:lvl8pPr marL="13716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8pPr>
            <a:lvl9pPr marL="1828800" algn="l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						</a:t>
            </a: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  <a:t>						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j-cs"/>
            </a:endParaRPr>
          </a:p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kern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b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j-cs"/>
              </a:rPr>
            </a:b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j-cs"/>
            </a:endParaRPr>
          </a:p>
        </p:txBody>
      </p:sp>
      <p:grpSp>
        <p:nvGrpSpPr>
          <p:cNvPr id="9" name="Group 6"/>
          <p:cNvGrpSpPr/>
          <p:nvPr/>
        </p:nvGrpSpPr>
        <p:grpSpPr bwMode="auto">
          <a:xfrm>
            <a:off x="1454150" y="1677988"/>
            <a:ext cx="6234113" cy="4167187"/>
            <a:chOff x="916" y="1057"/>
            <a:chExt cx="3927" cy="2625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2109" y="3430"/>
              <a:ext cx="157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marL="342900" indent="-342900"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algn="l">
                <a:spcBef>
                  <a:spcPct val="0"/>
                </a:spcBef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用译码器和与门实现</a:t>
              </a:r>
              <a:endPara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3" name="Picture 5" descr="4-4-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" y="1057"/>
              <a:ext cx="3927" cy="2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5284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常用组合逻辑电路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10196" y="1338135"/>
            <a:ext cx="831138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en-US" sz="2800" b="1" kern="100" dirty="0">
                <a:latin typeface="宋体" panose="02010600030101010101" pitchFamily="2" charset="-122"/>
              </a:rPr>
              <a:t>第四章习题</a:t>
            </a:r>
            <a:endParaRPr lang="en-US" altLang="zh-CN" sz="2800" b="1" kern="100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P168 #9 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循环语句编写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线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-3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线优先编码器的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代码。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P168 #18 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74LS138</a:t>
            </a:r>
            <a:r>
              <a:rPr lang="zh-CN" altLang="en-US" sz="2800" b="1" dirty="0">
                <a:latin typeface="宋体" panose="02010600030101010101" pitchFamily="2" charset="-122"/>
                <a:cs typeface="Times New Roman" panose="02020603050405020304" pitchFamily="18" charset="0"/>
              </a:rPr>
              <a:t>和必要的门电路实现下列逻辑函数：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894761" y="4001429"/>
          <a:ext cx="5542255" cy="12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2" imgW="56083200" imgH="12192000" progId="Equation.DSMT4">
                  <p:embed/>
                </p:oleObj>
              </mc:Choice>
              <mc:Fallback>
                <p:oleObj name="Equation" r:id="rId2" imgW="56083200" imgH="12192000" progId="Equation.DSMT4">
                  <p:embed/>
                  <p:pic>
                    <p:nvPicPr>
                      <p:cNvPr id="0" name="图片 2560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94761" y="4001429"/>
                        <a:ext cx="5542255" cy="120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5284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常用组合逻辑电路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435167" y="789766"/>
          <a:ext cx="5542255" cy="12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2" imgW="56083200" imgH="12192000" progId="Equation.DSMT4">
                  <p:embed/>
                </p:oleObj>
              </mc:Choice>
              <mc:Fallback>
                <p:oleObj name="Equation" r:id="rId2" imgW="56083200" imgH="12192000" progId="Equation.DSMT4">
                  <p:embed/>
                  <p:pic>
                    <p:nvPicPr>
                      <p:cNvPr id="0" name="图片 266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35167" y="789766"/>
                        <a:ext cx="5542255" cy="120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2969345" y="3895748"/>
            <a:ext cx="2727158" cy="2238876"/>
            <a:chOff x="717885" y="3171825"/>
            <a:chExt cx="2514600" cy="2133600"/>
          </a:xfrm>
        </p:grpSpPr>
        <p:grpSp>
          <p:nvGrpSpPr>
            <p:cNvPr id="8" name="组合 353293"/>
            <p:cNvGrpSpPr/>
            <p:nvPr/>
          </p:nvGrpSpPr>
          <p:grpSpPr bwMode="auto">
            <a:xfrm>
              <a:off x="717885" y="3171825"/>
              <a:ext cx="2514600" cy="2133600"/>
              <a:chOff x="0" y="0"/>
              <a:chExt cx="1584" cy="1344"/>
            </a:xfrm>
          </p:grpSpPr>
          <p:sp>
            <p:nvSpPr>
              <p:cNvPr id="10" name="矩形 353294"/>
              <p:cNvSpPr>
                <a:spLocks noChangeArrowheads="1"/>
              </p:cNvSpPr>
              <p:nvPr/>
            </p:nvSpPr>
            <p:spPr bwMode="auto">
              <a:xfrm>
                <a:off x="0" y="288"/>
                <a:ext cx="1536" cy="76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graphicFrame>
            <p:nvGraphicFramePr>
              <p:cNvPr id="11" name="对象 353295"/>
              <p:cNvGraphicFramePr>
                <a:graphicFrameLocks noChangeAspect="1"/>
              </p:cNvGraphicFramePr>
              <p:nvPr/>
            </p:nvGraphicFramePr>
            <p:xfrm>
              <a:off x="48" y="336"/>
              <a:ext cx="1536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627" name="Equation" r:id="rId4" imgW="1268730" imgH="215900" progId="Equation.DSMT4">
                      <p:embed/>
                    </p:oleObj>
                  </mc:Choice>
                  <mc:Fallback>
                    <p:oleObj name="Equation" r:id="rId4" imgW="1268730" imgH="215900" progId="Equation.DSMT4">
                      <p:embed/>
                      <p:pic>
                        <p:nvPicPr>
                          <p:cNvPr id="0" name="图片 266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336"/>
                            <a:ext cx="1536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2" name="组合 353296"/>
              <p:cNvGrpSpPr/>
              <p:nvPr/>
            </p:nvGrpSpPr>
            <p:grpSpPr bwMode="auto">
              <a:xfrm>
                <a:off x="48" y="0"/>
                <a:ext cx="96" cy="288"/>
                <a:chOff x="0" y="0"/>
                <a:chExt cx="96" cy="288"/>
              </a:xfrm>
            </p:grpSpPr>
            <p:sp>
              <p:nvSpPr>
                <p:cNvPr id="53" name="椭圆 353297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4" name="直接连接符 353298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353299"/>
              <p:cNvGrpSpPr/>
              <p:nvPr/>
            </p:nvGrpSpPr>
            <p:grpSpPr bwMode="auto">
              <a:xfrm>
                <a:off x="240" y="0"/>
                <a:ext cx="96" cy="288"/>
                <a:chOff x="0" y="0"/>
                <a:chExt cx="96" cy="288"/>
              </a:xfrm>
            </p:grpSpPr>
            <p:sp>
              <p:nvSpPr>
                <p:cNvPr id="51" name="椭圆 353300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2" name="直接连接符 353301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组合 353302"/>
              <p:cNvGrpSpPr/>
              <p:nvPr/>
            </p:nvGrpSpPr>
            <p:grpSpPr bwMode="auto">
              <a:xfrm>
                <a:off x="432" y="0"/>
                <a:ext cx="96" cy="288"/>
                <a:chOff x="0" y="0"/>
                <a:chExt cx="96" cy="288"/>
              </a:xfrm>
            </p:grpSpPr>
            <p:sp>
              <p:nvSpPr>
                <p:cNvPr id="49" name="椭圆 353303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0" name="直接连接符 353304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353305"/>
              <p:cNvGrpSpPr/>
              <p:nvPr/>
            </p:nvGrpSpPr>
            <p:grpSpPr bwMode="auto">
              <a:xfrm>
                <a:off x="624" y="0"/>
                <a:ext cx="96" cy="288"/>
                <a:chOff x="0" y="0"/>
                <a:chExt cx="96" cy="288"/>
              </a:xfrm>
            </p:grpSpPr>
            <p:sp>
              <p:nvSpPr>
                <p:cNvPr id="47" name="椭圆 353306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8" name="直接连接符 353307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353308"/>
              <p:cNvGrpSpPr/>
              <p:nvPr/>
            </p:nvGrpSpPr>
            <p:grpSpPr bwMode="auto">
              <a:xfrm>
                <a:off x="816" y="0"/>
                <a:ext cx="96" cy="288"/>
                <a:chOff x="0" y="0"/>
                <a:chExt cx="96" cy="288"/>
              </a:xfrm>
            </p:grpSpPr>
            <p:sp>
              <p:nvSpPr>
                <p:cNvPr id="45" name="椭圆 353309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6" name="直接连接符 353310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353311"/>
              <p:cNvGrpSpPr/>
              <p:nvPr/>
            </p:nvGrpSpPr>
            <p:grpSpPr bwMode="auto">
              <a:xfrm>
                <a:off x="1008" y="0"/>
                <a:ext cx="96" cy="288"/>
                <a:chOff x="0" y="0"/>
                <a:chExt cx="96" cy="288"/>
              </a:xfrm>
            </p:grpSpPr>
            <p:sp>
              <p:nvSpPr>
                <p:cNvPr id="43" name="椭圆 353312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4" name="直接连接符 353313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353314"/>
              <p:cNvGrpSpPr/>
              <p:nvPr/>
            </p:nvGrpSpPr>
            <p:grpSpPr bwMode="auto">
              <a:xfrm>
                <a:off x="1200" y="0"/>
                <a:ext cx="96" cy="288"/>
                <a:chOff x="0" y="0"/>
                <a:chExt cx="96" cy="288"/>
              </a:xfrm>
            </p:grpSpPr>
            <p:sp>
              <p:nvSpPr>
                <p:cNvPr id="41" name="椭圆 353315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2" name="直接连接符 353316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353317"/>
              <p:cNvGrpSpPr/>
              <p:nvPr/>
            </p:nvGrpSpPr>
            <p:grpSpPr bwMode="auto">
              <a:xfrm>
                <a:off x="1392" y="0"/>
                <a:ext cx="96" cy="288"/>
                <a:chOff x="0" y="0"/>
                <a:chExt cx="96" cy="288"/>
              </a:xfrm>
            </p:grpSpPr>
            <p:sp>
              <p:nvSpPr>
                <p:cNvPr id="39" name="椭圆 353318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0" name="直接连接符 353319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353320"/>
              <p:cNvGrpSpPr/>
              <p:nvPr/>
            </p:nvGrpSpPr>
            <p:grpSpPr bwMode="auto">
              <a:xfrm flipV="1">
                <a:off x="1344" y="1056"/>
                <a:ext cx="96" cy="288"/>
                <a:chOff x="0" y="0"/>
                <a:chExt cx="96" cy="288"/>
              </a:xfrm>
            </p:grpSpPr>
            <p:sp>
              <p:nvSpPr>
                <p:cNvPr id="37" name="椭圆 353321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38" name="直接连接符 353322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353323"/>
              <p:cNvGrpSpPr/>
              <p:nvPr/>
            </p:nvGrpSpPr>
            <p:grpSpPr bwMode="auto">
              <a:xfrm flipV="1">
                <a:off x="1152" y="1056"/>
                <a:ext cx="96" cy="288"/>
                <a:chOff x="0" y="0"/>
                <a:chExt cx="96" cy="288"/>
              </a:xfrm>
            </p:grpSpPr>
            <p:sp>
              <p:nvSpPr>
                <p:cNvPr id="35" name="椭圆 353324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36" name="直接连接符 353325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" name="直接连接符 35332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直接连接符 353327"/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直接连接符 353328"/>
              <p:cNvSpPr>
                <a:spLocks noChangeShapeType="1"/>
              </p:cNvSpPr>
              <p:nvPr/>
            </p:nvSpPr>
            <p:spPr bwMode="auto">
              <a:xfrm>
                <a:off x="336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直接连接符 353329"/>
              <p:cNvSpPr>
                <a:spLocks noChangeShapeType="1"/>
              </p:cNvSpPr>
              <p:nvPr/>
            </p:nvSpPr>
            <p:spPr bwMode="auto">
              <a:xfrm>
                <a:off x="480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矩形 353330"/>
              <p:cNvSpPr>
                <a:spLocks noChangeArrowheads="1"/>
              </p:cNvSpPr>
              <p:nvPr/>
            </p:nvSpPr>
            <p:spPr bwMode="auto">
              <a:xfrm>
                <a:off x="48" y="831"/>
                <a:ext cx="5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600" b="1">
                    <a:ea typeface="宋体" panose="02010600030101010101" pitchFamily="2" charset="-122"/>
                  </a:rPr>
                  <a:t>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2</a:t>
                </a:r>
                <a:r>
                  <a:rPr lang="en-US" altLang="zh-CN" sz="1600" b="1">
                    <a:ea typeface="宋体" panose="02010600030101010101" pitchFamily="2" charset="-122"/>
                  </a:rPr>
                  <a:t> 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1</a:t>
                </a:r>
                <a:r>
                  <a:rPr lang="en-US" altLang="zh-CN" sz="1600" b="1">
                    <a:ea typeface="宋体" panose="02010600030101010101" pitchFamily="2" charset="-122"/>
                  </a:rPr>
                  <a:t> 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0</a:t>
                </a:r>
                <a:endParaRPr lang="en-US" altLang="zh-CN" sz="1600" b="1">
                  <a:ea typeface="宋体" panose="02010600030101010101" pitchFamily="2" charset="-122"/>
                </a:endParaRPr>
              </a:p>
            </p:txBody>
          </p:sp>
          <p:sp>
            <p:nvSpPr>
              <p:cNvPr id="30" name="矩形 353331"/>
              <p:cNvSpPr>
                <a:spLocks noChangeArrowheads="1"/>
              </p:cNvSpPr>
              <p:nvPr/>
            </p:nvSpPr>
            <p:spPr bwMode="auto">
              <a:xfrm>
                <a:off x="816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A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1" name="矩形 353332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B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2" name="矩形 353333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C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直接连接符 353334"/>
              <p:cNvSpPr>
                <a:spLocks noChangeShapeType="1"/>
              </p:cNvSpPr>
              <p:nvPr/>
            </p:nvSpPr>
            <p:spPr bwMode="auto">
              <a:xfrm>
                <a:off x="1104" y="91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直接连接符 353335"/>
              <p:cNvSpPr>
                <a:spLocks noChangeShapeType="1"/>
              </p:cNvSpPr>
              <p:nvPr/>
            </p:nvSpPr>
            <p:spPr bwMode="auto">
              <a:xfrm>
                <a:off x="1344" y="91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428751" y="4126469"/>
              <a:ext cx="1041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74LS138</a:t>
              </a:r>
              <a:endParaRPr lang="zh-CN" altLang="en-US" dirty="0"/>
            </a:p>
          </p:txBody>
        </p:sp>
      </p:grpSp>
      <p:sp>
        <p:nvSpPr>
          <p:cNvPr id="4" name="矩形 3"/>
          <p:cNvSpPr/>
          <p:nvPr/>
        </p:nvSpPr>
        <p:spPr>
          <a:xfrm>
            <a:off x="3002147" y="2940289"/>
            <a:ext cx="2654847" cy="47570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&amp;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4257304" y="2813807"/>
            <a:ext cx="95395" cy="10158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/>
          <p:nvPr/>
        </p:nvCxnSpPr>
        <p:spPr>
          <a:xfrm flipV="1">
            <a:off x="3465192" y="3430755"/>
            <a:ext cx="0" cy="46499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3789818" y="3430757"/>
            <a:ext cx="0" cy="46499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4126321" y="3423235"/>
            <a:ext cx="0" cy="46499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5118014" y="3427865"/>
            <a:ext cx="0" cy="46499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4785012" y="3430757"/>
            <a:ext cx="0" cy="46499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4296535" y="2348816"/>
            <a:ext cx="0" cy="46499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6" idx="0"/>
            <a:endCxn id="38" idx="0"/>
          </p:cNvCxnSpPr>
          <p:nvPr/>
        </p:nvCxnSpPr>
        <p:spPr>
          <a:xfrm>
            <a:off x="5035374" y="6134624"/>
            <a:ext cx="3305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38" idx="0"/>
          </p:cNvCxnSpPr>
          <p:nvPr/>
        </p:nvCxnSpPr>
        <p:spPr>
          <a:xfrm>
            <a:off x="5365938" y="6134624"/>
            <a:ext cx="0" cy="242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241759" y="6377049"/>
            <a:ext cx="2483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4456142" y="6055781"/>
            <a:ext cx="328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3135778" y="6076596"/>
            <a:ext cx="132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C</a:t>
            </a:r>
            <a:r>
              <a:rPr lang="en-US" altLang="zh-CN" sz="2000" b="1" baseline="-25000" dirty="0"/>
              <a:t>3 </a:t>
            </a:r>
            <a:r>
              <a:rPr lang="en-US" altLang="zh-CN" sz="2000" b="1" dirty="0"/>
              <a:t>B</a:t>
            </a:r>
            <a:r>
              <a:rPr lang="en-US" altLang="zh-CN" sz="2000" b="1" baseline="-25000" dirty="0"/>
              <a:t>2 </a:t>
            </a:r>
            <a:r>
              <a:rPr lang="en-US" altLang="zh-CN" sz="2000" b="1" dirty="0"/>
              <a:t>A</a:t>
            </a:r>
            <a:r>
              <a:rPr lang="en-US" altLang="zh-CN" sz="2000" b="1" baseline="-25000" dirty="0"/>
              <a:t>1</a:t>
            </a:r>
            <a:endParaRPr lang="zh-CN" altLang="en-US" sz="2000" b="1" baseline="-25000" dirty="0"/>
          </a:p>
        </p:txBody>
      </p:sp>
      <p:sp>
        <p:nvSpPr>
          <p:cNvPr id="74" name="文本框 73"/>
          <p:cNvSpPr txBox="1"/>
          <p:nvPr/>
        </p:nvSpPr>
        <p:spPr>
          <a:xfrm>
            <a:off x="4329570" y="2180205"/>
            <a:ext cx="328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F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/>
          <p:cNvCxnSpPr/>
          <p:nvPr/>
        </p:nvCxnSpPr>
        <p:spPr>
          <a:xfrm>
            <a:off x="1435167" y="62091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淘宝网chenying0907出品 6"/>
          <p:cNvSpPr txBox="1"/>
          <p:nvPr/>
        </p:nvSpPr>
        <p:spPr>
          <a:xfrm>
            <a:off x="1528823" y="0"/>
            <a:ext cx="5284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 </a:t>
            </a:r>
            <a:r>
              <a:rPr lang="zh-CN" altLang="en-US" sz="36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常用组合逻辑电路</a:t>
            </a:r>
            <a:endParaRPr lang="zh-CN" altLang="en-US" sz="36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2969345" y="3895748"/>
            <a:ext cx="2727158" cy="2238876"/>
            <a:chOff x="717885" y="3171825"/>
            <a:chExt cx="2514600" cy="2133600"/>
          </a:xfrm>
        </p:grpSpPr>
        <p:grpSp>
          <p:nvGrpSpPr>
            <p:cNvPr id="8" name="组合 353293"/>
            <p:cNvGrpSpPr/>
            <p:nvPr/>
          </p:nvGrpSpPr>
          <p:grpSpPr bwMode="auto">
            <a:xfrm>
              <a:off x="717885" y="3171825"/>
              <a:ext cx="2514600" cy="2133600"/>
              <a:chOff x="0" y="0"/>
              <a:chExt cx="1584" cy="1344"/>
            </a:xfrm>
          </p:grpSpPr>
          <p:sp>
            <p:nvSpPr>
              <p:cNvPr id="10" name="矩形 353294"/>
              <p:cNvSpPr>
                <a:spLocks noChangeArrowheads="1"/>
              </p:cNvSpPr>
              <p:nvPr/>
            </p:nvSpPr>
            <p:spPr bwMode="auto">
              <a:xfrm>
                <a:off x="0" y="288"/>
                <a:ext cx="1536" cy="768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/>
              </a:p>
            </p:txBody>
          </p:sp>
          <p:graphicFrame>
            <p:nvGraphicFramePr>
              <p:cNvPr id="11" name="对象 353295"/>
              <p:cNvGraphicFramePr>
                <a:graphicFrameLocks noChangeAspect="1"/>
              </p:cNvGraphicFramePr>
              <p:nvPr/>
            </p:nvGraphicFramePr>
            <p:xfrm>
              <a:off x="48" y="336"/>
              <a:ext cx="1536" cy="2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650" name="Equation" r:id="rId2" imgW="1268730" imgH="215900" progId="Equation.DSMT4">
                      <p:embed/>
                    </p:oleObj>
                  </mc:Choice>
                  <mc:Fallback>
                    <p:oleObj name="Equation" r:id="rId2" imgW="1268730" imgH="215900" progId="Equation.DSMT4">
                      <p:embed/>
                      <p:pic>
                        <p:nvPicPr>
                          <p:cNvPr id="0" name="图片 276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" y="336"/>
                            <a:ext cx="1536" cy="2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2" name="组合 353296"/>
              <p:cNvGrpSpPr/>
              <p:nvPr/>
            </p:nvGrpSpPr>
            <p:grpSpPr bwMode="auto">
              <a:xfrm>
                <a:off x="48" y="0"/>
                <a:ext cx="96" cy="288"/>
                <a:chOff x="0" y="0"/>
                <a:chExt cx="96" cy="288"/>
              </a:xfrm>
            </p:grpSpPr>
            <p:sp>
              <p:nvSpPr>
                <p:cNvPr id="53" name="椭圆 353297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4" name="直接连接符 353298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353299"/>
              <p:cNvGrpSpPr/>
              <p:nvPr/>
            </p:nvGrpSpPr>
            <p:grpSpPr bwMode="auto">
              <a:xfrm>
                <a:off x="240" y="0"/>
                <a:ext cx="96" cy="288"/>
                <a:chOff x="0" y="0"/>
                <a:chExt cx="96" cy="288"/>
              </a:xfrm>
            </p:grpSpPr>
            <p:sp>
              <p:nvSpPr>
                <p:cNvPr id="51" name="椭圆 353300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2" name="直接连接符 353301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" name="组合 353302"/>
              <p:cNvGrpSpPr/>
              <p:nvPr/>
            </p:nvGrpSpPr>
            <p:grpSpPr bwMode="auto">
              <a:xfrm>
                <a:off x="432" y="0"/>
                <a:ext cx="96" cy="288"/>
                <a:chOff x="0" y="0"/>
                <a:chExt cx="96" cy="288"/>
              </a:xfrm>
            </p:grpSpPr>
            <p:sp>
              <p:nvSpPr>
                <p:cNvPr id="49" name="椭圆 353303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0" name="直接连接符 353304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353305"/>
              <p:cNvGrpSpPr/>
              <p:nvPr/>
            </p:nvGrpSpPr>
            <p:grpSpPr bwMode="auto">
              <a:xfrm>
                <a:off x="624" y="0"/>
                <a:ext cx="96" cy="288"/>
                <a:chOff x="0" y="0"/>
                <a:chExt cx="96" cy="288"/>
              </a:xfrm>
            </p:grpSpPr>
            <p:sp>
              <p:nvSpPr>
                <p:cNvPr id="47" name="椭圆 353306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8" name="直接连接符 353307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6" name="组合 353308"/>
              <p:cNvGrpSpPr/>
              <p:nvPr/>
            </p:nvGrpSpPr>
            <p:grpSpPr bwMode="auto">
              <a:xfrm>
                <a:off x="816" y="0"/>
                <a:ext cx="96" cy="288"/>
                <a:chOff x="0" y="0"/>
                <a:chExt cx="96" cy="288"/>
              </a:xfrm>
            </p:grpSpPr>
            <p:sp>
              <p:nvSpPr>
                <p:cNvPr id="45" name="椭圆 353309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6" name="直接连接符 353310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353311"/>
              <p:cNvGrpSpPr/>
              <p:nvPr/>
            </p:nvGrpSpPr>
            <p:grpSpPr bwMode="auto">
              <a:xfrm>
                <a:off x="1008" y="0"/>
                <a:ext cx="96" cy="288"/>
                <a:chOff x="0" y="0"/>
                <a:chExt cx="96" cy="288"/>
              </a:xfrm>
            </p:grpSpPr>
            <p:sp>
              <p:nvSpPr>
                <p:cNvPr id="43" name="椭圆 353312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4" name="直接连接符 353313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353314"/>
              <p:cNvGrpSpPr/>
              <p:nvPr/>
            </p:nvGrpSpPr>
            <p:grpSpPr bwMode="auto">
              <a:xfrm>
                <a:off x="1200" y="0"/>
                <a:ext cx="96" cy="288"/>
                <a:chOff x="0" y="0"/>
                <a:chExt cx="96" cy="288"/>
              </a:xfrm>
            </p:grpSpPr>
            <p:sp>
              <p:nvSpPr>
                <p:cNvPr id="41" name="椭圆 353315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2" name="直接连接符 353316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353317"/>
              <p:cNvGrpSpPr/>
              <p:nvPr/>
            </p:nvGrpSpPr>
            <p:grpSpPr bwMode="auto">
              <a:xfrm>
                <a:off x="1392" y="0"/>
                <a:ext cx="96" cy="288"/>
                <a:chOff x="0" y="0"/>
                <a:chExt cx="96" cy="288"/>
              </a:xfrm>
            </p:grpSpPr>
            <p:sp>
              <p:nvSpPr>
                <p:cNvPr id="39" name="椭圆 353318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40" name="直接连接符 353319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353320"/>
              <p:cNvGrpSpPr/>
              <p:nvPr/>
            </p:nvGrpSpPr>
            <p:grpSpPr bwMode="auto">
              <a:xfrm flipV="1">
                <a:off x="1344" y="1056"/>
                <a:ext cx="96" cy="288"/>
                <a:chOff x="0" y="0"/>
                <a:chExt cx="96" cy="288"/>
              </a:xfrm>
            </p:grpSpPr>
            <p:sp>
              <p:nvSpPr>
                <p:cNvPr id="37" name="椭圆 353321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38" name="直接连接符 353322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353323"/>
              <p:cNvGrpSpPr/>
              <p:nvPr/>
            </p:nvGrpSpPr>
            <p:grpSpPr bwMode="auto">
              <a:xfrm flipV="1">
                <a:off x="1152" y="1056"/>
                <a:ext cx="96" cy="288"/>
                <a:chOff x="0" y="0"/>
                <a:chExt cx="96" cy="288"/>
              </a:xfrm>
            </p:grpSpPr>
            <p:sp>
              <p:nvSpPr>
                <p:cNvPr id="35" name="椭圆 353324"/>
                <p:cNvSpPr>
                  <a:spLocks noChangeArrowheads="1"/>
                </p:cNvSpPr>
                <p:nvPr/>
              </p:nvSpPr>
              <p:spPr bwMode="auto">
                <a:xfrm>
                  <a:off x="0" y="192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Font typeface="Arial" panose="020B0604020202020204" pitchFamily="34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36" name="直接连接符 353325"/>
                <p:cNvSpPr>
                  <a:spLocks noChangeShapeType="1"/>
                </p:cNvSpPr>
                <p:nvPr/>
              </p:nvSpPr>
              <p:spPr bwMode="auto">
                <a:xfrm>
                  <a:off x="48" y="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4" name="直接连接符 353326"/>
              <p:cNvSpPr>
                <a:spLocks noChangeShapeType="1"/>
              </p:cNvSpPr>
              <p:nvPr/>
            </p:nvSpPr>
            <p:spPr bwMode="auto">
              <a:xfrm>
                <a:off x="960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直接连接符 353327"/>
              <p:cNvSpPr>
                <a:spLocks noChangeShapeType="1"/>
              </p:cNvSpPr>
              <p:nvPr/>
            </p:nvSpPr>
            <p:spPr bwMode="auto">
              <a:xfrm>
                <a:off x="192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直接连接符 353328"/>
              <p:cNvSpPr>
                <a:spLocks noChangeShapeType="1"/>
              </p:cNvSpPr>
              <p:nvPr/>
            </p:nvSpPr>
            <p:spPr bwMode="auto">
              <a:xfrm>
                <a:off x="336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直接连接符 353329"/>
              <p:cNvSpPr>
                <a:spLocks noChangeShapeType="1"/>
              </p:cNvSpPr>
              <p:nvPr/>
            </p:nvSpPr>
            <p:spPr bwMode="auto">
              <a:xfrm>
                <a:off x="480" y="1056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矩形 353330"/>
              <p:cNvSpPr>
                <a:spLocks noChangeArrowheads="1"/>
              </p:cNvSpPr>
              <p:nvPr/>
            </p:nvSpPr>
            <p:spPr bwMode="auto">
              <a:xfrm>
                <a:off x="48" y="831"/>
                <a:ext cx="5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600" b="1">
                    <a:ea typeface="宋体" panose="02010600030101010101" pitchFamily="2" charset="-122"/>
                  </a:rPr>
                  <a:t>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2</a:t>
                </a:r>
                <a:r>
                  <a:rPr lang="en-US" altLang="zh-CN" sz="1600" b="1">
                    <a:ea typeface="宋体" panose="02010600030101010101" pitchFamily="2" charset="-122"/>
                  </a:rPr>
                  <a:t> 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1</a:t>
                </a:r>
                <a:r>
                  <a:rPr lang="en-US" altLang="zh-CN" sz="1600" b="1">
                    <a:ea typeface="宋体" panose="02010600030101010101" pitchFamily="2" charset="-122"/>
                  </a:rPr>
                  <a:t> A</a:t>
                </a:r>
                <a:r>
                  <a:rPr lang="en-US" altLang="zh-CN" sz="1600" b="1" baseline="-25000">
                    <a:ea typeface="宋体" panose="02010600030101010101" pitchFamily="2" charset="-122"/>
                  </a:rPr>
                  <a:t>0</a:t>
                </a:r>
                <a:endParaRPr lang="en-US" altLang="zh-CN" sz="1600" b="1">
                  <a:ea typeface="宋体" panose="02010600030101010101" pitchFamily="2" charset="-122"/>
                </a:endParaRPr>
              </a:p>
            </p:txBody>
          </p:sp>
          <p:sp>
            <p:nvSpPr>
              <p:cNvPr id="30" name="矩形 353331"/>
              <p:cNvSpPr>
                <a:spLocks noChangeArrowheads="1"/>
              </p:cNvSpPr>
              <p:nvPr/>
            </p:nvSpPr>
            <p:spPr bwMode="auto">
              <a:xfrm>
                <a:off x="816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A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1" name="矩形 353332"/>
              <p:cNvSpPr>
                <a:spLocks noChangeArrowheads="1"/>
              </p:cNvSpPr>
              <p:nvPr/>
            </p:nvSpPr>
            <p:spPr bwMode="auto">
              <a:xfrm>
                <a:off x="1056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B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2" name="矩形 353333"/>
              <p:cNvSpPr>
                <a:spLocks noChangeArrowheads="1"/>
              </p:cNvSpPr>
              <p:nvPr/>
            </p:nvSpPr>
            <p:spPr bwMode="auto">
              <a:xfrm>
                <a:off x="1248" y="864"/>
                <a:ext cx="2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1400" b="1" i="1">
                    <a:ea typeface="宋体" panose="02010600030101010101" pitchFamily="2" charset="-122"/>
                  </a:rPr>
                  <a:t>ST</a:t>
                </a:r>
                <a:r>
                  <a:rPr lang="en-US" altLang="zh-CN" sz="1400" b="1" i="1" baseline="-25000">
                    <a:ea typeface="宋体" panose="02010600030101010101" pitchFamily="2" charset="-122"/>
                  </a:rPr>
                  <a:t>C</a:t>
                </a:r>
                <a:endParaRPr lang="en-US" altLang="zh-CN" sz="1400" b="1" i="1" baseline="-25000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直接连接符 353334"/>
              <p:cNvSpPr>
                <a:spLocks noChangeShapeType="1"/>
              </p:cNvSpPr>
              <p:nvPr/>
            </p:nvSpPr>
            <p:spPr bwMode="auto">
              <a:xfrm>
                <a:off x="1104" y="91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直接连接符 353335"/>
              <p:cNvSpPr>
                <a:spLocks noChangeShapeType="1"/>
              </p:cNvSpPr>
              <p:nvPr/>
            </p:nvSpPr>
            <p:spPr bwMode="auto">
              <a:xfrm>
                <a:off x="1344" y="91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428751" y="4126469"/>
              <a:ext cx="1041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74LS138</a:t>
              </a:r>
              <a:endParaRPr lang="zh-CN" altLang="en-US" dirty="0"/>
            </a:p>
          </p:txBody>
        </p:sp>
      </p:grpSp>
      <p:sp>
        <p:nvSpPr>
          <p:cNvPr id="4" name="矩形 3"/>
          <p:cNvSpPr/>
          <p:nvPr/>
        </p:nvSpPr>
        <p:spPr>
          <a:xfrm>
            <a:off x="645063" y="1861749"/>
            <a:ext cx="2654847" cy="47570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&amp;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1889378" y="1760162"/>
            <a:ext cx="95395" cy="10158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5" name="直接连接符 54"/>
          <p:cNvCxnSpPr>
            <a:stCxn id="52" idx="0"/>
          </p:cNvCxnSpPr>
          <p:nvPr/>
        </p:nvCxnSpPr>
        <p:spPr>
          <a:xfrm flipV="1">
            <a:off x="3465192" y="2737905"/>
            <a:ext cx="0" cy="1157843"/>
          </a:xfrm>
          <a:prstGeom prst="line">
            <a:avLst/>
          </a:prstGeom>
          <a:ln w="22225">
            <a:solidFill>
              <a:schemeClr val="tx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3795105" y="2994215"/>
            <a:ext cx="3089" cy="901536"/>
          </a:xfrm>
          <a:prstGeom prst="line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 flipV="1">
            <a:off x="4126319" y="3264995"/>
            <a:ext cx="2" cy="6338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4456921" y="3494074"/>
            <a:ext cx="0" cy="46499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5448578" y="3726569"/>
            <a:ext cx="0" cy="183407"/>
          </a:xfrm>
          <a:prstGeom prst="line">
            <a:avLst/>
          </a:prstGeom>
          <a:ln w="19050">
            <a:solidFill>
              <a:schemeClr val="tx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1928609" y="1295171"/>
            <a:ext cx="0" cy="46499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6" idx="0"/>
            <a:endCxn id="38" idx="0"/>
          </p:cNvCxnSpPr>
          <p:nvPr/>
        </p:nvCxnSpPr>
        <p:spPr>
          <a:xfrm>
            <a:off x="5035374" y="6134624"/>
            <a:ext cx="33056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38" idx="0"/>
          </p:cNvCxnSpPr>
          <p:nvPr/>
        </p:nvCxnSpPr>
        <p:spPr>
          <a:xfrm>
            <a:off x="5365938" y="6134624"/>
            <a:ext cx="0" cy="242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241759" y="6377049"/>
            <a:ext cx="24835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4456142" y="6055781"/>
            <a:ext cx="328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73" name="文本框 72"/>
          <p:cNvSpPr txBox="1"/>
          <p:nvPr/>
        </p:nvSpPr>
        <p:spPr>
          <a:xfrm>
            <a:off x="3135778" y="6076596"/>
            <a:ext cx="1321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A</a:t>
            </a:r>
            <a:r>
              <a:rPr lang="en-US" altLang="zh-CN" sz="2000" b="1" baseline="-25000" dirty="0"/>
              <a:t>i </a:t>
            </a:r>
            <a:r>
              <a:rPr lang="en-US" altLang="zh-CN" sz="2000" b="1" dirty="0"/>
              <a:t>B</a:t>
            </a:r>
            <a:r>
              <a:rPr lang="en-US" altLang="zh-CN" sz="2000" b="1" baseline="-25000" dirty="0"/>
              <a:t>i </a:t>
            </a:r>
            <a:r>
              <a:rPr lang="en-US" altLang="zh-CN" sz="2000" b="1" dirty="0"/>
              <a:t>C</a:t>
            </a:r>
            <a:r>
              <a:rPr lang="en-US" altLang="zh-CN" sz="2000" b="1" baseline="-25000" dirty="0"/>
              <a:t>i</a:t>
            </a:r>
            <a:endParaRPr lang="zh-CN" altLang="en-US" sz="2000" b="1" baseline="-25000" dirty="0"/>
          </a:p>
        </p:txBody>
      </p:sp>
      <p:sp>
        <p:nvSpPr>
          <p:cNvPr id="74" name="文本框 73"/>
          <p:cNvSpPr txBox="1"/>
          <p:nvPr/>
        </p:nvSpPr>
        <p:spPr>
          <a:xfrm>
            <a:off x="1961643" y="1126560"/>
            <a:ext cx="469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</a:t>
            </a:r>
            <a:r>
              <a:rPr lang="en-US" altLang="zh-CN" sz="2400" b="1" baseline="-25000" dirty="0"/>
              <a:t>i</a:t>
            </a:r>
            <a:endParaRPr lang="zh-CN" altLang="en-US" sz="2400" b="1" baseline="-25000" dirty="0"/>
          </a:p>
        </p:txBody>
      </p:sp>
      <p:sp>
        <p:nvSpPr>
          <p:cNvPr id="66" name="矩形 65"/>
          <p:cNvSpPr/>
          <p:nvPr/>
        </p:nvSpPr>
        <p:spPr>
          <a:xfrm>
            <a:off x="4121155" y="1861749"/>
            <a:ext cx="2654847" cy="47570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</a:rPr>
              <a:t>&amp;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5365470" y="1760162"/>
            <a:ext cx="95395" cy="101587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68" name="直接连接符 67"/>
          <p:cNvCxnSpPr/>
          <p:nvPr/>
        </p:nvCxnSpPr>
        <p:spPr>
          <a:xfrm flipV="1">
            <a:off x="5404701" y="1295171"/>
            <a:ext cx="0" cy="46499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365470" y="1037636"/>
            <a:ext cx="1560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r>
              <a:rPr lang="en-US" altLang="zh-CN" sz="2400" b="1" baseline="-25000" dirty="0"/>
              <a:t>i+1</a:t>
            </a:r>
            <a:endParaRPr lang="zh-CN" altLang="en-US" sz="2400" b="1" baseline="-2500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930257" y="2337449"/>
            <a:ext cx="0" cy="4004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930257" y="2737905"/>
            <a:ext cx="377455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4698643" y="2337449"/>
            <a:ext cx="0" cy="4004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1394504" y="2994215"/>
            <a:ext cx="3774552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394504" y="2337449"/>
            <a:ext cx="0" cy="6567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>
            <a:off x="5149730" y="2337449"/>
            <a:ext cx="0" cy="6567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278072" y="3494074"/>
            <a:ext cx="2186057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2278072" y="2337449"/>
            <a:ext cx="0" cy="1156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 flipV="1">
            <a:off x="4121155" y="3253264"/>
            <a:ext cx="1713538" cy="1173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5823795" y="2337448"/>
            <a:ext cx="10898" cy="91581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V="1">
            <a:off x="2831339" y="3728716"/>
            <a:ext cx="3551842" cy="430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>
            <a:off x="6368443" y="2335061"/>
            <a:ext cx="14738" cy="13915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2816601" y="2344320"/>
            <a:ext cx="14738" cy="139150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640592" y="4194737"/>
            <a:ext cx="58135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 defTabSz="685800"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4" name="淘宝网chenying0907出品 3"/>
          <p:cNvSpPr/>
          <p:nvPr/>
        </p:nvSpPr>
        <p:spPr>
          <a:xfrm>
            <a:off x="0" y="2836879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淘宝网chenying0907出品 4"/>
          <p:cNvSpPr/>
          <p:nvPr/>
        </p:nvSpPr>
        <p:spPr>
          <a:xfrm>
            <a:off x="5791593" y="2836879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淘宝网chenying0907出品 7"/>
          <p:cNvSpPr/>
          <p:nvPr/>
        </p:nvSpPr>
        <p:spPr>
          <a:xfrm>
            <a:off x="6046706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6024907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10"/>
          <p:cNvSpPr/>
          <p:nvPr/>
        </p:nvSpPr>
        <p:spPr>
          <a:xfrm>
            <a:off x="6350718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淘宝网chenying0907出品 11"/>
          <p:cNvSpPr/>
          <p:nvPr/>
        </p:nvSpPr>
        <p:spPr>
          <a:xfrm>
            <a:off x="6676528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淘宝网chenying0907出品 12"/>
          <p:cNvSpPr/>
          <p:nvPr/>
        </p:nvSpPr>
        <p:spPr>
          <a:xfrm>
            <a:off x="6980540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淘宝网chenying0907出品 13"/>
          <p:cNvSpPr/>
          <p:nvPr/>
        </p:nvSpPr>
        <p:spPr>
          <a:xfrm>
            <a:off x="7284552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淘宝网chenying0907出品 14"/>
          <p:cNvSpPr/>
          <p:nvPr/>
        </p:nvSpPr>
        <p:spPr>
          <a:xfrm>
            <a:off x="7601497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淘宝网chenying0907出品 15"/>
          <p:cNvSpPr/>
          <p:nvPr/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淘宝网chenying0907出品 16"/>
          <p:cNvSpPr/>
          <p:nvPr/>
        </p:nvSpPr>
        <p:spPr>
          <a:xfrm rot="19779136">
            <a:off x="8519312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/>
        </p:nvCxnSpPr>
        <p:spPr>
          <a:xfrm>
            <a:off x="233314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33314" y="285101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3313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网chenying0907出品 21"/>
          <p:cNvSpPr txBox="1"/>
          <p:nvPr/>
        </p:nvSpPr>
        <p:spPr>
          <a:xfrm>
            <a:off x="1550954" y="3076800"/>
            <a:ext cx="2882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淘宝网chenying0907出品 22"/>
          <p:cNvSpPr txBox="1"/>
          <p:nvPr/>
        </p:nvSpPr>
        <p:spPr>
          <a:xfrm>
            <a:off x="651867" y="4297537"/>
            <a:ext cx="18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淘宝网chenying0907出品 23"/>
          <p:cNvSpPr txBox="1"/>
          <p:nvPr/>
        </p:nvSpPr>
        <p:spPr>
          <a:xfrm>
            <a:off x="2871046" y="4297537"/>
            <a:ext cx="271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962C8B-B14F-4D97-AF65-F5344CB8AC3E}" type="datetime1"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920434" y="301684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99"/>
            <a:ext cx="920433" cy="9204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3"/>
  <p:tag name="KSO_WPP_MARK_KEY" val="64a15e44-29ba-4000-b9f8-37f63ccc6de3"/>
  <p:tag name="COMMONDATA" val="eyJoZGlkIjoiMDM5Zjk4NTdiZmFhODE1YWE0OTMwYzI1MDRiNWU2OTYifQ=="/>
  <p:tag name="commondata" val="eyJoZGlkIjoiNDg3NzM1Mjc0YTM1YzBmZTFmNzkyMmIyZjRlNzBlMDQifQ=="/>
</p:tagLst>
</file>

<file path=ppt/theme/theme1.xml><?xml version="1.0" encoding="utf-8"?>
<a:theme xmlns:a="http://schemas.openxmlformats.org/drawingml/2006/main" name="第一PPT，www.1ppt.com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11981</Words>
  <Application>WPS 演示</Application>
  <PresentationFormat>全屏显示(4:3)</PresentationFormat>
  <Paragraphs>1228</Paragraphs>
  <Slides>52</Slides>
  <Notes>52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32</vt:i4>
      </vt:variant>
      <vt:variant>
        <vt:lpstr>幻灯片标题</vt:lpstr>
      </vt:variant>
      <vt:variant>
        <vt:i4>52</vt:i4>
      </vt:variant>
    </vt:vector>
  </HeadingPairs>
  <TitlesOfParts>
    <vt:vector size="108" baseType="lpstr">
      <vt:lpstr>Arial</vt:lpstr>
      <vt:lpstr>宋体</vt:lpstr>
      <vt:lpstr>Wingdings</vt:lpstr>
      <vt:lpstr>华文行楷</vt:lpstr>
      <vt:lpstr>微软雅黑</vt:lpstr>
      <vt:lpstr>Tahoma</vt:lpstr>
      <vt:lpstr>黑体</vt:lpstr>
      <vt:lpstr>Calibri</vt:lpstr>
      <vt:lpstr>Times New Roman</vt:lpstr>
      <vt:lpstr>华文仿宋</vt:lpstr>
      <vt:lpstr>Arial Unicode MS</vt:lpstr>
      <vt:lpstr>楷体_GB2312</vt:lpstr>
      <vt:lpstr>新宋体</vt:lpstr>
      <vt:lpstr>굴림</vt:lpstr>
      <vt:lpstr>Malgun Gothic</vt:lpstr>
      <vt:lpstr>隶书</vt:lpstr>
      <vt:lpstr>等线</vt:lpstr>
      <vt:lpstr>Arial</vt:lpstr>
      <vt:lpstr>Cambria Math</vt:lpstr>
      <vt:lpstr>Cambria Math</vt:lpstr>
      <vt:lpstr>DotumChe</vt:lpstr>
      <vt:lpstr>Wingdings 2</vt:lpstr>
      <vt:lpstr>Calibri Light</vt:lpstr>
      <vt:lpstr>第一PPT，www.1ppt.com</vt:lpstr>
      <vt:lpstr>Equation.3</vt:lpstr>
      <vt:lpstr>Visio.Drawing.11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Paint.Picture</vt:lpstr>
      <vt:lpstr>Equation.3</vt:lpstr>
      <vt:lpstr>Equation.3</vt:lpstr>
      <vt:lpstr>Equation.DSMT4</vt:lpstr>
      <vt:lpstr>Equation.DSMT4</vt:lpstr>
      <vt:lpstr>Visio.Drawing.6</vt:lpstr>
      <vt:lpstr>Equation.3</vt:lpstr>
      <vt:lpstr>Visio.Drawing.6</vt:lpstr>
      <vt:lpstr>Paint.Picture</vt:lpstr>
      <vt:lpstr>Paint.Picture</vt:lpstr>
      <vt:lpstr>MSPhotoEd.3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公开课开题报告</dc:title>
  <dc:creator>第一PPT模板网-WWW.1PPT.COM</dc:creator>
  <cp:keywords>第一PPT模板网-WWW.1PPT.COM</cp:keywords>
  <cp:lastModifiedBy>刘树波</cp:lastModifiedBy>
  <cp:revision>1845</cp:revision>
  <dcterms:created xsi:type="dcterms:W3CDTF">2016-04-09T13:02:00Z</dcterms:created>
  <dcterms:modified xsi:type="dcterms:W3CDTF">2024-01-11T03:47:36Z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2ED7A27A64014F6E8EC0B04A19614E13_12</vt:lpwstr>
  </property>
</Properties>
</file>