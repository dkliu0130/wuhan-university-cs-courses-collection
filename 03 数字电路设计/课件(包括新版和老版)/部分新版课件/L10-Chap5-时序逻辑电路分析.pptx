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86" r:id="rId3"/>
    <p:sldId id="571" r:id="rId5"/>
    <p:sldId id="667" r:id="rId6"/>
    <p:sldId id="606" r:id="rId7"/>
    <p:sldId id="627" r:id="rId8"/>
    <p:sldId id="629" r:id="rId9"/>
    <p:sldId id="630" r:id="rId10"/>
    <p:sldId id="628" r:id="rId11"/>
    <p:sldId id="631" r:id="rId12"/>
    <p:sldId id="632" r:id="rId13"/>
    <p:sldId id="633" r:id="rId14"/>
    <p:sldId id="634" r:id="rId15"/>
    <p:sldId id="635" r:id="rId16"/>
    <p:sldId id="636" r:id="rId17"/>
    <p:sldId id="644" r:id="rId18"/>
    <p:sldId id="646" r:id="rId19"/>
    <p:sldId id="645" r:id="rId20"/>
    <p:sldId id="647" r:id="rId21"/>
    <p:sldId id="648" r:id="rId22"/>
    <p:sldId id="649" r:id="rId23"/>
    <p:sldId id="650" r:id="rId24"/>
    <p:sldId id="651" r:id="rId25"/>
    <p:sldId id="652" r:id="rId26"/>
    <p:sldId id="653" r:id="rId27"/>
    <p:sldId id="660" r:id="rId28"/>
    <p:sldId id="654" r:id="rId29"/>
    <p:sldId id="655" r:id="rId30"/>
    <p:sldId id="656" r:id="rId31"/>
    <p:sldId id="657" r:id="rId32"/>
    <p:sldId id="659" r:id="rId33"/>
    <p:sldId id="658" r:id="rId34"/>
    <p:sldId id="661" r:id="rId35"/>
    <p:sldId id="662" r:id="rId36"/>
    <p:sldId id="670" r:id="rId37"/>
    <p:sldId id="671" r:id="rId38"/>
    <p:sldId id="672" r:id="rId39"/>
    <p:sldId id="673" r:id="rId40"/>
    <p:sldId id="674" r:id="rId41"/>
    <p:sldId id="675" r:id="rId42"/>
    <p:sldId id="676" r:id="rId43"/>
    <p:sldId id="677" r:id="rId44"/>
    <p:sldId id="678" r:id="rId45"/>
    <p:sldId id="679" r:id="rId46"/>
    <p:sldId id="680" r:id="rId47"/>
    <p:sldId id="681" r:id="rId48"/>
    <p:sldId id="682" r:id="rId49"/>
    <p:sldId id="683" r:id="rId50"/>
    <p:sldId id="279" r:id="rId51"/>
  </p:sldIdLst>
  <p:sldSz cx="9144000" cy="6858000" type="screen4x3"/>
  <p:notesSz cx="6858000" cy="9144000"/>
  <p:custDataLst>
    <p:tags r:id="rId5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170A8E"/>
    <a:srgbClr val="2B56F5"/>
    <a:srgbClr val="3CB871"/>
    <a:srgbClr val="CC9900"/>
    <a:srgbClr val="1F4E79"/>
    <a:srgbClr val="3D74A7"/>
    <a:srgbClr val="5B9BD5"/>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6279" autoAdjust="0"/>
  </p:normalViewPr>
  <p:slideViewPr>
    <p:cSldViewPr snapToGrid="0" showGuides="1">
      <p:cViewPr varScale="1">
        <p:scale>
          <a:sx n="86" d="100"/>
          <a:sy n="86" d="100"/>
        </p:scale>
        <p:origin x="-1524" y="-78"/>
      </p:cViewPr>
      <p:guideLst>
        <p:guide orient="horz" pos="2160"/>
        <p:guide pos="2880"/>
      </p:guideLst>
    </p:cSldViewPr>
  </p:slideViewPr>
  <p:notesTextViewPr>
    <p:cViewPr>
      <p:scale>
        <a:sx n="3" d="2"/>
        <a:sy n="3" d="2"/>
      </p:scale>
      <p:origin x="0" y="0"/>
    </p:cViewPr>
  </p:notesTextViewPr>
  <p:sorterViewPr>
    <p:cViewPr>
      <p:scale>
        <a:sx n="91" d="100"/>
        <a:sy n="91"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gs" Target="tags/tag19.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5.wmf"/><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5" Type="http://schemas.openxmlformats.org/officeDocument/2006/relationships/image" Target="../media/image23.png"/><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17.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17.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30.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33.wmf"/><Relationship Id="rId4" Type="http://schemas.openxmlformats.org/officeDocument/2006/relationships/image" Target="../media/image40.wmf"/><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2.wmf"/></Relationships>
</file>

<file path=ppt/drawings/_rels/vmlDrawing11.vml.rels><?xml version="1.0" encoding="UTF-8" standalone="yes"?>
<Relationships xmlns="http://schemas.openxmlformats.org/package/2006/relationships"><Relationship Id="rId4" Type="http://schemas.openxmlformats.org/officeDocument/2006/relationships/image" Target="../media/image48.wmf"/><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6.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48.wmf"/><Relationship Id="rId1" Type="http://schemas.openxmlformats.org/officeDocument/2006/relationships/image" Target="../media/image4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40.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48.wmf"/><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4" Type="http://schemas.openxmlformats.org/officeDocument/2006/relationships/image" Target="../media/image40.wmf"/><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74.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1.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1.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4.wmf"/><Relationship Id="rId1" Type="http://schemas.openxmlformats.org/officeDocument/2006/relationships/image" Target="../media/image7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01BD9-4243-4367-977C-650CCA5948F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CFBAA-4F33-4BF6-B348-50D59E4A3B0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7FACFBAA-4F33-4BF6-B348-50D59E4A3B07}"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宋体"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defTabSz="914400">
              <a:defRPr/>
            </a:pPr>
            <a:fld id="{7FACFBAA-4F33-4BF6-B348-50D59E4A3B07}"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FACFBAA-4F33-4BF6-B348-50D59E4A3B0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80C721-00F0-49A5-8986-DFDB39C600B4}" type="datetimeFigureOut">
              <a:rPr lang="zh-CN" altLang="en-US" smtClean="0"/>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1.xml"/><Relationship Id="rId20" Type="http://schemas.openxmlformats.org/officeDocument/2006/relationships/slideLayout" Target="../slideLayouts/slideLayout2.xml"/><Relationship Id="rId2" Type="http://schemas.openxmlformats.org/officeDocument/2006/relationships/tags" Target="../tags/tag2.xml"/><Relationship Id="rId19" Type="http://schemas.openxmlformats.org/officeDocument/2006/relationships/tags" Target="../tags/tag18.xml"/><Relationship Id="rId18" Type="http://schemas.openxmlformats.org/officeDocument/2006/relationships/image" Target="../media/image1.jpeg"/><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xml"/><Relationship Id="rId3" Type="http://schemas.openxmlformats.org/officeDocument/2006/relationships/slide" Target="slide11.xml"/><Relationship Id="rId2" Type="http://schemas.openxmlformats.org/officeDocument/2006/relationships/slide" Target="slide8.xml"/><Relationship Id="rId1"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xml"/><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vmlDrawing" Target="../drawings/vmlDrawing1.vml"/><Relationship Id="rId7" Type="http://schemas.openxmlformats.org/officeDocument/2006/relationships/slideLayout" Target="../slideLayouts/slideLayout1.xml"/><Relationship Id="rId6" Type="http://schemas.openxmlformats.org/officeDocument/2006/relationships/image" Target="../media/image11.wmf"/><Relationship Id="rId5" Type="http://schemas.openxmlformats.org/officeDocument/2006/relationships/oleObject" Target="../embeddings/oleObject2.bin"/><Relationship Id="rId4" Type="http://schemas.openxmlformats.org/officeDocument/2006/relationships/image" Target="../media/image10.wmf"/><Relationship Id="rId3" Type="http://schemas.openxmlformats.org/officeDocument/2006/relationships/oleObject" Target="../embeddings/oleObject1.bin"/><Relationship Id="rId2" Type="http://schemas.openxmlformats.org/officeDocument/2006/relationships/image" Target="../media/image3.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9" Type="http://schemas.openxmlformats.org/officeDocument/2006/relationships/image" Target="../media/image15.wmf"/><Relationship Id="rId8" Type="http://schemas.openxmlformats.org/officeDocument/2006/relationships/oleObject" Target="../embeddings/oleObject6.bin"/><Relationship Id="rId7" Type="http://schemas.openxmlformats.org/officeDocument/2006/relationships/image" Target="../media/image14.wmf"/><Relationship Id="rId6" Type="http://schemas.openxmlformats.org/officeDocument/2006/relationships/oleObject" Target="../embeddings/oleObject5.bin"/><Relationship Id="rId5" Type="http://schemas.openxmlformats.org/officeDocument/2006/relationships/image" Target="../media/image13.wmf"/><Relationship Id="rId4" Type="http://schemas.openxmlformats.org/officeDocument/2006/relationships/oleObject" Target="../embeddings/oleObject4.bin"/><Relationship Id="rId3" Type="http://schemas.openxmlformats.org/officeDocument/2006/relationships/image" Target="../media/image12.wmf"/><Relationship Id="rId2" Type="http://schemas.openxmlformats.org/officeDocument/2006/relationships/oleObject" Target="../embeddings/oleObject3.bin"/><Relationship Id="rId14" Type="http://schemas.openxmlformats.org/officeDocument/2006/relationships/notesSlide" Target="../notesSlides/notesSlide10.xml"/><Relationship Id="rId13" Type="http://schemas.openxmlformats.org/officeDocument/2006/relationships/vmlDrawing" Target="../drawings/vmlDrawing2.vml"/><Relationship Id="rId12" Type="http://schemas.openxmlformats.org/officeDocument/2006/relationships/slideLayout" Target="../slideLayouts/slideLayout1.xml"/><Relationship Id="rId11" Type="http://schemas.openxmlformats.org/officeDocument/2006/relationships/image" Target="../media/image16.emf"/><Relationship Id="rId10" Type="http://schemas.openxmlformats.org/officeDocument/2006/relationships/oleObject" Target="../embeddings/oleObject7.bin"/><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1.xml"/><Relationship Id="rId7" Type="http://schemas.openxmlformats.org/officeDocument/2006/relationships/image" Target="../media/image19.wmf"/><Relationship Id="rId6" Type="http://schemas.openxmlformats.org/officeDocument/2006/relationships/oleObject" Target="../embeddings/oleObject10.bin"/><Relationship Id="rId5" Type="http://schemas.openxmlformats.org/officeDocument/2006/relationships/image" Target="../media/image18.wmf"/><Relationship Id="rId4" Type="http://schemas.openxmlformats.org/officeDocument/2006/relationships/oleObject" Target="../embeddings/oleObject9.bin"/><Relationship Id="rId3" Type="http://schemas.openxmlformats.org/officeDocument/2006/relationships/image" Target="../media/image17.wmf"/><Relationship Id="rId2" Type="http://schemas.openxmlformats.org/officeDocument/2006/relationships/oleObject" Target="../embeddings/oleObject8.bin"/><Relationship Id="rId10" Type="http://schemas.openxmlformats.org/officeDocument/2006/relationships/notesSlide" Target="../notesSlides/notesSlide1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14.bin"/><Relationship Id="rId8" Type="http://schemas.openxmlformats.org/officeDocument/2006/relationships/image" Target="../media/image21.wmf"/><Relationship Id="rId7" Type="http://schemas.openxmlformats.org/officeDocument/2006/relationships/oleObject" Target="../embeddings/oleObject13.bin"/><Relationship Id="rId6" Type="http://schemas.openxmlformats.org/officeDocument/2006/relationships/image" Target="../media/image20.wmf"/><Relationship Id="rId5" Type="http://schemas.openxmlformats.org/officeDocument/2006/relationships/oleObject" Target="../embeddings/oleObject12.bin"/><Relationship Id="rId4" Type="http://schemas.openxmlformats.org/officeDocument/2006/relationships/image" Target="../media/image3.jpeg"/><Relationship Id="rId3" Type="http://schemas.openxmlformats.org/officeDocument/2006/relationships/image" Target="../media/image17.wmf"/><Relationship Id="rId2" Type="http://schemas.openxmlformats.org/officeDocument/2006/relationships/oleObject" Target="../embeddings/oleObject11.bin"/><Relationship Id="rId15" Type="http://schemas.openxmlformats.org/officeDocument/2006/relationships/notesSlide" Target="../notesSlides/notesSlide12.xml"/><Relationship Id="rId14" Type="http://schemas.openxmlformats.org/officeDocument/2006/relationships/vmlDrawing" Target="../drawings/vmlDrawing4.vml"/><Relationship Id="rId13" Type="http://schemas.openxmlformats.org/officeDocument/2006/relationships/slideLayout" Target="../slideLayouts/slideLayout1.xml"/><Relationship Id="rId12" Type="http://schemas.openxmlformats.org/officeDocument/2006/relationships/image" Target="../media/image23.png"/><Relationship Id="rId11" Type="http://schemas.openxmlformats.org/officeDocument/2006/relationships/oleObject" Target="../embeddings/oleObject15.bin"/><Relationship Id="rId10" Type="http://schemas.openxmlformats.org/officeDocument/2006/relationships/image" Target="../media/image22.wmf"/><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9" Type="http://schemas.openxmlformats.org/officeDocument/2006/relationships/image" Target="../media/image26.wmf"/><Relationship Id="rId8" Type="http://schemas.openxmlformats.org/officeDocument/2006/relationships/oleObject" Target="../embeddings/oleObject18.bin"/><Relationship Id="rId7" Type="http://schemas.openxmlformats.org/officeDocument/2006/relationships/image" Target="../media/image25.png"/><Relationship Id="rId6" Type="http://schemas.openxmlformats.org/officeDocument/2006/relationships/image" Target="../media/image3.jpeg"/><Relationship Id="rId5" Type="http://schemas.openxmlformats.org/officeDocument/2006/relationships/image" Target="../media/image17.wmf"/><Relationship Id="rId4" Type="http://schemas.openxmlformats.org/officeDocument/2006/relationships/oleObject" Target="../embeddings/oleObject17.bin"/><Relationship Id="rId3" Type="http://schemas.openxmlformats.org/officeDocument/2006/relationships/image" Target="../media/image24.wmf"/><Relationship Id="rId2" Type="http://schemas.openxmlformats.org/officeDocument/2006/relationships/oleObject" Target="../embeddings/oleObject16.bin"/><Relationship Id="rId12" Type="http://schemas.openxmlformats.org/officeDocument/2006/relationships/notesSlide" Target="../notesSlides/notesSlide13.xml"/><Relationship Id="rId11" Type="http://schemas.openxmlformats.org/officeDocument/2006/relationships/vmlDrawing" Target="../drawings/vmlDrawing5.v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1.xml"/><Relationship Id="rId7" Type="http://schemas.openxmlformats.org/officeDocument/2006/relationships/image" Target="../media/image28.png"/><Relationship Id="rId6" Type="http://schemas.openxmlformats.org/officeDocument/2006/relationships/image" Target="../media/image27.wmf"/><Relationship Id="rId5" Type="http://schemas.openxmlformats.org/officeDocument/2006/relationships/oleObject" Target="../embeddings/oleObject20.bin"/><Relationship Id="rId4" Type="http://schemas.openxmlformats.org/officeDocument/2006/relationships/image" Target="../media/image17.wmf"/><Relationship Id="rId3" Type="http://schemas.openxmlformats.org/officeDocument/2006/relationships/oleObject" Target="../embeddings/oleObject19.bin"/><Relationship Id="rId2" Type="http://schemas.openxmlformats.org/officeDocument/2006/relationships/image" Target="../media/image3.jpeg"/><Relationship Id="rId10" Type="http://schemas.openxmlformats.org/officeDocument/2006/relationships/notesSlide" Target="../notesSlides/notesSlide14.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slide" Target="slide11.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24.bin"/><Relationship Id="rId8" Type="http://schemas.openxmlformats.org/officeDocument/2006/relationships/image" Target="../media/image32.wmf"/><Relationship Id="rId7" Type="http://schemas.openxmlformats.org/officeDocument/2006/relationships/oleObject" Target="../embeddings/oleObject23.bin"/><Relationship Id="rId6" Type="http://schemas.openxmlformats.org/officeDocument/2006/relationships/image" Target="../media/image31.wmf"/><Relationship Id="rId5" Type="http://schemas.openxmlformats.org/officeDocument/2006/relationships/oleObject" Target="../embeddings/oleObject22.bin"/><Relationship Id="rId4" Type="http://schemas.openxmlformats.org/officeDocument/2006/relationships/image" Target="../media/image30.wmf"/><Relationship Id="rId3" Type="http://schemas.openxmlformats.org/officeDocument/2006/relationships/oleObject" Target="../embeddings/oleObject21.bin"/><Relationship Id="rId2" Type="http://schemas.openxmlformats.org/officeDocument/2006/relationships/image" Target="../media/image29.png"/><Relationship Id="rId13" Type="http://schemas.openxmlformats.org/officeDocument/2006/relationships/notesSlide" Target="../notesSlides/notesSlide19.xml"/><Relationship Id="rId12" Type="http://schemas.openxmlformats.org/officeDocument/2006/relationships/vmlDrawing" Target="../drawings/vmlDrawing7.vml"/><Relationship Id="rId11" Type="http://schemas.openxmlformats.org/officeDocument/2006/relationships/slideLayout" Target="../slideLayouts/slideLayout1.xml"/><Relationship Id="rId10" Type="http://schemas.openxmlformats.org/officeDocument/2006/relationships/image" Target="../media/image33.wmf"/><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9" Type="http://schemas.openxmlformats.org/officeDocument/2006/relationships/notesSlide" Target="../notesSlides/notesSlide20.xml"/><Relationship Id="rId8" Type="http://schemas.openxmlformats.org/officeDocument/2006/relationships/vmlDrawing" Target="../drawings/vmlDrawing8.vml"/><Relationship Id="rId7" Type="http://schemas.openxmlformats.org/officeDocument/2006/relationships/slideLayout" Target="../slideLayouts/slideLayout1.xml"/><Relationship Id="rId6" Type="http://schemas.openxmlformats.org/officeDocument/2006/relationships/image" Target="../media/image33.wmf"/><Relationship Id="rId5" Type="http://schemas.openxmlformats.org/officeDocument/2006/relationships/oleObject" Target="../embeddings/oleObject26.bin"/><Relationship Id="rId4" Type="http://schemas.openxmlformats.org/officeDocument/2006/relationships/image" Target="../media/image32.wmf"/><Relationship Id="rId3" Type="http://schemas.openxmlformats.org/officeDocument/2006/relationships/oleObject" Target="../embeddings/oleObject25.bin"/><Relationship Id="rId2" Type="http://schemas.openxmlformats.org/officeDocument/2006/relationships/image" Target="../media/image34.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vmlDrawing" Target="../drawings/vmlDrawing9.vml"/><Relationship Id="rId6" Type="http://schemas.openxmlformats.org/officeDocument/2006/relationships/slideLayout" Target="../slideLayouts/slideLayout1.xml"/><Relationship Id="rId5" Type="http://schemas.openxmlformats.org/officeDocument/2006/relationships/image" Target="../media/image33.wmf"/><Relationship Id="rId4" Type="http://schemas.openxmlformats.org/officeDocument/2006/relationships/oleObject" Target="../embeddings/oleObject27.bin"/><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9" Type="http://schemas.openxmlformats.org/officeDocument/2006/relationships/image" Target="../media/image40.wmf"/><Relationship Id="rId8" Type="http://schemas.openxmlformats.org/officeDocument/2006/relationships/oleObject" Target="../embeddings/oleObject31.bin"/><Relationship Id="rId7" Type="http://schemas.openxmlformats.org/officeDocument/2006/relationships/image" Target="../media/image39.wmf"/><Relationship Id="rId6" Type="http://schemas.openxmlformats.org/officeDocument/2006/relationships/oleObject" Target="../embeddings/oleObject30.bin"/><Relationship Id="rId5" Type="http://schemas.openxmlformats.org/officeDocument/2006/relationships/image" Target="../media/image38.wmf"/><Relationship Id="rId4" Type="http://schemas.openxmlformats.org/officeDocument/2006/relationships/oleObject" Target="../embeddings/oleObject29.bin"/><Relationship Id="rId3" Type="http://schemas.openxmlformats.org/officeDocument/2006/relationships/image" Target="../media/image32.wmf"/><Relationship Id="rId2" Type="http://schemas.openxmlformats.org/officeDocument/2006/relationships/oleObject" Target="../embeddings/oleObject28.bin"/><Relationship Id="rId17" Type="http://schemas.openxmlformats.org/officeDocument/2006/relationships/notesSlide" Target="../notesSlides/notesSlide23.xml"/><Relationship Id="rId16" Type="http://schemas.openxmlformats.org/officeDocument/2006/relationships/vmlDrawing" Target="../drawings/vmlDrawing10.vml"/><Relationship Id="rId15" Type="http://schemas.openxmlformats.org/officeDocument/2006/relationships/slideLayout" Target="../slideLayouts/slideLayout1.xml"/><Relationship Id="rId14" Type="http://schemas.openxmlformats.org/officeDocument/2006/relationships/image" Target="../media/image33.wmf"/><Relationship Id="rId13" Type="http://schemas.openxmlformats.org/officeDocument/2006/relationships/oleObject" Target="../embeddings/oleObject32.bin"/><Relationship Id="rId12" Type="http://schemas.openxmlformats.org/officeDocument/2006/relationships/image" Target="../media/image43.wmf"/><Relationship Id="rId11" Type="http://schemas.openxmlformats.org/officeDocument/2006/relationships/image" Target="../media/image42.wmf"/><Relationship Id="rId10" Type="http://schemas.openxmlformats.org/officeDocument/2006/relationships/image" Target="../media/image41.wmf"/><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7" Type="http://schemas.openxmlformats.org/officeDocument/2006/relationships/notesSlide" Target="../notesSlides/notesSlide24.xml"/><Relationship Id="rId6" Type="http://schemas.openxmlformats.org/officeDocument/2006/relationships/slideLayout" Target="../slideLayouts/slideLayout1.xml"/><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4.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xml"/><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36.bin"/><Relationship Id="rId8" Type="http://schemas.openxmlformats.org/officeDocument/2006/relationships/image" Target="../media/image47.wmf"/><Relationship Id="rId7" Type="http://schemas.openxmlformats.org/officeDocument/2006/relationships/oleObject" Target="../embeddings/oleObject35.bin"/><Relationship Id="rId6" Type="http://schemas.openxmlformats.org/officeDocument/2006/relationships/image" Target="../media/image46.wmf"/><Relationship Id="rId5" Type="http://schemas.openxmlformats.org/officeDocument/2006/relationships/oleObject" Target="../embeddings/oleObject34.bin"/><Relationship Id="rId4" Type="http://schemas.openxmlformats.org/officeDocument/2006/relationships/image" Target="../media/image45.png"/><Relationship Id="rId3" Type="http://schemas.openxmlformats.org/officeDocument/2006/relationships/image" Target="../media/image31.wmf"/><Relationship Id="rId2" Type="http://schemas.openxmlformats.org/officeDocument/2006/relationships/oleObject" Target="../embeddings/oleObject33.bin"/><Relationship Id="rId13" Type="http://schemas.openxmlformats.org/officeDocument/2006/relationships/notesSlide" Target="../notesSlides/notesSlide26.xml"/><Relationship Id="rId12" Type="http://schemas.openxmlformats.org/officeDocument/2006/relationships/vmlDrawing" Target="../drawings/vmlDrawing11.vml"/><Relationship Id="rId11" Type="http://schemas.openxmlformats.org/officeDocument/2006/relationships/slideLayout" Target="../slideLayouts/slideLayout1.xml"/><Relationship Id="rId10" Type="http://schemas.openxmlformats.org/officeDocument/2006/relationships/image" Target="../media/image48.wmf"/><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9" Type="http://schemas.openxmlformats.org/officeDocument/2006/relationships/image" Target="../media/image50.wmf"/><Relationship Id="rId8" Type="http://schemas.openxmlformats.org/officeDocument/2006/relationships/oleObject" Target="../embeddings/oleObject40.bin"/><Relationship Id="rId7" Type="http://schemas.openxmlformats.org/officeDocument/2006/relationships/image" Target="../media/image49.wmf"/><Relationship Id="rId6" Type="http://schemas.openxmlformats.org/officeDocument/2006/relationships/oleObject" Target="../embeddings/oleObject39.bin"/><Relationship Id="rId5" Type="http://schemas.openxmlformats.org/officeDocument/2006/relationships/image" Target="../media/image48.wmf"/><Relationship Id="rId4" Type="http://schemas.openxmlformats.org/officeDocument/2006/relationships/oleObject" Target="../embeddings/oleObject38.bin"/><Relationship Id="rId3" Type="http://schemas.openxmlformats.org/officeDocument/2006/relationships/image" Target="../media/image46.wmf"/><Relationship Id="rId2" Type="http://schemas.openxmlformats.org/officeDocument/2006/relationships/oleObject" Target="../embeddings/oleObject37.bin"/><Relationship Id="rId13" Type="http://schemas.openxmlformats.org/officeDocument/2006/relationships/notesSlide" Target="../notesSlides/notesSlide27.xml"/><Relationship Id="rId12" Type="http://schemas.openxmlformats.org/officeDocument/2006/relationships/vmlDrawing" Target="../drawings/vmlDrawing12.vml"/><Relationship Id="rId11" Type="http://schemas.openxmlformats.org/officeDocument/2006/relationships/slideLayout" Target="../slideLayouts/slideLayout1.xml"/><Relationship Id="rId10" Type="http://schemas.openxmlformats.org/officeDocument/2006/relationships/image" Target="../media/image51.png"/><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9" Type="http://schemas.openxmlformats.org/officeDocument/2006/relationships/image" Target="../media/image53.wmf"/><Relationship Id="rId8" Type="http://schemas.openxmlformats.org/officeDocument/2006/relationships/oleObject" Target="../embeddings/oleObject44.bin"/><Relationship Id="rId7" Type="http://schemas.openxmlformats.org/officeDocument/2006/relationships/image" Target="../media/image52.wmf"/><Relationship Id="rId6" Type="http://schemas.openxmlformats.org/officeDocument/2006/relationships/oleObject" Target="../embeddings/oleObject43.bin"/><Relationship Id="rId5" Type="http://schemas.openxmlformats.org/officeDocument/2006/relationships/image" Target="../media/image48.wmf"/><Relationship Id="rId4" Type="http://schemas.openxmlformats.org/officeDocument/2006/relationships/oleObject" Target="../embeddings/oleObject42.bin"/><Relationship Id="rId3" Type="http://schemas.openxmlformats.org/officeDocument/2006/relationships/image" Target="../media/image46.wmf"/><Relationship Id="rId2" Type="http://schemas.openxmlformats.org/officeDocument/2006/relationships/oleObject" Target="../embeddings/oleObject41.bin"/><Relationship Id="rId13" Type="http://schemas.openxmlformats.org/officeDocument/2006/relationships/notesSlide" Target="../notesSlides/notesSlide28.xml"/><Relationship Id="rId12" Type="http://schemas.openxmlformats.org/officeDocument/2006/relationships/vmlDrawing" Target="../drawings/vmlDrawing13.vml"/><Relationship Id="rId11" Type="http://schemas.openxmlformats.org/officeDocument/2006/relationships/slideLayout" Target="../slideLayouts/slideLayout1.xml"/><Relationship Id="rId10" Type="http://schemas.openxmlformats.org/officeDocument/2006/relationships/image" Target="../media/image54.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9" Type="http://schemas.openxmlformats.org/officeDocument/2006/relationships/notesSlide" Target="../notesSlides/notesSlide30.xml"/><Relationship Id="rId8" Type="http://schemas.openxmlformats.org/officeDocument/2006/relationships/vmlDrawing" Target="../drawings/vmlDrawing14.vml"/><Relationship Id="rId7" Type="http://schemas.openxmlformats.org/officeDocument/2006/relationships/slideLayout" Target="../slideLayouts/slideLayout1.xml"/><Relationship Id="rId6" Type="http://schemas.openxmlformats.org/officeDocument/2006/relationships/image" Target="../media/image46.wmf"/><Relationship Id="rId5" Type="http://schemas.openxmlformats.org/officeDocument/2006/relationships/oleObject" Target="../embeddings/oleObject45.bin"/><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9" Type="http://schemas.openxmlformats.org/officeDocument/2006/relationships/image" Target="../media/image61.wmf"/><Relationship Id="rId8" Type="http://schemas.openxmlformats.org/officeDocument/2006/relationships/oleObject" Target="../embeddings/oleObject49.bin"/><Relationship Id="rId7" Type="http://schemas.openxmlformats.org/officeDocument/2006/relationships/image" Target="../media/image60.wmf"/><Relationship Id="rId6" Type="http://schemas.openxmlformats.org/officeDocument/2006/relationships/oleObject" Target="../embeddings/oleObject48.bin"/><Relationship Id="rId5" Type="http://schemas.openxmlformats.org/officeDocument/2006/relationships/image" Target="../media/image48.wmf"/><Relationship Id="rId4" Type="http://schemas.openxmlformats.org/officeDocument/2006/relationships/oleObject" Target="../embeddings/oleObject47.bin"/><Relationship Id="rId3" Type="http://schemas.openxmlformats.org/officeDocument/2006/relationships/image" Target="../media/image46.wmf"/><Relationship Id="rId20" Type="http://schemas.openxmlformats.org/officeDocument/2006/relationships/notesSlide" Target="../notesSlides/notesSlide31.xml"/><Relationship Id="rId2" Type="http://schemas.openxmlformats.org/officeDocument/2006/relationships/oleObject" Target="../embeddings/oleObject46.bin"/><Relationship Id="rId19" Type="http://schemas.openxmlformats.org/officeDocument/2006/relationships/vmlDrawing" Target="../drawings/vmlDrawing15.vml"/><Relationship Id="rId18" Type="http://schemas.openxmlformats.org/officeDocument/2006/relationships/slideLayout" Target="../slideLayouts/slideLayout1.xml"/><Relationship Id="rId17" Type="http://schemas.openxmlformats.org/officeDocument/2006/relationships/image" Target="../media/image43.wmf"/><Relationship Id="rId16" Type="http://schemas.openxmlformats.org/officeDocument/2006/relationships/image" Target="../media/image65.wmf"/><Relationship Id="rId15" Type="http://schemas.openxmlformats.org/officeDocument/2006/relationships/image" Target="../media/image64.wmf"/><Relationship Id="rId14" Type="http://schemas.openxmlformats.org/officeDocument/2006/relationships/image" Target="../media/image63.wmf"/><Relationship Id="rId13" Type="http://schemas.openxmlformats.org/officeDocument/2006/relationships/image" Target="../media/image40.wmf"/><Relationship Id="rId12" Type="http://schemas.openxmlformats.org/officeDocument/2006/relationships/oleObject" Target="../embeddings/oleObject51.bin"/><Relationship Id="rId11" Type="http://schemas.openxmlformats.org/officeDocument/2006/relationships/image" Target="../media/image62.wmf"/><Relationship Id="rId10" Type="http://schemas.openxmlformats.org/officeDocument/2006/relationships/oleObject" Target="../embeddings/oleObject50.bin"/><Relationship Id="rId1" Type="http://schemas.openxmlformats.org/officeDocument/2006/relationships/image" Target="../media/image2.png"/></Relationships>
</file>

<file path=ppt/slides/_rels/slide32.x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oleObject" Target="../embeddings/oleObject54.bin"/><Relationship Id="rId7" Type="http://schemas.openxmlformats.org/officeDocument/2006/relationships/image" Target="../media/image61.wmf"/><Relationship Id="rId6" Type="http://schemas.openxmlformats.org/officeDocument/2006/relationships/oleObject" Target="../embeddings/oleObject53.bin"/><Relationship Id="rId5" Type="http://schemas.openxmlformats.org/officeDocument/2006/relationships/image" Target="../media/image60.wmf"/><Relationship Id="rId4" Type="http://schemas.openxmlformats.org/officeDocument/2006/relationships/oleObject" Target="../embeddings/oleObject52.bin"/><Relationship Id="rId3" Type="http://schemas.openxmlformats.org/officeDocument/2006/relationships/image" Target="../media/image58.png"/><Relationship Id="rId2" Type="http://schemas.openxmlformats.org/officeDocument/2006/relationships/image" Target="../media/image57.png"/><Relationship Id="rId19" Type="http://schemas.openxmlformats.org/officeDocument/2006/relationships/notesSlide" Target="../notesSlides/notesSlide32.xml"/><Relationship Id="rId18" Type="http://schemas.openxmlformats.org/officeDocument/2006/relationships/vmlDrawing" Target="../drawings/vmlDrawing16.vml"/><Relationship Id="rId17" Type="http://schemas.openxmlformats.org/officeDocument/2006/relationships/slideLayout" Target="../slideLayouts/slideLayout1.xml"/><Relationship Id="rId16" Type="http://schemas.openxmlformats.org/officeDocument/2006/relationships/image" Target="../media/image43.wmf"/><Relationship Id="rId15" Type="http://schemas.openxmlformats.org/officeDocument/2006/relationships/image" Target="../media/image65.wmf"/><Relationship Id="rId14" Type="http://schemas.openxmlformats.org/officeDocument/2006/relationships/image" Target="../media/image64.wmf"/><Relationship Id="rId13" Type="http://schemas.openxmlformats.org/officeDocument/2006/relationships/image" Target="../media/image63.wmf"/><Relationship Id="rId12" Type="http://schemas.openxmlformats.org/officeDocument/2006/relationships/image" Target="../media/image66.png"/><Relationship Id="rId11" Type="http://schemas.openxmlformats.org/officeDocument/2006/relationships/image" Target="../media/image40.wmf"/><Relationship Id="rId10" Type="http://schemas.openxmlformats.org/officeDocument/2006/relationships/oleObject" Target="../embeddings/oleObject55.bin"/><Relationship Id="rId1" Type="http://schemas.openxmlformats.org/officeDocument/2006/relationships/image" Target="../media/image2.png"/></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3.xml"/><Relationship Id="rId7"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43.wmf"/><Relationship Id="rId4" Type="http://schemas.openxmlformats.org/officeDocument/2006/relationships/image" Target="../media/image65.wmf"/><Relationship Id="rId3" Type="http://schemas.openxmlformats.org/officeDocument/2006/relationships/image" Target="../media/image64.wmf"/><Relationship Id="rId2" Type="http://schemas.openxmlformats.org/officeDocument/2006/relationships/image" Target="../media/image63.wmf"/><Relationship Id="rId1"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slide" Target="slide9.xml"/></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1.xml"/><Relationship Id="rId4" Type="http://schemas.openxmlformats.org/officeDocument/2006/relationships/image" Target="../media/image69.png"/><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image" Target="../media/image2.png"/></Relationships>
</file>

<file path=ppt/slides/_rels/slide39.xml.rels><?xml version="1.0" encoding="UTF-8" standalone="yes"?>
<Relationships xmlns="http://schemas.openxmlformats.org/package/2006/relationships"><Relationship Id="rId9" Type="http://schemas.openxmlformats.org/officeDocument/2006/relationships/image" Target="../media/image69.png"/><Relationship Id="rId8" Type="http://schemas.openxmlformats.org/officeDocument/2006/relationships/image" Target="../media/image73.png"/><Relationship Id="rId7" Type="http://schemas.openxmlformats.org/officeDocument/2006/relationships/image" Target="../media/image72.wmf"/><Relationship Id="rId6" Type="http://schemas.openxmlformats.org/officeDocument/2006/relationships/oleObject" Target="../embeddings/oleObject58.bin"/><Relationship Id="rId5" Type="http://schemas.openxmlformats.org/officeDocument/2006/relationships/image" Target="../media/image71.wmf"/><Relationship Id="rId4" Type="http://schemas.openxmlformats.org/officeDocument/2006/relationships/oleObject" Target="../embeddings/oleObject57.bin"/><Relationship Id="rId3" Type="http://schemas.openxmlformats.org/officeDocument/2006/relationships/image" Target="../media/image70.wmf"/><Relationship Id="rId2" Type="http://schemas.openxmlformats.org/officeDocument/2006/relationships/oleObject" Target="../embeddings/oleObject56.bin"/><Relationship Id="rId16" Type="http://schemas.openxmlformats.org/officeDocument/2006/relationships/notesSlide" Target="../notesSlides/notesSlide39.xml"/><Relationship Id="rId15" Type="http://schemas.openxmlformats.org/officeDocument/2006/relationships/vmlDrawing" Target="../drawings/vmlDrawing17.vml"/><Relationship Id="rId14" Type="http://schemas.openxmlformats.org/officeDocument/2006/relationships/slideLayout" Target="../slideLayouts/slideLayout1.xml"/><Relationship Id="rId13" Type="http://schemas.openxmlformats.org/officeDocument/2006/relationships/image" Target="../media/image76.png"/><Relationship Id="rId12" Type="http://schemas.openxmlformats.org/officeDocument/2006/relationships/image" Target="../media/image75.png"/><Relationship Id="rId11" Type="http://schemas.openxmlformats.org/officeDocument/2006/relationships/image" Target="../media/image74.wmf"/><Relationship Id="rId10" Type="http://schemas.openxmlformats.org/officeDocument/2006/relationships/oleObject" Target="../embeddings/oleObject59.bin"/><Relationship Id="rId1" Type="http://schemas.openxmlformats.org/officeDocument/2006/relationships/image" Target="../media/image2.png"/></Relationships>
</file>

<file path=ppt/slides/_rels/slide40.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75.png"/><Relationship Id="rId7" Type="http://schemas.openxmlformats.org/officeDocument/2006/relationships/image" Target="../media/image74.wmf"/><Relationship Id="rId6" Type="http://schemas.openxmlformats.org/officeDocument/2006/relationships/oleObject" Target="../embeddings/oleObject61.bin"/><Relationship Id="rId5" Type="http://schemas.openxmlformats.org/officeDocument/2006/relationships/image" Target="../media/image78.png"/><Relationship Id="rId4" Type="http://schemas.openxmlformats.org/officeDocument/2006/relationships/image" Target="../media/image77.png"/><Relationship Id="rId3" Type="http://schemas.openxmlformats.org/officeDocument/2006/relationships/image" Target="../media/image71.wmf"/><Relationship Id="rId2" Type="http://schemas.openxmlformats.org/officeDocument/2006/relationships/oleObject" Target="../embeddings/oleObject60.bin"/><Relationship Id="rId12" Type="http://schemas.openxmlformats.org/officeDocument/2006/relationships/notesSlide" Target="../notesSlides/notesSlide40.xml"/><Relationship Id="rId11" Type="http://schemas.openxmlformats.org/officeDocument/2006/relationships/vmlDrawing" Target="../drawings/vmlDrawing18.v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41.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75.png"/><Relationship Id="rId7" Type="http://schemas.openxmlformats.org/officeDocument/2006/relationships/image" Target="../media/image74.wmf"/><Relationship Id="rId6" Type="http://schemas.openxmlformats.org/officeDocument/2006/relationships/oleObject" Target="../embeddings/oleObject63.bin"/><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1.wmf"/><Relationship Id="rId2" Type="http://schemas.openxmlformats.org/officeDocument/2006/relationships/oleObject" Target="../embeddings/oleObject62.bin"/><Relationship Id="rId12" Type="http://schemas.openxmlformats.org/officeDocument/2006/relationships/notesSlide" Target="../notesSlides/notesSlide41.xml"/><Relationship Id="rId11" Type="http://schemas.openxmlformats.org/officeDocument/2006/relationships/vmlDrawing" Target="../drawings/vmlDrawing19.v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9" Type="http://schemas.openxmlformats.org/officeDocument/2006/relationships/image" Target="../media/image76.png"/><Relationship Id="rId8" Type="http://schemas.openxmlformats.org/officeDocument/2006/relationships/image" Target="../media/image75.png"/><Relationship Id="rId7" Type="http://schemas.openxmlformats.org/officeDocument/2006/relationships/image" Target="../media/image74.wmf"/><Relationship Id="rId6" Type="http://schemas.openxmlformats.org/officeDocument/2006/relationships/oleObject" Target="../embeddings/oleObject65.bin"/><Relationship Id="rId5" Type="http://schemas.openxmlformats.org/officeDocument/2006/relationships/image" Target="../media/image80.png"/><Relationship Id="rId4" Type="http://schemas.openxmlformats.org/officeDocument/2006/relationships/image" Target="../media/image79.png"/><Relationship Id="rId3" Type="http://schemas.openxmlformats.org/officeDocument/2006/relationships/image" Target="../media/image71.wmf"/><Relationship Id="rId2" Type="http://schemas.openxmlformats.org/officeDocument/2006/relationships/oleObject" Target="../embeddings/oleObject64.bin"/><Relationship Id="rId12" Type="http://schemas.openxmlformats.org/officeDocument/2006/relationships/notesSlide" Target="../notesSlides/notesSlide42.xml"/><Relationship Id="rId11" Type="http://schemas.openxmlformats.org/officeDocument/2006/relationships/vmlDrawing" Target="../drawings/vmlDrawing20.vml"/><Relationship Id="rId10" Type="http://schemas.openxmlformats.org/officeDocument/2006/relationships/slideLayout" Target="../slideLayouts/slideLayout1.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xml"/><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image" Target="../media/image2.png"/></Relationships>
</file>

<file path=ppt/slides/_rels/slide44.xml.rels><?xml version="1.0" encoding="UTF-8" standalone="yes"?>
<Relationships xmlns="http://schemas.openxmlformats.org/package/2006/relationships"><Relationship Id="rId5" Type="http://schemas.openxmlformats.org/officeDocument/2006/relationships/notesSlide" Target="../notesSlides/notesSlide44.xml"/><Relationship Id="rId4" Type="http://schemas.openxmlformats.org/officeDocument/2006/relationships/slideLayout" Target="../slideLayouts/slideLayout1.xml"/><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2.png"/></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xml"/><Relationship Id="rId3" Type="http://schemas.openxmlformats.org/officeDocument/2006/relationships/image" Target="../media/image85.png"/><Relationship Id="rId2" Type="http://schemas.openxmlformats.org/officeDocument/2006/relationships/image" Target="../media/image82.png"/><Relationship Id="rId1" Type="http://schemas.openxmlformats.org/officeDocument/2006/relationships/image" Target="../media/image2.png"/></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xml"/><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2.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7.xml"/><Relationship Id="rId3" Type="http://schemas.openxmlformats.org/officeDocument/2006/relationships/slideLayout" Target="../slideLayouts/slideLayout1.xml"/><Relationship Id="rId2" Type="http://schemas.openxmlformats.org/officeDocument/2006/relationships/image" Target="../media/image88.png"/><Relationship Id="rId1" Type="http://schemas.openxmlformats.org/officeDocument/2006/relationships/image" Target="../media/image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4" name="PA_淘宝网chenying0907出品 3"/>
          <p:cNvSpPr/>
          <p:nvPr>
            <p:custDataLst>
              <p:tags r:id="rId1"/>
            </p:custDataLst>
          </p:nvPr>
        </p:nvSpPr>
        <p:spPr>
          <a:xfrm>
            <a:off x="-1" y="2397913"/>
            <a:ext cx="217647" cy="383310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PA_淘宝网chenying0907出品 4"/>
          <p:cNvSpPr/>
          <p:nvPr>
            <p:custDataLst>
              <p:tags r:id="rId2"/>
            </p:custDataLst>
          </p:nvPr>
        </p:nvSpPr>
        <p:spPr>
          <a:xfrm>
            <a:off x="5767033" y="2397913"/>
            <a:ext cx="233315" cy="3833103"/>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PA_淘宝网chenying0907出品 7"/>
          <p:cNvSpPr/>
          <p:nvPr>
            <p:custDataLst>
              <p:tags r:id="rId3"/>
            </p:custDataLst>
          </p:nvPr>
        </p:nvSpPr>
        <p:spPr>
          <a:xfrm>
            <a:off x="6022146" y="4731873"/>
            <a:ext cx="289874" cy="1485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PA_直接连接符 9"/>
          <p:cNvCxnSpPr/>
          <p:nvPr>
            <p:custDataLst>
              <p:tags r:id="rId4"/>
            </p:custDataLst>
          </p:nvPr>
        </p:nvCxnSpPr>
        <p:spPr>
          <a:xfrm>
            <a:off x="6000349" y="6231015"/>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PA_淘宝网chenying0907出品 10"/>
          <p:cNvSpPr/>
          <p:nvPr>
            <p:custDataLst>
              <p:tags r:id="rId5"/>
            </p:custDataLst>
          </p:nvPr>
        </p:nvSpPr>
        <p:spPr>
          <a:xfrm>
            <a:off x="6326157" y="4785873"/>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PA_淘宝网chenying0907出品 11"/>
          <p:cNvSpPr/>
          <p:nvPr>
            <p:custDataLst>
              <p:tags r:id="rId6"/>
            </p:custDataLst>
          </p:nvPr>
        </p:nvSpPr>
        <p:spPr>
          <a:xfrm>
            <a:off x="6636177" y="4785873"/>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PA_淘宝网chenying0907出品 12"/>
          <p:cNvSpPr/>
          <p:nvPr>
            <p:custDataLst>
              <p:tags r:id="rId7"/>
            </p:custDataLst>
          </p:nvPr>
        </p:nvSpPr>
        <p:spPr>
          <a:xfrm>
            <a:off x="6940740" y="4812873"/>
            <a:ext cx="289874" cy="1404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PA_淘宝网chenying0907出品 13"/>
          <p:cNvSpPr/>
          <p:nvPr>
            <p:custDataLst>
              <p:tags r:id="rId8"/>
            </p:custDataLst>
          </p:nvPr>
        </p:nvSpPr>
        <p:spPr>
          <a:xfrm>
            <a:off x="7259991" y="4839873"/>
            <a:ext cx="289874" cy="1377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PA_淘宝网chenying0907出品 14"/>
          <p:cNvSpPr/>
          <p:nvPr>
            <p:custDataLst>
              <p:tags r:id="rId9"/>
            </p:custDataLst>
          </p:nvPr>
        </p:nvSpPr>
        <p:spPr>
          <a:xfrm>
            <a:off x="7576938" y="4866873"/>
            <a:ext cx="289874" cy="135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PA_淘宝网chenying0907出品 15"/>
          <p:cNvSpPr/>
          <p:nvPr>
            <p:custDataLst>
              <p:tags r:id="rId10"/>
            </p:custDataLst>
          </p:nvPr>
        </p:nvSpPr>
        <p:spPr>
          <a:xfrm rot="20959521">
            <a:off x="7984332" y="4905240"/>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PA_淘宝网chenying0907出品 16"/>
          <p:cNvSpPr/>
          <p:nvPr>
            <p:custDataLst>
              <p:tags r:id="rId11"/>
            </p:custDataLst>
          </p:nvPr>
        </p:nvSpPr>
        <p:spPr>
          <a:xfrm rot="19779136">
            <a:off x="8494752" y="4936437"/>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PA_直接连接符 17"/>
          <p:cNvCxnSpPr/>
          <p:nvPr>
            <p:custDataLst>
              <p:tags r:id="rId12"/>
            </p:custDataLst>
          </p:nvPr>
        </p:nvCxnSpPr>
        <p:spPr>
          <a:xfrm>
            <a:off x="208754" y="6231015"/>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PA_直接连接符 19"/>
          <p:cNvCxnSpPr/>
          <p:nvPr>
            <p:custDataLst>
              <p:tags r:id="rId13"/>
            </p:custDataLst>
          </p:nvPr>
        </p:nvCxnSpPr>
        <p:spPr>
          <a:xfrm>
            <a:off x="208752" y="2397913"/>
            <a:ext cx="5558280"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PA_直接连接符 20"/>
          <p:cNvCxnSpPr/>
          <p:nvPr>
            <p:custDataLst>
              <p:tags r:id="rId14"/>
            </p:custDataLst>
          </p:nvPr>
        </p:nvCxnSpPr>
        <p:spPr>
          <a:xfrm>
            <a:off x="208753" y="5680725"/>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PA_淘宝网chenying0907出品 21"/>
          <p:cNvSpPr txBox="1"/>
          <p:nvPr>
            <p:custDataLst>
              <p:tags r:id="rId15"/>
            </p:custDataLst>
          </p:nvPr>
        </p:nvSpPr>
        <p:spPr>
          <a:xfrm>
            <a:off x="426399" y="2392714"/>
            <a:ext cx="5271590" cy="2954655"/>
          </a:xfrm>
          <a:prstGeom prst="rect">
            <a:avLst/>
          </a:prstGeom>
          <a:noFill/>
        </p:spPr>
        <p:txBody>
          <a:bodyPr wrap="square" rtlCol="0">
            <a:spAutoFit/>
          </a:bodyPr>
          <a:lstStyle/>
          <a:p>
            <a:pPr algn="ctr"/>
            <a:r>
              <a:rPr lang="zh-CN" altLang="en-US" sz="4500" b="1" dirty="0">
                <a:solidFill>
                  <a:schemeClr val="accent1">
                    <a:lumMod val="50000"/>
                  </a:schemeClr>
                </a:solidFill>
                <a:latin typeface="微软雅黑" panose="020B0503020204020204" pitchFamily="34" charset="-122"/>
                <a:ea typeface="微软雅黑" panose="020B0503020204020204" pitchFamily="34" charset="-122"/>
              </a:rPr>
              <a:t>第五章  </a:t>
            </a:r>
            <a:endParaRPr lang="en-US" altLang="zh-CN" sz="4500" b="1" dirty="0">
              <a:solidFill>
                <a:schemeClr val="accent1">
                  <a:lumMod val="50000"/>
                </a:schemeClr>
              </a:solidFill>
              <a:latin typeface="微软雅黑" panose="020B0503020204020204" pitchFamily="34" charset="-122"/>
              <a:ea typeface="微软雅黑" panose="020B0503020204020204" pitchFamily="34" charset="-122"/>
            </a:endParaRPr>
          </a:p>
          <a:p>
            <a:pPr algn="ctr"/>
            <a:r>
              <a:rPr lang="zh-CN" altLang="en-US" sz="4500" b="1" dirty="0">
                <a:solidFill>
                  <a:schemeClr val="accent1">
                    <a:lumMod val="50000"/>
                  </a:schemeClr>
                </a:solidFill>
                <a:latin typeface="微软雅黑" panose="020B0503020204020204" pitchFamily="34" charset="-122"/>
                <a:ea typeface="微软雅黑" panose="020B0503020204020204" pitchFamily="34" charset="-122"/>
              </a:rPr>
              <a:t>时序逻辑电路</a:t>
            </a:r>
            <a:endParaRPr lang="en-US" altLang="zh-CN" sz="4500" b="1" dirty="0">
              <a:solidFill>
                <a:schemeClr val="accent1">
                  <a:lumMod val="50000"/>
                </a:schemeClr>
              </a:solidFill>
              <a:latin typeface="微软雅黑" panose="020B0503020204020204" pitchFamily="34" charset="-122"/>
              <a:ea typeface="微软雅黑" panose="020B0503020204020204" pitchFamily="34" charset="-122"/>
            </a:endParaRPr>
          </a:p>
          <a:p>
            <a:r>
              <a:rPr lang="en-US" altLang="zh-CN" sz="3200" b="1" dirty="0">
                <a:solidFill>
                  <a:schemeClr val="accent1">
                    <a:lumMod val="50000"/>
                  </a:schemeClr>
                </a:solidFill>
                <a:latin typeface="宋体" panose="02010600030101010101" pitchFamily="2" charset="-122"/>
                <a:ea typeface="宋体" panose="02010600030101010101" pitchFamily="2" charset="-122"/>
              </a:rPr>
              <a:t>	</a:t>
            </a:r>
            <a:endParaRPr lang="en-US" altLang="zh-CN" sz="3200" b="1" dirty="0">
              <a:solidFill>
                <a:schemeClr val="accent1">
                  <a:lumMod val="50000"/>
                </a:schemeClr>
              </a:solidFill>
              <a:latin typeface="宋体" panose="02010600030101010101" pitchFamily="2" charset="-122"/>
              <a:ea typeface="宋体" panose="02010600030101010101" pitchFamily="2" charset="-122"/>
            </a:endParaRPr>
          </a:p>
          <a:p>
            <a:r>
              <a:rPr lang="en-US" altLang="zh-CN" sz="3200" b="1" dirty="0">
                <a:solidFill>
                  <a:schemeClr val="accent1">
                    <a:lumMod val="50000"/>
                  </a:schemeClr>
                </a:solidFill>
                <a:latin typeface="宋体" panose="02010600030101010101" pitchFamily="2" charset="-122"/>
                <a:ea typeface="宋体" panose="02010600030101010101" pitchFamily="2" charset="-122"/>
              </a:rPr>
              <a:t>	5.2 </a:t>
            </a:r>
            <a:r>
              <a:rPr lang="zh-CN" altLang="en-US" sz="3200" b="1" dirty="0">
                <a:solidFill>
                  <a:schemeClr val="accent1">
                    <a:lumMod val="50000"/>
                  </a:schemeClr>
                </a:solidFill>
                <a:latin typeface="宋体" panose="02010600030101010101" pitchFamily="2" charset="-122"/>
                <a:ea typeface="宋体" panose="02010600030101010101" pitchFamily="2" charset="-122"/>
              </a:rPr>
              <a:t>集成触发器</a:t>
            </a:r>
            <a:endParaRPr lang="en-US" altLang="zh-CN" sz="3200" b="1" dirty="0">
              <a:solidFill>
                <a:schemeClr val="accent1">
                  <a:lumMod val="50000"/>
                </a:schemeClr>
              </a:solidFill>
              <a:latin typeface="宋体" panose="02010600030101010101" pitchFamily="2" charset="-122"/>
              <a:ea typeface="宋体" panose="02010600030101010101" pitchFamily="2" charset="-122"/>
            </a:endParaRPr>
          </a:p>
          <a:p>
            <a:r>
              <a:rPr lang="en-US" altLang="zh-CN" sz="3200" b="1" dirty="0">
                <a:solidFill>
                  <a:schemeClr val="accent1">
                    <a:lumMod val="50000"/>
                  </a:schemeClr>
                </a:solidFill>
                <a:latin typeface="宋体" panose="02010600030101010101" pitchFamily="2" charset="-122"/>
                <a:ea typeface="宋体" panose="02010600030101010101" pitchFamily="2" charset="-122"/>
              </a:rPr>
              <a:t>	5.3 </a:t>
            </a:r>
            <a:r>
              <a:rPr lang="zh-CN" altLang="en-US" sz="3200" b="1" dirty="0">
                <a:solidFill>
                  <a:schemeClr val="accent1">
                    <a:lumMod val="50000"/>
                  </a:schemeClr>
                </a:solidFill>
                <a:latin typeface="宋体" panose="02010600030101010101" pitchFamily="2" charset="-122"/>
                <a:ea typeface="宋体" panose="02010600030101010101" pitchFamily="2" charset="-122"/>
              </a:rPr>
              <a:t>时序逻辑电路的分析</a:t>
            </a:r>
            <a:endParaRPr lang="zh-CN" altLang="en-US" sz="3200" b="1" dirty="0">
              <a:solidFill>
                <a:schemeClr val="accent1">
                  <a:lumMod val="50000"/>
                </a:schemeClr>
              </a:solidFill>
              <a:latin typeface="宋体" panose="02010600030101010101" pitchFamily="2" charset="-122"/>
              <a:ea typeface="宋体" panose="02010600030101010101" pitchFamily="2" charset="-122"/>
            </a:endParaRPr>
          </a:p>
        </p:txBody>
      </p:sp>
      <p:sp>
        <p:nvSpPr>
          <p:cNvPr id="24" name="PA_淘宝网chenying0907出品 23"/>
          <p:cNvSpPr txBox="1"/>
          <p:nvPr>
            <p:custDataLst>
              <p:tags r:id="rId16"/>
            </p:custDataLst>
          </p:nvPr>
        </p:nvSpPr>
        <p:spPr>
          <a:xfrm>
            <a:off x="1150931" y="5800609"/>
            <a:ext cx="2210322"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武汉大学计算机学院</a:t>
            </a:r>
            <a:endParaRPr lang="zh-CN" altLang="en-US" sz="1600" b="1" dirty="0">
              <a:latin typeface="微软雅黑" panose="020B0503020204020204" pitchFamily="34" charset="-122"/>
              <a:ea typeface="微软雅黑" panose="020B0503020204020204" pitchFamily="34" charset="-122"/>
            </a:endParaRPr>
          </a:p>
        </p:txBody>
      </p:sp>
      <p:sp>
        <p:nvSpPr>
          <p:cNvPr id="26" name="PA_淘宝网chenying0907出品 25"/>
          <p:cNvSpPr txBox="1"/>
          <p:nvPr>
            <p:custDataLst>
              <p:tags r:id="rId17"/>
            </p:custDataLst>
          </p:nvPr>
        </p:nvSpPr>
        <p:spPr>
          <a:xfrm>
            <a:off x="1036047" y="424695"/>
            <a:ext cx="2085680" cy="707886"/>
          </a:xfrm>
          <a:prstGeom prst="rect">
            <a:avLst/>
          </a:prstGeom>
          <a:noFill/>
        </p:spPr>
        <p:txBody>
          <a:bodyPr wrap="square" rtlCol="0">
            <a:spAutoFit/>
          </a:bodyPr>
          <a:lstStyle/>
          <a:p>
            <a:r>
              <a:rPr lang="zh-CN" altLang="en-US" sz="2000" b="1" dirty="0">
                <a:latin typeface="华文行楷" panose="02010800040101010101" pitchFamily="2" charset="-122"/>
                <a:ea typeface="华文行楷" panose="02010800040101010101" pitchFamily="2" charset="-122"/>
              </a:rPr>
              <a:t>     武汉大学</a:t>
            </a:r>
            <a:endParaRPr lang="en-US" altLang="zh-CN" sz="2000" b="1" dirty="0">
              <a:latin typeface="华文行楷" panose="02010800040101010101" pitchFamily="2" charset="-122"/>
              <a:ea typeface="华文行楷" panose="02010800040101010101" pitchFamily="2" charset="-122"/>
            </a:endParaRPr>
          </a:p>
          <a:p>
            <a:r>
              <a:rPr lang="en-US" altLang="zh-CN" sz="2000" b="1" dirty="0">
                <a:latin typeface="华文行楷" panose="02010800040101010101" pitchFamily="2" charset="-122"/>
                <a:ea typeface="华文行楷" panose="02010800040101010101" pitchFamily="2" charset="-122"/>
              </a:rPr>
              <a:t>   Wuhan University</a:t>
            </a:r>
            <a:endParaRPr lang="zh-CN" altLang="en-US" sz="2000" b="1" dirty="0">
              <a:latin typeface="华文行楷" panose="02010800040101010101" pitchFamily="2" charset="-122"/>
              <a:ea typeface="华文行楷" panose="02010800040101010101" pitchFamily="2" charset="-122"/>
            </a:endParaRPr>
          </a:p>
        </p:txBody>
      </p:sp>
      <p:pic>
        <p:nvPicPr>
          <p:cNvPr id="3" name="图片 2"/>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0" y="0"/>
            <a:ext cx="1211379" cy="1211379"/>
          </a:xfrm>
          <a:prstGeom prst="rect">
            <a:avLst/>
          </a:prstGeom>
        </p:spPr>
      </p:pic>
      <p:sp>
        <p:nvSpPr>
          <p:cNvPr id="27" name="PA_淘宝网chenying0907出品 22"/>
          <p:cNvSpPr txBox="1"/>
          <p:nvPr>
            <p:custDataLst>
              <p:tags r:id="rId19"/>
            </p:custDataLst>
          </p:nvPr>
        </p:nvSpPr>
        <p:spPr>
          <a:xfrm>
            <a:off x="3254107" y="5800609"/>
            <a:ext cx="2371613" cy="337185"/>
          </a:xfrm>
          <a:prstGeom prst="rect">
            <a:avLst/>
          </a:prstGeom>
          <a:noFill/>
        </p:spPr>
        <p:txBody>
          <a:bodyPr wrap="square" rtlCol="0">
            <a:spAutoFit/>
          </a:bodyPr>
          <a:lstStyle/>
          <a:p>
            <a:r>
              <a:rPr lang="en-US" altLang="zh-CN" sz="1600" b="1">
                <a:latin typeface="微软雅黑" panose="020B0503020204020204" pitchFamily="34" charset="-122"/>
                <a:ea typeface="微软雅黑" panose="020B0503020204020204" pitchFamily="34" charset="-122"/>
                <a:sym typeface="+mn-ea"/>
              </a:rPr>
              <a:t>2023-2024</a:t>
            </a:r>
            <a:r>
              <a:rPr lang="zh-CN" altLang="en-US" sz="1600" b="1">
                <a:latin typeface="微软雅黑" panose="020B0503020204020204" pitchFamily="34" charset="-122"/>
                <a:ea typeface="微软雅黑" panose="020B0503020204020204" pitchFamily="34" charset="-122"/>
              </a:rPr>
              <a:t>第二学期</a:t>
            </a:r>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淘宝网chenying0907出品 10"/>
          <p:cNvSpPr txBox="1"/>
          <p:nvPr/>
        </p:nvSpPr>
        <p:spPr>
          <a:xfrm>
            <a:off x="1251284" y="3014625"/>
            <a:ext cx="1513792" cy="984885"/>
          </a:xfrm>
          <a:prstGeom prst="rect">
            <a:avLst/>
          </a:prstGeom>
          <a:noFill/>
        </p:spPr>
        <p:txBody>
          <a:bodyPr wrap="square" rtlCol="0">
            <a:spAutoFit/>
          </a:bodyPr>
          <a:lstStyle/>
          <a:p>
            <a:r>
              <a:rPr lang="zh-CN" altLang="en-US" sz="4000" b="1" dirty="0">
                <a:solidFill>
                  <a:schemeClr val="accent1">
                    <a:lumMod val="50000"/>
                  </a:schemeClr>
                </a:solidFill>
                <a:latin typeface="微软雅黑" panose="020B0503020204020204" pitchFamily="34" charset="-122"/>
                <a:ea typeface="微软雅黑" panose="020B0503020204020204" pitchFamily="34" charset="-122"/>
              </a:rPr>
              <a:t>目录</a:t>
            </a:r>
            <a:endParaRPr lang="en-US" altLang="zh-CN" sz="4000" b="1" dirty="0">
              <a:solidFill>
                <a:schemeClr val="accent1">
                  <a:lumMod val="50000"/>
                </a:schemeClr>
              </a:solidFill>
              <a:latin typeface="微软雅黑" panose="020B0503020204020204" pitchFamily="34" charset="-122"/>
              <a:ea typeface="微软雅黑" panose="020B0503020204020204" pitchFamily="34" charset="-122"/>
            </a:endParaRPr>
          </a:p>
          <a:p>
            <a:r>
              <a:rPr lang="en-US" altLang="zh-CN" b="1" dirty="0">
                <a:solidFill>
                  <a:schemeClr val="accent1">
                    <a:lumMod val="50000"/>
                  </a:schemeClr>
                </a:solidFill>
              </a:rPr>
              <a:t>Contents</a:t>
            </a:r>
            <a:endParaRPr lang="zh-CN" altLang="en-US" dirty="0">
              <a:solidFill>
                <a:schemeClr val="accent1">
                  <a:lumMod val="50000"/>
                </a:schemeClr>
              </a:solidFill>
            </a:endParaRPr>
          </a:p>
        </p:txBody>
      </p:sp>
      <p:sp>
        <p:nvSpPr>
          <p:cNvPr id="12" name="淘宝网chenying0907出品 11"/>
          <p:cNvSpPr/>
          <p:nvPr/>
        </p:nvSpPr>
        <p:spPr>
          <a:xfrm>
            <a:off x="3158834" y="-15801"/>
            <a:ext cx="5985166"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158833" y="15801"/>
            <a:ext cx="3386343" cy="240418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5827660" y="4362508"/>
            <a:ext cx="3316340" cy="24954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405821" y="1958322"/>
            <a:ext cx="4093074"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405821" y="2578212"/>
            <a:ext cx="3787733" cy="523220"/>
          </a:xfrm>
          <a:prstGeom prst="rect">
            <a:avLst/>
          </a:prstGeom>
          <a:noFill/>
        </p:spPr>
        <p:txBody>
          <a:bodyPr wrap="square" rtlCol="0">
            <a:spAutoFit/>
          </a:bodyPr>
          <a:lstStyle>
            <a:defPPr>
              <a:defRPr lang="en-US"/>
            </a:defPPr>
            <a:lvl1pP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集成触发器</a:t>
            </a:r>
            <a:endParaRPr lang="zh-CN" altLang="en-US" dirty="0"/>
          </a:p>
        </p:txBody>
      </p:sp>
      <p:sp>
        <p:nvSpPr>
          <p:cNvPr id="30" name="淘宝网chenying0907出品 29"/>
          <p:cNvSpPr txBox="1"/>
          <p:nvPr/>
        </p:nvSpPr>
        <p:spPr>
          <a:xfrm>
            <a:off x="4405821" y="3185725"/>
            <a:ext cx="3700500" cy="523220"/>
          </a:xfrm>
          <a:prstGeom prst="rect">
            <a:avLst/>
          </a:prstGeom>
          <a:noFill/>
        </p:spPr>
        <p:txBody>
          <a:bodyPr wrap="square" rtlCol="0">
            <a:spAutoFit/>
          </a:bodyPr>
          <a:lstStyle>
            <a:defPPr>
              <a:defRPr lang="zh-CN"/>
            </a:defPPr>
            <a:lvl1pPr>
              <a:defRPr sz="24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时序逻辑电路的分析</a:t>
            </a:r>
            <a:endParaRPr lang="zh-CN" altLang="en-US" sz="2800" dirty="0"/>
          </a:p>
        </p:txBody>
      </p:sp>
      <p:sp>
        <p:nvSpPr>
          <p:cNvPr id="17" name="淘宝网chenying0907出品 29"/>
          <p:cNvSpPr txBox="1"/>
          <p:nvPr/>
        </p:nvSpPr>
        <p:spPr>
          <a:xfrm>
            <a:off x="4405821" y="3828425"/>
            <a:ext cx="3700500"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时序逻辑电路的设计</a:t>
            </a:r>
            <a:endParaRPr lang="zh-CN" altLang="en-US" sz="2800" dirty="0"/>
          </a:p>
        </p:txBody>
      </p:sp>
      <p:sp>
        <p:nvSpPr>
          <p:cNvPr id="18" name="淘宝网chenying0907出品 29"/>
          <p:cNvSpPr txBox="1"/>
          <p:nvPr/>
        </p:nvSpPr>
        <p:spPr>
          <a:xfrm>
            <a:off x="4405821" y="4455665"/>
            <a:ext cx="4343207"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常用时序电路及其应用</a:t>
            </a:r>
            <a:endParaRPr lang="zh-CN"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0" name="淘宝网chenying0907出品 10"/>
          <p:cNvSpPr txBox="1"/>
          <p:nvPr/>
        </p:nvSpPr>
        <p:spPr>
          <a:xfrm>
            <a:off x="457533" y="364805"/>
            <a:ext cx="4114467" cy="646331"/>
          </a:xfrm>
          <a:prstGeom prst="rect">
            <a:avLst/>
          </a:prstGeom>
          <a:noFill/>
        </p:spPr>
        <p:txBody>
          <a:bodyPr wrap="square" rtlCol="0">
            <a:spAutoFit/>
          </a:bodyPr>
          <a:lstStyle/>
          <a:p>
            <a:r>
              <a:rPr lang="en-US" altLang="zh-CN" sz="3600" b="1" dirty="0">
                <a:solidFill>
                  <a:schemeClr val="accent1">
                    <a:lumMod val="50000"/>
                  </a:schemeClr>
                </a:solidFill>
                <a:latin typeface="微软雅黑" panose="020B0503020204020204" pitchFamily="34" charset="-122"/>
                <a:ea typeface="微软雅黑" panose="020B0503020204020204" pitchFamily="34" charset="-122"/>
              </a:rPr>
              <a:t>5.2   </a:t>
            </a:r>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集成触发器</a:t>
            </a:r>
            <a:endParaRPr lang="en-US" altLang="zh-CN" sz="3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11" name="Text Box 16">
            <a:hlinkClick r:id="rId1" action="ppaction://hlinksldjump"/>
          </p:cNvPr>
          <p:cNvSpPr txBox="1">
            <a:spLocks noChangeArrowheads="1"/>
          </p:cNvSpPr>
          <p:nvPr/>
        </p:nvSpPr>
        <p:spPr bwMode="auto">
          <a:xfrm>
            <a:off x="1841244" y="2242743"/>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t>基本</a:t>
            </a:r>
            <a:r>
              <a:rPr lang="en-US" altLang="zh-CN" dirty="0"/>
              <a:t>R-S</a:t>
            </a:r>
            <a:r>
              <a:rPr lang="zh-CN" altLang="en-US" dirty="0"/>
              <a:t>触发器</a:t>
            </a:r>
            <a:endParaRPr lang="zh-CN" altLang="en-US" dirty="0"/>
          </a:p>
        </p:txBody>
      </p:sp>
      <p:sp>
        <p:nvSpPr>
          <p:cNvPr id="13" name="Text Box 30">
            <a:hlinkClick r:id="rId2" action="ppaction://hlinksldjump"/>
          </p:cNvPr>
          <p:cNvSpPr txBox="1">
            <a:spLocks noChangeArrowheads="1"/>
          </p:cNvSpPr>
          <p:nvPr/>
        </p:nvSpPr>
        <p:spPr bwMode="auto">
          <a:xfrm>
            <a:off x="1841244" y="2880049"/>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t>电平触发的触发器</a:t>
            </a:r>
            <a:endParaRPr lang="zh-CN" altLang="en-US" dirty="0"/>
          </a:p>
        </p:txBody>
      </p:sp>
      <p:sp>
        <p:nvSpPr>
          <p:cNvPr id="14" name="Text Box 43">
            <a:hlinkClick r:id="rId1" action="ppaction://hlinksldjump"/>
          </p:cNvPr>
          <p:cNvSpPr txBox="1">
            <a:spLocks noChangeArrowheads="1"/>
          </p:cNvSpPr>
          <p:nvPr/>
        </p:nvSpPr>
        <p:spPr bwMode="auto">
          <a:xfrm>
            <a:off x="1841244" y="1574728"/>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t>概述</a:t>
            </a:r>
            <a:endParaRPr lang="zh-CN" altLang="en-US" dirty="0"/>
          </a:p>
        </p:txBody>
      </p:sp>
      <p:sp>
        <p:nvSpPr>
          <p:cNvPr id="15" name="Text Box 68"/>
          <p:cNvSpPr txBox="1">
            <a:spLocks noChangeArrowheads="1"/>
          </p:cNvSpPr>
          <p:nvPr/>
        </p:nvSpPr>
        <p:spPr bwMode="auto">
          <a:xfrm>
            <a:off x="1977093" y="4859748"/>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endParaRPr lang="zh-CN" altLang="en-US" sz="3200" b="1">
              <a:solidFill>
                <a:schemeClr val="bg2">
                  <a:lumMod val="75000"/>
                </a:schemeClr>
              </a:solidFill>
              <a:latin typeface="楷体_GB2312" pitchFamily="49" charset="-122"/>
            </a:endParaRPr>
          </a:p>
        </p:txBody>
      </p:sp>
      <p:sp>
        <p:nvSpPr>
          <p:cNvPr id="16" name="Text Box 86">
            <a:hlinkClick r:id="rId3" action="ppaction://hlinksldjump"/>
          </p:cNvPr>
          <p:cNvSpPr txBox="1">
            <a:spLocks noChangeArrowheads="1"/>
          </p:cNvSpPr>
          <p:nvPr/>
        </p:nvSpPr>
        <p:spPr bwMode="auto">
          <a:xfrm>
            <a:off x="1841244" y="3551246"/>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latin typeface="楷体_GB2312" pitchFamily="49" charset="-122"/>
              </a:defRPr>
            </a:lvl1pPr>
          </a:lstStyle>
          <a:p>
            <a:r>
              <a:rPr lang="zh-CN" altLang="en-US" dirty="0"/>
              <a:t>边沿触发的触发器</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边沿触发的触发器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2" name="Rectangle 4"/>
          <p:cNvSpPr>
            <a:spLocks noChangeArrowheads="1"/>
          </p:cNvSpPr>
          <p:nvPr/>
        </p:nvSpPr>
        <p:spPr bwMode="auto">
          <a:xfrm>
            <a:off x="408928" y="1503364"/>
            <a:ext cx="7883966" cy="3092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marL="0" indent="0" defTabSz="914400" eaLnBrk="1" fontAlgn="base" hangingPunct="1">
              <a:lnSpc>
                <a:spcPct val="120000"/>
              </a:lnSpc>
              <a:spcBef>
                <a:spcPct val="0"/>
              </a:spcBef>
              <a:spcAft>
                <a:spcPct val="20000"/>
              </a:spcAft>
              <a:buClr>
                <a:srgbClr val="3333CC"/>
              </a:buClr>
              <a:buSzPct val="60000"/>
            </a:pPr>
            <a:r>
              <a:rPr lang="zh-CN" altLang="en-US" sz="3200" b="1" dirty="0">
                <a:solidFill>
                  <a:srgbClr val="0000FF"/>
                </a:solidFill>
                <a:latin typeface="黑体" panose="02010609060101010101" pitchFamily="49" charset="-122"/>
                <a:ea typeface="黑体" panose="02010609060101010101" pitchFamily="49" charset="-122"/>
              </a:rPr>
              <a:t>边沿触发</a:t>
            </a:r>
            <a:r>
              <a:rPr lang="en-US" altLang="zh-CN" sz="3200" b="1" dirty="0">
                <a:solidFill>
                  <a:srgbClr val="0000FF"/>
                </a:solidFill>
                <a:latin typeface="黑体" panose="02010609060101010101" pitchFamily="49" charset="-122"/>
                <a:ea typeface="黑体" panose="02010609060101010101" pitchFamily="49" charset="-122"/>
              </a:rPr>
              <a:t> </a:t>
            </a:r>
            <a:endParaRPr lang="en-US" altLang="zh-CN" sz="3200" b="1" dirty="0">
              <a:solidFill>
                <a:srgbClr val="0000FF"/>
              </a:solidFill>
              <a:latin typeface="黑体" panose="02010609060101010101" pitchFamily="49" charset="-122"/>
              <a:ea typeface="黑体" panose="02010609060101010101" pitchFamily="49" charset="-122"/>
            </a:endParaRPr>
          </a:p>
          <a:p>
            <a:pPr defTabSz="914400" eaLnBrk="1" fontAlgn="base" hangingPunct="1">
              <a:lnSpc>
                <a:spcPct val="150000"/>
              </a:lnSpc>
              <a:spcBef>
                <a:spcPct val="0"/>
              </a:spcBef>
              <a:spcAft>
                <a:spcPts val="600"/>
              </a:spcAft>
              <a:buClr>
                <a:srgbClr val="3333CC"/>
              </a:buClr>
              <a:buSzPct val="60000"/>
              <a:buFont typeface="Wingdings" panose="05000000000000000000" pitchFamily="2" charset="2"/>
              <a:buChar char="Ø"/>
            </a:pPr>
            <a:r>
              <a:rPr lang="zh-CN" altLang="en-US" b="1" dirty="0">
                <a:solidFill>
                  <a:srgbClr val="000000"/>
                </a:solidFill>
                <a:latin typeface="Times New Roman" panose="02020603050405020304" pitchFamily="18" charset="0"/>
                <a:ea typeface="楷体_GB2312" pitchFamily="49" charset="-122"/>
              </a:rPr>
              <a:t>只在时钟信号的某一</a:t>
            </a:r>
            <a:r>
              <a:rPr lang="zh-CN" altLang="en-US" b="1" dirty="0">
                <a:solidFill>
                  <a:srgbClr val="FF0000"/>
                </a:solidFill>
                <a:latin typeface="Times New Roman" panose="02020603050405020304" pitchFamily="18" charset="0"/>
                <a:ea typeface="楷体_GB2312" pitchFamily="49" charset="-122"/>
              </a:rPr>
              <a:t>边沿</a:t>
            </a:r>
            <a:r>
              <a:rPr lang="zh-CN" altLang="en-US" b="1" dirty="0">
                <a:solidFill>
                  <a:srgbClr val="000000"/>
                </a:solidFill>
                <a:latin typeface="Times New Roman" panose="02020603050405020304" pitchFamily="18" charset="0"/>
                <a:ea typeface="楷体_GB2312" pitchFamily="49" charset="-122"/>
              </a:rPr>
              <a:t>（</a:t>
            </a:r>
            <a:r>
              <a:rPr lang="en-US" altLang="zh-CN" b="1" dirty="0">
                <a:solidFill>
                  <a:srgbClr val="000000"/>
                </a:solidFill>
                <a:latin typeface="Times New Roman" panose="02020603050405020304" pitchFamily="18" charset="0"/>
                <a:ea typeface="楷体_GB2312" pitchFamily="49" charset="-122"/>
              </a:rPr>
              <a:t>CP↑</a:t>
            </a:r>
            <a:r>
              <a:rPr lang="zh-CN" altLang="en-US" b="1" dirty="0">
                <a:solidFill>
                  <a:srgbClr val="000000"/>
                </a:solidFill>
                <a:latin typeface="Times New Roman" panose="02020603050405020304" pitchFamily="18" charset="0"/>
                <a:ea typeface="楷体_GB2312" pitchFamily="49" charset="-122"/>
              </a:rPr>
              <a:t>或</a:t>
            </a:r>
            <a:r>
              <a:rPr lang="en-US" altLang="zh-CN" b="1" dirty="0">
                <a:solidFill>
                  <a:srgbClr val="000000"/>
                </a:solidFill>
                <a:latin typeface="Times New Roman" panose="02020603050405020304" pitchFamily="18" charset="0"/>
                <a:ea typeface="楷体_GB2312" pitchFamily="49" charset="-122"/>
              </a:rPr>
              <a:t>CP↓</a:t>
            </a:r>
            <a:r>
              <a:rPr lang="zh-CN" altLang="en-US" b="1" dirty="0">
                <a:solidFill>
                  <a:srgbClr val="000000"/>
                </a:solidFill>
                <a:latin typeface="Times New Roman" panose="02020603050405020304" pitchFamily="18" charset="0"/>
                <a:ea typeface="楷体_GB2312" pitchFamily="49" charset="-122"/>
              </a:rPr>
              <a:t>）对输入信号作出响应并引起触发器状态变化</a:t>
            </a:r>
            <a:endParaRPr lang="en-US" altLang="zh-CN" b="1" dirty="0">
              <a:solidFill>
                <a:srgbClr val="000000"/>
              </a:solidFill>
              <a:latin typeface="Times New Roman" panose="02020603050405020304" pitchFamily="18" charset="0"/>
              <a:ea typeface="楷体_GB2312" pitchFamily="49" charset="-122"/>
            </a:endParaRPr>
          </a:p>
          <a:p>
            <a:pPr defTabSz="914400" eaLnBrk="1" fontAlgn="base" hangingPunct="1">
              <a:lnSpc>
                <a:spcPct val="150000"/>
              </a:lnSpc>
              <a:spcBef>
                <a:spcPct val="0"/>
              </a:spcBef>
              <a:buClr>
                <a:srgbClr val="3333CC"/>
              </a:buClr>
              <a:buSzPct val="60000"/>
              <a:buFont typeface="Wingdings" panose="05000000000000000000" pitchFamily="2" charset="2"/>
              <a:buChar char="Ø"/>
            </a:pPr>
            <a:r>
              <a:rPr lang="zh-CN" altLang="en-US" b="1" dirty="0">
                <a:latin typeface="Times New Roman" panose="02020603050405020304" pitchFamily="18" charset="0"/>
                <a:ea typeface="楷体_GB2312" pitchFamily="49" charset="-122"/>
              </a:rPr>
              <a:t>只有时钟</a:t>
            </a:r>
            <a:r>
              <a:rPr lang="zh-CN" altLang="en-US" b="1" dirty="0">
                <a:solidFill>
                  <a:srgbClr val="FF0000"/>
                </a:solidFill>
                <a:latin typeface="Times New Roman" panose="02020603050405020304" pitchFamily="18" charset="0"/>
                <a:ea typeface="楷体_GB2312" pitchFamily="49" charset="-122"/>
              </a:rPr>
              <a:t>有效边沿之前瞬间</a:t>
            </a:r>
            <a:r>
              <a:rPr lang="zh-CN" altLang="en-US" b="1" dirty="0">
                <a:latin typeface="Times New Roman" panose="02020603050405020304" pitchFamily="18" charset="0"/>
                <a:ea typeface="楷体_GB2312" pitchFamily="49" charset="-122"/>
              </a:rPr>
              <a:t>的输入信号才真正有效</a:t>
            </a:r>
            <a:r>
              <a:rPr lang="zh-CN" altLang="en-US" b="1" dirty="0">
                <a:solidFill>
                  <a:srgbClr val="000000"/>
                </a:solidFill>
                <a:latin typeface="Times New Roman" panose="02020603050405020304" pitchFamily="18" charset="0"/>
                <a:ea typeface="楷体_GB2312" pitchFamily="49" charset="-122"/>
              </a:rPr>
              <a:t>，其它时间的输入不影响触发器输出，提高了抗干扰能力 </a:t>
            </a:r>
            <a:endParaRPr lang="zh-CN" altLang="en-US" b="1" dirty="0">
              <a:solidFill>
                <a:srgbClr val="000000"/>
              </a:solidFill>
              <a:latin typeface="Times New Roman" panose="02020603050405020304" pitchFamily="18" charset="0"/>
              <a:ea typeface="楷体_GB2312" pitchFamily="49" charset="-122"/>
            </a:endParaRPr>
          </a:p>
          <a:p>
            <a:pPr marL="0" indent="0" defTabSz="914400" eaLnBrk="1" fontAlgn="base" hangingPunct="1">
              <a:lnSpc>
                <a:spcPct val="120000"/>
              </a:lnSpc>
              <a:spcBef>
                <a:spcPct val="0"/>
              </a:spcBef>
              <a:spcAft>
                <a:spcPct val="20000"/>
              </a:spcAft>
              <a:buClr>
                <a:srgbClr val="3333CC"/>
              </a:buClr>
              <a:buSzPct val="60000"/>
            </a:pPr>
            <a:endParaRPr lang="zh-CN" altLang="en-US" b="1" dirty="0">
              <a:solidFill>
                <a:srgbClr val="000000"/>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边沿触发的触发器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21" name="Text Box 46" descr="花束"/>
          <p:cNvSpPr txBox="1">
            <a:spLocks noChangeArrowheads="1"/>
          </p:cNvSpPr>
          <p:nvPr/>
        </p:nvSpPr>
        <p:spPr bwMode="auto">
          <a:xfrm>
            <a:off x="192570" y="603621"/>
            <a:ext cx="3189397"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边沿</a:t>
            </a:r>
            <a:r>
              <a:rPr kumimoji="1" lang="en-US" altLang="zh-CN" sz="2800" b="1" dirty="0">
                <a:solidFill>
                  <a:srgbClr val="0000FF"/>
                </a:solidFill>
                <a:latin typeface="Times New Roman" panose="02020603050405020304" pitchFamily="18" charset="0"/>
                <a:ea typeface="长城楷体" pitchFamily="1" charset="-122"/>
              </a:rPr>
              <a:t>D</a:t>
            </a:r>
            <a:r>
              <a:rPr kumimoji="1" lang="zh-CN" altLang="en-US" sz="2800" b="1" dirty="0">
                <a:solidFill>
                  <a:srgbClr val="0000FF"/>
                </a:solidFill>
                <a:latin typeface="Times New Roman" panose="02020603050405020304" pitchFamily="18" charset="0"/>
                <a:ea typeface="长城楷体" pitchFamily="1" charset="-122"/>
              </a:rPr>
              <a:t>触发器</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329" name="Rectangle 4"/>
          <p:cNvSpPr>
            <a:spLocks noChangeArrowheads="1"/>
          </p:cNvSpPr>
          <p:nvPr/>
        </p:nvSpPr>
        <p:spPr bwMode="auto">
          <a:xfrm>
            <a:off x="3723159" y="603621"/>
            <a:ext cx="22247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1.  </a:t>
            </a:r>
            <a:r>
              <a:rPr lang="zh-CN" altLang="en-US"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基本结构</a:t>
            </a:r>
            <a:endParaRPr lang="zh-CN" altLang="en-US" sz="3200" b="1" dirty="0">
              <a:solidFill>
                <a:schemeClr val="tx2"/>
              </a:solidFill>
              <a:latin typeface="Tahoma" panose="020B0604030504040204" pitchFamily="34" charset="0"/>
            </a:endParaRPr>
          </a:p>
        </p:txBody>
      </p:sp>
      <p:grpSp>
        <p:nvGrpSpPr>
          <p:cNvPr id="168" name="Group 155"/>
          <p:cNvGrpSpPr/>
          <p:nvPr/>
        </p:nvGrpSpPr>
        <p:grpSpPr bwMode="auto">
          <a:xfrm>
            <a:off x="4708398" y="2132877"/>
            <a:ext cx="3822311" cy="2329096"/>
            <a:chOff x="4218" y="2448"/>
            <a:chExt cx="1403" cy="822"/>
          </a:xfrm>
        </p:grpSpPr>
        <p:sp>
          <p:nvSpPr>
            <p:cNvPr id="169" name="Rectangle 156"/>
            <p:cNvSpPr>
              <a:spLocks noChangeArrowheads="1"/>
            </p:cNvSpPr>
            <p:nvPr/>
          </p:nvSpPr>
          <p:spPr bwMode="auto">
            <a:xfrm>
              <a:off x="4735" y="2448"/>
              <a:ext cx="466" cy="822"/>
            </a:xfrm>
            <a:prstGeom prst="rect">
              <a:avLst/>
            </a:prstGeom>
            <a:solidFill>
              <a:srgbClr val="FFFFFF"/>
            </a:solidFill>
            <a:ln w="2857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0" name="Line 157"/>
            <p:cNvSpPr>
              <a:spLocks noChangeShapeType="1"/>
            </p:cNvSpPr>
            <p:nvPr/>
          </p:nvSpPr>
          <p:spPr bwMode="auto">
            <a:xfrm>
              <a:off x="5193" y="2640"/>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1" name="Line 158"/>
            <p:cNvSpPr>
              <a:spLocks noChangeShapeType="1"/>
            </p:cNvSpPr>
            <p:nvPr/>
          </p:nvSpPr>
          <p:spPr bwMode="auto">
            <a:xfrm>
              <a:off x="5232" y="3081"/>
              <a:ext cx="240"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2" name="Oval 159"/>
            <p:cNvSpPr>
              <a:spLocks noChangeArrowheads="1"/>
            </p:cNvSpPr>
            <p:nvPr/>
          </p:nvSpPr>
          <p:spPr bwMode="auto">
            <a:xfrm>
              <a:off x="5209" y="3037"/>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3" name="Text Box 160"/>
            <p:cNvSpPr txBox="1">
              <a:spLocks noChangeArrowheads="1"/>
            </p:cNvSpPr>
            <p:nvPr/>
          </p:nvSpPr>
          <p:spPr bwMode="auto">
            <a:xfrm>
              <a:off x="5519" y="2547"/>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Q</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4" name="Text Box 161"/>
            <p:cNvSpPr txBox="1">
              <a:spLocks noChangeArrowheads="1"/>
            </p:cNvSpPr>
            <p:nvPr/>
          </p:nvSpPr>
          <p:spPr bwMode="auto">
            <a:xfrm>
              <a:off x="5454" y="3037"/>
              <a:ext cx="16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Q</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5" name="Line 162"/>
            <p:cNvSpPr>
              <a:spLocks noChangeShapeType="1"/>
            </p:cNvSpPr>
            <p:nvPr/>
          </p:nvSpPr>
          <p:spPr bwMode="auto">
            <a:xfrm>
              <a:off x="4374" y="2610"/>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6" name="Line 163"/>
            <p:cNvSpPr>
              <a:spLocks noChangeShapeType="1"/>
            </p:cNvSpPr>
            <p:nvPr/>
          </p:nvSpPr>
          <p:spPr bwMode="auto">
            <a:xfrm>
              <a:off x="4377" y="3138"/>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7" name="Line 164"/>
            <p:cNvSpPr>
              <a:spLocks noChangeShapeType="1"/>
            </p:cNvSpPr>
            <p:nvPr/>
          </p:nvSpPr>
          <p:spPr bwMode="auto">
            <a:xfrm>
              <a:off x="4455" y="2772"/>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8" name="Line 165"/>
            <p:cNvSpPr>
              <a:spLocks noChangeShapeType="1"/>
            </p:cNvSpPr>
            <p:nvPr/>
          </p:nvSpPr>
          <p:spPr bwMode="auto">
            <a:xfrm>
              <a:off x="4464" y="2946"/>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9" name="Text Box 166"/>
            <p:cNvSpPr txBox="1">
              <a:spLocks noChangeArrowheads="1"/>
            </p:cNvSpPr>
            <p:nvPr/>
          </p:nvSpPr>
          <p:spPr bwMode="auto">
            <a:xfrm>
              <a:off x="4218" y="3071"/>
              <a:ext cx="129"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0" name="Text Box 167"/>
            <p:cNvSpPr txBox="1">
              <a:spLocks noChangeArrowheads="1"/>
            </p:cNvSpPr>
            <p:nvPr/>
          </p:nvSpPr>
          <p:spPr bwMode="auto">
            <a:xfrm>
              <a:off x="4224" y="2518"/>
              <a:ext cx="11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S</a:t>
              </a:r>
              <a:r>
                <a:rPr kumimoji="1" lang="en-US" altLang="zh-CN" sz="2400" b="1" i="0" u="none" strike="noStrike" kern="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1" name="Text Box 168"/>
            <p:cNvSpPr txBox="1">
              <a:spLocks noChangeArrowheads="1"/>
            </p:cNvSpPr>
            <p:nvPr/>
          </p:nvSpPr>
          <p:spPr bwMode="auto">
            <a:xfrm>
              <a:off x="4344" y="2708"/>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2" name="Text Box 169"/>
            <p:cNvSpPr txBox="1">
              <a:spLocks noChangeArrowheads="1"/>
            </p:cNvSpPr>
            <p:nvPr/>
          </p:nvSpPr>
          <p:spPr bwMode="auto">
            <a:xfrm>
              <a:off x="4296" y="2880"/>
              <a:ext cx="14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CP</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3" name="Text Box 170"/>
            <p:cNvSpPr txBox="1">
              <a:spLocks noChangeArrowheads="1"/>
            </p:cNvSpPr>
            <p:nvPr/>
          </p:nvSpPr>
          <p:spPr bwMode="auto">
            <a:xfrm>
              <a:off x="4752" y="2534"/>
              <a:ext cx="9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S</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4" name="Text Box 171"/>
            <p:cNvSpPr txBox="1">
              <a:spLocks noChangeArrowheads="1"/>
            </p:cNvSpPr>
            <p:nvPr/>
          </p:nvSpPr>
          <p:spPr bwMode="auto">
            <a:xfrm>
              <a:off x="4753" y="3065"/>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R</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5" name="Text Box 172"/>
            <p:cNvSpPr txBox="1">
              <a:spLocks noChangeArrowheads="1"/>
            </p:cNvSpPr>
            <p:nvPr/>
          </p:nvSpPr>
          <p:spPr bwMode="auto">
            <a:xfrm>
              <a:off x="4746" y="2707"/>
              <a:ext cx="13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1D</a:t>
              </a:r>
              <a:endPar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6" name="Text Box 173"/>
            <p:cNvSpPr txBox="1">
              <a:spLocks noChangeArrowheads="1"/>
            </p:cNvSpPr>
            <p:nvPr/>
          </p:nvSpPr>
          <p:spPr bwMode="auto">
            <a:xfrm>
              <a:off x="4845" y="2887"/>
              <a:ext cx="13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C1</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7" name="Freeform 174"/>
            <p:cNvSpPr/>
            <p:nvPr/>
          </p:nvSpPr>
          <p:spPr bwMode="auto">
            <a:xfrm>
              <a:off x="4748" y="2910"/>
              <a:ext cx="66" cy="76"/>
            </a:xfrm>
            <a:custGeom>
              <a:avLst/>
              <a:gdLst>
                <a:gd name="T0" fmla="*/ 0 w 48"/>
                <a:gd name="T1" fmla="*/ 0 h 76"/>
                <a:gd name="T2" fmla="*/ 48 w 48"/>
                <a:gd name="T3" fmla="*/ 28 h 76"/>
                <a:gd name="T4" fmla="*/ 0 w 48"/>
                <a:gd name="T5" fmla="*/ 76 h 76"/>
              </a:gdLst>
              <a:ahLst/>
              <a:cxnLst>
                <a:cxn ang="0">
                  <a:pos x="T0" y="T1"/>
                </a:cxn>
                <a:cxn ang="0">
                  <a:pos x="T2" y="T3"/>
                </a:cxn>
                <a:cxn ang="0">
                  <a:pos x="T4" y="T5"/>
                </a:cxn>
              </a:cxnLst>
              <a:rect l="0" t="0" r="r" b="b"/>
              <a:pathLst>
                <a:path w="48" h="76">
                  <a:moveTo>
                    <a:pt x="0" y="0"/>
                  </a:moveTo>
                  <a:lnTo>
                    <a:pt x="48" y="28"/>
                  </a:lnTo>
                  <a:lnTo>
                    <a:pt x="0" y="76"/>
                  </a:lnTo>
                </a:path>
              </a:pathLst>
            </a:custGeom>
            <a:solidFill>
              <a:srgbClr val="FFFFFF"/>
            </a:solidFill>
            <a:ln w="34925"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8" name="Oval 175"/>
            <p:cNvSpPr>
              <a:spLocks noChangeArrowheads="1"/>
            </p:cNvSpPr>
            <p:nvPr/>
          </p:nvSpPr>
          <p:spPr bwMode="auto">
            <a:xfrm>
              <a:off x="4642" y="2565"/>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9" name="Oval 176"/>
            <p:cNvSpPr>
              <a:spLocks noChangeArrowheads="1"/>
            </p:cNvSpPr>
            <p:nvPr/>
          </p:nvSpPr>
          <p:spPr bwMode="auto">
            <a:xfrm>
              <a:off x="4642" y="3090"/>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cxnSp>
        <p:nvCxnSpPr>
          <p:cNvPr id="3" name="直接连接符 2"/>
          <p:cNvCxnSpPr/>
          <p:nvPr/>
        </p:nvCxnSpPr>
        <p:spPr>
          <a:xfrm>
            <a:off x="4724744" y="2376554"/>
            <a:ext cx="279249"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4747409" y="3951952"/>
            <a:ext cx="273421"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243155" y="1752746"/>
            <a:ext cx="2106766" cy="523220"/>
          </a:xfrm>
          <a:prstGeom prst="rect">
            <a:avLst/>
          </a:prstGeom>
          <a:noFill/>
        </p:spPr>
        <p:txBody>
          <a:bodyPr wrap="square" rtlCol="0">
            <a:spAutoFit/>
          </a:bodyPr>
          <a:lstStyle/>
          <a:p>
            <a:r>
              <a:rPr lang="zh-CN" altLang="en-US" sz="2800" b="1" dirty="0"/>
              <a:t>异步输入端</a:t>
            </a:r>
            <a:r>
              <a:rPr lang="en-US" altLang="zh-CN" sz="2800" b="1" dirty="0"/>
              <a:t>:</a:t>
            </a:r>
            <a:endParaRPr lang="zh-CN" altLang="en-US" sz="2800" b="1" dirty="0"/>
          </a:p>
        </p:txBody>
      </p:sp>
      <mc:AlternateContent xmlns:mc="http://schemas.openxmlformats.org/markup-compatibility/2006">
        <mc:Choice xmlns:a14="http://schemas.microsoft.com/office/drawing/2010/main" Requires="a14">
          <p:sp>
            <p:nvSpPr>
              <p:cNvPr id="12" name="矩形 11"/>
              <p:cNvSpPr/>
              <p:nvPr/>
            </p:nvSpPr>
            <p:spPr>
              <a:xfrm>
                <a:off x="2260811" y="1756018"/>
                <a:ext cx="657552" cy="524118"/>
              </a:xfrm>
              <a:prstGeom prst="rect">
                <a:avLst/>
              </a:prstGeom>
            </p:spPr>
            <p:txBody>
              <a:bodyPr wrap="none">
                <a:spAutoFit/>
              </a:bodyPr>
              <a:lstStyle/>
              <a:p>
                <a14:m>
                  <m:oMath xmlns:m="http://schemas.openxmlformats.org/officeDocument/2006/math">
                    <m:acc>
                      <m:accPr>
                        <m:chr m:val="̅"/>
                        <m:ctrlPr>
                          <a:rPr lang="zh-CN" altLang="en-US" sz="2800" b="1" i="1" smtClean="0">
                            <a:latin typeface="Cambria Math" panose="02040503050406030204"/>
                          </a:rPr>
                        </m:ctrlPr>
                      </m:accPr>
                      <m:e>
                        <m:r>
                          <a:rPr lang="en-US" altLang="zh-CN" sz="2800" b="1" i="1" smtClean="0">
                            <a:latin typeface="Cambria Math" panose="02040503050406030204" pitchFamily="18" charset="0"/>
                          </a:rPr>
                          <m:t>𝑺</m:t>
                        </m:r>
                        <m:r>
                          <a:rPr lang="en-US" altLang="zh-CN" sz="2800" b="1" i="1" baseline="-25000" smtClean="0">
                            <a:latin typeface="Cambria Math" panose="02040503050406030204" pitchFamily="18" charset="0"/>
                          </a:rPr>
                          <m:t>𝑫</m:t>
                        </m:r>
                      </m:e>
                    </m:acc>
                  </m:oMath>
                </a14:m>
                <a:r>
                  <a:rPr lang="en-US" altLang="zh-CN" sz="2800" dirty="0"/>
                  <a:t>,</a:t>
                </a:r>
                <a:endParaRPr lang="zh-CN" altLang="en-US" sz="2800" dirty="0"/>
              </a:p>
            </p:txBody>
          </p:sp>
        </mc:Choice>
        <mc:Fallback>
          <p:sp>
            <p:nvSpPr>
              <p:cNvPr id="12" name="矩形 11"/>
              <p:cNvSpPr>
                <a:spLocks noRot="1" noChangeAspect="1" noMove="1" noResize="1" noEditPoints="1" noAdjustHandles="1" noChangeArrowheads="1" noChangeShapeType="1" noTextEdit="1"/>
              </p:cNvSpPr>
              <p:nvPr/>
            </p:nvSpPr>
            <p:spPr>
              <a:xfrm>
                <a:off x="2260811" y="1756018"/>
                <a:ext cx="657552" cy="524118"/>
              </a:xfrm>
              <a:prstGeom prst="rect">
                <a:avLst/>
              </a:prstGeom>
              <a:blipFill rotWithShape="1">
                <a:blip r:embed="rId3"/>
                <a:stretch>
                  <a:fillRect l="-32" t="-46" r="82" b="-535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0" name="矩形 199"/>
              <p:cNvSpPr/>
              <p:nvPr/>
            </p:nvSpPr>
            <p:spPr>
              <a:xfrm>
                <a:off x="2849626" y="1756916"/>
                <a:ext cx="696023"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acc>
                        <m:accPr>
                          <m:chr m:val="̅"/>
                          <m:ctrlPr>
                            <a:rPr lang="zh-CN" altLang="en-US" sz="2800" b="1" i="1" smtClean="0">
                              <a:latin typeface="Cambria Math" panose="02040503050406030204"/>
                            </a:rPr>
                          </m:ctrlPr>
                        </m:accPr>
                        <m:e>
                          <m:r>
                            <a:rPr lang="en-US" altLang="zh-CN" sz="2800" b="1" i="1" smtClean="0">
                              <a:latin typeface="Cambria Math" panose="02040503050406030204" pitchFamily="18" charset="0"/>
                            </a:rPr>
                            <m:t>𝑹</m:t>
                          </m:r>
                          <m:r>
                            <a:rPr lang="en-US" altLang="zh-CN" sz="2800" b="1" i="1" baseline="-25000" smtClean="0">
                              <a:latin typeface="Cambria Math" panose="02040503050406030204" pitchFamily="18" charset="0"/>
                            </a:rPr>
                            <m:t>𝑫</m:t>
                          </m:r>
                        </m:e>
                      </m:acc>
                    </m:oMath>
                  </m:oMathPara>
                </a14:m>
                <a:endParaRPr lang="zh-CN" altLang="en-US" sz="2800" dirty="0"/>
              </a:p>
            </p:txBody>
          </p:sp>
        </mc:Choice>
        <mc:Fallback>
          <p:sp>
            <p:nvSpPr>
              <p:cNvPr id="200" name="矩形 199"/>
              <p:cNvSpPr>
                <a:spLocks noRot="1" noChangeAspect="1" noMove="1" noResize="1" noEditPoints="1" noAdjustHandles="1" noChangeArrowheads="1" noChangeShapeType="1" noTextEdit="1"/>
              </p:cNvSpPr>
              <p:nvPr/>
            </p:nvSpPr>
            <p:spPr>
              <a:xfrm>
                <a:off x="2849626" y="1756916"/>
                <a:ext cx="696023" cy="523220"/>
              </a:xfrm>
              <a:prstGeom prst="rect">
                <a:avLst/>
              </a:prstGeom>
              <a:blipFill rotWithShape="1">
                <a:blip r:embed="rId4"/>
                <a:stretch>
                  <a:fillRect l="-55" t="-97" r="64" b="-4762"/>
                </a:stretch>
              </a:blipFill>
            </p:spPr>
            <p:txBody>
              <a:bodyPr/>
              <a:lstStyle/>
              <a:p>
                <a:r>
                  <a:rPr lang="zh-CN" altLang="en-US">
                    <a:noFill/>
                  </a:rPr>
                  <a:t> </a:t>
                </a:r>
              </a:p>
            </p:txBody>
          </p:sp>
        </mc:Fallback>
      </mc:AlternateContent>
      <p:sp>
        <p:nvSpPr>
          <p:cNvPr id="13" name="文本框 12"/>
          <p:cNvSpPr txBox="1"/>
          <p:nvPr/>
        </p:nvSpPr>
        <p:spPr>
          <a:xfrm>
            <a:off x="531790" y="2421641"/>
            <a:ext cx="3417860" cy="830997"/>
          </a:xfrm>
          <a:prstGeom prst="rect">
            <a:avLst/>
          </a:prstGeom>
          <a:noFill/>
        </p:spPr>
        <p:txBody>
          <a:bodyPr wrap="square" rtlCol="0">
            <a:spAutoFit/>
          </a:bodyPr>
          <a:lstStyle/>
          <a:p>
            <a:r>
              <a:rPr lang="zh-CN" altLang="en-US" sz="2400" b="1" dirty="0">
                <a:solidFill>
                  <a:srgbClr val="FF0000"/>
                </a:solidFill>
              </a:rPr>
              <a:t>异步输入端对电路的作用与时钟信号无关</a:t>
            </a:r>
            <a:endParaRPr lang="zh-CN" altLang="en-US" sz="2400" b="1" dirty="0">
              <a:solidFill>
                <a:srgbClr val="FF0000"/>
              </a:solidFill>
            </a:endParaRPr>
          </a:p>
        </p:txBody>
      </p:sp>
      <mc:AlternateContent xmlns:mc="http://schemas.openxmlformats.org/markup-compatibility/2006">
        <mc:Choice xmlns:a14="http://schemas.microsoft.com/office/drawing/2010/main" Requires="a14">
          <p:sp>
            <p:nvSpPr>
              <p:cNvPr id="202" name="矩形 201"/>
              <p:cNvSpPr/>
              <p:nvPr/>
            </p:nvSpPr>
            <p:spPr>
              <a:xfrm>
                <a:off x="289612" y="3382216"/>
                <a:ext cx="3738227" cy="955903"/>
              </a:xfrm>
              <a:prstGeom prst="rect">
                <a:avLst/>
              </a:prstGeom>
            </p:spPr>
            <p:txBody>
              <a:bodyPr wrap="square">
                <a:spAutoFit/>
              </a:bodyPr>
              <a:lstStyle/>
              <a:p>
                <a:pPr marL="457200" indent="-457200">
                  <a:buFont typeface="Wingdings" panose="05000000000000000000" pitchFamily="2" charset="2"/>
                  <a:buChar char="Ø"/>
                </a:pPr>
                <a:r>
                  <a:rPr lang="zh-CN" altLang="en-US" sz="2800" b="1" dirty="0"/>
                  <a:t>当</a:t>
                </a:r>
                <a14:m>
                  <m:oMath xmlns:m="http://schemas.openxmlformats.org/officeDocument/2006/math">
                    <m:acc>
                      <m:accPr>
                        <m:chr m:val="̅"/>
                        <m:ctrlPr>
                          <a:rPr lang="zh-CN" altLang="en-US" sz="2800" b="1" i="1" smtClean="0">
                            <a:solidFill>
                              <a:srgbClr val="0000FF"/>
                            </a:solidFill>
                            <a:latin typeface="Cambria Math" panose="02040503050406030204"/>
                          </a:rPr>
                        </m:ctrlPr>
                      </m:accPr>
                      <m:e>
                        <m:r>
                          <a:rPr lang="en-US" altLang="zh-CN" sz="2800" b="1" i="1" smtClean="0">
                            <a:solidFill>
                              <a:srgbClr val="0000FF"/>
                            </a:solidFill>
                            <a:latin typeface="Cambria Math" panose="02040503050406030204" pitchFamily="18" charset="0"/>
                          </a:rPr>
                          <m:t>𝑺</m:t>
                        </m:r>
                        <m:r>
                          <a:rPr lang="en-US" altLang="zh-CN" sz="2800" b="1" i="1" baseline="-25000" smtClean="0">
                            <a:solidFill>
                              <a:srgbClr val="0000FF"/>
                            </a:solidFill>
                            <a:latin typeface="Cambria Math" panose="02040503050406030204" pitchFamily="18" charset="0"/>
                          </a:rPr>
                          <m:t>𝑫</m:t>
                        </m:r>
                      </m:e>
                    </m:acc>
                    <m:r>
                      <a:rPr lang="en-US" altLang="zh-CN" sz="2800" b="1" i="1" smtClean="0">
                        <a:solidFill>
                          <a:srgbClr val="0000FF"/>
                        </a:solidFill>
                        <a:latin typeface="Cambria Math" panose="02040503050406030204" pitchFamily="18" charset="0"/>
                      </a:rPr>
                      <m:t>=</m:t>
                    </m:r>
                  </m:oMath>
                </a14:m>
                <a:r>
                  <a:rPr lang="en-US" altLang="zh-CN" sz="2800" dirty="0">
                    <a:solidFill>
                      <a:srgbClr val="0000FF"/>
                    </a:solidFill>
                  </a:rPr>
                  <a:t>1</a:t>
                </a:r>
                <a:r>
                  <a:rPr lang="zh-CN" altLang="en-US" sz="2800" dirty="0">
                    <a:solidFill>
                      <a:srgbClr val="0000FF"/>
                    </a:solidFill>
                  </a:rPr>
                  <a:t>，</a:t>
                </a:r>
                <a:r>
                  <a:rPr lang="zh-CN" altLang="en-US" sz="2800" b="1" dirty="0">
                    <a:solidFill>
                      <a:srgbClr val="0000FF"/>
                    </a:solidFill>
                  </a:rPr>
                  <a:t> </a:t>
                </a:r>
                <a14:m>
                  <m:oMath xmlns:m="http://schemas.openxmlformats.org/officeDocument/2006/math">
                    <m:acc>
                      <m:accPr>
                        <m:chr m:val="̅"/>
                        <m:ctrlPr>
                          <a:rPr lang="zh-CN" altLang="en-US" sz="2800" b="1" i="1">
                            <a:solidFill>
                              <a:srgbClr val="0000FF"/>
                            </a:solidFill>
                            <a:latin typeface="Cambria Math" panose="02040503050406030204"/>
                          </a:rPr>
                        </m:ctrlPr>
                      </m:accPr>
                      <m:e>
                        <m:r>
                          <a:rPr lang="en-US" altLang="zh-CN" sz="2800" b="1" i="1" smtClean="0">
                            <a:solidFill>
                              <a:srgbClr val="0000FF"/>
                            </a:solidFill>
                            <a:latin typeface="Cambria Math" panose="02040503050406030204" pitchFamily="18" charset="0"/>
                          </a:rPr>
                          <m:t>𝑹</m:t>
                        </m:r>
                        <m:r>
                          <a:rPr lang="en-US" altLang="zh-CN" sz="2800" b="1" i="1" baseline="-25000">
                            <a:solidFill>
                              <a:srgbClr val="0000FF"/>
                            </a:solidFill>
                            <a:latin typeface="Cambria Math" panose="02040503050406030204" pitchFamily="18" charset="0"/>
                          </a:rPr>
                          <m:t>𝑫</m:t>
                        </m:r>
                      </m:e>
                    </m:acc>
                    <m:r>
                      <a:rPr lang="en-US" altLang="zh-CN" sz="2800" b="1" i="1">
                        <a:solidFill>
                          <a:srgbClr val="0000FF"/>
                        </a:solidFill>
                        <a:latin typeface="Cambria Math" panose="02040503050406030204" pitchFamily="18" charset="0"/>
                      </a:rPr>
                      <m:t>=</m:t>
                    </m:r>
                  </m:oMath>
                </a14:m>
                <a:r>
                  <a:rPr lang="en-US" altLang="zh-CN" sz="2800" dirty="0">
                    <a:solidFill>
                      <a:srgbClr val="0000FF"/>
                    </a:solidFill>
                  </a:rPr>
                  <a:t>0</a:t>
                </a:r>
                <a:r>
                  <a:rPr lang="zh-CN" altLang="en-US" sz="2800" dirty="0"/>
                  <a:t>时</a:t>
                </a:r>
                <a:r>
                  <a:rPr lang="en-US" altLang="zh-CN" sz="2800" dirty="0"/>
                  <a:t>,</a:t>
                </a:r>
                <a:r>
                  <a:rPr lang="zh-CN" altLang="en-US" sz="2800" b="1" dirty="0"/>
                  <a:t> </a:t>
                </a:r>
                <a14:m>
                  <m:oMath xmlns:m="http://schemas.openxmlformats.org/officeDocument/2006/math">
                    <m:r>
                      <a:rPr lang="en-US" altLang="zh-CN" sz="2800" b="1" i="0" smtClean="0">
                        <a:solidFill>
                          <a:srgbClr val="0000FF"/>
                        </a:solidFill>
                        <a:latin typeface="Cambria Math" panose="02040503050406030204" pitchFamily="18" charset="0"/>
                      </a:rPr>
                      <m:t>𝐐</m:t>
                    </m:r>
                    <m:r>
                      <a:rPr lang="en-US" altLang="zh-CN" sz="2800" b="1" i="1">
                        <a:solidFill>
                          <a:srgbClr val="0000FF"/>
                        </a:solidFill>
                        <a:latin typeface="Cambria Math" panose="02040503050406030204" pitchFamily="18" charset="0"/>
                      </a:rPr>
                      <m:t>=</m:t>
                    </m:r>
                  </m:oMath>
                </a14:m>
                <a:r>
                  <a:rPr lang="en-US" altLang="zh-CN" sz="2800" dirty="0">
                    <a:solidFill>
                      <a:srgbClr val="0000FF"/>
                    </a:solidFill>
                  </a:rPr>
                  <a:t>0</a:t>
                </a:r>
                <a:r>
                  <a:rPr lang="zh-CN" altLang="en-US" sz="2800" dirty="0"/>
                  <a:t>，</a:t>
                </a:r>
                <a:r>
                  <a:rPr lang="zh-CN" altLang="en-US" sz="2800" b="1" dirty="0"/>
                  <a:t> </a:t>
                </a:r>
                <a14:m>
                  <m:oMath xmlns:m="http://schemas.openxmlformats.org/officeDocument/2006/math">
                    <m:acc>
                      <m:accPr>
                        <m:chr m:val="̅"/>
                        <m:ctrlPr>
                          <a:rPr lang="zh-CN" altLang="en-US" sz="2800" b="1" i="1">
                            <a:latin typeface="Cambria Math" panose="02040503050406030204"/>
                          </a:rPr>
                        </m:ctrlPr>
                      </m:accPr>
                      <m:e>
                        <m:r>
                          <a:rPr lang="en-US" altLang="zh-CN" sz="2800" b="1" i="1" smtClean="0">
                            <a:latin typeface="Cambria Math" panose="02040503050406030204" pitchFamily="18" charset="0"/>
                          </a:rPr>
                          <m:t>𝑸</m:t>
                        </m:r>
                      </m:e>
                    </m:acc>
                    <m:r>
                      <a:rPr lang="en-US" altLang="zh-CN" sz="2800" b="1" i="1">
                        <a:latin typeface="Cambria Math" panose="02040503050406030204" pitchFamily="18" charset="0"/>
                      </a:rPr>
                      <m:t>=</m:t>
                    </m:r>
                    <m:r>
                      <a:rPr lang="en-US" altLang="zh-CN" sz="2800" b="1" i="1" smtClean="0">
                        <a:latin typeface="Cambria Math" panose="02040503050406030204" pitchFamily="18" charset="0"/>
                      </a:rPr>
                      <m:t>𝟏</m:t>
                    </m:r>
                  </m:oMath>
                </a14:m>
                <a:endParaRPr lang="zh-CN" altLang="en-US" sz="2800" dirty="0"/>
              </a:p>
            </p:txBody>
          </p:sp>
        </mc:Choice>
        <mc:Fallback>
          <p:sp>
            <p:nvSpPr>
              <p:cNvPr id="202" name="矩形 201"/>
              <p:cNvSpPr>
                <a:spLocks noRot="1" noChangeAspect="1" noMove="1" noResize="1" noEditPoints="1" noAdjustHandles="1" noChangeArrowheads="1" noChangeShapeType="1" noTextEdit="1"/>
              </p:cNvSpPr>
              <p:nvPr/>
            </p:nvSpPr>
            <p:spPr>
              <a:xfrm>
                <a:off x="289612" y="3382216"/>
                <a:ext cx="3738227" cy="955903"/>
              </a:xfrm>
              <a:prstGeom prst="rect">
                <a:avLst/>
              </a:prstGeom>
              <a:blipFill rotWithShape="1">
                <a:blip r:embed="rId5"/>
                <a:stretch>
                  <a:fillRect l="-1" t="-22" r="1" b="4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4" name="矩形 203"/>
              <p:cNvSpPr/>
              <p:nvPr/>
            </p:nvSpPr>
            <p:spPr>
              <a:xfrm>
                <a:off x="289612" y="4645897"/>
                <a:ext cx="3738227" cy="955903"/>
              </a:xfrm>
              <a:prstGeom prst="rect">
                <a:avLst/>
              </a:prstGeom>
            </p:spPr>
            <p:txBody>
              <a:bodyPr wrap="square">
                <a:spAutoFit/>
              </a:bodyPr>
              <a:lstStyle/>
              <a:p>
                <a:pPr marL="457200" indent="-457200">
                  <a:buFont typeface="Wingdings" panose="05000000000000000000" pitchFamily="2" charset="2"/>
                  <a:buChar char="Ø"/>
                </a:pPr>
                <a:r>
                  <a:rPr lang="zh-CN" altLang="en-US" sz="2800" b="1" dirty="0"/>
                  <a:t>当</a:t>
                </a:r>
                <a14:m>
                  <m:oMath xmlns:m="http://schemas.openxmlformats.org/officeDocument/2006/math">
                    <m:acc>
                      <m:accPr>
                        <m:chr m:val="̅"/>
                        <m:ctrlPr>
                          <a:rPr lang="zh-CN" altLang="en-US" sz="2800" b="1" i="1" smtClean="0">
                            <a:solidFill>
                              <a:srgbClr val="0000FF"/>
                            </a:solidFill>
                            <a:latin typeface="Cambria Math" panose="02040503050406030204"/>
                          </a:rPr>
                        </m:ctrlPr>
                      </m:accPr>
                      <m:e>
                        <m:r>
                          <a:rPr lang="en-US" altLang="zh-CN" sz="2800" b="1" i="1" smtClean="0">
                            <a:solidFill>
                              <a:srgbClr val="0000FF"/>
                            </a:solidFill>
                            <a:latin typeface="Cambria Math" panose="02040503050406030204" pitchFamily="18" charset="0"/>
                          </a:rPr>
                          <m:t>𝑺</m:t>
                        </m:r>
                        <m:r>
                          <a:rPr lang="en-US" altLang="zh-CN" sz="2800" b="1" i="1" baseline="-25000" smtClean="0">
                            <a:solidFill>
                              <a:srgbClr val="0000FF"/>
                            </a:solidFill>
                            <a:latin typeface="Cambria Math" panose="02040503050406030204" pitchFamily="18" charset="0"/>
                          </a:rPr>
                          <m:t>𝑫</m:t>
                        </m:r>
                      </m:e>
                    </m:acc>
                    <m:r>
                      <a:rPr lang="en-US" altLang="zh-CN" sz="2800" b="1" i="1" smtClean="0">
                        <a:solidFill>
                          <a:srgbClr val="0000FF"/>
                        </a:solidFill>
                        <a:latin typeface="Cambria Math" panose="02040503050406030204" pitchFamily="18" charset="0"/>
                      </a:rPr>
                      <m:t>=</m:t>
                    </m:r>
                  </m:oMath>
                </a14:m>
                <a:r>
                  <a:rPr lang="en-US" altLang="zh-CN" sz="2800" dirty="0">
                    <a:solidFill>
                      <a:srgbClr val="0000FF"/>
                    </a:solidFill>
                  </a:rPr>
                  <a:t>0</a:t>
                </a:r>
                <a:r>
                  <a:rPr lang="zh-CN" altLang="en-US" sz="2800" dirty="0">
                    <a:solidFill>
                      <a:srgbClr val="0000FF"/>
                    </a:solidFill>
                  </a:rPr>
                  <a:t>，</a:t>
                </a:r>
                <a:r>
                  <a:rPr lang="zh-CN" altLang="en-US" sz="2800" b="1" dirty="0">
                    <a:solidFill>
                      <a:srgbClr val="0000FF"/>
                    </a:solidFill>
                  </a:rPr>
                  <a:t> </a:t>
                </a:r>
                <a14:m>
                  <m:oMath xmlns:m="http://schemas.openxmlformats.org/officeDocument/2006/math">
                    <m:acc>
                      <m:accPr>
                        <m:chr m:val="̅"/>
                        <m:ctrlPr>
                          <a:rPr lang="zh-CN" altLang="en-US" sz="2800" b="1" i="1">
                            <a:solidFill>
                              <a:srgbClr val="0000FF"/>
                            </a:solidFill>
                            <a:latin typeface="Cambria Math" panose="02040503050406030204"/>
                          </a:rPr>
                        </m:ctrlPr>
                      </m:accPr>
                      <m:e>
                        <m:r>
                          <a:rPr lang="en-US" altLang="zh-CN" sz="2800" b="1" i="1" smtClean="0">
                            <a:solidFill>
                              <a:srgbClr val="0000FF"/>
                            </a:solidFill>
                            <a:latin typeface="Cambria Math" panose="02040503050406030204" pitchFamily="18" charset="0"/>
                          </a:rPr>
                          <m:t>𝑹</m:t>
                        </m:r>
                        <m:r>
                          <a:rPr lang="en-US" altLang="zh-CN" sz="2800" b="1" i="1" baseline="-25000">
                            <a:solidFill>
                              <a:srgbClr val="0000FF"/>
                            </a:solidFill>
                            <a:latin typeface="Cambria Math" panose="02040503050406030204" pitchFamily="18" charset="0"/>
                          </a:rPr>
                          <m:t>𝑫</m:t>
                        </m:r>
                      </m:e>
                    </m:acc>
                    <m:r>
                      <a:rPr lang="en-US" altLang="zh-CN" sz="2800" b="1" i="1">
                        <a:solidFill>
                          <a:srgbClr val="0000FF"/>
                        </a:solidFill>
                        <a:latin typeface="Cambria Math" panose="02040503050406030204" pitchFamily="18" charset="0"/>
                      </a:rPr>
                      <m:t>=</m:t>
                    </m:r>
                  </m:oMath>
                </a14:m>
                <a:r>
                  <a:rPr lang="en-US" altLang="zh-CN" sz="2800" dirty="0">
                    <a:solidFill>
                      <a:srgbClr val="0000FF"/>
                    </a:solidFill>
                  </a:rPr>
                  <a:t>1</a:t>
                </a:r>
                <a:r>
                  <a:rPr lang="zh-CN" altLang="en-US" sz="2800" dirty="0"/>
                  <a:t>时</a:t>
                </a:r>
                <a:r>
                  <a:rPr lang="en-US" altLang="zh-CN" sz="2800" dirty="0"/>
                  <a:t>,</a:t>
                </a:r>
                <a:r>
                  <a:rPr lang="zh-CN" altLang="en-US" sz="2800" b="1" dirty="0"/>
                  <a:t> </a:t>
                </a:r>
                <a14:m>
                  <m:oMath xmlns:m="http://schemas.openxmlformats.org/officeDocument/2006/math">
                    <m:r>
                      <a:rPr lang="en-US" altLang="zh-CN" sz="2800" b="1" i="0" smtClean="0">
                        <a:solidFill>
                          <a:srgbClr val="0000FF"/>
                        </a:solidFill>
                        <a:latin typeface="Cambria Math" panose="02040503050406030204" pitchFamily="18" charset="0"/>
                      </a:rPr>
                      <m:t>𝐐</m:t>
                    </m:r>
                    <m:r>
                      <a:rPr lang="en-US" altLang="zh-CN" sz="2800" b="1" i="1">
                        <a:solidFill>
                          <a:srgbClr val="0000FF"/>
                        </a:solidFill>
                        <a:latin typeface="Cambria Math" panose="02040503050406030204" pitchFamily="18" charset="0"/>
                      </a:rPr>
                      <m:t>=</m:t>
                    </m:r>
                  </m:oMath>
                </a14:m>
                <a:r>
                  <a:rPr lang="en-US" altLang="zh-CN" sz="2800" dirty="0">
                    <a:solidFill>
                      <a:srgbClr val="0000FF"/>
                    </a:solidFill>
                  </a:rPr>
                  <a:t>1</a:t>
                </a:r>
                <a:r>
                  <a:rPr lang="zh-CN" altLang="en-US" sz="2800" dirty="0"/>
                  <a:t>，</a:t>
                </a:r>
                <a:r>
                  <a:rPr lang="zh-CN" altLang="en-US" sz="2800" b="1" dirty="0"/>
                  <a:t> </a:t>
                </a:r>
                <a14:m>
                  <m:oMath xmlns:m="http://schemas.openxmlformats.org/officeDocument/2006/math">
                    <m:acc>
                      <m:accPr>
                        <m:chr m:val="̅"/>
                        <m:ctrlPr>
                          <a:rPr lang="zh-CN" altLang="en-US" sz="2800" b="1" i="1">
                            <a:latin typeface="Cambria Math" panose="02040503050406030204"/>
                          </a:rPr>
                        </m:ctrlPr>
                      </m:accPr>
                      <m:e>
                        <m:r>
                          <a:rPr lang="en-US" altLang="zh-CN" sz="2800" b="1" i="1" smtClean="0">
                            <a:latin typeface="Cambria Math" panose="02040503050406030204" pitchFamily="18" charset="0"/>
                          </a:rPr>
                          <m:t>𝑸</m:t>
                        </m:r>
                      </m:e>
                    </m:acc>
                    <m:r>
                      <a:rPr lang="en-US" altLang="zh-CN" sz="2800" b="1" i="1">
                        <a:latin typeface="Cambria Math" panose="02040503050406030204" pitchFamily="18" charset="0"/>
                      </a:rPr>
                      <m:t>=</m:t>
                    </m:r>
                    <m:r>
                      <a:rPr lang="en-US" altLang="zh-CN" sz="2800" b="1" i="1" smtClean="0">
                        <a:latin typeface="Cambria Math" panose="02040503050406030204" pitchFamily="18" charset="0"/>
                      </a:rPr>
                      <m:t>𝟎</m:t>
                    </m:r>
                  </m:oMath>
                </a14:m>
                <a:endParaRPr lang="zh-CN" altLang="en-US" sz="2800" dirty="0"/>
              </a:p>
            </p:txBody>
          </p:sp>
        </mc:Choice>
        <mc:Fallback>
          <p:sp>
            <p:nvSpPr>
              <p:cNvPr id="204" name="矩形 203"/>
              <p:cNvSpPr>
                <a:spLocks noRot="1" noChangeAspect="1" noMove="1" noResize="1" noEditPoints="1" noAdjustHandles="1" noChangeArrowheads="1" noChangeShapeType="1" noTextEdit="1"/>
              </p:cNvSpPr>
              <p:nvPr/>
            </p:nvSpPr>
            <p:spPr>
              <a:xfrm>
                <a:off x="289612" y="4645897"/>
                <a:ext cx="3738227" cy="955903"/>
              </a:xfrm>
              <a:prstGeom prst="rect">
                <a:avLst/>
              </a:prstGeom>
              <a:blipFill rotWithShape="1">
                <a:blip r:embed="rId6"/>
                <a:stretch>
                  <a:fillRect l="-1" t="-25" r="1" b="4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5" name="矩形 204"/>
              <p:cNvSpPr/>
              <p:nvPr/>
            </p:nvSpPr>
            <p:spPr>
              <a:xfrm>
                <a:off x="243155" y="5717072"/>
                <a:ext cx="7925373" cy="955005"/>
              </a:xfrm>
              <a:prstGeom prst="rect">
                <a:avLst/>
              </a:prstGeom>
            </p:spPr>
            <p:txBody>
              <a:bodyPr wrap="square">
                <a:spAutoFit/>
              </a:bodyPr>
              <a:lstStyle/>
              <a:p>
                <a:pPr marL="457200" indent="-457200">
                  <a:buFont typeface="Wingdings" panose="05000000000000000000" pitchFamily="2" charset="2"/>
                  <a:buChar char="Ø"/>
                </a:pPr>
                <a:r>
                  <a:rPr lang="zh-CN" altLang="en-US" sz="2800" b="1" dirty="0"/>
                  <a:t>当</a:t>
                </a:r>
                <a14:m>
                  <m:oMath xmlns:m="http://schemas.openxmlformats.org/officeDocument/2006/math">
                    <m:acc>
                      <m:accPr>
                        <m:chr m:val="̅"/>
                        <m:ctrlPr>
                          <a:rPr lang="zh-CN" altLang="en-US" sz="2800" b="1" i="1" smtClean="0">
                            <a:solidFill>
                              <a:srgbClr val="FF0000"/>
                            </a:solidFill>
                            <a:latin typeface="Cambria Math" panose="02040503050406030204"/>
                          </a:rPr>
                        </m:ctrlPr>
                      </m:accPr>
                      <m:e>
                        <m:r>
                          <a:rPr lang="en-US" altLang="zh-CN" sz="2800" b="1" i="1" smtClean="0">
                            <a:solidFill>
                              <a:srgbClr val="FF0000"/>
                            </a:solidFill>
                            <a:latin typeface="Cambria Math" panose="02040503050406030204" pitchFamily="18" charset="0"/>
                          </a:rPr>
                          <m:t>𝑺</m:t>
                        </m:r>
                        <m:r>
                          <a:rPr lang="en-US" altLang="zh-CN" sz="2800" b="1" i="1" baseline="-25000" smtClean="0">
                            <a:solidFill>
                              <a:srgbClr val="FF0000"/>
                            </a:solidFill>
                            <a:latin typeface="Cambria Math" panose="02040503050406030204" pitchFamily="18" charset="0"/>
                          </a:rPr>
                          <m:t>𝑫</m:t>
                        </m:r>
                      </m:e>
                    </m:acc>
                    <m:r>
                      <a:rPr lang="en-US" altLang="zh-CN" sz="2800" b="1" i="1" smtClean="0">
                        <a:solidFill>
                          <a:srgbClr val="FF0000"/>
                        </a:solidFill>
                        <a:latin typeface="Cambria Math" panose="02040503050406030204" pitchFamily="18" charset="0"/>
                      </a:rPr>
                      <m:t>=</m:t>
                    </m:r>
                  </m:oMath>
                </a14:m>
                <a:r>
                  <a:rPr lang="en-US" altLang="zh-CN" sz="2800" dirty="0">
                    <a:solidFill>
                      <a:srgbClr val="FF0000"/>
                    </a:solidFill>
                  </a:rPr>
                  <a:t>1</a:t>
                </a:r>
                <a:r>
                  <a:rPr lang="zh-CN" altLang="en-US" sz="2800" dirty="0">
                    <a:solidFill>
                      <a:srgbClr val="FF0000"/>
                    </a:solidFill>
                  </a:rPr>
                  <a:t>，</a:t>
                </a:r>
                <a:r>
                  <a:rPr lang="zh-CN" altLang="en-US" sz="2800" b="1" dirty="0">
                    <a:solidFill>
                      <a:srgbClr val="FF0000"/>
                    </a:solidFill>
                  </a:rPr>
                  <a:t> </a:t>
                </a:r>
                <a14:m>
                  <m:oMath xmlns:m="http://schemas.openxmlformats.org/officeDocument/2006/math">
                    <m:acc>
                      <m:accPr>
                        <m:chr m:val="̅"/>
                        <m:ctrlPr>
                          <a:rPr lang="zh-CN" altLang="en-US" sz="2800" b="1" i="1">
                            <a:solidFill>
                              <a:srgbClr val="FF0000"/>
                            </a:solidFill>
                            <a:latin typeface="Cambria Math" panose="02040503050406030204"/>
                          </a:rPr>
                        </m:ctrlPr>
                      </m:accPr>
                      <m:e>
                        <m:r>
                          <a:rPr lang="en-US" altLang="zh-CN" sz="2800" b="1" i="1" smtClean="0">
                            <a:solidFill>
                              <a:srgbClr val="FF0000"/>
                            </a:solidFill>
                            <a:latin typeface="Cambria Math" panose="02040503050406030204" pitchFamily="18" charset="0"/>
                          </a:rPr>
                          <m:t>𝑹</m:t>
                        </m:r>
                        <m:r>
                          <a:rPr lang="en-US" altLang="zh-CN" sz="2800" b="1" i="1" baseline="-25000">
                            <a:solidFill>
                              <a:srgbClr val="FF0000"/>
                            </a:solidFill>
                            <a:latin typeface="Cambria Math" panose="02040503050406030204" pitchFamily="18" charset="0"/>
                          </a:rPr>
                          <m:t>𝑫</m:t>
                        </m:r>
                      </m:e>
                    </m:acc>
                    <m:r>
                      <a:rPr lang="en-US" altLang="zh-CN" sz="2800" b="1" i="1">
                        <a:solidFill>
                          <a:srgbClr val="FF0000"/>
                        </a:solidFill>
                        <a:latin typeface="Cambria Math" panose="02040503050406030204" pitchFamily="18" charset="0"/>
                      </a:rPr>
                      <m:t>=</m:t>
                    </m:r>
                  </m:oMath>
                </a14:m>
                <a:r>
                  <a:rPr lang="en-US" altLang="zh-CN" sz="2800" dirty="0">
                    <a:solidFill>
                      <a:srgbClr val="FF0000"/>
                    </a:solidFill>
                  </a:rPr>
                  <a:t>1</a:t>
                </a:r>
                <a:r>
                  <a:rPr lang="zh-CN" altLang="en-US" sz="2800" dirty="0"/>
                  <a:t>时</a:t>
                </a:r>
                <a:r>
                  <a:rPr lang="en-US" altLang="zh-CN" sz="2800" dirty="0"/>
                  <a:t>,</a:t>
                </a:r>
                <a:r>
                  <a:rPr lang="zh-CN" altLang="en-US" sz="2800" b="1" dirty="0"/>
                  <a:t> 触发器状态变化受输入信号</a:t>
                </a:r>
                <a:r>
                  <a:rPr lang="en-US" altLang="zh-CN" sz="2800" b="1" dirty="0"/>
                  <a:t>D</a:t>
                </a:r>
                <a:r>
                  <a:rPr lang="zh-CN" altLang="en-US" sz="2800" b="1" dirty="0"/>
                  <a:t>和时钟信号</a:t>
                </a:r>
                <a:r>
                  <a:rPr lang="en-US" altLang="zh-CN" sz="2800" b="1" dirty="0"/>
                  <a:t>CP</a:t>
                </a:r>
                <a:r>
                  <a:rPr lang="zh-CN" altLang="en-US" sz="2800" b="1" dirty="0"/>
                  <a:t>的控制</a:t>
                </a:r>
                <a:endParaRPr lang="zh-CN" altLang="en-US" sz="2800" dirty="0"/>
              </a:p>
            </p:txBody>
          </p:sp>
        </mc:Choice>
        <mc:Fallback>
          <p:sp>
            <p:nvSpPr>
              <p:cNvPr id="205" name="矩形 204"/>
              <p:cNvSpPr>
                <a:spLocks noRot="1" noChangeAspect="1" noMove="1" noResize="1" noEditPoints="1" noAdjustHandles="1" noChangeArrowheads="1" noChangeShapeType="1" noTextEdit="1"/>
              </p:cNvSpPr>
              <p:nvPr/>
            </p:nvSpPr>
            <p:spPr>
              <a:xfrm>
                <a:off x="243155" y="5717072"/>
                <a:ext cx="7925373" cy="955005"/>
              </a:xfrm>
              <a:prstGeom prst="rect">
                <a:avLst/>
              </a:prstGeom>
              <a:blipFill rotWithShape="1">
                <a:blip r:embed="rId7"/>
                <a:stretch>
                  <a:fillRect l="-7" t="-17" r="7" b="14"/>
                </a:stretch>
              </a:blipFill>
            </p:spPr>
            <p:txBody>
              <a:bodyPr/>
              <a:lstStyle/>
              <a:p>
                <a:r>
                  <a:rPr lang="zh-CN" altLang="en-US">
                    <a:noFill/>
                  </a:rPr>
                  <a:t> </a:t>
                </a:r>
              </a:p>
            </p:txBody>
          </p:sp>
        </mc:Fallback>
      </mc:AlternateContent>
      <p:sp>
        <p:nvSpPr>
          <p:cNvPr id="14" name="矩形 13"/>
          <p:cNvSpPr/>
          <p:nvPr/>
        </p:nvSpPr>
        <p:spPr>
          <a:xfrm>
            <a:off x="5947862" y="4597860"/>
            <a:ext cx="1620957" cy="523220"/>
          </a:xfrm>
          <a:prstGeom prst="rect">
            <a:avLst/>
          </a:prstGeom>
        </p:spPr>
        <p:txBody>
          <a:bodyPr wrap="none">
            <a:spAutoFit/>
          </a:bodyPr>
          <a:lstStyle/>
          <a:p>
            <a:r>
              <a:rPr lang="zh-CN" altLang="en-US" sz="2800" b="1" dirty="0">
                <a:effectLst>
                  <a:outerShdw blurRad="38100" dist="38100" dir="2700000" algn="tl">
                    <a:srgbClr val="C0C0C0"/>
                  </a:outerShdw>
                </a:effectLst>
                <a:latin typeface="Times New Roman" panose="02020603050405020304" pitchFamily="18" charset="0"/>
                <a:sym typeface="Arial" panose="020B0604020202020204" pitchFamily="34" charset="0"/>
              </a:rPr>
              <a:t>逻辑符号</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0"/>
                                        </p:tgtEl>
                                        <p:attrNameLst>
                                          <p:attrName>style.visibility</p:attrName>
                                        </p:attrNameLst>
                                      </p:cBhvr>
                                      <p:to>
                                        <p:strVal val="visible"/>
                                      </p:to>
                                    </p:set>
                                    <p:animEffect transition="in" filter="fade">
                                      <p:cBhvr>
                                        <p:cTn id="7" dur="500"/>
                                        <p:tgtEl>
                                          <p:spTgt spid="2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02"/>
                                        </p:tgtEl>
                                        <p:attrNameLst>
                                          <p:attrName>style.visibility</p:attrName>
                                        </p:attrNameLst>
                                      </p:cBhvr>
                                      <p:to>
                                        <p:strVal val="visible"/>
                                      </p:to>
                                    </p:set>
                                    <p:animEffect transition="in" filter="fade">
                                      <p:cBhvr>
                                        <p:cTn id="23" dur="500"/>
                                        <p:tgtEl>
                                          <p:spTgt spid="20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04"/>
                                        </p:tgtEl>
                                        <p:attrNameLst>
                                          <p:attrName>style.visibility</p:attrName>
                                        </p:attrNameLst>
                                      </p:cBhvr>
                                      <p:to>
                                        <p:strVal val="visible"/>
                                      </p:to>
                                    </p:set>
                                    <p:animEffect transition="in" filter="fade">
                                      <p:cBhvr>
                                        <p:cTn id="28" dur="500"/>
                                        <p:tgtEl>
                                          <p:spTgt spid="20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5"/>
                                        </p:tgtEl>
                                        <p:attrNameLst>
                                          <p:attrName>style.visibility</p:attrName>
                                        </p:attrNameLst>
                                      </p:cBhvr>
                                      <p:to>
                                        <p:strVal val="visible"/>
                                      </p:to>
                                    </p:set>
                                    <p:animEffect transition="in" filter="fade">
                                      <p:cBhvr>
                                        <p:cTn id="33" dur="500"/>
                                        <p:tgtEl>
                                          <p:spTgt spid="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00" grpId="0"/>
      <p:bldP spid="13" grpId="0"/>
      <p:bldP spid="202" grpId="0"/>
      <p:bldP spid="204" grpId="0"/>
      <p:bldP spid="205"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边沿触发的触发器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21" name="Text Box 46" descr="花束"/>
          <p:cNvSpPr txBox="1">
            <a:spLocks noChangeArrowheads="1"/>
          </p:cNvSpPr>
          <p:nvPr/>
        </p:nvSpPr>
        <p:spPr bwMode="auto">
          <a:xfrm>
            <a:off x="192570" y="603621"/>
            <a:ext cx="3189397"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边沿</a:t>
            </a:r>
            <a:r>
              <a:rPr kumimoji="1" lang="en-US" altLang="zh-CN" sz="2800" b="1" dirty="0">
                <a:solidFill>
                  <a:srgbClr val="0000FF"/>
                </a:solidFill>
                <a:latin typeface="Times New Roman" panose="02020603050405020304" pitchFamily="18" charset="0"/>
                <a:ea typeface="长城楷体" pitchFamily="1" charset="-122"/>
              </a:rPr>
              <a:t>D</a:t>
            </a:r>
            <a:r>
              <a:rPr kumimoji="1" lang="zh-CN" altLang="en-US" sz="2800" b="1" dirty="0">
                <a:solidFill>
                  <a:srgbClr val="0000FF"/>
                </a:solidFill>
                <a:latin typeface="Times New Roman" panose="02020603050405020304" pitchFamily="18" charset="0"/>
                <a:ea typeface="长城楷体" pitchFamily="1" charset="-122"/>
              </a:rPr>
              <a:t>触发器</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329" name="Rectangle 4"/>
          <p:cNvSpPr>
            <a:spLocks noChangeArrowheads="1"/>
          </p:cNvSpPr>
          <p:nvPr/>
        </p:nvSpPr>
        <p:spPr bwMode="auto">
          <a:xfrm>
            <a:off x="3723159" y="603621"/>
            <a:ext cx="22247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1.  </a:t>
            </a:r>
            <a:r>
              <a:rPr lang="zh-CN" altLang="en-US"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基本结构</a:t>
            </a:r>
            <a:endParaRPr lang="zh-CN" altLang="en-US" sz="3200" b="1" dirty="0">
              <a:solidFill>
                <a:schemeClr val="tx2"/>
              </a:solidFill>
              <a:latin typeface="Tahoma" panose="020B0604030504040204" pitchFamily="34" charset="0"/>
            </a:endParaRPr>
          </a:p>
        </p:txBody>
      </p:sp>
      <p:grpSp>
        <p:nvGrpSpPr>
          <p:cNvPr id="168" name="Group 155"/>
          <p:cNvGrpSpPr/>
          <p:nvPr/>
        </p:nvGrpSpPr>
        <p:grpSpPr bwMode="auto">
          <a:xfrm>
            <a:off x="3855065" y="1599113"/>
            <a:ext cx="3822311" cy="2329096"/>
            <a:chOff x="4218" y="2448"/>
            <a:chExt cx="1403" cy="822"/>
          </a:xfrm>
        </p:grpSpPr>
        <p:sp>
          <p:nvSpPr>
            <p:cNvPr id="169" name="Rectangle 156"/>
            <p:cNvSpPr>
              <a:spLocks noChangeArrowheads="1"/>
            </p:cNvSpPr>
            <p:nvPr/>
          </p:nvSpPr>
          <p:spPr bwMode="auto">
            <a:xfrm>
              <a:off x="4735" y="2448"/>
              <a:ext cx="466" cy="822"/>
            </a:xfrm>
            <a:prstGeom prst="rect">
              <a:avLst/>
            </a:prstGeom>
            <a:solidFill>
              <a:srgbClr val="FFFFFF"/>
            </a:solidFill>
            <a:ln w="2857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0" name="Line 157"/>
            <p:cNvSpPr>
              <a:spLocks noChangeShapeType="1"/>
            </p:cNvSpPr>
            <p:nvPr/>
          </p:nvSpPr>
          <p:spPr bwMode="auto">
            <a:xfrm>
              <a:off x="5193" y="2640"/>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1" name="Line 158"/>
            <p:cNvSpPr>
              <a:spLocks noChangeShapeType="1"/>
            </p:cNvSpPr>
            <p:nvPr/>
          </p:nvSpPr>
          <p:spPr bwMode="auto">
            <a:xfrm>
              <a:off x="5232" y="3081"/>
              <a:ext cx="240"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2" name="Oval 159"/>
            <p:cNvSpPr>
              <a:spLocks noChangeArrowheads="1"/>
            </p:cNvSpPr>
            <p:nvPr/>
          </p:nvSpPr>
          <p:spPr bwMode="auto">
            <a:xfrm>
              <a:off x="5209" y="3037"/>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3" name="Text Box 160"/>
            <p:cNvSpPr txBox="1">
              <a:spLocks noChangeArrowheads="1"/>
            </p:cNvSpPr>
            <p:nvPr/>
          </p:nvSpPr>
          <p:spPr bwMode="auto">
            <a:xfrm>
              <a:off x="5519" y="2547"/>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Q</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4" name="Text Box 161"/>
            <p:cNvSpPr txBox="1">
              <a:spLocks noChangeArrowheads="1"/>
            </p:cNvSpPr>
            <p:nvPr/>
          </p:nvSpPr>
          <p:spPr bwMode="auto">
            <a:xfrm>
              <a:off x="5454" y="3037"/>
              <a:ext cx="16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Q</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5" name="Line 162"/>
            <p:cNvSpPr>
              <a:spLocks noChangeShapeType="1"/>
            </p:cNvSpPr>
            <p:nvPr/>
          </p:nvSpPr>
          <p:spPr bwMode="auto">
            <a:xfrm>
              <a:off x="4374" y="2610"/>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6" name="Line 163"/>
            <p:cNvSpPr>
              <a:spLocks noChangeShapeType="1"/>
            </p:cNvSpPr>
            <p:nvPr/>
          </p:nvSpPr>
          <p:spPr bwMode="auto">
            <a:xfrm>
              <a:off x="4377" y="3138"/>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7" name="Line 164"/>
            <p:cNvSpPr>
              <a:spLocks noChangeShapeType="1"/>
            </p:cNvSpPr>
            <p:nvPr/>
          </p:nvSpPr>
          <p:spPr bwMode="auto">
            <a:xfrm>
              <a:off x="4455" y="2772"/>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8" name="Line 165"/>
            <p:cNvSpPr>
              <a:spLocks noChangeShapeType="1"/>
            </p:cNvSpPr>
            <p:nvPr/>
          </p:nvSpPr>
          <p:spPr bwMode="auto">
            <a:xfrm>
              <a:off x="4464" y="2946"/>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9" name="Text Box 166"/>
            <p:cNvSpPr txBox="1">
              <a:spLocks noChangeArrowheads="1"/>
            </p:cNvSpPr>
            <p:nvPr/>
          </p:nvSpPr>
          <p:spPr bwMode="auto">
            <a:xfrm>
              <a:off x="4218" y="3071"/>
              <a:ext cx="129"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0" name="Text Box 167"/>
            <p:cNvSpPr txBox="1">
              <a:spLocks noChangeArrowheads="1"/>
            </p:cNvSpPr>
            <p:nvPr/>
          </p:nvSpPr>
          <p:spPr bwMode="auto">
            <a:xfrm>
              <a:off x="4224" y="2518"/>
              <a:ext cx="11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S</a:t>
              </a:r>
              <a:r>
                <a:rPr kumimoji="1" lang="en-US" altLang="zh-CN" sz="2400" b="1" i="0" u="none" strike="noStrike" kern="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1" name="Text Box 168"/>
            <p:cNvSpPr txBox="1">
              <a:spLocks noChangeArrowheads="1"/>
            </p:cNvSpPr>
            <p:nvPr/>
          </p:nvSpPr>
          <p:spPr bwMode="auto">
            <a:xfrm>
              <a:off x="4344" y="2708"/>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2" name="Text Box 169"/>
            <p:cNvSpPr txBox="1">
              <a:spLocks noChangeArrowheads="1"/>
            </p:cNvSpPr>
            <p:nvPr/>
          </p:nvSpPr>
          <p:spPr bwMode="auto">
            <a:xfrm>
              <a:off x="4296" y="2880"/>
              <a:ext cx="14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CP</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3" name="Text Box 170"/>
            <p:cNvSpPr txBox="1">
              <a:spLocks noChangeArrowheads="1"/>
            </p:cNvSpPr>
            <p:nvPr/>
          </p:nvSpPr>
          <p:spPr bwMode="auto">
            <a:xfrm>
              <a:off x="4752" y="2534"/>
              <a:ext cx="9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S</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4" name="Text Box 171"/>
            <p:cNvSpPr txBox="1">
              <a:spLocks noChangeArrowheads="1"/>
            </p:cNvSpPr>
            <p:nvPr/>
          </p:nvSpPr>
          <p:spPr bwMode="auto">
            <a:xfrm>
              <a:off x="4753" y="3065"/>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R</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5" name="Text Box 172"/>
            <p:cNvSpPr txBox="1">
              <a:spLocks noChangeArrowheads="1"/>
            </p:cNvSpPr>
            <p:nvPr/>
          </p:nvSpPr>
          <p:spPr bwMode="auto">
            <a:xfrm>
              <a:off x="4746" y="2707"/>
              <a:ext cx="13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1D</a:t>
              </a:r>
              <a:endPar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6" name="Text Box 173"/>
            <p:cNvSpPr txBox="1">
              <a:spLocks noChangeArrowheads="1"/>
            </p:cNvSpPr>
            <p:nvPr/>
          </p:nvSpPr>
          <p:spPr bwMode="auto">
            <a:xfrm>
              <a:off x="4845" y="2887"/>
              <a:ext cx="13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C1</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7" name="Freeform 174"/>
            <p:cNvSpPr/>
            <p:nvPr/>
          </p:nvSpPr>
          <p:spPr bwMode="auto">
            <a:xfrm>
              <a:off x="4748" y="2910"/>
              <a:ext cx="66" cy="76"/>
            </a:xfrm>
            <a:custGeom>
              <a:avLst/>
              <a:gdLst>
                <a:gd name="T0" fmla="*/ 0 w 48"/>
                <a:gd name="T1" fmla="*/ 0 h 76"/>
                <a:gd name="T2" fmla="*/ 48 w 48"/>
                <a:gd name="T3" fmla="*/ 28 h 76"/>
                <a:gd name="T4" fmla="*/ 0 w 48"/>
                <a:gd name="T5" fmla="*/ 76 h 76"/>
              </a:gdLst>
              <a:ahLst/>
              <a:cxnLst>
                <a:cxn ang="0">
                  <a:pos x="T0" y="T1"/>
                </a:cxn>
                <a:cxn ang="0">
                  <a:pos x="T2" y="T3"/>
                </a:cxn>
                <a:cxn ang="0">
                  <a:pos x="T4" y="T5"/>
                </a:cxn>
              </a:cxnLst>
              <a:rect l="0" t="0" r="r" b="b"/>
              <a:pathLst>
                <a:path w="48" h="76">
                  <a:moveTo>
                    <a:pt x="0" y="0"/>
                  </a:moveTo>
                  <a:lnTo>
                    <a:pt x="48" y="28"/>
                  </a:lnTo>
                  <a:lnTo>
                    <a:pt x="0" y="76"/>
                  </a:lnTo>
                </a:path>
              </a:pathLst>
            </a:custGeom>
            <a:solidFill>
              <a:srgbClr val="FFFFFF"/>
            </a:solidFill>
            <a:ln w="34925"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8" name="Oval 175"/>
            <p:cNvSpPr>
              <a:spLocks noChangeArrowheads="1"/>
            </p:cNvSpPr>
            <p:nvPr/>
          </p:nvSpPr>
          <p:spPr bwMode="auto">
            <a:xfrm>
              <a:off x="4642" y="2565"/>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9" name="Oval 176"/>
            <p:cNvSpPr>
              <a:spLocks noChangeArrowheads="1"/>
            </p:cNvSpPr>
            <p:nvPr/>
          </p:nvSpPr>
          <p:spPr bwMode="auto">
            <a:xfrm>
              <a:off x="4642" y="3090"/>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cxnSp>
        <p:nvCxnSpPr>
          <p:cNvPr id="3" name="直接连接符 2"/>
          <p:cNvCxnSpPr/>
          <p:nvPr/>
        </p:nvCxnSpPr>
        <p:spPr>
          <a:xfrm>
            <a:off x="3871411" y="1842790"/>
            <a:ext cx="279249"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3894076" y="3418188"/>
            <a:ext cx="273421"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5094529" y="4064096"/>
            <a:ext cx="1620957" cy="523220"/>
          </a:xfrm>
          <a:prstGeom prst="rect">
            <a:avLst/>
          </a:prstGeom>
        </p:spPr>
        <p:txBody>
          <a:bodyPr wrap="none">
            <a:spAutoFit/>
          </a:bodyPr>
          <a:lstStyle/>
          <a:p>
            <a:r>
              <a:rPr lang="zh-CN" altLang="en-US" sz="2800" b="1" dirty="0">
                <a:effectLst>
                  <a:outerShdw blurRad="38100" dist="38100" dir="2700000" algn="tl">
                    <a:srgbClr val="C0C0C0"/>
                  </a:outerShdw>
                </a:effectLst>
                <a:latin typeface="Times New Roman" panose="02020603050405020304" pitchFamily="18" charset="0"/>
                <a:sym typeface="Arial" panose="020B0604020202020204" pitchFamily="34" charset="0"/>
              </a:rPr>
              <a:t>逻辑符号</a:t>
            </a:r>
            <a:endParaRPr lang="zh-CN" altLang="en-US" sz="2800" dirty="0"/>
          </a:p>
        </p:txBody>
      </p:sp>
      <p:sp>
        <p:nvSpPr>
          <p:cNvPr id="2" name="对话气泡: 矩形 1"/>
          <p:cNvSpPr/>
          <p:nvPr/>
        </p:nvSpPr>
        <p:spPr>
          <a:xfrm>
            <a:off x="551265" y="1783352"/>
            <a:ext cx="2639844" cy="2763270"/>
          </a:xfrm>
          <a:prstGeom prst="wedgeRectCallout">
            <a:avLst>
              <a:gd name="adj1" fmla="val 127657"/>
              <a:gd name="adj2" fmla="val -802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zh-CN" altLang="en-US" sz="2400" b="1" dirty="0">
                <a:solidFill>
                  <a:srgbClr val="7030A0"/>
                </a:solidFill>
                <a:latin typeface="黑体" panose="02010609060101010101" pitchFamily="49" charset="-122"/>
                <a:ea typeface="黑体" panose="02010609060101010101" pitchFamily="49" charset="-122"/>
              </a:rPr>
              <a:t>“</a:t>
            </a:r>
            <a:r>
              <a:rPr lang="en-US" altLang="zh-CN" sz="2400" b="1" dirty="0">
                <a:solidFill>
                  <a:srgbClr val="FF0000"/>
                </a:solidFill>
                <a:latin typeface="黑体" panose="02010609060101010101" pitchFamily="49" charset="-122"/>
                <a:ea typeface="黑体" panose="02010609060101010101" pitchFamily="49" charset="-122"/>
              </a:rPr>
              <a:t>&gt;</a:t>
            </a:r>
            <a:r>
              <a:rPr lang="zh-CN" altLang="en-US" sz="2400" b="1" dirty="0">
                <a:solidFill>
                  <a:srgbClr val="7030A0"/>
                </a:solidFill>
                <a:latin typeface="黑体" panose="02010609060101010101" pitchFamily="49" charset="-122"/>
                <a:ea typeface="黑体" panose="02010609060101010101" pitchFamily="49" charset="-122"/>
              </a:rPr>
              <a:t>”表示边沿触发</a:t>
            </a:r>
            <a:endParaRPr lang="en-US" altLang="zh-CN" sz="2400" b="1" dirty="0">
              <a:solidFill>
                <a:srgbClr val="7030A0"/>
              </a:solidFill>
              <a:latin typeface="黑体" panose="02010609060101010101" pitchFamily="49" charset="-122"/>
              <a:ea typeface="黑体" panose="02010609060101010101" pitchFamily="49" charset="-122"/>
            </a:endParaRPr>
          </a:p>
          <a:p>
            <a:pPr marL="285750" indent="-285750" algn="just">
              <a:buFont typeface="Wingdings" panose="05000000000000000000" pitchFamily="2" charset="2"/>
              <a:buChar char="Ø"/>
            </a:pPr>
            <a:r>
              <a:rPr lang="en-US" altLang="zh-CN" sz="2400" b="1" dirty="0">
                <a:solidFill>
                  <a:srgbClr val="7030A0"/>
                </a:solidFill>
                <a:latin typeface="黑体" panose="02010609060101010101" pitchFamily="49" charset="-122"/>
                <a:ea typeface="黑体" panose="02010609060101010101" pitchFamily="49" charset="-122"/>
              </a:rPr>
              <a:t>CP</a:t>
            </a:r>
            <a:r>
              <a:rPr lang="zh-CN" altLang="en-US" sz="2400" b="1" dirty="0">
                <a:solidFill>
                  <a:srgbClr val="7030A0"/>
                </a:solidFill>
                <a:latin typeface="黑体" panose="02010609060101010101" pitchFamily="49" charset="-122"/>
                <a:ea typeface="黑体" panose="02010609060101010101" pitchFamily="49" charset="-122"/>
              </a:rPr>
              <a:t>线顶端没有小圆圈表示“</a:t>
            </a:r>
            <a:r>
              <a:rPr lang="zh-CN" altLang="en-US" sz="2400" b="1" dirty="0">
                <a:solidFill>
                  <a:srgbClr val="FF0000"/>
                </a:solidFill>
                <a:latin typeface="黑体" panose="02010609060101010101" pitchFamily="49" charset="-122"/>
                <a:ea typeface="黑体" panose="02010609060101010101" pitchFamily="49" charset="-122"/>
              </a:rPr>
              <a:t>上升沿触发</a:t>
            </a:r>
            <a:r>
              <a:rPr lang="zh-CN" altLang="en-US" sz="2400" b="1" dirty="0">
                <a:solidFill>
                  <a:srgbClr val="7030A0"/>
                </a:solidFill>
                <a:latin typeface="黑体" panose="02010609060101010101" pitchFamily="49" charset="-122"/>
                <a:ea typeface="黑体" panose="02010609060101010101" pitchFamily="49" charset="-122"/>
              </a:rPr>
              <a:t>”</a:t>
            </a:r>
            <a:endParaRPr lang="zh-CN" altLang="en-US" sz="2400" b="1" dirty="0">
              <a:solidFill>
                <a:srgbClr val="7030A0"/>
              </a:solidFill>
              <a:latin typeface="黑体" panose="02010609060101010101" pitchFamily="49" charset="-122"/>
              <a:ea typeface="黑体" panose="02010609060101010101" pitchFamily="49" charset="-122"/>
            </a:endParaRPr>
          </a:p>
        </p:txBody>
      </p:sp>
      <mc:AlternateContent xmlns:mc="http://schemas.openxmlformats.org/markup-compatibility/2006">
        <mc:Choice xmlns:a14="http://schemas.microsoft.com/office/drawing/2010/main" Requires="a14">
          <p:sp>
            <p:nvSpPr>
              <p:cNvPr id="5" name="矩形 4"/>
              <p:cNvSpPr/>
              <p:nvPr/>
            </p:nvSpPr>
            <p:spPr>
              <a:xfrm>
                <a:off x="2319516" y="5819518"/>
                <a:ext cx="3383038" cy="58477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sz="3200" i="1">
                              <a:latin typeface="Cambria Math" panose="02040503050406030204"/>
                            </a:rPr>
                          </m:ctrlPr>
                        </m:sSupPr>
                        <m:e>
                          <m:r>
                            <a:rPr lang="zh-CN" altLang="en-US" sz="3200" i="1">
                              <a:latin typeface="Cambria Math" panose="02040503050406030204" pitchFamily="18" charset="0"/>
                            </a:rPr>
                            <m:t>𝑄</m:t>
                          </m:r>
                        </m:e>
                        <m:sup>
                          <m:r>
                            <a:rPr lang="zh-CN" altLang="en-US" sz="3200" i="1">
                              <a:latin typeface="Cambria Math" panose="02040503050406030204" pitchFamily="18" charset="0"/>
                            </a:rPr>
                            <m:t>𝑛</m:t>
                          </m:r>
                          <m:r>
                            <a:rPr lang="zh-CN" altLang="en-US" sz="3200" i="0">
                              <a:latin typeface="Cambria Math" panose="02040503050406030204" pitchFamily="18" charset="0"/>
                            </a:rPr>
                            <m:t>+</m:t>
                          </m:r>
                          <m:r>
                            <a:rPr lang="zh-CN" altLang="en-US" sz="3200" i="0">
                              <a:latin typeface="Cambria Math" panose="02040503050406030204" pitchFamily="18" charset="0"/>
                            </a:rPr>
                            <m:t>1</m:t>
                          </m:r>
                        </m:sup>
                      </m:sSup>
                      <m:r>
                        <a:rPr lang="zh-CN" altLang="en-US" sz="3200" i="0">
                          <a:latin typeface="Cambria Math" panose="02040503050406030204" pitchFamily="18" charset="0"/>
                        </a:rPr>
                        <m:t>=</m:t>
                      </m:r>
                      <m:r>
                        <a:rPr lang="zh-CN" altLang="en-US" sz="3200" i="1">
                          <a:latin typeface="Cambria Math" panose="02040503050406030204" pitchFamily="18" charset="0"/>
                        </a:rPr>
                        <m:t>𝐷</m:t>
                      </m:r>
                    </m:oMath>
                  </m:oMathPara>
                </a14:m>
                <a:endParaRPr lang="zh-CN" altLang="en-US" sz="3200" dirty="0"/>
              </a:p>
            </p:txBody>
          </p:sp>
        </mc:Choice>
        <mc:Fallback>
          <p:sp>
            <p:nvSpPr>
              <p:cNvPr id="5" name="矩形 4"/>
              <p:cNvSpPr>
                <a:spLocks noRot="1" noChangeAspect="1" noMove="1" noResize="1" noEditPoints="1" noAdjustHandles="1" noChangeArrowheads="1" noChangeShapeType="1" noTextEdit="1"/>
              </p:cNvSpPr>
              <p:nvPr/>
            </p:nvSpPr>
            <p:spPr>
              <a:xfrm>
                <a:off x="2319516" y="5819518"/>
                <a:ext cx="3383038" cy="584775"/>
              </a:xfrm>
              <a:prstGeom prst="rect">
                <a:avLst/>
              </a:prstGeom>
              <a:blipFill rotWithShape="1">
                <a:blip r:embed="rId3"/>
                <a:stretch>
                  <a:fillRect l="-15" t="-65" r="8" b="54"/>
                </a:stretch>
              </a:blipFill>
            </p:spPr>
            <p:txBody>
              <a:bodyPr/>
              <a:lstStyle/>
              <a:p>
                <a:r>
                  <a:rPr lang="zh-CN" altLang="en-US">
                    <a:noFill/>
                  </a:rPr>
                  <a:t> </a:t>
                </a:r>
              </a:p>
            </p:txBody>
          </p:sp>
        </mc:Fallback>
      </mc:AlternateContent>
      <p:sp>
        <p:nvSpPr>
          <p:cNvPr id="34" name="Rectangle 4"/>
          <p:cNvSpPr>
            <a:spLocks noChangeArrowheads="1"/>
          </p:cNvSpPr>
          <p:nvPr/>
        </p:nvSpPr>
        <p:spPr bwMode="auto">
          <a:xfrm>
            <a:off x="452566" y="5236143"/>
            <a:ext cx="22247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2.  </a:t>
            </a:r>
            <a:r>
              <a:rPr lang="zh-CN" altLang="en-US"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状态方程</a:t>
            </a:r>
            <a:endParaRPr lang="zh-CN" altLang="en-US" sz="3200" b="1" dirty="0">
              <a:solidFill>
                <a:schemeClr val="tx2"/>
              </a:solidFill>
              <a:latin typeface="Tahoma" panose="020B060403050404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边沿触发的触发器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21" name="Text Box 46" descr="花束"/>
          <p:cNvSpPr txBox="1">
            <a:spLocks noChangeArrowheads="1"/>
          </p:cNvSpPr>
          <p:nvPr/>
        </p:nvSpPr>
        <p:spPr bwMode="auto">
          <a:xfrm>
            <a:off x="192570" y="603621"/>
            <a:ext cx="3189397"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边沿</a:t>
            </a:r>
            <a:r>
              <a:rPr kumimoji="1" lang="en-US" altLang="zh-CN" sz="2800" b="1" dirty="0">
                <a:solidFill>
                  <a:srgbClr val="0000FF"/>
                </a:solidFill>
                <a:latin typeface="Times New Roman" panose="02020603050405020304" pitchFamily="18" charset="0"/>
                <a:ea typeface="长城楷体" pitchFamily="1" charset="-122"/>
              </a:rPr>
              <a:t>D</a:t>
            </a:r>
            <a:r>
              <a:rPr kumimoji="1" lang="zh-CN" altLang="en-US" sz="2800" b="1" dirty="0">
                <a:solidFill>
                  <a:srgbClr val="0000FF"/>
                </a:solidFill>
                <a:latin typeface="Times New Roman" panose="02020603050405020304" pitchFamily="18" charset="0"/>
                <a:ea typeface="长城楷体" pitchFamily="1" charset="-122"/>
              </a:rPr>
              <a:t>触发器</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329" name="Rectangle 4"/>
          <p:cNvSpPr>
            <a:spLocks noChangeArrowheads="1"/>
          </p:cNvSpPr>
          <p:nvPr/>
        </p:nvSpPr>
        <p:spPr bwMode="auto">
          <a:xfrm>
            <a:off x="3723159" y="603621"/>
            <a:ext cx="22247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3.  </a:t>
            </a:r>
            <a:r>
              <a:rPr lang="zh-CN" altLang="en-US"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功能表</a:t>
            </a:r>
            <a:endParaRPr lang="zh-CN" altLang="en-US" sz="3200" b="1" dirty="0">
              <a:solidFill>
                <a:schemeClr val="tx2"/>
              </a:solidFill>
              <a:latin typeface="Tahoma" panose="020B0604030504040204" pitchFamily="34" charset="0"/>
            </a:endParaRPr>
          </a:p>
        </p:txBody>
      </p:sp>
      <p:grpSp>
        <p:nvGrpSpPr>
          <p:cNvPr id="168" name="Group 155"/>
          <p:cNvGrpSpPr/>
          <p:nvPr/>
        </p:nvGrpSpPr>
        <p:grpSpPr bwMode="auto">
          <a:xfrm>
            <a:off x="245514" y="2175600"/>
            <a:ext cx="3822311" cy="2329096"/>
            <a:chOff x="4218" y="2448"/>
            <a:chExt cx="1403" cy="822"/>
          </a:xfrm>
        </p:grpSpPr>
        <p:sp>
          <p:nvSpPr>
            <p:cNvPr id="169" name="Rectangle 156"/>
            <p:cNvSpPr>
              <a:spLocks noChangeArrowheads="1"/>
            </p:cNvSpPr>
            <p:nvPr/>
          </p:nvSpPr>
          <p:spPr bwMode="auto">
            <a:xfrm>
              <a:off x="4735" y="2448"/>
              <a:ext cx="466" cy="822"/>
            </a:xfrm>
            <a:prstGeom prst="rect">
              <a:avLst/>
            </a:prstGeom>
            <a:solidFill>
              <a:srgbClr val="FFFFFF"/>
            </a:solidFill>
            <a:ln w="2857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0" name="Line 157"/>
            <p:cNvSpPr>
              <a:spLocks noChangeShapeType="1"/>
            </p:cNvSpPr>
            <p:nvPr/>
          </p:nvSpPr>
          <p:spPr bwMode="auto">
            <a:xfrm>
              <a:off x="5193" y="2640"/>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1" name="Line 158"/>
            <p:cNvSpPr>
              <a:spLocks noChangeShapeType="1"/>
            </p:cNvSpPr>
            <p:nvPr/>
          </p:nvSpPr>
          <p:spPr bwMode="auto">
            <a:xfrm>
              <a:off x="5232" y="3081"/>
              <a:ext cx="240"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2" name="Oval 159"/>
            <p:cNvSpPr>
              <a:spLocks noChangeArrowheads="1"/>
            </p:cNvSpPr>
            <p:nvPr/>
          </p:nvSpPr>
          <p:spPr bwMode="auto">
            <a:xfrm>
              <a:off x="5209" y="3037"/>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3" name="Text Box 160"/>
            <p:cNvSpPr txBox="1">
              <a:spLocks noChangeArrowheads="1"/>
            </p:cNvSpPr>
            <p:nvPr/>
          </p:nvSpPr>
          <p:spPr bwMode="auto">
            <a:xfrm>
              <a:off x="5519" y="2547"/>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Q</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4" name="Text Box 161"/>
            <p:cNvSpPr txBox="1">
              <a:spLocks noChangeArrowheads="1"/>
            </p:cNvSpPr>
            <p:nvPr/>
          </p:nvSpPr>
          <p:spPr bwMode="auto">
            <a:xfrm>
              <a:off x="5454" y="3037"/>
              <a:ext cx="16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sym typeface="Symbol" panose="05050102010706020507" pitchFamily="18" charset="2"/>
                </a:rPr>
                <a:t></a:t>
              </a: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 Q</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75" name="Line 162"/>
            <p:cNvSpPr>
              <a:spLocks noChangeShapeType="1"/>
            </p:cNvSpPr>
            <p:nvPr/>
          </p:nvSpPr>
          <p:spPr bwMode="auto">
            <a:xfrm>
              <a:off x="4374" y="2610"/>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6" name="Line 163"/>
            <p:cNvSpPr>
              <a:spLocks noChangeShapeType="1"/>
            </p:cNvSpPr>
            <p:nvPr/>
          </p:nvSpPr>
          <p:spPr bwMode="auto">
            <a:xfrm>
              <a:off x="4377" y="3138"/>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7" name="Line 164"/>
            <p:cNvSpPr>
              <a:spLocks noChangeShapeType="1"/>
            </p:cNvSpPr>
            <p:nvPr/>
          </p:nvSpPr>
          <p:spPr bwMode="auto">
            <a:xfrm>
              <a:off x="4455" y="2772"/>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8" name="Line 165"/>
            <p:cNvSpPr>
              <a:spLocks noChangeShapeType="1"/>
            </p:cNvSpPr>
            <p:nvPr/>
          </p:nvSpPr>
          <p:spPr bwMode="auto">
            <a:xfrm>
              <a:off x="4464" y="2946"/>
              <a:ext cx="279" cy="0"/>
            </a:xfrm>
            <a:prstGeom prst="line">
              <a:avLst/>
            </a:prstGeom>
            <a:noFill/>
            <a:ln w="28575">
              <a:solidFill>
                <a:srgbClr val="3333C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79" name="Text Box 166"/>
            <p:cNvSpPr txBox="1">
              <a:spLocks noChangeArrowheads="1"/>
            </p:cNvSpPr>
            <p:nvPr/>
          </p:nvSpPr>
          <p:spPr bwMode="auto">
            <a:xfrm>
              <a:off x="4218" y="3071"/>
              <a:ext cx="129"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R</a:t>
              </a:r>
              <a:r>
                <a:rPr kumimoji="1" lang="en-US" altLang="zh-CN" sz="2400" b="1" i="0" u="none" strike="noStrike" kern="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0" name="Text Box 167"/>
            <p:cNvSpPr txBox="1">
              <a:spLocks noChangeArrowheads="1"/>
            </p:cNvSpPr>
            <p:nvPr/>
          </p:nvSpPr>
          <p:spPr bwMode="auto">
            <a:xfrm>
              <a:off x="4224" y="2518"/>
              <a:ext cx="117"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S</a:t>
              </a:r>
              <a:r>
                <a:rPr kumimoji="1" lang="en-US" altLang="zh-CN" sz="2400" b="1" i="0" u="none" strike="noStrike" kern="0" cap="none" spc="0" normalizeH="0" baseline="-2500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1" name="Text Box 168"/>
            <p:cNvSpPr txBox="1">
              <a:spLocks noChangeArrowheads="1"/>
            </p:cNvSpPr>
            <p:nvPr/>
          </p:nvSpPr>
          <p:spPr bwMode="auto">
            <a:xfrm>
              <a:off x="4344" y="2708"/>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D</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2" name="Text Box 169"/>
            <p:cNvSpPr txBox="1">
              <a:spLocks noChangeArrowheads="1"/>
            </p:cNvSpPr>
            <p:nvPr/>
          </p:nvSpPr>
          <p:spPr bwMode="auto">
            <a:xfrm>
              <a:off x="4296" y="2880"/>
              <a:ext cx="144"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CP</a:t>
              </a:r>
              <a:endParaRPr kumimoji="1" lang="en-US" altLang="zh-CN" sz="2400" b="1" i="1"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3" name="Text Box 170"/>
            <p:cNvSpPr txBox="1">
              <a:spLocks noChangeArrowheads="1"/>
            </p:cNvSpPr>
            <p:nvPr/>
          </p:nvSpPr>
          <p:spPr bwMode="auto">
            <a:xfrm>
              <a:off x="4752" y="2534"/>
              <a:ext cx="93"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S</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4" name="Text Box 171"/>
            <p:cNvSpPr txBox="1">
              <a:spLocks noChangeArrowheads="1"/>
            </p:cNvSpPr>
            <p:nvPr/>
          </p:nvSpPr>
          <p:spPr bwMode="auto">
            <a:xfrm>
              <a:off x="4753" y="3065"/>
              <a:ext cx="82"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R</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5" name="Text Box 172"/>
            <p:cNvSpPr txBox="1">
              <a:spLocks noChangeArrowheads="1"/>
            </p:cNvSpPr>
            <p:nvPr/>
          </p:nvSpPr>
          <p:spPr bwMode="auto">
            <a:xfrm>
              <a:off x="4746" y="2707"/>
              <a:ext cx="13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1D</a:t>
              </a:r>
              <a:endParaRPr kumimoji="1" lang="en-US" altLang="zh-CN" sz="20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6" name="Text Box 173"/>
            <p:cNvSpPr txBox="1">
              <a:spLocks noChangeArrowheads="1"/>
            </p:cNvSpPr>
            <p:nvPr/>
          </p:nvSpPr>
          <p:spPr bwMode="auto">
            <a:xfrm>
              <a:off x="4845" y="2887"/>
              <a:ext cx="138" cy="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rPr>
                <a:t>C1</a:t>
              </a:r>
              <a:endParaRPr kumimoji="1" lang="en-US" altLang="zh-CN" sz="2400" b="1" i="0" u="none" strike="noStrike" kern="0" cap="none" spc="0" normalizeH="0" baseline="0" noProof="0" dirty="0">
                <a:ln>
                  <a:noFill/>
                </a:ln>
                <a:solidFill>
                  <a:srgbClr val="3333CC"/>
                </a:solidFill>
                <a:effectLst/>
                <a:uLnTx/>
                <a:uFillTx/>
                <a:latin typeface="Times New Roman" panose="02020603050405020304" pitchFamily="18" charset="0"/>
                <a:ea typeface="宋体" panose="02010600030101010101" pitchFamily="2" charset="-122"/>
              </a:endParaRPr>
            </a:p>
          </p:txBody>
        </p:sp>
        <p:sp>
          <p:nvSpPr>
            <p:cNvPr id="187" name="Freeform 174"/>
            <p:cNvSpPr/>
            <p:nvPr/>
          </p:nvSpPr>
          <p:spPr bwMode="auto">
            <a:xfrm>
              <a:off x="4748" y="2910"/>
              <a:ext cx="66" cy="76"/>
            </a:xfrm>
            <a:custGeom>
              <a:avLst/>
              <a:gdLst>
                <a:gd name="T0" fmla="*/ 0 w 48"/>
                <a:gd name="T1" fmla="*/ 0 h 76"/>
                <a:gd name="T2" fmla="*/ 48 w 48"/>
                <a:gd name="T3" fmla="*/ 28 h 76"/>
                <a:gd name="T4" fmla="*/ 0 w 48"/>
                <a:gd name="T5" fmla="*/ 76 h 76"/>
              </a:gdLst>
              <a:ahLst/>
              <a:cxnLst>
                <a:cxn ang="0">
                  <a:pos x="T0" y="T1"/>
                </a:cxn>
                <a:cxn ang="0">
                  <a:pos x="T2" y="T3"/>
                </a:cxn>
                <a:cxn ang="0">
                  <a:pos x="T4" y="T5"/>
                </a:cxn>
              </a:cxnLst>
              <a:rect l="0" t="0" r="r" b="b"/>
              <a:pathLst>
                <a:path w="48" h="76">
                  <a:moveTo>
                    <a:pt x="0" y="0"/>
                  </a:moveTo>
                  <a:lnTo>
                    <a:pt x="48" y="28"/>
                  </a:lnTo>
                  <a:lnTo>
                    <a:pt x="0" y="76"/>
                  </a:lnTo>
                </a:path>
              </a:pathLst>
            </a:custGeom>
            <a:solidFill>
              <a:srgbClr val="FFFFFF"/>
            </a:solidFill>
            <a:ln w="34925" cmpd="sng">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8" name="Oval 175"/>
            <p:cNvSpPr>
              <a:spLocks noChangeArrowheads="1"/>
            </p:cNvSpPr>
            <p:nvPr/>
          </p:nvSpPr>
          <p:spPr bwMode="auto">
            <a:xfrm>
              <a:off x="4642" y="2565"/>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89" name="Oval 176"/>
            <p:cNvSpPr>
              <a:spLocks noChangeArrowheads="1"/>
            </p:cNvSpPr>
            <p:nvPr/>
          </p:nvSpPr>
          <p:spPr bwMode="auto">
            <a:xfrm>
              <a:off x="4642" y="3090"/>
              <a:ext cx="81" cy="81"/>
            </a:xfrm>
            <a:prstGeom prst="ellipse">
              <a:avLst/>
            </a:prstGeom>
            <a:solidFill>
              <a:srgbClr val="FFFFFF"/>
            </a:solidFill>
            <a:ln w="28575">
              <a:solidFill>
                <a:srgbClr val="3333CC"/>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0"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cxnSp>
        <p:nvCxnSpPr>
          <p:cNvPr id="3" name="直接连接符 2"/>
          <p:cNvCxnSpPr/>
          <p:nvPr/>
        </p:nvCxnSpPr>
        <p:spPr>
          <a:xfrm>
            <a:off x="261860" y="2379181"/>
            <a:ext cx="279249"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a:off x="184595" y="3974768"/>
            <a:ext cx="273421" cy="0"/>
          </a:xfrm>
          <a:prstGeom prst="line">
            <a:avLst/>
          </a:prstGeom>
          <a:ln w="25400">
            <a:solidFill>
              <a:srgbClr val="0000FF"/>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1484978" y="4640583"/>
            <a:ext cx="1620957" cy="523220"/>
          </a:xfrm>
          <a:prstGeom prst="rect">
            <a:avLst/>
          </a:prstGeom>
        </p:spPr>
        <p:txBody>
          <a:bodyPr wrap="none">
            <a:spAutoFit/>
          </a:bodyPr>
          <a:lstStyle/>
          <a:p>
            <a:r>
              <a:rPr lang="zh-CN" altLang="en-US" sz="2800" b="1" dirty="0">
                <a:effectLst>
                  <a:outerShdw blurRad="38100" dist="38100" dir="2700000" algn="tl">
                    <a:srgbClr val="C0C0C0"/>
                  </a:outerShdw>
                </a:effectLst>
                <a:latin typeface="Times New Roman" panose="02020603050405020304" pitchFamily="18" charset="0"/>
                <a:sym typeface="Arial" panose="020B0604020202020204" pitchFamily="34" charset="0"/>
              </a:rPr>
              <a:t>逻辑符号</a:t>
            </a:r>
            <a:endParaRPr lang="zh-CN" altLang="en-US" sz="2800" dirty="0"/>
          </a:p>
        </p:txBody>
      </p:sp>
      <p:grpSp>
        <p:nvGrpSpPr>
          <p:cNvPr id="80" name="Group 5"/>
          <p:cNvGrpSpPr/>
          <p:nvPr/>
        </p:nvGrpSpPr>
        <p:grpSpPr bwMode="auto">
          <a:xfrm>
            <a:off x="4757094" y="1680391"/>
            <a:ext cx="3024823" cy="2375535"/>
            <a:chOff x="0" y="0"/>
            <a:chExt cx="4763" cy="3741"/>
          </a:xfrm>
        </p:grpSpPr>
        <p:grpSp>
          <p:nvGrpSpPr>
            <p:cNvPr id="81" name="Group 6"/>
            <p:cNvGrpSpPr/>
            <p:nvPr/>
          </p:nvGrpSpPr>
          <p:grpSpPr bwMode="auto">
            <a:xfrm>
              <a:off x="223" y="111"/>
              <a:ext cx="4540" cy="3516"/>
              <a:chOff x="0" y="0"/>
              <a:chExt cx="1816" cy="1406"/>
            </a:xfrm>
          </p:grpSpPr>
          <p:sp>
            <p:nvSpPr>
              <p:cNvPr id="83" name="Rectangle 7"/>
              <p:cNvSpPr>
                <a:spLocks noChangeArrowheads="1"/>
              </p:cNvSpPr>
              <p:nvPr/>
            </p:nvSpPr>
            <p:spPr bwMode="auto">
              <a:xfrm>
                <a:off x="1318" y="106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4" name="Rectangle 8"/>
              <p:cNvSpPr>
                <a:spLocks noChangeArrowheads="1"/>
              </p:cNvSpPr>
              <p:nvPr/>
            </p:nvSpPr>
            <p:spPr bwMode="auto">
              <a:xfrm>
                <a:off x="879" y="106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X</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5" name="Rectangle 9"/>
              <p:cNvSpPr>
                <a:spLocks noChangeArrowheads="1"/>
              </p:cNvSpPr>
              <p:nvPr/>
            </p:nvSpPr>
            <p:spPr bwMode="auto">
              <a:xfrm>
                <a:off x="439" y="1066"/>
                <a:ext cx="440"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1</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6" name="Rectangle 10"/>
              <p:cNvSpPr>
                <a:spLocks noChangeArrowheads="1"/>
              </p:cNvSpPr>
              <p:nvPr/>
            </p:nvSpPr>
            <p:spPr bwMode="auto">
              <a:xfrm>
                <a:off x="0" y="106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87" name="Rectangle 11"/>
              <p:cNvSpPr>
                <a:spLocks noChangeArrowheads="1"/>
              </p:cNvSpPr>
              <p:nvPr/>
            </p:nvSpPr>
            <p:spPr bwMode="auto">
              <a:xfrm>
                <a:off x="1318" y="72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0</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8" name="Rectangle 12"/>
              <p:cNvSpPr>
                <a:spLocks noChangeArrowheads="1"/>
              </p:cNvSpPr>
              <p:nvPr/>
            </p:nvSpPr>
            <p:spPr bwMode="auto">
              <a:xfrm>
                <a:off x="879" y="72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X</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89" name="Rectangle 13"/>
              <p:cNvSpPr>
                <a:spLocks noChangeArrowheads="1"/>
              </p:cNvSpPr>
              <p:nvPr/>
            </p:nvSpPr>
            <p:spPr bwMode="auto">
              <a:xfrm>
                <a:off x="439" y="726"/>
                <a:ext cx="440"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0</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90" name="Rectangle 14"/>
              <p:cNvSpPr>
                <a:spLocks noChangeArrowheads="1"/>
              </p:cNvSpPr>
              <p:nvPr/>
            </p:nvSpPr>
            <p:spPr bwMode="auto">
              <a:xfrm>
                <a:off x="0" y="72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1" name="Rectangle 15"/>
              <p:cNvSpPr>
                <a:spLocks noChangeArrowheads="1"/>
              </p:cNvSpPr>
              <p:nvPr/>
            </p:nvSpPr>
            <p:spPr bwMode="auto">
              <a:xfrm>
                <a:off x="1318" y="38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4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2" name="Rectangle 16"/>
              <p:cNvSpPr>
                <a:spLocks noChangeArrowheads="1"/>
              </p:cNvSpPr>
              <p:nvPr/>
            </p:nvSpPr>
            <p:spPr bwMode="auto">
              <a:xfrm>
                <a:off x="879" y="38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X</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93" name="Rectangle 17"/>
              <p:cNvSpPr>
                <a:spLocks noChangeArrowheads="1"/>
              </p:cNvSpPr>
              <p:nvPr/>
            </p:nvSpPr>
            <p:spPr bwMode="auto">
              <a:xfrm>
                <a:off x="439" y="386"/>
                <a:ext cx="440"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X</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94" name="Rectangle 18"/>
              <p:cNvSpPr>
                <a:spLocks noChangeArrowheads="1"/>
              </p:cNvSpPr>
              <p:nvPr/>
            </p:nvSpPr>
            <p:spPr bwMode="auto">
              <a:xfrm>
                <a:off x="0" y="386"/>
                <a:ext cx="439" cy="34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r>
                  <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rPr>
                  <a:t>0,1</a:t>
                </a:r>
                <a:endParaRPr kumimoji="0" lang="en-US" altLang="zh-CN" sz="240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endParaRPr>
              </a:p>
            </p:txBody>
          </p:sp>
          <p:sp>
            <p:nvSpPr>
              <p:cNvPr id="95" name="Rectangle 19"/>
              <p:cNvSpPr>
                <a:spLocks noChangeArrowheads="1"/>
              </p:cNvSpPr>
              <p:nvPr/>
            </p:nvSpPr>
            <p:spPr bwMode="auto">
              <a:xfrm>
                <a:off x="1318" y="0"/>
                <a:ext cx="439" cy="38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6" name="Rectangle 20"/>
              <p:cNvSpPr>
                <a:spLocks noChangeArrowheads="1"/>
              </p:cNvSpPr>
              <p:nvPr/>
            </p:nvSpPr>
            <p:spPr bwMode="auto">
              <a:xfrm>
                <a:off x="879" y="0"/>
                <a:ext cx="439" cy="38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7" name="Rectangle 21"/>
              <p:cNvSpPr>
                <a:spLocks noChangeArrowheads="1"/>
              </p:cNvSpPr>
              <p:nvPr/>
            </p:nvSpPr>
            <p:spPr bwMode="auto">
              <a:xfrm>
                <a:off x="439" y="0"/>
                <a:ext cx="440" cy="38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8" name="Rectangle 22"/>
              <p:cNvSpPr>
                <a:spLocks noChangeArrowheads="1"/>
              </p:cNvSpPr>
              <p:nvPr/>
            </p:nvSpPr>
            <p:spPr bwMode="auto">
              <a:xfrm>
                <a:off x="0" y="0"/>
                <a:ext cx="439" cy="38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0" marR="0" lvl="0" indent="0" defTabSz="914400" eaLnBrk="1" fontAlgn="base" latinLnBrk="0" hangingPunct="1">
                  <a:lnSpc>
                    <a:spcPct val="100000"/>
                  </a:lnSpc>
                  <a:spcBef>
                    <a:spcPct val="20000"/>
                  </a:spcBef>
                  <a:spcAft>
                    <a:spcPct val="0"/>
                  </a:spcAft>
                  <a:buClrTx/>
                  <a:buSzTx/>
                  <a:buFontTx/>
                  <a:buNone/>
                  <a:defRPr/>
                </a:pPr>
                <a:endParaRPr kumimoji="0" lang="zh-CN"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endParaRPr>
              </a:p>
            </p:txBody>
          </p:sp>
          <p:sp>
            <p:nvSpPr>
              <p:cNvPr id="99" name="Line 23"/>
              <p:cNvSpPr>
                <a:spLocks noChangeShapeType="1"/>
              </p:cNvSpPr>
              <p:nvPr/>
            </p:nvSpPr>
            <p:spPr bwMode="auto">
              <a:xfrm>
                <a:off x="0" y="0"/>
                <a:ext cx="175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0" name="Line 24"/>
              <p:cNvSpPr>
                <a:spLocks noChangeShapeType="1"/>
              </p:cNvSpPr>
              <p:nvPr/>
            </p:nvSpPr>
            <p:spPr bwMode="auto">
              <a:xfrm>
                <a:off x="0" y="386"/>
                <a:ext cx="175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1" name="Line 25"/>
              <p:cNvSpPr>
                <a:spLocks noChangeShapeType="1"/>
              </p:cNvSpPr>
              <p:nvPr/>
            </p:nvSpPr>
            <p:spPr bwMode="auto">
              <a:xfrm>
                <a:off x="0" y="726"/>
                <a:ext cx="175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2" name="Line 26"/>
              <p:cNvSpPr>
                <a:spLocks noChangeShapeType="1"/>
              </p:cNvSpPr>
              <p:nvPr/>
            </p:nvSpPr>
            <p:spPr bwMode="auto">
              <a:xfrm>
                <a:off x="0" y="1066"/>
                <a:ext cx="175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3" name="Line 27"/>
              <p:cNvSpPr>
                <a:spLocks noChangeShapeType="1"/>
              </p:cNvSpPr>
              <p:nvPr/>
            </p:nvSpPr>
            <p:spPr bwMode="auto">
              <a:xfrm>
                <a:off x="0" y="1406"/>
                <a:ext cx="1757" cy="0"/>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4" name="Line 28"/>
              <p:cNvSpPr>
                <a:spLocks noChangeShapeType="1"/>
              </p:cNvSpPr>
              <p:nvPr/>
            </p:nvSpPr>
            <p:spPr bwMode="auto">
              <a:xfrm>
                <a:off x="0" y="0"/>
                <a:ext cx="0" cy="38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5" name="Line 29"/>
              <p:cNvSpPr>
                <a:spLocks noChangeShapeType="1"/>
              </p:cNvSpPr>
              <p:nvPr/>
            </p:nvSpPr>
            <p:spPr bwMode="auto">
              <a:xfrm>
                <a:off x="439" y="0"/>
                <a:ext cx="0" cy="140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6" name="Line 30"/>
              <p:cNvSpPr>
                <a:spLocks noChangeShapeType="1"/>
              </p:cNvSpPr>
              <p:nvPr/>
            </p:nvSpPr>
            <p:spPr bwMode="auto">
              <a:xfrm>
                <a:off x="879" y="0"/>
                <a:ext cx="0" cy="140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7" name="Line 31"/>
              <p:cNvSpPr>
                <a:spLocks noChangeShapeType="1"/>
              </p:cNvSpPr>
              <p:nvPr/>
            </p:nvSpPr>
            <p:spPr bwMode="auto">
              <a:xfrm>
                <a:off x="1318" y="0"/>
                <a:ext cx="0" cy="1406"/>
              </a:xfrm>
              <a:prstGeom prst="line">
                <a:avLst/>
              </a:prstGeom>
              <a:noFill/>
              <a:ln w="127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8" name="Line 32"/>
              <p:cNvSpPr>
                <a:spLocks noChangeShapeType="1"/>
              </p:cNvSpPr>
              <p:nvPr/>
            </p:nvSpPr>
            <p:spPr bwMode="auto">
              <a:xfrm>
                <a:off x="1757" y="0"/>
                <a:ext cx="0" cy="386"/>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09" name="Line 33"/>
              <p:cNvSpPr>
                <a:spLocks noChangeShapeType="1"/>
              </p:cNvSpPr>
              <p:nvPr/>
            </p:nvSpPr>
            <p:spPr bwMode="auto">
              <a:xfrm>
                <a:off x="0" y="386"/>
                <a:ext cx="0" cy="34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0" name="Line 34"/>
              <p:cNvSpPr>
                <a:spLocks noChangeShapeType="1"/>
              </p:cNvSpPr>
              <p:nvPr/>
            </p:nvSpPr>
            <p:spPr bwMode="auto">
              <a:xfrm>
                <a:off x="1757" y="386"/>
                <a:ext cx="0" cy="34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1" name="Line 35"/>
              <p:cNvSpPr>
                <a:spLocks noChangeShapeType="1"/>
              </p:cNvSpPr>
              <p:nvPr/>
            </p:nvSpPr>
            <p:spPr bwMode="auto">
              <a:xfrm>
                <a:off x="0" y="726"/>
                <a:ext cx="0" cy="34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2" name="Line 36"/>
              <p:cNvSpPr>
                <a:spLocks noChangeShapeType="1"/>
              </p:cNvSpPr>
              <p:nvPr/>
            </p:nvSpPr>
            <p:spPr bwMode="auto">
              <a:xfrm>
                <a:off x="1757" y="726"/>
                <a:ext cx="0" cy="34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3" name="Line 37"/>
              <p:cNvSpPr>
                <a:spLocks noChangeShapeType="1"/>
              </p:cNvSpPr>
              <p:nvPr/>
            </p:nvSpPr>
            <p:spPr bwMode="auto">
              <a:xfrm>
                <a:off x="0" y="1066"/>
                <a:ext cx="0" cy="34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4" name="Line 38"/>
              <p:cNvSpPr>
                <a:spLocks noChangeShapeType="1"/>
              </p:cNvSpPr>
              <p:nvPr/>
            </p:nvSpPr>
            <p:spPr bwMode="auto">
              <a:xfrm>
                <a:off x="1757" y="1066"/>
                <a:ext cx="0" cy="34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graphicFrame>
            <p:nvGraphicFramePr>
              <p:cNvPr id="115" name="Object 39"/>
              <p:cNvGraphicFramePr>
                <a:graphicFrameLocks noChangeAspect="1"/>
              </p:cNvGraphicFramePr>
              <p:nvPr/>
            </p:nvGraphicFramePr>
            <p:xfrm>
              <a:off x="24" y="62"/>
              <a:ext cx="1792" cy="250"/>
            </p:xfrm>
            <a:graphic>
              <a:graphicData uri="http://schemas.openxmlformats.org/presentationml/2006/ole">
                <mc:AlternateContent xmlns:mc="http://schemas.openxmlformats.org/markup-compatibility/2006">
                  <mc:Choice xmlns:v="urn:schemas-microsoft-com:vml" Requires="v">
                    <p:oleObj spid="_x0000_s1044" name="Equation" r:id="rId3" imgW="25908000" imgH="5486400" progId="Equation.DSMT4">
                      <p:embed/>
                    </p:oleObj>
                  </mc:Choice>
                  <mc:Fallback>
                    <p:oleObj name="Equation" r:id="rId3" imgW="25908000" imgH="5486400" progId="Equation.DSMT4">
                      <p:embed/>
                      <p:pic>
                        <p:nvPicPr>
                          <p:cNvPr id="0" name="Object 39"/>
                          <p:cNvPicPr>
                            <a:picLocks noChangeAspect="1" noChangeArrowheads="1"/>
                          </p:cNvPicPr>
                          <p:nvPr/>
                        </p:nvPicPr>
                        <p:blipFill>
                          <a:blip r:embed="rId4"/>
                          <a:srcRect/>
                          <a:stretch>
                            <a:fillRect/>
                          </a:stretch>
                        </p:blipFill>
                        <p:spPr bwMode="auto">
                          <a:xfrm>
                            <a:off x="24" y="62"/>
                            <a:ext cx="1792" cy="250"/>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6" name="Object 40"/>
              <p:cNvGraphicFramePr>
                <a:graphicFrameLocks noChangeAspect="1"/>
              </p:cNvGraphicFramePr>
              <p:nvPr/>
            </p:nvGraphicFramePr>
            <p:xfrm>
              <a:off x="1412" y="444"/>
              <a:ext cx="296" cy="214"/>
            </p:xfrm>
            <a:graphic>
              <a:graphicData uri="http://schemas.openxmlformats.org/presentationml/2006/ole">
                <mc:AlternateContent xmlns:mc="http://schemas.openxmlformats.org/markup-compatibility/2006">
                  <mc:Choice xmlns:v="urn:schemas-microsoft-com:vml" Requires="v">
                    <p:oleObj spid="_x0000_s1045" name="Equation" r:id="rId5" imgW="4876800" imgH="5486400" progId="Equation.DSMT4">
                      <p:embed/>
                    </p:oleObj>
                  </mc:Choice>
                  <mc:Fallback>
                    <p:oleObj name="Equation" r:id="rId5" imgW="4876800" imgH="5486400" progId="Equation.DSMT4">
                      <p:embed/>
                      <p:pic>
                        <p:nvPicPr>
                          <p:cNvPr id="0" name="Object 40"/>
                          <p:cNvPicPr>
                            <a:picLocks noChangeAspect="1" noChangeArrowheads="1"/>
                          </p:cNvPicPr>
                          <p:nvPr/>
                        </p:nvPicPr>
                        <p:blipFill>
                          <a:blip r:embed="rId6"/>
                          <a:srcRect/>
                          <a:stretch>
                            <a:fillRect/>
                          </a:stretch>
                        </p:blipFill>
                        <p:spPr bwMode="auto">
                          <a:xfrm>
                            <a:off x="1412" y="444"/>
                            <a:ext cx="296" cy="214"/>
                          </a:xfrm>
                          <a:prstGeom prst="rect">
                            <a:avLst/>
                          </a:prstGeom>
                          <a:noFill/>
                          <a:ln>
                            <a:noFill/>
                          </a:ln>
                          <a:effectLst/>
                        </p:spPr>
                      </p:pic>
                    </p:oleObj>
                  </mc:Fallback>
                </mc:AlternateContent>
              </a:graphicData>
            </a:graphic>
          </p:graphicFrame>
          <p:sp>
            <p:nvSpPr>
              <p:cNvPr id="117" name="Line 41"/>
              <p:cNvSpPr>
                <a:spLocks noChangeShapeType="1"/>
              </p:cNvSpPr>
              <p:nvPr/>
            </p:nvSpPr>
            <p:spPr bwMode="auto">
              <a:xfrm>
                <a:off x="0" y="968"/>
                <a:ext cx="164"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8" name="Line 42"/>
              <p:cNvSpPr>
                <a:spLocks noChangeShapeType="1"/>
              </p:cNvSpPr>
              <p:nvPr/>
            </p:nvSpPr>
            <p:spPr bwMode="auto">
              <a:xfrm>
                <a:off x="153" y="752"/>
                <a:ext cx="164"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19" name="Line 43"/>
              <p:cNvSpPr>
                <a:spLocks noChangeShapeType="1"/>
              </p:cNvSpPr>
              <p:nvPr/>
            </p:nvSpPr>
            <p:spPr bwMode="auto">
              <a:xfrm flipV="1">
                <a:off x="153" y="752"/>
                <a:ext cx="0" cy="216"/>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20" name="Line 44"/>
              <p:cNvSpPr>
                <a:spLocks noChangeShapeType="1"/>
              </p:cNvSpPr>
              <p:nvPr/>
            </p:nvSpPr>
            <p:spPr bwMode="auto">
              <a:xfrm>
                <a:off x="0" y="1344"/>
                <a:ext cx="164"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22" name="Line 45"/>
              <p:cNvSpPr>
                <a:spLocks noChangeShapeType="1"/>
              </p:cNvSpPr>
              <p:nvPr/>
            </p:nvSpPr>
            <p:spPr bwMode="auto">
              <a:xfrm>
                <a:off x="153" y="1129"/>
                <a:ext cx="164" cy="0"/>
              </a:xfrm>
              <a:prstGeom prst="line">
                <a:avLst/>
              </a:prstGeom>
              <a:noFill/>
              <a:ln w="2857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123" name="Line 46"/>
              <p:cNvSpPr>
                <a:spLocks noChangeShapeType="1"/>
              </p:cNvSpPr>
              <p:nvPr/>
            </p:nvSpPr>
            <p:spPr bwMode="auto">
              <a:xfrm flipV="1">
                <a:off x="153" y="1129"/>
                <a:ext cx="0" cy="215"/>
              </a:xfrm>
              <a:prstGeom prst="line">
                <a:avLst/>
              </a:prstGeom>
              <a:noFill/>
              <a:ln w="28575">
                <a:solidFill>
                  <a:srgbClr val="000000"/>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grpSp>
        <p:sp>
          <p:nvSpPr>
            <p:cNvPr id="82" name="Rectangle 47"/>
            <p:cNvSpPr>
              <a:spLocks noChangeArrowheads="1"/>
            </p:cNvSpPr>
            <p:nvPr/>
          </p:nvSpPr>
          <p:spPr bwMode="auto">
            <a:xfrm>
              <a:off x="0" y="0"/>
              <a:ext cx="4763" cy="3741"/>
            </a:xfrm>
            <a:prstGeom prst="rect">
              <a:avLst/>
            </a:prstGeom>
            <a:noFill/>
            <a:ln w="57150" cmpd="thinThick">
              <a:solidFill>
                <a:srgbClr val="FF99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grpSp>
      <p:sp>
        <p:nvSpPr>
          <p:cNvPr id="124" name="Rectangle 49"/>
          <p:cNvSpPr>
            <a:spLocks noChangeArrowheads="1"/>
          </p:cNvSpPr>
          <p:nvPr/>
        </p:nvSpPr>
        <p:spPr bwMode="auto">
          <a:xfrm>
            <a:off x="3884816" y="5300272"/>
            <a:ext cx="5043054" cy="954107"/>
          </a:xfrm>
          <a:prstGeom prst="rect">
            <a:avLst/>
          </a:prstGeom>
          <a:solidFill>
            <a:schemeClr val="accent1">
              <a:lumMod val="40000"/>
              <a:lumOff val="60000"/>
            </a:schemeClr>
          </a:solidFill>
          <a:ln>
            <a:noFill/>
          </a:ln>
          <a:effectLst/>
        </p:spPr>
        <p:txBody>
          <a:bodyPr wrap="square" anchor="ct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触发器的状态仅仅取决于</a:t>
            </a:r>
            <a:r>
              <a:rPr kumimoji="0" lang="en-US" altLang="zh-CN" sz="2800" b="1" i="1"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CP</a:t>
            </a: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信号</a:t>
            </a:r>
            <a:r>
              <a:rPr kumimoji="0" lang="zh-CN" altLang="en-US" sz="2800" b="1" i="0" u="none" strike="noStrike" kern="0" cap="none" spc="0" normalizeH="0" baseline="0" noProof="0" dirty="0">
                <a:ln>
                  <a:noFill/>
                </a:ln>
                <a:solidFill>
                  <a:srgbClr val="CC0000"/>
                </a:solidFill>
                <a:effectLst/>
                <a:uLnTx/>
                <a:uFillTx/>
                <a:latin typeface="Arial" panose="020B0604020202020204" pitchFamily="34" charset="0"/>
                <a:ea typeface="楷体_GB2312" pitchFamily="49" charset="-122"/>
              </a:rPr>
              <a:t>上升沿到达前瞬间</a:t>
            </a: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的</a:t>
            </a:r>
            <a:r>
              <a:rPr kumimoji="0" lang="en-US" altLang="zh-CN" sz="2800" b="1" i="1"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D</a:t>
            </a: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信号</a:t>
            </a:r>
            <a:r>
              <a:rPr kumimoji="0" lang="zh-CN" altLang="en-US" sz="2800" b="1" i="0" u="none" strike="noStrike" kern="0" cap="none" spc="0" normalizeH="0" baseline="0" noProof="0" dirty="0">
                <a:ln>
                  <a:noFill/>
                </a:ln>
                <a:solidFill>
                  <a:srgbClr val="000066"/>
                </a:solidFill>
                <a:effectLst/>
                <a:uLnTx/>
                <a:uFillTx/>
                <a:latin typeface="Arial" panose="020B0604020202020204" pitchFamily="34" charset="0"/>
                <a:ea typeface="楷体_GB2312" pitchFamily="49" charset="-122"/>
              </a:rPr>
              <a:t> </a:t>
            </a:r>
            <a:endParaRPr kumimoji="0" lang="zh-CN" altLang="en-US" sz="2800" b="1" i="0" u="none" strike="noStrike" kern="0" cap="none" spc="0" normalizeH="0" baseline="0" noProof="0" dirty="0">
              <a:ln>
                <a:noFill/>
              </a:ln>
              <a:solidFill>
                <a:srgbClr val="000066"/>
              </a:solidFill>
              <a:effectLst/>
              <a:uLnTx/>
              <a:uFillTx/>
              <a:latin typeface="Arial" panose="020B0604020202020204" pitchFamily="34" charset="0"/>
              <a:ea typeface="楷体_GB2312" pitchFamily="49" charset="-122"/>
            </a:endParaRPr>
          </a:p>
        </p:txBody>
      </p:sp>
      <p:sp>
        <p:nvSpPr>
          <p:cNvPr id="125" name="AutoShape 64"/>
          <p:cNvSpPr>
            <a:spLocks noChangeArrowheads="1"/>
          </p:cNvSpPr>
          <p:nvPr/>
        </p:nvSpPr>
        <p:spPr bwMode="auto">
          <a:xfrm>
            <a:off x="5117457" y="4272779"/>
            <a:ext cx="3384550" cy="719137"/>
          </a:xfrm>
          <a:prstGeom prst="wedgeRoundRectCallout">
            <a:avLst>
              <a:gd name="adj1" fmla="val -48750"/>
              <a:gd name="adj2" fmla="val -213255"/>
              <a:gd name="adj3" fmla="val 16667"/>
            </a:avLst>
          </a:prstGeom>
          <a:solidFill>
            <a:schemeClr val="accent2">
              <a:lumMod val="20000"/>
              <a:lumOff val="80000"/>
              <a:alpha val="98822"/>
            </a:schemeClr>
          </a:solidFill>
          <a:ln w="19050">
            <a:solidFill>
              <a:srgbClr val="FF0066"/>
            </a:solidFill>
            <a:miter lim="800000"/>
          </a:ln>
          <a:effectLst/>
        </p:spPr>
        <p:txBody>
          <a:bodyPr wrap="none" anchor="ct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表示C</a:t>
            </a: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P</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的</a:t>
            </a:r>
            <a:r>
              <a:rPr kumimoji="0" lang="zh-CN" altLang="en-US" sz="2400" b="1" i="0" u="none" strike="noStrike" kern="0" cap="none" spc="0" normalizeH="0" baseline="0" noProof="0" dirty="0">
                <a:ln>
                  <a:noFill/>
                </a:ln>
                <a:solidFill>
                  <a:srgbClr val="FF0000"/>
                </a:solidFill>
                <a:effectLst/>
                <a:uLnTx/>
                <a:uFillTx/>
                <a:latin typeface="Arial" panose="020B0604020202020204" pitchFamily="34" charset="0"/>
                <a:ea typeface="楷体_GB2312" pitchFamily="49" charset="-122"/>
              </a:rPr>
              <a:t>上升沿</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触发</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fade">
                                      <p:cBhvr>
                                        <p:cTn id="7" dur="500"/>
                                        <p:tgtEl>
                                          <p:spTgt spid="1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4"/>
                                        </p:tgtEl>
                                        <p:attrNameLst>
                                          <p:attrName>style.visibility</p:attrName>
                                        </p:attrNameLst>
                                      </p:cBhvr>
                                      <p:to>
                                        <p:strVal val="visible"/>
                                      </p:to>
                                    </p:set>
                                    <p:animEffect transition="in" filter="fade">
                                      <p:cBhvr>
                                        <p:cTn id="12" dur="500"/>
                                        <p:tgtEl>
                                          <p:spTgt spid="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 grpId="0" animBg="1"/>
      <p:bldP spid="125"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边沿触发的触发器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21" name="Text Box 46" descr="花束"/>
          <p:cNvSpPr txBox="1">
            <a:spLocks noChangeArrowheads="1"/>
          </p:cNvSpPr>
          <p:nvPr/>
        </p:nvSpPr>
        <p:spPr bwMode="auto">
          <a:xfrm>
            <a:off x="192570" y="603621"/>
            <a:ext cx="3189397"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边沿</a:t>
            </a:r>
            <a:r>
              <a:rPr kumimoji="1" lang="en-US" altLang="zh-CN" sz="2800" b="1" dirty="0">
                <a:solidFill>
                  <a:srgbClr val="0000FF"/>
                </a:solidFill>
                <a:latin typeface="Times New Roman" panose="02020603050405020304" pitchFamily="18" charset="0"/>
                <a:ea typeface="长城楷体" pitchFamily="1" charset="-122"/>
              </a:rPr>
              <a:t>D</a:t>
            </a:r>
            <a:r>
              <a:rPr kumimoji="1" lang="zh-CN" altLang="en-US" sz="2800" b="1" dirty="0">
                <a:solidFill>
                  <a:srgbClr val="0000FF"/>
                </a:solidFill>
                <a:latin typeface="Times New Roman" panose="02020603050405020304" pitchFamily="18" charset="0"/>
                <a:ea typeface="长城楷体" pitchFamily="1" charset="-122"/>
              </a:rPr>
              <a:t>触发器</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329" name="Rectangle 4"/>
          <p:cNvSpPr>
            <a:spLocks noChangeArrowheads="1"/>
          </p:cNvSpPr>
          <p:nvPr/>
        </p:nvSpPr>
        <p:spPr bwMode="auto">
          <a:xfrm>
            <a:off x="3997341" y="609684"/>
            <a:ext cx="222470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4.  </a:t>
            </a:r>
            <a:r>
              <a:rPr lang="zh-CN" altLang="en-US" sz="2800" b="1" dirty="0">
                <a:solidFill>
                  <a:srgbClr val="800000"/>
                </a:solidFill>
                <a:effectLst>
                  <a:outerShdw blurRad="38100" dist="38100" dir="2700000" algn="tl">
                    <a:srgbClr val="C0C0C0"/>
                  </a:outerShdw>
                </a:effectLst>
                <a:latin typeface="Times New Roman" panose="02020603050405020304" pitchFamily="18" charset="0"/>
                <a:sym typeface="Arial" panose="020B0604020202020204" pitchFamily="34" charset="0"/>
              </a:rPr>
              <a:t>波形图</a:t>
            </a:r>
            <a:endParaRPr lang="zh-CN" altLang="en-US" sz="3200" b="1" dirty="0">
              <a:solidFill>
                <a:schemeClr val="tx2"/>
              </a:solidFill>
              <a:latin typeface="Tahoma" panose="020B0604030504040204" pitchFamily="34" charset="0"/>
            </a:endParaRPr>
          </a:p>
        </p:txBody>
      </p:sp>
      <p:sp>
        <p:nvSpPr>
          <p:cNvPr id="215" name="Rectangle 5"/>
          <p:cNvSpPr>
            <a:spLocks noChangeArrowheads="1"/>
          </p:cNvSpPr>
          <p:nvPr/>
        </p:nvSpPr>
        <p:spPr bwMode="auto">
          <a:xfrm>
            <a:off x="412750" y="1408113"/>
            <a:ext cx="86788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defTabSz="914400" fontAlgn="base">
              <a:spcBef>
                <a:spcPct val="0"/>
              </a:spcBef>
              <a:spcAft>
                <a:spcPct val="0"/>
              </a:spcAft>
            </a:pPr>
            <a:r>
              <a:rPr lang="zh-CN" altLang="en-US" sz="2800" b="1" dirty="0">
                <a:solidFill>
                  <a:srgbClr val="000000"/>
                </a:solidFill>
                <a:latin typeface="黑体" panose="02010609060101010101" pitchFamily="49" charset="-122"/>
                <a:ea typeface="黑体" panose="02010609060101010101" pitchFamily="49" charset="-122"/>
              </a:rPr>
              <a:t>设触发器</a:t>
            </a:r>
            <a:r>
              <a:rPr lang="zh-CN" altLang="en-US" sz="2800" b="1" dirty="0">
                <a:solidFill>
                  <a:srgbClr val="0000FF"/>
                </a:solidFill>
                <a:latin typeface="黑体" panose="02010609060101010101" pitchFamily="49" charset="-122"/>
                <a:ea typeface="黑体" panose="02010609060101010101" pitchFamily="49" charset="-122"/>
              </a:rPr>
              <a:t>初态为</a:t>
            </a:r>
            <a:r>
              <a:rPr lang="zh-CN" altLang="en-US" sz="2800" b="1" baseline="-25000" dirty="0">
                <a:solidFill>
                  <a:srgbClr val="0000FF"/>
                </a:solidFill>
                <a:latin typeface="黑体" panose="02010609060101010101" pitchFamily="49" charset="-122"/>
                <a:ea typeface="黑体" panose="02010609060101010101" pitchFamily="49" charset="-122"/>
              </a:rPr>
              <a:t> </a:t>
            </a:r>
            <a:r>
              <a:rPr lang="en-US" altLang="zh-CN" sz="2800" b="1" dirty="0">
                <a:solidFill>
                  <a:srgbClr val="0000FF"/>
                </a:solidFill>
                <a:latin typeface="黑体" panose="02010609060101010101" pitchFamily="49" charset="-122"/>
                <a:ea typeface="黑体" panose="02010609060101010101" pitchFamily="49" charset="-122"/>
              </a:rPr>
              <a:t>0</a:t>
            </a:r>
            <a:r>
              <a:rPr lang="zh-CN" altLang="en-US" sz="2800" b="1" dirty="0">
                <a:solidFill>
                  <a:srgbClr val="000000"/>
                </a:solidFill>
                <a:latin typeface="黑体" panose="02010609060101010101" pitchFamily="49" charset="-122"/>
                <a:ea typeface="黑体" panose="02010609060101010101" pitchFamily="49" charset="-122"/>
              </a:rPr>
              <a:t>，试对应输入波形画出</a:t>
            </a:r>
            <a:r>
              <a:rPr lang="zh-CN" altLang="en-US" sz="2800" b="1" baseline="-25000" dirty="0">
                <a:solidFill>
                  <a:srgbClr val="000000"/>
                </a:solidFill>
                <a:latin typeface="黑体" panose="02010609060101010101" pitchFamily="49" charset="-122"/>
                <a:ea typeface="黑体" panose="02010609060101010101" pitchFamily="49" charset="-122"/>
              </a:rPr>
              <a:t> </a:t>
            </a:r>
            <a:r>
              <a:rPr lang="en-US" altLang="zh-CN" sz="2800" b="1" i="1" dirty="0">
                <a:solidFill>
                  <a:srgbClr val="000000"/>
                </a:solidFill>
                <a:latin typeface="黑体" panose="02010609060101010101" pitchFamily="49" charset="-122"/>
                <a:ea typeface="黑体" panose="02010609060101010101" pitchFamily="49" charset="-122"/>
              </a:rPr>
              <a:t>Q</a:t>
            </a:r>
            <a:r>
              <a:rPr lang="en-US" altLang="zh-CN" sz="2800" b="1" baseline="-25000" dirty="0">
                <a:solidFill>
                  <a:srgbClr val="000000"/>
                </a:solidFill>
                <a:latin typeface="黑体" panose="02010609060101010101" pitchFamily="49" charset="-122"/>
                <a:ea typeface="黑体" panose="02010609060101010101" pitchFamily="49" charset="-122"/>
              </a:rPr>
              <a:t> </a:t>
            </a:r>
            <a:r>
              <a:rPr lang="zh-CN" altLang="en-US" sz="2800" b="1" dirty="0">
                <a:solidFill>
                  <a:srgbClr val="000000"/>
                </a:solidFill>
                <a:latin typeface="黑体" panose="02010609060101010101" pitchFamily="49" charset="-122"/>
                <a:ea typeface="黑体" panose="02010609060101010101" pitchFamily="49" charset="-122"/>
              </a:rPr>
              <a:t>的波形。</a:t>
            </a:r>
            <a:endParaRPr lang="zh-CN" altLang="en-US" sz="2800" b="1" dirty="0">
              <a:solidFill>
                <a:srgbClr val="FF3300"/>
              </a:solidFill>
              <a:latin typeface="黑体" panose="02010609060101010101" pitchFamily="49" charset="-122"/>
              <a:ea typeface="黑体" panose="02010609060101010101" pitchFamily="49" charset="-122"/>
            </a:endParaRPr>
          </a:p>
        </p:txBody>
      </p:sp>
      <p:grpSp>
        <p:nvGrpSpPr>
          <p:cNvPr id="229" name="Group 19"/>
          <p:cNvGrpSpPr/>
          <p:nvPr/>
        </p:nvGrpSpPr>
        <p:grpSpPr bwMode="auto">
          <a:xfrm>
            <a:off x="2836597" y="2175630"/>
            <a:ext cx="3857625" cy="1593850"/>
            <a:chOff x="-1" y="0"/>
            <a:chExt cx="2430" cy="1004"/>
          </a:xfrm>
        </p:grpSpPr>
        <p:sp>
          <p:nvSpPr>
            <p:cNvPr id="230" name="Line 20"/>
            <p:cNvSpPr>
              <a:spLocks noChangeShapeType="1"/>
            </p:cNvSpPr>
            <p:nvPr/>
          </p:nvSpPr>
          <p:spPr bwMode="auto">
            <a:xfrm flipH="1" flipV="1">
              <a:off x="839" y="992"/>
              <a:ext cx="462"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1" name="Line 21"/>
            <p:cNvSpPr>
              <a:spLocks noChangeShapeType="1"/>
            </p:cNvSpPr>
            <p:nvPr/>
          </p:nvSpPr>
          <p:spPr bwMode="auto">
            <a:xfrm flipH="1">
              <a:off x="1295" y="563"/>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2" name="Line 22"/>
            <p:cNvSpPr>
              <a:spLocks noChangeShapeType="1"/>
            </p:cNvSpPr>
            <p:nvPr/>
          </p:nvSpPr>
          <p:spPr bwMode="auto">
            <a:xfrm flipH="1">
              <a:off x="851" y="560"/>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3" name="Line 23"/>
            <p:cNvSpPr>
              <a:spLocks noChangeShapeType="1"/>
            </p:cNvSpPr>
            <p:nvPr/>
          </p:nvSpPr>
          <p:spPr bwMode="auto">
            <a:xfrm flipH="1" flipV="1">
              <a:off x="1901" y="572"/>
              <a:ext cx="52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4" name="Line 24"/>
            <p:cNvSpPr>
              <a:spLocks noChangeShapeType="1"/>
            </p:cNvSpPr>
            <p:nvPr/>
          </p:nvSpPr>
          <p:spPr bwMode="auto">
            <a:xfrm flipH="1" flipV="1">
              <a:off x="1559" y="992"/>
              <a:ext cx="34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5" name="Line 25"/>
            <p:cNvSpPr>
              <a:spLocks noChangeShapeType="1"/>
            </p:cNvSpPr>
            <p:nvPr/>
          </p:nvSpPr>
          <p:spPr bwMode="auto">
            <a:xfrm flipH="1">
              <a:off x="1913" y="572"/>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6" name="Line 26"/>
            <p:cNvSpPr>
              <a:spLocks noChangeShapeType="1"/>
            </p:cNvSpPr>
            <p:nvPr/>
          </p:nvSpPr>
          <p:spPr bwMode="auto">
            <a:xfrm flipH="1">
              <a:off x="1568" y="572"/>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7" name="Line 27"/>
            <p:cNvSpPr>
              <a:spLocks noChangeShapeType="1"/>
            </p:cNvSpPr>
            <p:nvPr/>
          </p:nvSpPr>
          <p:spPr bwMode="auto">
            <a:xfrm flipH="1" flipV="1">
              <a:off x="1289" y="572"/>
              <a:ext cx="291"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8" name="Line 28"/>
            <p:cNvSpPr>
              <a:spLocks noChangeShapeType="1"/>
            </p:cNvSpPr>
            <p:nvPr/>
          </p:nvSpPr>
          <p:spPr bwMode="auto">
            <a:xfrm flipH="1" flipV="1">
              <a:off x="272" y="572"/>
              <a:ext cx="57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39" name="Line 29"/>
            <p:cNvSpPr>
              <a:spLocks noChangeShapeType="1"/>
            </p:cNvSpPr>
            <p:nvPr/>
          </p:nvSpPr>
          <p:spPr bwMode="auto">
            <a:xfrm flipH="1">
              <a:off x="2119" y="432"/>
              <a:ext cx="309"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0" name="Line 30"/>
            <p:cNvSpPr>
              <a:spLocks noChangeShapeType="1"/>
            </p:cNvSpPr>
            <p:nvPr/>
          </p:nvSpPr>
          <p:spPr bwMode="auto">
            <a:xfrm flipH="1">
              <a:off x="1901" y="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1" name="Line 31"/>
            <p:cNvSpPr>
              <a:spLocks noChangeShapeType="1"/>
            </p:cNvSpPr>
            <p:nvPr/>
          </p:nvSpPr>
          <p:spPr bwMode="auto">
            <a:xfrm flipH="1" flipV="1">
              <a:off x="2129" y="0"/>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2" name="Line 32"/>
            <p:cNvSpPr>
              <a:spLocks noChangeShapeType="1"/>
            </p:cNvSpPr>
            <p:nvPr/>
          </p:nvSpPr>
          <p:spPr bwMode="auto">
            <a:xfrm flipH="1">
              <a:off x="1196" y="432"/>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3" name="Line 33"/>
            <p:cNvSpPr>
              <a:spLocks noChangeShapeType="1"/>
            </p:cNvSpPr>
            <p:nvPr/>
          </p:nvSpPr>
          <p:spPr bwMode="auto">
            <a:xfrm flipH="1">
              <a:off x="968" y="3"/>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4" name="Line 34"/>
            <p:cNvSpPr>
              <a:spLocks noChangeShapeType="1"/>
            </p:cNvSpPr>
            <p:nvPr/>
          </p:nvSpPr>
          <p:spPr bwMode="auto">
            <a:xfrm flipH="1" flipV="1">
              <a:off x="1196" y="12"/>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5" name="Line 35"/>
            <p:cNvSpPr>
              <a:spLocks noChangeShapeType="1"/>
            </p:cNvSpPr>
            <p:nvPr/>
          </p:nvSpPr>
          <p:spPr bwMode="auto">
            <a:xfrm>
              <a:off x="1436" y="432"/>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6" name="Line 36"/>
            <p:cNvSpPr>
              <a:spLocks noChangeShapeType="1"/>
            </p:cNvSpPr>
            <p:nvPr/>
          </p:nvSpPr>
          <p:spPr bwMode="auto">
            <a:xfrm>
              <a:off x="1661" y="6"/>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7" name="Line 37"/>
            <p:cNvSpPr>
              <a:spLocks noChangeShapeType="1"/>
            </p:cNvSpPr>
            <p:nvPr/>
          </p:nvSpPr>
          <p:spPr bwMode="auto">
            <a:xfrm flipV="1">
              <a:off x="1673" y="12"/>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8" name="Line 38"/>
            <p:cNvSpPr>
              <a:spLocks noChangeShapeType="1"/>
            </p:cNvSpPr>
            <p:nvPr/>
          </p:nvSpPr>
          <p:spPr bwMode="auto">
            <a:xfrm>
              <a:off x="512" y="432"/>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49" name="Line 39"/>
            <p:cNvSpPr>
              <a:spLocks noChangeShapeType="1"/>
            </p:cNvSpPr>
            <p:nvPr/>
          </p:nvSpPr>
          <p:spPr bwMode="auto">
            <a:xfrm>
              <a:off x="728" y="3"/>
              <a:ext cx="240"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50" name="Line 40"/>
            <p:cNvSpPr>
              <a:spLocks noChangeShapeType="1"/>
            </p:cNvSpPr>
            <p:nvPr/>
          </p:nvSpPr>
          <p:spPr bwMode="auto">
            <a:xfrm flipV="1">
              <a:off x="740" y="9"/>
              <a:ext cx="0" cy="43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51" name="Line 41"/>
            <p:cNvSpPr>
              <a:spLocks noChangeShapeType="1"/>
            </p:cNvSpPr>
            <p:nvPr/>
          </p:nvSpPr>
          <p:spPr bwMode="auto">
            <a:xfrm flipH="1">
              <a:off x="272" y="432"/>
              <a:ext cx="288"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52" name="Rectangle 42"/>
            <p:cNvSpPr>
              <a:spLocks noChangeArrowheads="1"/>
            </p:cNvSpPr>
            <p:nvPr/>
          </p:nvSpPr>
          <p:spPr bwMode="auto">
            <a:xfrm>
              <a:off x="56" y="639"/>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0" lang="en-US" altLang="zh-CN"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D</a:t>
              </a:r>
              <a:endParaRPr kumimoji="0"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53" name="Rectangle 43"/>
            <p:cNvSpPr>
              <a:spLocks noChangeArrowheads="1"/>
            </p:cNvSpPr>
            <p:nvPr/>
          </p:nvSpPr>
          <p:spPr bwMode="auto">
            <a:xfrm>
              <a:off x="-1" y="65"/>
              <a:ext cx="36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0" lang="zh-CN" altLang="en-US"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C</a:t>
              </a:r>
              <a:r>
                <a:rPr kumimoji="0"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P</a:t>
              </a:r>
              <a:endParaRPr kumimoji="0" lang="zh-CN" altLang="en-US" sz="24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254" name="Group 44"/>
          <p:cNvGrpSpPr/>
          <p:nvPr/>
        </p:nvGrpSpPr>
        <p:grpSpPr bwMode="auto">
          <a:xfrm>
            <a:off x="2866760" y="4152068"/>
            <a:ext cx="1160462" cy="547687"/>
            <a:chOff x="0" y="0"/>
            <a:chExt cx="731" cy="345"/>
          </a:xfrm>
        </p:grpSpPr>
        <p:sp>
          <p:nvSpPr>
            <p:cNvPr id="255" name="Line 45"/>
            <p:cNvSpPr>
              <a:spLocks noChangeShapeType="1"/>
            </p:cNvSpPr>
            <p:nvPr/>
          </p:nvSpPr>
          <p:spPr bwMode="auto">
            <a:xfrm flipH="1">
              <a:off x="254" y="345"/>
              <a:ext cx="477"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56" name="Rectangle 46"/>
            <p:cNvSpPr>
              <a:spLocks noChangeArrowheads="1"/>
            </p:cNvSpPr>
            <p:nvPr/>
          </p:nvSpPr>
          <p:spPr bwMode="auto">
            <a:xfrm>
              <a:off x="0" y="0"/>
              <a:ext cx="31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just" defTabSz="914400" eaLnBrk="1" fontAlgn="base" latinLnBrk="0" hangingPunct="1">
                <a:lnSpc>
                  <a:spcPct val="100000"/>
                </a:lnSpc>
                <a:spcBef>
                  <a:spcPct val="50000"/>
                </a:spcBef>
                <a:spcAft>
                  <a:spcPct val="0"/>
                </a:spcAft>
                <a:buClrTx/>
                <a:buSzTx/>
                <a:buFontTx/>
                <a:buNone/>
                <a:defRPr/>
              </a:pPr>
              <a:r>
                <a:rPr kumimoji="0" lang="zh-CN" altLang="en-US" sz="2400" b="1" i="1"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Q</a:t>
              </a:r>
              <a:r>
                <a:rPr kumimoji="0" lang="zh-CN" altLang="en-US"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rPr>
                <a:t> </a:t>
              </a:r>
              <a:endParaRPr kumimoji="0" lang="zh-CN" altLang="en-US" sz="2400" b="1" i="0" u="none" strike="noStrike" kern="0" cap="none" spc="0" normalizeH="0" baseline="-2500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257" name="Group 47"/>
          <p:cNvGrpSpPr/>
          <p:nvPr/>
        </p:nvGrpSpPr>
        <p:grpSpPr bwMode="auto">
          <a:xfrm>
            <a:off x="5500422" y="4033005"/>
            <a:ext cx="1214438" cy="685800"/>
            <a:chOff x="0" y="0"/>
            <a:chExt cx="477" cy="432"/>
          </a:xfrm>
        </p:grpSpPr>
        <p:sp>
          <p:nvSpPr>
            <p:cNvPr id="258" name="Line 48"/>
            <p:cNvSpPr>
              <a:spLocks noChangeShapeType="1"/>
            </p:cNvSpPr>
            <p:nvPr/>
          </p:nvSpPr>
          <p:spPr bwMode="auto">
            <a:xfrm flipH="1">
              <a:off x="0" y="423"/>
              <a:ext cx="477" cy="0"/>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zh-CN" altLang="en-US">
                <a:solidFill>
                  <a:srgbClr val="000000"/>
                </a:solidFill>
                <a:latin typeface="Arial" panose="020B0604020202020204" pitchFamily="34" charset="0"/>
                <a:ea typeface="楷体_GB2312" pitchFamily="49" charset="-122"/>
              </a:endParaRPr>
            </a:p>
          </p:txBody>
        </p:sp>
        <p:sp>
          <p:nvSpPr>
            <p:cNvPr id="259" name="Line 49"/>
            <p:cNvSpPr>
              <a:spLocks noChangeShapeType="1"/>
            </p:cNvSpPr>
            <p:nvPr/>
          </p:nvSpPr>
          <p:spPr bwMode="auto">
            <a:xfrm flipH="1" flipV="1">
              <a:off x="6" y="0"/>
              <a:ext cx="0" cy="432"/>
            </a:xfrm>
            <a:prstGeom prst="line">
              <a:avLst/>
            </a:prstGeom>
            <a:noFill/>
            <a:ln w="38100">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zh-CN" altLang="en-US">
                <a:solidFill>
                  <a:srgbClr val="000000"/>
                </a:solidFill>
                <a:latin typeface="Arial" panose="020B0604020202020204" pitchFamily="34" charset="0"/>
                <a:ea typeface="楷体_GB2312" pitchFamily="49" charset="-122"/>
              </a:endParaRPr>
            </a:p>
          </p:txBody>
        </p:sp>
      </p:grpSp>
      <p:grpSp>
        <p:nvGrpSpPr>
          <p:cNvPr id="260" name="Group 50"/>
          <p:cNvGrpSpPr/>
          <p:nvPr/>
        </p:nvGrpSpPr>
        <p:grpSpPr bwMode="auto">
          <a:xfrm>
            <a:off x="3989122" y="4033005"/>
            <a:ext cx="1524000" cy="685800"/>
            <a:chOff x="0" y="0"/>
            <a:chExt cx="960" cy="432"/>
          </a:xfrm>
        </p:grpSpPr>
        <p:sp>
          <p:nvSpPr>
            <p:cNvPr id="261" name="Line 51"/>
            <p:cNvSpPr>
              <a:spLocks noChangeShapeType="1"/>
            </p:cNvSpPr>
            <p:nvPr/>
          </p:nvSpPr>
          <p:spPr bwMode="auto">
            <a:xfrm flipH="1">
              <a:off x="0" y="0"/>
              <a:ext cx="960" cy="0"/>
            </a:xfrm>
            <a:prstGeom prst="line">
              <a:avLst/>
            </a:prstGeom>
            <a:noFill/>
            <a:ln w="3810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zh-CN" altLang="en-US">
                <a:solidFill>
                  <a:srgbClr val="000000"/>
                </a:solidFill>
                <a:latin typeface="Arial" panose="020B0604020202020204" pitchFamily="34" charset="0"/>
                <a:ea typeface="楷体_GB2312" pitchFamily="49" charset="-122"/>
              </a:endParaRPr>
            </a:p>
          </p:txBody>
        </p:sp>
        <p:sp>
          <p:nvSpPr>
            <p:cNvPr id="262" name="Line 52"/>
            <p:cNvSpPr>
              <a:spLocks noChangeShapeType="1"/>
            </p:cNvSpPr>
            <p:nvPr/>
          </p:nvSpPr>
          <p:spPr bwMode="auto">
            <a:xfrm flipH="1" flipV="1">
              <a:off x="12" y="0"/>
              <a:ext cx="0" cy="432"/>
            </a:xfrm>
            <a:prstGeom prst="line">
              <a:avLst/>
            </a:prstGeom>
            <a:noFill/>
            <a:ln w="38100">
              <a:solidFill>
                <a:srgbClr val="008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400" eaLnBrk="0" fontAlgn="base" hangingPunct="0">
                <a:spcBef>
                  <a:spcPct val="0"/>
                </a:spcBef>
                <a:spcAft>
                  <a:spcPct val="0"/>
                </a:spcAft>
              </a:pPr>
              <a:endParaRPr lang="zh-CN" altLang="en-US">
                <a:solidFill>
                  <a:srgbClr val="000000"/>
                </a:solidFill>
                <a:latin typeface="Arial" panose="020B0604020202020204" pitchFamily="34" charset="0"/>
                <a:ea typeface="楷体_GB2312" pitchFamily="49" charset="-122"/>
              </a:endParaRPr>
            </a:p>
          </p:txBody>
        </p:sp>
      </p:grpSp>
      <p:grpSp>
        <p:nvGrpSpPr>
          <p:cNvPr id="268" name="Group 58"/>
          <p:cNvGrpSpPr/>
          <p:nvPr/>
        </p:nvGrpSpPr>
        <p:grpSpPr bwMode="auto">
          <a:xfrm>
            <a:off x="4009760" y="2408993"/>
            <a:ext cx="1485900" cy="2344737"/>
            <a:chOff x="0" y="0"/>
            <a:chExt cx="936" cy="2043"/>
          </a:xfrm>
        </p:grpSpPr>
        <p:sp>
          <p:nvSpPr>
            <p:cNvPr id="269" name="Line 59"/>
            <p:cNvSpPr>
              <a:spLocks noChangeShapeType="1"/>
            </p:cNvSpPr>
            <p:nvPr/>
          </p:nvSpPr>
          <p:spPr bwMode="auto">
            <a:xfrm>
              <a:off x="0" y="297"/>
              <a:ext cx="0" cy="1730"/>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70" name="Line 60"/>
            <p:cNvSpPr>
              <a:spLocks noChangeShapeType="1"/>
            </p:cNvSpPr>
            <p:nvPr/>
          </p:nvSpPr>
          <p:spPr bwMode="auto">
            <a:xfrm>
              <a:off x="936" y="289"/>
              <a:ext cx="0" cy="1754"/>
            </a:xfrm>
            <a:prstGeom prst="line">
              <a:avLst/>
            </a:prstGeom>
            <a:noFill/>
            <a:ln w="19050">
              <a:solidFill>
                <a:srgbClr val="00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71" name="Line 61"/>
            <p:cNvSpPr>
              <a:spLocks noChangeShapeType="1"/>
            </p:cNvSpPr>
            <p:nvPr/>
          </p:nvSpPr>
          <p:spPr bwMode="auto">
            <a:xfrm flipV="1">
              <a:off x="3" y="0"/>
              <a:ext cx="0" cy="131"/>
            </a:xfrm>
            <a:prstGeom prst="line">
              <a:avLst/>
            </a:prstGeom>
            <a:noFill/>
            <a:ln w="38100">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sp>
          <p:nvSpPr>
            <p:cNvPr id="272" name="Line 62"/>
            <p:cNvSpPr>
              <a:spLocks noChangeShapeType="1"/>
            </p:cNvSpPr>
            <p:nvPr/>
          </p:nvSpPr>
          <p:spPr bwMode="auto">
            <a:xfrm flipV="1">
              <a:off x="933" y="8"/>
              <a:ext cx="0" cy="131"/>
            </a:xfrm>
            <a:prstGeom prst="line">
              <a:avLst/>
            </a:prstGeom>
            <a:noFill/>
            <a:ln w="38100">
              <a:solidFill>
                <a:srgbClr val="000000"/>
              </a:solidFill>
              <a:rou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000000"/>
                </a:solidFill>
                <a:effectLst/>
                <a:uLnTx/>
                <a:uFillTx/>
                <a:latin typeface="Arial" panose="020B0604020202020204" pitchFamily="34" charset="0"/>
                <a:ea typeface="楷体_GB2312" pitchFamily="49" charset="-122"/>
              </a:endParaRPr>
            </a:p>
          </p:txBody>
        </p:sp>
      </p:grpSp>
      <p:sp>
        <p:nvSpPr>
          <p:cNvPr id="273" name="Rectangle 63"/>
          <p:cNvSpPr>
            <a:spLocks noChangeArrowheads="1"/>
          </p:cNvSpPr>
          <p:nvPr/>
        </p:nvSpPr>
        <p:spPr bwMode="auto">
          <a:xfrm>
            <a:off x="3628760" y="309638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r" defTabSz="914400" fontAlgn="base">
              <a:spcBef>
                <a:spcPct val="50000"/>
              </a:spcBef>
              <a:spcAft>
                <a:spcPct val="0"/>
              </a:spcAft>
            </a:pPr>
            <a:r>
              <a:rPr lang="en-US" altLang="zh-CN" sz="2400" b="1">
                <a:solidFill>
                  <a:srgbClr val="0000FF"/>
                </a:solidFill>
                <a:latin typeface="Times New Roman" panose="02020603050405020304" pitchFamily="18" charset="0"/>
                <a:ea typeface="宋体" panose="02010600030101010101" pitchFamily="2" charset="-122"/>
              </a:rPr>
              <a:t>1</a:t>
            </a:r>
            <a:endParaRPr lang="en-US" altLang="zh-CN" sz="2400" b="1">
              <a:solidFill>
                <a:srgbClr val="0000FF"/>
              </a:solidFill>
              <a:latin typeface="Times New Roman" panose="02020603050405020304" pitchFamily="18" charset="0"/>
              <a:ea typeface="宋体" panose="02010600030101010101" pitchFamily="2" charset="-122"/>
            </a:endParaRPr>
          </a:p>
        </p:txBody>
      </p:sp>
      <p:sp>
        <p:nvSpPr>
          <p:cNvPr id="274" name="Rectangle 64"/>
          <p:cNvSpPr>
            <a:spLocks noChangeArrowheads="1"/>
          </p:cNvSpPr>
          <p:nvPr/>
        </p:nvSpPr>
        <p:spPr bwMode="auto">
          <a:xfrm>
            <a:off x="5254360" y="318528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r" defTabSz="914400" fontAlgn="base">
              <a:spcBef>
                <a:spcPct val="50000"/>
              </a:spcBef>
              <a:spcAft>
                <a:spcPct val="0"/>
              </a:spcAft>
            </a:pPr>
            <a:r>
              <a:rPr lang="en-US" altLang="zh-CN" sz="2400" b="1">
                <a:solidFill>
                  <a:srgbClr val="0000FF"/>
                </a:solidFill>
                <a:latin typeface="Times New Roman" panose="02020603050405020304" pitchFamily="18" charset="0"/>
                <a:ea typeface="宋体" panose="02010600030101010101" pitchFamily="2" charset="-122"/>
              </a:rPr>
              <a:t>0</a:t>
            </a:r>
            <a:endParaRPr lang="en-US" altLang="zh-CN" sz="2400" b="1">
              <a:solidFill>
                <a:srgbClr val="0000FF"/>
              </a:solidFill>
              <a:latin typeface="Times New Roman" panose="02020603050405020304" pitchFamily="18" charset="0"/>
              <a:ea typeface="宋体" panose="02010600030101010101" pitchFamily="2" charset="-122"/>
            </a:endParaRPr>
          </a:p>
        </p:txBody>
      </p:sp>
      <p:sp>
        <p:nvSpPr>
          <p:cNvPr id="275" name="Line 65"/>
          <p:cNvSpPr>
            <a:spLocks noChangeShapeType="1"/>
          </p:cNvSpPr>
          <p:nvPr/>
        </p:nvSpPr>
        <p:spPr bwMode="auto">
          <a:xfrm>
            <a:off x="4007543" y="2850317"/>
            <a:ext cx="0" cy="1800225"/>
          </a:xfrm>
          <a:prstGeom prst="line">
            <a:avLst/>
          </a:prstGeom>
          <a:noFill/>
          <a:ln w="25400">
            <a:solidFill>
              <a:srgbClr val="FF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eaLnBrk="0" fontAlgn="base" hangingPunct="0">
              <a:spcBef>
                <a:spcPct val="0"/>
              </a:spcBef>
              <a:spcAft>
                <a:spcPct val="0"/>
              </a:spcAft>
            </a:pPr>
            <a:endParaRPr lang="zh-CN" altLang="en-US">
              <a:solidFill>
                <a:srgbClr val="000000"/>
              </a:solidFill>
              <a:latin typeface="Arial" panose="020B0604020202020204" pitchFamily="34" charset="0"/>
              <a:ea typeface="楷体_GB2312" pitchFamily="49" charset="-122"/>
            </a:endParaRPr>
          </a:p>
        </p:txBody>
      </p:sp>
      <p:sp>
        <p:nvSpPr>
          <p:cNvPr id="276" name="Line 66"/>
          <p:cNvSpPr>
            <a:spLocks noChangeShapeType="1"/>
          </p:cNvSpPr>
          <p:nvPr/>
        </p:nvSpPr>
        <p:spPr bwMode="auto">
          <a:xfrm>
            <a:off x="5500422" y="2809043"/>
            <a:ext cx="1588" cy="1800225"/>
          </a:xfrm>
          <a:prstGeom prst="line">
            <a:avLst/>
          </a:prstGeom>
          <a:noFill/>
          <a:ln w="25400">
            <a:solidFill>
              <a:srgbClr val="FF00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defTabSz="914400" eaLnBrk="0" fontAlgn="base" hangingPunct="0">
              <a:spcBef>
                <a:spcPct val="0"/>
              </a:spcBef>
              <a:spcAft>
                <a:spcPct val="0"/>
              </a:spcAft>
            </a:pPr>
            <a:endParaRPr lang="zh-CN" altLang="en-US">
              <a:solidFill>
                <a:srgbClr val="000000"/>
              </a:solidFill>
              <a:latin typeface="Arial" panose="020B0604020202020204" pitchFamily="34" charset="0"/>
              <a:ea typeface="楷体_GB2312" pitchFamily="49" charset="-122"/>
            </a:endParaRPr>
          </a:p>
        </p:txBody>
      </p:sp>
      <p:sp>
        <p:nvSpPr>
          <p:cNvPr id="277" name="AutoShape 67"/>
          <p:cNvSpPr>
            <a:spLocks noChangeArrowheads="1"/>
          </p:cNvSpPr>
          <p:nvPr/>
        </p:nvSpPr>
        <p:spPr bwMode="auto">
          <a:xfrm>
            <a:off x="1085586" y="4312405"/>
            <a:ext cx="1512887" cy="406400"/>
          </a:xfrm>
          <a:prstGeom prst="wedgeRectCallout">
            <a:avLst>
              <a:gd name="adj1" fmla="val 102932"/>
              <a:gd name="adj2" fmla="val 51021"/>
            </a:avLst>
          </a:prstGeom>
          <a:solidFill>
            <a:srgbClr val="FFFF66"/>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初始状态</a:t>
            </a:r>
            <a:endParaRPr kumimoji="0"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278" name="Rectangle 68"/>
          <p:cNvSpPr>
            <a:spLocks noChangeArrowheads="1"/>
          </p:cNvSpPr>
          <p:nvPr/>
        </p:nvSpPr>
        <p:spPr bwMode="auto">
          <a:xfrm>
            <a:off x="107950" y="5013325"/>
            <a:ext cx="8928100" cy="1554163"/>
          </a:xfrm>
          <a:prstGeom prst="rect">
            <a:avLst/>
          </a:prstGeom>
          <a:noFill/>
          <a:ln>
            <a:noFill/>
          </a:ln>
          <a:effec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defTabSz="914400" fontAlgn="base">
              <a:lnSpc>
                <a:spcPct val="120000"/>
              </a:lnSpc>
              <a:spcBef>
                <a:spcPct val="50000"/>
              </a:spcBef>
              <a:spcAft>
                <a:spcPct val="0"/>
              </a:spcAft>
            </a:pPr>
            <a:r>
              <a:rPr lang="zh-CN" altLang="en-US" sz="2400" b="1" dirty="0">
                <a:solidFill>
                  <a:srgbClr val="000000"/>
                </a:solidFill>
                <a:latin typeface="黑体" panose="02010609060101010101" pitchFamily="49" charset="-122"/>
                <a:ea typeface="黑体" panose="02010609060101010101" pitchFamily="49" charset="-122"/>
              </a:rPr>
              <a:t>注意：</a:t>
            </a:r>
            <a:endParaRPr lang="zh-CN" altLang="en-US" sz="2400" b="1" dirty="0">
              <a:solidFill>
                <a:srgbClr val="000000"/>
              </a:solidFill>
              <a:latin typeface="黑体" panose="02010609060101010101" pitchFamily="49" charset="-122"/>
              <a:ea typeface="黑体" panose="02010609060101010101" pitchFamily="49" charset="-122"/>
            </a:endParaRPr>
          </a:p>
          <a:p>
            <a:pPr algn="just" defTabSz="914400" fontAlgn="base">
              <a:lnSpc>
                <a:spcPct val="120000"/>
              </a:lnSpc>
              <a:spcBef>
                <a:spcPct val="20000"/>
              </a:spcBef>
              <a:spcAft>
                <a:spcPct val="0"/>
              </a:spcAft>
            </a:pPr>
            <a:r>
              <a:rPr lang="zh-CN" altLang="en-US" sz="2400" b="1" dirty="0">
                <a:solidFill>
                  <a:srgbClr val="000000"/>
                </a:solidFill>
                <a:latin typeface="黑体" panose="02010609060101010101" pitchFamily="49" charset="-122"/>
                <a:ea typeface="黑体" panose="02010609060101010101" pitchFamily="49" charset="-122"/>
              </a:rPr>
              <a:t>（1）触发器的翻转发生在C</a:t>
            </a:r>
            <a:r>
              <a:rPr lang="en-US" altLang="zh-CN" sz="2400" b="1" dirty="0">
                <a:solidFill>
                  <a:srgbClr val="000000"/>
                </a:solidFill>
                <a:latin typeface="黑体" panose="02010609060101010101" pitchFamily="49" charset="-122"/>
                <a:ea typeface="黑体" panose="02010609060101010101" pitchFamily="49" charset="-122"/>
              </a:rPr>
              <a:t>P</a:t>
            </a:r>
            <a:r>
              <a:rPr lang="zh-CN" altLang="en-US" sz="2400" b="1" dirty="0">
                <a:solidFill>
                  <a:srgbClr val="000000"/>
                </a:solidFill>
                <a:latin typeface="黑体" panose="02010609060101010101" pitchFamily="49" charset="-122"/>
                <a:ea typeface="黑体" panose="02010609060101010101" pitchFamily="49" charset="-122"/>
              </a:rPr>
              <a:t>的</a:t>
            </a:r>
            <a:r>
              <a:rPr lang="zh-CN" altLang="en-US" sz="2400" b="1" dirty="0">
                <a:solidFill>
                  <a:srgbClr val="CC0000"/>
                </a:solidFill>
                <a:latin typeface="黑体" panose="02010609060101010101" pitchFamily="49" charset="-122"/>
                <a:ea typeface="黑体" panose="02010609060101010101" pitchFamily="49" charset="-122"/>
              </a:rPr>
              <a:t>上升</a:t>
            </a:r>
            <a:r>
              <a:rPr lang="zh-CN" altLang="en-US" sz="2400" b="1" dirty="0">
                <a:solidFill>
                  <a:srgbClr val="000000"/>
                </a:solidFill>
                <a:latin typeface="黑体" panose="02010609060101010101" pitchFamily="49" charset="-122"/>
                <a:ea typeface="黑体" panose="02010609060101010101" pitchFamily="49" charset="-122"/>
              </a:rPr>
              <a:t>沿</a:t>
            </a:r>
            <a:endParaRPr lang="zh-CN" altLang="en-US" sz="2400" b="1" dirty="0">
              <a:solidFill>
                <a:srgbClr val="000000"/>
              </a:solidFill>
              <a:latin typeface="黑体" panose="02010609060101010101" pitchFamily="49" charset="-122"/>
              <a:ea typeface="黑体" panose="02010609060101010101" pitchFamily="49" charset="-122"/>
            </a:endParaRPr>
          </a:p>
          <a:p>
            <a:pPr algn="just" defTabSz="914400" fontAlgn="base">
              <a:lnSpc>
                <a:spcPct val="120000"/>
              </a:lnSpc>
              <a:spcBef>
                <a:spcPct val="20000"/>
              </a:spcBef>
              <a:spcAft>
                <a:spcPct val="0"/>
              </a:spcAft>
            </a:pPr>
            <a:r>
              <a:rPr lang="zh-CN" altLang="en-US" sz="2400" b="1" dirty="0">
                <a:solidFill>
                  <a:srgbClr val="000000"/>
                </a:solidFill>
                <a:latin typeface="黑体" panose="02010609060101010101" pitchFamily="49" charset="-122"/>
                <a:ea typeface="黑体" panose="02010609060101010101" pitchFamily="49" charset="-122"/>
              </a:rPr>
              <a:t>（2）判断触发器次态的依据是C</a:t>
            </a:r>
            <a:r>
              <a:rPr lang="en-US" altLang="zh-CN" sz="2400" b="1" dirty="0">
                <a:solidFill>
                  <a:srgbClr val="000000"/>
                </a:solidFill>
                <a:latin typeface="黑体" panose="02010609060101010101" pitchFamily="49" charset="-122"/>
                <a:ea typeface="黑体" panose="02010609060101010101" pitchFamily="49" charset="-122"/>
              </a:rPr>
              <a:t>P</a:t>
            </a:r>
            <a:r>
              <a:rPr lang="zh-CN" altLang="en-US" sz="2400" b="1" dirty="0">
                <a:solidFill>
                  <a:srgbClr val="CC0000"/>
                </a:solidFill>
                <a:latin typeface="黑体" panose="02010609060101010101" pitchFamily="49" charset="-122"/>
                <a:ea typeface="黑体" panose="02010609060101010101" pitchFamily="49" charset="-122"/>
              </a:rPr>
              <a:t>上升沿前一瞬间</a:t>
            </a:r>
            <a:r>
              <a:rPr lang="zh-CN" altLang="en-US" sz="2400" b="1" dirty="0">
                <a:solidFill>
                  <a:srgbClr val="000000"/>
                </a:solidFill>
                <a:latin typeface="黑体" panose="02010609060101010101" pitchFamily="49" charset="-122"/>
                <a:ea typeface="黑体" panose="02010609060101010101" pitchFamily="49" charset="-122"/>
              </a:rPr>
              <a:t>输入端的状态</a:t>
            </a:r>
            <a:endParaRPr lang="zh-CN" altLang="en-US" sz="2400" b="1" dirty="0">
              <a:solidFill>
                <a:srgbClr val="000000"/>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54"/>
                                        </p:tgtEl>
                                        <p:attrNameLst>
                                          <p:attrName>style.visibility</p:attrName>
                                        </p:attrNameLst>
                                      </p:cBhvr>
                                      <p:to>
                                        <p:strVal val="visible"/>
                                      </p:to>
                                    </p:set>
                                    <p:animEffect transition="in" filter="wipe(left)">
                                      <p:cBhvr>
                                        <p:cTn id="7" dur="500"/>
                                        <p:tgtEl>
                                          <p:spTgt spid="2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7"/>
                                        </p:tgtEl>
                                        <p:attrNameLst>
                                          <p:attrName>style.visibility</p:attrName>
                                        </p:attrNameLst>
                                      </p:cBhvr>
                                      <p:to>
                                        <p:strVal val="visible"/>
                                      </p:to>
                                    </p:set>
                                    <p:animEffect transition="in" filter="wipe(left)">
                                      <p:cBhvr>
                                        <p:cTn id="12" dur="500"/>
                                        <p:tgtEl>
                                          <p:spTgt spid="27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8"/>
                                        </p:tgtEl>
                                        <p:attrNameLst>
                                          <p:attrName>style.visibility</p:attrName>
                                        </p:attrNameLst>
                                      </p:cBhvr>
                                      <p:to>
                                        <p:strVal val="visible"/>
                                      </p:to>
                                    </p:set>
                                    <p:animEffect transition="in" filter="wipe(up)">
                                      <p:cBhvr>
                                        <p:cTn id="17" dur="500"/>
                                        <p:tgtEl>
                                          <p:spTgt spid="2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75"/>
                                        </p:tgtEl>
                                        <p:attrNameLst>
                                          <p:attrName>style.visibility</p:attrName>
                                        </p:attrNameLst>
                                      </p:cBhvr>
                                      <p:to>
                                        <p:strVal val="visible"/>
                                      </p:to>
                                    </p:set>
                                    <p:animEffect transition="in" filter="wipe(up)">
                                      <p:cBhvr>
                                        <p:cTn id="22" dur="500"/>
                                        <p:tgtEl>
                                          <p:spTgt spid="275"/>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273"/>
                                        </p:tgtEl>
                                        <p:attrNameLst>
                                          <p:attrName>style.visibility</p:attrName>
                                        </p:attrNameLst>
                                      </p:cBhvr>
                                      <p:to>
                                        <p:strVal val="visible"/>
                                      </p:to>
                                    </p:set>
                                    <p:animEffect transition="in" filter="dissolve">
                                      <p:cBhvr>
                                        <p:cTn id="26" dur="500"/>
                                        <p:tgtEl>
                                          <p:spTgt spid="27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60"/>
                                        </p:tgtEl>
                                        <p:attrNameLst>
                                          <p:attrName>style.visibility</p:attrName>
                                        </p:attrNameLst>
                                      </p:cBhvr>
                                      <p:to>
                                        <p:strVal val="visible"/>
                                      </p:to>
                                    </p:set>
                                    <p:animEffect transition="in" filter="wipe(left)">
                                      <p:cBhvr>
                                        <p:cTn id="31" dur="500"/>
                                        <p:tgtEl>
                                          <p:spTgt spid="26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nodeType="clickEffect">
                                  <p:stCondLst>
                                    <p:cond delay="0"/>
                                  </p:stCondLst>
                                  <p:childTnLst>
                                    <p:set>
                                      <p:cBhvr>
                                        <p:cTn id="35" dur="1" fill="hold">
                                          <p:stCondLst>
                                            <p:cond delay="0"/>
                                          </p:stCondLst>
                                        </p:cTn>
                                        <p:tgtEl>
                                          <p:spTgt spid="276"/>
                                        </p:tgtEl>
                                        <p:attrNameLst>
                                          <p:attrName>style.visibility</p:attrName>
                                        </p:attrNameLst>
                                      </p:cBhvr>
                                      <p:to>
                                        <p:strVal val="visible"/>
                                      </p:to>
                                    </p:set>
                                    <p:animEffect transition="in" filter="wipe(up)">
                                      <p:cBhvr>
                                        <p:cTn id="36" dur="500"/>
                                        <p:tgtEl>
                                          <p:spTgt spid="276"/>
                                        </p:tgtEl>
                                      </p:cBhvr>
                                    </p:animEffect>
                                  </p:childTnLst>
                                </p:cTn>
                              </p:par>
                            </p:childTnLst>
                          </p:cTn>
                        </p:par>
                        <p:par>
                          <p:cTn id="37" fill="hold">
                            <p:stCondLst>
                              <p:cond delay="500"/>
                            </p:stCondLst>
                            <p:childTnLst>
                              <p:par>
                                <p:cTn id="38" presetID="9" presetClass="entr" presetSubtype="0" fill="hold" grpId="0" nodeType="afterEffect">
                                  <p:stCondLst>
                                    <p:cond delay="0"/>
                                  </p:stCondLst>
                                  <p:childTnLst>
                                    <p:set>
                                      <p:cBhvr>
                                        <p:cTn id="39" dur="1" fill="hold">
                                          <p:stCondLst>
                                            <p:cond delay="0"/>
                                          </p:stCondLst>
                                        </p:cTn>
                                        <p:tgtEl>
                                          <p:spTgt spid="274"/>
                                        </p:tgtEl>
                                        <p:attrNameLst>
                                          <p:attrName>style.visibility</p:attrName>
                                        </p:attrNameLst>
                                      </p:cBhvr>
                                      <p:to>
                                        <p:strVal val="visible"/>
                                      </p:to>
                                    </p:set>
                                    <p:animEffect transition="in" filter="dissolve">
                                      <p:cBhvr>
                                        <p:cTn id="40" dur="500"/>
                                        <p:tgtEl>
                                          <p:spTgt spid="274"/>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257"/>
                                        </p:tgtEl>
                                        <p:attrNameLst>
                                          <p:attrName>style.visibility</p:attrName>
                                        </p:attrNameLst>
                                      </p:cBhvr>
                                      <p:to>
                                        <p:strVal val="visible"/>
                                      </p:to>
                                    </p:set>
                                    <p:animEffect transition="in" filter="wipe(left)">
                                      <p:cBhvr>
                                        <p:cTn id="45" dur="500"/>
                                        <p:tgtEl>
                                          <p:spTgt spid="25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78"/>
                                        </p:tgtEl>
                                        <p:attrNameLst>
                                          <p:attrName>style.visibility</p:attrName>
                                        </p:attrNameLst>
                                      </p:cBhvr>
                                      <p:to>
                                        <p:strVal val="visible"/>
                                      </p:to>
                                    </p:set>
                                    <p:animEffect transition="in" filter="wipe(left)">
                                      <p:cBhvr>
                                        <p:cTn id="50" dur="500"/>
                                        <p:tgtEl>
                                          <p:spTgt spid="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3" grpId="0" autoUpdateAnimBg="0"/>
      <p:bldP spid="274" grpId="0" autoUpdateAnimBg="0"/>
      <p:bldP spid="277" grpId="0" bldLvl="0" animBg="1" autoUpdateAnimBg="0"/>
      <p:bldP spid="278" grpId="0" bldLvl="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边沿触发的触发器</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21" name="Text Box 46" descr="花束"/>
          <p:cNvSpPr txBox="1">
            <a:spLocks noChangeArrowheads="1"/>
          </p:cNvSpPr>
          <p:nvPr/>
        </p:nvSpPr>
        <p:spPr bwMode="auto">
          <a:xfrm>
            <a:off x="192570" y="603621"/>
            <a:ext cx="5258829"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边沿触发方式的动作特点</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59" name="Text Box 5"/>
          <p:cNvSpPr txBox="1">
            <a:spLocks noChangeArrowheads="1"/>
          </p:cNvSpPr>
          <p:nvPr/>
        </p:nvSpPr>
        <p:spPr bwMode="auto">
          <a:xfrm>
            <a:off x="649212" y="1411288"/>
            <a:ext cx="7991475" cy="969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342900" marR="0" lvl="0" indent="-342900" defTabSz="914400" eaLnBrk="1" fontAlgn="base" latinLnBrk="0" hangingPunct="1">
              <a:lnSpc>
                <a:spcPct val="120000"/>
              </a:lnSpc>
              <a:spcBef>
                <a:spcPct val="50000"/>
              </a:spcBef>
              <a:spcAft>
                <a:spcPct val="0"/>
              </a:spcAft>
              <a:buClrTx/>
              <a:buSzTx/>
              <a:buFont typeface="Wingdings" panose="05000000000000000000" pitchFamily="2" charset="2"/>
              <a:buChar char="Ø"/>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触发器的次态变化（翻转）</a:t>
            </a:r>
            <a:r>
              <a:rPr kumimoji="0" lang="zh-CN" altLang="en-US" sz="2400" b="1" i="0" u="none" strike="noStrike" kern="0" cap="none" spc="0" normalizeH="0" baseline="0" noProof="0" dirty="0">
                <a:ln>
                  <a:noFill/>
                </a:ln>
                <a:solidFill>
                  <a:srgbClr val="CC0000"/>
                </a:solidFill>
                <a:effectLst/>
                <a:uLnTx/>
                <a:uFillTx/>
                <a:latin typeface="Arial" panose="020B0604020202020204" pitchFamily="34" charset="0"/>
                <a:ea typeface="楷体_GB2312" pitchFamily="49" charset="-122"/>
              </a:rPr>
              <a:t>只发生</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在C</a:t>
            </a: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P</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的上升沿或下降沿</a:t>
            </a:r>
            <a:endPar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endParaRPr>
          </a:p>
        </p:txBody>
      </p:sp>
      <p:sp>
        <p:nvSpPr>
          <p:cNvPr id="60" name="Text Box 6"/>
          <p:cNvSpPr txBox="1">
            <a:spLocks noChangeArrowheads="1"/>
          </p:cNvSpPr>
          <p:nvPr/>
        </p:nvSpPr>
        <p:spPr bwMode="auto">
          <a:xfrm>
            <a:off x="649212" y="2460625"/>
            <a:ext cx="7991475" cy="96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342900" marR="0" lvl="0" indent="-342900" defTabSz="914400" eaLnBrk="1" fontAlgn="base" latinLnBrk="0" hangingPunct="1">
              <a:lnSpc>
                <a:spcPct val="120000"/>
              </a:lnSpc>
              <a:spcBef>
                <a:spcPct val="50000"/>
              </a:spcBef>
              <a:spcAft>
                <a:spcPct val="0"/>
              </a:spcAft>
              <a:buClrTx/>
              <a:buSzTx/>
              <a:buFont typeface="Wingdings" panose="05000000000000000000" pitchFamily="2" charset="2"/>
              <a:buChar char="Ø"/>
              <a:defRPr/>
            </a:pP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触发器的次态仅取决于C</a:t>
            </a:r>
            <a:r>
              <a:rPr kumimoji="0" lang="en-US" altLang="zh-CN"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P</a:t>
            </a:r>
            <a:r>
              <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的上升沿或下降沿到达时输入的逻辑状态，而</a:t>
            </a:r>
            <a:r>
              <a:rPr kumimoji="0" lang="zh-CN" altLang="en-US" sz="2400" b="1" i="0" u="none" strike="noStrike" kern="0" cap="none" spc="0" normalizeH="0" baseline="0" noProof="0" dirty="0">
                <a:ln>
                  <a:noFill/>
                </a:ln>
                <a:solidFill>
                  <a:srgbClr val="CC0000"/>
                </a:solidFill>
                <a:effectLst/>
                <a:uLnTx/>
                <a:uFillTx/>
                <a:latin typeface="Arial" panose="020B0604020202020204" pitchFamily="34" charset="0"/>
                <a:ea typeface="楷体_GB2312" pitchFamily="49" charset="-122"/>
              </a:rPr>
              <a:t>与此前、后的状态无关</a:t>
            </a:r>
            <a:endParaRPr kumimoji="0" lang="zh-CN" altLang="en-US" sz="24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endParaRPr>
          </a:p>
        </p:txBody>
      </p:sp>
      <p:sp>
        <p:nvSpPr>
          <p:cNvPr id="61" name="Text Box 7"/>
          <p:cNvSpPr txBox="1">
            <a:spLocks noChangeArrowheads="1"/>
          </p:cNvSpPr>
          <p:nvPr/>
        </p:nvSpPr>
        <p:spPr bwMode="auto">
          <a:xfrm>
            <a:off x="1496656" y="5591023"/>
            <a:ext cx="6551612" cy="603250"/>
          </a:xfrm>
          <a:prstGeom prst="rect">
            <a:avLst/>
          </a:prstGeom>
          <a:solidFill>
            <a:srgbClr val="FFFF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marL="0" marR="0" lvl="0" indent="0" defTabSz="914400" eaLnBrk="1" fontAlgn="base" latinLnBrk="0" hangingPunct="1">
              <a:lnSpc>
                <a:spcPct val="120000"/>
              </a:lnSpc>
              <a:spcBef>
                <a:spcPct val="50000"/>
              </a:spcBef>
              <a:spcAft>
                <a:spcPct val="0"/>
              </a:spcAft>
              <a:buClrTx/>
              <a:buSzTx/>
              <a:buFontTx/>
              <a:buNone/>
              <a:defRPr/>
            </a:pPr>
            <a:r>
              <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rPr>
              <a:t> 具有较强的抗干扰能力，可靠性高。</a:t>
            </a:r>
            <a:endParaRPr kumimoji="0" lang="zh-CN" altLang="en-US" sz="2800" b="1" i="0" u="none" strike="noStrike" kern="0" cap="none" spc="0" normalizeH="0" baseline="0" noProof="0" dirty="0">
              <a:ln>
                <a:noFill/>
              </a:ln>
              <a:solidFill>
                <a:srgbClr val="000000"/>
              </a:solidFill>
              <a:effectLst/>
              <a:uLnTx/>
              <a:uFillTx/>
              <a:latin typeface="Arial" panose="020B0604020202020204" pitchFamily="34" charset="0"/>
              <a:ea typeface="楷体_GB2312" pitchFamily="49" charset="-122"/>
            </a:endParaRPr>
          </a:p>
        </p:txBody>
      </p:sp>
      <p:sp>
        <p:nvSpPr>
          <p:cNvPr id="62" name="Text Box 8"/>
          <p:cNvSpPr txBox="1">
            <a:spLocks noChangeArrowheads="1"/>
          </p:cNvSpPr>
          <p:nvPr/>
        </p:nvSpPr>
        <p:spPr bwMode="auto">
          <a:xfrm>
            <a:off x="703775" y="3845630"/>
            <a:ext cx="7736449" cy="1366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楷体_GB2312" pitchFamily="49" charset="-122"/>
              </a:defRPr>
            </a:lvl1pPr>
            <a:lvl2pPr marL="742950" indent="-285750">
              <a:defRPr>
                <a:solidFill>
                  <a:schemeClr val="tx1"/>
                </a:solidFill>
                <a:latin typeface="Arial" panose="020B0604020202020204" pitchFamily="34" charset="0"/>
                <a:ea typeface="楷体_GB2312" pitchFamily="49" charset="-122"/>
              </a:defRPr>
            </a:lvl2pPr>
            <a:lvl3pPr marL="1143000" indent="-228600">
              <a:defRPr>
                <a:solidFill>
                  <a:schemeClr val="tx1"/>
                </a:solidFill>
                <a:latin typeface="Arial" panose="020B0604020202020204" pitchFamily="34" charset="0"/>
                <a:ea typeface="楷体_GB2312" pitchFamily="49" charset="-122"/>
              </a:defRPr>
            </a:lvl3pPr>
            <a:lvl4pPr marL="1600200" indent="-228600">
              <a:defRPr>
                <a:solidFill>
                  <a:schemeClr val="tx1"/>
                </a:solidFill>
                <a:latin typeface="Arial" panose="020B0604020202020204" pitchFamily="34" charset="0"/>
                <a:ea typeface="楷体_GB2312" pitchFamily="49" charset="-122"/>
              </a:defRPr>
            </a:lvl4pPr>
            <a:lvl5pPr marL="2057400" indent="-22860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algn="just" defTabSz="914400" eaLnBrk="0" fontAlgn="base" hangingPunct="0">
              <a:lnSpc>
                <a:spcPct val="115000"/>
              </a:lnSpc>
              <a:spcBef>
                <a:spcPct val="0"/>
              </a:spcBef>
              <a:spcAft>
                <a:spcPct val="0"/>
              </a:spcAft>
            </a:pPr>
            <a:r>
              <a:rPr lang="zh-CN" altLang="en-US" sz="2400" b="1" dirty="0">
                <a:solidFill>
                  <a:srgbClr val="333399"/>
                </a:solidFill>
                <a:latin typeface="黑体" panose="02010609060101010101" pitchFamily="49" charset="-122"/>
                <a:ea typeface="黑体" panose="02010609060101010101" pitchFamily="49" charset="-122"/>
              </a:rPr>
              <a:t>边沿触发器只有</a:t>
            </a:r>
            <a:r>
              <a:rPr lang="en-US" altLang="zh-CN" sz="2400" b="1" dirty="0">
                <a:solidFill>
                  <a:srgbClr val="333399"/>
                </a:solidFill>
                <a:latin typeface="黑体" panose="02010609060101010101" pitchFamily="49" charset="-122"/>
                <a:ea typeface="黑体" panose="02010609060101010101" pitchFamily="49" charset="-122"/>
              </a:rPr>
              <a:t>在</a:t>
            </a:r>
            <a:r>
              <a:rPr lang="zh-CN" altLang="en-US" sz="2400" b="1" dirty="0">
                <a:solidFill>
                  <a:srgbClr val="333399"/>
                </a:solidFill>
                <a:latin typeface="黑体" panose="02010609060101010101" pitchFamily="49" charset="-122"/>
                <a:ea typeface="黑体" panose="02010609060101010101" pitchFamily="49" charset="-122"/>
              </a:rPr>
              <a:t>C</a:t>
            </a:r>
            <a:r>
              <a:rPr lang="en-US" altLang="zh-CN" sz="2400" b="1" dirty="0">
                <a:solidFill>
                  <a:srgbClr val="333399"/>
                </a:solidFill>
                <a:latin typeface="黑体" panose="02010609060101010101" pitchFamily="49" charset="-122"/>
                <a:ea typeface="黑体" panose="02010609060101010101" pitchFamily="49" charset="-122"/>
              </a:rPr>
              <a:t>P</a:t>
            </a:r>
            <a:r>
              <a:rPr lang="zh-CN" altLang="en-US" sz="2400" b="1" dirty="0">
                <a:solidFill>
                  <a:srgbClr val="333399"/>
                </a:solidFill>
                <a:latin typeface="黑体" panose="02010609060101010101" pitchFamily="49" charset="-122"/>
                <a:ea typeface="黑体" panose="02010609060101010101" pitchFamily="49" charset="-122"/>
              </a:rPr>
              <a:t>的</a:t>
            </a:r>
            <a:r>
              <a:rPr lang="zh-CN" altLang="en-US" sz="2400" b="1" dirty="0">
                <a:solidFill>
                  <a:srgbClr val="FF0000"/>
                </a:solidFill>
                <a:latin typeface="黑体" panose="02010609060101010101" pitchFamily="49" charset="-122"/>
                <a:ea typeface="黑体" panose="02010609060101010101" pitchFamily="49" charset="-122"/>
              </a:rPr>
              <a:t>上升沿</a:t>
            </a:r>
            <a:r>
              <a:rPr lang="zh-CN" altLang="en-US" sz="2400" b="1" dirty="0">
                <a:solidFill>
                  <a:srgbClr val="333399"/>
                </a:solidFill>
                <a:latin typeface="黑体" panose="02010609060101010101" pitchFamily="49" charset="-122"/>
                <a:ea typeface="黑体" panose="02010609060101010101" pitchFamily="49" charset="-122"/>
              </a:rPr>
              <a:t>或</a:t>
            </a:r>
            <a:r>
              <a:rPr lang="zh-CN" altLang="en-US" sz="2400" b="1" dirty="0">
                <a:solidFill>
                  <a:srgbClr val="FF0000"/>
                </a:solidFill>
                <a:latin typeface="黑体" panose="02010609060101010101" pitchFamily="49" charset="-122"/>
                <a:ea typeface="黑体" panose="02010609060101010101" pitchFamily="49" charset="-122"/>
              </a:rPr>
              <a:t>下降沿</a:t>
            </a:r>
            <a:r>
              <a:rPr lang="zh-CN" altLang="en-US" sz="2400" b="1" dirty="0">
                <a:solidFill>
                  <a:srgbClr val="333399"/>
                </a:solidFill>
                <a:latin typeface="黑体" panose="02010609060101010101" pitchFamily="49" charset="-122"/>
                <a:ea typeface="黑体" panose="02010609060101010101" pitchFamily="49" charset="-122"/>
              </a:rPr>
              <a:t>瞬间才能接收控制输入信号，改变状态，因此在一个时钟脉冲下，触发器最多只能翻转一次，从根本上杜绝了“空翻”的现象 </a:t>
            </a:r>
            <a:endParaRPr lang="zh-CN" altLang="en-US" sz="2400" b="1" dirty="0">
              <a:solidFill>
                <a:srgbClr val="333399"/>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0"/>
                                        </p:tgtEl>
                                        <p:attrNameLst>
                                          <p:attrName>style.visibility</p:attrName>
                                        </p:attrNameLst>
                                      </p:cBhvr>
                                      <p:to>
                                        <p:strVal val="visible"/>
                                      </p:to>
                                    </p:set>
                                    <p:animEffect transition="in" filter="fade">
                                      <p:cBhvr>
                                        <p:cTn id="12" dur="500"/>
                                        <p:tgtEl>
                                          <p:spTgt spid="6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
                                        </p:tgtEl>
                                        <p:attrNameLst>
                                          <p:attrName>style.visibility</p:attrName>
                                        </p:attrNameLst>
                                      </p:cBhvr>
                                      <p:to>
                                        <p:strVal val="visible"/>
                                      </p:to>
                                    </p:set>
                                    <p:animEffect transition="in" filter="wipe(left)">
                                      <p:cBhvr>
                                        <p:cTn id="22"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0" grpId="0"/>
      <p:bldP spid="61" grpId="0" bldLvl="0" animBg="1" autoUpdateAnimBg="0"/>
      <p:bldP spid="62"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触发器汇总</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70" name="Text Box 3"/>
          <p:cNvSpPr txBox="1">
            <a:spLocks noChangeArrowheads="1"/>
          </p:cNvSpPr>
          <p:nvPr/>
        </p:nvSpPr>
        <p:spPr bwMode="auto">
          <a:xfrm>
            <a:off x="1032802" y="3973790"/>
            <a:ext cx="129381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50000"/>
              </a:spcBef>
              <a:spcAft>
                <a:spcPct val="0"/>
              </a:spcAft>
            </a:pPr>
            <a:r>
              <a:rPr lang="zh-CN" altLang="en-US">
                <a:solidFill>
                  <a:srgbClr val="006600"/>
                </a:solidFill>
                <a:ea typeface="楷体_GB2312" pitchFamily="49" charset="-122"/>
              </a:rPr>
              <a:t>复位端</a:t>
            </a:r>
            <a:endParaRPr lang="zh-CN" altLang="en-US">
              <a:solidFill>
                <a:srgbClr val="006600"/>
              </a:solidFill>
              <a:ea typeface="楷体_GB2312" pitchFamily="49" charset="-122"/>
            </a:endParaRPr>
          </a:p>
        </p:txBody>
      </p:sp>
      <p:sp>
        <p:nvSpPr>
          <p:cNvPr id="71" name="Text Box 4"/>
          <p:cNvSpPr txBox="1">
            <a:spLocks noChangeArrowheads="1"/>
          </p:cNvSpPr>
          <p:nvPr/>
        </p:nvSpPr>
        <p:spPr bwMode="auto">
          <a:xfrm>
            <a:off x="2858427" y="4010303"/>
            <a:ext cx="1358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algn="ctr" defTabSz="914400" fontAlgn="base">
              <a:spcBef>
                <a:spcPct val="50000"/>
              </a:spcBef>
              <a:spcAft>
                <a:spcPct val="0"/>
              </a:spcAft>
            </a:pPr>
            <a:r>
              <a:rPr lang="zh-CN" altLang="en-US" dirty="0">
                <a:solidFill>
                  <a:srgbClr val="CC0066"/>
                </a:solidFill>
                <a:ea typeface="楷体_GB2312" pitchFamily="49" charset="-122"/>
              </a:rPr>
              <a:t>置位端</a:t>
            </a:r>
            <a:endParaRPr lang="zh-CN" altLang="en-US" dirty="0">
              <a:solidFill>
                <a:srgbClr val="CC0066"/>
              </a:solidFill>
              <a:ea typeface="楷体_GB2312" pitchFamily="49" charset="-122"/>
            </a:endParaRPr>
          </a:p>
        </p:txBody>
      </p:sp>
      <p:grpSp>
        <p:nvGrpSpPr>
          <p:cNvPr id="72" name="Group 56"/>
          <p:cNvGrpSpPr/>
          <p:nvPr/>
        </p:nvGrpSpPr>
        <p:grpSpPr bwMode="auto">
          <a:xfrm>
            <a:off x="1921802" y="2330115"/>
            <a:ext cx="1404938" cy="1779588"/>
            <a:chOff x="3861" y="2293"/>
            <a:chExt cx="885" cy="1121"/>
          </a:xfrm>
        </p:grpSpPr>
        <p:sp>
          <p:nvSpPr>
            <p:cNvPr id="73" name="Line 5"/>
            <p:cNvSpPr>
              <a:spLocks noChangeShapeType="1"/>
            </p:cNvSpPr>
            <p:nvPr/>
          </p:nvSpPr>
          <p:spPr bwMode="auto">
            <a:xfrm>
              <a:off x="4153" y="3151"/>
              <a:ext cx="0" cy="20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4" name="Line 6"/>
            <p:cNvSpPr>
              <a:spLocks noChangeShapeType="1"/>
            </p:cNvSpPr>
            <p:nvPr/>
          </p:nvSpPr>
          <p:spPr bwMode="auto">
            <a:xfrm>
              <a:off x="4157" y="2406"/>
              <a:ext cx="0" cy="20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5" name="Line 7"/>
            <p:cNvSpPr>
              <a:spLocks noChangeShapeType="1"/>
            </p:cNvSpPr>
            <p:nvPr/>
          </p:nvSpPr>
          <p:spPr bwMode="auto">
            <a:xfrm>
              <a:off x="4405" y="3135"/>
              <a:ext cx="0" cy="20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76" name="Line 8"/>
            <p:cNvSpPr>
              <a:spLocks noChangeShapeType="1"/>
            </p:cNvSpPr>
            <p:nvPr/>
          </p:nvSpPr>
          <p:spPr bwMode="auto">
            <a:xfrm>
              <a:off x="4406" y="2404"/>
              <a:ext cx="0" cy="20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77" name="Object 9"/>
            <p:cNvGraphicFramePr>
              <a:graphicFrameLocks noChangeAspect="1"/>
            </p:cNvGraphicFramePr>
            <p:nvPr/>
          </p:nvGraphicFramePr>
          <p:xfrm>
            <a:off x="4408" y="2311"/>
            <a:ext cx="204" cy="277"/>
          </p:xfrm>
          <a:graphic>
            <a:graphicData uri="http://schemas.openxmlformats.org/presentationml/2006/ole">
              <mc:AlternateContent xmlns:mc="http://schemas.openxmlformats.org/markup-compatibility/2006">
                <mc:Choice xmlns:v="urn:schemas-microsoft-com:vml" Requires="v">
                  <p:oleObj spid="_x0000_s2095" name="Equation" r:id="rId2" imgW="165100" imgH="203200" progId="Equation.3">
                    <p:embed/>
                  </p:oleObj>
                </mc:Choice>
                <mc:Fallback>
                  <p:oleObj name="Equation" r:id="rId2" imgW="165100" imgH="20320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8" y="2311"/>
                          <a:ext cx="204" cy="2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 name="Object 10"/>
            <p:cNvGraphicFramePr>
              <a:graphicFrameLocks noChangeAspect="1"/>
            </p:cNvGraphicFramePr>
            <p:nvPr/>
          </p:nvGraphicFramePr>
          <p:xfrm>
            <a:off x="3861" y="3106"/>
            <a:ext cx="287" cy="298"/>
          </p:xfrm>
          <a:graphic>
            <a:graphicData uri="http://schemas.openxmlformats.org/presentationml/2006/ole">
              <mc:AlternateContent xmlns:mc="http://schemas.openxmlformats.org/markup-compatibility/2006">
                <mc:Choice xmlns:v="urn:schemas-microsoft-com:vml" Requires="v">
                  <p:oleObj spid="_x0000_s2096" name="Equation" r:id="rId4" imgW="241300" imgH="215900" progId="Equation.3">
                    <p:embed/>
                  </p:oleObj>
                </mc:Choice>
                <mc:Fallback>
                  <p:oleObj name="Equation" r:id="rId4" imgW="241300" imgH="215900"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61" y="3106"/>
                          <a:ext cx="287"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 name="Object 11"/>
            <p:cNvGraphicFramePr>
              <a:graphicFrameLocks noChangeAspect="1"/>
            </p:cNvGraphicFramePr>
            <p:nvPr/>
          </p:nvGraphicFramePr>
          <p:xfrm>
            <a:off x="4463" y="3107"/>
            <a:ext cx="283" cy="307"/>
          </p:xfrm>
          <a:graphic>
            <a:graphicData uri="http://schemas.openxmlformats.org/presentationml/2006/ole">
              <mc:AlternateContent xmlns:mc="http://schemas.openxmlformats.org/markup-compatibility/2006">
                <mc:Choice xmlns:v="urn:schemas-microsoft-com:vml" Requires="v">
                  <p:oleObj spid="_x0000_s2097" name="Equation" r:id="rId6" imgW="228600" imgH="215900" progId="Equation.3">
                    <p:embed/>
                  </p:oleObj>
                </mc:Choice>
                <mc:Fallback>
                  <p:oleObj name="Equation" r:id="rId6" imgW="228600" imgH="215900" progId="Equation.3">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63" y="3107"/>
                          <a:ext cx="283" cy="3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 name="Rectangle 12"/>
            <p:cNvSpPr>
              <a:spLocks noChangeArrowheads="1"/>
            </p:cNvSpPr>
            <p:nvPr/>
          </p:nvSpPr>
          <p:spPr bwMode="auto">
            <a:xfrm>
              <a:off x="3986" y="2606"/>
              <a:ext cx="584" cy="471"/>
            </a:xfrm>
            <a:prstGeom prst="rect">
              <a:avLst/>
            </a:prstGeom>
            <a:noFill/>
            <a:ln w="38100">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81" name="Object 13"/>
            <p:cNvGraphicFramePr>
              <a:graphicFrameLocks noChangeAspect="1"/>
            </p:cNvGraphicFramePr>
            <p:nvPr/>
          </p:nvGraphicFramePr>
          <p:xfrm>
            <a:off x="3937" y="2293"/>
            <a:ext cx="208" cy="295"/>
          </p:xfrm>
          <a:graphic>
            <a:graphicData uri="http://schemas.openxmlformats.org/presentationml/2006/ole">
              <mc:AlternateContent xmlns:mc="http://schemas.openxmlformats.org/markup-compatibility/2006">
                <mc:Choice xmlns:v="urn:schemas-microsoft-com:vml" Requires="v">
                  <p:oleObj spid="_x0000_s2098" name="Equation" r:id="rId8" imgW="177800" imgH="228600" progId="Equation.3">
                    <p:embed/>
                  </p:oleObj>
                </mc:Choice>
                <mc:Fallback>
                  <p:oleObj name="Equation" r:id="rId8" imgW="177800" imgH="228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37" y="2293"/>
                          <a:ext cx="208" cy="2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 name="Oval 15"/>
            <p:cNvSpPr>
              <a:spLocks noChangeArrowheads="1"/>
            </p:cNvSpPr>
            <p:nvPr/>
          </p:nvSpPr>
          <p:spPr bwMode="auto">
            <a:xfrm>
              <a:off x="4126" y="3085"/>
              <a:ext cx="59" cy="67"/>
            </a:xfrm>
            <a:prstGeom prst="ellipse">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83" name="Oval 16"/>
            <p:cNvSpPr>
              <a:spLocks noChangeArrowheads="1"/>
            </p:cNvSpPr>
            <p:nvPr/>
          </p:nvSpPr>
          <p:spPr bwMode="auto">
            <a:xfrm>
              <a:off x="4378" y="3089"/>
              <a:ext cx="59" cy="67"/>
            </a:xfrm>
            <a:prstGeom prst="ellipse">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08" name="Group 41"/>
          <p:cNvGrpSpPr/>
          <p:nvPr/>
        </p:nvGrpSpPr>
        <p:grpSpPr bwMode="auto">
          <a:xfrm>
            <a:off x="4572000" y="1924232"/>
            <a:ext cx="3886615" cy="2633955"/>
            <a:chOff x="3420" y="624"/>
            <a:chExt cx="2076" cy="1348"/>
          </a:xfrm>
        </p:grpSpPr>
        <p:sp>
          <p:nvSpPr>
            <p:cNvPr id="109" name="Rectangle 42"/>
            <p:cNvSpPr>
              <a:spLocks noChangeArrowheads="1"/>
            </p:cNvSpPr>
            <p:nvPr/>
          </p:nvSpPr>
          <p:spPr bwMode="auto">
            <a:xfrm>
              <a:off x="4206" y="624"/>
              <a:ext cx="1290"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r>
                <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Q</a:t>
              </a:r>
              <a:endParaRPr kumimoji="1" lang="en-US" altLang="zh-CN" sz="24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graphicFrame>
          <p:nvGraphicFramePr>
            <p:cNvPr id="110" name="Object 43"/>
            <p:cNvGraphicFramePr>
              <a:graphicFrameLocks noChangeAspect="1"/>
            </p:cNvGraphicFramePr>
            <p:nvPr/>
          </p:nvGraphicFramePr>
          <p:xfrm>
            <a:off x="4921" y="625"/>
            <a:ext cx="280" cy="329"/>
          </p:xfrm>
          <a:graphic>
            <a:graphicData uri="http://schemas.openxmlformats.org/presentationml/2006/ole">
              <mc:AlternateContent xmlns:mc="http://schemas.openxmlformats.org/markup-compatibility/2006">
                <mc:Choice xmlns:v="urn:schemas-microsoft-com:vml" Requires="v">
                  <p:oleObj spid="_x0000_s2099" name="Equation" r:id="rId10" imgW="177800" imgH="228600" progId="Equation.3">
                    <p:embed/>
                  </p:oleObj>
                </mc:Choice>
                <mc:Fallback>
                  <p:oleObj name="Equation" r:id="rId10" imgW="177800" imgH="228600" progId="Equation.3">
                    <p:embed/>
                    <p:pic>
                      <p:nvPicPr>
                        <p:cNvPr id="0" name="Object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1" y="625"/>
                          <a:ext cx="280"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1" name="Rectangle 44"/>
            <p:cNvSpPr>
              <a:spLocks noChangeArrowheads="1"/>
            </p:cNvSpPr>
            <p:nvPr/>
          </p:nvSpPr>
          <p:spPr bwMode="auto">
            <a:xfrm>
              <a:off x="4206" y="950"/>
              <a:ext cx="1290" cy="10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533400" marR="0" lvl="0" indent="-53340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保持</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a:p>
              <a:pPr marL="533400" marR="0" lvl="0" indent="-53340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0      1</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a:p>
              <a:pPr marL="533400" marR="0" lvl="0" indent="-53340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1      0</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a:p>
              <a:pPr marL="533400" marR="0" lvl="0" indent="-533400" algn="ctr" defTabSz="914400" eaLnBrk="1" fontAlgn="base" latinLnBrk="0" hangingPunct="1">
                <a:lnSpc>
                  <a:spcPct val="100000"/>
                </a:lnSpc>
                <a:spcBef>
                  <a:spcPct val="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不定</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112" name="Rectangle 45"/>
            <p:cNvSpPr>
              <a:spLocks noChangeArrowheads="1"/>
            </p:cNvSpPr>
            <p:nvPr/>
          </p:nvSpPr>
          <p:spPr bwMode="auto">
            <a:xfrm>
              <a:off x="3420" y="950"/>
              <a:ext cx="786" cy="9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defRPr kumimoji="1" sz="2400" b="1">
                  <a:solidFill>
                    <a:schemeClr val="tx1"/>
                  </a:solidFill>
                  <a:latin typeface="Times New Roman" panose="02020603050405020304" pitchFamily="18" charset="0"/>
                  <a:ea typeface="宋体" panose="02010600030101010101" pitchFamily="2" charset="-122"/>
                </a:defRPr>
              </a:lvl1pPr>
              <a:lvl2pPr marL="914400" indent="-457200">
                <a:defRPr kumimoji="1" sz="2400" b="1">
                  <a:solidFill>
                    <a:schemeClr val="tx1"/>
                  </a:solidFill>
                  <a:latin typeface="Times New Roman" panose="02020603050405020304" pitchFamily="18" charset="0"/>
                  <a:ea typeface="宋体" panose="02010600030101010101" pitchFamily="2" charset="-122"/>
                </a:defRPr>
              </a:lvl2pPr>
              <a:lvl3pPr marL="1295400" indent="-381000">
                <a:defRPr kumimoji="1" sz="2400" b="1">
                  <a:solidFill>
                    <a:schemeClr val="tx1"/>
                  </a:solidFill>
                  <a:latin typeface="Times New Roman" panose="02020603050405020304" pitchFamily="18" charset="0"/>
                  <a:ea typeface="宋体" panose="02010600030101010101" pitchFamily="2" charset="-122"/>
                </a:defRPr>
              </a:lvl3pPr>
              <a:lvl4pPr marL="1714500" indent="-342900">
                <a:defRPr kumimoji="1" sz="2400" b="1">
                  <a:solidFill>
                    <a:schemeClr val="tx1"/>
                  </a:solidFill>
                  <a:latin typeface="Times New Roman" panose="02020603050405020304" pitchFamily="18" charset="0"/>
                  <a:ea typeface="宋体" panose="02010600030101010101" pitchFamily="2" charset="-122"/>
                </a:defRPr>
              </a:lvl4pPr>
              <a:lvl5pPr marL="2171700" indent="-342900">
                <a:defRPr kumimoji="1" sz="2400" b="1">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533400" marR="0" lvl="0" indent="-53340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1    1</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533400" marR="0" lvl="0" indent="-53340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0    1</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533400" marR="0" lvl="0" indent="-53340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1    0</a:t>
              </a:r>
              <a:endPar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a:p>
              <a:pPr marL="533400" marR="0" lvl="0" indent="-533400" algn="ctr" defTabSz="914400" eaLnBrk="1" fontAlgn="base" latinLnBrk="0" hangingPunct="1">
                <a:lnSpc>
                  <a:spcPct val="100000"/>
                </a:lnSpc>
                <a:spcBef>
                  <a:spcPct val="0"/>
                </a:spcBef>
                <a:spcAft>
                  <a:spcPct val="0"/>
                </a:spcAft>
                <a:buClrTx/>
                <a:buSzTx/>
                <a:buFontTx/>
                <a:buNone/>
                <a:defRPr/>
              </a:pPr>
              <a:r>
                <a:rPr kumimoji="1" lang="en-US" altLang="zh-CN" sz="28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0    0</a:t>
              </a:r>
              <a:endParaRPr kumimoji="1" lang="en-US" altLang="zh-CN" sz="2400" b="1"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3" name="Rectangle 46"/>
            <p:cNvSpPr>
              <a:spLocks noChangeArrowheads="1"/>
            </p:cNvSpPr>
            <p:nvPr/>
          </p:nvSpPr>
          <p:spPr bwMode="auto">
            <a:xfrm>
              <a:off x="3420" y="624"/>
              <a:ext cx="786" cy="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eaLnBrk="1" fontAlgn="base" latinLnBrk="0" hangingPunct="1">
                <a:lnSpc>
                  <a:spcPct val="100000"/>
                </a:lnSpc>
                <a:spcBef>
                  <a:spcPct val="0"/>
                </a:spcBef>
                <a:spcAft>
                  <a:spcPct val="0"/>
                </a:spcAft>
                <a:buClrTx/>
                <a:buSzTx/>
                <a:buFontTx/>
                <a:buNone/>
                <a:defRPr/>
              </a:pP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1" lang="en-US" altLang="zh-CN" sz="28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D</a:t>
              </a:r>
              <a:r>
                <a:rPr kumimoji="1" lang="en-US" altLang="zh-CN" sz="2800" b="1"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S</a:t>
              </a:r>
              <a:r>
                <a:rPr kumimoji="1" lang="en-US" altLang="zh-CN" sz="28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rPr>
                <a:t>D</a:t>
              </a:r>
              <a:endParaRPr kumimoji="1" lang="en-US" altLang="zh-CN" sz="2800" b="1" i="1" u="none" strike="noStrike" kern="0" cap="none" spc="0" normalizeH="0" baseline="-25000" noProof="0" dirty="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4" name="Line 47"/>
            <p:cNvSpPr>
              <a:spLocks noChangeShapeType="1"/>
            </p:cNvSpPr>
            <p:nvPr/>
          </p:nvSpPr>
          <p:spPr bwMode="auto">
            <a:xfrm>
              <a:off x="3420" y="624"/>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5" name="Line 48"/>
            <p:cNvSpPr>
              <a:spLocks noChangeShapeType="1"/>
            </p:cNvSpPr>
            <p:nvPr/>
          </p:nvSpPr>
          <p:spPr bwMode="auto">
            <a:xfrm>
              <a:off x="3420" y="950"/>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6" name="Line 49"/>
            <p:cNvSpPr>
              <a:spLocks noChangeShapeType="1"/>
            </p:cNvSpPr>
            <p:nvPr/>
          </p:nvSpPr>
          <p:spPr bwMode="auto">
            <a:xfrm>
              <a:off x="3420" y="1972"/>
              <a:ext cx="2076" cy="0"/>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7" name="Line 50"/>
            <p:cNvSpPr>
              <a:spLocks noChangeShapeType="1"/>
            </p:cNvSpPr>
            <p:nvPr/>
          </p:nvSpPr>
          <p:spPr bwMode="auto">
            <a:xfrm>
              <a:off x="4206" y="624"/>
              <a:ext cx="0" cy="134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8" name="Line 51"/>
            <p:cNvSpPr>
              <a:spLocks noChangeShapeType="1"/>
            </p:cNvSpPr>
            <p:nvPr/>
          </p:nvSpPr>
          <p:spPr bwMode="auto">
            <a:xfrm>
              <a:off x="3569" y="664"/>
              <a:ext cx="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9" name="Line 52"/>
            <p:cNvSpPr>
              <a:spLocks noChangeShapeType="1"/>
            </p:cNvSpPr>
            <p:nvPr/>
          </p:nvSpPr>
          <p:spPr bwMode="auto">
            <a:xfrm>
              <a:off x="3860" y="682"/>
              <a:ext cx="125"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24" name="Text Box 58"/>
          <p:cNvSpPr txBox="1">
            <a:spLocks noChangeArrowheads="1"/>
          </p:cNvSpPr>
          <p:nvPr/>
        </p:nvSpPr>
        <p:spPr bwMode="auto">
          <a:xfrm>
            <a:off x="509505" y="942409"/>
            <a:ext cx="3221469" cy="525401"/>
          </a:xfrm>
          <a:prstGeom prst="rect">
            <a:avLst/>
          </a:prstGeom>
          <a:solidFill>
            <a:srgbClr val="0000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50000"/>
              </a:spcBef>
              <a:spcAft>
                <a:spcPct val="0"/>
              </a:spcAft>
            </a:pPr>
            <a:r>
              <a:rPr lang="en-US" altLang="zh-CN" sz="2800" dirty="0">
                <a:solidFill>
                  <a:srgbClr val="FFFFFF"/>
                </a:solidFill>
                <a:ea typeface="长城楷体" pitchFamily="1" charset="-122"/>
              </a:rPr>
              <a:t>1.  </a:t>
            </a:r>
            <a:r>
              <a:rPr lang="zh-CN" altLang="en-US" sz="2800" dirty="0">
                <a:solidFill>
                  <a:srgbClr val="FFFFFF"/>
                </a:solidFill>
                <a:ea typeface="长城楷体" pitchFamily="1" charset="-122"/>
              </a:rPr>
              <a:t>基本 </a:t>
            </a:r>
            <a:r>
              <a:rPr lang="en-US" altLang="zh-CN" sz="2800" i="1" dirty="0">
                <a:solidFill>
                  <a:srgbClr val="FFFFFF"/>
                </a:solidFill>
                <a:ea typeface="长城楷体" pitchFamily="1" charset="-122"/>
              </a:rPr>
              <a:t>R-S</a:t>
            </a:r>
            <a:r>
              <a:rPr lang="en-US" altLang="zh-CN" sz="2800" dirty="0">
                <a:solidFill>
                  <a:srgbClr val="FFFFFF"/>
                </a:solidFill>
                <a:ea typeface="长城楷体" pitchFamily="1" charset="-122"/>
              </a:rPr>
              <a:t> </a:t>
            </a:r>
            <a:r>
              <a:rPr lang="zh-CN" altLang="en-US" sz="2800" dirty="0">
                <a:solidFill>
                  <a:srgbClr val="FFFFFF"/>
                </a:solidFill>
                <a:ea typeface="长城楷体" pitchFamily="1" charset="-122"/>
              </a:rPr>
              <a:t>触发器</a:t>
            </a:r>
            <a:endParaRPr lang="zh-CN" altLang="en-US" sz="2800" dirty="0">
              <a:solidFill>
                <a:srgbClr val="FFFFFF"/>
              </a:solidFill>
              <a:ea typeface="长城楷体" pitchFamily="1" charset="-122"/>
            </a:endParaRPr>
          </a:p>
        </p:txBody>
      </p:sp>
      <p:pic>
        <p:nvPicPr>
          <p:cNvPr id="127" name="图片 126"/>
          <p:cNvPicPr>
            <a:picLocks noChangeAspect="1"/>
          </p:cNvPicPr>
          <p:nvPr/>
        </p:nvPicPr>
        <p:blipFill>
          <a:blip r:embed="rId11"/>
          <a:stretch>
            <a:fillRect/>
          </a:stretch>
        </p:blipFill>
        <p:spPr>
          <a:xfrm>
            <a:off x="2742540" y="4849477"/>
            <a:ext cx="3437839" cy="1531292"/>
          </a:xfrm>
          <a:prstGeom prst="rect">
            <a:avLst/>
          </a:prstGeom>
          <a:solidFill>
            <a:schemeClr val="accent4">
              <a:lumMod val="20000"/>
              <a:lumOff val="80000"/>
            </a:schemeClr>
          </a:solid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触发器汇总</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pSp>
        <p:nvGrpSpPr>
          <p:cNvPr id="34" name="Group 17"/>
          <p:cNvGrpSpPr/>
          <p:nvPr/>
        </p:nvGrpSpPr>
        <p:grpSpPr bwMode="auto">
          <a:xfrm>
            <a:off x="1224584" y="2477575"/>
            <a:ext cx="2032000" cy="2128838"/>
            <a:chOff x="828" y="2652"/>
            <a:chExt cx="1380" cy="1416"/>
          </a:xfrm>
        </p:grpSpPr>
        <p:sp>
          <p:nvSpPr>
            <p:cNvPr id="35" name="Rectangle 18"/>
            <p:cNvSpPr>
              <a:spLocks noChangeArrowheads="1"/>
            </p:cNvSpPr>
            <p:nvPr/>
          </p:nvSpPr>
          <p:spPr bwMode="auto">
            <a:xfrm>
              <a:off x="851" y="3033"/>
              <a:ext cx="1266" cy="664"/>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36" name="Group 19"/>
            <p:cNvGrpSpPr/>
            <p:nvPr/>
          </p:nvGrpSpPr>
          <p:grpSpPr bwMode="auto">
            <a:xfrm>
              <a:off x="1136" y="2652"/>
              <a:ext cx="103" cy="371"/>
              <a:chOff x="1236" y="708"/>
              <a:chExt cx="108" cy="456"/>
            </a:xfrm>
          </p:grpSpPr>
          <p:sp>
            <p:nvSpPr>
              <p:cNvPr id="56" name="Oval 20"/>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7" name="Line 21"/>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37" name="Line 22"/>
            <p:cNvSpPr>
              <a:spLocks noChangeShapeType="1"/>
            </p:cNvSpPr>
            <p:nvPr/>
          </p:nvSpPr>
          <p:spPr bwMode="auto">
            <a:xfrm flipV="1">
              <a:off x="1775" y="2652"/>
              <a:ext cx="0" cy="38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38" name="Group 23"/>
            <p:cNvGrpSpPr/>
            <p:nvPr/>
          </p:nvGrpSpPr>
          <p:grpSpPr bwMode="auto">
            <a:xfrm flipV="1">
              <a:off x="1022" y="3697"/>
              <a:ext cx="103" cy="371"/>
              <a:chOff x="1236" y="708"/>
              <a:chExt cx="108" cy="456"/>
            </a:xfrm>
          </p:grpSpPr>
          <p:sp>
            <p:nvSpPr>
              <p:cNvPr id="54" name="Oval 24"/>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5" name="Line 25"/>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39" name="Group 26"/>
            <p:cNvGrpSpPr/>
            <p:nvPr/>
          </p:nvGrpSpPr>
          <p:grpSpPr bwMode="auto">
            <a:xfrm flipV="1">
              <a:off x="1843" y="3697"/>
              <a:ext cx="103" cy="371"/>
              <a:chOff x="1236" y="708"/>
              <a:chExt cx="108" cy="456"/>
            </a:xfrm>
          </p:grpSpPr>
          <p:sp>
            <p:nvSpPr>
              <p:cNvPr id="52" name="Oval 27"/>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53" name="Line 28"/>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40" name="Line 29"/>
            <p:cNvSpPr>
              <a:spLocks noChangeShapeType="1"/>
            </p:cNvSpPr>
            <p:nvPr/>
          </p:nvSpPr>
          <p:spPr bwMode="auto">
            <a:xfrm>
              <a:off x="1478" y="3697"/>
              <a:ext cx="0" cy="37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1" name="Line 30"/>
            <p:cNvSpPr>
              <a:spLocks noChangeShapeType="1"/>
            </p:cNvSpPr>
            <p:nvPr/>
          </p:nvSpPr>
          <p:spPr bwMode="auto">
            <a:xfrm>
              <a:off x="1683" y="3697"/>
              <a:ext cx="0" cy="37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2" name="Line 31"/>
            <p:cNvSpPr>
              <a:spLocks noChangeShapeType="1"/>
            </p:cNvSpPr>
            <p:nvPr/>
          </p:nvSpPr>
          <p:spPr bwMode="auto">
            <a:xfrm>
              <a:off x="1284" y="3697"/>
              <a:ext cx="0" cy="37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43" name="Text Box 32"/>
            <p:cNvSpPr txBox="1">
              <a:spLocks noChangeArrowheads="1"/>
            </p:cNvSpPr>
            <p:nvPr/>
          </p:nvSpPr>
          <p:spPr bwMode="auto">
            <a:xfrm>
              <a:off x="828" y="3384"/>
              <a:ext cx="422"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长城楷体" pitchFamily="1"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endParaRPr>
            </a:p>
          </p:txBody>
        </p:sp>
        <p:sp>
          <p:nvSpPr>
            <p:cNvPr id="44" name="Text Box 33"/>
            <p:cNvSpPr txBox="1">
              <a:spLocks noChangeArrowheads="1"/>
            </p:cNvSpPr>
            <p:nvPr/>
          </p:nvSpPr>
          <p:spPr bwMode="auto">
            <a:xfrm>
              <a:off x="1786" y="3394"/>
              <a:ext cx="422"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rPr>
                <a:t>S</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长城楷体" pitchFamily="1"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endParaRPr>
            </a:p>
          </p:txBody>
        </p:sp>
        <p:sp>
          <p:nvSpPr>
            <p:cNvPr id="45" name="Text Box 34"/>
            <p:cNvSpPr txBox="1">
              <a:spLocks noChangeArrowheads="1"/>
            </p:cNvSpPr>
            <p:nvPr/>
          </p:nvSpPr>
          <p:spPr bwMode="auto">
            <a:xfrm>
              <a:off x="1136" y="3433"/>
              <a:ext cx="228"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rPr>
                <a:t>R</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endParaRPr>
            </a:p>
          </p:txBody>
        </p:sp>
        <p:sp>
          <p:nvSpPr>
            <p:cNvPr id="46" name="Text Box 35"/>
            <p:cNvSpPr txBox="1">
              <a:spLocks noChangeArrowheads="1"/>
            </p:cNvSpPr>
            <p:nvPr/>
          </p:nvSpPr>
          <p:spPr bwMode="auto">
            <a:xfrm>
              <a:off x="1569" y="3433"/>
              <a:ext cx="228"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rPr>
                <a:t>S</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endParaRPr>
            </a:p>
          </p:txBody>
        </p:sp>
        <p:sp>
          <p:nvSpPr>
            <p:cNvPr id="47" name="Text Box 36"/>
            <p:cNvSpPr txBox="1">
              <a:spLocks noChangeArrowheads="1"/>
            </p:cNvSpPr>
            <p:nvPr/>
          </p:nvSpPr>
          <p:spPr bwMode="auto">
            <a:xfrm>
              <a:off x="1341" y="3433"/>
              <a:ext cx="228"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endParaRPr>
            </a:p>
          </p:txBody>
        </p:sp>
        <p:sp>
          <p:nvSpPr>
            <p:cNvPr id="48" name="Text Box 37"/>
            <p:cNvSpPr txBox="1">
              <a:spLocks noChangeArrowheads="1"/>
            </p:cNvSpPr>
            <p:nvPr/>
          </p:nvSpPr>
          <p:spPr bwMode="auto">
            <a:xfrm>
              <a:off x="1640" y="3024"/>
              <a:ext cx="182" cy="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rPr>
                <a:t>Q</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长城楷体" pitchFamily="1" charset="-122"/>
              </a:endParaRPr>
            </a:p>
          </p:txBody>
        </p:sp>
        <p:graphicFrame>
          <p:nvGraphicFramePr>
            <p:cNvPr id="49" name="Object 38"/>
            <p:cNvGraphicFramePr>
              <a:graphicFrameLocks noChangeAspect="1"/>
            </p:cNvGraphicFramePr>
            <p:nvPr/>
          </p:nvGraphicFramePr>
          <p:xfrm>
            <a:off x="1081" y="3053"/>
            <a:ext cx="221" cy="265"/>
          </p:xfrm>
          <a:graphic>
            <a:graphicData uri="http://schemas.openxmlformats.org/presentationml/2006/ole">
              <mc:AlternateContent xmlns:mc="http://schemas.openxmlformats.org/markup-compatibility/2006">
                <mc:Choice xmlns:v="urn:schemas-microsoft-com:vml" Requires="v">
                  <p:oleObj spid="_x0000_s3101" name="公式" r:id="rId2" imgW="165100" imgH="228600" progId="Equation.3">
                    <p:embed/>
                  </p:oleObj>
                </mc:Choice>
                <mc:Fallback>
                  <p:oleObj name="公式" r:id="rId2" imgW="165100" imgH="228600" progId="Equation.3">
                    <p:embed/>
                    <p:pic>
                      <p:nvPicPr>
                        <p:cNvPr id="0" name="Object 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 y="3053"/>
                          <a:ext cx="221" cy="2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1" name="Text Box 60"/>
          <p:cNvSpPr txBox="1">
            <a:spLocks noChangeArrowheads="1"/>
          </p:cNvSpPr>
          <p:nvPr/>
        </p:nvSpPr>
        <p:spPr bwMode="auto">
          <a:xfrm>
            <a:off x="348026" y="873306"/>
            <a:ext cx="3218272" cy="523220"/>
          </a:xfrm>
          <a:prstGeom prst="rect">
            <a:avLst/>
          </a:prstGeom>
          <a:solidFill>
            <a:srgbClr val="0000FF"/>
          </a:solidFill>
          <a:ln>
            <a:noFill/>
          </a:ln>
          <a:effectLst/>
          <a:extLs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50000"/>
              </a:spcBef>
              <a:spcAft>
                <a:spcPct val="0"/>
              </a:spcAft>
            </a:pPr>
            <a:r>
              <a:rPr lang="en-US" altLang="zh-CN" sz="2800" dirty="0">
                <a:solidFill>
                  <a:srgbClr val="FFFFFF"/>
                </a:solidFill>
                <a:latin typeface="黑体" panose="02010609060101010101" pitchFamily="49" charset="-122"/>
                <a:ea typeface="黑体" panose="02010609060101010101" pitchFamily="49" charset="-122"/>
              </a:rPr>
              <a:t>2.</a:t>
            </a:r>
            <a:r>
              <a:rPr lang="zh-CN" altLang="en-US" sz="2800" dirty="0">
                <a:solidFill>
                  <a:srgbClr val="FFFFFF"/>
                </a:solidFill>
                <a:latin typeface="黑体" panose="02010609060101010101" pitchFamily="49" charset="-122"/>
                <a:ea typeface="黑体" panose="02010609060101010101" pitchFamily="49" charset="-122"/>
              </a:rPr>
              <a:t>钟控</a:t>
            </a:r>
            <a:r>
              <a:rPr lang="en-US" altLang="zh-CN" sz="2800" i="1" dirty="0">
                <a:solidFill>
                  <a:srgbClr val="FFFFFF"/>
                </a:solidFill>
                <a:latin typeface="黑体" panose="02010609060101010101" pitchFamily="49" charset="-122"/>
                <a:ea typeface="黑体" panose="02010609060101010101" pitchFamily="49" charset="-122"/>
              </a:rPr>
              <a:t>R-S </a:t>
            </a:r>
            <a:r>
              <a:rPr lang="zh-CN" altLang="en-US" sz="2800" dirty="0">
                <a:solidFill>
                  <a:srgbClr val="FFFFFF"/>
                </a:solidFill>
                <a:latin typeface="黑体" panose="02010609060101010101" pitchFamily="49" charset="-122"/>
                <a:ea typeface="黑体" panose="02010609060101010101" pitchFamily="49" charset="-122"/>
              </a:rPr>
              <a:t>触发器</a:t>
            </a:r>
            <a:endParaRPr lang="zh-CN" altLang="en-US" sz="2800" dirty="0">
              <a:solidFill>
                <a:srgbClr val="FFFFFF"/>
              </a:solidFill>
              <a:latin typeface="黑体" panose="02010609060101010101" pitchFamily="49" charset="-122"/>
              <a:ea typeface="黑体" panose="02010609060101010101" pitchFamily="49" charset="-122"/>
            </a:endParaRPr>
          </a:p>
        </p:txBody>
      </p:sp>
      <p:graphicFrame>
        <p:nvGraphicFramePr>
          <p:cNvPr id="62" name="Object 12"/>
          <p:cNvGraphicFramePr>
            <a:graphicFrameLocks noChangeAspect="1"/>
          </p:cNvGraphicFramePr>
          <p:nvPr/>
        </p:nvGraphicFramePr>
        <p:xfrm>
          <a:off x="4787900" y="5047290"/>
          <a:ext cx="2362200" cy="1195387"/>
        </p:xfrm>
        <a:graphic>
          <a:graphicData uri="http://schemas.openxmlformats.org/presentationml/2006/ole">
            <mc:AlternateContent xmlns:mc="http://schemas.openxmlformats.org/markup-compatibility/2006">
              <mc:Choice xmlns:v="urn:schemas-microsoft-com:vml" Requires="v">
                <p:oleObj spid="_x0000_s3102" name="Equation" r:id="rId4" imgW="22555200" imgH="10363200" progId="Equation.DSMT4">
                  <p:embed/>
                </p:oleObj>
              </mc:Choice>
              <mc:Fallback>
                <p:oleObj name="Equation" r:id="rId4" imgW="22555200" imgH="10363200" progId="Equation.DSMT4">
                  <p:embed/>
                  <p:pic>
                    <p:nvPicPr>
                      <p:cNvPr id="0" name="Object 12"/>
                      <p:cNvPicPr>
                        <a:picLocks noChangeAspect="1" noChangeArrowheads="1"/>
                      </p:cNvPicPr>
                      <p:nvPr/>
                    </p:nvPicPr>
                    <p:blipFill>
                      <a:blip r:embed="rId5"/>
                      <a:srcRect/>
                      <a:stretch>
                        <a:fillRect/>
                      </a:stretch>
                    </p:blipFill>
                    <p:spPr bwMode="auto">
                      <a:xfrm>
                        <a:off x="4787900" y="5047290"/>
                        <a:ext cx="2362200" cy="1195387"/>
                      </a:xfrm>
                      <a:prstGeom prst="rect">
                        <a:avLst/>
                      </a:prstGeom>
                      <a:solidFill>
                        <a:srgbClr val="CCFFCC"/>
                      </a:solidFill>
                    </p:spPr>
                  </p:pic>
                </p:oleObj>
              </mc:Fallback>
            </mc:AlternateContent>
          </a:graphicData>
        </a:graphic>
      </p:graphicFrame>
      <p:graphicFrame>
        <p:nvGraphicFramePr>
          <p:cNvPr id="66" name="Object 55"/>
          <p:cNvGraphicFramePr>
            <a:graphicFrameLocks noChangeAspect="1"/>
          </p:cNvGraphicFramePr>
          <p:nvPr/>
        </p:nvGraphicFramePr>
        <p:xfrm>
          <a:off x="4009540" y="1843769"/>
          <a:ext cx="4275535" cy="3270161"/>
        </p:xfrm>
        <a:graphic>
          <a:graphicData uri="http://schemas.openxmlformats.org/presentationml/2006/ole">
            <mc:AlternateContent xmlns:mc="http://schemas.openxmlformats.org/markup-compatibility/2006">
              <mc:Choice xmlns:v="urn:schemas-microsoft-com:vml" Requires="v">
                <p:oleObj spid="_x0000_s3103" name="Document" r:id="rId6" imgW="3300730" imgH="3108960" progId="Word.Document.8">
                  <p:embed/>
                </p:oleObj>
              </mc:Choice>
              <mc:Fallback>
                <p:oleObj name="Document" r:id="rId6" imgW="3300730" imgH="3108960" progId="Word.Document.8">
                  <p:embed/>
                  <p:pic>
                    <p:nvPicPr>
                      <p:cNvPr id="0" name="Object 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09540" y="1843769"/>
                        <a:ext cx="4275535" cy="3270161"/>
                      </a:xfrm>
                      <a:prstGeom prst="rect">
                        <a:avLst/>
                      </a:prstGeom>
                      <a:noFill/>
                      <a:ln>
                        <a:noFill/>
                      </a:ln>
                      <a:effectLst/>
                    </p:spPr>
                  </p:pic>
                </p:oleObj>
              </mc:Fallback>
            </mc:AlternateContent>
          </a:graphicData>
        </a:graphic>
      </p:graphicFrame>
      <p:sp>
        <p:nvSpPr>
          <p:cNvPr id="2" name="文本框 1"/>
          <p:cNvSpPr txBox="1"/>
          <p:nvPr/>
        </p:nvSpPr>
        <p:spPr>
          <a:xfrm>
            <a:off x="1979958" y="5352390"/>
            <a:ext cx="2072015" cy="523220"/>
          </a:xfrm>
          <a:prstGeom prst="rect">
            <a:avLst/>
          </a:prstGeom>
          <a:noFill/>
        </p:spPr>
        <p:txBody>
          <a:bodyPr wrap="square" rtlCol="0">
            <a:spAutoFit/>
          </a:bodyPr>
          <a:lstStyle/>
          <a:p>
            <a:r>
              <a:rPr lang="zh-CN" altLang="en-US" sz="2800" b="1" dirty="0">
                <a:solidFill>
                  <a:srgbClr val="002060"/>
                </a:solidFill>
              </a:rPr>
              <a:t>电平触发</a:t>
            </a:r>
            <a:endParaRPr lang="zh-CN" altLang="en-US" sz="2800" b="1" dirty="0">
              <a:solidFill>
                <a:srgbClr val="00206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触发器汇总</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pSp>
        <p:nvGrpSpPr>
          <p:cNvPr id="94" name="Group 2"/>
          <p:cNvGrpSpPr/>
          <p:nvPr/>
        </p:nvGrpSpPr>
        <p:grpSpPr bwMode="auto">
          <a:xfrm>
            <a:off x="3282437" y="2496459"/>
            <a:ext cx="2209800" cy="2481468"/>
            <a:chOff x="640" y="1123"/>
            <a:chExt cx="1380" cy="1666"/>
          </a:xfrm>
        </p:grpSpPr>
        <p:sp>
          <p:nvSpPr>
            <p:cNvPr id="96" name="Rectangle 4"/>
            <p:cNvSpPr>
              <a:spLocks noChangeArrowheads="1"/>
            </p:cNvSpPr>
            <p:nvPr/>
          </p:nvSpPr>
          <p:spPr bwMode="auto">
            <a:xfrm>
              <a:off x="663" y="1472"/>
              <a:ext cx="1266" cy="779"/>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7" name="Oval 5"/>
            <p:cNvSpPr>
              <a:spLocks noChangeArrowheads="1"/>
            </p:cNvSpPr>
            <p:nvPr/>
          </p:nvSpPr>
          <p:spPr bwMode="auto">
            <a:xfrm>
              <a:off x="948" y="1357"/>
              <a:ext cx="102" cy="103"/>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8" name="Line 6"/>
            <p:cNvSpPr>
              <a:spLocks noChangeShapeType="1"/>
            </p:cNvSpPr>
            <p:nvPr/>
          </p:nvSpPr>
          <p:spPr bwMode="auto">
            <a:xfrm flipV="1">
              <a:off x="993" y="1123"/>
              <a:ext cx="0" cy="234"/>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99" name="Line 7"/>
            <p:cNvSpPr>
              <a:spLocks noChangeShapeType="1"/>
            </p:cNvSpPr>
            <p:nvPr/>
          </p:nvSpPr>
          <p:spPr bwMode="auto">
            <a:xfrm flipV="1">
              <a:off x="1587" y="1160"/>
              <a:ext cx="0" cy="312"/>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00" name="Group 8"/>
            <p:cNvGrpSpPr/>
            <p:nvPr/>
          </p:nvGrpSpPr>
          <p:grpSpPr bwMode="auto">
            <a:xfrm flipV="1">
              <a:off x="834" y="2251"/>
              <a:ext cx="102" cy="435"/>
              <a:chOff x="1236" y="708"/>
              <a:chExt cx="108" cy="456"/>
            </a:xfrm>
          </p:grpSpPr>
          <p:sp>
            <p:nvSpPr>
              <p:cNvPr id="122" name="Oval 9"/>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3" name="Line 10"/>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01" name="Group 11"/>
            <p:cNvGrpSpPr/>
            <p:nvPr/>
          </p:nvGrpSpPr>
          <p:grpSpPr bwMode="auto">
            <a:xfrm flipV="1">
              <a:off x="1655" y="2251"/>
              <a:ext cx="103" cy="435"/>
              <a:chOff x="1236" y="708"/>
              <a:chExt cx="108" cy="456"/>
            </a:xfrm>
          </p:grpSpPr>
          <p:sp>
            <p:nvSpPr>
              <p:cNvPr id="119" name="Oval 12"/>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20" name="Line 13"/>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02" name="Line 14"/>
            <p:cNvSpPr>
              <a:spLocks noChangeShapeType="1"/>
            </p:cNvSpPr>
            <p:nvPr/>
          </p:nvSpPr>
          <p:spPr bwMode="auto">
            <a:xfrm>
              <a:off x="1301" y="2354"/>
              <a:ext cx="0" cy="43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03" name="Text Box 15"/>
            <p:cNvSpPr txBox="1">
              <a:spLocks noChangeArrowheads="1"/>
            </p:cNvSpPr>
            <p:nvPr/>
          </p:nvSpPr>
          <p:spPr bwMode="auto">
            <a:xfrm>
              <a:off x="640" y="1884"/>
              <a:ext cx="422"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04" name="Text Box 16"/>
            <p:cNvSpPr txBox="1">
              <a:spLocks noChangeArrowheads="1"/>
            </p:cNvSpPr>
            <p:nvPr/>
          </p:nvSpPr>
          <p:spPr bwMode="auto">
            <a:xfrm>
              <a:off x="1598" y="1897"/>
              <a:ext cx="42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S</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05" name="Text Box 17"/>
            <p:cNvSpPr txBox="1">
              <a:spLocks noChangeArrowheads="1"/>
            </p:cNvSpPr>
            <p:nvPr/>
          </p:nvSpPr>
          <p:spPr bwMode="auto">
            <a:xfrm>
              <a:off x="970" y="1940"/>
              <a:ext cx="331"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06" name="Text Box 18"/>
            <p:cNvSpPr txBox="1">
              <a:spLocks noChangeArrowheads="1"/>
            </p:cNvSpPr>
            <p:nvPr/>
          </p:nvSpPr>
          <p:spPr bwMode="auto">
            <a:xfrm>
              <a:off x="1153" y="1838"/>
              <a:ext cx="22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C</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07" name="Text Box 19"/>
            <p:cNvSpPr txBox="1">
              <a:spLocks noChangeArrowheads="1"/>
            </p:cNvSpPr>
            <p:nvPr/>
          </p:nvSpPr>
          <p:spPr bwMode="auto">
            <a:xfrm>
              <a:off x="1508" y="1477"/>
              <a:ext cx="26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Q</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aphicFrame>
          <p:nvGraphicFramePr>
            <p:cNvPr id="108" name="Object 20"/>
            <p:cNvGraphicFramePr>
              <a:graphicFrameLocks noChangeAspect="1"/>
            </p:cNvGraphicFramePr>
            <p:nvPr/>
          </p:nvGraphicFramePr>
          <p:xfrm>
            <a:off x="896" y="1476"/>
            <a:ext cx="220" cy="310"/>
          </p:xfrm>
          <a:graphic>
            <a:graphicData uri="http://schemas.openxmlformats.org/presentationml/2006/ole">
              <mc:AlternateContent xmlns:mc="http://schemas.openxmlformats.org/markup-compatibility/2006">
                <mc:Choice xmlns:v="urn:schemas-microsoft-com:vml" Requires="v">
                  <p:oleObj spid="_x0000_s4143" name="公式" r:id="rId2" imgW="165100" imgH="228600" progId="Equation.3">
                    <p:embed/>
                  </p:oleObj>
                </mc:Choice>
                <mc:Fallback>
                  <p:oleObj name="公式" r:id="rId2" imgW="165100" imgH="228600" progId="Equation.3">
                    <p:embed/>
                    <p:pic>
                      <p:nvPicPr>
                        <p:cNvPr id="0" name="Object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6" y="1476"/>
                          <a:ext cx="220" cy="3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 name="Group 21"/>
            <p:cNvGrpSpPr/>
            <p:nvPr/>
          </p:nvGrpSpPr>
          <p:grpSpPr bwMode="auto">
            <a:xfrm>
              <a:off x="1210" y="2148"/>
              <a:ext cx="171" cy="91"/>
              <a:chOff x="1752" y="3600"/>
              <a:chExt cx="180" cy="96"/>
            </a:xfrm>
          </p:grpSpPr>
          <p:sp>
            <p:nvSpPr>
              <p:cNvPr id="117" name="Line 22"/>
              <p:cNvSpPr>
                <a:spLocks noChangeShapeType="1"/>
              </p:cNvSpPr>
              <p:nvPr/>
            </p:nvSpPr>
            <p:spPr bwMode="auto">
              <a:xfrm flipH="1">
                <a:off x="1752" y="3600"/>
                <a:ext cx="96" cy="9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8" name="Line 23"/>
              <p:cNvSpPr>
                <a:spLocks noChangeShapeType="1"/>
              </p:cNvSpPr>
              <p:nvPr/>
            </p:nvSpPr>
            <p:spPr bwMode="auto">
              <a:xfrm>
                <a:off x="1836" y="3600"/>
                <a:ext cx="96" cy="96"/>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10" name="Oval 24"/>
            <p:cNvSpPr>
              <a:spLocks noChangeArrowheads="1"/>
            </p:cNvSpPr>
            <p:nvPr/>
          </p:nvSpPr>
          <p:spPr bwMode="auto">
            <a:xfrm>
              <a:off x="1256" y="2251"/>
              <a:ext cx="102" cy="103"/>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1" name="Line 25"/>
            <p:cNvSpPr>
              <a:spLocks noChangeShapeType="1"/>
            </p:cNvSpPr>
            <p:nvPr/>
          </p:nvSpPr>
          <p:spPr bwMode="auto">
            <a:xfrm>
              <a:off x="1085" y="2245"/>
              <a:ext cx="0" cy="48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2" name="Text Box 26" descr="花束"/>
            <p:cNvSpPr txBox="1">
              <a:spLocks noChangeArrowheads="1"/>
            </p:cNvSpPr>
            <p:nvPr/>
          </p:nvSpPr>
          <p:spPr bwMode="auto">
            <a:xfrm>
              <a:off x="959" y="1907"/>
              <a:ext cx="342" cy="306"/>
            </a:xfrm>
            <a:prstGeom prst="rect">
              <a:avLst/>
            </a:prstGeom>
            <a:noFill/>
            <a:ln>
              <a:noFill/>
            </a:ln>
            <a:effectLst/>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K</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13" name="Line 27"/>
            <p:cNvSpPr>
              <a:spLocks noChangeShapeType="1"/>
            </p:cNvSpPr>
            <p:nvPr/>
          </p:nvSpPr>
          <p:spPr bwMode="auto">
            <a:xfrm>
              <a:off x="1518" y="2256"/>
              <a:ext cx="0" cy="487"/>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14" name="Text Box 28" descr="花束"/>
            <p:cNvSpPr txBox="1">
              <a:spLocks noChangeArrowheads="1"/>
            </p:cNvSpPr>
            <p:nvPr/>
          </p:nvSpPr>
          <p:spPr bwMode="auto">
            <a:xfrm>
              <a:off x="1404" y="1907"/>
              <a:ext cx="342" cy="306"/>
            </a:xfrm>
            <a:prstGeom prst="rect">
              <a:avLst/>
            </a:prstGeom>
            <a:noFill/>
            <a:ln>
              <a:noFill/>
            </a:ln>
            <a:effectLst/>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J</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pSp>
      <p:grpSp>
        <p:nvGrpSpPr>
          <p:cNvPr id="124" name="Group 31"/>
          <p:cNvGrpSpPr/>
          <p:nvPr/>
        </p:nvGrpSpPr>
        <p:grpSpPr bwMode="auto">
          <a:xfrm>
            <a:off x="6052693" y="1683865"/>
            <a:ext cx="2901950" cy="3294062"/>
            <a:chOff x="546" y="244"/>
            <a:chExt cx="2122" cy="2124"/>
          </a:xfrm>
        </p:grpSpPr>
        <p:graphicFrame>
          <p:nvGraphicFramePr>
            <p:cNvPr id="125" name="Object 32" descr="花束"/>
            <p:cNvGraphicFramePr>
              <a:graphicFrameLocks noChangeAspect="1"/>
            </p:cNvGraphicFramePr>
            <p:nvPr/>
          </p:nvGraphicFramePr>
          <p:xfrm>
            <a:off x="546" y="621"/>
            <a:ext cx="2122" cy="1747"/>
          </p:xfrm>
          <a:graphic>
            <a:graphicData uri="http://schemas.openxmlformats.org/presentationml/2006/ole">
              <mc:AlternateContent xmlns:mc="http://schemas.openxmlformats.org/markup-compatibility/2006">
                <mc:Choice xmlns:v="urn:schemas-microsoft-com:vml" Requires="v">
                  <p:oleObj spid="_x0000_s4144" name="Document" r:id="rId5" imgW="3430270" imgH="2840990" progId="Word.Document.8">
                    <p:embed/>
                  </p:oleObj>
                </mc:Choice>
                <mc:Fallback>
                  <p:oleObj name="Document" r:id="rId5" imgW="3430270" imgH="2840990" progId="Word.Document.8">
                    <p:embed/>
                    <p:pic>
                      <p:nvPicPr>
                        <p:cNvPr id="0" name="Object 32" descr="花束"/>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 y="621"/>
                          <a:ext cx="2122" cy="1747"/>
                        </a:xfrm>
                        <a:prstGeom prst="rect">
                          <a:avLst/>
                        </a:prstGeom>
                        <a:noFill/>
                        <a:ln>
                          <a:noFill/>
                        </a:ln>
                        <a:effectLst/>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6" name="Object 33"/>
            <p:cNvGraphicFramePr>
              <a:graphicFrameLocks noChangeAspect="1"/>
            </p:cNvGraphicFramePr>
            <p:nvPr/>
          </p:nvGraphicFramePr>
          <p:xfrm>
            <a:off x="2026" y="1811"/>
            <a:ext cx="375" cy="340"/>
          </p:xfrm>
          <a:graphic>
            <a:graphicData uri="http://schemas.openxmlformats.org/presentationml/2006/ole">
              <mc:AlternateContent xmlns:mc="http://schemas.openxmlformats.org/markup-compatibility/2006">
                <mc:Choice xmlns:v="urn:schemas-microsoft-com:vml" Requires="v">
                  <p:oleObj spid="_x0000_s4145" name="Equation" r:id="rId7" imgW="215900" imgH="254000" progId="Equation.3">
                    <p:embed/>
                  </p:oleObj>
                </mc:Choice>
                <mc:Fallback>
                  <p:oleObj name="Equation" r:id="rId7" imgW="215900" imgH="254000" progId="Equation.3">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6" y="1811"/>
                          <a:ext cx="375" cy="3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7" name="Text Box 34" descr="花束"/>
            <p:cNvSpPr txBox="1">
              <a:spLocks noChangeArrowheads="1"/>
            </p:cNvSpPr>
            <p:nvPr/>
          </p:nvSpPr>
          <p:spPr bwMode="auto">
            <a:xfrm>
              <a:off x="1240" y="244"/>
              <a:ext cx="1080" cy="335"/>
            </a:xfrm>
            <a:prstGeom prst="rect">
              <a:avLst/>
            </a:prstGeom>
            <a:noFill/>
            <a:ln>
              <a:noFill/>
            </a:ln>
            <a:effectLst/>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功能表</a:t>
              </a:r>
              <a:endParaRPr kumimoji="1" lang="zh-CN" altLang="en-US"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pSp>
      <p:sp>
        <p:nvSpPr>
          <p:cNvPr id="128" name="Text Box 63"/>
          <p:cNvSpPr txBox="1">
            <a:spLocks noChangeArrowheads="1"/>
          </p:cNvSpPr>
          <p:nvPr/>
        </p:nvSpPr>
        <p:spPr bwMode="auto">
          <a:xfrm>
            <a:off x="442791" y="901401"/>
            <a:ext cx="2189551" cy="523220"/>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50000"/>
              </a:spcBef>
              <a:spcAft>
                <a:spcPct val="0"/>
              </a:spcAft>
            </a:pPr>
            <a:r>
              <a:rPr lang="en-US" altLang="zh-CN" sz="2800" dirty="0">
                <a:solidFill>
                  <a:srgbClr val="FFFFFF"/>
                </a:solidFill>
                <a:latin typeface="黑体" panose="02010609060101010101" pitchFamily="49" charset="-122"/>
                <a:ea typeface="黑体" panose="02010609060101010101" pitchFamily="49" charset="-122"/>
              </a:rPr>
              <a:t>3.J-K</a:t>
            </a:r>
            <a:r>
              <a:rPr lang="zh-CN" altLang="en-US" sz="2800" dirty="0">
                <a:solidFill>
                  <a:srgbClr val="FFFFFF"/>
                </a:solidFill>
                <a:latin typeface="黑体" panose="02010609060101010101" pitchFamily="49" charset="-122"/>
                <a:ea typeface="黑体" panose="02010609060101010101" pitchFamily="49" charset="-122"/>
              </a:rPr>
              <a:t>触发器</a:t>
            </a:r>
            <a:endParaRPr lang="zh-CN" altLang="en-US" sz="2800" dirty="0">
              <a:solidFill>
                <a:srgbClr val="FFFFFF"/>
              </a:solidFill>
              <a:latin typeface="黑体" panose="02010609060101010101" pitchFamily="49" charset="-122"/>
              <a:ea typeface="黑体" panose="02010609060101010101" pitchFamily="49" charset="-122"/>
            </a:endParaRPr>
          </a:p>
        </p:txBody>
      </p:sp>
      <p:graphicFrame>
        <p:nvGraphicFramePr>
          <p:cNvPr id="40" name="Object 24"/>
          <p:cNvGraphicFramePr>
            <a:graphicFrameLocks noChangeAspect="1"/>
          </p:cNvGraphicFramePr>
          <p:nvPr/>
        </p:nvGraphicFramePr>
        <p:xfrm>
          <a:off x="5633156" y="5223128"/>
          <a:ext cx="3466865" cy="830780"/>
        </p:xfrm>
        <a:graphic>
          <a:graphicData uri="http://schemas.openxmlformats.org/presentationml/2006/ole">
            <mc:AlternateContent xmlns:mc="http://schemas.openxmlformats.org/markup-compatibility/2006">
              <mc:Choice xmlns:v="urn:schemas-microsoft-com:vml" Requires="v">
                <p:oleObj spid="_x0000_s4146" name="Equation" r:id="rId9" imgW="26822400" imgH="6096000" progId="Equation.DSMT4">
                  <p:embed/>
                </p:oleObj>
              </mc:Choice>
              <mc:Fallback>
                <p:oleObj name="Equation" r:id="rId9" imgW="26822400" imgH="6096000" progId="Equation.DSMT4">
                  <p:embed/>
                  <p:pic>
                    <p:nvPicPr>
                      <p:cNvPr id="0" name="Object 24"/>
                      <p:cNvPicPr>
                        <a:picLocks noChangeAspect="1" noChangeArrowheads="1"/>
                      </p:cNvPicPr>
                      <p:nvPr/>
                    </p:nvPicPr>
                    <p:blipFill>
                      <a:blip r:embed="rId10"/>
                      <a:srcRect/>
                      <a:stretch>
                        <a:fillRect/>
                      </a:stretch>
                    </p:blipFill>
                    <p:spPr bwMode="auto">
                      <a:xfrm>
                        <a:off x="5633156" y="5223128"/>
                        <a:ext cx="3466865" cy="830780"/>
                      </a:xfrm>
                      <a:prstGeom prst="rect">
                        <a:avLst/>
                      </a:prstGeom>
                      <a:solidFill>
                        <a:schemeClr val="accent2">
                          <a:lumMod val="20000"/>
                          <a:lumOff val="80000"/>
                        </a:schemeClr>
                      </a:solidFill>
                      <a:ln>
                        <a:noFill/>
                      </a:ln>
                      <a:effectLst/>
                    </p:spPr>
                  </p:pic>
                </p:oleObj>
              </mc:Fallback>
            </mc:AlternateContent>
          </a:graphicData>
        </a:graphic>
      </p:graphicFrame>
      <p:grpSp>
        <p:nvGrpSpPr>
          <p:cNvPr id="41" name="组合 40"/>
          <p:cNvGrpSpPr/>
          <p:nvPr/>
        </p:nvGrpSpPr>
        <p:grpSpPr>
          <a:xfrm>
            <a:off x="62542" y="2875228"/>
            <a:ext cx="2794001" cy="1790700"/>
            <a:chOff x="1694872" y="4779952"/>
            <a:chExt cx="2794001" cy="1790700"/>
          </a:xfrm>
        </p:grpSpPr>
        <p:graphicFrame>
          <p:nvGraphicFramePr>
            <p:cNvPr id="42" name="Object 34"/>
            <p:cNvGraphicFramePr>
              <a:graphicFrameLocks noChangeAspect="1"/>
            </p:cNvGraphicFramePr>
            <p:nvPr/>
          </p:nvGraphicFramePr>
          <p:xfrm>
            <a:off x="2258435" y="4779952"/>
            <a:ext cx="1847850" cy="1790700"/>
          </p:xfrm>
          <a:graphic>
            <a:graphicData uri="http://schemas.openxmlformats.org/presentationml/2006/ole">
              <mc:AlternateContent xmlns:mc="http://schemas.openxmlformats.org/markup-compatibility/2006">
                <mc:Choice xmlns:v="urn:schemas-microsoft-com:vml" Requires="v">
                  <p:oleObj spid="_x0000_s4147" name="BMP 图象" r:id="rId11" imgW="1847850" imgH="1790700" progId="Paint.Picture">
                    <p:embed/>
                  </p:oleObj>
                </mc:Choice>
                <mc:Fallback>
                  <p:oleObj name="BMP 图象" r:id="rId11" imgW="1847850" imgH="1790700" progId="Paint.Picture">
                    <p:embed/>
                    <p:pic>
                      <p:nvPicPr>
                        <p:cNvPr id="0" name="Object 3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58435" y="4779952"/>
                          <a:ext cx="1847850" cy="1790700"/>
                        </a:xfrm>
                        <a:prstGeom prst="rect">
                          <a:avLst/>
                        </a:prstGeom>
                        <a:solidFill>
                          <a:schemeClr val="tx1">
                            <a:lumMod val="50000"/>
                            <a:lumOff val="50000"/>
                          </a:schemeClr>
                        </a:solidFill>
                        <a:ln>
                          <a:noFill/>
                        </a:ln>
                        <a:effectLst/>
                      </p:spPr>
                    </p:pic>
                  </p:oleObj>
                </mc:Fallback>
              </mc:AlternateContent>
            </a:graphicData>
          </a:graphic>
        </p:graphicFrame>
        <p:sp>
          <p:nvSpPr>
            <p:cNvPr id="43" name="Rectangle 35"/>
            <p:cNvSpPr>
              <a:spLocks noChangeArrowheads="1"/>
            </p:cNvSpPr>
            <p:nvPr/>
          </p:nvSpPr>
          <p:spPr bwMode="auto">
            <a:xfrm>
              <a:off x="4084060" y="581024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Q</a:t>
              </a:r>
              <a:endParaRPr kumimoji="1" lang="en-US" altLang="zh-CN" sz="2400" b="1" i="1" u="none" strike="noStrike" kern="0" cap="none" spc="0" normalizeH="0" baseline="0" noProof="0" dirty="0">
                <a:ln>
                  <a:noFill/>
                </a:ln>
                <a:effectLst/>
                <a:uLnTx/>
                <a:uFillTx/>
                <a:latin typeface="Times New Roman" panose="02020603050405020304" pitchFamily="18" charset="0"/>
                <a:ea typeface="宋体" panose="02010600030101010101" pitchFamily="2" charset="-122"/>
              </a:endParaRPr>
            </a:p>
          </p:txBody>
        </p:sp>
        <p:sp>
          <p:nvSpPr>
            <p:cNvPr id="44" name="Rectangle 37"/>
            <p:cNvSpPr>
              <a:spLocks noChangeArrowheads="1"/>
            </p:cNvSpPr>
            <p:nvPr/>
          </p:nvSpPr>
          <p:spPr bwMode="auto">
            <a:xfrm>
              <a:off x="4084060" y="4832340"/>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effectLst/>
                  <a:uLnTx/>
                  <a:uFillTx/>
                  <a:latin typeface="Times New Roman" panose="02020603050405020304" pitchFamily="18" charset="0"/>
                  <a:ea typeface="宋体" panose="02010600030101010101" pitchFamily="2" charset="-122"/>
                </a:rPr>
                <a:t>Q</a:t>
              </a:r>
              <a:endParaRPr kumimoji="1" lang="en-US" altLang="zh-CN" sz="2400" b="1" i="1" u="none" strike="noStrike" kern="0" cap="none" spc="0" normalizeH="0" baseline="0" noProof="0">
                <a:ln>
                  <a:noFill/>
                </a:ln>
                <a:effectLst/>
                <a:uLnTx/>
                <a:uFillTx/>
                <a:latin typeface="Times New Roman" panose="02020603050405020304" pitchFamily="18" charset="0"/>
                <a:ea typeface="宋体" panose="02010600030101010101" pitchFamily="2" charset="-122"/>
              </a:endParaRPr>
            </a:p>
          </p:txBody>
        </p:sp>
        <p:sp>
          <p:nvSpPr>
            <p:cNvPr id="45" name="Rectangle 39"/>
            <p:cNvSpPr>
              <a:spLocks noChangeArrowheads="1"/>
            </p:cNvSpPr>
            <p:nvPr/>
          </p:nvSpPr>
          <p:spPr bwMode="auto">
            <a:xfrm>
              <a:off x="1913947" y="483234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dirty="0">
                  <a:ln>
                    <a:noFill/>
                  </a:ln>
                  <a:effectLst/>
                  <a:uLnTx/>
                  <a:uFillTx/>
                  <a:latin typeface="Times New Roman" panose="02020603050405020304" pitchFamily="18" charset="0"/>
                  <a:ea typeface="宋体" panose="02010600030101010101" pitchFamily="2" charset="-122"/>
                </a:rPr>
                <a:t>J</a:t>
              </a:r>
              <a:endParaRPr kumimoji="1" lang="en-US" altLang="zh-CN" sz="2400" b="1" i="1" u="none" strike="noStrike" kern="0" cap="none" spc="0" normalizeH="0" baseline="-25000" noProof="0" dirty="0">
                <a:ln>
                  <a:noFill/>
                </a:ln>
                <a:effectLst/>
                <a:uLnTx/>
                <a:uFillTx/>
                <a:latin typeface="Times New Roman" panose="02020603050405020304" pitchFamily="18" charset="0"/>
                <a:ea typeface="宋体" panose="02010600030101010101" pitchFamily="2" charset="-122"/>
              </a:endParaRPr>
            </a:p>
          </p:txBody>
        </p:sp>
        <p:sp>
          <p:nvSpPr>
            <p:cNvPr id="46" name="Rectangle 41"/>
            <p:cNvSpPr>
              <a:spLocks noChangeArrowheads="1"/>
            </p:cNvSpPr>
            <p:nvPr/>
          </p:nvSpPr>
          <p:spPr bwMode="auto">
            <a:xfrm>
              <a:off x="1694872" y="5327640"/>
              <a:ext cx="573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effectLst/>
                  <a:uLnTx/>
                  <a:uFillTx/>
                  <a:latin typeface="Times New Roman" panose="02020603050405020304" pitchFamily="18" charset="0"/>
                  <a:ea typeface="宋体" panose="02010600030101010101" pitchFamily="2" charset="-122"/>
                </a:rPr>
                <a:t>CP</a:t>
              </a:r>
              <a:endParaRPr kumimoji="1" lang="en-US" altLang="zh-CN" sz="2400" b="1" i="1" u="none" strike="noStrike" kern="0" cap="none" spc="0" normalizeH="0" baseline="-25000" noProof="0">
                <a:ln>
                  <a:noFill/>
                </a:ln>
                <a:effectLst/>
                <a:uLnTx/>
                <a:uFillTx/>
                <a:latin typeface="Times New Roman" panose="02020603050405020304" pitchFamily="18" charset="0"/>
                <a:ea typeface="宋体" panose="02010600030101010101" pitchFamily="2" charset="-122"/>
              </a:endParaRPr>
            </a:p>
          </p:txBody>
        </p:sp>
        <p:sp>
          <p:nvSpPr>
            <p:cNvPr id="47" name="Rectangle 42"/>
            <p:cNvSpPr>
              <a:spLocks noChangeArrowheads="1"/>
            </p:cNvSpPr>
            <p:nvPr/>
          </p:nvSpPr>
          <p:spPr bwMode="auto">
            <a:xfrm>
              <a:off x="1913947" y="582294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just" defTabSz="914400" eaLnBrk="1" fontAlgn="base" latinLnBrk="0" hangingPunct="1">
                <a:lnSpc>
                  <a:spcPct val="100000"/>
                </a:lnSpc>
                <a:spcBef>
                  <a:spcPct val="50000"/>
                </a:spcBef>
                <a:spcAft>
                  <a:spcPct val="0"/>
                </a:spcAft>
                <a:buClrTx/>
                <a:buSzTx/>
                <a:buFontTx/>
                <a:buNone/>
                <a:defRPr/>
              </a:pPr>
              <a:r>
                <a:rPr kumimoji="1" lang="en-US" altLang="zh-CN" sz="2400" b="1" i="1" u="none" strike="noStrike" kern="0" cap="none" spc="0" normalizeH="0" baseline="0" noProof="0">
                  <a:ln>
                    <a:noFill/>
                  </a:ln>
                  <a:effectLst/>
                  <a:uLnTx/>
                  <a:uFillTx/>
                  <a:latin typeface="Times New Roman" panose="02020603050405020304" pitchFamily="18" charset="0"/>
                  <a:ea typeface="宋体" panose="02010600030101010101" pitchFamily="2" charset="-122"/>
                </a:rPr>
                <a:t>K</a:t>
              </a:r>
              <a:endParaRPr kumimoji="1" lang="en-US" altLang="zh-CN" sz="2400" b="1" i="1" u="none" strike="noStrike" kern="0" cap="none" spc="0" normalizeH="0" baseline="-25000" noProof="0">
                <a:ln>
                  <a:noFill/>
                </a:ln>
                <a:effectLst/>
                <a:uLnTx/>
                <a:uFillTx/>
                <a:latin typeface="Times New Roman" panose="02020603050405020304" pitchFamily="18" charset="0"/>
                <a:ea typeface="宋体" panose="02010600030101010101" pitchFamily="2" charset="-122"/>
              </a:endParaRPr>
            </a:p>
          </p:txBody>
        </p:sp>
      </p:grpSp>
      <p:sp>
        <p:nvSpPr>
          <p:cNvPr id="48" name="Text Box 3" descr="花束"/>
          <p:cNvSpPr txBox="1">
            <a:spLocks noChangeArrowheads="1"/>
          </p:cNvSpPr>
          <p:nvPr/>
        </p:nvSpPr>
        <p:spPr bwMode="auto">
          <a:xfrm>
            <a:off x="2079858" y="1976196"/>
            <a:ext cx="1695781" cy="519827"/>
          </a:xfrm>
          <a:prstGeom prst="rect">
            <a:avLst/>
          </a:prstGeom>
          <a:noFill/>
          <a:ln>
            <a:noFill/>
          </a:ln>
          <a:effectLst/>
          <a:extLst>
            <a:ext uri="{909E8E84-426E-40DD-AFC4-6F175D3DCCD1}">
              <a14:hiddenFill xmlns:a14="http://schemas.microsoft.com/office/drawing/2010/main">
                <a:blipFill dpi="0" rotWithShape="0">
                  <a:blip r:embed="rId4"/>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逻辑符号</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2" name="文本框 1"/>
          <p:cNvSpPr txBox="1"/>
          <p:nvPr/>
        </p:nvSpPr>
        <p:spPr>
          <a:xfrm>
            <a:off x="486872" y="5104595"/>
            <a:ext cx="2101390" cy="461665"/>
          </a:xfrm>
          <a:prstGeom prst="rect">
            <a:avLst/>
          </a:prstGeom>
          <a:noFill/>
        </p:spPr>
        <p:txBody>
          <a:bodyPr wrap="square" rtlCol="0">
            <a:spAutoFit/>
          </a:bodyPr>
          <a:lstStyle/>
          <a:p>
            <a:r>
              <a:rPr lang="zh-CN" altLang="en-US" sz="2400" b="1" dirty="0">
                <a:solidFill>
                  <a:srgbClr val="FF0000"/>
                </a:solidFill>
              </a:rPr>
              <a:t>钟控</a:t>
            </a:r>
            <a:r>
              <a:rPr lang="en-US" altLang="zh-CN" sz="2400" b="1" dirty="0">
                <a:solidFill>
                  <a:srgbClr val="FF0000"/>
                </a:solidFill>
              </a:rPr>
              <a:t>J-K</a:t>
            </a:r>
            <a:r>
              <a:rPr lang="zh-CN" altLang="en-US" sz="2400" b="1" dirty="0">
                <a:solidFill>
                  <a:srgbClr val="FF0000"/>
                </a:solidFill>
              </a:rPr>
              <a:t>触发器</a:t>
            </a:r>
            <a:endParaRPr lang="zh-CN" altLang="en-US" sz="2400" b="1" dirty="0">
              <a:solidFill>
                <a:srgbClr val="FF0000"/>
              </a:solidFill>
            </a:endParaRPr>
          </a:p>
        </p:txBody>
      </p:sp>
      <p:sp>
        <p:nvSpPr>
          <p:cNvPr id="50" name="文本框 49"/>
          <p:cNvSpPr txBox="1"/>
          <p:nvPr/>
        </p:nvSpPr>
        <p:spPr>
          <a:xfrm>
            <a:off x="3272269" y="5104594"/>
            <a:ext cx="2101390" cy="461665"/>
          </a:xfrm>
          <a:prstGeom prst="rect">
            <a:avLst/>
          </a:prstGeom>
          <a:noFill/>
        </p:spPr>
        <p:txBody>
          <a:bodyPr wrap="square" rtlCol="0">
            <a:spAutoFit/>
          </a:bodyPr>
          <a:lstStyle/>
          <a:p>
            <a:r>
              <a:rPr lang="zh-CN" altLang="en-US" sz="2400" b="1" dirty="0">
                <a:solidFill>
                  <a:srgbClr val="FF0000"/>
                </a:solidFill>
              </a:rPr>
              <a:t>主从</a:t>
            </a:r>
            <a:r>
              <a:rPr lang="en-US" altLang="zh-CN" sz="2400" b="1" dirty="0">
                <a:solidFill>
                  <a:srgbClr val="FF0000"/>
                </a:solidFill>
              </a:rPr>
              <a:t>J-K</a:t>
            </a:r>
            <a:r>
              <a:rPr lang="zh-CN" altLang="en-US" sz="2400" b="1" dirty="0">
                <a:solidFill>
                  <a:srgbClr val="FF0000"/>
                </a:solidFill>
              </a:rPr>
              <a:t>触发器</a:t>
            </a:r>
            <a:endParaRPr lang="zh-CN" altLang="en-US" sz="2400" b="1" dirty="0">
              <a:solidFill>
                <a:srgbClr val="FF0000"/>
              </a:solidFill>
            </a:endParaRPr>
          </a:p>
        </p:txBody>
      </p:sp>
      <p:sp>
        <p:nvSpPr>
          <p:cNvPr id="51" name="文本框 50"/>
          <p:cNvSpPr txBox="1"/>
          <p:nvPr/>
        </p:nvSpPr>
        <p:spPr>
          <a:xfrm>
            <a:off x="749970" y="5638518"/>
            <a:ext cx="1641864" cy="523220"/>
          </a:xfrm>
          <a:prstGeom prst="rect">
            <a:avLst/>
          </a:prstGeom>
          <a:noFill/>
        </p:spPr>
        <p:txBody>
          <a:bodyPr wrap="square" rtlCol="0">
            <a:spAutoFit/>
          </a:bodyPr>
          <a:lstStyle/>
          <a:p>
            <a:r>
              <a:rPr lang="zh-CN" altLang="en-US" sz="2800" b="1" dirty="0">
                <a:solidFill>
                  <a:srgbClr val="002060"/>
                </a:solidFill>
              </a:rPr>
              <a:t>电平触发</a:t>
            </a:r>
            <a:endParaRPr lang="zh-CN" altLang="en-US" sz="2800" b="1" dirty="0">
              <a:solidFill>
                <a:srgbClr val="002060"/>
              </a:solidFill>
            </a:endParaRPr>
          </a:p>
        </p:txBody>
      </p:sp>
      <p:sp>
        <p:nvSpPr>
          <p:cNvPr id="52" name="文本框 51"/>
          <p:cNvSpPr txBox="1"/>
          <p:nvPr/>
        </p:nvSpPr>
        <p:spPr>
          <a:xfrm>
            <a:off x="3502032" y="5606984"/>
            <a:ext cx="1641864" cy="523220"/>
          </a:xfrm>
          <a:prstGeom prst="rect">
            <a:avLst/>
          </a:prstGeom>
          <a:noFill/>
        </p:spPr>
        <p:txBody>
          <a:bodyPr wrap="square" rtlCol="0">
            <a:spAutoFit/>
          </a:bodyPr>
          <a:lstStyle/>
          <a:p>
            <a:r>
              <a:rPr lang="zh-CN" altLang="en-US" sz="2800" b="1" dirty="0">
                <a:solidFill>
                  <a:srgbClr val="002060"/>
                </a:solidFill>
              </a:rPr>
              <a:t>脉冲触发</a:t>
            </a:r>
            <a:endParaRPr lang="zh-CN" altLang="en-US" sz="2800" b="1" dirty="0">
              <a:solidFill>
                <a:srgbClr val="00206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触发器汇总</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aphicFrame>
        <p:nvGraphicFramePr>
          <p:cNvPr id="138" name="Object 35"/>
          <p:cNvGraphicFramePr>
            <a:graphicFrameLocks noChangeAspect="1"/>
          </p:cNvGraphicFramePr>
          <p:nvPr/>
        </p:nvGraphicFramePr>
        <p:xfrm>
          <a:off x="5996382" y="2964081"/>
          <a:ext cx="2738364" cy="2099203"/>
        </p:xfrm>
        <a:graphic>
          <a:graphicData uri="http://schemas.openxmlformats.org/presentationml/2006/ole">
            <mc:AlternateContent xmlns:mc="http://schemas.openxmlformats.org/markup-compatibility/2006">
              <mc:Choice xmlns:v="urn:schemas-microsoft-com:vml" Requires="v">
                <p:oleObj spid="_x0000_s5149" name="Document" r:id="rId2" imgW="2782570" imgH="2118360" progId="Word.Document.8">
                  <p:embed/>
                </p:oleObj>
              </mc:Choice>
              <mc:Fallback>
                <p:oleObj name="Document" r:id="rId2" imgW="2782570" imgH="2118360" progId="Word.Document.8">
                  <p:embed/>
                  <p:pic>
                    <p:nvPicPr>
                      <p:cNvPr id="0"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96382" y="2964081"/>
                        <a:ext cx="2738364" cy="2099203"/>
                      </a:xfrm>
                      <a:prstGeom prst="rect">
                        <a:avLst/>
                      </a:prstGeom>
                      <a:noFill/>
                      <a:ln>
                        <a:noFill/>
                      </a:ln>
                      <a:effectLst/>
                    </p:spPr>
                  </p:pic>
                </p:oleObj>
              </mc:Fallback>
            </mc:AlternateContent>
          </a:graphicData>
        </a:graphic>
      </p:graphicFrame>
      <p:grpSp>
        <p:nvGrpSpPr>
          <p:cNvPr id="139" name="Group 37"/>
          <p:cNvGrpSpPr/>
          <p:nvPr/>
        </p:nvGrpSpPr>
        <p:grpSpPr bwMode="auto">
          <a:xfrm>
            <a:off x="3507515" y="2345220"/>
            <a:ext cx="1698625" cy="2581275"/>
            <a:chOff x="474" y="555"/>
            <a:chExt cx="1070" cy="1626"/>
          </a:xfrm>
        </p:grpSpPr>
        <p:sp>
          <p:nvSpPr>
            <p:cNvPr id="140" name="Text Box 38"/>
            <p:cNvSpPr txBox="1">
              <a:spLocks noChangeArrowheads="1"/>
            </p:cNvSpPr>
            <p:nvPr/>
          </p:nvSpPr>
          <p:spPr bwMode="auto">
            <a:xfrm>
              <a:off x="474" y="555"/>
              <a:ext cx="107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endParaRPr kumimoji="1" lang="zh-CN" altLang="zh-CN" sz="28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41" name="Rectangle 39"/>
            <p:cNvSpPr>
              <a:spLocks noChangeArrowheads="1"/>
            </p:cNvSpPr>
            <p:nvPr/>
          </p:nvSpPr>
          <p:spPr bwMode="auto">
            <a:xfrm>
              <a:off x="488" y="1225"/>
              <a:ext cx="994" cy="613"/>
            </a:xfrm>
            <a:prstGeom prst="rect">
              <a:avLst/>
            </a:prstGeom>
            <a:noFill/>
            <a:ln w="38100">
              <a:solidFill>
                <a:srgbClr val="000000"/>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42" name="Group 40"/>
            <p:cNvGrpSpPr/>
            <p:nvPr/>
          </p:nvGrpSpPr>
          <p:grpSpPr bwMode="auto">
            <a:xfrm>
              <a:off x="710" y="874"/>
              <a:ext cx="81" cy="342"/>
              <a:chOff x="1236" y="708"/>
              <a:chExt cx="108" cy="456"/>
            </a:xfrm>
          </p:grpSpPr>
          <p:sp>
            <p:nvSpPr>
              <p:cNvPr id="162" name="Oval 41"/>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3" name="Line 42"/>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43" name="Line 43"/>
            <p:cNvSpPr>
              <a:spLocks noChangeShapeType="1"/>
            </p:cNvSpPr>
            <p:nvPr/>
          </p:nvSpPr>
          <p:spPr bwMode="auto">
            <a:xfrm flipV="1">
              <a:off x="1209" y="874"/>
              <a:ext cx="1" cy="35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nvGrpSpPr>
            <p:cNvPr id="144" name="Group 44"/>
            <p:cNvGrpSpPr/>
            <p:nvPr/>
          </p:nvGrpSpPr>
          <p:grpSpPr bwMode="auto">
            <a:xfrm flipV="1">
              <a:off x="621" y="1838"/>
              <a:ext cx="81" cy="343"/>
              <a:chOff x="1236" y="708"/>
              <a:chExt cx="108" cy="456"/>
            </a:xfrm>
          </p:grpSpPr>
          <p:sp>
            <p:nvSpPr>
              <p:cNvPr id="160" name="Oval 45"/>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61" name="Line 46"/>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grpSp>
          <p:nvGrpSpPr>
            <p:cNvPr id="145" name="Group 47"/>
            <p:cNvGrpSpPr/>
            <p:nvPr/>
          </p:nvGrpSpPr>
          <p:grpSpPr bwMode="auto">
            <a:xfrm flipV="1">
              <a:off x="1262" y="1838"/>
              <a:ext cx="81" cy="343"/>
              <a:chOff x="1236" y="708"/>
              <a:chExt cx="108" cy="456"/>
            </a:xfrm>
          </p:grpSpPr>
          <p:sp>
            <p:nvSpPr>
              <p:cNvPr id="158" name="Oval 48"/>
              <p:cNvSpPr>
                <a:spLocks noChangeArrowheads="1"/>
              </p:cNvSpPr>
              <p:nvPr/>
            </p:nvSpPr>
            <p:spPr bwMode="auto">
              <a:xfrm>
                <a:off x="1236" y="1056"/>
                <a:ext cx="108" cy="108"/>
              </a:xfrm>
              <a:prstGeom prst="ellipse">
                <a:avLst/>
              </a:prstGeom>
              <a:noFill/>
              <a:ln w="38100">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9" name="Line 49"/>
              <p:cNvSpPr>
                <a:spLocks noChangeShapeType="1"/>
              </p:cNvSpPr>
              <p:nvPr/>
            </p:nvSpPr>
            <p:spPr bwMode="auto">
              <a:xfrm flipV="1">
                <a:off x="1284" y="708"/>
                <a:ext cx="0" cy="348"/>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46" name="Line 50"/>
            <p:cNvSpPr>
              <a:spLocks noChangeShapeType="1"/>
            </p:cNvSpPr>
            <p:nvPr/>
          </p:nvSpPr>
          <p:spPr bwMode="auto">
            <a:xfrm>
              <a:off x="1075" y="1838"/>
              <a:ext cx="1" cy="34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7" name="Line 51"/>
            <p:cNvSpPr>
              <a:spLocks noChangeShapeType="1"/>
            </p:cNvSpPr>
            <p:nvPr/>
          </p:nvSpPr>
          <p:spPr bwMode="auto">
            <a:xfrm>
              <a:off x="870" y="1838"/>
              <a:ext cx="1" cy="343"/>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48" name="Text Box 52"/>
            <p:cNvSpPr txBox="1">
              <a:spLocks noChangeArrowheads="1"/>
            </p:cNvSpPr>
            <p:nvPr/>
          </p:nvSpPr>
          <p:spPr bwMode="auto">
            <a:xfrm>
              <a:off x="494" y="1550"/>
              <a:ext cx="38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R</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49" name="Text Box 53"/>
            <p:cNvSpPr txBox="1">
              <a:spLocks noChangeArrowheads="1"/>
            </p:cNvSpPr>
            <p:nvPr/>
          </p:nvSpPr>
          <p:spPr bwMode="auto">
            <a:xfrm>
              <a:off x="1194" y="1559"/>
              <a:ext cx="3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S</a:t>
              </a:r>
              <a:r>
                <a:rPr kumimoji="1" lang="en-US" altLang="zh-CN" sz="2400" b="1" i="0" u="none" strike="noStrike" kern="0" cap="none" spc="0" normalizeH="0" baseline="-25000" noProof="0">
                  <a:ln>
                    <a:noFill/>
                  </a:ln>
                  <a:solidFill>
                    <a:srgbClr val="000000"/>
                  </a:solidFill>
                  <a:effectLst/>
                  <a:uLnTx/>
                  <a:uFillTx/>
                  <a:latin typeface="Times New Roman" panose="02020603050405020304" pitchFamily="18" charset="0"/>
                  <a:ea typeface="楷体_GB2312" pitchFamily="49"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50" name="Text Box 54"/>
            <p:cNvSpPr txBox="1">
              <a:spLocks noChangeArrowheads="1"/>
            </p:cNvSpPr>
            <p:nvPr/>
          </p:nvSpPr>
          <p:spPr bwMode="auto">
            <a:xfrm>
              <a:off x="728" y="1595"/>
              <a:ext cx="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D</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51" name="Text Box 55"/>
            <p:cNvSpPr txBox="1">
              <a:spLocks noChangeArrowheads="1"/>
            </p:cNvSpPr>
            <p:nvPr/>
          </p:nvSpPr>
          <p:spPr bwMode="auto">
            <a:xfrm>
              <a:off x="941" y="1535"/>
              <a:ext cx="17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C</a:t>
              </a:r>
              <a:endParaRPr kumimoji="1" lang="en-US" altLang="zh-CN" sz="20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sp>
          <p:nvSpPr>
            <p:cNvPr id="152" name="Text Box 56"/>
            <p:cNvSpPr txBox="1">
              <a:spLocks noChangeArrowheads="1"/>
            </p:cNvSpPr>
            <p:nvPr/>
          </p:nvSpPr>
          <p:spPr bwMode="auto">
            <a:xfrm>
              <a:off x="1096" y="1201"/>
              <a:ext cx="27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rPr>
                <a:t>Q</a:t>
              </a:r>
              <a:endParaRPr kumimoji="1" lang="en-US" altLang="zh-CN" sz="2400" b="1" i="0" u="none" strike="noStrike" kern="0" cap="none" spc="0" normalizeH="0" baseline="0" noProof="0">
                <a:ln>
                  <a:noFill/>
                </a:ln>
                <a:solidFill>
                  <a:srgbClr val="000000"/>
                </a:solidFill>
                <a:effectLst/>
                <a:uLnTx/>
                <a:uFillTx/>
                <a:latin typeface="Times New Roman" panose="02020603050405020304" pitchFamily="18" charset="0"/>
                <a:ea typeface="楷体_GB2312" pitchFamily="49" charset="-122"/>
              </a:endParaRPr>
            </a:p>
          </p:txBody>
        </p:sp>
        <p:graphicFrame>
          <p:nvGraphicFramePr>
            <p:cNvPr id="153" name="Object 57"/>
            <p:cNvGraphicFramePr>
              <a:graphicFrameLocks noChangeAspect="1"/>
            </p:cNvGraphicFramePr>
            <p:nvPr/>
          </p:nvGraphicFramePr>
          <p:xfrm>
            <a:off x="642" y="1227"/>
            <a:ext cx="218" cy="250"/>
          </p:xfrm>
          <a:graphic>
            <a:graphicData uri="http://schemas.openxmlformats.org/presentationml/2006/ole">
              <mc:AlternateContent xmlns:mc="http://schemas.openxmlformats.org/markup-compatibility/2006">
                <mc:Choice xmlns:v="urn:schemas-microsoft-com:vml" Requires="v">
                  <p:oleObj spid="_x0000_s5150" name="公式" r:id="rId4" imgW="165100" imgH="228600" progId="Equation.3">
                    <p:embed/>
                  </p:oleObj>
                </mc:Choice>
                <mc:Fallback>
                  <p:oleObj name="公式" r:id="rId4" imgW="165100" imgH="228600" progId="Equation.3">
                    <p:embed/>
                    <p:pic>
                      <p:nvPicPr>
                        <p:cNvPr id="0"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 y="1227"/>
                          <a:ext cx="21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4" name="Line 58"/>
            <p:cNvSpPr>
              <a:spLocks noChangeShapeType="1"/>
            </p:cNvSpPr>
            <p:nvPr/>
          </p:nvSpPr>
          <p:spPr bwMode="auto">
            <a:xfrm>
              <a:off x="540" y="1601"/>
              <a:ext cx="134" cy="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5" name="Line 59"/>
            <p:cNvSpPr>
              <a:spLocks noChangeShapeType="1"/>
            </p:cNvSpPr>
            <p:nvPr/>
          </p:nvSpPr>
          <p:spPr bwMode="auto">
            <a:xfrm>
              <a:off x="1242" y="1602"/>
              <a:ext cx="134" cy="5"/>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6" name="Line 60"/>
            <p:cNvSpPr>
              <a:spLocks noChangeShapeType="1"/>
            </p:cNvSpPr>
            <p:nvPr/>
          </p:nvSpPr>
          <p:spPr bwMode="auto">
            <a:xfrm flipV="1">
              <a:off x="980" y="1747"/>
              <a:ext cx="104" cy="79"/>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sp>
          <p:nvSpPr>
            <p:cNvPr id="157" name="Line 61"/>
            <p:cNvSpPr>
              <a:spLocks noChangeShapeType="1"/>
            </p:cNvSpPr>
            <p:nvPr/>
          </p:nvSpPr>
          <p:spPr bwMode="auto">
            <a:xfrm>
              <a:off x="1066" y="1753"/>
              <a:ext cx="92" cy="91"/>
            </a:xfrm>
            <a:prstGeom prst="line">
              <a:avLst/>
            </a:prstGeom>
            <a:noFill/>
            <a:ln w="38100">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1" lang="zh-CN" altLang="en-US" sz="2400" b="1"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endParaRPr>
            </a:p>
          </p:txBody>
        </p:sp>
      </p:grpSp>
      <p:sp>
        <p:nvSpPr>
          <p:cNvPr id="164" name="Text Box 62"/>
          <p:cNvSpPr txBox="1">
            <a:spLocks noChangeArrowheads="1"/>
          </p:cNvSpPr>
          <p:nvPr/>
        </p:nvSpPr>
        <p:spPr bwMode="auto">
          <a:xfrm>
            <a:off x="322264" y="921018"/>
            <a:ext cx="1971675" cy="519113"/>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50000"/>
              </a:spcBef>
              <a:spcAft>
                <a:spcPct val="0"/>
              </a:spcAft>
            </a:pPr>
            <a:r>
              <a:rPr lang="en-US" altLang="zh-CN" sz="2800" dirty="0">
                <a:solidFill>
                  <a:srgbClr val="FFFFFF"/>
                </a:solidFill>
                <a:latin typeface="黑体" panose="02010609060101010101" pitchFamily="49" charset="-122"/>
                <a:ea typeface="黑体" panose="02010609060101010101" pitchFamily="49" charset="-122"/>
              </a:rPr>
              <a:t>4.D</a:t>
            </a:r>
            <a:r>
              <a:rPr lang="zh-CN" altLang="en-US" sz="2800" dirty="0">
                <a:solidFill>
                  <a:srgbClr val="FFFFFF"/>
                </a:solidFill>
                <a:latin typeface="黑体" panose="02010609060101010101" pitchFamily="49" charset="-122"/>
                <a:ea typeface="黑体" panose="02010609060101010101" pitchFamily="49" charset="-122"/>
              </a:rPr>
              <a:t>触发器</a:t>
            </a:r>
            <a:endParaRPr lang="zh-CN" altLang="en-US" sz="2800" dirty="0">
              <a:solidFill>
                <a:srgbClr val="FFFFFF"/>
              </a:solidFill>
              <a:latin typeface="黑体" panose="02010609060101010101" pitchFamily="49" charset="-122"/>
              <a:ea typeface="黑体" panose="02010609060101010101" pitchFamily="49" charset="-122"/>
            </a:endParaRPr>
          </a:p>
        </p:txBody>
      </p:sp>
      <p:sp>
        <p:nvSpPr>
          <p:cNvPr id="165" name="Text Box 3" descr="花束"/>
          <p:cNvSpPr txBox="1">
            <a:spLocks noChangeArrowheads="1"/>
          </p:cNvSpPr>
          <p:nvPr/>
        </p:nvSpPr>
        <p:spPr bwMode="auto">
          <a:xfrm>
            <a:off x="2102247" y="2018529"/>
            <a:ext cx="1695781" cy="519827"/>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逻辑符号</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166" name="文本框 165"/>
          <p:cNvSpPr txBox="1"/>
          <p:nvPr/>
        </p:nvSpPr>
        <p:spPr>
          <a:xfrm>
            <a:off x="672945" y="5072859"/>
            <a:ext cx="2101390" cy="461665"/>
          </a:xfrm>
          <a:prstGeom prst="rect">
            <a:avLst/>
          </a:prstGeom>
          <a:noFill/>
        </p:spPr>
        <p:txBody>
          <a:bodyPr wrap="square" rtlCol="0">
            <a:spAutoFit/>
          </a:bodyPr>
          <a:lstStyle/>
          <a:p>
            <a:r>
              <a:rPr lang="zh-CN" altLang="en-US" sz="2400" b="1" dirty="0">
                <a:solidFill>
                  <a:srgbClr val="FF0000"/>
                </a:solidFill>
              </a:rPr>
              <a:t>钟控</a:t>
            </a:r>
            <a:r>
              <a:rPr lang="en-US" altLang="zh-CN" sz="2400" b="1" dirty="0">
                <a:solidFill>
                  <a:srgbClr val="FF0000"/>
                </a:solidFill>
              </a:rPr>
              <a:t>D</a:t>
            </a:r>
            <a:r>
              <a:rPr lang="zh-CN" altLang="en-US" sz="2400" b="1" dirty="0">
                <a:solidFill>
                  <a:srgbClr val="FF0000"/>
                </a:solidFill>
              </a:rPr>
              <a:t>触发器</a:t>
            </a:r>
            <a:endParaRPr lang="zh-CN" altLang="en-US" sz="2400" b="1" dirty="0">
              <a:solidFill>
                <a:srgbClr val="FF0000"/>
              </a:solidFill>
            </a:endParaRPr>
          </a:p>
        </p:txBody>
      </p:sp>
      <p:sp>
        <p:nvSpPr>
          <p:cNvPr id="167" name="文本框 166"/>
          <p:cNvSpPr txBox="1"/>
          <p:nvPr/>
        </p:nvSpPr>
        <p:spPr>
          <a:xfrm>
            <a:off x="3106259" y="5081426"/>
            <a:ext cx="2569400" cy="461665"/>
          </a:xfrm>
          <a:prstGeom prst="rect">
            <a:avLst/>
          </a:prstGeom>
          <a:noFill/>
        </p:spPr>
        <p:txBody>
          <a:bodyPr wrap="square" rtlCol="0">
            <a:spAutoFit/>
          </a:bodyPr>
          <a:lstStyle/>
          <a:p>
            <a:r>
              <a:rPr lang="zh-CN" altLang="en-US" sz="2400" b="1" dirty="0">
                <a:solidFill>
                  <a:srgbClr val="FF0000"/>
                </a:solidFill>
              </a:rPr>
              <a:t>边沿触发</a:t>
            </a:r>
            <a:r>
              <a:rPr lang="en-US" altLang="zh-CN" sz="2400" b="1" dirty="0">
                <a:solidFill>
                  <a:srgbClr val="FF0000"/>
                </a:solidFill>
              </a:rPr>
              <a:t>D</a:t>
            </a:r>
            <a:r>
              <a:rPr lang="zh-CN" altLang="en-US" sz="2400" b="1" dirty="0">
                <a:solidFill>
                  <a:srgbClr val="FF0000"/>
                </a:solidFill>
              </a:rPr>
              <a:t>触发器</a:t>
            </a:r>
            <a:endParaRPr lang="zh-CN" altLang="en-US" sz="2400" b="1" dirty="0">
              <a:solidFill>
                <a:srgbClr val="FF0000"/>
              </a:solidFill>
            </a:endParaRPr>
          </a:p>
        </p:txBody>
      </p:sp>
      <p:pic>
        <p:nvPicPr>
          <p:cNvPr id="168" name="图片 167"/>
          <p:cNvPicPr>
            <a:picLocks noChangeAspect="1"/>
          </p:cNvPicPr>
          <p:nvPr/>
        </p:nvPicPr>
        <p:blipFill>
          <a:blip r:embed="rId7"/>
          <a:stretch>
            <a:fillRect/>
          </a:stretch>
        </p:blipFill>
        <p:spPr>
          <a:xfrm>
            <a:off x="415681" y="2866012"/>
            <a:ext cx="2615918" cy="2060483"/>
          </a:xfrm>
          <a:prstGeom prst="rect">
            <a:avLst/>
          </a:prstGeom>
        </p:spPr>
      </p:pic>
      <p:sp>
        <p:nvSpPr>
          <p:cNvPr id="169" name="Text Box 3" descr="花束"/>
          <p:cNvSpPr txBox="1">
            <a:spLocks noChangeArrowheads="1"/>
          </p:cNvSpPr>
          <p:nvPr/>
        </p:nvSpPr>
        <p:spPr bwMode="auto">
          <a:xfrm>
            <a:off x="6517673" y="2018529"/>
            <a:ext cx="1695781" cy="525401"/>
          </a:xfrm>
          <a:prstGeom prst="rect">
            <a:avLst/>
          </a:prstGeom>
          <a:noFill/>
          <a:ln>
            <a:noFill/>
          </a:ln>
          <a:effectLst/>
          <a:extLst>
            <a:ext uri="{909E8E84-426E-40DD-AFC4-6F175D3DCCD1}">
              <a14:hiddenFill xmlns:a14="http://schemas.microsoft.com/office/drawing/2010/main">
                <a:blipFill dpi="0" rotWithShape="0">
                  <a:blip r:embed="rId6"/>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功能表</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graphicFrame>
        <p:nvGraphicFramePr>
          <p:cNvPr id="170" name="Object 24"/>
          <p:cNvGraphicFramePr>
            <a:graphicFrameLocks noChangeAspect="1"/>
          </p:cNvGraphicFramePr>
          <p:nvPr/>
        </p:nvGraphicFramePr>
        <p:xfrm>
          <a:off x="6307369" y="5177649"/>
          <a:ext cx="1930515" cy="772583"/>
        </p:xfrm>
        <a:graphic>
          <a:graphicData uri="http://schemas.openxmlformats.org/presentationml/2006/ole">
            <mc:AlternateContent xmlns:mc="http://schemas.openxmlformats.org/markup-compatibility/2006">
              <mc:Choice xmlns:v="urn:schemas-microsoft-com:vml" Requires="v">
                <p:oleObj spid="_x0000_s5151" name="Equation" r:id="rId8" imgW="13716000" imgH="5486400" progId="Equation.DSMT4">
                  <p:embed/>
                </p:oleObj>
              </mc:Choice>
              <mc:Fallback>
                <p:oleObj name="Equation" r:id="rId8" imgW="13716000" imgH="5486400" progId="Equation.DSMT4">
                  <p:embed/>
                  <p:pic>
                    <p:nvPicPr>
                      <p:cNvPr id="0" name="Object 24"/>
                      <p:cNvPicPr>
                        <a:picLocks noChangeAspect="1" noChangeArrowheads="1"/>
                      </p:cNvPicPr>
                      <p:nvPr/>
                    </p:nvPicPr>
                    <p:blipFill>
                      <a:blip r:embed="rId9"/>
                      <a:srcRect/>
                      <a:stretch>
                        <a:fillRect/>
                      </a:stretch>
                    </p:blipFill>
                    <p:spPr bwMode="auto">
                      <a:xfrm>
                        <a:off x="6307369" y="5177649"/>
                        <a:ext cx="1930515" cy="772583"/>
                      </a:xfrm>
                      <a:prstGeom prst="rect">
                        <a:avLst/>
                      </a:prstGeom>
                      <a:solidFill>
                        <a:schemeClr val="accent2">
                          <a:lumMod val="20000"/>
                          <a:lumOff val="80000"/>
                        </a:schemeClr>
                      </a:solidFill>
                      <a:ln>
                        <a:noFill/>
                      </a:ln>
                      <a:effectLst/>
                    </p:spPr>
                  </p:pic>
                </p:oleObj>
              </mc:Fallback>
            </mc:AlternateContent>
          </a:graphicData>
        </a:graphic>
      </p:graphicFrame>
      <p:sp>
        <p:nvSpPr>
          <p:cNvPr id="171" name="文本框 170"/>
          <p:cNvSpPr txBox="1"/>
          <p:nvPr/>
        </p:nvSpPr>
        <p:spPr>
          <a:xfrm>
            <a:off x="792303" y="5621388"/>
            <a:ext cx="1641864" cy="523220"/>
          </a:xfrm>
          <a:prstGeom prst="rect">
            <a:avLst/>
          </a:prstGeom>
          <a:noFill/>
        </p:spPr>
        <p:txBody>
          <a:bodyPr wrap="square" rtlCol="0">
            <a:spAutoFit/>
          </a:bodyPr>
          <a:lstStyle/>
          <a:p>
            <a:r>
              <a:rPr lang="zh-CN" altLang="en-US" sz="2800" b="1" dirty="0">
                <a:solidFill>
                  <a:srgbClr val="002060"/>
                </a:solidFill>
              </a:rPr>
              <a:t>电平触发</a:t>
            </a:r>
            <a:endParaRPr lang="zh-CN" altLang="en-US" sz="2800" b="1" dirty="0">
              <a:solidFill>
                <a:srgbClr val="002060"/>
              </a:solidFill>
            </a:endParaRPr>
          </a:p>
        </p:txBody>
      </p:sp>
      <p:sp>
        <p:nvSpPr>
          <p:cNvPr id="172" name="文本框 171"/>
          <p:cNvSpPr txBox="1"/>
          <p:nvPr/>
        </p:nvSpPr>
        <p:spPr>
          <a:xfrm>
            <a:off x="3427946" y="5634698"/>
            <a:ext cx="1641864" cy="523220"/>
          </a:xfrm>
          <a:prstGeom prst="rect">
            <a:avLst/>
          </a:prstGeom>
          <a:noFill/>
        </p:spPr>
        <p:txBody>
          <a:bodyPr wrap="square" rtlCol="0">
            <a:spAutoFit/>
          </a:bodyPr>
          <a:lstStyle/>
          <a:p>
            <a:r>
              <a:rPr lang="zh-CN" altLang="en-US" sz="2800" b="1" dirty="0">
                <a:solidFill>
                  <a:srgbClr val="002060"/>
                </a:solidFill>
              </a:rPr>
              <a:t>边沿触发</a:t>
            </a:r>
            <a:endParaRPr lang="zh-CN" altLang="en-US" sz="2800" b="1" dirty="0">
              <a:solidFill>
                <a:srgbClr val="0020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4918" y="50071"/>
            <a:ext cx="4811819"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触发器汇总</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64" name="Text Box 62"/>
          <p:cNvSpPr txBox="1">
            <a:spLocks noChangeArrowheads="1"/>
          </p:cNvSpPr>
          <p:nvPr/>
        </p:nvSpPr>
        <p:spPr bwMode="auto">
          <a:xfrm>
            <a:off x="322264" y="921018"/>
            <a:ext cx="1971675" cy="519113"/>
          </a:xfrm>
          <a:prstGeom prst="rect">
            <a:avLst/>
          </a:prstGeom>
          <a:solidFill>
            <a:srgbClr val="0000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defTabSz="914400" fontAlgn="base">
              <a:spcBef>
                <a:spcPct val="50000"/>
              </a:spcBef>
              <a:spcAft>
                <a:spcPct val="0"/>
              </a:spcAft>
            </a:pPr>
            <a:r>
              <a:rPr lang="en-US" altLang="zh-CN" sz="2800" dirty="0">
                <a:solidFill>
                  <a:srgbClr val="FFFFFF"/>
                </a:solidFill>
                <a:latin typeface="黑体" panose="02010609060101010101" pitchFamily="49" charset="-122"/>
                <a:ea typeface="黑体" panose="02010609060101010101" pitchFamily="49" charset="-122"/>
              </a:rPr>
              <a:t>5.T</a:t>
            </a:r>
            <a:r>
              <a:rPr lang="zh-CN" altLang="en-US" sz="2800" dirty="0">
                <a:solidFill>
                  <a:srgbClr val="FFFFFF"/>
                </a:solidFill>
                <a:latin typeface="黑体" panose="02010609060101010101" pitchFamily="49" charset="-122"/>
                <a:ea typeface="黑体" panose="02010609060101010101" pitchFamily="49" charset="-122"/>
              </a:rPr>
              <a:t>触发器</a:t>
            </a:r>
            <a:endParaRPr lang="zh-CN" altLang="en-US" sz="2800" dirty="0">
              <a:solidFill>
                <a:srgbClr val="FFFFFF"/>
              </a:solidFill>
              <a:latin typeface="黑体" panose="02010609060101010101" pitchFamily="49" charset="-122"/>
              <a:ea typeface="黑体" panose="02010609060101010101" pitchFamily="49" charset="-122"/>
            </a:endParaRPr>
          </a:p>
        </p:txBody>
      </p:sp>
      <p:sp>
        <p:nvSpPr>
          <p:cNvPr id="165" name="Text Box 3" descr="花束"/>
          <p:cNvSpPr txBox="1">
            <a:spLocks noChangeArrowheads="1"/>
          </p:cNvSpPr>
          <p:nvPr/>
        </p:nvSpPr>
        <p:spPr bwMode="auto">
          <a:xfrm>
            <a:off x="2102247" y="2018529"/>
            <a:ext cx="1695781" cy="519827"/>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逻辑符号</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169" name="Text Box 3" descr="花束"/>
          <p:cNvSpPr txBox="1">
            <a:spLocks noChangeArrowheads="1"/>
          </p:cNvSpPr>
          <p:nvPr/>
        </p:nvSpPr>
        <p:spPr bwMode="auto">
          <a:xfrm>
            <a:off x="6376737" y="1755828"/>
            <a:ext cx="1695781"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marL="0" marR="0" lvl="0" indent="0" defTabSz="914400" eaLnBrk="1" fontAlgn="base" latinLnBrk="0" hangingPunct="1">
              <a:lnSpc>
                <a:spcPct val="100000"/>
              </a:lnSpc>
              <a:spcBef>
                <a:spcPct val="50000"/>
              </a:spcBef>
              <a:spcAft>
                <a:spcPct val="0"/>
              </a:spcAft>
              <a:buClrTx/>
              <a:buSzTx/>
              <a:buFontTx/>
              <a:buNone/>
              <a:defRPr/>
            </a:pPr>
            <a:r>
              <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rPr>
              <a:t>功能表</a:t>
            </a:r>
            <a:endParaRPr kumimoji="1" lang="zh-CN" altLang="en-US" sz="2800" b="1" i="0" u="none" strike="noStrike" kern="0" cap="none" spc="0" normalizeH="0" baseline="0" noProof="0" dirty="0">
              <a:ln>
                <a:noFill/>
              </a:ln>
              <a:solidFill>
                <a:srgbClr val="000000"/>
              </a:solidFill>
              <a:effectLst/>
              <a:uLnTx/>
              <a:uFillTx/>
              <a:latin typeface="Times New Roman" panose="02020603050405020304" pitchFamily="18" charset="0"/>
              <a:ea typeface="楷体_GB2312" pitchFamily="49" charset="-122"/>
            </a:endParaRPr>
          </a:p>
        </p:txBody>
      </p:sp>
      <p:sp>
        <p:nvSpPr>
          <p:cNvPr id="171" name="文本框 170"/>
          <p:cNvSpPr txBox="1"/>
          <p:nvPr/>
        </p:nvSpPr>
        <p:spPr>
          <a:xfrm>
            <a:off x="1948530" y="5511489"/>
            <a:ext cx="2096033" cy="523220"/>
          </a:xfrm>
          <a:prstGeom prst="rect">
            <a:avLst/>
          </a:prstGeom>
          <a:noFill/>
        </p:spPr>
        <p:txBody>
          <a:bodyPr wrap="square" rtlCol="0">
            <a:spAutoFit/>
          </a:bodyPr>
          <a:lstStyle/>
          <a:p>
            <a:r>
              <a:rPr lang="zh-CN" altLang="en-US" sz="2800" b="1" dirty="0">
                <a:solidFill>
                  <a:srgbClr val="002060"/>
                </a:solidFill>
              </a:rPr>
              <a:t>上升沿触发</a:t>
            </a:r>
            <a:endParaRPr lang="zh-CN" altLang="en-US" sz="2800" b="1" dirty="0">
              <a:solidFill>
                <a:srgbClr val="002060"/>
              </a:solidFill>
            </a:endParaRPr>
          </a:p>
        </p:txBody>
      </p:sp>
      <p:grpSp>
        <p:nvGrpSpPr>
          <p:cNvPr id="41" name="Group 1075"/>
          <p:cNvGrpSpPr/>
          <p:nvPr/>
        </p:nvGrpSpPr>
        <p:grpSpPr bwMode="auto">
          <a:xfrm>
            <a:off x="994833" y="2732697"/>
            <a:ext cx="3488266" cy="2241470"/>
            <a:chOff x="1419" y="344"/>
            <a:chExt cx="1917" cy="1151"/>
          </a:xfrm>
        </p:grpSpPr>
        <p:sp>
          <p:nvSpPr>
            <p:cNvPr id="42" name="Rectangle 1030"/>
            <p:cNvSpPr>
              <a:spLocks noChangeArrowheads="1"/>
            </p:cNvSpPr>
            <p:nvPr/>
          </p:nvSpPr>
          <p:spPr bwMode="auto">
            <a:xfrm>
              <a:off x="2427" y="478"/>
              <a:ext cx="686" cy="895"/>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3" name="Oval 1034"/>
            <p:cNvSpPr>
              <a:spLocks noChangeArrowheads="1"/>
            </p:cNvSpPr>
            <p:nvPr/>
          </p:nvSpPr>
          <p:spPr bwMode="auto">
            <a:xfrm>
              <a:off x="3109" y="1083"/>
              <a:ext cx="66" cy="72"/>
            </a:xfrm>
            <a:prstGeom prst="ellipse">
              <a:avLst/>
            </a:prstGeom>
            <a:noFill/>
            <a:ln w="1905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4" name="Text Box 1048"/>
            <p:cNvSpPr txBox="1">
              <a:spLocks noChangeArrowheads="1"/>
            </p:cNvSpPr>
            <p:nvPr/>
          </p:nvSpPr>
          <p:spPr bwMode="auto">
            <a:xfrm>
              <a:off x="2829" y="547"/>
              <a:ext cx="27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ea typeface="楷体_GB2312" pitchFamily="49" charset="-122"/>
                </a:rPr>
                <a:t>Q</a:t>
              </a:r>
              <a:endParaRPr lang="en-US" altLang="zh-CN">
                <a:ea typeface="楷体_GB2312" pitchFamily="49" charset="-122"/>
              </a:endParaRPr>
            </a:p>
          </p:txBody>
        </p:sp>
        <p:graphicFrame>
          <p:nvGraphicFramePr>
            <p:cNvPr id="45" name="Object 1049"/>
            <p:cNvGraphicFramePr>
              <a:graphicFrameLocks noChangeAspect="1"/>
            </p:cNvGraphicFramePr>
            <p:nvPr/>
          </p:nvGraphicFramePr>
          <p:xfrm>
            <a:off x="2873" y="962"/>
            <a:ext cx="222" cy="291"/>
          </p:xfrm>
          <a:graphic>
            <a:graphicData uri="http://schemas.openxmlformats.org/presentationml/2006/ole">
              <mc:AlternateContent xmlns:mc="http://schemas.openxmlformats.org/markup-compatibility/2006">
                <mc:Choice xmlns:v="urn:schemas-microsoft-com:vml" Requires="v">
                  <p:oleObj spid="_x0000_s6164" name="公式" r:id="rId3" imgW="165100" imgH="228600" progId="Equation.3">
                    <p:embed/>
                  </p:oleObj>
                </mc:Choice>
                <mc:Fallback>
                  <p:oleObj name="公式" r:id="rId3" imgW="165100" imgH="228600" progId="Equation.3">
                    <p:embed/>
                    <p:pic>
                      <p:nvPicPr>
                        <p:cNvPr id="0" name="Object 10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 y="962"/>
                          <a:ext cx="222"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Text Box 1055" descr="花束"/>
            <p:cNvSpPr txBox="1">
              <a:spLocks noChangeArrowheads="1"/>
            </p:cNvSpPr>
            <p:nvPr/>
          </p:nvSpPr>
          <p:spPr bwMode="auto">
            <a:xfrm>
              <a:off x="2421" y="1023"/>
              <a:ext cx="259" cy="25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楷体_GB2312" pitchFamily="49" charset="-122"/>
                </a:rPr>
                <a:t>K</a:t>
              </a:r>
              <a:endParaRPr lang="en-US" altLang="zh-CN" sz="2000">
                <a:ea typeface="楷体_GB2312" pitchFamily="49" charset="-122"/>
              </a:endParaRPr>
            </a:p>
          </p:txBody>
        </p:sp>
        <p:sp>
          <p:nvSpPr>
            <p:cNvPr id="47" name="Text Box 1057" descr="花束"/>
            <p:cNvSpPr txBox="1">
              <a:spLocks noChangeArrowheads="1"/>
            </p:cNvSpPr>
            <p:nvPr/>
          </p:nvSpPr>
          <p:spPr bwMode="auto">
            <a:xfrm>
              <a:off x="2418" y="558"/>
              <a:ext cx="272" cy="250"/>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ea typeface="楷体_GB2312" pitchFamily="49" charset="-122"/>
                </a:rPr>
                <a:t>J</a:t>
              </a:r>
              <a:endParaRPr lang="en-US" altLang="zh-CN" sz="2000">
                <a:ea typeface="楷体_GB2312" pitchFamily="49" charset="-122"/>
              </a:endParaRPr>
            </a:p>
          </p:txBody>
        </p:sp>
        <p:sp>
          <p:nvSpPr>
            <p:cNvPr id="48" name="Line 1061"/>
            <p:cNvSpPr>
              <a:spLocks noChangeShapeType="1"/>
            </p:cNvSpPr>
            <p:nvPr/>
          </p:nvSpPr>
          <p:spPr bwMode="auto">
            <a:xfrm flipH="1">
              <a:off x="1728" y="711"/>
              <a:ext cx="69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 name="Line 1062"/>
            <p:cNvSpPr>
              <a:spLocks noChangeShapeType="1"/>
            </p:cNvSpPr>
            <p:nvPr/>
          </p:nvSpPr>
          <p:spPr bwMode="auto">
            <a:xfrm>
              <a:off x="2071" y="711"/>
              <a:ext cx="0" cy="429"/>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0" name="Line 1063"/>
            <p:cNvSpPr>
              <a:spLocks noChangeShapeType="1"/>
            </p:cNvSpPr>
            <p:nvPr/>
          </p:nvSpPr>
          <p:spPr bwMode="auto">
            <a:xfrm>
              <a:off x="2071" y="1140"/>
              <a:ext cx="35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Line 1064"/>
            <p:cNvSpPr>
              <a:spLocks noChangeShapeType="1"/>
            </p:cNvSpPr>
            <p:nvPr/>
          </p:nvSpPr>
          <p:spPr bwMode="auto">
            <a:xfrm>
              <a:off x="2430" y="852"/>
              <a:ext cx="72" cy="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 name="Line 1065"/>
            <p:cNvSpPr>
              <a:spLocks noChangeShapeType="1"/>
            </p:cNvSpPr>
            <p:nvPr/>
          </p:nvSpPr>
          <p:spPr bwMode="auto">
            <a:xfrm flipH="1">
              <a:off x="2430" y="924"/>
              <a:ext cx="72" cy="7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 name="Line 1066"/>
            <p:cNvSpPr>
              <a:spLocks noChangeShapeType="1"/>
            </p:cNvSpPr>
            <p:nvPr/>
          </p:nvSpPr>
          <p:spPr bwMode="auto">
            <a:xfrm flipH="1">
              <a:off x="2220" y="930"/>
              <a:ext cx="21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Line 1067"/>
            <p:cNvSpPr>
              <a:spLocks noChangeShapeType="1"/>
            </p:cNvSpPr>
            <p:nvPr/>
          </p:nvSpPr>
          <p:spPr bwMode="auto">
            <a:xfrm>
              <a:off x="2220" y="930"/>
              <a:ext cx="0" cy="31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5" name="Line 1068"/>
            <p:cNvSpPr>
              <a:spLocks noChangeShapeType="1"/>
            </p:cNvSpPr>
            <p:nvPr/>
          </p:nvSpPr>
          <p:spPr bwMode="auto">
            <a:xfrm flipH="1">
              <a:off x="1773" y="1242"/>
              <a:ext cx="4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 name="Line 1069"/>
            <p:cNvSpPr>
              <a:spLocks noChangeShapeType="1"/>
            </p:cNvSpPr>
            <p:nvPr/>
          </p:nvSpPr>
          <p:spPr bwMode="auto">
            <a:xfrm>
              <a:off x="3114" y="702"/>
              <a:ext cx="2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 name="Line 1070"/>
            <p:cNvSpPr>
              <a:spLocks noChangeShapeType="1"/>
            </p:cNvSpPr>
            <p:nvPr/>
          </p:nvSpPr>
          <p:spPr bwMode="auto">
            <a:xfrm>
              <a:off x="3174" y="1122"/>
              <a:ext cx="16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 name="Text Box 1071"/>
            <p:cNvSpPr txBox="1">
              <a:spLocks noChangeArrowheads="1"/>
            </p:cNvSpPr>
            <p:nvPr/>
          </p:nvSpPr>
          <p:spPr bwMode="auto">
            <a:xfrm>
              <a:off x="1419" y="1115"/>
              <a:ext cx="46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t>CP</a:t>
              </a:r>
              <a:endParaRPr lang="en-US" altLang="zh-CN" sz="2000"/>
            </a:p>
          </p:txBody>
        </p:sp>
        <p:sp>
          <p:nvSpPr>
            <p:cNvPr id="59" name="Text Box 1072"/>
            <p:cNvSpPr txBox="1">
              <a:spLocks noChangeArrowheads="1"/>
            </p:cNvSpPr>
            <p:nvPr/>
          </p:nvSpPr>
          <p:spPr bwMode="auto">
            <a:xfrm>
              <a:off x="1432" y="588"/>
              <a:ext cx="4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a:t>T</a:t>
              </a:r>
              <a:endParaRPr lang="en-US" altLang="zh-CN" sz="2000"/>
            </a:p>
          </p:txBody>
        </p:sp>
        <p:sp>
          <p:nvSpPr>
            <p:cNvPr id="60" name="Rectangle 1073"/>
            <p:cNvSpPr>
              <a:spLocks noChangeArrowheads="1"/>
            </p:cNvSpPr>
            <p:nvPr/>
          </p:nvSpPr>
          <p:spPr bwMode="auto">
            <a:xfrm>
              <a:off x="1973" y="344"/>
              <a:ext cx="1299" cy="1151"/>
            </a:xfrm>
            <a:prstGeom prst="rect">
              <a:avLst/>
            </a:prstGeom>
            <a:noFill/>
            <a:ln w="9525">
              <a:solidFill>
                <a:schemeClr val="tx1"/>
              </a:solidFill>
              <a:prstDash val="lgDash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61" name="Object 1074"/>
          <p:cNvGraphicFramePr>
            <a:graphicFrameLocks noChangeAspect="1"/>
          </p:cNvGraphicFramePr>
          <p:nvPr/>
        </p:nvGraphicFramePr>
        <p:xfrm>
          <a:off x="5381073" y="5089383"/>
          <a:ext cx="3211477" cy="760846"/>
        </p:xfrm>
        <a:graphic>
          <a:graphicData uri="http://schemas.openxmlformats.org/presentationml/2006/ole">
            <mc:AlternateContent xmlns:mc="http://schemas.openxmlformats.org/markup-compatibility/2006">
              <mc:Choice xmlns:v="urn:schemas-microsoft-com:vml" Requires="v">
                <p:oleObj spid="_x0000_s6165" name="Equation" r:id="rId5" imgW="964565" imgH="215900" progId="Equation.3">
                  <p:embed/>
                </p:oleObj>
              </mc:Choice>
              <mc:Fallback>
                <p:oleObj name="Equation" r:id="rId5" imgW="964565" imgH="215900" progId="Equation.3">
                  <p:embed/>
                  <p:pic>
                    <p:nvPicPr>
                      <p:cNvPr id="0" name="Object 10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81073" y="5089383"/>
                        <a:ext cx="3211477" cy="760846"/>
                      </a:xfrm>
                      <a:prstGeom prst="rect">
                        <a:avLst/>
                      </a:prstGeom>
                      <a:solidFill>
                        <a:schemeClr val="accent2">
                          <a:lumMod val="20000"/>
                          <a:lumOff val="80000"/>
                        </a:schemeClr>
                      </a:solidFill>
                      <a:ln>
                        <a:noFill/>
                      </a:ln>
                      <a:effectLst/>
                    </p:spPr>
                  </p:pic>
                </p:oleObj>
              </mc:Fallback>
            </mc:AlternateContent>
          </a:graphicData>
        </a:graphic>
      </p:graphicFrame>
      <p:pic>
        <p:nvPicPr>
          <p:cNvPr id="2" name="图片 1"/>
          <p:cNvPicPr>
            <a:picLocks noChangeAspect="1"/>
          </p:cNvPicPr>
          <p:nvPr/>
        </p:nvPicPr>
        <p:blipFill>
          <a:blip r:embed="rId7"/>
          <a:stretch>
            <a:fillRect/>
          </a:stretch>
        </p:blipFill>
        <p:spPr>
          <a:xfrm>
            <a:off x="5576158" y="2376293"/>
            <a:ext cx="2847975" cy="24288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 name="淘宝网chenying0907出品 10"/>
          <p:cNvSpPr txBox="1"/>
          <p:nvPr/>
        </p:nvSpPr>
        <p:spPr>
          <a:xfrm>
            <a:off x="1163783" y="2878541"/>
            <a:ext cx="1671296" cy="984885"/>
          </a:xfrm>
          <a:prstGeom prst="rect">
            <a:avLst/>
          </a:prstGeom>
          <a:noFill/>
        </p:spPr>
        <p:txBody>
          <a:bodyPr wrap="square" rtlCol="0">
            <a:spAutoFit/>
          </a:bodyPr>
          <a:lstStyle/>
          <a:p>
            <a:r>
              <a:rPr lang="zh-CN" altLang="en-US" sz="4000" b="1" dirty="0">
                <a:solidFill>
                  <a:schemeClr val="accent1">
                    <a:lumMod val="50000"/>
                  </a:schemeClr>
                </a:solidFill>
                <a:latin typeface="微软雅黑" panose="020B0503020204020204" pitchFamily="34" charset="-122"/>
                <a:ea typeface="微软雅黑" panose="020B0503020204020204" pitchFamily="34" charset="-122"/>
              </a:rPr>
              <a:t>目录</a:t>
            </a:r>
            <a:endParaRPr lang="en-US" altLang="zh-CN" sz="4000" b="1" dirty="0">
              <a:solidFill>
                <a:schemeClr val="accent1">
                  <a:lumMod val="50000"/>
                </a:schemeClr>
              </a:solidFill>
              <a:latin typeface="微软雅黑" panose="020B0503020204020204" pitchFamily="34" charset="-122"/>
              <a:ea typeface="微软雅黑" panose="020B0503020204020204" pitchFamily="34" charset="-122"/>
            </a:endParaRPr>
          </a:p>
          <a:p>
            <a:r>
              <a:rPr lang="en-US" altLang="zh-CN" b="1" dirty="0">
                <a:solidFill>
                  <a:schemeClr val="accent1">
                    <a:lumMod val="50000"/>
                  </a:schemeClr>
                </a:solidFill>
              </a:rPr>
              <a:t>Contents</a:t>
            </a:r>
            <a:endParaRPr lang="zh-CN" altLang="en-US" dirty="0">
              <a:solidFill>
                <a:schemeClr val="accent1">
                  <a:lumMod val="50000"/>
                </a:schemeClr>
              </a:solidFill>
            </a:endParaRPr>
          </a:p>
        </p:txBody>
      </p:sp>
      <p:sp>
        <p:nvSpPr>
          <p:cNvPr id="12" name="淘宝网chenying0907出品 11"/>
          <p:cNvSpPr/>
          <p:nvPr/>
        </p:nvSpPr>
        <p:spPr>
          <a:xfrm>
            <a:off x="3158834" y="-15801"/>
            <a:ext cx="5985166"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cxnSp>
        <p:nvCxnSpPr>
          <p:cNvPr id="16" name="直接连接符 15"/>
          <p:cNvCxnSpPr/>
          <p:nvPr/>
        </p:nvCxnSpPr>
        <p:spPr>
          <a:xfrm flipH="1">
            <a:off x="3158833" y="15801"/>
            <a:ext cx="3386343" cy="240418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5827660" y="4362508"/>
            <a:ext cx="3316340" cy="24954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淘宝网chenying0907出品 20"/>
          <p:cNvSpPr txBox="1"/>
          <p:nvPr/>
        </p:nvSpPr>
        <p:spPr>
          <a:xfrm>
            <a:off x="4405821" y="1958322"/>
            <a:ext cx="4093074"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概述</a:t>
            </a:r>
            <a:endParaRPr lang="zh-CN" altLang="en-US" dirty="0"/>
          </a:p>
        </p:txBody>
      </p:sp>
      <p:sp>
        <p:nvSpPr>
          <p:cNvPr id="26" name="淘宝网chenying0907出品 25"/>
          <p:cNvSpPr txBox="1"/>
          <p:nvPr/>
        </p:nvSpPr>
        <p:spPr>
          <a:xfrm>
            <a:off x="4405821" y="2578212"/>
            <a:ext cx="3787733" cy="523220"/>
          </a:xfrm>
          <a:prstGeom prst="rect">
            <a:avLst/>
          </a:prstGeom>
          <a:noFill/>
        </p:spPr>
        <p:txBody>
          <a:bodyPr wrap="square" rtlCol="0">
            <a:spAutoFit/>
          </a:bodyPr>
          <a:lstStyle>
            <a:defPPr>
              <a:defRPr lang="en-US"/>
            </a:defPPr>
            <a:lvl1pPr>
              <a:defRPr sz="2800"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dirty="0"/>
              <a:t>集成触发器</a:t>
            </a:r>
            <a:endParaRPr lang="zh-CN" altLang="en-US" dirty="0"/>
          </a:p>
        </p:txBody>
      </p:sp>
      <p:sp>
        <p:nvSpPr>
          <p:cNvPr id="30" name="淘宝网chenying0907出品 29"/>
          <p:cNvSpPr txBox="1"/>
          <p:nvPr/>
        </p:nvSpPr>
        <p:spPr>
          <a:xfrm>
            <a:off x="4405821" y="3185725"/>
            <a:ext cx="3700500" cy="523220"/>
          </a:xfrm>
          <a:prstGeom prst="rect">
            <a:avLst/>
          </a:prstGeom>
          <a:noFill/>
        </p:spPr>
        <p:txBody>
          <a:bodyPr wrap="square" rtlCol="0">
            <a:spAutoFit/>
          </a:bodyPr>
          <a:lstStyle>
            <a:defPPr>
              <a:defRPr lang="en-US"/>
            </a:defPPr>
            <a:lvl1pPr>
              <a:defRPr sz="2800" b="1">
                <a:solidFill>
                  <a:schemeClr val="bg1"/>
                </a:solidFill>
                <a:latin typeface="微软雅黑" panose="020B0503020204020204" pitchFamily="34" charset="-122"/>
                <a:ea typeface="微软雅黑" panose="020B0503020204020204" pitchFamily="34" charset="-122"/>
              </a:defRPr>
            </a:lvl1pPr>
          </a:lstStyle>
          <a:p>
            <a:r>
              <a:rPr lang="zh-CN" altLang="en-US" dirty="0"/>
              <a:t>时序逻辑电路的分析</a:t>
            </a:r>
            <a:endParaRPr lang="zh-CN" altLang="en-US" dirty="0"/>
          </a:p>
        </p:txBody>
      </p:sp>
      <p:sp>
        <p:nvSpPr>
          <p:cNvPr id="17" name="淘宝网chenying0907出品 29"/>
          <p:cNvSpPr txBox="1"/>
          <p:nvPr/>
        </p:nvSpPr>
        <p:spPr>
          <a:xfrm>
            <a:off x="4405821" y="3828425"/>
            <a:ext cx="3700500"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时序逻辑电路的设计</a:t>
            </a:r>
            <a:endParaRPr lang="zh-CN" altLang="en-US" sz="2800" dirty="0"/>
          </a:p>
        </p:txBody>
      </p:sp>
      <p:sp>
        <p:nvSpPr>
          <p:cNvPr id="18" name="淘宝网chenying0907出品 29"/>
          <p:cNvSpPr txBox="1"/>
          <p:nvPr/>
        </p:nvSpPr>
        <p:spPr>
          <a:xfrm>
            <a:off x="4405821" y="4455665"/>
            <a:ext cx="4343207" cy="523220"/>
          </a:xfrm>
          <a:prstGeom prst="rect">
            <a:avLst/>
          </a:prstGeom>
          <a:noFill/>
        </p:spPr>
        <p:txBody>
          <a:bodyPr wrap="square" rtlCol="0">
            <a:spAutoFit/>
          </a:bodyPr>
          <a:lstStyle>
            <a:defPPr>
              <a:defRPr lang="en-US"/>
            </a:defPPr>
            <a:lvl1pPr>
              <a:defRPr b="1">
                <a:solidFill>
                  <a:schemeClr val="bg1">
                    <a:lumMod val="65000"/>
                  </a:schemeClr>
                </a:solidFill>
                <a:latin typeface="微软雅黑" panose="020B0503020204020204" pitchFamily="34" charset="-122"/>
                <a:ea typeface="微软雅黑" panose="020B0503020204020204" pitchFamily="34" charset="-122"/>
              </a:defRPr>
            </a:lvl1pPr>
          </a:lstStyle>
          <a:p>
            <a:r>
              <a:rPr lang="zh-CN" altLang="en-US" sz="2800" dirty="0"/>
              <a:t>常用时序电路及其应用</a:t>
            </a:r>
            <a:endParaRPr lang="zh-CN"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 name="淘宝网chenying0907出品 10"/>
          <p:cNvSpPr txBox="1"/>
          <p:nvPr/>
        </p:nvSpPr>
        <p:spPr>
          <a:xfrm>
            <a:off x="457533" y="364805"/>
            <a:ext cx="5955967" cy="646331"/>
          </a:xfrm>
          <a:prstGeom prst="rect">
            <a:avLst/>
          </a:prstGeom>
          <a:noFill/>
        </p:spPr>
        <p:txBody>
          <a:bodyPr wrap="square" rtlCol="0">
            <a:spAutoFit/>
          </a:bodyPr>
          <a:lstStyle/>
          <a:p>
            <a:r>
              <a:rPr lang="en-US" altLang="zh-CN" sz="3600" b="1" dirty="0">
                <a:solidFill>
                  <a:schemeClr val="accent1">
                    <a:lumMod val="50000"/>
                  </a:schemeClr>
                </a:solidFill>
                <a:latin typeface="微软雅黑" panose="020B0503020204020204" pitchFamily="34" charset="-122"/>
                <a:ea typeface="微软雅黑" panose="020B0503020204020204" pitchFamily="34" charset="-122"/>
              </a:rPr>
              <a:t>5.3   </a:t>
            </a:r>
            <a:r>
              <a:rPr lang="zh-CN" altLang="en-US" sz="3600" b="1" dirty="0">
                <a:solidFill>
                  <a:schemeClr val="accent1">
                    <a:lumMod val="50000"/>
                  </a:schemeClr>
                </a:solidFill>
                <a:latin typeface="微软雅黑" panose="020B0503020204020204" pitchFamily="34" charset="-122"/>
                <a:ea typeface="微软雅黑" panose="020B0503020204020204" pitchFamily="34" charset="-122"/>
              </a:rPr>
              <a:t>时序逻辑电路分析</a:t>
            </a:r>
            <a:endParaRPr lang="en-US" altLang="zh-CN" sz="3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2" name="Text Box 68"/>
          <p:cNvSpPr txBox="1">
            <a:spLocks noChangeArrowheads="1"/>
          </p:cNvSpPr>
          <p:nvPr/>
        </p:nvSpPr>
        <p:spPr bwMode="auto">
          <a:xfrm>
            <a:off x="1977093" y="4859748"/>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endParaRPr lang="zh-CN" altLang="en-US" sz="3200" b="1">
              <a:solidFill>
                <a:schemeClr val="bg2">
                  <a:lumMod val="75000"/>
                </a:schemeClr>
              </a:solidFill>
              <a:latin typeface="楷体_GB2312" pitchFamily="49" charset="-122"/>
            </a:endParaRPr>
          </a:p>
        </p:txBody>
      </p:sp>
      <p:sp>
        <p:nvSpPr>
          <p:cNvPr id="24" name="Text Box 84">
            <a:hlinkClick r:id="rId1" action="ppaction://hlinksldjump"/>
          </p:cNvPr>
          <p:cNvSpPr txBox="1">
            <a:spLocks noChangeArrowheads="1"/>
          </p:cNvSpPr>
          <p:nvPr/>
        </p:nvSpPr>
        <p:spPr bwMode="auto">
          <a:xfrm>
            <a:off x="2052912" y="3410054"/>
            <a:ext cx="48093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t>异步时序逻辑电路分析</a:t>
            </a:r>
            <a:endParaRPr lang="zh-CN" altLang="en-US" dirty="0"/>
          </a:p>
        </p:txBody>
      </p:sp>
      <p:sp>
        <p:nvSpPr>
          <p:cNvPr id="25" name="Text Box 86">
            <a:hlinkClick r:id="rId1" action="ppaction://hlinksldjump"/>
          </p:cNvPr>
          <p:cNvSpPr txBox="1">
            <a:spLocks noChangeArrowheads="1"/>
          </p:cNvSpPr>
          <p:nvPr/>
        </p:nvSpPr>
        <p:spPr bwMode="auto">
          <a:xfrm>
            <a:off x="2019044" y="2473706"/>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solidFill>
                  <a:schemeClr val="tx1"/>
                </a:solidFill>
              </a:rPr>
              <a:t>同步时序逻辑电路分析</a:t>
            </a:r>
            <a:endParaRPr lang="zh-CN" altLang="en-US"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Text Box 46" descr="花束"/>
          <p:cNvSpPr txBox="1">
            <a:spLocks noChangeArrowheads="1"/>
          </p:cNvSpPr>
          <p:nvPr/>
        </p:nvSpPr>
        <p:spPr bwMode="auto">
          <a:xfrm>
            <a:off x="260304" y="764488"/>
            <a:ext cx="5526663"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一、</a:t>
            </a:r>
            <a:r>
              <a:rPr kumimoji="1" lang="en-US" altLang="zh-CN" sz="2800" b="1" dirty="0">
                <a:solidFill>
                  <a:srgbClr val="0000FF"/>
                </a:solidFill>
                <a:latin typeface="Times New Roman" panose="02020603050405020304" pitchFamily="18" charset="0"/>
                <a:ea typeface="长城楷体" pitchFamily="1" charset="-122"/>
              </a:rPr>
              <a:t> </a:t>
            </a:r>
            <a:r>
              <a:rPr kumimoji="1" lang="zh-CN" altLang="en-US" sz="2800" b="1" dirty="0">
                <a:solidFill>
                  <a:srgbClr val="0000FF"/>
                </a:solidFill>
                <a:latin typeface="Times New Roman" panose="02020603050405020304" pitchFamily="18" charset="0"/>
                <a:ea typeface="长城楷体" pitchFamily="1" charset="-122"/>
              </a:rPr>
              <a:t>目的</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2" name="矩形 1"/>
          <p:cNvSpPr/>
          <p:nvPr/>
        </p:nvSpPr>
        <p:spPr>
          <a:xfrm>
            <a:off x="463548" y="1439053"/>
            <a:ext cx="8041217" cy="954107"/>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分析时序逻辑电路在输入信号的作用下，其状态和输出信号</a:t>
            </a:r>
            <a:r>
              <a:rPr lang="zh-CN" altLang="en-US" sz="2800" b="1" dirty="0">
                <a:solidFill>
                  <a:srgbClr val="FF0000"/>
                </a:solidFill>
                <a:latin typeface="黑体" panose="02010609060101010101" pitchFamily="49" charset="-122"/>
                <a:ea typeface="黑体" panose="02010609060101010101" pitchFamily="49" charset="-122"/>
              </a:rPr>
              <a:t>变化的规律</a:t>
            </a:r>
            <a:r>
              <a:rPr lang="zh-CN" altLang="en-US" sz="2800" b="1" dirty="0">
                <a:latin typeface="黑体" panose="02010609060101010101" pitchFamily="49" charset="-122"/>
                <a:ea typeface="黑体" panose="02010609060101010101" pitchFamily="49" charset="-122"/>
              </a:rPr>
              <a:t>，进而确定电路的</a:t>
            </a:r>
            <a:r>
              <a:rPr lang="zh-CN" altLang="en-US" sz="2800" b="1" dirty="0">
                <a:solidFill>
                  <a:srgbClr val="FF0000"/>
                </a:solidFill>
                <a:latin typeface="黑体" panose="02010609060101010101" pitchFamily="49" charset="-122"/>
                <a:ea typeface="黑体" panose="02010609060101010101" pitchFamily="49" charset="-122"/>
              </a:rPr>
              <a:t>逻辑功能</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19" name="Text Box 46" descr="花束"/>
          <p:cNvSpPr txBox="1">
            <a:spLocks noChangeArrowheads="1"/>
          </p:cNvSpPr>
          <p:nvPr/>
        </p:nvSpPr>
        <p:spPr bwMode="auto">
          <a:xfrm>
            <a:off x="260303" y="2542324"/>
            <a:ext cx="5526663"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二、</a:t>
            </a:r>
            <a:r>
              <a:rPr kumimoji="1" lang="en-US" altLang="zh-CN" sz="2800" b="1" dirty="0">
                <a:solidFill>
                  <a:srgbClr val="0000FF"/>
                </a:solidFill>
                <a:latin typeface="Times New Roman" panose="02020603050405020304" pitchFamily="18" charset="0"/>
                <a:ea typeface="长城楷体" pitchFamily="1" charset="-122"/>
              </a:rPr>
              <a:t> </a:t>
            </a:r>
            <a:r>
              <a:rPr kumimoji="1" lang="zh-CN" altLang="en-US" sz="2800" b="1" dirty="0">
                <a:solidFill>
                  <a:srgbClr val="0000FF"/>
                </a:solidFill>
                <a:latin typeface="Times New Roman" panose="02020603050405020304" pitchFamily="18" charset="0"/>
                <a:ea typeface="长城楷体" pitchFamily="1" charset="-122"/>
              </a:rPr>
              <a:t>方法</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3" name="矩形 2"/>
          <p:cNvSpPr/>
          <p:nvPr/>
        </p:nvSpPr>
        <p:spPr>
          <a:xfrm>
            <a:off x="463548" y="3197367"/>
            <a:ext cx="8041217" cy="1384995"/>
          </a:xfrm>
          <a:prstGeom prst="rect">
            <a:avLst/>
          </a:prstGeom>
        </p:spPr>
        <p:txBody>
          <a:bodyPr wrap="square">
            <a:spAutoFit/>
          </a:bodyPr>
          <a:lstStyle/>
          <a:p>
            <a:r>
              <a:rPr lang="zh-CN" altLang="en-US" sz="2800" b="1" dirty="0">
                <a:latin typeface="黑体" panose="02010609060101010101" pitchFamily="49" charset="-122"/>
                <a:ea typeface="黑体" panose="02010609060101010101" pitchFamily="49" charset="-122"/>
              </a:rPr>
              <a:t>利用</a:t>
            </a:r>
            <a:r>
              <a:rPr lang="zh-CN" altLang="en-US" sz="2800" b="1" dirty="0">
                <a:solidFill>
                  <a:srgbClr val="FF0000"/>
                </a:solidFill>
                <a:latin typeface="黑体" panose="02010609060101010101" pitchFamily="49" charset="-122"/>
                <a:ea typeface="黑体" panose="02010609060101010101" pitchFamily="49" charset="-122"/>
              </a:rPr>
              <a:t>驱动方程、次态方程</a:t>
            </a:r>
            <a:r>
              <a:rPr lang="zh-CN" altLang="en-US" sz="2800" b="1" dirty="0">
                <a:latin typeface="黑体" panose="02010609060101010101" pitchFamily="49" charset="-122"/>
                <a:ea typeface="黑体" panose="02010609060101010101" pitchFamily="49" charset="-122"/>
              </a:rPr>
              <a:t>和</a:t>
            </a:r>
            <a:r>
              <a:rPr lang="zh-CN" altLang="en-US" sz="2800" b="1" dirty="0">
                <a:solidFill>
                  <a:srgbClr val="FF0000"/>
                </a:solidFill>
                <a:latin typeface="黑体" panose="02010609060101010101" pitchFamily="49" charset="-122"/>
                <a:ea typeface="黑体" panose="02010609060101010101" pitchFamily="49" charset="-122"/>
              </a:rPr>
              <a:t>输出方程</a:t>
            </a:r>
            <a:r>
              <a:rPr lang="zh-CN" altLang="en-US" sz="2800" b="1" dirty="0">
                <a:solidFill>
                  <a:schemeClr val="hlink"/>
                </a:solidFill>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求出在任何给定的</a:t>
            </a:r>
            <a:r>
              <a:rPr lang="zh-CN" altLang="en-US" sz="2800" b="1" dirty="0">
                <a:solidFill>
                  <a:srgbClr val="0000FF"/>
                </a:solidFill>
                <a:latin typeface="黑体" panose="02010609060101010101" pitchFamily="49" charset="-122"/>
                <a:ea typeface="黑体" panose="02010609060101010101" pitchFamily="49" charset="-122"/>
              </a:rPr>
              <a:t>输入变量状态</a:t>
            </a:r>
            <a:r>
              <a:rPr lang="zh-CN" altLang="en-US" sz="2800" b="1" dirty="0">
                <a:latin typeface="黑体" panose="02010609060101010101" pitchFamily="49" charset="-122"/>
                <a:ea typeface="黑体" panose="02010609060101010101" pitchFamily="49" charset="-122"/>
              </a:rPr>
              <a:t>和</a:t>
            </a:r>
            <a:r>
              <a:rPr lang="zh-CN" altLang="en-US" sz="2800" b="1" dirty="0">
                <a:solidFill>
                  <a:srgbClr val="0000FF"/>
                </a:solidFill>
                <a:latin typeface="黑体" panose="02010609060101010101" pitchFamily="49" charset="-122"/>
                <a:ea typeface="黑体" panose="02010609060101010101" pitchFamily="49" charset="-122"/>
              </a:rPr>
              <a:t>存储电路状态</a:t>
            </a:r>
            <a:r>
              <a:rPr lang="zh-CN" altLang="en-US" sz="2800" b="1" dirty="0">
                <a:latin typeface="黑体" panose="02010609060101010101" pitchFamily="49" charset="-122"/>
                <a:ea typeface="黑体" panose="02010609060101010101" pitchFamily="49" charset="-122"/>
              </a:rPr>
              <a:t>下时序电路的输出和次态</a:t>
            </a:r>
            <a:endParaRPr lang="zh-CN" altLang="en-US" sz="2800" b="1" dirty="0">
              <a:latin typeface="黑体" panose="02010609060101010101" pitchFamily="49" charset="-122"/>
              <a:ea typeface="黑体" panose="02010609060101010101" pitchFamily="49" charset="-122"/>
            </a:endParaRPr>
          </a:p>
        </p:txBody>
      </p:sp>
      <p:sp>
        <p:nvSpPr>
          <p:cNvPr id="4" name="矩形 3"/>
          <p:cNvSpPr/>
          <p:nvPr/>
        </p:nvSpPr>
        <p:spPr>
          <a:xfrm>
            <a:off x="423683" y="4805137"/>
            <a:ext cx="8081082" cy="1723549"/>
          </a:xfrm>
          <a:prstGeom prst="rect">
            <a:avLst/>
          </a:prstGeom>
        </p:spPr>
        <p:txBody>
          <a:bodyPr wrap="square">
            <a:spAutoFit/>
          </a:bodyPr>
          <a:lstStyle/>
          <a:p>
            <a:pPr algn="just">
              <a:spcAft>
                <a:spcPts val="600"/>
              </a:spcAft>
            </a:pPr>
            <a:r>
              <a:rPr lang="zh-CN" altLang="en-US" sz="2400" b="1" dirty="0">
                <a:solidFill>
                  <a:srgbClr val="0000FF"/>
                </a:solidFill>
                <a:latin typeface="黑体" panose="02010609060101010101" pitchFamily="49" charset="-122"/>
                <a:ea typeface="黑体" panose="02010609060101010101" pitchFamily="49" charset="-122"/>
              </a:rPr>
              <a:t>驱动方程</a:t>
            </a:r>
            <a:r>
              <a:rPr lang="zh-CN" altLang="en-US" sz="2400" b="1" dirty="0">
                <a:solidFill>
                  <a:srgbClr val="170A8E"/>
                </a:solidFill>
                <a:latin typeface="黑体" panose="02010609060101010101" pitchFamily="49" charset="-122"/>
                <a:ea typeface="黑体" panose="02010609060101010101" pitchFamily="49" charset="-122"/>
              </a:rPr>
              <a:t>：触发器输入端的逻辑表达式</a:t>
            </a:r>
            <a:endParaRPr lang="en-US" altLang="zh-CN" sz="2400" b="1" dirty="0">
              <a:solidFill>
                <a:srgbClr val="170A8E"/>
              </a:solidFill>
              <a:latin typeface="黑体" panose="02010609060101010101" pitchFamily="49" charset="-122"/>
              <a:ea typeface="黑体" panose="02010609060101010101" pitchFamily="49" charset="-122"/>
            </a:endParaRPr>
          </a:p>
          <a:p>
            <a:pPr algn="just">
              <a:spcAft>
                <a:spcPts val="600"/>
              </a:spcAft>
            </a:pPr>
            <a:r>
              <a:rPr lang="zh-CN" altLang="en-US" sz="2400" b="1" dirty="0">
                <a:solidFill>
                  <a:srgbClr val="0000FF"/>
                </a:solidFill>
                <a:latin typeface="黑体" panose="02010609060101010101" pitchFamily="49" charset="-122"/>
                <a:ea typeface="黑体" panose="02010609060101010101" pitchFamily="49" charset="-122"/>
              </a:rPr>
              <a:t>次态方程</a:t>
            </a:r>
            <a:r>
              <a:rPr lang="zh-CN" altLang="en-US" sz="2400" b="1" dirty="0">
                <a:solidFill>
                  <a:srgbClr val="170A8E"/>
                </a:solidFill>
                <a:latin typeface="黑体" panose="02010609060101010101" pitchFamily="49" charset="-122"/>
                <a:ea typeface="黑体" panose="02010609060101010101" pitchFamily="49" charset="-122"/>
              </a:rPr>
              <a:t>：将驱动方程代入对应触发器特征方程得到的逻辑表达式</a:t>
            </a:r>
            <a:endParaRPr lang="en-US" altLang="zh-CN" sz="2400" b="1" dirty="0">
              <a:solidFill>
                <a:srgbClr val="170A8E"/>
              </a:solidFill>
              <a:latin typeface="黑体" panose="02010609060101010101" pitchFamily="49" charset="-122"/>
              <a:ea typeface="黑体" panose="02010609060101010101" pitchFamily="49" charset="-122"/>
            </a:endParaRPr>
          </a:p>
          <a:p>
            <a:pPr algn="just">
              <a:spcAft>
                <a:spcPts val="600"/>
              </a:spcAft>
            </a:pPr>
            <a:r>
              <a:rPr lang="zh-CN" altLang="en-US" sz="2400" b="1" dirty="0">
                <a:solidFill>
                  <a:srgbClr val="0000FF"/>
                </a:solidFill>
                <a:latin typeface="黑体" panose="02010609060101010101" pitchFamily="49" charset="-122"/>
                <a:ea typeface="黑体" panose="02010609060101010101" pitchFamily="49" charset="-122"/>
              </a:rPr>
              <a:t>输出方程</a:t>
            </a:r>
            <a:r>
              <a:rPr lang="zh-CN" altLang="en-US" sz="2400" b="1" dirty="0">
                <a:solidFill>
                  <a:srgbClr val="170A8E"/>
                </a:solidFill>
                <a:latin typeface="黑体" panose="02010609060101010101" pitchFamily="49" charset="-122"/>
                <a:ea typeface="黑体" panose="02010609060101010101" pitchFamily="49" charset="-122"/>
              </a:rPr>
              <a:t>：时序电路输出信号的逻辑表达式</a:t>
            </a:r>
            <a:endParaRPr lang="zh-CN" altLang="en-US" sz="2400" dirty="0">
              <a:solidFill>
                <a:srgbClr val="170A8E"/>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animEffect transition="in" filter="fade">
                                      <p:cBhvr>
                                        <p:cTn id="23" dur="500"/>
                                        <p:tgtEl>
                                          <p:spTgt spid="4">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4">
                                            <p:txEl>
                                              <p:pRg st="1" end="1"/>
                                            </p:txEl>
                                          </p:spTgt>
                                        </p:tgtEl>
                                        <p:attrNameLst>
                                          <p:attrName>style.visibility</p:attrName>
                                        </p:attrNameLst>
                                      </p:cBhvr>
                                      <p:to>
                                        <p:strVal val="visible"/>
                                      </p:to>
                                    </p:set>
                                    <p:animEffect transition="in" filter="fade">
                                      <p:cBhvr>
                                        <p:cTn id="28" dur="500"/>
                                        <p:tgtEl>
                                          <p:spTgt spid="4">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fade">
                                      <p:cBhvr>
                                        <p:cTn id="33"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P spid="19"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Text Box 46" descr="花束"/>
          <p:cNvSpPr txBox="1">
            <a:spLocks noChangeArrowheads="1"/>
          </p:cNvSpPr>
          <p:nvPr/>
        </p:nvSpPr>
        <p:spPr bwMode="auto">
          <a:xfrm>
            <a:off x="260304" y="764488"/>
            <a:ext cx="5526663"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三、</a:t>
            </a:r>
            <a:r>
              <a:rPr kumimoji="1" lang="en-US" altLang="zh-CN" sz="2800" b="1" dirty="0">
                <a:solidFill>
                  <a:srgbClr val="0000FF"/>
                </a:solidFill>
                <a:latin typeface="Times New Roman" panose="02020603050405020304" pitchFamily="18" charset="0"/>
                <a:ea typeface="长城楷体" pitchFamily="1" charset="-122"/>
              </a:rPr>
              <a:t> </a:t>
            </a:r>
            <a:r>
              <a:rPr kumimoji="1" lang="zh-CN" altLang="en-US" sz="2800" b="1" dirty="0">
                <a:solidFill>
                  <a:srgbClr val="0000FF"/>
                </a:solidFill>
                <a:latin typeface="Times New Roman" panose="02020603050405020304" pitchFamily="18" charset="0"/>
                <a:ea typeface="长城楷体" pitchFamily="1" charset="-122"/>
              </a:rPr>
              <a:t>步骤</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12" name="Rectangle 3"/>
          <p:cNvSpPr>
            <a:spLocks noChangeArrowheads="1"/>
          </p:cNvSpPr>
          <p:nvPr/>
        </p:nvSpPr>
        <p:spPr bwMode="auto">
          <a:xfrm>
            <a:off x="533401" y="1378789"/>
            <a:ext cx="6340197" cy="973280"/>
          </a:xfrm>
          <a:prstGeom prst="rect">
            <a:avLst/>
          </a:prstGeom>
          <a:solidFill>
            <a:srgbClr val="FFFFFF">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latin typeface="Times New Roman" panose="02020603050405020304" pitchFamily="18" charset="0"/>
                <a:ea typeface="楷体_GB2312" pitchFamily="49" charset="-122"/>
              </a:rPr>
              <a:t>1.   </a:t>
            </a:r>
            <a:r>
              <a:rPr lang="zh-CN" altLang="en-US" sz="2400" b="1" dirty="0">
                <a:latin typeface="Times New Roman" panose="02020603050405020304" pitchFamily="18" charset="0"/>
                <a:ea typeface="楷体_GB2312" pitchFamily="49" charset="-122"/>
              </a:rPr>
              <a:t>了解电路的组成</a:t>
            </a:r>
            <a:endParaRPr lang="zh-CN" altLang="en-US" sz="2400" b="1" dirty="0">
              <a:latin typeface="Times New Roman" panose="02020603050405020304" pitchFamily="18" charset="0"/>
              <a:ea typeface="楷体_GB2312" pitchFamily="49" charset="-122"/>
            </a:endParaRPr>
          </a:p>
          <a:p>
            <a:pPr eaLnBrk="1" hangingPunct="1">
              <a:lnSpc>
                <a:spcPct val="125000"/>
              </a:lnSpc>
            </a:pPr>
            <a:r>
              <a:rPr lang="zh-CN" altLang="en-US" sz="2400" b="1" dirty="0">
                <a:solidFill>
                  <a:srgbClr val="000066"/>
                </a:solidFill>
                <a:latin typeface="Times New Roman" panose="02020603050405020304" pitchFamily="18" charset="0"/>
                <a:ea typeface="楷体_GB2312" pitchFamily="49" charset="-122"/>
              </a:rPr>
              <a:t>       </a:t>
            </a:r>
            <a:r>
              <a:rPr lang="zh-CN" altLang="en-US" sz="2400" b="1" dirty="0">
                <a:solidFill>
                  <a:srgbClr val="C00000"/>
                </a:solidFill>
                <a:latin typeface="Times New Roman" panose="02020603050405020304" pitchFamily="18" charset="0"/>
                <a:ea typeface="楷体_GB2312" pitchFamily="49" charset="-122"/>
              </a:rPr>
              <a:t>电路的输入、输出信号、触发器的类型等</a:t>
            </a:r>
            <a:r>
              <a:rPr lang="zh-CN" altLang="en-US" sz="2400" b="1" dirty="0">
                <a:latin typeface="Times New Roman" panose="02020603050405020304" pitchFamily="18" charset="0"/>
                <a:ea typeface="楷体_GB2312" pitchFamily="49" charset="-122"/>
              </a:rPr>
              <a:t> </a:t>
            </a:r>
            <a:endParaRPr lang="zh-CN" altLang="en-US" sz="2400" b="1" dirty="0">
              <a:latin typeface="Times New Roman" panose="02020603050405020304" pitchFamily="18" charset="0"/>
              <a:ea typeface="楷体_GB2312" pitchFamily="49" charset="-122"/>
            </a:endParaRPr>
          </a:p>
        </p:txBody>
      </p:sp>
      <p:sp>
        <p:nvSpPr>
          <p:cNvPr id="13" name="Rectangle 4"/>
          <p:cNvSpPr>
            <a:spLocks noChangeArrowheads="1"/>
          </p:cNvSpPr>
          <p:nvPr/>
        </p:nvSpPr>
        <p:spPr bwMode="auto">
          <a:xfrm>
            <a:off x="456923" y="5613839"/>
            <a:ext cx="641667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zh-CN" altLang="en-US" sz="2400" b="1" dirty="0">
                <a:latin typeface="Times New Roman" panose="02020603050405020304" pitchFamily="18" charset="0"/>
                <a:ea typeface="楷体_GB2312" pitchFamily="49" charset="-122"/>
                <a:cs typeface="Times New Roman" panose="02020603050405020304" pitchFamily="18" charset="0"/>
              </a:rPr>
              <a:t>４</a:t>
            </a:r>
            <a:r>
              <a:rPr lang="en-US" altLang="zh-CN" sz="2400" b="1" dirty="0">
                <a:latin typeface="Times New Roman" panose="02020603050405020304" pitchFamily="18" charset="0"/>
                <a:ea typeface="楷体_GB2312" pitchFamily="49" charset="-122"/>
                <a:cs typeface="Times New Roman" panose="02020603050405020304" pitchFamily="18" charset="0"/>
              </a:rPr>
              <a:t>.  </a:t>
            </a:r>
            <a:r>
              <a:rPr lang="zh-CN" altLang="en-US" sz="2400" b="1" dirty="0">
                <a:latin typeface="Times New Roman" panose="02020603050405020304" pitchFamily="18" charset="0"/>
                <a:ea typeface="楷体_GB2312" pitchFamily="49" charset="-122"/>
              </a:rPr>
              <a:t>确定电路的逻辑功能</a:t>
            </a:r>
            <a:endParaRPr lang="zh-CN" altLang="en-US" sz="2400" b="1" dirty="0">
              <a:latin typeface="Times New Roman" panose="02020603050405020304" pitchFamily="18" charset="0"/>
              <a:ea typeface="楷体_GB2312" pitchFamily="49" charset="-122"/>
            </a:endParaRPr>
          </a:p>
        </p:txBody>
      </p:sp>
      <p:sp>
        <p:nvSpPr>
          <p:cNvPr id="14" name="Rectangle 5"/>
          <p:cNvSpPr>
            <a:spLocks noChangeArrowheads="1"/>
          </p:cNvSpPr>
          <p:nvPr/>
        </p:nvSpPr>
        <p:spPr bwMode="auto">
          <a:xfrm>
            <a:off x="533401" y="4833655"/>
            <a:ext cx="6257925" cy="51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b="1" dirty="0">
                <a:latin typeface="Times New Roman" panose="02020603050405020304" pitchFamily="18" charset="0"/>
                <a:ea typeface="楷体_GB2312" pitchFamily="49" charset="-122"/>
              </a:rPr>
              <a:t>3.   </a:t>
            </a:r>
            <a:r>
              <a:rPr lang="zh-CN" altLang="en-US" sz="2400" b="1" dirty="0">
                <a:latin typeface="Times New Roman" panose="02020603050405020304" pitchFamily="18" charset="0"/>
                <a:ea typeface="楷体_GB2312" pitchFamily="49" charset="-122"/>
              </a:rPr>
              <a:t>列出状态转换表或画出状态图和波形图</a:t>
            </a:r>
            <a:endParaRPr lang="zh-CN" altLang="en-US" sz="2400" b="1" dirty="0">
              <a:latin typeface="Times New Roman" panose="02020603050405020304" pitchFamily="18" charset="0"/>
              <a:ea typeface="楷体_GB2312" pitchFamily="49" charset="-122"/>
            </a:endParaRPr>
          </a:p>
        </p:txBody>
      </p:sp>
      <p:sp>
        <p:nvSpPr>
          <p:cNvPr id="15" name="Rectangle 6"/>
          <p:cNvSpPr>
            <a:spLocks noChangeArrowheads="1"/>
          </p:cNvSpPr>
          <p:nvPr/>
        </p:nvSpPr>
        <p:spPr bwMode="auto">
          <a:xfrm>
            <a:off x="409574" y="2528181"/>
            <a:ext cx="7777163" cy="51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latin typeface="Times New Roman" panose="02020603050405020304" pitchFamily="18" charset="0"/>
                <a:ea typeface="楷体_GB2312" pitchFamily="49" charset="-122"/>
              </a:rPr>
              <a:t>  2.   </a:t>
            </a:r>
            <a:r>
              <a:rPr lang="zh-CN" altLang="en-US" sz="2400" b="1" dirty="0">
                <a:latin typeface="Times New Roman" panose="02020603050405020304" pitchFamily="18" charset="0"/>
                <a:ea typeface="楷体_GB2312" pitchFamily="49" charset="-122"/>
              </a:rPr>
              <a:t>根据给定的时序电路图</a:t>
            </a:r>
            <a:r>
              <a:rPr lang="en-US" altLang="zh-CN" sz="2400" b="1" dirty="0">
                <a:latin typeface="Times New Roman" panose="02020603050405020304" pitchFamily="18" charset="0"/>
                <a:ea typeface="楷体_GB2312" pitchFamily="49" charset="-122"/>
              </a:rPr>
              <a:t>,</a:t>
            </a:r>
            <a:r>
              <a:rPr lang="zh-CN" altLang="en-US" sz="2400" b="1" dirty="0">
                <a:latin typeface="Times New Roman" panose="02020603050405020304" pitchFamily="18" charset="0"/>
                <a:ea typeface="楷体_GB2312" pitchFamily="49" charset="-122"/>
              </a:rPr>
              <a:t>写出下列各逻辑方程式：</a:t>
            </a:r>
            <a:endParaRPr lang="zh-CN" altLang="en-US" sz="2400" b="1" dirty="0">
              <a:latin typeface="Times New Roman" panose="02020603050405020304" pitchFamily="18" charset="0"/>
              <a:ea typeface="楷体_GB2312" pitchFamily="49" charset="-122"/>
            </a:endParaRPr>
          </a:p>
        </p:txBody>
      </p:sp>
      <p:sp>
        <p:nvSpPr>
          <p:cNvPr id="16" name="Rectangle 7"/>
          <p:cNvSpPr>
            <a:spLocks noChangeArrowheads="1"/>
          </p:cNvSpPr>
          <p:nvPr/>
        </p:nvSpPr>
        <p:spPr bwMode="auto">
          <a:xfrm>
            <a:off x="1078085" y="3130141"/>
            <a:ext cx="4824413" cy="1434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25000"/>
              </a:lnSpc>
              <a:buFont typeface="Wingdings" panose="05000000000000000000" pitchFamily="2" charset="2"/>
              <a:buChar char="Ø"/>
            </a:pPr>
            <a:r>
              <a:rPr lang="zh-CN" altLang="en-US" sz="2400" b="1" dirty="0">
                <a:solidFill>
                  <a:srgbClr val="9900CC"/>
                </a:solidFill>
                <a:latin typeface="Times New Roman" panose="02020603050405020304" pitchFamily="18" charset="0"/>
                <a:ea typeface="楷体_GB2312" pitchFamily="49" charset="-122"/>
              </a:rPr>
              <a:t>各触发器的驱动方程</a:t>
            </a:r>
            <a:endParaRPr lang="en-US" altLang="zh-CN" sz="2400" b="1" dirty="0">
              <a:solidFill>
                <a:srgbClr val="9900CC"/>
              </a:solidFill>
              <a:latin typeface="Times New Roman" panose="02020603050405020304" pitchFamily="18" charset="0"/>
              <a:ea typeface="楷体_GB2312" pitchFamily="49" charset="-122"/>
            </a:endParaRPr>
          </a:p>
          <a:p>
            <a:pPr marL="342900" indent="-342900" algn="just" eaLnBrk="1" hangingPunct="1">
              <a:lnSpc>
                <a:spcPct val="125000"/>
              </a:lnSpc>
              <a:buFont typeface="Wingdings" panose="05000000000000000000" pitchFamily="2" charset="2"/>
              <a:buChar char="Ø"/>
            </a:pPr>
            <a:r>
              <a:rPr lang="zh-CN" altLang="en-US" sz="2400" b="1" dirty="0">
                <a:solidFill>
                  <a:srgbClr val="9900CC"/>
                </a:solidFill>
                <a:latin typeface="Times New Roman" panose="02020603050405020304" pitchFamily="18" charset="0"/>
                <a:ea typeface="楷体_GB2312" pitchFamily="49" charset="-122"/>
              </a:rPr>
              <a:t>各触发器的次态方程</a:t>
            </a:r>
            <a:endParaRPr lang="en-US" altLang="zh-CN" sz="2400" b="1" dirty="0">
              <a:solidFill>
                <a:srgbClr val="9900CC"/>
              </a:solidFill>
              <a:latin typeface="Times New Roman" panose="02020603050405020304" pitchFamily="18" charset="0"/>
              <a:ea typeface="楷体_GB2312" pitchFamily="49" charset="-122"/>
            </a:endParaRPr>
          </a:p>
          <a:p>
            <a:pPr marL="342900" indent="-342900" algn="just" eaLnBrk="1" hangingPunct="1">
              <a:lnSpc>
                <a:spcPct val="125000"/>
              </a:lnSpc>
              <a:buFont typeface="Wingdings" panose="05000000000000000000" pitchFamily="2" charset="2"/>
              <a:buChar char="Ø"/>
            </a:pPr>
            <a:r>
              <a:rPr lang="zh-CN" altLang="en-US" sz="2400" b="1" dirty="0">
                <a:solidFill>
                  <a:srgbClr val="9900CC"/>
                </a:solidFill>
                <a:latin typeface="Times New Roman" panose="02020603050405020304" pitchFamily="18" charset="0"/>
                <a:ea typeface="楷体_GB2312" pitchFamily="49" charset="-122"/>
              </a:rPr>
              <a:t>时序电路的输出方程</a:t>
            </a:r>
            <a:endParaRPr lang="zh-CN" altLang="en-US" sz="2400" b="1" dirty="0">
              <a:solidFill>
                <a:srgbClr val="9900CC"/>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strips(downRigh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strips(downRight)">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strips(downRight)">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autoUpdateAnimBg="0"/>
      <p:bldP spid="13" grpId="0" autoUpdateAnimBg="0"/>
      <p:bldP spid="14" grpId="0" animBg="1" autoUpdateAnimBg="0"/>
      <p:bldP spid="15" grpId="0" autoUpdateAnimBg="0"/>
      <p:bldP spid="16"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1" name="Rectangle 2"/>
          <p:cNvSpPr>
            <a:spLocks noChangeArrowheads="1"/>
          </p:cNvSpPr>
          <p:nvPr/>
        </p:nvSpPr>
        <p:spPr bwMode="auto">
          <a:xfrm>
            <a:off x="0" y="2505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GB" altLang="zh-CN"/>
          </a:p>
        </p:txBody>
      </p:sp>
      <p:sp>
        <p:nvSpPr>
          <p:cNvPr id="18" name="Rectangle 4"/>
          <p:cNvSpPr>
            <a:spLocks noChangeArrowheads="1"/>
          </p:cNvSpPr>
          <p:nvPr/>
        </p:nvSpPr>
        <p:spPr bwMode="auto">
          <a:xfrm>
            <a:off x="311565" y="3666451"/>
            <a:ext cx="1784350" cy="523220"/>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输出方程</a:t>
            </a:r>
            <a:endParaRPr lang="zh-CN" altLang="en-US" sz="2800" b="1" dirty="0">
              <a:solidFill>
                <a:srgbClr val="000066"/>
              </a:solidFill>
              <a:ea typeface="楷体_GB2312" pitchFamily="49" charset="-122"/>
              <a:cs typeface="Times New Roman" panose="02020603050405020304" pitchFamily="18" charset="0"/>
            </a:endParaRPr>
          </a:p>
        </p:txBody>
      </p:sp>
      <p:sp>
        <p:nvSpPr>
          <p:cNvPr id="22" name="Rectangle 8"/>
          <p:cNvSpPr>
            <a:spLocks noChangeArrowheads="1"/>
          </p:cNvSpPr>
          <p:nvPr/>
        </p:nvSpPr>
        <p:spPr bwMode="auto">
          <a:xfrm>
            <a:off x="311565" y="4485157"/>
            <a:ext cx="945802" cy="1384995"/>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楷体_GB2312" pitchFamily="49" charset="-122"/>
                <a:cs typeface="Times New Roman" panose="02020603050405020304" pitchFamily="18" charset="0"/>
              </a:rPr>
              <a:t>驱动方程组</a:t>
            </a:r>
            <a:endParaRPr lang="zh-CN" altLang="en-US" sz="2800" b="1" dirty="0">
              <a:solidFill>
                <a:srgbClr val="000066"/>
              </a:solidFill>
              <a:ea typeface="楷体_GB2312" pitchFamily="49" charset="-122"/>
              <a:cs typeface="Times New Roman" panose="02020603050405020304" pitchFamily="18" charset="0"/>
            </a:endParaRPr>
          </a:p>
        </p:txBody>
      </p:sp>
      <p:sp>
        <p:nvSpPr>
          <p:cNvPr id="26" name="Rectangle 12"/>
          <p:cNvSpPr>
            <a:spLocks noChangeArrowheads="1"/>
          </p:cNvSpPr>
          <p:nvPr/>
        </p:nvSpPr>
        <p:spPr bwMode="auto">
          <a:xfrm>
            <a:off x="4519976" y="3323876"/>
            <a:ext cx="1294911" cy="954107"/>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楷体_GB2312" pitchFamily="49" charset="-122"/>
                <a:cs typeface="Times New Roman" panose="02020603050405020304" pitchFamily="18" charset="0"/>
              </a:rPr>
              <a:t>次态</a:t>
            </a:r>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方程组</a:t>
            </a:r>
            <a:endParaRPr lang="zh-CN" altLang="en-US" sz="2800" b="1" dirty="0">
              <a:solidFill>
                <a:srgbClr val="000066"/>
              </a:solidFill>
              <a:ea typeface="楷体_GB2312" pitchFamily="49" charset="-122"/>
              <a:cs typeface="Times New Roman" panose="02020603050405020304" pitchFamily="18" charset="0"/>
            </a:endParaRPr>
          </a:p>
        </p:txBody>
      </p:sp>
      <p:sp>
        <p:nvSpPr>
          <p:cNvPr id="32" name="Text Box 18"/>
          <p:cNvSpPr txBox="1">
            <a:spLocks noChangeArrowheads="1"/>
          </p:cNvSpPr>
          <p:nvPr/>
        </p:nvSpPr>
        <p:spPr bwMode="auto">
          <a:xfrm>
            <a:off x="221190" y="686001"/>
            <a:ext cx="59393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例</a:t>
            </a:r>
            <a:r>
              <a:rPr lang="en-US" altLang="zh-CN" sz="2800" b="1" dirty="0">
                <a:ea typeface="楷体_GB2312" pitchFamily="49" charset="-122"/>
              </a:rPr>
              <a:t>1</a:t>
            </a:r>
            <a:r>
              <a:rPr lang="zh-CN" altLang="en-US" sz="2800" b="1" dirty="0">
                <a:ea typeface="楷体_GB2312" pitchFamily="49" charset="-122"/>
              </a:rPr>
              <a:t>：分析以下电路的逻辑功能</a:t>
            </a:r>
            <a:endParaRPr lang="zh-CN" altLang="en-US" sz="2800" b="1" dirty="0">
              <a:ea typeface="楷体_GB2312" pitchFamily="49" charset="-122"/>
            </a:endParaRPr>
          </a:p>
        </p:txBody>
      </p:sp>
      <p:sp>
        <p:nvSpPr>
          <p:cNvPr id="2" name="文本框 1"/>
          <p:cNvSpPr txBox="1"/>
          <p:nvPr/>
        </p:nvSpPr>
        <p:spPr>
          <a:xfrm>
            <a:off x="206360" y="3100827"/>
            <a:ext cx="2700866"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1. </a:t>
            </a:r>
            <a:r>
              <a:rPr lang="zh-CN" altLang="en-US" sz="2800" b="1" dirty="0">
                <a:solidFill>
                  <a:srgbClr val="0000FF"/>
                </a:solidFill>
                <a:latin typeface="黑体" panose="02010609060101010101" pitchFamily="49" charset="-122"/>
                <a:ea typeface="黑体" panose="02010609060101010101" pitchFamily="49" charset="-122"/>
              </a:rPr>
              <a:t>写方程组</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35" name="Picture 5" descr="5-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9487" y="1210114"/>
            <a:ext cx="7129462" cy="1890713"/>
          </a:xfrm>
          <a:prstGeom prst="rect">
            <a:avLst/>
          </a:prstGeom>
          <a:noFill/>
          <a:extLst>
            <a:ext uri="{909E8E84-426E-40DD-AFC4-6F175D3DCCD1}">
              <a14:hiddenFill xmlns:a14="http://schemas.microsoft.com/office/drawing/2010/main">
                <a:solidFill>
                  <a:srgbClr val="FFFFFF"/>
                </a:solidFill>
              </a14:hiddenFill>
            </a:ext>
          </a:extLst>
        </p:spPr>
      </p:pic>
      <p:cxnSp>
        <p:nvCxnSpPr>
          <p:cNvPr id="5" name="直接连接符 4"/>
          <p:cNvCxnSpPr/>
          <p:nvPr/>
        </p:nvCxnSpPr>
        <p:spPr>
          <a:xfrm>
            <a:off x="4381501" y="3100827"/>
            <a:ext cx="0" cy="3634407"/>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38" name="Object 4"/>
          <p:cNvGraphicFramePr>
            <a:graphicFrameLocks noChangeAspect="1"/>
          </p:cNvGraphicFramePr>
          <p:nvPr/>
        </p:nvGraphicFramePr>
        <p:xfrm>
          <a:off x="1289050" y="4333875"/>
          <a:ext cx="3117850" cy="2398713"/>
        </p:xfrm>
        <a:graphic>
          <a:graphicData uri="http://schemas.openxmlformats.org/presentationml/2006/ole">
            <mc:AlternateContent xmlns:mc="http://schemas.openxmlformats.org/markup-compatibility/2006">
              <mc:Choice xmlns:v="urn:schemas-microsoft-com:vml" Requires="v">
                <p:oleObj spid="_x0000_s7206" name="Equation" r:id="rId3" imgW="28346400" imgH="21945600" progId="Equation.DSMT4">
                  <p:embed/>
                </p:oleObj>
              </mc:Choice>
              <mc:Fallback>
                <p:oleObj name="Equation" r:id="rId3" imgW="28346400" imgH="21945600" progId="Equation.DSMT4">
                  <p:embed/>
                  <p:pic>
                    <p:nvPicPr>
                      <p:cNvPr id="0" name="Object 4"/>
                      <p:cNvPicPr>
                        <a:picLocks noChangeAspect="1" noChangeArrowheads="1"/>
                      </p:cNvPicPr>
                      <p:nvPr/>
                    </p:nvPicPr>
                    <p:blipFill>
                      <a:blip r:embed="rId4"/>
                      <a:srcRect/>
                      <a:stretch>
                        <a:fillRect/>
                      </a:stretch>
                    </p:blipFill>
                    <p:spPr bwMode="auto">
                      <a:xfrm>
                        <a:off x="1289050" y="4333875"/>
                        <a:ext cx="3117850" cy="2398713"/>
                      </a:xfrm>
                      <a:prstGeom prst="rect">
                        <a:avLst/>
                      </a:prstGeom>
                      <a:noFill/>
                    </p:spPr>
                  </p:pic>
                </p:oleObj>
              </mc:Fallback>
            </mc:AlternateContent>
          </a:graphicData>
        </a:graphic>
      </p:graphicFrame>
      <p:graphicFrame>
        <p:nvGraphicFramePr>
          <p:cNvPr id="39" name="Object 4"/>
          <p:cNvGraphicFramePr>
            <a:graphicFrameLocks noChangeAspect="1"/>
          </p:cNvGraphicFramePr>
          <p:nvPr/>
        </p:nvGraphicFramePr>
        <p:xfrm>
          <a:off x="6087431" y="3470209"/>
          <a:ext cx="2684463" cy="547688"/>
        </p:xfrm>
        <a:graphic>
          <a:graphicData uri="http://schemas.openxmlformats.org/presentationml/2006/ole">
            <mc:AlternateContent xmlns:mc="http://schemas.openxmlformats.org/markup-compatibility/2006">
              <mc:Choice xmlns:v="urn:schemas-microsoft-com:vml" Requires="v">
                <p:oleObj spid="_x0000_s7207" name="Equation" r:id="rId5" imgW="31394400" imgH="6400800" progId="Equation.DSMT4">
                  <p:embed/>
                </p:oleObj>
              </mc:Choice>
              <mc:Fallback>
                <p:oleObj name="Equation" r:id="rId5" imgW="31394400" imgH="6400800" progId="Equation.DSMT4">
                  <p:embed/>
                  <p:pic>
                    <p:nvPicPr>
                      <p:cNvPr id="0" name="Object 4"/>
                      <p:cNvPicPr>
                        <a:picLocks noChangeAspect="1" noChangeArrowheads="1"/>
                      </p:cNvPicPr>
                      <p:nvPr/>
                    </p:nvPicPr>
                    <p:blipFill>
                      <a:blip r:embed="rId6"/>
                      <a:srcRect/>
                      <a:stretch>
                        <a:fillRect/>
                      </a:stretch>
                    </p:blipFill>
                    <p:spPr bwMode="auto">
                      <a:xfrm>
                        <a:off x="6087431" y="3470209"/>
                        <a:ext cx="2684463" cy="547688"/>
                      </a:xfrm>
                      <a:prstGeom prst="rect">
                        <a:avLst/>
                      </a:prstGeom>
                      <a:noFill/>
                      <a:ln w="38100">
                        <a:solidFill>
                          <a:srgbClr val="3366FF"/>
                        </a:solidFill>
                        <a:prstDash val="sysDash"/>
                      </a:ln>
                    </p:spPr>
                  </p:pic>
                </p:oleObj>
              </mc:Fallback>
            </mc:AlternateContent>
          </a:graphicData>
        </a:graphic>
      </p:graphicFrame>
      <p:graphicFrame>
        <p:nvGraphicFramePr>
          <p:cNvPr id="40" name="Object 6"/>
          <p:cNvGraphicFramePr>
            <a:graphicFrameLocks noChangeAspect="1"/>
          </p:cNvGraphicFramePr>
          <p:nvPr/>
        </p:nvGraphicFramePr>
        <p:xfrm>
          <a:off x="4437338" y="4360040"/>
          <a:ext cx="4581611" cy="2341325"/>
        </p:xfrm>
        <a:graphic>
          <a:graphicData uri="http://schemas.openxmlformats.org/presentationml/2006/ole">
            <mc:AlternateContent xmlns:mc="http://schemas.openxmlformats.org/markup-compatibility/2006">
              <mc:Choice xmlns:v="urn:schemas-microsoft-com:vml" Requires="v">
                <p:oleObj spid="_x0000_s7208" name="Equation" r:id="rId7" imgW="2336800" imgH="1193800" progId="Equation.DSMT4">
                  <p:embed/>
                </p:oleObj>
              </mc:Choice>
              <mc:Fallback>
                <p:oleObj name="Equation" r:id="rId7" imgW="2336800" imgH="1193800" progId="Equation.DSMT4">
                  <p:embed/>
                  <p:pic>
                    <p:nvPicPr>
                      <p:cNvPr id="0" name="Object 6"/>
                      <p:cNvPicPr preferRelativeResize="0">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7338" y="4360040"/>
                        <a:ext cx="4581611" cy="2341325"/>
                      </a:xfrm>
                      <a:prstGeom prst="rect">
                        <a:avLst/>
                      </a:prstGeom>
                      <a:noFill/>
                      <a:ln>
                        <a:noFill/>
                      </a:ln>
                      <a:effectLst/>
                    </p:spPr>
                  </p:pic>
                </p:oleObj>
              </mc:Fallback>
            </mc:AlternateContent>
          </a:graphicData>
        </a:graphic>
      </p:graphicFrame>
      <p:sp>
        <p:nvSpPr>
          <p:cNvPr id="42" name="对话气泡: 矩形 41"/>
          <p:cNvSpPr/>
          <p:nvPr/>
        </p:nvSpPr>
        <p:spPr>
          <a:xfrm>
            <a:off x="154984" y="1382454"/>
            <a:ext cx="1518834" cy="1142142"/>
          </a:xfrm>
          <a:prstGeom prst="wedgeRectCallout">
            <a:avLst>
              <a:gd name="adj1" fmla="val 138551"/>
              <a:gd name="adj2" fmla="val 18380"/>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rPr>
              <a:t>下降沿触发的</a:t>
            </a:r>
            <a:r>
              <a:rPr lang="en-US" altLang="zh-CN" sz="2400" b="1" dirty="0">
                <a:solidFill>
                  <a:srgbClr val="C00000"/>
                </a:solidFill>
              </a:rPr>
              <a:t>J-K</a:t>
            </a:r>
            <a:r>
              <a:rPr lang="zh-CN" altLang="en-US" sz="2400" b="1" dirty="0">
                <a:solidFill>
                  <a:srgbClr val="C00000"/>
                </a:solidFill>
              </a:rPr>
              <a:t>触发器</a:t>
            </a:r>
            <a:endParaRPr lang="zh-CN" altLang="en-US" sz="2400" b="1" dirty="0">
              <a:solidFill>
                <a:srgbClr val="C00000"/>
              </a:solidFill>
            </a:endParaRPr>
          </a:p>
        </p:txBody>
      </p:sp>
      <p:graphicFrame>
        <p:nvGraphicFramePr>
          <p:cNvPr id="3" name="对象 2"/>
          <p:cNvGraphicFramePr>
            <a:graphicFrameLocks noChangeAspect="1"/>
          </p:cNvGraphicFramePr>
          <p:nvPr/>
        </p:nvGraphicFramePr>
        <p:xfrm>
          <a:off x="2467367" y="3573388"/>
          <a:ext cx="1145897" cy="640354"/>
        </p:xfrm>
        <a:graphic>
          <a:graphicData uri="http://schemas.openxmlformats.org/presentationml/2006/ole">
            <mc:AlternateContent xmlns:mc="http://schemas.openxmlformats.org/markup-compatibility/2006">
              <mc:Choice xmlns:v="urn:schemas-microsoft-com:vml" Requires="v">
                <p:oleObj spid="_x0000_s7209" name="Equation" r:id="rId9" imgW="10363200" imgH="5791200" progId="Equation.DSMT4">
                  <p:embed/>
                </p:oleObj>
              </mc:Choice>
              <mc:Fallback>
                <p:oleObj name="Equation" r:id="rId9" imgW="10363200" imgH="5791200" progId="Equation.DSMT4">
                  <p:embed/>
                  <p:pic>
                    <p:nvPicPr>
                      <p:cNvPr id="0" name="图片 7208"/>
                      <p:cNvPicPr/>
                      <p:nvPr/>
                    </p:nvPicPr>
                    <p:blipFill>
                      <a:blip r:embed="rId10"/>
                      <a:stretch>
                        <a:fillRect/>
                      </a:stretch>
                    </p:blipFill>
                    <p:spPr>
                      <a:xfrm>
                        <a:off x="2467367" y="3573388"/>
                        <a:ext cx="1145897" cy="640354"/>
                      </a:xfrm>
                      <a:prstGeom prst="rect">
                        <a:avLst/>
                      </a:prstGeom>
                    </p:spPr>
                  </p:pic>
                </p:oleObj>
              </mc:Fallback>
            </mc:AlternateContent>
          </a:graphicData>
        </a:graphic>
      </p:graphicFrame>
      <p:cxnSp>
        <p:nvCxnSpPr>
          <p:cNvPr id="10" name="直接连接符 9"/>
          <p:cNvCxnSpPr/>
          <p:nvPr/>
        </p:nvCxnSpPr>
        <p:spPr>
          <a:xfrm>
            <a:off x="2839453" y="2467567"/>
            <a:ext cx="271257" cy="4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2605540" y="2282901"/>
            <a:ext cx="301686" cy="369332"/>
          </a:xfrm>
          <a:prstGeom prst="rect">
            <a:avLst/>
          </a:prstGeom>
          <a:noFill/>
        </p:spPr>
        <p:txBody>
          <a:bodyPr wrap="none" rtlCol="0">
            <a:spAutoFit/>
          </a:bodyPr>
          <a:lstStyle/>
          <a:p>
            <a:r>
              <a:rPr lang="en-US" altLang="zh-CN" b="1" dirty="0"/>
              <a:t>1</a:t>
            </a:r>
            <a:endParaRPr lang="zh-CN" altLang="en-US" b="1" dirty="0"/>
          </a:p>
        </p:txBody>
      </p:sp>
      <p:cxnSp>
        <p:nvCxnSpPr>
          <p:cNvPr id="23" name="直接连接符 22"/>
          <p:cNvCxnSpPr/>
          <p:nvPr/>
        </p:nvCxnSpPr>
        <p:spPr>
          <a:xfrm>
            <a:off x="6719455" y="2467567"/>
            <a:ext cx="271257" cy="4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6485542" y="2282901"/>
            <a:ext cx="301686" cy="369332"/>
          </a:xfrm>
          <a:prstGeom prst="rect">
            <a:avLst/>
          </a:prstGeom>
          <a:noFill/>
        </p:spPr>
        <p:txBody>
          <a:bodyPr wrap="none" rtlCol="0">
            <a:spAutoFit/>
          </a:bodyPr>
          <a:lstStyle/>
          <a:p>
            <a:r>
              <a:rPr lang="en-US" altLang="zh-CN" b="1" dirty="0"/>
              <a:t>1</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Righ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fade">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Righ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5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strips(downRigh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fade">
                                      <p:cBhvr>
                                        <p:cTn id="4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6" grpId="0" animBg="1"/>
      <p:bldP spid="2" grpId="0"/>
      <p:bldP spid="4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579967" y="634846"/>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根据方程组列出状态转移真值表</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275" name="Picture 5" descr="B5-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843" y="3177125"/>
            <a:ext cx="9046314" cy="36808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77" name="Object 6"/>
          <p:cNvGraphicFramePr>
            <a:graphicFrameLocks noChangeAspect="1"/>
          </p:cNvGraphicFramePr>
          <p:nvPr/>
        </p:nvGraphicFramePr>
        <p:xfrm>
          <a:off x="1560685" y="1158066"/>
          <a:ext cx="3692882" cy="1887161"/>
        </p:xfrm>
        <a:graphic>
          <a:graphicData uri="http://schemas.openxmlformats.org/presentationml/2006/ole">
            <mc:AlternateContent xmlns:mc="http://schemas.openxmlformats.org/markup-compatibility/2006">
              <mc:Choice xmlns:v="urn:schemas-microsoft-com:vml" Requires="v">
                <p:oleObj spid="_x0000_s8212" name="Equation" r:id="rId3" imgW="2336800" imgH="1193800" progId="Equation.DSMT4">
                  <p:embed/>
                </p:oleObj>
              </mc:Choice>
              <mc:Fallback>
                <p:oleObj name="Equation" r:id="rId3" imgW="2336800" imgH="1193800" progId="Equation.DSMT4">
                  <p:embed/>
                  <p:pic>
                    <p:nvPicPr>
                      <p:cNvPr id="0" name="Object 6"/>
                      <p:cNvPicPr preferRelativeResize="0">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0685" y="1158066"/>
                        <a:ext cx="3692882" cy="1887161"/>
                      </a:xfrm>
                      <a:prstGeom prst="rect">
                        <a:avLst/>
                      </a:prstGeom>
                      <a:noFill/>
                      <a:ln>
                        <a:noFill/>
                      </a:ln>
                      <a:effectLst/>
                    </p:spPr>
                  </p:pic>
                </p:oleObj>
              </mc:Fallback>
            </mc:AlternateContent>
          </a:graphicData>
        </a:graphic>
      </p:graphicFrame>
      <p:sp>
        <p:nvSpPr>
          <p:cNvPr id="4" name="矩形: 圆角 3"/>
          <p:cNvSpPr/>
          <p:nvPr/>
        </p:nvSpPr>
        <p:spPr>
          <a:xfrm>
            <a:off x="4250407" y="6296185"/>
            <a:ext cx="3018295" cy="32159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p:cNvCxnSpPr/>
          <p:nvPr/>
        </p:nvCxnSpPr>
        <p:spPr>
          <a:xfrm flipH="1" flipV="1">
            <a:off x="3421248" y="4374395"/>
            <a:ext cx="829159" cy="1848173"/>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762934" y="2833959"/>
            <a:ext cx="957020" cy="523220"/>
          </a:xfrm>
          <a:prstGeom prst="rect">
            <a:avLst/>
          </a:prstGeom>
          <a:noFill/>
        </p:spPr>
        <p:txBody>
          <a:bodyPr wrap="square" rtlCol="0">
            <a:spAutoFit/>
          </a:bodyPr>
          <a:lstStyle/>
          <a:p>
            <a:r>
              <a:rPr lang="zh-CN" altLang="en-US" sz="2800" b="1" dirty="0">
                <a:solidFill>
                  <a:srgbClr val="FF0000"/>
                </a:solidFill>
              </a:rPr>
              <a:t>现态</a:t>
            </a:r>
            <a:endParaRPr lang="zh-CN" altLang="en-US" sz="2800" b="1" dirty="0">
              <a:solidFill>
                <a:srgbClr val="FF0000"/>
              </a:solidFill>
            </a:endParaRPr>
          </a:p>
        </p:txBody>
      </p:sp>
      <p:sp>
        <p:nvSpPr>
          <p:cNvPr id="279" name="文本框 278"/>
          <p:cNvSpPr txBox="1"/>
          <p:nvPr/>
        </p:nvSpPr>
        <p:spPr>
          <a:xfrm>
            <a:off x="5281044" y="2849566"/>
            <a:ext cx="957020" cy="523220"/>
          </a:xfrm>
          <a:prstGeom prst="rect">
            <a:avLst/>
          </a:prstGeom>
          <a:noFill/>
        </p:spPr>
        <p:txBody>
          <a:bodyPr wrap="square" rtlCol="0">
            <a:spAutoFit/>
          </a:bodyPr>
          <a:lstStyle/>
          <a:p>
            <a:r>
              <a:rPr lang="zh-CN" altLang="en-US" sz="2800" b="1" dirty="0">
                <a:solidFill>
                  <a:srgbClr val="FF0000"/>
                </a:solidFill>
              </a:rPr>
              <a:t>次态</a:t>
            </a:r>
            <a:endParaRPr lang="zh-CN" altLang="en-US" sz="2800" b="1" dirty="0">
              <a:solidFill>
                <a:srgbClr val="FF0000"/>
              </a:solidFill>
            </a:endParaRPr>
          </a:p>
        </p:txBody>
      </p:sp>
      <p:sp>
        <p:nvSpPr>
          <p:cNvPr id="280" name="文本框 279"/>
          <p:cNvSpPr txBox="1"/>
          <p:nvPr/>
        </p:nvSpPr>
        <p:spPr>
          <a:xfrm>
            <a:off x="7781442" y="2833959"/>
            <a:ext cx="957020" cy="523220"/>
          </a:xfrm>
          <a:prstGeom prst="rect">
            <a:avLst/>
          </a:prstGeom>
          <a:noFill/>
        </p:spPr>
        <p:txBody>
          <a:bodyPr wrap="square" rtlCol="0">
            <a:spAutoFit/>
          </a:bodyPr>
          <a:lstStyle/>
          <a:p>
            <a:r>
              <a:rPr lang="zh-CN" altLang="en-US" sz="2800" b="1" dirty="0">
                <a:solidFill>
                  <a:srgbClr val="FF0000"/>
                </a:solidFill>
              </a:rPr>
              <a:t>输出</a:t>
            </a:r>
            <a:endParaRPr lang="zh-CN" altLang="en-US" sz="2800" b="1" dirty="0">
              <a:solidFill>
                <a:srgbClr val="FF0000"/>
              </a:solidFill>
            </a:endParaRPr>
          </a:p>
        </p:txBody>
      </p:sp>
      <p:sp>
        <p:nvSpPr>
          <p:cNvPr id="15" name="箭头: 右 14"/>
          <p:cNvSpPr/>
          <p:nvPr/>
        </p:nvSpPr>
        <p:spPr>
          <a:xfrm>
            <a:off x="3679549" y="4056146"/>
            <a:ext cx="476573" cy="1607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3" name="矩形: 圆角 292"/>
          <p:cNvSpPr/>
          <p:nvPr/>
        </p:nvSpPr>
        <p:spPr>
          <a:xfrm>
            <a:off x="4250407" y="3979188"/>
            <a:ext cx="3018295" cy="321590"/>
          </a:xfrm>
          <a:prstGeom prst="roundRect">
            <a:avLst/>
          </a:pr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4" name="矩形: 圆角 293"/>
          <p:cNvSpPr/>
          <p:nvPr/>
        </p:nvSpPr>
        <p:spPr>
          <a:xfrm>
            <a:off x="543729" y="4560325"/>
            <a:ext cx="3018295" cy="321590"/>
          </a:xfrm>
          <a:prstGeom prst="roundRect">
            <a:avLst/>
          </a:prstGeom>
          <a:noFill/>
          <a:ln w="349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6" name="直接箭头连接符 295"/>
          <p:cNvCxnSpPr>
            <a:endCxn id="294" idx="3"/>
          </p:cNvCxnSpPr>
          <p:nvPr/>
        </p:nvCxnSpPr>
        <p:spPr>
          <a:xfrm flipH="1">
            <a:off x="3562024" y="4313693"/>
            <a:ext cx="688383" cy="407427"/>
          </a:xfrm>
          <a:prstGeom prst="straightConnector1">
            <a:avLst/>
          </a:prstGeom>
          <a:ln w="47625">
            <a:tailEnd type="triangle"/>
          </a:ln>
        </p:spPr>
        <p:style>
          <a:lnRef idx="1">
            <a:schemeClr val="accent1"/>
          </a:lnRef>
          <a:fillRef idx="0">
            <a:schemeClr val="accent1"/>
          </a:fillRef>
          <a:effectRef idx="0">
            <a:schemeClr val="accent1"/>
          </a:effectRef>
          <a:fontRef idx="minor">
            <a:schemeClr val="tx1"/>
          </a:fontRef>
        </p:style>
      </p:cxnSp>
      <p:sp>
        <p:nvSpPr>
          <p:cNvPr id="297" name="箭头: 右 296"/>
          <p:cNvSpPr/>
          <p:nvPr/>
        </p:nvSpPr>
        <p:spPr>
          <a:xfrm>
            <a:off x="3750585" y="4653678"/>
            <a:ext cx="476573" cy="1607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8" name="矩形: 圆角 297"/>
          <p:cNvSpPr/>
          <p:nvPr/>
        </p:nvSpPr>
        <p:spPr>
          <a:xfrm>
            <a:off x="541907" y="3979188"/>
            <a:ext cx="3018295" cy="321590"/>
          </a:xfrm>
          <a:prstGeom prst="roundRect">
            <a:avLst/>
          </a:prstGeom>
          <a:noFill/>
          <a:ln w="349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8" name="矩形: 圆角 277"/>
          <p:cNvSpPr/>
          <p:nvPr/>
        </p:nvSpPr>
        <p:spPr>
          <a:xfrm>
            <a:off x="541907" y="3979188"/>
            <a:ext cx="3018295" cy="32159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9" name="文本框 298"/>
          <p:cNvSpPr txBox="1"/>
          <p:nvPr/>
        </p:nvSpPr>
        <p:spPr>
          <a:xfrm>
            <a:off x="7183967" y="4374395"/>
            <a:ext cx="1761388" cy="1815882"/>
          </a:xfrm>
          <a:prstGeom prst="rect">
            <a:avLst/>
          </a:prstGeom>
          <a:solidFill>
            <a:schemeClr val="accent1">
              <a:lumMod val="20000"/>
              <a:lumOff val="80000"/>
            </a:schemeClr>
          </a:solidFill>
        </p:spPr>
        <p:txBody>
          <a:bodyPr wrap="square" rtlCol="0">
            <a:spAutoFit/>
          </a:bodyPr>
          <a:lstStyle/>
          <a:p>
            <a:r>
              <a:rPr lang="zh-CN" altLang="en-US" sz="2800" b="1" dirty="0">
                <a:solidFill>
                  <a:srgbClr val="FF0000"/>
                </a:solidFill>
                <a:latin typeface="黑体" panose="02010609060101010101" pitchFamily="49" charset="-122"/>
                <a:ea typeface="黑体" panose="02010609060101010101" pitchFamily="49" charset="-122"/>
              </a:rPr>
              <a:t>所有工作状态都包含在真值表中</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3" name="对话气泡: 矩形 2"/>
          <p:cNvSpPr/>
          <p:nvPr/>
        </p:nvSpPr>
        <p:spPr>
          <a:xfrm>
            <a:off x="7768727" y="1784010"/>
            <a:ext cx="1276311" cy="850367"/>
          </a:xfrm>
          <a:prstGeom prst="wedgeRectCallout">
            <a:avLst>
              <a:gd name="adj1" fmla="val -26318"/>
              <a:gd name="adj2" fmla="val 8410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0000FF"/>
                </a:solidFill>
                <a:latin typeface="黑体" panose="02010609060101010101" pitchFamily="49" charset="-122"/>
                <a:ea typeface="黑体" panose="02010609060101010101" pitchFamily="49" charset="-122"/>
              </a:rPr>
              <a:t>现态下的输出</a:t>
            </a:r>
            <a:endParaRPr lang="zh-CN" altLang="en-US" sz="2400" b="1" dirty="0">
              <a:solidFill>
                <a:srgbClr val="0000FF"/>
              </a:solidFill>
              <a:latin typeface="黑体" panose="02010609060101010101" pitchFamily="49" charset="-122"/>
              <a:ea typeface="黑体" panose="02010609060101010101" pitchFamily="49" charset="-122"/>
            </a:endParaRPr>
          </a:p>
        </p:txBody>
      </p:sp>
      <p:graphicFrame>
        <p:nvGraphicFramePr>
          <p:cNvPr id="23" name="对象 22"/>
          <p:cNvGraphicFramePr>
            <a:graphicFrameLocks noChangeAspect="1"/>
          </p:cNvGraphicFramePr>
          <p:nvPr/>
        </p:nvGraphicFramePr>
        <p:xfrm>
          <a:off x="6122805" y="1741857"/>
          <a:ext cx="1145897" cy="640354"/>
        </p:xfrm>
        <a:graphic>
          <a:graphicData uri="http://schemas.openxmlformats.org/presentationml/2006/ole">
            <mc:AlternateContent xmlns:mc="http://schemas.openxmlformats.org/markup-compatibility/2006">
              <mc:Choice xmlns:v="urn:schemas-microsoft-com:vml" Requires="v">
                <p:oleObj spid="_x0000_s8213" name="Equation" r:id="rId5" imgW="10363200" imgH="5791200" progId="Equation.DSMT4">
                  <p:embed/>
                </p:oleObj>
              </mc:Choice>
              <mc:Fallback>
                <p:oleObj name="Equation" r:id="rId5" imgW="10363200" imgH="5791200" progId="Equation.DSMT4">
                  <p:embed/>
                  <p:pic>
                    <p:nvPicPr>
                      <p:cNvPr id="0" name="图片 8212"/>
                      <p:cNvPicPr/>
                      <p:nvPr/>
                    </p:nvPicPr>
                    <p:blipFill>
                      <a:blip r:embed="rId6"/>
                      <a:stretch>
                        <a:fillRect/>
                      </a:stretch>
                    </p:blipFill>
                    <p:spPr>
                      <a:xfrm>
                        <a:off x="6122805" y="1741857"/>
                        <a:ext cx="1145897" cy="640354"/>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98"/>
                                        </p:tgtEl>
                                        <p:attrNameLst>
                                          <p:attrName>style.visibility</p:attrName>
                                        </p:attrNameLst>
                                      </p:cBhvr>
                                      <p:to>
                                        <p:strVal val="visible"/>
                                      </p:to>
                                    </p:set>
                                    <p:animEffect transition="in" filter="fade">
                                      <p:cBhvr>
                                        <p:cTn id="12" dur="500"/>
                                        <p:tgtEl>
                                          <p:spTgt spid="29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93"/>
                                        </p:tgtEl>
                                        <p:attrNameLst>
                                          <p:attrName>style.visibility</p:attrName>
                                        </p:attrNameLst>
                                      </p:cBhvr>
                                      <p:to>
                                        <p:strVal val="visible"/>
                                      </p:to>
                                    </p:set>
                                    <p:animEffect transition="in" filter="fade">
                                      <p:cBhvr>
                                        <p:cTn id="22" dur="500"/>
                                        <p:tgtEl>
                                          <p:spTgt spid="29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6"/>
                                        </p:tgtEl>
                                        <p:attrNameLst>
                                          <p:attrName>style.visibility</p:attrName>
                                        </p:attrNameLst>
                                      </p:cBhvr>
                                      <p:to>
                                        <p:strVal val="visible"/>
                                      </p:to>
                                    </p:set>
                                    <p:animEffect transition="in" filter="fade">
                                      <p:cBhvr>
                                        <p:cTn id="27" dur="500"/>
                                        <p:tgtEl>
                                          <p:spTgt spid="29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94"/>
                                        </p:tgtEl>
                                        <p:attrNameLst>
                                          <p:attrName>style.visibility</p:attrName>
                                        </p:attrNameLst>
                                      </p:cBhvr>
                                      <p:to>
                                        <p:strVal val="visible"/>
                                      </p:to>
                                    </p:set>
                                    <p:animEffect transition="in" filter="fade">
                                      <p:cBhvr>
                                        <p:cTn id="32" dur="500"/>
                                        <p:tgtEl>
                                          <p:spTgt spid="29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7"/>
                                        </p:tgtEl>
                                        <p:attrNameLst>
                                          <p:attrName>style.visibility</p:attrName>
                                        </p:attrNameLst>
                                      </p:cBhvr>
                                      <p:to>
                                        <p:strVal val="visible"/>
                                      </p:to>
                                    </p:set>
                                    <p:animEffect transition="in" filter="fade">
                                      <p:cBhvr>
                                        <p:cTn id="37" dur="500"/>
                                        <p:tgtEl>
                                          <p:spTgt spid="297"/>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circle(in)">
                                      <p:cBhvr>
                                        <p:cTn id="42" dur="20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wipe(down)">
                                      <p:cBhvr>
                                        <p:cTn id="47" dur="5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6" presetClass="entr" presetSubtype="16" fill="hold" grpId="0" nodeType="clickEffect">
                                  <p:stCondLst>
                                    <p:cond delay="0"/>
                                  </p:stCondLst>
                                  <p:childTnLst>
                                    <p:set>
                                      <p:cBhvr>
                                        <p:cTn id="51" dur="1" fill="hold">
                                          <p:stCondLst>
                                            <p:cond delay="0"/>
                                          </p:stCondLst>
                                        </p:cTn>
                                        <p:tgtEl>
                                          <p:spTgt spid="278"/>
                                        </p:tgtEl>
                                        <p:attrNameLst>
                                          <p:attrName>style.visibility</p:attrName>
                                        </p:attrNameLst>
                                      </p:cBhvr>
                                      <p:to>
                                        <p:strVal val="visible"/>
                                      </p:to>
                                    </p:set>
                                    <p:animEffect transition="in" filter="circle(in)">
                                      <p:cBhvr>
                                        <p:cTn id="52" dur="2000"/>
                                        <p:tgtEl>
                                          <p:spTgt spid="278"/>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299"/>
                                        </p:tgtEl>
                                        <p:attrNameLst>
                                          <p:attrName>style.visibility</p:attrName>
                                        </p:attrNameLst>
                                      </p:cBhvr>
                                      <p:to>
                                        <p:strVal val="visible"/>
                                      </p:to>
                                    </p:set>
                                    <p:anim calcmode="lin" valueType="num">
                                      <p:cBhvr>
                                        <p:cTn id="57" dur="500" fill="hold"/>
                                        <p:tgtEl>
                                          <p:spTgt spid="299"/>
                                        </p:tgtEl>
                                        <p:attrNameLst>
                                          <p:attrName>ppt_w</p:attrName>
                                        </p:attrNameLst>
                                      </p:cBhvr>
                                      <p:tavLst>
                                        <p:tav tm="0">
                                          <p:val>
                                            <p:fltVal val="0"/>
                                          </p:val>
                                        </p:tav>
                                        <p:tav tm="100000">
                                          <p:val>
                                            <p:strVal val="#ppt_w"/>
                                          </p:val>
                                        </p:tav>
                                      </p:tavLst>
                                    </p:anim>
                                    <p:anim calcmode="lin" valueType="num">
                                      <p:cBhvr>
                                        <p:cTn id="58" dur="500" fill="hold"/>
                                        <p:tgtEl>
                                          <p:spTgt spid="299"/>
                                        </p:tgtEl>
                                        <p:attrNameLst>
                                          <p:attrName>ppt_h</p:attrName>
                                        </p:attrNameLst>
                                      </p:cBhvr>
                                      <p:tavLst>
                                        <p:tav tm="0">
                                          <p:val>
                                            <p:fltVal val="0"/>
                                          </p:val>
                                        </p:tav>
                                        <p:tav tm="100000">
                                          <p:val>
                                            <p:strVal val="#ppt_h"/>
                                          </p:val>
                                        </p:tav>
                                      </p:tavLst>
                                    </p:anim>
                                    <p:animEffect transition="in" filter="fade">
                                      <p:cBhvr>
                                        <p:cTn id="59" dur="500"/>
                                        <p:tgtEl>
                                          <p:spTgt spid="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5" grpId="0" animBg="1"/>
      <p:bldP spid="293" grpId="0" animBg="1"/>
      <p:bldP spid="294" grpId="0" animBg="1"/>
      <p:bldP spid="297" grpId="0" animBg="1"/>
      <p:bldP spid="298" grpId="0" animBg="1"/>
      <p:bldP spid="278" grpId="0" animBg="1"/>
      <p:bldP spid="299" grpId="0" animBg="1"/>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579967" y="634846"/>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3.</a:t>
            </a:r>
            <a:r>
              <a:rPr lang="zh-CN" altLang="en-US" sz="2800" b="1" dirty="0">
                <a:solidFill>
                  <a:srgbClr val="0000FF"/>
                </a:solidFill>
                <a:latin typeface="黑体" panose="02010609060101010101" pitchFamily="49" charset="-122"/>
                <a:ea typeface="黑体" panose="02010609060101010101" pitchFamily="49" charset="-122"/>
              </a:rPr>
              <a:t>根据状态转移真值表画状态转移图</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88" name="Picture 5" descr="B5-3-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92089" y="1200098"/>
            <a:ext cx="6993467" cy="2845588"/>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5" descr="5-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67" y="4137754"/>
            <a:ext cx="6234113" cy="267017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579968" y="1460500"/>
            <a:ext cx="1016000" cy="1815882"/>
          </a:xfrm>
          <a:prstGeom prst="rect">
            <a:avLst/>
          </a:prstGeom>
          <a:noFill/>
          <a:ln>
            <a:solidFill>
              <a:srgbClr val="3366FF"/>
            </a:solidFill>
          </a:ln>
        </p:spPr>
        <p:txBody>
          <a:bodyPr wrap="square" rtlCol="0">
            <a:spAutoFit/>
          </a:bodyPr>
          <a:lstStyle/>
          <a:p>
            <a:r>
              <a:rPr lang="zh-CN" altLang="en-US" sz="2800" b="1" dirty="0">
                <a:solidFill>
                  <a:srgbClr val="C00000"/>
                </a:solidFill>
                <a:latin typeface="黑体" panose="02010609060101010101" pitchFamily="49" charset="-122"/>
                <a:ea typeface="黑体" panose="02010609060101010101" pitchFamily="49" charset="-122"/>
              </a:rPr>
              <a:t>状态转移真值表</a:t>
            </a:r>
            <a:endParaRPr lang="zh-CN" altLang="en-US" sz="2800" b="1" dirty="0">
              <a:solidFill>
                <a:srgbClr val="C00000"/>
              </a:solidFill>
              <a:latin typeface="黑体" panose="02010609060101010101" pitchFamily="49" charset="-122"/>
              <a:ea typeface="黑体" panose="02010609060101010101" pitchFamily="49" charset="-122"/>
            </a:endParaRPr>
          </a:p>
        </p:txBody>
      </p:sp>
      <p:sp>
        <p:nvSpPr>
          <p:cNvPr id="93" name="文本框 92"/>
          <p:cNvSpPr txBox="1"/>
          <p:nvPr/>
        </p:nvSpPr>
        <p:spPr>
          <a:xfrm>
            <a:off x="579968" y="4593166"/>
            <a:ext cx="1016000" cy="1384995"/>
          </a:xfrm>
          <a:prstGeom prst="rect">
            <a:avLst/>
          </a:prstGeom>
          <a:noFill/>
          <a:ln>
            <a:solidFill>
              <a:srgbClr val="3366FF"/>
            </a:solidFill>
          </a:ln>
        </p:spPr>
        <p:txBody>
          <a:bodyPr wrap="square" rtlCol="0">
            <a:spAutoFit/>
          </a:bodyPr>
          <a:lstStyle/>
          <a:p>
            <a:r>
              <a:rPr lang="zh-CN" altLang="en-US" sz="2800" b="1" dirty="0">
                <a:solidFill>
                  <a:srgbClr val="C00000"/>
                </a:solidFill>
                <a:latin typeface="黑体" panose="02010609060101010101" pitchFamily="49" charset="-122"/>
                <a:ea typeface="黑体" panose="02010609060101010101" pitchFamily="49" charset="-122"/>
              </a:rPr>
              <a:t>状态转移图</a:t>
            </a:r>
            <a:endParaRPr lang="zh-CN" altLang="en-US" sz="2800" b="1" dirty="0">
              <a:solidFill>
                <a:srgbClr val="C00000"/>
              </a:solidFill>
              <a:latin typeface="黑体" panose="02010609060101010101" pitchFamily="49" charset="-122"/>
              <a:ea typeface="黑体" panose="02010609060101010101" pitchFamily="49" charset="-122"/>
            </a:endParaRPr>
          </a:p>
        </p:txBody>
      </p:sp>
      <p:graphicFrame>
        <p:nvGraphicFramePr>
          <p:cNvPr id="11" name="对象 10"/>
          <p:cNvGraphicFramePr>
            <a:graphicFrameLocks noChangeAspect="1"/>
          </p:cNvGraphicFramePr>
          <p:nvPr/>
        </p:nvGraphicFramePr>
        <p:xfrm>
          <a:off x="515019" y="3614597"/>
          <a:ext cx="1145897" cy="640354"/>
        </p:xfrm>
        <a:graphic>
          <a:graphicData uri="http://schemas.openxmlformats.org/presentationml/2006/ole">
            <mc:AlternateContent xmlns:mc="http://schemas.openxmlformats.org/markup-compatibility/2006">
              <mc:Choice xmlns:v="urn:schemas-microsoft-com:vml" Requires="v">
                <p:oleObj spid="_x0000_s9227" name="Equation" r:id="rId4" imgW="10363200" imgH="5791200" progId="Equation.DSMT4">
                  <p:embed/>
                </p:oleObj>
              </mc:Choice>
              <mc:Fallback>
                <p:oleObj name="Equation" r:id="rId4" imgW="10363200" imgH="5791200" progId="Equation.DSMT4">
                  <p:embed/>
                  <p:pic>
                    <p:nvPicPr>
                      <p:cNvPr id="0" name="图片 9226"/>
                      <p:cNvPicPr/>
                      <p:nvPr/>
                    </p:nvPicPr>
                    <p:blipFill>
                      <a:blip r:embed="rId5"/>
                      <a:stretch>
                        <a:fillRect/>
                      </a:stretch>
                    </p:blipFill>
                    <p:spPr>
                      <a:xfrm>
                        <a:off x="515019" y="3614597"/>
                        <a:ext cx="1145897" cy="640354"/>
                      </a:xfrm>
                      <a:prstGeom prst="rect">
                        <a:avLst/>
                      </a:prstGeom>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579967" y="634846"/>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4.</a:t>
            </a:r>
            <a:r>
              <a:rPr lang="zh-CN" altLang="en-US" sz="2800" b="1" dirty="0">
                <a:solidFill>
                  <a:srgbClr val="0000FF"/>
                </a:solidFill>
                <a:latin typeface="黑体" panose="02010609060101010101" pitchFamily="49" charset="-122"/>
                <a:ea typeface="黑体" panose="02010609060101010101" pitchFamily="49" charset="-122"/>
              </a:rPr>
              <a:t>根据状态转移图画时序图</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91" name="Picture 5" descr="5-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433" y="1150893"/>
            <a:ext cx="5971714" cy="2557785"/>
          </a:xfrm>
          <a:prstGeom prst="rect">
            <a:avLst/>
          </a:prstGeom>
          <a:noFill/>
          <a:extLst>
            <a:ext uri="{909E8E84-426E-40DD-AFC4-6F175D3DCCD1}">
              <a14:hiddenFill xmlns:a14="http://schemas.microsoft.com/office/drawing/2010/main">
                <a:solidFill>
                  <a:srgbClr val="FFFFFF"/>
                </a:solidFill>
              </a14:hiddenFill>
            </a:ext>
          </a:extLst>
        </p:spPr>
      </p:pic>
      <p:sp>
        <p:nvSpPr>
          <p:cNvPr id="93" name="文本框 92"/>
          <p:cNvSpPr txBox="1"/>
          <p:nvPr/>
        </p:nvSpPr>
        <p:spPr>
          <a:xfrm>
            <a:off x="639235" y="1633000"/>
            <a:ext cx="1016000" cy="1384995"/>
          </a:xfrm>
          <a:prstGeom prst="rect">
            <a:avLst/>
          </a:prstGeom>
          <a:noFill/>
          <a:ln>
            <a:solidFill>
              <a:srgbClr val="3366FF"/>
            </a:solidFill>
          </a:ln>
        </p:spPr>
        <p:txBody>
          <a:bodyPr wrap="square" rtlCol="0">
            <a:spAutoFit/>
          </a:bodyPr>
          <a:lstStyle/>
          <a:p>
            <a:r>
              <a:rPr lang="zh-CN" altLang="en-US" sz="2800" b="1" dirty="0">
                <a:solidFill>
                  <a:srgbClr val="C00000"/>
                </a:solidFill>
                <a:latin typeface="黑体" panose="02010609060101010101" pitchFamily="49" charset="-122"/>
                <a:ea typeface="黑体" panose="02010609060101010101" pitchFamily="49" charset="-122"/>
              </a:rPr>
              <a:t>状态转移图</a:t>
            </a:r>
            <a:endParaRPr lang="zh-CN" altLang="en-US" sz="2800" b="1" dirty="0">
              <a:solidFill>
                <a:srgbClr val="C00000"/>
              </a:solidFill>
              <a:latin typeface="黑体" panose="02010609060101010101" pitchFamily="49" charset="-122"/>
              <a:ea typeface="黑体" panose="02010609060101010101" pitchFamily="49" charset="-122"/>
            </a:endParaRPr>
          </a:p>
        </p:txBody>
      </p:sp>
      <p:pic>
        <p:nvPicPr>
          <p:cNvPr id="12" name="Picture 5" descr="5-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1633" y="3847763"/>
            <a:ext cx="6234113" cy="2909888"/>
          </a:xfrm>
          <a:prstGeom prst="rect">
            <a:avLst/>
          </a:prstGeom>
          <a:noFill/>
          <a:extLst>
            <a:ext uri="{909E8E84-426E-40DD-AFC4-6F175D3DCCD1}">
              <a14:hiddenFill xmlns:a14="http://schemas.microsoft.com/office/drawing/2010/main">
                <a:solidFill>
                  <a:srgbClr val="FFFFFF"/>
                </a:solidFill>
              </a14:hiddenFill>
            </a:ext>
          </a:extLst>
        </p:spPr>
      </p:pic>
      <p:sp>
        <p:nvSpPr>
          <p:cNvPr id="13" name="文本框 12"/>
          <p:cNvSpPr txBox="1"/>
          <p:nvPr/>
        </p:nvSpPr>
        <p:spPr>
          <a:xfrm>
            <a:off x="639235" y="4747946"/>
            <a:ext cx="1016000" cy="954107"/>
          </a:xfrm>
          <a:prstGeom prst="rect">
            <a:avLst/>
          </a:prstGeom>
          <a:noFill/>
          <a:ln>
            <a:solidFill>
              <a:srgbClr val="3366FF"/>
            </a:solidFill>
          </a:ln>
        </p:spPr>
        <p:txBody>
          <a:bodyPr wrap="square" rtlCol="0">
            <a:spAutoFit/>
          </a:bodyPr>
          <a:lstStyle/>
          <a:p>
            <a:r>
              <a:rPr lang="zh-CN" altLang="en-US" sz="2800" b="1" dirty="0">
                <a:solidFill>
                  <a:srgbClr val="C00000"/>
                </a:solidFill>
                <a:latin typeface="黑体" panose="02010609060101010101" pitchFamily="49" charset="-122"/>
                <a:ea typeface="黑体" panose="02010609060101010101" pitchFamily="49" charset="-122"/>
              </a:rPr>
              <a:t>时序图</a:t>
            </a:r>
            <a:endParaRPr lang="zh-CN" altLang="en-US" sz="2800" b="1" dirty="0">
              <a:solidFill>
                <a:srgbClr val="C00000"/>
              </a:solidFill>
              <a:latin typeface="黑体" panose="02010609060101010101" pitchFamily="49" charset="-122"/>
              <a:ea typeface="黑体" panose="02010609060101010101" pitchFamily="49" charset="-122"/>
            </a:endParaRPr>
          </a:p>
        </p:txBody>
      </p:sp>
      <p:cxnSp>
        <p:nvCxnSpPr>
          <p:cNvPr id="5" name="直接连接符 4"/>
          <p:cNvCxnSpPr/>
          <p:nvPr/>
        </p:nvCxnSpPr>
        <p:spPr>
          <a:xfrm>
            <a:off x="3456123" y="4304654"/>
            <a:ext cx="0" cy="2344119"/>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4507424" y="4304654"/>
            <a:ext cx="0" cy="2344119"/>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553560" y="4304654"/>
            <a:ext cx="0" cy="2344119"/>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6603571" y="4340817"/>
            <a:ext cx="0" cy="2344119"/>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7649706" y="4304654"/>
            <a:ext cx="0" cy="2344119"/>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064146" y="6125553"/>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21" name="文本框 20"/>
          <p:cNvSpPr txBox="1"/>
          <p:nvPr/>
        </p:nvSpPr>
        <p:spPr>
          <a:xfrm>
            <a:off x="3064146" y="5374746"/>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22" name="文本框 21"/>
          <p:cNvSpPr txBox="1"/>
          <p:nvPr/>
        </p:nvSpPr>
        <p:spPr>
          <a:xfrm>
            <a:off x="3064146" y="4631689"/>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27" name="文本框 26"/>
          <p:cNvSpPr txBox="1"/>
          <p:nvPr/>
        </p:nvSpPr>
        <p:spPr>
          <a:xfrm>
            <a:off x="3480190" y="6125553"/>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28" name="文本框 27"/>
          <p:cNvSpPr txBox="1"/>
          <p:nvPr/>
        </p:nvSpPr>
        <p:spPr>
          <a:xfrm>
            <a:off x="3480190" y="5374746"/>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29" name="文本框 28"/>
          <p:cNvSpPr txBox="1"/>
          <p:nvPr/>
        </p:nvSpPr>
        <p:spPr>
          <a:xfrm>
            <a:off x="3480190" y="4631689"/>
            <a:ext cx="263470" cy="523220"/>
          </a:xfrm>
          <a:prstGeom prst="rect">
            <a:avLst/>
          </a:prstGeom>
          <a:noFill/>
        </p:spPr>
        <p:txBody>
          <a:bodyPr wrap="square" rtlCol="0">
            <a:spAutoFit/>
          </a:bodyPr>
          <a:lstStyle/>
          <a:p>
            <a:r>
              <a:rPr lang="en-US" altLang="zh-CN" sz="2800" b="1" dirty="0">
                <a:solidFill>
                  <a:srgbClr val="FF0000"/>
                </a:solidFill>
              </a:rPr>
              <a:t>1</a:t>
            </a:r>
            <a:endParaRPr lang="zh-CN" altLang="en-US" sz="2800" b="1" dirty="0">
              <a:solidFill>
                <a:srgbClr val="FF0000"/>
              </a:solidFill>
            </a:endParaRPr>
          </a:p>
        </p:txBody>
      </p:sp>
      <p:sp>
        <p:nvSpPr>
          <p:cNvPr id="14" name="椭圆 13"/>
          <p:cNvSpPr/>
          <p:nvPr/>
        </p:nvSpPr>
        <p:spPr>
          <a:xfrm>
            <a:off x="3743660" y="1250169"/>
            <a:ext cx="661733" cy="636750"/>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p:cNvCxnSpPr/>
          <p:nvPr/>
        </p:nvCxnSpPr>
        <p:spPr>
          <a:xfrm>
            <a:off x="4544878" y="1628857"/>
            <a:ext cx="732295" cy="0"/>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椭圆 32"/>
          <p:cNvSpPr/>
          <p:nvPr/>
        </p:nvSpPr>
        <p:spPr>
          <a:xfrm>
            <a:off x="5387780" y="1232079"/>
            <a:ext cx="661733" cy="636750"/>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箭头连接符 33"/>
          <p:cNvCxnSpPr/>
          <p:nvPr/>
        </p:nvCxnSpPr>
        <p:spPr>
          <a:xfrm>
            <a:off x="6293612" y="1641767"/>
            <a:ext cx="732295" cy="0"/>
          </a:xfrm>
          <a:prstGeom prst="straightConnector1">
            <a:avLst/>
          </a:prstGeom>
          <a:ln w="444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椭圆 34"/>
          <p:cNvSpPr/>
          <p:nvPr/>
        </p:nvSpPr>
        <p:spPr>
          <a:xfrm>
            <a:off x="7136514" y="1244989"/>
            <a:ext cx="661733" cy="636750"/>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4473375" y="6072601"/>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37" name="文本框 36"/>
          <p:cNvSpPr txBox="1"/>
          <p:nvPr/>
        </p:nvSpPr>
        <p:spPr>
          <a:xfrm>
            <a:off x="4473375" y="5321794"/>
            <a:ext cx="263470" cy="523220"/>
          </a:xfrm>
          <a:prstGeom prst="rect">
            <a:avLst/>
          </a:prstGeom>
          <a:noFill/>
        </p:spPr>
        <p:txBody>
          <a:bodyPr wrap="square" rtlCol="0">
            <a:spAutoFit/>
          </a:bodyPr>
          <a:lstStyle/>
          <a:p>
            <a:r>
              <a:rPr lang="en-US" altLang="zh-CN" sz="2800" b="1" dirty="0">
                <a:solidFill>
                  <a:srgbClr val="FF0000"/>
                </a:solidFill>
              </a:rPr>
              <a:t>1</a:t>
            </a:r>
            <a:endParaRPr lang="zh-CN" altLang="en-US" sz="2800" b="1" dirty="0">
              <a:solidFill>
                <a:srgbClr val="FF0000"/>
              </a:solidFill>
            </a:endParaRPr>
          </a:p>
        </p:txBody>
      </p:sp>
      <p:sp>
        <p:nvSpPr>
          <p:cNvPr id="38" name="文本框 37"/>
          <p:cNvSpPr txBox="1"/>
          <p:nvPr/>
        </p:nvSpPr>
        <p:spPr>
          <a:xfrm>
            <a:off x="4473375" y="4578737"/>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39" name="文本框 38"/>
          <p:cNvSpPr txBox="1"/>
          <p:nvPr/>
        </p:nvSpPr>
        <p:spPr>
          <a:xfrm>
            <a:off x="7198008" y="6136164"/>
            <a:ext cx="263470" cy="523220"/>
          </a:xfrm>
          <a:prstGeom prst="rect">
            <a:avLst/>
          </a:prstGeom>
          <a:noFill/>
        </p:spPr>
        <p:txBody>
          <a:bodyPr wrap="square" rtlCol="0">
            <a:spAutoFit/>
          </a:bodyPr>
          <a:lstStyle/>
          <a:p>
            <a:r>
              <a:rPr lang="en-US" altLang="zh-CN" sz="2800" b="1" dirty="0">
                <a:solidFill>
                  <a:srgbClr val="FF0000"/>
                </a:solidFill>
              </a:rPr>
              <a:t>1</a:t>
            </a:r>
            <a:endParaRPr lang="zh-CN" altLang="en-US" sz="2800" b="1" dirty="0">
              <a:solidFill>
                <a:srgbClr val="FF0000"/>
              </a:solidFill>
            </a:endParaRPr>
          </a:p>
        </p:txBody>
      </p:sp>
      <p:sp>
        <p:nvSpPr>
          <p:cNvPr id="40" name="文本框 39"/>
          <p:cNvSpPr txBox="1"/>
          <p:nvPr/>
        </p:nvSpPr>
        <p:spPr>
          <a:xfrm>
            <a:off x="7198008" y="5385357"/>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41" name="文本框 40"/>
          <p:cNvSpPr txBox="1"/>
          <p:nvPr/>
        </p:nvSpPr>
        <p:spPr>
          <a:xfrm>
            <a:off x="7198008" y="4642300"/>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42" name="文本框 41"/>
          <p:cNvSpPr txBox="1"/>
          <p:nvPr/>
        </p:nvSpPr>
        <p:spPr>
          <a:xfrm>
            <a:off x="7664585" y="6126840"/>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43" name="文本框 42"/>
          <p:cNvSpPr txBox="1"/>
          <p:nvPr/>
        </p:nvSpPr>
        <p:spPr>
          <a:xfrm>
            <a:off x="7664585" y="5376033"/>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44" name="文本框 43"/>
          <p:cNvSpPr txBox="1"/>
          <p:nvPr/>
        </p:nvSpPr>
        <p:spPr>
          <a:xfrm>
            <a:off x="7664585" y="4632976"/>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45" name="文本框 44"/>
          <p:cNvSpPr txBox="1"/>
          <p:nvPr/>
        </p:nvSpPr>
        <p:spPr>
          <a:xfrm>
            <a:off x="5880375" y="6061064"/>
            <a:ext cx="263470" cy="523220"/>
          </a:xfrm>
          <a:prstGeom prst="rect">
            <a:avLst/>
          </a:prstGeom>
          <a:noFill/>
        </p:spPr>
        <p:txBody>
          <a:bodyPr wrap="square" rtlCol="0">
            <a:spAutoFit/>
          </a:bodyPr>
          <a:lstStyle/>
          <a:p>
            <a:r>
              <a:rPr lang="en-US" altLang="zh-CN" sz="2800" b="1" dirty="0">
                <a:solidFill>
                  <a:srgbClr val="FF0000"/>
                </a:solidFill>
              </a:rPr>
              <a:t>0</a:t>
            </a:r>
            <a:endParaRPr lang="zh-CN" altLang="en-US" sz="2800" b="1" dirty="0">
              <a:solidFill>
                <a:srgbClr val="FF0000"/>
              </a:solidFill>
            </a:endParaRPr>
          </a:p>
        </p:txBody>
      </p:sp>
      <p:sp>
        <p:nvSpPr>
          <p:cNvPr id="46" name="文本框 45"/>
          <p:cNvSpPr txBox="1"/>
          <p:nvPr/>
        </p:nvSpPr>
        <p:spPr>
          <a:xfrm>
            <a:off x="5880375" y="5310257"/>
            <a:ext cx="263470" cy="523220"/>
          </a:xfrm>
          <a:prstGeom prst="rect">
            <a:avLst/>
          </a:prstGeom>
          <a:noFill/>
        </p:spPr>
        <p:txBody>
          <a:bodyPr wrap="square" rtlCol="0">
            <a:spAutoFit/>
          </a:bodyPr>
          <a:lstStyle/>
          <a:p>
            <a:r>
              <a:rPr lang="en-US" altLang="zh-CN" sz="2800" b="1" dirty="0">
                <a:solidFill>
                  <a:srgbClr val="FF0000"/>
                </a:solidFill>
              </a:rPr>
              <a:t>1</a:t>
            </a:r>
            <a:endParaRPr lang="zh-CN" altLang="en-US" sz="2800" b="1" dirty="0">
              <a:solidFill>
                <a:srgbClr val="FF0000"/>
              </a:solidFill>
            </a:endParaRPr>
          </a:p>
        </p:txBody>
      </p:sp>
      <p:sp>
        <p:nvSpPr>
          <p:cNvPr id="47" name="文本框 46"/>
          <p:cNvSpPr txBox="1"/>
          <p:nvPr/>
        </p:nvSpPr>
        <p:spPr>
          <a:xfrm>
            <a:off x="5880375" y="4567200"/>
            <a:ext cx="263470" cy="523220"/>
          </a:xfrm>
          <a:prstGeom prst="rect">
            <a:avLst/>
          </a:prstGeom>
          <a:noFill/>
        </p:spPr>
        <p:txBody>
          <a:bodyPr wrap="square" rtlCol="0">
            <a:spAutoFit/>
          </a:bodyPr>
          <a:lstStyle/>
          <a:p>
            <a:r>
              <a:rPr lang="en-US" altLang="zh-CN" sz="2800" b="1" dirty="0">
                <a:solidFill>
                  <a:srgbClr val="FF0000"/>
                </a:solidFill>
              </a:rPr>
              <a:t>1</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circle(in)">
                                      <p:cBhvr>
                                        <p:cTn id="18" dur="20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wipe(left)">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circle(in)">
                                      <p:cBhvr>
                                        <p:cTn id="28" dur="20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8"/>
                                        </p:tgtEl>
                                        <p:attrNameLst>
                                          <p:attrName>style.visibility</p:attrName>
                                        </p:attrNameLst>
                                      </p:cBhvr>
                                      <p:to>
                                        <p:strVal val="visible"/>
                                      </p:to>
                                    </p:set>
                                    <p:animEffect transition="in" filter="fade">
                                      <p:cBhvr>
                                        <p:cTn id="36" dur="500"/>
                                        <p:tgtEl>
                                          <p:spTgt spid="2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500"/>
                                        <p:tgtEl>
                                          <p:spTgt spid="2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wipe(left)">
                                      <p:cBhvr>
                                        <p:cTn id="44" dur="500"/>
                                        <p:tgtEl>
                                          <p:spTgt spid="34"/>
                                        </p:tgtEl>
                                      </p:cBhvr>
                                    </p:animEffect>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35"/>
                                        </p:tgtEl>
                                        <p:attrNameLst>
                                          <p:attrName>style.visibility</p:attrName>
                                        </p:attrNameLst>
                                      </p:cBhvr>
                                      <p:to>
                                        <p:strVal val="visible"/>
                                      </p:to>
                                    </p:set>
                                    <p:animEffect transition="in" filter="circle(in)">
                                      <p:cBhvr>
                                        <p:cTn id="49" dur="2000"/>
                                        <p:tgtEl>
                                          <p:spTgt spid="35"/>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500"/>
                                        <p:tgtEl>
                                          <p:spTgt spid="37"/>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fade">
                                      <p:cBhvr>
                                        <p:cTn id="60" dur="500"/>
                                        <p:tgtEl>
                                          <p:spTgt spid="36"/>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fade">
                                      <p:cBhvr>
                                        <p:cTn id="65" dur="500"/>
                                        <p:tgtEl>
                                          <p:spTgt spid="4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46"/>
                                        </p:tgtEl>
                                        <p:attrNameLst>
                                          <p:attrName>style.visibility</p:attrName>
                                        </p:attrNameLst>
                                      </p:cBhvr>
                                      <p:to>
                                        <p:strVal val="visible"/>
                                      </p:to>
                                    </p:set>
                                    <p:animEffect transition="in" filter="fade">
                                      <p:cBhvr>
                                        <p:cTn id="68" dur="500"/>
                                        <p:tgtEl>
                                          <p:spTgt spid="46"/>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45"/>
                                        </p:tgtEl>
                                        <p:attrNameLst>
                                          <p:attrName>style.visibility</p:attrName>
                                        </p:attrNameLst>
                                      </p:cBhvr>
                                      <p:to>
                                        <p:strVal val="visible"/>
                                      </p:to>
                                    </p:set>
                                    <p:animEffect transition="in" filter="fade">
                                      <p:cBhvr>
                                        <p:cTn id="71" dur="500"/>
                                        <p:tgtEl>
                                          <p:spTgt spid="4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1"/>
                                        </p:tgtEl>
                                        <p:attrNameLst>
                                          <p:attrName>style.visibility</p:attrName>
                                        </p:attrNameLst>
                                      </p:cBhvr>
                                      <p:to>
                                        <p:strVal val="visible"/>
                                      </p:to>
                                    </p:set>
                                    <p:animEffect transition="in" filter="fade">
                                      <p:cBhvr>
                                        <p:cTn id="76" dur="500"/>
                                        <p:tgtEl>
                                          <p:spTgt spid="4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0"/>
                                        </p:tgtEl>
                                        <p:attrNameLst>
                                          <p:attrName>style.visibility</p:attrName>
                                        </p:attrNameLst>
                                      </p:cBhvr>
                                      <p:to>
                                        <p:strVal val="visible"/>
                                      </p:to>
                                    </p:set>
                                    <p:animEffect transition="in" filter="fade">
                                      <p:cBhvr>
                                        <p:cTn id="79" dur="500"/>
                                        <p:tgtEl>
                                          <p:spTgt spid="4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9"/>
                                        </p:tgtEl>
                                        <p:attrNameLst>
                                          <p:attrName>style.visibility</p:attrName>
                                        </p:attrNameLst>
                                      </p:cBhvr>
                                      <p:to>
                                        <p:strVal val="visible"/>
                                      </p:to>
                                    </p:set>
                                    <p:animEffect transition="in" filter="fade">
                                      <p:cBhvr>
                                        <p:cTn id="82" dur="500"/>
                                        <p:tgtEl>
                                          <p:spTgt spid="3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fade">
                                      <p:cBhvr>
                                        <p:cTn id="87" dur="500"/>
                                        <p:tgtEl>
                                          <p:spTgt spid="4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43"/>
                                        </p:tgtEl>
                                        <p:attrNameLst>
                                          <p:attrName>style.visibility</p:attrName>
                                        </p:attrNameLst>
                                      </p:cBhvr>
                                      <p:to>
                                        <p:strVal val="visible"/>
                                      </p:to>
                                    </p:set>
                                    <p:animEffect transition="in" filter="fade">
                                      <p:cBhvr>
                                        <p:cTn id="90" dur="500"/>
                                        <p:tgtEl>
                                          <p:spTgt spid="4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fade">
                                      <p:cBhvr>
                                        <p:cTn id="9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P spid="22" grpId="0"/>
      <p:bldP spid="27" grpId="0"/>
      <p:bldP spid="28" grpId="0"/>
      <p:bldP spid="29" grpId="0"/>
      <p:bldP spid="14" grpId="0" animBg="1"/>
      <p:bldP spid="33" grpId="0" animBg="1"/>
      <p:bldP spid="35" grpId="0" animBg="1"/>
      <p:bldP spid="36" grpId="0"/>
      <p:bldP spid="37" grpId="0"/>
      <p:bldP spid="38" grpId="0"/>
      <p:bldP spid="39" grpId="0"/>
      <p:bldP spid="40" grpId="0"/>
      <p:bldP spid="41" grpId="0"/>
      <p:bldP spid="42" grpId="0"/>
      <p:bldP spid="43" grpId="0"/>
      <p:bldP spid="44" grpId="0"/>
      <p:bldP spid="45" grpId="0"/>
      <p:bldP spid="46" grpId="0"/>
      <p:bldP spid="47"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579967" y="634846"/>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5.</a:t>
            </a:r>
            <a:r>
              <a:rPr lang="zh-CN" altLang="en-US" sz="2800" b="1" dirty="0">
                <a:solidFill>
                  <a:srgbClr val="0000FF"/>
                </a:solidFill>
                <a:latin typeface="黑体" panose="02010609060101010101" pitchFamily="49" charset="-122"/>
                <a:ea typeface="黑体" panose="02010609060101010101" pitchFamily="49" charset="-122"/>
              </a:rPr>
              <a:t>检查电路能否重启动</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3" name="文本框 2"/>
          <p:cNvSpPr txBox="1"/>
          <p:nvPr/>
        </p:nvSpPr>
        <p:spPr>
          <a:xfrm>
            <a:off x="765932" y="1250169"/>
            <a:ext cx="7338448" cy="954107"/>
          </a:xfrm>
          <a:prstGeom prst="rect">
            <a:avLst/>
          </a:prstGeom>
          <a:noFill/>
          <a:ln>
            <a:solidFill>
              <a:srgbClr val="FF0000"/>
            </a:solidFill>
          </a:ln>
        </p:spPr>
        <p:txBody>
          <a:bodyPr wrap="square" rtlCol="0">
            <a:spAutoFit/>
          </a:bodyPr>
          <a:lstStyle/>
          <a:p>
            <a:r>
              <a:rPr lang="zh-CN" altLang="en-US" sz="2800" b="1" dirty="0">
                <a:latin typeface="黑体" panose="02010609060101010101" pitchFamily="49" charset="-122"/>
                <a:ea typeface="黑体" panose="02010609060101010101" pitchFamily="49" charset="-122"/>
              </a:rPr>
              <a:t>检查电路能否从</a:t>
            </a:r>
            <a:r>
              <a:rPr lang="zh-CN" altLang="en-US" sz="2800" b="1" dirty="0">
                <a:solidFill>
                  <a:srgbClr val="FF0000"/>
                </a:solidFill>
                <a:latin typeface="黑体" panose="02010609060101010101" pitchFamily="49" charset="-122"/>
                <a:ea typeface="黑体" panose="02010609060101010101" pitchFamily="49" charset="-122"/>
              </a:rPr>
              <a:t>非工作状态</a:t>
            </a:r>
            <a:r>
              <a:rPr lang="zh-CN" altLang="en-US" sz="2800" b="1" dirty="0">
                <a:latin typeface="黑体" panose="02010609060101010101" pitchFamily="49" charset="-122"/>
                <a:ea typeface="黑体" panose="02010609060101010101" pitchFamily="49" charset="-122"/>
              </a:rPr>
              <a:t>（未出现在状态转移真值表中的状态）</a:t>
            </a:r>
            <a:r>
              <a:rPr lang="zh-CN" altLang="en-US" sz="2800" b="1" dirty="0">
                <a:solidFill>
                  <a:srgbClr val="FF0000"/>
                </a:solidFill>
                <a:latin typeface="黑体" panose="02010609060101010101" pitchFamily="49" charset="-122"/>
                <a:ea typeface="黑体" panose="02010609060101010101" pitchFamily="49" charset="-122"/>
              </a:rPr>
              <a:t>进入工作状态</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10" name="矩形 9"/>
          <p:cNvSpPr/>
          <p:nvPr/>
        </p:nvSpPr>
        <p:spPr>
          <a:xfrm>
            <a:off x="765932" y="2400856"/>
            <a:ext cx="5594801" cy="954107"/>
          </a:xfrm>
          <a:prstGeom prst="rect">
            <a:avLst/>
          </a:prstGeom>
        </p:spPr>
        <p:txBody>
          <a:bodyPr wrap="none">
            <a:spAutoFit/>
          </a:bodyPr>
          <a:lstStyle/>
          <a:p>
            <a:r>
              <a:rPr lang="zh-CN" altLang="en-US" sz="2800" b="1" dirty="0">
                <a:latin typeface="黑体" panose="02010609060101010101" pitchFamily="49" charset="-122"/>
                <a:ea typeface="黑体" panose="02010609060101010101" pitchFamily="49" charset="-122"/>
              </a:rPr>
              <a:t>非工作状态：</a:t>
            </a:r>
            <a:r>
              <a:rPr lang="en-US" altLang="zh-CN" sz="2800" b="1" dirty="0">
                <a:solidFill>
                  <a:srgbClr val="FF0000"/>
                </a:solidFill>
                <a:latin typeface="黑体" panose="02010609060101010101" pitchFamily="49" charset="-122"/>
                <a:ea typeface="黑体" panose="02010609060101010101" pitchFamily="49" charset="-122"/>
              </a:rPr>
              <a:t>101,110,111</a:t>
            </a:r>
            <a:endParaRPr lang="en-US" altLang="zh-CN" sz="2800" b="1" dirty="0">
              <a:solidFill>
                <a:srgbClr val="FF0000"/>
              </a:solidFill>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分别代入次态方程组和输出方程：</a:t>
            </a:r>
            <a:endParaRPr lang="zh-CN" altLang="en-US" dirty="0"/>
          </a:p>
        </p:txBody>
      </p:sp>
      <p:graphicFrame>
        <p:nvGraphicFramePr>
          <p:cNvPr id="48" name="Object 6"/>
          <p:cNvGraphicFramePr>
            <a:graphicFrameLocks noChangeAspect="1"/>
          </p:cNvGraphicFramePr>
          <p:nvPr/>
        </p:nvGraphicFramePr>
        <p:xfrm>
          <a:off x="440468" y="3408143"/>
          <a:ext cx="4050057" cy="2069687"/>
        </p:xfrm>
        <a:graphic>
          <a:graphicData uri="http://schemas.openxmlformats.org/presentationml/2006/ole">
            <mc:AlternateContent xmlns:mc="http://schemas.openxmlformats.org/markup-compatibility/2006">
              <mc:Choice xmlns:v="urn:schemas-microsoft-com:vml" Requires="v">
                <p:oleObj spid="_x0000_s10287" name="Equation" r:id="rId2" imgW="2336800" imgH="1193800" progId="Equation.DSMT4">
                  <p:embed/>
                </p:oleObj>
              </mc:Choice>
              <mc:Fallback>
                <p:oleObj name="Equation" r:id="rId2" imgW="2336800" imgH="1193800" progId="Equation.DSMT4">
                  <p:embed/>
                  <p:pic>
                    <p:nvPicPr>
                      <p:cNvPr id="0" name="Object 6"/>
                      <p:cNvPicPr preferRelativeResize="0">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0468" y="3408143"/>
                        <a:ext cx="4050057" cy="2069687"/>
                      </a:xfrm>
                      <a:prstGeom prst="rect">
                        <a:avLst/>
                      </a:prstGeom>
                      <a:noFill/>
                      <a:ln>
                        <a:noFill/>
                      </a:ln>
                      <a:effectLst/>
                    </p:spPr>
                  </p:pic>
                </p:oleObj>
              </mc:Fallback>
            </mc:AlternateContent>
          </a:graphicData>
        </a:graphic>
      </p:graphicFrame>
      <p:graphicFrame>
        <p:nvGraphicFramePr>
          <p:cNvPr id="66" name="表格 65"/>
          <p:cNvGraphicFramePr>
            <a:graphicFrameLocks noGrp="1"/>
          </p:cNvGraphicFramePr>
          <p:nvPr/>
        </p:nvGraphicFramePr>
        <p:xfrm>
          <a:off x="4825355" y="3362292"/>
          <a:ext cx="4047490" cy="2011680"/>
        </p:xfrm>
        <a:graphic>
          <a:graphicData uri="http://schemas.openxmlformats.org/drawingml/2006/table">
            <a:tbl>
              <a:tblPr firstRow="1" firstCol="1" bandRow="1"/>
              <a:tblGrid>
                <a:gridCol w="1755775"/>
                <a:gridCol w="1873195"/>
                <a:gridCol w="418520"/>
              </a:tblGrid>
              <a:tr h="0">
                <a:tc>
                  <a:txBody>
                    <a:bodyPr/>
                    <a:lstStyle/>
                    <a:p>
                      <a:pPr algn="just">
                        <a:spcAft>
                          <a:spcPts val="0"/>
                        </a:spcAft>
                      </a:pP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4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1     0    1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0     1     0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1     1    0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0     1     0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1</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1     1    1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0     0     0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67" name="对象 66"/>
          <p:cNvGraphicFramePr>
            <a:graphicFrameLocks noChangeAspect="1"/>
          </p:cNvGraphicFramePr>
          <p:nvPr/>
        </p:nvGraphicFramePr>
        <p:xfrm>
          <a:off x="4844180" y="3434844"/>
          <a:ext cx="1761712" cy="588936"/>
        </p:xfrm>
        <a:graphic>
          <a:graphicData uri="http://schemas.openxmlformats.org/presentationml/2006/ole">
            <mc:AlternateContent xmlns:mc="http://schemas.openxmlformats.org/markup-compatibility/2006">
              <mc:Choice xmlns:v="urn:schemas-microsoft-com:vml" Requires="v">
                <p:oleObj spid="_x0000_s10288" name="Equation" r:id="rId4" imgW="17068800" imgH="5791200" progId="Equation.DSMT4">
                  <p:embed/>
                </p:oleObj>
              </mc:Choice>
              <mc:Fallback>
                <p:oleObj name="Equation" r:id="rId4" imgW="17068800" imgH="5791200" progId="Equation.DSMT4">
                  <p:embed/>
                  <p:pic>
                    <p:nvPicPr>
                      <p:cNvPr id="0" name="Object 23"/>
                      <p:cNvPicPr>
                        <a:picLocks noChangeAspect="1" noChangeArrowheads="1"/>
                      </p:cNvPicPr>
                      <p:nvPr/>
                    </p:nvPicPr>
                    <p:blipFill>
                      <a:blip r:embed="rId5"/>
                      <a:srcRect/>
                      <a:stretch>
                        <a:fillRect/>
                      </a:stretch>
                    </p:blipFill>
                    <p:spPr bwMode="auto">
                      <a:xfrm>
                        <a:off x="4844180" y="3434844"/>
                        <a:ext cx="1761712" cy="588936"/>
                      </a:xfrm>
                      <a:prstGeom prst="rect">
                        <a:avLst/>
                      </a:prstGeom>
                      <a:noFill/>
                    </p:spPr>
                  </p:pic>
                </p:oleObj>
              </mc:Fallback>
            </mc:AlternateContent>
          </a:graphicData>
        </a:graphic>
      </p:graphicFrame>
      <p:graphicFrame>
        <p:nvGraphicFramePr>
          <p:cNvPr id="68" name="对象 67"/>
          <p:cNvGraphicFramePr>
            <a:graphicFrameLocks noChangeAspect="1"/>
          </p:cNvGraphicFramePr>
          <p:nvPr/>
        </p:nvGraphicFramePr>
        <p:xfrm>
          <a:off x="6572050" y="3489928"/>
          <a:ext cx="1854486" cy="504759"/>
        </p:xfrm>
        <a:graphic>
          <a:graphicData uri="http://schemas.openxmlformats.org/presentationml/2006/ole">
            <mc:AlternateContent xmlns:mc="http://schemas.openxmlformats.org/markup-compatibility/2006">
              <mc:Choice xmlns:v="urn:schemas-microsoft-com:vml" Requires="v">
                <p:oleObj spid="_x0000_s10289" name="Equation" r:id="rId6" imgW="21336000" imgH="5791200" progId="Equation.DSMT4">
                  <p:embed/>
                </p:oleObj>
              </mc:Choice>
              <mc:Fallback>
                <p:oleObj name="Equation" r:id="rId6" imgW="21336000" imgH="5791200" progId="Equation.DSMT4">
                  <p:embed/>
                  <p:pic>
                    <p:nvPicPr>
                      <p:cNvPr id="0" name="Object 22"/>
                      <p:cNvPicPr>
                        <a:picLocks noChangeAspect="1" noChangeArrowheads="1"/>
                      </p:cNvPicPr>
                      <p:nvPr/>
                    </p:nvPicPr>
                    <p:blipFill>
                      <a:blip r:embed="rId7"/>
                      <a:srcRect/>
                      <a:stretch>
                        <a:fillRect/>
                      </a:stretch>
                    </p:blipFill>
                    <p:spPr bwMode="auto">
                      <a:xfrm>
                        <a:off x="6572050" y="3489928"/>
                        <a:ext cx="1854486" cy="504759"/>
                      </a:xfrm>
                      <a:prstGeom prst="rect">
                        <a:avLst/>
                      </a:prstGeom>
                      <a:noFill/>
                    </p:spPr>
                  </p:pic>
                </p:oleObj>
              </mc:Fallback>
            </mc:AlternateContent>
          </a:graphicData>
        </a:graphic>
      </p:graphicFrame>
      <p:graphicFrame>
        <p:nvGraphicFramePr>
          <p:cNvPr id="69" name="对象 68"/>
          <p:cNvGraphicFramePr>
            <a:graphicFrameLocks noChangeAspect="1"/>
          </p:cNvGraphicFramePr>
          <p:nvPr/>
        </p:nvGraphicFramePr>
        <p:xfrm>
          <a:off x="8498453" y="3553591"/>
          <a:ext cx="276225" cy="300037"/>
        </p:xfrm>
        <a:graphic>
          <a:graphicData uri="http://schemas.openxmlformats.org/presentationml/2006/ole">
            <mc:AlternateContent xmlns:mc="http://schemas.openxmlformats.org/markup-compatibility/2006">
              <mc:Choice xmlns:v="urn:schemas-microsoft-com:vml" Requires="v">
                <p:oleObj spid="_x0000_s10290" name="Equation" r:id="rId8" imgW="152400" imgH="165100" progId="Equation.DSMT4">
                  <p:embed/>
                </p:oleObj>
              </mc:Choice>
              <mc:Fallback>
                <p:oleObj name="Equation" r:id="rId8" imgW="152400" imgH="165100" progId="Equation.DSMT4">
                  <p:embed/>
                  <p:pic>
                    <p:nvPicPr>
                      <p:cNvPr id="0"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98453" y="3553591"/>
                        <a:ext cx="276225" cy="300037"/>
                      </a:xfrm>
                      <a:prstGeom prst="rect">
                        <a:avLst/>
                      </a:prstGeom>
                      <a:noFill/>
                    </p:spPr>
                  </p:pic>
                </p:oleObj>
              </mc:Fallback>
            </mc:AlternateContent>
          </a:graphicData>
        </a:graphic>
      </p:graphicFrame>
      <p:sp>
        <p:nvSpPr>
          <p:cNvPr id="70" name="矩形 69"/>
          <p:cNvSpPr/>
          <p:nvPr/>
        </p:nvSpPr>
        <p:spPr>
          <a:xfrm>
            <a:off x="6605892" y="4127101"/>
            <a:ext cx="1761712" cy="12910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对话气泡: 矩形 70"/>
          <p:cNvSpPr/>
          <p:nvPr/>
        </p:nvSpPr>
        <p:spPr>
          <a:xfrm>
            <a:off x="4572000" y="5773126"/>
            <a:ext cx="4382320" cy="914388"/>
          </a:xfrm>
          <a:prstGeom prst="wedgeRectCallout">
            <a:avLst>
              <a:gd name="adj1" fmla="val 12210"/>
              <a:gd name="adj2" fmla="val -89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0000FF"/>
                </a:solidFill>
              </a:rPr>
              <a:t>电路可以由非工作状态进入工作状态，故可以自启</a:t>
            </a:r>
            <a:endParaRPr lang="zh-CN" altLang="en-US" sz="2800" b="1" dirty="0">
              <a:solidFill>
                <a:srgbClr val="0000FF"/>
              </a:solidFill>
            </a:endParaRPr>
          </a:p>
        </p:txBody>
      </p:sp>
      <p:pic>
        <p:nvPicPr>
          <p:cNvPr id="138245" name="Picture 5"/>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38244" name="Picture 4"/>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38243" name="Picture 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38248" name="Picture 8"/>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38247" name="Picture 7"/>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38246" name="Picture 6"/>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38254" name="Picture 1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38253" name="Picture 13"/>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38252" name="Picture 1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38257" name="Picture 1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38256" name="Picture 16"/>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38255" name="Picture 15"/>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38260" name="Picture 20"/>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38259" name="Picture 19"/>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38258" name="Picture 18"/>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1" name="对象 30"/>
          <p:cNvGraphicFramePr>
            <a:graphicFrameLocks noChangeAspect="1"/>
          </p:cNvGraphicFramePr>
          <p:nvPr/>
        </p:nvGraphicFramePr>
        <p:xfrm>
          <a:off x="1059745" y="5662290"/>
          <a:ext cx="1145897" cy="640354"/>
        </p:xfrm>
        <a:graphic>
          <a:graphicData uri="http://schemas.openxmlformats.org/presentationml/2006/ole">
            <mc:AlternateContent xmlns:mc="http://schemas.openxmlformats.org/markup-compatibility/2006">
              <mc:Choice xmlns:v="urn:schemas-microsoft-com:vml" Requires="v">
                <p:oleObj spid="_x0000_s10291" name="Equation" r:id="rId13" imgW="10363200" imgH="5791200" progId="Equation.DSMT4">
                  <p:embed/>
                </p:oleObj>
              </mc:Choice>
              <mc:Fallback>
                <p:oleObj name="Equation" r:id="rId13" imgW="10363200" imgH="5791200" progId="Equation.DSMT4">
                  <p:embed/>
                  <p:pic>
                    <p:nvPicPr>
                      <p:cNvPr id="0" name="图片 10290"/>
                      <p:cNvPicPr/>
                      <p:nvPr/>
                    </p:nvPicPr>
                    <p:blipFill>
                      <a:blip r:embed="rId14"/>
                      <a:stretch>
                        <a:fillRect/>
                      </a:stretch>
                    </p:blipFill>
                    <p:spPr>
                      <a:xfrm>
                        <a:off x="1059745" y="5662290"/>
                        <a:ext cx="1145897" cy="640354"/>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10"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5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fade">
                                      <p:cBhvr>
                                        <p:cTn id="20" dur="500"/>
                                        <p:tgtEl>
                                          <p:spTgt spid="66"/>
                                        </p:tgtEl>
                                      </p:cBhvr>
                                    </p:animEffect>
                                  </p:childTnLst>
                                </p:cTn>
                              </p:par>
                              <p:par>
                                <p:cTn id="21" presetID="10" presetClass="entr" presetSubtype="0" fill="hold" nodeType="withEffect">
                                  <p:stCondLst>
                                    <p:cond delay="0"/>
                                  </p:stCondLst>
                                  <p:childTnLst>
                                    <p:set>
                                      <p:cBhvr>
                                        <p:cTn id="22" dur="1" fill="hold">
                                          <p:stCondLst>
                                            <p:cond delay="0"/>
                                          </p:stCondLst>
                                        </p:cTn>
                                        <p:tgtEl>
                                          <p:spTgt spid="67"/>
                                        </p:tgtEl>
                                        <p:attrNameLst>
                                          <p:attrName>style.visibility</p:attrName>
                                        </p:attrNameLst>
                                      </p:cBhvr>
                                      <p:to>
                                        <p:strVal val="visible"/>
                                      </p:to>
                                    </p:set>
                                    <p:animEffect transition="in" filter="fade">
                                      <p:cBhvr>
                                        <p:cTn id="23" dur="500"/>
                                        <p:tgtEl>
                                          <p:spTgt spid="67"/>
                                        </p:tgtEl>
                                      </p:cBhvr>
                                    </p:animEffect>
                                  </p:childTnLst>
                                </p:cTn>
                              </p:par>
                              <p:par>
                                <p:cTn id="24" presetID="10" presetClass="entr" presetSubtype="0" fill="hold" nodeType="withEffect">
                                  <p:stCondLst>
                                    <p:cond delay="0"/>
                                  </p:stCondLst>
                                  <p:childTnLst>
                                    <p:set>
                                      <p:cBhvr>
                                        <p:cTn id="25" dur="1" fill="hold">
                                          <p:stCondLst>
                                            <p:cond delay="0"/>
                                          </p:stCondLst>
                                        </p:cTn>
                                        <p:tgtEl>
                                          <p:spTgt spid="68"/>
                                        </p:tgtEl>
                                        <p:attrNameLst>
                                          <p:attrName>style.visibility</p:attrName>
                                        </p:attrNameLst>
                                      </p:cBhvr>
                                      <p:to>
                                        <p:strVal val="visible"/>
                                      </p:to>
                                    </p:set>
                                    <p:animEffect transition="in" filter="fade">
                                      <p:cBhvr>
                                        <p:cTn id="26" dur="500"/>
                                        <p:tgtEl>
                                          <p:spTgt spid="68"/>
                                        </p:tgtEl>
                                      </p:cBhvr>
                                    </p:animEffect>
                                  </p:childTnLst>
                                </p:cTn>
                              </p:par>
                              <p:par>
                                <p:cTn id="27" presetID="10" presetClass="entr" presetSubtype="0" fill="hold" nodeType="withEffect">
                                  <p:stCondLst>
                                    <p:cond delay="0"/>
                                  </p:stCondLst>
                                  <p:childTnLst>
                                    <p:set>
                                      <p:cBhvr>
                                        <p:cTn id="28" dur="1" fill="hold">
                                          <p:stCondLst>
                                            <p:cond delay="0"/>
                                          </p:stCondLst>
                                        </p:cTn>
                                        <p:tgtEl>
                                          <p:spTgt spid="69"/>
                                        </p:tgtEl>
                                        <p:attrNameLst>
                                          <p:attrName>style.visibility</p:attrName>
                                        </p:attrNameLst>
                                      </p:cBhvr>
                                      <p:to>
                                        <p:strVal val="visible"/>
                                      </p:to>
                                    </p:set>
                                    <p:animEffect transition="in" filter="fade">
                                      <p:cBhvr>
                                        <p:cTn id="29" dur="500"/>
                                        <p:tgtEl>
                                          <p:spTgt spid="69"/>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70"/>
                                        </p:tgtEl>
                                        <p:attrNameLst>
                                          <p:attrName>style.visibility</p:attrName>
                                        </p:attrNameLst>
                                      </p:cBhvr>
                                      <p:to>
                                        <p:strVal val="visible"/>
                                      </p:to>
                                    </p:set>
                                    <p:animEffect transition="in" filter="circle(in)">
                                      <p:cBhvr>
                                        <p:cTn id="34" dur="2000"/>
                                        <p:tgtEl>
                                          <p:spTgt spid="7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5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70" grpId="0" animBg="1"/>
      <p:bldP spid="71"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579967" y="634846"/>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6.</a:t>
            </a:r>
            <a:r>
              <a:rPr lang="zh-CN" altLang="en-US" sz="2800" b="1" dirty="0">
                <a:solidFill>
                  <a:srgbClr val="0000FF"/>
                </a:solidFill>
                <a:latin typeface="黑体" panose="02010609060101010101" pitchFamily="49" charset="-122"/>
                <a:ea typeface="黑体" panose="02010609060101010101" pitchFamily="49" charset="-122"/>
              </a:rPr>
              <a:t>画出完整的状态图</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18" name="Picture 5" descr="5-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5263" y="2180467"/>
            <a:ext cx="7552096" cy="3752009"/>
          </a:xfrm>
          <a:prstGeom prst="rect">
            <a:avLst/>
          </a:prstGeom>
          <a:noFill/>
          <a:extLst>
            <a:ext uri="{909E8E84-426E-40DD-AFC4-6F175D3DCCD1}">
              <a14:hiddenFill xmlns:a14="http://schemas.microsoft.com/office/drawing/2010/main">
                <a:solidFill>
                  <a:srgbClr val="FFFFFF"/>
                </a:solidFill>
              </a14:hiddenFill>
            </a:ext>
          </a:extLst>
        </p:spPr>
      </p:pic>
      <p:pic>
        <p:nvPicPr>
          <p:cNvPr id="144386" name="Object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4387" name="Object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4388" name="Object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4389" name="Object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4390" name="Object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4391" name="Object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4392" name="Object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4393" name="Object 1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4394" name="Object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4395" name="Object 1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4396" name="Object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4397" name="Object 1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4398" name="Object 2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4399" name="Object 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4400" name="Object 1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sp>
        <p:nvSpPr>
          <p:cNvPr id="3" name="椭圆 2"/>
          <p:cNvSpPr/>
          <p:nvPr/>
        </p:nvSpPr>
        <p:spPr>
          <a:xfrm>
            <a:off x="2660074" y="2030056"/>
            <a:ext cx="1015026" cy="1496290"/>
          </a:xfrm>
          <a:prstGeom prst="ellipse">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rot="2191574">
            <a:off x="7398521" y="1968660"/>
            <a:ext cx="1083227" cy="1769509"/>
          </a:xfrm>
          <a:prstGeom prst="ellipse">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rot="19413238">
            <a:off x="5846482" y="1907548"/>
            <a:ext cx="1015026" cy="1753594"/>
          </a:xfrm>
          <a:prstGeom prst="ellipse">
            <a:avLst/>
          </a:prstGeom>
          <a:noFill/>
          <a:ln w="539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579967" y="634846"/>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7.</a:t>
            </a:r>
            <a:r>
              <a:rPr lang="zh-CN" altLang="en-US" sz="2800" b="1" dirty="0">
                <a:solidFill>
                  <a:srgbClr val="0000FF"/>
                </a:solidFill>
                <a:latin typeface="黑体" panose="02010609060101010101" pitchFamily="49" charset="-122"/>
                <a:ea typeface="黑体" panose="02010609060101010101" pitchFamily="49" charset="-122"/>
              </a:rPr>
              <a:t>判断电路功能</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4" name="文本框 3"/>
          <p:cNvSpPr txBox="1"/>
          <p:nvPr/>
        </p:nvSpPr>
        <p:spPr>
          <a:xfrm>
            <a:off x="656396" y="1568408"/>
            <a:ext cx="7612580" cy="954107"/>
          </a:xfrm>
          <a:prstGeom prst="rect">
            <a:avLst/>
          </a:prstGeom>
          <a:noFill/>
        </p:spPr>
        <p:txBody>
          <a:bodyPr wrap="square" rtlCol="0">
            <a:spAutoFit/>
          </a:bodyPr>
          <a:lstStyle/>
          <a:p>
            <a:r>
              <a:rPr lang="zh-CN" altLang="en-US" sz="2800" b="1" dirty="0"/>
              <a:t>由时钟脉冲控制状态从</a:t>
            </a:r>
            <a:r>
              <a:rPr lang="en-US" altLang="zh-CN" sz="2800" b="1" dirty="0">
                <a:solidFill>
                  <a:srgbClr val="FF0000"/>
                </a:solidFill>
              </a:rPr>
              <a:t>000-001-010-011-100-000</a:t>
            </a:r>
            <a:r>
              <a:rPr lang="zh-CN" altLang="en-US" sz="2800" b="1" dirty="0"/>
              <a:t>循环变换</a:t>
            </a:r>
            <a:endParaRPr lang="en-US" altLang="zh-CN" sz="2800" b="1" dirty="0"/>
          </a:p>
        </p:txBody>
      </p:sp>
      <p:sp>
        <p:nvSpPr>
          <p:cNvPr id="5" name="矩形 4"/>
          <p:cNvSpPr/>
          <p:nvPr/>
        </p:nvSpPr>
        <p:spPr>
          <a:xfrm>
            <a:off x="2744302" y="2952379"/>
            <a:ext cx="1968676" cy="523220"/>
          </a:xfrm>
          <a:prstGeom prst="rect">
            <a:avLst/>
          </a:prstGeom>
        </p:spPr>
        <p:txBody>
          <a:bodyPr wrap="square">
            <a:spAutoFit/>
          </a:bodyPr>
          <a:lstStyle/>
          <a:p>
            <a:r>
              <a:rPr lang="zh-CN" altLang="en-US" sz="2800" b="1" dirty="0">
                <a:solidFill>
                  <a:srgbClr val="0000FF"/>
                </a:solidFill>
              </a:rPr>
              <a:t>逢五进一</a:t>
            </a:r>
            <a:endParaRPr lang="en-US" altLang="zh-CN" sz="2800" b="1" dirty="0">
              <a:solidFill>
                <a:srgbClr val="0000FF"/>
              </a:solidFill>
            </a:endParaRPr>
          </a:p>
        </p:txBody>
      </p:sp>
      <p:sp>
        <p:nvSpPr>
          <p:cNvPr id="8" name="矩形 7"/>
          <p:cNvSpPr/>
          <p:nvPr/>
        </p:nvSpPr>
        <p:spPr>
          <a:xfrm>
            <a:off x="1303913" y="4167487"/>
            <a:ext cx="5570756" cy="523220"/>
          </a:xfrm>
          <a:prstGeom prst="rect">
            <a:avLst/>
          </a:prstGeom>
        </p:spPr>
        <p:txBody>
          <a:bodyPr wrap="none">
            <a:spAutoFit/>
          </a:bodyPr>
          <a:lstStyle/>
          <a:p>
            <a:r>
              <a:rPr lang="zh-CN" altLang="en-US" sz="2800" b="1" dirty="0"/>
              <a:t>该电路是一个同步的</a:t>
            </a:r>
            <a:r>
              <a:rPr lang="zh-CN" altLang="en-US" sz="2800" b="1" dirty="0">
                <a:solidFill>
                  <a:srgbClr val="FF0000"/>
                </a:solidFill>
              </a:rPr>
              <a:t>五进制计数器</a:t>
            </a:r>
            <a:endParaRPr lang="zh-CN" altLang="en-US" sz="2800" b="1" dirty="0">
              <a:solidFill>
                <a:srgbClr val="FF0000"/>
              </a:solidFill>
            </a:endParaRPr>
          </a:p>
        </p:txBody>
      </p:sp>
      <p:pic>
        <p:nvPicPr>
          <p:cNvPr id="149506" name="Object 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9507" name="Object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9508" name="Object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9509" name="Object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9510" name="Object 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9511" name="Object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9512" name="Object 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9513" name="Object 1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9514" name="Object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9515" name="Object 1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9516" name="Object 1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9517" name="Object 1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pic>
        <p:nvPicPr>
          <p:cNvPr id="149518" name="Object 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1490663" cy="366713"/>
          </a:xfrm>
          <a:prstGeom prst="rect">
            <a:avLst/>
          </a:prstGeom>
          <a:noFill/>
          <a:extLst>
            <a:ext uri="{909E8E84-426E-40DD-AFC4-6F175D3DCCD1}">
              <a14:hiddenFill xmlns:a14="http://schemas.microsoft.com/office/drawing/2010/main">
                <a:solidFill>
                  <a:srgbClr val="FFFFFF"/>
                </a:solidFill>
              </a14:hiddenFill>
            </a:ext>
          </a:extLst>
        </p:spPr>
      </p:pic>
      <p:pic>
        <p:nvPicPr>
          <p:cNvPr id="149519" name="Object 1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1528763" cy="323850"/>
          </a:xfrm>
          <a:prstGeom prst="rect">
            <a:avLst/>
          </a:prstGeom>
          <a:noFill/>
          <a:extLst>
            <a:ext uri="{909E8E84-426E-40DD-AFC4-6F175D3DCCD1}">
              <a14:hiddenFill xmlns:a14="http://schemas.microsoft.com/office/drawing/2010/main">
                <a:solidFill>
                  <a:srgbClr val="FFFFFF"/>
                </a:solidFill>
              </a14:hiddenFill>
            </a:ext>
          </a:extLst>
        </p:spPr>
      </p:pic>
      <p:pic>
        <p:nvPicPr>
          <p:cNvPr id="149520" name="Object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1" name="Rectangle 2"/>
          <p:cNvSpPr>
            <a:spLocks noChangeArrowheads="1"/>
          </p:cNvSpPr>
          <p:nvPr/>
        </p:nvSpPr>
        <p:spPr bwMode="auto">
          <a:xfrm>
            <a:off x="0" y="2505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GB" altLang="zh-CN"/>
          </a:p>
        </p:txBody>
      </p:sp>
      <p:sp>
        <p:nvSpPr>
          <p:cNvPr id="18" name="Rectangle 4"/>
          <p:cNvSpPr>
            <a:spLocks noChangeArrowheads="1"/>
          </p:cNvSpPr>
          <p:nvPr/>
        </p:nvSpPr>
        <p:spPr bwMode="auto">
          <a:xfrm>
            <a:off x="31003" y="4236349"/>
            <a:ext cx="1642815" cy="523220"/>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输出方程</a:t>
            </a:r>
            <a:endParaRPr lang="zh-CN" altLang="en-US" sz="2800" b="1" dirty="0">
              <a:solidFill>
                <a:srgbClr val="000066"/>
              </a:solidFill>
              <a:ea typeface="楷体_GB2312" pitchFamily="49" charset="-122"/>
              <a:cs typeface="Times New Roman" panose="02020603050405020304" pitchFamily="18" charset="0"/>
            </a:endParaRPr>
          </a:p>
        </p:txBody>
      </p:sp>
      <p:sp>
        <p:nvSpPr>
          <p:cNvPr id="22" name="Rectangle 8"/>
          <p:cNvSpPr>
            <a:spLocks noChangeArrowheads="1"/>
          </p:cNvSpPr>
          <p:nvPr/>
        </p:nvSpPr>
        <p:spPr bwMode="auto">
          <a:xfrm>
            <a:off x="125051" y="5055372"/>
            <a:ext cx="924956" cy="1384995"/>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楷体_GB2312" pitchFamily="49" charset="-122"/>
                <a:cs typeface="Times New Roman" panose="02020603050405020304" pitchFamily="18" charset="0"/>
              </a:rPr>
              <a:t>驱动方程组</a:t>
            </a:r>
            <a:endParaRPr lang="zh-CN" altLang="en-US" sz="2800" b="1" dirty="0">
              <a:solidFill>
                <a:srgbClr val="000066"/>
              </a:solidFill>
              <a:ea typeface="楷体_GB2312" pitchFamily="49" charset="-122"/>
              <a:cs typeface="Times New Roman" panose="02020603050405020304" pitchFamily="18" charset="0"/>
            </a:endParaRPr>
          </a:p>
        </p:txBody>
      </p:sp>
      <p:sp>
        <p:nvSpPr>
          <p:cNvPr id="26" name="Rectangle 12"/>
          <p:cNvSpPr>
            <a:spLocks noChangeArrowheads="1"/>
          </p:cNvSpPr>
          <p:nvPr/>
        </p:nvSpPr>
        <p:spPr bwMode="auto">
          <a:xfrm>
            <a:off x="4329033" y="4093973"/>
            <a:ext cx="1294911" cy="954107"/>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楷体_GB2312" pitchFamily="49" charset="-122"/>
                <a:cs typeface="Times New Roman" panose="02020603050405020304" pitchFamily="18" charset="0"/>
              </a:rPr>
              <a:t>次态</a:t>
            </a:r>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方程组</a:t>
            </a:r>
            <a:endParaRPr lang="zh-CN" altLang="en-US" sz="2800" b="1" dirty="0">
              <a:solidFill>
                <a:srgbClr val="000066"/>
              </a:solidFill>
              <a:ea typeface="楷体_GB2312" pitchFamily="49" charset="-122"/>
              <a:cs typeface="Times New Roman" panose="02020603050405020304" pitchFamily="18" charset="0"/>
            </a:endParaRPr>
          </a:p>
        </p:txBody>
      </p:sp>
      <p:sp>
        <p:nvSpPr>
          <p:cNvPr id="32" name="Text Box 18"/>
          <p:cNvSpPr txBox="1">
            <a:spLocks noChangeArrowheads="1"/>
          </p:cNvSpPr>
          <p:nvPr/>
        </p:nvSpPr>
        <p:spPr bwMode="auto">
          <a:xfrm>
            <a:off x="154984" y="724270"/>
            <a:ext cx="59393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ea typeface="楷体_GB2312" pitchFamily="49" charset="-122"/>
              </a:rPr>
              <a:t>例</a:t>
            </a:r>
            <a:r>
              <a:rPr lang="en-US" altLang="zh-CN" sz="2800" b="1" dirty="0">
                <a:ea typeface="楷体_GB2312" pitchFamily="49" charset="-122"/>
              </a:rPr>
              <a:t>2</a:t>
            </a:r>
            <a:r>
              <a:rPr lang="zh-CN" altLang="en-US" sz="2800" b="1" dirty="0">
                <a:ea typeface="楷体_GB2312" pitchFamily="49" charset="-122"/>
              </a:rPr>
              <a:t>：分析以下电路的逻辑功能</a:t>
            </a:r>
            <a:endParaRPr lang="zh-CN" altLang="en-US" sz="2800" b="1" dirty="0">
              <a:ea typeface="楷体_GB2312" pitchFamily="49" charset="-122"/>
            </a:endParaRPr>
          </a:p>
        </p:txBody>
      </p:sp>
      <p:sp>
        <p:nvSpPr>
          <p:cNvPr id="2" name="文本框 1"/>
          <p:cNvSpPr txBox="1"/>
          <p:nvPr/>
        </p:nvSpPr>
        <p:spPr>
          <a:xfrm>
            <a:off x="206360" y="3492812"/>
            <a:ext cx="2700866"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1. </a:t>
            </a:r>
            <a:r>
              <a:rPr lang="zh-CN" altLang="en-US" sz="2800" b="1" dirty="0">
                <a:solidFill>
                  <a:srgbClr val="0000FF"/>
                </a:solidFill>
                <a:latin typeface="黑体" panose="02010609060101010101" pitchFamily="49" charset="-122"/>
                <a:ea typeface="黑体" panose="02010609060101010101" pitchFamily="49" charset="-122"/>
              </a:rPr>
              <a:t>写方程组</a:t>
            </a:r>
            <a:endParaRPr lang="zh-CN" altLang="en-US" sz="2800" b="1" dirty="0">
              <a:solidFill>
                <a:srgbClr val="0000FF"/>
              </a:solidFill>
              <a:latin typeface="黑体" panose="02010609060101010101" pitchFamily="49" charset="-122"/>
              <a:ea typeface="黑体" panose="02010609060101010101" pitchFamily="49" charset="-122"/>
            </a:endParaRPr>
          </a:p>
        </p:txBody>
      </p:sp>
      <p:cxnSp>
        <p:nvCxnSpPr>
          <p:cNvPr id="5" name="直接连接符 4"/>
          <p:cNvCxnSpPr/>
          <p:nvPr/>
        </p:nvCxnSpPr>
        <p:spPr>
          <a:xfrm>
            <a:off x="4218657" y="3217047"/>
            <a:ext cx="0" cy="3634407"/>
          </a:xfrm>
          <a:prstGeom prst="line">
            <a:avLst/>
          </a:prstGeom>
          <a:ln w="38100"/>
        </p:spPr>
        <p:style>
          <a:lnRef idx="1">
            <a:schemeClr val="accent1"/>
          </a:lnRef>
          <a:fillRef idx="0">
            <a:schemeClr val="accent1"/>
          </a:fillRef>
          <a:effectRef idx="0">
            <a:schemeClr val="accent1"/>
          </a:effectRef>
          <a:fontRef idx="minor">
            <a:schemeClr val="tx1"/>
          </a:fontRef>
        </p:style>
      </p:cxnSp>
      <p:graphicFrame>
        <p:nvGraphicFramePr>
          <p:cNvPr id="39" name="Object 4"/>
          <p:cNvGraphicFramePr>
            <a:graphicFrameLocks noChangeAspect="1"/>
          </p:cNvGraphicFramePr>
          <p:nvPr/>
        </p:nvGraphicFramePr>
        <p:xfrm>
          <a:off x="5908236" y="4370342"/>
          <a:ext cx="2684463" cy="547688"/>
        </p:xfrm>
        <a:graphic>
          <a:graphicData uri="http://schemas.openxmlformats.org/presentationml/2006/ole">
            <mc:AlternateContent xmlns:mc="http://schemas.openxmlformats.org/markup-compatibility/2006">
              <mc:Choice xmlns:v="urn:schemas-microsoft-com:vml" Requires="v">
                <p:oleObj spid="_x0000_s11302" name="Equation" r:id="rId2" imgW="31394400" imgH="6400800" progId="Equation.DSMT4">
                  <p:embed/>
                </p:oleObj>
              </mc:Choice>
              <mc:Fallback>
                <p:oleObj name="Equation" r:id="rId2" imgW="31394400" imgH="6400800" progId="Equation.DSMT4">
                  <p:embed/>
                  <p:pic>
                    <p:nvPicPr>
                      <p:cNvPr id="0" name="Object 4"/>
                      <p:cNvPicPr>
                        <a:picLocks noChangeAspect="1" noChangeArrowheads="1"/>
                      </p:cNvPicPr>
                      <p:nvPr/>
                    </p:nvPicPr>
                    <p:blipFill>
                      <a:blip r:embed="rId3"/>
                      <a:srcRect/>
                      <a:stretch>
                        <a:fillRect/>
                      </a:stretch>
                    </p:blipFill>
                    <p:spPr bwMode="auto">
                      <a:xfrm>
                        <a:off x="5908236" y="4370342"/>
                        <a:ext cx="2684463" cy="547688"/>
                      </a:xfrm>
                      <a:prstGeom prst="rect">
                        <a:avLst/>
                      </a:prstGeom>
                      <a:noFill/>
                      <a:ln w="38100">
                        <a:solidFill>
                          <a:srgbClr val="3366FF"/>
                        </a:solidFill>
                        <a:prstDash val="sysDash"/>
                      </a:ln>
                    </p:spPr>
                  </p:pic>
                </p:oleObj>
              </mc:Fallback>
            </mc:AlternateContent>
          </a:graphicData>
        </a:graphic>
      </p:graphicFrame>
      <p:pic>
        <p:nvPicPr>
          <p:cNvPr id="21" name="Picture 5" descr="5-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3576" y="1374353"/>
            <a:ext cx="6599791" cy="245309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3" name="Object 4"/>
          <p:cNvGraphicFramePr>
            <a:graphicFrameLocks noChangeAspect="1"/>
          </p:cNvGraphicFramePr>
          <p:nvPr/>
        </p:nvGraphicFramePr>
        <p:xfrm>
          <a:off x="1729654" y="4242043"/>
          <a:ext cx="2325687" cy="547687"/>
        </p:xfrm>
        <a:graphic>
          <a:graphicData uri="http://schemas.openxmlformats.org/presentationml/2006/ole">
            <mc:AlternateContent xmlns:mc="http://schemas.openxmlformats.org/markup-compatibility/2006">
              <mc:Choice xmlns:v="urn:schemas-microsoft-com:vml" Requires="v">
                <p:oleObj spid="_x0000_s11303" name="Equation" r:id="rId5" imgW="1129665" imgH="266700" progId="Equation.DSMT4">
                  <p:embed/>
                </p:oleObj>
              </mc:Choice>
              <mc:Fallback>
                <p:oleObj name="Equation" r:id="rId5" imgW="1129665" imgH="266700" progId="Equation.DSMT4">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29654" y="4242043"/>
                        <a:ext cx="2325687" cy="547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4"/>
          <p:cNvGraphicFramePr>
            <a:graphicFrameLocks noChangeAspect="1"/>
          </p:cNvGraphicFramePr>
          <p:nvPr/>
        </p:nvGraphicFramePr>
        <p:xfrm>
          <a:off x="1050007" y="5173542"/>
          <a:ext cx="3168650" cy="1266825"/>
        </p:xfrm>
        <a:graphic>
          <a:graphicData uri="http://schemas.openxmlformats.org/presentationml/2006/ole">
            <mc:AlternateContent xmlns:mc="http://schemas.openxmlformats.org/markup-compatibility/2006">
              <mc:Choice xmlns:v="urn:schemas-microsoft-com:vml" Requires="v">
                <p:oleObj spid="_x0000_s11304" name="Equation" r:id="rId7" imgW="1333500" imgH="533400" progId="Equation.DSMT4">
                  <p:embed/>
                </p:oleObj>
              </mc:Choice>
              <mc:Fallback>
                <p:oleObj name="Equation" r:id="rId7" imgW="1333500" imgH="533400" progId="Equation.DSMT4">
                  <p:embed/>
                  <p:pic>
                    <p:nvPicPr>
                      <p:cNvPr id="0" name="Object 4"/>
                      <p:cNvPicPr>
                        <a:picLocks noGrp="1"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0007" y="5173542"/>
                        <a:ext cx="3168650" cy="126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6"/>
          <p:cNvGraphicFramePr>
            <a:graphicFrameLocks noChangeAspect="1"/>
          </p:cNvGraphicFramePr>
          <p:nvPr/>
        </p:nvGraphicFramePr>
        <p:xfrm>
          <a:off x="4218657" y="5314603"/>
          <a:ext cx="4751387" cy="1104900"/>
        </p:xfrm>
        <a:graphic>
          <a:graphicData uri="http://schemas.openxmlformats.org/presentationml/2006/ole">
            <mc:AlternateContent xmlns:mc="http://schemas.openxmlformats.org/markup-compatibility/2006">
              <mc:Choice xmlns:v="urn:schemas-microsoft-com:vml" Requires="v">
                <p:oleObj spid="_x0000_s11305" name="Equation" r:id="rId9" imgW="2400300" imgH="558800" progId="Equation.DSMT4">
                  <p:embed/>
                </p:oleObj>
              </mc:Choice>
              <mc:Fallback>
                <p:oleObj name="Equation" r:id="rId9" imgW="2400300" imgH="55880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18657" y="5314603"/>
                        <a:ext cx="4751387"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对话气泡: 矩形 41"/>
          <p:cNvSpPr/>
          <p:nvPr/>
        </p:nvSpPr>
        <p:spPr>
          <a:xfrm>
            <a:off x="154984" y="1382453"/>
            <a:ext cx="1766806" cy="1352993"/>
          </a:xfrm>
          <a:prstGeom prst="wedgeRectCallout">
            <a:avLst>
              <a:gd name="adj1" fmla="val 157868"/>
              <a:gd name="adj2" fmla="val 45215"/>
            </a:avLst>
          </a:prstGeom>
          <a:no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rgbClr val="C00000"/>
                </a:solidFill>
              </a:rPr>
              <a:t>下降沿触发的</a:t>
            </a:r>
            <a:r>
              <a:rPr lang="en-US" altLang="zh-CN" sz="2800" b="1" dirty="0">
                <a:solidFill>
                  <a:srgbClr val="C00000"/>
                </a:solidFill>
              </a:rPr>
              <a:t>J-K</a:t>
            </a:r>
            <a:r>
              <a:rPr lang="zh-CN" altLang="en-US" sz="2800" b="1" dirty="0">
                <a:solidFill>
                  <a:srgbClr val="C00000"/>
                </a:solidFill>
              </a:rPr>
              <a:t>触发器</a:t>
            </a:r>
            <a:endParaRPr lang="zh-CN" altLang="en-US" sz="2800" b="1" dirty="0">
              <a:solidFill>
                <a:srgbClr val="C00000"/>
              </a:solidFill>
            </a:endParaRPr>
          </a:p>
        </p:txBody>
      </p:sp>
      <p:cxnSp>
        <p:nvCxnSpPr>
          <p:cNvPr id="19" name="直接连接符 18"/>
          <p:cNvCxnSpPr/>
          <p:nvPr/>
        </p:nvCxnSpPr>
        <p:spPr>
          <a:xfrm>
            <a:off x="3700623" y="3032381"/>
            <a:ext cx="271257" cy="43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66710" y="2847715"/>
            <a:ext cx="301686" cy="369332"/>
          </a:xfrm>
          <a:prstGeom prst="rect">
            <a:avLst/>
          </a:prstGeom>
          <a:noFill/>
        </p:spPr>
        <p:txBody>
          <a:bodyPr wrap="none" rtlCol="0">
            <a:spAutoFit/>
          </a:bodyPr>
          <a:lstStyle/>
          <a:p>
            <a:r>
              <a:rPr lang="en-US" altLang="zh-CN" b="1" dirty="0"/>
              <a:t>1</a:t>
            </a:r>
            <a:endParaRPr lang="zh-CN" altLang="en-US" b="1" dirty="0"/>
          </a:p>
        </p:txBody>
      </p:sp>
      <p:sp>
        <p:nvSpPr>
          <p:cNvPr id="27" name="文本框 26"/>
          <p:cNvSpPr txBox="1"/>
          <p:nvPr/>
        </p:nvSpPr>
        <p:spPr>
          <a:xfrm>
            <a:off x="5442634" y="2847715"/>
            <a:ext cx="301686" cy="369332"/>
          </a:xfrm>
          <a:prstGeom prst="rect">
            <a:avLst/>
          </a:prstGeom>
          <a:noFill/>
        </p:spPr>
        <p:txBody>
          <a:bodyPr wrap="none" rtlCol="0">
            <a:spAutoFit/>
          </a:bodyPr>
          <a:lstStyle/>
          <a:p>
            <a:r>
              <a:rPr lang="en-US" altLang="zh-CN" b="1" dirty="0"/>
              <a:t>1</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Righ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strips(downRight)">
                                      <p:cBhvr>
                                        <p:cTn id="27" dur="500"/>
                                        <p:tgtEl>
                                          <p:spTgt spid="2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strips(downRigh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500"/>
                                        <p:tgtEl>
                                          <p:spTgt spid="3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6" grpId="0" animBg="1"/>
      <p:bldP spid="2" grpId="0"/>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3785948"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2. </a:t>
            </a:r>
            <a:r>
              <a:rPr lang="zh-CN" altLang="en-US" sz="2800" b="1" dirty="0">
                <a:solidFill>
                  <a:srgbClr val="0000FF"/>
                </a:solidFill>
                <a:latin typeface="黑体" panose="02010609060101010101" pitchFamily="49" charset="-122"/>
                <a:ea typeface="黑体" panose="02010609060101010101" pitchFamily="49" charset="-122"/>
              </a:rPr>
              <a:t>列状态转移真值表</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23" name="Object 4"/>
          <p:cNvGraphicFramePr>
            <a:graphicFrameLocks noChangeAspect="1"/>
          </p:cNvGraphicFramePr>
          <p:nvPr/>
        </p:nvGraphicFramePr>
        <p:xfrm>
          <a:off x="5929568" y="1563823"/>
          <a:ext cx="2635061" cy="620543"/>
        </p:xfrm>
        <a:graphic>
          <a:graphicData uri="http://schemas.openxmlformats.org/presentationml/2006/ole">
            <mc:AlternateContent xmlns:mc="http://schemas.openxmlformats.org/markup-compatibility/2006">
              <mc:Choice xmlns:v="urn:schemas-microsoft-com:vml" Requires="v">
                <p:oleObj spid="_x0000_s12326" name="Equation" r:id="rId2" imgW="1129665" imgH="266700" progId="Equation.DSMT4">
                  <p:embed/>
                </p:oleObj>
              </mc:Choice>
              <mc:Fallback>
                <p:oleObj name="Equation" r:id="rId2" imgW="1129665" imgH="266700" progId="Equation.DSMT4">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9568" y="1563823"/>
                        <a:ext cx="2635061" cy="620543"/>
                      </a:xfrm>
                      <a:prstGeom prst="rect">
                        <a:avLst/>
                      </a:prstGeom>
                      <a:noFill/>
                      <a:ln>
                        <a:noFill/>
                      </a:ln>
                      <a:effectLst/>
                    </p:spPr>
                  </p:pic>
                </p:oleObj>
              </mc:Fallback>
            </mc:AlternateContent>
          </a:graphicData>
        </a:graphic>
      </p:graphicFrame>
      <p:graphicFrame>
        <p:nvGraphicFramePr>
          <p:cNvPr id="25" name="Object 6"/>
          <p:cNvGraphicFramePr>
            <a:graphicFrameLocks noChangeAspect="1"/>
          </p:cNvGraphicFramePr>
          <p:nvPr/>
        </p:nvGraphicFramePr>
        <p:xfrm>
          <a:off x="140968" y="1361481"/>
          <a:ext cx="4973472" cy="1156544"/>
        </p:xfrm>
        <a:graphic>
          <a:graphicData uri="http://schemas.openxmlformats.org/presentationml/2006/ole">
            <mc:AlternateContent xmlns:mc="http://schemas.openxmlformats.org/markup-compatibility/2006">
              <mc:Choice xmlns:v="urn:schemas-microsoft-com:vml" Requires="v">
                <p:oleObj spid="_x0000_s12327" name="Equation" r:id="rId4" imgW="2400300" imgH="558800" progId="Equation.DSMT4">
                  <p:embed/>
                </p:oleObj>
              </mc:Choice>
              <mc:Fallback>
                <p:oleObj name="Equation" r:id="rId4" imgW="2400300" imgH="5588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968" y="1361481"/>
                        <a:ext cx="4973472" cy="1156544"/>
                      </a:xfrm>
                      <a:prstGeom prst="rect">
                        <a:avLst/>
                      </a:prstGeom>
                      <a:noFill/>
                    </p:spPr>
                  </p:pic>
                </p:oleObj>
              </mc:Fallback>
            </mc:AlternateContent>
          </a:graphicData>
        </a:graphic>
      </p:graphicFrame>
      <p:sp>
        <p:nvSpPr>
          <p:cNvPr id="3" name="文本框 2"/>
          <p:cNvSpPr txBox="1"/>
          <p:nvPr/>
        </p:nvSpPr>
        <p:spPr>
          <a:xfrm>
            <a:off x="229386" y="2740963"/>
            <a:ext cx="2921430" cy="523220"/>
          </a:xfrm>
          <a:prstGeom prst="rect">
            <a:avLst/>
          </a:prstGeom>
          <a:noFill/>
        </p:spPr>
        <p:txBody>
          <a:bodyPr wrap="square" rtlCol="0">
            <a:spAutoFit/>
          </a:bodyPr>
          <a:lstStyle/>
          <a:p>
            <a:r>
              <a:rPr lang="zh-CN" altLang="en-US" sz="2800" b="1" dirty="0">
                <a:solidFill>
                  <a:srgbClr val="C00000"/>
                </a:solidFill>
              </a:rPr>
              <a:t>（</a:t>
            </a:r>
            <a:r>
              <a:rPr lang="en-US" altLang="zh-CN" sz="2800" b="1" dirty="0">
                <a:solidFill>
                  <a:srgbClr val="C00000"/>
                </a:solidFill>
              </a:rPr>
              <a:t>1</a:t>
            </a:r>
            <a:r>
              <a:rPr lang="zh-CN" altLang="en-US" sz="2800" b="1" dirty="0">
                <a:solidFill>
                  <a:srgbClr val="C00000"/>
                </a:solidFill>
              </a:rPr>
              <a:t>）当</a:t>
            </a:r>
            <a:r>
              <a:rPr lang="en-US" altLang="zh-CN" sz="2800" b="1" dirty="0">
                <a:solidFill>
                  <a:srgbClr val="C00000"/>
                </a:solidFill>
              </a:rPr>
              <a:t>X=0</a:t>
            </a:r>
            <a:r>
              <a:rPr lang="zh-CN" altLang="en-US" sz="2800" b="1" dirty="0">
                <a:solidFill>
                  <a:srgbClr val="C00000"/>
                </a:solidFill>
              </a:rPr>
              <a:t>时</a:t>
            </a:r>
            <a:endParaRPr lang="zh-CN" altLang="en-US" sz="2800" b="1" dirty="0">
              <a:solidFill>
                <a:srgbClr val="C00000"/>
              </a:solidFill>
            </a:endParaRPr>
          </a:p>
        </p:txBody>
      </p:sp>
      <p:graphicFrame>
        <p:nvGraphicFramePr>
          <p:cNvPr id="19" name="Object 4"/>
          <p:cNvGraphicFramePr>
            <a:graphicFrameLocks noChangeAspect="1"/>
          </p:cNvGraphicFramePr>
          <p:nvPr/>
        </p:nvGraphicFramePr>
        <p:xfrm>
          <a:off x="557508" y="3906004"/>
          <a:ext cx="2376487" cy="1450975"/>
        </p:xfrm>
        <a:graphic>
          <a:graphicData uri="http://schemas.openxmlformats.org/presentationml/2006/ole">
            <mc:AlternateContent xmlns:mc="http://schemas.openxmlformats.org/markup-compatibility/2006">
              <mc:Choice xmlns:v="urn:schemas-microsoft-com:vml" Requires="v">
                <p:oleObj spid="_x0000_s12328" name="Equation" r:id="rId6" imgW="914400" imgH="558800" progId="Equation.DSMT4">
                  <p:embed/>
                </p:oleObj>
              </mc:Choice>
              <mc:Fallback>
                <p:oleObj name="Equation" r:id="rId6" imgW="914400" imgH="5588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508" y="3906004"/>
                        <a:ext cx="2376487" cy="1450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4"/>
          <p:cNvGraphicFramePr>
            <a:graphicFrameLocks noChangeAspect="1"/>
          </p:cNvGraphicFramePr>
          <p:nvPr/>
        </p:nvGraphicFramePr>
        <p:xfrm>
          <a:off x="912545" y="5462027"/>
          <a:ext cx="1547812" cy="628650"/>
        </p:xfrm>
        <a:graphic>
          <a:graphicData uri="http://schemas.openxmlformats.org/presentationml/2006/ole">
            <mc:AlternateContent xmlns:mc="http://schemas.openxmlformats.org/markup-compatibility/2006">
              <mc:Choice xmlns:v="urn:schemas-microsoft-com:vml" Requires="v">
                <p:oleObj spid="_x0000_s12329" name="Equation" r:id="rId8" imgW="660400" imgH="266700" progId="Equation.DSMT4">
                  <p:embed/>
                </p:oleObj>
              </mc:Choice>
              <mc:Fallback>
                <p:oleObj name="Equation" r:id="rId8" imgW="660400" imgH="2667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2545" y="5462027"/>
                        <a:ext cx="1547812"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p:cNvSpPr txBox="1"/>
          <p:nvPr/>
        </p:nvSpPr>
        <p:spPr>
          <a:xfrm>
            <a:off x="789485" y="3323483"/>
            <a:ext cx="1670872" cy="523220"/>
          </a:xfrm>
          <a:prstGeom prst="rect">
            <a:avLst/>
          </a:prstGeom>
          <a:noFill/>
        </p:spPr>
        <p:txBody>
          <a:bodyPr wrap="square" rtlCol="0">
            <a:spAutoFit/>
          </a:bodyPr>
          <a:lstStyle/>
          <a:p>
            <a:r>
              <a:rPr lang="zh-CN" altLang="en-US" sz="2800" b="1" dirty="0">
                <a:solidFill>
                  <a:srgbClr val="FF33CC"/>
                </a:solidFill>
              </a:rPr>
              <a:t>化简方程</a:t>
            </a:r>
            <a:endParaRPr lang="zh-CN" altLang="en-US" sz="2800" b="1" dirty="0">
              <a:solidFill>
                <a:srgbClr val="FF33CC"/>
              </a:solidFill>
            </a:endParaRPr>
          </a:p>
        </p:txBody>
      </p:sp>
      <p:grpSp>
        <p:nvGrpSpPr>
          <p:cNvPr id="27" name="Group 6"/>
          <p:cNvGrpSpPr/>
          <p:nvPr/>
        </p:nvGrpSpPr>
        <p:grpSpPr bwMode="auto">
          <a:xfrm>
            <a:off x="3317390" y="3196664"/>
            <a:ext cx="5616575" cy="2894013"/>
            <a:chOff x="884" y="676"/>
            <a:chExt cx="3538" cy="1823"/>
          </a:xfrm>
        </p:grpSpPr>
        <p:sp>
          <p:nvSpPr>
            <p:cNvPr id="28" name="Rectangle 4"/>
            <p:cNvSpPr>
              <a:spLocks noChangeArrowheads="1"/>
            </p:cNvSpPr>
            <p:nvPr/>
          </p:nvSpPr>
          <p:spPr bwMode="auto">
            <a:xfrm>
              <a:off x="1436" y="676"/>
              <a:ext cx="2503"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en-US" altLang="zh-CN" sz="2800" b="1" i="1" dirty="0">
                  <a:solidFill>
                    <a:srgbClr val="FF33CC"/>
                  </a:solidFill>
                  <a:latin typeface="黑体" panose="02010609060101010101" pitchFamily="49" charset="-122"/>
                  <a:ea typeface="黑体" panose="02010609060101010101" pitchFamily="49" charset="-122"/>
                </a:rPr>
                <a:t>X</a:t>
              </a:r>
              <a:r>
                <a:rPr lang="en-US" altLang="zh-CN" sz="2800" b="1" dirty="0">
                  <a:solidFill>
                    <a:srgbClr val="FF33CC"/>
                  </a:solidFill>
                  <a:latin typeface="黑体" panose="02010609060101010101" pitchFamily="49" charset="-122"/>
                  <a:ea typeface="黑体" panose="02010609060101010101" pitchFamily="49" charset="-122"/>
                </a:rPr>
                <a:t>=0</a:t>
              </a:r>
              <a:r>
                <a:rPr lang="zh-CN" altLang="en-US" sz="2800" b="1" dirty="0">
                  <a:solidFill>
                    <a:srgbClr val="FF33CC"/>
                  </a:solidFill>
                  <a:latin typeface="黑体" panose="02010609060101010101" pitchFamily="49" charset="-122"/>
                  <a:ea typeface="黑体" panose="02010609060101010101" pitchFamily="49" charset="-122"/>
                </a:rPr>
                <a:t>时的状态转移真值表</a:t>
              </a:r>
              <a:endParaRPr lang="zh-CN" altLang="en-US" sz="2800" b="1" dirty="0">
                <a:solidFill>
                  <a:srgbClr val="FF33CC"/>
                </a:solidFill>
                <a:latin typeface="黑体" panose="02010609060101010101" pitchFamily="49" charset="-122"/>
                <a:ea typeface="黑体" panose="02010609060101010101" pitchFamily="49" charset="-122"/>
              </a:endParaRPr>
            </a:p>
          </p:txBody>
        </p:sp>
        <p:pic>
          <p:nvPicPr>
            <p:cNvPr id="29" name="Picture 5" descr="B5-3-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84" y="1026"/>
              <a:ext cx="3538" cy="1473"/>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fade">
                                      <p:cBhvr>
                                        <p:cTn id="2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3785948"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2. </a:t>
            </a:r>
            <a:r>
              <a:rPr lang="zh-CN" altLang="en-US" sz="2800" b="1" dirty="0">
                <a:solidFill>
                  <a:srgbClr val="0000FF"/>
                </a:solidFill>
                <a:latin typeface="黑体" panose="02010609060101010101" pitchFamily="49" charset="-122"/>
                <a:ea typeface="黑体" panose="02010609060101010101" pitchFamily="49" charset="-122"/>
              </a:rPr>
              <a:t>列状态转移真值表</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23" name="Object 4"/>
          <p:cNvGraphicFramePr>
            <a:graphicFrameLocks noChangeAspect="1"/>
          </p:cNvGraphicFramePr>
          <p:nvPr/>
        </p:nvGraphicFramePr>
        <p:xfrm>
          <a:off x="5929568" y="1563823"/>
          <a:ext cx="2635061" cy="620543"/>
        </p:xfrm>
        <a:graphic>
          <a:graphicData uri="http://schemas.openxmlformats.org/presentationml/2006/ole">
            <mc:AlternateContent xmlns:mc="http://schemas.openxmlformats.org/markup-compatibility/2006">
              <mc:Choice xmlns:v="urn:schemas-microsoft-com:vml" Requires="v">
                <p:oleObj spid="_x0000_s13350" name="Equation" r:id="rId2" imgW="1129665" imgH="266700" progId="Equation.DSMT4">
                  <p:embed/>
                </p:oleObj>
              </mc:Choice>
              <mc:Fallback>
                <p:oleObj name="Equation" r:id="rId2" imgW="1129665" imgH="266700" progId="Equation.DSMT4">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9568" y="1563823"/>
                        <a:ext cx="2635061" cy="620543"/>
                      </a:xfrm>
                      <a:prstGeom prst="rect">
                        <a:avLst/>
                      </a:prstGeom>
                      <a:noFill/>
                      <a:ln>
                        <a:noFill/>
                      </a:ln>
                      <a:effectLst/>
                    </p:spPr>
                  </p:pic>
                </p:oleObj>
              </mc:Fallback>
            </mc:AlternateContent>
          </a:graphicData>
        </a:graphic>
      </p:graphicFrame>
      <p:graphicFrame>
        <p:nvGraphicFramePr>
          <p:cNvPr id="25" name="Object 6"/>
          <p:cNvGraphicFramePr>
            <a:graphicFrameLocks noChangeAspect="1"/>
          </p:cNvGraphicFramePr>
          <p:nvPr/>
        </p:nvGraphicFramePr>
        <p:xfrm>
          <a:off x="140968" y="1361481"/>
          <a:ext cx="4973472" cy="1156544"/>
        </p:xfrm>
        <a:graphic>
          <a:graphicData uri="http://schemas.openxmlformats.org/presentationml/2006/ole">
            <mc:AlternateContent xmlns:mc="http://schemas.openxmlformats.org/markup-compatibility/2006">
              <mc:Choice xmlns:v="urn:schemas-microsoft-com:vml" Requires="v">
                <p:oleObj spid="_x0000_s13351" name="Equation" r:id="rId4" imgW="2400300" imgH="558800" progId="Equation.DSMT4">
                  <p:embed/>
                </p:oleObj>
              </mc:Choice>
              <mc:Fallback>
                <p:oleObj name="Equation" r:id="rId4" imgW="2400300" imgH="5588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968" y="1361481"/>
                        <a:ext cx="4973472" cy="1156544"/>
                      </a:xfrm>
                      <a:prstGeom prst="rect">
                        <a:avLst/>
                      </a:prstGeom>
                      <a:noFill/>
                    </p:spPr>
                  </p:pic>
                </p:oleObj>
              </mc:Fallback>
            </mc:AlternateContent>
          </a:graphicData>
        </a:graphic>
      </p:graphicFrame>
      <p:sp>
        <p:nvSpPr>
          <p:cNvPr id="3" name="文本框 2"/>
          <p:cNvSpPr txBox="1"/>
          <p:nvPr/>
        </p:nvSpPr>
        <p:spPr>
          <a:xfrm>
            <a:off x="229386" y="2740963"/>
            <a:ext cx="2921430" cy="523220"/>
          </a:xfrm>
          <a:prstGeom prst="rect">
            <a:avLst/>
          </a:prstGeom>
          <a:noFill/>
        </p:spPr>
        <p:txBody>
          <a:bodyPr wrap="square" rtlCol="0">
            <a:spAutoFit/>
          </a:bodyPr>
          <a:lstStyle/>
          <a:p>
            <a:r>
              <a:rPr lang="zh-CN" altLang="en-US" sz="2800" b="1" dirty="0">
                <a:solidFill>
                  <a:srgbClr val="C00000"/>
                </a:solidFill>
              </a:rPr>
              <a:t>（</a:t>
            </a:r>
            <a:r>
              <a:rPr lang="en-US" altLang="zh-CN" sz="2800" b="1" dirty="0">
                <a:solidFill>
                  <a:srgbClr val="C00000"/>
                </a:solidFill>
              </a:rPr>
              <a:t>2</a:t>
            </a:r>
            <a:r>
              <a:rPr lang="zh-CN" altLang="en-US" sz="2800" b="1" dirty="0">
                <a:solidFill>
                  <a:srgbClr val="C00000"/>
                </a:solidFill>
              </a:rPr>
              <a:t>）当</a:t>
            </a:r>
            <a:r>
              <a:rPr lang="en-US" altLang="zh-CN" sz="2800" b="1" dirty="0">
                <a:solidFill>
                  <a:srgbClr val="C00000"/>
                </a:solidFill>
              </a:rPr>
              <a:t>X=1</a:t>
            </a:r>
            <a:r>
              <a:rPr lang="zh-CN" altLang="en-US" sz="2800" b="1" dirty="0">
                <a:solidFill>
                  <a:srgbClr val="C00000"/>
                </a:solidFill>
              </a:rPr>
              <a:t>时</a:t>
            </a:r>
            <a:endParaRPr lang="zh-CN" altLang="en-US" sz="2800" b="1" dirty="0">
              <a:solidFill>
                <a:srgbClr val="C00000"/>
              </a:solidFill>
            </a:endParaRPr>
          </a:p>
        </p:txBody>
      </p:sp>
      <p:graphicFrame>
        <p:nvGraphicFramePr>
          <p:cNvPr id="20" name="Object 4"/>
          <p:cNvGraphicFramePr>
            <a:graphicFrameLocks noChangeAspect="1"/>
          </p:cNvGraphicFramePr>
          <p:nvPr/>
        </p:nvGraphicFramePr>
        <p:xfrm>
          <a:off x="882650" y="5462588"/>
          <a:ext cx="1608138" cy="628650"/>
        </p:xfrm>
        <a:graphic>
          <a:graphicData uri="http://schemas.openxmlformats.org/presentationml/2006/ole">
            <mc:AlternateContent xmlns:mc="http://schemas.openxmlformats.org/markup-compatibility/2006">
              <mc:Choice xmlns:v="urn:schemas-microsoft-com:vml" Requires="v">
                <p:oleObj spid="_x0000_s13352" name="Equation" r:id="rId6" imgW="16459200" imgH="6400800" progId="Equation.DSMT4">
                  <p:embed/>
                </p:oleObj>
              </mc:Choice>
              <mc:Fallback>
                <p:oleObj name="Equation" r:id="rId6" imgW="16459200" imgH="6400800" progId="Equation.DSMT4">
                  <p:embed/>
                  <p:pic>
                    <p:nvPicPr>
                      <p:cNvPr id="0" name="Object 4"/>
                      <p:cNvPicPr>
                        <a:picLocks noChangeAspect="1" noChangeArrowheads="1"/>
                      </p:cNvPicPr>
                      <p:nvPr/>
                    </p:nvPicPr>
                    <p:blipFill>
                      <a:blip r:embed="rId7"/>
                      <a:srcRect/>
                      <a:stretch>
                        <a:fillRect/>
                      </a:stretch>
                    </p:blipFill>
                    <p:spPr bwMode="auto">
                      <a:xfrm>
                        <a:off x="882650" y="5462588"/>
                        <a:ext cx="1608138"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文本框 3"/>
          <p:cNvSpPr txBox="1"/>
          <p:nvPr/>
        </p:nvSpPr>
        <p:spPr>
          <a:xfrm>
            <a:off x="789485" y="3323483"/>
            <a:ext cx="1670872" cy="523220"/>
          </a:xfrm>
          <a:prstGeom prst="rect">
            <a:avLst/>
          </a:prstGeom>
          <a:noFill/>
        </p:spPr>
        <p:txBody>
          <a:bodyPr wrap="square" rtlCol="0">
            <a:spAutoFit/>
          </a:bodyPr>
          <a:lstStyle/>
          <a:p>
            <a:r>
              <a:rPr lang="zh-CN" altLang="en-US" sz="2800" b="1" dirty="0">
                <a:solidFill>
                  <a:srgbClr val="FF33CC"/>
                </a:solidFill>
              </a:rPr>
              <a:t>化简方程</a:t>
            </a:r>
            <a:endParaRPr lang="zh-CN" altLang="en-US" sz="2800" b="1" dirty="0">
              <a:solidFill>
                <a:srgbClr val="FF33CC"/>
              </a:solidFill>
            </a:endParaRPr>
          </a:p>
        </p:txBody>
      </p:sp>
      <p:graphicFrame>
        <p:nvGraphicFramePr>
          <p:cNvPr id="15" name="Object 4"/>
          <p:cNvGraphicFramePr>
            <a:graphicFrameLocks noChangeAspect="1"/>
          </p:cNvGraphicFramePr>
          <p:nvPr/>
        </p:nvGraphicFramePr>
        <p:xfrm>
          <a:off x="401638" y="3846513"/>
          <a:ext cx="2447925" cy="1476375"/>
        </p:xfrm>
        <a:graphic>
          <a:graphicData uri="http://schemas.openxmlformats.org/presentationml/2006/ole">
            <mc:AlternateContent xmlns:mc="http://schemas.openxmlformats.org/markup-compatibility/2006">
              <mc:Choice xmlns:v="urn:schemas-microsoft-com:vml" Requires="v">
                <p:oleObj spid="_x0000_s13353" name="Equation" r:id="rId8" imgW="22250400" imgH="13411200" progId="Equation.DSMT4">
                  <p:embed/>
                </p:oleObj>
              </mc:Choice>
              <mc:Fallback>
                <p:oleObj name="Equation" r:id="rId8" imgW="22250400" imgH="13411200" progId="Equation.DSMT4">
                  <p:embed/>
                  <p:pic>
                    <p:nvPicPr>
                      <p:cNvPr id="0" name="Object 4"/>
                      <p:cNvPicPr>
                        <a:picLocks noChangeAspect="1" noChangeArrowheads="1"/>
                      </p:cNvPicPr>
                      <p:nvPr/>
                    </p:nvPicPr>
                    <p:blipFill>
                      <a:blip r:embed="rId9"/>
                      <a:srcRect/>
                      <a:stretch>
                        <a:fillRect/>
                      </a:stretch>
                    </p:blipFill>
                    <p:spPr bwMode="auto">
                      <a:xfrm>
                        <a:off x="401638" y="3846513"/>
                        <a:ext cx="2447925" cy="1476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6" name="Group 7"/>
          <p:cNvGrpSpPr/>
          <p:nvPr/>
        </p:nvGrpSpPr>
        <p:grpSpPr bwMode="auto">
          <a:xfrm>
            <a:off x="3082145" y="3205162"/>
            <a:ext cx="5903912" cy="2981325"/>
            <a:chOff x="975" y="758"/>
            <a:chExt cx="3719" cy="1878"/>
          </a:xfrm>
        </p:grpSpPr>
        <p:sp>
          <p:nvSpPr>
            <p:cNvPr id="17" name="Rectangle 4"/>
            <p:cNvSpPr>
              <a:spLocks noChangeArrowheads="1"/>
            </p:cNvSpPr>
            <p:nvPr/>
          </p:nvSpPr>
          <p:spPr bwMode="auto">
            <a:xfrm>
              <a:off x="1611" y="758"/>
              <a:ext cx="2531"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en-US" altLang="zh-CN" sz="2800" b="1" i="1" dirty="0">
                  <a:solidFill>
                    <a:srgbClr val="FF33CC"/>
                  </a:solidFill>
                  <a:latin typeface="黑体" panose="02010609060101010101" pitchFamily="49" charset="-122"/>
                  <a:ea typeface="黑体" panose="02010609060101010101" pitchFamily="49" charset="-122"/>
                </a:rPr>
                <a:t>X</a:t>
              </a:r>
              <a:r>
                <a:rPr lang="en-US" altLang="zh-CN" sz="2800" b="1" dirty="0">
                  <a:solidFill>
                    <a:srgbClr val="FF33CC"/>
                  </a:solidFill>
                  <a:latin typeface="黑体" panose="02010609060101010101" pitchFamily="49" charset="-122"/>
                  <a:ea typeface="黑体" panose="02010609060101010101" pitchFamily="49" charset="-122"/>
                </a:rPr>
                <a:t>=1</a:t>
              </a:r>
              <a:r>
                <a:rPr lang="zh-CN" altLang="en-US" sz="2800" b="1" dirty="0">
                  <a:solidFill>
                    <a:srgbClr val="FF33CC"/>
                  </a:solidFill>
                  <a:latin typeface="黑体" panose="02010609060101010101" pitchFamily="49" charset="-122"/>
                  <a:ea typeface="黑体" panose="02010609060101010101" pitchFamily="49" charset="-122"/>
                </a:rPr>
                <a:t>时的状态转移真值表</a:t>
              </a:r>
              <a:endParaRPr lang="zh-CN" altLang="en-US" sz="2800" b="1" dirty="0">
                <a:solidFill>
                  <a:srgbClr val="FF33CC"/>
                </a:solidFill>
                <a:latin typeface="黑体" panose="02010609060101010101" pitchFamily="49" charset="-122"/>
                <a:ea typeface="黑体" panose="02010609060101010101" pitchFamily="49" charset="-122"/>
              </a:endParaRPr>
            </a:p>
          </p:txBody>
        </p:sp>
        <p:pic>
          <p:nvPicPr>
            <p:cNvPr id="18" name="Picture 6" descr="B5-3-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75" y="1117"/>
              <a:ext cx="3719" cy="1519"/>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par>
                                <p:cTn id="18" presetID="10" presetClass="entr" presetSubtype="0"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fade">
                                      <p:cBhvr>
                                        <p:cTn id="20" dur="500"/>
                                        <p:tgtEl>
                                          <p:spTgt spid="2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3785948"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3. </a:t>
            </a:r>
            <a:r>
              <a:rPr lang="zh-CN" altLang="en-US" sz="2800" b="1" dirty="0">
                <a:solidFill>
                  <a:srgbClr val="0000FF"/>
                </a:solidFill>
                <a:latin typeface="黑体" panose="02010609060101010101" pitchFamily="49" charset="-122"/>
                <a:ea typeface="黑体" panose="02010609060101010101" pitchFamily="49" charset="-122"/>
              </a:rPr>
              <a:t>画状态转移图</a:t>
            </a:r>
            <a:endParaRPr lang="zh-CN" altLang="en-US" sz="2800" b="1" dirty="0">
              <a:solidFill>
                <a:srgbClr val="0000FF"/>
              </a:solidFill>
              <a:latin typeface="黑体" panose="02010609060101010101" pitchFamily="49" charset="-122"/>
              <a:ea typeface="黑体" panose="02010609060101010101" pitchFamily="49" charset="-122"/>
            </a:endParaRPr>
          </a:p>
        </p:txBody>
      </p:sp>
      <p:grpSp>
        <p:nvGrpSpPr>
          <p:cNvPr id="16" name="Group 7"/>
          <p:cNvGrpSpPr/>
          <p:nvPr/>
        </p:nvGrpSpPr>
        <p:grpSpPr bwMode="auto">
          <a:xfrm>
            <a:off x="20715" y="3936756"/>
            <a:ext cx="3706151" cy="2436922"/>
            <a:chOff x="863" y="828"/>
            <a:chExt cx="3750" cy="1954"/>
          </a:xfrm>
        </p:grpSpPr>
        <p:sp>
          <p:nvSpPr>
            <p:cNvPr id="17" name="Rectangle 4"/>
            <p:cNvSpPr>
              <a:spLocks noChangeArrowheads="1"/>
            </p:cNvSpPr>
            <p:nvPr/>
          </p:nvSpPr>
          <p:spPr bwMode="auto">
            <a:xfrm>
              <a:off x="946" y="828"/>
              <a:ext cx="3353" cy="3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en-US" altLang="zh-CN" b="1" i="1" dirty="0">
                  <a:solidFill>
                    <a:srgbClr val="FF33CC"/>
                  </a:solidFill>
                  <a:latin typeface="黑体" panose="02010609060101010101" pitchFamily="49" charset="-122"/>
                  <a:ea typeface="黑体" panose="02010609060101010101" pitchFamily="49" charset="-122"/>
                </a:rPr>
                <a:t>X</a:t>
              </a:r>
              <a:r>
                <a:rPr lang="en-US" altLang="zh-CN" b="1" dirty="0">
                  <a:solidFill>
                    <a:srgbClr val="FF33CC"/>
                  </a:solidFill>
                  <a:latin typeface="黑体" panose="02010609060101010101" pitchFamily="49" charset="-122"/>
                  <a:ea typeface="黑体" panose="02010609060101010101" pitchFamily="49" charset="-122"/>
                </a:rPr>
                <a:t>=1</a:t>
              </a:r>
              <a:r>
                <a:rPr lang="zh-CN" altLang="en-US" b="1" dirty="0">
                  <a:solidFill>
                    <a:srgbClr val="FF33CC"/>
                  </a:solidFill>
                  <a:latin typeface="黑体" panose="02010609060101010101" pitchFamily="49" charset="-122"/>
                  <a:ea typeface="黑体" panose="02010609060101010101" pitchFamily="49" charset="-122"/>
                </a:rPr>
                <a:t>时的状态转移真值表</a:t>
              </a:r>
              <a:endParaRPr lang="zh-CN" altLang="en-US" b="1" dirty="0">
                <a:solidFill>
                  <a:srgbClr val="FF33CC"/>
                </a:solidFill>
                <a:latin typeface="黑体" panose="02010609060101010101" pitchFamily="49" charset="-122"/>
                <a:ea typeface="黑体" panose="02010609060101010101" pitchFamily="49" charset="-122"/>
              </a:endParaRPr>
            </a:p>
          </p:txBody>
        </p:sp>
        <p:pic>
          <p:nvPicPr>
            <p:cNvPr id="18" name="Picture 6" descr="B5-3-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3" y="1250"/>
              <a:ext cx="3750" cy="15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6"/>
          <p:cNvGrpSpPr/>
          <p:nvPr/>
        </p:nvGrpSpPr>
        <p:grpSpPr bwMode="auto">
          <a:xfrm>
            <a:off x="50513" y="1436621"/>
            <a:ext cx="3706151" cy="2519794"/>
            <a:chOff x="884" y="635"/>
            <a:chExt cx="3538" cy="1864"/>
          </a:xfrm>
        </p:grpSpPr>
        <p:sp>
          <p:nvSpPr>
            <p:cNvPr id="21" name="Rectangle 4"/>
            <p:cNvSpPr>
              <a:spLocks noChangeArrowheads="1"/>
            </p:cNvSpPr>
            <p:nvPr/>
          </p:nvSpPr>
          <p:spPr bwMode="auto">
            <a:xfrm>
              <a:off x="1033" y="635"/>
              <a:ext cx="3085"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en-US" altLang="zh-CN" b="1" i="1" dirty="0">
                  <a:solidFill>
                    <a:srgbClr val="FF33CC"/>
                  </a:solidFill>
                  <a:latin typeface="黑体" panose="02010609060101010101" pitchFamily="49" charset="-122"/>
                  <a:ea typeface="黑体" panose="02010609060101010101" pitchFamily="49" charset="-122"/>
                </a:rPr>
                <a:t>X</a:t>
              </a:r>
              <a:r>
                <a:rPr lang="en-US" altLang="zh-CN" b="1" dirty="0">
                  <a:solidFill>
                    <a:srgbClr val="FF33CC"/>
                  </a:solidFill>
                  <a:latin typeface="黑体" panose="02010609060101010101" pitchFamily="49" charset="-122"/>
                  <a:ea typeface="黑体" panose="02010609060101010101" pitchFamily="49" charset="-122"/>
                </a:rPr>
                <a:t>=0</a:t>
              </a:r>
              <a:r>
                <a:rPr lang="zh-CN" altLang="en-US" b="1" dirty="0">
                  <a:solidFill>
                    <a:srgbClr val="FF33CC"/>
                  </a:solidFill>
                  <a:latin typeface="黑体" panose="02010609060101010101" pitchFamily="49" charset="-122"/>
                  <a:ea typeface="黑体" panose="02010609060101010101" pitchFamily="49" charset="-122"/>
                </a:rPr>
                <a:t>时的状态转移真值表</a:t>
              </a:r>
              <a:endParaRPr lang="zh-CN" altLang="en-US" b="1" dirty="0">
                <a:solidFill>
                  <a:srgbClr val="FF33CC"/>
                </a:solidFill>
                <a:latin typeface="黑体" panose="02010609060101010101" pitchFamily="49" charset="-122"/>
                <a:ea typeface="黑体" panose="02010609060101010101" pitchFamily="49" charset="-122"/>
              </a:endParaRPr>
            </a:p>
          </p:txBody>
        </p:sp>
        <p:pic>
          <p:nvPicPr>
            <p:cNvPr id="22" name="Picture 5" descr="B5-3-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4" y="1026"/>
              <a:ext cx="3538" cy="147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4" name="Group 6"/>
          <p:cNvGrpSpPr/>
          <p:nvPr/>
        </p:nvGrpSpPr>
        <p:grpSpPr bwMode="auto">
          <a:xfrm>
            <a:off x="3816820" y="1828306"/>
            <a:ext cx="5176964" cy="2194158"/>
            <a:chOff x="940" y="1585"/>
            <a:chExt cx="3927" cy="1563"/>
          </a:xfrm>
        </p:grpSpPr>
        <p:sp>
          <p:nvSpPr>
            <p:cNvPr id="26" name="Rectangle 4"/>
            <p:cNvSpPr>
              <a:spLocks noChangeArrowheads="1"/>
            </p:cNvSpPr>
            <p:nvPr/>
          </p:nvSpPr>
          <p:spPr bwMode="auto">
            <a:xfrm>
              <a:off x="1759" y="2750"/>
              <a:ext cx="2219" cy="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eaLnBrk="1" fontAlgn="base" latinLnBrk="0" hangingPunct="1">
                <a:lnSpc>
                  <a:spcPct val="130000"/>
                </a:lnSpc>
                <a:spcBef>
                  <a:spcPct val="20000"/>
                </a:spcBef>
                <a:spcAft>
                  <a:spcPct val="0"/>
                </a:spcAft>
                <a:buClrTx/>
                <a:buSzTx/>
                <a:buFontTx/>
                <a:buNone/>
                <a:defRPr/>
              </a:pPr>
              <a:r>
                <a:rPr kumimoji="1" lang="en-US" altLang="zh-CN" b="1" i="1"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X</a:t>
              </a:r>
              <a:r>
                <a:rPr kumimoji="1" lang="en-US" altLang="zh-CN"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=0</a:t>
              </a:r>
              <a:r>
                <a:rPr kumimoji="1" lang="zh-CN" altLang="en-US"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时的状态转移图</a:t>
              </a:r>
              <a:endParaRPr kumimoji="1" lang="zh-CN" altLang="en-US"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pic>
          <p:nvPicPr>
            <p:cNvPr id="27" name="Picture 5" descr="5-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0" y="1585"/>
              <a:ext cx="3927" cy="10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6"/>
          <p:cNvGrpSpPr/>
          <p:nvPr/>
        </p:nvGrpSpPr>
        <p:grpSpPr bwMode="auto">
          <a:xfrm>
            <a:off x="3867667" y="4463051"/>
            <a:ext cx="5176963" cy="2023105"/>
            <a:chOff x="910" y="1753"/>
            <a:chExt cx="3927" cy="1404"/>
          </a:xfrm>
        </p:grpSpPr>
        <p:sp>
          <p:nvSpPr>
            <p:cNvPr id="29" name="Rectangle 4"/>
            <p:cNvSpPr>
              <a:spLocks noChangeArrowheads="1"/>
            </p:cNvSpPr>
            <p:nvPr/>
          </p:nvSpPr>
          <p:spPr bwMode="auto">
            <a:xfrm>
              <a:off x="1546" y="2794"/>
              <a:ext cx="246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342900" indent="-342900" algn="ctr" defTabSz="914400" fontAlgn="base">
                <a:lnSpc>
                  <a:spcPct val="130000"/>
                </a:lnSpc>
                <a:spcBef>
                  <a:spcPct val="20000"/>
                </a:spcBef>
                <a:spcAft>
                  <a:spcPct val="0"/>
                </a:spcAft>
              </a:pPr>
              <a:r>
                <a:rPr kumimoji="1" lang="en-US" altLang="zh-CN" sz="2400" b="1" kern="0" dirty="0">
                  <a:solidFill>
                    <a:srgbClr val="0000FF"/>
                  </a:solidFill>
                  <a:latin typeface="黑体" panose="02010609060101010101" pitchFamily="49" charset="-122"/>
                  <a:ea typeface="黑体" panose="02010609060101010101" pitchFamily="49" charset="-122"/>
                </a:rPr>
                <a:t>  </a:t>
              </a:r>
              <a:r>
                <a:rPr kumimoji="1" lang="en-US" altLang="zh-CN" sz="2400" b="1" i="1" kern="0" dirty="0">
                  <a:solidFill>
                    <a:srgbClr val="0000FF"/>
                  </a:solidFill>
                  <a:latin typeface="黑体" panose="02010609060101010101" pitchFamily="49" charset="-122"/>
                  <a:ea typeface="黑体" panose="02010609060101010101" pitchFamily="49" charset="-122"/>
                </a:rPr>
                <a:t>X</a:t>
              </a:r>
              <a:r>
                <a:rPr kumimoji="1" lang="en-US" altLang="zh-CN" sz="2400" b="1" kern="0" dirty="0">
                  <a:solidFill>
                    <a:srgbClr val="0000FF"/>
                  </a:solidFill>
                  <a:latin typeface="黑体" panose="02010609060101010101" pitchFamily="49" charset="-122"/>
                  <a:ea typeface="黑体" panose="02010609060101010101" pitchFamily="49" charset="-122"/>
                </a:rPr>
                <a:t>=1</a:t>
              </a:r>
              <a:r>
                <a:rPr kumimoji="1" lang="zh-CN" altLang="en-US" sz="2400" b="1" kern="0" dirty="0">
                  <a:solidFill>
                    <a:srgbClr val="0000FF"/>
                  </a:solidFill>
                  <a:latin typeface="黑体" panose="02010609060101010101" pitchFamily="49" charset="-122"/>
                  <a:ea typeface="黑体" panose="02010609060101010101" pitchFamily="49" charset="-122"/>
                </a:rPr>
                <a:t>时的状态转移图</a:t>
              </a:r>
              <a:endParaRPr kumimoji="1" lang="zh-CN" altLang="en-US" sz="2400" b="1" kern="0" dirty="0">
                <a:solidFill>
                  <a:srgbClr val="0000FF"/>
                </a:solidFill>
                <a:latin typeface="黑体" panose="02010609060101010101" pitchFamily="49" charset="-122"/>
                <a:ea typeface="黑体" panose="02010609060101010101" pitchFamily="49" charset="-122"/>
              </a:endParaRPr>
            </a:p>
          </p:txBody>
        </p:sp>
        <p:pic>
          <p:nvPicPr>
            <p:cNvPr id="30" name="Picture 5" descr="5-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0" y="1753"/>
              <a:ext cx="3927" cy="1067"/>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3785948"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4. </a:t>
            </a:r>
            <a:r>
              <a:rPr lang="zh-CN" altLang="en-US" sz="2800" b="1" dirty="0">
                <a:solidFill>
                  <a:srgbClr val="0000FF"/>
                </a:solidFill>
                <a:latin typeface="黑体" panose="02010609060101010101" pitchFamily="49" charset="-122"/>
                <a:ea typeface="黑体" panose="02010609060101010101" pitchFamily="49" charset="-122"/>
              </a:rPr>
              <a:t>画时序图</a:t>
            </a:r>
            <a:endParaRPr lang="zh-CN" altLang="en-US" sz="2800" b="1" dirty="0">
              <a:solidFill>
                <a:srgbClr val="0000FF"/>
              </a:solidFill>
              <a:latin typeface="黑体" panose="02010609060101010101" pitchFamily="49" charset="-122"/>
              <a:ea typeface="黑体" panose="02010609060101010101" pitchFamily="49" charset="-122"/>
            </a:endParaRPr>
          </a:p>
        </p:txBody>
      </p:sp>
      <p:grpSp>
        <p:nvGrpSpPr>
          <p:cNvPr id="24" name="Group 6"/>
          <p:cNvGrpSpPr/>
          <p:nvPr/>
        </p:nvGrpSpPr>
        <p:grpSpPr bwMode="auto">
          <a:xfrm>
            <a:off x="78121" y="1436940"/>
            <a:ext cx="3378269" cy="1655192"/>
            <a:chOff x="940" y="1126"/>
            <a:chExt cx="3927" cy="1493"/>
          </a:xfrm>
        </p:grpSpPr>
        <p:sp>
          <p:nvSpPr>
            <p:cNvPr id="26" name="Rectangle 4"/>
            <p:cNvSpPr>
              <a:spLocks noChangeArrowheads="1"/>
            </p:cNvSpPr>
            <p:nvPr/>
          </p:nvSpPr>
          <p:spPr bwMode="auto">
            <a:xfrm>
              <a:off x="1821" y="1126"/>
              <a:ext cx="2219" cy="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eaLnBrk="1" fontAlgn="base" latinLnBrk="0" hangingPunct="1">
                <a:lnSpc>
                  <a:spcPct val="130000"/>
                </a:lnSpc>
                <a:spcBef>
                  <a:spcPct val="20000"/>
                </a:spcBef>
                <a:spcAft>
                  <a:spcPct val="0"/>
                </a:spcAft>
                <a:buClrTx/>
                <a:buSzTx/>
                <a:buFontTx/>
                <a:buNone/>
                <a:defRPr/>
              </a:pPr>
              <a:r>
                <a:rPr kumimoji="1" lang="en-US" altLang="zh-CN" b="1" i="1"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X</a:t>
              </a:r>
              <a:r>
                <a:rPr kumimoji="1" lang="en-US" altLang="zh-CN"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=0</a:t>
              </a:r>
              <a:r>
                <a:rPr kumimoji="1" lang="zh-CN" altLang="en-US"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时的状态转移图</a:t>
              </a:r>
              <a:endParaRPr kumimoji="1" lang="zh-CN" altLang="en-US"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pic>
          <p:nvPicPr>
            <p:cNvPr id="27" name="Picture 5" descr="5-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 y="1585"/>
              <a:ext cx="3927" cy="10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8" name="Group 6"/>
          <p:cNvGrpSpPr/>
          <p:nvPr/>
        </p:nvGrpSpPr>
        <p:grpSpPr bwMode="auto">
          <a:xfrm>
            <a:off x="17159" y="3350668"/>
            <a:ext cx="3378269" cy="1682021"/>
            <a:chOff x="910" y="1228"/>
            <a:chExt cx="3927" cy="1601"/>
          </a:xfrm>
        </p:grpSpPr>
        <p:sp>
          <p:nvSpPr>
            <p:cNvPr id="29" name="Rectangle 4"/>
            <p:cNvSpPr>
              <a:spLocks noChangeArrowheads="1"/>
            </p:cNvSpPr>
            <p:nvPr/>
          </p:nvSpPr>
          <p:spPr bwMode="auto">
            <a:xfrm>
              <a:off x="1564" y="1228"/>
              <a:ext cx="246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342900" indent="-342900" algn="ctr" defTabSz="914400" fontAlgn="base">
                <a:lnSpc>
                  <a:spcPct val="130000"/>
                </a:lnSpc>
                <a:spcBef>
                  <a:spcPct val="20000"/>
                </a:spcBef>
                <a:spcAft>
                  <a:spcPct val="0"/>
                </a:spcAft>
              </a:pPr>
              <a:r>
                <a:rPr kumimoji="1" lang="en-US" altLang="zh-CN" sz="2400" b="1" kern="0" dirty="0">
                  <a:solidFill>
                    <a:srgbClr val="0000FF"/>
                  </a:solidFill>
                  <a:latin typeface="黑体" panose="02010609060101010101" pitchFamily="49" charset="-122"/>
                  <a:ea typeface="黑体" panose="02010609060101010101" pitchFamily="49" charset="-122"/>
                </a:rPr>
                <a:t>  </a:t>
              </a:r>
              <a:r>
                <a:rPr kumimoji="1" lang="en-US" altLang="zh-CN" sz="2400" b="1" i="1" kern="0" dirty="0">
                  <a:solidFill>
                    <a:srgbClr val="0000FF"/>
                  </a:solidFill>
                  <a:latin typeface="黑体" panose="02010609060101010101" pitchFamily="49" charset="-122"/>
                  <a:ea typeface="黑体" panose="02010609060101010101" pitchFamily="49" charset="-122"/>
                </a:rPr>
                <a:t>X</a:t>
              </a:r>
              <a:r>
                <a:rPr kumimoji="1" lang="en-US" altLang="zh-CN" sz="2400" b="1" kern="0" dirty="0">
                  <a:solidFill>
                    <a:srgbClr val="0000FF"/>
                  </a:solidFill>
                  <a:latin typeface="黑体" panose="02010609060101010101" pitchFamily="49" charset="-122"/>
                  <a:ea typeface="黑体" panose="02010609060101010101" pitchFamily="49" charset="-122"/>
                </a:rPr>
                <a:t>=1</a:t>
              </a:r>
              <a:r>
                <a:rPr kumimoji="1" lang="zh-CN" altLang="en-US" sz="2400" b="1" kern="0" dirty="0">
                  <a:solidFill>
                    <a:srgbClr val="0000FF"/>
                  </a:solidFill>
                  <a:latin typeface="黑体" panose="02010609060101010101" pitchFamily="49" charset="-122"/>
                  <a:ea typeface="黑体" panose="02010609060101010101" pitchFamily="49" charset="-122"/>
                </a:rPr>
                <a:t>时的状态转移图</a:t>
              </a:r>
              <a:endParaRPr kumimoji="1" lang="zh-CN" altLang="en-US" sz="2400" b="1" kern="0" dirty="0">
                <a:solidFill>
                  <a:srgbClr val="0000FF"/>
                </a:solidFill>
                <a:latin typeface="黑体" panose="02010609060101010101" pitchFamily="49" charset="-122"/>
                <a:ea typeface="黑体" panose="02010609060101010101" pitchFamily="49" charset="-122"/>
              </a:endParaRPr>
            </a:p>
          </p:txBody>
        </p:sp>
        <p:pic>
          <p:nvPicPr>
            <p:cNvPr id="30" name="Picture 5" descr="5-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 y="1762"/>
              <a:ext cx="3927" cy="1067"/>
            </a:xfrm>
            <a:prstGeom prst="rect">
              <a:avLst/>
            </a:prstGeom>
            <a:noFill/>
            <a:extLst>
              <a:ext uri="{909E8E84-426E-40DD-AFC4-6F175D3DCCD1}">
                <a14:hiddenFill xmlns:a14="http://schemas.microsoft.com/office/drawing/2010/main">
                  <a:solidFill>
                    <a:srgbClr val="FFFFFF"/>
                  </a:solidFill>
                </a14:hiddenFill>
              </a:ext>
            </a:extLst>
          </p:spPr>
        </p:pic>
      </p:grpSp>
      <p:pic>
        <p:nvPicPr>
          <p:cNvPr id="17" name="Picture 5" descr="5-3-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6052" y="2211521"/>
            <a:ext cx="5544703" cy="296787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直接连接符 3"/>
          <p:cNvCxnSpPr/>
          <p:nvPr/>
        </p:nvCxnSpPr>
        <p:spPr>
          <a:xfrm>
            <a:off x="4572000" y="2599841"/>
            <a:ext cx="0" cy="2696705"/>
          </a:xfrm>
          <a:prstGeom prst="line">
            <a:avLst/>
          </a:prstGeom>
          <a:ln w="34925">
            <a:solidFill>
              <a:srgbClr val="FF33CC"/>
            </a:solidFill>
            <a:prstDash val="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905786" y="2599841"/>
            <a:ext cx="0" cy="2747074"/>
          </a:xfrm>
          <a:prstGeom prst="line">
            <a:avLst/>
          </a:prstGeom>
          <a:ln w="34925">
            <a:solidFill>
              <a:srgbClr val="FF33CC"/>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674244" y="2599841"/>
            <a:ext cx="0" cy="2747074"/>
          </a:xfrm>
          <a:prstGeom prst="line">
            <a:avLst/>
          </a:prstGeom>
          <a:ln w="34925">
            <a:solidFill>
              <a:srgbClr val="FF33CC"/>
            </a:solidFill>
            <a:prstDash val="dash"/>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8450451" y="2592091"/>
            <a:ext cx="0" cy="2747074"/>
          </a:xfrm>
          <a:prstGeom prst="line">
            <a:avLst/>
          </a:prstGeom>
          <a:ln w="34925">
            <a:solidFill>
              <a:srgbClr val="FF33CC"/>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355956" y="2599841"/>
            <a:ext cx="0" cy="2696705"/>
          </a:xfrm>
          <a:prstGeom prst="line">
            <a:avLst/>
          </a:prstGeom>
          <a:ln w="34925">
            <a:solidFill>
              <a:srgbClr val="FF33CC"/>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123123" y="2599841"/>
            <a:ext cx="0" cy="2747074"/>
          </a:xfrm>
          <a:prstGeom prst="line">
            <a:avLst/>
          </a:prstGeom>
          <a:ln w="34925">
            <a:solidFill>
              <a:srgbClr val="FF33CC"/>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4245353" y="4060049"/>
            <a:ext cx="263470" cy="523220"/>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33" name="文本框 32"/>
          <p:cNvSpPr txBox="1"/>
          <p:nvPr/>
        </p:nvSpPr>
        <p:spPr>
          <a:xfrm>
            <a:off x="4260289" y="3437541"/>
            <a:ext cx="263470" cy="523220"/>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34" name="文本框 33"/>
          <p:cNvSpPr txBox="1"/>
          <p:nvPr/>
        </p:nvSpPr>
        <p:spPr>
          <a:xfrm>
            <a:off x="4246085" y="2830522"/>
            <a:ext cx="263470" cy="523220"/>
          </a:xfrm>
          <a:prstGeom prst="rect">
            <a:avLst/>
          </a:prstGeom>
          <a:noFill/>
        </p:spPr>
        <p:txBody>
          <a:bodyPr wrap="square" rtlCol="0">
            <a:spAutoFit/>
          </a:bodyPr>
          <a:lstStyle/>
          <a:p>
            <a:r>
              <a:rPr lang="en-US" altLang="zh-CN" sz="2800" b="1" dirty="0">
                <a:solidFill>
                  <a:srgbClr val="00B050"/>
                </a:solidFill>
              </a:rPr>
              <a:t>0</a:t>
            </a:r>
            <a:endParaRPr lang="zh-CN" altLang="en-US" sz="2800" b="1" dirty="0">
              <a:solidFill>
                <a:srgbClr val="00B050"/>
              </a:solidFill>
            </a:endParaRPr>
          </a:p>
        </p:txBody>
      </p:sp>
      <p:sp>
        <p:nvSpPr>
          <p:cNvPr id="37" name="文本框 36"/>
          <p:cNvSpPr txBox="1"/>
          <p:nvPr/>
        </p:nvSpPr>
        <p:spPr>
          <a:xfrm>
            <a:off x="4750334" y="4057459"/>
            <a:ext cx="263470" cy="523220"/>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38" name="文本框 37"/>
          <p:cNvSpPr txBox="1"/>
          <p:nvPr/>
        </p:nvSpPr>
        <p:spPr>
          <a:xfrm>
            <a:off x="4765270" y="3434951"/>
            <a:ext cx="263470" cy="523220"/>
          </a:xfrm>
          <a:prstGeom prst="rect">
            <a:avLst/>
          </a:prstGeom>
          <a:noFill/>
        </p:spPr>
        <p:txBody>
          <a:bodyPr wrap="square" rtlCol="0">
            <a:spAutoFit/>
          </a:bodyPr>
          <a:lstStyle/>
          <a:p>
            <a:r>
              <a:rPr lang="en-US" altLang="zh-CN" sz="2800" b="1" dirty="0">
                <a:solidFill>
                  <a:srgbClr val="0000FF"/>
                </a:solidFill>
              </a:rPr>
              <a:t>1</a:t>
            </a:r>
            <a:endParaRPr lang="zh-CN" altLang="en-US" sz="2800" b="1" dirty="0">
              <a:solidFill>
                <a:srgbClr val="0000FF"/>
              </a:solidFill>
            </a:endParaRPr>
          </a:p>
        </p:txBody>
      </p:sp>
      <p:sp>
        <p:nvSpPr>
          <p:cNvPr id="39" name="文本框 38"/>
          <p:cNvSpPr txBox="1"/>
          <p:nvPr/>
        </p:nvSpPr>
        <p:spPr>
          <a:xfrm>
            <a:off x="4862131" y="2812443"/>
            <a:ext cx="263470" cy="523220"/>
          </a:xfrm>
          <a:prstGeom prst="rect">
            <a:avLst/>
          </a:prstGeom>
          <a:noFill/>
        </p:spPr>
        <p:txBody>
          <a:bodyPr wrap="square" rtlCol="0">
            <a:spAutoFit/>
          </a:bodyPr>
          <a:lstStyle/>
          <a:p>
            <a:r>
              <a:rPr lang="en-US" altLang="zh-CN" sz="2800" b="1" dirty="0">
                <a:solidFill>
                  <a:srgbClr val="00B050"/>
                </a:solidFill>
              </a:rPr>
              <a:t>0</a:t>
            </a:r>
            <a:endParaRPr lang="zh-CN" altLang="en-US" sz="2800" b="1" dirty="0">
              <a:solidFill>
                <a:srgbClr val="00B050"/>
              </a:solidFill>
            </a:endParaRPr>
          </a:p>
        </p:txBody>
      </p:sp>
      <p:sp>
        <p:nvSpPr>
          <p:cNvPr id="40" name="文本框 39"/>
          <p:cNvSpPr txBox="1"/>
          <p:nvPr/>
        </p:nvSpPr>
        <p:spPr>
          <a:xfrm>
            <a:off x="5498121" y="4067003"/>
            <a:ext cx="301467" cy="543668"/>
          </a:xfrm>
          <a:prstGeom prst="rect">
            <a:avLst/>
          </a:prstGeom>
          <a:noFill/>
        </p:spPr>
        <p:txBody>
          <a:bodyPr wrap="square" rtlCol="0">
            <a:spAutoFit/>
          </a:bodyPr>
          <a:lstStyle/>
          <a:p>
            <a:r>
              <a:rPr lang="en-US" altLang="zh-CN" sz="2800" b="1" dirty="0">
                <a:solidFill>
                  <a:srgbClr val="0000FF"/>
                </a:solidFill>
              </a:rPr>
              <a:t>1</a:t>
            </a:r>
            <a:endParaRPr lang="zh-CN" altLang="en-US" sz="2800" b="1" dirty="0">
              <a:solidFill>
                <a:srgbClr val="0000FF"/>
              </a:solidFill>
            </a:endParaRPr>
          </a:p>
        </p:txBody>
      </p:sp>
      <p:sp>
        <p:nvSpPr>
          <p:cNvPr id="41" name="文本框 40"/>
          <p:cNvSpPr txBox="1"/>
          <p:nvPr/>
        </p:nvSpPr>
        <p:spPr>
          <a:xfrm>
            <a:off x="5513057" y="3444495"/>
            <a:ext cx="301467" cy="543668"/>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43" name="文本框 42"/>
          <p:cNvSpPr txBox="1"/>
          <p:nvPr/>
        </p:nvSpPr>
        <p:spPr>
          <a:xfrm>
            <a:off x="5585503" y="2827448"/>
            <a:ext cx="263470" cy="523220"/>
          </a:xfrm>
          <a:prstGeom prst="rect">
            <a:avLst/>
          </a:prstGeom>
          <a:noFill/>
        </p:spPr>
        <p:txBody>
          <a:bodyPr wrap="square" rtlCol="0">
            <a:spAutoFit/>
          </a:bodyPr>
          <a:lstStyle/>
          <a:p>
            <a:r>
              <a:rPr lang="en-US" altLang="zh-CN" sz="2800" b="1" dirty="0">
                <a:solidFill>
                  <a:srgbClr val="00B050"/>
                </a:solidFill>
              </a:rPr>
              <a:t>0</a:t>
            </a:r>
            <a:endParaRPr lang="zh-CN" altLang="en-US" sz="2800" b="1" dirty="0">
              <a:solidFill>
                <a:srgbClr val="00B050"/>
              </a:solidFill>
            </a:endParaRPr>
          </a:p>
        </p:txBody>
      </p:sp>
      <p:sp>
        <p:nvSpPr>
          <p:cNvPr id="44" name="文本框 43"/>
          <p:cNvSpPr txBox="1"/>
          <p:nvPr/>
        </p:nvSpPr>
        <p:spPr>
          <a:xfrm>
            <a:off x="6376014" y="4051508"/>
            <a:ext cx="301467" cy="543668"/>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45" name="文本框 44"/>
          <p:cNvSpPr txBox="1"/>
          <p:nvPr/>
        </p:nvSpPr>
        <p:spPr>
          <a:xfrm>
            <a:off x="6390950" y="3429000"/>
            <a:ext cx="301467" cy="543668"/>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46" name="文本框 45"/>
          <p:cNvSpPr txBox="1"/>
          <p:nvPr/>
        </p:nvSpPr>
        <p:spPr>
          <a:xfrm>
            <a:off x="6573412" y="2758258"/>
            <a:ext cx="263470" cy="523220"/>
          </a:xfrm>
          <a:prstGeom prst="rect">
            <a:avLst/>
          </a:prstGeom>
          <a:noFill/>
        </p:spPr>
        <p:txBody>
          <a:bodyPr wrap="square" rtlCol="0">
            <a:spAutoFit/>
          </a:bodyPr>
          <a:lstStyle/>
          <a:p>
            <a:r>
              <a:rPr lang="en-US" altLang="zh-CN" sz="2800" b="1" dirty="0">
                <a:solidFill>
                  <a:srgbClr val="00B050"/>
                </a:solidFill>
              </a:rPr>
              <a:t>1</a:t>
            </a:r>
            <a:endParaRPr lang="zh-CN" altLang="en-US" sz="2800" b="1" dirty="0">
              <a:solidFill>
                <a:srgbClr val="00B050"/>
              </a:solidFill>
            </a:endParaRPr>
          </a:p>
        </p:txBody>
      </p:sp>
      <p:graphicFrame>
        <p:nvGraphicFramePr>
          <p:cNvPr id="48" name="Object 4"/>
          <p:cNvGraphicFramePr>
            <a:graphicFrameLocks noChangeAspect="1"/>
          </p:cNvGraphicFramePr>
          <p:nvPr/>
        </p:nvGraphicFramePr>
        <p:xfrm>
          <a:off x="3992604" y="5560254"/>
          <a:ext cx="3011033" cy="709082"/>
        </p:xfrm>
        <a:graphic>
          <a:graphicData uri="http://schemas.openxmlformats.org/presentationml/2006/ole">
            <mc:AlternateContent xmlns:mc="http://schemas.openxmlformats.org/markup-compatibility/2006">
              <mc:Choice xmlns:v="urn:schemas-microsoft-com:vml" Requires="v">
                <p:oleObj spid="_x0000_s14347" name="Equation" r:id="rId5" imgW="1129665" imgH="266700" progId="Equation.DSMT4">
                  <p:embed/>
                </p:oleObj>
              </mc:Choice>
              <mc:Fallback>
                <p:oleObj name="Equation" r:id="rId5" imgW="1129665" imgH="266700" progId="Equation.DSMT4">
                  <p:embed/>
                  <p:pic>
                    <p:nvPicPr>
                      <p:cNvPr id="0" name="Object 4"/>
                      <p:cNvPicPr>
                        <a:picLocks noGrp="1"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92604" y="5560254"/>
                        <a:ext cx="3011033" cy="709082"/>
                      </a:xfrm>
                      <a:prstGeom prst="rect">
                        <a:avLst/>
                      </a:prstGeom>
                      <a:noFill/>
                      <a:ln>
                        <a:noFill/>
                      </a:ln>
                      <a:effectLst/>
                    </p:spPr>
                  </p:pic>
                </p:oleObj>
              </mc:Fallback>
            </mc:AlternateContent>
          </a:graphicData>
        </a:graphic>
      </p:graphicFrame>
      <p:sp>
        <p:nvSpPr>
          <p:cNvPr id="49" name="文本框 48"/>
          <p:cNvSpPr txBox="1"/>
          <p:nvPr/>
        </p:nvSpPr>
        <p:spPr>
          <a:xfrm>
            <a:off x="7163576" y="4037011"/>
            <a:ext cx="301467" cy="543668"/>
          </a:xfrm>
          <a:prstGeom prst="rect">
            <a:avLst/>
          </a:prstGeom>
          <a:noFill/>
        </p:spPr>
        <p:txBody>
          <a:bodyPr wrap="square" rtlCol="0">
            <a:spAutoFit/>
          </a:bodyPr>
          <a:lstStyle/>
          <a:p>
            <a:r>
              <a:rPr lang="en-US" altLang="zh-CN" sz="2800" b="1" dirty="0">
                <a:solidFill>
                  <a:srgbClr val="0000FF"/>
                </a:solidFill>
              </a:rPr>
              <a:t>1</a:t>
            </a:r>
            <a:endParaRPr lang="zh-CN" altLang="en-US" sz="2800" b="1" dirty="0">
              <a:solidFill>
                <a:srgbClr val="0000FF"/>
              </a:solidFill>
            </a:endParaRPr>
          </a:p>
        </p:txBody>
      </p:sp>
      <p:sp>
        <p:nvSpPr>
          <p:cNvPr id="50" name="文本框 49"/>
          <p:cNvSpPr txBox="1"/>
          <p:nvPr/>
        </p:nvSpPr>
        <p:spPr>
          <a:xfrm>
            <a:off x="7178512" y="3414503"/>
            <a:ext cx="301467" cy="543668"/>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51" name="文本框 50"/>
          <p:cNvSpPr txBox="1"/>
          <p:nvPr/>
        </p:nvSpPr>
        <p:spPr>
          <a:xfrm>
            <a:off x="7194634" y="2771164"/>
            <a:ext cx="263470" cy="523220"/>
          </a:xfrm>
          <a:prstGeom prst="rect">
            <a:avLst/>
          </a:prstGeom>
          <a:noFill/>
        </p:spPr>
        <p:txBody>
          <a:bodyPr wrap="square" rtlCol="0">
            <a:spAutoFit/>
          </a:bodyPr>
          <a:lstStyle/>
          <a:p>
            <a:r>
              <a:rPr lang="en-US" altLang="zh-CN" sz="2800" b="1" dirty="0">
                <a:solidFill>
                  <a:srgbClr val="00B050"/>
                </a:solidFill>
              </a:rPr>
              <a:t>1</a:t>
            </a:r>
            <a:endParaRPr lang="zh-CN" altLang="en-US" sz="2800" b="1" dirty="0">
              <a:solidFill>
                <a:srgbClr val="00B050"/>
              </a:solidFill>
            </a:endParaRPr>
          </a:p>
        </p:txBody>
      </p:sp>
      <p:sp>
        <p:nvSpPr>
          <p:cNvPr id="52" name="文本框 51"/>
          <p:cNvSpPr txBox="1"/>
          <p:nvPr/>
        </p:nvSpPr>
        <p:spPr>
          <a:xfrm>
            <a:off x="7932671" y="4054879"/>
            <a:ext cx="263470" cy="523220"/>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53" name="文本框 52"/>
          <p:cNvSpPr txBox="1"/>
          <p:nvPr/>
        </p:nvSpPr>
        <p:spPr>
          <a:xfrm>
            <a:off x="7947607" y="3432371"/>
            <a:ext cx="263470" cy="523220"/>
          </a:xfrm>
          <a:prstGeom prst="rect">
            <a:avLst/>
          </a:prstGeom>
          <a:noFill/>
        </p:spPr>
        <p:txBody>
          <a:bodyPr wrap="square" rtlCol="0">
            <a:spAutoFit/>
          </a:bodyPr>
          <a:lstStyle/>
          <a:p>
            <a:r>
              <a:rPr lang="en-US" altLang="zh-CN" sz="2800" b="1" dirty="0">
                <a:solidFill>
                  <a:srgbClr val="0000FF"/>
                </a:solidFill>
              </a:rPr>
              <a:t>1</a:t>
            </a:r>
            <a:endParaRPr lang="zh-CN" altLang="en-US" sz="2800" b="1" dirty="0">
              <a:solidFill>
                <a:srgbClr val="0000FF"/>
              </a:solidFill>
            </a:endParaRPr>
          </a:p>
        </p:txBody>
      </p:sp>
      <p:sp>
        <p:nvSpPr>
          <p:cNvPr id="54" name="文本框 53"/>
          <p:cNvSpPr txBox="1"/>
          <p:nvPr/>
        </p:nvSpPr>
        <p:spPr>
          <a:xfrm>
            <a:off x="7901097" y="2772451"/>
            <a:ext cx="263470" cy="523220"/>
          </a:xfrm>
          <a:prstGeom prst="rect">
            <a:avLst/>
          </a:prstGeom>
          <a:noFill/>
        </p:spPr>
        <p:txBody>
          <a:bodyPr wrap="square" rtlCol="0">
            <a:spAutoFit/>
          </a:bodyPr>
          <a:lstStyle/>
          <a:p>
            <a:r>
              <a:rPr lang="en-US" altLang="zh-CN" sz="2800" b="1" dirty="0">
                <a:solidFill>
                  <a:srgbClr val="00B050"/>
                </a:solidFill>
              </a:rPr>
              <a:t>1</a:t>
            </a:r>
            <a:endParaRPr lang="zh-CN" altLang="en-US" sz="2800" b="1" dirty="0">
              <a:solidFill>
                <a:srgbClr val="00B050"/>
              </a:solidFill>
            </a:endParaRPr>
          </a:p>
        </p:txBody>
      </p:sp>
      <p:sp>
        <p:nvSpPr>
          <p:cNvPr id="55" name="文本框 54"/>
          <p:cNvSpPr txBox="1"/>
          <p:nvPr/>
        </p:nvSpPr>
        <p:spPr>
          <a:xfrm>
            <a:off x="8535450" y="4048930"/>
            <a:ext cx="301467" cy="543668"/>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
        <p:nvSpPr>
          <p:cNvPr id="56" name="文本框 55"/>
          <p:cNvSpPr txBox="1"/>
          <p:nvPr/>
        </p:nvSpPr>
        <p:spPr>
          <a:xfrm>
            <a:off x="8550386" y="3426422"/>
            <a:ext cx="301467" cy="543668"/>
          </a:xfrm>
          <a:prstGeom prst="rect">
            <a:avLst/>
          </a:prstGeom>
          <a:noFill/>
        </p:spPr>
        <p:txBody>
          <a:bodyPr wrap="square" rtlCol="0">
            <a:spAutoFit/>
          </a:bodyPr>
          <a:lstStyle/>
          <a:p>
            <a:r>
              <a:rPr lang="en-US" altLang="zh-CN" sz="2800" b="1" dirty="0">
                <a:solidFill>
                  <a:srgbClr val="0000FF"/>
                </a:solidFill>
              </a:rPr>
              <a:t>0</a:t>
            </a:r>
            <a:endParaRPr lang="zh-CN" altLang="en-US" sz="2800"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par>
                                <p:cTn id="8" presetID="22" presetClass="entr" presetSubtype="1"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up)">
                                      <p:cBhvr>
                                        <p:cTn id="10" dur="500"/>
                                        <p:tgtEl>
                                          <p:spTgt spid="23"/>
                                        </p:tgtEl>
                                      </p:cBhvr>
                                    </p:animEffect>
                                  </p:childTnLst>
                                </p:cTn>
                              </p:par>
                              <p:par>
                                <p:cTn id="11" presetID="22" presetClass="entr" presetSubtype="1"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par>
                                <p:cTn id="14" presetID="22" presetClass="entr" presetSubtype="1" fill="hold"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wipe(up)">
                                      <p:cBhvr>
                                        <p:cTn id="16" dur="500"/>
                                        <p:tgtEl>
                                          <p:spTgt spid="20"/>
                                        </p:tgtEl>
                                      </p:cBhvr>
                                    </p:animEffect>
                                  </p:childTnLst>
                                </p:cTn>
                              </p:par>
                              <p:par>
                                <p:cTn id="17" presetID="22" presetClass="entr" presetSubtype="1"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wipe(up)">
                                      <p:cBhvr>
                                        <p:cTn id="19" dur="500"/>
                                        <p:tgtEl>
                                          <p:spTgt spid="21"/>
                                        </p:tgtEl>
                                      </p:cBhvr>
                                    </p:animEffect>
                                  </p:childTnLst>
                                </p:cTn>
                              </p:par>
                              <p:par>
                                <p:cTn id="20" presetID="22" presetClass="entr" presetSubtype="1"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wipe(up)">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5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fade">
                                      <p:cBhvr>
                                        <p:cTn id="32" dur="500"/>
                                        <p:tgtEl>
                                          <p:spTgt spid="3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00"/>
                                        <p:tgtEl>
                                          <p:spTgt spid="3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fade">
                                      <p:cBhvr>
                                        <p:cTn id="43" dur="500"/>
                                        <p:tgtEl>
                                          <p:spTgt spid="3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500"/>
                                        <p:tgtEl>
                                          <p:spTgt spid="39"/>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41"/>
                                        </p:tgtEl>
                                        <p:attrNameLst>
                                          <p:attrName>style.visibility</p:attrName>
                                        </p:attrNameLst>
                                      </p:cBhvr>
                                      <p:to>
                                        <p:strVal val="visible"/>
                                      </p:to>
                                    </p:set>
                                    <p:animEffect transition="in" filter="fade">
                                      <p:cBhvr>
                                        <p:cTn id="53" dur="500"/>
                                        <p:tgtEl>
                                          <p:spTgt spid="4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40"/>
                                        </p:tgtEl>
                                        <p:attrNameLst>
                                          <p:attrName>style.visibility</p:attrName>
                                        </p:attrNameLst>
                                      </p:cBhvr>
                                      <p:to>
                                        <p:strVal val="visible"/>
                                      </p:to>
                                    </p:set>
                                    <p:animEffect transition="in" filter="fade">
                                      <p:cBhvr>
                                        <p:cTn id="56" dur="500"/>
                                        <p:tgtEl>
                                          <p:spTgt spid="40"/>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fade">
                                      <p:cBhvr>
                                        <p:cTn id="61" dur="500"/>
                                        <p:tgtEl>
                                          <p:spTgt spid="43"/>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500"/>
                                        <p:tgtEl>
                                          <p:spTgt spid="4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4"/>
                                        </p:tgtEl>
                                        <p:attrNameLst>
                                          <p:attrName>style.visibility</p:attrName>
                                        </p:attrNameLst>
                                      </p:cBhvr>
                                      <p:to>
                                        <p:strVal val="visible"/>
                                      </p:to>
                                    </p:set>
                                    <p:animEffect transition="in" filter="fade">
                                      <p:cBhvr>
                                        <p:cTn id="69" dur="500"/>
                                        <p:tgtEl>
                                          <p:spTgt spid="44"/>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fade">
                                      <p:cBhvr>
                                        <p:cTn id="74" dur="500"/>
                                        <p:tgtEl>
                                          <p:spTgt spid="46"/>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50"/>
                                        </p:tgtEl>
                                        <p:attrNameLst>
                                          <p:attrName>style.visibility</p:attrName>
                                        </p:attrNameLst>
                                      </p:cBhvr>
                                      <p:to>
                                        <p:strVal val="visible"/>
                                      </p:to>
                                    </p:set>
                                    <p:animEffect transition="in" filter="fade">
                                      <p:cBhvr>
                                        <p:cTn id="79" dur="500"/>
                                        <p:tgtEl>
                                          <p:spTgt spid="5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fade">
                                      <p:cBhvr>
                                        <p:cTn id="82" dur="500"/>
                                        <p:tgtEl>
                                          <p:spTgt spid="49"/>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51"/>
                                        </p:tgtEl>
                                        <p:attrNameLst>
                                          <p:attrName>style.visibility</p:attrName>
                                        </p:attrNameLst>
                                      </p:cBhvr>
                                      <p:to>
                                        <p:strVal val="visible"/>
                                      </p:to>
                                    </p:set>
                                    <p:animEffect transition="in" filter="fade">
                                      <p:cBhvr>
                                        <p:cTn id="87" dur="500"/>
                                        <p:tgtEl>
                                          <p:spTgt spid="51"/>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animEffect transition="in" filter="fade">
                                      <p:cBhvr>
                                        <p:cTn id="92" dur="500"/>
                                        <p:tgtEl>
                                          <p:spTgt spid="53"/>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54"/>
                                        </p:tgtEl>
                                        <p:attrNameLst>
                                          <p:attrName>style.visibility</p:attrName>
                                        </p:attrNameLst>
                                      </p:cBhvr>
                                      <p:to>
                                        <p:strVal val="visible"/>
                                      </p:to>
                                    </p:set>
                                    <p:animEffect transition="in" filter="fade">
                                      <p:cBhvr>
                                        <p:cTn id="100" dur="500"/>
                                        <p:tgtEl>
                                          <p:spTgt spid="54"/>
                                        </p:tgtEl>
                                      </p:cBhvr>
                                    </p:animEffec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grpId="0" nodeType="clickEffect">
                                  <p:stCondLst>
                                    <p:cond delay="0"/>
                                  </p:stCondLst>
                                  <p:childTnLst>
                                    <p:set>
                                      <p:cBhvr>
                                        <p:cTn id="104" dur="1" fill="hold">
                                          <p:stCondLst>
                                            <p:cond delay="0"/>
                                          </p:stCondLst>
                                        </p:cTn>
                                        <p:tgtEl>
                                          <p:spTgt spid="56"/>
                                        </p:tgtEl>
                                        <p:attrNameLst>
                                          <p:attrName>style.visibility</p:attrName>
                                        </p:attrNameLst>
                                      </p:cBhvr>
                                      <p:to>
                                        <p:strVal val="visible"/>
                                      </p:to>
                                    </p:set>
                                    <p:animEffect transition="in" filter="fade">
                                      <p:cBhvr>
                                        <p:cTn id="105" dur="500"/>
                                        <p:tgtEl>
                                          <p:spTgt spid="5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55"/>
                                        </p:tgtEl>
                                        <p:attrNameLst>
                                          <p:attrName>style.visibility</p:attrName>
                                        </p:attrNameLst>
                                      </p:cBhvr>
                                      <p:to>
                                        <p:strVal val="visible"/>
                                      </p:to>
                                    </p:set>
                                    <p:animEffect transition="in" filter="fade">
                                      <p:cBhvr>
                                        <p:cTn id="108"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7" grpId="0"/>
      <p:bldP spid="38" grpId="0"/>
      <p:bldP spid="39" grpId="0"/>
      <p:bldP spid="40" grpId="0"/>
      <p:bldP spid="41" grpId="0"/>
      <p:bldP spid="43" grpId="0"/>
      <p:bldP spid="44" grpId="0"/>
      <p:bldP spid="45" grpId="0"/>
      <p:bldP spid="46" grpId="0"/>
      <p:bldP spid="49" grpId="0"/>
      <p:bldP spid="50" grpId="0"/>
      <p:bldP spid="51" grpId="0"/>
      <p:bldP spid="52" grpId="0"/>
      <p:bldP spid="53" grpId="0"/>
      <p:bldP spid="54" grpId="0"/>
      <p:bldP spid="55" grpId="0"/>
      <p:bldP spid="56" grpId="0"/>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3785948"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5. </a:t>
            </a:r>
            <a:r>
              <a:rPr lang="zh-CN" altLang="en-US" sz="2800" b="1" dirty="0">
                <a:solidFill>
                  <a:srgbClr val="0000FF"/>
                </a:solidFill>
                <a:latin typeface="黑体" panose="02010609060101010101" pitchFamily="49" charset="-122"/>
                <a:ea typeface="黑体" panose="02010609060101010101" pitchFamily="49" charset="-122"/>
              </a:rPr>
              <a:t>检查是否能自启</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20" name="矩形 19"/>
          <p:cNvSpPr/>
          <p:nvPr/>
        </p:nvSpPr>
        <p:spPr>
          <a:xfrm>
            <a:off x="690462" y="1416644"/>
            <a:ext cx="5594801" cy="954107"/>
          </a:xfrm>
          <a:prstGeom prst="rect">
            <a:avLst/>
          </a:prstGeom>
        </p:spPr>
        <p:txBody>
          <a:bodyPr wrap="none">
            <a:spAutoFit/>
          </a:bodyPr>
          <a:lstStyle/>
          <a:p>
            <a:r>
              <a:rPr lang="zh-CN" altLang="en-US" sz="2800" b="1" dirty="0">
                <a:latin typeface="黑体" panose="02010609060101010101" pitchFamily="49" charset="-122"/>
                <a:ea typeface="黑体" panose="02010609060101010101" pitchFamily="49" charset="-122"/>
              </a:rPr>
              <a:t>非工作状态：</a:t>
            </a:r>
            <a:r>
              <a:rPr lang="en-US" altLang="zh-CN" sz="2800" b="1" dirty="0">
                <a:solidFill>
                  <a:srgbClr val="FF0000"/>
                </a:solidFill>
                <a:latin typeface="黑体" panose="02010609060101010101" pitchFamily="49" charset="-122"/>
                <a:ea typeface="黑体" panose="02010609060101010101" pitchFamily="49" charset="-122"/>
              </a:rPr>
              <a:t>11</a:t>
            </a:r>
            <a:endParaRPr lang="en-US" altLang="zh-CN" sz="2800" b="1" dirty="0">
              <a:solidFill>
                <a:srgbClr val="FF0000"/>
              </a:solidFill>
              <a:latin typeface="黑体" panose="02010609060101010101" pitchFamily="49" charset="-122"/>
              <a:ea typeface="黑体" panose="02010609060101010101" pitchFamily="49" charset="-122"/>
            </a:endParaRPr>
          </a:p>
          <a:p>
            <a:r>
              <a:rPr lang="zh-CN" altLang="en-US" sz="2800" b="1" dirty="0">
                <a:latin typeface="黑体" panose="02010609060101010101" pitchFamily="49" charset="-122"/>
                <a:ea typeface="黑体" panose="02010609060101010101" pitchFamily="49" charset="-122"/>
              </a:rPr>
              <a:t>分别代入次态方程组和输出方程：</a:t>
            </a:r>
            <a:endParaRPr lang="zh-CN" altLang="en-US" dirty="0"/>
          </a:p>
        </p:txBody>
      </p:sp>
      <p:graphicFrame>
        <p:nvGraphicFramePr>
          <p:cNvPr id="23" name="Object 4"/>
          <p:cNvGraphicFramePr>
            <a:graphicFrameLocks noChangeAspect="1"/>
          </p:cNvGraphicFramePr>
          <p:nvPr/>
        </p:nvGraphicFramePr>
        <p:xfrm>
          <a:off x="6177095" y="2702950"/>
          <a:ext cx="2635061" cy="620543"/>
        </p:xfrm>
        <a:graphic>
          <a:graphicData uri="http://schemas.openxmlformats.org/presentationml/2006/ole">
            <mc:AlternateContent xmlns:mc="http://schemas.openxmlformats.org/markup-compatibility/2006">
              <mc:Choice xmlns:v="urn:schemas-microsoft-com:vml" Requires="v">
                <p:oleObj spid="_x0000_s15416" name="Equation" r:id="rId2" imgW="1129665" imgH="266700" progId="Equation.DSMT4">
                  <p:embed/>
                </p:oleObj>
              </mc:Choice>
              <mc:Fallback>
                <p:oleObj name="Equation" r:id="rId2" imgW="1129665" imgH="266700" progId="Equation.DSMT4">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7095" y="2702950"/>
                        <a:ext cx="2635061" cy="620543"/>
                      </a:xfrm>
                      <a:prstGeom prst="rect">
                        <a:avLst/>
                      </a:prstGeom>
                      <a:noFill/>
                      <a:ln>
                        <a:noFill/>
                      </a:ln>
                      <a:effectLst/>
                    </p:spPr>
                  </p:pic>
                </p:oleObj>
              </mc:Fallback>
            </mc:AlternateContent>
          </a:graphicData>
        </a:graphic>
      </p:graphicFrame>
      <p:graphicFrame>
        <p:nvGraphicFramePr>
          <p:cNvPr id="25" name="Object 6"/>
          <p:cNvGraphicFramePr>
            <a:graphicFrameLocks noChangeAspect="1"/>
          </p:cNvGraphicFramePr>
          <p:nvPr/>
        </p:nvGraphicFramePr>
        <p:xfrm>
          <a:off x="574474" y="2508357"/>
          <a:ext cx="4973472" cy="1156544"/>
        </p:xfrm>
        <a:graphic>
          <a:graphicData uri="http://schemas.openxmlformats.org/presentationml/2006/ole">
            <mc:AlternateContent xmlns:mc="http://schemas.openxmlformats.org/markup-compatibility/2006">
              <mc:Choice xmlns:v="urn:schemas-microsoft-com:vml" Requires="v">
                <p:oleObj spid="_x0000_s15417" name="Equation" r:id="rId4" imgW="2400300" imgH="558800" progId="Equation.DSMT4">
                  <p:embed/>
                </p:oleObj>
              </mc:Choice>
              <mc:Fallback>
                <p:oleObj name="Equation" r:id="rId4" imgW="2400300" imgH="5588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474" y="2508357"/>
                        <a:ext cx="4973472" cy="1156544"/>
                      </a:xfrm>
                      <a:prstGeom prst="rect">
                        <a:avLst/>
                      </a:prstGeom>
                      <a:noFill/>
                    </p:spPr>
                  </p:pic>
                </p:oleObj>
              </mc:Fallback>
            </mc:AlternateContent>
          </a:graphicData>
        </a:graphic>
      </p:graphicFrame>
      <p:graphicFrame>
        <p:nvGraphicFramePr>
          <p:cNvPr id="12" name="表格 11"/>
          <p:cNvGraphicFramePr>
            <a:graphicFrameLocks noGrp="1"/>
          </p:cNvGraphicFramePr>
          <p:nvPr/>
        </p:nvGraphicFramePr>
        <p:xfrm>
          <a:off x="1126734" y="4029598"/>
          <a:ext cx="3463870" cy="1384636"/>
        </p:xfrm>
        <a:graphic>
          <a:graphicData uri="http://schemas.openxmlformats.org/drawingml/2006/table">
            <a:tbl>
              <a:tblPr firstRow="1" firstCol="1" bandRow="1"/>
              <a:tblGrid>
                <a:gridCol w="1097170"/>
                <a:gridCol w="468266"/>
                <a:gridCol w="1282295"/>
                <a:gridCol w="616139"/>
              </a:tblGrid>
              <a:tr h="531196">
                <a:tc>
                  <a:txBody>
                    <a:bodyPr/>
                    <a:lstStyle/>
                    <a:p>
                      <a:pPr algn="just">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8398">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1     1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 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0    0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8398">
                <a:tc>
                  <a:txBody>
                    <a:bodyPr/>
                    <a:lstStyle/>
                    <a:p>
                      <a:pPr algn="just">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1     1 </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 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0    0 </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3" name="对象 12"/>
          <p:cNvGraphicFramePr>
            <a:graphicFrameLocks noChangeAspect="1"/>
          </p:cNvGraphicFramePr>
          <p:nvPr/>
        </p:nvGraphicFramePr>
        <p:xfrm>
          <a:off x="1210457" y="4068468"/>
          <a:ext cx="946769" cy="440191"/>
        </p:xfrm>
        <a:graphic>
          <a:graphicData uri="http://schemas.openxmlformats.org/presentationml/2006/ole">
            <mc:AlternateContent xmlns:mc="http://schemas.openxmlformats.org/markup-compatibility/2006">
              <mc:Choice xmlns:v="urn:schemas-microsoft-com:vml" Requires="v">
                <p:oleObj spid="_x0000_s15418" name="Equation" r:id="rId6" imgW="12192000" imgH="5791200" progId="Equation.DSMT4">
                  <p:embed/>
                </p:oleObj>
              </mc:Choice>
              <mc:Fallback>
                <p:oleObj name="Equation" r:id="rId6" imgW="12192000" imgH="5791200" progId="Equation.DSMT4">
                  <p:embed/>
                  <p:pic>
                    <p:nvPicPr>
                      <p:cNvPr id="0" name="Object 11"/>
                      <p:cNvPicPr>
                        <a:picLocks noChangeAspect="1" noChangeArrowheads="1"/>
                      </p:cNvPicPr>
                      <p:nvPr/>
                    </p:nvPicPr>
                    <p:blipFill>
                      <a:blip r:embed="rId7"/>
                      <a:srcRect/>
                      <a:stretch>
                        <a:fillRect/>
                      </a:stretch>
                    </p:blipFill>
                    <p:spPr bwMode="auto">
                      <a:xfrm>
                        <a:off x="1210457" y="4068468"/>
                        <a:ext cx="946769" cy="440191"/>
                      </a:xfrm>
                      <a:prstGeom prst="rect">
                        <a:avLst/>
                      </a:prstGeom>
                      <a:noFill/>
                    </p:spPr>
                  </p:pic>
                </p:oleObj>
              </mc:Fallback>
            </mc:AlternateContent>
          </a:graphicData>
        </a:graphic>
      </p:graphicFrame>
      <p:graphicFrame>
        <p:nvGraphicFramePr>
          <p:cNvPr id="14" name="对象 13"/>
          <p:cNvGraphicFramePr>
            <a:graphicFrameLocks noChangeAspect="1"/>
          </p:cNvGraphicFramePr>
          <p:nvPr/>
        </p:nvGraphicFramePr>
        <p:xfrm>
          <a:off x="2287166" y="4126049"/>
          <a:ext cx="396214" cy="364516"/>
        </p:xfrm>
        <a:graphic>
          <a:graphicData uri="http://schemas.openxmlformats.org/presentationml/2006/ole">
            <mc:AlternateContent xmlns:mc="http://schemas.openxmlformats.org/markup-compatibility/2006">
              <mc:Choice xmlns:v="urn:schemas-microsoft-com:vml" Requires="v">
                <p:oleObj spid="_x0000_s15419" name="Equation" r:id="rId8" imgW="177800" imgH="165100" progId="Equation.DSMT4">
                  <p:embed/>
                </p:oleObj>
              </mc:Choice>
              <mc:Fallback>
                <p:oleObj name="Equation" r:id="rId8" imgW="177800" imgH="16510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7166" y="4126049"/>
                        <a:ext cx="396214" cy="364516"/>
                      </a:xfrm>
                      <a:prstGeom prst="rect">
                        <a:avLst/>
                      </a:prstGeom>
                      <a:noFill/>
                    </p:spPr>
                  </p:pic>
                </p:oleObj>
              </mc:Fallback>
            </mc:AlternateContent>
          </a:graphicData>
        </a:graphic>
      </p:graphicFrame>
      <p:graphicFrame>
        <p:nvGraphicFramePr>
          <p:cNvPr id="15" name="对象 14"/>
          <p:cNvGraphicFramePr>
            <a:graphicFrameLocks noChangeAspect="1"/>
          </p:cNvGraphicFramePr>
          <p:nvPr/>
        </p:nvGraphicFramePr>
        <p:xfrm>
          <a:off x="2761805" y="4107956"/>
          <a:ext cx="1196218" cy="400703"/>
        </p:xfrm>
        <a:graphic>
          <a:graphicData uri="http://schemas.openxmlformats.org/presentationml/2006/ole">
            <mc:AlternateContent xmlns:mc="http://schemas.openxmlformats.org/markup-compatibility/2006">
              <mc:Choice xmlns:v="urn:schemas-microsoft-com:vml" Requires="v">
                <p:oleObj spid="_x0000_s15420" name="Equation" r:id="rId10" imgW="723900" imgH="241300" progId="Equation.DSMT4">
                  <p:embed/>
                </p:oleObj>
              </mc:Choice>
              <mc:Fallback>
                <p:oleObj name="Equation" r:id="rId10" imgW="723900" imgH="241300" progId="Equation.DSMT4">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61805" y="4107956"/>
                        <a:ext cx="1196218" cy="400703"/>
                      </a:xfrm>
                      <a:prstGeom prst="rect">
                        <a:avLst/>
                      </a:prstGeom>
                      <a:noFill/>
                    </p:spPr>
                  </p:pic>
                </p:oleObj>
              </mc:Fallback>
            </mc:AlternateContent>
          </a:graphicData>
        </a:graphic>
      </p:graphicFrame>
      <p:graphicFrame>
        <p:nvGraphicFramePr>
          <p:cNvPr id="31" name="对象 30"/>
          <p:cNvGraphicFramePr>
            <a:graphicFrameLocks noChangeAspect="1"/>
          </p:cNvGraphicFramePr>
          <p:nvPr/>
        </p:nvGraphicFramePr>
        <p:xfrm>
          <a:off x="4078557" y="4133565"/>
          <a:ext cx="321747" cy="349484"/>
        </p:xfrm>
        <a:graphic>
          <a:graphicData uri="http://schemas.openxmlformats.org/presentationml/2006/ole">
            <mc:AlternateContent xmlns:mc="http://schemas.openxmlformats.org/markup-compatibility/2006">
              <mc:Choice xmlns:v="urn:schemas-microsoft-com:vml" Requires="v">
                <p:oleObj spid="_x0000_s15421" name="Equation" r:id="rId12" imgW="152400" imgH="165100" progId="Equation.DSMT4">
                  <p:embed/>
                </p:oleObj>
              </mc:Choice>
              <mc:Fallback>
                <p:oleObj name="Equation" r:id="rId12" imgW="152400" imgH="165100" progId="Equation.DSMT4">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78557" y="4133565"/>
                        <a:ext cx="321747" cy="349484"/>
                      </a:xfrm>
                      <a:prstGeom prst="rect">
                        <a:avLst/>
                      </a:prstGeom>
                      <a:noFill/>
                    </p:spPr>
                  </p:pic>
                </p:oleObj>
              </mc:Fallback>
            </mc:AlternateContent>
          </a:graphicData>
        </a:graphic>
      </p:graphicFrame>
      <p:sp>
        <p:nvSpPr>
          <p:cNvPr id="32" name="文本框 31"/>
          <p:cNvSpPr txBox="1"/>
          <p:nvPr/>
        </p:nvSpPr>
        <p:spPr>
          <a:xfrm>
            <a:off x="5304295" y="4442894"/>
            <a:ext cx="2828441" cy="523220"/>
          </a:xfrm>
          <a:prstGeom prst="rect">
            <a:avLst/>
          </a:prstGeom>
          <a:noFill/>
        </p:spPr>
        <p:txBody>
          <a:bodyPr wrap="square" rtlCol="0">
            <a:spAutoFit/>
          </a:bodyPr>
          <a:lstStyle/>
          <a:p>
            <a:r>
              <a:rPr lang="zh-CN" altLang="en-US" sz="2800" b="1" dirty="0">
                <a:solidFill>
                  <a:srgbClr val="FF0000"/>
                </a:solidFill>
              </a:rPr>
              <a:t>该电路能够自启</a:t>
            </a:r>
            <a:endParaRPr lang="zh-CN" altLang="en-US" sz="2800" b="1" dirty="0">
              <a:solidFill>
                <a:srgbClr val="FF0000"/>
              </a:solidFill>
            </a:endParaRPr>
          </a:p>
        </p:txBody>
      </p:sp>
      <p:pic>
        <p:nvPicPr>
          <p:cNvPr id="150535" name="Picture 7"/>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0"/>
            <a:ext cx="904875" cy="366713"/>
          </a:xfrm>
          <a:prstGeom prst="rect">
            <a:avLst/>
          </a:prstGeom>
          <a:noFill/>
          <a:extLst>
            <a:ext uri="{909E8E84-426E-40DD-AFC4-6F175D3DCCD1}">
              <a14:hiddenFill xmlns:a14="http://schemas.microsoft.com/office/drawing/2010/main">
                <a:solidFill>
                  <a:srgbClr val="FFFFFF"/>
                </a:solidFill>
              </a14:hiddenFill>
            </a:ext>
          </a:extLst>
        </p:spPr>
      </p:pic>
      <p:pic>
        <p:nvPicPr>
          <p:cNvPr id="150534" name="Picture 6"/>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0"/>
            <a:ext cx="357188" cy="328613"/>
          </a:xfrm>
          <a:prstGeom prst="rect">
            <a:avLst/>
          </a:prstGeom>
          <a:noFill/>
          <a:extLst>
            <a:ext uri="{909E8E84-426E-40DD-AFC4-6F175D3DCCD1}">
              <a14:hiddenFill xmlns:a14="http://schemas.microsoft.com/office/drawing/2010/main">
                <a:solidFill>
                  <a:srgbClr val="FFFFFF"/>
                </a:solidFill>
              </a14:hiddenFill>
            </a:ext>
          </a:extLst>
        </p:spPr>
      </p:pic>
      <p:pic>
        <p:nvPicPr>
          <p:cNvPr id="150533" name="Picture 5"/>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0"/>
            <a:ext cx="966788" cy="323850"/>
          </a:xfrm>
          <a:prstGeom prst="rect">
            <a:avLst/>
          </a:prstGeom>
          <a:noFill/>
          <a:extLst>
            <a:ext uri="{909E8E84-426E-40DD-AFC4-6F175D3DCCD1}">
              <a14:hiddenFill xmlns:a14="http://schemas.microsoft.com/office/drawing/2010/main">
                <a:solidFill>
                  <a:srgbClr val="FFFFFF"/>
                </a:solidFill>
              </a14:hiddenFill>
            </a:ext>
          </a:extLst>
        </p:spPr>
      </p:pic>
      <p:pic>
        <p:nvPicPr>
          <p:cNvPr id="150532" name="Picture 4"/>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par>
                                <p:cTn id="13" presetID="10"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00"/>
                                        <p:tgtEl>
                                          <p:spTgt spid="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par>
                                <p:cTn id="21" presetID="10"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par>
                                <p:cTn id="24" presetID="10" presetClass="entr" presetSubtype="0" fill="hold" nodeType="with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00"/>
                                        <p:tgtEl>
                                          <p:spTgt spid="14"/>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500"/>
                                        <p:tgtEl>
                                          <p:spTgt spid="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2"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5196294"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6. </a:t>
            </a:r>
            <a:r>
              <a:rPr lang="zh-CN" altLang="en-US" sz="2800" b="1" dirty="0">
                <a:solidFill>
                  <a:srgbClr val="0000FF"/>
                </a:solidFill>
                <a:latin typeface="黑体" panose="02010609060101010101" pitchFamily="49" charset="-122"/>
                <a:ea typeface="黑体" panose="02010609060101010101" pitchFamily="49" charset="-122"/>
              </a:rPr>
              <a:t>画出完整的状态转换图</a:t>
            </a:r>
            <a:endParaRPr lang="zh-CN" altLang="en-US" sz="2800" b="1" dirty="0">
              <a:solidFill>
                <a:srgbClr val="0000FF"/>
              </a:solidFill>
              <a:latin typeface="黑体" panose="02010609060101010101" pitchFamily="49" charset="-122"/>
              <a:ea typeface="黑体" panose="02010609060101010101" pitchFamily="49" charset="-122"/>
            </a:endParaRPr>
          </a:p>
        </p:txBody>
      </p:sp>
      <p:grpSp>
        <p:nvGrpSpPr>
          <p:cNvPr id="16" name="Group 6"/>
          <p:cNvGrpSpPr/>
          <p:nvPr/>
        </p:nvGrpSpPr>
        <p:grpSpPr bwMode="auto">
          <a:xfrm>
            <a:off x="305604" y="1506718"/>
            <a:ext cx="3479857" cy="1637722"/>
            <a:chOff x="940" y="1585"/>
            <a:chExt cx="3927" cy="1376"/>
          </a:xfrm>
        </p:grpSpPr>
        <p:sp>
          <p:nvSpPr>
            <p:cNvPr id="17" name="Rectangle 4"/>
            <p:cNvSpPr>
              <a:spLocks noChangeArrowheads="1"/>
            </p:cNvSpPr>
            <p:nvPr/>
          </p:nvSpPr>
          <p:spPr bwMode="auto">
            <a:xfrm>
              <a:off x="1751" y="2563"/>
              <a:ext cx="2219" cy="3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342900" marR="0" lvl="0" indent="-342900" algn="ctr" defTabSz="914400" eaLnBrk="1" fontAlgn="base" latinLnBrk="0" hangingPunct="1">
                <a:lnSpc>
                  <a:spcPct val="130000"/>
                </a:lnSpc>
                <a:spcBef>
                  <a:spcPct val="20000"/>
                </a:spcBef>
                <a:spcAft>
                  <a:spcPct val="0"/>
                </a:spcAft>
                <a:buClrTx/>
                <a:buSzTx/>
                <a:buFontTx/>
                <a:buNone/>
                <a:defRPr/>
              </a:pPr>
              <a:r>
                <a:rPr kumimoji="1" lang="en-US" altLang="zh-CN" b="1" i="1"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X</a:t>
              </a:r>
              <a:r>
                <a:rPr kumimoji="1" lang="en-US" altLang="zh-CN"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=0</a:t>
              </a:r>
              <a:r>
                <a:rPr kumimoji="1" lang="zh-CN" altLang="en-US"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时的状态转移图</a:t>
              </a:r>
              <a:endParaRPr kumimoji="1" lang="zh-CN" altLang="en-US"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endParaRPr>
            </a:p>
          </p:txBody>
        </p:sp>
        <p:pic>
          <p:nvPicPr>
            <p:cNvPr id="18" name="Picture 5" descr="5-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 y="1585"/>
              <a:ext cx="3927" cy="103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6"/>
          <p:cNvGrpSpPr/>
          <p:nvPr/>
        </p:nvGrpSpPr>
        <p:grpSpPr bwMode="auto">
          <a:xfrm>
            <a:off x="263679" y="3599396"/>
            <a:ext cx="3632682" cy="1282571"/>
            <a:chOff x="988" y="1832"/>
            <a:chExt cx="3927" cy="1325"/>
          </a:xfrm>
        </p:grpSpPr>
        <p:sp>
          <p:nvSpPr>
            <p:cNvPr id="21" name="Rectangle 4"/>
            <p:cNvSpPr>
              <a:spLocks noChangeArrowheads="1"/>
            </p:cNvSpPr>
            <p:nvPr/>
          </p:nvSpPr>
          <p:spPr bwMode="auto">
            <a:xfrm>
              <a:off x="1546" y="2794"/>
              <a:ext cx="2464" cy="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marL="342900" indent="-342900" algn="ctr" defTabSz="914400" fontAlgn="base">
                <a:lnSpc>
                  <a:spcPct val="130000"/>
                </a:lnSpc>
                <a:spcBef>
                  <a:spcPct val="20000"/>
                </a:spcBef>
                <a:spcAft>
                  <a:spcPct val="0"/>
                </a:spcAft>
              </a:pPr>
              <a:r>
                <a:rPr kumimoji="1" lang="en-US" altLang="zh-CN" sz="2400" b="1" kern="0" dirty="0">
                  <a:solidFill>
                    <a:srgbClr val="0000FF"/>
                  </a:solidFill>
                  <a:latin typeface="黑体" panose="02010609060101010101" pitchFamily="49" charset="-122"/>
                  <a:ea typeface="黑体" panose="02010609060101010101" pitchFamily="49" charset="-122"/>
                </a:rPr>
                <a:t>  </a:t>
              </a:r>
              <a:r>
                <a:rPr kumimoji="1" lang="en-US" altLang="zh-CN" sz="2400" b="1" i="1" kern="0" dirty="0">
                  <a:solidFill>
                    <a:srgbClr val="0000FF"/>
                  </a:solidFill>
                  <a:latin typeface="黑体" panose="02010609060101010101" pitchFamily="49" charset="-122"/>
                  <a:ea typeface="黑体" panose="02010609060101010101" pitchFamily="49" charset="-122"/>
                </a:rPr>
                <a:t>X</a:t>
              </a:r>
              <a:r>
                <a:rPr kumimoji="1" lang="en-US" altLang="zh-CN" sz="2400" b="1" kern="0" dirty="0">
                  <a:solidFill>
                    <a:srgbClr val="0000FF"/>
                  </a:solidFill>
                  <a:latin typeface="黑体" panose="02010609060101010101" pitchFamily="49" charset="-122"/>
                  <a:ea typeface="黑体" panose="02010609060101010101" pitchFamily="49" charset="-122"/>
                </a:rPr>
                <a:t>=1</a:t>
              </a:r>
              <a:r>
                <a:rPr kumimoji="1" lang="zh-CN" altLang="en-US" sz="2400" b="1" kern="0" dirty="0">
                  <a:solidFill>
                    <a:srgbClr val="0000FF"/>
                  </a:solidFill>
                  <a:latin typeface="黑体" panose="02010609060101010101" pitchFamily="49" charset="-122"/>
                  <a:ea typeface="黑体" panose="02010609060101010101" pitchFamily="49" charset="-122"/>
                </a:rPr>
                <a:t>时的状态转移图</a:t>
              </a:r>
              <a:endParaRPr kumimoji="1" lang="zh-CN" altLang="en-US" sz="2400" b="1" kern="0" dirty="0">
                <a:solidFill>
                  <a:srgbClr val="0000FF"/>
                </a:solidFill>
                <a:latin typeface="黑体" panose="02010609060101010101" pitchFamily="49" charset="-122"/>
                <a:ea typeface="黑体" panose="02010609060101010101" pitchFamily="49" charset="-122"/>
              </a:endParaRPr>
            </a:p>
          </p:txBody>
        </p:sp>
        <p:pic>
          <p:nvPicPr>
            <p:cNvPr id="22" name="Picture 5" descr="5-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 y="1832"/>
              <a:ext cx="3927" cy="1067"/>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24" name="表格 23"/>
          <p:cNvGraphicFramePr>
            <a:graphicFrameLocks noGrp="1"/>
          </p:cNvGraphicFramePr>
          <p:nvPr/>
        </p:nvGraphicFramePr>
        <p:xfrm>
          <a:off x="444809" y="5341292"/>
          <a:ext cx="3463870" cy="1384636"/>
        </p:xfrm>
        <a:graphic>
          <a:graphicData uri="http://schemas.openxmlformats.org/drawingml/2006/table">
            <a:tbl>
              <a:tblPr firstRow="1" firstCol="1" bandRow="1"/>
              <a:tblGrid>
                <a:gridCol w="1097170"/>
                <a:gridCol w="468266"/>
                <a:gridCol w="1282295"/>
                <a:gridCol w="616139"/>
              </a:tblGrid>
              <a:tr h="531196">
                <a:tc>
                  <a:txBody>
                    <a:bodyPr/>
                    <a:lstStyle/>
                    <a:p>
                      <a:pPr algn="just">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en-US" sz="2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8398">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1     1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 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0    0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0</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98398">
                <a:tc>
                  <a:txBody>
                    <a:bodyPr/>
                    <a:lstStyle/>
                    <a:p>
                      <a:pPr algn="just">
                        <a:spcAft>
                          <a:spcPts val="0"/>
                        </a:spcAft>
                      </a:pPr>
                      <a:r>
                        <a:rPr lang="en-US" sz="2800" b="1" kern="100">
                          <a:effectLst/>
                          <a:latin typeface="等线" panose="02010600030101010101" pitchFamily="2" charset="-122"/>
                          <a:ea typeface="等线" panose="02010600030101010101" pitchFamily="2" charset="-122"/>
                          <a:cs typeface="Times New Roman" panose="02020603050405020304" pitchFamily="18" charset="0"/>
                        </a:rPr>
                        <a:t>1     1 </a:t>
                      </a:r>
                      <a:endParaRPr lang="zh-CN" sz="14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 1</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14300" algn="just">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0    0 </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800" b="1" kern="100" dirty="0">
                          <a:effectLst/>
                          <a:latin typeface="等线" panose="02010600030101010101" pitchFamily="2" charset="-122"/>
                          <a:ea typeface="等线" panose="02010600030101010101" pitchFamily="2" charset="-122"/>
                          <a:cs typeface="Times New Roman" panose="02020603050405020304" pitchFamily="18" charset="0"/>
                        </a:rPr>
                        <a:t>0</a:t>
                      </a:r>
                      <a:endParaRPr lang="zh-CN" sz="14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26" name="对象 25"/>
          <p:cNvGraphicFramePr>
            <a:graphicFrameLocks noChangeAspect="1"/>
          </p:cNvGraphicFramePr>
          <p:nvPr/>
        </p:nvGraphicFramePr>
        <p:xfrm>
          <a:off x="528532" y="5380162"/>
          <a:ext cx="946769" cy="440191"/>
        </p:xfrm>
        <a:graphic>
          <a:graphicData uri="http://schemas.openxmlformats.org/presentationml/2006/ole">
            <mc:AlternateContent xmlns:mc="http://schemas.openxmlformats.org/markup-compatibility/2006">
              <mc:Choice xmlns:v="urn:schemas-microsoft-com:vml" Requires="v">
                <p:oleObj spid="_x0000_s16422" name="Equation" r:id="rId4" imgW="12192000" imgH="5791200" progId="Equation.DSMT4">
                  <p:embed/>
                </p:oleObj>
              </mc:Choice>
              <mc:Fallback>
                <p:oleObj name="Equation" r:id="rId4" imgW="12192000" imgH="5791200" progId="Equation.DSMT4">
                  <p:embed/>
                  <p:pic>
                    <p:nvPicPr>
                      <p:cNvPr id="0" name="对象 12"/>
                      <p:cNvPicPr>
                        <a:picLocks noChangeAspect="1" noChangeArrowheads="1"/>
                      </p:cNvPicPr>
                      <p:nvPr/>
                    </p:nvPicPr>
                    <p:blipFill>
                      <a:blip r:embed="rId5"/>
                      <a:srcRect/>
                      <a:stretch>
                        <a:fillRect/>
                      </a:stretch>
                    </p:blipFill>
                    <p:spPr bwMode="auto">
                      <a:xfrm>
                        <a:off x="528532" y="5380162"/>
                        <a:ext cx="946769" cy="440191"/>
                      </a:xfrm>
                      <a:prstGeom prst="rect">
                        <a:avLst/>
                      </a:prstGeom>
                      <a:noFill/>
                    </p:spPr>
                  </p:pic>
                </p:oleObj>
              </mc:Fallback>
            </mc:AlternateContent>
          </a:graphicData>
        </a:graphic>
      </p:graphicFrame>
      <p:graphicFrame>
        <p:nvGraphicFramePr>
          <p:cNvPr id="27" name="对象 26"/>
          <p:cNvGraphicFramePr>
            <a:graphicFrameLocks noChangeAspect="1"/>
          </p:cNvGraphicFramePr>
          <p:nvPr/>
        </p:nvGraphicFramePr>
        <p:xfrm>
          <a:off x="1605241" y="5437743"/>
          <a:ext cx="396214" cy="364516"/>
        </p:xfrm>
        <a:graphic>
          <a:graphicData uri="http://schemas.openxmlformats.org/presentationml/2006/ole">
            <mc:AlternateContent xmlns:mc="http://schemas.openxmlformats.org/markup-compatibility/2006">
              <mc:Choice xmlns:v="urn:schemas-microsoft-com:vml" Requires="v">
                <p:oleObj spid="_x0000_s16423" name="Equation" r:id="rId6" imgW="177800" imgH="165100" progId="Equation.DSMT4">
                  <p:embed/>
                </p:oleObj>
              </mc:Choice>
              <mc:Fallback>
                <p:oleObj name="Equation" r:id="rId6" imgW="177800" imgH="165100" progId="Equation.DSMT4">
                  <p:embed/>
                  <p:pic>
                    <p:nvPicPr>
                      <p:cNvPr id="0" name="对象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05241" y="5437743"/>
                        <a:ext cx="396214" cy="364516"/>
                      </a:xfrm>
                      <a:prstGeom prst="rect">
                        <a:avLst/>
                      </a:prstGeom>
                      <a:noFill/>
                    </p:spPr>
                  </p:pic>
                </p:oleObj>
              </mc:Fallback>
            </mc:AlternateContent>
          </a:graphicData>
        </a:graphic>
      </p:graphicFrame>
      <p:graphicFrame>
        <p:nvGraphicFramePr>
          <p:cNvPr id="28" name="对象 27"/>
          <p:cNvGraphicFramePr>
            <a:graphicFrameLocks noChangeAspect="1"/>
          </p:cNvGraphicFramePr>
          <p:nvPr/>
        </p:nvGraphicFramePr>
        <p:xfrm>
          <a:off x="2079880" y="5419650"/>
          <a:ext cx="1196218" cy="400703"/>
        </p:xfrm>
        <a:graphic>
          <a:graphicData uri="http://schemas.openxmlformats.org/presentationml/2006/ole">
            <mc:AlternateContent xmlns:mc="http://schemas.openxmlformats.org/markup-compatibility/2006">
              <mc:Choice xmlns:v="urn:schemas-microsoft-com:vml" Requires="v">
                <p:oleObj spid="_x0000_s16424" name="Equation" r:id="rId8" imgW="723900" imgH="241300" progId="Equation.DSMT4">
                  <p:embed/>
                </p:oleObj>
              </mc:Choice>
              <mc:Fallback>
                <p:oleObj name="Equation" r:id="rId8" imgW="723900" imgH="241300" progId="Equation.DSMT4">
                  <p:embed/>
                  <p:pic>
                    <p:nvPicPr>
                      <p:cNvPr id="0" name="对象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9880" y="5419650"/>
                        <a:ext cx="1196218" cy="400703"/>
                      </a:xfrm>
                      <a:prstGeom prst="rect">
                        <a:avLst/>
                      </a:prstGeom>
                      <a:noFill/>
                    </p:spPr>
                  </p:pic>
                </p:oleObj>
              </mc:Fallback>
            </mc:AlternateContent>
          </a:graphicData>
        </a:graphic>
      </p:graphicFrame>
      <p:graphicFrame>
        <p:nvGraphicFramePr>
          <p:cNvPr id="29" name="对象 28"/>
          <p:cNvGraphicFramePr>
            <a:graphicFrameLocks noChangeAspect="1"/>
          </p:cNvGraphicFramePr>
          <p:nvPr/>
        </p:nvGraphicFramePr>
        <p:xfrm>
          <a:off x="3396632" y="5445259"/>
          <a:ext cx="321747" cy="349484"/>
        </p:xfrm>
        <a:graphic>
          <a:graphicData uri="http://schemas.openxmlformats.org/presentationml/2006/ole">
            <mc:AlternateContent xmlns:mc="http://schemas.openxmlformats.org/markup-compatibility/2006">
              <mc:Choice xmlns:v="urn:schemas-microsoft-com:vml" Requires="v">
                <p:oleObj spid="_x0000_s16425" name="Equation" r:id="rId10" imgW="152400" imgH="165100" progId="Equation.DSMT4">
                  <p:embed/>
                </p:oleObj>
              </mc:Choice>
              <mc:Fallback>
                <p:oleObj name="Equation" r:id="rId10" imgW="152400" imgH="165100" progId="Equation.DSMT4">
                  <p:embed/>
                  <p:pic>
                    <p:nvPicPr>
                      <p:cNvPr id="0" name="对象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96632" y="5445259"/>
                        <a:ext cx="321747" cy="349484"/>
                      </a:xfrm>
                      <a:prstGeom prst="rect">
                        <a:avLst/>
                      </a:prstGeom>
                      <a:noFill/>
                    </p:spPr>
                  </p:pic>
                </p:oleObj>
              </mc:Fallback>
            </mc:AlternateContent>
          </a:graphicData>
        </a:graphic>
      </p:graphicFrame>
      <p:grpSp>
        <p:nvGrpSpPr>
          <p:cNvPr id="4" name="组合 3"/>
          <p:cNvGrpSpPr/>
          <p:nvPr/>
        </p:nvGrpSpPr>
        <p:grpSpPr>
          <a:xfrm>
            <a:off x="4651948" y="1602769"/>
            <a:ext cx="4106628" cy="4333318"/>
            <a:chOff x="4651948" y="1602769"/>
            <a:chExt cx="4106628" cy="4333318"/>
          </a:xfrm>
        </p:grpSpPr>
        <p:grpSp>
          <p:nvGrpSpPr>
            <p:cNvPr id="30" name="Group 6"/>
            <p:cNvGrpSpPr/>
            <p:nvPr/>
          </p:nvGrpSpPr>
          <p:grpSpPr bwMode="auto">
            <a:xfrm>
              <a:off x="4651948" y="1602769"/>
              <a:ext cx="4106628" cy="4333318"/>
              <a:chOff x="1338" y="357"/>
              <a:chExt cx="3181" cy="3495"/>
            </a:xfrm>
          </p:grpSpPr>
          <p:sp>
            <p:nvSpPr>
              <p:cNvPr id="33" name="Rectangle 4"/>
              <p:cNvSpPr>
                <a:spLocks noChangeArrowheads="1"/>
              </p:cNvSpPr>
              <p:nvPr/>
            </p:nvSpPr>
            <p:spPr bwMode="auto">
              <a:xfrm>
                <a:off x="1732" y="3430"/>
                <a:ext cx="2090" cy="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zh-CN" altLang="en-US" sz="2800" b="1" dirty="0">
                    <a:solidFill>
                      <a:srgbClr val="FF0000"/>
                    </a:solidFill>
                    <a:latin typeface="黑体" panose="02010609060101010101" pitchFamily="49" charset="-122"/>
                    <a:ea typeface="黑体" panose="02010609060101010101" pitchFamily="49" charset="-122"/>
                  </a:rPr>
                  <a:t>完整状态转移图</a:t>
                </a:r>
                <a:endParaRPr lang="zh-CN" altLang="en-US" sz="2800" b="1" dirty="0">
                  <a:solidFill>
                    <a:srgbClr val="FF0000"/>
                  </a:solidFill>
                  <a:latin typeface="黑体" panose="02010609060101010101" pitchFamily="49" charset="-122"/>
                  <a:ea typeface="黑体" panose="02010609060101010101" pitchFamily="49" charset="-122"/>
                </a:endParaRPr>
              </a:p>
            </p:txBody>
          </p:sp>
          <p:pic>
            <p:nvPicPr>
              <p:cNvPr id="34" name="Picture 5" descr="5-3-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8" y="357"/>
                <a:ext cx="3181" cy="294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文本框 2"/>
            <p:cNvSpPr txBox="1"/>
            <p:nvPr/>
          </p:nvSpPr>
          <p:spPr>
            <a:xfrm>
              <a:off x="8241223" y="2997676"/>
              <a:ext cx="422330" cy="369332"/>
            </a:xfrm>
            <a:prstGeom prst="rect">
              <a:avLst/>
            </a:prstGeom>
            <a:solidFill>
              <a:schemeClr val="bg1"/>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01</a:t>
              </a:r>
              <a:endParaRPr lang="zh-CN" altLang="en-US" dirty="0">
                <a:latin typeface="Times New Roman" panose="02020603050405020304" pitchFamily="18" charset="0"/>
                <a:cs typeface="Times New Roman" panose="02020603050405020304" pitchFamily="18" charset="0"/>
              </a:endParaRPr>
            </a:p>
          </p:txBody>
        </p:sp>
        <p:sp>
          <p:nvSpPr>
            <p:cNvPr id="38" name="文本框 37"/>
            <p:cNvSpPr txBox="1"/>
            <p:nvPr/>
          </p:nvSpPr>
          <p:spPr>
            <a:xfrm>
              <a:off x="7204128" y="4779516"/>
              <a:ext cx="422330" cy="369332"/>
            </a:xfrm>
            <a:prstGeom prst="rect">
              <a:avLst/>
            </a:prstGeom>
            <a:solidFill>
              <a:schemeClr val="bg1"/>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p:txBody>
        </p:sp>
      </p:grpSp>
      <p:pic>
        <p:nvPicPr>
          <p:cNvPr id="152578" name="Object 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04875" cy="366713"/>
          </a:xfrm>
          <a:prstGeom prst="rect">
            <a:avLst/>
          </a:prstGeom>
          <a:noFill/>
          <a:extLst>
            <a:ext uri="{909E8E84-426E-40DD-AFC4-6F175D3DCCD1}">
              <a14:hiddenFill xmlns:a14="http://schemas.microsoft.com/office/drawing/2010/main">
                <a:solidFill>
                  <a:srgbClr val="FFFFFF"/>
                </a:solidFill>
              </a14:hiddenFill>
            </a:ext>
          </a:extLst>
        </p:spPr>
      </p:pic>
      <p:pic>
        <p:nvPicPr>
          <p:cNvPr id="152579" name="Object 6"/>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0" y="0"/>
            <a:ext cx="357188" cy="328613"/>
          </a:xfrm>
          <a:prstGeom prst="rect">
            <a:avLst/>
          </a:prstGeom>
          <a:noFill/>
          <a:extLst>
            <a:ext uri="{909E8E84-426E-40DD-AFC4-6F175D3DCCD1}">
              <a14:hiddenFill xmlns:a14="http://schemas.microsoft.com/office/drawing/2010/main">
                <a:solidFill>
                  <a:srgbClr val="FFFFFF"/>
                </a:solidFill>
              </a14:hiddenFill>
            </a:ext>
          </a:extLst>
        </p:spPr>
      </p:pic>
      <p:pic>
        <p:nvPicPr>
          <p:cNvPr id="152580" name="Object 5"/>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0" y="0"/>
            <a:ext cx="966788" cy="323850"/>
          </a:xfrm>
          <a:prstGeom prst="rect">
            <a:avLst/>
          </a:prstGeom>
          <a:noFill/>
          <a:extLst>
            <a:ext uri="{909E8E84-426E-40DD-AFC4-6F175D3DCCD1}">
              <a14:hiddenFill xmlns:a14="http://schemas.microsoft.com/office/drawing/2010/main">
                <a:solidFill>
                  <a:srgbClr val="FFFFFF"/>
                </a:solidFill>
              </a14:hiddenFill>
            </a:ext>
          </a:extLst>
        </p:spPr>
      </p:pic>
      <p:pic>
        <p:nvPicPr>
          <p:cNvPr id="152581" name="Object 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5.3.1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同步时序逻辑电路分析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 name="文本框 1"/>
          <p:cNvSpPr txBox="1"/>
          <p:nvPr/>
        </p:nvSpPr>
        <p:spPr>
          <a:xfrm>
            <a:off x="305604" y="726949"/>
            <a:ext cx="5196294"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7. </a:t>
            </a:r>
            <a:r>
              <a:rPr lang="zh-CN" altLang="en-US" sz="2800" b="1" dirty="0">
                <a:solidFill>
                  <a:srgbClr val="0000FF"/>
                </a:solidFill>
                <a:latin typeface="黑体" panose="02010609060101010101" pitchFamily="49" charset="-122"/>
                <a:ea typeface="黑体" panose="02010609060101010101" pitchFamily="49" charset="-122"/>
              </a:rPr>
              <a:t>判断电路功能</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4" name="矩形 3"/>
          <p:cNvSpPr/>
          <p:nvPr/>
        </p:nvSpPr>
        <p:spPr>
          <a:xfrm>
            <a:off x="5232252" y="5577134"/>
            <a:ext cx="3713480" cy="954107"/>
          </a:xfrm>
          <a:prstGeom prst="rect">
            <a:avLst/>
          </a:prstGeom>
          <a:ln>
            <a:solidFill>
              <a:srgbClr val="FF33CC"/>
            </a:solidFill>
          </a:ln>
        </p:spPr>
        <p:txBody>
          <a:bodyPr wrap="square">
            <a:spAutoFit/>
          </a:bodyPr>
          <a:lstStyle/>
          <a:p>
            <a:r>
              <a:rPr lang="zh-CN" altLang="en-US" sz="2800" b="1" dirty="0">
                <a:solidFill>
                  <a:srgbClr val="0000FF"/>
                </a:solidFill>
              </a:rPr>
              <a:t>该电路是一个加减可控的三进制计数器 </a:t>
            </a:r>
            <a:endParaRPr lang="zh-CN" altLang="en-US" sz="2800" b="1" dirty="0">
              <a:solidFill>
                <a:srgbClr val="0000FF"/>
              </a:solidFill>
            </a:endParaRPr>
          </a:p>
        </p:txBody>
      </p:sp>
      <p:sp>
        <p:nvSpPr>
          <p:cNvPr id="5" name="矩形 4"/>
          <p:cNvSpPr/>
          <p:nvPr/>
        </p:nvSpPr>
        <p:spPr>
          <a:xfrm>
            <a:off x="94131" y="1604147"/>
            <a:ext cx="3972562" cy="954107"/>
          </a:xfrm>
          <a:prstGeom prst="rect">
            <a:avLst/>
          </a:prstGeom>
        </p:spPr>
        <p:txBody>
          <a:bodyPr wrap="none">
            <a:spAutoFit/>
          </a:bodyPr>
          <a:lstStyle/>
          <a:p>
            <a:r>
              <a:rPr lang="zh-CN" altLang="en-US" sz="2800" b="1" dirty="0">
                <a:latin typeface="黑体" panose="02010609060101010101" pitchFamily="49" charset="-122"/>
                <a:ea typeface="黑体" panose="02010609060101010101" pitchFamily="49" charset="-122"/>
              </a:rPr>
              <a:t>该电路共有三个状态： </a:t>
            </a:r>
            <a:endParaRPr lang="en-US" altLang="zh-CN" sz="2800" b="1" dirty="0">
              <a:latin typeface="黑体" panose="02010609060101010101" pitchFamily="49" charset="-122"/>
              <a:ea typeface="黑体" panose="02010609060101010101" pitchFamily="49" charset="-122"/>
            </a:endParaRPr>
          </a:p>
          <a:p>
            <a:r>
              <a:rPr lang="en-US" altLang="zh-CN" sz="2800" b="1" dirty="0">
                <a:solidFill>
                  <a:srgbClr val="FF0000"/>
                </a:solidFill>
                <a:latin typeface="黑体" panose="02010609060101010101" pitchFamily="49" charset="-122"/>
                <a:ea typeface="黑体" panose="02010609060101010101" pitchFamily="49" charset="-122"/>
              </a:rPr>
              <a:t>00</a:t>
            </a:r>
            <a:r>
              <a:rPr lang="zh-CN" altLang="en-US" sz="2800" b="1" dirty="0">
                <a:solidFill>
                  <a:srgbClr val="FF0000"/>
                </a:solidFill>
                <a:latin typeface="黑体" panose="02010609060101010101" pitchFamily="49" charset="-122"/>
                <a:ea typeface="黑体" panose="02010609060101010101" pitchFamily="49" charset="-122"/>
              </a:rPr>
              <a:t>、</a:t>
            </a:r>
            <a:r>
              <a:rPr lang="en-US" altLang="zh-CN" sz="2800" b="1" dirty="0">
                <a:solidFill>
                  <a:srgbClr val="FF0000"/>
                </a:solidFill>
                <a:latin typeface="黑体" panose="02010609060101010101" pitchFamily="49" charset="-122"/>
                <a:ea typeface="黑体" panose="02010609060101010101" pitchFamily="49" charset="-122"/>
              </a:rPr>
              <a:t>01</a:t>
            </a:r>
            <a:r>
              <a:rPr lang="zh-CN" altLang="en-US" sz="2800" b="1" dirty="0">
                <a:solidFill>
                  <a:srgbClr val="FF0000"/>
                </a:solidFill>
                <a:latin typeface="黑体" panose="02010609060101010101" pitchFamily="49" charset="-122"/>
                <a:ea typeface="黑体" panose="02010609060101010101" pitchFamily="49" charset="-122"/>
              </a:rPr>
              <a:t>和</a:t>
            </a:r>
            <a:r>
              <a:rPr lang="en-US" altLang="zh-CN" sz="2800" b="1" dirty="0">
                <a:solidFill>
                  <a:srgbClr val="FF0000"/>
                </a:solidFill>
                <a:latin typeface="黑体" panose="02010609060101010101" pitchFamily="49" charset="-122"/>
                <a:ea typeface="黑体" panose="02010609060101010101" pitchFamily="49" charset="-122"/>
              </a:rPr>
              <a:t>10</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8" name="矩形 7"/>
          <p:cNvSpPr/>
          <p:nvPr/>
        </p:nvSpPr>
        <p:spPr>
          <a:xfrm>
            <a:off x="94131" y="2689850"/>
            <a:ext cx="4493538" cy="523220"/>
          </a:xfrm>
          <a:prstGeom prst="rect">
            <a:avLst/>
          </a:prstGeom>
        </p:spPr>
        <p:txBody>
          <a:bodyPr wrap="none">
            <a:spAutoFit/>
          </a:bodyPr>
          <a:lstStyle/>
          <a:p>
            <a:r>
              <a:rPr lang="zh-CN" altLang="en-US" sz="2800" b="1" dirty="0">
                <a:latin typeface="黑体" panose="02010609060101010101" pitchFamily="49" charset="-122"/>
                <a:ea typeface="黑体" panose="02010609060101010101" pitchFamily="49" charset="-122"/>
              </a:rPr>
              <a:t>当时钟信号下降沿到来时：</a:t>
            </a:r>
            <a:endParaRPr lang="zh-CN" altLang="en-US" sz="2800" b="1" dirty="0">
              <a:latin typeface="黑体" panose="02010609060101010101" pitchFamily="49" charset="-122"/>
              <a:ea typeface="黑体" panose="02010609060101010101" pitchFamily="49" charset="-122"/>
            </a:endParaRPr>
          </a:p>
        </p:txBody>
      </p:sp>
      <p:sp>
        <p:nvSpPr>
          <p:cNvPr id="10" name="矩形 9"/>
          <p:cNvSpPr/>
          <p:nvPr/>
        </p:nvSpPr>
        <p:spPr>
          <a:xfrm>
            <a:off x="94132" y="3402282"/>
            <a:ext cx="4058784" cy="1569660"/>
          </a:xfrm>
          <a:prstGeom prst="rect">
            <a:avLst/>
          </a:prstGeom>
        </p:spPr>
        <p:txBody>
          <a:bodyPr wrap="square">
            <a:spAutoFit/>
          </a:bodyPr>
          <a:lstStyle/>
          <a:p>
            <a:pPr marL="285750" indent="-285750">
              <a:buFont typeface="Wingdings" panose="05000000000000000000" pitchFamily="2" charset="2"/>
              <a:buChar char="Ø"/>
            </a:pPr>
            <a:r>
              <a:rPr lang="zh-CN" altLang="en-US" sz="2400" b="1" dirty="0"/>
              <a:t>若</a:t>
            </a:r>
            <a:r>
              <a:rPr lang="en-US" altLang="zh-CN" sz="2400" b="1" i="1" dirty="0"/>
              <a:t>X</a:t>
            </a:r>
            <a:r>
              <a:rPr lang="en-US" altLang="zh-CN" sz="2400" b="1" dirty="0"/>
              <a:t>=0</a:t>
            </a:r>
            <a:r>
              <a:rPr lang="zh-CN" altLang="en-US" sz="2400" b="1" dirty="0"/>
              <a:t>， 按照加</a:t>
            </a:r>
            <a:r>
              <a:rPr lang="en-US" altLang="zh-CN" sz="2400" b="1" dirty="0"/>
              <a:t>1</a:t>
            </a:r>
            <a:r>
              <a:rPr lang="zh-CN" altLang="en-US" sz="2400" b="1" dirty="0"/>
              <a:t>规律从</a:t>
            </a:r>
            <a:r>
              <a:rPr lang="en-US" altLang="zh-CN" sz="2400" b="1" dirty="0">
                <a:solidFill>
                  <a:srgbClr val="FF0000"/>
                </a:solidFill>
              </a:rPr>
              <a:t>00→01→10→00</a:t>
            </a:r>
            <a:r>
              <a:rPr lang="zh-CN" altLang="en-US" sz="2400" b="1" dirty="0"/>
              <a:t>循环变化， 且每当转换为</a:t>
            </a:r>
            <a:r>
              <a:rPr lang="en-US" altLang="zh-CN" sz="2400" b="1" dirty="0"/>
              <a:t>10</a:t>
            </a:r>
            <a:r>
              <a:rPr lang="zh-CN" altLang="en-US" sz="2400" b="1" dirty="0"/>
              <a:t>状态</a:t>
            </a:r>
            <a:r>
              <a:rPr lang="en-US" altLang="zh-CN" sz="2400" b="1" dirty="0"/>
              <a:t>(</a:t>
            </a:r>
            <a:r>
              <a:rPr lang="zh-CN" altLang="en-US" sz="2400" b="1" dirty="0"/>
              <a:t>最大数</a:t>
            </a:r>
            <a:r>
              <a:rPr lang="en-US" altLang="zh-CN" sz="2400" b="1" dirty="0"/>
              <a:t>)</a:t>
            </a:r>
            <a:r>
              <a:rPr lang="zh-CN" altLang="en-US" sz="2400" b="1" dirty="0"/>
              <a:t>时， 输出</a:t>
            </a:r>
            <a:r>
              <a:rPr lang="en-US" altLang="zh-CN" sz="2400" b="1" i="1" dirty="0"/>
              <a:t>Z</a:t>
            </a:r>
            <a:r>
              <a:rPr lang="en-US" altLang="zh-CN" sz="2400" b="1" dirty="0"/>
              <a:t>=1</a:t>
            </a:r>
            <a:endParaRPr lang="zh-CN" altLang="en-US" sz="2400" b="1" dirty="0"/>
          </a:p>
        </p:txBody>
      </p:sp>
      <p:sp>
        <p:nvSpPr>
          <p:cNvPr id="11" name="矩形 10"/>
          <p:cNvSpPr/>
          <p:nvPr/>
        </p:nvSpPr>
        <p:spPr>
          <a:xfrm>
            <a:off x="95871" y="5103538"/>
            <a:ext cx="4057044" cy="1569660"/>
          </a:xfrm>
          <a:prstGeom prst="rect">
            <a:avLst/>
          </a:prstGeom>
        </p:spPr>
        <p:txBody>
          <a:bodyPr wrap="square">
            <a:spAutoFit/>
          </a:bodyPr>
          <a:lstStyle/>
          <a:p>
            <a:pPr marL="285750" indent="-285750">
              <a:buFont typeface="Wingdings" panose="05000000000000000000" pitchFamily="2" charset="2"/>
              <a:buChar char="Ø"/>
            </a:pPr>
            <a:r>
              <a:rPr lang="en-US" altLang="zh-CN" sz="2400" b="1" dirty="0"/>
              <a:t>X=1</a:t>
            </a:r>
            <a:r>
              <a:rPr lang="zh-CN" altLang="en-US" sz="2400" b="1" dirty="0"/>
              <a:t>时， 按照减</a:t>
            </a:r>
            <a:r>
              <a:rPr lang="en-US" altLang="zh-CN" sz="2400" b="1" dirty="0"/>
              <a:t>1</a:t>
            </a:r>
            <a:r>
              <a:rPr lang="zh-CN" altLang="en-US" sz="2400" b="1" dirty="0"/>
              <a:t>规律从</a:t>
            </a:r>
            <a:r>
              <a:rPr lang="en-US" altLang="zh-CN" sz="2400" b="1" dirty="0">
                <a:solidFill>
                  <a:srgbClr val="FF0000"/>
                </a:solidFill>
              </a:rPr>
              <a:t>10→01→00→10</a:t>
            </a:r>
            <a:r>
              <a:rPr lang="zh-CN" altLang="en-US" sz="2400" b="1" dirty="0"/>
              <a:t>循环变化， 且每当转换为</a:t>
            </a:r>
            <a:r>
              <a:rPr lang="en-US" altLang="zh-CN" sz="2400" b="1" dirty="0"/>
              <a:t>00</a:t>
            </a:r>
            <a:r>
              <a:rPr lang="zh-CN" altLang="en-US" sz="2400" b="1" dirty="0"/>
              <a:t>状态</a:t>
            </a:r>
            <a:r>
              <a:rPr lang="en-US" altLang="zh-CN" sz="2400" b="1" dirty="0"/>
              <a:t>(</a:t>
            </a:r>
            <a:r>
              <a:rPr lang="zh-CN" altLang="en-US" sz="2400" b="1" dirty="0"/>
              <a:t>最小数</a:t>
            </a:r>
            <a:r>
              <a:rPr lang="en-US" altLang="zh-CN" sz="2400" b="1" dirty="0"/>
              <a:t>)</a:t>
            </a:r>
            <a:r>
              <a:rPr lang="zh-CN" altLang="en-US" sz="2400" b="1" dirty="0"/>
              <a:t>时， 输出</a:t>
            </a:r>
            <a:r>
              <a:rPr lang="en-US" altLang="zh-CN" sz="2400" b="1" dirty="0"/>
              <a:t>Z=1</a:t>
            </a:r>
            <a:endParaRPr lang="zh-CN" altLang="en-US" sz="2400" b="1" dirty="0"/>
          </a:p>
        </p:txBody>
      </p:sp>
      <p:pic>
        <p:nvPicPr>
          <p:cNvPr id="153602" name="Object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904875" cy="366713"/>
          </a:xfrm>
          <a:prstGeom prst="rect">
            <a:avLst/>
          </a:prstGeom>
          <a:noFill/>
          <a:extLst>
            <a:ext uri="{909E8E84-426E-40DD-AFC4-6F175D3DCCD1}">
              <a14:hiddenFill xmlns:a14="http://schemas.microsoft.com/office/drawing/2010/main">
                <a:solidFill>
                  <a:srgbClr val="FFFFFF"/>
                </a:solidFill>
              </a14:hiddenFill>
            </a:ext>
          </a:extLst>
        </p:spPr>
      </p:pic>
      <p:pic>
        <p:nvPicPr>
          <p:cNvPr id="153603" name="Object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357188" cy="328613"/>
          </a:xfrm>
          <a:prstGeom prst="rect">
            <a:avLst/>
          </a:prstGeom>
          <a:noFill/>
          <a:extLst>
            <a:ext uri="{909E8E84-426E-40DD-AFC4-6F175D3DCCD1}">
              <a14:hiddenFill xmlns:a14="http://schemas.microsoft.com/office/drawing/2010/main">
                <a:solidFill>
                  <a:srgbClr val="FFFFFF"/>
                </a:solidFill>
              </a14:hiddenFill>
            </a:ext>
          </a:extLst>
        </p:spPr>
      </p:pic>
      <p:pic>
        <p:nvPicPr>
          <p:cNvPr id="153604" name="Object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0"/>
            <a:ext cx="966788" cy="323850"/>
          </a:xfrm>
          <a:prstGeom prst="rect">
            <a:avLst/>
          </a:prstGeom>
          <a:noFill/>
          <a:extLst>
            <a:ext uri="{909E8E84-426E-40DD-AFC4-6F175D3DCCD1}">
              <a14:hiddenFill xmlns:a14="http://schemas.microsoft.com/office/drawing/2010/main">
                <a:solidFill>
                  <a:srgbClr val="FFFFFF"/>
                </a:solidFill>
              </a14:hiddenFill>
            </a:ext>
          </a:extLst>
        </p:spPr>
      </p:pic>
      <p:pic>
        <p:nvPicPr>
          <p:cNvPr id="153605" name="Object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0" y="0"/>
            <a:ext cx="276225" cy="300038"/>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组合 14"/>
          <p:cNvGrpSpPr/>
          <p:nvPr/>
        </p:nvGrpSpPr>
        <p:grpSpPr>
          <a:xfrm>
            <a:off x="4934127" y="1090074"/>
            <a:ext cx="4106628" cy="4330838"/>
            <a:chOff x="4651948" y="1602769"/>
            <a:chExt cx="4106628" cy="4330838"/>
          </a:xfrm>
        </p:grpSpPr>
        <p:grpSp>
          <p:nvGrpSpPr>
            <p:cNvPr id="16" name="Group 6"/>
            <p:cNvGrpSpPr/>
            <p:nvPr/>
          </p:nvGrpSpPr>
          <p:grpSpPr bwMode="auto">
            <a:xfrm>
              <a:off x="4651948" y="1602769"/>
              <a:ext cx="4106628" cy="4330838"/>
              <a:chOff x="1338" y="357"/>
              <a:chExt cx="3181" cy="3493"/>
            </a:xfrm>
          </p:grpSpPr>
          <p:sp>
            <p:nvSpPr>
              <p:cNvPr id="19" name="Rectangle 4"/>
              <p:cNvSpPr>
                <a:spLocks noChangeArrowheads="1"/>
              </p:cNvSpPr>
              <p:nvPr/>
            </p:nvSpPr>
            <p:spPr bwMode="auto">
              <a:xfrm>
                <a:off x="2140" y="3428"/>
                <a:ext cx="2090" cy="4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marL="342900" indent="-342900" algn="l">
                  <a:spcBef>
                    <a:spcPct val="0"/>
                  </a:spcBef>
                  <a:defRPr kumimoji="1" sz="2400">
                    <a:solidFill>
                      <a:schemeClr val="tx1"/>
                    </a:solidFill>
                    <a:latin typeface="Times New Roman" panose="02020603050405020304" pitchFamily="18" charset="0"/>
                    <a:ea typeface="宋体" panose="02010600030101010101" pitchFamily="2" charset="-122"/>
                  </a:defRPr>
                </a:lvl1pPr>
                <a:lvl2pPr algn="l">
                  <a:spcBef>
                    <a:spcPct val="0"/>
                  </a:spcBef>
                  <a:defRPr kumimoji="1" sz="2400">
                    <a:solidFill>
                      <a:schemeClr val="tx1"/>
                    </a:solidFill>
                    <a:latin typeface="Times New Roman" panose="02020603050405020304" pitchFamily="18" charset="0"/>
                    <a:ea typeface="宋体" panose="02010600030101010101" pitchFamily="2" charset="-122"/>
                  </a:defRPr>
                </a:lvl2pPr>
                <a:lvl3pPr algn="l">
                  <a:spcBef>
                    <a:spcPct val="0"/>
                  </a:spcBef>
                  <a:defRPr kumimoji="1" sz="2400">
                    <a:solidFill>
                      <a:schemeClr val="tx1"/>
                    </a:solidFill>
                    <a:latin typeface="Times New Roman" panose="02020603050405020304" pitchFamily="18" charset="0"/>
                    <a:ea typeface="宋体" panose="02010600030101010101" pitchFamily="2" charset="-122"/>
                  </a:defRPr>
                </a:lvl3pPr>
                <a:lvl4pPr algn="l">
                  <a:spcBef>
                    <a:spcPct val="0"/>
                  </a:spcBef>
                  <a:defRPr kumimoji="1" sz="2400">
                    <a:solidFill>
                      <a:schemeClr val="tx1"/>
                    </a:solidFill>
                    <a:latin typeface="Times New Roman" panose="02020603050405020304" pitchFamily="18" charset="0"/>
                    <a:ea typeface="宋体" panose="02010600030101010101" pitchFamily="2" charset="-122"/>
                  </a:defRPr>
                </a:lvl4pPr>
                <a:lvl5pPr algn="l">
                  <a:spcBef>
                    <a:spcPct val="0"/>
                  </a:spcBef>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20000"/>
                  </a:spcBef>
                </a:pPr>
                <a:r>
                  <a:rPr lang="zh-CN" altLang="en-US" sz="2800" b="1" dirty="0">
                    <a:solidFill>
                      <a:srgbClr val="FF0000"/>
                    </a:solidFill>
                    <a:latin typeface="黑体" panose="02010609060101010101" pitchFamily="49" charset="-122"/>
                    <a:ea typeface="黑体" panose="02010609060101010101" pitchFamily="49" charset="-122"/>
                  </a:rPr>
                  <a:t>完整状态转移图</a:t>
                </a:r>
                <a:endParaRPr lang="zh-CN" altLang="en-US" sz="2800" b="1" dirty="0">
                  <a:solidFill>
                    <a:srgbClr val="FF0000"/>
                  </a:solidFill>
                  <a:latin typeface="黑体" panose="02010609060101010101" pitchFamily="49" charset="-122"/>
                  <a:ea typeface="黑体" panose="02010609060101010101" pitchFamily="49" charset="-122"/>
                </a:endParaRPr>
              </a:p>
            </p:txBody>
          </p:sp>
          <p:pic>
            <p:nvPicPr>
              <p:cNvPr id="20" name="Picture 5" descr="5-3-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8" y="357"/>
                <a:ext cx="3181" cy="2945"/>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文本框 16"/>
            <p:cNvSpPr txBox="1"/>
            <p:nvPr/>
          </p:nvSpPr>
          <p:spPr>
            <a:xfrm>
              <a:off x="8241223" y="2997676"/>
              <a:ext cx="422330" cy="369332"/>
            </a:xfrm>
            <a:prstGeom prst="rect">
              <a:avLst/>
            </a:prstGeom>
            <a:solidFill>
              <a:schemeClr val="bg1"/>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01</a:t>
              </a:r>
              <a:endParaRPr lang="zh-CN" altLang="en-US" dirty="0">
                <a:latin typeface="Times New Roman" panose="02020603050405020304" pitchFamily="18" charset="0"/>
                <a:cs typeface="Times New Roman" panose="02020603050405020304" pitchFamily="18" charset="0"/>
              </a:endParaRPr>
            </a:p>
          </p:txBody>
        </p:sp>
        <p:sp>
          <p:nvSpPr>
            <p:cNvPr id="18" name="文本框 17"/>
            <p:cNvSpPr txBox="1"/>
            <p:nvPr/>
          </p:nvSpPr>
          <p:spPr>
            <a:xfrm>
              <a:off x="7204128" y="4779516"/>
              <a:ext cx="422330" cy="369332"/>
            </a:xfrm>
            <a:prstGeom prst="rect">
              <a:avLst/>
            </a:prstGeom>
            <a:solidFill>
              <a:schemeClr val="bg1"/>
            </a:solid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10</a:t>
              </a:r>
              <a:endParaRPr lang="zh-CN" altLang="en-US"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1" name="淘宝网chenying0907出品 10"/>
          <p:cNvSpPr txBox="1"/>
          <p:nvPr/>
        </p:nvSpPr>
        <p:spPr>
          <a:xfrm>
            <a:off x="457533" y="364805"/>
            <a:ext cx="5955967" cy="646331"/>
          </a:xfrm>
          <a:prstGeom prst="rect">
            <a:avLst/>
          </a:prstGeom>
          <a:noFill/>
        </p:spPr>
        <p:txBody>
          <a:bodyPr wrap="square" rtlCol="0">
            <a:spAutoFit/>
          </a:bodyPr>
          <a:lstStyle/>
          <a:p>
            <a:r>
              <a:rPr lang="en-US" altLang="zh-CN" sz="3600" b="1" dirty="0">
                <a:solidFill>
                  <a:srgbClr val="4472C4">
                    <a:lumMod val="50000"/>
                  </a:srgbClr>
                </a:solidFill>
                <a:latin typeface="微软雅黑" panose="020B0503020204020204" pitchFamily="34" charset="-122"/>
                <a:ea typeface="微软雅黑" panose="020B0503020204020204" pitchFamily="34" charset="-122"/>
              </a:rPr>
              <a:t>5.3   </a:t>
            </a:r>
            <a:r>
              <a:rPr lang="zh-CN" altLang="en-US" sz="3600" b="1" dirty="0">
                <a:solidFill>
                  <a:srgbClr val="4472C4">
                    <a:lumMod val="50000"/>
                  </a:srgbClr>
                </a:solidFill>
                <a:latin typeface="微软雅黑" panose="020B0503020204020204" pitchFamily="34" charset="-122"/>
                <a:ea typeface="微软雅黑" panose="020B0503020204020204" pitchFamily="34" charset="-122"/>
              </a:rPr>
              <a:t>时序逻辑电路分析</a:t>
            </a:r>
            <a:endParaRPr lang="en-US" altLang="zh-CN" sz="3600" b="1" dirty="0">
              <a:solidFill>
                <a:srgbClr val="4472C4">
                  <a:lumMod val="50000"/>
                </a:srgbClr>
              </a:solidFill>
              <a:latin typeface="微软雅黑" panose="020B0503020204020204" pitchFamily="34" charset="-122"/>
              <a:ea typeface="微软雅黑" panose="020B0503020204020204" pitchFamily="34" charset="-122"/>
            </a:endParaRPr>
          </a:p>
        </p:txBody>
      </p:sp>
      <p:sp>
        <p:nvSpPr>
          <p:cNvPr id="22" name="Text Box 68"/>
          <p:cNvSpPr txBox="1">
            <a:spLocks noChangeArrowheads="1"/>
          </p:cNvSpPr>
          <p:nvPr/>
        </p:nvSpPr>
        <p:spPr bwMode="auto">
          <a:xfrm>
            <a:off x="1977093" y="4859748"/>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0" hangingPunct="0"/>
            <a:endParaRPr lang="zh-CN" altLang="en-US" sz="3200" b="1">
              <a:solidFill>
                <a:srgbClr val="E7E6E6">
                  <a:lumMod val="75000"/>
                </a:srgbClr>
              </a:solidFill>
              <a:latin typeface="楷体_GB2312" pitchFamily="49" charset="-122"/>
            </a:endParaRPr>
          </a:p>
        </p:txBody>
      </p:sp>
      <p:sp>
        <p:nvSpPr>
          <p:cNvPr id="24" name="Text Box 84">
            <a:hlinkClick r:id="rId1" action="ppaction://hlinksldjump"/>
          </p:cNvPr>
          <p:cNvSpPr txBox="1">
            <a:spLocks noChangeArrowheads="1"/>
          </p:cNvSpPr>
          <p:nvPr/>
        </p:nvSpPr>
        <p:spPr bwMode="auto">
          <a:xfrm>
            <a:off x="2052912" y="3410054"/>
            <a:ext cx="48093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solidFill>
                  <a:prstClr val="black"/>
                </a:solidFill>
              </a:rPr>
              <a:t>异步时序逻辑电路分析</a:t>
            </a:r>
            <a:endParaRPr lang="zh-CN" altLang="en-US" dirty="0">
              <a:solidFill>
                <a:prstClr val="black"/>
              </a:solidFill>
            </a:endParaRPr>
          </a:p>
        </p:txBody>
      </p:sp>
      <p:sp>
        <p:nvSpPr>
          <p:cNvPr id="25" name="Text Box 86">
            <a:hlinkClick r:id="rId1" action="ppaction://hlinksldjump"/>
          </p:cNvPr>
          <p:cNvSpPr txBox="1">
            <a:spLocks noChangeArrowheads="1"/>
          </p:cNvSpPr>
          <p:nvPr/>
        </p:nvSpPr>
        <p:spPr bwMode="auto">
          <a:xfrm>
            <a:off x="2019044" y="2473706"/>
            <a:ext cx="496307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eaLnBrk="0" hangingPunct="0">
              <a:defRPr sz="3200" b="1">
                <a:solidFill>
                  <a:schemeClr val="bg2">
                    <a:lumMod val="75000"/>
                  </a:schemeClr>
                </a:solidFill>
                <a:latin typeface="楷体_GB2312" pitchFamily="49" charset="-122"/>
              </a:defRPr>
            </a:lvl1pPr>
          </a:lstStyle>
          <a:p>
            <a:r>
              <a:rPr lang="zh-CN" altLang="en-US" dirty="0">
                <a:solidFill>
                  <a:srgbClr val="E7E6E6">
                    <a:lumMod val="75000"/>
                  </a:srgbClr>
                </a:solidFill>
              </a:rPr>
              <a:t>同步时序逻辑电路分析</a:t>
            </a:r>
            <a:endParaRPr lang="zh-CN" altLang="en-US" dirty="0">
              <a:solidFill>
                <a:srgbClr val="E7E6E6">
                  <a:lumMod val="75000"/>
                </a:srgbClr>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Text Box 46" descr="花束"/>
          <p:cNvSpPr txBox="1">
            <a:spLocks noChangeArrowheads="1"/>
          </p:cNvSpPr>
          <p:nvPr/>
        </p:nvSpPr>
        <p:spPr bwMode="auto">
          <a:xfrm>
            <a:off x="260304" y="764488"/>
            <a:ext cx="8185864"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一、</a:t>
            </a:r>
            <a:r>
              <a:rPr kumimoji="1" lang="en-US" altLang="zh-CN" sz="2800" b="1" dirty="0">
                <a:solidFill>
                  <a:srgbClr val="0000FF"/>
                </a:solidFill>
                <a:latin typeface="Times New Roman" panose="02020603050405020304" pitchFamily="18" charset="0"/>
                <a:ea typeface="长城楷体" pitchFamily="1" charset="-122"/>
              </a:rPr>
              <a:t> </a:t>
            </a:r>
            <a:r>
              <a:rPr kumimoji="1" lang="zh-CN" altLang="en-US" sz="2800" b="1" dirty="0">
                <a:solidFill>
                  <a:srgbClr val="0000FF"/>
                </a:solidFill>
                <a:latin typeface="Times New Roman" panose="02020603050405020304" pitchFamily="18" charset="0"/>
                <a:ea typeface="长城楷体" pitchFamily="1" charset="-122"/>
              </a:rPr>
              <a:t>异步时序逻辑电路的特点</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2" name="矩形 1"/>
          <p:cNvSpPr/>
          <p:nvPr/>
        </p:nvSpPr>
        <p:spPr>
          <a:xfrm>
            <a:off x="359275" y="2145840"/>
            <a:ext cx="8151062" cy="2277547"/>
          </a:xfrm>
          <a:prstGeom prst="rect">
            <a:avLst/>
          </a:prstGeom>
        </p:spPr>
        <p:txBody>
          <a:bodyPr wrap="square">
            <a:spAutoFit/>
          </a:bodyPr>
          <a:lstStyle/>
          <a:p>
            <a:pPr marL="457200" indent="-457200">
              <a:spcAft>
                <a:spcPts val="1800"/>
              </a:spcAft>
              <a:buFont typeface="Wingdings" panose="05000000000000000000" pitchFamily="2" charset="2"/>
              <a:buChar char="Ø"/>
            </a:pPr>
            <a:r>
              <a:rPr lang="zh-CN" altLang="en-US" sz="2800" b="1" dirty="0">
                <a:solidFill>
                  <a:prstClr val="black"/>
                </a:solidFill>
                <a:latin typeface="黑体" panose="02010609060101010101" pitchFamily="49" charset="-122"/>
                <a:ea typeface="黑体" panose="02010609060101010101" pitchFamily="49" charset="-122"/>
              </a:rPr>
              <a:t>电路无统一的时钟信号</a:t>
            </a:r>
            <a:endParaRPr lang="en-US" altLang="zh-CN" sz="2800" b="1" dirty="0">
              <a:solidFill>
                <a:prstClr val="black"/>
              </a:solidFill>
              <a:latin typeface="黑体" panose="02010609060101010101" pitchFamily="49" charset="-122"/>
              <a:ea typeface="黑体" panose="02010609060101010101" pitchFamily="49" charset="-122"/>
            </a:endParaRPr>
          </a:p>
          <a:p>
            <a:pPr marL="457200" indent="-457200">
              <a:spcAft>
                <a:spcPts val="1800"/>
              </a:spcAft>
              <a:buFont typeface="Wingdings" panose="05000000000000000000" pitchFamily="2" charset="2"/>
              <a:buChar char="Ø"/>
            </a:pPr>
            <a:r>
              <a:rPr lang="zh-CN" altLang="en-US" sz="2800" b="1" dirty="0">
                <a:solidFill>
                  <a:prstClr val="black"/>
                </a:solidFill>
                <a:latin typeface="黑体" panose="02010609060101010101" pitchFamily="49" charset="-122"/>
                <a:ea typeface="黑体" panose="02010609060101010101" pitchFamily="49" charset="-122"/>
              </a:rPr>
              <a:t>除了时钟脉冲外，没有其它输入信号，由时钟脉冲直接引起电路状态的变化</a:t>
            </a:r>
            <a:endParaRPr lang="en-US" altLang="zh-CN" sz="2800" b="1" dirty="0">
              <a:solidFill>
                <a:prstClr val="black"/>
              </a:solidFill>
              <a:latin typeface="黑体" panose="02010609060101010101" pitchFamily="49" charset="-122"/>
              <a:ea typeface="黑体" panose="02010609060101010101" pitchFamily="49" charset="-122"/>
            </a:endParaRPr>
          </a:p>
          <a:p>
            <a:pPr marL="457200" indent="-457200">
              <a:spcAft>
                <a:spcPts val="1800"/>
              </a:spcAft>
              <a:buFont typeface="Wingdings" panose="05000000000000000000" pitchFamily="2" charset="2"/>
              <a:buChar char="Ø"/>
            </a:pPr>
            <a:r>
              <a:rPr lang="zh-CN" altLang="en-US" sz="2800" b="1" dirty="0">
                <a:solidFill>
                  <a:prstClr val="black"/>
                </a:solidFill>
                <a:latin typeface="黑体" panose="02010609060101010101" pitchFamily="49" charset="-122"/>
                <a:ea typeface="黑体" panose="02010609060101010101" pitchFamily="49" charset="-122"/>
              </a:rPr>
              <a:t>由次态逻辑产生各触发器的驱动信号及时钟信号</a:t>
            </a:r>
            <a:endParaRPr lang="en-US" altLang="zh-CN" sz="2800" b="1" dirty="0">
              <a:solidFill>
                <a:prstClr val="black"/>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Text Box 46" descr="花束"/>
          <p:cNvSpPr txBox="1">
            <a:spLocks noChangeArrowheads="1"/>
          </p:cNvSpPr>
          <p:nvPr/>
        </p:nvSpPr>
        <p:spPr bwMode="auto">
          <a:xfrm>
            <a:off x="260303" y="764488"/>
            <a:ext cx="6765727"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二、分析步骤</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15" name="Rectangle 3"/>
          <p:cNvSpPr>
            <a:spLocks noChangeArrowheads="1"/>
          </p:cNvSpPr>
          <p:nvPr/>
        </p:nvSpPr>
        <p:spPr bwMode="auto">
          <a:xfrm>
            <a:off x="533401" y="1378789"/>
            <a:ext cx="6340197" cy="973280"/>
          </a:xfrm>
          <a:prstGeom prst="rect">
            <a:avLst/>
          </a:prstGeom>
          <a:solidFill>
            <a:srgbClr val="FFFFFF">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solidFill>
                  <a:prstClr val="black"/>
                </a:solidFill>
                <a:latin typeface="Times New Roman" panose="02020603050405020304" pitchFamily="18" charset="0"/>
                <a:ea typeface="楷体_GB2312" pitchFamily="49" charset="-122"/>
              </a:rPr>
              <a:t>1.   </a:t>
            </a:r>
            <a:r>
              <a:rPr lang="zh-CN" altLang="en-US" sz="2400" b="1" dirty="0">
                <a:solidFill>
                  <a:prstClr val="black"/>
                </a:solidFill>
                <a:latin typeface="Times New Roman" panose="02020603050405020304" pitchFamily="18" charset="0"/>
                <a:ea typeface="楷体_GB2312" pitchFamily="49" charset="-122"/>
              </a:rPr>
              <a:t>了解电路的组成</a:t>
            </a:r>
            <a:endParaRPr lang="zh-CN" altLang="en-US" sz="2400" b="1" dirty="0">
              <a:solidFill>
                <a:prstClr val="black"/>
              </a:solidFill>
              <a:latin typeface="Times New Roman" panose="02020603050405020304" pitchFamily="18" charset="0"/>
              <a:ea typeface="楷体_GB2312" pitchFamily="49" charset="-122"/>
            </a:endParaRPr>
          </a:p>
          <a:p>
            <a:pPr eaLnBrk="1" hangingPunct="1">
              <a:lnSpc>
                <a:spcPct val="125000"/>
              </a:lnSpc>
            </a:pPr>
            <a:r>
              <a:rPr lang="zh-CN" altLang="en-US" sz="2400" b="1" dirty="0">
                <a:solidFill>
                  <a:srgbClr val="000066"/>
                </a:solidFill>
                <a:latin typeface="Times New Roman" panose="02020603050405020304" pitchFamily="18" charset="0"/>
                <a:ea typeface="楷体_GB2312" pitchFamily="49" charset="-122"/>
              </a:rPr>
              <a:t>       </a:t>
            </a:r>
            <a:r>
              <a:rPr lang="zh-CN" altLang="en-US" sz="2400" b="1" dirty="0">
                <a:solidFill>
                  <a:srgbClr val="C00000"/>
                </a:solidFill>
                <a:latin typeface="Times New Roman" panose="02020603050405020304" pitchFamily="18" charset="0"/>
                <a:ea typeface="楷体_GB2312" pitchFamily="49" charset="-122"/>
              </a:rPr>
              <a:t>电路的输入、输出信号、触发器的类型等</a:t>
            </a:r>
            <a:r>
              <a:rPr lang="zh-CN" altLang="en-US" sz="2400" b="1" dirty="0">
                <a:solidFill>
                  <a:prstClr val="black"/>
                </a:solidFill>
                <a:latin typeface="Times New Roman" panose="02020603050405020304" pitchFamily="18" charset="0"/>
                <a:ea typeface="楷体_GB2312" pitchFamily="49" charset="-122"/>
              </a:rPr>
              <a:t> </a:t>
            </a:r>
            <a:endParaRPr lang="zh-CN" altLang="en-US" sz="2400" b="1" dirty="0">
              <a:solidFill>
                <a:prstClr val="black"/>
              </a:solidFill>
              <a:latin typeface="Times New Roman" panose="02020603050405020304" pitchFamily="18" charset="0"/>
              <a:ea typeface="楷体_GB2312" pitchFamily="49" charset="-122"/>
            </a:endParaRPr>
          </a:p>
        </p:txBody>
      </p:sp>
      <p:sp>
        <p:nvSpPr>
          <p:cNvPr id="16" name="Rectangle 4"/>
          <p:cNvSpPr>
            <a:spLocks noChangeArrowheads="1"/>
          </p:cNvSpPr>
          <p:nvPr/>
        </p:nvSpPr>
        <p:spPr bwMode="auto">
          <a:xfrm>
            <a:off x="533401" y="5922493"/>
            <a:ext cx="641667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b="1" dirty="0">
                <a:solidFill>
                  <a:prstClr val="black"/>
                </a:solidFill>
                <a:latin typeface="Times New Roman" panose="02020603050405020304" pitchFamily="18" charset="0"/>
                <a:ea typeface="楷体_GB2312" pitchFamily="49" charset="-122"/>
              </a:rPr>
              <a:t>4.   </a:t>
            </a:r>
            <a:r>
              <a:rPr lang="zh-CN" altLang="en-US" sz="2400" b="1" dirty="0">
                <a:solidFill>
                  <a:prstClr val="black"/>
                </a:solidFill>
                <a:latin typeface="Times New Roman" panose="02020603050405020304" pitchFamily="18" charset="0"/>
                <a:ea typeface="楷体_GB2312" pitchFamily="49" charset="-122"/>
              </a:rPr>
              <a:t>确定电路的逻辑功能</a:t>
            </a:r>
            <a:endParaRPr lang="zh-CN" altLang="en-US" sz="2400" b="1" dirty="0">
              <a:solidFill>
                <a:prstClr val="black"/>
              </a:solidFill>
              <a:latin typeface="Times New Roman" panose="02020603050405020304" pitchFamily="18" charset="0"/>
              <a:ea typeface="楷体_GB2312" pitchFamily="49" charset="-122"/>
            </a:endParaRPr>
          </a:p>
        </p:txBody>
      </p:sp>
      <p:sp>
        <p:nvSpPr>
          <p:cNvPr id="17" name="Rectangle 5"/>
          <p:cNvSpPr>
            <a:spLocks noChangeArrowheads="1"/>
          </p:cNvSpPr>
          <p:nvPr/>
        </p:nvSpPr>
        <p:spPr bwMode="auto">
          <a:xfrm>
            <a:off x="533401" y="5231710"/>
            <a:ext cx="6257925" cy="51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5000"/>
              </a:lnSpc>
            </a:pPr>
            <a:r>
              <a:rPr lang="en-US" altLang="zh-CN" sz="2400" b="1" dirty="0">
                <a:solidFill>
                  <a:prstClr val="black"/>
                </a:solidFill>
                <a:latin typeface="Times New Roman" panose="02020603050405020304" pitchFamily="18" charset="0"/>
                <a:ea typeface="楷体_GB2312" pitchFamily="49" charset="-122"/>
              </a:rPr>
              <a:t>3.   </a:t>
            </a:r>
            <a:r>
              <a:rPr lang="zh-CN" altLang="en-US" sz="2400" b="1" dirty="0">
                <a:solidFill>
                  <a:prstClr val="black"/>
                </a:solidFill>
                <a:latin typeface="Times New Roman" panose="02020603050405020304" pitchFamily="18" charset="0"/>
                <a:ea typeface="楷体_GB2312" pitchFamily="49" charset="-122"/>
              </a:rPr>
              <a:t>列出状态转换表、画出状态图和波形图</a:t>
            </a:r>
            <a:endParaRPr lang="zh-CN" altLang="en-US" sz="2400" b="1" dirty="0">
              <a:solidFill>
                <a:prstClr val="black"/>
              </a:solidFill>
              <a:latin typeface="Times New Roman" panose="02020603050405020304" pitchFamily="18" charset="0"/>
              <a:ea typeface="楷体_GB2312" pitchFamily="49" charset="-122"/>
            </a:endParaRPr>
          </a:p>
        </p:txBody>
      </p:sp>
      <p:sp>
        <p:nvSpPr>
          <p:cNvPr id="18" name="Rectangle 6"/>
          <p:cNvSpPr>
            <a:spLocks noChangeArrowheads="1"/>
          </p:cNvSpPr>
          <p:nvPr/>
        </p:nvSpPr>
        <p:spPr bwMode="auto">
          <a:xfrm>
            <a:off x="409574" y="2528181"/>
            <a:ext cx="7777163" cy="511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solidFill>
                  <a:prstClr val="black"/>
                </a:solidFill>
                <a:latin typeface="Times New Roman" panose="02020603050405020304" pitchFamily="18" charset="0"/>
                <a:ea typeface="楷体_GB2312" pitchFamily="49" charset="-122"/>
              </a:rPr>
              <a:t>  2.   </a:t>
            </a:r>
            <a:r>
              <a:rPr lang="zh-CN" altLang="en-US" sz="2400" b="1" dirty="0">
                <a:solidFill>
                  <a:prstClr val="black"/>
                </a:solidFill>
                <a:latin typeface="Times New Roman" panose="02020603050405020304" pitchFamily="18" charset="0"/>
                <a:ea typeface="楷体_GB2312" pitchFamily="49" charset="-122"/>
              </a:rPr>
              <a:t>根据给定的时序电路图</a:t>
            </a:r>
            <a:r>
              <a:rPr lang="en-US" altLang="zh-CN" sz="2400" b="1" dirty="0">
                <a:solidFill>
                  <a:prstClr val="black"/>
                </a:solidFill>
                <a:latin typeface="Times New Roman" panose="02020603050405020304" pitchFamily="18" charset="0"/>
                <a:ea typeface="楷体_GB2312" pitchFamily="49" charset="-122"/>
              </a:rPr>
              <a:t>,</a:t>
            </a:r>
            <a:r>
              <a:rPr lang="zh-CN" altLang="en-US" sz="2400" b="1" dirty="0">
                <a:solidFill>
                  <a:prstClr val="black"/>
                </a:solidFill>
                <a:latin typeface="Times New Roman" panose="02020603050405020304" pitchFamily="18" charset="0"/>
                <a:ea typeface="楷体_GB2312" pitchFamily="49" charset="-122"/>
              </a:rPr>
              <a:t>写出下列各逻辑方程式：</a:t>
            </a:r>
            <a:endParaRPr lang="zh-CN" altLang="en-US" sz="2400" b="1" dirty="0">
              <a:solidFill>
                <a:prstClr val="black"/>
              </a:solidFill>
              <a:latin typeface="Times New Roman" panose="02020603050405020304" pitchFamily="18" charset="0"/>
              <a:ea typeface="楷体_GB2312" pitchFamily="49" charset="-122"/>
            </a:endParaRPr>
          </a:p>
        </p:txBody>
      </p:sp>
      <p:sp>
        <p:nvSpPr>
          <p:cNvPr id="19" name="Rectangle 7"/>
          <p:cNvSpPr>
            <a:spLocks noChangeArrowheads="1"/>
          </p:cNvSpPr>
          <p:nvPr/>
        </p:nvSpPr>
        <p:spPr bwMode="auto">
          <a:xfrm>
            <a:off x="1078085" y="3130141"/>
            <a:ext cx="48244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25000"/>
              </a:lnSpc>
              <a:buFont typeface="Wingdings" panose="05000000000000000000" pitchFamily="2" charset="2"/>
              <a:buChar char="Ø"/>
            </a:pPr>
            <a:r>
              <a:rPr lang="zh-CN" altLang="en-US" sz="2400" b="1" dirty="0">
                <a:solidFill>
                  <a:srgbClr val="FF0000"/>
                </a:solidFill>
                <a:latin typeface="Times New Roman" panose="02020603050405020304" pitchFamily="18" charset="0"/>
                <a:ea typeface="楷体_GB2312" pitchFamily="49" charset="-122"/>
              </a:rPr>
              <a:t>各触发器的时钟方程</a:t>
            </a:r>
            <a:endParaRPr lang="en-US" altLang="zh-CN" sz="2400" b="1" dirty="0">
              <a:solidFill>
                <a:srgbClr val="FF0000"/>
              </a:solidFill>
              <a:latin typeface="Times New Roman" panose="02020603050405020304" pitchFamily="18" charset="0"/>
              <a:ea typeface="楷体_GB2312" pitchFamily="49" charset="-122"/>
            </a:endParaRPr>
          </a:p>
          <a:p>
            <a:pPr marL="342900" indent="-342900" algn="just" eaLnBrk="1" hangingPunct="1">
              <a:lnSpc>
                <a:spcPct val="125000"/>
              </a:lnSpc>
              <a:buFont typeface="Wingdings" panose="05000000000000000000" pitchFamily="2" charset="2"/>
              <a:buChar char="Ø"/>
            </a:pPr>
            <a:r>
              <a:rPr lang="zh-CN" altLang="en-US" sz="2400" b="1" dirty="0">
                <a:solidFill>
                  <a:srgbClr val="2B56F5"/>
                </a:solidFill>
                <a:latin typeface="Times New Roman" panose="02020603050405020304" pitchFamily="18" charset="0"/>
                <a:ea typeface="楷体_GB2312" pitchFamily="49" charset="-122"/>
              </a:rPr>
              <a:t>各触发器的驱动方程</a:t>
            </a:r>
            <a:endParaRPr lang="en-US" altLang="zh-CN" sz="2400" b="1" dirty="0">
              <a:solidFill>
                <a:srgbClr val="2B56F5"/>
              </a:solidFill>
              <a:latin typeface="Times New Roman" panose="02020603050405020304" pitchFamily="18" charset="0"/>
              <a:ea typeface="楷体_GB2312" pitchFamily="49" charset="-122"/>
            </a:endParaRPr>
          </a:p>
          <a:p>
            <a:pPr marL="342900" indent="-342900" algn="just" eaLnBrk="1" hangingPunct="1">
              <a:lnSpc>
                <a:spcPct val="125000"/>
              </a:lnSpc>
              <a:buFont typeface="Wingdings" panose="05000000000000000000" pitchFamily="2" charset="2"/>
              <a:buChar char="Ø"/>
            </a:pPr>
            <a:r>
              <a:rPr lang="zh-CN" altLang="en-US" sz="2400" b="1" dirty="0" smtClean="0">
                <a:solidFill>
                  <a:srgbClr val="2B56F5"/>
                </a:solidFill>
                <a:latin typeface="Times New Roman" panose="02020603050405020304" pitchFamily="18" charset="0"/>
                <a:ea typeface="楷体_GB2312" pitchFamily="49" charset="-122"/>
              </a:rPr>
              <a:t>各</a:t>
            </a:r>
            <a:r>
              <a:rPr lang="zh-CN" altLang="en-US" sz="2400" b="1" dirty="0">
                <a:solidFill>
                  <a:srgbClr val="2B56F5"/>
                </a:solidFill>
                <a:latin typeface="Times New Roman" panose="02020603050405020304" pitchFamily="18" charset="0"/>
                <a:ea typeface="楷体_GB2312" pitchFamily="49" charset="-122"/>
              </a:rPr>
              <a:t>触发器的次态</a:t>
            </a:r>
            <a:r>
              <a:rPr lang="zh-CN" altLang="en-US" sz="2400" b="1" dirty="0" smtClean="0">
                <a:solidFill>
                  <a:srgbClr val="2B56F5"/>
                </a:solidFill>
                <a:latin typeface="Times New Roman" panose="02020603050405020304" pitchFamily="18" charset="0"/>
                <a:ea typeface="楷体_GB2312" pitchFamily="49" charset="-122"/>
              </a:rPr>
              <a:t>方程</a:t>
            </a:r>
            <a:endParaRPr lang="en-US" altLang="zh-CN" sz="2400" b="1" dirty="0" smtClean="0">
              <a:solidFill>
                <a:srgbClr val="2B56F5"/>
              </a:solidFill>
              <a:latin typeface="Times New Roman" panose="02020603050405020304" pitchFamily="18" charset="0"/>
              <a:ea typeface="楷体_GB2312" pitchFamily="49" charset="-122"/>
            </a:endParaRPr>
          </a:p>
          <a:p>
            <a:pPr marL="342900" indent="-342900" algn="just" eaLnBrk="1" hangingPunct="1">
              <a:lnSpc>
                <a:spcPct val="125000"/>
              </a:lnSpc>
              <a:buFont typeface="Wingdings" panose="05000000000000000000" pitchFamily="2" charset="2"/>
              <a:buChar char="Ø"/>
            </a:pPr>
            <a:r>
              <a:rPr lang="zh-CN" altLang="en-US" sz="2400" b="1" dirty="0">
                <a:solidFill>
                  <a:srgbClr val="2B56F5"/>
                </a:solidFill>
                <a:latin typeface="Times New Roman" panose="02020603050405020304" pitchFamily="18" charset="0"/>
                <a:ea typeface="楷体_GB2312" pitchFamily="49" charset="-122"/>
              </a:rPr>
              <a:t>时序电路的</a:t>
            </a:r>
            <a:r>
              <a:rPr lang="zh-CN" altLang="en-US" sz="2400" b="1" dirty="0" smtClean="0">
                <a:solidFill>
                  <a:srgbClr val="2B56F5"/>
                </a:solidFill>
                <a:latin typeface="Times New Roman" panose="02020603050405020304" pitchFamily="18" charset="0"/>
                <a:ea typeface="楷体_GB2312" pitchFamily="49" charset="-122"/>
              </a:rPr>
              <a:t>输出方程</a:t>
            </a:r>
            <a:endParaRPr lang="en-US" altLang="zh-CN" sz="2400" b="1" dirty="0">
              <a:solidFill>
                <a:srgbClr val="2B56F5"/>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Righ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trips(downRigh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strips(downRight)">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strips(downRigh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strips(downRight)">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utoUpdateAnimBg="0"/>
      <p:bldP spid="16" grpId="0" autoUpdateAnimBg="0"/>
      <p:bldP spid="17" grpId="0" animBg="1" autoUpdateAnimBg="0"/>
      <p:bldP spid="18" grpId="0" autoUpdateAnimBg="0"/>
      <p:bldP spid="19"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0" name="Text Box 46" descr="花束"/>
          <p:cNvSpPr txBox="1">
            <a:spLocks noChangeArrowheads="1"/>
          </p:cNvSpPr>
          <p:nvPr/>
        </p:nvSpPr>
        <p:spPr bwMode="auto">
          <a:xfrm>
            <a:off x="260303" y="764488"/>
            <a:ext cx="6765727" cy="525401"/>
          </a:xfrm>
          <a:prstGeom prst="rect">
            <a:avLst/>
          </a:prstGeom>
          <a:noFill/>
          <a:ln>
            <a:noFill/>
          </a:ln>
          <a:effectLst/>
          <a:extLst>
            <a:ext uri="{909E8E84-426E-40DD-AFC4-6F175D3DCCD1}">
              <a14:hiddenFill xmlns:a14="http://schemas.microsoft.com/office/drawing/2010/main">
                <a:blipFill dpi="0" rotWithShape="0">
                  <a:blip r:embed="rId2"/>
                  <a:srcRect/>
                  <a:tile tx="0" ty="0" sx="100000" sy="100000" flip="none" algn="tl"/>
                </a:blip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p>
            <a:pPr defTabSz="914400" fontAlgn="base">
              <a:spcBef>
                <a:spcPct val="50000"/>
              </a:spcBef>
              <a:spcAft>
                <a:spcPct val="0"/>
              </a:spcAft>
            </a:pPr>
            <a:r>
              <a:rPr kumimoji="1" lang="zh-CN" altLang="en-US" sz="2800" b="1" dirty="0">
                <a:solidFill>
                  <a:srgbClr val="0000FF"/>
                </a:solidFill>
                <a:latin typeface="Times New Roman" panose="02020603050405020304" pitchFamily="18" charset="0"/>
                <a:ea typeface="长城楷体" pitchFamily="1" charset="-122"/>
              </a:rPr>
              <a:t>三、注意</a:t>
            </a:r>
            <a:endParaRPr kumimoji="1" lang="zh-CN" altLang="en-US" sz="2800" b="1" dirty="0">
              <a:solidFill>
                <a:srgbClr val="0000FF"/>
              </a:solidFill>
              <a:latin typeface="Times New Roman" panose="02020603050405020304" pitchFamily="18" charset="0"/>
              <a:ea typeface="长城楷体" pitchFamily="1" charset="-122"/>
            </a:endParaRPr>
          </a:p>
        </p:txBody>
      </p:sp>
      <p:sp>
        <p:nvSpPr>
          <p:cNvPr id="15" name="Rectangle 3"/>
          <p:cNvSpPr>
            <a:spLocks noChangeArrowheads="1"/>
          </p:cNvSpPr>
          <p:nvPr/>
        </p:nvSpPr>
        <p:spPr bwMode="auto">
          <a:xfrm>
            <a:off x="515378" y="1327712"/>
            <a:ext cx="8134233" cy="1477328"/>
          </a:xfrm>
          <a:prstGeom prst="rect">
            <a:avLst/>
          </a:prstGeom>
          <a:solidFill>
            <a:srgbClr val="FFFFFF">
              <a:alpha val="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solidFill>
                  <a:prstClr val="black"/>
                </a:solidFill>
                <a:latin typeface="Times New Roman" panose="02020603050405020304" pitchFamily="18" charset="0"/>
                <a:ea typeface="楷体_GB2312" pitchFamily="49" charset="-122"/>
              </a:rPr>
              <a:t>1.   </a:t>
            </a:r>
            <a:r>
              <a:rPr lang="zh-CN" altLang="en-US" sz="2400" b="1" dirty="0">
                <a:solidFill>
                  <a:prstClr val="black"/>
                </a:solidFill>
                <a:latin typeface="Times New Roman" panose="02020603050405020304" pitchFamily="18" charset="0"/>
                <a:ea typeface="楷体_GB2312" pitchFamily="49" charset="-122"/>
              </a:rPr>
              <a:t>第一个触发器</a:t>
            </a:r>
            <a:endParaRPr lang="zh-CN" altLang="en-US" sz="2400" b="1" dirty="0">
              <a:solidFill>
                <a:prstClr val="black"/>
              </a:solidFill>
              <a:latin typeface="Times New Roman" panose="02020603050405020304" pitchFamily="18" charset="0"/>
              <a:ea typeface="楷体_GB2312" pitchFamily="49" charset="-122"/>
            </a:endParaRPr>
          </a:p>
          <a:p>
            <a:pPr eaLnBrk="1" hangingPunct="1">
              <a:lnSpc>
                <a:spcPct val="125000"/>
              </a:lnSpc>
            </a:pPr>
            <a:r>
              <a:rPr lang="zh-CN" altLang="en-US" sz="2400" b="1" dirty="0">
                <a:solidFill>
                  <a:srgbClr val="000066"/>
                </a:solidFill>
                <a:latin typeface="Times New Roman" panose="02020603050405020304" pitchFamily="18" charset="0"/>
                <a:ea typeface="楷体_GB2312" pitchFamily="49" charset="-122"/>
              </a:rPr>
              <a:t>       </a:t>
            </a:r>
            <a:r>
              <a:rPr lang="zh-CN" altLang="en-US" sz="2400" b="1" dirty="0">
                <a:solidFill>
                  <a:srgbClr val="C00000"/>
                </a:solidFill>
                <a:latin typeface="Times New Roman" panose="02020603050405020304" pitchFamily="18" charset="0"/>
                <a:ea typeface="楷体_GB2312" pitchFamily="49" charset="-122"/>
              </a:rPr>
              <a:t>每一次状态转换必须从输入信号所能触发的第一个触发器开始逐级确定</a:t>
            </a:r>
            <a:endParaRPr lang="zh-CN" altLang="en-US" sz="2400" b="1" dirty="0">
              <a:solidFill>
                <a:prstClr val="black"/>
              </a:solidFill>
              <a:latin typeface="Times New Roman" panose="02020603050405020304" pitchFamily="18" charset="0"/>
              <a:ea typeface="楷体_GB2312" pitchFamily="49" charset="-122"/>
            </a:endParaRPr>
          </a:p>
        </p:txBody>
      </p:sp>
      <p:sp>
        <p:nvSpPr>
          <p:cNvPr id="17" name="Rectangle 5"/>
          <p:cNvSpPr>
            <a:spLocks noChangeArrowheads="1"/>
          </p:cNvSpPr>
          <p:nvPr/>
        </p:nvSpPr>
        <p:spPr bwMode="auto">
          <a:xfrm>
            <a:off x="515378" y="5117823"/>
            <a:ext cx="8231580" cy="1434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nSpc>
                <a:spcPct val="125000"/>
              </a:lnSpc>
              <a:buFontTx/>
              <a:buAutoNum type="arabicPeriod" startAt="3"/>
            </a:pPr>
            <a:r>
              <a:rPr lang="zh-CN" altLang="en-US" sz="2400" b="1" dirty="0">
                <a:solidFill>
                  <a:prstClr val="black"/>
                </a:solidFill>
                <a:latin typeface="Times New Roman" panose="02020603050405020304" pitchFamily="18" charset="0"/>
                <a:ea typeface="楷体_GB2312" pitchFamily="49" charset="-122"/>
              </a:rPr>
              <a:t>时间延迟</a:t>
            </a:r>
            <a:endParaRPr lang="en-US" altLang="zh-CN" sz="2400" b="1" dirty="0">
              <a:solidFill>
                <a:prstClr val="black"/>
              </a:solidFill>
              <a:latin typeface="Times New Roman" panose="02020603050405020304" pitchFamily="18" charset="0"/>
              <a:ea typeface="楷体_GB2312" pitchFamily="49" charset="-122"/>
            </a:endParaRPr>
          </a:p>
          <a:p>
            <a:pPr>
              <a:lnSpc>
                <a:spcPct val="125000"/>
              </a:lnSpc>
            </a:pPr>
            <a:r>
              <a:rPr lang="zh-CN" altLang="en-US" sz="2400" b="1" dirty="0">
                <a:solidFill>
                  <a:prstClr val="black"/>
                </a:solidFill>
                <a:latin typeface="Times New Roman" panose="02020603050405020304" pitchFamily="18" charset="0"/>
                <a:ea typeface="楷体_GB2312" pitchFamily="49" charset="-122"/>
              </a:rPr>
              <a:t>     各个触发器的状态转换存在一定的延迟。只有当全部触发器状态转换完毕，电路才进入新的“稳定”状态，即次态</a:t>
            </a:r>
            <a:endParaRPr lang="zh-CN" altLang="en-US" sz="2400" b="1" dirty="0">
              <a:solidFill>
                <a:prstClr val="black"/>
              </a:solidFill>
              <a:latin typeface="Times New Roman" panose="02020603050405020304" pitchFamily="18" charset="0"/>
              <a:ea typeface="楷体_GB2312" pitchFamily="49" charset="-122"/>
            </a:endParaRPr>
          </a:p>
        </p:txBody>
      </p:sp>
      <p:sp>
        <p:nvSpPr>
          <p:cNvPr id="18" name="Rectangle 6"/>
          <p:cNvSpPr>
            <a:spLocks noChangeArrowheads="1"/>
          </p:cNvSpPr>
          <p:nvPr/>
        </p:nvSpPr>
        <p:spPr bwMode="auto">
          <a:xfrm>
            <a:off x="321896" y="2973024"/>
            <a:ext cx="794379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en-US" altLang="zh-CN" sz="2400" b="1" dirty="0">
                <a:solidFill>
                  <a:prstClr val="black"/>
                </a:solidFill>
                <a:latin typeface="Times New Roman" panose="02020603050405020304" pitchFamily="18" charset="0"/>
                <a:ea typeface="楷体_GB2312" pitchFamily="49" charset="-122"/>
              </a:rPr>
              <a:t>  2.   </a:t>
            </a:r>
            <a:r>
              <a:rPr lang="zh-CN" altLang="en-US" sz="2400" b="1" dirty="0">
                <a:solidFill>
                  <a:prstClr val="black"/>
                </a:solidFill>
                <a:latin typeface="Times New Roman" panose="02020603050405020304" pitchFamily="18" charset="0"/>
                <a:ea typeface="楷体_GB2312" pitchFamily="49" charset="-122"/>
              </a:rPr>
              <a:t>是否出现</a:t>
            </a:r>
            <a:r>
              <a:rPr lang="zh-CN" altLang="en-US" sz="2400" b="1" dirty="0">
                <a:solidFill>
                  <a:srgbClr val="0000FF"/>
                </a:solidFill>
                <a:latin typeface="Times New Roman" panose="02020603050405020304" pitchFamily="18" charset="0"/>
                <a:ea typeface="楷体_GB2312" pitchFamily="49" charset="-122"/>
              </a:rPr>
              <a:t>触发沿</a:t>
            </a:r>
            <a:endParaRPr lang="en-US" altLang="zh-CN" sz="2400" b="1" dirty="0">
              <a:solidFill>
                <a:srgbClr val="0000FF"/>
              </a:solidFill>
              <a:latin typeface="Times New Roman" panose="02020603050405020304" pitchFamily="18" charset="0"/>
              <a:ea typeface="楷体_GB2312" pitchFamily="49" charset="-122"/>
            </a:endParaRPr>
          </a:p>
          <a:p>
            <a:pPr eaLnBrk="1" hangingPunct="1">
              <a:lnSpc>
                <a:spcPct val="125000"/>
              </a:lnSpc>
            </a:pPr>
            <a:r>
              <a:rPr lang="zh-CN" altLang="en-US" sz="2400" b="1" dirty="0">
                <a:solidFill>
                  <a:prstClr val="black"/>
                </a:solidFill>
                <a:latin typeface="Times New Roman" panose="02020603050405020304" pitchFamily="18" charset="0"/>
                <a:ea typeface="楷体_GB2312" pitchFamily="49" charset="-122"/>
              </a:rPr>
              <a:t>        </a:t>
            </a:r>
            <a:r>
              <a:rPr lang="zh-CN" altLang="en-US" sz="2400" b="1" dirty="0">
                <a:solidFill>
                  <a:srgbClr val="FF0000"/>
                </a:solidFill>
                <a:latin typeface="Times New Roman" panose="02020603050405020304" pitchFamily="18" charset="0"/>
                <a:ea typeface="楷体_GB2312" pitchFamily="49" charset="-122"/>
              </a:rPr>
              <a:t>逐个分析各触发器的时钟信号是否出现触发沿</a:t>
            </a:r>
            <a:r>
              <a:rPr lang="zh-CN" altLang="en-US" sz="2400" b="1" dirty="0">
                <a:solidFill>
                  <a:prstClr val="black"/>
                </a:solidFill>
                <a:latin typeface="Times New Roman" panose="02020603050405020304" pitchFamily="18" charset="0"/>
                <a:ea typeface="楷体_GB2312" pitchFamily="49" charset="-122"/>
              </a:rPr>
              <a:t>：</a:t>
            </a:r>
            <a:endParaRPr lang="en-US" altLang="zh-CN" sz="2400" b="1" dirty="0">
              <a:solidFill>
                <a:prstClr val="black"/>
              </a:solidFill>
              <a:latin typeface="Times New Roman" panose="02020603050405020304" pitchFamily="18" charset="0"/>
              <a:ea typeface="楷体_GB2312" pitchFamily="49" charset="-122"/>
            </a:endParaRPr>
          </a:p>
          <a:p>
            <a:pPr marL="720090" indent="-342900" eaLnBrk="1" hangingPunct="1">
              <a:lnSpc>
                <a:spcPct val="125000"/>
              </a:lnSpc>
              <a:buFont typeface="Wingdings" panose="05000000000000000000" pitchFamily="2" charset="2"/>
              <a:buChar char="Ø"/>
            </a:pPr>
            <a:r>
              <a:rPr lang="zh-CN" altLang="en-US" sz="2400" b="1" dirty="0">
                <a:solidFill>
                  <a:prstClr val="black"/>
                </a:solidFill>
                <a:latin typeface="Times New Roman" panose="02020603050405020304" pitchFamily="18" charset="0"/>
                <a:ea typeface="楷体_GB2312" pitchFamily="49" charset="-122"/>
              </a:rPr>
              <a:t>出现触发沿，求出该触发器的次态</a:t>
            </a:r>
            <a:endParaRPr lang="en-US" altLang="zh-CN" sz="2400" b="1" dirty="0">
              <a:solidFill>
                <a:prstClr val="black"/>
              </a:solidFill>
              <a:latin typeface="Times New Roman" panose="02020603050405020304" pitchFamily="18" charset="0"/>
              <a:ea typeface="楷体_GB2312" pitchFamily="49" charset="-122"/>
            </a:endParaRPr>
          </a:p>
          <a:p>
            <a:pPr marL="720090" indent="-342900" eaLnBrk="1" hangingPunct="1">
              <a:lnSpc>
                <a:spcPct val="125000"/>
              </a:lnSpc>
              <a:buFont typeface="Wingdings" panose="05000000000000000000" pitchFamily="2" charset="2"/>
              <a:buChar char="Ø"/>
            </a:pPr>
            <a:r>
              <a:rPr lang="zh-CN" altLang="en-US" sz="2400" b="1" dirty="0">
                <a:solidFill>
                  <a:prstClr val="black"/>
                </a:solidFill>
                <a:latin typeface="Times New Roman" panose="02020603050405020304" pitchFamily="18" charset="0"/>
                <a:ea typeface="楷体_GB2312" pitchFamily="49" charset="-122"/>
              </a:rPr>
              <a:t>未出现触发沿，记为</a:t>
            </a:r>
            <a:r>
              <a:rPr lang="en-US" altLang="zh-CN" sz="2400" b="1" dirty="0" err="1">
                <a:solidFill>
                  <a:prstClr val="black"/>
                </a:solidFill>
                <a:latin typeface="Times New Roman" panose="02020603050405020304" pitchFamily="18" charset="0"/>
                <a:ea typeface="楷体_GB2312" pitchFamily="49" charset="-122"/>
              </a:rPr>
              <a:t>CP</a:t>
            </a:r>
            <a:r>
              <a:rPr lang="en-US" altLang="zh-CN" sz="2400" b="1" baseline="-25000" dirty="0" err="1">
                <a:solidFill>
                  <a:prstClr val="black"/>
                </a:solidFill>
                <a:latin typeface="Times New Roman" panose="02020603050405020304" pitchFamily="18" charset="0"/>
                <a:ea typeface="楷体_GB2312" pitchFamily="49" charset="-122"/>
              </a:rPr>
              <a:t>n</a:t>
            </a:r>
            <a:r>
              <a:rPr lang="en-US" altLang="zh-CN" sz="2400" b="1" dirty="0">
                <a:solidFill>
                  <a:prstClr val="black"/>
                </a:solidFill>
                <a:latin typeface="Times New Roman" panose="02020603050405020304" pitchFamily="18" charset="0"/>
                <a:ea typeface="楷体_GB2312" pitchFamily="49" charset="-122"/>
              </a:rPr>
              <a:t>=0</a:t>
            </a:r>
            <a:r>
              <a:rPr lang="zh-CN" altLang="en-US" sz="2400" b="1" dirty="0">
                <a:solidFill>
                  <a:prstClr val="black"/>
                </a:solidFill>
                <a:latin typeface="Times New Roman" panose="02020603050405020304" pitchFamily="18" charset="0"/>
                <a:ea typeface="楷体_GB2312" pitchFamily="49" charset="-122"/>
              </a:rPr>
              <a:t>，该触发器保持原有状态</a:t>
            </a:r>
            <a:endParaRPr lang="zh-CN" altLang="en-US" sz="2400" b="1" dirty="0">
              <a:solidFill>
                <a:prstClr val="black"/>
              </a:solidFill>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Righ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strips(downRigh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strips(downRight)">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autoUpdateAnimBg="0"/>
      <p:bldP spid="17" grpId="0" animBg="1" autoUpdateAnimBg="0"/>
      <p:bldP spid="18"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1" name="Rectangle 2"/>
          <p:cNvSpPr>
            <a:spLocks noChangeArrowheads="1"/>
          </p:cNvSpPr>
          <p:nvPr/>
        </p:nvSpPr>
        <p:spPr bwMode="auto">
          <a:xfrm>
            <a:off x="0" y="2505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GB" altLang="zh-CN">
              <a:solidFill>
                <a:prstClr val="black"/>
              </a:solidFill>
            </a:endParaRPr>
          </a:p>
        </p:txBody>
      </p:sp>
      <p:sp>
        <p:nvSpPr>
          <p:cNvPr id="18" name="Rectangle 4"/>
          <p:cNvSpPr>
            <a:spLocks noChangeArrowheads="1"/>
          </p:cNvSpPr>
          <p:nvPr/>
        </p:nvSpPr>
        <p:spPr bwMode="auto">
          <a:xfrm>
            <a:off x="5936802" y="2268331"/>
            <a:ext cx="1784350" cy="523220"/>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时钟方程</a:t>
            </a:r>
            <a:endParaRPr lang="zh-CN" altLang="en-US" sz="2800" b="1" dirty="0">
              <a:solidFill>
                <a:srgbClr val="000066"/>
              </a:solidFill>
              <a:ea typeface="楷体_GB2312" pitchFamily="49" charset="-122"/>
              <a:cs typeface="Times New Roman" panose="02020603050405020304" pitchFamily="18" charset="0"/>
            </a:endParaRPr>
          </a:p>
        </p:txBody>
      </p:sp>
      <p:sp>
        <p:nvSpPr>
          <p:cNvPr id="32" name="Text Box 18"/>
          <p:cNvSpPr txBox="1">
            <a:spLocks noChangeArrowheads="1"/>
          </p:cNvSpPr>
          <p:nvPr/>
        </p:nvSpPr>
        <p:spPr bwMode="auto">
          <a:xfrm>
            <a:off x="221190" y="686001"/>
            <a:ext cx="59393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prstClr val="black"/>
                </a:solidFill>
                <a:ea typeface="楷体_GB2312" pitchFamily="49" charset="-122"/>
              </a:rPr>
              <a:t>例</a:t>
            </a:r>
            <a:r>
              <a:rPr lang="en-US" altLang="zh-CN" sz="2800" b="1" dirty="0">
                <a:solidFill>
                  <a:prstClr val="black"/>
                </a:solidFill>
                <a:ea typeface="楷体_GB2312" pitchFamily="49" charset="-122"/>
              </a:rPr>
              <a:t>1</a:t>
            </a:r>
            <a:r>
              <a:rPr lang="zh-CN" altLang="en-US" sz="2800" b="1" dirty="0">
                <a:solidFill>
                  <a:prstClr val="black"/>
                </a:solidFill>
                <a:ea typeface="楷体_GB2312" pitchFamily="49" charset="-122"/>
              </a:rPr>
              <a:t>：分析以下电路的逻辑功能</a:t>
            </a:r>
            <a:endParaRPr lang="zh-CN" altLang="en-US" sz="2800" b="1" dirty="0">
              <a:solidFill>
                <a:prstClr val="black"/>
              </a:solidFill>
              <a:ea typeface="楷体_GB2312" pitchFamily="49" charset="-122"/>
            </a:endParaRPr>
          </a:p>
        </p:txBody>
      </p:sp>
      <p:sp>
        <p:nvSpPr>
          <p:cNvPr id="2" name="文本框 1"/>
          <p:cNvSpPr txBox="1"/>
          <p:nvPr/>
        </p:nvSpPr>
        <p:spPr>
          <a:xfrm>
            <a:off x="5841150" y="1600465"/>
            <a:ext cx="2700866"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1. </a:t>
            </a:r>
            <a:r>
              <a:rPr lang="zh-CN" altLang="en-US" sz="2800" b="1" dirty="0">
                <a:solidFill>
                  <a:srgbClr val="0000FF"/>
                </a:solidFill>
                <a:latin typeface="黑体" panose="02010609060101010101" pitchFamily="49" charset="-122"/>
                <a:ea typeface="黑体" panose="02010609060101010101" pitchFamily="49" charset="-122"/>
              </a:rPr>
              <a:t>写方程组</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3" name="文本框 2"/>
          <p:cNvSpPr txBox="1"/>
          <p:nvPr/>
        </p:nvSpPr>
        <p:spPr>
          <a:xfrm>
            <a:off x="221190" y="4549906"/>
            <a:ext cx="4680284" cy="1569660"/>
          </a:xfrm>
          <a:prstGeom prst="rect">
            <a:avLst/>
          </a:prstGeom>
          <a:noFill/>
        </p:spPr>
        <p:txBody>
          <a:bodyPr wrap="square" rtlCol="0">
            <a:spAutoFit/>
          </a:bodyPr>
          <a:lstStyle/>
          <a:p>
            <a:pPr>
              <a:spcAft>
                <a:spcPts val="1200"/>
              </a:spcAft>
            </a:pPr>
            <a:r>
              <a:rPr lang="zh-CN" altLang="en-US" sz="2800" b="1" dirty="0">
                <a:solidFill>
                  <a:prstClr val="black"/>
                </a:solidFill>
              </a:rPr>
              <a:t>电路基本情况：</a:t>
            </a:r>
            <a:endParaRPr lang="en-US" altLang="zh-CN" sz="2800" b="1" dirty="0">
              <a:solidFill>
                <a:prstClr val="black"/>
              </a:solidFill>
            </a:endParaRPr>
          </a:p>
          <a:p>
            <a:pPr marL="285750" indent="-285750">
              <a:spcAft>
                <a:spcPts val="1200"/>
              </a:spcAft>
              <a:buFont typeface="Arial" panose="020B0604020202020204" pitchFamily="34" charset="0"/>
              <a:buChar char="•"/>
            </a:pPr>
            <a:r>
              <a:rPr lang="zh-CN" altLang="en-US" sz="2400" b="1" dirty="0">
                <a:solidFill>
                  <a:prstClr val="black"/>
                </a:solidFill>
              </a:rPr>
              <a:t>采用两个</a:t>
            </a:r>
            <a:r>
              <a:rPr lang="zh-CN" altLang="en-US" sz="2400" b="1" dirty="0">
                <a:solidFill>
                  <a:srgbClr val="FF0000"/>
                </a:solidFill>
              </a:rPr>
              <a:t>上升沿</a:t>
            </a:r>
            <a:r>
              <a:rPr lang="zh-CN" altLang="en-US" sz="2400" b="1" dirty="0">
                <a:solidFill>
                  <a:prstClr val="black"/>
                </a:solidFill>
              </a:rPr>
              <a:t>触发的</a:t>
            </a:r>
            <a:r>
              <a:rPr lang="en-US" altLang="zh-CN" sz="2400" b="1" dirty="0">
                <a:solidFill>
                  <a:srgbClr val="FF0000"/>
                </a:solidFill>
              </a:rPr>
              <a:t>D</a:t>
            </a:r>
            <a:r>
              <a:rPr lang="zh-CN" altLang="en-US" sz="2400" b="1" dirty="0">
                <a:solidFill>
                  <a:srgbClr val="FF0000"/>
                </a:solidFill>
              </a:rPr>
              <a:t>触发器</a:t>
            </a:r>
            <a:endParaRPr lang="en-US" altLang="zh-CN" sz="2400" b="1" dirty="0">
              <a:solidFill>
                <a:srgbClr val="FF0000"/>
              </a:solidFill>
            </a:endParaRPr>
          </a:p>
          <a:p>
            <a:pPr marL="285750" indent="-285750">
              <a:spcAft>
                <a:spcPts val="1200"/>
              </a:spcAft>
              <a:buFont typeface="Arial" panose="020B0604020202020204" pitchFamily="34" charset="0"/>
              <a:buChar char="•"/>
            </a:pPr>
            <a:r>
              <a:rPr lang="zh-CN" altLang="en-US" sz="2400" b="1" dirty="0">
                <a:solidFill>
                  <a:prstClr val="black"/>
                </a:solidFill>
              </a:rPr>
              <a:t>时钟脉冲信号作为输入信号</a:t>
            </a:r>
            <a:endParaRPr lang="zh-CN" altLang="en-US" sz="2400" b="1" dirty="0">
              <a:solidFill>
                <a:prstClr val="black"/>
              </a:solidFill>
            </a:endParaRPr>
          </a:p>
        </p:txBody>
      </p:sp>
      <mc:AlternateContent xmlns:mc="http://schemas.openxmlformats.org/markup-compatibility/2006">
        <mc:Choice xmlns:a14="http://schemas.microsoft.com/office/drawing/2010/main" Requires="a14">
          <p:sp>
            <p:nvSpPr>
              <p:cNvPr id="4" name="矩形 3"/>
              <p:cNvSpPr/>
              <p:nvPr/>
            </p:nvSpPr>
            <p:spPr>
              <a:xfrm>
                <a:off x="5880821" y="3029777"/>
                <a:ext cx="1784350" cy="105349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800" i="1">
                              <a:solidFill>
                                <a:prstClr val="black"/>
                              </a:solidFill>
                              <a:latin typeface="Cambria Math" panose="02040503050406030204"/>
                            </a:rPr>
                          </m:ctrlPr>
                        </m:dPr>
                        <m:e>
                          <m:m>
                            <m:mPr>
                              <m:mcs>
                                <m:mc>
                                  <m:mcPr>
                                    <m:count m:val="1"/>
                                    <m:mcJc m:val="center"/>
                                  </m:mcPr>
                                </m:mc>
                              </m:mcs>
                              <m:plcHide m:val="on"/>
                              <m:ctrlPr>
                                <a:rPr lang="zh-CN" altLang="en-US" sz="2800" i="1">
                                  <a:solidFill>
                                    <a:prstClr val="black"/>
                                  </a:solidFill>
                                  <a:latin typeface="Cambria Math" panose="02040503050406030204"/>
                                </a:rPr>
                              </m:ctrlPr>
                            </m:mPr>
                            <m:mr>
                              <m:e>
                                <m:r>
                                  <a:rPr lang="zh-CN" altLang="en-US" sz="2800" i="1">
                                    <a:solidFill>
                                      <a:prstClr val="black"/>
                                    </a:solidFill>
                                    <a:latin typeface="Cambria Math" panose="02040503050406030204" pitchFamily="18" charset="0"/>
                                  </a:rPr>
                                  <m:t>𝐶</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𝑃</m:t>
                                    </m:r>
                                  </m:e>
                                  <m:sub>
                                    <m:r>
                                      <a:rPr lang="zh-CN" altLang="en-US" sz="2800">
                                        <a:solidFill>
                                          <a:prstClr val="black"/>
                                        </a:solidFill>
                                        <a:latin typeface="Cambria Math" panose="02040503050406030204" pitchFamily="18" charset="0"/>
                                      </a:rPr>
                                      <m:t>0</m:t>
                                    </m:r>
                                  </m:sub>
                                </m:sSub>
                                <m:r>
                                  <a:rPr lang="zh-CN" altLang="en-US" sz="2800">
                                    <a:solidFill>
                                      <a:prstClr val="black"/>
                                    </a:solidFill>
                                    <a:latin typeface="Cambria Math" panose="02040503050406030204" pitchFamily="18" charset="0"/>
                                  </a:rPr>
                                  <m:t>=</m:t>
                                </m:r>
                                <m:r>
                                  <a:rPr lang="zh-CN" altLang="en-US" sz="2800" i="1">
                                    <a:solidFill>
                                      <a:prstClr val="black"/>
                                    </a:solidFill>
                                    <a:latin typeface="Cambria Math" panose="02040503050406030204" pitchFamily="18" charset="0"/>
                                  </a:rPr>
                                  <m:t>𝐶𝑃</m:t>
                                </m:r>
                                <m:r>
                                  <a:rPr lang="zh-CN" altLang="en-US" sz="2800" smtClean="0">
                                    <a:solidFill>
                                      <a:srgbClr val="FF0000"/>
                                    </a:solidFill>
                                    <a:latin typeface="Cambria Math" panose="02040503050406030204" pitchFamily="18" charset="0"/>
                                  </a:rPr>
                                  <m:t>↑</m:t>
                                </m:r>
                              </m:e>
                            </m:mr>
                            <m:mr>
                              <m:e>
                                <m:r>
                                  <a:rPr lang="zh-CN" altLang="en-US" sz="2800" i="1">
                                    <a:solidFill>
                                      <a:prstClr val="black"/>
                                    </a:solidFill>
                                    <a:latin typeface="Cambria Math" panose="02040503050406030204" pitchFamily="18" charset="0"/>
                                  </a:rPr>
                                  <m:t>𝐶</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𝑃</m:t>
                                    </m:r>
                                  </m:e>
                                  <m:sub>
                                    <m:r>
                                      <a:rPr lang="zh-CN" altLang="en-US" sz="2800">
                                        <a:solidFill>
                                          <a:prstClr val="black"/>
                                        </a:solidFill>
                                        <a:latin typeface="Cambria Math" panose="02040503050406030204" pitchFamily="18" charset="0"/>
                                      </a:rPr>
                                      <m:t>1</m:t>
                                    </m:r>
                                  </m:sub>
                                </m:sSub>
                                <m:r>
                                  <a:rPr lang="zh-CN" altLang="en-US" sz="2800">
                                    <a:solidFill>
                                      <a:prstClr val="black"/>
                                    </a:solidFill>
                                    <a:latin typeface="Cambria Math" panose="02040503050406030204" pitchFamily="18" charset="0"/>
                                  </a:rPr>
                                  <m:t>=</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𝑄</m:t>
                                    </m:r>
                                  </m:e>
                                  <m:sub>
                                    <m:r>
                                      <a:rPr lang="zh-CN" altLang="en-US" sz="2800">
                                        <a:solidFill>
                                          <a:prstClr val="black"/>
                                        </a:solidFill>
                                        <a:latin typeface="Cambria Math" panose="02040503050406030204" pitchFamily="18" charset="0"/>
                                      </a:rPr>
                                      <m:t>0</m:t>
                                    </m:r>
                                  </m:sub>
                                </m:sSub>
                                <m:r>
                                  <a:rPr lang="zh-CN" altLang="en-US" sz="2800" smtClean="0">
                                    <a:solidFill>
                                      <a:srgbClr val="FF0000"/>
                                    </a:solidFill>
                                    <a:latin typeface="Cambria Math" panose="02040503050406030204" pitchFamily="18" charset="0"/>
                                  </a:rPr>
                                  <m:t>↑</m:t>
                                </m:r>
                              </m:e>
                            </m:mr>
                          </m:m>
                        </m:e>
                      </m:d>
                    </m:oMath>
                  </m:oMathPara>
                </a14:m>
                <a:endParaRPr lang="zh-CN" altLang="en-US" sz="2800" dirty="0">
                  <a:solidFill>
                    <a:prstClr val="black"/>
                  </a:solidFill>
                </a:endParaRPr>
              </a:p>
            </p:txBody>
          </p:sp>
        </mc:Choice>
        <mc:Fallback>
          <p:sp>
            <p:nvSpPr>
              <p:cNvPr id="4" name="矩形 3"/>
              <p:cNvSpPr>
                <a:spLocks noRot="1" noChangeAspect="1" noMove="1" noResize="1" noEditPoints="1" noAdjustHandles="1" noChangeArrowheads="1" noChangeShapeType="1" noTextEdit="1"/>
              </p:cNvSpPr>
              <p:nvPr/>
            </p:nvSpPr>
            <p:spPr>
              <a:xfrm>
                <a:off x="5880821" y="3029777"/>
                <a:ext cx="1784350" cy="1053494"/>
              </a:xfrm>
              <a:prstGeom prst="rect">
                <a:avLst/>
              </a:prstGeom>
              <a:blipFill rotWithShape="1">
                <a:blip r:embed="rId2"/>
                <a:stretch>
                  <a:fillRect l="-5" t="-18" r="-11134" b="2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p:cNvSpPr txBox="1"/>
              <p:nvPr/>
            </p:nvSpPr>
            <p:spPr>
              <a:xfrm>
                <a:off x="5193440" y="4561354"/>
                <a:ext cx="3553493" cy="1815882"/>
              </a:xfrm>
              <a:prstGeom prst="rect">
                <a:avLst/>
              </a:prstGeom>
              <a:noFill/>
              <a:ln w="12700">
                <a:solidFill>
                  <a:schemeClr val="accent1"/>
                </a:solidFill>
              </a:ln>
            </p:spPr>
            <p:txBody>
              <a:bodyPr wrap="square" rtlCol="0">
                <a:spAutoFit/>
              </a:bodyPr>
              <a:lstStyle/>
              <a:p>
                <a:pPr marL="457200" indent="-457200">
                  <a:buFont typeface="Wingdings" panose="05000000000000000000" pitchFamily="2" charset="2"/>
                  <a:buChar char="Ø"/>
                </a:pPr>
                <a:r>
                  <a:rPr lang="zh-CN" altLang="en-US" sz="2800" b="1" dirty="0">
                    <a:solidFill>
                      <a:srgbClr val="C00000"/>
                    </a:solidFill>
                  </a:rPr>
                  <a:t>时钟</a:t>
                </a:r>
                <a:r>
                  <a:rPr lang="en-US" altLang="zh-CN" sz="2800" b="1" dirty="0">
                    <a:solidFill>
                      <a:srgbClr val="C00000"/>
                    </a:solidFill>
                  </a:rPr>
                  <a:t>CP</a:t>
                </a:r>
                <a:r>
                  <a:rPr lang="zh-CN" altLang="en-US" sz="2800" b="1" dirty="0">
                    <a:solidFill>
                      <a:srgbClr val="C00000"/>
                    </a:solidFill>
                  </a:rPr>
                  <a:t>的上升沿触发</a:t>
                </a:r>
                <a:r>
                  <a:rPr lang="en-US" altLang="zh-CN" sz="2800" b="1" dirty="0">
                    <a:solidFill>
                      <a:srgbClr val="C00000"/>
                    </a:solidFill>
                  </a:rPr>
                  <a:t>FF</a:t>
                </a:r>
                <a:r>
                  <a:rPr lang="en-US" altLang="zh-CN" sz="2800" b="1" baseline="-25000" dirty="0">
                    <a:solidFill>
                      <a:srgbClr val="C00000"/>
                    </a:solidFill>
                  </a:rPr>
                  <a:t>0</a:t>
                </a:r>
                <a:endParaRPr lang="en-US" altLang="zh-CN" sz="2800" b="1" baseline="-25000" dirty="0">
                  <a:solidFill>
                    <a:srgbClr val="C00000"/>
                  </a:solidFill>
                </a:endParaRPr>
              </a:p>
              <a:p>
                <a:pPr marL="457200" indent="-457200">
                  <a:buFont typeface="Wingdings" panose="05000000000000000000" pitchFamily="2" charset="2"/>
                  <a:buChar char="Ø"/>
                </a:pPr>
                <a14:m>
                  <m:oMath xmlns:m="http://schemas.openxmlformats.org/officeDocument/2006/math">
                    <m:sSub>
                      <m:sSubPr>
                        <m:ctrlPr>
                          <a:rPr lang="zh-CN" altLang="en-US" sz="2800" b="1" i="1">
                            <a:solidFill>
                              <a:srgbClr val="C00000"/>
                            </a:solidFill>
                            <a:latin typeface="Cambria Math" panose="02040503050406030204"/>
                          </a:rPr>
                        </m:ctrlPr>
                      </m:sSubPr>
                      <m:e>
                        <m:r>
                          <a:rPr lang="zh-CN" altLang="en-US" sz="2800" b="1" i="1" smtClean="0">
                            <a:solidFill>
                              <a:srgbClr val="C00000"/>
                            </a:solidFill>
                            <a:latin typeface="Cambria Math" panose="02040503050406030204" pitchFamily="18" charset="0"/>
                          </a:rPr>
                          <m:t>𝑸</m:t>
                        </m:r>
                      </m:e>
                      <m:sub>
                        <m:r>
                          <a:rPr lang="zh-CN" altLang="en-US" sz="2800" b="1" i="1" smtClean="0">
                            <a:solidFill>
                              <a:srgbClr val="C00000"/>
                            </a:solidFill>
                            <a:latin typeface="Cambria Math" panose="02040503050406030204" pitchFamily="18" charset="0"/>
                          </a:rPr>
                          <m:t>𝟎</m:t>
                        </m:r>
                      </m:sub>
                    </m:sSub>
                  </m:oMath>
                </a14:m>
                <a:r>
                  <a:rPr lang="zh-CN" altLang="en-US" sz="2800" b="1" dirty="0">
                    <a:solidFill>
                      <a:srgbClr val="C00000"/>
                    </a:solidFill>
                  </a:rPr>
                  <a:t>由</a:t>
                </a:r>
                <a:r>
                  <a:rPr lang="en-US" altLang="zh-CN" sz="2800" b="1" dirty="0">
                    <a:solidFill>
                      <a:srgbClr val="C00000"/>
                    </a:solidFill>
                  </a:rPr>
                  <a:t>0</a:t>
                </a:r>
                <a14:m>
                  <m:oMath xmlns:m="http://schemas.openxmlformats.org/officeDocument/2006/math">
                    <m:r>
                      <a:rPr lang="zh-CN" altLang="en-US" sz="2800" b="1" smtClean="0">
                        <a:solidFill>
                          <a:srgbClr val="C00000"/>
                        </a:solidFill>
                        <a:latin typeface="Cambria Math" panose="02040503050406030204" pitchFamily="18" charset="0"/>
                      </a:rPr>
                      <m:t>→</m:t>
                    </m:r>
                  </m:oMath>
                </a14:m>
                <a:r>
                  <a:rPr lang="en-US" altLang="zh-CN" sz="2800" b="1" dirty="0">
                    <a:solidFill>
                      <a:srgbClr val="C00000"/>
                    </a:solidFill>
                  </a:rPr>
                  <a:t>1</a:t>
                </a:r>
                <a:r>
                  <a:rPr lang="zh-CN" altLang="en-US" sz="2800" b="1" dirty="0">
                    <a:solidFill>
                      <a:srgbClr val="C00000"/>
                    </a:solidFill>
                  </a:rPr>
                  <a:t>时触发</a:t>
                </a:r>
                <a:r>
                  <a:rPr lang="en-US" altLang="zh-CN" sz="2800" b="1" dirty="0">
                    <a:solidFill>
                      <a:srgbClr val="C00000"/>
                    </a:solidFill>
                  </a:rPr>
                  <a:t>FF</a:t>
                </a:r>
                <a:r>
                  <a:rPr lang="en-US" altLang="zh-CN" sz="2800" b="1" baseline="-25000" dirty="0">
                    <a:solidFill>
                      <a:srgbClr val="C00000"/>
                    </a:solidFill>
                  </a:rPr>
                  <a:t>1</a:t>
                </a:r>
                <a:endParaRPr lang="zh-CN" altLang="en-US" sz="2800" b="1" baseline="-25000" dirty="0">
                  <a:solidFill>
                    <a:srgbClr val="C00000"/>
                  </a:solidFill>
                </a:endParaRPr>
              </a:p>
            </p:txBody>
          </p:sp>
        </mc:Choice>
        <mc:Fallback>
          <p:sp>
            <p:nvSpPr>
              <p:cNvPr id="8" name="文本框 7"/>
              <p:cNvSpPr txBox="1">
                <a:spLocks noRot="1" noChangeAspect="1" noMove="1" noResize="1" noEditPoints="1" noAdjustHandles="1" noChangeArrowheads="1" noChangeShapeType="1" noTextEdit="1"/>
              </p:cNvSpPr>
              <p:nvPr/>
            </p:nvSpPr>
            <p:spPr>
              <a:xfrm>
                <a:off x="5193440" y="4561354"/>
                <a:ext cx="3553493" cy="1815882"/>
              </a:xfrm>
              <a:prstGeom prst="rect">
                <a:avLst/>
              </a:prstGeom>
              <a:blipFill rotWithShape="1">
                <a:blip r:embed="rId3"/>
                <a:stretch>
                  <a:fillRect l="-190" t="-358" r="-166" b="-423"/>
                </a:stretch>
              </a:blipFill>
              <a:ln w="12700">
                <a:solidFill>
                  <a:schemeClr val="accent1"/>
                </a:solidFill>
              </a:ln>
            </p:spPr>
            <p:txBody>
              <a:bodyPr/>
              <a:lstStyle/>
              <a:p>
                <a:r>
                  <a:rPr lang="zh-CN" altLang="en-US">
                    <a:noFill/>
                  </a:rPr>
                  <a:t> </a:t>
                </a:r>
              </a:p>
            </p:txBody>
          </p:sp>
        </mc:Fallback>
      </mc:AlternateContent>
      <p:sp>
        <p:nvSpPr>
          <p:cNvPr id="12" name="椭圆 11"/>
          <p:cNvSpPr/>
          <p:nvPr/>
        </p:nvSpPr>
        <p:spPr>
          <a:xfrm>
            <a:off x="7607970" y="3029777"/>
            <a:ext cx="409074" cy="983639"/>
          </a:xfrm>
          <a:prstGeom prst="ellipse">
            <a:avLst/>
          </a:prstGeom>
          <a:noFill/>
          <a:ln w="412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10" name="组合 9"/>
          <p:cNvGrpSpPr/>
          <p:nvPr/>
        </p:nvGrpSpPr>
        <p:grpSpPr>
          <a:xfrm>
            <a:off x="118611" y="1279898"/>
            <a:ext cx="5598536" cy="2942500"/>
            <a:chOff x="118611" y="1279898"/>
            <a:chExt cx="5598536" cy="2942500"/>
          </a:xfrm>
        </p:grpSpPr>
        <p:pic>
          <p:nvPicPr>
            <p:cNvPr id="21" name="Picture 5" descr="5-3-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11" y="1279898"/>
              <a:ext cx="5587619" cy="294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5460665" y="1375384"/>
              <a:ext cx="256482" cy="461665"/>
            </a:xfrm>
            <a:prstGeom prst="rect">
              <a:avLst/>
            </a:prstGeom>
            <a:solidFill>
              <a:schemeClr val="bg1"/>
            </a:solidFill>
          </p:spPr>
          <p:txBody>
            <a:bodyPr wrap="square" rtlCol="0">
              <a:spAutoFit/>
            </a:bodyPr>
            <a:lstStyle/>
            <a:p>
              <a:r>
                <a:rPr lang="en-US" altLang="zh-CN" sz="2400" dirty="0">
                  <a:solidFill>
                    <a:prstClr val="black"/>
                  </a:solidFill>
                </a:rPr>
                <a:t>Z</a:t>
              </a:r>
              <a:endParaRPr lang="zh-CN" altLang="en-US" sz="2400" dirty="0">
                <a:solidFill>
                  <a:prstClr val="black"/>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Righ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circle(in)">
                                      <p:cBhvr>
                                        <p:cTn id="27" dur="20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 grpId="0"/>
      <p:bldP spid="3" grpId="0"/>
      <p:bldP spid="4" grpId="0"/>
      <p:bldP spid="8"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11" name="Rectangle 2"/>
          <p:cNvSpPr>
            <a:spLocks noChangeArrowheads="1"/>
          </p:cNvSpPr>
          <p:nvPr/>
        </p:nvSpPr>
        <p:spPr bwMode="auto">
          <a:xfrm>
            <a:off x="0" y="2505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GB" altLang="zh-CN">
              <a:solidFill>
                <a:prstClr val="black"/>
              </a:solidFill>
            </a:endParaRPr>
          </a:p>
        </p:txBody>
      </p:sp>
      <p:sp>
        <p:nvSpPr>
          <p:cNvPr id="22" name="Rectangle 8"/>
          <p:cNvSpPr>
            <a:spLocks noChangeArrowheads="1"/>
          </p:cNvSpPr>
          <p:nvPr/>
        </p:nvSpPr>
        <p:spPr bwMode="auto">
          <a:xfrm>
            <a:off x="5270290" y="3516862"/>
            <a:ext cx="1310841" cy="954107"/>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楷体_GB2312" pitchFamily="49" charset="-122"/>
                <a:cs typeface="Times New Roman" panose="02020603050405020304" pitchFamily="18" charset="0"/>
              </a:rPr>
              <a:t>驱动方程组</a:t>
            </a:r>
            <a:endParaRPr lang="zh-CN" altLang="en-US" sz="2800" b="1" dirty="0">
              <a:solidFill>
                <a:srgbClr val="000066"/>
              </a:solidFill>
              <a:ea typeface="楷体_GB2312" pitchFamily="49" charset="-122"/>
              <a:cs typeface="Times New Roman" panose="02020603050405020304" pitchFamily="18" charset="0"/>
            </a:endParaRPr>
          </a:p>
        </p:txBody>
      </p:sp>
      <p:sp>
        <p:nvSpPr>
          <p:cNvPr id="32" name="Text Box 18"/>
          <p:cNvSpPr txBox="1">
            <a:spLocks noChangeArrowheads="1"/>
          </p:cNvSpPr>
          <p:nvPr/>
        </p:nvSpPr>
        <p:spPr bwMode="auto">
          <a:xfrm>
            <a:off x="221190" y="686001"/>
            <a:ext cx="593938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prstClr val="black"/>
                </a:solidFill>
                <a:ea typeface="楷体_GB2312" pitchFamily="49" charset="-122"/>
              </a:rPr>
              <a:t>例</a:t>
            </a:r>
            <a:r>
              <a:rPr lang="en-US" altLang="zh-CN" sz="2800" b="1" dirty="0">
                <a:solidFill>
                  <a:prstClr val="black"/>
                </a:solidFill>
                <a:ea typeface="楷体_GB2312" pitchFamily="49" charset="-122"/>
              </a:rPr>
              <a:t>1</a:t>
            </a:r>
            <a:r>
              <a:rPr lang="zh-CN" altLang="en-US" sz="2800" b="1" dirty="0">
                <a:solidFill>
                  <a:prstClr val="black"/>
                </a:solidFill>
                <a:ea typeface="楷体_GB2312" pitchFamily="49" charset="-122"/>
              </a:rPr>
              <a:t>：分析以下电路的逻辑功能</a:t>
            </a:r>
            <a:endParaRPr lang="zh-CN" altLang="en-US" sz="2800" b="1" dirty="0">
              <a:solidFill>
                <a:prstClr val="black"/>
              </a:solidFill>
              <a:ea typeface="楷体_GB2312" pitchFamily="49" charset="-122"/>
            </a:endParaRPr>
          </a:p>
        </p:txBody>
      </p:sp>
      <p:sp>
        <p:nvSpPr>
          <p:cNvPr id="2" name="文本框 1"/>
          <p:cNvSpPr txBox="1"/>
          <p:nvPr/>
        </p:nvSpPr>
        <p:spPr>
          <a:xfrm>
            <a:off x="5368672" y="1200098"/>
            <a:ext cx="2700866"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1. </a:t>
            </a:r>
            <a:r>
              <a:rPr lang="zh-CN" altLang="en-US" sz="2800" b="1" dirty="0">
                <a:solidFill>
                  <a:srgbClr val="0000FF"/>
                </a:solidFill>
                <a:latin typeface="黑体" panose="02010609060101010101" pitchFamily="49" charset="-122"/>
                <a:ea typeface="黑体" panose="02010609060101010101" pitchFamily="49" charset="-122"/>
              </a:rPr>
              <a:t>写方程组</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14" name="Object 6"/>
          <p:cNvGraphicFramePr>
            <a:graphicFrameLocks noChangeAspect="1"/>
          </p:cNvGraphicFramePr>
          <p:nvPr/>
        </p:nvGraphicFramePr>
        <p:xfrm>
          <a:off x="6660326" y="3162086"/>
          <a:ext cx="1729689" cy="1467453"/>
        </p:xfrm>
        <a:graphic>
          <a:graphicData uri="http://schemas.openxmlformats.org/presentationml/2006/ole">
            <mc:AlternateContent xmlns:mc="http://schemas.openxmlformats.org/markup-compatibility/2006">
              <mc:Choice xmlns:v="urn:schemas-microsoft-com:vml" Requires="v">
                <p:oleObj spid="_x0000_s17446" name="Equation" r:id="rId2" imgW="15849600" imgH="13411200" progId="Equation.DSMT4">
                  <p:embed/>
                </p:oleObj>
              </mc:Choice>
              <mc:Fallback>
                <p:oleObj name="Equation" r:id="rId2" imgW="15849600" imgH="13411200" progId="Equation.DSMT4">
                  <p:embed/>
                  <p:pic>
                    <p:nvPicPr>
                      <p:cNvPr id="0" name="图片 17445"/>
                      <p:cNvPicPr>
                        <a:picLocks noChangeAspect="1" noChangeArrowheads="1"/>
                      </p:cNvPicPr>
                      <p:nvPr/>
                    </p:nvPicPr>
                    <p:blipFill>
                      <a:blip r:embed="rId3"/>
                      <a:srcRect/>
                      <a:stretch>
                        <a:fillRect/>
                      </a:stretch>
                    </p:blipFill>
                    <p:spPr bwMode="auto">
                      <a:xfrm>
                        <a:off x="6660326" y="3162086"/>
                        <a:ext cx="1729689" cy="1467453"/>
                      </a:xfrm>
                      <a:prstGeom prst="rect">
                        <a:avLst/>
                      </a:prstGeom>
                      <a:noFill/>
                      <a:ln>
                        <a:noFill/>
                      </a:ln>
                    </p:spPr>
                  </p:pic>
                </p:oleObj>
              </mc:Fallback>
            </mc:AlternateContent>
          </a:graphicData>
        </a:graphic>
      </p:graphicFrame>
      <p:sp>
        <p:nvSpPr>
          <p:cNvPr id="15" name="Rectangle 4"/>
          <p:cNvSpPr>
            <a:spLocks noChangeArrowheads="1"/>
          </p:cNvSpPr>
          <p:nvPr/>
        </p:nvSpPr>
        <p:spPr bwMode="auto">
          <a:xfrm>
            <a:off x="221190" y="4577486"/>
            <a:ext cx="1784350" cy="523220"/>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输出方程</a:t>
            </a:r>
            <a:endParaRPr lang="zh-CN" altLang="en-US" sz="2800" b="1" dirty="0">
              <a:solidFill>
                <a:srgbClr val="000066"/>
              </a:solidFill>
              <a:ea typeface="楷体_GB2312" pitchFamily="49" charset="-122"/>
              <a:cs typeface="Times New Roman" panose="02020603050405020304" pitchFamily="18" charset="0"/>
            </a:endParaRPr>
          </a:p>
        </p:txBody>
      </p:sp>
      <p:graphicFrame>
        <p:nvGraphicFramePr>
          <p:cNvPr id="16" name="Object 4"/>
          <p:cNvGraphicFramePr>
            <a:graphicFrameLocks noChangeAspect="1"/>
          </p:cNvGraphicFramePr>
          <p:nvPr/>
        </p:nvGraphicFramePr>
        <p:xfrm>
          <a:off x="14288" y="5399088"/>
          <a:ext cx="3376612" cy="617537"/>
        </p:xfrm>
        <a:graphic>
          <a:graphicData uri="http://schemas.openxmlformats.org/presentationml/2006/ole">
            <mc:AlternateContent xmlns:mc="http://schemas.openxmlformats.org/markup-compatibility/2006">
              <mc:Choice xmlns:v="urn:schemas-microsoft-com:vml" Requires="v">
                <p:oleObj spid="_x0000_s17447" name="Equation" r:id="rId4" imgW="34747200" imgH="6400800" progId="Equation.DSMT4">
                  <p:embed/>
                </p:oleObj>
              </mc:Choice>
              <mc:Fallback>
                <p:oleObj name="Equation" r:id="rId4" imgW="34747200" imgH="6400800" progId="Equation.DSMT4">
                  <p:embed/>
                  <p:pic>
                    <p:nvPicPr>
                      <p:cNvPr id="0" name="图片 17446"/>
                      <p:cNvPicPr>
                        <a:picLocks noChangeAspect="1" noChangeArrowheads="1"/>
                      </p:cNvPicPr>
                      <p:nvPr/>
                    </p:nvPicPr>
                    <p:blipFill>
                      <a:blip r:embed="rId5"/>
                      <a:srcRect/>
                      <a:stretch>
                        <a:fillRect/>
                      </a:stretch>
                    </p:blipFill>
                    <p:spPr bwMode="auto">
                      <a:xfrm>
                        <a:off x="14288" y="5399088"/>
                        <a:ext cx="3376612" cy="617537"/>
                      </a:xfrm>
                      <a:prstGeom prst="rect">
                        <a:avLst/>
                      </a:prstGeom>
                      <a:noFill/>
                      <a:ln>
                        <a:noFill/>
                      </a:ln>
                    </p:spPr>
                  </p:pic>
                </p:oleObj>
              </mc:Fallback>
            </mc:AlternateContent>
          </a:graphicData>
        </a:graphic>
      </p:graphicFrame>
      <p:sp>
        <p:nvSpPr>
          <p:cNvPr id="17" name="Rectangle 12"/>
          <p:cNvSpPr>
            <a:spLocks noChangeArrowheads="1"/>
          </p:cNvSpPr>
          <p:nvPr/>
        </p:nvSpPr>
        <p:spPr bwMode="auto">
          <a:xfrm>
            <a:off x="3537284" y="4834844"/>
            <a:ext cx="2129475" cy="523220"/>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Times New Roman" panose="02020603050405020304" pitchFamily="18" charset="0"/>
                <a:ea typeface="楷体_GB2312" pitchFamily="49" charset="-122"/>
                <a:cs typeface="Times New Roman" panose="02020603050405020304" pitchFamily="18" charset="0"/>
              </a:rPr>
              <a:t>次态</a:t>
            </a:r>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方程组</a:t>
            </a:r>
            <a:endParaRPr lang="zh-CN" altLang="en-US" sz="2800" b="1" dirty="0">
              <a:solidFill>
                <a:srgbClr val="000066"/>
              </a:solidFill>
              <a:ea typeface="楷体_GB2312" pitchFamily="49" charset="-122"/>
              <a:cs typeface="Times New Roman" panose="02020603050405020304" pitchFamily="18" charset="0"/>
            </a:endParaRPr>
          </a:p>
        </p:txBody>
      </p:sp>
      <p:cxnSp>
        <p:nvCxnSpPr>
          <p:cNvPr id="10" name="直接连接符 9"/>
          <p:cNvCxnSpPr/>
          <p:nvPr/>
        </p:nvCxnSpPr>
        <p:spPr>
          <a:xfrm>
            <a:off x="3372853" y="4115381"/>
            <a:ext cx="0" cy="2675021"/>
          </a:xfrm>
          <a:prstGeom prst="line">
            <a:avLst/>
          </a:prstGeom>
          <a:ln w="19050"/>
        </p:spPr>
        <p:style>
          <a:lnRef idx="1">
            <a:schemeClr val="accent1"/>
          </a:lnRef>
          <a:fillRef idx="0">
            <a:schemeClr val="accent1"/>
          </a:fillRef>
          <a:effectRef idx="0">
            <a:schemeClr val="accent1"/>
          </a:effectRef>
          <a:fontRef idx="minor">
            <a:schemeClr val="tx1"/>
          </a:fontRef>
        </p:style>
      </p:cxnSp>
      <p:graphicFrame>
        <p:nvGraphicFramePr>
          <p:cNvPr id="23" name="Object 4"/>
          <p:cNvGraphicFramePr>
            <a:graphicFrameLocks noChangeAspect="1"/>
          </p:cNvGraphicFramePr>
          <p:nvPr/>
        </p:nvGraphicFramePr>
        <p:xfrm>
          <a:off x="3537285" y="5772903"/>
          <a:ext cx="1831386" cy="699699"/>
        </p:xfrm>
        <a:graphic>
          <a:graphicData uri="http://schemas.openxmlformats.org/presentationml/2006/ole">
            <mc:AlternateContent xmlns:mc="http://schemas.openxmlformats.org/markup-compatibility/2006">
              <mc:Choice xmlns:v="urn:schemas-microsoft-com:vml" Requires="v">
                <p:oleObj spid="_x0000_s17448" name="Equation" r:id="rId6" imgW="16764000" imgH="6400800" progId="Equation.DSMT4">
                  <p:embed/>
                </p:oleObj>
              </mc:Choice>
              <mc:Fallback>
                <p:oleObj name="Equation" r:id="rId6" imgW="16764000" imgH="6400800" progId="Equation.DSMT4">
                  <p:embed/>
                  <p:pic>
                    <p:nvPicPr>
                      <p:cNvPr id="0" name="图片 17447"/>
                      <p:cNvPicPr>
                        <a:picLocks noChangeAspect="1" noChangeArrowheads="1"/>
                      </p:cNvPicPr>
                      <p:nvPr/>
                    </p:nvPicPr>
                    <p:blipFill>
                      <a:blip r:embed="rId7"/>
                      <a:srcRect/>
                      <a:stretch>
                        <a:fillRect/>
                      </a:stretch>
                    </p:blipFill>
                    <p:spPr bwMode="auto">
                      <a:xfrm>
                        <a:off x="3537285" y="5772903"/>
                        <a:ext cx="1831386" cy="699699"/>
                      </a:xfrm>
                      <a:prstGeom prst="rect">
                        <a:avLst/>
                      </a:prstGeom>
                      <a:noFill/>
                      <a:ln w="38100">
                        <a:solidFill>
                          <a:srgbClr val="3366FF"/>
                        </a:solidFill>
                        <a:prstDash val="sysDash"/>
                      </a:ln>
                    </p:spPr>
                  </p:pic>
                </p:oleObj>
              </mc:Fallback>
            </mc:AlternateContent>
          </a:graphicData>
        </a:graphic>
      </p:graphicFrame>
      <p:cxnSp>
        <p:nvCxnSpPr>
          <p:cNvPr id="19" name="直接连接符 18"/>
          <p:cNvCxnSpPr/>
          <p:nvPr/>
        </p:nvCxnSpPr>
        <p:spPr>
          <a:xfrm>
            <a:off x="3372853" y="4757065"/>
            <a:ext cx="5731042"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25" name="Rectangle 4"/>
          <p:cNvSpPr>
            <a:spLocks noChangeArrowheads="1"/>
          </p:cNvSpPr>
          <p:nvPr/>
        </p:nvSpPr>
        <p:spPr bwMode="auto">
          <a:xfrm>
            <a:off x="5270290" y="1842362"/>
            <a:ext cx="958765" cy="954107"/>
          </a:xfrm>
          <a:prstGeom prst="rect">
            <a:avLst/>
          </a:prstGeom>
          <a:noFill/>
          <a:ln w="19050">
            <a:solidFill>
              <a:srgbClr val="CC3399"/>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66"/>
                </a:solidFill>
                <a:latin typeface="宋体" panose="02010600030101010101" pitchFamily="2" charset="-122"/>
                <a:ea typeface="楷体_GB2312" pitchFamily="49" charset="-122"/>
                <a:cs typeface="Times New Roman" panose="02020603050405020304" pitchFamily="18" charset="0"/>
              </a:rPr>
              <a:t>时钟方程</a:t>
            </a:r>
            <a:endParaRPr lang="zh-CN" altLang="en-US" sz="2800" b="1" dirty="0">
              <a:solidFill>
                <a:srgbClr val="000066"/>
              </a:solidFill>
              <a:ea typeface="楷体_GB2312"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6" name="矩形 25"/>
              <p:cNvSpPr/>
              <p:nvPr/>
            </p:nvSpPr>
            <p:spPr>
              <a:xfrm>
                <a:off x="6445513" y="1810158"/>
                <a:ext cx="2092200" cy="105349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800" i="1">
                              <a:solidFill>
                                <a:prstClr val="black"/>
                              </a:solidFill>
                              <a:latin typeface="Cambria Math" panose="02040503050406030204"/>
                            </a:rPr>
                          </m:ctrlPr>
                        </m:dPr>
                        <m:e>
                          <m:m>
                            <m:mPr>
                              <m:mcs>
                                <m:mc>
                                  <m:mcPr>
                                    <m:count m:val="1"/>
                                    <m:mcJc m:val="center"/>
                                  </m:mcPr>
                                </m:mc>
                              </m:mcs>
                              <m:plcHide m:val="on"/>
                              <m:ctrlPr>
                                <a:rPr lang="zh-CN" altLang="en-US" sz="2800" i="1">
                                  <a:solidFill>
                                    <a:prstClr val="black"/>
                                  </a:solidFill>
                                  <a:latin typeface="Cambria Math" panose="02040503050406030204"/>
                                </a:rPr>
                              </m:ctrlPr>
                            </m:mPr>
                            <m:mr>
                              <m:e>
                                <m:r>
                                  <a:rPr lang="zh-CN" altLang="en-US" sz="2800" i="1">
                                    <a:solidFill>
                                      <a:prstClr val="black"/>
                                    </a:solidFill>
                                    <a:latin typeface="Cambria Math" panose="02040503050406030204" pitchFamily="18" charset="0"/>
                                  </a:rPr>
                                  <m:t>𝐶</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𝑃</m:t>
                                    </m:r>
                                  </m:e>
                                  <m:sub>
                                    <m:r>
                                      <a:rPr lang="zh-CN" altLang="en-US" sz="2800">
                                        <a:solidFill>
                                          <a:prstClr val="black"/>
                                        </a:solidFill>
                                        <a:latin typeface="Cambria Math" panose="02040503050406030204" pitchFamily="18" charset="0"/>
                                      </a:rPr>
                                      <m:t>0</m:t>
                                    </m:r>
                                  </m:sub>
                                </m:sSub>
                                <m:r>
                                  <a:rPr lang="zh-CN" altLang="en-US" sz="2800">
                                    <a:solidFill>
                                      <a:prstClr val="black"/>
                                    </a:solidFill>
                                    <a:latin typeface="Cambria Math" panose="02040503050406030204" pitchFamily="18" charset="0"/>
                                  </a:rPr>
                                  <m:t>=</m:t>
                                </m:r>
                                <m:r>
                                  <a:rPr lang="zh-CN" altLang="en-US" sz="2800" i="1">
                                    <a:solidFill>
                                      <a:prstClr val="black"/>
                                    </a:solidFill>
                                    <a:latin typeface="Cambria Math" panose="02040503050406030204" pitchFamily="18" charset="0"/>
                                  </a:rPr>
                                  <m:t>𝐶𝑃</m:t>
                                </m:r>
                                <m:r>
                                  <a:rPr lang="zh-CN" altLang="en-US" sz="2800">
                                    <a:solidFill>
                                      <a:prstClr val="black"/>
                                    </a:solidFill>
                                    <a:latin typeface="Cambria Math" panose="02040503050406030204" pitchFamily="18" charset="0"/>
                                  </a:rPr>
                                  <m:t>↑</m:t>
                                </m:r>
                              </m:e>
                            </m:mr>
                            <m:mr>
                              <m:e>
                                <m:r>
                                  <a:rPr lang="zh-CN" altLang="en-US" sz="2800" i="1">
                                    <a:solidFill>
                                      <a:prstClr val="black"/>
                                    </a:solidFill>
                                    <a:latin typeface="Cambria Math" panose="02040503050406030204" pitchFamily="18" charset="0"/>
                                  </a:rPr>
                                  <m:t>𝐶</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𝑃</m:t>
                                    </m:r>
                                  </m:e>
                                  <m:sub>
                                    <m:r>
                                      <a:rPr lang="zh-CN" altLang="en-US" sz="2800">
                                        <a:solidFill>
                                          <a:prstClr val="black"/>
                                        </a:solidFill>
                                        <a:latin typeface="Cambria Math" panose="02040503050406030204" pitchFamily="18" charset="0"/>
                                      </a:rPr>
                                      <m:t>1</m:t>
                                    </m:r>
                                  </m:sub>
                                </m:sSub>
                                <m:r>
                                  <a:rPr lang="zh-CN" altLang="en-US" sz="2800">
                                    <a:solidFill>
                                      <a:prstClr val="black"/>
                                    </a:solidFill>
                                    <a:latin typeface="Cambria Math" panose="02040503050406030204" pitchFamily="18" charset="0"/>
                                  </a:rPr>
                                  <m:t>=</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𝑄</m:t>
                                    </m:r>
                                  </m:e>
                                  <m:sub>
                                    <m:r>
                                      <a:rPr lang="zh-CN" altLang="en-US" sz="2800">
                                        <a:solidFill>
                                          <a:prstClr val="black"/>
                                        </a:solidFill>
                                        <a:latin typeface="Cambria Math" panose="02040503050406030204" pitchFamily="18" charset="0"/>
                                      </a:rPr>
                                      <m:t>0</m:t>
                                    </m:r>
                                  </m:sub>
                                </m:sSub>
                                <m:r>
                                  <a:rPr lang="zh-CN" altLang="en-US" sz="2800">
                                    <a:solidFill>
                                      <a:prstClr val="black"/>
                                    </a:solidFill>
                                    <a:latin typeface="Cambria Math" panose="02040503050406030204" pitchFamily="18" charset="0"/>
                                  </a:rPr>
                                  <m:t>↑</m:t>
                                </m:r>
                              </m:e>
                            </m:mr>
                          </m:m>
                        </m:e>
                      </m:d>
                    </m:oMath>
                  </m:oMathPara>
                </a14:m>
                <a:endParaRPr lang="zh-CN" altLang="en-US" sz="2800" dirty="0">
                  <a:solidFill>
                    <a:prstClr val="black"/>
                  </a:solidFill>
                </a:endParaRPr>
              </a:p>
            </p:txBody>
          </p:sp>
        </mc:Choice>
        <mc:Fallback>
          <p:sp>
            <p:nvSpPr>
              <p:cNvPr id="26" name="矩形 25"/>
              <p:cNvSpPr>
                <a:spLocks noRot="1" noChangeAspect="1" noMove="1" noResize="1" noEditPoints="1" noAdjustHandles="1" noChangeArrowheads="1" noChangeShapeType="1" noTextEdit="1"/>
              </p:cNvSpPr>
              <p:nvPr/>
            </p:nvSpPr>
            <p:spPr>
              <a:xfrm>
                <a:off x="6445513" y="1810158"/>
                <a:ext cx="2092200" cy="1053494"/>
              </a:xfrm>
              <a:prstGeom prst="rect">
                <a:avLst/>
              </a:prstGeom>
              <a:blipFill rotWithShape="1">
                <a:blip r:embed="rId8"/>
                <a:stretch>
                  <a:fillRect l="-13" t="-39" r="7" b="41"/>
                </a:stretch>
              </a:blipFill>
            </p:spPr>
            <p:txBody>
              <a:bodyPr/>
              <a:lstStyle/>
              <a:p>
                <a:r>
                  <a:rPr lang="zh-CN" altLang="en-US">
                    <a:noFill/>
                  </a:rPr>
                  <a:t> </a:t>
                </a:r>
              </a:p>
            </p:txBody>
          </p:sp>
        </mc:Fallback>
      </mc:AlternateContent>
      <p:grpSp>
        <p:nvGrpSpPr>
          <p:cNvPr id="4" name="组合 3"/>
          <p:cNvGrpSpPr/>
          <p:nvPr/>
        </p:nvGrpSpPr>
        <p:grpSpPr>
          <a:xfrm>
            <a:off x="221190" y="1406305"/>
            <a:ext cx="4939828" cy="2595631"/>
            <a:chOff x="221190" y="1406305"/>
            <a:chExt cx="4939828" cy="2595631"/>
          </a:xfrm>
        </p:grpSpPr>
        <p:pic>
          <p:nvPicPr>
            <p:cNvPr id="21" name="Picture 5" descr="5-3-1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1190" y="1406305"/>
              <a:ext cx="4928937" cy="2595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文本框 23"/>
            <p:cNvSpPr txBox="1"/>
            <p:nvPr/>
          </p:nvSpPr>
          <p:spPr>
            <a:xfrm>
              <a:off x="4904536" y="1465119"/>
              <a:ext cx="256482" cy="461665"/>
            </a:xfrm>
            <a:prstGeom prst="rect">
              <a:avLst/>
            </a:prstGeom>
            <a:solidFill>
              <a:schemeClr val="bg1"/>
            </a:solidFill>
          </p:spPr>
          <p:txBody>
            <a:bodyPr wrap="square" rtlCol="0">
              <a:spAutoFit/>
            </a:bodyPr>
            <a:lstStyle/>
            <a:p>
              <a:r>
                <a:rPr lang="en-US" altLang="zh-CN" sz="2400" dirty="0">
                  <a:solidFill>
                    <a:prstClr val="black"/>
                  </a:solidFill>
                </a:rPr>
                <a:t>Z</a:t>
              </a:r>
              <a:endParaRPr lang="zh-CN" altLang="en-US" sz="2400" dirty="0">
                <a:solidFill>
                  <a:prstClr val="black"/>
                </a:solidFill>
              </a:endParaRPr>
            </a:p>
          </p:txBody>
        </p:sp>
      </p:grpSp>
      <p:grpSp>
        <p:nvGrpSpPr>
          <p:cNvPr id="12" name="组合 11"/>
          <p:cNvGrpSpPr/>
          <p:nvPr/>
        </p:nvGrpSpPr>
        <p:grpSpPr>
          <a:xfrm>
            <a:off x="5666760" y="5159509"/>
            <a:ext cx="3606273" cy="1454797"/>
            <a:chOff x="5666760" y="5159509"/>
            <a:chExt cx="3606273" cy="1454797"/>
          </a:xfrm>
        </p:grpSpPr>
        <p:graphicFrame>
          <p:nvGraphicFramePr>
            <p:cNvPr id="29" name="Object 4"/>
            <p:cNvGraphicFramePr>
              <a:graphicFrameLocks noChangeAspect="1"/>
            </p:cNvGraphicFramePr>
            <p:nvPr/>
          </p:nvGraphicFramePr>
          <p:xfrm>
            <a:off x="5666760" y="5237287"/>
            <a:ext cx="3308183" cy="1377019"/>
          </p:xfrm>
          <a:graphic>
            <a:graphicData uri="http://schemas.openxmlformats.org/presentationml/2006/ole">
              <mc:AlternateContent xmlns:mc="http://schemas.openxmlformats.org/markup-compatibility/2006">
                <mc:Choice xmlns:v="urn:schemas-microsoft-com:vml" Requires="v">
                  <p:oleObj spid="_x0000_s17449" name="Equation" r:id="rId10" imgW="32308800" imgH="13411200" progId="Equation.DSMT4">
                    <p:embed/>
                  </p:oleObj>
                </mc:Choice>
                <mc:Fallback>
                  <p:oleObj name="Equation" r:id="rId10" imgW="32308800" imgH="13411200" progId="Equation.DSMT4">
                    <p:embed/>
                    <p:pic>
                      <p:nvPicPr>
                        <p:cNvPr id="0" name="图片 17448"/>
                        <p:cNvPicPr>
                          <a:picLocks noChangeAspect="1" noChangeArrowheads="1"/>
                        </p:cNvPicPr>
                        <p:nvPr/>
                      </p:nvPicPr>
                      <p:blipFill>
                        <a:blip r:embed="rId11"/>
                        <a:srcRect/>
                        <a:stretch>
                          <a:fillRect/>
                        </a:stretch>
                      </p:blipFill>
                      <p:spPr bwMode="auto">
                        <a:xfrm>
                          <a:off x="5666760" y="5237287"/>
                          <a:ext cx="3308183" cy="1377019"/>
                        </a:xfrm>
                        <a:prstGeom prst="rect">
                          <a:avLst/>
                        </a:prstGeom>
                        <a:noFill/>
                        <a:ln>
                          <a:noFill/>
                        </a:ln>
                      </p:spPr>
                    </p:pic>
                  </p:oleObj>
                </mc:Fallback>
              </mc:AlternateContent>
            </a:graphicData>
          </a:graphic>
        </p:graphicFrame>
        <p:pic>
          <p:nvPicPr>
            <p:cNvPr id="3" name="图片 2"/>
            <p:cNvPicPr>
              <a:picLocks noChangeAspect="1"/>
            </p:cNvPicPr>
            <p:nvPr/>
          </p:nvPicPr>
          <p:blipFill>
            <a:blip r:embed="rId12"/>
            <a:stretch>
              <a:fillRect/>
            </a:stretch>
          </p:blipFill>
          <p:spPr>
            <a:xfrm>
              <a:off x="8240617" y="5159509"/>
              <a:ext cx="1032416" cy="711789"/>
            </a:xfrm>
            <a:prstGeom prst="rect">
              <a:avLst/>
            </a:prstGeom>
          </p:spPr>
        </p:pic>
        <p:pic>
          <p:nvPicPr>
            <p:cNvPr id="8" name="图片 7"/>
            <p:cNvPicPr>
              <a:picLocks noChangeAspect="1"/>
            </p:cNvPicPr>
            <p:nvPr/>
          </p:nvPicPr>
          <p:blipFill>
            <a:blip r:embed="rId13"/>
            <a:stretch>
              <a:fillRect/>
            </a:stretch>
          </p:blipFill>
          <p:spPr>
            <a:xfrm>
              <a:off x="8120507" y="6111786"/>
              <a:ext cx="1152525" cy="42862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trips(downRight)">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trips(downRight)">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15" grpId="0" animBg="1"/>
      <p:bldP spid="17"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aphicFrame>
        <p:nvGraphicFramePr>
          <p:cNvPr id="16" name="Object 4"/>
          <p:cNvGraphicFramePr>
            <a:graphicFrameLocks noChangeAspect="1"/>
          </p:cNvGraphicFramePr>
          <p:nvPr/>
        </p:nvGraphicFramePr>
        <p:xfrm>
          <a:off x="5773738" y="1531938"/>
          <a:ext cx="3079750" cy="563562"/>
        </p:xfrm>
        <a:graphic>
          <a:graphicData uri="http://schemas.openxmlformats.org/presentationml/2006/ole">
            <mc:AlternateContent xmlns:mc="http://schemas.openxmlformats.org/markup-compatibility/2006">
              <mc:Choice xmlns:v="urn:schemas-microsoft-com:vml" Requires="v">
                <p:oleObj spid="_x0000_s18452" name="Equation" r:id="rId2" imgW="34747200" imgH="6400800" progId="Equation.DSMT4">
                  <p:embed/>
                </p:oleObj>
              </mc:Choice>
              <mc:Fallback>
                <p:oleObj name="Equation" r:id="rId2" imgW="34747200" imgH="6400800" progId="Equation.DSMT4">
                  <p:embed/>
                  <p:pic>
                    <p:nvPicPr>
                      <p:cNvPr id="0" name="图片 18451"/>
                      <p:cNvPicPr>
                        <a:picLocks noChangeAspect="1" noChangeArrowheads="1"/>
                      </p:cNvPicPr>
                      <p:nvPr/>
                    </p:nvPicPr>
                    <p:blipFill>
                      <a:blip r:embed="rId3"/>
                      <a:srcRect/>
                      <a:stretch>
                        <a:fillRect/>
                      </a:stretch>
                    </p:blipFill>
                    <p:spPr bwMode="auto">
                      <a:xfrm>
                        <a:off x="5773738" y="1531938"/>
                        <a:ext cx="307975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26" name="矩形 25"/>
              <p:cNvSpPr/>
              <p:nvPr/>
            </p:nvSpPr>
            <p:spPr>
              <a:xfrm>
                <a:off x="3465236" y="1534600"/>
                <a:ext cx="1784350" cy="1053494"/>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800" i="1">
                              <a:solidFill>
                                <a:prstClr val="black"/>
                              </a:solidFill>
                              <a:latin typeface="Cambria Math" panose="02040503050406030204"/>
                            </a:rPr>
                          </m:ctrlPr>
                        </m:dPr>
                        <m:e>
                          <m:m>
                            <m:mPr>
                              <m:mcs>
                                <m:mc>
                                  <m:mcPr>
                                    <m:count m:val="1"/>
                                    <m:mcJc m:val="center"/>
                                  </m:mcPr>
                                </m:mc>
                              </m:mcs>
                              <m:plcHide m:val="on"/>
                              <m:ctrlPr>
                                <a:rPr lang="zh-CN" altLang="en-US" sz="2800" i="1">
                                  <a:solidFill>
                                    <a:prstClr val="black"/>
                                  </a:solidFill>
                                  <a:latin typeface="Cambria Math" panose="02040503050406030204"/>
                                </a:rPr>
                              </m:ctrlPr>
                            </m:mPr>
                            <m:mr>
                              <m:e>
                                <m:r>
                                  <a:rPr lang="zh-CN" altLang="en-US" sz="2800" i="1">
                                    <a:solidFill>
                                      <a:prstClr val="black"/>
                                    </a:solidFill>
                                    <a:latin typeface="Cambria Math" panose="02040503050406030204" pitchFamily="18" charset="0"/>
                                  </a:rPr>
                                  <m:t>𝐶</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𝑃</m:t>
                                    </m:r>
                                  </m:e>
                                  <m:sub>
                                    <m:r>
                                      <a:rPr lang="zh-CN" altLang="en-US" sz="2800">
                                        <a:solidFill>
                                          <a:prstClr val="black"/>
                                        </a:solidFill>
                                        <a:latin typeface="Cambria Math" panose="02040503050406030204" pitchFamily="18" charset="0"/>
                                      </a:rPr>
                                      <m:t>0</m:t>
                                    </m:r>
                                  </m:sub>
                                </m:sSub>
                                <m:r>
                                  <a:rPr lang="zh-CN" altLang="en-US" sz="2800">
                                    <a:solidFill>
                                      <a:prstClr val="black"/>
                                    </a:solidFill>
                                    <a:latin typeface="Cambria Math" panose="02040503050406030204" pitchFamily="18" charset="0"/>
                                  </a:rPr>
                                  <m:t>=</m:t>
                                </m:r>
                                <m:r>
                                  <a:rPr lang="zh-CN" altLang="en-US" sz="2800" i="1">
                                    <a:solidFill>
                                      <a:prstClr val="black"/>
                                    </a:solidFill>
                                    <a:latin typeface="Cambria Math" panose="02040503050406030204" pitchFamily="18" charset="0"/>
                                  </a:rPr>
                                  <m:t>𝐶𝑃</m:t>
                                </m:r>
                                <m:r>
                                  <a:rPr lang="zh-CN" altLang="en-US" sz="2800">
                                    <a:solidFill>
                                      <a:prstClr val="black"/>
                                    </a:solidFill>
                                    <a:latin typeface="Cambria Math" panose="02040503050406030204" pitchFamily="18" charset="0"/>
                                  </a:rPr>
                                  <m:t>↑</m:t>
                                </m:r>
                              </m:e>
                            </m:mr>
                            <m:mr>
                              <m:e>
                                <m:r>
                                  <a:rPr lang="zh-CN" altLang="en-US" sz="2800" i="1">
                                    <a:solidFill>
                                      <a:prstClr val="black"/>
                                    </a:solidFill>
                                    <a:latin typeface="Cambria Math" panose="02040503050406030204" pitchFamily="18" charset="0"/>
                                  </a:rPr>
                                  <m:t>𝐶</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𝑃</m:t>
                                    </m:r>
                                  </m:e>
                                  <m:sub>
                                    <m:r>
                                      <a:rPr lang="zh-CN" altLang="en-US" sz="2800">
                                        <a:solidFill>
                                          <a:prstClr val="black"/>
                                        </a:solidFill>
                                        <a:latin typeface="Cambria Math" panose="02040503050406030204" pitchFamily="18" charset="0"/>
                                      </a:rPr>
                                      <m:t>1</m:t>
                                    </m:r>
                                  </m:sub>
                                </m:sSub>
                                <m:r>
                                  <a:rPr lang="zh-CN" altLang="en-US" sz="2800">
                                    <a:solidFill>
                                      <a:prstClr val="black"/>
                                    </a:solidFill>
                                    <a:latin typeface="Cambria Math" panose="02040503050406030204" pitchFamily="18" charset="0"/>
                                  </a:rPr>
                                  <m:t>=</m:t>
                                </m:r>
                                <m:sSub>
                                  <m:sSubPr>
                                    <m:ctrlPr>
                                      <a:rPr lang="zh-CN" altLang="en-US" sz="2800" i="1">
                                        <a:solidFill>
                                          <a:prstClr val="black"/>
                                        </a:solidFill>
                                        <a:latin typeface="Cambria Math" panose="02040503050406030204"/>
                                      </a:rPr>
                                    </m:ctrlPr>
                                  </m:sSubPr>
                                  <m:e>
                                    <m:r>
                                      <a:rPr lang="zh-CN" altLang="en-US" sz="2800" i="1">
                                        <a:solidFill>
                                          <a:prstClr val="black"/>
                                        </a:solidFill>
                                        <a:latin typeface="Cambria Math" panose="02040503050406030204" pitchFamily="18" charset="0"/>
                                      </a:rPr>
                                      <m:t>𝑄</m:t>
                                    </m:r>
                                  </m:e>
                                  <m:sub>
                                    <m:r>
                                      <a:rPr lang="zh-CN" altLang="en-US" sz="2800">
                                        <a:solidFill>
                                          <a:prstClr val="black"/>
                                        </a:solidFill>
                                        <a:latin typeface="Cambria Math" panose="02040503050406030204" pitchFamily="18" charset="0"/>
                                      </a:rPr>
                                      <m:t>0</m:t>
                                    </m:r>
                                  </m:sub>
                                </m:sSub>
                                <m:r>
                                  <a:rPr lang="zh-CN" altLang="en-US" sz="2800">
                                    <a:solidFill>
                                      <a:prstClr val="black"/>
                                    </a:solidFill>
                                    <a:latin typeface="Cambria Math" panose="02040503050406030204" pitchFamily="18" charset="0"/>
                                  </a:rPr>
                                  <m:t>↑</m:t>
                                </m:r>
                              </m:e>
                            </m:mr>
                          </m:m>
                        </m:e>
                      </m:d>
                    </m:oMath>
                  </m:oMathPara>
                </a14:m>
                <a:endParaRPr lang="zh-CN" altLang="en-US" sz="2800" dirty="0">
                  <a:solidFill>
                    <a:prstClr val="black"/>
                  </a:solidFill>
                </a:endParaRPr>
              </a:p>
            </p:txBody>
          </p:sp>
        </mc:Choice>
        <mc:Fallback>
          <p:sp>
            <p:nvSpPr>
              <p:cNvPr id="26" name="矩形 25"/>
              <p:cNvSpPr>
                <a:spLocks noRot="1" noChangeAspect="1" noMove="1" noResize="1" noEditPoints="1" noAdjustHandles="1" noChangeArrowheads="1" noChangeShapeType="1" noTextEdit="1"/>
              </p:cNvSpPr>
              <p:nvPr/>
            </p:nvSpPr>
            <p:spPr>
              <a:xfrm>
                <a:off x="3465236" y="1534600"/>
                <a:ext cx="1784350" cy="1053494"/>
              </a:xfrm>
              <a:prstGeom prst="rect">
                <a:avLst/>
              </a:prstGeom>
              <a:blipFill rotWithShape="1">
                <a:blip r:embed="rId4"/>
                <a:stretch>
                  <a:fillRect l="-2" t="-42" r="-11136" b="45"/>
                </a:stretch>
              </a:blipFill>
            </p:spPr>
            <p:txBody>
              <a:bodyPr/>
              <a:lstStyle/>
              <a:p>
                <a:r>
                  <a:rPr lang="zh-CN" altLang="en-US">
                    <a:noFill/>
                  </a:rPr>
                  <a:t> </a:t>
                </a:r>
              </a:p>
            </p:txBody>
          </p:sp>
        </mc:Fallback>
      </mc:AlternateContent>
      <p:sp>
        <p:nvSpPr>
          <p:cNvPr id="20" name="文本框 19"/>
          <p:cNvSpPr txBox="1"/>
          <p:nvPr/>
        </p:nvSpPr>
        <p:spPr>
          <a:xfrm>
            <a:off x="221190" y="610839"/>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根据方程组列出状态转移真值表</a:t>
            </a:r>
            <a:endParaRPr lang="zh-CN" altLang="en-US" sz="2800" b="1" dirty="0">
              <a:solidFill>
                <a:srgbClr val="0000FF"/>
              </a:solidFill>
              <a:latin typeface="黑体" panose="02010609060101010101" pitchFamily="49" charset="-122"/>
              <a:ea typeface="黑体" panose="02010609060101010101" pitchFamily="49" charset="-122"/>
            </a:endParaRPr>
          </a:p>
        </p:txBody>
      </p:sp>
      <p:cxnSp>
        <p:nvCxnSpPr>
          <p:cNvPr id="4" name="直接连接符 3"/>
          <p:cNvCxnSpPr/>
          <p:nvPr/>
        </p:nvCxnSpPr>
        <p:spPr>
          <a:xfrm>
            <a:off x="3404241" y="1329117"/>
            <a:ext cx="0" cy="1316802"/>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650136" y="1278305"/>
            <a:ext cx="0" cy="1367614"/>
          </a:xfrm>
          <a:prstGeom prst="line">
            <a:avLst/>
          </a:prstGeom>
          <a:ln w="22225"/>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 name="文本框 9"/>
              <p:cNvSpPr txBox="1"/>
              <p:nvPr/>
            </p:nvSpPr>
            <p:spPr>
              <a:xfrm>
                <a:off x="456118" y="4021907"/>
                <a:ext cx="8150470" cy="2493247"/>
              </a:xfrm>
              <a:prstGeom prst="rect">
                <a:avLst/>
              </a:prstGeom>
              <a:noFill/>
              <a:ln>
                <a:noFill/>
              </a:ln>
            </p:spPr>
            <p:txBody>
              <a:bodyPr wrap="square" rtlCol="0">
                <a:spAutoFit/>
              </a:bodyPr>
              <a:lstStyle/>
              <a:p>
                <a:pPr>
                  <a:spcAft>
                    <a:spcPts val="1200"/>
                  </a:spcAft>
                </a:pPr>
                <a:r>
                  <a:rPr lang="zh-CN" altLang="en-US" sz="2800" dirty="0">
                    <a:solidFill>
                      <a:srgbClr val="0000FF"/>
                    </a:solidFill>
                    <a:latin typeface="黑体" panose="02010609060101010101" pitchFamily="49" charset="-122"/>
                    <a:ea typeface="黑体" panose="02010609060101010101" pitchFamily="49" charset="-122"/>
                  </a:rPr>
                  <a:t>计算过程：</a:t>
                </a:r>
                <a:endParaRPr lang="en-US" altLang="zh-CN" sz="2800" dirty="0">
                  <a:solidFill>
                    <a:srgbClr val="0000FF"/>
                  </a:solidFill>
                  <a:latin typeface="黑体" panose="02010609060101010101" pitchFamily="49" charset="-122"/>
                  <a:ea typeface="黑体" panose="02010609060101010101" pitchFamily="49" charset="-122"/>
                </a:endParaRPr>
              </a:p>
              <a:p>
                <a:pPr marL="342900" indent="-342900">
                  <a:spcAft>
                    <a:spcPts val="1200"/>
                  </a:spcAft>
                  <a:buFont typeface="Wingdings" panose="05000000000000000000" pitchFamily="2" charset="2"/>
                  <a:buChar char="Ø"/>
                </a:pPr>
                <a:r>
                  <a:rPr lang="zh-CN" altLang="en-US" sz="2400" dirty="0">
                    <a:solidFill>
                      <a:prstClr val="black"/>
                    </a:solidFill>
                    <a:latin typeface="黑体" panose="02010609060101010101" pitchFamily="49" charset="-122"/>
                    <a:ea typeface="黑体" panose="02010609060101010101" pitchFamily="49" charset="-122"/>
                  </a:rPr>
                  <a:t>将一组现态值带入次态方程组，计算出</a:t>
                </a:r>
                <a14:m>
                  <m:oMath xmlns:m="http://schemas.openxmlformats.org/officeDocument/2006/math">
                    <m:sSubSup>
                      <m:sSubSupPr>
                        <m:ctrlPr>
                          <a:rPr lang="zh-CN" altLang="en-US" sz="2400" i="1">
                            <a:solidFill>
                              <a:prstClr val="black"/>
                            </a:solidFill>
                            <a:latin typeface="Cambria Math" panose="02040503050406030204"/>
                          </a:rPr>
                        </m:ctrlPr>
                      </m:sSubSupPr>
                      <m:e>
                        <m:r>
                          <a:rPr lang="zh-CN" altLang="en-US" sz="2400" i="1" smtClean="0">
                            <a:solidFill>
                              <a:prstClr val="black"/>
                            </a:solidFill>
                            <a:latin typeface="Cambria Math" panose="02040503050406030204" pitchFamily="18" charset="0"/>
                          </a:rPr>
                          <m:t>𝑄</m:t>
                        </m:r>
                      </m:e>
                      <m:sub>
                        <m:r>
                          <a:rPr lang="zh-CN" altLang="en-US" sz="2400" smtClean="0">
                            <a:solidFill>
                              <a:prstClr val="black"/>
                            </a:solidFill>
                            <a:latin typeface="Cambria Math" panose="02040503050406030204" pitchFamily="18" charset="0"/>
                          </a:rPr>
                          <m:t>0</m:t>
                        </m:r>
                      </m:sub>
                      <m:sup>
                        <m:r>
                          <a:rPr lang="zh-CN" altLang="en-US" sz="2400" i="1" smtClean="0">
                            <a:solidFill>
                              <a:prstClr val="black"/>
                            </a:solidFill>
                            <a:latin typeface="Cambria Math" panose="02040503050406030204" pitchFamily="18" charset="0"/>
                          </a:rPr>
                          <m:t>𝑛</m:t>
                        </m:r>
                        <m:r>
                          <a:rPr lang="zh-CN" altLang="en-US" sz="2400" smtClean="0">
                            <a:solidFill>
                              <a:prstClr val="black"/>
                            </a:solidFill>
                            <a:latin typeface="Cambria Math" panose="02040503050406030204" pitchFamily="18" charset="0"/>
                          </a:rPr>
                          <m:t>+</m:t>
                        </m:r>
                        <m:r>
                          <a:rPr lang="zh-CN" altLang="en-US" sz="2400" smtClean="0">
                            <a:solidFill>
                              <a:prstClr val="black"/>
                            </a:solidFill>
                            <a:latin typeface="Cambria Math" panose="02040503050406030204" pitchFamily="18" charset="0"/>
                          </a:rPr>
                          <m:t>1</m:t>
                        </m:r>
                      </m:sup>
                    </m:sSubSup>
                  </m:oMath>
                </a14:m>
                <a:endParaRPr lang="en-US" altLang="zh-CN" sz="2400" dirty="0">
                  <a:solidFill>
                    <a:prstClr val="black"/>
                  </a:solidFill>
                  <a:latin typeface="黑体" panose="02010609060101010101" pitchFamily="49" charset="-122"/>
                  <a:ea typeface="黑体" panose="02010609060101010101" pitchFamily="49" charset="-122"/>
                </a:endParaRPr>
              </a:p>
              <a:p>
                <a:pPr marL="342900" indent="-342900">
                  <a:spcAft>
                    <a:spcPts val="1200"/>
                  </a:spcAft>
                  <a:buFont typeface="Wingdings" panose="05000000000000000000" pitchFamily="2" charset="2"/>
                  <a:buChar char="Ø"/>
                </a:pPr>
                <a:r>
                  <a:rPr lang="zh-CN" altLang="en-US" sz="2400" dirty="0">
                    <a:solidFill>
                      <a:prstClr val="black"/>
                    </a:solidFill>
                    <a:latin typeface="黑体" panose="02010609060101010101" pitchFamily="49" charset="-122"/>
                    <a:ea typeface="黑体" panose="02010609060101010101" pitchFamily="49" charset="-122"/>
                  </a:rPr>
                  <a:t>根据</a:t>
                </a:r>
                <a14:m>
                  <m:oMath xmlns:m="http://schemas.openxmlformats.org/officeDocument/2006/math">
                    <m:sSubSup>
                      <m:sSubSupPr>
                        <m:ctrlPr>
                          <a:rPr lang="zh-CN" altLang="en-US" sz="2400" i="1">
                            <a:solidFill>
                              <a:prstClr val="black"/>
                            </a:solidFill>
                            <a:latin typeface="Cambria Math" panose="02040503050406030204"/>
                          </a:rPr>
                        </m:ctrlPr>
                      </m:sSubSupPr>
                      <m:e>
                        <m:r>
                          <a:rPr lang="zh-CN" altLang="en-US" sz="2400" i="1" smtClean="0">
                            <a:solidFill>
                              <a:prstClr val="black"/>
                            </a:solidFill>
                            <a:latin typeface="Cambria Math" panose="02040503050406030204" pitchFamily="18" charset="0"/>
                          </a:rPr>
                          <m:t>𝑄</m:t>
                        </m:r>
                      </m:e>
                      <m:sub>
                        <m:r>
                          <a:rPr lang="zh-CN" altLang="en-US" sz="2400" smtClean="0">
                            <a:solidFill>
                              <a:prstClr val="black"/>
                            </a:solidFill>
                            <a:latin typeface="Cambria Math" panose="02040503050406030204" pitchFamily="18" charset="0"/>
                          </a:rPr>
                          <m:t>0</m:t>
                        </m:r>
                      </m:sub>
                      <m:sup>
                        <m:r>
                          <a:rPr lang="zh-CN" altLang="en-US" sz="2400" i="1" smtClean="0">
                            <a:solidFill>
                              <a:prstClr val="black"/>
                            </a:solidFill>
                            <a:latin typeface="Cambria Math" panose="02040503050406030204" pitchFamily="18" charset="0"/>
                          </a:rPr>
                          <m:t>𝑛</m:t>
                        </m:r>
                      </m:sup>
                    </m:sSubSup>
                    <m:r>
                      <a:rPr lang="zh-CN" altLang="en-US" sz="2400" smtClean="0">
                        <a:solidFill>
                          <a:prstClr val="black"/>
                        </a:solidFill>
                        <a:latin typeface="Cambria Math" panose="02040503050406030204" pitchFamily="18" charset="0"/>
                      </a:rPr>
                      <m:t>→</m:t>
                    </m:r>
                    <m:sSubSup>
                      <m:sSubSupPr>
                        <m:ctrlPr>
                          <a:rPr lang="zh-CN" altLang="en-US" sz="2400" i="1">
                            <a:solidFill>
                              <a:prstClr val="black"/>
                            </a:solidFill>
                            <a:latin typeface="Cambria Math" panose="02040503050406030204"/>
                          </a:rPr>
                        </m:ctrlPr>
                      </m:sSubSupPr>
                      <m:e>
                        <m:r>
                          <a:rPr lang="zh-CN" altLang="en-US" sz="2400" i="1" smtClean="0">
                            <a:solidFill>
                              <a:prstClr val="black"/>
                            </a:solidFill>
                            <a:latin typeface="Cambria Math" panose="02040503050406030204" pitchFamily="18" charset="0"/>
                          </a:rPr>
                          <m:t>𝑄</m:t>
                        </m:r>
                      </m:e>
                      <m:sub>
                        <m:r>
                          <a:rPr lang="zh-CN" altLang="en-US" sz="2400" smtClean="0">
                            <a:solidFill>
                              <a:prstClr val="black"/>
                            </a:solidFill>
                            <a:latin typeface="Cambria Math" panose="02040503050406030204" pitchFamily="18" charset="0"/>
                          </a:rPr>
                          <m:t>0</m:t>
                        </m:r>
                      </m:sub>
                      <m:sup>
                        <m:r>
                          <a:rPr lang="zh-CN" altLang="en-US" sz="2400" i="1" smtClean="0">
                            <a:solidFill>
                              <a:prstClr val="black"/>
                            </a:solidFill>
                            <a:latin typeface="Cambria Math" panose="02040503050406030204" pitchFamily="18" charset="0"/>
                          </a:rPr>
                          <m:t>𝑛</m:t>
                        </m:r>
                        <m:r>
                          <a:rPr lang="zh-CN" altLang="en-US" sz="2400" smtClean="0">
                            <a:solidFill>
                              <a:prstClr val="black"/>
                            </a:solidFill>
                            <a:latin typeface="Cambria Math" panose="02040503050406030204" pitchFamily="18" charset="0"/>
                          </a:rPr>
                          <m:t>+</m:t>
                        </m:r>
                        <m:r>
                          <a:rPr lang="zh-CN" altLang="en-US" sz="2400" smtClean="0">
                            <a:solidFill>
                              <a:prstClr val="black"/>
                            </a:solidFill>
                            <a:latin typeface="Cambria Math" panose="02040503050406030204" pitchFamily="18" charset="0"/>
                          </a:rPr>
                          <m:t>1</m:t>
                        </m:r>
                      </m:sup>
                    </m:sSubSup>
                  </m:oMath>
                </a14:m>
                <a:r>
                  <a:rPr lang="zh-CN" altLang="en-US" sz="2400" dirty="0">
                    <a:solidFill>
                      <a:prstClr val="black"/>
                    </a:solidFill>
                    <a:latin typeface="黑体" panose="02010609060101010101" pitchFamily="49" charset="-122"/>
                    <a:ea typeface="黑体" panose="02010609060101010101" pitchFamily="49" charset="-122"/>
                  </a:rPr>
                  <a:t> 的变化情况，即时钟</a:t>
                </a:r>
                <a:r>
                  <a:rPr lang="en-US" altLang="zh-CN" sz="2400" dirty="0">
                    <a:solidFill>
                      <a:prstClr val="black"/>
                    </a:solidFill>
                    <a:latin typeface="黑体" panose="02010609060101010101" pitchFamily="49" charset="-122"/>
                    <a:ea typeface="黑体" panose="02010609060101010101" pitchFamily="49" charset="-122"/>
                  </a:rPr>
                  <a:t>CP</a:t>
                </a:r>
                <a:r>
                  <a:rPr lang="en-US" altLang="zh-CN" sz="2400" baseline="-25000" dirty="0">
                    <a:solidFill>
                      <a:prstClr val="black"/>
                    </a:solidFill>
                    <a:latin typeface="黑体" panose="02010609060101010101" pitchFamily="49" charset="-122"/>
                    <a:ea typeface="黑体" panose="02010609060101010101" pitchFamily="49" charset="-122"/>
                  </a:rPr>
                  <a:t>1</a:t>
                </a:r>
                <a:r>
                  <a:rPr lang="zh-CN" altLang="en-US" sz="2400" dirty="0">
                    <a:solidFill>
                      <a:prstClr val="black"/>
                    </a:solidFill>
                    <a:latin typeface="黑体" panose="02010609060101010101" pitchFamily="49" charset="-122"/>
                    <a:ea typeface="黑体" panose="02010609060101010101" pitchFamily="49" charset="-122"/>
                  </a:rPr>
                  <a:t>的状态，确定是否计算更新</a:t>
                </a:r>
                <a14:m>
                  <m:oMath xmlns:m="http://schemas.openxmlformats.org/officeDocument/2006/math">
                    <m:sSubSup>
                      <m:sSubSupPr>
                        <m:ctrlPr>
                          <a:rPr lang="zh-CN" altLang="en-US" sz="2400" i="1">
                            <a:solidFill>
                              <a:prstClr val="black"/>
                            </a:solidFill>
                            <a:latin typeface="Cambria Math" panose="02040503050406030204"/>
                          </a:rPr>
                        </m:ctrlPr>
                      </m:sSubSupPr>
                      <m:e>
                        <m:r>
                          <a:rPr lang="zh-CN" altLang="en-US" sz="2400" i="1" smtClean="0">
                            <a:solidFill>
                              <a:prstClr val="black"/>
                            </a:solidFill>
                            <a:latin typeface="Cambria Math" panose="02040503050406030204" pitchFamily="18" charset="0"/>
                          </a:rPr>
                          <m:t>𝑄</m:t>
                        </m:r>
                      </m:e>
                      <m:sub>
                        <m:r>
                          <a:rPr lang="en-US" altLang="zh-CN" sz="2400" smtClean="0">
                            <a:solidFill>
                              <a:prstClr val="black"/>
                            </a:solidFill>
                            <a:latin typeface="Cambria Math" panose="02040503050406030204" pitchFamily="18" charset="0"/>
                          </a:rPr>
                          <m:t>1</m:t>
                        </m:r>
                      </m:sub>
                      <m:sup>
                        <m:r>
                          <a:rPr lang="zh-CN" altLang="en-US" sz="2400" i="1" smtClean="0">
                            <a:solidFill>
                              <a:prstClr val="black"/>
                            </a:solidFill>
                            <a:latin typeface="Cambria Math" panose="02040503050406030204" pitchFamily="18" charset="0"/>
                          </a:rPr>
                          <m:t>𝑛</m:t>
                        </m:r>
                        <m:r>
                          <a:rPr lang="zh-CN" altLang="en-US" sz="2400" smtClean="0">
                            <a:solidFill>
                              <a:prstClr val="black"/>
                            </a:solidFill>
                            <a:latin typeface="Cambria Math" panose="02040503050406030204" pitchFamily="18" charset="0"/>
                          </a:rPr>
                          <m:t>+</m:t>
                        </m:r>
                        <m:r>
                          <a:rPr lang="zh-CN" altLang="en-US" sz="2400" smtClean="0">
                            <a:solidFill>
                              <a:prstClr val="black"/>
                            </a:solidFill>
                            <a:latin typeface="Cambria Math" panose="02040503050406030204" pitchFamily="18" charset="0"/>
                          </a:rPr>
                          <m:t>1</m:t>
                        </m:r>
                      </m:sup>
                    </m:sSubSup>
                  </m:oMath>
                </a14:m>
                <a:endParaRPr lang="en-US" altLang="zh-CN" sz="2400" dirty="0">
                  <a:solidFill>
                    <a:prstClr val="black"/>
                  </a:solidFill>
                  <a:latin typeface="黑体" panose="02010609060101010101" pitchFamily="49" charset="-122"/>
                  <a:ea typeface="黑体" panose="02010609060101010101" pitchFamily="49" charset="-122"/>
                </a:endParaRPr>
              </a:p>
              <a:p>
                <a:pPr marL="342900" indent="-342900">
                  <a:spcAft>
                    <a:spcPts val="1200"/>
                  </a:spcAft>
                  <a:buFont typeface="Wingdings" panose="05000000000000000000" pitchFamily="2" charset="2"/>
                  <a:buChar char="Ø"/>
                </a:pPr>
                <a:r>
                  <a:rPr lang="zh-CN" altLang="en-US" sz="2400" dirty="0">
                    <a:solidFill>
                      <a:prstClr val="black"/>
                    </a:solidFill>
                    <a:latin typeface="黑体" panose="02010609060101010101" pitchFamily="49" charset="-122"/>
                    <a:ea typeface="黑体" panose="02010609060101010101" pitchFamily="49" charset="-122"/>
                  </a:rPr>
                  <a:t>若</a:t>
                </a:r>
                <a14:m>
                  <m:oMath xmlns:m="http://schemas.openxmlformats.org/officeDocument/2006/math">
                    <m:sSubSup>
                      <m:sSubSupPr>
                        <m:ctrlPr>
                          <a:rPr lang="zh-CN" altLang="en-US" sz="2400" i="1" smtClean="0">
                            <a:solidFill>
                              <a:srgbClr val="FF0000"/>
                            </a:solidFill>
                            <a:latin typeface="Cambria Math" panose="02040503050406030204"/>
                          </a:rPr>
                        </m:ctrlPr>
                      </m:sSubSupPr>
                      <m:e>
                        <m:r>
                          <a:rPr lang="zh-CN" altLang="en-US" sz="2400" i="1" smtClean="0">
                            <a:solidFill>
                              <a:srgbClr val="FF0000"/>
                            </a:solidFill>
                            <a:latin typeface="Cambria Math" panose="02040503050406030204" pitchFamily="18" charset="0"/>
                          </a:rPr>
                          <m:t>𝑄</m:t>
                        </m:r>
                      </m:e>
                      <m:sub>
                        <m:r>
                          <a:rPr lang="zh-CN" altLang="en-US" sz="2400" smtClean="0">
                            <a:solidFill>
                              <a:srgbClr val="FF0000"/>
                            </a:solidFill>
                            <a:latin typeface="Cambria Math" panose="02040503050406030204" pitchFamily="18" charset="0"/>
                          </a:rPr>
                          <m:t>0</m:t>
                        </m:r>
                      </m:sub>
                      <m:sup>
                        <m:r>
                          <a:rPr lang="zh-CN" altLang="en-US" sz="2400" i="1" smtClean="0">
                            <a:solidFill>
                              <a:srgbClr val="FF0000"/>
                            </a:solidFill>
                            <a:latin typeface="Cambria Math" panose="02040503050406030204" pitchFamily="18" charset="0"/>
                          </a:rPr>
                          <m:t>𝑛</m:t>
                        </m:r>
                      </m:sup>
                    </m:sSubSup>
                    <m:r>
                      <a:rPr lang="zh-CN" altLang="en-US" sz="2400" smtClean="0">
                        <a:solidFill>
                          <a:srgbClr val="FF0000"/>
                        </a:solidFill>
                        <a:latin typeface="Cambria Math" panose="02040503050406030204" pitchFamily="18" charset="0"/>
                      </a:rPr>
                      <m:t>→</m:t>
                    </m:r>
                    <m:sSubSup>
                      <m:sSubSupPr>
                        <m:ctrlPr>
                          <a:rPr lang="zh-CN" altLang="en-US" sz="2400" i="1">
                            <a:solidFill>
                              <a:srgbClr val="FF0000"/>
                            </a:solidFill>
                            <a:latin typeface="Cambria Math" panose="02040503050406030204"/>
                          </a:rPr>
                        </m:ctrlPr>
                      </m:sSubSupPr>
                      <m:e>
                        <m:r>
                          <a:rPr lang="zh-CN" altLang="en-US" sz="2400" i="1" smtClean="0">
                            <a:solidFill>
                              <a:srgbClr val="FF0000"/>
                            </a:solidFill>
                            <a:latin typeface="Cambria Math" panose="02040503050406030204" pitchFamily="18" charset="0"/>
                          </a:rPr>
                          <m:t>𝑄</m:t>
                        </m:r>
                      </m:e>
                      <m:sub>
                        <m:r>
                          <a:rPr lang="zh-CN" altLang="en-US" sz="2400" smtClean="0">
                            <a:solidFill>
                              <a:srgbClr val="FF0000"/>
                            </a:solidFill>
                            <a:latin typeface="Cambria Math" panose="02040503050406030204" pitchFamily="18" charset="0"/>
                          </a:rPr>
                          <m:t>0</m:t>
                        </m:r>
                      </m:sub>
                      <m:sup>
                        <m:r>
                          <a:rPr lang="zh-CN" altLang="en-US" sz="2400" i="1" smtClean="0">
                            <a:solidFill>
                              <a:srgbClr val="FF0000"/>
                            </a:solidFill>
                            <a:latin typeface="Cambria Math" panose="02040503050406030204" pitchFamily="18" charset="0"/>
                          </a:rPr>
                          <m:t>𝑛</m:t>
                        </m:r>
                        <m:r>
                          <a:rPr lang="zh-CN" altLang="en-US" sz="2400" smtClean="0">
                            <a:solidFill>
                              <a:srgbClr val="FF0000"/>
                            </a:solidFill>
                            <a:latin typeface="Cambria Math" panose="02040503050406030204" pitchFamily="18" charset="0"/>
                          </a:rPr>
                          <m:t>+</m:t>
                        </m:r>
                        <m:r>
                          <a:rPr lang="zh-CN" altLang="en-US" sz="2400" smtClean="0">
                            <a:solidFill>
                              <a:srgbClr val="FF0000"/>
                            </a:solidFill>
                            <a:latin typeface="Cambria Math" panose="02040503050406030204" pitchFamily="18" charset="0"/>
                          </a:rPr>
                          <m:t>1</m:t>
                        </m:r>
                      </m:sup>
                    </m:sSubSup>
                  </m:oMath>
                </a14:m>
                <a:r>
                  <a:rPr lang="zh-CN" altLang="en-US" sz="2400" dirty="0">
                    <a:solidFill>
                      <a:srgbClr val="FF0000"/>
                    </a:solidFill>
                    <a:latin typeface="黑体" panose="02010609060101010101" pitchFamily="49" charset="-122"/>
                    <a:ea typeface="黑体" panose="02010609060101010101" pitchFamily="49" charset="-122"/>
                  </a:rPr>
                  <a:t>：</a:t>
                </a:r>
                <a:r>
                  <a:rPr lang="en-US" altLang="zh-CN" sz="2400" dirty="0">
                    <a:solidFill>
                      <a:srgbClr val="FF0000"/>
                    </a:solidFill>
                    <a:latin typeface="黑体" panose="02010609060101010101" pitchFamily="49" charset="-122"/>
                    <a:ea typeface="黑体" panose="02010609060101010101" pitchFamily="49" charset="-122"/>
                  </a:rPr>
                  <a:t>0</a:t>
                </a:r>
                <a14:m>
                  <m:oMath xmlns:m="http://schemas.openxmlformats.org/officeDocument/2006/math">
                    <m:r>
                      <a:rPr lang="zh-CN" altLang="en-US" sz="2400" smtClean="0">
                        <a:solidFill>
                          <a:srgbClr val="FF0000"/>
                        </a:solidFill>
                        <a:latin typeface="Cambria Math" panose="02040503050406030204" pitchFamily="18" charset="0"/>
                      </a:rPr>
                      <m:t>→</m:t>
                    </m:r>
                  </m:oMath>
                </a14:m>
                <a:r>
                  <a:rPr lang="en-US" altLang="zh-CN" sz="2400" dirty="0">
                    <a:solidFill>
                      <a:srgbClr val="FF0000"/>
                    </a:solidFill>
                    <a:latin typeface="黑体" panose="02010609060101010101" pitchFamily="49" charset="-122"/>
                    <a:ea typeface="黑体" panose="02010609060101010101" pitchFamily="49" charset="-122"/>
                  </a:rPr>
                  <a:t>1</a:t>
                </a:r>
                <a:r>
                  <a:rPr lang="zh-CN" altLang="en-US" sz="2400" dirty="0">
                    <a:solidFill>
                      <a:prstClr val="black"/>
                    </a:solidFill>
                    <a:latin typeface="黑体" panose="02010609060101010101" pitchFamily="49" charset="-122"/>
                    <a:ea typeface="黑体" panose="02010609060101010101" pitchFamily="49" charset="-122"/>
                  </a:rPr>
                  <a:t>，则计算</a:t>
                </a:r>
                <a:r>
                  <a:rPr lang="zh-CN" altLang="en-US" sz="2400" dirty="0">
                    <a:solidFill>
                      <a:srgbClr val="FF0000"/>
                    </a:solidFill>
                    <a:latin typeface="黑体" panose="02010609060101010101" pitchFamily="49" charset="-122"/>
                    <a:ea typeface="黑体" panose="02010609060101010101" pitchFamily="49" charset="-122"/>
                  </a:rPr>
                  <a:t>更新</a:t>
                </a:r>
                <a14:m>
                  <m:oMath xmlns:m="http://schemas.openxmlformats.org/officeDocument/2006/math">
                    <m:sSubSup>
                      <m:sSubSupPr>
                        <m:ctrlPr>
                          <a:rPr lang="zh-CN" altLang="en-US" sz="2400" i="1">
                            <a:solidFill>
                              <a:srgbClr val="FF0000"/>
                            </a:solidFill>
                            <a:latin typeface="Cambria Math" panose="02040503050406030204"/>
                          </a:rPr>
                        </m:ctrlPr>
                      </m:sSubSupPr>
                      <m:e>
                        <m:r>
                          <a:rPr lang="zh-CN" altLang="en-US" sz="2400" i="1" smtClean="0">
                            <a:solidFill>
                              <a:srgbClr val="FF0000"/>
                            </a:solidFill>
                            <a:latin typeface="Cambria Math" panose="02040503050406030204" pitchFamily="18" charset="0"/>
                          </a:rPr>
                          <m:t>𝑄</m:t>
                        </m:r>
                      </m:e>
                      <m:sub>
                        <m:r>
                          <a:rPr lang="en-US" altLang="zh-CN" sz="2400" smtClean="0">
                            <a:solidFill>
                              <a:srgbClr val="FF0000"/>
                            </a:solidFill>
                            <a:latin typeface="Cambria Math" panose="02040503050406030204" pitchFamily="18" charset="0"/>
                          </a:rPr>
                          <m:t>1</m:t>
                        </m:r>
                      </m:sub>
                      <m:sup>
                        <m:r>
                          <a:rPr lang="zh-CN" altLang="en-US" sz="2400" i="1" smtClean="0">
                            <a:solidFill>
                              <a:srgbClr val="FF0000"/>
                            </a:solidFill>
                            <a:latin typeface="Cambria Math" panose="02040503050406030204" pitchFamily="18" charset="0"/>
                          </a:rPr>
                          <m:t>𝑛</m:t>
                        </m:r>
                        <m:r>
                          <a:rPr lang="zh-CN" altLang="en-US" sz="2400" smtClean="0">
                            <a:solidFill>
                              <a:srgbClr val="FF0000"/>
                            </a:solidFill>
                            <a:latin typeface="Cambria Math" panose="02040503050406030204" pitchFamily="18" charset="0"/>
                          </a:rPr>
                          <m:t>+</m:t>
                        </m:r>
                        <m:r>
                          <a:rPr lang="zh-CN" altLang="en-US" sz="2400" smtClean="0">
                            <a:solidFill>
                              <a:srgbClr val="FF0000"/>
                            </a:solidFill>
                            <a:latin typeface="Cambria Math" panose="02040503050406030204" pitchFamily="18" charset="0"/>
                          </a:rPr>
                          <m:t>1</m:t>
                        </m:r>
                      </m:sup>
                    </m:sSubSup>
                  </m:oMath>
                </a14:m>
                <a:r>
                  <a:rPr lang="zh-CN" altLang="en-US" sz="2400" dirty="0">
                    <a:solidFill>
                      <a:prstClr val="black"/>
                    </a:solidFill>
                    <a:latin typeface="黑体" panose="02010609060101010101" pitchFamily="49" charset="-122"/>
                    <a:ea typeface="黑体" panose="02010609060101010101" pitchFamily="49" charset="-122"/>
                  </a:rPr>
                  <a:t>，否则</a:t>
                </a:r>
                <a14:m>
                  <m:oMath xmlns:m="http://schemas.openxmlformats.org/officeDocument/2006/math">
                    <m:sSubSup>
                      <m:sSubSupPr>
                        <m:ctrlPr>
                          <a:rPr lang="zh-CN" altLang="en-US" sz="2400" i="1">
                            <a:solidFill>
                              <a:prstClr val="black"/>
                            </a:solidFill>
                            <a:latin typeface="Cambria Math" panose="02040503050406030204"/>
                          </a:rPr>
                        </m:ctrlPr>
                      </m:sSubSupPr>
                      <m:e>
                        <m:r>
                          <a:rPr lang="zh-CN" altLang="en-US" sz="2400" i="1" smtClean="0">
                            <a:solidFill>
                              <a:prstClr val="black"/>
                            </a:solidFill>
                            <a:latin typeface="Cambria Math" panose="02040503050406030204" pitchFamily="18" charset="0"/>
                          </a:rPr>
                          <m:t>𝑄</m:t>
                        </m:r>
                      </m:e>
                      <m:sub>
                        <m:r>
                          <a:rPr lang="en-US" altLang="zh-CN" sz="2400" smtClean="0">
                            <a:solidFill>
                              <a:prstClr val="black"/>
                            </a:solidFill>
                            <a:latin typeface="Cambria Math" panose="02040503050406030204" pitchFamily="18" charset="0"/>
                          </a:rPr>
                          <m:t>1</m:t>
                        </m:r>
                      </m:sub>
                      <m:sup>
                        <m:r>
                          <a:rPr lang="zh-CN" altLang="en-US" sz="2400" i="1" smtClean="0">
                            <a:solidFill>
                              <a:prstClr val="black"/>
                            </a:solidFill>
                            <a:latin typeface="Cambria Math" panose="02040503050406030204" pitchFamily="18" charset="0"/>
                          </a:rPr>
                          <m:t>𝑛</m:t>
                        </m:r>
                        <m:r>
                          <a:rPr lang="zh-CN" altLang="en-US" sz="2400" smtClean="0">
                            <a:solidFill>
                              <a:prstClr val="black"/>
                            </a:solidFill>
                            <a:latin typeface="Cambria Math" panose="02040503050406030204" pitchFamily="18" charset="0"/>
                          </a:rPr>
                          <m:t>+</m:t>
                        </m:r>
                        <m:r>
                          <a:rPr lang="zh-CN" altLang="en-US" sz="2400" smtClean="0">
                            <a:solidFill>
                              <a:prstClr val="black"/>
                            </a:solidFill>
                            <a:latin typeface="Cambria Math" panose="02040503050406030204" pitchFamily="18" charset="0"/>
                          </a:rPr>
                          <m:t>1</m:t>
                        </m:r>
                      </m:sup>
                    </m:sSubSup>
                  </m:oMath>
                </a14:m>
                <a:r>
                  <a:rPr lang="en-US" altLang="zh-CN" sz="2400" dirty="0">
                    <a:solidFill>
                      <a:prstClr val="black"/>
                    </a:solidFill>
                    <a:latin typeface="黑体" panose="02010609060101010101" pitchFamily="49" charset="-122"/>
                    <a:ea typeface="黑体" panose="02010609060101010101" pitchFamily="49" charset="-122"/>
                  </a:rPr>
                  <a:t>=</a:t>
                </a:r>
                <a:r>
                  <a:rPr lang="zh-CN" altLang="en-US" sz="2400" dirty="0">
                    <a:solidFill>
                      <a:prstClr val="black"/>
                    </a:solidFill>
                    <a:latin typeface="黑体" panose="02010609060101010101" pitchFamily="49" charset="-122"/>
                    <a:ea typeface="黑体" panose="02010609060101010101" pitchFamily="49" charset="-122"/>
                  </a:rPr>
                  <a:t> </a:t>
                </a:r>
                <a14:m>
                  <m:oMath xmlns:m="http://schemas.openxmlformats.org/officeDocument/2006/math">
                    <m:sSubSup>
                      <m:sSubSupPr>
                        <m:ctrlPr>
                          <a:rPr lang="zh-CN" altLang="en-US" sz="2400" i="1">
                            <a:solidFill>
                              <a:prstClr val="black"/>
                            </a:solidFill>
                            <a:latin typeface="Cambria Math" panose="02040503050406030204"/>
                          </a:rPr>
                        </m:ctrlPr>
                      </m:sSubSupPr>
                      <m:e>
                        <m:r>
                          <a:rPr lang="zh-CN" altLang="en-US" sz="2400" i="1" smtClean="0">
                            <a:solidFill>
                              <a:prstClr val="black"/>
                            </a:solidFill>
                            <a:latin typeface="Cambria Math" panose="02040503050406030204" pitchFamily="18" charset="0"/>
                          </a:rPr>
                          <m:t>𝑄</m:t>
                        </m:r>
                      </m:e>
                      <m:sub>
                        <m:r>
                          <a:rPr lang="en-US" altLang="zh-CN" sz="2400" smtClean="0">
                            <a:solidFill>
                              <a:prstClr val="black"/>
                            </a:solidFill>
                            <a:latin typeface="Cambria Math" panose="02040503050406030204" pitchFamily="18" charset="0"/>
                          </a:rPr>
                          <m:t>1</m:t>
                        </m:r>
                      </m:sub>
                      <m:sup>
                        <m:r>
                          <a:rPr lang="zh-CN" altLang="en-US" sz="2400" i="1" smtClean="0">
                            <a:solidFill>
                              <a:prstClr val="black"/>
                            </a:solidFill>
                            <a:latin typeface="Cambria Math" panose="02040503050406030204" pitchFamily="18" charset="0"/>
                          </a:rPr>
                          <m:t>𝑛</m:t>
                        </m:r>
                      </m:sup>
                    </m:sSubSup>
                  </m:oMath>
                </a14:m>
                <a:endParaRPr lang="zh-CN" altLang="en-US" dirty="0">
                  <a:solidFill>
                    <a:prstClr val="black"/>
                  </a:solidFill>
                  <a:latin typeface="黑体" panose="02010609060101010101" pitchFamily="49" charset="-122"/>
                  <a:ea typeface="黑体" panose="02010609060101010101" pitchFamily="49" charset="-122"/>
                </a:endParaRPr>
              </a:p>
            </p:txBody>
          </p:sp>
        </mc:Choice>
        <mc:Fallback>
          <p:sp>
            <p:nvSpPr>
              <p:cNvPr id="10" name="文本框 9"/>
              <p:cNvSpPr txBox="1">
                <a:spLocks noRot="1" noChangeAspect="1" noMove="1" noResize="1" noEditPoints="1" noAdjustHandles="1" noChangeArrowheads="1" noChangeShapeType="1" noTextEdit="1"/>
              </p:cNvSpPr>
              <p:nvPr/>
            </p:nvSpPr>
            <p:spPr>
              <a:xfrm>
                <a:off x="456118" y="4021907"/>
                <a:ext cx="8150470" cy="2493247"/>
              </a:xfrm>
              <a:prstGeom prst="rect">
                <a:avLst/>
              </a:prstGeom>
              <a:blipFill rotWithShape="1">
                <a:blip r:embed="rId5"/>
                <a:stretch>
                  <a:fillRect l="-2" t="-18" r="5" b="-533"/>
                </a:stretch>
              </a:blipFill>
              <a:ln>
                <a:noFill/>
              </a:ln>
            </p:spPr>
            <p:txBody>
              <a:bodyPr/>
              <a:lstStyle/>
              <a:p>
                <a:r>
                  <a:rPr lang="zh-CN" altLang="en-US">
                    <a:noFill/>
                  </a:rPr>
                  <a:t> </a:t>
                </a:r>
              </a:p>
            </p:txBody>
          </p:sp>
        </mc:Fallback>
      </mc:AlternateContent>
      <p:sp>
        <p:nvSpPr>
          <p:cNvPr id="22" name="对话气泡: 矩形 21"/>
          <p:cNvSpPr/>
          <p:nvPr/>
        </p:nvSpPr>
        <p:spPr>
          <a:xfrm>
            <a:off x="1375620" y="2801230"/>
            <a:ext cx="7477860" cy="933291"/>
          </a:xfrm>
          <a:prstGeom prst="wedgeRectCallout">
            <a:avLst>
              <a:gd name="adj1" fmla="val -11833"/>
              <a:gd name="adj2" fmla="val -81438"/>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FF0000"/>
                </a:solidFill>
              </a:rPr>
              <a:t>Q</a:t>
            </a:r>
            <a:r>
              <a:rPr lang="en-US" altLang="zh-CN" sz="2800" b="1" baseline="-25000" dirty="0">
                <a:solidFill>
                  <a:srgbClr val="FF0000"/>
                </a:solidFill>
              </a:rPr>
              <a:t>0</a:t>
            </a:r>
            <a:r>
              <a:rPr lang="zh-CN" altLang="en-US" sz="2800" b="1" dirty="0">
                <a:solidFill>
                  <a:srgbClr val="FF0000"/>
                </a:solidFill>
              </a:rPr>
              <a:t>是</a:t>
            </a:r>
            <a:r>
              <a:rPr lang="en-US" altLang="zh-CN" sz="2800" b="1" dirty="0">
                <a:solidFill>
                  <a:srgbClr val="FF0000"/>
                </a:solidFill>
              </a:rPr>
              <a:t>FF</a:t>
            </a:r>
            <a:r>
              <a:rPr lang="en-US" altLang="zh-CN" sz="2800" b="1" baseline="-25000" dirty="0">
                <a:solidFill>
                  <a:srgbClr val="FF0000"/>
                </a:solidFill>
              </a:rPr>
              <a:t>1</a:t>
            </a:r>
            <a:r>
              <a:rPr lang="zh-CN" altLang="en-US" sz="2800" b="1" dirty="0">
                <a:solidFill>
                  <a:srgbClr val="FF0000"/>
                </a:solidFill>
              </a:rPr>
              <a:t>的时钟信号</a:t>
            </a:r>
            <a:endParaRPr lang="en-US" altLang="zh-CN" sz="2800" b="1" dirty="0">
              <a:solidFill>
                <a:srgbClr val="FF0000"/>
              </a:solidFill>
            </a:endParaRPr>
          </a:p>
          <a:p>
            <a:pPr algn="ctr"/>
            <a:r>
              <a:rPr lang="zh-CN" altLang="en-US" sz="2800" b="1" dirty="0">
                <a:solidFill>
                  <a:srgbClr val="FF0000"/>
                </a:solidFill>
              </a:rPr>
              <a:t>要根据</a:t>
            </a:r>
            <a:r>
              <a:rPr lang="en-US" altLang="zh-CN" sz="2800" b="1" dirty="0">
                <a:solidFill>
                  <a:srgbClr val="FF0000"/>
                </a:solidFill>
              </a:rPr>
              <a:t>Q</a:t>
            </a:r>
            <a:r>
              <a:rPr lang="en-US" altLang="zh-CN" sz="2800" b="1" baseline="-25000" dirty="0">
                <a:solidFill>
                  <a:srgbClr val="FF0000"/>
                </a:solidFill>
              </a:rPr>
              <a:t>0</a:t>
            </a:r>
            <a:r>
              <a:rPr lang="zh-CN" altLang="en-US" sz="2800" b="1" dirty="0">
                <a:solidFill>
                  <a:srgbClr val="FF0000"/>
                </a:solidFill>
              </a:rPr>
              <a:t>的变化情况，确定是否更新</a:t>
            </a:r>
            <a:r>
              <a:rPr lang="en-US" altLang="zh-CN" sz="2800" b="1" dirty="0">
                <a:solidFill>
                  <a:srgbClr val="FF0000"/>
                </a:solidFill>
              </a:rPr>
              <a:t>Q</a:t>
            </a:r>
            <a:r>
              <a:rPr lang="en-US" altLang="zh-CN" sz="2800" b="1" baseline="-25000" dirty="0">
                <a:solidFill>
                  <a:srgbClr val="FF0000"/>
                </a:solidFill>
              </a:rPr>
              <a:t>1</a:t>
            </a:r>
            <a:r>
              <a:rPr lang="zh-CN" altLang="en-US" sz="2800" b="1" dirty="0">
                <a:solidFill>
                  <a:srgbClr val="FF0000"/>
                </a:solidFill>
              </a:rPr>
              <a:t>的次态</a:t>
            </a:r>
            <a:endParaRPr lang="zh-CN" altLang="en-US" sz="2800" b="1" dirty="0">
              <a:solidFill>
                <a:srgbClr val="FF0000"/>
              </a:solidFill>
            </a:endParaRPr>
          </a:p>
        </p:txBody>
      </p:sp>
      <p:grpSp>
        <p:nvGrpSpPr>
          <p:cNvPr id="13" name="组合 12"/>
          <p:cNvGrpSpPr/>
          <p:nvPr/>
        </p:nvGrpSpPr>
        <p:grpSpPr>
          <a:xfrm>
            <a:off x="0" y="1234713"/>
            <a:ext cx="3403435" cy="1454797"/>
            <a:chOff x="5666760" y="5159509"/>
            <a:chExt cx="3606273" cy="1454797"/>
          </a:xfrm>
        </p:grpSpPr>
        <p:graphicFrame>
          <p:nvGraphicFramePr>
            <p:cNvPr id="14" name="Object 4"/>
            <p:cNvGraphicFramePr>
              <a:graphicFrameLocks noChangeAspect="1"/>
            </p:cNvGraphicFramePr>
            <p:nvPr/>
          </p:nvGraphicFramePr>
          <p:xfrm>
            <a:off x="5666760" y="5237287"/>
            <a:ext cx="3308183" cy="1377019"/>
          </p:xfrm>
          <a:graphic>
            <a:graphicData uri="http://schemas.openxmlformats.org/presentationml/2006/ole">
              <mc:AlternateContent xmlns:mc="http://schemas.openxmlformats.org/markup-compatibility/2006">
                <mc:Choice xmlns:v="urn:schemas-microsoft-com:vml" Requires="v">
                  <p:oleObj spid="_x0000_s18453" name="Equation" r:id="rId6" imgW="32308800" imgH="13411200" progId="Equation.DSMT4">
                    <p:embed/>
                  </p:oleObj>
                </mc:Choice>
                <mc:Fallback>
                  <p:oleObj name="Equation" r:id="rId6" imgW="32308800" imgH="13411200" progId="Equation.DSMT4">
                    <p:embed/>
                    <p:pic>
                      <p:nvPicPr>
                        <p:cNvPr id="0" name="Object 4"/>
                        <p:cNvPicPr>
                          <a:picLocks noChangeAspect="1" noChangeArrowheads="1"/>
                        </p:cNvPicPr>
                        <p:nvPr/>
                      </p:nvPicPr>
                      <p:blipFill>
                        <a:blip r:embed="rId7"/>
                        <a:srcRect/>
                        <a:stretch>
                          <a:fillRect/>
                        </a:stretch>
                      </p:blipFill>
                      <p:spPr bwMode="auto">
                        <a:xfrm>
                          <a:off x="5666760" y="5237287"/>
                          <a:ext cx="3308183" cy="1377019"/>
                        </a:xfrm>
                        <a:prstGeom prst="rect">
                          <a:avLst/>
                        </a:prstGeom>
                        <a:noFill/>
                        <a:ln>
                          <a:noFill/>
                        </a:ln>
                      </p:spPr>
                    </p:pic>
                  </p:oleObj>
                </mc:Fallback>
              </mc:AlternateContent>
            </a:graphicData>
          </a:graphic>
        </p:graphicFrame>
        <p:pic>
          <p:nvPicPr>
            <p:cNvPr id="15" name="图片 14"/>
            <p:cNvPicPr>
              <a:picLocks noChangeAspect="1"/>
            </p:cNvPicPr>
            <p:nvPr/>
          </p:nvPicPr>
          <p:blipFill>
            <a:blip r:embed="rId8"/>
            <a:stretch>
              <a:fillRect/>
            </a:stretch>
          </p:blipFill>
          <p:spPr>
            <a:xfrm>
              <a:off x="8069539" y="5159509"/>
              <a:ext cx="1203494" cy="711789"/>
            </a:xfrm>
            <a:prstGeom prst="rect">
              <a:avLst/>
            </a:prstGeom>
          </p:spPr>
        </p:pic>
        <p:pic>
          <p:nvPicPr>
            <p:cNvPr id="17" name="图片 16"/>
            <p:cNvPicPr>
              <a:picLocks noChangeAspect="1"/>
            </p:cNvPicPr>
            <p:nvPr/>
          </p:nvPicPr>
          <p:blipFill>
            <a:blip r:embed="rId9"/>
            <a:stretch>
              <a:fillRect/>
            </a:stretch>
          </p:blipFill>
          <p:spPr>
            <a:xfrm>
              <a:off x="8120507" y="6111786"/>
              <a:ext cx="1152525" cy="42862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5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500"/>
                                        <p:tgtEl>
                                          <p:spTgt spid="1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animEffect transition="in" filter="fade">
                                      <p:cBhvr>
                                        <p:cTn id="2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aphicFrame>
        <p:nvGraphicFramePr>
          <p:cNvPr id="16" name="Object 4"/>
          <p:cNvGraphicFramePr>
            <a:graphicFrameLocks noChangeAspect="1"/>
          </p:cNvGraphicFramePr>
          <p:nvPr/>
        </p:nvGraphicFramePr>
        <p:xfrm>
          <a:off x="5793353" y="1500624"/>
          <a:ext cx="3079750" cy="563563"/>
        </p:xfrm>
        <a:graphic>
          <a:graphicData uri="http://schemas.openxmlformats.org/presentationml/2006/ole">
            <mc:AlternateContent xmlns:mc="http://schemas.openxmlformats.org/markup-compatibility/2006">
              <mc:Choice xmlns:v="urn:schemas-microsoft-com:vml" Requires="v">
                <p:oleObj spid="_x0000_s19476" name="Equation" r:id="rId2" imgW="34747200" imgH="6400800" progId="Equation.DSMT4">
                  <p:embed/>
                </p:oleObj>
              </mc:Choice>
              <mc:Fallback>
                <p:oleObj name="Equation" r:id="rId2" imgW="34747200" imgH="6400800" progId="Equation.DSMT4">
                  <p:embed/>
                  <p:pic>
                    <p:nvPicPr>
                      <p:cNvPr id="0" name="图片 19475"/>
                      <p:cNvPicPr>
                        <a:picLocks noChangeAspect="1" noChangeArrowheads="1"/>
                      </p:cNvPicPr>
                      <p:nvPr/>
                    </p:nvPicPr>
                    <p:blipFill>
                      <a:blip r:embed="rId3"/>
                      <a:srcRect/>
                      <a:stretch>
                        <a:fillRect/>
                      </a:stretch>
                    </p:blipFill>
                    <p:spPr bwMode="auto">
                      <a:xfrm>
                        <a:off x="5793353" y="1500624"/>
                        <a:ext cx="30797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26" name="矩形 25"/>
              <p:cNvSpPr/>
              <p:nvPr/>
            </p:nvSpPr>
            <p:spPr>
              <a:xfrm>
                <a:off x="3791375" y="1332070"/>
                <a:ext cx="1784350" cy="916148"/>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400" i="1">
                              <a:solidFill>
                                <a:prstClr val="black"/>
                              </a:solidFill>
                              <a:latin typeface="Cambria Math" panose="02040503050406030204"/>
                            </a:rPr>
                          </m:ctrlPr>
                        </m:dPr>
                        <m:e>
                          <m:m>
                            <m:mPr>
                              <m:mcs>
                                <m:mc>
                                  <m:mcPr>
                                    <m:count m:val="1"/>
                                    <m:mcJc m:val="center"/>
                                  </m:mcPr>
                                </m:mc>
                              </m:mcs>
                              <m:plcHide m:val="on"/>
                              <m:ctrlPr>
                                <a:rPr lang="zh-CN" altLang="en-US" sz="2400" i="1">
                                  <a:solidFill>
                                    <a:prstClr val="black"/>
                                  </a:solidFill>
                                  <a:latin typeface="Cambria Math" panose="02040503050406030204"/>
                                </a:rPr>
                              </m:ctrlPr>
                            </m:mPr>
                            <m:mr>
                              <m:e>
                                <m:r>
                                  <a:rPr lang="zh-CN" altLang="en-US" sz="2400" i="1">
                                    <a:solidFill>
                                      <a:prstClr val="black"/>
                                    </a:solidFill>
                                    <a:latin typeface="Cambria Math" panose="02040503050406030204" pitchFamily="18" charset="0"/>
                                  </a:rPr>
                                  <m:t>𝐶</m:t>
                                </m:r>
                                <m:sSub>
                                  <m:sSubPr>
                                    <m:ctrlPr>
                                      <a:rPr lang="zh-CN" altLang="en-US" sz="2400" i="1">
                                        <a:solidFill>
                                          <a:prstClr val="black"/>
                                        </a:solidFill>
                                        <a:latin typeface="Cambria Math" panose="02040503050406030204"/>
                                      </a:rPr>
                                    </m:ctrlPr>
                                  </m:sSubPr>
                                  <m:e>
                                    <m:r>
                                      <a:rPr lang="zh-CN" altLang="en-US" sz="2400" i="1">
                                        <a:solidFill>
                                          <a:prstClr val="black"/>
                                        </a:solidFill>
                                        <a:latin typeface="Cambria Math" panose="02040503050406030204" pitchFamily="18" charset="0"/>
                                      </a:rPr>
                                      <m:t>𝑃</m:t>
                                    </m:r>
                                  </m:e>
                                  <m:sub>
                                    <m:r>
                                      <a:rPr lang="zh-CN" altLang="en-US" sz="2400">
                                        <a:solidFill>
                                          <a:prstClr val="black"/>
                                        </a:solidFill>
                                        <a:latin typeface="Cambria Math" panose="02040503050406030204" pitchFamily="18" charset="0"/>
                                      </a:rPr>
                                      <m:t>0</m:t>
                                    </m:r>
                                  </m:sub>
                                </m:sSub>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𝐶𝑃</m:t>
                                </m:r>
                                <m:r>
                                  <a:rPr lang="zh-CN" altLang="en-US" sz="2400">
                                    <a:solidFill>
                                      <a:prstClr val="black"/>
                                    </a:solidFill>
                                    <a:latin typeface="Cambria Math" panose="02040503050406030204" pitchFamily="18" charset="0"/>
                                  </a:rPr>
                                  <m:t>↑</m:t>
                                </m:r>
                              </m:e>
                            </m:mr>
                            <m:mr>
                              <m:e>
                                <m:r>
                                  <a:rPr lang="zh-CN" altLang="en-US" sz="2400" i="1">
                                    <a:solidFill>
                                      <a:prstClr val="black"/>
                                    </a:solidFill>
                                    <a:latin typeface="Cambria Math" panose="02040503050406030204" pitchFamily="18" charset="0"/>
                                  </a:rPr>
                                  <m:t>𝐶</m:t>
                                </m:r>
                                <m:sSub>
                                  <m:sSubPr>
                                    <m:ctrlPr>
                                      <a:rPr lang="zh-CN" altLang="en-US" sz="2400" i="1">
                                        <a:solidFill>
                                          <a:prstClr val="black"/>
                                        </a:solidFill>
                                        <a:latin typeface="Cambria Math" panose="02040503050406030204"/>
                                      </a:rPr>
                                    </m:ctrlPr>
                                  </m:sSubPr>
                                  <m:e>
                                    <m:r>
                                      <a:rPr lang="zh-CN" altLang="en-US" sz="2400" i="1">
                                        <a:solidFill>
                                          <a:prstClr val="black"/>
                                        </a:solidFill>
                                        <a:latin typeface="Cambria Math" panose="02040503050406030204" pitchFamily="18" charset="0"/>
                                      </a:rPr>
                                      <m:t>𝑃</m:t>
                                    </m:r>
                                  </m:e>
                                  <m:sub>
                                    <m:r>
                                      <a:rPr lang="zh-CN" altLang="en-US" sz="2400">
                                        <a:solidFill>
                                          <a:prstClr val="black"/>
                                        </a:solidFill>
                                        <a:latin typeface="Cambria Math" panose="02040503050406030204" pitchFamily="18" charset="0"/>
                                      </a:rPr>
                                      <m:t>1</m:t>
                                    </m:r>
                                  </m:sub>
                                </m:sSub>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a:rPr>
                                    </m:ctrlPr>
                                  </m:sSubPr>
                                  <m:e>
                                    <m:r>
                                      <a:rPr lang="zh-CN" altLang="en-US" sz="2400" i="1">
                                        <a:solidFill>
                                          <a:prstClr val="black"/>
                                        </a:solidFill>
                                        <a:latin typeface="Cambria Math" panose="02040503050406030204" pitchFamily="18" charset="0"/>
                                      </a:rPr>
                                      <m:t>𝑄</m:t>
                                    </m:r>
                                  </m:e>
                                  <m:sub>
                                    <m:r>
                                      <a:rPr lang="zh-CN" altLang="en-US" sz="2400">
                                        <a:solidFill>
                                          <a:prstClr val="black"/>
                                        </a:solidFill>
                                        <a:latin typeface="Cambria Math" panose="02040503050406030204" pitchFamily="18" charset="0"/>
                                      </a:rPr>
                                      <m:t>0</m:t>
                                    </m:r>
                                  </m:sub>
                                </m:sSub>
                                <m:r>
                                  <a:rPr lang="zh-CN" altLang="en-US" sz="2400">
                                    <a:solidFill>
                                      <a:prstClr val="black"/>
                                    </a:solidFill>
                                    <a:latin typeface="Cambria Math" panose="02040503050406030204" pitchFamily="18" charset="0"/>
                                  </a:rPr>
                                  <m:t>↑</m:t>
                                </m:r>
                              </m:e>
                            </m:mr>
                          </m:m>
                        </m:e>
                      </m:d>
                    </m:oMath>
                  </m:oMathPara>
                </a14:m>
                <a:endParaRPr lang="zh-CN" altLang="en-US" sz="2400" dirty="0">
                  <a:solidFill>
                    <a:prstClr val="black"/>
                  </a:solidFill>
                </a:endParaRPr>
              </a:p>
            </p:txBody>
          </p:sp>
        </mc:Choice>
        <mc:Fallback>
          <p:sp>
            <p:nvSpPr>
              <p:cNvPr id="26" name="矩形 25"/>
              <p:cNvSpPr>
                <a:spLocks noRot="1" noChangeAspect="1" noMove="1" noResize="1" noEditPoints="1" noAdjustHandles="1" noChangeArrowheads="1" noChangeShapeType="1" noTextEdit="1"/>
              </p:cNvSpPr>
              <p:nvPr/>
            </p:nvSpPr>
            <p:spPr>
              <a:xfrm>
                <a:off x="3791375" y="1332070"/>
                <a:ext cx="1784350" cy="916148"/>
              </a:xfrm>
              <a:prstGeom prst="rect">
                <a:avLst/>
              </a:prstGeom>
              <a:blipFill rotWithShape="1">
                <a:blip r:embed="rId4"/>
                <a:stretch>
                  <a:fillRect l="-24" t="-52" r="24" b="35"/>
                </a:stretch>
              </a:blipFill>
            </p:spPr>
            <p:txBody>
              <a:bodyPr/>
              <a:lstStyle/>
              <a:p>
                <a:r>
                  <a:rPr lang="zh-CN" altLang="en-US">
                    <a:noFill/>
                  </a:rPr>
                  <a:t> </a:t>
                </a:r>
              </a:p>
            </p:txBody>
          </p:sp>
        </mc:Fallback>
      </mc:AlternateContent>
      <p:sp>
        <p:nvSpPr>
          <p:cNvPr id="20" name="文本框 19"/>
          <p:cNvSpPr txBox="1"/>
          <p:nvPr/>
        </p:nvSpPr>
        <p:spPr>
          <a:xfrm>
            <a:off x="221190" y="610839"/>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根据方程组列出状态转移真值表</a:t>
            </a:r>
            <a:endParaRPr lang="zh-CN" altLang="en-US" sz="2800" b="1" dirty="0">
              <a:solidFill>
                <a:srgbClr val="0000FF"/>
              </a:solidFill>
              <a:latin typeface="黑体" panose="02010609060101010101" pitchFamily="49" charset="-122"/>
              <a:ea typeface="黑体" panose="02010609060101010101" pitchFamily="49" charset="-122"/>
            </a:endParaRPr>
          </a:p>
        </p:txBody>
      </p:sp>
      <p:cxnSp>
        <p:nvCxnSpPr>
          <p:cNvPr id="4" name="直接连接符 3"/>
          <p:cNvCxnSpPr/>
          <p:nvPr/>
        </p:nvCxnSpPr>
        <p:spPr>
          <a:xfrm>
            <a:off x="3616800" y="1024517"/>
            <a:ext cx="0" cy="165469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718316" y="987596"/>
            <a:ext cx="0" cy="1728537"/>
          </a:xfrm>
          <a:prstGeom prst="line">
            <a:avLst/>
          </a:prstGeom>
          <a:ln w="22225"/>
        </p:spPr>
        <p:style>
          <a:lnRef idx="1">
            <a:schemeClr val="accent1"/>
          </a:lnRef>
          <a:fillRef idx="0">
            <a:schemeClr val="accent1"/>
          </a:fillRef>
          <a:effectRef idx="0">
            <a:schemeClr val="accent1"/>
          </a:effectRef>
          <a:fontRef idx="minor">
            <a:schemeClr val="tx1"/>
          </a:fontRef>
        </p:style>
      </p:cxnSp>
      <p:pic>
        <p:nvPicPr>
          <p:cNvPr id="31" name="Picture 5" descr="B5-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719" y="3309255"/>
            <a:ext cx="8976562" cy="349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弧形 36"/>
          <p:cNvSpPr/>
          <p:nvPr/>
        </p:nvSpPr>
        <p:spPr>
          <a:xfrm>
            <a:off x="1772646" y="4418928"/>
            <a:ext cx="2193758" cy="513348"/>
          </a:xfrm>
          <a:prstGeom prst="arc">
            <a:avLst>
              <a:gd name="adj1" fmla="val 10841315"/>
              <a:gd name="adj2" fmla="val 2"/>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39" name="箭头: 右 38"/>
          <p:cNvSpPr/>
          <p:nvPr/>
        </p:nvSpPr>
        <p:spPr>
          <a:xfrm flipV="1">
            <a:off x="4174958" y="4593359"/>
            <a:ext cx="1764631" cy="272546"/>
          </a:xfrm>
          <a:prstGeom prst="rightArrow">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对话气泡: 矩形 39"/>
          <p:cNvSpPr/>
          <p:nvPr/>
        </p:nvSpPr>
        <p:spPr>
          <a:xfrm>
            <a:off x="3673637" y="2472831"/>
            <a:ext cx="2193757" cy="854563"/>
          </a:xfrm>
          <a:prstGeom prst="wedgeRectCallout">
            <a:avLst>
              <a:gd name="adj1" fmla="val 58752"/>
              <a:gd name="adj2" fmla="val 217459"/>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400" b="1" dirty="0">
                <a:solidFill>
                  <a:srgbClr val="C00000"/>
                </a:solidFill>
                <a:latin typeface="黑体" panose="02010609060101010101" pitchFamily="49" charset="-122"/>
                <a:ea typeface="黑体" panose="02010609060101010101" pitchFamily="49" charset="-122"/>
              </a:rPr>
              <a:t>Q</a:t>
            </a:r>
            <a:r>
              <a:rPr lang="en-US" altLang="zh-CN" sz="2400" b="1" baseline="-25000" dirty="0">
                <a:solidFill>
                  <a:srgbClr val="C00000"/>
                </a:solidFill>
                <a:latin typeface="黑体" panose="02010609060101010101" pitchFamily="49" charset="-122"/>
                <a:ea typeface="黑体" panose="02010609060101010101" pitchFamily="49" charset="-122"/>
              </a:rPr>
              <a:t>0</a:t>
            </a:r>
            <a:r>
              <a:rPr lang="zh-CN" altLang="en-US" sz="2400" b="1" dirty="0">
                <a:solidFill>
                  <a:srgbClr val="C00000"/>
                </a:solidFill>
                <a:latin typeface="黑体" panose="02010609060101010101" pitchFamily="49" charset="-122"/>
                <a:ea typeface="黑体" panose="02010609060101010101" pitchFamily="49" charset="-122"/>
              </a:rPr>
              <a:t>由</a:t>
            </a:r>
            <a:r>
              <a:rPr lang="en-US" altLang="zh-CN" sz="2400" b="1" dirty="0">
                <a:solidFill>
                  <a:srgbClr val="C00000"/>
                </a:solidFill>
                <a:latin typeface="黑体" panose="02010609060101010101" pitchFamily="49" charset="-122"/>
                <a:ea typeface="黑体" panose="02010609060101010101" pitchFamily="49" charset="-122"/>
              </a:rPr>
              <a:t>0</a:t>
            </a:r>
            <a:r>
              <a:rPr lang="zh-CN" altLang="en-US" sz="2400" b="1" dirty="0">
                <a:solidFill>
                  <a:srgbClr val="C00000"/>
                </a:solidFill>
                <a:latin typeface="黑体" panose="02010609060101010101" pitchFamily="49" charset="-122"/>
                <a:ea typeface="黑体" panose="02010609060101010101" pitchFamily="49" charset="-122"/>
              </a:rPr>
              <a:t>变为</a:t>
            </a:r>
            <a:r>
              <a:rPr lang="en-US" altLang="zh-CN" sz="2400" b="1" dirty="0">
                <a:solidFill>
                  <a:srgbClr val="C00000"/>
                </a:solidFill>
                <a:latin typeface="黑体" panose="02010609060101010101" pitchFamily="49" charset="-122"/>
                <a:ea typeface="黑体" panose="02010609060101010101" pitchFamily="49" charset="-122"/>
              </a:rPr>
              <a:t>1</a:t>
            </a:r>
            <a:r>
              <a:rPr lang="zh-CN" altLang="en-US" sz="2400" b="1" dirty="0">
                <a:solidFill>
                  <a:srgbClr val="C00000"/>
                </a:solidFill>
                <a:latin typeface="黑体" panose="02010609060101010101" pitchFamily="49" charset="-122"/>
                <a:ea typeface="黑体" panose="02010609060101010101" pitchFamily="49" charset="-122"/>
              </a:rPr>
              <a:t>，就是</a:t>
            </a:r>
            <a:r>
              <a:rPr lang="en-US" altLang="zh-CN" sz="2400" b="1" dirty="0">
                <a:solidFill>
                  <a:srgbClr val="C00000"/>
                </a:solidFill>
                <a:latin typeface="黑体" panose="02010609060101010101" pitchFamily="49" charset="-122"/>
                <a:ea typeface="黑体" panose="02010609060101010101" pitchFamily="49" charset="-122"/>
              </a:rPr>
              <a:t>CP</a:t>
            </a:r>
            <a:r>
              <a:rPr lang="en-US" altLang="zh-CN" sz="2400" b="1" baseline="-25000" dirty="0">
                <a:solidFill>
                  <a:srgbClr val="C00000"/>
                </a:solidFill>
                <a:latin typeface="黑体" panose="02010609060101010101" pitchFamily="49" charset="-122"/>
                <a:ea typeface="黑体" panose="02010609060101010101" pitchFamily="49" charset="-122"/>
              </a:rPr>
              <a:t>1</a:t>
            </a:r>
            <a:r>
              <a:rPr lang="zh-CN" altLang="en-US" sz="2400" b="1" dirty="0">
                <a:solidFill>
                  <a:srgbClr val="C00000"/>
                </a:solidFill>
                <a:latin typeface="黑体" panose="02010609060101010101" pitchFamily="49" charset="-122"/>
                <a:ea typeface="黑体" panose="02010609060101010101" pitchFamily="49" charset="-122"/>
              </a:rPr>
              <a:t>上升沿</a:t>
            </a:r>
            <a:endParaRPr lang="zh-CN" altLang="en-US" sz="2400" b="1" dirty="0">
              <a:solidFill>
                <a:srgbClr val="C00000"/>
              </a:solidFill>
              <a:latin typeface="黑体" panose="02010609060101010101" pitchFamily="49" charset="-122"/>
              <a:ea typeface="黑体" panose="02010609060101010101" pitchFamily="49" charset="-122"/>
            </a:endParaRPr>
          </a:p>
        </p:txBody>
      </p:sp>
      <p:cxnSp>
        <p:nvCxnSpPr>
          <p:cNvPr id="42" name="直接箭头连接符 41"/>
          <p:cNvCxnSpPr/>
          <p:nvPr/>
        </p:nvCxnSpPr>
        <p:spPr>
          <a:xfrm flipV="1">
            <a:off x="6120062" y="4675602"/>
            <a:ext cx="0" cy="305472"/>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6898109" y="4531895"/>
            <a:ext cx="1664341" cy="513347"/>
          </a:xfrm>
          <a:prstGeom prst="ellipse">
            <a:avLst/>
          </a:prstGeom>
          <a:noFill/>
          <a:ln w="476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对话气泡: 矩形 46"/>
          <p:cNvSpPr/>
          <p:nvPr/>
        </p:nvSpPr>
        <p:spPr>
          <a:xfrm>
            <a:off x="6619092" y="2563307"/>
            <a:ext cx="2287807" cy="745948"/>
          </a:xfrm>
          <a:prstGeom prst="wedgeRectCallout">
            <a:avLst>
              <a:gd name="adj1" fmla="val 5714"/>
              <a:gd name="adj2" fmla="val 215728"/>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400" b="1" dirty="0">
                <a:solidFill>
                  <a:srgbClr val="C00000"/>
                </a:solidFill>
              </a:rPr>
              <a:t>CP</a:t>
            </a:r>
            <a:r>
              <a:rPr lang="en-US" altLang="zh-CN" sz="2400" b="1" baseline="-25000" dirty="0">
                <a:solidFill>
                  <a:srgbClr val="C00000"/>
                </a:solidFill>
              </a:rPr>
              <a:t>0</a:t>
            </a:r>
            <a:r>
              <a:rPr lang="zh-CN" altLang="en-US" sz="2400" b="1" dirty="0">
                <a:solidFill>
                  <a:srgbClr val="C00000"/>
                </a:solidFill>
              </a:rPr>
              <a:t>的上升沿就是</a:t>
            </a:r>
            <a:r>
              <a:rPr lang="en-US" altLang="zh-CN" sz="2400" b="1" dirty="0">
                <a:solidFill>
                  <a:srgbClr val="C00000"/>
                </a:solidFill>
              </a:rPr>
              <a:t>CP</a:t>
            </a:r>
            <a:r>
              <a:rPr lang="zh-CN" altLang="en-US" sz="2400" b="1" dirty="0">
                <a:solidFill>
                  <a:srgbClr val="C00000"/>
                </a:solidFill>
              </a:rPr>
              <a:t>的上升沿</a:t>
            </a:r>
            <a:endParaRPr lang="zh-CN" altLang="en-US" sz="2400" b="1" dirty="0">
              <a:solidFill>
                <a:srgbClr val="C00000"/>
              </a:solidFill>
            </a:endParaRPr>
          </a:p>
        </p:txBody>
      </p:sp>
      <p:sp>
        <p:nvSpPr>
          <p:cNvPr id="49" name="弧形 48"/>
          <p:cNvSpPr/>
          <p:nvPr/>
        </p:nvSpPr>
        <p:spPr>
          <a:xfrm flipV="1">
            <a:off x="717583" y="4743727"/>
            <a:ext cx="2141575" cy="314865"/>
          </a:xfrm>
          <a:prstGeom prst="arc">
            <a:avLst>
              <a:gd name="adj1" fmla="val 10851748"/>
              <a:gd name="adj2" fmla="val 0"/>
            </a:avLst>
          </a:prstGeom>
          <a:ln w="38100">
            <a:solidFill>
              <a:srgbClr val="0000FF"/>
            </a:solidFill>
            <a:headEnd type="none"/>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50" name="文本框 49"/>
          <p:cNvSpPr txBox="1"/>
          <p:nvPr/>
        </p:nvSpPr>
        <p:spPr>
          <a:xfrm>
            <a:off x="1104896" y="4857750"/>
            <a:ext cx="1155027" cy="461665"/>
          </a:xfrm>
          <a:prstGeom prst="rect">
            <a:avLst/>
          </a:prstGeom>
          <a:noFill/>
        </p:spPr>
        <p:txBody>
          <a:bodyPr wrap="square" rtlCol="0">
            <a:spAutoFit/>
          </a:bodyPr>
          <a:lstStyle/>
          <a:p>
            <a:r>
              <a:rPr lang="zh-CN" altLang="en-US" sz="2400" b="1" dirty="0">
                <a:solidFill>
                  <a:srgbClr val="FF33CC"/>
                </a:solidFill>
                <a:latin typeface="黑体" panose="02010609060101010101" pitchFamily="49" charset="-122"/>
                <a:ea typeface="黑体" panose="02010609060101010101" pitchFamily="49" charset="-122"/>
              </a:rPr>
              <a:t>更新</a:t>
            </a:r>
            <a:endParaRPr lang="zh-CN" altLang="en-US" sz="2400" b="1" dirty="0">
              <a:solidFill>
                <a:srgbClr val="FF33CC"/>
              </a:solidFill>
              <a:latin typeface="黑体" panose="02010609060101010101" pitchFamily="49" charset="-122"/>
              <a:ea typeface="黑体" panose="02010609060101010101" pitchFamily="49" charset="-122"/>
            </a:endParaRPr>
          </a:p>
        </p:txBody>
      </p:sp>
      <p:grpSp>
        <p:nvGrpSpPr>
          <p:cNvPr id="21" name="组合 20"/>
          <p:cNvGrpSpPr/>
          <p:nvPr/>
        </p:nvGrpSpPr>
        <p:grpSpPr>
          <a:xfrm>
            <a:off x="0" y="1234713"/>
            <a:ext cx="3403435" cy="1454797"/>
            <a:chOff x="5666760" y="5159509"/>
            <a:chExt cx="3606273" cy="1454797"/>
          </a:xfrm>
        </p:grpSpPr>
        <p:graphicFrame>
          <p:nvGraphicFramePr>
            <p:cNvPr id="22" name="Object 4"/>
            <p:cNvGraphicFramePr>
              <a:graphicFrameLocks noChangeAspect="1"/>
            </p:cNvGraphicFramePr>
            <p:nvPr/>
          </p:nvGraphicFramePr>
          <p:xfrm>
            <a:off x="5666760" y="5237287"/>
            <a:ext cx="3308183" cy="1377019"/>
          </p:xfrm>
          <a:graphic>
            <a:graphicData uri="http://schemas.openxmlformats.org/presentationml/2006/ole">
              <mc:AlternateContent xmlns:mc="http://schemas.openxmlformats.org/markup-compatibility/2006">
                <mc:Choice xmlns:v="urn:schemas-microsoft-com:vml" Requires="v">
                  <p:oleObj spid="_x0000_s19477" name="Equation" r:id="rId6" imgW="32308800" imgH="13411200" progId="Equation.DSMT4">
                    <p:embed/>
                  </p:oleObj>
                </mc:Choice>
                <mc:Fallback>
                  <p:oleObj name="Equation" r:id="rId6" imgW="32308800" imgH="13411200" progId="Equation.DSMT4">
                    <p:embed/>
                    <p:pic>
                      <p:nvPicPr>
                        <p:cNvPr id="0" name="Object 4"/>
                        <p:cNvPicPr>
                          <a:picLocks noChangeAspect="1" noChangeArrowheads="1"/>
                        </p:cNvPicPr>
                        <p:nvPr/>
                      </p:nvPicPr>
                      <p:blipFill>
                        <a:blip r:embed="rId7"/>
                        <a:srcRect/>
                        <a:stretch>
                          <a:fillRect/>
                        </a:stretch>
                      </p:blipFill>
                      <p:spPr bwMode="auto">
                        <a:xfrm>
                          <a:off x="5666760" y="5237287"/>
                          <a:ext cx="3308183" cy="1377019"/>
                        </a:xfrm>
                        <a:prstGeom prst="rect">
                          <a:avLst/>
                        </a:prstGeom>
                        <a:noFill/>
                        <a:ln>
                          <a:noFill/>
                        </a:ln>
                      </p:spPr>
                    </p:pic>
                  </p:oleObj>
                </mc:Fallback>
              </mc:AlternateContent>
            </a:graphicData>
          </a:graphic>
        </p:graphicFrame>
        <p:pic>
          <p:nvPicPr>
            <p:cNvPr id="23" name="图片 22"/>
            <p:cNvPicPr>
              <a:picLocks noChangeAspect="1"/>
            </p:cNvPicPr>
            <p:nvPr/>
          </p:nvPicPr>
          <p:blipFill>
            <a:blip r:embed="rId8"/>
            <a:stretch>
              <a:fillRect/>
            </a:stretch>
          </p:blipFill>
          <p:spPr>
            <a:xfrm>
              <a:off x="8069539" y="5159509"/>
              <a:ext cx="1203494" cy="711789"/>
            </a:xfrm>
            <a:prstGeom prst="rect">
              <a:avLst/>
            </a:prstGeom>
          </p:spPr>
        </p:pic>
        <p:pic>
          <p:nvPicPr>
            <p:cNvPr id="25" name="图片 24"/>
            <p:cNvPicPr>
              <a:picLocks noChangeAspect="1"/>
            </p:cNvPicPr>
            <p:nvPr/>
          </p:nvPicPr>
          <p:blipFill>
            <a:blip r:embed="rId9"/>
            <a:stretch>
              <a:fillRect/>
            </a:stretch>
          </p:blipFill>
          <p:spPr>
            <a:xfrm>
              <a:off x="8120507" y="6111786"/>
              <a:ext cx="1152525" cy="42862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circle(in)">
                                      <p:cBhvr>
                                        <p:cTn id="12" dur="20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500"/>
                                        <p:tgtEl>
                                          <p:spTgt spid="4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wipe(left)">
                                      <p:cBhvr>
                                        <p:cTn id="27" dur="500"/>
                                        <p:tgtEl>
                                          <p:spTgt spid="3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wipe(down)">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wipe(left)">
                                      <p:cBhvr>
                                        <p:cTn id="42" dur="500"/>
                                        <p:tgtEl>
                                          <p:spTgt spid="4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40" grpId="0" animBg="1"/>
      <p:bldP spid="46" grpId="0" animBg="1"/>
      <p:bldP spid="47" grpId="0" animBg="1"/>
      <p:bldP spid="49" grpId="0" animBg="1"/>
      <p:bldP spid="50"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graphicFrame>
        <p:nvGraphicFramePr>
          <p:cNvPr id="16" name="Object 4"/>
          <p:cNvGraphicFramePr>
            <a:graphicFrameLocks noChangeAspect="1"/>
          </p:cNvGraphicFramePr>
          <p:nvPr/>
        </p:nvGraphicFramePr>
        <p:xfrm>
          <a:off x="5793353" y="1500624"/>
          <a:ext cx="3079750" cy="563563"/>
        </p:xfrm>
        <a:graphic>
          <a:graphicData uri="http://schemas.openxmlformats.org/presentationml/2006/ole">
            <mc:AlternateContent xmlns:mc="http://schemas.openxmlformats.org/markup-compatibility/2006">
              <mc:Choice xmlns:v="urn:schemas-microsoft-com:vml" Requires="v">
                <p:oleObj spid="_x0000_s20500" name="Equation" r:id="rId2" imgW="34747200" imgH="6400800" progId="Equation.DSMT4">
                  <p:embed/>
                </p:oleObj>
              </mc:Choice>
              <mc:Fallback>
                <p:oleObj name="Equation" r:id="rId2" imgW="34747200" imgH="6400800" progId="Equation.DSMT4">
                  <p:embed/>
                  <p:pic>
                    <p:nvPicPr>
                      <p:cNvPr id="0" name="图片 20499"/>
                      <p:cNvPicPr>
                        <a:picLocks noChangeAspect="1" noChangeArrowheads="1"/>
                      </p:cNvPicPr>
                      <p:nvPr/>
                    </p:nvPicPr>
                    <p:blipFill>
                      <a:blip r:embed="rId3"/>
                      <a:srcRect/>
                      <a:stretch>
                        <a:fillRect/>
                      </a:stretch>
                    </p:blipFill>
                    <p:spPr bwMode="auto">
                      <a:xfrm>
                        <a:off x="5793353" y="1500624"/>
                        <a:ext cx="307975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26" name="矩形 25"/>
              <p:cNvSpPr/>
              <p:nvPr/>
            </p:nvSpPr>
            <p:spPr>
              <a:xfrm>
                <a:off x="3791375" y="1332070"/>
                <a:ext cx="1784350" cy="916148"/>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d>
                        <m:dPr>
                          <m:begChr m:val="{"/>
                          <m:endChr m:val=""/>
                          <m:ctrlPr>
                            <a:rPr lang="zh-CN" altLang="en-US" sz="2400" i="1">
                              <a:solidFill>
                                <a:prstClr val="black"/>
                              </a:solidFill>
                              <a:latin typeface="Cambria Math" panose="02040503050406030204"/>
                            </a:rPr>
                          </m:ctrlPr>
                        </m:dPr>
                        <m:e>
                          <m:m>
                            <m:mPr>
                              <m:mcs>
                                <m:mc>
                                  <m:mcPr>
                                    <m:count m:val="1"/>
                                    <m:mcJc m:val="center"/>
                                  </m:mcPr>
                                </m:mc>
                              </m:mcs>
                              <m:plcHide m:val="on"/>
                              <m:ctrlPr>
                                <a:rPr lang="zh-CN" altLang="en-US" sz="2400" i="1">
                                  <a:solidFill>
                                    <a:prstClr val="black"/>
                                  </a:solidFill>
                                  <a:latin typeface="Cambria Math" panose="02040503050406030204"/>
                                </a:rPr>
                              </m:ctrlPr>
                            </m:mPr>
                            <m:mr>
                              <m:e>
                                <m:r>
                                  <a:rPr lang="zh-CN" altLang="en-US" sz="2400" i="1">
                                    <a:solidFill>
                                      <a:prstClr val="black"/>
                                    </a:solidFill>
                                    <a:latin typeface="Cambria Math" panose="02040503050406030204" pitchFamily="18" charset="0"/>
                                  </a:rPr>
                                  <m:t>𝐶</m:t>
                                </m:r>
                                <m:sSub>
                                  <m:sSubPr>
                                    <m:ctrlPr>
                                      <a:rPr lang="zh-CN" altLang="en-US" sz="2400" i="1">
                                        <a:solidFill>
                                          <a:prstClr val="black"/>
                                        </a:solidFill>
                                        <a:latin typeface="Cambria Math" panose="02040503050406030204"/>
                                      </a:rPr>
                                    </m:ctrlPr>
                                  </m:sSubPr>
                                  <m:e>
                                    <m:r>
                                      <a:rPr lang="zh-CN" altLang="en-US" sz="2400" i="1">
                                        <a:solidFill>
                                          <a:prstClr val="black"/>
                                        </a:solidFill>
                                        <a:latin typeface="Cambria Math" panose="02040503050406030204" pitchFamily="18" charset="0"/>
                                      </a:rPr>
                                      <m:t>𝑃</m:t>
                                    </m:r>
                                  </m:e>
                                  <m:sub>
                                    <m:r>
                                      <a:rPr lang="zh-CN" altLang="en-US" sz="2400">
                                        <a:solidFill>
                                          <a:prstClr val="black"/>
                                        </a:solidFill>
                                        <a:latin typeface="Cambria Math" panose="02040503050406030204" pitchFamily="18" charset="0"/>
                                      </a:rPr>
                                      <m:t>0</m:t>
                                    </m:r>
                                  </m:sub>
                                </m:sSub>
                                <m:r>
                                  <a:rPr lang="zh-CN" altLang="en-US" sz="2400">
                                    <a:solidFill>
                                      <a:prstClr val="black"/>
                                    </a:solidFill>
                                    <a:latin typeface="Cambria Math" panose="02040503050406030204" pitchFamily="18" charset="0"/>
                                  </a:rPr>
                                  <m:t>=</m:t>
                                </m:r>
                                <m:r>
                                  <a:rPr lang="zh-CN" altLang="en-US" sz="2400" i="1">
                                    <a:solidFill>
                                      <a:prstClr val="black"/>
                                    </a:solidFill>
                                    <a:latin typeface="Cambria Math" panose="02040503050406030204" pitchFamily="18" charset="0"/>
                                  </a:rPr>
                                  <m:t>𝐶𝑃</m:t>
                                </m:r>
                                <m:r>
                                  <a:rPr lang="zh-CN" altLang="en-US" sz="2400">
                                    <a:solidFill>
                                      <a:prstClr val="black"/>
                                    </a:solidFill>
                                    <a:latin typeface="Cambria Math" panose="02040503050406030204" pitchFamily="18" charset="0"/>
                                  </a:rPr>
                                  <m:t>↑</m:t>
                                </m:r>
                              </m:e>
                            </m:mr>
                            <m:mr>
                              <m:e>
                                <m:r>
                                  <a:rPr lang="zh-CN" altLang="en-US" sz="2400" i="1">
                                    <a:solidFill>
                                      <a:prstClr val="black"/>
                                    </a:solidFill>
                                    <a:latin typeface="Cambria Math" panose="02040503050406030204" pitchFamily="18" charset="0"/>
                                  </a:rPr>
                                  <m:t>𝐶</m:t>
                                </m:r>
                                <m:sSub>
                                  <m:sSubPr>
                                    <m:ctrlPr>
                                      <a:rPr lang="zh-CN" altLang="en-US" sz="2400" i="1">
                                        <a:solidFill>
                                          <a:prstClr val="black"/>
                                        </a:solidFill>
                                        <a:latin typeface="Cambria Math" panose="02040503050406030204"/>
                                      </a:rPr>
                                    </m:ctrlPr>
                                  </m:sSubPr>
                                  <m:e>
                                    <m:r>
                                      <a:rPr lang="zh-CN" altLang="en-US" sz="2400" i="1">
                                        <a:solidFill>
                                          <a:prstClr val="black"/>
                                        </a:solidFill>
                                        <a:latin typeface="Cambria Math" panose="02040503050406030204" pitchFamily="18" charset="0"/>
                                      </a:rPr>
                                      <m:t>𝑃</m:t>
                                    </m:r>
                                  </m:e>
                                  <m:sub>
                                    <m:r>
                                      <a:rPr lang="zh-CN" altLang="en-US" sz="2400">
                                        <a:solidFill>
                                          <a:prstClr val="black"/>
                                        </a:solidFill>
                                        <a:latin typeface="Cambria Math" panose="02040503050406030204" pitchFamily="18" charset="0"/>
                                      </a:rPr>
                                      <m:t>1</m:t>
                                    </m:r>
                                  </m:sub>
                                </m:sSub>
                                <m:r>
                                  <a:rPr lang="zh-CN" altLang="en-US" sz="2400">
                                    <a:solidFill>
                                      <a:prstClr val="black"/>
                                    </a:solidFill>
                                    <a:latin typeface="Cambria Math" panose="02040503050406030204" pitchFamily="18" charset="0"/>
                                  </a:rPr>
                                  <m:t>=</m:t>
                                </m:r>
                                <m:sSub>
                                  <m:sSubPr>
                                    <m:ctrlPr>
                                      <a:rPr lang="zh-CN" altLang="en-US" sz="2400" i="1">
                                        <a:solidFill>
                                          <a:prstClr val="black"/>
                                        </a:solidFill>
                                        <a:latin typeface="Cambria Math" panose="02040503050406030204"/>
                                      </a:rPr>
                                    </m:ctrlPr>
                                  </m:sSubPr>
                                  <m:e>
                                    <m:r>
                                      <a:rPr lang="zh-CN" altLang="en-US" sz="2400" i="1">
                                        <a:solidFill>
                                          <a:prstClr val="black"/>
                                        </a:solidFill>
                                        <a:latin typeface="Cambria Math" panose="02040503050406030204" pitchFamily="18" charset="0"/>
                                      </a:rPr>
                                      <m:t>𝑄</m:t>
                                    </m:r>
                                  </m:e>
                                  <m:sub>
                                    <m:r>
                                      <a:rPr lang="zh-CN" altLang="en-US" sz="2400">
                                        <a:solidFill>
                                          <a:prstClr val="black"/>
                                        </a:solidFill>
                                        <a:latin typeface="Cambria Math" panose="02040503050406030204" pitchFamily="18" charset="0"/>
                                      </a:rPr>
                                      <m:t>0</m:t>
                                    </m:r>
                                  </m:sub>
                                </m:sSub>
                                <m:r>
                                  <a:rPr lang="zh-CN" altLang="en-US" sz="2400">
                                    <a:solidFill>
                                      <a:prstClr val="black"/>
                                    </a:solidFill>
                                    <a:latin typeface="Cambria Math" panose="02040503050406030204" pitchFamily="18" charset="0"/>
                                  </a:rPr>
                                  <m:t>↑</m:t>
                                </m:r>
                              </m:e>
                            </m:mr>
                          </m:m>
                        </m:e>
                      </m:d>
                    </m:oMath>
                  </m:oMathPara>
                </a14:m>
                <a:endParaRPr lang="zh-CN" altLang="en-US" sz="2400" dirty="0">
                  <a:solidFill>
                    <a:prstClr val="black"/>
                  </a:solidFill>
                </a:endParaRPr>
              </a:p>
            </p:txBody>
          </p:sp>
        </mc:Choice>
        <mc:Fallback>
          <p:sp>
            <p:nvSpPr>
              <p:cNvPr id="26" name="矩形 25"/>
              <p:cNvSpPr>
                <a:spLocks noRot="1" noChangeAspect="1" noMove="1" noResize="1" noEditPoints="1" noAdjustHandles="1" noChangeArrowheads="1" noChangeShapeType="1" noTextEdit="1"/>
              </p:cNvSpPr>
              <p:nvPr/>
            </p:nvSpPr>
            <p:spPr>
              <a:xfrm>
                <a:off x="3791375" y="1332070"/>
                <a:ext cx="1784350" cy="916148"/>
              </a:xfrm>
              <a:prstGeom prst="rect">
                <a:avLst/>
              </a:prstGeom>
              <a:blipFill rotWithShape="1">
                <a:blip r:embed="rId4"/>
                <a:stretch>
                  <a:fillRect l="-24" t="-52" r="24" b="35"/>
                </a:stretch>
              </a:blipFill>
            </p:spPr>
            <p:txBody>
              <a:bodyPr/>
              <a:lstStyle/>
              <a:p>
                <a:r>
                  <a:rPr lang="zh-CN" altLang="en-US">
                    <a:noFill/>
                  </a:rPr>
                  <a:t> </a:t>
                </a:r>
              </a:p>
            </p:txBody>
          </p:sp>
        </mc:Fallback>
      </mc:AlternateContent>
      <p:sp>
        <p:nvSpPr>
          <p:cNvPr id="20" name="文本框 19"/>
          <p:cNvSpPr txBox="1"/>
          <p:nvPr/>
        </p:nvSpPr>
        <p:spPr>
          <a:xfrm>
            <a:off x="221190" y="610839"/>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根据方程组列出状态转移真值表</a:t>
            </a:r>
            <a:endParaRPr lang="zh-CN" altLang="en-US" sz="2800" b="1" dirty="0">
              <a:solidFill>
                <a:srgbClr val="0000FF"/>
              </a:solidFill>
              <a:latin typeface="黑体" panose="02010609060101010101" pitchFamily="49" charset="-122"/>
              <a:ea typeface="黑体" panose="02010609060101010101" pitchFamily="49" charset="-122"/>
            </a:endParaRPr>
          </a:p>
        </p:txBody>
      </p:sp>
      <p:cxnSp>
        <p:nvCxnSpPr>
          <p:cNvPr id="4" name="直接连接符 3"/>
          <p:cNvCxnSpPr/>
          <p:nvPr/>
        </p:nvCxnSpPr>
        <p:spPr>
          <a:xfrm>
            <a:off x="3616800" y="1024517"/>
            <a:ext cx="0" cy="1654693"/>
          </a:xfrm>
          <a:prstGeom prst="line">
            <a:avLst/>
          </a:prstGeom>
          <a:ln w="22225"/>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718316" y="987596"/>
            <a:ext cx="0" cy="1728537"/>
          </a:xfrm>
          <a:prstGeom prst="line">
            <a:avLst/>
          </a:prstGeom>
          <a:ln w="22225"/>
        </p:spPr>
        <p:style>
          <a:lnRef idx="1">
            <a:schemeClr val="accent1"/>
          </a:lnRef>
          <a:fillRef idx="0">
            <a:schemeClr val="accent1"/>
          </a:fillRef>
          <a:effectRef idx="0">
            <a:schemeClr val="accent1"/>
          </a:effectRef>
          <a:fontRef idx="minor">
            <a:schemeClr val="tx1"/>
          </a:fontRef>
        </p:style>
      </p:cxnSp>
      <p:pic>
        <p:nvPicPr>
          <p:cNvPr id="31" name="Picture 5" descr="B5-3-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719" y="3309255"/>
            <a:ext cx="8976562" cy="34986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弧形 36"/>
          <p:cNvSpPr/>
          <p:nvPr/>
        </p:nvSpPr>
        <p:spPr>
          <a:xfrm>
            <a:off x="1772645" y="4981074"/>
            <a:ext cx="2193758" cy="513348"/>
          </a:xfrm>
          <a:prstGeom prst="arc">
            <a:avLst>
              <a:gd name="adj1" fmla="val 10841315"/>
              <a:gd name="adj2" fmla="val 2"/>
            </a:avLst>
          </a:prstGeom>
          <a:ln w="508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39" name="箭头: 右 38"/>
          <p:cNvSpPr/>
          <p:nvPr/>
        </p:nvSpPr>
        <p:spPr>
          <a:xfrm flipV="1">
            <a:off x="4102763" y="5182907"/>
            <a:ext cx="1764631" cy="272546"/>
          </a:xfrm>
          <a:prstGeom prst="rightArrow">
            <a:avLst/>
          </a:prstGeom>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0" name="对话气泡: 矩形 39"/>
          <p:cNvSpPr/>
          <p:nvPr/>
        </p:nvSpPr>
        <p:spPr>
          <a:xfrm>
            <a:off x="3673637" y="2472831"/>
            <a:ext cx="2193757" cy="854563"/>
          </a:xfrm>
          <a:prstGeom prst="wedgeRectCallout">
            <a:avLst>
              <a:gd name="adj1" fmla="val 57472"/>
              <a:gd name="adj2" fmla="val 283631"/>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zh-CN" sz="2400" b="1" dirty="0">
                <a:solidFill>
                  <a:srgbClr val="C00000"/>
                </a:solidFill>
                <a:latin typeface="黑体" panose="02010609060101010101" pitchFamily="49" charset="-122"/>
                <a:ea typeface="黑体" panose="02010609060101010101" pitchFamily="49" charset="-122"/>
              </a:rPr>
              <a:t>Q</a:t>
            </a:r>
            <a:r>
              <a:rPr lang="en-US" altLang="zh-CN" sz="2400" b="1" baseline="-25000" dirty="0">
                <a:solidFill>
                  <a:srgbClr val="C00000"/>
                </a:solidFill>
                <a:latin typeface="黑体" panose="02010609060101010101" pitchFamily="49" charset="-122"/>
                <a:ea typeface="黑体" panose="02010609060101010101" pitchFamily="49" charset="-122"/>
              </a:rPr>
              <a:t>0</a:t>
            </a:r>
            <a:r>
              <a:rPr lang="zh-CN" altLang="en-US" sz="2400" b="1" dirty="0">
                <a:solidFill>
                  <a:srgbClr val="C00000"/>
                </a:solidFill>
                <a:latin typeface="黑体" panose="02010609060101010101" pitchFamily="49" charset="-122"/>
                <a:ea typeface="黑体" panose="02010609060101010101" pitchFamily="49" charset="-122"/>
              </a:rPr>
              <a:t>由</a:t>
            </a:r>
            <a:r>
              <a:rPr lang="en-US" altLang="zh-CN" sz="2400" b="1" dirty="0">
                <a:solidFill>
                  <a:srgbClr val="C00000"/>
                </a:solidFill>
                <a:latin typeface="黑体" panose="02010609060101010101" pitchFamily="49" charset="-122"/>
                <a:ea typeface="黑体" panose="02010609060101010101" pitchFamily="49" charset="-122"/>
              </a:rPr>
              <a:t>1</a:t>
            </a:r>
            <a:r>
              <a:rPr lang="zh-CN" altLang="en-US" sz="2400" b="1" dirty="0">
                <a:solidFill>
                  <a:srgbClr val="C00000"/>
                </a:solidFill>
                <a:latin typeface="黑体" panose="02010609060101010101" pitchFamily="49" charset="-122"/>
                <a:ea typeface="黑体" panose="02010609060101010101" pitchFamily="49" charset="-122"/>
              </a:rPr>
              <a:t>变为</a:t>
            </a:r>
            <a:r>
              <a:rPr lang="en-US" altLang="zh-CN" sz="2400" b="1" dirty="0">
                <a:solidFill>
                  <a:srgbClr val="C00000"/>
                </a:solidFill>
                <a:latin typeface="黑体" panose="02010609060101010101" pitchFamily="49" charset="-122"/>
                <a:ea typeface="黑体" panose="02010609060101010101" pitchFamily="49" charset="-122"/>
              </a:rPr>
              <a:t>0</a:t>
            </a:r>
            <a:r>
              <a:rPr lang="zh-CN" altLang="en-US" sz="2400" b="1" dirty="0">
                <a:solidFill>
                  <a:srgbClr val="C00000"/>
                </a:solidFill>
                <a:latin typeface="黑体" panose="02010609060101010101" pitchFamily="49" charset="-122"/>
                <a:ea typeface="黑体" panose="02010609060101010101" pitchFamily="49" charset="-122"/>
              </a:rPr>
              <a:t>，</a:t>
            </a:r>
            <a:r>
              <a:rPr lang="en-US" altLang="zh-CN" sz="2400" b="1" dirty="0">
                <a:solidFill>
                  <a:srgbClr val="C00000"/>
                </a:solidFill>
                <a:latin typeface="黑体" panose="02010609060101010101" pitchFamily="49" charset="-122"/>
                <a:ea typeface="黑体" panose="02010609060101010101" pitchFamily="49" charset="-122"/>
              </a:rPr>
              <a:t>CP</a:t>
            </a:r>
            <a:r>
              <a:rPr lang="en-US" altLang="zh-CN" sz="2400" b="1" baseline="-25000" dirty="0">
                <a:solidFill>
                  <a:srgbClr val="C00000"/>
                </a:solidFill>
                <a:latin typeface="黑体" panose="02010609060101010101" pitchFamily="49" charset="-122"/>
                <a:ea typeface="黑体" panose="02010609060101010101" pitchFamily="49" charset="-122"/>
              </a:rPr>
              <a:t>1</a:t>
            </a:r>
            <a:r>
              <a:rPr lang="zh-CN" altLang="en-US" sz="2400" b="1" dirty="0">
                <a:solidFill>
                  <a:srgbClr val="C00000"/>
                </a:solidFill>
                <a:latin typeface="黑体" panose="02010609060101010101" pitchFamily="49" charset="-122"/>
                <a:ea typeface="黑体" panose="02010609060101010101" pitchFamily="49" charset="-122"/>
              </a:rPr>
              <a:t>非上升沿</a:t>
            </a:r>
            <a:endParaRPr lang="zh-CN" altLang="en-US" sz="2400" b="1" dirty="0">
              <a:solidFill>
                <a:srgbClr val="C00000"/>
              </a:solidFill>
              <a:latin typeface="黑体" panose="02010609060101010101" pitchFamily="49" charset="-122"/>
              <a:ea typeface="黑体" panose="02010609060101010101" pitchFamily="49" charset="-122"/>
            </a:endParaRPr>
          </a:p>
        </p:txBody>
      </p:sp>
      <p:cxnSp>
        <p:nvCxnSpPr>
          <p:cNvPr id="42" name="直接箭头连接符 41"/>
          <p:cNvCxnSpPr/>
          <p:nvPr/>
        </p:nvCxnSpPr>
        <p:spPr>
          <a:xfrm flipV="1">
            <a:off x="6120062" y="4675602"/>
            <a:ext cx="0" cy="305472"/>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flipV="1">
            <a:off x="6128080" y="5758455"/>
            <a:ext cx="0" cy="305472"/>
          </a:xfrm>
          <a:prstGeom prst="straightConnector1">
            <a:avLst/>
          </a:prstGeom>
          <a:ln w="476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9" name="弧形 48"/>
          <p:cNvSpPr/>
          <p:nvPr/>
        </p:nvSpPr>
        <p:spPr>
          <a:xfrm flipV="1">
            <a:off x="717583" y="5321335"/>
            <a:ext cx="2141575" cy="314865"/>
          </a:xfrm>
          <a:prstGeom prst="arc">
            <a:avLst>
              <a:gd name="adj1" fmla="val 10851748"/>
              <a:gd name="adj2" fmla="val 0"/>
            </a:avLst>
          </a:prstGeom>
          <a:ln w="38100">
            <a:solidFill>
              <a:srgbClr val="0000FF"/>
            </a:solidFill>
            <a:headEnd type="none"/>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prstClr val="black"/>
              </a:solidFill>
            </a:endParaRPr>
          </a:p>
        </p:txBody>
      </p:sp>
      <p:sp>
        <p:nvSpPr>
          <p:cNvPr id="52" name="文本框 51"/>
          <p:cNvSpPr txBox="1"/>
          <p:nvPr/>
        </p:nvSpPr>
        <p:spPr>
          <a:xfrm>
            <a:off x="1364737" y="5387789"/>
            <a:ext cx="1155027" cy="461665"/>
          </a:xfrm>
          <a:prstGeom prst="rect">
            <a:avLst/>
          </a:prstGeom>
          <a:noFill/>
        </p:spPr>
        <p:txBody>
          <a:bodyPr wrap="square" rtlCol="0">
            <a:spAutoFit/>
          </a:bodyPr>
          <a:lstStyle/>
          <a:p>
            <a:r>
              <a:rPr lang="zh-CN" altLang="en-US" sz="2400" b="1" dirty="0">
                <a:solidFill>
                  <a:srgbClr val="FF33CC"/>
                </a:solidFill>
                <a:latin typeface="黑体" panose="02010609060101010101" pitchFamily="49" charset="-122"/>
                <a:ea typeface="黑体" panose="02010609060101010101" pitchFamily="49" charset="-122"/>
              </a:rPr>
              <a:t>保持</a:t>
            </a:r>
            <a:endParaRPr lang="zh-CN" altLang="en-US" sz="2400" b="1" dirty="0">
              <a:solidFill>
                <a:srgbClr val="FF33CC"/>
              </a:solidFill>
              <a:latin typeface="黑体" panose="02010609060101010101" pitchFamily="49" charset="-122"/>
              <a:ea typeface="黑体" panose="02010609060101010101" pitchFamily="49" charset="-122"/>
            </a:endParaRPr>
          </a:p>
        </p:txBody>
      </p:sp>
      <p:grpSp>
        <p:nvGrpSpPr>
          <p:cNvPr id="19" name="组合 18"/>
          <p:cNvGrpSpPr/>
          <p:nvPr/>
        </p:nvGrpSpPr>
        <p:grpSpPr>
          <a:xfrm>
            <a:off x="0" y="1234713"/>
            <a:ext cx="3403435" cy="1454797"/>
            <a:chOff x="5666760" y="5159509"/>
            <a:chExt cx="3606273" cy="1454797"/>
          </a:xfrm>
        </p:grpSpPr>
        <p:graphicFrame>
          <p:nvGraphicFramePr>
            <p:cNvPr id="21" name="Object 4"/>
            <p:cNvGraphicFramePr>
              <a:graphicFrameLocks noChangeAspect="1"/>
            </p:cNvGraphicFramePr>
            <p:nvPr/>
          </p:nvGraphicFramePr>
          <p:xfrm>
            <a:off x="5666760" y="5237287"/>
            <a:ext cx="3308183" cy="1377019"/>
          </p:xfrm>
          <a:graphic>
            <a:graphicData uri="http://schemas.openxmlformats.org/presentationml/2006/ole">
              <mc:AlternateContent xmlns:mc="http://schemas.openxmlformats.org/markup-compatibility/2006">
                <mc:Choice xmlns:v="urn:schemas-microsoft-com:vml" Requires="v">
                  <p:oleObj spid="_x0000_s20501" name="Equation" r:id="rId6" imgW="32308800" imgH="13411200" progId="Equation.DSMT4">
                    <p:embed/>
                  </p:oleObj>
                </mc:Choice>
                <mc:Fallback>
                  <p:oleObj name="Equation" r:id="rId6" imgW="32308800" imgH="13411200" progId="Equation.DSMT4">
                    <p:embed/>
                    <p:pic>
                      <p:nvPicPr>
                        <p:cNvPr id="0" name="Object 4"/>
                        <p:cNvPicPr>
                          <a:picLocks noChangeAspect="1" noChangeArrowheads="1"/>
                        </p:cNvPicPr>
                        <p:nvPr/>
                      </p:nvPicPr>
                      <p:blipFill>
                        <a:blip r:embed="rId7"/>
                        <a:srcRect/>
                        <a:stretch>
                          <a:fillRect/>
                        </a:stretch>
                      </p:blipFill>
                      <p:spPr bwMode="auto">
                        <a:xfrm>
                          <a:off x="5666760" y="5237287"/>
                          <a:ext cx="3308183" cy="1377019"/>
                        </a:xfrm>
                        <a:prstGeom prst="rect">
                          <a:avLst/>
                        </a:prstGeom>
                        <a:noFill/>
                        <a:ln>
                          <a:noFill/>
                        </a:ln>
                      </p:spPr>
                    </p:pic>
                  </p:oleObj>
                </mc:Fallback>
              </mc:AlternateContent>
            </a:graphicData>
          </a:graphic>
        </p:graphicFrame>
        <p:pic>
          <p:nvPicPr>
            <p:cNvPr id="22" name="图片 21"/>
            <p:cNvPicPr>
              <a:picLocks noChangeAspect="1"/>
            </p:cNvPicPr>
            <p:nvPr/>
          </p:nvPicPr>
          <p:blipFill>
            <a:blip r:embed="rId8"/>
            <a:stretch>
              <a:fillRect/>
            </a:stretch>
          </p:blipFill>
          <p:spPr>
            <a:xfrm>
              <a:off x="8069539" y="5159509"/>
              <a:ext cx="1203494" cy="711789"/>
            </a:xfrm>
            <a:prstGeom prst="rect">
              <a:avLst/>
            </a:prstGeom>
          </p:spPr>
        </p:pic>
        <p:pic>
          <p:nvPicPr>
            <p:cNvPr id="23" name="图片 22"/>
            <p:cNvPicPr>
              <a:picLocks noChangeAspect="1"/>
            </p:cNvPicPr>
            <p:nvPr/>
          </p:nvPicPr>
          <p:blipFill>
            <a:blip r:embed="rId9"/>
            <a:stretch>
              <a:fillRect/>
            </a:stretch>
          </p:blipFill>
          <p:spPr>
            <a:xfrm>
              <a:off x="8120507" y="6111786"/>
              <a:ext cx="1152525" cy="42862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left)">
                                      <p:cBhvr>
                                        <p:cTn id="12" dur="500"/>
                                        <p:tgtEl>
                                          <p:spTgt spid="3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500"/>
                                        <p:tgtEl>
                                          <p:spTgt spid="4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9"/>
                                        </p:tgtEl>
                                        <p:attrNameLst>
                                          <p:attrName>style.visibility</p:attrName>
                                        </p:attrNameLst>
                                      </p:cBhvr>
                                      <p:to>
                                        <p:strVal val="visible"/>
                                      </p:to>
                                    </p:set>
                                    <p:animEffect transition="in" filter="wipe(left)">
                                      <p:cBhvr>
                                        <p:cTn id="22" dur="500"/>
                                        <p:tgtEl>
                                          <p:spTgt spid="4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2"/>
                                        </p:tgtEl>
                                        <p:attrNameLst>
                                          <p:attrName>style.visibility</p:attrName>
                                        </p:attrNameLst>
                                      </p:cBhvr>
                                      <p:to>
                                        <p:strVal val="visible"/>
                                      </p:to>
                                    </p:set>
                                    <p:animEffect transition="in" filter="fade">
                                      <p:cBhvr>
                                        <p:cTn id="27" dur="500"/>
                                        <p:tgtEl>
                                          <p:spTgt spid="5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5"/>
                                        </p:tgtEl>
                                        <p:attrNameLst>
                                          <p:attrName>style.visibility</p:attrName>
                                        </p:attrNameLst>
                                      </p:cBhvr>
                                      <p:to>
                                        <p:strVal val="visible"/>
                                      </p:to>
                                    </p:set>
                                    <p:animEffect transition="in" filter="fade">
                                      <p:cBhvr>
                                        <p:cTn id="3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9" grpId="0" animBg="1"/>
      <p:bldP spid="40" grpId="0" animBg="1"/>
      <p:bldP spid="49" grpId="0" animBg="1"/>
      <p:bldP spid="52" grpId="0"/>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0" name="文本框 19"/>
          <p:cNvSpPr txBox="1"/>
          <p:nvPr/>
        </p:nvSpPr>
        <p:spPr>
          <a:xfrm>
            <a:off x="221190" y="610839"/>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3.</a:t>
            </a:r>
            <a:r>
              <a:rPr lang="zh-CN" altLang="en-US" sz="2800" b="1" dirty="0">
                <a:solidFill>
                  <a:srgbClr val="0000FF"/>
                </a:solidFill>
                <a:latin typeface="黑体" panose="02010609060101010101" pitchFamily="49" charset="-122"/>
                <a:ea typeface="黑体" panose="02010609060101010101" pitchFamily="49" charset="-122"/>
              </a:rPr>
              <a:t>根据状态转移真值表画出状态转移图</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31" name="Picture 5" descr="B5-3-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90862" y="1433798"/>
            <a:ext cx="7133767" cy="2780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5" descr="5-3-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204" y="4538067"/>
            <a:ext cx="7844762" cy="1516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0" name="文本框 19"/>
          <p:cNvSpPr txBox="1"/>
          <p:nvPr/>
        </p:nvSpPr>
        <p:spPr>
          <a:xfrm>
            <a:off x="221190" y="610839"/>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4.</a:t>
            </a:r>
            <a:r>
              <a:rPr lang="zh-CN" altLang="en-US" sz="2800" b="1" dirty="0">
                <a:solidFill>
                  <a:srgbClr val="0000FF"/>
                </a:solidFill>
                <a:latin typeface="黑体" panose="02010609060101010101" pitchFamily="49" charset="-122"/>
                <a:ea typeface="黑体" panose="02010609060101010101" pitchFamily="49" charset="-122"/>
              </a:rPr>
              <a:t> 画出系统时序图</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31" name="Picture 5" descr="B5-3-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46126" y="1183682"/>
            <a:ext cx="6543450" cy="255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5-3-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604" y="3805264"/>
            <a:ext cx="6920857" cy="237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直接箭头连接符 2"/>
          <p:cNvCxnSpPr/>
          <p:nvPr/>
        </p:nvCxnSpPr>
        <p:spPr>
          <a:xfrm flipV="1">
            <a:off x="1973179" y="3866982"/>
            <a:ext cx="0" cy="38818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1636295" y="4379495"/>
            <a:ext cx="248652" cy="523220"/>
          </a:xfrm>
          <a:prstGeom prst="rect">
            <a:avLst/>
          </a:prstGeom>
          <a:noFill/>
        </p:spPr>
        <p:txBody>
          <a:bodyPr wrap="square" rtlCol="0">
            <a:spAutoFit/>
          </a:bodyPr>
          <a:lstStyle/>
          <a:p>
            <a:r>
              <a:rPr lang="en-US" altLang="zh-CN" sz="2800" dirty="0">
                <a:solidFill>
                  <a:srgbClr val="FF0000"/>
                </a:solidFill>
              </a:rPr>
              <a:t>0</a:t>
            </a:r>
            <a:endParaRPr lang="zh-CN" altLang="en-US" sz="2800" dirty="0">
              <a:solidFill>
                <a:srgbClr val="FF0000"/>
              </a:solidFill>
            </a:endParaRPr>
          </a:p>
        </p:txBody>
      </p:sp>
      <p:sp>
        <p:nvSpPr>
          <p:cNvPr id="14" name="文本框 13"/>
          <p:cNvSpPr txBox="1"/>
          <p:nvPr/>
        </p:nvSpPr>
        <p:spPr>
          <a:xfrm>
            <a:off x="1636295" y="4977063"/>
            <a:ext cx="248652" cy="523220"/>
          </a:xfrm>
          <a:prstGeom prst="rect">
            <a:avLst/>
          </a:prstGeom>
          <a:noFill/>
        </p:spPr>
        <p:txBody>
          <a:bodyPr wrap="square" rtlCol="0">
            <a:spAutoFit/>
          </a:bodyPr>
          <a:lstStyle/>
          <a:p>
            <a:r>
              <a:rPr lang="en-US" altLang="zh-CN" sz="2800" dirty="0">
                <a:solidFill>
                  <a:srgbClr val="FF0000"/>
                </a:solidFill>
              </a:rPr>
              <a:t>0</a:t>
            </a:r>
            <a:endParaRPr lang="zh-CN" altLang="en-US" sz="2800" dirty="0">
              <a:solidFill>
                <a:srgbClr val="FF0000"/>
              </a:solidFill>
            </a:endParaRPr>
          </a:p>
        </p:txBody>
      </p:sp>
      <p:sp>
        <p:nvSpPr>
          <p:cNvPr id="15" name="文本框 14"/>
          <p:cNvSpPr txBox="1"/>
          <p:nvPr/>
        </p:nvSpPr>
        <p:spPr>
          <a:xfrm>
            <a:off x="2273312" y="4373623"/>
            <a:ext cx="248652" cy="523220"/>
          </a:xfrm>
          <a:prstGeom prst="rect">
            <a:avLst/>
          </a:prstGeom>
          <a:noFill/>
        </p:spPr>
        <p:txBody>
          <a:bodyPr wrap="square" rtlCol="0">
            <a:spAutoFit/>
          </a:bodyPr>
          <a:lstStyle/>
          <a:p>
            <a:r>
              <a:rPr lang="en-US" altLang="zh-CN" sz="2800" dirty="0">
                <a:solidFill>
                  <a:srgbClr val="FF0000"/>
                </a:solidFill>
              </a:rPr>
              <a:t>1</a:t>
            </a:r>
            <a:endParaRPr lang="zh-CN" altLang="en-US" sz="2800" dirty="0">
              <a:solidFill>
                <a:srgbClr val="FF0000"/>
              </a:solidFill>
            </a:endParaRPr>
          </a:p>
        </p:txBody>
      </p:sp>
      <p:sp>
        <p:nvSpPr>
          <p:cNvPr id="16" name="文本框 15"/>
          <p:cNvSpPr txBox="1"/>
          <p:nvPr/>
        </p:nvSpPr>
        <p:spPr>
          <a:xfrm>
            <a:off x="2273312" y="4971191"/>
            <a:ext cx="248652" cy="523220"/>
          </a:xfrm>
          <a:prstGeom prst="rect">
            <a:avLst/>
          </a:prstGeom>
          <a:noFill/>
        </p:spPr>
        <p:txBody>
          <a:bodyPr wrap="square" rtlCol="0">
            <a:spAutoFit/>
          </a:bodyPr>
          <a:lstStyle/>
          <a:p>
            <a:r>
              <a:rPr lang="en-US" altLang="zh-CN" sz="2800" dirty="0">
                <a:solidFill>
                  <a:srgbClr val="FF0000"/>
                </a:solidFill>
              </a:rPr>
              <a:t>1</a:t>
            </a:r>
            <a:endParaRPr lang="zh-CN" altLang="en-US" sz="2800" dirty="0">
              <a:solidFill>
                <a:srgbClr val="FF0000"/>
              </a:solidFill>
            </a:endParaRPr>
          </a:p>
        </p:txBody>
      </p:sp>
      <p:cxnSp>
        <p:nvCxnSpPr>
          <p:cNvPr id="17" name="直接箭头连接符 16"/>
          <p:cNvCxnSpPr/>
          <p:nvPr/>
        </p:nvCxnSpPr>
        <p:spPr>
          <a:xfrm flipV="1">
            <a:off x="2983832" y="3866982"/>
            <a:ext cx="0" cy="38818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3163649" y="4405707"/>
            <a:ext cx="248652" cy="523220"/>
          </a:xfrm>
          <a:prstGeom prst="rect">
            <a:avLst/>
          </a:prstGeom>
          <a:noFill/>
        </p:spPr>
        <p:txBody>
          <a:bodyPr wrap="square" rtlCol="0">
            <a:spAutoFit/>
          </a:bodyPr>
          <a:lstStyle/>
          <a:p>
            <a:r>
              <a:rPr lang="en-US" altLang="zh-CN" sz="2800" dirty="0">
                <a:solidFill>
                  <a:srgbClr val="FF0000"/>
                </a:solidFill>
              </a:rPr>
              <a:t>0</a:t>
            </a:r>
            <a:endParaRPr lang="zh-CN" altLang="en-US" sz="2800" dirty="0">
              <a:solidFill>
                <a:srgbClr val="FF0000"/>
              </a:solidFill>
            </a:endParaRPr>
          </a:p>
        </p:txBody>
      </p:sp>
      <p:sp>
        <p:nvSpPr>
          <p:cNvPr id="19" name="文本框 18"/>
          <p:cNvSpPr txBox="1"/>
          <p:nvPr/>
        </p:nvSpPr>
        <p:spPr>
          <a:xfrm>
            <a:off x="3163649" y="5003275"/>
            <a:ext cx="248652" cy="523220"/>
          </a:xfrm>
          <a:prstGeom prst="rect">
            <a:avLst/>
          </a:prstGeom>
          <a:noFill/>
        </p:spPr>
        <p:txBody>
          <a:bodyPr wrap="square" rtlCol="0">
            <a:spAutoFit/>
          </a:bodyPr>
          <a:lstStyle/>
          <a:p>
            <a:r>
              <a:rPr lang="en-US" altLang="zh-CN" sz="2800" dirty="0">
                <a:solidFill>
                  <a:srgbClr val="FF0000"/>
                </a:solidFill>
              </a:rPr>
              <a:t>1</a:t>
            </a:r>
            <a:endParaRPr lang="zh-CN" altLang="en-US" sz="2800" dirty="0">
              <a:solidFill>
                <a:srgbClr val="FF0000"/>
              </a:solidFill>
            </a:endParaRPr>
          </a:p>
        </p:txBody>
      </p:sp>
      <p:cxnSp>
        <p:nvCxnSpPr>
          <p:cNvPr id="21" name="直接箭头连接符 20"/>
          <p:cNvCxnSpPr/>
          <p:nvPr/>
        </p:nvCxnSpPr>
        <p:spPr>
          <a:xfrm flipV="1">
            <a:off x="3990486" y="3866994"/>
            <a:ext cx="0" cy="38818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170303" y="4405719"/>
            <a:ext cx="248652" cy="523220"/>
          </a:xfrm>
          <a:prstGeom prst="rect">
            <a:avLst/>
          </a:prstGeom>
          <a:noFill/>
        </p:spPr>
        <p:txBody>
          <a:bodyPr wrap="square" rtlCol="0">
            <a:spAutoFit/>
          </a:bodyPr>
          <a:lstStyle/>
          <a:p>
            <a:r>
              <a:rPr lang="en-US" altLang="zh-CN" sz="2800" dirty="0">
                <a:solidFill>
                  <a:srgbClr val="FF0000"/>
                </a:solidFill>
              </a:rPr>
              <a:t>1</a:t>
            </a:r>
            <a:endParaRPr lang="zh-CN" altLang="en-US" sz="2800" dirty="0">
              <a:solidFill>
                <a:srgbClr val="FF0000"/>
              </a:solidFill>
            </a:endParaRPr>
          </a:p>
        </p:txBody>
      </p:sp>
      <p:sp>
        <p:nvSpPr>
          <p:cNvPr id="24" name="文本框 23"/>
          <p:cNvSpPr txBox="1"/>
          <p:nvPr/>
        </p:nvSpPr>
        <p:spPr>
          <a:xfrm>
            <a:off x="4170303" y="5003287"/>
            <a:ext cx="248652" cy="523220"/>
          </a:xfrm>
          <a:prstGeom prst="rect">
            <a:avLst/>
          </a:prstGeom>
          <a:noFill/>
        </p:spPr>
        <p:txBody>
          <a:bodyPr wrap="square" rtlCol="0">
            <a:spAutoFit/>
          </a:bodyPr>
          <a:lstStyle/>
          <a:p>
            <a:r>
              <a:rPr lang="en-US" altLang="zh-CN" sz="2800" dirty="0">
                <a:solidFill>
                  <a:srgbClr val="FF0000"/>
                </a:solidFill>
              </a:rPr>
              <a:t>0</a:t>
            </a:r>
            <a:endParaRPr lang="zh-CN" altLang="en-US" sz="2800" dirty="0">
              <a:solidFill>
                <a:srgbClr val="FF0000"/>
              </a:solidFill>
            </a:endParaRPr>
          </a:p>
        </p:txBody>
      </p:sp>
      <p:cxnSp>
        <p:nvCxnSpPr>
          <p:cNvPr id="25" name="直接箭头连接符 24"/>
          <p:cNvCxnSpPr/>
          <p:nvPr/>
        </p:nvCxnSpPr>
        <p:spPr>
          <a:xfrm flipV="1">
            <a:off x="5003135" y="3866982"/>
            <a:ext cx="0" cy="38818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5182952" y="4405707"/>
            <a:ext cx="248652" cy="523220"/>
          </a:xfrm>
          <a:prstGeom prst="rect">
            <a:avLst/>
          </a:prstGeom>
          <a:noFill/>
        </p:spPr>
        <p:txBody>
          <a:bodyPr wrap="square" rtlCol="0">
            <a:spAutoFit/>
          </a:bodyPr>
          <a:lstStyle/>
          <a:p>
            <a:r>
              <a:rPr lang="en-US" altLang="zh-CN" sz="2800" dirty="0">
                <a:solidFill>
                  <a:srgbClr val="FF0000"/>
                </a:solidFill>
              </a:rPr>
              <a:t>0</a:t>
            </a:r>
            <a:endParaRPr lang="zh-CN" altLang="en-US" sz="2800" dirty="0">
              <a:solidFill>
                <a:srgbClr val="FF0000"/>
              </a:solidFill>
            </a:endParaRPr>
          </a:p>
        </p:txBody>
      </p:sp>
      <p:sp>
        <p:nvSpPr>
          <p:cNvPr id="27" name="文本框 26"/>
          <p:cNvSpPr txBox="1"/>
          <p:nvPr/>
        </p:nvSpPr>
        <p:spPr>
          <a:xfrm>
            <a:off x="5182952" y="5003275"/>
            <a:ext cx="248652" cy="523220"/>
          </a:xfrm>
          <a:prstGeom prst="rect">
            <a:avLst/>
          </a:prstGeom>
          <a:noFill/>
        </p:spPr>
        <p:txBody>
          <a:bodyPr wrap="square" rtlCol="0">
            <a:spAutoFit/>
          </a:bodyPr>
          <a:lstStyle/>
          <a:p>
            <a:r>
              <a:rPr lang="en-US" altLang="zh-CN" sz="2800" dirty="0">
                <a:solidFill>
                  <a:srgbClr val="FF0000"/>
                </a:solidFill>
              </a:rPr>
              <a:t>0</a:t>
            </a:r>
            <a:endParaRPr lang="zh-CN" altLang="en-US" sz="2800" dirty="0">
              <a:solidFill>
                <a:srgbClr val="FF0000"/>
              </a:solidFill>
            </a:endParaRPr>
          </a:p>
        </p:txBody>
      </p:sp>
      <p:cxnSp>
        <p:nvCxnSpPr>
          <p:cNvPr id="28" name="直接箭头连接符 27"/>
          <p:cNvCxnSpPr/>
          <p:nvPr/>
        </p:nvCxnSpPr>
        <p:spPr>
          <a:xfrm flipV="1">
            <a:off x="6009789" y="3866982"/>
            <a:ext cx="0" cy="388186"/>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6189606" y="4405707"/>
            <a:ext cx="248652" cy="523220"/>
          </a:xfrm>
          <a:prstGeom prst="rect">
            <a:avLst/>
          </a:prstGeom>
          <a:noFill/>
        </p:spPr>
        <p:txBody>
          <a:bodyPr wrap="square" rtlCol="0">
            <a:spAutoFit/>
          </a:bodyPr>
          <a:lstStyle/>
          <a:p>
            <a:r>
              <a:rPr lang="en-US" altLang="zh-CN" sz="2800" dirty="0">
                <a:solidFill>
                  <a:srgbClr val="FF0000"/>
                </a:solidFill>
              </a:rPr>
              <a:t>1</a:t>
            </a:r>
            <a:endParaRPr lang="zh-CN" altLang="en-US" sz="2800" dirty="0">
              <a:solidFill>
                <a:srgbClr val="FF0000"/>
              </a:solidFill>
            </a:endParaRPr>
          </a:p>
        </p:txBody>
      </p:sp>
      <p:sp>
        <p:nvSpPr>
          <p:cNvPr id="30" name="文本框 29"/>
          <p:cNvSpPr txBox="1"/>
          <p:nvPr/>
        </p:nvSpPr>
        <p:spPr>
          <a:xfrm>
            <a:off x="6189606" y="5003275"/>
            <a:ext cx="248652" cy="523220"/>
          </a:xfrm>
          <a:prstGeom prst="rect">
            <a:avLst/>
          </a:prstGeom>
          <a:noFill/>
        </p:spPr>
        <p:txBody>
          <a:bodyPr wrap="square" rtlCol="0">
            <a:spAutoFit/>
          </a:bodyPr>
          <a:lstStyle/>
          <a:p>
            <a:r>
              <a:rPr lang="en-US" altLang="zh-CN" sz="2800" dirty="0">
                <a:solidFill>
                  <a:srgbClr val="FF0000"/>
                </a:solidFill>
              </a:rPr>
              <a:t>1</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down)">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wipe(down)">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down)">
                                      <p:cBhvr>
                                        <p:cTn id="54" dur="500"/>
                                        <p:tgtEl>
                                          <p:spTgt spid="2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5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6"/>
                                        </p:tgtEl>
                                        <p:attrNameLst>
                                          <p:attrName>style.visibility</p:attrName>
                                        </p:attrNameLst>
                                      </p:cBhvr>
                                      <p:to>
                                        <p:strVal val="visible"/>
                                      </p:to>
                                    </p:set>
                                    <p:animEffect transition="in" filter="fade">
                                      <p:cBhvr>
                                        <p:cTn id="62" dur="500"/>
                                        <p:tgtEl>
                                          <p:spTgt spid="2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wipe(down)">
                                      <p:cBhvr>
                                        <p:cTn id="67" dur="500"/>
                                        <p:tgtEl>
                                          <p:spTgt spid="28"/>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4" grpId="0"/>
      <p:bldP spid="15" grpId="0"/>
      <p:bldP spid="16" grpId="0"/>
      <p:bldP spid="18" grpId="0"/>
      <p:bldP spid="19" grpId="0"/>
      <p:bldP spid="22" grpId="0"/>
      <p:bldP spid="24" grpId="0"/>
      <p:bldP spid="26" grpId="0"/>
      <p:bldP spid="27" grpId="0"/>
      <p:bldP spid="29" grpId="0"/>
      <p:bldP spid="30"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en-US" altLang="zh-CN" sz="3200" b="1" dirty="0">
                <a:solidFill>
                  <a:srgbClr val="4472C4">
                    <a:lumMod val="75000"/>
                  </a:srgbClr>
                </a:solidFill>
                <a:latin typeface="微软雅黑" panose="020B0503020204020204" pitchFamily="34" charset="-122"/>
                <a:ea typeface="微软雅黑" panose="020B0503020204020204" pitchFamily="34" charset="-122"/>
              </a:rPr>
              <a:t>5.3.2 </a:t>
            </a:r>
            <a:r>
              <a:rPr lang="zh-CN" altLang="en-US" sz="3200" b="1" dirty="0">
                <a:solidFill>
                  <a:srgbClr val="4472C4">
                    <a:lumMod val="75000"/>
                  </a:srgbClr>
                </a:solidFill>
                <a:latin typeface="微软雅黑" panose="020B0503020204020204" pitchFamily="34" charset="-122"/>
                <a:ea typeface="微软雅黑" panose="020B0503020204020204" pitchFamily="34" charset="-122"/>
              </a:rPr>
              <a:t>异步时序逻辑电路分析</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20" name="文本框 19"/>
          <p:cNvSpPr txBox="1"/>
          <p:nvPr/>
        </p:nvSpPr>
        <p:spPr>
          <a:xfrm>
            <a:off x="221190" y="610839"/>
            <a:ext cx="6604000" cy="523220"/>
          </a:xfrm>
          <a:prstGeom prst="rect">
            <a:avLst/>
          </a:prstGeom>
          <a:noFill/>
        </p:spPr>
        <p:txBody>
          <a:bodyPr wrap="square" rtlCol="0">
            <a:spAutoFit/>
          </a:bodyPr>
          <a:lstStyle/>
          <a:p>
            <a:r>
              <a:rPr lang="en-US" altLang="zh-CN" sz="2800" b="1" dirty="0">
                <a:solidFill>
                  <a:srgbClr val="0000FF"/>
                </a:solidFill>
                <a:latin typeface="黑体" panose="02010609060101010101" pitchFamily="49" charset="-122"/>
                <a:ea typeface="黑体" panose="02010609060101010101" pitchFamily="49" charset="-122"/>
              </a:rPr>
              <a:t>5.</a:t>
            </a:r>
            <a:r>
              <a:rPr lang="zh-CN" altLang="en-US" sz="2800" b="1" dirty="0">
                <a:solidFill>
                  <a:srgbClr val="0000FF"/>
                </a:solidFill>
                <a:latin typeface="黑体" panose="02010609060101010101" pitchFamily="49" charset="-122"/>
                <a:ea typeface="黑体" panose="02010609060101010101" pitchFamily="49" charset="-122"/>
              </a:rPr>
              <a:t> 逻辑功能分析</a:t>
            </a:r>
            <a:endParaRPr lang="zh-CN" altLang="en-US" sz="2800" b="1" dirty="0">
              <a:solidFill>
                <a:srgbClr val="0000FF"/>
              </a:solidFill>
              <a:latin typeface="黑体" panose="02010609060101010101" pitchFamily="49" charset="-122"/>
              <a:ea typeface="黑体" panose="02010609060101010101" pitchFamily="49" charset="-122"/>
            </a:endParaRPr>
          </a:p>
        </p:txBody>
      </p:sp>
      <p:pic>
        <p:nvPicPr>
          <p:cNvPr id="23" name="Picture 5" descr="5-3-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04" y="1782570"/>
            <a:ext cx="8515932" cy="164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a14="http://schemas.microsoft.com/office/drawing/2010/main" Requires="a14">
          <p:sp>
            <p:nvSpPr>
              <p:cNvPr id="2" name="矩形 1"/>
              <p:cNvSpPr/>
              <p:nvPr/>
            </p:nvSpPr>
            <p:spPr>
              <a:xfrm>
                <a:off x="573204" y="3927720"/>
                <a:ext cx="8089533" cy="2123658"/>
              </a:xfrm>
              <a:prstGeom prst="rect">
                <a:avLst/>
              </a:prstGeom>
            </p:spPr>
            <p:txBody>
              <a:bodyPr wrap="square">
                <a:spAutoFit/>
              </a:bodyPr>
              <a:lstStyle/>
              <a:p>
                <a:pPr marL="457200" indent="-457200">
                  <a:spcAft>
                    <a:spcPts val="1200"/>
                  </a:spcAft>
                  <a:buFont typeface="Wingdings" panose="05000000000000000000" pitchFamily="2" charset="2"/>
                  <a:buChar char="Ø"/>
                </a:pPr>
                <a:r>
                  <a:rPr lang="zh-CN" altLang="en-US" sz="2800" b="1" dirty="0">
                    <a:solidFill>
                      <a:srgbClr val="170A8E"/>
                    </a:solidFill>
                    <a:latin typeface="黑体" panose="02010609060101010101" pitchFamily="49" charset="-122"/>
                    <a:ea typeface="黑体" panose="02010609060101010101" pitchFamily="49" charset="-122"/>
                  </a:rPr>
                  <a:t>该电路共有四个状态，在时钟脉冲作用下，按照减</a:t>
                </a:r>
                <a:r>
                  <a:rPr lang="en-US" altLang="zh-CN" sz="2800" b="1" dirty="0">
                    <a:solidFill>
                      <a:srgbClr val="170A8E"/>
                    </a:solidFill>
                    <a:latin typeface="黑体" panose="02010609060101010101" pitchFamily="49" charset="-122"/>
                    <a:ea typeface="黑体" panose="02010609060101010101" pitchFamily="49" charset="-122"/>
                  </a:rPr>
                  <a:t>1</a:t>
                </a:r>
                <a:r>
                  <a:rPr lang="zh-CN" altLang="en-US" sz="2800" b="1" dirty="0">
                    <a:solidFill>
                      <a:srgbClr val="170A8E"/>
                    </a:solidFill>
                    <a:latin typeface="黑体" panose="02010609060101010101" pitchFamily="49" charset="-122"/>
                    <a:ea typeface="黑体" panose="02010609060101010101" pitchFamily="49" charset="-122"/>
                  </a:rPr>
                  <a:t>规律循环变化： </a:t>
                </a:r>
                <a:r>
                  <a:rPr lang="en-US" altLang="zh-CN" sz="2800" b="1" dirty="0">
                    <a:solidFill>
                      <a:srgbClr val="FF0000"/>
                    </a:solidFill>
                    <a:latin typeface="黑体" panose="02010609060101010101" pitchFamily="49" charset="-122"/>
                    <a:ea typeface="黑体" panose="02010609060101010101" pitchFamily="49" charset="-122"/>
                  </a:rPr>
                  <a:t>00</a:t>
                </a:r>
                <a14:m>
                  <m:oMath xmlns:m="http://schemas.openxmlformats.org/officeDocument/2006/math">
                    <m:r>
                      <a:rPr lang="zh-CN" altLang="en-US" sz="2800" b="1">
                        <a:solidFill>
                          <a:srgbClr val="FF0000"/>
                        </a:solidFill>
                        <a:latin typeface="Cambria Math" panose="02040503050406030204" pitchFamily="18" charset="0"/>
                      </a:rPr>
                      <m:t>→</m:t>
                    </m:r>
                  </m:oMath>
                </a14:m>
                <a:r>
                  <a:rPr lang="en-US" altLang="zh-CN" sz="2800" b="1" dirty="0">
                    <a:solidFill>
                      <a:srgbClr val="FF0000"/>
                    </a:solidFill>
                    <a:latin typeface="黑体" panose="02010609060101010101" pitchFamily="49" charset="-122"/>
                    <a:ea typeface="黑体" panose="02010609060101010101" pitchFamily="49" charset="-122"/>
                  </a:rPr>
                  <a:t>11</a:t>
                </a:r>
                <a14:m>
                  <m:oMath xmlns:m="http://schemas.openxmlformats.org/officeDocument/2006/math">
                    <m:r>
                      <a:rPr lang="zh-CN" altLang="en-US" sz="2800" b="1">
                        <a:solidFill>
                          <a:srgbClr val="FF0000"/>
                        </a:solidFill>
                        <a:latin typeface="Cambria Math" panose="02040503050406030204" pitchFamily="18" charset="0"/>
                      </a:rPr>
                      <m:t>→</m:t>
                    </m:r>
                  </m:oMath>
                </a14:m>
                <a:r>
                  <a:rPr lang="en-US" altLang="zh-CN" sz="2800" b="1" dirty="0">
                    <a:solidFill>
                      <a:srgbClr val="FF0000"/>
                    </a:solidFill>
                    <a:latin typeface="黑体" panose="02010609060101010101" pitchFamily="49" charset="-122"/>
                    <a:ea typeface="黑体" panose="02010609060101010101" pitchFamily="49" charset="-122"/>
                  </a:rPr>
                  <a:t>10</a:t>
                </a:r>
                <a14:m>
                  <m:oMath xmlns:m="http://schemas.openxmlformats.org/officeDocument/2006/math">
                    <m:r>
                      <a:rPr lang="zh-CN" altLang="en-US" sz="2800" b="1">
                        <a:solidFill>
                          <a:srgbClr val="FF0000"/>
                        </a:solidFill>
                        <a:latin typeface="Cambria Math" panose="02040503050406030204" pitchFamily="18" charset="0"/>
                      </a:rPr>
                      <m:t>→</m:t>
                    </m:r>
                  </m:oMath>
                </a14:m>
                <a:r>
                  <a:rPr lang="en-US" altLang="zh-CN" sz="2800" b="1" dirty="0">
                    <a:solidFill>
                      <a:srgbClr val="FF0000"/>
                    </a:solidFill>
                    <a:latin typeface="黑体" panose="02010609060101010101" pitchFamily="49" charset="-122"/>
                    <a:ea typeface="黑体" panose="02010609060101010101" pitchFamily="49" charset="-122"/>
                  </a:rPr>
                  <a:t>01</a:t>
                </a:r>
                <a14:m>
                  <m:oMath xmlns:m="http://schemas.openxmlformats.org/officeDocument/2006/math">
                    <m:r>
                      <a:rPr lang="zh-CN" altLang="en-US" sz="2800" b="1">
                        <a:solidFill>
                          <a:srgbClr val="FF0000"/>
                        </a:solidFill>
                        <a:latin typeface="Cambria Math" panose="02040503050406030204" pitchFamily="18" charset="0"/>
                      </a:rPr>
                      <m:t>→</m:t>
                    </m:r>
                  </m:oMath>
                </a14:m>
                <a:r>
                  <a:rPr lang="en-US" altLang="zh-CN" sz="2800" b="1" dirty="0">
                    <a:solidFill>
                      <a:srgbClr val="FF0000"/>
                    </a:solidFill>
                    <a:latin typeface="黑体" panose="02010609060101010101" pitchFamily="49" charset="-122"/>
                    <a:ea typeface="黑体" panose="02010609060101010101" pitchFamily="49" charset="-122"/>
                  </a:rPr>
                  <a:t>00</a:t>
                </a:r>
                <a:endParaRPr lang="en-US" altLang="zh-CN" sz="2800" b="1" dirty="0">
                  <a:solidFill>
                    <a:srgbClr val="170A8E"/>
                  </a:solidFill>
                  <a:latin typeface="黑体" panose="02010609060101010101" pitchFamily="49" charset="-122"/>
                  <a:ea typeface="黑体" panose="02010609060101010101" pitchFamily="49" charset="-122"/>
                </a:endParaRPr>
              </a:p>
              <a:p>
                <a:pPr marL="457200" indent="-457200">
                  <a:spcAft>
                    <a:spcPts val="1200"/>
                  </a:spcAft>
                  <a:buFont typeface="Wingdings" panose="05000000000000000000" pitchFamily="2" charset="2"/>
                  <a:buChar char="Ø"/>
                </a:pPr>
                <a:r>
                  <a:rPr lang="zh-CN" altLang="en-US" sz="2800" b="1" dirty="0">
                    <a:solidFill>
                      <a:srgbClr val="170A8E"/>
                    </a:solidFill>
                    <a:latin typeface="黑体" panose="02010609060101010101" pitchFamily="49" charset="-122"/>
                    <a:ea typeface="黑体" panose="02010609060101010101" pitchFamily="49" charset="-122"/>
                  </a:rPr>
                  <a:t>是一个四进制减法计数器</a:t>
                </a:r>
                <a:endParaRPr lang="en-US" altLang="zh-CN" sz="2800" b="1" dirty="0">
                  <a:solidFill>
                    <a:srgbClr val="170A8E"/>
                  </a:solidFill>
                  <a:latin typeface="黑体" panose="02010609060101010101" pitchFamily="49" charset="-122"/>
                  <a:ea typeface="黑体" panose="02010609060101010101" pitchFamily="49" charset="-122"/>
                </a:endParaRPr>
              </a:p>
              <a:p>
                <a:pPr marL="457200" indent="-457200">
                  <a:spcAft>
                    <a:spcPts val="1200"/>
                  </a:spcAft>
                  <a:buFont typeface="Wingdings" panose="05000000000000000000" pitchFamily="2" charset="2"/>
                  <a:buChar char="Ø"/>
                </a:pPr>
                <a:r>
                  <a:rPr lang="en-US" altLang="zh-CN" sz="2800" b="1" i="1" dirty="0">
                    <a:solidFill>
                      <a:srgbClr val="170A8E"/>
                    </a:solidFill>
                    <a:latin typeface="黑体" panose="02010609060101010101" pitchFamily="49" charset="-122"/>
                    <a:ea typeface="黑体" panose="02010609060101010101" pitchFamily="49" charset="-122"/>
                  </a:rPr>
                  <a:t>Z </a:t>
                </a:r>
                <a:r>
                  <a:rPr lang="zh-CN" altLang="en-US" sz="2800" b="1" dirty="0">
                    <a:solidFill>
                      <a:srgbClr val="170A8E"/>
                    </a:solidFill>
                    <a:latin typeface="黑体" panose="02010609060101010101" pitchFamily="49" charset="-122"/>
                    <a:ea typeface="黑体" panose="02010609060101010101" pitchFamily="49" charset="-122"/>
                  </a:rPr>
                  <a:t>是</a:t>
                </a:r>
                <a:r>
                  <a:rPr lang="zh-CN" altLang="en-US" sz="2800" b="1" dirty="0">
                    <a:solidFill>
                      <a:srgbClr val="FF0000"/>
                    </a:solidFill>
                    <a:latin typeface="黑体" panose="02010609060101010101" pitchFamily="49" charset="-122"/>
                    <a:ea typeface="黑体" panose="02010609060101010101" pitchFamily="49" charset="-122"/>
                  </a:rPr>
                  <a:t>借位</a:t>
                </a:r>
                <a:r>
                  <a:rPr lang="zh-CN" altLang="en-US" sz="2800" b="1" dirty="0">
                    <a:solidFill>
                      <a:srgbClr val="170A8E"/>
                    </a:solidFill>
                    <a:latin typeface="黑体" panose="02010609060101010101" pitchFamily="49" charset="-122"/>
                    <a:ea typeface="黑体" panose="02010609060101010101" pitchFamily="49" charset="-122"/>
                  </a:rPr>
                  <a:t>信号</a:t>
                </a:r>
                <a:endParaRPr lang="zh-CN" altLang="en-US" sz="2800" b="1" dirty="0">
                  <a:solidFill>
                    <a:srgbClr val="170A8E"/>
                  </a:solidFill>
                  <a:latin typeface="黑体" panose="02010609060101010101" pitchFamily="49" charset="-122"/>
                  <a:ea typeface="黑体" panose="02010609060101010101" pitchFamily="49" charset="-122"/>
                </a:endParaRPr>
              </a:p>
            </p:txBody>
          </p:sp>
        </mc:Choice>
        <mc:Fallback>
          <p:sp>
            <p:nvSpPr>
              <p:cNvPr id="2" name="矩形 1"/>
              <p:cNvSpPr>
                <a:spLocks noRot="1" noChangeAspect="1" noMove="1" noResize="1" noEditPoints="1" noAdjustHandles="1" noChangeArrowheads="1" noChangeShapeType="1" noTextEdit="1"/>
              </p:cNvSpPr>
              <p:nvPr/>
            </p:nvSpPr>
            <p:spPr>
              <a:xfrm>
                <a:off x="573204" y="3927720"/>
                <a:ext cx="8089533" cy="2123658"/>
              </a:xfrm>
              <a:prstGeom prst="rect">
                <a:avLst/>
              </a:prstGeom>
              <a:blipFill rotWithShape="1">
                <a:blip r:embed="rId3"/>
                <a:stretch>
                  <a:fillRect l="-5" t="-12" r="1" b="22"/>
                </a:stretch>
              </a:blipFill>
            </p:spPr>
            <p:txBody>
              <a:bodyPr/>
              <a:lstStyle/>
              <a:p>
                <a:r>
                  <a:rPr lang="zh-CN" altLang="en-US">
                    <a:noFill/>
                  </a:rPr>
                  <a:t> </a:t>
                </a:r>
              </a:p>
            </p:txBody>
          </p:sp>
        </mc:Fallback>
      </mc:AlternateContent>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作业</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3" name="文本框 2"/>
          <p:cNvSpPr txBox="1"/>
          <p:nvPr/>
        </p:nvSpPr>
        <p:spPr>
          <a:xfrm>
            <a:off x="218756" y="704395"/>
            <a:ext cx="2340689" cy="400110"/>
          </a:xfrm>
          <a:prstGeom prst="rect">
            <a:avLst/>
          </a:prstGeom>
          <a:noFill/>
        </p:spPr>
        <p:txBody>
          <a:bodyPr wrap="square" rtlCol="0">
            <a:spAutoFit/>
          </a:bodyPr>
          <a:lstStyle/>
          <a:p>
            <a:r>
              <a:rPr lang="zh-CN" altLang="en-US" sz="2000" b="1" dirty="0"/>
              <a:t>第</a:t>
            </a:r>
            <a:r>
              <a:rPr lang="en-US" altLang="zh-CN" sz="2000" b="1" dirty="0"/>
              <a:t>5</a:t>
            </a:r>
            <a:r>
              <a:rPr lang="zh-CN" altLang="en-US" sz="2000" b="1" dirty="0"/>
              <a:t>章习题</a:t>
            </a:r>
            <a:endParaRPr lang="zh-CN" altLang="en-US" sz="2000" b="1" dirty="0"/>
          </a:p>
        </p:txBody>
      </p:sp>
      <p:pic>
        <p:nvPicPr>
          <p:cNvPr id="4" name="图片 3"/>
          <p:cNvPicPr>
            <a:picLocks noChangeAspect="1"/>
          </p:cNvPicPr>
          <p:nvPr/>
        </p:nvPicPr>
        <p:blipFill>
          <a:blip r:embed="rId2"/>
          <a:stretch>
            <a:fillRect/>
          </a:stretch>
        </p:blipFill>
        <p:spPr>
          <a:xfrm>
            <a:off x="761271" y="1200098"/>
            <a:ext cx="7026441" cy="2839284"/>
          </a:xfrm>
          <a:prstGeom prst="rect">
            <a:avLst/>
          </a:prstGeom>
        </p:spPr>
      </p:pic>
      <p:pic>
        <p:nvPicPr>
          <p:cNvPr id="5" name="图片 4"/>
          <p:cNvPicPr>
            <a:picLocks noChangeAspect="1"/>
          </p:cNvPicPr>
          <p:nvPr/>
        </p:nvPicPr>
        <p:blipFill>
          <a:blip r:embed="rId3"/>
          <a:stretch>
            <a:fillRect/>
          </a:stretch>
        </p:blipFill>
        <p:spPr>
          <a:xfrm>
            <a:off x="761271" y="4212646"/>
            <a:ext cx="6871036" cy="2336517"/>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cxnSp>
        <p:nvCxnSpPr>
          <p:cNvPr id="6" name="直接连接符 5"/>
          <p:cNvCxnSpPr/>
          <p:nvPr/>
        </p:nvCxnSpPr>
        <p:spPr>
          <a:xfrm>
            <a:off x="1346126" y="615323"/>
            <a:ext cx="76946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淘宝网chenying0907出品 6"/>
          <p:cNvSpPr txBox="1"/>
          <p:nvPr/>
        </p:nvSpPr>
        <p:spPr>
          <a:xfrm>
            <a:off x="1560685" y="50071"/>
            <a:ext cx="6182082" cy="584775"/>
          </a:xfrm>
          <a:prstGeom prst="rect">
            <a:avLst/>
          </a:prstGeom>
          <a:noFill/>
        </p:spPr>
        <p:txBody>
          <a:bodyPr wrap="square" rtlCol="0">
            <a:spAutoFit/>
          </a:bodyPr>
          <a:lstStyle/>
          <a:p>
            <a:pPr>
              <a:defRPr/>
            </a:pPr>
            <a:r>
              <a:rPr lang="zh-CN" altLang="en-US" sz="3200" b="1" dirty="0">
                <a:solidFill>
                  <a:srgbClr val="4472C4">
                    <a:lumMod val="75000"/>
                  </a:srgbClr>
                </a:solidFill>
                <a:latin typeface="微软雅黑" panose="020B0503020204020204" pitchFamily="34" charset="-122"/>
                <a:ea typeface="微软雅黑" panose="020B0503020204020204" pitchFamily="34" charset="-122"/>
              </a:rPr>
              <a:t>作业</a:t>
            </a:r>
            <a:endParaRPr lang="zh-CN" altLang="en-US" sz="3200" b="1" dirty="0">
              <a:solidFill>
                <a:srgbClr val="4472C4">
                  <a:lumMod val="75000"/>
                </a:srgbClr>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stretch>
            <a:fillRect/>
          </a:stretch>
        </p:blipFill>
        <p:spPr>
          <a:xfrm>
            <a:off x="0" y="0"/>
            <a:ext cx="1435167" cy="615323"/>
          </a:xfrm>
          <a:prstGeom prst="rect">
            <a:avLst/>
          </a:prstGeom>
        </p:spPr>
      </p:pic>
      <p:sp>
        <p:nvSpPr>
          <p:cNvPr id="3" name="文本框 2"/>
          <p:cNvSpPr txBox="1"/>
          <p:nvPr/>
        </p:nvSpPr>
        <p:spPr>
          <a:xfrm>
            <a:off x="218756" y="704395"/>
            <a:ext cx="2340689" cy="400110"/>
          </a:xfrm>
          <a:prstGeom prst="rect">
            <a:avLst/>
          </a:prstGeom>
          <a:noFill/>
        </p:spPr>
        <p:txBody>
          <a:bodyPr wrap="square" rtlCol="0">
            <a:spAutoFit/>
          </a:bodyPr>
          <a:lstStyle/>
          <a:p>
            <a:r>
              <a:rPr lang="zh-CN" altLang="en-US" sz="2000" b="1" dirty="0"/>
              <a:t>第</a:t>
            </a:r>
            <a:r>
              <a:rPr lang="en-US" altLang="zh-CN" sz="2000" b="1" dirty="0"/>
              <a:t>5</a:t>
            </a:r>
            <a:r>
              <a:rPr lang="zh-CN" altLang="en-US" sz="2000" b="1" dirty="0"/>
              <a:t>章习题</a:t>
            </a:r>
            <a:endParaRPr lang="zh-CN" altLang="en-US" sz="2000" b="1" dirty="0"/>
          </a:p>
        </p:txBody>
      </p:sp>
      <p:pic>
        <p:nvPicPr>
          <p:cNvPr id="2" name="图片 1"/>
          <p:cNvPicPr>
            <a:picLocks noChangeAspect="1"/>
          </p:cNvPicPr>
          <p:nvPr/>
        </p:nvPicPr>
        <p:blipFill>
          <a:blip r:embed="rId2"/>
          <a:stretch>
            <a:fillRect/>
          </a:stretch>
        </p:blipFill>
        <p:spPr>
          <a:xfrm>
            <a:off x="402511" y="1926751"/>
            <a:ext cx="8334603" cy="273106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7" name="矩形 26"/>
          <p:cNvSpPr/>
          <p:nvPr/>
        </p:nvSpPr>
        <p:spPr>
          <a:xfrm>
            <a:off x="6640592" y="4194740"/>
            <a:ext cx="581352" cy="353943"/>
          </a:xfrm>
          <a:prstGeom prst="rect">
            <a:avLst/>
          </a:prstGeom>
        </p:spPr>
        <p:txBody>
          <a:bodyPr wrap="square">
            <a:spAutoFit/>
          </a:bodyPr>
          <a:lstStyle/>
          <a:p>
            <a:pPr>
              <a:defRPr/>
            </a:pPr>
            <a:r>
              <a:rPr lang="en-US" altLang="zh-CN" sz="100" kern="0" dirty="0">
                <a:solidFill>
                  <a:prstClr val="white"/>
                </a:solidFill>
              </a:rPr>
              <a:t>PPT</a:t>
            </a:r>
            <a:r>
              <a:rPr lang="zh-CN" altLang="en-US" sz="100" kern="0" dirty="0">
                <a:solidFill>
                  <a:prstClr val="white"/>
                </a:solidFill>
              </a:rPr>
              <a:t>模板下载：</a:t>
            </a:r>
            <a:r>
              <a:rPr lang="en-US" altLang="zh-CN" sz="100" kern="0" dirty="0">
                <a:solidFill>
                  <a:prstClr val="white"/>
                </a:solidFill>
              </a:rPr>
              <a:t>www.1ppt.com/moban/     </a:t>
            </a:r>
            <a:r>
              <a:rPr lang="zh-CN" altLang="en-US" sz="100" kern="0" dirty="0">
                <a:solidFill>
                  <a:prstClr val="white"/>
                </a:solidFill>
              </a:rPr>
              <a:t>行业</a:t>
            </a:r>
            <a:r>
              <a:rPr lang="en-US" altLang="zh-CN" sz="100" kern="0" dirty="0">
                <a:solidFill>
                  <a:prstClr val="white"/>
                </a:solidFill>
              </a:rPr>
              <a:t>PPT</a:t>
            </a:r>
            <a:r>
              <a:rPr lang="zh-CN" altLang="en-US" sz="100" kern="0" dirty="0">
                <a:solidFill>
                  <a:prstClr val="white"/>
                </a:solidFill>
              </a:rPr>
              <a:t>模板：</a:t>
            </a:r>
            <a:r>
              <a:rPr lang="en-US" altLang="zh-CN" sz="100" kern="0" dirty="0">
                <a:solidFill>
                  <a:prstClr val="white"/>
                </a:solidFill>
              </a:rPr>
              <a:t>www.1ppt.com/hangye/ </a:t>
            </a:r>
            <a:endParaRPr lang="en-US" altLang="zh-CN" sz="100" kern="0" dirty="0">
              <a:solidFill>
                <a:prstClr val="white"/>
              </a:solidFill>
            </a:endParaRPr>
          </a:p>
          <a:p>
            <a:pPr>
              <a:defRPr/>
            </a:pPr>
            <a:r>
              <a:rPr lang="zh-CN" altLang="en-US" sz="100" kern="0" dirty="0">
                <a:solidFill>
                  <a:prstClr val="white"/>
                </a:solidFill>
              </a:rPr>
              <a:t>节日</a:t>
            </a:r>
            <a:r>
              <a:rPr lang="en-US" altLang="zh-CN" sz="100" kern="0" dirty="0">
                <a:solidFill>
                  <a:prstClr val="white"/>
                </a:solidFill>
              </a:rPr>
              <a:t>PPT</a:t>
            </a:r>
            <a:r>
              <a:rPr lang="zh-CN" altLang="en-US" sz="100" kern="0" dirty="0">
                <a:solidFill>
                  <a:prstClr val="white"/>
                </a:solidFill>
              </a:rPr>
              <a:t>模板：</a:t>
            </a:r>
            <a:r>
              <a:rPr lang="en-US" altLang="zh-CN" sz="100" kern="0" dirty="0">
                <a:solidFill>
                  <a:prstClr val="white"/>
                </a:solidFill>
              </a:rPr>
              <a:t>www.1ppt.com/jieri/           PPT</a:t>
            </a:r>
            <a:r>
              <a:rPr lang="zh-CN" altLang="en-US" sz="100" kern="0" dirty="0">
                <a:solidFill>
                  <a:prstClr val="white"/>
                </a:solidFill>
              </a:rPr>
              <a:t>素材下载：</a:t>
            </a:r>
            <a:r>
              <a:rPr lang="en-US" altLang="zh-CN" sz="100" kern="0" dirty="0">
                <a:solidFill>
                  <a:prstClr val="white"/>
                </a:solidFill>
              </a:rPr>
              <a:t>www.1ppt.com/sucai/</a:t>
            </a:r>
            <a:endParaRPr lang="en-US" altLang="zh-CN" sz="100" kern="0" dirty="0">
              <a:solidFill>
                <a:prstClr val="white"/>
              </a:solidFill>
            </a:endParaRPr>
          </a:p>
          <a:p>
            <a:pPr>
              <a:defRPr/>
            </a:pPr>
            <a:r>
              <a:rPr lang="en-US" altLang="zh-CN" sz="100" kern="0" dirty="0">
                <a:solidFill>
                  <a:prstClr val="white"/>
                </a:solidFill>
              </a:rPr>
              <a:t>PPT</a:t>
            </a:r>
            <a:r>
              <a:rPr lang="zh-CN" altLang="en-US" sz="100" kern="0" dirty="0">
                <a:solidFill>
                  <a:prstClr val="white"/>
                </a:solidFill>
              </a:rPr>
              <a:t>背景图片：</a:t>
            </a:r>
            <a:r>
              <a:rPr lang="en-US" altLang="zh-CN" sz="100" kern="0" dirty="0">
                <a:solidFill>
                  <a:prstClr val="white"/>
                </a:solidFill>
              </a:rPr>
              <a:t>www.1ppt.com/beijing/      PPT</a:t>
            </a:r>
            <a:r>
              <a:rPr lang="zh-CN" altLang="en-US" sz="100" kern="0" dirty="0">
                <a:solidFill>
                  <a:prstClr val="white"/>
                </a:solidFill>
              </a:rPr>
              <a:t>图表下载：</a:t>
            </a:r>
            <a:r>
              <a:rPr lang="en-US" altLang="zh-CN" sz="100" kern="0" dirty="0">
                <a:solidFill>
                  <a:prstClr val="white"/>
                </a:solidFill>
              </a:rPr>
              <a:t>www.1ppt.com/tubiao/      </a:t>
            </a:r>
            <a:endParaRPr lang="en-US" altLang="zh-CN" sz="100" kern="0" dirty="0">
              <a:solidFill>
                <a:prstClr val="white"/>
              </a:solidFill>
            </a:endParaRPr>
          </a:p>
          <a:p>
            <a:pPr>
              <a:defRPr/>
            </a:pPr>
            <a:r>
              <a:rPr lang="zh-CN" altLang="en-US" sz="100" kern="0" dirty="0">
                <a:solidFill>
                  <a:prstClr val="white"/>
                </a:solidFill>
              </a:rPr>
              <a:t>优秀</a:t>
            </a:r>
            <a:r>
              <a:rPr lang="en-US" altLang="zh-CN" sz="100" kern="0" dirty="0">
                <a:solidFill>
                  <a:prstClr val="white"/>
                </a:solidFill>
              </a:rPr>
              <a:t>PPT</a:t>
            </a:r>
            <a:r>
              <a:rPr lang="zh-CN" altLang="en-US" sz="100" kern="0" dirty="0">
                <a:solidFill>
                  <a:prstClr val="white"/>
                </a:solidFill>
              </a:rPr>
              <a:t>下载：</a:t>
            </a:r>
            <a:r>
              <a:rPr lang="en-US" altLang="zh-CN" sz="100" kern="0" dirty="0">
                <a:solidFill>
                  <a:prstClr val="white"/>
                </a:solidFill>
              </a:rPr>
              <a:t>www.1ppt.com/xiazai/        PPT</a:t>
            </a:r>
            <a:r>
              <a:rPr lang="zh-CN" altLang="en-US" sz="100" kern="0" dirty="0">
                <a:solidFill>
                  <a:prstClr val="white"/>
                </a:solidFill>
              </a:rPr>
              <a:t>教程： </a:t>
            </a:r>
            <a:r>
              <a:rPr lang="en-US" altLang="zh-CN" sz="100" kern="0" dirty="0">
                <a:solidFill>
                  <a:prstClr val="white"/>
                </a:solidFill>
              </a:rPr>
              <a:t>www.1ppt.com/powerpoint/      </a:t>
            </a:r>
            <a:endParaRPr lang="en-US" altLang="zh-CN" sz="100" kern="0" dirty="0">
              <a:solidFill>
                <a:prstClr val="white"/>
              </a:solidFill>
            </a:endParaRPr>
          </a:p>
          <a:p>
            <a:pPr>
              <a:defRPr/>
            </a:pPr>
            <a:r>
              <a:rPr lang="en-US" altLang="zh-CN" sz="100" kern="0" dirty="0">
                <a:solidFill>
                  <a:prstClr val="white"/>
                </a:solidFill>
              </a:rPr>
              <a:t>Word</a:t>
            </a:r>
            <a:r>
              <a:rPr lang="zh-CN" altLang="en-US" sz="100" kern="0" dirty="0">
                <a:solidFill>
                  <a:prstClr val="white"/>
                </a:solidFill>
              </a:rPr>
              <a:t>教程： </a:t>
            </a:r>
            <a:r>
              <a:rPr lang="en-US" altLang="zh-CN" sz="100" kern="0" dirty="0">
                <a:solidFill>
                  <a:prstClr val="white"/>
                </a:solidFill>
              </a:rPr>
              <a:t>www.1ppt.com/word/              Excel</a:t>
            </a:r>
            <a:r>
              <a:rPr lang="zh-CN" altLang="en-US" sz="100" kern="0" dirty="0">
                <a:solidFill>
                  <a:prstClr val="white"/>
                </a:solidFill>
              </a:rPr>
              <a:t>教程：</a:t>
            </a:r>
            <a:r>
              <a:rPr lang="en-US" altLang="zh-CN" sz="100" kern="0" dirty="0">
                <a:solidFill>
                  <a:prstClr val="white"/>
                </a:solidFill>
              </a:rPr>
              <a:t>www.1ppt.com/excel/  </a:t>
            </a:r>
            <a:endParaRPr lang="en-US" altLang="zh-CN" sz="100" kern="0" dirty="0">
              <a:solidFill>
                <a:prstClr val="white"/>
              </a:solidFill>
            </a:endParaRPr>
          </a:p>
          <a:p>
            <a:pPr>
              <a:defRPr/>
            </a:pPr>
            <a:r>
              <a:rPr lang="zh-CN" altLang="en-US" sz="100" kern="0" dirty="0">
                <a:solidFill>
                  <a:prstClr val="white"/>
                </a:solidFill>
              </a:rPr>
              <a:t>资料下载：</a:t>
            </a:r>
            <a:r>
              <a:rPr lang="en-US" altLang="zh-CN" sz="100" kern="0" dirty="0">
                <a:solidFill>
                  <a:prstClr val="white"/>
                </a:solidFill>
              </a:rPr>
              <a:t>www.1ppt.com/ziliao/                PPT</a:t>
            </a:r>
            <a:r>
              <a:rPr lang="zh-CN" altLang="en-US" sz="100" kern="0" dirty="0">
                <a:solidFill>
                  <a:prstClr val="white"/>
                </a:solidFill>
              </a:rPr>
              <a:t>课件下载：</a:t>
            </a:r>
            <a:r>
              <a:rPr lang="en-US" altLang="zh-CN" sz="100" kern="0" dirty="0">
                <a:solidFill>
                  <a:prstClr val="white"/>
                </a:solidFill>
              </a:rPr>
              <a:t>www.1ppt.com/kejian/ </a:t>
            </a:r>
            <a:endParaRPr lang="en-US" altLang="zh-CN" sz="100" kern="0" dirty="0">
              <a:solidFill>
                <a:prstClr val="white"/>
              </a:solidFill>
            </a:endParaRPr>
          </a:p>
          <a:p>
            <a:pPr>
              <a:defRPr/>
            </a:pPr>
            <a:r>
              <a:rPr lang="zh-CN" altLang="en-US" sz="100" kern="0" dirty="0">
                <a:solidFill>
                  <a:prstClr val="white"/>
                </a:solidFill>
              </a:rPr>
              <a:t>范文下载：</a:t>
            </a:r>
            <a:r>
              <a:rPr lang="en-US" altLang="zh-CN" sz="100" kern="0" dirty="0">
                <a:solidFill>
                  <a:prstClr val="white"/>
                </a:solidFill>
              </a:rPr>
              <a:t>www.1ppt.com/fanwen/             </a:t>
            </a:r>
            <a:r>
              <a:rPr lang="zh-CN" altLang="en-US" sz="100" kern="0" dirty="0">
                <a:solidFill>
                  <a:prstClr val="white"/>
                </a:solidFill>
              </a:rPr>
              <a:t>试卷下载：</a:t>
            </a:r>
            <a:r>
              <a:rPr lang="en-US" altLang="zh-CN" sz="100" kern="0" dirty="0">
                <a:solidFill>
                  <a:prstClr val="white"/>
                </a:solidFill>
              </a:rPr>
              <a:t>www.1ppt.com/shiti/  </a:t>
            </a:r>
            <a:endParaRPr lang="en-US" altLang="zh-CN" sz="100" kern="0" dirty="0">
              <a:solidFill>
                <a:prstClr val="white"/>
              </a:solidFill>
            </a:endParaRPr>
          </a:p>
          <a:p>
            <a:pPr>
              <a:defRPr/>
            </a:pPr>
            <a:r>
              <a:rPr lang="zh-CN" altLang="en-US" sz="100" kern="0" dirty="0">
                <a:solidFill>
                  <a:prstClr val="white"/>
                </a:solidFill>
              </a:rPr>
              <a:t>教案下载：</a:t>
            </a:r>
            <a:r>
              <a:rPr lang="en-US" altLang="zh-CN" sz="100" kern="0" dirty="0">
                <a:solidFill>
                  <a:prstClr val="white"/>
                </a:solidFill>
              </a:rPr>
              <a:t>www.1ppt.com/jiaoan/        </a:t>
            </a:r>
            <a:endParaRPr lang="en-US" altLang="zh-CN" sz="100" kern="0" dirty="0">
              <a:solidFill>
                <a:prstClr val="white"/>
              </a:solidFill>
            </a:endParaRPr>
          </a:p>
          <a:p>
            <a:pPr>
              <a:defRPr/>
            </a:pPr>
            <a:r>
              <a:rPr lang="zh-CN" altLang="en-US" sz="100" kern="0" dirty="0">
                <a:solidFill>
                  <a:prstClr val="white"/>
                </a:solidFill>
              </a:rPr>
              <a:t>字体下载：</a:t>
            </a:r>
            <a:r>
              <a:rPr lang="en-US" altLang="zh-CN" sz="100" kern="0" dirty="0">
                <a:solidFill>
                  <a:prstClr val="white"/>
                </a:solidFill>
              </a:rPr>
              <a:t>www.1ppt.com/ziti/</a:t>
            </a:r>
            <a:endParaRPr lang="en-US" altLang="zh-CN" sz="100" kern="0" dirty="0">
              <a:solidFill>
                <a:prstClr val="white"/>
              </a:solidFill>
            </a:endParaRPr>
          </a:p>
          <a:p>
            <a:pPr>
              <a:defRPr/>
            </a:pPr>
            <a:r>
              <a:rPr lang="en-US" altLang="zh-CN" sz="100" kern="0" dirty="0">
                <a:solidFill>
                  <a:prstClr val="white"/>
                </a:solidFill>
              </a:rPr>
              <a:t> </a:t>
            </a:r>
            <a:endParaRPr lang="zh-CN" altLang="en-US" sz="100" kern="0" dirty="0">
              <a:solidFill>
                <a:prstClr val="white"/>
              </a:solidFill>
            </a:endParaRPr>
          </a:p>
        </p:txBody>
      </p:sp>
      <p:sp>
        <p:nvSpPr>
          <p:cNvPr id="4" name="淘宝网chenying0907出品 3"/>
          <p:cNvSpPr/>
          <p:nvPr/>
        </p:nvSpPr>
        <p:spPr>
          <a:xfrm>
            <a:off x="0" y="2836881"/>
            <a:ext cx="233314" cy="19089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淘宝网chenying0907出品 4"/>
          <p:cNvSpPr/>
          <p:nvPr/>
        </p:nvSpPr>
        <p:spPr>
          <a:xfrm>
            <a:off x="5791596" y="2836881"/>
            <a:ext cx="233314" cy="19089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淘宝网chenying0907出品 7"/>
          <p:cNvSpPr/>
          <p:nvPr/>
        </p:nvSpPr>
        <p:spPr>
          <a:xfrm>
            <a:off x="6046708" y="3246665"/>
            <a:ext cx="289874" cy="1485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nvCxnSpPr>
        <p:spPr>
          <a:xfrm>
            <a:off x="6024911" y="4745807"/>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淘宝网chenying0907出品 10"/>
          <p:cNvSpPr/>
          <p:nvPr/>
        </p:nvSpPr>
        <p:spPr>
          <a:xfrm>
            <a:off x="6350719" y="3300665"/>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淘宝网chenying0907出品 11"/>
          <p:cNvSpPr/>
          <p:nvPr/>
        </p:nvSpPr>
        <p:spPr>
          <a:xfrm>
            <a:off x="6676531" y="3300665"/>
            <a:ext cx="289874" cy="1431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淘宝网chenying0907出品 12"/>
          <p:cNvSpPr/>
          <p:nvPr/>
        </p:nvSpPr>
        <p:spPr>
          <a:xfrm>
            <a:off x="6980542" y="3327665"/>
            <a:ext cx="289874" cy="1404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淘宝网chenying0907出品 13"/>
          <p:cNvSpPr/>
          <p:nvPr/>
        </p:nvSpPr>
        <p:spPr>
          <a:xfrm>
            <a:off x="7284553" y="3354665"/>
            <a:ext cx="289874" cy="1377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淘宝网chenying0907出品 14"/>
          <p:cNvSpPr/>
          <p:nvPr/>
        </p:nvSpPr>
        <p:spPr>
          <a:xfrm>
            <a:off x="7601500" y="3381665"/>
            <a:ext cx="289874" cy="135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淘宝网chenying0907出品 15"/>
          <p:cNvSpPr/>
          <p:nvPr/>
        </p:nvSpPr>
        <p:spPr>
          <a:xfrm rot="20959521">
            <a:off x="8008894" y="3420032"/>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淘宝网chenying0907出品 16"/>
          <p:cNvSpPr/>
          <p:nvPr/>
        </p:nvSpPr>
        <p:spPr>
          <a:xfrm rot="19779136">
            <a:off x="8519314" y="3451229"/>
            <a:ext cx="289874" cy="129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nvCxnSpPr>
        <p:spPr>
          <a:xfrm>
            <a:off x="233316" y="4745807"/>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33316" y="285101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233315" y="4195517"/>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2" name="淘宝网chenying0907出品 21"/>
          <p:cNvSpPr txBox="1"/>
          <p:nvPr/>
        </p:nvSpPr>
        <p:spPr>
          <a:xfrm>
            <a:off x="1550958" y="3076801"/>
            <a:ext cx="2882747" cy="923330"/>
          </a:xfrm>
          <a:prstGeom prst="rect">
            <a:avLst/>
          </a:prstGeom>
          <a:noFill/>
        </p:spPr>
        <p:txBody>
          <a:bodyPr wrap="square" rtlCol="0">
            <a:spAutoFit/>
          </a:bodyPr>
          <a:lstStyle/>
          <a:p>
            <a:r>
              <a:rPr lang="zh-CN" altLang="en-US" sz="5400" b="1" dirty="0">
                <a:solidFill>
                  <a:schemeClr val="accent1">
                    <a:lumMod val="50000"/>
                  </a:schemeClr>
                </a:solidFill>
                <a:latin typeface="微软雅黑" panose="020B0503020204020204" pitchFamily="34" charset="-122"/>
                <a:ea typeface="微软雅黑" panose="020B0503020204020204" pitchFamily="34" charset="-122"/>
              </a:rPr>
              <a:t>谢谢！</a:t>
            </a:r>
            <a:endParaRPr lang="zh-CN" altLang="en-US" sz="54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23" name="淘宝网chenying0907出品 22"/>
          <p:cNvSpPr txBox="1"/>
          <p:nvPr/>
        </p:nvSpPr>
        <p:spPr>
          <a:xfrm>
            <a:off x="651868" y="4297539"/>
            <a:ext cx="1824086" cy="369332"/>
          </a:xfrm>
          <a:prstGeom prst="rect">
            <a:avLst/>
          </a:prstGeom>
          <a:noFill/>
        </p:spPr>
        <p:txBody>
          <a:bodyPr wrap="square" rtlCol="0">
            <a:spAutoFit/>
          </a:bodyPr>
          <a:lstStyle/>
          <a:p>
            <a:r>
              <a:rPr lang="en-US" altLang="zh-CN" b="1" dirty="0">
                <a:latin typeface="微软雅黑" panose="020B0503020204020204" pitchFamily="34" charset="-122"/>
                <a:ea typeface="微软雅黑" panose="020B0503020204020204" pitchFamily="34" charset="-122"/>
              </a:rPr>
              <a:t> </a:t>
            </a:r>
            <a:endParaRPr lang="zh-CN" altLang="en-US" b="1" dirty="0">
              <a:latin typeface="微软雅黑" panose="020B0503020204020204" pitchFamily="34" charset="-122"/>
              <a:ea typeface="微软雅黑" panose="020B0503020204020204" pitchFamily="34" charset="-122"/>
            </a:endParaRPr>
          </a:p>
        </p:txBody>
      </p:sp>
      <p:sp>
        <p:nvSpPr>
          <p:cNvPr id="24" name="淘宝网chenying0907出品 23"/>
          <p:cNvSpPr txBox="1"/>
          <p:nvPr/>
        </p:nvSpPr>
        <p:spPr>
          <a:xfrm>
            <a:off x="2871046" y="4297540"/>
            <a:ext cx="2712050" cy="368300"/>
          </a:xfrm>
          <a:prstGeom prst="rect">
            <a:avLst/>
          </a:prstGeom>
          <a:noFill/>
        </p:spPr>
        <p:txBody>
          <a:bodyPr wrap="square" rtlCol="0">
            <a:spAutoFit/>
          </a:bodyPr>
          <a:lstStyle/>
          <a:p>
            <a:fld id="{BB962C8B-B14F-4D97-AF65-F5344CB8AC3E}" type="datetime1">
              <a:rPr lang="zh-CN" altLang="zh-CN" b="1" dirty="0">
                <a:latin typeface="微软雅黑" panose="020B0503020204020204" pitchFamily="34" charset="-122"/>
                <a:ea typeface="微软雅黑" panose="020B0503020204020204" pitchFamily="34" charset="-122"/>
              </a:rPr>
            </a:fld>
            <a:endParaRPr lang="zh-CN" altLang="zh-CN" b="1" dirty="0">
              <a:latin typeface="微软雅黑" panose="020B0503020204020204" pitchFamily="34" charset="-122"/>
              <a:ea typeface="微软雅黑" panose="020B0503020204020204" pitchFamily="34" charset="-122"/>
            </a:endParaRPr>
          </a:p>
        </p:txBody>
      </p:sp>
      <p:sp>
        <p:nvSpPr>
          <p:cNvPr id="26" name="淘宝网chenying0907出品 25"/>
          <p:cNvSpPr txBox="1"/>
          <p:nvPr/>
        </p:nvSpPr>
        <p:spPr>
          <a:xfrm>
            <a:off x="920435" y="265888"/>
            <a:ext cx="2085680" cy="646331"/>
          </a:xfrm>
          <a:prstGeom prst="rect">
            <a:avLst/>
          </a:prstGeom>
          <a:noFill/>
        </p:spPr>
        <p:txBody>
          <a:bodyPr wrap="square" rtlCol="0">
            <a:spAutoFit/>
          </a:bodyPr>
          <a:lstStyle/>
          <a:p>
            <a:pPr algn="ctr"/>
            <a:r>
              <a:rPr lang="zh-CN" altLang="en-US" b="1" dirty="0">
                <a:latin typeface="华文行楷" panose="02010800040101010101" pitchFamily="2" charset="-122"/>
                <a:ea typeface="华文行楷" panose="02010800040101010101" pitchFamily="2" charset="-122"/>
              </a:rPr>
              <a:t>武汉大学</a:t>
            </a:r>
            <a:endParaRPr lang="en-US" altLang="zh-CN" b="1" dirty="0">
              <a:latin typeface="华文行楷" panose="02010800040101010101" pitchFamily="2" charset="-122"/>
              <a:ea typeface="华文行楷" panose="02010800040101010101" pitchFamily="2" charset="-122"/>
            </a:endParaRPr>
          </a:p>
          <a:p>
            <a:r>
              <a:rPr lang="en-US" altLang="zh-CN" b="1" dirty="0">
                <a:latin typeface="华文行楷" panose="02010800040101010101" pitchFamily="2" charset="-122"/>
                <a:ea typeface="华文行楷" panose="02010800040101010101" pitchFamily="2" charset="-122"/>
              </a:rPr>
              <a:t>    Wuhan University</a:t>
            </a:r>
            <a:endParaRPr lang="zh-CN" altLang="en-US" b="1" dirty="0">
              <a:latin typeface="华文行楷" panose="02010800040101010101" pitchFamily="2" charset="-122"/>
              <a:ea typeface="华文行楷" panose="02010800040101010101" pitchFamily="2" charset="-122"/>
            </a:endParaRPr>
          </a:p>
        </p:txBody>
      </p:sp>
      <p:pic>
        <p:nvPicPr>
          <p:cNvPr id="29" name="图片 2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920433" cy="920433"/>
          </a:xfrm>
          <a:prstGeom prst="rect">
            <a:avLst/>
          </a:prstGeom>
        </p:spPr>
      </p:pic>
    </p:spTree>
  </p:cSld>
  <p:clrMapOvr>
    <a:masterClrMapping/>
  </p:clrMapOvr>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PA" val="v3.0.1"/>
</p:tagLst>
</file>

<file path=ppt/tags/tag3.xml><?xml version="1.0" encoding="utf-8"?>
<p:tagLst xmlns:p="http://schemas.openxmlformats.org/presentationml/2006/main">
  <p:tag name="PA" val="v3.0.1"/>
</p:tagLst>
</file>

<file path=ppt/tags/tag4.xml><?xml version="1.0" encoding="utf-8"?>
<p:tagLst xmlns:p="http://schemas.openxmlformats.org/presentationml/2006/main">
  <p:tag name="PA" val="v3.0.1"/>
</p:tagLst>
</file>

<file path=ppt/tags/tag5.xml><?xml version="1.0" encoding="utf-8"?>
<p:tagLst xmlns:p="http://schemas.openxmlformats.org/presentationml/2006/main">
  <p:tag name="PA" val="v3.0.1"/>
</p:tagLst>
</file>

<file path=ppt/tags/tag6.xml><?xml version="1.0" encoding="utf-8"?>
<p:tagLst xmlns:p="http://schemas.openxmlformats.org/presentationml/2006/main">
  <p:tag name="PA" val="v3.0.1"/>
</p:tagLst>
</file>

<file path=ppt/tags/tag7.xml><?xml version="1.0" encoding="utf-8"?>
<p:tagLst xmlns:p="http://schemas.openxmlformats.org/presentationml/2006/main">
  <p:tag name="PA" val="v3.0.1"/>
</p:tagLst>
</file>

<file path=ppt/tags/tag8.xml><?xml version="1.0" encoding="utf-8"?>
<p:tagLst xmlns:p="http://schemas.openxmlformats.org/presentationml/2006/main">
  <p:tag name="PA" val="v3.0.1"/>
</p:tagLst>
</file>

<file path=ppt/tags/tag9.xml><?xml version="1.0" encoding="utf-8"?>
<p:tagLst xmlns:p="http://schemas.openxmlformats.org/presentationml/2006/main">
  <p:tag name="PA" val="v3.0.1"/>
</p:tagLst>
</file>

<file path=ppt/tags/tag10.xml><?xml version="1.0" encoding="utf-8"?>
<p:tagLst xmlns:p="http://schemas.openxmlformats.org/presentationml/2006/main">
  <p:tag name="PA" val="v3.0.1"/>
</p:tagLst>
</file>

<file path=ppt/tags/tag11.xml><?xml version="1.0" encoding="utf-8"?>
<p:tagLst xmlns:p="http://schemas.openxmlformats.org/presentationml/2006/main">
  <p:tag name="PA" val="v3.0.1"/>
</p:tagLst>
</file>

<file path=ppt/tags/tag12.xml><?xml version="1.0" encoding="utf-8"?>
<p:tagLst xmlns:p="http://schemas.openxmlformats.org/presentationml/2006/main">
  <p:tag name="PA" val="v3.0.1"/>
</p:tagLst>
</file>

<file path=ppt/tags/tag13.xml><?xml version="1.0" encoding="utf-8"?>
<p:tagLst xmlns:p="http://schemas.openxmlformats.org/presentationml/2006/main">
  <p:tag name="PA" val="v3.0.1"/>
</p:tagLst>
</file>

<file path=ppt/tags/tag14.xml><?xml version="1.0" encoding="utf-8"?>
<p:tagLst xmlns:p="http://schemas.openxmlformats.org/presentationml/2006/main">
  <p:tag name="PA" val="v3.0.1"/>
</p:tagLst>
</file>

<file path=ppt/tags/tag15.xml><?xml version="1.0" encoding="utf-8"?>
<p:tagLst xmlns:p="http://schemas.openxmlformats.org/presentationml/2006/main">
  <p:tag name="PA" val="v3.0.1"/>
</p:tagLst>
</file>

<file path=ppt/tags/tag16.xml><?xml version="1.0" encoding="utf-8"?>
<p:tagLst xmlns:p="http://schemas.openxmlformats.org/presentationml/2006/main">
  <p:tag name="PA" val="v3.0.1"/>
</p:tagLst>
</file>

<file path=ppt/tags/tag17.xml><?xml version="1.0" encoding="utf-8"?>
<p:tagLst xmlns:p="http://schemas.openxmlformats.org/presentationml/2006/main">
  <p:tag name="PA" val="v3.0.1"/>
</p:tagLst>
</file>

<file path=ppt/tags/tag18.xml><?xml version="1.0" encoding="utf-8"?>
<p:tagLst xmlns:p="http://schemas.openxmlformats.org/presentationml/2006/main">
  <p:tag name="PA" val="v3.0.1"/>
</p:tagLst>
</file>

<file path=ppt/tags/tag19.xml><?xml version="1.0" encoding="utf-8"?>
<p:tagLst xmlns:p="http://schemas.openxmlformats.org/presentationml/2006/main">
  <p:tag name="ISPRING_PRESENTATION_TITLE" val="PowerPoint 演示文稿3"/>
  <p:tag name="commondata" val="eyJoZGlkIjoiNDg3NzM1Mjc0YTM1YzBmZTFmNzkyMmIyZjRlNzBlMDQifQ=="/>
</p:tagLst>
</file>

<file path=ppt/theme/theme1.xml><?xml version="1.0" encoding="utf-8"?>
<a:theme xmlns:a="http://schemas.openxmlformats.org/drawingml/2006/main" name="第一PPT，www.1ppt.com">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4695</Words>
  <Application>WPS 演示</Application>
  <PresentationFormat>全屏显示(4:3)</PresentationFormat>
  <Paragraphs>869</Paragraphs>
  <Slides>48</Slides>
  <Notes>48</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65</vt:i4>
      </vt:variant>
      <vt:variant>
        <vt:lpstr>幻灯片标题</vt:lpstr>
      </vt:variant>
      <vt:variant>
        <vt:i4>48</vt:i4>
      </vt:variant>
    </vt:vector>
  </HeadingPairs>
  <TitlesOfParts>
    <vt:vector size="133" baseType="lpstr">
      <vt:lpstr>Arial</vt:lpstr>
      <vt:lpstr>宋体</vt:lpstr>
      <vt:lpstr>Wingdings</vt:lpstr>
      <vt:lpstr>微软雅黑</vt:lpstr>
      <vt:lpstr>华文行楷</vt:lpstr>
      <vt:lpstr>楷体_GB2312</vt:lpstr>
      <vt:lpstr>新宋体</vt:lpstr>
      <vt:lpstr>Calibri</vt:lpstr>
      <vt:lpstr>Tahoma</vt:lpstr>
      <vt:lpstr>黑体</vt:lpstr>
      <vt:lpstr>Times New Roman</vt:lpstr>
      <vt:lpstr>长城楷体</vt:lpstr>
      <vt:lpstr>Symbol</vt:lpstr>
      <vt:lpstr>Cambria Math</vt:lpstr>
      <vt:lpstr>Cambria Math</vt:lpstr>
      <vt:lpstr>Arial Unicode MS</vt:lpstr>
      <vt:lpstr>等线</vt:lpstr>
      <vt:lpstr>Calibri Light</vt:lpstr>
      <vt:lpstr>等线 Light</vt:lpstr>
      <vt:lpstr>第一PPT，www.1ppt.com</vt:lpstr>
      <vt:lpstr>Equation.DSMT4</vt:lpstr>
      <vt:lpstr>Word.Document.8</vt:lpstr>
      <vt:lpstr>Equation.3</vt:lpstr>
      <vt:lpstr>Word.Document.8</vt:lpstr>
      <vt:lpstr>Equation.3</vt:lpstr>
      <vt:lpstr>Equation.DSMT4</vt:lpstr>
      <vt:lpstr>Paint.Picture</vt:lpstr>
      <vt:lpstr>Word.Document.8</vt:lpstr>
      <vt:lpstr>Equation.3</vt:lpstr>
      <vt:lpstr>Equation.DSMT4</vt:lpstr>
      <vt:lpstr>Equation.3</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Equation.DSMT4</vt:lpstr>
      <vt:lpstr>Equation.DSMT4</vt:lpstr>
      <vt:lpstr>Equation.DSMT4</vt:lpstr>
      <vt:lpstr>Equation.DSMT4</vt:lpstr>
      <vt:lpstr>Equation.DSMT4</vt:lpstr>
      <vt:lpstr>Equation.3</vt:lpstr>
      <vt:lpstr>Equation.3</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公开课开题报告</dc:title>
  <dc:creator>第一PPT模板网-WWW.1PPT.COM</dc:creator>
  <cp:keywords>第一PPT模板网-WWW.1PPT.COM</cp:keywords>
  <cp:lastModifiedBy>刘树波</cp:lastModifiedBy>
  <cp:revision>2719</cp:revision>
  <dcterms:created xsi:type="dcterms:W3CDTF">2016-04-09T13:02:00Z</dcterms:created>
  <dcterms:modified xsi:type="dcterms:W3CDTF">2024-01-11T03:49:00Z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B5569312894A428183DE38E1CBC9C069_12</vt:lpwstr>
  </property>
</Properties>
</file>