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386" r:id="rId4"/>
    <p:sldId id="571" r:id="rId6"/>
    <p:sldId id="699" r:id="rId7"/>
    <p:sldId id="660" r:id="rId8"/>
    <p:sldId id="661" r:id="rId9"/>
    <p:sldId id="673" r:id="rId10"/>
    <p:sldId id="676" r:id="rId11"/>
    <p:sldId id="677" r:id="rId12"/>
    <p:sldId id="678" r:id="rId13"/>
    <p:sldId id="679" r:id="rId14"/>
    <p:sldId id="680" r:id="rId15"/>
    <p:sldId id="696" r:id="rId16"/>
    <p:sldId id="683" r:id="rId17"/>
    <p:sldId id="688" r:id="rId18"/>
    <p:sldId id="684" r:id="rId19"/>
    <p:sldId id="697" r:id="rId20"/>
    <p:sldId id="685" r:id="rId21"/>
    <p:sldId id="687" r:id="rId22"/>
    <p:sldId id="698" r:id="rId23"/>
    <p:sldId id="700" r:id="rId24"/>
    <p:sldId id="701" r:id="rId25"/>
    <p:sldId id="702" r:id="rId26"/>
    <p:sldId id="703" r:id="rId27"/>
    <p:sldId id="704" r:id="rId28"/>
    <p:sldId id="705" r:id="rId29"/>
    <p:sldId id="706" r:id="rId30"/>
    <p:sldId id="707" r:id="rId31"/>
    <p:sldId id="708" r:id="rId32"/>
    <p:sldId id="709" r:id="rId33"/>
    <p:sldId id="710" r:id="rId34"/>
    <p:sldId id="711" r:id="rId35"/>
    <p:sldId id="712" r:id="rId36"/>
    <p:sldId id="713" r:id="rId37"/>
    <p:sldId id="714" r:id="rId38"/>
    <p:sldId id="715" r:id="rId39"/>
    <p:sldId id="716" r:id="rId40"/>
    <p:sldId id="717" r:id="rId41"/>
    <p:sldId id="718" r:id="rId42"/>
    <p:sldId id="719" r:id="rId43"/>
    <p:sldId id="720" r:id="rId44"/>
    <p:sldId id="721" r:id="rId45"/>
    <p:sldId id="722" r:id="rId46"/>
    <p:sldId id="736" r:id="rId47"/>
    <p:sldId id="723" r:id="rId48"/>
    <p:sldId id="724" r:id="rId49"/>
    <p:sldId id="304" r:id="rId50"/>
    <p:sldId id="725" r:id="rId51"/>
    <p:sldId id="726" r:id="rId52"/>
    <p:sldId id="727" r:id="rId53"/>
    <p:sldId id="728" r:id="rId54"/>
    <p:sldId id="729" r:id="rId55"/>
    <p:sldId id="730" r:id="rId56"/>
    <p:sldId id="308" r:id="rId57"/>
    <p:sldId id="731" r:id="rId58"/>
    <p:sldId id="732" r:id="rId59"/>
    <p:sldId id="733" r:id="rId60"/>
    <p:sldId id="734" r:id="rId61"/>
    <p:sldId id="735" r:id="rId62"/>
    <p:sldId id="314" r:id="rId63"/>
    <p:sldId id="315" r:id="rId64"/>
    <p:sldId id="316" r:id="rId65"/>
    <p:sldId id="317" r:id="rId66"/>
    <p:sldId id="318" r:id="rId67"/>
    <p:sldId id="393" r:id="rId68"/>
    <p:sldId id="271" r:id="rId69"/>
    <p:sldId id="281" r:id="rId70"/>
    <p:sldId id="327" r:id="rId71"/>
    <p:sldId id="272" r:id="rId72"/>
    <p:sldId id="273" r:id="rId73"/>
    <p:sldId id="328" r:id="rId74"/>
    <p:sldId id="279" r:id="rId75"/>
  </p:sldIdLst>
  <p:sldSz cx="9144000" cy="6858000" type="screen4x3"/>
  <p:notesSz cx="6858000" cy="9144000"/>
  <p:custDataLst>
    <p:tags r:id="rId7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0000FF"/>
    <a:srgbClr val="1F4E79"/>
    <a:srgbClr val="170A8E"/>
    <a:srgbClr val="3CB871"/>
    <a:srgbClr val="2B56F5"/>
    <a:srgbClr val="CC9900"/>
    <a:srgbClr val="3D74A7"/>
    <a:srgbClr val="5B9BD5"/>
    <a:srgbClr val="EA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6279" autoAdjust="0"/>
  </p:normalViewPr>
  <p:slideViewPr>
    <p:cSldViewPr snapToGrid="0" showGuides="1">
      <p:cViewPr varScale="1">
        <p:scale>
          <a:sx n="89" d="100"/>
          <a:sy n="89" d="100"/>
        </p:scale>
        <p:origin x="-1368" y="-108"/>
      </p:cViewPr>
      <p:guideLst>
        <p:guide orient="horz" pos="2160"/>
        <p:guide pos="2880"/>
      </p:guideLst>
    </p:cSldViewPr>
  </p:slideViewPr>
  <p:notesTextViewPr>
    <p:cViewPr>
      <p:scale>
        <a:sx n="3" d="2"/>
        <a:sy n="3" d="2"/>
      </p:scale>
      <p:origin x="0" y="0"/>
    </p:cViewPr>
  </p:notesTextViewPr>
  <p:sorterViewPr>
    <p:cViewPr>
      <p:scale>
        <a:sx n="91" d="100"/>
        <a:sy n="91"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9" Type="http://schemas.openxmlformats.org/officeDocument/2006/relationships/tags" Target="tags/tag19.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image" Target="../media/image4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49.wmf"/><Relationship Id="rId4" Type="http://schemas.openxmlformats.org/officeDocument/2006/relationships/image" Target="../media/image48.wmf"/><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4.wmf"/></Relationships>
</file>

<file path=ppt/drawings/_rels/vmlDrawing16.vml.rels><?xml version="1.0" encoding="UTF-8" standalone="yes"?>
<Relationships xmlns="http://schemas.openxmlformats.org/package/2006/relationships"><Relationship Id="rId5" Type="http://schemas.openxmlformats.org/officeDocument/2006/relationships/image" Target="../media/image51.wmf"/><Relationship Id="rId4" Type="http://schemas.openxmlformats.org/officeDocument/2006/relationships/image" Target="../media/image50.wmf"/><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5" Type="http://schemas.openxmlformats.org/officeDocument/2006/relationships/image" Target="../media/image53.wmf"/><Relationship Id="rId4" Type="http://schemas.openxmlformats.org/officeDocument/2006/relationships/image" Target="../media/image52.wmf"/><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4.wmf"/></Relationships>
</file>

<file path=ppt/drawings/_rels/vmlDrawing18.vml.rels><?xml version="1.0" encoding="UTF-8" standalone="yes"?>
<Relationships xmlns="http://schemas.openxmlformats.org/package/2006/relationships"><Relationship Id="rId6" Type="http://schemas.openxmlformats.org/officeDocument/2006/relationships/image" Target="../media/image52.wmf"/><Relationship Id="rId5" Type="http://schemas.openxmlformats.org/officeDocument/2006/relationships/image" Target="../media/image50.wmf"/><Relationship Id="rId4" Type="http://schemas.openxmlformats.org/officeDocument/2006/relationships/image" Target="../media/image48.wmf"/><Relationship Id="rId3" Type="http://schemas.openxmlformats.org/officeDocument/2006/relationships/image" Target="../media/image54.wmf"/><Relationship Id="rId2" Type="http://schemas.openxmlformats.org/officeDocument/2006/relationships/image" Target="../media/image51.wmf"/><Relationship Id="rId1" Type="http://schemas.openxmlformats.org/officeDocument/2006/relationships/image" Target="../media/image4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20.vml.rels><?xml version="1.0" encoding="UTF-8" standalone="yes"?>
<Relationships xmlns="http://schemas.openxmlformats.org/package/2006/relationships"><Relationship Id="rId7" Type="http://schemas.openxmlformats.org/officeDocument/2006/relationships/image" Target="../media/image50.wmf"/><Relationship Id="rId6" Type="http://schemas.openxmlformats.org/officeDocument/2006/relationships/image" Target="../media/image48.wmf"/><Relationship Id="rId5" Type="http://schemas.openxmlformats.org/officeDocument/2006/relationships/image" Target="../media/image51.wmf"/><Relationship Id="rId4" Type="http://schemas.openxmlformats.org/officeDocument/2006/relationships/image" Target="../media/image49.wmf"/><Relationship Id="rId3" Type="http://schemas.openxmlformats.org/officeDocument/2006/relationships/image" Target="../media/image59.png"/><Relationship Id="rId2" Type="http://schemas.openxmlformats.org/officeDocument/2006/relationships/image" Target="../media/image58.wmf"/><Relationship Id="rId1"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7" Type="http://schemas.openxmlformats.org/officeDocument/2006/relationships/image" Target="../media/image50.wmf"/><Relationship Id="rId6" Type="http://schemas.openxmlformats.org/officeDocument/2006/relationships/image" Target="../media/image48.wmf"/><Relationship Id="rId5" Type="http://schemas.openxmlformats.org/officeDocument/2006/relationships/image" Target="../media/image51.wmf"/><Relationship Id="rId4" Type="http://schemas.openxmlformats.org/officeDocument/2006/relationships/image" Target="../media/image49.wmf"/><Relationship Id="rId3" Type="http://schemas.openxmlformats.org/officeDocument/2006/relationships/image" Target="../media/image59.png"/><Relationship Id="rId2" Type="http://schemas.openxmlformats.org/officeDocument/2006/relationships/image" Target="../media/image61.wmf"/><Relationship Id="rId1" Type="http://schemas.openxmlformats.org/officeDocument/2006/relationships/image" Target="../media/image60.wmf"/></Relationships>
</file>

<file path=ppt/drawings/_rels/vmlDrawing22.vml.rels><?xml version="1.0" encoding="UTF-8" standalone="yes"?>
<Relationships xmlns="http://schemas.openxmlformats.org/package/2006/relationships"><Relationship Id="rId7" Type="http://schemas.openxmlformats.org/officeDocument/2006/relationships/image" Target="../media/image50.wmf"/><Relationship Id="rId6" Type="http://schemas.openxmlformats.org/officeDocument/2006/relationships/image" Target="../media/image48.wmf"/><Relationship Id="rId5" Type="http://schemas.openxmlformats.org/officeDocument/2006/relationships/image" Target="../media/image51.wmf"/><Relationship Id="rId4" Type="http://schemas.openxmlformats.org/officeDocument/2006/relationships/image" Target="../media/image49.wmf"/><Relationship Id="rId3" Type="http://schemas.openxmlformats.org/officeDocument/2006/relationships/image" Target="../media/image59.png"/><Relationship Id="rId2" Type="http://schemas.openxmlformats.org/officeDocument/2006/relationships/image" Target="../media/image61.wmf"/><Relationship Id="rId1" Type="http://schemas.openxmlformats.org/officeDocument/2006/relationships/image" Target="../media/image60.wmf"/></Relationships>
</file>

<file path=ppt/drawings/_rels/vmlDrawing23.vml.rels><?xml version="1.0" encoding="UTF-8" standalone="yes"?>
<Relationships xmlns="http://schemas.openxmlformats.org/package/2006/relationships"><Relationship Id="rId5" Type="http://schemas.openxmlformats.org/officeDocument/2006/relationships/image" Target="../media/image63.wmf"/><Relationship Id="rId4" Type="http://schemas.openxmlformats.org/officeDocument/2006/relationships/image" Target="../media/image59.png"/><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6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01BD9-4243-4367-977C-650CCA5948F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CFBAA-4F33-4BF6-B348-50D59E4A3B0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showMasterSp="0">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2000" y="304800"/>
            <a:ext cx="7793038" cy="6858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762000" y="1219200"/>
            <a:ext cx="7772400" cy="4876800"/>
          </a:xfrm>
        </p:spPr>
        <p:txBody>
          <a:bodyPr/>
          <a:lstStyle/>
          <a:p>
            <a:pPr lvl="0"/>
            <a:endParaRPr lang="zh-CN" altLang="en-US" noProof="0"/>
          </a:p>
        </p:txBody>
      </p:sp>
      <p:sp>
        <p:nvSpPr>
          <p:cNvPr id="4" name="Rectangle 11"/>
          <p:cNvSpPr>
            <a:spLocks noGrp="1" noChangeArrowheads="1"/>
          </p:cNvSpPr>
          <p:nvPr>
            <p:ph type="dt" sz="half" idx="10"/>
          </p:nvPr>
        </p:nvSpPr>
        <p:spPr/>
        <p:txBody>
          <a:bodyPr/>
          <a:lstStyle>
            <a:lvl1pPr>
              <a:defRPr/>
            </a:lvl1pPr>
          </a:lstStyle>
          <a:p>
            <a:pPr>
              <a:defRPr/>
            </a:pPr>
            <a:endParaRPr lang="en-US" altLang="zh-CN">
              <a:solidFill>
                <a:prstClr val="black">
                  <a:tint val="75000"/>
                </a:prstClr>
              </a:solidFill>
            </a:endParaRPr>
          </a:p>
        </p:txBody>
      </p:sp>
      <p:sp>
        <p:nvSpPr>
          <p:cNvPr id="5" name="Rectangle 13"/>
          <p:cNvSpPr>
            <a:spLocks noGrp="1" noChangeArrowheads="1"/>
          </p:cNvSpPr>
          <p:nvPr>
            <p:ph type="sldNum" sz="quarter" idx="11"/>
          </p:nvPr>
        </p:nvSpPr>
        <p:spPr/>
        <p:txBody>
          <a:bodyPr/>
          <a:lstStyle>
            <a:lvl1pPr>
              <a:defRPr/>
            </a:lvl1pPr>
          </a:lstStyle>
          <a:p>
            <a:pPr>
              <a:defRPr/>
            </a:pPr>
            <a:endParaRPr lang="zh-CN" altLang="zh-CN">
              <a:solidFill>
                <a:prstClr val="black">
                  <a:tint val="75000"/>
                </a:prstClr>
              </a:solidFill>
            </a:endParaRPr>
          </a:p>
        </p:txBody>
      </p:sp>
      <p:sp>
        <p:nvSpPr>
          <p:cNvPr id="6" name="Rectangle 17"/>
          <p:cNvSpPr>
            <a:spLocks noGrp="1" noChangeArrowheads="1"/>
          </p:cNvSpPr>
          <p:nvPr>
            <p:ph type="ftr" sz="quarter" idx="12"/>
          </p:nvPr>
        </p:nvSpPr>
        <p:spPr/>
        <p:txBody>
          <a:bodyPr/>
          <a:lstStyle>
            <a:lvl1pPr>
              <a:defRPr/>
            </a:lvl1pPr>
          </a:lstStyle>
          <a:p>
            <a:pPr>
              <a:defRPr/>
            </a:pPr>
            <a:endParaRPr lang="zh-CN" altLang="zh-CN">
              <a:solidFill>
                <a:prstClr val="black">
                  <a:tint val="75000"/>
                </a:prstClr>
              </a:solidFill>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80C721-00F0-49A5-8986-DFDB39C600B4}"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8E5C5-05D3-4171-9F3F-370131363719}"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1.xml"/><Relationship Id="rId20" Type="http://schemas.openxmlformats.org/officeDocument/2006/relationships/slideLayout" Target="../slideLayouts/slideLayout2.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image" Target="../media/image1.jpeg"/><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vmlDrawing" Target="../drawings/vmlDrawing1.v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vmlDrawing" Target="../drawings/vmlDrawing2.vml"/><Relationship Id="rId4" Type="http://schemas.openxmlformats.org/officeDocument/2006/relationships/slideLayout" Target="../slideLayouts/slideLayout1.xml"/><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vmlDrawing" Target="../drawings/vmlDrawing3.vml"/><Relationship Id="rId6" Type="http://schemas.openxmlformats.org/officeDocument/2006/relationships/slideLayout" Target="../slideLayouts/slideLayout1.xml"/><Relationship Id="rId5" Type="http://schemas.openxmlformats.org/officeDocument/2006/relationships/image" Target="../media/image8.wmf"/><Relationship Id="rId4" Type="http://schemas.openxmlformats.org/officeDocument/2006/relationships/oleObject" Target="../embeddings/oleObject4.bin"/><Relationship Id="rId3" Type="http://schemas.openxmlformats.org/officeDocument/2006/relationships/image" Target="../media/image7.png"/><Relationship Id="rId2" Type="http://schemas.openxmlformats.org/officeDocument/2006/relationships/oleObject" Target="../embeddings/oleObject3.bin"/><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4.v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wmf"/><Relationship Id="rId2" Type="http://schemas.openxmlformats.org/officeDocument/2006/relationships/oleObject" Target="../embeddings/oleObject5.bin"/><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vmlDrawing" Target="../drawings/vmlDrawing5.vml"/><Relationship Id="rId5" Type="http://schemas.openxmlformats.org/officeDocument/2006/relationships/slideLayout" Target="../slideLayouts/slideLayout1.xml"/><Relationship Id="rId4" Type="http://schemas.openxmlformats.org/officeDocument/2006/relationships/image" Target="../media/image10.wmf"/><Relationship Id="rId3" Type="http://schemas.openxmlformats.org/officeDocument/2006/relationships/oleObject" Target="../embeddings/oleObject6.bin"/><Relationship Id="rId2" Type="http://schemas.openxmlformats.org/officeDocument/2006/relationships/image" Target="../media/image11.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vmlDrawing" Target="../drawings/vmlDrawing6.v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4.wmf"/><Relationship Id="rId2" Type="http://schemas.openxmlformats.org/officeDocument/2006/relationships/oleObject" Target="../embeddings/oleObject7.bin"/><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vmlDrawing" Target="../drawings/vmlDrawing7.vml"/><Relationship Id="rId5" Type="http://schemas.openxmlformats.org/officeDocument/2006/relationships/slideLayout" Target="../slideLayouts/slideLayout1.xml"/><Relationship Id="rId4" Type="http://schemas.openxmlformats.org/officeDocument/2006/relationships/image" Target="../media/image14.wmf"/><Relationship Id="rId3" Type="http://schemas.openxmlformats.org/officeDocument/2006/relationships/oleObject" Target="../embeddings/oleObject8.bin"/><Relationship Id="rId2" Type="http://schemas.openxmlformats.org/officeDocument/2006/relationships/image" Target="../media/image11.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vmlDrawing" Target="../drawings/vmlDrawing8.vml"/><Relationship Id="rId6" Type="http://schemas.openxmlformats.org/officeDocument/2006/relationships/slideLayout" Target="../slideLayouts/slideLayout1.xml"/><Relationship Id="rId5" Type="http://schemas.openxmlformats.org/officeDocument/2006/relationships/image" Target="../media/image17.wmf"/><Relationship Id="rId4" Type="http://schemas.openxmlformats.org/officeDocument/2006/relationships/oleObject" Target="../embeddings/oleObject10.bin"/><Relationship Id="rId3" Type="http://schemas.openxmlformats.org/officeDocument/2006/relationships/image" Target="../media/image16.wmf"/><Relationship Id="rId2" Type="http://schemas.openxmlformats.org/officeDocument/2006/relationships/oleObject" Target="../embeddings/oleObject9.bin"/><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wmf"/><Relationship Id="rId6" Type="http://schemas.openxmlformats.org/officeDocument/2006/relationships/oleObject" Target="../embeddings/oleObject12.bin"/><Relationship Id="rId5" Type="http://schemas.openxmlformats.org/officeDocument/2006/relationships/image" Target="../media/image19.png"/><Relationship Id="rId4" Type="http://schemas.openxmlformats.org/officeDocument/2006/relationships/image" Target="../media/image17.wmf"/><Relationship Id="rId3" Type="http://schemas.openxmlformats.org/officeDocument/2006/relationships/oleObject" Target="../embeddings/oleObject11.bin"/><Relationship Id="rId2" Type="http://schemas.openxmlformats.org/officeDocument/2006/relationships/image" Target="../media/image18.png"/><Relationship Id="rId12" Type="http://schemas.openxmlformats.org/officeDocument/2006/relationships/notesSlide" Target="../notesSlides/notesSlide23.xml"/><Relationship Id="rId11" Type="http://schemas.openxmlformats.org/officeDocument/2006/relationships/vmlDrawing" Target="../drawings/vmlDrawing9.vml"/><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vmlDrawing" Target="../drawings/vmlDrawing10.vml"/><Relationship Id="rId6" Type="http://schemas.openxmlformats.org/officeDocument/2006/relationships/slideLayout" Target="../slideLayouts/slideLayout1.xml"/><Relationship Id="rId5" Type="http://schemas.openxmlformats.org/officeDocument/2006/relationships/image" Target="../media/image32.wmf"/><Relationship Id="rId4" Type="http://schemas.openxmlformats.org/officeDocument/2006/relationships/oleObject" Target="../embeddings/oleObject13.bin"/><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vmlDrawing" Target="../drawings/vmlDrawing11.vml"/><Relationship Id="rId5" Type="http://schemas.openxmlformats.org/officeDocument/2006/relationships/slideLayout" Target="../slideLayouts/slideLayout1.xml"/><Relationship Id="rId4" Type="http://schemas.openxmlformats.org/officeDocument/2006/relationships/image" Target="../media/image32.wmf"/><Relationship Id="rId3" Type="http://schemas.openxmlformats.org/officeDocument/2006/relationships/oleObject" Target="../embeddings/oleObject14.bin"/><Relationship Id="rId2" Type="http://schemas.openxmlformats.org/officeDocument/2006/relationships/image" Target="../media/image33.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vmlDrawing" Target="../drawings/vmlDrawing12.vml"/><Relationship Id="rId4" Type="http://schemas.openxmlformats.org/officeDocument/2006/relationships/slideLayout" Target="../slideLayouts/slideLayout1.xml"/><Relationship Id="rId3" Type="http://schemas.openxmlformats.org/officeDocument/2006/relationships/image" Target="../media/image34.wmf"/><Relationship Id="rId2" Type="http://schemas.openxmlformats.org/officeDocument/2006/relationships/oleObject" Target="../embeddings/oleObject15.bin"/><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35.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xml"/><Relationship Id="rId4" Type="http://schemas.openxmlformats.org/officeDocument/2006/relationships/image" Target="../media/image41.png"/><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1.xml"/><Relationship Id="rId4" Type="http://schemas.openxmlformats.org/officeDocument/2006/relationships/image" Target="../media/image41.png"/><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image" Target="../media/image37.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image" Target="../media/image42.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2.xml"/><Relationship Id="rId2" Type="http://schemas.openxmlformats.org/officeDocument/2006/relationships/image" Target="../media/image43.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46.xml"/><Relationship Id="rId7" Type="http://schemas.openxmlformats.org/officeDocument/2006/relationships/vmlDrawing" Target="../drawings/vmlDrawing13.vml"/><Relationship Id="rId6"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oleObject" Target="../embeddings/oleObject17.bin"/><Relationship Id="rId3" Type="http://schemas.openxmlformats.org/officeDocument/2006/relationships/image" Target="../media/image44.wmf"/><Relationship Id="rId2" Type="http://schemas.openxmlformats.org/officeDocument/2006/relationships/oleObject" Target="../embeddings/oleObject16.bin"/><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14.vml"/><Relationship Id="rId4" Type="http://schemas.openxmlformats.org/officeDocument/2006/relationships/slideLayout" Target="../slideLayouts/slideLayout1.xml"/><Relationship Id="rId3" Type="http://schemas.openxmlformats.org/officeDocument/2006/relationships/image" Target="../media/image44.wmf"/><Relationship Id="rId2" Type="http://schemas.openxmlformats.org/officeDocument/2006/relationships/oleObject" Target="../embeddings/oleObject18.bin"/><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9" Type="http://schemas.openxmlformats.org/officeDocument/2006/relationships/image" Target="../media/image48.wmf"/><Relationship Id="rId8" Type="http://schemas.openxmlformats.org/officeDocument/2006/relationships/oleObject" Target="../embeddings/oleObject22.bin"/><Relationship Id="rId7" Type="http://schemas.openxmlformats.org/officeDocument/2006/relationships/image" Target="../media/image47.wmf"/><Relationship Id="rId6" Type="http://schemas.openxmlformats.org/officeDocument/2006/relationships/oleObject" Target="../embeddings/oleObject21.bin"/><Relationship Id="rId5" Type="http://schemas.openxmlformats.org/officeDocument/2006/relationships/image" Target="../media/image46.wmf"/><Relationship Id="rId4" Type="http://schemas.openxmlformats.org/officeDocument/2006/relationships/oleObject" Target="../embeddings/oleObject20.bin"/><Relationship Id="rId3" Type="http://schemas.openxmlformats.org/officeDocument/2006/relationships/image" Target="../media/image44.wmf"/><Relationship Id="rId2" Type="http://schemas.openxmlformats.org/officeDocument/2006/relationships/oleObject" Target="../embeddings/oleObject19.bin"/><Relationship Id="rId14" Type="http://schemas.openxmlformats.org/officeDocument/2006/relationships/notesSlide" Target="../notesSlides/notesSlide48.xml"/><Relationship Id="rId13" Type="http://schemas.openxmlformats.org/officeDocument/2006/relationships/vmlDrawing" Target="../drawings/vmlDrawing15.vml"/><Relationship Id="rId12" Type="http://schemas.openxmlformats.org/officeDocument/2006/relationships/slideLayout" Target="../slideLayouts/slideLayout1.xml"/><Relationship Id="rId11" Type="http://schemas.openxmlformats.org/officeDocument/2006/relationships/image" Target="../media/image49.wmf"/><Relationship Id="rId10" Type="http://schemas.openxmlformats.org/officeDocument/2006/relationships/oleObject" Target="../embeddings/oleObject23.bin"/><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9" Type="http://schemas.openxmlformats.org/officeDocument/2006/relationships/image" Target="../media/image50.wmf"/><Relationship Id="rId8" Type="http://schemas.openxmlformats.org/officeDocument/2006/relationships/oleObject" Target="../embeddings/oleObject27.bin"/><Relationship Id="rId7" Type="http://schemas.openxmlformats.org/officeDocument/2006/relationships/image" Target="../media/image47.wmf"/><Relationship Id="rId6" Type="http://schemas.openxmlformats.org/officeDocument/2006/relationships/oleObject" Target="../embeddings/oleObject26.bin"/><Relationship Id="rId5" Type="http://schemas.openxmlformats.org/officeDocument/2006/relationships/image" Target="../media/image46.wmf"/><Relationship Id="rId4" Type="http://schemas.openxmlformats.org/officeDocument/2006/relationships/oleObject" Target="../embeddings/oleObject25.bin"/><Relationship Id="rId3" Type="http://schemas.openxmlformats.org/officeDocument/2006/relationships/image" Target="../media/image44.wmf"/><Relationship Id="rId2" Type="http://schemas.openxmlformats.org/officeDocument/2006/relationships/oleObject" Target="../embeddings/oleObject24.bin"/><Relationship Id="rId14" Type="http://schemas.openxmlformats.org/officeDocument/2006/relationships/notesSlide" Target="../notesSlides/notesSlide49.xml"/><Relationship Id="rId13" Type="http://schemas.openxmlformats.org/officeDocument/2006/relationships/vmlDrawing" Target="../drawings/vmlDrawing16.vml"/><Relationship Id="rId12" Type="http://schemas.openxmlformats.org/officeDocument/2006/relationships/slideLayout" Target="../slideLayouts/slideLayout1.xml"/><Relationship Id="rId11" Type="http://schemas.openxmlformats.org/officeDocument/2006/relationships/image" Target="../media/image51.wmf"/><Relationship Id="rId10" Type="http://schemas.openxmlformats.org/officeDocument/2006/relationships/oleObject" Target="../embeddings/oleObject28.bin"/><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9" Type="http://schemas.openxmlformats.org/officeDocument/2006/relationships/image" Target="../media/image52.wmf"/><Relationship Id="rId8" Type="http://schemas.openxmlformats.org/officeDocument/2006/relationships/oleObject" Target="../embeddings/oleObject32.bin"/><Relationship Id="rId7" Type="http://schemas.openxmlformats.org/officeDocument/2006/relationships/image" Target="../media/image47.wmf"/><Relationship Id="rId6" Type="http://schemas.openxmlformats.org/officeDocument/2006/relationships/oleObject" Target="../embeddings/oleObject31.bin"/><Relationship Id="rId5" Type="http://schemas.openxmlformats.org/officeDocument/2006/relationships/image" Target="../media/image46.wmf"/><Relationship Id="rId4" Type="http://schemas.openxmlformats.org/officeDocument/2006/relationships/oleObject" Target="../embeddings/oleObject30.bin"/><Relationship Id="rId3" Type="http://schemas.openxmlformats.org/officeDocument/2006/relationships/image" Target="../media/image44.wmf"/><Relationship Id="rId2" Type="http://schemas.openxmlformats.org/officeDocument/2006/relationships/oleObject" Target="../embeddings/oleObject29.bin"/><Relationship Id="rId14" Type="http://schemas.openxmlformats.org/officeDocument/2006/relationships/notesSlide" Target="../notesSlides/notesSlide50.xml"/><Relationship Id="rId13" Type="http://schemas.openxmlformats.org/officeDocument/2006/relationships/vmlDrawing" Target="../drawings/vmlDrawing17.vml"/><Relationship Id="rId12" Type="http://schemas.openxmlformats.org/officeDocument/2006/relationships/slideLayout" Target="../slideLayouts/slideLayout1.xml"/><Relationship Id="rId11" Type="http://schemas.openxmlformats.org/officeDocument/2006/relationships/image" Target="../media/image53.wmf"/><Relationship Id="rId10" Type="http://schemas.openxmlformats.org/officeDocument/2006/relationships/oleObject" Target="../embeddings/oleObject33.bin"/><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9" Type="http://schemas.openxmlformats.org/officeDocument/2006/relationships/image" Target="../media/image48.wmf"/><Relationship Id="rId8" Type="http://schemas.openxmlformats.org/officeDocument/2006/relationships/oleObject" Target="../embeddings/oleObject37.bin"/><Relationship Id="rId7" Type="http://schemas.openxmlformats.org/officeDocument/2006/relationships/image" Target="../media/image54.wmf"/><Relationship Id="rId6" Type="http://schemas.openxmlformats.org/officeDocument/2006/relationships/oleObject" Target="../embeddings/oleObject36.bin"/><Relationship Id="rId5" Type="http://schemas.openxmlformats.org/officeDocument/2006/relationships/image" Target="../media/image51.wmf"/><Relationship Id="rId4" Type="http://schemas.openxmlformats.org/officeDocument/2006/relationships/oleObject" Target="../embeddings/oleObject35.bin"/><Relationship Id="rId3" Type="http://schemas.openxmlformats.org/officeDocument/2006/relationships/image" Target="../media/image49.wmf"/><Relationship Id="rId2" Type="http://schemas.openxmlformats.org/officeDocument/2006/relationships/oleObject" Target="../embeddings/oleObject34.bin"/><Relationship Id="rId16" Type="http://schemas.openxmlformats.org/officeDocument/2006/relationships/notesSlide" Target="../notesSlides/notesSlide51.xml"/><Relationship Id="rId15" Type="http://schemas.openxmlformats.org/officeDocument/2006/relationships/vmlDrawing" Target="../drawings/vmlDrawing18.vml"/><Relationship Id="rId14" Type="http://schemas.openxmlformats.org/officeDocument/2006/relationships/slideLayout" Target="../slideLayouts/slideLayout1.xml"/><Relationship Id="rId13" Type="http://schemas.openxmlformats.org/officeDocument/2006/relationships/image" Target="../media/image52.wmf"/><Relationship Id="rId12" Type="http://schemas.openxmlformats.org/officeDocument/2006/relationships/oleObject" Target="../embeddings/oleObject39.bin"/><Relationship Id="rId11" Type="http://schemas.openxmlformats.org/officeDocument/2006/relationships/image" Target="../media/image50.wmf"/><Relationship Id="rId10" Type="http://schemas.openxmlformats.org/officeDocument/2006/relationships/oleObject" Target="../embeddings/oleObject38.bin"/><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52.xml"/><Relationship Id="rId7" Type="http://schemas.openxmlformats.org/officeDocument/2006/relationships/vmlDrawing" Target="../drawings/vmlDrawing19.vml"/><Relationship Id="rId6" Type="http://schemas.openxmlformats.org/officeDocument/2006/relationships/slideLayout" Target="../slideLayouts/slideLayout1.xml"/><Relationship Id="rId5" Type="http://schemas.openxmlformats.org/officeDocument/2006/relationships/image" Target="../media/image56.wmf"/><Relationship Id="rId4" Type="http://schemas.openxmlformats.org/officeDocument/2006/relationships/oleObject" Target="../embeddings/oleObject41.bin"/><Relationship Id="rId3" Type="http://schemas.openxmlformats.org/officeDocument/2006/relationships/image" Target="../media/image55.wmf"/><Relationship Id="rId2" Type="http://schemas.openxmlformats.org/officeDocument/2006/relationships/oleObject" Target="../embeddings/oleObject40.bin"/><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oleObject" Target="../embeddings/oleObject45.bin"/><Relationship Id="rId7" Type="http://schemas.openxmlformats.org/officeDocument/2006/relationships/image" Target="../media/image59.png"/><Relationship Id="rId6" Type="http://schemas.openxmlformats.org/officeDocument/2006/relationships/oleObject" Target="../embeddings/oleObject44.bin"/><Relationship Id="rId5" Type="http://schemas.openxmlformats.org/officeDocument/2006/relationships/image" Target="../media/image58.wmf"/><Relationship Id="rId4" Type="http://schemas.openxmlformats.org/officeDocument/2006/relationships/oleObject" Target="../embeddings/oleObject43.bin"/><Relationship Id="rId3" Type="http://schemas.openxmlformats.org/officeDocument/2006/relationships/image" Target="../media/image57.wmf"/><Relationship Id="rId2" Type="http://schemas.openxmlformats.org/officeDocument/2006/relationships/oleObject" Target="../embeddings/oleObject42.bin"/><Relationship Id="rId18" Type="http://schemas.openxmlformats.org/officeDocument/2006/relationships/notesSlide" Target="../notesSlides/notesSlide53.xml"/><Relationship Id="rId17" Type="http://schemas.openxmlformats.org/officeDocument/2006/relationships/vmlDrawing" Target="../drawings/vmlDrawing20.vml"/><Relationship Id="rId16" Type="http://schemas.openxmlformats.org/officeDocument/2006/relationships/slideLayout" Target="../slideLayouts/slideLayout1.xml"/><Relationship Id="rId15" Type="http://schemas.openxmlformats.org/officeDocument/2006/relationships/image" Target="../media/image50.wmf"/><Relationship Id="rId14" Type="http://schemas.openxmlformats.org/officeDocument/2006/relationships/oleObject" Target="../embeddings/oleObject48.bin"/><Relationship Id="rId13" Type="http://schemas.openxmlformats.org/officeDocument/2006/relationships/image" Target="../media/image48.wmf"/><Relationship Id="rId12" Type="http://schemas.openxmlformats.org/officeDocument/2006/relationships/oleObject" Target="../embeddings/oleObject47.bin"/><Relationship Id="rId11" Type="http://schemas.openxmlformats.org/officeDocument/2006/relationships/image" Target="../media/image51.wmf"/><Relationship Id="rId10" Type="http://schemas.openxmlformats.org/officeDocument/2006/relationships/oleObject" Target="../embeddings/oleObject46.bin"/><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oleObject" Target="../embeddings/oleObject52.bin"/><Relationship Id="rId7" Type="http://schemas.openxmlformats.org/officeDocument/2006/relationships/image" Target="../media/image59.png"/><Relationship Id="rId6" Type="http://schemas.openxmlformats.org/officeDocument/2006/relationships/oleObject" Target="../embeddings/oleObject51.bin"/><Relationship Id="rId5" Type="http://schemas.openxmlformats.org/officeDocument/2006/relationships/image" Target="../media/image61.wmf"/><Relationship Id="rId4" Type="http://schemas.openxmlformats.org/officeDocument/2006/relationships/oleObject" Target="../embeddings/oleObject50.bin"/><Relationship Id="rId3" Type="http://schemas.openxmlformats.org/officeDocument/2006/relationships/image" Target="../media/image60.wmf"/><Relationship Id="rId2" Type="http://schemas.openxmlformats.org/officeDocument/2006/relationships/oleObject" Target="../embeddings/oleObject49.bin"/><Relationship Id="rId18" Type="http://schemas.openxmlformats.org/officeDocument/2006/relationships/notesSlide" Target="../notesSlides/notesSlide54.xml"/><Relationship Id="rId17" Type="http://schemas.openxmlformats.org/officeDocument/2006/relationships/vmlDrawing" Target="../drawings/vmlDrawing21.vml"/><Relationship Id="rId16" Type="http://schemas.openxmlformats.org/officeDocument/2006/relationships/slideLayout" Target="../slideLayouts/slideLayout1.xml"/><Relationship Id="rId15" Type="http://schemas.openxmlformats.org/officeDocument/2006/relationships/image" Target="../media/image50.wmf"/><Relationship Id="rId14" Type="http://schemas.openxmlformats.org/officeDocument/2006/relationships/oleObject" Target="../embeddings/oleObject55.bin"/><Relationship Id="rId13" Type="http://schemas.openxmlformats.org/officeDocument/2006/relationships/image" Target="../media/image48.wmf"/><Relationship Id="rId12" Type="http://schemas.openxmlformats.org/officeDocument/2006/relationships/oleObject" Target="../embeddings/oleObject54.bin"/><Relationship Id="rId11" Type="http://schemas.openxmlformats.org/officeDocument/2006/relationships/image" Target="../media/image51.wmf"/><Relationship Id="rId10" Type="http://schemas.openxmlformats.org/officeDocument/2006/relationships/oleObject" Target="../embeddings/oleObject53.bin"/><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oleObject" Target="../embeddings/oleObject59.bin"/><Relationship Id="rId7" Type="http://schemas.openxmlformats.org/officeDocument/2006/relationships/image" Target="../media/image59.png"/><Relationship Id="rId6" Type="http://schemas.openxmlformats.org/officeDocument/2006/relationships/oleObject" Target="../embeddings/oleObject58.bin"/><Relationship Id="rId5" Type="http://schemas.openxmlformats.org/officeDocument/2006/relationships/image" Target="../media/image61.wmf"/><Relationship Id="rId4" Type="http://schemas.openxmlformats.org/officeDocument/2006/relationships/oleObject" Target="../embeddings/oleObject57.bin"/><Relationship Id="rId3" Type="http://schemas.openxmlformats.org/officeDocument/2006/relationships/image" Target="../media/image60.wmf"/><Relationship Id="rId2" Type="http://schemas.openxmlformats.org/officeDocument/2006/relationships/oleObject" Target="../embeddings/oleObject56.bin"/><Relationship Id="rId18" Type="http://schemas.openxmlformats.org/officeDocument/2006/relationships/notesSlide" Target="../notesSlides/notesSlide55.xml"/><Relationship Id="rId17" Type="http://schemas.openxmlformats.org/officeDocument/2006/relationships/vmlDrawing" Target="../drawings/vmlDrawing22.vml"/><Relationship Id="rId16" Type="http://schemas.openxmlformats.org/officeDocument/2006/relationships/slideLayout" Target="../slideLayouts/slideLayout1.xml"/><Relationship Id="rId15" Type="http://schemas.openxmlformats.org/officeDocument/2006/relationships/image" Target="../media/image50.wmf"/><Relationship Id="rId14" Type="http://schemas.openxmlformats.org/officeDocument/2006/relationships/oleObject" Target="../embeddings/oleObject62.bin"/><Relationship Id="rId13" Type="http://schemas.openxmlformats.org/officeDocument/2006/relationships/image" Target="../media/image48.wmf"/><Relationship Id="rId12" Type="http://schemas.openxmlformats.org/officeDocument/2006/relationships/oleObject" Target="../embeddings/oleObject61.bin"/><Relationship Id="rId11" Type="http://schemas.openxmlformats.org/officeDocument/2006/relationships/image" Target="../media/image51.wmf"/><Relationship Id="rId10" Type="http://schemas.openxmlformats.org/officeDocument/2006/relationships/oleObject" Target="../embeddings/oleObject60.bin"/><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oleObject" Target="../embeddings/oleObject66.bin"/><Relationship Id="rId7" Type="http://schemas.openxmlformats.org/officeDocument/2006/relationships/image" Target="../media/image61.wmf"/><Relationship Id="rId6" Type="http://schemas.openxmlformats.org/officeDocument/2006/relationships/oleObject" Target="../embeddings/oleObject65.bin"/><Relationship Id="rId5" Type="http://schemas.openxmlformats.org/officeDocument/2006/relationships/image" Target="../media/image60.wmf"/><Relationship Id="rId4" Type="http://schemas.openxmlformats.org/officeDocument/2006/relationships/oleObject" Target="../embeddings/oleObject64.bin"/><Relationship Id="rId3" Type="http://schemas.openxmlformats.org/officeDocument/2006/relationships/image" Target="../media/image62.wmf"/><Relationship Id="rId2" Type="http://schemas.openxmlformats.org/officeDocument/2006/relationships/oleObject" Target="../embeddings/oleObject63.bin"/><Relationship Id="rId14" Type="http://schemas.openxmlformats.org/officeDocument/2006/relationships/notesSlide" Target="../notesSlides/notesSlide56.xml"/><Relationship Id="rId13" Type="http://schemas.openxmlformats.org/officeDocument/2006/relationships/vmlDrawing" Target="../drawings/vmlDrawing23.vml"/><Relationship Id="rId12" Type="http://schemas.openxmlformats.org/officeDocument/2006/relationships/slideLayout" Target="../slideLayouts/slideLayout1.xml"/><Relationship Id="rId11" Type="http://schemas.openxmlformats.org/officeDocument/2006/relationships/image" Target="../media/image63.wmf"/><Relationship Id="rId10" Type="http://schemas.openxmlformats.org/officeDocument/2006/relationships/oleObject" Target="../embeddings/oleObject67.bin"/><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4.png"/></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image" Target="../media/image66.png"/><Relationship Id="rId2" Type="http://schemas.openxmlformats.org/officeDocument/2006/relationships/image" Target="../media/image65.wmf"/><Relationship Id="rId1" Type="http://schemas.openxmlformats.org/officeDocument/2006/relationships/oleObject" Target="../embeddings/oleObject68.bin"/></Relationships>
</file>

<file path=ppt/slides/_rels/slide62.xml.rels><?xml version="1.0" encoding="UTF-8" standalone="yes"?>
<Relationships xmlns="http://schemas.openxmlformats.org/package/2006/relationships"><Relationship Id="rId5" Type="http://schemas.openxmlformats.org/officeDocument/2006/relationships/vmlDrawing" Target="../drawings/vmlDrawing25.vml"/><Relationship Id="rId4" Type="http://schemas.openxmlformats.org/officeDocument/2006/relationships/slideLayout" Target="../slideLayouts/slideLayout2.xml"/><Relationship Id="rId3" Type="http://schemas.openxmlformats.org/officeDocument/2006/relationships/image" Target="../media/image68.png"/><Relationship Id="rId2" Type="http://schemas.openxmlformats.org/officeDocument/2006/relationships/image" Target="../media/image67.wmf"/><Relationship Id="rId1" Type="http://schemas.openxmlformats.org/officeDocument/2006/relationships/oleObject" Target="../embeddings/oleObject69.bin"/></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68.png"/><Relationship Id="rId6" Type="http://schemas.openxmlformats.org/officeDocument/2006/relationships/image" Target="../media/image71.wmf"/><Relationship Id="rId5" Type="http://schemas.openxmlformats.org/officeDocument/2006/relationships/oleObject" Target="../embeddings/oleObject72.bin"/><Relationship Id="rId4" Type="http://schemas.openxmlformats.org/officeDocument/2006/relationships/image" Target="../media/image70.wmf"/><Relationship Id="rId3" Type="http://schemas.openxmlformats.org/officeDocument/2006/relationships/oleObject" Target="../embeddings/oleObject71.bin"/><Relationship Id="rId2" Type="http://schemas.openxmlformats.org/officeDocument/2006/relationships/image" Target="../media/image69.wmf"/><Relationship Id="rId10" Type="http://schemas.openxmlformats.org/officeDocument/2006/relationships/vmlDrawing" Target="../drawings/vmlDrawing26.vml"/><Relationship Id="rId1" Type="http://schemas.openxmlformats.org/officeDocument/2006/relationships/oleObject" Target="../embeddings/oleObject70.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2.wav"/></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7.xml"/><Relationship Id="rId2" Type="http://schemas.openxmlformats.org/officeDocument/2006/relationships/image" Target="../media/image72.wmf"/><Relationship Id="rId1" Type="http://schemas.openxmlformats.org/officeDocument/2006/relationships/oleObject" Target="../embeddings/oleObject73.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8" Type="http://schemas.openxmlformats.org/officeDocument/2006/relationships/vmlDrawing" Target="../drawings/vmlDrawing28.vml"/><Relationship Id="rId7" Type="http://schemas.openxmlformats.org/officeDocument/2006/relationships/slideLayout" Target="../slideLayouts/slideLayout7.xml"/><Relationship Id="rId6" Type="http://schemas.openxmlformats.org/officeDocument/2006/relationships/image" Target="../media/image75.wmf"/><Relationship Id="rId5" Type="http://schemas.openxmlformats.org/officeDocument/2006/relationships/oleObject" Target="../embeddings/oleObject76.bin"/><Relationship Id="rId4" Type="http://schemas.openxmlformats.org/officeDocument/2006/relationships/image" Target="../media/image74.wmf"/><Relationship Id="rId3" Type="http://schemas.openxmlformats.org/officeDocument/2006/relationships/oleObject" Target="../embeddings/oleObject75.bin"/><Relationship Id="rId2" Type="http://schemas.openxmlformats.org/officeDocument/2006/relationships/image" Target="../media/image73.wmf"/><Relationship Id="rId1" Type="http://schemas.openxmlformats.org/officeDocument/2006/relationships/oleObject" Target="../embeddings/oleObject74.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PA_淘宝网chenying0907出品 3"/>
          <p:cNvSpPr/>
          <p:nvPr>
            <p:custDataLst>
              <p:tags r:id="rId1"/>
            </p:custDataLst>
          </p:nvPr>
        </p:nvSpPr>
        <p:spPr>
          <a:xfrm>
            <a:off x="0" y="2526587"/>
            <a:ext cx="299814" cy="33275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PA_淘宝网chenying0907出品 4"/>
          <p:cNvSpPr/>
          <p:nvPr>
            <p:custDataLst>
              <p:tags r:id="rId2"/>
            </p:custDataLst>
          </p:nvPr>
        </p:nvSpPr>
        <p:spPr>
          <a:xfrm>
            <a:off x="5818666" y="2526587"/>
            <a:ext cx="206243" cy="33275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PA_淘宝网chenying0907出品 7"/>
          <p:cNvSpPr/>
          <p:nvPr>
            <p:custDataLst>
              <p:tags r:id="rId3"/>
            </p:custDataLst>
          </p:nvPr>
        </p:nvSpPr>
        <p:spPr>
          <a:xfrm>
            <a:off x="6046708" y="4355029"/>
            <a:ext cx="289874" cy="1485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PA_直接连接符 9"/>
          <p:cNvCxnSpPr/>
          <p:nvPr>
            <p:custDataLst>
              <p:tags r:id="rId4"/>
            </p:custDataLst>
          </p:nvPr>
        </p:nvCxnSpPr>
        <p:spPr>
          <a:xfrm>
            <a:off x="6024911" y="5854171"/>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PA_淘宝网chenying0907出品 10"/>
          <p:cNvSpPr/>
          <p:nvPr>
            <p:custDataLst>
              <p:tags r:id="rId5"/>
            </p:custDataLst>
          </p:nvPr>
        </p:nvSpPr>
        <p:spPr>
          <a:xfrm>
            <a:off x="6350719" y="4409029"/>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PA_淘宝网chenying0907出品 11"/>
          <p:cNvSpPr/>
          <p:nvPr>
            <p:custDataLst>
              <p:tags r:id="rId6"/>
            </p:custDataLst>
          </p:nvPr>
        </p:nvSpPr>
        <p:spPr>
          <a:xfrm>
            <a:off x="6660739" y="4409029"/>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PA_淘宝网chenying0907出品 12"/>
          <p:cNvSpPr/>
          <p:nvPr>
            <p:custDataLst>
              <p:tags r:id="rId7"/>
            </p:custDataLst>
          </p:nvPr>
        </p:nvSpPr>
        <p:spPr>
          <a:xfrm>
            <a:off x="6965302" y="4436029"/>
            <a:ext cx="289874" cy="1404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PA_淘宝网chenying0907出品 13"/>
          <p:cNvSpPr/>
          <p:nvPr>
            <p:custDataLst>
              <p:tags r:id="rId8"/>
            </p:custDataLst>
          </p:nvPr>
        </p:nvSpPr>
        <p:spPr>
          <a:xfrm>
            <a:off x="7284553" y="4463029"/>
            <a:ext cx="289874" cy="1377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PA_淘宝网chenying0907出品 14"/>
          <p:cNvSpPr/>
          <p:nvPr>
            <p:custDataLst>
              <p:tags r:id="rId9"/>
            </p:custDataLst>
          </p:nvPr>
        </p:nvSpPr>
        <p:spPr>
          <a:xfrm>
            <a:off x="7601500" y="4490029"/>
            <a:ext cx="289874" cy="135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PA_淘宝网chenying0907出品 15"/>
          <p:cNvSpPr/>
          <p:nvPr>
            <p:custDataLst>
              <p:tags r:id="rId10"/>
            </p:custDataLst>
          </p:nvPr>
        </p:nvSpPr>
        <p:spPr>
          <a:xfrm rot="20959521">
            <a:off x="8008894" y="4528396"/>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PA_淘宝网chenying0907出品 16"/>
          <p:cNvSpPr/>
          <p:nvPr>
            <p:custDataLst>
              <p:tags r:id="rId11"/>
            </p:custDataLst>
          </p:nvPr>
        </p:nvSpPr>
        <p:spPr>
          <a:xfrm rot="19779136">
            <a:off x="8519314" y="4559593"/>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PA_直接连接符 17"/>
          <p:cNvCxnSpPr/>
          <p:nvPr>
            <p:custDataLst>
              <p:tags r:id="rId12"/>
            </p:custDataLst>
          </p:nvPr>
        </p:nvCxnSpPr>
        <p:spPr>
          <a:xfrm>
            <a:off x="233316" y="5854171"/>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PA_直接连接符 19"/>
          <p:cNvCxnSpPr/>
          <p:nvPr>
            <p:custDataLst>
              <p:tags r:id="rId13"/>
            </p:custDataLst>
          </p:nvPr>
        </p:nvCxnSpPr>
        <p:spPr>
          <a:xfrm>
            <a:off x="299814" y="2526587"/>
            <a:ext cx="5558280"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PA_直接连接符 20"/>
          <p:cNvCxnSpPr/>
          <p:nvPr>
            <p:custDataLst>
              <p:tags r:id="rId14"/>
            </p:custDataLst>
          </p:nvPr>
        </p:nvCxnSpPr>
        <p:spPr>
          <a:xfrm>
            <a:off x="233315" y="5303881"/>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PA_淘宝网chenying0907出品 21"/>
          <p:cNvSpPr txBox="1"/>
          <p:nvPr>
            <p:custDataLst>
              <p:tags r:id="rId15"/>
            </p:custDataLst>
          </p:nvPr>
        </p:nvSpPr>
        <p:spPr>
          <a:xfrm>
            <a:off x="653260" y="2646471"/>
            <a:ext cx="4529576" cy="2215991"/>
          </a:xfrm>
          <a:prstGeom prst="rect">
            <a:avLst/>
          </a:prstGeom>
          <a:noFill/>
        </p:spPr>
        <p:txBody>
          <a:bodyPr wrap="square" rtlCol="0">
            <a:spAutoFit/>
          </a:bodyPr>
          <a:lstStyle/>
          <a:p>
            <a:pPr algn="ctr"/>
            <a:r>
              <a:rPr lang="zh-CN" altLang="en-US" sz="4500" b="1" dirty="0">
                <a:solidFill>
                  <a:schemeClr val="accent1">
                    <a:lumMod val="50000"/>
                  </a:schemeClr>
                </a:solidFill>
                <a:latin typeface="微软雅黑" panose="020B0503020204020204" pitchFamily="34" charset="-122"/>
                <a:ea typeface="微软雅黑" panose="020B0503020204020204" pitchFamily="34" charset="-122"/>
              </a:rPr>
              <a:t>第五章  </a:t>
            </a:r>
            <a:endParaRPr lang="en-US" altLang="zh-CN" sz="4500" b="1" dirty="0">
              <a:solidFill>
                <a:schemeClr val="accent1">
                  <a:lumMod val="50000"/>
                </a:schemeClr>
              </a:solidFill>
              <a:latin typeface="微软雅黑" panose="020B0503020204020204" pitchFamily="34" charset="-122"/>
              <a:ea typeface="微软雅黑" panose="020B0503020204020204" pitchFamily="34" charset="-122"/>
            </a:endParaRPr>
          </a:p>
          <a:p>
            <a:pPr algn="ctr"/>
            <a:r>
              <a:rPr lang="zh-CN" altLang="en-US" sz="4500" b="1" dirty="0">
                <a:solidFill>
                  <a:schemeClr val="accent1">
                    <a:lumMod val="50000"/>
                  </a:schemeClr>
                </a:solidFill>
                <a:latin typeface="微软雅黑" panose="020B0503020204020204" pitchFamily="34" charset="-122"/>
                <a:ea typeface="微软雅黑" panose="020B0503020204020204" pitchFamily="34" charset="-122"/>
              </a:rPr>
              <a:t>时序逻辑电路</a:t>
            </a:r>
            <a:endParaRPr lang="en-US" altLang="zh-CN" sz="4500" b="1" dirty="0">
              <a:solidFill>
                <a:schemeClr val="accent1">
                  <a:lumMod val="50000"/>
                </a:schemeClr>
              </a:solidFill>
              <a:latin typeface="微软雅黑" panose="020B0503020204020204" pitchFamily="34" charset="-122"/>
              <a:ea typeface="微软雅黑" panose="020B0503020204020204" pitchFamily="34" charset="-122"/>
            </a:endParaRPr>
          </a:p>
          <a:p>
            <a:pPr algn="ct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r>
              <a:rPr lang="en-US" altLang="zh-CN" sz="2400" b="1" dirty="0">
                <a:solidFill>
                  <a:schemeClr val="accent1">
                    <a:lumMod val="50000"/>
                  </a:schemeClr>
                </a:solidFill>
                <a:latin typeface="微软雅黑" panose="020B0503020204020204" pitchFamily="34" charset="-122"/>
                <a:ea typeface="微软雅黑" panose="020B0503020204020204" pitchFamily="34" charset="-122"/>
              </a:rPr>
              <a:t>5.5 </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常用时序逻辑电路及其应用</a:t>
            </a:r>
            <a:endParaRPr lang="zh-CN" altLang="en-US" sz="24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4" name="PA_淘宝网chenying0907出品 23"/>
          <p:cNvSpPr txBox="1"/>
          <p:nvPr>
            <p:custDataLst>
              <p:tags r:id="rId16"/>
            </p:custDataLst>
          </p:nvPr>
        </p:nvSpPr>
        <p:spPr>
          <a:xfrm>
            <a:off x="1175493" y="5423765"/>
            <a:ext cx="2210322"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武汉大学计算机学院</a:t>
            </a:r>
            <a:endParaRPr lang="zh-CN" altLang="en-US" sz="1600" b="1" dirty="0">
              <a:latin typeface="微软雅黑" panose="020B0503020204020204" pitchFamily="34" charset="-122"/>
              <a:ea typeface="微软雅黑" panose="020B0503020204020204" pitchFamily="34" charset="-122"/>
            </a:endParaRPr>
          </a:p>
        </p:txBody>
      </p:sp>
      <p:sp>
        <p:nvSpPr>
          <p:cNvPr id="26" name="PA_淘宝网chenying0907出品 25"/>
          <p:cNvSpPr txBox="1"/>
          <p:nvPr>
            <p:custDataLst>
              <p:tags r:id="rId17"/>
            </p:custDataLst>
          </p:nvPr>
        </p:nvSpPr>
        <p:spPr>
          <a:xfrm>
            <a:off x="1055997" y="471140"/>
            <a:ext cx="2085680" cy="707886"/>
          </a:xfrm>
          <a:prstGeom prst="rect">
            <a:avLst/>
          </a:prstGeom>
          <a:noFill/>
        </p:spPr>
        <p:txBody>
          <a:bodyPr wrap="square" rtlCol="0">
            <a:spAutoFit/>
          </a:bodyPr>
          <a:lstStyle/>
          <a:p>
            <a:r>
              <a:rPr lang="zh-CN" altLang="en-US" sz="2000" b="1" dirty="0">
                <a:latin typeface="华文行楷" panose="02010800040101010101" pitchFamily="2" charset="-122"/>
                <a:ea typeface="华文行楷" panose="02010800040101010101" pitchFamily="2" charset="-122"/>
              </a:rPr>
              <a:t>     武汉大学</a:t>
            </a:r>
            <a:endParaRPr lang="en-US" altLang="zh-CN" sz="2000" b="1" dirty="0">
              <a:latin typeface="华文行楷" panose="02010800040101010101" pitchFamily="2" charset="-122"/>
              <a:ea typeface="华文行楷" panose="02010800040101010101" pitchFamily="2" charset="-122"/>
            </a:endParaRPr>
          </a:p>
          <a:p>
            <a:r>
              <a:rPr lang="en-US" altLang="zh-CN" sz="2000" b="1" dirty="0">
                <a:latin typeface="华文行楷" panose="02010800040101010101" pitchFamily="2" charset="-122"/>
                <a:ea typeface="华文行楷" panose="02010800040101010101" pitchFamily="2" charset="-122"/>
              </a:rPr>
              <a:t>   Wuhan University</a:t>
            </a:r>
            <a:endParaRPr lang="zh-CN" altLang="en-US" sz="2000" b="1" dirty="0">
              <a:latin typeface="华文行楷" panose="02010800040101010101" pitchFamily="2" charset="-122"/>
              <a:ea typeface="华文行楷" panose="02010800040101010101" pitchFamily="2" charset="-122"/>
            </a:endParaRPr>
          </a:p>
        </p:txBody>
      </p:sp>
      <p:pic>
        <p:nvPicPr>
          <p:cNvPr id="3" name="图片 2"/>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9950" y="46445"/>
            <a:ext cx="1211379" cy="1211379"/>
          </a:xfrm>
          <a:prstGeom prst="rect">
            <a:avLst/>
          </a:prstGeom>
        </p:spPr>
      </p:pic>
      <p:sp>
        <p:nvSpPr>
          <p:cNvPr id="27" name="PA_淘宝网chenying0907出品 22"/>
          <p:cNvSpPr txBox="1"/>
          <p:nvPr>
            <p:custDataLst>
              <p:tags r:id="rId19"/>
            </p:custDataLst>
          </p:nvPr>
        </p:nvSpPr>
        <p:spPr>
          <a:xfrm>
            <a:off x="3278669" y="5423765"/>
            <a:ext cx="2371613" cy="337185"/>
          </a:xfrm>
          <a:prstGeom prst="rect">
            <a:avLst/>
          </a:prstGeom>
          <a:noFill/>
        </p:spPr>
        <p:txBody>
          <a:bodyPr wrap="square" rtlCol="0">
            <a:spAutoFit/>
          </a:bodyPr>
          <a:lstStyle/>
          <a:p>
            <a:r>
              <a:rPr lang="en-US" altLang="zh-CN" sz="1600" b="1">
                <a:latin typeface="微软雅黑" panose="020B0503020204020204" pitchFamily="34" charset="-122"/>
                <a:ea typeface="微软雅黑" panose="020B0503020204020204" pitchFamily="34" charset="-122"/>
                <a:sym typeface="+mn-ea"/>
              </a:rPr>
              <a:t>2023-2024</a:t>
            </a:r>
            <a:r>
              <a:rPr lang="zh-CN" altLang="en-US" sz="1600" b="1">
                <a:latin typeface="微软雅黑" panose="020B0503020204020204" pitchFamily="34" charset="-122"/>
                <a:ea typeface="微软雅黑" panose="020B0503020204020204" pitchFamily="34" charset="-122"/>
              </a:rPr>
              <a:t>第二学期</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淘宝网chenying0907出品 10"/>
          <p:cNvSpPr txBox="1"/>
          <p:nvPr/>
        </p:nvSpPr>
        <p:spPr>
          <a:xfrm>
            <a:off x="1251284" y="3014625"/>
            <a:ext cx="1513792" cy="984885"/>
          </a:xfrm>
          <a:prstGeom prst="rect">
            <a:avLst/>
          </a:prstGeom>
          <a:noFill/>
        </p:spPr>
        <p:txBody>
          <a:bodyPr wrap="square" rtlCol="0">
            <a:spAutoFit/>
          </a:bodyPr>
          <a:lstStyle/>
          <a:p>
            <a:r>
              <a:rPr lang="zh-CN" altLang="en-US" sz="4000" b="1" dirty="0">
                <a:solidFill>
                  <a:schemeClr val="accent1">
                    <a:lumMod val="50000"/>
                  </a:schemeClr>
                </a:solidFill>
                <a:latin typeface="微软雅黑" panose="020B0503020204020204" pitchFamily="34" charset="-122"/>
                <a:ea typeface="微软雅黑" panose="020B0503020204020204" pitchFamily="34" charset="-122"/>
              </a:rPr>
              <a:t>目录</a:t>
            </a:r>
            <a:endParaRPr lang="en-US" altLang="zh-CN" sz="4000" b="1" dirty="0">
              <a:solidFill>
                <a:schemeClr val="accent1">
                  <a:lumMod val="50000"/>
                </a:schemeClr>
              </a:solidFill>
              <a:latin typeface="微软雅黑" panose="020B0503020204020204" pitchFamily="34" charset="-122"/>
              <a:ea typeface="微软雅黑" panose="020B0503020204020204" pitchFamily="34" charset="-122"/>
            </a:endParaRPr>
          </a:p>
          <a:p>
            <a:r>
              <a:rPr lang="en-US" altLang="zh-CN" b="1" dirty="0">
                <a:solidFill>
                  <a:schemeClr val="accent1">
                    <a:lumMod val="50000"/>
                  </a:schemeClr>
                </a:solidFill>
              </a:rPr>
              <a:t>Contents</a:t>
            </a:r>
            <a:endParaRPr lang="zh-CN" altLang="en-US" dirty="0">
              <a:solidFill>
                <a:schemeClr val="accent1">
                  <a:lumMod val="50000"/>
                </a:schemeClr>
              </a:solidFill>
            </a:endParaRPr>
          </a:p>
        </p:txBody>
      </p:sp>
      <p:sp>
        <p:nvSpPr>
          <p:cNvPr id="12" name="淘宝网chenying0907出品 11"/>
          <p:cNvSpPr/>
          <p:nvPr/>
        </p:nvSpPr>
        <p:spPr>
          <a:xfrm>
            <a:off x="3158834" y="-15801"/>
            <a:ext cx="5985166"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cxnSp>
        <p:nvCxnSpPr>
          <p:cNvPr id="16" name="直接连接符 15"/>
          <p:cNvCxnSpPr/>
          <p:nvPr/>
        </p:nvCxnSpPr>
        <p:spPr>
          <a:xfrm flipH="1">
            <a:off x="3158833" y="15801"/>
            <a:ext cx="3386343" cy="240418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5827660" y="4362508"/>
            <a:ext cx="3316340" cy="24954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淘宝网chenying0907出品 20"/>
          <p:cNvSpPr txBox="1"/>
          <p:nvPr/>
        </p:nvSpPr>
        <p:spPr>
          <a:xfrm>
            <a:off x="4405821" y="1958322"/>
            <a:ext cx="4093074" cy="523220"/>
          </a:xfrm>
          <a:prstGeom prst="rect">
            <a:avLst/>
          </a:prstGeom>
          <a:noFill/>
        </p:spPr>
        <p:txBody>
          <a:bodyPr wrap="square" rtlCol="0">
            <a:spAutoFit/>
          </a:bodyPr>
          <a:lstStyle>
            <a:defPPr>
              <a:defRPr lang="en-US"/>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概述</a:t>
            </a:r>
            <a:endParaRPr lang="zh-CN" altLang="en-US" dirty="0"/>
          </a:p>
        </p:txBody>
      </p:sp>
      <p:sp>
        <p:nvSpPr>
          <p:cNvPr id="26" name="淘宝网chenying0907出品 25"/>
          <p:cNvSpPr txBox="1"/>
          <p:nvPr/>
        </p:nvSpPr>
        <p:spPr>
          <a:xfrm>
            <a:off x="4405821" y="2578212"/>
            <a:ext cx="3787733" cy="523220"/>
          </a:xfrm>
          <a:prstGeom prst="rect">
            <a:avLst/>
          </a:prstGeom>
          <a:noFill/>
        </p:spPr>
        <p:txBody>
          <a:bodyPr wrap="square" rtlCol="0">
            <a:spAutoFit/>
          </a:bodyPr>
          <a:lstStyle>
            <a:defPPr>
              <a:defRPr lang="en-US"/>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集成触发器</a:t>
            </a:r>
            <a:endParaRPr lang="zh-CN" altLang="en-US" dirty="0"/>
          </a:p>
        </p:txBody>
      </p:sp>
      <p:sp>
        <p:nvSpPr>
          <p:cNvPr id="30" name="淘宝网chenying0907出品 29"/>
          <p:cNvSpPr txBox="1"/>
          <p:nvPr/>
        </p:nvSpPr>
        <p:spPr>
          <a:xfrm>
            <a:off x="4405821" y="3185725"/>
            <a:ext cx="3700500" cy="523220"/>
          </a:xfrm>
          <a:prstGeom prst="rect">
            <a:avLst/>
          </a:prstGeom>
          <a:noFill/>
        </p:spPr>
        <p:txBody>
          <a:bodyPr wrap="square" rtlCol="0">
            <a:spAutoFit/>
          </a:bodyPr>
          <a:lstStyle>
            <a:defPPr>
              <a:defRPr lang="en-US"/>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时序逻辑电路的分析</a:t>
            </a:r>
            <a:endParaRPr lang="zh-CN" altLang="en-US" dirty="0"/>
          </a:p>
        </p:txBody>
      </p:sp>
      <p:sp>
        <p:nvSpPr>
          <p:cNvPr id="17" name="淘宝网chenying0907出品 29"/>
          <p:cNvSpPr txBox="1"/>
          <p:nvPr/>
        </p:nvSpPr>
        <p:spPr>
          <a:xfrm>
            <a:off x="4405821" y="3828425"/>
            <a:ext cx="3700500" cy="523220"/>
          </a:xfrm>
          <a:prstGeom prst="rect">
            <a:avLst/>
          </a:prstGeom>
          <a:noFill/>
        </p:spPr>
        <p:txBody>
          <a:bodyPr wrap="square" rtlCol="0">
            <a:spAutoFit/>
          </a:bodyPr>
          <a:lstStyle>
            <a:defPPr>
              <a:defRPr lang="en-US"/>
            </a:defPPr>
            <a:lvl1pPr>
              <a:defRPr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sz="2800" dirty="0"/>
              <a:t>时序逻辑电路的设计</a:t>
            </a:r>
            <a:endParaRPr lang="zh-CN" altLang="en-US" sz="2800" dirty="0"/>
          </a:p>
        </p:txBody>
      </p:sp>
      <p:sp>
        <p:nvSpPr>
          <p:cNvPr id="18" name="淘宝网chenying0907出品 29"/>
          <p:cNvSpPr txBox="1"/>
          <p:nvPr/>
        </p:nvSpPr>
        <p:spPr>
          <a:xfrm>
            <a:off x="4405821" y="4455665"/>
            <a:ext cx="4343207" cy="523220"/>
          </a:xfrm>
          <a:prstGeom prst="rect">
            <a:avLst/>
          </a:prstGeom>
          <a:noFill/>
        </p:spPr>
        <p:txBody>
          <a:bodyPr wrap="square" rtlCol="0">
            <a:spAutoFit/>
          </a:bodyPr>
          <a:lstStyle>
            <a:defPPr>
              <a:defRPr lang="en-US"/>
            </a:defPPr>
            <a:lvl1pPr>
              <a:defRPr sz="2800" b="1">
                <a:solidFill>
                  <a:schemeClr val="bg1"/>
                </a:solidFill>
                <a:latin typeface="微软雅黑" panose="020B0503020204020204" pitchFamily="34" charset="-122"/>
                <a:ea typeface="微软雅黑" panose="020B0503020204020204" pitchFamily="34" charset="-122"/>
              </a:defRPr>
            </a:lvl1pPr>
          </a:lstStyle>
          <a:p>
            <a:r>
              <a:rPr lang="zh-CN" altLang="en-US" dirty="0"/>
              <a:t>常用时序电路及其应用</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579095"/>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6175398"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5.5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常用时序逻辑电路及其应用</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8" name="淘宝网chenying0907出品 29"/>
          <p:cNvSpPr txBox="1"/>
          <p:nvPr/>
        </p:nvSpPr>
        <p:spPr>
          <a:xfrm>
            <a:off x="2408579" y="2126947"/>
            <a:ext cx="3700500" cy="523220"/>
          </a:xfrm>
          <a:prstGeom prst="rect">
            <a:avLst/>
          </a:prstGeom>
          <a:noFill/>
        </p:spPr>
        <p:txBody>
          <a:bodyPr wrap="square" rtlCol="0">
            <a:spAutoFit/>
          </a:bodyPr>
          <a:lstStyle>
            <a:defPPr>
              <a:defRPr lang="en-US"/>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solidFill>
                  <a:schemeClr val="tx1"/>
                </a:solidFill>
              </a:rPr>
              <a:t>计数器</a:t>
            </a:r>
            <a:endParaRPr lang="zh-CN" altLang="en-US" dirty="0">
              <a:solidFill>
                <a:schemeClr val="tx1"/>
              </a:solidFill>
            </a:endParaRPr>
          </a:p>
        </p:txBody>
      </p:sp>
      <p:sp>
        <p:nvSpPr>
          <p:cNvPr id="11" name="淘宝网chenying0907出品 29"/>
          <p:cNvSpPr txBox="1"/>
          <p:nvPr/>
        </p:nvSpPr>
        <p:spPr>
          <a:xfrm>
            <a:off x="2408579" y="3291015"/>
            <a:ext cx="3700500" cy="523220"/>
          </a:xfrm>
          <a:prstGeom prst="rect">
            <a:avLst/>
          </a:prstGeom>
          <a:noFill/>
        </p:spPr>
        <p:txBody>
          <a:bodyPr wrap="square" rtlCol="0">
            <a:spAutoFit/>
          </a:bodyPr>
          <a:lstStyle>
            <a:defPPr>
              <a:defRPr lang="en-US"/>
            </a:defPPr>
            <a:lvl1pPr>
              <a:defRPr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sz="2800" dirty="0"/>
              <a:t>寄存器</a:t>
            </a:r>
            <a:endParaRPr lang="zh-CN" alt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12" name="Object 3"/>
          <p:cNvGraphicFramePr>
            <a:graphicFrameLocks noChangeAspect="1"/>
          </p:cNvGraphicFramePr>
          <p:nvPr/>
        </p:nvGraphicFramePr>
        <p:xfrm>
          <a:off x="25156" y="2116013"/>
          <a:ext cx="9093688" cy="3402239"/>
        </p:xfrm>
        <a:graphic>
          <a:graphicData uri="http://schemas.openxmlformats.org/presentationml/2006/ole">
            <mc:AlternateContent xmlns:mc="http://schemas.openxmlformats.org/markup-compatibility/2006">
              <mc:Choice xmlns:v="urn:schemas-microsoft-com:vml" Requires="v">
                <p:oleObj spid="_x0000_s1027" name="图片" r:id="rId1" imgW="4542790" imgH="1776730" progId="Word.Picture.8">
                  <p:embed/>
                </p:oleObj>
              </mc:Choice>
              <mc:Fallback>
                <p:oleObj name="图片" r:id="rId1" imgW="4542790" imgH="1776730"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6" y="2116013"/>
                        <a:ext cx="9093688" cy="3402239"/>
                      </a:xfrm>
                      <a:prstGeom prst="rect">
                        <a:avLst/>
                      </a:prstGeom>
                      <a:solidFill>
                        <a:srgbClr val="F8F8F8"/>
                      </a:solidFill>
                      <a:ln>
                        <a:noFill/>
                      </a:ln>
                      <a:effectLst/>
                    </p:spPr>
                  </p:pic>
                </p:oleObj>
              </mc:Fallback>
            </mc:AlternateContent>
          </a:graphicData>
        </a:graphic>
      </p:graphicFrame>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3"/>
          <a:stretch>
            <a:fillRect/>
          </a:stretch>
        </p:blipFill>
        <p:spPr>
          <a:xfrm>
            <a:off x="0" y="0"/>
            <a:ext cx="1435167" cy="615323"/>
          </a:xfrm>
          <a:prstGeom prst="rect">
            <a:avLst/>
          </a:prstGeom>
        </p:spPr>
      </p:pic>
      <p:sp>
        <p:nvSpPr>
          <p:cNvPr id="21" name="对话气泡: 矩形 20"/>
          <p:cNvSpPr/>
          <p:nvPr/>
        </p:nvSpPr>
        <p:spPr>
          <a:xfrm>
            <a:off x="149978" y="1234641"/>
            <a:ext cx="1008449" cy="704774"/>
          </a:xfrm>
          <a:prstGeom prst="wedgeRectCallout">
            <a:avLst>
              <a:gd name="adj1" fmla="val 100330"/>
              <a:gd name="adj2" fmla="val 95061"/>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异步清零端</a:t>
            </a:r>
            <a:endParaRPr lang="zh-CN" altLang="en-US" sz="2000" b="1" dirty="0">
              <a:solidFill>
                <a:srgbClr val="FF0000"/>
              </a:solidFill>
            </a:endParaRPr>
          </a:p>
        </p:txBody>
      </p:sp>
      <p:sp>
        <p:nvSpPr>
          <p:cNvPr id="26" name="对话气泡: 矩形 25"/>
          <p:cNvSpPr/>
          <p:nvPr/>
        </p:nvSpPr>
        <p:spPr>
          <a:xfrm>
            <a:off x="612517" y="5701434"/>
            <a:ext cx="1091821" cy="922497"/>
          </a:xfrm>
          <a:prstGeom prst="wedgeRectCallout">
            <a:avLst>
              <a:gd name="adj1" fmla="val 78800"/>
              <a:gd name="adj2" fmla="val -131724"/>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减法计数脉冲输入端</a:t>
            </a:r>
            <a:endParaRPr lang="zh-CN" altLang="en-US" sz="2000" b="1" dirty="0">
              <a:solidFill>
                <a:schemeClr val="tx1"/>
              </a:solidFill>
            </a:endParaRPr>
          </a:p>
        </p:txBody>
      </p:sp>
      <p:sp>
        <p:nvSpPr>
          <p:cNvPr id="28" name="对话气泡: 矩形 27"/>
          <p:cNvSpPr/>
          <p:nvPr/>
        </p:nvSpPr>
        <p:spPr>
          <a:xfrm>
            <a:off x="2544149" y="1188275"/>
            <a:ext cx="955947" cy="704774"/>
          </a:xfrm>
          <a:prstGeom prst="wedgeRectCallout">
            <a:avLst>
              <a:gd name="adj1" fmla="val -47892"/>
              <a:gd name="adj2" fmla="val 9029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7030A0"/>
                </a:solidFill>
              </a:rPr>
              <a:t>借位输出端</a:t>
            </a:r>
            <a:endParaRPr lang="zh-CN" altLang="en-US" sz="2000" b="1" dirty="0">
              <a:solidFill>
                <a:srgbClr val="7030A0"/>
              </a:solidFill>
            </a:endParaRPr>
          </a:p>
        </p:txBody>
      </p:sp>
      <p:sp>
        <p:nvSpPr>
          <p:cNvPr id="30" name="对话气泡: 矩形 29"/>
          <p:cNvSpPr/>
          <p:nvPr/>
        </p:nvSpPr>
        <p:spPr>
          <a:xfrm>
            <a:off x="3832690" y="1282847"/>
            <a:ext cx="1535667" cy="684984"/>
          </a:xfrm>
          <a:prstGeom prst="wedgeRectCallout">
            <a:avLst>
              <a:gd name="adj1" fmla="val -96792"/>
              <a:gd name="adj2" fmla="val 81206"/>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00FF"/>
                </a:solidFill>
              </a:rPr>
              <a:t>异步置数控制端</a:t>
            </a:r>
            <a:endParaRPr lang="zh-CN" altLang="en-US" sz="2000" b="1" dirty="0">
              <a:solidFill>
                <a:srgbClr val="0000FF"/>
              </a:solidFill>
            </a:endParaRPr>
          </a:p>
        </p:txBody>
      </p:sp>
      <p:sp>
        <p:nvSpPr>
          <p:cNvPr id="13" name="对话气泡: 矩形 12"/>
          <p:cNvSpPr/>
          <p:nvPr/>
        </p:nvSpPr>
        <p:spPr>
          <a:xfrm>
            <a:off x="1435167" y="1213476"/>
            <a:ext cx="1008449" cy="704774"/>
          </a:xfrm>
          <a:prstGeom prst="wedgeRectCallout">
            <a:avLst>
              <a:gd name="adj1" fmla="val 28455"/>
              <a:gd name="adj2" fmla="val 9029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7030A0"/>
                </a:solidFill>
              </a:rPr>
              <a:t>进位输出端</a:t>
            </a:r>
            <a:endParaRPr lang="zh-CN" altLang="en-US" sz="2000" b="1" dirty="0">
              <a:solidFill>
                <a:srgbClr val="7030A0"/>
              </a:solidFill>
            </a:endParaRPr>
          </a:p>
        </p:txBody>
      </p:sp>
      <p:sp>
        <p:nvSpPr>
          <p:cNvPr id="14" name="对话气泡: 矩形 13"/>
          <p:cNvSpPr/>
          <p:nvPr/>
        </p:nvSpPr>
        <p:spPr>
          <a:xfrm>
            <a:off x="2173706" y="5679524"/>
            <a:ext cx="1091821" cy="922497"/>
          </a:xfrm>
          <a:prstGeom prst="wedgeRectCallout">
            <a:avLst>
              <a:gd name="adj1" fmla="val -15369"/>
              <a:gd name="adj2" fmla="val -13125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加法计数脉冲输入端</a:t>
            </a:r>
            <a:endParaRPr lang="zh-CN" altLang="en-US" sz="2000" b="1" dirty="0">
              <a:solidFill>
                <a:schemeClr val="tx1"/>
              </a:solidFill>
            </a:endParaRPr>
          </a:p>
        </p:txBody>
      </p:sp>
      <p:sp>
        <p:nvSpPr>
          <p:cNvPr id="15" name="Text Box 3"/>
          <p:cNvSpPr txBox="1">
            <a:spLocks noChangeArrowheads="1"/>
          </p:cNvSpPr>
          <p:nvPr/>
        </p:nvSpPr>
        <p:spPr bwMode="auto">
          <a:xfrm>
            <a:off x="1435167" y="57713"/>
            <a:ext cx="6333024" cy="5191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fontAlgn="base">
              <a:spcBef>
                <a:spcPct val="0"/>
              </a:spcBef>
              <a:spcAft>
                <a:spcPct val="0"/>
              </a:spcAft>
            </a:pPr>
            <a:r>
              <a:rPr kumimoji="1" lang="zh-CN" altLang="en-US" sz="2800" b="1" dirty="0">
                <a:solidFill>
                  <a:srgbClr val="0000FF"/>
                </a:solidFill>
                <a:latin typeface="黑体" panose="02010609060101010101" pitchFamily="49" charset="-122"/>
                <a:ea typeface="黑体" panose="02010609060101010101" pitchFamily="49" charset="-122"/>
              </a:rPr>
              <a:t>双时钟可逆十六进制计数器</a:t>
            </a:r>
            <a:r>
              <a:rPr kumimoji="1" lang="en-US" altLang="zh-CN" sz="2800" b="1" dirty="0">
                <a:solidFill>
                  <a:srgbClr val="0000FF"/>
                </a:solidFill>
                <a:latin typeface="黑体" panose="02010609060101010101" pitchFamily="49" charset="-122"/>
                <a:ea typeface="黑体" panose="02010609060101010101" pitchFamily="49" charset="-122"/>
              </a:rPr>
              <a:t>74LS193</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5575068" y="3452553"/>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a:off x="5586151" y="3541221"/>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569525" y="3736477"/>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5580608" y="3819603"/>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17" name="Group 6"/>
          <p:cNvGrpSpPr/>
          <p:nvPr/>
        </p:nvGrpSpPr>
        <p:grpSpPr bwMode="auto">
          <a:xfrm>
            <a:off x="23814" y="1290724"/>
            <a:ext cx="9096374" cy="4227513"/>
            <a:chOff x="186" y="592"/>
            <a:chExt cx="5730" cy="2663"/>
          </a:xfrm>
        </p:grpSpPr>
        <p:sp>
          <p:nvSpPr>
            <p:cNvPr id="18" name="Rectangle 4"/>
            <p:cNvSpPr>
              <a:spLocks noChangeArrowheads="1"/>
            </p:cNvSpPr>
            <p:nvPr/>
          </p:nvSpPr>
          <p:spPr bwMode="auto">
            <a:xfrm>
              <a:off x="1789" y="592"/>
              <a:ext cx="200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30000"/>
                </a:lnSpc>
                <a:spcBef>
                  <a:spcPct val="20000"/>
                </a:spcBef>
              </a:pPr>
              <a:r>
                <a:rPr lang="en-US" altLang="zh-CN" dirty="0">
                  <a:solidFill>
                    <a:srgbClr val="FF0000"/>
                  </a:solidFill>
                </a:rPr>
                <a:t>74LS193</a:t>
              </a:r>
              <a:r>
                <a:rPr lang="zh-CN" altLang="en-US" dirty="0">
                  <a:solidFill>
                    <a:srgbClr val="FF0000"/>
                  </a:solidFill>
                </a:rPr>
                <a:t>的逻辑功能表</a:t>
              </a:r>
              <a:endParaRPr lang="zh-CN" altLang="en-US" dirty="0">
                <a:solidFill>
                  <a:srgbClr val="FF0000"/>
                </a:solidFill>
              </a:endParaRPr>
            </a:p>
          </p:txBody>
        </p:sp>
        <p:pic>
          <p:nvPicPr>
            <p:cNvPr id="23" name="Picture 5" descr="B5-5-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86" y="918"/>
              <a:ext cx="5730" cy="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0" y="0"/>
            <a:ext cx="1435167" cy="615323"/>
          </a:xfrm>
          <a:prstGeom prst="rect">
            <a:avLst/>
          </a:prstGeom>
        </p:spPr>
      </p:pic>
      <p:sp>
        <p:nvSpPr>
          <p:cNvPr id="25" name="Text Box 3"/>
          <p:cNvSpPr txBox="1">
            <a:spLocks noChangeArrowheads="1"/>
          </p:cNvSpPr>
          <p:nvPr/>
        </p:nvSpPr>
        <p:spPr bwMode="auto">
          <a:xfrm>
            <a:off x="1435167" y="57713"/>
            <a:ext cx="6333024" cy="5191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fontAlgn="base">
              <a:spcBef>
                <a:spcPct val="0"/>
              </a:spcBef>
              <a:spcAft>
                <a:spcPct val="0"/>
              </a:spcAft>
            </a:pPr>
            <a:r>
              <a:rPr kumimoji="1" lang="zh-CN" altLang="en-US" sz="2800" b="1" dirty="0">
                <a:solidFill>
                  <a:srgbClr val="0000FF"/>
                </a:solidFill>
                <a:latin typeface="黑体" panose="02010609060101010101" pitchFamily="49" charset="-122"/>
                <a:ea typeface="黑体" panose="02010609060101010101" pitchFamily="49" charset="-122"/>
              </a:rPr>
              <a:t>双时钟可逆十六进制计数器</a:t>
            </a:r>
            <a:r>
              <a:rPr kumimoji="1" lang="en-US" altLang="zh-CN" sz="2800" b="1" dirty="0">
                <a:solidFill>
                  <a:srgbClr val="0000FF"/>
                </a:solidFill>
                <a:latin typeface="黑体" panose="02010609060101010101" pitchFamily="49" charset="-122"/>
                <a:ea typeface="黑体" panose="02010609060101010101" pitchFamily="49" charset="-122"/>
              </a:rPr>
              <a:t>74LS193</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sp>
        <p:nvSpPr>
          <p:cNvPr id="2" name="文本框 1"/>
          <p:cNvSpPr txBox="1"/>
          <p:nvPr/>
        </p:nvSpPr>
        <p:spPr>
          <a:xfrm>
            <a:off x="1707232" y="4910275"/>
            <a:ext cx="539126" cy="369332"/>
          </a:xfrm>
          <a:prstGeom prst="rect">
            <a:avLst/>
          </a:prstGeom>
          <a:solidFill>
            <a:schemeClr val="bg1"/>
          </a:solid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2425186" y="4910275"/>
            <a:ext cx="539126" cy="369332"/>
          </a:xfrm>
          <a:prstGeom prst="rect">
            <a:avLst/>
          </a:prstGeom>
          <a:solidFill>
            <a:schemeClr val="bg1"/>
          </a:solid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用集成计数器实现任意进制计数</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7" name="Text Box 3"/>
          <p:cNvSpPr txBox="1">
            <a:spLocks noChangeArrowheads="1"/>
          </p:cNvSpPr>
          <p:nvPr/>
        </p:nvSpPr>
        <p:spPr bwMode="auto">
          <a:xfrm>
            <a:off x="471430" y="881975"/>
            <a:ext cx="85693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pPr>
            <a:r>
              <a:rPr lang="zh-CN" altLang="en-US" sz="2800" b="1" dirty="0">
                <a:solidFill>
                  <a:srgbClr val="000000"/>
                </a:solidFill>
                <a:latin typeface="Times New Roman" panose="02020603050405020304" pitchFamily="18" charset="0"/>
                <a:ea typeface="楷体_GB2312" pitchFamily="49" charset="-122"/>
                <a:sym typeface="Arial" panose="020B0604020202020204" pitchFamily="34" charset="0"/>
              </a:rPr>
              <a:t>若已有</a:t>
            </a:r>
            <a:r>
              <a:rPr lang="en-US" altLang="zh-CN" sz="2800" b="1" dirty="0">
                <a:solidFill>
                  <a:srgbClr val="000000"/>
                </a:solidFill>
                <a:latin typeface="Times New Roman" panose="02020603050405020304" pitchFamily="18" charset="0"/>
                <a:ea typeface="楷体_GB2312" pitchFamily="49" charset="-122"/>
                <a:sym typeface="Arial" panose="020B0604020202020204" pitchFamily="34" charset="0"/>
              </a:rPr>
              <a:t>N</a:t>
            </a:r>
            <a:r>
              <a:rPr lang="zh-CN" altLang="en-US" sz="2800" b="1" dirty="0">
                <a:solidFill>
                  <a:srgbClr val="000000"/>
                </a:solidFill>
                <a:latin typeface="Times New Roman" panose="02020603050405020304" pitchFamily="18" charset="0"/>
                <a:ea typeface="楷体_GB2312" pitchFamily="49" charset="-122"/>
                <a:sym typeface="Arial" panose="020B0604020202020204" pitchFamily="34" charset="0"/>
              </a:rPr>
              <a:t>进制计数器，现在要实现</a:t>
            </a:r>
            <a:r>
              <a:rPr lang="en-US" altLang="zh-CN" sz="2800" b="1" dirty="0">
                <a:solidFill>
                  <a:srgbClr val="000000"/>
                </a:solidFill>
                <a:latin typeface="Times New Roman" panose="02020603050405020304" pitchFamily="18" charset="0"/>
                <a:ea typeface="楷体_GB2312" pitchFamily="49" charset="-122"/>
                <a:sym typeface="Arial" panose="020B0604020202020204" pitchFamily="34" charset="0"/>
              </a:rPr>
              <a:t>M</a:t>
            </a:r>
            <a:r>
              <a:rPr lang="zh-CN" altLang="en-US" sz="2800" b="1" dirty="0">
                <a:solidFill>
                  <a:srgbClr val="000000"/>
                </a:solidFill>
                <a:latin typeface="Times New Roman" panose="02020603050405020304" pitchFamily="18" charset="0"/>
                <a:ea typeface="楷体_GB2312" pitchFamily="49" charset="-122"/>
                <a:sym typeface="Arial" panose="020B0604020202020204" pitchFamily="34" charset="0"/>
              </a:rPr>
              <a:t>进制计数器</a:t>
            </a:r>
            <a:endParaRPr lang="zh-CN" altLang="en-US" sz="2800" b="1" dirty="0">
              <a:solidFill>
                <a:srgbClr val="000000"/>
              </a:solidFill>
              <a:latin typeface="Times New Roman" panose="02020603050405020304" pitchFamily="18" charset="0"/>
              <a:ea typeface="楷体_GB2312" pitchFamily="49" charset="-122"/>
              <a:sym typeface="Arial" panose="020B0604020202020204" pitchFamily="34" charset="0"/>
            </a:endParaRPr>
          </a:p>
        </p:txBody>
      </p:sp>
      <p:sp>
        <p:nvSpPr>
          <p:cNvPr id="18" name="Rectangle 5"/>
          <p:cNvSpPr>
            <a:spLocks noChangeArrowheads="1"/>
          </p:cNvSpPr>
          <p:nvPr/>
        </p:nvSpPr>
        <p:spPr bwMode="auto">
          <a:xfrm>
            <a:off x="1490952" y="2502384"/>
            <a:ext cx="1364521" cy="980212"/>
          </a:xfrm>
          <a:prstGeom prst="rect">
            <a:avLst/>
          </a:prstGeom>
          <a:solidFill>
            <a:schemeClr val="accent1"/>
          </a:solidFill>
          <a:ln w="57150" cmpd="thickThin">
            <a:solidFill>
              <a:srgbClr val="000000"/>
            </a:solidFill>
            <a:miter lim="800000"/>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楷体_GB2312" pitchFamily="49" charset="-122"/>
                <a:sym typeface="Arial" panose="020B0604020202020204" pitchFamily="34" charset="0"/>
              </a:rPr>
              <a:t>N</a:t>
            </a:r>
            <a:r>
              <a:rPr kumimoji="0" lang="zh-CN" altLang="en-US" sz="3600" b="1" i="0" u="none" strike="noStrike" kern="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楷体_GB2312" pitchFamily="49" charset="-122"/>
                <a:sym typeface="Arial" panose="020B0604020202020204" pitchFamily="34" charset="0"/>
              </a:rPr>
              <a:t>进制</a:t>
            </a:r>
            <a:endParaRPr kumimoji="0" lang="zh-CN" altLang="en-US" sz="3600" b="1" i="0" u="none" strike="noStrike" kern="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楷体_GB2312" pitchFamily="49" charset="-122"/>
              <a:sym typeface="Arial" panose="020B0604020202020204" pitchFamily="34" charset="0"/>
            </a:endParaRPr>
          </a:p>
        </p:txBody>
      </p:sp>
      <p:sp>
        <p:nvSpPr>
          <p:cNvPr id="19" name="AutoShape 6"/>
          <p:cNvSpPr>
            <a:spLocks noChangeArrowheads="1"/>
          </p:cNvSpPr>
          <p:nvPr/>
        </p:nvSpPr>
        <p:spPr bwMode="auto">
          <a:xfrm>
            <a:off x="3194748" y="3003428"/>
            <a:ext cx="1797050" cy="358775"/>
          </a:xfrm>
          <a:prstGeom prst="rightArrow">
            <a:avLst>
              <a:gd name="adj1" fmla="val 50000"/>
              <a:gd name="adj2" fmla="val 125221"/>
            </a:avLst>
          </a:prstGeom>
          <a:solidFill>
            <a:srgbClr val="2144F3"/>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800" b="1" i="0" u="none" strike="noStrike" kern="0" cap="none" spc="0" normalizeH="0" baseline="0" noProof="0">
              <a:ln>
                <a:noFill/>
              </a:ln>
              <a:solidFill>
                <a:srgbClr val="0000CC"/>
              </a:solidFill>
              <a:effectLst/>
              <a:uLnTx/>
              <a:uFillTx/>
              <a:latin typeface="Times New Roman" panose="02020603050405020304" pitchFamily="18" charset="0"/>
              <a:ea typeface="楷体_GB2312" pitchFamily="49" charset="-122"/>
              <a:sym typeface="Arial" panose="020B0604020202020204" pitchFamily="34" charset="0"/>
            </a:endParaRPr>
          </a:p>
        </p:txBody>
      </p:sp>
      <p:sp>
        <p:nvSpPr>
          <p:cNvPr id="20" name="Rectangle 7"/>
          <p:cNvSpPr>
            <a:spLocks noChangeArrowheads="1"/>
          </p:cNvSpPr>
          <p:nvPr/>
        </p:nvSpPr>
        <p:spPr bwMode="auto">
          <a:xfrm>
            <a:off x="5191069" y="2441525"/>
            <a:ext cx="1469638" cy="1041070"/>
          </a:xfrm>
          <a:prstGeom prst="rect">
            <a:avLst/>
          </a:prstGeom>
          <a:solidFill>
            <a:schemeClr val="accent1"/>
          </a:solidFill>
          <a:ln w="57150" cmpd="thickThin">
            <a:solidFill>
              <a:srgbClr val="000000"/>
            </a:solidFill>
            <a:miter lim="800000"/>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楷体_GB2312" pitchFamily="49" charset="-122"/>
                <a:sym typeface="Arial" panose="020B0604020202020204" pitchFamily="34" charset="0"/>
              </a:rPr>
              <a:t>M</a:t>
            </a:r>
            <a:r>
              <a:rPr kumimoji="0" lang="zh-CN" altLang="en-US" sz="3600" b="1" i="0" u="none" strike="noStrike" kern="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楷体_GB2312" pitchFamily="49" charset="-122"/>
                <a:sym typeface="Arial" panose="020B0604020202020204" pitchFamily="34" charset="0"/>
              </a:rPr>
              <a:t>进制</a:t>
            </a:r>
            <a:endParaRPr kumimoji="0" lang="zh-CN" altLang="en-US" sz="3600" b="1" i="0" u="none" strike="noStrike" kern="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楷体_GB2312" pitchFamily="49" charset="-122"/>
              <a:sym typeface="Arial" panose="020B0604020202020204" pitchFamily="34" charset="0"/>
            </a:endParaRPr>
          </a:p>
        </p:txBody>
      </p:sp>
      <p:graphicFrame>
        <p:nvGraphicFramePr>
          <p:cNvPr id="21" name="Object 8"/>
          <p:cNvGraphicFramePr>
            <a:graphicFrameLocks noChangeAspect="1"/>
          </p:cNvGraphicFramePr>
          <p:nvPr/>
        </p:nvGraphicFramePr>
        <p:xfrm>
          <a:off x="3269361" y="1642959"/>
          <a:ext cx="1569521" cy="1283973"/>
        </p:xfrm>
        <a:graphic>
          <a:graphicData uri="http://schemas.openxmlformats.org/presentationml/2006/ole">
            <mc:AlternateContent xmlns:mc="http://schemas.openxmlformats.org/markup-compatibility/2006">
              <mc:Choice xmlns:v="urn:schemas-microsoft-com:vml" Requires="v">
                <p:oleObj spid="_x0000_s2051" name="" r:id="rId2" imgW="482600" imgH="393700" progId="Equation.3">
                  <p:embed/>
                </p:oleObj>
              </mc:Choice>
              <mc:Fallback>
                <p:oleObj name="" r:id="rId2" imgW="482600" imgH="3937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9361" y="1642959"/>
                        <a:ext cx="1569521" cy="1283973"/>
                      </a:xfrm>
                      <a:prstGeom prst="rect">
                        <a:avLst/>
                      </a:prstGeom>
                      <a:solidFill>
                        <a:srgbClr val="FFFFFF"/>
                      </a:solidFill>
                      <a:ln w="57150" cmpd="thickThin">
                        <a:solidFill>
                          <a:srgbClr val="FF3300"/>
                        </a:solidFill>
                        <a:miter lim="800000"/>
                        <a:headEnd/>
                        <a:tailEnd/>
                      </a:ln>
                      <a:effectLst/>
                    </p:spPr>
                  </p:pic>
                </p:oleObj>
              </mc:Fallback>
            </mc:AlternateContent>
          </a:graphicData>
        </a:graphic>
      </p:graphicFrame>
      <p:sp>
        <p:nvSpPr>
          <p:cNvPr id="22" name="Rectangle 9"/>
          <p:cNvSpPr>
            <a:spLocks noChangeArrowheads="1"/>
          </p:cNvSpPr>
          <p:nvPr/>
        </p:nvSpPr>
        <p:spPr bwMode="auto">
          <a:xfrm>
            <a:off x="1028774" y="4126198"/>
            <a:ext cx="6769100" cy="13088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lnSpc>
                <a:spcPct val="150000"/>
              </a:lnSpc>
              <a:spcBef>
                <a:spcPct val="0"/>
              </a:spcBef>
              <a:spcAft>
                <a:spcPct val="0"/>
              </a:spcAft>
            </a:pPr>
            <a:r>
              <a:rPr lang="en-US" altLang="zh-CN" sz="2800" b="1" dirty="0">
                <a:solidFill>
                  <a:srgbClr val="170A8E"/>
                </a:solidFill>
                <a:latin typeface="楷体_GB2312" pitchFamily="49" charset="-122"/>
                <a:ea typeface="楷体_GB2312" pitchFamily="49" charset="-122"/>
                <a:sym typeface="Arial" panose="020B0604020202020204" pitchFamily="34" charset="0"/>
              </a:rPr>
              <a:t>M&lt;N</a:t>
            </a:r>
            <a:r>
              <a:rPr lang="zh-CN" altLang="en-US" sz="2800" b="1" dirty="0">
                <a:solidFill>
                  <a:srgbClr val="170A8E"/>
                </a:solidFill>
                <a:latin typeface="楷体_GB2312" pitchFamily="49" charset="-122"/>
                <a:ea typeface="楷体_GB2312" pitchFamily="49" charset="-122"/>
                <a:sym typeface="Arial" panose="020B0604020202020204" pitchFamily="34" charset="0"/>
              </a:rPr>
              <a:t>：反馈清零法或反馈置数法</a:t>
            </a:r>
            <a:endParaRPr lang="en-US" altLang="zh-CN" sz="2800" b="1" dirty="0">
              <a:solidFill>
                <a:srgbClr val="170A8E"/>
              </a:solidFill>
              <a:latin typeface="楷体_GB2312" pitchFamily="49" charset="-122"/>
              <a:ea typeface="楷体_GB2312" pitchFamily="49" charset="-122"/>
              <a:sym typeface="Arial" panose="020B0604020202020204" pitchFamily="34" charset="0"/>
            </a:endParaRPr>
          </a:p>
          <a:p>
            <a:pPr defTabSz="914400" fontAlgn="base">
              <a:lnSpc>
                <a:spcPct val="150000"/>
              </a:lnSpc>
              <a:spcBef>
                <a:spcPct val="0"/>
              </a:spcBef>
              <a:spcAft>
                <a:spcPct val="0"/>
              </a:spcAft>
            </a:pPr>
            <a:r>
              <a:rPr lang="en-US" altLang="zh-CN" sz="2800" b="1" dirty="0">
                <a:solidFill>
                  <a:srgbClr val="170A8E"/>
                </a:solidFill>
                <a:latin typeface="楷体_GB2312" pitchFamily="49" charset="-122"/>
                <a:ea typeface="楷体_GB2312" pitchFamily="49" charset="-122"/>
                <a:sym typeface="Arial" panose="020B0604020202020204" pitchFamily="34" charset="0"/>
              </a:rPr>
              <a:t>M&gt;N</a:t>
            </a:r>
            <a:r>
              <a:rPr lang="zh-CN" altLang="en-US" sz="2800" b="1" dirty="0">
                <a:solidFill>
                  <a:srgbClr val="170A8E"/>
                </a:solidFill>
                <a:latin typeface="楷体_GB2312" pitchFamily="49" charset="-122"/>
                <a:ea typeface="楷体_GB2312" pitchFamily="49" charset="-122"/>
                <a:sym typeface="Arial" panose="020B0604020202020204" pitchFamily="34" charset="0"/>
              </a:rPr>
              <a:t>：多个芯片级联</a:t>
            </a:r>
            <a:endParaRPr lang="zh-CN" altLang="en-US" sz="2800" b="1" dirty="0">
              <a:solidFill>
                <a:srgbClr val="170A8E"/>
              </a:solidFill>
              <a:latin typeface="楷体_GB2312" pitchFamily="49" charset="-122"/>
              <a:ea typeface="楷体_GB2312" pitchFamily="49"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10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autoUpdateAnimBg="0"/>
      <p:bldP spid="20" grpId="0" animBg="1" autoUpdateAnimBg="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反馈清零法和反馈置数法</a:t>
            </a:r>
            <a:r>
              <a:rPr lang="en-US" altLang="zh-CN" sz="2800" b="1" dirty="0">
                <a:solidFill>
                  <a:srgbClr val="0000FF"/>
                </a:solidFill>
                <a:latin typeface="黑体" panose="02010609060101010101" pitchFamily="49" charset="-122"/>
                <a:ea typeface="黑体" panose="02010609060101010101" pitchFamily="49" charset="-122"/>
              </a:rPr>
              <a:t>(M&lt;N)</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4" name="Text Box 3"/>
          <p:cNvSpPr txBox="1">
            <a:spLocks noChangeArrowheads="1"/>
          </p:cNvSpPr>
          <p:nvPr/>
        </p:nvSpPr>
        <p:spPr bwMode="auto">
          <a:xfrm>
            <a:off x="1010054" y="1892324"/>
            <a:ext cx="6554528" cy="2576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fontAlgn="base">
              <a:lnSpc>
                <a:spcPct val="150000"/>
              </a:lnSpc>
              <a:spcBef>
                <a:spcPct val="50000"/>
              </a:spcBef>
              <a:spcAft>
                <a:spcPct val="0"/>
              </a:spcAft>
            </a:pP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在</a:t>
            </a:r>
            <a:r>
              <a:rPr lang="en-US" altLang="zh-CN"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N</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进制计数器的顺序计数过程中，若设法使之跳过（</a:t>
            </a:r>
            <a:r>
              <a:rPr lang="en-US" altLang="zh-CN"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N</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a:t>
            </a:r>
            <a:r>
              <a:rPr lang="en-US" altLang="zh-CN"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M</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）个状态，就可以得到</a:t>
            </a:r>
            <a:r>
              <a:rPr lang="en-US" altLang="zh-CN"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M</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进制计数器，其方法有</a:t>
            </a:r>
            <a:r>
              <a:rPr lang="zh-CN" altLang="en-US" sz="2800" b="1" dirty="0">
                <a:solidFill>
                  <a:srgbClr val="FF0000"/>
                </a:solidFill>
                <a:latin typeface="黑体" panose="02010609060101010101" pitchFamily="49" charset="-122"/>
                <a:ea typeface="黑体" panose="02010609060101010101" pitchFamily="49" charset="-122"/>
                <a:sym typeface="Arial" panose="020B0604020202020204" pitchFamily="34" charset="0"/>
              </a:rPr>
              <a:t>清零法</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（复位法）和</a:t>
            </a:r>
            <a:r>
              <a:rPr lang="zh-CN" altLang="en-US" sz="2800" b="1" dirty="0">
                <a:solidFill>
                  <a:srgbClr val="FF0000"/>
                </a:solidFill>
                <a:latin typeface="黑体" panose="02010609060101010101" pitchFamily="49" charset="-122"/>
                <a:ea typeface="黑体" panose="02010609060101010101" pitchFamily="49" charset="-122"/>
                <a:sym typeface="Arial" panose="020B0604020202020204" pitchFamily="34" charset="0"/>
              </a:rPr>
              <a:t>置数法</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（置位法）</a:t>
            </a:r>
            <a:endPar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反馈清零法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8" name="Text Box 3"/>
          <p:cNvSpPr txBox="1">
            <a:spLocks noChangeArrowheads="1"/>
          </p:cNvSpPr>
          <p:nvPr/>
        </p:nvSpPr>
        <p:spPr bwMode="auto">
          <a:xfrm>
            <a:off x="529395" y="1188614"/>
            <a:ext cx="281319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fontAlgn="base">
              <a:spcBef>
                <a:spcPct val="50000"/>
              </a:spcBef>
              <a:spcAft>
                <a:spcPct val="0"/>
              </a:spcAft>
            </a:pPr>
            <a:r>
              <a:rPr lang="zh-CN" altLang="en-US" sz="2800" b="1" dirty="0">
                <a:solidFill>
                  <a:srgbClr val="FF0000"/>
                </a:solidFill>
                <a:latin typeface="黑体" panose="02010609060101010101" pitchFamily="49" charset="-122"/>
                <a:ea typeface="黑体" panose="02010609060101010101" pitchFamily="49" charset="-122"/>
                <a:sym typeface="Arial" panose="020B0604020202020204" pitchFamily="34" charset="0"/>
              </a:rPr>
              <a:t>清零法</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适用于有</a:t>
            </a:r>
            <a:r>
              <a:rPr lang="zh-CN" altLang="en-US" sz="2800" b="1" dirty="0">
                <a:solidFill>
                  <a:srgbClr val="FF33CC"/>
                </a:solidFill>
                <a:latin typeface="黑体" panose="02010609060101010101" pitchFamily="49" charset="-122"/>
                <a:ea typeface="黑体" panose="02010609060101010101" pitchFamily="49" charset="-122"/>
                <a:sym typeface="Arial" panose="020B0604020202020204" pitchFamily="34" charset="0"/>
              </a:rPr>
              <a:t>清零输入端</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a:t>
            </a:r>
            <a:r>
              <a:rPr lang="zh-CN" altLang="en-US" sz="2800" b="1" dirty="0">
                <a:solidFill>
                  <a:srgbClr val="0000FF"/>
                </a:solidFill>
                <a:latin typeface="黑体" panose="02010609060101010101" pitchFamily="49" charset="-122"/>
                <a:ea typeface="黑体" panose="02010609060101010101" pitchFamily="49" charset="-122"/>
                <a:sym typeface="Arial" panose="020B0604020202020204" pitchFamily="34" charset="0"/>
              </a:rPr>
              <a:t>异步</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或</a:t>
            </a:r>
            <a:r>
              <a:rPr lang="zh-CN" altLang="en-US" sz="2800" b="1" dirty="0">
                <a:solidFill>
                  <a:srgbClr val="0000FF"/>
                </a:solidFill>
                <a:latin typeface="黑体" panose="02010609060101010101" pitchFamily="49" charset="-122"/>
                <a:ea typeface="黑体" panose="02010609060101010101" pitchFamily="49" charset="-122"/>
                <a:sym typeface="Arial" panose="020B0604020202020204" pitchFamily="34" charset="0"/>
              </a:rPr>
              <a:t>同步</a:t>
            </a:r>
            <a:r>
              <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rPr>
              <a:t>）的计数器</a:t>
            </a:r>
            <a:endParaRPr lang="zh-CN" altLang="en-US" sz="2800" b="1" dirty="0">
              <a:solidFill>
                <a:srgbClr val="000000"/>
              </a:solidFill>
              <a:latin typeface="黑体" panose="02010609060101010101" pitchFamily="49" charset="-122"/>
              <a:ea typeface="黑体" panose="02010609060101010101" pitchFamily="49" charset="-122"/>
              <a:sym typeface="Arial" panose="020B0604020202020204" pitchFamily="34" charset="0"/>
            </a:endParaRPr>
          </a:p>
        </p:txBody>
      </p:sp>
      <p:sp>
        <p:nvSpPr>
          <p:cNvPr id="30" name="Rectangle 3"/>
          <p:cNvSpPr>
            <a:spLocks noChangeArrowheads="1"/>
          </p:cNvSpPr>
          <p:nvPr/>
        </p:nvSpPr>
        <p:spPr bwMode="auto">
          <a:xfrm>
            <a:off x="386739" y="3304912"/>
            <a:ext cx="3440622" cy="2679837"/>
          </a:xfrm>
          <a:prstGeom prst="rect">
            <a:avLst/>
          </a:prstGeom>
          <a:noFill/>
          <a:ln w="38100">
            <a:solidFill>
              <a:schemeClr val="tx1"/>
            </a:solidFill>
            <a:miter lim="800000"/>
          </a:ln>
          <a:effectLst/>
        </p:spPr>
        <p:txBody>
          <a:bodyPr wrap="square" lIns="90000" tIns="46800" rIns="90000" bIns="46800">
            <a:spAutoFit/>
          </a:bodyPr>
          <a:lstStyle/>
          <a:p>
            <a:r>
              <a:rPr lang="zh-CN" altLang="en-US" sz="2800" b="1" dirty="0">
                <a:solidFill>
                  <a:srgbClr val="0000FF"/>
                </a:solidFill>
                <a:ea typeface="宋体" panose="02010600030101010101" pitchFamily="2" charset="-122"/>
              </a:rPr>
              <a:t>基本思想</a:t>
            </a:r>
            <a:r>
              <a:rPr lang="zh-CN" altLang="en-US" sz="2800" b="1" dirty="0">
                <a:solidFill>
                  <a:srgbClr val="170A8E"/>
                </a:solidFill>
                <a:ea typeface="宋体" panose="02010600030101010101" pitchFamily="2" charset="-122"/>
              </a:rPr>
              <a:t>：计数器从全</a:t>
            </a:r>
            <a:r>
              <a:rPr lang="en-US" altLang="zh-CN" sz="2800" b="1" dirty="0">
                <a:solidFill>
                  <a:srgbClr val="170A8E"/>
                </a:solidFill>
                <a:ea typeface="宋体" panose="02010600030101010101" pitchFamily="2" charset="-122"/>
              </a:rPr>
              <a:t>0</a:t>
            </a:r>
            <a:r>
              <a:rPr lang="zh-CN" altLang="en-US" sz="2800" b="1" dirty="0">
                <a:solidFill>
                  <a:srgbClr val="170A8E"/>
                </a:solidFill>
                <a:ea typeface="宋体" panose="02010600030101010101" pitchFamily="2" charset="-122"/>
              </a:rPr>
              <a:t>状态</a:t>
            </a:r>
            <a:r>
              <a:rPr lang="en-US" altLang="zh-CN" sz="2800" b="1" dirty="0">
                <a:solidFill>
                  <a:srgbClr val="170A8E"/>
                </a:solidFill>
                <a:ea typeface="宋体" panose="02010600030101010101" pitchFamily="2" charset="-122"/>
              </a:rPr>
              <a:t>S</a:t>
            </a:r>
            <a:r>
              <a:rPr lang="en-US" altLang="zh-CN" sz="2800" b="1" baseline="-25000" dirty="0">
                <a:solidFill>
                  <a:srgbClr val="170A8E"/>
                </a:solidFill>
                <a:ea typeface="宋体" panose="02010600030101010101" pitchFamily="2" charset="-122"/>
              </a:rPr>
              <a:t>0</a:t>
            </a:r>
            <a:r>
              <a:rPr lang="zh-CN" altLang="en-US" sz="2800" b="1" dirty="0">
                <a:solidFill>
                  <a:srgbClr val="170A8E"/>
                </a:solidFill>
                <a:ea typeface="宋体" panose="02010600030101010101" pitchFamily="2" charset="-122"/>
              </a:rPr>
              <a:t>开始计数，计满</a:t>
            </a:r>
            <a:r>
              <a:rPr lang="en-US" altLang="zh-CN" sz="2800" b="1" dirty="0">
                <a:solidFill>
                  <a:srgbClr val="170A8E"/>
                </a:solidFill>
                <a:ea typeface="宋体" panose="02010600030101010101" pitchFamily="2" charset="-122"/>
              </a:rPr>
              <a:t>M</a:t>
            </a:r>
            <a:r>
              <a:rPr lang="zh-CN" altLang="en-US" sz="2800" b="1" dirty="0">
                <a:solidFill>
                  <a:srgbClr val="170A8E"/>
                </a:solidFill>
                <a:ea typeface="宋体" panose="02010600030101010101" pitchFamily="2" charset="-122"/>
              </a:rPr>
              <a:t>个状态后产生清零信号，使计数器恢复到初态</a:t>
            </a:r>
            <a:r>
              <a:rPr lang="en-US" altLang="zh-CN" sz="2800" b="1" dirty="0">
                <a:solidFill>
                  <a:srgbClr val="170A8E"/>
                </a:solidFill>
                <a:ea typeface="宋体" panose="02010600030101010101" pitchFamily="2" charset="-122"/>
              </a:rPr>
              <a:t>S</a:t>
            </a:r>
            <a:r>
              <a:rPr lang="en-US" altLang="zh-CN" sz="2800" b="1" baseline="-25000" dirty="0">
                <a:solidFill>
                  <a:srgbClr val="170A8E"/>
                </a:solidFill>
                <a:ea typeface="宋体" panose="02010600030101010101" pitchFamily="2" charset="-122"/>
              </a:rPr>
              <a:t>0</a:t>
            </a:r>
            <a:r>
              <a:rPr lang="zh-CN" altLang="en-US" sz="2800" b="1" dirty="0">
                <a:solidFill>
                  <a:srgbClr val="170A8E"/>
                </a:solidFill>
                <a:ea typeface="宋体" panose="02010600030101010101" pitchFamily="2" charset="-122"/>
              </a:rPr>
              <a:t>，然后再重复上述过程。</a:t>
            </a:r>
            <a:endParaRPr lang="zh-CN" altLang="en-US" sz="2800" b="1" dirty="0">
              <a:solidFill>
                <a:srgbClr val="170A8E"/>
              </a:solidFill>
              <a:ea typeface="宋体" panose="02010600030101010101" pitchFamily="2" charset="-122"/>
            </a:endParaRPr>
          </a:p>
        </p:txBody>
      </p:sp>
      <p:grpSp>
        <p:nvGrpSpPr>
          <p:cNvPr id="2" name="组合 1"/>
          <p:cNvGrpSpPr/>
          <p:nvPr/>
        </p:nvGrpSpPr>
        <p:grpSpPr>
          <a:xfrm>
            <a:off x="4140200" y="1343025"/>
            <a:ext cx="4932363" cy="4527550"/>
            <a:chOff x="4140200" y="1343025"/>
            <a:chExt cx="4932363" cy="4527550"/>
          </a:xfrm>
        </p:grpSpPr>
        <p:grpSp>
          <p:nvGrpSpPr>
            <p:cNvPr id="31" name="Group 5"/>
            <p:cNvGrpSpPr/>
            <p:nvPr/>
          </p:nvGrpSpPr>
          <p:grpSpPr bwMode="auto">
            <a:xfrm>
              <a:off x="4140200" y="1343025"/>
              <a:ext cx="4932363" cy="4527550"/>
              <a:chOff x="0" y="0"/>
              <a:chExt cx="2916" cy="2852"/>
            </a:xfrm>
          </p:grpSpPr>
          <p:pic>
            <p:nvPicPr>
              <p:cNvPr id="3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r="61806" b="17944"/>
              <a:stretch>
                <a:fillRect/>
              </a:stretch>
            </p:blipFill>
            <p:spPr bwMode="auto">
              <a:xfrm>
                <a:off x="0" y="0"/>
                <a:ext cx="2916" cy="2852"/>
              </a:xfrm>
              <a:prstGeom prst="rect">
                <a:avLst/>
              </a:prstGeom>
              <a:noFill/>
              <a:ln w="57150" cmpd="thickThin">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33" name="Rectangle 7"/>
              <p:cNvSpPr>
                <a:spLocks noChangeArrowheads="1"/>
              </p:cNvSpPr>
              <p:nvPr/>
            </p:nvSpPr>
            <p:spPr bwMode="auto">
              <a:xfrm rot="3291778">
                <a:off x="484" y="1527"/>
                <a:ext cx="1153"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0000FF"/>
                    </a:solidFill>
                  </a:rPr>
                  <a:t>异步清零</a:t>
                </a:r>
                <a:endParaRPr lang="zh-CN" altLang="en-US" sz="2800" b="1" dirty="0">
                  <a:solidFill>
                    <a:srgbClr val="0000FF"/>
                  </a:solidFill>
                </a:endParaRPr>
              </a:p>
            </p:txBody>
          </p:sp>
        </p:grpSp>
        <p:sp>
          <p:nvSpPr>
            <p:cNvPr id="22" name="AutoShape 8"/>
            <p:cNvSpPr>
              <a:spLocks noChangeArrowheads="1"/>
            </p:cNvSpPr>
            <p:nvPr/>
          </p:nvSpPr>
          <p:spPr bwMode="auto">
            <a:xfrm>
              <a:off x="5283973" y="4595697"/>
              <a:ext cx="1081088" cy="692150"/>
            </a:xfrm>
            <a:prstGeom prst="wedgeRoundRectCallout">
              <a:avLst>
                <a:gd name="adj1" fmla="val 93319"/>
                <a:gd name="adj2" fmla="val 94786"/>
                <a:gd name="adj3" fmla="val 16667"/>
              </a:avLst>
            </a:prstGeom>
            <a:solidFill>
              <a:srgbClr val="0000CC"/>
            </a:solidFill>
            <a:ln w="12700" cap="sq">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FFFF"/>
                  </a:solidFill>
                  <a:effectLst/>
                  <a:uLnTx/>
                  <a:uFillTx/>
                  <a:latin typeface="Times New Roman" panose="02020603050405020304" pitchFamily="18" charset="0"/>
                  <a:ea typeface="楷体_GB2312" pitchFamily="49" charset="-122"/>
                  <a:sym typeface="Arial" panose="020B0604020202020204" pitchFamily="34" charset="0"/>
                </a:rPr>
                <a:t>暂态</a:t>
              </a:r>
              <a:endParaRPr kumimoji="0" lang="zh-CN" altLang="en-US" sz="3200" b="1" i="0" u="none" strike="noStrike" kern="0" cap="none" spc="0" normalizeH="0" baseline="0" noProof="0" dirty="0">
                <a:ln>
                  <a:noFill/>
                </a:ln>
                <a:solidFill>
                  <a:srgbClr val="FFFFFF"/>
                </a:solidFill>
                <a:effectLst/>
                <a:uLnTx/>
                <a:uFillTx/>
                <a:latin typeface="Times New Roman" panose="02020603050405020304" pitchFamily="18" charset="0"/>
                <a:ea typeface="楷体_GB2312" pitchFamily="49" charset="-122"/>
                <a:sym typeface="Arial" panose="020B0604020202020204" pitchFamily="34" charset="0"/>
              </a:endParaRPr>
            </a:p>
          </p:txBody>
        </p:sp>
        <p:sp>
          <p:nvSpPr>
            <p:cNvPr id="34" name="Rectangle 7"/>
            <p:cNvSpPr>
              <a:spLocks noChangeArrowheads="1"/>
            </p:cNvSpPr>
            <p:nvPr/>
          </p:nvSpPr>
          <p:spPr bwMode="auto">
            <a:xfrm rot="2532910">
              <a:off x="5759262" y="3220678"/>
              <a:ext cx="18303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FF0000"/>
                  </a:solidFill>
                </a:rPr>
                <a:t>同步清零</a:t>
              </a:r>
              <a:endParaRPr lang="zh-CN" altLang="en-US" sz="2800" b="1"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ox(in)">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反馈清零法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aphicFrame>
        <p:nvGraphicFramePr>
          <p:cNvPr id="13" name="Object 4"/>
          <p:cNvGraphicFramePr>
            <a:graphicFrameLocks noChangeAspect="1"/>
          </p:cNvGraphicFramePr>
          <p:nvPr/>
        </p:nvGraphicFramePr>
        <p:xfrm>
          <a:off x="5129645" y="712661"/>
          <a:ext cx="3867150" cy="3662363"/>
        </p:xfrm>
        <a:graphic>
          <a:graphicData uri="http://schemas.openxmlformats.org/presentationml/2006/ole">
            <mc:AlternateContent xmlns:mc="http://schemas.openxmlformats.org/markup-compatibility/2006">
              <mc:Choice xmlns:v="urn:schemas-microsoft-com:vml" Requires="v">
                <p:oleObj spid="_x0000_s3076" name="" r:id="rId2" imgW="2876550" imgH="2724150" progId="Paint.Picture">
                  <p:embed/>
                </p:oleObj>
              </mc:Choice>
              <mc:Fallback>
                <p:oleObj name="" r:id="rId2" imgW="2876550" imgH="2724150"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9645" y="712661"/>
                        <a:ext cx="3867150" cy="3662363"/>
                      </a:xfrm>
                      <a:prstGeom prst="rect">
                        <a:avLst/>
                      </a:prstGeom>
                      <a:noFill/>
                      <a:ln>
                        <a:noFill/>
                      </a:ln>
                      <a:effectLst/>
                      <a:extLst>
                        <a:ext uri="{909E8E84-426E-40DD-AFC4-6F175D3DCCD1}">
                          <a14:hiddenFill xmlns:a14="http://schemas.microsoft.com/office/drawing/2010/main">
                            <a:solidFill>
                              <a:srgbClr val="FFCC99">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 name="Group 10"/>
          <p:cNvGrpSpPr/>
          <p:nvPr/>
        </p:nvGrpSpPr>
        <p:grpSpPr bwMode="auto">
          <a:xfrm>
            <a:off x="268404" y="896854"/>
            <a:ext cx="3144554" cy="5560092"/>
            <a:chOff x="489" y="1050"/>
            <a:chExt cx="2160" cy="3110"/>
          </a:xfrm>
        </p:grpSpPr>
        <p:sp>
          <p:nvSpPr>
            <p:cNvPr id="15" name="Rectangle 6"/>
            <p:cNvSpPr>
              <a:spLocks noChangeArrowheads="1"/>
            </p:cNvSpPr>
            <p:nvPr/>
          </p:nvSpPr>
          <p:spPr bwMode="auto">
            <a:xfrm>
              <a:off x="489" y="1050"/>
              <a:ext cx="2160" cy="3110"/>
            </a:xfrm>
            <a:prstGeom prst="rect">
              <a:avLst/>
            </a:prstGeom>
            <a:no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nSpc>
                  <a:spcPct val="120000"/>
                </a:lnSpc>
                <a:spcBef>
                  <a:spcPts val="600"/>
                </a:spcBef>
              </a:pPr>
              <a:r>
                <a:rPr lang="zh-CN" altLang="en-US" sz="2800" b="1" dirty="0">
                  <a:solidFill>
                    <a:srgbClr val="C00000"/>
                  </a:solidFill>
                  <a:latin typeface="黑体" panose="02010609060101010101" pitchFamily="49" charset="-122"/>
                  <a:ea typeface="黑体" panose="02010609060101010101" pitchFamily="49" charset="-122"/>
                </a:rPr>
                <a:t>异步清零</a:t>
              </a:r>
              <a:endParaRPr lang="zh-CN" altLang="en-US" sz="2800" b="1" dirty="0">
                <a:solidFill>
                  <a:srgbClr val="C00000"/>
                </a:solidFill>
                <a:latin typeface="黑体" panose="02010609060101010101" pitchFamily="49" charset="-122"/>
                <a:ea typeface="黑体" panose="02010609060101010101" pitchFamily="49" charset="-122"/>
              </a:endParaRPr>
            </a:p>
            <a:p>
              <a:pPr>
                <a:lnSpc>
                  <a:spcPct val="120000"/>
                </a:lnSpc>
                <a:spcBef>
                  <a:spcPts val="600"/>
                </a:spcBef>
              </a:pPr>
              <a:r>
                <a:rPr lang="en-US" altLang="zh-CN" sz="2800" b="1" dirty="0">
                  <a:solidFill>
                    <a:srgbClr val="FF0000"/>
                  </a:solidFill>
                  <a:ea typeface="宋体" panose="02010600030101010101" pitchFamily="2" charset="-122"/>
                </a:rPr>
                <a:t>S</a:t>
              </a:r>
              <a:r>
                <a:rPr lang="en-US" altLang="zh-CN" sz="2800" b="1" baseline="-25000" dirty="0">
                  <a:solidFill>
                    <a:srgbClr val="FF0000"/>
                  </a:solidFill>
                  <a:ea typeface="宋体" panose="02010600030101010101" pitchFamily="2" charset="-122"/>
                </a:rPr>
                <a:t>M</a:t>
              </a:r>
              <a:r>
                <a:rPr lang="zh-CN" altLang="en-US" sz="2800" b="1" dirty="0">
                  <a:solidFill>
                    <a:schemeClr val="tx1"/>
                  </a:solidFill>
                  <a:ea typeface="宋体" panose="02010600030101010101" pitchFamily="2" charset="-122"/>
                </a:rPr>
                <a:t>状态进行译码产生置零信号并反馈到</a:t>
              </a:r>
              <a:r>
                <a:rPr lang="zh-CN" altLang="en-US" sz="2800" b="1" dirty="0">
                  <a:solidFill>
                    <a:srgbClr val="0000FF"/>
                  </a:solidFill>
                  <a:ea typeface="宋体" panose="02010600030101010101" pitchFamily="2" charset="-122"/>
                </a:rPr>
                <a:t>异步清零端</a:t>
              </a:r>
              <a:r>
                <a:rPr lang="en-US" altLang="zh-CN" sz="2800" b="1" dirty="0">
                  <a:solidFill>
                    <a:schemeClr val="tx1"/>
                  </a:solidFill>
                  <a:ea typeface="宋体" panose="02010600030101010101" pitchFamily="2" charset="-122"/>
                </a:rPr>
                <a:t>(      )</a:t>
              </a:r>
              <a:r>
                <a:rPr lang="zh-CN" altLang="en-US" sz="2800" b="1" dirty="0">
                  <a:solidFill>
                    <a:schemeClr val="tx1"/>
                  </a:solidFill>
                  <a:ea typeface="宋体" panose="02010600030101010101" pitchFamily="2" charset="-122"/>
                </a:rPr>
                <a:t>，使计数器立即返回</a:t>
              </a:r>
              <a:r>
                <a:rPr lang="en-US" altLang="zh-CN" sz="2800" b="1" dirty="0">
                  <a:solidFill>
                    <a:schemeClr val="tx1"/>
                  </a:solidFill>
                  <a:ea typeface="宋体" panose="02010600030101010101" pitchFamily="2" charset="-122"/>
                </a:rPr>
                <a:t>S</a:t>
              </a:r>
              <a:r>
                <a:rPr lang="en-US" altLang="zh-CN" sz="2800" b="1" baseline="-25000" dirty="0">
                  <a:solidFill>
                    <a:schemeClr val="tx1"/>
                  </a:solidFill>
                  <a:ea typeface="宋体" panose="02010600030101010101" pitchFamily="2" charset="-122"/>
                </a:rPr>
                <a:t>0</a:t>
              </a:r>
              <a:r>
                <a:rPr lang="zh-CN" altLang="en-US" sz="2800" b="1" dirty="0">
                  <a:solidFill>
                    <a:schemeClr val="tx1"/>
                  </a:solidFill>
                  <a:ea typeface="宋体" panose="02010600030101010101" pitchFamily="2" charset="-122"/>
                </a:rPr>
                <a:t>状态。</a:t>
              </a:r>
              <a:endParaRPr lang="zh-CN" altLang="en-US" sz="2800" b="1" dirty="0">
                <a:solidFill>
                  <a:schemeClr val="tx1"/>
                </a:solidFill>
                <a:ea typeface="宋体" panose="02010600030101010101" pitchFamily="2" charset="-122"/>
              </a:endParaRPr>
            </a:p>
            <a:p>
              <a:pPr>
                <a:lnSpc>
                  <a:spcPct val="120000"/>
                </a:lnSpc>
                <a:spcBef>
                  <a:spcPts val="600"/>
                </a:spcBef>
              </a:pPr>
              <a:endParaRPr lang="zh-CN" altLang="en-US" sz="2800" b="1" dirty="0">
                <a:solidFill>
                  <a:schemeClr val="tx1"/>
                </a:solidFill>
                <a:ea typeface="宋体" panose="02010600030101010101" pitchFamily="2" charset="-122"/>
              </a:endParaRPr>
            </a:p>
            <a:p>
              <a:pPr>
                <a:lnSpc>
                  <a:spcPct val="120000"/>
                </a:lnSpc>
                <a:spcBef>
                  <a:spcPts val="600"/>
                </a:spcBef>
              </a:pPr>
              <a:r>
                <a:rPr lang="zh-CN" altLang="en-US" sz="2800" b="1" dirty="0">
                  <a:solidFill>
                    <a:schemeClr val="tx1"/>
                  </a:solidFill>
                  <a:ea typeface="宋体" panose="02010600030101010101" pitchFamily="2" charset="-122"/>
                </a:rPr>
                <a:t> </a:t>
              </a:r>
              <a:r>
                <a:rPr lang="en-US" altLang="zh-CN" sz="2800" b="1" dirty="0">
                  <a:solidFill>
                    <a:schemeClr val="tx1"/>
                  </a:solidFill>
                  <a:ea typeface="宋体" panose="02010600030101010101" pitchFamily="2" charset="-122"/>
                </a:rPr>
                <a:t>S</a:t>
              </a:r>
              <a:r>
                <a:rPr lang="en-US" altLang="zh-CN" sz="2800" b="1" baseline="-25000" dirty="0">
                  <a:solidFill>
                    <a:schemeClr val="tx1"/>
                  </a:solidFill>
                  <a:ea typeface="宋体" panose="02010600030101010101" pitchFamily="2" charset="-122"/>
                </a:rPr>
                <a:t>M</a:t>
              </a:r>
              <a:r>
                <a:rPr lang="zh-CN" altLang="en-US" sz="2800" b="1" dirty="0">
                  <a:solidFill>
                    <a:schemeClr val="tx1"/>
                  </a:solidFill>
                  <a:ea typeface="宋体" panose="02010600030101010101" pitchFamily="2" charset="-122"/>
                </a:rPr>
                <a:t>状态只在极短的瞬间出现，通常称它为“</a:t>
              </a:r>
              <a:r>
                <a:rPr lang="zh-CN" altLang="en-US" sz="2800" b="1" dirty="0">
                  <a:ea typeface="宋体" panose="02010600030101010101" pitchFamily="2" charset="-122"/>
                </a:rPr>
                <a:t>暂</a:t>
              </a:r>
              <a:r>
                <a:rPr lang="zh-CN" altLang="en-US" sz="2800" b="1" dirty="0">
                  <a:solidFill>
                    <a:schemeClr val="tx1"/>
                  </a:solidFill>
                  <a:ea typeface="宋体" panose="02010600030101010101" pitchFamily="2" charset="-122"/>
                </a:rPr>
                <a:t>态”</a:t>
              </a:r>
              <a:endParaRPr lang="zh-CN" altLang="en-US" sz="2800" b="1" dirty="0">
                <a:solidFill>
                  <a:schemeClr val="tx1"/>
                </a:solidFill>
                <a:ea typeface="宋体" panose="02010600030101010101" pitchFamily="2" charset="-122"/>
              </a:endParaRPr>
            </a:p>
          </p:txBody>
        </p:sp>
        <p:graphicFrame>
          <p:nvGraphicFramePr>
            <p:cNvPr id="16" name="Object 7"/>
            <p:cNvGraphicFramePr>
              <a:graphicFrameLocks noChangeAspect="1"/>
            </p:cNvGraphicFramePr>
            <p:nvPr/>
          </p:nvGraphicFramePr>
          <p:xfrm>
            <a:off x="2132" y="1991"/>
            <a:ext cx="288" cy="320"/>
          </p:xfrm>
          <a:graphic>
            <a:graphicData uri="http://schemas.openxmlformats.org/presentationml/2006/ole">
              <mc:AlternateContent xmlns:mc="http://schemas.openxmlformats.org/markup-compatibility/2006">
                <mc:Choice xmlns:v="urn:schemas-microsoft-com:vml" Requires="v">
                  <p:oleObj spid="_x0000_s3077" name="Equation" r:id="rId4" imgW="5486400" imgH="6096000" progId="Equation.DSMT4">
                    <p:embed/>
                  </p:oleObj>
                </mc:Choice>
                <mc:Fallback>
                  <p:oleObj name="Equation" r:id="rId4" imgW="5486400" imgH="6096000" progId="Equation.DSMT4">
                    <p:embed/>
                    <p:pic>
                      <p:nvPicPr>
                        <p:cNvPr id="0" name="Object 7"/>
                        <p:cNvPicPr>
                          <a:picLocks noChangeAspect="1" noChangeArrowheads="1"/>
                        </p:cNvPicPr>
                        <p:nvPr/>
                      </p:nvPicPr>
                      <p:blipFill>
                        <a:blip r:embed="rId5"/>
                        <a:srcRect/>
                        <a:stretch>
                          <a:fillRect/>
                        </a:stretch>
                      </p:blipFill>
                      <p:spPr bwMode="auto">
                        <a:xfrm>
                          <a:off x="2132" y="1991"/>
                          <a:ext cx="288"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 name="AutoShape 8"/>
          <p:cNvSpPr>
            <a:spLocks noChangeArrowheads="1"/>
          </p:cNvSpPr>
          <p:nvPr/>
        </p:nvSpPr>
        <p:spPr bwMode="auto">
          <a:xfrm>
            <a:off x="3641557" y="3429000"/>
            <a:ext cx="1359903" cy="692150"/>
          </a:xfrm>
          <a:prstGeom prst="wedgeRoundRectCallout">
            <a:avLst>
              <a:gd name="adj1" fmla="val 88989"/>
              <a:gd name="adj2" fmla="val 11550"/>
              <a:gd name="adj3" fmla="val 16667"/>
            </a:avLst>
          </a:prstGeom>
          <a:solidFill>
            <a:srgbClr val="0000CC"/>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3200" dirty="0">
                <a:solidFill>
                  <a:schemeClr val="bg1"/>
                </a:solidFill>
              </a:rPr>
              <a:t>暂态</a:t>
            </a:r>
            <a:endParaRPr lang="zh-CN" altLang="en-US" sz="3200" dirty="0">
              <a:solidFill>
                <a:schemeClr val="bg1"/>
              </a:solidFill>
            </a:endParaRPr>
          </a:p>
        </p:txBody>
      </p:sp>
      <p:sp>
        <p:nvSpPr>
          <p:cNvPr id="10" name="文本框 9"/>
          <p:cNvSpPr txBox="1"/>
          <p:nvPr/>
        </p:nvSpPr>
        <p:spPr>
          <a:xfrm>
            <a:off x="3842084" y="4517954"/>
            <a:ext cx="4755665" cy="2308324"/>
          </a:xfrm>
          <a:prstGeom prst="rect">
            <a:avLst/>
          </a:prstGeom>
          <a:noFill/>
        </p:spPr>
        <p:txBody>
          <a:bodyPr wrap="square" rtlCol="0">
            <a:spAutoFit/>
          </a:bodyPr>
          <a:lstStyle/>
          <a:p>
            <a:pPr algn="just"/>
            <a:r>
              <a:rPr lang="zh-CN" altLang="en-US" sz="2400" b="1" dirty="0"/>
              <a:t>步骤：</a:t>
            </a:r>
            <a:endParaRPr lang="en-US" altLang="zh-CN" sz="2400" b="1" dirty="0"/>
          </a:p>
          <a:p>
            <a:pPr algn="just"/>
            <a:r>
              <a:rPr lang="zh-CN" altLang="en-US" sz="2400" b="1" dirty="0"/>
              <a:t>（</a:t>
            </a:r>
            <a:r>
              <a:rPr lang="en-US" altLang="zh-CN" sz="2400" b="1" dirty="0"/>
              <a:t>1</a:t>
            </a:r>
            <a:r>
              <a:rPr lang="zh-CN" altLang="en-US" sz="2400" b="1" dirty="0"/>
              <a:t>）写出状态</a:t>
            </a:r>
            <a:r>
              <a:rPr lang="en-US" altLang="zh-CN" sz="2400" b="1" dirty="0">
                <a:solidFill>
                  <a:srgbClr val="FF0000"/>
                </a:solidFill>
              </a:rPr>
              <a:t>S</a:t>
            </a:r>
            <a:r>
              <a:rPr lang="en-US" altLang="zh-CN" sz="2400" b="1" baseline="-25000" dirty="0">
                <a:solidFill>
                  <a:srgbClr val="FF0000"/>
                </a:solidFill>
              </a:rPr>
              <a:t>M</a:t>
            </a:r>
            <a:r>
              <a:rPr lang="zh-CN" altLang="en-US" sz="2400" b="1" dirty="0"/>
              <a:t>的二进制代码</a:t>
            </a:r>
            <a:endParaRPr lang="en-US" altLang="zh-CN" sz="2400" b="1" dirty="0"/>
          </a:p>
          <a:p>
            <a:pPr algn="just"/>
            <a:r>
              <a:rPr lang="zh-CN" altLang="en-US" sz="2400" b="1" dirty="0"/>
              <a:t>（</a:t>
            </a:r>
            <a:r>
              <a:rPr lang="en-US" altLang="zh-CN" sz="2400" b="1" dirty="0"/>
              <a:t>2</a:t>
            </a:r>
            <a:r>
              <a:rPr lang="zh-CN" altLang="en-US" sz="2400" b="1" dirty="0"/>
              <a:t>）求归零逻辑：</a:t>
            </a:r>
            <a:r>
              <a:rPr lang="en-US" altLang="zh-CN" sz="2400" b="1" dirty="0">
                <a:solidFill>
                  <a:srgbClr val="FF0000"/>
                </a:solidFill>
              </a:rPr>
              <a:t>S</a:t>
            </a:r>
            <a:r>
              <a:rPr lang="en-US" altLang="zh-CN" sz="2400" b="1" baseline="-25000" dirty="0">
                <a:solidFill>
                  <a:srgbClr val="FF0000"/>
                </a:solidFill>
              </a:rPr>
              <a:t>M</a:t>
            </a:r>
            <a:r>
              <a:rPr lang="zh-CN" altLang="en-US" sz="2400" b="1" dirty="0"/>
              <a:t>中所有</a:t>
            </a:r>
            <a:r>
              <a:rPr lang="en-US" altLang="zh-CN" sz="2400" b="1" dirty="0">
                <a:solidFill>
                  <a:srgbClr val="0000FF"/>
                </a:solidFill>
              </a:rPr>
              <a:t>1</a:t>
            </a:r>
            <a:r>
              <a:rPr lang="zh-CN" altLang="en-US" sz="2400" b="1" dirty="0"/>
              <a:t>对应的端口求</a:t>
            </a:r>
            <a:r>
              <a:rPr lang="zh-CN" altLang="en-US" sz="2400" b="1" dirty="0">
                <a:solidFill>
                  <a:srgbClr val="FF0000"/>
                </a:solidFill>
              </a:rPr>
              <a:t>与</a:t>
            </a:r>
            <a:r>
              <a:rPr lang="zh-CN" altLang="en-US" sz="2400" b="1" dirty="0"/>
              <a:t>（</a:t>
            </a:r>
            <a:r>
              <a:rPr lang="zh-CN" altLang="en-US" sz="2400" b="1" dirty="0">
                <a:solidFill>
                  <a:srgbClr val="FF0000"/>
                </a:solidFill>
              </a:rPr>
              <a:t>高电平有效</a:t>
            </a:r>
            <a:r>
              <a:rPr lang="zh-CN" altLang="en-US" sz="2400" b="1" dirty="0"/>
              <a:t>）</a:t>
            </a:r>
            <a:r>
              <a:rPr lang="zh-CN" altLang="en-US" sz="2400" b="1" dirty="0" smtClean="0"/>
              <a:t>或者求</a:t>
            </a:r>
            <a:r>
              <a:rPr lang="zh-CN" altLang="en-US" sz="2400" b="1" dirty="0">
                <a:solidFill>
                  <a:srgbClr val="0000FF"/>
                </a:solidFill>
              </a:rPr>
              <a:t>与</a:t>
            </a:r>
            <a:r>
              <a:rPr lang="en-US" altLang="zh-CN" sz="2400" b="1" dirty="0">
                <a:solidFill>
                  <a:srgbClr val="0000FF"/>
                </a:solidFill>
              </a:rPr>
              <a:t>-</a:t>
            </a:r>
            <a:r>
              <a:rPr lang="zh-CN" altLang="en-US" sz="2400" b="1" dirty="0">
                <a:solidFill>
                  <a:srgbClr val="0000FF"/>
                </a:solidFill>
              </a:rPr>
              <a:t>非</a:t>
            </a:r>
            <a:r>
              <a:rPr lang="zh-CN" altLang="en-US" sz="2400" b="1" dirty="0"/>
              <a:t>（</a:t>
            </a:r>
            <a:r>
              <a:rPr lang="zh-CN" altLang="en-US" sz="2400" b="1" dirty="0">
                <a:solidFill>
                  <a:srgbClr val="0000FF"/>
                </a:solidFill>
              </a:rPr>
              <a:t>低电平有效</a:t>
            </a:r>
            <a:r>
              <a:rPr lang="zh-CN" altLang="en-US" sz="2400" b="1" dirty="0"/>
              <a:t>）</a:t>
            </a:r>
            <a:endParaRPr lang="en-US" altLang="zh-CN" sz="2400" b="1" dirty="0"/>
          </a:p>
          <a:p>
            <a:pPr algn="just"/>
            <a:r>
              <a:rPr lang="zh-CN" altLang="en-US" sz="2400" b="1" dirty="0"/>
              <a:t>（</a:t>
            </a:r>
            <a:r>
              <a:rPr lang="en-US" altLang="zh-CN" sz="2400" b="1" dirty="0"/>
              <a:t>3</a:t>
            </a:r>
            <a:r>
              <a:rPr lang="zh-CN" altLang="en-US" sz="2400" b="1" dirty="0"/>
              <a:t>）画出电路连线图</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5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Effect transition="in" filter="fade">
                                      <p:cBhvr>
                                        <p:cTn id="22" dur="500"/>
                                        <p:tgtEl>
                                          <p:spTgt spid="1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animEffect transition="in" filter="fade">
                                      <p:cBhvr>
                                        <p:cTn id="27" dur="500"/>
                                        <p:tgtEl>
                                          <p:spTgt spid="1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3" end="3"/>
                                            </p:txEl>
                                          </p:spTgt>
                                        </p:tgtEl>
                                        <p:attrNameLst>
                                          <p:attrName>style.visibility</p:attrName>
                                        </p:attrNameLst>
                                      </p:cBhvr>
                                      <p:to>
                                        <p:strVal val="visible"/>
                                      </p:to>
                                    </p:set>
                                    <p:animEffect transition="in" filter="fade">
                                      <p:cBhvr>
                                        <p:cTn id="3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反馈清零法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5" name="Rectangle 6"/>
          <p:cNvSpPr>
            <a:spLocks noChangeArrowheads="1"/>
          </p:cNvSpPr>
          <p:nvPr/>
        </p:nvSpPr>
        <p:spPr bwMode="auto">
          <a:xfrm>
            <a:off x="250691" y="1254550"/>
            <a:ext cx="4016509" cy="2387449"/>
          </a:xfrm>
          <a:prstGeom prst="rect">
            <a:avLst/>
          </a:prstGeom>
          <a:no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nSpc>
                <a:spcPct val="120000"/>
              </a:lnSpc>
              <a:spcBef>
                <a:spcPts val="600"/>
              </a:spcBef>
            </a:pPr>
            <a:r>
              <a:rPr lang="zh-CN" altLang="en-US" sz="2400" b="1" dirty="0">
                <a:solidFill>
                  <a:srgbClr val="C00000"/>
                </a:solidFill>
                <a:latin typeface="黑体" panose="02010609060101010101" pitchFamily="49" charset="-122"/>
                <a:ea typeface="黑体" panose="02010609060101010101" pitchFamily="49" charset="-122"/>
              </a:rPr>
              <a:t>同步清零</a:t>
            </a:r>
            <a:endParaRPr lang="zh-CN" altLang="en-US" sz="2400" b="1" dirty="0">
              <a:solidFill>
                <a:srgbClr val="C00000"/>
              </a:solidFill>
              <a:latin typeface="黑体" panose="02010609060101010101" pitchFamily="49" charset="-122"/>
              <a:ea typeface="黑体" panose="02010609060101010101" pitchFamily="49" charset="-122"/>
            </a:endParaRPr>
          </a:p>
          <a:p>
            <a:pPr>
              <a:lnSpc>
                <a:spcPct val="120000"/>
              </a:lnSpc>
              <a:spcBef>
                <a:spcPts val="600"/>
              </a:spcBef>
            </a:pPr>
            <a:r>
              <a:rPr lang="zh-CN" altLang="en-US" sz="2400" b="1" dirty="0">
                <a:solidFill>
                  <a:schemeClr val="tx1"/>
                </a:solidFill>
                <a:ea typeface="宋体" panose="02010600030101010101" pitchFamily="2" charset="-122"/>
              </a:rPr>
              <a:t>当计数器处于</a:t>
            </a:r>
            <a:r>
              <a:rPr lang="en-US" altLang="zh-CN" sz="2400" b="1" dirty="0">
                <a:solidFill>
                  <a:srgbClr val="FF0000"/>
                </a:solidFill>
                <a:ea typeface="宋体" panose="02010600030101010101" pitchFamily="2" charset="-122"/>
              </a:rPr>
              <a:t>S</a:t>
            </a:r>
            <a:r>
              <a:rPr lang="en-US" altLang="zh-CN" sz="2400" b="1" baseline="-25000" dirty="0">
                <a:solidFill>
                  <a:srgbClr val="FF0000"/>
                </a:solidFill>
                <a:ea typeface="宋体" panose="02010600030101010101" pitchFamily="2" charset="-122"/>
              </a:rPr>
              <a:t>M-1</a:t>
            </a:r>
            <a:r>
              <a:rPr lang="zh-CN" altLang="en-US" sz="2400" b="1" dirty="0">
                <a:solidFill>
                  <a:schemeClr val="tx1"/>
                </a:solidFill>
                <a:ea typeface="宋体" panose="02010600030101010101" pitchFamily="2" charset="-122"/>
              </a:rPr>
              <a:t>状态时，产生同步清零信号，在下一个时钟脉冲使芯片转换到零状态。</a:t>
            </a:r>
            <a:endParaRPr lang="zh-CN" altLang="en-US" sz="2400" b="1" dirty="0">
              <a:solidFill>
                <a:schemeClr val="tx1"/>
              </a:solidFill>
              <a:ea typeface="宋体" panose="02010600030101010101" pitchFamily="2" charset="-122"/>
            </a:endParaRPr>
          </a:p>
        </p:txBody>
      </p:sp>
      <p:sp>
        <p:nvSpPr>
          <p:cNvPr id="2" name="文本框 1"/>
          <p:cNvSpPr txBox="1"/>
          <p:nvPr/>
        </p:nvSpPr>
        <p:spPr>
          <a:xfrm>
            <a:off x="570313" y="4075400"/>
            <a:ext cx="7537367" cy="2246769"/>
          </a:xfrm>
          <a:prstGeom prst="rect">
            <a:avLst/>
          </a:prstGeom>
          <a:noFill/>
        </p:spPr>
        <p:txBody>
          <a:bodyPr wrap="square" rtlCol="0">
            <a:spAutoFit/>
          </a:bodyPr>
          <a:lstStyle/>
          <a:p>
            <a:pPr algn="just"/>
            <a:r>
              <a:rPr lang="zh-CN" altLang="en-US" sz="2800" b="1" dirty="0"/>
              <a:t>步骤：</a:t>
            </a:r>
            <a:endParaRPr lang="en-US" altLang="zh-CN" sz="2800" b="1" dirty="0"/>
          </a:p>
          <a:p>
            <a:pPr algn="just"/>
            <a:r>
              <a:rPr lang="zh-CN" altLang="en-US" sz="2800" b="1" dirty="0"/>
              <a:t>（</a:t>
            </a:r>
            <a:r>
              <a:rPr lang="en-US" altLang="zh-CN" sz="2800" b="1" dirty="0"/>
              <a:t>1</a:t>
            </a:r>
            <a:r>
              <a:rPr lang="zh-CN" altLang="en-US" sz="2800" b="1" dirty="0"/>
              <a:t>）写出状态</a:t>
            </a:r>
            <a:r>
              <a:rPr lang="en-US" altLang="zh-CN" sz="2800" b="1" dirty="0"/>
              <a:t>S</a:t>
            </a:r>
            <a:r>
              <a:rPr lang="en-US" altLang="zh-CN" sz="2800" b="1" baseline="-25000" dirty="0"/>
              <a:t>M-1</a:t>
            </a:r>
            <a:r>
              <a:rPr lang="zh-CN" altLang="en-US" sz="2800" b="1" dirty="0"/>
              <a:t>的二进制代码</a:t>
            </a:r>
            <a:endParaRPr lang="en-US" altLang="zh-CN" sz="2800" b="1" dirty="0"/>
          </a:p>
          <a:p>
            <a:pPr algn="just"/>
            <a:r>
              <a:rPr lang="zh-CN" altLang="en-US" sz="2800" b="1" dirty="0"/>
              <a:t>（</a:t>
            </a:r>
            <a:r>
              <a:rPr lang="en-US" altLang="zh-CN" sz="2800" b="1" dirty="0"/>
              <a:t>2</a:t>
            </a:r>
            <a:r>
              <a:rPr lang="zh-CN" altLang="en-US" sz="2800" b="1" dirty="0"/>
              <a:t>）求归零逻辑：</a:t>
            </a:r>
            <a:r>
              <a:rPr lang="en-US" altLang="zh-CN" sz="2800" b="1" dirty="0"/>
              <a:t>S</a:t>
            </a:r>
            <a:r>
              <a:rPr lang="en-US" altLang="zh-CN" sz="2800" b="1" baseline="-25000" dirty="0"/>
              <a:t>M-1</a:t>
            </a:r>
            <a:r>
              <a:rPr lang="zh-CN" altLang="en-US" sz="2800" b="1" dirty="0"/>
              <a:t>中所有</a:t>
            </a:r>
            <a:r>
              <a:rPr lang="en-US" altLang="zh-CN" sz="2800" b="1" dirty="0">
                <a:solidFill>
                  <a:srgbClr val="0000FF"/>
                </a:solidFill>
              </a:rPr>
              <a:t>1</a:t>
            </a:r>
            <a:r>
              <a:rPr lang="zh-CN" altLang="en-US" sz="2800" b="1" dirty="0"/>
              <a:t>对应的端口求</a:t>
            </a:r>
            <a:r>
              <a:rPr lang="zh-CN" altLang="en-US" sz="2800" b="1" dirty="0">
                <a:solidFill>
                  <a:srgbClr val="FF0000"/>
                </a:solidFill>
              </a:rPr>
              <a:t>与</a:t>
            </a:r>
            <a:r>
              <a:rPr lang="zh-CN" altLang="en-US" sz="2800" b="1" dirty="0"/>
              <a:t>（</a:t>
            </a:r>
            <a:r>
              <a:rPr lang="zh-CN" altLang="en-US" sz="2800" b="1" dirty="0">
                <a:solidFill>
                  <a:srgbClr val="FF0000"/>
                </a:solidFill>
              </a:rPr>
              <a:t>高电平有效</a:t>
            </a:r>
            <a:r>
              <a:rPr lang="zh-CN" altLang="en-US" sz="2800" b="1" dirty="0"/>
              <a:t>）</a:t>
            </a:r>
            <a:r>
              <a:rPr lang="zh-CN" altLang="en-US" sz="2800" b="1" dirty="0" smtClean="0"/>
              <a:t>或者求</a:t>
            </a:r>
            <a:r>
              <a:rPr lang="zh-CN" altLang="en-US" sz="2800" b="1" dirty="0">
                <a:solidFill>
                  <a:srgbClr val="0000FF"/>
                </a:solidFill>
              </a:rPr>
              <a:t>与</a:t>
            </a:r>
            <a:r>
              <a:rPr lang="en-US" altLang="zh-CN" sz="2800" b="1" dirty="0">
                <a:solidFill>
                  <a:srgbClr val="0000FF"/>
                </a:solidFill>
              </a:rPr>
              <a:t>-</a:t>
            </a:r>
            <a:r>
              <a:rPr lang="zh-CN" altLang="en-US" sz="2800" b="1" dirty="0">
                <a:solidFill>
                  <a:srgbClr val="0000FF"/>
                </a:solidFill>
              </a:rPr>
              <a:t>非</a:t>
            </a:r>
            <a:r>
              <a:rPr lang="zh-CN" altLang="en-US" sz="2800" b="1" dirty="0"/>
              <a:t>（</a:t>
            </a:r>
            <a:r>
              <a:rPr lang="zh-CN" altLang="en-US" sz="2800" b="1" dirty="0">
                <a:solidFill>
                  <a:srgbClr val="0000FF"/>
                </a:solidFill>
              </a:rPr>
              <a:t>低电平有效</a:t>
            </a:r>
            <a:r>
              <a:rPr lang="zh-CN" altLang="en-US" sz="2800" b="1" dirty="0"/>
              <a:t>）</a:t>
            </a:r>
            <a:endParaRPr lang="en-US" altLang="zh-CN" sz="2800" b="1" dirty="0">
              <a:solidFill>
                <a:srgbClr val="0000FF"/>
              </a:solidFill>
            </a:endParaRPr>
          </a:p>
          <a:p>
            <a:pPr algn="just"/>
            <a:r>
              <a:rPr lang="zh-CN" altLang="en-US" sz="2800" b="1" dirty="0"/>
              <a:t>（</a:t>
            </a:r>
            <a:r>
              <a:rPr lang="en-US" altLang="zh-CN" sz="2800" b="1" dirty="0"/>
              <a:t>3</a:t>
            </a:r>
            <a:r>
              <a:rPr lang="zh-CN" altLang="en-US" sz="2800" b="1" dirty="0"/>
              <a:t>）画出电路连线图</a:t>
            </a:r>
            <a:endParaRPr lang="zh-CN" altLang="en-US" sz="2800" b="1" dirty="0"/>
          </a:p>
        </p:txBody>
      </p:sp>
      <p:pic>
        <p:nvPicPr>
          <p:cNvPr id="3" name="图片 2"/>
          <p:cNvPicPr>
            <a:picLocks noChangeAspect="1"/>
          </p:cNvPicPr>
          <p:nvPr/>
        </p:nvPicPr>
        <p:blipFill>
          <a:blip r:embed="rId2"/>
          <a:stretch>
            <a:fillRect/>
          </a:stretch>
        </p:blipFill>
        <p:spPr>
          <a:xfrm>
            <a:off x="4572000" y="1022966"/>
            <a:ext cx="4141048" cy="28150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反馈清零法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497306" y="707426"/>
            <a:ext cx="6841958" cy="523220"/>
          </a:xfrm>
          <a:prstGeom prst="rect">
            <a:avLst/>
          </a:prstGeom>
          <a:noFill/>
        </p:spPr>
        <p:txBody>
          <a:bodyPr wrap="square" rtlCol="0">
            <a:spAutoFit/>
          </a:bodyPr>
          <a:lstStyle/>
          <a:p>
            <a:r>
              <a:rPr lang="zh-CN" altLang="en-US" sz="2800" b="1" dirty="0">
                <a:solidFill>
                  <a:srgbClr val="FF0000"/>
                </a:solidFill>
              </a:rPr>
              <a:t>例</a:t>
            </a:r>
            <a:r>
              <a:rPr lang="en-US" altLang="zh-CN" sz="2800" b="1" dirty="0">
                <a:solidFill>
                  <a:srgbClr val="FF0000"/>
                </a:solidFill>
              </a:rPr>
              <a:t>1</a:t>
            </a:r>
            <a:r>
              <a:rPr lang="en-US" altLang="zh-CN" sz="2800" b="1" dirty="0"/>
              <a:t>  </a:t>
            </a:r>
            <a:r>
              <a:rPr lang="zh-CN" altLang="en-US" sz="2800" b="1" dirty="0"/>
              <a:t>用</a:t>
            </a:r>
            <a:r>
              <a:rPr lang="en-US" altLang="zh-CN" sz="2800" b="1" dirty="0"/>
              <a:t>74LS193</a:t>
            </a:r>
            <a:r>
              <a:rPr lang="zh-CN" altLang="en-US" sz="2800" b="1" dirty="0"/>
              <a:t>构成一个十二进制计数器</a:t>
            </a:r>
            <a:endParaRPr lang="zh-CN" altLang="en-US" sz="2800" b="1" dirty="0"/>
          </a:p>
        </p:txBody>
      </p:sp>
      <p:sp>
        <p:nvSpPr>
          <p:cNvPr id="3" name="文本框 2"/>
          <p:cNvSpPr txBox="1"/>
          <p:nvPr/>
        </p:nvSpPr>
        <p:spPr>
          <a:xfrm>
            <a:off x="296779" y="1262016"/>
            <a:ext cx="8365958" cy="1384995"/>
          </a:xfrm>
          <a:prstGeom prst="rect">
            <a:avLst/>
          </a:prstGeom>
          <a:noFill/>
        </p:spPr>
        <p:txBody>
          <a:bodyPr wrap="square" rtlCol="0">
            <a:spAutoFit/>
          </a:bodyPr>
          <a:lstStyle/>
          <a:p>
            <a:r>
              <a:rPr lang="zh-CN" altLang="en-US" sz="2800" b="1" dirty="0">
                <a:solidFill>
                  <a:srgbClr val="0000FF"/>
                </a:solidFill>
              </a:rPr>
              <a:t>分析：</a:t>
            </a:r>
            <a:endParaRPr lang="en-US" altLang="zh-CN" sz="2800" b="1" dirty="0">
              <a:solidFill>
                <a:srgbClr val="0000FF"/>
              </a:solidFill>
            </a:endParaRPr>
          </a:p>
          <a:p>
            <a:pPr marL="342900" indent="-342900">
              <a:buFont typeface="Wingdings" panose="05000000000000000000" pitchFamily="2" charset="2"/>
              <a:buChar char="Ø"/>
            </a:pPr>
            <a:r>
              <a:rPr lang="en-US" altLang="zh-CN" sz="2800" b="1" dirty="0"/>
              <a:t>74LS193</a:t>
            </a:r>
            <a:r>
              <a:rPr lang="zh-CN" altLang="en-US" sz="2800" b="1" dirty="0"/>
              <a:t>是</a:t>
            </a:r>
            <a:r>
              <a:rPr lang="zh-CN" altLang="en-US" sz="2800" b="1" dirty="0">
                <a:solidFill>
                  <a:srgbClr val="C00000"/>
                </a:solidFill>
              </a:rPr>
              <a:t>十六</a:t>
            </a:r>
            <a:r>
              <a:rPr lang="zh-CN" altLang="en-US" sz="2800" b="1" dirty="0"/>
              <a:t>进制计数器，要构成</a:t>
            </a:r>
            <a:r>
              <a:rPr lang="zh-CN" altLang="en-US" sz="2800" b="1" dirty="0">
                <a:solidFill>
                  <a:srgbClr val="C00000"/>
                </a:solidFill>
              </a:rPr>
              <a:t>十二</a:t>
            </a:r>
            <a:r>
              <a:rPr lang="zh-CN" altLang="en-US" sz="2800" b="1" dirty="0"/>
              <a:t>进制计数器，可采用反馈清零法。</a:t>
            </a:r>
            <a:endParaRPr lang="en-US" altLang="zh-CN" sz="2800" b="1" dirty="0"/>
          </a:p>
        </p:txBody>
      </p:sp>
      <p:sp>
        <p:nvSpPr>
          <p:cNvPr id="8" name="文本框 7"/>
          <p:cNvSpPr txBox="1"/>
          <p:nvPr/>
        </p:nvSpPr>
        <p:spPr>
          <a:xfrm>
            <a:off x="264697" y="2831487"/>
            <a:ext cx="4006517" cy="523220"/>
          </a:xfrm>
          <a:prstGeom prst="rect">
            <a:avLst/>
          </a:prstGeom>
          <a:noFill/>
        </p:spPr>
        <p:txBody>
          <a:bodyPr wrap="square" rtlCol="0">
            <a:spAutoFit/>
          </a:bodyPr>
          <a:lstStyle/>
          <a:p>
            <a:r>
              <a:rPr lang="zh-CN" altLang="en-US" sz="2800" b="1" dirty="0">
                <a:solidFill>
                  <a:srgbClr val="C00000"/>
                </a:solidFill>
                <a:latin typeface="黑体" panose="02010609060101010101" pitchFamily="49" charset="-122"/>
                <a:ea typeface="黑体" panose="02010609060101010101" pitchFamily="49" charset="-122"/>
              </a:rPr>
              <a:t>方法</a:t>
            </a:r>
            <a:r>
              <a:rPr lang="en-US" altLang="zh-CN" sz="2800" b="1" dirty="0">
                <a:solidFill>
                  <a:srgbClr val="C00000"/>
                </a:solidFill>
                <a:latin typeface="黑体" panose="02010609060101010101" pitchFamily="49" charset="-122"/>
                <a:ea typeface="黑体" panose="02010609060101010101" pitchFamily="49" charset="-122"/>
              </a:rPr>
              <a:t>:</a:t>
            </a:r>
            <a:r>
              <a:rPr lang="zh-CN" altLang="en-US" sz="2800" b="1" dirty="0">
                <a:solidFill>
                  <a:srgbClr val="C00000"/>
                </a:solidFill>
                <a:latin typeface="黑体" panose="02010609060101010101" pitchFamily="49" charset="-122"/>
                <a:ea typeface="黑体" panose="02010609060101010101" pitchFamily="49" charset="-122"/>
              </a:rPr>
              <a:t>利用异步清零端</a:t>
            </a:r>
            <a:endParaRPr lang="zh-CN" altLang="en-US" sz="2800" b="1" dirty="0">
              <a:solidFill>
                <a:srgbClr val="C00000"/>
              </a:solidFill>
              <a:latin typeface="黑体" panose="02010609060101010101" pitchFamily="49" charset="-122"/>
              <a:ea typeface="黑体" panose="02010609060101010101" pitchFamily="49" charset="-122"/>
            </a:endParaRPr>
          </a:p>
        </p:txBody>
      </p:sp>
      <p:grpSp>
        <p:nvGrpSpPr>
          <p:cNvPr id="10" name="组合 9"/>
          <p:cNvGrpSpPr/>
          <p:nvPr/>
        </p:nvGrpSpPr>
        <p:grpSpPr>
          <a:xfrm>
            <a:off x="264697" y="3472022"/>
            <a:ext cx="4584032" cy="3210751"/>
            <a:chOff x="264697" y="3472022"/>
            <a:chExt cx="4584032" cy="3210751"/>
          </a:xfrm>
        </p:grpSpPr>
        <p:sp>
          <p:nvSpPr>
            <p:cNvPr id="12" name="文本框 11"/>
            <p:cNvSpPr txBox="1"/>
            <p:nvPr/>
          </p:nvSpPr>
          <p:spPr>
            <a:xfrm>
              <a:off x="264697" y="3472022"/>
              <a:ext cx="4584032" cy="3210751"/>
            </a:xfrm>
            <a:prstGeom prst="rect">
              <a:avLst/>
            </a:prstGeom>
            <a:noFill/>
          </p:spPr>
          <p:txBody>
            <a:bodyPr wrap="square" rtlCol="0">
              <a:spAutoFit/>
            </a:bodyPr>
            <a:lstStyle/>
            <a:p>
              <a:pPr>
                <a:lnSpc>
                  <a:spcPct val="120000"/>
                </a:lnSpc>
              </a:pPr>
              <a:r>
                <a:rPr lang="zh-CN" altLang="en-US" sz="2800" b="1" dirty="0">
                  <a:solidFill>
                    <a:srgbClr val="0000FF"/>
                  </a:solidFill>
                </a:rPr>
                <a:t>步骤：</a:t>
              </a:r>
              <a:endParaRPr lang="en-US" altLang="zh-CN" sz="2800" b="1" dirty="0">
                <a:solidFill>
                  <a:srgbClr val="0000FF"/>
                </a:solidFill>
              </a:endParaRPr>
            </a:p>
            <a:p>
              <a:pPr>
                <a:lnSpc>
                  <a:spcPct val="120000"/>
                </a:lnSpc>
              </a:pPr>
              <a:r>
                <a:rPr lang="zh-CN" altLang="en-US" sz="2800" b="1" dirty="0"/>
                <a:t>（</a:t>
              </a:r>
              <a:r>
                <a:rPr lang="en-US" altLang="zh-CN" sz="2800" b="1" dirty="0"/>
                <a:t>1</a:t>
              </a:r>
              <a:r>
                <a:rPr lang="zh-CN" altLang="en-US" sz="2800" b="1" dirty="0"/>
                <a:t>）写出</a:t>
              </a:r>
              <a:r>
                <a:rPr lang="en-US" altLang="zh-CN" sz="2800" b="1" dirty="0"/>
                <a:t>S</a:t>
              </a:r>
              <a:r>
                <a:rPr lang="en-US" altLang="zh-CN" sz="2800" b="1" baseline="-25000" dirty="0"/>
                <a:t>M</a:t>
              </a:r>
              <a:r>
                <a:rPr lang="zh-CN" altLang="en-US" sz="2800" b="1" dirty="0"/>
                <a:t>的二进制编码：</a:t>
              </a:r>
              <a:endParaRPr lang="en-US" altLang="zh-CN" sz="2800" b="1" dirty="0"/>
            </a:p>
            <a:p>
              <a:pPr>
                <a:lnSpc>
                  <a:spcPct val="120000"/>
                </a:lnSpc>
              </a:pPr>
              <a:r>
                <a:rPr lang="en-US" altLang="zh-CN" sz="2800" b="1" dirty="0"/>
                <a:t>              S</a:t>
              </a:r>
              <a:r>
                <a:rPr lang="en-US" altLang="zh-CN" sz="2800" b="1" baseline="-25000" dirty="0"/>
                <a:t>M</a:t>
              </a:r>
              <a:r>
                <a:rPr lang="en-US" altLang="zh-CN" sz="2800" b="1" dirty="0"/>
                <a:t>=S</a:t>
              </a:r>
              <a:r>
                <a:rPr lang="en-US" altLang="zh-CN" sz="2800" b="1" baseline="-25000" dirty="0"/>
                <a:t>12</a:t>
              </a:r>
              <a:r>
                <a:rPr lang="en-US" altLang="zh-CN" sz="2800" b="1" dirty="0"/>
                <a:t>=1100</a:t>
              </a:r>
              <a:endParaRPr lang="en-US" altLang="zh-CN" sz="2800" b="1" dirty="0"/>
            </a:p>
            <a:p>
              <a:pPr>
                <a:lnSpc>
                  <a:spcPct val="120000"/>
                </a:lnSpc>
              </a:pPr>
              <a:r>
                <a:rPr lang="zh-CN" altLang="en-US" sz="2800" b="1" dirty="0"/>
                <a:t>（</a:t>
              </a:r>
              <a:r>
                <a:rPr lang="en-US" altLang="zh-CN" sz="2800" b="1" dirty="0"/>
                <a:t>2</a:t>
              </a:r>
              <a:r>
                <a:rPr lang="zh-CN" altLang="en-US" sz="2800" b="1" dirty="0"/>
                <a:t>）求归零逻辑：</a:t>
              </a:r>
              <a:endParaRPr lang="en-US" altLang="zh-CN" sz="2800" b="1" dirty="0"/>
            </a:p>
            <a:p>
              <a:pPr>
                <a:lnSpc>
                  <a:spcPct val="120000"/>
                </a:lnSpc>
              </a:pPr>
              <a:r>
                <a:rPr lang="en-US" altLang="zh-CN" sz="2800" b="1" dirty="0"/>
                <a:t>               </a:t>
              </a:r>
              <a:r>
                <a:rPr lang="zh-CN" altLang="en-US" sz="2800" dirty="0"/>
                <a:t> </a:t>
              </a:r>
              <a:endParaRPr lang="en-US" altLang="zh-CN" sz="2800" b="1" dirty="0"/>
            </a:p>
            <a:p>
              <a:pPr>
                <a:lnSpc>
                  <a:spcPct val="120000"/>
                </a:lnSpc>
              </a:pPr>
              <a:r>
                <a:rPr lang="zh-CN" altLang="en-US" sz="2800" b="1" dirty="0"/>
                <a:t>（</a:t>
              </a:r>
              <a:r>
                <a:rPr lang="en-US" altLang="zh-CN" sz="2800" b="1" dirty="0"/>
                <a:t>3</a:t>
              </a:r>
              <a:r>
                <a:rPr lang="zh-CN" altLang="en-US" sz="2800" b="1" dirty="0"/>
                <a:t>）画出电路图</a:t>
              </a:r>
              <a:endParaRPr lang="en-US" altLang="zh-CN" sz="2800" b="1" dirty="0"/>
            </a:p>
          </p:txBody>
        </p:sp>
        <p:graphicFrame>
          <p:nvGraphicFramePr>
            <p:cNvPr id="35" name="对象 34"/>
            <p:cNvGraphicFramePr>
              <a:graphicFrameLocks noChangeAspect="1"/>
            </p:cNvGraphicFramePr>
            <p:nvPr/>
          </p:nvGraphicFramePr>
          <p:xfrm>
            <a:off x="1435166" y="5570871"/>
            <a:ext cx="1658513" cy="552838"/>
          </p:xfrm>
          <a:graphic>
            <a:graphicData uri="http://schemas.openxmlformats.org/presentationml/2006/ole">
              <mc:AlternateContent xmlns:mc="http://schemas.openxmlformats.org/markup-compatibility/2006">
                <mc:Choice xmlns:v="urn:schemas-microsoft-com:vml" Requires="v">
                  <p:oleObj spid="_x0000_s4099" name="Equation" r:id="rId2" imgW="17373600" imgH="5791200" progId="Equation.DSMT4">
                    <p:embed/>
                  </p:oleObj>
                </mc:Choice>
                <mc:Fallback>
                  <p:oleObj name="Equation" r:id="rId2" imgW="17373600" imgH="5791200" progId="Equation.DSMT4">
                    <p:embed/>
                    <p:pic>
                      <p:nvPicPr>
                        <p:cNvPr id="0" name="图片 4098"/>
                        <p:cNvPicPr/>
                        <p:nvPr/>
                      </p:nvPicPr>
                      <p:blipFill>
                        <a:blip r:embed="rId3"/>
                        <a:stretch>
                          <a:fillRect/>
                        </a:stretch>
                      </p:blipFill>
                      <p:spPr>
                        <a:xfrm>
                          <a:off x="1435166" y="5570871"/>
                          <a:ext cx="1658513" cy="552838"/>
                        </a:xfrm>
                        <a:prstGeom prst="rect">
                          <a:avLst/>
                        </a:prstGeom>
                      </p:spPr>
                    </p:pic>
                  </p:oleObj>
                </mc:Fallback>
              </mc:AlternateContent>
            </a:graphicData>
          </a:graphic>
        </p:graphicFrame>
      </p:grpSp>
      <p:grpSp>
        <p:nvGrpSpPr>
          <p:cNvPr id="5" name="组合 4"/>
          <p:cNvGrpSpPr/>
          <p:nvPr/>
        </p:nvGrpSpPr>
        <p:grpSpPr>
          <a:xfrm>
            <a:off x="4206242" y="3307956"/>
            <a:ext cx="4170822" cy="2884334"/>
            <a:chOff x="4206242" y="3307956"/>
            <a:chExt cx="4170822" cy="2884334"/>
          </a:xfrm>
        </p:grpSpPr>
        <p:grpSp>
          <p:nvGrpSpPr>
            <p:cNvPr id="53" name="组合 52"/>
            <p:cNvGrpSpPr/>
            <p:nvPr/>
          </p:nvGrpSpPr>
          <p:grpSpPr>
            <a:xfrm>
              <a:off x="4206242" y="3307956"/>
              <a:ext cx="4170822" cy="2884334"/>
              <a:chOff x="4206242" y="3307956"/>
              <a:chExt cx="4170822" cy="2884334"/>
            </a:xfrm>
          </p:grpSpPr>
          <p:grpSp>
            <p:nvGrpSpPr>
              <p:cNvPr id="21" name="组合 20"/>
              <p:cNvGrpSpPr/>
              <p:nvPr/>
            </p:nvGrpSpPr>
            <p:grpSpPr>
              <a:xfrm>
                <a:off x="5062302" y="4067695"/>
                <a:ext cx="3314762" cy="2124595"/>
                <a:chOff x="5062302" y="4067695"/>
                <a:chExt cx="3314762" cy="2124595"/>
              </a:xfrm>
            </p:grpSpPr>
            <p:pic>
              <p:nvPicPr>
                <p:cNvPr id="4" name="图片 3"/>
                <p:cNvPicPr>
                  <a:picLocks noChangeAspect="1"/>
                </p:cNvPicPr>
                <p:nvPr/>
              </p:nvPicPr>
              <p:blipFill>
                <a:blip r:embed="rId4"/>
                <a:stretch>
                  <a:fillRect/>
                </a:stretch>
              </p:blipFill>
              <p:spPr>
                <a:xfrm>
                  <a:off x="5062302" y="4067695"/>
                  <a:ext cx="3314762" cy="2124595"/>
                </a:xfrm>
                <a:prstGeom prst="rect">
                  <a:avLst/>
                </a:prstGeom>
              </p:spPr>
            </p:pic>
            <p:sp>
              <p:nvSpPr>
                <p:cNvPr id="11" name="文本框 10"/>
                <p:cNvSpPr txBox="1"/>
                <p:nvPr/>
              </p:nvSpPr>
              <p:spPr>
                <a:xfrm>
                  <a:off x="5799484" y="4434214"/>
                  <a:ext cx="1904489"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Q</a:t>
                  </a:r>
                  <a:r>
                    <a:rPr lang="en-US" altLang="zh-CN" sz="2000" b="1" baseline="-25000" dirty="0">
                      <a:latin typeface="Times New Roman" panose="02020603050405020304" pitchFamily="18" charset="0"/>
                      <a:cs typeface="Times New Roman" panose="02020603050405020304" pitchFamily="18" charset="0"/>
                    </a:rPr>
                    <a:t>0   </a:t>
                  </a:r>
                  <a:r>
                    <a:rPr lang="en-US" altLang="zh-CN" sz="2000" b="1" dirty="0">
                      <a:latin typeface="Times New Roman" panose="02020603050405020304" pitchFamily="18" charset="0"/>
                      <a:cs typeface="Times New Roman" panose="02020603050405020304" pitchFamily="18" charset="0"/>
                    </a:rPr>
                    <a:t>Q</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Q </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 Q</a:t>
                  </a:r>
                  <a:r>
                    <a:rPr lang="en-US" altLang="zh-CN" sz="2000" b="1" baseline="-25000" dirty="0">
                      <a:latin typeface="Times New Roman" panose="02020603050405020304" pitchFamily="18" charset="0"/>
                      <a:cs typeface="Times New Roman" panose="02020603050405020304" pitchFamily="18" charset="0"/>
                    </a:rPr>
                    <a:t>3</a:t>
                  </a:r>
                  <a:endParaRPr lang="zh-CN" altLang="en-US" sz="2000" b="1" baseline="-250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5552906" y="4628184"/>
                  <a:ext cx="653934" cy="86177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CR</a:t>
                  </a:r>
                  <a:endParaRPr lang="en-US" altLang="zh-CN" sz="1600" b="1" dirty="0">
                    <a:latin typeface="Times New Roman" panose="02020603050405020304" pitchFamily="18" charset="0"/>
                    <a:cs typeface="Times New Roman" panose="02020603050405020304" pitchFamily="18" charset="0"/>
                  </a:endParaRPr>
                </a:p>
                <a:p>
                  <a:r>
                    <a:rPr lang="en-US" altLang="zh-CN" sz="1600" b="1" dirty="0">
                      <a:latin typeface="Times New Roman" panose="02020603050405020304" pitchFamily="18" charset="0"/>
                      <a:cs typeface="Times New Roman" panose="02020603050405020304" pitchFamily="18" charset="0"/>
                    </a:rPr>
                    <a:t>CP</a:t>
                  </a:r>
                  <a:r>
                    <a:rPr lang="en-US" altLang="zh-CN" sz="1600" b="1" baseline="-25000" dirty="0">
                      <a:latin typeface="Times New Roman" panose="02020603050405020304" pitchFamily="18" charset="0"/>
                      <a:cs typeface="Times New Roman" panose="02020603050405020304" pitchFamily="18" charset="0"/>
                    </a:rPr>
                    <a:t>U</a:t>
                  </a:r>
                  <a:endParaRPr lang="en-US" altLang="zh-CN" sz="1600" b="1" baseline="-25000" dirty="0">
                    <a:latin typeface="Times New Roman" panose="02020603050405020304" pitchFamily="18" charset="0"/>
                    <a:cs typeface="Times New Roman" panose="02020603050405020304" pitchFamily="18" charset="0"/>
                  </a:endParaRPr>
                </a:p>
                <a:p>
                  <a:r>
                    <a:rPr lang="en-US" altLang="zh-CN" sz="1600" b="1" dirty="0">
                      <a:latin typeface="Times New Roman" panose="02020603050405020304" pitchFamily="18" charset="0"/>
                      <a:cs typeface="Times New Roman" panose="02020603050405020304" pitchFamily="18" charset="0"/>
                    </a:rPr>
                    <a:t>CP</a:t>
                  </a:r>
                  <a:r>
                    <a:rPr lang="en-US" altLang="zh-CN" sz="1600" b="1" baseline="-25000" dirty="0">
                      <a:latin typeface="Times New Roman" panose="02020603050405020304" pitchFamily="18" charset="0"/>
                      <a:cs typeface="Times New Roman" panose="02020603050405020304" pitchFamily="18" charset="0"/>
                    </a:rPr>
                    <a:t>D</a:t>
                  </a:r>
                  <a:endParaRPr lang="zh-CN" altLang="en-US" sz="1600" b="1" baseline="-25000" dirty="0">
                    <a:latin typeface="Times New Roman" panose="02020603050405020304" pitchFamily="18" charset="0"/>
                    <a:cs typeface="Times New Roman" panose="02020603050405020304" pitchFamily="18" charset="0"/>
                  </a:endParaRPr>
                </a:p>
              </p:txBody>
            </p:sp>
            <p:sp>
              <p:nvSpPr>
                <p:cNvPr id="23" name="文本框 22"/>
                <p:cNvSpPr txBox="1"/>
                <p:nvPr/>
              </p:nvSpPr>
              <p:spPr>
                <a:xfrm>
                  <a:off x="5785658" y="5294671"/>
                  <a:ext cx="1904489"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D</a:t>
                  </a:r>
                  <a:r>
                    <a:rPr lang="en-US" altLang="zh-CN" sz="2000" b="1" baseline="-25000" dirty="0">
                      <a:latin typeface="Times New Roman" panose="02020603050405020304" pitchFamily="18" charset="0"/>
                      <a:cs typeface="Times New Roman" panose="02020603050405020304" pitchFamily="18" charset="0"/>
                    </a:rPr>
                    <a:t>0   </a:t>
                  </a:r>
                  <a:r>
                    <a:rPr lang="en-US" altLang="zh-CN" sz="2000" b="1" dirty="0">
                      <a:latin typeface="Times New Roman" panose="02020603050405020304" pitchFamily="18" charset="0"/>
                      <a:cs typeface="Times New Roman" panose="02020603050405020304" pitchFamily="18" charset="0"/>
                    </a:rPr>
                    <a:t>D</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D </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 D</a:t>
                  </a:r>
                  <a:r>
                    <a:rPr lang="en-US" altLang="zh-CN" sz="2000" b="1" baseline="-25000" dirty="0">
                      <a:latin typeface="Times New Roman" panose="02020603050405020304" pitchFamily="18" charset="0"/>
                      <a:cs typeface="Times New Roman" panose="02020603050405020304" pitchFamily="18" charset="0"/>
                    </a:rPr>
                    <a:t>3</a:t>
                  </a:r>
                  <a:endParaRPr lang="zh-CN" altLang="en-US" sz="2000" b="1" baseline="-25000" dirty="0">
                    <a:latin typeface="Times New Roman" panose="02020603050405020304" pitchFamily="18" charset="0"/>
                    <a:cs typeface="Times New Roman" panose="02020603050405020304" pitchFamily="18" charset="0"/>
                  </a:endParaRPr>
                </a:p>
              </p:txBody>
            </p:sp>
            <p:sp>
              <p:nvSpPr>
                <p:cNvPr id="25" name="文本框 24"/>
                <p:cNvSpPr txBox="1"/>
                <p:nvPr/>
              </p:nvSpPr>
              <p:spPr>
                <a:xfrm>
                  <a:off x="7396373" y="4592162"/>
                  <a:ext cx="653934" cy="923330"/>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BO</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CO</a:t>
                  </a:r>
                  <a:endParaRPr lang="en-US" altLang="zh-CN" b="1" baseline="-25000"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LD</a:t>
                  </a:r>
                  <a:endParaRPr lang="zh-CN" altLang="en-US" b="1" baseline="-25000" dirty="0">
                    <a:latin typeface="Times New Roman" panose="02020603050405020304" pitchFamily="18" charset="0"/>
                    <a:cs typeface="Times New Roman" panose="02020603050405020304" pitchFamily="18" charset="0"/>
                  </a:endParaRPr>
                </a:p>
              </p:txBody>
            </p:sp>
            <p:cxnSp>
              <p:nvCxnSpPr>
                <p:cNvPr id="17" name="直接连接符 16"/>
                <p:cNvCxnSpPr/>
                <p:nvPr/>
              </p:nvCxnSpPr>
              <p:spPr>
                <a:xfrm flipV="1">
                  <a:off x="7491278" y="4642538"/>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7502362" y="4938200"/>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7491278" y="5203204"/>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a:xfrm flipV="1">
                <a:off x="4666211" y="5043056"/>
                <a:ext cx="515389" cy="554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206242" y="4839866"/>
                <a:ext cx="579948"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CP</a:t>
                </a:r>
                <a:endParaRPr lang="zh-CN" altLang="en-US" sz="2000" b="1" dirty="0">
                  <a:latin typeface="Times New Roman" panose="02020603050405020304" pitchFamily="18" charset="0"/>
                  <a:cs typeface="Times New Roman" panose="02020603050405020304" pitchFamily="18" charset="0"/>
                </a:endParaRPr>
              </a:p>
            </p:txBody>
          </p:sp>
          <p:sp>
            <p:nvSpPr>
              <p:cNvPr id="36" name="矩形 35"/>
              <p:cNvSpPr/>
              <p:nvPr/>
            </p:nvSpPr>
            <p:spPr>
              <a:xfrm>
                <a:off x="5442065" y="3307956"/>
                <a:ext cx="432261" cy="4992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FF"/>
                    </a:solidFill>
                  </a:rPr>
                  <a:t>&amp;</a:t>
                </a:r>
                <a:endParaRPr lang="zh-CN" altLang="en-US" dirty="0">
                  <a:solidFill>
                    <a:srgbClr val="0000FF"/>
                  </a:solidFill>
                </a:endParaRPr>
              </a:p>
            </p:txBody>
          </p:sp>
          <p:cxnSp>
            <p:nvCxnSpPr>
              <p:cNvPr id="38" name="直接连接符 37"/>
              <p:cNvCxnSpPr/>
              <p:nvPr/>
            </p:nvCxnSpPr>
            <p:spPr>
              <a:xfrm>
                <a:off x="5874326" y="3698815"/>
                <a:ext cx="1019696" cy="0"/>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6866312" y="3674225"/>
                <a:ext cx="0" cy="493222"/>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874326" y="3459727"/>
                <a:ext cx="1464938" cy="12295"/>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7306887" y="3472022"/>
                <a:ext cx="2772" cy="720015"/>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5126182" y="3557592"/>
                <a:ext cx="0" cy="1186204"/>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endCxn id="36" idx="1"/>
              </p:cNvCxnSpPr>
              <p:nvPr/>
            </p:nvCxnSpPr>
            <p:spPr>
              <a:xfrm>
                <a:off x="5126182" y="3557592"/>
                <a:ext cx="315883" cy="1"/>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54" name="直接连接符 53"/>
            <p:cNvCxnSpPr/>
            <p:nvPr/>
          </p:nvCxnSpPr>
          <p:spPr>
            <a:xfrm>
              <a:off x="5507077" y="4972522"/>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5518160" y="5061190"/>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5501534" y="5256446"/>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5512617" y="5339572"/>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ircle(in)">
                                      <p:cBhvr>
                                        <p:cTn id="2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反馈清零法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pSp>
        <p:nvGrpSpPr>
          <p:cNvPr id="53" name="组合 52"/>
          <p:cNvGrpSpPr/>
          <p:nvPr/>
        </p:nvGrpSpPr>
        <p:grpSpPr>
          <a:xfrm>
            <a:off x="497306" y="731882"/>
            <a:ext cx="4170822" cy="2884334"/>
            <a:chOff x="4206242" y="3307956"/>
            <a:chExt cx="4170822" cy="2884334"/>
          </a:xfrm>
        </p:grpSpPr>
        <p:grpSp>
          <p:nvGrpSpPr>
            <p:cNvPr id="21" name="组合 20"/>
            <p:cNvGrpSpPr/>
            <p:nvPr/>
          </p:nvGrpSpPr>
          <p:grpSpPr>
            <a:xfrm>
              <a:off x="5062302" y="4067695"/>
              <a:ext cx="3314762" cy="2124595"/>
              <a:chOff x="5062302" y="4067695"/>
              <a:chExt cx="3314762" cy="2124595"/>
            </a:xfrm>
          </p:grpSpPr>
          <p:pic>
            <p:nvPicPr>
              <p:cNvPr id="4" name="图片 3"/>
              <p:cNvPicPr>
                <a:picLocks noChangeAspect="1"/>
              </p:cNvPicPr>
              <p:nvPr/>
            </p:nvPicPr>
            <p:blipFill>
              <a:blip r:embed="rId2"/>
              <a:stretch>
                <a:fillRect/>
              </a:stretch>
            </p:blipFill>
            <p:spPr>
              <a:xfrm>
                <a:off x="5062302" y="4067695"/>
                <a:ext cx="3314762" cy="2124595"/>
              </a:xfrm>
              <a:prstGeom prst="rect">
                <a:avLst/>
              </a:prstGeom>
            </p:spPr>
          </p:pic>
          <p:sp>
            <p:nvSpPr>
              <p:cNvPr id="11" name="文本框 10"/>
              <p:cNvSpPr txBox="1"/>
              <p:nvPr/>
            </p:nvSpPr>
            <p:spPr>
              <a:xfrm>
                <a:off x="5799484" y="4434214"/>
                <a:ext cx="1904489"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Q</a:t>
                </a:r>
                <a:r>
                  <a:rPr lang="en-US" altLang="zh-CN" sz="2000" b="1" baseline="-25000" dirty="0">
                    <a:latin typeface="Times New Roman" panose="02020603050405020304" pitchFamily="18" charset="0"/>
                    <a:cs typeface="Times New Roman" panose="02020603050405020304" pitchFamily="18" charset="0"/>
                  </a:rPr>
                  <a:t>0   </a:t>
                </a:r>
                <a:r>
                  <a:rPr lang="en-US" altLang="zh-CN" sz="2000" b="1" dirty="0">
                    <a:latin typeface="Times New Roman" panose="02020603050405020304" pitchFamily="18" charset="0"/>
                    <a:cs typeface="Times New Roman" panose="02020603050405020304" pitchFamily="18" charset="0"/>
                  </a:rPr>
                  <a:t>Q</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Q </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 Q</a:t>
                </a:r>
                <a:r>
                  <a:rPr lang="en-US" altLang="zh-CN" sz="2000" b="1" baseline="-25000" dirty="0">
                    <a:latin typeface="Times New Roman" panose="02020603050405020304" pitchFamily="18" charset="0"/>
                    <a:cs typeface="Times New Roman" panose="02020603050405020304" pitchFamily="18" charset="0"/>
                  </a:rPr>
                  <a:t>3</a:t>
                </a:r>
                <a:endParaRPr lang="zh-CN" altLang="en-US" sz="2000" b="1" baseline="-250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5536398" y="4653718"/>
                <a:ext cx="653934" cy="86177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CR</a:t>
                </a:r>
                <a:endParaRPr lang="en-US" altLang="zh-CN" sz="1600" b="1" dirty="0">
                  <a:latin typeface="Times New Roman" panose="02020603050405020304" pitchFamily="18" charset="0"/>
                  <a:cs typeface="Times New Roman" panose="02020603050405020304" pitchFamily="18" charset="0"/>
                </a:endParaRPr>
              </a:p>
              <a:p>
                <a:r>
                  <a:rPr lang="en-US" altLang="zh-CN" sz="1600" b="1" dirty="0">
                    <a:latin typeface="Times New Roman" panose="02020603050405020304" pitchFamily="18" charset="0"/>
                    <a:cs typeface="Times New Roman" panose="02020603050405020304" pitchFamily="18" charset="0"/>
                  </a:rPr>
                  <a:t>CP</a:t>
                </a:r>
                <a:r>
                  <a:rPr lang="en-US" altLang="zh-CN" sz="1600" b="1" baseline="-25000" dirty="0">
                    <a:latin typeface="Times New Roman" panose="02020603050405020304" pitchFamily="18" charset="0"/>
                    <a:cs typeface="Times New Roman" panose="02020603050405020304" pitchFamily="18" charset="0"/>
                  </a:rPr>
                  <a:t>U</a:t>
                </a:r>
                <a:endParaRPr lang="en-US" altLang="zh-CN" sz="1600" b="1" baseline="-25000" dirty="0">
                  <a:latin typeface="Times New Roman" panose="02020603050405020304" pitchFamily="18" charset="0"/>
                  <a:cs typeface="Times New Roman" panose="02020603050405020304" pitchFamily="18" charset="0"/>
                </a:endParaRPr>
              </a:p>
              <a:p>
                <a:r>
                  <a:rPr lang="en-US" altLang="zh-CN" sz="1600" b="1" dirty="0">
                    <a:latin typeface="Times New Roman" panose="02020603050405020304" pitchFamily="18" charset="0"/>
                    <a:cs typeface="Times New Roman" panose="02020603050405020304" pitchFamily="18" charset="0"/>
                  </a:rPr>
                  <a:t>CP</a:t>
                </a:r>
                <a:r>
                  <a:rPr lang="en-US" altLang="zh-CN" sz="1600" b="1" baseline="-25000" dirty="0">
                    <a:latin typeface="Times New Roman" panose="02020603050405020304" pitchFamily="18" charset="0"/>
                    <a:cs typeface="Times New Roman" panose="02020603050405020304" pitchFamily="18" charset="0"/>
                  </a:rPr>
                  <a:t>D</a:t>
                </a:r>
                <a:endParaRPr lang="zh-CN" altLang="en-US" sz="1600" b="1" baseline="-25000" dirty="0">
                  <a:latin typeface="Times New Roman" panose="02020603050405020304" pitchFamily="18" charset="0"/>
                  <a:cs typeface="Times New Roman" panose="02020603050405020304" pitchFamily="18" charset="0"/>
                </a:endParaRPr>
              </a:p>
            </p:txBody>
          </p:sp>
          <p:sp>
            <p:nvSpPr>
              <p:cNvPr id="23" name="文本框 22"/>
              <p:cNvSpPr txBox="1"/>
              <p:nvPr/>
            </p:nvSpPr>
            <p:spPr>
              <a:xfrm>
                <a:off x="5785658" y="5283587"/>
                <a:ext cx="1904489"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D</a:t>
                </a:r>
                <a:r>
                  <a:rPr lang="en-US" altLang="zh-CN" sz="2000" b="1" baseline="-25000" dirty="0">
                    <a:latin typeface="Times New Roman" panose="02020603050405020304" pitchFamily="18" charset="0"/>
                    <a:cs typeface="Times New Roman" panose="02020603050405020304" pitchFamily="18" charset="0"/>
                  </a:rPr>
                  <a:t>0   </a:t>
                </a:r>
                <a:r>
                  <a:rPr lang="en-US" altLang="zh-CN" sz="2000" b="1" dirty="0">
                    <a:latin typeface="Times New Roman" panose="02020603050405020304" pitchFamily="18" charset="0"/>
                    <a:cs typeface="Times New Roman" panose="02020603050405020304" pitchFamily="18" charset="0"/>
                  </a:rPr>
                  <a:t>D</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D </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 D</a:t>
                </a:r>
                <a:r>
                  <a:rPr lang="en-US" altLang="zh-CN" sz="2000" b="1" baseline="-25000" dirty="0">
                    <a:latin typeface="Times New Roman" panose="02020603050405020304" pitchFamily="18" charset="0"/>
                    <a:cs typeface="Times New Roman" panose="02020603050405020304" pitchFamily="18" charset="0"/>
                  </a:rPr>
                  <a:t>3</a:t>
                </a:r>
                <a:endParaRPr lang="zh-CN" altLang="en-US" sz="2000" b="1" baseline="-25000" dirty="0">
                  <a:latin typeface="Times New Roman" panose="02020603050405020304" pitchFamily="18" charset="0"/>
                  <a:cs typeface="Times New Roman" panose="02020603050405020304" pitchFamily="18" charset="0"/>
                </a:endParaRPr>
              </a:p>
            </p:txBody>
          </p:sp>
          <p:sp>
            <p:nvSpPr>
              <p:cNvPr id="25" name="文本框 24"/>
              <p:cNvSpPr txBox="1"/>
              <p:nvPr/>
            </p:nvSpPr>
            <p:spPr>
              <a:xfrm>
                <a:off x="7396373" y="4592162"/>
                <a:ext cx="653934" cy="923330"/>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BO</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CO</a:t>
                </a:r>
                <a:endParaRPr lang="en-US" altLang="zh-CN" b="1" baseline="-25000"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LD</a:t>
                </a:r>
                <a:endParaRPr lang="zh-CN" altLang="en-US" b="1" baseline="-25000" dirty="0">
                  <a:latin typeface="Times New Roman" panose="02020603050405020304" pitchFamily="18" charset="0"/>
                  <a:cs typeface="Times New Roman" panose="02020603050405020304" pitchFamily="18" charset="0"/>
                </a:endParaRPr>
              </a:p>
            </p:txBody>
          </p:sp>
          <p:cxnSp>
            <p:nvCxnSpPr>
              <p:cNvPr id="17" name="直接连接符 16"/>
              <p:cNvCxnSpPr/>
              <p:nvPr/>
            </p:nvCxnSpPr>
            <p:spPr>
              <a:xfrm flipV="1">
                <a:off x="7491278" y="4642538"/>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7502362" y="4938200"/>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7491278" y="5203204"/>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a:xfrm flipV="1">
              <a:off x="4666211" y="5043056"/>
              <a:ext cx="515389" cy="554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206242" y="4839866"/>
              <a:ext cx="579948"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CP</a:t>
              </a:r>
              <a:endParaRPr lang="zh-CN" altLang="en-US" sz="2000" b="1" dirty="0">
                <a:latin typeface="Times New Roman" panose="02020603050405020304" pitchFamily="18" charset="0"/>
                <a:cs typeface="Times New Roman" panose="02020603050405020304" pitchFamily="18" charset="0"/>
              </a:endParaRPr>
            </a:p>
          </p:txBody>
        </p:sp>
        <p:sp>
          <p:nvSpPr>
            <p:cNvPr id="36" name="矩形 35"/>
            <p:cNvSpPr/>
            <p:nvPr/>
          </p:nvSpPr>
          <p:spPr>
            <a:xfrm>
              <a:off x="5442065" y="3307956"/>
              <a:ext cx="432261" cy="4992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FF"/>
                  </a:solidFill>
                </a:rPr>
                <a:t>&amp;</a:t>
              </a:r>
              <a:endParaRPr lang="zh-CN" altLang="en-US" dirty="0">
                <a:solidFill>
                  <a:srgbClr val="0000FF"/>
                </a:solidFill>
              </a:endParaRPr>
            </a:p>
          </p:txBody>
        </p:sp>
        <p:cxnSp>
          <p:nvCxnSpPr>
            <p:cNvPr id="38" name="直接连接符 37"/>
            <p:cNvCxnSpPr/>
            <p:nvPr/>
          </p:nvCxnSpPr>
          <p:spPr>
            <a:xfrm>
              <a:off x="5874326" y="3698815"/>
              <a:ext cx="1019696" cy="0"/>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6866312" y="3674225"/>
              <a:ext cx="0" cy="493222"/>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874326" y="3459727"/>
              <a:ext cx="1464938" cy="12295"/>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7306887" y="3472022"/>
              <a:ext cx="2772" cy="720015"/>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5126182" y="3557592"/>
              <a:ext cx="0" cy="1186204"/>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endCxn id="36" idx="1"/>
            </p:cNvCxnSpPr>
            <p:nvPr/>
          </p:nvCxnSpPr>
          <p:spPr>
            <a:xfrm>
              <a:off x="5126182" y="3557592"/>
              <a:ext cx="315883" cy="1"/>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grpSp>
      <p:graphicFrame>
        <p:nvGraphicFramePr>
          <p:cNvPr id="30" name="对象 29"/>
          <p:cNvGraphicFramePr>
            <a:graphicFrameLocks noChangeAspect="1"/>
          </p:cNvGraphicFramePr>
          <p:nvPr/>
        </p:nvGraphicFramePr>
        <p:xfrm>
          <a:off x="5282802" y="1858140"/>
          <a:ext cx="1658513" cy="552838"/>
        </p:xfrm>
        <a:graphic>
          <a:graphicData uri="http://schemas.openxmlformats.org/presentationml/2006/ole">
            <mc:AlternateContent xmlns:mc="http://schemas.openxmlformats.org/markup-compatibility/2006">
              <mc:Choice xmlns:v="urn:schemas-microsoft-com:vml" Requires="v">
                <p:oleObj spid="_x0000_s5123" name="Equation" r:id="rId3" imgW="17373600" imgH="5791200" progId="Equation.DSMT4">
                  <p:embed/>
                </p:oleObj>
              </mc:Choice>
              <mc:Fallback>
                <p:oleObj name="Equation" r:id="rId3" imgW="17373600" imgH="5791200" progId="Equation.DSMT4">
                  <p:embed/>
                  <p:pic>
                    <p:nvPicPr>
                      <p:cNvPr id="0" name="图片 5122"/>
                      <p:cNvPicPr/>
                      <p:nvPr/>
                    </p:nvPicPr>
                    <p:blipFill>
                      <a:blip r:embed="rId4"/>
                      <a:stretch>
                        <a:fillRect/>
                      </a:stretch>
                    </p:blipFill>
                    <p:spPr>
                      <a:xfrm>
                        <a:off x="5282802" y="1858140"/>
                        <a:ext cx="1658513" cy="552838"/>
                      </a:xfrm>
                      <a:prstGeom prst="rect">
                        <a:avLst/>
                      </a:prstGeom>
                    </p:spPr>
                  </p:pic>
                </p:oleObj>
              </mc:Fallback>
            </mc:AlternateContent>
          </a:graphicData>
        </a:graphic>
      </p:graphicFrame>
      <p:cxnSp>
        <p:nvCxnSpPr>
          <p:cNvPr id="102" name="直接连接符 101"/>
          <p:cNvCxnSpPr/>
          <p:nvPr/>
        </p:nvCxnSpPr>
        <p:spPr>
          <a:xfrm>
            <a:off x="1789799" y="2417695"/>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1800882" y="2506363"/>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1784256" y="2701619"/>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1795339" y="2784745"/>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4" name="组合 263"/>
          <p:cNvGrpSpPr/>
          <p:nvPr/>
        </p:nvGrpSpPr>
        <p:grpSpPr>
          <a:xfrm>
            <a:off x="1083643" y="3777817"/>
            <a:ext cx="7528342" cy="3080183"/>
            <a:chOff x="1083643" y="3777817"/>
            <a:chExt cx="7528342" cy="3080183"/>
          </a:xfrm>
        </p:grpSpPr>
        <p:grpSp>
          <p:nvGrpSpPr>
            <p:cNvPr id="32" name="组合 31"/>
            <p:cNvGrpSpPr/>
            <p:nvPr/>
          </p:nvGrpSpPr>
          <p:grpSpPr>
            <a:xfrm>
              <a:off x="1121467" y="3777817"/>
              <a:ext cx="7448853" cy="356900"/>
              <a:chOff x="615142" y="4042307"/>
              <a:chExt cx="7448853" cy="356900"/>
            </a:xfrm>
          </p:grpSpPr>
          <p:cxnSp>
            <p:nvCxnSpPr>
              <p:cNvPr id="10" name="直接连接符 9"/>
              <p:cNvCxnSpPr/>
              <p:nvPr/>
            </p:nvCxnSpPr>
            <p:spPr>
              <a:xfrm>
                <a:off x="615142" y="4389783"/>
                <a:ext cx="286050" cy="388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901192" y="4066697"/>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901192" y="4066697"/>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1152152" y="4066697"/>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1152152" y="4393665"/>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1410178" y="4060044"/>
                <a:ext cx="516054" cy="332510"/>
                <a:chOff x="1053592" y="4042756"/>
                <a:chExt cx="516054" cy="332510"/>
              </a:xfrm>
            </p:grpSpPr>
            <p:cxnSp>
              <p:nvCxnSpPr>
                <p:cNvPr id="42" name="直接连接符 41"/>
                <p:cNvCxnSpPr/>
                <p:nvPr/>
              </p:nvCxnSpPr>
              <p:spPr>
                <a:xfrm flipV="1">
                  <a:off x="1053592" y="404275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053592" y="4042756"/>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1304552" y="404275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1304552" y="4369724"/>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 name="直接连接符 48"/>
              <p:cNvCxnSpPr/>
              <p:nvPr/>
            </p:nvCxnSpPr>
            <p:spPr>
              <a:xfrm flipV="1">
                <a:off x="1926231" y="4057273"/>
                <a:ext cx="0" cy="32696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1926231" y="4057273"/>
                <a:ext cx="25096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2177191" y="4057273"/>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2177191" y="4384241"/>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2442284" y="405339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2442284" y="4053391"/>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2693244" y="405339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2693244" y="4380359"/>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2954385" y="4042307"/>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2954385" y="4042307"/>
                <a:ext cx="250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3205345" y="4042307"/>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3205345" y="4369275"/>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3455997" y="405007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3455997" y="4050071"/>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V="1">
                <a:off x="3706957" y="405007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3706957" y="4377039"/>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 name="组合 67"/>
              <p:cNvGrpSpPr/>
              <p:nvPr/>
            </p:nvGrpSpPr>
            <p:grpSpPr>
              <a:xfrm>
                <a:off x="3964983" y="4043418"/>
                <a:ext cx="516054" cy="332510"/>
                <a:chOff x="1053592" y="4042756"/>
                <a:chExt cx="516054" cy="332510"/>
              </a:xfrm>
            </p:grpSpPr>
            <p:cxnSp>
              <p:nvCxnSpPr>
                <p:cNvPr id="69" name="直接连接符 68"/>
                <p:cNvCxnSpPr/>
                <p:nvPr/>
              </p:nvCxnSpPr>
              <p:spPr>
                <a:xfrm flipV="1">
                  <a:off x="1053592" y="404275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1053592" y="4042756"/>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1304552" y="404275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V="1">
                  <a:off x="1304552" y="4369724"/>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3" name="直接连接符 72"/>
              <p:cNvCxnSpPr/>
              <p:nvPr/>
            </p:nvCxnSpPr>
            <p:spPr>
              <a:xfrm flipV="1">
                <a:off x="4481036" y="4057273"/>
                <a:ext cx="0" cy="32696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481036" y="4057273"/>
                <a:ext cx="25096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4731996" y="4057273"/>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4731996" y="4384241"/>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V="1">
                <a:off x="4997089" y="405339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997089" y="4053391"/>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5248049" y="405339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5248049" y="4380359"/>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5509190" y="4064475"/>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5509190" y="4064475"/>
                <a:ext cx="250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V="1">
                <a:off x="5760150" y="4064475"/>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5760150" y="4374817"/>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5" name="组合 84"/>
              <p:cNvGrpSpPr/>
              <p:nvPr/>
            </p:nvGrpSpPr>
            <p:grpSpPr>
              <a:xfrm>
                <a:off x="6003734" y="4062573"/>
                <a:ext cx="516054" cy="332510"/>
                <a:chOff x="1053592" y="4081550"/>
                <a:chExt cx="516054" cy="332510"/>
              </a:xfrm>
            </p:grpSpPr>
            <p:cxnSp>
              <p:nvCxnSpPr>
                <p:cNvPr id="86" name="直接连接符 85"/>
                <p:cNvCxnSpPr/>
                <p:nvPr/>
              </p:nvCxnSpPr>
              <p:spPr>
                <a:xfrm flipV="1">
                  <a:off x="1053592" y="4081550"/>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1053592" y="4081550"/>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V="1">
                  <a:off x="1304552" y="4081550"/>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1304552" y="4408518"/>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 name="直接连接符 89"/>
              <p:cNvCxnSpPr/>
              <p:nvPr/>
            </p:nvCxnSpPr>
            <p:spPr>
              <a:xfrm flipV="1">
                <a:off x="6519787" y="4059802"/>
                <a:ext cx="0" cy="32696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519787" y="4059802"/>
                <a:ext cx="25096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6770747" y="4059802"/>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V="1">
                <a:off x="6770747" y="4386770"/>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V="1">
                <a:off x="7035840" y="4067004"/>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7035840" y="4055920"/>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7286800" y="4055920"/>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V="1">
                <a:off x="7286800" y="4382888"/>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V="1">
                <a:off x="7547941" y="404483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7547941" y="4044836"/>
                <a:ext cx="250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V="1">
                <a:off x="7798901" y="404483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V="1">
                <a:off x="7798901" y="4371804"/>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p:cNvCxnSpPr/>
            <p:nvPr/>
          </p:nvCxnSpPr>
          <p:spPr>
            <a:xfrm flipV="1">
              <a:off x="1090920" y="4733010"/>
              <a:ext cx="309321"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1410753" y="4114807"/>
              <a:ext cx="286" cy="273294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1912341" y="4125051"/>
              <a:ext cx="5212" cy="273294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2425282" y="4131946"/>
              <a:ext cx="10193" cy="2726054"/>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2945461" y="4131946"/>
              <a:ext cx="5763" cy="2726054"/>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3454530" y="4140565"/>
              <a:ext cx="23916" cy="271743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3951222" y="4110085"/>
              <a:ext cx="16231" cy="274791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71099" y="4104785"/>
              <a:ext cx="3639" cy="275321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980085" y="4111438"/>
              <a:ext cx="25010" cy="2746562"/>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5502941" y="4118091"/>
              <a:ext cx="21300" cy="273990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6011821" y="4131946"/>
              <a:ext cx="34747" cy="2726054"/>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6510146" y="4126953"/>
              <a:ext cx="24002" cy="2731047"/>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7032387" y="4118091"/>
              <a:ext cx="24777" cy="272966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7541267" y="4140565"/>
              <a:ext cx="56566" cy="269803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1099750" y="5133392"/>
              <a:ext cx="805060" cy="107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1083643" y="5579523"/>
              <a:ext cx="1844460" cy="13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083643" y="6068593"/>
              <a:ext cx="3921059" cy="13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flipV="1">
              <a:off x="1417246" y="4435766"/>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V="1">
              <a:off x="1435167" y="4448375"/>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V="1">
              <a:off x="1914535" y="4871108"/>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V="1">
              <a:off x="1926914" y="4882190"/>
              <a:ext cx="1018911" cy="6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flipV="1">
              <a:off x="1917259" y="4435766"/>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flipV="1">
              <a:off x="1931754" y="4716663"/>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flipV="1">
              <a:off x="2434637" y="442633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flipV="1">
              <a:off x="2441474" y="4433397"/>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flipV="1">
              <a:off x="2934650" y="442633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flipV="1">
              <a:off x="2935161" y="5300376"/>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934670" y="5312399"/>
              <a:ext cx="2050223" cy="41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flipV="1">
              <a:off x="4471099" y="4389465"/>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flipV="1">
              <a:off x="2947534" y="4876958"/>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V="1">
              <a:off x="2962029" y="5156962"/>
              <a:ext cx="990242" cy="58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V="1">
              <a:off x="2937449" y="4703929"/>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V="1">
              <a:off x="3458067" y="4389465"/>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flipV="1">
              <a:off x="3455771" y="4396532"/>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flipV="1">
              <a:off x="3954489" y="4391229"/>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flipV="1">
              <a:off x="3938895" y="4703871"/>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flipV="1">
              <a:off x="3964703" y="4874334"/>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3962407" y="4886357"/>
              <a:ext cx="1022486" cy="23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flipV="1">
              <a:off x="4494760" y="4392956"/>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V="1">
              <a:off x="4993478" y="4387653"/>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flipV="1">
              <a:off x="5007056" y="5766609"/>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flipV="1">
              <a:off x="5006257" y="5753449"/>
              <a:ext cx="2135551" cy="216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V="1">
              <a:off x="4983953" y="5616787"/>
              <a:ext cx="2079485" cy="20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V="1">
              <a:off x="5004755" y="5316589"/>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flipV="1">
              <a:off x="5003548" y="4897211"/>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flipV="1">
              <a:off x="5018043" y="5177215"/>
              <a:ext cx="990242" cy="58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flipV="1">
              <a:off x="5511184" y="4397911"/>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flipV="1">
              <a:off x="4978980" y="4712317"/>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V="1">
              <a:off x="5512670" y="4406922"/>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V="1">
              <a:off x="6011388" y="4401619"/>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V="1">
              <a:off x="6024383" y="488261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a:off x="6022087" y="4894633"/>
              <a:ext cx="1022486" cy="23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flipV="1">
              <a:off x="6527308" y="4407212"/>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flipV="1">
              <a:off x="5995104" y="4721618"/>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V="1">
              <a:off x="6528326" y="4425448"/>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flipV="1">
              <a:off x="7032586" y="4420145"/>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flipV="1">
              <a:off x="7057164" y="5316589"/>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flipV="1">
              <a:off x="7030860" y="5292094"/>
              <a:ext cx="110948" cy="43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flipV="1">
              <a:off x="7044573" y="4879971"/>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flipV="1">
              <a:off x="7042116" y="5163903"/>
              <a:ext cx="99692" cy="1041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flipV="1">
              <a:off x="7024644" y="4728587"/>
              <a:ext cx="117164" cy="129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V="1">
              <a:off x="1103634" y="6611101"/>
              <a:ext cx="5953530" cy="473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flipV="1">
              <a:off x="7055567" y="632558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a:off x="7141808" y="4448375"/>
              <a:ext cx="0" cy="1952425"/>
            </a:xfrm>
            <a:prstGeom prst="line">
              <a:avLst/>
            </a:prstGeom>
            <a:ln w="254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flipV="1">
              <a:off x="7141808" y="4721618"/>
              <a:ext cx="413595" cy="6969"/>
            </a:xfrm>
            <a:prstGeom prst="line">
              <a:avLst/>
            </a:prstGeom>
            <a:ln w="412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flipV="1">
              <a:off x="7151537" y="5161852"/>
              <a:ext cx="413595" cy="6969"/>
            </a:xfrm>
            <a:prstGeom prst="line">
              <a:avLst/>
            </a:prstGeom>
            <a:ln w="412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flipV="1">
              <a:off x="7151537" y="5597620"/>
              <a:ext cx="413595" cy="6969"/>
            </a:xfrm>
            <a:prstGeom prst="line">
              <a:avLst/>
            </a:prstGeom>
            <a:ln w="412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7141808" y="5292094"/>
              <a:ext cx="9729" cy="31249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7058678" y="6325580"/>
              <a:ext cx="90265" cy="0"/>
            </a:xfrm>
            <a:prstGeom prst="line">
              <a:avLst/>
            </a:prstGeom>
            <a:ln w="412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flipV="1">
              <a:off x="7152800" y="6617330"/>
              <a:ext cx="1459185" cy="5494"/>
            </a:xfrm>
            <a:prstGeom prst="line">
              <a:avLst/>
            </a:prstGeom>
            <a:ln w="412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a:off x="7151192" y="6325580"/>
              <a:ext cx="5229" cy="28552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flipV="1">
              <a:off x="7141808" y="5747214"/>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a:off x="7151537" y="6096928"/>
              <a:ext cx="1460448" cy="11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a:off x="8049235" y="4141047"/>
              <a:ext cx="56566" cy="269803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flipV="1">
              <a:off x="7564751" y="4422555"/>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flipV="1">
              <a:off x="7566237" y="4431566"/>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7569026" y="5595580"/>
              <a:ext cx="1001294" cy="69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flipV="1">
              <a:off x="7566236" y="5157360"/>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flipV="1">
              <a:off x="8060837" y="489152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flipV="1">
              <a:off x="8058541" y="4902670"/>
              <a:ext cx="531363" cy="8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p:nvPr/>
          </p:nvCxnSpPr>
          <p:spPr>
            <a:xfrm flipV="1">
              <a:off x="8065519" y="4427212"/>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flipV="1">
              <a:off x="8049235" y="4747211"/>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6" name="矩形 265"/>
          <p:cNvSpPr/>
          <p:nvPr/>
        </p:nvSpPr>
        <p:spPr>
          <a:xfrm>
            <a:off x="458741" y="3735026"/>
            <a:ext cx="595035" cy="535531"/>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CP</a:t>
            </a:r>
            <a:endParaRPr lang="en-US" altLang="zh-CN" sz="2400" b="1" dirty="0">
              <a:latin typeface="Times New Roman" panose="02020603050405020304" pitchFamily="18" charset="0"/>
              <a:cs typeface="Times New Roman" panose="02020603050405020304" pitchFamily="18" charset="0"/>
            </a:endParaRPr>
          </a:p>
        </p:txBody>
      </p:sp>
      <p:sp>
        <p:nvSpPr>
          <p:cNvPr id="267" name="矩形 266"/>
          <p:cNvSpPr/>
          <p:nvPr/>
        </p:nvSpPr>
        <p:spPr>
          <a:xfrm>
            <a:off x="471814" y="5713644"/>
            <a:ext cx="526106"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Q</a:t>
            </a:r>
            <a:r>
              <a:rPr lang="en-US" altLang="zh-CN" sz="2400" b="1" baseline="-25000" dirty="0">
                <a:latin typeface="Times New Roman" panose="02020603050405020304" pitchFamily="18" charset="0"/>
                <a:cs typeface="Times New Roman" panose="02020603050405020304" pitchFamily="18" charset="0"/>
              </a:rPr>
              <a:t>3</a:t>
            </a:r>
            <a:endParaRPr lang="en-US" altLang="zh-CN" sz="2400" b="1" baseline="-25000" dirty="0">
              <a:latin typeface="Times New Roman" panose="02020603050405020304" pitchFamily="18" charset="0"/>
              <a:cs typeface="Times New Roman" panose="02020603050405020304" pitchFamily="18" charset="0"/>
            </a:endParaRPr>
          </a:p>
        </p:txBody>
      </p:sp>
      <p:sp>
        <p:nvSpPr>
          <p:cNvPr id="268" name="矩形 267"/>
          <p:cNvSpPr/>
          <p:nvPr/>
        </p:nvSpPr>
        <p:spPr>
          <a:xfrm>
            <a:off x="465340" y="4768971"/>
            <a:ext cx="526106"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Q</a:t>
            </a:r>
            <a:r>
              <a:rPr lang="en-US" altLang="zh-CN" sz="2400" b="1" baseline="-25000" dirty="0">
                <a:latin typeface="Times New Roman" panose="02020603050405020304" pitchFamily="18" charset="0"/>
                <a:cs typeface="Times New Roman" panose="02020603050405020304" pitchFamily="18" charset="0"/>
              </a:rPr>
              <a:t>1</a:t>
            </a:r>
            <a:endParaRPr lang="en-US" altLang="zh-CN" sz="2400" b="1" baseline="-25000" dirty="0">
              <a:latin typeface="Times New Roman" panose="02020603050405020304" pitchFamily="18" charset="0"/>
              <a:cs typeface="Times New Roman" panose="02020603050405020304" pitchFamily="18" charset="0"/>
            </a:endParaRPr>
          </a:p>
        </p:txBody>
      </p:sp>
      <p:sp>
        <p:nvSpPr>
          <p:cNvPr id="269" name="矩形 268"/>
          <p:cNvSpPr/>
          <p:nvPr/>
        </p:nvSpPr>
        <p:spPr>
          <a:xfrm>
            <a:off x="471814" y="5216777"/>
            <a:ext cx="526106"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Q</a:t>
            </a:r>
            <a:r>
              <a:rPr lang="en-US" altLang="zh-CN" sz="2400" b="1" baseline="-25000" dirty="0">
                <a:latin typeface="Times New Roman" panose="02020603050405020304" pitchFamily="18" charset="0"/>
                <a:cs typeface="Times New Roman" panose="02020603050405020304" pitchFamily="18" charset="0"/>
              </a:rPr>
              <a:t>2</a:t>
            </a:r>
            <a:endParaRPr lang="en-US" altLang="zh-CN" sz="2400" b="1" baseline="-25000" dirty="0">
              <a:latin typeface="Times New Roman" panose="02020603050405020304" pitchFamily="18" charset="0"/>
              <a:cs typeface="Times New Roman" panose="02020603050405020304" pitchFamily="18" charset="0"/>
            </a:endParaRPr>
          </a:p>
        </p:txBody>
      </p:sp>
      <p:sp>
        <p:nvSpPr>
          <p:cNvPr id="270" name="矩形 269"/>
          <p:cNvSpPr/>
          <p:nvPr/>
        </p:nvSpPr>
        <p:spPr>
          <a:xfrm>
            <a:off x="451592" y="4239933"/>
            <a:ext cx="526106"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Q</a:t>
            </a:r>
            <a:r>
              <a:rPr lang="en-US" altLang="zh-CN" sz="2400" b="1" baseline="-25000" dirty="0">
                <a:latin typeface="Times New Roman" panose="02020603050405020304" pitchFamily="18" charset="0"/>
                <a:cs typeface="Times New Roman" panose="02020603050405020304" pitchFamily="18" charset="0"/>
              </a:rPr>
              <a:t>0</a:t>
            </a:r>
            <a:endParaRPr lang="en-US" altLang="zh-CN" sz="2400" b="1" baseline="-25000" dirty="0">
              <a:latin typeface="Times New Roman" panose="02020603050405020304" pitchFamily="18" charset="0"/>
              <a:cs typeface="Times New Roman" panose="02020603050405020304" pitchFamily="18" charset="0"/>
            </a:endParaRPr>
          </a:p>
        </p:txBody>
      </p:sp>
      <p:sp>
        <p:nvSpPr>
          <p:cNvPr id="271" name="矩形 270"/>
          <p:cNvSpPr/>
          <p:nvPr/>
        </p:nvSpPr>
        <p:spPr>
          <a:xfrm>
            <a:off x="439892" y="6312225"/>
            <a:ext cx="630301"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CR</a:t>
            </a:r>
            <a:endParaRPr lang="en-US" altLang="zh-CN" sz="2400" b="1" dirty="0">
              <a:latin typeface="Times New Roman" panose="02020603050405020304" pitchFamily="18" charset="0"/>
              <a:cs typeface="Times New Roman" panose="02020603050405020304" pitchFamily="18" charset="0"/>
            </a:endParaRPr>
          </a:p>
        </p:txBody>
      </p:sp>
      <p:grpSp>
        <p:nvGrpSpPr>
          <p:cNvPr id="306" name="组合 305"/>
          <p:cNvGrpSpPr/>
          <p:nvPr/>
        </p:nvGrpSpPr>
        <p:grpSpPr>
          <a:xfrm>
            <a:off x="1478151" y="4323412"/>
            <a:ext cx="344939" cy="1867925"/>
            <a:chOff x="1478151" y="4323412"/>
            <a:chExt cx="344939" cy="1867925"/>
          </a:xfrm>
        </p:grpSpPr>
        <p:sp>
          <p:nvSpPr>
            <p:cNvPr id="273" name="矩形 272"/>
            <p:cNvSpPr/>
            <p:nvPr/>
          </p:nvSpPr>
          <p:spPr>
            <a:xfrm>
              <a:off x="1484536" y="5655806"/>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4" name="矩形 273"/>
            <p:cNvSpPr/>
            <p:nvPr/>
          </p:nvSpPr>
          <p:spPr>
            <a:xfrm>
              <a:off x="1481767" y="5154274"/>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5" name="矩形 274"/>
            <p:cNvSpPr/>
            <p:nvPr/>
          </p:nvSpPr>
          <p:spPr>
            <a:xfrm>
              <a:off x="1480316" y="4716105"/>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6" name="矩形 275"/>
            <p:cNvSpPr/>
            <p:nvPr/>
          </p:nvSpPr>
          <p:spPr>
            <a:xfrm>
              <a:off x="1478151" y="4323412"/>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05" name="组合 304"/>
          <p:cNvGrpSpPr/>
          <p:nvPr/>
        </p:nvGrpSpPr>
        <p:grpSpPr>
          <a:xfrm>
            <a:off x="1074101" y="4323835"/>
            <a:ext cx="352299" cy="1867925"/>
            <a:chOff x="1074101" y="4323835"/>
            <a:chExt cx="352299" cy="1867925"/>
          </a:xfrm>
        </p:grpSpPr>
        <p:sp>
          <p:nvSpPr>
            <p:cNvPr id="277" name="矩形 276"/>
            <p:cNvSpPr/>
            <p:nvPr/>
          </p:nvSpPr>
          <p:spPr>
            <a:xfrm>
              <a:off x="1076870" y="5656229"/>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8" name="矩形 277"/>
            <p:cNvSpPr/>
            <p:nvPr/>
          </p:nvSpPr>
          <p:spPr>
            <a:xfrm>
              <a:off x="1074101" y="5154697"/>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9" name="矩形 278"/>
            <p:cNvSpPr/>
            <p:nvPr/>
          </p:nvSpPr>
          <p:spPr>
            <a:xfrm>
              <a:off x="1087846" y="4716528"/>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80" name="矩形 279"/>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07" name="组合 306"/>
          <p:cNvGrpSpPr/>
          <p:nvPr/>
        </p:nvGrpSpPr>
        <p:grpSpPr>
          <a:xfrm>
            <a:off x="6656829" y="4333880"/>
            <a:ext cx="344939" cy="1829261"/>
            <a:chOff x="6656829" y="4333880"/>
            <a:chExt cx="344939" cy="1829261"/>
          </a:xfrm>
        </p:grpSpPr>
        <p:sp>
          <p:nvSpPr>
            <p:cNvPr id="281" name="矩形 280"/>
            <p:cNvSpPr/>
            <p:nvPr/>
          </p:nvSpPr>
          <p:spPr>
            <a:xfrm>
              <a:off x="6663214" y="566627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82" name="矩形 281"/>
            <p:cNvSpPr/>
            <p:nvPr/>
          </p:nvSpPr>
          <p:spPr>
            <a:xfrm>
              <a:off x="6660445" y="5164742"/>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83" name="矩形 282"/>
            <p:cNvSpPr/>
            <p:nvPr/>
          </p:nvSpPr>
          <p:spPr>
            <a:xfrm>
              <a:off x="6658994" y="4748741"/>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84" name="矩形 283"/>
            <p:cNvSpPr/>
            <p:nvPr/>
          </p:nvSpPr>
          <p:spPr>
            <a:xfrm>
              <a:off x="6656829" y="4333880"/>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03" name="组合 302"/>
          <p:cNvGrpSpPr/>
          <p:nvPr/>
        </p:nvGrpSpPr>
        <p:grpSpPr>
          <a:xfrm>
            <a:off x="6941315" y="4327756"/>
            <a:ext cx="352411" cy="1829261"/>
            <a:chOff x="6941315" y="4327756"/>
            <a:chExt cx="352411" cy="1829261"/>
          </a:xfrm>
        </p:grpSpPr>
        <p:sp>
          <p:nvSpPr>
            <p:cNvPr id="285" name="矩形 284"/>
            <p:cNvSpPr/>
            <p:nvPr/>
          </p:nvSpPr>
          <p:spPr>
            <a:xfrm>
              <a:off x="6941315" y="5660150"/>
              <a:ext cx="338554" cy="496867"/>
            </a:xfrm>
            <a:prstGeom prst="rect">
              <a:avLst/>
            </a:prstGeom>
          </p:spPr>
          <p:txBody>
            <a:bodyPr wrap="none">
              <a:spAutoFit/>
            </a:bodyPr>
            <a:lstStyle/>
            <a:p>
              <a:pPr>
                <a:lnSpc>
                  <a:spcPct val="120000"/>
                </a:lnSpc>
              </a:pPr>
              <a:r>
                <a:rPr lang="en-US" altLang="zh-CN" sz="2400" b="1" dirty="0">
                  <a:solidFill>
                    <a:srgbClr val="FF0000"/>
                  </a:solidFill>
                  <a:latin typeface="Times New Roman" panose="02020603050405020304" pitchFamily="18" charset="0"/>
                  <a:cs typeface="Times New Roman" panose="02020603050405020304" pitchFamily="18" charset="0"/>
                </a:rPr>
                <a:t>1</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286" name="矩形 285"/>
            <p:cNvSpPr/>
            <p:nvPr/>
          </p:nvSpPr>
          <p:spPr>
            <a:xfrm>
              <a:off x="6955172" y="5158618"/>
              <a:ext cx="338554" cy="496867"/>
            </a:xfrm>
            <a:prstGeom prst="rect">
              <a:avLst/>
            </a:prstGeom>
          </p:spPr>
          <p:txBody>
            <a:bodyPr wrap="none">
              <a:spAutoFit/>
            </a:bodyPr>
            <a:lstStyle/>
            <a:p>
              <a:pPr>
                <a:lnSpc>
                  <a:spcPct val="120000"/>
                </a:lnSpc>
              </a:pPr>
              <a:r>
                <a:rPr lang="en-US" altLang="zh-CN" sz="2400" b="1" dirty="0">
                  <a:solidFill>
                    <a:srgbClr val="FF0000"/>
                  </a:solidFill>
                  <a:latin typeface="Times New Roman" panose="02020603050405020304" pitchFamily="18" charset="0"/>
                  <a:cs typeface="Times New Roman" panose="02020603050405020304" pitchFamily="18" charset="0"/>
                </a:rPr>
                <a:t>1</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287" name="矩形 286"/>
            <p:cNvSpPr/>
            <p:nvPr/>
          </p:nvSpPr>
          <p:spPr>
            <a:xfrm>
              <a:off x="6953721" y="4720449"/>
              <a:ext cx="338554" cy="496867"/>
            </a:xfrm>
            <a:prstGeom prst="rect">
              <a:avLst/>
            </a:prstGeom>
          </p:spPr>
          <p:txBody>
            <a:bodyPr wrap="none">
              <a:spAutoFit/>
            </a:bodyPr>
            <a:lstStyle/>
            <a:p>
              <a:pPr>
                <a:lnSpc>
                  <a:spcPct val="120000"/>
                </a:lnSpc>
              </a:pPr>
              <a:r>
                <a:rPr lang="en-US" altLang="zh-CN" sz="2400" b="1" dirty="0">
                  <a:solidFill>
                    <a:srgbClr val="FF0000"/>
                  </a:solidFill>
                  <a:latin typeface="Times New Roman" panose="02020603050405020304" pitchFamily="18" charset="0"/>
                  <a:cs typeface="Times New Roman" panose="02020603050405020304" pitchFamily="18" charset="0"/>
                </a:rPr>
                <a:t>0</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288" name="矩形 287"/>
            <p:cNvSpPr/>
            <p:nvPr/>
          </p:nvSpPr>
          <p:spPr>
            <a:xfrm>
              <a:off x="6951556" y="4327756"/>
              <a:ext cx="338554" cy="496867"/>
            </a:xfrm>
            <a:prstGeom prst="rect">
              <a:avLst/>
            </a:prstGeom>
          </p:spPr>
          <p:txBody>
            <a:bodyPr wrap="none">
              <a:spAutoFit/>
            </a:bodyPr>
            <a:lstStyle/>
            <a:p>
              <a:pPr>
                <a:lnSpc>
                  <a:spcPct val="120000"/>
                </a:lnSpc>
              </a:pPr>
              <a:r>
                <a:rPr lang="en-US" altLang="zh-CN" sz="2400" b="1" dirty="0">
                  <a:solidFill>
                    <a:srgbClr val="FF0000"/>
                  </a:solidFill>
                  <a:latin typeface="Times New Roman" panose="02020603050405020304" pitchFamily="18" charset="0"/>
                  <a:cs typeface="Times New Roman" panose="02020603050405020304" pitchFamily="18" charset="0"/>
                </a:rPr>
                <a:t>0</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grpSp>
      <p:grpSp>
        <p:nvGrpSpPr>
          <p:cNvPr id="302" name="组合 301"/>
          <p:cNvGrpSpPr/>
          <p:nvPr/>
        </p:nvGrpSpPr>
        <p:grpSpPr>
          <a:xfrm>
            <a:off x="7248347" y="4323412"/>
            <a:ext cx="344939" cy="1829261"/>
            <a:chOff x="7248347" y="4323412"/>
            <a:chExt cx="344939" cy="1829261"/>
          </a:xfrm>
        </p:grpSpPr>
        <p:sp>
          <p:nvSpPr>
            <p:cNvPr id="297" name="矩形 296"/>
            <p:cNvSpPr/>
            <p:nvPr/>
          </p:nvSpPr>
          <p:spPr>
            <a:xfrm>
              <a:off x="7254732" y="5655806"/>
              <a:ext cx="338554" cy="496867"/>
            </a:xfrm>
            <a:prstGeom prst="rect">
              <a:avLst/>
            </a:prstGeom>
          </p:spPr>
          <p:txBody>
            <a:bodyPr wrap="none">
              <a:spAutoFit/>
            </a:bodyPr>
            <a:lstStyle/>
            <a:p>
              <a:pPr>
                <a:lnSpc>
                  <a:spcPct val="120000"/>
                </a:lnSpc>
              </a:pPr>
              <a:r>
                <a:rPr lang="en-US" altLang="zh-CN" sz="2400" b="1" dirty="0">
                  <a:solidFill>
                    <a:schemeClr val="accent6"/>
                  </a:solidFill>
                  <a:latin typeface="Times New Roman" panose="02020603050405020304" pitchFamily="18" charset="0"/>
                  <a:cs typeface="Times New Roman" panose="02020603050405020304" pitchFamily="18" charset="0"/>
                </a:rPr>
                <a:t>0</a:t>
              </a:r>
              <a:endParaRPr lang="en-US" altLang="zh-CN" sz="2400" b="1" dirty="0">
                <a:solidFill>
                  <a:schemeClr val="accent6"/>
                </a:solidFill>
                <a:latin typeface="Times New Roman" panose="02020603050405020304" pitchFamily="18" charset="0"/>
                <a:cs typeface="Times New Roman" panose="02020603050405020304" pitchFamily="18" charset="0"/>
              </a:endParaRPr>
            </a:p>
          </p:txBody>
        </p:sp>
        <p:sp>
          <p:nvSpPr>
            <p:cNvPr id="298" name="矩形 297"/>
            <p:cNvSpPr/>
            <p:nvPr/>
          </p:nvSpPr>
          <p:spPr>
            <a:xfrm>
              <a:off x="7251963" y="5154274"/>
              <a:ext cx="338554" cy="496867"/>
            </a:xfrm>
            <a:prstGeom prst="rect">
              <a:avLst/>
            </a:prstGeom>
          </p:spPr>
          <p:txBody>
            <a:bodyPr wrap="none">
              <a:spAutoFit/>
            </a:bodyPr>
            <a:lstStyle/>
            <a:p>
              <a:pPr>
                <a:lnSpc>
                  <a:spcPct val="120000"/>
                </a:lnSpc>
              </a:pPr>
              <a:r>
                <a:rPr lang="en-US" altLang="zh-CN" sz="2400" b="1" dirty="0">
                  <a:solidFill>
                    <a:schemeClr val="accent6"/>
                  </a:solidFill>
                  <a:latin typeface="Times New Roman" panose="02020603050405020304" pitchFamily="18" charset="0"/>
                  <a:cs typeface="Times New Roman" panose="02020603050405020304" pitchFamily="18" charset="0"/>
                </a:rPr>
                <a:t>0</a:t>
              </a:r>
              <a:endParaRPr lang="en-US" altLang="zh-CN" sz="2400" b="1" dirty="0">
                <a:solidFill>
                  <a:schemeClr val="accent6"/>
                </a:solidFill>
                <a:latin typeface="Times New Roman" panose="02020603050405020304" pitchFamily="18" charset="0"/>
                <a:cs typeface="Times New Roman" panose="02020603050405020304" pitchFamily="18" charset="0"/>
              </a:endParaRPr>
            </a:p>
          </p:txBody>
        </p:sp>
        <p:sp>
          <p:nvSpPr>
            <p:cNvPr id="299" name="矩形 298"/>
            <p:cNvSpPr/>
            <p:nvPr/>
          </p:nvSpPr>
          <p:spPr>
            <a:xfrm>
              <a:off x="7250512" y="4716105"/>
              <a:ext cx="338554" cy="496867"/>
            </a:xfrm>
            <a:prstGeom prst="rect">
              <a:avLst/>
            </a:prstGeom>
          </p:spPr>
          <p:txBody>
            <a:bodyPr wrap="none">
              <a:spAutoFit/>
            </a:bodyPr>
            <a:lstStyle/>
            <a:p>
              <a:pPr>
                <a:lnSpc>
                  <a:spcPct val="120000"/>
                </a:lnSpc>
              </a:pPr>
              <a:r>
                <a:rPr lang="en-US" altLang="zh-CN" sz="2400" b="1" dirty="0">
                  <a:solidFill>
                    <a:schemeClr val="accent6"/>
                  </a:solidFill>
                  <a:latin typeface="Times New Roman" panose="02020603050405020304" pitchFamily="18" charset="0"/>
                  <a:cs typeface="Times New Roman" panose="02020603050405020304" pitchFamily="18" charset="0"/>
                </a:rPr>
                <a:t>0</a:t>
              </a:r>
              <a:endParaRPr lang="en-US" altLang="zh-CN" sz="2400" b="1" dirty="0">
                <a:solidFill>
                  <a:schemeClr val="accent6"/>
                </a:solidFill>
                <a:latin typeface="Times New Roman" panose="02020603050405020304" pitchFamily="18" charset="0"/>
                <a:cs typeface="Times New Roman" panose="02020603050405020304" pitchFamily="18" charset="0"/>
              </a:endParaRPr>
            </a:p>
          </p:txBody>
        </p:sp>
        <p:sp>
          <p:nvSpPr>
            <p:cNvPr id="300" name="矩形 299"/>
            <p:cNvSpPr/>
            <p:nvPr/>
          </p:nvSpPr>
          <p:spPr>
            <a:xfrm>
              <a:off x="7248347" y="4323412"/>
              <a:ext cx="338554" cy="496867"/>
            </a:xfrm>
            <a:prstGeom prst="rect">
              <a:avLst/>
            </a:prstGeom>
          </p:spPr>
          <p:txBody>
            <a:bodyPr wrap="none">
              <a:spAutoFit/>
            </a:bodyPr>
            <a:lstStyle/>
            <a:p>
              <a:pPr>
                <a:lnSpc>
                  <a:spcPct val="120000"/>
                </a:lnSpc>
              </a:pPr>
              <a:r>
                <a:rPr lang="en-US" altLang="zh-CN" sz="2400" b="1" dirty="0">
                  <a:solidFill>
                    <a:schemeClr val="accent6"/>
                  </a:solidFill>
                  <a:latin typeface="Times New Roman" panose="02020603050405020304" pitchFamily="18" charset="0"/>
                  <a:cs typeface="Times New Roman" panose="02020603050405020304" pitchFamily="18" charset="0"/>
                </a:rPr>
                <a:t>0</a:t>
              </a:r>
              <a:endParaRPr lang="en-US" altLang="zh-CN" sz="2400" b="1" dirty="0">
                <a:solidFill>
                  <a:schemeClr val="accent6"/>
                </a:solidFill>
                <a:latin typeface="Times New Roman" panose="02020603050405020304" pitchFamily="18" charset="0"/>
                <a:cs typeface="Times New Roman" panose="02020603050405020304" pitchFamily="18" charset="0"/>
              </a:endParaRPr>
            </a:p>
          </p:txBody>
        </p:sp>
      </p:grpSp>
      <p:sp>
        <p:nvSpPr>
          <p:cNvPr id="301" name="矩形标注 300"/>
          <p:cNvSpPr/>
          <p:nvPr/>
        </p:nvSpPr>
        <p:spPr>
          <a:xfrm>
            <a:off x="7465790" y="2580750"/>
            <a:ext cx="1639417" cy="611313"/>
          </a:xfrm>
          <a:prstGeom prst="wedgeRectCallout">
            <a:avLst>
              <a:gd name="adj1" fmla="val -49200"/>
              <a:gd name="adj2" fmla="val 34838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6"/>
                </a:solidFill>
                <a:latin typeface="黑体" panose="02010609060101010101" pitchFamily="49" charset="-122"/>
                <a:ea typeface="黑体" panose="02010609060101010101" pitchFamily="49" charset="-122"/>
              </a:rPr>
              <a:t>异步清零</a:t>
            </a:r>
            <a:endParaRPr lang="zh-CN" altLang="en-US" sz="2800" b="1" dirty="0">
              <a:solidFill>
                <a:schemeClr val="accent6"/>
              </a:solidFill>
              <a:latin typeface="黑体" panose="02010609060101010101" pitchFamily="49" charset="-122"/>
              <a:ea typeface="黑体" panose="02010609060101010101" pitchFamily="49" charset="-122"/>
            </a:endParaRPr>
          </a:p>
        </p:txBody>
      </p:sp>
      <p:sp>
        <p:nvSpPr>
          <p:cNvPr id="304" name="矩形标注 303"/>
          <p:cNvSpPr/>
          <p:nvPr/>
        </p:nvSpPr>
        <p:spPr>
          <a:xfrm>
            <a:off x="7997292" y="6163141"/>
            <a:ext cx="1146708" cy="389020"/>
          </a:xfrm>
          <a:prstGeom prst="wedgeRectCallout">
            <a:avLst>
              <a:gd name="adj1" fmla="val -127245"/>
              <a:gd name="adj2" fmla="val 521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latin typeface="黑体" panose="02010609060101010101" pitchFamily="49" charset="-122"/>
                <a:ea typeface="黑体" panose="02010609060101010101" pitchFamily="49" charset="-122"/>
              </a:rPr>
              <a:t>清零有效</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矩形标注 1"/>
          <p:cNvSpPr/>
          <p:nvPr/>
        </p:nvSpPr>
        <p:spPr>
          <a:xfrm>
            <a:off x="5938260" y="2744973"/>
            <a:ext cx="1079259" cy="447090"/>
          </a:xfrm>
          <a:prstGeom prst="wedgeRectCallout">
            <a:avLst>
              <a:gd name="adj1" fmla="val 56362"/>
              <a:gd name="adj2" fmla="val 356686"/>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FFFF00"/>
                </a:solidFill>
                <a:latin typeface="黑体" panose="02010609060101010101" pitchFamily="49" charset="-122"/>
                <a:ea typeface="黑体" panose="02010609060101010101" pitchFamily="49" charset="-122"/>
              </a:rPr>
              <a:t>暂态</a:t>
            </a:r>
            <a:endParaRPr lang="zh-CN" altLang="en-US" sz="2800" b="1" dirty="0">
              <a:solidFill>
                <a:srgbClr val="FFFF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wipe(down)">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6"/>
                                        </p:tgtEl>
                                        <p:attrNameLst>
                                          <p:attrName>style.visibility</p:attrName>
                                        </p:attrNameLst>
                                      </p:cBhvr>
                                      <p:to>
                                        <p:strVal val="visible"/>
                                      </p:to>
                                    </p:set>
                                    <p:animEffect transition="in" filter="wipe(down)">
                                      <p:cBhvr>
                                        <p:cTn id="12" dur="500"/>
                                        <p:tgtEl>
                                          <p:spTgt spid="3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7"/>
                                        </p:tgtEl>
                                        <p:attrNameLst>
                                          <p:attrName>style.visibility</p:attrName>
                                        </p:attrNameLst>
                                      </p:cBhvr>
                                      <p:to>
                                        <p:strVal val="visible"/>
                                      </p:to>
                                    </p:set>
                                    <p:animEffect transition="in" filter="wipe(down)">
                                      <p:cBhvr>
                                        <p:cTn id="17" dur="500"/>
                                        <p:tgtEl>
                                          <p:spTgt spid="3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03"/>
                                        </p:tgtEl>
                                        <p:attrNameLst>
                                          <p:attrName>style.visibility</p:attrName>
                                        </p:attrNameLst>
                                      </p:cBhvr>
                                      <p:to>
                                        <p:strVal val="visible"/>
                                      </p:to>
                                    </p:set>
                                    <p:animEffect transition="in" filter="wipe(down)">
                                      <p:cBhvr>
                                        <p:cTn id="22" dur="500"/>
                                        <p:tgtEl>
                                          <p:spTgt spid="303"/>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ircle(in)">
                                      <p:cBhvr>
                                        <p:cTn id="27" dur="2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04"/>
                                        </p:tgtEl>
                                        <p:attrNameLst>
                                          <p:attrName>style.visibility</p:attrName>
                                        </p:attrNameLst>
                                      </p:cBhvr>
                                      <p:to>
                                        <p:strVal val="visible"/>
                                      </p:to>
                                    </p:set>
                                    <p:animEffect transition="in" filter="circle(in)">
                                      <p:cBhvr>
                                        <p:cTn id="32" dur="2000"/>
                                        <p:tgtEl>
                                          <p:spTgt spid="30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02"/>
                                        </p:tgtEl>
                                        <p:attrNameLst>
                                          <p:attrName>style.visibility</p:attrName>
                                        </p:attrNameLst>
                                      </p:cBhvr>
                                      <p:to>
                                        <p:strVal val="visible"/>
                                      </p:to>
                                    </p:set>
                                    <p:animEffect transition="in" filter="wipe(down)">
                                      <p:cBhvr>
                                        <p:cTn id="37" dur="500"/>
                                        <p:tgtEl>
                                          <p:spTgt spid="30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01"/>
                                        </p:tgtEl>
                                        <p:attrNameLst>
                                          <p:attrName>style.visibility</p:attrName>
                                        </p:attrNameLst>
                                      </p:cBhvr>
                                      <p:to>
                                        <p:strVal val="visible"/>
                                      </p:to>
                                    </p:set>
                                    <p:animEffect transition="in" filter="circle(in)">
                                      <p:cBhvr>
                                        <p:cTn id="42" dur="20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 grpId="0" animBg="1"/>
      <p:bldP spid="304" grpId="0" animBg="1"/>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反馈置数法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49" name="Text Box 4"/>
          <p:cNvSpPr txBox="1">
            <a:spLocks noChangeArrowheads="1"/>
          </p:cNvSpPr>
          <p:nvPr/>
        </p:nvSpPr>
        <p:spPr bwMode="auto">
          <a:xfrm>
            <a:off x="495300" y="1731624"/>
            <a:ext cx="8153400" cy="2800767"/>
          </a:xfrm>
          <a:prstGeom prst="rect">
            <a:avLst/>
          </a:prstGeom>
          <a:noFill/>
          <a:ln w="9525">
            <a:solidFill>
              <a:schemeClr val="accent1"/>
            </a:solidFill>
            <a:miter lim="800000"/>
          </a:ln>
          <a:effectLst/>
        </p:spPr>
        <p:txBody>
          <a:bodyPr>
            <a:spAutoFit/>
          </a:bodyPr>
          <a:lstStyle/>
          <a:p>
            <a:pPr marL="457200" indent="-457200" algn="just" defTabSz="914400" fontAlgn="base">
              <a:lnSpc>
                <a:spcPct val="115000"/>
              </a:lnSpc>
              <a:spcAft>
                <a:spcPts val="1200"/>
              </a:spcAft>
              <a:buFont typeface="Wingdings" panose="05000000000000000000" pitchFamily="2" charset="2"/>
              <a:buChar char="Ø"/>
              <a:defRPr/>
            </a:pPr>
            <a:r>
              <a:rPr kumimoji="1" lang="zh-CN" altLang="en-US" sz="2800" b="1" dirty="0">
                <a:solidFill>
                  <a:srgbClr val="FF0000"/>
                </a:solidFill>
                <a:latin typeface="黑体" panose="02010609060101010101" pitchFamily="49" charset="-122"/>
                <a:ea typeface="黑体" panose="02010609060101010101" pitchFamily="49" charset="-122"/>
              </a:rPr>
              <a:t>清</a:t>
            </a:r>
            <a:r>
              <a:rPr kumimoji="1" lang="en-US" altLang="zh-CN" sz="2800" b="1" dirty="0">
                <a:solidFill>
                  <a:srgbClr val="FF0000"/>
                </a:solidFill>
                <a:latin typeface="黑体" panose="02010609060101010101" pitchFamily="49" charset="-122"/>
                <a:ea typeface="黑体" panose="02010609060101010101" pitchFamily="49" charset="-122"/>
              </a:rPr>
              <a:t>0</a:t>
            </a:r>
            <a:r>
              <a:rPr kumimoji="1" lang="zh-CN" altLang="en-US" sz="2800" b="1" dirty="0">
                <a:solidFill>
                  <a:srgbClr val="FF0000"/>
                </a:solidFill>
                <a:latin typeface="黑体" panose="02010609060101010101" pitchFamily="49" charset="-122"/>
                <a:ea typeface="黑体" panose="02010609060101010101" pitchFamily="49" charset="-122"/>
              </a:rPr>
              <a:t>法</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中，计数器每次都是从全</a:t>
            </a:r>
            <a:r>
              <a:rPr kumimoji="1" lang="en-US" altLang="zh-CN" sz="2800" b="1" dirty="0">
                <a:solidFill>
                  <a:srgbClr val="3333CC">
                    <a:lumMod val="50000"/>
                  </a:srgbClr>
                </a:solidFill>
                <a:latin typeface="黑体" panose="02010609060101010101" pitchFamily="49" charset="-122"/>
                <a:ea typeface="黑体" panose="02010609060101010101" pitchFamily="49" charset="-122"/>
              </a:rPr>
              <a:t>0</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状态</a:t>
            </a:r>
            <a:r>
              <a:rPr kumimoji="1" lang="en-US" altLang="zh-CN" sz="2800" b="1" dirty="0">
                <a:solidFill>
                  <a:srgbClr val="3333CC">
                    <a:lumMod val="50000"/>
                  </a:srgbClr>
                </a:solidFill>
                <a:latin typeface="黑体" panose="02010609060101010101" pitchFamily="49" charset="-122"/>
                <a:ea typeface="黑体" panose="02010609060101010101" pitchFamily="49" charset="-122"/>
              </a:rPr>
              <a:t>S0</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开始计数</a:t>
            </a: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a:p>
            <a:pPr marL="457200" indent="-457200" algn="just" defTabSz="914400" fontAlgn="base">
              <a:lnSpc>
                <a:spcPct val="115000"/>
              </a:lnSpc>
              <a:spcBef>
                <a:spcPts val="600"/>
              </a:spcBef>
              <a:spcAft>
                <a:spcPct val="0"/>
              </a:spcAft>
              <a:buFont typeface="Wingdings" panose="05000000000000000000" pitchFamily="2" charset="2"/>
              <a:buChar char="Ø"/>
              <a:defRPr/>
            </a:pPr>
            <a:r>
              <a:rPr kumimoji="1" lang="zh-CN" altLang="en-US" sz="2800" b="1" dirty="0">
                <a:solidFill>
                  <a:srgbClr val="FF0000"/>
                </a:solidFill>
                <a:latin typeface="黑体" panose="02010609060101010101" pitchFamily="49" charset="-122"/>
                <a:ea typeface="黑体" panose="02010609060101010101" pitchFamily="49" charset="-122"/>
              </a:rPr>
              <a:t>置数法</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可以通过预置功能使计数器从某个预置状态</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S</a:t>
            </a:r>
            <a:r>
              <a:rPr kumimoji="1" lang="en-US" altLang="zh-CN" sz="2800" b="1" i="1" baseline="-25000" dirty="0">
                <a:solidFill>
                  <a:srgbClr val="3333CC">
                    <a:lumMod val="50000"/>
                  </a:srgbClr>
                </a:solidFill>
                <a:latin typeface="黑体" panose="02010609060101010101" pitchFamily="49" charset="-122"/>
                <a:ea typeface="黑体" panose="02010609060101010101" pitchFamily="49" charset="-122"/>
              </a:rPr>
              <a:t>i</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开始计数，计满</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M </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个状态后产生置数信号，使计数器又进入预置状态</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S</a:t>
            </a:r>
            <a:r>
              <a:rPr kumimoji="1" lang="en-US" altLang="zh-CN" sz="2800" b="1" i="1" baseline="-25000" dirty="0">
                <a:solidFill>
                  <a:srgbClr val="3333CC">
                    <a:lumMod val="50000"/>
                  </a:srgbClr>
                </a:solidFill>
                <a:latin typeface="黑体" panose="02010609060101010101" pitchFamily="49" charset="-122"/>
                <a:ea typeface="黑体" panose="02010609060101010101" pitchFamily="49" charset="-122"/>
              </a:rPr>
              <a:t>i</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，然后再重复上述过程。</a:t>
            </a:r>
            <a:endParaRPr kumimoji="1" lang="zh-CN" altLang="en-US" sz="2800" b="1" dirty="0">
              <a:solidFill>
                <a:srgbClr val="3333CC">
                  <a:lumMod val="50000"/>
                </a:srgbClr>
              </a:solidFill>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反馈置数法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50" name="矩形 49"/>
          <p:cNvSpPr/>
          <p:nvPr/>
        </p:nvSpPr>
        <p:spPr>
          <a:xfrm>
            <a:off x="3887768" y="1518761"/>
            <a:ext cx="4525231" cy="3539430"/>
          </a:xfrm>
          <a:prstGeom prst="rect">
            <a:avLst/>
          </a:prstGeom>
          <a:ln>
            <a:solidFill>
              <a:schemeClr val="tx1"/>
            </a:solidFill>
          </a:ln>
        </p:spPr>
        <p:txBody>
          <a:bodyPr wrap="square">
            <a:spAutoFit/>
          </a:bodyPr>
          <a:lstStyle/>
          <a:p>
            <a:pPr defTabSz="914400" fontAlgn="base">
              <a:spcBef>
                <a:spcPct val="0"/>
              </a:spcBef>
              <a:spcAft>
                <a:spcPct val="0"/>
              </a:spcAft>
              <a:defRPr/>
            </a:pPr>
            <a:r>
              <a:rPr kumimoji="1" lang="zh-CN" altLang="en-US" sz="2800" b="1" dirty="0">
                <a:solidFill>
                  <a:srgbClr val="C00000"/>
                </a:solidFill>
                <a:latin typeface="黑体" panose="02010609060101010101" pitchFamily="49" charset="-122"/>
                <a:ea typeface="黑体" panose="02010609060101010101" pitchFamily="49" charset="-122"/>
              </a:rPr>
              <a:t>异步</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置数：</a:t>
            </a: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a:p>
            <a:pPr defTabSz="914400" fontAlgn="base">
              <a:spcBef>
                <a:spcPct val="0"/>
              </a:spcBef>
              <a:spcAft>
                <a:spcPct val="0"/>
              </a:spcAft>
              <a:defRPr/>
            </a:pPr>
            <a:r>
              <a:rPr kumimoji="1" lang="zh-CN" altLang="en-US" sz="2800" b="1" dirty="0">
                <a:solidFill>
                  <a:srgbClr val="3333CC">
                    <a:lumMod val="50000"/>
                  </a:srgbClr>
                </a:solidFill>
                <a:latin typeface="黑体" panose="02010609060101010101" pitchFamily="49" charset="-122"/>
                <a:ea typeface="黑体" panose="02010609060101010101" pitchFamily="49" charset="-122"/>
              </a:rPr>
              <a:t>在暂态</a:t>
            </a:r>
            <a:r>
              <a:rPr kumimoji="1" lang="en-US" altLang="zh-CN" sz="2800" b="1" i="1" dirty="0" err="1">
                <a:solidFill>
                  <a:srgbClr val="0000FF"/>
                </a:solidFill>
                <a:latin typeface="黑体" panose="02010609060101010101" pitchFamily="49" charset="-122"/>
                <a:ea typeface="黑体" panose="02010609060101010101" pitchFamily="49" charset="-122"/>
              </a:rPr>
              <a:t>S</a:t>
            </a:r>
            <a:r>
              <a:rPr kumimoji="1" lang="en-US" altLang="zh-CN" sz="2800" b="1" i="1" baseline="-25000" dirty="0" err="1">
                <a:solidFill>
                  <a:srgbClr val="0000FF"/>
                </a:solidFill>
                <a:latin typeface="黑体" panose="02010609060101010101" pitchFamily="49" charset="-122"/>
                <a:ea typeface="黑体" panose="02010609060101010101" pitchFamily="49" charset="-122"/>
              </a:rPr>
              <a:t>i+M</a:t>
            </a:r>
            <a:r>
              <a:rPr kumimoji="1" lang="en-US" altLang="zh-CN" sz="2800" b="1" i="1" baseline="-25000" dirty="0">
                <a:solidFill>
                  <a:srgbClr val="3333CC">
                    <a:lumMod val="50000"/>
                  </a:srgbClr>
                </a:solidFill>
                <a:latin typeface="黑体" panose="02010609060101010101" pitchFamily="49" charset="-122"/>
                <a:ea typeface="黑体" panose="02010609060101010101" pitchFamily="49" charset="-122"/>
              </a:rPr>
              <a:t> </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产生</a:t>
            </a:r>
            <a:r>
              <a:rPr kumimoji="1" lang="zh-CN" altLang="en-US" sz="2800" b="1" dirty="0">
                <a:solidFill>
                  <a:srgbClr val="0000FF"/>
                </a:solidFill>
                <a:latin typeface="黑体" panose="02010609060101010101" pitchFamily="49" charset="-122"/>
                <a:ea typeface="黑体" panose="02010609060101010101" pitchFamily="49" charset="-122"/>
              </a:rPr>
              <a:t>置数</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信号，并马上将</a:t>
            </a:r>
            <a:r>
              <a:rPr kumimoji="1" lang="zh-CN" altLang="en-US" sz="2800" b="1" dirty="0">
                <a:solidFill>
                  <a:srgbClr val="FF0000"/>
                </a:solidFill>
                <a:latin typeface="黑体" panose="02010609060101010101" pitchFamily="49" charset="-122"/>
                <a:ea typeface="黑体" panose="02010609060101010101" pitchFamily="49" charset="-122"/>
              </a:rPr>
              <a:t>预置数</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置于计数器</a:t>
            </a: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a:p>
            <a:pPr defTabSz="914400" fontAlgn="base">
              <a:spcBef>
                <a:spcPct val="0"/>
              </a:spcBef>
              <a:spcAft>
                <a:spcPct val="0"/>
              </a:spcAft>
              <a:defRPr/>
            </a:pP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a:p>
            <a:pPr defTabSz="914400" fontAlgn="base">
              <a:spcBef>
                <a:spcPct val="0"/>
              </a:spcBef>
              <a:spcAft>
                <a:spcPct val="0"/>
              </a:spcAft>
              <a:defRPr/>
            </a:pPr>
            <a:r>
              <a:rPr kumimoji="1" lang="zh-CN" altLang="en-US" sz="2800" b="1" dirty="0">
                <a:solidFill>
                  <a:srgbClr val="C00000"/>
                </a:solidFill>
                <a:latin typeface="黑体" panose="02010609060101010101" pitchFamily="49" charset="-122"/>
                <a:ea typeface="黑体" panose="02010609060101010101" pitchFamily="49" charset="-122"/>
              </a:rPr>
              <a:t>同步</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置数：在状态</a:t>
            </a:r>
            <a:r>
              <a:rPr kumimoji="1" lang="en-US" altLang="zh-CN" sz="2800" b="1" i="1" dirty="0">
                <a:solidFill>
                  <a:srgbClr val="0000FF"/>
                </a:solidFill>
                <a:latin typeface="黑体" panose="02010609060101010101" pitchFamily="49" charset="-122"/>
                <a:ea typeface="黑体" panose="02010609060101010101" pitchFamily="49" charset="-122"/>
              </a:rPr>
              <a:t>S</a:t>
            </a:r>
            <a:r>
              <a:rPr kumimoji="1" lang="en-US" altLang="zh-CN" sz="2800" b="1" i="1" baseline="-25000" dirty="0">
                <a:solidFill>
                  <a:srgbClr val="0000FF"/>
                </a:solidFill>
                <a:latin typeface="黑体" panose="02010609060101010101" pitchFamily="49" charset="-122"/>
                <a:ea typeface="黑体" panose="02010609060101010101" pitchFamily="49" charset="-122"/>
              </a:rPr>
              <a:t>i+M-1</a:t>
            </a:r>
            <a:r>
              <a:rPr kumimoji="1" lang="zh-CN" altLang="en-US" sz="2800" b="1" dirty="0">
                <a:solidFill>
                  <a:srgbClr val="0000FF"/>
                </a:solidFill>
                <a:latin typeface="黑体" panose="02010609060101010101" pitchFamily="49" charset="-122"/>
                <a:ea typeface="黑体" panose="02010609060101010101" pitchFamily="49" charset="-122"/>
              </a:rPr>
              <a:t> </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产生</a:t>
            </a:r>
            <a:r>
              <a:rPr kumimoji="1" lang="zh-CN" altLang="en-US" sz="2800" b="1" dirty="0">
                <a:solidFill>
                  <a:srgbClr val="0000FF"/>
                </a:solidFill>
                <a:latin typeface="黑体" panose="02010609060101010101" pitchFamily="49" charset="-122"/>
                <a:ea typeface="黑体" panose="02010609060101010101" pitchFamily="49" charset="-122"/>
              </a:rPr>
              <a:t>置数</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信号，要等</a:t>
            </a:r>
            <a:r>
              <a:rPr kumimoji="1" lang="zh-CN" altLang="en-US" sz="2800" b="1" dirty="0">
                <a:solidFill>
                  <a:srgbClr val="FF0000"/>
                </a:solidFill>
                <a:latin typeface="黑体" panose="02010609060101010101" pitchFamily="49" charset="-122"/>
                <a:ea typeface="黑体" panose="02010609060101010101" pitchFamily="49" charset="-122"/>
              </a:rPr>
              <a:t>下一个</a:t>
            </a:r>
            <a:r>
              <a:rPr kumimoji="1" lang="en-US" altLang="zh-CN" sz="2800" b="1" i="1" dirty="0">
                <a:solidFill>
                  <a:srgbClr val="FF0000"/>
                </a:solidFill>
                <a:latin typeface="黑体" panose="02010609060101010101" pitchFamily="49" charset="-122"/>
                <a:ea typeface="黑体" panose="02010609060101010101" pitchFamily="49" charset="-122"/>
              </a:rPr>
              <a:t>CP </a:t>
            </a:r>
            <a:r>
              <a:rPr kumimoji="1" lang="zh-CN" altLang="en-US" sz="2800" b="1" dirty="0">
                <a:solidFill>
                  <a:srgbClr val="FF0000"/>
                </a:solidFill>
                <a:latin typeface="黑体" panose="02010609060101010101" pitchFamily="49" charset="-122"/>
                <a:ea typeface="黑体" panose="02010609060101010101" pitchFamily="49" charset="-122"/>
              </a:rPr>
              <a:t>到来时</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，才将预置数置入计数器，故无暂态</a:t>
            </a:r>
            <a:endParaRPr kumimoji="1" lang="zh-CN" altLang="en-US" sz="2800" dirty="0">
              <a:solidFill>
                <a:srgbClr val="000000"/>
              </a:solidFill>
              <a:latin typeface="黑体" panose="02010609060101010101" pitchFamily="49" charset="-122"/>
              <a:ea typeface="黑体" panose="02010609060101010101" pitchFamily="49" charset="-122"/>
            </a:endParaRPr>
          </a:p>
        </p:txBody>
      </p:sp>
      <p:grpSp>
        <p:nvGrpSpPr>
          <p:cNvPr id="55" name="组合 54"/>
          <p:cNvGrpSpPr/>
          <p:nvPr/>
        </p:nvGrpSpPr>
        <p:grpSpPr>
          <a:xfrm>
            <a:off x="408409" y="1893382"/>
            <a:ext cx="3286125" cy="3059112"/>
            <a:chOff x="769720" y="3054734"/>
            <a:chExt cx="3286125" cy="3059112"/>
          </a:xfrm>
        </p:grpSpPr>
        <p:pic>
          <p:nvPicPr>
            <p:cNvPr id="51" name="Picture 2"/>
            <p:cNvPicPr>
              <a:picLocks noChangeAspect="1" noChangeArrowheads="1"/>
            </p:cNvPicPr>
            <p:nvPr/>
          </p:nvPicPr>
          <p:blipFill>
            <a:blip r:embed="rId2">
              <a:extLst>
                <a:ext uri="{28A0092B-C50C-407E-A947-70E740481C1C}">
                  <a14:useLocalDpi xmlns:a14="http://schemas.microsoft.com/office/drawing/2010/main" val="0"/>
                </a:ext>
              </a:extLst>
            </a:blip>
            <a:srcRect l="50000" b="8224"/>
            <a:stretch>
              <a:fillRect/>
            </a:stretch>
          </p:blipFill>
          <p:spPr bwMode="auto">
            <a:xfrm>
              <a:off x="769720" y="3054734"/>
              <a:ext cx="3286125" cy="305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箭头连接符 3"/>
            <p:cNvCxnSpPr/>
            <p:nvPr/>
          </p:nvCxnSpPr>
          <p:spPr>
            <a:xfrm flipV="1">
              <a:off x="1560685" y="3493468"/>
              <a:ext cx="1920452" cy="1912721"/>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rot="18911043">
              <a:off x="1770648" y="3986464"/>
              <a:ext cx="1423737" cy="461665"/>
            </a:xfrm>
            <a:prstGeom prst="rect">
              <a:avLst/>
            </a:prstGeom>
            <a:noFill/>
          </p:spPr>
          <p:txBody>
            <a:bodyPr wrap="square" rtlCol="0">
              <a:spAutoFit/>
            </a:bodyPr>
            <a:lstStyle/>
            <a:p>
              <a:r>
                <a:rPr lang="zh-CN" altLang="en-US" sz="2400" dirty="0">
                  <a:solidFill>
                    <a:srgbClr val="FF0000"/>
                  </a:solidFill>
                </a:rPr>
                <a:t>异步置数</a:t>
              </a:r>
              <a:endParaRPr lang="zh-CN" altLang="en-US" sz="2400" dirty="0">
                <a:solidFill>
                  <a:srgbClr val="FF0000"/>
                </a:solidFill>
              </a:endParaRPr>
            </a:p>
          </p:txBody>
        </p:sp>
        <p:cxnSp>
          <p:nvCxnSpPr>
            <p:cNvPr id="26" name="直接箭头连接符 25"/>
            <p:cNvCxnSpPr/>
            <p:nvPr/>
          </p:nvCxnSpPr>
          <p:spPr>
            <a:xfrm flipV="1">
              <a:off x="2582779" y="3661611"/>
              <a:ext cx="1042737" cy="1688431"/>
            </a:xfrm>
            <a:prstGeom prst="straightConnector1">
              <a:avLst/>
            </a:prstGeom>
            <a:ln w="34925">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52" name="图片 51"/>
            <p:cNvPicPr>
              <a:picLocks noChangeAspect="1"/>
            </p:cNvPicPr>
            <p:nvPr/>
          </p:nvPicPr>
          <p:blipFill>
            <a:blip r:embed="rId3"/>
            <a:stretch>
              <a:fillRect/>
            </a:stretch>
          </p:blipFill>
          <p:spPr>
            <a:xfrm rot="2380403" flipH="1">
              <a:off x="2931751" y="3938791"/>
              <a:ext cx="245886" cy="546092"/>
            </a:xfrm>
            <a:prstGeom prst="rect">
              <a:avLst/>
            </a:prstGeom>
          </p:spPr>
        </p:pic>
        <p:sp>
          <p:nvSpPr>
            <p:cNvPr id="54" name="文本框 53"/>
            <p:cNvSpPr txBox="1"/>
            <p:nvPr/>
          </p:nvSpPr>
          <p:spPr>
            <a:xfrm rot="18091738">
              <a:off x="2173779" y="4307307"/>
              <a:ext cx="1423737" cy="461665"/>
            </a:xfrm>
            <a:prstGeom prst="rect">
              <a:avLst/>
            </a:prstGeom>
            <a:noFill/>
          </p:spPr>
          <p:txBody>
            <a:bodyPr wrap="square" rtlCol="0">
              <a:spAutoFit/>
            </a:bodyPr>
            <a:lstStyle/>
            <a:p>
              <a:r>
                <a:rPr lang="zh-CN" altLang="en-US" sz="2400" dirty="0">
                  <a:solidFill>
                    <a:srgbClr val="0000FF"/>
                  </a:solidFill>
                </a:rPr>
                <a:t>同步置数</a:t>
              </a:r>
              <a:endParaRPr lang="zh-CN" altLang="en-US" sz="2400" dirty="0">
                <a:solidFill>
                  <a:srgbClr val="0000FF"/>
                </a:solidFill>
              </a:endParaRPr>
            </a:p>
          </p:txBody>
        </p:sp>
      </p:grpSp>
      <p:sp>
        <p:nvSpPr>
          <p:cNvPr id="56" name="对话气泡: 矩形 55"/>
          <p:cNvSpPr/>
          <p:nvPr/>
        </p:nvSpPr>
        <p:spPr>
          <a:xfrm>
            <a:off x="408409" y="5222535"/>
            <a:ext cx="1079133" cy="557463"/>
          </a:xfrm>
          <a:prstGeom prst="wedgeRectCallout">
            <a:avLst>
              <a:gd name="adj1" fmla="val 15610"/>
              <a:gd name="adj2" fmla="val -122392"/>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FF0000"/>
                </a:solidFill>
              </a:rPr>
              <a:t>暂态</a:t>
            </a:r>
            <a:endParaRPr lang="zh-CN" altLang="en-US" sz="2800" b="1" dirty="0">
              <a:solidFill>
                <a:srgbClr val="FF0000"/>
              </a:solidFill>
            </a:endParaRPr>
          </a:p>
        </p:txBody>
      </p:sp>
      <p:sp>
        <p:nvSpPr>
          <p:cNvPr id="57" name="文本框 56"/>
          <p:cNvSpPr txBox="1"/>
          <p:nvPr/>
        </p:nvSpPr>
        <p:spPr>
          <a:xfrm>
            <a:off x="2788885" y="5392066"/>
            <a:ext cx="5916977" cy="954107"/>
          </a:xfrm>
          <a:prstGeom prst="rect">
            <a:avLst/>
          </a:prstGeom>
          <a:noFill/>
        </p:spPr>
        <p:txBody>
          <a:bodyPr wrap="square" rtlCol="0">
            <a:spAutoFit/>
          </a:bodyPr>
          <a:lstStyle/>
          <a:p>
            <a:r>
              <a:rPr lang="zh-CN" altLang="en-US" sz="2800" b="1" dirty="0"/>
              <a:t>置数完成后，计数器从被置入的状态重新开始计数</a:t>
            </a:r>
            <a:endParaRPr lang="zh-CN" altLang="en-US" sz="2800" b="1" dirty="0"/>
          </a:p>
        </p:txBody>
      </p:sp>
      <p:sp>
        <p:nvSpPr>
          <p:cNvPr id="58" name="对话气泡: 矩形 57"/>
          <p:cNvSpPr/>
          <p:nvPr/>
        </p:nvSpPr>
        <p:spPr>
          <a:xfrm>
            <a:off x="5232643" y="843332"/>
            <a:ext cx="2637468" cy="511085"/>
          </a:xfrm>
          <a:prstGeom prst="wedgeRectCallout">
            <a:avLst>
              <a:gd name="adj1" fmla="val -15620"/>
              <a:gd name="adj2" fmla="val 28349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rgbClr val="0000FF"/>
                </a:solidFill>
              </a:rPr>
              <a:t>i</a:t>
            </a:r>
            <a:r>
              <a:rPr lang="zh-CN" altLang="en-US" sz="2800" b="1" dirty="0">
                <a:solidFill>
                  <a:srgbClr val="0000FF"/>
                </a:solidFill>
              </a:rPr>
              <a:t>的二进制代码</a:t>
            </a:r>
            <a:endParaRPr lang="zh-CN" altLang="en-US" sz="2800" b="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反馈置数法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7" name="文本框 16"/>
          <p:cNvSpPr txBox="1"/>
          <p:nvPr/>
        </p:nvSpPr>
        <p:spPr>
          <a:xfrm>
            <a:off x="114300" y="631821"/>
            <a:ext cx="8915400" cy="523220"/>
          </a:xfrm>
          <a:prstGeom prst="rect">
            <a:avLst/>
          </a:prstGeom>
          <a:noFill/>
        </p:spPr>
        <p:txBody>
          <a:bodyPr wrap="square" rtlCol="0">
            <a:spAutoFit/>
          </a:bodyPr>
          <a:lstStyle/>
          <a:p>
            <a:r>
              <a:rPr lang="zh-CN" altLang="en-US" sz="2800" b="1" dirty="0">
                <a:solidFill>
                  <a:srgbClr val="FF0000"/>
                </a:solidFill>
              </a:rPr>
              <a:t>例</a:t>
            </a:r>
            <a:r>
              <a:rPr lang="en-US" altLang="zh-CN" sz="2800" b="1" dirty="0">
                <a:solidFill>
                  <a:srgbClr val="FF0000"/>
                </a:solidFill>
              </a:rPr>
              <a:t>2</a:t>
            </a:r>
            <a:r>
              <a:rPr lang="en-US" altLang="zh-CN" sz="2800" b="1" dirty="0"/>
              <a:t>  </a:t>
            </a:r>
            <a:r>
              <a:rPr lang="zh-CN" altLang="en-US" sz="2800" b="1" dirty="0"/>
              <a:t>采用反馈置数法，用</a:t>
            </a:r>
            <a:r>
              <a:rPr lang="en-US" altLang="zh-CN" sz="2800" b="1" dirty="0"/>
              <a:t>74LS193</a:t>
            </a:r>
            <a:r>
              <a:rPr lang="zh-CN" altLang="en-US" sz="2800" b="1" dirty="0"/>
              <a:t>构成一个十进制计数器</a:t>
            </a:r>
            <a:endParaRPr lang="zh-CN" altLang="en-US" sz="2800" b="1" dirty="0"/>
          </a:p>
        </p:txBody>
      </p:sp>
      <p:sp>
        <p:nvSpPr>
          <p:cNvPr id="18" name="文本框 17"/>
          <p:cNvSpPr txBox="1"/>
          <p:nvPr/>
        </p:nvSpPr>
        <p:spPr>
          <a:xfrm>
            <a:off x="171665" y="1121940"/>
            <a:ext cx="8365958" cy="1384995"/>
          </a:xfrm>
          <a:prstGeom prst="rect">
            <a:avLst/>
          </a:prstGeom>
          <a:noFill/>
        </p:spPr>
        <p:txBody>
          <a:bodyPr wrap="square" rtlCol="0">
            <a:spAutoFit/>
          </a:bodyPr>
          <a:lstStyle/>
          <a:p>
            <a:r>
              <a:rPr lang="zh-CN" altLang="en-US" sz="2800" b="1" dirty="0">
                <a:solidFill>
                  <a:srgbClr val="0000FF"/>
                </a:solidFill>
              </a:rPr>
              <a:t>分析：</a:t>
            </a:r>
            <a:endParaRPr lang="en-US" altLang="zh-CN" sz="2800" b="1" dirty="0">
              <a:solidFill>
                <a:srgbClr val="0000FF"/>
              </a:solidFill>
            </a:endParaRPr>
          </a:p>
          <a:p>
            <a:pPr marL="342900" indent="-342900">
              <a:buFont typeface="Wingdings" panose="05000000000000000000" pitchFamily="2" charset="2"/>
              <a:buChar char="Ø"/>
            </a:pPr>
            <a:r>
              <a:rPr lang="en-US" altLang="zh-CN" sz="2800" b="1" dirty="0"/>
              <a:t>74LS193</a:t>
            </a:r>
            <a:r>
              <a:rPr lang="zh-CN" altLang="en-US" sz="2800" b="1" dirty="0"/>
              <a:t>是</a:t>
            </a:r>
            <a:r>
              <a:rPr lang="zh-CN" altLang="en-US" sz="2800" b="1" dirty="0">
                <a:solidFill>
                  <a:srgbClr val="FF0000"/>
                </a:solidFill>
              </a:rPr>
              <a:t>异步置数</a:t>
            </a:r>
            <a:r>
              <a:rPr lang="zh-CN" altLang="en-US" sz="2800" b="1" dirty="0"/>
              <a:t>计数器，共有</a:t>
            </a:r>
            <a:r>
              <a:rPr lang="en-US" altLang="zh-CN" sz="2800" b="1" dirty="0">
                <a:solidFill>
                  <a:srgbClr val="FF0000"/>
                </a:solidFill>
              </a:rPr>
              <a:t>16</a:t>
            </a:r>
            <a:r>
              <a:rPr lang="zh-CN" altLang="en-US" sz="2800" b="1" dirty="0"/>
              <a:t>个状态，要构成十进制计数器，可从中选取</a:t>
            </a:r>
            <a:r>
              <a:rPr lang="en-US" altLang="zh-CN" sz="2800" b="1" dirty="0">
                <a:solidFill>
                  <a:srgbClr val="FF0000"/>
                </a:solidFill>
              </a:rPr>
              <a:t>10</a:t>
            </a:r>
            <a:r>
              <a:rPr lang="zh-CN" altLang="en-US" sz="2800" b="1" dirty="0"/>
              <a:t>个</a:t>
            </a:r>
            <a:r>
              <a:rPr lang="zh-CN" altLang="en-US" sz="2800" b="1" dirty="0">
                <a:solidFill>
                  <a:srgbClr val="FF0000"/>
                </a:solidFill>
              </a:rPr>
              <a:t>连续的</a:t>
            </a:r>
            <a:r>
              <a:rPr lang="zh-CN" altLang="en-US" sz="2800" b="1" dirty="0"/>
              <a:t>状态。</a:t>
            </a:r>
            <a:endParaRPr lang="en-US" altLang="zh-CN" sz="2800" b="1" dirty="0"/>
          </a:p>
        </p:txBody>
      </p:sp>
      <p:sp>
        <p:nvSpPr>
          <p:cNvPr id="2" name="矩形 1"/>
          <p:cNvSpPr/>
          <p:nvPr/>
        </p:nvSpPr>
        <p:spPr>
          <a:xfrm>
            <a:off x="50023" y="2783999"/>
            <a:ext cx="4571026" cy="3711785"/>
          </a:xfrm>
          <a:prstGeom prst="rect">
            <a:avLst/>
          </a:prstGeom>
          <a:ln>
            <a:solidFill>
              <a:srgbClr val="FF0000"/>
            </a:solidFill>
          </a:ln>
        </p:spPr>
        <p:txBody>
          <a:bodyPr wrap="square">
            <a:spAutoFit/>
          </a:bodyPr>
          <a:lstStyle/>
          <a:p>
            <a:pPr marL="342900" indent="-342900">
              <a:lnSpc>
                <a:spcPct val="120000"/>
              </a:lnSpc>
              <a:buFont typeface="Wingdings" panose="05000000000000000000" pitchFamily="2" charset="2"/>
              <a:buChar char="Ø"/>
            </a:pPr>
            <a:r>
              <a:rPr lang="zh-CN" altLang="en-US" sz="2800" b="1" dirty="0">
                <a:solidFill>
                  <a:srgbClr val="170A8E"/>
                </a:solidFill>
              </a:rPr>
              <a:t>选定十个状态</a:t>
            </a:r>
            <a:r>
              <a:rPr lang="en-US" altLang="zh-CN" sz="2800" b="1" i="1" dirty="0">
                <a:solidFill>
                  <a:srgbClr val="170A8E"/>
                </a:solidFill>
              </a:rPr>
              <a:t>Q</a:t>
            </a:r>
            <a:r>
              <a:rPr lang="en-US" altLang="zh-CN" sz="2800" b="1" baseline="-25000" dirty="0">
                <a:solidFill>
                  <a:srgbClr val="170A8E"/>
                </a:solidFill>
              </a:rPr>
              <a:t>3</a:t>
            </a:r>
            <a:r>
              <a:rPr lang="en-US" altLang="zh-CN" sz="2800" b="1" i="1" dirty="0">
                <a:solidFill>
                  <a:srgbClr val="170A8E"/>
                </a:solidFill>
              </a:rPr>
              <a:t>Q</a:t>
            </a:r>
            <a:r>
              <a:rPr lang="en-US" altLang="zh-CN" sz="2800" b="1" baseline="-25000" dirty="0">
                <a:solidFill>
                  <a:srgbClr val="170A8E"/>
                </a:solidFill>
              </a:rPr>
              <a:t>2</a:t>
            </a:r>
            <a:r>
              <a:rPr lang="en-US" altLang="zh-CN" sz="2800" b="1" i="1" dirty="0">
                <a:solidFill>
                  <a:srgbClr val="170A8E"/>
                </a:solidFill>
              </a:rPr>
              <a:t>Q</a:t>
            </a:r>
            <a:r>
              <a:rPr lang="en-US" altLang="zh-CN" sz="2800" b="1" baseline="-25000" dirty="0">
                <a:solidFill>
                  <a:srgbClr val="170A8E"/>
                </a:solidFill>
              </a:rPr>
              <a:t>1</a:t>
            </a:r>
            <a:r>
              <a:rPr lang="en-US" altLang="zh-CN" sz="2800" b="1" i="1" dirty="0">
                <a:solidFill>
                  <a:srgbClr val="170A8E"/>
                </a:solidFill>
              </a:rPr>
              <a:t>Q</a:t>
            </a:r>
            <a:r>
              <a:rPr lang="en-US" altLang="zh-CN" sz="2800" b="1" baseline="-25000" dirty="0">
                <a:solidFill>
                  <a:srgbClr val="170A8E"/>
                </a:solidFill>
              </a:rPr>
              <a:t>0</a:t>
            </a:r>
            <a:r>
              <a:rPr lang="zh-CN" altLang="en-US" sz="2800" b="1" dirty="0">
                <a:solidFill>
                  <a:srgbClr val="170A8E"/>
                </a:solidFill>
              </a:rPr>
              <a:t>为：</a:t>
            </a:r>
            <a:r>
              <a:rPr lang="en-US" altLang="zh-CN" sz="2800" b="1" dirty="0">
                <a:solidFill>
                  <a:srgbClr val="FF0000"/>
                </a:solidFill>
              </a:rPr>
              <a:t>0011→1100  </a:t>
            </a:r>
            <a:r>
              <a:rPr lang="zh-CN" altLang="en-US" sz="2800" b="1" dirty="0">
                <a:solidFill>
                  <a:srgbClr val="FF33CC"/>
                </a:solidFill>
              </a:rPr>
              <a:t>（</a:t>
            </a:r>
            <a:r>
              <a:rPr lang="en-US" altLang="zh-CN" sz="2800" b="1" dirty="0" err="1">
                <a:solidFill>
                  <a:srgbClr val="FF33CC"/>
                </a:solidFill>
              </a:rPr>
              <a:t>i</a:t>
            </a:r>
            <a:r>
              <a:rPr lang="en-US" altLang="zh-CN" sz="2800" b="1" dirty="0">
                <a:solidFill>
                  <a:srgbClr val="FF33CC"/>
                </a:solidFill>
              </a:rPr>
              <a:t>=3, M=10</a:t>
            </a:r>
            <a:r>
              <a:rPr lang="zh-CN" altLang="en-US" sz="2800" b="1" dirty="0">
                <a:solidFill>
                  <a:srgbClr val="FF33CC"/>
                </a:solidFill>
              </a:rPr>
              <a:t>）</a:t>
            </a:r>
            <a:endParaRPr lang="en-US" altLang="zh-CN" sz="2800" b="1" dirty="0">
              <a:solidFill>
                <a:srgbClr val="FF33CC"/>
              </a:solidFill>
            </a:endParaRPr>
          </a:p>
          <a:p>
            <a:pPr marL="342900" indent="-342900">
              <a:lnSpc>
                <a:spcPct val="120000"/>
              </a:lnSpc>
              <a:buFont typeface="Wingdings" panose="05000000000000000000" pitchFamily="2" charset="2"/>
              <a:buChar char="Ø"/>
            </a:pPr>
            <a:r>
              <a:rPr lang="zh-CN" altLang="en-US" sz="2800" b="1" dirty="0">
                <a:solidFill>
                  <a:srgbClr val="170A8E"/>
                </a:solidFill>
              </a:rPr>
              <a:t>写出反馈态</a:t>
            </a:r>
            <a:r>
              <a:rPr lang="en-US" altLang="zh-CN" sz="2800" b="1" dirty="0" err="1">
                <a:solidFill>
                  <a:srgbClr val="170A8E"/>
                </a:solidFill>
              </a:rPr>
              <a:t>S</a:t>
            </a:r>
            <a:r>
              <a:rPr lang="en-US" altLang="zh-CN" sz="2800" b="1" i="1" baseline="-25000" dirty="0" err="1">
                <a:solidFill>
                  <a:srgbClr val="170A8E"/>
                </a:solidFill>
              </a:rPr>
              <a:t>i+M</a:t>
            </a:r>
            <a:r>
              <a:rPr lang="zh-CN" altLang="en-US" sz="2800" b="1" dirty="0">
                <a:solidFill>
                  <a:srgbClr val="170A8E"/>
                </a:solidFill>
              </a:rPr>
              <a:t>的二进制代码， 即</a:t>
            </a:r>
            <a:r>
              <a:rPr lang="en-US" altLang="zh-CN" sz="2800" b="1" dirty="0" err="1">
                <a:solidFill>
                  <a:srgbClr val="170A8E"/>
                </a:solidFill>
              </a:rPr>
              <a:t>S</a:t>
            </a:r>
            <a:r>
              <a:rPr lang="en-US" altLang="zh-CN" sz="2800" b="1" i="1" baseline="-25000" dirty="0" err="1">
                <a:solidFill>
                  <a:srgbClr val="170A8E"/>
                </a:solidFill>
              </a:rPr>
              <a:t>i+M</a:t>
            </a:r>
            <a:r>
              <a:rPr lang="en-US" altLang="zh-CN" sz="2800" b="1" dirty="0">
                <a:solidFill>
                  <a:srgbClr val="170A8E"/>
                </a:solidFill>
              </a:rPr>
              <a:t>=1101</a:t>
            </a:r>
            <a:r>
              <a:rPr lang="zh-CN" altLang="en-US" sz="2800" b="1" dirty="0">
                <a:solidFill>
                  <a:srgbClr val="170A8E"/>
                </a:solidFill>
              </a:rPr>
              <a:t>。</a:t>
            </a:r>
            <a:endParaRPr lang="en-US" altLang="zh-CN" sz="2800" b="1" dirty="0">
              <a:solidFill>
                <a:srgbClr val="170A8E"/>
              </a:solidFill>
            </a:endParaRPr>
          </a:p>
          <a:p>
            <a:pPr marL="342900" indent="-342900">
              <a:lnSpc>
                <a:spcPct val="120000"/>
              </a:lnSpc>
              <a:buFont typeface="Wingdings" panose="05000000000000000000" pitchFamily="2" charset="2"/>
              <a:buChar char="Ø"/>
            </a:pPr>
            <a:r>
              <a:rPr lang="zh-CN" altLang="en-US" sz="2800" b="1" dirty="0">
                <a:solidFill>
                  <a:srgbClr val="170A8E"/>
                </a:solidFill>
              </a:rPr>
              <a:t>求置数逻辑：</a:t>
            </a:r>
            <a:endParaRPr lang="en-US" altLang="zh-CN" sz="2800" b="1" dirty="0">
              <a:solidFill>
                <a:srgbClr val="170A8E"/>
              </a:solidFill>
            </a:endParaRPr>
          </a:p>
          <a:p>
            <a:pPr marL="342900" indent="-342900">
              <a:lnSpc>
                <a:spcPct val="120000"/>
              </a:lnSpc>
              <a:buFont typeface="Wingdings" panose="05000000000000000000" pitchFamily="2" charset="2"/>
              <a:buChar char="Ø"/>
            </a:pPr>
            <a:r>
              <a:rPr lang="zh-CN" altLang="en-US" sz="2800" b="1" dirty="0">
                <a:solidFill>
                  <a:srgbClr val="170A8E"/>
                </a:solidFill>
              </a:rPr>
              <a:t>预置态</a:t>
            </a:r>
            <a:r>
              <a:rPr lang="en-US" altLang="zh-CN" sz="2800" b="1" dirty="0">
                <a:solidFill>
                  <a:srgbClr val="170A8E"/>
                </a:solidFill>
              </a:rPr>
              <a:t>S</a:t>
            </a:r>
            <a:r>
              <a:rPr lang="en-US" altLang="zh-CN" sz="2800" b="1" baseline="-25000" dirty="0">
                <a:solidFill>
                  <a:srgbClr val="170A8E"/>
                </a:solidFill>
              </a:rPr>
              <a:t>i</a:t>
            </a:r>
            <a:r>
              <a:rPr lang="en-US" altLang="zh-CN" sz="2800" b="1" dirty="0">
                <a:solidFill>
                  <a:srgbClr val="170A8E"/>
                </a:solidFill>
              </a:rPr>
              <a:t>=0011</a:t>
            </a:r>
            <a:r>
              <a:rPr lang="zh-CN" altLang="en-US" sz="2800" b="1" dirty="0">
                <a:solidFill>
                  <a:srgbClr val="170A8E"/>
                </a:solidFill>
              </a:rPr>
              <a:t>， 画出电路图</a:t>
            </a:r>
            <a:endParaRPr lang="zh-CN" altLang="en-US" sz="2800" b="1" dirty="0">
              <a:solidFill>
                <a:srgbClr val="170A8E"/>
              </a:solidFill>
            </a:endParaRPr>
          </a:p>
        </p:txBody>
      </p:sp>
      <p:graphicFrame>
        <p:nvGraphicFramePr>
          <p:cNvPr id="20" name="Object 4"/>
          <p:cNvGraphicFramePr>
            <a:graphicFrameLocks noChangeAspect="1"/>
          </p:cNvGraphicFramePr>
          <p:nvPr/>
        </p:nvGraphicFramePr>
        <p:xfrm>
          <a:off x="2513013" y="4944350"/>
          <a:ext cx="1574800" cy="466725"/>
        </p:xfrm>
        <a:graphic>
          <a:graphicData uri="http://schemas.openxmlformats.org/presentationml/2006/ole">
            <mc:AlternateContent xmlns:mc="http://schemas.openxmlformats.org/markup-compatibility/2006">
              <mc:Choice xmlns:v="urn:schemas-microsoft-com:vml" Requires="v">
                <p:oleObj spid="_x0000_s6147" name="Equation" r:id="rId2" imgW="17678400" imgH="5181600" progId="Equation.DSMT4">
                  <p:embed/>
                </p:oleObj>
              </mc:Choice>
              <mc:Fallback>
                <p:oleObj name="Equation" r:id="rId2" imgW="17678400" imgH="5181600" progId="Equation.DSMT4">
                  <p:embed/>
                  <p:pic>
                    <p:nvPicPr>
                      <p:cNvPr id="0" name="Object 4"/>
                      <p:cNvPicPr>
                        <a:picLocks noChangeAspect="1" noChangeArrowheads="1"/>
                      </p:cNvPicPr>
                      <p:nvPr/>
                    </p:nvPicPr>
                    <p:blipFill>
                      <a:blip r:embed="rId3"/>
                      <a:srcRect/>
                      <a:stretch>
                        <a:fillRect/>
                      </a:stretch>
                    </p:blipFill>
                    <p:spPr bwMode="auto">
                      <a:xfrm>
                        <a:off x="2513013" y="4944350"/>
                        <a:ext cx="1574800" cy="466725"/>
                      </a:xfrm>
                      <a:prstGeom prst="rect">
                        <a:avLst/>
                      </a:prstGeom>
                      <a:noFill/>
                      <a:ln>
                        <a:noFill/>
                      </a:ln>
                    </p:spPr>
                  </p:pic>
                </p:oleObj>
              </mc:Fallback>
            </mc:AlternateContent>
          </a:graphicData>
        </a:graphic>
      </p:graphicFrame>
      <p:grpSp>
        <p:nvGrpSpPr>
          <p:cNvPr id="59" name="组合 58"/>
          <p:cNvGrpSpPr/>
          <p:nvPr/>
        </p:nvGrpSpPr>
        <p:grpSpPr>
          <a:xfrm>
            <a:off x="4742500" y="2783999"/>
            <a:ext cx="4292409" cy="3766779"/>
            <a:chOff x="4742500" y="2783999"/>
            <a:chExt cx="4292409" cy="3766779"/>
          </a:xfrm>
        </p:grpSpPr>
        <p:grpSp>
          <p:nvGrpSpPr>
            <p:cNvPr id="24" name="组合 23"/>
            <p:cNvGrpSpPr/>
            <p:nvPr/>
          </p:nvGrpSpPr>
          <p:grpSpPr>
            <a:xfrm>
              <a:off x="4742500" y="2783999"/>
              <a:ext cx="4292409" cy="2868999"/>
              <a:chOff x="4206242" y="3323291"/>
              <a:chExt cx="4292409" cy="2868999"/>
            </a:xfrm>
          </p:grpSpPr>
          <p:grpSp>
            <p:nvGrpSpPr>
              <p:cNvPr id="27" name="组合 26"/>
              <p:cNvGrpSpPr/>
              <p:nvPr/>
            </p:nvGrpSpPr>
            <p:grpSpPr>
              <a:xfrm>
                <a:off x="5062302" y="4067695"/>
                <a:ext cx="3314762" cy="2124595"/>
                <a:chOff x="5062302" y="4067695"/>
                <a:chExt cx="3314762" cy="2124595"/>
              </a:xfrm>
            </p:grpSpPr>
            <p:pic>
              <p:nvPicPr>
                <p:cNvPr id="37" name="图片 36"/>
                <p:cNvPicPr>
                  <a:picLocks noChangeAspect="1"/>
                </p:cNvPicPr>
                <p:nvPr/>
              </p:nvPicPr>
              <p:blipFill>
                <a:blip r:embed="rId4"/>
                <a:stretch>
                  <a:fillRect/>
                </a:stretch>
              </p:blipFill>
              <p:spPr>
                <a:xfrm>
                  <a:off x="5062302" y="4067695"/>
                  <a:ext cx="3314762" cy="2124595"/>
                </a:xfrm>
                <a:prstGeom prst="rect">
                  <a:avLst/>
                </a:prstGeom>
              </p:spPr>
            </p:pic>
            <p:sp>
              <p:nvSpPr>
                <p:cNvPr id="38" name="文本框 37"/>
                <p:cNvSpPr txBox="1"/>
                <p:nvPr/>
              </p:nvSpPr>
              <p:spPr>
                <a:xfrm>
                  <a:off x="5799484" y="4434214"/>
                  <a:ext cx="1904489"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Q</a:t>
                  </a:r>
                  <a:r>
                    <a:rPr lang="en-US" altLang="zh-CN" sz="2000" b="1" baseline="-25000" dirty="0">
                      <a:latin typeface="Times New Roman" panose="02020603050405020304" pitchFamily="18" charset="0"/>
                      <a:cs typeface="Times New Roman" panose="02020603050405020304" pitchFamily="18" charset="0"/>
                    </a:rPr>
                    <a:t>0   </a:t>
                  </a:r>
                  <a:r>
                    <a:rPr lang="en-US" altLang="zh-CN" sz="2000" b="1" dirty="0">
                      <a:latin typeface="Times New Roman" panose="02020603050405020304" pitchFamily="18" charset="0"/>
                      <a:cs typeface="Times New Roman" panose="02020603050405020304" pitchFamily="18" charset="0"/>
                    </a:rPr>
                    <a:t>Q</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Q </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 Q</a:t>
                  </a:r>
                  <a:r>
                    <a:rPr lang="en-US" altLang="zh-CN" sz="2000" b="1" baseline="-25000" dirty="0">
                      <a:latin typeface="Times New Roman" panose="02020603050405020304" pitchFamily="18" charset="0"/>
                      <a:cs typeface="Times New Roman" panose="02020603050405020304" pitchFamily="18" charset="0"/>
                    </a:rPr>
                    <a:t>3</a:t>
                  </a:r>
                  <a:endParaRPr lang="zh-CN" altLang="en-US" sz="2000" b="1" baseline="-25000" dirty="0">
                    <a:latin typeface="Times New Roman" panose="02020603050405020304" pitchFamily="18" charset="0"/>
                    <a:cs typeface="Times New Roman" panose="02020603050405020304" pitchFamily="18" charset="0"/>
                  </a:endParaRPr>
                </a:p>
              </p:txBody>
            </p:sp>
            <p:sp>
              <p:nvSpPr>
                <p:cNvPr id="39" name="文本框 38"/>
                <p:cNvSpPr txBox="1"/>
                <p:nvPr/>
              </p:nvSpPr>
              <p:spPr>
                <a:xfrm>
                  <a:off x="5536398" y="4653718"/>
                  <a:ext cx="653934" cy="86177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CR</a:t>
                  </a:r>
                  <a:endParaRPr lang="en-US" altLang="zh-CN" sz="1600" b="1" dirty="0">
                    <a:latin typeface="Times New Roman" panose="02020603050405020304" pitchFamily="18" charset="0"/>
                    <a:cs typeface="Times New Roman" panose="02020603050405020304" pitchFamily="18" charset="0"/>
                  </a:endParaRPr>
                </a:p>
                <a:p>
                  <a:r>
                    <a:rPr lang="en-US" altLang="zh-CN" sz="1600" b="1" dirty="0">
                      <a:latin typeface="Times New Roman" panose="02020603050405020304" pitchFamily="18" charset="0"/>
                      <a:cs typeface="Times New Roman" panose="02020603050405020304" pitchFamily="18" charset="0"/>
                    </a:rPr>
                    <a:t>CP</a:t>
                  </a:r>
                  <a:r>
                    <a:rPr lang="en-US" altLang="zh-CN" sz="1600" b="1" baseline="-25000" dirty="0">
                      <a:latin typeface="Times New Roman" panose="02020603050405020304" pitchFamily="18" charset="0"/>
                      <a:cs typeface="Times New Roman" panose="02020603050405020304" pitchFamily="18" charset="0"/>
                    </a:rPr>
                    <a:t>U</a:t>
                  </a:r>
                  <a:endParaRPr lang="en-US" altLang="zh-CN" sz="1600" b="1" baseline="-25000" dirty="0">
                    <a:latin typeface="Times New Roman" panose="02020603050405020304" pitchFamily="18" charset="0"/>
                    <a:cs typeface="Times New Roman" panose="02020603050405020304" pitchFamily="18" charset="0"/>
                  </a:endParaRPr>
                </a:p>
                <a:p>
                  <a:r>
                    <a:rPr lang="en-US" altLang="zh-CN" sz="1600" b="1" dirty="0">
                      <a:latin typeface="Times New Roman" panose="02020603050405020304" pitchFamily="18" charset="0"/>
                      <a:cs typeface="Times New Roman" panose="02020603050405020304" pitchFamily="18" charset="0"/>
                    </a:rPr>
                    <a:t>CP</a:t>
                  </a:r>
                  <a:r>
                    <a:rPr lang="en-US" altLang="zh-CN" sz="1600" b="1" baseline="-25000" dirty="0">
                      <a:latin typeface="Times New Roman" panose="02020603050405020304" pitchFamily="18" charset="0"/>
                      <a:cs typeface="Times New Roman" panose="02020603050405020304" pitchFamily="18" charset="0"/>
                    </a:rPr>
                    <a:t>D</a:t>
                  </a:r>
                  <a:endParaRPr lang="zh-CN" altLang="en-US" sz="1600" b="1" baseline="-25000" dirty="0">
                    <a:latin typeface="Times New Roman" panose="02020603050405020304" pitchFamily="18" charset="0"/>
                    <a:cs typeface="Times New Roman" panose="02020603050405020304" pitchFamily="18" charset="0"/>
                  </a:endParaRPr>
                </a:p>
              </p:txBody>
            </p:sp>
            <p:sp>
              <p:nvSpPr>
                <p:cNvPr id="40" name="文本框 39"/>
                <p:cNvSpPr txBox="1"/>
                <p:nvPr/>
              </p:nvSpPr>
              <p:spPr>
                <a:xfrm>
                  <a:off x="5785658" y="5283587"/>
                  <a:ext cx="1904489"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D</a:t>
                  </a:r>
                  <a:r>
                    <a:rPr lang="en-US" altLang="zh-CN" sz="2000" b="1" baseline="-25000" dirty="0">
                      <a:latin typeface="Times New Roman" panose="02020603050405020304" pitchFamily="18" charset="0"/>
                      <a:cs typeface="Times New Roman" panose="02020603050405020304" pitchFamily="18" charset="0"/>
                    </a:rPr>
                    <a:t>0   </a:t>
                  </a:r>
                  <a:r>
                    <a:rPr lang="en-US" altLang="zh-CN" sz="2000" b="1" dirty="0">
                      <a:latin typeface="Times New Roman" panose="02020603050405020304" pitchFamily="18" charset="0"/>
                      <a:cs typeface="Times New Roman" panose="02020603050405020304" pitchFamily="18" charset="0"/>
                    </a:rPr>
                    <a:t>D</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D </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 D</a:t>
                  </a:r>
                  <a:r>
                    <a:rPr lang="en-US" altLang="zh-CN" sz="2000" b="1" baseline="-25000" dirty="0">
                      <a:latin typeface="Times New Roman" panose="02020603050405020304" pitchFamily="18" charset="0"/>
                      <a:cs typeface="Times New Roman" panose="02020603050405020304" pitchFamily="18" charset="0"/>
                    </a:rPr>
                    <a:t>3</a:t>
                  </a:r>
                  <a:endParaRPr lang="zh-CN" altLang="en-US" sz="2000" b="1"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7396373" y="4592162"/>
                  <a:ext cx="653934" cy="923330"/>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BO</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CO</a:t>
                  </a:r>
                  <a:endParaRPr lang="en-US" altLang="zh-CN" b="1" baseline="-25000"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LD</a:t>
                  </a:r>
                  <a:endParaRPr lang="zh-CN" altLang="en-US" b="1" baseline="-25000" dirty="0">
                    <a:latin typeface="Times New Roman" panose="02020603050405020304" pitchFamily="18" charset="0"/>
                    <a:cs typeface="Times New Roman" panose="02020603050405020304" pitchFamily="18" charset="0"/>
                  </a:endParaRPr>
                </a:p>
              </p:txBody>
            </p:sp>
            <p:cxnSp>
              <p:nvCxnSpPr>
                <p:cNvPr id="42" name="直接连接符 41"/>
                <p:cNvCxnSpPr/>
                <p:nvPr/>
              </p:nvCxnSpPr>
              <p:spPr>
                <a:xfrm flipV="1">
                  <a:off x="7491278" y="4642538"/>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7502362" y="4938200"/>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7491278" y="5203204"/>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p:cNvCxnSpPr/>
              <p:nvPr/>
            </p:nvCxnSpPr>
            <p:spPr>
              <a:xfrm flipV="1">
                <a:off x="4823118" y="5048287"/>
                <a:ext cx="515389" cy="554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206242" y="4839866"/>
                <a:ext cx="579948"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CP</a:t>
                </a:r>
                <a:endParaRPr lang="zh-CN" altLang="en-US" sz="2000" b="1" dirty="0">
                  <a:latin typeface="Times New Roman" panose="02020603050405020304" pitchFamily="18" charset="0"/>
                  <a:cs typeface="Times New Roman" panose="02020603050405020304" pitchFamily="18" charset="0"/>
                </a:endParaRPr>
              </a:p>
            </p:txBody>
          </p:sp>
          <p:sp>
            <p:nvSpPr>
              <p:cNvPr id="30" name="矩形 29"/>
              <p:cNvSpPr/>
              <p:nvPr/>
            </p:nvSpPr>
            <p:spPr>
              <a:xfrm>
                <a:off x="7595828" y="3323291"/>
                <a:ext cx="405537" cy="4992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FF"/>
                    </a:solidFill>
                  </a:rPr>
                  <a:t>&amp;</a:t>
                </a:r>
                <a:endParaRPr lang="zh-CN" altLang="en-US" dirty="0">
                  <a:solidFill>
                    <a:srgbClr val="0000FF"/>
                  </a:solidFill>
                </a:endParaRPr>
              </a:p>
            </p:txBody>
          </p:sp>
          <p:cxnSp>
            <p:nvCxnSpPr>
              <p:cNvPr id="35" name="直接连接符 34"/>
              <p:cNvCxnSpPr/>
              <p:nvPr/>
            </p:nvCxnSpPr>
            <p:spPr>
              <a:xfrm flipH="1" flipV="1">
                <a:off x="8481060" y="3601070"/>
                <a:ext cx="12382" cy="1756563"/>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082839" y="3584571"/>
                <a:ext cx="415812" cy="1"/>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45" name="直接连接符 44"/>
            <p:cNvCxnSpPr/>
            <p:nvPr/>
          </p:nvCxnSpPr>
          <p:spPr>
            <a:xfrm>
              <a:off x="6012821" y="4451291"/>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6023904" y="4539959"/>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6007278" y="4735215"/>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6018361" y="4818341"/>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椭圆 2"/>
            <p:cNvSpPr/>
            <p:nvPr/>
          </p:nvSpPr>
          <p:spPr>
            <a:xfrm>
              <a:off x="5929745" y="5427950"/>
              <a:ext cx="2607878" cy="571086"/>
            </a:xfrm>
            <a:prstGeom prst="ellipse">
              <a:avLst/>
            </a:pr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0000FF"/>
                  </a:solidFill>
                  <a:latin typeface="黑体" panose="02010609060101010101" pitchFamily="49" charset="-122"/>
                  <a:ea typeface="黑体" panose="02010609060101010101" pitchFamily="49" charset="-122"/>
                </a:rPr>
                <a:t>1  1</a:t>
              </a:r>
              <a:r>
                <a:rPr lang="zh-CN" altLang="en-US" sz="2400" b="1" dirty="0">
                  <a:solidFill>
                    <a:srgbClr val="0000FF"/>
                  </a:solidFill>
                  <a:latin typeface="黑体" panose="02010609060101010101" pitchFamily="49" charset="-122"/>
                  <a:ea typeface="黑体" panose="02010609060101010101" pitchFamily="49" charset="-122"/>
                </a:rPr>
                <a:t>  </a:t>
              </a:r>
              <a:r>
                <a:rPr lang="en-US" altLang="zh-CN" sz="2400" b="1" dirty="0">
                  <a:solidFill>
                    <a:srgbClr val="0000FF"/>
                  </a:solidFill>
                  <a:latin typeface="黑体" panose="02010609060101010101" pitchFamily="49" charset="-122"/>
                  <a:ea typeface="黑体" panose="02010609060101010101" pitchFamily="49" charset="-122"/>
                </a:rPr>
                <a:t>0  0</a:t>
              </a:r>
              <a:endParaRPr lang="zh-CN" altLang="en-US" sz="2400" b="1" dirty="0">
                <a:solidFill>
                  <a:srgbClr val="0000FF"/>
                </a:solidFill>
                <a:latin typeface="黑体" panose="02010609060101010101" pitchFamily="49" charset="-122"/>
                <a:ea typeface="黑体" panose="02010609060101010101" pitchFamily="49" charset="-122"/>
              </a:endParaRPr>
            </a:p>
          </p:txBody>
        </p:sp>
        <p:sp>
          <p:nvSpPr>
            <p:cNvPr id="8" name="文本框 7"/>
            <p:cNvSpPr txBox="1"/>
            <p:nvPr/>
          </p:nvSpPr>
          <p:spPr>
            <a:xfrm>
              <a:off x="6532002" y="6089113"/>
              <a:ext cx="1511968" cy="461665"/>
            </a:xfrm>
            <a:prstGeom prst="rect">
              <a:avLst/>
            </a:prstGeom>
            <a:noFill/>
          </p:spPr>
          <p:txBody>
            <a:bodyPr wrap="square" rtlCol="0">
              <a:spAutoFit/>
            </a:bodyPr>
            <a:lstStyle/>
            <a:p>
              <a:r>
                <a:rPr lang="zh-CN" altLang="en-US" sz="2400" b="1" dirty="0">
                  <a:solidFill>
                    <a:srgbClr val="0000FF"/>
                  </a:solidFill>
                </a:rPr>
                <a:t>预置数据</a:t>
              </a:r>
              <a:endParaRPr lang="zh-CN" altLang="en-US" sz="2400" b="1" dirty="0">
                <a:solidFill>
                  <a:srgbClr val="0000FF"/>
                </a:solidFill>
              </a:endParaRPr>
            </a:p>
          </p:txBody>
        </p:sp>
        <p:cxnSp>
          <p:nvCxnSpPr>
            <p:cNvPr id="15" name="直接连接符 14"/>
            <p:cNvCxnSpPr/>
            <p:nvPr/>
          </p:nvCxnSpPr>
          <p:spPr>
            <a:xfrm flipV="1">
              <a:off x="7402930" y="3045280"/>
              <a:ext cx="0" cy="60960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endCxn id="30" idx="1"/>
            </p:cNvCxnSpPr>
            <p:nvPr/>
          </p:nvCxnSpPr>
          <p:spPr>
            <a:xfrm>
              <a:off x="7402930" y="3033635"/>
              <a:ext cx="729156" cy="1"/>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7834172" y="3157451"/>
              <a:ext cx="0" cy="485274"/>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834172" y="3157451"/>
              <a:ext cx="276726"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V="1">
              <a:off x="6456218" y="2885819"/>
              <a:ext cx="1675868" cy="9398"/>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6500554" y="2907159"/>
              <a:ext cx="0" cy="704244"/>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53" name="椭圆 52"/>
            <p:cNvSpPr/>
            <p:nvPr/>
          </p:nvSpPr>
          <p:spPr>
            <a:xfrm>
              <a:off x="8537623" y="3003665"/>
              <a:ext cx="103996" cy="985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54"/>
            <p:cNvCxnSpPr/>
            <p:nvPr/>
          </p:nvCxnSpPr>
          <p:spPr>
            <a:xfrm flipV="1">
              <a:off x="8739447" y="4817546"/>
              <a:ext cx="277871" cy="79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5359376" y="3986320"/>
              <a:ext cx="337636"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0</a:t>
              </a:r>
              <a:endParaRPr lang="zh-CN" altLang="en-US" sz="2000" b="1" dirty="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circle(in)">
                                      <p:cBhvr>
                                        <p:cTn id="20" dur="20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反馈置数法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pSp>
        <p:nvGrpSpPr>
          <p:cNvPr id="264" name="组合 263"/>
          <p:cNvGrpSpPr/>
          <p:nvPr/>
        </p:nvGrpSpPr>
        <p:grpSpPr>
          <a:xfrm>
            <a:off x="1231409" y="3761871"/>
            <a:ext cx="6666570" cy="3080183"/>
            <a:chOff x="2406675" y="3777817"/>
            <a:chExt cx="6666570" cy="3080183"/>
          </a:xfrm>
        </p:grpSpPr>
        <p:grpSp>
          <p:nvGrpSpPr>
            <p:cNvPr id="32" name="组合 31"/>
            <p:cNvGrpSpPr/>
            <p:nvPr/>
          </p:nvGrpSpPr>
          <p:grpSpPr>
            <a:xfrm>
              <a:off x="2432556" y="3777817"/>
              <a:ext cx="6137764" cy="352776"/>
              <a:chOff x="1926231" y="4042307"/>
              <a:chExt cx="6137764" cy="352776"/>
            </a:xfrm>
          </p:grpSpPr>
          <p:cxnSp>
            <p:nvCxnSpPr>
              <p:cNvPr id="51" name="直接连接符 50"/>
              <p:cNvCxnSpPr/>
              <p:nvPr/>
            </p:nvCxnSpPr>
            <p:spPr>
              <a:xfrm>
                <a:off x="1926231" y="4057273"/>
                <a:ext cx="25096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2177191" y="4057273"/>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2177191" y="4384241"/>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2442284" y="405339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2442284" y="4053391"/>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2693244" y="405339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2693244" y="4380359"/>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2954385" y="4042307"/>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2954385" y="4042307"/>
                <a:ext cx="250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3205345" y="4042307"/>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3205345" y="4369275"/>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3455997" y="405007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3455997" y="4050071"/>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V="1">
                <a:off x="3706957" y="405007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3706957" y="4377039"/>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 name="组合 67"/>
              <p:cNvGrpSpPr/>
              <p:nvPr/>
            </p:nvGrpSpPr>
            <p:grpSpPr>
              <a:xfrm>
                <a:off x="3964983" y="4043418"/>
                <a:ext cx="516054" cy="332510"/>
                <a:chOff x="1053592" y="4042756"/>
                <a:chExt cx="516054" cy="332510"/>
              </a:xfrm>
            </p:grpSpPr>
            <p:cxnSp>
              <p:nvCxnSpPr>
                <p:cNvPr id="69" name="直接连接符 68"/>
                <p:cNvCxnSpPr/>
                <p:nvPr/>
              </p:nvCxnSpPr>
              <p:spPr>
                <a:xfrm flipV="1">
                  <a:off x="1053592" y="404275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1053592" y="4042756"/>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1304552" y="404275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V="1">
                  <a:off x="1304552" y="4369724"/>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3" name="直接连接符 72"/>
              <p:cNvCxnSpPr/>
              <p:nvPr/>
            </p:nvCxnSpPr>
            <p:spPr>
              <a:xfrm flipV="1">
                <a:off x="4481036" y="4057273"/>
                <a:ext cx="0" cy="32696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481036" y="4057273"/>
                <a:ext cx="25096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4731996" y="4057273"/>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4731996" y="4384241"/>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V="1">
                <a:off x="4997089" y="405339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997089" y="4053391"/>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5248049" y="4053391"/>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5248049" y="4380359"/>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5509190" y="4064475"/>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5509190" y="4064475"/>
                <a:ext cx="250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V="1">
                <a:off x="5760150" y="4064475"/>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5760150" y="4374817"/>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5" name="组合 84"/>
              <p:cNvGrpSpPr/>
              <p:nvPr/>
            </p:nvGrpSpPr>
            <p:grpSpPr>
              <a:xfrm>
                <a:off x="6003734" y="4062573"/>
                <a:ext cx="516054" cy="332510"/>
                <a:chOff x="1053592" y="4081550"/>
                <a:chExt cx="516054" cy="332510"/>
              </a:xfrm>
            </p:grpSpPr>
            <p:cxnSp>
              <p:nvCxnSpPr>
                <p:cNvPr id="86" name="直接连接符 85"/>
                <p:cNvCxnSpPr/>
                <p:nvPr/>
              </p:nvCxnSpPr>
              <p:spPr>
                <a:xfrm flipV="1">
                  <a:off x="1053592" y="4081550"/>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1053592" y="4081550"/>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V="1">
                  <a:off x="1304552" y="4081550"/>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1304552" y="4408518"/>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 name="直接连接符 89"/>
              <p:cNvCxnSpPr/>
              <p:nvPr/>
            </p:nvCxnSpPr>
            <p:spPr>
              <a:xfrm flipV="1">
                <a:off x="6519787" y="4059802"/>
                <a:ext cx="0" cy="32696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519787" y="4059802"/>
                <a:ext cx="25096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6770747" y="4059802"/>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V="1">
                <a:off x="6770747" y="4386770"/>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V="1">
                <a:off x="7035840" y="4067004"/>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7035840" y="4055920"/>
                <a:ext cx="25096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7286800" y="4055920"/>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V="1">
                <a:off x="7286800" y="4382888"/>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V="1">
                <a:off x="7547941" y="404483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7547941" y="4044836"/>
                <a:ext cx="250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V="1">
                <a:off x="7798901" y="404483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V="1">
                <a:off x="7798901" y="4371804"/>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 name="直接连接符 109"/>
            <p:cNvCxnSpPr/>
            <p:nvPr/>
          </p:nvCxnSpPr>
          <p:spPr>
            <a:xfrm>
              <a:off x="2945461" y="4131946"/>
              <a:ext cx="5763" cy="2726054"/>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3454530" y="4140565"/>
              <a:ext cx="23916" cy="271743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3951222" y="4110085"/>
              <a:ext cx="16231" cy="274791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71099" y="4104785"/>
              <a:ext cx="3639" cy="275321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980085" y="4111438"/>
              <a:ext cx="25010" cy="2746562"/>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5502941" y="4118091"/>
              <a:ext cx="21300" cy="273990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6011821" y="4131946"/>
              <a:ext cx="34747" cy="2726054"/>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6510146" y="4126953"/>
              <a:ext cx="24002" cy="2731047"/>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7032387" y="4118091"/>
              <a:ext cx="24777" cy="272966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7541267" y="4140565"/>
              <a:ext cx="56566" cy="269803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2464298" y="5579524"/>
              <a:ext cx="463805" cy="136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V="1">
              <a:off x="2439277" y="6069977"/>
              <a:ext cx="2565425" cy="126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V="1">
              <a:off x="2425282" y="4882190"/>
              <a:ext cx="520543" cy="106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flipV="1">
              <a:off x="2441474" y="4433397"/>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flipV="1">
              <a:off x="2934650" y="442633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flipV="1">
              <a:off x="2935161" y="5300376"/>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flipV="1">
              <a:off x="2934670" y="5289648"/>
              <a:ext cx="2060138" cy="227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flipV="1">
              <a:off x="4471099" y="4389465"/>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flipV="1">
              <a:off x="2947534" y="4876958"/>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V="1">
              <a:off x="2962029" y="5156962"/>
              <a:ext cx="990242" cy="58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V="1">
              <a:off x="2937449" y="4703929"/>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V="1">
              <a:off x="3458067" y="4389465"/>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flipV="1">
              <a:off x="3455771" y="4396532"/>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flipV="1">
              <a:off x="3954489" y="4391229"/>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flipV="1">
              <a:off x="3938895" y="4703871"/>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flipV="1">
              <a:off x="3964703" y="4874334"/>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3962407" y="4886357"/>
              <a:ext cx="1022486" cy="23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flipV="1">
              <a:off x="4494760" y="4392956"/>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V="1">
              <a:off x="4993478" y="4387653"/>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flipV="1">
              <a:off x="5007056" y="5766609"/>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flipV="1">
              <a:off x="5006257" y="5765461"/>
              <a:ext cx="2725468" cy="95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V="1">
              <a:off x="4983953" y="5616787"/>
              <a:ext cx="2079485" cy="20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V="1">
              <a:off x="5003548" y="528909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flipV="1">
              <a:off x="5003548" y="4897211"/>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flipV="1">
              <a:off x="5018043" y="5177215"/>
              <a:ext cx="990242" cy="58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flipV="1">
              <a:off x="5511184" y="4397911"/>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flipV="1">
              <a:off x="4978980" y="4712317"/>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V="1">
              <a:off x="5512670" y="4406922"/>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V="1">
              <a:off x="6011388" y="4401619"/>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V="1">
              <a:off x="6024383" y="488261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a:off x="6022087" y="4894633"/>
              <a:ext cx="1022486" cy="23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flipV="1">
              <a:off x="6527308" y="4407212"/>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flipV="1">
              <a:off x="5995104" y="4721618"/>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V="1">
              <a:off x="6528326" y="4425448"/>
              <a:ext cx="489193"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flipV="1">
              <a:off x="7032586" y="4420145"/>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flipV="1">
              <a:off x="7057164" y="5316589"/>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flipV="1">
              <a:off x="7030860" y="5284758"/>
              <a:ext cx="709861" cy="1173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flipV="1">
              <a:off x="7044573" y="4879971"/>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flipV="1">
              <a:off x="7042116" y="5166489"/>
              <a:ext cx="707627" cy="78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flipV="1">
              <a:off x="7024644" y="4732051"/>
              <a:ext cx="544906" cy="95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V="1">
              <a:off x="2406675" y="6339161"/>
              <a:ext cx="5158307" cy="278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flipV="1">
              <a:off x="7588345" y="6328171"/>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a:off x="7747645" y="4268424"/>
              <a:ext cx="0" cy="1952425"/>
            </a:xfrm>
            <a:prstGeom prst="line">
              <a:avLst/>
            </a:prstGeom>
            <a:ln w="254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flipV="1">
              <a:off x="7723635" y="6328171"/>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a:off x="8065147" y="4138983"/>
              <a:ext cx="56566" cy="269803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flipV="1">
              <a:off x="7564751" y="4422555"/>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flipV="1">
              <a:off x="7566237" y="4433397"/>
              <a:ext cx="181408" cy="31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7567720" y="6597712"/>
              <a:ext cx="164005" cy="47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flipV="1">
              <a:off x="7731875" y="6326231"/>
              <a:ext cx="1225369" cy="113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flipV="1">
              <a:off x="8088547" y="4891520"/>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flipV="1">
              <a:off x="8102217" y="6003530"/>
              <a:ext cx="971028" cy="147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p:nvPr/>
          </p:nvCxnSpPr>
          <p:spPr>
            <a:xfrm flipV="1">
              <a:off x="8082145" y="4427212"/>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flipV="1">
              <a:off x="8049235" y="4747211"/>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6" name="矩形 265"/>
          <p:cNvSpPr/>
          <p:nvPr/>
        </p:nvSpPr>
        <p:spPr>
          <a:xfrm>
            <a:off x="458741" y="3735026"/>
            <a:ext cx="595035" cy="535531"/>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CP</a:t>
            </a:r>
            <a:endParaRPr lang="en-US" altLang="zh-CN" sz="2400" b="1" dirty="0">
              <a:latin typeface="Times New Roman" panose="02020603050405020304" pitchFamily="18" charset="0"/>
              <a:cs typeface="Times New Roman" panose="02020603050405020304" pitchFamily="18" charset="0"/>
            </a:endParaRPr>
          </a:p>
        </p:txBody>
      </p:sp>
      <p:sp>
        <p:nvSpPr>
          <p:cNvPr id="267" name="矩形 266"/>
          <p:cNvSpPr/>
          <p:nvPr/>
        </p:nvSpPr>
        <p:spPr>
          <a:xfrm>
            <a:off x="471814" y="5713644"/>
            <a:ext cx="526106"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Q</a:t>
            </a:r>
            <a:r>
              <a:rPr lang="en-US" altLang="zh-CN" sz="2400" b="1" baseline="-25000" dirty="0">
                <a:latin typeface="Times New Roman" panose="02020603050405020304" pitchFamily="18" charset="0"/>
                <a:cs typeface="Times New Roman" panose="02020603050405020304" pitchFamily="18" charset="0"/>
              </a:rPr>
              <a:t>3</a:t>
            </a:r>
            <a:endParaRPr lang="en-US" altLang="zh-CN" sz="2400" b="1" baseline="-25000" dirty="0">
              <a:latin typeface="Times New Roman" panose="02020603050405020304" pitchFamily="18" charset="0"/>
              <a:cs typeface="Times New Roman" panose="02020603050405020304" pitchFamily="18" charset="0"/>
            </a:endParaRPr>
          </a:p>
        </p:txBody>
      </p:sp>
      <p:sp>
        <p:nvSpPr>
          <p:cNvPr id="268" name="矩形 267"/>
          <p:cNvSpPr/>
          <p:nvPr/>
        </p:nvSpPr>
        <p:spPr>
          <a:xfrm>
            <a:off x="465340" y="4768971"/>
            <a:ext cx="526106"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Q</a:t>
            </a:r>
            <a:r>
              <a:rPr lang="en-US" altLang="zh-CN" sz="2400" b="1" baseline="-25000" dirty="0">
                <a:latin typeface="Times New Roman" panose="02020603050405020304" pitchFamily="18" charset="0"/>
                <a:cs typeface="Times New Roman" panose="02020603050405020304" pitchFamily="18" charset="0"/>
              </a:rPr>
              <a:t>1</a:t>
            </a:r>
            <a:endParaRPr lang="en-US" altLang="zh-CN" sz="2400" b="1" baseline="-25000" dirty="0">
              <a:latin typeface="Times New Roman" panose="02020603050405020304" pitchFamily="18" charset="0"/>
              <a:cs typeface="Times New Roman" panose="02020603050405020304" pitchFamily="18" charset="0"/>
            </a:endParaRPr>
          </a:p>
        </p:txBody>
      </p:sp>
      <p:sp>
        <p:nvSpPr>
          <p:cNvPr id="269" name="矩形 268"/>
          <p:cNvSpPr/>
          <p:nvPr/>
        </p:nvSpPr>
        <p:spPr>
          <a:xfrm>
            <a:off x="471814" y="5216777"/>
            <a:ext cx="526106"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Q</a:t>
            </a:r>
            <a:r>
              <a:rPr lang="en-US" altLang="zh-CN" sz="2400" b="1" baseline="-25000" dirty="0">
                <a:latin typeface="Times New Roman" panose="02020603050405020304" pitchFamily="18" charset="0"/>
                <a:cs typeface="Times New Roman" panose="02020603050405020304" pitchFamily="18" charset="0"/>
              </a:rPr>
              <a:t>2</a:t>
            </a:r>
            <a:endParaRPr lang="en-US" altLang="zh-CN" sz="2400" b="1" baseline="-25000" dirty="0">
              <a:latin typeface="Times New Roman" panose="02020603050405020304" pitchFamily="18" charset="0"/>
              <a:cs typeface="Times New Roman" panose="02020603050405020304" pitchFamily="18" charset="0"/>
            </a:endParaRPr>
          </a:p>
        </p:txBody>
      </p:sp>
      <p:sp>
        <p:nvSpPr>
          <p:cNvPr id="270" name="矩形 269"/>
          <p:cNvSpPr/>
          <p:nvPr/>
        </p:nvSpPr>
        <p:spPr>
          <a:xfrm>
            <a:off x="451592" y="4239933"/>
            <a:ext cx="526106" cy="496867"/>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Q</a:t>
            </a:r>
            <a:r>
              <a:rPr lang="en-US" altLang="zh-CN" sz="2400" b="1" baseline="-25000" dirty="0">
                <a:latin typeface="Times New Roman" panose="02020603050405020304" pitchFamily="18" charset="0"/>
                <a:cs typeface="Times New Roman" panose="02020603050405020304" pitchFamily="18" charset="0"/>
              </a:rPr>
              <a:t>0</a:t>
            </a:r>
            <a:endParaRPr lang="en-US" altLang="zh-CN" sz="2400" b="1" baseline="-25000" dirty="0">
              <a:latin typeface="Times New Roman" panose="02020603050405020304" pitchFamily="18" charset="0"/>
              <a:cs typeface="Times New Roman" panose="02020603050405020304" pitchFamily="18" charset="0"/>
            </a:endParaRPr>
          </a:p>
        </p:txBody>
      </p:sp>
      <p:sp>
        <p:nvSpPr>
          <p:cNvPr id="271" name="矩形 270"/>
          <p:cNvSpPr/>
          <p:nvPr/>
        </p:nvSpPr>
        <p:spPr>
          <a:xfrm>
            <a:off x="439892" y="6312225"/>
            <a:ext cx="612668" cy="535531"/>
          </a:xfrm>
          <a:prstGeom prst="rect">
            <a:avLst/>
          </a:prstGeom>
        </p:spPr>
        <p:txBody>
          <a:bodyPr wrap="none">
            <a:spAutoFit/>
          </a:bodyPr>
          <a:lstStyle/>
          <a:p>
            <a:pPr>
              <a:lnSpc>
                <a:spcPct val="120000"/>
              </a:lnSpc>
            </a:pPr>
            <a:r>
              <a:rPr lang="en-US" altLang="zh-CN" sz="2400" b="1" dirty="0">
                <a:latin typeface="Times New Roman" panose="02020603050405020304" pitchFamily="18" charset="0"/>
                <a:cs typeface="Times New Roman" panose="02020603050405020304" pitchFamily="18" charset="0"/>
              </a:rPr>
              <a:t>LD</a:t>
            </a:r>
            <a:endParaRPr lang="en-US" altLang="zh-CN" sz="2400" b="1" dirty="0">
              <a:latin typeface="Times New Roman" panose="02020603050405020304" pitchFamily="18" charset="0"/>
              <a:cs typeface="Times New Roman" panose="02020603050405020304" pitchFamily="18" charset="0"/>
            </a:endParaRPr>
          </a:p>
        </p:txBody>
      </p:sp>
      <p:grpSp>
        <p:nvGrpSpPr>
          <p:cNvPr id="306" name="组合 305"/>
          <p:cNvGrpSpPr/>
          <p:nvPr/>
        </p:nvGrpSpPr>
        <p:grpSpPr>
          <a:xfrm>
            <a:off x="1346712" y="4283898"/>
            <a:ext cx="344939" cy="1867925"/>
            <a:chOff x="1478151" y="4323412"/>
            <a:chExt cx="344939" cy="1867925"/>
          </a:xfrm>
        </p:grpSpPr>
        <p:sp>
          <p:nvSpPr>
            <p:cNvPr id="273" name="矩形 272"/>
            <p:cNvSpPr/>
            <p:nvPr/>
          </p:nvSpPr>
          <p:spPr>
            <a:xfrm>
              <a:off x="1484536" y="5655806"/>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4" name="矩形 273"/>
            <p:cNvSpPr/>
            <p:nvPr/>
          </p:nvSpPr>
          <p:spPr>
            <a:xfrm>
              <a:off x="1481767" y="5154274"/>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5" name="矩形 274"/>
            <p:cNvSpPr/>
            <p:nvPr/>
          </p:nvSpPr>
          <p:spPr>
            <a:xfrm>
              <a:off x="1479602" y="4771338"/>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6" name="矩形 275"/>
            <p:cNvSpPr/>
            <p:nvPr/>
          </p:nvSpPr>
          <p:spPr>
            <a:xfrm>
              <a:off x="1478151" y="4323412"/>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05" name="组合 304"/>
          <p:cNvGrpSpPr/>
          <p:nvPr/>
        </p:nvGrpSpPr>
        <p:grpSpPr>
          <a:xfrm>
            <a:off x="2361322" y="4303065"/>
            <a:ext cx="352537" cy="1867925"/>
            <a:chOff x="1073863" y="4323835"/>
            <a:chExt cx="352537" cy="1867925"/>
          </a:xfrm>
        </p:grpSpPr>
        <p:sp>
          <p:nvSpPr>
            <p:cNvPr id="277" name="矩形 276"/>
            <p:cNvSpPr/>
            <p:nvPr/>
          </p:nvSpPr>
          <p:spPr>
            <a:xfrm>
              <a:off x="1076870" y="5656229"/>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8" name="矩形 277"/>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79" name="矩形 278"/>
            <p:cNvSpPr/>
            <p:nvPr/>
          </p:nvSpPr>
          <p:spPr>
            <a:xfrm>
              <a:off x="1087846" y="4716528"/>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80" name="矩形 279"/>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07" name="组合 306"/>
          <p:cNvGrpSpPr/>
          <p:nvPr/>
        </p:nvGrpSpPr>
        <p:grpSpPr>
          <a:xfrm>
            <a:off x="6301029" y="4319973"/>
            <a:ext cx="344939" cy="1829261"/>
            <a:chOff x="6656829" y="4333880"/>
            <a:chExt cx="344939" cy="1829261"/>
          </a:xfrm>
        </p:grpSpPr>
        <p:sp>
          <p:nvSpPr>
            <p:cNvPr id="281" name="矩形 280"/>
            <p:cNvSpPr/>
            <p:nvPr/>
          </p:nvSpPr>
          <p:spPr>
            <a:xfrm>
              <a:off x="6663214" y="5666274"/>
              <a:ext cx="338554" cy="496867"/>
            </a:xfrm>
            <a:prstGeom prst="rect">
              <a:avLst/>
            </a:prstGeom>
          </p:spPr>
          <p:txBody>
            <a:bodyPr wrap="none">
              <a:spAutoFit/>
            </a:bodyPr>
            <a:lstStyle/>
            <a:p>
              <a:pPr>
                <a:lnSpc>
                  <a:spcPct val="120000"/>
                </a:lnSpc>
              </a:pPr>
              <a:r>
                <a:rPr lang="en-US" altLang="zh-CN" sz="2400" b="1" dirty="0">
                  <a:solidFill>
                    <a:srgbClr val="FF0000"/>
                  </a:solidFill>
                  <a:latin typeface="Times New Roman" panose="02020603050405020304" pitchFamily="18" charset="0"/>
                  <a:cs typeface="Times New Roman" panose="02020603050405020304" pitchFamily="18" charset="0"/>
                </a:rPr>
                <a:t>1</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282" name="矩形 281"/>
            <p:cNvSpPr/>
            <p:nvPr/>
          </p:nvSpPr>
          <p:spPr>
            <a:xfrm>
              <a:off x="6660445" y="5164742"/>
              <a:ext cx="338554" cy="496867"/>
            </a:xfrm>
            <a:prstGeom prst="rect">
              <a:avLst/>
            </a:prstGeom>
          </p:spPr>
          <p:txBody>
            <a:bodyPr wrap="none">
              <a:spAutoFit/>
            </a:bodyPr>
            <a:lstStyle/>
            <a:p>
              <a:pPr>
                <a:lnSpc>
                  <a:spcPct val="120000"/>
                </a:lnSpc>
              </a:pPr>
              <a:r>
                <a:rPr lang="en-US" altLang="zh-CN" sz="2400" b="1" dirty="0">
                  <a:solidFill>
                    <a:srgbClr val="FF0000"/>
                  </a:solidFill>
                  <a:latin typeface="Times New Roman" panose="02020603050405020304" pitchFamily="18" charset="0"/>
                  <a:cs typeface="Times New Roman" panose="02020603050405020304" pitchFamily="18" charset="0"/>
                </a:rPr>
                <a:t>1</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283" name="矩形 282"/>
            <p:cNvSpPr/>
            <p:nvPr/>
          </p:nvSpPr>
          <p:spPr>
            <a:xfrm>
              <a:off x="6658994" y="4748741"/>
              <a:ext cx="338554" cy="496867"/>
            </a:xfrm>
            <a:prstGeom prst="rect">
              <a:avLst/>
            </a:prstGeom>
          </p:spPr>
          <p:txBody>
            <a:bodyPr wrap="none">
              <a:spAutoFit/>
            </a:bodyPr>
            <a:lstStyle/>
            <a:p>
              <a:pPr>
                <a:lnSpc>
                  <a:spcPct val="120000"/>
                </a:lnSpc>
              </a:pPr>
              <a:r>
                <a:rPr lang="en-US" altLang="zh-CN" sz="2400" b="1" dirty="0">
                  <a:solidFill>
                    <a:srgbClr val="FF0000"/>
                  </a:solidFill>
                  <a:latin typeface="Times New Roman" panose="02020603050405020304" pitchFamily="18" charset="0"/>
                  <a:cs typeface="Times New Roman" panose="02020603050405020304" pitchFamily="18" charset="0"/>
                </a:rPr>
                <a:t>0</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284" name="矩形 283"/>
            <p:cNvSpPr/>
            <p:nvPr/>
          </p:nvSpPr>
          <p:spPr>
            <a:xfrm>
              <a:off x="6656829" y="4333880"/>
              <a:ext cx="338554" cy="496867"/>
            </a:xfrm>
            <a:prstGeom prst="rect">
              <a:avLst/>
            </a:prstGeom>
          </p:spPr>
          <p:txBody>
            <a:bodyPr wrap="none">
              <a:spAutoFit/>
            </a:bodyPr>
            <a:lstStyle/>
            <a:p>
              <a:pPr>
                <a:lnSpc>
                  <a:spcPct val="120000"/>
                </a:lnSpc>
              </a:pPr>
              <a:r>
                <a:rPr lang="en-US" altLang="zh-CN" sz="2400" b="1" dirty="0">
                  <a:solidFill>
                    <a:srgbClr val="FF0000"/>
                  </a:solidFill>
                  <a:latin typeface="Times New Roman" panose="02020603050405020304" pitchFamily="18" charset="0"/>
                  <a:cs typeface="Times New Roman" panose="02020603050405020304" pitchFamily="18" charset="0"/>
                </a:rPr>
                <a:t>1</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grpSp>
      <p:grpSp>
        <p:nvGrpSpPr>
          <p:cNvPr id="303" name="组合 302"/>
          <p:cNvGrpSpPr/>
          <p:nvPr/>
        </p:nvGrpSpPr>
        <p:grpSpPr>
          <a:xfrm>
            <a:off x="6588397" y="4313861"/>
            <a:ext cx="349247" cy="1784445"/>
            <a:chOff x="6930622" y="4372572"/>
            <a:chExt cx="349247" cy="1784445"/>
          </a:xfrm>
        </p:grpSpPr>
        <p:sp>
          <p:nvSpPr>
            <p:cNvPr id="285" name="矩形 284"/>
            <p:cNvSpPr/>
            <p:nvPr/>
          </p:nvSpPr>
          <p:spPr>
            <a:xfrm>
              <a:off x="6941315" y="5660150"/>
              <a:ext cx="338554" cy="496867"/>
            </a:xfrm>
            <a:prstGeom prst="rect">
              <a:avLst/>
            </a:prstGeom>
          </p:spPr>
          <p:txBody>
            <a:bodyPr wrap="none">
              <a:spAutoFit/>
            </a:bodyPr>
            <a:lstStyle/>
            <a:p>
              <a:pPr>
                <a:lnSpc>
                  <a:spcPct val="120000"/>
                </a:lnSpc>
              </a:pPr>
              <a:r>
                <a:rPr lang="en-US" altLang="zh-CN" sz="2400" b="1" dirty="0">
                  <a:solidFill>
                    <a:schemeClr val="accent6">
                      <a:lumMod val="75000"/>
                    </a:schemeClr>
                  </a:solidFill>
                  <a:latin typeface="Times New Roman" panose="02020603050405020304" pitchFamily="18" charset="0"/>
                  <a:cs typeface="Times New Roman" panose="02020603050405020304" pitchFamily="18" charset="0"/>
                </a:rPr>
                <a:t>0</a:t>
              </a:r>
              <a:endParaRPr lang="en-US" altLang="zh-CN" sz="24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286" name="矩形 285"/>
            <p:cNvSpPr/>
            <p:nvPr/>
          </p:nvSpPr>
          <p:spPr>
            <a:xfrm>
              <a:off x="6933598" y="5185662"/>
              <a:ext cx="338554" cy="496867"/>
            </a:xfrm>
            <a:prstGeom prst="rect">
              <a:avLst/>
            </a:prstGeom>
          </p:spPr>
          <p:txBody>
            <a:bodyPr wrap="none">
              <a:spAutoFit/>
            </a:bodyPr>
            <a:lstStyle/>
            <a:p>
              <a:pPr>
                <a:lnSpc>
                  <a:spcPct val="120000"/>
                </a:lnSpc>
              </a:pPr>
              <a:r>
                <a:rPr lang="en-US" altLang="zh-CN" sz="2400" b="1" dirty="0">
                  <a:solidFill>
                    <a:schemeClr val="accent6">
                      <a:lumMod val="75000"/>
                    </a:schemeClr>
                  </a:solidFill>
                  <a:latin typeface="Times New Roman" panose="02020603050405020304" pitchFamily="18" charset="0"/>
                  <a:cs typeface="Times New Roman" panose="02020603050405020304" pitchFamily="18" charset="0"/>
                </a:rPr>
                <a:t>0</a:t>
              </a:r>
              <a:endParaRPr lang="en-US" altLang="zh-CN" sz="24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287" name="矩形 286"/>
            <p:cNvSpPr/>
            <p:nvPr/>
          </p:nvSpPr>
          <p:spPr>
            <a:xfrm>
              <a:off x="6930622" y="4814339"/>
              <a:ext cx="338554" cy="496867"/>
            </a:xfrm>
            <a:prstGeom prst="rect">
              <a:avLst/>
            </a:prstGeom>
          </p:spPr>
          <p:txBody>
            <a:bodyPr wrap="none">
              <a:spAutoFit/>
            </a:bodyPr>
            <a:lstStyle/>
            <a:p>
              <a:pPr>
                <a:lnSpc>
                  <a:spcPct val="120000"/>
                </a:lnSpc>
              </a:pPr>
              <a:r>
                <a:rPr lang="en-US" altLang="zh-CN" sz="2400" b="1" dirty="0">
                  <a:solidFill>
                    <a:schemeClr val="accent6">
                      <a:lumMod val="75000"/>
                    </a:schemeClr>
                  </a:solidFill>
                  <a:latin typeface="Times New Roman" panose="02020603050405020304" pitchFamily="18" charset="0"/>
                  <a:cs typeface="Times New Roman" panose="02020603050405020304" pitchFamily="18" charset="0"/>
                </a:rPr>
                <a:t>1</a:t>
              </a:r>
              <a:endParaRPr lang="en-US" altLang="zh-CN" sz="24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288" name="矩形 287"/>
            <p:cNvSpPr/>
            <p:nvPr/>
          </p:nvSpPr>
          <p:spPr>
            <a:xfrm>
              <a:off x="6940698" y="4372572"/>
              <a:ext cx="338554" cy="496867"/>
            </a:xfrm>
            <a:prstGeom prst="rect">
              <a:avLst/>
            </a:prstGeom>
          </p:spPr>
          <p:txBody>
            <a:bodyPr wrap="none">
              <a:spAutoFit/>
            </a:bodyPr>
            <a:lstStyle/>
            <a:p>
              <a:pPr>
                <a:lnSpc>
                  <a:spcPct val="120000"/>
                </a:lnSpc>
              </a:pPr>
              <a:r>
                <a:rPr lang="en-US" altLang="zh-CN" sz="2400" b="1" dirty="0">
                  <a:solidFill>
                    <a:schemeClr val="accent6">
                      <a:lumMod val="75000"/>
                    </a:schemeClr>
                  </a:solidFill>
                  <a:latin typeface="Times New Roman" panose="02020603050405020304" pitchFamily="18" charset="0"/>
                  <a:cs typeface="Times New Roman" panose="02020603050405020304" pitchFamily="18" charset="0"/>
                </a:rPr>
                <a:t>1</a:t>
              </a:r>
              <a:endParaRPr lang="en-US" altLang="zh-CN" sz="2400" b="1" dirty="0">
                <a:solidFill>
                  <a:schemeClr val="accent6">
                    <a:lumMod val="75000"/>
                  </a:schemeClr>
                </a:solidFill>
                <a:latin typeface="Times New Roman" panose="02020603050405020304" pitchFamily="18" charset="0"/>
                <a:cs typeface="Times New Roman" panose="02020603050405020304" pitchFamily="18" charset="0"/>
              </a:endParaRPr>
            </a:p>
          </p:txBody>
        </p:sp>
      </p:grpSp>
      <p:sp>
        <p:nvSpPr>
          <p:cNvPr id="301" name="矩形标注 300"/>
          <p:cNvSpPr/>
          <p:nvPr/>
        </p:nvSpPr>
        <p:spPr>
          <a:xfrm>
            <a:off x="6671809" y="2110371"/>
            <a:ext cx="1639417" cy="611313"/>
          </a:xfrm>
          <a:prstGeom prst="wedgeRectCallout">
            <a:avLst>
              <a:gd name="adj1" fmla="val -49200"/>
              <a:gd name="adj2" fmla="val 34838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6"/>
                </a:solidFill>
                <a:latin typeface="黑体" panose="02010609060101010101" pitchFamily="49" charset="-122"/>
                <a:ea typeface="黑体" panose="02010609060101010101" pitchFamily="49" charset="-122"/>
              </a:rPr>
              <a:t>异步置数</a:t>
            </a:r>
            <a:endParaRPr lang="zh-CN" altLang="en-US" sz="2800" b="1" dirty="0">
              <a:solidFill>
                <a:schemeClr val="accent6"/>
              </a:solidFill>
              <a:latin typeface="黑体" panose="02010609060101010101" pitchFamily="49" charset="-122"/>
              <a:ea typeface="黑体" panose="02010609060101010101" pitchFamily="49" charset="-122"/>
            </a:endParaRPr>
          </a:p>
        </p:txBody>
      </p:sp>
      <p:sp>
        <p:nvSpPr>
          <p:cNvPr id="304" name="矩形标注 303"/>
          <p:cNvSpPr/>
          <p:nvPr/>
        </p:nvSpPr>
        <p:spPr>
          <a:xfrm>
            <a:off x="7997292" y="6163141"/>
            <a:ext cx="1146708" cy="389020"/>
          </a:xfrm>
          <a:prstGeom prst="wedgeRectCallout">
            <a:avLst>
              <a:gd name="adj1" fmla="val -181373"/>
              <a:gd name="adj2" fmla="val 3940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latin typeface="黑体" panose="02010609060101010101" pitchFamily="49" charset="-122"/>
                <a:ea typeface="黑体" panose="02010609060101010101" pitchFamily="49" charset="-122"/>
              </a:rPr>
              <a:t>置数有效</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208" name="组合 207"/>
          <p:cNvGrpSpPr/>
          <p:nvPr/>
        </p:nvGrpSpPr>
        <p:grpSpPr>
          <a:xfrm>
            <a:off x="2324894" y="33467"/>
            <a:ext cx="4292409" cy="3215037"/>
            <a:chOff x="4742500" y="2783999"/>
            <a:chExt cx="4292409" cy="3215037"/>
          </a:xfrm>
        </p:grpSpPr>
        <p:grpSp>
          <p:nvGrpSpPr>
            <p:cNvPr id="211" name="组合 210"/>
            <p:cNvGrpSpPr/>
            <p:nvPr/>
          </p:nvGrpSpPr>
          <p:grpSpPr>
            <a:xfrm>
              <a:off x="4742500" y="2783999"/>
              <a:ext cx="4292409" cy="2868999"/>
              <a:chOff x="4206242" y="3323291"/>
              <a:chExt cx="4292409" cy="2868999"/>
            </a:xfrm>
          </p:grpSpPr>
          <p:grpSp>
            <p:nvGrpSpPr>
              <p:cNvPr id="233" name="组合 232"/>
              <p:cNvGrpSpPr/>
              <p:nvPr/>
            </p:nvGrpSpPr>
            <p:grpSpPr>
              <a:xfrm>
                <a:off x="5062302" y="4067695"/>
                <a:ext cx="3314762" cy="2124595"/>
                <a:chOff x="5062302" y="4067695"/>
                <a:chExt cx="3314762" cy="2124595"/>
              </a:xfrm>
            </p:grpSpPr>
            <p:pic>
              <p:nvPicPr>
                <p:cNvPr id="246" name="图片 245"/>
                <p:cNvPicPr>
                  <a:picLocks noChangeAspect="1"/>
                </p:cNvPicPr>
                <p:nvPr/>
              </p:nvPicPr>
              <p:blipFill>
                <a:blip r:embed="rId2"/>
                <a:stretch>
                  <a:fillRect/>
                </a:stretch>
              </p:blipFill>
              <p:spPr>
                <a:xfrm>
                  <a:off x="5062302" y="4067695"/>
                  <a:ext cx="3314762" cy="2124595"/>
                </a:xfrm>
                <a:prstGeom prst="rect">
                  <a:avLst/>
                </a:prstGeom>
              </p:spPr>
            </p:pic>
            <p:sp>
              <p:nvSpPr>
                <p:cNvPr id="249" name="文本框 248"/>
                <p:cNvSpPr txBox="1"/>
                <p:nvPr/>
              </p:nvSpPr>
              <p:spPr>
                <a:xfrm>
                  <a:off x="5799484" y="4434214"/>
                  <a:ext cx="1904489"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Q</a:t>
                  </a:r>
                  <a:r>
                    <a:rPr lang="en-US" altLang="zh-CN" sz="2000" b="1" baseline="-25000" dirty="0">
                      <a:latin typeface="Times New Roman" panose="02020603050405020304" pitchFamily="18" charset="0"/>
                      <a:cs typeface="Times New Roman" panose="02020603050405020304" pitchFamily="18" charset="0"/>
                    </a:rPr>
                    <a:t>0   </a:t>
                  </a:r>
                  <a:r>
                    <a:rPr lang="en-US" altLang="zh-CN" sz="2000" b="1" dirty="0">
                      <a:latin typeface="Times New Roman" panose="02020603050405020304" pitchFamily="18" charset="0"/>
                      <a:cs typeface="Times New Roman" panose="02020603050405020304" pitchFamily="18" charset="0"/>
                    </a:rPr>
                    <a:t>Q</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Q </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 Q</a:t>
                  </a:r>
                  <a:r>
                    <a:rPr lang="en-US" altLang="zh-CN" sz="2000" b="1" baseline="-25000" dirty="0">
                      <a:latin typeface="Times New Roman" panose="02020603050405020304" pitchFamily="18" charset="0"/>
                      <a:cs typeface="Times New Roman" panose="02020603050405020304" pitchFamily="18" charset="0"/>
                    </a:rPr>
                    <a:t>3</a:t>
                  </a:r>
                  <a:endParaRPr lang="zh-CN" altLang="en-US" sz="2000" b="1" baseline="-25000" dirty="0">
                    <a:latin typeface="Times New Roman" panose="02020603050405020304" pitchFamily="18" charset="0"/>
                    <a:cs typeface="Times New Roman" panose="02020603050405020304" pitchFamily="18" charset="0"/>
                  </a:endParaRPr>
                </a:p>
              </p:txBody>
            </p:sp>
            <p:sp>
              <p:nvSpPr>
                <p:cNvPr id="250" name="文本框 249"/>
                <p:cNvSpPr txBox="1"/>
                <p:nvPr/>
              </p:nvSpPr>
              <p:spPr>
                <a:xfrm>
                  <a:off x="5536398" y="4653718"/>
                  <a:ext cx="653934" cy="86177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CR</a:t>
                  </a:r>
                  <a:endParaRPr lang="en-US" altLang="zh-CN" sz="1600" b="1" dirty="0">
                    <a:latin typeface="Times New Roman" panose="02020603050405020304" pitchFamily="18" charset="0"/>
                    <a:cs typeface="Times New Roman" panose="02020603050405020304" pitchFamily="18" charset="0"/>
                  </a:endParaRPr>
                </a:p>
                <a:p>
                  <a:r>
                    <a:rPr lang="en-US" altLang="zh-CN" sz="1600" b="1" dirty="0">
                      <a:latin typeface="Times New Roman" panose="02020603050405020304" pitchFamily="18" charset="0"/>
                      <a:cs typeface="Times New Roman" panose="02020603050405020304" pitchFamily="18" charset="0"/>
                    </a:rPr>
                    <a:t>CP</a:t>
                  </a:r>
                  <a:r>
                    <a:rPr lang="en-US" altLang="zh-CN" sz="1600" b="1" baseline="-25000" dirty="0">
                      <a:latin typeface="Times New Roman" panose="02020603050405020304" pitchFamily="18" charset="0"/>
                      <a:cs typeface="Times New Roman" panose="02020603050405020304" pitchFamily="18" charset="0"/>
                    </a:rPr>
                    <a:t>U</a:t>
                  </a:r>
                  <a:endParaRPr lang="en-US" altLang="zh-CN" sz="1600" b="1" baseline="-25000" dirty="0">
                    <a:latin typeface="Times New Roman" panose="02020603050405020304" pitchFamily="18" charset="0"/>
                    <a:cs typeface="Times New Roman" panose="02020603050405020304" pitchFamily="18" charset="0"/>
                  </a:endParaRPr>
                </a:p>
                <a:p>
                  <a:r>
                    <a:rPr lang="en-US" altLang="zh-CN" sz="1600" b="1" dirty="0">
                      <a:latin typeface="Times New Roman" panose="02020603050405020304" pitchFamily="18" charset="0"/>
                      <a:cs typeface="Times New Roman" panose="02020603050405020304" pitchFamily="18" charset="0"/>
                    </a:rPr>
                    <a:t>CP</a:t>
                  </a:r>
                  <a:r>
                    <a:rPr lang="en-US" altLang="zh-CN" sz="1600" b="1" baseline="-25000" dirty="0">
                      <a:latin typeface="Times New Roman" panose="02020603050405020304" pitchFamily="18" charset="0"/>
                      <a:cs typeface="Times New Roman" panose="02020603050405020304" pitchFamily="18" charset="0"/>
                    </a:rPr>
                    <a:t>D</a:t>
                  </a:r>
                  <a:endParaRPr lang="zh-CN" altLang="en-US" sz="1600" b="1" baseline="-25000" dirty="0">
                    <a:latin typeface="Times New Roman" panose="02020603050405020304" pitchFamily="18" charset="0"/>
                    <a:cs typeface="Times New Roman" panose="02020603050405020304" pitchFamily="18" charset="0"/>
                  </a:endParaRPr>
                </a:p>
              </p:txBody>
            </p:sp>
            <p:sp>
              <p:nvSpPr>
                <p:cNvPr id="252" name="文本框 251"/>
                <p:cNvSpPr txBox="1"/>
                <p:nvPr/>
              </p:nvSpPr>
              <p:spPr>
                <a:xfrm>
                  <a:off x="5785658" y="5283587"/>
                  <a:ext cx="1904489"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D</a:t>
                  </a:r>
                  <a:r>
                    <a:rPr lang="en-US" altLang="zh-CN" sz="2000" b="1" baseline="-25000" dirty="0">
                      <a:latin typeface="Times New Roman" panose="02020603050405020304" pitchFamily="18" charset="0"/>
                      <a:cs typeface="Times New Roman" panose="02020603050405020304" pitchFamily="18" charset="0"/>
                    </a:rPr>
                    <a:t>0   </a:t>
                  </a:r>
                  <a:r>
                    <a:rPr lang="en-US" altLang="zh-CN" sz="2000" b="1" dirty="0">
                      <a:latin typeface="Times New Roman" panose="02020603050405020304" pitchFamily="18" charset="0"/>
                      <a:cs typeface="Times New Roman" panose="02020603050405020304" pitchFamily="18" charset="0"/>
                    </a:rPr>
                    <a:t>D</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   D </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 D</a:t>
                  </a:r>
                  <a:r>
                    <a:rPr lang="en-US" altLang="zh-CN" sz="2000" b="1" baseline="-25000" dirty="0">
                      <a:latin typeface="Times New Roman" panose="02020603050405020304" pitchFamily="18" charset="0"/>
                      <a:cs typeface="Times New Roman" panose="02020603050405020304" pitchFamily="18" charset="0"/>
                    </a:rPr>
                    <a:t>3</a:t>
                  </a:r>
                  <a:endParaRPr lang="zh-CN" altLang="en-US" sz="2000" b="1" baseline="-25000" dirty="0">
                    <a:latin typeface="Times New Roman" panose="02020603050405020304" pitchFamily="18" charset="0"/>
                    <a:cs typeface="Times New Roman" panose="02020603050405020304" pitchFamily="18" charset="0"/>
                  </a:endParaRPr>
                </a:p>
              </p:txBody>
            </p:sp>
            <p:sp>
              <p:nvSpPr>
                <p:cNvPr id="257" name="文本框 256"/>
                <p:cNvSpPr txBox="1"/>
                <p:nvPr/>
              </p:nvSpPr>
              <p:spPr>
                <a:xfrm>
                  <a:off x="7396373" y="4592162"/>
                  <a:ext cx="653934" cy="923330"/>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BO</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CO</a:t>
                  </a:r>
                  <a:endParaRPr lang="en-US" altLang="zh-CN" b="1" baseline="-25000"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LD</a:t>
                  </a:r>
                  <a:endParaRPr lang="zh-CN" altLang="en-US" b="1" baseline="-25000" dirty="0">
                    <a:latin typeface="Times New Roman" panose="02020603050405020304" pitchFamily="18" charset="0"/>
                    <a:cs typeface="Times New Roman" panose="02020603050405020304" pitchFamily="18" charset="0"/>
                  </a:endParaRPr>
                </a:p>
              </p:txBody>
            </p:sp>
            <p:cxnSp>
              <p:nvCxnSpPr>
                <p:cNvPr id="260" name="直接连接符 259"/>
                <p:cNvCxnSpPr/>
                <p:nvPr/>
              </p:nvCxnSpPr>
              <p:spPr>
                <a:xfrm flipV="1">
                  <a:off x="7491278" y="4642538"/>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flipV="1">
                  <a:off x="7502362" y="4938200"/>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flipV="1">
                  <a:off x="7491278" y="5203204"/>
                  <a:ext cx="307319" cy="5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5" name="直接连接符 234"/>
              <p:cNvCxnSpPr/>
              <p:nvPr/>
            </p:nvCxnSpPr>
            <p:spPr>
              <a:xfrm flipV="1">
                <a:off x="4823118" y="5048287"/>
                <a:ext cx="515389" cy="554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a:off x="4206242" y="4839866"/>
                <a:ext cx="579948"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CP</a:t>
                </a:r>
                <a:endParaRPr lang="zh-CN" altLang="en-US" sz="2000" b="1" dirty="0">
                  <a:latin typeface="Times New Roman" panose="02020603050405020304" pitchFamily="18" charset="0"/>
                  <a:cs typeface="Times New Roman" panose="02020603050405020304" pitchFamily="18" charset="0"/>
                </a:endParaRPr>
              </a:p>
            </p:txBody>
          </p:sp>
          <p:sp>
            <p:nvSpPr>
              <p:cNvPr id="240" name="矩形 239"/>
              <p:cNvSpPr/>
              <p:nvPr/>
            </p:nvSpPr>
            <p:spPr>
              <a:xfrm>
                <a:off x="7595828" y="3323291"/>
                <a:ext cx="405537" cy="4992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FF"/>
                    </a:solidFill>
                  </a:rPr>
                  <a:t>&amp;</a:t>
                </a:r>
                <a:endParaRPr lang="zh-CN" altLang="en-US" dirty="0">
                  <a:solidFill>
                    <a:srgbClr val="0000FF"/>
                  </a:solidFill>
                </a:endParaRPr>
              </a:p>
            </p:txBody>
          </p:sp>
          <p:cxnSp>
            <p:nvCxnSpPr>
              <p:cNvPr id="244" name="直接连接符 243"/>
              <p:cNvCxnSpPr/>
              <p:nvPr/>
            </p:nvCxnSpPr>
            <p:spPr>
              <a:xfrm flipH="1" flipV="1">
                <a:off x="8481060" y="3601070"/>
                <a:ext cx="12382" cy="1756563"/>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a:off x="8082839" y="3584571"/>
                <a:ext cx="415812" cy="1"/>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12" name="直接连接符 211"/>
            <p:cNvCxnSpPr/>
            <p:nvPr/>
          </p:nvCxnSpPr>
          <p:spPr>
            <a:xfrm>
              <a:off x="6012821" y="4451291"/>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flipH="1">
              <a:off x="6023904" y="4539959"/>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a:off x="6007278" y="4735215"/>
              <a:ext cx="138545" cy="88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flipH="1">
              <a:off x="6018361" y="4818341"/>
              <a:ext cx="127462" cy="609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1" name="椭圆 220"/>
            <p:cNvSpPr/>
            <p:nvPr/>
          </p:nvSpPr>
          <p:spPr>
            <a:xfrm>
              <a:off x="5929745" y="5427950"/>
              <a:ext cx="2607878" cy="571086"/>
            </a:xfrm>
            <a:prstGeom prst="ellipse">
              <a:avLst/>
            </a:pr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0000FF"/>
                  </a:solidFill>
                  <a:latin typeface="黑体" panose="02010609060101010101" pitchFamily="49" charset="-122"/>
                  <a:ea typeface="黑体" panose="02010609060101010101" pitchFamily="49" charset="-122"/>
                </a:rPr>
                <a:t>1  1  0  0</a:t>
              </a:r>
              <a:endParaRPr lang="zh-CN" altLang="en-US" sz="2400" b="1" dirty="0">
                <a:solidFill>
                  <a:srgbClr val="0000FF"/>
                </a:solidFill>
                <a:latin typeface="黑体" panose="02010609060101010101" pitchFamily="49" charset="-122"/>
                <a:ea typeface="黑体" panose="02010609060101010101" pitchFamily="49" charset="-122"/>
              </a:endParaRPr>
            </a:p>
          </p:txBody>
        </p:sp>
        <p:cxnSp>
          <p:nvCxnSpPr>
            <p:cNvPr id="223" name="直接连接符 222"/>
            <p:cNvCxnSpPr/>
            <p:nvPr/>
          </p:nvCxnSpPr>
          <p:spPr>
            <a:xfrm flipV="1">
              <a:off x="7402930" y="3045280"/>
              <a:ext cx="0" cy="60960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a:endCxn id="240" idx="1"/>
            </p:cNvCxnSpPr>
            <p:nvPr/>
          </p:nvCxnSpPr>
          <p:spPr>
            <a:xfrm>
              <a:off x="7402930" y="3033635"/>
              <a:ext cx="729156" cy="1"/>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flipV="1">
              <a:off x="7834172" y="3157451"/>
              <a:ext cx="0" cy="485274"/>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a:off x="7834172" y="3157451"/>
              <a:ext cx="276726"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flipV="1">
              <a:off x="6456218" y="2885819"/>
              <a:ext cx="1675868" cy="9398"/>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flipV="1">
              <a:off x="6500554" y="2907159"/>
              <a:ext cx="0" cy="704244"/>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229" name="椭圆 228"/>
            <p:cNvSpPr/>
            <p:nvPr/>
          </p:nvSpPr>
          <p:spPr>
            <a:xfrm>
              <a:off x="8537623" y="3003665"/>
              <a:ext cx="103996" cy="985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p:cNvCxnSpPr/>
            <p:nvPr/>
          </p:nvCxnSpPr>
          <p:spPr>
            <a:xfrm flipV="1">
              <a:off x="8739447" y="4817546"/>
              <a:ext cx="277871" cy="79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31" name="文本框 230"/>
            <p:cNvSpPr txBox="1"/>
            <p:nvPr/>
          </p:nvSpPr>
          <p:spPr>
            <a:xfrm>
              <a:off x="5359376" y="3986320"/>
              <a:ext cx="337636"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0</a:t>
              </a:r>
              <a:endParaRPr lang="zh-CN" altLang="en-US" sz="2000" b="1" dirty="0">
                <a:latin typeface="Times New Roman" panose="02020603050405020304" pitchFamily="18" charset="0"/>
                <a:cs typeface="Times New Roman" panose="02020603050405020304" pitchFamily="18" charset="0"/>
              </a:endParaRPr>
            </a:p>
          </p:txBody>
        </p:sp>
      </p:grpSp>
      <p:graphicFrame>
        <p:nvGraphicFramePr>
          <p:cNvPr id="272" name="Object 4"/>
          <p:cNvGraphicFramePr>
            <a:graphicFrameLocks noChangeAspect="1"/>
          </p:cNvGraphicFramePr>
          <p:nvPr/>
        </p:nvGraphicFramePr>
        <p:xfrm>
          <a:off x="7134839" y="1316679"/>
          <a:ext cx="1574800" cy="466725"/>
        </p:xfrm>
        <a:graphic>
          <a:graphicData uri="http://schemas.openxmlformats.org/presentationml/2006/ole">
            <mc:AlternateContent xmlns:mc="http://schemas.openxmlformats.org/markup-compatibility/2006">
              <mc:Choice xmlns:v="urn:schemas-microsoft-com:vml" Requires="v">
                <p:oleObj spid="_x0000_s7171" name="Equation" r:id="rId3" imgW="17678400" imgH="5181600" progId="Equation.DSMT4">
                  <p:embed/>
                </p:oleObj>
              </mc:Choice>
              <mc:Fallback>
                <p:oleObj name="Equation" r:id="rId3" imgW="17678400" imgH="5181600" progId="Equation.DSMT4">
                  <p:embed/>
                  <p:pic>
                    <p:nvPicPr>
                      <p:cNvPr id="0" name="图片 7170"/>
                      <p:cNvPicPr>
                        <a:picLocks noChangeAspect="1" noChangeArrowheads="1"/>
                      </p:cNvPicPr>
                      <p:nvPr/>
                    </p:nvPicPr>
                    <p:blipFill>
                      <a:blip r:embed="rId4"/>
                      <a:srcRect/>
                      <a:stretch>
                        <a:fillRect/>
                      </a:stretch>
                    </p:blipFill>
                    <p:spPr bwMode="auto">
                      <a:xfrm>
                        <a:off x="7134839" y="1316679"/>
                        <a:ext cx="1574800" cy="466725"/>
                      </a:xfrm>
                      <a:prstGeom prst="rect">
                        <a:avLst/>
                      </a:prstGeom>
                      <a:noFill/>
                      <a:ln>
                        <a:noFill/>
                      </a:ln>
                    </p:spPr>
                  </p:pic>
                </p:oleObj>
              </mc:Fallback>
            </mc:AlternateContent>
          </a:graphicData>
        </a:graphic>
      </p:graphicFrame>
      <p:cxnSp>
        <p:nvCxnSpPr>
          <p:cNvPr id="3" name="直接连接符 2"/>
          <p:cNvCxnSpPr/>
          <p:nvPr/>
        </p:nvCxnSpPr>
        <p:spPr>
          <a:xfrm flipV="1">
            <a:off x="554175" y="6424095"/>
            <a:ext cx="368998" cy="55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9" name="组合 288"/>
          <p:cNvGrpSpPr/>
          <p:nvPr/>
        </p:nvGrpSpPr>
        <p:grpSpPr>
          <a:xfrm>
            <a:off x="1859792" y="4278123"/>
            <a:ext cx="352537" cy="1867925"/>
            <a:chOff x="1073863" y="4323835"/>
            <a:chExt cx="352537" cy="1867925"/>
          </a:xfrm>
        </p:grpSpPr>
        <p:sp>
          <p:nvSpPr>
            <p:cNvPr id="290" name="矩形 289"/>
            <p:cNvSpPr/>
            <p:nvPr/>
          </p:nvSpPr>
          <p:spPr>
            <a:xfrm>
              <a:off x="1076870" y="5656229"/>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91" name="矩形 290"/>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92" name="矩形 291"/>
            <p:cNvSpPr/>
            <p:nvPr/>
          </p:nvSpPr>
          <p:spPr>
            <a:xfrm>
              <a:off x="1087846" y="4716528"/>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93" name="矩形 292"/>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294" name="组合 293"/>
          <p:cNvGrpSpPr/>
          <p:nvPr/>
        </p:nvGrpSpPr>
        <p:grpSpPr>
          <a:xfrm>
            <a:off x="2857087" y="4278123"/>
            <a:ext cx="350372" cy="1867925"/>
            <a:chOff x="1073863" y="4323835"/>
            <a:chExt cx="350372" cy="1867925"/>
          </a:xfrm>
        </p:grpSpPr>
        <p:sp>
          <p:nvSpPr>
            <p:cNvPr id="295" name="矩形 294"/>
            <p:cNvSpPr/>
            <p:nvPr/>
          </p:nvSpPr>
          <p:spPr>
            <a:xfrm>
              <a:off x="1076870" y="5656229"/>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296" name="矩形 295"/>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08" name="矩形 307"/>
            <p:cNvSpPr/>
            <p:nvPr/>
          </p:nvSpPr>
          <p:spPr>
            <a:xfrm>
              <a:off x="1082912" y="4804886"/>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09" name="矩形 308"/>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10" name="组合 309"/>
          <p:cNvGrpSpPr/>
          <p:nvPr/>
        </p:nvGrpSpPr>
        <p:grpSpPr>
          <a:xfrm>
            <a:off x="3373414" y="4324389"/>
            <a:ext cx="350372" cy="1823570"/>
            <a:chOff x="1073863" y="4323835"/>
            <a:chExt cx="350372" cy="1823570"/>
          </a:xfrm>
        </p:grpSpPr>
        <p:sp>
          <p:nvSpPr>
            <p:cNvPr id="311" name="矩形 310"/>
            <p:cNvSpPr/>
            <p:nvPr/>
          </p:nvSpPr>
          <p:spPr>
            <a:xfrm>
              <a:off x="1082569" y="5611874"/>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12" name="矩形 311"/>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13" name="矩形 312"/>
            <p:cNvSpPr/>
            <p:nvPr/>
          </p:nvSpPr>
          <p:spPr>
            <a:xfrm>
              <a:off x="1076680" y="475507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14" name="矩形 313"/>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15" name="组合 314"/>
          <p:cNvGrpSpPr/>
          <p:nvPr/>
        </p:nvGrpSpPr>
        <p:grpSpPr>
          <a:xfrm>
            <a:off x="3931851" y="4283144"/>
            <a:ext cx="350372" cy="1858696"/>
            <a:chOff x="1073863" y="4323835"/>
            <a:chExt cx="350372" cy="1858696"/>
          </a:xfrm>
        </p:grpSpPr>
        <p:sp>
          <p:nvSpPr>
            <p:cNvPr id="316" name="矩形 315"/>
            <p:cNvSpPr/>
            <p:nvPr/>
          </p:nvSpPr>
          <p:spPr>
            <a:xfrm>
              <a:off x="1077067" y="568566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17" name="矩形 316"/>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18" name="矩形 317"/>
            <p:cNvSpPr/>
            <p:nvPr/>
          </p:nvSpPr>
          <p:spPr>
            <a:xfrm>
              <a:off x="1076680" y="475507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19" name="矩形 318"/>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20" name="组合 319"/>
          <p:cNvGrpSpPr/>
          <p:nvPr/>
        </p:nvGrpSpPr>
        <p:grpSpPr>
          <a:xfrm>
            <a:off x="4438636" y="4278123"/>
            <a:ext cx="350372" cy="1858696"/>
            <a:chOff x="1073863" y="4323835"/>
            <a:chExt cx="350372" cy="1858696"/>
          </a:xfrm>
        </p:grpSpPr>
        <p:sp>
          <p:nvSpPr>
            <p:cNvPr id="321" name="矩形 320"/>
            <p:cNvSpPr/>
            <p:nvPr/>
          </p:nvSpPr>
          <p:spPr>
            <a:xfrm>
              <a:off x="1077067" y="568566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22" name="矩形 321"/>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23" name="矩形 322"/>
            <p:cNvSpPr/>
            <p:nvPr/>
          </p:nvSpPr>
          <p:spPr>
            <a:xfrm>
              <a:off x="1076680" y="475507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24" name="矩形 323"/>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25" name="组合 324"/>
          <p:cNvGrpSpPr/>
          <p:nvPr/>
        </p:nvGrpSpPr>
        <p:grpSpPr>
          <a:xfrm>
            <a:off x="4918206" y="4293420"/>
            <a:ext cx="350372" cy="1835706"/>
            <a:chOff x="1073863" y="4323835"/>
            <a:chExt cx="350372" cy="1835706"/>
          </a:xfrm>
        </p:grpSpPr>
        <p:sp>
          <p:nvSpPr>
            <p:cNvPr id="326" name="矩形 325"/>
            <p:cNvSpPr/>
            <p:nvPr/>
          </p:nvSpPr>
          <p:spPr>
            <a:xfrm>
              <a:off x="1079209" y="566267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27" name="矩形 326"/>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28" name="矩形 327"/>
            <p:cNvSpPr/>
            <p:nvPr/>
          </p:nvSpPr>
          <p:spPr>
            <a:xfrm>
              <a:off x="1082146" y="47940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29" name="矩形 328"/>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30" name="组合 329"/>
          <p:cNvGrpSpPr/>
          <p:nvPr/>
        </p:nvGrpSpPr>
        <p:grpSpPr>
          <a:xfrm>
            <a:off x="5414362" y="4295119"/>
            <a:ext cx="350372" cy="1835706"/>
            <a:chOff x="1073863" y="4323835"/>
            <a:chExt cx="350372" cy="1835706"/>
          </a:xfrm>
        </p:grpSpPr>
        <p:sp>
          <p:nvSpPr>
            <p:cNvPr id="331" name="矩形 330"/>
            <p:cNvSpPr/>
            <p:nvPr/>
          </p:nvSpPr>
          <p:spPr>
            <a:xfrm>
              <a:off x="1079209" y="566267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32" name="矩形 331"/>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33" name="矩形 332"/>
            <p:cNvSpPr/>
            <p:nvPr/>
          </p:nvSpPr>
          <p:spPr>
            <a:xfrm>
              <a:off x="1082146" y="47940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34" name="矩形 333"/>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grpSp>
        <p:nvGrpSpPr>
          <p:cNvPr id="335" name="组合 334"/>
          <p:cNvGrpSpPr/>
          <p:nvPr/>
        </p:nvGrpSpPr>
        <p:grpSpPr>
          <a:xfrm>
            <a:off x="5943034" y="4273962"/>
            <a:ext cx="360076" cy="1873756"/>
            <a:chOff x="1073863" y="4411364"/>
            <a:chExt cx="360076" cy="1873756"/>
          </a:xfrm>
        </p:grpSpPr>
        <p:sp>
          <p:nvSpPr>
            <p:cNvPr id="336" name="矩形 335"/>
            <p:cNvSpPr/>
            <p:nvPr/>
          </p:nvSpPr>
          <p:spPr>
            <a:xfrm>
              <a:off x="1079697" y="5788253"/>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37" name="矩形 336"/>
            <p:cNvSpPr/>
            <p:nvPr/>
          </p:nvSpPr>
          <p:spPr>
            <a:xfrm>
              <a:off x="1095385" y="5298871"/>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38" name="矩形 337"/>
            <p:cNvSpPr/>
            <p:nvPr/>
          </p:nvSpPr>
          <p:spPr>
            <a:xfrm>
              <a:off x="1081569" y="4850043"/>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39" name="矩形 338"/>
            <p:cNvSpPr/>
            <p:nvPr/>
          </p:nvSpPr>
          <p:spPr>
            <a:xfrm>
              <a:off x="1073863" y="4411364"/>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cxnSp>
        <p:nvCxnSpPr>
          <p:cNvPr id="340" name="直接连接符 339"/>
          <p:cNvCxnSpPr/>
          <p:nvPr/>
        </p:nvCxnSpPr>
        <p:spPr>
          <a:xfrm flipH="1" flipV="1">
            <a:off x="6548369" y="5724838"/>
            <a:ext cx="8090" cy="27967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1" name="直接连接符 340"/>
          <p:cNvCxnSpPr/>
          <p:nvPr/>
        </p:nvCxnSpPr>
        <p:spPr>
          <a:xfrm flipV="1">
            <a:off x="6550181" y="5570388"/>
            <a:ext cx="367983" cy="495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2" name="直接连接符 341"/>
          <p:cNvCxnSpPr/>
          <p:nvPr/>
        </p:nvCxnSpPr>
        <p:spPr>
          <a:xfrm flipV="1">
            <a:off x="6548369" y="5266334"/>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直接连接符 342"/>
          <p:cNvCxnSpPr/>
          <p:nvPr/>
        </p:nvCxnSpPr>
        <p:spPr>
          <a:xfrm flipV="1">
            <a:off x="6559459" y="6004508"/>
            <a:ext cx="367983" cy="495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4" name="直接连接符 343"/>
          <p:cNvCxnSpPr/>
          <p:nvPr/>
        </p:nvCxnSpPr>
        <p:spPr>
          <a:xfrm flipV="1">
            <a:off x="6574477" y="4876226"/>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5" name="直接连接符 344"/>
          <p:cNvCxnSpPr/>
          <p:nvPr/>
        </p:nvCxnSpPr>
        <p:spPr>
          <a:xfrm flipV="1">
            <a:off x="6568414" y="4892234"/>
            <a:ext cx="367983" cy="4956"/>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46" name="直接连接符 345"/>
          <p:cNvCxnSpPr/>
          <p:nvPr/>
        </p:nvCxnSpPr>
        <p:spPr>
          <a:xfrm flipV="1">
            <a:off x="6554278" y="4410641"/>
            <a:ext cx="333438" cy="790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47" name="直接连接符 346"/>
          <p:cNvCxnSpPr/>
          <p:nvPr/>
        </p:nvCxnSpPr>
        <p:spPr>
          <a:xfrm flipV="1">
            <a:off x="6906879" y="5266334"/>
            <a:ext cx="0" cy="2972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直接连接符 347"/>
          <p:cNvCxnSpPr/>
          <p:nvPr/>
        </p:nvCxnSpPr>
        <p:spPr>
          <a:xfrm flipV="1">
            <a:off x="6898727" y="5268812"/>
            <a:ext cx="999252" cy="74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9" name="直接连接符 348"/>
          <p:cNvCxnSpPr/>
          <p:nvPr/>
        </p:nvCxnSpPr>
        <p:spPr>
          <a:xfrm flipV="1">
            <a:off x="6921304" y="5142586"/>
            <a:ext cx="988676" cy="118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直接连接符 349"/>
          <p:cNvCxnSpPr/>
          <p:nvPr/>
        </p:nvCxnSpPr>
        <p:spPr>
          <a:xfrm>
            <a:off x="7365712" y="4077838"/>
            <a:ext cx="24002" cy="2731047"/>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51" name="直接连接符 350"/>
          <p:cNvCxnSpPr/>
          <p:nvPr/>
        </p:nvCxnSpPr>
        <p:spPr>
          <a:xfrm flipV="1">
            <a:off x="7384871" y="377936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直接连接符 351"/>
          <p:cNvCxnSpPr/>
          <p:nvPr/>
        </p:nvCxnSpPr>
        <p:spPr>
          <a:xfrm>
            <a:off x="7384871" y="3779366"/>
            <a:ext cx="250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3" name="直接连接符 352"/>
          <p:cNvCxnSpPr/>
          <p:nvPr/>
        </p:nvCxnSpPr>
        <p:spPr>
          <a:xfrm flipV="1">
            <a:off x="7635831" y="377936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4" name="直接连接符 353"/>
          <p:cNvCxnSpPr/>
          <p:nvPr/>
        </p:nvCxnSpPr>
        <p:spPr>
          <a:xfrm flipV="1">
            <a:off x="7635831" y="4106334"/>
            <a:ext cx="265094" cy="554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5" name="直接连接符 354"/>
          <p:cNvCxnSpPr/>
          <p:nvPr/>
        </p:nvCxnSpPr>
        <p:spPr>
          <a:xfrm>
            <a:off x="7885978" y="4113503"/>
            <a:ext cx="24002" cy="2731047"/>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356" name="组合 355"/>
          <p:cNvGrpSpPr/>
          <p:nvPr/>
        </p:nvGrpSpPr>
        <p:grpSpPr>
          <a:xfrm>
            <a:off x="6994192" y="4293420"/>
            <a:ext cx="352537" cy="1867925"/>
            <a:chOff x="1073863" y="4323835"/>
            <a:chExt cx="352537" cy="1867925"/>
          </a:xfrm>
        </p:grpSpPr>
        <p:sp>
          <p:nvSpPr>
            <p:cNvPr id="357" name="矩形 356"/>
            <p:cNvSpPr/>
            <p:nvPr/>
          </p:nvSpPr>
          <p:spPr>
            <a:xfrm>
              <a:off x="1076870" y="5656229"/>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58" name="矩形 357"/>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59" name="矩形 358"/>
            <p:cNvSpPr/>
            <p:nvPr/>
          </p:nvSpPr>
          <p:spPr>
            <a:xfrm>
              <a:off x="1087846" y="4716528"/>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60" name="矩形 359"/>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cxnSp>
        <p:nvCxnSpPr>
          <p:cNvPr id="361" name="直接连接符 360"/>
          <p:cNvCxnSpPr/>
          <p:nvPr/>
        </p:nvCxnSpPr>
        <p:spPr>
          <a:xfrm flipV="1">
            <a:off x="7364632" y="4405706"/>
            <a:ext cx="0" cy="3269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V="1">
            <a:off x="7338726" y="4424080"/>
            <a:ext cx="538112" cy="49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3" name="组合 362"/>
          <p:cNvGrpSpPr/>
          <p:nvPr/>
        </p:nvGrpSpPr>
        <p:grpSpPr>
          <a:xfrm>
            <a:off x="7451620" y="4278123"/>
            <a:ext cx="352537" cy="1867925"/>
            <a:chOff x="1073863" y="4323835"/>
            <a:chExt cx="352537" cy="1867925"/>
          </a:xfrm>
        </p:grpSpPr>
        <p:sp>
          <p:nvSpPr>
            <p:cNvPr id="364" name="矩形 363"/>
            <p:cNvSpPr/>
            <p:nvPr/>
          </p:nvSpPr>
          <p:spPr>
            <a:xfrm>
              <a:off x="1076870" y="5656229"/>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65" name="矩形 364"/>
            <p:cNvSpPr/>
            <p:nvPr/>
          </p:nvSpPr>
          <p:spPr>
            <a:xfrm>
              <a:off x="1073863" y="5215699"/>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66" name="矩形 365"/>
            <p:cNvSpPr/>
            <p:nvPr/>
          </p:nvSpPr>
          <p:spPr>
            <a:xfrm>
              <a:off x="1087846" y="4716528"/>
              <a:ext cx="338554" cy="535531"/>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0</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sp>
          <p:nvSpPr>
            <p:cNvPr id="367" name="矩形 366"/>
            <p:cNvSpPr/>
            <p:nvPr/>
          </p:nvSpPr>
          <p:spPr>
            <a:xfrm>
              <a:off x="1085681" y="4323835"/>
              <a:ext cx="338554" cy="496867"/>
            </a:xfrm>
            <a:prstGeom prst="rect">
              <a:avLst/>
            </a:prstGeom>
          </p:spPr>
          <p:txBody>
            <a:bodyPr wrap="none">
              <a:spAutoFit/>
            </a:bodyPr>
            <a:lstStyle/>
            <a:p>
              <a:pPr>
                <a:lnSpc>
                  <a:spcPct val="120000"/>
                </a:lnSpc>
              </a:pPr>
              <a:r>
                <a:rPr lang="en-US" altLang="zh-CN" sz="2400" b="1" dirty="0">
                  <a:solidFill>
                    <a:srgbClr val="0000FF"/>
                  </a:solidFill>
                  <a:latin typeface="Times New Roman" panose="02020603050405020304" pitchFamily="18" charset="0"/>
                  <a:cs typeface="Times New Roman" panose="02020603050405020304" pitchFamily="18" charset="0"/>
                </a:rPr>
                <a:t>1</a:t>
              </a: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animEffect transition="in" filter="wipe(down)">
                                      <p:cBhvr>
                                        <p:cTn id="7" dur="500"/>
                                        <p:tgtEl>
                                          <p:spTgt spid="3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89"/>
                                        </p:tgtEl>
                                        <p:attrNameLst>
                                          <p:attrName>style.visibility</p:attrName>
                                        </p:attrNameLst>
                                      </p:cBhvr>
                                      <p:to>
                                        <p:strVal val="visible"/>
                                      </p:to>
                                    </p:set>
                                    <p:animEffect transition="in" filter="wipe(down)">
                                      <p:cBhvr>
                                        <p:cTn id="12" dur="500"/>
                                        <p:tgtEl>
                                          <p:spTgt spid="2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5"/>
                                        </p:tgtEl>
                                        <p:attrNameLst>
                                          <p:attrName>style.visibility</p:attrName>
                                        </p:attrNameLst>
                                      </p:cBhvr>
                                      <p:to>
                                        <p:strVal val="visible"/>
                                      </p:to>
                                    </p:set>
                                    <p:animEffect transition="in" filter="wipe(down)">
                                      <p:cBhvr>
                                        <p:cTn id="17" dur="500"/>
                                        <p:tgtEl>
                                          <p:spTgt spid="3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94"/>
                                        </p:tgtEl>
                                        <p:attrNameLst>
                                          <p:attrName>style.visibility</p:attrName>
                                        </p:attrNameLst>
                                      </p:cBhvr>
                                      <p:to>
                                        <p:strVal val="visible"/>
                                      </p:to>
                                    </p:set>
                                    <p:animEffect transition="in" filter="wipe(down)">
                                      <p:cBhvr>
                                        <p:cTn id="22" dur="500"/>
                                        <p:tgtEl>
                                          <p:spTgt spid="2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10"/>
                                        </p:tgtEl>
                                        <p:attrNameLst>
                                          <p:attrName>style.visibility</p:attrName>
                                        </p:attrNameLst>
                                      </p:cBhvr>
                                      <p:to>
                                        <p:strVal val="visible"/>
                                      </p:to>
                                    </p:set>
                                    <p:animEffect transition="in" filter="wipe(down)">
                                      <p:cBhvr>
                                        <p:cTn id="27" dur="500"/>
                                        <p:tgtEl>
                                          <p:spTgt spid="3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15"/>
                                        </p:tgtEl>
                                        <p:attrNameLst>
                                          <p:attrName>style.visibility</p:attrName>
                                        </p:attrNameLst>
                                      </p:cBhvr>
                                      <p:to>
                                        <p:strVal val="visible"/>
                                      </p:to>
                                    </p:set>
                                    <p:animEffect transition="in" filter="wipe(down)">
                                      <p:cBhvr>
                                        <p:cTn id="32" dur="500"/>
                                        <p:tgtEl>
                                          <p:spTgt spid="3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20"/>
                                        </p:tgtEl>
                                        <p:attrNameLst>
                                          <p:attrName>style.visibility</p:attrName>
                                        </p:attrNameLst>
                                      </p:cBhvr>
                                      <p:to>
                                        <p:strVal val="visible"/>
                                      </p:to>
                                    </p:set>
                                    <p:animEffect transition="in" filter="wipe(down)">
                                      <p:cBhvr>
                                        <p:cTn id="37" dur="500"/>
                                        <p:tgtEl>
                                          <p:spTgt spid="3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25"/>
                                        </p:tgtEl>
                                        <p:attrNameLst>
                                          <p:attrName>style.visibility</p:attrName>
                                        </p:attrNameLst>
                                      </p:cBhvr>
                                      <p:to>
                                        <p:strVal val="visible"/>
                                      </p:to>
                                    </p:set>
                                    <p:animEffect transition="in" filter="wipe(down)">
                                      <p:cBhvr>
                                        <p:cTn id="42" dur="500"/>
                                        <p:tgtEl>
                                          <p:spTgt spid="3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30"/>
                                        </p:tgtEl>
                                        <p:attrNameLst>
                                          <p:attrName>style.visibility</p:attrName>
                                        </p:attrNameLst>
                                      </p:cBhvr>
                                      <p:to>
                                        <p:strVal val="visible"/>
                                      </p:to>
                                    </p:set>
                                    <p:animEffect transition="in" filter="wipe(down)">
                                      <p:cBhvr>
                                        <p:cTn id="47" dur="500"/>
                                        <p:tgtEl>
                                          <p:spTgt spid="3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35"/>
                                        </p:tgtEl>
                                        <p:attrNameLst>
                                          <p:attrName>style.visibility</p:attrName>
                                        </p:attrNameLst>
                                      </p:cBhvr>
                                      <p:to>
                                        <p:strVal val="visible"/>
                                      </p:to>
                                    </p:set>
                                    <p:animEffect transition="in" filter="wipe(down)">
                                      <p:cBhvr>
                                        <p:cTn id="52" dur="500"/>
                                        <p:tgtEl>
                                          <p:spTgt spid="33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07"/>
                                        </p:tgtEl>
                                        <p:attrNameLst>
                                          <p:attrName>style.visibility</p:attrName>
                                        </p:attrNameLst>
                                      </p:cBhvr>
                                      <p:to>
                                        <p:strVal val="visible"/>
                                      </p:to>
                                    </p:set>
                                    <p:animEffect transition="in" filter="wipe(down)">
                                      <p:cBhvr>
                                        <p:cTn id="57" dur="500"/>
                                        <p:tgtEl>
                                          <p:spTgt spid="307"/>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04"/>
                                        </p:tgtEl>
                                        <p:attrNameLst>
                                          <p:attrName>style.visibility</p:attrName>
                                        </p:attrNameLst>
                                      </p:cBhvr>
                                      <p:to>
                                        <p:strVal val="visible"/>
                                      </p:to>
                                    </p:set>
                                    <p:animEffect transition="in" filter="circle(in)">
                                      <p:cBhvr>
                                        <p:cTn id="62" dur="2000"/>
                                        <p:tgtEl>
                                          <p:spTgt spid="30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03"/>
                                        </p:tgtEl>
                                        <p:attrNameLst>
                                          <p:attrName>style.visibility</p:attrName>
                                        </p:attrNameLst>
                                      </p:cBhvr>
                                      <p:to>
                                        <p:strVal val="visible"/>
                                      </p:to>
                                    </p:set>
                                    <p:animEffect transition="in" filter="wipe(down)">
                                      <p:cBhvr>
                                        <p:cTn id="67" dur="500"/>
                                        <p:tgtEl>
                                          <p:spTgt spid="303"/>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301"/>
                                        </p:tgtEl>
                                        <p:attrNameLst>
                                          <p:attrName>style.visibility</p:attrName>
                                        </p:attrNameLst>
                                      </p:cBhvr>
                                      <p:to>
                                        <p:strVal val="visible"/>
                                      </p:to>
                                    </p:set>
                                    <p:animEffect transition="in" filter="circle(in)">
                                      <p:cBhvr>
                                        <p:cTn id="72" dur="2000"/>
                                        <p:tgtEl>
                                          <p:spTgt spid="30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356"/>
                                        </p:tgtEl>
                                        <p:attrNameLst>
                                          <p:attrName>style.visibility</p:attrName>
                                        </p:attrNameLst>
                                      </p:cBhvr>
                                      <p:to>
                                        <p:strVal val="visible"/>
                                      </p:to>
                                    </p:set>
                                    <p:animEffect transition="in" filter="wipe(down)">
                                      <p:cBhvr>
                                        <p:cTn id="77" dur="500"/>
                                        <p:tgtEl>
                                          <p:spTgt spid="35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363"/>
                                        </p:tgtEl>
                                        <p:attrNameLst>
                                          <p:attrName>style.visibility</p:attrName>
                                        </p:attrNameLst>
                                      </p:cBhvr>
                                      <p:to>
                                        <p:strVal val="visible"/>
                                      </p:to>
                                    </p:set>
                                    <p:animEffect transition="in" filter="wipe(down)">
                                      <p:cBhvr>
                                        <p:cTn id="82" dur="500"/>
                                        <p:tgtEl>
                                          <p:spTgt spid="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 grpId="0" animBg="1"/>
      <p:bldP spid="304"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多个芯片级联（</a:t>
            </a:r>
            <a:r>
              <a:rPr lang="en-US" altLang="zh-CN" sz="2800" b="1" dirty="0">
                <a:solidFill>
                  <a:srgbClr val="0000FF"/>
                </a:solidFill>
                <a:latin typeface="黑体" panose="02010609060101010101" pitchFamily="49" charset="-122"/>
                <a:ea typeface="黑体" panose="02010609060101010101" pitchFamily="49" charset="-122"/>
              </a:rPr>
              <a:t>M&gt;N</a:t>
            </a:r>
            <a:r>
              <a:rPr lang="zh-CN" altLang="en-US" sz="2800" b="1" dirty="0">
                <a:solidFill>
                  <a:srgbClr val="0000FF"/>
                </a:solidFill>
                <a:latin typeface="黑体" panose="02010609060101010101" pitchFamily="49" charset="-122"/>
                <a:ea typeface="黑体" panose="02010609060101010101" pitchFamily="49" charset="-122"/>
              </a:rPr>
              <a:t>）</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Text Box 4"/>
          <p:cNvSpPr txBox="1">
            <a:spLocks noChangeArrowheads="1"/>
          </p:cNvSpPr>
          <p:nvPr/>
        </p:nvSpPr>
        <p:spPr bwMode="auto">
          <a:xfrm>
            <a:off x="223680" y="890994"/>
            <a:ext cx="8634662" cy="954107"/>
          </a:xfrm>
          <a:prstGeom prst="rect">
            <a:avLst/>
          </a:prstGeom>
          <a:noFill/>
          <a:ln w="9525">
            <a:noFill/>
            <a:miter lim="800000"/>
          </a:ln>
          <a:effectLst/>
        </p:spPr>
        <p:txBody>
          <a:bodyPr wrap="square">
            <a:spAutoFit/>
          </a:bodyPr>
          <a:lstStyle/>
          <a:p>
            <a:pPr algn="just" defTabSz="914400" fontAlgn="base">
              <a:spcAft>
                <a:spcPct val="0"/>
              </a:spcAft>
              <a:defRPr/>
            </a:pPr>
            <a:r>
              <a:rPr kumimoji="1" lang="zh-CN" altLang="en-US" sz="2800" b="1" dirty="0">
                <a:solidFill>
                  <a:srgbClr val="3333CC">
                    <a:lumMod val="50000"/>
                  </a:srgbClr>
                </a:solidFill>
                <a:latin typeface="黑体" panose="02010609060101010101" pitchFamily="49" charset="-122"/>
                <a:ea typeface="黑体" panose="02010609060101010101" pitchFamily="49" charset="-122"/>
              </a:rPr>
              <a:t>若要求实现的计数器计数值</a:t>
            </a:r>
            <a:r>
              <a:rPr kumimoji="1" lang="en-US" altLang="zh-CN" sz="2800" b="1" dirty="0">
                <a:solidFill>
                  <a:srgbClr val="3333CC">
                    <a:lumMod val="50000"/>
                  </a:srgbClr>
                </a:solidFill>
                <a:latin typeface="黑体" panose="02010609060101010101" pitchFamily="49" charset="-122"/>
                <a:ea typeface="黑体" panose="02010609060101010101" pitchFamily="49" charset="-122"/>
              </a:rPr>
              <a:t>M</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超过单片计数器的计数范围，则必须将多片计数器级联。</a:t>
            </a: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p:txBody>
      </p:sp>
      <p:sp>
        <p:nvSpPr>
          <p:cNvPr id="4" name="矩形 3"/>
          <p:cNvSpPr/>
          <p:nvPr/>
        </p:nvSpPr>
        <p:spPr>
          <a:xfrm>
            <a:off x="285657" y="2204837"/>
            <a:ext cx="8572685" cy="4314066"/>
          </a:xfrm>
          <a:prstGeom prst="rect">
            <a:avLst/>
          </a:prstGeom>
          <a:ln>
            <a:solidFill>
              <a:srgbClr val="FF0000"/>
            </a:solidFill>
          </a:ln>
        </p:spPr>
        <p:txBody>
          <a:bodyPr wrap="square">
            <a:spAutoFit/>
          </a:bodyPr>
          <a:lstStyle/>
          <a:p>
            <a:pPr algn="just" defTabSz="914400" fontAlgn="base">
              <a:lnSpc>
                <a:spcPct val="120000"/>
              </a:lnSpc>
              <a:spcAft>
                <a:spcPct val="0"/>
              </a:spcAft>
              <a:defRPr/>
            </a:pPr>
            <a:r>
              <a:rPr kumimoji="1" lang="zh-CN" altLang="en-US" sz="2800" b="1" dirty="0">
                <a:solidFill>
                  <a:srgbClr val="C00000"/>
                </a:solidFill>
                <a:latin typeface="黑体" panose="02010609060101010101" pitchFamily="49" charset="-122"/>
                <a:ea typeface="黑体" panose="02010609060101010101" pitchFamily="49" charset="-122"/>
              </a:rPr>
              <a:t>方法（一） 分解法</a:t>
            </a:r>
            <a:endParaRPr kumimoji="1" lang="en-US" altLang="zh-CN" sz="2800" b="1" dirty="0">
              <a:solidFill>
                <a:srgbClr val="C00000"/>
              </a:solidFill>
              <a:latin typeface="黑体" panose="02010609060101010101" pitchFamily="49" charset="-122"/>
              <a:ea typeface="黑体" panose="02010609060101010101" pitchFamily="49" charset="-122"/>
            </a:endParaRPr>
          </a:p>
          <a:p>
            <a:pPr algn="just" defTabSz="914400" fontAlgn="base">
              <a:lnSpc>
                <a:spcPct val="120000"/>
              </a:lnSpc>
              <a:spcAft>
                <a:spcPts val="1200"/>
              </a:spcAft>
              <a:defRPr/>
            </a:pPr>
            <a:r>
              <a:rPr kumimoji="1" lang="zh-CN" altLang="en-US" sz="2800" b="1" dirty="0">
                <a:solidFill>
                  <a:srgbClr val="3333CC">
                    <a:lumMod val="50000"/>
                  </a:srgbClr>
                </a:solidFill>
                <a:latin typeface="黑体" panose="02010609060101010101" pitchFamily="49" charset="-122"/>
                <a:ea typeface="黑体" panose="02010609060101010101" pitchFamily="49" charset="-122"/>
              </a:rPr>
              <a:t>若</a:t>
            </a:r>
            <a:r>
              <a:rPr kumimoji="1" lang="en-US" altLang="zh-CN" sz="2800" b="1" dirty="0">
                <a:solidFill>
                  <a:srgbClr val="3333CC">
                    <a:lumMod val="50000"/>
                  </a:srgbClr>
                </a:solidFill>
                <a:latin typeface="黑体" panose="02010609060101010101" pitchFamily="49" charset="-122"/>
                <a:ea typeface="黑体" panose="02010609060101010101" pitchFamily="49" charset="-122"/>
              </a:rPr>
              <a:t>M</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可</a:t>
            </a:r>
            <a:r>
              <a:rPr kumimoji="1" lang="zh-CN" altLang="en-US" sz="2800" b="1" dirty="0">
                <a:solidFill>
                  <a:srgbClr val="0000FF"/>
                </a:solidFill>
                <a:latin typeface="黑体" panose="02010609060101010101" pitchFamily="49" charset="-122"/>
                <a:ea typeface="黑体" panose="02010609060101010101" pitchFamily="49" charset="-122"/>
              </a:rPr>
              <a:t>分解</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为</a:t>
            </a:r>
            <a:r>
              <a:rPr kumimoji="1" lang="en-US" altLang="zh-CN" sz="2800" b="1" i="1" dirty="0">
                <a:solidFill>
                  <a:srgbClr val="FF33CC"/>
                </a:solidFill>
                <a:latin typeface="黑体" panose="02010609060101010101" pitchFamily="49" charset="-122"/>
                <a:ea typeface="黑体" panose="02010609060101010101" pitchFamily="49" charset="-122"/>
              </a:rPr>
              <a:t>M</a:t>
            </a:r>
            <a:r>
              <a:rPr kumimoji="1" lang="en-US" altLang="zh-CN" sz="2800" b="1" dirty="0">
                <a:solidFill>
                  <a:srgbClr val="FF33CC"/>
                </a:solidFill>
                <a:latin typeface="黑体" panose="02010609060101010101" pitchFamily="49" charset="-122"/>
                <a:ea typeface="黑体" panose="02010609060101010101" pitchFamily="49" charset="-122"/>
              </a:rPr>
              <a:t>=</a:t>
            </a:r>
            <a:r>
              <a:rPr kumimoji="1" lang="en-US" altLang="zh-CN" sz="2800" b="1" i="1" dirty="0">
                <a:solidFill>
                  <a:srgbClr val="FF33CC"/>
                </a:solidFill>
                <a:latin typeface="黑体" panose="02010609060101010101" pitchFamily="49" charset="-122"/>
                <a:ea typeface="黑体" panose="02010609060101010101" pitchFamily="49" charset="-122"/>
              </a:rPr>
              <a:t>M</a:t>
            </a:r>
            <a:r>
              <a:rPr kumimoji="1" lang="en-US" altLang="zh-CN" sz="2800" b="1" baseline="-25000" dirty="0">
                <a:solidFill>
                  <a:srgbClr val="FF33CC"/>
                </a:solidFill>
                <a:latin typeface="黑体" panose="02010609060101010101" pitchFamily="49" charset="-122"/>
                <a:ea typeface="黑体" panose="02010609060101010101" pitchFamily="49" charset="-122"/>
              </a:rPr>
              <a:t>1</a:t>
            </a:r>
            <a:r>
              <a:rPr kumimoji="1" lang="en-US" altLang="zh-CN" sz="2800" b="1" dirty="0">
                <a:solidFill>
                  <a:srgbClr val="FF33CC"/>
                </a:solidFill>
                <a:latin typeface="黑体" panose="02010609060101010101" pitchFamily="49" charset="-122"/>
                <a:ea typeface="黑体" panose="02010609060101010101" pitchFamily="49" charset="-122"/>
              </a:rPr>
              <a:t>×</a:t>
            </a:r>
            <a:r>
              <a:rPr kumimoji="1" lang="en-US" altLang="zh-CN" sz="2800" b="1" i="1" dirty="0">
                <a:solidFill>
                  <a:srgbClr val="FF33CC"/>
                </a:solidFill>
                <a:latin typeface="黑体" panose="02010609060101010101" pitchFamily="49" charset="-122"/>
                <a:ea typeface="黑体" panose="02010609060101010101" pitchFamily="49" charset="-122"/>
              </a:rPr>
              <a:t>M</a:t>
            </a:r>
            <a:r>
              <a:rPr kumimoji="1" lang="en-US" altLang="zh-CN" sz="2800" b="1" baseline="-25000" dirty="0">
                <a:solidFill>
                  <a:srgbClr val="FF33CC"/>
                </a:solidFill>
                <a:latin typeface="黑体" panose="02010609060101010101" pitchFamily="49" charset="-122"/>
                <a:ea typeface="黑体" panose="02010609060101010101" pitchFamily="49" charset="-122"/>
              </a:rPr>
              <a:t>2</a:t>
            </a:r>
            <a:r>
              <a:rPr kumimoji="1" lang="en-US" altLang="zh-CN" sz="2800" b="1" dirty="0">
                <a:solidFill>
                  <a:srgbClr val="FF33CC"/>
                </a:solidFill>
                <a:latin typeface="黑体" panose="02010609060101010101" pitchFamily="49" charset="-122"/>
                <a:ea typeface="黑体" panose="02010609060101010101" pitchFamily="49" charset="-122"/>
              </a:rPr>
              <a:t>×…</a:t>
            </a:r>
            <a:r>
              <a:rPr kumimoji="1" lang="en-US" altLang="zh-CN" sz="2800" b="1" i="1" dirty="0">
                <a:solidFill>
                  <a:srgbClr val="FF33CC"/>
                </a:solidFill>
                <a:latin typeface="黑体" panose="02010609060101010101" pitchFamily="49" charset="-122"/>
                <a:ea typeface="黑体" panose="02010609060101010101" pitchFamily="49" charset="-122"/>
              </a:rPr>
              <a:t>M</a:t>
            </a:r>
            <a:r>
              <a:rPr kumimoji="1" lang="en-US" altLang="zh-CN" sz="2800" b="1" i="1" baseline="-25000" dirty="0">
                <a:solidFill>
                  <a:srgbClr val="FF33CC"/>
                </a:solidFill>
                <a:latin typeface="黑体" panose="02010609060101010101" pitchFamily="49" charset="-122"/>
                <a:ea typeface="黑体" panose="02010609060101010101" pitchFamily="49" charset="-122"/>
              </a:rPr>
              <a:t>n</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，则用</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n</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片计数器分别组成</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M</a:t>
            </a:r>
            <a:r>
              <a:rPr kumimoji="1" lang="en-US" altLang="zh-CN" sz="2800" b="1" baseline="-25000" dirty="0">
                <a:solidFill>
                  <a:srgbClr val="3333CC">
                    <a:lumMod val="50000"/>
                  </a:srgbClr>
                </a:solidFill>
                <a:latin typeface="黑体" panose="02010609060101010101" pitchFamily="49" charset="-122"/>
                <a:ea typeface="黑体" panose="02010609060101010101" pitchFamily="49" charset="-122"/>
              </a:rPr>
              <a:t>1</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M</a:t>
            </a:r>
            <a:r>
              <a:rPr kumimoji="1" lang="en-US" altLang="zh-CN" sz="2800" b="1" baseline="-25000" dirty="0">
                <a:solidFill>
                  <a:srgbClr val="3333CC">
                    <a:lumMod val="50000"/>
                  </a:srgbClr>
                </a:solidFill>
                <a:latin typeface="黑体" panose="02010609060101010101" pitchFamily="49" charset="-122"/>
                <a:ea typeface="黑体" panose="02010609060101010101" pitchFamily="49" charset="-122"/>
              </a:rPr>
              <a:t>2</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a:t>
            </a:r>
            <a:r>
              <a:rPr kumimoji="1" lang="zh-CN" altLang="en-US" sz="2800" b="1" baseline="30000" dirty="0">
                <a:solidFill>
                  <a:srgbClr val="3333CC">
                    <a:lumMod val="50000"/>
                  </a:srgbClr>
                </a:solidFill>
                <a:latin typeface="黑体" panose="02010609060101010101" pitchFamily="49" charset="-122"/>
                <a:ea typeface="黑体" panose="02010609060101010101" pitchFamily="49" charset="-122"/>
              </a:rPr>
              <a:t> </a:t>
            </a:r>
            <a:r>
              <a:rPr kumimoji="1" lang="en-US" altLang="zh-CN" sz="2800" b="1" baseline="30000" dirty="0">
                <a:solidFill>
                  <a:srgbClr val="3333CC">
                    <a:lumMod val="50000"/>
                  </a:srgbClr>
                </a:solidFill>
                <a:latin typeface="黑体" panose="02010609060101010101" pitchFamily="49" charset="-122"/>
                <a:ea typeface="黑体" panose="02010609060101010101" pitchFamily="49" charset="-122"/>
              </a:rPr>
              <a:t>…</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M</a:t>
            </a:r>
            <a:r>
              <a:rPr kumimoji="1" lang="en-US" altLang="zh-CN" sz="2800" b="1" baseline="-25000" dirty="0">
                <a:solidFill>
                  <a:srgbClr val="3333CC">
                    <a:lumMod val="50000"/>
                  </a:srgbClr>
                </a:solidFill>
                <a:latin typeface="黑体" panose="02010609060101010101" pitchFamily="49" charset="-122"/>
                <a:ea typeface="黑体" panose="02010609060101010101" pitchFamily="49" charset="-122"/>
              </a:rPr>
              <a:t>n</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进制计数器，然后再将它们</a:t>
            </a:r>
            <a:r>
              <a:rPr kumimoji="1" lang="zh-CN" altLang="en-US" sz="2800" b="1" dirty="0">
                <a:solidFill>
                  <a:srgbClr val="0000FF"/>
                </a:solidFill>
                <a:latin typeface="黑体" panose="02010609060101010101" pitchFamily="49" charset="-122"/>
                <a:ea typeface="黑体" panose="02010609060101010101" pitchFamily="49" charset="-122"/>
              </a:rPr>
              <a:t>级联</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而成</a:t>
            </a: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a:p>
            <a:pPr algn="just" defTabSz="914400" fontAlgn="base">
              <a:lnSpc>
                <a:spcPct val="120000"/>
              </a:lnSpc>
              <a:spcAft>
                <a:spcPct val="0"/>
              </a:spcAft>
              <a:defRPr/>
            </a:pPr>
            <a:r>
              <a:rPr kumimoji="1" lang="zh-CN" altLang="en-US" sz="2800" b="1" dirty="0">
                <a:solidFill>
                  <a:srgbClr val="0000FF"/>
                </a:solidFill>
                <a:latin typeface="黑体" panose="02010609060101010101" pitchFamily="49" charset="-122"/>
                <a:ea typeface="黑体" panose="02010609060101010101" pitchFamily="49" charset="-122"/>
              </a:rPr>
              <a:t>级联方法：</a:t>
            </a:r>
            <a:endParaRPr kumimoji="1" lang="en-US" altLang="zh-CN" sz="2800" b="1" dirty="0">
              <a:solidFill>
                <a:srgbClr val="0000FF"/>
              </a:solidFill>
              <a:latin typeface="黑体" panose="02010609060101010101" pitchFamily="49" charset="-122"/>
              <a:ea typeface="黑体" panose="02010609060101010101" pitchFamily="49" charset="-122"/>
            </a:endParaRPr>
          </a:p>
          <a:p>
            <a:pPr algn="just" defTabSz="914400" fontAlgn="base">
              <a:lnSpc>
                <a:spcPct val="120000"/>
              </a:lnSpc>
              <a:spcAft>
                <a:spcPct val="0"/>
              </a:spcAft>
              <a:defRPr/>
            </a:pPr>
            <a:r>
              <a:rPr kumimoji="1" lang="zh-CN" altLang="en-US" sz="2800" b="1" dirty="0">
                <a:solidFill>
                  <a:srgbClr val="FF0000"/>
                </a:solidFill>
                <a:latin typeface="黑体" panose="02010609060101010101" pitchFamily="49" charset="-122"/>
                <a:ea typeface="黑体" panose="02010609060101010101" pitchFamily="49" charset="-122"/>
              </a:rPr>
              <a:t>并行进位法</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：所有芯片</a:t>
            </a:r>
            <a:r>
              <a:rPr kumimoji="1" lang="zh-CN" altLang="en-US" sz="2800" b="1" dirty="0">
                <a:solidFill>
                  <a:srgbClr val="0000FF"/>
                </a:solidFill>
                <a:latin typeface="黑体" panose="02010609060101010101" pitchFamily="49" charset="-122"/>
                <a:ea typeface="黑体" panose="02010609060101010101" pitchFamily="49" charset="-122"/>
              </a:rPr>
              <a:t>共用一个时钟信号</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，低位芯片的进位输出控制相邻高位芯片的使能端（</a:t>
            </a:r>
            <a:r>
              <a:rPr kumimoji="1" lang="zh-CN" altLang="en-US" sz="2800" b="1" dirty="0">
                <a:solidFill>
                  <a:srgbClr val="0000FF"/>
                </a:solidFill>
                <a:latin typeface="黑体" panose="02010609060101010101" pitchFamily="49" charset="-122"/>
                <a:ea typeface="黑体" panose="02010609060101010101" pitchFamily="49" charset="-122"/>
              </a:rPr>
              <a:t>同步方式</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a:t>
            </a: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a:p>
            <a:pPr algn="just" defTabSz="914400" fontAlgn="base">
              <a:lnSpc>
                <a:spcPct val="120000"/>
              </a:lnSpc>
              <a:spcAft>
                <a:spcPct val="0"/>
              </a:spcAft>
              <a:defRPr/>
            </a:pPr>
            <a:r>
              <a:rPr kumimoji="1" lang="zh-CN" altLang="en-US" sz="2800" b="1" dirty="0">
                <a:solidFill>
                  <a:srgbClr val="FF0000"/>
                </a:solidFill>
                <a:latin typeface="黑体" panose="02010609060101010101" pitchFamily="49" charset="-122"/>
                <a:ea typeface="黑体" panose="02010609060101010101" pitchFamily="49" charset="-122"/>
              </a:rPr>
              <a:t>串行进位法</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：低位芯片的进位输出作为相邻高位芯片的</a:t>
            </a:r>
            <a:r>
              <a:rPr kumimoji="1" lang="en-US" altLang="zh-CN" sz="2800" b="1" dirty="0">
                <a:solidFill>
                  <a:srgbClr val="3333CC">
                    <a:lumMod val="50000"/>
                  </a:srgbClr>
                </a:solidFill>
                <a:latin typeface="黑体" panose="02010609060101010101" pitchFamily="49" charset="-122"/>
                <a:ea typeface="黑体" panose="02010609060101010101" pitchFamily="49" charset="-122"/>
              </a:rPr>
              <a:t>CP</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 （</a:t>
            </a:r>
            <a:r>
              <a:rPr kumimoji="1" lang="zh-CN" altLang="en-US" sz="2800" b="1" dirty="0">
                <a:solidFill>
                  <a:srgbClr val="0000FF"/>
                </a:solidFill>
                <a:latin typeface="黑体" panose="02010609060101010101" pitchFamily="49" charset="-122"/>
                <a:ea typeface="黑体" panose="02010609060101010101" pitchFamily="49" charset="-122"/>
              </a:rPr>
              <a:t>异步方式</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       </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多个芯片级联（</a:t>
            </a:r>
            <a:r>
              <a:rPr lang="en-US" altLang="zh-CN" sz="2800" b="1" dirty="0">
                <a:solidFill>
                  <a:srgbClr val="0000FF"/>
                </a:solidFill>
                <a:latin typeface="黑体" panose="02010609060101010101" pitchFamily="49" charset="-122"/>
                <a:ea typeface="黑体" panose="02010609060101010101" pitchFamily="49" charset="-122"/>
              </a:rPr>
              <a:t>M&gt;N</a:t>
            </a:r>
            <a:r>
              <a:rPr lang="zh-CN" altLang="en-US" sz="2800" b="1" dirty="0">
                <a:solidFill>
                  <a:srgbClr val="0000FF"/>
                </a:solidFill>
                <a:latin typeface="黑体" panose="02010609060101010101" pitchFamily="49" charset="-122"/>
                <a:ea typeface="黑体" panose="02010609060101010101" pitchFamily="49" charset="-122"/>
              </a:rPr>
              <a:t>）</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Text Box 4"/>
          <p:cNvSpPr txBox="1">
            <a:spLocks noChangeArrowheads="1"/>
          </p:cNvSpPr>
          <p:nvPr/>
        </p:nvSpPr>
        <p:spPr bwMode="auto">
          <a:xfrm>
            <a:off x="204538" y="762701"/>
            <a:ext cx="8634662" cy="954107"/>
          </a:xfrm>
          <a:prstGeom prst="rect">
            <a:avLst/>
          </a:prstGeom>
          <a:noFill/>
          <a:ln w="9525">
            <a:noFill/>
            <a:miter lim="800000"/>
          </a:ln>
          <a:effectLst/>
        </p:spPr>
        <p:txBody>
          <a:bodyPr wrap="square">
            <a:spAutoFit/>
          </a:bodyPr>
          <a:lstStyle/>
          <a:p>
            <a:pPr algn="just" defTabSz="914400" fontAlgn="base">
              <a:spcAft>
                <a:spcPct val="0"/>
              </a:spcAft>
              <a:defRPr/>
            </a:pPr>
            <a:r>
              <a:rPr kumimoji="1" lang="zh-CN" altLang="en-US" sz="2800" b="1" dirty="0">
                <a:solidFill>
                  <a:srgbClr val="3333CC">
                    <a:lumMod val="50000"/>
                  </a:srgbClr>
                </a:solidFill>
                <a:latin typeface="黑体" panose="02010609060101010101" pitchFamily="49" charset="-122"/>
                <a:ea typeface="黑体" panose="02010609060101010101" pitchFamily="49" charset="-122"/>
              </a:rPr>
              <a:t>若要求实现的计数器计数值</a:t>
            </a:r>
            <a:r>
              <a:rPr kumimoji="1" lang="en-US" altLang="zh-CN" sz="2800" b="1" dirty="0">
                <a:solidFill>
                  <a:srgbClr val="3333CC">
                    <a:lumMod val="50000"/>
                  </a:srgbClr>
                </a:solidFill>
                <a:latin typeface="黑体" panose="02010609060101010101" pitchFamily="49" charset="-122"/>
                <a:ea typeface="黑体" panose="02010609060101010101" pitchFamily="49" charset="-122"/>
              </a:rPr>
              <a:t>M</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超过单片计数器的计数范围，则必须将多片计数器级联。</a:t>
            </a: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p:txBody>
      </p:sp>
      <p:sp>
        <p:nvSpPr>
          <p:cNvPr id="5" name="矩形 4"/>
          <p:cNvSpPr/>
          <p:nvPr/>
        </p:nvSpPr>
        <p:spPr>
          <a:xfrm>
            <a:off x="743770" y="2397624"/>
            <a:ext cx="6781435" cy="2576667"/>
          </a:xfrm>
          <a:prstGeom prst="rect">
            <a:avLst/>
          </a:prstGeom>
          <a:ln>
            <a:solidFill>
              <a:srgbClr val="FF0000"/>
            </a:solidFill>
          </a:ln>
        </p:spPr>
        <p:txBody>
          <a:bodyPr wrap="square">
            <a:spAutoFit/>
          </a:bodyPr>
          <a:lstStyle/>
          <a:p>
            <a:pPr algn="just">
              <a:lnSpc>
                <a:spcPct val="150000"/>
              </a:lnSpc>
            </a:pPr>
            <a:r>
              <a:rPr kumimoji="1" lang="zh-CN" altLang="en-US" sz="2800" b="1" dirty="0">
                <a:solidFill>
                  <a:srgbClr val="C00000"/>
                </a:solidFill>
                <a:latin typeface="黑体" panose="02010609060101010101" pitchFamily="49" charset="-122"/>
                <a:ea typeface="黑体" panose="02010609060101010101" pitchFamily="49" charset="-122"/>
              </a:rPr>
              <a:t>方法（二）扩展法</a:t>
            </a:r>
            <a:endParaRPr kumimoji="1" lang="en-US" altLang="zh-CN" sz="2800" b="1" dirty="0">
              <a:solidFill>
                <a:srgbClr val="C00000"/>
              </a:solidFill>
              <a:latin typeface="黑体" panose="02010609060101010101" pitchFamily="49" charset="-122"/>
              <a:ea typeface="黑体" panose="02010609060101010101" pitchFamily="49" charset="-122"/>
            </a:endParaRPr>
          </a:p>
          <a:p>
            <a:pPr algn="just">
              <a:lnSpc>
                <a:spcPct val="150000"/>
              </a:lnSpc>
            </a:pPr>
            <a:r>
              <a:rPr kumimoji="1" lang="zh-CN" altLang="en-US" sz="2800" b="1" dirty="0">
                <a:solidFill>
                  <a:srgbClr val="3333CC">
                    <a:lumMod val="50000"/>
                  </a:srgbClr>
                </a:solidFill>
                <a:latin typeface="黑体" panose="02010609060101010101" pitchFamily="49" charset="-122"/>
                <a:ea typeface="黑体" panose="02010609060101010101" pitchFamily="49" charset="-122"/>
              </a:rPr>
              <a:t>先将</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n</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片计数器</a:t>
            </a:r>
            <a:r>
              <a:rPr kumimoji="1" lang="zh-CN" altLang="en-US" sz="2800" b="1" dirty="0">
                <a:solidFill>
                  <a:srgbClr val="0000FF"/>
                </a:solidFill>
                <a:latin typeface="黑体" panose="02010609060101010101" pitchFamily="49" charset="-122"/>
                <a:ea typeface="黑体" panose="02010609060101010101" pitchFamily="49" charset="-122"/>
              </a:rPr>
              <a:t>级联</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组成最大计数值</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N</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M </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的计数器，然后采用</a:t>
            </a:r>
            <a:r>
              <a:rPr kumimoji="1" lang="zh-CN" altLang="en-US" sz="2800" b="1" dirty="0">
                <a:solidFill>
                  <a:srgbClr val="0000FF"/>
                </a:solidFill>
                <a:latin typeface="黑体" panose="02010609060101010101" pitchFamily="49" charset="-122"/>
                <a:ea typeface="黑体" panose="02010609060101010101" pitchFamily="49" charset="-122"/>
              </a:rPr>
              <a:t>整体清</a:t>
            </a:r>
            <a:r>
              <a:rPr kumimoji="1" lang="en-US" altLang="zh-CN" sz="2800" b="1" dirty="0">
                <a:solidFill>
                  <a:srgbClr val="0000FF"/>
                </a:solidFill>
                <a:latin typeface="黑体" panose="02010609060101010101" pitchFamily="49" charset="-122"/>
                <a:ea typeface="黑体" panose="02010609060101010101" pitchFamily="49" charset="-122"/>
              </a:rPr>
              <a:t>0</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或</a:t>
            </a:r>
            <a:r>
              <a:rPr kumimoji="1" lang="zh-CN" altLang="en-US" sz="2800" b="1" dirty="0">
                <a:solidFill>
                  <a:srgbClr val="0000FF"/>
                </a:solidFill>
                <a:latin typeface="黑体" panose="02010609060101010101" pitchFamily="49" charset="-122"/>
                <a:ea typeface="黑体" panose="02010609060101010101" pitchFamily="49" charset="-122"/>
              </a:rPr>
              <a:t>整体置数</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的方法实现模</a:t>
            </a:r>
            <a:r>
              <a:rPr kumimoji="1" lang="en-US" altLang="zh-CN" sz="2800" b="1" i="1" dirty="0">
                <a:solidFill>
                  <a:srgbClr val="3333CC">
                    <a:lumMod val="50000"/>
                  </a:srgbClr>
                </a:solidFill>
                <a:latin typeface="黑体" panose="02010609060101010101" pitchFamily="49" charset="-122"/>
                <a:ea typeface="黑体" panose="02010609060101010101" pitchFamily="49" charset="-122"/>
              </a:rPr>
              <a:t>M </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计数器。 </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23220"/>
          </a:xfrm>
          <a:prstGeom prst="rect">
            <a:avLst/>
          </a:prstGeom>
          <a:noFill/>
        </p:spPr>
        <p:txBody>
          <a:bodyPr wrap="square" rtlCol="0">
            <a:spAutoFit/>
          </a:bodyPr>
          <a:lstStyle/>
          <a:p>
            <a:pPr>
              <a:defRPr/>
            </a:pPr>
            <a:r>
              <a:rPr lang="zh-CN" altLang="en-US" sz="2800" b="1" dirty="0">
                <a:solidFill>
                  <a:srgbClr val="0000FF"/>
                </a:solidFill>
                <a:latin typeface="黑体" panose="02010609060101010101" pitchFamily="49" charset="-122"/>
                <a:ea typeface="黑体" panose="02010609060101010101" pitchFamily="49" charset="-122"/>
              </a:rPr>
              <a:t>多个芯片级联（</a:t>
            </a:r>
            <a:r>
              <a:rPr lang="en-US" altLang="zh-CN" sz="2800" b="1" dirty="0">
                <a:solidFill>
                  <a:srgbClr val="0000FF"/>
                </a:solidFill>
                <a:latin typeface="黑体" panose="02010609060101010101" pitchFamily="49" charset="-122"/>
                <a:ea typeface="黑体" panose="02010609060101010101" pitchFamily="49" charset="-122"/>
              </a:rPr>
              <a:t>M&gt;N</a:t>
            </a:r>
            <a:r>
              <a:rPr lang="zh-CN" altLang="en-US" sz="2800" b="1" dirty="0">
                <a:solidFill>
                  <a:srgbClr val="0000FF"/>
                </a:solidFill>
                <a:latin typeface="黑体" panose="02010609060101010101" pitchFamily="49" charset="-122"/>
                <a:ea typeface="黑体" panose="02010609060101010101" pitchFamily="49" charset="-122"/>
              </a:rPr>
              <a:t>）</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Text Box 4"/>
          <p:cNvSpPr txBox="1">
            <a:spLocks noChangeArrowheads="1"/>
          </p:cNvSpPr>
          <p:nvPr/>
        </p:nvSpPr>
        <p:spPr bwMode="auto">
          <a:xfrm>
            <a:off x="266309" y="657912"/>
            <a:ext cx="8589452" cy="523220"/>
          </a:xfrm>
          <a:prstGeom prst="rect">
            <a:avLst/>
          </a:prstGeom>
          <a:noFill/>
          <a:ln w="9525">
            <a:noFill/>
            <a:miter lim="800000"/>
          </a:ln>
          <a:effectLst/>
        </p:spPr>
        <p:txBody>
          <a:bodyPr wrap="square">
            <a:spAutoFit/>
          </a:bodyPr>
          <a:lstStyle/>
          <a:p>
            <a:pPr algn="just" defTabSz="914400" fontAlgn="base">
              <a:spcAft>
                <a:spcPct val="0"/>
              </a:spcAft>
              <a:defRPr/>
            </a:pPr>
            <a:r>
              <a:rPr kumimoji="1" lang="zh-CN" altLang="en-US" sz="2800" b="1" dirty="0">
                <a:solidFill>
                  <a:srgbClr val="FF0000"/>
                </a:solidFill>
                <a:latin typeface="黑体" panose="02010609060101010101" pitchFamily="49" charset="-122"/>
                <a:ea typeface="黑体" panose="02010609060101010101" pitchFamily="49" charset="-122"/>
              </a:rPr>
              <a:t>例</a:t>
            </a:r>
            <a:r>
              <a:rPr kumimoji="1" lang="en-US" altLang="zh-CN" sz="2800" b="1" dirty="0">
                <a:solidFill>
                  <a:srgbClr val="FF0000"/>
                </a:solidFill>
                <a:latin typeface="黑体" panose="02010609060101010101" pitchFamily="49" charset="-122"/>
                <a:ea typeface="黑体" panose="02010609060101010101" pitchFamily="49" charset="-122"/>
              </a:rPr>
              <a:t>3 </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用</a:t>
            </a:r>
            <a:r>
              <a:rPr kumimoji="1" lang="en-US" altLang="zh-CN" sz="2800" b="1" dirty="0">
                <a:solidFill>
                  <a:srgbClr val="3333CC">
                    <a:lumMod val="50000"/>
                  </a:srgbClr>
                </a:solidFill>
                <a:latin typeface="黑体" panose="02010609060101010101" pitchFamily="49" charset="-122"/>
                <a:ea typeface="黑体" panose="02010609060101010101" pitchFamily="49" charset="-122"/>
              </a:rPr>
              <a:t>74LS193</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设计一个</a:t>
            </a:r>
            <a:r>
              <a:rPr kumimoji="1" lang="en-US" altLang="zh-CN" sz="2800" b="1" dirty="0">
                <a:solidFill>
                  <a:srgbClr val="FF0000"/>
                </a:solidFill>
                <a:latin typeface="黑体" panose="02010609060101010101" pitchFamily="49" charset="-122"/>
                <a:ea typeface="黑体" panose="02010609060101010101" pitchFamily="49" charset="-122"/>
              </a:rPr>
              <a:t>256</a:t>
            </a:r>
            <a:r>
              <a:rPr kumimoji="1" lang="zh-CN" altLang="en-US" sz="2800" b="1" dirty="0">
                <a:solidFill>
                  <a:srgbClr val="3333CC">
                    <a:lumMod val="50000"/>
                  </a:srgbClr>
                </a:solidFill>
                <a:latin typeface="黑体" panose="02010609060101010101" pitchFamily="49" charset="-122"/>
                <a:ea typeface="黑体" panose="02010609060101010101" pitchFamily="49" charset="-122"/>
              </a:rPr>
              <a:t>进制的计数器。</a:t>
            </a:r>
            <a:r>
              <a:rPr kumimoji="1" lang="en-US" altLang="zh-CN" sz="2800" b="1" dirty="0">
                <a:solidFill>
                  <a:srgbClr val="3333CC">
                    <a:lumMod val="50000"/>
                  </a:srgbClr>
                </a:solidFill>
                <a:latin typeface="黑体" panose="02010609060101010101" pitchFamily="49" charset="-122"/>
                <a:ea typeface="黑体" panose="02010609060101010101" pitchFamily="49" charset="-122"/>
              </a:rPr>
              <a:t> </a:t>
            </a:r>
            <a:endParaRPr kumimoji="1" lang="en-US" altLang="zh-CN" sz="2800" b="1" dirty="0">
              <a:solidFill>
                <a:srgbClr val="3333CC">
                  <a:lumMod val="50000"/>
                </a:srgbClr>
              </a:solidFill>
              <a:latin typeface="黑体" panose="02010609060101010101" pitchFamily="49" charset="-122"/>
              <a:ea typeface="黑体" panose="02010609060101010101" pitchFamily="49" charset="-122"/>
            </a:endParaRPr>
          </a:p>
        </p:txBody>
      </p:sp>
      <p:sp>
        <p:nvSpPr>
          <p:cNvPr id="12" name="文本框 11"/>
          <p:cNvSpPr txBox="1"/>
          <p:nvPr/>
        </p:nvSpPr>
        <p:spPr>
          <a:xfrm>
            <a:off x="266309" y="1153332"/>
            <a:ext cx="8157373" cy="954107"/>
          </a:xfrm>
          <a:prstGeom prst="rect">
            <a:avLst/>
          </a:prstGeom>
          <a:noFill/>
        </p:spPr>
        <p:txBody>
          <a:bodyPr wrap="square" rtlCol="0">
            <a:spAutoFit/>
          </a:bodyPr>
          <a:lstStyle/>
          <a:p>
            <a:r>
              <a:rPr lang="zh-CN" altLang="en-US" sz="2800" b="1" dirty="0">
                <a:solidFill>
                  <a:srgbClr val="0000FF"/>
                </a:solidFill>
              </a:rPr>
              <a:t>分析</a:t>
            </a:r>
            <a:r>
              <a:rPr lang="zh-CN" altLang="en-US" sz="2800" b="1" dirty="0"/>
              <a:t>：</a:t>
            </a:r>
            <a:r>
              <a:rPr lang="en-US" altLang="zh-CN" sz="2800" b="1" dirty="0"/>
              <a:t>74LS193</a:t>
            </a:r>
            <a:r>
              <a:rPr lang="zh-CN" altLang="en-US" sz="2800" b="1" dirty="0"/>
              <a:t>是</a:t>
            </a:r>
            <a:r>
              <a:rPr lang="en-US" altLang="zh-CN" sz="2800" b="1" dirty="0"/>
              <a:t>16</a:t>
            </a:r>
            <a:r>
              <a:rPr lang="zh-CN" altLang="en-US" sz="2800" b="1" dirty="0"/>
              <a:t>进制计数器，两片</a:t>
            </a:r>
            <a:r>
              <a:rPr lang="en-US" altLang="zh-CN" sz="2800" b="1" dirty="0"/>
              <a:t>74LS193</a:t>
            </a:r>
            <a:r>
              <a:rPr lang="zh-CN" altLang="en-US" sz="2800" b="1" dirty="0"/>
              <a:t>级联可以实现</a:t>
            </a:r>
            <a:r>
              <a:rPr lang="en-US" altLang="zh-CN" sz="2800" b="1" dirty="0"/>
              <a:t>256</a:t>
            </a:r>
            <a:r>
              <a:rPr lang="zh-CN" altLang="en-US" sz="2800" b="1" dirty="0"/>
              <a:t>进制计数器。</a:t>
            </a:r>
            <a:endParaRPr lang="zh-CN" altLang="en-US" sz="2800" b="1" dirty="0"/>
          </a:p>
        </p:txBody>
      </p:sp>
      <p:grpSp>
        <p:nvGrpSpPr>
          <p:cNvPr id="22" name="组合 21"/>
          <p:cNvGrpSpPr/>
          <p:nvPr/>
        </p:nvGrpSpPr>
        <p:grpSpPr>
          <a:xfrm>
            <a:off x="1446074" y="2268942"/>
            <a:ext cx="6412551" cy="2602884"/>
            <a:chOff x="1446074" y="2268942"/>
            <a:chExt cx="6412551" cy="2602884"/>
          </a:xfrm>
        </p:grpSpPr>
        <p:grpSp>
          <p:nvGrpSpPr>
            <p:cNvPr id="20" name="组合 19"/>
            <p:cNvGrpSpPr/>
            <p:nvPr/>
          </p:nvGrpSpPr>
          <p:grpSpPr>
            <a:xfrm>
              <a:off x="1446074" y="3027150"/>
              <a:ext cx="6412551" cy="1844676"/>
              <a:chOff x="1446074" y="3027150"/>
              <a:chExt cx="6412551" cy="1844676"/>
            </a:xfrm>
          </p:grpSpPr>
          <p:pic>
            <p:nvPicPr>
              <p:cNvPr id="29" name="图片 28"/>
              <p:cNvPicPr>
                <a:picLocks noChangeAspect="1"/>
              </p:cNvPicPr>
              <p:nvPr/>
            </p:nvPicPr>
            <p:blipFill>
              <a:blip r:embed="rId2"/>
              <a:stretch>
                <a:fillRect/>
              </a:stretch>
            </p:blipFill>
            <p:spPr>
              <a:xfrm>
                <a:off x="4930072" y="3027150"/>
                <a:ext cx="2928553" cy="1844676"/>
              </a:xfrm>
              <a:prstGeom prst="rect">
                <a:avLst/>
              </a:prstGeom>
            </p:spPr>
          </p:pic>
          <p:pic>
            <p:nvPicPr>
              <p:cNvPr id="3" name="图片 2"/>
              <p:cNvPicPr>
                <a:picLocks noChangeAspect="1"/>
              </p:cNvPicPr>
              <p:nvPr/>
            </p:nvPicPr>
            <p:blipFill>
              <a:blip r:embed="rId2"/>
              <a:stretch>
                <a:fillRect/>
              </a:stretch>
            </p:blipFill>
            <p:spPr>
              <a:xfrm>
                <a:off x="1446074" y="3027150"/>
                <a:ext cx="2906393" cy="1830717"/>
              </a:xfrm>
              <a:prstGeom prst="rect">
                <a:avLst/>
              </a:prstGeom>
            </p:spPr>
          </p:pic>
        </p:grpSp>
        <p:sp>
          <p:nvSpPr>
            <p:cNvPr id="4" name="文本框 3"/>
            <p:cNvSpPr txBox="1"/>
            <p:nvPr/>
          </p:nvSpPr>
          <p:spPr>
            <a:xfrm>
              <a:off x="1908912" y="2268942"/>
              <a:ext cx="1684421" cy="523220"/>
            </a:xfrm>
            <a:prstGeom prst="rect">
              <a:avLst/>
            </a:prstGeom>
            <a:noFill/>
          </p:spPr>
          <p:txBody>
            <a:bodyPr wrap="square" rtlCol="0">
              <a:spAutoFit/>
            </a:bodyPr>
            <a:lstStyle/>
            <a:p>
              <a:r>
                <a:rPr lang="zh-CN" altLang="en-US" sz="2800" b="1" dirty="0">
                  <a:solidFill>
                    <a:srgbClr val="0000FF"/>
                  </a:solidFill>
                </a:rPr>
                <a:t>低位输出</a:t>
              </a:r>
              <a:endParaRPr lang="zh-CN" altLang="en-US" sz="2800" b="1" dirty="0">
                <a:solidFill>
                  <a:srgbClr val="0000FF"/>
                </a:solidFill>
              </a:endParaRPr>
            </a:p>
          </p:txBody>
        </p:sp>
        <p:sp>
          <p:nvSpPr>
            <p:cNvPr id="15" name="文本框 14"/>
            <p:cNvSpPr txBox="1"/>
            <p:nvPr/>
          </p:nvSpPr>
          <p:spPr>
            <a:xfrm>
              <a:off x="5718807" y="2431086"/>
              <a:ext cx="1684421" cy="523220"/>
            </a:xfrm>
            <a:prstGeom prst="rect">
              <a:avLst/>
            </a:prstGeom>
            <a:noFill/>
          </p:spPr>
          <p:txBody>
            <a:bodyPr wrap="square" rtlCol="0">
              <a:spAutoFit/>
            </a:bodyPr>
            <a:lstStyle/>
            <a:p>
              <a:r>
                <a:rPr lang="zh-CN" altLang="en-US" sz="2800" b="1" dirty="0">
                  <a:solidFill>
                    <a:srgbClr val="0000FF"/>
                  </a:solidFill>
                </a:rPr>
                <a:t>高位输出</a:t>
              </a:r>
              <a:endParaRPr lang="zh-CN" altLang="en-US" sz="2800" b="1" dirty="0">
                <a:solidFill>
                  <a:srgbClr val="0000FF"/>
                </a:solidFill>
              </a:endParaRPr>
            </a:p>
          </p:txBody>
        </p:sp>
      </p:grpSp>
      <p:cxnSp>
        <p:nvCxnSpPr>
          <p:cNvPr id="8" name="直接连接符 7"/>
          <p:cNvCxnSpPr/>
          <p:nvPr/>
        </p:nvCxnSpPr>
        <p:spPr>
          <a:xfrm>
            <a:off x="3840974" y="3893967"/>
            <a:ext cx="1530251"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对话气泡: 矩形 27"/>
          <p:cNvSpPr/>
          <p:nvPr/>
        </p:nvSpPr>
        <p:spPr>
          <a:xfrm>
            <a:off x="3643078" y="2100843"/>
            <a:ext cx="2017296" cy="949319"/>
          </a:xfrm>
          <a:prstGeom prst="wedgeRectCallout">
            <a:avLst>
              <a:gd name="adj1" fmla="val -2663"/>
              <a:gd name="adj2" fmla="val 134749"/>
            </a:avLst>
          </a:prstGeom>
          <a:noFill/>
          <a:ln w="254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FF33CC"/>
                </a:solidFill>
              </a:rPr>
              <a:t>低位计数器的进位输出端接到高位计数器的时钟端</a:t>
            </a:r>
            <a:endParaRPr lang="zh-CN" altLang="en-US" b="1" dirty="0">
              <a:solidFill>
                <a:srgbClr val="FF33CC"/>
              </a:solidFill>
            </a:endParaRPr>
          </a:p>
        </p:txBody>
      </p:sp>
      <p:grpSp>
        <p:nvGrpSpPr>
          <p:cNvPr id="23" name="组合 22"/>
          <p:cNvGrpSpPr/>
          <p:nvPr/>
        </p:nvGrpSpPr>
        <p:grpSpPr>
          <a:xfrm>
            <a:off x="856725" y="3889957"/>
            <a:ext cx="1038858" cy="869784"/>
            <a:chOff x="856725" y="3889957"/>
            <a:chExt cx="1038858" cy="869784"/>
          </a:xfrm>
        </p:grpSpPr>
        <p:cxnSp>
          <p:nvCxnSpPr>
            <p:cNvPr id="21" name="直接连接符 20"/>
            <p:cNvCxnSpPr/>
            <p:nvPr/>
          </p:nvCxnSpPr>
          <p:spPr>
            <a:xfrm flipV="1">
              <a:off x="1177999" y="3889957"/>
              <a:ext cx="717584" cy="401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178000" y="3889957"/>
              <a:ext cx="0" cy="465221"/>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856725" y="4298076"/>
              <a:ext cx="697968"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CP</a:t>
              </a:r>
              <a:endParaRPr lang="zh-CN" altLang="en-US" sz="2400" b="1" dirty="0">
                <a:latin typeface="Times New Roman" panose="02020603050405020304" pitchFamily="18" charset="0"/>
                <a:cs typeface="Times New Roman" panose="02020603050405020304" pitchFamily="18" charset="0"/>
              </a:endParaRPr>
            </a:p>
          </p:txBody>
        </p:sp>
      </p:grpSp>
      <p:grpSp>
        <p:nvGrpSpPr>
          <p:cNvPr id="25" name="组合 24"/>
          <p:cNvGrpSpPr/>
          <p:nvPr/>
        </p:nvGrpSpPr>
        <p:grpSpPr>
          <a:xfrm>
            <a:off x="1252110" y="3348725"/>
            <a:ext cx="3883670" cy="536658"/>
            <a:chOff x="1252110" y="3348725"/>
            <a:chExt cx="3883670" cy="536658"/>
          </a:xfrm>
        </p:grpSpPr>
        <p:sp>
          <p:nvSpPr>
            <p:cNvPr id="13" name="文本框 12"/>
            <p:cNvSpPr txBox="1"/>
            <p:nvPr/>
          </p:nvSpPr>
          <p:spPr>
            <a:xfrm>
              <a:off x="1252110" y="3348725"/>
              <a:ext cx="387928"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0</a:t>
              </a:r>
              <a:endParaRPr lang="zh-CN" altLang="en-US" sz="2400" b="1" dirty="0">
                <a:latin typeface="Times New Roman" panose="02020603050405020304" pitchFamily="18" charset="0"/>
                <a:cs typeface="Times New Roman" panose="02020603050405020304" pitchFamily="18" charset="0"/>
              </a:endParaRPr>
            </a:p>
          </p:txBody>
        </p:sp>
        <p:sp>
          <p:nvSpPr>
            <p:cNvPr id="35" name="文本框 34"/>
            <p:cNvSpPr txBox="1"/>
            <p:nvPr/>
          </p:nvSpPr>
          <p:spPr>
            <a:xfrm>
              <a:off x="4747852" y="3423718"/>
              <a:ext cx="387928"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0</a:t>
              </a:r>
              <a:endParaRPr lang="zh-CN" altLang="en-US" sz="2400" b="1" dirty="0">
                <a:latin typeface="Times New Roman" panose="02020603050405020304" pitchFamily="18" charset="0"/>
                <a:cs typeface="Times New Roman" panose="02020603050405020304" pitchFamily="18" charset="0"/>
              </a:endParaRPr>
            </a:p>
          </p:txBody>
        </p:sp>
      </p:grpSp>
      <p:sp>
        <p:nvSpPr>
          <p:cNvPr id="37" name="文本框 36"/>
          <p:cNvSpPr txBox="1"/>
          <p:nvPr/>
        </p:nvSpPr>
        <p:spPr>
          <a:xfrm>
            <a:off x="376060" y="5084684"/>
            <a:ext cx="8225923" cy="1569660"/>
          </a:xfrm>
          <a:prstGeom prst="rect">
            <a:avLst/>
          </a:prstGeom>
          <a:noFill/>
          <a:ln>
            <a:solidFill>
              <a:schemeClr val="accent1"/>
            </a:solidFill>
          </a:ln>
        </p:spPr>
        <p:txBody>
          <a:bodyPr wrap="square" rtlCol="0">
            <a:spAutoFit/>
          </a:bodyPr>
          <a:lstStyle/>
          <a:p>
            <a:r>
              <a:rPr lang="zh-CN" altLang="en-US" sz="2400" b="1" dirty="0"/>
              <a:t>当低位计数器计数为</a:t>
            </a:r>
            <a:r>
              <a:rPr lang="en-US" altLang="zh-CN" sz="2400" b="1" dirty="0">
                <a:solidFill>
                  <a:srgbClr val="FF0000"/>
                </a:solidFill>
              </a:rPr>
              <a:t>1111</a:t>
            </a:r>
            <a:r>
              <a:rPr lang="zh-CN" altLang="en-US" sz="2400" b="1" dirty="0"/>
              <a:t>时，低位计数器的进位输出端产生一个</a:t>
            </a:r>
            <a:r>
              <a:rPr lang="zh-CN" altLang="en-US" sz="2400" b="1" dirty="0">
                <a:solidFill>
                  <a:srgbClr val="FF0000"/>
                </a:solidFill>
              </a:rPr>
              <a:t>低电平脉冲</a:t>
            </a:r>
            <a:r>
              <a:rPr lang="zh-CN" altLang="en-US" sz="2400" b="1" dirty="0"/>
              <a:t>信号；当下一个时钟脉冲上升沿到来时，低位计数器的进位输出端变为</a:t>
            </a:r>
            <a:r>
              <a:rPr lang="zh-CN" altLang="en-US" sz="2400" b="1" dirty="0">
                <a:solidFill>
                  <a:srgbClr val="FF0000"/>
                </a:solidFill>
              </a:rPr>
              <a:t>高电平</a:t>
            </a:r>
            <a:r>
              <a:rPr lang="zh-CN" altLang="en-US" sz="2400" b="1" dirty="0"/>
              <a:t>值，相当于高位计数器的时钟端有一个</a:t>
            </a:r>
            <a:r>
              <a:rPr lang="zh-CN" altLang="en-US" sz="2400" b="1" dirty="0">
                <a:solidFill>
                  <a:srgbClr val="FF0000"/>
                </a:solidFill>
              </a:rPr>
              <a:t>上升沿</a:t>
            </a:r>
            <a:r>
              <a:rPr lang="zh-CN" altLang="en-US" sz="2400" b="1" dirty="0"/>
              <a:t>，高位计数器计数增加</a:t>
            </a:r>
            <a:r>
              <a:rPr lang="en-US" altLang="zh-CN" sz="2400" b="1" dirty="0"/>
              <a:t>1</a:t>
            </a:r>
            <a:r>
              <a:rPr lang="zh-CN" altLang="en-US" sz="2400" b="1" dirty="0"/>
              <a:t>。</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down)">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left)">
                                      <p:cBhvr>
                                        <p:cTn id="3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8" grpId="0" animBg="1"/>
      <p:bldP spid="37"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579095"/>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6175398"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5.5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常用时序逻辑电路及其应用</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8" name="淘宝网chenying0907出品 29"/>
          <p:cNvSpPr txBox="1"/>
          <p:nvPr/>
        </p:nvSpPr>
        <p:spPr>
          <a:xfrm>
            <a:off x="2408579" y="2126947"/>
            <a:ext cx="3700500" cy="523220"/>
          </a:xfrm>
          <a:prstGeom prst="rect">
            <a:avLst/>
          </a:prstGeom>
          <a:noFill/>
        </p:spPr>
        <p:txBody>
          <a:bodyPr wrap="square" rtlCol="0">
            <a:spAutoFit/>
          </a:bodyPr>
          <a:lstStyle>
            <a:defPPr>
              <a:defRPr lang="en-US"/>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计数器</a:t>
            </a:r>
            <a:endParaRPr lang="zh-CN" altLang="en-US" dirty="0"/>
          </a:p>
        </p:txBody>
      </p:sp>
      <p:sp>
        <p:nvSpPr>
          <p:cNvPr id="11" name="淘宝网chenying0907出品 29"/>
          <p:cNvSpPr txBox="1"/>
          <p:nvPr/>
        </p:nvSpPr>
        <p:spPr>
          <a:xfrm>
            <a:off x="2408579" y="3291015"/>
            <a:ext cx="3700500" cy="523220"/>
          </a:xfrm>
          <a:prstGeom prst="rect">
            <a:avLst/>
          </a:prstGeom>
          <a:noFill/>
        </p:spPr>
        <p:txBody>
          <a:bodyPr wrap="square" rtlCol="0">
            <a:spAutoFit/>
          </a:bodyPr>
          <a:lstStyle>
            <a:defPPr>
              <a:defRPr lang="en-US"/>
            </a:defPPr>
            <a:lvl1pPr>
              <a:defRPr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sz="2800" dirty="0">
                <a:solidFill>
                  <a:schemeClr val="tx1"/>
                </a:solidFill>
              </a:rPr>
              <a:t>寄存器</a:t>
            </a:r>
            <a:endParaRPr lang="zh-CN" altLang="en-US" sz="2800"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1F4E79"/>
                </a:solidFill>
                <a:latin typeface="黑体" panose="02010609060101010101" pitchFamily="49" charset="-122"/>
                <a:ea typeface="黑体" panose="02010609060101010101" pitchFamily="49" charset="-122"/>
              </a:rPr>
              <a:t>5.5.2 </a:t>
            </a:r>
            <a:r>
              <a:rPr lang="zh-CN" altLang="en-US" sz="3200" b="1" dirty="0">
                <a:solidFill>
                  <a:srgbClr val="1F4E79"/>
                </a:solidFill>
                <a:latin typeface="黑体" panose="02010609060101010101" pitchFamily="49" charset="-122"/>
                <a:ea typeface="黑体" panose="02010609060101010101" pitchFamily="49" charset="-122"/>
              </a:rPr>
              <a:t>寄存器</a:t>
            </a:r>
            <a:endParaRPr lang="zh-CN" altLang="en-US" sz="3200" b="1" dirty="0">
              <a:solidFill>
                <a:srgbClr val="1F4E79"/>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8" name="Rectangle 3"/>
          <p:cNvSpPr>
            <a:spLocks noChangeArrowheads="1"/>
          </p:cNvSpPr>
          <p:nvPr/>
        </p:nvSpPr>
        <p:spPr bwMode="auto">
          <a:xfrm>
            <a:off x="222250" y="1037524"/>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C00000"/>
                </a:solidFill>
                <a:latin typeface="Times New Roman" panose="02020603050405020304" pitchFamily="18" charset="0"/>
                <a:ea typeface="黑体" panose="02010609060101010101" pitchFamily="49" charset="-122"/>
              </a:rPr>
              <a:t>寄存</a:t>
            </a:r>
            <a:r>
              <a:rPr lang="zh-CN" altLang="en-US" sz="2400" b="1" dirty="0">
                <a:solidFill>
                  <a:srgbClr val="C00000"/>
                </a:solidFill>
                <a:latin typeface="Times New Roman" panose="02020603050405020304" pitchFamily="18" charset="0"/>
                <a:ea typeface="黑体" panose="02010609060101010101" pitchFamily="49" charset="-122"/>
              </a:rPr>
              <a:t>：</a:t>
            </a:r>
            <a:r>
              <a:rPr lang="zh-CN" altLang="en-US" sz="2800" b="1" dirty="0">
                <a:solidFill>
                  <a:prstClr val="black"/>
                </a:solidFill>
                <a:latin typeface="Times New Roman" panose="02020603050405020304" pitchFamily="18" charset="0"/>
                <a:ea typeface="黑体" panose="02010609060101010101" pitchFamily="49" charset="-122"/>
              </a:rPr>
              <a:t>把二进制数据或代码</a:t>
            </a:r>
            <a:r>
              <a:rPr lang="zh-CN" altLang="en-US" sz="2800" b="1" dirty="0">
                <a:solidFill>
                  <a:srgbClr val="0000FF"/>
                </a:solidFill>
                <a:latin typeface="Times New Roman" panose="02020603050405020304" pitchFamily="18" charset="0"/>
                <a:ea typeface="黑体" panose="02010609060101010101" pitchFamily="49" charset="-122"/>
              </a:rPr>
              <a:t>暂时存储</a:t>
            </a:r>
            <a:endParaRPr lang="zh-CN" altLang="en-US" sz="2800" b="1" dirty="0">
              <a:solidFill>
                <a:srgbClr val="0000FF"/>
              </a:solidFill>
              <a:latin typeface="Tahoma" panose="020B0604030504040204" pitchFamily="34" charset="0"/>
              <a:ea typeface="华文新魏" panose="02010800040101010101" pitchFamily="2" charset="-122"/>
            </a:endParaRPr>
          </a:p>
        </p:txBody>
      </p:sp>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1" name="Rectangle 7"/>
          <p:cNvSpPr>
            <a:spLocks noChangeArrowheads="1"/>
          </p:cNvSpPr>
          <p:nvPr/>
        </p:nvSpPr>
        <p:spPr bwMode="auto">
          <a:xfrm>
            <a:off x="222249" y="1637419"/>
            <a:ext cx="8604919" cy="100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C00000"/>
                </a:solidFill>
                <a:latin typeface="Times New Roman" panose="02020603050405020304" pitchFamily="18" charset="0"/>
                <a:ea typeface="黑体" panose="02010609060101010101" pitchFamily="49" charset="-122"/>
              </a:rPr>
              <a:t>功能特点：</a:t>
            </a:r>
            <a:r>
              <a:rPr lang="zh-CN" altLang="en-US" sz="2800" b="1" dirty="0">
                <a:solidFill>
                  <a:prstClr val="black"/>
                </a:solidFill>
                <a:latin typeface="Times New Roman" panose="02020603050405020304" pitchFamily="18" charset="0"/>
                <a:ea typeface="黑体" panose="02010609060101010101" pitchFamily="49" charset="-122"/>
              </a:rPr>
              <a:t>暂存数据或代码，一般不对存储内容进行处理</a:t>
            </a:r>
            <a:endParaRPr lang="zh-CN" altLang="en-US" sz="2800" b="1" dirty="0">
              <a:solidFill>
                <a:srgbClr val="0000FF"/>
              </a:solidFill>
              <a:latin typeface="Tahoma" panose="020B0604030504040204" pitchFamily="34" charset="0"/>
              <a:ea typeface="华文新魏" panose="02010800040101010101" pitchFamily="2" charset="-122"/>
            </a:endParaRPr>
          </a:p>
        </p:txBody>
      </p:sp>
      <p:sp>
        <p:nvSpPr>
          <p:cNvPr id="13" name="Rectangle 10"/>
          <p:cNvSpPr>
            <a:spLocks noChangeArrowheads="1"/>
          </p:cNvSpPr>
          <p:nvPr/>
        </p:nvSpPr>
        <p:spPr bwMode="auto">
          <a:xfrm>
            <a:off x="222250" y="3581286"/>
            <a:ext cx="1055938"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C00000"/>
                </a:solidFill>
                <a:latin typeface="Times New Roman" panose="02020603050405020304" pitchFamily="18" charset="0"/>
                <a:ea typeface="黑体" panose="02010609060101010101" pitchFamily="49" charset="-122"/>
              </a:rPr>
              <a:t>分类</a:t>
            </a:r>
            <a:endParaRPr lang="zh-CN" altLang="en-US" sz="3200" b="1" dirty="0">
              <a:solidFill>
                <a:srgbClr val="C00000"/>
              </a:solidFill>
              <a:latin typeface="Tahoma" panose="020B0604030504040204" pitchFamily="34" charset="0"/>
              <a:ea typeface="华文新魏" panose="02010800040101010101" pitchFamily="2" charset="-122"/>
            </a:endParaRPr>
          </a:p>
        </p:txBody>
      </p:sp>
      <p:sp>
        <p:nvSpPr>
          <p:cNvPr id="14" name="AutoShape 11"/>
          <p:cNvSpPr/>
          <p:nvPr/>
        </p:nvSpPr>
        <p:spPr bwMode="auto">
          <a:xfrm>
            <a:off x="1278188" y="3547937"/>
            <a:ext cx="252413" cy="742162"/>
          </a:xfrm>
          <a:prstGeom prst="leftBrace">
            <a:avLst>
              <a:gd name="adj1" fmla="val 19363"/>
              <a:gd name="adj2" fmla="val 50000"/>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5" name="Text Box 12"/>
          <p:cNvSpPr txBox="1">
            <a:spLocks noChangeArrowheads="1"/>
          </p:cNvSpPr>
          <p:nvPr/>
        </p:nvSpPr>
        <p:spPr bwMode="auto">
          <a:xfrm>
            <a:off x="1648328" y="3319676"/>
            <a:ext cx="569093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prstClr val="black"/>
                </a:solidFill>
                <a:latin typeface="Times New Roman" panose="02020603050405020304" pitchFamily="18" charset="0"/>
                <a:ea typeface="黑体" panose="02010609060101010101" pitchFamily="49" charset="-122"/>
              </a:rPr>
              <a:t>基本寄存器（数码寄存器）</a:t>
            </a:r>
            <a:endParaRPr kumimoji="1" lang="zh-CN" altLang="en-US" sz="2800" b="1" dirty="0">
              <a:solidFill>
                <a:prstClr val="black"/>
              </a:solidFill>
              <a:latin typeface="Times New Roman" panose="02020603050405020304" pitchFamily="18" charset="0"/>
              <a:ea typeface="黑体" panose="02010609060101010101" pitchFamily="49" charset="-122"/>
            </a:endParaRPr>
          </a:p>
        </p:txBody>
      </p:sp>
      <p:sp>
        <p:nvSpPr>
          <p:cNvPr id="17" name="Text Box 13"/>
          <p:cNvSpPr txBox="1">
            <a:spLocks noChangeArrowheads="1"/>
          </p:cNvSpPr>
          <p:nvPr/>
        </p:nvSpPr>
        <p:spPr bwMode="auto">
          <a:xfrm>
            <a:off x="1648327" y="3928376"/>
            <a:ext cx="347261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prstClr val="black"/>
                </a:solidFill>
                <a:latin typeface="Times New Roman" panose="02020603050405020304" pitchFamily="18" charset="0"/>
                <a:ea typeface="黑体" panose="02010609060101010101" pitchFamily="49" charset="-122"/>
              </a:rPr>
              <a:t>移位寄存器</a:t>
            </a:r>
            <a:endParaRPr kumimoji="1" lang="zh-CN" altLang="en-US" sz="2800" b="1" dirty="0">
              <a:solidFill>
                <a:prstClr val="black"/>
              </a:solidFill>
              <a:latin typeface="Times New Roman" panose="02020603050405020304" pitchFamily="18" charset="0"/>
              <a:ea typeface="黑体" panose="02010609060101010101" pitchFamily="49" charset="-122"/>
            </a:endParaRPr>
          </a:p>
        </p:txBody>
      </p:sp>
      <p:sp>
        <p:nvSpPr>
          <p:cNvPr id="19" name="Rectangle 16"/>
          <p:cNvSpPr>
            <a:spLocks noChangeArrowheads="1"/>
          </p:cNvSpPr>
          <p:nvPr/>
        </p:nvSpPr>
        <p:spPr bwMode="auto">
          <a:xfrm>
            <a:off x="222250" y="2693541"/>
            <a:ext cx="786247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C00000"/>
                </a:solidFill>
                <a:latin typeface="Times New Roman" panose="02020603050405020304" pitchFamily="18" charset="0"/>
                <a:ea typeface="黑体" panose="02010609060101010101" pitchFamily="49" charset="-122"/>
              </a:rPr>
              <a:t>结构特点：</a:t>
            </a:r>
            <a:r>
              <a:rPr lang="zh-CN" altLang="en-US" sz="2800" b="1" dirty="0">
                <a:solidFill>
                  <a:prstClr val="black"/>
                </a:solidFill>
                <a:latin typeface="Times New Roman" panose="02020603050405020304" pitchFamily="18" charset="0"/>
                <a:ea typeface="黑体" panose="02010609060101010101" pitchFamily="49" charset="-122"/>
              </a:rPr>
              <a:t>通常由</a:t>
            </a:r>
            <a:r>
              <a:rPr lang="en-US" altLang="zh-CN" sz="2800" b="1" dirty="0">
                <a:solidFill>
                  <a:prstClr val="black"/>
                </a:solidFill>
                <a:latin typeface="Times New Roman" panose="02020603050405020304" pitchFamily="18" charset="0"/>
                <a:ea typeface="黑体" panose="02010609060101010101" pitchFamily="49" charset="-122"/>
              </a:rPr>
              <a:t>D</a:t>
            </a:r>
            <a:r>
              <a:rPr lang="zh-CN" altLang="en-US" sz="2800" b="1" dirty="0">
                <a:solidFill>
                  <a:prstClr val="black"/>
                </a:solidFill>
                <a:latin typeface="Times New Roman" panose="02020603050405020304" pitchFamily="18" charset="0"/>
                <a:ea typeface="黑体" panose="02010609060101010101" pitchFamily="49" charset="-122"/>
              </a:rPr>
              <a:t>触发器构成</a:t>
            </a:r>
            <a:endParaRPr lang="zh-CN" altLang="en-US" sz="2800" b="1" dirty="0">
              <a:solidFill>
                <a:prstClr val="black"/>
              </a:solidFill>
              <a:latin typeface="Times New Roman" panose="02020603050405020304" pitchFamily="18" charset="0"/>
              <a:ea typeface="黑体" panose="02010609060101010101" pitchFamily="49" charset="-122"/>
            </a:endParaRPr>
          </a:p>
        </p:txBody>
      </p:sp>
      <p:sp>
        <p:nvSpPr>
          <p:cNvPr id="20" name="Text Box 17"/>
          <p:cNvSpPr txBox="1">
            <a:spLocks noChangeArrowheads="1"/>
          </p:cNvSpPr>
          <p:nvPr/>
        </p:nvSpPr>
        <p:spPr bwMode="auto">
          <a:xfrm>
            <a:off x="1735872" y="4727145"/>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u="sng" dirty="0">
                <a:solidFill>
                  <a:srgbClr val="0000FF"/>
                </a:solidFill>
                <a:latin typeface="黑体" panose="02010609060101010101" pitchFamily="49" charset="-122"/>
                <a:ea typeface="黑体" panose="02010609060101010101" pitchFamily="49" charset="-122"/>
              </a:rPr>
              <a:t>并行方式</a:t>
            </a:r>
            <a:r>
              <a:rPr lang="en-US" altLang="zh-CN" sz="2400" b="1" u="sng" dirty="0">
                <a:solidFill>
                  <a:srgbClr val="0000FF"/>
                </a:solidFill>
                <a:latin typeface="黑体" panose="02010609060101010101" pitchFamily="49" charset="-122"/>
                <a:ea typeface="黑体" panose="02010609060101010101" pitchFamily="49" charset="-122"/>
              </a:rPr>
              <a:t>:</a:t>
            </a:r>
            <a:endParaRPr lang="en-US" altLang="zh-CN" sz="2400" b="1" u="sng" dirty="0">
              <a:solidFill>
                <a:srgbClr val="0000FF"/>
              </a:solidFill>
              <a:latin typeface="黑体" panose="02010609060101010101" pitchFamily="49" charset="-122"/>
              <a:ea typeface="黑体" panose="02010609060101010101" pitchFamily="49" charset="-122"/>
            </a:endParaRPr>
          </a:p>
        </p:txBody>
      </p:sp>
      <p:sp>
        <p:nvSpPr>
          <p:cNvPr id="21" name="Text Box 18"/>
          <p:cNvSpPr txBox="1">
            <a:spLocks noChangeArrowheads="1"/>
          </p:cNvSpPr>
          <p:nvPr/>
        </p:nvSpPr>
        <p:spPr bwMode="auto">
          <a:xfrm>
            <a:off x="1767622" y="5638370"/>
            <a:ext cx="1768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u="sng">
                <a:solidFill>
                  <a:srgbClr val="0000FF"/>
                </a:solidFill>
                <a:ea typeface="黑体" panose="02010609060101010101" pitchFamily="49" charset="-122"/>
              </a:rPr>
              <a:t>串行方式</a:t>
            </a:r>
            <a:r>
              <a:rPr lang="en-US" altLang="zh-CN" sz="2400" b="1" u="sng">
                <a:solidFill>
                  <a:srgbClr val="0000FF"/>
                </a:solidFill>
                <a:ea typeface="黑体" panose="02010609060101010101" pitchFamily="49" charset="-122"/>
              </a:rPr>
              <a:t>:</a:t>
            </a:r>
            <a:endParaRPr lang="en-US" altLang="zh-CN" sz="2400" b="1" u="sng">
              <a:solidFill>
                <a:srgbClr val="0000FF"/>
              </a:solidFill>
              <a:ea typeface="黑体" panose="02010609060101010101" pitchFamily="49" charset="-122"/>
            </a:endParaRPr>
          </a:p>
        </p:txBody>
      </p:sp>
      <p:sp>
        <p:nvSpPr>
          <p:cNvPr id="22" name="AutoShape 19"/>
          <p:cNvSpPr/>
          <p:nvPr/>
        </p:nvSpPr>
        <p:spPr bwMode="auto">
          <a:xfrm>
            <a:off x="1519972" y="4927170"/>
            <a:ext cx="215900" cy="1092200"/>
          </a:xfrm>
          <a:prstGeom prst="leftBrace">
            <a:avLst>
              <a:gd name="adj1" fmla="val 4215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3" name="Text Box 20"/>
          <p:cNvSpPr txBox="1">
            <a:spLocks noChangeArrowheads="1"/>
          </p:cNvSpPr>
          <p:nvPr/>
        </p:nvSpPr>
        <p:spPr bwMode="auto">
          <a:xfrm>
            <a:off x="222250" y="5022501"/>
            <a:ext cx="136842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C00000"/>
                </a:solidFill>
                <a:ea typeface="黑体" panose="02010609060101010101" pitchFamily="49" charset="-122"/>
              </a:rPr>
              <a:t>输入输出方式</a:t>
            </a:r>
            <a:endParaRPr lang="zh-CN" altLang="en-US" sz="2800" b="1" dirty="0">
              <a:solidFill>
                <a:srgbClr val="C00000"/>
              </a:solidFill>
              <a:ea typeface="黑体" panose="02010609060101010101" pitchFamily="49" charset="-122"/>
            </a:endParaRPr>
          </a:p>
        </p:txBody>
      </p:sp>
      <p:sp>
        <p:nvSpPr>
          <p:cNvPr id="24" name="Text Box 21"/>
          <p:cNvSpPr txBox="1">
            <a:spLocks noChangeArrowheads="1"/>
          </p:cNvSpPr>
          <p:nvPr/>
        </p:nvSpPr>
        <p:spPr bwMode="auto">
          <a:xfrm>
            <a:off x="3244793" y="4586074"/>
            <a:ext cx="57959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每一位数据对应一个输入端（输出端）</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b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b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CP</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作用下，各位</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同时</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输入（输出）</a:t>
            </a:r>
            <a:endPar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 name="Text Box 22"/>
          <p:cNvSpPr txBox="1">
            <a:spLocks noChangeArrowheads="1"/>
          </p:cNvSpPr>
          <p:nvPr/>
        </p:nvSpPr>
        <p:spPr bwMode="auto">
          <a:xfrm>
            <a:off x="3244793" y="5481424"/>
            <a:ext cx="5724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只有一个输入端（输出端）</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b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b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CP</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作用下，各数码</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逐位</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输入（输出）</a:t>
            </a:r>
            <a:endPar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3" grpId="0"/>
      <p:bldP spid="14" grpId="0" animBg="1"/>
      <p:bldP spid="15" grpId="0"/>
      <p:bldP spid="17" grpId="0"/>
      <p:bldP spid="19" grpId="0"/>
      <p:bldP spid="20" grpId="0"/>
      <p:bldP spid="21" grpId="0"/>
      <p:bldP spid="22" grpId="0" animBg="1"/>
      <p:bldP spid="23" grpId="0"/>
      <p:bldP spid="24"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8"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基本寄存器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graphicFrame>
        <p:nvGraphicFramePr>
          <p:cNvPr id="83" name="Object 4"/>
          <p:cNvGraphicFramePr>
            <a:graphicFrameLocks noChangeAspect="1"/>
          </p:cNvGraphicFramePr>
          <p:nvPr/>
        </p:nvGraphicFramePr>
        <p:xfrm>
          <a:off x="655665" y="1399942"/>
          <a:ext cx="7674626" cy="3213069"/>
        </p:xfrm>
        <a:graphic>
          <a:graphicData uri="http://schemas.openxmlformats.org/presentationml/2006/ole">
            <mc:AlternateContent xmlns:mc="http://schemas.openxmlformats.org/markup-compatibility/2006">
              <mc:Choice xmlns:v="urn:schemas-microsoft-com:vml" Requires="v">
                <p:oleObj spid="_x0000_s8196" name="图片" r:id="rId2" imgW="2752725" imgH="1152525" progId="Word.Picture.8">
                  <p:embed/>
                </p:oleObj>
              </mc:Choice>
              <mc:Fallback>
                <p:oleObj name="图片" r:id="rId2" imgW="2752725" imgH="1152525" progId="Word.Picture.8">
                  <p:embed/>
                  <p:pic>
                    <p:nvPicPr>
                      <p:cNvPr id="0" name="图片 81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65" y="1399942"/>
                        <a:ext cx="7674626" cy="3213069"/>
                      </a:xfrm>
                      <a:prstGeom prst="rect">
                        <a:avLst/>
                      </a:prstGeom>
                      <a:solidFill>
                        <a:srgbClr val="F8F8F8"/>
                      </a:solidFill>
                      <a:ln>
                        <a:noFill/>
                      </a:ln>
                      <a:effectLst/>
                    </p:spPr>
                  </p:pic>
                </p:oleObj>
              </mc:Fallback>
            </mc:AlternateContent>
          </a:graphicData>
        </a:graphic>
      </p:graphicFrame>
      <p:sp>
        <p:nvSpPr>
          <p:cNvPr id="2" name="矩形 1"/>
          <p:cNvSpPr/>
          <p:nvPr/>
        </p:nvSpPr>
        <p:spPr>
          <a:xfrm>
            <a:off x="810554" y="4866098"/>
            <a:ext cx="7612709" cy="954107"/>
          </a:xfrm>
          <a:prstGeom prst="rect">
            <a:avLst/>
          </a:prstGeom>
        </p:spPr>
        <p:txBody>
          <a:bodyPr wrap="square">
            <a:spAutoFit/>
          </a:bodyPr>
          <a:lstStyle/>
          <a:p>
            <a:r>
              <a:rPr lang="zh-CN" altLang="en-US" sz="2800" b="1" dirty="0">
                <a:solidFill>
                  <a:prstClr val="black"/>
                </a:solidFill>
                <a:latin typeface="Times New Roman" panose="02020603050405020304" pitchFamily="18" charset="0"/>
              </a:rPr>
              <a:t>时钟脉冲</a:t>
            </a:r>
            <a:r>
              <a:rPr lang="en-US" altLang="zh-CN" sz="2800" b="1" i="1" dirty="0">
                <a:solidFill>
                  <a:prstClr val="black"/>
                </a:solidFill>
                <a:latin typeface="Times New Roman" panose="02020603050405020304" pitchFamily="18" charset="0"/>
              </a:rPr>
              <a:t>CP</a:t>
            </a:r>
            <a:r>
              <a:rPr lang="zh-CN" altLang="en-US" sz="2800" b="1" dirty="0">
                <a:solidFill>
                  <a:srgbClr val="FF0000"/>
                </a:solidFill>
                <a:latin typeface="Times New Roman" panose="02020603050405020304" pitchFamily="18" charset="0"/>
              </a:rPr>
              <a:t>上升沿</a:t>
            </a:r>
            <a:r>
              <a:rPr lang="zh-CN" altLang="en-US" sz="2800" b="1" dirty="0">
                <a:solidFill>
                  <a:prstClr val="black"/>
                </a:solidFill>
                <a:latin typeface="Times New Roman" panose="02020603050405020304" pitchFamily="18" charset="0"/>
              </a:rPr>
              <a:t>到来，加在</a:t>
            </a:r>
            <a:r>
              <a:rPr lang="zh-CN" altLang="en-US" sz="2800" b="1" dirty="0">
                <a:solidFill>
                  <a:srgbClr val="FF0000"/>
                </a:solidFill>
                <a:latin typeface="Times New Roman" panose="02020603050405020304" pitchFamily="18" charset="0"/>
              </a:rPr>
              <a:t>并行</a:t>
            </a:r>
            <a:r>
              <a:rPr lang="zh-CN" altLang="en-US" sz="2800" b="1" dirty="0">
                <a:solidFill>
                  <a:prstClr val="black"/>
                </a:solidFill>
                <a:latin typeface="Times New Roman" panose="02020603050405020304" pitchFamily="18" charset="0"/>
              </a:rPr>
              <a:t>数据输入端的数据</a:t>
            </a:r>
            <a:r>
              <a:rPr lang="en-US" altLang="zh-CN" sz="2800" b="1" i="1" dirty="0">
                <a:solidFill>
                  <a:prstClr val="black"/>
                </a:solidFill>
                <a:latin typeface="Times New Roman" panose="02020603050405020304" pitchFamily="18" charset="0"/>
              </a:rPr>
              <a:t>D</a:t>
            </a:r>
            <a:r>
              <a:rPr lang="en-US" altLang="zh-CN" sz="2800" b="1" baseline="-25000" dirty="0">
                <a:solidFill>
                  <a:prstClr val="black"/>
                </a:solidFill>
                <a:latin typeface="Times New Roman" panose="02020603050405020304" pitchFamily="18" charset="0"/>
              </a:rPr>
              <a:t>3</a:t>
            </a:r>
            <a:r>
              <a:rPr lang="en-US" altLang="zh-CN" sz="2800" b="1" dirty="0">
                <a:solidFill>
                  <a:prstClr val="black"/>
                </a:solidFill>
                <a:latin typeface="Times New Roman" panose="02020603050405020304" pitchFamily="18" charset="0"/>
              </a:rPr>
              <a:t>～</a:t>
            </a:r>
            <a:r>
              <a:rPr lang="en-US" altLang="zh-CN" sz="2800" b="1" i="1" dirty="0">
                <a:solidFill>
                  <a:prstClr val="black"/>
                </a:solidFill>
                <a:latin typeface="Times New Roman" panose="02020603050405020304" pitchFamily="18" charset="0"/>
              </a:rPr>
              <a:t>D</a:t>
            </a:r>
            <a:r>
              <a:rPr lang="en-US" altLang="zh-CN" sz="2800" b="1" baseline="-25000" dirty="0">
                <a:solidFill>
                  <a:prstClr val="black"/>
                </a:solidFill>
                <a:latin typeface="Times New Roman" panose="02020603050405020304" pitchFamily="18" charset="0"/>
              </a:rPr>
              <a:t>0</a:t>
            </a:r>
            <a:r>
              <a:rPr lang="en-US" altLang="zh-CN" sz="2800" b="1" dirty="0">
                <a:solidFill>
                  <a:prstClr val="black"/>
                </a:solidFill>
                <a:latin typeface="Times New Roman" panose="02020603050405020304" pitchFamily="18" charset="0"/>
              </a:rPr>
              <a:t>，</a:t>
            </a:r>
            <a:r>
              <a:rPr lang="zh-CN" altLang="en-US" sz="2800" b="1" dirty="0">
                <a:solidFill>
                  <a:prstClr val="black"/>
                </a:solidFill>
                <a:latin typeface="Times New Roman" panose="02020603050405020304" pitchFamily="18" charset="0"/>
              </a:rPr>
              <a:t>就立即被送到触发器输出端：</a:t>
            </a:r>
            <a:endParaRPr lang="zh-CN" altLang="en-US" sz="2800" b="1" dirty="0">
              <a:solidFill>
                <a:prstClr val="black"/>
              </a:solidFill>
            </a:endParaRPr>
          </a:p>
        </p:txBody>
      </p:sp>
      <p:graphicFrame>
        <p:nvGraphicFramePr>
          <p:cNvPr id="84" name="Object 6"/>
          <p:cNvGraphicFramePr>
            <a:graphicFrameLocks noChangeAspect="1"/>
          </p:cNvGraphicFramePr>
          <p:nvPr/>
        </p:nvGraphicFramePr>
        <p:xfrm>
          <a:off x="2428574" y="5948782"/>
          <a:ext cx="5207054" cy="664127"/>
        </p:xfrm>
        <a:graphic>
          <a:graphicData uri="http://schemas.openxmlformats.org/presentationml/2006/ole">
            <mc:AlternateContent xmlns:mc="http://schemas.openxmlformats.org/markup-compatibility/2006">
              <mc:Choice xmlns:v="urn:schemas-microsoft-com:vml" Requires="v">
                <p:oleObj spid="_x0000_s8197" name="公式" r:id="rId4" imgW="1879600" imgH="241300" progId="Equation.3">
                  <p:embed/>
                </p:oleObj>
              </mc:Choice>
              <mc:Fallback>
                <p:oleObj name="公式" r:id="rId4" imgW="1879600" imgH="241300" progId="Equation.3">
                  <p:embed/>
                  <p:pic>
                    <p:nvPicPr>
                      <p:cNvPr id="0" name="图片 819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574" y="5948782"/>
                        <a:ext cx="5207054" cy="664127"/>
                      </a:xfrm>
                      <a:prstGeom prst="rect">
                        <a:avLst/>
                      </a:prstGeom>
                      <a:noFill/>
                      <a:ln>
                        <a:noFill/>
                      </a:ln>
                      <a:effectLst/>
                    </p:spPr>
                  </p:pic>
                </p:oleObj>
              </mc:Fallback>
            </mc:AlternateContent>
          </a:graphicData>
        </a:graphic>
      </p:graphicFrame>
      <p:sp>
        <p:nvSpPr>
          <p:cNvPr id="3" name="文本框 2"/>
          <p:cNvSpPr txBox="1"/>
          <p:nvPr/>
        </p:nvSpPr>
        <p:spPr>
          <a:xfrm>
            <a:off x="503139" y="74814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一、工作原理</a:t>
            </a:r>
            <a:endParaRPr lang="zh-CN" altLang="en-US" sz="2800" b="1" dirty="0">
              <a:solidFill>
                <a:srgbClr val="1F4E79"/>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mc:AlternateContent xmlns:mc="http://schemas.openxmlformats.org/markup-compatibility/2006">
        <mc:Choice xmlns:a14="http://schemas.microsoft.com/office/drawing/2010/main" Requires="a14">
          <p:sp>
            <p:nvSpPr>
              <p:cNvPr id="2" name="矩形 1"/>
              <p:cNvSpPr/>
              <p:nvPr/>
            </p:nvSpPr>
            <p:spPr>
              <a:xfrm>
                <a:off x="160998" y="4570721"/>
                <a:ext cx="7144168" cy="523220"/>
              </a:xfrm>
              <a:prstGeom prst="rect">
                <a:avLst/>
              </a:prstGeom>
            </p:spPr>
            <p:txBody>
              <a:bodyPr wrap="square">
                <a:spAutoFit/>
              </a:bodyPr>
              <a:lstStyle/>
              <a:p>
                <a:r>
                  <a:rPr lang="zh-CN" altLang="en-US" sz="2800" b="1" dirty="0">
                    <a:solidFill>
                      <a:prstClr val="black"/>
                    </a:solidFill>
                    <a:latin typeface="Times New Roman" panose="02020603050405020304" pitchFamily="18" charset="0"/>
                  </a:rPr>
                  <a:t>当</a:t>
                </a:r>
                <a14:m>
                  <m:oMath xmlns:m="http://schemas.openxmlformats.org/officeDocument/2006/math">
                    <m:acc>
                      <m:accPr>
                        <m:chr m:val="̅"/>
                        <m:ctrlPr>
                          <a:rPr lang="zh-CN" altLang="en-US" sz="2800" b="1" i="1" smtClean="0">
                            <a:solidFill>
                              <a:srgbClr val="FF0000"/>
                            </a:solidFill>
                            <a:latin typeface="Cambria Math" panose="02040503050406030204"/>
                          </a:rPr>
                        </m:ctrlPr>
                      </m:accPr>
                      <m:e>
                        <m:r>
                          <a:rPr lang="zh-CN" altLang="en-US" sz="2800" b="1" i="1">
                            <a:solidFill>
                              <a:srgbClr val="FF0000"/>
                            </a:solidFill>
                            <a:latin typeface="Cambria Math" panose="02040503050406030204" pitchFamily="18" charset="0"/>
                          </a:rPr>
                          <m:t>𝑪𝑹</m:t>
                        </m:r>
                      </m:e>
                    </m:acc>
                    <m:r>
                      <a:rPr lang="zh-CN" altLang="en-US" sz="2800" b="1">
                        <a:solidFill>
                          <a:srgbClr val="FF0000"/>
                        </a:solidFill>
                        <a:latin typeface="Cambria Math" panose="02040503050406030204" pitchFamily="18" charset="0"/>
                      </a:rPr>
                      <m:t>=</m:t>
                    </m:r>
                    <m:r>
                      <a:rPr lang="en-US" altLang="zh-CN" sz="2800" b="1" smtClean="0">
                        <a:solidFill>
                          <a:srgbClr val="FF0000"/>
                        </a:solidFill>
                        <a:latin typeface="Cambria Math" panose="02040503050406030204" pitchFamily="18" charset="0"/>
                      </a:rPr>
                      <m:t>𝟏</m:t>
                    </m:r>
                  </m:oMath>
                </a14:m>
                <a:r>
                  <a:rPr lang="zh-CN" altLang="en-US" sz="2800" b="1" dirty="0">
                    <a:solidFill>
                      <a:prstClr val="black"/>
                    </a:solidFill>
                  </a:rPr>
                  <a:t>时，</a:t>
                </a:r>
                <a:r>
                  <a:rPr lang="zh-CN" altLang="en-US" sz="2800" b="1" dirty="0">
                    <a:solidFill>
                      <a:srgbClr val="FF0000"/>
                    </a:solidFill>
                  </a:rPr>
                  <a:t>时钟上升沿</a:t>
                </a:r>
                <a:r>
                  <a:rPr lang="zh-CN" altLang="en-US" sz="2800" b="1" dirty="0">
                    <a:solidFill>
                      <a:prstClr val="black"/>
                    </a:solidFill>
                  </a:rPr>
                  <a:t>，寄存器</a:t>
                </a:r>
                <a:r>
                  <a:rPr lang="zh-CN" altLang="en-US" sz="2800" b="1" dirty="0">
                    <a:solidFill>
                      <a:srgbClr val="0000FF"/>
                    </a:solidFill>
                  </a:rPr>
                  <a:t>置数</a:t>
                </a:r>
                <a:r>
                  <a:rPr lang="zh-CN" altLang="en-US" sz="2800" b="1" dirty="0">
                    <a:solidFill>
                      <a:prstClr val="black"/>
                    </a:solidFill>
                  </a:rPr>
                  <a:t>：</a:t>
                </a:r>
                <a:endParaRPr lang="zh-CN" altLang="en-US" sz="2800" b="1" dirty="0">
                  <a:solidFill>
                    <a:prstClr val="black"/>
                  </a:solidFill>
                </a:endParaRPr>
              </a:p>
            </p:txBody>
          </p:sp>
        </mc:Choice>
        <mc:Fallback>
          <p:sp>
            <p:nvSpPr>
              <p:cNvPr id="2" name="矩形 1"/>
              <p:cNvSpPr>
                <a:spLocks noRot="1" noChangeAspect="1" noMove="1" noResize="1" noEditPoints="1" noAdjustHandles="1" noChangeArrowheads="1" noChangeShapeType="1" noTextEdit="1"/>
              </p:cNvSpPr>
              <p:nvPr/>
            </p:nvSpPr>
            <p:spPr>
              <a:xfrm>
                <a:off x="160998" y="4570721"/>
                <a:ext cx="7144168" cy="523220"/>
              </a:xfrm>
              <a:prstGeom prst="rect">
                <a:avLst/>
              </a:prstGeom>
              <a:blipFill rotWithShape="1">
                <a:blip r:embed="rId2"/>
                <a:stretch>
                  <a:fillRect l="-5" t="-120" r="2" b="116"/>
                </a:stretch>
              </a:blipFill>
            </p:spPr>
            <p:txBody>
              <a:bodyPr/>
              <a:lstStyle/>
              <a:p>
                <a:r>
                  <a:rPr lang="zh-CN" altLang="en-US">
                    <a:noFill/>
                  </a:rPr>
                  <a:t> </a:t>
                </a:r>
              </a:p>
            </p:txBody>
          </p:sp>
        </mc:Fallback>
      </mc:AlternateContent>
      <p:graphicFrame>
        <p:nvGraphicFramePr>
          <p:cNvPr id="84" name="Object 6"/>
          <p:cNvGraphicFramePr>
            <a:graphicFrameLocks noChangeAspect="1"/>
          </p:cNvGraphicFramePr>
          <p:nvPr/>
        </p:nvGraphicFramePr>
        <p:xfrm>
          <a:off x="3851688" y="5027837"/>
          <a:ext cx="5207054" cy="664127"/>
        </p:xfrm>
        <a:graphic>
          <a:graphicData uri="http://schemas.openxmlformats.org/presentationml/2006/ole">
            <mc:AlternateContent xmlns:mc="http://schemas.openxmlformats.org/markup-compatibility/2006">
              <mc:Choice xmlns:v="urn:schemas-microsoft-com:vml" Requires="v">
                <p:oleObj spid="_x0000_s9220" name="公式" r:id="rId3" imgW="1879600" imgH="241300" progId="Equation.3">
                  <p:embed/>
                </p:oleObj>
              </mc:Choice>
              <mc:Fallback>
                <p:oleObj name="公式" r:id="rId3" imgW="1879600" imgH="241300" progId="Equation.3">
                  <p:embed/>
                  <p:pic>
                    <p:nvPicPr>
                      <p:cNvPr id="0" name="图片 92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688" y="5027837"/>
                        <a:ext cx="5207054" cy="664127"/>
                      </a:xfrm>
                      <a:prstGeom prst="rect">
                        <a:avLst/>
                      </a:prstGeom>
                      <a:noFill/>
                      <a:ln>
                        <a:noFill/>
                      </a:ln>
                      <a:effectLst/>
                    </p:spPr>
                  </p:pic>
                </p:oleObj>
              </mc:Fallback>
            </mc:AlternateContent>
          </a:graphicData>
        </a:graphic>
      </p:graphicFrame>
      <p:pic>
        <p:nvPicPr>
          <p:cNvPr id="11" name="Picture 5" descr="5-5-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514" y="1144798"/>
            <a:ext cx="8414972" cy="218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568195" y="3359298"/>
            <a:ext cx="4261366" cy="461665"/>
          </a:xfrm>
          <a:prstGeom prst="rect">
            <a:avLst/>
          </a:prstGeom>
          <a:noFill/>
        </p:spPr>
        <p:txBody>
          <a:bodyPr wrap="square" rtlCol="0">
            <a:spAutoFit/>
          </a:bodyPr>
          <a:lstStyle/>
          <a:p>
            <a:r>
              <a:rPr lang="zh-CN" altLang="en-US" sz="2400" b="1" dirty="0">
                <a:solidFill>
                  <a:srgbClr val="170A8E"/>
                </a:solidFill>
              </a:rPr>
              <a:t>具有</a:t>
            </a:r>
            <a:r>
              <a:rPr lang="zh-CN" altLang="en-US" sz="2400" b="1" dirty="0">
                <a:solidFill>
                  <a:srgbClr val="FF0000"/>
                </a:solidFill>
              </a:rPr>
              <a:t>异步清零端</a:t>
            </a:r>
            <a:r>
              <a:rPr lang="zh-CN" altLang="en-US" sz="2400" b="1" dirty="0">
                <a:solidFill>
                  <a:srgbClr val="170A8E"/>
                </a:solidFill>
              </a:rPr>
              <a:t>的基本寄存器</a:t>
            </a:r>
            <a:endParaRPr lang="zh-CN" altLang="en-US" sz="2400" b="1" dirty="0">
              <a:solidFill>
                <a:srgbClr val="170A8E"/>
              </a:solidFill>
            </a:endParaRPr>
          </a:p>
        </p:txBody>
      </p:sp>
      <p:graphicFrame>
        <p:nvGraphicFramePr>
          <p:cNvPr id="13" name="Object 6"/>
          <p:cNvGraphicFramePr>
            <a:graphicFrameLocks noChangeAspect="1"/>
          </p:cNvGraphicFramePr>
          <p:nvPr/>
        </p:nvGraphicFramePr>
        <p:xfrm>
          <a:off x="4837580" y="3845010"/>
          <a:ext cx="4221162" cy="663575"/>
        </p:xfrm>
        <a:graphic>
          <a:graphicData uri="http://schemas.openxmlformats.org/presentationml/2006/ole">
            <mc:AlternateContent xmlns:mc="http://schemas.openxmlformats.org/markup-compatibility/2006">
              <mc:Choice xmlns:v="urn:schemas-microsoft-com:vml" Requires="v">
                <p:oleObj spid="_x0000_s9221" name="Equation" r:id="rId6" imgW="36576000" imgH="5791200" progId="Equation.DSMT4">
                  <p:embed/>
                </p:oleObj>
              </mc:Choice>
              <mc:Fallback>
                <p:oleObj name="Equation" r:id="rId6" imgW="36576000" imgH="5791200" progId="Equation.DSMT4">
                  <p:embed/>
                  <p:pic>
                    <p:nvPicPr>
                      <p:cNvPr id="0" name="图片 9220"/>
                      <p:cNvPicPr>
                        <a:picLocks noChangeAspect="1" noChangeArrowheads="1"/>
                      </p:cNvPicPr>
                      <p:nvPr/>
                    </p:nvPicPr>
                    <p:blipFill>
                      <a:blip r:embed="rId7"/>
                      <a:srcRect/>
                      <a:stretch>
                        <a:fillRect/>
                      </a:stretch>
                    </p:blipFill>
                    <p:spPr bwMode="auto">
                      <a:xfrm>
                        <a:off x="4837580" y="3845010"/>
                        <a:ext cx="4221162" cy="663575"/>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14" name="矩形 13"/>
              <p:cNvSpPr/>
              <p:nvPr/>
            </p:nvSpPr>
            <p:spPr>
              <a:xfrm>
                <a:off x="160998" y="3944338"/>
                <a:ext cx="4613620" cy="524118"/>
              </a:xfrm>
              <a:prstGeom prst="rect">
                <a:avLst/>
              </a:prstGeom>
            </p:spPr>
            <p:txBody>
              <a:bodyPr wrap="square">
                <a:spAutoFit/>
              </a:bodyPr>
              <a:lstStyle/>
              <a:p>
                <a:r>
                  <a:rPr lang="zh-CN" altLang="en-US" sz="2800" b="1" dirty="0">
                    <a:solidFill>
                      <a:prstClr val="black"/>
                    </a:solidFill>
                    <a:latin typeface="Times New Roman" panose="02020603050405020304" pitchFamily="18" charset="0"/>
                  </a:rPr>
                  <a:t>当</a:t>
                </a:r>
                <a14:m>
                  <m:oMath xmlns:m="http://schemas.openxmlformats.org/officeDocument/2006/math">
                    <m:acc>
                      <m:accPr>
                        <m:chr m:val="̅"/>
                        <m:ctrlPr>
                          <a:rPr lang="zh-CN" altLang="en-US" sz="2800" b="1" i="1" smtClean="0">
                            <a:solidFill>
                              <a:srgbClr val="FF0000"/>
                            </a:solidFill>
                            <a:latin typeface="Cambria Math" panose="02040503050406030204"/>
                          </a:rPr>
                        </m:ctrlPr>
                      </m:accPr>
                      <m:e>
                        <m:r>
                          <a:rPr lang="zh-CN" altLang="en-US" sz="2800" b="1" i="1">
                            <a:solidFill>
                              <a:srgbClr val="FF0000"/>
                            </a:solidFill>
                            <a:latin typeface="Cambria Math" panose="02040503050406030204" pitchFamily="18" charset="0"/>
                          </a:rPr>
                          <m:t>𝑪𝑹</m:t>
                        </m:r>
                      </m:e>
                    </m:acc>
                    <m:r>
                      <a:rPr lang="zh-CN" altLang="en-US" sz="2800" b="1">
                        <a:solidFill>
                          <a:srgbClr val="FF0000"/>
                        </a:solidFill>
                        <a:latin typeface="Cambria Math" panose="02040503050406030204" pitchFamily="18" charset="0"/>
                      </a:rPr>
                      <m:t>=</m:t>
                    </m:r>
                    <m:r>
                      <a:rPr lang="zh-CN" altLang="en-US" sz="2800" b="1" i="1">
                        <a:solidFill>
                          <a:srgbClr val="FF0000"/>
                        </a:solidFill>
                        <a:latin typeface="Cambria Math" panose="02040503050406030204" pitchFamily="18" charset="0"/>
                      </a:rPr>
                      <m:t>𝟎</m:t>
                    </m:r>
                  </m:oMath>
                </a14:m>
                <a:r>
                  <a:rPr lang="zh-CN" altLang="en-US" sz="2800" b="1" dirty="0">
                    <a:solidFill>
                      <a:prstClr val="black"/>
                    </a:solidFill>
                  </a:rPr>
                  <a:t>时，寄存器</a:t>
                </a:r>
                <a:r>
                  <a:rPr lang="zh-CN" altLang="en-US" sz="2800" b="1" dirty="0">
                    <a:solidFill>
                      <a:srgbClr val="0000FF"/>
                    </a:solidFill>
                  </a:rPr>
                  <a:t>清零</a:t>
                </a:r>
                <a:r>
                  <a:rPr lang="en-US" altLang="zh-CN" sz="2800" b="1" dirty="0">
                    <a:solidFill>
                      <a:prstClr val="black"/>
                    </a:solidFill>
                  </a:rPr>
                  <a:t>:</a:t>
                </a:r>
                <a:endParaRPr lang="zh-CN" altLang="en-US" sz="2800" b="1" dirty="0">
                  <a:solidFill>
                    <a:prstClr val="black"/>
                  </a:solidFill>
                </a:endParaRPr>
              </a:p>
            </p:txBody>
          </p:sp>
        </mc:Choice>
        <mc:Fallback>
          <p:sp>
            <p:nvSpPr>
              <p:cNvPr id="14" name="矩形 13"/>
              <p:cNvSpPr>
                <a:spLocks noRot="1" noChangeAspect="1" noMove="1" noResize="1" noEditPoints="1" noAdjustHandles="1" noChangeArrowheads="1" noChangeShapeType="1" noTextEdit="1"/>
              </p:cNvSpPr>
              <p:nvPr/>
            </p:nvSpPr>
            <p:spPr>
              <a:xfrm>
                <a:off x="160998" y="3944338"/>
                <a:ext cx="4613620" cy="524118"/>
              </a:xfrm>
              <a:prstGeom prst="rect">
                <a:avLst/>
              </a:prstGeom>
              <a:blipFill rotWithShape="1">
                <a:blip r:embed="rId8"/>
                <a:stretch>
                  <a:fillRect l="-7" t="-67" r="1" b="1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矩形 14"/>
              <p:cNvSpPr/>
              <p:nvPr/>
            </p:nvSpPr>
            <p:spPr>
              <a:xfrm>
                <a:off x="160997" y="5784532"/>
                <a:ext cx="8847373" cy="955005"/>
              </a:xfrm>
              <a:prstGeom prst="rect">
                <a:avLst/>
              </a:prstGeom>
            </p:spPr>
            <p:txBody>
              <a:bodyPr wrap="square">
                <a:spAutoFit/>
              </a:bodyPr>
              <a:lstStyle/>
              <a:p>
                <a:r>
                  <a:rPr lang="zh-CN" altLang="en-US" sz="2800" b="1" dirty="0">
                    <a:solidFill>
                      <a:prstClr val="black"/>
                    </a:solidFill>
                    <a:latin typeface="Times New Roman" panose="02020603050405020304" pitchFamily="18" charset="0"/>
                  </a:rPr>
                  <a:t>当</a:t>
                </a:r>
                <a14:m>
                  <m:oMath xmlns:m="http://schemas.openxmlformats.org/officeDocument/2006/math">
                    <m:acc>
                      <m:accPr>
                        <m:chr m:val="̅"/>
                        <m:ctrlPr>
                          <a:rPr lang="zh-CN" altLang="en-US" sz="2800" b="1" i="1" smtClean="0">
                            <a:solidFill>
                              <a:srgbClr val="FF0000"/>
                            </a:solidFill>
                            <a:latin typeface="Cambria Math" panose="02040503050406030204"/>
                          </a:rPr>
                        </m:ctrlPr>
                      </m:accPr>
                      <m:e>
                        <m:r>
                          <a:rPr lang="zh-CN" altLang="en-US" sz="2800" b="1" i="1">
                            <a:solidFill>
                              <a:srgbClr val="FF0000"/>
                            </a:solidFill>
                            <a:latin typeface="Cambria Math" panose="02040503050406030204" pitchFamily="18" charset="0"/>
                          </a:rPr>
                          <m:t>𝑪𝑹</m:t>
                        </m:r>
                      </m:e>
                    </m:acc>
                    <m:r>
                      <a:rPr lang="zh-CN" altLang="en-US" sz="2800" b="1">
                        <a:solidFill>
                          <a:srgbClr val="FF0000"/>
                        </a:solidFill>
                        <a:latin typeface="Cambria Math" panose="02040503050406030204" pitchFamily="18" charset="0"/>
                      </a:rPr>
                      <m:t>=</m:t>
                    </m:r>
                    <m:r>
                      <a:rPr lang="en-US" altLang="zh-CN" sz="2800" b="1" smtClean="0">
                        <a:solidFill>
                          <a:srgbClr val="FF0000"/>
                        </a:solidFill>
                        <a:latin typeface="Cambria Math" panose="02040503050406030204" pitchFamily="18" charset="0"/>
                      </a:rPr>
                      <m:t>𝟏</m:t>
                    </m:r>
                  </m:oMath>
                </a14:m>
                <a:r>
                  <a:rPr lang="zh-CN" altLang="en-US" sz="2800" b="1" dirty="0">
                    <a:solidFill>
                      <a:prstClr val="black"/>
                    </a:solidFill>
                  </a:rPr>
                  <a:t>时，</a:t>
                </a:r>
                <a:r>
                  <a:rPr lang="zh-CN" altLang="en-US" sz="2800" b="1" dirty="0">
                    <a:solidFill>
                      <a:srgbClr val="FF0000"/>
                    </a:solidFill>
                  </a:rPr>
                  <a:t>除了时钟上升沿之外的其它时间</a:t>
                </a:r>
                <a:r>
                  <a:rPr lang="zh-CN" altLang="en-US" sz="2800" b="1" dirty="0">
                    <a:solidFill>
                      <a:prstClr val="black"/>
                    </a:solidFill>
                  </a:rPr>
                  <a:t>，寄存器状态</a:t>
                </a:r>
                <a:r>
                  <a:rPr lang="zh-CN" altLang="en-US" sz="2800" b="1" dirty="0">
                    <a:solidFill>
                      <a:srgbClr val="0000FF"/>
                    </a:solidFill>
                  </a:rPr>
                  <a:t>保持</a:t>
                </a:r>
                <a:r>
                  <a:rPr lang="zh-CN" altLang="en-US" sz="2800" b="1" dirty="0">
                    <a:solidFill>
                      <a:prstClr val="black"/>
                    </a:solidFill>
                  </a:rPr>
                  <a:t>不变</a:t>
                </a:r>
                <a:endParaRPr lang="zh-CN" altLang="en-US" sz="2800" b="1" dirty="0">
                  <a:solidFill>
                    <a:prstClr val="black"/>
                  </a:solidFill>
                </a:endParaRPr>
              </a:p>
            </p:txBody>
          </p:sp>
        </mc:Choice>
        <mc:Fallback>
          <p:sp>
            <p:nvSpPr>
              <p:cNvPr id="15" name="矩形 14"/>
              <p:cNvSpPr>
                <a:spLocks noRot="1" noChangeAspect="1" noMove="1" noResize="1" noEditPoints="1" noAdjustHandles="1" noChangeArrowheads="1" noChangeShapeType="1" noTextEdit="1"/>
              </p:cNvSpPr>
              <p:nvPr/>
            </p:nvSpPr>
            <p:spPr>
              <a:xfrm>
                <a:off x="160997" y="5784532"/>
                <a:ext cx="8847373" cy="955005"/>
              </a:xfrm>
              <a:prstGeom prst="rect">
                <a:avLst/>
              </a:prstGeom>
              <a:blipFill rotWithShape="1">
                <a:blip r:embed="rId9"/>
                <a:stretch>
                  <a:fillRect l="-4" t="-33" r="3" b="30"/>
                </a:stretch>
              </a:blipFill>
            </p:spPr>
            <p:txBody>
              <a:bodyPr/>
              <a:lstStyle/>
              <a:p>
                <a:r>
                  <a:rPr lang="zh-CN" altLang="en-US">
                    <a:noFill/>
                  </a:rPr>
                  <a:t> </a:t>
                </a:r>
              </a:p>
            </p:txBody>
          </p:sp>
        </mc:Fallback>
      </mc:AlternateContent>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基本寄存器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364514" y="625546"/>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一、工作原理</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4" name="椭圆 3"/>
          <p:cNvSpPr/>
          <p:nvPr/>
        </p:nvSpPr>
        <p:spPr>
          <a:xfrm>
            <a:off x="276726" y="2739189"/>
            <a:ext cx="457200" cy="320843"/>
          </a:xfrm>
          <a:prstGeom prst="ellipse">
            <a:avLst/>
          </a:prstGeom>
          <a:noFill/>
          <a:ln w="412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4"/>
                                        </p:tgtEl>
                                        <p:attrNameLst>
                                          <p:attrName>style.visibility</p:attrName>
                                        </p:attrNameLst>
                                      </p:cBhvr>
                                      <p:to>
                                        <p:strVal val="visible"/>
                                      </p:to>
                                    </p:set>
                                    <p:animEffect transition="in" filter="fade">
                                      <p:cBhvr>
                                        <p:cTn id="27" dur="500"/>
                                        <p:tgtEl>
                                          <p:spTgt spid="8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15" grpId="0"/>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基本寄存器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162086" y="59966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二、集成的基本寄存器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117" name="Rectangle 3"/>
          <p:cNvSpPr>
            <a:spLocks noChangeArrowheads="1"/>
          </p:cNvSpPr>
          <p:nvPr/>
        </p:nvSpPr>
        <p:spPr bwMode="auto">
          <a:xfrm>
            <a:off x="255264" y="3695255"/>
            <a:ext cx="436245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eaLnBrk="1" fontAlgn="base" hangingPunct="1">
              <a:lnSpc>
                <a:spcPct val="131000"/>
              </a:lnSpc>
              <a:spcBef>
                <a:spcPct val="20000"/>
              </a:spcBef>
              <a:spcAft>
                <a:spcPct val="0"/>
              </a:spcAft>
              <a:buClr>
                <a:srgbClr val="009999"/>
              </a:buClr>
              <a:buSzPct val="80000"/>
              <a:buFont typeface="Monotype Sorts" pitchFamily="2" charset="2"/>
              <a:buNone/>
            </a:pPr>
            <a:r>
              <a:rPr lang="en-US" altLang="zh-CN" sz="2800" b="1" i="1" dirty="0">
                <a:solidFill>
                  <a:srgbClr val="000000"/>
                </a:solidFill>
                <a:latin typeface="Times New Roman" panose="02020603050405020304" pitchFamily="18" charset="0"/>
                <a:ea typeface="黑体" panose="02010609060101010101" pitchFamily="49" charset="-122"/>
              </a:rPr>
              <a:t>D</a:t>
            </a:r>
            <a:r>
              <a:rPr lang="en-US" altLang="zh-CN" sz="2800" b="1" baseline="-25000" dirty="0">
                <a:solidFill>
                  <a:srgbClr val="000000"/>
                </a:solidFill>
                <a:latin typeface="Times New Roman" panose="02020603050405020304" pitchFamily="18" charset="0"/>
                <a:ea typeface="黑体" panose="02010609060101010101" pitchFamily="49" charset="-122"/>
              </a:rPr>
              <a:t>0</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i="1" dirty="0">
                <a:solidFill>
                  <a:srgbClr val="000000"/>
                </a:solidFill>
                <a:latin typeface="Times New Roman" panose="02020603050405020304" pitchFamily="18" charset="0"/>
                <a:ea typeface="黑体" panose="02010609060101010101" pitchFamily="49" charset="-122"/>
              </a:rPr>
              <a:t>D</a:t>
            </a:r>
            <a:r>
              <a:rPr lang="en-US" altLang="zh-CN" sz="2800" b="1" baseline="-25000" dirty="0">
                <a:solidFill>
                  <a:srgbClr val="000000"/>
                </a:solidFill>
                <a:latin typeface="Times New Roman" panose="02020603050405020304" pitchFamily="18" charset="0"/>
                <a:ea typeface="黑体" panose="02010609060101010101" pitchFamily="49" charset="-122"/>
              </a:rPr>
              <a:t>3</a:t>
            </a:r>
            <a:r>
              <a:rPr lang="zh-CN" altLang="en-US" sz="2800" b="1" dirty="0">
                <a:solidFill>
                  <a:srgbClr val="000000"/>
                </a:solidFill>
                <a:latin typeface="Times New Roman" panose="02020603050405020304" pitchFamily="18" charset="0"/>
                <a:ea typeface="黑体" panose="02010609060101010101" pitchFamily="49" charset="-122"/>
              </a:rPr>
              <a:t>：并行数据输入端</a:t>
            </a:r>
            <a:endParaRPr lang="zh-CN" altLang="en-US" sz="2800" b="1" dirty="0">
              <a:solidFill>
                <a:srgbClr val="000000"/>
              </a:solidFill>
              <a:latin typeface="Times New Roman" panose="02020603050405020304" pitchFamily="18" charset="0"/>
              <a:ea typeface="黑体" panose="02010609060101010101" pitchFamily="49" charset="-122"/>
            </a:endParaRPr>
          </a:p>
        </p:txBody>
      </p:sp>
      <p:sp>
        <p:nvSpPr>
          <p:cNvPr id="118" name="Rectangle 4"/>
          <p:cNvSpPr>
            <a:spLocks noChangeArrowheads="1"/>
          </p:cNvSpPr>
          <p:nvPr/>
        </p:nvSpPr>
        <p:spPr bwMode="auto">
          <a:xfrm>
            <a:off x="255264" y="4681488"/>
            <a:ext cx="4572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eaLnBrk="1" fontAlgn="base" hangingPunct="1">
              <a:lnSpc>
                <a:spcPct val="131000"/>
              </a:lnSpc>
              <a:spcBef>
                <a:spcPct val="20000"/>
              </a:spcBef>
              <a:spcAft>
                <a:spcPct val="0"/>
              </a:spcAft>
              <a:buClr>
                <a:srgbClr val="009999"/>
              </a:buClr>
              <a:buSzPct val="80000"/>
              <a:buFont typeface="Monotype Sorts" pitchFamily="2" charset="2"/>
              <a:buNone/>
            </a:pPr>
            <a:r>
              <a:rPr lang="en-US" altLang="zh-CN" sz="2800" b="1" i="1" dirty="0">
                <a:solidFill>
                  <a:srgbClr val="000000"/>
                </a:solidFill>
                <a:latin typeface="Times New Roman" panose="02020603050405020304" pitchFamily="18" charset="0"/>
                <a:ea typeface="黑体" panose="02010609060101010101" pitchFamily="49" charset="-122"/>
              </a:rPr>
              <a:t>Q</a:t>
            </a:r>
            <a:r>
              <a:rPr lang="en-US" altLang="zh-CN" sz="2800" b="1" baseline="-25000" dirty="0">
                <a:solidFill>
                  <a:srgbClr val="000000"/>
                </a:solidFill>
                <a:latin typeface="Times New Roman" panose="02020603050405020304" pitchFamily="18" charset="0"/>
                <a:ea typeface="黑体" panose="02010609060101010101" pitchFamily="49" charset="-122"/>
              </a:rPr>
              <a:t>0</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i="1" dirty="0">
                <a:solidFill>
                  <a:srgbClr val="000000"/>
                </a:solidFill>
                <a:latin typeface="Times New Roman" panose="02020603050405020304" pitchFamily="18" charset="0"/>
                <a:ea typeface="黑体" panose="02010609060101010101" pitchFamily="49" charset="-122"/>
              </a:rPr>
              <a:t>Q</a:t>
            </a:r>
            <a:r>
              <a:rPr lang="en-US" altLang="zh-CN" sz="2800" b="1" baseline="-25000" dirty="0">
                <a:solidFill>
                  <a:srgbClr val="000000"/>
                </a:solidFill>
                <a:latin typeface="Times New Roman" panose="02020603050405020304" pitchFamily="18" charset="0"/>
                <a:ea typeface="黑体" panose="02010609060101010101" pitchFamily="49" charset="-122"/>
              </a:rPr>
              <a:t>3</a:t>
            </a:r>
            <a:r>
              <a:rPr lang="zh-CN" altLang="en-US" sz="2800" b="1" dirty="0">
                <a:solidFill>
                  <a:srgbClr val="000000"/>
                </a:solidFill>
                <a:latin typeface="Times New Roman" panose="02020603050405020304" pitchFamily="18" charset="0"/>
                <a:ea typeface="黑体" panose="02010609060101010101" pitchFamily="49" charset="-122"/>
              </a:rPr>
              <a:t>：并行数据输出端</a:t>
            </a:r>
            <a:endParaRPr lang="zh-CN" altLang="en-US" sz="2800" dirty="0">
              <a:solidFill>
                <a:srgbClr val="000000"/>
              </a:solidFill>
              <a:latin typeface="Times New Roman" panose="02020603050405020304" pitchFamily="18" charset="0"/>
              <a:ea typeface="黑体" panose="02010609060101010101" pitchFamily="49" charset="-122"/>
            </a:endParaRPr>
          </a:p>
        </p:txBody>
      </p:sp>
      <p:grpSp>
        <p:nvGrpSpPr>
          <p:cNvPr id="8" name="组合 7"/>
          <p:cNvGrpSpPr/>
          <p:nvPr/>
        </p:nvGrpSpPr>
        <p:grpSpPr>
          <a:xfrm>
            <a:off x="4572000" y="1995962"/>
            <a:ext cx="4468755" cy="4711093"/>
            <a:chOff x="4559300" y="1423130"/>
            <a:chExt cx="4362450" cy="4712083"/>
          </a:xfrm>
        </p:grpSpPr>
        <p:pic>
          <p:nvPicPr>
            <p:cNvPr id="216" name="Picture 7" descr="t2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9300" y="1423130"/>
              <a:ext cx="4362450" cy="4712083"/>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162233" y="3198167"/>
              <a:ext cx="1239844" cy="461665"/>
            </a:xfrm>
            <a:prstGeom prst="rect">
              <a:avLst/>
            </a:prstGeom>
            <a:noFill/>
          </p:spPr>
          <p:txBody>
            <a:bodyPr wrap="square" rtlCol="0">
              <a:spAutoFit/>
            </a:bodyPr>
            <a:lstStyle/>
            <a:p>
              <a:r>
                <a:rPr lang="en-US" altLang="zh-CN" sz="2400" dirty="0">
                  <a:solidFill>
                    <a:prstClr val="black"/>
                  </a:solidFill>
                </a:rPr>
                <a:t>74LS175</a:t>
              </a:r>
              <a:endParaRPr lang="zh-CN" altLang="en-US" sz="2400" dirty="0">
                <a:solidFill>
                  <a:prstClr val="black"/>
                </a:solidFill>
              </a:endParaRPr>
            </a:p>
          </p:txBody>
        </p:sp>
      </p:grpSp>
      <p:sp>
        <p:nvSpPr>
          <p:cNvPr id="12" name="文本框 11"/>
          <p:cNvSpPr txBox="1"/>
          <p:nvPr/>
        </p:nvSpPr>
        <p:spPr>
          <a:xfrm>
            <a:off x="41533" y="1878148"/>
            <a:ext cx="4999461" cy="523220"/>
          </a:xfrm>
          <a:prstGeom prst="rect">
            <a:avLst/>
          </a:prstGeom>
          <a:noFill/>
        </p:spPr>
        <p:txBody>
          <a:bodyPr wrap="square" rtlCol="0">
            <a:spAutoFit/>
          </a:bodyPr>
          <a:lstStyle/>
          <a:p>
            <a:r>
              <a:rPr lang="en-US" altLang="zh-CN" sz="2800" b="1" dirty="0">
                <a:solidFill>
                  <a:srgbClr val="C00000"/>
                </a:solidFill>
              </a:rPr>
              <a:t>4</a:t>
            </a:r>
            <a:r>
              <a:rPr lang="zh-CN" altLang="en-US" sz="2800" b="1" dirty="0">
                <a:solidFill>
                  <a:srgbClr val="C00000"/>
                </a:solidFill>
              </a:rPr>
              <a:t>位上升沿集成触发器</a:t>
            </a:r>
            <a:r>
              <a:rPr lang="en-US" altLang="zh-CN" sz="2800" b="1" dirty="0">
                <a:solidFill>
                  <a:srgbClr val="C00000"/>
                </a:solidFill>
              </a:rPr>
              <a:t>74LS175</a:t>
            </a:r>
            <a:endParaRPr lang="zh-CN" altLang="en-US" sz="2800" b="1" dirty="0">
              <a:solidFill>
                <a:srgbClr val="C00000"/>
              </a:solidFill>
            </a:endParaRPr>
          </a:p>
        </p:txBody>
      </p:sp>
      <p:sp>
        <p:nvSpPr>
          <p:cNvPr id="14" name="文本框 13"/>
          <p:cNvSpPr txBox="1"/>
          <p:nvPr/>
        </p:nvSpPr>
        <p:spPr>
          <a:xfrm>
            <a:off x="162086" y="1200481"/>
            <a:ext cx="7193405" cy="523220"/>
          </a:xfrm>
          <a:prstGeom prst="rect">
            <a:avLst/>
          </a:prstGeom>
          <a:noFill/>
        </p:spPr>
        <p:txBody>
          <a:bodyPr wrap="square" rtlCol="0">
            <a:spAutoFit/>
          </a:bodyPr>
          <a:lstStyle/>
          <a:p>
            <a:r>
              <a:rPr lang="en-US" altLang="zh-CN" sz="2800" b="1" dirty="0">
                <a:solidFill>
                  <a:srgbClr val="0000FF"/>
                </a:solidFill>
              </a:rPr>
              <a:t>1. </a:t>
            </a:r>
            <a:r>
              <a:rPr lang="zh-CN" altLang="en-US" sz="2800" b="1" dirty="0">
                <a:solidFill>
                  <a:srgbClr val="0000FF"/>
                </a:solidFill>
              </a:rPr>
              <a:t>由多个边沿</a:t>
            </a:r>
            <a:r>
              <a:rPr lang="en-US" altLang="zh-CN" sz="2800" b="1" dirty="0">
                <a:solidFill>
                  <a:srgbClr val="0000FF"/>
                </a:solidFill>
              </a:rPr>
              <a:t>D</a:t>
            </a:r>
            <a:r>
              <a:rPr lang="zh-CN" altLang="en-US" sz="2800" b="1" dirty="0">
                <a:solidFill>
                  <a:srgbClr val="0000FF"/>
                </a:solidFill>
              </a:rPr>
              <a:t>触发器组成的集成寄存器</a:t>
            </a:r>
            <a:endParaRPr lang="zh-CN" altLang="en-US" sz="2800" b="1" dirty="0">
              <a:solidFill>
                <a:srgbClr val="0000FF"/>
              </a:solidFill>
            </a:endParaRPr>
          </a:p>
        </p:txBody>
      </p:sp>
      <p:cxnSp>
        <p:nvCxnSpPr>
          <p:cNvPr id="3" name="直接连接符 2"/>
          <p:cNvCxnSpPr/>
          <p:nvPr/>
        </p:nvCxnSpPr>
        <p:spPr>
          <a:xfrm>
            <a:off x="4920912" y="2277979"/>
            <a:ext cx="30172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255264" y="2736994"/>
            <a:ext cx="3684971" cy="533400"/>
            <a:chOff x="255264" y="2736994"/>
            <a:chExt cx="3684971" cy="533400"/>
          </a:xfrm>
        </p:grpSpPr>
        <p:sp>
          <p:nvSpPr>
            <p:cNvPr id="145" name="Rectangle 31"/>
            <p:cNvSpPr>
              <a:spLocks noChangeArrowheads="1"/>
            </p:cNvSpPr>
            <p:nvPr/>
          </p:nvSpPr>
          <p:spPr bwMode="auto">
            <a:xfrm>
              <a:off x="255264" y="2736994"/>
              <a:ext cx="3684971"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eaLnBrk="1" fontAlgn="base" hangingPunct="1">
                <a:lnSpc>
                  <a:spcPct val="131000"/>
                </a:lnSpc>
                <a:spcBef>
                  <a:spcPct val="20000"/>
                </a:spcBef>
                <a:spcAft>
                  <a:spcPct val="0"/>
                </a:spcAft>
                <a:buClr>
                  <a:srgbClr val="009999"/>
                </a:buClr>
                <a:buSzPct val="80000"/>
                <a:buFont typeface="Monotype Sorts" pitchFamily="2" charset="2"/>
                <a:buNone/>
              </a:pPr>
              <a:r>
                <a:rPr kumimoji="1" lang="en-US" altLang="zh-CN" sz="2800" b="1" i="1" dirty="0">
                  <a:solidFill>
                    <a:srgbClr val="000000"/>
                  </a:solidFill>
                  <a:latin typeface="Times New Roman" panose="02020603050405020304" pitchFamily="18" charset="0"/>
                  <a:ea typeface="黑体" panose="02010609060101010101" pitchFamily="49" charset="-122"/>
                </a:rPr>
                <a:t>R</a:t>
              </a:r>
              <a:r>
                <a:rPr kumimoji="1" lang="en-US" altLang="zh-CN" sz="2800" b="1" baseline="-25000" dirty="0">
                  <a:solidFill>
                    <a:srgbClr val="000000"/>
                  </a:solidFill>
                  <a:latin typeface="Times New Roman" panose="02020603050405020304" pitchFamily="18" charset="0"/>
                  <a:ea typeface="黑体" panose="02010609060101010101" pitchFamily="49" charset="-122"/>
                </a:rPr>
                <a:t>D</a:t>
              </a:r>
              <a:r>
                <a:rPr kumimoji="1" lang="zh-CN" altLang="en-US" sz="2800" b="1" dirty="0">
                  <a:solidFill>
                    <a:srgbClr val="000000"/>
                  </a:solidFill>
                  <a:latin typeface="Times New Roman" panose="02020603050405020304" pitchFamily="18" charset="0"/>
                  <a:ea typeface="黑体" panose="02010609060101010101" pitchFamily="49" charset="-122"/>
                </a:rPr>
                <a:t>：异步清零控制端</a:t>
              </a:r>
              <a:endParaRPr kumimoji="1" lang="zh-CN" altLang="en-US" sz="2800" b="1" dirty="0">
                <a:solidFill>
                  <a:srgbClr val="000000"/>
                </a:solidFill>
                <a:latin typeface="Times New Roman" panose="02020603050405020304" pitchFamily="18" charset="0"/>
                <a:ea typeface="黑体" panose="02010609060101010101" pitchFamily="49" charset="-122"/>
              </a:endParaRPr>
            </a:p>
          </p:txBody>
        </p:sp>
        <p:cxnSp>
          <p:nvCxnSpPr>
            <p:cNvPr id="18" name="直接连接符 17"/>
            <p:cNvCxnSpPr/>
            <p:nvPr/>
          </p:nvCxnSpPr>
          <p:spPr>
            <a:xfrm>
              <a:off x="336884" y="2915653"/>
              <a:ext cx="30172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fade">
                                      <p:cBhvr>
                                        <p:cTn id="12" dur="500"/>
                                        <p:tgtEl>
                                          <p:spTgt spid="1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8"/>
                                        </p:tgtEl>
                                        <p:attrNameLst>
                                          <p:attrName>style.visibility</p:attrName>
                                        </p:attrNameLst>
                                      </p:cBhvr>
                                      <p:to>
                                        <p:strVal val="visible"/>
                                      </p:to>
                                    </p:set>
                                    <p:animEffect transition="in" filter="fade">
                                      <p:cBhvr>
                                        <p:cTn id="17"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P spid="118"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基本寄存器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145321" y="617009"/>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二、集成的基本寄存器</a:t>
            </a:r>
            <a:endParaRPr lang="zh-CN" altLang="en-US" sz="2800" b="1" dirty="0">
              <a:solidFill>
                <a:srgbClr val="1F4E79"/>
              </a:solidFill>
              <a:latin typeface="黑体" panose="02010609060101010101" pitchFamily="49" charset="-122"/>
              <a:ea typeface="黑体" panose="02010609060101010101" pitchFamily="49" charset="-122"/>
            </a:endParaRPr>
          </a:p>
        </p:txBody>
      </p:sp>
      <p:grpSp>
        <p:nvGrpSpPr>
          <p:cNvPr id="119" name="Group 5"/>
          <p:cNvGrpSpPr/>
          <p:nvPr/>
        </p:nvGrpSpPr>
        <p:grpSpPr bwMode="auto">
          <a:xfrm>
            <a:off x="266001" y="2026308"/>
            <a:ext cx="8624242" cy="3793898"/>
            <a:chOff x="528" y="1789"/>
            <a:chExt cx="4992" cy="1758"/>
          </a:xfrm>
        </p:grpSpPr>
        <p:sp>
          <p:nvSpPr>
            <p:cNvPr id="120" name="Rectangle 6"/>
            <p:cNvSpPr>
              <a:spLocks noChangeArrowheads="1"/>
            </p:cNvSpPr>
            <p:nvPr/>
          </p:nvSpPr>
          <p:spPr bwMode="auto">
            <a:xfrm>
              <a:off x="546" y="2551"/>
              <a:ext cx="713" cy="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Aft>
                  <a:spcPts val="600"/>
                </a:spcAft>
                <a:defRPr/>
              </a:pPr>
              <a:r>
                <a:rPr kumimoji="1" lang="en-US" altLang="zh-CN" sz="2800" b="1" kern="0" dirty="0">
                  <a:solidFill>
                    <a:srgbClr val="FF0000"/>
                  </a:solidFill>
                  <a:latin typeface="Times New Roman" panose="02020603050405020304" pitchFamily="18" charset="0"/>
                </a:rPr>
                <a:t>0</a:t>
              </a:r>
              <a:endParaRPr kumimoji="1" lang="en-US" altLang="zh-CN" sz="2800" b="1" kern="0" dirty="0">
                <a:solidFill>
                  <a:srgbClr val="FF0000"/>
                </a:solidFill>
                <a:latin typeface="Times New Roman" panose="02020603050405020304" pitchFamily="18" charset="0"/>
              </a:endParaRPr>
            </a:p>
            <a:p>
              <a:pPr algn="ctr"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1</a:t>
              </a:r>
              <a:endParaRPr kumimoji="1" lang="en-US" altLang="zh-CN" sz="2800" b="1" kern="0" dirty="0">
                <a:solidFill>
                  <a:srgbClr val="000000"/>
                </a:solidFill>
                <a:latin typeface="Times New Roman" panose="02020603050405020304" pitchFamily="18" charset="0"/>
              </a:endParaRPr>
            </a:p>
            <a:p>
              <a:pPr algn="ctr"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1</a:t>
              </a:r>
              <a:endParaRPr kumimoji="1" lang="en-US" altLang="zh-CN" sz="2800" b="1" kern="0" dirty="0">
                <a:solidFill>
                  <a:srgbClr val="000000"/>
                </a:solidFill>
                <a:latin typeface="Times New Roman" panose="02020603050405020304" pitchFamily="18" charset="0"/>
              </a:endParaRPr>
            </a:p>
            <a:p>
              <a:pPr algn="ctr"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1</a:t>
              </a:r>
              <a:endParaRPr kumimoji="1" lang="en-US" altLang="zh-CN" sz="2800" b="1" kern="0" dirty="0">
                <a:solidFill>
                  <a:srgbClr val="000000"/>
                </a:solidFill>
                <a:latin typeface="Times New Roman" panose="02020603050405020304" pitchFamily="18" charset="0"/>
              </a:endParaRPr>
            </a:p>
          </p:txBody>
        </p:sp>
        <p:sp>
          <p:nvSpPr>
            <p:cNvPr id="121" name="Rectangle 7"/>
            <p:cNvSpPr>
              <a:spLocks noChangeArrowheads="1"/>
            </p:cNvSpPr>
            <p:nvPr/>
          </p:nvSpPr>
          <p:spPr bwMode="auto">
            <a:xfrm>
              <a:off x="528" y="2283"/>
              <a:ext cx="713"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defRPr/>
              </a:pPr>
              <a:r>
                <a:rPr kumimoji="1" lang="en-US" altLang="zh-CN" sz="2400" b="1" i="1" kern="0" dirty="0">
                  <a:solidFill>
                    <a:srgbClr val="000000"/>
                  </a:solidFill>
                  <a:latin typeface="Times New Roman" panose="02020603050405020304" pitchFamily="18" charset="0"/>
                </a:rPr>
                <a:t>R</a:t>
              </a:r>
              <a:r>
                <a:rPr kumimoji="1" lang="en-US" altLang="zh-CN" sz="2400" b="1" kern="0" baseline="-25000" dirty="0">
                  <a:solidFill>
                    <a:srgbClr val="000000"/>
                  </a:solidFill>
                  <a:latin typeface="Times New Roman" panose="02020603050405020304" pitchFamily="18" charset="0"/>
                </a:rPr>
                <a:t>D</a:t>
              </a:r>
              <a:endParaRPr kumimoji="1" lang="en-US" altLang="zh-CN" sz="2400" b="1" kern="0" baseline="-25000" dirty="0">
                <a:solidFill>
                  <a:srgbClr val="000000"/>
                </a:solidFill>
                <a:latin typeface="Times New Roman" panose="02020603050405020304" pitchFamily="18" charset="0"/>
              </a:endParaRPr>
            </a:p>
          </p:txBody>
        </p:sp>
        <p:sp>
          <p:nvSpPr>
            <p:cNvPr id="122" name="Rectangle 8"/>
            <p:cNvSpPr>
              <a:spLocks noChangeArrowheads="1"/>
            </p:cNvSpPr>
            <p:nvPr/>
          </p:nvSpPr>
          <p:spPr bwMode="auto">
            <a:xfrm>
              <a:off x="528" y="2064"/>
              <a:ext cx="713"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defRPr/>
              </a:pPr>
              <a:r>
                <a:rPr kumimoji="1" lang="zh-CN" altLang="en-US" sz="2400" b="1" kern="0" dirty="0">
                  <a:solidFill>
                    <a:srgbClr val="FF3300"/>
                  </a:solidFill>
                  <a:latin typeface="Times New Roman" panose="02020603050405020304" pitchFamily="18" charset="0"/>
                </a:rPr>
                <a:t>清零</a:t>
              </a:r>
              <a:endParaRPr kumimoji="1" lang="zh-CN" altLang="en-US" sz="2400" b="1" kern="0" dirty="0">
                <a:solidFill>
                  <a:srgbClr val="FF3300"/>
                </a:solidFill>
                <a:latin typeface="Times New Roman" panose="02020603050405020304" pitchFamily="18" charset="0"/>
              </a:endParaRPr>
            </a:p>
          </p:txBody>
        </p:sp>
        <p:sp>
          <p:nvSpPr>
            <p:cNvPr id="123" name="Rectangle 9"/>
            <p:cNvSpPr>
              <a:spLocks noChangeArrowheads="1"/>
            </p:cNvSpPr>
            <p:nvPr/>
          </p:nvSpPr>
          <p:spPr bwMode="auto">
            <a:xfrm>
              <a:off x="1225" y="2545"/>
              <a:ext cx="714" cy="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a:t>
              </a:r>
              <a:endParaRPr kumimoji="1" lang="en-US" altLang="zh-CN" sz="2800" b="1" kern="0" dirty="0">
                <a:solidFill>
                  <a:srgbClr val="000000"/>
                </a:solidFill>
                <a:latin typeface="Times New Roman" panose="02020603050405020304" pitchFamily="18" charset="0"/>
              </a:endParaRPr>
            </a:p>
            <a:p>
              <a:pPr algn="ctr" defTabSz="914400" eaLnBrk="1" fontAlgn="base" hangingPunct="1">
                <a:spcAft>
                  <a:spcPts val="600"/>
                </a:spcAft>
                <a:defRPr/>
              </a:pPr>
              <a:r>
                <a:rPr kumimoji="1" lang="en-US" altLang="zh-CN" sz="2800" b="1" kern="0" dirty="0">
                  <a:solidFill>
                    <a:srgbClr val="FF0000"/>
                  </a:solidFill>
                  <a:latin typeface="Times New Roman" panose="02020603050405020304" pitchFamily="18" charset="0"/>
                </a:rPr>
                <a:t>↑</a:t>
              </a:r>
              <a:endParaRPr kumimoji="1" lang="en-US" altLang="zh-CN" sz="2800" b="1" kern="0" dirty="0">
                <a:solidFill>
                  <a:srgbClr val="FF0000"/>
                </a:solidFill>
                <a:latin typeface="Times New Roman" panose="02020603050405020304" pitchFamily="18" charset="0"/>
              </a:endParaRPr>
            </a:p>
            <a:p>
              <a:pPr algn="ctr"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1</a:t>
              </a:r>
              <a:endParaRPr kumimoji="1" lang="en-US" altLang="zh-CN" sz="2800" b="1" kern="0" dirty="0">
                <a:solidFill>
                  <a:srgbClr val="000000"/>
                </a:solidFill>
                <a:latin typeface="Times New Roman" panose="02020603050405020304" pitchFamily="18" charset="0"/>
              </a:endParaRPr>
            </a:p>
            <a:p>
              <a:pPr algn="ctr"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0</a:t>
              </a:r>
              <a:endParaRPr kumimoji="1" lang="en-US" altLang="zh-CN" sz="2800" b="1" kern="0" dirty="0">
                <a:solidFill>
                  <a:srgbClr val="000000"/>
                </a:solidFill>
                <a:latin typeface="Times New Roman" panose="02020603050405020304" pitchFamily="18" charset="0"/>
              </a:endParaRPr>
            </a:p>
          </p:txBody>
        </p:sp>
        <p:sp>
          <p:nvSpPr>
            <p:cNvPr id="124" name="Rectangle 10"/>
            <p:cNvSpPr>
              <a:spLocks noChangeArrowheads="1"/>
            </p:cNvSpPr>
            <p:nvPr/>
          </p:nvSpPr>
          <p:spPr bwMode="auto">
            <a:xfrm>
              <a:off x="1225" y="2274"/>
              <a:ext cx="714"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defRPr/>
              </a:pPr>
              <a:r>
                <a:rPr kumimoji="1" lang="en-US" altLang="zh-CN" sz="2400" b="1" i="1" kern="0" dirty="0">
                  <a:solidFill>
                    <a:srgbClr val="000000"/>
                  </a:solidFill>
                  <a:latin typeface="Times New Roman" panose="02020603050405020304" pitchFamily="18" charset="0"/>
                </a:rPr>
                <a:t>CP</a:t>
              </a:r>
              <a:endParaRPr kumimoji="1" lang="en-US" altLang="zh-CN" sz="2400" b="1" i="1" kern="0" dirty="0">
                <a:solidFill>
                  <a:srgbClr val="000000"/>
                </a:solidFill>
                <a:latin typeface="Times New Roman" panose="02020603050405020304" pitchFamily="18" charset="0"/>
              </a:endParaRPr>
            </a:p>
          </p:txBody>
        </p:sp>
        <p:sp>
          <p:nvSpPr>
            <p:cNvPr id="125" name="Rectangle 11"/>
            <p:cNvSpPr>
              <a:spLocks noChangeArrowheads="1"/>
            </p:cNvSpPr>
            <p:nvPr/>
          </p:nvSpPr>
          <p:spPr bwMode="auto">
            <a:xfrm>
              <a:off x="1241" y="2064"/>
              <a:ext cx="71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defRPr/>
              </a:pPr>
              <a:r>
                <a:rPr kumimoji="1" lang="zh-CN" altLang="en-US" sz="2400" b="1" kern="0" dirty="0">
                  <a:solidFill>
                    <a:srgbClr val="FF3300"/>
                  </a:solidFill>
                  <a:latin typeface="Times New Roman" panose="02020603050405020304" pitchFamily="18" charset="0"/>
                </a:rPr>
                <a:t>时钟</a:t>
              </a:r>
              <a:endParaRPr kumimoji="1" lang="zh-CN" altLang="en-US" sz="2400" b="1" kern="0" dirty="0">
                <a:solidFill>
                  <a:srgbClr val="FF3300"/>
                </a:solidFill>
                <a:latin typeface="Times New Roman" panose="02020603050405020304" pitchFamily="18" charset="0"/>
              </a:endParaRPr>
            </a:p>
          </p:txBody>
        </p:sp>
        <p:sp>
          <p:nvSpPr>
            <p:cNvPr id="126" name="Rectangle 12"/>
            <p:cNvSpPr>
              <a:spLocks noChangeArrowheads="1"/>
            </p:cNvSpPr>
            <p:nvPr/>
          </p:nvSpPr>
          <p:spPr bwMode="auto">
            <a:xfrm>
              <a:off x="2009" y="2544"/>
              <a:ext cx="1382" cy="1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just"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  ×  ×  ×</a:t>
              </a:r>
              <a:endParaRPr kumimoji="1" lang="en-US" altLang="zh-CN" sz="2800" b="1" i="1" kern="0" dirty="0">
                <a:solidFill>
                  <a:srgbClr val="000000"/>
                </a:solidFill>
                <a:latin typeface="Times New Roman" panose="02020603050405020304" pitchFamily="18" charset="0"/>
              </a:endParaRPr>
            </a:p>
            <a:p>
              <a:pPr marL="0" indent="0" algn="just" defTabSz="914400" eaLnBrk="1" fontAlgn="base" hangingPunct="1">
                <a:spcAft>
                  <a:spcPts val="600"/>
                </a:spcAft>
                <a:defRPr/>
              </a:pPr>
              <a:r>
                <a:rPr kumimoji="1" lang="en-US" altLang="zh-CN" sz="2800" b="1" i="1" kern="0" dirty="0">
                  <a:solidFill>
                    <a:srgbClr val="000000"/>
                  </a:solidFill>
                  <a:latin typeface="Times New Roman" panose="02020603050405020304" pitchFamily="18" charset="0"/>
                </a:rPr>
                <a:t>d</a:t>
              </a:r>
              <a:r>
                <a:rPr kumimoji="1" lang="en-US" altLang="zh-CN" sz="2800" b="1" kern="0" baseline="-25000" dirty="0">
                  <a:solidFill>
                    <a:srgbClr val="000000"/>
                  </a:solidFill>
                  <a:latin typeface="Times New Roman" panose="02020603050405020304" pitchFamily="18" charset="0"/>
                </a:rPr>
                <a:t>0    </a:t>
              </a:r>
              <a:r>
                <a:rPr kumimoji="1" lang="en-US" altLang="zh-CN" sz="2800" b="1" i="1" kern="0" dirty="0">
                  <a:solidFill>
                    <a:srgbClr val="000000"/>
                  </a:solidFill>
                  <a:latin typeface="Times New Roman" panose="02020603050405020304" pitchFamily="18" charset="0"/>
                </a:rPr>
                <a:t>d</a:t>
              </a:r>
              <a:r>
                <a:rPr kumimoji="1" lang="en-US" altLang="zh-CN" sz="2800" b="1" kern="0" baseline="-25000" dirty="0">
                  <a:solidFill>
                    <a:srgbClr val="000000"/>
                  </a:solidFill>
                  <a:latin typeface="Times New Roman" panose="02020603050405020304" pitchFamily="18" charset="0"/>
                </a:rPr>
                <a:t>1     </a:t>
              </a:r>
              <a:r>
                <a:rPr kumimoji="1" lang="en-US" altLang="zh-CN" sz="2800" b="1" i="1" kern="0" dirty="0">
                  <a:solidFill>
                    <a:srgbClr val="000000"/>
                  </a:solidFill>
                  <a:latin typeface="Times New Roman" panose="02020603050405020304" pitchFamily="18" charset="0"/>
                </a:rPr>
                <a:t>d</a:t>
              </a:r>
              <a:r>
                <a:rPr kumimoji="1" lang="en-US" altLang="zh-CN" sz="2800" b="1" kern="0" baseline="-25000" dirty="0">
                  <a:solidFill>
                    <a:srgbClr val="000000"/>
                  </a:solidFill>
                  <a:latin typeface="Times New Roman" panose="02020603050405020304" pitchFamily="18" charset="0"/>
                </a:rPr>
                <a:t>2    </a:t>
              </a:r>
              <a:r>
                <a:rPr kumimoji="1" lang="en-US" altLang="zh-CN" sz="2800" b="1" i="1" kern="0" dirty="0">
                  <a:solidFill>
                    <a:srgbClr val="000000"/>
                  </a:solidFill>
                  <a:latin typeface="Times New Roman" panose="02020603050405020304" pitchFamily="18" charset="0"/>
                </a:rPr>
                <a:t>d</a:t>
              </a:r>
              <a:r>
                <a:rPr kumimoji="1" lang="en-US" altLang="zh-CN" sz="2800" b="1" kern="0" baseline="-25000" dirty="0">
                  <a:solidFill>
                    <a:srgbClr val="000000"/>
                  </a:solidFill>
                  <a:latin typeface="Times New Roman" panose="02020603050405020304" pitchFamily="18" charset="0"/>
                </a:rPr>
                <a:t>3</a:t>
              </a:r>
              <a:endParaRPr kumimoji="1" lang="en-US" altLang="zh-CN" sz="2800" b="1" kern="0" baseline="-25000" dirty="0">
                <a:solidFill>
                  <a:srgbClr val="000000"/>
                </a:solidFill>
                <a:latin typeface="Times New Roman" panose="02020603050405020304" pitchFamily="18" charset="0"/>
              </a:endParaRPr>
            </a:p>
            <a:p>
              <a:pPr marL="0" indent="0" algn="just"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  ×  ×  ×</a:t>
              </a:r>
              <a:endParaRPr kumimoji="1" lang="en-US" altLang="zh-CN" sz="2800" b="1" kern="0" dirty="0">
                <a:solidFill>
                  <a:srgbClr val="000000"/>
                </a:solidFill>
                <a:latin typeface="Times New Roman" panose="02020603050405020304" pitchFamily="18" charset="0"/>
              </a:endParaRPr>
            </a:p>
            <a:p>
              <a:pPr marL="0" indent="0" algn="just"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  ×  ×  ×</a:t>
              </a:r>
              <a:endParaRPr kumimoji="1" lang="en-US" altLang="zh-CN" sz="2800" b="1" kern="0" dirty="0">
                <a:solidFill>
                  <a:srgbClr val="000000"/>
                </a:solidFill>
                <a:latin typeface="Times New Roman" panose="02020603050405020304" pitchFamily="18" charset="0"/>
              </a:endParaRPr>
            </a:p>
          </p:txBody>
        </p:sp>
        <p:sp>
          <p:nvSpPr>
            <p:cNvPr id="127" name="Rectangle 13"/>
            <p:cNvSpPr>
              <a:spLocks noChangeArrowheads="1"/>
            </p:cNvSpPr>
            <p:nvPr/>
          </p:nvSpPr>
          <p:spPr bwMode="auto">
            <a:xfrm>
              <a:off x="1947" y="2262"/>
              <a:ext cx="1381"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defRPr/>
              </a:pPr>
              <a:r>
                <a:rPr kumimoji="1" lang="en-US" altLang="zh-CN" sz="2400" b="1" i="1" kern="0" dirty="0">
                  <a:solidFill>
                    <a:srgbClr val="000000"/>
                  </a:solidFill>
                  <a:latin typeface="Times New Roman" panose="02020603050405020304" pitchFamily="18" charset="0"/>
                </a:rPr>
                <a:t>D</a:t>
              </a:r>
              <a:r>
                <a:rPr kumimoji="1" lang="en-US" altLang="zh-CN" sz="2400" b="1" kern="0" baseline="-25000" dirty="0">
                  <a:solidFill>
                    <a:srgbClr val="000000"/>
                  </a:solidFill>
                  <a:latin typeface="Times New Roman" panose="02020603050405020304" pitchFamily="18" charset="0"/>
                </a:rPr>
                <a:t>0     </a:t>
              </a:r>
              <a:r>
                <a:rPr kumimoji="1" lang="en-US" altLang="zh-CN" sz="2400" b="1" i="1" kern="0" dirty="0">
                  <a:solidFill>
                    <a:srgbClr val="000000"/>
                  </a:solidFill>
                  <a:latin typeface="Times New Roman" panose="02020603050405020304" pitchFamily="18" charset="0"/>
                </a:rPr>
                <a:t>D</a:t>
              </a:r>
              <a:r>
                <a:rPr kumimoji="1" lang="en-US" altLang="zh-CN" sz="2400" b="1" kern="0" baseline="-25000" dirty="0">
                  <a:solidFill>
                    <a:srgbClr val="000000"/>
                  </a:solidFill>
                  <a:latin typeface="Times New Roman" panose="02020603050405020304" pitchFamily="18" charset="0"/>
                </a:rPr>
                <a:t>1    </a:t>
              </a:r>
              <a:r>
                <a:rPr kumimoji="1" lang="en-US" altLang="zh-CN" sz="2400" b="1" i="1" kern="0" dirty="0">
                  <a:solidFill>
                    <a:srgbClr val="000000"/>
                  </a:solidFill>
                  <a:latin typeface="Times New Roman" panose="02020603050405020304" pitchFamily="18" charset="0"/>
                </a:rPr>
                <a:t>D</a:t>
              </a:r>
              <a:r>
                <a:rPr kumimoji="1" lang="en-US" altLang="zh-CN" sz="2400" b="1" kern="0" baseline="-25000" dirty="0">
                  <a:solidFill>
                    <a:srgbClr val="000000"/>
                  </a:solidFill>
                  <a:latin typeface="Times New Roman" panose="02020603050405020304" pitchFamily="18" charset="0"/>
                </a:rPr>
                <a:t>2   </a:t>
              </a:r>
              <a:r>
                <a:rPr kumimoji="1" lang="en-US" altLang="zh-CN" sz="2400" b="1" i="1" kern="0" dirty="0">
                  <a:solidFill>
                    <a:srgbClr val="000000"/>
                  </a:solidFill>
                  <a:latin typeface="Times New Roman" panose="02020603050405020304" pitchFamily="18" charset="0"/>
                </a:rPr>
                <a:t>D</a:t>
              </a:r>
              <a:r>
                <a:rPr kumimoji="1" lang="en-US" altLang="zh-CN" sz="2400" b="1" kern="0" baseline="-25000" dirty="0">
                  <a:solidFill>
                    <a:srgbClr val="000000"/>
                  </a:solidFill>
                  <a:latin typeface="Times New Roman" panose="02020603050405020304" pitchFamily="18" charset="0"/>
                </a:rPr>
                <a:t>3</a:t>
              </a:r>
              <a:endParaRPr kumimoji="1" lang="en-US" altLang="zh-CN" sz="2400" b="1" kern="0" baseline="-25000" dirty="0">
                <a:solidFill>
                  <a:srgbClr val="000000"/>
                </a:solidFill>
                <a:latin typeface="Times New Roman" panose="02020603050405020304" pitchFamily="18" charset="0"/>
              </a:endParaRPr>
            </a:p>
          </p:txBody>
        </p:sp>
        <p:sp>
          <p:nvSpPr>
            <p:cNvPr id="128" name="Rectangle 14"/>
            <p:cNvSpPr>
              <a:spLocks noChangeArrowheads="1"/>
            </p:cNvSpPr>
            <p:nvPr/>
          </p:nvSpPr>
          <p:spPr bwMode="auto">
            <a:xfrm>
              <a:off x="1955" y="2064"/>
              <a:ext cx="1381"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defRPr/>
              </a:pPr>
              <a:r>
                <a:rPr kumimoji="1" lang="zh-CN" altLang="en-US" sz="2400" b="1" kern="0" dirty="0">
                  <a:solidFill>
                    <a:srgbClr val="FF3300"/>
                  </a:solidFill>
                  <a:latin typeface="Times New Roman" panose="02020603050405020304" pitchFamily="18" charset="0"/>
                </a:rPr>
                <a:t>输      入</a:t>
              </a:r>
              <a:endParaRPr kumimoji="1" lang="zh-CN" altLang="en-US" sz="2400" b="1" kern="0" dirty="0">
                <a:solidFill>
                  <a:srgbClr val="FF3300"/>
                </a:solidFill>
                <a:latin typeface="Times New Roman" panose="02020603050405020304" pitchFamily="18" charset="0"/>
              </a:endParaRPr>
            </a:p>
          </p:txBody>
        </p:sp>
        <p:sp>
          <p:nvSpPr>
            <p:cNvPr id="129" name="Rectangle 15"/>
            <p:cNvSpPr>
              <a:spLocks noChangeArrowheads="1"/>
            </p:cNvSpPr>
            <p:nvPr/>
          </p:nvSpPr>
          <p:spPr bwMode="auto">
            <a:xfrm>
              <a:off x="3329" y="2543"/>
              <a:ext cx="1225" cy="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just" defTabSz="914400" eaLnBrk="1" fontAlgn="base" hangingPunct="1">
                <a:spcAft>
                  <a:spcPts val="600"/>
                </a:spcAft>
                <a:defRPr/>
              </a:pPr>
              <a:r>
                <a:rPr kumimoji="1" lang="en-US" altLang="zh-CN" sz="2800" b="1" kern="0" dirty="0">
                  <a:solidFill>
                    <a:srgbClr val="000000"/>
                  </a:solidFill>
                  <a:latin typeface="Times New Roman" panose="02020603050405020304" pitchFamily="18" charset="0"/>
                </a:rPr>
                <a:t>0   0    0    0</a:t>
              </a:r>
              <a:endParaRPr kumimoji="1" lang="en-US" altLang="zh-CN" sz="2800" b="1" kern="0" dirty="0">
                <a:solidFill>
                  <a:srgbClr val="000000"/>
                </a:solidFill>
                <a:latin typeface="Times New Roman" panose="02020603050405020304" pitchFamily="18" charset="0"/>
              </a:endParaRPr>
            </a:p>
            <a:p>
              <a:pPr marL="0" indent="0" algn="just" defTabSz="914400" eaLnBrk="1" fontAlgn="base" hangingPunct="1">
                <a:spcAft>
                  <a:spcPts val="600"/>
                </a:spcAft>
                <a:defRPr/>
              </a:pPr>
              <a:r>
                <a:rPr kumimoji="1" lang="en-US" altLang="zh-CN" sz="2800" b="1" i="1" kern="0" dirty="0">
                  <a:solidFill>
                    <a:srgbClr val="000000"/>
                  </a:solidFill>
                  <a:latin typeface="Times New Roman" panose="02020603050405020304" pitchFamily="18" charset="0"/>
                </a:rPr>
                <a:t>d</a:t>
              </a:r>
              <a:r>
                <a:rPr kumimoji="1" lang="en-US" altLang="zh-CN" sz="2800" b="1" kern="0" baseline="-25000" dirty="0">
                  <a:solidFill>
                    <a:srgbClr val="000000"/>
                  </a:solidFill>
                  <a:latin typeface="Times New Roman" panose="02020603050405020304" pitchFamily="18" charset="0"/>
                </a:rPr>
                <a:t>0    </a:t>
              </a:r>
              <a:r>
                <a:rPr kumimoji="1" lang="en-US" altLang="zh-CN" sz="2800" b="1" i="1" kern="0" dirty="0">
                  <a:solidFill>
                    <a:srgbClr val="000000"/>
                  </a:solidFill>
                  <a:latin typeface="Times New Roman" panose="02020603050405020304" pitchFamily="18" charset="0"/>
                </a:rPr>
                <a:t>d</a:t>
              </a:r>
              <a:r>
                <a:rPr kumimoji="1" lang="en-US" altLang="zh-CN" sz="2800" b="1" kern="0" baseline="-25000" dirty="0">
                  <a:solidFill>
                    <a:srgbClr val="000000"/>
                  </a:solidFill>
                  <a:latin typeface="Times New Roman" panose="02020603050405020304" pitchFamily="18" charset="0"/>
                </a:rPr>
                <a:t>1   </a:t>
              </a:r>
              <a:r>
                <a:rPr kumimoji="1" lang="en-US" altLang="zh-CN" sz="2800" b="1" i="1" kern="0" dirty="0">
                  <a:solidFill>
                    <a:srgbClr val="000000"/>
                  </a:solidFill>
                  <a:latin typeface="Times New Roman" panose="02020603050405020304" pitchFamily="18" charset="0"/>
                </a:rPr>
                <a:t>d</a:t>
              </a:r>
              <a:r>
                <a:rPr kumimoji="1" lang="en-US" altLang="zh-CN" sz="2800" b="1" kern="0" baseline="-25000" dirty="0">
                  <a:solidFill>
                    <a:srgbClr val="000000"/>
                  </a:solidFill>
                  <a:latin typeface="Times New Roman" panose="02020603050405020304" pitchFamily="18" charset="0"/>
                </a:rPr>
                <a:t>2    </a:t>
              </a:r>
              <a:r>
                <a:rPr kumimoji="1" lang="en-US" altLang="zh-CN" sz="2800" b="1" i="1" kern="0" dirty="0">
                  <a:solidFill>
                    <a:srgbClr val="000000"/>
                  </a:solidFill>
                  <a:latin typeface="Times New Roman" panose="02020603050405020304" pitchFamily="18" charset="0"/>
                </a:rPr>
                <a:t>d</a:t>
              </a:r>
              <a:r>
                <a:rPr kumimoji="1" lang="en-US" altLang="zh-CN" sz="2800" b="1" kern="0" baseline="-25000" dirty="0">
                  <a:solidFill>
                    <a:srgbClr val="000000"/>
                  </a:solidFill>
                  <a:latin typeface="Times New Roman" panose="02020603050405020304" pitchFamily="18" charset="0"/>
                </a:rPr>
                <a:t>3</a:t>
              </a:r>
              <a:endParaRPr kumimoji="1" lang="en-US" altLang="zh-CN" sz="2800" b="1" kern="0" baseline="-25000" dirty="0">
                <a:solidFill>
                  <a:srgbClr val="000000"/>
                </a:solidFill>
                <a:latin typeface="Times New Roman" panose="02020603050405020304" pitchFamily="18" charset="0"/>
              </a:endParaRPr>
            </a:p>
            <a:p>
              <a:pPr marL="0" indent="0" algn="just" defTabSz="914400" eaLnBrk="1" fontAlgn="base" hangingPunct="1">
                <a:spcAft>
                  <a:spcPts val="600"/>
                </a:spcAft>
                <a:defRPr/>
              </a:pPr>
              <a:r>
                <a:rPr kumimoji="1" lang="zh-CN" altLang="en-US" sz="2800" b="1" kern="0" dirty="0">
                  <a:solidFill>
                    <a:srgbClr val="000000"/>
                  </a:solidFill>
                  <a:latin typeface="Times New Roman" panose="02020603050405020304" pitchFamily="18" charset="0"/>
                </a:rPr>
                <a:t>     保  持</a:t>
              </a:r>
              <a:endParaRPr kumimoji="1" lang="zh-CN" altLang="en-US" sz="2800" b="1" kern="0" dirty="0">
                <a:solidFill>
                  <a:srgbClr val="000000"/>
                </a:solidFill>
                <a:latin typeface="Times New Roman" panose="02020603050405020304" pitchFamily="18" charset="0"/>
              </a:endParaRPr>
            </a:p>
            <a:p>
              <a:pPr marL="0" indent="0" algn="just" defTabSz="914400" eaLnBrk="1" fontAlgn="base" hangingPunct="1">
                <a:spcAft>
                  <a:spcPts val="600"/>
                </a:spcAft>
                <a:defRPr/>
              </a:pPr>
              <a:r>
                <a:rPr kumimoji="1" lang="zh-CN" altLang="en-US" sz="2800" b="1" kern="0" dirty="0">
                  <a:solidFill>
                    <a:srgbClr val="000000"/>
                  </a:solidFill>
                  <a:latin typeface="Times New Roman" panose="02020603050405020304" pitchFamily="18" charset="0"/>
                </a:rPr>
                <a:t>     保  持</a:t>
              </a:r>
              <a:endParaRPr kumimoji="1" lang="zh-CN" altLang="en-US" sz="3200" b="1" kern="0" dirty="0">
                <a:solidFill>
                  <a:srgbClr val="000000"/>
                </a:solidFill>
                <a:latin typeface="Times New Roman" panose="02020603050405020304" pitchFamily="18" charset="0"/>
              </a:endParaRPr>
            </a:p>
          </p:txBody>
        </p:sp>
        <p:sp>
          <p:nvSpPr>
            <p:cNvPr id="130" name="Rectangle 16"/>
            <p:cNvSpPr>
              <a:spLocks noChangeArrowheads="1"/>
            </p:cNvSpPr>
            <p:nvPr/>
          </p:nvSpPr>
          <p:spPr bwMode="auto">
            <a:xfrm>
              <a:off x="3336" y="2256"/>
              <a:ext cx="122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defRPr/>
              </a:pPr>
              <a:r>
                <a:rPr kumimoji="1" lang="en-US" altLang="zh-CN" sz="2400" b="1" i="1" kern="0" dirty="0">
                  <a:solidFill>
                    <a:srgbClr val="000000"/>
                  </a:solidFill>
                  <a:latin typeface="Times New Roman" panose="02020603050405020304" pitchFamily="18" charset="0"/>
                </a:rPr>
                <a:t>Q</a:t>
              </a:r>
              <a:r>
                <a:rPr kumimoji="1" lang="en-US" altLang="zh-CN" sz="2400" b="1" kern="0" baseline="-25000" dirty="0">
                  <a:solidFill>
                    <a:srgbClr val="000000"/>
                  </a:solidFill>
                  <a:latin typeface="Times New Roman" panose="02020603050405020304" pitchFamily="18" charset="0"/>
                </a:rPr>
                <a:t>0   </a:t>
              </a:r>
              <a:r>
                <a:rPr kumimoji="1" lang="en-US" altLang="zh-CN" sz="2400" b="1" i="1" kern="0" dirty="0">
                  <a:solidFill>
                    <a:srgbClr val="000000"/>
                  </a:solidFill>
                  <a:latin typeface="Times New Roman" panose="02020603050405020304" pitchFamily="18" charset="0"/>
                </a:rPr>
                <a:t>Q</a:t>
              </a:r>
              <a:r>
                <a:rPr kumimoji="1" lang="en-US" altLang="zh-CN" sz="2400" b="1" kern="0" baseline="-25000" dirty="0">
                  <a:solidFill>
                    <a:srgbClr val="000000"/>
                  </a:solidFill>
                  <a:latin typeface="Times New Roman" panose="02020603050405020304" pitchFamily="18" charset="0"/>
                </a:rPr>
                <a:t>1   </a:t>
              </a:r>
              <a:r>
                <a:rPr kumimoji="1" lang="en-US" altLang="zh-CN" sz="2400" b="1" i="1" kern="0" dirty="0">
                  <a:solidFill>
                    <a:srgbClr val="000000"/>
                  </a:solidFill>
                  <a:latin typeface="Times New Roman" panose="02020603050405020304" pitchFamily="18" charset="0"/>
                </a:rPr>
                <a:t>Q</a:t>
              </a:r>
              <a:r>
                <a:rPr kumimoji="1" lang="en-US" altLang="zh-CN" sz="2400" b="1" kern="0" baseline="-25000" dirty="0">
                  <a:solidFill>
                    <a:srgbClr val="000000"/>
                  </a:solidFill>
                  <a:latin typeface="Times New Roman" panose="02020603050405020304" pitchFamily="18" charset="0"/>
                </a:rPr>
                <a:t>2   </a:t>
              </a:r>
              <a:r>
                <a:rPr kumimoji="1" lang="en-US" altLang="zh-CN" sz="2400" b="1" i="1" kern="0" dirty="0">
                  <a:solidFill>
                    <a:srgbClr val="000000"/>
                  </a:solidFill>
                  <a:latin typeface="Times New Roman" panose="02020603050405020304" pitchFamily="18" charset="0"/>
                </a:rPr>
                <a:t>Q</a:t>
              </a:r>
              <a:r>
                <a:rPr kumimoji="1" lang="en-US" altLang="zh-CN" sz="2400" b="1" kern="0" baseline="-25000" dirty="0">
                  <a:solidFill>
                    <a:srgbClr val="000000"/>
                  </a:solidFill>
                  <a:latin typeface="Times New Roman" panose="02020603050405020304" pitchFamily="18" charset="0"/>
                </a:rPr>
                <a:t>3</a:t>
              </a:r>
              <a:endParaRPr kumimoji="1" lang="en-US" altLang="zh-CN" sz="2400" b="1" kern="0" baseline="-25000" dirty="0">
                <a:solidFill>
                  <a:srgbClr val="000000"/>
                </a:solidFill>
                <a:latin typeface="Times New Roman" panose="02020603050405020304" pitchFamily="18" charset="0"/>
              </a:endParaRPr>
            </a:p>
          </p:txBody>
        </p:sp>
        <p:sp>
          <p:nvSpPr>
            <p:cNvPr id="131" name="Rectangle 17"/>
            <p:cNvSpPr>
              <a:spLocks noChangeArrowheads="1"/>
            </p:cNvSpPr>
            <p:nvPr/>
          </p:nvSpPr>
          <p:spPr bwMode="auto">
            <a:xfrm>
              <a:off x="3336" y="2064"/>
              <a:ext cx="1225"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defRPr/>
              </a:pPr>
              <a:r>
                <a:rPr kumimoji="1" lang="zh-CN" altLang="en-US" sz="2400" b="1" kern="0" dirty="0">
                  <a:solidFill>
                    <a:srgbClr val="FF3300"/>
                  </a:solidFill>
                  <a:latin typeface="Times New Roman" panose="02020603050405020304" pitchFamily="18" charset="0"/>
                </a:rPr>
                <a:t>输    出</a:t>
              </a:r>
              <a:endParaRPr kumimoji="1" lang="zh-CN" altLang="en-US" sz="2400" b="1" kern="0" dirty="0">
                <a:solidFill>
                  <a:srgbClr val="FF3300"/>
                </a:solidFill>
                <a:latin typeface="Times New Roman" panose="02020603050405020304" pitchFamily="18" charset="0"/>
              </a:endParaRPr>
            </a:p>
          </p:txBody>
        </p:sp>
        <p:sp>
          <p:nvSpPr>
            <p:cNvPr id="132" name="Rectangle 18"/>
            <p:cNvSpPr>
              <a:spLocks noChangeArrowheads="1"/>
            </p:cNvSpPr>
            <p:nvPr/>
          </p:nvSpPr>
          <p:spPr bwMode="auto">
            <a:xfrm>
              <a:off x="4561" y="2064"/>
              <a:ext cx="959" cy="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lnSpc>
                  <a:spcPct val="150000"/>
                </a:lnSpc>
                <a:spcBef>
                  <a:spcPct val="0"/>
                </a:spcBef>
                <a:spcAft>
                  <a:spcPct val="0"/>
                </a:spcAft>
                <a:defRPr/>
              </a:pPr>
              <a:r>
                <a:rPr kumimoji="1" lang="zh-CN" altLang="en-US" sz="2400" b="1" kern="0" dirty="0">
                  <a:solidFill>
                    <a:srgbClr val="FF3300"/>
                  </a:solidFill>
                  <a:latin typeface="Times New Roman" panose="02020603050405020304" pitchFamily="18" charset="0"/>
                </a:rPr>
                <a:t>工作模式</a:t>
              </a:r>
              <a:endParaRPr kumimoji="1" lang="zh-CN" altLang="en-US" sz="2400" b="1" i="1" kern="0" dirty="0">
                <a:solidFill>
                  <a:srgbClr val="000000"/>
                </a:solidFill>
                <a:latin typeface="Times New Roman" panose="02020603050405020304" pitchFamily="18" charset="0"/>
              </a:endParaRPr>
            </a:p>
          </p:txBody>
        </p:sp>
        <p:sp>
          <p:nvSpPr>
            <p:cNvPr id="133" name="Rectangle 19"/>
            <p:cNvSpPr>
              <a:spLocks noChangeArrowheads="1"/>
            </p:cNvSpPr>
            <p:nvPr/>
          </p:nvSpPr>
          <p:spPr bwMode="auto">
            <a:xfrm>
              <a:off x="4554" y="2520"/>
              <a:ext cx="959" cy="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Aft>
                  <a:spcPts val="600"/>
                </a:spcAft>
                <a:defRPr/>
              </a:pPr>
              <a:r>
                <a:rPr kumimoji="1" lang="zh-CN" altLang="en-US" sz="2800" b="1" kern="0" dirty="0">
                  <a:solidFill>
                    <a:srgbClr val="000000"/>
                  </a:solidFill>
                  <a:latin typeface="Times New Roman" panose="02020603050405020304" pitchFamily="18" charset="0"/>
                </a:rPr>
                <a:t>异步清零</a:t>
              </a:r>
              <a:endParaRPr kumimoji="1" lang="zh-CN" altLang="en-US" sz="2800" b="1" kern="0" dirty="0">
                <a:solidFill>
                  <a:srgbClr val="000000"/>
                </a:solidFill>
                <a:latin typeface="Times New Roman" panose="02020603050405020304" pitchFamily="18" charset="0"/>
              </a:endParaRPr>
            </a:p>
            <a:p>
              <a:pPr algn="ctr" defTabSz="914400" eaLnBrk="1" fontAlgn="base" hangingPunct="1">
                <a:spcAft>
                  <a:spcPts val="600"/>
                </a:spcAft>
                <a:defRPr/>
              </a:pPr>
              <a:r>
                <a:rPr kumimoji="1" lang="zh-CN" altLang="en-US" sz="2800" b="1" kern="0" dirty="0">
                  <a:solidFill>
                    <a:srgbClr val="000000"/>
                  </a:solidFill>
                  <a:latin typeface="Times New Roman" panose="02020603050405020304" pitchFamily="18" charset="0"/>
                </a:rPr>
                <a:t>数码寄存</a:t>
              </a:r>
              <a:endParaRPr kumimoji="1" lang="zh-CN" altLang="en-US" sz="2800" b="1" kern="0" dirty="0">
                <a:solidFill>
                  <a:srgbClr val="000000"/>
                </a:solidFill>
                <a:latin typeface="Times New Roman" panose="02020603050405020304" pitchFamily="18" charset="0"/>
              </a:endParaRPr>
            </a:p>
            <a:p>
              <a:pPr algn="ctr" defTabSz="914400" eaLnBrk="1" fontAlgn="base" hangingPunct="1">
                <a:spcAft>
                  <a:spcPts val="600"/>
                </a:spcAft>
                <a:defRPr/>
              </a:pPr>
              <a:r>
                <a:rPr kumimoji="1" lang="zh-CN" altLang="en-US" sz="2800" b="1" kern="0" dirty="0">
                  <a:solidFill>
                    <a:srgbClr val="000000"/>
                  </a:solidFill>
                  <a:latin typeface="Times New Roman" panose="02020603050405020304" pitchFamily="18" charset="0"/>
                </a:rPr>
                <a:t>数据保持</a:t>
              </a:r>
              <a:endParaRPr kumimoji="1" lang="zh-CN" altLang="en-US" sz="2800" b="1" kern="0" dirty="0">
                <a:solidFill>
                  <a:srgbClr val="000000"/>
                </a:solidFill>
                <a:latin typeface="Times New Roman" panose="02020603050405020304" pitchFamily="18" charset="0"/>
              </a:endParaRPr>
            </a:p>
            <a:p>
              <a:pPr algn="ctr" defTabSz="914400" eaLnBrk="1" fontAlgn="base" hangingPunct="1">
                <a:spcAft>
                  <a:spcPts val="600"/>
                </a:spcAft>
                <a:defRPr/>
              </a:pPr>
              <a:r>
                <a:rPr kumimoji="1" lang="zh-CN" altLang="en-US" sz="2800" b="1" kern="0" dirty="0">
                  <a:solidFill>
                    <a:srgbClr val="000000"/>
                  </a:solidFill>
                  <a:latin typeface="Times New Roman" panose="02020603050405020304" pitchFamily="18" charset="0"/>
                </a:rPr>
                <a:t>数据保持</a:t>
              </a:r>
              <a:endParaRPr kumimoji="1" lang="zh-CN" altLang="en-US" sz="2800" b="1" kern="0" dirty="0">
                <a:solidFill>
                  <a:srgbClr val="000000"/>
                </a:solidFill>
                <a:latin typeface="Times New Roman" panose="02020603050405020304" pitchFamily="18" charset="0"/>
              </a:endParaRPr>
            </a:p>
          </p:txBody>
        </p:sp>
        <p:sp>
          <p:nvSpPr>
            <p:cNvPr id="134" name="Line 20"/>
            <p:cNvSpPr>
              <a:spLocks noChangeShapeType="1"/>
            </p:cNvSpPr>
            <p:nvPr/>
          </p:nvSpPr>
          <p:spPr bwMode="auto">
            <a:xfrm>
              <a:off x="528" y="3506"/>
              <a:ext cx="4992" cy="0"/>
            </a:xfrm>
            <a:prstGeom prst="line">
              <a:avLst/>
            </a:prstGeom>
            <a:noFill/>
            <a:ln w="28575" cap="sq">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35" name="Line 21"/>
            <p:cNvSpPr>
              <a:spLocks noChangeShapeType="1"/>
            </p:cNvSpPr>
            <p:nvPr/>
          </p:nvSpPr>
          <p:spPr bwMode="auto">
            <a:xfrm>
              <a:off x="528" y="2064"/>
              <a:ext cx="0" cy="1442"/>
            </a:xfrm>
            <a:prstGeom prst="line">
              <a:avLst/>
            </a:prstGeom>
            <a:noFill/>
            <a:ln w="28575" cap="sq">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36" name="Line 22"/>
            <p:cNvSpPr>
              <a:spLocks noChangeShapeType="1"/>
            </p:cNvSpPr>
            <p:nvPr/>
          </p:nvSpPr>
          <p:spPr bwMode="auto">
            <a:xfrm>
              <a:off x="5520" y="2064"/>
              <a:ext cx="0" cy="1442"/>
            </a:xfrm>
            <a:prstGeom prst="line">
              <a:avLst/>
            </a:prstGeom>
            <a:noFill/>
            <a:ln w="28575" cap="sq">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37" name="Line 23"/>
            <p:cNvSpPr>
              <a:spLocks noChangeShapeType="1"/>
            </p:cNvSpPr>
            <p:nvPr/>
          </p:nvSpPr>
          <p:spPr bwMode="auto">
            <a:xfrm>
              <a:off x="528" y="2064"/>
              <a:ext cx="4992" cy="0"/>
            </a:xfrm>
            <a:prstGeom prst="line">
              <a:avLst/>
            </a:prstGeom>
            <a:noFill/>
            <a:ln w="28575" cap="sq">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sz="2800" kern="0" dirty="0">
                <a:solidFill>
                  <a:srgbClr val="000000"/>
                </a:solidFill>
                <a:latin typeface="Arial" panose="020B0604020202020204" pitchFamily="34" charset="0"/>
                <a:ea typeface="宋体" panose="02010600030101010101" pitchFamily="2" charset="-122"/>
              </a:endParaRPr>
            </a:p>
          </p:txBody>
        </p:sp>
        <p:sp>
          <p:nvSpPr>
            <p:cNvPr id="138" name="Line 24"/>
            <p:cNvSpPr>
              <a:spLocks noChangeShapeType="1"/>
            </p:cNvSpPr>
            <p:nvPr/>
          </p:nvSpPr>
          <p:spPr bwMode="auto">
            <a:xfrm>
              <a:off x="528" y="2515"/>
              <a:ext cx="4992"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39" name="Line 25"/>
            <p:cNvSpPr>
              <a:spLocks noChangeShapeType="1"/>
            </p:cNvSpPr>
            <p:nvPr/>
          </p:nvSpPr>
          <p:spPr bwMode="auto">
            <a:xfrm>
              <a:off x="528" y="2294"/>
              <a:ext cx="4033"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40" name="Line 26"/>
            <p:cNvSpPr>
              <a:spLocks noChangeShapeType="1"/>
            </p:cNvSpPr>
            <p:nvPr/>
          </p:nvSpPr>
          <p:spPr bwMode="auto">
            <a:xfrm>
              <a:off x="4561" y="2064"/>
              <a:ext cx="0" cy="144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41" name="Line 27"/>
            <p:cNvSpPr>
              <a:spLocks noChangeShapeType="1"/>
            </p:cNvSpPr>
            <p:nvPr/>
          </p:nvSpPr>
          <p:spPr bwMode="auto">
            <a:xfrm>
              <a:off x="3336" y="2064"/>
              <a:ext cx="0" cy="144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42" name="Line 28"/>
            <p:cNvSpPr>
              <a:spLocks noChangeShapeType="1"/>
            </p:cNvSpPr>
            <p:nvPr/>
          </p:nvSpPr>
          <p:spPr bwMode="auto">
            <a:xfrm>
              <a:off x="1955" y="2064"/>
              <a:ext cx="0" cy="144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43" name="Line 29"/>
            <p:cNvSpPr>
              <a:spLocks noChangeShapeType="1"/>
            </p:cNvSpPr>
            <p:nvPr/>
          </p:nvSpPr>
          <p:spPr bwMode="auto">
            <a:xfrm>
              <a:off x="1241" y="2064"/>
              <a:ext cx="0" cy="144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defRPr/>
              </a:pPr>
              <a:endParaRPr lang="zh-CN" altLang="en-US" kern="0">
                <a:solidFill>
                  <a:srgbClr val="000000"/>
                </a:solidFill>
                <a:latin typeface="Arial" panose="020B0604020202020204" pitchFamily="34" charset="0"/>
                <a:ea typeface="宋体" panose="02010600030101010101" pitchFamily="2" charset="-122"/>
              </a:endParaRPr>
            </a:p>
          </p:txBody>
        </p:sp>
        <p:sp>
          <p:nvSpPr>
            <p:cNvPr id="144" name="Rectangle 30"/>
            <p:cNvSpPr>
              <a:spLocks noChangeArrowheads="1"/>
            </p:cNvSpPr>
            <p:nvPr/>
          </p:nvSpPr>
          <p:spPr bwMode="auto">
            <a:xfrm>
              <a:off x="2200" y="1789"/>
              <a:ext cx="190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defRPr/>
              </a:pPr>
              <a:r>
                <a:rPr lang="en-US" altLang="zh-CN" sz="2800" b="1" kern="0" dirty="0">
                  <a:solidFill>
                    <a:srgbClr val="0000FF"/>
                  </a:solidFill>
                  <a:latin typeface="宋体" panose="02010600030101010101" pitchFamily="2" charset="-122"/>
                </a:rPr>
                <a:t>74</a:t>
              </a:r>
              <a:r>
                <a:rPr lang="en-US" altLang="zh-CN" sz="2800" b="1" kern="0" dirty="0">
                  <a:solidFill>
                    <a:srgbClr val="0000FF"/>
                  </a:solidFill>
                  <a:latin typeface="Times New Roman" panose="02020603050405020304" pitchFamily="18" charset="0"/>
                </a:rPr>
                <a:t>LS</a:t>
              </a:r>
              <a:r>
                <a:rPr lang="en-US" altLang="zh-CN" sz="2800" b="1" kern="0" dirty="0">
                  <a:solidFill>
                    <a:srgbClr val="0000FF"/>
                  </a:solidFill>
                  <a:latin typeface="宋体" panose="02010600030101010101" pitchFamily="2" charset="-122"/>
                </a:rPr>
                <a:t>175</a:t>
              </a:r>
              <a:r>
                <a:rPr lang="zh-CN" altLang="en-US" sz="2800" b="1" kern="0" dirty="0">
                  <a:solidFill>
                    <a:srgbClr val="0000FF"/>
                  </a:solidFill>
                  <a:latin typeface="宋体" panose="02010600030101010101" pitchFamily="2" charset="-122"/>
                </a:rPr>
                <a:t>的功能表</a:t>
              </a:r>
              <a:endParaRPr lang="zh-CN" altLang="en-US" sz="2800" b="1" i="1" kern="0" dirty="0">
                <a:solidFill>
                  <a:srgbClr val="0000FF"/>
                </a:solidFill>
                <a:latin typeface="Times New Roman" panose="02020603050405020304" pitchFamily="18" charset="0"/>
              </a:endParaRPr>
            </a:p>
          </p:txBody>
        </p:sp>
      </p:grpSp>
      <p:sp>
        <p:nvSpPr>
          <p:cNvPr id="106" name="Text Box 7"/>
          <p:cNvSpPr txBox="1">
            <a:spLocks noChangeArrowheads="1"/>
          </p:cNvSpPr>
          <p:nvPr/>
        </p:nvSpPr>
        <p:spPr bwMode="auto">
          <a:xfrm>
            <a:off x="2302429" y="5919791"/>
            <a:ext cx="40178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FF"/>
                </a:solidFill>
                <a:latin typeface="黑体" panose="02010609060101010101" pitchFamily="49" charset="-122"/>
                <a:ea typeface="黑体" panose="02010609060101010101" pitchFamily="49" charset="-122"/>
              </a:rPr>
              <a:t>上升沿送数、异步清零</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35" name="文本框 34"/>
          <p:cNvSpPr txBox="1"/>
          <p:nvPr/>
        </p:nvSpPr>
        <p:spPr>
          <a:xfrm>
            <a:off x="153029" y="1235119"/>
            <a:ext cx="7193405" cy="523220"/>
          </a:xfrm>
          <a:prstGeom prst="rect">
            <a:avLst/>
          </a:prstGeom>
          <a:noFill/>
        </p:spPr>
        <p:txBody>
          <a:bodyPr wrap="square" rtlCol="0">
            <a:spAutoFit/>
          </a:bodyPr>
          <a:lstStyle/>
          <a:p>
            <a:r>
              <a:rPr lang="en-US" altLang="zh-CN" sz="2800" b="1" dirty="0">
                <a:solidFill>
                  <a:srgbClr val="0000FF"/>
                </a:solidFill>
              </a:rPr>
              <a:t>1. </a:t>
            </a:r>
            <a:r>
              <a:rPr lang="zh-CN" altLang="en-US" sz="2800" b="1" dirty="0">
                <a:solidFill>
                  <a:srgbClr val="0000FF"/>
                </a:solidFill>
              </a:rPr>
              <a:t>由多个边沿</a:t>
            </a:r>
            <a:r>
              <a:rPr lang="en-US" altLang="zh-CN" sz="2800" b="1" dirty="0">
                <a:solidFill>
                  <a:srgbClr val="0000FF"/>
                </a:solidFill>
              </a:rPr>
              <a:t>D</a:t>
            </a:r>
            <a:r>
              <a:rPr lang="zh-CN" altLang="en-US" sz="2800" b="1" dirty="0">
                <a:solidFill>
                  <a:srgbClr val="0000FF"/>
                </a:solidFill>
              </a:rPr>
              <a:t>触发器组成的集成寄存器</a:t>
            </a:r>
            <a:endParaRPr lang="zh-CN" altLang="en-US" sz="2800" b="1" dirty="0">
              <a:solidFill>
                <a:srgbClr val="0000FF"/>
              </a:solidFill>
            </a:endParaRPr>
          </a:p>
        </p:txBody>
      </p:sp>
      <p:cxnSp>
        <p:nvCxnSpPr>
          <p:cNvPr id="36" name="直接连接符 35"/>
          <p:cNvCxnSpPr/>
          <p:nvPr/>
        </p:nvCxnSpPr>
        <p:spPr>
          <a:xfrm>
            <a:off x="717583" y="3188369"/>
            <a:ext cx="30172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基本寄存器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145321" y="617009"/>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二、集成的基本寄存器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35" name="文本框 34"/>
          <p:cNvSpPr txBox="1"/>
          <p:nvPr/>
        </p:nvSpPr>
        <p:spPr>
          <a:xfrm>
            <a:off x="153029" y="1235119"/>
            <a:ext cx="7193405" cy="523220"/>
          </a:xfrm>
          <a:prstGeom prst="rect">
            <a:avLst/>
          </a:prstGeom>
          <a:noFill/>
        </p:spPr>
        <p:txBody>
          <a:bodyPr wrap="square" rtlCol="0">
            <a:spAutoFit/>
          </a:bodyPr>
          <a:lstStyle/>
          <a:p>
            <a:r>
              <a:rPr lang="en-US" altLang="zh-CN" sz="2800" b="1" dirty="0">
                <a:solidFill>
                  <a:srgbClr val="0000FF"/>
                </a:solidFill>
              </a:rPr>
              <a:t>2. </a:t>
            </a:r>
            <a:r>
              <a:rPr lang="zh-CN" altLang="en-US" sz="2800" b="1" dirty="0">
                <a:solidFill>
                  <a:srgbClr val="0000FF"/>
                </a:solidFill>
              </a:rPr>
              <a:t>具有输入使能功能的锁存型寄存器</a:t>
            </a:r>
            <a:endParaRPr lang="zh-CN" altLang="en-US" sz="2800" b="1" dirty="0">
              <a:solidFill>
                <a:srgbClr val="0000FF"/>
              </a:solidFill>
            </a:endParaRPr>
          </a:p>
        </p:txBody>
      </p:sp>
      <p:pic>
        <p:nvPicPr>
          <p:cNvPr id="36" name="Picture 5" descr="5-5-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177" y="1955663"/>
            <a:ext cx="7149653" cy="455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7302073" y="3862130"/>
            <a:ext cx="1207534" cy="461665"/>
          </a:xfrm>
          <a:prstGeom prst="rect">
            <a:avLst/>
          </a:prstGeom>
          <a:noFill/>
        </p:spPr>
        <p:txBody>
          <a:bodyPr wrap="square" rtlCol="0">
            <a:spAutoFit/>
          </a:bodyPr>
          <a:lstStyle/>
          <a:p>
            <a:r>
              <a:rPr lang="zh-CN" altLang="en-US" sz="2400" b="1" dirty="0">
                <a:solidFill>
                  <a:srgbClr val="FF0000"/>
                </a:solidFill>
              </a:rPr>
              <a:t>清零端</a:t>
            </a:r>
            <a:endParaRPr lang="zh-CN" altLang="en-US" sz="2400" b="1" dirty="0">
              <a:solidFill>
                <a:srgbClr val="FF0000"/>
              </a:solidFill>
            </a:endParaRPr>
          </a:p>
        </p:txBody>
      </p:sp>
      <p:sp>
        <p:nvSpPr>
          <p:cNvPr id="37" name="文本框 36"/>
          <p:cNvSpPr txBox="1"/>
          <p:nvPr/>
        </p:nvSpPr>
        <p:spPr>
          <a:xfrm>
            <a:off x="7302072" y="4521119"/>
            <a:ext cx="1738683" cy="830997"/>
          </a:xfrm>
          <a:prstGeom prst="rect">
            <a:avLst/>
          </a:prstGeom>
          <a:noFill/>
        </p:spPr>
        <p:txBody>
          <a:bodyPr wrap="square" rtlCol="0">
            <a:spAutoFit/>
          </a:bodyPr>
          <a:lstStyle/>
          <a:p>
            <a:r>
              <a:rPr lang="zh-CN" altLang="en-US" sz="2400" b="1" dirty="0">
                <a:solidFill>
                  <a:srgbClr val="FF0000"/>
                </a:solidFill>
              </a:rPr>
              <a:t>锁存控制端（使能端）</a:t>
            </a:r>
            <a:endParaRPr lang="zh-CN" altLang="en-US" sz="2400" b="1" dirty="0">
              <a:solidFill>
                <a:srgbClr val="FF0000"/>
              </a:solidFill>
            </a:endParaRPr>
          </a:p>
        </p:txBody>
      </p:sp>
      <p:sp>
        <p:nvSpPr>
          <p:cNvPr id="3" name="文本框 2"/>
          <p:cNvSpPr txBox="1"/>
          <p:nvPr/>
        </p:nvSpPr>
        <p:spPr>
          <a:xfrm>
            <a:off x="6602056" y="3831352"/>
            <a:ext cx="315008" cy="584775"/>
          </a:xfrm>
          <a:prstGeom prst="rect">
            <a:avLst/>
          </a:prstGeom>
          <a:noFill/>
        </p:spPr>
        <p:txBody>
          <a:bodyPr wrap="square" rtlCol="0">
            <a:spAutoFit/>
          </a:bodyPr>
          <a:lstStyle/>
          <a:p>
            <a:r>
              <a:rPr lang="en-US" altLang="zh-CN" sz="3200" b="1" dirty="0">
                <a:solidFill>
                  <a:srgbClr val="FF0000"/>
                </a:solidFill>
              </a:rPr>
              <a:t>1</a:t>
            </a:r>
            <a:endParaRPr lang="zh-CN" altLang="en-US" sz="3200" b="1" dirty="0">
              <a:solidFill>
                <a:srgbClr val="FF0000"/>
              </a:solidFill>
            </a:endParaRPr>
          </a:p>
        </p:txBody>
      </p:sp>
      <p:sp>
        <p:nvSpPr>
          <p:cNvPr id="39" name="文本框 38"/>
          <p:cNvSpPr txBox="1"/>
          <p:nvPr/>
        </p:nvSpPr>
        <p:spPr>
          <a:xfrm>
            <a:off x="6798207" y="4739928"/>
            <a:ext cx="315008" cy="584775"/>
          </a:xfrm>
          <a:prstGeom prst="rect">
            <a:avLst/>
          </a:prstGeom>
          <a:noFill/>
        </p:spPr>
        <p:txBody>
          <a:bodyPr wrap="square" rtlCol="0">
            <a:spAutoFit/>
          </a:bodyPr>
          <a:lstStyle/>
          <a:p>
            <a:r>
              <a:rPr lang="en-US" altLang="zh-CN" sz="3200" b="1" dirty="0">
                <a:solidFill>
                  <a:srgbClr val="FF33CC"/>
                </a:solidFill>
              </a:rPr>
              <a:t>0</a:t>
            </a:r>
            <a:endParaRPr lang="zh-CN" altLang="en-US" sz="3200" b="1" dirty="0">
              <a:solidFill>
                <a:srgbClr val="FF33CC"/>
              </a:solidFill>
            </a:endParaRPr>
          </a:p>
        </p:txBody>
      </p:sp>
      <p:sp>
        <p:nvSpPr>
          <p:cNvPr id="40" name="文本框 39"/>
          <p:cNvSpPr txBox="1"/>
          <p:nvPr/>
        </p:nvSpPr>
        <p:spPr>
          <a:xfrm>
            <a:off x="6413196" y="5820205"/>
            <a:ext cx="315008" cy="584775"/>
          </a:xfrm>
          <a:prstGeom prst="rect">
            <a:avLst/>
          </a:prstGeom>
          <a:noFill/>
        </p:spPr>
        <p:txBody>
          <a:bodyPr wrap="square" rtlCol="0">
            <a:spAutoFit/>
          </a:bodyPr>
          <a:lstStyle/>
          <a:p>
            <a:r>
              <a:rPr lang="en-US" altLang="zh-CN" sz="3200" b="1" dirty="0">
                <a:solidFill>
                  <a:srgbClr val="FF33CC"/>
                </a:solidFill>
              </a:rPr>
              <a:t>1</a:t>
            </a:r>
            <a:endParaRPr lang="zh-CN" altLang="en-US" sz="3200" b="1" dirty="0">
              <a:solidFill>
                <a:srgbClr val="FF33CC"/>
              </a:solidFill>
            </a:endParaRPr>
          </a:p>
        </p:txBody>
      </p:sp>
      <p:sp>
        <p:nvSpPr>
          <p:cNvPr id="4" name="文本框 3"/>
          <p:cNvSpPr txBox="1"/>
          <p:nvPr/>
        </p:nvSpPr>
        <p:spPr>
          <a:xfrm>
            <a:off x="5613279" y="3560484"/>
            <a:ext cx="721888" cy="584775"/>
          </a:xfrm>
          <a:prstGeom prst="rect">
            <a:avLst/>
          </a:prstGeom>
          <a:noFill/>
        </p:spPr>
        <p:txBody>
          <a:bodyPr wrap="square" rtlCol="0">
            <a:spAutoFit/>
          </a:bodyPr>
          <a:lstStyle/>
          <a:p>
            <a:r>
              <a:rPr lang="en-US" altLang="zh-CN" sz="3200" b="1" dirty="0">
                <a:solidFill>
                  <a:srgbClr val="FF0000"/>
                </a:solidFill>
              </a:rPr>
              <a:t>D</a:t>
            </a:r>
            <a:r>
              <a:rPr lang="en-US" altLang="zh-CN" sz="3200" b="1" baseline="-25000" dirty="0">
                <a:solidFill>
                  <a:srgbClr val="FF0000"/>
                </a:solidFill>
              </a:rPr>
              <a:t>3</a:t>
            </a:r>
            <a:endParaRPr lang="zh-CN" altLang="en-US" sz="3200" b="1" baseline="-25000" dirty="0">
              <a:solidFill>
                <a:srgbClr val="FF0000"/>
              </a:solidFill>
            </a:endParaRPr>
          </a:p>
        </p:txBody>
      </p:sp>
      <p:sp>
        <p:nvSpPr>
          <p:cNvPr id="42" name="文本框 41"/>
          <p:cNvSpPr txBox="1"/>
          <p:nvPr/>
        </p:nvSpPr>
        <p:spPr>
          <a:xfrm>
            <a:off x="4055741" y="3560484"/>
            <a:ext cx="612515" cy="584775"/>
          </a:xfrm>
          <a:prstGeom prst="rect">
            <a:avLst/>
          </a:prstGeom>
          <a:noFill/>
        </p:spPr>
        <p:txBody>
          <a:bodyPr wrap="square" rtlCol="0">
            <a:spAutoFit/>
          </a:bodyPr>
          <a:lstStyle/>
          <a:p>
            <a:r>
              <a:rPr lang="en-US" altLang="zh-CN" sz="3200" b="1" dirty="0">
                <a:solidFill>
                  <a:srgbClr val="FF0000"/>
                </a:solidFill>
              </a:rPr>
              <a:t>D</a:t>
            </a:r>
            <a:r>
              <a:rPr lang="en-US" altLang="zh-CN" sz="3200" b="1" baseline="-25000" dirty="0">
                <a:solidFill>
                  <a:srgbClr val="FF0000"/>
                </a:solidFill>
              </a:rPr>
              <a:t>2</a:t>
            </a:r>
            <a:endParaRPr lang="zh-CN" altLang="en-US" sz="3200" b="1" baseline="-25000" dirty="0">
              <a:solidFill>
                <a:srgbClr val="FF0000"/>
              </a:solidFill>
            </a:endParaRPr>
          </a:p>
        </p:txBody>
      </p:sp>
      <p:sp>
        <p:nvSpPr>
          <p:cNvPr id="43" name="文本框 42"/>
          <p:cNvSpPr txBox="1"/>
          <p:nvPr/>
        </p:nvSpPr>
        <p:spPr>
          <a:xfrm>
            <a:off x="2385382" y="3569742"/>
            <a:ext cx="612515" cy="584775"/>
          </a:xfrm>
          <a:prstGeom prst="rect">
            <a:avLst/>
          </a:prstGeom>
          <a:noFill/>
        </p:spPr>
        <p:txBody>
          <a:bodyPr wrap="square" rtlCol="0">
            <a:spAutoFit/>
          </a:bodyPr>
          <a:lstStyle/>
          <a:p>
            <a:r>
              <a:rPr lang="en-US" altLang="zh-CN" sz="3200" b="1" dirty="0">
                <a:solidFill>
                  <a:srgbClr val="FF0000"/>
                </a:solidFill>
              </a:rPr>
              <a:t>D</a:t>
            </a:r>
            <a:r>
              <a:rPr lang="en-US" altLang="zh-CN" sz="3200" b="1" baseline="-25000" dirty="0">
                <a:solidFill>
                  <a:srgbClr val="FF0000"/>
                </a:solidFill>
              </a:rPr>
              <a:t>1</a:t>
            </a:r>
            <a:endParaRPr lang="zh-CN" altLang="en-US" sz="3200" b="1" baseline="-25000" dirty="0">
              <a:solidFill>
                <a:srgbClr val="FF0000"/>
              </a:solidFill>
            </a:endParaRPr>
          </a:p>
        </p:txBody>
      </p:sp>
      <p:sp>
        <p:nvSpPr>
          <p:cNvPr id="44" name="文本框 43"/>
          <p:cNvSpPr txBox="1"/>
          <p:nvPr/>
        </p:nvSpPr>
        <p:spPr>
          <a:xfrm>
            <a:off x="765764" y="3600520"/>
            <a:ext cx="612515" cy="584775"/>
          </a:xfrm>
          <a:prstGeom prst="rect">
            <a:avLst/>
          </a:prstGeom>
          <a:noFill/>
        </p:spPr>
        <p:txBody>
          <a:bodyPr wrap="square" rtlCol="0">
            <a:spAutoFit/>
          </a:bodyPr>
          <a:lstStyle/>
          <a:p>
            <a:r>
              <a:rPr lang="en-US" altLang="zh-CN" sz="3200" b="1" dirty="0">
                <a:solidFill>
                  <a:srgbClr val="FF0000"/>
                </a:solidFill>
              </a:rPr>
              <a:t>D</a:t>
            </a:r>
            <a:r>
              <a:rPr lang="en-US" altLang="zh-CN" sz="3200" b="1" baseline="-25000" dirty="0">
                <a:solidFill>
                  <a:srgbClr val="FF0000"/>
                </a:solidFill>
              </a:rPr>
              <a:t>0</a:t>
            </a:r>
            <a:endParaRPr lang="zh-CN" altLang="en-US" sz="3200" b="1" baseline="-25000" dirty="0">
              <a:solidFill>
                <a:srgbClr val="FF0000"/>
              </a:solidFill>
            </a:endParaRPr>
          </a:p>
        </p:txBody>
      </p:sp>
      <p:cxnSp>
        <p:nvCxnSpPr>
          <p:cNvPr id="7" name="直接箭头连接符 6"/>
          <p:cNvCxnSpPr/>
          <p:nvPr/>
        </p:nvCxnSpPr>
        <p:spPr>
          <a:xfrm flipV="1">
            <a:off x="6570700" y="3189463"/>
            <a:ext cx="0" cy="455012"/>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5963290" y="1762762"/>
            <a:ext cx="612515" cy="584775"/>
          </a:xfrm>
          <a:prstGeom prst="rect">
            <a:avLst/>
          </a:prstGeom>
          <a:noFill/>
        </p:spPr>
        <p:txBody>
          <a:bodyPr wrap="square" rtlCol="0">
            <a:spAutoFit/>
          </a:bodyPr>
          <a:lstStyle/>
          <a:p>
            <a:r>
              <a:rPr lang="en-US" altLang="zh-CN" sz="3200" b="1" dirty="0">
                <a:solidFill>
                  <a:srgbClr val="FF0000"/>
                </a:solidFill>
              </a:rPr>
              <a:t>D</a:t>
            </a:r>
            <a:r>
              <a:rPr lang="en-US" altLang="zh-CN" sz="3200" b="1" baseline="-25000" dirty="0">
                <a:solidFill>
                  <a:srgbClr val="FF0000"/>
                </a:solidFill>
              </a:rPr>
              <a:t>3</a:t>
            </a:r>
            <a:endParaRPr lang="zh-CN" altLang="en-US" sz="3200" b="1" baseline="-25000" dirty="0">
              <a:solidFill>
                <a:srgbClr val="FF0000"/>
              </a:solidFill>
            </a:endParaRPr>
          </a:p>
        </p:txBody>
      </p:sp>
      <p:sp>
        <p:nvSpPr>
          <p:cNvPr id="49" name="文本框 48"/>
          <p:cNvSpPr txBox="1"/>
          <p:nvPr/>
        </p:nvSpPr>
        <p:spPr>
          <a:xfrm>
            <a:off x="4361998" y="1762762"/>
            <a:ext cx="612515" cy="584775"/>
          </a:xfrm>
          <a:prstGeom prst="rect">
            <a:avLst/>
          </a:prstGeom>
          <a:noFill/>
        </p:spPr>
        <p:txBody>
          <a:bodyPr wrap="square" rtlCol="0">
            <a:spAutoFit/>
          </a:bodyPr>
          <a:lstStyle/>
          <a:p>
            <a:r>
              <a:rPr lang="en-US" altLang="zh-CN" sz="3200" b="1" dirty="0">
                <a:solidFill>
                  <a:srgbClr val="FF0000"/>
                </a:solidFill>
              </a:rPr>
              <a:t>D</a:t>
            </a:r>
            <a:r>
              <a:rPr lang="en-US" altLang="zh-CN" sz="3200" b="1" baseline="-25000" dirty="0">
                <a:solidFill>
                  <a:srgbClr val="FF0000"/>
                </a:solidFill>
              </a:rPr>
              <a:t>2</a:t>
            </a:r>
            <a:endParaRPr lang="zh-CN" altLang="en-US" sz="3200" b="1" baseline="-25000" dirty="0">
              <a:solidFill>
                <a:srgbClr val="FF0000"/>
              </a:solidFill>
            </a:endParaRPr>
          </a:p>
        </p:txBody>
      </p:sp>
      <p:sp>
        <p:nvSpPr>
          <p:cNvPr id="50" name="文本框 49"/>
          <p:cNvSpPr txBox="1"/>
          <p:nvPr/>
        </p:nvSpPr>
        <p:spPr>
          <a:xfrm>
            <a:off x="2691639" y="1762762"/>
            <a:ext cx="612515" cy="584775"/>
          </a:xfrm>
          <a:prstGeom prst="rect">
            <a:avLst/>
          </a:prstGeom>
          <a:noFill/>
        </p:spPr>
        <p:txBody>
          <a:bodyPr wrap="square" rtlCol="0">
            <a:spAutoFit/>
          </a:bodyPr>
          <a:lstStyle/>
          <a:p>
            <a:r>
              <a:rPr lang="en-US" altLang="zh-CN" sz="3200" b="1" dirty="0">
                <a:solidFill>
                  <a:srgbClr val="FF0000"/>
                </a:solidFill>
              </a:rPr>
              <a:t>D</a:t>
            </a:r>
            <a:r>
              <a:rPr lang="en-US" altLang="zh-CN" sz="3200" b="1" baseline="-25000" dirty="0">
                <a:solidFill>
                  <a:srgbClr val="FF0000"/>
                </a:solidFill>
              </a:rPr>
              <a:t>1</a:t>
            </a:r>
            <a:endParaRPr lang="zh-CN" altLang="en-US" sz="3200" b="1" baseline="-25000" dirty="0">
              <a:solidFill>
                <a:srgbClr val="FF0000"/>
              </a:solidFill>
            </a:endParaRPr>
          </a:p>
        </p:txBody>
      </p:sp>
      <p:sp>
        <p:nvSpPr>
          <p:cNvPr id="51" name="文本框 50"/>
          <p:cNvSpPr txBox="1"/>
          <p:nvPr/>
        </p:nvSpPr>
        <p:spPr>
          <a:xfrm>
            <a:off x="1072021" y="1793540"/>
            <a:ext cx="612515" cy="584775"/>
          </a:xfrm>
          <a:prstGeom prst="rect">
            <a:avLst/>
          </a:prstGeom>
          <a:noFill/>
        </p:spPr>
        <p:txBody>
          <a:bodyPr wrap="square" rtlCol="0">
            <a:spAutoFit/>
          </a:bodyPr>
          <a:lstStyle/>
          <a:p>
            <a:r>
              <a:rPr lang="en-US" altLang="zh-CN" sz="3200" b="1" dirty="0">
                <a:solidFill>
                  <a:srgbClr val="FF0000"/>
                </a:solidFill>
              </a:rPr>
              <a:t>D</a:t>
            </a:r>
            <a:r>
              <a:rPr lang="en-US" altLang="zh-CN" sz="3200" b="1" baseline="-25000" dirty="0">
                <a:solidFill>
                  <a:srgbClr val="FF0000"/>
                </a:solidFill>
              </a:rPr>
              <a:t>0</a:t>
            </a:r>
            <a:endParaRPr lang="zh-CN" altLang="en-US" sz="3200" b="1" baseline="-25000" dirty="0">
              <a:solidFill>
                <a:srgbClr val="FF0000"/>
              </a:solidFill>
            </a:endParaRPr>
          </a:p>
        </p:txBody>
      </p:sp>
      <p:sp>
        <p:nvSpPr>
          <p:cNvPr id="11" name="文本框 10"/>
          <p:cNvSpPr txBox="1"/>
          <p:nvPr/>
        </p:nvSpPr>
        <p:spPr>
          <a:xfrm>
            <a:off x="6844302" y="1228465"/>
            <a:ext cx="2123685" cy="954107"/>
          </a:xfrm>
          <a:prstGeom prst="rect">
            <a:avLst/>
          </a:prstGeom>
          <a:noFill/>
          <a:ln>
            <a:solidFill>
              <a:srgbClr val="0000FF"/>
            </a:solidFill>
          </a:ln>
        </p:spPr>
        <p:txBody>
          <a:bodyPr wrap="square" rtlCol="0">
            <a:spAutoFit/>
          </a:bodyPr>
          <a:lstStyle/>
          <a:p>
            <a:r>
              <a:rPr lang="zh-CN" altLang="en-US" sz="2800" b="1" dirty="0">
                <a:solidFill>
                  <a:srgbClr val="C00000"/>
                </a:solidFill>
              </a:rPr>
              <a:t>在时钟上升沿锁存数据</a:t>
            </a:r>
            <a:endParaRPr lang="zh-CN" altLang="en-US" sz="28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500"/>
                                        <p:tgtEl>
                                          <p:spTgt spid="4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circle(in)">
                                      <p:cBhvr>
                                        <p:cTn id="36" dur="20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500"/>
                                        <p:tgtEl>
                                          <p:spTgt spid="5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500"/>
                                        <p:tgtEl>
                                          <p:spTgt spid="4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circle(in)">
                                      <p:cBhvr>
                                        <p:cTn id="5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9" grpId="0"/>
      <p:bldP spid="40" grpId="0"/>
      <p:bldP spid="4" grpId="0"/>
      <p:bldP spid="42" grpId="0"/>
      <p:bldP spid="43" grpId="0"/>
      <p:bldP spid="44" grpId="0"/>
      <p:bldP spid="48" grpId="0"/>
      <p:bldP spid="49" grpId="0"/>
      <p:bldP spid="50" grpId="0"/>
      <p:bldP spid="51" grpId="0"/>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基本寄存器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145321" y="617009"/>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二、集成的基本寄存器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35" name="文本框 34"/>
          <p:cNvSpPr txBox="1"/>
          <p:nvPr/>
        </p:nvSpPr>
        <p:spPr>
          <a:xfrm>
            <a:off x="153029" y="1235119"/>
            <a:ext cx="7193405" cy="523220"/>
          </a:xfrm>
          <a:prstGeom prst="rect">
            <a:avLst/>
          </a:prstGeom>
          <a:noFill/>
        </p:spPr>
        <p:txBody>
          <a:bodyPr wrap="square" rtlCol="0">
            <a:spAutoFit/>
          </a:bodyPr>
          <a:lstStyle/>
          <a:p>
            <a:r>
              <a:rPr lang="en-US" altLang="zh-CN" sz="2800" b="1" dirty="0">
                <a:solidFill>
                  <a:srgbClr val="0000FF"/>
                </a:solidFill>
              </a:rPr>
              <a:t>2. </a:t>
            </a:r>
            <a:r>
              <a:rPr lang="zh-CN" altLang="en-US" sz="2800" b="1" dirty="0">
                <a:solidFill>
                  <a:srgbClr val="0000FF"/>
                </a:solidFill>
              </a:rPr>
              <a:t>具有输入使能功能的锁存型寄存器</a:t>
            </a:r>
            <a:endParaRPr lang="zh-CN" altLang="en-US" sz="2800" b="1" dirty="0">
              <a:solidFill>
                <a:srgbClr val="0000FF"/>
              </a:solidFill>
            </a:endParaRPr>
          </a:p>
        </p:txBody>
      </p:sp>
      <p:pic>
        <p:nvPicPr>
          <p:cNvPr id="36" name="Picture 5" descr="5-5-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177" y="1955663"/>
            <a:ext cx="7149653" cy="455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7302073" y="3862130"/>
            <a:ext cx="1207534" cy="461665"/>
          </a:xfrm>
          <a:prstGeom prst="rect">
            <a:avLst/>
          </a:prstGeom>
          <a:noFill/>
        </p:spPr>
        <p:txBody>
          <a:bodyPr wrap="square" rtlCol="0">
            <a:spAutoFit/>
          </a:bodyPr>
          <a:lstStyle/>
          <a:p>
            <a:r>
              <a:rPr lang="zh-CN" altLang="en-US" sz="2400" b="1" dirty="0">
                <a:solidFill>
                  <a:srgbClr val="FF0000"/>
                </a:solidFill>
              </a:rPr>
              <a:t>清零端</a:t>
            </a:r>
            <a:endParaRPr lang="zh-CN" altLang="en-US" sz="2400" b="1" dirty="0">
              <a:solidFill>
                <a:srgbClr val="FF0000"/>
              </a:solidFill>
            </a:endParaRPr>
          </a:p>
        </p:txBody>
      </p:sp>
      <p:sp>
        <p:nvSpPr>
          <p:cNvPr id="37" name="文本框 36"/>
          <p:cNvSpPr txBox="1"/>
          <p:nvPr/>
        </p:nvSpPr>
        <p:spPr>
          <a:xfrm>
            <a:off x="7302072" y="4521119"/>
            <a:ext cx="1786509" cy="830997"/>
          </a:xfrm>
          <a:prstGeom prst="rect">
            <a:avLst/>
          </a:prstGeom>
          <a:noFill/>
        </p:spPr>
        <p:txBody>
          <a:bodyPr wrap="square" rtlCol="0">
            <a:spAutoFit/>
          </a:bodyPr>
          <a:lstStyle/>
          <a:p>
            <a:r>
              <a:rPr lang="zh-CN" altLang="en-US" sz="2400" b="1" dirty="0">
                <a:solidFill>
                  <a:srgbClr val="FF0000"/>
                </a:solidFill>
              </a:rPr>
              <a:t>锁存控制端（使能端）</a:t>
            </a:r>
            <a:endParaRPr lang="zh-CN" altLang="en-US" sz="2400" b="1" dirty="0">
              <a:solidFill>
                <a:srgbClr val="FF0000"/>
              </a:solidFill>
            </a:endParaRPr>
          </a:p>
        </p:txBody>
      </p:sp>
      <p:sp>
        <p:nvSpPr>
          <p:cNvPr id="3" name="文本框 2"/>
          <p:cNvSpPr txBox="1"/>
          <p:nvPr/>
        </p:nvSpPr>
        <p:spPr>
          <a:xfrm>
            <a:off x="6602056" y="3831352"/>
            <a:ext cx="315008" cy="584775"/>
          </a:xfrm>
          <a:prstGeom prst="rect">
            <a:avLst/>
          </a:prstGeom>
          <a:noFill/>
        </p:spPr>
        <p:txBody>
          <a:bodyPr wrap="square" rtlCol="0">
            <a:spAutoFit/>
          </a:bodyPr>
          <a:lstStyle/>
          <a:p>
            <a:r>
              <a:rPr lang="en-US" altLang="zh-CN" sz="3200" b="1" dirty="0">
                <a:solidFill>
                  <a:srgbClr val="FF0000"/>
                </a:solidFill>
              </a:rPr>
              <a:t>1</a:t>
            </a:r>
            <a:endParaRPr lang="zh-CN" altLang="en-US" sz="3200" b="1" dirty="0">
              <a:solidFill>
                <a:srgbClr val="FF0000"/>
              </a:solidFill>
            </a:endParaRPr>
          </a:p>
        </p:txBody>
      </p:sp>
      <p:sp>
        <p:nvSpPr>
          <p:cNvPr id="39" name="文本框 38"/>
          <p:cNvSpPr txBox="1"/>
          <p:nvPr/>
        </p:nvSpPr>
        <p:spPr>
          <a:xfrm>
            <a:off x="6798207" y="4739928"/>
            <a:ext cx="315008" cy="584775"/>
          </a:xfrm>
          <a:prstGeom prst="rect">
            <a:avLst/>
          </a:prstGeom>
          <a:noFill/>
        </p:spPr>
        <p:txBody>
          <a:bodyPr wrap="square" rtlCol="0">
            <a:spAutoFit/>
          </a:bodyPr>
          <a:lstStyle/>
          <a:p>
            <a:r>
              <a:rPr lang="en-US" altLang="zh-CN" sz="3200" b="1" dirty="0">
                <a:solidFill>
                  <a:srgbClr val="170A8E"/>
                </a:solidFill>
              </a:rPr>
              <a:t>1</a:t>
            </a:r>
            <a:endParaRPr lang="zh-CN" altLang="en-US" sz="3200" b="1" dirty="0">
              <a:solidFill>
                <a:srgbClr val="170A8E"/>
              </a:solidFill>
            </a:endParaRPr>
          </a:p>
        </p:txBody>
      </p:sp>
      <p:sp>
        <p:nvSpPr>
          <p:cNvPr id="40" name="文本框 39"/>
          <p:cNvSpPr txBox="1"/>
          <p:nvPr/>
        </p:nvSpPr>
        <p:spPr>
          <a:xfrm>
            <a:off x="6413196" y="5820205"/>
            <a:ext cx="315008" cy="584775"/>
          </a:xfrm>
          <a:prstGeom prst="rect">
            <a:avLst/>
          </a:prstGeom>
          <a:noFill/>
        </p:spPr>
        <p:txBody>
          <a:bodyPr wrap="square" rtlCol="0">
            <a:spAutoFit/>
          </a:bodyPr>
          <a:lstStyle/>
          <a:p>
            <a:r>
              <a:rPr lang="en-US" altLang="zh-CN" sz="3200" b="1" dirty="0">
                <a:solidFill>
                  <a:srgbClr val="170A8E"/>
                </a:solidFill>
              </a:rPr>
              <a:t>0</a:t>
            </a:r>
            <a:endParaRPr lang="zh-CN" altLang="en-US" sz="3200" b="1" dirty="0">
              <a:solidFill>
                <a:srgbClr val="170A8E"/>
              </a:solidFill>
            </a:endParaRPr>
          </a:p>
        </p:txBody>
      </p:sp>
      <p:sp>
        <p:nvSpPr>
          <p:cNvPr id="4" name="文本框 3"/>
          <p:cNvSpPr txBox="1"/>
          <p:nvPr/>
        </p:nvSpPr>
        <p:spPr>
          <a:xfrm>
            <a:off x="5613279" y="3560484"/>
            <a:ext cx="721888"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3</a:t>
            </a:r>
            <a:endParaRPr lang="zh-CN" altLang="en-US" sz="3200" b="1" baseline="-25000" dirty="0">
              <a:solidFill>
                <a:srgbClr val="FF0000"/>
              </a:solidFill>
            </a:endParaRPr>
          </a:p>
        </p:txBody>
      </p:sp>
      <p:sp>
        <p:nvSpPr>
          <p:cNvPr id="42" name="文本框 41"/>
          <p:cNvSpPr txBox="1"/>
          <p:nvPr/>
        </p:nvSpPr>
        <p:spPr>
          <a:xfrm>
            <a:off x="4055741" y="3560484"/>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2</a:t>
            </a:r>
            <a:endParaRPr lang="zh-CN" altLang="en-US" sz="3200" b="1" baseline="-25000" dirty="0">
              <a:solidFill>
                <a:srgbClr val="FF0000"/>
              </a:solidFill>
            </a:endParaRPr>
          </a:p>
        </p:txBody>
      </p:sp>
      <p:sp>
        <p:nvSpPr>
          <p:cNvPr id="43" name="文本框 42"/>
          <p:cNvSpPr txBox="1"/>
          <p:nvPr/>
        </p:nvSpPr>
        <p:spPr>
          <a:xfrm>
            <a:off x="2385382" y="3560484"/>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1</a:t>
            </a:r>
            <a:endParaRPr lang="zh-CN" altLang="en-US" sz="3200" b="1" baseline="-25000" dirty="0">
              <a:solidFill>
                <a:srgbClr val="FF0000"/>
              </a:solidFill>
            </a:endParaRPr>
          </a:p>
        </p:txBody>
      </p:sp>
      <p:sp>
        <p:nvSpPr>
          <p:cNvPr id="44" name="文本框 43"/>
          <p:cNvSpPr txBox="1"/>
          <p:nvPr/>
        </p:nvSpPr>
        <p:spPr>
          <a:xfrm>
            <a:off x="765764" y="3591262"/>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0</a:t>
            </a:r>
            <a:endParaRPr lang="zh-CN" altLang="en-US" sz="3200" b="1" baseline="-25000" dirty="0">
              <a:solidFill>
                <a:srgbClr val="FF0000"/>
              </a:solidFill>
            </a:endParaRPr>
          </a:p>
        </p:txBody>
      </p:sp>
      <p:cxnSp>
        <p:nvCxnSpPr>
          <p:cNvPr id="7" name="直接箭头连接符 6"/>
          <p:cNvCxnSpPr/>
          <p:nvPr/>
        </p:nvCxnSpPr>
        <p:spPr>
          <a:xfrm flipV="1">
            <a:off x="6570700" y="3189463"/>
            <a:ext cx="0" cy="455012"/>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5963290" y="1762762"/>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3</a:t>
            </a:r>
            <a:endParaRPr lang="zh-CN" altLang="en-US" sz="3200" b="1" baseline="-25000" dirty="0">
              <a:solidFill>
                <a:srgbClr val="FF0000"/>
              </a:solidFill>
            </a:endParaRPr>
          </a:p>
        </p:txBody>
      </p:sp>
      <p:sp>
        <p:nvSpPr>
          <p:cNvPr id="49" name="文本框 48"/>
          <p:cNvSpPr txBox="1"/>
          <p:nvPr/>
        </p:nvSpPr>
        <p:spPr>
          <a:xfrm>
            <a:off x="4361998" y="1762762"/>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2</a:t>
            </a:r>
            <a:endParaRPr lang="zh-CN" altLang="en-US" sz="3200" b="1" baseline="-25000" dirty="0">
              <a:solidFill>
                <a:srgbClr val="FF0000"/>
              </a:solidFill>
            </a:endParaRPr>
          </a:p>
        </p:txBody>
      </p:sp>
      <p:sp>
        <p:nvSpPr>
          <p:cNvPr id="50" name="文本框 49"/>
          <p:cNvSpPr txBox="1"/>
          <p:nvPr/>
        </p:nvSpPr>
        <p:spPr>
          <a:xfrm>
            <a:off x="2691639" y="1750703"/>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1</a:t>
            </a:r>
            <a:endParaRPr lang="zh-CN" altLang="en-US" sz="3200" b="1" baseline="-25000" dirty="0">
              <a:solidFill>
                <a:srgbClr val="FF0000"/>
              </a:solidFill>
            </a:endParaRPr>
          </a:p>
        </p:txBody>
      </p:sp>
      <p:sp>
        <p:nvSpPr>
          <p:cNvPr id="51" name="文本框 50"/>
          <p:cNvSpPr txBox="1"/>
          <p:nvPr/>
        </p:nvSpPr>
        <p:spPr>
          <a:xfrm>
            <a:off x="1072021" y="1781481"/>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0</a:t>
            </a:r>
            <a:endParaRPr lang="zh-CN" altLang="en-US" sz="3200" b="1" baseline="-25000" dirty="0">
              <a:solidFill>
                <a:srgbClr val="FF0000"/>
              </a:solidFill>
            </a:endParaRPr>
          </a:p>
        </p:txBody>
      </p:sp>
      <p:sp>
        <p:nvSpPr>
          <p:cNvPr id="23" name="文本框 22"/>
          <p:cNvSpPr txBox="1"/>
          <p:nvPr/>
        </p:nvSpPr>
        <p:spPr>
          <a:xfrm>
            <a:off x="4979714" y="4640409"/>
            <a:ext cx="721888"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3</a:t>
            </a:r>
            <a:endParaRPr lang="zh-CN" altLang="en-US" sz="3200" b="1" baseline="-25000" dirty="0">
              <a:solidFill>
                <a:srgbClr val="FF0000"/>
              </a:solidFill>
            </a:endParaRPr>
          </a:p>
        </p:txBody>
      </p:sp>
      <p:sp>
        <p:nvSpPr>
          <p:cNvPr id="24" name="文本框 23"/>
          <p:cNvSpPr txBox="1"/>
          <p:nvPr/>
        </p:nvSpPr>
        <p:spPr>
          <a:xfrm>
            <a:off x="3422176" y="4640409"/>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2</a:t>
            </a:r>
            <a:endParaRPr lang="zh-CN" altLang="en-US" sz="3200" b="1" baseline="-25000" dirty="0">
              <a:solidFill>
                <a:srgbClr val="FF0000"/>
              </a:solidFill>
            </a:endParaRPr>
          </a:p>
        </p:txBody>
      </p:sp>
      <p:sp>
        <p:nvSpPr>
          <p:cNvPr id="25" name="文本框 24"/>
          <p:cNvSpPr txBox="1"/>
          <p:nvPr/>
        </p:nvSpPr>
        <p:spPr>
          <a:xfrm>
            <a:off x="1751817" y="4640409"/>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1</a:t>
            </a:r>
            <a:endParaRPr lang="zh-CN" altLang="en-US" sz="3200" b="1" baseline="-25000" dirty="0">
              <a:solidFill>
                <a:srgbClr val="FF0000"/>
              </a:solidFill>
            </a:endParaRPr>
          </a:p>
        </p:txBody>
      </p:sp>
      <p:sp>
        <p:nvSpPr>
          <p:cNvPr id="26" name="文本框 25"/>
          <p:cNvSpPr txBox="1"/>
          <p:nvPr/>
        </p:nvSpPr>
        <p:spPr>
          <a:xfrm>
            <a:off x="132199" y="4671187"/>
            <a:ext cx="612515" cy="584775"/>
          </a:xfrm>
          <a:prstGeom prst="rect">
            <a:avLst/>
          </a:prstGeom>
          <a:noFill/>
        </p:spPr>
        <p:txBody>
          <a:bodyPr wrap="square" rtlCol="0">
            <a:spAutoFit/>
          </a:bodyPr>
          <a:lstStyle/>
          <a:p>
            <a:r>
              <a:rPr lang="en-US" altLang="zh-CN" sz="3200" b="1" dirty="0">
                <a:solidFill>
                  <a:srgbClr val="FF0000"/>
                </a:solidFill>
              </a:rPr>
              <a:t>Q</a:t>
            </a:r>
            <a:r>
              <a:rPr lang="en-US" altLang="zh-CN" sz="3200" b="1" baseline="-25000" dirty="0">
                <a:solidFill>
                  <a:srgbClr val="FF0000"/>
                </a:solidFill>
              </a:rPr>
              <a:t>0</a:t>
            </a:r>
            <a:endParaRPr lang="zh-CN" altLang="en-US" sz="3200" b="1" baseline="-25000" dirty="0">
              <a:solidFill>
                <a:srgbClr val="FF0000"/>
              </a:solidFill>
            </a:endParaRPr>
          </a:p>
        </p:txBody>
      </p:sp>
      <p:sp>
        <p:nvSpPr>
          <p:cNvPr id="27" name="文本框 26"/>
          <p:cNvSpPr txBox="1"/>
          <p:nvPr/>
        </p:nvSpPr>
        <p:spPr>
          <a:xfrm>
            <a:off x="6844303" y="1228465"/>
            <a:ext cx="1623406" cy="523220"/>
          </a:xfrm>
          <a:prstGeom prst="rect">
            <a:avLst/>
          </a:prstGeom>
          <a:noFill/>
          <a:ln>
            <a:solidFill>
              <a:srgbClr val="0000FF"/>
            </a:solidFill>
          </a:ln>
        </p:spPr>
        <p:txBody>
          <a:bodyPr wrap="square" rtlCol="0">
            <a:spAutoFit/>
          </a:bodyPr>
          <a:lstStyle/>
          <a:p>
            <a:r>
              <a:rPr lang="zh-CN" altLang="en-US" sz="2800" b="1" dirty="0">
                <a:solidFill>
                  <a:srgbClr val="C00000"/>
                </a:solidFill>
              </a:rPr>
              <a:t>保存数据</a:t>
            </a:r>
            <a:endParaRPr lang="zh-CN" altLang="en-US" sz="28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circle(in)">
                                      <p:cBhvr>
                                        <p:cTn id="45" dur="20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500"/>
                                        <p:tgtEl>
                                          <p:spTgt spid="5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fade">
                                      <p:cBhvr>
                                        <p:cTn id="53" dur="500"/>
                                        <p:tgtEl>
                                          <p:spTgt spid="5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cTn>
                              </p:par>
                            </p:childTnLst>
                          </p:cTn>
                        </p:par>
                      </p:childTnLst>
                    </p:cTn>
                  </p:par>
                  <p:par>
                    <p:cTn id="60" fill="hold">
                      <p:stCondLst>
                        <p:cond delay="indefinite"/>
                      </p:stCondLst>
                      <p:childTnLst>
                        <p:par>
                          <p:cTn id="61" fill="hold">
                            <p:stCondLst>
                              <p:cond delay="0"/>
                            </p:stCondLst>
                            <p:childTnLst>
                              <p:par>
                                <p:cTn id="62" presetID="6" presetClass="entr" presetSubtype="16"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circle(in)">
                                      <p:cBhvr>
                                        <p:cTn id="64"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 grpId="0"/>
      <p:bldP spid="42" grpId="0"/>
      <p:bldP spid="43" grpId="0"/>
      <p:bldP spid="44" grpId="0"/>
      <p:bldP spid="48" grpId="0"/>
      <p:bldP spid="49" grpId="0"/>
      <p:bldP spid="50" grpId="0"/>
      <p:bldP spid="51" grpId="0"/>
      <p:bldP spid="23" grpId="0"/>
      <p:bldP spid="24" grpId="0"/>
      <p:bldP spid="25" grpId="0"/>
      <p:bldP spid="26" grpId="0"/>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基本寄存器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145321" y="617009"/>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二、集成的基本寄存器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35" name="文本框 34"/>
          <p:cNvSpPr txBox="1"/>
          <p:nvPr/>
        </p:nvSpPr>
        <p:spPr>
          <a:xfrm>
            <a:off x="145321" y="1321862"/>
            <a:ext cx="7193405" cy="523220"/>
          </a:xfrm>
          <a:prstGeom prst="rect">
            <a:avLst/>
          </a:prstGeom>
          <a:noFill/>
        </p:spPr>
        <p:txBody>
          <a:bodyPr wrap="square" rtlCol="0">
            <a:spAutoFit/>
          </a:bodyPr>
          <a:lstStyle/>
          <a:p>
            <a:r>
              <a:rPr lang="en-US" altLang="zh-CN" sz="2800" b="1" dirty="0">
                <a:solidFill>
                  <a:srgbClr val="0000FF"/>
                </a:solidFill>
              </a:rPr>
              <a:t>2. </a:t>
            </a:r>
            <a:r>
              <a:rPr lang="zh-CN" altLang="en-US" sz="2800" b="1" dirty="0">
                <a:solidFill>
                  <a:srgbClr val="0000FF"/>
                </a:solidFill>
              </a:rPr>
              <a:t>具有输入使能功能的锁存型寄存器</a:t>
            </a:r>
            <a:endParaRPr lang="zh-CN" altLang="en-US" sz="2800" b="1" dirty="0">
              <a:solidFill>
                <a:srgbClr val="0000FF"/>
              </a:solidFill>
            </a:endParaRPr>
          </a:p>
        </p:txBody>
      </p:sp>
      <p:grpSp>
        <p:nvGrpSpPr>
          <p:cNvPr id="27" name="Group 6"/>
          <p:cNvGrpSpPr/>
          <p:nvPr/>
        </p:nvGrpSpPr>
        <p:grpSpPr bwMode="auto">
          <a:xfrm>
            <a:off x="52388" y="2435180"/>
            <a:ext cx="9039225" cy="3187700"/>
            <a:chOff x="165" y="715"/>
            <a:chExt cx="5694" cy="2008"/>
          </a:xfrm>
        </p:grpSpPr>
        <p:sp>
          <p:nvSpPr>
            <p:cNvPr id="28" name="Rectangle 4"/>
            <p:cNvSpPr>
              <a:spLocks noChangeArrowheads="1"/>
            </p:cNvSpPr>
            <p:nvPr/>
          </p:nvSpPr>
          <p:spPr bwMode="auto">
            <a:xfrm>
              <a:off x="1209" y="715"/>
              <a:ext cx="3297" cy="3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lnSpc>
                  <a:spcPct val="130000"/>
                </a:lnSpc>
                <a:spcBef>
                  <a:spcPct val="20000"/>
                </a:spcBef>
              </a:pPr>
              <a:r>
                <a:rPr lang="zh-CN" altLang="en-US" sz="2800" dirty="0">
                  <a:solidFill>
                    <a:srgbClr val="C00000"/>
                  </a:solidFill>
                  <a:latin typeface="黑体" panose="02010609060101010101" pitchFamily="49" charset="-122"/>
                  <a:ea typeface="黑体" panose="02010609060101010101" pitchFamily="49" charset="-122"/>
                </a:rPr>
                <a:t>具有锁存功能的寄存器的功能表</a:t>
              </a:r>
              <a:endParaRPr lang="zh-CN" altLang="en-US" sz="2800" dirty="0">
                <a:solidFill>
                  <a:srgbClr val="C00000"/>
                </a:solidFill>
                <a:latin typeface="黑体" panose="02010609060101010101" pitchFamily="49" charset="-122"/>
                <a:ea typeface="黑体" panose="02010609060101010101" pitchFamily="49" charset="-122"/>
              </a:endParaRPr>
            </a:p>
          </p:txBody>
        </p:sp>
        <p:pic>
          <p:nvPicPr>
            <p:cNvPr id="29" name="Picture 5" descr="B5-5-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 y="1143"/>
              <a:ext cx="5694" cy="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基本寄存器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145321" y="617009"/>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二、集成的基本寄存器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35" name="文本框 34"/>
          <p:cNvSpPr txBox="1"/>
          <p:nvPr/>
        </p:nvSpPr>
        <p:spPr>
          <a:xfrm>
            <a:off x="145321" y="1210166"/>
            <a:ext cx="7193405" cy="523220"/>
          </a:xfrm>
          <a:prstGeom prst="rect">
            <a:avLst/>
          </a:prstGeom>
          <a:noFill/>
        </p:spPr>
        <p:txBody>
          <a:bodyPr wrap="square" rtlCol="0">
            <a:spAutoFit/>
          </a:bodyPr>
          <a:lstStyle/>
          <a:p>
            <a:r>
              <a:rPr lang="en-US" altLang="zh-CN" sz="2800" b="1" dirty="0">
                <a:solidFill>
                  <a:srgbClr val="0000FF"/>
                </a:solidFill>
              </a:rPr>
              <a:t>3. </a:t>
            </a:r>
            <a:r>
              <a:rPr lang="zh-CN" altLang="en-US" sz="2800" b="1" dirty="0">
                <a:solidFill>
                  <a:srgbClr val="0000FF"/>
                </a:solidFill>
              </a:rPr>
              <a:t>具有输出缓冲功能的寄存器</a:t>
            </a:r>
            <a:endParaRPr lang="zh-CN" altLang="en-US" sz="2800" b="1" dirty="0">
              <a:solidFill>
                <a:srgbClr val="0000FF"/>
              </a:solidFill>
            </a:endParaRPr>
          </a:p>
        </p:txBody>
      </p:sp>
      <p:pic>
        <p:nvPicPr>
          <p:cNvPr id="2" name="图片 1"/>
          <p:cNvPicPr>
            <a:picLocks noChangeAspect="1"/>
          </p:cNvPicPr>
          <p:nvPr/>
        </p:nvPicPr>
        <p:blipFill>
          <a:blip r:embed="rId2"/>
          <a:stretch>
            <a:fillRect/>
          </a:stretch>
        </p:blipFill>
        <p:spPr>
          <a:xfrm>
            <a:off x="357624" y="1665450"/>
            <a:ext cx="6768798" cy="5169392"/>
          </a:xfrm>
          <a:prstGeom prst="rect">
            <a:avLst/>
          </a:prstGeom>
        </p:spPr>
      </p:pic>
      <p:sp>
        <p:nvSpPr>
          <p:cNvPr id="12" name="文本框 11"/>
          <p:cNvSpPr txBox="1"/>
          <p:nvPr/>
        </p:nvSpPr>
        <p:spPr>
          <a:xfrm>
            <a:off x="7190591" y="1932777"/>
            <a:ext cx="1497022" cy="830997"/>
          </a:xfrm>
          <a:prstGeom prst="rect">
            <a:avLst/>
          </a:prstGeom>
          <a:noFill/>
        </p:spPr>
        <p:txBody>
          <a:bodyPr wrap="square" rtlCol="0">
            <a:spAutoFit/>
          </a:bodyPr>
          <a:lstStyle/>
          <a:p>
            <a:r>
              <a:rPr lang="zh-CN" altLang="en-US" sz="2400" b="1" dirty="0">
                <a:solidFill>
                  <a:srgbClr val="FF0000"/>
                </a:solidFill>
              </a:rPr>
              <a:t>三态门输出控制端</a:t>
            </a:r>
            <a:endParaRPr lang="zh-CN" altLang="en-US" sz="2400" b="1" dirty="0">
              <a:solidFill>
                <a:srgbClr val="FF0000"/>
              </a:solidFill>
            </a:endParaRPr>
          </a:p>
        </p:txBody>
      </p:sp>
      <p:cxnSp>
        <p:nvCxnSpPr>
          <p:cNvPr id="4" name="直接连接符 3"/>
          <p:cNvCxnSpPr/>
          <p:nvPr/>
        </p:nvCxnSpPr>
        <p:spPr>
          <a:xfrm>
            <a:off x="155723" y="2763256"/>
            <a:ext cx="7183003" cy="0"/>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7" name="右大括号 6"/>
          <p:cNvSpPr/>
          <p:nvPr/>
        </p:nvSpPr>
        <p:spPr>
          <a:xfrm>
            <a:off x="7126422" y="2875552"/>
            <a:ext cx="336884" cy="3890210"/>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
        <p:nvSpPr>
          <p:cNvPr id="18" name="文本框 17"/>
          <p:cNvSpPr txBox="1"/>
          <p:nvPr/>
        </p:nvSpPr>
        <p:spPr>
          <a:xfrm>
            <a:off x="7463306" y="4405158"/>
            <a:ext cx="1287662" cy="830997"/>
          </a:xfrm>
          <a:prstGeom prst="rect">
            <a:avLst/>
          </a:prstGeom>
          <a:noFill/>
        </p:spPr>
        <p:txBody>
          <a:bodyPr wrap="square" rtlCol="0">
            <a:spAutoFit/>
          </a:bodyPr>
          <a:lstStyle/>
          <a:p>
            <a:r>
              <a:rPr lang="zh-CN" altLang="en-US" sz="2400" b="1" dirty="0">
                <a:solidFill>
                  <a:srgbClr val="0000FF"/>
                </a:solidFill>
              </a:rPr>
              <a:t>锁存型寄存器</a:t>
            </a:r>
            <a:endParaRPr lang="zh-CN" altLang="en-US" sz="2400" b="1" dirty="0">
              <a:solidFill>
                <a:srgbClr val="0000FF"/>
              </a:solidFill>
            </a:endParaRPr>
          </a:p>
        </p:txBody>
      </p:sp>
      <p:grpSp>
        <p:nvGrpSpPr>
          <p:cNvPr id="15" name="组合 14"/>
          <p:cNvGrpSpPr/>
          <p:nvPr/>
        </p:nvGrpSpPr>
        <p:grpSpPr>
          <a:xfrm>
            <a:off x="5975401" y="570418"/>
            <a:ext cx="2975810" cy="1384995"/>
            <a:chOff x="5975401" y="570418"/>
            <a:chExt cx="2975810" cy="1384995"/>
          </a:xfrm>
        </p:grpSpPr>
        <p:sp>
          <p:nvSpPr>
            <p:cNvPr id="8" name="文本框 7"/>
            <p:cNvSpPr txBox="1"/>
            <p:nvPr/>
          </p:nvSpPr>
          <p:spPr>
            <a:xfrm>
              <a:off x="5975401" y="570418"/>
              <a:ext cx="2975810" cy="1384995"/>
            </a:xfrm>
            <a:prstGeom prst="rect">
              <a:avLst/>
            </a:prstGeom>
            <a:noFill/>
            <a:ln>
              <a:solidFill>
                <a:srgbClr val="FF0000"/>
              </a:solidFill>
            </a:ln>
          </p:spPr>
          <p:txBody>
            <a:bodyPr wrap="square" rtlCol="0">
              <a:spAutoFit/>
            </a:bodyPr>
            <a:lstStyle/>
            <a:p>
              <a:r>
                <a:rPr lang="zh-CN" altLang="en-US" sz="2800" b="1" dirty="0">
                  <a:solidFill>
                    <a:prstClr val="black"/>
                  </a:solidFill>
                </a:rPr>
                <a:t>当</a:t>
              </a:r>
              <a:r>
                <a:rPr lang="en-US" altLang="zh-CN" sz="2800" b="1" dirty="0">
                  <a:solidFill>
                    <a:prstClr val="black"/>
                  </a:solidFill>
                </a:rPr>
                <a:t>OE=0</a:t>
              </a:r>
              <a:r>
                <a:rPr lang="zh-CN" altLang="en-US" sz="2800" b="1" dirty="0">
                  <a:solidFill>
                    <a:prstClr val="black"/>
                  </a:solidFill>
                </a:rPr>
                <a:t>时，锁存在触发器的数据才会传到输出端</a:t>
              </a:r>
              <a:endParaRPr lang="zh-CN" altLang="en-US" sz="2800" b="1" dirty="0">
                <a:solidFill>
                  <a:prstClr val="black"/>
                </a:solidFill>
              </a:endParaRPr>
            </a:p>
          </p:txBody>
        </p:sp>
        <p:cxnSp>
          <p:nvCxnSpPr>
            <p:cNvPr id="5" name="直接连接符 4"/>
            <p:cNvCxnSpPr/>
            <p:nvPr/>
          </p:nvCxnSpPr>
          <p:spPr>
            <a:xfrm>
              <a:off x="6440176" y="686895"/>
              <a:ext cx="393761"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ircle(in)">
                                      <p:cBhvr>
                                        <p:cTn id="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35" name="AutoShape 3"/>
          <p:cNvSpPr>
            <a:spLocks noChangeArrowheads="1"/>
          </p:cNvSpPr>
          <p:nvPr/>
        </p:nvSpPr>
        <p:spPr bwMode="auto">
          <a:xfrm>
            <a:off x="2308141" y="4824913"/>
            <a:ext cx="461962" cy="317500"/>
          </a:xfrm>
          <a:prstGeom prst="leftArrow">
            <a:avLst>
              <a:gd name="adj1" fmla="val 50000"/>
              <a:gd name="adj2" fmla="val 36375"/>
            </a:avLst>
          </a:prstGeom>
          <a:solidFill>
            <a:srgbClr val="3333FF"/>
          </a:solidFill>
          <a:ln w="38100">
            <a:solidFill>
              <a:srgbClr val="3333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6" name="AutoShape 4"/>
          <p:cNvSpPr>
            <a:spLocks noChangeArrowheads="1"/>
          </p:cNvSpPr>
          <p:nvPr/>
        </p:nvSpPr>
        <p:spPr bwMode="auto">
          <a:xfrm>
            <a:off x="688891" y="4820150"/>
            <a:ext cx="461962" cy="317500"/>
          </a:xfrm>
          <a:prstGeom prst="leftArrow">
            <a:avLst>
              <a:gd name="adj1" fmla="val 50000"/>
              <a:gd name="adj2" fmla="val 36375"/>
            </a:avLst>
          </a:prstGeom>
          <a:solidFill>
            <a:srgbClr val="3333FF"/>
          </a:solidFill>
          <a:ln w="38100">
            <a:solidFill>
              <a:srgbClr val="3333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grpSp>
        <p:nvGrpSpPr>
          <p:cNvPr id="37" name="Group 5"/>
          <p:cNvGrpSpPr/>
          <p:nvPr/>
        </p:nvGrpSpPr>
        <p:grpSpPr bwMode="auto">
          <a:xfrm>
            <a:off x="1155616" y="4310563"/>
            <a:ext cx="1168400" cy="1793875"/>
            <a:chOff x="966" y="2416"/>
            <a:chExt cx="736" cy="1608"/>
          </a:xfrm>
        </p:grpSpPr>
        <p:sp>
          <p:nvSpPr>
            <p:cNvPr id="38" name="Rectangle 6"/>
            <p:cNvSpPr>
              <a:spLocks noChangeArrowheads="1"/>
            </p:cNvSpPr>
            <p:nvPr/>
          </p:nvSpPr>
          <p:spPr bwMode="auto">
            <a:xfrm>
              <a:off x="966" y="2416"/>
              <a:ext cx="709" cy="1145"/>
            </a:xfrm>
            <a:prstGeom prst="rect">
              <a:avLst/>
            </a:prstGeom>
            <a:solidFill>
              <a:schemeClr val="bg1"/>
            </a:solidFill>
            <a:ln w="38100">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9" name="Text Box 7"/>
            <p:cNvSpPr txBox="1">
              <a:spLocks noChangeArrowheads="1"/>
            </p:cNvSpPr>
            <p:nvPr/>
          </p:nvSpPr>
          <p:spPr bwMode="auto">
            <a:xfrm>
              <a:off x="966" y="2999"/>
              <a:ext cx="736" cy="4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0000FF"/>
                  </a:solidFill>
                  <a:latin typeface="Times New Roman" panose="02020603050405020304" pitchFamily="18" charset="0"/>
                  <a:ea typeface="黑体" panose="02010609060101010101" pitchFamily="49" charset="-122"/>
                </a:rPr>
                <a:t>寄存器</a:t>
              </a:r>
              <a:endParaRPr kumimoji="1" lang="zh-CN" altLang="en-US" sz="2400" b="1">
                <a:solidFill>
                  <a:srgbClr val="0000FF"/>
                </a:solidFill>
                <a:latin typeface="Times New Roman" panose="02020603050405020304" pitchFamily="18" charset="0"/>
                <a:ea typeface="黑体" panose="02010609060101010101" pitchFamily="49" charset="-122"/>
              </a:endParaRPr>
            </a:p>
          </p:txBody>
        </p:sp>
        <p:sp>
          <p:nvSpPr>
            <p:cNvPr id="40" name="Text Box 8"/>
            <p:cNvSpPr txBox="1">
              <a:spLocks noChangeArrowheads="1"/>
            </p:cNvSpPr>
            <p:nvPr/>
          </p:nvSpPr>
          <p:spPr bwMode="auto">
            <a:xfrm>
              <a:off x="1074" y="2709"/>
              <a:ext cx="600" cy="4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0000FF"/>
                  </a:solidFill>
                  <a:latin typeface="Times New Roman" panose="02020603050405020304" pitchFamily="18" charset="0"/>
                  <a:ea typeface="黑体" panose="02010609060101010101" pitchFamily="49" charset="-122"/>
                </a:rPr>
                <a:t>左移</a:t>
              </a:r>
              <a:endParaRPr kumimoji="1" lang="zh-CN" altLang="en-US" sz="2400" b="1">
                <a:solidFill>
                  <a:srgbClr val="0000FF"/>
                </a:solidFill>
                <a:latin typeface="Times New Roman" panose="02020603050405020304" pitchFamily="18" charset="0"/>
                <a:ea typeface="黑体" panose="02010609060101010101" pitchFamily="49" charset="-122"/>
              </a:endParaRPr>
            </a:p>
          </p:txBody>
        </p:sp>
        <p:sp>
          <p:nvSpPr>
            <p:cNvPr id="41" name="Text Box 9"/>
            <p:cNvSpPr txBox="1">
              <a:spLocks noChangeArrowheads="1"/>
            </p:cNvSpPr>
            <p:nvPr/>
          </p:nvSpPr>
          <p:spPr bwMode="auto">
            <a:xfrm>
              <a:off x="1145" y="3614"/>
              <a:ext cx="454" cy="4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0000FF"/>
                  </a:solidFill>
                  <a:latin typeface="Times New Roman" panose="02020603050405020304" pitchFamily="18" charset="0"/>
                  <a:ea typeface="黑体" panose="02010609060101010101" pitchFamily="49" charset="-122"/>
                </a:rPr>
                <a:t>(a)</a:t>
              </a:r>
              <a:endParaRPr kumimoji="1" lang="en-US" altLang="zh-CN" sz="2400" b="1">
                <a:solidFill>
                  <a:srgbClr val="0000FF"/>
                </a:solidFill>
                <a:latin typeface="Times New Roman" panose="02020603050405020304" pitchFamily="18" charset="0"/>
                <a:ea typeface="黑体" panose="02010609060101010101" pitchFamily="49" charset="-122"/>
              </a:endParaRPr>
            </a:p>
          </p:txBody>
        </p:sp>
      </p:grpSp>
      <p:sp>
        <p:nvSpPr>
          <p:cNvPr id="42" name="AutoShape 10"/>
          <p:cNvSpPr>
            <a:spLocks noChangeArrowheads="1"/>
          </p:cNvSpPr>
          <p:nvPr/>
        </p:nvSpPr>
        <p:spPr bwMode="auto">
          <a:xfrm flipH="1">
            <a:off x="4832266" y="4820150"/>
            <a:ext cx="461962" cy="317500"/>
          </a:xfrm>
          <a:prstGeom prst="leftArrow">
            <a:avLst>
              <a:gd name="adj1" fmla="val 50000"/>
              <a:gd name="adj2" fmla="val 36375"/>
            </a:avLst>
          </a:prstGeom>
          <a:solidFill>
            <a:srgbClr val="009900"/>
          </a:solidFill>
          <a:ln w="38100">
            <a:solidFill>
              <a:srgbClr val="0099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43" name="AutoShape 11"/>
          <p:cNvSpPr>
            <a:spLocks noChangeArrowheads="1"/>
          </p:cNvSpPr>
          <p:nvPr/>
        </p:nvSpPr>
        <p:spPr bwMode="auto">
          <a:xfrm flipH="1">
            <a:off x="3241591" y="4815388"/>
            <a:ext cx="461962" cy="346075"/>
          </a:xfrm>
          <a:prstGeom prst="leftArrow">
            <a:avLst>
              <a:gd name="adj1" fmla="val 50000"/>
              <a:gd name="adj2" fmla="val 33372"/>
            </a:avLst>
          </a:prstGeom>
          <a:solidFill>
            <a:srgbClr val="009900"/>
          </a:solidFill>
          <a:ln w="38100">
            <a:solidFill>
              <a:srgbClr val="0099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grpSp>
        <p:nvGrpSpPr>
          <p:cNvPr id="44" name="Group 12"/>
          <p:cNvGrpSpPr/>
          <p:nvPr/>
        </p:nvGrpSpPr>
        <p:grpSpPr bwMode="auto">
          <a:xfrm>
            <a:off x="3708316" y="4310563"/>
            <a:ext cx="1168400" cy="1795462"/>
            <a:chOff x="2574" y="2413"/>
            <a:chExt cx="736" cy="1621"/>
          </a:xfrm>
        </p:grpSpPr>
        <p:sp>
          <p:nvSpPr>
            <p:cNvPr id="45" name="Rectangle 13"/>
            <p:cNvSpPr>
              <a:spLocks noChangeArrowheads="1"/>
            </p:cNvSpPr>
            <p:nvPr/>
          </p:nvSpPr>
          <p:spPr bwMode="auto">
            <a:xfrm>
              <a:off x="2574" y="2413"/>
              <a:ext cx="709" cy="1145"/>
            </a:xfrm>
            <a:prstGeom prst="rect">
              <a:avLst/>
            </a:prstGeom>
            <a:solidFill>
              <a:schemeClr val="bg1"/>
            </a:solidFill>
            <a:ln w="38100">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46" name="Text Box 14"/>
            <p:cNvSpPr txBox="1">
              <a:spLocks noChangeArrowheads="1"/>
            </p:cNvSpPr>
            <p:nvPr/>
          </p:nvSpPr>
          <p:spPr bwMode="auto">
            <a:xfrm>
              <a:off x="2574" y="2996"/>
              <a:ext cx="736" cy="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009900"/>
                  </a:solidFill>
                  <a:latin typeface="Times New Roman" panose="02020603050405020304" pitchFamily="18" charset="0"/>
                  <a:ea typeface="黑体" panose="02010609060101010101" pitchFamily="49" charset="-122"/>
                </a:rPr>
                <a:t>寄存器</a:t>
              </a:r>
              <a:endParaRPr kumimoji="1" lang="zh-CN" altLang="en-US" sz="2400" b="1">
                <a:solidFill>
                  <a:prstClr val="black"/>
                </a:solidFill>
                <a:latin typeface="Times New Roman" panose="02020603050405020304" pitchFamily="18" charset="0"/>
                <a:ea typeface="黑体" panose="02010609060101010101" pitchFamily="49" charset="-122"/>
              </a:endParaRPr>
            </a:p>
          </p:txBody>
        </p:sp>
        <p:sp>
          <p:nvSpPr>
            <p:cNvPr id="47" name="Text Box 15"/>
            <p:cNvSpPr txBox="1">
              <a:spLocks noChangeArrowheads="1"/>
            </p:cNvSpPr>
            <p:nvPr/>
          </p:nvSpPr>
          <p:spPr bwMode="auto">
            <a:xfrm>
              <a:off x="2682" y="2705"/>
              <a:ext cx="600" cy="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009900"/>
                  </a:solidFill>
                  <a:latin typeface="Times New Roman" panose="02020603050405020304" pitchFamily="18" charset="0"/>
                  <a:ea typeface="黑体" panose="02010609060101010101" pitchFamily="49" charset="-122"/>
                </a:rPr>
                <a:t>右移</a:t>
              </a:r>
              <a:endParaRPr kumimoji="1" lang="zh-CN" altLang="en-US" sz="2400" b="1">
                <a:solidFill>
                  <a:prstClr val="black"/>
                </a:solidFill>
                <a:latin typeface="Times New Roman" panose="02020603050405020304" pitchFamily="18" charset="0"/>
                <a:ea typeface="黑体" panose="02010609060101010101" pitchFamily="49" charset="-122"/>
              </a:endParaRPr>
            </a:p>
          </p:txBody>
        </p:sp>
        <p:sp>
          <p:nvSpPr>
            <p:cNvPr id="48" name="Text Box 16"/>
            <p:cNvSpPr txBox="1">
              <a:spLocks noChangeArrowheads="1"/>
            </p:cNvSpPr>
            <p:nvPr/>
          </p:nvSpPr>
          <p:spPr bwMode="auto">
            <a:xfrm>
              <a:off x="2771" y="3621"/>
              <a:ext cx="454" cy="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009900"/>
                  </a:solidFill>
                  <a:latin typeface="Times New Roman" panose="02020603050405020304" pitchFamily="18" charset="0"/>
                  <a:ea typeface="黑体" panose="02010609060101010101" pitchFamily="49" charset="-122"/>
                </a:rPr>
                <a:t>(b)</a:t>
              </a:r>
              <a:endParaRPr kumimoji="1" lang="en-US" altLang="zh-CN" sz="2400" b="1">
                <a:solidFill>
                  <a:srgbClr val="009900"/>
                </a:solidFill>
                <a:latin typeface="Times New Roman" panose="02020603050405020304" pitchFamily="18" charset="0"/>
                <a:ea typeface="黑体" panose="02010609060101010101" pitchFamily="49" charset="-122"/>
              </a:endParaRPr>
            </a:p>
          </p:txBody>
        </p:sp>
      </p:grpSp>
      <p:grpSp>
        <p:nvGrpSpPr>
          <p:cNvPr id="49" name="Group 17"/>
          <p:cNvGrpSpPr/>
          <p:nvPr/>
        </p:nvGrpSpPr>
        <p:grpSpPr bwMode="auto">
          <a:xfrm>
            <a:off x="6318166" y="4320088"/>
            <a:ext cx="1168400" cy="1841500"/>
            <a:chOff x="4218" y="2419"/>
            <a:chExt cx="736" cy="1606"/>
          </a:xfrm>
        </p:grpSpPr>
        <p:sp>
          <p:nvSpPr>
            <p:cNvPr id="50" name="Rectangle 18"/>
            <p:cNvSpPr>
              <a:spLocks noChangeArrowheads="1"/>
            </p:cNvSpPr>
            <p:nvPr/>
          </p:nvSpPr>
          <p:spPr bwMode="auto">
            <a:xfrm>
              <a:off x="4218" y="2419"/>
              <a:ext cx="709" cy="1145"/>
            </a:xfrm>
            <a:prstGeom prst="rect">
              <a:avLst/>
            </a:prstGeom>
            <a:solidFill>
              <a:schemeClr val="bg1"/>
            </a:solidFill>
            <a:ln w="38100">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51" name="Text Box 19"/>
            <p:cNvSpPr txBox="1">
              <a:spLocks noChangeArrowheads="1"/>
            </p:cNvSpPr>
            <p:nvPr/>
          </p:nvSpPr>
          <p:spPr bwMode="auto">
            <a:xfrm>
              <a:off x="4218" y="3084"/>
              <a:ext cx="736" cy="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0000"/>
                  </a:solidFill>
                  <a:latin typeface="Times New Roman" panose="02020603050405020304" pitchFamily="18" charset="0"/>
                  <a:ea typeface="黑体" panose="02010609060101010101" pitchFamily="49" charset="-122"/>
                </a:rPr>
                <a:t>寄存器</a:t>
              </a:r>
              <a:endParaRPr kumimoji="1" lang="zh-CN" altLang="en-US" sz="2400" b="1">
                <a:solidFill>
                  <a:prstClr val="black"/>
                </a:solidFill>
                <a:latin typeface="Times New Roman" panose="02020603050405020304" pitchFamily="18" charset="0"/>
                <a:ea typeface="黑体" panose="02010609060101010101" pitchFamily="49" charset="-122"/>
              </a:endParaRPr>
            </a:p>
          </p:txBody>
        </p:sp>
        <p:sp>
          <p:nvSpPr>
            <p:cNvPr id="52" name="Text Box 20"/>
            <p:cNvSpPr txBox="1">
              <a:spLocks noChangeArrowheads="1"/>
            </p:cNvSpPr>
            <p:nvPr/>
          </p:nvSpPr>
          <p:spPr bwMode="auto">
            <a:xfrm>
              <a:off x="4326" y="2613"/>
              <a:ext cx="600" cy="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0000"/>
                  </a:solidFill>
                  <a:latin typeface="Times New Roman" panose="02020603050405020304" pitchFamily="18" charset="0"/>
                  <a:ea typeface="黑体" panose="02010609060101010101" pitchFamily="49" charset="-122"/>
                </a:rPr>
                <a:t>双向</a:t>
              </a:r>
              <a:endParaRPr kumimoji="1" lang="zh-CN" altLang="en-US" sz="2400" b="1">
                <a:solidFill>
                  <a:prstClr val="black"/>
                </a:solidFill>
                <a:latin typeface="Times New Roman" panose="02020603050405020304" pitchFamily="18" charset="0"/>
                <a:ea typeface="黑体" panose="02010609060101010101" pitchFamily="49" charset="-122"/>
              </a:endParaRPr>
            </a:p>
          </p:txBody>
        </p:sp>
        <p:sp>
          <p:nvSpPr>
            <p:cNvPr id="53" name="Text Box 21"/>
            <p:cNvSpPr txBox="1">
              <a:spLocks noChangeArrowheads="1"/>
            </p:cNvSpPr>
            <p:nvPr/>
          </p:nvSpPr>
          <p:spPr bwMode="auto">
            <a:xfrm>
              <a:off x="4335" y="2844"/>
              <a:ext cx="564" cy="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0000"/>
                  </a:solidFill>
                  <a:latin typeface="Times New Roman" panose="02020603050405020304" pitchFamily="18" charset="0"/>
                  <a:ea typeface="黑体" panose="02010609060101010101" pitchFamily="49" charset="-122"/>
                </a:rPr>
                <a:t>移位</a:t>
              </a:r>
              <a:endParaRPr kumimoji="1" lang="zh-CN" altLang="en-US" sz="2400" b="1">
                <a:solidFill>
                  <a:prstClr val="black"/>
                </a:solidFill>
                <a:latin typeface="Times New Roman" panose="02020603050405020304" pitchFamily="18" charset="0"/>
                <a:ea typeface="黑体" panose="02010609060101010101" pitchFamily="49" charset="-122"/>
              </a:endParaRPr>
            </a:p>
          </p:txBody>
        </p:sp>
        <p:sp>
          <p:nvSpPr>
            <p:cNvPr id="54" name="Text Box 22"/>
            <p:cNvSpPr txBox="1">
              <a:spLocks noChangeArrowheads="1"/>
            </p:cNvSpPr>
            <p:nvPr/>
          </p:nvSpPr>
          <p:spPr bwMode="auto">
            <a:xfrm>
              <a:off x="4415" y="3627"/>
              <a:ext cx="454" cy="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FF0000"/>
                  </a:solidFill>
                  <a:latin typeface="Times New Roman" panose="02020603050405020304" pitchFamily="18" charset="0"/>
                  <a:ea typeface="黑体" panose="02010609060101010101" pitchFamily="49" charset="-122"/>
                </a:rPr>
                <a:t>(c)</a:t>
              </a:r>
              <a:endParaRPr kumimoji="1" lang="en-US" altLang="zh-CN" sz="2400" b="1">
                <a:solidFill>
                  <a:srgbClr val="FF0000"/>
                </a:solidFill>
                <a:latin typeface="Times New Roman" panose="02020603050405020304" pitchFamily="18" charset="0"/>
                <a:ea typeface="黑体" panose="02010609060101010101" pitchFamily="49" charset="-122"/>
              </a:endParaRPr>
            </a:p>
          </p:txBody>
        </p:sp>
      </p:grpSp>
      <p:sp>
        <p:nvSpPr>
          <p:cNvPr id="55" name="Text Box 23"/>
          <p:cNvSpPr txBox="1">
            <a:spLocks noChangeArrowheads="1"/>
          </p:cNvSpPr>
          <p:nvPr/>
        </p:nvSpPr>
        <p:spPr bwMode="auto">
          <a:xfrm>
            <a:off x="297096" y="1265714"/>
            <a:ext cx="12666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0000FF"/>
                </a:solidFill>
                <a:latin typeface="黑体" panose="02010609060101010101" pitchFamily="49" charset="-122"/>
                <a:ea typeface="黑体" panose="02010609060101010101" pitchFamily="49" charset="-122"/>
              </a:rPr>
              <a:t>移位：</a:t>
            </a:r>
            <a:endParaRPr kumimoji="1" lang="zh-CN" altLang="en-US" sz="2800" b="1" dirty="0">
              <a:solidFill>
                <a:srgbClr val="0000FF"/>
              </a:solidFill>
              <a:latin typeface="黑体" panose="02010609060101010101" pitchFamily="49" charset="-122"/>
              <a:ea typeface="黑体" panose="02010609060101010101" pitchFamily="49" charset="-122"/>
            </a:endParaRPr>
          </a:p>
        </p:txBody>
      </p:sp>
      <p:sp>
        <p:nvSpPr>
          <p:cNvPr id="56" name="Text Box 24"/>
          <p:cNvSpPr txBox="1">
            <a:spLocks noChangeArrowheads="1"/>
          </p:cNvSpPr>
          <p:nvPr/>
        </p:nvSpPr>
        <p:spPr bwMode="auto">
          <a:xfrm>
            <a:off x="1404143" y="1224561"/>
            <a:ext cx="680540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prstClr val="black"/>
                </a:solidFill>
                <a:latin typeface="黑体" panose="02010609060101010101" pitchFamily="49" charset="-122"/>
                <a:ea typeface="黑体" panose="02010609060101010101" pitchFamily="49" charset="-122"/>
              </a:rPr>
              <a:t>将寄存器所存储的各位数据，在每个移位脉冲的作用下，</a:t>
            </a:r>
            <a:r>
              <a:rPr kumimoji="1" lang="zh-CN" altLang="en-US" sz="2800" b="1" dirty="0">
                <a:solidFill>
                  <a:prstClr val="black"/>
                </a:solidFill>
                <a:ea typeface="黑体" panose="02010609060101010101" pitchFamily="49" charset="-122"/>
              </a:rPr>
              <a:t>向左或向右移动一位</a:t>
            </a:r>
            <a:endParaRPr kumimoji="1" lang="zh-CN" altLang="en-US" sz="2800" b="1" dirty="0">
              <a:solidFill>
                <a:prstClr val="black"/>
              </a:solidFill>
              <a:latin typeface="黑体" panose="02010609060101010101" pitchFamily="49" charset="-122"/>
              <a:ea typeface="黑体" panose="02010609060101010101" pitchFamily="49" charset="-122"/>
            </a:endParaRPr>
          </a:p>
        </p:txBody>
      </p:sp>
      <p:sp>
        <p:nvSpPr>
          <p:cNvPr id="58" name="Text Box 26"/>
          <p:cNvSpPr txBox="1">
            <a:spLocks noChangeArrowheads="1"/>
          </p:cNvSpPr>
          <p:nvPr/>
        </p:nvSpPr>
        <p:spPr bwMode="auto">
          <a:xfrm>
            <a:off x="486694" y="2855073"/>
            <a:ext cx="778944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prstClr val="black"/>
                </a:solidFill>
                <a:latin typeface="黑体" panose="02010609060101010101" pitchFamily="49" charset="-122"/>
                <a:ea typeface="黑体" panose="02010609060101010101" pitchFamily="49" charset="-122"/>
              </a:rPr>
              <a:t>根据移位的方向，分成：</a:t>
            </a:r>
            <a:r>
              <a:rPr kumimoji="1" lang="zh-CN" altLang="en-US" sz="2800" b="1" dirty="0">
                <a:solidFill>
                  <a:srgbClr val="FF0000"/>
                </a:solidFill>
                <a:latin typeface="黑体" panose="02010609060101010101" pitchFamily="49" charset="-122"/>
                <a:ea typeface="黑体" panose="02010609060101010101" pitchFamily="49" charset="-122"/>
              </a:rPr>
              <a:t>左移</a:t>
            </a:r>
            <a:r>
              <a:rPr kumimoji="1" lang="zh-CN" altLang="en-US" sz="2800" b="1" dirty="0">
                <a:solidFill>
                  <a:prstClr val="black"/>
                </a:solidFill>
                <a:latin typeface="黑体" panose="02010609060101010101" pitchFamily="49" charset="-122"/>
                <a:ea typeface="黑体" panose="02010609060101010101" pitchFamily="49" charset="-122"/>
              </a:rPr>
              <a:t>、</a:t>
            </a:r>
            <a:r>
              <a:rPr kumimoji="1" lang="zh-CN" altLang="en-US" sz="2800" b="1" dirty="0">
                <a:solidFill>
                  <a:srgbClr val="FF0000"/>
                </a:solidFill>
                <a:latin typeface="黑体" panose="02010609060101010101" pitchFamily="49" charset="-122"/>
                <a:ea typeface="黑体" panose="02010609060101010101" pitchFamily="49" charset="-122"/>
              </a:rPr>
              <a:t>右移</a:t>
            </a:r>
            <a:r>
              <a:rPr kumimoji="1" lang="zh-CN" altLang="en-US" sz="2800" b="1" dirty="0">
                <a:solidFill>
                  <a:prstClr val="black"/>
                </a:solidFill>
                <a:latin typeface="黑体" panose="02010609060101010101" pitchFamily="49" charset="-122"/>
                <a:ea typeface="黑体" panose="02010609060101010101" pitchFamily="49" charset="-122"/>
              </a:rPr>
              <a:t>和</a:t>
            </a:r>
            <a:r>
              <a:rPr kumimoji="1" lang="zh-CN" altLang="en-US" sz="2800" b="1" dirty="0">
                <a:solidFill>
                  <a:srgbClr val="FF0000"/>
                </a:solidFill>
                <a:latin typeface="黑体" panose="02010609060101010101" pitchFamily="49" charset="-122"/>
                <a:ea typeface="黑体" panose="02010609060101010101" pitchFamily="49" charset="-122"/>
              </a:rPr>
              <a:t>双向</a:t>
            </a:r>
            <a:r>
              <a:rPr kumimoji="1" lang="zh-CN" altLang="en-US" sz="2800" b="1" dirty="0">
                <a:solidFill>
                  <a:prstClr val="black"/>
                </a:solidFill>
                <a:latin typeface="黑体" panose="02010609060101010101" pitchFamily="49" charset="-122"/>
                <a:ea typeface="黑体" panose="02010609060101010101" pitchFamily="49" charset="-122"/>
              </a:rPr>
              <a:t>移位寄存器</a:t>
            </a:r>
            <a:endParaRPr kumimoji="1" lang="zh-CN" altLang="en-US" sz="2800" b="1" dirty="0">
              <a:solidFill>
                <a:prstClr val="black"/>
              </a:solidFill>
              <a:latin typeface="黑体" panose="02010609060101010101" pitchFamily="49" charset="-122"/>
              <a:ea typeface="黑体" panose="02010609060101010101" pitchFamily="49" charset="-122"/>
            </a:endParaRPr>
          </a:p>
        </p:txBody>
      </p:sp>
      <p:sp>
        <p:nvSpPr>
          <p:cNvPr id="60" name="AutoShape 28"/>
          <p:cNvSpPr>
            <a:spLocks noChangeArrowheads="1"/>
          </p:cNvSpPr>
          <p:nvPr/>
        </p:nvSpPr>
        <p:spPr bwMode="auto">
          <a:xfrm>
            <a:off x="7457991" y="4599488"/>
            <a:ext cx="461962" cy="317500"/>
          </a:xfrm>
          <a:prstGeom prst="leftArrow">
            <a:avLst>
              <a:gd name="adj1" fmla="val 50000"/>
              <a:gd name="adj2" fmla="val 36375"/>
            </a:avLst>
          </a:prstGeom>
          <a:solidFill>
            <a:srgbClr val="3333FF"/>
          </a:solidFill>
          <a:ln w="38100">
            <a:solidFill>
              <a:srgbClr val="3333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61" name="AutoShape 29"/>
          <p:cNvSpPr>
            <a:spLocks noChangeArrowheads="1"/>
          </p:cNvSpPr>
          <p:nvPr/>
        </p:nvSpPr>
        <p:spPr bwMode="auto">
          <a:xfrm>
            <a:off x="5838741" y="4594725"/>
            <a:ext cx="461962" cy="317500"/>
          </a:xfrm>
          <a:prstGeom prst="leftArrow">
            <a:avLst>
              <a:gd name="adj1" fmla="val 50000"/>
              <a:gd name="adj2" fmla="val 36375"/>
            </a:avLst>
          </a:prstGeom>
          <a:solidFill>
            <a:srgbClr val="3333FF"/>
          </a:solidFill>
          <a:ln w="38100">
            <a:solidFill>
              <a:srgbClr val="3333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62" name="AutoShape 30"/>
          <p:cNvSpPr>
            <a:spLocks noChangeArrowheads="1"/>
          </p:cNvSpPr>
          <p:nvPr/>
        </p:nvSpPr>
        <p:spPr bwMode="auto">
          <a:xfrm flipH="1">
            <a:off x="7457991" y="5247188"/>
            <a:ext cx="461962" cy="317500"/>
          </a:xfrm>
          <a:prstGeom prst="leftArrow">
            <a:avLst>
              <a:gd name="adj1" fmla="val 50000"/>
              <a:gd name="adj2" fmla="val 36375"/>
            </a:avLst>
          </a:prstGeom>
          <a:solidFill>
            <a:srgbClr val="009900"/>
          </a:solidFill>
          <a:ln w="38100">
            <a:solidFill>
              <a:srgbClr val="0099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63" name="AutoShape 31"/>
          <p:cNvSpPr>
            <a:spLocks noChangeArrowheads="1"/>
          </p:cNvSpPr>
          <p:nvPr/>
        </p:nvSpPr>
        <p:spPr bwMode="auto">
          <a:xfrm flipH="1">
            <a:off x="5867316" y="5242425"/>
            <a:ext cx="461962" cy="346075"/>
          </a:xfrm>
          <a:prstGeom prst="leftArrow">
            <a:avLst>
              <a:gd name="adj1" fmla="val 50000"/>
              <a:gd name="adj2" fmla="val 33372"/>
            </a:avLst>
          </a:prstGeom>
          <a:solidFill>
            <a:srgbClr val="009900"/>
          </a:solidFill>
          <a:ln w="38100">
            <a:solidFill>
              <a:srgbClr val="0099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一、工作原理</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2" name="文本框 1"/>
          <p:cNvSpPr txBox="1"/>
          <p:nvPr/>
        </p:nvSpPr>
        <p:spPr>
          <a:xfrm>
            <a:off x="167994" y="1200048"/>
            <a:ext cx="6713537" cy="523220"/>
          </a:xfrm>
          <a:prstGeom prst="rect">
            <a:avLst/>
          </a:prstGeom>
          <a:noFill/>
        </p:spPr>
        <p:txBody>
          <a:bodyPr wrap="square" rtlCol="0">
            <a:spAutoFit/>
          </a:bodyPr>
          <a:lstStyle/>
          <a:p>
            <a:r>
              <a:rPr lang="zh-CN" altLang="en-US" sz="2800" b="1" dirty="0">
                <a:solidFill>
                  <a:srgbClr val="0000FF"/>
                </a:solidFill>
              </a:rPr>
              <a:t>（</a:t>
            </a:r>
            <a:r>
              <a:rPr lang="en-US" altLang="zh-CN" sz="2800" b="1" dirty="0">
                <a:solidFill>
                  <a:srgbClr val="0000FF"/>
                </a:solidFill>
              </a:rPr>
              <a:t>1</a:t>
            </a:r>
            <a:r>
              <a:rPr lang="zh-CN" altLang="en-US" sz="2800" b="1" dirty="0">
                <a:solidFill>
                  <a:srgbClr val="0000FF"/>
                </a:solidFill>
              </a:rPr>
              <a:t>）单向移位寄存器</a:t>
            </a:r>
            <a:endParaRPr lang="zh-CN" altLang="en-US" sz="2800" b="1" dirty="0">
              <a:solidFill>
                <a:srgbClr val="0000FF"/>
              </a:solidFill>
            </a:endParaRPr>
          </a:p>
        </p:txBody>
      </p:sp>
      <p:sp>
        <p:nvSpPr>
          <p:cNvPr id="62" name="Rectangle 4"/>
          <p:cNvSpPr>
            <a:spLocks noChangeArrowheads="1"/>
          </p:cNvSpPr>
          <p:nvPr/>
        </p:nvSpPr>
        <p:spPr bwMode="auto">
          <a:xfrm>
            <a:off x="202406" y="1871622"/>
            <a:ext cx="8437562" cy="1381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lvl="1" defTabSz="914400" eaLnBrk="1" fontAlgn="base" hangingPunct="1">
              <a:spcAft>
                <a:spcPts val="600"/>
              </a:spcAft>
              <a:buClr>
                <a:srgbClr val="000099"/>
              </a:buClr>
              <a:buSzPct val="80000"/>
              <a:buFont typeface="Wingdings" panose="05000000000000000000" pitchFamily="2" charset="2"/>
              <a:buChar char="Ø"/>
              <a:defRPr/>
            </a:pPr>
            <a:r>
              <a:rPr kumimoji="0" lang="en-US" altLang="zh-CN" i="1" kern="0" dirty="0">
                <a:solidFill>
                  <a:srgbClr val="000099"/>
                </a:solidFill>
              </a:rPr>
              <a:t>D</a:t>
            </a:r>
            <a:r>
              <a:rPr kumimoji="0" lang="en-US" altLang="zh-CN" kern="0" baseline="-25000" dirty="0">
                <a:solidFill>
                  <a:srgbClr val="000099"/>
                </a:solidFill>
              </a:rPr>
              <a:t>I </a:t>
            </a:r>
            <a:r>
              <a:rPr kumimoji="0" lang="zh-CN" altLang="en-US" kern="0" dirty="0">
                <a:solidFill>
                  <a:srgbClr val="000099"/>
                </a:solidFill>
              </a:rPr>
              <a:t>：串行数据输入端      </a:t>
            </a:r>
            <a:r>
              <a:rPr kumimoji="0" lang="en-US" altLang="zh-CN" i="1" kern="0" dirty="0">
                <a:solidFill>
                  <a:srgbClr val="000099"/>
                </a:solidFill>
              </a:rPr>
              <a:t>D</a:t>
            </a:r>
            <a:r>
              <a:rPr kumimoji="0" lang="en-US" altLang="zh-CN" kern="0" baseline="-25000" dirty="0">
                <a:solidFill>
                  <a:srgbClr val="000099"/>
                </a:solidFill>
              </a:rPr>
              <a:t>O</a:t>
            </a:r>
            <a:r>
              <a:rPr kumimoji="0" lang="zh-CN" altLang="en-US" kern="0" dirty="0">
                <a:solidFill>
                  <a:srgbClr val="000099"/>
                </a:solidFill>
              </a:rPr>
              <a:t>：串行数据输出端；</a:t>
            </a:r>
            <a:endParaRPr kumimoji="0" lang="zh-CN" altLang="en-US" kern="0" dirty="0">
              <a:solidFill>
                <a:srgbClr val="000099"/>
              </a:solidFill>
            </a:endParaRPr>
          </a:p>
          <a:p>
            <a:pPr lvl="1" defTabSz="914400" eaLnBrk="1" fontAlgn="base" hangingPunct="1">
              <a:spcAft>
                <a:spcPts val="600"/>
              </a:spcAft>
              <a:buClr>
                <a:srgbClr val="000099"/>
              </a:buClr>
              <a:buSzPct val="80000"/>
              <a:buFont typeface="Wingdings" panose="05000000000000000000" pitchFamily="2" charset="2"/>
              <a:buChar char="Ø"/>
              <a:defRPr/>
            </a:pPr>
            <a:r>
              <a:rPr kumimoji="0" lang="en-US" altLang="zh-CN" i="1" kern="0" dirty="0">
                <a:solidFill>
                  <a:srgbClr val="000099"/>
                </a:solidFill>
              </a:rPr>
              <a:t>Q</a:t>
            </a:r>
            <a:r>
              <a:rPr kumimoji="0" lang="en-US" altLang="zh-CN" kern="0" baseline="-25000" dirty="0">
                <a:solidFill>
                  <a:srgbClr val="000099"/>
                </a:solidFill>
              </a:rPr>
              <a:t>0 </a:t>
            </a:r>
            <a:r>
              <a:rPr kumimoji="0" lang="en-US" altLang="zh-CN" kern="0" dirty="0">
                <a:solidFill>
                  <a:srgbClr val="000099"/>
                </a:solidFill>
              </a:rPr>
              <a:t>~ </a:t>
            </a:r>
            <a:r>
              <a:rPr kumimoji="0" lang="en-US" altLang="zh-CN" i="1" kern="0" dirty="0">
                <a:solidFill>
                  <a:srgbClr val="000099"/>
                </a:solidFill>
              </a:rPr>
              <a:t>Q</a:t>
            </a:r>
            <a:r>
              <a:rPr kumimoji="0" lang="en-US" altLang="zh-CN" kern="0" baseline="-25000" dirty="0">
                <a:solidFill>
                  <a:srgbClr val="000099"/>
                </a:solidFill>
              </a:rPr>
              <a:t>3</a:t>
            </a:r>
            <a:r>
              <a:rPr kumimoji="0" lang="zh-CN" altLang="en-US" kern="0" dirty="0">
                <a:solidFill>
                  <a:srgbClr val="000099"/>
                </a:solidFill>
              </a:rPr>
              <a:t>：并行数据输出端</a:t>
            </a:r>
            <a:endParaRPr kumimoji="0" lang="zh-CN" altLang="en-US" kern="0" dirty="0">
              <a:solidFill>
                <a:srgbClr val="000099"/>
              </a:solidFill>
            </a:endParaRPr>
          </a:p>
          <a:p>
            <a:pPr lvl="1" defTabSz="914400" eaLnBrk="1" fontAlgn="base" hangingPunct="1">
              <a:spcAft>
                <a:spcPts val="600"/>
              </a:spcAft>
              <a:buClr>
                <a:srgbClr val="000099"/>
              </a:buClr>
              <a:buSzPct val="80000"/>
              <a:buFont typeface="Wingdings" panose="05000000000000000000" pitchFamily="2" charset="2"/>
              <a:buChar char="Ø"/>
              <a:defRPr/>
            </a:pPr>
            <a:r>
              <a:rPr kumimoji="0" lang="en-US" altLang="zh-CN" i="1" kern="0" dirty="0">
                <a:solidFill>
                  <a:srgbClr val="000099"/>
                </a:solidFill>
              </a:rPr>
              <a:t>CP</a:t>
            </a:r>
            <a:r>
              <a:rPr kumimoji="0" lang="zh-CN" altLang="en-US" kern="0" dirty="0">
                <a:solidFill>
                  <a:srgbClr val="000099"/>
                </a:solidFill>
              </a:rPr>
              <a:t>：时钟端</a:t>
            </a:r>
            <a:endParaRPr kumimoji="0" lang="zh-CN" altLang="en-US" kern="0" dirty="0">
              <a:solidFill>
                <a:srgbClr val="000099"/>
              </a:solidFill>
              <a:latin typeface="楷体_GB2312" pitchFamily="49" charset="-122"/>
            </a:endParaRPr>
          </a:p>
        </p:txBody>
      </p:sp>
      <p:grpSp>
        <p:nvGrpSpPr>
          <p:cNvPr id="7" name="组合 6"/>
          <p:cNvGrpSpPr/>
          <p:nvPr/>
        </p:nvGrpSpPr>
        <p:grpSpPr>
          <a:xfrm>
            <a:off x="504031" y="3265772"/>
            <a:ext cx="8135937" cy="3240088"/>
            <a:chOff x="504031" y="3265772"/>
            <a:chExt cx="8135937" cy="3240088"/>
          </a:xfrm>
        </p:grpSpPr>
        <p:grpSp>
          <p:nvGrpSpPr>
            <p:cNvPr id="4" name="组合 3"/>
            <p:cNvGrpSpPr/>
            <p:nvPr/>
          </p:nvGrpSpPr>
          <p:grpSpPr>
            <a:xfrm>
              <a:off x="504031" y="3265772"/>
              <a:ext cx="8135937" cy="3240088"/>
              <a:chOff x="568576" y="3521115"/>
              <a:chExt cx="8135937" cy="3240088"/>
            </a:xfrm>
          </p:grpSpPr>
          <p:pic>
            <p:nvPicPr>
              <p:cNvPr id="63" name="Picture 5" descr="6-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938" y="3521115"/>
                <a:ext cx="7775575"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oup 29"/>
              <p:cNvGrpSpPr/>
              <p:nvPr/>
            </p:nvGrpSpPr>
            <p:grpSpPr bwMode="auto">
              <a:xfrm>
                <a:off x="568576" y="5305465"/>
                <a:ext cx="6653212" cy="1455738"/>
                <a:chOff x="204" y="3239"/>
                <a:chExt cx="4191" cy="917"/>
              </a:xfrm>
            </p:grpSpPr>
            <p:sp>
              <p:nvSpPr>
                <p:cNvPr id="65" name="Line 6"/>
                <p:cNvSpPr>
                  <a:spLocks noChangeShapeType="1"/>
                </p:cNvSpPr>
                <p:nvPr/>
              </p:nvSpPr>
              <p:spPr bwMode="auto">
                <a:xfrm>
                  <a:off x="905" y="4063"/>
                  <a:ext cx="3063"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dirty="0">
                    <a:solidFill>
                      <a:srgbClr val="3333CC"/>
                    </a:solidFill>
                    <a:latin typeface="Times New Roman" panose="02020603050405020304" pitchFamily="18" charset="0"/>
                    <a:ea typeface="楷体_GB2312" pitchFamily="49" charset="-122"/>
                  </a:endParaRPr>
                </a:p>
              </p:txBody>
            </p:sp>
            <p:sp>
              <p:nvSpPr>
                <p:cNvPr id="66" name="AutoShape 7"/>
                <p:cNvSpPr>
                  <a:spLocks noChangeArrowheads="1"/>
                </p:cNvSpPr>
                <p:nvPr/>
              </p:nvSpPr>
              <p:spPr bwMode="auto">
                <a:xfrm>
                  <a:off x="204" y="3929"/>
                  <a:ext cx="544"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algn="ct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zh-CN" altLang="en-US" kern="0" dirty="0">
                      <a:solidFill>
                        <a:srgbClr val="CC0000"/>
                      </a:solidFill>
                      <a:ea typeface="宋体-18030" pitchFamily="49" charset="-122"/>
                    </a:rPr>
                    <a:t>异步清零</a:t>
                  </a:r>
                  <a:endParaRPr lang="zh-CN" altLang="en-US" kern="0" dirty="0">
                    <a:solidFill>
                      <a:srgbClr val="CC0000"/>
                    </a:solidFill>
                    <a:ea typeface="宋体-18030" pitchFamily="49" charset="-122"/>
                  </a:endParaRPr>
                </a:p>
              </p:txBody>
            </p:sp>
            <p:grpSp>
              <p:nvGrpSpPr>
                <p:cNvPr id="69" name="Group 16"/>
                <p:cNvGrpSpPr/>
                <p:nvPr/>
              </p:nvGrpSpPr>
              <p:grpSpPr bwMode="auto">
                <a:xfrm>
                  <a:off x="1356" y="3249"/>
                  <a:ext cx="390" cy="813"/>
                  <a:chOff x="1356" y="3249"/>
                  <a:chExt cx="390" cy="813"/>
                </a:xfrm>
              </p:grpSpPr>
              <p:sp>
                <p:nvSpPr>
                  <p:cNvPr id="82" name="Line 13"/>
                  <p:cNvSpPr>
                    <a:spLocks noChangeShapeType="1"/>
                  </p:cNvSpPr>
                  <p:nvPr/>
                </p:nvSpPr>
                <p:spPr bwMode="auto">
                  <a:xfrm rot="5400000">
                    <a:off x="1003" y="3710"/>
                    <a:ext cx="70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83" name="Line 14"/>
                  <p:cNvSpPr>
                    <a:spLocks noChangeShapeType="1"/>
                  </p:cNvSpPr>
                  <p:nvPr/>
                </p:nvSpPr>
                <p:spPr bwMode="auto">
                  <a:xfrm>
                    <a:off x="1356" y="3357"/>
                    <a:ext cx="70"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84" name="AutoShape 15"/>
                  <p:cNvSpPr>
                    <a:spLocks noChangeArrowheads="1"/>
                  </p:cNvSpPr>
                  <p:nvPr/>
                </p:nvSpPr>
                <p:spPr bwMode="auto">
                  <a:xfrm>
                    <a:off x="1428" y="3249"/>
                    <a:ext cx="318"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en-US" altLang="zh-CN" sz="2000" kern="0" dirty="0">
                        <a:solidFill>
                          <a:srgbClr val="CC0000"/>
                        </a:solidFill>
                        <a:ea typeface="宋体" panose="02010600030101010101" pitchFamily="2" charset="-122"/>
                      </a:rPr>
                      <a:t>R</a:t>
                    </a:r>
                    <a:endParaRPr lang="en-US" altLang="zh-CN" sz="2000" kern="0" baseline="-25000" dirty="0">
                      <a:solidFill>
                        <a:srgbClr val="CC0000"/>
                      </a:solidFill>
                      <a:ea typeface="宋体" panose="02010600030101010101" pitchFamily="2" charset="-122"/>
                    </a:endParaRPr>
                  </a:p>
                </p:txBody>
              </p:sp>
            </p:grpSp>
            <p:grpSp>
              <p:nvGrpSpPr>
                <p:cNvPr id="70" name="Group 17"/>
                <p:cNvGrpSpPr/>
                <p:nvPr/>
              </p:nvGrpSpPr>
              <p:grpSpPr bwMode="auto">
                <a:xfrm>
                  <a:off x="2209" y="3239"/>
                  <a:ext cx="390" cy="813"/>
                  <a:chOff x="1356" y="3249"/>
                  <a:chExt cx="390" cy="813"/>
                </a:xfrm>
              </p:grpSpPr>
              <p:sp>
                <p:nvSpPr>
                  <p:cNvPr id="79" name="Line 18"/>
                  <p:cNvSpPr>
                    <a:spLocks noChangeShapeType="1"/>
                  </p:cNvSpPr>
                  <p:nvPr/>
                </p:nvSpPr>
                <p:spPr bwMode="auto">
                  <a:xfrm rot="5400000">
                    <a:off x="1003" y="3710"/>
                    <a:ext cx="70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80" name="Line 19"/>
                  <p:cNvSpPr>
                    <a:spLocks noChangeShapeType="1"/>
                  </p:cNvSpPr>
                  <p:nvPr/>
                </p:nvSpPr>
                <p:spPr bwMode="auto">
                  <a:xfrm>
                    <a:off x="1356" y="3357"/>
                    <a:ext cx="70"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81" name="AutoShape 20"/>
                  <p:cNvSpPr>
                    <a:spLocks noChangeArrowheads="1"/>
                  </p:cNvSpPr>
                  <p:nvPr/>
                </p:nvSpPr>
                <p:spPr bwMode="auto">
                  <a:xfrm>
                    <a:off x="1428" y="3249"/>
                    <a:ext cx="318"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en-US" altLang="zh-CN" sz="2000" kern="0">
                        <a:solidFill>
                          <a:srgbClr val="CC0000"/>
                        </a:solidFill>
                        <a:ea typeface="宋体" panose="02010600030101010101" pitchFamily="2" charset="-122"/>
                      </a:rPr>
                      <a:t>R</a:t>
                    </a:r>
                    <a:endParaRPr lang="en-US" altLang="zh-CN" sz="2000" kern="0" baseline="-25000">
                      <a:solidFill>
                        <a:srgbClr val="CC0000"/>
                      </a:solidFill>
                      <a:ea typeface="宋体" panose="02010600030101010101" pitchFamily="2" charset="-122"/>
                    </a:endParaRPr>
                  </a:p>
                </p:txBody>
              </p:sp>
            </p:grpSp>
            <p:grpSp>
              <p:nvGrpSpPr>
                <p:cNvPr id="71" name="Group 21"/>
                <p:cNvGrpSpPr/>
                <p:nvPr/>
              </p:nvGrpSpPr>
              <p:grpSpPr bwMode="auto">
                <a:xfrm>
                  <a:off x="3080" y="3252"/>
                  <a:ext cx="390" cy="813"/>
                  <a:chOff x="1356" y="3249"/>
                  <a:chExt cx="390" cy="813"/>
                </a:xfrm>
              </p:grpSpPr>
              <p:sp>
                <p:nvSpPr>
                  <p:cNvPr id="76" name="Line 22"/>
                  <p:cNvSpPr>
                    <a:spLocks noChangeShapeType="1"/>
                  </p:cNvSpPr>
                  <p:nvPr/>
                </p:nvSpPr>
                <p:spPr bwMode="auto">
                  <a:xfrm rot="5400000">
                    <a:off x="1003" y="3710"/>
                    <a:ext cx="70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77" name="Line 23"/>
                  <p:cNvSpPr>
                    <a:spLocks noChangeShapeType="1"/>
                  </p:cNvSpPr>
                  <p:nvPr/>
                </p:nvSpPr>
                <p:spPr bwMode="auto">
                  <a:xfrm>
                    <a:off x="1356" y="3357"/>
                    <a:ext cx="70"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78" name="AutoShape 24"/>
                  <p:cNvSpPr>
                    <a:spLocks noChangeArrowheads="1"/>
                  </p:cNvSpPr>
                  <p:nvPr/>
                </p:nvSpPr>
                <p:spPr bwMode="auto">
                  <a:xfrm>
                    <a:off x="1428" y="3249"/>
                    <a:ext cx="318"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en-US" altLang="zh-CN" sz="2000" kern="0">
                        <a:solidFill>
                          <a:srgbClr val="CC0000"/>
                        </a:solidFill>
                        <a:ea typeface="宋体" panose="02010600030101010101" pitchFamily="2" charset="-122"/>
                      </a:rPr>
                      <a:t>R</a:t>
                    </a:r>
                    <a:endParaRPr lang="en-US" altLang="zh-CN" sz="2000" kern="0" baseline="-25000">
                      <a:solidFill>
                        <a:srgbClr val="CC0000"/>
                      </a:solidFill>
                      <a:ea typeface="宋体" panose="02010600030101010101" pitchFamily="2" charset="-122"/>
                    </a:endParaRPr>
                  </a:p>
                </p:txBody>
              </p:sp>
            </p:grpSp>
            <p:grpSp>
              <p:nvGrpSpPr>
                <p:cNvPr id="72" name="Group 25"/>
                <p:cNvGrpSpPr/>
                <p:nvPr/>
              </p:nvGrpSpPr>
              <p:grpSpPr bwMode="auto">
                <a:xfrm>
                  <a:off x="3969" y="3249"/>
                  <a:ext cx="426" cy="813"/>
                  <a:chOff x="1356" y="3249"/>
                  <a:chExt cx="390" cy="813"/>
                </a:xfrm>
              </p:grpSpPr>
              <p:sp>
                <p:nvSpPr>
                  <p:cNvPr id="73" name="Line 26"/>
                  <p:cNvSpPr>
                    <a:spLocks noChangeShapeType="1"/>
                  </p:cNvSpPr>
                  <p:nvPr/>
                </p:nvSpPr>
                <p:spPr bwMode="auto">
                  <a:xfrm rot="5400000">
                    <a:off x="1003" y="3710"/>
                    <a:ext cx="70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74" name="Line 27"/>
                  <p:cNvSpPr>
                    <a:spLocks noChangeShapeType="1"/>
                  </p:cNvSpPr>
                  <p:nvPr/>
                </p:nvSpPr>
                <p:spPr bwMode="auto">
                  <a:xfrm>
                    <a:off x="1356" y="3357"/>
                    <a:ext cx="70"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75" name="AutoShape 28"/>
                  <p:cNvSpPr>
                    <a:spLocks noChangeArrowheads="1"/>
                  </p:cNvSpPr>
                  <p:nvPr/>
                </p:nvSpPr>
                <p:spPr bwMode="auto">
                  <a:xfrm>
                    <a:off x="1428" y="3249"/>
                    <a:ext cx="318"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en-US" altLang="zh-CN" sz="2000" kern="0">
                        <a:solidFill>
                          <a:srgbClr val="CC0000"/>
                        </a:solidFill>
                        <a:ea typeface="宋体" panose="02010600030101010101" pitchFamily="2" charset="-122"/>
                      </a:rPr>
                      <a:t>R</a:t>
                    </a:r>
                    <a:endParaRPr lang="en-US" altLang="zh-CN" sz="2000" kern="0" baseline="-25000">
                      <a:solidFill>
                        <a:srgbClr val="CC0000"/>
                      </a:solidFill>
                      <a:ea typeface="宋体" panose="02010600030101010101" pitchFamily="2" charset="-122"/>
                    </a:endParaRPr>
                  </a:p>
                </p:txBody>
              </p:sp>
            </p:grpSp>
          </p:grpSp>
        </p:grpSp>
        <p:sp>
          <p:nvSpPr>
            <p:cNvPr id="5" name="文本框 4"/>
            <p:cNvSpPr txBox="1"/>
            <p:nvPr/>
          </p:nvSpPr>
          <p:spPr>
            <a:xfrm>
              <a:off x="1539875" y="5338072"/>
              <a:ext cx="577516" cy="400110"/>
            </a:xfrm>
            <a:prstGeom prst="rect">
              <a:avLst/>
            </a:prstGeom>
            <a:solidFill>
              <a:srgbClr val="FFFFFF"/>
            </a:solidFill>
          </p:spPr>
          <p:txBody>
            <a:bodyPr wrap="square" rtlCol="0">
              <a:spAutoFit/>
            </a:bodyPr>
            <a:lstStyle/>
            <a:p>
              <a:r>
                <a:rPr lang="en-US" altLang="zh-CN" sz="2000" i="1" dirty="0">
                  <a:solidFill>
                    <a:prstClr val="black"/>
                  </a:solidFill>
                  <a:latin typeface="Times New Roman" panose="02020603050405020304" pitchFamily="18" charset="0"/>
                  <a:cs typeface="Times New Roman" panose="02020603050405020304" pitchFamily="18" charset="0"/>
                </a:rPr>
                <a:t>CP</a:t>
              </a:r>
              <a:endParaRPr lang="zh-CN" altLang="en-US" sz="2000" i="1" dirty="0">
                <a:solidFill>
                  <a:prstClr val="black"/>
                </a:solidFill>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87" name="矩形 86"/>
              <p:cNvSpPr/>
              <p:nvPr/>
            </p:nvSpPr>
            <p:spPr>
              <a:xfrm>
                <a:off x="1640921" y="6066921"/>
                <a:ext cx="37542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𝟏</m:t>
                      </m:r>
                    </m:oMath>
                  </m:oMathPara>
                </a14:m>
                <a:endParaRPr lang="zh-CN" altLang="en-US" b="1" dirty="0">
                  <a:solidFill>
                    <a:prstClr val="black"/>
                  </a:solidFill>
                </a:endParaRPr>
              </a:p>
            </p:txBody>
          </p:sp>
        </mc:Choice>
        <mc:Fallback>
          <p:sp>
            <p:nvSpPr>
              <p:cNvPr id="87" name="矩形 86"/>
              <p:cNvSpPr>
                <a:spLocks noRot="1" noChangeAspect="1" noMove="1" noResize="1" noEditPoints="1" noAdjustHandles="1" noChangeArrowheads="1" noChangeShapeType="1" noTextEdit="1"/>
              </p:cNvSpPr>
              <p:nvPr/>
            </p:nvSpPr>
            <p:spPr>
              <a:xfrm>
                <a:off x="1640921" y="6066921"/>
                <a:ext cx="375423" cy="369332"/>
              </a:xfrm>
              <a:prstGeom prst="rect">
                <a:avLst/>
              </a:prstGeom>
              <a:blipFill rotWithShape="1">
                <a:blip r:embed="rId3"/>
                <a:stretch>
                  <a:fillRect l="-22" t="-35" r="58" b="143"/>
                </a:stretch>
              </a:blipFill>
            </p:spPr>
            <p:txBody>
              <a:bodyPr/>
              <a:lstStyle/>
              <a:p>
                <a:r>
                  <a:rPr lang="zh-CN" altLang="en-US">
                    <a:noFill/>
                  </a:rPr>
                  <a:t> </a:t>
                </a:r>
              </a:p>
            </p:txBody>
          </p:sp>
        </mc:Fallback>
      </mc:AlternateContent>
      <p:cxnSp>
        <p:nvCxnSpPr>
          <p:cNvPr id="8" name="直接连接符 7"/>
          <p:cNvCxnSpPr/>
          <p:nvPr/>
        </p:nvCxnSpPr>
        <p:spPr>
          <a:xfrm>
            <a:off x="3867606" y="5100997"/>
            <a:ext cx="230988"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2523715" y="5113786"/>
            <a:ext cx="230988"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243665" y="5113786"/>
            <a:ext cx="230988"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6672058" y="5109747"/>
            <a:ext cx="230988"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一、工作原理</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2" name="文本框 1"/>
          <p:cNvSpPr txBox="1"/>
          <p:nvPr/>
        </p:nvSpPr>
        <p:spPr>
          <a:xfrm>
            <a:off x="166444" y="1091969"/>
            <a:ext cx="6713537" cy="523220"/>
          </a:xfrm>
          <a:prstGeom prst="rect">
            <a:avLst/>
          </a:prstGeom>
          <a:noFill/>
        </p:spPr>
        <p:txBody>
          <a:bodyPr wrap="square" rtlCol="0">
            <a:spAutoFit/>
          </a:bodyPr>
          <a:lstStyle/>
          <a:p>
            <a:r>
              <a:rPr lang="zh-CN" altLang="en-US" sz="2800" b="1" dirty="0">
                <a:solidFill>
                  <a:srgbClr val="0000FF"/>
                </a:solidFill>
              </a:rPr>
              <a:t>（</a:t>
            </a:r>
            <a:r>
              <a:rPr lang="en-US" altLang="zh-CN" sz="2800" b="1" dirty="0">
                <a:solidFill>
                  <a:srgbClr val="0000FF"/>
                </a:solidFill>
              </a:rPr>
              <a:t>1</a:t>
            </a:r>
            <a:r>
              <a:rPr lang="zh-CN" altLang="en-US" sz="2800" b="1" dirty="0">
                <a:solidFill>
                  <a:srgbClr val="0000FF"/>
                </a:solidFill>
              </a:rPr>
              <a:t>）单向移位寄存器</a:t>
            </a:r>
            <a:endParaRPr lang="zh-CN" altLang="en-US" sz="2800" b="1" dirty="0">
              <a:solidFill>
                <a:srgbClr val="0000FF"/>
              </a:solidFill>
            </a:endParaRPr>
          </a:p>
        </p:txBody>
      </p:sp>
      <p:grpSp>
        <p:nvGrpSpPr>
          <p:cNvPr id="8" name="组合 7"/>
          <p:cNvGrpSpPr/>
          <p:nvPr/>
        </p:nvGrpSpPr>
        <p:grpSpPr>
          <a:xfrm>
            <a:off x="810320" y="1627392"/>
            <a:ext cx="7257402" cy="2281947"/>
            <a:chOff x="310356" y="1970736"/>
            <a:chExt cx="8300290" cy="3255963"/>
          </a:xfrm>
        </p:grpSpPr>
        <p:grpSp>
          <p:nvGrpSpPr>
            <p:cNvPr id="7" name="组合 6"/>
            <p:cNvGrpSpPr/>
            <p:nvPr/>
          </p:nvGrpSpPr>
          <p:grpSpPr>
            <a:xfrm>
              <a:off x="310356" y="1970736"/>
              <a:ext cx="8300290" cy="3255963"/>
              <a:chOff x="310356" y="3265772"/>
              <a:chExt cx="8300290" cy="3255963"/>
            </a:xfrm>
          </p:grpSpPr>
          <p:grpSp>
            <p:nvGrpSpPr>
              <p:cNvPr id="4" name="组合 3"/>
              <p:cNvGrpSpPr/>
              <p:nvPr/>
            </p:nvGrpSpPr>
            <p:grpSpPr>
              <a:xfrm>
                <a:off x="310356" y="3265772"/>
                <a:ext cx="8300290" cy="3255963"/>
                <a:chOff x="374901" y="3521115"/>
                <a:chExt cx="8300290" cy="3255963"/>
              </a:xfrm>
            </p:grpSpPr>
            <p:pic>
              <p:nvPicPr>
                <p:cNvPr id="63" name="Picture 5" descr="6-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616" y="3521115"/>
                  <a:ext cx="7775575"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oup 29"/>
                <p:cNvGrpSpPr/>
                <p:nvPr/>
              </p:nvGrpSpPr>
              <p:grpSpPr bwMode="auto">
                <a:xfrm>
                  <a:off x="374901" y="5305465"/>
                  <a:ext cx="6846887" cy="1471613"/>
                  <a:chOff x="82" y="3239"/>
                  <a:chExt cx="4313" cy="927"/>
                </a:xfrm>
              </p:grpSpPr>
              <p:sp>
                <p:nvSpPr>
                  <p:cNvPr id="65" name="Line 6"/>
                  <p:cNvSpPr>
                    <a:spLocks noChangeShapeType="1"/>
                  </p:cNvSpPr>
                  <p:nvPr/>
                </p:nvSpPr>
                <p:spPr bwMode="auto">
                  <a:xfrm>
                    <a:off x="912" y="4065"/>
                    <a:ext cx="3063"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66" name="AutoShape 7"/>
                  <p:cNvSpPr>
                    <a:spLocks noChangeArrowheads="1"/>
                  </p:cNvSpPr>
                  <p:nvPr/>
                </p:nvSpPr>
                <p:spPr bwMode="auto">
                  <a:xfrm>
                    <a:off x="82" y="3939"/>
                    <a:ext cx="544"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algn="ct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zh-CN" altLang="en-US" kern="0" dirty="0">
                        <a:solidFill>
                          <a:srgbClr val="CC0000"/>
                        </a:solidFill>
                        <a:ea typeface="宋体-18030" pitchFamily="49" charset="-122"/>
                      </a:rPr>
                      <a:t>异步清零</a:t>
                    </a:r>
                    <a:endParaRPr lang="zh-CN" altLang="en-US" kern="0" dirty="0">
                      <a:solidFill>
                        <a:srgbClr val="CC0000"/>
                      </a:solidFill>
                      <a:ea typeface="宋体-18030" pitchFamily="49" charset="-122"/>
                    </a:endParaRPr>
                  </a:p>
                </p:txBody>
              </p:sp>
              <p:grpSp>
                <p:nvGrpSpPr>
                  <p:cNvPr id="69" name="Group 16"/>
                  <p:cNvGrpSpPr/>
                  <p:nvPr/>
                </p:nvGrpSpPr>
                <p:grpSpPr bwMode="auto">
                  <a:xfrm>
                    <a:off x="1356" y="3249"/>
                    <a:ext cx="390" cy="813"/>
                    <a:chOff x="1356" y="3249"/>
                    <a:chExt cx="390" cy="813"/>
                  </a:xfrm>
                </p:grpSpPr>
                <p:sp>
                  <p:nvSpPr>
                    <p:cNvPr id="82" name="Line 13"/>
                    <p:cNvSpPr>
                      <a:spLocks noChangeShapeType="1"/>
                    </p:cNvSpPr>
                    <p:nvPr/>
                  </p:nvSpPr>
                  <p:spPr bwMode="auto">
                    <a:xfrm rot="5400000">
                      <a:off x="1003" y="3710"/>
                      <a:ext cx="70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83" name="Line 14"/>
                    <p:cNvSpPr>
                      <a:spLocks noChangeShapeType="1"/>
                    </p:cNvSpPr>
                    <p:nvPr/>
                  </p:nvSpPr>
                  <p:spPr bwMode="auto">
                    <a:xfrm>
                      <a:off x="1356" y="3357"/>
                      <a:ext cx="70"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84" name="AutoShape 15"/>
                    <p:cNvSpPr>
                      <a:spLocks noChangeArrowheads="1"/>
                    </p:cNvSpPr>
                    <p:nvPr/>
                  </p:nvSpPr>
                  <p:spPr bwMode="auto">
                    <a:xfrm>
                      <a:off x="1428" y="3249"/>
                      <a:ext cx="318"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en-US" altLang="zh-CN" sz="2000" kern="0">
                          <a:solidFill>
                            <a:srgbClr val="CC0000"/>
                          </a:solidFill>
                          <a:ea typeface="宋体" panose="02010600030101010101" pitchFamily="2" charset="-122"/>
                        </a:rPr>
                        <a:t>R</a:t>
                      </a:r>
                      <a:endParaRPr lang="en-US" altLang="zh-CN" sz="2000" kern="0" baseline="-25000">
                        <a:solidFill>
                          <a:srgbClr val="CC0000"/>
                        </a:solidFill>
                        <a:ea typeface="宋体" panose="02010600030101010101" pitchFamily="2" charset="-122"/>
                      </a:endParaRPr>
                    </a:p>
                  </p:txBody>
                </p:sp>
              </p:grpSp>
              <p:grpSp>
                <p:nvGrpSpPr>
                  <p:cNvPr id="70" name="Group 17"/>
                  <p:cNvGrpSpPr/>
                  <p:nvPr/>
                </p:nvGrpSpPr>
                <p:grpSpPr bwMode="auto">
                  <a:xfrm>
                    <a:off x="2209" y="3239"/>
                    <a:ext cx="390" cy="813"/>
                    <a:chOff x="1356" y="3249"/>
                    <a:chExt cx="390" cy="813"/>
                  </a:xfrm>
                </p:grpSpPr>
                <p:sp>
                  <p:nvSpPr>
                    <p:cNvPr id="79" name="Line 18"/>
                    <p:cNvSpPr>
                      <a:spLocks noChangeShapeType="1"/>
                    </p:cNvSpPr>
                    <p:nvPr/>
                  </p:nvSpPr>
                  <p:spPr bwMode="auto">
                    <a:xfrm rot="5400000">
                      <a:off x="1003" y="3710"/>
                      <a:ext cx="70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80" name="Line 19"/>
                    <p:cNvSpPr>
                      <a:spLocks noChangeShapeType="1"/>
                    </p:cNvSpPr>
                    <p:nvPr/>
                  </p:nvSpPr>
                  <p:spPr bwMode="auto">
                    <a:xfrm>
                      <a:off x="1356" y="3357"/>
                      <a:ext cx="70"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81" name="AutoShape 20"/>
                    <p:cNvSpPr>
                      <a:spLocks noChangeArrowheads="1"/>
                    </p:cNvSpPr>
                    <p:nvPr/>
                  </p:nvSpPr>
                  <p:spPr bwMode="auto">
                    <a:xfrm>
                      <a:off x="1428" y="3249"/>
                      <a:ext cx="318"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en-US" altLang="zh-CN" sz="2000" kern="0">
                          <a:solidFill>
                            <a:srgbClr val="CC0000"/>
                          </a:solidFill>
                          <a:ea typeface="宋体" panose="02010600030101010101" pitchFamily="2" charset="-122"/>
                        </a:rPr>
                        <a:t>R</a:t>
                      </a:r>
                      <a:endParaRPr lang="en-US" altLang="zh-CN" sz="2000" kern="0" baseline="-25000">
                        <a:solidFill>
                          <a:srgbClr val="CC0000"/>
                        </a:solidFill>
                        <a:ea typeface="宋体" panose="02010600030101010101" pitchFamily="2" charset="-122"/>
                      </a:endParaRPr>
                    </a:p>
                  </p:txBody>
                </p:sp>
              </p:grpSp>
              <p:grpSp>
                <p:nvGrpSpPr>
                  <p:cNvPr id="71" name="Group 21"/>
                  <p:cNvGrpSpPr/>
                  <p:nvPr/>
                </p:nvGrpSpPr>
                <p:grpSpPr bwMode="auto">
                  <a:xfrm>
                    <a:off x="3080" y="3252"/>
                    <a:ext cx="390" cy="813"/>
                    <a:chOff x="1356" y="3249"/>
                    <a:chExt cx="390" cy="813"/>
                  </a:xfrm>
                </p:grpSpPr>
                <p:sp>
                  <p:nvSpPr>
                    <p:cNvPr id="76" name="Line 22"/>
                    <p:cNvSpPr>
                      <a:spLocks noChangeShapeType="1"/>
                    </p:cNvSpPr>
                    <p:nvPr/>
                  </p:nvSpPr>
                  <p:spPr bwMode="auto">
                    <a:xfrm rot="5400000">
                      <a:off x="1003" y="3710"/>
                      <a:ext cx="70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77" name="Line 23"/>
                    <p:cNvSpPr>
                      <a:spLocks noChangeShapeType="1"/>
                    </p:cNvSpPr>
                    <p:nvPr/>
                  </p:nvSpPr>
                  <p:spPr bwMode="auto">
                    <a:xfrm>
                      <a:off x="1356" y="3357"/>
                      <a:ext cx="70"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78" name="AutoShape 24"/>
                    <p:cNvSpPr>
                      <a:spLocks noChangeArrowheads="1"/>
                    </p:cNvSpPr>
                    <p:nvPr/>
                  </p:nvSpPr>
                  <p:spPr bwMode="auto">
                    <a:xfrm>
                      <a:off x="1428" y="3249"/>
                      <a:ext cx="318"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en-US" altLang="zh-CN" sz="2000" kern="0">
                          <a:solidFill>
                            <a:srgbClr val="CC0000"/>
                          </a:solidFill>
                          <a:ea typeface="宋体" panose="02010600030101010101" pitchFamily="2" charset="-122"/>
                        </a:rPr>
                        <a:t>R</a:t>
                      </a:r>
                      <a:endParaRPr lang="en-US" altLang="zh-CN" sz="2000" kern="0" baseline="-25000">
                        <a:solidFill>
                          <a:srgbClr val="CC0000"/>
                        </a:solidFill>
                        <a:ea typeface="宋体" panose="02010600030101010101" pitchFamily="2" charset="-122"/>
                      </a:endParaRPr>
                    </a:p>
                  </p:txBody>
                </p:sp>
              </p:grpSp>
              <p:grpSp>
                <p:nvGrpSpPr>
                  <p:cNvPr id="72" name="Group 25"/>
                  <p:cNvGrpSpPr/>
                  <p:nvPr/>
                </p:nvGrpSpPr>
                <p:grpSpPr bwMode="auto">
                  <a:xfrm>
                    <a:off x="3969" y="3249"/>
                    <a:ext cx="426" cy="813"/>
                    <a:chOff x="1356" y="3249"/>
                    <a:chExt cx="390" cy="813"/>
                  </a:xfrm>
                </p:grpSpPr>
                <p:sp>
                  <p:nvSpPr>
                    <p:cNvPr id="73" name="Line 26"/>
                    <p:cNvSpPr>
                      <a:spLocks noChangeShapeType="1"/>
                    </p:cNvSpPr>
                    <p:nvPr/>
                  </p:nvSpPr>
                  <p:spPr bwMode="auto">
                    <a:xfrm rot="5400000">
                      <a:off x="1003" y="3710"/>
                      <a:ext cx="70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74" name="Line 27"/>
                    <p:cNvSpPr>
                      <a:spLocks noChangeShapeType="1"/>
                    </p:cNvSpPr>
                    <p:nvPr/>
                  </p:nvSpPr>
                  <p:spPr bwMode="auto">
                    <a:xfrm>
                      <a:off x="1356" y="3357"/>
                      <a:ext cx="70" cy="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defTabSz="914400" fontAlgn="base">
                        <a:lnSpc>
                          <a:spcPct val="90000"/>
                        </a:lnSpc>
                        <a:spcBef>
                          <a:spcPct val="20000"/>
                        </a:spcBef>
                        <a:spcAft>
                          <a:spcPct val="0"/>
                        </a:spcAft>
                        <a:buClr>
                          <a:srgbClr val="5F5F5F"/>
                        </a:buClr>
                        <a:buSzPct val="65000"/>
                        <a:buFont typeface="Wingdings" panose="05000000000000000000" pitchFamily="2" charset="2"/>
                        <a:buChar char="­"/>
                        <a:defRPr/>
                      </a:pPr>
                      <a:endParaRPr kumimoji="1" lang="zh-CN" altLang="en-US" sz="2400" b="1" kern="0">
                        <a:solidFill>
                          <a:srgbClr val="3333CC"/>
                        </a:solidFill>
                        <a:latin typeface="Times New Roman" panose="02020603050405020304" pitchFamily="18" charset="0"/>
                        <a:ea typeface="楷体_GB2312" pitchFamily="49" charset="-122"/>
                      </a:endParaRPr>
                    </a:p>
                  </p:txBody>
                </p:sp>
                <p:sp>
                  <p:nvSpPr>
                    <p:cNvPr id="75" name="AutoShape 28"/>
                    <p:cNvSpPr>
                      <a:spLocks noChangeArrowheads="1"/>
                    </p:cNvSpPr>
                    <p:nvPr/>
                  </p:nvSpPr>
                  <p:spPr bwMode="auto">
                    <a:xfrm>
                      <a:off x="1428" y="3249"/>
                      <a:ext cx="318" cy="227"/>
                    </a:xfrm>
                    <a:prstGeom prst="flowChartProcess">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defTabSz="914400" eaLnBrk="1" fontAlgn="base" hangingPunct="1">
                        <a:lnSpc>
                          <a:spcPct val="90000"/>
                        </a:lnSpc>
                        <a:spcBef>
                          <a:spcPct val="20000"/>
                        </a:spcBef>
                        <a:spcAft>
                          <a:spcPct val="0"/>
                        </a:spcAft>
                        <a:buClr>
                          <a:srgbClr val="5F5F5F"/>
                        </a:buClr>
                        <a:buSzPct val="65000"/>
                        <a:buFont typeface="Wingdings" panose="05000000000000000000" pitchFamily="2" charset="2"/>
                        <a:buNone/>
                        <a:defRPr/>
                      </a:pPr>
                      <a:r>
                        <a:rPr lang="en-US" altLang="zh-CN" sz="2000" kern="0">
                          <a:solidFill>
                            <a:srgbClr val="CC0000"/>
                          </a:solidFill>
                          <a:ea typeface="宋体" panose="02010600030101010101" pitchFamily="2" charset="-122"/>
                        </a:rPr>
                        <a:t>R</a:t>
                      </a:r>
                      <a:endParaRPr lang="en-US" altLang="zh-CN" sz="2000" kern="0" baseline="-25000">
                        <a:solidFill>
                          <a:srgbClr val="CC0000"/>
                        </a:solidFill>
                        <a:ea typeface="宋体" panose="02010600030101010101" pitchFamily="2" charset="-122"/>
                      </a:endParaRPr>
                    </a:p>
                  </p:txBody>
                </p:sp>
              </p:grpSp>
            </p:grpSp>
          </p:grpSp>
          <p:sp>
            <p:nvSpPr>
              <p:cNvPr id="5" name="文本框 4"/>
              <p:cNvSpPr txBox="1"/>
              <p:nvPr/>
            </p:nvSpPr>
            <p:spPr>
              <a:xfrm>
                <a:off x="1530117" y="5200739"/>
                <a:ext cx="587274" cy="526976"/>
              </a:xfrm>
              <a:prstGeom prst="rect">
                <a:avLst/>
              </a:prstGeom>
              <a:solidFill>
                <a:srgbClr val="FFFFFF"/>
              </a:solidFill>
            </p:spPr>
            <p:txBody>
              <a:bodyPr wrap="square" rtlCol="0">
                <a:spAutoFit/>
              </a:bodyPr>
              <a:lstStyle/>
              <a:p>
                <a:r>
                  <a:rPr lang="en-US" altLang="zh-CN" i="1" dirty="0">
                    <a:solidFill>
                      <a:prstClr val="black"/>
                    </a:solidFill>
                    <a:latin typeface="Times New Roman" panose="02020603050405020304" pitchFamily="18" charset="0"/>
                    <a:cs typeface="Times New Roman" panose="02020603050405020304" pitchFamily="18" charset="0"/>
                  </a:rPr>
                  <a:t>CP</a:t>
                </a:r>
                <a:endParaRPr lang="zh-CN" altLang="en-US" i="1" dirty="0">
                  <a:solidFill>
                    <a:prstClr val="black"/>
                  </a:solidFill>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87" name="矩形 86"/>
                <p:cNvSpPr/>
                <p:nvPr/>
              </p:nvSpPr>
              <p:spPr>
                <a:xfrm>
                  <a:off x="1498316" y="4631266"/>
                  <a:ext cx="429372" cy="52697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𝟏</m:t>
                        </m:r>
                      </m:oMath>
                    </m:oMathPara>
                  </a14:m>
                  <a:endParaRPr lang="zh-CN" altLang="en-US" b="1" dirty="0">
                    <a:solidFill>
                      <a:prstClr val="black"/>
                    </a:solidFill>
                  </a:endParaRPr>
                </a:p>
              </p:txBody>
            </p:sp>
          </mc:Choice>
          <mc:Fallback>
            <p:sp>
              <p:nvSpPr>
                <p:cNvPr id="87" name="矩形 86"/>
                <p:cNvSpPr>
                  <a:spLocks noRot="1" noChangeAspect="1" noMove="1" noResize="1" noEditPoints="1" noAdjustHandles="1" noChangeArrowheads="1" noChangeShapeType="1" noTextEdit="1"/>
                </p:cNvSpPr>
                <p:nvPr/>
              </p:nvSpPr>
              <p:spPr>
                <a:xfrm>
                  <a:off x="1498316" y="4631266"/>
                  <a:ext cx="429372" cy="526976"/>
                </a:xfrm>
                <a:prstGeom prst="rect">
                  <a:avLst/>
                </a:prstGeom>
                <a:blipFill rotWithShape="1">
                  <a:blip r:embed="rId3"/>
                </a:blipFill>
              </p:spPr>
              <p:txBody>
                <a:bodyPr/>
                <a:lstStyle/>
                <a:p>
                  <a:r>
                    <a:rPr lang="zh-CN" altLang="en-US">
                      <a:noFill/>
                    </a:rPr>
                    <a:t> </a:t>
                  </a:r>
                </a:p>
              </p:txBody>
            </p:sp>
          </mc:Fallback>
        </mc:AlternateContent>
      </p:grpSp>
      <p:sp>
        <p:nvSpPr>
          <p:cNvPr id="11" name="文本框 10"/>
          <p:cNvSpPr txBox="1"/>
          <p:nvPr/>
        </p:nvSpPr>
        <p:spPr>
          <a:xfrm>
            <a:off x="441000" y="4083283"/>
            <a:ext cx="7805490" cy="461665"/>
          </a:xfrm>
          <a:prstGeom prst="rect">
            <a:avLst/>
          </a:prstGeom>
          <a:noFill/>
        </p:spPr>
        <p:txBody>
          <a:bodyPr wrap="square" rtlCol="0">
            <a:spAutoFit/>
          </a:bodyPr>
          <a:lstStyle/>
          <a:p>
            <a:r>
              <a:rPr lang="zh-CN" altLang="en-US" sz="2400" b="1" dirty="0">
                <a:solidFill>
                  <a:prstClr val="black"/>
                </a:solidFill>
              </a:rPr>
              <a:t>触发器的驱动方程：</a:t>
            </a:r>
            <a:endParaRPr lang="zh-CN" altLang="en-US" sz="2400" b="1" dirty="0">
              <a:solidFill>
                <a:prstClr val="black"/>
              </a:solidFill>
            </a:endParaRPr>
          </a:p>
        </p:txBody>
      </p:sp>
      <p:sp>
        <p:nvSpPr>
          <p:cNvPr id="37" name="Rectangle 28"/>
          <p:cNvSpPr>
            <a:spLocks noChangeArrowheads="1"/>
          </p:cNvSpPr>
          <p:nvPr/>
        </p:nvSpPr>
        <p:spPr bwMode="auto">
          <a:xfrm>
            <a:off x="1618458" y="4454290"/>
            <a:ext cx="6274258" cy="507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eaLnBrk="1" hangingPunct="1">
              <a:buClr>
                <a:srgbClr val="CC0000"/>
              </a:buClr>
              <a:buSzPct val="80000"/>
              <a:buFont typeface="Wingdings" panose="05000000000000000000" pitchFamily="2" charset="2"/>
              <a:buNone/>
            </a:pPr>
            <a:r>
              <a:rPr kumimoji="0" lang="en-US" altLang="zh-CN" sz="2800" i="1" dirty="0">
                <a:solidFill>
                  <a:srgbClr val="000099"/>
                </a:solidFill>
              </a:rPr>
              <a:t>D</a:t>
            </a:r>
            <a:r>
              <a:rPr kumimoji="0" lang="en-US" altLang="zh-CN" sz="2800" baseline="-25000" dirty="0">
                <a:solidFill>
                  <a:srgbClr val="000099"/>
                </a:solidFill>
              </a:rPr>
              <a:t>0</a:t>
            </a:r>
            <a:r>
              <a:rPr kumimoji="0" lang="en-US" altLang="zh-CN" sz="2800" i="1" dirty="0">
                <a:solidFill>
                  <a:srgbClr val="000099"/>
                </a:solidFill>
              </a:rPr>
              <a:t>=D</a:t>
            </a:r>
            <a:r>
              <a:rPr kumimoji="0" lang="en-US" altLang="zh-CN" sz="2800" baseline="-25000" dirty="0">
                <a:solidFill>
                  <a:srgbClr val="000099"/>
                </a:solidFill>
              </a:rPr>
              <a:t>I </a:t>
            </a:r>
            <a:r>
              <a:rPr kumimoji="0" lang="en-US" altLang="zh-CN" sz="2800" dirty="0">
                <a:solidFill>
                  <a:srgbClr val="000099"/>
                </a:solidFill>
              </a:rPr>
              <a:t>,   </a:t>
            </a:r>
            <a:r>
              <a:rPr kumimoji="0" lang="en-US" altLang="zh-CN" sz="2800" i="1" dirty="0">
                <a:solidFill>
                  <a:srgbClr val="000099"/>
                </a:solidFill>
              </a:rPr>
              <a:t>D</a:t>
            </a:r>
            <a:r>
              <a:rPr kumimoji="0" lang="en-US" altLang="zh-CN" sz="2800" baseline="-25000" dirty="0">
                <a:solidFill>
                  <a:srgbClr val="000099"/>
                </a:solidFill>
              </a:rPr>
              <a:t>1</a:t>
            </a:r>
            <a:r>
              <a:rPr kumimoji="0" lang="en-US" altLang="zh-CN" sz="2800" i="1" dirty="0">
                <a:solidFill>
                  <a:srgbClr val="000099"/>
                </a:solidFill>
              </a:rPr>
              <a:t>=Q</a:t>
            </a:r>
            <a:r>
              <a:rPr kumimoji="0" lang="en-US" altLang="zh-CN" sz="2800" baseline="-25000" dirty="0">
                <a:solidFill>
                  <a:srgbClr val="000099"/>
                </a:solidFill>
              </a:rPr>
              <a:t>0</a:t>
            </a:r>
            <a:r>
              <a:rPr kumimoji="0" lang="en-US" altLang="zh-CN" sz="2800" baseline="30000" dirty="0">
                <a:solidFill>
                  <a:srgbClr val="000099"/>
                </a:solidFill>
              </a:rPr>
              <a:t>n</a:t>
            </a:r>
            <a:r>
              <a:rPr kumimoji="0" lang="en-US" altLang="zh-CN" sz="2800" baseline="-25000" dirty="0">
                <a:solidFill>
                  <a:srgbClr val="000099"/>
                </a:solidFill>
              </a:rPr>
              <a:t> </a:t>
            </a:r>
            <a:r>
              <a:rPr kumimoji="0" lang="en-US" altLang="zh-CN" sz="2800" dirty="0">
                <a:solidFill>
                  <a:srgbClr val="000099"/>
                </a:solidFill>
              </a:rPr>
              <a:t>,   </a:t>
            </a:r>
            <a:r>
              <a:rPr kumimoji="0" lang="en-US" altLang="zh-CN" sz="2800" i="1" dirty="0">
                <a:solidFill>
                  <a:srgbClr val="000099"/>
                </a:solidFill>
              </a:rPr>
              <a:t>D</a:t>
            </a:r>
            <a:r>
              <a:rPr kumimoji="0" lang="en-US" altLang="zh-CN" sz="2800" baseline="-25000" dirty="0">
                <a:solidFill>
                  <a:srgbClr val="000099"/>
                </a:solidFill>
              </a:rPr>
              <a:t>2</a:t>
            </a:r>
            <a:r>
              <a:rPr kumimoji="0" lang="en-US" altLang="zh-CN" sz="2800" i="1" dirty="0">
                <a:solidFill>
                  <a:srgbClr val="000099"/>
                </a:solidFill>
              </a:rPr>
              <a:t>=Q</a:t>
            </a:r>
            <a:r>
              <a:rPr kumimoji="0" lang="en-US" altLang="zh-CN" sz="2800" baseline="-25000" dirty="0">
                <a:solidFill>
                  <a:srgbClr val="000099"/>
                </a:solidFill>
              </a:rPr>
              <a:t>1</a:t>
            </a:r>
            <a:r>
              <a:rPr kumimoji="0" lang="en-US" altLang="zh-CN" sz="2800" baseline="30000" dirty="0">
                <a:solidFill>
                  <a:srgbClr val="000099"/>
                </a:solidFill>
              </a:rPr>
              <a:t>n</a:t>
            </a:r>
            <a:r>
              <a:rPr kumimoji="0" lang="en-US" altLang="zh-CN" sz="2800" baseline="-25000" dirty="0">
                <a:solidFill>
                  <a:srgbClr val="000099"/>
                </a:solidFill>
              </a:rPr>
              <a:t> </a:t>
            </a:r>
            <a:r>
              <a:rPr kumimoji="0" lang="en-US" altLang="zh-CN" sz="2800" dirty="0">
                <a:solidFill>
                  <a:srgbClr val="000099"/>
                </a:solidFill>
              </a:rPr>
              <a:t>,   </a:t>
            </a:r>
            <a:r>
              <a:rPr kumimoji="0" lang="en-US" altLang="zh-CN" sz="2800" i="1" dirty="0">
                <a:solidFill>
                  <a:srgbClr val="000099"/>
                </a:solidFill>
              </a:rPr>
              <a:t>D</a:t>
            </a:r>
            <a:r>
              <a:rPr kumimoji="0" lang="en-US" altLang="zh-CN" sz="2800" baseline="-25000" dirty="0">
                <a:solidFill>
                  <a:srgbClr val="000099"/>
                </a:solidFill>
              </a:rPr>
              <a:t>3</a:t>
            </a:r>
            <a:r>
              <a:rPr kumimoji="0" lang="en-US" altLang="zh-CN" sz="2800" i="1" dirty="0">
                <a:solidFill>
                  <a:srgbClr val="000099"/>
                </a:solidFill>
              </a:rPr>
              <a:t>=Q</a:t>
            </a:r>
            <a:r>
              <a:rPr kumimoji="0" lang="en-US" altLang="zh-CN" sz="2800" baseline="-25000" dirty="0">
                <a:solidFill>
                  <a:srgbClr val="000099"/>
                </a:solidFill>
              </a:rPr>
              <a:t>2</a:t>
            </a:r>
            <a:r>
              <a:rPr kumimoji="0" lang="en-US" altLang="zh-CN" sz="2800" baseline="30000" dirty="0">
                <a:solidFill>
                  <a:srgbClr val="000099"/>
                </a:solidFill>
              </a:rPr>
              <a:t>n</a:t>
            </a:r>
            <a:r>
              <a:rPr kumimoji="0" lang="en-US" altLang="zh-CN" sz="2800" dirty="0">
                <a:solidFill>
                  <a:srgbClr val="000099"/>
                </a:solidFill>
              </a:rPr>
              <a:t>  </a:t>
            </a:r>
            <a:endParaRPr kumimoji="0" lang="en-US" altLang="zh-CN" sz="2800" dirty="0">
              <a:solidFill>
                <a:srgbClr val="000099"/>
              </a:solidFill>
            </a:endParaRPr>
          </a:p>
        </p:txBody>
      </p:sp>
      <p:sp>
        <p:nvSpPr>
          <p:cNvPr id="38" name="文本框 37"/>
          <p:cNvSpPr txBox="1"/>
          <p:nvPr/>
        </p:nvSpPr>
        <p:spPr>
          <a:xfrm>
            <a:off x="441000" y="5163672"/>
            <a:ext cx="7805490" cy="461665"/>
          </a:xfrm>
          <a:prstGeom prst="rect">
            <a:avLst/>
          </a:prstGeom>
          <a:noFill/>
        </p:spPr>
        <p:txBody>
          <a:bodyPr wrap="square" rtlCol="0">
            <a:spAutoFit/>
          </a:bodyPr>
          <a:lstStyle/>
          <a:p>
            <a:r>
              <a:rPr lang="zh-CN" altLang="en-US" sz="2400" b="1" dirty="0">
                <a:solidFill>
                  <a:prstClr val="black"/>
                </a:solidFill>
              </a:rPr>
              <a:t>代入</a:t>
            </a:r>
            <a:r>
              <a:rPr lang="en-US" altLang="zh-CN" sz="2400" b="1" dirty="0">
                <a:solidFill>
                  <a:prstClr val="black"/>
                </a:solidFill>
              </a:rPr>
              <a:t>D</a:t>
            </a:r>
            <a:r>
              <a:rPr lang="zh-CN" altLang="en-US" sz="2400" b="1" dirty="0">
                <a:solidFill>
                  <a:prstClr val="black"/>
                </a:solidFill>
              </a:rPr>
              <a:t>触发器的特征方程：</a:t>
            </a:r>
            <a:endParaRPr lang="zh-CN" altLang="en-US" sz="2400" b="1" dirty="0">
              <a:solidFill>
                <a:prstClr val="black"/>
              </a:solidFill>
            </a:endParaRPr>
          </a:p>
        </p:txBody>
      </p:sp>
      <mc:AlternateContent xmlns:mc="http://schemas.openxmlformats.org/markup-compatibility/2006">
        <mc:Choice xmlns:a14="http://schemas.microsoft.com/office/drawing/2010/main" Requires="a14">
          <p:sp>
            <p:nvSpPr>
              <p:cNvPr id="12" name="矩形 11"/>
              <p:cNvSpPr/>
              <p:nvPr/>
            </p:nvSpPr>
            <p:spPr>
              <a:xfrm>
                <a:off x="4063129" y="5209838"/>
                <a:ext cx="1549270" cy="461665"/>
              </a:xfrm>
              <a:prstGeom prst="rect">
                <a:avLst/>
              </a:prstGeom>
            </p:spPr>
            <p:txBody>
              <a:bodyPr wrap="none">
                <a:spAutoFit/>
              </a:bodyPr>
              <a:lstStyle/>
              <a:p>
                <a14:m>
                  <m:oMath xmlns:m="http://schemas.openxmlformats.org/officeDocument/2006/math">
                    <m:sSup>
                      <m:sSupPr>
                        <m:ctrlPr>
                          <a:rPr lang="zh-CN" altLang="en-US" sz="2400" i="1" smtClean="0">
                            <a:solidFill>
                              <a:srgbClr val="C00000"/>
                            </a:solidFill>
                            <a:latin typeface="Cambria Math" panose="02040503050406030204"/>
                          </a:rPr>
                        </m:ctrlPr>
                      </m:sSupPr>
                      <m:e>
                        <m:r>
                          <a:rPr lang="zh-CN" altLang="en-US" sz="2400" i="1">
                            <a:solidFill>
                              <a:srgbClr val="C00000"/>
                            </a:solidFill>
                            <a:latin typeface="Cambria Math" panose="02040503050406030204" pitchFamily="18" charset="0"/>
                          </a:rPr>
                          <m:t>𝑄</m:t>
                        </m:r>
                      </m:e>
                      <m:sup>
                        <m:r>
                          <a:rPr lang="zh-CN" altLang="en-US" sz="2400" i="1">
                            <a:solidFill>
                              <a:srgbClr val="C00000"/>
                            </a:solidFill>
                            <a:latin typeface="Cambria Math" panose="02040503050406030204" pitchFamily="18" charset="0"/>
                          </a:rPr>
                          <m:t>𝑛</m:t>
                        </m:r>
                        <m:r>
                          <a:rPr lang="zh-CN" altLang="en-US" sz="2400">
                            <a:solidFill>
                              <a:srgbClr val="C00000"/>
                            </a:solidFill>
                            <a:latin typeface="Cambria Math" panose="02040503050406030204" pitchFamily="18" charset="0"/>
                          </a:rPr>
                          <m:t>+</m:t>
                        </m:r>
                        <m:r>
                          <a:rPr lang="zh-CN" altLang="en-US" sz="2400">
                            <a:solidFill>
                              <a:srgbClr val="C00000"/>
                            </a:solidFill>
                            <a:latin typeface="Cambria Math" panose="02040503050406030204" pitchFamily="18" charset="0"/>
                          </a:rPr>
                          <m:t>1</m:t>
                        </m:r>
                      </m:sup>
                    </m:sSup>
                    <m:r>
                      <a:rPr lang="zh-CN" altLang="en-US" sz="2400">
                        <a:solidFill>
                          <a:srgbClr val="C00000"/>
                        </a:solidFill>
                        <a:latin typeface="Cambria Math" panose="02040503050406030204" pitchFamily="18" charset="0"/>
                      </a:rPr>
                      <m:t>=</m:t>
                    </m:r>
                    <m:r>
                      <a:rPr lang="zh-CN" altLang="en-US" sz="2400" i="1">
                        <a:solidFill>
                          <a:srgbClr val="C00000"/>
                        </a:solidFill>
                        <a:latin typeface="Cambria Math" panose="02040503050406030204" pitchFamily="18" charset="0"/>
                      </a:rPr>
                      <m:t>𝐷</m:t>
                    </m:r>
                  </m:oMath>
                </a14:m>
                <a:r>
                  <a:rPr lang="zh-CN" altLang="en-US" sz="2400" dirty="0">
                    <a:solidFill>
                      <a:srgbClr val="C00000"/>
                    </a:solidFill>
                  </a:rPr>
                  <a:t> </a:t>
                </a:r>
                <a:endParaRPr lang="zh-CN" altLang="en-US" sz="2400" dirty="0">
                  <a:solidFill>
                    <a:srgbClr val="C00000"/>
                  </a:solidFill>
                </a:endParaRPr>
              </a:p>
            </p:txBody>
          </p:sp>
        </mc:Choice>
        <mc:Fallback>
          <p:sp>
            <p:nvSpPr>
              <p:cNvPr id="12" name="矩形 11"/>
              <p:cNvSpPr>
                <a:spLocks noRot="1" noChangeAspect="1" noMove="1" noResize="1" noEditPoints="1" noAdjustHandles="1" noChangeArrowheads="1" noChangeShapeType="1" noTextEdit="1"/>
              </p:cNvSpPr>
              <p:nvPr/>
            </p:nvSpPr>
            <p:spPr>
              <a:xfrm>
                <a:off x="4063129" y="5209838"/>
                <a:ext cx="1549270" cy="461665"/>
              </a:xfrm>
              <a:prstGeom prst="rect">
                <a:avLst/>
              </a:prstGeom>
              <a:blipFill rotWithShape="1">
                <a:blip r:embed="rId4"/>
                <a:stretch>
                  <a:fillRect l="-26" t="-65" r="-802" b="69"/>
                </a:stretch>
              </a:blipFill>
            </p:spPr>
            <p:txBody>
              <a:bodyPr/>
              <a:lstStyle/>
              <a:p>
                <a:r>
                  <a:rPr lang="zh-CN" altLang="en-US">
                    <a:noFill/>
                  </a:rPr>
                  <a:t> </a:t>
                </a:r>
              </a:p>
            </p:txBody>
          </p:sp>
        </mc:Fallback>
      </mc:AlternateContent>
      <p:sp>
        <p:nvSpPr>
          <p:cNvPr id="13" name="文本框 12"/>
          <p:cNvSpPr txBox="1"/>
          <p:nvPr/>
        </p:nvSpPr>
        <p:spPr>
          <a:xfrm>
            <a:off x="441000" y="5969005"/>
            <a:ext cx="1120031" cy="461665"/>
          </a:xfrm>
          <a:prstGeom prst="rect">
            <a:avLst/>
          </a:prstGeom>
          <a:noFill/>
        </p:spPr>
        <p:txBody>
          <a:bodyPr wrap="square" rtlCol="0">
            <a:spAutoFit/>
          </a:bodyPr>
          <a:lstStyle>
            <a:defPPr>
              <a:defRPr lang="en-US"/>
            </a:defPPr>
            <a:lvl1pPr>
              <a:defRPr sz="2400" b="1"/>
            </a:lvl1pPr>
          </a:lstStyle>
          <a:p>
            <a:r>
              <a:rPr lang="zh-CN" altLang="en-US" dirty="0">
                <a:solidFill>
                  <a:prstClr val="black"/>
                </a:solidFill>
              </a:rPr>
              <a:t>得到：</a:t>
            </a:r>
            <a:endParaRPr lang="zh-CN" altLang="en-US" dirty="0">
              <a:solidFill>
                <a:prstClr val="black"/>
              </a:solidFill>
            </a:endParaRPr>
          </a:p>
        </p:txBody>
      </p:sp>
      <p:sp>
        <p:nvSpPr>
          <p:cNvPr id="41" name="Rectangle 29"/>
          <p:cNvSpPr>
            <a:spLocks noChangeArrowheads="1"/>
          </p:cNvSpPr>
          <p:nvPr/>
        </p:nvSpPr>
        <p:spPr bwMode="auto">
          <a:xfrm>
            <a:off x="1389762" y="5817018"/>
            <a:ext cx="748823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eaLnBrk="1" hangingPunct="1">
              <a:buClr>
                <a:srgbClr val="CC0000"/>
              </a:buClr>
              <a:buSzPct val="80000"/>
              <a:buFont typeface="Wingdings" panose="05000000000000000000" pitchFamily="2" charset="2"/>
              <a:buNone/>
            </a:pPr>
            <a:r>
              <a:rPr kumimoji="0" lang="en-US" altLang="zh-CN" sz="3200" i="1" dirty="0">
                <a:solidFill>
                  <a:srgbClr val="000099"/>
                </a:solidFill>
              </a:rPr>
              <a:t>Q</a:t>
            </a:r>
            <a:r>
              <a:rPr kumimoji="0" lang="en-US" altLang="zh-CN" sz="3200" baseline="-25000" dirty="0">
                <a:solidFill>
                  <a:srgbClr val="000099"/>
                </a:solidFill>
              </a:rPr>
              <a:t>0</a:t>
            </a:r>
            <a:r>
              <a:rPr lang="en-US" altLang="zh-CN" sz="2800" baseline="30000" dirty="0">
                <a:solidFill>
                  <a:srgbClr val="000099"/>
                </a:solidFill>
              </a:rPr>
              <a:t>n+1</a:t>
            </a:r>
            <a:r>
              <a:rPr kumimoji="0" lang="en-US" altLang="zh-CN" sz="3200" i="1" dirty="0">
                <a:solidFill>
                  <a:srgbClr val="000099"/>
                </a:solidFill>
              </a:rPr>
              <a:t>=D</a:t>
            </a:r>
            <a:r>
              <a:rPr kumimoji="0" lang="en-US" altLang="zh-CN" sz="3200" baseline="-25000" dirty="0">
                <a:solidFill>
                  <a:srgbClr val="000099"/>
                </a:solidFill>
              </a:rPr>
              <a:t>I </a:t>
            </a:r>
            <a:r>
              <a:rPr kumimoji="0" lang="en-US" altLang="zh-CN" sz="3200" dirty="0">
                <a:solidFill>
                  <a:srgbClr val="000099"/>
                </a:solidFill>
              </a:rPr>
              <a:t>, </a:t>
            </a:r>
            <a:r>
              <a:rPr kumimoji="0" lang="en-US" altLang="zh-CN" sz="3200" i="1" dirty="0">
                <a:solidFill>
                  <a:srgbClr val="000099"/>
                </a:solidFill>
              </a:rPr>
              <a:t>Q</a:t>
            </a:r>
            <a:r>
              <a:rPr kumimoji="0" lang="en-US" altLang="zh-CN" sz="3200" baseline="-25000" dirty="0">
                <a:solidFill>
                  <a:srgbClr val="000099"/>
                </a:solidFill>
              </a:rPr>
              <a:t>1</a:t>
            </a:r>
            <a:r>
              <a:rPr lang="en-US" altLang="zh-CN" sz="2800" baseline="30000" dirty="0">
                <a:solidFill>
                  <a:srgbClr val="000099"/>
                </a:solidFill>
              </a:rPr>
              <a:t>n+1</a:t>
            </a:r>
            <a:r>
              <a:rPr kumimoji="0" lang="en-US" altLang="zh-CN" sz="3200" i="1" dirty="0">
                <a:solidFill>
                  <a:srgbClr val="000099"/>
                </a:solidFill>
              </a:rPr>
              <a:t>=Q</a:t>
            </a:r>
            <a:r>
              <a:rPr kumimoji="0" lang="en-US" altLang="zh-CN" sz="3200" baseline="-25000" dirty="0">
                <a:solidFill>
                  <a:srgbClr val="000099"/>
                </a:solidFill>
              </a:rPr>
              <a:t>0</a:t>
            </a:r>
            <a:r>
              <a:rPr kumimoji="0" lang="en-US" altLang="zh-CN" sz="3200" baseline="30000" dirty="0">
                <a:solidFill>
                  <a:srgbClr val="000099"/>
                </a:solidFill>
              </a:rPr>
              <a:t>n</a:t>
            </a:r>
            <a:r>
              <a:rPr kumimoji="0" lang="en-US" altLang="zh-CN" sz="3200" baseline="-25000" dirty="0">
                <a:solidFill>
                  <a:srgbClr val="000099"/>
                </a:solidFill>
              </a:rPr>
              <a:t> </a:t>
            </a:r>
            <a:r>
              <a:rPr kumimoji="0" lang="en-US" altLang="zh-CN" sz="3200" dirty="0">
                <a:solidFill>
                  <a:srgbClr val="000099"/>
                </a:solidFill>
              </a:rPr>
              <a:t>, </a:t>
            </a:r>
            <a:r>
              <a:rPr kumimoji="0" lang="en-US" altLang="zh-CN" sz="3200" i="1" dirty="0">
                <a:solidFill>
                  <a:srgbClr val="000099"/>
                </a:solidFill>
              </a:rPr>
              <a:t>Q</a:t>
            </a:r>
            <a:r>
              <a:rPr kumimoji="0" lang="en-US" altLang="zh-CN" sz="3200" baseline="-25000" dirty="0">
                <a:solidFill>
                  <a:srgbClr val="000099"/>
                </a:solidFill>
              </a:rPr>
              <a:t>2</a:t>
            </a:r>
            <a:r>
              <a:rPr lang="en-US" altLang="zh-CN" sz="2800" baseline="30000" dirty="0">
                <a:solidFill>
                  <a:srgbClr val="000099"/>
                </a:solidFill>
              </a:rPr>
              <a:t>n+1</a:t>
            </a:r>
            <a:r>
              <a:rPr kumimoji="0" lang="en-US" altLang="zh-CN" sz="3200" i="1" dirty="0">
                <a:solidFill>
                  <a:srgbClr val="000099"/>
                </a:solidFill>
              </a:rPr>
              <a:t>=Q</a:t>
            </a:r>
            <a:r>
              <a:rPr kumimoji="0" lang="en-US" altLang="zh-CN" sz="3200" baseline="-25000" dirty="0">
                <a:solidFill>
                  <a:srgbClr val="000099"/>
                </a:solidFill>
              </a:rPr>
              <a:t>1</a:t>
            </a:r>
            <a:r>
              <a:rPr kumimoji="0" lang="en-US" altLang="zh-CN" sz="3200" baseline="30000" dirty="0">
                <a:solidFill>
                  <a:srgbClr val="000099"/>
                </a:solidFill>
              </a:rPr>
              <a:t>n</a:t>
            </a:r>
            <a:r>
              <a:rPr kumimoji="0" lang="en-US" altLang="zh-CN" sz="3200" baseline="-25000" dirty="0">
                <a:solidFill>
                  <a:srgbClr val="000099"/>
                </a:solidFill>
              </a:rPr>
              <a:t> </a:t>
            </a:r>
            <a:r>
              <a:rPr kumimoji="0" lang="en-US" altLang="zh-CN" sz="3200" dirty="0">
                <a:solidFill>
                  <a:srgbClr val="000099"/>
                </a:solidFill>
              </a:rPr>
              <a:t>, </a:t>
            </a:r>
            <a:r>
              <a:rPr kumimoji="0" lang="en-US" altLang="zh-CN" sz="3200" i="1" dirty="0">
                <a:solidFill>
                  <a:srgbClr val="000099"/>
                </a:solidFill>
              </a:rPr>
              <a:t>Q</a:t>
            </a:r>
            <a:r>
              <a:rPr kumimoji="0" lang="en-US" altLang="zh-CN" sz="3200" baseline="-25000" dirty="0">
                <a:solidFill>
                  <a:srgbClr val="000099"/>
                </a:solidFill>
              </a:rPr>
              <a:t>3</a:t>
            </a:r>
            <a:r>
              <a:rPr lang="en-US" altLang="zh-CN" sz="2800" baseline="30000" dirty="0">
                <a:solidFill>
                  <a:srgbClr val="000099"/>
                </a:solidFill>
              </a:rPr>
              <a:t>n+1</a:t>
            </a:r>
            <a:r>
              <a:rPr kumimoji="0" lang="en-US" altLang="zh-CN" sz="3200" i="1" dirty="0">
                <a:solidFill>
                  <a:srgbClr val="000099"/>
                </a:solidFill>
              </a:rPr>
              <a:t>=Q</a:t>
            </a:r>
            <a:r>
              <a:rPr kumimoji="0" lang="en-US" altLang="zh-CN" sz="3200" baseline="-25000" dirty="0">
                <a:solidFill>
                  <a:srgbClr val="000099"/>
                </a:solidFill>
              </a:rPr>
              <a:t>2</a:t>
            </a:r>
            <a:r>
              <a:rPr kumimoji="0" lang="en-US" altLang="zh-CN" sz="3200" baseline="30000" dirty="0">
                <a:solidFill>
                  <a:srgbClr val="000099"/>
                </a:solidFill>
              </a:rPr>
              <a:t>n</a:t>
            </a:r>
            <a:r>
              <a:rPr kumimoji="0" lang="en-US" altLang="zh-CN" sz="3200" dirty="0">
                <a:solidFill>
                  <a:srgbClr val="000099"/>
                </a:solidFill>
              </a:rPr>
              <a:t>  </a:t>
            </a:r>
            <a:endParaRPr kumimoji="0" lang="en-US" altLang="zh-CN" sz="3200" dirty="0">
              <a:solidFill>
                <a:srgbClr val="000099"/>
              </a:solidFill>
            </a:endParaRPr>
          </a:p>
        </p:txBody>
      </p:sp>
      <p:sp>
        <p:nvSpPr>
          <p:cNvPr id="14" name="弧形 13"/>
          <p:cNvSpPr/>
          <p:nvPr/>
        </p:nvSpPr>
        <p:spPr>
          <a:xfrm rot="20593095">
            <a:off x="2018941" y="1880331"/>
            <a:ext cx="1569284" cy="475404"/>
          </a:xfrm>
          <a:prstGeom prst="arc">
            <a:avLst>
              <a:gd name="adj1" fmla="val 10977206"/>
              <a:gd name="adj2" fmla="val 124696"/>
            </a:avLst>
          </a:prstGeom>
          <a:ln w="41275">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
        <p:nvSpPr>
          <p:cNvPr id="15" name="弧形 14"/>
          <p:cNvSpPr/>
          <p:nvPr/>
        </p:nvSpPr>
        <p:spPr>
          <a:xfrm>
            <a:off x="3578847" y="1697325"/>
            <a:ext cx="1190009" cy="326868"/>
          </a:xfrm>
          <a:prstGeom prst="arc">
            <a:avLst>
              <a:gd name="adj1" fmla="val 10680890"/>
              <a:gd name="adj2" fmla="val 0"/>
            </a:avLst>
          </a:prstGeom>
          <a:ln w="41275">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
        <p:nvSpPr>
          <p:cNvPr id="18" name="弧形 17"/>
          <p:cNvSpPr/>
          <p:nvPr/>
        </p:nvSpPr>
        <p:spPr>
          <a:xfrm>
            <a:off x="4830145" y="1688642"/>
            <a:ext cx="1190009" cy="437479"/>
          </a:xfrm>
          <a:prstGeom prst="arc">
            <a:avLst>
              <a:gd name="adj1" fmla="val 10794224"/>
              <a:gd name="adj2" fmla="val 49822"/>
            </a:avLst>
          </a:prstGeom>
          <a:ln w="4445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
        <p:nvSpPr>
          <p:cNvPr id="45" name="弧形 44"/>
          <p:cNvSpPr/>
          <p:nvPr/>
        </p:nvSpPr>
        <p:spPr>
          <a:xfrm>
            <a:off x="6036850" y="1658275"/>
            <a:ext cx="1190009" cy="437479"/>
          </a:xfrm>
          <a:prstGeom prst="arc">
            <a:avLst>
              <a:gd name="adj1" fmla="val 10794224"/>
              <a:gd name="adj2" fmla="val 49822"/>
            </a:avLst>
          </a:prstGeom>
          <a:ln w="4445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cxnSp>
        <p:nvCxnSpPr>
          <p:cNvPr id="43" name="直接连接符 42"/>
          <p:cNvCxnSpPr/>
          <p:nvPr/>
        </p:nvCxnSpPr>
        <p:spPr>
          <a:xfrm>
            <a:off x="3910469" y="2871190"/>
            <a:ext cx="230988"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2737203" y="2883979"/>
            <a:ext cx="230988"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5129018" y="2883979"/>
            <a:ext cx="230988"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6369288" y="2879940"/>
            <a:ext cx="230988"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left)">
                                      <p:cBhvr>
                                        <p:cTn id="4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7" grpId="0"/>
      <p:bldP spid="38" grpId="0"/>
      <p:bldP spid="12" grpId="0"/>
      <p:bldP spid="13" grpId="0"/>
      <p:bldP spid="41" grpId="0"/>
      <p:bldP spid="14" grpId="0" animBg="1"/>
      <p:bldP spid="15" grpId="0" animBg="1"/>
      <p:bldP spid="18" grpId="0" animBg="1"/>
      <p:bldP spid="45"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一、工作原理</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2" name="文本框 1"/>
          <p:cNvSpPr txBox="1"/>
          <p:nvPr/>
        </p:nvSpPr>
        <p:spPr>
          <a:xfrm>
            <a:off x="119507" y="1080590"/>
            <a:ext cx="6713537" cy="523220"/>
          </a:xfrm>
          <a:prstGeom prst="rect">
            <a:avLst/>
          </a:prstGeom>
          <a:noFill/>
        </p:spPr>
        <p:txBody>
          <a:bodyPr wrap="square" rtlCol="0">
            <a:spAutoFit/>
          </a:bodyPr>
          <a:lstStyle/>
          <a:p>
            <a:r>
              <a:rPr lang="zh-CN" altLang="en-US" sz="2800" b="1" dirty="0">
                <a:solidFill>
                  <a:srgbClr val="0000FF"/>
                </a:solidFill>
              </a:rPr>
              <a:t>（</a:t>
            </a:r>
            <a:r>
              <a:rPr lang="en-US" altLang="zh-CN" sz="2800" b="1" dirty="0">
                <a:solidFill>
                  <a:srgbClr val="0000FF"/>
                </a:solidFill>
              </a:rPr>
              <a:t>2</a:t>
            </a:r>
            <a:r>
              <a:rPr lang="zh-CN" altLang="en-US" sz="2800" b="1" dirty="0">
                <a:solidFill>
                  <a:srgbClr val="0000FF"/>
                </a:solidFill>
              </a:rPr>
              <a:t>）双向移位寄存器</a:t>
            </a:r>
            <a:endParaRPr lang="zh-CN" altLang="en-US" sz="2800" b="1" dirty="0">
              <a:solidFill>
                <a:srgbClr val="0000FF"/>
              </a:solidFill>
            </a:endParaRPr>
          </a:p>
        </p:txBody>
      </p:sp>
      <mc:AlternateContent xmlns:mc="http://schemas.openxmlformats.org/markup-compatibility/2006">
        <mc:Choice xmlns:a14="http://schemas.microsoft.com/office/drawing/2010/main" Requires="a14">
          <p:sp>
            <p:nvSpPr>
              <p:cNvPr id="124" name="Rectangle 33"/>
              <p:cNvSpPr>
                <a:spLocks noChangeArrowheads="1"/>
              </p:cNvSpPr>
              <p:nvPr/>
            </p:nvSpPr>
            <p:spPr bwMode="auto">
              <a:xfrm>
                <a:off x="253954" y="1652420"/>
                <a:ext cx="3829997" cy="1529732"/>
              </a:xfrm>
              <a:prstGeom prst="rect">
                <a:avLst/>
              </a:prstGeom>
              <a:noFill/>
              <a:ln>
                <a:noFill/>
              </a:ln>
            </p:spPr>
            <p:txBody>
              <a:bodyP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marL="0" indent="0" eaLnBrk="1" hangingPunct="1">
                  <a:lnSpc>
                    <a:spcPct val="105000"/>
                  </a:lnSpc>
                  <a:buFont typeface="Wingdings" panose="05000000000000000000" pitchFamily="2" charset="2"/>
                  <a:buNone/>
                </a:pPr>
                <a:r>
                  <a:rPr lang="zh-CN" altLang="en-US" sz="2800" dirty="0">
                    <a:solidFill>
                      <a:srgbClr val="000099"/>
                    </a:solidFill>
                  </a:rPr>
                  <a:t>移位控制端：</a:t>
                </a:r>
                <a:r>
                  <a:rPr lang="en-US" altLang="zh-CN" sz="2800" dirty="0">
                    <a:solidFill>
                      <a:srgbClr val="000099"/>
                    </a:solidFill>
                  </a:rPr>
                  <a:t>M</a:t>
                </a:r>
                <a:endParaRPr lang="en-US" altLang="zh-CN" sz="2800" dirty="0">
                  <a:solidFill>
                    <a:srgbClr val="000099"/>
                  </a:solidFill>
                </a:endParaRPr>
              </a:p>
              <a:p>
                <a:pPr marL="0" indent="0" eaLnBrk="1" hangingPunct="1">
                  <a:lnSpc>
                    <a:spcPct val="105000"/>
                  </a:lnSpc>
                  <a:buFont typeface="Wingdings" panose="05000000000000000000" pitchFamily="2" charset="2"/>
                  <a:buNone/>
                </a:pPr>
                <a:r>
                  <a:rPr lang="zh-CN" altLang="en-US" sz="2800" dirty="0">
                    <a:solidFill>
                      <a:prstClr val="black"/>
                    </a:solidFill>
                  </a:rPr>
                  <a:t>左移串行输入端：</a:t>
                </a:r>
                <a14:m>
                  <m:oMath xmlns:m="http://schemas.openxmlformats.org/officeDocument/2006/math">
                    <m:sSub>
                      <m:sSubPr>
                        <m:ctrlPr>
                          <a:rPr lang="zh-CN" altLang="en-US" sz="2800" i="1" smtClean="0">
                            <a:solidFill>
                              <a:srgbClr val="C00000"/>
                            </a:solidFill>
                            <a:latin typeface="Cambria Math" panose="02040503050406030204"/>
                          </a:rPr>
                        </m:ctrlPr>
                      </m:sSubPr>
                      <m:e>
                        <m:r>
                          <a:rPr lang="zh-CN" altLang="en-US" sz="2800" i="1">
                            <a:solidFill>
                              <a:srgbClr val="C00000"/>
                            </a:solidFill>
                            <a:latin typeface="Cambria Math" panose="02040503050406030204" pitchFamily="18" charset="0"/>
                          </a:rPr>
                          <m:t>𝐷</m:t>
                        </m:r>
                      </m:e>
                      <m:sub>
                        <m:r>
                          <a:rPr lang="zh-CN" altLang="en-US" sz="2800" i="1">
                            <a:solidFill>
                              <a:srgbClr val="C00000"/>
                            </a:solidFill>
                            <a:latin typeface="Cambria Math" panose="02040503050406030204" pitchFamily="18" charset="0"/>
                          </a:rPr>
                          <m:t>𝑆</m:t>
                        </m:r>
                        <m:r>
                          <a:rPr lang="en-US" altLang="zh-CN" sz="2800" i="1" smtClean="0">
                            <a:solidFill>
                              <a:srgbClr val="C00000"/>
                            </a:solidFill>
                            <a:latin typeface="Cambria Math" panose="02040503050406030204" pitchFamily="18" charset="0"/>
                          </a:rPr>
                          <m:t>𝑳</m:t>
                        </m:r>
                      </m:sub>
                    </m:sSub>
                  </m:oMath>
                </a14:m>
                <a:endParaRPr lang="en-US" altLang="zh-CN" sz="2800" dirty="0">
                  <a:solidFill>
                    <a:srgbClr val="000099"/>
                  </a:solidFill>
                </a:endParaRPr>
              </a:p>
              <a:p>
                <a:pPr marL="0" indent="0" eaLnBrk="1" hangingPunct="1">
                  <a:lnSpc>
                    <a:spcPct val="105000"/>
                  </a:lnSpc>
                  <a:buFont typeface="Wingdings" panose="05000000000000000000" pitchFamily="2" charset="2"/>
                  <a:buNone/>
                </a:pPr>
                <a:r>
                  <a:rPr lang="zh-CN" altLang="en-US" sz="2800" dirty="0">
                    <a:solidFill>
                      <a:prstClr val="black"/>
                    </a:solidFill>
                  </a:rPr>
                  <a:t>右移串行输入端：</a:t>
                </a:r>
                <a14:m>
                  <m:oMath xmlns:m="http://schemas.openxmlformats.org/officeDocument/2006/math">
                    <m:sSub>
                      <m:sSubPr>
                        <m:ctrlPr>
                          <a:rPr lang="zh-CN" altLang="en-US" sz="2800" i="1">
                            <a:solidFill>
                              <a:srgbClr val="C00000"/>
                            </a:solidFill>
                            <a:latin typeface="Cambria Math" panose="02040503050406030204"/>
                          </a:rPr>
                        </m:ctrlPr>
                      </m:sSubPr>
                      <m:e>
                        <m:r>
                          <a:rPr lang="zh-CN" altLang="en-US" sz="2800" i="1">
                            <a:solidFill>
                              <a:srgbClr val="C00000"/>
                            </a:solidFill>
                            <a:latin typeface="Cambria Math" panose="02040503050406030204" pitchFamily="18" charset="0"/>
                          </a:rPr>
                          <m:t>𝐷</m:t>
                        </m:r>
                      </m:e>
                      <m:sub>
                        <m:r>
                          <a:rPr lang="zh-CN" altLang="en-US" sz="2800" i="1">
                            <a:solidFill>
                              <a:srgbClr val="C00000"/>
                            </a:solidFill>
                            <a:latin typeface="Cambria Math" panose="02040503050406030204" pitchFamily="18" charset="0"/>
                          </a:rPr>
                          <m:t>𝑆𝑅</m:t>
                        </m:r>
                      </m:sub>
                    </m:sSub>
                  </m:oMath>
                </a14:m>
                <a:endParaRPr lang="en-US" altLang="zh-CN" sz="2800" dirty="0">
                  <a:solidFill>
                    <a:srgbClr val="000099"/>
                  </a:solidFill>
                </a:endParaRPr>
              </a:p>
            </p:txBody>
          </p:sp>
        </mc:Choice>
        <mc:Fallback>
          <p:sp>
            <p:nvSpPr>
              <p:cNvPr id="124" name="Rectangle 33"/>
              <p:cNvSpPr>
                <a:spLocks noRot="1" noChangeAspect="1" noMove="1" noResize="1" noEditPoints="1" noAdjustHandles="1" noChangeArrowheads="1" noChangeShapeType="1" noTextEdit="1"/>
              </p:cNvSpPr>
              <p:nvPr/>
            </p:nvSpPr>
            <p:spPr bwMode="auto">
              <a:xfrm>
                <a:off x="253954" y="1652420"/>
                <a:ext cx="3829997" cy="1529732"/>
              </a:xfrm>
              <a:prstGeom prst="rect">
                <a:avLst/>
              </a:prstGeom>
              <a:blipFill rotWithShape="1">
                <a:blip r:embed="rId2"/>
                <a:stretch>
                  <a:fillRect l="-15" t="-10" r="7" b="11"/>
                </a:stretch>
              </a:blipFill>
              <a:ln>
                <a:noFill/>
              </a:ln>
            </p:spPr>
            <p:txBody>
              <a:bodyPr/>
              <a:lstStyle/>
              <a:p>
                <a:r>
                  <a:rPr lang="zh-CN" altLang="en-US">
                    <a:noFill/>
                  </a:rPr>
                  <a:t> </a:t>
                </a:r>
              </a:p>
            </p:txBody>
          </p:sp>
        </mc:Fallback>
      </mc:AlternateContent>
      <p:pic>
        <p:nvPicPr>
          <p:cNvPr id="66" name="Picture 5" descr="5-5-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881" y="3490343"/>
            <a:ext cx="7588315" cy="3250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165881" y="3932358"/>
            <a:ext cx="577452" cy="24504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9" name="椭圆 68"/>
          <p:cNvSpPr/>
          <p:nvPr/>
        </p:nvSpPr>
        <p:spPr>
          <a:xfrm>
            <a:off x="47023" y="4219250"/>
            <a:ext cx="577452" cy="281466"/>
          </a:xfrm>
          <a:prstGeom prst="ellipse">
            <a:avLst/>
          </a:pr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0" name="椭圆 69"/>
          <p:cNvSpPr/>
          <p:nvPr/>
        </p:nvSpPr>
        <p:spPr>
          <a:xfrm>
            <a:off x="7295602" y="4257897"/>
            <a:ext cx="577452" cy="281466"/>
          </a:xfrm>
          <a:prstGeom prst="ellipse">
            <a:avLst/>
          </a:pr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p:cNvSpPr txBox="1"/>
          <p:nvPr/>
        </p:nvSpPr>
        <p:spPr>
          <a:xfrm>
            <a:off x="2261199" y="3416823"/>
            <a:ext cx="453125" cy="400110"/>
          </a:xfrm>
          <a:prstGeom prst="rect">
            <a:avLst/>
          </a:prstGeom>
          <a:noFill/>
        </p:spPr>
        <p:txBody>
          <a:bodyPr wrap="square" rtlCol="0">
            <a:spAutoFit/>
          </a:bodyPr>
          <a:lstStyle/>
          <a:p>
            <a:r>
              <a:rPr lang="en-US" altLang="zh-CN" sz="2000" b="1" dirty="0">
                <a:solidFill>
                  <a:srgbClr val="FF0000"/>
                </a:solidFill>
              </a:rPr>
              <a:t>Q</a:t>
            </a:r>
            <a:r>
              <a:rPr lang="en-US" altLang="zh-CN" sz="2000" b="1" baseline="-25000" dirty="0">
                <a:solidFill>
                  <a:srgbClr val="FF0000"/>
                </a:solidFill>
              </a:rPr>
              <a:t>0</a:t>
            </a:r>
            <a:endParaRPr lang="zh-CN" altLang="en-US" sz="2000" b="1" baseline="-25000" dirty="0">
              <a:solidFill>
                <a:srgbClr val="FF0000"/>
              </a:solidFill>
            </a:endParaRPr>
          </a:p>
        </p:txBody>
      </p:sp>
      <p:sp>
        <p:nvSpPr>
          <p:cNvPr id="71" name="文本框 70"/>
          <p:cNvSpPr txBox="1"/>
          <p:nvPr/>
        </p:nvSpPr>
        <p:spPr>
          <a:xfrm>
            <a:off x="3857389" y="3416823"/>
            <a:ext cx="453125" cy="400110"/>
          </a:xfrm>
          <a:prstGeom prst="rect">
            <a:avLst/>
          </a:prstGeom>
          <a:noFill/>
        </p:spPr>
        <p:txBody>
          <a:bodyPr wrap="square" rtlCol="0">
            <a:spAutoFit/>
          </a:bodyPr>
          <a:lstStyle/>
          <a:p>
            <a:r>
              <a:rPr lang="en-US" altLang="zh-CN" sz="2000" b="1" dirty="0">
                <a:solidFill>
                  <a:srgbClr val="FF0000"/>
                </a:solidFill>
              </a:rPr>
              <a:t>Q</a:t>
            </a:r>
            <a:r>
              <a:rPr lang="en-US" altLang="zh-CN" sz="2000" b="1" baseline="-25000" dirty="0">
                <a:solidFill>
                  <a:srgbClr val="FF0000"/>
                </a:solidFill>
              </a:rPr>
              <a:t>1</a:t>
            </a:r>
            <a:endParaRPr lang="zh-CN" altLang="en-US" sz="2000" b="1" baseline="-25000" dirty="0">
              <a:solidFill>
                <a:srgbClr val="FF0000"/>
              </a:solidFill>
            </a:endParaRPr>
          </a:p>
        </p:txBody>
      </p:sp>
      <p:sp>
        <p:nvSpPr>
          <p:cNvPr id="72" name="文本框 71"/>
          <p:cNvSpPr txBox="1"/>
          <p:nvPr/>
        </p:nvSpPr>
        <p:spPr>
          <a:xfrm>
            <a:off x="5409462" y="3397863"/>
            <a:ext cx="453125" cy="400110"/>
          </a:xfrm>
          <a:prstGeom prst="rect">
            <a:avLst/>
          </a:prstGeom>
          <a:noFill/>
        </p:spPr>
        <p:txBody>
          <a:bodyPr wrap="square" rtlCol="0">
            <a:spAutoFit/>
          </a:bodyPr>
          <a:lstStyle/>
          <a:p>
            <a:r>
              <a:rPr lang="en-US" altLang="zh-CN" sz="2000" b="1" dirty="0">
                <a:solidFill>
                  <a:srgbClr val="FF0000"/>
                </a:solidFill>
              </a:rPr>
              <a:t>Q</a:t>
            </a:r>
            <a:r>
              <a:rPr lang="en-US" altLang="zh-CN" sz="2000" b="1" baseline="-25000" dirty="0">
                <a:solidFill>
                  <a:srgbClr val="FF0000"/>
                </a:solidFill>
              </a:rPr>
              <a:t>2</a:t>
            </a:r>
            <a:endParaRPr lang="zh-CN" altLang="en-US" sz="2000" b="1" baseline="-25000" dirty="0">
              <a:solidFill>
                <a:srgbClr val="FF0000"/>
              </a:solidFill>
            </a:endParaRPr>
          </a:p>
        </p:txBody>
      </p:sp>
      <p:sp>
        <p:nvSpPr>
          <p:cNvPr id="73" name="文本框 72"/>
          <p:cNvSpPr txBox="1"/>
          <p:nvPr/>
        </p:nvSpPr>
        <p:spPr>
          <a:xfrm>
            <a:off x="7005652" y="3397863"/>
            <a:ext cx="453125" cy="400110"/>
          </a:xfrm>
          <a:prstGeom prst="rect">
            <a:avLst/>
          </a:prstGeom>
          <a:noFill/>
        </p:spPr>
        <p:txBody>
          <a:bodyPr wrap="square" rtlCol="0">
            <a:spAutoFit/>
          </a:bodyPr>
          <a:lstStyle/>
          <a:p>
            <a:r>
              <a:rPr lang="en-US" altLang="zh-CN" sz="2000" b="1" dirty="0">
                <a:solidFill>
                  <a:srgbClr val="FF0000"/>
                </a:solidFill>
              </a:rPr>
              <a:t>Q</a:t>
            </a:r>
            <a:r>
              <a:rPr lang="en-US" altLang="zh-CN" sz="2000" b="1" baseline="-25000" dirty="0">
                <a:solidFill>
                  <a:srgbClr val="FF0000"/>
                </a:solidFill>
              </a:rPr>
              <a:t>3</a:t>
            </a:r>
            <a:endParaRPr lang="zh-CN" altLang="en-US" sz="2000" b="1" baseline="-25000" dirty="0">
              <a:solidFill>
                <a:srgbClr val="FF0000"/>
              </a:solidFill>
            </a:endParaRPr>
          </a:p>
        </p:txBody>
      </p:sp>
      <p:graphicFrame>
        <p:nvGraphicFramePr>
          <p:cNvPr id="18" name="Object 4"/>
          <p:cNvGraphicFramePr>
            <a:graphicFrameLocks noChangeAspect="1"/>
          </p:cNvGraphicFramePr>
          <p:nvPr/>
        </p:nvGraphicFramePr>
        <p:xfrm>
          <a:off x="5752037" y="923515"/>
          <a:ext cx="3228975" cy="2387600"/>
        </p:xfrm>
        <a:graphic>
          <a:graphicData uri="http://schemas.openxmlformats.org/presentationml/2006/ole">
            <mc:AlternateContent xmlns:mc="http://schemas.openxmlformats.org/markup-compatibility/2006">
              <mc:Choice xmlns:v="urn:schemas-microsoft-com:vml" Requires="v">
                <p:oleObj spid="_x0000_s10243" name="Equation" r:id="rId4" imgW="1143000" imgH="850900" progId="Equation.DSMT4">
                  <p:embed/>
                </p:oleObj>
              </mc:Choice>
              <mc:Fallback>
                <p:oleObj name="Equation" r:id="rId4" imgW="1143000" imgH="850900" progId="Equation.DSMT4">
                  <p:embed/>
                  <p:pic>
                    <p:nvPicPr>
                      <p:cNvPr id="0" name="图片 102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2037" y="923515"/>
                        <a:ext cx="32289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文本框 18"/>
          <p:cNvSpPr txBox="1"/>
          <p:nvPr/>
        </p:nvSpPr>
        <p:spPr>
          <a:xfrm>
            <a:off x="4083951" y="1815591"/>
            <a:ext cx="2606842" cy="523220"/>
          </a:xfrm>
          <a:prstGeom prst="rect">
            <a:avLst/>
          </a:prstGeom>
          <a:noFill/>
        </p:spPr>
        <p:txBody>
          <a:bodyPr wrap="square" rtlCol="0">
            <a:spAutoFit/>
          </a:bodyPr>
          <a:lstStyle/>
          <a:p>
            <a:r>
              <a:rPr lang="zh-CN" altLang="en-US" sz="2800" b="1" dirty="0">
                <a:solidFill>
                  <a:srgbClr val="C00000"/>
                </a:solidFill>
              </a:rPr>
              <a:t>次态方程：</a:t>
            </a:r>
            <a:endParaRPr lang="zh-CN" altLang="en-US" sz="28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Rectangle 4"/>
          <p:cNvSpPr>
            <a:spLocks noChangeArrowheads="1"/>
          </p:cNvSpPr>
          <p:nvPr/>
        </p:nvSpPr>
        <p:spPr bwMode="auto">
          <a:xfrm>
            <a:off x="2208213" y="1037795"/>
            <a:ext cx="67135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dirty="0">
              <a:solidFill>
                <a:prstClr val="black"/>
              </a:solidFill>
              <a:latin typeface="Tahoma" panose="020B0604030504040204" pitchFamily="34" charset="0"/>
              <a:ea typeface="华文新魏" panose="02010800040101010101" pitchFamily="2" charset="-122"/>
            </a:endParaRPr>
          </a:p>
        </p:txBody>
      </p:sp>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7" name="文本框 16"/>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一、工作原理</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2" name="文本框 1"/>
          <p:cNvSpPr txBox="1"/>
          <p:nvPr/>
        </p:nvSpPr>
        <p:spPr>
          <a:xfrm>
            <a:off x="84506" y="1142870"/>
            <a:ext cx="6713537" cy="523220"/>
          </a:xfrm>
          <a:prstGeom prst="rect">
            <a:avLst/>
          </a:prstGeom>
          <a:noFill/>
        </p:spPr>
        <p:txBody>
          <a:bodyPr wrap="square" rtlCol="0">
            <a:spAutoFit/>
          </a:bodyPr>
          <a:lstStyle/>
          <a:p>
            <a:r>
              <a:rPr lang="zh-CN" altLang="en-US" sz="2800" b="1" dirty="0">
                <a:solidFill>
                  <a:srgbClr val="0000FF"/>
                </a:solidFill>
              </a:rPr>
              <a:t>（</a:t>
            </a:r>
            <a:r>
              <a:rPr lang="en-US" altLang="zh-CN" sz="2800" b="1" dirty="0">
                <a:solidFill>
                  <a:srgbClr val="0000FF"/>
                </a:solidFill>
              </a:rPr>
              <a:t>2</a:t>
            </a:r>
            <a:r>
              <a:rPr lang="zh-CN" altLang="en-US" sz="2800" b="1" dirty="0">
                <a:solidFill>
                  <a:srgbClr val="0000FF"/>
                </a:solidFill>
              </a:rPr>
              <a:t>）双向移位寄存器</a:t>
            </a:r>
            <a:endParaRPr lang="zh-CN" altLang="en-US" sz="2800" b="1" dirty="0">
              <a:solidFill>
                <a:srgbClr val="0000FF"/>
              </a:solidFill>
            </a:endParaRPr>
          </a:p>
        </p:txBody>
      </p:sp>
      <mc:AlternateContent xmlns:mc="http://schemas.openxmlformats.org/markup-compatibility/2006">
        <mc:Choice xmlns:a14="http://schemas.microsoft.com/office/drawing/2010/main" Requires="a14">
          <p:sp>
            <p:nvSpPr>
              <p:cNvPr id="124" name="Rectangle 33"/>
              <p:cNvSpPr>
                <a:spLocks noChangeArrowheads="1"/>
              </p:cNvSpPr>
              <p:nvPr/>
            </p:nvSpPr>
            <p:spPr bwMode="auto">
              <a:xfrm>
                <a:off x="5742992" y="2212220"/>
                <a:ext cx="3228975" cy="1182109"/>
              </a:xfrm>
              <a:prstGeom prst="rect">
                <a:avLst/>
              </a:prstGeom>
              <a:noFill/>
              <a:ln>
                <a:noFill/>
              </a:ln>
            </p:spPr>
            <p:txBody>
              <a:bodyP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marL="0" indent="0" eaLnBrk="1" hangingPunct="1">
                  <a:lnSpc>
                    <a:spcPct val="105000"/>
                  </a:lnSpc>
                  <a:buFont typeface="Wingdings" panose="05000000000000000000" pitchFamily="2" charset="2"/>
                  <a:buNone/>
                </a:pPr>
                <a:r>
                  <a:rPr lang="zh-CN" altLang="en-US" dirty="0">
                    <a:solidFill>
                      <a:srgbClr val="000099"/>
                    </a:solidFill>
                  </a:rPr>
                  <a:t>移位控制端：</a:t>
                </a:r>
                <a:r>
                  <a:rPr lang="en-US" altLang="zh-CN" dirty="0">
                    <a:solidFill>
                      <a:srgbClr val="000099"/>
                    </a:solidFill>
                  </a:rPr>
                  <a:t>M</a:t>
                </a:r>
                <a:endParaRPr lang="en-US" altLang="zh-CN" dirty="0">
                  <a:solidFill>
                    <a:srgbClr val="000099"/>
                  </a:solidFill>
                </a:endParaRPr>
              </a:p>
              <a:p>
                <a:pPr marL="0" indent="0" eaLnBrk="1" hangingPunct="1">
                  <a:lnSpc>
                    <a:spcPct val="105000"/>
                  </a:lnSpc>
                  <a:buFont typeface="Wingdings" panose="05000000000000000000" pitchFamily="2" charset="2"/>
                  <a:buNone/>
                </a:pPr>
                <a:r>
                  <a:rPr lang="zh-CN" altLang="en-US" dirty="0">
                    <a:solidFill>
                      <a:prstClr val="black"/>
                    </a:solidFill>
                  </a:rPr>
                  <a:t>左移串行输入端：</a:t>
                </a:r>
                <a14:m>
                  <m:oMath xmlns:m="http://schemas.openxmlformats.org/officeDocument/2006/math">
                    <m:sSub>
                      <m:sSubPr>
                        <m:ctrlPr>
                          <a:rPr lang="zh-CN" altLang="en-US" i="1" smtClean="0">
                            <a:solidFill>
                              <a:srgbClr val="C00000"/>
                            </a:solidFill>
                            <a:latin typeface="Cambria Math" panose="02040503050406030204"/>
                          </a:rPr>
                        </m:ctrlPr>
                      </m:sSubPr>
                      <m:e>
                        <m:r>
                          <a:rPr lang="zh-CN" altLang="en-US" i="1">
                            <a:solidFill>
                              <a:srgbClr val="C00000"/>
                            </a:solidFill>
                            <a:latin typeface="Cambria Math" panose="02040503050406030204" pitchFamily="18" charset="0"/>
                          </a:rPr>
                          <m:t>𝐷</m:t>
                        </m:r>
                      </m:e>
                      <m:sub>
                        <m:r>
                          <a:rPr lang="zh-CN" altLang="en-US" i="1">
                            <a:solidFill>
                              <a:srgbClr val="C00000"/>
                            </a:solidFill>
                            <a:latin typeface="Cambria Math" panose="02040503050406030204" pitchFamily="18" charset="0"/>
                          </a:rPr>
                          <m:t>𝑆</m:t>
                        </m:r>
                        <m:r>
                          <a:rPr lang="en-US" altLang="zh-CN" i="1" smtClean="0">
                            <a:solidFill>
                              <a:srgbClr val="C00000"/>
                            </a:solidFill>
                            <a:latin typeface="Cambria Math" panose="02040503050406030204" pitchFamily="18" charset="0"/>
                          </a:rPr>
                          <m:t>𝑳</m:t>
                        </m:r>
                      </m:sub>
                    </m:sSub>
                  </m:oMath>
                </a14:m>
                <a:endParaRPr lang="en-US" altLang="zh-CN" dirty="0">
                  <a:solidFill>
                    <a:srgbClr val="000099"/>
                  </a:solidFill>
                </a:endParaRPr>
              </a:p>
              <a:p>
                <a:pPr marL="0" indent="0" eaLnBrk="1" hangingPunct="1">
                  <a:lnSpc>
                    <a:spcPct val="105000"/>
                  </a:lnSpc>
                  <a:buFont typeface="Wingdings" panose="05000000000000000000" pitchFamily="2" charset="2"/>
                  <a:buNone/>
                </a:pPr>
                <a:r>
                  <a:rPr lang="zh-CN" altLang="en-US" dirty="0">
                    <a:solidFill>
                      <a:prstClr val="black"/>
                    </a:solidFill>
                  </a:rPr>
                  <a:t>右移串行输入端：</a:t>
                </a:r>
                <a14:m>
                  <m:oMath xmlns:m="http://schemas.openxmlformats.org/officeDocument/2006/math">
                    <m:sSub>
                      <m:sSubPr>
                        <m:ctrlPr>
                          <a:rPr lang="zh-CN" altLang="en-US" i="1">
                            <a:solidFill>
                              <a:srgbClr val="C00000"/>
                            </a:solidFill>
                            <a:latin typeface="Cambria Math" panose="02040503050406030204"/>
                          </a:rPr>
                        </m:ctrlPr>
                      </m:sSubPr>
                      <m:e>
                        <m:r>
                          <a:rPr lang="zh-CN" altLang="en-US" i="1">
                            <a:solidFill>
                              <a:srgbClr val="C00000"/>
                            </a:solidFill>
                            <a:latin typeface="Cambria Math" panose="02040503050406030204" pitchFamily="18" charset="0"/>
                          </a:rPr>
                          <m:t>𝐷</m:t>
                        </m:r>
                      </m:e>
                      <m:sub>
                        <m:r>
                          <a:rPr lang="zh-CN" altLang="en-US" i="1">
                            <a:solidFill>
                              <a:srgbClr val="C00000"/>
                            </a:solidFill>
                            <a:latin typeface="Cambria Math" panose="02040503050406030204" pitchFamily="18" charset="0"/>
                          </a:rPr>
                          <m:t>𝑆𝑅</m:t>
                        </m:r>
                      </m:sub>
                    </m:sSub>
                  </m:oMath>
                </a14:m>
                <a:endParaRPr lang="en-US" altLang="zh-CN" dirty="0">
                  <a:solidFill>
                    <a:srgbClr val="000099"/>
                  </a:solidFill>
                </a:endParaRPr>
              </a:p>
            </p:txBody>
          </p:sp>
        </mc:Choice>
        <mc:Fallback>
          <p:sp>
            <p:nvSpPr>
              <p:cNvPr id="124" name="Rectangle 33"/>
              <p:cNvSpPr>
                <a:spLocks noRot="1" noChangeAspect="1" noMove="1" noResize="1" noEditPoints="1" noAdjustHandles="1" noChangeArrowheads="1" noChangeShapeType="1" noTextEdit="1"/>
              </p:cNvSpPr>
              <p:nvPr/>
            </p:nvSpPr>
            <p:spPr bwMode="auto">
              <a:xfrm>
                <a:off x="5742992" y="2212220"/>
                <a:ext cx="3228975" cy="1182109"/>
              </a:xfrm>
              <a:prstGeom prst="rect">
                <a:avLst/>
              </a:prstGeom>
              <a:blipFill rotWithShape="1">
                <a:blip r:embed="rId2"/>
                <a:stretch>
                  <a:fillRect l="-2" t="-44" r="2" b="-1160"/>
                </a:stretch>
              </a:blipFill>
              <a:ln>
                <a:noFill/>
              </a:ln>
            </p:spPr>
            <p:txBody>
              <a:bodyPr/>
              <a:lstStyle/>
              <a:p>
                <a:r>
                  <a:rPr lang="zh-CN" altLang="en-US">
                    <a:noFill/>
                  </a:rPr>
                  <a:t> </a:t>
                </a:r>
              </a:p>
            </p:txBody>
          </p:sp>
        </mc:Fallback>
      </mc:AlternateContent>
      <p:sp>
        <p:nvSpPr>
          <p:cNvPr id="3" name="文本框 2"/>
          <p:cNvSpPr txBox="1"/>
          <p:nvPr/>
        </p:nvSpPr>
        <p:spPr>
          <a:xfrm>
            <a:off x="224589" y="1872553"/>
            <a:ext cx="2606842" cy="523220"/>
          </a:xfrm>
          <a:prstGeom prst="rect">
            <a:avLst/>
          </a:prstGeom>
          <a:noFill/>
        </p:spPr>
        <p:txBody>
          <a:bodyPr wrap="square" rtlCol="0">
            <a:spAutoFit/>
          </a:bodyPr>
          <a:lstStyle/>
          <a:p>
            <a:r>
              <a:rPr lang="zh-CN" altLang="en-US" sz="2800" b="1" dirty="0">
                <a:solidFill>
                  <a:srgbClr val="C00000"/>
                </a:solidFill>
              </a:rPr>
              <a:t>次态方程：</a:t>
            </a:r>
            <a:endParaRPr lang="zh-CN" altLang="en-US" sz="2800" b="1" dirty="0">
              <a:solidFill>
                <a:srgbClr val="C00000"/>
              </a:solidFill>
            </a:endParaRPr>
          </a:p>
        </p:txBody>
      </p:sp>
      <p:graphicFrame>
        <p:nvGraphicFramePr>
          <p:cNvPr id="14" name="Object 4"/>
          <p:cNvGraphicFramePr>
            <a:graphicFrameLocks noChangeAspect="1"/>
          </p:cNvGraphicFramePr>
          <p:nvPr/>
        </p:nvGraphicFramePr>
        <p:xfrm>
          <a:off x="2106794" y="1707075"/>
          <a:ext cx="3228975" cy="2387600"/>
        </p:xfrm>
        <a:graphic>
          <a:graphicData uri="http://schemas.openxmlformats.org/presentationml/2006/ole">
            <mc:AlternateContent xmlns:mc="http://schemas.openxmlformats.org/markup-compatibility/2006">
              <mc:Choice xmlns:v="urn:schemas-microsoft-com:vml" Requires="v">
                <p:oleObj spid="_x0000_s11267" name="Equation" r:id="rId3" imgW="1143000" imgH="850900" progId="Equation.DSMT4">
                  <p:embed/>
                </p:oleObj>
              </mc:Choice>
              <mc:Fallback>
                <p:oleObj name="Equation" r:id="rId3" imgW="1143000" imgH="850900" progId="Equation.DSMT4">
                  <p:embed/>
                  <p:pic>
                    <p:nvPicPr>
                      <p:cNvPr id="0" name="图片 112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6794" y="1707075"/>
                        <a:ext cx="32289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29"/>
          <p:cNvSpPr>
            <a:spLocks noChangeArrowheads="1"/>
          </p:cNvSpPr>
          <p:nvPr/>
        </p:nvSpPr>
        <p:spPr bwMode="auto">
          <a:xfrm>
            <a:off x="1775141" y="4304576"/>
            <a:ext cx="691324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eaLnBrk="1" hangingPunct="1">
              <a:buClr>
                <a:srgbClr val="CC0000"/>
              </a:buClr>
              <a:buSzPct val="80000"/>
              <a:buFont typeface="Wingdings" panose="05000000000000000000" pitchFamily="2" charset="2"/>
              <a:buNone/>
            </a:pPr>
            <a:r>
              <a:rPr kumimoji="0" lang="en-US" altLang="zh-CN" sz="2800" i="1" dirty="0">
                <a:solidFill>
                  <a:srgbClr val="000099"/>
                </a:solidFill>
              </a:rPr>
              <a:t>Q</a:t>
            </a:r>
            <a:r>
              <a:rPr kumimoji="0" lang="en-US" altLang="zh-CN" sz="2800" baseline="-25000" dirty="0">
                <a:solidFill>
                  <a:srgbClr val="000099"/>
                </a:solidFill>
              </a:rPr>
              <a:t>0</a:t>
            </a:r>
            <a:r>
              <a:rPr lang="en-US" altLang="zh-CN" sz="2800" baseline="30000" dirty="0">
                <a:solidFill>
                  <a:srgbClr val="000099"/>
                </a:solidFill>
              </a:rPr>
              <a:t>n+1</a:t>
            </a:r>
            <a:r>
              <a:rPr kumimoji="0" lang="en-US" altLang="zh-CN" sz="2800" i="1" dirty="0">
                <a:solidFill>
                  <a:srgbClr val="000099"/>
                </a:solidFill>
              </a:rPr>
              <a:t>=D</a:t>
            </a:r>
            <a:r>
              <a:rPr kumimoji="0" lang="en-US" altLang="zh-CN" sz="2800" baseline="-25000" dirty="0">
                <a:solidFill>
                  <a:srgbClr val="000099"/>
                </a:solidFill>
              </a:rPr>
              <a:t>SR </a:t>
            </a:r>
            <a:r>
              <a:rPr kumimoji="0" lang="en-US" altLang="zh-CN" sz="2800" dirty="0">
                <a:solidFill>
                  <a:srgbClr val="000099"/>
                </a:solidFill>
              </a:rPr>
              <a:t>, </a:t>
            </a:r>
            <a:r>
              <a:rPr kumimoji="0" lang="en-US" altLang="zh-CN" sz="2800" i="1" dirty="0">
                <a:solidFill>
                  <a:srgbClr val="000099"/>
                </a:solidFill>
              </a:rPr>
              <a:t>Q</a:t>
            </a:r>
            <a:r>
              <a:rPr kumimoji="0" lang="en-US" altLang="zh-CN" sz="2800" baseline="-25000" dirty="0">
                <a:solidFill>
                  <a:srgbClr val="000099"/>
                </a:solidFill>
              </a:rPr>
              <a:t>1</a:t>
            </a:r>
            <a:r>
              <a:rPr lang="en-US" altLang="zh-CN" sz="2800" baseline="30000" dirty="0">
                <a:solidFill>
                  <a:srgbClr val="000099"/>
                </a:solidFill>
              </a:rPr>
              <a:t>n+1</a:t>
            </a:r>
            <a:r>
              <a:rPr kumimoji="0" lang="en-US" altLang="zh-CN" sz="2800" i="1" dirty="0">
                <a:solidFill>
                  <a:srgbClr val="000099"/>
                </a:solidFill>
              </a:rPr>
              <a:t>=Q</a:t>
            </a:r>
            <a:r>
              <a:rPr kumimoji="0" lang="en-US" altLang="zh-CN" sz="2800" baseline="-25000" dirty="0">
                <a:solidFill>
                  <a:srgbClr val="000099"/>
                </a:solidFill>
              </a:rPr>
              <a:t>0</a:t>
            </a:r>
            <a:r>
              <a:rPr kumimoji="0" lang="en-US" altLang="zh-CN" sz="2800" baseline="30000" dirty="0">
                <a:solidFill>
                  <a:srgbClr val="000099"/>
                </a:solidFill>
              </a:rPr>
              <a:t>n</a:t>
            </a:r>
            <a:r>
              <a:rPr kumimoji="0" lang="en-US" altLang="zh-CN" sz="2800" baseline="-25000" dirty="0">
                <a:solidFill>
                  <a:srgbClr val="000099"/>
                </a:solidFill>
              </a:rPr>
              <a:t> </a:t>
            </a:r>
            <a:r>
              <a:rPr kumimoji="0" lang="en-US" altLang="zh-CN" sz="2800" dirty="0">
                <a:solidFill>
                  <a:srgbClr val="000099"/>
                </a:solidFill>
              </a:rPr>
              <a:t>, </a:t>
            </a:r>
            <a:r>
              <a:rPr kumimoji="0" lang="en-US" altLang="zh-CN" sz="2800" i="1" dirty="0">
                <a:solidFill>
                  <a:srgbClr val="000099"/>
                </a:solidFill>
              </a:rPr>
              <a:t>Q</a:t>
            </a:r>
            <a:r>
              <a:rPr kumimoji="0" lang="en-US" altLang="zh-CN" sz="2800" baseline="-25000" dirty="0">
                <a:solidFill>
                  <a:srgbClr val="000099"/>
                </a:solidFill>
              </a:rPr>
              <a:t>2</a:t>
            </a:r>
            <a:r>
              <a:rPr lang="en-US" altLang="zh-CN" sz="2800" baseline="30000" dirty="0">
                <a:solidFill>
                  <a:srgbClr val="000099"/>
                </a:solidFill>
              </a:rPr>
              <a:t>n+1</a:t>
            </a:r>
            <a:r>
              <a:rPr kumimoji="0" lang="en-US" altLang="zh-CN" sz="2800" i="1" dirty="0">
                <a:solidFill>
                  <a:srgbClr val="000099"/>
                </a:solidFill>
              </a:rPr>
              <a:t>=Q</a:t>
            </a:r>
            <a:r>
              <a:rPr kumimoji="0" lang="en-US" altLang="zh-CN" sz="2800" baseline="-25000" dirty="0">
                <a:solidFill>
                  <a:srgbClr val="000099"/>
                </a:solidFill>
              </a:rPr>
              <a:t>1</a:t>
            </a:r>
            <a:r>
              <a:rPr kumimoji="0" lang="en-US" altLang="zh-CN" sz="2800" baseline="30000" dirty="0">
                <a:solidFill>
                  <a:srgbClr val="000099"/>
                </a:solidFill>
              </a:rPr>
              <a:t>n</a:t>
            </a:r>
            <a:r>
              <a:rPr kumimoji="0" lang="en-US" altLang="zh-CN" sz="2800" baseline="-25000" dirty="0">
                <a:solidFill>
                  <a:srgbClr val="000099"/>
                </a:solidFill>
              </a:rPr>
              <a:t> </a:t>
            </a:r>
            <a:r>
              <a:rPr kumimoji="0" lang="en-US" altLang="zh-CN" sz="2800" dirty="0">
                <a:solidFill>
                  <a:srgbClr val="000099"/>
                </a:solidFill>
              </a:rPr>
              <a:t>, </a:t>
            </a:r>
            <a:r>
              <a:rPr kumimoji="0" lang="en-US" altLang="zh-CN" sz="2800" i="1" dirty="0">
                <a:solidFill>
                  <a:srgbClr val="000099"/>
                </a:solidFill>
              </a:rPr>
              <a:t>Q</a:t>
            </a:r>
            <a:r>
              <a:rPr kumimoji="0" lang="en-US" altLang="zh-CN" sz="2800" baseline="-25000" dirty="0">
                <a:solidFill>
                  <a:srgbClr val="000099"/>
                </a:solidFill>
              </a:rPr>
              <a:t>3</a:t>
            </a:r>
            <a:r>
              <a:rPr lang="en-US" altLang="zh-CN" sz="2800" baseline="30000" dirty="0">
                <a:solidFill>
                  <a:srgbClr val="000099"/>
                </a:solidFill>
              </a:rPr>
              <a:t>n+1</a:t>
            </a:r>
            <a:r>
              <a:rPr kumimoji="0" lang="en-US" altLang="zh-CN" sz="2800" i="1" dirty="0">
                <a:solidFill>
                  <a:srgbClr val="000099"/>
                </a:solidFill>
              </a:rPr>
              <a:t>=Q</a:t>
            </a:r>
            <a:r>
              <a:rPr kumimoji="0" lang="en-US" altLang="zh-CN" sz="2800" baseline="-25000" dirty="0">
                <a:solidFill>
                  <a:srgbClr val="000099"/>
                </a:solidFill>
              </a:rPr>
              <a:t>2</a:t>
            </a:r>
            <a:r>
              <a:rPr kumimoji="0" lang="en-US" altLang="zh-CN" sz="2800" baseline="30000" dirty="0">
                <a:solidFill>
                  <a:srgbClr val="000099"/>
                </a:solidFill>
              </a:rPr>
              <a:t>n</a:t>
            </a:r>
            <a:r>
              <a:rPr kumimoji="0" lang="en-US" altLang="zh-CN" sz="2800" dirty="0">
                <a:solidFill>
                  <a:srgbClr val="000099"/>
                </a:solidFill>
              </a:rPr>
              <a:t>  </a:t>
            </a:r>
            <a:endParaRPr kumimoji="0" lang="en-US" altLang="zh-CN" sz="2800" dirty="0">
              <a:solidFill>
                <a:srgbClr val="000099"/>
              </a:solidFill>
            </a:endParaRPr>
          </a:p>
        </p:txBody>
      </p:sp>
      <p:sp>
        <p:nvSpPr>
          <p:cNvPr id="5" name="文本框 4"/>
          <p:cNvSpPr txBox="1"/>
          <p:nvPr/>
        </p:nvSpPr>
        <p:spPr>
          <a:xfrm>
            <a:off x="455614" y="4360880"/>
            <a:ext cx="1453398" cy="523220"/>
          </a:xfrm>
          <a:prstGeom prst="rect">
            <a:avLst/>
          </a:prstGeom>
          <a:noFill/>
        </p:spPr>
        <p:txBody>
          <a:bodyPr wrap="square" rtlCol="0">
            <a:spAutoFit/>
          </a:bodyPr>
          <a:lstStyle/>
          <a:p>
            <a:r>
              <a:rPr lang="en-US" altLang="zh-CN" sz="2800" b="1" dirty="0">
                <a:solidFill>
                  <a:prstClr val="black"/>
                </a:solidFill>
              </a:rPr>
              <a:t>M=0</a:t>
            </a:r>
            <a:r>
              <a:rPr lang="zh-CN" altLang="en-US" sz="2800" b="1" dirty="0">
                <a:solidFill>
                  <a:prstClr val="black"/>
                </a:solidFill>
              </a:rPr>
              <a:t>时，</a:t>
            </a:r>
            <a:endParaRPr lang="zh-CN" altLang="en-US" sz="2800" b="1" dirty="0">
              <a:solidFill>
                <a:prstClr val="black"/>
              </a:solidFill>
            </a:endParaRPr>
          </a:p>
        </p:txBody>
      </p:sp>
      <p:sp>
        <p:nvSpPr>
          <p:cNvPr id="18" name="文本框 17"/>
          <p:cNvSpPr txBox="1"/>
          <p:nvPr/>
        </p:nvSpPr>
        <p:spPr>
          <a:xfrm>
            <a:off x="455613" y="5719457"/>
            <a:ext cx="1453399" cy="523220"/>
          </a:xfrm>
          <a:prstGeom prst="rect">
            <a:avLst/>
          </a:prstGeom>
          <a:noFill/>
        </p:spPr>
        <p:txBody>
          <a:bodyPr wrap="square" rtlCol="0">
            <a:spAutoFit/>
          </a:bodyPr>
          <a:lstStyle/>
          <a:p>
            <a:r>
              <a:rPr lang="en-US" altLang="zh-CN" sz="2800" b="1" dirty="0">
                <a:solidFill>
                  <a:prstClr val="black"/>
                </a:solidFill>
              </a:rPr>
              <a:t>M=1</a:t>
            </a:r>
            <a:r>
              <a:rPr lang="zh-CN" altLang="en-US" sz="2800" b="1" dirty="0">
                <a:solidFill>
                  <a:prstClr val="black"/>
                </a:solidFill>
              </a:rPr>
              <a:t>时，</a:t>
            </a:r>
            <a:endParaRPr lang="zh-CN" altLang="en-US" sz="2800" b="1" dirty="0">
              <a:solidFill>
                <a:prstClr val="black"/>
              </a:solidFill>
            </a:endParaRPr>
          </a:p>
        </p:txBody>
      </p:sp>
      <p:sp>
        <p:nvSpPr>
          <p:cNvPr id="8" name="矩形 7"/>
          <p:cNvSpPr/>
          <p:nvPr/>
        </p:nvSpPr>
        <p:spPr>
          <a:xfrm>
            <a:off x="4048626" y="4884100"/>
            <a:ext cx="902811" cy="523220"/>
          </a:xfrm>
          <a:prstGeom prst="rect">
            <a:avLst/>
          </a:prstGeom>
        </p:spPr>
        <p:txBody>
          <a:bodyPr wrap="none">
            <a:spAutoFit/>
          </a:bodyPr>
          <a:lstStyle/>
          <a:p>
            <a:r>
              <a:rPr lang="zh-CN" altLang="en-US" sz="2800" b="1" dirty="0">
                <a:solidFill>
                  <a:srgbClr val="FF0000"/>
                </a:solidFill>
              </a:rPr>
              <a:t>右移</a:t>
            </a:r>
            <a:endParaRPr lang="zh-CN" altLang="en-US" dirty="0">
              <a:solidFill>
                <a:srgbClr val="FF0000"/>
              </a:solidFill>
            </a:endParaRPr>
          </a:p>
        </p:txBody>
      </p:sp>
      <p:sp>
        <p:nvSpPr>
          <p:cNvPr id="12" name="矩形 11"/>
          <p:cNvSpPr/>
          <p:nvPr/>
        </p:nvSpPr>
        <p:spPr>
          <a:xfrm>
            <a:off x="4088509" y="6273694"/>
            <a:ext cx="902811" cy="523220"/>
          </a:xfrm>
          <a:prstGeom prst="rect">
            <a:avLst/>
          </a:prstGeom>
        </p:spPr>
        <p:txBody>
          <a:bodyPr wrap="none">
            <a:spAutoFit/>
          </a:bodyPr>
          <a:lstStyle/>
          <a:p>
            <a:r>
              <a:rPr lang="zh-CN" altLang="en-US" sz="2800" b="1" dirty="0">
                <a:solidFill>
                  <a:srgbClr val="FF0000"/>
                </a:solidFill>
              </a:rPr>
              <a:t>左移</a:t>
            </a:r>
            <a:endParaRPr lang="zh-CN" altLang="en-US" dirty="0">
              <a:solidFill>
                <a:srgbClr val="FF0000"/>
              </a:solidFill>
            </a:endParaRPr>
          </a:p>
        </p:txBody>
      </p:sp>
      <p:sp>
        <p:nvSpPr>
          <p:cNvPr id="22" name="Rectangle 29"/>
          <p:cNvSpPr>
            <a:spLocks noChangeArrowheads="1"/>
          </p:cNvSpPr>
          <p:nvPr/>
        </p:nvSpPr>
        <p:spPr bwMode="auto">
          <a:xfrm>
            <a:off x="1772914" y="5711934"/>
            <a:ext cx="7110514"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90000"/>
              </a:lnSpc>
              <a:spcBef>
                <a:spcPct val="20000"/>
              </a:spcBef>
              <a:spcAft>
                <a:spcPct val="0"/>
              </a:spcAft>
              <a:buClr>
                <a:schemeClr val="bg2"/>
              </a:buClr>
              <a:buSzPct val="65000"/>
              <a:buFont typeface="Wingdings" panose="05000000000000000000" pitchFamily="2" charset="2"/>
              <a:buChar char="­"/>
              <a:defRPr kumimoji="1" sz="2400" b="1">
                <a:solidFill>
                  <a:schemeClr val="tx1"/>
                </a:solidFill>
                <a:latin typeface="Times New Roman" panose="02020603050405020304" pitchFamily="18" charset="0"/>
                <a:ea typeface="楷体_GB2312" pitchFamily="49" charset="-122"/>
              </a:defRPr>
            </a:lvl9pPr>
          </a:lstStyle>
          <a:p>
            <a:pPr eaLnBrk="1" hangingPunct="1">
              <a:buClr>
                <a:srgbClr val="CC0000"/>
              </a:buClr>
              <a:buSzPct val="80000"/>
              <a:buFont typeface="Wingdings" panose="05000000000000000000" pitchFamily="2" charset="2"/>
              <a:buNone/>
            </a:pPr>
            <a:r>
              <a:rPr kumimoji="0" lang="en-US" altLang="zh-CN" sz="2800" i="1" dirty="0">
                <a:solidFill>
                  <a:srgbClr val="000099"/>
                </a:solidFill>
              </a:rPr>
              <a:t>Q</a:t>
            </a:r>
            <a:r>
              <a:rPr kumimoji="0" lang="en-US" altLang="zh-CN" sz="2800" baseline="-25000" dirty="0">
                <a:solidFill>
                  <a:srgbClr val="000099"/>
                </a:solidFill>
              </a:rPr>
              <a:t>0</a:t>
            </a:r>
            <a:r>
              <a:rPr lang="en-US" altLang="zh-CN" sz="2800" baseline="30000" dirty="0">
                <a:solidFill>
                  <a:srgbClr val="000099"/>
                </a:solidFill>
              </a:rPr>
              <a:t>n+1</a:t>
            </a:r>
            <a:r>
              <a:rPr kumimoji="0" lang="en-US" altLang="zh-CN" sz="2800" i="1" dirty="0">
                <a:solidFill>
                  <a:srgbClr val="000099"/>
                </a:solidFill>
              </a:rPr>
              <a:t>= Q</a:t>
            </a:r>
            <a:r>
              <a:rPr kumimoji="0" lang="en-US" altLang="zh-CN" sz="2800" baseline="-25000" dirty="0">
                <a:solidFill>
                  <a:srgbClr val="000099"/>
                </a:solidFill>
              </a:rPr>
              <a:t>1</a:t>
            </a:r>
            <a:r>
              <a:rPr kumimoji="0" lang="en-US" altLang="zh-CN" sz="2800" baseline="30000" dirty="0">
                <a:solidFill>
                  <a:srgbClr val="000099"/>
                </a:solidFill>
              </a:rPr>
              <a:t>n</a:t>
            </a:r>
            <a:r>
              <a:rPr kumimoji="0" lang="en-US" altLang="zh-CN" sz="2800" baseline="-25000" dirty="0">
                <a:solidFill>
                  <a:srgbClr val="000099"/>
                </a:solidFill>
              </a:rPr>
              <a:t> </a:t>
            </a:r>
            <a:r>
              <a:rPr kumimoji="0" lang="en-US" altLang="zh-CN" sz="2800" dirty="0">
                <a:solidFill>
                  <a:srgbClr val="000099"/>
                </a:solidFill>
              </a:rPr>
              <a:t>, </a:t>
            </a:r>
            <a:r>
              <a:rPr kumimoji="0" lang="en-US" altLang="zh-CN" sz="2800" i="1" dirty="0">
                <a:solidFill>
                  <a:srgbClr val="000099"/>
                </a:solidFill>
              </a:rPr>
              <a:t>Q</a:t>
            </a:r>
            <a:r>
              <a:rPr kumimoji="0" lang="en-US" altLang="zh-CN" sz="2800" baseline="-25000" dirty="0">
                <a:solidFill>
                  <a:srgbClr val="000099"/>
                </a:solidFill>
              </a:rPr>
              <a:t>1</a:t>
            </a:r>
            <a:r>
              <a:rPr lang="en-US" altLang="zh-CN" sz="2800" baseline="30000" dirty="0">
                <a:solidFill>
                  <a:srgbClr val="000099"/>
                </a:solidFill>
              </a:rPr>
              <a:t>n+1</a:t>
            </a:r>
            <a:r>
              <a:rPr kumimoji="0" lang="en-US" altLang="zh-CN" sz="2800" i="1" dirty="0">
                <a:solidFill>
                  <a:srgbClr val="000099"/>
                </a:solidFill>
              </a:rPr>
              <a:t>= Q</a:t>
            </a:r>
            <a:r>
              <a:rPr kumimoji="0" lang="en-US" altLang="zh-CN" sz="2800" baseline="-25000" dirty="0">
                <a:solidFill>
                  <a:srgbClr val="000099"/>
                </a:solidFill>
              </a:rPr>
              <a:t>2</a:t>
            </a:r>
            <a:r>
              <a:rPr kumimoji="0" lang="en-US" altLang="zh-CN" sz="2800" baseline="30000" dirty="0">
                <a:solidFill>
                  <a:srgbClr val="000099"/>
                </a:solidFill>
              </a:rPr>
              <a:t>n</a:t>
            </a:r>
            <a:r>
              <a:rPr kumimoji="0" lang="en-US" altLang="zh-CN" sz="2800" baseline="-25000" dirty="0">
                <a:solidFill>
                  <a:srgbClr val="000099"/>
                </a:solidFill>
              </a:rPr>
              <a:t> </a:t>
            </a:r>
            <a:r>
              <a:rPr kumimoji="0" lang="en-US" altLang="zh-CN" sz="2800" dirty="0">
                <a:solidFill>
                  <a:srgbClr val="000099"/>
                </a:solidFill>
              </a:rPr>
              <a:t>, </a:t>
            </a:r>
            <a:r>
              <a:rPr kumimoji="0" lang="en-US" altLang="zh-CN" sz="2800" i="1" dirty="0">
                <a:solidFill>
                  <a:srgbClr val="000099"/>
                </a:solidFill>
              </a:rPr>
              <a:t>Q</a:t>
            </a:r>
            <a:r>
              <a:rPr kumimoji="0" lang="en-US" altLang="zh-CN" sz="2800" baseline="-25000" dirty="0">
                <a:solidFill>
                  <a:srgbClr val="000099"/>
                </a:solidFill>
              </a:rPr>
              <a:t>2</a:t>
            </a:r>
            <a:r>
              <a:rPr lang="en-US" altLang="zh-CN" sz="2800" baseline="30000" dirty="0">
                <a:solidFill>
                  <a:srgbClr val="000099"/>
                </a:solidFill>
              </a:rPr>
              <a:t>n+1</a:t>
            </a:r>
            <a:r>
              <a:rPr kumimoji="0" lang="en-US" altLang="zh-CN" sz="2800" i="1" dirty="0">
                <a:solidFill>
                  <a:srgbClr val="000099"/>
                </a:solidFill>
              </a:rPr>
              <a:t>=Q</a:t>
            </a:r>
            <a:r>
              <a:rPr kumimoji="0" lang="en-US" altLang="zh-CN" sz="2800" baseline="-25000" dirty="0">
                <a:solidFill>
                  <a:srgbClr val="000099"/>
                </a:solidFill>
              </a:rPr>
              <a:t>3</a:t>
            </a:r>
            <a:r>
              <a:rPr kumimoji="0" lang="en-US" altLang="zh-CN" sz="2800" baseline="30000" dirty="0">
                <a:solidFill>
                  <a:srgbClr val="000099"/>
                </a:solidFill>
              </a:rPr>
              <a:t>n</a:t>
            </a:r>
            <a:r>
              <a:rPr kumimoji="0" lang="en-US" altLang="zh-CN" sz="2800" baseline="-25000" dirty="0">
                <a:solidFill>
                  <a:srgbClr val="000099"/>
                </a:solidFill>
              </a:rPr>
              <a:t> </a:t>
            </a:r>
            <a:r>
              <a:rPr kumimoji="0" lang="en-US" altLang="zh-CN" sz="2800" dirty="0">
                <a:solidFill>
                  <a:srgbClr val="000099"/>
                </a:solidFill>
              </a:rPr>
              <a:t>, </a:t>
            </a:r>
            <a:r>
              <a:rPr kumimoji="0" lang="en-US" altLang="zh-CN" sz="2800" i="1" dirty="0">
                <a:solidFill>
                  <a:srgbClr val="000099"/>
                </a:solidFill>
              </a:rPr>
              <a:t>Q</a:t>
            </a:r>
            <a:r>
              <a:rPr kumimoji="0" lang="en-US" altLang="zh-CN" sz="2800" baseline="-25000" dirty="0">
                <a:solidFill>
                  <a:srgbClr val="000099"/>
                </a:solidFill>
              </a:rPr>
              <a:t>3</a:t>
            </a:r>
            <a:r>
              <a:rPr lang="en-US" altLang="zh-CN" sz="2800" baseline="30000" dirty="0">
                <a:solidFill>
                  <a:srgbClr val="000099"/>
                </a:solidFill>
              </a:rPr>
              <a:t>n+1</a:t>
            </a:r>
            <a:r>
              <a:rPr kumimoji="0" lang="en-US" altLang="zh-CN" sz="2800" i="1" dirty="0">
                <a:solidFill>
                  <a:srgbClr val="000099"/>
                </a:solidFill>
              </a:rPr>
              <a:t>= D</a:t>
            </a:r>
            <a:r>
              <a:rPr kumimoji="0" lang="en-US" altLang="zh-CN" sz="2800" baseline="-25000" dirty="0">
                <a:solidFill>
                  <a:srgbClr val="000099"/>
                </a:solidFill>
              </a:rPr>
              <a:t>SL</a:t>
            </a:r>
            <a:endParaRPr kumimoji="0" lang="en-US" altLang="zh-CN" sz="2800" dirty="0">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p:bldP spid="18" grpId="0"/>
      <p:bldP spid="8" grpId="0"/>
      <p:bldP spid="12"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graphicFrame>
        <p:nvGraphicFramePr>
          <p:cNvPr id="481" name="Object 2"/>
          <p:cNvGraphicFramePr>
            <a:graphicFrameLocks noChangeAspect="1"/>
          </p:cNvGraphicFramePr>
          <p:nvPr/>
        </p:nvGraphicFramePr>
        <p:xfrm>
          <a:off x="1585647" y="2755063"/>
          <a:ext cx="7351294" cy="3068509"/>
        </p:xfrm>
        <a:graphic>
          <a:graphicData uri="http://schemas.openxmlformats.org/presentationml/2006/ole">
            <mc:AlternateContent xmlns:mc="http://schemas.openxmlformats.org/markup-compatibility/2006">
              <mc:Choice xmlns:v="urn:schemas-microsoft-com:vml" Requires="v">
                <p:oleObj spid="_x0000_s12291" name="图片" r:id="rId2" imgW="4200525" imgH="1752600" progId="Word.Picture.8">
                  <p:embed/>
                </p:oleObj>
              </mc:Choice>
              <mc:Fallback>
                <p:oleObj name="图片" r:id="rId2" imgW="4200525" imgH="1752600" progId="Word.Picture.8">
                  <p:embed/>
                  <p:pic>
                    <p:nvPicPr>
                      <p:cNvPr id="0" name="图片 1229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5647" y="2755063"/>
                        <a:ext cx="7351294" cy="3068509"/>
                      </a:xfrm>
                      <a:prstGeom prst="rect">
                        <a:avLst/>
                      </a:prstGeom>
                      <a:solidFill>
                        <a:srgbClr val="F8F8F8"/>
                      </a:solidFill>
                      <a:ln>
                        <a:noFill/>
                      </a:ln>
                      <a:effectLst/>
                    </p:spPr>
                  </p:pic>
                </p:oleObj>
              </mc:Fallback>
            </mc:AlternateContent>
          </a:graphicData>
        </a:graphic>
      </p:graphicFrame>
      <p:sp>
        <p:nvSpPr>
          <p:cNvPr id="482" name="文本框 481"/>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二、集成移位寄存器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13" name="椭圆 12"/>
          <p:cNvSpPr/>
          <p:nvPr/>
        </p:nvSpPr>
        <p:spPr>
          <a:xfrm>
            <a:off x="2185737" y="2628056"/>
            <a:ext cx="1538031" cy="772870"/>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矩形 18"/>
          <p:cNvSpPr/>
          <p:nvPr/>
        </p:nvSpPr>
        <p:spPr>
          <a:xfrm>
            <a:off x="2307996" y="2149800"/>
            <a:ext cx="1415772" cy="461665"/>
          </a:xfrm>
          <a:prstGeom prst="rect">
            <a:avLst/>
          </a:prstGeom>
        </p:spPr>
        <p:txBody>
          <a:bodyPr wrap="none">
            <a:spAutoFit/>
          </a:bodyPr>
          <a:lstStyle/>
          <a:p>
            <a:r>
              <a:rPr lang="zh-CN" altLang="en-US" sz="2400" b="1" dirty="0">
                <a:solidFill>
                  <a:srgbClr val="C00000"/>
                </a:solidFill>
                <a:ea typeface="楷体_GB2312" pitchFamily="49" charset="-122"/>
              </a:rPr>
              <a:t>并行输出</a:t>
            </a:r>
            <a:endParaRPr lang="zh-CN" altLang="en-US" sz="2400" dirty="0">
              <a:solidFill>
                <a:srgbClr val="C00000"/>
              </a:solidFill>
            </a:endParaRPr>
          </a:p>
        </p:txBody>
      </p:sp>
      <p:sp>
        <p:nvSpPr>
          <p:cNvPr id="20" name="对话气泡: 矩形 19"/>
          <p:cNvSpPr/>
          <p:nvPr/>
        </p:nvSpPr>
        <p:spPr>
          <a:xfrm>
            <a:off x="1203539" y="5871620"/>
            <a:ext cx="1104457" cy="867479"/>
          </a:xfrm>
          <a:prstGeom prst="wedgeRectCallout">
            <a:avLst>
              <a:gd name="adj1" fmla="val 50282"/>
              <a:gd name="adj2" fmla="val -14683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zh-CN" altLang="en-US" sz="2400" b="1" dirty="0">
                <a:solidFill>
                  <a:srgbClr val="C00000"/>
                </a:solidFill>
                <a:latin typeface="Times New Roman" panose="02020603050405020304" pitchFamily="18" charset="0"/>
                <a:ea typeface="楷体_GB2312" pitchFamily="49" charset="-122"/>
              </a:rPr>
              <a:t>右移串行输入</a:t>
            </a:r>
            <a:endParaRPr kumimoji="1" lang="zh-CN" altLang="en-US" sz="2400" b="1" dirty="0">
              <a:solidFill>
                <a:srgbClr val="C00000"/>
              </a:solidFill>
              <a:latin typeface="Times New Roman" panose="02020603050405020304" pitchFamily="18" charset="0"/>
              <a:ea typeface="楷体_GB2312" pitchFamily="49" charset="-122"/>
            </a:endParaRPr>
          </a:p>
        </p:txBody>
      </p:sp>
      <p:sp>
        <p:nvSpPr>
          <p:cNvPr id="508" name="对话气泡: 矩形 507"/>
          <p:cNvSpPr/>
          <p:nvPr/>
        </p:nvSpPr>
        <p:spPr>
          <a:xfrm>
            <a:off x="4037819" y="5878146"/>
            <a:ext cx="1104457" cy="823109"/>
          </a:xfrm>
          <a:prstGeom prst="wedgeRectCallout">
            <a:avLst>
              <a:gd name="adj1" fmla="val -19801"/>
              <a:gd name="adj2" fmla="val -15195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zh-CN" altLang="en-US" sz="2400" b="1" dirty="0">
                <a:solidFill>
                  <a:srgbClr val="C00000"/>
                </a:solidFill>
                <a:latin typeface="Times New Roman" panose="02020603050405020304" pitchFamily="18" charset="0"/>
                <a:ea typeface="楷体_GB2312" pitchFamily="49" charset="-122"/>
              </a:rPr>
              <a:t>左移串行输入</a:t>
            </a:r>
            <a:endParaRPr kumimoji="1" lang="zh-CN" altLang="en-US" sz="2400" b="1" dirty="0">
              <a:solidFill>
                <a:srgbClr val="C00000"/>
              </a:solidFill>
              <a:latin typeface="Times New Roman" panose="02020603050405020304" pitchFamily="18" charset="0"/>
              <a:ea typeface="楷体_GB2312" pitchFamily="49" charset="-122"/>
            </a:endParaRPr>
          </a:p>
        </p:txBody>
      </p:sp>
      <p:sp>
        <p:nvSpPr>
          <p:cNvPr id="509" name="椭圆 508"/>
          <p:cNvSpPr/>
          <p:nvPr/>
        </p:nvSpPr>
        <p:spPr>
          <a:xfrm>
            <a:off x="2540191" y="4839767"/>
            <a:ext cx="1593065" cy="636661"/>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10" name="矩形 509"/>
          <p:cNvSpPr/>
          <p:nvPr/>
        </p:nvSpPr>
        <p:spPr>
          <a:xfrm>
            <a:off x="2628837" y="5468408"/>
            <a:ext cx="1415772" cy="461665"/>
          </a:xfrm>
          <a:prstGeom prst="rect">
            <a:avLst/>
          </a:prstGeom>
        </p:spPr>
        <p:txBody>
          <a:bodyPr wrap="none">
            <a:spAutoFit/>
          </a:bodyPr>
          <a:lstStyle/>
          <a:p>
            <a:r>
              <a:rPr lang="zh-CN" altLang="en-US" sz="2400" b="1" dirty="0">
                <a:solidFill>
                  <a:srgbClr val="C00000"/>
                </a:solidFill>
                <a:ea typeface="楷体_GB2312" pitchFamily="49" charset="-122"/>
              </a:rPr>
              <a:t>并行输入</a:t>
            </a:r>
            <a:endParaRPr lang="zh-CN" altLang="en-US" sz="2400" dirty="0">
              <a:solidFill>
                <a:srgbClr val="C00000"/>
              </a:solidFill>
            </a:endParaRPr>
          </a:p>
        </p:txBody>
      </p:sp>
      <p:sp>
        <p:nvSpPr>
          <p:cNvPr id="511" name="对话气泡: 矩形 510"/>
          <p:cNvSpPr/>
          <p:nvPr/>
        </p:nvSpPr>
        <p:spPr>
          <a:xfrm>
            <a:off x="172152" y="4284404"/>
            <a:ext cx="1155031" cy="867479"/>
          </a:xfrm>
          <a:prstGeom prst="wedgeRectCallout">
            <a:avLst>
              <a:gd name="adj1" fmla="val 96557"/>
              <a:gd name="adj2" fmla="val 3490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zh-CN" altLang="en-US" sz="2400" b="1" dirty="0">
                <a:solidFill>
                  <a:srgbClr val="C00000"/>
                </a:solidFill>
                <a:latin typeface="Times New Roman" panose="02020603050405020304" pitchFamily="18" charset="0"/>
                <a:ea typeface="楷体_GB2312" pitchFamily="49" charset="-122"/>
              </a:rPr>
              <a:t>异步复位输入</a:t>
            </a:r>
            <a:endParaRPr kumimoji="1" lang="zh-CN" altLang="en-US" sz="2400" b="1" dirty="0">
              <a:solidFill>
                <a:srgbClr val="C00000"/>
              </a:solidFill>
              <a:latin typeface="Times New Roman" panose="02020603050405020304" pitchFamily="18" charset="0"/>
              <a:ea typeface="楷体_GB2312" pitchFamily="49" charset="-122"/>
            </a:endParaRPr>
          </a:p>
        </p:txBody>
      </p:sp>
      <p:sp>
        <p:nvSpPr>
          <p:cNvPr id="512" name="椭圆 511"/>
          <p:cNvSpPr/>
          <p:nvPr/>
        </p:nvSpPr>
        <p:spPr>
          <a:xfrm>
            <a:off x="4203032" y="2678086"/>
            <a:ext cx="774032" cy="606968"/>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13" name="矩形 512"/>
          <p:cNvSpPr/>
          <p:nvPr/>
        </p:nvSpPr>
        <p:spPr>
          <a:xfrm>
            <a:off x="4067117" y="1904171"/>
            <a:ext cx="1552074" cy="830997"/>
          </a:xfrm>
          <a:prstGeom prst="rect">
            <a:avLst/>
          </a:prstGeom>
        </p:spPr>
        <p:txBody>
          <a:bodyPr wrap="square">
            <a:spAutoFit/>
          </a:bodyPr>
          <a:lstStyle/>
          <a:p>
            <a:r>
              <a:rPr lang="zh-CN" altLang="en-US" sz="2400" b="1" dirty="0">
                <a:solidFill>
                  <a:srgbClr val="C00000"/>
                </a:solidFill>
                <a:ea typeface="楷体_GB2312" pitchFamily="49" charset="-122"/>
              </a:rPr>
              <a:t>工作方式控制端</a:t>
            </a:r>
            <a:endParaRPr lang="zh-CN" altLang="en-US" sz="2400" dirty="0">
              <a:solidFill>
                <a:srgbClr val="C00000"/>
              </a:solidFill>
            </a:endParaRPr>
          </a:p>
        </p:txBody>
      </p:sp>
      <p:sp>
        <p:nvSpPr>
          <p:cNvPr id="2" name="文本框 1"/>
          <p:cNvSpPr txBox="1"/>
          <p:nvPr/>
        </p:nvSpPr>
        <p:spPr>
          <a:xfrm>
            <a:off x="364514" y="1266712"/>
            <a:ext cx="5358098" cy="523220"/>
          </a:xfrm>
          <a:prstGeom prst="rect">
            <a:avLst/>
          </a:prstGeom>
          <a:noFill/>
        </p:spPr>
        <p:txBody>
          <a:bodyPr wrap="square" rtlCol="0">
            <a:spAutoFit/>
          </a:bodyPr>
          <a:lstStyle/>
          <a:p>
            <a:r>
              <a:rPr lang="en-US" altLang="zh-CN" sz="2800" b="1" dirty="0">
                <a:solidFill>
                  <a:srgbClr val="0000FF"/>
                </a:solidFill>
              </a:rPr>
              <a:t>4</a:t>
            </a:r>
            <a:r>
              <a:rPr lang="zh-CN" altLang="en-US" sz="2800" b="1" dirty="0">
                <a:solidFill>
                  <a:srgbClr val="0000FF"/>
                </a:solidFill>
              </a:rPr>
              <a:t>位双向移位寄存器</a:t>
            </a:r>
            <a:r>
              <a:rPr lang="en-US" altLang="zh-CN" sz="2800" b="1" dirty="0">
                <a:solidFill>
                  <a:srgbClr val="0000FF"/>
                </a:solidFill>
              </a:rPr>
              <a:t>74LS194</a:t>
            </a:r>
            <a:endParaRPr lang="zh-CN" altLang="en-US" sz="2800" b="1" dirty="0">
              <a:solidFill>
                <a:srgbClr val="0000FF"/>
              </a:solidFill>
            </a:endParaRPr>
          </a:p>
        </p:txBody>
      </p:sp>
      <p:sp>
        <p:nvSpPr>
          <p:cNvPr id="3" name="对话气泡: 矩形 2"/>
          <p:cNvSpPr/>
          <p:nvPr/>
        </p:nvSpPr>
        <p:spPr>
          <a:xfrm>
            <a:off x="308755" y="2234677"/>
            <a:ext cx="1234855" cy="523220"/>
          </a:xfrm>
          <a:prstGeom prst="wedgeRectCallout">
            <a:avLst>
              <a:gd name="adj1" fmla="val 77297"/>
              <a:gd name="adj2" fmla="val 127770"/>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rgbClr val="0000FF"/>
                </a:solidFill>
                <a:latin typeface="黑体" panose="02010609060101010101" pitchFamily="49" charset="-122"/>
                <a:ea typeface="黑体" panose="02010609060101010101" pitchFamily="49" charset="-122"/>
              </a:rPr>
              <a:t>正电源</a:t>
            </a:r>
            <a:endParaRPr lang="zh-CN" altLang="en-US" sz="2400" b="1" dirty="0">
              <a:solidFill>
                <a:srgbClr val="0000FF"/>
              </a:solidFill>
              <a:latin typeface="黑体" panose="02010609060101010101" pitchFamily="49" charset="-122"/>
              <a:ea typeface="黑体" panose="02010609060101010101" pitchFamily="49" charset="-122"/>
            </a:endParaRPr>
          </a:p>
        </p:txBody>
      </p:sp>
      <p:sp>
        <p:nvSpPr>
          <p:cNvPr id="18" name="对话气泡: 矩形 17"/>
          <p:cNvSpPr/>
          <p:nvPr/>
        </p:nvSpPr>
        <p:spPr>
          <a:xfrm>
            <a:off x="5518430" y="5878146"/>
            <a:ext cx="1234855" cy="523220"/>
          </a:xfrm>
          <a:prstGeom prst="wedgeRectCallout">
            <a:avLst>
              <a:gd name="adj1" fmla="val -110424"/>
              <a:gd name="adj2" fmla="val -206428"/>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rgbClr val="0000FF"/>
                </a:solidFill>
                <a:latin typeface="黑体" panose="02010609060101010101" pitchFamily="49" charset="-122"/>
                <a:ea typeface="黑体" panose="02010609060101010101" pitchFamily="49" charset="-122"/>
              </a:rPr>
              <a:t>地</a:t>
            </a:r>
            <a:endParaRPr lang="zh-CN" altLang="en-US" sz="24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1"/>
                                        </p:tgtEl>
                                        <p:attrNameLst>
                                          <p:attrName>style.visibility</p:attrName>
                                        </p:attrNameLst>
                                      </p:cBhvr>
                                      <p:to>
                                        <p:strVal val="visible"/>
                                      </p:to>
                                    </p:set>
                                    <p:animEffect transition="in" filter="fade">
                                      <p:cBhvr>
                                        <p:cTn id="7" dur="500"/>
                                        <p:tgtEl>
                                          <p:spTgt spid="5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8"/>
                                        </p:tgtEl>
                                        <p:attrNameLst>
                                          <p:attrName>style.visibility</p:attrName>
                                        </p:attrNameLst>
                                      </p:cBhvr>
                                      <p:to>
                                        <p:strVal val="visible"/>
                                      </p:to>
                                    </p:set>
                                    <p:animEffect transition="in" filter="fade">
                                      <p:cBhvr>
                                        <p:cTn id="17" dur="500"/>
                                        <p:tgtEl>
                                          <p:spTgt spid="50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9"/>
                                        </p:tgtEl>
                                        <p:attrNameLst>
                                          <p:attrName>style.visibility</p:attrName>
                                        </p:attrNameLst>
                                      </p:cBhvr>
                                      <p:to>
                                        <p:strVal val="visible"/>
                                      </p:to>
                                    </p:set>
                                    <p:animEffect transition="in" filter="fade">
                                      <p:cBhvr>
                                        <p:cTn id="22" dur="500"/>
                                        <p:tgtEl>
                                          <p:spTgt spid="50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10"/>
                                        </p:tgtEl>
                                        <p:attrNameLst>
                                          <p:attrName>style.visibility</p:attrName>
                                        </p:attrNameLst>
                                      </p:cBhvr>
                                      <p:to>
                                        <p:strVal val="visible"/>
                                      </p:to>
                                    </p:set>
                                    <p:animEffect transition="in" filter="fade">
                                      <p:cBhvr>
                                        <p:cTn id="25" dur="500"/>
                                        <p:tgtEl>
                                          <p:spTgt spid="5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12"/>
                                        </p:tgtEl>
                                        <p:attrNameLst>
                                          <p:attrName>style.visibility</p:attrName>
                                        </p:attrNameLst>
                                      </p:cBhvr>
                                      <p:to>
                                        <p:strVal val="visible"/>
                                      </p:to>
                                    </p:set>
                                    <p:animEffect transition="in" filter="fade">
                                      <p:cBhvr>
                                        <p:cTn id="30" dur="500"/>
                                        <p:tgtEl>
                                          <p:spTgt spid="5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13"/>
                                        </p:tgtEl>
                                        <p:attrNameLst>
                                          <p:attrName>style.visibility</p:attrName>
                                        </p:attrNameLst>
                                      </p:cBhvr>
                                      <p:to>
                                        <p:strVal val="visible"/>
                                      </p:to>
                                    </p:set>
                                    <p:animEffect transition="in" filter="fade">
                                      <p:cBhvr>
                                        <p:cTn id="33" dur="500"/>
                                        <p:tgtEl>
                                          <p:spTgt spid="5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9" grpId="0"/>
      <p:bldP spid="20" grpId="0" animBg="1"/>
      <p:bldP spid="508" grpId="0" animBg="1"/>
      <p:bldP spid="509" grpId="0" animBg="1"/>
      <p:bldP spid="510" grpId="0"/>
      <p:bldP spid="511" grpId="0" animBg="1"/>
      <p:bldP spid="512" grpId="0" animBg="1"/>
      <p:bldP spid="513" grpId="0"/>
      <p:bldP spid="3" grpId="0" animBg="1"/>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482" name="文本框 481"/>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二、集成移位寄存器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514" name="文本框 513"/>
          <p:cNvSpPr txBox="1"/>
          <p:nvPr/>
        </p:nvSpPr>
        <p:spPr>
          <a:xfrm>
            <a:off x="336833" y="1285008"/>
            <a:ext cx="5358098" cy="523220"/>
          </a:xfrm>
          <a:prstGeom prst="rect">
            <a:avLst/>
          </a:prstGeom>
          <a:noFill/>
        </p:spPr>
        <p:txBody>
          <a:bodyPr wrap="square" rtlCol="0">
            <a:spAutoFit/>
          </a:bodyPr>
          <a:lstStyle/>
          <a:p>
            <a:r>
              <a:rPr lang="en-US" altLang="zh-CN" sz="2800" b="1" dirty="0">
                <a:solidFill>
                  <a:srgbClr val="0000FF"/>
                </a:solidFill>
              </a:rPr>
              <a:t>4</a:t>
            </a:r>
            <a:r>
              <a:rPr lang="zh-CN" altLang="en-US" sz="2800" b="1" dirty="0">
                <a:solidFill>
                  <a:srgbClr val="0000FF"/>
                </a:solidFill>
              </a:rPr>
              <a:t>位双向移位寄存器</a:t>
            </a:r>
            <a:r>
              <a:rPr lang="en-US" altLang="zh-CN" sz="2800" b="1" dirty="0">
                <a:solidFill>
                  <a:srgbClr val="0000FF"/>
                </a:solidFill>
              </a:rPr>
              <a:t>74LS194</a:t>
            </a:r>
            <a:endParaRPr lang="zh-CN" altLang="en-US" sz="2800" b="1" dirty="0">
              <a:solidFill>
                <a:srgbClr val="0000FF"/>
              </a:solidFill>
            </a:endParaRPr>
          </a:p>
        </p:txBody>
      </p:sp>
      <p:grpSp>
        <p:nvGrpSpPr>
          <p:cNvPr id="515" name="Group 6"/>
          <p:cNvGrpSpPr/>
          <p:nvPr/>
        </p:nvGrpSpPr>
        <p:grpSpPr bwMode="auto">
          <a:xfrm>
            <a:off x="73995" y="2039524"/>
            <a:ext cx="8996009" cy="3637942"/>
            <a:chOff x="150" y="686"/>
            <a:chExt cx="5599" cy="2221"/>
          </a:xfrm>
        </p:grpSpPr>
        <p:sp>
          <p:nvSpPr>
            <p:cNvPr id="516" name="Rectangle 4"/>
            <p:cNvSpPr>
              <a:spLocks noChangeArrowheads="1"/>
            </p:cNvSpPr>
            <p:nvPr/>
          </p:nvSpPr>
          <p:spPr bwMode="auto">
            <a:xfrm>
              <a:off x="1856" y="686"/>
              <a:ext cx="200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lnSpc>
                  <a:spcPct val="130000"/>
                </a:lnSpc>
                <a:spcBef>
                  <a:spcPct val="20000"/>
                </a:spcBef>
              </a:pPr>
              <a:r>
                <a:rPr lang="en-US" altLang="zh-CN" dirty="0">
                  <a:solidFill>
                    <a:srgbClr val="C00000"/>
                  </a:solidFill>
                </a:rPr>
                <a:t>74LS194</a:t>
              </a:r>
              <a:r>
                <a:rPr lang="zh-CN" altLang="en-US" dirty="0">
                  <a:solidFill>
                    <a:srgbClr val="C00000"/>
                  </a:solidFill>
                </a:rPr>
                <a:t>的逻辑功能表</a:t>
              </a:r>
              <a:endParaRPr lang="zh-CN" altLang="en-US" dirty="0">
                <a:solidFill>
                  <a:srgbClr val="C00000"/>
                </a:solidFill>
              </a:endParaRPr>
            </a:p>
          </p:txBody>
        </p:sp>
        <p:pic>
          <p:nvPicPr>
            <p:cNvPr id="517" name="Picture 5" descr="B5-5-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0" y="1065"/>
              <a:ext cx="5599" cy="1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518" name="直接连接符 517"/>
          <p:cNvCxnSpPr/>
          <p:nvPr/>
        </p:nvCxnSpPr>
        <p:spPr>
          <a:xfrm>
            <a:off x="5694944" y="4186991"/>
            <a:ext cx="549442" cy="296779"/>
          </a:xfrm>
          <a:prstGeom prst="line">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19" name="直接连接符 518"/>
          <p:cNvCxnSpPr/>
          <p:nvPr/>
        </p:nvCxnSpPr>
        <p:spPr>
          <a:xfrm>
            <a:off x="6368715" y="4207042"/>
            <a:ext cx="549442" cy="296779"/>
          </a:xfrm>
          <a:prstGeom prst="line">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20" name="直接连接符 519"/>
          <p:cNvCxnSpPr/>
          <p:nvPr/>
        </p:nvCxnSpPr>
        <p:spPr>
          <a:xfrm>
            <a:off x="7014409" y="4207042"/>
            <a:ext cx="549442" cy="296779"/>
          </a:xfrm>
          <a:prstGeom prst="line">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22" name="直接连接符 521"/>
          <p:cNvCxnSpPr/>
          <p:nvPr/>
        </p:nvCxnSpPr>
        <p:spPr>
          <a:xfrm flipH="1">
            <a:off x="5759116" y="4186991"/>
            <a:ext cx="485270" cy="701841"/>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3" name="直接连接符 522"/>
          <p:cNvCxnSpPr/>
          <p:nvPr/>
        </p:nvCxnSpPr>
        <p:spPr>
          <a:xfrm flipH="1">
            <a:off x="6400801" y="4204318"/>
            <a:ext cx="485270" cy="701841"/>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4" name="直接连接符 523"/>
          <p:cNvCxnSpPr/>
          <p:nvPr/>
        </p:nvCxnSpPr>
        <p:spPr>
          <a:xfrm flipH="1">
            <a:off x="7042486" y="4202957"/>
            <a:ext cx="485270" cy="701841"/>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6" name="直接连接符 525"/>
          <p:cNvCxnSpPr/>
          <p:nvPr/>
        </p:nvCxnSpPr>
        <p:spPr>
          <a:xfrm>
            <a:off x="5350042" y="4537911"/>
            <a:ext cx="409074" cy="0"/>
          </a:xfrm>
          <a:prstGeom prst="line">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30" name="直接连接符 529"/>
          <p:cNvCxnSpPr/>
          <p:nvPr/>
        </p:nvCxnSpPr>
        <p:spPr>
          <a:xfrm flipH="1">
            <a:off x="7359316" y="4957011"/>
            <a:ext cx="469231" cy="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6"/>
                                        </p:tgtEl>
                                        <p:attrNameLst>
                                          <p:attrName>style.visibility</p:attrName>
                                        </p:attrNameLst>
                                      </p:cBhvr>
                                      <p:to>
                                        <p:strVal val="visible"/>
                                      </p:to>
                                    </p:set>
                                    <p:animEffect transition="in" filter="wipe(left)">
                                      <p:cBhvr>
                                        <p:cTn id="7" dur="500"/>
                                        <p:tgtEl>
                                          <p:spTgt spid="526"/>
                                        </p:tgtEl>
                                      </p:cBhvr>
                                    </p:animEffect>
                                  </p:childTnLst>
                                </p:cTn>
                              </p:par>
                              <p:par>
                                <p:cTn id="8" presetID="22" presetClass="entr" presetSubtype="8" fill="hold" nodeType="withEffect">
                                  <p:stCondLst>
                                    <p:cond delay="0"/>
                                  </p:stCondLst>
                                  <p:childTnLst>
                                    <p:set>
                                      <p:cBhvr>
                                        <p:cTn id="9" dur="1" fill="hold">
                                          <p:stCondLst>
                                            <p:cond delay="0"/>
                                          </p:stCondLst>
                                        </p:cTn>
                                        <p:tgtEl>
                                          <p:spTgt spid="518"/>
                                        </p:tgtEl>
                                        <p:attrNameLst>
                                          <p:attrName>style.visibility</p:attrName>
                                        </p:attrNameLst>
                                      </p:cBhvr>
                                      <p:to>
                                        <p:strVal val="visible"/>
                                      </p:to>
                                    </p:set>
                                    <p:animEffect transition="in" filter="wipe(left)">
                                      <p:cBhvr>
                                        <p:cTn id="10" dur="500"/>
                                        <p:tgtEl>
                                          <p:spTgt spid="518"/>
                                        </p:tgtEl>
                                      </p:cBhvr>
                                    </p:animEffect>
                                  </p:childTnLst>
                                </p:cTn>
                              </p:par>
                              <p:par>
                                <p:cTn id="11" presetID="22" presetClass="entr" presetSubtype="8" fill="hold" nodeType="withEffect">
                                  <p:stCondLst>
                                    <p:cond delay="0"/>
                                  </p:stCondLst>
                                  <p:childTnLst>
                                    <p:set>
                                      <p:cBhvr>
                                        <p:cTn id="12" dur="1" fill="hold">
                                          <p:stCondLst>
                                            <p:cond delay="0"/>
                                          </p:stCondLst>
                                        </p:cTn>
                                        <p:tgtEl>
                                          <p:spTgt spid="519"/>
                                        </p:tgtEl>
                                        <p:attrNameLst>
                                          <p:attrName>style.visibility</p:attrName>
                                        </p:attrNameLst>
                                      </p:cBhvr>
                                      <p:to>
                                        <p:strVal val="visible"/>
                                      </p:to>
                                    </p:set>
                                    <p:animEffect transition="in" filter="wipe(left)">
                                      <p:cBhvr>
                                        <p:cTn id="13" dur="500"/>
                                        <p:tgtEl>
                                          <p:spTgt spid="519"/>
                                        </p:tgtEl>
                                      </p:cBhvr>
                                    </p:animEffect>
                                  </p:childTnLst>
                                </p:cTn>
                              </p:par>
                              <p:par>
                                <p:cTn id="14" presetID="22" presetClass="entr" presetSubtype="8" fill="hold" nodeType="withEffect">
                                  <p:stCondLst>
                                    <p:cond delay="0"/>
                                  </p:stCondLst>
                                  <p:childTnLst>
                                    <p:set>
                                      <p:cBhvr>
                                        <p:cTn id="15" dur="1" fill="hold">
                                          <p:stCondLst>
                                            <p:cond delay="0"/>
                                          </p:stCondLst>
                                        </p:cTn>
                                        <p:tgtEl>
                                          <p:spTgt spid="520"/>
                                        </p:tgtEl>
                                        <p:attrNameLst>
                                          <p:attrName>style.visibility</p:attrName>
                                        </p:attrNameLst>
                                      </p:cBhvr>
                                      <p:to>
                                        <p:strVal val="visible"/>
                                      </p:to>
                                    </p:set>
                                    <p:animEffect transition="in" filter="wipe(left)">
                                      <p:cBhvr>
                                        <p:cTn id="16" dur="500"/>
                                        <p:tgtEl>
                                          <p:spTgt spid="52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526"/>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1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519"/>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520"/>
                                        </p:tgtEl>
                                        <p:attrNameLst>
                                          <p:attrName>style.visibility</p:attrName>
                                        </p:attrNameLst>
                                      </p:cBhvr>
                                      <p:to>
                                        <p:strVal val="hidden"/>
                                      </p:to>
                                    </p:set>
                                  </p:childTnLst>
                                </p:cTn>
                              </p:par>
                              <p:par>
                                <p:cTn id="27" presetID="22" presetClass="entr" presetSubtype="2" fill="hold" nodeType="withEffect">
                                  <p:stCondLst>
                                    <p:cond delay="0"/>
                                  </p:stCondLst>
                                  <p:childTnLst>
                                    <p:set>
                                      <p:cBhvr>
                                        <p:cTn id="28" dur="1" fill="hold">
                                          <p:stCondLst>
                                            <p:cond delay="0"/>
                                          </p:stCondLst>
                                        </p:cTn>
                                        <p:tgtEl>
                                          <p:spTgt spid="522"/>
                                        </p:tgtEl>
                                        <p:attrNameLst>
                                          <p:attrName>style.visibility</p:attrName>
                                        </p:attrNameLst>
                                      </p:cBhvr>
                                      <p:to>
                                        <p:strVal val="visible"/>
                                      </p:to>
                                    </p:set>
                                    <p:animEffect transition="in" filter="wipe(right)">
                                      <p:cBhvr>
                                        <p:cTn id="29" dur="500"/>
                                        <p:tgtEl>
                                          <p:spTgt spid="522"/>
                                        </p:tgtEl>
                                      </p:cBhvr>
                                    </p:animEffect>
                                  </p:childTnLst>
                                </p:cTn>
                              </p:par>
                              <p:par>
                                <p:cTn id="30" presetID="22" presetClass="entr" presetSubtype="2" fill="hold" nodeType="withEffect">
                                  <p:stCondLst>
                                    <p:cond delay="0"/>
                                  </p:stCondLst>
                                  <p:childTnLst>
                                    <p:set>
                                      <p:cBhvr>
                                        <p:cTn id="31" dur="1" fill="hold">
                                          <p:stCondLst>
                                            <p:cond delay="0"/>
                                          </p:stCondLst>
                                        </p:cTn>
                                        <p:tgtEl>
                                          <p:spTgt spid="523"/>
                                        </p:tgtEl>
                                        <p:attrNameLst>
                                          <p:attrName>style.visibility</p:attrName>
                                        </p:attrNameLst>
                                      </p:cBhvr>
                                      <p:to>
                                        <p:strVal val="visible"/>
                                      </p:to>
                                    </p:set>
                                    <p:animEffect transition="in" filter="wipe(right)">
                                      <p:cBhvr>
                                        <p:cTn id="32" dur="500"/>
                                        <p:tgtEl>
                                          <p:spTgt spid="523"/>
                                        </p:tgtEl>
                                      </p:cBhvr>
                                    </p:animEffect>
                                  </p:childTnLst>
                                </p:cTn>
                              </p:par>
                              <p:par>
                                <p:cTn id="33" presetID="22" presetClass="entr" presetSubtype="2" fill="hold" nodeType="withEffect">
                                  <p:stCondLst>
                                    <p:cond delay="0"/>
                                  </p:stCondLst>
                                  <p:childTnLst>
                                    <p:set>
                                      <p:cBhvr>
                                        <p:cTn id="34" dur="1" fill="hold">
                                          <p:stCondLst>
                                            <p:cond delay="0"/>
                                          </p:stCondLst>
                                        </p:cTn>
                                        <p:tgtEl>
                                          <p:spTgt spid="524"/>
                                        </p:tgtEl>
                                        <p:attrNameLst>
                                          <p:attrName>style.visibility</p:attrName>
                                        </p:attrNameLst>
                                      </p:cBhvr>
                                      <p:to>
                                        <p:strVal val="visible"/>
                                      </p:to>
                                    </p:set>
                                    <p:animEffect transition="in" filter="wipe(right)">
                                      <p:cBhvr>
                                        <p:cTn id="35" dur="500"/>
                                        <p:tgtEl>
                                          <p:spTgt spid="524"/>
                                        </p:tgtEl>
                                      </p:cBhvr>
                                    </p:animEffect>
                                  </p:childTnLst>
                                </p:cTn>
                              </p:par>
                              <p:par>
                                <p:cTn id="36" presetID="22" presetClass="entr" presetSubtype="2" fill="hold" nodeType="withEffect">
                                  <p:stCondLst>
                                    <p:cond delay="0"/>
                                  </p:stCondLst>
                                  <p:childTnLst>
                                    <p:set>
                                      <p:cBhvr>
                                        <p:cTn id="37" dur="1" fill="hold">
                                          <p:stCondLst>
                                            <p:cond delay="0"/>
                                          </p:stCondLst>
                                        </p:cTn>
                                        <p:tgtEl>
                                          <p:spTgt spid="530"/>
                                        </p:tgtEl>
                                        <p:attrNameLst>
                                          <p:attrName>style.visibility</p:attrName>
                                        </p:attrNameLst>
                                      </p:cBhvr>
                                      <p:to>
                                        <p:strVal val="visible"/>
                                      </p:to>
                                    </p:set>
                                    <p:animEffect transition="in" filter="wipe(right)">
                                      <p:cBhvr>
                                        <p:cTn id="38" dur="500"/>
                                        <p:tgtEl>
                                          <p:spTgt spid="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482" name="文本框 481"/>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二、集成移位寄存器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514" name="文本框 513"/>
          <p:cNvSpPr txBox="1"/>
          <p:nvPr/>
        </p:nvSpPr>
        <p:spPr>
          <a:xfrm>
            <a:off x="336833" y="1285008"/>
            <a:ext cx="5358098" cy="523220"/>
          </a:xfrm>
          <a:prstGeom prst="rect">
            <a:avLst/>
          </a:prstGeom>
          <a:noFill/>
        </p:spPr>
        <p:txBody>
          <a:bodyPr wrap="square" rtlCol="0">
            <a:spAutoFit/>
          </a:bodyPr>
          <a:lstStyle/>
          <a:p>
            <a:r>
              <a:rPr lang="en-US" altLang="zh-CN" sz="2800" b="1" dirty="0">
                <a:solidFill>
                  <a:srgbClr val="0000FF"/>
                </a:solidFill>
              </a:rPr>
              <a:t>74LS194</a:t>
            </a:r>
            <a:r>
              <a:rPr lang="zh-CN" altLang="en-US" sz="2800" b="1" dirty="0">
                <a:solidFill>
                  <a:srgbClr val="0000FF"/>
                </a:solidFill>
              </a:rPr>
              <a:t>级联构成多位寄存器</a:t>
            </a:r>
            <a:endParaRPr lang="zh-CN" altLang="en-US" sz="2800" b="1" dirty="0">
              <a:solidFill>
                <a:srgbClr val="0000FF"/>
              </a:solidFill>
            </a:endParaRPr>
          </a:p>
        </p:txBody>
      </p:sp>
      <p:sp>
        <p:nvSpPr>
          <p:cNvPr id="28" name="Text Box 2"/>
          <p:cNvSpPr txBox="1">
            <a:spLocks noChangeArrowheads="1"/>
          </p:cNvSpPr>
          <p:nvPr/>
        </p:nvSpPr>
        <p:spPr bwMode="auto">
          <a:xfrm>
            <a:off x="304215" y="1902552"/>
            <a:ext cx="86913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fontAlgn="base">
              <a:spcBef>
                <a:spcPct val="50000"/>
              </a:spcBef>
              <a:spcAft>
                <a:spcPct val="0"/>
              </a:spcAft>
            </a:pPr>
            <a:r>
              <a:rPr kumimoji="1" lang="zh-CN" altLang="en-US" sz="2400" b="1" dirty="0">
                <a:solidFill>
                  <a:srgbClr val="FF0000"/>
                </a:solidFill>
                <a:latin typeface="Times New Roman" panose="02020603050405020304" pitchFamily="18" charset="0"/>
                <a:ea typeface="宋体" panose="02010600030101010101" pitchFamily="2" charset="-122"/>
              </a:rPr>
              <a:t>例</a:t>
            </a:r>
            <a:r>
              <a:rPr kumimoji="1" lang="en-US" altLang="zh-CN" sz="2400" b="1" dirty="0">
                <a:solidFill>
                  <a:srgbClr val="FF0000"/>
                </a:solidFill>
                <a:latin typeface="Times New Roman" panose="02020603050405020304" pitchFamily="18" charset="0"/>
                <a:ea typeface="宋体" panose="02010600030101010101" pitchFamily="2" charset="-122"/>
              </a:rPr>
              <a:t>  </a:t>
            </a:r>
            <a:r>
              <a:rPr kumimoji="1" lang="zh-CN" altLang="en-US" sz="2400" b="1" dirty="0">
                <a:solidFill>
                  <a:srgbClr val="000000"/>
                </a:solidFill>
                <a:latin typeface="Times New Roman" panose="02020603050405020304" pitchFamily="18" charset="0"/>
                <a:ea typeface="宋体" panose="02010600030101010101" pitchFamily="2" charset="-122"/>
              </a:rPr>
              <a:t>利用两片集成移位寄存器74</a:t>
            </a:r>
            <a:r>
              <a:rPr kumimoji="1" lang="en-US" altLang="zh-CN" sz="2400" b="1" dirty="0">
                <a:solidFill>
                  <a:srgbClr val="000000"/>
                </a:solidFill>
                <a:latin typeface="Times New Roman" panose="02020603050405020304" pitchFamily="18" charset="0"/>
                <a:ea typeface="宋体" panose="02010600030101010101" pitchFamily="2" charset="-122"/>
              </a:rPr>
              <a:t>LS194</a:t>
            </a:r>
            <a:r>
              <a:rPr kumimoji="1" lang="zh-CN" altLang="en-US" sz="2400" b="1" dirty="0">
                <a:solidFill>
                  <a:srgbClr val="000000"/>
                </a:solidFill>
                <a:latin typeface="Times New Roman" panose="02020603050405020304" pitchFamily="18" charset="0"/>
                <a:ea typeface="宋体" panose="02010600030101010101" pitchFamily="2" charset="-122"/>
              </a:rPr>
              <a:t>扩展成一个8位移位寄存器</a:t>
            </a:r>
            <a:endParaRPr kumimoji="1" lang="zh-CN" altLang="en-US" sz="2400" dirty="0">
              <a:solidFill>
                <a:srgbClr val="333333"/>
              </a:solidFill>
              <a:latin typeface="Times New Roman" panose="02020603050405020304" pitchFamily="18" charset="0"/>
              <a:ea typeface="宋体" panose="02010600030101010101" pitchFamily="2" charset="-122"/>
            </a:endParaRPr>
          </a:p>
        </p:txBody>
      </p:sp>
      <p:pic>
        <p:nvPicPr>
          <p:cNvPr id="29" name="Picture 5" descr="t22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306" y="2626812"/>
            <a:ext cx="8561387" cy="3328987"/>
          </a:xfrm>
          <a:prstGeom prst="rect">
            <a:avLst/>
          </a:prstGeom>
          <a:noFill/>
          <a:extLst>
            <a:ext uri="{909E8E84-426E-40DD-AFC4-6F175D3DCCD1}">
              <a14:hiddenFill xmlns:a14="http://schemas.microsoft.com/office/drawing/2010/main">
                <a:solidFill>
                  <a:srgbClr val="FFFFFF"/>
                </a:solidFill>
              </a14:hiddenFill>
            </a:ext>
          </a:extLst>
        </p:spPr>
      </p:pic>
      <p:sp>
        <p:nvSpPr>
          <p:cNvPr id="30" name="Line 6"/>
          <p:cNvSpPr>
            <a:spLocks noChangeShapeType="1"/>
          </p:cNvSpPr>
          <p:nvPr/>
        </p:nvSpPr>
        <p:spPr bwMode="auto">
          <a:xfrm>
            <a:off x="3085306" y="3384049"/>
            <a:ext cx="1306512" cy="0"/>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pPr>
            <a:endParaRPr kumimoji="1" lang="zh-CN" altLang="en-US" sz="2800" b="1">
              <a:solidFill>
                <a:srgbClr val="333333"/>
              </a:solidFill>
              <a:latin typeface="Times New Roman" panose="02020603050405020304" pitchFamily="18" charset="0"/>
              <a:ea typeface="宋体" panose="02010600030101010101" pitchFamily="2" charset="-122"/>
            </a:endParaRPr>
          </a:p>
        </p:txBody>
      </p:sp>
      <p:sp>
        <p:nvSpPr>
          <p:cNvPr id="31" name="Line 7"/>
          <p:cNvSpPr>
            <a:spLocks noChangeShapeType="1"/>
          </p:cNvSpPr>
          <p:nvPr/>
        </p:nvSpPr>
        <p:spPr bwMode="auto">
          <a:xfrm>
            <a:off x="4391818" y="3384049"/>
            <a:ext cx="0" cy="1046163"/>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pPr>
            <a:endParaRPr kumimoji="1" lang="zh-CN" altLang="en-US" sz="2800" b="1">
              <a:solidFill>
                <a:srgbClr val="333333"/>
              </a:solidFill>
              <a:latin typeface="Times New Roman" panose="02020603050405020304" pitchFamily="18" charset="0"/>
              <a:ea typeface="宋体" panose="02010600030101010101" pitchFamily="2" charset="-122"/>
            </a:endParaRPr>
          </a:p>
        </p:txBody>
      </p:sp>
      <p:sp>
        <p:nvSpPr>
          <p:cNvPr id="32" name="Line 8"/>
          <p:cNvSpPr>
            <a:spLocks noChangeShapeType="1"/>
          </p:cNvSpPr>
          <p:nvPr/>
        </p:nvSpPr>
        <p:spPr bwMode="auto">
          <a:xfrm>
            <a:off x="4377531" y="4444499"/>
            <a:ext cx="696912" cy="14288"/>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pPr>
            <a:endParaRPr kumimoji="1" lang="zh-CN" altLang="en-US" sz="2800" b="1">
              <a:solidFill>
                <a:srgbClr val="333333"/>
              </a:solidFill>
              <a:latin typeface="Times New Roman" panose="02020603050405020304" pitchFamily="18" charset="0"/>
              <a:ea typeface="宋体" panose="02010600030101010101" pitchFamily="2" charset="-122"/>
            </a:endParaRPr>
          </a:p>
        </p:txBody>
      </p:sp>
      <p:sp>
        <p:nvSpPr>
          <p:cNvPr id="33" name="Line 9"/>
          <p:cNvSpPr>
            <a:spLocks noChangeShapeType="1"/>
          </p:cNvSpPr>
          <p:nvPr/>
        </p:nvSpPr>
        <p:spPr bwMode="auto">
          <a:xfrm flipH="1">
            <a:off x="4595018" y="3530099"/>
            <a:ext cx="871538" cy="0"/>
          </a:xfrm>
          <a:prstGeom prst="line">
            <a:avLst/>
          </a:prstGeom>
          <a:noFill/>
          <a:ln w="28575">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pPr>
            <a:endParaRPr kumimoji="1" lang="zh-CN" altLang="en-US" sz="2800" b="1">
              <a:solidFill>
                <a:srgbClr val="333333"/>
              </a:solidFill>
              <a:latin typeface="Times New Roman" panose="02020603050405020304" pitchFamily="18" charset="0"/>
              <a:ea typeface="宋体" panose="02010600030101010101" pitchFamily="2" charset="-122"/>
            </a:endParaRPr>
          </a:p>
        </p:txBody>
      </p:sp>
      <p:sp>
        <p:nvSpPr>
          <p:cNvPr id="34" name="Line 10"/>
          <p:cNvSpPr>
            <a:spLocks noChangeShapeType="1"/>
          </p:cNvSpPr>
          <p:nvPr/>
        </p:nvSpPr>
        <p:spPr bwMode="auto">
          <a:xfrm>
            <a:off x="4609306" y="3530099"/>
            <a:ext cx="0" cy="1030288"/>
          </a:xfrm>
          <a:prstGeom prst="line">
            <a:avLst/>
          </a:prstGeom>
          <a:noFill/>
          <a:ln w="28575">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pPr>
            <a:endParaRPr kumimoji="1" lang="zh-CN" altLang="en-US" sz="2800" b="1">
              <a:solidFill>
                <a:srgbClr val="333333"/>
              </a:solidFill>
              <a:latin typeface="Times New Roman" panose="02020603050405020304" pitchFamily="18" charset="0"/>
              <a:ea typeface="宋体" panose="02010600030101010101" pitchFamily="2" charset="-122"/>
            </a:endParaRPr>
          </a:p>
        </p:txBody>
      </p:sp>
      <p:sp>
        <p:nvSpPr>
          <p:cNvPr id="35" name="Line 11"/>
          <p:cNvSpPr>
            <a:spLocks noChangeShapeType="1"/>
          </p:cNvSpPr>
          <p:nvPr/>
        </p:nvSpPr>
        <p:spPr bwMode="auto">
          <a:xfrm>
            <a:off x="3680618" y="4560387"/>
            <a:ext cx="928688" cy="0"/>
          </a:xfrm>
          <a:prstGeom prst="line">
            <a:avLst/>
          </a:prstGeom>
          <a:noFill/>
          <a:ln w="28575">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a:spcBef>
                <a:spcPct val="0"/>
              </a:spcBef>
              <a:spcAft>
                <a:spcPct val="0"/>
              </a:spcAft>
            </a:pPr>
            <a:endParaRPr kumimoji="1" lang="zh-CN" altLang="en-US" sz="2800" b="1">
              <a:solidFill>
                <a:srgbClr val="333333"/>
              </a:solidFill>
              <a:latin typeface="Times New Roman" panose="02020603050405020304" pitchFamily="18"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482" name="文本框 481"/>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三、移位寄存器的应用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514" name="文本框 513"/>
          <p:cNvSpPr txBox="1"/>
          <p:nvPr/>
        </p:nvSpPr>
        <p:spPr>
          <a:xfrm>
            <a:off x="336833" y="1285008"/>
            <a:ext cx="5358098" cy="523220"/>
          </a:xfrm>
          <a:prstGeom prst="rect">
            <a:avLst/>
          </a:prstGeom>
          <a:noFill/>
        </p:spPr>
        <p:txBody>
          <a:bodyPr wrap="square" rtlCol="0">
            <a:spAutoFit/>
          </a:bodyPr>
          <a:lstStyle/>
          <a:p>
            <a:r>
              <a:rPr lang="zh-CN" altLang="en-US" sz="2800" b="1" dirty="0">
                <a:solidFill>
                  <a:srgbClr val="0000FF"/>
                </a:solidFill>
              </a:rPr>
              <a:t>实现数码串</a:t>
            </a:r>
            <a:r>
              <a:rPr lang="en-US" altLang="zh-CN" sz="2800" b="1" dirty="0">
                <a:solidFill>
                  <a:srgbClr val="0000FF"/>
                </a:solidFill>
              </a:rPr>
              <a:t>/</a:t>
            </a:r>
            <a:r>
              <a:rPr lang="zh-CN" altLang="en-US" sz="2800" b="1" dirty="0">
                <a:solidFill>
                  <a:srgbClr val="0000FF"/>
                </a:solidFill>
              </a:rPr>
              <a:t>并转换</a:t>
            </a:r>
            <a:endParaRPr lang="zh-CN" altLang="en-US" sz="2800" b="1" dirty="0">
              <a:solidFill>
                <a:srgbClr val="0000FF"/>
              </a:solidFill>
            </a:endParaRPr>
          </a:p>
        </p:txBody>
      </p:sp>
      <p:sp>
        <p:nvSpPr>
          <p:cNvPr id="28" name="Text Box 2"/>
          <p:cNvSpPr txBox="1">
            <a:spLocks noChangeArrowheads="1"/>
          </p:cNvSpPr>
          <p:nvPr/>
        </p:nvSpPr>
        <p:spPr bwMode="auto">
          <a:xfrm>
            <a:off x="479408" y="1902552"/>
            <a:ext cx="79883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defTabSz="914400" fontAlgn="base">
              <a:spcBef>
                <a:spcPct val="50000"/>
              </a:spcBef>
              <a:spcAft>
                <a:spcPct val="0"/>
              </a:spcAft>
            </a:pPr>
            <a:r>
              <a:rPr kumimoji="1" lang="zh-CN" altLang="en-US" sz="2400" b="1" dirty="0">
                <a:solidFill>
                  <a:srgbClr val="000000"/>
                </a:solidFill>
                <a:latin typeface="Times New Roman" panose="02020603050405020304" pitchFamily="18" charset="0"/>
                <a:ea typeface="宋体" panose="02010600030101010101" pitchFamily="2" charset="-122"/>
              </a:rPr>
              <a:t>串</a:t>
            </a:r>
            <a:r>
              <a:rPr kumimoji="1" lang="en-US" altLang="zh-CN" sz="2400" b="1" dirty="0">
                <a:solidFill>
                  <a:srgbClr val="000000"/>
                </a:solidFill>
                <a:latin typeface="Times New Roman" panose="02020603050405020304" pitchFamily="18" charset="0"/>
                <a:ea typeface="宋体" panose="02010600030101010101" pitchFamily="2" charset="-122"/>
              </a:rPr>
              <a:t>/</a:t>
            </a:r>
            <a:r>
              <a:rPr kumimoji="1" lang="zh-CN" altLang="en-US" sz="2400" b="1" dirty="0">
                <a:solidFill>
                  <a:srgbClr val="000000"/>
                </a:solidFill>
                <a:latin typeface="Times New Roman" panose="02020603050405020304" pitchFamily="18" charset="0"/>
                <a:ea typeface="宋体" panose="02010600030101010101" pitchFamily="2" charset="-122"/>
              </a:rPr>
              <a:t>并转换是指将串行输入的数据，经转换电路之后变成并行输出，常用于计算机通信中的数据接收方。</a:t>
            </a:r>
            <a:endParaRPr kumimoji="1" lang="zh-CN" altLang="en-US" sz="2400" dirty="0">
              <a:solidFill>
                <a:srgbClr val="333333"/>
              </a:solidFill>
              <a:latin typeface="Times New Roman" panose="02020603050405020304" pitchFamily="18" charset="0"/>
              <a:ea typeface="宋体" panose="02010600030101010101" pitchFamily="2" charset="-122"/>
            </a:endParaRPr>
          </a:p>
        </p:txBody>
      </p:sp>
      <p:pic>
        <p:nvPicPr>
          <p:cNvPr id="18" name="Picture 5" descr="5-5-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313" y="3713043"/>
            <a:ext cx="8399654" cy="2170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64514" y="4444282"/>
            <a:ext cx="1584158" cy="461665"/>
          </a:xfrm>
          <a:prstGeom prst="rect">
            <a:avLst/>
          </a:prstGeom>
          <a:noFill/>
        </p:spPr>
        <p:txBody>
          <a:bodyPr wrap="square" rtlCol="0">
            <a:spAutoFit/>
          </a:bodyPr>
          <a:lstStyle/>
          <a:p>
            <a:r>
              <a:rPr lang="zh-CN" altLang="en-US" sz="2400" b="1" dirty="0">
                <a:solidFill>
                  <a:srgbClr val="FF0000"/>
                </a:solidFill>
                <a:latin typeface="黑体" panose="02010609060101010101" pitchFamily="49" charset="-122"/>
                <a:ea typeface="黑体" panose="02010609060101010101" pitchFamily="49" charset="-122"/>
              </a:rPr>
              <a:t>串行输入</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10" name="文本框 9"/>
          <p:cNvSpPr txBox="1"/>
          <p:nvPr/>
        </p:nvSpPr>
        <p:spPr>
          <a:xfrm>
            <a:off x="3532831" y="3231483"/>
            <a:ext cx="2739188" cy="461665"/>
          </a:xfrm>
          <a:prstGeom prst="rect">
            <a:avLst/>
          </a:prstGeom>
          <a:noFill/>
        </p:spPr>
        <p:txBody>
          <a:bodyPr wrap="square" rtlCol="0">
            <a:spAutoFit/>
          </a:bodyPr>
          <a:lstStyle/>
          <a:p>
            <a:r>
              <a:rPr lang="zh-CN" altLang="en-US" sz="2400" b="1" dirty="0">
                <a:solidFill>
                  <a:srgbClr val="FF0000"/>
                </a:solidFill>
                <a:latin typeface="黑体" panose="02010609060101010101" pitchFamily="49" charset="-122"/>
                <a:ea typeface="黑体" panose="02010609060101010101" pitchFamily="49" charset="-122"/>
              </a:rPr>
              <a:t>并  行  输  出</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3" name="矩形: 圆角 2"/>
          <p:cNvSpPr/>
          <p:nvPr/>
        </p:nvSpPr>
        <p:spPr>
          <a:xfrm>
            <a:off x="2275529" y="3657600"/>
            <a:ext cx="4824663" cy="316434"/>
          </a:xfrm>
          <a:prstGeom prst="roundRect">
            <a:avLst/>
          </a:prstGeom>
          <a:noFill/>
          <a:ln w="412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24" name="组合 23"/>
          <p:cNvGrpSpPr/>
          <p:nvPr/>
        </p:nvGrpSpPr>
        <p:grpSpPr>
          <a:xfrm>
            <a:off x="812561" y="1663797"/>
            <a:ext cx="8157855" cy="2328081"/>
            <a:chOff x="364514" y="1623350"/>
            <a:chExt cx="7933263" cy="2049844"/>
          </a:xfrm>
        </p:grpSpPr>
        <p:pic>
          <p:nvPicPr>
            <p:cNvPr id="18" name="Picture 5" descr="5-5-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514" y="1623350"/>
              <a:ext cx="7933263" cy="204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a:off x="7054516" y="2618874"/>
              <a:ext cx="24865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303168" y="2610853"/>
              <a:ext cx="0" cy="75798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485021" y="1937084"/>
              <a:ext cx="104674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531768" y="1937084"/>
              <a:ext cx="0" cy="4010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054516" y="2350168"/>
              <a:ext cx="1483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222958" y="2350168"/>
              <a:ext cx="30881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531768" y="2306053"/>
              <a:ext cx="0" cy="441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482" name="文本框 481"/>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三、移位寄存器的应用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514" name="文本框 513"/>
          <p:cNvSpPr txBox="1"/>
          <p:nvPr/>
        </p:nvSpPr>
        <p:spPr>
          <a:xfrm>
            <a:off x="364514" y="1076461"/>
            <a:ext cx="5358098" cy="523220"/>
          </a:xfrm>
          <a:prstGeom prst="rect">
            <a:avLst/>
          </a:prstGeom>
          <a:noFill/>
        </p:spPr>
        <p:txBody>
          <a:bodyPr wrap="square" rtlCol="0">
            <a:spAutoFit/>
          </a:bodyPr>
          <a:lstStyle/>
          <a:p>
            <a:r>
              <a:rPr lang="zh-CN" altLang="en-US" sz="2800" b="1" dirty="0">
                <a:solidFill>
                  <a:srgbClr val="0000FF"/>
                </a:solidFill>
              </a:rPr>
              <a:t>实现数码串</a:t>
            </a:r>
            <a:r>
              <a:rPr lang="en-US" altLang="zh-CN" sz="2800" b="1" dirty="0">
                <a:solidFill>
                  <a:srgbClr val="0000FF"/>
                </a:solidFill>
              </a:rPr>
              <a:t>/</a:t>
            </a:r>
            <a:r>
              <a:rPr lang="zh-CN" altLang="en-US" sz="2800" b="1" dirty="0">
                <a:solidFill>
                  <a:srgbClr val="0000FF"/>
                </a:solidFill>
              </a:rPr>
              <a:t>并转换</a:t>
            </a:r>
            <a:endParaRPr lang="zh-CN" altLang="en-US" sz="2800" b="1" dirty="0">
              <a:solidFill>
                <a:srgbClr val="0000FF"/>
              </a:solidFill>
            </a:endParaRPr>
          </a:p>
        </p:txBody>
      </p:sp>
      <mc:AlternateContent xmlns:mc="http://schemas.openxmlformats.org/markup-compatibility/2006">
        <mc:Choice xmlns:a14="http://schemas.microsoft.com/office/drawing/2010/main" Requires="a14">
          <p:sp>
            <p:nvSpPr>
              <p:cNvPr id="20" name="文本框 19"/>
              <p:cNvSpPr txBox="1"/>
              <p:nvPr/>
            </p:nvSpPr>
            <p:spPr>
              <a:xfrm>
                <a:off x="91798" y="4224797"/>
                <a:ext cx="8234054" cy="955005"/>
              </a:xfrm>
              <a:prstGeom prst="rect">
                <a:avLst/>
              </a:prstGeom>
              <a:noFill/>
            </p:spPr>
            <p:txBody>
              <a:bodyPr wrap="square" rtlCol="0">
                <a:spAutoFit/>
              </a:bodyPr>
              <a:lstStyle/>
              <a:p>
                <a:r>
                  <a:rPr lang="en-US" altLang="zh-CN" sz="2800" b="1" dirty="0">
                    <a:solidFill>
                      <a:srgbClr val="2B56F5"/>
                    </a:solidFill>
                  </a:rPr>
                  <a:t>Step1</a:t>
                </a:r>
                <a:r>
                  <a:rPr lang="en-US" altLang="zh-CN" sz="2800" b="1" dirty="0">
                    <a:solidFill>
                      <a:prstClr val="black"/>
                    </a:solidFill>
                  </a:rPr>
                  <a:t> :  </a:t>
                </a:r>
                <a:r>
                  <a:rPr lang="zh-CN" altLang="en-US" sz="2800" b="1" dirty="0">
                    <a:solidFill>
                      <a:prstClr val="black"/>
                    </a:solidFill>
                  </a:rPr>
                  <a:t> </a:t>
                </a:r>
                <a14:m>
                  <m:oMath xmlns:m="http://schemas.openxmlformats.org/officeDocument/2006/math">
                    <m:acc>
                      <m:accPr>
                        <m:chr m:val="̅"/>
                        <m:ctrlPr>
                          <a:rPr lang="zh-CN" altLang="en-US" sz="2800" b="1" i="1">
                            <a:solidFill>
                              <a:prstClr val="black"/>
                            </a:solidFill>
                            <a:latin typeface="Cambria Math" panose="02040503050406030204"/>
                          </a:rPr>
                        </m:ctrlPr>
                      </m:accPr>
                      <m:e>
                        <m:r>
                          <a:rPr lang="zh-CN" altLang="en-US" sz="2800" b="1" i="1">
                            <a:solidFill>
                              <a:prstClr val="black"/>
                            </a:solidFill>
                            <a:latin typeface="Cambria Math" panose="02040503050406030204" pitchFamily="18" charset="0"/>
                          </a:rPr>
                          <m:t>𝑪𝑹</m:t>
                        </m:r>
                      </m:e>
                    </m:acc>
                  </m:oMath>
                </a14:m>
                <a:r>
                  <a:rPr lang="zh-CN" altLang="en-US" sz="2800" b="1" dirty="0">
                    <a:solidFill>
                      <a:prstClr val="black"/>
                    </a:solidFill>
                  </a:rPr>
                  <a:t>端加低电平，异步清零，</a:t>
                </a:r>
                <a:endParaRPr lang="en-US" altLang="zh-CN" sz="2800" b="1" dirty="0">
                  <a:solidFill>
                    <a:prstClr val="black"/>
                  </a:solidFill>
                </a:endParaRPr>
              </a:p>
              <a:p>
                <a:r>
                  <a:rPr lang="en-US" altLang="zh-CN" sz="2800" b="1" dirty="0">
                    <a:solidFill>
                      <a:prstClr val="black"/>
                    </a:solidFill>
                  </a:rPr>
                  <a:t>                Q</a:t>
                </a:r>
                <a:r>
                  <a:rPr lang="en-US" altLang="zh-CN" sz="2800" b="1" baseline="-25000" dirty="0">
                    <a:solidFill>
                      <a:prstClr val="black"/>
                    </a:solidFill>
                  </a:rPr>
                  <a:t>7</a:t>
                </a:r>
                <a:r>
                  <a:rPr lang="en-US" altLang="zh-CN" sz="2800" b="1" dirty="0">
                    <a:solidFill>
                      <a:prstClr val="black"/>
                    </a:solidFill>
                  </a:rPr>
                  <a:t>=0,   M</a:t>
                </a:r>
                <a:r>
                  <a:rPr lang="en-US" altLang="zh-CN" sz="2800" b="1" baseline="-25000" dirty="0">
                    <a:solidFill>
                      <a:prstClr val="black"/>
                    </a:solidFill>
                  </a:rPr>
                  <a:t>1</a:t>
                </a:r>
                <a:r>
                  <a:rPr lang="en-US" altLang="zh-CN" sz="2800" b="1" dirty="0">
                    <a:solidFill>
                      <a:prstClr val="black"/>
                    </a:solidFill>
                  </a:rPr>
                  <a:t>M</a:t>
                </a:r>
                <a:r>
                  <a:rPr lang="en-US" altLang="zh-CN" sz="2800" b="1" baseline="-25000" dirty="0">
                    <a:solidFill>
                      <a:prstClr val="black"/>
                    </a:solidFill>
                  </a:rPr>
                  <a:t>0</a:t>
                </a:r>
                <a:r>
                  <a:rPr lang="en-US" altLang="zh-CN" sz="2800" b="1" dirty="0">
                    <a:solidFill>
                      <a:prstClr val="black"/>
                    </a:solidFill>
                  </a:rPr>
                  <a:t>=11</a:t>
                </a:r>
                <a:r>
                  <a:rPr lang="zh-CN" altLang="en-US" sz="2800" b="1" dirty="0">
                    <a:solidFill>
                      <a:prstClr val="black"/>
                    </a:solidFill>
                  </a:rPr>
                  <a:t>，寄存器处于置数工作状态</a:t>
                </a:r>
                <a:endParaRPr lang="zh-CN" altLang="en-US" sz="2800" b="1" dirty="0">
                  <a:solidFill>
                    <a:prstClr val="black"/>
                  </a:solidFill>
                </a:endParaRPr>
              </a:p>
            </p:txBody>
          </p:sp>
        </mc:Choice>
        <mc:Fallback>
          <p:sp>
            <p:nvSpPr>
              <p:cNvPr id="20" name="文本框 19"/>
              <p:cNvSpPr txBox="1">
                <a:spLocks noRot="1" noChangeAspect="1" noMove="1" noResize="1" noEditPoints="1" noAdjustHandles="1" noChangeArrowheads="1" noChangeShapeType="1" noTextEdit="1"/>
              </p:cNvSpPr>
              <p:nvPr/>
            </p:nvSpPr>
            <p:spPr>
              <a:xfrm>
                <a:off x="91798" y="4224797"/>
                <a:ext cx="8234054" cy="955005"/>
              </a:xfrm>
              <a:prstGeom prst="rect">
                <a:avLst/>
              </a:prstGeom>
              <a:blipFill rotWithShape="1">
                <a:blip r:embed="rId3"/>
                <a:stretch>
                  <a:fillRect l="-4" t="-15" r="4" b="-25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矩形 22"/>
              <p:cNvSpPr/>
              <p:nvPr/>
            </p:nvSpPr>
            <p:spPr>
              <a:xfrm>
                <a:off x="7845454" y="2354160"/>
                <a:ext cx="1244508" cy="70487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1"/>
                                <m:mcJc m:val="center"/>
                              </m:mcPr>
                            </m:mc>
                          </m:mcs>
                          <m:plcHide m:val="on"/>
                          <m:ctrlPr>
                            <a:rPr lang="zh-CN" altLang="en-US" sz="2000" b="1" i="1" smtClean="0">
                              <a:solidFill>
                                <a:srgbClr val="0000FF"/>
                              </a:solidFill>
                              <a:latin typeface="Cambria Math" panose="02040503050406030204"/>
                            </a:rPr>
                          </m:ctrlPr>
                        </m:mPr>
                        <m:m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𝑴</m:t>
                                </m:r>
                              </m:e>
                              <m:sub>
                                <m:r>
                                  <a:rPr lang="zh-CN" altLang="en-US" sz="2000" b="1">
                                    <a:solidFill>
                                      <a:srgbClr val="0000FF"/>
                                    </a:solidFill>
                                    <a:latin typeface="Cambria Math" panose="02040503050406030204" pitchFamily="18" charset="0"/>
                                  </a:rPr>
                                  <m:t>𝟏</m:t>
                                </m:r>
                              </m:sub>
                            </m:sSub>
                            <m:r>
                              <a:rPr lang="zh-CN" altLang="en-US" sz="2000" b="1">
                                <a:solidFill>
                                  <a:srgbClr val="0000FF"/>
                                </a:solidFill>
                                <a:latin typeface="Cambria Math" panose="02040503050406030204" pitchFamily="18" charset="0"/>
                              </a:rPr>
                              <m:t>=</m:t>
                            </m:r>
                            <m:acc>
                              <m:accPr>
                                <m:chr m:val="̅"/>
                                <m:ctrlPr>
                                  <a:rPr lang="zh-CN" altLang="en-US" sz="2000" b="1" i="1">
                                    <a:solidFill>
                                      <a:srgbClr val="0000FF"/>
                                    </a:solidFill>
                                    <a:latin typeface="Cambria Math" panose="02040503050406030204"/>
                                  </a:rPr>
                                </m:ctrlPr>
                              </m:accP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𝑸</m:t>
                                    </m:r>
                                  </m:e>
                                  <m:sub>
                                    <m:r>
                                      <a:rPr lang="zh-CN" altLang="en-US" sz="2000" b="1">
                                        <a:solidFill>
                                          <a:srgbClr val="0000FF"/>
                                        </a:solidFill>
                                        <a:latin typeface="Cambria Math" panose="02040503050406030204" pitchFamily="18" charset="0"/>
                                      </a:rPr>
                                      <m:t>𝟕</m:t>
                                    </m:r>
                                  </m:sub>
                                </m:sSub>
                              </m:e>
                            </m:acc>
                          </m:e>
                        </m:mr>
                        <m:m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𝑴</m:t>
                                </m:r>
                              </m:e>
                              <m:sub>
                                <m:r>
                                  <a:rPr lang="zh-CN" altLang="en-US" sz="2000" b="1">
                                    <a:solidFill>
                                      <a:srgbClr val="0000FF"/>
                                    </a:solidFill>
                                    <a:latin typeface="Cambria Math" panose="02040503050406030204" pitchFamily="18" charset="0"/>
                                  </a:rPr>
                                  <m:t>𝟎</m:t>
                                </m:r>
                              </m:sub>
                            </m:sSub>
                            <m:r>
                              <a:rPr lang="zh-CN" altLang="en-US" sz="2000" b="1">
                                <a:solidFill>
                                  <a:srgbClr val="0000FF"/>
                                </a:solidFill>
                                <a:latin typeface="Cambria Math" panose="02040503050406030204" pitchFamily="18" charset="0"/>
                              </a:rPr>
                              <m:t>=</m:t>
                            </m:r>
                            <m:r>
                              <a:rPr lang="zh-CN" altLang="en-US" sz="2000" b="1">
                                <a:solidFill>
                                  <a:srgbClr val="0000FF"/>
                                </a:solidFill>
                                <a:latin typeface="Cambria Math" panose="02040503050406030204" pitchFamily="18" charset="0"/>
                              </a:rPr>
                              <m:t>𝟏</m:t>
                            </m:r>
                          </m:e>
                        </m:mr>
                      </m:m>
                    </m:oMath>
                  </m:oMathPara>
                </a14:m>
                <a:endParaRPr lang="zh-CN" altLang="en-US" sz="2000" b="1" dirty="0">
                  <a:solidFill>
                    <a:srgbClr val="0000FF"/>
                  </a:solidFill>
                </a:endParaRPr>
              </a:p>
            </p:txBody>
          </p:sp>
        </mc:Choice>
        <mc:Fallback>
          <p:sp>
            <p:nvSpPr>
              <p:cNvPr id="23" name="矩形 22"/>
              <p:cNvSpPr>
                <a:spLocks noRot="1" noChangeAspect="1" noMove="1" noResize="1" noEditPoints="1" noAdjustHandles="1" noChangeArrowheads="1" noChangeShapeType="1" noTextEdit="1"/>
              </p:cNvSpPr>
              <p:nvPr/>
            </p:nvSpPr>
            <p:spPr>
              <a:xfrm>
                <a:off x="7845454" y="2354160"/>
                <a:ext cx="1244508" cy="704873"/>
              </a:xfrm>
              <a:prstGeom prst="rect">
                <a:avLst/>
              </a:prstGeom>
              <a:blipFill rotWithShape="1">
                <a:blip r:embed="rId4"/>
                <a:stretch>
                  <a:fillRect l="-2" t="-31" r="46"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83999" y="5206444"/>
                <a:ext cx="8976002" cy="1384995"/>
              </a:xfrm>
              <a:prstGeom prst="rect">
                <a:avLst/>
              </a:prstGeom>
              <a:noFill/>
            </p:spPr>
            <p:txBody>
              <a:bodyPr wrap="square" rtlCol="0">
                <a:spAutoFit/>
              </a:bodyPr>
              <a:lstStyle/>
              <a:p>
                <a:r>
                  <a:rPr lang="en-US" altLang="zh-CN" sz="2800" b="1" dirty="0">
                    <a:solidFill>
                      <a:srgbClr val="2B56F5"/>
                    </a:solidFill>
                  </a:rPr>
                  <a:t>Step2</a:t>
                </a:r>
                <a:r>
                  <a:rPr lang="en-US" altLang="zh-CN" sz="2800" b="1" dirty="0">
                    <a:solidFill>
                      <a:prstClr val="black"/>
                    </a:solidFill>
                  </a:rPr>
                  <a:t> </a:t>
                </a:r>
                <a:r>
                  <a:rPr lang="en-US" altLang="zh-CN" sz="2800" b="1">
                    <a:solidFill>
                      <a:prstClr val="black"/>
                    </a:solidFill>
                  </a:rPr>
                  <a:t>:   </a:t>
                </a:r>
                <a:r>
                  <a:rPr lang="zh-CN" altLang="en-US" sz="2800" b="1">
                    <a:solidFill>
                      <a:prstClr val="black"/>
                    </a:solidFill>
                  </a:rPr>
                  <a:t> </a:t>
                </a:r>
                <a14:m>
                  <m:oMath xmlns:m="http://schemas.openxmlformats.org/officeDocument/2006/math">
                    <m:acc>
                      <m:accPr>
                        <m:chr m:val="̅"/>
                        <m:ctrlPr>
                          <a:rPr lang="zh-CN" altLang="en-US" sz="2800" b="1" i="1">
                            <a:solidFill>
                              <a:prstClr val="black"/>
                            </a:solidFill>
                            <a:latin typeface="Cambria Math" panose="02040503050406030204"/>
                          </a:rPr>
                        </m:ctrlPr>
                      </m:accPr>
                      <m:e>
                        <m:r>
                          <a:rPr lang="zh-CN" altLang="en-US" sz="2800" b="1" i="1">
                            <a:solidFill>
                              <a:prstClr val="black"/>
                            </a:solidFill>
                            <a:latin typeface="Cambria Math" panose="02040503050406030204" pitchFamily="18" charset="0"/>
                          </a:rPr>
                          <m:t>𝑪𝑹</m:t>
                        </m:r>
                      </m:e>
                    </m:acc>
                  </m:oMath>
                </a14:m>
                <a:r>
                  <a:rPr lang="zh-CN" altLang="en-US" sz="2800" b="1" dirty="0">
                    <a:solidFill>
                      <a:prstClr val="black"/>
                    </a:solidFill>
                  </a:rPr>
                  <a:t>端加高电平。当第一个</a:t>
                </a:r>
                <a:r>
                  <a:rPr lang="en-US" altLang="zh-CN" sz="2800" b="1" dirty="0">
                    <a:solidFill>
                      <a:prstClr val="black"/>
                    </a:solidFill>
                  </a:rPr>
                  <a:t>CP</a:t>
                </a:r>
                <a:r>
                  <a:rPr lang="zh-CN" altLang="en-US" sz="2800" b="1" dirty="0">
                    <a:solidFill>
                      <a:prstClr val="black"/>
                    </a:solidFill>
                  </a:rPr>
                  <a:t>上升沿到来时，</a:t>
                </a:r>
                <a:endParaRPr lang="en-US" altLang="zh-CN" sz="2800" b="1" dirty="0">
                  <a:solidFill>
                    <a:prstClr val="black"/>
                  </a:solidFill>
                </a:endParaRPr>
              </a:p>
              <a:p>
                <a:r>
                  <a:rPr lang="en-US" altLang="zh-CN" sz="2800" b="1" dirty="0">
                    <a:solidFill>
                      <a:prstClr val="black"/>
                    </a:solidFill>
                  </a:rPr>
                  <a:t>                </a:t>
                </a:r>
                <a:r>
                  <a:rPr lang="zh-CN" altLang="en-US" sz="2800" b="1" dirty="0">
                    <a:solidFill>
                      <a:prstClr val="black"/>
                    </a:solidFill>
                  </a:rPr>
                  <a:t>输出端：</a:t>
                </a:r>
                <a:r>
                  <a:rPr lang="en-US" altLang="zh-CN" sz="2800" b="1" dirty="0">
                    <a:solidFill>
                      <a:srgbClr val="0000FF"/>
                    </a:solidFill>
                  </a:rPr>
                  <a:t>Q</a:t>
                </a:r>
                <a:r>
                  <a:rPr lang="en-US" altLang="zh-CN" sz="2800" b="1" baseline="-25000" dirty="0">
                    <a:solidFill>
                      <a:srgbClr val="0000FF"/>
                    </a:solidFill>
                  </a:rPr>
                  <a:t>0</a:t>
                </a:r>
                <a:r>
                  <a:rPr lang="en-US" altLang="zh-CN" sz="2800" b="1" dirty="0">
                    <a:solidFill>
                      <a:srgbClr val="0000FF"/>
                    </a:solidFill>
                  </a:rPr>
                  <a:t>Q</a:t>
                </a:r>
                <a:r>
                  <a:rPr lang="en-US" altLang="zh-CN" sz="2800" b="1" baseline="-25000" dirty="0">
                    <a:solidFill>
                      <a:srgbClr val="0000FF"/>
                    </a:solidFill>
                  </a:rPr>
                  <a:t>1</a:t>
                </a:r>
                <a:r>
                  <a:rPr lang="en-US" altLang="zh-CN" sz="2800" b="1" dirty="0">
                    <a:solidFill>
                      <a:srgbClr val="0000FF"/>
                    </a:solidFill>
                  </a:rPr>
                  <a:t>Q</a:t>
                </a:r>
                <a:r>
                  <a:rPr lang="en-US" altLang="zh-CN" sz="2800" b="1" baseline="-25000" dirty="0">
                    <a:solidFill>
                      <a:srgbClr val="0000FF"/>
                    </a:solidFill>
                  </a:rPr>
                  <a:t>2</a:t>
                </a:r>
                <a:r>
                  <a:rPr lang="en-US" altLang="zh-CN" sz="2800" b="1" dirty="0">
                    <a:solidFill>
                      <a:srgbClr val="0000FF"/>
                    </a:solidFill>
                  </a:rPr>
                  <a:t>Q</a:t>
                </a:r>
                <a:r>
                  <a:rPr lang="en-US" altLang="zh-CN" sz="2800" b="1" baseline="-25000" dirty="0">
                    <a:solidFill>
                      <a:srgbClr val="0000FF"/>
                    </a:solidFill>
                  </a:rPr>
                  <a:t>3</a:t>
                </a:r>
                <a:r>
                  <a:rPr lang="en-US" altLang="zh-CN" sz="2800" b="1" dirty="0">
                    <a:solidFill>
                      <a:srgbClr val="0000FF"/>
                    </a:solidFill>
                  </a:rPr>
                  <a:t>Q</a:t>
                </a:r>
                <a:r>
                  <a:rPr lang="en-US" altLang="zh-CN" sz="2800" b="1" baseline="-25000" dirty="0">
                    <a:solidFill>
                      <a:srgbClr val="0000FF"/>
                    </a:solidFill>
                  </a:rPr>
                  <a:t>4</a:t>
                </a:r>
                <a:r>
                  <a:rPr lang="en-US" altLang="zh-CN" sz="2800" b="1" dirty="0">
                    <a:solidFill>
                      <a:srgbClr val="0000FF"/>
                    </a:solidFill>
                  </a:rPr>
                  <a:t>Q</a:t>
                </a:r>
                <a:r>
                  <a:rPr lang="en-US" altLang="zh-CN" sz="2800" b="1" baseline="-25000" dirty="0">
                    <a:solidFill>
                      <a:srgbClr val="0000FF"/>
                    </a:solidFill>
                  </a:rPr>
                  <a:t>5</a:t>
                </a:r>
                <a:r>
                  <a:rPr lang="en-US" altLang="zh-CN" sz="2800" b="1" dirty="0">
                    <a:solidFill>
                      <a:srgbClr val="0000FF"/>
                    </a:solidFill>
                  </a:rPr>
                  <a:t>Q</a:t>
                </a:r>
                <a:r>
                  <a:rPr lang="en-US" altLang="zh-CN" sz="2800" b="1" baseline="-25000" dirty="0">
                    <a:solidFill>
                      <a:srgbClr val="0000FF"/>
                    </a:solidFill>
                  </a:rPr>
                  <a:t>6</a:t>
                </a:r>
                <a:r>
                  <a:rPr lang="en-US" altLang="zh-CN" sz="2800" b="1" dirty="0">
                    <a:solidFill>
                      <a:srgbClr val="0000FF"/>
                    </a:solidFill>
                  </a:rPr>
                  <a:t>Q</a:t>
                </a:r>
                <a:r>
                  <a:rPr lang="en-US" altLang="zh-CN" sz="2800" b="1" baseline="-25000" dirty="0">
                    <a:solidFill>
                      <a:srgbClr val="0000FF"/>
                    </a:solidFill>
                  </a:rPr>
                  <a:t>7</a:t>
                </a:r>
                <a:r>
                  <a:rPr lang="en-US" altLang="zh-CN" sz="2800" b="1" dirty="0">
                    <a:solidFill>
                      <a:srgbClr val="0000FF"/>
                    </a:solidFill>
                  </a:rPr>
                  <a:t>=01111111</a:t>
                </a:r>
                <a:endParaRPr lang="en-US" altLang="zh-CN" sz="2800" b="1" dirty="0">
                  <a:solidFill>
                    <a:srgbClr val="0000FF"/>
                  </a:solidFill>
                </a:endParaRPr>
              </a:p>
              <a:p>
                <a:r>
                  <a:rPr lang="en-US" altLang="zh-CN" sz="2800" b="1" dirty="0">
                    <a:solidFill>
                      <a:prstClr val="black"/>
                    </a:solidFill>
                  </a:rPr>
                  <a:t>                Q</a:t>
                </a:r>
                <a:r>
                  <a:rPr lang="en-US" altLang="zh-CN" sz="2800" b="1" baseline="-25000" dirty="0">
                    <a:solidFill>
                      <a:prstClr val="black"/>
                    </a:solidFill>
                  </a:rPr>
                  <a:t>7</a:t>
                </a:r>
                <a:r>
                  <a:rPr lang="en-US" altLang="zh-CN" sz="2800" b="1" dirty="0">
                    <a:solidFill>
                      <a:prstClr val="black"/>
                    </a:solidFill>
                  </a:rPr>
                  <a:t>=1</a:t>
                </a:r>
                <a:r>
                  <a:rPr lang="zh-CN" altLang="en-US" sz="2800" b="1" dirty="0">
                    <a:solidFill>
                      <a:prstClr val="black"/>
                    </a:solidFill>
                  </a:rPr>
                  <a:t>，</a:t>
                </a:r>
                <a:r>
                  <a:rPr lang="en-US" altLang="zh-CN" sz="2800" b="1" dirty="0">
                    <a:solidFill>
                      <a:prstClr val="black"/>
                    </a:solidFill>
                  </a:rPr>
                  <a:t>M</a:t>
                </a:r>
                <a:r>
                  <a:rPr lang="en-US" altLang="zh-CN" sz="2800" b="1" baseline="-25000" dirty="0">
                    <a:solidFill>
                      <a:prstClr val="black"/>
                    </a:solidFill>
                  </a:rPr>
                  <a:t>1</a:t>
                </a:r>
                <a:r>
                  <a:rPr lang="en-US" altLang="zh-CN" sz="2800" b="1" dirty="0">
                    <a:solidFill>
                      <a:prstClr val="black"/>
                    </a:solidFill>
                  </a:rPr>
                  <a:t>M</a:t>
                </a:r>
                <a:r>
                  <a:rPr lang="en-US" altLang="zh-CN" sz="2800" b="1" baseline="-25000" dirty="0">
                    <a:solidFill>
                      <a:prstClr val="black"/>
                    </a:solidFill>
                  </a:rPr>
                  <a:t>0</a:t>
                </a:r>
                <a:r>
                  <a:rPr lang="en-US" altLang="zh-CN" sz="2800" b="1" dirty="0">
                    <a:solidFill>
                      <a:prstClr val="black"/>
                    </a:solidFill>
                  </a:rPr>
                  <a:t>=01</a:t>
                </a:r>
                <a:r>
                  <a:rPr lang="zh-CN" altLang="en-US" sz="2800" b="1" dirty="0">
                    <a:solidFill>
                      <a:prstClr val="black"/>
                    </a:solidFill>
                  </a:rPr>
                  <a:t>，寄存器处于串行右移工作方式</a:t>
                </a:r>
                <a:endParaRPr lang="en-US" altLang="zh-CN" sz="2800" b="1" dirty="0">
                  <a:solidFill>
                    <a:prstClr val="black"/>
                  </a:solidFill>
                </a:endParaRPr>
              </a:p>
            </p:txBody>
          </p:sp>
        </mc:Choice>
        <mc:Fallback>
          <p:sp>
            <p:nvSpPr>
              <p:cNvPr id="43" name="文本框 42"/>
              <p:cNvSpPr txBox="1">
                <a:spLocks noRot="1" noChangeAspect="1" noMove="1" noResize="1" noEditPoints="1" noAdjustHandles="1" noChangeArrowheads="1" noChangeShapeType="1" noTextEdit="1"/>
              </p:cNvSpPr>
              <p:nvPr/>
            </p:nvSpPr>
            <p:spPr>
              <a:xfrm>
                <a:off x="83999" y="5206444"/>
                <a:ext cx="8976002" cy="1384995"/>
              </a:xfrm>
              <a:prstGeom prst="rect">
                <a:avLst/>
              </a:prstGeom>
              <a:blipFill rotWithShape="1">
                <a:blip r:embed="rId5"/>
                <a:stretch>
                  <a:fillRect l="-2" t="-6" r="5" b="-15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93" name="矩形 492"/>
              <p:cNvSpPr/>
              <p:nvPr/>
            </p:nvSpPr>
            <p:spPr>
              <a:xfrm>
                <a:off x="0" y="2955490"/>
                <a:ext cx="2278247" cy="400110"/>
              </a:xfrm>
              <a:prstGeom prst="rect">
                <a:avLst/>
              </a:prstGeom>
              <a:solidFill>
                <a:schemeClr val="bg1"/>
              </a:solid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sz="2000" b="1" i="1" smtClean="0">
                              <a:solidFill>
                                <a:srgbClr val="FF0000"/>
                              </a:solidFill>
                              <a:latin typeface="Cambria Math" panose="02040503050406030204"/>
                            </a:rPr>
                          </m:ctrlPr>
                        </m:sSubPr>
                        <m:e>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𝟔</m:t>
                              </m:r>
                            </m:sub>
                          </m:sSub>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𝟓</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𝟒</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𝟑</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𝟐</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𝟏</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zh-CN" altLang="en-US" sz="2000" b="1" i="1">
                              <a:solidFill>
                                <a:srgbClr val="FF0000"/>
                              </a:solidFill>
                              <a:latin typeface="Cambria Math" panose="02040503050406030204" pitchFamily="18" charset="0"/>
                            </a:rPr>
                            <m:t>𝟎</m:t>
                          </m:r>
                        </m:sub>
                      </m:sSub>
                    </m:oMath>
                  </m:oMathPara>
                </a14:m>
                <a:endParaRPr lang="zh-CN" altLang="en-US" sz="2000" b="1" dirty="0">
                  <a:solidFill>
                    <a:srgbClr val="FF0000"/>
                  </a:solidFill>
                </a:endParaRPr>
              </a:p>
            </p:txBody>
          </p:sp>
        </mc:Choice>
        <mc:Fallback>
          <p:sp>
            <p:nvSpPr>
              <p:cNvPr id="493" name="矩形 492"/>
              <p:cNvSpPr>
                <a:spLocks noRot="1" noChangeAspect="1" noMove="1" noResize="1" noEditPoints="1" noAdjustHandles="1" noChangeArrowheads="1" noChangeShapeType="1" noTextEdit="1"/>
              </p:cNvSpPr>
              <p:nvPr/>
            </p:nvSpPr>
            <p:spPr>
              <a:xfrm>
                <a:off x="0" y="2955490"/>
                <a:ext cx="2278247" cy="400110"/>
              </a:xfrm>
              <a:prstGeom prst="rect">
                <a:avLst/>
              </a:prstGeom>
              <a:blipFill rotWithShape="1">
                <a:blip r:embed="rId6"/>
                <a:stretch>
                  <a:fillRect t="-50" r="22" b="65"/>
                </a:stretch>
              </a:blipFill>
            </p:spPr>
            <p:txBody>
              <a:bodyPr/>
              <a:lstStyle/>
              <a:p>
                <a:r>
                  <a:rPr lang="zh-CN" altLang="en-US">
                    <a:noFill/>
                  </a:rPr>
                  <a:t> </a:t>
                </a:r>
              </a:p>
            </p:txBody>
          </p:sp>
        </mc:Fallback>
      </mc:AlternateContent>
      <p:sp>
        <p:nvSpPr>
          <p:cNvPr id="494" name="文本框 493"/>
          <p:cNvSpPr txBox="1"/>
          <p:nvPr/>
        </p:nvSpPr>
        <p:spPr>
          <a:xfrm>
            <a:off x="2695072" y="3615151"/>
            <a:ext cx="1423733" cy="523220"/>
          </a:xfrm>
          <a:prstGeom prst="rect">
            <a:avLst/>
          </a:prstGeom>
          <a:noFill/>
        </p:spPr>
        <p:txBody>
          <a:bodyPr wrap="square" rtlCol="0">
            <a:spAutoFit/>
          </a:bodyPr>
          <a:lstStyle/>
          <a:p>
            <a:r>
              <a:rPr lang="en-US" altLang="zh-CN" sz="2800" b="1" dirty="0">
                <a:solidFill>
                  <a:srgbClr val="FF33CC"/>
                </a:solidFill>
              </a:rPr>
              <a:t>0  1  1  1</a:t>
            </a:r>
            <a:endParaRPr lang="zh-CN" altLang="en-US" sz="2800" b="1" dirty="0">
              <a:solidFill>
                <a:srgbClr val="FF33CC"/>
              </a:solidFill>
            </a:endParaRPr>
          </a:p>
        </p:txBody>
      </p:sp>
      <p:sp>
        <p:nvSpPr>
          <p:cNvPr id="49" name="文本框 48"/>
          <p:cNvSpPr txBox="1"/>
          <p:nvPr/>
        </p:nvSpPr>
        <p:spPr>
          <a:xfrm>
            <a:off x="6001316" y="3580347"/>
            <a:ext cx="1423733" cy="523220"/>
          </a:xfrm>
          <a:prstGeom prst="rect">
            <a:avLst/>
          </a:prstGeom>
          <a:noFill/>
        </p:spPr>
        <p:txBody>
          <a:bodyPr wrap="square" rtlCol="0">
            <a:spAutoFit/>
          </a:bodyPr>
          <a:lstStyle/>
          <a:p>
            <a:r>
              <a:rPr lang="en-US" altLang="zh-CN" sz="2800" b="1" dirty="0">
                <a:solidFill>
                  <a:srgbClr val="FF33CC"/>
                </a:solidFill>
              </a:rPr>
              <a:t>1  1  1  1</a:t>
            </a:r>
            <a:endParaRPr lang="zh-CN" altLang="en-US" sz="2800" b="1" dirty="0">
              <a:solidFill>
                <a:srgbClr val="FF33CC"/>
              </a:solidFill>
            </a:endParaRPr>
          </a:p>
        </p:txBody>
      </p:sp>
      <p:cxnSp>
        <p:nvCxnSpPr>
          <p:cNvPr id="4" name="直接连接符 3"/>
          <p:cNvCxnSpPr/>
          <p:nvPr/>
        </p:nvCxnSpPr>
        <p:spPr>
          <a:xfrm>
            <a:off x="4399547" y="2459222"/>
            <a:ext cx="493295"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892842" y="2439167"/>
            <a:ext cx="0" cy="1037959"/>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892842" y="3477127"/>
            <a:ext cx="297232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861158" y="2489270"/>
            <a:ext cx="0" cy="987856"/>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399547" y="2794449"/>
            <a:ext cx="204537"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4604084" y="2794449"/>
            <a:ext cx="1" cy="85176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0" name="直接连接符 479"/>
          <p:cNvCxnSpPr/>
          <p:nvPr/>
        </p:nvCxnSpPr>
        <p:spPr>
          <a:xfrm>
            <a:off x="4604084" y="3658247"/>
            <a:ext cx="357863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3" name="直接连接符 482"/>
          <p:cNvCxnSpPr/>
          <p:nvPr/>
        </p:nvCxnSpPr>
        <p:spPr>
          <a:xfrm>
            <a:off x="3830053" y="2020116"/>
            <a:ext cx="1447800"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5" name="直接连接符 484"/>
          <p:cNvCxnSpPr/>
          <p:nvPr/>
        </p:nvCxnSpPr>
        <p:spPr>
          <a:xfrm>
            <a:off x="5261811" y="2020116"/>
            <a:ext cx="0" cy="735116"/>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7" name="直接连接符 486"/>
          <p:cNvCxnSpPr/>
          <p:nvPr/>
        </p:nvCxnSpPr>
        <p:spPr>
          <a:xfrm>
            <a:off x="5269831" y="2769295"/>
            <a:ext cx="444759"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3"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24" name="组合 23"/>
          <p:cNvGrpSpPr/>
          <p:nvPr/>
        </p:nvGrpSpPr>
        <p:grpSpPr>
          <a:xfrm>
            <a:off x="812561" y="1663797"/>
            <a:ext cx="8157855" cy="2328081"/>
            <a:chOff x="364514" y="1623350"/>
            <a:chExt cx="7933263" cy="2049844"/>
          </a:xfrm>
        </p:grpSpPr>
        <p:pic>
          <p:nvPicPr>
            <p:cNvPr id="18" name="Picture 5" descr="5-5-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514" y="1623350"/>
              <a:ext cx="7933263" cy="204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a:off x="7054516" y="2618874"/>
              <a:ext cx="24865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303168" y="2610853"/>
              <a:ext cx="0" cy="75798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485021" y="1937084"/>
              <a:ext cx="104674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531768" y="1937084"/>
              <a:ext cx="0" cy="4010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054516" y="2350168"/>
              <a:ext cx="1483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222958" y="2350168"/>
              <a:ext cx="30881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531768" y="2306053"/>
              <a:ext cx="0" cy="441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482" name="文本框 481"/>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三、移位寄存器的应用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514" name="文本框 513"/>
          <p:cNvSpPr txBox="1"/>
          <p:nvPr/>
        </p:nvSpPr>
        <p:spPr>
          <a:xfrm>
            <a:off x="364514" y="1076461"/>
            <a:ext cx="5358098" cy="523220"/>
          </a:xfrm>
          <a:prstGeom prst="rect">
            <a:avLst/>
          </a:prstGeom>
          <a:noFill/>
        </p:spPr>
        <p:txBody>
          <a:bodyPr wrap="square" rtlCol="0">
            <a:spAutoFit/>
          </a:bodyPr>
          <a:lstStyle/>
          <a:p>
            <a:r>
              <a:rPr lang="zh-CN" altLang="en-US" sz="2800" b="1" dirty="0">
                <a:solidFill>
                  <a:srgbClr val="0000FF"/>
                </a:solidFill>
              </a:rPr>
              <a:t>实现数码串</a:t>
            </a:r>
            <a:r>
              <a:rPr lang="en-US" altLang="zh-CN" sz="2800" b="1" dirty="0">
                <a:solidFill>
                  <a:srgbClr val="0000FF"/>
                </a:solidFill>
              </a:rPr>
              <a:t>/</a:t>
            </a:r>
            <a:r>
              <a:rPr lang="zh-CN" altLang="en-US" sz="2800" b="1" dirty="0">
                <a:solidFill>
                  <a:srgbClr val="0000FF"/>
                </a:solidFill>
              </a:rPr>
              <a:t>并转换</a:t>
            </a:r>
            <a:endParaRPr lang="zh-CN" altLang="en-US" sz="2800" b="1" dirty="0">
              <a:solidFill>
                <a:srgbClr val="0000FF"/>
              </a:solidFill>
            </a:endParaRPr>
          </a:p>
        </p:txBody>
      </p:sp>
      <mc:AlternateContent xmlns:mc="http://schemas.openxmlformats.org/markup-compatibility/2006">
        <mc:Choice xmlns:a14="http://schemas.microsoft.com/office/drawing/2010/main" Requires="a14">
          <p:sp>
            <p:nvSpPr>
              <p:cNvPr id="23" name="矩形 22"/>
              <p:cNvSpPr/>
              <p:nvPr/>
            </p:nvSpPr>
            <p:spPr>
              <a:xfrm>
                <a:off x="7845454" y="2354160"/>
                <a:ext cx="1244508" cy="70487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1"/>
                                <m:mcJc m:val="center"/>
                              </m:mcPr>
                            </m:mc>
                          </m:mcs>
                          <m:plcHide m:val="on"/>
                          <m:ctrlPr>
                            <a:rPr lang="zh-CN" altLang="en-US" sz="2000" b="1" i="1" smtClean="0">
                              <a:solidFill>
                                <a:srgbClr val="0000FF"/>
                              </a:solidFill>
                              <a:latin typeface="Cambria Math" panose="02040503050406030204"/>
                            </a:rPr>
                          </m:ctrlPr>
                        </m:mPr>
                        <m:m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𝑴</m:t>
                                </m:r>
                              </m:e>
                              <m:sub>
                                <m:r>
                                  <a:rPr lang="zh-CN" altLang="en-US" sz="2000" b="1">
                                    <a:solidFill>
                                      <a:srgbClr val="0000FF"/>
                                    </a:solidFill>
                                    <a:latin typeface="Cambria Math" panose="02040503050406030204" pitchFamily="18" charset="0"/>
                                  </a:rPr>
                                  <m:t>𝟏</m:t>
                                </m:r>
                              </m:sub>
                            </m:sSub>
                            <m:r>
                              <a:rPr lang="zh-CN" altLang="en-US" sz="2000" b="1">
                                <a:solidFill>
                                  <a:srgbClr val="0000FF"/>
                                </a:solidFill>
                                <a:latin typeface="Cambria Math" panose="02040503050406030204" pitchFamily="18" charset="0"/>
                              </a:rPr>
                              <m:t>=</m:t>
                            </m:r>
                            <m:acc>
                              <m:accPr>
                                <m:chr m:val="̅"/>
                                <m:ctrlPr>
                                  <a:rPr lang="zh-CN" altLang="en-US" sz="2000" b="1" i="1">
                                    <a:solidFill>
                                      <a:srgbClr val="0000FF"/>
                                    </a:solidFill>
                                    <a:latin typeface="Cambria Math" panose="02040503050406030204"/>
                                  </a:rPr>
                                </m:ctrlPr>
                              </m:accP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𝑸</m:t>
                                    </m:r>
                                  </m:e>
                                  <m:sub>
                                    <m:r>
                                      <a:rPr lang="zh-CN" altLang="en-US" sz="2000" b="1">
                                        <a:solidFill>
                                          <a:srgbClr val="0000FF"/>
                                        </a:solidFill>
                                        <a:latin typeface="Cambria Math" panose="02040503050406030204" pitchFamily="18" charset="0"/>
                                      </a:rPr>
                                      <m:t>𝟕</m:t>
                                    </m:r>
                                  </m:sub>
                                </m:sSub>
                              </m:e>
                            </m:acc>
                          </m:e>
                        </m:mr>
                        <m:m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𝑴</m:t>
                                </m:r>
                              </m:e>
                              <m:sub>
                                <m:r>
                                  <a:rPr lang="zh-CN" altLang="en-US" sz="2000" b="1">
                                    <a:solidFill>
                                      <a:srgbClr val="0000FF"/>
                                    </a:solidFill>
                                    <a:latin typeface="Cambria Math" panose="02040503050406030204" pitchFamily="18" charset="0"/>
                                  </a:rPr>
                                  <m:t>𝟎</m:t>
                                </m:r>
                              </m:sub>
                            </m:sSub>
                            <m:r>
                              <a:rPr lang="zh-CN" altLang="en-US" sz="2000" b="1">
                                <a:solidFill>
                                  <a:srgbClr val="0000FF"/>
                                </a:solidFill>
                                <a:latin typeface="Cambria Math" panose="02040503050406030204" pitchFamily="18" charset="0"/>
                              </a:rPr>
                              <m:t>=</m:t>
                            </m:r>
                            <m:r>
                              <a:rPr lang="zh-CN" altLang="en-US" sz="2000" b="1">
                                <a:solidFill>
                                  <a:srgbClr val="0000FF"/>
                                </a:solidFill>
                                <a:latin typeface="Cambria Math" panose="02040503050406030204" pitchFamily="18" charset="0"/>
                              </a:rPr>
                              <m:t>𝟏</m:t>
                            </m:r>
                          </m:e>
                        </m:mr>
                      </m:m>
                    </m:oMath>
                  </m:oMathPara>
                </a14:m>
                <a:endParaRPr lang="zh-CN" altLang="en-US" sz="2000" b="1" dirty="0">
                  <a:solidFill>
                    <a:srgbClr val="0000FF"/>
                  </a:solidFill>
                </a:endParaRPr>
              </a:p>
            </p:txBody>
          </p:sp>
        </mc:Choice>
        <mc:Fallback>
          <p:sp>
            <p:nvSpPr>
              <p:cNvPr id="23" name="矩形 22"/>
              <p:cNvSpPr>
                <a:spLocks noRot="1" noChangeAspect="1" noMove="1" noResize="1" noEditPoints="1" noAdjustHandles="1" noChangeArrowheads="1" noChangeShapeType="1" noTextEdit="1"/>
              </p:cNvSpPr>
              <p:nvPr/>
            </p:nvSpPr>
            <p:spPr>
              <a:xfrm>
                <a:off x="7845454" y="2354160"/>
                <a:ext cx="1244508" cy="704873"/>
              </a:xfrm>
              <a:prstGeom prst="rect">
                <a:avLst/>
              </a:prstGeom>
              <a:blipFill rotWithShape="1">
                <a:blip r:embed="rId3"/>
                <a:stretch>
                  <a:fillRect l="-2" t="-31" r="46"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93" name="矩形 492"/>
              <p:cNvSpPr/>
              <p:nvPr/>
            </p:nvSpPr>
            <p:spPr>
              <a:xfrm>
                <a:off x="0" y="2955490"/>
                <a:ext cx="2278247" cy="400110"/>
              </a:xfrm>
              <a:prstGeom prst="rect">
                <a:avLst/>
              </a:prstGeom>
              <a:solidFill>
                <a:schemeClr val="bg1"/>
              </a:solid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sz="2000" b="1" i="1" smtClean="0">
                              <a:solidFill>
                                <a:srgbClr val="FF0000"/>
                              </a:solidFill>
                              <a:latin typeface="Cambria Math" panose="02040503050406030204"/>
                            </a:rPr>
                          </m:ctrlPr>
                        </m:sSubPr>
                        <m:e>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𝟔</m:t>
                              </m:r>
                            </m:sub>
                          </m:sSub>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𝟓</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𝟒</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𝟑</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𝟐</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𝟏</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zh-CN" altLang="en-US" sz="2000" b="1" i="1">
                              <a:solidFill>
                                <a:srgbClr val="FF0000"/>
                              </a:solidFill>
                              <a:latin typeface="Cambria Math" panose="02040503050406030204" pitchFamily="18" charset="0"/>
                            </a:rPr>
                            <m:t>𝟎</m:t>
                          </m:r>
                        </m:sub>
                      </m:sSub>
                    </m:oMath>
                  </m:oMathPara>
                </a14:m>
                <a:endParaRPr lang="zh-CN" altLang="en-US" sz="2000" b="1" dirty="0">
                  <a:solidFill>
                    <a:srgbClr val="FF0000"/>
                  </a:solidFill>
                </a:endParaRPr>
              </a:p>
            </p:txBody>
          </p:sp>
        </mc:Choice>
        <mc:Fallback>
          <p:sp>
            <p:nvSpPr>
              <p:cNvPr id="493" name="矩形 492"/>
              <p:cNvSpPr>
                <a:spLocks noRot="1" noChangeAspect="1" noMove="1" noResize="1" noEditPoints="1" noAdjustHandles="1" noChangeArrowheads="1" noChangeShapeType="1" noTextEdit="1"/>
              </p:cNvSpPr>
              <p:nvPr/>
            </p:nvSpPr>
            <p:spPr>
              <a:xfrm>
                <a:off x="0" y="2955490"/>
                <a:ext cx="2278247" cy="400110"/>
              </a:xfrm>
              <a:prstGeom prst="rect">
                <a:avLst/>
              </a:prstGeom>
              <a:blipFill rotWithShape="1">
                <a:blip r:embed="rId4"/>
                <a:stretch>
                  <a:fillRect t="-50" r="22" b="65"/>
                </a:stretch>
              </a:blipFill>
            </p:spPr>
            <p:txBody>
              <a:bodyPr/>
              <a:lstStyle/>
              <a:p>
                <a:r>
                  <a:rPr lang="zh-CN" altLang="en-US">
                    <a:noFill/>
                  </a:rPr>
                  <a:t> </a:t>
                </a:r>
              </a:p>
            </p:txBody>
          </p:sp>
        </mc:Fallback>
      </mc:AlternateContent>
      <p:sp>
        <p:nvSpPr>
          <p:cNvPr id="494" name="文本框 493"/>
          <p:cNvSpPr txBox="1"/>
          <p:nvPr/>
        </p:nvSpPr>
        <p:spPr>
          <a:xfrm>
            <a:off x="2695072" y="3615151"/>
            <a:ext cx="1423733" cy="523220"/>
          </a:xfrm>
          <a:prstGeom prst="rect">
            <a:avLst/>
          </a:prstGeom>
          <a:noFill/>
        </p:spPr>
        <p:txBody>
          <a:bodyPr wrap="square" rtlCol="0">
            <a:spAutoFit/>
          </a:bodyPr>
          <a:lstStyle/>
          <a:p>
            <a:r>
              <a:rPr lang="en-US" altLang="zh-CN" sz="2800" b="1" dirty="0">
                <a:solidFill>
                  <a:srgbClr val="0000FF"/>
                </a:solidFill>
              </a:rPr>
              <a:t>0  1  1  1</a:t>
            </a:r>
            <a:endParaRPr lang="zh-CN" altLang="en-US" sz="2800" b="1" dirty="0">
              <a:solidFill>
                <a:srgbClr val="0000FF"/>
              </a:solidFill>
            </a:endParaRPr>
          </a:p>
        </p:txBody>
      </p:sp>
      <p:sp>
        <p:nvSpPr>
          <p:cNvPr id="49" name="文本框 48"/>
          <p:cNvSpPr txBox="1"/>
          <p:nvPr/>
        </p:nvSpPr>
        <p:spPr>
          <a:xfrm>
            <a:off x="6001316" y="3580347"/>
            <a:ext cx="1423733" cy="523220"/>
          </a:xfrm>
          <a:prstGeom prst="rect">
            <a:avLst/>
          </a:prstGeom>
          <a:noFill/>
        </p:spPr>
        <p:txBody>
          <a:bodyPr wrap="square" rtlCol="0">
            <a:spAutoFit/>
          </a:bodyPr>
          <a:lstStyle/>
          <a:p>
            <a:r>
              <a:rPr lang="en-US" altLang="zh-CN" sz="2800" b="1" dirty="0">
                <a:solidFill>
                  <a:srgbClr val="0000FF"/>
                </a:solidFill>
              </a:rPr>
              <a:t>1  1  1  1</a:t>
            </a:r>
            <a:endParaRPr lang="zh-CN" altLang="en-US" sz="2800" b="1" dirty="0">
              <a:solidFill>
                <a:srgbClr val="0000FF"/>
              </a:solidFill>
            </a:endParaRPr>
          </a:p>
        </p:txBody>
      </p:sp>
      <p:cxnSp>
        <p:nvCxnSpPr>
          <p:cNvPr id="4" name="直接连接符 3"/>
          <p:cNvCxnSpPr/>
          <p:nvPr/>
        </p:nvCxnSpPr>
        <p:spPr>
          <a:xfrm>
            <a:off x="4399547" y="2459222"/>
            <a:ext cx="493295"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892842" y="2439167"/>
            <a:ext cx="0" cy="1037959"/>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892842" y="3477127"/>
            <a:ext cx="297232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861158" y="2489270"/>
            <a:ext cx="0" cy="987856"/>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399547" y="2794449"/>
            <a:ext cx="204537"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4604084" y="2794449"/>
            <a:ext cx="1" cy="85176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0" name="直接连接符 479"/>
          <p:cNvCxnSpPr/>
          <p:nvPr/>
        </p:nvCxnSpPr>
        <p:spPr>
          <a:xfrm>
            <a:off x="4604084" y="3658247"/>
            <a:ext cx="357863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3" name="直接连接符 482"/>
          <p:cNvCxnSpPr/>
          <p:nvPr/>
        </p:nvCxnSpPr>
        <p:spPr>
          <a:xfrm>
            <a:off x="3830053" y="2020116"/>
            <a:ext cx="1447800"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5" name="直接连接符 484"/>
          <p:cNvCxnSpPr/>
          <p:nvPr/>
        </p:nvCxnSpPr>
        <p:spPr>
          <a:xfrm>
            <a:off x="5261811" y="2020116"/>
            <a:ext cx="0" cy="735116"/>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7" name="直接连接符 486"/>
          <p:cNvCxnSpPr/>
          <p:nvPr/>
        </p:nvCxnSpPr>
        <p:spPr>
          <a:xfrm>
            <a:off x="5269831" y="2769295"/>
            <a:ext cx="444759"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34792" y="4199421"/>
            <a:ext cx="9005963" cy="523220"/>
          </a:xfrm>
          <a:prstGeom prst="rect">
            <a:avLst/>
          </a:prstGeom>
          <a:noFill/>
        </p:spPr>
        <p:txBody>
          <a:bodyPr wrap="square" rtlCol="0">
            <a:spAutoFit/>
          </a:bodyPr>
          <a:lstStyle/>
          <a:p>
            <a:r>
              <a:rPr lang="en-US" altLang="zh-CN" sz="2800" b="1" dirty="0">
                <a:solidFill>
                  <a:srgbClr val="2B56F5"/>
                </a:solidFill>
              </a:rPr>
              <a:t>Step3</a:t>
            </a:r>
            <a:r>
              <a:rPr lang="en-US" altLang="zh-CN" sz="2800" b="1" dirty="0">
                <a:solidFill>
                  <a:prstClr val="black"/>
                </a:solidFill>
              </a:rPr>
              <a:t> : </a:t>
            </a:r>
            <a:r>
              <a:rPr lang="zh-CN" altLang="en-US" sz="2800" b="1" dirty="0">
                <a:solidFill>
                  <a:prstClr val="black"/>
                </a:solidFill>
              </a:rPr>
              <a:t>当第二个</a:t>
            </a:r>
            <a:r>
              <a:rPr lang="en-US" altLang="zh-CN" sz="2800" b="1" dirty="0">
                <a:solidFill>
                  <a:prstClr val="black"/>
                </a:solidFill>
              </a:rPr>
              <a:t>CP</a:t>
            </a:r>
            <a:r>
              <a:rPr lang="zh-CN" altLang="en-US" sz="2800" b="1" dirty="0">
                <a:solidFill>
                  <a:prstClr val="black"/>
                </a:solidFill>
              </a:rPr>
              <a:t>上升沿到来时，输出端数据右移</a:t>
            </a:r>
            <a:r>
              <a:rPr lang="en-US" altLang="zh-CN" sz="2800" b="1" dirty="0">
                <a:solidFill>
                  <a:prstClr val="black"/>
                </a:solidFill>
              </a:rPr>
              <a:t>1</a:t>
            </a:r>
            <a:r>
              <a:rPr lang="zh-CN" altLang="en-US" sz="2800" b="1" dirty="0">
                <a:solidFill>
                  <a:prstClr val="black"/>
                </a:solidFill>
              </a:rPr>
              <a:t>位</a:t>
            </a:r>
            <a:endParaRPr lang="zh-CN" altLang="en-US" sz="2800" b="1" dirty="0">
              <a:solidFill>
                <a:prstClr val="black"/>
              </a:solidFill>
            </a:endParaRPr>
          </a:p>
        </p:txBody>
      </p:sp>
      <p:sp>
        <p:nvSpPr>
          <p:cNvPr id="33" name="矩形 32"/>
          <p:cNvSpPr/>
          <p:nvPr/>
        </p:nvSpPr>
        <p:spPr>
          <a:xfrm>
            <a:off x="1976014" y="4650408"/>
            <a:ext cx="5123518" cy="523220"/>
          </a:xfrm>
          <a:prstGeom prst="rect">
            <a:avLst/>
          </a:prstGeom>
        </p:spPr>
        <p:txBody>
          <a:bodyPr wrap="none">
            <a:spAutoFit/>
          </a:bodyPr>
          <a:lstStyle/>
          <a:p>
            <a:r>
              <a:rPr lang="en-US" altLang="zh-CN" sz="2800" b="1" dirty="0">
                <a:solidFill>
                  <a:srgbClr val="0000FF"/>
                </a:solidFill>
              </a:rPr>
              <a:t>Q</a:t>
            </a:r>
            <a:r>
              <a:rPr lang="en-US" altLang="zh-CN" sz="2800" b="1" baseline="-25000" dirty="0">
                <a:solidFill>
                  <a:srgbClr val="0000FF"/>
                </a:solidFill>
              </a:rPr>
              <a:t>0</a:t>
            </a:r>
            <a:r>
              <a:rPr lang="en-US" altLang="zh-CN" sz="2800" b="1" dirty="0">
                <a:solidFill>
                  <a:srgbClr val="0000FF"/>
                </a:solidFill>
              </a:rPr>
              <a:t>Q</a:t>
            </a:r>
            <a:r>
              <a:rPr lang="en-US" altLang="zh-CN" sz="2800" b="1" baseline="-25000" dirty="0">
                <a:solidFill>
                  <a:srgbClr val="0000FF"/>
                </a:solidFill>
              </a:rPr>
              <a:t>1</a:t>
            </a:r>
            <a:r>
              <a:rPr lang="en-US" altLang="zh-CN" sz="2800" b="1" dirty="0">
                <a:solidFill>
                  <a:srgbClr val="0000FF"/>
                </a:solidFill>
              </a:rPr>
              <a:t>Q</a:t>
            </a:r>
            <a:r>
              <a:rPr lang="en-US" altLang="zh-CN" sz="2800" b="1" baseline="-25000" dirty="0">
                <a:solidFill>
                  <a:srgbClr val="0000FF"/>
                </a:solidFill>
              </a:rPr>
              <a:t>2</a:t>
            </a:r>
            <a:r>
              <a:rPr lang="en-US" altLang="zh-CN" sz="2800" b="1" dirty="0">
                <a:solidFill>
                  <a:srgbClr val="0000FF"/>
                </a:solidFill>
              </a:rPr>
              <a:t>Q</a:t>
            </a:r>
            <a:r>
              <a:rPr lang="en-US" altLang="zh-CN" sz="2800" b="1" baseline="-25000" dirty="0">
                <a:solidFill>
                  <a:srgbClr val="0000FF"/>
                </a:solidFill>
              </a:rPr>
              <a:t>3</a:t>
            </a:r>
            <a:r>
              <a:rPr lang="en-US" altLang="zh-CN" sz="2800" b="1" dirty="0">
                <a:solidFill>
                  <a:srgbClr val="0000FF"/>
                </a:solidFill>
              </a:rPr>
              <a:t>Q</a:t>
            </a:r>
            <a:r>
              <a:rPr lang="en-US" altLang="zh-CN" sz="2800" b="1" baseline="-25000" dirty="0">
                <a:solidFill>
                  <a:srgbClr val="0000FF"/>
                </a:solidFill>
              </a:rPr>
              <a:t>4</a:t>
            </a:r>
            <a:r>
              <a:rPr lang="en-US" altLang="zh-CN" sz="2800" b="1" dirty="0">
                <a:solidFill>
                  <a:srgbClr val="0000FF"/>
                </a:solidFill>
              </a:rPr>
              <a:t>Q</a:t>
            </a:r>
            <a:r>
              <a:rPr lang="en-US" altLang="zh-CN" sz="2800" b="1" baseline="-25000" dirty="0">
                <a:solidFill>
                  <a:srgbClr val="0000FF"/>
                </a:solidFill>
              </a:rPr>
              <a:t>5</a:t>
            </a:r>
            <a:r>
              <a:rPr lang="en-US" altLang="zh-CN" sz="2800" b="1" dirty="0">
                <a:solidFill>
                  <a:srgbClr val="0000FF"/>
                </a:solidFill>
              </a:rPr>
              <a:t>Q</a:t>
            </a:r>
            <a:r>
              <a:rPr lang="en-US" altLang="zh-CN" sz="2800" b="1" baseline="-25000" dirty="0">
                <a:solidFill>
                  <a:srgbClr val="0000FF"/>
                </a:solidFill>
              </a:rPr>
              <a:t>6</a:t>
            </a:r>
            <a:r>
              <a:rPr lang="en-US" altLang="zh-CN" sz="2800" b="1" dirty="0">
                <a:solidFill>
                  <a:srgbClr val="0000FF"/>
                </a:solidFill>
              </a:rPr>
              <a:t>Q</a:t>
            </a:r>
            <a:r>
              <a:rPr lang="en-US" altLang="zh-CN" sz="2800" b="1" baseline="-25000" dirty="0">
                <a:solidFill>
                  <a:srgbClr val="0000FF"/>
                </a:solidFill>
              </a:rPr>
              <a:t>7</a:t>
            </a:r>
            <a:r>
              <a:rPr lang="en-US" altLang="zh-CN" sz="2800" b="1" dirty="0">
                <a:solidFill>
                  <a:srgbClr val="0000FF"/>
                </a:solidFill>
              </a:rPr>
              <a:t>=</a:t>
            </a:r>
            <a:r>
              <a:rPr lang="en-US" altLang="zh-CN" sz="2800" b="1" dirty="0">
                <a:solidFill>
                  <a:srgbClr val="FF0000"/>
                </a:solidFill>
              </a:rPr>
              <a:t>D</a:t>
            </a:r>
            <a:r>
              <a:rPr lang="en-US" altLang="zh-CN" sz="2800" b="1" baseline="-25000" dirty="0">
                <a:solidFill>
                  <a:srgbClr val="FF0000"/>
                </a:solidFill>
              </a:rPr>
              <a:t>0</a:t>
            </a:r>
            <a:r>
              <a:rPr lang="en-US" altLang="zh-CN" sz="2800" b="1" dirty="0">
                <a:solidFill>
                  <a:srgbClr val="0000FF"/>
                </a:solidFill>
              </a:rPr>
              <a:t>0111111</a:t>
            </a:r>
            <a:endParaRPr lang="zh-CN" altLang="en-US" sz="2800" dirty="0">
              <a:solidFill>
                <a:prstClr val="black"/>
              </a:solidFill>
            </a:endParaRPr>
          </a:p>
        </p:txBody>
      </p:sp>
      <p:sp>
        <p:nvSpPr>
          <p:cNvPr id="34" name="矩形 33"/>
          <p:cNvSpPr/>
          <p:nvPr/>
        </p:nvSpPr>
        <p:spPr>
          <a:xfrm>
            <a:off x="1215841" y="5207494"/>
            <a:ext cx="7351294" cy="523220"/>
          </a:xfrm>
          <a:prstGeom prst="rect">
            <a:avLst/>
          </a:prstGeom>
        </p:spPr>
        <p:txBody>
          <a:bodyPr wrap="square">
            <a:spAutoFit/>
          </a:bodyPr>
          <a:lstStyle/>
          <a:p>
            <a:r>
              <a:rPr lang="en-US" altLang="zh-CN" sz="2800" b="1" dirty="0">
                <a:solidFill>
                  <a:prstClr val="black"/>
                </a:solidFill>
              </a:rPr>
              <a:t>Q</a:t>
            </a:r>
            <a:r>
              <a:rPr lang="en-US" altLang="zh-CN" sz="2800" b="1" baseline="-25000" dirty="0">
                <a:solidFill>
                  <a:prstClr val="black"/>
                </a:solidFill>
              </a:rPr>
              <a:t>7</a:t>
            </a:r>
            <a:r>
              <a:rPr lang="en-US" altLang="zh-CN" sz="2800" b="1" dirty="0">
                <a:solidFill>
                  <a:prstClr val="black"/>
                </a:solidFill>
              </a:rPr>
              <a:t>=1,   M</a:t>
            </a:r>
            <a:r>
              <a:rPr lang="en-US" altLang="zh-CN" sz="2800" b="1" baseline="-25000" dirty="0">
                <a:solidFill>
                  <a:prstClr val="black"/>
                </a:solidFill>
              </a:rPr>
              <a:t>1</a:t>
            </a:r>
            <a:r>
              <a:rPr lang="en-US" altLang="zh-CN" sz="2800" b="1" dirty="0">
                <a:solidFill>
                  <a:prstClr val="black"/>
                </a:solidFill>
              </a:rPr>
              <a:t>M</a:t>
            </a:r>
            <a:r>
              <a:rPr lang="en-US" altLang="zh-CN" sz="2800" b="1" baseline="-25000" dirty="0">
                <a:solidFill>
                  <a:prstClr val="black"/>
                </a:solidFill>
              </a:rPr>
              <a:t>0</a:t>
            </a:r>
            <a:r>
              <a:rPr lang="en-US" altLang="zh-CN" sz="2800" b="1" dirty="0">
                <a:solidFill>
                  <a:prstClr val="black"/>
                </a:solidFill>
              </a:rPr>
              <a:t>=01</a:t>
            </a:r>
            <a:r>
              <a:rPr lang="zh-CN" altLang="en-US" sz="2800" b="1" dirty="0">
                <a:solidFill>
                  <a:prstClr val="black"/>
                </a:solidFill>
              </a:rPr>
              <a:t>，寄存器处于右移工作方式</a:t>
            </a:r>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24" name="组合 23"/>
          <p:cNvGrpSpPr/>
          <p:nvPr/>
        </p:nvGrpSpPr>
        <p:grpSpPr>
          <a:xfrm>
            <a:off x="812561" y="1663797"/>
            <a:ext cx="8157855" cy="2328081"/>
            <a:chOff x="364514" y="1623350"/>
            <a:chExt cx="7933263" cy="2049844"/>
          </a:xfrm>
        </p:grpSpPr>
        <p:pic>
          <p:nvPicPr>
            <p:cNvPr id="18" name="Picture 5" descr="5-5-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514" y="1623350"/>
              <a:ext cx="7933263" cy="204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a:off x="7054516" y="2618874"/>
              <a:ext cx="24865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303168" y="2610853"/>
              <a:ext cx="0" cy="75798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485021" y="1937084"/>
              <a:ext cx="104674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531768" y="1937084"/>
              <a:ext cx="0" cy="4010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054516" y="2350168"/>
              <a:ext cx="1483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222958" y="2350168"/>
              <a:ext cx="30881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531768" y="2306053"/>
              <a:ext cx="0" cy="441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482" name="文本框 481"/>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三、移位寄存器的应用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514" name="文本框 513"/>
          <p:cNvSpPr txBox="1"/>
          <p:nvPr/>
        </p:nvSpPr>
        <p:spPr>
          <a:xfrm>
            <a:off x="364514" y="1076461"/>
            <a:ext cx="5358098" cy="523220"/>
          </a:xfrm>
          <a:prstGeom prst="rect">
            <a:avLst/>
          </a:prstGeom>
          <a:noFill/>
        </p:spPr>
        <p:txBody>
          <a:bodyPr wrap="square" rtlCol="0">
            <a:spAutoFit/>
          </a:bodyPr>
          <a:lstStyle/>
          <a:p>
            <a:r>
              <a:rPr lang="zh-CN" altLang="en-US" sz="2800" b="1" dirty="0">
                <a:solidFill>
                  <a:srgbClr val="0000FF"/>
                </a:solidFill>
              </a:rPr>
              <a:t>实现数码串</a:t>
            </a:r>
            <a:r>
              <a:rPr lang="en-US" altLang="zh-CN" sz="2800" b="1" dirty="0">
                <a:solidFill>
                  <a:srgbClr val="0000FF"/>
                </a:solidFill>
              </a:rPr>
              <a:t>/</a:t>
            </a:r>
            <a:r>
              <a:rPr lang="zh-CN" altLang="en-US" sz="2800" b="1" dirty="0">
                <a:solidFill>
                  <a:srgbClr val="0000FF"/>
                </a:solidFill>
              </a:rPr>
              <a:t>并转换</a:t>
            </a:r>
            <a:endParaRPr lang="zh-CN" altLang="en-US" sz="2800" b="1" dirty="0">
              <a:solidFill>
                <a:srgbClr val="0000FF"/>
              </a:solidFill>
            </a:endParaRPr>
          </a:p>
        </p:txBody>
      </p:sp>
      <mc:AlternateContent xmlns:mc="http://schemas.openxmlformats.org/markup-compatibility/2006">
        <mc:Choice xmlns:a14="http://schemas.microsoft.com/office/drawing/2010/main" Requires="a14">
          <p:sp>
            <p:nvSpPr>
              <p:cNvPr id="23" name="矩形 22"/>
              <p:cNvSpPr/>
              <p:nvPr/>
            </p:nvSpPr>
            <p:spPr>
              <a:xfrm>
                <a:off x="7845454" y="2354160"/>
                <a:ext cx="1244508" cy="70487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1"/>
                                <m:mcJc m:val="center"/>
                              </m:mcPr>
                            </m:mc>
                          </m:mcs>
                          <m:plcHide m:val="on"/>
                          <m:ctrlPr>
                            <a:rPr lang="zh-CN" altLang="en-US" sz="2000" b="1" i="1" smtClean="0">
                              <a:solidFill>
                                <a:srgbClr val="0000FF"/>
                              </a:solidFill>
                              <a:latin typeface="Cambria Math" panose="02040503050406030204"/>
                            </a:rPr>
                          </m:ctrlPr>
                        </m:mPr>
                        <m:m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𝑴</m:t>
                                </m:r>
                              </m:e>
                              <m:sub>
                                <m:r>
                                  <a:rPr lang="zh-CN" altLang="en-US" sz="2000" b="1">
                                    <a:solidFill>
                                      <a:srgbClr val="0000FF"/>
                                    </a:solidFill>
                                    <a:latin typeface="Cambria Math" panose="02040503050406030204" pitchFamily="18" charset="0"/>
                                  </a:rPr>
                                  <m:t>𝟏</m:t>
                                </m:r>
                              </m:sub>
                            </m:sSub>
                            <m:r>
                              <a:rPr lang="zh-CN" altLang="en-US" sz="2000" b="1">
                                <a:solidFill>
                                  <a:srgbClr val="0000FF"/>
                                </a:solidFill>
                                <a:latin typeface="Cambria Math" panose="02040503050406030204" pitchFamily="18" charset="0"/>
                              </a:rPr>
                              <m:t>=</m:t>
                            </m:r>
                            <m:acc>
                              <m:accPr>
                                <m:chr m:val="̅"/>
                                <m:ctrlPr>
                                  <a:rPr lang="zh-CN" altLang="en-US" sz="2000" b="1" i="1">
                                    <a:solidFill>
                                      <a:srgbClr val="0000FF"/>
                                    </a:solidFill>
                                    <a:latin typeface="Cambria Math" panose="02040503050406030204"/>
                                  </a:rPr>
                                </m:ctrlPr>
                              </m:accP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𝑸</m:t>
                                    </m:r>
                                  </m:e>
                                  <m:sub>
                                    <m:r>
                                      <a:rPr lang="zh-CN" altLang="en-US" sz="2000" b="1">
                                        <a:solidFill>
                                          <a:srgbClr val="0000FF"/>
                                        </a:solidFill>
                                        <a:latin typeface="Cambria Math" panose="02040503050406030204" pitchFamily="18" charset="0"/>
                                      </a:rPr>
                                      <m:t>𝟕</m:t>
                                    </m:r>
                                  </m:sub>
                                </m:sSub>
                              </m:e>
                            </m:acc>
                          </m:e>
                        </m:mr>
                        <m:mr>
                          <m:e>
                            <m:sSub>
                              <m:sSubPr>
                                <m:ctrlPr>
                                  <a:rPr lang="zh-CN" altLang="en-US" sz="2000" b="1" i="1">
                                    <a:solidFill>
                                      <a:srgbClr val="0000FF"/>
                                    </a:solidFill>
                                    <a:latin typeface="Cambria Math" panose="02040503050406030204"/>
                                  </a:rPr>
                                </m:ctrlPr>
                              </m:sSubPr>
                              <m:e>
                                <m:r>
                                  <a:rPr lang="zh-CN" altLang="en-US" sz="2000" b="1" i="1">
                                    <a:solidFill>
                                      <a:srgbClr val="0000FF"/>
                                    </a:solidFill>
                                    <a:latin typeface="Cambria Math" panose="02040503050406030204" pitchFamily="18" charset="0"/>
                                  </a:rPr>
                                  <m:t>𝑴</m:t>
                                </m:r>
                              </m:e>
                              <m:sub>
                                <m:r>
                                  <a:rPr lang="zh-CN" altLang="en-US" sz="2000" b="1">
                                    <a:solidFill>
                                      <a:srgbClr val="0000FF"/>
                                    </a:solidFill>
                                    <a:latin typeface="Cambria Math" panose="02040503050406030204" pitchFamily="18" charset="0"/>
                                  </a:rPr>
                                  <m:t>𝟎</m:t>
                                </m:r>
                              </m:sub>
                            </m:sSub>
                            <m:r>
                              <a:rPr lang="zh-CN" altLang="en-US" sz="2000" b="1">
                                <a:solidFill>
                                  <a:srgbClr val="0000FF"/>
                                </a:solidFill>
                                <a:latin typeface="Cambria Math" panose="02040503050406030204" pitchFamily="18" charset="0"/>
                              </a:rPr>
                              <m:t>=</m:t>
                            </m:r>
                            <m:r>
                              <a:rPr lang="zh-CN" altLang="en-US" sz="2000" b="1">
                                <a:solidFill>
                                  <a:srgbClr val="0000FF"/>
                                </a:solidFill>
                                <a:latin typeface="Cambria Math" panose="02040503050406030204" pitchFamily="18" charset="0"/>
                              </a:rPr>
                              <m:t>𝟏</m:t>
                            </m:r>
                          </m:e>
                        </m:mr>
                      </m:m>
                    </m:oMath>
                  </m:oMathPara>
                </a14:m>
                <a:endParaRPr lang="zh-CN" altLang="en-US" sz="2000" b="1" dirty="0">
                  <a:solidFill>
                    <a:srgbClr val="0000FF"/>
                  </a:solidFill>
                </a:endParaRPr>
              </a:p>
            </p:txBody>
          </p:sp>
        </mc:Choice>
        <mc:Fallback>
          <p:sp>
            <p:nvSpPr>
              <p:cNvPr id="23" name="矩形 22"/>
              <p:cNvSpPr>
                <a:spLocks noRot="1" noChangeAspect="1" noMove="1" noResize="1" noEditPoints="1" noAdjustHandles="1" noChangeArrowheads="1" noChangeShapeType="1" noTextEdit="1"/>
              </p:cNvSpPr>
              <p:nvPr/>
            </p:nvSpPr>
            <p:spPr>
              <a:xfrm>
                <a:off x="7845454" y="2354160"/>
                <a:ext cx="1244508" cy="704873"/>
              </a:xfrm>
              <a:prstGeom prst="rect">
                <a:avLst/>
              </a:prstGeom>
              <a:blipFill rotWithShape="1">
                <a:blip r:embed="rId3"/>
                <a:stretch>
                  <a:fillRect l="-2" t="-31" r="46"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93" name="矩形 492"/>
              <p:cNvSpPr/>
              <p:nvPr/>
            </p:nvSpPr>
            <p:spPr>
              <a:xfrm>
                <a:off x="0" y="2955490"/>
                <a:ext cx="2278247" cy="400110"/>
              </a:xfrm>
              <a:prstGeom prst="rect">
                <a:avLst/>
              </a:prstGeom>
              <a:solidFill>
                <a:schemeClr val="bg1"/>
              </a:solid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sz="2000" b="1" i="1" smtClean="0">
                              <a:solidFill>
                                <a:srgbClr val="FF0000"/>
                              </a:solidFill>
                              <a:latin typeface="Cambria Math" panose="02040503050406030204"/>
                            </a:rPr>
                          </m:ctrlPr>
                        </m:sSubPr>
                        <m:e>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𝟔</m:t>
                              </m:r>
                            </m:sub>
                          </m:sSub>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𝟓</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𝟒</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𝟑</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𝟐</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en-US" altLang="zh-CN" sz="2000" b="1" smtClean="0">
                              <a:solidFill>
                                <a:srgbClr val="FF0000"/>
                              </a:solidFill>
                              <a:latin typeface="Cambria Math" panose="02040503050406030204" pitchFamily="18" charset="0"/>
                            </a:rPr>
                            <m:t>𝟏</m:t>
                          </m:r>
                        </m:sub>
                      </m:sSub>
                      <m:sSub>
                        <m:sSubPr>
                          <m:ctrlPr>
                            <a:rPr lang="zh-CN" altLang="en-US" sz="2000" b="1" i="1">
                              <a:solidFill>
                                <a:srgbClr val="FF0000"/>
                              </a:solidFill>
                              <a:latin typeface="Cambria Math" panose="02040503050406030204"/>
                            </a:rPr>
                          </m:ctrlPr>
                        </m:sSubPr>
                        <m:e>
                          <m:r>
                            <a:rPr lang="zh-CN" altLang="en-US" sz="2000" b="1" i="1">
                              <a:solidFill>
                                <a:srgbClr val="FF0000"/>
                              </a:solidFill>
                              <a:latin typeface="Cambria Math" panose="02040503050406030204" pitchFamily="18" charset="0"/>
                            </a:rPr>
                            <m:t>𝑫</m:t>
                          </m:r>
                        </m:e>
                        <m:sub>
                          <m:r>
                            <a:rPr lang="zh-CN" altLang="en-US" sz="2000" b="1" i="1">
                              <a:solidFill>
                                <a:srgbClr val="FF0000"/>
                              </a:solidFill>
                              <a:latin typeface="Cambria Math" panose="02040503050406030204" pitchFamily="18" charset="0"/>
                            </a:rPr>
                            <m:t>𝟎</m:t>
                          </m:r>
                        </m:sub>
                      </m:sSub>
                    </m:oMath>
                  </m:oMathPara>
                </a14:m>
                <a:endParaRPr lang="zh-CN" altLang="en-US" sz="2000" b="1" dirty="0">
                  <a:solidFill>
                    <a:srgbClr val="FF0000"/>
                  </a:solidFill>
                </a:endParaRPr>
              </a:p>
            </p:txBody>
          </p:sp>
        </mc:Choice>
        <mc:Fallback>
          <p:sp>
            <p:nvSpPr>
              <p:cNvPr id="493" name="矩形 492"/>
              <p:cNvSpPr>
                <a:spLocks noRot="1" noChangeAspect="1" noMove="1" noResize="1" noEditPoints="1" noAdjustHandles="1" noChangeArrowheads="1" noChangeShapeType="1" noTextEdit="1"/>
              </p:cNvSpPr>
              <p:nvPr/>
            </p:nvSpPr>
            <p:spPr>
              <a:xfrm>
                <a:off x="0" y="2955490"/>
                <a:ext cx="2278247" cy="400110"/>
              </a:xfrm>
              <a:prstGeom prst="rect">
                <a:avLst/>
              </a:prstGeom>
              <a:blipFill rotWithShape="1">
                <a:blip r:embed="rId4"/>
                <a:stretch>
                  <a:fillRect t="-50" r="22" b="65"/>
                </a:stretch>
              </a:blipFill>
            </p:spPr>
            <p:txBody>
              <a:bodyPr/>
              <a:lstStyle/>
              <a:p>
                <a:r>
                  <a:rPr lang="zh-CN" altLang="en-US">
                    <a:noFill/>
                  </a:rPr>
                  <a:t> </a:t>
                </a:r>
              </a:p>
            </p:txBody>
          </p:sp>
        </mc:Fallback>
      </mc:AlternateContent>
      <p:sp>
        <p:nvSpPr>
          <p:cNvPr id="494" name="文本框 493"/>
          <p:cNvSpPr txBox="1"/>
          <p:nvPr/>
        </p:nvSpPr>
        <p:spPr>
          <a:xfrm>
            <a:off x="2695072" y="3615151"/>
            <a:ext cx="1423733" cy="523220"/>
          </a:xfrm>
          <a:prstGeom prst="rect">
            <a:avLst/>
          </a:prstGeom>
          <a:noFill/>
        </p:spPr>
        <p:txBody>
          <a:bodyPr wrap="square" rtlCol="0">
            <a:spAutoFit/>
          </a:bodyPr>
          <a:lstStyle/>
          <a:p>
            <a:r>
              <a:rPr lang="en-US" altLang="zh-CN" sz="2800" b="1" dirty="0">
                <a:solidFill>
                  <a:srgbClr val="0000FF"/>
                </a:solidFill>
              </a:rPr>
              <a:t>0  1  1  1</a:t>
            </a:r>
            <a:endParaRPr lang="zh-CN" altLang="en-US" sz="2800" b="1" dirty="0">
              <a:solidFill>
                <a:srgbClr val="0000FF"/>
              </a:solidFill>
            </a:endParaRPr>
          </a:p>
        </p:txBody>
      </p:sp>
      <p:sp>
        <p:nvSpPr>
          <p:cNvPr id="49" name="文本框 48"/>
          <p:cNvSpPr txBox="1"/>
          <p:nvPr/>
        </p:nvSpPr>
        <p:spPr>
          <a:xfrm>
            <a:off x="6001316" y="3580347"/>
            <a:ext cx="1423733" cy="523220"/>
          </a:xfrm>
          <a:prstGeom prst="rect">
            <a:avLst/>
          </a:prstGeom>
          <a:noFill/>
        </p:spPr>
        <p:txBody>
          <a:bodyPr wrap="square" rtlCol="0">
            <a:spAutoFit/>
          </a:bodyPr>
          <a:lstStyle/>
          <a:p>
            <a:r>
              <a:rPr lang="en-US" altLang="zh-CN" sz="2800" b="1" dirty="0">
                <a:solidFill>
                  <a:srgbClr val="0000FF"/>
                </a:solidFill>
              </a:rPr>
              <a:t>1  1  1  1</a:t>
            </a:r>
            <a:endParaRPr lang="zh-CN" altLang="en-US" sz="2800" b="1" dirty="0">
              <a:solidFill>
                <a:srgbClr val="0000FF"/>
              </a:solidFill>
            </a:endParaRPr>
          </a:p>
        </p:txBody>
      </p:sp>
      <p:cxnSp>
        <p:nvCxnSpPr>
          <p:cNvPr id="4" name="直接连接符 3"/>
          <p:cNvCxnSpPr/>
          <p:nvPr/>
        </p:nvCxnSpPr>
        <p:spPr>
          <a:xfrm>
            <a:off x="4399547" y="2459222"/>
            <a:ext cx="493295"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892842" y="2439167"/>
            <a:ext cx="0" cy="1037959"/>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892842" y="3477127"/>
            <a:ext cx="297232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861158" y="2489270"/>
            <a:ext cx="0" cy="987856"/>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399547" y="2794449"/>
            <a:ext cx="204537"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4604084" y="2794449"/>
            <a:ext cx="1" cy="85176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0" name="直接连接符 479"/>
          <p:cNvCxnSpPr/>
          <p:nvPr/>
        </p:nvCxnSpPr>
        <p:spPr>
          <a:xfrm>
            <a:off x="4604084" y="3658247"/>
            <a:ext cx="3578637"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3" name="直接连接符 482"/>
          <p:cNvCxnSpPr/>
          <p:nvPr/>
        </p:nvCxnSpPr>
        <p:spPr>
          <a:xfrm>
            <a:off x="3830053" y="2020116"/>
            <a:ext cx="1447800"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5" name="直接连接符 484"/>
          <p:cNvCxnSpPr/>
          <p:nvPr/>
        </p:nvCxnSpPr>
        <p:spPr>
          <a:xfrm>
            <a:off x="5261811" y="2020116"/>
            <a:ext cx="0" cy="735116"/>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7" name="直接连接符 486"/>
          <p:cNvCxnSpPr/>
          <p:nvPr/>
        </p:nvCxnSpPr>
        <p:spPr>
          <a:xfrm>
            <a:off x="5269831" y="2769295"/>
            <a:ext cx="444759"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34792" y="4199421"/>
            <a:ext cx="9005963" cy="954107"/>
          </a:xfrm>
          <a:prstGeom prst="rect">
            <a:avLst/>
          </a:prstGeom>
          <a:noFill/>
        </p:spPr>
        <p:txBody>
          <a:bodyPr wrap="square" rtlCol="0">
            <a:spAutoFit/>
          </a:bodyPr>
          <a:lstStyle/>
          <a:p>
            <a:r>
              <a:rPr lang="en-US" altLang="zh-CN" sz="2800" b="1" dirty="0">
                <a:solidFill>
                  <a:srgbClr val="2B56F5"/>
                </a:solidFill>
              </a:rPr>
              <a:t>Step4</a:t>
            </a:r>
            <a:r>
              <a:rPr lang="en-US" altLang="zh-CN" sz="2800" b="1" dirty="0">
                <a:solidFill>
                  <a:prstClr val="black"/>
                </a:solidFill>
              </a:rPr>
              <a:t> : </a:t>
            </a:r>
            <a:r>
              <a:rPr lang="zh-CN" altLang="en-US" sz="2800" b="1" dirty="0">
                <a:solidFill>
                  <a:prstClr val="black"/>
                </a:solidFill>
              </a:rPr>
              <a:t>在后续的</a:t>
            </a:r>
            <a:r>
              <a:rPr lang="en-US" altLang="zh-CN" sz="2800" b="1" dirty="0">
                <a:solidFill>
                  <a:prstClr val="black"/>
                </a:solidFill>
              </a:rPr>
              <a:t>6</a:t>
            </a:r>
            <a:r>
              <a:rPr lang="zh-CN" altLang="en-US" sz="2800" b="1" dirty="0">
                <a:solidFill>
                  <a:prstClr val="black"/>
                </a:solidFill>
              </a:rPr>
              <a:t>个</a:t>
            </a:r>
            <a:r>
              <a:rPr lang="en-US" altLang="zh-CN" sz="2800" b="1" dirty="0">
                <a:solidFill>
                  <a:prstClr val="black"/>
                </a:solidFill>
              </a:rPr>
              <a:t>CP</a:t>
            </a:r>
            <a:r>
              <a:rPr lang="zh-CN" altLang="en-US" sz="2800" b="1" dirty="0">
                <a:solidFill>
                  <a:prstClr val="black"/>
                </a:solidFill>
              </a:rPr>
              <a:t>上升沿到来时，输出端数据依次右移</a:t>
            </a:r>
            <a:r>
              <a:rPr lang="en-US" altLang="zh-CN" sz="2800" b="1" dirty="0">
                <a:solidFill>
                  <a:prstClr val="black"/>
                </a:solidFill>
              </a:rPr>
              <a:t>1</a:t>
            </a:r>
            <a:r>
              <a:rPr lang="zh-CN" altLang="en-US" sz="2800" b="1" dirty="0">
                <a:solidFill>
                  <a:prstClr val="black"/>
                </a:solidFill>
              </a:rPr>
              <a:t>位</a:t>
            </a:r>
            <a:endParaRPr lang="zh-CN" altLang="en-US" sz="2800" b="1" dirty="0">
              <a:solidFill>
                <a:prstClr val="black"/>
              </a:solidFill>
            </a:endParaRPr>
          </a:p>
        </p:txBody>
      </p:sp>
      <p:sp>
        <p:nvSpPr>
          <p:cNvPr id="36" name="矩形 35"/>
          <p:cNvSpPr/>
          <p:nvPr/>
        </p:nvSpPr>
        <p:spPr>
          <a:xfrm>
            <a:off x="1811909" y="4947388"/>
            <a:ext cx="6053260" cy="523220"/>
          </a:xfrm>
          <a:prstGeom prst="rect">
            <a:avLst/>
          </a:prstGeom>
        </p:spPr>
        <p:txBody>
          <a:bodyPr wrap="none">
            <a:spAutoFit/>
          </a:bodyPr>
          <a:lstStyle/>
          <a:p>
            <a:r>
              <a:rPr lang="en-US" altLang="zh-CN" sz="2800" b="1" dirty="0">
                <a:solidFill>
                  <a:srgbClr val="0000FF"/>
                </a:solidFill>
              </a:rPr>
              <a:t>Q</a:t>
            </a:r>
            <a:r>
              <a:rPr lang="en-US" altLang="zh-CN" sz="2800" b="1" baseline="-25000" dirty="0">
                <a:solidFill>
                  <a:srgbClr val="0000FF"/>
                </a:solidFill>
              </a:rPr>
              <a:t>0</a:t>
            </a:r>
            <a:r>
              <a:rPr lang="en-US" altLang="zh-CN" sz="2800" b="1" dirty="0">
                <a:solidFill>
                  <a:srgbClr val="0000FF"/>
                </a:solidFill>
              </a:rPr>
              <a:t>Q</a:t>
            </a:r>
            <a:r>
              <a:rPr lang="en-US" altLang="zh-CN" sz="2800" b="1" baseline="-25000" dirty="0">
                <a:solidFill>
                  <a:srgbClr val="0000FF"/>
                </a:solidFill>
              </a:rPr>
              <a:t>1</a:t>
            </a:r>
            <a:r>
              <a:rPr lang="en-US" altLang="zh-CN" sz="2800" b="1" dirty="0">
                <a:solidFill>
                  <a:srgbClr val="0000FF"/>
                </a:solidFill>
              </a:rPr>
              <a:t>Q</a:t>
            </a:r>
            <a:r>
              <a:rPr lang="en-US" altLang="zh-CN" sz="2800" b="1" baseline="-25000" dirty="0">
                <a:solidFill>
                  <a:srgbClr val="0000FF"/>
                </a:solidFill>
              </a:rPr>
              <a:t>2</a:t>
            </a:r>
            <a:r>
              <a:rPr lang="en-US" altLang="zh-CN" sz="2800" b="1" dirty="0">
                <a:solidFill>
                  <a:srgbClr val="0000FF"/>
                </a:solidFill>
              </a:rPr>
              <a:t>Q</a:t>
            </a:r>
            <a:r>
              <a:rPr lang="en-US" altLang="zh-CN" sz="2800" b="1" baseline="-25000" dirty="0">
                <a:solidFill>
                  <a:srgbClr val="0000FF"/>
                </a:solidFill>
              </a:rPr>
              <a:t>3</a:t>
            </a:r>
            <a:r>
              <a:rPr lang="en-US" altLang="zh-CN" sz="2800" b="1" dirty="0">
                <a:solidFill>
                  <a:srgbClr val="0000FF"/>
                </a:solidFill>
              </a:rPr>
              <a:t>Q</a:t>
            </a:r>
            <a:r>
              <a:rPr lang="en-US" altLang="zh-CN" sz="2800" b="1" baseline="-25000" dirty="0">
                <a:solidFill>
                  <a:srgbClr val="0000FF"/>
                </a:solidFill>
              </a:rPr>
              <a:t>4</a:t>
            </a:r>
            <a:r>
              <a:rPr lang="en-US" altLang="zh-CN" sz="2800" b="1" dirty="0">
                <a:solidFill>
                  <a:srgbClr val="0000FF"/>
                </a:solidFill>
              </a:rPr>
              <a:t>Q</a:t>
            </a:r>
            <a:r>
              <a:rPr lang="en-US" altLang="zh-CN" sz="2800" b="1" baseline="-25000" dirty="0">
                <a:solidFill>
                  <a:srgbClr val="0000FF"/>
                </a:solidFill>
              </a:rPr>
              <a:t>5</a:t>
            </a:r>
            <a:r>
              <a:rPr lang="en-US" altLang="zh-CN" sz="2800" b="1" dirty="0">
                <a:solidFill>
                  <a:srgbClr val="0000FF"/>
                </a:solidFill>
              </a:rPr>
              <a:t>Q</a:t>
            </a:r>
            <a:r>
              <a:rPr lang="en-US" altLang="zh-CN" sz="2800" b="1" baseline="-25000" dirty="0">
                <a:solidFill>
                  <a:srgbClr val="0000FF"/>
                </a:solidFill>
              </a:rPr>
              <a:t>6</a:t>
            </a:r>
            <a:r>
              <a:rPr lang="en-US" altLang="zh-CN" sz="2800" b="1" dirty="0">
                <a:solidFill>
                  <a:srgbClr val="0000FF"/>
                </a:solidFill>
              </a:rPr>
              <a:t>Q</a:t>
            </a:r>
            <a:r>
              <a:rPr lang="en-US" altLang="zh-CN" sz="2800" b="1" baseline="-25000" dirty="0">
                <a:solidFill>
                  <a:srgbClr val="0000FF"/>
                </a:solidFill>
              </a:rPr>
              <a:t>7</a:t>
            </a:r>
            <a:r>
              <a:rPr lang="en-US" altLang="zh-CN" sz="2800" b="1" dirty="0">
                <a:solidFill>
                  <a:srgbClr val="0000FF"/>
                </a:solidFill>
              </a:rPr>
              <a:t>=</a:t>
            </a:r>
            <a:r>
              <a:rPr lang="en-US" altLang="zh-CN" sz="2800" b="1" dirty="0">
                <a:solidFill>
                  <a:srgbClr val="FF0000"/>
                </a:solidFill>
              </a:rPr>
              <a:t>D</a:t>
            </a:r>
            <a:r>
              <a:rPr lang="en-US" altLang="zh-CN" sz="2800" b="1" baseline="-25000" dirty="0">
                <a:solidFill>
                  <a:srgbClr val="FF0000"/>
                </a:solidFill>
              </a:rPr>
              <a:t>6</a:t>
            </a:r>
            <a:r>
              <a:rPr lang="en-US" altLang="zh-CN" sz="2800" b="1" dirty="0">
                <a:solidFill>
                  <a:srgbClr val="FF0000"/>
                </a:solidFill>
              </a:rPr>
              <a:t>D</a:t>
            </a:r>
            <a:r>
              <a:rPr lang="en-US" altLang="zh-CN" sz="2800" b="1" baseline="-25000" dirty="0">
                <a:solidFill>
                  <a:srgbClr val="FF0000"/>
                </a:solidFill>
              </a:rPr>
              <a:t>5</a:t>
            </a:r>
            <a:r>
              <a:rPr lang="en-US" altLang="zh-CN" sz="2800" b="1" dirty="0">
                <a:solidFill>
                  <a:srgbClr val="FF0000"/>
                </a:solidFill>
              </a:rPr>
              <a:t>D</a:t>
            </a:r>
            <a:r>
              <a:rPr lang="en-US" altLang="zh-CN" sz="2800" b="1" baseline="-25000" dirty="0">
                <a:solidFill>
                  <a:srgbClr val="FF0000"/>
                </a:solidFill>
              </a:rPr>
              <a:t>4</a:t>
            </a:r>
            <a:r>
              <a:rPr lang="en-US" altLang="zh-CN" sz="2800" b="1" dirty="0">
                <a:solidFill>
                  <a:srgbClr val="FF0000"/>
                </a:solidFill>
              </a:rPr>
              <a:t>D</a:t>
            </a:r>
            <a:r>
              <a:rPr lang="en-US" altLang="zh-CN" sz="2800" b="1" baseline="-25000" dirty="0">
                <a:solidFill>
                  <a:srgbClr val="FF0000"/>
                </a:solidFill>
              </a:rPr>
              <a:t>3</a:t>
            </a:r>
            <a:r>
              <a:rPr lang="en-US" altLang="zh-CN" sz="2800" b="1" dirty="0">
                <a:solidFill>
                  <a:srgbClr val="FF0000"/>
                </a:solidFill>
              </a:rPr>
              <a:t>D</a:t>
            </a:r>
            <a:r>
              <a:rPr lang="en-US" altLang="zh-CN" sz="2800" b="1" baseline="-25000" dirty="0">
                <a:solidFill>
                  <a:srgbClr val="FF0000"/>
                </a:solidFill>
              </a:rPr>
              <a:t>2</a:t>
            </a:r>
            <a:r>
              <a:rPr lang="en-US" altLang="zh-CN" sz="2800" b="1" dirty="0">
                <a:solidFill>
                  <a:srgbClr val="FF0000"/>
                </a:solidFill>
              </a:rPr>
              <a:t>D</a:t>
            </a:r>
            <a:r>
              <a:rPr lang="en-US" altLang="zh-CN" sz="2800" b="1" baseline="-25000" dirty="0">
                <a:solidFill>
                  <a:srgbClr val="FF0000"/>
                </a:solidFill>
              </a:rPr>
              <a:t>1</a:t>
            </a:r>
            <a:r>
              <a:rPr lang="en-US" altLang="zh-CN" sz="2800" b="1" dirty="0">
                <a:solidFill>
                  <a:srgbClr val="FF0000"/>
                </a:solidFill>
              </a:rPr>
              <a:t>D</a:t>
            </a:r>
            <a:r>
              <a:rPr lang="en-US" altLang="zh-CN" sz="2800" b="1" baseline="-25000" dirty="0">
                <a:solidFill>
                  <a:srgbClr val="FF0000"/>
                </a:solidFill>
              </a:rPr>
              <a:t>0</a:t>
            </a:r>
            <a:r>
              <a:rPr lang="en-US" altLang="zh-CN" sz="2800" b="1" dirty="0">
                <a:solidFill>
                  <a:srgbClr val="0000FF"/>
                </a:solidFill>
              </a:rPr>
              <a:t>0</a:t>
            </a:r>
            <a:endParaRPr lang="zh-CN" altLang="en-US" sz="2800" dirty="0">
              <a:solidFill>
                <a:prstClr val="black"/>
              </a:solidFill>
            </a:endParaRPr>
          </a:p>
        </p:txBody>
      </p:sp>
      <p:sp>
        <p:nvSpPr>
          <p:cNvPr id="37" name="矩形 36"/>
          <p:cNvSpPr/>
          <p:nvPr/>
        </p:nvSpPr>
        <p:spPr>
          <a:xfrm>
            <a:off x="1079484" y="5712685"/>
            <a:ext cx="7351294" cy="523220"/>
          </a:xfrm>
          <a:prstGeom prst="rect">
            <a:avLst/>
          </a:prstGeom>
        </p:spPr>
        <p:txBody>
          <a:bodyPr wrap="square">
            <a:spAutoFit/>
          </a:bodyPr>
          <a:lstStyle/>
          <a:p>
            <a:r>
              <a:rPr lang="zh-CN" altLang="en-US" sz="2800" b="1" dirty="0">
                <a:solidFill>
                  <a:srgbClr val="FF33CC"/>
                </a:solidFill>
              </a:rPr>
              <a:t>此时，串行输入的数据已被转换成并行输出</a:t>
            </a:r>
            <a:endParaRPr lang="zh-CN" altLang="en-US" dirty="0">
              <a:solidFill>
                <a:srgbClr val="FF33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移位寄存器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482" name="文本框 481"/>
          <p:cNvSpPr txBox="1"/>
          <p:nvPr/>
        </p:nvSpPr>
        <p:spPr>
          <a:xfrm>
            <a:off x="364514" y="622095"/>
            <a:ext cx="5092639" cy="523220"/>
          </a:xfrm>
          <a:prstGeom prst="rect">
            <a:avLst/>
          </a:prstGeom>
          <a:noFill/>
        </p:spPr>
        <p:txBody>
          <a:bodyPr wrap="square" rtlCol="0">
            <a:spAutoFit/>
          </a:bodyPr>
          <a:lstStyle/>
          <a:p>
            <a:r>
              <a:rPr lang="zh-CN" altLang="en-US" sz="2800" b="1" dirty="0">
                <a:solidFill>
                  <a:srgbClr val="1F4E79"/>
                </a:solidFill>
                <a:latin typeface="黑体" panose="02010609060101010101" pitchFamily="49" charset="-122"/>
                <a:ea typeface="黑体" panose="02010609060101010101" pitchFamily="49" charset="-122"/>
              </a:rPr>
              <a:t>三、移位寄存器的应用</a:t>
            </a:r>
            <a:endParaRPr lang="zh-CN" altLang="en-US" sz="2800" b="1" dirty="0">
              <a:solidFill>
                <a:srgbClr val="1F4E79"/>
              </a:solidFill>
              <a:latin typeface="黑体" panose="02010609060101010101" pitchFamily="49" charset="-122"/>
              <a:ea typeface="黑体" panose="02010609060101010101" pitchFamily="49" charset="-122"/>
            </a:endParaRPr>
          </a:p>
        </p:txBody>
      </p:sp>
      <p:sp>
        <p:nvSpPr>
          <p:cNvPr id="514" name="文本框 513"/>
          <p:cNvSpPr txBox="1"/>
          <p:nvPr/>
        </p:nvSpPr>
        <p:spPr>
          <a:xfrm>
            <a:off x="364514" y="1076461"/>
            <a:ext cx="5358098" cy="523220"/>
          </a:xfrm>
          <a:prstGeom prst="rect">
            <a:avLst/>
          </a:prstGeom>
          <a:noFill/>
        </p:spPr>
        <p:txBody>
          <a:bodyPr wrap="square" rtlCol="0">
            <a:spAutoFit/>
          </a:bodyPr>
          <a:lstStyle/>
          <a:p>
            <a:r>
              <a:rPr lang="zh-CN" altLang="en-US" sz="2800" b="1" dirty="0">
                <a:solidFill>
                  <a:srgbClr val="0000FF"/>
                </a:solidFill>
              </a:rPr>
              <a:t>实现数码串</a:t>
            </a:r>
            <a:r>
              <a:rPr lang="en-US" altLang="zh-CN" sz="2800" b="1" dirty="0">
                <a:solidFill>
                  <a:srgbClr val="0000FF"/>
                </a:solidFill>
              </a:rPr>
              <a:t>/</a:t>
            </a:r>
            <a:r>
              <a:rPr lang="zh-CN" altLang="en-US" sz="2800" b="1" dirty="0">
                <a:solidFill>
                  <a:srgbClr val="0000FF"/>
                </a:solidFill>
              </a:rPr>
              <a:t>并转换</a:t>
            </a:r>
            <a:endParaRPr lang="zh-CN" altLang="en-US" sz="2800" b="1" dirty="0">
              <a:solidFill>
                <a:srgbClr val="0000FF"/>
              </a:solidFill>
            </a:endParaRPr>
          </a:p>
        </p:txBody>
      </p:sp>
      <p:grpSp>
        <p:nvGrpSpPr>
          <p:cNvPr id="25" name="Group 6"/>
          <p:cNvGrpSpPr/>
          <p:nvPr/>
        </p:nvGrpSpPr>
        <p:grpSpPr bwMode="auto">
          <a:xfrm>
            <a:off x="179255" y="1479452"/>
            <a:ext cx="8703464" cy="5281962"/>
            <a:chOff x="316" y="527"/>
            <a:chExt cx="5093" cy="3093"/>
          </a:xfrm>
        </p:grpSpPr>
        <p:sp>
          <p:nvSpPr>
            <p:cNvPr id="26" name="Rectangle 4"/>
            <p:cNvSpPr>
              <a:spLocks noChangeArrowheads="1"/>
            </p:cNvSpPr>
            <p:nvPr/>
          </p:nvSpPr>
          <p:spPr bwMode="auto">
            <a:xfrm>
              <a:off x="1381" y="527"/>
              <a:ext cx="289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lnSpc>
                  <a:spcPct val="130000"/>
                </a:lnSpc>
                <a:spcBef>
                  <a:spcPct val="20000"/>
                </a:spcBef>
              </a:pPr>
              <a:r>
                <a:rPr lang="zh-CN" altLang="en-US" dirty="0">
                  <a:solidFill>
                    <a:srgbClr val="C00000"/>
                  </a:solidFill>
                </a:rPr>
                <a:t>数据串</a:t>
              </a:r>
              <a:r>
                <a:rPr lang="en-US" altLang="zh-CN" dirty="0">
                  <a:solidFill>
                    <a:srgbClr val="C00000"/>
                  </a:solidFill>
                </a:rPr>
                <a:t>/</a:t>
              </a:r>
              <a:r>
                <a:rPr lang="zh-CN" altLang="en-US" dirty="0">
                  <a:solidFill>
                    <a:srgbClr val="C00000"/>
                  </a:solidFill>
                </a:rPr>
                <a:t>并转换电路的逻辑功能表</a:t>
              </a:r>
              <a:endParaRPr lang="zh-CN" altLang="en-US" dirty="0">
                <a:solidFill>
                  <a:srgbClr val="C00000"/>
                </a:solidFill>
              </a:endParaRPr>
            </a:p>
          </p:txBody>
        </p:sp>
        <p:pic>
          <p:nvPicPr>
            <p:cNvPr id="27" name="Picture 5" descr="B5-5-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6" y="793"/>
              <a:ext cx="5093" cy="2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p:cNvCxnSpPr/>
          <p:nvPr/>
        </p:nvCxnSpPr>
        <p:spPr>
          <a:xfrm>
            <a:off x="1346126" y="579095"/>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01004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作业</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文本框 9"/>
          <p:cNvSpPr txBox="1"/>
          <p:nvPr/>
        </p:nvSpPr>
        <p:spPr>
          <a:xfrm>
            <a:off x="172234" y="1336406"/>
            <a:ext cx="6200274" cy="523220"/>
          </a:xfrm>
          <a:prstGeom prst="rect">
            <a:avLst/>
          </a:prstGeom>
          <a:noFill/>
        </p:spPr>
        <p:txBody>
          <a:bodyPr wrap="square" rtlCol="0">
            <a:spAutoFit/>
          </a:bodyPr>
          <a:lstStyle/>
          <a:p>
            <a:r>
              <a:rPr lang="zh-CN" altLang="en-US" sz="2800" b="1" dirty="0">
                <a:solidFill>
                  <a:prstClr val="black"/>
                </a:solidFill>
              </a:rPr>
              <a:t>第五章习题  </a:t>
            </a:r>
            <a:endParaRPr lang="zh-CN" altLang="en-US" sz="2800" b="1" dirty="0">
              <a:solidFill>
                <a:prstClr val="black"/>
              </a:solidFill>
            </a:endParaRPr>
          </a:p>
        </p:txBody>
      </p:sp>
      <p:pic>
        <p:nvPicPr>
          <p:cNvPr id="2" name="图片 1"/>
          <p:cNvPicPr>
            <a:picLocks noChangeAspect="1"/>
          </p:cNvPicPr>
          <p:nvPr/>
        </p:nvPicPr>
        <p:blipFill>
          <a:blip r:embed="rId2"/>
          <a:stretch>
            <a:fillRect/>
          </a:stretch>
        </p:blipFill>
        <p:spPr>
          <a:xfrm>
            <a:off x="124950" y="2294858"/>
            <a:ext cx="9019050" cy="80045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 name="淘宝网chenying0907出品 10"/>
          <p:cNvSpPr txBox="1"/>
          <p:nvPr/>
        </p:nvSpPr>
        <p:spPr>
          <a:xfrm>
            <a:off x="457533" y="364805"/>
            <a:ext cx="5955967" cy="646331"/>
          </a:xfrm>
          <a:prstGeom prst="rect">
            <a:avLst/>
          </a:prstGeom>
          <a:noFill/>
        </p:spPr>
        <p:txBody>
          <a:bodyPr wrap="square" rtlCol="0">
            <a:spAutoFit/>
          </a:bodyPr>
          <a:lstStyle/>
          <a:p>
            <a:r>
              <a:rPr lang="zh-CN" altLang="en-US" sz="3600" b="1" dirty="0">
                <a:solidFill>
                  <a:srgbClr val="4472C4">
                    <a:lumMod val="50000"/>
                  </a:srgbClr>
                </a:solidFill>
                <a:latin typeface="微软雅黑" panose="020B0503020204020204" pitchFamily="34" charset="-122"/>
                <a:ea typeface="微软雅黑" panose="020B0503020204020204" pitchFamily="34" charset="-122"/>
              </a:rPr>
              <a:t>补充</a:t>
            </a:r>
            <a:endParaRPr lang="en-US" altLang="zh-CN" sz="3600" b="1" dirty="0">
              <a:solidFill>
                <a:srgbClr val="4472C4">
                  <a:lumMod val="50000"/>
                </a:srgbClr>
              </a:solidFill>
              <a:latin typeface="微软雅黑" panose="020B0503020204020204" pitchFamily="34" charset="-122"/>
              <a:ea typeface="微软雅黑" panose="020B0503020204020204" pitchFamily="34" charset="-122"/>
            </a:endParaRPr>
          </a:p>
        </p:txBody>
      </p:sp>
      <p:sp>
        <p:nvSpPr>
          <p:cNvPr id="22" name="Text Box 68"/>
          <p:cNvSpPr txBox="1">
            <a:spLocks noChangeArrowheads="1"/>
          </p:cNvSpPr>
          <p:nvPr/>
        </p:nvSpPr>
        <p:spPr bwMode="auto">
          <a:xfrm>
            <a:off x="1977093" y="4859748"/>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endParaRPr lang="zh-CN" altLang="en-US" sz="3200" b="1">
              <a:solidFill>
                <a:srgbClr val="E7E6E6">
                  <a:lumMod val="75000"/>
                </a:srgbClr>
              </a:solidFill>
              <a:latin typeface="楷体_GB2312" pitchFamily="49" charset="-122"/>
            </a:endParaRPr>
          </a:p>
        </p:txBody>
      </p:sp>
      <p:sp>
        <p:nvSpPr>
          <p:cNvPr id="24" name="Text Box 84">
            <a:hlinkClick r:id="" action="ppaction://noaction"/>
          </p:cNvPr>
          <p:cNvSpPr txBox="1">
            <a:spLocks noChangeArrowheads="1"/>
          </p:cNvSpPr>
          <p:nvPr/>
        </p:nvSpPr>
        <p:spPr bwMode="auto">
          <a:xfrm>
            <a:off x="1948638" y="2643054"/>
            <a:ext cx="48093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solidFill>
                  <a:schemeClr val="bg2">
                    <a:lumMod val="75000"/>
                  </a:schemeClr>
                </a:solidFill>
                <a:latin typeface="楷体_GB2312" pitchFamily="49" charset="-122"/>
              </a:defRPr>
            </a:lvl1pPr>
          </a:lstStyle>
          <a:p>
            <a:r>
              <a:rPr lang="zh-CN" altLang="en-US" dirty="0">
                <a:solidFill>
                  <a:prstClr val="black"/>
                </a:solidFill>
              </a:rPr>
              <a:t>多谐震荡电路</a:t>
            </a:r>
            <a:endParaRPr lang="zh-CN" altLang="en-US" dirty="0">
              <a:solidFill>
                <a:prstClr val="black"/>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0000FF"/>
                </a:solidFill>
                <a:latin typeface="Times New Roman" panose="02020603050405020304" pitchFamily="18" charset="0"/>
                <a:ea typeface="黑体" panose="02010609060101010101" pitchFamily="49" charset="-122"/>
              </a:rPr>
              <a:t>多谐振荡器</a:t>
            </a:r>
            <a:endParaRPr lang="zh-CN" altLang="en-US" sz="3200" b="1">
              <a:solidFill>
                <a:srgbClr val="0000FF"/>
              </a:solidFill>
              <a:latin typeface="Tahoma" panose="020B0604030504040204" pitchFamily="34" charset="0"/>
              <a:ea typeface="华文新魏" panose="02010800040101010101" pitchFamily="2" charset="-122"/>
            </a:endParaRPr>
          </a:p>
        </p:txBody>
      </p:sp>
      <p:sp>
        <p:nvSpPr>
          <p:cNvPr id="2" name="矩形 1"/>
          <p:cNvSpPr/>
          <p:nvPr/>
        </p:nvSpPr>
        <p:spPr>
          <a:xfrm>
            <a:off x="1070979" y="1801252"/>
            <a:ext cx="6761580" cy="2400657"/>
          </a:xfrm>
          <a:prstGeom prst="rect">
            <a:avLst/>
          </a:prstGeom>
        </p:spPr>
        <p:txBody>
          <a:bodyPr wrap="square">
            <a:spAutoFit/>
          </a:bodyPr>
          <a:lstStyle/>
          <a:p>
            <a:pPr marL="457200" indent="-457200">
              <a:spcAft>
                <a:spcPts val="1200"/>
              </a:spcAft>
              <a:buFont typeface="Wingdings" panose="05000000000000000000" pitchFamily="2" charset="2"/>
              <a:buChar char="Ø"/>
            </a:pPr>
            <a:r>
              <a:rPr kumimoji="1" lang="zh-CN" altLang="en-US" sz="2800" b="1" dirty="0">
                <a:solidFill>
                  <a:prstClr val="black"/>
                </a:solidFill>
              </a:rPr>
              <a:t>多谐振荡器是一种自激振荡器，在接通电源后，不需要外加触发信号，便能自动产生矩形脉冲。</a:t>
            </a:r>
            <a:endParaRPr kumimoji="1" lang="en-US" altLang="zh-CN" sz="2800" b="1" dirty="0">
              <a:solidFill>
                <a:prstClr val="black"/>
              </a:solidFill>
            </a:endParaRPr>
          </a:p>
          <a:p>
            <a:pPr marL="457200" indent="-457200">
              <a:spcAft>
                <a:spcPts val="1200"/>
              </a:spcAft>
              <a:buFont typeface="Wingdings" panose="05000000000000000000" pitchFamily="2" charset="2"/>
              <a:buChar char="Ø"/>
            </a:pPr>
            <a:r>
              <a:rPr kumimoji="1" lang="zh-CN" altLang="en-US" sz="2800" b="1" dirty="0">
                <a:solidFill>
                  <a:prstClr val="black"/>
                </a:solidFill>
              </a:rPr>
              <a:t>多谐振荡器在工作过程中没有稳定状态，故称为</a:t>
            </a:r>
            <a:r>
              <a:rPr kumimoji="1" lang="zh-CN" altLang="en-US" sz="2800" b="1" dirty="0">
                <a:solidFill>
                  <a:srgbClr val="FF3300"/>
                </a:solidFill>
              </a:rPr>
              <a:t>无稳态电路</a:t>
            </a:r>
            <a:r>
              <a:rPr kumimoji="1" lang="zh-CN" altLang="en-US" sz="2800" b="1" dirty="0">
                <a:solidFill>
                  <a:srgbClr val="000066"/>
                </a:solidFill>
              </a:rPr>
              <a:t>。</a:t>
            </a:r>
            <a:endParaRPr kumimoji="1" lang="en-GB" altLang="zh-CN" sz="2800" b="1" dirty="0">
              <a:solidFill>
                <a:srgbClr val="000066"/>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fld id="{43D7C761-FEEC-4F5C-B6D8-F87E3E49A456}" type="slidenum">
              <a:rPr lang="en-US" altLang="zh-CN" i="0">
                <a:latin typeface="Times New Roman" panose="02020603050405020304" pitchFamily="18" charset="0"/>
              </a:rPr>
            </a:fld>
            <a:endParaRPr lang="en-US" altLang="zh-CN" i="0">
              <a:latin typeface="Times New Roman" panose="02020603050405020304" pitchFamily="18" charset="0"/>
            </a:endParaRPr>
          </a:p>
        </p:txBody>
      </p:sp>
      <p:sp>
        <p:nvSpPr>
          <p:cNvPr id="258051" name="Text Box 3"/>
          <p:cNvSpPr txBox="1">
            <a:spLocks noChangeArrowheads="1"/>
          </p:cNvSpPr>
          <p:nvPr/>
        </p:nvSpPr>
        <p:spPr bwMode="auto">
          <a:xfrm>
            <a:off x="533400" y="3276600"/>
            <a:ext cx="487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b="1" i="0">
                <a:latin typeface="宋体" panose="02010600030101010101" pitchFamily="2" charset="-122"/>
                <a:cs typeface="Times New Roman" panose="02020603050405020304" pitchFamily="18" charset="0"/>
              </a:rPr>
              <a:t>1 </a:t>
            </a:r>
            <a:r>
              <a:rPr kumimoji="1" lang="zh-CN" altLang="en-US" sz="2400" b="1" i="0" dirty="0">
                <a:latin typeface="宋体" panose="02010600030101010101" pitchFamily="2" charset="-122"/>
                <a:cs typeface="Times New Roman" panose="02020603050405020304" pitchFamily="18" charset="0"/>
              </a:rPr>
              <a:t>集成定时器</a:t>
            </a:r>
            <a:r>
              <a:rPr kumimoji="1" lang="en-US" altLang="zh-CN" sz="2400" b="1" i="0" dirty="0">
                <a:latin typeface="宋体" panose="02010600030101010101" pitchFamily="2" charset="-122"/>
                <a:cs typeface="Times New Roman" panose="02020603050405020304" pitchFamily="18" charset="0"/>
              </a:rPr>
              <a:t>555</a:t>
            </a:r>
            <a:r>
              <a:rPr kumimoji="1" lang="zh-CN" altLang="en-US" sz="2400" b="1" i="0" dirty="0">
                <a:latin typeface="宋体" panose="02010600030101010101" pitchFamily="2" charset="-122"/>
                <a:cs typeface="Times New Roman" panose="02020603050405020304" pitchFamily="18" charset="0"/>
              </a:rPr>
              <a:t>及其应用</a:t>
            </a:r>
            <a:r>
              <a:rPr kumimoji="1" lang="zh-CN" altLang="en-US" sz="2400" b="1" dirty="0">
                <a:latin typeface="宋体" panose="02010600030101010101" pitchFamily="2" charset="-122"/>
                <a:cs typeface="Times New Roman" panose="02020603050405020304" pitchFamily="18" charset="0"/>
              </a:rPr>
              <a:t> </a:t>
            </a:r>
            <a:endParaRPr kumimoji="1" lang="zh-CN" altLang="en-US" sz="2400" b="1" dirty="0">
              <a:latin typeface="宋体" panose="02010600030101010101" pitchFamily="2" charset="-122"/>
              <a:cs typeface="Times New Roman" panose="02020603050405020304" pitchFamily="18" charset="0"/>
            </a:endParaRPr>
          </a:p>
        </p:txBody>
      </p:sp>
      <p:sp>
        <p:nvSpPr>
          <p:cNvPr id="258052" name="Text Box 4"/>
          <p:cNvSpPr txBox="1">
            <a:spLocks noChangeArrowheads="1"/>
          </p:cNvSpPr>
          <p:nvPr/>
        </p:nvSpPr>
        <p:spPr bwMode="auto">
          <a:xfrm>
            <a:off x="539750" y="4149725"/>
            <a:ext cx="8229600"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400" b="1" i="0">
                <a:solidFill>
                  <a:schemeClr val="tx2"/>
                </a:solidFill>
                <a:latin typeface="宋体" panose="02010600030101010101" pitchFamily="2" charset="-122"/>
                <a:cs typeface="Times New Roman" panose="02020603050405020304" pitchFamily="18" charset="0"/>
              </a:rPr>
              <a:t>　　</a:t>
            </a:r>
            <a:r>
              <a:rPr kumimoji="1" lang="zh-CN" altLang="en-US" sz="2400" b="1" i="0">
                <a:solidFill>
                  <a:srgbClr val="0033CC"/>
                </a:solidFill>
                <a:latin typeface="宋体" panose="02010600030101010101" pitchFamily="2" charset="-122"/>
                <a:cs typeface="Times New Roman" panose="02020603050405020304" pitchFamily="18" charset="0"/>
              </a:rPr>
              <a:t>集成定时器</a:t>
            </a:r>
            <a:r>
              <a:rPr kumimoji="1" lang="en-US" altLang="zh-CN" sz="2400" b="1" i="0">
                <a:solidFill>
                  <a:srgbClr val="0033CC"/>
                </a:solidFill>
                <a:latin typeface="宋体" panose="02010600030101010101" pitchFamily="2" charset="-122"/>
                <a:cs typeface="Times New Roman" panose="02020603050405020304" pitchFamily="18" charset="0"/>
              </a:rPr>
              <a:t>555</a:t>
            </a:r>
            <a:r>
              <a:rPr kumimoji="1" lang="zh-CN" altLang="en-US" sz="2400" b="1" i="0">
                <a:solidFill>
                  <a:srgbClr val="0033CC"/>
                </a:solidFill>
                <a:latin typeface="宋体" panose="02010600030101010101" pitchFamily="2" charset="-122"/>
                <a:cs typeface="Times New Roman" panose="02020603050405020304" pitchFamily="18" charset="0"/>
              </a:rPr>
              <a:t>是一种将模拟功能与逻辑功能巧妙地结合在一起的中规模集成电路。</a:t>
            </a:r>
            <a:endParaRPr kumimoji="1" lang="zh-CN" altLang="en-US" sz="2400" b="1" i="0">
              <a:latin typeface="宋体" panose="02010600030101010101" pitchFamily="2" charset="-122"/>
              <a:cs typeface="Times New Roman" panose="02020603050405020304" pitchFamily="18" charset="0"/>
            </a:endParaRPr>
          </a:p>
          <a:p>
            <a:pPr algn="just" eaLnBrk="1" hangingPunct="1">
              <a:spcBef>
                <a:spcPct val="50000"/>
              </a:spcBef>
            </a:pPr>
            <a:r>
              <a:rPr kumimoji="1" lang="zh-CN" altLang="en-US" sz="2400" b="1" i="0">
                <a:latin typeface="宋体" panose="02010600030101010101" pitchFamily="2" charset="-122"/>
                <a:cs typeface="Times New Roman" panose="02020603050405020304" pitchFamily="18" charset="0"/>
              </a:rPr>
              <a:t>　　常用的集成定时器有</a:t>
            </a:r>
            <a:r>
              <a:rPr kumimoji="1" lang="en-US" altLang="zh-CN" sz="2400" b="1" i="0">
                <a:latin typeface="宋体" panose="02010600030101010101" pitchFamily="2" charset="-122"/>
                <a:cs typeface="Times New Roman" panose="02020603050405020304" pitchFamily="18" charset="0"/>
              </a:rPr>
              <a:t>5G555(TTL</a:t>
            </a:r>
            <a:r>
              <a:rPr kumimoji="1" lang="zh-CN" altLang="en-US" sz="2400" b="1" i="0">
                <a:latin typeface="宋体" panose="02010600030101010101" pitchFamily="2" charset="-122"/>
                <a:cs typeface="Times New Roman" panose="02020603050405020304" pitchFamily="18" charset="0"/>
              </a:rPr>
              <a:t>电路</a:t>
            </a:r>
            <a:r>
              <a:rPr kumimoji="1" lang="en-US" altLang="zh-CN" sz="2400" b="1" i="0">
                <a:latin typeface="宋体" panose="02010600030101010101" pitchFamily="2" charset="-122"/>
                <a:cs typeface="Times New Roman" panose="02020603050405020304" pitchFamily="18" charset="0"/>
              </a:rPr>
              <a:t>)</a:t>
            </a:r>
            <a:r>
              <a:rPr kumimoji="1" lang="zh-CN" altLang="en-US" sz="2400" b="1" i="0">
                <a:latin typeface="宋体" panose="02010600030101010101" pitchFamily="2" charset="-122"/>
                <a:cs typeface="Times New Roman" panose="02020603050405020304" pitchFamily="18" charset="0"/>
              </a:rPr>
              <a:t>和</a:t>
            </a:r>
            <a:r>
              <a:rPr kumimoji="1" lang="en-US" altLang="zh-CN" sz="2400" b="1" i="0">
                <a:latin typeface="宋体" panose="02010600030101010101" pitchFamily="2" charset="-122"/>
                <a:cs typeface="Times New Roman" panose="02020603050405020304" pitchFamily="18" charset="0"/>
              </a:rPr>
              <a:t>CC7555(CMOS</a:t>
            </a:r>
            <a:r>
              <a:rPr kumimoji="1" lang="zh-CN" altLang="en-US" sz="2400" b="1" i="0">
                <a:latin typeface="宋体" panose="02010600030101010101" pitchFamily="2" charset="-122"/>
                <a:cs typeface="Times New Roman" panose="02020603050405020304" pitchFamily="18" charset="0"/>
              </a:rPr>
              <a:t>电路</a:t>
            </a:r>
            <a:r>
              <a:rPr kumimoji="1" lang="en-US" altLang="zh-CN" sz="2400" b="1" i="0">
                <a:latin typeface="宋体" panose="02010600030101010101" pitchFamily="2" charset="-122"/>
                <a:cs typeface="Times New Roman" panose="02020603050405020304" pitchFamily="18" charset="0"/>
              </a:rPr>
              <a:t>)</a:t>
            </a:r>
            <a:r>
              <a:rPr kumimoji="1" lang="zh-CN" altLang="en-US" sz="2400" b="1" i="0">
                <a:latin typeface="宋体" panose="02010600030101010101" pitchFamily="2" charset="-122"/>
                <a:cs typeface="Times New Roman" panose="02020603050405020304" pitchFamily="18" charset="0"/>
              </a:rPr>
              <a:t>等。下面以</a:t>
            </a:r>
            <a:r>
              <a:rPr kumimoji="1" lang="en-US" altLang="zh-CN" sz="2400" b="1" i="0">
                <a:latin typeface="宋体" panose="02010600030101010101" pitchFamily="2" charset="-122"/>
                <a:cs typeface="Times New Roman" panose="02020603050405020304" pitchFamily="18" charset="0"/>
              </a:rPr>
              <a:t>5G555</a:t>
            </a:r>
            <a:r>
              <a:rPr kumimoji="1" lang="zh-CN" altLang="en-US" sz="2400" b="1" i="0">
                <a:latin typeface="宋体" panose="02010600030101010101" pitchFamily="2" charset="-122"/>
                <a:cs typeface="Times New Roman" panose="02020603050405020304" pitchFamily="18" charset="0"/>
              </a:rPr>
              <a:t>为例说明其功能和应用。 </a:t>
            </a:r>
            <a:endParaRPr kumimoji="1" lang="zh-CN" altLang="en-US" sz="2400" b="1" i="0">
              <a:latin typeface="宋体" panose="02010600030101010101" pitchFamily="2" charset="-122"/>
              <a:cs typeface="Times New Roman" panose="02020603050405020304" pitchFamily="18" charset="0"/>
            </a:endParaRPr>
          </a:p>
        </p:txBody>
      </p:sp>
      <p:sp>
        <p:nvSpPr>
          <p:cNvPr id="258056" name="Text Box 8"/>
          <p:cNvSpPr txBox="1">
            <a:spLocks noChangeArrowheads="1"/>
          </p:cNvSpPr>
          <p:nvPr/>
        </p:nvSpPr>
        <p:spPr bwMode="auto">
          <a:xfrm>
            <a:off x="827584" y="685800"/>
            <a:ext cx="71734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r>
              <a:rPr kumimoji="1" lang="en-US" altLang="zh-CN" sz="2400" b="1" i="0">
                <a:latin typeface="宋体" panose="02010600030101010101" pitchFamily="2" charset="-122"/>
              </a:rPr>
              <a:t>   </a:t>
            </a:r>
            <a:r>
              <a:rPr kumimoji="1" lang="en-US" altLang="zh-CN" sz="2800" b="1" i="0">
                <a:solidFill>
                  <a:srgbClr val="990000"/>
                </a:solidFill>
                <a:latin typeface="宋体" panose="02010600030101010101" pitchFamily="2" charset="-122"/>
                <a:cs typeface="Times New Roman" panose="02020603050405020304" pitchFamily="18" charset="0"/>
              </a:rPr>
              <a:t>  </a:t>
            </a:r>
            <a:r>
              <a:rPr kumimoji="1" lang="zh-CN" altLang="en-US" sz="2800" b="1" i="0" dirty="0">
                <a:solidFill>
                  <a:srgbClr val="990000"/>
                </a:solidFill>
                <a:latin typeface="宋体" panose="02010600030101010101" pitchFamily="2" charset="-122"/>
                <a:cs typeface="Times New Roman" panose="02020603050405020304" pitchFamily="18" charset="0"/>
              </a:rPr>
              <a:t>常用中规模信号产生与变换电路</a:t>
            </a:r>
            <a:endParaRPr kumimoji="1" lang="zh-CN" altLang="en-US" sz="2800" b="1" i="0" dirty="0">
              <a:solidFill>
                <a:srgbClr val="990000"/>
              </a:solidFill>
              <a:latin typeface="宋体" panose="02010600030101010101" pitchFamily="2" charset="-122"/>
            </a:endParaRPr>
          </a:p>
        </p:txBody>
      </p:sp>
      <p:sp>
        <p:nvSpPr>
          <p:cNvPr id="258057" name="Text Box 9"/>
          <p:cNvSpPr txBox="1">
            <a:spLocks noChangeArrowheads="1"/>
          </p:cNvSpPr>
          <p:nvPr/>
        </p:nvSpPr>
        <p:spPr bwMode="auto">
          <a:xfrm>
            <a:off x="609600" y="1295400"/>
            <a:ext cx="8077200"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400" b="1" i="0">
                <a:solidFill>
                  <a:srgbClr val="0000CC"/>
                </a:solidFill>
                <a:latin typeface="宋体" panose="02010600030101010101" pitchFamily="2" charset="-122"/>
                <a:cs typeface="Times New Roman" panose="02020603050405020304" pitchFamily="18" charset="0"/>
              </a:rPr>
              <a:t>　　</a:t>
            </a:r>
            <a:r>
              <a:rPr kumimoji="1" lang="zh-CN" altLang="en-US" sz="2400" b="1" i="0">
                <a:solidFill>
                  <a:srgbClr val="000099"/>
                </a:solidFill>
                <a:latin typeface="宋体" panose="02010600030101010101" pitchFamily="2" charset="-122"/>
                <a:cs typeface="Times New Roman" panose="02020603050405020304" pitchFamily="18" charset="0"/>
              </a:rPr>
              <a:t>信号产生与变换电路常用于产生各种宽度、幅值的脉冲信号，对信号进行变换、整形以及完成模拟信号与数字信号之间的转换等。</a:t>
            </a:r>
            <a:endParaRPr kumimoji="1" lang="zh-CN" altLang="en-US" sz="2400" b="1" i="0">
              <a:solidFill>
                <a:srgbClr val="000099"/>
              </a:solidFill>
              <a:latin typeface="宋体" panose="02010600030101010101" pitchFamily="2" charset="-122"/>
              <a:cs typeface="Times New Roman" panose="02020603050405020304" pitchFamily="18" charset="0"/>
            </a:endParaRPr>
          </a:p>
          <a:p>
            <a:pPr algn="just" eaLnBrk="1" hangingPunct="1">
              <a:spcBef>
                <a:spcPct val="50000"/>
              </a:spcBef>
            </a:pPr>
            <a:r>
              <a:rPr kumimoji="1" lang="zh-CN" altLang="en-US" sz="2400" b="1" i="0">
                <a:latin typeface="宋体" panose="02010600030101010101" pitchFamily="2" charset="-122"/>
                <a:cs typeface="Times New Roman" panose="02020603050405020304" pitchFamily="18" charset="0"/>
              </a:rPr>
              <a:t>　　最常用的</a:t>
            </a:r>
            <a:r>
              <a:rPr kumimoji="1" lang="zh-CN" altLang="en-US" sz="2400" b="1" i="0">
                <a:latin typeface="宋体" panose="02010600030101010101" pitchFamily="2" charset="-122"/>
              </a:rPr>
              <a:t>有</a:t>
            </a:r>
            <a:r>
              <a:rPr kumimoji="1" lang="en-US" altLang="zh-CN" sz="2400" b="1" i="0">
                <a:latin typeface="宋体" panose="02010600030101010101" pitchFamily="2" charset="-122"/>
              </a:rPr>
              <a:t>555</a:t>
            </a:r>
            <a:r>
              <a:rPr kumimoji="1" lang="zh-CN" altLang="en-US" sz="2400" b="1" i="0">
                <a:latin typeface="宋体" panose="02010600030101010101" pitchFamily="2" charset="-122"/>
              </a:rPr>
              <a:t>、</a:t>
            </a:r>
            <a:r>
              <a:rPr kumimoji="1" lang="en-US" altLang="zh-CN" sz="2400" b="1" i="0">
                <a:latin typeface="宋体" panose="02010600030101010101" pitchFamily="2" charset="-122"/>
              </a:rPr>
              <a:t>A\D</a:t>
            </a:r>
            <a:r>
              <a:rPr kumimoji="1" lang="zh-CN" altLang="en-US" sz="2400" b="1" i="0">
                <a:latin typeface="宋体" panose="02010600030101010101" pitchFamily="2" charset="-122"/>
              </a:rPr>
              <a:t>、</a:t>
            </a:r>
            <a:r>
              <a:rPr kumimoji="1" lang="en-US" altLang="zh-CN" sz="2400" b="1" i="0">
                <a:latin typeface="宋体" panose="02010600030101010101" pitchFamily="2" charset="-122"/>
              </a:rPr>
              <a:t>D\A</a:t>
            </a:r>
            <a:r>
              <a:rPr kumimoji="1" lang="zh-CN" altLang="en-US" sz="2400" b="1" i="0">
                <a:latin typeface="宋体" panose="02010600030101010101" pitchFamily="2" charset="-122"/>
              </a:rPr>
              <a:t>等中规模集成电路。</a:t>
            </a:r>
            <a:endParaRPr kumimoji="1" lang="zh-CN" altLang="en-US" sz="2400" b="1" i="0">
              <a:solidFill>
                <a:schemeClr val="tx2"/>
              </a:solidFill>
              <a:latin typeface="宋体" panose="02010600030101010101" pitchFamily="2" charset="-122"/>
            </a:endParaRPr>
          </a:p>
        </p:txBody>
      </p:sp>
      <p:cxnSp>
        <p:nvCxnSpPr>
          <p:cNvPr id="7" name="直接连接符 6"/>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1"/>
          <a:stretch>
            <a:fillRect/>
          </a:stretch>
        </p:blipFill>
        <p:spPr>
          <a:xfrm>
            <a:off x="0" y="0"/>
            <a:ext cx="1435167" cy="615323"/>
          </a:xfrm>
          <a:prstGeom prst="rect">
            <a:avLst/>
          </a:prstGeom>
        </p:spPr>
      </p:pic>
      <p:sp>
        <p:nvSpPr>
          <p:cNvPr id="9"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0000FF"/>
                </a:solidFill>
                <a:latin typeface="Times New Roman" panose="02020603050405020304" pitchFamily="18" charset="0"/>
                <a:ea typeface="黑体" panose="02010609060101010101" pitchFamily="49" charset="-122"/>
              </a:rPr>
              <a:t>555</a:t>
            </a:r>
            <a:r>
              <a:rPr lang="zh-CN" altLang="en-US" sz="3200" b="1">
                <a:solidFill>
                  <a:srgbClr val="0000FF"/>
                </a:solidFill>
                <a:latin typeface="Times New Roman" panose="02020603050405020304" pitchFamily="18" charset="0"/>
                <a:ea typeface="黑体" panose="02010609060101010101" pitchFamily="49" charset="-122"/>
              </a:rPr>
              <a:t>定时器</a:t>
            </a:r>
            <a:endParaRPr lang="zh-CN" altLang="en-US" sz="3200" b="1">
              <a:solidFill>
                <a:srgbClr val="0000FF"/>
              </a:solidFill>
              <a:latin typeface="Tahoma" panose="020B0604030504040204" pitchFamily="34"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258056"/>
                                        </p:tgtEl>
                                        <p:attrNameLst>
                                          <p:attrName>style.visibility</p:attrName>
                                        </p:attrNameLst>
                                      </p:cBhvr>
                                      <p:to>
                                        <p:strVal val="visible"/>
                                      </p:to>
                                    </p:set>
                                    <p:anim calcmode="lin" valueType="num">
                                      <p:cBhvr additive="base">
                                        <p:cTn id="7" dur="500" fill="hold"/>
                                        <p:tgtEl>
                                          <p:spTgt spid="258056"/>
                                        </p:tgtEl>
                                        <p:attrNameLst>
                                          <p:attrName>ppt_x</p:attrName>
                                        </p:attrNameLst>
                                      </p:cBhvr>
                                      <p:tavLst>
                                        <p:tav tm="0">
                                          <p:val>
                                            <p:strVal val="0-#ppt_w/2"/>
                                          </p:val>
                                        </p:tav>
                                        <p:tav tm="100000">
                                          <p:val>
                                            <p:strVal val="#ppt_x"/>
                                          </p:val>
                                        </p:tav>
                                      </p:tavLst>
                                    </p:anim>
                                    <p:anim calcmode="lin" valueType="num">
                                      <p:cBhvr additive="base">
                                        <p:cTn id="8" dur="500" fill="hold"/>
                                        <p:tgtEl>
                                          <p:spTgt spid="25805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258057"/>
                                        </p:tgtEl>
                                        <p:attrNameLst>
                                          <p:attrName>style.visibility</p:attrName>
                                        </p:attrNameLst>
                                      </p:cBhvr>
                                      <p:to>
                                        <p:strVal val="visible"/>
                                      </p:to>
                                    </p:set>
                                    <p:anim calcmode="lin" valueType="num">
                                      <p:cBhvr additive="base">
                                        <p:cTn id="13" dur="500" fill="hold"/>
                                        <p:tgtEl>
                                          <p:spTgt spid="258057"/>
                                        </p:tgtEl>
                                        <p:attrNameLst>
                                          <p:attrName>ppt_x</p:attrName>
                                        </p:attrNameLst>
                                      </p:cBhvr>
                                      <p:tavLst>
                                        <p:tav tm="0">
                                          <p:val>
                                            <p:strVal val="0-#ppt_w/2"/>
                                          </p:val>
                                        </p:tav>
                                        <p:tav tm="100000">
                                          <p:val>
                                            <p:strVal val="#ppt_x"/>
                                          </p:val>
                                        </p:tav>
                                      </p:tavLst>
                                    </p:anim>
                                    <p:anim calcmode="lin" valueType="num">
                                      <p:cBhvr additive="base">
                                        <p:cTn id="14" dur="500" fill="hold"/>
                                        <p:tgtEl>
                                          <p:spTgt spid="2580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258051"/>
                                        </p:tgtEl>
                                        <p:attrNameLst>
                                          <p:attrName>style.visibility</p:attrName>
                                        </p:attrNameLst>
                                      </p:cBhvr>
                                      <p:to>
                                        <p:strVal val="visible"/>
                                      </p:to>
                                    </p:set>
                                    <p:anim calcmode="lin" valueType="num">
                                      <p:cBhvr additive="base">
                                        <p:cTn id="19" dur="500" fill="hold"/>
                                        <p:tgtEl>
                                          <p:spTgt spid="258051"/>
                                        </p:tgtEl>
                                        <p:attrNameLst>
                                          <p:attrName>ppt_x</p:attrName>
                                        </p:attrNameLst>
                                      </p:cBhvr>
                                      <p:tavLst>
                                        <p:tav tm="0">
                                          <p:val>
                                            <p:strVal val="0-#ppt_w/2"/>
                                          </p:val>
                                        </p:tav>
                                        <p:tav tm="100000">
                                          <p:val>
                                            <p:strVal val="#ppt_x"/>
                                          </p:val>
                                        </p:tav>
                                      </p:tavLst>
                                    </p:anim>
                                    <p:anim calcmode="lin" valueType="num">
                                      <p:cBhvr additive="base">
                                        <p:cTn id="20" dur="500" fill="hold"/>
                                        <p:tgtEl>
                                          <p:spTgt spid="25805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grpId="0" nodeType="clickEffect">
                                  <p:stCondLst>
                                    <p:cond delay="0"/>
                                  </p:stCondLst>
                                  <p:childTnLst>
                                    <p:set>
                                      <p:cBhvr>
                                        <p:cTn id="24" dur="1" fill="hold">
                                          <p:stCondLst>
                                            <p:cond delay="0"/>
                                          </p:stCondLst>
                                        </p:cTn>
                                        <p:tgtEl>
                                          <p:spTgt spid="258052"/>
                                        </p:tgtEl>
                                        <p:attrNameLst>
                                          <p:attrName>style.visibility</p:attrName>
                                        </p:attrNameLst>
                                      </p:cBhvr>
                                      <p:to>
                                        <p:strVal val="visible"/>
                                      </p:to>
                                    </p:set>
                                    <p:anim calcmode="lin" valueType="num">
                                      <p:cBhvr additive="base">
                                        <p:cTn id="25" dur="500" fill="hold"/>
                                        <p:tgtEl>
                                          <p:spTgt spid="258052"/>
                                        </p:tgtEl>
                                        <p:attrNameLst>
                                          <p:attrName>ppt_x</p:attrName>
                                        </p:attrNameLst>
                                      </p:cBhvr>
                                      <p:tavLst>
                                        <p:tav tm="0">
                                          <p:val>
                                            <p:strVal val="0-#ppt_w/2"/>
                                          </p:val>
                                        </p:tav>
                                        <p:tav tm="100000">
                                          <p:val>
                                            <p:strVal val="#ppt_x"/>
                                          </p:val>
                                        </p:tav>
                                      </p:tavLst>
                                    </p:anim>
                                    <p:anim calcmode="lin" valueType="num">
                                      <p:cBhvr additive="base">
                                        <p:cTn id="26" dur="500" fill="hold"/>
                                        <p:tgtEl>
                                          <p:spTgt spid="258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autoUpdateAnimBg="0"/>
      <p:bldP spid="258052" grpId="0" autoUpdateAnimBg="0"/>
      <p:bldP spid="258056" grpId="0" autoUpdateAnimBg="0"/>
      <p:bldP spid="258057"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a:t>
            </a:r>
            <a:endParaRPr lang="zh-CN" altLang="en-US" sz="3200" b="1" dirty="0">
              <a:solidFill>
                <a:srgbClr val="0000FF"/>
              </a:solidFill>
              <a:latin typeface="Tahoma" panose="020B0604030504040204" pitchFamily="34" charset="0"/>
              <a:ea typeface="华文新魏" panose="02010800040101010101" pitchFamily="2" charset="-122"/>
            </a:endParaRPr>
          </a:p>
        </p:txBody>
      </p:sp>
      <p:grpSp>
        <p:nvGrpSpPr>
          <p:cNvPr id="7" name="Group 14"/>
          <p:cNvGrpSpPr/>
          <p:nvPr/>
        </p:nvGrpSpPr>
        <p:grpSpPr bwMode="auto">
          <a:xfrm>
            <a:off x="1605857" y="1089797"/>
            <a:ext cx="6811333" cy="4654856"/>
            <a:chOff x="1339" y="1361"/>
            <a:chExt cx="3468" cy="2386"/>
          </a:xfrm>
        </p:grpSpPr>
        <p:graphicFrame>
          <p:nvGraphicFramePr>
            <p:cNvPr id="8" name="Object 15"/>
            <p:cNvGraphicFramePr>
              <a:graphicFrameLocks noChangeAspect="1"/>
            </p:cNvGraphicFramePr>
            <p:nvPr/>
          </p:nvGraphicFramePr>
          <p:xfrm>
            <a:off x="1673" y="1579"/>
            <a:ext cx="2867" cy="2115"/>
          </p:xfrm>
          <a:graphic>
            <a:graphicData uri="http://schemas.openxmlformats.org/presentationml/2006/ole">
              <mc:AlternateContent xmlns:mc="http://schemas.openxmlformats.org/markup-compatibility/2006">
                <mc:Choice xmlns:v="urn:schemas-microsoft-com:vml" Requires="v">
                  <p:oleObj spid="_x0000_s13316" name="图片" r:id="rId2" imgW="3456305" imgH="3031490" progId="Word.Picture.8">
                    <p:embed/>
                  </p:oleObj>
                </mc:Choice>
                <mc:Fallback>
                  <p:oleObj name="图片" r:id="rId2" imgW="3456305" imgH="3031490" progId="Word.Picture.8">
                    <p:embed/>
                    <p:pic>
                      <p:nvPicPr>
                        <p:cNvPr id="0" name="图片 133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3" y="1579"/>
                          <a:ext cx="2867" cy="2115"/>
                        </a:xfrm>
                        <a:prstGeom prst="rect">
                          <a:avLst/>
                        </a:prstGeom>
                        <a:noFill/>
                        <a:extLst>
                          <a:ext uri="{909E8E84-426E-40DD-AFC4-6F175D3DCCD1}">
                            <a14:hiddenFill xmlns:a14="http://schemas.microsoft.com/office/drawing/2010/main">
                              <a:solidFill>
                                <a:srgbClr val="FFFFFF">
                                  <a:alpha val="50000"/>
                                </a:srgbClr>
                              </a:solidFill>
                            </a14:hiddenFill>
                          </a:ext>
                        </a:extLst>
                      </p:spPr>
                    </p:pic>
                  </p:oleObj>
                </mc:Fallback>
              </mc:AlternateContent>
            </a:graphicData>
          </a:graphic>
        </p:graphicFrame>
        <p:sp>
          <p:nvSpPr>
            <p:cNvPr id="10" name="Text Box 16"/>
            <p:cNvSpPr txBox="1">
              <a:spLocks noChangeArrowheads="1"/>
            </p:cNvSpPr>
            <p:nvPr/>
          </p:nvSpPr>
          <p:spPr bwMode="auto">
            <a:xfrm>
              <a:off x="2307" y="3150"/>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200">
                  <a:solidFill>
                    <a:srgbClr val="000066"/>
                  </a:solidFill>
                </a:rPr>
                <a:t>T</a:t>
              </a:r>
              <a:endParaRPr lang="en-US" altLang="zh-CN" sz="4000">
                <a:solidFill>
                  <a:srgbClr val="000066"/>
                </a:solidFill>
              </a:endParaRPr>
            </a:p>
          </p:txBody>
        </p:sp>
        <p:sp>
          <p:nvSpPr>
            <p:cNvPr id="11" name="Rectangle 17"/>
            <p:cNvSpPr>
              <a:spLocks noChangeArrowheads="1"/>
            </p:cNvSpPr>
            <p:nvPr/>
          </p:nvSpPr>
          <p:spPr bwMode="auto">
            <a:xfrm>
              <a:off x="4562" y="2475"/>
              <a:ext cx="245" cy="268"/>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err="1">
                  <a:solidFill>
                    <a:srgbClr val="000066"/>
                  </a:solidFill>
                </a:rPr>
                <a:t>v</a:t>
              </a:r>
              <a:r>
                <a:rPr lang="en-US" altLang="zh-CN" sz="2800" b="1" baseline="-25000" dirty="0" err="1">
                  <a:solidFill>
                    <a:srgbClr val="000066"/>
                  </a:solidFill>
                </a:rPr>
                <a:t>o</a:t>
              </a:r>
              <a:endParaRPr lang="en-US" altLang="zh-CN" sz="2800" b="1" baseline="-25000" dirty="0">
                <a:solidFill>
                  <a:srgbClr val="000066"/>
                </a:solidFill>
              </a:endParaRPr>
            </a:p>
          </p:txBody>
        </p:sp>
        <p:sp>
          <p:nvSpPr>
            <p:cNvPr id="12" name="Rectangle 18"/>
            <p:cNvSpPr>
              <a:spLocks noChangeArrowheads="1"/>
            </p:cNvSpPr>
            <p:nvPr/>
          </p:nvSpPr>
          <p:spPr bwMode="auto">
            <a:xfrm>
              <a:off x="1369" y="1773"/>
              <a:ext cx="251" cy="237"/>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i="1" dirty="0" err="1">
                  <a:solidFill>
                    <a:srgbClr val="000066"/>
                  </a:solidFill>
                </a:rPr>
                <a:t>v</a:t>
              </a:r>
              <a:r>
                <a:rPr lang="en-US" altLang="zh-CN" sz="2400" b="1" baseline="-25000" dirty="0" err="1">
                  <a:solidFill>
                    <a:srgbClr val="000066"/>
                  </a:solidFill>
                </a:rPr>
                <a:t>IC</a:t>
              </a:r>
              <a:endParaRPr lang="en-US" altLang="zh-CN" sz="2400" b="1" baseline="-25000" dirty="0">
                <a:solidFill>
                  <a:srgbClr val="000066"/>
                </a:solidFill>
              </a:endParaRPr>
            </a:p>
          </p:txBody>
        </p:sp>
        <p:sp>
          <p:nvSpPr>
            <p:cNvPr id="13" name="Rectangle 19"/>
            <p:cNvSpPr>
              <a:spLocks noChangeArrowheads="1"/>
            </p:cNvSpPr>
            <p:nvPr/>
          </p:nvSpPr>
          <p:spPr bwMode="auto">
            <a:xfrm>
              <a:off x="1339" y="1955"/>
              <a:ext cx="300" cy="268"/>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FF0000"/>
                  </a:solidFill>
                </a:rPr>
                <a:t>TH</a:t>
              </a:r>
              <a:endParaRPr lang="en-US" altLang="zh-CN" sz="2800" b="1" i="1" dirty="0">
                <a:solidFill>
                  <a:srgbClr val="FF0000"/>
                </a:solidFill>
              </a:endParaRPr>
            </a:p>
          </p:txBody>
        </p:sp>
        <p:sp>
          <p:nvSpPr>
            <p:cNvPr id="14" name="Rectangle 20"/>
            <p:cNvSpPr>
              <a:spLocks noChangeArrowheads="1"/>
            </p:cNvSpPr>
            <p:nvPr/>
          </p:nvSpPr>
          <p:spPr bwMode="auto">
            <a:xfrm>
              <a:off x="1362" y="2663"/>
              <a:ext cx="287" cy="268"/>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FF0000"/>
                  </a:solidFill>
                </a:rPr>
                <a:t>TR</a:t>
              </a:r>
              <a:endParaRPr lang="en-US" altLang="zh-CN" sz="2800" b="1" baseline="-25000" dirty="0">
                <a:solidFill>
                  <a:srgbClr val="FF0000"/>
                </a:solidFill>
              </a:endParaRPr>
            </a:p>
          </p:txBody>
        </p:sp>
        <p:sp>
          <p:nvSpPr>
            <p:cNvPr id="15" name="Rectangle 21"/>
            <p:cNvSpPr>
              <a:spLocks noChangeArrowheads="1"/>
            </p:cNvSpPr>
            <p:nvPr/>
          </p:nvSpPr>
          <p:spPr bwMode="auto">
            <a:xfrm>
              <a:off x="1351" y="3072"/>
              <a:ext cx="343" cy="268"/>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FF0000"/>
                  </a:solidFill>
                </a:rPr>
                <a:t>DIS</a:t>
              </a:r>
              <a:endParaRPr lang="en-US" altLang="zh-CN" sz="2800" b="1" i="1" dirty="0">
                <a:solidFill>
                  <a:srgbClr val="FF0000"/>
                </a:solidFill>
              </a:endParaRPr>
            </a:p>
          </p:txBody>
        </p:sp>
        <p:sp>
          <p:nvSpPr>
            <p:cNvPr id="17" name="Text Box 22"/>
            <p:cNvSpPr txBox="1">
              <a:spLocks noChangeArrowheads="1"/>
            </p:cNvSpPr>
            <p:nvPr/>
          </p:nvSpPr>
          <p:spPr bwMode="auto">
            <a:xfrm>
              <a:off x="2084" y="2019"/>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000">
                  <a:solidFill>
                    <a:srgbClr val="000066"/>
                  </a:solidFill>
                </a:rPr>
                <a:t>C</a:t>
              </a:r>
              <a:r>
                <a:rPr lang="en-US" altLang="zh-CN" sz="1000" baseline="-25000">
                  <a:solidFill>
                    <a:srgbClr val="000066"/>
                  </a:solidFill>
                </a:rPr>
                <a:t>1</a:t>
              </a:r>
              <a:endParaRPr lang="en-US" altLang="zh-CN" sz="3600" baseline="-25000">
                <a:solidFill>
                  <a:srgbClr val="000066"/>
                </a:solidFill>
              </a:endParaRPr>
            </a:p>
          </p:txBody>
        </p:sp>
        <p:sp>
          <p:nvSpPr>
            <p:cNvPr id="18" name="Text Box 23"/>
            <p:cNvSpPr txBox="1">
              <a:spLocks noChangeArrowheads="1"/>
            </p:cNvSpPr>
            <p:nvPr/>
          </p:nvSpPr>
          <p:spPr bwMode="auto">
            <a:xfrm>
              <a:off x="2121" y="2710"/>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000">
                  <a:solidFill>
                    <a:srgbClr val="000066"/>
                  </a:solidFill>
                </a:rPr>
                <a:t>C</a:t>
              </a:r>
              <a:r>
                <a:rPr lang="en-US" altLang="zh-CN" sz="1000" baseline="-25000">
                  <a:solidFill>
                    <a:srgbClr val="000066"/>
                  </a:solidFill>
                </a:rPr>
                <a:t>2</a:t>
              </a:r>
              <a:endParaRPr lang="en-US" altLang="zh-CN" sz="3600" baseline="-25000">
                <a:solidFill>
                  <a:srgbClr val="000066"/>
                </a:solidFill>
              </a:endParaRPr>
            </a:p>
          </p:txBody>
        </p:sp>
        <p:sp>
          <p:nvSpPr>
            <p:cNvPr id="19" name="Text Box 24"/>
            <p:cNvSpPr txBox="1">
              <a:spLocks noChangeArrowheads="1"/>
            </p:cNvSpPr>
            <p:nvPr/>
          </p:nvSpPr>
          <p:spPr bwMode="auto">
            <a:xfrm>
              <a:off x="1972" y="1894"/>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600">
                  <a:solidFill>
                    <a:srgbClr val="000066"/>
                  </a:solidFill>
                </a:rPr>
                <a:t>+</a:t>
              </a:r>
              <a:endParaRPr lang="en-US" altLang="zh-CN" sz="4800" baseline="-25000">
                <a:solidFill>
                  <a:srgbClr val="000066"/>
                </a:solidFill>
              </a:endParaRPr>
            </a:p>
          </p:txBody>
        </p:sp>
        <p:sp>
          <p:nvSpPr>
            <p:cNvPr id="20" name="Text Box 25"/>
            <p:cNvSpPr txBox="1">
              <a:spLocks noChangeArrowheads="1"/>
            </p:cNvSpPr>
            <p:nvPr/>
          </p:nvSpPr>
          <p:spPr bwMode="auto">
            <a:xfrm>
              <a:off x="1972" y="2051"/>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600">
                  <a:solidFill>
                    <a:srgbClr val="000066"/>
                  </a:solidFill>
                </a:rPr>
                <a:t>-</a:t>
              </a:r>
              <a:endParaRPr lang="en-US" altLang="zh-CN" sz="4800" baseline="-25000">
                <a:solidFill>
                  <a:srgbClr val="000066"/>
                </a:solidFill>
              </a:endParaRPr>
            </a:p>
          </p:txBody>
        </p:sp>
        <p:sp>
          <p:nvSpPr>
            <p:cNvPr id="21" name="Text Box 26"/>
            <p:cNvSpPr txBox="1">
              <a:spLocks noChangeArrowheads="1"/>
            </p:cNvSpPr>
            <p:nvPr/>
          </p:nvSpPr>
          <p:spPr bwMode="auto">
            <a:xfrm>
              <a:off x="1972" y="2585"/>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600">
                  <a:solidFill>
                    <a:srgbClr val="000066"/>
                  </a:solidFill>
                </a:rPr>
                <a:t>-</a:t>
              </a:r>
              <a:endParaRPr lang="en-US" altLang="zh-CN" sz="4800" baseline="-25000">
                <a:solidFill>
                  <a:srgbClr val="000066"/>
                </a:solidFill>
              </a:endParaRPr>
            </a:p>
          </p:txBody>
        </p:sp>
        <p:sp>
          <p:nvSpPr>
            <p:cNvPr id="22" name="Text Box 27"/>
            <p:cNvSpPr txBox="1">
              <a:spLocks noChangeArrowheads="1"/>
            </p:cNvSpPr>
            <p:nvPr/>
          </p:nvSpPr>
          <p:spPr bwMode="auto">
            <a:xfrm>
              <a:off x="1972" y="2742"/>
              <a:ext cx="309" cy="158"/>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600">
                  <a:solidFill>
                    <a:srgbClr val="000066"/>
                  </a:solidFill>
                </a:rPr>
                <a:t>+</a:t>
              </a:r>
              <a:endParaRPr lang="en-US" altLang="zh-CN" sz="4800" baseline="-25000">
                <a:solidFill>
                  <a:srgbClr val="000066"/>
                </a:solidFill>
              </a:endParaRPr>
            </a:p>
          </p:txBody>
        </p:sp>
        <p:sp>
          <p:nvSpPr>
            <p:cNvPr id="23" name="Text Box 28"/>
            <p:cNvSpPr txBox="1">
              <a:spLocks noChangeArrowheads="1"/>
            </p:cNvSpPr>
            <p:nvPr/>
          </p:nvSpPr>
          <p:spPr bwMode="auto">
            <a:xfrm>
              <a:off x="1636" y="3590"/>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b="1" dirty="0">
                  <a:solidFill>
                    <a:srgbClr val="000066"/>
                  </a:solidFill>
                </a:rPr>
                <a:t>(1)</a:t>
              </a:r>
              <a:endParaRPr lang="en-US" altLang="zh-CN" sz="5400" b="1" dirty="0">
                <a:solidFill>
                  <a:srgbClr val="000066"/>
                </a:solidFill>
              </a:endParaRPr>
            </a:p>
          </p:txBody>
        </p:sp>
        <p:sp>
          <p:nvSpPr>
            <p:cNvPr id="24" name="Text Box 29"/>
            <p:cNvSpPr txBox="1">
              <a:spLocks noChangeArrowheads="1"/>
            </p:cNvSpPr>
            <p:nvPr/>
          </p:nvSpPr>
          <p:spPr bwMode="auto">
            <a:xfrm>
              <a:off x="1524" y="2679"/>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b="1" dirty="0">
                  <a:solidFill>
                    <a:srgbClr val="000066"/>
                  </a:solidFill>
                </a:rPr>
                <a:t>(2)</a:t>
              </a:r>
              <a:endParaRPr lang="en-US" altLang="zh-CN" sz="5400" b="1" dirty="0">
                <a:solidFill>
                  <a:srgbClr val="000066"/>
                </a:solidFill>
              </a:endParaRPr>
            </a:p>
          </p:txBody>
        </p:sp>
        <p:sp>
          <p:nvSpPr>
            <p:cNvPr id="25" name="Text Box 30"/>
            <p:cNvSpPr txBox="1">
              <a:spLocks noChangeArrowheads="1"/>
            </p:cNvSpPr>
            <p:nvPr/>
          </p:nvSpPr>
          <p:spPr bwMode="auto">
            <a:xfrm>
              <a:off x="4330" y="2486"/>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b="1" dirty="0">
                  <a:solidFill>
                    <a:srgbClr val="000066"/>
                  </a:solidFill>
                </a:rPr>
                <a:t>(3)</a:t>
              </a:r>
              <a:endParaRPr lang="en-US" altLang="zh-CN" sz="5400" b="1" dirty="0">
                <a:solidFill>
                  <a:srgbClr val="000066"/>
                </a:solidFill>
              </a:endParaRPr>
            </a:p>
          </p:txBody>
        </p:sp>
        <p:sp>
          <p:nvSpPr>
            <p:cNvPr id="26" name="Text Box 31"/>
            <p:cNvSpPr txBox="1">
              <a:spLocks noChangeArrowheads="1"/>
            </p:cNvSpPr>
            <p:nvPr/>
          </p:nvSpPr>
          <p:spPr bwMode="auto">
            <a:xfrm>
              <a:off x="2648" y="1499"/>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b="1" dirty="0">
                  <a:solidFill>
                    <a:srgbClr val="000066"/>
                  </a:solidFill>
                </a:rPr>
                <a:t>(4)</a:t>
              </a:r>
              <a:endParaRPr lang="en-US" altLang="zh-CN" sz="5400" b="1" dirty="0">
                <a:solidFill>
                  <a:srgbClr val="000066"/>
                </a:solidFill>
              </a:endParaRPr>
            </a:p>
          </p:txBody>
        </p:sp>
        <p:sp>
          <p:nvSpPr>
            <p:cNvPr id="27" name="Text Box 32"/>
            <p:cNvSpPr txBox="1">
              <a:spLocks noChangeArrowheads="1"/>
            </p:cNvSpPr>
            <p:nvPr/>
          </p:nvSpPr>
          <p:spPr bwMode="auto">
            <a:xfrm>
              <a:off x="1550" y="1825"/>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b="1">
                  <a:solidFill>
                    <a:srgbClr val="000066"/>
                  </a:solidFill>
                </a:rPr>
                <a:t>(5)</a:t>
              </a:r>
              <a:endParaRPr lang="en-US" altLang="zh-CN" sz="5400" b="1">
                <a:solidFill>
                  <a:srgbClr val="000066"/>
                </a:solidFill>
              </a:endParaRPr>
            </a:p>
          </p:txBody>
        </p:sp>
        <p:sp>
          <p:nvSpPr>
            <p:cNvPr id="28" name="Text Box 33"/>
            <p:cNvSpPr txBox="1">
              <a:spLocks noChangeArrowheads="1"/>
            </p:cNvSpPr>
            <p:nvPr/>
          </p:nvSpPr>
          <p:spPr bwMode="auto">
            <a:xfrm>
              <a:off x="1537" y="2018"/>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b="1" dirty="0">
                  <a:solidFill>
                    <a:srgbClr val="000066"/>
                  </a:solidFill>
                </a:rPr>
                <a:t>(6)</a:t>
              </a:r>
              <a:endParaRPr lang="en-US" altLang="zh-CN" sz="5400" b="1" dirty="0">
                <a:solidFill>
                  <a:srgbClr val="000066"/>
                </a:solidFill>
              </a:endParaRPr>
            </a:p>
          </p:txBody>
        </p:sp>
        <p:sp>
          <p:nvSpPr>
            <p:cNvPr id="29" name="Text Box 34"/>
            <p:cNvSpPr txBox="1">
              <a:spLocks noChangeArrowheads="1"/>
            </p:cNvSpPr>
            <p:nvPr/>
          </p:nvSpPr>
          <p:spPr bwMode="auto">
            <a:xfrm>
              <a:off x="1559" y="3107"/>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b="1" dirty="0">
                  <a:solidFill>
                    <a:srgbClr val="000066"/>
                  </a:solidFill>
                </a:rPr>
                <a:t>(7)</a:t>
              </a:r>
              <a:endParaRPr lang="en-US" altLang="zh-CN" sz="5400" b="1" dirty="0">
                <a:solidFill>
                  <a:srgbClr val="000066"/>
                </a:solidFill>
              </a:endParaRPr>
            </a:p>
          </p:txBody>
        </p:sp>
        <p:sp>
          <p:nvSpPr>
            <p:cNvPr id="30" name="Text Box 35"/>
            <p:cNvSpPr txBox="1">
              <a:spLocks noChangeArrowheads="1"/>
            </p:cNvSpPr>
            <p:nvPr/>
          </p:nvSpPr>
          <p:spPr bwMode="auto">
            <a:xfrm>
              <a:off x="2439" y="1893"/>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2800" b="1" dirty="0">
                  <a:solidFill>
                    <a:srgbClr val="000066"/>
                  </a:solidFill>
                </a:rPr>
                <a:t>R</a:t>
              </a:r>
              <a:endParaRPr lang="en-US" altLang="zh-CN" sz="7200" b="1" dirty="0">
                <a:solidFill>
                  <a:srgbClr val="000066"/>
                </a:solidFill>
              </a:endParaRPr>
            </a:p>
          </p:txBody>
        </p:sp>
        <p:sp>
          <p:nvSpPr>
            <p:cNvPr id="31" name="Text Box 36"/>
            <p:cNvSpPr txBox="1">
              <a:spLocks noChangeArrowheads="1"/>
            </p:cNvSpPr>
            <p:nvPr/>
          </p:nvSpPr>
          <p:spPr bwMode="auto">
            <a:xfrm>
              <a:off x="2451" y="2582"/>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2800" b="1" dirty="0">
                  <a:solidFill>
                    <a:srgbClr val="000066"/>
                  </a:solidFill>
                </a:rPr>
                <a:t>S</a:t>
              </a:r>
              <a:endParaRPr lang="en-US" altLang="zh-CN" sz="7200" b="1" dirty="0">
                <a:solidFill>
                  <a:srgbClr val="000066"/>
                </a:solidFill>
              </a:endParaRPr>
            </a:p>
          </p:txBody>
        </p:sp>
        <p:sp>
          <p:nvSpPr>
            <p:cNvPr id="32" name="Text Box 37"/>
            <p:cNvSpPr txBox="1">
              <a:spLocks noChangeArrowheads="1"/>
            </p:cNvSpPr>
            <p:nvPr/>
          </p:nvSpPr>
          <p:spPr bwMode="auto">
            <a:xfrm>
              <a:off x="2942" y="1925"/>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200">
                  <a:solidFill>
                    <a:srgbClr val="000066"/>
                  </a:solidFill>
                </a:rPr>
                <a:t>&amp;</a:t>
              </a:r>
              <a:endParaRPr lang="en-US" altLang="zh-CN" sz="4000">
                <a:solidFill>
                  <a:srgbClr val="000066"/>
                </a:solidFill>
              </a:endParaRPr>
            </a:p>
          </p:txBody>
        </p:sp>
        <p:sp>
          <p:nvSpPr>
            <p:cNvPr id="33" name="Rectangle 38"/>
            <p:cNvSpPr>
              <a:spLocks noChangeArrowheads="1"/>
            </p:cNvSpPr>
            <p:nvPr/>
          </p:nvSpPr>
          <p:spPr bwMode="auto">
            <a:xfrm>
              <a:off x="1935" y="1732"/>
              <a:ext cx="304" cy="156"/>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400">
                  <a:solidFill>
                    <a:srgbClr val="000066"/>
                  </a:solidFill>
                </a:rPr>
                <a:t>5 k</a:t>
              </a:r>
              <a:r>
                <a:rPr lang="en-US" altLang="zh-CN" sz="1400">
                  <a:solidFill>
                    <a:srgbClr val="000066"/>
                  </a:solidFill>
                  <a:sym typeface="Symbol" panose="05050102010706020507" pitchFamily="18" charset="2"/>
                </a:rPr>
                <a:t></a:t>
              </a:r>
              <a:r>
                <a:rPr lang="en-US" altLang="zh-CN" sz="1400">
                  <a:solidFill>
                    <a:srgbClr val="000066"/>
                  </a:solidFill>
                </a:rPr>
                <a:t> </a:t>
              </a:r>
              <a:endParaRPr lang="en-US" altLang="zh-CN" sz="1400">
                <a:solidFill>
                  <a:srgbClr val="000066"/>
                </a:solidFill>
              </a:endParaRPr>
            </a:p>
          </p:txBody>
        </p:sp>
        <p:sp>
          <p:nvSpPr>
            <p:cNvPr id="34" name="Rectangle 39"/>
            <p:cNvSpPr>
              <a:spLocks noChangeArrowheads="1"/>
            </p:cNvSpPr>
            <p:nvPr/>
          </p:nvSpPr>
          <p:spPr bwMode="auto">
            <a:xfrm>
              <a:off x="1935" y="2298"/>
              <a:ext cx="304" cy="156"/>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400">
                  <a:solidFill>
                    <a:srgbClr val="000066"/>
                  </a:solidFill>
                </a:rPr>
                <a:t>5 k</a:t>
              </a:r>
              <a:r>
                <a:rPr lang="en-US" altLang="zh-CN" sz="1400">
                  <a:solidFill>
                    <a:srgbClr val="000066"/>
                  </a:solidFill>
                  <a:sym typeface="Symbol" panose="05050102010706020507" pitchFamily="18" charset="2"/>
                </a:rPr>
                <a:t></a:t>
              </a:r>
              <a:r>
                <a:rPr lang="en-US" altLang="zh-CN" sz="1400">
                  <a:solidFill>
                    <a:srgbClr val="000066"/>
                  </a:solidFill>
                </a:rPr>
                <a:t> </a:t>
              </a:r>
              <a:endParaRPr lang="en-US" altLang="zh-CN" sz="1400">
                <a:solidFill>
                  <a:srgbClr val="000066"/>
                </a:solidFill>
              </a:endParaRPr>
            </a:p>
          </p:txBody>
        </p:sp>
        <p:sp>
          <p:nvSpPr>
            <p:cNvPr id="35" name="Rectangle 40"/>
            <p:cNvSpPr>
              <a:spLocks noChangeArrowheads="1"/>
            </p:cNvSpPr>
            <p:nvPr/>
          </p:nvSpPr>
          <p:spPr bwMode="auto">
            <a:xfrm>
              <a:off x="1935" y="2989"/>
              <a:ext cx="304" cy="156"/>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400">
                  <a:solidFill>
                    <a:srgbClr val="000066"/>
                  </a:solidFill>
                </a:rPr>
                <a:t>5 k</a:t>
              </a:r>
              <a:r>
                <a:rPr lang="en-US" altLang="zh-CN" sz="1400">
                  <a:solidFill>
                    <a:srgbClr val="000066"/>
                  </a:solidFill>
                  <a:sym typeface="Symbol" panose="05050102010706020507" pitchFamily="18" charset="2"/>
                </a:rPr>
                <a:t></a:t>
              </a:r>
              <a:r>
                <a:rPr lang="en-US" altLang="zh-CN" sz="1400">
                  <a:solidFill>
                    <a:srgbClr val="000066"/>
                  </a:solidFill>
                </a:rPr>
                <a:t> </a:t>
              </a:r>
              <a:endParaRPr lang="en-US" altLang="zh-CN" sz="1400">
                <a:solidFill>
                  <a:srgbClr val="000066"/>
                </a:solidFill>
              </a:endParaRPr>
            </a:p>
          </p:txBody>
        </p:sp>
        <p:sp>
          <p:nvSpPr>
            <p:cNvPr id="36" name="Text Box 41"/>
            <p:cNvSpPr txBox="1">
              <a:spLocks noChangeArrowheads="1"/>
            </p:cNvSpPr>
            <p:nvPr/>
          </p:nvSpPr>
          <p:spPr bwMode="auto">
            <a:xfrm>
              <a:off x="2942" y="2522"/>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200">
                  <a:solidFill>
                    <a:srgbClr val="000066"/>
                  </a:solidFill>
                </a:rPr>
                <a:t>&amp;</a:t>
              </a:r>
              <a:endParaRPr lang="en-US" altLang="zh-CN" sz="4000">
                <a:solidFill>
                  <a:srgbClr val="000066"/>
                </a:solidFill>
              </a:endParaRPr>
            </a:p>
          </p:txBody>
        </p:sp>
        <p:sp>
          <p:nvSpPr>
            <p:cNvPr id="37" name="Text Box 42"/>
            <p:cNvSpPr txBox="1">
              <a:spLocks noChangeArrowheads="1"/>
            </p:cNvSpPr>
            <p:nvPr/>
          </p:nvSpPr>
          <p:spPr bwMode="auto">
            <a:xfrm>
              <a:off x="3539" y="2491"/>
              <a:ext cx="310"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200">
                  <a:solidFill>
                    <a:srgbClr val="000066"/>
                  </a:solidFill>
                </a:rPr>
                <a:t>&amp;</a:t>
              </a:r>
              <a:endParaRPr lang="en-US" altLang="zh-CN" sz="4000">
                <a:solidFill>
                  <a:srgbClr val="000066"/>
                </a:solidFill>
              </a:endParaRPr>
            </a:p>
          </p:txBody>
        </p:sp>
        <p:sp>
          <p:nvSpPr>
            <p:cNvPr id="38" name="Text Box 43"/>
            <p:cNvSpPr txBox="1">
              <a:spLocks noChangeArrowheads="1"/>
            </p:cNvSpPr>
            <p:nvPr/>
          </p:nvSpPr>
          <p:spPr bwMode="auto">
            <a:xfrm>
              <a:off x="3987" y="2491"/>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200">
                  <a:solidFill>
                    <a:srgbClr val="000066"/>
                  </a:solidFill>
                </a:rPr>
                <a:t>1</a:t>
              </a:r>
              <a:endParaRPr lang="en-US" altLang="zh-CN" sz="4000">
                <a:solidFill>
                  <a:srgbClr val="000066"/>
                </a:solidFill>
              </a:endParaRPr>
            </a:p>
          </p:txBody>
        </p:sp>
        <p:sp>
          <p:nvSpPr>
            <p:cNvPr id="39" name="Text Box 44"/>
            <p:cNvSpPr txBox="1">
              <a:spLocks noChangeArrowheads="1"/>
            </p:cNvSpPr>
            <p:nvPr/>
          </p:nvSpPr>
          <p:spPr bwMode="auto">
            <a:xfrm>
              <a:off x="2515" y="1361"/>
              <a:ext cx="275" cy="181"/>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2800" b="1" i="1" dirty="0">
                  <a:solidFill>
                    <a:srgbClr val="000066"/>
                  </a:solidFill>
                </a:rPr>
                <a:t>R</a:t>
              </a:r>
              <a:r>
                <a:rPr lang="en-US" altLang="zh-CN" sz="2800" b="1" baseline="-25000" dirty="0">
                  <a:solidFill>
                    <a:srgbClr val="000066"/>
                  </a:solidFill>
                </a:rPr>
                <a:t>D</a:t>
              </a:r>
              <a:endParaRPr lang="en-US" altLang="zh-CN" sz="2800" b="1" baseline="-25000" dirty="0">
                <a:solidFill>
                  <a:srgbClr val="000066"/>
                </a:solidFill>
              </a:endParaRPr>
            </a:p>
          </p:txBody>
        </p:sp>
        <p:sp>
          <p:nvSpPr>
            <p:cNvPr id="40" name="Text Box 45"/>
            <p:cNvSpPr txBox="1">
              <a:spLocks noChangeArrowheads="1"/>
            </p:cNvSpPr>
            <p:nvPr/>
          </p:nvSpPr>
          <p:spPr bwMode="auto">
            <a:xfrm>
              <a:off x="1781" y="1379"/>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2400" b="1" i="1" dirty="0">
                  <a:solidFill>
                    <a:srgbClr val="000066"/>
                  </a:solidFill>
                </a:rPr>
                <a:t>V</a:t>
              </a:r>
              <a:r>
                <a:rPr lang="en-US" altLang="zh-CN" sz="2400" b="1" baseline="-25000" dirty="0">
                  <a:solidFill>
                    <a:srgbClr val="000066"/>
                  </a:solidFill>
                </a:rPr>
                <a:t>CC</a:t>
              </a:r>
              <a:endParaRPr lang="en-US" altLang="zh-CN" sz="2400" b="1" baseline="-25000" dirty="0">
                <a:solidFill>
                  <a:srgbClr val="000066"/>
                </a:solidFill>
              </a:endParaRPr>
            </a:p>
          </p:txBody>
        </p:sp>
        <p:sp>
          <p:nvSpPr>
            <p:cNvPr id="41" name="Text Box 46"/>
            <p:cNvSpPr txBox="1">
              <a:spLocks noChangeArrowheads="1"/>
            </p:cNvSpPr>
            <p:nvPr/>
          </p:nvSpPr>
          <p:spPr bwMode="auto">
            <a:xfrm>
              <a:off x="1893" y="1494"/>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b="1" dirty="0">
                  <a:solidFill>
                    <a:srgbClr val="000066"/>
                  </a:solidFill>
                </a:rPr>
                <a:t>       (8)</a:t>
              </a:r>
              <a:endParaRPr lang="en-US" altLang="zh-CN" sz="5400" b="1" dirty="0">
                <a:solidFill>
                  <a:srgbClr val="000066"/>
                </a:solidFill>
              </a:endParaRPr>
            </a:p>
          </p:txBody>
        </p:sp>
        <p:sp>
          <p:nvSpPr>
            <p:cNvPr id="42" name="Text Box 47"/>
            <p:cNvSpPr txBox="1">
              <a:spLocks noChangeArrowheads="1"/>
            </p:cNvSpPr>
            <p:nvPr/>
          </p:nvSpPr>
          <p:spPr bwMode="auto">
            <a:xfrm>
              <a:off x="3987" y="2365"/>
              <a:ext cx="309" cy="157"/>
            </a:xfrm>
            <a:prstGeom prst="rect">
              <a:avLst/>
            </a:prstGeom>
            <a:noFill/>
            <a:ln>
              <a:noFill/>
            </a:ln>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000">
                  <a:solidFill>
                    <a:srgbClr val="000066"/>
                  </a:solidFill>
                </a:rPr>
                <a:t>G</a:t>
              </a:r>
              <a:endParaRPr lang="en-US" altLang="zh-CN" sz="3600">
                <a:solidFill>
                  <a:srgbClr val="000066"/>
                </a:solidFill>
              </a:endParaRPr>
            </a:p>
          </p:txBody>
        </p:sp>
      </p:grpSp>
      <p:sp>
        <p:nvSpPr>
          <p:cNvPr id="43" name="AutoShape 3"/>
          <p:cNvSpPr>
            <a:spLocks noChangeArrowheads="1"/>
          </p:cNvSpPr>
          <p:nvPr/>
        </p:nvSpPr>
        <p:spPr bwMode="auto">
          <a:xfrm rot="5400000">
            <a:off x="3199607" y="3394358"/>
            <a:ext cx="584200" cy="900113"/>
          </a:xfrm>
          <a:prstGeom prst="triangle">
            <a:avLst>
              <a:gd name="adj" fmla="val 50000"/>
            </a:avLst>
          </a:prstGeom>
          <a:solidFill>
            <a:srgbClr val="6699FF">
              <a:alpha val="50000"/>
            </a:srgbClr>
          </a:solidFill>
          <a:ln>
            <a:noFill/>
          </a:ln>
          <a:effectLst/>
          <a:extLs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44" name="AutoShape 4"/>
          <p:cNvSpPr>
            <a:spLocks noChangeArrowheads="1"/>
          </p:cNvSpPr>
          <p:nvPr/>
        </p:nvSpPr>
        <p:spPr bwMode="auto">
          <a:xfrm>
            <a:off x="4481513" y="2110865"/>
            <a:ext cx="1035050" cy="1979612"/>
          </a:xfrm>
          <a:prstGeom prst="roundRect">
            <a:avLst>
              <a:gd name="adj" fmla="val 16667"/>
            </a:avLst>
          </a:prstGeom>
          <a:solidFill>
            <a:srgbClr val="E4AB1C">
              <a:alpha val="22000"/>
            </a:srgbClr>
          </a:solidFill>
          <a:ln>
            <a:noFill/>
          </a:ln>
          <a:effectLst/>
          <a:extLst>
            <a:ext uri="{91240B29-F687-4F45-9708-019B960494DF}">
              <a14:hiddenLine xmlns:a14="http://schemas.microsoft.com/office/drawing/2010/main" w="38100">
                <a:solidFill>
                  <a:srgbClr val="FF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zh-CN" sz="2400">
              <a:solidFill>
                <a:srgbClr val="000066"/>
              </a:solidFill>
            </a:endParaRPr>
          </a:p>
        </p:txBody>
      </p:sp>
      <p:sp>
        <p:nvSpPr>
          <p:cNvPr id="45" name="AutoShape 5"/>
          <p:cNvSpPr>
            <a:spLocks noChangeArrowheads="1"/>
          </p:cNvSpPr>
          <p:nvPr/>
        </p:nvSpPr>
        <p:spPr bwMode="auto">
          <a:xfrm rot="5400000">
            <a:off x="3198813" y="2044189"/>
            <a:ext cx="630238" cy="944563"/>
          </a:xfrm>
          <a:prstGeom prst="triangle">
            <a:avLst>
              <a:gd name="adj" fmla="val 50000"/>
            </a:avLst>
          </a:prstGeom>
          <a:solidFill>
            <a:srgbClr val="6699FF">
              <a:alpha val="50000"/>
            </a:srgbClr>
          </a:solidFill>
          <a:ln>
            <a:noFill/>
          </a:ln>
          <a:effectLst/>
          <a:extLs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prstClr val="black"/>
              </a:solidFill>
            </a:endParaRPr>
          </a:p>
        </p:txBody>
      </p:sp>
      <p:sp>
        <p:nvSpPr>
          <p:cNvPr id="46" name="AutoShape 6"/>
          <p:cNvSpPr>
            <a:spLocks noChangeArrowheads="1"/>
          </p:cNvSpPr>
          <p:nvPr/>
        </p:nvSpPr>
        <p:spPr bwMode="auto">
          <a:xfrm>
            <a:off x="2636838" y="1661602"/>
            <a:ext cx="360362" cy="3059113"/>
          </a:xfrm>
          <a:prstGeom prst="roundRect">
            <a:avLst>
              <a:gd name="adj" fmla="val 16667"/>
            </a:avLst>
          </a:prstGeom>
          <a:solidFill>
            <a:srgbClr val="99FF33">
              <a:alpha val="50000"/>
            </a:srgbClr>
          </a:solidFill>
          <a:ln>
            <a:noFill/>
          </a:ln>
          <a:effectLst/>
          <a:extLst>
            <a:ext uri="{91240B29-F687-4F45-9708-019B960494DF}">
              <a14:hiddenLine xmlns:a14="http://schemas.microsoft.com/office/drawing/2010/main" w="38100">
                <a:solidFill>
                  <a:srgbClr val="FF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47" name="Rectangle 8"/>
          <p:cNvSpPr>
            <a:spLocks noChangeArrowheads="1"/>
          </p:cNvSpPr>
          <p:nvPr/>
        </p:nvSpPr>
        <p:spPr bwMode="auto">
          <a:xfrm>
            <a:off x="2501900" y="1615565"/>
            <a:ext cx="5040313" cy="3608387"/>
          </a:xfrm>
          <a:prstGeom prst="rect">
            <a:avLst/>
          </a:prstGeom>
          <a:noFill/>
          <a:ln w="19050" algn="ctr">
            <a:solidFill>
              <a:srgbClr val="0000FF"/>
            </a:solidFill>
            <a:prstDash val="dash"/>
            <a:miter lim="800000"/>
          </a:ln>
          <a:effectLst/>
          <a:extLst>
            <a:ext uri="{909E8E84-426E-40DD-AFC4-6F175D3DCCD1}">
              <a14:hiddenFill xmlns:a14="http://schemas.microsoft.com/office/drawing/2010/main">
                <a:solidFill>
                  <a:srgbClr val="00FF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48" name="AutoShape 9"/>
          <p:cNvSpPr>
            <a:spLocks noChangeArrowheads="1"/>
          </p:cNvSpPr>
          <p:nvPr/>
        </p:nvSpPr>
        <p:spPr bwMode="auto">
          <a:xfrm>
            <a:off x="0" y="2704590"/>
            <a:ext cx="2397125" cy="404812"/>
          </a:xfrm>
          <a:prstGeom prst="wedgeRoundRectCallout">
            <a:avLst>
              <a:gd name="adj1" fmla="val 61125"/>
              <a:gd name="adj2" fmla="val 56273"/>
              <a:gd name="adj3" fmla="val 16667"/>
            </a:avLst>
          </a:prstGeom>
          <a:solidFill>
            <a:srgbClr val="99FF33">
              <a:alpha val="50000"/>
            </a:srgbClr>
          </a:solidFill>
          <a:ln>
            <a:noFill/>
          </a:ln>
          <a:effectLst/>
          <a:extLs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2400" b="1" dirty="0">
                <a:solidFill>
                  <a:srgbClr val="000066"/>
                </a:solidFill>
              </a:rPr>
              <a:t>电阻分压器</a:t>
            </a:r>
            <a:endParaRPr lang="zh-CN" altLang="en-US" sz="2400" b="1" dirty="0">
              <a:solidFill>
                <a:srgbClr val="000066"/>
              </a:solidFill>
            </a:endParaRPr>
          </a:p>
        </p:txBody>
      </p:sp>
      <p:sp>
        <p:nvSpPr>
          <p:cNvPr id="49" name="AutoShape 10"/>
          <p:cNvSpPr>
            <a:spLocks noChangeArrowheads="1"/>
          </p:cNvSpPr>
          <p:nvPr/>
        </p:nvSpPr>
        <p:spPr bwMode="auto">
          <a:xfrm>
            <a:off x="206375" y="4990590"/>
            <a:ext cx="2200275" cy="404812"/>
          </a:xfrm>
          <a:prstGeom prst="wedgeRoundRectCallout">
            <a:avLst>
              <a:gd name="adj1" fmla="val 99639"/>
              <a:gd name="adj2" fmla="val -322940"/>
              <a:gd name="adj3" fmla="val 16667"/>
            </a:avLst>
          </a:prstGeom>
          <a:solidFill>
            <a:srgbClr val="6699FF">
              <a:alpha val="50000"/>
            </a:srgbClr>
          </a:solidFill>
          <a:ln>
            <a:noFill/>
          </a:ln>
          <a:effectLst/>
          <a:extLs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2400" b="1" dirty="0">
                <a:solidFill>
                  <a:srgbClr val="000066"/>
                </a:solidFill>
              </a:rPr>
              <a:t>电压比较器</a:t>
            </a:r>
            <a:endParaRPr lang="zh-CN" altLang="en-US" sz="2400" b="1" dirty="0">
              <a:solidFill>
                <a:srgbClr val="000066"/>
              </a:solidFill>
            </a:endParaRPr>
          </a:p>
        </p:txBody>
      </p:sp>
      <p:sp>
        <p:nvSpPr>
          <p:cNvPr id="50" name="AutoShape 11"/>
          <p:cNvSpPr>
            <a:spLocks noChangeArrowheads="1"/>
          </p:cNvSpPr>
          <p:nvPr/>
        </p:nvSpPr>
        <p:spPr bwMode="auto">
          <a:xfrm>
            <a:off x="5832475" y="5576377"/>
            <a:ext cx="2744788" cy="404813"/>
          </a:xfrm>
          <a:prstGeom prst="wedgeRoundRectCallout">
            <a:avLst>
              <a:gd name="adj1" fmla="val -81579"/>
              <a:gd name="adj2" fmla="val -466079"/>
              <a:gd name="adj3" fmla="val 16667"/>
            </a:avLst>
          </a:prstGeom>
          <a:solidFill>
            <a:srgbClr val="E4AB1C">
              <a:alpha val="22000"/>
            </a:srgbClr>
          </a:solidFill>
          <a:ln>
            <a:noFill/>
          </a:ln>
          <a:effectLst/>
          <a:extLs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2400" b="1">
                <a:solidFill>
                  <a:srgbClr val="000066"/>
                </a:solidFill>
              </a:rPr>
              <a:t>基本</a:t>
            </a:r>
            <a:r>
              <a:rPr lang="en-US" altLang="zh-CN" sz="2400" b="1">
                <a:solidFill>
                  <a:srgbClr val="000066"/>
                </a:solidFill>
              </a:rPr>
              <a:t>SR</a:t>
            </a:r>
            <a:r>
              <a:rPr lang="zh-CN" altLang="en-US" sz="2400" b="1">
                <a:solidFill>
                  <a:srgbClr val="000066"/>
                </a:solidFill>
              </a:rPr>
              <a:t>锁存器</a:t>
            </a:r>
            <a:endParaRPr lang="zh-CN" altLang="en-US" sz="2400" b="1">
              <a:solidFill>
                <a:srgbClr val="000066"/>
              </a:solidFill>
            </a:endParaRPr>
          </a:p>
        </p:txBody>
      </p:sp>
      <p:sp>
        <p:nvSpPr>
          <p:cNvPr id="51" name="AutoShape 12"/>
          <p:cNvSpPr>
            <a:spLocks noChangeArrowheads="1"/>
          </p:cNvSpPr>
          <p:nvPr/>
        </p:nvSpPr>
        <p:spPr bwMode="auto">
          <a:xfrm>
            <a:off x="6237288" y="896427"/>
            <a:ext cx="2524125" cy="404813"/>
          </a:xfrm>
          <a:prstGeom prst="wedgeRoundRectCallout">
            <a:avLst>
              <a:gd name="adj1" fmla="val -12579"/>
              <a:gd name="adj2" fmla="val 617060"/>
              <a:gd name="adj3" fmla="val 16667"/>
            </a:avLst>
          </a:prstGeom>
          <a:solidFill>
            <a:srgbClr val="FFCC99">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2400" b="1">
                <a:solidFill>
                  <a:srgbClr val="000066"/>
                </a:solidFill>
              </a:rPr>
              <a:t>输出缓冲反相器</a:t>
            </a:r>
            <a:endParaRPr lang="zh-CN" altLang="en-US" sz="2400" b="1">
              <a:solidFill>
                <a:srgbClr val="000066"/>
              </a:solidFill>
            </a:endParaRPr>
          </a:p>
        </p:txBody>
      </p:sp>
      <p:sp>
        <p:nvSpPr>
          <p:cNvPr id="52" name="AutoShape 13"/>
          <p:cNvSpPr>
            <a:spLocks noChangeArrowheads="1"/>
          </p:cNvSpPr>
          <p:nvPr/>
        </p:nvSpPr>
        <p:spPr bwMode="auto">
          <a:xfrm>
            <a:off x="611188" y="5711315"/>
            <a:ext cx="4089400" cy="404812"/>
          </a:xfrm>
          <a:prstGeom prst="wedgeRoundRectCallout">
            <a:avLst>
              <a:gd name="adj1" fmla="val 20537"/>
              <a:gd name="adj2" fmla="val -243333"/>
              <a:gd name="adj3" fmla="val 16667"/>
            </a:avLst>
          </a:prstGeom>
          <a:solidFill>
            <a:srgbClr val="FFCC99">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2400" b="1" dirty="0">
                <a:solidFill>
                  <a:srgbClr val="000066"/>
                </a:solidFill>
              </a:rPr>
              <a:t>集电极</a:t>
            </a:r>
            <a:r>
              <a:rPr lang="zh-CN" altLang="en-US" sz="2400" b="1">
                <a:solidFill>
                  <a:srgbClr val="000066"/>
                </a:solidFill>
              </a:rPr>
              <a:t>开路输出放电三极管</a:t>
            </a:r>
            <a:endParaRPr lang="zh-CN" altLang="en-US" sz="2400" b="1" dirty="0">
              <a:solidFill>
                <a:srgbClr val="000066"/>
              </a:solidFill>
            </a:endParaRPr>
          </a:p>
        </p:txBody>
      </p:sp>
      <p:sp>
        <p:nvSpPr>
          <p:cNvPr id="53" name="Text Box 59"/>
          <p:cNvSpPr txBox="1">
            <a:spLocks noChangeArrowheads="1"/>
          </p:cNvSpPr>
          <p:nvPr/>
        </p:nvSpPr>
        <p:spPr bwMode="auto">
          <a:xfrm>
            <a:off x="90897" y="708861"/>
            <a:ext cx="2145139"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defPPr>
              <a:defRPr lang="en-US"/>
            </a:defPPr>
            <a:lvl1pPr defTabSz="914400" fontAlgn="base">
              <a:spcBef>
                <a:spcPct val="0"/>
              </a:spcBef>
              <a:spcAft>
                <a:spcPct val="0"/>
              </a:spcAft>
              <a:defRPr sz="2800" b="1">
                <a:solidFill>
                  <a:srgbClr val="C00000"/>
                </a:solidFill>
                <a:latin typeface="Times New Roman" panose="02020603050405020304" pitchFamily="18" charset="0"/>
                <a:ea typeface="楷体_GB2312" pitchFamily="49"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fontAlgn="base">
              <a:spcBef>
                <a:spcPct val="0"/>
              </a:spcBef>
              <a:spcAft>
                <a:spcPct val="0"/>
              </a:spcAft>
              <a:defRPr>
                <a:latin typeface="Arial" panose="020B0604020202020204" pitchFamily="34" charset="0"/>
                <a:ea typeface="宋体" panose="02010600030101010101" pitchFamily="2" charset="-122"/>
              </a:defRPr>
            </a:lvl6pPr>
            <a:lvl7pPr marL="2971800" indent="-228600" fontAlgn="base">
              <a:spcBef>
                <a:spcPct val="0"/>
              </a:spcBef>
              <a:spcAft>
                <a:spcPct val="0"/>
              </a:spcAft>
              <a:defRPr>
                <a:latin typeface="Arial" panose="020B0604020202020204" pitchFamily="34" charset="0"/>
                <a:ea typeface="宋体" panose="02010600030101010101" pitchFamily="2" charset="-122"/>
              </a:defRPr>
            </a:lvl7pPr>
            <a:lvl8pPr marL="3429000" indent="-228600" fontAlgn="base">
              <a:spcBef>
                <a:spcPct val="0"/>
              </a:spcBef>
              <a:spcAft>
                <a:spcPct val="0"/>
              </a:spcAft>
              <a:defRPr>
                <a:latin typeface="Arial" panose="020B0604020202020204" pitchFamily="34" charset="0"/>
                <a:ea typeface="宋体" panose="02010600030101010101" pitchFamily="2" charset="-122"/>
              </a:defRPr>
            </a:lvl8pPr>
            <a:lvl9pPr marL="3886200" indent="-228600" fontAlgn="base">
              <a:spcBef>
                <a:spcPct val="0"/>
              </a:spcBef>
              <a:spcAft>
                <a:spcPct val="0"/>
              </a:spcAft>
              <a:defRPr>
                <a:latin typeface="Arial" panose="020B0604020202020204" pitchFamily="34" charset="0"/>
                <a:ea typeface="宋体" panose="02010600030101010101" pitchFamily="2" charset="-122"/>
              </a:defRPr>
            </a:lvl9pPr>
          </a:lstStyle>
          <a:p>
            <a:r>
              <a:rPr lang="en-US" altLang="zh-CN" dirty="0"/>
              <a:t>1.   </a:t>
            </a:r>
            <a:r>
              <a:rPr lang="zh-CN" altLang="en-US" dirty="0"/>
              <a:t>电路结构</a:t>
            </a:r>
            <a:endParaRPr lang="zh-CN" altLang="en-US" dirty="0"/>
          </a:p>
        </p:txBody>
      </p:sp>
      <p:grpSp>
        <p:nvGrpSpPr>
          <p:cNvPr id="54" name="Group 61"/>
          <p:cNvGrpSpPr/>
          <p:nvPr/>
        </p:nvGrpSpPr>
        <p:grpSpPr bwMode="auto">
          <a:xfrm>
            <a:off x="5910263" y="3822190"/>
            <a:ext cx="2667000" cy="2959100"/>
            <a:chOff x="2024" y="1104"/>
            <a:chExt cx="1680" cy="1864"/>
          </a:xfrm>
        </p:grpSpPr>
        <p:sp>
          <p:nvSpPr>
            <p:cNvPr id="55" name="AutoShape 62"/>
            <p:cNvSpPr>
              <a:spLocks noChangeArrowheads="1"/>
            </p:cNvSpPr>
            <p:nvPr/>
          </p:nvSpPr>
          <p:spPr bwMode="auto">
            <a:xfrm>
              <a:off x="2024" y="1104"/>
              <a:ext cx="1680" cy="1864"/>
            </a:xfrm>
            <a:prstGeom prst="flowChartProcess">
              <a:avLst/>
            </a:prstGeom>
            <a:solidFill>
              <a:schemeClr val="bg1"/>
            </a:solidFill>
            <a:ln w="57150">
              <a:pattFill prst="sphere">
                <a:fgClr>
                  <a:srgbClr val="CC99FF"/>
                </a:fgClr>
                <a:bgClr>
                  <a:srgbClr val="FFFFFF"/>
                </a:bgClr>
              </a:patt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solidFill>
                  <a:prstClr val="black"/>
                </a:solidFill>
              </a:endParaRPr>
            </a:p>
          </p:txBody>
        </p:sp>
        <p:graphicFrame>
          <p:nvGraphicFramePr>
            <p:cNvPr id="56" name="Object 63"/>
            <p:cNvGraphicFramePr>
              <a:graphicFrameLocks noChangeAspect="1"/>
            </p:cNvGraphicFramePr>
            <p:nvPr/>
          </p:nvGraphicFramePr>
          <p:xfrm>
            <a:off x="2070" y="1395"/>
            <a:ext cx="1620" cy="1530"/>
          </p:xfrm>
          <a:graphic>
            <a:graphicData uri="http://schemas.openxmlformats.org/presentationml/2006/ole">
              <mc:AlternateContent xmlns:mc="http://schemas.openxmlformats.org/markup-compatibility/2006">
                <mc:Choice xmlns:v="urn:schemas-microsoft-com:vml" Requires="v">
                  <p:oleObj spid="_x0000_s13317" name="BMP 图象" r:id="rId4" imgW="2571750" imgH="2428875" progId="Paint.Picture">
                    <p:embed/>
                  </p:oleObj>
                </mc:Choice>
                <mc:Fallback>
                  <p:oleObj name="BMP 图象" r:id="rId4" imgW="2571750" imgH="2428875" progId="Paint.Picture">
                    <p:embed/>
                    <p:pic>
                      <p:nvPicPr>
                        <p:cNvPr id="0" name="图片 133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0" y="1395"/>
                          <a:ext cx="1620" cy="1530"/>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 name="Rectangle 64"/>
            <p:cNvSpPr>
              <a:spLocks noChangeArrowheads="1"/>
            </p:cNvSpPr>
            <p:nvPr/>
          </p:nvSpPr>
          <p:spPr bwMode="auto">
            <a:xfrm>
              <a:off x="2694" y="2512"/>
              <a:ext cx="356"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GND</a:t>
              </a:r>
              <a:endParaRPr kumimoji="1" lang="en-US" altLang="zh-CN" sz="2000">
                <a:solidFill>
                  <a:prstClr val="black"/>
                </a:solidFill>
                <a:ea typeface="宋体" panose="02010600030101010101" pitchFamily="2" charset="-122"/>
              </a:endParaRPr>
            </a:p>
          </p:txBody>
        </p:sp>
        <p:sp>
          <p:nvSpPr>
            <p:cNvPr id="58" name="Rectangle 65"/>
            <p:cNvSpPr>
              <a:spLocks noChangeArrowheads="1"/>
            </p:cNvSpPr>
            <p:nvPr/>
          </p:nvSpPr>
          <p:spPr bwMode="auto">
            <a:xfrm>
              <a:off x="2478" y="1616"/>
              <a:ext cx="257"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i="1">
                  <a:solidFill>
                    <a:prstClr val="black"/>
                  </a:solidFill>
                  <a:ea typeface="宋体" panose="02010600030101010101" pitchFamily="2" charset="-122"/>
                </a:rPr>
                <a:t>V</a:t>
              </a:r>
              <a:r>
                <a:rPr kumimoji="1" lang="en-US" altLang="zh-CN" sz="2000" baseline="-25000">
                  <a:solidFill>
                    <a:prstClr val="black"/>
                  </a:solidFill>
                  <a:ea typeface="宋体" panose="02010600030101010101" pitchFamily="2" charset="-122"/>
                </a:rPr>
                <a:t>CC</a:t>
              </a:r>
              <a:endParaRPr kumimoji="1" lang="en-US" altLang="zh-CN" sz="2000" baseline="-25000">
                <a:solidFill>
                  <a:prstClr val="black"/>
                </a:solidFill>
                <a:ea typeface="宋体" panose="02010600030101010101" pitchFamily="2" charset="-122"/>
              </a:endParaRPr>
            </a:p>
          </p:txBody>
        </p:sp>
        <p:sp>
          <p:nvSpPr>
            <p:cNvPr id="59" name="Rectangle 66"/>
            <p:cNvSpPr>
              <a:spLocks noChangeArrowheads="1"/>
            </p:cNvSpPr>
            <p:nvPr/>
          </p:nvSpPr>
          <p:spPr bwMode="auto">
            <a:xfrm>
              <a:off x="3022" y="1632"/>
              <a:ext cx="182"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i="1">
                  <a:solidFill>
                    <a:prstClr val="black"/>
                  </a:solidFill>
                  <a:ea typeface="宋体" panose="02010600030101010101" pitchFamily="2" charset="-122"/>
                </a:rPr>
                <a:t>R</a:t>
              </a:r>
              <a:r>
                <a:rPr kumimoji="1" lang="en-US" altLang="zh-CN" sz="2000" baseline="-25000">
                  <a:solidFill>
                    <a:prstClr val="black"/>
                  </a:solidFill>
                  <a:ea typeface="宋体" panose="02010600030101010101" pitchFamily="2" charset="-122"/>
                </a:rPr>
                <a:t>D</a:t>
              </a:r>
              <a:endParaRPr kumimoji="1" lang="en-US" altLang="zh-CN" sz="2000" baseline="-25000">
                <a:solidFill>
                  <a:prstClr val="black"/>
                </a:solidFill>
                <a:ea typeface="宋体" panose="02010600030101010101" pitchFamily="2" charset="-122"/>
              </a:endParaRPr>
            </a:p>
          </p:txBody>
        </p:sp>
        <p:sp>
          <p:nvSpPr>
            <p:cNvPr id="60" name="Rectangle 67"/>
            <p:cNvSpPr>
              <a:spLocks noChangeArrowheads="1"/>
            </p:cNvSpPr>
            <p:nvPr/>
          </p:nvSpPr>
          <p:spPr bwMode="auto">
            <a:xfrm>
              <a:off x="3030" y="1832"/>
              <a:ext cx="33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i="1">
                  <a:solidFill>
                    <a:prstClr val="black"/>
                  </a:solidFill>
                  <a:ea typeface="宋体" panose="02010600030101010101" pitchFamily="2" charset="-122"/>
                </a:rPr>
                <a:t>OUT</a:t>
              </a:r>
              <a:endParaRPr kumimoji="1" lang="en-US" altLang="zh-CN" sz="2000" baseline="-25000">
                <a:solidFill>
                  <a:prstClr val="black"/>
                </a:solidFill>
                <a:ea typeface="宋体" panose="02010600030101010101" pitchFamily="2" charset="-122"/>
              </a:endParaRPr>
            </a:p>
          </p:txBody>
        </p:sp>
        <p:sp>
          <p:nvSpPr>
            <p:cNvPr id="61" name="Rectangle 68"/>
            <p:cNvSpPr>
              <a:spLocks noChangeArrowheads="1"/>
            </p:cNvSpPr>
            <p:nvPr/>
          </p:nvSpPr>
          <p:spPr bwMode="auto">
            <a:xfrm>
              <a:off x="3142" y="2320"/>
              <a:ext cx="223"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i="1">
                  <a:solidFill>
                    <a:prstClr val="black"/>
                  </a:solidFill>
                  <a:ea typeface="宋体" panose="02010600030101010101" pitchFamily="2" charset="-122"/>
                </a:rPr>
                <a:t>CO</a:t>
              </a:r>
              <a:endParaRPr kumimoji="1" lang="en-US" altLang="zh-CN" sz="2000" baseline="-25000">
                <a:solidFill>
                  <a:prstClr val="black"/>
                </a:solidFill>
                <a:ea typeface="宋体" panose="02010600030101010101" pitchFamily="2" charset="-122"/>
              </a:endParaRPr>
            </a:p>
          </p:txBody>
        </p:sp>
        <p:sp>
          <p:nvSpPr>
            <p:cNvPr id="62" name="Rectangle 69"/>
            <p:cNvSpPr>
              <a:spLocks noChangeArrowheads="1"/>
            </p:cNvSpPr>
            <p:nvPr/>
          </p:nvSpPr>
          <p:spPr bwMode="auto">
            <a:xfrm>
              <a:off x="2718" y="2017"/>
              <a:ext cx="288" cy="230"/>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a:solidFill>
                    <a:prstClr val="black"/>
                  </a:solidFill>
                  <a:ea typeface="宋体" panose="02010600030101010101" pitchFamily="2" charset="-122"/>
                </a:rPr>
                <a:t>555</a:t>
              </a:r>
              <a:endParaRPr kumimoji="1" lang="en-US" altLang="zh-CN" sz="2400">
                <a:solidFill>
                  <a:prstClr val="black"/>
                </a:solidFill>
                <a:ea typeface="宋体" panose="02010600030101010101" pitchFamily="2" charset="-122"/>
              </a:endParaRPr>
            </a:p>
          </p:txBody>
        </p:sp>
        <p:sp>
          <p:nvSpPr>
            <p:cNvPr id="63" name="Rectangle 70"/>
            <p:cNvSpPr>
              <a:spLocks noChangeArrowheads="1"/>
            </p:cNvSpPr>
            <p:nvPr/>
          </p:nvSpPr>
          <p:spPr bwMode="auto">
            <a:xfrm>
              <a:off x="2342" y="1816"/>
              <a:ext cx="222"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i="1">
                  <a:solidFill>
                    <a:prstClr val="black"/>
                  </a:solidFill>
                  <a:ea typeface="宋体" panose="02010600030101010101" pitchFamily="2" charset="-122"/>
                </a:rPr>
                <a:t>TH</a:t>
              </a:r>
              <a:endParaRPr kumimoji="1" lang="en-US" altLang="zh-CN" sz="2000" baseline="-25000">
                <a:solidFill>
                  <a:prstClr val="black"/>
                </a:solidFill>
                <a:ea typeface="宋体" panose="02010600030101010101" pitchFamily="2" charset="-122"/>
              </a:endParaRPr>
            </a:p>
          </p:txBody>
        </p:sp>
        <p:sp>
          <p:nvSpPr>
            <p:cNvPr id="64" name="Rectangle 71"/>
            <p:cNvSpPr>
              <a:spLocks noChangeArrowheads="1"/>
            </p:cNvSpPr>
            <p:nvPr/>
          </p:nvSpPr>
          <p:spPr bwMode="auto">
            <a:xfrm>
              <a:off x="2342" y="2096"/>
              <a:ext cx="205"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i="1">
                  <a:solidFill>
                    <a:prstClr val="black"/>
                  </a:solidFill>
                  <a:ea typeface="宋体" panose="02010600030101010101" pitchFamily="2" charset="-122"/>
                </a:rPr>
                <a:t>TR</a:t>
              </a:r>
              <a:endParaRPr kumimoji="1" lang="en-US" altLang="zh-CN" sz="2000" baseline="-25000">
                <a:solidFill>
                  <a:prstClr val="black"/>
                </a:solidFill>
                <a:ea typeface="宋体" panose="02010600030101010101" pitchFamily="2" charset="-122"/>
              </a:endParaRPr>
            </a:p>
          </p:txBody>
        </p:sp>
        <p:sp>
          <p:nvSpPr>
            <p:cNvPr id="65" name="Rectangle 72"/>
            <p:cNvSpPr>
              <a:spLocks noChangeArrowheads="1"/>
            </p:cNvSpPr>
            <p:nvPr/>
          </p:nvSpPr>
          <p:spPr bwMode="auto">
            <a:xfrm>
              <a:off x="2342" y="2352"/>
              <a:ext cx="267"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i="1">
                  <a:solidFill>
                    <a:prstClr val="black"/>
                  </a:solidFill>
                  <a:ea typeface="宋体" panose="02010600030101010101" pitchFamily="2" charset="-122"/>
                </a:rPr>
                <a:t>DIS</a:t>
              </a:r>
              <a:endParaRPr kumimoji="1" lang="en-US" altLang="zh-CN" sz="2000" baseline="-25000">
                <a:solidFill>
                  <a:prstClr val="black"/>
                </a:solidFill>
                <a:ea typeface="宋体" panose="02010600030101010101" pitchFamily="2" charset="-122"/>
              </a:endParaRPr>
            </a:p>
          </p:txBody>
        </p:sp>
        <p:sp>
          <p:nvSpPr>
            <p:cNvPr id="66" name="Line 73"/>
            <p:cNvSpPr>
              <a:spLocks noChangeShapeType="1"/>
            </p:cNvSpPr>
            <p:nvPr/>
          </p:nvSpPr>
          <p:spPr bwMode="auto">
            <a:xfrm>
              <a:off x="2344" y="2112"/>
              <a:ext cx="2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solidFill>
                  <a:prstClr val="black"/>
                </a:solidFill>
              </a:endParaRPr>
            </a:p>
          </p:txBody>
        </p:sp>
        <p:sp>
          <p:nvSpPr>
            <p:cNvPr id="67" name="Line 74"/>
            <p:cNvSpPr>
              <a:spLocks noChangeShapeType="1"/>
            </p:cNvSpPr>
            <p:nvPr/>
          </p:nvSpPr>
          <p:spPr bwMode="auto">
            <a:xfrm>
              <a:off x="3024" y="1656"/>
              <a:ext cx="16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solidFill>
                  <a:prstClr val="black"/>
                </a:solidFill>
              </a:endParaRPr>
            </a:p>
          </p:txBody>
        </p:sp>
        <p:sp>
          <p:nvSpPr>
            <p:cNvPr id="68" name="Rectangle 75" descr="窄竖线"/>
            <p:cNvSpPr>
              <a:spLocks noChangeArrowheads="1"/>
            </p:cNvSpPr>
            <p:nvPr/>
          </p:nvSpPr>
          <p:spPr bwMode="auto">
            <a:xfrm>
              <a:off x="2479" y="1147"/>
              <a:ext cx="772" cy="230"/>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zh-CN" altLang="en-US" sz="2400">
                  <a:solidFill>
                    <a:srgbClr val="000000"/>
                  </a:solidFill>
                  <a:latin typeface="宋体" panose="02010600030101010101" pitchFamily="2" charset="-122"/>
                  <a:ea typeface="宋体" panose="02010600030101010101" pitchFamily="2" charset="-122"/>
                </a:rPr>
                <a:t>电路符号</a:t>
              </a:r>
              <a:endParaRPr kumimoji="1" lang="zh-CN" altLang="en-US" sz="2400">
                <a:solidFill>
                  <a:srgbClr val="000000"/>
                </a:solidFill>
                <a:latin typeface="宋体" panose="02010600030101010101" pitchFamily="2" charset="-122"/>
                <a:ea typeface="宋体" panose="02010600030101010101" pitchFamily="2" charset="-122"/>
              </a:endParaRPr>
            </a:p>
          </p:txBody>
        </p:sp>
        <p:sp>
          <p:nvSpPr>
            <p:cNvPr id="69" name="Rectangle 76"/>
            <p:cNvSpPr>
              <a:spLocks noChangeArrowheads="1"/>
            </p:cNvSpPr>
            <p:nvPr/>
          </p:nvSpPr>
          <p:spPr bwMode="auto">
            <a:xfrm>
              <a:off x="2152" y="1720"/>
              <a:ext cx="8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6</a:t>
              </a:r>
              <a:endParaRPr kumimoji="1" lang="en-US" altLang="zh-CN" sz="2000">
                <a:solidFill>
                  <a:prstClr val="black"/>
                </a:solidFill>
                <a:ea typeface="宋体" panose="02010600030101010101" pitchFamily="2" charset="-122"/>
              </a:endParaRPr>
            </a:p>
          </p:txBody>
        </p:sp>
        <p:sp>
          <p:nvSpPr>
            <p:cNvPr id="70" name="Rectangle 77"/>
            <p:cNvSpPr>
              <a:spLocks noChangeArrowheads="1"/>
            </p:cNvSpPr>
            <p:nvPr/>
          </p:nvSpPr>
          <p:spPr bwMode="auto">
            <a:xfrm>
              <a:off x="2144" y="2000"/>
              <a:ext cx="8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2</a:t>
              </a:r>
              <a:endParaRPr kumimoji="1" lang="en-US" altLang="zh-CN" sz="2000">
                <a:solidFill>
                  <a:prstClr val="black"/>
                </a:solidFill>
                <a:ea typeface="宋体" panose="02010600030101010101" pitchFamily="2" charset="-122"/>
              </a:endParaRPr>
            </a:p>
          </p:txBody>
        </p:sp>
        <p:sp>
          <p:nvSpPr>
            <p:cNvPr id="71" name="Rectangle 78"/>
            <p:cNvSpPr>
              <a:spLocks noChangeArrowheads="1"/>
            </p:cNvSpPr>
            <p:nvPr/>
          </p:nvSpPr>
          <p:spPr bwMode="auto">
            <a:xfrm>
              <a:off x="2152" y="2264"/>
              <a:ext cx="8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7</a:t>
              </a:r>
              <a:endParaRPr kumimoji="1" lang="en-US" altLang="zh-CN" sz="2000">
                <a:solidFill>
                  <a:prstClr val="black"/>
                </a:solidFill>
                <a:ea typeface="宋体" panose="02010600030101010101" pitchFamily="2" charset="-122"/>
              </a:endParaRPr>
            </a:p>
          </p:txBody>
        </p:sp>
        <p:sp>
          <p:nvSpPr>
            <p:cNvPr id="72" name="Rectangle 79"/>
            <p:cNvSpPr>
              <a:spLocks noChangeArrowheads="1"/>
            </p:cNvSpPr>
            <p:nvPr/>
          </p:nvSpPr>
          <p:spPr bwMode="auto">
            <a:xfrm>
              <a:off x="2864" y="2728"/>
              <a:ext cx="8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1</a:t>
              </a:r>
              <a:endParaRPr kumimoji="1" lang="en-US" altLang="zh-CN" sz="2000">
                <a:solidFill>
                  <a:prstClr val="black"/>
                </a:solidFill>
                <a:ea typeface="宋体" panose="02010600030101010101" pitchFamily="2" charset="-122"/>
              </a:endParaRPr>
            </a:p>
          </p:txBody>
        </p:sp>
        <p:sp>
          <p:nvSpPr>
            <p:cNvPr id="73" name="Rectangle 80"/>
            <p:cNvSpPr>
              <a:spLocks noChangeArrowheads="1"/>
            </p:cNvSpPr>
            <p:nvPr/>
          </p:nvSpPr>
          <p:spPr bwMode="auto">
            <a:xfrm>
              <a:off x="3464" y="2240"/>
              <a:ext cx="8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5</a:t>
              </a:r>
              <a:endParaRPr kumimoji="1" lang="en-US" altLang="zh-CN" sz="2000">
                <a:solidFill>
                  <a:prstClr val="black"/>
                </a:solidFill>
                <a:ea typeface="宋体" panose="02010600030101010101" pitchFamily="2" charset="-122"/>
              </a:endParaRPr>
            </a:p>
          </p:txBody>
        </p:sp>
        <p:sp>
          <p:nvSpPr>
            <p:cNvPr id="74" name="Rectangle 81"/>
            <p:cNvSpPr>
              <a:spLocks noChangeArrowheads="1"/>
            </p:cNvSpPr>
            <p:nvPr/>
          </p:nvSpPr>
          <p:spPr bwMode="auto">
            <a:xfrm>
              <a:off x="3464" y="1752"/>
              <a:ext cx="8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3</a:t>
              </a:r>
              <a:endParaRPr kumimoji="1" lang="en-US" altLang="zh-CN" sz="2000">
                <a:solidFill>
                  <a:prstClr val="black"/>
                </a:solidFill>
                <a:ea typeface="宋体" panose="02010600030101010101" pitchFamily="2" charset="-122"/>
              </a:endParaRPr>
            </a:p>
          </p:txBody>
        </p:sp>
        <p:sp>
          <p:nvSpPr>
            <p:cNvPr id="75" name="Rectangle 82"/>
            <p:cNvSpPr>
              <a:spLocks noChangeArrowheads="1"/>
            </p:cNvSpPr>
            <p:nvPr/>
          </p:nvSpPr>
          <p:spPr bwMode="auto">
            <a:xfrm>
              <a:off x="2648" y="1408"/>
              <a:ext cx="8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8</a:t>
              </a:r>
              <a:endParaRPr kumimoji="1" lang="en-US" altLang="zh-CN" sz="2000">
                <a:solidFill>
                  <a:prstClr val="black"/>
                </a:solidFill>
                <a:ea typeface="宋体" panose="02010600030101010101" pitchFamily="2" charset="-122"/>
              </a:endParaRPr>
            </a:p>
          </p:txBody>
        </p:sp>
        <p:sp>
          <p:nvSpPr>
            <p:cNvPr id="76" name="Rectangle 83"/>
            <p:cNvSpPr>
              <a:spLocks noChangeArrowheads="1"/>
            </p:cNvSpPr>
            <p:nvPr/>
          </p:nvSpPr>
          <p:spPr bwMode="auto">
            <a:xfrm>
              <a:off x="3144" y="1400"/>
              <a:ext cx="80"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prstClr val="black"/>
                  </a:solidFill>
                  <a:ea typeface="宋体" panose="02010600030101010101" pitchFamily="2" charset="-122"/>
                </a:rPr>
                <a:t>4</a:t>
              </a:r>
              <a:endParaRPr kumimoji="1" lang="en-US" altLang="zh-CN" sz="2000">
                <a:solidFill>
                  <a:prstClr val="black"/>
                </a:solidFill>
                <a:ea typeface="宋体" panose="02010600030101010101" pitchFamily="2" charset="-122"/>
              </a:endParaRPr>
            </a:p>
          </p:txBody>
        </p:sp>
      </p:grpSp>
      <p:sp>
        <p:nvSpPr>
          <p:cNvPr id="77" name="Line 84"/>
          <p:cNvSpPr>
            <a:spLocks noChangeShapeType="1"/>
          </p:cNvSpPr>
          <p:nvPr/>
        </p:nvSpPr>
        <p:spPr bwMode="auto">
          <a:xfrm>
            <a:off x="3992339" y="1123527"/>
            <a:ext cx="22542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prstClr val="black"/>
              </a:solidFill>
            </a:endParaRPr>
          </a:p>
        </p:txBody>
      </p:sp>
      <p:sp>
        <p:nvSpPr>
          <p:cNvPr id="78" name="Line 84"/>
          <p:cNvSpPr>
            <a:spLocks noChangeShapeType="1"/>
          </p:cNvSpPr>
          <p:nvPr/>
        </p:nvSpPr>
        <p:spPr bwMode="auto">
          <a:xfrm>
            <a:off x="3951376" y="2201351"/>
            <a:ext cx="225425" cy="0"/>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prstClr val="black"/>
              </a:solidFill>
            </a:endParaRPr>
          </a:p>
        </p:txBody>
      </p:sp>
      <p:sp>
        <p:nvSpPr>
          <p:cNvPr id="79" name="Line 84"/>
          <p:cNvSpPr>
            <a:spLocks noChangeShapeType="1"/>
          </p:cNvSpPr>
          <p:nvPr/>
        </p:nvSpPr>
        <p:spPr bwMode="auto">
          <a:xfrm>
            <a:off x="3988842" y="3552314"/>
            <a:ext cx="225425" cy="0"/>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ox(in)">
                                      <p:cBhvr>
                                        <p:cTn id="7" dur="2000"/>
                                        <p:tgtEl>
                                          <p:spTgt spid="46"/>
                                        </p:tgtEl>
                                      </p:cBhvr>
                                    </p:animEffect>
                                  </p:childTnLst>
                                </p:cTn>
                              </p:par>
                            </p:childTnLst>
                          </p:cTn>
                        </p:par>
                        <p:par>
                          <p:cTn id="8" fill="hold">
                            <p:stCondLst>
                              <p:cond delay="2000"/>
                            </p:stCondLst>
                            <p:childTnLst>
                              <p:par>
                                <p:cTn id="9" presetID="5" presetClass="entr" presetSubtype="10"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checkerboard(across)">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nodeType="click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strips(downLeft)">
                                      <p:cBhvr>
                                        <p:cTn id="16" dur="500"/>
                                        <p:tgtEl>
                                          <p:spTgt spid="43"/>
                                        </p:tgtEl>
                                      </p:cBhvr>
                                    </p:animEffect>
                                  </p:childTnLst>
                                </p:cTn>
                              </p:par>
                            </p:childTnLst>
                          </p:cTn>
                        </p:par>
                        <p:par>
                          <p:cTn id="17" fill="hold">
                            <p:stCondLst>
                              <p:cond delay="500"/>
                            </p:stCondLst>
                            <p:childTnLst>
                              <p:par>
                                <p:cTn id="18" presetID="18" presetClass="entr" presetSubtype="12" fill="hold" nodeType="after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strips(downLeft)">
                                      <p:cBhvr>
                                        <p:cTn id="20" dur="500"/>
                                        <p:tgtEl>
                                          <p:spTgt spid="45"/>
                                        </p:tgtEl>
                                      </p:cBhvr>
                                    </p:animEffect>
                                  </p:childTnLst>
                                </p:cTn>
                              </p:par>
                            </p:childTnLst>
                          </p:cTn>
                        </p:par>
                        <p:par>
                          <p:cTn id="21" fill="hold">
                            <p:stCondLst>
                              <p:cond delay="1000"/>
                            </p:stCondLst>
                            <p:childTnLst>
                              <p:par>
                                <p:cTn id="22" presetID="5" presetClass="entr" presetSubtype="10" fill="hold" grpId="0" nodeType="after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checkerboard(across)">
                                      <p:cBhvr>
                                        <p:cTn id="24" dur="2000"/>
                                        <p:tgtEl>
                                          <p:spTgt spid="49"/>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box(in)">
                                      <p:cBhvr>
                                        <p:cTn id="29" dur="500"/>
                                        <p:tgtEl>
                                          <p:spTgt spid="44"/>
                                        </p:tgtEl>
                                      </p:cBhvr>
                                    </p:animEffect>
                                  </p:childTnLst>
                                </p:cTn>
                              </p:par>
                            </p:childTnLst>
                          </p:cTn>
                        </p:par>
                        <p:par>
                          <p:cTn id="30" fill="hold">
                            <p:stCondLst>
                              <p:cond delay="500"/>
                            </p:stCondLst>
                            <p:childTnLst>
                              <p:par>
                                <p:cTn id="31" presetID="5" presetClass="entr" presetSubtype="10" fill="hold" grpId="0" nodeType="after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checkerboard(across)">
                                      <p:cBhvr>
                                        <p:cTn id="33" dur="2000"/>
                                        <p:tgtEl>
                                          <p:spTgt spid="50"/>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checkerboard(across)">
                                      <p:cBhvr>
                                        <p:cTn id="38" dur="500"/>
                                        <p:tgtEl>
                                          <p:spTgt spid="52"/>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checkerboard(across)">
                                      <p:cBhvr>
                                        <p:cTn id="43" dur="500"/>
                                        <p:tgtEl>
                                          <p:spTgt spid="5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blinds(horizontal)">
                                      <p:cBhvr>
                                        <p:cTn id="48" dur="500"/>
                                        <p:tgtEl>
                                          <p:spTgt spid="54"/>
                                        </p:tgtEl>
                                      </p:cBhvr>
                                    </p:animEffect>
                                  </p:childTnLst>
                                  <p:subTnLst>
                                    <p:set>
                                      <p:cBhvr override="childStyle">
                                        <p:cTn dur="1" fill="hold" display="0" masterRel="nextClick" afterEffect="1"/>
                                        <p:tgtEl>
                                          <p:spTgt spid="54"/>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46"/>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48"/>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45"/>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43"/>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49"/>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52"/>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44"/>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50"/>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autoUpdateAnimBg="0"/>
      <p:bldP spid="44" grpId="1" animBg="1"/>
      <p:bldP spid="48" grpId="0" animBg="1" autoUpdateAnimBg="0"/>
      <p:bldP spid="48" grpId="1" animBg="1"/>
      <p:bldP spid="49" grpId="0" animBg="1" autoUpdateAnimBg="0"/>
      <p:bldP spid="49" grpId="1" animBg="1"/>
      <p:bldP spid="50" grpId="0" animBg="1" autoUpdateAnimBg="0"/>
      <p:bldP spid="50" grpId="1" animBg="1"/>
      <p:bldP spid="51" grpId="0" animBg="1" autoUpdateAnimBg="0"/>
      <p:bldP spid="51" grpId="1" animBg="1"/>
      <p:bldP spid="52" grpId="0" animBg="1" autoUpdateAnimBg="0"/>
      <p:bldP spid="52" grpId="1"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3246339" y="4733879"/>
            <a:ext cx="376260" cy="52322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54" name="Oval 6"/>
          <p:cNvSpPr>
            <a:spLocks noChangeArrowheads="1"/>
          </p:cNvSpPr>
          <p:nvPr/>
        </p:nvSpPr>
        <p:spPr bwMode="auto">
          <a:xfrm>
            <a:off x="3735792" y="1170496"/>
            <a:ext cx="447684" cy="495022"/>
          </a:xfrm>
          <a:prstGeom prst="ellipse">
            <a:avLst/>
          </a:prstGeom>
          <a:solidFill>
            <a:srgbClr val="FF99CC"/>
          </a:solidFill>
          <a:ln w="9525">
            <a:solidFill>
              <a:srgbClr val="FF000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0</a:t>
            </a:r>
            <a:endParaRPr lang="en-US" altLang="zh-CN" sz="4400" b="1" dirty="0">
              <a:solidFill>
                <a:srgbClr val="000000"/>
              </a:solidFill>
              <a:latin typeface="Times New Roman" panose="02020603050405020304" pitchFamily="18" charset="0"/>
              <a:ea typeface="楷体_GB2312" pitchFamily="49" charset="-122"/>
            </a:endParaRPr>
          </a:p>
        </p:txBody>
      </p:sp>
      <p:sp>
        <p:nvSpPr>
          <p:cNvPr id="156" name="Oval 8"/>
          <p:cNvSpPr>
            <a:spLocks noChangeArrowheads="1"/>
          </p:cNvSpPr>
          <p:nvPr/>
        </p:nvSpPr>
        <p:spPr bwMode="auto">
          <a:xfrm>
            <a:off x="7651953" y="2708631"/>
            <a:ext cx="520769" cy="498889"/>
          </a:xfrm>
          <a:prstGeom prst="ellipse">
            <a:avLst/>
          </a:prstGeom>
          <a:solidFill>
            <a:srgbClr val="FF99CC"/>
          </a:solidFill>
          <a:ln w="9525">
            <a:solidFill>
              <a:srgbClr val="FF000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0</a:t>
            </a:r>
            <a:endParaRPr lang="en-US" altLang="zh-CN" sz="4400" b="1" dirty="0">
              <a:solidFill>
                <a:srgbClr val="000000"/>
              </a:solidFill>
              <a:latin typeface="Times New Roman" panose="02020603050405020304" pitchFamily="18" charset="0"/>
              <a:ea typeface="楷体_GB2312" pitchFamily="49" charset="-122"/>
            </a:endParaRPr>
          </a:p>
        </p:txBody>
      </p:sp>
      <p:grpSp>
        <p:nvGrpSpPr>
          <p:cNvPr id="158" name="Group 12"/>
          <p:cNvGrpSpPr/>
          <p:nvPr/>
        </p:nvGrpSpPr>
        <p:grpSpPr bwMode="auto">
          <a:xfrm>
            <a:off x="1642251" y="1270175"/>
            <a:ext cx="6775994" cy="4526004"/>
            <a:chOff x="1365" y="1423"/>
            <a:chExt cx="3447" cy="2324"/>
          </a:xfrm>
        </p:grpSpPr>
        <p:graphicFrame>
          <p:nvGraphicFramePr>
            <p:cNvPr id="159" name="Object 10"/>
            <p:cNvGraphicFramePr>
              <a:graphicFrameLocks noChangeAspect="1"/>
            </p:cNvGraphicFramePr>
            <p:nvPr/>
          </p:nvGraphicFramePr>
          <p:xfrm>
            <a:off x="1651" y="1580"/>
            <a:ext cx="2867" cy="2115"/>
          </p:xfrm>
          <a:graphic>
            <a:graphicData uri="http://schemas.openxmlformats.org/presentationml/2006/ole">
              <mc:AlternateContent xmlns:mc="http://schemas.openxmlformats.org/markup-compatibility/2006">
                <mc:Choice xmlns:v="urn:schemas-microsoft-com:vml" Requires="v">
                  <p:oleObj spid="_x0000_s14339" name="Picture" r:id="rId2" imgW="3456305" imgH="3031490" progId="Word.Picture.8">
                    <p:embed/>
                  </p:oleObj>
                </mc:Choice>
                <mc:Fallback>
                  <p:oleObj name="Picture" r:id="rId2" imgW="3456305" imgH="3031490" progId="Word.Picture.8">
                    <p:embed/>
                    <p:pic>
                      <p:nvPicPr>
                        <p:cNvPr id="0" name="图片 143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 y="1580"/>
                          <a:ext cx="2867" cy="2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0" name="Text Box 14"/>
            <p:cNvSpPr txBox="1">
              <a:spLocks noChangeArrowheads="1"/>
            </p:cNvSpPr>
            <p:nvPr/>
          </p:nvSpPr>
          <p:spPr bwMode="auto">
            <a:xfrm>
              <a:off x="2307" y="315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T</a:t>
              </a:r>
              <a:endParaRPr lang="en-US" altLang="zh-CN" sz="4800" b="1" kern="0">
                <a:solidFill>
                  <a:srgbClr val="000000"/>
                </a:solidFill>
                <a:latin typeface="Times New Roman" panose="02020603050405020304" pitchFamily="18" charset="0"/>
                <a:ea typeface="楷体_GB2312" pitchFamily="49" charset="-122"/>
              </a:endParaRPr>
            </a:p>
          </p:txBody>
        </p:sp>
        <p:sp>
          <p:nvSpPr>
            <p:cNvPr id="161" name="Rectangle 15"/>
            <p:cNvSpPr>
              <a:spLocks noChangeArrowheads="1"/>
            </p:cNvSpPr>
            <p:nvPr/>
          </p:nvSpPr>
          <p:spPr bwMode="auto">
            <a:xfrm>
              <a:off x="4556" y="2457"/>
              <a:ext cx="25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800" b="1" i="1" kern="0" dirty="0" err="1">
                  <a:solidFill>
                    <a:srgbClr val="000000"/>
                  </a:solidFill>
                  <a:latin typeface="Times New Roman" panose="02020603050405020304" pitchFamily="18" charset="0"/>
                  <a:ea typeface="楷体_GB2312" pitchFamily="49" charset="-122"/>
                </a:rPr>
                <a:t>v</a:t>
              </a:r>
              <a:r>
                <a:rPr lang="en-US" altLang="zh-CN" sz="2800" b="1" kern="0" baseline="-25000" dirty="0" err="1">
                  <a:solidFill>
                    <a:srgbClr val="000000"/>
                  </a:solidFill>
                  <a:latin typeface="Times New Roman" panose="02020603050405020304" pitchFamily="18" charset="0"/>
                  <a:ea typeface="楷体_GB2312" pitchFamily="49" charset="-122"/>
                </a:rPr>
                <a:t>o</a:t>
              </a:r>
              <a:endParaRPr lang="en-US" altLang="zh-CN" sz="2800" b="1" kern="0" baseline="-25000" dirty="0">
                <a:solidFill>
                  <a:srgbClr val="000000"/>
                </a:solidFill>
                <a:latin typeface="Times New Roman" panose="02020603050405020304" pitchFamily="18" charset="0"/>
                <a:ea typeface="楷体_GB2312" pitchFamily="49" charset="-122"/>
              </a:endParaRPr>
            </a:p>
          </p:txBody>
        </p:sp>
        <p:sp>
          <p:nvSpPr>
            <p:cNvPr id="162" name="Rectangle 16"/>
            <p:cNvSpPr>
              <a:spLocks noChangeArrowheads="1"/>
            </p:cNvSpPr>
            <p:nvPr/>
          </p:nvSpPr>
          <p:spPr bwMode="auto">
            <a:xfrm>
              <a:off x="1378" y="1810"/>
              <a:ext cx="252"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err="1">
                  <a:solidFill>
                    <a:srgbClr val="000000"/>
                  </a:solidFill>
                  <a:latin typeface="Times New Roman" panose="02020603050405020304" pitchFamily="18" charset="0"/>
                  <a:ea typeface="楷体_GB2312" pitchFamily="49" charset="-122"/>
                </a:rPr>
                <a:t>v</a:t>
              </a:r>
              <a:r>
                <a:rPr lang="en-US" altLang="zh-CN" b="1" kern="0" baseline="-25000" dirty="0" err="1">
                  <a:solidFill>
                    <a:srgbClr val="000000"/>
                  </a:solidFill>
                  <a:latin typeface="Times New Roman" panose="02020603050405020304" pitchFamily="18" charset="0"/>
                  <a:ea typeface="楷体_GB2312" pitchFamily="49" charset="-122"/>
                </a:rPr>
                <a:t>IC</a:t>
              </a:r>
              <a:endParaRPr lang="en-US" altLang="zh-CN" b="1" kern="0" baseline="-25000" dirty="0">
                <a:solidFill>
                  <a:srgbClr val="000000"/>
                </a:solidFill>
                <a:latin typeface="Times New Roman" panose="02020603050405020304" pitchFamily="18" charset="0"/>
                <a:ea typeface="楷体_GB2312" pitchFamily="49" charset="-122"/>
              </a:endParaRPr>
            </a:p>
          </p:txBody>
        </p:sp>
        <p:sp>
          <p:nvSpPr>
            <p:cNvPr id="163" name="Rectangle 17"/>
            <p:cNvSpPr>
              <a:spLocks noChangeArrowheads="1"/>
            </p:cNvSpPr>
            <p:nvPr/>
          </p:nvSpPr>
          <p:spPr bwMode="auto">
            <a:xfrm>
              <a:off x="1375" y="2018"/>
              <a:ext cx="25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i="1" kern="0" baseline="-25000" dirty="0">
                  <a:solidFill>
                    <a:srgbClr val="FF0000"/>
                  </a:solidFill>
                  <a:latin typeface="Times New Roman" panose="02020603050405020304" pitchFamily="18" charset="0"/>
                  <a:ea typeface="楷体_GB2312" pitchFamily="49" charset="-122"/>
                </a:rPr>
                <a:t>TH</a:t>
              </a:r>
              <a:endParaRPr lang="en-US" altLang="zh-CN" sz="2400" kern="0" baseline="-25000" dirty="0">
                <a:solidFill>
                  <a:srgbClr val="FF0000"/>
                </a:solidFill>
                <a:latin typeface="Times New Roman" panose="02020603050405020304" pitchFamily="18" charset="0"/>
                <a:ea typeface="楷体_GB2312" pitchFamily="49" charset="-122"/>
              </a:endParaRPr>
            </a:p>
          </p:txBody>
        </p:sp>
        <p:sp>
          <p:nvSpPr>
            <p:cNvPr id="164" name="Rectangle 18"/>
            <p:cNvSpPr>
              <a:spLocks noChangeArrowheads="1"/>
            </p:cNvSpPr>
            <p:nvPr/>
          </p:nvSpPr>
          <p:spPr bwMode="auto">
            <a:xfrm>
              <a:off x="1372" y="2709"/>
              <a:ext cx="265"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FF0000"/>
                  </a:solidFill>
                  <a:latin typeface="Times New Roman" panose="02020603050405020304" pitchFamily="18" charset="0"/>
                  <a:ea typeface="楷体_GB2312" pitchFamily="49" charset="-122"/>
                </a:rPr>
                <a:t>TR</a:t>
              </a:r>
              <a:endParaRPr lang="en-US" altLang="zh-CN" kern="0" baseline="-25000" dirty="0">
                <a:solidFill>
                  <a:srgbClr val="FF0000"/>
                </a:solidFill>
                <a:latin typeface="Times New Roman" panose="02020603050405020304" pitchFamily="18" charset="0"/>
                <a:ea typeface="楷体_GB2312" pitchFamily="49" charset="-122"/>
              </a:endParaRPr>
            </a:p>
          </p:txBody>
        </p:sp>
        <p:sp>
          <p:nvSpPr>
            <p:cNvPr id="165" name="Rectangle 19"/>
            <p:cNvSpPr>
              <a:spLocks noChangeArrowheads="1"/>
            </p:cNvSpPr>
            <p:nvPr/>
          </p:nvSpPr>
          <p:spPr bwMode="auto">
            <a:xfrm>
              <a:off x="1365" y="3118"/>
              <a:ext cx="31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000000"/>
                  </a:solidFill>
                  <a:latin typeface="Times New Roman" panose="02020603050405020304" pitchFamily="18" charset="0"/>
                  <a:ea typeface="楷体_GB2312" pitchFamily="49" charset="-122"/>
                </a:rPr>
                <a:t>DIS</a:t>
              </a:r>
              <a:endParaRPr lang="en-US" altLang="zh-CN" b="1" kern="0" baseline="30000" dirty="0">
                <a:solidFill>
                  <a:srgbClr val="000000"/>
                </a:solidFill>
                <a:latin typeface="Times New Roman" panose="02020603050405020304" pitchFamily="18" charset="0"/>
                <a:ea typeface="楷体_GB2312" pitchFamily="49" charset="-122"/>
              </a:endParaRPr>
            </a:p>
          </p:txBody>
        </p:sp>
        <p:sp>
          <p:nvSpPr>
            <p:cNvPr id="166" name="Text Box 20"/>
            <p:cNvSpPr txBox="1">
              <a:spLocks noChangeArrowheads="1"/>
            </p:cNvSpPr>
            <p:nvPr/>
          </p:nvSpPr>
          <p:spPr bwMode="auto">
            <a:xfrm>
              <a:off x="2084" y="2019"/>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C</a:t>
              </a:r>
              <a:r>
                <a:rPr lang="en-US" altLang="zh-CN" sz="1100" b="1" kern="0" baseline="-25000">
                  <a:solidFill>
                    <a:srgbClr val="000000"/>
                  </a:solidFill>
                  <a:latin typeface="Times New Roman" panose="02020603050405020304" pitchFamily="18" charset="0"/>
                  <a:ea typeface="楷体_GB2312" pitchFamily="49" charset="-122"/>
                </a:rPr>
                <a:t>1</a:t>
              </a:r>
              <a:endParaRPr lang="en-US" altLang="zh-CN" sz="3200" b="1" kern="0" baseline="-25000">
                <a:solidFill>
                  <a:srgbClr val="000000"/>
                </a:solidFill>
                <a:latin typeface="Times New Roman" panose="02020603050405020304" pitchFamily="18" charset="0"/>
                <a:ea typeface="楷体_GB2312" pitchFamily="49" charset="-122"/>
              </a:endParaRPr>
            </a:p>
          </p:txBody>
        </p:sp>
        <p:sp>
          <p:nvSpPr>
            <p:cNvPr id="167" name="Text Box 21"/>
            <p:cNvSpPr txBox="1">
              <a:spLocks noChangeArrowheads="1"/>
            </p:cNvSpPr>
            <p:nvPr/>
          </p:nvSpPr>
          <p:spPr bwMode="auto">
            <a:xfrm>
              <a:off x="2121" y="2710"/>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C</a:t>
              </a:r>
              <a:r>
                <a:rPr lang="en-US" altLang="zh-CN" sz="1100" b="1" kern="0" baseline="-25000">
                  <a:solidFill>
                    <a:srgbClr val="000000"/>
                  </a:solidFill>
                  <a:latin typeface="Times New Roman" panose="02020603050405020304" pitchFamily="18" charset="0"/>
                  <a:ea typeface="楷体_GB2312" pitchFamily="49" charset="-122"/>
                </a:rPr>
                <a:t>2</a:t>
              </a:r>
              <a:endParaRPr lang="en-US" altLang="zh-CN" sz="3200" b="1" kern="0" baseline="-25000">
                <a:solidFill>
                  <a:srgbClr val="000000"/>
                </a:solidFill>
                <a:latin typeface="Times New Roman" panose="02020603050405020304" pitchFamily="18" charset="0"/>
                <a:ea typeface="楷体_GB2312" pitchFamily="49" charset="-122"/>
              </a:endParaRPr>
            </a:p>
          </p:txBody>
        </p:sp>
        <p:sp>
          <p:nvSpPr>
            <p:cNvPr id="168" name="Text Box 22"/>
            <p:cNvSpPr txBox="1">
              <a:spLocks noChangeArrowheads="1"/>
            </p:cNvSpPr>
            <p:nvPr/>
          </p:nvSpPr>
          <p:spPr bwMode="auto">
            <a:xfrm>
              <a:off x="1972" y="1894"/>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69" name="Text Box 23"/>
            <p:cNvSpPr txBox="1">
              <a:spLocks noChangeArrowheads="1"/>
            </p:cNvSpPr>
            <p:nvPr/>
          </p:nvSpPr>
          <p:spPr bwMode="auto">
            <a:xfrm>
              <a:off x="1972" y="2051"/>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0" name="Text Box 24"/>
            <p:cNvSpPr txBox="1">
              <a:spLocks noChangeArrowheads="1"/>
            </p:cNvSpPr>
            <p:nvPr/>
          </p:nvSpPr>
          <p:spPr bwMode="auto">
            <a:xfrm>
              <a:off x="1972" y="258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1" name="Text Box 25"/>
            <p:cNvSpPr txBox="1">
              <a:spLocks noChangeArrowheads="1"/>
            </p:cNvSpPr>
            <p:nvPr/>
          </p:nvSpPr>
          <p:spPr bwMode="auto">
            <a:xfrm>
              <a:off x="1972" y="2742"/>
              <a:ext cx="309"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2" name="Text Box 26"/>
            <p:cNvSpPr txBox="1">
              <a:spLocks noChangeArrowheads="1"/>
            </p:cNvSpPr>
            <p:nvPr/>
          </p:nvSpPr>
          <p:spPr bwMode="auto">
            <a:xfrm>
              <a:off x="1636" y="359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(1)</a:t>
              </a:r>
              <a:endParaRPr lang="en-US" altLang="zh-CN" sz="4800" b="1" kern="0">
                <a:solidFill>
                  <a:srgbClr val="000000"/>
                </a:solidFill>
                <a:latin typeface="Times New Roman" panose="02020603050405020304" pitchFamily="18" charset="0"/>
                <a:ea typeface="楷体_GB2312" pitchFamily="49" charset="-122"/>
              </a:endParaRPr>
            </a:p>
          </p:txBody>
        </p:sp>
        <p:sp>
          <p:nvSpPr>
            <p:cNvPr id="173" name="Text Box 27"/>
            <p:cNvSpPr txBox="1">
              <a:spLocks noChangeArrowheads="1"/>
            </p:cNvSpPr>
            <p:nvPr/>
          </p:nvSpPr>
          <p:spPr bwMode="auto">
            <a:xfrm>
              <a:off x="1524" y="2679"/>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(2)</a:t>
              </a:r>
              <a:endParaRPr lang="en-US" altLang="zh-CN" sz="4800" b="1" kern="0">
                <a:solidFill>
                  <a:srgbClr val="000000"/>
                </a:solidFill>
                <a:latin typeface="Times New Roman" panose="02020603050405020304" pitchFamily="18" charset="0"/>
                <a:ea typeface="楷体_GB2312" pitchFamily="49" charset="-122"/>
              </a:endParaRPr>
            </a:p>
          </p:txBody>
        </p:sp>
        <p:sp>
          <p:nvSpPr>
            <p:cNvPr id="174" name="Text Box 28"/>
            <p:cNvSpPr txBox="1">
              <a:spLocks noChangeArrowheads="1"/>
            </p:cNvSpPr>
            <p:nvPr/>
          </p:nvSpPr>
          <p:spPr bwMode="auto">
            <a:xfrm>
              <a:off x="4397" y="242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(3)</a:t>
              </a:r>
              <a:endParaRPr lang="en-US" altLang="zh-CN" sz="4800" b="1" kern="0">
                <a:solidFill>
                  <a:srgbClr val="000000"/>
                </a:solidFill>
                <a:latin typeface="Times New Roman" panose="02020603050405020304" pitchFamily="18" charset="0"/>
                <a:ea typeface="楷体_GB2312" pitchFamily="49" charset="-122"/>
              </a:endParaRPr>
            </a:p>
          </p:txBody>
        </p:sp>
        <p:sp>
          <p:nvSpPr>
            <p:cNvPr id="175" name="Text Box 29"/>
            <p:cNvSpPr txBox="1">
              <a:spLocks noChangeArrowheads="1"/>
            </p:cNvSpPr>
            <p:nvPr/>
          </p:nvSpPr>
          <p:spPr bwMode="auto">
            <a:xfrm>
              <a:off x="2681" y="154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(4)</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6" name="Text Box 30"/>
            <p:cNvSpPr txBox="1">
              <a:spLocks noChangeArrowheads="1"/>
            </p:cNvSpPr>
            <p:nvPr/>
          </p:nvSpPr>
          <p:spPr bwMode="auto">
            <a:xfrm>
              <a:off x="1533" y="1829"/>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(5)</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7" name="Text Box 31"/>
            <p:cNvSpPr txBox="1">
              <a:spLocks noChangeArrowheads="1"/>
            </p:cNvSpPr>
            <p:nvPr/>
          </p:nvSpPr>
          <p:spPr bwMode="auto">
            <a:xfrm>
              <a:off x="1537" y="201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(6)</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8" name="Text Box 32"/>
            <p:cNvSpPr txBox="1">
              <a:spLocks noChangeArrowheads="1"/>
            </p:cNvSpPr>
            <p:nvPr/>
          </p:nvSpPr>
          <p:spPr bwMode="auto">
            <a:xfrm>
              <a:off x="1604" y="3096"/>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(7)</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9" name="Text Box 33"/>
            <p:cNvSpPr txBox="1">
              <a:spLocks noChangeArrowheads="1"/>
            </p:cNvSpPr>
            <p:nvPr/>
          </p:nvSpPr>
          <p:spPr bwMode="auto">
            <a:xfrm>
              <a:off x="2435" y="1913"/>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kern="0" dirty="0">
                  <a:solidFill>
                    <a:srgbClr val="000000"/>
                  </a:solidFill>
                  <a:latin typeface="Times New Roman" panose="02020603050405020304" pitchFamily="18" charset="0"/>
                  <a:ea typeface="楷体_GB2312" pitchFamily="49" charset="-122"/>
                </a:rPr>
                <a:t>R</a:t>
              </a:r>
              <a:endParaRPr lang="en-US" altLang="zh-CN" sz="6600" b="1" kern="0" dirty="0">
                <a:solidFill>
                  <a:srgbClr val="000000"/>
                </a:solidFill>
                <a:latin typeface="Times New Roman" panose="02020603050405020304" pitchFamily="18" charset="0"/>
                <a:ea typeface="楷体_GB2312" pitchFamily="49" charset="-122"/>
              </a:endParaRPr>
            </a:p>
          </p:txBody>
        </p:sp>
        <p:sp>
          <p:nvSpPr>
            <p:cNvPr id="180" name="Text Box 34"/>
            <p:cNvSpPr txBox="1">
              <a:spLocks noChangeArrowheads="1"/>
            </p:cNvSpPr>
            <p:nvPr/>
          </p:nvSpPr>
          <p:spPr bwMode="auto">
            <a:xfrm>
              <a:off x="2465" y="2582"/>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kern="0" dirty="0">
                  <a:solidFill>
                    <a:srgbClr val="000000"/>
                  </a:solidFill>
                  <a:latin typeface="Times New Roman" panose="02020603050405020304" pitchFamily="18" charset="0"/>
                  <a:ea typeface="楷体_GB2312" pitchFamily="49" charset="-122"/>
                </a:rPr>
                <a:t>S</a:t>
              </a:r>
              <a:endParaRPr lang="en-US" altLang="zh-CN" sz="6600" b="1" kern="0" dirty="0">
                <a:solidFill>
                  <a:srgbClr val="000000"/>
                </a:solidFill>
                <a:latin typeface="Times New Roman" panose="02020603050405020304" pitchFamily="18" charset="0"/>
                <a:ea typeface="楷体_GB2312" pitchFamily="49" charset="-122"/>
              </a:endParaRPr>
            </a:p>
          </p:txBody>
        </p:sp>
        <p:sp>
          <p:nvSpPr>
            <p:cNvPr id="181" name="Text Box 35"/>
            <p:cNvSpPr txBox="1">
              <a:spLocks noChangeArrowheads="1"/>
            </p:cNvSpPr>
            <p:nvPr/>
          </p:nvSpPr>
          <p:spPr bwMode="auto">
            <a:xfrm>
              <a:off x="2942" y="192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2" name="Rectangle 36"/>
            <p:cNvSpPr>
              <a:spLocks noChangeArrowheads="1"/>
            </p:cNvSpPr>
            <p:nvPr/>
          </p:nvSpPr>
          <p:spPr bwMode="auto">
            <a:xfrm>
              <a:off x="1934" y="1706"/>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3" name="Rectangle 37"/>
            <p:cNvSpPr>
              <a:spLocks noChangeArrowheads="1"/>
            </p:cNvSpPr>
            <p:nvPr/>
          </p:nvSpPr>
          <p:spPr bwMode="auto">
            <a:xfrm>
              <a:off x="1934" y="2271"/>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4" name="Rectangle 38"/>
            <p:cNvSpPr>
              <a:spLocks noChangeArrowheads="1"/>
            </p:cNvSpPr>
            <p:nvPr/>
          </p:nvSpPr>
          <p:spPr bwMode="auto">
            <a:xfrm>
              <a:off x="1934" y="2964"/>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5" name="Text Box 39"/>
            <p:cNvSpPr txBox="1">
              <a:spLocks noChangeArrowheads="1"/>
            </p:cNvSpPr>
            <p:nvPr/>
          </p:nvSpPr>
          <p:spPr bwMode="auto">
            <a:xfrm>
              <a:off x="2942" y="2522"/>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6" name="Text Box 40"/>
            <p:cNvSpPr txBox="1">
              <a:spLocks noChangeArrowheads="1"/>
            </p:cNvSpPr>
            <p:nvPr/>
          </p:nvSpPr>
          <p:spPr bwMode="auto">
            <a:xfrm>
              <a:off x="3539" y="2491"/>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7" name="Text Box 41"/>
            <p:cNvSpPr txBox="1">
              <a:spLocks noChangeArrowheads="1"/>
            </p:cNvSpPr>
            <p:nvPr/>
          </p:nvSpPr>
          <p:spPr bwMode="auto">
            <a:xfrm>
              <a:off x="3987" y="2491"/>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1</a:t>
              </a:r>
              <a:endParaRPr lang="en-US" altLang="zh-CN" sz="4800" b="1" kern="0">
                <a:solidFill>
                  <a:srgbClr val="000000"/>
                </a:solidFill>
                <a:latin typeface="Times New Roman" panose="02020603050405020304" pitchFamily="18" charset="0"/>
                <a:ea typeface="楷体_GB2312" pitchFamily="49" charset="-122"/>
              </a:endParaRPr>
            </a:p>
          </p:txBody>
        </p:sp>
        <p:sp>
          <p:nvSpPr>
            <p:cNvPr id="188" name="Text Box 42"/>
            <p:cNvSpPr txBox="1">
              <a:spLocks noChangeArrowheads="1"/>
            </p:cNvSpPr>
            <p:nvPr/>
          </p:nvSpPr>
          <p:spPr bwMode="auto">
            <a:xfrm>
              <a:off x="2569" y="1423"/>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i="1" kern="0">
                  <a:solidFill>
                    <a:srgbClr val="000000"/>
                  </a:solidFill>
                  <a:latin typeface="Times New Roman" panose="02020603050405020304" pitchFamily="18" charset="0"/>
                  <a:ea typeface="楷体_GB2312" pitchFamily="49" charset="-122"/>
                </a:rPr>
                <a:t>R</a:t>
              </a:r>
              <a:r>
                <a:rPr lang="en-US" altLang="zh-CN" sz="1600" b="1" kern="0" baseline="-25000">
                  <a:solidFill>
                    <a:srgbClr val="000000"/>
                  </a:solidFill>
                  <a:latin typeface="Times New Roman" panose="02020603050405020304" pitchFamily="18" charset="0"/>
                  <a:ea typeface="楷体_GB2312" pitchFamily="49" charset="-122"/>
                </a:rPr>
                <a:t>D</a:t>
              </a:r>
              <a:endParaRPr lang="en-US" altLang="zh-CN" sz="4800" b="1" kern="0" baseline="-25000">
                <a:solidFill>
                  <a:srgbClr val="000000"/>
                </a:solidFill>
                <a:latin typeface="Times New Roman" panose="02020603050405020304" pitchFamily="18" charset="0"/>
                <a:ea typeface="楷体_GB2312" pitchFamily="49" charset="-122"/>
              </a:endParaRPr>
            </a:p>
          </p:txBody>
        </p:sp>
        <p:sp>
          <p:nvSpPr>
            <p:cNvPr id="189" name="Text Box 43"/>
            <p:cNvSpPr txBox="1">
              <a:spLocks noChangeArrowheads="1"/>
            </p:cNvSpPr>
            <p:nvPr/>
          </p:nvSpPr>
          <p:spPr bwMode="auto">
            <a:xfrm>
              <a:off x="1785" y="1423"/>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i="1" kern="0">
                  <a:solidFill>
                    <a:srgbClr val="000000"/>
                  </a:solidFill>
                  <a:latin typeface="Times New Roman" panose="02020603050405020304" pitchFamily="18" charset="0"/>
                  <a:ea typeface="楷体_GB2312" pitchFamily="49" charset="-122"/>
                </a:rPr>
                <a:t>V</a:t>
              </a:r>
              <a:r>
                <a:rPr lang="en-US" altLang="zh-CN" sz="1600" b="1" kern="0" baseline="-25000">
                  <a:solidFill>
                    <a:srgbClr val="000000"/>
                  </a:solidFill>
                  <a:latin typeface="Times New Roman" panose="02020603050405020304" pitchFamily="18" charset="0"/>
                  <a:ea typeface="楷体_GB2312" pitchFamily="49" charset="-122"/>
                </a:rPr>
                <a:t>CC</a:t>
              </a:r>
              <a:endParaRPr lang="en-US" altLang="zh-CN" sz="4800" b="1" kern="0" baseline="-25000">
                <a:solidFill>
                  <a:srgbClr val="000000"/>
                </a:solidFill>
                <a:latin typeface="Times New Roman" panose="02020603050405020304" pitchFamily="18" charset="0"/>
                <a:ea typeface="楷体_GB2312" pitchFamily="49" charset="-122"/>
              </a:endParaRPr>
            </a:p>
          </p:txBody>
        </p:sp>
        <p:sp>
          <p:nvSpPr>
            <p:cNvPr id="190" name="Text Box 44"/>
            <p:cNvSpPr txBox="1">
              <a:spLocks noChangeArrowheads="1"/>
            </p:cNvSpPr>
            <p:nvPr/>
          </p:nvSpPr>
          <p:spPr bwMode="auto">
            <a:xfrm>
              <a:off x="1897" y="1548"/>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(8)</a:t>
              </a:r>
              <a:endParaRPr lang="en-US" altLang="zh-CN" sz="4800" b="1" kern="0">
                <a:solidFill>
                  <a:srgbClr val="000000"/>
                </a:solidFill>
                <a:latin typeface="Times New Roman" panose="02020603050405020304" pitchFamily="18" charset="0"/>
                <a:ea typeface="楷体_GB2312" pitchFamily="49" charset="-122"/>
              </a:endParaRPr>
            </a:p>
          </p:txBody>
        </p:sp>
        <p:sp>
          <p:nvSpPr>
            <p:cNvPr id="191" name="Text Box 45"/>
            <p:cNvSpPr txBox="1">
              <a:spLocks noChangeArrowheads="1"/>
            </p:cNvSpPr>
            <p:nvPr/>
          </p:nvSpPr>
          <p:spPr bwMode="auto">
            <a:xfrm>
              <a:off x="3987" y="236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G</a:t>
              </a:r>
              <a:endParaRPr lang="en-US" altLang="zh-CN" sz="4400" b="1" kern="0">
                <a:solidFill>
                  <a:srgbClr val="000000"/>
                </a:solidFill>
                <a:latin typeface="Times New Roman" panose="02020603050405020304" pitchFamily="18" charset="0"/>
                <a:ea typeface="楷体_GB2312" pitchFamily="49" charset="-122"/>
              </a:endParaRPr>
            </a:p>
          </p:txBody>
        </p:sp>
      </p:grpSp>
      <p:sp>
        <p:nvSpPr>
          <p:cNvPr id="221" name="Rectangle 87"/>
          <p:cNvSpPr>
            <a:spLocks noChangeArrowheads="1"/>
          </p:cNvSpPr>
          <p:nvPr/>
        </p:nvSpPr>
        <p:spPr bwMode="auto">
          <a:xfrm>
            <a:off x="194408" y="673381"/>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2.</a:t>
            </a:r>
            <a:r>
              <a:rPr lang="zh-CN" altLang="en-US" sz="2800" b="1" dirty="0">
                <a:solidFill>
                  <a:srgbClr val="C00000"/>
                </a:solidFill>
                <a:latin typeface="Times New Roman" panose="02020603050405020304" pitchFamily="18" charset="0"/>
                <a:ea typeface="楷体_GB2312" pitchFamily="49" charset="-122"/>
              </a:rPr>
              <a:t>  工作原理</a:t>
            </a:r>
            <a:endParaRPr lang="zh-CN" altLang="en-US" sz="2800" b="1" dirty="0">
              <a:solidFill>
                <a:srgbClr val="C00000"/>
              </a:solidFill>
              <a:latin typeface="Times New Roman" panose="02020603050405020304" pitchFamily="18" charset="0"/>
              <a:ea typeface="楷体_GB2312" pitchFamily="49" charset="-122"/>
            </a:endParaRPr>
          </a:p>
        </p:txBody>
      </p:sp>
      <p:sp>
        <p:nvSpPr>
          <p:cNvPr id="155" name="Oval 7"/>
          <p:cNvSpPr>
            <a:spLocks noChangeArrowheads="1"/>
          </p:cNvSpPr>
          <p:nvPr/>
        </p:nvSpPr>
        <p:spPr bwMode="auto">
          <a:xfrm flipH="1">
            <a:off x="6386271" y="2970014"/>
            <a:ext cx="484288" cy="440469"/>
          </a:xfrm>
          <a:prstGeom prst="ellipse">
            <a:avLst/>
          </a:prstGeom>
          <a:solidFill>
            <a:srgbClr val="FF99CC"/>
          </a:solidFill>
          <a:ln w="9525">
            <a:solidFill>
              <a:srgbClr val="FF000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22" name="Line 84"/>
          <p:cNvSpPr>
            <a:spLocks noChangeShapeType="1"/>
          </p:cNvSpPr>
          <p:nvPr/>
        </p:nvSpPr>
        <p:spPr bwMode="auto">
          <a:xfrm flipV="1">
            <a:off x="3917247" y="2240785"/>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224" name="Line 84"/>
          <p:cNvSpPr>
            <a:spLocks noChangeShapeType="1"/>
          </p:cNvSpPr>
          <p:nvPr/>
        </p:nvSpPr>
        <p:spPr bwMode="auto">
          <a:xfrm flipV="1">
            <a:off x="4200078" y="1280975"/>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225" name="Line 84"/>
          <p:cNvSpPr>
            <a:spLocks noChangeShapeType="1"/>
          </p:cNvSpPr>
          <p:nvPr/>
        </p:nvSpPr>
        <p:spPr bwMode="auto">
          <a:xfrm flipV="1">
            <a:off x="3975027" y="3577496"/>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226" name="Line 84"/>
          <p:cNvSpPr>
            <a:spLocks noChangeShapeType="1"/>
          </p:cNvSpPr>
          <p:nvPr/>
        </p:nvSpPr>
        <p:spPr bwMode="auto">
          <a:xfrm flipV="1">
            <a:off x="1765543" y="3825639"/>
            <a:ext cx="314091" cy="195"/>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wedge">
                                      <p:cBhvr>
                                        <p:cTn id="7" dur="500"/>
                                        <p:tgtEl>
                                          <p:spTgt spid="154"/>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55"/>
                                        </p:tgtEl>
                                        <p:attrNameLst>
                                          <p:attrName>style.visibility</p:attrName>
                                        </p:attrNameLst>
                                      </p:cBhvr>
                                      <p:to>
                                        <p:strVal val="visible"/>
                                      </p:to>
                                    </p:set>
                                    <p:animEffect transition="in" filter="wedge">
                                      <p:cBhvr>
                                        <p:cTn id="12" dur="500"/>
                                        <p:tgtEl>
                                          <p:spTgt spid="155"/>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56"/>
                                        </p:tgtEl>
                                        <p:attrNameLst>
                                          <p:attrName>style.visibility</p:attrName>
                                        </p:attrNameLst>
                                      </p:cBhvr>
                                      <p:to>
                                        <p:strVal val="visible"/>
                                      </p:to>
                                    </p:set>
                                    <p:animEffect transition="in" filter="wedge">
                                      <p:cBhvr>
                                        <p:cTn id="17" dur="500"/>
                                        <p:tgtEl>
                                          <p:spTgt spid="15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ircle(in)">
                                      <p:cBhvr>
                                        <p:cTn id="2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4" grpId="0" animBg="1" autoUpdateAnimBg="0"/>
      <p:bldP spid="156" grpId="0" animBg="1" autoUpdateAnimBg="0"/>
      <p:bldP spid="155"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52" name="Rectangle 4"/>
          <p:cNvSpPr>
            <a:spLocks noChangeArrowheads="1"/>
          </p:cNvSpPr>
          <p:nvPr/>
        </p:nvSpPr>
        <p:spPr bwMode="auto">
          <a:xfrm>
            <a:off x="3240486" y="4772630"/>
            <a:ext cx="404813" cy="539750"/>
          </a:xfrm>
          <a:prstGeom prst="rect">
            <a:avLst/>
          </a:prstGeom>
          <a:solidFill>
            <a:srgbClr val="66FF33"/>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157" name="Oval 11"/>
          <p:cNvSpPr>
            <a:spLocks noChangeArrowheads="1"/>
          </p:cNvSpPr>
          <p:nvPr/>
        </p:nvSpPr>
        <p:spPr bwMode="auto">
          <a:xfrm flipH="1">
            <a:off x="1977712" y="2090264"/>
            <a:ext cx="495300" cy="269875"/>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grpSp>
        <p:nvGrpSpPr>
          <p:cNvPr id="158" name="Group 12"/>
          <p:cNvGrpSpPr/>
          <p:nvPr/>
        </p:nvGrpSpPr>
        <p:grpSpPr bwMode="auto">
          <a:xfrm>
            <a:off x="1612275" y="1235488"/>
            <a:ext cx="6775994" cy="4526004"/>
            <a:chOff x="1365" y="1423"/>
            <a:chExt cx="3447" cy="2324"/>
          </a:xfrm>
        </p:grpSpPr>
        <p:graphicFrame>
          <p:nvGraphicFramePr>
            <p:cNvPr id="159" name="Object 10"/>
            <p:cNvGraphicFramePr>
              <a:graphicFrameLocks noChangeAspect="1"/>
            </p:cNvGraphicFramePr>
            <p:nvPr/>
          </p:nvGraphicFramePr>
          <p:xfrm>
            <a:off x="1663" y="1609"/>
            <a:ext cx="2867" cy="2115"/>
          </p:xfrm>
          <a:graphic>
            <a:graphicData uri="http://schemas.openxmlformats.org/presentationml/2006/ole">
              <mc:AlternateContent xmlns:mc="http://schemas.openxmlformats.org/markup-compatibility/2006">
                <mc:Choice xmlns:v="urn:schemas-microsoft-com:vml" Requires="v">
                  <p:oleObj spid="_x0000_s15367" name="Picture" r:id="rId2" imgW="3456305" imgH="3031490" progId="Word.Picture.8">
                    <p:embed/>
                  </p:oleObj>
                </mc:Choice>
                <mc:Fallback>
                  <p:oleObj name="Picture" r:id="rId2" imgW="3456305" imgH="3031490" progId="Word.Picture.8">
                    <p:embed/>
                    <p:pic>
                      <p:nvPicPr>
                        <p:cNvPr id="0" name="图片 153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 y="1609"/>
                          <a:ext cx="2867" cy="2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0" name="Text Box 14"/>
            <p:cNvSpPr txBox="1">
              <a:spLocks noChangeArrowheads="1"/>
            </p:cNvSpPr>
            <p:nvPr/>
          </p:nvSpPr>
          <p:spPr bwMode="auto">
            <a:xfrm>
              <a:off x="2307" y="315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T</a:t>
              </a:r>
              <a:endParaRPr lang="en-US" altLang="zh-CN" sz="4800" b="1" kern="0">
                <a:solidFill>
                  <a:srgbClr val="000000"/>
                </a:solidFill>
                <a:latin typeface="Times New Roman" panose="02020603050405020304" pitchFamily="18" charset="0"/>
                <a:ea typeface="楷体_GB2312" pitchFamily="49" charset="-122"/>
              </a:endParaRPr>
            </a:p>
          </p:txBody>
        </p:sp>
        <p:sp>
          <p:nvSpPr>
            <p:cNvPr id="161" name="Rectangle 15"/>
            <p:cNvSpPr>
              <a:spLocks noChangeArrowheads="1"/>
            </p:cNvSpPr>
            <p:nvPr/>
          </p:nvSpPr>
          <p:spPr bwMode="auto">
            <a:xfrm>
              <a:off x="4556" y="2457"/>
              <a:ext cx="25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800" b="1" i="1" kern="0" dirty="0" err="1">
                  <a:solidFill>
                    <a:srgbClr val="000000"/>
                  </a:solidFill>
                  <a:latin typeface="Times New Roman" panose="02020603050405020304" pitchFamily="18" charset="0"/>
                  <a:ea typeface="楷体_GB2312" pitchFamily="49" charset="-122"/>
                </a:rPr>
                <a:t>v</a:t>
              </a:r>
              <a:r>
                <a:rPr lang="en-US" altLang="zh-CN" sz="2800" b="1" kern="0" baseline="-25000" dirty="0" err="1">
                  <a:solidFill>
                    <a:srgbClr val="000000"/>
                  </a:solidFill>
                  <a:latin typeface="Times New Roman" panose="02020603050405020304" pitchFamily="18" charset="0"/>
                  <a:ea typeface="楷体_GB2312" pitchFamily="49" charset="-122"/>
                </a:rPr>
                <a:t>o</a:t>
              </a:r>
              <a:endParaRPr lang="en-US" altLang="zh-CN" sz="2800" b="1" kern="0" baseline="-25000" dirty="0">
                <a:solidFill>
                  <a:srgbClr val="000000"/>
                </a:solidFill>
                <a:latin typeface="Times New Roman" panose="02020603050405020304" pitchFamily="18" charset="0"/>
                <a:ea typeface="楷体_GB2312" pitchFamily="49" charset="-122"/>
              </a:endParaRPr>
            </a:p>
          </p:txBody>
        </p:sp>
        <p:sp>
          <p:nvSpPr>
            <p:cNvPr id="162" name="Rectangle 16"/>
            <p:cNvSpPr>
              <a:spLocks noChangeArrowheads="1"/>
            </p:cNvSpPr>
            <p:nvPr/>
          </p:nvSpPr>
          <p:spPr bwMode="auto">
            <a:xfrm>
              <a:off x="1378" y="1810"/>
              <a:ext cx="252"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err="1">
                  <a:solidFill>
                    <a:srgbClr val="000000"/>
                  </a:solidFill>
                  <a:latin typeface="Times New Roman" panose="02020603050405020304" pitchFamily="18" charset="0"/>
                  <a:ea typeface="楷体_GB2312" pitchFamily="49" charset="-122"/>
                </a:rPr>
                <a:t>v</a:t>
              </a:r>
              <a:r>
                <a:rPr lang="en-US" altLang="zh-CN" b="1" kern="0" baseline="-25000" dirty="0" err="1">
                  <a:solidFill>
                    <a:srgbClr val="000000"/>
                  </a:solidFill>
                  <a:latin typeface="Times New Roman" panose="02020603050405020304" pitchFamily="18" charset="0"/>
                  <a:ea typeface="楷体_GB2312" pitchFamily="49" charset="-122"/>
                </a:rPr>
                <a:t>IC</a:t>
              </a:r>
              <a:endParaRPr lang="en-US" altLang="zh-CN" b="1" kern="0" baseline="-25000" dirty="0">
                <a:solidFill>
                  <a:srgbClr val="000000"/>
                </a:solidFill>
                <a:latin typeface="Times New Roman" panose="02020603050405020304" pitchFamily="18" charset="0"/>
                <a:ea typeface="楷体_GB2312" pitchFamily="49" charset="-122"/>
              </a:endParaRPr>
            </a:p>
          </p:txBody>
        </p:sp>
        <p:sp>
          <p:nvSpPr>
            <p:cNvPr id="163" name="Rectangle 17"/>
            <p:cNvSpPr>
              <a:spLocks noChangeArrowheads="1"/>
            </p:cNvSpPr>
            <p:nvPr/>
          </p:nvSpPr>
          <p:spPr bwMode="auto">
            <a:xfrm>
              <a:off x="1375" y="2018"/>
              <a:ext cx="25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i="1" kern="0" baseline="-25000" dirty="0">
                  <a:solidFill>
                    <a:srgbClr val="FF0000"/>
                  </a:solidFill>
                  <a:latin typeface="Times New Roman" panose="02020603050405020304" pitchFamily="18" charset="0"/>
                  <a:ea typeface="楷体_GB2312" pitchFamily="49" charset="-122"/>
                </a:rPr>
                <a:t>TH</a:t>
              </a:r>
              <a:endParaRPr lang="en-US" altLang="zh-CN" sz="2400" kern="0" baseline="-25000" dirty="0">
                <a:solidFill>
                  <a:srgbClr val="FF0000"/>
                </a:solidFill>
                <a:latin typeface="Times New Roman" panose="02020603050405020304" pitchFamily="18" charset="0"/>
                <a:ea typeface="楷体_GB2312" pitchFamily="49" charset="-122"/>
              </a:endParaRPr>
            </a:p>
          </p:txBody>
        </p:sp>
        <p:sp>
          <p:nvSpPr>
            <p:cNvPr id="164" name="Rectangle 18"/>
            <p:cNvSpPr>
              <a:spLocks noChangeArrowheads="1"/>
            </p:cNvSpPr>
            <p:nvPr/>
          </p:nvSpPr>
          <p:spPr bwMode="auto">
            <a:xfrm>
              <a:off x="1372" y="2709"/>
              <a:ext cx="265"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FF0000"/>
                  </a:solidFill>
                  <a:latin typeface="Times New Roman" panose="02020603050405020304" pitchFamily="18" charset="0"/>
                  <a:ea typeface="楷体_GB2312" pitchFamily="49" charset="-122"/>
                </a:rPr>
                <a:t>TR</a:t>
              </a:r>
              <a:endParaRPr lang="en-US" altLang="zh-CN" kern="0" baseline="-25000" dirty="0">
                <a:solidFill>
                  <a:srgbClr val="FF0000"/>
                </a:solidFill>
                <a:latin typeface="Times New Roman" panose="02020603050405020304" pitchFamily="18" charset="0"/>
                <a:ea typeface="楷体_GB2312" pitchFamily="49" charset="-122"/>
              </a:endParaRPr>
            </a:p>
          </p:txBody>
        </p:sp>
        <p:sp>
          <p:nvSpPr>
            <p:cNvPr id="165" name="Rectangle 19"/>
            <p:cNvSpPr>
              <a:spLocks noChangeArrowheads="1"/>
            </p:cNvSpPr>
            <p:nvPr/>
          </p:nvSpPr>
          <p:spPr bwMode="auto">
            <a:xfrm>
              <a:off x="1365" y="3118"/>
              <a:ext cx="31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000000"/>
                  </a:solidFill>
                  <a:latin typeface="Times New Roman" panose="02020603050405020304" pitchFamily="18" charset="0"/>
                  <a:ea typeface="楷体_GB2312" pitchFamily="49" charset="-122"/>
                </a:rPr>
                <a:t>DIS</a:t>
              </a:r>
              <a:endParaRPr lang="en-US" altLang="zh-CN" b="1" kern="0" baseline="30000" dirty="0">
                <a:solidFill>
                  <a:srgbClr val="000000"/>
                </a:solidFill>
                <a:latin typeface="Times New Roman" panose="02020603050405020304" pitchFamily="18" charset="0"/>
                <a:ea typeface="楷体_GB2312" pitchFamily="49" charset="-122"/>
              </a:endParaRPr>
            </a:p>
          </p:txBody>
        </p:sp>
        <p:sp>
          <p:nvSpPr>
            <p:cNvPr id="166" name="Text Box 20"/>
            <p:cNvSpPr txBox="1">
              <a:spLocks noChangeArrowheads="1"/>
            </p:cNvSpPr>
            <p:nvPr/>
          </p:nvSpPr>
          <p:spPr bwMode="auto">
            <a:xfrm>
              <a:off x="2084" y="2019"/>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C</a:t>
              </a:r>
              <a:r>
                <a:rPr lang="en-US" altLang="zh-CN" sz="1100" b="1" kern="0" baseline="-25000">
                  <a:solidFill>
                    <a:srgbClr val="000000"/>
                  </a:solidFill>
                  <a:latin typeface="Times New Roman" panose="02020603050405020304" pitchFamily="18" charset="0"/>
                  <a:ea typeface="楷体_GB2312" pitchFamily="49" charset="-122"/>
                </a:rPr>
                <a:t>1</a:t>
              </a:r>
              <a:endParaRPr lang="en-US" altLang="zh-CN" sz="3200" b="1" kern="0" baseline="-25000">
                <a:solidFill>
                  <a:srgbClr val="000000"/>
                </a:solidFill>
                <a:latin typeface="Times New Roman" panose="02020603050405020304" pitchFamily="18" charset="0"/>
                <a:ea typeface="楷体_GB2312" pitchFamily="49" charset="-122"/>
              </a:endParaRPr>
            </a:p>
          </p:txBody>
        </p:sp>
        <p:sp>
          <p:nvSpPr>
            <p:cNvPr id="167" name="Text Box 21"/>
            <p:cNvSpPr txBox="1">
              <a:spLocks noChangeArrowheads="1"/>
            </p:cNvSpPr>
            <p:nvPr/>
          </p:nvSpPr>
          <p:spPr bwMode="auto">
            <a:xfrm>
              <a:off x="2121" y="2710"/>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C</a:t>
              </a:r>
              <a:r>
                <a:rPr lang="en-US" altLang="zh-CN" sz="1100" b="1" kern="0" baseline="-25000">
                  <a:solidFill>
                    <a:srgbClr val="000000"/>
                  </a:solidFill>
                  <a:latin typeface="Times New Roman" panose="02020603050405020304" pitchFamily="18" charset="0"/>
                  <a:ea typeface="楷体_GB2312" pitchFamily="49" charset="-122"/>
                </a:rPr>
                <a:t>2</a:t>
              </a:r>
              <a:endParaRPr lang="en-US" altLang="zh-CN" sz="3200" b="1" kern="0" baseline="-25000">
                <a:solidFill>
                  <a:srgbClr val="000000"/>
                </a:solidFill>
                <a:latin typeface="Times New Roman" panose="02020603050405020304" pitchFamily="18" charset="0"/>
                <a:ea typeface="楷体_GB2312" pitchFamily="49" charset="-122"/>
              </a:endParaRPr>
            </a:p>
          </p:txBody>
        </p:sp>
        <p:sp>
          <p:nvSpPr>
            <p:cNvPr id="168" name="Text Box 22"/>
            <p:cNvSpPr txBox="1">
              <a:spLocks noChangeArrowheads="1"/>
            </p:cNvSpPr>
            <p:nvPr/>
          </p:nvSpPr>
          <p:spPr bwMode="auto">
            <a:xfrm>
              <a:off x="1963" y="1939"/>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dirty="0">
                  <a:solidFill>
                    <a:srgbClr val="000000"/>
                  </a:solidFill>
                  <a:latin typeface="Times New Roman" panose="02020603050405020304" pitchFamily="18" charset="0"/>
                  <a:ea typeface="楷体_GB2312" pitchFamily="49" charset="-122"/>
                </a:rPr>
                <a:t>+</a:t>
              </a:r>
              <a:endParaRPr lang="en-US" altLang="zh-CN" sz="6000" b="1" kern="0" baseline="-25000" dirty="0">
                <a:solidFill>
                  <a:srgbClr val="000000"/>
                </a:solidFill>
                <a:latin typeface="Times New Roman" panose="02020603050405020304" pitchFamily="18" charset="0"/>
                <a:ea typeface="楷体_GB2312" pitchFamily="49" charset="-122"/>
              </a:endParaRPr>
            </a:p>
          </p:txBody>
        </p:sp>
        <p:sp>
          <p:nvSpPr>
            <p:cNvPr id="169" name="Text Box 23"/>
            <p:cNvSpPr txBox="1">
              <a:spLocks noChangeArrowheads="1"/>
            </p:cNvSpPr>
            <p:nvPr/>
          </p:nvSpPr>
          <p:spPr bwMode="auto">
            <a:xfrm>
              <a:off x="1963" y="2096"/>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dirty="0">
                  <a:solidFill>
                    <a:srgbClr val="000000"/>
                  </a:solidFill>
                  <a:latin typeface="Times New Roman" panose="02020603050405020304" pitchFamily="18" charset="0"/>
                  <a:ea typeface="楷体_GB2312" pitchFamily="49" charset="-122"/>
                </a:rPr>
                <a:t>-</a:t>
              </a:r>
              <a:endParaRPr lang="en-US" altLang="zh-CN" sz="6000" b="1" kern="0" baseline="-25000" dirty="0">
                <a:solidFill>
                  <a:srgbClr val="000000"/>
                </a:solidFill>
                <a:latin typeface="Times New Roman" panose="02020603050405020304" pitchFamily="18" charset="0"/>
                <a:ea typeface="楷体_GB2312" pitchFamily="49" charset="-122"/>
              </a:endParaRPr>
            </a:p>
          </p:txBody>
        </p:sp>
        <p:sp>
          <p:nvSpPr>
            <p:cNvPr id="170" name="Text Box 24"/>
            <p:cNvSpPr txBox="1">
              <a:spLocks noChangeArrowheads="1"/>
            </p:cNvSpPr>
            <p:nvPr/>
          </p:nvSpPr>
          <p:spPr bwMode="auto">
            <a:xfrm>
              <a:off x="1969" y="2600"/>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dirty="0">
                  <a:solidFill>
                    <a:srgbClr val="000000"/>
                  </a:solidFill>
                  <a:latin typeface="Times New Roman" panose="02020603050405020304" pitchFamily="18" charset="0"/>
                  <a:ea typeface="楷体_GB2312" pitchFamily="49" charset="-122"/>
                </a:rPr>
                <a:t>-</a:t>
              </a:r>
              <a:endParaRPr lang="en-US" altLang="zh-CN" sz="6000" b="1" kern="0" baseline="-25000" dirty="0">
                <a:solidFill>
                  <a:srgbClr val="000000"/>
                </a:solidFill>
                <a:latin typeface="Times New Roman" panose="02020603050405020304" pitchFamily="18" charset="0"/>
                <a:ea typeface="楷体_GB2312" pitchFamily="49" charset="-122"/>
              </a:endParaRPr>
            </a:p>
          </p:txBody>
        </p:sp>
        <p:sp>
          <p:nvSpPr>
            <p:cNvPr id="171" name="Text Box 25"/>
            <p:cNvSpPr txBox="1">
              <a:spLocks noChangeArrowheads="1"/>
            </p:cNvSpPr>
            <p:nvPr/>
          </p:nvSpPr>
          <p:spPr bwMode="auto">
            <a:xfrm>
              <a:off x="1972" y="2790"/>
              <a:ext cx="309"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dirty="0">
                  <a:solidFill>
                    <a:srgbClr val="000000"/>
                  </a:solidFill>
                  <a:latin typeface="Times New Roman" panose="02020603050405020304" pitchFamily="18" charset="0"/>
                  <a:ea typeface="楷体_GB2312" pitchFamily="49" charset="-122"/>
                </a:rPr>
                <a:t>+</a:t>
              </a:r>
              <a:endParaRPr lang="en-US" altLang="zh-CN" sz="6000" b="1" kern="0" baseline="-25000" dirty="0">
                <a:solidFill>
                  <a:srgbClr val="000000"/>
                </a:solidFill>
                <a:latin typeface="Times New Roman" panose="02020603050405020304" pitchFamily="18" charset="0"/>
                <a:ea typeface="楷体_GB2312" pitchFamily="49" charset="-122"/>
              </a:endParaRPr>
            </a:p>
          </p:txBody>
        </p:sp>
        <p:sp>
          <p:nvSpPr>
            <p:cNvPr id="172" name="Text Box 26"/>
            <p:cNvSpPr txBox="1">
              <a:spLocks noChangeArrowheads="1"/>
            </p:cNvSpPr>
            <p:nvPr/>
          </p:nvSpPr>
          <p:spPr bwMode="auto">
            <a:xfrm>
              <a:off x="1636" y="359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(1)</a:t>
              </a:r>
              <a:endParaRPr lang="en-US" altLang="zh-CN" sz="4800" b="1" kern="0">
                <a:solidFill>
                  <a:srgbClr val="000000"/>
                </a:solidFill>
                <a:latin typeface="Times New Roman" panose="02020603050405020304" pitchFamily="18" charset="0"/>
                <a:ea typeface="楷体_GB2312" pitchFamily="49" charset="-122"/>
              </a:endParaRPr>
            </a:p>
          </p:txBody>
        </p:sp>
        <p:sp>
          <p:nvSpPr>
            <p:cNvPr id="173" name="Text Box 27"/>
            <p:cNvSpPr txBox="1">
              <a:spLocks noChangeArrowheads="1"/>
            </p:cNvSpPr>
            <p:nvPr/>
          </p:nvSpPr>
          <p:spPr bwMode="auto">
            <a:xfrm>
              <a:off x="1529" y="2724"/>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(2)</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4" name="Text Box 28"/>
            <p:cNvSpPr txBox="1">
              <a:spLocks noChangeArrowheads="1"/>
            </p:cNvSpPr>
            <p:nvPr/>
          </p:nvSpPr>
          <p:spPr bwMode="auto">
            <a:xfrm>
              <a:off x="4397" y="242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(3)</a:t>
              </a:r>
              <a:endParaRPr lang="en-US" altLang="zh-CN" sz="4800" b="1" kern="0">
                <a:solidFill>
                  <a:srgbClr val="000000"/>
                </a:solidFill>
                <a:latin typeface="Times New Roman" panose="02020603050405020304" pitchFamily="18" charset="0"/>
                <a:ea typeface="楷体_GB2312" pitchFamily="49" charset="-122"/>
              </a:endParaRPr>
            </a:p>
          </p:txBody>
        </p:sp>
        <p:sp>
          <p:nvSpPr>
            <p:cNvPr id="175" name="Text Box 29"/>
            <p:cNvSpPr txBox="1">
              <a:spLocks noChangeArrowheads="1"/>
            </p:cNvSpPr>
            <p:nvPr/>
          </p:nvSpPr>
          <p:spPr bwMode="auto">
            <a:xfrm>
              <a:off x="2681" y="154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(4)</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6" name="Text Box 30"/>
            <p:cNvSpPr txBox="1">
              <a:spLocks noChangeArrowheads="1"/>
            </p:cNvSpPr>
            <p:nvPr/>
          </p:nvSpPr>
          <p:spPr bwMode="auto">
            <a:xfrm>
              <a:off x="1529" y="1856"/>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(5)</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7" name="Text Box 31"/>
            <p:cNvSpPr txBox="1">
              <a:spLocks noChangeArrowheads="1"/>
            </p:cNvSpPr>
            <p:nvPr/>
          </p:nvSpPr>
          <p:spPr bwMode="auto">
            <a:xfrm>
              <a:off x="1537" y="205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(6)</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8" name="Text Box 32"/>
            <p:cNvSpPr txBox="1">
              <a:spLocks noChangeArrowheads="1"/>
            </p:cNvSpPr>
            <p:nvPr/>
          </p:nvSpPr>
          <p:spPr bwMode="auto">
            <a:xfrm>
              <a:off x="1604" y="3096"/>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(7)</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9" name="Text Box 33"/>
            <p:cNvSpPr txBox="1">
              <a:spLocks noChangeArrowheads="1"/>
            </p:cNvSpPr>
            <p:nvPr/>
          </p:nvSpPr>
          <p:spPr bwMode="auto">
            <a:xfrm>
              <a:off x="2435" y="1913"/>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kern="0" dirty="0">
                  <a:solidFill>
                    <a:srgbClr val="000000"/>
                  </a:solidFill>
                  <a:latin typeface="Times New Roman" panose="02020603050405020304" pitchFamily="18" charset="0"/>
                  <a:ea typeface="楷体_GB2312" pitchFamily="49" charset="-122"/>
                </a:rPr>
                <a:t>R</a:t>
              </a:r>
              <a:endParaRPr lang="en-US" altLang="zh-CN" sz="6600" b="1" kern="0" dirty="0">
                <a:solidFill>
                  <a:srgbClr val="000000"/>
                </a:solidFill>
                <a:latin typeface="Times New Roman" panose="02020603050405020304" pitchFamily="18" charset="0"/>
                <a:ea typeface="楷体_GB2312" pitchFamily="49" charset="-122"/>
              </a:endParaRPr>
            </a:p>
          </p:txBody>
        </p:sp>
        <p:sp>
          <p:nvSpPr>
            <p:cNvPr id="180" name="Text Box 34"/>
            <p:cNvSpPr txBox="1">
              <a:spLocks noChangeArrowheads="1"/>
            </p:cNvSpPr>
            <p:nvPr/>
          </p:nvSpPr>
          <p:spPr bwMode="auto">
            <a:xfrm>
              <a:off x="2465" y="2582"/>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kern="0" dirty="0">
                  <a:solidFill>
                    <a:srgbClr val="000000"/>
                  </a:solidFill>
                  <a:latin typeface="Times New Roman" panose="02020603050405020304" pitchFamily="18" charset="0"/>
                  <a:ea typeface="楷体_GB2312" pitchFamily="49" charset="-122"/>
                </a:rPr>
                <a:t>S</a:t>
              </a:r>
              <a:endParaRPr lang="en-US" altLang="zh-CN" sz="6600" b="1" kern="0" dirty="0">
                <a:solidFill>
                  <a:srgbClr val="000000"/>
                </a:solidFill>
                <a:latin typeface="Times New Roman" panose="02020603050405020304" pitchFamily="18" charset="0"/>
                <a:ea typeface="楷体_GB2312" pitchFamily="49" charset="-122"/>
              </a:endParaRPr>
            </a:p>
          </p:txBody>
        </p:sp>
        <p:sp>
          <p:nvSpPr>
            <p:cNvPr id="181" name="Text Box 35"/>
            <p:cNvSpPr txBox="1">
              <a:spLocks noChangeArrowheads="1"/>
            </p:cNvSpPr>
            <p:nvPr/>
          </p:nvSpPr>
          <p:spPr bwMode="auto">
            <a:xfrm>
              <a:off x="2942" y="192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2" name="Rectangle 36"/>
            <p:cNvSpPr>
              <a:spLocks noChangeArrowheads="1"/>
            </p:cNvSpPr>
            <p:nvPr/>
          </p:nvSpPr>
          <p:spPr bwMode="auto">
            <a:xfrm>
              <a:off x="1934" y="1706"/>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3" name="Rectangle 37"/>
            <p:cNvSpPr>
              <a:spLocks noChangeArrowheads="1"/>
            </p:cNvSpPr>
            <p:nvPr/>
          </p:nvSpPr>
          <p:spPr bwMode="auto">
            <a:xfrm>
              <a:off x="1934" y="2271"/>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4" name="Rectangle 38"/>
            <p:cNvSpPr>
              <a:spLocks noChangeArrowheads="1"/>
            </p:cNvSpPr>
            <p:nvPr/>
          </p:nvSpPr>
          <p:spPr bwMode="auto">
            <a:xfrm>
              <a:off x="1934" y="2964"/>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5" name="Text Box 39"/>
            <p:cNvSpPr txBox="1">
              <a:spLocks noChangeArrowheads="1"/>
            </p:cNvSpPr>
            <p:nvPr/>
          </p:nvSpPr>
          <p:spPr bwMode="auto">
            <a:xfrm>
              <a:off x="2942" y="2522"/>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6" name="Text Box 40"/>
            <p:cNvSpPr txBox="1">
              <a:spLocks noChangeArrowheads="1"/>
            </p:cNvSpPr>
            <p:nvPr/>
          </p:nvSpPr>
          <p:spPr bwMode="auto">
            <a:xfrm>
              <a:off x="3539" y="2491"/>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7" name="Text Box 41"/>
            <p:cNvSpPr txBox="1">
              <a:spLocks noChangeArrowheads="1"/>
            </p:cNvSpPr>
            <p:nvPr/>
          </p:nvSpPr>
          <p:spPr bwMode="auto">
            <a:xfrm>
              <a:off x="3987" y="2491"/>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1</a:t>
              </a:r>
              <a:endParaRPr lang="en-US" altLang="zh-CN" sz="4800" b="1" kern="0">
                <a:solidFill>
                  <a:srgbClr val="000000"/>
                </a:solidFill>
                <a:latin typeface="Times New Roman" panose="02020603050405020304" pitchFamily="18" charset="0"/>
                <a:ea typeface="楷体_GB2312" pitchFamily="49" charset="-122"/>
              </a:endParaRPr>
            </a:p>
          </p:txBody>
        </p:sp>
        <p:sp>
          <p:nvSpPr>
            <p:cNvPr id="188" name="Text Box 42"/>
            <p:cNvSpPr txBox="1">
              <a:spLocks noChangeArrowheads="1"/>
            </p:cNvSpPr>
            <p:nvPr/>
          </p:nvSpPr>
          <p:spPr bwMode="auto">
            <a:xfrm>
              <a:off x="2569" y="1423"/>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i="1" kern="0">
                  <a:solidFill>
                    <a:srgbClr val="000000"/>
                  </a:solidFill>
                  <a:latin typeface="Times New Roman" panose="02020603050405020304" pitchFamily="18" charset="0"/>
                  <a:ea typeface="楷体_GB2312" pitchFamily="49" charset="-122"/>
                </a:rPr>
                <a:t>R</a:t>
              </a:r>
              <a:r>
                <a:rPr lang="en-US" altLang="zh-CN" sz="1600" b="1" kern="0" baseline="-25000">
                  <a:solidFill>
                    <a:srgbClr val="000000"/>
                  </a:solidFill>
                  <a:latin typeface="Times New Roman" panose="02020603050405020304" pitchFamily="18" charset="0"/>
                  <a:ea typeface="楷体_GB2312" pitchFamily="49" charset="-122"/>
                </a:rPr>
                <a:t>D</a:t>
              </a:r>
              <a:endParaRPr lang="en-US" altLang="zh-CN" sz="4800" b="1" kern="0" baseline="-25000">
                <a:solidFill>
                  <a:srgbClr val="000000"/>
                </a:solidFill>
                <a:latin typeface="Times New Roman" panose="02020603050405020304" pitchFamily="18" charset="0"/>
                <a:ea typeface="楷体_GB2312" pitchFamily="49" charset="-122"/>
              </a:endParaRPr>
            </a:p>
          </p:txBody>
        </p:sp>
        <p:sp>
          <p:nvSpPr>
            <p:cNvPr id="189" name="Text Box 43"/>
            <p:cNvSpPr txBox="1">
              <a:spLocks noChangeArrowheads="1"/>
            </p:cNvSpPr>
            <p:nvPr/>
          </p:nvSpPr>
          <p:spPr bwMode="auto">
            <a:xfrm>
              <a:off x="1785" y="1423"/>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i="1" kern="0">
                  <a:solidFill>
                    <a:srgbClr val="000000"/>
                  </a:solidFill>
                  <a:latin typeface="Times New Roman" panose="02020603050405020304" pitchFamily="18" charset="0"/>
                  <a:ea typeface="楷体_GB2312" pitchFamily="49" charset="-122"/>
                </a:rPr>
                <a:t>V</a:t>
              </a:r>
              <a:r>
                <a:rPr lang="en-US" altLang="zh-CN" sz="1600" b="1" kern="0" baseline="-25000">
                  <a:solidFill>
                    <a:srgbClr val="000000"/>
                  </a:solidFill>
                  <a:latin typeface="Times New Roman" panose="02020603050405020304" pitchFamily="18" charset="0"/>
                  <a:ea typeface="楷体_GB2312" pitchFamily="49" charset="-122"/>
                </a:rPr>
                <a:t>CC</a:t>
              </a:r>
              <a:endParaRPr lang="en-US" altLang="zh-CN" sz="4800" b="1" kern="0" baseline="-25000">
                <a:solidFill>
                  <a:srgbClr val="000000"/>
                </a:solidFill>
                <a:latin typeface="Times New Roman" panose="02020603050405020304" pitchFamily="18" charset="0"/>
                <a:ea typeface="楷体_GB2312" pitchFamily="49" charset="-122"/>
              </a:endParaRPr>
            </a:p>
          </p:txBody>
        </p:sp>
        <p:sp>
          <p:nvSpPr>
            <p:cNvPr id="190" name="Text Box 44"/>
            <p:cNvSpPr txBox="1">
              <a:spLocks noChangeArrowheads="1"/>
            </p:cNvSpPr>
            <p:nvPr/>
          </p:nvSpPr>
          <p:spPr bwMode="auto">
            <a:xfrm>
              <a:off x="1897" y="1548"/>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(8)</a:t>
              </a:r>
              <a:endParaRPr lang="en-US" altLang="zh-CN" sz="4800" b="1" kern="0">
                <a:solidFill>
                  <a:srgbClr val="000000"/>
                </a:solidFill>
                <a:latin typeface="Times New Roman" panose="02020603050405020304" pitchFamily="18" charset="0"/>
                <a:ea typeface="楷体_GB2312" pitchFamily="49" charset="-122"/>
              </a:endParaRPr>
            </a:p>
          </p:txBody>
        </p:sp>
        <p:sp>
          <p:nvSpPr>
            <p:cNvPr id="191" name="Text Box 45"/>
            <p:cNvSpPr txBox="1">
              <a:spLocks noChangeArrowheads="1"/>
            </p:cNvSpPr>
            <p:nvPr/>
          </p:nvSpPr>
          <p:spPr bwMode="auto">
            <a:xfrm>
              <a:off x="3987" y="236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G</a:t>
              </a:r>
              <a:endParaRPr lang="en-US" altLang="zh-CN" sz="4400" b="1" kern="0">
                <a:solidFill>
                  <a:srgbClr val="000000"/>
                </a:solidFill>
                <a:latin typeface="Times New Roman" panose="02020603050405020304" pitchFamily="18" charset="0"/>
                <a:ea typeface="楷体_GB2312" pitchFamily="49" charset="-122"/>
              </a:endParaRPr>
            </a:p>
          </p:txBody>
        </p:sp>
      </p:grpSp>
      <p:sp>
        <p:nvSpPr>
          <p:cNvPr id="192" name="Rectangle 46"/>
          <p:cNvSpPr>
            <a:spLocks noChangeArrowheads="1"/>
          </p:cNvSpPr>
          <p:nvPr/>
        </p:nvSpPr>
        <p:spPr bwMode="auto">
          <a:xfrm>
            <a:off x="3923594" y="3818947"/>
            <a:ext cx="2295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1400">
                <a:solidFill>
                  <a:srgbClr val="000000"/>
                </a:solidFill>
                <a:latin typeface="Times New Roman" panose="02020603050405020304" pitchFamily="18" charset="0"/>
                <a:ea typeface="楷体_GB2312" pitchFamily="49" charset="-122"/>
              </a:rPr>
              <a:t> </a:t>
            </a:r>
            <a:endParaRPr lang="en-US" altLang="zh-CN" sz="4400">
              <a:solidFill>
                <a:srgbClr val="000000"/>
              </a:solidFill>
              <a:latin typeface="Times New Roman" panose="02020603050405020304" pitchFamily="18" charset="0"/>
              <a:ea typeface="楷体_GB2312" pitchFamily="49" charset="-122"/>
            </a:endParaRPr>
          </a:p>
        </p:txBody>
      </p:sp>
      <p:graphicFrame>
        <p:nvGraphicFramePr>
          <p:cNvPr id="193" name="Object 2"/>
          <p:cNvGraphicFramePr>
            <a:graphicFrameLocks noChangeAspect="1"/>
          </p:cNvGraphicFramePr>
          <p:nvPr/>
        </p:nvGraphicFramePr>
        <p:xfrm>
          <a:off x="621300" y="1836649"/>
          <a:ext cx="1040609" cy="773708"/>
        </p:xfrm>
        <a:graphic>
          <a:graphicData uri="http://schemas.openxmlformats.org/presentationml/2006/ole">
            <mc:AlternateContent xmlns:mc="http://schemas.openxmlformats.org/markup-compatibility/2006">
              <mc:Choice xmlns:v="urn:schemas-microsoft-com:vml" Requires="v">
                <p:oleObj spid="_x0000_s15368" name="Equation" r:id="rId4" imgW="381000" imgH="406400" progId="Equation.DSMT4">
                  <p:embed/>
                </p:oleObj>
              </mc:Choice>
              <mc:Fallback>
                <p:oleObj name="Equation" r:id="rId4" imgW="381000" imgH="406400" progId="Equation.DSMT4">
                  <p:embed/>
                  <p:pic>
                    <p:nvPicPr>
                      <p:cNvPr id="0" name="图片 1536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300" y="1836649"/>
                        <a:ext cx="1040609" cy="773708"/>
                      </a:xfrm>
                      <a:prstGeom prst="rect">
                        <a:avLst/>
                      </a:prstGeom>
                      <a:solidFill>
                        <a:srgbClr val="FFFF99"/>
                      </a:solidFill>
                      <a:ln w="9525">
                        <a:solidFill>
                          <a:srgbClr val="FF0000"/>
                        </a:solidFill>
                        <a:miter lim="800000"/>
                        <a:headEnd/>
                        <a:tailEnd/>
                      </a:ln>
                    </p:spPr>
                  </p:pic>
                </p:oleObj>
              </mc:Fallback>
            </mc:AlternateContent>
          </a:graphicData>
        </a:graphic>
      </p:graphicFrame>
      <p:graphicFrame>
        <p:nvGraphicFramePr>
          <p:cNvPr id="194" name="Object 3"/>
          <p:cNvGraphicFramePr>
            <a:graphicFrameLocks noChangeAspect="1"/>
          </p:cNvGraphicFramePr>
          <p:nvPr/>
        </p:nvGraphicFramePr>
        <p:xfrm>
          <a:off x="595419" y="3427126"/>
          <a:ext cx="1016856" cy="679555"/>
        </p:xfrm>
        <a:graphic>
          <a:graphicData uri="http://schemas.openxmlformats.org/presentationml/2006/ole">
            <mc:AlternateContent xmlns:mc="http://schemas.openxmlformats.org/markup-compatibility/2006">
              <mc:Choice xmlns:v="urn:schemas-microsoft-com:vml" Requires="v">
                <p:oleObj spid="_x0000_s15369" name="Equation" r:id="rId6" imgW="381000" imgH="406400" progId="Equation.DSMT4">
                  <p:embed/>
                </p:oleObj>
              </mc:Choice>
              <mc:Fallback>
                <p:oleObj name="Equation" r:id="rId6" imgW="381000" imgH="406400" progId="Equation.DSMT4">
                  <p:embed/>
                  <p:pic>
                    <p:nvPicPr>
                      <p:cNvPr id="0" name="图片 153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419" y="3427126"/>
                        <a:ext cx="1016856" cy="679555"/>
                      </a:xfrm>
                      <a:prstGeom prst="rect">
                        <a:avLst/>
                      </a:prstGeom>
                      <a:solidFill>
                        <a:srgbClr val="FFFF99"/>
                      </a:solidFill>
                      <a:ln w="9525">
                        <a:solidFill>
                          <a:srgbClr val="FF0000"/>
                        </a:solidFill>
                        <a:miter lim="800000"/>
                        <a:headEnd/>
                        <a:tailEnd/>
                      </a:ln>
                    </p:spPr>
                  </p:pic>
                </p:oleObj>
              </mc:Fallback>
            </mc:AlternateContent>
          </a:graphicData>
        </a:graphic>
      </p:graphicFrame>
      <p:sp>
        <p:nvSpPr>
          <p:cNvPr id="195" name="AutoShape 49"/>
          <p:cNvSpPr>
            <a:spLocks noChangeArrowheads="1"/>
          </p:cNvSpPr>
          <p:nvPr/>
        </p:nvSpPr>
        <p:spPr bwMode="auto">
          <a:xfrm>
            <a:off x="388420" y="1147739"/>
            <a:ext cx="1699111" cy="508911"/>
          </a:xfrm>
          <a:prstGeom prst="wedgeRoundRectCallout">
            <a:avLst>
              <a:gd name="adj1" fmla="val 52040"/>
              <a:gd name="adj2" fmla="val 159383"/>
              <a:gd name="adj3" fmla="val 16667"/>
            </a:avLst>
          </a:prstGeom>
          <a:solidFill>
            <a:srgbClr val="FFFF99"/>
          </a:solidFill>
          <a:ln w="12700">
            <a:solidFill>
              <a:srgbClr val="000099"/>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sz="2800" b="1" dirty="0">
                <a:solidFill>
                  <a:srgbClr val="000000"/>
                </a:solidFill>
                <a:latin typeface="Times New Roman" panose="02020603050405020304" pitchFamily="18" charset="0"/>
                <a:ea typeface="楷体_GB2312" pitchFamily="49" charset="-122"/>
              </a:rPr>
              <a:t>如果悬空</a:t>
            </a:r>
            <a:endParaRPr lang="zh-CN" altLang="en-US" sz="2800" b="1" dirty="0">
              <a:solidFill>
                <a:srgbClr val="000000"/>
              </a:solidFill>
              <a:latin typeface="Times New Roman" panose="02020603050405020304" pitchFamily="18" charset="0"/>
              <a:ea typeface="楷体_GB2312" pitchFamily="49" charset="-122"/>
            </a:endParaRPr>
          </a:p>
        </p:txBody>
      </p:sp>
      <p:sp>
        <p:nvSpPr>
          <p:cNvPr id="196" name="Oval 50"/>
          <p:cNvSpPr>
            <a:spLocks noChangeArrowheads="1"/>
          </p:cNvSpPr>
          <p:nvPr/>
        </p:nvSpPr>
        <p:spPr bwMode="auto">
          <a:xfrm flipH="1">
            <a:off x="2602875" y="2258811"/>
            <a:ext cx="223838" cy="227013"/>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197" name="Oval 51"/>
          <p:cNvSpPr>
            <a:spLocks noChangeArrowheads="1"/>
          </p:cNvSpPr>
          <p:nvPr/>
        </p:nvSpPr>
        <p:spPr bwMode="auto">
          <a:xfrm flipH="1">
            <a:off x="2637793" y="3591560"/>
            <a:ext cx="223838" cy="227012"/>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graphicFrame>
        <p:nvGraphicFramePr>
          <p:cNvPr id="198" name="Object 4"/>
          <p:cNvGraphicFramePr>
            <a:graphicFrameLocks noChangeAspect="1"/>
          </p:cNvGraphicFramePr>
          <p:nvPr/>
        </p:nvGraphicFramePr>
        <p:xfrm>
          <a:off x="1425899" y="2762874"/>
          <a:ext cx="874614" cy="565661"/>
        </p:xfrm>
        <a:graphic>
          <a:graphicData uri="http://schemas.openxmlformats.org/presentationml/2006/ole">
            <mc:AlternateContent xmlns:mc="http://schemas.openxmlformats.org/markup-compatibility/2006">
              <mc:Choice xmlns:v="urn:schemas-microsoft-com:vml" Requires="v">
                <p:oleObj spid="_x0000_s15370" name="Equation" r:id="rId8" imgW="508000" imgH="406400" progId="Equation.DSMT4">
                  <p:embed/>
                </p:oleObj>
              </mc:Choice>
              <mc:Fallback>
                <p:oleObj name="Equation" r:id="rId8" imgW="508000" imgH="406400" progId="Equation.DSMT4">
                  <p:embed/>
                  <p:pic>
                    <p:nvPicPr>
                      <p:cNvPr id="0" name="图片 1536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5899" y="2762874"/>
                        <a:ext cx="874614" cy="565661"/>
                      </a:xfrm>
                      <a:prstGeom prst="rect">
                        <a:avLst/>
                      </a:prstGeom>
                      <a:solidFill>
                        <a:srgbClr val="99FF66"/>
                      </a:solidFill>
                      <a:ln w="9525">
                        <a:solidFill>
                          <a:srgbClr val="FF0000"/>
                        </a:solidFill>
                        <a:miter lim="800000"/>
                        <a:headEnd/>
                        <a:tailEnd/>
                      </a:ln>
                    </p:spPr>
                  </p:pic>
                </p:oleObj>
              </mc:Fallback>
            </mc:AlternateContent>
          </a:graphicData>
        </a:graphic>
      </p:graphicFrame>
      <p:graphicFrame>
        <p:nvGraphicFramePr>
          <p:cNvPr id="199" name="Object 5"/>
          <p:cNvGraphicFramePr>
            <a:graphicFrameLocks noChangeAspect="1"/>
          </p:cNvGraphicFramePr>
          <p:nvPr/>
        </p:nvGraphicFramePr>
        <p:xfrm>
          <a:off x="1703878" y="4095088"/>
          <a:ext cx="775411" cy="500014"/>
        </p:xfrm>
        <a:graphic>
          <a:graphicData uri="http://schemas.openxmlformats.org/presentationml/2006/ole">
            <mc:AlternateContent xmlns:mc="http://schemas.openxmlformats.org/markup-compatibility/2006">
              <mc:Choice xmlns:v="urn:schemas-microsoft-com:vml" Requires="v">
                <p:oleObj spid="_x0000_s15371" name="Equation" r:id="rId10" imgW="508000" imgH="406400" progId="Equation.DSMT4">
                  <p:embed/>
                </p:oleObj>
              </mc:Choice>
              <mc:Fallback>
                <p:oleObj name="Equation" r:id="rId10" imgW="508000" imgH="406400" progId="Equation.DSMT4">
                  <p:embed/>
                  <p:pic>
                    <p:nvPicPr>
                      <p:cNvPr id="0" name="图片 1537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03878" y="4095088"/>
                        <a:ext cx="775411" cy="500014"/>
                      </a:xfrm>
                      <a:prstGeom prst="rect">
                        <a:avLst/>
                      </a:prstGeom>
                      <a:solidFill>
                        <a:srgbClr val="99FF66"/>
                      </a:solidFill>
                      <a:ln w="9525">
                        <a:solidFill>
                          <a:srgbClr val="FF0000"/>
                        </a:solidFill>
                        <a:miter lim="800000"/>
                        <a:headEnd/>
                        <a:tailEnd/>
                      </a:ln>
                    </p:spPr>
                  </p:pic>
                </p:oleObj>
              </mc:Fallback>
            </mc:AlternateContent>
          </a:graphicData>
        </a:graphic>
      </p:graphicFrame>
      <p:sp>
        <p:nvSpPr>
          <p:cNvPr id="200" name="Oval 54"/>
          <p:cNvSpPr>
            <a:spLocks noChangeArrowheads="1"/>
          </p:cNvSpPr>
          <p:nvPr/>
        </p:nvSpPr>
        <p:spPr bwMode="auto">
          <a:xfrm>
            <a:off x="3669489" y="2659826"/>
            <a:ext cx="484288" cy="473748"/>
          </a:xfrm>
          <a:prstGeom prst="ellipse">
            <a:avLst/>
          </a:prstGeom>
          <a:solidFill>
            <a:srgbClr val="99FF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a:solidFill>
                  <a:srgbClr val="000000"/>
                </a:solidFill>
                <a:latin typeface="Times New Roman" panose="02020603050405020304" pitchFamily="18" charset="0"/>
                <a:ea typeface="楷体_GB2312" pitchFamily="49" charset="-122"/>
              </a:rPr>
              <a:t>0</a:t>
            </a:r>
            <a:endParaRPr lang="en-US" altLang="zh-CN" sz="4400" b="1">
              <a:solidFill>
                <a:srgbClr val="000000"/>
              </a:solidFill>
              <a:latin typeface="Times New Roman" panose="02020603050405020304" pitchFamily="18" charset="0"/>
              <a:ea typeface="楷体_GB2312" pitchFamily="49" charset="-122"/>
            </a:endParaRPr>
          </a:p>
        </p:txBody>
      </p:sp>
      <p:sp>
        <p:nvSpPr>
          <p:cNvPr id="201" name="Oval 55"/>
          <p:cNvSpPr>
            <a:spLocks noChangeArrowheads="1"/>
          </p:cNvSpPr>
          <p:nvPr/>
        </p:nvSpPr>
        <p:spPr bwMode="auto">
          <a:xfrm>
            <a:off x="3966456" y="3925210"/>
            <a:ext cx="481489" cy="414676"/>
          </a:xfrm>
          <a:prstGeom prst="ellipse">
            <a:avLst/>
          </a:prstGeom>
          <a:solidFill>
            <a:srgbClr val="99FF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02" name="Oval 56"/>
          <p:cNvSpPr>
            <a:spLocks noChangeArrowheads="1"/>
          </p:cNvSpPr>
          <p:nvPr/>
        </p:nvSpPr>
        <p:spPr bwMode="auto">
          <a:xfrm>
            <a:off x="5174436" y="3774668"/>
            <a:ext cx="516927" cy="461665"/>
          </a:xfrm>
          <a:prstGeom prst="ellipse">
            <a:avLst/>
          </a:prstGeom>
          <a:solidFill>
            <a:srgbClr val="99FF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a:solidFill>
                  <a:srgbClr val="000000"/>
                </a:solidFill>
                <a:latin typeface="Times New Roman" panose="02020603050405020304" pitchFamily="18" charset="0"/>
                <a:ea typeface="楷体_GB2312" pitchFamily="49" charset="-122"/>
              </a:rPr>
              <a:t>0</a:t>
            </a:r>
            <a:endParaRPr lang="en-US" altLang="zh-CN" sz="4400" b="1">
              <a:solidFill>
                <a:srgbClr val="000000"/>
              </a:solidFill>
              <a:latin typeface="Times New Roman" panose="02020603050405020304" pitchFamily="18" charset="0"/>
              <a:ea typeface="楷体_GB2312" pitchFamily="49" charset="-122"/>
            </a:endParaRPr>
          </a:p>
        </p:txBody>
      </p:sp>
      <p:sp>
        <p:nvSpPr>
          <p:cNvPr id="204" name="Oval 58"/>
          <p:cNvSpPr>
            <a:spLocks noChangeArrowheads="1"/>
          </p:cNvSpPr>
          <p:nvPr/>
        </p:nvSpPr>
        <p:spPr bwMode="auto">
          <a:xfrm>
            <a:off x="7343281" y="2941451"/>
            <a:ext cx="461932" cy="519642"/>
          </a:xfrm>
          <a:prstGeom prst="ellipse">
            <a:avLst/>
          </a:prstGeom>
          <a:solidFill>
            <a:srgbClr val="99FF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0</a:t>
            </a:r>
            <a:endParaRPr lang="en-US" altLang="zh-CN" sz="4400" b="1" dirty="0">
              <a:solidFill>
                <a:srgbClr val="000000"/>
              </a:solidFill>
              <a:latin typeface="Times New Roman" panose="02020603050405020304" pitchFamily="18" charset="0"/>
              <a:ea typeface="楷体_GB2312" pitchFamily="49" charset="-122"/>
            </a:endParaRPr>
          </a:p>
        </p:txBody>
      </p:sp>
      <p:sp>
        <p:nvSpPr>
          <p:cNvPr id="210" name="Oval 64"/>
          <p:cNvSpPr>
            <a:spLocks noChangeArrowheads="1"/>
          </p:cNvSpPr>
          <p:nvPr/>
        </p:nvSpPr>
        <p:spPr bwMode="auto">
          <a:xfrm>
            <a:off x="3662744" y="1141822"/>
            <a:ext cx="449802" cy="457300"/>
          </a:xfrm>
          <a:prstGeom prst="ellipse">
            <a:avLst/>
          </a:prstGeom>
          <a:solidFill>
            <a:srgbClr val="FFFF99"/>
          </a:solidFill>
          <a:ln w="9525">
            <a:solidFill>
              <a:srgbClr val="FF000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19" name="Oval 73"/>
          <p:cNvSpPr>
            <a:spLocks noChangeArrowheads="1"/>
          </p:cNvSpPr>
          <p:nvPr/>
        </p:nvSpPr>
        <p:spPr bwMode="auto">
          <a:xfrm flipH="1">
            <a:off x="1760198" y="2506842"/>
            <a:ext cx="343698" cy="340776"/>
          </a:xfrm>
          <a:prstGeom prst="ellipse">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220" name="Oval 74"/>
          <p:cNvSpPr>
            <a:spLocks noChangeArrowheads="1"/>
          </p:cNvSpPr>
          <p:nvPr/>
        </p:nvSpPr>
        <p:spPr bwMode="auto">
          <a:xfrm flipH="1">
            <a:off x="1719275" y="3664492"/>
            <a:ext cx="368830" cy="448839"/>
          </a:xfrm>
          <a:prstGeom prst="ellipse">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221" name="Rectangle 87"/>
          <p:cNvSpPr>
            <a:spLocks noChangeArrowheads="1"/>
          </p:cNvSpPr>
          <p:nvPr/>
        </p:nvSpPr>
        <p:spPr bwMode="auto">
          <a:xfrm>
            <a:off x="207956" y="623586"/>
            <a:ext cx="2573337" cy="523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400" b="1" dirty="0">
                <a:solidFill>
                  <a:srgbClr val="C00000"/>
                </a:solidFill>
                <a:latin typeface="Times New Roman" panose="02020603050405020304" pitchFamily="18" charset="0"/>
                <a:ea typeface="楷体_GB2312" pitchFamily="49" charset="-122"/>
              </a:rPr>
              <a:t>2.</a:t>
            </a:r>
            <a:r>
              <a:rPr lang="zh-CN" altLang="en-US" sz="2400" b="1" dirty="0">
                <a:solidFill>
                  <a:srgbClr val="C00000"/>
                </a:solidFill>
                <a:latin typeface="Times New Roman" panose="02020603050405020304" pitchFamily="18" charset="0"/>
                <a:ea typeface="楷体_GB2312" pitchFamily="49" charset="-122"/>
              </a:rPr>
              <a:t>  工作原理</a:t>
            </a:r>
            <a:endParaRPr lang="zh-CN" altLang="en-US" sz="2400" b="1" dirty="0">
              <a:solidFill>
                <a:srgbClr val="C00000"/>
              </a:solidFill>
              <a:latin typeface="Times New Roman" panose="02020603050405020304" pitchFamily="18" charset="0"/>
              <a:ea typeface="楷体_GB2312" pitchFamily="49" charset="-122"/>
            </a:endParaRPr>
          </a:p>
        </p:txBody>
      </p:sp>
      <p:sp>
        <p:nvSpPr>
          <p:cNvPr id="203" name="Oval 57"/>
          <p:cNvSpPr>
            <a:spLocks noChangeArrowheads="1"/>
          </p:cNvSpPr>
          <p:nvPr/>
        </p:nvSpPr>
        <p:spPr bwMode="auto">
          <a:xfrm>
            <a:off x="6488787" y="2976078"/>
            <a:ext cx="461932" cy="519643"/>
          </a:xfrm>
          <a:prstGeom prst="ellipse">
            <a:avLst/>
          </a:prstGeom>
          <a:solidFill>
            <a:srgbClr val="99FF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22" name="Line 84"/>
          <p:cNvSpPr>
            <a:spLocks noChangeShapeType="1"/>
          </p:cNvSpPr>
          <p:nvPr/>
        </p:nvSpPr>
        <p:spPr bwMode="auto">
          <a:xfrm flipV="1">
            <a:off x="3917247" y="2240785"/>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223" name="Line 84"/>
          <p:cNvSpPr>
            <a:spLocks noChangeShapeType="1"/>
          </p:cNvSpPr>
          <p:nvPr/>
        </p:nvSpPr>
        <p:spPr bwMode="auto">
          <a:xfrm>
            <a:off x="3997248" y="3527334"/>
            <a:ext cx="225425" cy="0"/>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prstClr val="black"/>
              </a:solidFill>
            </a:endParaRPr>
          </a:p>
        </p:txBody>
      </p:sp>
      <p:sp>
        <p:nvSpPr>
          <p:cNvPr id="224" name="Line 84"/>
          <p:cNvSpPr>
            <a:spLocks noChangeShapeType="1"/>
          </p:cNvSpPr>
          <p:nvPr/>
        </p:nvSpPr>
        <p:spPr bwMode="auto">
          <a:xfrm flipV="1">
            <a:off x="4168816" y="1262368"/>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79" name="Line 84"/>
          <p:cNvSpPr>
            <a:spLocks noChangeShapeType="1"/>
          </p:cNvSpPr>
          <p:nvPr/>
        </p:nvSpPr>
        <p:spPr bwMode="auto">
          <a:xfrm flipV="1">
            <a:off x="1785262" y="3807764"/>
            <a:ext cx="235028" cy="195"/>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2" name="文本框 1"/>
          <p:cNvSpPr txBox="1"/>
          <p:nvPr/>
        </p:nvSpPr>
        <p:spPr>
          <a:xfrm>
            <a:off x="3121983" y="5670155"/>
            <a:ext cx="1970656" cy="523220"/>
          </a:xfrm>
          <a:prstGeom prst="rect">
            <a:avLst/>
          </a:prstGeom>
          <a:noFill/>
          <a:ln w="31750">
            <a:solidFill>
              <a:srgbClr val="00B050"/>
            </a:solidFill>
          </a:ln>
        </p:spPr>
        <p:txBody>
          <a:bodyPr wrap="square" rtlCol="0">
            <a:spAutoFit/>
          </a:bodyPr>
          <a:lstStyle/>
          <a:p>
            <a:r>
              <a:rPr lang="zh-CN" altLang="en-US" sz="2800" b="1" dirty="0">
                <a:solidFill>
                  <a:prstClr val="black"/>
                </a:solidFill>
                <a:latin typeface="楷体" panose="02010609060101010101" pitchFamily="49" charset="-122"/>
                <a:ea typeface="楷体" panose="02010609060101010101" pitchFamily="49" charset="-122"/>
              </a:rPr>
              <a:t>三极管导通</a:t>
            </a:r>
            <a:endParaRPr lang="zh-CN" altLang="en-US" sz="2800" b="1" dirty="0">
              <a:solidFill>
                <a:prstClr val="black"/>
              </a:solidFill>
              <a:latin typeface="楷体" panose="02010609060101010101" pitchFamily="49" charset="-122"/>
              <a:ea typeface="楷体" panose="02010609060101010101" pitchFamily="49" charset="-122"/>
            </a:endParaRPr>
          </a:p>
        </p:txBody>
      </p:sp>
      <p:grpSp>
        <p:nvGrpSpPr>
          <p:cNvPr id="63" name="Group 41"/>
          <p:cNvGrpSpPr/>
          <p:nvPr/>
        </p:nvGrpSpPr>
        <p:grpSpPr bwMode="auto">
          <a:xfrm>
            <a:off x="6150752" y="667787"/>
            <a:ext cx="2868269" cy="2174301"/>
            <a:chOff x="3420" y="624"/>
            <a:chExt cx="2076" cy="1348"/>
          </a:xfrm>
        </p:grpSpPr>
        <p:sp>
          <p:nvSpPr>
            <p:cNvPr id="64" name="Rectangle 42"/>
            <p:cNvSpPr>
              <a:spLocks noChangeArrowheads="1"/>
            </p:cNvSpPr>
            <p:nvPr/>
          </p:nvSpPr>
          <p:spPr bwMode="auto">
            <a:xfrm>
              <a:off x="4206" y="624"/>
              <a:ext cx="1290"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0"/>
                </a:spcBef>
                <a:spcAft>
                  <a:spcPct val="0"/>
                </a:spcAft>
                <a:defRPr/>
              </a:pPr>
              <a:r>
                <a:rPr lang="en-US" altLang="zh-CN" kern="0" dirty="0">
                  <a:solidFill>
                    <a:srgbClr val="0000FF"/>
                  </a:solidFill>
                </a:rPr>
                <a:t>        </a:t>
              </a:r>
              <a:r>
                <a:rPr lang="en-US" altLang="zh-CN" sz="2800" i="1" kern="0" dirty="0" err="1">
                  <a:solidFill>
                    <a:srgbClr val="0000FF"/>
                  </a:solidFill>
                </a:rPr>
                <a:t>Q</a:t>
              </a:r>
              <a:r>
                <a:rPr lang="en-US" altLang="zh-CN" sz="2800" i="1" kern="0" baseline="30000" dirty="0" err="1">
                  <a:solidFill>
                    <a:srgbClr val="0000FF"/>
                  </a:solidFill>
                </a:rPr>
                <a:t>n</a:t>
              </a:r>
              <a:endParaRPr lang="en-US" altLang="zh-CN" i="1" kern="0" baseline="30000" dirty="0">
                <a:solidFill>
                  <a:srgbClr val="0000FF"/>
                </a:solidFill>
              </a:endParaRPr>
            </a:p>
          </p:txBody>
        </p:sp>
        <p:sp>
          <p:nvSpPr>
            <p:cNvPr id="66" name="Rectangle 44"/>
            <p:cNvSpPr>
              <a:spLocks noChangeArrowheads="1"/>
            </p:cNvSpPr>
            <p:nvPr/>
          </p:nvSpPr>
          <p:spPr bwMode="auto">
            <a:xfrm>
              <a:off x="4206" y="950"/>
              <a:ext cx="1290" cy="1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zh-CN" altLang="en-US" kern="0" dirty="0">
                  <a:solidFill>
                    <a:srgbClr val="0000FF"/>
                  </a:solidFill>
                  <a:ea typeface="楷体_GB2312" pitchFamily="49" charset="-122"/>
                </a:rPr>
                <a:t>保持</a:t>
              </a:r>
              <a:endParaRPr lang="zh-CN" altLang="en-US"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0      </a:t>
              </a: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1      </a:t>
              </a: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zh-CN" altLang="en-US" kern="0" dirty="0">
                  <a:solidFill>
                    <a:srgbClr val="0000FF"/>
                  </a:solidFill>
                  <a:ea typeface="楷体_GB2312" pitchFamily="49" charset="-122"/>
                </a:rPr>
                <a:t>不定</a:t>
              </a:r>
              <a:endParaRPr lang="zh-CN" altLang="en-US" kern="0" dirty="0">
                <a:solidFill>
                  <a:srgbClr val="0000FF"/>
                </a:solidFill>
                <a:ea typeface="楷体_GB2312" pitchFamily="49" charset="-122"/>
              </a:endParaRPr>
            </a:p>
          </p:txBody>
        </p:sp>
        <p:sp>
          <p:nvSpPr>
            <p:cNvPr id="67" name="Rectangle 45"/>
            <p:cNvSpPr>
              <a:spLocks noChangeArrowheads="1"/>
            </p:cNvSpPr>
            <p:nvPr/>
          </p:nvSpPr>
          <p:spPr bwMode="auto">
            <a:xfrm>
              <a:off x="3420" y="950"/>
              <a:ext cx="786" cy="9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en-US" altLang="zh-CN" kern="0" dirty="0">
                  <a:solidFill>
                    <a:srgbClr val="0000FF"/>
                  </a:solidFill>
                </a:rPr>
                <a:t>1    1</a:t>
              </a:r>
              <a:endParaRPr lang="en-US" altLang="zh-CN" kern="0" dirty="0">
                <a:solidFill>
                  <a:srgbClr val="0000FF"/>
                </a:solidFill>
              </a:endParaRPr>
            </a:p>
            <a:p>
              <a:pPr algn="ctr" defTabSz="914400" fontAlgn="base">
                <a:spcBef>
                  <a:spcPct val="0"/>
                </a:spcBef>
                <a:spcAft>
                  <a:spcPct val="0"/>
                </a:spcAft>
                <a:defRPr/>
              </a:pPr>
              <a:r>
                <a:rPr lang="en-US" altLang="zh-CN" kern="0" dirty="0">
                  <a:solidFill>
                    <a:srgbClr val="0000FF"/>
                  </a:solidFill>
                </a:rPr>
                <a:t>0    1</a:t>
              </a:r>
              <a:endParaRPr lang="en-US" altLang="zh-CN" kern="0" dirty="0">
                <a:solidFill>
                  <a:srgbClr val="0000FF"/>
                </a:solidFill>
              </a:endParaRPr>
            </a:p>
            <a:p>
              <a:pPr algn="ctr" defTabSz="914400" fontAlgn="base">
                <a:spcBef>
                  <a:spcPct val="0"/>
                </a:spcBef>
                <a:spcAft>
                  <a:spcPct val="0"/>
                </a:spcAft>
                <a:defRPr/>
              </a:pPr>
              <a:r>
                <a:rPr lang="en-US" altLang="zh-CN" kern="0" dirty="0">
                  <a:solidFill>
                    <a:srgbClr val="0000FF"/>
                  </a:solidFill>
                </a:rPr>
                <a:t>1    0</a:t>
              </a:r>
              <a:endParaRPr lang="en-US" altLang="zh-CN" kern="0" dirty="0">
                <a:solidFill>
                  <a:srgbClr val="0000FF"/>
                </a:solidFill>
              </a:endParaRPr>
            </a:p>
            <a:p>
              <a:pPr algn="ctr" defTabSz="914400" fontAlgn="base">
                <a:spcBef>
                  <a:spcPct val="0"/>
                </a:spcBef>
                <a:spcAft>
                  <a:spcPct val="0"/>
                </a:spcAft>
                <a:defRPr/>
              </a:pPr>
              <a:r>
                <a:rPr lang="en-US" altLang="zh-CN" kern="0" dirty="0">
                  <a:solidFill>
                    <a:srgbClr val="0000FF"/>
                  </a:solidFill>
                </a:rPr>
                <a:t>0    0</a:t>
              </a:r>
              <a:endParaRPr lang="en-US" altLang="zh-CN" sz="2000" kern="0" dirty="0">
                <a:solidFill>
                  <a:srgbClr val="0000FF"/>
                </a:solidFill>
              </a:endParaRPr>
            </a:p>
          </p:txBody>
        </p:sp>
        <p:sp>
          <p:nvSpPr>
            <p:cNvPr id="68" name="Rectangle 46"/>
            <p:cNvSpPr>
              <a:spLocks noChangeArrowheads="1"/>
            </p:cNvSpPr>
            <p:nvPr/>
          </p:nvSpPr>
          <p:spPr bwMode="auto">
            <a:xfrm>
              <a:off x="3420" y="624"/>
              <a:ext cx="786"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en-US" altLang="zh-CN" i="1" kern="0" dirty="0">
                  <a:solidFill>
                    <a:srgbClr val="0000FF"/>
                  </a:solidFill>
                </a:rPr>
                <a:t>R</a:t>
              </a:r>
              <a:r>
                <a:rPr lang="en-US" altLang="zh-CN" i="1" kern="0" baseline="-25000" dirty="0">
                  <a:solidFill>
                    <a:srgbClr val="0000FF"/>
                  </a:solidFill>
                </a:rPr>
                <a:t>D</a:t>
              </a:r>
              <a:r>
                <a:rPr lang="en-US" altLang="zh-CN" i="1" kern="0" dirty="0">
                  <a:solidFill>
                    <a:srgbClr val="0000FF"/>
                  </a:solidFill>
                </a:rPr>
                <a:t>  S</a:t>
              </a:r>
              <a:r>
                <a:rPr lang="en-US" altLang="zh-CN" i="1" kern="0" baseline="-25000" dirty="0">
                  <a:solidFill>
                    <a:srgbClr val="0000FF"/>
                  </a:solidFill>
                </a:rPr>
                <a:t>D</a:t>
              </a:r>
              <a:endParaRPr lang="en-US" altLang="zh-CN" i="1" kern="0" baseline="-25000" dirty="0">
                <a:solidFill>
                  <a:srgbClr val="0000FF"/>
                </a:solidFill>
              </a:endParaRPr>
            </a:p>
          </p:txBody>
        </p:sp>
        <p:sp>
          <p:nvSpPr>
            <p:cNvPr id="69" name="Line 47"/>
            <p:cNvSpPr>
              <a:spLocks noChangeShapeType="1"/>
            </p:cNvSpPr>
            <p:nvPr/>
          </p:nvSpPr>
          <p:spPr bwMode="auto">
            <a:xfrm>
              <a:off x="3420" y="624"/>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0" name="Line 48"/>
            <p:cNvSpPr>
              <a:spLocks noChangeShapeType="1"/>
            </p:cNvSpPr>
            <p:nvPr/>
          </p:nvSpPr>
          <p:spPr bwMode="auto">
            <a:xfrm>
              <a:off x="3420" y="950"/>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b="1" kern="0">
                <a:solidFill>
                  <a:srgbClr val="0000FF"/>
                </a:solidFill>
                <a:latin typeface="Times New Roman" panose="02020603050405020304" pitchFamily="18" charset="0"/>
                <a:ea typeface="宋体" panose="02010600030101010101" pitchFamily="2" charset="-122"/>
              </a:endParaRPr>
            </a:p>
          </p:txBody>
        </p:sp>
        <p:sp>
          <p:nvSpPr>
            <p:cNvPr id="71" name="Line 49"/>
            <p:cNvSpPr>
              <a:spLocks noChangeShapeType="1"/>
            </p:cNvSpPr>
            <p:nvPr/>
          </p:nvSpPr>
          <p:spPr bwMode="auto">
            <a:xfrm>
              <a:off x="3420" y="1972"/>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2" name="Line 50"/>
            <p:cNvSpPr>
              <a:spLocks noChangeShapeType="1"/>
            </p:cNvSpPr>
            <p:nvPr/>
          </p:nvSpPr>
          <p:spPr bwMode="auto">
            <a:xfrm>
              <a:off x="4206" y="624"/>
              <a:ext cx="0" cy="134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3" name="Line 51"/>
            <p:cNvSpPr>
              <a:spLocks noChangeShapeType="1"/>
            </p:cNvSpPr>
            <p:nvPr/>
          </p:nvSpPr>
          <p:spPr bwMode="auto">
            <a:xfrm>
              <a:off x="3569" y="664"/>
              <a:ext cx="1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4" name="Line 52"/>
            <p:cNvSpPr>
              <a:spLocks noChangeShapeType="1"/>
            </p:cNvSpPr>
            <p:nvPr/>
          </p:nvSpPr>
          <p:spPr bwMode="auto">
            <a:xfrm>
              <a:off x="3860" y="682"/>
              <a:ext cx="1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edge">
                                      <p:cBhvr>
                                        <p:cTn id="7" dur="500"/>
                                        <p:tgtEl>
                                          <p:spTgt spid="2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2" fill="hold" grpId="0" nodeType="clickEffect">
                                  <p:stCondLst>
                                    <p:cond delay="0"/>
                                  </p:stCondLst>
                                  <p:childTnLst>
                                    <p:set>
                                      <p:cBhvr>
                                        <p:cTn id="11" dur="1" fill="hold">
                                          <p:stCondLst>
                                            <p:cond delay="0"/>
                                          </p:stCondLst>
                                        </p:cTn>
                                        <p:tgtEl>
                                          <p:spTgt spid="157"/>
                                        </p:tgtEl>
                                        <p:attrNameLst>
                                          <p:attrName>style.visibility</p:attrName>
                                        </p:attrNameLst>
                                      </p:cBhvr>
                                      <p:to>
                                        <p:strVal val="visible"/>
                                      </p:to>
                                    </p:set>
                                    <p:animEffect transition="in" filter="wheel(2)">
                                      <p:cBhvr>
                                        <p:cTn id="12" dur="500"/>
                                        <p:tgtEl>
                                          <p:spTgt spid="15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slide(fromBottom)">
                                      <p:cBhvr>
                                        <p:cTn id="17" dur="500"/>
                                        <p:tgtEl>
                                          <p:spTgt spid="195"/>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2" fill="hold" grpId="0" nodeType="clickEffect">
                                  <p:stCondLst>
                                    <p:cond delay="0"/>
                                  </p:stCondLst>
                                  <p:childTnLst>
                                    <p:set>
                                      <p:cBhvr>
                                        <p:cTn id="21" dur="1" fill="hold">
                                          <p:stCondLst>
                                            <p:cond delay="0"/>
                                          </p:stCondLst>
                                        </p:cTn>
                                        <p:tgtEl>
                                          <p:spTgt spid="196"/>
                                        </p:tgtEl>
                                        <p:attrNameLst>
                                          <p:attrName>style.visibility</p:attrName>
                                        </p:attrNameLst>
                                      </p:cBhvr>
                                      <p:to>
                                        <p:strVal val="visible"/>
                                      </p:to>
                                    </p:set>
                                    <p:animEffect transition="in" filter="wheel(2)">
                                      <p:cBhvr>
                                        <p:cTn id="22" dur="500"/>
                                        <p:tgtEl>
                                          <p:spTgt spid="19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93"/>
                                        </p:tgtEl>
                                        <p:attrNameLst>
                                          <p:attrName>style.visibility</p:attrName>
                                        </p:attrNameLst>
                                      </p:cBhvr>
                                      <p:to>
                                        <p:strVal val="visible"/>
                                      </p:to>
                                    </p:set>
                                    <p:animEffect transition="in" filter="randombar(horizontal)">
                                      <p:cBhvr>
                                        <p:cTn id="27" dur="500"/>
                                        <p:tgtEl>
                                          <p:spTgt spid="193"/>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2" fill="hold" grpId="0" nodeType="clickEffect">
                                  <p:stCondLst>
                                    <p:cond delay="0"/>
                                  </p:stCondLst>
                                  <p:childTnLst>
                                    <p:set>
                                      <p:cBhvr>
                                        <p:cTn id="31" dur="1" fill="hold">
                                          <p:stCondLst>
                                            <p:cond delay="0"/>
                                          </p:stCondLst>
                                        </p:cTn>
                                        <p:tgtEl>
                                          <p:spTgt spid="197"/>
                                        </p:tgtEl>
                                        <p:attrNameLst>
                                          <p:attrName>style.visibility</p:attrName>
                                        </p:attrNameLst>
                                      </p:cBhvr>
                                      <p:to>
                                        <p:strVal val="visible"/>
                                      </p:to>
                                    </p:set>
                                    <p:animEffect transition="in" filter="wheel(2)">
                                      <p:cBhvr>
                                        <p:cTn id="32" dur="500"/>
                                        <p:tgtEl>
                                          <p:spTgt spid="197"/>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194"/>
                                        </p:tgtEl>
                                        <p:attrNameLst>
                                          <p:attrName>style.visibility</p:attrName>
                                        </p:attrNameLst>
                                      </p:cBhvr>
                                      <p:to>
                                        <p:strVal val="visible"/>
                                      </p:to>
                                    </p:set>
                                    <p:animEffect transition="in" filter="randombar(horizontal)">
                                      <p:cBhvr>
                                        <p:cTn id="37" dur="500"/>
                                        <p:tgtEl>
                                          <p:spTgt spid="194"/>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2" fill="hold" grpId="0" nodeType="clickEffect">
                                  <p:stCondLst>
                                    <p:cond delay="0"/>
                                  </p:stCondLst>
                                  <p:childTnLst>
                                    <p:set>
                                      <p:cBhvr>
                                        <p:cTn id="41" dur="1" fill="hold">
                                          <p:stCondLst>
                                            <p:cond delay="0"/>
                                          </p:stCondLst>
                                        </p:cTn>
                                        <p:tgtEl>
                                          <p:spTgt spid="219"/>
                                        </p:tgtEl>
                                        <p:attrNameLst>
                                          <p:attrName>style.visibility</p:attrName>
                                        </p:attrNameLst>
                                      </p:cBhvr>
                                      <p:to>
                                        <p:strVal val="visible"/>
                                      </p:to>
                                    </p:set>
                                    <p:animEffect transition="in" filter="wheel(2)">
                                      <p:cBhvr>
                                        <p:cTn id="42" dur="500"/>
                                        <p:tgtEl>
                                          <p:spTgt spid="219"/>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2" fill="hold" grpId="0" nodeType="clickEffect">
                                  <p:stCondLst>
                                    <p:cond delay="0"/>
                                  </p:stCondLst>
                                  <p:childTnLst>
                                    <p:set>
                                      <p:cBhvr>
                                        <p:cTn id="46" dur="1" fill="hold">
                                          <p:stCondLst>
                                            <p:cond delay="0"/>
                                          </p:stCondLst>
                                        </p:cTn>
                                        <p:tgtEl>
                                          <p:spTgt spid="220"/>
                                        </p:tgtEl>
                                        <p:attrNameLst>
                                          <p:attrName>style.visibility</p:attrName>
                                        </p:attrNameLst>
                                      </p:cBhvr>
                                      <p:to>
                                        <p:strVal val="visible"/>
                                      </p:to>
                                    </p:set>
                                    <p:animEffect transition="in" filter="wheel(2)">
                                      <p:cBhvr>
                                        <p:cTn id="47" dur="500"/>
                                        <p:tgtEl>
                                          <p:spTgt spid="220"/>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198"/>
                                        </p:tgtEl>
                                        <p:attrNameLst>
                                          <p:attrName>style.visibility</p:attrName>
                                        </p:attrNameLst>
                                      </p:cBhvr>
                                      <p:to>
                                        <p:strVal val="visible"/>
                                      </p:to>
                                    </p:set>
                                    <p:animEffect transition="in" filter="randombar(horizontal)">
                                      <p:cBhvr>
                                        <p:cTn id="52" dur="500"/>
                                        <p:tgtEl>
                                          <p:spTgt spid="198"/>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199"/>
                                        </p:tgtEl>
                                        <p:attrNameLst>
                                          <p:attrName>style.visibility</p:attrName>
                                        </p:attrNameLst>
                                      </p:cBhvr>
                                      <p:to>
                                        <p:strVal val="visible"/>
                                      </p:to>
                                    </p:set>
                                    <p:animEffect transition="in" filter="randombar(horizontal)">
                                      <p:cBhvr>
                                        <p:cTn id="57" dur="500"/>
                                        <p:tgtEl>
                                          <p:spTgt spid="199"/>
                                        </p:tgtEl>
                                      </p:cBhvr>
                                    </p:animEffect>
                                  </p:childTnLst>
                                </p:cTn>
                              </p:par>
                            </p:childTnLst>
                          </p:cTn>
                        </p:par>
                      </p:childTnLst>
                    </p:cTn>
                  </p:par>
                  <p:par>
                    <p:cTn id="58" fill="hold">
                      <p:stCondLst>
                        <p:cond delay="indefinite"/>
                      </p:stCondLst>
                      <p:childTnLst>
                        <p:par>
                          <p:cTn id="59" fill="hold">
                            <p:stCondLst>
                              <p:cond delay="0"/>
                            </p:stCondLst>
                            <p:childTnLst>
                              <p:par>
                                <p:cTn id="60" presetID="20" presetClass="entr" presetSubtype="0" fill="hold" grpId="0" nodeType="clickEffect">
                                  <p:stCondLst>
                                    <p:cond delay="0"/>
                                  </p:stCondLst>
                                  <p:childTnLst>
                                    <p:set>
                                      <p:cBhvr>
                                        <p:cTn id="61" dur="1" fill="hold">
                                          <p:stCondLst>
                                            <p:cond delay="0"/>
                                          </p:stCondLst>
                                        </p:cTn>
                                        <p:tgtEl>
                                          <p:spTgt spid="200"/>
                                        </p:tgtEl>
                                        <p:attrNameLst>
                                          <p:attrName>style.visibility</p:attrName>
                                        </p:attrNameLst>
                                      </p:cBhvr>
                                      <p:to>
                                        <p:strVal val="visible"/>
                                      </p:to>
                                    </p:set>
                                    <p:animEffect transition="in" filter="wedge">
                                      <p:cBhvr>
                                        <p:cTn id="62" dur="500"/>
                                        <p:tgtEl>
                                          <p:spTgt spid="200"/>
                                        </p:tgtEl>
                                      </p:cBhvr>
                                    </p:animEffect>
                                  </p:childTnLst>
                                </p:cTn>
                              </p:par>
                            </p:childTnLst>
                          </p:cTn>
                        </p:par>
                      </p:childTnLst>
                    </p:cTn>
                  </p:par>
                  <p:par>
                    <p:cTn id="63" fill="hold">
                      <p:stCondLst>
                        <p:cond delay="indefinite"/>
                      </p:stCondLst>
                      <p:childTnLst>
                        <p:par>
                          <p:cTn id="64" fill="hold">
                            <p:stCondLst>
                              <p:cond delay="0"/>
                            </p:stCondLst>
                            <p:childTnLst>
                              <p:par>
                                <p:cTn id="65" presetID="20" presetClass="entr" presetSubtype="0" fill="hold" grpId="0" nodeType="clickEffect">
                                  <p:stCondLst>
                                    <p:cond delay="0"/>
                                  </p:stCondLst>
                                  <p:childTnLst>
                                    <p:set>
                                      <p:cBhvr>
                                        <p:cTn id="66" dur="1" fill="hold">
                                          <p:stCondLst>
                                            <p:cond delay="0"/>
                                          </p:stCondLst>
                                        </p:cTn>
                                        <p:tgtEl>
                                          <p:spTgt spid="201"/>
                                        </p:tgtEl>
                                        <p:attrNameLst>
                                          <p:attrName>style.visibility</p:attrName>
                                        </p:attrNameLst>
                                      </p:cBhvr>
                                      <p:to>
                                        <p:strVal val="visible"/>
                                      </p:to>
                                    </p:set>
                                    <p:animEffect transition="in" filter="wedge">
                                      <p:cBhvr>
                                        <p:cTn id="67" dur="500"/>
                                        <p:tgtEl>
                                          <p:spTgt spid="201"/>
                                        </p:tgtEl>
                                      </p:cBhvr>
                                    </p:animEffect>
                                  </p:childTnLst>
                                </p:cTn>
                              </p:par>
                            </p:childTnLst>
                          </p:cTn>
                        </p:par>
                      </p:childTnLst>
                    </p:cTn>
                  </p:par>
                  <p:par>
                    <p:cTn id="68" fill="hold">
                      <p:stCondLst>
                        <p:cond delay="indefinite"/>
                      </p:stCondLst>
                      <p:childTnLst>
                        <p:par>
                          <p:cTn id="69" fill="hold">
                            <p:stCondLst>
                              <p:cond delay="0"/>
                            </p:stCondLst>
                            <p:childTnLst>
                              <p:par>
                                <p:cTn id="70" presetID="20" presetClass="entr" presetSubtype="0" fill="hold" grpId="0" nodeType="clickEffect">
                                  <p:stCondLst>
                                    <p:cond delay="0"/>
                                  </p:stCondLst>
                                  <p:childTnLst>
                                    <p:set>
                                      <p:cBhvr>
                                        <p:cTn id="71" dur="1" fill="hold">
                                          <p:stCondLst>
                                            <p:cond delay="0"/>
                                          </p:stCondLst>
                                        </p:cTn>
                                        <p:tgtEl>
                                          <p:spTgt spid="202"/>
                                        </p:tgtEl>
                                        <p:attrNameLst>
                                          <p:attrName>style.visibility</p:attrName>
                                        </p:attrNameLst>
                                      </p:cBhvr>
                                      <p:to>
                                        <p:strVal val="visible"/>
                                      </p:to>
                                    </p:set>
                                    <p:animEffect transition="in" filter="wedge">
                                      <p:cBhvr>
                                        <p:cTn id="72" dur="500"/>
                                        <p:tgtEl>
                                          <p:spTgt spid="202"/>
                                        </p:tgtEl>
                                      </p:cBhvr>
                                    </p:animEffect>
                                  </p:childTnLst>
                                </p:cTn>
                              </p:par>
                            </p:childTnLst>
                          </p:cTn>
                        </p:par>
                      </p:childTnLst>
                    </p:cTn>
                  </p:par>
                  <p:par>
                    <p:cTn id="73" fill="hold">
                      <p:stCondLst>
                        <p:cond delay="indefinite"/>
                      </p:stCondLst>
                      <p:childTnLst>
                        <p:par>
                          <p:cTn id="74" fill="hold">
                            <p:stCondLst>
                              <p:cond delay="0"/>
                            </p:stCondLst>
                            <p:childTnLst>
                              <p:par>
                                <p:cTn id="75" presetID="20" presetClass="entr" presetSubtype="0" fill="hold" grpId="0" nodeType="clickEffect">
                                  <p:stCondLst>
                                    <p:cond delay="0"/>
                                  </p:stCondLst>
                                  <p:childTnLst>
                                    <p:set>
                                      <p:cBhvr>
                                        <p:cTn id="76" dur="1" fill="hold">
                                          <p:stCondLst>
                                            <p:cond delay="0"/>
                                          </p:stCondLst>
                                        </p:cTn>
                                        <p:tgtEl>
                                          <p:spTgt spid="203"/>
                                        </p:tgtEl>
                                        <p:attrNameLst>
                                          <p:attrName>style.visibility</p:attrName>
                                        </p:attrNameLst>
                                      </p:cBhvr>
                                      <p:to>
                                        <p:strVal val="visible"/>
                                      </p:to>
                                    </p:set>
                                    <p:animEffect transition="in" filter="wedge">
                                      <p:cBhvr>
                                        <p:cTn id="77" dur="500"/>
                                        <p:tgtEl>
                                          <p:spTgt spid="203"/>
                                        </p:tgtEl>
                                      </p:cBhvr>
                                    </p:animEffect>
                                  </p:childTnLst>
                                </p:cTn>
                              </p:par>
                            </p:childTnLst>
                          </p:cTn>
                        </p:par>
                      </p:childTnLst>
                    </p:cTn>
                  </p:par>
                  <p:par>
                    <p:cTn id="78" fill="hold">
                      <p:stCondLst>
                        <p:cond delay="indefinite"/>
                      </p:stCondLst>
                      <p:childTnLst>
                        <p:par>
                          <p:cTn id="79" fill="hold">
                            <p:stCondLst>
                              <p:cond delay="0"/>
                            </p:stCondLst>
                            <p:childTnLst>
                              <p:par>
                                <p:cTn id="80" presetID="20" presetClass="entr" presetSubtype="0" fill="hold" grpId="0" nodeType="clickEffect">
                                  <p:stCondLst>
                                    <p:cond delay="0"/>
                                  </p:stCondLst>
                                  <p:childTnLst>
                                    <p:set>
                                      <p:cBhvr>
                                        <p:cTn id="81" dur="1" fill="hold">
                                          <p:stCondLst>
                                            <p:cond delay="0"/>
                                          </p:stCondLst>
                                        </p:cTn>
                                        <p:tgtEl>
                                          <p:spTgt spid="204"/>
                                        </p:tgtEl>
                                        <p:attrNameLst>
                                          <p:attrName>style.visibility</p:attrName>
                                        </p:attrNameLst>
                                      </p:cBhvr>
                                      <p:to>
                                        <p:strVal val="visible"/>
                                      </p:to>
                                    </p:set>
                                    <p:animEffect transition="in" filter="wedge">
                                      <p:cBhvr>
                                        <p:cTn id="82" dur="500"/>
                                        <p:tgtEl>
                                          <p:spTgt spid="204"/>
                                        </p:tgtEl>
                                      </p:cBhvr>
                                    </p:animEffect>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grpId="0" nodeType="clickEffect">
                                  <p:stCondLst>
                                    <p:cond delay="0"/>
                                  </p:stCondLst>
                                  <p:childTnLst>
                                    <p:set>
                                      <p:cBhvr>
                                        <p:cTn id="86" dur="1" fill="hold">
                                          <p:stCondLst>
                                            <p:cond delay="0"/>
                                          </p:stCondLst>
                                        </p:cTn>
                                        <p:tgtEl>
                                          <p:spTgt spid="152"/>
                                        </p:tgtEl>
                                        <p:attrNameLst>
                                          <p:attrName>style.visibility</p:attrName>
                                        </p:attrNameLst>
                                      </p:cBhvr>
                                      <p:to>
                                        <p:strVal val="visible"/>
                                      </p:to>
                                    </p:set>
                                    <p:animEffect transition="in" filter="circle(in)">
                                      <p:cBhvr>
                                        <p:cTn id="87" dur="2000"/>
                                        <p:tgtEl>
                                          <p:spTgt spid="152"/>
                                        </p:tgtEl>
                                      </p:cBhvr>
                                    </p:animEffect>
                                  </p:childTnLst>
                                </p:cTn>
                              </p:par>
                            </p:childTnLst>
                          </p:cTn>
                        </p:par>
                      </p:childTnLst>
                    </p:cTn>
                  </p:par>
                  <p:par>
                    <p:cTn id="88" fill="hold">
                      <p:stCondLst>
                        <p:cond delay="indefinite"/>
                      </p:stCondLst>
                      <p:childTnLst>
                        <p:par>
                          <p:cTn id="89" fill="hold">
                            <p:stCondLst>
                              <p:cond delay="0"/>
                            </p:stCondLst>
                            <p:childTnLst>
                              <p:par>
                                <p:cTn id="90" presetID="6" presetClass="entr" presetSubtype="16" fill="hold" grpId="0" nodeType="clickEffect">
                                  <p:stCondLst>
                                    <p:cond delay="0"/>
                                  </p:stCondLst>
                                  <p:childTnLst>
                                    <p:set>
                                      <p:cBhvr>
                                        <p:cTn id="91" dur="1" fill="hold">
                                          <p:stCondLst>
                                            <p:cond delay="0"/>
                                          </p:stCondLst>
                                        </p:cTn>
                                        <p:tgtEl>
                                          <p:spTgt spid="2"/>
                                        </p:tgtEl>
                                        <p:attrNameLst>
                                          <p:attrName>style.visibility</p:attrName>
                                        </p:attrNameLst>
                                      </p:cBhvr>
                                      <p:to>
                                        <p:strVal val="visible"/>
                                      </p:to>
                                    </p:set>
                                    <p:animEffect transition="in" filter="circle(in)">
                                      <p:cBhvr>
                                        <p:cTn id="9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animBg="1"/>
      <p:bldP spid="157" grpId="0" animBg="1"/>
      <p:bldP spid="195" grpId="0" animBg="1" autoUpdateAnimBg="0"/>
      <p:bldP spid="196" grpId="0" animBg="1"/>
      <p:bldP spid="197" grpId="0" animBg="1"/>
      <p:bldP spid="200" grpId="0" animBg="1" autoUpdateAnimBg="0"/>
      <p:bldP spid="201" grpId="0" animBg="1" autoUpdateAnimBg="0"/>
      <p:bldP spid="202" grpId="0" animBg="1" autoUpdateAnimBg="0"/>
      <p:bldP spid="204" grpId="0" animBg="1" autoUpdateAnimBg="0"/>
      <p:bldP spid="210" grpId="0" animBg="1" autoUpdateAnimBg="0"/>
      <p:bldP spid="219" grpId="0" animBg="1"/>
      <p:bldP spid="220" grpId="0" animBg="1"/>
      <p:bldP spid="203" grpId="0" animBg="1" autoUpdateAnimBg="0"/>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51" name="Rectangle 3"/>
          <p:cNvSpPr>
            <a:spLocks noChangeArrowheads="1"/>
          </p:cNvSpPr>
          <p:nvPr/>
        </p:nvSpPr>
        <p:spPr bwMode="auto">
          <a:xfrm>
            <a:off x="3193308" y="4743662"/>
            <a:ext cx="404813" cy="539750"/>
          </a:xfrm>
          <a:prstGeom prst="rect">
            <a:avLst/>
          </a:prstGeom>
          <a:solidFill>
            <a:srgbClr val="FF3300"/>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57" name="Oval 11"/>
          <p:cNvSpPr>
            <a:spLocks noChangeArrowheads="1"/>
          </p:cNvSpPr>
          <p:nvPr/>
        </p:nvSpPr>
        <p:spPr bwMode="auto">
          <a:xfrm flipH="1">
            <a:off x="1977712" y="2090264"/>
            <a:ext cx="495300" cy="269875"/>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grpSp>
        <p:nvGrpSpPr>
          <p:cNvPr id="158" name="Group 12"/>
          <p:cNvGrpSpPr/>
          <p:nvPr/>
        </p:nvGrpSpPr>
        <p:grpSpPr bwMode="auto">
          <a:xfrm>
            <a:off x="1661909" y="1280975"/>
            <a:ext cx="6775994" cy="4526004"/>
            <a:chOff x="1365" y="1423"/>
            <a:chExt cx="3447" cy="2324"/>
          </a:xfrm>
        </p:grpSpPr>
        <p:graphicFrame>
          <p:nvGraphicFramePr>
            <p:cNvPr id="159" name="Object 10"/>
            <p:cNvGraphicFramePr>
              <a:graphicFrameLocks noChangeAspect="1"/>
            </p:cNvGraphicFramePr>
            <p:nvPr/>
          </p:nvGraphicFramePr>
          <p:xfrm>
            <a:off x="1644" y="1588"/>
            <a:ext cx="2867" cy="2115"/>
          </p:xfrm>
          <a:graphic>
            <a:graphicData uri="http://schemas.openxmlformats.org/presentationml/2006/ole">
              <mc:AlternateContent xmlns:mc="http://schemas.openxmlformats.org/markup-compatibility/2006">
                <mc:Choice xmlns:v="urn:schemas-microsoft-com:vml" Requires="v">
                  <p:oleObj spid="_x0000_s16391" name="Picture" r:id="rId2" imgW="3456305" imgH="3031490" progId="Word.Picture.8">
                    <p:embed/>
                  </p:oleObj>
                </mc:Choice>
                <mc:Fallback>
                  <p:oleObj name="Picture" r:id="rId2" imgW="3456305" imgH="3031490" progId="Word.Picture.8">
                    <p:embed/>
                    <p:pic>
                      <p:nvPicPr>
                        <p:cNvPr id="0" name="图片 1639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4" y="1588"/>
                          <a:ext cx="2867" cy="2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0" name="Text Box 14"/>
            <p:cNvSpPr txBox="1">
              <a:spLocks noChangeArrowheads="1"/>
            </p:cNvSpPr>
            <p:nvPr/>
          </p:nvSpPr>
          <p:spPr bwMode="auto">
            <a:xfrm>
              <a:off x="2307" y="315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T</a:t>
              </a:r>
              <a:endParaRPr lang="en-US" altLang="zh-CN" sz="4800" b="1" kern="0">
                <a:solidFill>
                  <a:srgbClr val="000000"/>
                </a:solidFill>
                <a:latin typeface="Times New Roman" panose="02020603050405020304" pitchFamily="18" charset="0"/>
                <a:ea typeface="楷体_GB2312" pitchFamily="49" charset="-122"/>
              </a:endParaRPr>
            </a:p>
          </p:txBody>
        </p:sp>
        <p:sp>
          <p:nvSpPr>
            <p:cNvPr id="161" name="Rectangle 15"/>
            <p:cNvSpPr>
              <a:spLocks noChangeArrowheads="1"/>
            </p:cNvSpPr>
            <p:nvPr/>
          </p:nvSpPr>
          <p:spPr bwMode="auto">
            <a:xfrm>
              <a:off x="4556" y="2457"/>
              <a:ext cx="25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800" b="1" i="1" kern="0" dirty="0" err="1">
                  <a:solidFill>
                    <a:srgbClr val="000000"/>
                  </a:solidFill>
                  <a:latin typeface="Times New Roman" panose="02020603050405020304" pitchFamily="18" charset="0"/>
                  <a:ea typeface="楷体_GB2312" pitchFamily="49" charset="-122"/>
                </a:rPr>
                <a:t>v</a:t>
              </a:r>
              <a:r>
                <a:rPr lang="en-US" altLang="zh-CN" sz="2800" b="1" kern="0" baseline="-25000" dirty="0" err="1">
                  <a:solidFill>
                    <a:srgbClr val="000000"/>
                  </a:solidFill>
                  <a:latin typeface="Times New Roman" panose="02020603050405020304" pitchFamily="18" charset="0"/>
                  <a:ea typeface="楷体_GB2312" pitchFamily="49" charset="-122"/>
                </a:rPr>
                <a:t>o</a:t>
              </a:r>
              <a:endParaRPr lang="en-US" altLang="zh-CN" sz="2800" b="1" kern="0" baseline="-25000" dirty="0">
                <a:solidFill>
                  <a:srgbClr val="000000"/>
                </a:solidFill>
                <a:latin typeface="Times New Roman" panose="02020603050405020304" pitchFamily="18" charset="0"/>
                <a:ea typeface="楷体_GB2312" pitchFamily="49" charset="-122"/>
              </a:endParaRPr>
            </a:p>
          </p:txBody>
        </p:sp>
        <p:sp>
          <p:nvSpPr>
            <p:cNvPr id="162" name="Rectangle 16"/>
            <p:cNvSpPr>
              <a:spLocks noChangeArrowheads="1"/>
            </p:cNvSpPr>
            <p:nvPr/>
          </p:nvSpPr>
          <p:spPr bwMode="auto">
            <a:xfrm>
              <a:off x="1378" y="1810"/>
              <a:ext cx="252"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err="1">
                  <a:solidFill>
                    <a:srgbClr val="000000"/>
                  </a:solidFill>
                  <a:latin typeface="Times New Roman" panose="02020603050405020304" pitchFamily="18" charset="0"/>
                  <a:ea typeface="楷体_GB2312" pitchFamily="49" charset="-122"/>
                </a:rPr>
                <a:t>v</a:t>
              </a:r>
              <a:r>
                <a:rPr lang="en-US" altLang="zh-CN" b="1" kern="0" baseline="-25000" dirty="0" err="1">
                  <a:solidFill>
                    <a:srgbClr val="000000"/>
                  </a:solidFill>
                  <a:latin typeface="Times New Roman" panose="02020603050405020304" pitchFamily="18" charset="0"/>
                  <a:ea typeface="楷体_GB2312" pitchFamily="49" charset="-122"/>
                </a:rPr>
                <a:t>IC</a:t>
              </a:r>
              <a:endParaRPr lang="en-US" altLang="zh-CN" b="1" kern="0" baseline="-25000" dirty="0">
                <a:solidFill>
                  <a:srgbClr val="000000"/>
                </a:solidFill>
                <a:latin typeface="Times New Roman" panose="02020603050405020304" pitchFamily="18" charset="0"/>
                <a:ea typeface="楷体_GB2312" pitchFamily="49" charset="-122"/>
              </a:endParaRPr>
            </a:p>
          </p:txBody>
        </p:sp>
        <p:sp>
          <p:nvSpPr>
            <p:cNvPr id="163" name="Rectangle 17"/>
            <p:cNvSpPr>
              <a:spLocks noChangeArrowheads="1"/>
            </p:cNvSpPr>
            <p:nvPr/>
          </p:nvSpPr>
          <p:spPr bwMode="auto">
            <a:xfrm>
              <a:off x="1375" y="2018"/>
              <a:ext cx="25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i="1" kern="0" baseline="-25000" dirty="0">
                  <a:solidFill>
                    <a:srgbClr val="FF0000"/>
                  </a:solidFill>
                  <a:latin typeface="Times New Roman" panose="02020603050405020304" pitchFamily="18" charset="0"/>
                  <a:ea typeface="楷体_GB2312" pitchFamily="49" charset="-122"/>
                </a:rPr>
                <a:t>TH</a:t>
              </a:r>
              <a:endParaRPr lang="en-US" altLang="zh-CN" sz="2400" kern="0" baseline="-25000" dirty="0">
                <a:solidFill>
                  <a:srgbClr val="FF0000"/>
                </a:solidFill>
                <a:latin typeface="Times New Roman" panose="02020603050405020304" pitchFamily="18" charset="0"/>
                <a:ea typeface="楷体_GB2312" pitchFamily="49" charset="-122"/>
              </a:endParaRPr>
            </a:p>
          </p:txBody>
        </p:sp>
        <p:sp>
          <p:nvSpPr>
            <p:cNvPr id="164" name="Rectangle 18"/>
            <p:cNvSpPr>
              <a:spLocks noChangeArrowheads="1"/>
            </p:cNvSpPr>
            <p:nvPr/>
          </p:nvSpPr>
          <p:spPr bwMode="auto">
            <a:xfrm>
              <a:off x="1372" y="2709"/>
              <a:ext cx="265"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FF0000"/>
                  </a:solidFill>
                  <a:latin typeface="Times New Roman" panose="02020603050405020304" pitchFamily="18" charset="0"/>
                  <a:ea typeface="楷体_GB2312" pitchFamily="49" charset="-122"/>
                </a:rPr>
                <a:t>TR</a:t>
              </a:r>
              <a:endParaRPr lang="en-US" altLang="zh-CN" kern="0" baseline="-25000" dirty="0">
                <a:solidFill>
                  <a:srgbClr val="FF0000"/>
                </a:solidFill>
                <a:latin typeface="Times New Roman" panose="02020603050405020304" pitchFamily="18" charset="0"/>
                <a:ea typeface="楷体_GB2312" pitchFamily="49" charset="-122"/>
              </a:endParaRPr>
            </a:p>
          </p:txBody>
        </p:sp>
        <p:sp>
          <p:nvSpPr>
            <p:cNvPr id="165" name="Rectangle 19"/>
            <p:cNvSpPr>
              <a:spLocks noChangeArrowheads="1"/>
            </p:cNvSpPr>
            <p:nvPr/>
          </p:nvSpPr>
          <p:spPr bwMode="auto">
            <a:xfrm>
              <a:off x="1365" y="3118"/>
              <a:ext cx="31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000000"/>
                  </a:solidFill>
                  <a:latin typeface="Times New Roman" panose="02020603050405020304" pitchFamily="18" charset="0"/>
                  <a:ea typeface="楷体_GB2312" pitchFamily="49" charset="-122"/>
                </a:rPr>
                <a:t>DIS</a:t>
              </a:r>
              <a:endParaRPr lang="en-US" altLang="zh-CN" b="1" kern="0" baseline="30000" dirty="0">
                <a:solidFill>
                  <a:srgbClr val="000000"/>
                </a:solidFill>
                <a:latin typeface="Times New Roman" panose="02020603050405020304" pitchFamily="18" charset="0"/>
                <a:ea typeface="楷体_GB2312" pitchFamily="49" charset="-122"/>
              </a:endParaRPr>
            </a:p>
          </p:txBody>
        </p:sp>
        <p:sp>
          <p:nvSpPr>
            <p:cNvPr id="166" name="Text Box 20"/>
            <p:cNvSpPr txBox="1">
              <a:spLocks noChangeArrowheads="1"/>
            </p:cNvSpPr>
            <p:nvPr/>
          </p:nvSpPr>
          <p:spPr bwMode="auto">
            <a:xfrm>
              <a:off x="2084" y="2019"/>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C</a:t>
              </a:r>
              <a:r>
                <a:rPr lang="en-US" altLang="zh-CN" sz="1100" b="1" kern="0" baseline="-25000">
                  <a:solidFill>
                    <a:srgbClr val="000000"/>
                  </a:solidFill>
                  <a:latin typeface="Times New Roman" panose="02020603050405020304" pitchFamily="18" charset="0"/>
                  <a:ea typeface="楷体_GB2312" pitchFamily="49" charset="-122"/>
                </a:rPr>
                <a:t>1</a:t>
              </a:r>
              <a:endParaRPr lang="en-US" altLang="zh-CN" sz="3200" b="1" kern="0" baseline="-25000">
                <a:solidFill>
                  <a:srgbClr val="000000"/>
                </a:solidFill>
                <a:latin typeface="Times New Roman" panose="02020603050405020304" pitchFamily="18" charset="0"/>
                <a:ea typeface="楷体_GB2312" pitchFamily="49" charset="-122"/>
              </a:endParaRPr>
            </a:p>
          </p:txBody>
        </p:sp>
        <p:sp>
          <p:nvSpPr>
            <p:cNvPr id="167" name="Text Box 21"/>
            <p:cNvSpPr txBox="1">
              <a:spLocks noChangeArrowheads="1"/>
            </p:cNvSpPr>
            <p:nvPr/>
          </p:nvSpPr>
          <p:spPr bwMode="auto">
            <a:xfrm>
              <a:off x="2121" y="2710"/>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C</a:t>
              </a:r>
              <a:r>
                <a:rPr lang="en-US" altLang="zh-CN" sz="1100" b="1" kern="0" baseline="-25000">
                  <a:solidFill>
                    <a:srgbClr val="000000"/>
                  </a:solidFill>
                  <a:latin typeface="Times New Roman" panose="02020603050405020304" pitchFamily="18" charset="0"/>
                  <a:ea typeface="楷体_GB2312" pitchFamily="49" charset="-122"/>
                </a:rPr>
                <a:t>2</a:t>
              </a:r>
              <a:endParaRPr lang="en-US" altLang="zh-CN" sz="3200" b="1" kern="0" baseline="-25000">
                <a:solidFill>
                  <a:srgbClr val="000000"/>
                </a:solidFill>
                <a:latin typeface="Times New Roman" panose="02020603050405020304" pitchFamily="18" charset="0"/>
                <a:ea typeface="楷体_GB2312" pitchFamily="49" charset="-122"/>
              </a:endParaRPr>
            </a:p>
          </p:txBody>
        </p:sp>
        <p:sp>
          <p:nvSpPr>
            <p:cNvPr id="168" name="Text Box 22"/>
            <p:cNvSpPr txBox="1">
              <a:spLocks noChangeArrowheads="1"/>
            </p:cNvSpPr>
            <p:nvPr/>
          </p:nvSpPr>
          <p:spPr bwMode="auto">
            <a:xfrm>
              <a:off x="1972" y="1894"/>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69" name="Text Box 23"/>
            <p:cNvSpPr txBox="1">
              <a:spLocks noChangeArrowheads="1"/>
            </p:cNvSpPr>
            <p:nvPr/>
          </p:nvSpPr>
          <p:spPr bwMode="auto">
            <a:xfrm>
              <a:off x="1972" y="2051"/>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0" name="Text Box 24"/>
            <p:cNvSpPr txBox="1">
              <a:spLocks noChangeArrowheads="1"/>
            </p:cNvSpPr>
            <p:nvPr/>
          </p:nvSpPr>
          <p:spPr bwMode="auto">
            <a:xfrm>
              <a:off x="1972" y="258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1" name="Text Box 25"/>
            <p:cNvSpPr txBox="1">
              <a:spLocks noChangeArrowheads="1"/>
            </p:cNvSpPr>
            <p:nvPr/>
          </p:nvSpPr>
          <p:spPr bwMode="auto">
            <a:xfrm>
              <a:off x="1972" y="2742"/>
              <a:ext cx="309"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2" name="Text Box 26"/>
            <p:cNvSpPr txBox="1">
              <a:spLocks noChangeArrowheads="1"/>
            </p:cNvSpPr>
            <p:nvPr/>
          </p:nvSpPr>
          <p:spPr bwMode="auto">
            <a:xfrm>
              <a:off x="1636" y="359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(1)</a:t>
              </a:r>
              <a:endParaRPr lang="en-US" altLang="zh-CN" sz="4800" b="1" kern="0">
                <a:solidFill>
                  <a:srgbClr val="000000"/>
                </a:solidFill>
                <a:latin typeface="Times New Roman" panose="02020603050405020304" pitchFamily="18" charset="0"/>
                <a:ea typeface="楷体_GB2312" pitchFamily="49" charset="-122"/>
              </a:endParaRPr>
            </a:p>
          </p:txBody>
        </p:sp>
        <p:sp>
          <p:nvSpPr>
            <p:cNvPr id="173" name="Text Box 27"/>
            <p:cNvSpPr txBox="1">
              <a:spLocks noChangeArrowheads="1"/>
            </p:cNvSpPr>
            <p:nvPr/>
          </p:nvSpPr>
          <p:spPr bwMode="auto">
            <a:xfrm>
              <a:off x="1524" y="2679"/>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(2)</a:t>
              </a:r>
              <a:endParaRPr lang="en-US" altLang="zh-CN" sz="4800" b="1" kern="0">
                <a:solidFill>
                  <a:srgbClr val="000000"/>
                </a:solidFill>
                <a:latin typeface="Times New Roman" panose="02020603050405020304" pitchFamily="18" charset="0"/>
                <a:ea typeface="楷体_GB2312" pitchFamily="49" charset="-122"/>
              </a:endParaRPr>
            </a:p>
          </p:txBody>
        </p:sp>
        <p:sp>
          <p:nvSpPr>
            <p:cNvPr id="174" name="Text Box 28"/>
            <p:cNvSpPr txBox="1">
              <a:spLocks noChangeArrowheads="1"/>
            </p:cNvSpPr>
            <p:nvPr/>
          </p:nvSpPr>
          <p:spPr bwMode="auto">
            <a:xfrm>
              <a:off x="4397" y="242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(3)</a:t>
              </a:r>
              <a:endParaRPr lang="en-US" altLang="zh-CN" sz="4800" b="1" kern="0">
                <a:solidFill>
                  <a:srgbClr val="000000"/>
                </a:solidFill>
                <a:latin typeface="Times New Roman" panose="02020603050405020304" pitchFamily="18" charset="0"/>
                <a:ea typeface="楷体_GB2312" pitchFamily="49" charset="-122"/>
              </a:endParaRPr>
            </a:p>
          </p:txBody>
        </p:sp>
        <p:sp>
          <p:nvSpPr>
            <p:cNvPr id="175" name="Text Box 29"/>
            <p:cNvSpPr txBox="1">
              <a:spLocks noChangeArrowheads="1"/>
            </p:cNvSpPr>
            <p:nvPr/>
          </p:nvSpPr>
          <p:spPr bwMode="auto">
            <a:xfrm>
              <a:off x="2681" y="154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(4)</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6" name="Text Box 30"/>
            <p:cNvSpPr txBox="1">
              <a:spLocks noChangeArrowheads="1"/>
            </p:cNvSpPr>
            <p:nvPr/>
          </p:nvSpPr>
          <p:spPr bwMode="auto">
            <a:xfrm>
              <a:off x="1537" y="182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(5)</a:t>
              </a:r>
              <a:endParaRPr lang="en-US" altLang="zh-CN" sz="4800" b="1" kern="0">
                <a:solidFill>
                  <a:srgbClr val="000000"/>
                </a:solidFill>
                <a:latin typeface="Times New Roman" panose="02020603050405020304" pitchFamily="18" charset="0"/>
                <a:ea typeface="楷体_GB2312" pitchFamily="49" charset="-122"/>
              </a:endParaRPr>
            </a:p>
          </p:txBody>
        </p:sp>
        <p:sp>
          <p:nvSpPr>
            <p:cNvPr id="177" name="Text Box 31"/>
            <p:cNvSpPr txBox="1">
              <a:spLocks noChangeArrowheads="1"/>
            </p:cNvSpPr>
            <p:nvPr/>
          </p:nvSpPr>
          <p:spPr bwMode="auto">
            <a:xfrm>
              <a:off x="1537" y="201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(6)</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8" name="Text Box 32"/>
            <p:cNvSpPr txBox="1">
              <a:spLocks noChangeArrowheads="1"/>
            </p:cNvSpPr>
            <p:nvPr/>
          </p:nvSpPr>
          <p:spPr bwMode="auto">
            <a:xfrm>
              <a:off x="1604" y="3096"/>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(7)</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9" name="Text Box 33"/>
            <p:cNvSpPr txBox="1">
              <a:spLocks noChangeArrowheads="1"/>
            </p:cNvSpPr>
            <p:nvPr/>
          </p:nvSpPr>
          <p:spPr bwMode="auto">
            <a:xfrm>
              <a:off x="2435" y="1913"/>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kern="0" dirty="0">
                  <a:solidFill>
                    <a:srgbClr val="000000"/>
                  </a:solidFill>
                  <a:latin typeface="Times New Roman" panose="02020603050405020304" pitchFamily="18" charset="0"/>
                  <a:ea typeface="楷体_GB2312" pitchFamily="49" charset="-122"/>
                </a:rPr>
                <a:t>R</a:t>
              </a:r>
              <a:endParaRPr lang="en-US" altLang="zh-CN" sz="6600" b="1" kern="0" dirty="0">
                <a:solidFill>
                  <a:srgbClr val="000000"/>
                </a:solidFill>
                <a:latin typeface="Times New Roman" panose="02020603050405020304" pitchFamily="18" charset="0"/>
                <a:ea typeface="楷体_GB2312" pitchFamily="49" charset="-122"/>
              </a:endParaRPr>
            </a:p>
          </p:txBody>
        </p:sp>
        <p:sp>
          <p:nvSpPr>
            <p:cNvPr id="180" name="Text Box 34"/>
            <p:cNvSpPr txBox="1">
              <a:spLocks noChangeArrowheads="1"/>
            </p:cNvSpPr>
            <p:nvPr/>
          </p:nvSpPr>
          <p:spPr bwMode="auto">
            <a:xfrm>
              <a:off x="2465" y="2582"/>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kern="0" dirty="0">
                  <a:solidFill>
                    <a:srgbClr val="000000"/>
                  </a:solidFill>
                  <a:latin typeface="Times New Roman" panose="02020603050405020304" pitchFamily="18" charset="0"/>
                  <a:ea typeface="楷体_GB2312" pitchFamily="49" charset="-122"/>
                </a:rPr>
                <a:t>S</a:t>
              </a:r>
              <a:endParaRPr lang="en-US" altLang="zh-CN" sz="6600" b="1" kern="0" dirty="0">
                <a:solidFill>
                  <a:srgbClr val="000000"/>
                </a:solidFill>
                <a:latin typeface="Times New Roman" panose="02020603050405020304" pitchFamily="18" charset="0"/>
                <a:ea typeface="楷体_GB2312" pitchFamily="49" charset="-122"/>
              </a:endParaRPr>
            </a:p>
          </p:txBody>
        </p:sp>
        <p:sp>
          <p:nvSpPr>
            <p:cNvPr id="181" name="Text Box 35"/>
            <p:cNvSpPr txBox="1">
              <a:spLocks noChangeArrowheads="1"/>
            </p:cNvSpPr>
            <p:nvPr/>
          </p:nvSpPr>
          <p:spPr bwMode="auto">
            <a:xfrm>
              <a:off x="2942" y="192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2" name="Rectangle 36"/>
            <p:cNvSpPr>
              <a:spLocks noChangeArrowheads="1"/>
            </p:cNvSpPr>
            <p:nvPr/>
          </p:nvSpPr>
          <p:spPr bwMode="auto">
            <a:xfrm>
              <a:off x="1934" y="1706"/>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3" name="Rectangle 37"/>
            <p:cNvSpPr>
              <a:spLocks noChangeArrowheads="1"/>
            </p:cNvSpPr>
            <p:nvPr/>
          </p:nvSpPr>
          <p:spPr bwMode="auto">
            <a:xfrm>
              <a:off x="1934" y="2271"/>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4" name="Rectangle 38"/>
            <p:cNvSpPr>
              <a:spLocks noChangeArrowheads="1"/>
            </p:cNvSpPr>
            <p:nvPr/>
          </p:nvSpPr>
          <p:spPr bwMode="auto">
            <a:xfrm>
              <a:off x="1934" y="2964"/>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dirty="0">
                  <a:solidFill>
                    <a:srgbClr val="000000"/>
                  </a:solidFill>
                  <a:latin typeface="Times New Roman" panose="02020603050405020304" pitchFamily="18" charset="0"/>
                  <a:ea typeface="楷体_GB2312" pitchFamily="49" charset="-122"/>
                </a:rPr>
                <a:t>5 k</a:t>
              </a:r>
              <a:r>
                <a:rPr lang="en-US" altLang="zh-CN" b="1" kern="0"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dirty="0">
                  <a:solidFill>
                    <a:srgbClr val="000000"/>
                  </a:solidFill>
                  <a:latin typeface="Times New Roman" panose="02020603050405020304" pitchFamily="18" charset="0"/>
                  <a:ea typeface="楷体_GB2312" pitchFamily="49" charset="-122"/>
                </a:rPr>
                <a:t> </a:t>
              </a:r>
              <a:endParaRPr lang="en-US" altLang="zh-CN" b="1" kern="0" dirty="0">
                <a:solidFill>
                  <a:srgbClr val="000000"/>
                </a:solidFill>
                <a:latin typeface="Times New Roman" panose="02020603050405020304" pitchFamily="18" charset="0"/>
                <a:ea typeface="楷体_GB2312" pitchFamily="49" charset="-122"/>
              </a:endParaRPr>
            </a:p>
          </p:txBody>
        </p:sp>
        <p:sp>
          <p:nvSpPr>
            <p:cNvPr id="185" name="Text Box 39"/>
            <p:cNvSpPr txBox="1">
              <a:spLocks noChangeArrowheads="1"/>
            </p:cNvSpPr>
            <p:nvPr/>
          </p:nvSpPr>
          <p:spPr bwMode="auto">
            <a:xfrm>
              <a:off x="2942" y="2522"/>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6" name="Text Box 40"/>
            <p:cNvSpPr txBox="1">
              <a:spLocks noChangeArrowheads="1"/>
            </p:cNvSpPr>
            <p:nvPr/>
          </p:nvSpPr>
          <p:spPr bwMode="auto">
            <a:xfrm>
              <a:off x="3539" y="2491"/>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7" name="Text Box 41"/>
            <p:cNvSpPr txBox="1">
              <a:spLocks noChangeArrowheads="1"/>
            </p:cNvSpPr>
            <p:nvPr/>
          </p:nvSpPr>
          <p:spPr bwMode="auto">
            <a:xfrm>
              <a:off x="3987" y="2491"/>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1</a:t>
              </a:r>
              <a:endParaRPr lang="en-US" altLang="zh-CN" sz="4800" b="1" kern="0">
                <a:solidFill>
                  <a:srgbClr val="000000"/>
                </a:solidFill>
                <a:latin typeface="Times New Roman" panose="02020603050405020304" pitchFamily="18" charset="0"/>
                <a:ea typeface="楷体_GB2312" pitchFamily="49" charset="-122"/>
              </a:endParaRPr>
            </a:p>
          </p:txBody>
        </p:sp>
        <p:sp>
          <p:nvSpPr>
            <p:cNvPr id="188" name="Text Box 42"/>
            <p:cNvSpPr txBox="1">
              <a:spLocks noChangeArrowheads="1"/>
            </p:cNvSpPr>
            <p:nvPr/>
          </p:nvSpPr>
          <p:spPr bwMode="auto">
            <a:xfrm>
              <a:off x="2569" y="1423"/>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i="1" kern="0">
                  <a:solidFill>
                    <a:srgbClr val="000000"/>
                  </a:solidFill>
                  <a:latin typeface="Times New Roman" panose="02020603050405020304" pitchFamily="18" charset="0"/>
                  <a:ea typeface="楷体_GB2312" pitchFamily="49" charset="-122"/>
                </a:rPr>
                <a:t>R</a:t>
              </a:r>
              <a:r>
                <a:rPr lang="en-US" altLang="zh-CN" sz="1600" b="1" kern="0" baseline="-25000">
                  <a:solidFill>
                    <a:srgbClr val="000000"/>
                  </a:solidFill>
                  <a:latin typeface="Times New Roman" panose="02020603050405020304" pitchFamily="18" charset="0"/>
                  <a:ea typeface="楷体_GB2312" pitchFamily="49" charset="-122"/>
                </a:rPr>
                <a:t>D</a:t>
              </a:r>
              <a:endParaRPr lang="en-US" altLang="zh-CN" sz="4800" b="1" kern="0" baseline="-25000">
                <a:solidFill>
                  <a:srgbClr val="000000"/>
                </a:solidFill>
                <a:latin typeface="Times New Roman" panose="02020603050405020304" pitchFamily="18" charset="0"/>
                <a:ea typeface="楷体_GB2312" pitchFamily="49" charset="-122"/>
              </a:endParaRPr>
            </a:p>
          </p:txBody>
        </p:sp>
        <p:sp>
          <p:nvSpPr>
            <p:cNvPr id="189" name="Text Box 43"/>
            <p:cNvSpPr txBox="1">
              <a:spLocks noChangeArrowheads="1"/>
            </p:cNvSpPr>
            <p:nvPr/>
          </p:nvSpPr>
          <p:spPr bwMode="auto">
            <a:xfrm>
              <a:off x="1785" y="1423"/>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i="1" kern="0">
                  <a:solidFill>
                    <a:srgbClr val="000000"/>
                  </a:solidFill>
                  <a:latin typeface="Times New Roman" panose="02020603050405020304" pitchFamily="18" charset="0"/>
                  <a:ea typeface="楷体_GB2312" pitchFamily="49" charset="-122"/>
                </a:rPr>
                <a:t>V</a:t>
              </a:r>
              <a:r>
                <a:rPr lang="en-US" altLang="zh-CN" sz="1600" b="1" kern="0" baseline="-25000">
                  <a:solidFill>
                    <a:srgbClr val="000000"/>
                  </a:solidFill>
                  <a:latin typeface="Times New Roman" panose="02020603050405020304" pitchFamily="18" charset="0"/>
                  <a:ea typeface="楷体_GB2312" pitchFamily="49" charset="-122"/>
                </a:rPr>
                <a:t>CC</a:t>
              </a:r>
              <a:endParaRPr lang="en-US" altLang="zh-CN" sz="4800" b="1" kern="0" baseline="-25000">
                <a:solidFill>
                  <a:srgbClr val="000000"/>
                </a:solidFill>
                <a:latin typeface="Times New Roman" panose="02020603050405020304" pitchFamily="18" charset="0"/>
                <a:ea typeface="楷体_GB2312" pitchFamily="49" charset="-122"/>
              </a:endParaRPr>
            </a:p>
          </p:txBody>
        </p:sp>
        <p:sp>
          <p:nvSpPr>
            <p:cNvPr id="190" name="Text Box 44"/>
            <p:cNvSpPr txBox="1">
              <a:spLocks noChangeArrowheads="1"/>
            </p:cNvSpPr>
            <p:nvPr/>
          </p:nvSpPr>
          <p:spPr bwMode="auto">
            <a:xfrm>
              <a:off x="1897" y="1548"/>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(8)</a:t>
              </a:r>
              <a:endParaRPr lang="en-US" altLang="zh-CN" sz="4800" b="1" kern="0">
                <a:solidFill>
                  <a:srgbClr val="000000"/>
                </a:solidFill>
                <a:latin typeface="Times New Roman" panose="02020603050405020304" pitchFamily="18" charset="0"/>
                <a:ea typeface="楷体_GB2312" pitchFamily="49" charset="-122"/>
              </a:endParaRPr>
            </a:p>
          </p:txBody>
        </p:sp>
        <p:sp>
          <p:nvSpPr>
            <p:cNvPr id="191" name="Text Box 45"/>
            <p:cNvSpPr txBox="1">
              <a:spLocks noChangeArrowheads="1"/>
            </p:cNvSpPr>
            <p:nvPr/>
          </p:nvSpPr>
          <p:spPr bwMode="auto">
            <a:xfrm>
              <a:off x="3987" y="236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G</a:t>
              </a:r>
              <a:endParaRPr lang="en-US" altLang="zh-CN" sz="4400" b="1" kern="0">
                <a:solidFill>
                  <a:srgbClr val="000000"/>
                </a:solidFill>
                <a:latin typeface="Times New Roman" panose="02020603050405020304" pitchFamily="18" charset="0"/>
                <a:ea typeface="楷体_GB2312" pitchFamily="49" charset="-122"/>
              </a:endParaRPr>
            </a:p>
          </p:txBody>
        </p:sp>
      </p:grpSp>
      <p:sp>
        <p:nvSpPr>
          <p:cNvPr id="192" name="Rectangle 46"/>
          <p:cNvSpPr>
            <a:spLocks noChangeArrowheads="1"/>
          </p:cNvSpPr>
          <p:nvPr/>
        </p:nvSpPr>
        <p:spPr bwMode="auto">
          <a:xfrm>
            <a:off x="3923594" y="3818947"/>
            <a:ext cx="2295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1400">
                <a:solidFill>
                  <a:srgbClr val="000000"/>
                </a:solidFill>
                <a:latin typeface="Times New Roman" panose="02020603050405020304" pitchFamily="18" charset="0"/>
                <a:ea typeface="楷体_GB2312" pitchFamily="49" charset="-122"/>
              </a:rPr>
              <a:t> </a:t>
            </a:r>
            <a:endParaRPr lang="en-US" altLang="zh-CN" sz="4400">
              <a:solidFill>
                <a:srgbClr val="000000"/>
              </a:solidFill>
              <a:latin typeface="Times New Roman" panose="02020603050405020304" pitchFamily="18" charset="0"/>
              <a:ea typeface="楷体_GB2312" pitchFamily="49" charset="-122"/>
            </a:endParaRPr>
          </a:p>
        </p:txBody>
      </p:sp>
      <p:graphicFrame>
        <p:nvGraphicFramePr>
          <p:cNvPr id="193" name="Object 2"/>
          <p:cNvGraphicFramePr>
            <a:graphicFrameLocks noChangeAspect="1"/>
          </p:cNvGraphicFramePr>
          <p:nvPr/>
        </p:nvGraphicFramePr>
        <p:xfrm>
          <a:off x="621300" y="1836649"/>
          <a:ext cx="1040609" cy="773708"/>
        </p:xfrm>
        <a:graphic>
          <a:graphicData uri="http://schemas.openxmlformats.org/presentationml/2006/ole">
            <mc:AlternateContent xmlns:mc="http://schemas.openxmlformats.org/markup-compatibility/2006">
              <mc:Choice xmlns:v="urn:schemas-microsoft-com:vml" Requires="v">
                <p:oleObj spid="_x0000_s16392" name="Equation" r:id="rId4" imgW="381000" imgH="406400" progId="Equation.DSMT4">
                  <p:embed/>
                </p:oleObj>
              </mc:Choice>
              <mc:Fallback>
                <p:oleObj name="Equation" r:id="rId4" imgW="381000" imgH="406400" progId="Equation.DSMT4">
                  <p:embed/>
                  <p:pic>
                    <p:nvPicPr>
                      <p:cNvPr id="0" name="图片 1639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300" y="1836649"/>
                        <a:ext cx="1040609" cy="773708"/>
                      </a:xfrm>
                      <a:prstGeom prst="rect">
                        <a:avLst/>
                      </a:prstGeom>
                      <a:solidFill>
                        <a:srgbClr val="FFFF99"/>
                      </a:solidFill>
                      <a:ln w="9525">
                        <a:solidFill>
                          <a:srgbClr val="FF0000"/>
                        </a:solidFill>
                        <a:miter lim="800000"/>
                        <a:headEnd/>
                        <a:tailEnd/>
                      </a:ln>
                    </p:spPr>
                  </p:pic>
                </p:oleObj>
              </mc:Fallback>
            </mc:AlternateContent>
          </a:graphicData>
        </a:graphic>
      </p:graphicFrame>
      <p:graphicFrame>
        <p:nvGraphicFramePr>
          <p:cNvPr id="194" name="Object 3"/>
          <p:cNvGraphicFramePr>
            <a:graphicFrameLocks noChangeAspect="1"/>
          </p:cNvGraphicFramePr>
          <p:nvPr/>
        </p:nvGraphicFramePr>
        <p:xfrm>
          <a:off x="595419" y="3427126"/>
          <a:ext cx="1016856" cy="679555"/>
        </p:xfrm>
        <a:graphic>
          <a:graphicData uri="http://schemas.openxmlformats.org/presentationml/2006/ole">
            <mc:AlternateContent xmlns:mc="http://schemas.openxmlformats.org/markup-compatibility/2006">
              <mc:Choice xmlns:v="urn:schemas-microsoft-com:vml" Requires="v">
                <p:oleObj spid="_x0000_s16393" name="Equation" r:id="rId6" imgW="381000" imgH="406400" progId="Equation.DSMT4">
                  <p:embed/>
                </p:oleObj>
              </mc:Choice>
              <mc:Fallback>
                <p:oleObj name="Equation" r:id="rId6" imgW="381000" imgH="406400" progId="Equation.DSMT4">
                  <p:embed/>
                  <p:pic>
                    <p:nvPicPr>
                      <p:cNvPr id="0" name="图片 1639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419" y="3427126"/>
                        <a:ext cx="1016856" cy="679555"/>
                      </a:xfrm>
                      <a:prstGeom prst="rect">
                        <a:avLst/>
                      </a:prstGeom>
                      <a:solidFill>
                        <a:srgbClr val="FFFF99"/>
                      </a:solidFill>
                      <a:ln w="9525">
                        <a:solidFill>
                          <a:srgbClr val="FF0000"/>
                        </a:solidFill>
                        <a:miter lim="800000"/>
                        <a:headEnd/>
                        <a:tailEnd/>
                      </a:ln>
                    </p:spPr>
                  </p:pic>
                </p:oleObj>
              </mc:Fallback>
            </mc:AlternateContent>
          </a:graphicData>
        </a:graphic>
      </p:graphicFrame>
      <p:sp>
        <p:nvSpPr>
          <p:cNvPr id="196" name="Oval 50"/>
          <p:cNvSpPr>
            <a:spLocks noChangeArrowheads="1"/>
          </p:cNvSpPr>
          <p:nvPr/>
        </p:nvSpPr>
        <p:spPr bwMode="auto">
          <a:xfrm flipH="1">
            <a:off x="2602875" y="2258811"/>
            <a:ext cx="223838" cy="227013"/>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197" name="Oval 51"/>
          <p:cNvSpPr>
            <a:spLocks noChangeArrowheads="1"/>
          </p:cNvSpPr>
          <p:nvPr/>
        </p:nvSpPr>
        <p:spPr bwMode="auto">
          <a:xfrm flipH="1">
            <a:off x="2637793" y="3591560"/>
            <a:ext cx="223838" cy="227012"/>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graphicFrame>
        <p:nvGraphicFramePr>
          <p:cNvPr id="205" name="Object 6"/>
          <p:cNvGraphicFramePr>
            <a:graphicFrameLocks noChangeAspect="1"/>
          </p:cNvGraphicFramePr>
          <p:nvPr/>
        </p:nvGraphicFramePr>
        <p:xfrm>
          <a:off x="1463831" y="2761457"/>
          <a:ext cx="838269" cy="579292"/>
        </p:xfrm>
        <a:graphic>
          <a:graphicData uri="http://schemas.openxmlformats.org/presentationml/2006/ole">
            <mc:AlternateContent xmlns:mc="http://schemas.openxmlformats.org/markup-compatibility/2006">
              <mc:Choice xmlns:v="urn:schemas-microsoft-com:vml" Requires="v">
                <p:oleObj spid="_x0000_s16394" name="Equation" r:id="rId8" imgW="508000" imgH="406400" progId="Equation.3">
                  <p:embed/>
                </p:oleObj>
              </mc:Choice>
              <mc:Fallback>
                <p:oleObj name="Equation" r:id="rId8" imgW="508000" imgH="406400" progId="Equation.3">
                  <p:embed/>
                  <p:pic>
                    <p:nvPicPr>
                      <p:cNvPr id="0" name="图片 1639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63831" y="2761457"/>
                        <a:ext cx="838269" cy="579292"/>
                      </a:xfrm>
                      <a:prstGeom prst="rect">
                        <a:avLst/>
                      </a:prstGeom>
                      <a:solidFill>
                        <a:srgbClr val="33CCCC"/>
                      </a:solidFill>
                      <a:ln w="9525">
                        <a:solidFill>
                          <a:srgbClr val="FF0000"/>
                        </a:solidFill>
                        <a:miter lim="800000"/>
                        <a:headEnd/>
                        <a:tailEnd/>
                      </a:ln>
                    </p:spPr>
                  </p:pic>
                </p:oleObj>
              </mc:Fallback>
            </mc:AlternateContent>
          </a:graphicData>
        </a:graphic>
      </p:graphicFrame>
      <p:graphicFrame>
        <p:nvGraphicFramePr>
          <p:cNvPr id="206" name="Object 7"/>
          <p:cNvGraphicFramePr>
            <a:graphicFrameLocks noChangeAspect="1"/>
          </p:cNvGraphicFramePr>
          <p:nvPr/>
        </p:nvGraphicFramePr>
        <p:xfrm>
          <a:off x="1622422" y="4099768"/>
          <a:ext cx="744162" cy="513686"/>
        </p:xfrm>
        <a:graphic>
          <a:graphicData uri="http://schemas.openxmlformats.org/presentationml/2006/ole">
            <mc:AlternateContent xmlns:mc="http://schemas.openxmlformats.org/markup-compatibility/2006">
              <mc:Choice xmlns:v="urn:schemas-microsoft-com:vml" Requires="v">
                <p:oleObj spid="_x0000_s16395" name="Equation" r:id="rId10" imgW="508000" imgH="406400" progId="Equation.DSMT4">
                  <p:embed/>
                </p:oleObj>
              </mc:Choice>
              <mc:Fallback>
                <p:oleObj name="Equation" r:id="rId10" imgW="508000" imgH="406400" progId="Equation.DSMT4">
                  <p:embed/>
                  <p:pic>
                    <p:nvPicPr>
                      <p:cNvPr id="0" name="图片 1639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22422" y="4099768"/>
                        <a:ext cx="744162" cy="513686"/>
                      </a:xfrm>
                      <a:prstGeom prst="rect">
                        <a:avLst/>
                      </a:prstGeom>
                      <a:solidFill>
                        <a:srgbClr val="33CCCC"/>
                      </a:solidFill>
                      <a:ln w="9525">
                        <a:solidFill>
                          <a:srgbClr val="FF0000"/>
                        </a:solidFill>
                        <a:miter lim="800000"/>
                        <a:headEnd/>
                        <a:tailEnd/>
                      </a:ln>
                    </p:spPr>
                  </p:pic>
                </p:oleObj>
              </mc:Fallback>
            </mc:AlternateContent>
          </a:graphicData>
        </a:graphic>
      </p:graphicFrame>
      <p:sp>
        <p:nvSpPr>
          <p:cNvPr id="207" name="Oval 61"/>
          <p:cNvSpPr>
            <a:spLocks noChangeArrowheads="1"/>
          </p:cNvSpPr>
          <p:nvPr/>
        </p:nvSpPr>
        <p:spPr bwMode="auto">
          <a:xfrm>
            <a:off x="3768887" y="2614424"/>
            <a:ext cx="484287" cy="473748"/>
          </a:xfrm>
          <a:prstGeom prst="ellipse">
            <a:avLst/>
          </a:pr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08" name="Oval 62"/>
          <p:cNvSpPr>
            <a:spLocks noChangeArrowheads="1"/>
          </p:cNvSpPr>
          <p:nvPr/>
        </p:nvSpPr>
        <p:spPr bwMode="auto">
          <a:xfrm>
            <a:off x="3955344" y="3899810"/>
            <a:ext cx="479762" cy="440076"/>
          </a:xfrm>
          <a:prstGeom prst="ellipse">
            <a:avLst/>
          </a:pr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0</a:t>
            </a:r>
            <a:endParaRPr lang="en-US" altLang="zh-CN" sz="4400" b="1" dirty="0">
              <a:solidFill>
                <a:srgbClr val="000000"/>
              </a:solidFill>
              <a:latin typeface="Times New Roman" panose="02020603050405020304" pitchFamily="18" charset="0"/>
              <a:ea typeface="楷体_GB2312" pitchFamily="49" charset="-122"/>
            </a:endParaRPr>
          </a:p>
        </p:txBody>
      </p:sp>
      <p:sp>
        <p:nvSpPr>
          <p:cNvPr id="209" name="Oval 63"/>
          <p:cNvSpPr>
            <a:spLocks noChangeArrowheads="1"/>
          </p:cNvSpPr>
          <p:nvPr/>
        </p:nvSpPr>
        <p:spPr bwMode="auto">
          <a:xfrm>
            <a:off x="5351754" y="3809617"/>
            <a:ext cx="516927" cy="461665"/>
          </a:xfrm>
          <a:prstGeom prst="ellipse">
            <a:avLst/>
          </a:pr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10" name="Oval 64"/>
          <p:cNvSpPr>
            <a:spLocks noChangeArrowheads="1"/>
          </p:cNvSpPr>
          <p:nvPr/>
        </p:nvSpPr>
        <p:spPr bwMode="auto">
          <a:xfrm>
            <a:off x="3750276" y="1209192"/>
            <a:ext cx="449802" cy="457300"/>
          </a:xfrm>
          <a:prstGeom prst="ellipse">
            <a:avLst/>
          </a:prstGeom>
          <a:solidFill>
            <a:srgbClr val="FFFF99"/>
          </a:solidFill>
          <a:ln w="9525">
            <a:solidFill>
              <a:srgbClr val="FF000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12" name="Oval 66"/>
          <p:cNvSpPr>
            <a:spLocks noChangeArrowheads="1"/>
          </p:cNvSpPr>
          <p:nvPr/>
        </p:nvSpPr>
        <p:spPr bwMode="auto">
          <a:xfrm>
            <a:off x="7603417" y="2766393"/>
            <a:ext cx="496426" cy="457833"/>
          </a:xfrm>
          <a:prstGeom prst="ellipse">
            <a:avLst/>
          </a:pr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19" name="Oval 73"/>
          <p:cNvSpPr>
            <a:spLocks noChangeArrowheads="1"/>
          </p:cNvSpPr>
          <p:nvPr/>
        </p:nvSpPr>
        <p:spPr bwMode="auto">
          <a:xfrm flipH="1">
            <a:off x="1760198" y="2506842"/>
            <a:ext cx="343698" cy="340776"/>
          </a:xfrm>
          <a:prstGeom prst="ellipse">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220" name="Oval 74"/>
          <p:cNvSpPr>
            <a:spLocks noChangeArrowheads="1"/>
          </p:cNvSpPr>
          <p:nvPr/>
        </p:nvSpPr>
        <p:spPr bwMode="auto">
          <a:xfrm flipH="1">
            <a:off x="1719275" y="3710197"/>
            <a:ext cx="368830" cy="403134"/>
          </a:xfrm>
          <a:prstGeom prst="ellipse">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221" name="Rectangle 87"/>
          <p:cNvSpPr>
            <a:spLocks noChangeArrowheads="1"/>
          </p:cNvSpPr>
          <p:nvPr/>
        </p:nvSpPr>
        <p:spPr bwMode="auto">
          <a:xfrm>
            <a:off x="207093" y="685148"/>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2.</a:t>
            </a:r>
            <a:r>
              <a:rPr lang="zh-CN" altLang="en-US" sz="2800" b="1" dirty="0">
                <a:solidFill>
                  <a:srgbClr val="C00000"/>
                </a:solidFill>
                <a:latin typeface="Times New Roman" panose="02020603050405020304" pitchFamily="18" charset="0"/>
                <a:ea typeface="楷体_GB2312" pitchFamily="49" charset="-122"/>
              </a:rPr>
              <a:t>  工作原理</a:t>
            </a:r>
            <a:endParaRPr lang="zh-CN" altLang="en-US" sz="2800" b="1" dirty="0">
              <a:solidFill>
                <a:srgbClr val="C00000"/>
              </a:solidFill>
              <a:latin typeface="Times New Roman" panose="02020603050405020304" pitchFamily="18" charset="0"/>
              <a:ea typeface="楷体_GB2312" pitchFamily="49" charset="-122"/>
            </a:endParaRPr>
          </a:p>
        </p:txBody>
      </p:sp>
      <p:sp>
        <p:nvSpPr>
          <p:cNvPr id="211" name="Oval 65"/>
          <p:cNvSpPr>
            <a:spLocks noChangeArrowheads="1"/>
          </p:cNvSpPr>
          <p:nvPr/>
        </p:nvSpPr>
        <p:spPr bwMode="auto">
          <a:xfrm>
            <a:off x="6517474" y="3062438"/>
            <a:ext cx="449601" cy="464515"/>
          </a:xfrm>
          <a:prstGeom prst="ellipse">
            <a:avLst/>
          </a:pr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0</a:t>
            </a:r>
            <a:endParaRPr lang="en-US" altLang="zh-CN" sz="4400" b="1" dirty="0">
              <a:solidFill>
                <a:srgbClr val="000000"/>
              </a:solidFill>
              <a:latin typeface="Times New Roman" panose="02020603050405020304" pitchFamily="18" charset="0"/>
              <a:ea typeface="楷体_GB2312" pitchFamily="49" charset="-122"/>
            </a:endParaRPr>
          </a:p>
        </p:txBody>
      </p:sp>
      <p:sp>
        <p:nvSpPr>
          <p:cNvPr id="222" name="Line 84"/>
          <p:cNvSpPr>
            <a:spLocks noChangeShapeType="1"/>
          </p:cNvSpPr>
          <p:nvPr/>
        </p:nvSpPr>
        <p:spPr bwMode="auto">
          <a:xfrm flipV="1">
            <a:off x="3917247" y="2240785"/>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223" name="Line 84"/>
          <p:cNvSpPr>
            <a:spLocks noChangeShapeType="1"/>
          </p:cNvSpPr>
          <p:nvPr/>
        </p:nvSpPr>
        <p:spPr bwMode="auto">
          <a:xfrm>
            <a:off x="3997248" y="3527334"/>
            <a:ext cx="225425" cy="0"/>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prstClr val="black"/>
              </a:solidFill>
            </a:endParaRPr>
          </a:p>
        </p:txBody>
      </p:sp>
      <p:sp>
        <p:nvSpPr>
          <p:cNvPr id="224" name="Line 84"/>
          <p:cNvSpPr>
            <a:spLocks noChangeShapeType="1"/>
          </p:cNvSpPr>
          <p:nvPr/>
        </p:nvSpPr>
        <p:spPr bwMode="auto">
          <a:xfrm flipV="1">
            <a:off x="4200078" y="1280975"/>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79" name="Line 84"/>
          <p:cNvSpPr>
            <a:spLocks noChangeShapeType="1"/>
          </p:cNvSpPr>
          <p:nvPr/>
        </p:nvSpPr>
        <p:spPr bwMode="auto">
          <a:xfrm flipV="1">
            <a:off x="1765543" y="3825639"/>
            <a:ext cx="314091" cy="195"/>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61" name="文本框 60"/>
          <p:cNvSpPr txBox="1"/>
          <p:nvPr/>
        </p:nvSpPr>
        <p:spPr>
          <a:xfrm>
            <a:off x="3121983" y="5670155"/>
            <a:ext cx="1970656" cy="523220"/>
          </a:xfrm>
          <a:prstGeom prst="rect">
            <a:avLst/>
          </a:prstGeom>
          <a:noFill/>
          <a:ln w="31750">
            <a:solidFill>
              <a:srgbClr val="FF0000"/>
            </a:solidFill>
          </a:ln>
        </p:spPr>
        <p:txBody>
          <a:bodyPr wrap="square" rtlCol="0">
            <a:spAutoFit/>
          </a:bodyPr>
          <a:lstStyle/>
          <a:p>
            <a:r>
              <a:rPr lang="zh-CN" altLang="en-US" sz="2800" b="1" dirty="0">
                <a:solidFill>
                  <a:prstClr val="black"/>
                </a:solidFill>
                <a:latin typeface="楷体" panose="02010609060101010101" pitchFamily="49" charset="-122"/>
                <a:ea typeface="楷体" panose="02010609060101010101" pitchFamily="49" charset="-122"/>
              </a:rPr>
              <a:t>三极管截止</a:t>
            </a:r>
            <a:endParaRPr lang="zh-CN" altLang="en-US" sz="2800" b="1" dirty="0">
              <a:solidFill>
                <a:prstClr val="black"/>
              </a:solidFill>
              <a:latin typeface="楷体" panose="02010609060101010101" pitchFamily="49" charset="-122"/>
              <a:ea typeface="楷体" panose="02010609060101010101" pitchFamily="49" charset="-122"/>
            </a:endParaRPr>
          </a:p>
        </p:txBody>
      </p:sp>
      <p:grpSp>
        <p:nvGrpSpPr>
          <p:cNvPr id="62" name="Group 41"/>
          <p:cNvGrpSpPr/>
          <p:nvPr/>
        </p:nvGrpSpPr>
        <p:grpSpPr bwMode="auto">
          <a:xfrm>
            <a:off x="6110089" y="671216"/>
            <a:ext cx="2868269" cy="2174301"/>
            <a:chOff x="3420" y="624"/>
            <a:chExt cx="2076" cy="1348"/>
          </a:xfrm>
        </p:grpSpPr>
        <p:sp>
          <p:nvSpPr>
            <p:cNvPr id="63" name="Rectangle 42"/>
            <p:cNvSpPr>
              <a:spLocks noChangeArrowheads="1"/>
            </p:cNvSpPr>
            <p:nvPr/>
          </p:nvSpPr>
          <p:spPr bwMode="auto">
            <a:xfrm>
              <a:off x="4206" y="624"/>
              <a:ext cx="1290"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0"/>
                </a:spcBef>
                <a:spcAft>
                  <a:spcPct val="0"/>
                </a:spcAft>
                <a:defRPr/>
              </a:pPr>
              <a:r>
                <a:rPr lang="en-US" altLang="zh-CN" kern="0" dirty="0">
                  <a:solidFill>
                    <a:srgbClr val="0000FF"/>
                  </a:solidFill>
                </a:rPr>
                <a:t>        </a:t>
              </a:r>
              <a:r>
                <a:rPr lang="en-US" altLang="zh-CN" sz="2800" i="1" kern="0" dirty="0" err="1">
                  <a:solidFill>
                    <a:srgbClr val="0000FF"/>
                  </a:solidFill>
                </a:rPr>
                <a:t>Q</a:t>
              </a:r>
              <a:r>
                <a:rPr lang="en-US" altLang="zh-CN" sz="2800" i="1" kern="0" baseline="30000" dirty="0" err="1">
                  <a:solidFill>
                    <a:srgbClr val="0000FF"/>
                  </a:solidFill>
                </a:rPr>
                <a:t>n</a:t>
              </a:r>
              <a:endParaRPr lang="en-US" altLang="zh-CN" i="1" kern="0" baseline="30000" dirty="0">
                <a:solidFill>
                  <a:srgbClr val="0000FF"/>
                </a:solidFill>
              </a:endParaRPr>
            </a:p>
          </p:txBody>
        </p:sp>
        <p:sp>
          <p:nvSpPr>
            <p:cNvPr id="64" name="Rectangle 44"/>
            <p:cNvSpPr>
              <a:spLocks noChangeArrowheads="1"/>
            </p:cNvSpPr>
            <p:nvPr/>
          </p:nvSpPr>
          <p:spPr bwMode="auto">
            <a:xfrm>
              <a:off x="4206" y="950"/>
              <a:ext cx="1290" cy="1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zh-CN" altLang="en-US" kern="0" dirty="0">
                  <a:solidFill>
                    <a:srgbClr val="0000FF"/>
                  </a:solidFill>
                  <a:ea typeface="楷体_GB2312" pitchFamily="49" charset="-122"/>
                </a:rPr>
                <a:t>保持</a:t>
              </a:r>
              <a:endParaRPr lang="zh-CN" altLang="en-US"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0      </a:t>
              </a: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1      </a:t>
              </a: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zh-CN" altLang="en-US" kern="0" dirty="0">
                  <a:solidFill>
                    <a:srgbClr val="0000FF"/>
                  </a:solidFill>
                  <a:ea typeface="楷体_GB2312" pitchFamily="49" charset="-122"/>
                </a:rPr>
                <a:t>不定</a:t>
              </a:r>
              <a:endParaRPr lang="zh-CN" altLang="en-US" kern="0" dirty="0">
                <a:solidFill>
                  <a:srgbClr val="0000FF"/>
                </a:solidFill>
                <a:ea typeface="楷体_GB2312" pitchFamily="49" charset="-122"/>
              </a:endParaRPr>
            </a:p>
          </p:txBody>
        </p:sp>
        <p:sp>
          <p:nvSpPr>
            <p:cNvPr id="65" name="Rectangle 45"/>
            <p:cNvSpPr>
              <a:spLocks noChangeArrowheads="1"/>
            </p:cNvSpPr>
            <p:nvPr/>
          </p:nvSpPr>
          <p:spPr bwMode="auto">
            <a:xfrm>
              <a:off x="3420" y="950"/>
              <a:ext cx="786" cy="9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en-US" altLang="zh-CN" kern="0" dirty="0">
                  <a:solidFill>
                    <a:srgbClr val="0000FF"/>
                  </a:solidFill>
                </a:rPr>
                <a:t>1    1</a:t>
              </a:r>
              <a:endParaRPr lang="en-US" altLang="zh-CN" kern="0" dirty="0">
                <a:solidFill>
                  <a:srgbClr val="0000FF"/>
                </a:solidFill>
              </a:endParaRPr>
            </a:p>
            <a:p>
              <a:pPr algn="ctr" defTabSz="914400" fontAlgn="base">
                <a:spcBef>
                  <a:spcPct val="0"/>
                </a:spcBef>
                <a:spcAft>
                  <a:spcPct val="0"/>
                </a:spcAft>
                <a:defRPr/>
              </a:pPr>
              <a:r>
                <a:rPr lang="en-US" altLang="zh-CN" kern="0" dirty="0">
                  <a:solidFill>
                    <a:srgbClr val="0000FF"/>
                  </a:solidFill>
                </a:rPr>
                <a:t>0    1</a:t>
              </a:r>
              <a:endParaRPr lang="en-US" altLang="zh-CN" kern="0" dirty="0">
                <a:solidFill>
                  <a:srgbClr val="0000FF"/>
                </a:solidFill>
              </a:endParaRPr>
            </a:p>
            <a:p>
              <a:pPr algn="ctr" defTabSz="914400" fontAlgn="base">
                <a:spcBef>
                  <a:spcPct val="0"/>
                </a:spcBef>
                <a:spcAft>
                  <a:spcPct val="0"/>
                </a:spcAft>
                <a:defRPr/>
              </a:pPr>
              <a:r>
                <a:rPr lang="en-US" altLang="zh-CN" kern="0" dirty="0">
                  <a:solidFill>
                    <a:srgbClr val="0000FF"/>
                  </a:solidFill>
                </a:rPr>
                <a:t>1    0</a:t>
              </a:r>
              <a:endParaRPr lang="en-US" altLang="zh-CN" kern="0" dirty="0">
                <a:solidFill>
                  <a:srgbClr val="0000FF"/>
                </a:solidFill>
              </a:endParaRPr>
            </a:p>
            <a:p>
              <a:pPr algn="ctr" defTabSz="914400" fontAlgn="base">
                <a:spcBef>
                  <a:spcPct val="0"/>
                </a:spcBef>
                <a:spcAft>
                  <a:spcPct val="0"/>
                </a:spcAft>
                <a:defRPr/>
              </a:pPr>
              <a:r>
                <a:rPr lang="en-US" altLang="zh-CN" kern="0" dirty="0">
                  <a:solidFill>
                    <a:srgbClr val="0000FF"/>
                  </a:solidFill>
                </a:rPr>
                <a:t>0    0</a:t>
              </a:r>
              <a:endParaRPr lang="en-US" altLang="zh-CN" sz="2000" kern="0" dirty="0">
                <a:solidFill>
                  <a:srgbClr val="0000FF"/>
                </a:solidFill>
              </a:endParaRPr>
            </a:p>
          </p:txBody>
        </p:sp>
        <p:sp>
          <p:nvSpPr>
            <p:cNvPr id="66" name="Rectangle 46"/>
            <p:cNvSpPr>
              <a:spLocks noChangeArrowheads="1"/>
            </p:cNvSpPr>
            <p:nvPr/>
          </p:nvSpPr>
          <p:spPr bwMode="auto">
            <a:xfrm>
              <a:off x="3420" y="624"/>
              <a:ext cx="786"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en-US" altLang="zh-CN" i="1" kern="0" dirty="0">
                  <a:solidFill>
                    <a:srgbClr val="0000FF"/>
                  </a:solidFill>
                </a:rPr>
                <a:t>R</a:t>
              </a:r>
              <a:r>
                <a:rPr lang="en-US" altLang="zh-CN" i="1" kern="0" baseline="-25000" dirty="0">
                  <a:solidFill>
                    <a:srgbClr val="0000FF"/>
                  </a:solidFill>
                </a:rPr>
                <a:t>D</a:t>
              </a:r>
              <a:r>
                <a:rPr lang="en-US" altLang="zh-CN" i="1" kern="0" dirty="0">
                  <a:solidFill>
                    <a:srgbClr val="0000FF"/>
                  </a:solidFill>
                </a:rPr>
                <a:t>  S</a:t>
              </a:r>
              <a:r>
                <a:rPr lang="en-US" altLang="zh-CN" i="1" kern="0" baseline="-25000" dirty="0">
                  <a:solidFill>
                    <a:srgbClr val="0000FF"/>
                  </a:solidFill>
                </a:rPr>
                <a:t>D</a:t>
              </a:r>
              <a:endParaRPr lang="en-US" altLang="zh-CN" i="1" kern="0" baseline="-25000" dirty="0">
                <a:solidFill>
                  <a:srgbClr val="0000FF"/>
                </a:solidFill>
              </a:endParaRPr>
            </a:p>
          </p:txBody>
        </p:sp>
        <p:sp>
          <p:nvSpPr>
            <p:cNvPr id="67" name="Line 47"/>
            <p:cNvSpPr>
              <a:spLocks noChangeShapeType="1"/>
            </p:cNvSpPr>
            <p:nvPr/>
          </p:nvSpPr>
          <p:spPr bwMode="auto">
            <a:xfrm>
              <a:off x="3420" y="624"/>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68" name="Line 48"/>
            <p:cNvSpPr>
              <a:spLocks noChangeShapeType="1"/>
            </p:cNvSpPr>
            <p:nvPr/>
          </p:nvSpPr>
          <p:spPr bwMode="auto">
            <a:xfrm>
              <a:off x="3420" y="950"/>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b="1" kern="0">
                <a:solidFill>
                  <a:srgbClr val="0000FF"/>
                </a:solidFill>
                <a:latin typeface="Times New Roman" panose="02020603050405020304" pitchFamily="18" charset="0"/>
                <a:ea typeface="宋体" panose="02010600030101010101" pitchFamily="2" charset="-122"/>
              </a:endParaRPr>
            </a:p>
          </p:txBody>
        </p:sp>
        <p:sp>
          <p:nvSpPr>
            <p:cNvPr id="69" name="Line 49"/>
            <p:cNvSpPr>
              <a:spLocks noChangeShapeType="1"/>
            </p:cNvSpPr>
            <p:nvPr/>
          </p:nvSpPr>
          <p:spPr bwMode="auto">
            <a:xfrm>
              <a:off x="3420" y="1972"/>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0" name="Line 50"/>
            <p:cNvSpPr>
              <a:spLocks noChangeShapeType="1"/>
            </p:cNvSpPr>
            <p:nvPr/>
          </p:nvSpPr>
          <p:spPr bwMode="auto">
            <a:xfrm>
              <a:off x="4206" y="624"/>
              <a:ext cx="0" cy="134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1" name="Line 51"/>
            <p:cNvSpPr>
              <a:spLocks noChangeShapeType="1"/>
            </p:cNvSpPr>
            <p:nvPr/>
          </p:nvSpPr>
          <p:spPr bwMode="auto">
            <a:xfrm>
              <a:off x="3569" y="664"/>
              <a:ext cx="1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2" name="Line 52"/>
            <p:cNvSpPr>
              <a:spLocks noChangeShapeType="1"/>
            </p:cNvSpPr>
            <p:nvPr/>
          </p:nvSpPr>
          <p:spPr bwMode="auto">
            <a:xfrm>
              <a:off x="3860" y="682"/>
              <a:ext cx="1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animEffect transition="in" filter="randombar(horizontal)">
                                      <p:cBhvr>
                                        <p:cTn id="7" dur="500"/>
                                        <p:tgtEl>
                                          <p:spTgt spid="20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6"/>
                                        </p:tgtEl>
                                        <p:attrNameLst>
                                          <p:attrName>style.visibility</p:attrName>
                                        </p:attrNameLst>
                                      </p:cBhvr>
                                      <p:to>
                                        <p:strVal val="visible"/>
                                      </p:to>
                                    </p:set>
                                    <p:animEffect transition="in" filter="randombar(horizontal)">
                                      <p:cBhvr>
                                        <p:cTn id="12" dur="500"/>
                                        <p:tgtEl>
                                          <p:spTgt spid="206"/>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207"/>
                                        </p:tgtEl>
                                        <p:attrNameLst>
                                          <p:attrName>style.visibility</p:attrName>
                                        </p:attrNameLst>
                                      </p:cBhvr>
                                      <p:to>
                                        <p:strVal val="visible"/>
                                      </p:to>
                                    </p:set>
                                    <p:animEffect transition="in" filter="wedge">
                                      <p:cBhvr>
                                        <p:cTn id="17" dur="500"/>
                                        <p:tgtEl>
                                          <p:spTgt spid="207"/>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208"/>
                                        </p:tgtEl>
                                        <p:attrNameLst>
                                          <p:attrName>style.visibility</p:attrName>
                                        </p:attrNameLst>
                                      </p:cBhvr>
                                      <p:to>
                                        <p:strVal val="visible"/>
                                      </p:to>
                                    </p:set>
                                    <p:animEffect transition="in" filter="wedge">
                                      <p:cBhvr>
                                        <p:cTn id="22" dur="500"/>
                                        <p:tgtEl>
                                          <p:spTgt spid="208"/>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209"/>
                                        </p:tgtEl>
                                        <p:attrNameLst>
                                          <p:attrName>style.visibility</p:attrName>
                                        </p:attrNameLst>
                                      </p:cBhvr>
                                      <p:to>
                                        <p:strVal val="visible"/>
                                      </p:to>
                                    </p:set>
                                    <p:animEffect transition="in" filter="wedge">
                                      <p:cBhvr>
                                        <p:cTn id="27" dur="500"/>
                                        <p:tgtEl>
                                          <p:spTgt spid="209"/>
                                        </p:tgtEl>
                                      </p:cBhvr>
                                    </p:animEffect>
                                  </p:childTnLst>
                                </p:cTn>
                              </p:par>
                            </p:childTnLst>
                          </p:cTn>
                        </p:par>
                      </p:childTnLst>
                    </p:cTn>
                  </p:par>
                  <p:par>
                    <p:cTn id="28" fill="hold">
                      <p:stCondLst>
                        <p:cond delay="indefinite"/>
                      </p:stCondLst>
                      <p:childTnLst>
                        <p:par>
                          <p:cTn id="29" fill="hold">
                            <p:stCondLst>
                              <p:cond delay="0"/>
                            </p:stCondLst>
                            <p:childTnLst>
                              <p:par>
                                <p:cTn id="30" presetID="20" presetClass="entr" presetSubtype="0" fill="hold" grpId="0" nodeType="clickEffect">
                                  <p:stCondLst>
                                    <p:cond delay="0"/>
                                  </p:stCondLst>
                                  <p:childTnLst>
                                    <p:set>
                                      <p:cBhvr>
                                        <p:cTn id="31" dur="1" fill="hold">
                                          <p:stCondLst>
                                            <p:cond delay="0"/>
                                          </p:stCondLst>
                                        </p:cTn>
                                        <p:tgtEl>
                                          <p:spTgt spid="211"/>
                                        </p:tgtEl>
                                        <p:attrNameLst>
                                          <p:attrName>style.visibility</p:attrName>
                                        </p:attrNameLst>
                                      </p:cBhvr>
                                      <p:to>
                                        <p:strVal val="visible"/>
                                      </p:to>
                                    </p:set>
                                    <p:animEffect transition="in" filter="wedge">
                                      <p:cBhvr>
                                        <p:cTn id="32" dur="500"/>
                                        <p:tgtEl>
                                          <p:spTgt spid="211"/>
                                        </p:tgtEl>
                                      </p:cBhvr>
                                    </p:animEffect>
                                  </p:childTnLst>
                                </p:cTn>
                              </p:par>
                            </p:childTnLst>
                          </p:cTn>
                        </p:par>
                      </p:childTnLst>
                    </p:cTn>
                  </p:par>
                  <p:par>
                    <p:cTn id="33" fill="hold">
                      <p:stCondLst>
                        <p:cond delay="indefinite"/>
                      </p:stCondLst>
                      <p:childTnLst>
                        <p:par>
                          <p:cTn id="34" fill="hold">
                            <p:stCondLst>
                              <p:cond delay="0"/>
                            </p:stCondLst>
                            <p:childTnLst>
                              <p:par>
                                <p:cTn id="35" presetID="20" presetClass="entr" presetSubtype="0" fill="hold" grpId="0" nodeType="clickEffect">
                                  <p:stCondLst>
                                    <p:cond delay="0"/>
                                  </p:stCondLst>
                                  <p:childTnLst>
                                    <p:set>
                                      <p:cBhvr>
                                        <p:cTn id="36" dur="1" fill="hold">
                                          <p:stCondLst>
                                            <p:cond delay="0"/>
                                          </p:stCondLst>
                                        </p:cTn>
                                        <p:tgtEl>
                                          <p:spTgt spid="212"/>
                                        </p:tgtEl>
                                        <p:attrNameLst>
                                          <p:attrName>style.visibility</p:attrName>
                                        </p:attrNameLst>
                                      </p:cBhvr>
                                      <p:to>
                                        <p:strVal val="visible"/>
                                      </p:to>
                                    </p:set>
                                    <p:animEffect transition="in" filter="wedge">
                                      <p:cBhvr>
                                        <p:cTn id="37" dur="500"/>
                                        <p:tgtEl>
                                          <p:spTgt spid="21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151"/>
                                        </p:tgtEl>
                                        <p:attrNameLst>
                                          <p:attrName>style.visibility</p:attrName>
                                        </p:attrNameLst>
                                      </p:cBhvr>
                                      <p:to>
                                        <p:strVal val="visible"/>
                                      </p:to>
                                    </p:set>
                                    <p:animEffect transition="in" filter="circle(in)">
                                      <p:cBhvr>
                                        <p:cTn id="42" dur="2000"/>
                                        <p:tgtEl>
                                          <p:spTgt spid="151"/>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circle(in)">
                                      <p:cBhvr>
                                        <p:cTn id="47"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207" grpId="0" animBg="1" autoUpdateAnimBg="0"/>
      <p:bldP spid="208" grpId="0" animBg="1" autoUpdateAnimBg="0"/>
      <p:bldP spid="209" grpId="0" animBg="1" autoUpdateAnimBg="0"/>
      <p:bldP spid="212" grpId="0" animBg="1" autoUpdateAnimBg="0"/>
      <p:bldP spid="211" grpId="0" animBg="1" autoUpdateAnimBg="0"/>
      <p:bldP spid="61"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157" name="Oval 11"/>
          <p:cNvSpPr>
            <a:spLocks noChangeArrowheads="1"/>
          </p:cNvSpPr>
          <p:nvPr/>
        </p:nvSpPr>
        <p:spPr bwMode="auto">
          <a:xfrm flipH="1">
            <a:off x="1977712" y="2090264"/>
            <a:ext cx="495300" cy="269875"/>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grpSp>
        <p:nvGrpSpPr>
          <p:cNvPr id="158" name="Group 12"/>
          <p:cNvGrpSpPr/>
          <p:nvPr/>
        </p:nvGrpSpPr>
        <p:grpSpPr bwMode="auto">
          <a:xfrm>
            <a:off x="1642251" y="1270175"/>
            <a:ext cx="6775994" cy="4526004"/>
            <a:chOff x="1365" y="1423"/>
            <a:chExt cx="3447" cy="2324"/>
          </a:xfrm>
        </p:grpSpPr>
        <p:graphicFrame>
          <p:nvGraphicFramePr>
            <p:cNvPr id="159" name="Object 10"/>
            <p:cNvGraphicFramePr>
              <a:graphicFrameLocks noChangeAspect="1"/>
            </p:cNvGraphicFramePr>
            <p:nvPr/>
          </p:nvGraphicFramePr>
          <p:xfrm>
            <a:off x="1659" y="1580"/>
            <a:ext cx="2867" cy="2115"/>
          </p:xfrm>
          <a:graphic>
            <a:graphicData uri="http://schemas.openxmlformats.org/presentationml/2006/ole">
              <mc:AlternateContent xmlns:mc="http://schemas.openxmlformats.org/markup-compatibility/2006">
                <mc:Choice xmlns:v="urn:schemas-microsoft-com:vml" Requires="v">
                  <p:oleObj spid="_x0000_s17415" name="Picture" r:id="rId2" imgW="3456305" imgH="3031490" progId="Word.Picture.8">
                    <p:embed/>
                  </p:oleObj>
                </mc:Choice>
                <mc:Fallback>
                  <p:oleObj name="Picture" r:id="rId2" imgW="3456305" imgH="3031490" progId="Word.Picture.8">
                    <p:embed/>
                    <p:pic>
                      <p:nvPicPr>
                        <p:cNvPr id="0" name="图片 174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9" y="1580"/>
                          <a:ext cx="2867" cy="2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0" name="Text Box 14"/>
            <p:cNvSpPr txBox="1">
              <a:spLocks noChangeArrowheads="1"/>
            </p:cNvSpPr>
            <p:nvPr/>
          </p:nvSpPr>
          <p:spPr bwMode="auto">
            <a:xfrm>
              <a:off x="2307" y="315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T</a:t>
              </a:r>
              <a:endParaRPr lang="en-US" altLang="zh-CN" sz="4800" b="1" kern="0">
                <a:solidFill>
                  <a:srgbClr val="000000"/>
                </a:solidFill>
                <a:latin typeface="Times New Roman" panose="02020603050405020304" pitchFamily="18" charset="0"/>
                <a:ea typeface="楷体_GB2312" pitchFamily="49" charset="-122"/>
              </a:endParaRPr>
            </a:p>
          </p:txBody>
        </p:sp>
        <p:sp>
          <p:nvSpPr>
            <p:cNvPr id="161" name="Rectangle 15"/>
            <p:cNvSpPr>
              <a:spLocks noChangeArrowheads="1"/>
            </p:cNvSpPr>
            <p:nvPr/>
          </p:nvSpPr>
          <p:spPr bwMode="auto">
            <a:xfrm>
              <a:off x="4556" y="2457"/>
              <a:ext cx="25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800" b="1" i="1" kern="0" dirty="0" err="1">
                  <a:solidFill>
                    <a:srgbClr val="000000"/>
                  </a:solidFill>
                  <a:latin typeface="Times New Roman" panose="02020603050405020304" pitchFamily="18" charset="0"/>
                  <a:ea typeface="楷体_GB2312" pitchFamily="49" charset="-122"/>
                </a:rPr>
                <a:t>v</a:t>
              </a:r>
              <a:r>
                <a:rPr lang="en-US" altLang="zh-CN" sz="2800" b="1" kern="0" baseline="-25000" dirty="0" err="1">
                  <a:solidFill>
                    <a:srgbClr val="000000"/>
                  </a:solidFill>
                  <a:latin typeface="Times New Roman" panose="02020603050405020304" pitchFamily="18" charset="0"/>
                  <a:ea typeface="楷体_GB2312" pitchFamily="49" charset="-122"/>
                </a:rPr>
                <a:t>o</a:t>
              </a:r>
              <a:endParaRPr lang="en-US" altLang="zh-CN" sz="2800" b="1" kern="0" baseline="-25000" dirty="0">
                <a:solidFill>
                  <a:srgbClr val="000000"/>
                </a:solidFill>
                <a:latin typeface="Times New Roman" panose="02020603050405020304" pitchFamily="18" charset="0"/>
                <a:ea typeface="楷体_GB2312" pitchFamily="49" charset="-122"/>
              </a:endParaRPr>
            </a:p>
          </p:txBody>
        </p:sp>
        <p:sp>
          <p:nvSpPr>
            <p:cNvPr id="162" name="Rectangle 16"/>
            <p:cNvSpPr>
              <a:spLocks noChangeArrowheads="1"/>
            </p:cNvSpPr>
            <p:nvPr/>
          </p:nvSpPr>
          <p:spPr bwMode="auto">
            <a:xfrm>
              <a:off x="1378" y="1810"/>
              <a:ext cx="252"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err="1">
                  <a:solidFill>
                    <a:srgbClr val="000000"/>
                  </a:solidFill>
                  <a:latin typeface="Times New Roman" panose="02020603050405020304" pitchFamily="18" charset="0"/>
                  <a:ea typeface="楷体_GB2312" pitchFamily="49" charset="-122"/>
                </a:rPr>
                <a:t>v</a:t>
              </a:r>
              <a:r>
                <a:rPr lang="en-US" altLang="zh-CN" b="1" kern="0" baseline="-25000" dirty="0" err="1">
                  <a:solidFill>
                    <a:srgbClr val="000000"/>
                  </a:solidFill>
                  <a:latin typeface="Times New Roman" panose="02020603050405020304" pitchFamily="18" charset="0"/>
                  <a:ea typeface="楷体_GB2312" pitchFamily="49" charset="-122"/>
                </a:rPr>
                <a:t>IC</a:t>
              </a:r>
              <a:endParaRPr lang="en-US" altLang="zh-CN" b="1" kern="0" baseline="-25000" dirty="0">
                <a:solidFill>
                  <a:srgbClr val="000000"/>
                </a:solidFill>
                <a:latin typeface="Times New Roman" panose="02020603050405020304" pitchFamily="18" charset="0"/>
                <a:ea typeface="楷体_GB2312" pitchFamily="49" charset="-122"/>
              </a:endParaRPr>
            </a:p>
          </p:txBody>
        </p:sp>
        <p:sp>
          <p:nvSpPr>
            <p:cNvPr id="163" name="Rectangle 17"/>
            <p:cNvSpPr>
              <a:spLocks noChangeArrowheads="1"/>
            </p:cNvSpPr>
            <p:nvPr/>
          </p:nvSpPr>
          <p:spPr bwMode="auto">
            <a:xfrm>
              <a:off x="1375" y="2018"/>
              <a:ext cx="25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i="1" kern="0" baseline="-25000" dirty="0">
                  <a:solidFill>
                    <a:srgbClr val="FF0000"/>
                  </a:solidFill>
                  <a:latin typeface="Times New Roman" panose="02020603050405020304" pitchFamily="18" charset="0"/>
                  <a:ea typeface="楷体_GB2312" pitchFamily="49" charset="-122"/>
                </a:rPr>
                <a:t>TH</a:t>
              </a:r>
              <a:endParaRPr lang="en-US" altLang="zh-CN" sz="2400" kern="0" baseline="-25000" dirty="0">
                <a:solidFill>
                  <a:srgbClr val="FF0000"/>
                </a:solidFill>
                <a:latin typeface="Times New Roman" panose="02020603050405020304" pitchFamily="18" charset="0"/>
                <a:ea typeface="楷体_GB2312" pitchFamily="49" charset="-122"/>
              </a:endParaRPr>
            </a:p>
          </p:txBody>
        </p:sp>
        <p:sp>
          <p:nvSpPr>
            <p:cNvPr id="164" name="Rectangle 18"/>
            <p:cNvSpPr>
              <a:spLocks noChangeArrowheads="1"/>
            </p:cNvSpPr>
            <p:nvPr/>
          </p:nvSpPr>
          <p:spPr bwMode="auto">
            <a:xfrm>
              <a:off x="1372" y="2709"/>
              <a:ext cx="265"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FF0000"/>
                  </a:solidFill>
                  <a:latin typeface="Times New Roman" panose="02020603050405020304" pitchFamily="18" charset="0"/>
                  <a:ea typeface="楷体_GB2312" pitchFamily="49" charset="-122"/>
                </a:rPr>
                <a:t>TR</a:t>
              </a:r>
              <a:endParaRPr lang="en-US" altLang="zh-CN" kern="0" baseline="-25000" dirty="0">
                <a:solidFill>
                  <a:srgbClr val="FF0000"/>
                </a:solidFill>
                <a:latin typeface="Times New Roman" panose="02020603050405020304" pitchFamily="18" charset="0"/>
                <a:ea typeface="楷体_GB2312" pitchFamily="49" charset="-122"/>
              </a:endParaRPr>
            </a:p>
          </p:txBody>
        </p:sp>
        <p:sp>
          <p:nvSpPr>
            <p:cNvPr id="165" name="Rectangle 19"/>
            <p:cNvSpPr>
              <a:spLocks noChangeArrowheads="1"/>
            </p:cNvSpPr>
            <p:nvPr/>
          </p:nvSpPr>
          <p:spPr bwMode="auto">
            <a:xfrm>
              <a:off x="1365" y="3118"/>
              <a:ext cx="31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000000"/>
                  </a:solidFill>
                  <a:latin typeface="Times New Roman" panose="02020603050405020304" pitchFamily="18" charset="0"/>
                  <a:ea typeface="楷体_GB2312" pitchFamily="49" charset="-122"/>
                </a:rPr>
                <a:t>DIS</a:t>
              </a:r>
              <a:endParaRPr lang="en-US" altLang="zh-CN" b="1" kern="0" baseline="30000" dirty="0">
                <a:solidFill>
                  <a:srgbClr val="000000"/>
                </a:solidFill>
                <a:latin typeface="Times New Roman" panose="02020603050405020304" pitchFamily="18" charset="0"/>
                <a:ea typeface="楷体_GB2312" pitchFamily="49" charset="-122"/>
              </a:endParaRPr>
            </a:p>
          </p:txBody>
        </p:sp>
        <p:sp>
          <p:nvSpPr>
            <p:cNvPr id="166" name="Text Box 20"/>
            <p:cNvSpPr txBox="1">
              <a:spLocks noChangeArrowheads="1"/>
            </p:cNvSpPr>
            <p:nvPr/>
          </p:nvSpPr>
          <p:spPr bwMode="auto">
            <a:xfrm>
              <a:off x="2084" y="2019"/>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C</a:t>
              </a:r>
              <a:r>
                <a:rPr lang="en-US" altLang="zh-CN" sz="1100" b="1" kern="0" baseline="-25000">
                  <a:solidFill>
                    <a:srgbClr val="000000"/>
                  </a:solidFill>
                  <a:latin typeface="Times New Roman" panose="02020603050405020304" pitchFamily="18" charset="0"/>
                  <a:ea typeface="楷体_GB2312" pitchFamily="49" charset="-122"/>
                </a:rPr>
                <a:t>1</a:t>
              </a:r>
              <a:endParaRPr lang="en-US" altLang="zh-CN" sz="3200" b="1" kern="0" baseline="-25000">
                <a:solidFill>
                  <a:srgbClr val="000000"/>
                </a:solidFill>
                <a:latin typeface="Times New Roman" panose="02020603050405020304" pitchFamily="18" charset="0"/>
                <a:ea typeface="楷体_GB2312" pitchFamily="49" charset="-122"/>
              </a:endParaRPr>
            </a:p>
          </p:txBody>
        </p:sp>
        <p:sp>
          <p:nvSpPr>
            <p:cNvPr id="167" name="Text Box 21"/>
            <p:cNvSpPr txBox="1">
              <a:spLocks noChangeArrowheads="1"/>
            </p:cNvSpPr>
            <p:nvPr/>
          </p:nvSpPr>
          <p:spPr bwMode="auto">
            <a:xfrm>
              <a:off x="2121" y="2710"/>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C</a:t>
              </a:r>
              <a:r>
                <a:rPr lang="en-US" altLang="zh-CN" sz="1100" b="1" kern="0" baseline="-25000">
                  <a:solidFill>
                    <a:srgbClr val="000000"/>
                  </a:solidFill>
                  <a:latin typeface="Times New Roman" panose="02020603050405020304" pitchFamily="18" charset="0"/>
                  <a:ea typeface="楷体_GB2312" pitchFamily="49" charset="-122"/>
                </a:rPr>
                <a:t>2</a:t>
              </a:r>
              <a:endParaRPr lang="en-US" altLang="zh-CN" sz="3200" b="1" kern="0" baseline="-25000">
                <a:solidFill>
                  <a:srgbClr val="000000"/>
                </a:solidFill>
                <a:latin typeface="Times New Roman" panose="02020603050405020304" pitchFamily="18" charset="0"/>
                <a:ea typeface="楷体_GB2312" pitchFamily="49" charset="-122"/>
              </a:endParaRPr>
            </a:p>
          </p:txBody>
        </p:sp>
        <p:sp>
          <p:nvSpPr>
            <p:cNvPr id="168" name="Text Box 22"/>
            <p:cNvSpPr txBox="1">
              <a:spLocks noChangeArrowheads="1"/>
            </p:cNvSpPr>
            <p:nvPr/>
          </p:nvSpPr>
          <p:spPr bwMode="auto">
            <a:xfrm>
              <a:off x="1972" y="1894"/>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69" name="Text Box 23"/>
            <p:cNvSpPr txBox="1">
              <a:spLocks noChangeArrowheads="1"/>
            </p:cNvSpPr>
            <p:nvPr/>
          </p:nvSpPr>
          <p:spPr bwMode="auto">
            <a:xfrm>
              <a:off x="1972" y="2051"/>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0" name="Text Box 24"/>
            <p:cNvSpPr txBox="1">
              <a:spLocks noChangeArrowheads="1"/>
            </p:cNvSpPr>
            <p:nvPr/>
          </p:nvSpPr>
          <p:spPr bwMode="auto">
            <a:xfrm>
              <a:off x="1972" y="258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1" name="Text Box 25"/>
            <p:cNvSpPr txBox="1">
              <a:spLocks noChangeArrowheads="1"/>
            </p:cNvSpPr>
            <p:nvPr/>
          </p:nvSpPr>
          <p:spPr bwMode="auto">
            <a:xfrm>
              <a:off x="1972" y="2742"/>
              <a:ext cx="309"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000" b="1" kern="0">
                  <a:solidFill>
                    <a:srgbClr val="000000"/>
                  </a:solidFill>
                  <a:latin typeface="Times New Roman" panose="02020603050405020304" pitchFamily="18" charset="0"/>
                  <a:ea typeface="楷体_GB2312" pitchFamily="49" charset="-122"/>
                </a:rPr>
                <a:t>+</a:t>
              </a:r>
              <a:endParaRPr lang="en-US" altLang="zh-CN" sz="6000" b="1" kern="0" baseline="-25000">
                <a:solidFill>
                  <a:srgbClr val="000000"/>
                </a:solidFill>
                <a:latin typeface="Times New Roman" panose="02020603050405020304" pitchFamily="18" charset="0"/>
                <a:ea typeface="楷体_GB2312" pitchFamily="49" charset="-122"/>
              </a:endParaRPr>
            </a:p>
          </p:txBody>
        </p:sp>
        <p:sp>
          <p:nvSpPr>
            <p:cNvPr id="172" name="Text Box 26"/>
            <p:cNvSpPr txBox="1">
              <a:spLocks noChangeArrowheads="1"/>
            </p:cNvSpPr>
            <p:nvPr/>
          </p:nvSpPr>
          <p:spPr bwMode="auto">
            <a:xfrm>
              <a:off x="1636" y="359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(1)</a:t>
              </a:r>
              <a:endParaRPr lang="en-US" altLang="zh-CN" sz="4800" b="1" kern="0">
                <a:solidFill>
                  <a:srgbClr val="000000"/>
                </a:solidFill>
                <a:latin typeface="Times New Roman" panose="02020603050405020304" pitchFamily="18" charset="0"/>
                <a:ea typeface="楷体_GB2312" pitchFamily="49" charset="-122"/>
              </a:endParaRPr>
            </a:p>
          </p:txBody>
        </p:sp>
        <p:sp>
          <p:nvSpPr>
            <p:cNvPr id="173" name="Text Box 27"/>
            <p:cNvSpPr txBox="1">
              <a:spLocks noChangeArrowheads="1"/>
            </p:cNvSpPr>
            <p:nvPr/>
          </p:nvSpPr>
          <p:spPr bwMode="auto">
            <a:xfrm>
              <a:off x="1524" y="2679"/>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(2)</a:t>
              </a:r>
              <a:endParaRPr lang="en-US" altLang="zh-CN" sz="4800" b="1" kern="0">
                <a:solidFill>
                  <a:srgbClr val="000000"/>
                </a:solidFill>
                <a:latin typeface="Times New Roman" panose="02020603050405020304" pitchFamily="18" charset="0"/>
                <a:ea typeface="楷体_GB2312" pitchFamily="49" charset="-122"/>
              </a:endParaRPr>
            </a:p>
          </p:txBody>
        </p:sp>
        <p:sp>
          <p:nvSpPr>
            <p:cNvPr id="174" name="Text Box 28"/>
            <p:cNvSpPr txBox="1">
              <a:spLocks noChangeArrowheads="1"/>
            </p:cNvSpPr>
            <p:nvPr/>
          </p:nvSpPr>
          <p:spPr bwMode="auto">
            <a:xfrm>
              <a:off x="4397" y="242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(3)</a:t>
              </a:r>
              <a:endParaRPr lang="en-US" altLang="zh-CN" sz="4800" b="1" kern="0">
                <a:solidFill>
                  <a:srgbClr val="000000"/>
                </a:solidFill>
                <a:latin typeface="Times New Roman" panose="02020603050405020304" pitchFamily="18" charset="0"/>
                <a:ea typeface="楷体_GB2312" pitchFamily="49" charset="-122"/>
              </a:endParaRPr>
            </a:p>
          </p:txBody>
        </p:sp>
        <p:sp>
          <p:nvSpPr>
            <p:cNvPr id="175" name="Text Box 29"/>
            <p:cNvSpPr txBox="1">
              <a:spLocks noChangeArrowheads="1"/>
            </p:cNvSpPr>
            <p:nvPr/>
          </p:nvSpPr>
          <p:spPr bwMode="auto">
            <a:xfrm>
              <a:off x="2681" y="154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(4)</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6" name="Text Box 30"/>
            <p:cNvSpPr txBox="1">
              <a:spLocks noChangeArrowheads="1"/>
            </p:cNvSpPr>
            <p:nvPr/>
          </p:nvSpPr>
          <p:spPr bwMode="auto">
            <a:xfrm>
              <a:off x="1537" y="1820"/>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(5)</a:t>
              </a:r>
              <a:endParaRPr lang="en-US" altLang="zh-CN" sz="4800" b="1" kern="0">
                <a:solidFill>
                  <a:srgbClr val="000000"/>
                </a:solidFill>
                <a:latin typeface="Times New Roman" panose="02020603050405020304" pitchFamily="18" charset="0"/>
                <a:ea typeface="楷体_GB2312" pitchFamily="49" charset="-122"/>
              </a:endParaRPr>
            </a:p>
          </p:txBody>
        </p:sp>
        <p:sp>
          <p:nvSpPr>
            <p:cNvPr id="177" name="Text Box 31"/>
            <p:cNvSpPr txBox="1">
              <a:spLocks noChangeArrowheads="1"/>
            </p:cNvSpPr>
            <p:nvPr/>
          </p:nvSpPr>
          <p:spPr bwMode="auto">
            <a:xfrm>
              <a:off x="1537" y="2018"/>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(6)</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8" name="Text Box 32"/>
            <p:cNvSpPr txBox="1">
              <a:spLocks noChangeArrowheads="1"/>
            </p:cNvSpPr>
            <p:nvPr/>
          </p:nvSpPr>
          <p:spPr bwMode="auto">
            <a:xfrm>
              <a:off x="1604" y="3096"/>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dirty="0">
                  <a:solidFill>
                    <a:srgbClr val="000000"/>
                  </a:solidFill>
                  <a:latin typeface="Times New Roman" panose="02020603050405020304" pitchFamily="18" charset="0"/>
                  <a:ea typeface="楷体_GB2312" pitchFamily="49" charset="-122"/>
                </a:rPr>
                <a:t>(7)</a:t>
              </a:r>
              <a:endParaRPr lang="en-US" altLang="zh-CN" sz="4800" b="1" kern="0" dirty="0">
                <a:solidFill>
                  <a:srgbClr val="000000"/>
                </a:solidFill>
                <a:latin typeface="Times New Roman" panose="02020603050405020304" pitchFamily="18" charset="0"/>
                <a:ea typeface="楷体_GB2312" pitchFamily="49" charset="-122"/>
              </a:endParaRPr>
            </a:p>
          </p:txBody>
        </p:sp>
        <p:sp>
          <p:nvSpPr>
            <p:cNvPr id="179" name="Text Box 33"/>
            <p:cNvSpPr txBox="1">
              <a:spLocks noChangeArrowheads="1"/>
            </p:cNvSpPr>
            <p:nvPr/>
          </p:nvSpPr>
          <p:spPr bwMode="auto">
            <a:xfrm>
              <a:off x="2435" y="1913"/>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kern="0" dirty="0">
                  <a:solidFill>
                    <a:srgbClr val="000000"/>
                  </a:solidFill>
                  <a:latin typeface="Times New Roman" panose="02020603050405020304" pitchFamily="18" charset="0"/>
                  <a:ea typeface="楷体_GB2312" pitchFamily="49" charset="-122"/>
                </a:rPr>
                <a:t>R</a:t>
              </a:r>
              <a:endParaRPr lang="en-US" altLang="zh-CN" sz="6600" b="1" kern="0" dirty="0">
                <a:solidFill>
                  <a:srgbClr val="000000"/>
                </a:solidFill>
                <a:latin typeface="Times New Roman" panose="02020603050405020304" pitchFamily="18" charset="0"/>
                <a:ea typeface="楷体_GB2312" pitchFamily="49" charset="-122"/>
              </a:endParaRPr>
            </a:p>
          </p:txBody>
        </p:sp>
        <p:sp>
          <p:nvSpPr>
            <p:cNvPr id="180" name="Text Box 34"/>
            <p:cNvSpPr txBox="1">
              <a:spLocks noChangeArrowheads="1"/>
            </p:cNvSpPr>
            <p:nvPr/>
          </p:nvSpPr>
          <p:spPr bwMode="auto">
            <a:xfrm>
              <a:off x="2465" y="2582"/>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kern="0" dirty="0">
                  <a:solidFill>
                    <a:srgbClr val="000000"/>
                  </a:solidFill>
                  <a:latin typeface="Times New Roman" panose="02020603050405020304" pitchFamily="18" charset="0"/>
                  <a:ea typeface="楷体_GB2312" pitchFamily="49" charset="-122"/>
                </a:rPr>
                <a:t>S</a:t>
              </a:r>
              <a:endParaRPr lang="en-US" altLang="zh-CN" sz="6600" b="1" kern="0" dirty="0">
                <a:solidFill>
                  <a:srgbClr val="000000"/>
                </a:solidFill>
                <a:latin typeface="Times New Roman" panose="02020603050405020304" pitchFamily="18" charset="0"/>
                <a:ea typeface="楷体_GB2312" pitchFamily="49" charset="-122"/>
              </a:endParaRPr>
            </a:p>
          </p:txBody>
        </p:sp>
        <p:sp>
          <p:nvSpPr>
            <p:cNvPr id="181" name="Text Box 35"/>
            <p:cNvSpPr txBox="1">
              <a:spLocks noChangeArrowheads="1"/>
            </p:cNvSpPr>
            <p:nvPr/>
          </p:nvSpPr>
          <p:spPr bwMode="auto">
            <a:xfrm>
              <a:off x="2942" y="192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2" name="Rectangle 36"/>
            <p:cNvSpPr>
              <a:spLocks noChangeArrowheads="1"/>
            </p:cNvSpPr>
            <p:nvPr/>
          </p:nvSpPr>
          <p:spPr bwMode="auto">
            <a:xfrm>
              <a:off x="1934" y="1706"/>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3" name="Rectangle 37"/>
            <p:cNvSpPr>
              <a:spLocks noChangeArrowheads="1"/>
            </p:cNvSpPr>
            <p:nvPr/>
          </p:nvSpPr>
          <p:spPr bwMode="auto">
            <a:xfrm>
              <a:off x="1934" y="2271"/>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4" name="Rectangle 38"/>
            <p:cNvSpPr>
              <a:spLocks noChangeArrowheads="1"/>
            </p:cNvSpPr>
            <p:nvPr/>
          </p:nvSpPr>
          <p:spPr bwMode="auto">
            <a:xfrm>
              <a:off x="1934" y="2964"/>
              <a:ext cx="39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r>
                <a:rPr lang="en-US" altLang="zh-CN" b="1" kern="0">
                  <a:solidFill>
                    <a:srgbClr val="000000"/>
                  </a:solidFill>
                  <a:latin typeface="Times New Roman" panose="02020603050405020304" pitchFamily="18" charset="0"/>
                  <a:ea typeface="楷体_GB2312" pitchFamily="49" charset="-122"/>
                </a:rPr>
                <a:t>5 k</a:t>
              </a:r>
              <a:r>
                <a:rPr lang="en-US" altLang="zh-CN" b="1" ker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kern="0">
                  <a:solidFill>
                    <a:srgbClr val="000000"/>
                  </a:solidFill>
                  <a:latin typeface="Times New Roman" panose="02020603050405020304" pitchFamily="18" charset="0"/>
                  <a:ea typeface="楷体_GB2312" pitchFamily="49" charset="-122"/>
                </a:rPr>
                <a:t> </a:t>
              </a:r>
              <a:endParaRPr lang="en-US" altLang="zh-CN" b="1" kern="0">
                <a:solidFill>
                  <a:srgbClr val="000000"/>
                </a:solidFill>
                <a:latin typeface="Times New Roman" panose="02020603050405020304" pitchFamily="18" charset="0"/>
                <a:ea typeface="楷体_GB2312" pitchFamily="49" charset="-122"/>
              </a:endParaRPr>
            </a:p>
          </p:txBody>
        </p:sp>
        <p:sp>
          <p:nvSpPr>
            <p:cNvPr id="185" name="Text Box 39"/>
            <p:cNvSpPr txBox="1">
              <a:spLocks noChangeArrowheads="1"/>
            </p:cNvSpPr>
            <p:nvPr/>
          </p:nvSpPr>
          <p:spPr bwMode="auto">
            <a:xfrm>
              <a:off x="2942" y="2522"/>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6" name="Text Box 40"/>
            <p:cNvSpPr txBox="1">
              <a:spLocks noChangeArrowheads="1"/>
            </p:cNvSpPr>
            <p:nvPr/>
          </p:nvSpPr>
          <p:spPr bwMode="auto">
            <a:xfrm>
              <a:off x="3539" y="2491"/>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&amp;</a:t>
              </a:r>
              <a:endParaRPr lang="en-US" altLang="zh-CN" sz="4800" b="1" kern="0">
                <a:solidFill>
                  <a:srgbClr val="000000"/>
                </a:solidFill>
                <a:latin typeface="Times New Roman" panose="02020603050405020304" pitchFamily="18" charset="0"/>
                <a:ea typeface="楷体_GB2312" pitchFamily="49" charset="-122"/>
              </a:endParaRPr>
            </a:p>
          </p:txBody>
        </p:sp>
        <p:sp>
          <p:nvSpPr>
            <p:cNvPr id="187" name="Text Box 41"/>
            <p:cNvSpPr txBox="1">
              <a:spLocks noChangeArrowheads="1"/>
            </p:cNvSpPr>
            <p:nvPr/>
          </p:nvSpPr>
          <p:spPr bwMode="auto">
            <a:xfrm>
              <a:off x="3987" y="2491"/>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1</a:t>
              </a:r>
              <a:endParaRPr lang="en-US" altLang="zh-CN" sz="4800" b="1" kern="0">
                <a:solidFill>
                  <a:srgbClr val="000000"/>
                </a:solidFill>
                <a:latin typeface="Times New Roman" panose="02020603050405020304" pitchFamily="18" charset="0"/>
                <a:ea typeface="楷体_GB2312" pitchFamily="49" charset="-122"/>
              </a:endParaRPr>
            </a:p>
          </p:txBody>
        </p:sp>
        <p:sp>
          <p:nvSpPr>
            <p:cNvPr id="188" name="Text Box 42"/>
            <p:cNvSpPr txBox="1">
              <a:spLocks noChangeArrowheads="1"/>
            </p:cNvSpPr>
            <p:nvPr/>
          </p:nvSpPr>
          <p:spPr bwMode="auto">
            <a:xfrm>
              <a:off x="2569" y="1423"/>
              <a:ext cx="31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i="1" kern="0">
                  <a:solidFill>
                    <a:srgbClr val="000000"/>
                  </a:solidFill>
                  <a:latin typeface="Times New Roman" panose="02020603050405020304" pitchFamily="18" charset="0"/>
                  <a:ea typeface="楷体_GB2312" pitchFamily="49" charset="-122"/>
                </a:rPr>
                <a:t>R</a:t>
              </a:r>
              <a:r>
                <a:rPr lang="en-US" altLang="zh-CN" sz="1600" b="1" kern="0" baseline="-25000">
                  <a:solidFill>
                    <a:srgbClr val="000000"/>
                  </a:solidFill>
                  <a:latin typeface="Times New Roman" panose="02020603050405020304" pitchFamily="18" charset="0"/>
                  <a:ea typeface="楷体_GB2312" pitchFamily="49" charset="-122"/>
                </a:rPr>
                <a:t>D</a:t>
              </a:r>
              <a:endParaRPr lang="en-US" altLang="zh-CN" sz="4800" b="1" kern="0" baseline="-25000">
                <a:solidFill>
                  <a:srgbClr val="000000"/>
                </a:solidFill>
                <a:latin typeface="Times New Roman" panose="02020603050405020304" pitchFamily="18" charset="0"/>
                <a:ea typeface="楷体_GB2312" pitchFamily="49" charset="-122"/>
              </a:endParaRPr>
            </a:p>
          </p:txBody>
        </p:sp>
        <p:sp>
          <p:nvSpPr>
            <p:cNvPr id="189" name="Text Box 43"/>
            <p:cNvSpPr txBox="1">
              <a:spLocks noChangeArrowheads="1"/>
            </p:cNvSpPr>
            <p:nvPr/>
          </p:nvSpPr>
          <p:spPr bwMode="auto">
            <a:xfrm>
              <a:off x="1785" y="1423"/>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i="1" kern="0">
                  <a:solidFill>
                    <a:srgbClr val="000000"/>
                  </a:solidFill>
                  <a:latin typeface="Times New Roman" panose="02020603050405020304" pitchFamily="18" charset="0"/>
                  <a:ea typeface="楷体_GB2312" pitchFamily="49" charset="-122"/>
                </a:rPr>
                <a:t>V</a:t>
              </a:r>
              <a:r>
                <a:rPr lang="en-US" altLang="zh-CN" sz="1600" b="1" kern="0" baseline="-25000">
                  <a:solidFill>
                    <a:srgbClr val="000000"/>
                  </a:solidFill>
                  <a:latin typeface="Times New Roman" panose="02020603050405020304" pitchFamily="18" charset="0"/>
                  <a:ea typeface="楷体_GB2312" pitchFamily="49" charset="-122"/>
                </a:rPr>
                <a:t>CC</a:t>
              </a:r>
              <a:endParaRPr lang="en-US" altLang="zh-CN" sz="4800" b="1" kern="0" baseline="-25000">
                <a:solidFill>
                  <a:srgbClr val="000000"/>
                </a:solidFill>
                <a:latin typeface="Times New Roman" panose="02020603050405020304" pitchFamily="18" charset="0"/>
                <a:ea typeface="楷体_GB2312" pitchFamily="49" charset="-122"/>
              </a:endParaRPr>
            </a:p>
          </p:txBody>
        </p:sp>
        <p:sp>
          <p:nvSpPr>
            <p:cNvPr id="190" name="Text Box 44"/>
            <p:cNvSpPr txBox="1">
              <a:spLocks noChangeArrowheads="1"/>
            </p:cNvSpPr>
            <p:nvPr/>
          </p:nvSpPr>
          <p:spPr bwMode="auto">
            <a:xfrm>
              <a:off x="1897" y="1548"/>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600" b="1" kern="0">
                  <a:solidFill>
                    <a:srgbClr val="000000"/>
                  </a:solidFill>
                  <a:latin typeface="Times New Roman" panose="02020603050405020304" pitchFamily="18" charset="0"/>
                  <a:ea typeface="楷体_GB2312" pitchFamily="49" charset="-122"/>
                </a:rPr>
                <a:t>(8)</a:t>
              </a:r>
              <a:endParaRPr lang="en-US" altLang="zh-CN" sz="4800" b="1" kern="0">
                <a:solidFill>
                  <a:srgbClr val="000000"/>
                </a:solidFill>
                <a:latin typeface="Times New Roman" panose="02020603050405020304" pitchFamily="18" charset="0"/>
                <a:ea typeface="楷体_GB2312" pitchFamily="49" charset="-122"/>
              </a:endParaRPr>
            </a:p>
          </p:txBody>
        </p:sp>
        <p:sp>
          <p:nvSpPr>
            <p:cNvPr id="191" name="Text Box 45"/>
            <p:cNvSpPr txBox="1">
              <a:spLocks noChangeArrowheads="1"/>
            </p:cNvSpPr>
            <p:nvPr/>
          </p:nvSpPr>
          <p:spPr bwMode="auto">
            <a:xfrm>
              <a:off x="3987" y="2365"/>
              <a:ext cx="309"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1100" b="1" kern="0">
                  <a:solidFill>
                    <a:srgbClr val="000000"/>
                  </a:solidFill>
                  <a:latin typeface="Times New Roman" panose="02020603050405020304" pitchFamily="18" charset="0"/>
                  <a:ea typeface="楷体_GB2312" pitchFamily="49" charset="-122"/>
                </a:rPr>
                <a:t>G</a:t>
              </a:r>
              <a:endParaRPr lang="en-US" altLang="zh-CN" sz="4400" b="1" kern="0">
                <a:solidFill>
                  <a:srgbClr val="000000"/>
                </a:solidFill>
                <a:latin typeface="Times New Roman" panose="02020603050405020304" pitchFamily="18" charset="0"/>
                <a:ea typeface="楷体_GB2312" pitchFamily="49" charset="-122"/>
              </a:endParaRPr>
            </a:p>
          </p:txBody>
        </p:sp>
      </p:grpSp>
      <p:sp>
        <p:nvSpPr>
          <p:cNvPr id="192" name="Rectangle 46"/>
          <p:cNvSpPr>
            <a:spLocks noChangeArrowheads="1"/>
          </p:cNvSpPr>
          <p:nvPr/>
        </p:nvSpPr>
        <p:spPr bwMode="auto">
          <a:xfrm>
            <a:off x="3923594" y="3818947"/>
            <a:ext cx="2295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1400">
                <a:solidFill>
                  <a:srgbClr val="000000"/>
                </a:solidFill>
                <a:latin typeface="Times New Roman" panose="02020603050405020304" pitchFamily="18" charset="0"/>
                <a:ea typeface="楷体_GB2312" pitchFamily="49" charset="-122"/>
              </a:rPr>
              <a:t> </a:t>
            </a:r>
            <a:endParaRPr lang="en-US" altLang="zh-CN" sz="4400">
              <a:solidFill>
                <a:srgbClr val="000000"/>
              </a:solidFill>
              <a:latin typeface="Times New Roman" panose="02020603050405020304" pitchFamily="18" charset="0"/>
              <a:ea typeface="楷体_GB2312" pitchFamily="49" charset="-122"/>
            </a:endParaRPr>
          </a:p>
        </p:txBody>
      </p:sp>
      <p:graphicFrame>
        <p:nvGraphicFramePr>
          <p:cNvPr id="193" name="Object 2"/>
          <p:cNvGraphicFramePr>
            <a:graphicFrameLocks noChangeAspect="1"/>
          </p:cNvGraphicFramePr>
          <p:nvPr/>
        </p:nvGraphicFramePr>
        <p:xfrm>
          <a:off x="621300" y="1836649"/>
          <a:ext cx="1040609" cy="773708"/>
        </p:xfrm>
        <a:graphic>
          <a:graphicData uri="http://schemas.openxmlformats.org/presentationml/2006/ole">
            <mc:AlternateContent xmlns:mc="http://schemas.openxmlformats.org/markup-compatibility/2006">
              <mc:Choice xmlns:v="urn:schemas-microsoft-com:vml" Requires="v">
                <p:oleObj spid="_x0000_s17416" name="Equation" r:id="rId4" imgW="381000" imgH="406400" progId="Equation.DSMT4">
                  <p:embed/>
                </p:oleObj>
              </mc:Choice>
              <mc:Fallback>
                <p:oleObj name="Equation" r:id="rId4" imgW="381000" imgH="406400" progId="Equation.DSMT4">
                  <p:embed/>
                  <p:pic>
                    <p:nvPicPr>
                      <p:cNvPr id="0" name="图片 174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300" y="1836649"/>
                        <a:ext cx="1040609" cy="773708"/>
                      </a:xfrm>
                      <a:prstGeom prst="rect">
                        <a:avLst/>
                      </a:prstGeom>
                      <a:solidFill>
                        <a:srgbClr val="FFFF99"/>
                      </a:solidFill>
                      <a:ln w="9525">
                        <a:solidFill>
                          <a:srgbClr val="FF0000"/>
                        </a:solidFill>
                        <a:miter lim="800000"/>
                        <a:headEnd/>
                        <a:tailEnd/>
                      </a:ln>
                    </p:spPr>
                  </p:pic>
                </p:oleObj>
              </mc:Fallback>
            </mc:AlternateContent>
          </a:graphicData>
        </a:graphic>
      </p:graphicFrame>
      <p:graphicFrame>
        <p:nvGraphicFramePr>
          <p:cNvPr id="194" name="Object 3"/>
          <p:cNvGraphicFramePr>
            <a:graphicFrameLocks noChangeAspect="1"/>
          </p:cNvGraphicFramePr>
          <p:nvPr/>
        </p:nvGraphicFramePr>
        <p:xfrm>
          <a:off x="595419" y="3427126"/>
          <a:ext cx="1016856" cy="679555"/>
        </p:xfrm>
        <a:graphic>
          <a:graphicData uri="http://schemas.openxmlformats.org/presentationml/2006/ole">
            <mc:AlternateContent xmlns:mc="http://schemas.openxmlformats.org/markup-compatibility/2006">
              <mc:Choice xmlns:v="urn:schemas-microsoft-com:vml" Requires="v">
                <p:oleObj spid="_x0000_s17417" name="Equation" r:id="rId6" imgW="381000" imgH="406400" progId="Equation.DSMT4">
                  <p:embed/>
                </p:oleObj>
              </mc:Choice>
              <mc:Fallback>
                <p:oleObj name="Equation" r:id="rId6" imgW="381000" imgH="406400" progId="Equation.DSMT4">
                  <p:embed/>
                  <p:pic>
                    <p:nvPicPr>
                      <p:cNvPr id="0" name="图片 174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419" y="3427126"/>
                        <a:ext cx="1016856" cy="679555"/>
                      </a:xfrm>
                      <a:prstGeom prst="rect">
                        <a:avLst/>
                      </a:prstGeom>
                      <a:solidFill>
                        <a:srgbClr val="FFFF99"/>
                      </a:solidFill>
                      <a:ln w="9525">
                        <a:solidFill>
                          <a:srgbClr val="FF0000"/>
                        </a:solidFill>
                        <a:miter lim="800000"/>
                        <a:headEnd/>
                        <a:tailEnd/>
                      </a:ln>
                    </p:spPr>
                  </p:pic>
                </p:oleObj>
              </mc:Fallback>
            </mc:AlternateContent>
          </a:graphicData>
        </a:graphic>
      </p:graphicFrame>
      <p:sp>
        <p:nvSpPr>
          <p:cNvPr id="196" name="Oval 50"/>
          <p:cNvSpPr>
            <a:spLocks noChangeArrowheads="1"/>
          </p:cNvSpPr>
          <p:nvPr/>
        </p:nvSpPr>
        <p:spPr bwMode="auto">
          <a:xfrm flipH="1">
            <a:off x="2602875" y="2258811"/>
            <a:ext cx="223838" cy="227013"/>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197" name="Oval 51"/>
          <p:cNvSpPr>
            <a:spLocks noChangeArrowheads="1"/>
          </p:cNvSpPr>
          <p:nvPr/>
        </p:nvSpPr>
        <p:spPr bwMode="auto">
          <a:xfrm flipH="1">
            <a:off x="2637793" y="3591560"/>
            <a:ext cx="223838" cy="227012"/>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210" name="Oval 64"/>
          <p:cNvSpPr>
            <a:spLocks noChangeArrowheads="1"/>
          </p:cNvSpPr>
          <p:nvPr/>
        </p:nvSpPr>
        <p:spPr bwMode="auto">
          <a:xfrm>
            <a:off x="3715031" y="1137009"/>
            <a:ext cx="449802" cy="457300"/>
          </a:xfrm>
          <a:prstGeom prst="ellipse">
            <a:avLst/>
          </a:prstGeom>
          <a:solidFill>
            <a:srgbClr val="FFFF99"/>
          </a:solidFill>
          <a:ln w="9525">
            <a:solidFill>
              <a:srgbClr val="FF000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graphicFrame>
        <p:nvGraphicFramePr>
          <p:cNvPr id="213" name="Object 8"/>
          <p:cNvGraphicFramePr>
            <a:graphicFrameLocks noChangeAspect="1"/>
          </p:cNvGraphicFramePr>
          <p:nvPr/>
        </p:nvGraphicFramePr>
        <p:xfrm>
          <a:off x="1684351" y="2760350"/>
          <a:ext cx="772388" cy="567932"/>
        </p:xfrm>
        <a:graphic>
          <a:graphicData uri="http://schemas.openxmlformats.org/presentationml/2006/ole">
            <mc:AlternateContent xmlns:mc="http://schemas.openxmlformats.org/markup-compatibility/2006">
              <mc:Choice xmlns:v="urn:schemas-microsoft-com:vml" Requires="v">
                <p:oleObj spid="_x0000_s17418" name="Equation" r:id="rId8" imgW="508000" imgH="406400" progId="Equation.DSMT4">
                  <p:embed/>
                </p:oleObj>
              </mc:Choice>
              <mc:Fallback>
                <p:oleObj name="Equation" r:id="rId8" imgW="508000" imgH="406400" progId="Equation.DSMT4">
                  <p:embed/>
                  <p:pic>
                    <p:nvPicPr>
                      <p:cNvPr id="0" name="图片 174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84351" y="2760350"/>
                        <a:ext cx="772388" cy="567932"/>
                      </a:xfrm>
                      <a:prstGeom prst="rect">
                        <a:avLst/>
                      </a:prstGeom>
                      <a:solidFill>
                        <a:srgbClr val="FFCC00"/>
                      </a:solidFill>
                      <a:ln w="9525">
                        <a:solidFill>
                          <a:srgbClr val="FF0000"/>
                        </a:solidFill>
                        <a:miter lim="800000"/>
                        <a:headEnd/>
                        <a:tailEnd/>
                      </a:ln>
                    </p:spPr>
                  </p:pic>
                </p:oleObj>
              </mc:Fallback>
            </mc:AlternateContent>
          </a:graphicData>
        </a:graphic>
      </p:graphicFrame>
      <p:graphicFrame>
        <p:nvGraphicFramePr>
          <p:cNvPr id="214" name="Object 9"/>
          <p:cNvGraphicFramePr>
            <a:graphicFrameLocks noChangeAspect="1"/>
          </p:cNvGraphicFramePr>
          <p:nvPr/>
        </p:nvGraphicFramePr>
        <p:xfrm>
          <a:off x="1589992" y="4078067"/>
          <a:ext cx="782375" cy="570621"/>
        </p:xfrm>
        <a:graphic>
          <a:graphicData uri="http://schemas.openxmlformats.org/presentationml/2006/ole">
            <mc:AlternateContent xmlns:mc="http://schemas.openxmlformats.org/markup-compatibility/2006">
              <mc:Choice xmlns:v="urn:schemas-microsoft-com:vml" Requires="v">
                <p:oleObj spid="_x0000_s17419" name="Equation" r:id="rId10" imgW="508000" imgH="406400" progId="Equation.3">
                  <p:embed/>
                </p:oleObj>
              </mc:Choice>
              <mc:Fallback>
                <p:oleObj name="Equation" r:id="rId10" imgW="508000" imgH="406400" progId="Equation.3">
                  <p:embed/>
                  <p:pic>
                    <p:nvPicPr>
                      <p:cNvPr id="0" name="图片 174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9992" y="4078067"/>
                        <a:ext cx="782375" cy="570621"/>
                      </a:xfrm>
                      <a:prstGeom prst="rect">
                        <a:avLst/>
                      </a:prstGeom>
                      <a:solidFill>
                        <a:srgbClr val="FFCC00"/>
                      </a:solidFill>
                      <a:ln w="9525">
                        <a:solidFill>
                          <a:srgbClr val="FF0000"/>
                        </a:solidFill>
                        <a:miter lim="800000"/>
                        <a:headEnd/>
                        <a:tailEnd/>
                      </a:ln>
                    </p:spPr>
                  </p:pic>
                </p:oleObj>
              </mc:Fallback>
            </mc:AlternateContent>
          </a:graphicData>
        </a:graphic>
      </p:graphicFrame>
      <p:sp>
        <p:nvSpPr>
          <p:cNvPr id="215" name="Oval 69"/>
          <p:cNvSpPr>
            <a:spLocks noChangeArrowheads="1"/>
          </p:cNvSpPr>
          <p:nvPr/>
        </p:nvSpPr>
        <p:spPr bwMode="auto">
          <a:xfrm>
            <a:off x="3738386" y="2568511"/>
            <a:ext cx="484287" cy="473748"/>
          </a:xfrm>
          <a:prstGeom prst="ellipse">
            <a:avLst/>
          </a:prstGeom>
          <a:solidFill>
            <a:srgbClr val="FFCC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16" name="Oval 70"/>
          <p:cNvSpPr>
            <a:spLocks noChangeArrowheads="1"/>
          </p:cNvSpPr>
          <p:nvPr/>
        </p:nvSpPr>
        <p:spPr bwMode="auto">
          <a:xfrm>
            <a:off x="3774965" y="3904575"/>
            <a:ext cx="484287" cy="417512"/>
          </a:xfrm>
          <a:prstGeom prst="ellipse">
            <a:avLst/>
          </a:prstGeom>
          <a:solidFill>
            <a:srgbClr val="FFCC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4400" b="1" dirty="0">
                <a:solidFill>
                  <a:srgbClr val="000000"/>
                </a:solidFill>
                <a:latin typeface="Times New Roman" panose="02020603050405020304" pitchFamily="18" charset="0"/>
                <a:ea typeface="楷体_GB2312" pitchFamily="49" charset="-122"/>
              </a:rPr>
              <a:t>1</a:t>
            </a:r>
            <a:endParaRPr lang="en-US" altLang="zh-CN" sz="4400" b="1" dirty="0">
              <a:solidFill>
                <a:srgbClr val="000000"/>
              </a:solidFill>
              <a:latin typeface="Times New Roman" panose="02020603050405020304" pitchFamily="18" charset="0"/>
              <a:ea typeface="楷体_GB2312" pitchFamily="49" charset="-122"/>
            </a:endParaRPr>
          </a:p>
        </p:txBody>
      </p:sp>
      <p:sp>
        <p:nvSpPr>
          <p:cNvPr id="217" name="Text Box 71"/>
          <p:cNvSpPr txBox="1">
            <a:spLocks noChangeArrowheads="1"/>
          </p:cNvSpPr>
          <p:nvPr/>
        </p:nvSpPr>
        <p:spPr bwMode="auto">
          <a:xfrm>
            <a:off x="5614040" y="3864254"/>
            <a:ext cx="965200" cy="461665"/>
          </a:xfrm>
          <a:prstGeom prst="rect">
            <a:avLst/>
          </a:prstGeom>
          <a:solidFill>
            <a:srgbClr val="FFCC00"/>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50000"/>
              </a:spcBef>
              <a:spcAft>
                <a:spcPct val="0"/>
              </a:spcAft>
            </a:pPr>
            <a:r>
              <a:rPr lang="zh-CN" altLang="en-US" sz="2400" b="1" dirty="0">
                <a:solidFill>
                  <a:srgbClr val="000000"/>
                </a:solidFill>
                <a:latin typeface="Times New Roman" panose="02020603050405020304" pitchFamily="18" charset="0"/>
                <a:ea typeface="楷体_GB2312" pitchFamily="49" charset="-122"/>
              </a:rPr>
              <a:t>保持</a:t>
            </a:r>
            <a:endParaRPr lang="zh-CN" altLang="en-US" sz="2400" b="1" dirty="0">
              <a:solidFill>
                <a:srgbClr val="000000"/>
              </a:solidFill>
              <a:latin typeface="Times New Roman" panose="02020603050405020304" pitchFamily="18" charset="0"/>
              <a:ea typeface="楷体_GB2312" pitchFamily="49" charset="-122"/>
            </a:endParaRPr>
          </a:p>
        </p:txBody>
      </p:sp>
      <p:sp>
        <p:nvSpPr>
          <p:cNvPr id="218" name="Text Box 72"/>
          <p:cNvSpPr txBox="1">
            <a:spLocks noChangeArrowheads="1"/>
          </p:cNvSpPr>
          <p:nvPr/>
        </p:nvSpPr>
        <p:spPr bwMode="auto">
          <a:xfrm>
            <a:off x="7073647" y="3864253"/>
            <a:ext cx="946150" cy="461665"/>
          </a:xfrm>
          <a:prstGeom prst="rect">
            <a:avLst/>
          </a:prstGeom>
          <a:solidFill>
            <a:srgbClr val="FFCC00"/>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50000"/>
              </a:spcBef>
              <a:spcAft>
                <a:spcPct val="0"/>
              </a:spcAft>
            </a:pPr>
            <a:r>
              <a:rPr lang="zh-CN" altLang="en-US" sz="2400" b="1" dirty="0">
                <a:solidFill>
                  <a:srgbClr val="000000"/>
                </a:solidFill>
                <a:latin typeface="Times New Roman" panose="02020603050405020304" pitchFamily="18" charset="0"/>
                <a:ea typeface="楷体_GB2312" pitchFamily="49" charset="-122"/>
              </a:rPr>
              <a:t>保持</a:t>
            </a:r>
            <a:endParaRPr lang="zh-CN" altLang="en-US" sz="2400" b="1" dirty="0">
              <a:solidFill>
                <a:srgbClr val="000000"/>
              </a:solidFill>
              <a:latin typeface="Times New Roman" panose="02020603050405020304" pitchFamily="18" charset="0"/>
              <a:ea typeface="楷体_GB2312" pitchFamily="49" charset="-122"/>
            </a:endParaRPr>
          </a:p>
        </p:txBody>
      </p:sp>
      <p:sp>
        <p:nvSpPr>
          <p:cNvPr id="219" name="Oval 73"/>
          <p:cNvSpPr>
            <a:spLocks noChangeArrowheads="1"/>
          </p:cNvSpPr>
          <p:nvPr/>
        </p:nvSpPr>
        <p:spPr bwMode="auto">
          <a:xfrm flipH="1">
            <a:off x="1760198" y="2506842"/>
            <a:ext cx="343698" cy="340776"/>
          </a:xfrm>
          <a:prstGeom prst="ellipse">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220" name="Oval 74"/>
          <p:cNvSpPr>
            <a:spLocks noChangeArrowheads="1"/>
          </p:cNvSpPr>
          <p:nvPr/>
        </p:nvSpPr>
        <p:spPr bwMode="auto">
          <a:xfrm flipH="1">
            <a:off x="1719275" y="3706094"/>
            <a:ext cx="368830" cy="407237"/>
          </a:xfrm>
          <a:prstGeom prst="ellipse">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defRPr/>
            </a:pPr>
            <a:endParaRPr lang="zh-CN" altLang="zh-CN" sz="4400" kern="0">
              <a:solidFill>
                <a:srgbClr val="000000"/>
              </a:solidFill>
            </a:endParaRPr>
          </a:p>
        </p:txBody>
      </p:sp>
      <p:sp>
        <p:nvSpPr>
          <p:cNvPr id="221" name="Rectangle 87"/>
          <p:cNvSpPr>
            <a:spLocks noChangeArrowheads="1"/>
          </p:cNvSpPr>
          <p:nvPr/>
        </p:nvSpPr>
        <p:spPr bwMode="auto">
          <a:xfrm>
            <a:off x="198247" y="657956"/>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2.</a:t>
            </a:r>
            <a:r>
              <a:rPr lang="zh-CN" altLang="en-US" sz="2800" b="1" dirty="0">
                <a:solidFill>
                  <a:srgbClr val="C00000"/>
                </a:solidFill>
                <a:latin typeface="Times New Roman" panose="02020603050405020304" pitchFamily="18" charset="0"/>
                <a:ea typeface="楷体_GB2312" pitchFamily="49" charset="-122"/>
              </a:rPr>
              <a:t>  工作原理</a:t>
            </a:r>
            <a:endParaRPr lang="zh-CN" altLang="en-US" sz="2800" b="1" dirty="0">
              <a:solidFill>
                <a:srgbClr val="C00000"/>
              </a:solidFill>
              <a:latin typeface="Times New Roman" panose="02020603050405020304" pitchFamily="18" charset="0"/>
              <a:ea typeface="楷体_GB2312" pitchFamily="49" charset="-122"/>
            </a:endParaRPr>
          </a:p>
        </p:txBody>
      </p:sp>
      <p:sp>
        <p:nvSpPr>
          <p:cNvPr id="222" name="Line 84"/>
          <p:cNvSpPr>
            <a:spLocks noChangeShapeType="1"/>
          </p:cNvSpPr>
          <p:nvPr/>
        </p:nvSpPr>
        <p:spPr bwMode="auto">
          <a:xfrm flipV="1">
            <a:off x="3917247" y="2240785"/>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223" name="Line 84"/>
          <p:cNvSpPr>
            <a:spLocks noChangeShapeType="1"/>
          </p:cNvSpPr>
          <p:nvPr/>
        </p:nvSpPr>
        <p:spPr bwMode="auto">
          <a:xfrm>
            <a:off x="3997248" y="3527334"/>
            <a:ext cx="225425" cy="0"/>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prstClr val="black"/>
              </a:solidFill>
            </a:endParaRPr>
          </a:p>
        </p:txBody>
      </p:sp>
      <p:sp>
        <p:nvSpPr>
          <p:cNvPr id="224" name="Line 84"/>
          <p:cNvSpPr>
            <a:spLocks noChangeShapeType="1"/>
          </p:cNvSpPr>
          <p:nvPr/>
        </p:nvSpPr>
        <p:spPr bwMode="auto">
          <a:xfrm flipV="1">
            <a:off x="4200078" y="1280975"/>
            <a:ext cx="235028" cy="195"/>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79" name="Line 84"/>
          <p:cNvSpPr>
            <a:spLocks noChangeShapeType="1"/>
          </p:cNvSpPr>
          <p:nvPr/>
        </p:nvSpPr>
        <p:spPr bwMode="auto">
          <a:xfrm flipV="1">
            <a:off x="1765543" y="3825639"/>
            <a:ext cx="314091" cy="195"/>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randombar(horizontal)">
                                      <p:cBhvr>
                                        <p:cTn id="7" dur="500"/>
                                        <p:tgtEl>
                                          <p:spTgt spid="21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animEffect transition="in" filter="randombar(horizontal)">
                                      <p:cBhvr>
                                        <p:cTn id="12" dur="500"/>
                                        <p:tgtEl>
                                          <p:spTgt spid="214"/>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215"/>
                                        </p:tgtEl>
                                        <p:attrNameLst>
                                          <p:attrName>style.visibility</p:attrName>
                                        </p:attrNameLst>
                                      </p:cBhvr>
                                      <p:to>
                                        <p:strVal val="visible"/>
                                      </p:to>
                                    </p:set>
                                    <p:animEffect transition="in" filter="wedge">
                                      <p:cBhvr>
                                        <p:cTn id="17" dur="500"/>
                                        <p:tgtEl>
                                          <p:spTgt spid="215"/>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216"/>
                                        </p:tgtEl>
                                        <p:attrNameLst>
                                          <p:attrName>style.visibility</p:attrName>
                                        </p:attrNameLst>
                                      </p:cBhvr>
                                      <p:to>
                                        <p:strVal val="visible"/>
                                      </p:to>
                                    </p:set>
                                    <p:animEffect transition="in" filter="wedge">
                                      <p:cBhvr>
                                        <p:cTn id="22" dur="500"/>
                                        <p:tgtEl>
                                          <p:spTgt spid="21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17"/>
                                        </p:tgtEl>
                                        <p:attrNameLst>
                                          <p:attrName>style.visibility</p:attrName>
                                        </p:attrNameLst>
                                      </p:cBhvr>
                                      <p:to>
                                        <p:strVal val="visible"/>
                                      </p:to>
                                    </p:set>
                                    <p:animEffect transition="in" filter="randombar(horizontal)">
                                      <p:cBhvr>
                                        <p:cTn id="27" dur="500"/>
                                        <p:tgtEl>
                                          <p:spTgt spid="21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18"/>
                                        </p:tgtEl>
                                        <p:attrNameLst>
                                          <p:attrName>style.visibility</p:attrName>
                                        </p:attrNameLst>
                                      </p:cBhvr>
                                      <p:to>
                                        <p:strVal val="visible"/>
                                      </p:to>
                                    </p:set>
                                    <p:animEffect transition="in" filter="randombar(horizontal)">
                                      <p:cBhvr>
                                        <p:cTn id="32" dur="5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animBg="1" autoUpdateAnimBg="0"/>
      <p:bldP spid="216" grpId="0" animBg="1" autoUpdateAnimBg="0"/>
      <p:bldP spid="217" grpId="0" animBg="1" autoUpdateAnimBg="0"/>
      <p:bldP spid="218"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221" name="Rectangle 87"/>
          <p:cNvSpPr>
            <a:spLocks noChangeArrowheads="1"/>
          </p:cNvSpPr>
          <p:nvPr/>
        </p:nvSpPr>
        <p:spPr bwMode="auto">
          <a:xfrm>
            <a:off x="207955" y="676697"/>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2.</a:t>
            </a:r>
            <a:r>
              <a:rPr lang="zh-CN" altLang="en-US" sz="2800" b="1" dirty="0">
                <a:solidFill>
                  <a:srgbClr val="C00000"/>
                </a:solidFill>
                <a:latin typeface="Times New Roman" panose="02020603050405020304" pitchFamily="18" charset="0"/>
                <a:ea typeface="楷体_GB2312" pitchFamily="49" charset="-122"/>
              </a:rPr>
              <a:t>  功能表</a:t>
            </a:r>
            <a:endParaRPr lang="zh-CN" altLang="en-US" sz="2800" b="1" dirty="0">
              <a:solidFill>
                <a:srgbClr val="C00000"/>
              </a:solidFill>
              <a:latin typeface="Times New Roman" panose="02020603050405020304" pitchFamily="18" charset="0"/>
              <a:ea typeface="楷体_GB2312" pitchFamily="49" charset="-122"/>
            </a:endParaRPr>
          </a:p>
        </p:txBody>
      </p:sp>
      <p:grpSp>
        <p:nvGrpSpPr>
          <p:cNvPr id="58" name="Group 5"/>
          <p:cNvGrpSpPr/>
          <p:nvPr/>
        </p:nvGrpSpPr>
        <p:grpSpPr bwMode="auto">
          <a:xfrm>
            <a:off x="563381" y="1459999"/>
            <a:ext cx="7740232" cy="4631060"/>
            <a:chOff x="342" y="1451"/>
            <a:chExt cx="4485" cy="2417"/>
          </a:xfrm>
        </p:grpSpPr>
        <p:sp>
          <p:nvSpPr>
            <p:cNvPr id="59" name="Rectangle 6"/>
            <p:cNvSpPr>
              <a:spLocks noChangeArrowheads="1"/>
            </p:cNvSpPr>
            <p:nvPr/>
          </p:nvSpPr>
          <p:spPr bwMode="auto">
            <a:xfrm>
              <a:off x="4108" y="3044"/>
              <a:ext cx="713"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800" b="1" dirty="0">
                  <a:solidFill>
                    <a:prstClr val="black"/>
                  </a:solidFill>
                  <a:latin typeface="Times New Roman" panose="02020603050405020304" pitchFamily="18" charset="0"/>
                  <a:ea typeface="楷体_GB2312" pitchFamily="49" charset="-122"/>
                </a:rPr>
                <a:t>不变</a:t>
              </a:r>
              <a:endParaRPr lang="zh-CN" altLang="en-US" sz="2800" b="1" dirty="0">
                <a:solidFill>
                  <a:prstClr val="black"/>
                </a:solidFill>
                <a:latin typeface="Times New Roman" panose="02020603050405020304" pitchFamily="18" charset="0"/>
                <a:ea typeface="楷体_GB2312" pitchFamily="49" charset="-122"/>
              </a:endParaRPr>
            </a:p>
          </p:txBody>
        </p:sp>
        <p:sp>
          <p:nvSpPr>
            <p:cNvPr id="60" name="Rectangle 7"/>
            <p:cNvSpPr>
              <a:spLocks noChangeArrowheads="1"/>
            </p:cNvSpPr>
            <p:nvPr/>
          </p:nvSpPr>
          <p:spPr bwMode="auto">
            <a:xfrm>
              <a:off x="3390" y="3036"/>
              <a:ext cx="709"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800" b="1" dirty="0">
                  <a:solidFill>
                    <a:prstClr val="black"/>
                  </a:solidFill>
                  <a:latin typeface="Times New Roman" panose="02020603050405020304" pitchFamily="18" charset="0"/>
                  <a:ea typeface="楷体_GB2312" pitchFamily="49" charset="-122"/>
                </a:rPr>
                <a:t>不变</a:t>
              </a:r>
              <a:endParaRPr lang="zh-CN" altLang="en-US" sz="2800" b="1" dirty="0">
                <a:solidFill>
                  <a:prstClr val="black"/>
                </a:solidFill>
                <a:latin typeface="Times New Roman" panose="02020603050405020304" pitchFamily="18" charset="0"/>
                <a:ea typeface="楷体_GB2312" pitchFamily="49" charset="-122"/>
              </a:endParaRPr>
            </a:p>
          </p:txBody>
        </p:sp>
        <p:sp>
          <p:nvSpPr>
            <p:cNvPr id="61" name="Rectangle 8"/>
            <p:cNvSpPr>
              <a:spLocks noChangeArrowheads="1"/>
            </p:cNvSpPr>
            <p:nvPr/>
          </p:nvSpPr>
          <p:spPr bwMode="auto">
            <a:xfrm>
              <a:off x="2515" y="3038"/>
              <a:ext cx="879"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2800" b="1" dirty="0">
                  <a:solidFill>
                    <a:prstClr val="black"/>
                  </a:solidFill>
                  <a:latin typeface="Times New Roman" panose="02020603050405020304" pitchFamily="18" charset="0"/>
                  <a:ea typeface="楷体_GB2312" pitchFamily="49" charset="-122"/>
                </a:rPr>
                <a:t>1</a:t>
              </a:r>
              <a:endParaRPr lang="en-US" altLang="zh-CN" sz="2800" b="1" dirty="0">
                <a:solidFill>
                  <a:prstClr val="black"/>
                </a:solidFill>
                <a:latin typeface="Times New Roman" panose="02020603050405020304" pitchFamily="18" charset="0"/>
                <a:ea typeface="楷体_GB2312" pitchFamily="49" charset="-122"/>
              </a:endParaRPr>
            </a:p>
          </p:txBody>
        </p:sp>
        <p:sp>
          <p:nvSpPr>
            <p:cNvPr id="62" name="Rectangle 9"/>
            <p:cNvSpPr>
              <a:spLocks noChangeArrowheads="1"/>
            </p:cNvSpPr>
            <p:nvPr/>
          </p:nvSpPr>
          <p:spPr bwMode="auto">
            <a:xfrm>
              <a:off x="4114" y="3332"/>
              <a:ext cx="71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800" b="1" dirty="0">
                  <a:solidFill>
                    <a:prstClr val="black"/>
                  </a:solidFill>
                  <a:latin typeface="Times New Roman" panose="02020603050405020304" pitchFamily="18" charset="0"/>
                  <a:ea typeface="楷体_GB2312" pitchFamily="49" charset="-122"/>
                </a:rPr>
                <a:t>导通</a:t>
              </a:r>
              <a:endParaRPr lang="zh-CN" altLang="en-US" sz="2800" b="1" dirty="0">
                <a:solidFill>
                  <a:prstClr val="black"/>
                </a:solidFill>
                <a:latin typeface="Times New Roman" panose="02020603050405020304" pitchFamily="18" charset="0"/>
                <a:ea typeface="楷体_GB2312" pitchFamily="49" charset="-122"/>
              </a:endParaRPr>
            </a:p>
          </p:txBody>
        </p:sp>
        <p:sp>
          <p:nvSpPr>
            <p:cNvPr id="63" name="Rectangle 10"/>
            <p:cNvSpPr>
              <a:spLocks noChangeArrowheads="1"/>
            </p:cNvSpPr>
            <p:nvPr/>
          </p:nvSpPr>
          <p:spPr bwMode="auto">
            <a:xfrm>
              <a:off x="3383" y="3401"/>
              <a:ext cx="709"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2800" b="1">
                  <a:solidFill>
                    <a:prstClr val="black"/>
                  </a:solidFill>
                  <a:latin typeface="Times New Roman" panose="02020603050405020304" pitchFamily="18" charset="0"/>
                  <a:ea typeface="楷体_GB2312" pitchFamily="49" charset="-122"/>
                </a:rPr>
                <a:t>0</a:t>
              </a:r>
              <a:endParaRPr lang="en-US" altLang="zh-CN" sz="2800" b="1">
                <a:solidFill>
                  <a:prstClr val="black"/>
                </a:solidFill>
                <a:latin typeface="Times New Roman" panose="02020603050405020304" pitchFamily="18" charset="0"/>
                <a:ea typeface="楷体_GB2312" pitchFamily="49" charset="-122"/>
              </a:endParaRPr>
            </a:p>
          </p:txBody>
        </p:sp>
        <p:sp>
          <p:nvSpPr>
            <p:cNvPr id="64" name="Rectangle 11"/>
            <p:cNvSpPr>
              <a:spLocks noChangeArrowheads="1"/>
            </p:cNvSpPr>
            <p:nvPr/>
          </p:nvSpPr>
          <p:spPr bwMode="auto">
            <a:xfrm>
              <a:off x="2509" y="3350"/>
              <a:ext cx="87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2800" b="1">
                  <a:solidFill>
                    <a:prstClr val="black"/>
                  </a:solidFill>
                  <a:latin typeface="Times New Roman" panose="02020603050405020304" pitchFamily="18" charset="0"/>
                  <a:ea typeface="楷体_GB2312" pitchFamily="49" charset="-122"/>
                </a:rPr>
                <a:t>1</a:t>
              </a:r>
              <a:endParaRPr lang="en-US" altLang="zh-CN" sz="2800" b="1">
                <a:solidFill>
                  <a:prstClr val="black"/>
                </a:solidFill>
                <a:latin typeface="Times New Roman" panose="02020603050405020304" pitchFamily="18" charset="0"/>
                <a:ea typeface="楷体_GB2312" pitchFamily="49" charset="-122"/>
              </a:endParaRPr>
            </a:p>
          </p:txBody>
        </p:sp>
        <p:sp>
          <p:nvSpPr>
            <p:cNvPr id="65" name="Rectangle 12"/>
            <p:cNvSpPr>
              <a:spLocks noChangeArrowheads="1"/>
            </p:cNvSpPr>
            <p:nvPr/>
          </p:nvSpPr>
          <p:spPr bwMode="auto">
            <a:xfrm>
              <a:off x="1491" y="3095"/>
              <a:ext cx="102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endParaRPr lang="zh-CN" altLang="en-GB" sz="2400">
                <a:solidFill>
                  <a:prstClr val="black"/>
                </a:solidFill>
                <a:latin typeface="Times New Roman" panose="02020603050405020304" pitchFamily="18" charset="0"/>
                <a:ea typeface="楷体_GB2312" pitchFamily="49" charset="-122"/>
              </a:endParaRPr>
            </a:p>
          </p:txBody>
        </p:sp>
        <p:sp>
          <p:nvSpPr>
            <p:cNvPr id="66" name="Rectangle 13"/>
            <p:cNvSpPr>
              <a:spLocks noChangeArrowheads="1"/>
            </p:cNvSpPr>
            <p:nvPr/>
          </p:nvSpPr>
          <p:spPr bwMode="auto">
            <a:xfrm>
              <a:off x="385" y="3095"/>
              <a:ext cx="110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endParaRPr lang="zh-CN" altLang="en-GB" sz="2400">
                <a:solidFill>
                  <a:prstClr val="black"/>
                </a:solidFill>
                <a:latin typeface="Times New Roman" panose="02020603050405020304" pitchFamily="18" charset="0"/>
                <a:ea typeface="楷体_GB2312" pitchFamily="49" charset="-122"/>
              </a:endParaRPr>
            </a:p>
          </p:txBody>
        </p:sp>
        <p:sp>
          <p:nvSpPr>
            <p:cNvPr id="67" name="Rectangle 14"/>
            <p:cNvSpPr>
              <a:spLocks noChangeArrowheads="1"/>
            </p:cNvSpPr>
            <p:nvPr/>
          </p:nvSpPr>
          <p:spPr bwMode="auto">
            <a:xfrm>
              <a:off x="4099" y="2577"/>
              <a:ext cx="71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800" b="1">
                  <a:solidFill>
                    <a:prstClr val="black"/>
                  </a:solidFill>
                  <a:latin typeface="Times New Roman" panose="02020603050405020304" pitchFamily="18" charset="0"/>
                  <a:ea typeface="楷体_GB2312" pitchFamily="49" charset="-122"/>
                </a:rPr>
                <a:t>截止</a:t>
              </a:r>
              <a:endParaRPr lang="zh-CN" altLang="en-US" sz="2800" b="1">
                <a:solidFill>
                  <a:prstClr val="black"/>
                </a:solidFill>
                <a:latin typeface="Times New Roman" panose="02020603050405020304" pitchFamily="18" charset="0"/>
                <a:ea typeface="楷体_GB2312" pitchFamily="49" charset="-122"/>
              </a:endParaRPr>
            </a:p>
          </p:txBody>
        </p:sp>
        <p:sp>
          <p:nvSpPr>
            <p:cNvPr id="68" name="Rectangle 15"/>
            <p:cNvSpPr>
              <a:spLocks noChangeArrowheads="1"/>
            </p:cNvSpPr>
            <p:nvPr/>
          </p:nvSpPr>
          <p:spPr bwMode="auto">
            <a:xfrm>
              <a:off x="3390" y="2577"/>
              <a:ext cx="70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2800" b="1">
                  <a:solidFill>
                    <a:prstClr val="black"/>
                  </a:solidFill>
                  <a:latin typeface="Times New Roman" panose="02020603050405020304" pitchFamily="18" charset="0"/>
                  <a:ea typeface="楷体_GB2312" pitchFamily="49" charset="-122"/>
                </a:rPr>
                <a:t>1</a:t>
              </a:r>
              <a:endParaRPr lang="en-US" altLang="zh-CN" sz="2800" b="1">
                <a:solidFill>
                  <a:prstClr val="black"/>
                </a:solidFill>
                <a:latin typeface="Times New Roman" panose="02020603050405020304" pitchFamily="18" charset="0"/>
                <a:ea typeface="楷体_GB2312" pitchFamily="49" charset="-122"/>
              </a:endParaRPr>
            </a:p>
          </p:txBody>
        </p:sp>
        <p:sp>
          <p:nvSpPr>
            <p:cNvPr id="69" name="Rectangle 16"/>
            <p:cNvSpPr>
              <a:spLocks noChangeArrowheads="1"/>
            </p:cNvSpPr>
            <p:nvPr/>
          </p:nvSpPr>
          <p:spPr bwMode="auto">
            <a:xfrm>
              <a:off x="2511" y="2577"/>
              <a:ext cx="87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2800" b="1">
                  <a:solidFill>
                    <a:prstClr val="black"/>
                  </a:solidFill>
                  <a:latin typeface="Times New Roman" panose="02020603050405020304" pitchFamily="18" charset="0"/>
                  <a:ea typeface="楷体_GB2312" pitchFamily="49" charset="-122"/>
                </a:rPr>
                <a:t>1</a:t>
              </a:r>
              <a:endParaRPr lang="en-US" altLang="zh-CN" sz="2800" b="1">
                <a:solidFill>
                  <a:prstClr val="black"/>
                </a:solidFill>
                <a:latin typeface="Times New Roman" panose="02020603050405020304" pitchFamily="18" charset="0"/>
                <a:ea typeface="楷体_GB2312" pitchFamily="49" charset="-122"/>
              </a:endParaRPr>
            </a:p>
          </p:txBody>
        </p:sp>
        <p:sp>
          <p:nvSpPr>
            <p:cNvPr id="70" name="Rectangle 17"/>
            <p:cNvSpPr>
              <a:spLocks noChangeArrowheads="1"/>
            </p:cNvSpPr>
            <p:nvPr/>
          </p:nvSpPr>
          <p:spPr bwMode="auto">
            <a:xfrm>
              <a:off x="1491" y="2577"/>
              <a:ext cx="102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endParaRPr lang="zh-CN" altLang="en-GB" sz="2400">
                <a:solidFill>
                  <a:prstClr val="black"/>
                </a:solidFill>
                <a:latin typeface="Times New Roman" panose="02020603050405020304" pitchFamily="18" charset="0"/>
                <a:ea typeface="楷体_GB2312" pitchFamily="49" charset="-122"/>
              </a:endParaRPr>
            </a:p>
          </p:txBody>
        </p:sp>
        <p:sp>
          <p:nvSpPr>
            <p:cNvPr id="71" name="Rectangle 18"/>
            <p:cNvSpPr>
              <a:spLocks noChangeArrowheads="1"/>
            </p:cNvSpPr>
            <p:nvPr/>
          </p:nvSpPr>
          <p:spPr bwMode="auto">
            <a:xfrm>
              <a:off x="385" y="2577"/>
              <a:ext cx="110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endParaRPr lang="zh-CN" altLang="en-GB" sz="2400">
                <a:solidFill>
                  <a:prstClr val="black"/>
                </a:solidFill>
                <a:latin typeface="Times New Roman" panose="02020603050405020304" pitchFamily="18" charset="0"/>
                <a:ea typeface="楷体_GB2312" pitchFamily="49" charset="-122"/>
              </a:endParaRPr>
            </a:p>
          </p:txBody>
        </p:sp>
        <p:sp>
          <p:nvSpPr>
            <p:cNvPr id="72" name="Rectangle 19"/>
            <p:cNvSpPr>
              <a:spLocks noChangeArrowheads="1"/>
            </p:cNvSpPr>
            <p:nvPr/>
          </p:nvSpPr>
          <p:spPr bwMode="auto">
            <a:xfrm>
              <a:off x="4086" y="2275"/>
              <a:ext cx="71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800" b="1" dirty="0">
                  <a:solidFill>
                    <a:prstClr val="black"/>
                  </a:solidFill>
                  <a:latin typeface="Times New Roman" panose="02020603050405020304" pitchFamily="18" charset="0"/>
                  <a:ea typeface="楷体_GB2312" pitchFamily="49" charset="-122"/>
                </a:rPr>
                <a:t>导通</a:t>
              </a:r>
              <a:endParaRPr lang="zh-CN" altLang="en-US" sz="2800" b="1" dirty="0">
                <a:solidFill>
                  <a:prstClr val="black"/>
                </a:solidFill>
                <a:latin typeface="Times New Roman" panose="02020603050405020304" pitchFamily="18" charset="0"/>
                <a:ea typeface="楷体_GB2312" pitchFamily="49" charset="-122"/>
              </a:endParaRPr>
            </a:p>
          </p:txBody>
        </p:sp>
        <p:sp>
          <p:nvSpPr>
            <p:cNvPr id="73" name="Rectangle 20"/>
            <p:cNvSpPr>
              <a:spLocks noChangeArrowheads="1"/>
            </p:cNvSpPr>
            <p:nvPr/>
          </p:nvSpPr>
          <p:spPr bwMode="auto">
            <a:xfrm>
              <a:off x="3386" y="2269"/>
              <a:ext cx="70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2800" b="1" dirty="0">
                  <a:solidFill>
                    <a:prstClr val="black"/>
                  </a:solidFill>
                  <a:latin typeface="Times New Roman" panose="02020603050405020304" pitchFamily="18" charset="0"/>
                  <a:ea typeface="楷体_GB2312" pitchFamily="49" charset="-122"/>
                </a:rPr>
                <a:t>0</a:t>
              </a:r>
              <a:endParaRPr lang="en-US" altLang="zh-CN" sz="2800" b="1" dirty="0">
                <a:solidFill>
                  <a:prstClr val="black"/>
                </a:solidFill>
                <a:latin typeface="Times New Roman" panose="02020603050405020304" pitchFamily="18" charset="0"/>
                <a:ea typeface="楷体_GB2312" pitchFamily="49" charset="-122"/>
              </a:endParaRPr>
            </a:p>
          </p:txBody>
        </p:sp>
        <p:sp>
          <p:nvSpPr>
            <p:cNvPr id="74" name="Rectangle 21"/>
            <p:cNvSpPr>
              <a:spLocks noChangeArrowheads="1"/>
            </p:cNvSpPr>
            <p:nvPr/>
          </p:nvSpPr>
          <p:spPr bwMode="auto">
            <a:xfrm>
              <a:off x="2498" y="2276"/>
              <a:ext cx="8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2800" b="1" dirty="0">
                  <a:solidFill>
                    <a:prstClr val="black"/>
                  </a:solidFill>
                  <a:latin typeface="Times New Roman" panose="02020603050405020304" pitchFamily="18" charset="0"/>
                  <a:ea typeface="楷体_GB2312" pitchFamily="49" charset="-122"/>
                </a:rPr>
                <a:t>0</a:t>
              </a:r>
              <a:endParaRPr lang="en-US" altLang="zh-CN" sz="2800" b="1" dirty="0">
                <a:solidFill>
                  <a:prstClr val="black"/>
                </a:solidFill>
                <a:latin typeface="Times New Roman" panose="02020603050405020304" pitchFamily="18" charset="0"/>
                <a:ea typeface="楷体_GB2312" pitchFamily="49" charset="-122"/>
              </a:endParaRPr>
            </a:p>
          </p:txBody>
        </p:sp>
        <p:sp>
          <p:nvSpPr>
            <p:cNvPr id="75" name="Rectangle 22"/>
            <p:cNvSpPr>
              <a:spLocks noChangeArrowheads="1"/>
            </p:cNvSpPr>
            <p:nvPr/>
          </p:nvSpPr>
          <p:spPr bwMode="auto">
            <a:xfrm>
              <a:off x="1462" y="2275"/>
              <a:ext cx="102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3200" dirty="0">
                  <a:solidFill>
                    <a:prstClr val="black"/>
                  </a:solidFill>
                  <a:latin typeface="Times New Roman" panose="02020603050405020304" pitchFamily="18" charset="0"/>
                  <a:ea typeface="楷体_GB2312" pitchFamily="49" charset="-122"/>
                </a:rPr>
                <a:t>×</a:t>
              </a:r>
              <a:endParaRPr lang="en-US" altLang="zh-CN" sz="3200" dirty="0">
                <a:solidFill>
                  <a:prstClr val="black"/>
                </a:solidFill>
                <a:latin typeface="Times New Roman" panose="02020603050405020304" pitchFamily="18" charset="0"/>
                <a:ea typeface="楷体_GB2312" pitchFamily="49" charset="-122"/>
              </a:endParaRPr>
            </a:p>
          </p:txBody>
        </p:sp>
        <p:sp>
          <p:nvSpPr>
            <p:cNvPr id="76" name="Rectangle 23"/>
            <p:cNvSpPr>
              <a:spLocks noChangeArrowheads="1"/>
            </p:cNvSpPr>
            <p:nvPr/>
          </p:nvSpPr>
          <p:spPr bwMode="auto">
            <a:xfrm>
              <a:off x="342" y="2272"/>
              <a:ext cx="1106"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en-US" altLang="zh-CN" sz="3200" dirty="0">
                  <a:solidFill>
                    <a:prstClr val="black"/>
                  </a:solidFill>
                  <a:latin typeface="Times New Roman" panose="02020603050405020304" pitchFamily="18" charset="0"/>
                  <a:ea typeface="楷体_GB2312" pitchFamily="49" charset="-122"/>
                </a:rPr>
                <a:t>×</a:t>
              </a:r>
              <a:endParaRPr lang="en-US" altLang="zh-CN" sz="3200" dirty="0">
                <a:solidFill>
                  <a:prstClr val="black"/>
                </a:solidFill>
                <a:latin typeface="Times New Roman" panose="02020603050405020304" pitchFamily="18" charset="0"/>
                <a:ea typeface="楷体_GB2312" pitchFamily="49" charset="-122"/>
              </a:endParaRPr>
            </a:p>
          </p:txBody>
        </p:sp>
        <p:sp>
          <p:nvSpPr>
            <p:cNvPr id="77" name="Rectangle 24"/>
            <p:cNvSpPr>
              <a:spLocks noChangeArrowheads="1"/>
            </p:cNvSpPr>
            <p:nvPr/>
          </p:nvSpPr>
          <p:spPr bwMode="auto">
            <a:xfrm>
              <a:off x="4099" y="1807"/>
              <a:ext cx="713"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170A8E"/>
                  </a:solidFill>
                  <a:latin typeface="Times New Roman" panose="02020603050405020304" pitchFamily="18" charset="0"/>
                  <a:ea typeface="楷体_GB2312" pitchFamily="49" charset="-122"/>
                </a:rPr>
                <a:t>放电管</a:t>
              </a:r>
              <a:r>
                <a:rPr lang="en-US" altLang="zh-CN" sz="2400" b="1" dirty="0">
                  <a:solidFill>
                    <a:srgbClr val="170A8E"/>
                  </a:solidFill>
                  <a:latin typeface="Times New Roman" panose="02020603050405020304" pitchFamily="18" charset="0"/>
                  <a:ea typeface="楷体_GB2312" pitchFamily="49" charset="-122"/>
                </a:rPr>
                <a:t>T</a:t>
              </a:r>
              <a:endParaRPr lang="en-US" altLang="zh-CN" sz="2400" b="1" dirty="0">
                <a:solidFill>
                  <a:srgbClr val="170A8E"/>
                </a:solidFill>
                <a:latin typeface="Times New Roman" panose="02020603050405020304" pitchFamily="18" charset="0"/>
                <a:ea typeface="楷体_GB2312" pitchFamily="49" charset="-122"/>
              </a:endParaRPr>
            </a:p>
          </p:txBody>
        </p:sp>
        <p:sp>
          <p:nvSpPr>
            <p:cNvPr id="78" name="Rectangle 25"/>
            <p:cNvSpPr>
              <a:spLocks noChangeArrowheads="1"/>
            </p:cNvSpPr>
            <p:nvPr/>
          </p:nvSpPr>
          <p:spPr bwMode="auto">
            <a:xfrm>
              <a:off x="3390" y="1812"/>
              <a:ext cx="709"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170A8E"/>
                  </a:solidFill>
                  <a:latin typeface="Times New Roman" panose="02020603050405020304" pitchFamily="18" charset="0"/>
                  <a:ea typeface="楷体_GB2312" pitchFamily="49" charset="-122"/>
                </a:rPr>
                <a:t>输出</a:t>
              </a:r>
              <a:r>
                <a:rPr lang="en-US" altLang="zh-CN" sz="2400" b="1" dirty="0">
                  <a:solidFill>
                    <a:srgbClr val="170A8E"/>
                  </a:solidFill>
                  <a:latin typeface="Times New Roman" panose="02020603050405020304" pitchFamily="18" charset="0"/>
                  <a:ea typeface="楷体_GB2312" pitchFamily="49" charset="-122"/>
                </a:rPr>
                <a:t>(</a:t>
              </a:r>
              <a:r>
                <a:rPr lang="en-US" altLang="zh-CN" sz="2400" b="1" i="1" dirty="0">
                  <a:solidFill>
                    <a:srgbClr val="170A8E"/>
                  </a:solidFill>
                  <a:latin typeface="Times New Roman" panose="02020603050405020304" pitchFamily="18" charset="0"/>
                  <a:ea typeface="楷体_GB2312" pitchFamily="49" charset="-122"/>
                </a:rPr>
                <a:t>V</a:t>
              </a:r>
              <a:r>
                <a:rPr lang="en-US" altLang="zh-CN" sz="2400" b="1" baseline="-25000" dirty="0">
                  <a:solidFill>
                    <a:srgbClr val="170A8E"/>
                  </a:solidFill>
                  <a:latin typeface="Times New Roman" panose="02020603050405020304" pitchFamily="18" charset="0"/>
                  <a:ea typeface="楷体_GB2312" pitchFamily="49" charset="-122"/>
                </a:rPr>
                <a:t>O</a:t>
              </a:r>
              <a:r>
                <a:rPr lang="en-US" altLang="zh-CN" sz="2400" b="1" dirty="0">
                  <a:solidFill>
                    <a:srgbClr val="170A8E"/>
                  </a:solidFill>
                  <a:latin typeface="Times New Roman" panose="02020603050405020304" pitchFamily="18" charset="0"/>
                  <a:ea typeface="楷体_GB2312" pitchFamily="49" charset="-122"/>
                </a:rPr>
                <a:t>)</a:t>
              </a:r>
              <a:endParaRPr lang="en-US" altLang="zh-CN" sz="2400" b="1" dirty="0">
                <a:solidFill>
                  <a:srgbClr val="170A8E"/>
                </a:solidFill>
                <a:latin typeface="Times New Roman" panose="02020603050405020304" pitchFamily="18" charset="0"/>
                <a:ea typeface="楷体_GB2312" pitchFamily="49" charset="-122"/>
              </a:endParaRPr>
            </a:p>
          </p:txBody>
        </p:sp>
        <p:sp>
          <p:nvSpPr>
            <p:cNvPr id="79" name="Rectangle 26"/>
            <p:cNvSpPr>
              <a:spLocks noChangeArrowheads="1"/>
            </p:cNvSpPr>
            <p:nvPr/>
          </p:nvSpPr>
          <p:spPr bwMode="auto">
            <a:xfrm>
              <a:off x="2511" y="1848"/>
              <a:ext cx="879"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170A8E"/>
                  </a:solidFill>
                  <a:latin typeface="Times New Roman" panose="02020603050405020304" pitchFamily="18" charset="0"/>
                  <a:ea typeface="楷体_GB2312" pitchFamily="49" charset="-122"/>
                </a:rPr>
                <a:t>复位</a:t>
              </a:r>
              <a:r>
                <a:rPr lang="en-US" altLang="zh-CN" sz="2400" b="1" dirty="0">
                  <a:solidFill>
                    <a:srgbClr val="170A8E"/>
                  </a:solidFill>
                  <a:latin typeface="Times New Roman" panose="02020603050405020304" pitchFamily="18" charset="0"/>
                  <a:ea typeface="楷体_GB2312" pitchFamily="49" charset="-122"/>
                </a:rPr>
                <a:t>(</a:t>
              </a:r>
              <a:r>
                <a:rPr lang="en-US" altLang="zh-CN" sz="2400" b="1" i="1" dirty="0">
                  <a:solidFill>
                    <a:srgbClr val="170A8E"/>
                  </a:solidFill>
                  <a:latin typeface="Times New Roman" panose="02020603050405020304" pitchFamily="18" charset="0"/>
                  <a:ea typeface="楷体_GB2312" pitchFamily="49" charset="-122"/>
                </a:rPr>
                <a:t>R</a:t>
              </a:r>
              <a:r>
                <a:rPr lang="en-US" altLang="zh-CN" sz="2400" b="1" i="1" baseline="-25000" dirty="0">
                  <a:solidFill>
                    <a:srgbClr val="170A8E"/>
                  </a:solidFill>
                  <a:latin typeface="Times New Roman" panose="02020603050405020304" pitchFamily="18" charset="0"/>
                  <a:ea typeface="楷体_GB2312" pitchFamily="49" charset="-122"/>
                </a:rPr>
                <a:t>D</a:t>
              </a:r>
              <a:r>
                <a:rPr lang="en-US" altLang="zh-CN" sz="2400" b="1" dirty="0">
                  <a:solidFill>
                    <a:srgbClr val="170A8E"/>
                  </a:solidFill>
                  <a:latin typeface="Times New Roman" panose="02020603050405020304" pitchFamily="18" charset="0"/>
                  <a:ea typeface="楷体_GB2312" pitchFamily="49" charset="-122"/>
                </a:rPr>
                <a:t>)</a:t>
              </a:r>
              <a:endParaRPr lang="en-US" altLang="zh-CN" sz="2400" b="1" dirty="0">
                <a:solidFill>
                  <a:srgbClr val="170A8E"/>
                </a:solidFill>
                <a:latin typeface="Times New Roman" panose="02020603050405020304" pitchFamily="18" charset="0"/>
                <a:ea typeface="楷体_GB2312" pitchFamily="49" charset="-122"/>
              </a:endParaRPr>
            </a:p>
          </p:txBody>
        </p:sp>
        <p:sp>
          <p:nvSpPr>
            <p:cNvPr id="80" name="Rectangle 27"/>
            <p:cNvSpPr>
              <a:spLocks noChangeArrowheads="1"/>
            </p:cNvSpPr>
            <p:nvPr/>
          </p:nvSpPr>
          <p:spPr bwMode="auto">
            <a:xfrm>
              <a:off x="1463" y="1848"/>
              <a:ext cx="1077"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170A8E"/>
                  </a:solidFill>
                  <a:latin typeface="Times New Roman" panose="02020603050405020304" pitchFamily="18" charset="0"/>
                  <a:ea typeface="楷体_GB2312" pitchFamily="49" charset="-122"/>
                </a:rPr>
                <a:t>触发输入</a:t>
              </a:r>
              <a:r>
                <a:rPr lang="en-US" altLang="zh-CN" sz="2400" b="1" dirty="0">
                  <a:solidFill>
                    <a:srgbClr val="170A8E"/>
                  </a:solidFill>
                  <a:latin typeface="Times New Roman" panose="02020603050405020304" pitchFamily="18" charset="0"/>
                  <a:ea typeface="楷体_GB2312" pitchFamily="49" charset="-122"/>
                </a:rPr>
                <a:t>(TR)</a:t>
              </a:r>
              <a:endParaRPr lang="en-US" altLang="zh-CN" sz="2400" b="1" dirty="0">
                <a:solidFill>
                  <a:srgbClr val="170A8E"/>
                </a:solidFill>
                <a:latin typeface="Times New Roman" panose="02020603050405020304" pitchFamily="18" charset="0"/>
                <a:ea typeface="楷体_GB2312" pitchFamily="49" charset="-122"/>
              </a:endParaRPr>
            </a:p>
          </p:txBody>
        </p:sp>
        <p:sp>
          <p:nvSpPr>
            <p:cNvPr id="81" name="Rectangle 28"/>
            <p:cNvSpPr>
              <a:spLocks noChangeArrowheads="1"/>
            </p:cNvSpPr>
            <p:nvPr/>
          </p:nvSpPr>
          <p:spPr bwMode="auto">
            <a:xfrm>
              <a:off x="385" y="1848"/>
              <a:ext cx="1106"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170A8E"/>
                  </a:solidFill>
                  <a:latin typeface="Times New Roman" panose="02020603050405020304" pitchFamily="18" charset="0"/>
                  <a:ea typeface="楷体_GB2312" pitchFamily="49" charset="-122"/>
                </a:rPr>
                <a:t>阈值输入</a:t>
              </a:r>
              <a:r>
                <a:rPr lang="en-US" altLang="zh-CN" sz="2400" b="1" dirty="0">
                  <a:solidFill>
                    <a:srgbClr val="170A8E"/>
                  </a:solidFill>
                  <a:latin typeface="Times New Roman" panose="02020603050405020304" pitchFamily="18" charset="0"/>
                  <a:ea typeface="楷体_GB2312" pitchFamily="49" charset="-122"/>
                </a:rPr>
                <a:t>(</a:t>
              </a:r>
              <a:r>
                <a:rPr lang="en-US" altLang="zh-CN" sz="2400" b="1" i="1" dirty="0">
                  <a:solidFill>
                    <a:srgbClr val="170A8E"/>
                  </a:solidFill>
                  <a:latin typeface="Times New Roman" panose="02020603050405020304" pitchFamily="18" charset="0"/>
                  <a:ea typeface="楷体_GB2312" pitchFamily="49" charset="-122"/>
                </a:rPr>
                <a:t>TH</a:t>
              </a:r>
              <a:r>
                <a:rPr lang="en-US" altLang="zh-CN" sz="2400" b="1" dirty="0">
                  <a:solidFill>
                    <a:srgbClr val="170A8E"/>
                  </a:solidFill>
                  <a:latin typeface="Times New Roman" panose="02020603050405020304" pitchFamily="18" charset="0"/>
                  <a:ea typeface="楷体_GB2312" pitchFamily="49" charset="-122"/>
                </a:rPr>
                <a:t>)</a:t>
              </a:r>
              <a:endParaRPr lang="en-US" altLang="zh-CN" sz="2400" b="1" dirty="0">
                <a:solidFill>
                  <a:srgbClr val="170A8E"/>
                </a:solidFill>
                <a:latin typeface="Times New Roman" panose="02020603050405020304" pitchFamily="18" charset="0"/>
                <a:ea typeface="楷体_GB2312" pitchFamily="49" charset="-122"/>
              </a:endParaRPr>
            </a:p>
          </p:txBody>
        </p:sp>
        <p:sp>
          <p:nvSpPr>
            <p:cNvPr id="82" name="Rectangle 29"/>
            <p:cNvSpPr>
              <a:spLocks noChangeArrowheads="1"/>
            </p:cNvSpPr>
            <p:nvPr/>
          </p:nvSpPr>
          <p:spPr bwMode="auto">
            <a:xfrm>
              <a:off x="3390" y="1451"/>
              <a:ext cx="1422"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endParaRPr lang="zh-CN" altLang="en-US" sz="2800" b="1" dirty="0">
                <a:solidFill>
                  <a:srgbClr val="0000FF"/>
                </a:solidFill>
                <a:latin typeface="Times New Roman" panose="02020603050405020304" pitchFamily="18" charset="0"/>
                <a:ea typeface="楷体_GB2312" pitchFamily="49" charset="-122"/>
              </a:endParaRPr>
            </a:p>
          </p:txBody>
        </p:sp>
        <p:sp>
          <p:nvSpPr>
            <p:cNvPr id="83" name="Rectangle 30"/>
            <p:cNvSpPr>
              <a:spLocks noChangeArrowheads="1"/>
            </p:cNvSpPr>
            <p:nvPr/>
          </p:nvSpPr>
          <p:spPr bwMode="auto">
            <a:xfrm>
              <a:off x="385" y="1451"/>
              <a:ext cx="3005"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a:tabLst>
                  <a:tab pos="5220970" algn="r"/>
                </a:tabLst>
                <a:defRPr>
                  <a:solidFill>
                    <a:schemeClr val="tx1"/>
                  </a:solidFill>
                  <a:latin typeface="Arial" panose="020B0604020202020204" pitchFamily="34" charset="0"/>
                  <a:ea typeface="宋体" panose="02010600030101010101" pitchFamily="2" charset="-122"/>
                </a:defRPr>
              </a:lvl1pPr>
              <a:lvl2pPr marL="742950" indent="-285750">
                <a:tabLst>
                  <a:tab pos="5220970" algn="r"/>
                </a:tabLst>
                <a:defRPr>
                  <a:solidFill>
                    <a:schemeClr val="tx1"/>
                  </a:solidFill>
                  <a:latin typeface="Arial" panose="020B0604020202020204" pitchFamily="34" charset="0"/>
                  <a:ea typeface="宋体" panose="02010600030101010101" pitchFamily="2" charset="-122"/>
                </a:defRPr>
              </a:lvl2pPr>
              <a:lvl3pPr marL="1143000" indent="-228600">
                <a:tabLst>
                  <a:tab pos="5220970" algn="r"/>
                </a:tabLst>
                <a:defRPr>
                  <a:solidFill>
                    <a:schemeClr val="tx1"/>
                  </a:solidFill>
                  <a:latin typeface="Arial" panose="020B0604020202020204" pitchFamily="34" charset="0"/>
                  <a:ea typeface="宋体" panose="02010600030101010101" pitchFamily="2" charset="-122"/>
                </a:defRPr>
              </a:lvl3pPr>
              <a:lvl4pPr marL="1600200" indent="-228600">
                <a:tabLst>
                  <a:tab pos="5220970" algn="r"/>
                </a:tabLst>
                <a:defRPr>
                  <a:solidFill>
                    <a:schemeClr val="tx1"/>
                  </a:solidFill>
                  <a:latin typeface="Arial" panose="020B0604020202020204" pitchFamily="34" charset="0"/>
                  <a:ea typeface="宋体" panose="02010600030101010101" pitchFamily="2" charset="-122"/>
                </a:defRPr>
              </a:lvl4pPr>
              <a:lvl5pPr marL="2057400" indent="-228600">
                <a:tabLst>
                  <a:tab pos="5220970"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522097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800" b="1" dirty="0">
                  <a:solidFill>
                    <a:srgbClr val="0000FF"/>
                  </a:solidFill>
                  <a:latin typeface="Times New Roman" panose="02020603050405020304" pitchFamily="18" charset="0"/>
                  <a:ea typeface="楷体_GB2312" pitchFamily="49" charset="-122"/>
                </a:rPr>
                <a:t>输      入</a:t>
              </a:r>
              <a:endParaRPr lang="zh-CN" altLang="en-US" sz="2800" b="1" dirty="0">
                <a:solidFill>
                  <a:srgbClr val="0000FF"/>
                </a:solidFill>
                <a:latin typeface="Times New Roman" panose="02020603050405020304" pitchFamily="18" charset="0"/>
                <a:ea typeface="楷体_GB2312" pitchFamily="49" charset="-122"/>
              </a:endParaRPr>
            </a:p>
          </p:txBody>
        </p:sp>
        <p:sp>
          <p:nvSpPr>
            <p:cNvPr id="84" name="Line 31"/>
            <p:cNvSpPr>
              <a:spLocks noChangeShapeType="1"/>
            </p:cNvSpPr>
            <p:nvPr/>
          </p:nvSpPr>
          <p:spPr bwMode="auto">
            <a:xfrm>
              <a:off x="385" y="1451"/>
              <a:ext cx="4427" cy="0"/>
            </a:xfrm>
            <a:prstGeom prst="line">
              <a:avLst/>
            </a:prstGeom>
            <a:noFill/>
            <a:ln w="1905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85" name="Line 32"/>
            <p:cNvSpPr>
              <a:spLocks noChangeShapeType="1"/>
            </p:cNvSpPr>
            <p:nvPr/>
          </p:nvSpPr>
          <p:spPr bwMode="auto">
            <a:xfrm>
              <a:off x="385" y="3804"/>
              <a:ext cx="4427" cy="0"/>
            </a:xfrm>
            <a:prstGeom prst="line">
              <a:avLst/>
            </a:prstGeom>
            <a:noFill/>
            <a:ln w="1905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86" name="Line 33"/>
            <p:cNvSpPr>
              <a:spLocks noChangeShapeType="1"/>
            </p:cNvSpPr>
            <p:nvPr/>
          </p:nvSpPr>
          <p:spPr bwMode="auto">
            <a:xfrm>
              <a:off x="385" y="1451"/>
              <a:ext cx="0" cy="397"/>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87" name="Line 34"/>
            <p:cNvSpPr>
              <a:spLocks noChangeShapeType="1"/>
            </p:cNvSpPr>
            <p:nvPr/>
          </p:nvSpPr>
          <p:spPr bwMode="auto">
            <a:xfrm>
              <a:off x="385" y="1848"/>
              <a:ext cx="4427" cy="0"/>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88" name="Line 35"/>
            <p:cNvSpPr>
              <a:spLocks noChangeShapeType="1"/>
            </p:cNvSpPr>
            <p:nvPr/>
          </p:nvSpPr>
          <p:spPr bwMode="auto">
            <a:xfrm>
              <a:off x="385" y="1848"/>
              <a:ext cx="0" cy="1985"/>
            </a:xfrm>
            <a:prstGeom prst="line">
              <a:avLst/>
            </a:prstGeom>
            <a:noFill/>
            <a:ln w="1905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89" name="Line 36"/>
            <p:cNvSpPr>
              <a:spLocks noChangeShapeType="1"/>
            </p:cNvSpPr>
            <p:nvPr/>
          </p:nvSpPr>
          <p:spPr bwMode="auto">
            <a:xfrm>
              <a:off x="3390" y="1451"/>
              <a:ext cx="0" cy="2353"/>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90" name="Line 37"/>
            <p:cNvSpPr>
              <a:spLocks noChangeShapeType="1"/>
            </p:cNvSpPr>
            <p:nvPr/>
          </p:nvSpPr>
          <p:spPr bwMode="auto">
            <a:xfrm>
              <a:off x="385" y="2273"/>
              <a:ext cx="4427" cy="0"/>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91" name="Line 38"/>
            <p:cNvSpPr>
              <a:spLocks noChangeShapeType="1"/>
            </p:cNvSpPr>
            <p:nvPr/>
          </p:nvSpPr>
          <p:spPr bwMode="auto">
            <a:xfrm>
              <a:off x="1491" y="1848"/>
              <a:ext cx="0" cy="1956"/>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92" name="Line 39"/>
            <p:cNvSpPr>
              <a:spLocks noChangeShapeType="1"/>
            </p:cNvSpPr>
            <p:nvPr/>
          </p:nvSpPr>
          <p:spPr bwMode="auto">
            <a:xfrm>
              <a:off x="2511" y="1848"/>
              <a:ext cx="0" cy="1956"/>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93" name="Line 40"/>
            <p:cNvSpPr>
              <a:spLocks noChangeShapeType="1"/>
            </p:cNvSpPr>
            <p:nvPr/>
          </p:nvSpPr>
          <p:spPr bwMode="auto">
            <a:xfrm>
              <a:off x="4099" y="1848"/>
              <a:ext cx="0" cy="1956"/>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94" name="Line 41"/>
            <p:cNvSpPr>
              <a:spLocks noChangeShapeType="1"/>
            </p:cNvSpPr>
            <p:nvPr/>
          </p:nvSpPr>
          <p:spPr bwMode="auto">
            <a:xfrm>
              <a:off x="385" y="2642"/>
              <a:ext cx="4427" cy="0"/>
            </a:xfrm>
            <a:prstGeom prst="line">
              <a:avLst/>
            </a:prstGeom>
            <a:noFill/>
            <a:ln w="1905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95" name="Line 42"/>
            <p:cNvSpPr>
              <a:spLocks noChangeShapeType="1"/>
            </p:cNvSpPr>
            <p:nvPr/>
          </p:nvSpPr>
          <p:spPr bwMode="auto">
            <a:xfrm>
              <a:off x="385" y="3031"/>
              <a:ext cx="4427" cy="0"/>
            </a:xfrm>
            <a:prstGeom prst="line">
              <a:avLst/>
            </a:prstGeom>
            <a:noFill/>
            <a:ln w="1905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sp>
          <p:nvSpPr>
            <p:cNvPr id="96" name="Line 43"/>
            <p:cNvSpPr>
              <a:spLocks noChangeShapeType="1"/>
            </p:cNvSpPr>
            <p:nvPr/>
          </p:nvSpPr>
          <p:spPr bwMode="auto">
            <a:xfrm>
              <a:off x="385" y="3428"/>
              <a:ext cx="4427" cy="0"/>
            </a:xfrm>
            <a:prstGeom prst="line">
              <a:avLst/>
            </a:prstGeom>
            <a:noFill/>
            <a:ln w="19050" cap="rnd">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graphicFrame>
          <p:nvGraphicFramePr>
            <p:cNvPr id="97" name="Object 2"/>
            <p:cNvGraphicFramePr>
              <a:graphicFrameLocks noChangeAspect="1"/>
            </p:cNvGraphicFramePr>
            <p:nvPr/>
          </p:nvGraphicFramePr>
          <p:xfrm>
            <a:off x="1656" y="3420"/>
            <a:ext cx="640" cy="426"/>
          </p:xfrm>
          <a:graphic>
            <a:graphicData uri="http://schemas.openxmlformats.org/presentationml/2006/ole">
              <mc:AlternateContent xmlns:mc="http://schemas.openxmlformats.org/markup-compatibility/2006">
                <mc:Choice xmlns:v="urn:schemas-microsoft-com:vml" Requires="v">
                  <p:oleObj spid="_x0000_s18440" name="Equation" r:id="rId2" imgW="508000" imgH="406400" progId="Equation.3">
                    <p:embed/>
                  </p:oleObj>
                </mc:Choice>
                <mc:Fallback>
                  <p:oleObj name="Equation" r:id="rId2" imgW="508000" imgH="406400" progId="Equation.3">
                    <p:embed/>
                    <p:pic>
                      <p:nvPicPr>
                        <p:cNvPr id="0" name="图片 184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 y="3420"/>
                          <a:ext cx="640" cy="426"/>
                        </a:xfrm>
                        <a:prstGeom prst="rect">
                          <a:avLst/>
                        </a:prstGeom>
                        <a:noFill/>
                        <a:ln>
                          <a:noFill/>
                        </a:ln>
                        <a:extLst>
                          <a:ext uri="{909E8E84-426E-40DD-AFC4-6F175D3DCCD1}">
                            <a14:hiddenFill xmlns:a14="http://schemas.microsoft.com/office/drawing/2010/main">
                              <a:solidFill>
                                <a:srgbClr val="99FF66"/>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98" name="Object 3"/>
            <p:cNvGraphicFramePr>
              <a:graphicFrameLocks noChangeAspect="1"/>
            </p:cNvGraphicFramePr>
            <p:nvPr/>
          </p:nvGraphicFramePr>
          <p:xfrm>
            <a:off x="1653" y="2605"/>
            <a:ext cx="640" cy="426"/>
          </p:xfrm>
          <a:graphic>
            <a:graphicData uri="http://schemas.openxmlformats.org/presentationml/2006/ole">
              <mc:AlternateContent xmlns:mc="http://schemas.openxmlformats.org/markup-compatibility/2006">
                <mc:Choice xmlns:v="urn:schemas-microsoft-com:vml" Requires="v">
                  <p:oleObj spid="_x0000_s18441" name="Equation" r:id="rId4" imgW="508000" imgH="406400" progId="Equation.3">
                    <p:embed/>
                  </p:oleObj>
                </mc:Choice>
                <mc:Fallback>
                  <p:oleObj name="Equation" r:id="rId4" imgW="508000" imgH="406400" progId="Equation.3">
                    <p:embed/>
                    <p:pic>
                      <p:nvPicPr>
                        <p:cNvPr id="0" name="图片 184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3" y="2605"/>
                          <a:ext cx="640" cy="426"/>
                        </a:xfrm>
                        <a:prstGeom prst="rect">
                          <a:avLst/>
                        </a:prstGeom>
                        <a:noFill/>
                        <a:ln>
                          <a:noFill/>
                        </a:ln>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99" name="Object 4"/>
            <p:cNvGraphicFramePr>
              <a:graphicFrameLocks noChangeAspect="1"/>
            </p:cNvGraphicFramePr>
            <p:nvPr/>
          </p:nvGraphicFramePr>
          <p:xfrm>
            <a:off x="1645" y="3009"/>
            <a:ext cx="640" cy="426"/>
          </p:xfrm>
          <a:graphic>
            <a:graphicData uri="http://schemas.openxmlformats.org/presentationml/2006/ole">
              <mc:AlternateContent xmlns:mc="http://schemas.openxmlformats.org/markup-compatibility/2006">
                <mc:Choice xmlns:v="urn:schemas-microsoft-com:vml" Requires="v">
                  <p:oleObj spid="_x0000_s18442" name="Equation" r:id="rId6" imgW="508000" imgH="406400" progId="Equation.3">
                    <p:embed/>
                  </p:oleObj>
                </mc:Choice>
                <mc:Fallback>
                  <p:oleObj name="Equation" r:id="rId6" imgW="508000" imgH="406400" progId="Equation.3">
                    <p:embed/>
                    <p:pic>
                      <p:nvPicPr>
                        <p:cNvPr id="0" name="图片 184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5" y="3009"/>
                          <a:ext cx="640" cy="426"/>
                        </a:xfrm>
                        <a:prstGeom prst="rect">
                          <a:avLst/>
                        </a:prstGeom>
                        <a:noFill/>
                        <a:ln>
                          <a:noFill/>
                        </a:ln>
                        <a:extLst>
                          <a:ext uri="{909E8E84-426E-40DD-AFC4-6F175D3DCCD1}">
                            <a14:hiddenFill xmlns:a14="http://schemas.microsoft.com/office/drawing/2010/main">
                              <a:solidFill>
                                <a:srgbClr val="99FF66"/>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100" name="Object 5"/>
            <p:cNvGraphicFramePr>
              <a:graphicFrameLocks noChangeAspect="1"/>
            </p:cNvGraphicFramePr>
            <p:nvPr/>
          </p:nvGraphicFramePr>
          <p:xfrm>
            <a:off x="630" y="3399"/>
            <a:ext cx="537" cy="429"/>
          </p:xfrm>
          <a:graphic>
            <a:graphicData uri="http://schemas.openxmlformats.org/presentationml/2006/ole">
              <mc:AlternateContent xmlns:mc="http://schemas.openxmlformats.org/markup-compatibility/2006">
                <mc:Choice xmlns:v="urn:schemas-microsoft-com:vml" Requires="v">
                  <p:oleObj spid="_x0000_s18443" name="Equation" r:id="rId8" imgW="508000" imgH="406400" progId="Equation.3">
                    <p:embed/>
                  </p:oleObj>
                </mc:Choice>
                <mc:Fallback>
                  <p:oleObj name="Equation" r:id="rId8" imgW="508000" imgH="406400" progId="Equation.3">
                    <p:embed/>
                    <p:pic>
                      <p:nvPicPr>
                        <p:cNvPr id="0" name="图片 184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0" y="3399"/>
                          <a:ext cx="537" cy="429"/>
                        </a:xfrm>
                        <a:prstGeom prst="rect">
                          <a:avLst/>
                        </a:prstGeom>
                        <a:noFill/>
                        <a:ln>
                          <a:noFill/>
                        </a:ln>
                        <a:extLst>
                          <a:ext uri="{909E8E84-426E-40DD-AFC4-6F175D3DCCD1}">
                            <a14:hiddenFill xmlns:a14="http://schemas.microsoft.com/office/drawing/2010/main">
                              <a:solidFill>
                                <a:srgbClr val="99FF66"/>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101" name="Object 6"/>
            <p:cNvGraphicFramePr>
              <a:graphicFrameLocks noChangeAspect="1"/>
            </p:cNvGraphicFramePr>
            <p:nvPr/>
          </p:nvGraphicFramePr>
          <p:xfrm>
            <a:off x="640" y="2602"/>
            <a:ext cx="537" cy="429"/>
          </p:xfrm>
          <a:graphic>
            <a:graphicData uri="http://schemas.openxmlformats.org/presentationml/2006/ole">
              <mc:AlternateContent xmlns:mc="http://schemas.openxmlformats.org/markup-compatibility/2006">
                <mc:Choice xmlns:v="urn:schemas-microsoft-com:vml" Requires="v">
                  <p:oleObj spid="_x0000_s18444" name="Equation" r:id="rId10" imgW="508000" imgH="406400" progId="Equation.3">
                    <p:embed/>
                  </p:oleObj>
                </mc:Choice>
                <mc:Fallback>
                  <p:oleObj name="Equation" r:id="rId10" imgW="508000" imgH="406400" progId="Equation.3">
                    <p:embed/>
                    <p:pic>
                      <p:nvPicPr>
                        <p:cNvPr id="0" name="图片 184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0" y="2602"/>
                          <a:ext cx="537" cy="429"/>
                        </a:xfrm>
                        <a:prstGeom prst="rect">
                          <a:avLst/>
                        </a:prstGeom>
                        <a:noFill/>
                        <a:ln>
                          <a:noFill/>
                        </a:ln>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102" name="Object 7"/>
            <p:cNvGraphicFramePr>
              <a:graphicFrameLocks noChangeAspect="1"/>
            </p:cNvGraphicFramePr>
            <p:nvPr/>
          </p:nvGraphicFramePr>
          <p:xfrm>
            <a:off x="620" y="2995"/>
            <a:ext cx="537" cy="429"/>
          </p:xfrm>
          <a:graphic>
            <a:graphicData uri="http://schemas.openxmlformats.org/presentationml/2006/ole">
              <mc:AlternateContent xmlns:mc="http://schemas.openxmlformats.org/markup-compatibility/2006">
                <mc:Choice xmlns:v="urn:schemas-microsoft-com:vml" Requires="v">
                  <p:oleObj spid="_x0000_s18445" name="Equation" r:id="rId12" imgW="508000" imgH="406400" progId="Equation.3">
                    <p:embed/>
                  </p:oleObj>
                </mc:Choice>
                <mc:Fallback>
                  <p:oleObj name="Equation" r:id="rId12" imgW="508000" imgH="406400" progId="Equation.3">
                    <p:embed/>
                    <p:pic>
                      <p:nvPicPr>
                        <p:cNvPr id="0" name="图片 184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0" y="2995"/>
                          <a:ext cx="537" cy="429"/>
                        </a:xfrm>
                        <a:prstGeom prst="rect">
                          <a:avLst/>
                        </a:prstGeom>
                        <a:noFill/>
                        <a:ln>
                          <a:noFill/>
                        </a:ln>
                        <a:extLst>
                          <a:ext uri="{909E8E84-426E-40DD-AFC4-6F175D3DCCD1}">
                            <a14:hiddenFill xmlns:a14="http://schemas.microsoft.com/office/drawing/2010/main">
                              <a:solidFill>
                                <a:srgbClr val="99FF66"/>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103" name="Line 50"/>
            <p:cNvSpPr>
              <a:spLocks noChangeShapeType="1"/>
            </p:cNvSpPr>
            <p:nvPr/>
          </p:nvSpPr>
          <p:spPr bwMode="auto">
            <a:xfrm>
              <a:off x="4808" y="1451"/>
              <a:ext cx="0" cy="235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endParaRPr>
            </a:p>
          </p:txBody>
        </p:sp>
      </p:grpSp>
      <p:sp>
        <p:nvSpPr>
          <p:cNvPr id="104" name="Line 84"/>
          <p:cNvSpPr>
            <a:spLocks noChangeShapeType="1"/>
          </p:cNvSpPr>
          <p:nvPr/>
        </p:nvSpPr>
        <p:spPr bwMode="auto">
          <a:xfrm flipV="1">
            <a:off x="3256547" y="2715126"/>
            <a:ext cx="360943" cy="0"/>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
        <p:nvSpPr>
          <p:cNvPr id="105" name="Line 84"/>
          <p:cNvSpPr>
            <a:spLocks noChangeShapeType="1"/>
          </p:cNvSpPr>
          <p:nvPr/>
        </p:nvSpPr>
        <p:spPr bwMode="auto">
          <a:xfrm flipV="1">
            <a:off x="5197641" y="2546684"/>
            <a:ext cx="360943" cy="0"/>
          </a:xfrm>
          <a:prstGeom prst="line">
            <a:avLst/>
          </a:prstGeom>
          <a:noFill/>
          <a:ln w="28575">
            <a:solidFill>
              <a:srgbClr val="170A8E"/>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fld id="{F4B223A3-5F47-4763-9C76-565404C54D35}" type="slidenum">
              <a:rPr lang="en-US" altLang="zh-CN" i="0">
                <a:latin typeface="Times New Roman" panose="02020603050405020304" pitchFamily="18" charset="0"/>
              </a:rPr>
            </a:fld>
            <a:endParaRPr lang="en-US" altLang="zh-CN" i="0">
              <a:latin typeface="Times New Roman" panose="02020603050405020304" pitchFamily="18" charset="0"/>
            </a:endParaRPr>
          </a:p>
        </p:txBody>
      </p:sp>
      <p:sp>
        <p:nvSpPr>
          <p:cNvPr id="262147" name="Text Box 3"/>
          <p:cNvSpPr txBox="1">
            <a:spLocks noChangeArrowheads="1"/>
          </p:cNvSpPr>
          <p:nvPr/>
        </p:nvSpPr>
        <p:spPr bwMode="auto">
          <a:xfrm>
            <a:off x="611188" y="836613"/>
            <a:ext cx="3746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400" b="1" i="0">
                <a:solidFill>
                  <a:srgbClr val="990000"/>
                </a:solidFill>
                <a:latin typeface="宋体" panose="02010600030101010101" pitchFamily="2" charset="-122"/>
                <a:cs typeface="Times New Roman" panose="02020603050405020304" pitchFamily="18" charset="0"/>
              </a:rPr>
              <a:t>二</a:t>
            </a:r>
            <a:r>
              <a:rPr kumimoji="1" lang="zh-CN" altLang="en-US" sz="2400" b="1" i="0">
                <a:solidFill>
                  <a:srgbClr val="990000"/>
                </a:solidFill>
                <a:latin typeface="宋体" panose="02010600030101010101" pitchFamily="2" charset="-122"/>
              </a:rPr>
              <a:t>、</a:t>
            </a:r>
            <a:r>
              <a:rPr kumimoji="1" lang="en-US" altLang="zh-CN" sz="2400" b="1" i="0">
                <a:solidFill>
                  <a:srgbClr val="990000"/>
                </a:solidFill>
                <a:latin typeface="宋体" panose="02010600030101010101" pitchFamily="2" charset="-122"/>
                <a:cs typeface="Times New Roman" panose="02020603050405020304" pitchFamily="18" charset="0"/>
              </a:rPr>
              <a:t>5G555</a:t>
            </a:r>
            <a:r>
              <a:rPr kumimoji="1" lang="zh-CN" altLang="en-US" sz="2400" b="1" i="0">
                <a:solidFill>
                  <a:srgbClr val="990000"/>
                </a:solidFill>
                <a:latin typeface="宋体" panose="02010600030101010101" pitchFamily="2" charset="-122"/>
                <a:cs typeface="Times New Roman" panose="02020603050405020304" pitchFamily="18" charset="0"/>
              </a:rPr>
              <a:t>的应用举例</a:t>
            </a:r>
            <a:r>
              <a:rPr kumimoji="1" lang="zh-CN" altLang="en-US" sz="2400" b="1" i="0">
                <a:latin typeface="宋体" panose="02010600030101010101" pitchFamily="2" charset="-122"/>
                <a:cs typeface="Times New Roman" panose="02020603050405020304" pitchFamily="18" charset="0"/>
              </a:rPr>
              <a:t> </a:t>
            </a:r>
            <a:endParaRPr kumimoji="1" lang="zh-CN" altLang="en-US" sz="2400" b="1" i="0">
              <a:latin typeface="宋体" panose="02010600030101010101" pitchFamily="2" charset="-122"/>
              <a:cs typeface="Times New Roman" panose="02020603050405020304" pitchFamily="18" charset="0"/>
            </a:endParaRPr>
          </a:p>
        </p:txBody>
      </p:sp>
      <p:sp>
        <p:nvSpPr>
          <p:cNvPr id="262148" name="Text Box 4"/>
          <p:cNvSpPr txBox="1">
            <a:spLocks noChangeArrowheads="1"/>
          </p:cNvSpPr>
          <p:nvPr/>
        </p:nvSpPr>
        <p:spPr bwMode="auto">
          <a:xfrm>
            <a:off x="611188" y="1341438"/>
            <a:ext cx="8077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400" b="1" i="0">
                <a:latin typeface="宋体" panose="02010600030101010101" pitchFamily="2" charset="-122"/>
                <a:cs typeface="Times New Roman" panose="02020603050405020304" pitchFamily="18" charset="0"/>
              </a:rPr>
              <a:t>　　由于</a:t>
            </a:r>
            <a:r>
              <a:rPr kumimoji="1" lang="en-US" altLang="zh-CN" sz="2400" b="1" i="0">
                <a:latin typeface="宋体" panose="02010600030101010101" pitchFamily="2" charset="-122"/>
                <a:cs typeface="Times New Roman" panose="02020603050405020304" pitchFamily="18" charset="0"/>
              </a:rPr>
              <a:t>5G555</a:t>
            </a:r>
            <a:r>
              <a:rPr kumimoji="1" lang="zh-CN" altLang="en-US" sz="2400" b="1" i="0">
                <a:latin typeface="宋体" panose="02010600030101010101" pitchFamily="2" charset="-122"/>
                <a:cs typeface="Times New Roman" panose="02020603050405020304" pitchFamily="18" charset="0"/>
              </a:rPr>
              <a:t>具有电源范围宽、定时精度高、使用方法灵活、带负载能力强等特点，所以它在脉冲信号产生、定时与整形等方面的应用非常广泛。 </a:t>
            </a:r>
            <a:endParaRPr kumimoji="1" lang="zh-CN" altLang="en-US" sz="2400" b="1" i="0">
              <a:latin typeface="宋体" panose="02010600030101010101" pitchFamily="2" charset="-122"/>
              <a:cs typeface="Times New Roman" panose="02020603050405020304" pitchFamily="18" charset="0"/>
            </a:endParaRPr>
          </a:p>
        </p:txBody>
      </p:sp>
      <p:sp>
        <p:nvSpPr>
          <p:cNvPr id="262149" name="Text Box 5"/>
          <p:cNvSpPr txBox="1">
            <a:spLocks noChangeArrowheads="1"/>
          </p:cNvSpPr>
          <p:nvPr/>
        </p:nvSpPr>
        <p:spPr bwMode="auto">
          <a:xfrm>
            <a:off x="609600" y="39624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b="1" i="0" dirty="0">
                <a:solidFill>
                  <a:schemeClr val="tx2"/>
                </a:solidFill>
                <a:latin typeface="宋体" panose="02010600030101010101" pitchFamily="2" charset="-122"/>
                <a:cs typeface="Times New Roman" panose="02020603050405020304" pitchFamily="18" charset="0"/>
              </a:rPr>
              <a:t>    </a:t>
            </a:r>
            <a:r>
              <a:rPr kumimoji="1" lang="en-US" altLang="zh-CN" sz="2400" b="1" i="0" dirty="0">
                <a:solidFill>
                  <a:srgbClr val="0000CC"/>
                </a:solidFill>
                <a:latin typeface="宋体" panose="02010600030101010101" pitchFamily="2" charset="-122"/>
                <a:cs typeface="Times New Roman" panose="02020603050405020304" pitchFamily="18" charset="0"/>
              </a:rPr>
              <a:t>1</a:t>
            </a:r>
            <a:r>
              <a:rPr kumimoji="1" lang="zh-CN" altLang="en-US" sz="2400" b="1" i="0" dirty="0">
                <a:solidFill>
                  <a:srgbClr val="0000CC"/>
                </a:solidFill>
                <a:latin typeface="宋体" panose="02010600030101010101" pitchFamily="2" charset="-122"/>
                <a:cs typeface="Times New Roman" panose="02020603050405020304" pitchFamily="18" charset="0"/>
              </a:rPr>
              <a:t>．用</a:t>
            </a:r>
            <a:r>
              <a:rPr kumimoji="1" lang="en-US" altLang="zh-CN" sz="2400" b="1" i="0" dirty="0">
                <a:solidFill>
                  <a:srgbClr val="0000CC"/>
                </a:solidFill>
                <a:latin typeface="宋体" panose="02010600030101010101" pitchFamily="2" charset="-122"/>
                <a:cs typeface="Times New Roman" panose="02020603050405020304" pitchFamily="18" charset="0"/>
              </a:rPr>
              <a:t>5G555</a:t>
            </a:r>
            <a:r>
              <a:rPr kumimoji="1" lang="zh-CN" altLang="en-US" sz="2400" b="1" i="0" dirty="0">
                <a:solidFill>
                  <a:srgbClr val="0000CC"/>
                </a:solidFill>
                <a:latin typeface="宋体" panose="02010600030101010101" pitchFamily="2" charset="-122"/>
                <a:cs typeface="Times New Roman" panose="02020603050405020304" pitchFamily="18" charset="0"/>
              </a:rPr>
              <a:t>构成多谐振荡器 </a:t>
            </a:r>
            <a:endParaRPr kumimoji="1" lang="zh-CN" altLang="en-US" sz="2400" b="1" i="0" dirty="0">
              <a:solidFill>
                <a:srgbClr val="0000CC"/>
              </a:solidFill>
              <a:latin typeface="宋体" panose="02010600030101010101" pitchFamily="2" charset="-122"/>
              <a:cs typeface="Times New Roman" panose="02020603050405020304" pitchFamily="18" charset="0"/>
            </a:endParaRPr>
          </a:p>
        </p:txBody>
      </p:sp>
      <p:sp>
        <p:nvSpPr>
          <p:cNvPr id="262150" name="Text Box 6"/>
          <p:cNvSpPr txBox="1">
            <a:spLocks noChangeArrowheads="1"/>
          </p:cNvSpPr>
          <p:nvPr/>
        </p:nvSpPr>
        <p:spPr bwMode="auto">
          <a:xfrm>
            <a:off x="762000" y="4800600"/>
            <a:ext cx="83820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lnSpc>
                <a:spcPct val="60000"/>
              </a:lnSpc>
              <a:spcBef>
                <a:spcPct val="50000"/>
              </a:spcBef>
            </a:pPr>
            <a:r>
              <a:rPr kumimoji="1" lang="zh-CN" altLang="en-US" sz="2400" b="1" i="0">
                <a:solidFill>
                  <a:schemeClr val="tx2"/>
                </a:solidFill>
                <a:latin typeface="宋体" panose="02010600030101010101" pitchFamily="2" charset="-122"/>
                <a:cs typeface="Times New Roman" panose="02020603050405020304" pitchFamily="18" charset="0"/>
              </a:rPr>
              <a:t>　　多谐振荡器又称矩形波发生器，它有两个暂稳态，电</a:t>
            </a:r>
            <a:endParaRPr kumimoji="1" lang="zh-CN" altLang="en-US" sz="2400" b="1" i="0">
              <a:solidFill>
                <a:schemeClr val="tx2"/>
              </a:solidFill>
              <a:latin typeface="宋体" panose="02010600030101010101" pitchFamily="2" charset="-122"/>
              <a:cs typeface="Times New Roman" panose="02020603050405020304" pitchFamily="18" charset="0"/>
            </a:endParaRPr>
          </a:p>
          <a:p>
            <a:pPr algn="just" eaLnBrk="1" hangingPunct="1">
              <a:lnSpc>
                <a:spcPct val="60000"/>
              </a:lnSpc>
              <a:spcBef>
                <a:spcPct val="50000"/>
              </a:spcBef>
            </a:pPr>
            <a:r>
              <a:rPr kumimoji="1" lang="zh-CN" altLang="en-US" sz="2400" b="1" i="0">
                <a:solidFill>
                  <a:schemeClr val="tx2"/>
                </a:solidFill>
                <a:latin typeface="宋体" panose="02010600030101010101" pitchFamily="2" charset="-122"/>
                <a:cs typeface="Times New Roman" panose="02020603050405020304" pitchFamily="18" charset="0"/>
              </a:rPr>
              <a:t>路一旦起振，两个暂稳态就交替变化，输出矩形脉冲信号。 </a:t>
            </a:r>
            <a:endParaRPr kumimoji="1" lang="zh-CN" altLang="en-US" sz="2400" b="1" i="0">
              <a:solidFill>
                <a:schemeClr val="tx2"/>
              </a:solidFill>
              <a:latin typeface="宋体" panose="02010600030101010101" pitchFamily="2" charset="-122"/>
              <a:cs typeface="Times New Roman" panose="02020603050405020304" pitchFamily="18" charset="0"/>
            </a:endParaRPr>
          </a:p>
        </p:txBody>
      </p:sp>
      <p:sp>
        <p:nvSpPr>
          <p:cNvPr id="8" name="文本框 7"/>
          <p:cNvSpPr txBox="1"/>
          <p:nvPr/>
        </p:nvSpPr>
        <p:spPr>
          <a:xfrm>
            <a:off x="1907704" y="2579508"/>
            <a:ext cx="4572000" cy="1200329"/>
          </a:xfrm>
          <a:prstGeom prst="rect">
            <a:avLst/>
          </a:prstGeom>
          <a:noFill/>
        </p:spPr>
        <p:txBody>
          <a:bodyPr wrap="square">
            <a:spAutoFit/>
          </a:bodyPr>
          <a:lstStyle/>
          <a:p>
            <a:pPr marL="1104900" lvl="1" indent="-533400">
              <a:buFont typeface="Wingdings" panose="05000000000000000000" pitchFamily="2" charset="2"/>
              <a:buAutoNum type="arabicPeriod"/>
            </a:pPr>
            <a:r>
              <a:rPr lang="zh-CN" altLang="ru-RU" sz="2400" dirty="0">
                <a:effectLst>
                  <a:outerShdw blurRad="38100" dist="38100" dir="2700000" algn="tl">
                    <a:srgbClr val="C0C0C0"/>
                  </a:outerShdw>
                </a:effectLst>
                <a:ea typeface="楷体_GB2312" pitchFamily="49" charset="-122"/>
              </a:rPr>
              <a:t>构成多谐振荡器</a:t>
            </a:r>
            <a:endParaRPr lang="zh-CN" altLang="ru-RU" sz="2400" dirty="0">
              <a:effectLst>
                <a:outerShdw blurRad="38100" dist="38100" dir="2700000" algn="tl">
                  <a:srgbClr val="C0C0C0"/>
                </a:outerShdw>
              </a:effectLst>
              <a:ea typeface="楷体_GB2312" pitchFamily="49" charset="-122"/>
            </a:endParaRPr>
          </a:p>
          <a:p>
            <a:pPr marL="1104900" lvl="1" indent="-533400">
              <a:buFont typeface="Wingdings" panose="05000000000000000000" pitchFamily="2" charset="2"/>
              <a:buAutoNum type="arabicPeriod"/>
            </a:pPr>
            <a:r>
              <a:rPr lang="zh-CN" altLang="ru-RU" sz="2400" b="0" dirty="0">
                <a:effectLst>
                  <a:outerShdw blurRad="38100" dist="38100" dir="2700000" algn="tl">
                    <a:srgbClr val="C0C0C0"/>
                  </a:outerShdw>
                </a:effectLst>
                <a:latin typeface="楷体_GB2312" pitchFamily="49" charset="-122"/>
                <a:ea typeface="楷体_GB2312" pitchFamily="49" charset="-122"/>
              </a:rPr>
              <a:t>构成施密特触发器</a:t>
            </a:r>
            <a:endParaRPr lang="zh-CN" altLang="ru-RU" sz="2400" b="0" dirty="0">
              <a:effectLst>
                <a:outerShdw blurRad="38100" dist="38100" dir="2700000" algn="tl">
                  <a:srgbClr val="C0C0C0"/>
                </a:outerShdw>
              </a:effectLst>
              <a:latin typeface="楷体_GB2312" pitchFamily="49" charset="-122"/>
              <a:ea typeface="楷体_GB2312" pitchFamily="49" charset="-122"/>
            </a:endParaRPr>
          </a:p>
          <a:p>
            <a:pPr marL="1104900" lvl="1" indent="-533400">
              <a:buFont typeface="Wingdings" panose="05000000000000000000" pitchFamily="2" charset="2"/>
              <a:buAutoNum type="arabicPeriod"/>
            </a:pPr>
            <a:r>
              <a:rPr lang="zh-CN" altLang="ru-RU" sz="2400" b="0" dirty="0">
                <a:effectLst>
                  <a:outerShdw blurRad="38100" dist="38100" dir="2700000" algn="tl">
                    <a:srgbClr val="C0C0C0"/>
                  </a:outerShdw>
                </a:effectLst>
                <a:latin typeface="楷体_GB2312" pitchFamily="49" charset="-122"/>
                <a:ea typeface="楷体_GB2312" pitchFamily="49" charset="-122"/>
              </a:rPr>
              <a:t>构成单稳态触发器</a:t>
            </a:r>
            <a:endParaRPr lang="zh-CN" altLang="ru-RU" sz="2400" b="0" dirty="0">
              <a:effectLst>
                <a:outerShdw blurRad="38100" dist="38100" dir="2700000" algn="tl">
                  <a:srgbClr val="C0C0C0"/>
                </a:outerShdw>
              </a:effectLst>
              <a:latin typeface="楷体_GB2312" pitchFamily="49" charset="-122"/>
              <a:ea typeface="楷体_GB2312" pitchFamily="49" charset="-122"/>
            </a:endParaRPr>
          </a:p>
        </p:txBody>
      </p:sp>
      <p:cxnSp>
        <p:nvCxnSpPr>
          <p:cNvPr id="9" name="直接连接符 8"/>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1"/>
          <a:stretch>
            <a:fillRect/>
          </a:stretch>
        </p:blipFill>
        <p:spPr>
          <a:xfrm>
            <a:off x="0" y="0"/>
            <a:ext cx="1435167" cy="615323"/>
          </a:xfrm>
          <a:prstGeom prst="rect">
            <a:avLst/>
          </a:prstGeom>
        </p:spPr>
      </p:pic>
      <p:sp>
        <p:nvSpPr>
          <p:cNvPr id="11"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a:t>
            </a:r>
            <a:endParaRPr lang="zh-CN" altLang="en-US" sz="3200" b="1" dirty="0">
              <a:solidFill>
                <a:srgbClr val="0000FF"/>
              </a:solidFill>
              <a:latin typeface="Tahoma" panose="020B0604030504040204" pitchFamily="34"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262147"/>
                                        </p:tgtEl>
                                        <p:attrNameLst>
                                          <p:attrName>style.visibility</p:attrName>
                                        </p:attrNameLst>
                                      </p:cBhvr>
                                      <p:to>
                                        <p:strVal val="visible"/>
                                      </p:to>
                                    </p:set>
                                    <p:anim calcmode="lin" valueType="num">
                                      <p:cBhvr additive="base">
                                        <p:cTn id="7" dur="500" fill="hold"/>
                                        <p:tgtEl>
                                          <p:spTgt spid="262147"/>
                                        </p:tgtEl>
                                        <p:attrNameLst>
                                          <p:attrName>ppt_x</p:attrName>
                                        </p:attrNameLst>
                                      </p:cBhvr>
                                      <p:tavLst>
                                        <p:tav tm="0">
                                          <p:val>
                                            <p:strVal val="0-#ppt_w/2"/>
                                          </p:val>
                                        </p:tav>
                                        <p:tav tm="100000">
                                          <p:val>
                                            <p:strVal val="#ppt_x"/>
                                          </p:val>
                                        </p:tav>
                                      </p:tavLst>
                                    </p:anim>
                                    <p:anim calcmode="lin" valueType="num">
                                      <p:cBhvr additive="base">
                                        <p:cTn id="8" dur="500" fill="hold"/>
                                        <p:tgtEl>
                                          <p:spTgt spid="26214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262148"/>
                                        </p:tgtEl>
                                        <p:attrNameLst>
                                          <p:attrName>style.visibility</p:attrName>
                                        </p:attrNameLst>
                                      </p:cBhvr>
                                      <p:to>
                                        <p:strVal val="visible"/>
                                      </p:to>
                                    </p:set>
                                    <p:animEffect transition="in" filter="strips(downLeft)">
                                      <p:cBhvr>
                                        <p:cTn id="13" dur="500"/>
                                        <p:tgtEl>
                                          <p:spTgt spid="26214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12" fill="hold" grpId="0" nodeType="clickEffect">
                                  <p:stCondLst>
                                    <p:cond delay="0"/>
                                  </p:stCondLst>
                                  <p:childTnLst>
                                    <p:set>
                                      <p:cBhvr>
                                        <p:cTn id="17" dur="1" fill="hold">
                                          <p:stCondLst>
                                            <p:cond delay="0"/>
                                          </p:stCondLst>
                                        </p:cTn>
                                        <p:tgtEl>
                                          <p:spTgt spid="262149"/>
                                        </p:tgtEl>
                                        <p:attrNameLst>
                                          <p:attrName>style.visibility</p:attrName>
                                        </p:attrNameLst>
                                      </p:cBhvr>
                                      <p:to>
                                        <p:strVal val="visible"/>
                                      </p:to>
                                    </p:set>
                                    <p:anim calcmode="lin" valueType="num">
                                      <p:cBhvr additive="base">
                                        <p:cTn id="18" dur="500" fill="hold"/>
                                        <p:tgtEl>
                                          <p:spTgt spid="262149"/>
                                        </p:tgtEl>
                                        <p:attrNameLst>
                                          <p:attrName>ppt_x</p:attrName>
                                        </p:attrNameLst>
                                      </p:cBhvr>
                                      <p:tavLst>
                                        <p:tav tm="0">
                                          <p:val>
                                            <p:strVal val="0-#ppt_w/2"/>
                                          </p:val>
                                        </p:tav>
                                        <p:tav tm="100000">
                                          <p:val>
                                            <p:strVal val="#ppt_x"/>
                                          </p:val>
                                        </p:tav>
                                      </p:tavLst>
                                    </p:anim>
                                    <p:anim calcmode="lin" valueType="num">
                                      <p:cBhvr additive="base">
                                        <p:cTn id="19" dur="500" fill="hold"/>
                                        <p:tgtEl>
                                          <p:spTgt spid="262149"/>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18" presetClass="entr" presetSubtype="12" fill="hold" grpId="0" nodeType="afterEffect">
                                  <p:stCondLst>
                                    <p:cond delay="0"/>
                                  </p:stCondLst>
                                  <p:childTnLst>
                                    <p:set>
                                      <p:cBhvr>
                                        <p:cTn id="22" dur="1" fill="hold">
                                          <p:stCondLst>
                                            <p:cond delay="0"/>
                                          </p:stCondLst>
                                        </p:cTn>
                                        <p:tgtEl>
                                          <p:spTgt spid="262150"/>
                                        </p:tgtEl>
                                        <p:attrNameLst>
                                          <p:attrName>style.visibility</p:attrName>
                                        </p:attrNameLst>
                                      </p:cBhvr>
                                      <p:to>
                                        <p:strVal val="visible"/>
                                      </p:to>
                                    </p:set>
                                    <p:animEffect transition="in" filter="strips(downLeft)">
                                      <p:cBhvr>
                                        <p:cTn id="23" dur="500"/>
                                        <p:tgtEl>
                                          <p:spTgt spid="262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7" grpId="0" autoUpdateAnimBg="0"/>
      <p:bldP spid="262148" grpId="0" autoUpdateAnimBg="0"/>
      <p:bldP spid="262149" grpId="0" autoUpdateAnimBg="0"/>
      <p:bldP spid="262150"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用</a:t>
            </a:r>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定时器构成多谐振荡器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221" name="Rectangle 87"/>
          <p:cNvSpPr>
            <a:spLocks noChangeArrowheads="1"/>
          </p:cNvSpPr>
          <p:nvPr/>
        </p:nvSpPr>
        <p:spPr bwMode="auto">
          <a:xfrm>
            <a:off x="207955" y="676697"/>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1.</a:t>
            </a:r>
            <a:r>
              <a:rPr lang="zh-CN" altLang="en-US" sz="2800" b="1" dirty="0">
                <a:solidFill>
                  <a:srgbClr val="C00000"/>
                </a:solidFill>
                <a:latin typeface="Times New Roman" panose="02020603050405020304" pitchFamily="18" charset="0"/>
                <a:ea typeface="楷体_GB2312" pitchFamily="49" charset="-122"/>
              </a:rPr>
              <a:t>  电路结构</a:t>
            </a:r>
            <a:endParaRPr lang="zh-CN" altLang="en-US" sz="2800" b="1" dirty="0">
              <a:solidFill>
                <a:srgbClr val="C00000"/>
              </a:solidFill>
              <a:latin typeface="Times New Roman" panose="02020603050405020304" pitchFamily="18" charset="0"/>
              <a:ea typeface="楷体_GB2312" pitchFamily="49" charset="-122"/>
            </a:endParaRPr>
          </a:p>
        </p:txBody>
      </p:sp>
      <p:graphicFrame>
        <p:nvGraphicFramePr>
          <p:cNvPr id="54" name="Object 5"/>
          <p:cNvGraphicFramePr>
            <a:graphicFrameLocks noChangeAspect="1"/>
          </p:cNvGraphicFramePr>
          <p:nvPr/>
        </p:nvGraphicFramePr>
        <p:xfrm>
          <a:off x="84939" y="2094746"/>
          <a:ext cx="6034087" cy="4670425"/>
        </p:xfrm>
        <a:graphic>
          <a:graphicData uri="http://schemas.openxmlformats.org/presentationml/2006/ole">
            <mc:AlternateContent xmlns:mc="http://schemas.openxmlformats.org/markup-compatibility/2006">
              <mc:Choice xmlns:v="urn:schemas-microsoft-com:vml" Requires="v">
                <p:oleObj spid="_x0000_s19460" name="Picture" r:id="rId2" imgW="4286250" imgH="3311525" progId="Word.Picture.8">
                  <p:embed/>
                </p:oleObj>
              </mc:Choice>
              <mc:Fallback>
                <p:oleObj name="Picture" r:id="rId2" imgW="4286250" imgH="3311525" progId="Word.Picture.8">
                  <p:embed/>
                  <p:pic>
                    <p:nvPicPr>
                      <p:cNvPr id="0" name="图片 194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39" y="2094746"/>
                        <a:ext cx="6034087" cy="467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 name="Rectangle 6"/>
          <p:cNvSpPr>
            <a:spLocks noChangeArrowheads="1"/>
          </p:cNvSpPr>
          <p:nvPr/>
        </p:nvSpPr>
        <p:spPr bwMode="auto">
          <a:xfrm>
            <a:off x="1288992" y="2449553"/>
            <a:ext cx="4275138" cy="3960812"/>
          </a:xfrm>
          <a:prstGeom prst="rect">
            <a:avLst/>
          </a:prstGeom>
          <a:noFill/>
          <a:ln w="19050" algn="ctr">
            <a:solidFill>
              <a:srgbClr val="0066FF"/>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solidFill>
                <a:prstClr val="black"/>
              </a:solidFill>
            </a:endParaRPr>
          </a:p>
        </p:txBody>
      </p:sp>
      <p:grpSp>
        <p:nvGrpSpPr>
          <p:cNvPr id="56" name="Group 11"/>
          <p:cNvGrpSpPr/>
          <p:nvPr/>
        </p:nvGrpSpPr>
        <p:grpSpPr bwMode="auto">
          <a:xfrm>
            <a:off x="6008695" y="1261424"/>
            <a:ext cx="2927350" cy="2746375"/>
            <a:chOff x="3787" y="515"/>
            <a:chExt cx="1844" cy="1730"/>
          </a:xfrm>
        </p:grpSpPr>
        <p:graphicFrame>
          <p:nvGraphicFramePr>
            <p:cNvPr id="57" name="Object 8"/>
            <p:cNvGraphicFramePr>
              <a:graphicFrameLocks noChangeAspect="1"/>
            </p:cNvGraphicFramePr>
            <p:nvPr/>
          </p:nvGraphicFramePr>
          <p:xfrm>
            <a:off x="3926" y="515"/>
            <a:ext cx="1705" cy="1730"/>
          </p:xfrm>
          <a:graphic>
            <a:graphicData uri="http://schemas.openxmlformats.org/presentationml/2006/ole">
              <mc:AlternateContent xmlns:mc="http://schemas.openxmlformats.org/markup-compatibility/2006">
                <mc:Choice xmlns:v="urn:schemas-microsoft-com:vml" Requires="v">
                  <p:oleObj spid="_x0000_s19461" name="图片" r:id="rId4" imgW="1505585" imgH="1249680" progId="Word.Picture.8">
                    <p:embed/>
                  </p:oleObj>
                </mc:Choice>
                <mc:Fallback>
                  <p:oleObj name="图片" r:id="rId4" imgW="1505585" imgH="1249680" progId="Word.Picture.8">
                    <p:embed/>
                    <p:pic>
                      <p:nvPicPr>
                        <p:cNvPr id="0" name="图片 194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6" y="515"/>
                          <a:ext cx="1705" cy="17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 name="Text Box 9"/>
            <p:cNvSpPr txBox="1">
              <a:spLocks noChangeArrowheads="1"/>
            </p:cNvSpPr>
            <p:nvPr/>
          </p:nvSpPr>
          <p:spPr bwMode="auto">
            <a:xfrm>
              <a:off x="3787" y="798"/>
              <a:ext cx="23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400">
                  <a:solidFill>
                    <a:prstClr val="black"/>
                  </a:solidFill>
                  <a:ea typeface="宋体" panose="02010600030101010101" pitchFamily="2" charset="-122"/>
                </a:rPr>
                <a:t>R</a:t>
              </a:r>
              <a:r>
                <a:rPr lang="en-US" altLang="zh-CN" sz="1400" baseline="-25000">
                  <a:solidFill>
                    <a:prstClr val="black"/>
                  </a:solidFill>
                  <a:ea typeface="宋体" panose="02010600030101010101" pitchFamily="2" charset="-122"/>
                </a:rPr>
                <a:t>1</a:t>
              </a:r>
              <a:endParaRPr lang="en-US" altLang="zh-CN" sz="4400" baseline="-25000">
                <a:solidFill>
                  <a:prstClr val="black"/>
                </a:solidFill>
                <a:latin typeface="Arial Narrow" panose="020B0606020202030204" pitchFamily="34" charset="0"/>
                <a:ea typeface="宋体" panose="02010600030101010101" pitchFamily="2" charset="-122"/>
              </a:endParaRPr>
            </a:p>
          </p:txBody>
        </p:sp>
        <p:sp>
          <p:nvSpPr>
            <p:cNvPr id="105" name="Text Box 10"/>
            <p:cNvSpPr txBox="1">
              <a:spLocks noChangeArrowheads="1"/>
            </p:cNvSpPr>
            <p:nvPr/>
          </p:nvSpPr>
          <p:spPr bwMode="auto">
            <a:xfrm>
              <a:off x="3787" y="1281"/>
              <a:ext cx="23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en-US" altLang="zh-CN" sz="1400">
                  <a:solidFill>
                    <a:prstClr val="black"/>
                  </a:solidFill>
                  <a:ea typeface="宋体" panose="02010600030101010101" pitchFamily="2" charset="-122"/>
                </a:rPr>
                <a:t>R</a:t>
              </a:r>
              <a:r>
                <a:rPr lang="en-US" altLang="zh-CN" sz="1400" baseline="-25000">
                  <a:solidFill>
                    <a:prstClr val="black"/>
                  </a:solidFill>
                  <a:ea typeface="宋体" panose="02010600030101010101" pitchFamily="2" charset="-122"/>
                </a:rPr>
                <a:t>2</a:t>
              </a:r>
              <a:endParaRPr lang="en-US" altLang="zh-CN" sz="4400" baseline="-25000">
                <a:solidFill>
                  <a:prstClr val="black"/>
                </a:solidFill>
                <a:latin typeface="Arial Narrow" panose="020B0606020202030204" pitchFamily="34" charset="0"/>
                <a:ea typeface="宋体" panose="02010600030101010101" pitchFamily="2" charset="-122"/>
              </a:endParaRPr>
            </a:p>
          </p:txBody>
        </p:sp>
      </p:grpSp>
      <p:cxnSp>
        <p:nvCxnSpPr>
          <p:cNvPr id="3" name="直接连接符 2"/>
          <p:cNvCxnSpPr/>
          <p:nvPr/>
        </p:nvCxnSpPr>
        <p:spPr>
          <a:xfrm>
            <a:off x="1010653" y="3681664"/>
            <a:ext cx="661736"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1018675" y="3685674"/>
            <a:ext cx="0" cy="136357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030696" y="5053271"/>
            <a:ext cx="661736"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107" name="Rectangle 17"/>
          <p:cNvSpPr>
            <a:spLocks noChangeArrowheads="1"/>
          </p:cNvSpPr>
          <p:nvPr/>
        </p:nvSpPr>
        <p:spPr bwMode="auto">
          <a:xfrm>
            <a:off x="761809" y="3259723"/>
            <a:ext cx="47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sz="2400" b="1" i="1" kern="0" baseline="-25000" dirty="0">
                <a:solidFill>
                  <a:srgbClr val="FF33CC"/>
                </a:solidFill>
                <a:latin typeface="Times New Roman" panose="02020603050405020304" pitchFamily="18" charset="0"/>
                <a:ea typeface="楷体_GB2312" pitchFamily="49" charset="-122"/>
              </a:rPr>
              <a:t>TH</a:t>
            </a:r>
            <a:endParaRPr lang="en-US" altLang="zh-CN" sz="2400" kern="0" baseline="-25000" dirty="0">
              <a:solidFill>
                <a:srgbClr val="FF33CC"/>
              </a:solidFill>
              <a:latin typeface="Times New Roman" panose="02020603050405020304" pitchFamily="18" charset="0"/>
              <a:ea typeface="楷体_GB2312" pitchFamily="49" charset="-122"/>
            </a:endParaRPr>
          </a:p>
        </p:txBody>
      </p:sp>
      <p:sp>
        <p:nvSpPr>
          <p:cNvPr id="108" name="Rectangle 18"/>
          <p:cNvSpPr>
            <a:spLocks noChangeArrowheads="1"/>
          </p:cNvSpPr>
          <p:nvPr/>
        </p:nvSpPr>
        <p:spPr bwMode="auto">
          <a:xfrm>
            <a:off x="966695" y="4674565"/>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defRPr/>
            </a:pPr>
            <a:r>
              <a:rPr lang="en-US" altLang="zh-CN" b="1" i="1" kern="0" dirty="0">
                <a:solidFill>
                  <a:srgbClr val="FF33CC"/>
                </a:solidFill>
                <a:latin typeface="Times New Roman" panose="02020603050405020304" pitchFamily="18" charset="0"/>
                <a:ea typeface="楷体_GB2312" pitchFamily="49" charset="-122"/>
              </a:rPr>
              <a:t>TR</a:t>
            </a:r>
            <a:endParaRPr lang="en-US" altLang="zh-CN" kern="0" baseline="-25000" dirty="0">
              <a:solidFill>
                <a:srgbClr val="FF33CC"/>
              </a:solidFill>
              <a:latin typeface="Times New Roman" panose="02020603050405020304" pitchFamily="18" charset="0"/>
              <a:ea typeface="楷体_GB2312" pitchFamily="49" charset="-122"/>
            </a:endParaRPr>
          </a:p>
        </p:txBody>
      </p:sp>
      <p:sp>
        <p:nvSpPr>
          <p:cNvPr id="109" name="Line 84"/>
          <p:cNvSpPr>
            <a:spLocks noChangeShapeType="1"/>
          </p:cNvSpPr>
          <p:nvPr/>
        </p:nvSpPr>
        <p:spPr bwMode="auto">
          <a:xfrm flipV="1">
            <a:off x="1049458" y="4757758"/>
            <a:ext cx="314091" cy="195"/>
          </a:xfrm>
          <a:prstGeom prst="line">
            <a:avLst/>
          </a:prstGeom>
          <a:noFill/>
          <a:ln w="28575">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solidFill>
                <a:prstClr val="black"/>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用</a:t>
            </a:r>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定时器构成多谐振荡器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221" name="Rectangle 87"/>
          <p:cNvSpPr>
            <a:spLocks noChangeArrowheads="1"/>
          </p:cNvSpPr>
          <p:nvPr/>
        </p:nvSpPr>
        <p:spPr bwMode="auto">
          <a:xfrm>
            <a:off x="207955" y="676697"/>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2.</a:t>
            </a:r>
            <a:r>
              <a:rPr lang="zh-CN" altLang="en-US" sz="2800" b="1" dirty="0">
                <a:solidFill>
                  <a:srgbClr val="C00000"/>
                </a:solidFill>
                <a:latin typeface="Times New Roman" panose="02020603050405020304" pitchFamily="18" charset="0"/>
                <a:ea typeface="楷体_GB2312" pitchFamily="49" charset="-122"/>
              </a:rPr>
              <a:t>  工作原理</a:t>
            </a:r>
            <a:endParaRPr lang="zh-CN" altLang="en-US" sz="2800" b="1" dirty="0">
              <a:solidFill>
                <a:srgbClr val="C00000"/>
              </a:solidFill>
              <a:latin typeface="Times New Roman" panose="02020603050405020304" pitchFamily="18" charset="0"/>
              <a:ea typeface="楷体_GB2312" pitchFamily="49" charset="-122"/>
            </a:endParaRPr>
          </a:p>
        </p:txBody>
      </p:sp>
      <p:grpSp>
        <p:nvGrpSpPr>
          <p:cNvPr id="92" name="Group 3"/>
          <p:cNvGrpSpPr/>
          <p:nvPr/>
        </p:nvGrpSpPr>
        <p:grpSpPr bwMode="auto">
          <a:xfrm>
            <a:off x="82550" y="1204913"/>
            <a:ext cx="3409950" cy="5584825"/>
            <a:chOff x="198" y="681"/>
            <a:chExt cx="2148" cy="3518"/>
          </a:xfrm>
        </p:grpSpPr>
        <p:sp>
          <p:nvSpPr>
            <p:cNvPr id="93" name="Text Box 4"/>
            <p:cNvSpPr txBox="1">
              <a:spLocks noChangeArrowheads="1"/>
            </p:cNvSpPr>
            <p:nvPr/>
          </p:nvSpPr>
          <p:spPr bwMode="auto">
            <a:xfrm>
              <a:off x="418" y="1972"/>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dirty="0" err="1">
                  <a:solidFill>
                    <a:srgbClr val="000000"/>
                  </a:solidFill>
                  <a:latin typeface="Times New Roman" panose="02020603050405020304" pitchFamily="18" charset="0"/>
                  <a:ea typeface="楷体_GB2312" pitchFamily="49" charset="-122"/>
                </a:rPr>
                <a:t>u</a:t>
              </a:r>
              <a:r>
                <a:rPr kumimoji="1" lang="en-US" altLang="zh-CN" sz="2000" b="1" kern="0" baseline="-25000" dirty="0" err="1">
                  <a:solidFill>
                    <a:srgbClr val="000000"/>
                  </a:solidFill>
                  <a:latin typeface="Times New Roman" panose="02020603050405020304" pitchFamily="18" charset="0"/>
                  <a:ea typeface="楷体_GB2312" pitchFamily="49" charset="-122"/>
                </a:rPr>
                <a:t>C</a:t>
              </a:r>
              <a:endParaRPr kumimoji="1" lang="en-US" altLang="zh-CN" sz="2000" b="1" kern="0" baseline="-25000" dirty="0">
                <a:solidFill>
                  <a:srgbClr val="000000"/>
                </a:solidFill>
                <a:latin typeface="Times New Roman" panose="02020603050405020304" pitchFamily="18" charset="0"/>
                <a:ea typeface="楷体_GB2312" pitchFamily="49" charset="-122"/>
              </a:endParaRPr>
            </a:p>
          </p:txBody>
        </p:sp>
        <p:sp>
          <p:nvSpPr>
            <p:cNvPr id="94" name="Text Box 5"/>
            <p:cNvSpPr txBox="1">
              <a:spLocks noChangeArrowheads="1"/>
            </p:cNvSpPr>
            <p:nvPr/>
          </p:nvSpPr>
          <p:spPr bwMode="auto">
            <a:xfrm>
              <a:off x="416" y="2819"/>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O</a:t>
              </a:r>
              <a:endParaRPr kumimoji="1" lang="en-US" altLang="zh-CN" sz="2000" b="1" i="1" kern="0">
                <a:solidFill>
                  <a:srgbClr val="000000"/>
                </a:solidFill>
                <a:latin typeface="Times New Roman" panose="02020603050405020304" pitchFamily="18" charset="0"/>
                <a:ea typeface="楷体_GB2312" pitchFamily="49" charset="-122"/>
              </a:endParaRPr>
            </a:p>
          </p:txBody>
        </p:sp>
        <p:sp>
          <p:nvSpPr>
            <p:cNvPr id="95" name="Freeform 6"/>
            <p:cNvSpPr/>
            <p:nvPr/>
          </p:nvSpPr>
          <p:spPr bwMode="auto">
            <a:xfrm flipH="1">
              <a:off x="669" y="2068"/>
              <a:ext cx="49" cy="865"/>
            </a:xfrm>
            <a:custGeom>
              <a:avLst/>
              <a:gdLst>
                <a:gd name="T0" fmla="*/ 0 w 1"/>
                <a:gd name="T1" fmla="*/ 1146 h 1146"/>
                <a:gd name="T2" fmla="*/ 0 w 1"/>
                <a:gd name="T3" fmla="*/ 0 h 1146"/>
              </a:gdLst>
              <a:ahLst/>
              <a:cxnLst>
                <a:cxn ang="0">
                  <a:pos x="T0" y="T1"/>
                </a:cxn>
                <a:cxn ang="0">
                  <a:pos x="T2" y="T3"/>
                </a:cxn>
              </a:cxnLst>
              <a:rect l="0" t="0" r="r" b="b"/>
              <a:pathLst>
                <a:path w="1" h="1146">
                  <a:moveTo>
                    <a:pt x="0" y="1146"/>
                  </a:moveTo>
                  <a:lnTo>
                    <a:pt x="0" y="0"/>
                  </a:lnTo>
                </a:path>
              </a:pathLst>
            </a:custGeom>
            <a:noFill/>
            <a:ln w="22225" cap="flat" cmpd="sng">
              <a:solidFill>
                <a:srgbClr val="000000"/>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96" name="Line 7"/>
            <p:cNvSpPr>
              <a:spLocks noChangeShapeType="1"/>
            </p:cNvSpPr>
            <p:nvPr/>
          </p:nvSpPr>
          <p:spPr bwMode="auto">
            <a:xfrm>
              <a:off x="710" y="2932"/>
              <a:ext cx="1398" cy="0"/>
            </a:xfrm>
            <a:prstGeom prst="line">
              <a:avLst/>
            </a:prstGeom>
            <a:noFill/>
            <a:ln w="22225">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97" name="Text Box 8"/>
            <p:cNvSpPr txBox="1">
              <a:spLocks noChangeArrowheads="1"/>
            </p:cNvSpPr>
            <p:nvPr/>
          </p:nvSpPr>
          <p:spPr bwMode="auto">
            <a:xfrm>
              <a:off x="1894" y="289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98" name="Text Box 9"/>
            <p:cNvSpPr txBox="1">
              <a:spLocks noChangeArrowheads="1"/>
            </p:cNvSpPr>
            <p:nvPr/>
          </p:nvSpPr>
          <p:spPr bwMode="auto">
            <a:xfrm>
              <a:off x="416" y="3876"/>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O</a:t>
              </a:r>
              <a:endParaRPr kumimoji="1" lang="en-US" altLang="zh-CN" sz="2000" b="1" i="1" kern="0">
                <a:solidFill>
                  <a:srgbClr val="000000"/>
                </a:solidFill>
                <a:latin typeface="Times New Roman" panose="02020603050405020304" pitchFamily="18" charset="0"/>
                <a:ea typeface="楷体_GB2312" pitchFamily="49" charset="-122"/>
              </a:endParaRPr>
            </a:p>
          </p:txBody>
        </p:sp>
        <p:sp>
          <p:nvSpPr>
            <p:cNvPr id="99" name="Text Box 10"/>
            <p:cNvSpPr txBox="1">
              <a:spLocks noChangeArrowheads="1"/>
            </p:cNvSpPr>
            <p:nvPr/>
          </p:nvSpPr>
          <p:spPr bwMode="auto">
            <a:xfrm>
              <a:off x="358" y="299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00" name="Freeform 11"/>
            <p:cNvSpPr/>
            <p:nvPr/>
          </p:nvSpPr>
          <p:spPr bwMode="auto">
            <a:xfrm flipH="1">
              <a:off x="668" y="3125"/>
              <a:ext cx="50" cy="852"/>
            </a:xfrm>
            <a:custGeom>
              <a:avLst/>
              <a:gdLst>
                <a:gd name="T0" fmla="*/ 0 w 1"/>
                <a:gd name="T1" fmla="*/ 1146 h 1146"/>
                <a:gd name="T2" fmla="*/ 0 w 1"/>
                <a:gd name="T3" fmla="*/ 0 h 1146"/>
              </a:gdLst>
              <a:ahLst/>
              <a:cxnLst>
                <a:cxn ang="0">
                  <a:pos x="T0" y="T1"/>
                </a:cxn>
                <a:cxn ang="0">
                  <a:pos x="T2" y="T3"/>
                </a:cxn>
              </a:cxnLst>
              <a:rect l="0" t="0" r="r" b="b"/>
              <a:pathLst>
                <a:path w="1" h="1146">
                  <a:moveTo>
                    <a:pt x="0" y="1146"/>
                  </a:moveTo>
                  <a:lnTo>
                    <a:pt x="0" y="0"/>
                  </a:lnTo>
                </a:path>
              </a:pathLst>
            </a:custGeom>
            <a:noFill/>
            <a:ln w="22225" cap="flat" cmpd="sng">
              <a:solidFill>
                <a:srgbClr val="000000"/>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01" name="Line 12"/>
            <p:cNvSpPr>
              <a:spLocks noChangeShapeType="1"/>
            </p:cNvSpPr>
            <p:nvPr/>
          </p:nvSpPr>
          <p:spPr bwMode="auto">
            <a:xfrm>
              <a:off x="710" y="3986"/>
              <a:ext cx="1391" cy="0"/>
            </a:xfrm>
            <a:prstGeom prst="line">
              <a:avLst/>
            </a:prstGeom>
            <a:noFill/>
            <a:ln w="22225">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02" name="Text Box 13"/>
            <p:cNvSpPr txBox="1">
              <a:spLocks noChangeArrowheads="1"/>
            </p:cNvSpPr>
            <p:nvPr/>
          </p:nvSpPr>
          <p:spPr bwMode="auto">
            <a:xfrm>
              <a:off x="1914" y="392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03" name="Line 14"/>
            <p:cNvSpPr>
              <a:spLocks noChangeShapeType="1"/>
            </p:cNvSpPr>
            <p:nvPr/>
          </p:nvSpPr>
          <p:spPr bwMode="auto">
            <a:xfrm>
              <a:off x="710" y="2353"/>
              <a:ext cx="1307"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10" name="Line 15"/>
            <p:cNvSpPr>
              <a:spLocks noChangeShapeType="1"/>
            </p:cNvSpPr>
            <p:nvPr/>
          </p:nvSpPr>
          <p:spPr bwMode="auto">
            <a:xfrm>
              <a:off x="716" y="2649"/>
              <a:ext cx="1297"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11" name="Text Box 16"/>
            <p:cNvSpPr txBox="1">
              <a:spLocks noChangeArrowheads="1"/>
            </p:cNvSpPr>
            <p:nvPr/>
          </p:nvSpPr>
          <p:spPr bwMode="auto">
            <a:xfrm>
              <a:off x="208" y="364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V</a:t>
              </a:r>
              <a:r>
                <a:rPr kumimoji="1" lang="en-US" altLang="zh-CN" sz="2000" b="1" kern="0" baseline="-25000">
                  <a:solidFill>
                    <a:srgbClr val="000000"/>
                  </a:solidFill>
                  <a:latin typeface="Times New Roman" panose="02020603050405020304" pitchFamily="18" charset="0"/>
                  <a:ea typeface="楷体_GB2312" pitchFamily="49" charset="-122"/>
                </a:rPr>
                <a:t>OL</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12" name="Text Box 17"/>
            <p:cNvSpPr txBox="1">
              <a:spLocks noChangeArrowheads="1"/>
            </p:cNvSpPr>
            <p:nvPr/>
          </p:nvSpPr>
          <p:spPr bwMode="auto">
            <a:xfrm>
              <a:off x="198" y="3246"/>
              <a:ext cx="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V</a:t>
              </a:r>
              <a:r>
                <a:rPr kumimoji="1" lang="en-US" altLang="zh-CN" sz="2000" b="1" kern="0" baseline="-25000">
                  <a:solidFill>
                    <a:srgbClr val="000000"/>
                  </a:solidFill>
                  <a:latin typeface="Times New Roman" panose="02020603050405020304" pitchFamily="18" charset="0"/>
                  <a:ea typeface="楷体_GB2312" pitchFamily="49" charset="-122"/>
                </a:rPr>
                <a:t>OH</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13" name="Line 18"/>
            <p:cNvSpPr>
              <a:spLocks noChangeShapeType="1"/>
            </p:cNvSpPr>
            <p:nvPr/>
          </p:nvSpPr>
          <p:spPr bwMode="auto">
            <a:xfrm>
              <a:off x="1237" y="3374"/>
              <a:ext cx="285"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14" name="Line 19"/>
            <p:cNvSpPr>
              <a:spLocks noChangeShapeType="1"/>
            </p:cNvSpPr>
            <p:nvPr/>
          </p:nvSpPr>
          <p:spPr bwMode="auto">
            <a:xfrm>
              <a:off x="1248" y="3368"/>
              <a:ext cx="0" cy="50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15" name="Line 20"/>
            <p:cNvSpPr>
              <a:spLocks noChangeShapeType="1"/>
            </p:cNvSpPr>
            <p:nvPr/>
          </p:nvSpPr>
          <p:spPr bwMode="auto">
            <a:xfrm>
              <a:off x="716" y="3878"/>
              <a:ext cx="342"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16" name="Line 21"/>
            <p:cNvSpPr>
              <a:spLocks noChangeShapeType="1"/>
            </p:cNvSpPr>
            <p:nvPr/>
          </p:nvSpPr>
          <p:spPr bwMode="auto">
            <a:xfrm>
              <a:off x="1064" y="3370"/>
              <a:ext cx="0" cy="51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17" name="Line 22"/>
            <p:cNvSpPr>
              <a:spLocks noChangeShapeType="1"/>
            </p:cNvSpPr>
            <p:nvPr/>
          </p:nvSpPr>
          <p:spPr bwMode="auto">
            <a:xfrm>
              <a:off x="716" y="3380"/>
              <a:ext cx="34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18" name="Line 23"/>
            <p:cNvSpPr>
              <a:spLocks noChangeShapeType="1"/>
            </p:cNvSpPr>
            <p:nvPr/>
          </p:nvSpPr>
          <p:spPr bwMode="auto">
            <a:xfrm>
              <a:off x="1053" y="3878"/>
              <a:ext cx="207"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19" name="Line 24"/>
            <p:cNvSpPr>
              <a:spLocks noChangeShapeType="1"/>
            </p:cNvSpPr>
            <p:nvPr/>
          </p:nvSpPr>
          <p:spPr bwMode="auto">
            <a:xfrm>
              <a:off x="1509" y="3368"/>
              <a:ext cx="0" cy="51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0" name="Line 25"/>
            <p:cNvSpPr>
              <a:spLocks noChangeShapeType="1"/>
            </p:cNvSpPr>
            <p:nvPr/>
          </p:nvSpPr>
          <p:spPr bwMode="auto">
            <a:xfrm>
              <a:off x="1690" y="3380"/>
              <a:ext cx="273"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1" name="Line 26"/>
            <p:cNvSpPr>
              <a:spLocks noChangeShapeType="1"/>
            </p:cNvSpPr>
            <p:nvPr/>
          </p:nvSpPr>
          <p:spPr bwMode="auto">
            <a:xfrm>
              <a:off x="1704" y="3374"/>
              <a:ext cx="0" cy="50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2" name="Line 27"/>
            <p:cNvSpPr>
              <a:spLocks noChangeShapeType="1"/>
            </p:cNvSpPr>
            <p:nvPr/>
          </p:nvSpPr>
          <p:spPr bwMode="auto">
            <a:xfrm>
              <a:off x="1501" y="3884"/>
              <a:ext cx="20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3" name="Line 28"/>
            <p:cNvSpPr>
              <a:spLocks noChangeShapeType="1"/>
            </p:cNvSpPr>
            <p:nvPr/>
          </p:nvSpPr>
          <p:spPr bwMode="auto">
            <a:xfrm>
              <a:off x="1947" y="3374"/>
              <a:ext cx="0" cy="51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4" name="Line 29"/>
            <p:cNvSpPr>
              <a:spLocks noChangeShapeType="1"/>
            </p:cNvSpPr>
            <p:nvPr/>
          </p:nvSpPr>
          <p:spPr bwMode="auto">
            <a:xfrm>
              <a:off x="1939" y="3884"/>
              <a:ext cx="8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5" name="Line 30"/>
            <p:cNvSpPr>
              <a:spLocks noChangeShapeType="1"/>
            </p:cNvSpPr>
            <p:nvPr/>
          </p:nvSpPr>
          <p:spPr bwMode="auto">
            <a:xfrm>
              <a:off x="1065" y="2348"/>
              <a:ext cx="0" cy="1145"/>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6" name="Line 31"/>
            <p:cNvSpPr>
              <a:spLocks noChangeShapeType="1"/>
            </p:cNvSpPr>
            <p:nvPr/>
          </p:nvSpPr>
          <p:spPr bwMode="auto">
            <a:xfrm>
              <a:off x="1247" y="2638"/>
              <a:ext cx="0" cy="879"/>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7" name="Line 32"/>
            <p:cNvSpPr>
              <a:spLocks noChangeShapeType="1"/>
            </p:cNvSpPr>
            <p:nvPr/>
          </p:nvSpPr>
          <p:spPr bwMode="auto">
            <a:xfrm>
              <a:off x="1511" y="2348"/>
              <a:ext cx="0" cy="116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28" name="Text Box 33"/>
            <p:cNvSpPr txBox="1">
              <a:spLocks noChangeArrowheads="1"/>
            </p:cNvSpPr>
            <p:nvPr/>
          </p:nvSpPr>
          <p:spPr bwMode="auto">
            <a:xfrm>
              <a:off x="1017" y="3497"/>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kern="0">
                  <a:solidFill>
                    <a:srgbClr val="CC3399"/>
                  </a:solidFill>
                  <a:latin typeface="Times New Roman" panose="02020603050405020304" pitchFamily="18" charset="0"/>
                  <a:ea typeface="楷体_GB2312" pitchFamily="49" charset="-122"/>
                </a:rPr>
                <a:t>Ⅱ</a:t>
              </a:r>
              <a:endParaRPr kumimoji="1" lang="en-US" altLang="zh-CN" sz="2000" b="1" kern="0">
                <a:solidFill>
                  <a:srgbClr val="CC3399"/>
                </a:solidFill>
                <a:latin typeface="Times New Roman" panose="02020603050405020304" pitchFamily="18" charset="0"/>
                <a:ea typeface="楷体_GB2312" pitchFamily="49" charset="-122"/>
              </a:endParaRPr>
            </a:p>
          </p:txBody>
        </p:sp>
        <p:sp>
          <p:nvSpPr>
            <p:cNvPr id="129" name="Line 34"/>
            <p:cNvSpPr>
              <a:spLocks noChangeShapeType="1"/>
            </p:cNvSpPr>
            <p:nvPr/>
          </p:nvSpPr>
          <p:spPr bwMode="auto">
            <a:xfrm>
              <a:off x="1241" y="3625"/>
              <a:ext cx="270"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0" name="Rectangle 35"/>
            <p:cNvSpPr>
              <a:spLocks noChangeArrowheads="1"/>
            </p:cNvSpPr>
            <p:nvPr/>
          </p:nvSpPr>
          <p:spPr bwMode="auto">
            <a:xfrm>
              <a:off x="805" y="352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9900CC"/>
                  </a:solidFill>
                  <a:latin typeface="Times New Roman" panose="02020603050405020304" pitchFamily="18" charset="0"/>
                  <a:ea typeface="楷体_GB2312" pitchFamily="49" charset="-122"/>
                </a:rPr>
                <a:t>Ⅰ</a:t>
              </a:r>
              <a:endParaRPr kumimoji="1" lang="en-US" altLang="zh-CN" sz="2000" b="1" kern="0">
                <a:solidFill>
                  <a:srgbClr val="9900CC"/>
                </a:solidFill>
                <a:latin typeface="Times New Roman" panose="02020603050405020304" pitchFamily="18" charset="0"/>
                <a:ea typeface="楷体_GB2312" pitchFamily="49" charset="-122"/>
              </a:endParaRPr>
            </a:p>
          </p:txBody>
        </p:sp>
        <p:sp>
          <p:nvSpPr>
            <p:cNvPr id="131" name="Freeform 36"/>
            <p:cNvSpPr/>
            <p:nvPr/>
          </p:nvSpPr>
          <p:spPr bwMode="auto">
            <a:xfrm>
              <a:off x="725" y="2352"/>
              <a:ext cx="349" cy="579"/>
            </a:xfrm>
            <a:custGeom>
              <a:avLst/>
              <a:gdLst>
                <a:gd name="T0" fmla="*/ 0 w 255"/>
                <a:gd name="T1" fmla="*/ 579 h 579"/>
                <a:gd name="T2" fmla="*/ 123 w 255"/>
                <a:gd name="T3" fmla="*/ 186 h 579"/>
                <a:gd name="T4" fmla="*/ 255 w 255"/>
                <a:gd name="T5" fmla="*/ 0 h 579"/>
              </a:gdLst>
              <a:ahLst/>
              <a:cxnLst>
                <a:cxn ang="0">
                  <a:pos x="T0" y="T1"/>
                </a:cxn>
                <a:cxn ang="0">
                  <a:pos x="T2" y="T3"/>
                </a:cxn>
                <a:cxn ang="0">
                  <a:pos x="T4" y="T5"/>
                </a:cxn>
              </a:cxnLst>
              <a:rect l="0" t="0" r="r" b="b"/>
              <a:pathLst>
                <a:path w="255" h="579">
                  <a:moveTo>
                    <a:pt x="0" y="579"/>
                  </a:moveTo>
                  <a:cubicBezTo>
                    <a:pt x="20" y="514"/>
                    <a:pt x="81" y="282"/>
                    <a:pt x="123" y="186"/>
                  </a:cubicBezTo>
                  <a:cubicBezTo>
                    <a:pt x="165" y="90"/>
                    <a:pt x="227" y="39"/>
                    <a:pt x="255"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2" name="Freeform 37"/>
            <p:cNvSpPr/>
            <p:nvPr/>
          </p:nvSpPr>
          <p:spPr bwMode="auto">
            <a:xfrm>
              <a:off x="1252" y="2352"/>
              <a:ext cx="273"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3" name="Freeform 38"/>
            <p:cNvSpPr/>
            <p:nvPr/>
          </p:nvSpPr>
          <p:spPr bwMode="auto">
            <a:xfrm flipV="1">
              <a:off x="1071" y="2352"/>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4" name="Freeform 39"/>
            <p:cNvSpPr/>
            <p:nvPr/>
          </p:nvSpPr>
          <p:spPr bwMode="auto">
            <a:xfrm>
              <a:off x="1696" y="2352"/>
              <a:ext cx="266"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5" name="Freeform 40"/>
            <p:cNvSpPr/>
            <p:nvPr/>
          </p:nvSpPr>
          <p:spPr bwMode="auto">
            <a:xfrm flipV="1">
              <a:off x="1522" y="2352"/>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6" name="Freeform 41"/>
            <p:cNvSpPr/>
            <p:nvPr/>
          </p:nvSpPr>
          <p:spPr bwMode="auto">
            <a:xfrm flipV="1">
              <a:off x="1952" y="2346"/>
              <a:ext cx="64" cy="144"/>
            </a:xfrm>
            <a:custGeom>
              <a:avLst/>
              <a:gdLst>
                <a:gd name="T0" fmla="*/ 0 w 54"/>
                <a:gd name="T1" fmla="*/ 144 h 144"/>
                <a:gd name="T2" fmla="*/ 30 w 54"/>
                <a:gd name="T3" fmla="*/ 51 h 144"/>
                <a:gd name="T4" fmla="*/ 54 w 54"/>
                <a:gd name="T5" fmla="*/ 0 h 144"/>
              </a:gdLst>
              <a:ahLst/>
              <a:cxnLst>
                <a:cxn ang="0">
                  <a:pos x="T0" y="T1"/>
                </a:cxn>
                <a:cxn ang="0">
                  <a:pos x="T2" y="T3"/>
                </a:cxn>
                <a:cxn ang="0">
                  <a:pos x="T4" y="T5"/>
                </a:cxn>
              </a:cxnLst>
              <a:rect l="0" t="0" r="r" b="b"/>
              <a:pathLst>
                <a:path w="54" h="144">
                  <a:moveTo>
                    <a:pt x="0" y="144"/>
                  </a:moveTo>
                  <a:cubicBezTo>
                    <a:pt x="5" y="129"/>
                    <a:pt x="21" y="75"/>
                    <a:pt x="30" y="51"/>
                  </a:cubicBezTo>
                  <a:cubicBezTo>
                    <a:pt x="39" y="27"/>
                    <a:pt x="49" y="11"/>
                    <a:pt x="54"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7" name="Line 42"/>
            <p:cNvSpPr>
              <a:spLocks noChangeShapeType="1"/>
            </p:cNvSpPr>
            <p:nvPr/>
          </p:nvSpPr>
          <p:spPr bwMode="auto">
            <a:xfrm>
              <a:off x="1949" y="2348"/>
              <a:ext cx="0" cy="116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8" name="Line 43"/>
            <p:cNvSpPr>
              <a:spLocks noChangeShapeType="1"/>
            </p:cNvSpPr>
            <p:nvPr/>
          </p:nvSpPr>
          <p:spPr bwMode="auto">
            <a:xfrm>
              <a:off x="1697" y="2638"/>
              <a:ext cx="0" cy="879"/>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9" name="Line 44"/>
            <p:cNvSpPr>
              <a:spLocks noChangeShapeType="1"/>
            </p:cNvSpPr>
            <p:nvPr/>
          </p:nvSpPr>
          <p:spPr bwMode="auto">
            <a:xfrm>
              <a:off x="1505" y="3625"/>
              <a:ext cx="198"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40" name="Text Box 45"/>
            <p:cNvSpPr txBox="1">
              <a:spLocks noChangeArrowheads="1"/>
            </p:cNvSpPr>
            <p:nvPr/>
          </p:nvSpPr>
          <p:spPr bwMode="auto">
            <a:xfrm>
              <a:off x="1212" y="3336"/>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FF"/>
                  </a:solidFill>
                  <a:latin typeface="Times New Roman" panose="02020603050405020304" pitchFamily="18" charset="0"/>
                  <a:ea typeface="楷体_GB2312" pitchFamily="49" charset="-122"/>
                </a:rPr>
                <a:t>t</a:t>
              </a:r>
              <a:r>
                <a:rPr kumimoji="1" lang="en-US" altLang="zh-CN" sz="2000" b="1" kern="0" baseline="-25000">
                  <a:solidFill>
                    <a:srgbClr val="0000FF"/>
                  </a:solidFill>
                  <a:latin typeface="Times New Roman" panose="02020603050405020304" pitchFamily="18" charset="0"/>
                  <a:ea typeface="楷体_GB2312" pitchFamily="49" charset="-122"/>
                </a:rPr>
                <a:t>PH</a:t>
              </a:r>
              <a:endParaRPr kumimoji="1" lang="en-US" altLang="zh-CN" sz="2000" b="1" kern="0" baseline="-25000">
                <a:solidFill>
                  <a:srgbClr val="0000FF"/>
                </a:solidFill>
                <a:latin typeface="Times New Roman" panose="02020603050405020304" pitchFamily="18" charset="0"/>
                <a:ea typeface="楷体_GB2312" pitchFamily="49" charset="-122"/>
              </a:endParaRPr>
            </a:p>
          </p:txBody>
        </p:sp>
        <p:sp>
          <p:nvSpPr>
            <p:cNvPr id="141" name="Text Box 46"/>
            <p:cNvSpPr txBox="1">
              <a:spLocks noChangeArrowheads="1"/>
            </p:cNvSpPr>
            <p:nvPr/>
          </p:nvSpPr>
          <p:spPr bwMode="auto">
            <a:xfrm>
              <a:off x="1458" y="3336"/>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FF"/>
                  </a:solidFill>
                  <a:latin typeface="Times New Roman" panose="02020603050405020304" pitchFamily="18" charset="0"/>
                  <a:ea typeface="楷体_GB2312" pitchFamily="49" charset="-122"/>
                </a:rPr>
                <a:t>t</a:t>
              </a:r>
              <a:r>
                <a:rPr kumimoji="1" lang="en-US" altLang="zh-CN" sz="2000" b="1" kern="0" baseline="-25000">
                  <a:solidFill>
                    <a:srgbClr val="0000FF"/>
                  </a:solidFill>
                  <a:latin typeface="Times New Roman" panose="02020603050405020304" pitchFamily="18" charset="0"/>
                  <a:ea typeface="楷体_GB2312" pitchFamily="49" charset="-122"/>
                </a:rPr>
                <a:t>PL</a:t>
              </a:r>
              <a:endParaRPr kumimoji="1" lang="en-US" altLang="zh-CN" sz="2000" b="1" kern="0" baseline="-25000">
                <a:solidFill>
                  <a:srgbClr val="0000FF"/>
                </a:solidFill>
                <a:latin typeface="Times New Roman" panose="02020603050405020304" pitchFamily="18" charset="0"/>
                <a:ea typeface="楷体_GB2312" pitchFamily="49" charset="-122"/>
              </a:endParaRPr>
            </a:p>
          </p:txBody>
        </p:sp>
        <p:graphicFrame>
          <p:nvGraphicFramePr>
            <p:cNvPr id="142" name="Object 47"/>
            <p:cNvGraphicFramePr>
              <a:graphicFrameLocks noChangeAspect="1"/>
            </p:cNvGraphicFramePr>
            <p:nvPr/>
          </p:nvGraphicFramePr>
          <p:xfrm>
            <a:off x="370" y="2186"/>
            <a:ext cx="232" cy="248"/>
          </p:xfrm>
          <a:graphic>
            <a:graphicData uri="http://schemas.openxmlformats.org/presentationml/2006/ole">
              <mc:AlternateContent xmlns:mc="http://schemas.openxmlformats.org/markup-compatibility/2006">
                <mc:Choice xmlns:v="urn:schemas-microsoft-com:vml" Requires="v">
                  <p:oleObj spid="_x0000_s20489" name="公式" r:id="rId2" imgW="368300" imgH="393700" progId="Equation.3">
                    <p:embed/>
                  </p:oleObj>
                </mc:Choice>
                <mc:Fallback>
                  <p:oleObj name="公式" r:id="rId2" imgW="368300" imgH="393700" progId="Equation.3">
                    <p:embed/>
                    <p:pic>
                      <p:nvPicPr>
                        <p:cNvPr id="0" name="图片 204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 y="2186"/>
                          <a:ext cx="23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 name="Object 48"/>
            <p:cNvGraphicFramePr>
              <a:graphicFrameLocks noChangeAspect="1"/>
            </p:cNvGraphicFramePr>
            <p:nvPr/>
          </p:nvGraphicFramePr>
          <p:xfrm>
            <a:off x="374" y="2594"/>
            <a:ext cx="224" cy="248"/>
          </p:xfrm>
          <a:graphic>
            <a:graphicData uri="http://schemas.openxmlformats.org/presentationml/2006/ole">
              <mc:AlternateContent xmlns:mc="http://schemas.openxmlformats.org/markup-compatibility/2006">
                <mc:Choice xmlns:v="urn:schemas-microsoft-com:vml" Requires="v">
                  <p:oleObj spid="_x0000_s20490" name="公式" r:id="rId4" imgW="355600" imgH="393065" progId="Equation.3">
                    <p:embed/>
                  </p:oleObj>
                </mc:Choice>
                <mc:Fallback>
                  <p:oleObj name="公式" r:id="rId4" imgW="355600" imgH="393065" progId="Equation.3">
                    <p:embed/>
                    <p:pic>
                      <p:nvPicPr>
                        <p:cNvPr id="0" name="图片 204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 y="2594"/>
                          <a:ext cx="224" cy="248"/>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4" name="Rectangle 49"/>
            <p:cNvSpPr>
              <a:spLocks noChangeArrowheads="1"/>
            </p:cNvSpPr>
            <p:nvPr/>
          </p:nvSpPr>
          <p:spPr bwMode="auto">
            <a:xfrm>
              <a:off x="1741" y="352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145" name="Rectangle 50"/>
            <p:cNvSpPr>
              <a:spLocks noChangeArrowheads="1"/>
            </p:cNvSpPr>
            <p:nvPr/>
          </p:nvSpPr>
          <p:spPr bwMode="auto">
            <a:xfrm>
              <a:off x="1297" y="364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146" name="Text Box 51"/>
            <p:cNvSpPr txBox="1">
              <a:spLocks noChangeArrowheads="1"/>
            </p:cNvSpPr>
            <p:nvPr/>
          </p:nvSpPr>
          <p:spPr bwMode="auto">
            <a:xfrm>
              <a:off x="1467" y="3611"/>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kern="0">
                  <a:solidFill>
                    <a:srgbClr val="CC3399"/>
                  </a:solidFill>
                  <a:latin typeface="Times New Roman" panose="02020603050405020304" pitchFamily="18" charset="0"/>
                  <a:ea typeface="楷体_GB2312" pitchFamily="49" charset="-122"/>
                </a:rPr>
                <a:t>Ⅱ</a:t>
              </a:r>
              <a:endParaRPr kumimoji="1" lang="en-US" altLang="zh-CN" sz="2000" b="1" kern="0">
                <a:solidFill>
                  <a:srgbClr val="CC3399"/>
                </a:solidFill>
                <a:latin typeface="Times New Roman" panose="02020603050405020304" pitchFamily="18" charset="0"/>
                <a:ea typeface="楷体_GB2312" pitchFamily="49" charset="-122"/>
              </a:endParaRPr>
            </a:p>
          </p:txBody>
        </p:sp>
        <p:graphicFrame>
          <p:nvGraphicFramePr>
            <p:cNvPr id="147" name="Object 52"/>
            <p:cNvGraphicFramePr>
              <a:graphicFrameLocks noChangeAspect="1"/>
            </p:cNvGraphicFramePr>
            <p:nvPr/>
          </p:nvGraphicFramePr>
          <p:xfrm>
            <a:off x="270" y="727"/>
            <a:ext cx="1939" cy="1207"/>
          </p:xfrm>
          <a:graphic>
            <a:graphicData uri="http://schemas.openxmlformats.org/presentationml/2006/ole">
              <mc:AlternateContent xmlns:mc="http://schemas.openxmlformats.org/markup-compatibility/2006">
                <mc:Choice xmlns:v="urn:schemas-microsoft-com:vml" Requires="v">
                  <p:oleObj spid="_x0000_s20491" name="BMP 图象" r:id="rId6" imgW="4238625" imgH="2933700" progId="Paint.Picture">
                    <p:embed/>
                  </p:oleObj>
                </mc:Choice>
                <mc:Fallback>
                  <p:oleObj name="BMP 图象" r:id="rId6" imgW="4238625" imgH="2933700" progId="Paint.Picture">
                    <p:embed/>
                    <p:pic>
                      <p:nvPicPr>
                        <p:cNvPr id="0" name="图片 2049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 y="727"/>
                          <a:ext cx="1939" cy="1207"/>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8" name="AutoShape 53"/>
            <p:cNvSpPr>
              <a:spLocks noChangeArrowheads="1"/>
            </p:cNvSpPr>
            <p:nvPr/>
          </p:nvSpPr>
          <p:spPr bwMode="auto">
            <a:xfrm>
              <a:off x="225" y="681"/>
              <a:ext cx="1979" cy="3518"/>
            </a:xfrm>
            <a:prstGeom prst="flowChartProcess">
              <a:avLst/>
            </a:prstGeom>
            <a:noFill/>
            <a:ln w="57150">
              <a:pattFill prst="sphere">
                <a:fgClr>
                  <a:srgbClr val="CC99FF"/>
                </a:fgClr>
                <a:bgClr>
                  <a:srgbClr val="FFFFFF"/>
                </a:bgClr>
              </a:patt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grpSp>
      <p:grpSp>
        <p:nvGrpSpPr>
          <p:cNvPr id="149" name="Group 54"/>
          <p:cNvGrpSpPr/>
          <p:nvPr/>
        </p:nvGrpSpPr>
        <p:grpSpPr bwMode="auto">
          <a:xfrm>
            <a:off x="434975" y="1230313"/>
            <a:ext cx="717550" cy="1912937"/>
            <a:chOff x="420" y="705"/>
            <a:chExt cx="452" cy="1205"/>
          </a:xfrm>
        </p:grpSpPr>
        <p:sp>
          <p:nvSpPr>
            <p:cNvPr id="150" name="Line 55"/>
            <p:cNvSpPr>
              <a:spLocks noChangeShapeType="1"/>
            </p:cNvSpPr>
            <p:nvPr/>
          </p:nvSpPr>
          <p:spPr bwMode="auto">
            <a:xfrm>
              <a:off x="872" y="742"/>
              <a:ext cx="0" cy="173"/>
            </a:xfrm>
            <a:prstGeom prst="line">
              <a:avLst/>
            </a:prstGeom>
            <a:noFill/>
            <a:ln w="38100">
              <a:solidFill>
                <a:srgbClr val="00CC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151" name="Line 56"/>
            <p:cNvSpPr>
              <a:spLocks noChangeShapeType="1"/>
            </p:cNvSpPr>
            <p:nvPr/>
          </p:nvSpPr>
          <p:spPr bwMode="auto">
            <a:xfrm flipH="1">
              <a:off x="428" y="906"/>
              <a:ext cx="444" cy="0"/>
            </a:xfrm>
            <a:prstGeom prst="line">
              <a:avLst/>
            </a:prstGeom>
            <a:noFill/>
            <a:ln w="38100">
              <a:solidFill>
                <a:srgbClr val="00CC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grpSp>
          <p:nvGrpSpPr>
            <p:cNvPr id="152" name="Group 57"/>
            <p:cNvGrpSpPr/>
            <p:nvPr/>
          </p:nvGrpSpPr>
          <p:grpSpPr bwMode="auto">
            <a:xfrm>
              <a:off x="420" y="705"/>
              <a:ext cx="378" cy="1205"/>
              <a:chOff x="420" y="705"/>
              <a:chExt cx="378" cy="1205"/>
            </a:xfrm>
          </p:grpSpPr>
          <p:sp>
            <p:nvSpPr>
              <p:cNvPr id="153" name="Line 58"/>
              <p:cNvSpPr>
                <a:spLocks noChangeShapeType="1"/>
              </p:cNvSpPr>
              <p:nvPr/>
            </p:nvSpPr>
            <p:spPr bwMode="auto">
              <a:xfrm>
                <a:off x="420" y="898"/>
                <a:ext cx="0" cy="1012"/>
              </a:xfrm>
              <a:prstGeom prst="line">
                <a:avLst/>
              </a:prstGeom>
              <a:noFill/>
              <a:ln w="38100">
                <a:solidFill>
                  <a:srgbClr val="00CC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154" name="Rectangle 59"/>
              <p:cNvSpPr>
                <a:spLocks noChangeArrowheads="1"/>
              </p:cNvSpPr>
              <p:nvPr/>
            </p:nvSpPr>
            <p:spPr bwMode="auto">
              <a:xfrm>
                <a:off x="476" y="705"/>
                <a:ext cx="322"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pPr>
                <a:r>
                  <a:rPr kumimoji="1" lang="zh-CN" altLang="en-US" sz="2000" b="1">
                    <a:solidFill>
                      <a:srgbClr val="00CC00"/>
                    </a:solidFill>
                    <a:latin typeface="Times New Roman" panose="02020603050405020304" pitchFamily="18" charset="0"/>
                    <a:ea typeface="楷体_GB2312" pitchFamily="49" charset="-122"/>
                  </a:rPr>
                  <a:t>充电</a:t>
                </a:r>
                <a:endParaRPr kumimoji="1" lang="zh-CN" altLang="en-US" sz="2000" b="1">
                  <a:solidFill>
                    <a:srgbClr val="00CC00"/>
                  </a:solidFill>
                  <a:latin typeface="Times New Roman" panose="02020603050405020304" pitchFamily="18" charset="0"/>
                  <a:ea typeface="楷体_GB2312" pitchFamily="49" charset="-122"/>
                </a:endParaRPr>
              </a:p>
            </p:txBody>
          </p:sp>
        </p:grpSp>
      </p:grpSp>
      <p:sp>
        <p:nvSpPr>
          <p:cNvPr id="155" name="Rectangle 60"/>
          <p:cNvSpPr>
            <a:spLocks noChangeArrowheads="1"/>
          </p:cNvSpPr>
          <p:nvPr/>
        </p:nvSpPr>
        <p:spPr bwMode="auto">
          <a:xfrm>
            <a:off x="2546350" y="2224088"/>
            <a:ext cx="427038" cy="304800"/>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pPr>
            <a:r>
              <a:rPr kumimoji="1" lang="en-US" altLang="zh-CN" sz="2000" b="1" i="1">
                <a:solidFill>
                  <a:srgbClr val="0000FF"/>
                </a:solidFill>
                <a:latin typeface="Times New Roman" panose="02020603050405020304" pitchFamily="18" charset="0"/>
                <a:ea typeface="楷体_GB2312" pitchFamily="49" charset="-122"/>
              </a:rPr>
              <a:t>V</a:t>
            </a:r>
            <a:r>
              <a:rPr kumimoji="1" lang="en-US" altLang="zh-CN" sz="2000" b="1" baseline="-25000">
                <a:solidFill>
                  <a:srgbClr val="0000FF"/>
                </a:solidFill>
                <a:latin typeface="Times New Roman" panose="02020603050405020304" pitchFamily="18" charset="0"/>
                <a:ea typeface="楷体_GB2312" pitchFamily="49" charset="-122"/>
              </a:rPr>
              <a:t>OH</a:t>
            </a:r>
            <a:endParaRPr kumimoji="1" lang="en-US" altLang="zh-CN" sz="2000" b="1" baseline="-25000">
              <a:solidFill>
                <a:srgbClr val="0000FF"/>
              </a:solidFill>
              <a:latin typeface="Times New Roman" panose="02020603050405020304" pitchFamily="18" charset="0"/>
              <a:ea typeface="楷体_GB2312" pitchFamily="49" charset="-122"/>
            </a:endParaRPr>
          </a:p>
        </p:txBody>
      </p:sp>
      <p:grpSp>
        <p:nvGrpSpPr>
          <p:cNvPr id="156" name="Group 61"/>
          <p:cNvGrpSpPr/>
          <p:nvPr/>
        </p:nvGrpSpPr>
        <p:grpSpPr bwMode="auto">
          <a:xfrm>
            <a:off x="733425" y="2895600"/>
            <a:ext cx="2482850" cy="387350"/>
            <a:chOff x="848" y="1642"/>
            <a:chExt cx="1349" cy="244"/>
          </a:xfrm>
        </p:grpSpPr>
        <p:sp>
          <p:nvSpPr>
            <p:cNvPr id="157" name="AutoShape 62"/>
            <p:cNvSpPr>
              <a:spLocks noChangeArrowheads="1"/>
            </p:cNvSpPr>
            <p:nvPr/>
          </p:nvSpPr>
          <p:spPr bwMode="auto">
            <a:xfrm>
              <a:off x="848" y="1642"/>
              <a:ext cx="1349" cy="244"/>
            </a:xfrm>
            <a:prstGeom prst="wedgeRectCallout">
              <a:avLst>
                <a:gd name="adj1" fmla="val -36731"/>
                <a:gd name="adj2" fmla="val -100000"/>
              </a:avLst>
            </a:prstGeom>
            <a:solidFill>
              <a:srgbClr val="CCECFF"/>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defTabSz="914400" fontAlgn="base">
                <a:spcBef>
                  <a:spcPct val="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TH </a:t>
              </a:r>
              <a:r>
                <a:rPr kumimoji="1" lang="en-US" altLang="zh-CN" sz="2000" b="1" kern="0">
                  <a:solidFill>
                    <a:srgbClr val="000000"/>
                  </a:solidFill>
                  <a:latin typeface="Times New Roman" panose="02020603050405020304" pitchFamily="18" charset="0"/>
                  <a:ea typeface="楷体_GB2312" pitchFamily="49" charset="-122"/>
                </a:rPr>
                <a:t>= </a:t>
              </a:r>
              <a:r>
                <a:rPr kumimoji="1" lang="en-US" altLang="zh-CN" sz="2000" b="1" i="1" kern="0">
                  <a:solidFill>
                    <a:srgbClr val="000000"/>
                  </a:solidFill>
                  <a:latin typeface="Times New Roman" panose="02020603050405020304" pitchFamily="18" charset="0"/>
                  <a:ea typeface="楷体_GB2312" pitchFamily="49" charset="-122"/>
                </a:rPr>
                <a:t>TR </a:t>
              </a:r>
              <a:r>
                <a:rPr kumimoji="1" lang="en-US" altLang="zh-CN" sz="2000" b="1" kern="0">
                  <a:solidFill>
                    <a:srgbClr val="000000"/>
                  </a:solidFill>
                  <a:latin typeface="Times New Roman" panose="02020603050405020304" pitchFamily="18" charset="0"/>
                  <a:ea typeface="楷体_GB2312" pitchFamily="49" charset="-122"/>
                </a:rPr>
                <a:t>= </a:t>
              </a: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C </a:t>
              </a:r>
              <a:r>
                <a:rPr kumimoji="1" lang="zh-CN" altLang="en-US" sz="2000" b="1" kern="0">
                  <a:solidFill>
                    <a:srgbClr val="000000"/>
                  </a:solidFill>
                  <a:latin typeface="Times New Roman" panose="02020603050405020304" pitchFamily="18" charset="0"/>
                  <a:ea typeface="楷体_GB2312" pitchFamily="49" charset="-122"/>
                </a:rPr>
                <a:t>很小</a:t>
              </a:r>
              <a:endParaRPr kumimoji="1" lang="zh-CN" altLang="en-US" sz="2000" b="1" kern="0">
                <a:solidFill>
                  <a:srgbClr val="000000"/>
                </a:solidFill>
                <a:latin typeface="Times New Roman" panose="02020603050405020304" pitchFamily="18" charset="0"/>
                <a:ea typeface="楷体_GB2312" pitchFamily="49" charset="-122"/>
              </a:endParaRPr>
            </a:p>
          </p:txBody>
        </p:sp>
        <p:sp>
          <p:nvSpPr>
            <p:cNvPr id="158" name="Line 63"/>
            <p:cNvSpPr>
              <a:spLocks noChangeShapeType="1"/>
            </p:cNvSpPr>
            <p:nvPr/>
          </p:nvSpPr>
          <p:spPr bwMode="auto">
            <a:xfrm>
              <a:off x="1297" y="1671"/>
              <a:ext cx="202"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grpSp>
      <p:grpSp>
        <p:nvGrpSpPr>
          <p:cNvPr id="159" name="Group 64"/>
          <p:cNvGrpSpPr/>
          <p:nvPr/>
        </p:nvGrpSpPr>
        <p:grpSpPr bwMode="auto">
          <a:xfrm>
            <a:off x="904875" y="3857625"/>
            <a:ext cx="568325" cy="2173288"/>
            <a:chOff x="716" y="2392"/>
            <a:chExt cx="358" cy="1369"/>
          </a:xfrm>
        </p:grpSpPr>
        <p:sp>
          <p:nvSpPr>
            <p:cNvPr id="160" name="Freeform 65"/>
            <p:cNvSpPr/>
            <p:nvPr/>
          </p:nvSpPr>
          <p:spPr bwMode="auto">
            <a:xfrm>
              <a:off x="725" y="2392"/>
              <a:ext cx="349" cy="579"/>
            </a:xfrm>
            <a:custGeom>
              <a:avLst/>
              <a:gdLst>
                <a:gd name="T0" fmla="*/ 0 w 255"/>
                <a:gd name="T1" fmla="*/ 579 h 579"/>
                <a:gd name="T2" fmla="*/ 123 w 255"/>
                <a:gd name="T3" fmla="*/ 186 h 579"/>
                <a:gd name="T4" fmla="*/ 255 w 255"/>
                <a:gd name="T5" fmla="*/ 0 h 579"/>
              </a:gdLst>
              <a:ahLst/>
              <a:cxnLst>
                <a:cxn ang="0">
                  <a:pos x="T0" y="T1"/>
                </a:cxn>
                <a:cxn ang="0">
                  <a:pos x="T2" y="T3"/>
                </a:cxn>
                <a:cxn ang="0">
                  <a:pos x="T4" y="T5"/>
                </a:cxn>
              </a:cxnLst>
              <a:rect l="0" t="0" r="r" b="b"/>
              <a:pathLst>
                <a:path w="255" h="579">
                  <a:moveTo>
                    <a:pt x="0" y="579"/>
                  </a:moveTo>
                  <a:cubicBezTo>
                    <a:pt x="20" y="514"/>
                    <a:pt x="81" y="282"/>
                    <a:pt x="123" y="186"/>
                  </a:cubicBezTo>
                  <a:cubicBezTo>
                    <a:pt x="165" y="90"/>
                    <a:pt x="227" y="39"/>
                    <a:pt x="255" y="0"/>
                  </a:cubicBezTo>
                </a:path>
              </a:pathLst>
            </a:custGeom>
            <a:noFill/>
            <a:ln w="38100" cap="flat" cmpd="sng">
              <a:solidFill>
                <a:srgbClr val="00CC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161" name="Line 66"/>
            <p:cNvSpPr>
              <a:spLocks noChangeShapeType="1"/>
            </p:cNvSpPr>
            <p:nvPr/>
          </p:nvSpPr>
          <p:spPr bwMode="auto">
            <a:xfrm>
              <a:off x="716" y="3420"/>
              <a:ext cx="348" cy="0"/>
            </a:xfrm>
            <a:prstGeom prst="line">
              <a:avLst/>
            </a:prstGeom>
            <a:noFill/>
            <a:ln w="38100">
              <a:solidFill>
                <a:srgbClr val="00CC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162" name="Rectangle 67"/>
            <p:cNvSpPr>
              <a:spLocks noChangeArrowheads="1"/>
            </p:cNvSpPr>
            <p:nvPr/>
          </p:nvSpPr>
          <p:spPr bwMode="auto">
            <a:xfrm>
              <a:off x="805" y="356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pPr>
              <a:r>
                <a:rPr kumimoji="1" lang="en-US" altLang="zh-CN" sz="2000" b="1">
                  <a:solidFill>
                    <a:srgbClr val="00CC00"/>
                  </a:solidFill>
                  <a:latin typeface="Times New Roman" panose="02020603050405020304" pitchFamily="18" charset="0"/>
                  <a:ea typeface="楷体_GB2312" pitchFamily="49" charset="-122"/>
                </a:rPr>
                <a:t>Ⅰ</a:t>
              </a:r>
              <a:endParaRPr kumimoji="1" lang="en-US" altLang="zh-CN" sz="2000" b="1">
                <a:solidFill>
                  <a:srgbClr val="00CC00"/>
                </a:solidFill>
                <a:latin typeface="Times New Roman" panose="02020603050405020304" pitchFamily="18" charset="0"/>
                <a:ea typeface="楷体_GB2312" pitchFamily="49" charset="-122"/>
              </a:endParaRPr>
            </a:p>
          </p:txBody>
        </p:sp>
      </p:grpSp>
      <p:sp>
        <p:nvSpPr>
          <p:cNvPr id="163" name="Oval 68"/>
          <p:cNvSpPr>
            <a:spLocks noChangeArrowheads="1"/>
          </p:cNvSpPr>
          <p:nvPr/>
        </p:nvSpPr>
        <p:spPr bwMode="auto">
          <a:xfrm>
            <a:off x="615950" y="2163763"/>
            <a:ext cx="744538" cy="495300"/>
          </a:xfrm>
          <a:prstGeom prst="ellipse">
            <a:avLst/>
          </a:prstGeom>
          <a:noFill/>
          <a:ln w="38100">
            <a:solidFill>
              <a:srgbClr val="00CC00"/>
            </a:solidFill>
            <a:round/>
          </a:ln>
          <a:effectLst/>
          <a:extLst>
            <a:ext uri="{909E8E84-426E-40DD-AFC4-6F175D3DCCD1}">
              <a14:hiddenFill xmlns:a14="http://schemas.microsoft.com/office/drawing/2010/main">
                <a:solidFill>
                  <a:srgbClr val="CCE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grpSp>
        <p:nvGrpSpPr>
          <p:cNvPr id="164" name="Group 69"/>
          <p:cNvGrpSpPr/>
          <p:nvPr/>
        </p:nvGrpSpPr>
        <p:grpSpPr bwMode="auto">
          <a:xfrm>
            <a:off x="3580276" y="1806489"/>
            <a:ext cx="4776787" cy="4447846"/>
            <a:chOff x="2289" y="1099"/>
            <a:chExt cx="3143" cy="2489"/>
          </a:xfrm>
        </p:grpSpPr>
        <p:sp>
          <p:nvSpPr>
            <p:cNvPr id="165" name="Text Box 70"/>
            <p:cNvSpPr txBox="1">
              <a:spLocks noChangeArrowheads="1"/>
            </p:cNvSpPr>
            <p:nvPr/>
          </p:nvSpPr>
          <p:spPr bwMode="auto">
            <a:xfrm>
              <a:off x="2289" y="1099"/>
              <a:ext cx="3143" cy="2489"/>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defTabSz="914400" fontAlgn="base">
                <a:lnSpc>
                  <a:spcPct val="150000"/>
                </a:lnSpc>
                <a:spcBef>
                  <a:spcPct val="0"/>
                </a:spcBef>
                <a:spcAft>
                  <a:spcPct val="0"/>
                </a:spcAft>
                <a:defRPr/>
              </a:pPr>
              <a:r>
                <a:rPr kumimoji="1" lang="zh-CN" altLang="en-US" sz="2800" b="1" kern="0" dirty="0">
                  <a:solidFill>
                    <a:srgbClr val="C00000"/>
                  </a:solidFill>
                  <a:latin typeface="Times New Roman" panose="02020603050405020304" pitchFamily="18" charset="0"/>
                  <a:ea typeface="楷体_GB2312" pitchFamily="49" charset="-122"/>
                </a:rPr>
                <a:t>接通 </a:t>
              </a:r>
              <a:r>
                <a:rPr kumimoji="1" lang="en-US" altLang="zh-CN" sz="2800" b="1" i="1" kern="0" dirty="0">
                  <a:solidFill>
                    <a:srgbClr val="C00000"/>
                  </a:solidFill>
                  <a:latin typeface="Times New Roman" panose="02020603050405020304" pitchFamily="18" charset="0"/>
                  <a:ea typeface="楷体_GB2312" pitchFamily="49" charset="-122"/>
                </a:rPr>
                <a:t>V</a:t>
              </a:r>
              <a:r>
                <a:rPr kumimoji="1" lang="en-US" altLang="zh-CN" sz="2800" b="1" kern="0" baseline="-25000" dirty="0">
                  <a:solidFill>
                    <a:srgbClr val="C00000"/>
                  </a:solidFill>
                  <a:latin typeface="Times New Roman" panose="02020603050405020304" pitchFamily="18" charset="0"/>
                  <a:ea typeface="楷体_GB2312" pitchFamily="49" charset="-122"/>
                </a:rPr>
                <a:t>CC </a:t>
              </a:r>
              <a:r>
                <a:rPr kumimoji="1" lang="zh-CN" altLang="en-US" sz="2800" b="1" kern="0" dirty="0">
                  <a:solidFill>
                    <a:srgbClr val="C00000"/>
                  </a:solidFill>
                  <a:latin typeface="Times New Roman" panose="02020603050405020304" pitchFamily="18" charset="0"/>
                  <a:ea typeface="楷体_GB2312" pitchFamily="49" charset="-122"/>
                </a:rPr>
                <a:t>后</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zh-CN" altLang="en-US" sz="2800" b="1" kern="0" dirty="0">
                  <a:solidFill>
                    <a:srgbClr val="000000"/>
                  </a:solidFill>
                  <a:latin typeface="Times New Roman" panose="02020603050405020304" pitchFamily="18" charset="0"/>
                  <a:ea typeface="楷体_GB2312" pitchFamily="49" charset="-122"/>
                </a:rPr>
                <a:t>开始时 </a:t>
              </a:r>
              <a:r>
                <a:rPr kumimoji="1" lang="en-US" altLang="zh-CN" sz="2800" b="1" i="1" kern="0" dirty="0">
                  <a:solidFill>
                    <a:srgbClr val="FF0000"/>
                  </a:solidFill>
                  <a:latin typeface="Times New Roman" panose="02020603050405020304" pitchFamily="18" charset="0"/>
                  <a:ea typeface="楷体_GB2312" pitchFamily="49" charset="-122"/>
                </a:rPr>
                <a:t>TH </a:t>
              </a:r>
              <a:r>
                <a:rPr kumimoji="1" lang="en-US" altLang="zh-CN" sz="2800" b="1" kern="0" dirty="0">
                  <a:solidFill>
                    <a:srgbClr val="FF0000"/>
                  </a:solidFill>
                  <a:latin typeface="Times New Roman" panose="02020603050405020304" pitchFamily="18" charset="0"/>
                  <a:ea typeface="楷体_GB2312" pitchFamily="49" charset="-122"/>
                </a:rPr>
                <a:t>= </a:t>
              </a:r>
              <a:r>
                <a:rPr kumimoji="1" lang="en-US" altLang="zh-CN" sz="2800" b="1" i="1" kern="0" dirty="0">
                  <a:solidFill>
                    <a:srgbClr val="FF0000"/>
                  </a:solidFill>
                  <a:latin typeface="Times New Roman" panose="02020603050405020304" pitchFamily="18" charset="0"/>
                  <a:ea typeface="楷体_GB2312" pitchFamily="49" charset="-122"/>
                </a:rPr>
                <a:t>TR </a:t>
              </a:r>
              <a:r>
                <a:rPr kumimoji="1" lang="en-US" altLang="zh-CN" sz="2800" b="1" kern="0" dirty="0">
                  <a:solidFill>
                    <a:srgbClr val="FF0000"/>
                  </a:solidFill>
                  <a:latin typeface="Times New Roman" panose="02020603050405020304" pitchFamily="18" charset="0"/>
                  <a:ea typeface="楷体_GB2312" pitchFamily="49" charset="-122"/>
                </a:rPr>
                <a:t>= </a:t>
              </a:r>
              <a:r>
                <a:rPr kumimoji="1" lang="en-US" altLang="zh-CN" sz="2800" b="1" i="1" kern="0" dirty="0" err="1">
                  <a:solidFill>
                    <a:srgbClr val="FF0000"/>
                  </a:solidFill>
                  <a:latin typeface="Times New Roman" panose="02020603050405020304" pitchFamily="18" charset="0"/>
                  <a:ea typeface="楷体_GB2312" pitchFamily="49" charset="-122"/>
                </a:rPr>
                <a:t>u</a:t>
              </a:r>
              <a:r>
                <a:rPr kumimoji="1" lang="en-US" altLang="zh-CN" sz="2800" b="1" i="1" kern="0" baseline="-25000" dirty="0" err="1">
                  <a:solidFill>
                    <a:srgbClr val="FF0000"/>
                  </a:solidFill>
                  <a:latin typeface="Times New Roman" panose="02020603050405020304" pitchFamily="18" charset="0"/>
                  <a:ea typeface="楷体_GB2312" pitchFamily="49" charset="-122"/>
                </a:rPr>
                <a:t>C</a:t>
              </a:r>
              <a:r>
                <a:rPr kumimoji="1" lang="en-US" altLang="zh-CN" sz="2800" b="1" kern="0" baseline="-25000" dirty="0">
                  <a:solidFill>
                    <a:srgbClr val="FF0000"/>
                  </a:solidFill>
                  <a:latin typeface="Times New Roman" panose="02020603050405020304" pitchFamily="18" charset="0"/>
                  <a:ea typeface="楷体_GB2312" pitchFamily="49" charset="-122"/>
                </a:rPr>
                <a:t>  </a:t>
              </a:r>
              <a:r>
                <a:rPr kumimoji="1" lang="en-US" altLang="zh-CN" sz="2800" b="1" kern="0" dirty="0">
                  <a:solidFill>
                    <a:srgbClr val="FF0000"/>
                  </a:solidFill>
                  <a:latin typeface="Times New Roman" panose="02020603050405020304" pitchFamily="18" charset="0"/>
                  <a:ea typeface="楷体_GB2312" pitchFamily="49" charset="-122"/>
                  <a:sym typeface="Symbol" panose="05050102010706020507" pitchFamily="18" charset="2"/>
                </a:rPr>
                <a:t></a:t>
              </a:r>
              <a:r>
                <a:rPr kumimoji="1" lang="en-US" altLang="zh-CN" sz="2800" b="1" kern="0" dirty="0">
                  <a:solidFill>
                    <a:srgbClr val="FF0000"/>
                  </a:solidFill>
                  <a:latin typeface="Times New Roman" panose="02020603050405020304" pitchFamily="18" charset="0"/>
                  <a:ea typeface="楷体_GB2312" pitchFamily="49" charset="-122"/>
                </a:rPr>
                <a:t> 0</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kern="0" dirty="0">
                  <a:solidFill>
                    <a:srgbClr val="000000"/>
                  </a:solidFill>
                  <a:latin typeface="Times New Roman" panose="02020603050405020304" pitchFamily="18" charset="0"/>
                  <a:ea typeface="楷体_GB2312" pitchFamily="49" charset="-122"/>
                </a:rPr>
                <a:t>             </a:t>
              </a:r>
              <a:r>
                <a:rPr kumimoji="1" lang="en-US" altLang="zh-CN" sz="2800" b="1" i="1" kern="0" dirty="0" err="1">
                  <a:solidFill>
                    <a:srgbClr val="0033CC"/>
                  </a:solidFill>
                  <a:latin typeface="Times New Roman" panose="02020603050405020304" pitchFamily="18" charset="0"/>
                  <a:ea typeface="楷体_GB2312" pitchFamily="49" charset="-122"/>
                </a:rPr>
                <a:t>u</a:t>
              </a:r>
              <a:r>
                <a:rPr kumimoji="1" lang="en-US" altLang="zh-CN" sz="2800" b="1" kern="0" baseline="-25000" dirty="0" err="1">
                  <a:solidFill>
                    <a:srgbClr val="0033CC"/>
                  </a:solidFill>
                  <a:latin typeface="Times New Roman" panose="02020603050405020304" pitchFamily="18" charset="0"/>
                  <a:ea typeface="楷体_GB2312" pitchFamily="49" charset="-122"/>
                </a:rPr>
                <a:t>O</a:t>
              </a:r>
              <a:r>
                <a:rPr kumimoji="1" lang="en-US" altLang="zh-CN" sz="2800" b="1" kern="0" baseline="-25000" dirty="0">
                  <a:solidFill>
                    <a:srgbClr val="0033CC"/>
                  </a:solidFill>
                  <a:latin typeface="Times New Roman" panose="02020603050405020304" pitchFamily="18" charset="0"/>
                  <a:ea typeface="楷体_GB2312" pitchFamily="49" charset="-122"/>
                </a:rPr>
                <a:t> </a:t>
              </a:r>
              <a:r>
                <a:rPr kumimoji="1" lang="zh-CN" altLang="en-US" sz="2800" b="1" kern="0" dirty="0">
                  <a:solidFill>
                    <a:srgbClr val="0033CC"/>
                  </a:solidFill>
                  <a:latin typeface="Times New Roman" panose="02020603050405020304" pitchFamily="18" charset="0"/>
                  <a:ea typeface="楷体_GB2312" pitchFamily="49" charset="-122"/>
                </a:rPr>
                <a:t>为高电平，</a:t>
              </a:r>
              <a:endParaRPr kumimoji="1" lang="en-US" altLang="zh-CN" sz="2800" b="1" kern="0" dirty="0">
                <a:solidFill>
                  <a:srgbClr val="0033CC"/>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kern="0" dirty="0">
                  <a:solidFill>
                    <a:srgbClr val="0033CC"/>
                  </a:solidFill>
                  <a:latin typeface="Times New Roman" panose="02020603050405020304" pitchFamily="18" charset="0"/>
                  <a:ea typeface="楷体_GB2312" pitchFamily="49" charset="-122"/>
                </a:rPr>
                <a:t>             </a:t>
              </a:r>
              <a:r>
                <a:rPr kumimoji="1" lang="zh-CN" altLang="en-US" sz="2800" b="1" kern="0" dirty="0">
                  <a:solidFill>
                    <a:srgbClr val="000000"/>
                  </a:solidFill>
                  <a:latin typeface="Times New Roman" panose="02020603050405020304" pitchFamily="18" charset="0"/>
                  <a:ea typeface="楷体_GB2312" pitchFamily="49" charset="-122"/>
                </a:rPr>
                <a:t>放电管</a:t>
              </a:r>
              <a:r>
                <a:rPr kumimoji="1" lang="zh-CN" altLang="en-US" sz="2800" b="1" kern="0" dirty="0">
                  <a:solidFill>
                    <a:srgbClr val="FF0000"/>
                  </a:solidFill>
                  <a:latin typeface="Times New Roman" panose="02020603050405020304" pitchFamily="18" charset="0"/>
                  <a:ea typeface="楷体_GB2312" pitchFamily="49" charset="-122"/>
                </a:rPr>
                <a:t>截止</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i="1" kern="0" dirty="0">
                  <a:solidFill>
                    <a:srgbClr val="000000"/>
                  </a:solidFill>
                  <a:latin typeface="Times New Roman" panose="02020603050405020304" pitchFamily="18" charset="0"/>
                  <a:ea typeface="楷体_GB2312" pitchFamily="49" charset="-122"/>
                </a:rPr>
                <a:t>V</a:t>
              </a:r>
              <a:r>
                <a:rPr kumimoji="1" lang="en-US" altLang="zh-CN" sz="2800" b="1" kern="0" baseline="-25000" dirty="0">
                  <a:solidFill>
                    <a:srgbClr val="000000"/>
                  </a:solidFill>
                  <a:latin typeface="Times New Roman" panose="02020603050405020304" pitchFamily="18" charset="0"/>
                  <a:ea typeface="楷体_GB2312" pitchFamily="49" charset="-122"/>
                </a:rPr>
                <a:t>CC </a:t>
              </a:r>
              <a:r>
                <a:rPr kumimoji="1" lang="zh-CN" altLang="en-US" sz="2800" b="1" kern="0" dirty="0">
                  <a:solidFill>
                    <a:srgbClr val="000000"/>
                  </a:solidFill>
                  <a:latin typeface="Times New Roman" panose="02020603050405020304" pitchFamily="18" charset="0"/>
                  <a:ea typeface="楷体_GB2312" pitchFamily="49" charset="-122"/>
                </a:rPr>
                <a:t>经 </a:t>
              </a:r>
              <a:r>
                <a:rPr kumimoji="1" lang="en-US" altLang="zh-CN" sz="2800" b="1" i="1" kern="0" dirty="0">
                  <a:solidFill>
                    <a:srgbClr val="000000"/>
                  </a:solidFill>
                  <a:latin typeface="Times New Roman" panose="02020603050405020304" pitchFamily="18" charset="0"/>
                  <a:ea typeface="楷体_GB2312" pitchFamily="49" charset="-122"/>
                </a:rPr>
                <a:t>R</a:t>
              </a:r>
              <a:r>
                <a:rPr kumimoji="1" lang="en-US" altLang="zh-CN" sz="2800" b="1" kern="0" baseline="-25000" dirty="0">
                  <a:solidFill>
                    <a:srgbClr val="000000"/>
                  </a:solidFill>
                  <a:latin typeface="Times New Roman" panose="02020603050405020304" pitchFamily="18" charset="0"/>
                  <a:ea typeface="楷体_GB2312" pitchFamily="49" charset="-122"/>
                </a:rPr>
                <a:t>1</a:t>
              </a:r>
              <a:r>
                <a:rPr kumimoji="1" lang="zh-CN" altLang="en-US" sz="2800" b="1" kern="0" dirty="0">
                  <a:solidFill>
                    <a:srgbClr val="000000"/>
                  </a:solidFill>
                  <a:latin typeface="Times New Roman" panose="02020603050405020304" pitchFamily="18" charset="0"/>
                  <a:ea typeface="楷体_GB2312" pitchFamily="49" charset="-122"/>
                </a:rPr>
                <a:t>、</a:t>
              </a:r>
              <a:r>
                <a:rPr kumimoji="1" lang="en-US" altLang="zh-CN" sz="2800" b="1" i="1" kern="0" dirty="0">
                  <a:solidFill>
                    <a:srgbClr val="000000"/>
                  </a:solidFill>
                  <a:latin typeface="Times New Roman" panose="02020603050405020304" pitchFamily="18" charset="0"/>
                  <a:ea typeface="楷体_GB2312" pitchFamily="49" charset="-122"/>
                </a:rPr>
                <a:t>R</a:t>
              </a:r>
              <a:r>
                <a:rPr kumimoji="1" lang="en-US" altLang="zh-CN" sz="2800" b="1" kern="0" baseline="-25000" dirty="0">
                  <a:solidFill>
                    <a:srgbClr val="000000"/>
                  </a:solidFill>
                  <a:latin typeface="Times New Roman" panose="02020603050405020304" pitchFamily="18" charset="0"/>
                  <a:ea typeface="楷体_GB2312" pitchFamily="49" charset="-122"/>
                </a:rPr>
                <a:t>2 </a:t>
              </a:r>
              <a:r>
                <a:rPr kumimoji="1" lang="zh-CN" altLang="en-US" sz="2800" b="1" kern="0" dirty="0">
                  <a:solidFill>
                    <a:srgbClr val="FF0000"/>
                  </a:solidFill>
                  <a:latin typeface="Times New Roman" panose="02020603050405020304" pitchFamily="18" charset="0"/>
                  <a:ea typeface="楷体_GB2312" pitchFamily="49" charset="-122"/>
                </a:rPr>
                <a:t>向 </a:t>
              </a:r>
              <a:r>
                <a:rPr kumimoji="1" lang="en-US" altLang="zh-CN" sz="2800" b="1" i="1" kern="0" dirty="0">
                  <a:solidFill>
                    <a:srgbClr val="FF0000"/>
                  </a:solidFill>
                  <a:latin typeface="Times New Roman" panose="02020603050405020304" pitchFamily="18" charset="0"/>
                  <a:ea typeface="楷体_GB2312" pitchFamily="49" charset="-122"/>
                </a:rPr>
                <a:t>C </a:t>
              </a:r>
              <a:r>
                <a:rPr kumimoji="1" lang="zh-CN" altLang="en-US" sz="2800" b="1" kern="0" dirty="0">
                  <a:solidFill>
                    <a:srgbClr val="FF0000"/>
                  </a:solidFill>
                  <a:latin typeface="Times New Roman" panose="02020603050405020304" pitchFamily="18" charset="0"/>
                  <a:ea typeface="楷体_GB2312" pitchFamily="49" charset="-122"/>
                </a:rPr>
                <a:t>充电</a:t>
              </a:r>
              <a:r>
                <a:rPr kumimoji="1" lang="zh-CN" altLang="en-US" sz="2800" b="1" kern="0" dirty="0">
                  <a:solidFill>
                    <a:srgbClr val="0033CC"/>
                  </a:solidFill>
                  <a:latin typeface="Times New Roman" panose="02020603050405020304" pitchFamily="18" charset="0"/>
                  <a:ea typeface="楷体_GB2312" pitchFamily="49" charset="-122"/>
                </a:rPr>
                <a:t>，</a:t>
              </a:r>
              <a:endParaRPr kumimoji="1" lang="en-US" altLang="zh-CN" sz="2800" b="1" kern="0" dirty="0">
                <a:solidFill>
                  <a:srgbClr val="0033CC"/>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kern="0" dirty="0">
                  <a:solidFill>
                    <a:srgbClr val="0033CC"/>
                  </a:solidFill>
                  <a:latin typeface="Times New Roman" panose="02020603050405020304" pitchFamily="18" charset="0"/>
                  <a:ea typeface="楷体_GB2312" pitchFamily="49" charset="-122"/>
                </a:rPr>
                <a:t>              </a:t>
              </a:r>
              <a:r>
                <a:rPr kumimoji="1" lang="en-US" altLang="zh-CN" sz="2800" b="1" i="1" kern="0" dirty="0" err="1">
                  <a:solidFill>
                    <a:srgbClr val="0033CC"/>
                  </a:solidFill>
                  <a:latin typeface="Times New Roman" panose="02020603050405020304" pitchFamily="18" charset="0"/>
                  <a:ea typeface="楷体_GB2312" pitchFamily="49" charset="-122"/>
                </a:rPr>
                <a:t>u</a:t>
              </a:r>
              <a:r>
                <a:rPr kumimoji="1" lang="en-US" altLang="zh-CN" sz="2800" b="1" i="1" kern="0" baseline="-25000" dirty="0" err="1">
                  <a:solidFill>
                    <a:srgbClr val="0033CC"/>
                  </a:solidFill>
                  <a:latin typeface="Times New Roman" panose="02020603050405020304" pitchFamily="18" charset="0"/>
                  <a:ea typeface="楷体_GB2312" pitchFamily="49" charset="-122"/>
                </a:rPr>
                <a:t>C</a:t>
              </a:r>
              <a:r>
                <a:rPr kumimoji="1" lang="en-US" altLang="zh-CN" sz="2800" b="1" kern="0" baseline="-25000" dirty="0">
                  <a:solidFill>
                    <a:srgbClr val="0033CC"/>
                  </a:solidFill>
                  <a:latin typeface="Times New Roman" panose="02020603050405020304" pitchFamily="18" charset="0"/>
                  <a:ea typeface="楷体_GB2312" pitchFamily="49" charset="-122"/>
                </a:rPr>
                <a:t> </a:t>
              </a:r>
              <a:r>
                <a:rPr kumimoji="1" lang="zh-CN" altLang="en-US" sz="2800" b="1" kern="0" dirty="0">
                  <a:solidFill>
                    <a:srgbClr val="0033CC"/>
                  </a:solidFill>
                  <a:latin typeface="Times New Roman" panose="02020603050405020304" pitchFamily="18" charset="0"/>
                  <a:ea typeface="楷体_GB2312" pitchFamily="49" charset="-122"/>
                </a:rPr>
                <a:t>上升</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zh-CN" altLang="en-US" sz="2800" b="1" kern="0" dirty="0">
                  <a:solidFill>
                    <a:srgbClr val="000000"/>
                  </a:solidFill>
                  <a:latin typeface="Times New Roman" panose="02020603050405020304" pitchFamily="18" charset="0"/>
                  <a:ea typeface="楷体_GB2312" pitchFamily="49" charset="-122"/>
                </a:rPr>
                <a:t>这时电路</a:t>
              </a:r>
              <a:r>
                <a:rPr kumimoji="1" lang="zh-CN" altLang="en-US" sz="2800" b="1" kern="0" dirty="0">
                  <a:solidFill>
                    <a:srgbClr val="0033CC"/>
                  </a:solidFill>
                  <a:latin typeface="Times New Roman" panose="02020603050405020304" pitchFamily="18" charset="0"/>
                  <a:ea typeface="楷体_GB2312" pitchFamily="49" charset="-122"/>
                </a:rPr>
                <a:t>处于暂稳态</a:t>
              </a:r>
              <a:r>
                <a:rPr kumimoji="1" lang="en-US" altLang="zh-CN" sz="2800" b="1" kern="0" dirty="0">
                  <a:solidFill>
                    <a:srgbClr val="0033CC"/>
                  </a:solidFill>
                  <a:latin typeface="Times New Roman" panose="02020603050405020304" pitchFamily="18" charset="0"/>
                  <a:ea typeface="楷体_GB2312" pitchFamily="49" charset="-122"/>
                </a:rPr>
                <a:t>Ⅰ</a:t>
              </a:r>
              <a:r>
                <a:rPr kumimoji="1" lang="zh-CN" altLang="en-US" sz="2800" b="1" kern="0" dirty="0">
                  <a:solidFill>
                    <a:srgbClr val="000000"/>
                  </a:solidFill>
                  <a:latin typeface="Times New Roman" panose="02020603050405020304" pitchFamily="18" charset="0"/>
                  <a:ea typeface="楷体_GB2312" pitchFamily="49" charset="-122"/>
                </a:rPr>
                <a:t>。 </a:t>
              </a:r>
              <a:endParaRPr kumimoji="1" lang="zh-CN" altLang="en-US" sz="2800" b="1" kern="0" dirty="0">
                <a:solidFill>
                  <a:srgbClr val="000000"/>
                </a:solidFill>
                <a:latin typeface="Times New Roman" panose="02020603050405020304" pitchFamily="18" charset="0"/>
                <a:ea typeface="楷体_GB2312" pitchFamily="49" charset="-122"/>
              </a:endParaRPr>
            </a:p>
          </p:txBody>
        </p:sp>
        <p:sp>
          <p:nvSpPr>
            <p:cNvPr id="166" name="Line 71"/>
            <p:cNvSpPr>
              <a:spLocks noChangeShapeType="1"/>
            </p:cNvSpPr>
            <p:nvPr/>
          </p:nvSpPr>
          <p:spPr bwMode="auto">
            <a:xfrm>
              <a:off x="3649" y="1551"/>
              <a:ext cx="239" cy="0"/>
            </a:xfrm>
            <a:prstGeom prst="line">
              <a:avLst/>
            </a:prstGeom>
            <a:noFill/>
            <a:ln w="19050">
              <a:no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lnSpc>
                  <a:spcPct val="150000"/>
                </a:lnSpc>
                <a:spcBef>
                  <a:spcPct val="0"/>
                </a:spcBef>
                <a:spcAft>
                  <a:spcPct val="0"/>
                </a:spcAft>
                <a:defRPr/>
              </a:pPr>
              <a:endParaRPr lang="zh-CN" altLang="en-US" sz="2000" b="1" kern="0">
                <a:solidFill>
                  <a:srgbClr val="000000"/>
                </a:solidFill>
                <a:latin typeface="Times New Roman" panose="02020603050405020304" pitchFamily="18" charset="0"/>
                <a:ea typeface="楷体_GB2312" pitchFamily="49" charset="-122"/>
              </a:endParaRPr>
            </a:p>
          </p:txBody>
        </p:sp>
      </p:grpSp>
      <p:sp>
        <p:nvSpPr>
          <p:cNvPr id="167" name="Text Box 73" descr="窄竖线"/>
          <p:cNvSpPr txBox="1">
            <a:spLocks noChangeArrowheads="1"/>
          </p:cNvSpPr>
          <p:nvPr/>
        </p:nvSpPr>
        <p:spPr bwMode="auto">
          <a:xfrm>
            <a:off x="3554496" y="1227974"/>
            <a:ext cx="2925763" cy="430887"/>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14400" fontAlgn="base">
              <a:spcBef>
                <a:spcPct val="0"/>
              </a:spcBef>
              <a:spcAft>
                <a:spcPct val="0"/>
              </a:spcAft>
            </a:pPr>
            <a:r>
              <a:rPr kumimoji="1" lang="en-US" altLang="zh-CN" sz="2800" b="1" dirty="0">
                <a:solidFill>
                  <a:srgbClr val="000000"/>
                </a:solidFill>
                <a:latin typeface="Times New Roman" panose="02020603050405020304" pitchFamily="18" charset="0"/>
                <a:ea typeface="楷体_GB2312" pitchFamily="49" charset="-122"/>
              </a:rPr>
              <a:t>  1)  </a:t>
            </a:r>
            <a:r>
              <a:rPr kumimoji="1" lang="zh-CN" altLang="en-US" sz="2800" b="1" dirty="0">
                <a:solidFill>
                  <a:srgbClr val="000000"/>
                </a:solidFill>
                <a:latin typeface="Times New Roman" panose="02020603050405020304" pitchFamily="18" charset="0"/>
                <a:ea typeface="楷体_GB2312" pitchFamily="49" charset="-122"/>
              </a:rPr>
              <a:t>第一暂稳态 </a:t>
            </a:r>
            <a:endParaRPr kumimoji="1" lang="zh-CN" altLang="en-US" sz="2800" b="1" dirty="0">
              <a:solidFill>
                <a:srgbClr val="000000"/>
              </a:solidFill>
              <a:latin typeface="Times New Roman" panose="02020603050405020304" pitchFamily="18" charset="0"/>
              <a:ea typeface="楷体_GB2312" pitchFamily="49" charset="-122"/>
            </a:endParaRPr>
          </a:p>
        </p:txBody>
      </p:sp>
      <p:grpSp>
        <p:nvGrpSpPr>
          <p:cNvPr id="76" name="组合 75"/>
          <p:cNvGrpSpPr/>
          <p:nvPr/>
        </p:nvGrpSpPr>
        <p:grpSpPr>
          <a:xfrm>
            <a:off x="6558015" y="117774"/>
            <a:ext cx="2553367" cy="2174277"/>
            <a:chOff x="5594130" y="92351"/>
            <a:chExt cx="2528387" cy="2174301"/>
          </a:xfrm>
        </p:grpSpPr>
        <p:grpSp>
          <p:nvGrpSpPr>
            <p:cNvPr id="77" name="Group 41"/>
            <p:cNvGrpSpPr/>
            <p:nvPr/>
          </p:nvGrpSpPr>
          <p:grpSpPr bwMode="auto">
            <a:xfrm>
              <a:off x="5594130" y="92351"/>
              <a:ext cx="2528387" cy="2174301"/>
              <a:chOff x="3010" y="624"/>
              <a:chExt cx="1830" cy="1348"/>
            </a:xfrm>
          </p:grpSpPr>
          <p:sp>
            <p:nvSpPr>
              <p:cNvPr id="82" name="Rectangle 42"/>
              <p:cNvSpPr>
                <a:spLocks noChangeArrowheads="1"/>
              </p:cNvSpPr>
              <p:nvPr/>
            </p:nvSpPr>
            <p:spPr bwMode="auto">
              <a:xfrm>
                <a:off x="4375" y="634"/>
                <a:ext cx="447"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0"/>
                  </a:spcBef>
                  <a:spcAft>
                    <a:spcPct val="0"/>
                  </a:spcAft>
                  <a:defRPr/>
                </a:pPr>
                <a:r>
                  <a:rPr lang="en-US" altLang="zh-CN" sz="2000" kern="0" dirty="0">
                    <a:solidFill>
                      <a:srgbClr val="0000FF"/>
                    </a:solidFill>
                  </a:rPr>
                  <a:t>  </a:t>
                </a:r>
                <a:r>
                  <a:rPr lang="en-US" altLang="zh-CN" i="1" kern="0" dirty="0">
                    <a:solidFill>
                      <a:srgbClr val="0000FF"/>
                    </a:solidFill>
                  </a:rPr>
                  <a:t>u</a:t>
                </a:r>
                <a:r>
                  <a:rPr lang="en-US" altLang="zh-CN" sz="2800" i="1" kern="0" baseline="-25000" dirty="0">
                    <a:solidFill>
                      <a:srgbClr val="0000FF"/>
                    </a:solidFill>
                  </a:rPr>
                  <a:t>o</a:t>
                </a:r>
                <a:endParaRPr lang="en-US" altLang="zh-CN" sz="2000" i="1" kern="0" baseline="-25000" dirty="0">
                  <a:solidFill>
                    <a:srgbClr val="0000FF"/>
                  </a:solidFill>
                </a:endParaRPr>
              </a:p>
            </p:txBody>
          </p:sp>
          <p:sp>
            <p:nvSpPr>
              <p:cNvPr id="83" name="Rectangle 44"/>
              <p:cNvSpPr>
                <a:spLocks noChangeArrowheads="1"/>
              </p:cNvSpPr>
              <p:nvPr/>
            </p:nvSpPr>
            <p:spPr bwMode="auto">
              <a:xfrm>
                <a:off x="4494" y="889"/>
                <a:ext cx="346" cy="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1</a:t>
                </a:r>
                <a:endParaRPr lang="en-US" altLang="zh-CN" kern="0" dirty="0">
                  <a:solidFill>
                    <a:srgbClr val="0000FF"/>
                  </a:solidFill>
                  <a:ea typeface="楷体_GB2312" pitchFamily="49" charset="-122"/>
                </a:endParaRPr>
              </a:p>
              <a:p>
                <a:pPr algn="ctr" defTabSz="914400" fontAlgn="base">
                  <a:spcBef>
                    <a:spcPct val="0"/>
                  </a:spcBef>
                  <a:spcAft>
                    <a:spcPct val="0"/>
                  </a:spcAft>
                  <a:defRPr/>
                </a:pP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0</a:t>
                </a:r>
                <a:endParaRPr lang="zh-CN" altLang="en-US" kern="0" dirty="0">
                  <a:solidFill>
                    <a:srgbClr val="0000FF"/>
                  </a:solidFill>
                  <a:ea typeface="楷体_GB2312" pitchFamily="49" charset="-122"/>
                </a:endParaRPr>
              </a:p>
            </p:txBody>
          </p:sp>
          <p:sp>
            <p:nvSpPr>
              <p:cNvPr id="84" name="Rectangle 45"/>
              <p:cNvSpPr>
                <a:spLocks noChangeArrowheads="1"/>
              </p:cNvSpPr>
              <p:nvPr/>
            </p:nvSpPr>
            <p:spPr bwMode="auto">
              <a:xfrm>
                <a:off x="3340" y="939"/>
                <a:ext cx="786" cy="9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endParaRPr lang="en-US" altLang="zh-CN" kern="0" dirty="0">
                  <a:solidFill>
                    <a:srgbClr val="0000FF"/>
                  </a:solidFill>
                </a:endParaRPr>
              </a:p>
            </p:txBody>
          </p:sp>
          <p:sp>
            <p:nvSpPr>
              <p:cNvPr id="85" name="Rectangle 46"/>
              <p:cNvSpPr>
                <a:spLocks noChangeArrowheads="1"/>
              </p:cNvSpPr>
              <p:nvPr/>
            </p:nvSpPr>
            <p:spPr bwMode="auto">
              <a:xfrm>
                <a:off x="3010" y="682"/>
                <a:ext cx="1337"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en-US" altLang="zh-CN" sz="2000" i="1" kern="0" dirty="0">
                    <a:solidFill>
                      <a:srgbClr val="0000FF"/>
                    </a:solidFill>
                  </a:rPr>
                  <a:t>TH        TR</a:t>
                </a:r>
                <a:endParaRPr lang="en-US" altLang="zh-CN" sz="2000" i="1" kern="0" baseline="-25000" dirty="0">
                  <a:solidFill>
                    <a:srgbClr val="0000FF"/>
                  </a:solidFill>
                </a:endParaRPr>
              </a:p>
            </p:txBody>
          </p:sp>
          <p:sp>
            <p:nvSpPr>
              <p:cNvPr id="86" name="Line 47"/>
              <p:cNvSpPr>
                <a:spLocks noChangeShapeType="1"/>
              </p:cNvSpPr>
              <p:nvPr/>
            </p:nvSpPr>
            <p:spPr bwMode="auto">
              <a:xfrm>
                <a:off x="3109" y="624"/>
                <a:ext cx="1731" cy="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87" name="Line 48"/>
              <p:cNvSpPr>
                <a:spLocks noChangeShapeType="1"/>
              </p:cNvSpPr>
              <p:nvPr/>
            </p:nvSpPr>
            <p:spPr bwMode="auto">
              <a:xfrm flipV="1">
                <a:off x="3101" y="944"/>
                <a:ext cx="1739"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b="1" kern="0">
                  <a:solidFill>
                    <a:srgbClr val="0000FF"/>
                  </a:solidFill>
                  <a:latin typeface="Times New Roman" panose="02020603050405020304" pitchFamily="18" charset="0"/>
                  <a:ea typeface="宋体" panose="02010600030101010101" pitchFamily="2" charset="-122"/>
                </a:endParaRPr>
              </a:p>
            </p:txBody>
          </p:sp>
          <p:sp>
            <p:nvSpPr>
              <p:cNvPr id="88" name="Line 49"/>
              <p:cNvSpPr>
                <a:spLocks noChangeShapeType="1"/>
              </p:cNvSpPr>
              <p:nvPr/>
            </p:nvSpPr>
            <p:spPr bwMode="auto">
              <a:xfrm>
                <a:off x="3101" y="1948"/>
                <a:ext cx="1739" cy="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89" name="Line 50"/>
              <p:cNvSpPr>
                <a:spLocks noChangeShapeType="1"/>
              </p:cNvSpPr>
              <p:nvPr/>
            </p:nvSpPr>
            <p:spPr bwMode="auto">
              <a:xfrm>
                <a:off x="4434" y="626"/>
                <a:ext cx="0" cy="134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90" name="Line 52"/>
              <p:cNvSpPr>
                <a:spLocks noChangeShapeType="1"/>
              </p:cNvSpPr>
              <p:nvPr/>
            </p:nvSpPr>
            <p:spPr bwMode="auto">
              <a:xfrm>
                <a:off x="3860" y="682"/>
                <a:ext cx="282"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grpSp>
        <p:graphicFrame>
          <p:nvGraphicFramePr>
            <p:cNvPr id="78" name="Object 2"/>
            <p:cNvGraphicFramePr>
              <a:graphicFrameLocks noChangeAspect="1"/>
            </p:cNvGraphicFramePr>
            <p:nvPr/>
          </p:nvGraphicFramePr>
          <p:xfrm>
            <a:off x="6639111" y="1477979"/>
            <a:ext cx="815696" cy="602796"/>
          </p:xfrm>
          <a:graphic>
            <a:graphicData uri="http://schemas.openxmlformats.org/presentationml/2006/ole">
              <mc:AlternateContent xmlns:mc="http://schemas.openxmlformats.org/markup-compatibility/2006">
                <mc:Choice xmlns:v="urn:schemas-microsoft-com:vml" Requires="v">
                  <p:oleObj spid="_x0000_s20492" name="Equation" r:id="rId8" imgW="508000" imgH="406400" progId="Equation.3">
                    <p:embed/>
                  </p:oleObj>
                </mc:Choice>
                <mc:Fallback>
                  <p:oleObj name="Equation" r:id="rId8" imgW="508000" imgH="406400" progId="Equation.3">
                    <p:embed/>
                    <p:pic>
                      <p:nvPicPr>
                        <p:cNvPr id="0" name="图片 2049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9111" y="1477979"/>
                          <a:ext cx="815696" cy="602796"/>
                        </a:xfrm>
                        <a:prstGeom prst="rect">
                          <a:avLst/>
                        </a:prstGeom>
                        <a:noFill/>
                        <a:ln>
                          <a:noFill/>
                        </a:ln>
                      </p:spPr>
                    </p:pic>
                  </p:oleObj>
                </mc:Fallback>
              </mc:AlternateContent>
            </a:graphicData>
          </a:graphic>
        </p:graphicFrame>
        <p:graphicFrame>
          <p:nvGraphicFramePr>
            <p:cNvPr id="79" name="Object 3"/>
            <p:cNvGraphicFramePr>
              <a:graphicFrameLocks noChangeAspect="1"/>
            </p:cNvGraphicFramePr>
            <p:nvPr/>
          </p:nvGraphicFramePr>
          <p:xfrm>
            <a:off x="6691217" y="765409"/>
            <a:ext cx="780812" cy="577017"/>
          </p:xfrm>
          <a:graphic>
            <a:graphicData uri="http://schemas.openxmlformats.org/presentationml/2006/ole">
              <mc:AlternateContent xmlns:mc="http://schemas.openxmlformats.org/markup-compatibility/2006">
                <mc:Choice xmlns:v="urn:schemas-microsoft-com:vml" Requires="v">
                  <p:oleObj spid="_x0000_s20493" name="Equation" r:id="rId10" imgW="508000" imgH="406400" progId="Equation.3">
                    <p:embed/>
                  </p:oleObj>
                </mc:Choice>
                <mc:Fallback>
                  <p:oleObj name="Equation" r:id="rId10" imgW="508000" imgH="406400" progId="Equation.3">
                    <p:embed/>
                    <p:pic>
                      <p:nvPicPr>
                        <p:cNvPr id="0" name="图片 2049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91217" y="765409"/>
                          <a:ext cx="780812" cy="577017"/>
                        </a:xfrm>
                        <a:prstGeom prst="rect">
                          <a:avLst/>
                        </a:prstGeom>
                        <a:noFill/>
                        <a:ln>
                          <a:noFill/>
                        </a:ln>
                      </p:spPr>
                    </p:pic>
                  </p:oleObj>
                </mc:Fallback>
              </mc:AlternateContent>
            </a:graphicData>
          </a:graphic>
        </p:graphicFrame>
        <p:graphicFrame>
          <p:nvGraphicFramePr>
            <p:cNvPr id="80" name="Object 5"/>
            <p:cNvGraphicFramePr>
              <a:graphicFrameLocks noChangeAspect="1"/>
            </p:cNvGraphicFramePr>
            <p:nvPr/>
          </p:nvGraphicFramePr>
          <p:xfrm>
            <a:off x="5731292" y="1466650"/>
            <a:ext cx="712774" cy="632189"/>
          </p:xfrm>
          <a:graphic>
            <a:graphicData uri="http://schemas.openxmlformats.org/presentationml/2006/ole">
              <mc:AlternateContent xmlns:mc="http://schemas.openxmlformats.org/markup-compatibility/2006">
                <mc:Choice xmlns:v="urn:schemas-microsoft-com:vml" Requires="v">
                  <p:oleObj spid="_x0000_s20494" name="Equation" r:id="rId12" imgW="508000" imgH="406400" progId="Equation.3">
                    <p:embed/>
                  </p:oleObj>
                </mc:Choice>
                <mc:Fallback>
                  <p:oleObj name="Equation" r:id="rId12" imgW="508000" imgH="406400" progId="Equation.3">
                    <p:embed/>
                    <p:pic>
                      <p:nvPicPr>
                        <p:cNvPr id="0" name="图片 2049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31292" y="1466650"/>
                          <a:ext cx="712774" cy="632189"/>
                        </a:xfrm>
                        <a:prstGeom prst="rect">
                          <a:avLst/>
                        </a:prstGeom>
                        <a:noFill/>
                        <a:ln>
                          <a:noFill/>
                        </a:ln>
                      </p:spPr>
                    </p:pic>
                  </p:oleObj>
                </mc:Fallback>
              </mc:AlternateContent>
            </a:graphicData>
          </a:graphic>
        </p:graphicFrame>
        <p:graphicFrame>
          <p:nvGraphicFramePr>
            <p:cNvPr id="81" name="Object 6"/>
            <p:cNvGraphicFramePr>
              <a:graphicFrameLocks noChangeAspect="1"/>
            </p:cNvGraphicFramePr>
            <p:nvPr/>
          </p:nvGraphicFramePr>
          <p:xfrm>
            <a:off x="5720311" y="757747"/>
            <a:ext cx="729120" cy="646687"/>
          </p:xfrm>
          <a:graphic>
            <a:graphicData uri="http://schemas.openxmlformats.org/presentationml/2006/ole">
              <mc:AlternateContent xmlns:mc="http://schemas.openxmlformats.org/markup-compatibility/2006">
                <mc:Choice xmlns:v="urn:schemas-microsoft-com:vml" Requires="v">
                  <p:oleObj spid="_x0000_s20495" name="Equation" r:id="rId14" imgW="508000" imgH="406400" progId="Equation.3">
                    <p:embed/>
                  </p:oleObj>
                </mc:Choice>
                <mc:Fallback>
                  <p:oleObj name="Equation" r:id="rId14" imgW="508000" imgH="406400" progId="Equation.3">
                    <p:embed/>
                    <p:pic>
                      <p:nvPicPr>
                        <p:cNvPr id="0" name="图片 2049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20311" y="757747"/>
                          <a:ext cx="729120" cy="646687"/>
                        </a:xfrm>
                        <a:prstGeom prst="rect">
                          <a:avLst/>
                        </a:prstGeom>
                        <a:noFill/>
                        <a:ln>
                          <a:noFill/>
                        </a:ln>
                      </p:spPr>
                    </p:pic>
                  </p:oleObj>
                </mc:Fallback>
              </mc:AlternateContent>
            </a:graphicData>
          </a:graphic>
        </p:graphicFrame>
      </p:grpSp>
      <p:cxnSp>
        <p:nvCxnSpPr>
          <p:cNvPr id="3" name="直接连接符 2"/>
          <p:cNvCxnSpPr/>
          <p:nvPr/>
        </p:nvCxnSpPr>
        <p:spPr>
          <a:xfrm>
            <a:off x="6606431" y="0"/>
            <a:ext cx="0" cy="24938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584556" y="2507013"/>
            <a:ext cx="2528819" cy="34932"/>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647228" y="2614214"/>
            <a:ext cx="4341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 calcmode="lin" valueType="num">
                                      <p:cBhvr>
                                        <p:cTn id="7" dur="500" fill="hold"/>
                                        <p:tgtEl>
                                          <p:spTgt spid="163"/>
                                        </p:tgtEl>
                                        <p:attrNameLst>
                                          <p:attrName>ppt_w</p:attrName>
                                        </p:attrNameLst>
                                      </p:cBhvr>
                                      <p:tavLst>
                                        <p:tav tm="0">
                                          <p:val>
                                            <p:fltVal val="0"/>
                                          </p:val>
                                        </p:tav>
                                        <p:tav tm="100000">
                                          <p:val>
                                            <p:strVal val="#ppt_w"/>
                                          </p:val>
                                        </p:tav>
                                      </p:tavLst>
                                    </p:anim>
                                    <p:anim calcmode="lin" valueType="num">
                                      <p:cBhvr>
                                        <p:cTn id="8" dur="500" fill="hold"/>
                                        <p:tgtEl>
                                          <p:spTgt spid="163"/>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63"/>
                                        </p:tgtEl>
                                        <p:attrNameLst>
                                          <p:attrName>style.visibility</p:attrName>
                                        </p:attrNameLst>
                                      </p:cBhvr>
                                      <p:to>
                                        <p:strVal val="hidden"/>
                                      </p:to>
                                    </p:set>
                                  </p:subTnLst>
                                </p:cTn>
                              </p:par>
                              <p:par>
                                <p:cTn id="9" presetID="22" presetClass="entr" presetSubtype="1" fill="hold" nodeType="withEffect">
                                  <p:stCondLst>
                                    <p:cond delay="0"/>
                                  </p:stCondLst>
                                  <p:childTnLst>
                                    <p:set>
                                      <p:cBhvr>
                                        <p:cTn id="10" dur="1" fill="hold">
                                          <p:stCondLst>
                                            <p:cond delay="0"/>
                                          </p:stCondLst>
                                        </p:cTn>
                                        <p:tgtEl>
                                          <p:spTgt spid="156"/>
                                        </p:tgtEl>
                                        <p:attrNameLst>
                                          <p:attrName>style.visibility</p:attrName>
                                        </p:attrNameLst>
                                      </p:cBhvr>
                                      <p:to>
                                        <p:strVal val="visible"/>
                                      </p:to>
                                    </p:set>
                                    <p:animEffect transition="in" filter="wipe(up)">
                                      <p:cBhvr>
                                        <p:cTn id="11" dur="500"/>
                                        <p:tgtEl>
                                          <p:spTgt spid="156"/>
                                        </p:tgtEl>
                                      </p:cBhvr>
                                    </p:animEffect>
                                  </p:childTnLst>
                                  <p:subTnLst>
                                    <p:set>
                                      <p:cBhvr override="childStyle">
                                        <p:cTn dur="1" fill="hold" display="0" masterRel="nextClick" afterEffect="1"/>
                                        <p:tgtEl>
                                          <p:spTgt spid="156"/>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55"/>
                                        </p:tgtEl>
                                        <p:attrNameLst>
                                          <p:attrName>style.visibility</p:attrName>
                                        </p:attrNameLst>
                                      </p:cBhvr>
                                      <p:to>
                                        <p:strVal val="visible"/>
                                      </p:to>
                                    </p:set>
                                    <p:anim calcmode="lin" valueType="num">
                                      <p:cBhvr>
                                        <p:cTn id="16" dur="500" fill="hold"/>
                                        <p:tgtEl>
                                          <p:spTgt spid="155"/>
                                        </p:tgtEl>
                                        <p:attrNameLst>
                                          <p:attrName>ppt_w</p:attrName>
                                        </p:attrNameLst>
                                      </p:cBhvr>
                                      <p:tavLst>
                                        <p:tav tm="0">
                                          <p:val>
                                            <p:fltVal val="0"/>
                                          </p:val>
                                        </p:tav>
                                        <p:tav tm="100000">
                                          <p:val>
                                            <p:strVal val="#ppt_w"/>
                                          </p:val>
                                        </p:tav>
                                      </p:tavLst>
                                    </p:anim>
                                    <p:anim calcmode="lin" valueType="num">
                                      <p:cBhvr>
                                        <p:cTn id="17" dur="500" fill="hold"/>
                                        <p:tgtEl>
                                          <p:spTgt spid="155"/>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9"/>
                                        </p:tgtEl>
                                        <p:attrNameLst>
                                          <p:attrName>style.visibility</p:attrName>
                                        </p:attrNameLst>
                                      </p:cBhvr>
                                      <p:to>
                                        <p:strVal val="visible"/>
                                      </p:to>
                                    </p:set>
                                    <p:animEffect transition="in" filter="wipe(up)">
                                      <p:cBhvr>
                                        <p:cTn id="22" dur="500"/>
                                        <p:tgtEl>
                                          <p:spTgt spid="1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9"/>
                                        </p:tgtEl>
                                        <p:attrNameLst>
                                          <p:attrName>style.visibility</p:attrName>
                                        </p:attrNameLst>
                                      </p:cBhvr>
                                      <p:to>
                                        <p:strVal val="visible"/>
                                      </p:to>
                                    </p:set>
                                    <p:animEffect transition="in" filter="wipe(left)">
                                      <p:cBhvr>
                                        <p:cTn id="27"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用</a:t>
            </a:r>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定时器构成多谐振荡器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221" name="Rectangle 87"/>
          <p:cNvSpPr>
            <a:spLocks noChangeArrowheads="1"/>
          </p:cNvSpPr>
          <p:nvPr/>
        </p:nvSpPr>
        <p:spPr bwMode="auto">
          <a:xfrm>
            <a:off x="247927" y="512666"/>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2.</a:t>
            </a:r>
            <a:r>
              <a:rPr lang="zh-CN" altLang="en-US" sz="2800" b="1" dirty="0">
                <a:solidFill>
                  <a:srgbClr val="C00000"/>
                </a:solidFill>
                <a:latin typeface="Times New Roman" panose="02020603050405020304" pitchFamily="18" charset="0"/>
                <a:ea typeface="楷体_GB2312" pitchFamily="49" charset="-122"/>
              </a:rPr>
              <a:t>  工作原理</a:t>
            </a:r>
            <a:endParaRPr lang="zh-CN" altLang="en-US" sz="2800" b="1" dirty="0">
              <a:solidFill>
                <a:srgbClr val="C00000"/>
              </a:solidFill>
              <a:latin typeface="Times New Roman" panose="02020603050405020304" pitchFamily="18" charset="0"/>
              <a:ea typeface="楷体_GB2312" pitchFamily="49" charset="-122"/>
            </a:endParaRPr>
          </a:p>
        </p:txBody>
      </p:sp>
      <p:grpSp>
        <p:nvGrpSpPr>
          <p:cNvPr id="299" name="Group 2"/>
          <p:cNvGrpSpPr/>
          <p:nvPr/>
        </p:nvGrpSpPr>
        <p:grpSpPr bwMode="auto">
          <a:xfrm>
            <a:off x="314325" y="1093788"/>
            <a:ext cx="3409950" cy="5584825"/>
            <a:chOff x="198" y="681"/>
            <a:chExt cx="2148" cy="3518"/>
          </a:xfrm>
        </p:grpSpPr>
        <p:sp>
          <p:nvSpPr>
            <p:cNvPr id="300" name="Text Box 3"/>
            <p:cNvSpPr txBox="1">
              <a:spLocks noChangeArrowheads="1"/>
            </p:cNvSpPr>
            <p:nvPr/>
          </p:nvSpPr>
          <p:spPr bwMode="auto">
            <a:xfrm>
              <a:off x="382" y="1897"/>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i="1" kern="0" baseline="-25000">
                  <a:solidFill>
                    <a:srgbClr val="000000"/>
                  </a:solidFill>
                  <a:latin typeface="Times New Roman" panose="02020603050405020304" pitchFamily="18" charset="0"/>
                  <a:ea typeface="楷体_GB2312" pitchFamily="49" charset="-122"/>
                </a:rPr>
                <a:t>C</a:t>
              </a:r>
              <a:endParaRPr kumimoji="1" lang="en-US" altLang="zh-CN" sz="2000" b="1" i="1" kern="0" baseline="-25000">
                <a:solidFill>
                  <a:srgbClr val="000000"/>
                </a:solidFill>
                <a:latin typeface="Times New Roman" panose="02020603050405020304" pitchFamily="18" charset="0"/>
                <a:ea typeface="楷体_GB2312" pitchFamily="49" charset="-122"/>
              </a:endParaRPr>
            </a:p>
          </p:txBody>
        </p:sp>
        <p:sp>
          <p:nvSpPr>
            <p:cNvPr id="301" name="Text Box 4"/>
            <p:cNvSpPr txBox="1">
              <a:spLocks noChangeArrowheads="1"/>
            </p:cNvSpPr>
            <p:nvPr/>
          </p:nvSpPr>
          <p:spPr bwMode="auto">
            <a:xfrm>
              <a:off x="416" y="2819"/>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O</a:t>
              </a:r>
              <a:endParaRPr kumimoji="1" lang="en-US" altLang="zh-CN" sz="2000" b="1" i="1" kern="0">
                <a:solidFill>
                  <a:srgbClr val="000000"/>
                </a:solidFill>
                <a:latin typeface="Times New Roman" panose="02020603050405020304" pitchFamily="18" charset="0"/>
                <a:ea typeface="楷体_GB2312" pitchFamily="49" charset="-122"/>
              </a:endParaRPr>
            </a:p>
          </p:txBody>
        </p:sp>
        <p:sp>
          <p:nvSpPr>
            <p:cNvPr id="302" name="Freeform 5"/>
            <p:cNvSpPr/>
            <p:nvPr/>
          </p:nvSpPr>
          <p:spPr bwMode="auto">
            <a:xfrm flipH="1">
              <a:off x="669" y="2068"/>
              <a:ext cx="49" cy="865"/>
            </a:xfrm>
            <a:custGeom>
              <a:avLst/>
              <a:gdLst>
                <a:gd name="T0" fmla="*/ 0 w 1"/>
                <a:gd name="T1" fmla="*/ 1146 h 1146"/>
                <a:gd name="T2" fmla="*/ 0 w 1"/>
                <a:gd name="T3" fmla="*/ 0 h 1146"/>
              </a:gdLst>
              <a:ahLst/>
              <a:cxnLst>
                <a:cxn ang="0">
                  <a:pos x="T0" y="T1"/>
                </a:cxn>
                <a:cxn ang="0">
                  <a:pos x="T2" y="T3"/>
                </a:cxn>
              </a:cxnLst>
              <a:rect l="0" t="0" r="r" b="b"/>
              <a:pathLst>
                <a:path w="1" h="1146">
                  <a:moveTo>
                    <a:pt x="0" y="1146"/>
                  </a:moveTo>
                  <a:lnTo>
                    <a:pt x="0" y="0"/>
                  </a:lnTo>
                </a:path>
              </a:pathLst>
            </a:custGeom>
            <a:noFill/>
            <a:ln w="22225" cap="flat" cmpd="sng">
              <a:solidFill>
                <a:srgbClr val="000000"/>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03" name="Line 6"/>
            <p:cNvSpPr>
              <a:spLocks noChangeShapeType="1"/>
            </p:cNvSpPr>
            <p:nvPr/>
          </p:nvSpPr>
          <p:spPr bwMode="auto">
            <a:xfrm>
              <a:off x="710" y="2932"/>
              <a:ext cx="1398" cy="0"/>
            </a:xfrm>
            <a:prstGeom prst="line">
              <a:avLst/>
            </a:prstGeom>
            <a:noFill/>
            <a:ln w="22225">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04" name="Text Box 7"/>
            <p:cNvSpPr txBox="1">
              <a:spLocks noChangeArrowheads="1"/>
            </p:cNvSpPr>
            <p:nvPr/>
          </p:nvSpPr>
          <p:spPr bwMode="auto">
            <a:xfrm>
              <a:off x="1894" y="289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305" name="Text Box 8"/>
            <p:cNvSpPr txBox="1">
              <a:spLocks noChangeArrowheads="1"/>
            </p:cNvSpPr>
            <p:nvPr/>
          </p:nvSpPr>
          <p:spPr bwMode="auto">
            <a:xfrm>
              <a:off x="416" y="3876"/>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O</a:t>
              </a:r>
              <a:endParaRPr kumimoji="1" lang="en-US" altLang="zh-CN" sz="2000" b="1" i="1" kern="0">
                <a:solidFill>
                  <a:srgbClr val="000000"/>
                </a:solidFill>
                <a:latin typeface="Times New Roman" panose="02020603050405020304" pitchFamily="18" charset="0"/>
                <a:ea typeface="楷体_GB2312" pitchFamily="49" charset="-122"/>
              </a:endParaRPr>
            </a:p>
          </p:txBody>
        </p:sp>
        <p:sp>
          <p:nvSpPr>
            <p:cNvPr id="306" name="Text Box 9"/>
            <p:cNvSpPr txBox="1">
              <a:spLocks noChangeArrowheads="1"/>
            </p:cNvSpPr>
            <p:nvPr/>
          </p:nvSpPr>
          <p:spPr bwMode="auto">
            <a:xfrm>
              <a:off x="358" y="299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307" name="Freeform 10"/>
            <p:cNvSpPr/>
            <p:nvPr/>
          </p:nvSpPr>
          <p:spPr bwMode="auto">
            <a:xfrm flipH="1">
              <a:off x="668" y="3125"/>
              <a:ext cx="50" cy="852"/>
            </a:xfrm>
            <a:custGeom>
              <a:avLst/>
              <a:gdLst>
                <a:gd name="T0" fmla="*/ 0 w 1"/>
                <a:gd name="T1" fmla="*/ 1146 h 1146"/>
                <a:gd name="T2" fmla="*/ 0 w 1"/>
                <a:gd name="T3" fmla="*/ 0 h 1146"/>
              </a:gdLst>
              <a:ahLst/>
              <a:cxnLst>
                <a:cxn ang="0">
                  <a:pos x="T0" y="T1"/>
                </a:cxn>
                <a:cxn ang="0">
                  <a:pos x="T2" y="T3"/>
                </a:cxn>
              </a:cxnLst>
              <a:rect l="0" t="0" r="r" b="b"/>
              <a:pathLst>
                <a:path w="1" h="1146">
                  <a:moveTo>
                    <a:pt x="0" y="1146"/>
                  </a:moveTo>
                  <a:lnTo>
                    <a:pt x="0" y="0"/>
                  </a:lnTo>
                </a:path>
              </a:pathLst>
            </a:custGeom>
            <a:noFill/>
            <a:ln w="22225" cap="flat" cmpd="sng">
              <a:solidFill>
                <a:srgbClr val="000000"/>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08" name="Line 11"/>
            <p:cNvSpPr>
              <a:spLocks noChangeShapeType="1"/>
            </p:cNvSpPr>
            <p:nvPr/>
          </p:nvSpPr>
          <p:spPr bwMode="auto">
            <a:xfrm>
              <a:off x="710" y="3986"/>
              <a:ext cx="1391" cy="0"/>
            </a:xfrm>
            <a:prstGeom prst="line">
              <a:avLst/>
            </a:prstGeom>
            <a:noFill/>
            <a:ln w="22225">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09" name="Text Box 12"/>
            <p:cNvSpPr txBox="1">
              <a:spLocks noChangeArrowheads="1"/>
            </p:cNvSpPr>
            <p:nvPr/>
          </p:nvSpPr>
          <p:spPr bwMode="auto">
            <a:xfrm>
              <a:off x="1914" y="392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310" name="Line 13"/>
            <p:cNvSpPr>
              <a:spLocks noChangeShapeType="1"/>
            </p:cNvSpPr>
            <p:nvPr/>
          </p:nvSpPr>
          <p:spPr bwMode="auto">
            <a:xfrm>
              <a:off x="710" y="2353"/>
              <a:ext cx="1307"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11" name="Line 14"/>
            <p:cNvSpPr>
              <a:spLocks noChangeShapeType="1"/>
            </p:cNvSpPr>
            <p:nvPr/>
          </p:nvSpPr>
          <p:spPr bwMode="auto">
            <a:xfrm>
              <a:off x="716" y="2649"/>
              <a:ext cx="1297"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12" name="Text Box 15"/>
            <p:cNvSpPr txBox="1">
              <a:spLocks noChangeArrowheads="1"/>
            </p:cNvSpPr>
            <p:nvPr/>
          </p:nvSpPr>
          <p:spPr bwMode="auto">
            <a:xfrm>
              <a:off x="208" y="364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OL</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313" name="Text Box 16"/>
            <p:cNvSpPr txBox="1">
              <a:spLocks noChangeArrowheads="1"/>
            </p:cNvSpPr>
            <p:nvPr/>
          </p:nvSpPr>
          <p:spPr bwMode="auto">
            <a:xfrm>
              <a:off x="198" y="3246"/>
              <a:ext cx="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OH</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314" name="Line 17"/>
            <p:cNvSpPr>
              <a:spLocks noChangeShapeType="1"/>
            </p:cNvSpPr>
            <p:nvPr/>
          </p:nvSpPr>
          <p:spPr bwMode="auto">
            <a:xfrm>
              <a:off x="1237" y="3374"/>
              <a:ext cx="285"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15" name="Line 18"/>
            <p:cNvSpPr>
              <a:spLocks noChangeShapeType="1"/>
            </p:cNvSpPr>
            <p:nvPr/>
          </p:nvSpPr>
          <p:spPr bwMode="auto">
            <a:xfrm>
              <a:off x="1248" y="3368"/>
              <a:ext cx="0" cy="50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16" name="Line 19"/>
            <p:cNvSpPr>
              <a:spLocks noChangeShapeType="1"/>
            </p:cNvSpPr>
            <p:nvPr/>
          </p:nvSpPr>
          <p:spPr bwMode="auto">
            <a:xfrm>
              <a:off x="716" y="3878"/>
              <a:ext cx="342"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17" name="Line 20"/>
            <p:cNvSpPr>
              <a:spLocks noChangeShapeType="1"/>
            </p:cNvSpPr>
            <p:nvPr/>
          </p:nvSpPr>
          <p:spPr bwMode="auto">
            <a:xfrm>
              <a:off x="1064" y="3370"/>
              <a:ext cx="0" cy="51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18" name="Line 21"/>
            <p:cNvSpPr>
              <a:spLocks noChangeShapeType="1"/>
            </p:cNvSpPr>
            <p:nvPr/>
          </p:nvSpPr>
          <p:spPr bwMode="auto">
            <a:xfrm>
              <a:off x="716" y="3380"/>
              <a:ext cx="34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19" name="Line 22"/>
            <p:cNvSpPr>
              <a:spLocks noChangeShapeType="1"/>
            </p:cNvSpPr>
            <p:nvPr/>
          </p:nvSpPr>
          <p:spPr bwMode="auto">
            <a:xfrm>
              <a:off x="1053" y="3878"/>
              <a:ext cx="207"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0" name="Line 23"/>
            <p:cNvSpPr>
              <a:spLocks noChangeShapeType="1"/>
            </p:cNvSpPr>
            <p:nvPr/>
          </p:nvSpPr>
          <p:spPr bwMode="auto">
            <a:xfrm>
              <a:off x="1509" y="3368"/>
              <a:ext cx="0" cy="51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1" name="Line 24"/>
            <p:cNvSpPr>
              <a:spLocks noChangeShapeType="1"/>
            </p:cNvSpPr>
            <p:nvPr/>
          </p:nvSpPr>
          <p:spPr bwMode="auto">
            <a:xfrm>
              <a:off x="1690" y="3380"/>
              <a:ext cx="273"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2" name="Line 25"/>
            <p:cNvSpPr>
              <a:spLocks noChangeShapeType="1"/>
            </p:cNvSpPr>
            <p:nvPr/>
          </p:nvSpPr>
          <p:spPr bwMode="auto">
            <a:xfrm>
              <a:off x="1704" y="3374"/>
              <a:ext cx="0" cy="50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3" name="Line 26"/>
            <p:cNvSpPr>
              <a:spLocks noChangeShapeType="1"/>
            </p:cNvSpPr>
            <p:nvPr/>
          </p:nvSpPr>
          <p:spPr bwMode="auto">
            <a:xfrm>
              <a:off x="1501" y="3884"/>
              <a:ext cx="20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4" name="Line 27"/>
            <p:cNvSpPr>
              <a:spLocks noChangeShapeType="1"/>
            </p:cNvSpPr>
            <p:nvPr/>
          </p:nvSpPr>
          <p:spPr bwMode="auto">
            <a:xfrm>
              <a:off x="1947" y="3374"/>
              <a:ext cx="0" cy="51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5" name="Line 28"/>
            <p:cNvSpPr>
              <a:spLocks noChangeShapeType="1"/>
            </p:cNvSpPr>
            <p:nvPr/>
          </p:nvSpPr>
          <p:spPr bwMode="auto">
            <a:xfrm>
              <a:off x="1939" y="3884"/>
              <a:ext cx="8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6" name="Line 29"/>
            <p:cNvSpPr>
              <a:spLocks noChangeShapeType="1"/>
            </p:cNvSpPr>
            <p:nvPr/>
          </p:nvSpPr>
          <p:spPr bwMode="auto">
            <a:xfrm>
              <a:off x="1065" y="2348"/>
              <a:ext cx="0" cy="1145"/>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7" name="Line 30"/>
            <p:cNvSpPr>
              <a:spLocks noChangeShapeType="1"/>
            </p:cNvSpPr>
            <p:nvPr/>
          </p:nvSpPr>
          <p:spPr bwMode="auto">
            <a:xfrm>
              <a:off x="1247" y="2638"/>
              <a:ext cx="0" cy="879"/>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8" name="Line 31"/>
            <p:cNvSpPr>
              <a:spLocks noChangeShapeType="1"/>
            </p:cNvSpPr>
            <p:nvPr/>
          </p:nvSpPr>
          <p:spPr bwMode="auto">
            <a:xfrm>
              <a:off x="1511" y="2348"/>
              <a:ext cx="0" cy="116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29" name="Text Box 32"/>
            <p:cNvSpPr txBox="1">
              <a:spLocks noChangeArrowheads="1"/>
            </p:cNvSpPr>
            <p:nvPr/>
          </p:nvSpPr>
          <p:spPr bwMode="auto">
            <a:xfrm>
              <a:off x="1017" y="3497"/>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kern="0">
                  <a:solidFill>
                    <a:srgbClr val="000000"/>
                  </a:solidFill>
                  <a:latin typeface="Times New Roman" panose="02020603050405020304" pitchFamily="18" charset="0"/>
                  <a:ea typeface="楷体_GB2312" pitchFamily="49" charset="-122"/>
                </a:rPr>
                <a:t>Ⅱ</a:t>
              </a:r>
              <a:endParaRPr kumimoji="1" lang="en-US" altLang="zh-CN" sz="2000" b="1" kern="0">
                <a:solidFill>
                  <a:srgbClr val="000000"/>
                </a:solidFill>
                <a:latin typeface="Times New Roman" panose="02020603050405020304" pitchFamily="18" charset="0"/>
                <a:ea typeface="楷体_GB2312" pitchFamily="49" charset="-122"/>
              </a:endParaRPr>
            </a:p>
          </p:txBody>
        </p:sp>
        <p:sp>
          <p:nvSpPr>
            <p:cNvPr id="330" name="Line 33"/>
            <p:cNvSpPr>
              <a:spLocks noChangeShapeType="1"/>
            </p:cNvSpPr>
            <p:nvPr/>
          </p:nvSpPr>
          <p:spPr bwMode="auto">
            <a:xfrm>
              <a:off x="1241" y="3625"/>
              <a:ext cx="270"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31" name="Rectangle 34"/>
            <p:cNvSpPr>
              <a:spLocks noChangeArrowheads="1"/>
            </p:cNvSpPr>
            <p:nvPr/>
          </p:nvSpPr>
          <p:spPr bwMode="auto">
            <a:xfrm>
              <a:off x="805" y="352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332" name="Freeform 35"/>
            <p:cNvSpPr/>
            <p:nvPr/>
          </p:nvSpPr>
          <p:spPr bwMode="auto">
            <a:xfrm>
              <a:off x="725" y="2352"/>
              <a:ext cx="349" cy="579"/>
            </a:xfrm>
            <a:custGeom>
              <a:avLst/>
              <a:gdLst>
                <a:gd name="T0" fmla="*/ 0 w 255"/>
                <a:gd name="T1" fmla="*/ 579 h 579"/>
                <a:gd name="T2" fmla="*/ 123 w 255"/>
                <a:gd name="T3" fmla="*/ 186 h 579"/>
                <a:gd name="T4" fmla="*/ 255 w 255"/>
                <a:gd name="T5" fmla="*/ 0 h 579"/>
              </a:gdLst>
              <a:ahLst/>
              <a:cxnLst>
                <a:cxn ang="0">
                  <a:pos x="T0" y="T1"/>
                </a:cxn>
                <a:cxn ang="0">
                  <a:pos x="T2" y="T3"/>
                </a:cxn>
                <a:cxn ang="0">
                  <a:pos x="T4" y="T5"/>
                </a:cxn>
              </a:cxnLst>
              <a:rect l="0" t="0" r="r" b="b"/>
              <a:pathLst>
                <a:path w="255" h="579">
                  <a:moveTo>
                    <a:pt x="0" y="579"/>
                  </a:moveTo>
                  <a:cubicBezTo>
                    <a:pt x="20" y="514"/>
                    <a:pt x="81" y="282"/>
                    <a:pt x="123" y="186"/>
                  </a:cubicBezTo>
                  <a:cubicBezTo>
                    <a:pt x="165" y="90"/>
                    <a:pt x="227" y="39"/>
                    <a:pt x="255"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33" name="Freeform 36"/>
            <p:cNvSpPr/>
            <p:nvPr/>
          </p:nvSpPr>
          <p:spPr bwMode="auto">
            <a:xfrm>
              <a:off x="1252" y="2352"/>
              <a:ext cx="273"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34" name="Freeform 37"/>
            <p:cNvSpPr/>
            <p:nvPr/>
          </p:nvSpPr>
          <p:spPr bwMode="auto">
            <a:xfrm flipV="1">
              <a:off x="1071" y="2352"/>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35" name="Freeform 38"/>
            <p:cNvSpPr/>
            <p:nvPr/>
          </p:nvSpPr>
          <p:spPr bwMode="auto">
            <a:xfrm>
              <a:off x="1696" y="2352"/>
              <a:ext cx="266"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36" name="Freeform 39"/>
            <p:cNvSpPr/>
            <p:nvPr/>
          </p:nvSpPr>
          <p:spPr bwMode="auto">
            <a:xfrm flipV="1">
              <a:off x="1522" y="2352"/>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37" name="Freeform 40"/>
            <p:cNvSpPr/>
            <p:nvPr/>
          </p:nvSpPr>
          <p:spPr bwMode="auto">
            <a:xfrm flipV="1">
              <a:off x="1952" y="2346"/>
              <a:ext cx="64" cy="144"/>
            </a:xfrm>
            <a:custGeom>
              <a:avLst/>
              <a:gdLst>
                <a:gd name="T0" fmla="*/ 0 w 54"/>
                <a:gd name="T1" fmla="*/ 144 h 144"/>
                <a:gd name="T2" fmla="*/ 30 w 54"/>
                <a:gd name="T3" fmla="*/ 51 h 144"/>
                <a:gd name="T4" fmla="*/ 54 w 54"/>
                <a:gd name="T5" fmla="*/ 0 h 144"/>
              </a:gdLst>
              <a:ahLst/>
              <a:cxnLst>
                <a:cxn ang="0">
                  <a:pos x="T0" y="T1"/>
                </a:cxn>
                <a:cxn ang="0">
                  <a:pos x="T2" y="T3"/>
                </a:cxn>
                <a:cxn ang="0">
                  <a:pos x="T4" y="T5"/>
                </a:cxn>
              </a:cxnLst>
              <a:rect l="0" t="0" r="r" b="b"/>
              <a:pathLst>
                <a:path w="54" h="144">
                  <a:moveTo>
                    <a:pt x="0" y="144"/>
                  </a:moveTo>
                  <a:cubicBezTo>
                    <a:pt x="5" y="129"/>
                    <a:pt x="21" y="75"/>
                    <a:pt x="30" y="51"/>
                  </a:cubicBezTo>
                  <a:cubicBezTo>
                    <a:pt x="39" y="27"/>
                    <a:pt x="49" y="11"/>
                    <a:pt x="54"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38" name="Line 41"/>
            <p:cNvSpPr>
              <a:spLocks noChangeShapeType="1"/>
            </p:cNvSpPr>
            <p:nvPr/>
          </p:nvSpPr>
          <p:spPr bwMode="auto">
            <a:xfrm>
              <a:off x="1949" y="2348"/>
              <a:ext cx="0" cy="116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39" name="Line 42"/>
            <p:cNvSpPr>
              <a:spLocks noChangeShapeType="1"/>
            </p:cNvSpPr>
            <p:nvPr/>
          </p:nvSpPr>
          <p:spPr bwMode="auto">
            <a:xfrm>
              <a:off x="1697" y="2638"/>
              <a:ext cx="0" cy="879"/>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40" name="Line 43"/>
            <p:cNvSpPr>
              <a:spLocks noChangeShapeType="1"/>
            </p:cNvSpPr>
            <p:nvPr/>
          </p:nvSpPr>
          <p:spPr bwMode="auto">
            <a:xfrm>
              <a:off x="1505" y="3625"/>
              <a:ext cx="198"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341" name="Text Box 44"/>
            <p:cNvSpPr txBox="1">
              <a:spLocks noChangeArrowheads="1"/>
            </p:cNvSpPr>
            <p:nvPr/>
          </p:nvSpPr>
          <p:spPr bwMode="auto">
            <a:xfrm>
              <a:off x="1212" y="3336"/>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FF"/>
                  </a:solidFill>
                  <a:latin typeface="Times New Roman" panose="02020603050405020304" pitchFamily="18" charset="0"/>
                  <a:ea typeface="楷体_GB2312" pitchFamily="49" charset="-122"/>
                </a:rPr>
                <a:t>t</a:t>
              </a:r>
              <a:r>
                <a:rPr kumimoji="1" lang="en-US" altLang="zh-CN" sz="2000" b="1" kern="0" baseline="-25000">
                  <a:solidFill>
                    <a:srgbClr val="0000FF"/>
                  </a:solidFill>
                  <a:latin typeface="Times New Roman" panose="02020603050405020304" pitchFamily="18" charset="0"/>
                  <a:ea typeface="楷体_GB2312" pitchFamily="49" charset="-122"/>
                </a:rPr>
                <a:t>PH</a:t>
              </a:r>
              <a:endParaRPr kumimoji="1" lang="en-US" altLang="zh-CN" sz="2000" b="1" kern="0" baseline="-25000">
                <a:solidFill>
                  <a:srgbClr val="0000FF"/>
                </a:solidFill>
                <a:latin typeface="Times New Roman" panose="02020603050405020304" pitchFamily="18" charset="0"/>
                <a:ea typeface="楷体_GB2312" pitchFamily="49" charset="-122"/>
              </a:endParaRPr>
            </a:p>
          </p:txBody>
        </p:sp>
        <p:sp>
          <p:nvSpPr>
            <p:cNvPr id="342" name="Text Box 45"/>
            <p:cNvSpPr txBox="1">
              <a:spLocks noChangeArrowheads="1"/>
            </p:cNvSpPr>
            <p:nvPr/>
          </p:nvSpPr>
          <p:spPr bwMode="auto">
            <a:xfrm>
              <a:off x="1458" y="3336"/>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FF"/>
                  </a:solidFill>
                  <a:latin typeface="Times New Roman" panose="02020603050405020304" pitchFamily="18" charset="0"/>
                  <a:ea typeface="楷体_GB2312" pitchFamily="49" charset="-122"/>
                </a:rPr>
                <a:t>t</a:t>
              </a:r>
              <a:r>
                <a:rPr kumimoji="1" lang="en-US" altLang="zh-CN" sz="2000" b="1" kern="0" baseline="-25000">
                  <a:solidFill>
                    <a:srgbClr val="0000FF"/>
                  </a:solidFill>
                  <a:latin typeface="Times New Roman" panose="02020603050405020304" pitchFamily="18" charset="0"/>
                  <a:ea typeface="楷体_GB2312" pitchFamily="49" charset="-122"/>
                </a:rPr>
                <a:t>PL</a:t>
              </a:r>
              <a:endParaRPr kumimoji="1" lang="en-US" altLang="zh-CN" sz="2000" b="1" kern="0" baseline="-25000">
                <a:solidFill>
                  <a:srgbClr val="0000FF"/>
                </a:solidFill>
                <a:latin typeface="Times New Roman" panose="02020603050405020304" pitchFamily="18" charset="0"/>
                <a:ea typeface="楷体_GB2312" pitchFamily="49" charset="-122"/>
              </a:endParaRPr>
            </a:p>
          </p:txBody>
        </p:sp>
        <p:graphicFrame>
          <p:nvGraphicFramePr>
            <p:cNvPr id="343" name="Object 46"/>
            <p:cNvGraphicFramePr>
              <a:graphicFrameLocks noChangeAspect="1"/>
            </p:cNvGraphicFramePr>
            <p:nvPr/>
          </p:nvGraphicFramePr>
          <p:xfrm>
            <a:off x="274" y="2082"/>
            <a:ext cx="424" cy="456"/>
          </p:xfrm>
          <a:graphic>
            <a:graphicData uri="http://schemas.openxmlformats.org/presentationml/2006/ole">
              <mc:AlternateContent xmlns:mc="http://schemas.openxmlformats.org/markup-compatibility/2006">
                <mc:Choice xmlns:v="urn:schemas-microsoft-com:vml" Requires="v">
                  <p:oleObj spid="_x0000_s21513" name="Equation" r:id="rId2" imgW="673100" imgH="723900" progId="Equation.3">
                    <p:embed/>
                  </p:oleObj>
                </mc:Choice>
                <mc:Fallback>
                  <p:oleObj name="Equation" r:id="rId2" imgW="673100" imgH="723900" progId="Equation.3">
                    <p:embed/>
                    <p:pic>
                      <p:nvPicPr>
                        <p:cNvPr id="0" name="图片 215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 y="2082"/>
                          <a:ext cx="424"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4" name="Object 47"/>
            <p:cNvGraphicFramePr>
              <a:graphicFrameLocks noChangeAspect="1"/>
            </p:cNvGraphicFramePr>
            <p:nvPr/>
          </p:nvGraphicFramePr>
          <p:xfrm>
            <a:off x="274" y="2490"/>
            <a:ext cx="424" cy="456"/>
          </p:xfrm>
          <a:graphic>
            <a:graphicData uri="http://schemas.openxmlformats.org/presentationml/2006/ole">
              <mc:AlternateContent xmlns:mc="http://schemas.openxmlformats.org/markup-compatibility/2006">
                <mc:Choice xmlns:v="urn:schemas-microsoft-com:vml" Requires="v">
                  <p:oleObj spid="_x0000_s21514" name="Equation" r:id="rId4" imgW="673100" imgH="723900" progId="Equation.3">
                    <p:embed/>
                  </p:oleObj>
                </mc:Choice>
                <mc:Fallback>
                  <p:oleObj name="Equation" r:id="rId4" imgW="673100" imgH="723900" progId="Equation.3">
                    <p:embed/>
                    <p:pic>
                      <p:nvPicPr>
                        <p:cNvPr id="0" name="图片 215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 y="2490"/>
                          <a:ext cx="424" cy="456"/>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5" name="Rectangle 48"/>
            <p:cNvSpPr>
              <a:spLocks noChangeArrowheads="1"/>
            </p:cNvSpPr>
            <p:nvPr/>
          </p:nvSpPr>
          <p:spPr bwMode="auto">
            <a:xfrm>
              <a:off x="1741" y="352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346" name="Rectangle 49"/>
            <p:cNvSpPr>
              <a:spLocks noChangeArrowheads="1"/>
            </p:cNvSpPr>
            <p:nvPr/>
          </p:nvSpPr>
          <p:spPr bwMode="auto">
            <a:xfrm>
              <a:off x="1297" y="364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347" name="Text Box 50"/>
            <p:cNvSpPr txBox="1">
              <a:spLocks noChangeArrowheads="1"/>
            </p:cNvSpPr>
            <p:nvPr/>
          </p:nvSpPr>
          <p:spPr bwMode="auto">
            <a:xfrm>
              <a:off x="1467" y="3611"/>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kern="0">
                  <a:solidFill>
                    <a:srgbClr val="CC3399"/>
                  </a:solidFill>
                  <a:latin typeface="Times New Roman" panose="02020603050405020304" pitchFamily="18" charset="0"/>
                  <a:ea typeface="楷体_GB2312" pitchFamily="49" charset="-122"/>
                </a:rPr>
                <a:t>Ⅱ</a:t>
              </a:r>
              <a:endParaRPr kumimoji="1" lang="en-US" altLang="zh-CN" sz="2000" b="1" kern="0">
                <a:solidFill>
                  <a:srgbClr val="CC3399"/>
                </a:solidFill>
                <a:latin typeface="Times New Roman" panose="02020603050405020304" pitchFamily="18" charset="0"/>
                <a:ea typeface="楷体_GB2312" pitchFamily="49" charset="-122"/>
              </a:endParaRPr>
            </a:p>
          </p:txBody>
        </p:sp>
        <p:graphicFrame>
          <p:nvGraphicFramePr>
            <p:cNvPr id="348" name="Object 51"/>
            <p:cNvGraphicFramePr>
              <a:graphicFrameLocks noChangeAspect="1"/>
            </p:cNvGraphicFramePr>
            <p:nvPr/>
          </p:nvGraphicFramePr>
          <p:xfrm>
            <a:off x="270" y="727"/>
            <a:ext cx="1939" cy="1207"/>
          </p:xfrm>
          <a:graphic>
            <a:graphicData uri="http://schemas.openxmlformats.org/presentationml/2006/ole">
              <mc:AlternateContent xmlns:mc="http://schemas.openxmlformats.org/markup-compatibility/2006">
                <mc:Choice xmlns:v="urn:schemas-microsoft-com:vml" Requires="v">
                  <p:oleObj spid="_x0000_s21515" name="BMP 图象" r:id="rId6" imgW="4238625" imgH="2933700" progId="Paint.Picture">
                    <p:embed/>
                  </p:oleObj>
                </mc:Choice>
                <mc:Fallback>
                  <p:oleObj name="BMP 图象" r:id="rId6" imgW="4238625" imgH="2933700" progId="Paint.Picture">
                    <p:embed/>
                    <p:pic>
                      <p:nvPicPr>
                        <p:cNvPr id="0" name="图片 215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 y="727"/>
                          <a:ext cx="1939" cy="1207"/>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9" name="AutoShape 52"/>
            <p:cNvSpPr>
              <a:spLocks noChangeArrowheads="1"/>
            </p:cNvSpPr>
            <p:nvPr/>
          </p:nvSpPr>
          <p:spPr bwMode="auto">
            <a:xfrm>
              <a:off x="225" y="681"/>
              <a:ext cx="1979" cy="3518"/>
            </a:xfrm>
            <a:prstGeom prst="flowChartProcess">
              <a:avLst/>
            </a:prstGeom>
            <a:noFill/>
            <a:ln w="57150">
              <a:pattFill prst="sphere">
                <a:fgClr>
                  <a:srgbClr val="CC99FF"/>
                </a:fgClr>
                <a:bgClr>
                  <a:srgbClr val="FFFFFF"/>
                </a:bgClr>
              </a:patt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grpSp>
      <p:sp>
        <p:nvSpPr>
          <p:cNvPr id="350" name="Oval 53"/>
          <p:cNvSpPr>
            <a:spLocks noChangeArrowheads="1"/>
          </p:cNvSpPr>
          <p:nvPr/>
        </p:nvSpPr>
        <p:spPr bwMode="auto">
          <a:xfrm>
            <a:off x="871538" y="2052638"/>
            <a:ext cx="744537" cy="495300"/>
          </a:xfrm>
          <a:prstGeom prst="ellipse">
            <a:avLst/>
          </a:prstGeom>
          <a:noFill/>
          <a:ln w="38100">
            <a:solidFill>
              <a:srgbClr val="00CC00"/>
            </a:solidFill>
            <a:round/>
          </a:ln>
          <a:effectLst/>
          <a:extLst>
            <a:ext uri="{909E8E84-426E-40DD-AFC4-6F175D3DCCD1}">
              <a14:hiddenFill xmlns:a14="http://schemas.microsoft.com/office/drawing/2010/main">
                <a:solidFill>
                  <a:srgbClr val="CCE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51" name="Rectangle 54"/>
          <p:cNvSpPr>
            <a:spLocks noChangeArrowheads="1"/>
          </p:cNvSpPr>
          <p:nvPr/>
        </p:nvSpPr>
        <p:spPr bwMode="auto">
          <a:xfrm>
            <a:off x="2738438" y="2109788"/>
            <a:ext cx="407987" cy="304800"/>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pPr>
            <a:r>
              <a:rPr kumimoji="1" lang="en-US" altLang="zh-CN" sz="2000" b="1" i="1">
                <a:solidFill>
                  <a:srgbClr val="0000FF"/>
                </a:solidFill>
                <a:latin typeface="Times New Roman" panose="02020603050405020304" pitchFamily="18" charset="0"/>
                <a:ea typeface="楷体_GB2312" pitchFamily="49" charset="-122"/>
              </a:rPr>
              <a:t>V</a:t>
            </a:r>
            <a:r>
              <a:rPr kumimoji="1" lang="en-US" altLang="zh-CN" sz="2000" b="1" baseline="-25000">
                <a:solidFill>
                  <a:srgbClr val="0000FF"/>
                </a:solidFill>
                <a:latin typeface="Times New Roman" panose="02020603050405020304" pitchFamily="18" charset="0"/>
                <a:ea typeface="楷体_GB2312" pitchFamily="49" charset="-122"/>
              </a:rPr>
              <a:t>OL</a:t>
            </a:r>
            <a:endParaRPr kumimoji="1" lang="en-US" altLang="zh-CN" sz="2000" b="1" baseline="-25000">
              <a:solidFill>
                <a:srgbClr val="0000FF"/>
              </a:solidFill>
              <a:latin typeface="Times New Roman" panose="02020603050405020304" pitchFamily="18" charset="0"/>
              <a:ea typeface="楷体_GB2312" pitchFamily="49" charset="-122"/>
            </a:endParaRPr>
          </a:p>
        </p:txBody>
      </p:sp>
      <p:grpSp>
        <p:nvGrpSpPr>
          <p:cNvPr id="352" name="Group 55"/>
          <p:cNvGrpSpPr/>
          <p:nvPr/>
        </p:nvGrpSpPr>
        <p:grpSpPr bwMode="auto">
          <a:xfrm>
            <a:off x="996950" y="2733675"/>
            <a:ext cx="2455863" cy="387350"/>
            <a:chOff x="628" y="1722"/>
            <a:chExt cx="1547" cy="244"/>
          </a:xfrm>
        </p:grpSpPr>
        <p:sp>
          <p:nvSpPr>
            <p:cNvPr id="353" name="AutoShape 56"/>
            <p:cNvSpPr>
              <a:spLocks noChangeArrowheads="1"/>
            </p:cNvSpPr>
            <p:nvPr/>
          </p:nvSpPr>
          <p:spPr bwMode="auto">
            <a:xfrm>
              <a:off x="628" y="1722"/>
              <a:ext cx="1547" cy="244"/>
            </a:xfrm>
            <a:prstGeom prst="wedgeRectCallout">
              <a:avLst>
                <a:gd name="adj1" fmla="val -28792"/>
                <a:gd name="adj2" fmla="val -103278"/>
              </a:avLst>
            </a:prstGeom>
            <a:solidFill>
              <a:srgbClr val="CCCCFF"/>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  TH</a:t>
              </a:r>
              <a:r>
                <a:rPr kumimoji="1" lang="en-US" altLang="zh-CN" sz="2000" b="1" i="1" kern="0" baseline="-25000">
                  <a:solidFill>
                    <a:srgbClr val="000000"/>
                  </a:solidFill>
                  <a:latin typeface="Times New Roman" panose="02020603050405020304" pitchFamily="18" charset="0"/>
                  <a:ea typeface="楷体_GB2312" pitchFamily="49" charset="-122"/>
                </a:rPr>
                <a:t> </a:t>
              </a:r>
              <a:r>
                <a:rPr kumimoji="1" lang="en-US" altLang="zh-CN" sz="2000" b="1" kern="0">
                  <a:solidFill>
                    <a:srgbClr val="000000"/>
                  </a:solidFill>
                  <a:latin typeface="Times New Roman" panose="02020603050405020304" pitchFamily="18" charset="0"/>
                  <a:ea typeface="楷体_GB2312" pitchFamily="49" charset="-122"/>
                </a:rPr>
                <a:t>=</a:t>
              </a:r>
              <a:r>
                <a:rPr kumimoji="1" lang="en-US" altLang="zh-CN" sz="2000" b="1" kern="0" baseline="-25000">
                  <a:solidFill>
                    <a:srgbClr val="000000"/>
                  </a:solidFill>
                  <a:latin typeface="Times New Roman" panose="02020603050405020304" pitchFamily="18" charset="0"/>
                  <a:ea typeface="楷体_GB2312" pitchFamily="49" charset="-122"/>
                </a:rPr>
                <a:t> </a:t>
              </a:r>
              <a:r>
                <a:rPr kumimoji="1" lang="en-US" altLang="zh-CN" sz="2000" b="1" i="1" kern="0">
                  <a:solidFill>
                    <a:srgbClr val="000000"/>
                  </a:solidFill>
                  <a:latin typeface="Times New Roman" panose="02020603050405020304" pitchFamily="18" charset="0"/>
                  <a:ea typeface="楷体_GB2312" pitchFamily="49" charset="-122"/>
                </a:rPr>
                <a:t>TR</a:t>
              </a:r>
              <a:r>
                <a:rPr kumimoji="1" lang="en-US" altLang="zh-CN" sz="2000" b="1" i="1" kern="0" baseline="-25000">
                  <a:solidFill>
                    <a:srgbClr val="000000"/>
                  </a:solidFill>
                  <a:latin typeface="Times New Roman" panose="02020603050405020304" pitchFamily="18" charset="0"/>
                  <a:ea typeface="楷体_GB2312" pitchFamily="49" charset="-122"/>
                </a:rPr>
                <a:t> </a:t>
              </a:r>
              <a:r>
                <a:rPr kumimoji="1" lang="en-US" altLang="zh-CN" sz="2000" b="1" kern="0">
                  <a:solidFill>
                    <a:srgbClr val="000000"/>
                  </a:solidFill>
                  <a:latin typeface="Times New Roman" panose="02020603050405020304" pitchFamily="18" charset="0"/>
                  <a:ea typeface="楷体_GB2312" pitchFamily="49" charset="-122"/>
                </a:rPr>
                <a:t>≥</a:t>
              </a:r>
              <a:r>
                <a:rPr kumimoji="1" lang="en-US" altLang="zh-CN" sz="2000" b="1" kern="0" baseline="-25000">
                  <a:solidFill>
                    <a:srgbClr val="000000"/>
                  </a:solidFill>
                  <a:latin typeface="Times New Roman" panose="02020603050405020304" pitchFamily="18" charset="0"/>
                  <a:ea typeface="楷体_GB2312" pitchFamily="49" charset="-122"/>
                </a:rPr>
                <a:t> </a:t>
              </a:r>
              <a:r>
                <a:rPr kumimoji="1" lang="en-US" altLang="zh-CN" sz="2000" b="1" kern="0">
                  <a:solidFill>
                    <a:srgbClr val="000000"/>
                  </a:solidFill>
                  <a:latin typeface="Times New Roman" panose="02020603050405020304" pitchFamily="18" charset="0"/>
                  <a:ea typeface="楷体_GB2312" pitchFamily="49" charset="-122"/>
                </a:rPr>
                <a:t>2/3</a:t>
              </a:r>
              <a:r>
                <a:rPr kumimoji="1" lang="en-US" altLang="zh-CN" sz="2000" b="1" kern="0" baseline="-25000">
                  <a:solidFill>
                    <a:srgbClr val="000000"/>
                  </a:solidFill>
                  <a:latin typeface="Times New Roman" panose="02020603050405020304" pitchFamily="18" charset="0"/>
                  <a:ea typeface="楷体_GB2312" pitchFamily="49" charset="-122"/>
                </a:rPr>
                <a:t> </a:t>
              </a:r>
              <a:r>
                <a:rPr kumimoji="1" lang="en-US" altLang="zh-CN" sz="2000" b="1" i="1" kern="0">
                  <a:solidFill>
                    <a:srgbClr val="000000"/>
                  </a:solidFill>
                  <a:latin typeface="Times New Roman" panose="02020603050405020304" pitchFamily="18" charset="0"/>
                  <a:ea typeface="楷体_GB2312" pitchFamily="49" charset="-122"/>
                </a:rPr>
                <a:t>V</a:t>
              </a:r>
              <a:r>
                <a:rPr kumimoji="1" lang="en-US" altLang="zh-CN" sz="2000" b="1" kern="0" baseline="-25000">
                  <a:solidFill>
                    <a:srgbClr val="000000"/>
                  </a:solidFill>
                  <a:latin typeface="Times New Roman" panose="02020603050405020304" pitchFamily="18" charset="0"/>
                  <a:ea typeface="楷体_GB2312" pitchFamily="49" charset="-122"/>
                </a:rPr>
                <a:t>CC</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354" name="Line 57"/>
            <p:cNvSpPr>
              <a:spLocks noChangeShapeType="1"/>
            </p:cNvSpPr>
            <p:nvPr/>
          </p:nvSpPr>
          <p:spPr bwMode="auto">
            <a:xfrm>
              <a:off x="1072" y="1743"/>
              <a:ext cx="247"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grpSp>
      <p:grpSp>
        <p:nvGrpSpPr>
          <p:cNvPr id="355" name="Group 58"/>
          <p:cNvGrpSpPr/>
          <p:nvPr/>
        </p:nvGrpSpPr>
        <p:grpSpPr bwMode="auto">
          <a:xfrm>
            <a:off x="3638551" y="2096260"/>
            <a:ext cx="5367337" cy="3802064"/>
            <a:chOff x="2271" y="2151"/>
            <a:chExt cx="3381" cy="2395"/>
          </a:xfrm>
        </p:grpSpPr>
        <p:sp>
          <p:nvSpPr>
            <p:cNvPr id="356" name="Text Box 59"/>
            <p:cNvSpPr txBox="1">
              <a:spLocks noChangeArrowheads="1"/>
            </p:cNvSpPr>
            <p:nvPr/>
          </p:nvSpPr>
          <p:spPr bwMode="auto">
            <a:xfrm>
              <a:off x="2271" y="2151"/>
              <a:ext cx="3381" cy="2395"/>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defTabSz="914400" fontAlgn="base">
                <a:lnSpc>
                  <a:spcPct val="150000"/>
                </a:lnSpc>
                <a:spcBef>
                  <a:spcPct val="0"/>
                </a:spcBef>
                <a:spcAft>
                  <a:spcPct val="0"/>
                </a:spcAft>
                <a:defRPr/>
              </a:pPr>
              <a:r>
                <a:rPr kumimoji="1" lang="zh-CN" altLang="en-US" sz="2800" b="1" kern="0" dirty="0">
                  <a:solidFill>
                    <a:prstClr val="black"/>
                  </a:solidFill>
                  <a:latin typeface="Times New Roman" panose="02020603050405020304" pitchFamily="18" charset="0"/>
                  <a:ea typeface="楷体_GB2312" pitchFamily="49" charset="-122"/>
                </a:rPr>
                <a:t>当 </a:t>
              </a:r>
              <a:r>
                <a:rPr kumimoji="1" lang="en-US" altLang="zh-CN" sz="2800" b="1" i="1" kern="0" dirty="0" err="1">
                  <a:solidFill>
                    <a:prstClr val="black"/>
                  </a:solidFill>
                  <a:latin typeface="Times New Roman" panose="02020603050405020304" pitchFamily="18" charset="0"/>
                  <a:ea typeface="楷体_GB2312" pitchFamily="49" charset="-122"/>
                </a:rPr>
                <a:t>u</a:t>
              </a:r>
              <a:r>
                <a:rPr kumimoji="1" lang="en-US" altLang="zh-CN" sz="2800" b="1" i="1" kern="0" baseline="-25000" dirty="0" err="1">
                  <a:solidFill>
                    <a:prstClr val="black"/>
                  </a:solidFill>
                  <a:latin typeface="Times New Roman" panose="02020603050405020304" pitchFamily="18" charset="0"/>
                  <a:ea typeface="楷体_GB2312" pitchFamily="49" charset="-122"/>
                </a:rPr>
                <a:t>C</a:t>
              </a:r>
              <a:r>
                <a:rPr kumimoji="1" lang="en-US" altLang="zh-CN" sz="2800" b="1" i="1" kern="0" baseline="-25000" dirty="0">
                  <a:solidFill>
                    <a:prstClr val="black"/>
                  </a:solidFill>
                  <a:latin typeface="Times New Roman" panose="02020603050405020304" pitchFamily="18" charset="0"/>
                  <a:ea typeface="楷体_GB2312" pitchFamily="49" charset="-122"/>
                </a:rPr>
                <a:t> </a:t>
              </a:r>
              <a:r>
                <a:rPr kumimoji="1" lang="zh-CN" altLang="en-US" sz="2800" b="1" kern="0" dirty="0">
                  <a:solidFill>
                    <a:prstClr val="black"/>
                  </a:solidFill>
                  <a:latin typeface="Times New Roman" panose="02020603050405020304" pitchFamily="18" charset="0"/>
                  <a:ea typeface="楷体_GB2312" pitchFamily="49" charset="-122"/>
                </a:rPr>
                <a:t>上升到 </a:t>
              </a:r>
              <a:endParaRPr kumimoji="1" lang="en-US" altLang="zh-CN" sz="2800" b="1" kern="0" dirty="0">
                <a:solidFill>
                  <a:prstClr val="black"/>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i="1" kern="0" dirty="0">
                  <a:solidFill>
                    <a:srgbClr val="FF0000"/>
                  </a:solidFill>
                  <a:latin typeface="Times New Roman" panose="02020603050405020304" pitchFamily="18" charset="0"/>
                  <a:ea typeface="楷体_GB2312" pitchFamily="49" charset="-122"/>
                </a:rPr>
                <a:t>TH </a:t>
              </a:r>
              <a:r>
                <a:rPr kumimoji="1" lang="en-US" altLang="zh-CN" sz="2800" b="1" kern="0" dirty="0">
                  <a:solidFill>
                    <a:srgbClr val="FF0000"/>
                  </a:solidFill>
                  <a:latin typeface="Times New Roman" panose="02020603050405020304" pitchFamily="18" charset="0"/>
                  <a:ea typeface="楷体_GB2312" pitchFamily="49" charset="-122"/>
                </a:rPr>
                <a:t>= </a:t>
              </a:r>
              <a:r>
                <a:rPr kumimoji="1" lang="en-US" altLang="zh-CN" sz="2800" b="1" i="1" kern="0" dirty="0">
                  <a:solidFill>
                    <a:srgbClr val="FF0000"/>
                  </a:solidFill>
                  <a:latin typeface="Times New Roman" panose="02020603050405020304" pitchFamily="18" charset="0"/>
                  <a:ea typeface="楷体_GB2312" pitchFamily="49" charset="-122"/>
                </a:rPr>
                <a:t>TR </a:t>
              </a:r>
              <a:r>
                <a:rPr kumimoji="1" lang="en-US" altLang="zh-CN" sz="2800" b="1" kern="0" dirty="0">
                  <a:solidFill>
                    <a:srgbClr val="FF0000"/>
                  </a:solidFill>
                  <a:latin typeface="Times New Roman" panose="02020603050405020304" pitchFamily="18" charset="0"/>
                  <a:ea typeface="楷体_GB2312" pitchFamily="49" charset="-122"/>
                </a:rPr>
                <a:t>= </a:t>
              </a:r>
              <a:r>
                <a:rPr kumimoji="1" lang="en-US" altLang="zh-CN" sz="2800" b="1" i="1" kern="0" dirty="0" err="1">
                  <a:solidFill>
                    <a:srgbClr val="FF0000"/>
                  </a:solidFill>
                  <a:latin typeface="Times New Roman" panose="02020603050405020304" pitchFamily="18" charset="0"/>
                  <a:ea typeface="楷体_GB2312" pitchFamily="49" charset="-122"/>
                </a:rPr>
                <a:t>u</a:t>
              </a:r>
              <a:r>
                <a:rPr kumimoji="1" lang="en-US" altLang="zh-CN" sz="2800" b="1" i="1" kern="0" baseline="-25000" dirty="0" err="1">
                  <a:solidFill>
                    <a:srgbClr val="FF0000"/>
                  </a:solidFill>
                  <a:latin typeface="Times New Roman" panose="02020603050405020304" pitchFamily="18" charset="0"/>
                  <a:ea typeface="楷体_GB2312" pitchFamily="49" charset="-122"/>
                </a:rPr>
                <a:t>C</a:t>
              </a:r>
              <a:r>
                <a:rPr kumimoji="1" lang="en-US" altLang="zh-CN" sz="2800" b="1" kern="0" baseline="-25000" dirty="0">
                  <a:solidFill>
                    <a:srgbClr val="FF0000"/>
                  </a:solidFill>
                  <a:latin typeface="Times New Roman" panose="02020603050405020304" pitchFamily="18" charset="0"/>
                  <a:ea typeface="楷体_GB2312" pitchFamily="49" charset="-122"/>
                </a:rPr>
                <a:t> </a:t>
              </a:r>
              <a:r>
                <a:rPr kumimoji="1" lang="en-US" altLang="zh-CN" sz="2800" b="1" kern="0" dirty="0">
                  <a:solidFill>
                    <a:srgbClr val="FF0000"/>
                  </a:solidFill>
                  <a:latin typeface="Times New Roman" panose="02020603050405020304" pitchFamily="18" charset="0"/>
                  <a:ea typeface="楷体_GB2312" pitchFamily="49" charset="-122"/>
                </a:rPr>
                <a:t>≥</a:t>
              </a:r>
              <a:r>
                <a:rPr kumimoji="1" lang="en-US" altLang="zh-CN" sz="2800" b="1" kern="0" baseline="-25000" dirty="0">
                  <a:solidFill>
                    <a:srgbClr val="FF0000"/>
                  </a:solidFill>
                  <a:latin typeface="Times New Roman" panose="02020603050405020304" pitchFamily="18" charset="0"/>
                  <a:ea typeface="楷体_GB2312" pitchFamily="49" charset="-122"/>
                </a:rPr>
                <a:t> </a:t>
              </a:r>
              <a:r>
                <a:rPr kumimoji="1" lang="en-US" altLang="zh-CN" sz="2800" b="1" kern="0" dirty="0">
                  <a:solidFill>
                    <a:srgbClr val="FF0000"/>
                  </a:solidFill>
                  <a:latin typeface="Times New Roman" panose="02020603050405020304" pitchFamily="18" charset="0"/>
                  <a:ea typeface="楷体_GB2312" pitchFamily="49" charset="-122"/>
                </a:rPr>
                <a:t>2/3 </a:t>
              </a:r>
              <a:r>
                <a:rPr kumimoji="1" lang="en-US" altLang="zh-CN" sz="2800" b="1" i="1" kern="0" dirty="0">
                  <a:solidFill>
                    <a:srgbClr val="FF0000"/>
                  </a:solidFill>
                  <a:latin typeface="Times New Roman" panose="02020603050405020304" pitchFamily="18" charset="0"/>
                  <a:ea typeface="楷体_GB2312" pitchFamily="49" charset="-122"/>
                </a:rPr>
                <a:t>V</a:t>
              </a:r>
              <a:r>
                <a:rPr kumimoji="1" lang="en-US" altLang="zh-CN" sz="2800" b="1" kern="0" baseline="-25000" dirty="0">
                  <a:solidFill>
                    <a:srgbClr val="FF0000"/>
                  </a:solidFill>
                  <a:latin typeface="Times New Roman" panose="02020603050405020304" pitchFamily="18" charset="0"/>
                  <a:ea typeface="楷体_GB2312" pitchFamily="49" charset="-122"/>
                </a:rPr>
                <a:t>CC </a:t>
              </a:r>
              <a:r>
                <a:rPr kumimoji="1" lang="zh-CN" altLang="en-US" sz="2800" b="1" kern="0" dirty="0">
                  <a:solidFill>
                    <a:prstClr val="black"/>
                  </a:solidFill>
                  <a:latin typeface="Times New Roman" panose="02020603050405020304" pitchFamily="18" charset="0"/>
                  <a:ea typeface="楷体_GB2312" pitchFamily="49" charset="-122"/>
                </a:rPr>
                <a:t>时，</a:t>
              </a:r>
              <a:endParaRPr kumimoji="1" lang="en-US" altLang="zh-CN" sz="2800" b="1" kern="0" dirty="0">
                <a:solidFill>
                  <a:prstClr val="black"/>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i="1" kern="0" dirty="0" err="1">
                  <a:solidFill>
                    <a:srgbClr val="0033CC"/>
                  </a:solidFill>
                  <a:latin typeface="Times New Roman" panose="02020603050405020304" pitchFamily="18" charset="0"/>
                  <a:ea typeface="楷体_GB2312" pitchFamily="49" charset="-122"/>
                </a:rPr>
                <a:t>u</a:t>
              </a:r>
              <a:r>
                <a:rPr kumimoji="1" lang="en-US" altLang="zh-CN" sz="2800" b="1" kern="0" baseline="-25000" dirty="0" err="1">
                  <a:solidFill>
                    <a:srgbClr val="0033CC"/>
                  </a:solidFill>
                  <a:latin typeface="Times New Roman" panose="02020603050405020304" pitchFamily="18" charset="0"/>
                  <a:ea typeface="楷体_GB2312" pitchFamily="49" charset="-122"/>
                </a:rPr>
                <a:t>O</a:t>
              </a:r>
              <a:r>
                <a:rPr kumimoji="1" lang="en-US" altLang="zh-CN" sz="2800" b="1" kern="0" baseline="-25000" dirty="0">
                  <a:solidFill>
                    <a:srgbClr val="0033CC"/>
                  </a:solidFill>
                  <a:latin typeface="Times New Roman" panose="02020603050405020304" pitchFamily="18" charset="0"/>
                  <a:ea typeface="楷体_GB2312" pitchFamily="49" charset="-122"/>
                </a:rPr>
                <a:t> </a:t>
              </a:r>
              <a:r>
                <a:rPr kumimoji="1" lang="zh-CN" altLang="en-US" sz="2800" b="1" kern="0" dirty="0">
                  <a:solidFill>
                    <a:srgbClr val="0033CC"/>
                  </a:solidFill>
                  <a:latin typeface="Times New Roman" panose="02020603050405020304" pitchFamily="18" charset="0"/>
                  <a:ea typeface="楷体_GB2312" pitchFamily="49" charset="-122"/>
                </a:rPr>
                <a:t>跃变为低电平，</a:t>
              </a:r>
              <a:endParaRPr kumimoji="1" lang="en-US" altLang="zh-CN" sz="2800" b="1" kern="0" dirty="0">
                <a:solidFill>
                  <a:srgbClr val="0033CC"/>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zh-CN" altLang="en-US" sz="2800" b="1" kern="0" dirty="0">
                  <a:solidFill>
                    <a:srgbClr val="000000"/>
                  </a:solidFill>
                  <a:latin typeface="Times New Roman" panose="02020603050405020304" pitchFamily="18" charset="0"/>
                  <a:ea typeface="楷体_GB2312" pitchFamily="49" charset="-122"/>
                </a:rPr>
                <a:t>同时放电管</a:t>
              </a:r>
              <a:r>
                <a:rPr kumimoji="1" lang="en-US" altLang="zh-CN" sz="2800" b="1" kern="0" dirty="0">
                  <a:solidFill>
                    <a:srgbClr val="000000"/>
                  </a:solidFill>
                  <a:latin typeface="Times New Roman" panose="02020603050405020304" pitchFamily="18" charset="0"/>
                  <a:ea typeface="楷体_GB2312" pitchFamily="49" charset="-122"/>
                </a:rPr>
                <a:t>T</a:t>
              </a:r>
              <a:r>
                <a:rPr kumimoji="1" lang="zh-CN" altLang="en-US" sz="2800" b="1" kern="0" dirty="0">
                  <a:solidFill>
                    <a:srgbClr val="FF0000"/>
                  </a:solidFill>
                  <a:latin typeface="Times New Roman" panose="02020603050405020304" pitchFamily="18" charset="0"/>
                  <a:ea typeface="楷体_GB2312" pitchFamily="49" charset="-122"/>
                </a:rPr>
                <a:t>导通</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i="1" kern="0" dirty="0">
                  <a:solidFill>
                    <a:srgbClr val="000000"/>
                  </a:solidFill>
                  <a:latin typeface="Times New Roman" panose="02020603050405020304" pitchFamily="18" charset="0"/>
                  <a:ea typeface="楷体_GB2312" pitchFamily="49" charset="-122"/>
                </a:rPr>
                <a:t>C </a:t>
              </a:r>
              <a:r>
                <a:rPr kumimoji="1" lang="zh-CN" altLang="en-US" sz="2800" b="1" kern="0" dirty="0">
                  <a:solidFill>
                    <a:srgbClr val="000000"/>
                  </a:solidFill>
                  <a:latin typeface="Times New Roman" panose="02020603050405020304" pitchFamily="18" charset="0"/>
                  <a:ea typeface="楷体_GB2312" pitchFamily="49" charset="-122"/>
                </a:rPr>
                <a:t>经 </a:t>
              </a:r>
              <a:r>
                <a:rPr kumimoji="1" lang="en-US" altLang="zh-CN" sz="2800" b="1" i="1" kern="0" dirty="0">
                  <a:solidFill>
                    <a:srgbClr val="000000"/>
                  </a:solidFill>
                  <a:latin typeface="Times New Roman" panose="02020603050405020304" pitchFamily="18" charset="0"/>
                  <a:ea typeface="楷体_GB2312" pitchFamily="49" charset="-122"/>
                </a:rPr>
                <a:t>R</a:t>
              </a:r>
              <a:r>
                <a:rPr kumimoji="1" lang="en-US" altLang="zh-CN" sz="2800" b="1" kern="0" baseline="-25000" dirty="0">
                  <a:solidFill>
                    <a:srgbClr val="000000"/>
                  </a:solidFill>
                  <a:latin typeface="Times New Roman" panose="02020603050405020304" pitchFamily="18" charset="0"/>
                  <a:ea typeface="楷体_GB2312" pitchFamily="49" charset="-122"/>
                </a:rPr>
                <a:t>2 </a:t>
              </a:r>
              <a:r>
                <a:rPr kumimoji="1" lang="zh-CN" altLang="en-US" sz="2800" b="1" kern="0" dirty="0">
                  <a:solidFill>
                    <a:srgbClr val="000000"/>
                  </a:solidFill>
                  <a:latin typeface="Times New Roman" panose="02020603050405020304" pitchFamily="18" charset="0"/>
                  <a:ea typeface="楷体_GB2312" pitchFamily="49" charset="-122"/>
                </a:rPr>
                <a:t>和 </a:t>
              </a:r>
              <a:r>
                <a:rPr kumimoji="1" lang="en-US" altLang="zh-CN" sz="2800" b="1" kern="0" dirty="0">
                  <a:solidFill>
                    <a:srgbClr val="000000"/>
                  </a:solidFill>
                  <a:latin typeface="Times New Roman" panose="02020603050405020304" pitchFamily="18" charset="0"/>
                  <a:ea typeface="楷体_GB2312" pitchFamily="49" charset="-122"/>
                </a:rPr>
                <a:t>T </a:t>
              </a:r>
              <a:r>
                <a:rPr kumimoji="1" lang="zh-CN" altLang="en-US" sz="2800" b="1" kern="0" dirty="0">
                  <a:solidFill>
                    <a:srgbClr val="FF0000"/>
                  </a:solidFill>
                  <a:latin typeface="Times New Roman" panose="02020603050405020304" pitchFamily="18" charset="0"/>
                  <a:ea typeface="楷体_GB2312" pitchFamily="49" charset="-122"/>
                </a:rPr>
                <a:t>放电，</a:t>
              </a:r>
              <a:r>
                <a:rPr kumimoji="1" lang="en-US" altLang="zh-CN" sz="2800" b="1" i="1" kern="0" dirty="0" err="1">
                  <a:solidFill>
                    <a:srgbClr val="FF0000"/>
                  </a:solidFill>
                  <a:latin typeface="Times New Roman" panose="02020603050405020304" pitchFamily="18" charset="0"/>
                  <a:ea typeface="楷体_GB2312" pitchFamily="49" charset="-122"/>
                </a:rPr>
                <a:t>u</a:t>
              </a:r>
              <a:r>
                <a:rPr kumimoji="1" lang="en-US" altLang="zh-CN" sz="2800" b="1" i="1" kern="0" baseline="-25000" dirty="0" err="1">
                  <a:solidFill>
                    <a:srgbClr val="FF0000"/>
                  </a:solidFill>
                  <a:latin typeface="Times New Roman" panose="02020603050405020304" pitchFamily="18" charset="0"/>
                  <a:ea typeface="楷体_GB2312" pitchFamily="49" charset="-122"/>
                </a:rPr>
                <a:t>C</a:t>
              </a:r>
              <a:r>
                <a:rPr kumimoji="1" lang="en-US" altLang="zh-CN" sz="2800" b="1" kern="0" baseline="-25000" dirty="0">
                  <a:solidFill>
                    <a:srgbClr val="FF0000"/>
                  </a:solidFill>
                  <a:latin typeface="Times New Roman" panose="02020603050405020304" pitchFamily="18" charset="0"/>
                  <a:ea typeface="楷体_GB2312" pitchFamily="49" charset="-122"/>
                </a:rPr>
                <a:t> </a:t>
              </a:r>
              <a:r>
                <a:rPr kumimoji="1" lang="zh-CN" altLang="en-US" sz="2800" b="1" kern="0" dirty="0">
                  <a:solidFill>
                    <a:srgbClr val="FF0000"/>
                  </a:solidFill>
                  <a:latin typeface="Times New Roman" panose="02020603050405020304" pitchFamily="18" charset="0"/>
                  <a:ea typeface="楷体_GB2312" pitchFamily="49" charset="-122"/>
                </a:rPr>
                <a:t>下降</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zh-CN" altLang="en-US" sz="2800" b="1" kern="0" dirty="0">
                  <a:solidFill>
                    <a:srgbClr val="000000"/>
                  </a:solidFill>
                  <a:latin typeface="Times New Roman" panose="02020603050405020304" pitchFamily="18" charset="0"/>
                  <a:ea typeface="楷体_GB2312" pitchFamily="49" charset="-122"/>
                </a:rPr>
                <a:t>电路进入</a:t>
              </a:r>
              <a:r>
                <a:rPr kumimoji="1" lang="zh-CN" altLang="en-US" sz="2800" b="1" kern="0" dirty="0">
                  <a:solidFill>
                    <a:srgbClr val="0033CC"/>
                  </a:solidFill>
                  <a:latin typeface="Times New Roman" panose="02020603050405020304" pitchFamily="18" charset="0"/>
                  <a:ea typeface="楷体_GB2312" pitchFamily="49" charset="-122"/>
                </a:rPr>
                <a:t>暂稳态 </a:t>
              </a:r>
              <a:r>
                <a:rPr kumimoji="1" lang="en-US" altLang="zh-CN" sz="2800" b="1" kern="0" dirty="0">
                  <a:solidFill>
                    <a:srgbClr val="0033CC"/>
                  </a:solidFill>
                  <a:latin typeface="Times New Roman" panose="02020603050405020304" pitchFamily="18" charset="0"/>
                  <a:ea typeface="楷体_GB2312" pitchFamily="49" charset="-122"/>
                </a:rPr>
                <a:t>Ⅱ</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zh-CN" altLang="en-US" sz="2800" b="1" kern="0" dirty="0">
                <a:solidFill>
                  <a:srgbClr val="000000"/>
                </a:solidFill>
                <a:latin typeface="Times New Roman" panose="02020603050405020304" pitchFamily="18" charset="0"/>
                <a:ea typeface="楷体_GB2312" pitchFamily="49" charset="-122"/>
              </a:endParaRPr>
            </a:p>
          </p:txBody>
        </p:sp>
        <p:sp>
          <p:nvSpPr>
            <p:cNvPr id="357" name="Line 60"/>
            <p:cNvSpPr>
              <a:spLocks noChangeShapeType="1"/>
            </p:cNvSpPr>
            <p:nvPr/>
          </p:nvSpPr>
          <p:spPr bwMode="auto">
            <a:xfrm>
              <a:off x="2870" y="2690"/>
              <a:ext cx="222" cy="0"/>
            </a:xfrm>
            <a:prstGeom prst="line">
              <a:avLst/>
            </a:prstGeom>
            <a:noFill/>
            <a:ln w="25400">
              <a:no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lnSpc>
                  <a:spcPct val="150000"/>
                </a:lnSpc>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grpSp>
      <p:grpSp>
        <p:nvGrpSpPr>
          <p:cNvPr id="358" name="Group 62"/>
          <p:cNvGrpSpPr/>
          <p:nvPr/>
        </p:nvGrpSpPr>
        <p:grpSpPr bwMode="auto">
          <a:xfrm>
            <a:off x="1614488" y="3746500"/>
            <a:ext cx="452437" cy="2435225"/>
            <a:chOff x="1017" y="2360"/>
            <a:chExt cx="285" cy="1534"/>
          </a:xfrm>
        </p:grpSpPr>
        <p:sp>
          <p:nvSpPr>
            <p:cNvPr id="359" name="Freeform 63"/>
            <p:cNvSpPr/>
            <p:nvPr/>
          </p:nvSpPr>
          <p:spPr bwMode="auto">
            <a:xfrm flipV="1">
              <a:off x="1071" y="2360"/>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CC3399"/>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60" name="Line 64"/>
            <p:cNvSpPr>
              <a:spLocks noChangeShapeType="1"/>
            </p:cNvSpPr>
            <p:nvPr/>
          </p:nvSpPr>
          <p:spPr bwMode="auto">
            <a:xfrm>
              <a:off x="1064" y="3378"/>
              <a:ext cx="0" cy="516"/>
            </a:xfrm>
            <a:prstGeom prst="line">
              <a:avLst/>
            </a:prstGeom>
            <a:noFill/>
            <a:ln w="38100">
              <a:solidFill>
                <a:srgbClr val="CC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61" name="Line 65"/>
            <p:cNvSpPr>
              <a:spLocks noChangeShapeType="1"/>
            </p:cNvSpPr>
            <p:nvPr/>
          </p:nvSpPr>
          <p:spPr bwMode="auto">
            <a:xfrm>
              <a:off x="1053" y="3886"/>
              <a:ext cx="207" cy="0"/>
            </a:xfrm>
            <a:prstGeom prst="line">
              <a:avLst/>
            </a:prstGeom>
            <a:noFill/>
            <a:ln w="38100">
              <a:solidFill>
                <a:srgbClr val="CC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62" name="Text Box 66"/>
            <p:cNvSpPr txBox="1">
              <a:spLocks noChangeArrowheads="1"/>
            </p:cNvSpPr>
            <p:nvPr/>
          </p:nvSpPr>
          <p:spPr bwMode="auto">
            <a:xfrm>
              <a:off x="1017" y="3505"/>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pPr>
              <a:r>
                <a:rPr kumimoji="1" lang="en-US" altLang="zh-CN" sz="2000" b="1">
                  <a:solidFill>
                    <a:srgbClr val="CC3399"/>
                  </a:solidFill>
                  <a:latin typeface="Times New Roman" panose="02020603050405020304" pitchFamily="18" charset="0"/>
                  <a:ea typeface="楷体_GB2312" pitchFamily="49" charset="-122"/>
                </a:rPr>
                <a:t>Ⅱ</a:t>
              </a:r>
              <a:endParaRPr kumimoji="1" lang="en-US" altLang="zh-CN" sz="2000" b="1">
                <a:solidFill>
                  <a:srgbClr val="CC3399"/>
                </a:solidFill>
                <a:latin typeface="Times New Roman" panose="02020603050405020304" pitchFamily="18" charset="0"/>
                <a:ea typeface="楷体_GB2312" pitchFamily="49" charset="-122"/>
              </a:endParaRPr>
            </a:p>
          </p:txBody>
        </p:sp>
      </p:grpSp>
      <p:grpSp>
        <p:nvGrpSpPr>
          <p:cNvPr id="363" name="Group 70"/>
          <p:cNvGrpSpPr/>
          <p:nvPr/>
        </p:nvGrpSpPr>
        <p:grpSpPr bwMode="auto">
          <a:xfrm>
            <a:off x="812800" y="1606550"/>
            <a:ext cx="968375" cy="1397000"/>
            <a:chOff x="518" y="1012"/>
            <a:chExt cx="610" cy="880"/>
          </a:xfrm>
        </p:grpSpPr>
        <p:grpSp>
          <p:nvGrpSpPr>
            <p:cNvPr id="364" name="Group 71"/>
            <p:cNvGrpSpPr/>
            <p:nvPr/>
          </p:nvGrpSpPr>
          <p:grpSpPr bwMode="auto">
            <a:xfrm>
              <a:off x="518" y="1012"/>
              <a:ext cx="322" cy="880"/>
              <a:chOff x="518" y="1012"/>
              <a:chExt cx="322" cy="880"/>
            </a:xfrm>
          </p:grpSpPr>
          <p:sp>
            <p:nvSpPr>
              <p:cNvPr id="372" name="Rectangle 72"/>
              <p:cNvSpPr>
                <a:spLocks noChangeArrowheads="1"/>
              </p:cNvSpPr>
              <p:nvPr/>
            </p:nvSpPr>
            <p:spPr bwMode="auto">
              <a:xfrm>
                <a:off x="518" y="1012"/>
                <a:ext cx="322"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pPr>
                <a:r>
                  <a:rPr kumimoji="1" lang="zh-CN" altLang="en-US" sz="2000" b="1">
                    <a:solidFill>
                      <a:srgbClr val="FF3300"/>
                    </a:solidFill>
                    <a:latin typeface="Times New Roman" panose="02020603050405020304" pitchFamily="18" charset="0"/>
                    <a:ea typeface="楷体_GB2312" pitchFamily="49" charset="-122"/>
                  </a:rPr>
                  <a:t>放电</a:t>
                </a:r>
                <a:endParaRPr kumimoji="1" lang="zh-CN" altLang="en-US" sz="2000" b="1">
                  <a:solidFill>
                    <a:srgbClr val="FF3300"/>
                  </a:solidFill>
                  <a:latin typeface="Times New Roman" panose="02020603050405020304" pitchFamily="18" charset="0"/>
                  <a:ea typeface="楷体_GB2312" pitchFamily="49" charset="-122"/>
                </a:endParaRPr>
              </a:p>
            </p:txBody>
          </p:sp>
          <p:sp>
            <p:nvSpPr>
              <p:cNvPr id="373" name="Line 73"/>
              <p:cNvSpPr>
                <a:spLocks noChangeShapeType="1"/>
              </p:cNvSpPr>
              <p:nvPr/>
            </p:nvSpPr>
            <p:spPr bwMode="auto">
              <a:xfrm flipV="1">
                <a:off x="564" y="1250"/>
                <a:ext cx="0" cy="642"/>
              </a:xfrm>
              <a:prstGeom prst="line">
                <a:avLst/>
              </a:prstGeom>
              <a:noFill/>
              <a:ln w="38100">
                <a:solidFill>
                  <a:srgbClr val="CC99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74" name="Line 74"/>
              <p:cNvSpPr>
                <a:spLocks noChangeShapeType="1"/>
              </p:cNvSpPr>
              <p:nvPr/>
            </p:nvSpPr>
            <p:spPr bwMode="auto">
              <a:xfrm>
                <a:off x="564" y="1262"/>
                <a:ext cx="216" cy="0"/>
              </a:xfrm>
              <a:prstGeom prst="line">
                <a:avLst/>
              </a:prstGeom>
              <a:noFill/>
              <a:ln w="38100">
                <a:solidFill>
                  <a:srgbClr val="CC99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75" name="Line 75"/>
              <p:cNvSpPr>
                <a:spLocks noChangeShapeType="1"/>
              </p:cNvSpPr>
              <p:nvPr/>
            </p:nvSpPr>
            <p:spPr bwMode="auto">
              <a:xfrm>
                <a:off x="768" y="1250"/>
                <a:ext cx="0" cy="240"/>
              </a:xfrm>
              <a:prstGeom prst="line">
                <a:avLst/>
              </a:prstGeom>
              <a:noFill/>
              <a:ln w="38100">
                <a:solidFill>
                  <a:srgbClr val="CC99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grpSp>
        <p:sp>
          <p:nvSpPr>
            <p:cNvPr id="365" name="Line 76"/>
            <p:cNvSpPr>
              <a:spLocks noChangeShapeType="1"/>
            </p:cNvSpPr>
            <p:nvPr/>
          </p:nvSpPr>
          <p:spPr bwMode="auto">
            <a:xfrm>
              <a:off x="738" y="1220"/>
              <a:ext cx="22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66" name="Line 77"/>
            <p:cNvSpPr>
              <a:spLocks noChangeShapeType="1"/>
            </p:cNvSpPr>
            <p:nvPr/>
          </p:nvSpPr>
          <p:spPr bwMode="auto">
            <a:xfrm>
              <a:off x="960" y="1220"/>
              <a:ext cx="66" cy="6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67" name="Line 78"/>
            <p:cNvSpPr>
              <a:spLocks noChangeShapeType="1"/>
            </p:cNvSpPr>
            <p:nvPr/>
          </p:nvSpPr>
          <p:spPr bwMode="auto">
            <a:xfrm flipH="1">
              <a:off x="957" y="1319"/>
              <a:ext cx="66" cy="66"/>
            </a:xfrm>
            <a:prstGeom prst="line">
              <a:avLst/>
            </a:prstGeom>
            <a:noFill/>
            <a:ln w="19050">
              <a:solidFill>
                <a:srgbClr val="FF33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68" name="Line 79"/>
            <p:cNvSpPr>
              <a:spLocks noChangeShapeType="1"/>
            </p:cNvSpPr>
            <p:nvPr/>
          </p:nvSpPr>
          <p:spPr bwMode="auto">
            <a:xfrm>
              <a:off x="1026" y="1238"/>
              <a:ext cx="0" cy="138"/>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69" name="Line 80"/>
            <p:cNvSpPr>
              <a:spLocks noChangeShapeType="1"/>
            </p:cNvSpPr>
            <p:nvPr/>
          </p:nvSpPr>
          <p:spPr bwMode="auto">
            <a:xfrm>
              <a:off x="1023" y="1307"/>
              <a:ext cx="105"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70" name="Line 81"/>
            <p:cNvSpPr>
              <a:spLocks noChangeShapeType="1"/>
            </p:cNvSpPr>
            <p:nvPr/>
          </p:nvSpPr>
          <p:spPr bwMode="auto">
            <a:xfrm>
              <a:off x="969" y="1379"/>
              <a:ext cx="0" cy="93"/>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371" name="Line 82"/>
            <p:cNvSpPr>
              <a:spLocks noChangeShapeType="1"/>
            </p:cNvSpPr>
            <p:nvPr/>
          </p:nvSpPr>
          <p:spPr bwMode="auto">
            <a:xfrm>
              <a:off x="930" y="1463"/>
              <a:ext cx="78" cy="0"/>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grpSp>
      <p:sp>
        <p:nvSpPr>
          <p:cNvPr id="380" name="Text Box 89" descr="窄竖线"/>
          <p:cNvSpPr txBox="1">
            <a:spLocks noChangeArrowheads="1"/>
          </p:cNvSpPr>
          <p:nvPr/>
        </p:nvSpPr>
        <p:spPr bwMode="auto">
          <a:xfrm>
            <a:off x="3648074" y="1192838"/>
            <a:ext cx="2925762" cy="430887"/>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14400" fontAlgn="base">
              <a:spcBef>
                <a:spcPct val="0"/>
              </a:spcBef>
              <a:spcAft>
                <a:spcPct val="0"/>
              </a:spcAft>
            </a:pPr>
            <a:r>
              <a:rPr kumimoji="1" lang="en-US" altLang="zh-CN" sz="2800" b="1" dirty="0">
                <a:solidFill>
                  <a:srgbClr val="000000"/>
                </a:solidFill>
                <a:latin typeface="Times New Roman" panose="02020603050405020304" pitchFamily="18" charset="0"/>
                <a:ea typeface="楷体_GB2312" pitchFamily="49" charset="-122"/>
              </a:rPr>
              <a:t>  2)  </a:t>
            </a:r>
            <a:r>
              <a:rPr kumimoji="1" lang="zh-CN" altLang="en-US" sz="2800" b="1" dirty="0">
                <a:solidFill>
                  <a:srgbClr val="000000"/>
                </a:solidFill>
                <a:latin typeface="Times New Roman" panose="02020603050405020304" pitchFamily="18" charset="0"/>
                <a:ea typeface="楷体_GB2312" pitchFamily="49" charset="-122"/>
              </a:rPr>
              <a:t>第二暂稳态 </a:t>
            </a:r>
            <a:endParaRPr kumimoji="1" lang="zh-CN" altLang="en-US" sz="2800" b="1" dirty="0">
              <a:solidFill>
                <a:srgbClr val="000000"/>
              </a:solidFill>
              <a:latin typeface="Times New Roman" panose="02020603050405020304" pitchFamily="18" charset="0"/>
              <a:ea typeface="楷体_GB2312" pitchFamily="49" charset="-122"/>
            </a:endParaRPr>
          </a:p>
        </p:txBody>
      </p:sp>
      <p:grpSp>
        <p:nvGrpSpPr>
          <p:cNvPr id="84" name="组合 83"/>
          <p:cNvGrpSpPr/>
          <p:nvPr/>
        </p:nvGrpSpPr>
        <p:grpSpPr>
          <a:xfrm>
            <a:off x="6558015" y="108096"/>
            <a:ext cx="2553367" cy="2171051"/>
            <a:chOff x="5594130" y="82673"/>
            <a:chExt cx="2528387" cy="2171075"/>
          </a:xfrm>
        </p:grpSpPr>
        <p:grpSp>
          <p:nvGrpSpPr>
            <p:cNvPr id="85" name="Group 41"/>
            <p:cNvGrpSpPr/>
            <p:nvPr/>
          </p:nvGrpSpPr>
          <p:grpSpPr bwMode="auto">
            <a:xfrm>
              <a:off x="5594130" y="82673"/>
              <a:ext cx="2528387" cy="2171075"/>
              <a:chOff x="3010" y="618"/>
              <a:chExt cx="1830" cy="1346"/>
            </a:xfrm>
          </p:grpSpPr>
          <p:sp>
            <p:nvSpPr>
              <p:cNvPr id="90" name="Rectangle 42"/>
              <p:cNvSpPr>
                <a:spLocks noChangeArrowheads="1"/>
              </p:cNvSpPr>
              <p:nvPr/>
            </p:nvSpPr>
            <p:spPr bwMode="auto">
              <a:xfrm>
                <a:off x="4375" y="634"/>
                <a:ext cx="447"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0"/>
                  </a:spcBef>
                  <a:spcAft>
                    <a:spcPct val="0"/>
                  </a:spcAft>
                  <a:defRPr/>
                </a:pPr>
                <a:r>
                  <a:rPr lang="en-US" altLang="zh-CN" sz="2000" kern="0" dirty="0">
                    <a:solidFill>
                      <a:srgbClr val="0000FF"/>
                    </a:solidFill>
                  </a:rPr>
                  <a:t>  </a:t>
                </a:r>
                <a:r>
                  <a:rPr lang="en-US" altLang="zh-CN" i="1" kern="0" dirty="0" err="1">
                    <a:solidFill>
                      <a:srgbClr val="0000FF"/>
                    </a:solidFill>
                  </a:rPr>
                  <a:t>u</a:t>
                </a:r>
                <a:r>
                  <a:rPr lang="en-US" altLang="zh-CN" i="1" kern="0" baseline="-25000" dirty="0" err="1">
                    <a:solidFill>
                      <a:srgbClr val="0000FF"/>
                    </a:solidFill>
                  </a:rPr>
                  <a:t>o</a:t>
                </a:r>
                <a:endParaRPr lang="en-US" altLang="zh-CN" sz="2000" i="1" kern="0" baseline="-25000" dirty="0">
                  <a:solidFill>
                    <a:srgbClr val="0000FF"/>
                  </a:solidFill>
                </a:endParaRPr>
              </a:p>
            </p:txBody>
          </p:sp>
          <p:sp>
            <p:nvSpPr>
              <p:cNvPr id="91" name="Rectangle 44"/>
              <p:cNvSpPr>
                <a:spLocks noChangeArrowheads="1"/>
              </p:cNvSpPr>
              <p:nvPr/>
            </p:nvSpPr>
            <p:spPr bwMode="auto">
              <a:xfrm>
                <a:off x="4494" y="889"/>
                <a:ext cx="346" cy="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1</a:t>
                </a:r>
                <a:endParaRPr lang="en-US" altLang="zh-CN" kern="0" dirty="0">
                  <a:solidFill>
                    <a:srgbClr val="0000FF"/>
                  </a:solidFill>
                  <a:ea typeface="楷体_GB2312" pitchFamily="49" charset="-122"/>
                </a:endParaRPr>
              </a:p>
              <a:p>
                <a:pPr algn="ctr" defTabSz="914400" fontAlgn="base">
                  <a:spcBef>
                    <a:spcPct val="0"/>
                  </a:spcBef>
                  <a:spcAft>
                    <a:spcPct val="0"/>
                  </a:spcAft>
                  <a:defRPr/>
                </a:pP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0</a:t>
                </a:r>
                <a:endParaRPr lang="zh-CN" altLang="en-US" kern="0" dirty="0">
                  <a:solidFill>
                    <a:srgbClr val="0000FF"/>
                  </a:solidFill>
                  <a:ea typeface="楷体_GB2312" pitchFamily="49" charset="-122"/>
                </a:endParaRPr>
              </a:p>
            </p:txBody>
          </p:sp>
          <p:sp>
            <p:nvSpPr>
              <p:cNvPr id="92" name="Rectangle 45"/>
              <p:cNvSpPr>
                <a:spLocks noChangeArrowheads="1"/>
              </p:cNvSpPr>
              <p:nvPr/>
            </p:nvSpPr>
            <p:spPr bwMode="auto">
              <a:xfrm>
                <a:off x="3340" y="939"/>
                <a:ext cx="786" cy="9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endParaRPr lang="en-US" altLang="zh-CN" kern="0" dirty="0">
                  <a:solidFill>
                    <a:srgbClr val="0000FF"/>
                  </a:solidFill>
                </a:endParaRPr>
              </a:p>
            </p:txBody>
          </p:sp>
          <p:sp>
            <p:nvSpPr>
              <p:cNvPr id="93" name="Rectangle 46"/>
              <p:cNvSpPr>
                <a:spLocks noChangeArrowheads="1"/>
              </p:cNvSpPr>
              <p:nvPr/>
            </p:nvSpPr>
            <p:spPr bwMode="auto">
              <a:xfrm>
                <a:off x="3010" y="682"/>
                <a:ext cx="1337"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en-US" altLang="zh-CN" sz="2000" i="1" kern="0" dirty="0">
                    <a:solidFill>
                      <a:srgbClr val="0000FF"/>
                    </a:solidFill>
                  </a:rPr>
                  <a:t>TH        TR</a:t>
                </a:r>
                <a:endParaRPr lang="en-US" altLang="zh-CN" sz="2000" i="1" kern="0" baseline="-25000" dirty="0">
                  <a:solidFill>
                    <a:srgbClr val="0000FF"/>
                  </a:solidFill>
                </a:endParaRPr>
              </a:p>
            </p:txBody>
          </p:sp>
          <p:sp>
            <p:nvSpPr>
              <p:cNvPr id="94" name="Line 47"/>
              <p:cNvSpPr>
                <a:spLocks noChangeShapeType="1"/>
              </p:cNvSpPr>
              <p:nvPr/>
            </p:nvSpPr>
            <p:spPr bwMode="auto">
              <a:xfrm>
                <a:off x="3109" y="624"/>
                <a:ext cx="1731" cy="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95" name="Line 48"/>
              <p:cNvSpPr>
                <a:spLocks noChangeShapeType="1"/>
              </p:cNvSpPr>
              <p:nvPr/>
            </p:nvSpPr>
            <p:spPr bwMode="auto">
              <a:xfrm flipV="1">
                <a:off x="3101" y="944"/>
                <a:ext cx="1739"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b="1" kern="0">
                  <a:solidFill>
                    <a:srgbClr val="0000FF"/>
                  </a:solidFill>
                  <a:latin typeface="Times New Roman" panose="02020603050405020304" pitchFamily="18" charset="0"/>
                  <a:ea typeface="宋体" panose="02010600030101010101" pitchFamily="2" charset="-122"/>
                </a:endParaRPr>
              </a:p>
            </p:txBody>
          </p:sp>
          <p:sp>
            <p:nvSpPr>
              <p:cNvPr id="96" name="Line 49"/>
              <p:cNvSpPr>
                <a:spLocks noChangeShapeType="1"/>
              </p:cNvSpPr>
              <p:nvPr/>
            </p:nvSpPr>
            <p:spPr bwMode="auto">
              <a:xfrm>
                <a:off x="3101" y="1948"/>
                <a:ext cx="1739" cy="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97" name="Line 50"/>
              <p:cNvSpPr>
                <a:spLocks noChangeShapeType="1"/>
              </p:cNvSpPr>
              <p:nvPr/>
            </p:nvSpPr>
            <p:spPr bwMode="auto">
              <a:xfrm>
                <a:off x="4391" y="618"/>
                <a:ext cx="0" cy="134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98" name="Line 52"/>
              <p:cNvSpPr>
                <a:spLocks noChangeShapeType="1"/>
              </p:cNvSpPr>
              <p:nvPr/>
            </p:nvSpPr>
            <p:spPr bwMode="auto">
              <a:xfrm>
                <a:off x="3860" y="682"/>
                <a:ext cx="282"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grpSp>
        <p:graphicFrame>
          <p:nvGraphicFramePr>
            <p:cNvPr id="86" name="Object 2"/>
            <p:cNvGraphicFramePr>
              <a:graphicFrameLocks noChangeAspect="1"/>
            </p:cNvGraphicFramePr>
            <p:nvPr/>
          </p:nvGraphicFramePr>
          <p:xfrm>
            <a:off x="6639111" y="1477979"/>
            <a:ext cx="815696" cy="602796"/>
          </p:xfrm>
          <a:graphic>
            <a:graphicData uri="http://schemas.openxmlformats.org/presentationml/2006/ole">
              <mc:AlternateContent xmlns:mc="http://schemas.openxmlformats.org/markup-compatibility/2006">
                <mc:Choice xmlns:v="urn:schemas-microsoft-com:vml" Requires="v">
                  <p:oleObj spid="_x0000_s21516" name="Equation" r:id="rId8" imgW="508000" imgH="406400" progId="Equation.3">
                    <p:embed/>
                  </p:oleObj>
                </mc:Choice>
                <mc:Fallback>
                  <p:oleObj name="Equation" r:id="rId8" imgW="508000" imgH="406400" progId="Equation.3">
                    <p:embed/>
                    <p:pic>
                      <p:nvPicPr>
                        <p:cNvPr id="0" name="图片 215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9111" y="1477979"/>
                          <a:ext cx="815696" cy="602796"/>
                        </a:xfrm>
                        <a:prstGeom prst="rect">
                          <a:avLst/>
                        </a:prstGeom>
                        <a:noFill/>
                        <a:ln>
                          <a:noFill/>
                        </a:ln>
                      </p:spPr>
                    </p:pic>
                  </p:oleObj>
                </mc:Fallback>
              </mc:AlternateContent>
            </a:graphicData>
          </a:graphic>
        </p:graphicFrame>
        <p:graphicFrame>
          <p:nvGraphicFramePr>
            <p:cNvPr id="87" name="Object 3"/>
            <p:cNvGraphicFramePr>
              <a:graphicFrameLocks noChangeAspect="1"/>
            </p:cNvGraphicFramePr>
            <p:nvPr/>
          </p:nvGraphicFramePr>
          <p:xfrm>
            <a:off x="6691217" y="765409"/>
            <a:ext cx="780812" cy="577017"/>
          </p:xfrm>
          <a:graphic>
            <a:graphicData uri="http://schemas.openxmlformats.org/presentationml/2006/ole">
              <mc:AlternateContent xmlns:mc="http://schemas.openxmlformats.org/markup-compatibility/2006">
                <mc:Choice xmlns:v="urn:schemas-microsoft-com:vml" Requires="v">
                  <p:oleObj spid="_x0000_s21517" name="Equation" r:id="rId10" imgW="508000" imgH="406400" progId="Equation.3">
                    <p:embed/>
                  </p:oleObj>
                </mc:Choice>
                <mc:Fallback>
                  <p:oleObj name="Equation" r:id="rId10" imgW="508000" imgH="406400" progId="Equation.3">
                    <p:embed/>
                    <p:pic>
                      <p:nvPicPr>
                        <p:cNvPr id="0" name="图片 215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91217" y="765409"/>
                          <a:ext cx="780812" cy="577017"/>
                        </a:xfrm>
                        <a:prstGeom prst="rect">
                          <a:avLst/>
                        </a:prstGeom>
                        <a:noFill/>
                        <a:ln>
                          <a:noFill/>
                        </a:ln>
                      </p:spPr>
                    </p:pic>
                  </p:oleObj>
                </mc:Fallback>
              </mc:AlternateContent>
            </a:graphicData>
          </a:graphic>
        </p:graphicFrame>
        <p:graphicFrame>
          <p:nvGraphicFramePr>
            <p:cNvPr id="88" name="Object 5"/>
            <p:cNvGraphicFramePr>
              <a:graphicFrameLocks noChangeAspect="1"/>
            </p:cNvGraphicFramePr>
            <p:nvPr/>
          </p:nvGraphicFramePr>
          <p:xfrm>
            <a:off x="5731292" y="1466650"/>
            <a:ext cx="712774" cy="632189"/>
          </p:xfrm>
          <a:graphic>
            <a:graphicData uri="http://schemas.openxmlformats.org/presentationml/2006/ole">
              <mc:AlternateContent xmlns:mc="http://schemas.openxmlformats.org/markup-compatibility/2006">
                <mc:Choice xmlns:v="urn:schemas-microsoft-com:vml" Requires="v">
                  <p:oleObj spid="_x0000_s21518" name="Equation" r:id="rId12" imgW="508000" imgH="406400" progId="Equation.3">
                    <p:embed/>
                  </p:oleObj>
                </mc:Choice>
                <mc:Fallback>
                  <p:oleObj name="Equation" r:id="rId12" imgW="508000" imgH="406400" progId="Equation.3">
                    <p:embed/>
                    <p:pic>
                      <p:nvPicPr>
                        <p:cNvPr id="0" name="图片 215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31292" y="1466650"/>
                          <a:ext cx="712774" cy="632189"/>
                        </a:xfrm>
                        <a:prstGeom prst="rect">
                          <a:avLst/>
                        </a:prstGeom>
                        <a:noFill/>
                        <a:ln>
                          <a:noFill/>
                        </a:ln>
                      </p:spPr>
                    </p:pic>
                  </p:oleObj>
                </mc:Fallback>
              </mc:AlternateContent>
            </a:graphicData>
          </a:graphic>
        </p:graphicFrame>
        <p:graphicFrame>
          <p:nvGraphicFramePr>
            <p:cNvPr id="89" name="Object 6"/>
            <p:cNvGraphicFramePr>
              <a:graphicFrameLocks noChangeAspect="1"/>
            </p:cNvGraphicFramePr>
            <p:nvPr/>
          </p:nvGraphicFramePr>
          <p:xfrm>
            <a:off x="5720311" y="757747"/>
            <a:ext cx="729120" cy="646687"/>
          </p:xfrm>
          <a:graphic>
            <a:graphicData uri="http://schemas.openxmlformats.org/presentationml/2006/ole">
              <mc:AlternateContent xmlns:mc="http://schemas.openxmlformats.org/markup-compatibility/2006">
                <mc:Choice xmlns:v="urn:schemas-microsoft-com:vml" Requires="v">
                  <p:oleObj spid="_x0000_s21519" name="Equation" r:id="rId14" imgW="508000" imgH="406400" progId="Equation.3">
                    <p:embed/>
                  </p:oleObj>
                </mc:Choice>
                <mc:Fallback>
                  <p:oleObj name="Equation" r:id="rId14" imgW="508000" imgH="406400" progId="Equation.3">
                    <p:embed/>
                    <p:pic>
                      <p:nvPicPr>
                        <p:cNvPr id="0" name="图片 215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20311" y="757747"/>
                          <a:ext cx="729120" cy="646687"/>
                        </a:xfrm>
                        <a:prstGeom prst="rect">
                          <a:avLst/>
                        </a:prstGeom>
                        <a:noFill/>
                        <a:ln>
                          <a:noFill/>
                        </a:ln>
                      </p:spPr>
                    </p:pic>
                  </p:oleObj>
                </mc:Fallback>
              </mc:AlternateContent>
            </a:graphicData>
          </a:graphic>
        </p:graphicFrame>
      </p:grpSp>
      <p:cxnSp>
        <p:nvCxnSpPr>
          <p:cNvPr id="99" name="直接连接符 98"/>
          <p:cNvCxnSpPr/>
          <p:nvPr/>
        </p:nvCxnSpPr>
        <p:spPr>
          <a:xfrm>
            <a:off x="6606431" y="0"/>
            <a:ext cx="0" cy="24938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6584556" y="2507013"/>
            <a:ext cx="2528819" cy="34932"/>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4572000" y="2902972"/>
            <a:ext cx="4341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 calcmode="lin" valueType="num">
                                      <p:cBhvr>
                                        <p:cTn id="7" dur="500" fill="hold"/>
                                        <p:tgtEl>
                                          <p:spTgt spid="350"/>
                                        </p:tgtEl>
                                        <p:attrNameLst>
                                          <p:attrName>ppt_w</p:attrName>
                                        </p:attrNameLst>
                                      </p:cBhvr>
                                      <p:tavLst>
                                        <p:tav tm="0">
                                          <p:val>
                                            <p:fltVal val="0"/>
                                          </p:val>
                                        </p:tav>
                                        <p:tav tm="100000">
                                          <p:val>
                                            <p:strVal val="#ppt_w"/>
                                          </p:val>
                                        </p:tav>
                                      </p:tavLst>
                                    </p:anim>
                                    <p:anim calcmode="lin" valueType="num">
                                      <p:cBhvr>
                                        <p:cTn id="8" dur="500" fill="hold"/>
                                        <p:tgtEl>
                                          <p:spTgt spid="350"/>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350"/>
                                        </p:tgtEl>
                                        <p:attrNameLst>
                                          <p:attrName>style.visibility</p:attrName>
                                        </p:attrNameLst>
                                      </p:cBhvr>
                                      <p:to>
                                        <p:strVal val="hidden"/>
                                      </p:to>
                                    </p:set>
                                  </p:subTnLst>
                                </p:cTn>
                              </p:par>
                              <p:par>
                                <p:cTn id="9" presetID="22" presetClass="entr" presetSubtype="1" fill="hold" nodeType="withEffect">
                                  <p:stCondLst>
                                    <p:cond delay="0"/>
                                  </p:stCondLst>
                                  <p:childTnLst>
                                    <p:set>
                                      <p:cBhvr>
                                        <p:cTn id="10" dur="1" fill="hold">
                                          <p:stCondLst>
                                            <p:cond delay="0"/>
                                          </p:stCondLst>
                                        </p:cTn>
                                        <p:tgtEl>
                                          <p:spTgt spid="352"/>
                                        </p:tgtEl>
                                        <p:attrNameLst>
                                          <p:attrName>style.visibility</p:attrName>
                                        </p:attrNameLst>
                                      </p:cBhvr>
                                      <p:to>
                                        <p:strVal val="visible"/>
                                      </p:to>
                                    </p:set>
                                    <p:animEffect transition="in" filter="wipe(up)">
                                      <p:cBhvr>
                                        <p:cTn id="11" dur="500"/>
                                        <p:tgtEl>
                                          <p:spTgt spid="352"/>
                                        </p:tgtEl>
                                      </p:cBhvr>
                                    </p:animEffect>
                                  </p:childTnLst>
                                  <p:subTnLst>
                                    <p:set>
                                      <p:cBhvr override="childStyle">
                                        <p:cTn dur="1" fill="hold" display="0" masterRel="nextClick" afterEffect="1"/>
                                        <p:tgtEl>
                                          <p:spTgt spid="352"/>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351"/>
                                        </p:tgtEl>
                                        <p:attrNameLst>
                                          <p:attrName>style.visibility</p:attrName>
                                        </p:attrNameLst>
                                      </p:cBhvr>
                                      <p:to>
                                        <p:strVal val="visible"/>
                                      </p:to>
                                    </p:set>
                                    <p:anim calcmode="lin" valueType="num">
                                      <p:cBhvr>
                                        <p:cTn id="16" dur="500" fill="hold"/>
                                        <p:tgtEl>
                                          <p:spTgt spid="351"/>
                                        </p:tgtEl>
                                        <p:attrNameLst>
                                          <p:attrName>ppt_w</p:attrName>
                                        </p:attrNameLst>
                                      </p:cBhvr>
                                      <p:tavLst>
                                        <p:tav tm="0">
                                          <p:val>
                                            <p:fltVal val="0"/>
                                          </p:val>
                                        </p:tav>
                                        <p:tav tm="100000">
                                          <p:val>
                                            <p:strVal val="#ppt_w"/>
                                          </p:val>
                                        </p:tav>
                                      </p:tavLst>
                                    </p:anim>
                                    <p:anim calcmode="lin" valueType="num">
                                      <p:cBhvr>
                                        <p:cTn id="17" dur="500" fill="hold"/>
                                        <p:tgtEl>
                                          <p:spTgt spid="351"/>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363"/>
                                        </p:tgtEl>
                                        <p:attrNameLst>
                                          <p:attrName>style.visibility</p:attrName>
                                        </p:attrNameLst>
                                      </p:cBhvr>
                                      <p:to>
                                        <p:strVal val="visible"/>
                                      </p:to>
                                    </p:set>
                                    <p:anim calcmode="lin" valueType="num">
                                      <p:cBhvr>
                                        <p:cTn id="22" dur="500" fill="hold"/>
                                        <p:tgtEl>
                                          <p:spTgt spid="363"/>
                                        </p:tgtEl>
                                        <p:attrNameLst>
                                          <p:attrName>ppt_w</p:attrName>
                                        </p:attrNameLst>
                                      </p:cBhvr>
                                      <p:tavLst>
                                        <p:tav tm="0">
                                          <p:val>
                                            <p:fltVal val="0"/>
                                          </p:val>
                                        </p:tav>
                                        <p:tav tm="100000">
                                          <p:val>
                                            <p:strVal val="#ppt_w"/>
                                          </p:val>
                                        </p:tav>
                                      </p:tavLst>
                                    </p:anim>
                                    <p:anim calcmode="lin" valueType="num">
                                      <p:cBhvr>
                                        <p:cTn id="23" dur="500" fill="hold"/>
                                        <p:tgtEl>
                                          <p:spTgt spid="363"/>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358"/>
                                        </p:tgtEl>
                                        <p:attrNameLst>
                                          <p:attrName>style.visibility</p:attrName>
                                        </p:attrNameLst>
                                      </p:cBhvr>
                                      <p:to>
                                        <p:strVal val="visible"/>
                                      </p:to>
                                    </p:set>
                                    <p:anim calcmode="lin" valueType="num">
                                      <p:cBhvr>
                                        <p:cTn id="28" dur="500" fill="hold"/>
                                        <p:tgtEl>
                                          <p:spTgt spid="358"/>
                                        </p:tgtEl>
                                        <p:attrNameLst>
                                          <p:attrName>ppt_w</p:attrName>
                                        </p:attrNameLst>
                                      </p:cBhvr>
                                      <p:tavLst>
                                        <p:tav tm="0">
                                          <p:val>
                                            <p:fltVal val="0"/>
                                          </p:val>
                                        </p:tav>
                                        <p:tav tm="100000">
                                          <p:val>
                                            <p:strVal val="#ppt_w"/>
                                          </p:val>
                                        </p:tav>
                                      </p:tavLst>
                                    </p:anim>
                                    <p:anim calcmode="lin" valueType="num">
                                      <p:cBhvr>
                                        <p:cTn id="29" dur="500" fill="hold"/>
                                        <p:tgtEl>
                                          <p:spTgt spid="35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用</a:t>
            </a:r>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定时器构成多谐振荡器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221" name="Rectangle 87"/>
          <p:cNvSpPr>
            <a:spLocks noChangeArrowheads="1"/>
          </p:cNvSpPr>
          <p:nvPr/>
        </p:nvSpPr>
        <p:spPr bwMode="auto">
          <a:xfrm>
            <a:off x="247927" y="512666"/>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2.</a:t>
            </a:r>
            <a:r>
              <a:rPr lang="zh-CN" altLang="en-US" sz="2800" b="1" dirty="0">
                <a:solidFill>
                  <a:srgbClr val="C00000"/>
                </a:solidFill>
                <a:latin typeface="Times New Roman" panose="02020603050405020304" pitchFamily="18" charset="0"/>
                <a:ea typeface="楷体_GB2312" pitchFamily="49" charset="-122"/>
              </a:rPr>
              <a:t>  工作原理</a:t>
            </a:r>
            <a:endParaRPr lang="zh-CN" altLang="en-US" sz="2800" b="1" dirty="0">
              <a:solidFill>
                <a:srgbClr val="C00000"/>
              </a:solidFill>
              <a:latin typeface="Times New Roman" panose="02020603050405020304" pitchFamily="18" charset="0"/>
              <a:ea typeface="楷体_GB2312" pitchFamily="49" charset="-122"/>
            </a:endParaRPr>
          </a:p>
        </p:txBody>
      </p:sp>
      <p:grpSp>
        <p:nvGrpSpPr>
          <p:cNvPr id="143" name="Group 2"/>
          <p:cNvGrpSpPr/>
          <p:nvPr/>
        </p:nvGrpSpPr>
        <p:grpSpPr bwMode="auto">
          <a:xfrm>
            <a:off x="3627855" y="1851454"/>
            <a:ext cx="4839854" cy="3802064"/>
            <a:chOff x="2370" y="2772"/>
            <a:chExt cx="3346" cy="2395"/>
          </a:xfrm>
        </p:grpSpPr>
        <p:sp>
          <p:nvSpPr>
            <p:cNvPr id="144" name="Text Box 3"/>
            <p:cNvSpPr txBox="1">
              <a:spLocks noChangeArrowheads="1"/>
            </p:cNvSpPr>
            <p:nvPr/>
          </p:nvSpPr>
          <p:spPr bwMode="auto">
            <a:xfrm>
              <a:off x="2370" y="2772"/>
              <a:ext cx="3346" cy="2395"/>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14400" fontAlgn="base">
                <a:lnSpc>
                  <a:spcPct val="150000"/>
                </a:lnSpc>
                <a:spcBef>
                  <a:spcPct val="0"/>
                </a:spcBef>
                <a:spcAft>
                  <a:spcPct val="0"/>
                </a:spcAft>
                <a:defRPr/>
              </a:pPr>
              <a:r>
                <a:rPr kumimoji="1" lang="zh-CN" altLang="en-US" sz="2800" b="1" kern="0" dirty="0">
                  <a:solidFill>
                    <a:prstClr val="black"/>
                  </a:solidFill>
                  <a:latin typeface="Times New Roman" panose="02020603050405020304" pitchFamily="18" charset="0"/>
                  <a:ea typeface="楷体_GB2312" pitchFamily="49" charset="-122"/>
                </a:rPr>
                <a:t>当 </a:t>
              </a:r>
              <a:r>
                <a:rPr kumimoji="1" lang="en-US" altLang="zh-CN" sz="2800" b="1" i="1" kern="0" dirty="0" err="1">
                  <a:solidFill>
                    <a:prstClr val="black"/>
                  </a:solidFill>
                  <a:latin typeface="Times New Roman" panose="02020603050405020304" pitchFamily="18" charset="0"/>
                  <a:ea typeface="楷体_GB2312" pitchFamily="49" charset="-122"/>
                </a:rPr>
                <a:t>u</a:t>
              </a:r>
              <a:r>
                <a:rPr kumimoji="1" lang="en-US" altLang="zh-CN" sz="2800" b="1" i="1" kern="0" baseline="-25000" dirty="0" err="1">
                  <a:solidFill>
                    <a:prstClr val="black"/>
                  </a:solidFill>
                  <a:latin typeface="Times New Roman" panose="02020603050405020304" pitchFamily="18" charset="0"/>
                  <a:ea typeface="楷体_GB2312" pitchFamily="49" charset="-122"/>
                </a:rPr>
                <a:t>C</a:t>
              </a:r>
              <a:r>
                <a:rPr kumimoji="1" lang="en-US" altLang="zh-CN" sz="2800" b="1" i="1" kern="0" baseline="-25000" dirty="0">
                  <a:solidFill>
                    <a:prstClr val="black"/>
                  </a:solidFill>
                  <a:latin typeface="Times New Roman" panose="02020603050405020304" pitchFamily="18" charset="0"/>
                  <a:ea typeface="楷体_GB2312" pitchFamily="49" charset="-122"/>
                </a:rPr>
                <a:t> </a:t>
              </a:r>
              <a:r>
                <a:rPr kumimoji="1" lang="zh-CN" altLang="en-US" sz="2800" b="1" kern="0" dirty="0">
                  <a:solidFill>
                    <a:prstClr val="black"/>
                  </a:solidFill>
                  <a:latin typeface="Times New Roman" panose="02020603050405020304" pitchFamily="18" charset="0"/>
                  <a:ea typeface="楷体_GB2312" pitchFamily="49" charset="-122"/>
                </a:rPr>
                <a:t>下降到： </a:t>
              </a:r>
              <a:endParaRPr kumimoji="1" lang="en-US" altLang="zh-CN" sz="2800" b="1" kern="0" dirty="0">
                <a:solidFill>
                  <a:prstClr val="black"/>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i="1" kern="0" dirty="0">
                  <a:solidFill>
                    <a:srgbClr val="FF0000"/>
                  </a:solidFill>
                  <a:latin typeface="Times New Roman" panose="02020603050405020304" pitchFamily="18" charset="0"/>
                  <a:ea typeface="楷体_GB2312" pitchFamily="49" charset="-122"/>
                </a:rPr>
                <a:t>TH </a:t>
              </a:r>
              <a:r>
                <a:rPr kumimoji="1" lang="en-US" altLang="zh-CN" sz="2800" b="1" kern="0" dirty="0">
                  <a:solidFill>
                    <a:srgbClr val="FF0000"/>
                  </a:solidFill>
                  <a:latin typeface="Times New Roman" panose="02020603050405020304" pitchFamily="18" charset="0"/>
                  <a:ea typeface="楷体_GB2312" pitchFamily="49" charset="-122"/>
                </a:rPr>
                <a:t>= </a:t>
              </a:r>
              <a:r>
                <a:rPr kumimoji="1" lang="en-US" altLang="zh-CN" sz="2800" b="1" i="1" kern="0" dirty="0">
                  <a:solidFill>
                    <a:srgbClr val="FF0000"/>
                  </a:solidFill>
                  <a:latin typeface="Times New Roman" panose="02020603050405020304" pitchFamily="18" charset="0"/>
                  <a:ea typeface="楷体_GB2312" pitchFamily="49" charset="-122"/>
                </a:rPr>
                <a:t>TR </a:t>
              </a:r>
              <a:r>
                <a:rPr kumimoji="1" lang="en-US" altLang="zh-CN" sz="2800" b="1" kern="0" dirty="0">
                  <a:solidFill>
                    <a:srgbClr val="FF0000"/>
                  </a:solidFill>
                  <a:latin typeface="Times New Roman" panose="02020603050405020304" pitchFamily="18" charset="0"/>
                  <a:ea typeface="楷体_GB2312" pitchFamily="49" charset="-122"/>
                </a:rPr>
                <a:t>= </a:t>
              </a:r>
              <a:r>
                <a:rPr kumimoji="1" lang="en-US" altLang="zh-CN" sz="2800" b="1" i="1" kern="0" dirty="0" err="1">
                  <a:solidFill>
                    <a:srgbClr val="FF0000"/>
                  </a:solidFill>
                  <a:latin typeface="Times New Roman" panose="02020603050405020304" pitchFamily="18" charset="0"/>
                  <a:ea typeface="楷体_GB2312" pitchFamily="49" charset="-122"/>
                </a:rPr>
                <a:t>u</a:t>
              </a:r>
              <a:r>
                <a:rPr kumimoji="1" lang="en-US" altLang="zh-CN" sz="2800" b="1" i="1" kern="0" baseline="-25000" dirty="0" err="1">
                  <a:solidFill>
                    <a:srgbClr val="FF0000"/>
                  </a:solidFill>
                  <a:latin typeface="Times New Roman" panose="02020603050405020304" pitchFamily="18" charset="0"/>
                  <a:ea typeface="楷体_GB2312" pitchFamily="49" charset="-122"/>
                </a:rPr>
                <a:t>C</a:t>
              </a:r>
              <a:r>
                <a:rPr kumimoji="1" lang="en-US" altLang="zh-CN" sz="2800" b="1" kern="0" baseline="-25000" dirty="0">
                  <a:solidFill>
                    <a:srgbClr val="FF0000"/>
                  </a:solidFill>
                  <a:latin typeface="Times New Roman" panose="02020603050405020304" pitchFamily="18" charset="0"/>
                  <a:ea typeface="楷体_GB2312" pitchFamily="49" charset="-122"/>
                </a:rPr>
                <a:t> </a:t>
              </a:r>
              <a:r>
                <a:rPr kumimoji="1" lang="en-US" altLang="zh-CN" sz="2800" b="1" kern="0" dirty="0">
                  <a:solidFill>
                    <a:srgbClr val="FF0000"/>
                  </a:solidFill>
                  <a:latin typeface="Times New Roman" panose="02020603050405020304" pitchFamily="18" charset="0"/>
                  <a:ea typeface="楷体_GB2312" pitchFamily="49" charset="-122"/>
                </a:rPr>
                <a:t>≤1/3 </a:t>
              </a:r>
              <a:r>
                <a:rPr kumimoji="1" lang="en-US" altLang="zh-CN" sz="2800" b="1" i="1" kern="0" dirty="0">
                  <a:solidFill>
                    <a:srgbClr val="FF0000"/>
                  </a:solidFill>
                  <a:latin typeface="Times New Roman" panose="02020603050405020304" pitchFamily="18" charset="0"/>
                  <a:ea typeface="楷体_GB2312" pitchFamily="49" charset="-122"/>
                </a:rPr>
                <a:t>V</a:t>
              </a:r>
              <a:r>
                <a:rPr kumimoji="1" lang="en-US" altLang="zh-CN" sz="2800" b="1" kern="0" baseline="-25000" dirty="0">
                  <a:solidFill>
                    <a:srgbClr val="FF0000"/>
                  </a:solidFill>
                  <a:latin typeface="Times New Roman" panose="02020603050405020304" pitchFamily="18" charset="0"/>
                  <a:ea typeface="楷体_GB2312" pitchFamily="49" charset="-122"/>
                </a:rPr>
                <a:t>CC </a:t>
              </a:r>
              <a:r>
                <a:rPr kumimoji="1" lang="zh-CN" altLang="en-US" sz="2800" b="1" kern="0" dirty="0">
                  <a:solidFill>
                    <a:prstClr val="black"/>
                  </a:solidFill>
                  <a:latin typeface="Times New Roman" panose="02020603050405020304" pitchFamily="18" charset="0"/>
                  <a:ea typeface="楷体_GB2312" pitchFamily="49" charset="-122"/>
                </a:rPr>
                <a:t>时，</a:t>
              </a:r>
              <a:r>
                <a:rPr kumimoji="1" lang="zh-CN" altLang="en-US" sz="2800" b="1" kern="0" dirty="0">
                  <a:solidFill>
                    <a:srgbClr val="0033CC"/>
                  </a:solidFill>
                  <a:latin typeface="Times New Roman" panose="02020603050405020304" pitchFamily="18" charset="0"/>
                  <a:ea typeface="楷体_GB2312" pitchFamily="49" charset="-122"/>
                </a:rPr>
                <a:t> </a:t>
              </a:r>
              <a:endParaRPr kumimoji="1" lang="en-US" altLang="zh-CN" sz="2800" b="1" kern="0" dirty="0">
                <a:solidFill>
                  <a:srgbClr val="0033CC"/>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i="1" kern="0" dirty="0" err="1">
                  <a:solidFill>
                    <a:srgbClr val="0000FF"/>
                  </a:solidFill>
                  <a:latin typeface="Times New Roman" panose="02020603050405020304" pitchFamily="18" charset="0"/>
                  <a:ea typeface="楷体_GB2312" pitchFamily="49" charset="-122"/>
                </a:rPr>
                <a:t>u</a:t>
              </a:r>
              <a:r>
                <a:rPr kumimoji="1" lang="en-US" altLang="zh-CN" sz="2800" b="1" kern="0" baseline="-25000" dirty="0" err="1">
                  <a:solidFill>
                    <a:srgbClr val="0000FF"/>
                  </a:solidFill>
                  <a:latin typeface="Times New Roman" panose="02020603050405020304" pitchFamily="18" charset="0"/>
                  <a:ea typeface="楷体_GB2312" pitchFamily="49" charset="-122"/>
                </a:rPr>
                <a:t>O</a:t>
              </a:r>
              <a:r>
                <a:rPr kumimoji="1" lang="en-US" altLang="zh-CN" sz="2800" b="1" kern="0" baseline="-25000" dirty="0">
                  <a:solidFill>
                    <a:srgbClr val="0033CC"/>
                  </a:solidFill>
                  <a:latin typeface="Times New Roman" panose="02020603050405020304" pitchFamily="18" charset="0"/>
                  <a:ea typeface="楷体_GB2312" pitchFamily="49" charset="-122"/>
                </a:rPr>
                <a:t> </a:t>
              </a:r>
              <a:r>
                <a:rPr kumimoji="1" lang="zh-CN" altLang="en-US" sz="2800" b="1" kern="0" dirty="0">
                  <a:solidFill>
                    <a:prstClr val="black"/>
                  </a:solidFill>
                  <a:latin typeface="Times New Roman" panose="02020603050405020304" pitchFamily="18" charset="0"/>
                  <a:ea typeface="楷体_GB2312" pitchFamily="49" charset="-122"/>
                </a:rPr>
                <a:t>重新跃变为</a:t>
              </a:r>
              <a:r>
                <a:rPr kumimoji="1" lang="zh-CN" altLang="en-US" sz="2800" b="1" kern="0" dirty="0">
                  <a:solidFill>
                    <a:srgbClr val="0033CC"/>
                  </a:solidFill>
                  <a:latin typeface="Times New Roman" panose="02020603050405020304" pitchFamily="18" charset="0"/>
                  <a:ea typeface="楷体_GB2312" pitchFamily="49" charset="-122"/>
                </a:rPr>
                <a:t>高电平</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zh-CN" altLang="en-US" sz="2800" b="1" kern="0" dirty="0">
                  <a:solidFill>
                    <a:srgbClr val="000000"/>
                  </a:solidFill>
                  <a:latin typeface="Times New Roman" panose="02020603050405020304" pitchFamily="18" charset="0"/>
                  <a:ea typeface="楷体_GB2312" pitchFamily="49" charset="-122"/>
                </a:rPr>
                <a:t>同时放电管 </a:t>
              </a:r>
              <a:r>
                <a:rPr kumimoji="1" lang="en-US" altLang="zh-CN" sz="2800" b="1" kern="0" dirty="0">
                  <a:solidFill>
                    <a:srgbClr val="000000"/>
                  </a:solidFill>
                  <a:latin typeface="Times New Roman" panose="02020603050405020304" pitchFamily="18" charset="0"/>
                  <a:ea typeface="楷体_GB2312" pitchFamily="49" charset="-122"/>
                </a:rPr>
                <a:t>T</a:t>
              </a:r>
              <a:r>
                <a:rPr kumimoji="1" lang="zh-CN" altLang="en-US" sz="2800" b="1" kern="0" dirty="0">
                  <a:solidFill>
                    <a:srgbClr val="000000"/>
                  </a:solidFill>
                  <a:latin typeface="Times New Roman" panose="02020603050405020304" pitchFamily="18" charset="0"/>
                  <a:ea typeface="楷体_GB2312" pitchFamily="49" charset="-122"/>
                </a:rPr>
                <a:t>截止，</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en-US" altLang="zh-CN" sz="2800" b="1" i="1" kern="0" dirty="0">
                  <a:solidFill>
                    <a:srgbClr val="000000"/>
                  </a:solidFill>
                  <a:latin typeface="Times New Roman" panose="02020603050405020304" pitchFamily="18" charset="0"/>
                  <a:ea typeface="楷体_GB2312" pitchFamily="49" charset="-122"/>
                </a:rPr>
                <a:t>C </a:t>
              </a:r>
              <a:r>
                <a:rPr kumimoji="1" lang="zh-CN" altLang="en-US" sz="2800" b="1" kern="0" dirty="0">
                  <a:solidFill>
                    <a:srgbClr val="000000"/>
                  </a:solidFill>
                  <a:latin typeface="Times New Roman" panose="02020603050405020304" pitchFamily="18" charset="0"/>
                  <a:ea typeface="楷体_GB2312" pitchFamily="49" charset="-122"/>
                </a:rPr>
                <a:t>又被</a:t>
              </a:r>
              <a:r>
                <a:rPr kumimoji="1" lang="zh-CN" altLang="en-US" sz="2800" b="1" kern="0" dirty="0">
                  <a:solidFill>
                    <a:srgbClr val="0033CC"/>
                  </a:solidFill>
                  <a:latin typeface="Times New Roman" panose="02020603050405020304" pitchFamily="18" charset="0"/>
                  <a:ea typeface="楷体_GB2312" pitchFamily="49" charset="-122"/>
                </a:rPr>
                <a:t>充电，</a:t>
              </a:r>
              <a:r>
                <a:rPr kumimoji="1" lang="en-US" altLang="zh-CN" sz="2800" b="1" i="1" kern="0" dirty="0" err="1">
                  <a:solidFill>
                    <a:srgbClr val="0033CC"/>
                  </a:solidFill>
                  <a:latin typeface="Times New Roman" panose="02020603050405020304" pitchFamily="18" charset="0"/>
                  <a:ea typeface="楷体_GB2312" pitchFamily="49" charset="-122"/>
                </a:rPr>
                <a:t>u</a:t>
              </a:r>
              <a:r>
                <a:rPr kumimoji="1" lang="en-US" altLang="zh-CN" sz="2800" b="1" i="1" kern="0" baseline="-25000" dirty="0" err="1">
                  <a:solidFill>
                    <a:srgbClr val="0033CC"/>
                  </a:solidFill>
                  <a:latin typeface="Times New Roman" panose="02020603050405020304" pitchFamily="18" charset="0"/>
                  <a:ea typeface="楷体_GB2312" pitchFamily="49" charset="-122"/>
                </a:rPr>
                <a:t>C</a:t>
              </a:r>
              <a:r>
                <a:rPr kumimoji="1" lang="en-US" altLang="zh-CN" sz="2800" b="1" kern="0" baseline="-25000" dirty="0">
                  <a:solidFill>
                    <a:srgbClr val="0033CC"/>
                  </a:solidFill>
                  <a:latin typeface="Times New Roman" panose="02020603050405020304" pitchFamily="18" charset="0"/>
                  <a:ea typeface="楷体_GB2312" pitchFamily="49" charset="-122"/>
                </a:rPr>
                <a:t> </a:t>
              </a:r>
              <a:r>
                <a:rPr kumimoji="1" lang="zh-CN" altLang="en-US" sz="2800" b="1" kern="0" dirty="0">
                  <a:solidFill>
                    <a:srgbClr val="0033CC"/>
                  </a:solidFill>
                  <a:latin typeface="Times New Roman" panose="02020603050405020304" pitchFamily="18" charset="0"/>
                  <a:ea typeface="楷体_GB2312" pitchFamily="49" charset="-122"/>
                </a:rPr>
                <a:t>上升</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en-US" altLang="zh-CN" sz="2800" b="1" kern="0" dirty="0">
                <a:solidFill>
                  <a:srgbClr val="000000"/>
                </a:solidFill>
                <a:latin typeface="Times New Roman" panose="02020603050405020304" pitchFamily="18" charset="0"/>
                <a:ea typeface="楷体_GB2312" pitchFamily="49" charset="-122"/>
              </a:endParaRPr>
            </a:p>
            <a:p>
              <a:pPr defTabSz="914400" fontAlgn="base">
                <a:lnSpc>
                  <a:spcPct val="150000"/>
                </a:lnSpc>
                <a:spcBef>
                  <a:spcPct val="0"/>
                </a:spcBef>
                <a:spcAft>
                  <a:spcPct val="0"/>
                </a:spcAft>
                <a:defRPr/>
              </a:pPr>
              <a:r>
                <a:rPr kumimoji="1" lang="zh-CN" altLang="en-US" sz="2800" b="1" kern="0" dirty="0">
                  <a:solidFill>
                    <a:srgbClr val="000000"/>
                  </a:solidFill>
                  <a:latin typeface="Times New Roman" panose="02020603050405020304" pitchFamily="18" charset="0"/>
                  <a:ea typeface="楷体_GB2312" pitchFamily="49" charset="-122"/>
                </a:rPr>
                <a:t>电路又</a:t>
              </a:r>
              <a:r>
                <a:rPr kumimoji="1" lang="zh-CN" altLang="en-US" sz="2800" b="1" kern="0" dirty="0">
                  <a:solidFill>
                    <a:srgbClr val="0033CC"/>
                  </a:solidFill>
                  <a:latin typeface="Times New Roman" panose="02020603050405020304" pitchFamily="18" charset="0"/>
                  <a:ea typeface="楷体_GB2312" pitchFamily="49" charset="-122"/>
                </a:rPr>
                <a:t>返回到暂稳态</a:t>
              </a:r>
              <a:r>
                <a:rPr kumimoji="1" lang="en-US" altLang="zh-CN" sz="2800" b="1" kern="0" dirty="0">
                  <a:solidFill>
                    <a:srgbClr val="0033CC"/>
                  </a:solidFill>
                  <a:latin typeface="Times New Roman" panose="02020603050405020304" pitchFamily="18" charset="0"/>
                  <a:ea typeface="楷体_GB2312" pitchFamily="49" charset="-122"/>
                </a:rPr>
                <a:t>Ⅰ</a:t>
              </a:r>
              <a:r>
                <a:rPr kumimoji="1" lang="zh-CN" altLang="en-US" sz="2800" b="1" kern="0" dirty="0">
                  <a:solidFill>
                    <a:srgbClr val="000000"/>
                  </a:solidFill>
                  <a:latin typeface="Times New Roman" panose="02020603050405020304" pitchFamily="18" charset="0"/>
                  <a:ea typeface="楷体_GB2312" pitchFamily="49" charset="-122"/>
                </a:rPr>
                <a:t>。</a:t>
              </a:r>
              <a:endParaRPr kumimoji="1" lang="zh-CN" altLang="en-US" sz="2800" b="1" kern="0" dirty="0">
                <a:solidFill>
                  <a:srgbClr val="000000"/>
                </a:solidFill>
                <a:latin typeface="Times New Roman" panose="02020603050405020304" pitchFamily="18" charset="0"/>
                <a:ea typeface="楷体_GB2312" pitchFamily="49" charset="-122"/>
              </a:endParaRPr>
            </a:p>
          </p:txBody>
        </p:sp>
        <p:sp>
          <p:nvSpPr>
            <p:cNvPr id="145" name="Line 4"/>
            <p:cNvSpPr>
              <a:spLocks noChangeShapeType="1"/>
            </p:cNvSpPr>
            <p:nvPr/>
          </p:nvSpPr>
          <p:spPr bwMode="auto">
            <a:xfrm>
              <a:off x="2967" y="3298"/>
              <a:ext cx="228" cy="0"/>
            </a:xfrm>
            <a:prstGeom prst="line">
              <a:avLst/>
            </a:prstGeom>
            <a:noFill/>
            <a:ln w="25400">
              <a:no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lnSpc>
                  <a:spcPct val="150000"/>
                </a:lnSpc>
                <a:spcBef>
                  <a:spcPct val="0"/>
                </a:spcBef>
                <a:spcAft>
                  <a:spcPct val="0"/>
                </a:spcAft>
                <a:defRPr/>
              </a:pPr>
              <a:endParaRPr lang="zh-CN" altLang="en-US" sz="2000" b="1" kern="0">
                <a:solidFill>
                  <a:srgbClr val="000000"/>
                </a:solidFill>
                <a:latin typeface="Times New Roman" panose="02020603050405020304" pitchFamily="18" charset="0"/>
                <a:ea typeface="楷体_GB2312" pitchFamily="49" charset="-122"/>
              </a:endParaRPr>
            </a:p>
          </p:txBody>
        </p:sp>
      </p:grpSp>
      <p:grpSp>
        <p:nvGrpSpPr>
          <p:cNvPr id="146" name="Group 5"/>
          <p:cNvGrpSpPr/>
          <p:nvPr/>
        </p:nvGrpSpPr>
        <p:grpSpPr bwMode="auto">
          <a:xfrm>
            <a:off x="202030" y="1097393"/>
            <a:ext cx="3409950" cy="5584825"/>
            <a:chOff x="198" y="681"/>
            <a:chExt cx="2148" cy="3518"/>
          </a:xfrm>
        </p:grpSpPr>
        <p:sp>
          <p:nvSpPr>
            <p:cNvPr id="147" name="Text Box 6"/>
            <p:cNvSpPr txBox="1">
              <a:spLocks noChangeArrowheads="1"/>
            </p:cNvSpPr>
            <p:nvPr/>
          </p:nvSpPr>
          <p:spPr bwMode="auto">
            <a:xfrm>
              <a:off x="382" y="1897"/>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i="1" kern="0" baseline="-25000">
                  <a:solidFill>
                    <a:srgbClr val="000000"/>
                  </a:solidFill>
                  <a:latin typeface="Times New Roman" panose="02020603050405020304" pitchFamily="18" charset="0"/>
                  <a:ea typeface="楷体_GB2312" pitchFamily="49" charset="-122"/>
                </a:rPr>
                <a:t>C</a:t>
              </a:r>
              <a:endParaRPr kumimoji="1" lang="en-US" altLang="zh-CN" sz="2000" b="1" i="1" kern="0" baseline="-25000">
                <a:solidFill>
                  <a:srgbClr val="000000"/>
                </a:solidFill>
                <a:latin typeface="Times New Roman" panose="02020603050405020304" pitchFamily="18" charset="0"/>
                <a:ea typeface="楷体_GB2312" pitchFamily="49" charset="-122"/>
              </a:endParaRPr>
            </a:p>
          </p:txBody>
        </p:sp>
        <p:sp>
          <p:nvSpPr>
            <p:cNvPr id="148" name="Text Box 7"/>
            <p:cNvSpPr txBox="1">
              <a:spLocks noChangeArrowheads="1"/>
            </p:cNvSpPr>
            <p:nvPr/>
          </p:nvSpPr>
          <p:spPr bwMode="auto">
            <a:xfrm>
              <a:off x="416" y="2819"/>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O</a:t>
              </a:r>
              <a:endParaRPr kumimoji="1" lang="en-US" altLang="zh-CN" sz="2000" b="1" i="1" kern="0">
                <a:solidFill>
                  <a:srgbClr val="000000"/>
                </a:solidFill>
                <a:latin typeface="Times New Roman" panose="02020603050405020304" pitchFamily="18" charset="0"/>
                <a:ea typeface="楷体_GB2312" pitchFamily="49" charset="-122"/>
              </a:endParaRPr>
            </a:p>
          </p:txBody>
        </p:sp>
        <p:sp>
          <p:nvSpPr>
            <p:cNvPr id="149" name="Freeform 8"/>
            <p:cNvSpPr/>
            <p:nvPr/>
          </p:nvSpPr>
          <p:spPr bwMode="auto">
            <a:xfrm flipH="1">
              <a:off x="669" y="2068"/>
              <a:ext cx="49" cy="865"/>
            </a:xfrm>
            <a:custGeom>
              <a:avLst/>
              <a:gdLst>
                <a:gd name="T0" fmla="*/ 0 w 1"/>
                <a:gd name="T1" fmla="*/ 1146 h 1146"/>
                <a:gd name="T2" fmla="*/ 0 w 1"/>
                <a:gd name="T3" fmla="*/ 0 h 1146"/>
              </a:gdLst>
              <a:ahLst/>
              <a:cxnLst>
                <a:cxn ang="0">
                  <a:pos x="T0" y="T1"/>
                </a:cxn>
                <a:cxn ang="0">
                  <a:pos x="T2" y="T3"/>
                </a:cxn>
              </a:cxnLst>
              <a:rect l="0" t="0" r="r" b="b"/>
              <a:pathLst>
                <a:path w="1" h="1146">
                  <a:moveTo>
                    <a:pt x="0" y="1146"/>
                  </a:moveTo>
                  <a:lnTo>
                    <a:pt x="0" y="0"/>
                  </a:lnTo>
                </a:path>
              </a:pathLst>
            </a:custGeom>
            <a:noFill/>
            <a:ln w="22225" cap="flat" cmpd="sng">
              <a:solidFill>
                <a:srgbClr val="000000"/>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50" name="Line 9"/>
            <p:cNvSpPr>
              <a:spLocks noChangeShapeType="1"/>
            </p:cNvSpPr>
            <p:nvPr/>
          </p:nvSpPr>
          <p:spPr bwMode="auto">
            <a:xfrm>
              <a:off x="710" y="2932"/>
              <a:ext cx="1398" cy="0"/>
            </a:xfrm>
            <a:prstGeom prst="line">
              <a:avLst/>
            </a:prstGeom>
            <a:noFill/>
            <a:ln w="22225">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51" name="Text Box 10"/>
            <p:cNvSpPr txBox="1">
              <a:spLocks noChangeArrowheads="1"/>
            </p:cNvSpPr>
            <p:nvPr/>
          </p:nvSpPr>
          <p:spPr bwMode="auto">
            <a:xfrm>
              <a:off x="1894" y="289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52" name="Text Box 11"/>
            <p:cNvSpPr txBox="1">
              <a:spLocks noChangeArrowheads="1"/>
            </p:cNvSpPr>
            <p:nvPr/>
          </p:nvSpPr>
          <p:spPr bwMode="auto">
            <a:xfrm>
              <a:off x="416" y="3876"/>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O</a:t>
              </a:r>
              <a:endParaRPr kumimoji="1" lang="en-US" altLang="zh-CN" sz="2000" b="1" i="1" kern="0">
                <a:solidFill>
                  <a:srgbClr val="000000"/>
                </a:solidFill>
                <a:latin typeface="Times New Roman" panose="02020603050405020304" pitchFamily="18" charset="0"/>
                <a:ea typeface="楷体_GB2312" pitchFamily="49" charset="-122"/>
              </a:endParaRPr>
            </a:p>
          </p:txBody>
        </p:sp>
        <p:sp>
          <p:nvSpPr>
            <p:cNvPr id="153" name="Text Box 12"/>
            <p:cNvSpPr txBox="1">
              <a:spLocks noChangeArrowheads="1"/>
            </p:cNvSpPr>
            <p:nvPr/>
          </p:nvSpPr>
          <p:spPr bwMode="auto">
            <a:xfrm>
              <a:off x="358" y="299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54" name="Freeform 13"/>
            <p:cNvSpPr/>
            <p:nvPr/>
          </p:nvSpPr>
          <p:spPr bwMode="auto">
            <a:xfrm flipH="1">
              <a:off x="668" y="3125"/>
              <a:ext cx="50" cy="852"/>
            </a:xfrm>
            <a:custGeom>
              <a:avLst/>
              <a:gdLst>
                <a:gd name="T0" fmla="*/ 0 w 1"/>
                <a:gd name="T1" fmla="*/ 1146 h 1146"/>
                <a:gd name="T2" fmla="*/ 0 w 1"/>
                <a:gd name="T3" fmla="*/ 0 h 1146"/>
              </a:gdLst>
              <a:ahLst/>
              <a:cxnLst>
                <a:cxn ang="0">
                  <a:pos x="T0" y="T1"/>
                </a:cxn>
                <a:cxn ang="0">
                  <a:pos x="T2" y="T3"/>
                </a:cxn>
              </a:cxnLst>
              <a:rect l="0" t="0" r="r" b="b"/>
              <a:pathLst>
                <a:path w="1" h="1146">
                  <a:moveTo>
                    <a:pt x="0" y="1146"/>
                  </a:moveTo>
                  <a:lnTo>
                    <a:pt x="0" y="0"/>
                  </a:lnTo>
                </a:path>
              </a:pathLst>
            </a:custGeom>
            <a:noFill/>
            <a:ln w="22225" cap="flat" cmpd="sng">
              <a:solidFill>
                <a:srgbClr val="000000"/>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55" name="Line 14"/>
            <p:cNvSpPr>
              <a:spLocks noChangeShapeType="1"/>
            </p:cNvSpPr>
            <p:nvPr/>
          </p:nvSpPr>
          <p:spPr bwMode="auto">
            <a:xfrm>
              <a:off x="710" y="3986"/>
              <a:ext cx="1391" cy="0"/>
            </a:xfrm>
            <a:prstGeom prst="line">
              <a:avLst/>
            </a:prstGeom>
            <a:noFill/>
            <a:ln w="22225">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56" name="Text Box 15"/>
            <p:cNvSpPr txBox="1">
              <a:spLocks noChangeArrowheads="1"/>
            </p:cNvSpPr>
            <p:nvPr/>
          </p:nvSpPr>
          <p:spPr bwMode="auto">
            <a:xfrm>
              <a:off x="1914" y="392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57" name="Line 16"/>
            <p:cNvSpPr>
              <a:spLocks noChangeShapeType="1"/>
            </p:cNvSpPr>
            <p:nvPr/>
          </p:nvSpPr>
          <p:spPr bwMode="auto">
            <a:xfrm>
              <a:off x="710" y="2353"/>
              <a:ext cx="1307"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58" name="Line 17"/>
            <p:cNvSpPr>
              <a:spLocks noChangeShapeType="1"/>
            </p:cNvSpPr>
            <p:nvPr/>
          </p:nvSpPr>
          <p:spPr bwMode="auto">
            <a:xfrm>
              <a:off x="716" y="2649"/>
              <a:ext cx="1297"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59" name="Text Box 18"/>
            <p:cNvSpPr txBox="1">
              <a:spLocks noChangeArrowheads="1"/>
            </p:cNvSpPr>
            <p:nvPr/>
          </p:nvSpPr>
          <p:spPr bwMode="auto">
            <a:xfrm>
              <a:off x="208" y="364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OL</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60" name="Text Box 19"/>
            <p:cNvSpPr txBox="1">
              <a:spLocks noChangeArrowheads="1"/>
            </p:cNvSpPr>
            <p:nvPr/>
          </p:nvSpPr>
          <p:spPr bwMode="auto">
            <a:xfrm>
              <a:off x="198" y="3246"/>
              <a:ext cx="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OH</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61" name="Line 20"/>
            <p:cNvSpPr>
              <a:spLocks noChangeShapeType="1"/>
            </p:cNvSpPr>
            <p:nvPr/>
          </p:nvSpPr>
          <p:spPr bwMode="auto">
            <a:xfrm>
              <a:off x="1237" y="3374"/>
              <a:ext cx="285"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62" name="Line 21"/>
            <p:cNvSpPr>
              <a:spLocks noChangeShapeType="1"/>
            </p:cNvSpPr>
            <p:nvPr/>
          </p:nvSpPr>
          <p:spPr bwMode="auto">
            <a:xfrm>
              <a:off x="1248" y="3368"/>
              <a:ext cx="0" cy="50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63" name="Line 22"/>
            <p:cNvSpPr>
              <a:spLocks noChangeShapeType="1"/>
            </p:cNvSpPr>
            <p:nvPr/>
          </p:nvSpPr>
          <p:spPr bwMode="auto">
            <a:xfrm>
              <a:off x="716" y="3878"/>
              <a:ext cx="342"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64" name="Line 23"/>
            <p:cNvSpPr>
              <a:spLocks noChangeShapeType="1"/>
            </p:cNvSpPr>
            <p:nvPr/>
          </p:nvSpPr>
          <p:spPr bwMode="auto">
            <a:xfrm>
              <a:off x="1064" y="3370"/>
              <a:ext cx="0" cy="51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65" name="Line 24"/>
            <p:cNvSpPr>
              <a:spLocks noChangeShapeType="1"/>
            </p:cNvSpPr>
            <p:nvPr/>
          </p:nvSpPr>
          <p:spPr bwMode="auto">
            <a:xfrm>
              <a:off x="716" y="3380"/>
              <a:ext cx="34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66" name="Line 25"/>
            <p:cNvSpPr>
              <a:spLocks noChangeShapeType="1"/>
            </p:cNvSpPr>
            <p:nvPr/>
          </p:nvSpPr>
          <p:spPr bwMode="auto">
            <a:xfrm>
              <a:off x="1053" y="3878"/>
              <a:ext cx="207"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67" name="Line 26"/>
            <p:cNvSpPr>
              <a:spLocks noChangeShapeType="1"/>
            </p:cNvSpPr>
            <p:nvPr/>
          </p:nvSpPr>
          <p:spPr bwMode="auto">
            <a:xfrm>
              <a:off x="1509" y="3368"/>
              <a:ext cx="0" cy="51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68" name="Line 27"/>
            <p:cNvSpPr>
              <a:spLocks noChangeShapeType="1"/>
            </p:cNvSpPr>
            <p:nvPr/>
          </p:nvSpPr>
          <p:spPr bwMode="auto">
            <a:xfrm>
              <a:off x="1690" y="3380"/>
              <a:ext cx="273"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69" name="Line 28"/>
            <p:cNvSpPr>
              <a:spLocks noChangeShapeType="1"/>
            </p:cNvSpPr>
            <p:nvPr/>
          </p:nvSpPr>
          <p:spPr bwMode="auto">
            <a:xfrm>
              <a:off x="1704" y="3374"/>
              <a:ext cx="0" cy="50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70" name="Line 29"/>
            <p:cNvSpPr>
              <a:spLocks noChangeShapeType="1"/>
            </p:cNvSpPr>
            <p:nvPr/>
          </p:nvSpPr>
          <p:spPr bwMode="auto">
            <a:xfrm>
              <a:off x="1501" y="3884"/>
              <a:ext cx="20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71" name="Line 30"/>
            <p:cNvSpPr>
              <a:spLocks noChangeShapeType="1"/>
            </p:cNvSpPr>
            <p:nvPr/>
          </p:nvSpPr>
          <p:spPr bwMode="auto">
            <a:xfrm>
              <a:off x="1947" y="3374"/>
              <a:ext cx="0" cy="51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72" name="Line 31"/>
            <p:cNvSpPr>
              <a:spLocks noChangeShapeType="1"/>
            </p:cNvSpPr>
            <p:nvPr/>
          </p:nvSpPr>
          <p:spPr bwMode="auto">
            <a:xfrm>
              <a:off x="1939" y="3884"/>
              <a:ext cx="8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73" name="Line 32"/>
            <p:cNvSpPr>
              <a:spLocks noChangeShapeType="1"/>
            </p:cNvSpPr>
            <p:nvPr/>
          </p:nvSpPr>
          <p:spPr bwMode="auto">
            <a:xfrm>
              <a:off x="1065" y="2348"/>
              <a:ext cx="0" cy="1145"/>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74" name="Line 33"/>
            <p:cNvSpPr>
              <a:spLocks noChangeShapeType="1"/>
            </p:cNvSpPr>
            <p:nvPr/>
          </p:nvSpPr>
          <p:spPr bwMode="auto">
            <a:xfrm>
              <a:off x="1247" y="2638"/>
              <a:ext cx="0" cy="879"/>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75" name="Line 34"/>
            <p:cNvSpPr>
              <a:spLocks noChangeShapeType="1"/>
            </p:cNvSpPr>
            <p:nvPr/>
          </p:nvSpPr>
          <p:spPr bwMode="auto">
            <a:xfrm>
              <a:off x="1511" y="2348"/>
              <a:ext cx="0" cy="116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76" name="Text Box 35"/>
            <p:cNvSpPr txBox="1">
              <a:spLocks noChangeArrowheads="1"/>
            </p:cNvSpPr>
            <p:nvPr/>
          </p:nvSpPr>
          <p:spPr bwMode="auto">
            <a:xfrm>
              <a:off x="1017" y="3497"/>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kern="0">
                  <a:solidFill>
                    <a:srgbClr val="CC3399"/>
                  </a:solidFill>
                  <a:latin typeface="Times New Roman" panose="02020603050405020304" pitchFamily="18" charset="0"/>
                  <a:ea typeface="楷体_GB2312" pitchFamily="49" charset="-122"/>
                </a:rPr>
                <a:t>Ⅱ</a:t>
              </a:r>
              <a:endParaRPr kumimoji="1" lang="en-US" altLang="zh-CN" sz="2000" b="1" kern="0">
                <a:solidFill>
                  <a:srgbClr val="CC3399"/>
                </a:solidFill>
                <a:latin typeface="Times New Roman" panose="02020603050405020304" pitchFamily="18" charset="0"/>
                <a:ea typeface="楷体_GB2312" pitchFamily="49" charset="-122"/>
              </a:endParaRPr>
            </a:p>
          </p:txBody>
        </p:sp>
        <p:sp>
          <p:nvSpPr>
            <p:cNvPr id="177" name="Line 36"/>
            <p:cNvSpPr>
              <a:spLocks noChangeShapeType="1"/>
            </p:cNvSpPr>
            <p:nvPr/>
          </p:nvSpPr>
          <p:spPr bwMode="auto">
            <a:xfrm>
              <a:off x="1241" y="3625"/>
              <a:ext cx="270"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78" name="Rectangle 37"/>
            <p:cNvSpPr>
              <a:spLocks noChangeArrowheads="1"/>
            </p:cNvSpPr>
            <p:nvPr/>
          </p:nvSpPr>
          <p:spPr bwMode="auto">
            <a:xfrm>
              <a:off x="805" y="352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179" name="Freeform 38"/>
            <p:cNvSpPr/>
            <p:nvPr/>
          </p:nvSpPr>
          <p:spPr bwMode="auto">
            <a:xfrm>
              <a:off x="725" y="2352"/>
              <a:ext cx="349" cy="579"/>
            </a:xfrm>
            <a:custGeom>
              <a:avLst/>
              <a:gdLst>
                <a:gd name="T0" fmla="*/ 0 w 255"/>
                <a:gd name="T1" fmla="*/ 579 h 579"/>
                <a:gd name="T2" fmla="*/ 123 w 255"/>
                <a:gd name="T3" fmla="*/ 186 h 579"/>
                <a:gd name="T4" fmla="*/ 255 w 255"/>
                <a:gd name="T5" fmla="*/ 0 h 579"/>
              </a:gdLst>
              <a:ahLst/>
              <a:cxnLst>
                <a:cxn ang="0">
                  <a:pos x="T0" y="T1"/>
                </a:cxn>
                <a:cxn ang="0">
                  <a:pos x="T2" y="T3"/>
                </a:cxn>
                <a:cxn ang="0">
                  <a:pos x="T4" y="T5"/>
                </a:cxn>
              </a:cxnLst>
              <a:rect l="0" t="0" r="r" b="b"/>
              <a:pathLst>
                <a:path w="255" h="579">
                  <a:moveTo>
                    <a:pt x="0" y="579"/>
                  </a:moveTo>
                  <a:cubicBezTo>
                    <a:pt x="20" y="514"/>
                    <a:pt x="81" y="282"/>
                    <a:pt x="123" y="186"/>
                  </a:cubicBezTo>
                  <a:cubicBezTo>
                    <a:pt x="165" y="90"/>
                    <a:pt x="227" y="39"/>
                    <a:pt x="255"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0" name="Freeform 39"/>
            <p:cNvSpPr/>
            <p:nvPr/>
          </p:nvSpPr>
          <p:spPr bwMode="auto">
            <a:xfrm>
              <a:off x="1252" y="2352"/>
              <a:ext cx="273"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1" name="Freeform 40"/>
            <p:cNvSpPr/>
            <p:nvPr/>
          </p:nvSpPr>
          <p:spPr bwMode="auto">
            <a:xfrm flipV="1">
              <a:off x="1071" y="2352"/>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2" name="Freeform 41"/>
            <p:cNvSpPr/>
            <p:nvPr/>
          </p:nvSpPr>
          <p:spPr bwMode="auto">
            <a:xfrm>
              <a:off x="1696" y="2352"/>
              <a:ext cx="266"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3" name="Freeform 42"/>
            <p:cNvSpPr/>
            <p:nvPr/>
          </p:nvSpPr>
          <p:spPr bwMode="auto">
            <a:xfrm flipV="1">
              <a:off x="1522" y="2352"/>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4" name="Freeform 43"/>
            <p:cNvSpPr/>
            <p:nvPr/>
          </p:nvSpPr>
          <p:spPr bwMode="auto">
            <a:xfrm flipV="1">
              <a:off x="1952" y="2346"/>
              <a:ext cx="64" cy="144"/>
            </a:xfrm>
            <a:custGeom>
              <a:avLst/>
              <a:gdLst>
                <a:gd name="T0" fmla="*/ 0 w 54"/>
                <a:gd name="T1" fmla="*/ 144 h 144"/>
                <a:gd name="T2" fmla="*/ 30 w 54"/>
                <a:gd name="T3" fmla="*/ 51 h 144"/>
                <a:gd name="T4" fmla="*/ 54 w 54"/>
                <a:gd name="T5" fmla="*/ 0 h 144"/>
              </a:gdLst>
              <a:ahLst/>
              <a:cxnLst>
                <a:cxn ang="0">
                  <a:pos x="T0" y="T1"/>
                </a:cxn>
                <a:cxn ang="0">
                  <a:pos x="T2" y="T3"/>
                </a:cxn>
                <a:cxn ang="0">
                  <a:pos x="T4" y="T5"/>
                </a:cxn>
              </a:cxnLst>
              <a:rect l="0" t="0" r="r" b="b"/>
              <a:pathLst>
                <a:path w="54" h="144">
                  <a:moveTo>
                    <a:pt x="0" y="144"/>
                  </a:moveTo>
                  <a:cubicBezTo>
                    <a:pt x="5" y="129"/>
                    <a:pt x="21" y="75"/>
                    <a:pt x="30" y="51"/>
                  </a:cubicBezTo>
                  <a:cubicBezTo>
                    <a:pt x="39" y="27"/>
                    <a:pt x="49" y="11"/>
                    <a:pt x="54"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5" name="Line 44"/>
            <p:cNvSpPr>
              <a:spLocks noChangeShapeType="1"/>
            </p:cNvSpPr>
            <p:nvPr/>
          </p:nvSpPr>
          <p:spPr bwMode="auto">
            <a:xfrm>
              <a:off x="1949" y="2348"/>
              <a:ext cx="0" cy="116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6" name="Line 45"/>
            <p:cNvSpPr>
              <a:spLocks noChangeShapeType="1"/>
            </p:cNvSpPr>
            <p:nvPr/>
          </p:nvSpPr>
          <p:spPr bwMode="auto">
            <a:xfrm>
              <a:off x="1697" y="2638"/>
              <a:ext cx="0" cy="879"/>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7" name="Line 46"/>
            <p:cNvSpPr>
              <a:spLocks noChangeShapeType="1"/>
            </p:cNvSpPr>
            <p:nvPr/>
          </p:nvSpPr>
          <p:spPr bwMode="auto">
            <a:xfrm>
              <a:off x="1505" y="3625"/>
              <a:ext cx="198"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88" name="Text Box 47"/>
            <p:cNvSpPr txBox="1">
              <a:spLocks noChangeArrowheads="1"/>
            </p:cNvSpPr>
            <p:nvPr/>
          </p:nvSpPr>
          <p:spPr bwMode="auto">
            <a:xfrm>
              <a:off x="1212" y="3336"/>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FF"/>
                  </a:solidFill>
                  <a:latin typeface="Times New Roman" panose="02020603050405020304" pitchFamily="18" charset="0"/>
                  <a:ea typeface="楷体_GB2312" pitchFamily="49" charset="-122"/>
                </a:rPr>
                <a:t>t</a:t>
              </a:r>
              <a:r>
                <a:rPr kumimoji="1" lang="en-US" altLang="zh-CN" sz="2000" b="1" kern="0" baseline="-25000">
                  <a:solidFill>
                    <a:srgbClr val="0000FF"/>
                  </a:solidFill>
                  <a:latin typeface="Times New Roman" panose="02020603050405020304" pitchFamily="18" charset="0"/>
                  <a:ea typeface="楷体_GB2312" pitchFamily="49" charset="-122"/>
                </a:rPr>
                <a:t>PH</a:t>
              </a:r>
              <a:endParaRPr kumimoji="1" lang="en-US" altLang="zh-CN" sz="2000" b="1" kern="0" baseline="-25000">
                <a:solidFill>
                  <a:srgbClr val="0000FF"/>
                </a:solidFill>
                <a:latin typeface="Times New Roman" panose="02020603050405020304" pitchFamily="18" charset="0"/>
                <a:ea typeface="楷体_GB2312" pitchFamily="49" charset="-122"/>
              </a:endParaRPr>
            </a:p>
          </p:txBody>
        </p:sp>
        <p:sp>
          <p:nvSpPr>
            <p:cNvPr id="189" name="Text Box 48"/>
            <p:cNvSpPr txBox="1">
              <a:spLocks noChangeArrowheads="1"/>
            </p:cNvSpPr>
            <p:nvPr/>
          </p:nvSpPr>
          <p:spPr bwMode="auto">
            <a:xfrm>
              <a:off x="1458" y="3336"/>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FF"/>
                  </a:solidFill>
                  <a:latin typeface="Times New Roman" panose="02020603050405020304" pitchFamily="18" charset="0"/>
                  <a:ea typeface="楷体_GB2312" pitchFamily="49" charset="-122"/>
                </a:rPr>
                <a:t>t</a:t>
              </a:r>
              <a:r>
                <a:rPr kumimoji="1" lang="en-US" altLang="zh-CN" sz="2000" b="1" kern="0" baseline="-25000">
                  <a:solidFill>
                    <a:srgbClr val="0000FF"/>
                  </a:solidFill>
                  <a:latin typeface="Times New Roman" panose="02020603050405020304" pitchFamily="18" charset="0"/>
                  <a:ea typeface="楷体_GB2312" pitchFamily="49" charset="-122"/>
                </a:rPr>
                <a:t>PL</a:t>
              </a:r>
              <a:endParaRPr kumimoji="1" lang="en-US" altLang="zh-CN" sz="2000" b="1" kern="0" baseline="-25000">
                <a:solidFill>
                  <a:srgbClr val="0000FF"/>
                </a:solidFill>
                <a:latin typeface="Times New Roman" panose="02020603050405020304" pitchFamily="18" charset="0"/>
                <a:ea typeface="楷体_GB2312" pitchFamily="49" charset="-122"/>
              </a:endParaRPr>
            </a:p>
          </p:txBody>
        </p:sp>
        <p:graphicFrame>
          <p:nvGraphicFramePr>
            <p:cNvPr id="190" name="Object 49"/>
            <p:cNvGraphicFramePr>
              <a:graphicFrameLocks noChangeAspect="1"/>
            </p:cNvGraphicFramePr>
            <p:nvPr/>
          </p:nvGraphicFramePr>
          <p:xfrm>
            <a:off x="274" y="2082"/>
            <a:ext cx="424" cy="456"/>
          </p:xfrm>
          <a:graphic>
            <a:graphicData uri="http://schemas.openxmlformats.org/presentationml/2006/ole">
              <mc:AlternateContent xmlns:mc="http://schemas.openxmlformats.org/markup-compatibility/2006">
                <mc:Choice xmlns:v="urn:schemas-microsoft-com:vml" Requires="v">
                  <p:oleObj spid="_x0000_s22537" name="Equation" r:id="rId2" imgW="673100" imgH="723900" progId="Equation.3">
                    <p:embed/>
                  </p:oleObj>
                </mc:Choice>
                <mc:Fallback>
                  <p:oleObj name="Equation" r:id="rId2" imgW="673100" imgH="723900" progId="Equation.3">
                    <p:embed/>
                    <p:pic>
                      <p:nvPicPr>
                        <p:cNvPr id="0" name="图片 225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 y="2082"/>
                          <a:ext cx="424"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 name="Object 50"/>
            <p:cNvGraphicFramePr>
              <a:graphicFrameLocks noChangeAspect="1"/>
            </p:cNvGraphicFramePr>
            <p:nvPr/>
          </p:nvGraphicFramePr>
          <p:xfrm>
            <a:off x="274" y="2490"/>
            <a:ext cx="424" cy="456"/>
          </p:xfrm>
          <a:graphic>
            <a:graphicData uri="http://schemas.openxmlformats.org/presentationml/2006/ole">
              <mc:AlternateContent xmlns:mc="http://schemas.openxmlformats.org/markup-compatibility/2006">
                <mc:Choice xmlns:v="urn:schemas-microsoft-com:vml" Requires="v">
                  <p:oleObj spid="_x0000_s22538" name="Equation" r:id="rId4" imgW="673100" imgH="723900" progId="Equation.3">
                    <p:embed/>
                  </p:oleObj>
                </mc:Choice>
                <mc:Fallback>
                  <p:oleObj name="Equation" r:id="rId4" imgW="673100" imgH="723900" progId="Equation.3">
                    <p:embed/>
                    <p:pic>
                      <p:nvPicPr>
                        <p:cNvPr id="0" name="图片 225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 y="2490"/>
                          <a:ext cx="424" cy="456"/>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2" name="Rectangle 51"/>
            <p:cNvSpPr>
              <a:spLocks noChangeArrowheads="1"/>
            </p:cNvSpPr>
            <p:nvPr/>
          </p:nvSpPr>
          <p:spPr bwMode="auto">
            <a:xfrm>
              <a:off x="1741" y="352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193" name="Rectangle 52"/>
            <p:cNvSpPr>
              <a:spLocks noChangeArrowheads="1"/>
            </p:cNvSpPr>
            <p:nvPr/>
          </p:nvSpPr>
          <p:spPr bwMode="auto">
            <a:xfrm>
              <a:off x="1297" y="364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9900CC"/>
                  </a:solidFill>
                  <a:latin typeface="Times New Roman" panose="02020603050405020304" pitchFamily="18" charset="0"/>
                  <a:ea typeface="楷体_GB2312" pitchFamily="49" charset="-122"/>
                </a:rPr>
                <a:t>Ⅰ</a:t>
              </a:r>
              <a:endParaRPr kumimoji="1" lang="en-US" altLang="zh-CN" sz="2000" b="1" kern="0">
                <a:solidFill>
                  <a:srgbClr val="9900CC"/>
                </a:solidFill>
                <a:latin typeface="Times New Roman" panose="02020603050405020304" pitchFamily="18" charset="0"/>
                <a:ea typeface="楷体_GB2312" pitchFamily="49" charset="-122"/>
              </a:endParaRPr>
            </a:p>
          </p:txBody>
        </p:sp>
        <p:sp>
          <p:nvSpPr>
            <p:cNvPr id="194" name="Text Box 53"/>
            <p:cNvSpPr txBox="1">
              <a:spLocks noChangeArrowheads="1"/>
            </p:cNvSpPr>
            <p:nvPr/>
          </p:nvSpPr>
          <p:spPr bwMode="auto">
            <a:xfrm>
              <a:off x="1467" y="3611"/>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kern="0">
                  <a:solidFill>
                    <a:srgbClr val="CC3399"/>
                  </a:solidFill>
                  <a:latin typeface="Times New Roman" panose="02020603050405020304" pitchFamily="18" charset="0"/>
                  <a:ea typeface="楷体_GB2312" pitchFamily="49" charset="-122"/>
                </a:rPr>
                <a:t>Ⅱ</a:t>
              </a:r>
              <a:endParaRPr kumimoji="1" lang="en-US" altLang="zh-CN" sz="2000" b="1" kern="0">
                <a:solidFill>
                  <a:srgbClr val="CC3399"/>
                </a:solidFill>
                <a:latin typeface="Times New Roman" panose="02020603050405020304" pitchFamily="18" charset="0"/>
                <a:ea typeface="楷体_GB2312" pitchFamily="49" charset="-122"/>
              </a:endParaRPr>
            </a:p>
          </p:txBody>
        </p:sp>
        <p:graphicFrame>
          <p:nvGraphicFramePr>
            <p:cNvPr id="195" name="Object 54"/>
            <p:cNvGraphicFramePr>
              <a:graphicFrameLocks noChangeAspect="1"/>
            </p:cNvGraphicFramePr>
            <p:nvPr/>
          </p:nvGraphicFramePr>
          <p:xfrm>
            <a:off x="270" y="727"/>
            <a:ext cx="1939" cy="1207"/>
          </p:xfrm>
          <a:graphic>
            <a:graphicData uri="http://schemas.openxmlformats.org/presentationml/2006/ole">
              <mc:AlternateContent xmlns:mc="http://schemas.openxmlformats.org/markup-compatibility/2006">
                <mc:Choice xmlns:v="urn:schemas-microsoft-com:vml" Requires="v">
                  <p:oleObj spid="_x0000_s22539" name="BMP 图象" r:id="rId6" imgW="4238625" imgH="2933700" progId="Paint.Picture">
                    <p:embed/>
                  </p:oleObj>
                </mc:Choice>
                <mc:Fallback>
                  <p:oleObj name="BMP 图象" r:id="rId6" imgW="4238625" imgH="2933700" progId="Paint.Picture">
                    <p:embed/>
                    <p:pic>
                      <p:nvPicPr>
                        <p:cNvPr id="0" name="图片 225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 y="727"/>
                          <a:ext cx="1939" cy="1207"/>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6" name="AutoShape 55"/>
            <p:cNvSpPr>
              <a:spLocks noChangeArrowheads="1"/>
            </p:cNvSpPr>
            <p:nvPr/>
          </p:nvSpPr>
          <p:spPr bwMode="auto">
            <a:xfrm>
              <a:off x="225" y="681"/>
              <a:ext cx="1979" cy="3518"/>
            </a:xfrm>
            <a:prstGeom prst="flowChartProcess">
              <a:avLst/>
            </a:prstGeom>
            <a:noFill/>
            <a:ln w="57150">
              <a:pattFill prst="sphere">
                <a:fgClr>
                  <a:srgbClr val="CC99FF"/>
                </a:fgClr>
                <a:bgClr>
                  <a:srgbClr val="FFFFFF"/>
                </a:bgClr>
              </a:patt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grpSp>
      <p:grpSp>
        <p:nvGrpSpPr>
          <p:cNvPr id="197" name="Group 59"/>
          <p:cNvGrpSpPr/>
          <p:nvPr/>
        </p:nvGrpSpPr>
        <p:grpSpPr bwMode="auto">
          <a:xfrm>
            <a:off x="1851443" y="3750105"/>
            <a:ext cx="457200" cy="2413000"/>
            <a:chOff x="1237" y="2392"/>
            <a:chExt cx="288" cy="1520"/>
          </a:xfrm>
        </p:grpSpPr>
        <p:sp>
          <p:nvSpPr>
            <p:cNvPr id="198" name="Freeform 60"/>
            <p:cNvSpPr/>
            <p:nvPr/>
          </p:nvSpPr>
          <p:spPr bwMode="auto">
            <a:xfrm>
              <a:off x="1252" y="2392"/>
              <a:ext cx="273"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CC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199" name="Line 61"/>
            <p:cNvSpPr>
              <a:spLocks noChangeShapeType="1"/>
            </p:cNvSpPr>
            <p:nvPr/>
          </p:nvSpPr>
          <p:spPr bwMode="auto">
            <a:xfrm>
              <a:off x="1237" y="3414"/>
              <a:ext cx="285" cy="0"/>
            </a:xfrm>
            <a:prstGeom prst="line">
              <a:avLst/>
            </a:prstGeom>
            <a:noFill/>
            <a:ln w="38100">
              <a:solidFill>
                <a:srgbClr val="00CC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200" name="Line 62"/>
            <p:cNvSpPr>
              <a:spLocks noChangeShapeType="1"/>
            </p:cNvSpPr>
            <p:nvPr/>
          </p:nvSpPr>
          <p:spPr bwMode="auto">
            <a:xfrm>
              <a:off x="1248" y="3408"/>
              <a:ext cx="0" cy="504"/>
            </a:xfrm>
            <a:prstGeom prst="line">
              <a:avLst/>
            </a:prstGeom>
            <a:noFill/>
            <a:ln w="38100">
              <a:solidFill>
                <a:srgbClr val="00CC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pPr>
              <a:endParaRPr lang="zh-CN" altLang="en-US" b="1">
                <a:solidFill>
                  <a:srgbClr val="000000"/>
                </a:solidFill>
                <a:latin typeface="Times New Roman" panose="02020603050405020304" pitchFamily="18" charset="0"/>
                <a:ea typeface="楷体_GB2312" pitchFamily="49" charset="-122"/>
              </a:endParaRPr>
            </a:p>
          </p:txBody>
        </p:sp>
        <p:sp>
          <p:nvSpPr>
            <p:cNvPr id="201" name="Rectangle 63"/>
            <p:cNvSpPr>
              <a:spLocks noChangeArrowheads="1"/>
            </p:cNvSpPr>
            <p:nvPr/>
          </p:nvSpPr>
          <p:spPr bwMode="auto">
            <a:xfrm>
              <a:off x="1297" y="368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pPr>
              <a:r>
                <a:rPr kumimoji="1" lang="en-US" altLang="zh-CN" sz="2000" b="1">
                  <a:solidFill>
                    <a:srgbClr val="00CC00"/>
                  </a:solidFill>
                  <a:latin typeface="Times New Roman" panose="02020603050405020304" pitchFamily="18" charset="0"/>
                  <a:ea typeface="楷体_GB2312" pitchFamily="49" charset="-122"/>
                </a:rPr>
                <a:t>Ⅰ</a:t>
              </a:r>
              <a:endParaRPr kumimoji="1" lang="en-US" altLang="zh-CN" sz="2000" b="1">
                <a:solidFill>
                  <a:srgbClr val="00CC00"/>
                </a:solidFill>
                <a:latin typeface="Times New Roman" panose="02020603050405020304" pitchFamily="18" charset="0"/>
                <a:ea typeface="楷体_GB2312" pitchFamily="49" charset="-122"/>
              </a:endParaRPr>
            </a:p>
          </p:txBody>
        </p:sp>
      </p:grpSp>
      <p:grpSp>
        <p:nvGrpSpPr>
          <p:cNvPr id="66" name="组合 65"/>
          <p:cNvGrpSpPr/>
          <p:nvPr/>
        </p:nvGrpSpPr>
        <p:grpSpPr>
          <a:xfrm>
            <a:off x="6558015" y="108096"/>
            <a:ext cx="2553367" cy="2171051"/>
            <a:chOff x="5594130" y="82673"/>
            <a:chExt cx="2528387" cy="2171075"/>
          </a:xfrm>
        </p:grpSpPr>
        <p:grpSp>
          <p:nvGrpSpPr>
            <p:cNvPr id="67" name="Group 41"/>
            <p:cNvGrpSpPr/>
            <p:nvPr/>
          </p:nvGrpSpPr>
          <p:grpSpPr bwMode="auto">
            <a:xfrm>
              <a:off x="5594130" y="82673"/>
              <a:ext cx="2528387" cy="2171075"/>
              <a:chOff x="3010" y="618"/>
              <a:chExt cx="1830" cy="1346"/>
            </a:xfrm>
          </p:grpSpPr>
          <p:sp>
            <p:nvSpPr>
              <p:cNvPr id="72" name="Rectangle 42"/>
              <p:cNvSpPr>
                <a:spLocks noChangeArrowheads="1"/>
              </p:cNvSpPr>
              <p:nvPr/>
            </p:nvSpPr>
            <p:spPr bwMode="auto">
              <a:xfrm>
                <a:off x="4375" y="634"/>
                <a:ext cx="447"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0"/>
                  </a:spcBef>
                  <a:spcAft>
                    <a:spcPct val="0"/>
                  </a:spcAft>
                  <a:defRPr/>
                </a:pPr>
                <a:r>
                  <a:rPr lang="en-US" altLang="zh-CN" sz="2000" kern="0" dirty="0">
                    <a:solidFill>
                      <a:srgbClr val="0000FF"/>
                    </a:solidFill>
                  </a:rPr>
                  <a:t>  </a:t>
                </a:r>
                <a:r>
                  <a:rPr lang="en-US" altLang="zh-CN" i="1" kern="0" dirty="0" err="1">
                    <a:solidFill>
                      <a:srgbClr val="0000FF"/>
                    </a:solidFill>
                  </a:rPr>
                  <a:t>u</a:t>
                </a:r>
                <a:r>
                  <a:rPr lang="en-US" altLang="zh-CN" i="1" kern="0" baseline="-25000" dirty="0" err="1">
                    <a:solidFill>
                      <a:srgbClr val="0000FF"/>
                    </a:solidFill>
                  </a:rPr>
                  <a:t>o</a:t>
                </a:r>
                <a:endParaRPr lang="en-US" altLang="zh-CN" sz="2000" i="1" kern="0" baseline="-25000" dirty="0">
                  <a:solidFill>
                    <a:srgbClr val="0000FF"/>
                  </a:solidFill>
                </a:endParaRPr>
              </a:p>
            </p:txBody>
          </p:sp>
          <p:sp>
            <p:nvSpPr>
              <p:cNvPr id="73" name="Rectangle 44"/>
              <p:cNvSpPr>
                <a:spLocks noChangeArrowheads="1"/>
              </p:cNvSpPr>
              <p:nvPr/>
            </p:nvSpPr>
            <p:spPr bwMode="auto">
              <a:xfrm>
                <a:off x="4494" y="889"/>
                <a:ext cx="346" cy="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1</a:t>
                </a:r>
                <a:endParaRPr lang="en-US" altLang="zh-CN" kern="0" dirty="0">
                  <a:solidFill>
                    <a:srgbClr val="0000FF"/>
                  </a:solidFill>
                  <a:ea typeface="楷体_GB2312" pitchFamily="49" charset="-122"/>
                </a:endParaRPr>
              </a:p>
              <a:p>
                <a:pPr algn="ctr" defTabSz="914400" fontAlgn="base">
                  <a:spcBef>
                    <a:spcPct val="0"/>
                  </a:spcBef>
                  <a:spcAft>
                    <a:spcPct val="0"/>
                  </a:spcAft>
                  <a:defRPr/>
                </a:pPr>
                <a:endParaRPr lang="en-US" altLang="zh-CN" kern="0" dirty="0">
                  <a:solidFill>
                    <a:srgbClr val="0000FF"/>
                  </a:solidFill>
                  <a:ea typeface="楷体_GB2312" pitchFamily="49" charset="-122"/>
                </a:endParaRPr>
              </a:p>
              <a:p>
                <a:pPr algn="ctr" defTabSz="914400" fontAlgn="base">
                  <a:spcBef>
                    <a:spcPct val="0"/>
                  </a:spcBef>
                  <a:spcAft>
                    <a:spcPct val="0"/>
                  </a:spcAft>
                  <a:defRPr/>
                </a:pPr>
                <a:r>
                  <a:rPr lang="en-US" altLang="zh-CN" kern="0" dirty="0">
                    <a:solidFill>
                      <a:srgbClr val="0000FF"/>
                    </a:solidFill>
                    <a:ea typeface="楷体_GB2312" pitchFamily="49" charset="-122"/>
                  </a:rPr>
                  <a:t>0</a:t>
                </a:r>
                <a:endParaRPr lang="zh-CN" altLang="en-US" kern="0" dirty="0">
                  <a:solidFill>
                    <a:srgbClr val="0000FF"/>
                  </a:solidFill>
                  <a:ea typeface="楷体_GB2312" pitchFamily="49" charset="-122"/>
                </a:endParaRPr>
              </a:p>
            </p:txBody>
          </p:sp>
          <p:sp>
            <p:nvSpPr>
              <p:cNvPr id="74" name="Rectangle 45"/>
              <p:cNvSpPr>
                <a:spLocks noChangeArrowheads="1"/>
              </p:cNvSpPr>
              <p:nvPr/>
            </p:nvSpPr>
            <p:spPr bwMode="auto">
              <a:xfrm>
                <a:off x="3340" y="939"/>
                <a:ext cx="786" cy="9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endParaRPr lang="en-US" altLang="zh-CN" kern="0" dirty="0">
                  <a:solidFill>
                    <a:srgbClr val="0000FF"/>
                  </a:solidFill>
                </a:endParaRPr>
              </a:p>
            </p:txBody>
          </p:sp>
          <p:sp>
            <p:nvSpPr>
              <p:cNvPr id="75" name="Rectangle 46"/>
              <p:cNvSpPr>
                <a:spLocks noChangeArrowheads="1"/>
              </p:cNvSpPr>
              <p:nvPr/>
            </p:nvSpPr>
            <p:spPr bwMode="auto">
              <a:xfrm>
                <a:off x="3010" y="682"/>
                <a:ext cx="1337"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0"/>
                  </a:spcBef>
                  <a:spcAft>
                    <a:spcPct val="0"/>
                  </a:spcAft>
                  <a:defRPr/>
                </a:pPr>
                <a:r>
                  <a:rPr lang="en-US" altLang="zh-CN" sz="2000" i="1" kern="0" dirty="0">
                    <a:solidFill>
                      <a:srgbClr val="0000FF"/>
                    </a:solidFill>
                  </a:rPr>
                  <a:t>TH        TR</a:t>
                </a:r>
                <a:endParaRPr lang="en-US" altLang="zh-CN" sz="2000" i="1" kern="0" baseline="-25000" dirty="0">
                  <a:solidFill>
                    <a:srgbClr val="0000FF"/>
                  </a:solidFill>
                </a:endParaRPr>
              </a:p>
            </p:txBody>
          </p:sp>
          <p:sp>
            <p:nvSpPr>
              <p:cNvPr id="76" name="Line 47"/>
              <p:cNvSpPr>
                <a:spLocks noChangeShapeType="1"/>
              </p:cNvSpPr>
              <p:nvPr/>
            </p:nvSpPr>
            <p:spPr bwMode="auto">
              <a:xfrm>
                <a:off x="3109" y="624"/>
                <a:ext cx="1731" cy="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7" name="Line 48"/>
              <p:cNvSpPr>
                <a:spLocks noChangeShapeType="1"/>
              </p:cNvSpPr>
              <p:nvPr/>
            </p:nvSpPr>
            <p:spPr bwMode="auto">
              <a:xfrm flipV="1">
                <a:off x="3101" y="944"/>
                <a:ext cx="1739"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b="1" kern="0">
                  <a:solidFill>
                    <a:srgbClr val="0000FF"/>
                  </a:solidFill>
                  <a:latin typeface="Times New Roman" panose="02020603050405020304" pitchFamily="18" charset="0"/>
                  <a:ea typeface="宋体" panose="02010600030101010101" pitchFamily="2" charset="-122"/>
                </a:endParaRPr>
              </a:p>
            </p:txBody>
          </p:sp>
          <p:sp>
            <p:nvSpPr>
              <p:cNvPr id="78" name="Line 49"/>
              <p:cNvSpPr>
                <a:spLocks noChangeShapeType="1"/>
              </p:cNvSpPr>
              <p:nvPr/>
            </p:nvSpPr>
            <p:spPr bwMode="auto">
              <a:xfrm>
                <a:off x="3101" y="1948"/>
                <a:ext cx="1739" cy="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79" name="Line 50"/>
              <p:cNvSpPr>
                <a:spLocks noChangeShapeType="1"/>
              </p:cNvSpPr>
              <p:nvPr/>
            </p:nvSpPr>
            <p:spPr bwMode="auto">
              <a:xfrm>
                <a:off x="4391" y="618"/>
                <a:ext cx="0" cy="134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sp>
            <p:nvSpPr>
              <p:cNvPr id="80" name="Line 52"/>
              <p:cNvSpPr>
                <a:spLocks noChangeShapeType="1"/>
              </p:cNvSpPr>
              <p:nvPr/>
            </p:nvSpPr>
            <p:spPr bwMode="auto">
              <a:xfrm>
                <a:off x="3860" y="682"/>
                <a:ext cx="282"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defRPr/>
                </a:pPr>
                <a:endParaRPr kumimoji="1" lang="zh-CN" altLang="en-US" sz="2400" b="1" kern="0">
                  <a:solidFill>
                    <a:srgbClr val="0000FF"/>
                  </a:solidFill>
                  <a:latin typeface="Times New Roman" panose="02020603050405020304" pitchFamily="18" charset="0"/>
                  <a:ea typeface="宋体" panose="02010600030101010101" pitchFamily="2" charset="-122"/>
                </a:endParaRPr>
              </a:p>
            </p:txBody>
          </p:sp>
        </p:grpSp>
        <p:graphicFrame>
          <p:nvGraphicFramePr>
            <p:cNvPr id="68" name="Object 2"/>
            <p:cNvGraphicFramePr>
              <a:graphicFrameLocks noChangeAspect="1"/>
            </p:cNvGraphicFramePr>
            <p:nvPr/>
          </p:nvGraphicFramePr>
          <p:xfrm>
            <a:off x="6639111" y="1477979"/>
            <a:ext cx="815696" cy="602796"/>
          </p:xfrm>
          <a:graphic>
            <a:graphicData uri="http://schemas.openxmlformats.org/presentationml/2006/ole">
              <mc:AlternateContent xmlns:mc="http://schemas.openxmlformats.org/markup-compatibility/2006">
                <mc:Choice xmlns:v="urn:schemas-microsoft-com:vml" Requires="v">
                  <p:oleObj spid="_x0000_s22540" name="Equation" r:id="rId8" imgW="508000" imgH="406400" progId="Equation.3">
                    <p:embed/>
                  </p:oleObj>
                </mc:Choice>
                <mc:Fallback>
                  <p:oleObj name="Equation" r:id="rId8" imgW="508000" imgH="406400" progId="Equation.3">
                    <p:embed/>
                    <p:pic>
                      <p:nvPicPr>
                        <p:cNvPr id="0" name="图片 225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9111" y="1477979"/>
                          <a:ext cx="815696" cy="602796"/>
                        </a:xfrm>
                        <a:prstGeom prst="rect">
                          <a:avLst/>
                        </a:prstGeom>
                        <a:noFill/>
                        <a:ln>
                          <a:noFill/>
                        </a:ln>
                      </p:spPr>
                    </p:pic>
                  </p:oleObj>
                </mc:Fallback>
              </mc:AlternateContent>
            </a:graphicData>
          </a:graphic>
        </p:graphicFrame>
        <p:graphicFrame>
          <p:nvGraphicFramePr>
            <p:cNvPr id="69" name="Object 3"/>
            <p:cNvGraphicFramePr>
              <a:graphicFrameLocks noChangeAspect="1"/>
            </p:cNvGraphicFramePr>
            <p:nvPr/>
          </p:nvGraphicFramePr>
          <p:xfrm>
            <a:off x="6691217" y="765409"/>
            <a:ext cx="780812" cy="577017"/>
          </p:xfrm>
          <a:graphic>
            <a:graphicData uri="http://schemas.openxmlformats.org/presentationml/2006/ole">
              <mc:AlternateContent xmlns:mc="http://schemas.openxmlformats.org/markup-compatibility/2006">
                <mc:Choice xmlns:v="urn:schemas-microsoft-com:vml" Requires="v">
                  <p:oleObj spid="_x0000_s22541" name="Equation" r:id="rId10" imgW="508000" imgH="406400" progId="Equation.3">
                    <p:embed/>
                  </p:oleObj>
                </mc:Choice>
                <mc:Fallback>
                  <p:oleObj name="Equation" r:id="rId10" imgW="508000" imgH="406400" progId="Equation.3">
                    <p:embed/>
                    <p:pic>
                      <p:nvPicPr>
                        <p:cNvPr id="0" name="图片 225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91217" y="765409"/>
                          <a:ext cx="780812" cy="577017"/>
                        </a:xfrm>
                        <a:prstGeom prst="rect">
                          <a:avLst/>
                        </a:prstGeom>
                        <a:noFill/>
                        <a:ln>
                          <a:noFill/>
                        </a:ln>
                      </p:spPr>
                    </p:pic>
                  </p:oleObj>
                </mc:Fallback>
              </mc:AlternateContent>
            </a:graphicData>
          </a:graphic>
        </p:graphicFrame>
        <p:graphicFrame>
          <p:nvGraphicFramePr>
            <p:cNvPr id="70" name="Object 5"/>
            <p:cNvGraphicFramePr>
              <a:graphicFrameLocks noChangeAspect="1"/>
            </p:cNvGraphicFramePr>
            <p:nvPr/>
          </p:nvGraphicFramePr>
          <p:xfrm>
            <a:off x="5731292" y="1466650"/>
            <a:ext cx="712774" cy="632189"/>
          </p:xfrm>
          <a:graphic>
            <a:graphicData uri="http://schemas.openxmlformats.org/presentationml/2006/ole">
              <mc:AlternateContent xmlns:mc="http://schemas.openxmlformats.org/markup-compatibility/2006">
                <mc:Choice xmlns:v="urn:schemas-microsoft-com:vml" Requires="v">
                  <p:oleObj spid="_x0000_s22542" name="Equation" r:id="rId12" imgW="508000" imgH="406400" progId="Equation.3">
                    <p:embed/>
                  </p:oleObj>
                </mc:Choice>
                <mc:Fallback>
                  <p:oleObj name="Equation" r:id="rId12" imgW="508000" imgH="406400" progId="Equation.3">
                    <p:embed/>
                    <p:pic>
                      <p:nvPicPr>
                        <p:cNvPr id="0" name="图片 225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31292" y="1466650"/>
                          <a:ext cx="712774" cy="632189"/>
                        </a:xfrm>
                        <a:prstGeom prst="rect">
                          <a:avLst/>
                        </a:prstGeom>
                        <a:noFill/>
                        <a:ln>
                          <a:noFill/>
                        </a:ln>
                      </p:spPr>
                    </p:pic>
                  </p:oleObj>
                </mc:Fallback>
              </mc:AlternateContent>
            </a:graphicData>
          </a:graphic>
        </p:graphicFrame>
        <p:graphicFrame>
          <p:nvGraphicFramePr>
            <p:cNvPr id="71" name="Object 6"/>
            <p:cNvGraphicFramePr>
              <a:graphicFrameLocks noChangeAspect="1"/>
            </p:cNvGraphicFramePr>
            <p:nvPr/>
          </p:nvGraphicFramePr>
          <p:xfrm>
            <a:off x="5720311" y="757747"/>
            <a:ext cx="729120" cy="646687"/>
          </p:xfrm>
          <a:graphic>
            <a:graphicData uri="http://schemas.openxmlformats.org/presentationml/2006/ole">
              <mc:AlternateContent xmlns:mc="http://schemas.openxmlformats.org/markup-compatibility/2006">
                <mc:Choice xmlns:v="urn:schemas-microsoft-com:vml" Requires="v">
                  <p:oleObj spid="_x0000_s22543" name="Equation" r:id="rId14" imgW="508000" imgH="406400" progId="Equation.3">
                    <p:embed/>
                  </p:oleObj>
                </mc:Choice>
                <mc:Fallback>
                  <p:oleObj name="Equation" r:id="rId14" imgW="508000" imgH="406400" progId="Equation.3">
                    <p:embed/>
                    <p:pic>
                      <p:nvPicPr>
                        <p:cNvPr id="0" name="图片 225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20311" y="757747"/>
                          <a:ext cx="729120" cy="646687"/>
                        </a:xfrm>
                        <a:prstGeom prst="rect">
                          <a:avLst/>
                        </a:prstGeom>
                        <a:noFill/>
                        <a:ln>
                          <a:noFill/>
                        </a:ln>
                      </p:spPr>
                    </p:pic>
                  </p:oleObj>
                </mc:Fallback>
              </mc:AlternateContent>
            </a:graphicData>
          </a:graphic>
        </p:graphicFrame>
      </p:grpSp>
      <p:cxnSp>
        <p:nvCxnSpPr>
          <p:cNvPr id="81" name="直接连接符 80"/>
          <p:cNvCxnSpPr/>
          <p:nvPr/>
        </p:nvCxnSpPr>
        <p:spPr>
          <a:xfrm>
            <a:off x="6606431" y="0"/>
            <a:ext cx="0" cy="249381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6584556" y="2507013"/>
            <a:ext cx="2528819" cy="34932"/>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535948" y="2686479"/>
            <a:ext cx="4341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97"/>
                                        </p:tgtEl>
                                        <p:attrNameLst>
                                          <p:attrName>style.visibility</p:attrName>
                                        </p:attrNameLst>
                                      </p:cBhvr>
                                      <p:to>
                                        <p:strVal val="visible"/>
                                      </p:to>
                                    </p:set>
                                    <p:animEffect transition="in" filter="wipe(left)">
                                      <p:cBhvr>
                                        <p:cTn id="7"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 name="Rectangle 3"/>
          <p:cNvSpPr>
            <a:spLocks noChangeArrowheads="1"/>
          </p:cNvSpPr>
          <p:nvPr/>
        </p:nvSpPr>
        <p:spPr bwMode="auto">
          <a:xfrm>
            <a:off x="1435167" y="96797"/>
            <a:ext cx="7032541" cy="49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Times New Roman" panose="02020603050405020304" pitchFamily="18" charset="0"/>
                <a:ea typeface="黑体" panose="02010609060101010101" pitchFamily="49" charset="-122"/>
              </a:rPr>
              <a:t>用</a:t>
            </a:r>
            <a:r>
              <a:rPr lang="en-US" altLang="zh-CN" sz="3200" b="1" dirty="0">
                <a:solidFill>
                  <a:srgbClr val="0000FF"/>
                </a:solidFill>
                <a:latin typeface="Times New Roman" panose="02020603050405020304" pitchFamily="18" charset="0"/>
                <a:ea typeface="黑体" panose="02010609060101010101" pitchFamily="49" charset="-122"/>
              </a:rPr>
              <a:t>555</a:t>
            </a:r>
            <a:r>
              <a:rPr lang="zh-CN" altLang="en-US" sz="3200" b="1" dirty="0">
                <a:solidFill>
                  <a:srgbClr val="0000FF"/>
                </a:solidFill>
                <a:latin typeface="Times New Roman" panose="02020603050405020304" pitchFamily="18" charset="0"/>
                <a:ea typeface="黑体" panose="02010609060101010101" pitchFamily="49" charset="-122"/>
              </a:rPr>
              <a:t>定时器构成多谐振荡器</a:t>
            </a:r>
            <a:endParaRPr lang="zh-CN" altLang="en-US" sz="3200" b="1" dirty="0">
              <a:solidFill>
                <a:srgbClr val="0000FF"/>
              </a:solidFill>
              <a:latin typeface="Tahoma" panose="020B0604030504040204" pitchFamily="34" charset="0"/>
              <a:ea typeface="华文新魏" panose="02010800040101010101" pitchFamily="2" charset="-122"/>
            </a:endParaRPr>
          </a:p>
        </p:txBody>
      </p:sp>
      <p:sp>
        <p:nvSpPr>
          <p:cNvPr id="221" name="Rectangle 87"/>
          <p:cNvSpPr>
            <a:spLocks noChangeArrowheads="1"/>
          </p:cNvSpPr>
          <p:nvPr/>
        </p:nvSpPr>
        <p:spPr bwMode="auto">
          <a:xfrm>
            <a:off x="247927" y="512666"/>
            <a:ext cx="2573337"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2.</a:t>
            </a:r>
            <a:r>
              <a:rPr lang="zh-CN" altLang="en-US" sz="2800" b="1" dirty="0">
                <a:solidFill>
                  <a:srgbClr val="C00000"/>
                </a:solidFill>
                <a:latin typeface="Times New Roman" panose="02020603050405020304" pitchFamily="18" charset="0"/>
                <a:ea typeface="楷体_GB2312" pitchFamily="49" charset="-122"/>
              </a:rPr>
              <a:t>  工作原理</a:t>
            </a:r>
            <a:endParaRPr lang="zh-CN" altLang="en-US" sz="2800" b="1" dirty="0">
              <a:solidFill>
                <a:srgbClr val="C00000"/>
              </a:solidFill>
              <a:latin typeface="Times New Roman" panose="02020603050405020304" pitchFamily="18" charset="0"/>
              <a:ea typeface="楷体_GB2312" pitchFamily="49" charset="-122"/>
            </a:endParaRPr>
          </a:p>
        </p:txBody>
      </p:sp>
      <p:sp>
        <p:nvSpPr>
          <p:cNvPr id="122" name="Text Box 2"/>
          <p:cNvSpPr txBox="1">
            <a:spLocks noChangeArrowheads="1"/>
          </p:cNvSpPr>
          <p:nvPr/>
        </p:nvSpPr>
        <p:spPr bwMode="auto">
          <a:xfrm>
            <a:off x="3657877" y="827469"/>
            <a:ext cx="4933950" cy="738664"/>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14400" fontAlgn="base">
              <a:spcBef>
                <a:spcPct val="0"/>
              </a:spcBef>
              <a:spcAft>
                <a:spcPct val="0"/>
              </a:spcAft>
            </a:pPr>
            <a:r>
              <a:rPr kumimoji="1" lang="zh-CN" altLang="en-US" sz="2400" b="1" dirty="0">
                <a:solidFill>
                  <a:srgbClr val="000000"/>
                </a:solidFill>
                <a:latin typeface="Times New Roman" panose="02020603050405020304" pitchFamily="18" charset="0"/>
                <a:ea typeface="楷体_GB2312" pitchFamily="49" charset="-122"/>
              </a:rPr>
              <a:t>电容 </a:t>
            </a:r>
            <a:r>
              <a:rPr kumimoji="1" lang="en-US" altLang="zh-CN" sz="2400" b="1" i="1" dirty="0">
                <a:solidFill>
                  <a:srgbClr val="000000"/>
                </a:solidFill>
                <a:latin typeface="Times New Roman" panose="02020603050405020304" pitchFamily="18" charset="0"/>
                <a:ea typeface="楷体_GB2312" pitchFamily="49" charset="-122"/>
              </a:rPr>
              <a:t>C </a:t>
            </a:r>
            <a:r>
              <a:rPr kumimoji="1" lang="zh-CN" altLang="en-US" sz="2400" b="1" dirty="0">
                <a:solidFill>
                  <a:srgbClr val="000000"/>
                </a:solidFill>
                <a:latin typeface="Times New Roman" panose="02020603050405020304" pitchFamily="18" charset="0"/>
                <a:ea typeface="楷体_GB2312" pitchFamily="49" charset="-122"/>
              </a:rPr>
              <a:t>如此循环充电和放电，使电路产生振荡，输出矩形脉冲。</a:t>
            </a:r>
            <a:endParaRPr kumimoji="1" lang="zh-CN" altLang="en-US" sz="2400" b="1" dirty="0">
              <a:solidFill>
                <a:srgbClr val="000000"/>
              </a:solidFill>
              <a:latin typeface="Times New Roman" panose="02020603050405020304" pitchFamily="18" charset="0"/>
              <a:ea typeface="楷体_GB2312" pitchFamily="49" charset="-122"/>
            </a:endParaRPr>
          </a:p>
        </p:txBody>
      </p:sp>
      <p:sp>
        <p:nvSpPr>
          <p:cNvPr id="123" name="Rectangle 55"/>
          <p:cNvSpPr>
            <a:spLocks noChangeArrowheads="1"/>
          </p:cNvSpPr>
          <p:nvPr/>
        </p:nvSpPr>
        <p:spPr bwMode="auto">
          <a:xfrm>
            <a:off x="3963710" y="2498472"/>
            <a:ext cx="4184650" cy="99104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14400" fontAlgn="base">
              <a:spcBef>
                <a:spcPct val="30000"/>
              </a:spcBef>
              <a:spcAft>
                <a:spcPct val="0"/>
              </a:spcAft>
            </a:pPr>
            <a:r>
              <a:rPr kumimoji="1" lang="en-US" altLang="zh-CN" sz="2800" b="1" i="1" dirty="0" err="1">
                <a:solidFill>
                  <a:srgbClr val="000000"/>
                </a:solidFill>
                <a:latin typeface="Times New Roman" panose="02020603050405020304" pitchFamily="18" charset="0"/>
                <a:ea typeface="宋体" panose="02010600030101010101" pitchFamily="2" charset="-122"/>
              </a:rPr>
              <a:t>t</a:t>
            </a:r>
            <a:r>
              <a:rPr kumimoji="1" lang="en-US" altLang="zh-CN" sz="2800" b="1" baseline="-25000" dirty="0" err="1">
                <a:solidFill>
                  <a:srgbClr val="000000"/>
                </a:solidFill>
                <a:latin typeface="Times New Roman" panose="02020603050405020304" pitchFamily="18" charset="0"/>
                <a:ea typeface="宋体" panose="02010600030101010101" pitchFamily="2" charset="-122"/>
              </a:rPr>
              <a:t>PH</a:t>
            </a:r>
            <a:r>
              <a:rPr kumimoji="1" lang="en-US" altLang="zh-CN" sz="2800" b="1" baseline="-25000" dirty="0">
                <a:solidFill>
                  <a:srgbClr val="000000"/>
                </a:solidFill>
                <a:latin typeface="Times New Roman" panose="02020603050405020304" pitchFamily="18" charset="0"/>
                <a:ea typeface="宋体" panose="02010600030101010101" pitchFamily="2" charset="-122"/>
              </a:rPr>
              <a:t> </a:t>
            </a:r>
            <a:r>
              <a:rPr kumimoji="1" lang="en-US" altLang="zh-CN" sz="28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solidFill>
                  <a:srgbClr val="000000"/>
                </a:solidFill>
                <a:latin typeface="Times New Roman" panose="02020603050405020304" pitchFamily="18" charset="0"/>
                <a:ea typeface="宋体" panose="02010600030101010101" pitchFamily="2" charset="-122"/>
              </a:rPr>
              <a:t>0.7 (</a:t>
            </a:r>
            <a:r>
              <a:rPr kumimoji="1" lang="en-US" altLang="zh-CN" sz="2800" b="1" i="1" dirty="0">
                <a:solidFill>
                  <a:srgbClr val="000000"/>
                </a:solidFill>
                <a:latin typeface="Times New Roman" panose="02020603050405020304" pitchFamily="18" charset="0"/>
                <a:ea typeface="宋体" panose="02010600030101010101" pitchFamily="2" charset="-122"/>
              </a:rPr>
              <a:t>R</a:t>
            </a:r>
            <a:r>
              <a:rPr kumimoji="1" lang="en-US" altLang="zh-CN" sz="2800" b="1" baseline="-25000" dirty="0">
                <a:solidFill>
                  <a:srgbClr val="000000"/>
                </a:solidFill>
                <a:latin typeface="Times New Roman" panose="02020603050405020304" pitchFamily="18" charset="0"/>
                <a:ea typeface="宋体" panose="02010600030101010101" pitchFamily="2" charset="-122"/>
              </a:rPr>
              <a:t>1 </a:t>
            </a: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en-US" altLang="zh-CN" sz="2800" b="1" i="1" dirty="0">
                <a:solidFill>
                  <a:srgbClr val="000000"/>
                </a:solidFill>
                <a:latin typeface="Times New Roman" panose="02020603050405020304" pitchFamily="18" charset="0"/>
                <a:ea typeface="宋体" panose="02010600030101010101" pitchFamily="2" charset="-122"/>
              </a:rPr>
              <a:t>R</a:t>
            </a:r>
            <a:r>
              <a:rPr kumimoji="1" lang="en-US" altLang="zh-CN" sz="2800" b="1" baseline="-25000" dirty="0">
                <a:solidFill>
                  <a:srgbClr val="000000"/>
                </a:solidFill>
                <a:latin typeface="Times New Roman" panose="02020603050405020304" pitchFamily="18" charset="0"/>
                <a:ea typeface="宋体" panose="02010600030101010101" pitchFamily="2" charset="-122"/>
              </a:rPr>
              <a:t>2</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C   </a:t>
            </a:r>
            <a:endParaRPr kumimoji="1" lang="en-US" altLang="zh-CN" sz="2800" b="1" i="1" dirty="0">
              <a:solidFill>
                <a:srgbClr val="000000"/>
              </a:solidFill>
              <a:latin typeface="Times New Roman" panose="02020603050405020304" pitchFamily="18" charset="0"/>
              <a:ea typeface="宋体" panose="02010600030101010101" pitchFamily="2" charset="-122"/>
            </a:endParaRPr>
          </a:p>
          <a:p>
            <a:pPr defTabSz="914400" fontAlgn="base">
              <a:spcBef>
                <a:spcPct val="30000"/>
              </a:spcBef>
              <a:spcAft>
                <a:spcPct val="0"/>
              </a:spcAft>
            </a:pPr>
            <a:r>
              <a:rPr kumimoji="1" lang="en-US" altLang="zh-CN" sz="2800" b="1" i="1" dirty="0" err="1">
                <a:solidFill>
                  <a:srgbClr val="000000"/>
                </a:solidFill>
                <a:latin typeface="Times New Roman" panose="02020603050405020304" pitchFamily="18" charset="0"/>
                <a:ea typeface="宋体" panose="02010600030101010101" pitchFamily="2" charset="-122"/>
              </a:rPr>
              <a:t>t</a:t>
            </a:r>
            <a:r>
              <a:rPr kumimoji="1" lang="en-US" altLang="zh-CN" sz="2800" b="1" baseline="-25000" dirty="0" err="1">
                <a:solidFill>
                  <a:srgbClr val="000000"/>
                </a:solidFill>
                <a:latin typeface="Times New Roman" panose="02020603050405020304" pitchFamily="18" charset="0"/>
                <a:ea typeface="宋体" panose="02010600030101010101" pitchFamily="2" charset="-122"/>
              </a:rPr>
              <a:t>PL</a:t>
            </a:r>
            <a:r>
              <a:rPr kumimoji="1" lang="en-US" altLang="zh-CN" sz="2800" b="1" baseline="-25000" dirty="0">
                <a:solidFill>
                  <a:srgbClr val="000000"/>
                </a:solidFill>
                <a:latin typeface="Times New Roman" panose="02020603050405020304" pitchFamily="18" charset="0"/>
                <a:ea typeface="宋体" panose="02010600030101010101" pitchFamily="2" charset="-122"/>
              </a:rPr>
              <a:t> </a:t>
            </a:r>
            <a:r>
              <a:rPr kumimoji="1" lang="en-US" altLang="zh-CN" sz="28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solidFill>
                  <a:srgbClr val="000000"/>
                </a:solidFill>
                <a:latin typeface="Times New Roman" panose="02020603050405020304" pitchFamily="18" charset="0"/>
                <a:ea typeface="宋体" panose="02010600030101010101" pitchFamily="2" charset="-122"/>
              </a:rPr>
              <a:t>0.7 </a:t>
            </a:r>
            <a:r>
              <a:rPr kumimoji="1" lang="en-US" altLang="zh-CN" sz="2800" b="1" i="1" dirty="0">
                <a:solidFill>
                  <a:srgbClr val="000000"/>
                </a:solidFill>
                <a:latin typeface="Times New Roman" panose="02020603050405020304" pitchFamily="18" charset="0"/>
                <a:ea typeface="宋体" panose="02010600030101010101" pitchFamily="2" charset="-122"/>
              </a:rPr>
              <a:t>R</a:t>
            </a:r>
            <a:r>
              <a:rPr kumimoji="1" lang="en-US" altLang="zh-CN" sz="2800" b="1" baseline="-25000" dirty="0">
                <a:solidFill>
                  <a:srgbClr val="000000"/>
                </a:solidFill>
                <a:latin typeface="Times New Roman" panose="02020603050405020304" pitchFamily="18" charset="0"/>
                <a:ea typeface="宋体" panose="02010600030101010101" pitchFamily="2" charset="-122"/>
              </a:rPr>
              <a:t>2</a:t>
            </a:r>
            <a:r>
              <a:rPr kumimoji="1" lang="en-US" altLang="zh-CN" sz="2800" b="1" i="1" dirty="0">
                <a:solidFill>
                  <a:srgbClr val="000000"/>
                </a:solidFill>
                <a:latin typeface="Times New Roman" panose="02020603050405020304" pitchFamily="18" charset="0"/>
                <a:ea typeface="宋体" panose="02010600030101010101" pitchFamily="2" charset="-122"/>
              </a:rPr>
              <a:t>C</a:t>
            </a:r>
            <a:endParaRPr kumimoji="1" lang="en-US" altLang="zh-CN" sz="2800" b="1" i="1" dirty="0">
              <a:solidFill>
                <a:srgbClr val="000000"/>
              </a:solidFill>
              <a:latin typeface="Times New Roman" panose="02020603050405020304" pitchFamily="18" charset="0"/>
              <a:ea typeface="宋体" panose="02010600030101010101" pitchFamily="2" charset="-122"/>
            </a:endParaRPr>
          </a:p>
        </p:txBody>
      </p:sp>
      <p:graphicFrame>
        <p:nvGraphicFramePr>
          <p:cNvPr id="124" name="Object 56"/>
          <p:cNvGraphicFramePr>
            <a:graphicFrameLocks noChangeAspect="1"/>
          </p:cNvGraphicFramePr>
          <p:nvPr/>
        </p:nvGraphicFramePr>
        <p:xfrm>
          <a:off x="5010428" y="5682283"/>
          <a:ext cx="2813050" cy="898525"/>
        </p:xfrm>
        <a:graphic>
          <a:graphicData uri="http://schemas.openxmlformats.org/presentationml/2006/ole">
            <mc:AlternateContent xmlns:mc="http://schemas.openxmlformats.org/markup-compatibility/2006">
              <mc:Choice xmlns:v="urn:schemas-microsoft-com:vml" Requires="v">
                <p:oleObj spid="_x0000_s23559" name="公式" r:id="rId2" imgW="1193800" imgH="431800" progId="Equation.3">
                  <p:embed/>
                </p:oleObj>
              </mc:Choice>
              <mc:Fallback>
                <p:oleObj name="公式" r:id="rId2" imgW="1193800" imgH="431800" progId="Equation.3">
                  <p:embed/>
                  <p:pic>
                    <p:nvPicPr>
                      <p:cNvPr id="0" name="图片 235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0428" y="5682283"/>
                        <a:ext cx="2813050" cy="8985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6" name="Group 59"/>
          <p:cNvGrpSpPr/>
          <p:nvPr/>
        </p:nvGrpSpPr>
        <p:grpSpPr bwMode="auto">
          <a:xfrm>
            <a:off x="247927" y="1117287"/>
            <a:ext cx="3409950" cy="5584825"/>
            <a:chOff x="198" y="681"/>
            <a:chExt cx="2148" cy="3518"/>
          </a:xfrm>
        </p:grpSpPr>
        <p:sp>
          <p:nvSpPr>
            <p:cNvPr id="127" name="Text Box 60"/>
            <p:cNvSpPr txBox="1">
              <a:spLocks noChangeArrowheads="1"/>
            </p:cNvSpPr>
            <p:nvPr/>
          </p:nvSpPr>
          <p:spPr bwMode="auto">
            <a:xfrm>
              <a:off x="382" y="1897"/>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i="1" kern="0" baseline="-25000">
                  <a:solidFill>
                    <a:srgbClr val="000000"/>
                  </a:solidFill>
                  <a:latin typeface="Times New Roman" panose="02020603050405020304" pitchFamily="18" charset="0"/>
                  <a:ea typeface="楷体_GB2312" pitchFamily="49" charset="-122"/>
                </a:rPr>
                <a:t>C</a:t>
              </a:r>
              <a:endParaRPr kumimoji="1" lang="en-US" altLang="zh-CN" sz="2000" b="1" i="1" kern="0" baseline="-25000">
                <a:solidFill>
                  <a:srgbClr val="000000"/>
                </a:solidFill>
                <a:latin typeface="Times New Roman" panose="02020603050405020304" pitchFamily="18" charset="0"/>
                <a:ea typeface="楷体_GB2312" pitchFamily="49" charset="-122"/>
              </a:endParaRPr>
            </a:p>
          </p:txBody>
        </p:sp>
        <p:sp>
          <p:nvSpPr>
            <p:cNvPr id="128" name="Text Box 61"/>
            <p:cNvSpPr txBox="1">
              <a:spLocks noChangeArrowheads="1"/>
            </p:cNvSpPr>
            <p:nvPr/>
          </p:nvSpPr>
          <p:spPr bwMode="auto">
            <a:xfrm>
              <a:off x="416" y="2819"/>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O</a:t>
              </a:r>
              <a:endParaRPr kumimoji="1" lang="en-US" altLang="zh-CN" sz="2000" b="1" i="1" kern="0">
                <a:solidFill>
                  <a:srgbClr val="000000"/>
                </a:solidFill>
                <a:latin typeface="Times New Roman" panose="02020603050405020304" pitchFamily="18" charset="0"/>
                <a:ea typeface="楷体_GB2312" pitchFamily="49" charset="-122"/>
              </a:endParaRPr>
            </a:p>
          </p:txBody>
        </p:sp>
        <p:sp>
          <p:nvSpPr>
            <p:cNvPr id="129" name="Freeform 62"/>
            <p:cNvSpPr/>
            <p:nvPr/>
          </p:nvSpPr>
          <p:spPr bwMode="auto">
            <a:xfrm flipH="1">
              <a:off x="669" y="2068"/>
              <a:ext cx="49" cy="865"/>
            </a:xfrm>
            <a:custGeom>
              <a:avLst/>
              <a:gdLst>
                <a:gd name="T0" fmla="*/ 0 w 1"/>
                <a:gd name="T1" fmla="*/ 1146 h 1146"/>
                <a:gd name="T2" fmla="*/ 0 w 1"/>
                <a:gd name="T3" fmla="*/ 0 h 1146"/>
              </a:gdLst>
              <a:ahLst/>
              <a:cxnLst>
                <a:cxn ang="0">
                  <a:pos x="T0" y="T1"/>
                </a:cxn>
                <a:cxn ang="0">
                  <a:pos x="T2" y="T3"/>
                </a:cxn>
              </a:cxnLst>
              <a:rect l="0" t="0" r="r" b="b"/>
              <a:pathLst>
                <a:path w="1" h="1146">
                  <a:moveTo>
                    <a:pt x="0" y="1146"/>
                  </a:moveTo>
                  <a:lnTo>
                    <a:pt x="0" y="0"/>
                  </a:lnTo>
                </a:path>
              </a:pathLst>
            </a:custGeom>
            <a:noFill/>
            <a:ln w="22225" cap="flat" cmpd="sng">
              <a:solidFill>
                <a:srgbClr val="000000"/>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0" name="Line 63"/>
            <p:cNvSpPr>
              <a:spLocks noChangeShapeType="1"/>
            </p:cNvSpPr>
            <p:nvPr/>
          </p:nvSpPr>
          <p:spPr bwMode="auto">
            <a:xfrm>
              <a:off x="710" y="2932"/>
              <a:ext cx="1398" cy="0"/>
            </a:xfrm>
            <a:prstGeom prst="line">
              <a:avLst/>
            </a:prstGeom>
            <a:noFill/>
            <a:ln w="22225">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1" name="Text Box 64"/>
            <p:cNvSpPr txBox="1">
              <a:spLocks noChangeArrowheads="1"/>
            </p:cNvSpPr>
            <p:nvPr/>
          </p:nvSpPr>
          <p:spPr bwMode="auto">
            <a:xfrm>
              <a:off x="1894" y="289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32" name="Text Box 65"/>
            <p:cNvSpPr txBox="1">
              <a:spLocks noChangeArrowheads="1"/>
            </p:cNvSpPr>
            <p:nvPr/>
          </p:nvSpPr>
          <p:spPr bwMode="auto">
            <a:xfrm>
              <a:off x="416" y="3876"/>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O</a:t>
              </a:r>
              <a:endParaRPr kumimoji="1" lang="en-US" altLang="zh-CN" sz="2000" b="1" i="1" kern="0">
                <a:solidFill>
                  <a:srgbClr val="000000"/>
                </a:solidFill>
                <a:latin typeface="Times New Roman" panose="02020603050405020304" pitchFamily="18" charset="0"/>
                <a:ea typeface="楷体_GB2312" pitchFamily="49" charset="-122"/>
              </a:endParaRPr>
            </a:p>
          </p:txBody>
        </p:sp>
        <p:sp>
          <p:nvSpPr>
            <p:cNvPr id="133" name="Text Box 66"/>
            <p:cNvSpPr txBox="1">
              <a:spLocks noChangeArrowheads="1"/>
            </p:cNvSpPr>
            <p:nvPr/>
          </p:nvSpPr>
          <p:spPr bwMode="auto">
            <a:xfrm>
              <a:off x="358" y="299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34" name="Freeform 67"/>
            <p:cNvSpPr/>
            <p:nvPr/>
          </p:nvSpPr>
          <p:spPr bwMode="auto">
            <a:xfrm flipH="1">
              <a:off x="668" y="3125"/>
              <a:ext cx="50" cy="852"/>
            </a:xfrm>
            <a:custGeom>
              <a:avLst/>
              <a:gdLst>
                <a:gd name="T0" fmla="*/ 0 w 1"/>
                <a:gd name="T1" fmla="*/ 1146 h 1146"/>
                <a:gd name="T2" fmla="*/ 0 w 1"/>
                <a:gd name="T3" fmla="*/ 0 h 1146"/>
              </a:gdLst>
              <a:ahLst/>
              <a:cxnLst>
                <a:cxn ang="0">
                  <a:pos x="T0" y="T1"/>
                </a:cxn>
                <a:cxn ang="0">
                  <a:pos x="T2" y="T3"/>
                </a:cxn>
              </a:cxnLst>
              <a:rect l="0" t="0" r="r" b="b"/>
              <a:pathLst>
                <a:path w="1" h="1146">
                  <a:moveTo>
                    <a:pt x="0" y="1146"/>
                  </a:moveTo>
                  <a:lnTo>
                    <a:pt x="0" y="0"/>
                  </a:lnTo>
                </a:path>
              </a:pathLst>
            </a:custGeom>
            <a:noFill/>
            <a:ln w="22225" cap="flat" cmpd="sng">
              <a:solidFill>
                <a:srgbClr val="000000"/>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5" name="Line 68"/>
            <p:cNvSpPr>
              <a:spLocks noChangeShapeType="1"/>
            </p:cNvSpPr>
            <p:nvPr/>
          </p:nvSpPr>
          <p:spPr bwMode="auto">
            <a:xfrm>
              <a:off x="710" y="3986"/>
              <a:ext cx="1391" cy="0"/>
            </a:xfrm>
            <a:prstGeom prst="line">
              <a:avLst/>
            </a:prstGeom>
            <a:noFill/>
            <a:ln w="22225">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6" name="Text Box 69"/>
            <p:cNvSpPr txBox="1">
              <a:spLocks noChangeArrowheads="1"/>
            </p:cNvSpPr>
            <p:nvPr/>
          </p:nvSpPr>
          <p:spPr bwMode="auto">
            <a:xfrm>
              <a:off x="1914" y="392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t</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37" name="Line 70"/>
            <p:cNvSpPr>
              <a:spLocks noChangeShapeType="1"/>
            </p:cNvSpPr>
            <p:nvPr/>
          </p:nvSpPr>
          <p:spPr bwMode="auto">
            <a:xfrm>
              <a:off x="710" y="2353"/>
              <a:ext cx="1307"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8" name="Line 71"/>
            <p:cNvSpPr>
              <a:spLocks noChangeShapeType="1"/>
            </p:cNvSpPr>
            <p:nvPr/>
          </p:nvSpPr>
          <p:spPr bwMode="auto">
            <a:xfrm>
              <a:off x="716" y="2649"/>
              <a:ext cx="1297"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39" name="Text Box 72"/>
            <p:cNvSpPr txBox="1">
              <a:spLocks noChangeArrowheads="1"/>
            </p:cNvSpPr>
            <p:nvPr/>
          </p:nvSpPr>
          <p:spPr bwMode="auto">
            <a:xfrm>
              <a:off x="208" y="364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OL</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40" name="Text Box 73"/>
            <p:cNvSpPr txBox="1">
              <a:spLocks noChangeArrowheads="1"/>
            </p:cNvSpPr>
            <p:nvPr/>
          </p:nvSpPr>
          <p:spPr bwMode="auto">
            <a:xfrm>
              <a:off x="198" y="3246"/>
              <a:ext cx="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fontAlgn="base">
                <a:spcBef>
                  <a:spcPct val="50000"/>
                </a:spcBef>
                <a:spcAft>
                  <a:spcPct val="0"/>
                </a:spcAft>
                <a:defRPr/>
              </a:pPr>
              <a:r>
                <a:rPr kumimoji="1" lang="en-US" altLang="zh-CN" sz="2000" b="1" i="1" kern="0">
                  <a:solidFill>
                    <a:srgbClr val="000000"/>
                  </a:solidFill>
                  <a:latin typeface="Times New Roman" panose="02020603050405020304" pitchFamily="18" charset="0"/>
                  <a:ea typeface="楷体_GB2312" pitchFamily="49" charset="-122"/>
                </a:rPr>
                <a:t>U</a:t>
              </a:r>
              <a:r>
                <a:rPr kumimoji="1" lang="en-US" altLang="zh-CN" sz="2000" b="1" kern="0" baseline="-25000">
                  <a:solidFill>
                    <a:srgbClr val="000000"/>
                  </a:solidFill>
                  <a:latin typeface="Times New Roman" panose="02020603050405020304" pitchFamily="18" charset="0"/>
                  <a:ea typeface="楷体_GB2312" pitchFamily="49" charset="-122"/>
                </a:rPr>
                <a:t>OH</a:t>
              </a:r>
              <a:endParaRPr kumimoji="1" lang="en-US" altLang="zh-CN" sz="2000" b="1" kern="0" baseline="-25000">
                <a:solidFill>
                  <a:srgbClr val="000000"/>
                </a:solidFill>
                <a:latin typeface="Times New Roman" panose="02020603050405020304" pitchFamily="18" charset="0"/>
                <a:ea typeface="楷体_GB2312" pitchFamily="49" charset="-122"/>
              </a:endParaRPr>
            </a:p>
          </p:txBody>
        </p:sp>
        <p:sp>
          <p:nvSpPr>
            <p:cNvPr id="141" name="Line 74"/>
            <p:cNvSpPr>
              <a:spLocks noChangeShapeType="1"/>
            </p:cNvSpPr>
            <p:nvPr/>
          </p:nvSpPr>
          <p:spPr bwMode="auto">
            <a:xfrm>
              <a:off x="1237" y="3374"/>
              <a:ext cx="285"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142" name="Line 75"/>
            <p:cNvSpPr>
              <a:spLocks noChangeShapeType="1"/>
            </p:cNvSpPr>
            <p:nvPr/>
          </p:nvSpPr>
          <p:spPr bwMode="auto">
            <a:xfrm>
              <a:off x="1248" y="3368"/>
              <a:ext cx="0" cy="50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02" name="Line 76"/>
            <p:cNvSpPr>
              <a:spLocks noChangeShapeType="1"/>
            </p:cNvSpPr>
            <p:nvPr/>
          </p:nvSpPr>
          <p:spPr bwMode="auto">
            <a:xfrm>
              <a:off x="716" y="3878"/>
              <a:ext cx="342" cy="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03" name="Line 77"/>
            <p:cNvSpPr>
              <a:spLocks noChangeShapeType="1"/>
            </p:cNvSpPr>
            <p:nvPr/>
          </p:nvSpPr>
          <p:spPr bwMode="auto">
            <a:xfrm>
              <a:off x="1064" y="3370"/>
              <a:ext cx="0" cy="51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04" name="Line 78"/>
            <p:cNvSpPr>
              <a:spLocks noChangeShapeType="1"/>
            </p:cNvSpPr>
            <p:nvPr/>
          </p:nvSpPr>
          <p:spPr bwMode="auto">
            <a:xfrm>
              <a:off x="716" y="3380"/>
              <a:ext cx="34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05" name="Line 79"/>
            <p:cNvSpPr>
              <a:spLocks noChangeShapeType="1"/>
            </p:cNvSpPr>
            <p:nvPr/>
          </p:nvSpPr>
          <p:spPr bwMode="auto">
            <a:xfrm>
              <a:off x="1053" y="3878"/>
              <a:ext cx="207"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06" name="Line 80"/>
            <p:cNvSpPr>
              <a:spLocks noChangeShapeType="1"/>
            </p:cNvSpPr>
            <p:nvPr/>
          </p:nvSpPr>
          <p:spPr bwMode="auto">
            <a:xfrm>
              <a:off x="1509" y="3368"/>
              <a:ext cx="0" cy="51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07" name="Line 81"/>
            <p:cNvSpPr>
              <a:spLocks noChangeShapeType="1"/>
            </p:cNvSpPr>
            <p:nvPr/>
          </p:nvSpPr>
          <p:spPr bwMode="auto">
            <a:xfrm>
              <a:off x="1690" y="3380"/>
              <a:ext cx="273"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08" name="Line 82"/>
            <p:cNvSpPr>
              <a:spLocks noChangeShapeType="1"/>
            </p:cNvSpPr>
            <p:nvPr/>
          </p:nvSpPr>
          <p:spPr bwMode="auto">
            <a:xfrm>
              <a:off x="1704" y="3374"/>
              <a:ext cx="0" cy="50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09" name="Line 83"/>
            <p:cNvSpPr>
              <a:spLocks noChangeShapeType="1"/>
            </p:cNvSpPr>
            <p:nvPr/>
          </p:nvSpPr>
          <p:spPr bwMode="auto">
            <a:xfrm>
              <a:off x="1501" y="3884"/>
              <a:ext cx="20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10" name="Line 84"/>
            <p:cNvSpPr>
              <a:spLocks noChangeShapeType="1"/>
            </p:cNvSpPr>
            <p:nvPr/>
          </p:nvSpPr>
          <p:spPr bwMode="auto">
            <a:xfrm>
              <a:off x="1947" y="3374"/>
              <a:ext cx="0" cy="51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11" name="Line 85"/>
            <p:cNvSpPr>
              <a:spLocks noChangeShapeType="1"/>
            </p:cNvSpPr>
            <p:nvPr/>
          </p:nvSpPr>
          <p:spPr bwMode="auto">
            <a:xfrm>
              <a:off x="1939" y="3884"/>
              <a:ext cx="8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12" name="Line 86"/>
            <p:cNvSpPr>
              <a:spLocks noChangeShapeType="1"/>
            </p:cNvSpPr>
            <p:nvPr/>
          </p:nvSpPr>
          <p:spPr bwMode="auto">
            <a:xfrm>
              <a:off x="1065" y="2348"/>
              <a:ext cx="0" cy="1145"/>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13" name="Line 87"/>
            <p:cNvSpPr>
              <a:spLocks noChangeShapeType="1"/>
            </p:cNvSpPr>
            <p:nvPr/>
          </p:nvSpPr>
          <p:spPr bwMode="auto">
            <a:xfrm>
              <a:off x="1247" y="2638"/>
              <a:ext cx="0" cy="879"/>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14" name="Line 88"/>
            <p:cNvSpPr>
              <a:spLocks noChangeShapeType="1"/>
            </p:cNvSpPr>
            <p:nvPr/>
          </p:nvSpPr>
          <p:spPr bwMode="auto">
            <a:xfrm>
              <a:off x="1511" y="2348"/>
              <a:ext cx="0" cy="116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15" name="Text Box 89"/>
            <p:cNvSpPr txBox="1">
              <a:spLocks noChangeArrowheads="1"/>
            </p:cNvSpPr>
            <p:nvPr/>
          </p:nvSpPr>
          <p:spPr bwMode="auto">
            <a:xfrm>
              <a:off x="1017" y="3497"/>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kern="0">
                  <a:solidFill>
                    <a:srgbClr val="CC3399"/>
                  </a:solidFill>
                  <a:latin typeface="Times New Roman" panose="02020603050405020304" pitchFamily="18" charset="0"/>
                  <a:ea typeface="楷体_GB2312" pitchFamily="49" charset="-122"/>
                </a:rPr>
                <a:t>Ⅱ</a:t>
              </a:r>
              <a:endParaRPr kumimoji="1" lang="en-US" altLang="zh-CN" sz="2000" b="1" kern="0">
                <a:solidFill>
                  <a:srgbClr val="CC3399"/>
                </a:solidFill>
                <a:latin typeface="Times New Roman" panose="02020603050405020304" pitchFamily="18" charset="0"/>
                <a:ea typeface="楷体_GB2312" pitchFamily="49" charset="-122"/>
              </a:endParaRPr>
            </a:p>
          </p:txBody>
        </p:sp>
        <p:sp>
          <p:nvSpPr>
            <p:cNvPr id="216" name="Line 90"/>
            <p:cNvSpPr>
              <a:spLocks noChangeShapeType="1"/>
            </p:cNvSpPr>
            <p:nvPr/>
          </p:nvSpPr>
          <p:spPr bwMode="auto">
            <a:xfrm>
              <a:off x="1241" y="3625"/>
              <a:ext cx="270"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17" name="Rectangle 91"/>
            <p:cNvSpPr>
              <a:spLocks noChangeArrowheads="1"/>
            </p:cNvSpPr>
            <p:nvPr/>
          </p:nvSpPr>
          <p:spPr bwMode="auto">
            <a:xfrm>
              <a:off x="805" y="352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218" name="Freeform 92"/>
            <p:cNvSpPr/>
            <p:nvPr/>
          </p:nvSpPr>
          <p:spPr bwMode="auto">
            <a:xfrm>
              <a:off x="725" y="2352"/>
              <a:ext cx="349" cy="579"/>
            </a:xfrm>
            <a:custGeom>
              <a:avLst/>
              <a:gdLst>
                <a:gd name="T0" fmla="*/ 0 w 255"/>
                <a:gd name="T1" fmla="*/ 579 h 579"/>
                <a:gd name="T2" fmla="*/ 123 w 255"/>
                <a:gd name="T3" fmla="*/ 186 h 579"/>
                <a:gd name="T4" fmla="*/ 255 w 255"/>
                <a:gd name="T5" fmla="*/ 0 h 579"/>
              </a:gdLst>
              <a:ahLst/>
              <a:cxnLst>
                <a:cxn ang="0">
                  <a:pos x="T0" y="T1"/>
                </a:cxn>
                <a:cxn ang="0">
                  <a:pos x="T2" y="T3"/>
                </a:cxn>
                <a:cxn ang="0">
                  <a:pos x="T4" y="T5"/>
                </a:cxn>
              </a:cxnLst>
              <a:rect l="0" t="0" r="r" b="b"/>
              <a:pathLst>
                <a:path w="255" h="579">
                  <a:moveTo>
                    <a:pt x="0" y="579"/>
                  </a:moveTo>
                  <a:cubicBezTo>
                    <a:pt x="20" y="514"/>
                    <a:pt x="81" y="282"/>
                    <a:pt x="123" y="186"/>
                  </a:cubicBezTo>
                  <a:cubicBezTo>
                    <a:pt x="165" y="90"/>
                    <a:pt x="227" y="39"/>
                    <a:pt x="255"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19" name="Freeform 93"/>
            <p:cNvSpPr/>
            <p:nvPr/>
          </p:nvSpPr>
          <p:spPr bwMode="auto">
            <a:xfrm>
              <a:off x="1252" y="2352"/>
              <a:ext cx="273"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20" name="Freeform 94"/>
            <p:cNvSpPr/>
            <p:nvPr/>
          </p:nvSpPr>
          <p:spPr bwMode="auto">
            <a:xfrm flipV="1">
              <a:off x="1071" y="2352"/>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22" name="Freeform 95"/>
            <p:cNvSpPr/>
            <p:nvPr/>
          </p:nvSpPr>
          <p:spPr bwMode="auto">
            <a:xfrm>
              <a:off x="1696" y="2352"/>
              <a:ext cx="266"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23" name="Freeform 96"/>
            <p:cNvSpPr/>
            <p:nvPr/>
          </p:nvSpPr>
          <p:spPr bwMode="auto">
            <a:xfrm flipV="1">
              <a:off x="1522" y="2352"/>
              <a:ext cx="177" cy="294"/>
            </a:xfrm>
            <a:custGeom>
              <a:avLst/>
              <a:gdLst>
                <a:gd name="T0" fmla="*/ 0 w 150"/>
                <a:gd name="T1" fmla="*/ 294 h 294"/>
                <a:gd name="T2" fmla="*/ 54 w 150"/>
                <a:gd name="T3" fmla="*/ 135 h 294"/>
                <a:gd name="T4" fmla="*/ 150 w 150"/>
                <a:gd name="T5" fmla="*/ 0 h 294"/>
              </a:gdLst>
              <a:ahLst/>
              <a:cxnLst>
                <a:cxn ang="0">
                  <a:pos x="T0" y="T1"/>
                </a:cxn>
                <a:cxn ang="0">
                  <a:pos x="T2" y="T3"/>
                </a:cxn>
                <a:cxn ang="0">
                  <a:pos x="T4" y="T5"/>
                </a:cxn>
              </a:cxnLst>
              <a:rect l="0" t="0" r="r" b="b"/>
              <a:pathLst>
                <a:path w="150" h="294">
                  <a:moveTo>
                    <a:pt x="0" y="294"/>
                  </a:moveTo>
                  <a:cubicBezTo>
                    <a:pt x="9" y="268"/>
                    <a:pt x="29" y="184"/>
                    <a:pt x="54" y="135"/>
                  </a:cubicBezTo>
                  <a:cubicBezTo>
                    <a:pt x="79" y="86"/>
                    <a:pt x="130" y="28"/>
                    <a:pt x="150"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24" name="Freeform 97"/>
            <p:cNvSpPr/>
            <p:nvPr/>
          </p:nvSpPr>
          <p:spPr bwMode="auto">
            <a:xfrm flipV="1">
              <a:off x="1952" y="2346"/>
              <a:ext cx="64" cy="144"/>
            </a:xfrm>
            <a:custGeom>
              <a:avLst/>
              <a:gdLst>
                <a:gd name="T0" fmla="*/ 0 w 54"/>
                <a:gd name="T1" fmla="*/ 144 h 144"/>
                <a:gd name="T2" fmla="*/ 30 w 54"/>
                <a:gd name="T3" fmla="*/ 51 h 144"/>
                <a:gd name="T4" fmla="*/ 54 w 54"/>
                <a:gd name="T5" fmla="*/ 0 h 144"/>
              </a:gdLst>
              <a:ahLst/>
              <a:cxnLst>
                <a:cxn ang="0">
                  <a:pos x="T0" y="T1"/>
                </a:cxn>
                <a:cxn ang="0">
                  <a:pos x="T2" y="T3"/>
                </a:cxn>
                <a:cxn ang="0">
                  <a:pos x="T4" y="T5"/>
                </a:cxn>
              </a:cxnLst>
              <a:rect l="0" t="0" r="r" b="b"/>
              <a:pathLst>
                <a:path w="54" h="144">
                  <a:moveTo>
                    <a:pt x="0" y="144"/>
                  </a:moveTo>
                  <a:cubicBezTo>
                    <a:pt x="5" y="129"/>
                    <a:pt x="21" y="75"/>
                    <a:pt x="30" y="51"/>
                  </a:cubicBezTo>
                  <a:cubicBezTo>
                    <a:pt x="39" y="27"/>
                    <a:pt x="49" y="11"/>
                    <a:pt x="54" y="0"/>
                  </a:cubicBezTo>
                </a:path>
              </a:pathLst>
            </a:custGeom>
            <a:noFill/>
            <a:ln w="38100" cap="flat"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25" name="Line 98"/>
            <p:cNvSpPr>
              <a:spLocks noChangeShapeType="1"/>
            </p:cNvSpPr>
            <p:nvPr/>
          </p:nvSpPr>
          <p:spPr bwMode="auto">
            <a:xfrm>
              <a:off x="1949" y="2348"/>
              <a:ext cx="0" cy="116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26" name="Line 99"/>
            <p:cNvSpPr>
              <a:spLocks noChangeShapeType="1"/>
            </p:cNvSpPr>
            <p:nvPr/>
          </p:nvSpPr>
          <p:spPr bwMode="auto">
            <a:xfrm>
              <a:off x="1697" y="2638"/>
              <a:ext cx="0" cy="879"/>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sy="50000" kx="-2453608" rotWithShape="0">
                      <a:schemeClr val="bg2"/>
                    </a:outerShdw>
                  </a:effectLst>
                </a14:hiddenEffects>
              </a:ext>
            </a:extLst>
          </p:spPr>
          <p:txBody>
            <a:bodyPr anchor="ct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27" name="Line 100"/>
            <p:cNvSpPr>
              <a:spLocks noChangeShapeType="1"/>
            </p:cNvSpPr>
            <p:nvPr/>
          </p:nvSpPr>
          <p:spPr bwMode="auto">
            <a:xfrm>
              <a:off x="1505" y="3625"/>
              <a:ext cx="198"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sp>
          <p:nvSpPr>
            <p:cNvPr id="228" name="Text Box 101"/>
            <p:cNvSpPr txBox="1">
              <a:spLocks noChangeArrowheads="1"/>
            </p:cNvSpPr>
            <p:nvPr/>
          </p:nvSpPr>
          <p:spPr bwMode="auto">
            <a:xfrm>
              <a:off x="1212" y="3336"/>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FF"/>
                  </a:solidFill>
                  <a:latin typeface="Times New Roman" panose="02020603050405020304" pitchFamily="18" charset="0"/>
                  <a:ea typeface="楷体_GB2312" pitchFamily="49" charset="-122"/>
                </a:rPr>
                <a:t>t</a:t>
              </a:r>
              <a:r>
                <a:rPr kumimoji="1" lang="en-US" altLang="zh-CN" sz="2000" b="1" kern="0" baseline="-25000">
                  <a:solidFill>
                    <a:srgbClr val="0000FF"/>
                  </a:solidFill>
                  <a:latin typeface="Times New Roman" panose="02020603050405020304" pitchFamily="18" charset="0"/>
                  <a:ea typeface="楷体_GB2312" pitchFamily="49" charset="-122"/>
                </a:rPr>
                <a:t>PH</a:t>
              </a:r>
              <a:endParaRPr kumimoji="1" lang="en-US" altLang="zh-CN" sz="2000" b="1" kern="0" baseline="-25000">
                <a:solidFill>
                  <a:srgbClr val="0000FF"/>
                </a:solidFill>
                <a:latin typeface="Times New Roman" panose="02020603050405020304" pitchFamily="18" charset="0"/>
                <a:ea typeface="楷体_GB2312" pitchFamily="49" charset="-122"/>
              </a:endParaRPr>
            </a:p>
          </p:txBody>
        </p:sp>
        <p:sp>
          <p:nvSpPr>
            <p:cNvPr id="229" name="Text Box 102"/>
            <p:cNvSpPr txBox="1">
              <a:spLocks noChangeArrowheads="1"/>
            </p:cNvSpPr>
            <p:nvPr/>
          </p:nvSpPr>
          <p:spPr bwMode="auto">
            <a:xfrm>
              <a:off x="1458" y="3336"/>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i="1" kern="0">
                  <a:solidFill>
                    <a:srgbClr val="0000FF"/>
                  </a:solidFill>
                  <a:latin typeface="Times New Roman" panose="02020603050405020304" pitchFamily="18" charset="0"/>
                  <a:ea typeface="楷体_GB2312" pitchFamily="49" charset="-122"/>
                </a:rPr>
                <a:t>t</a:t>
              </a:r>
              <a:r>
                <a:rPr kumimoji="1" lang="en-US" altLang="zh-CN" sz="2000" b="1" kern="0" baseline="-25000">
                  <a:solidFill>
                    <a:srgbClr val="0000FF"/>
                  </a:solidFill>
                  <a:latin typeface="Times New Roman" panose="02020603050405020304" pitchFamily="18" charset="0"/>
                  <a:ea typeface="楷体_GB2312" pitchFamily="49" charset="-122"/>
                </a:rPr>
                <a:t>PL</a:t>
              </a:r>
              <a:endParaRPr kumimoji="1" lang="en-US" altLang="zh-CN" sz="2000" b="1" kern="0" baseline="-25000">
                <a:solidFill>
                  <a:srgbClr val="0000FF"/>
                </a:solidFill>
                <a:latin typeface="Times New Roman" panose="02020603050405020304" pitchFamily="18" charset="0"/>
                <a:ea typeface="楷体_GB2312" pitchFamily="49" charset="-122"/>
              </a:endParaRPr>
            </a:p>
          </p:txBody>
        </p:sp>
        <p:graphicFrame>
          <p:nvGraphicFramePr>
            <p:cNvPr id="230" name="Object 103"/>
            <p:cNvGraphicFramePr>
              <a:graphicFrameLocks noChangeAspect="1"/>
            </p:cNvGraphicFramePr>
            <p:nvPr/>
          </p:nvGraphicFramePr>
          <p:xfrm>
            <a:off x="274" y="2082"/>
            <a:ext cx="424" cy="456"/>
          </p:xfrm>
          <a:graphic>
            <a:graphicData uri="http://schemas.openxmlformats.org/presentationml/2006/ole">
              <mc:AlternateContent xmlns:mc="http://schemas.openxmlformats.org/markup-compatibility/2006">
                <mc:Choice xmlns:v="urn:schemas-microsoft-com:vml" Requires="v">
                  <p:oleObj spid="_x0000_s23560" name="Equation" r:id="rId4" imgW="673100" imgH="723900" progId="Equation.3">
                    <p:embed/>
                  </p:oleObj>
                </mc:Choice>
                <mc:Fallback>
                  <p:oleObj name="Equation" r:id="rId4" imgW="673100" imgH="723900" progId="Equation.3">
                    <p:embed/>
                    <p:pic>
                      <p:nvPicPr>
                        <p:cNvPr id="0" name="图片 235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 y="2082"/>
                          <a:ext cx="424"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 name="Object 104"/>
            <p:cNvGraphicFramePr>
              <a:graphicFrameLocks noChangeAspect="1"/>
            </p:cNvGraphicFramePr>
            <p:nvPr/>
          </p:nvGraphicFramePr>
          <p:xfrm>
            <a:off x="274" y="2490"/>
            <a:ext cx="424" cy="456"/>
          </p:xfrm>
          <a:graphic>
            <a:graphicData uri="http://schemas.openxmlformats.org/presentationml/2006/ole">
              <mc:AlternateContent xmlns:mc="http://schemas.openxmlformats.org/markup-compatibility/2006">
                <mc:Choice xmlns:v="urn:schemas-microsoft-com:vml" Requires="v">
                  <p:oleObj spid="_x0000_s23561" name="Equation" r:id="rId6" imgW="673100" imgH="723900" progId="Equation.3">
                    <p:embed/>
                  </p:oleObj>
                </mc:Choice>
                <mc:Fallback>
                  <p:oleObj name="Equation" r:id="rId6" imgW="673100" imgH="723900" progId="Equation.3">
                    <p:embed/>
                    <p:pic>
                      <p:nvPicPr>
                        <p:cNvPr id="0" name="图片 235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 y="2490"/>
                          <a:ext cx="424" cy="456"/>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2" name="Rectangle 105"/>
            <p:cNvSpPr>
              <a:spLocks noChangeArrowheads="1"/>
            </p:cNvSpPr>
            <p:nvPr/>
          </p:nvSpPr>
          <p:spPr bwMode="auto">
            <a:xfrm>
              <a:off x="1741" y="352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00CC00"/>
                  </a:solidFill>
                  <a:latin typeface="Times New Roman" panose="02020603050405020304" pitchFamily="18" charset="0"/>
                  <a:ea typeface="楷体_GB2312" pitchFamily="49" charset="-122"/>
                </a:rPr>
                <a:t>Ⅰ</a:t>
              </a:r>
              <a:endParaRPr kumimoji="1" lang="en-US" altLang="zh-CN" sz="2000" b="1" kern="0">
                <a:solidFill>
                  <a:srgbClr val="00CC00"/>
                </a:solidFill>
                <a:latin typeface="Times New Roman" panose="02020603050405020304" pitchFamily="18" charset="0"/>
                <a:ea typeface="楷体_GB2312" pitchFamily="49" charset="-122"/>
              </a:endParaRPr>
            </a:p>
          </p:txBody>
        </p:sp>
        <p:sp>
          <p:nvSpPr>
            <p:cNvPr id="233" name="Rectangle 106"/>
            <p:cNvSpPr>
              <a:spLocks noChangeArrowheads="1"/>
            </p:cNvSpPr>
            <p:nvPr/>
          </p:nvSpPr>
          <p:spPr bwMode="auto">
            <a:xfrm>
              <a:off x="1297" y="3649"/>
              <a:ext cx="161" cy="192"/>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400" fontAlgn="base">
                <a:spcBef>
                  <a:spcPct val="0"/>
                </a:spcBef>
                <a:spcAft>
                  <a:spcPct val="0"/>
                </a:spcAft>
                <a:defRPr/>
              </a:pPr>
              <a:r>
                <a:rPr kumimoji="1" lang="en-US" altLang="zh-CN" sz="2000" b="1" kern="0">
                  <a:solidFill>
                    <a:srgbClr val="9900CC"/>
                  </a:solidFill>
                  <a:latin typeface="Times New Roman" panose="02020603050405020304" pitchFamily="18" charset="0"/>
                  <a:ea typeface="楷体_GB2312" pitchFamily="49" charset="-122"/>
                </a:rPr>
                <a:t>Ⅰ</a:t>
              </a:r>
              <a:endParaRPr kumimoji="1" lang="en-US" altLang="zh-CN" sz="2000" b="1" kern="0">
                <a:solidFill>
                  <a:srgbClr val="9900CC"/>
                </a:solidFill>
                <a:latin typeface="Times New Roman" panose="02020603050405020304" pitchFamily="18" charset="0"/>
                <a:ea typeface="楷体_GB2312" pitchFamily="49" charset="-122"/>
              </a:endParaRPr>
            </a:p>
          </p:txBody>
        </p:sp>
        <p:sp>
          <p:nvSpPr>
            <p:cNvPr id="234" name="Text Box 107"/>
            <p:cNvSpPr txBox="1">
              <a:spLocks noChangeArrowheads="1"/>
            </p:cNvSpPr>
            <p:nvPr/>
          </p:nvSpPr>
          <p:spPr bwMode="auto">
            <a:xfrm>
              <a:off x="1467" y="3611"/>
              <a:ext cx="2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defRPr/>
              </a:pPr>
              <a:r>
                <a:rPr kumimoji="1" lang="en-US" altLang="zh-CN" sz="2000" b="1" kern="0">
                  <a:solidFill>
                    <a:srgbClr val="CC3399"/>
                  </a:solidFill>
                  <a:latin typeface="Times New Roman" panose="02020603050405020304" pitchFamily="18" charset="0"/>
                  <a:ea typeface="楷体_GB2312" pitchFamily="49" charset="-122"/>
                </a:rPr>
                <a:t>Ⅱ</a:t>
              </a:r>
              <a:endParaRPr kumimoji="1" lang="en-US" altLang="zh-CN" sz="2000" b="1" kern="0">
                <a:solidFill>
                  <a:srgbClr val="CC3399"/>
                </a:solidFill>
                <a:latin typeface="Times New Roman" panose="02020603050405020304" pitchFamily="18" charset="0"/>
                <a:ea typeface="楷体_GB2312" pitchFamily="49" charset="-122"/>
              </a:endParaRPr>
            </a:p>
          </p:txBody>
        </p:sp>
        <p:graphicFrame>
          <p:nvGraphicFramePr>
            <p:cNvPr id="235" name="Object 108"/>
            <p:cNvGraphicFramePr>
              <a:graphicFrameLocks noChangeAspect="1"/>
            </p:cNvGraphicFramePr>
            <p:nvPr/>
          </p:nvGraphicFramePr>
          <p:xfrm>
            <a:off x="270" y="727"/>
            <a:ext cx="1939" cy="1207"/>
          </p:xfrm>
          <a:graphic>
            <a:graphicData uri="http://schemas.openxmlformats.org/presentationml/2006/ole">
              <mc:AlternateContent xmlns:mc="http://schemas.openxmlformats.org/markup-compatibility/2006">
                <mc:Choice xmlns:v="urn:schemas-microsoft-com:vml" Requires="v">
                  <p:oleObj spid="_x0000_s23562" name="BMP 图象" r:id="rId8" imgW="4238625" imgH="2933700" progId="Paint.Picture">
                    <p:embed/>
                  </p:oleObj>
                </mc:Choice>
                <mc:Fallback>
                  <p:oleObj name="BMP 图象" r:id="rId8" imgW="4238625" imgH="2933700" progId="Paint.Picture">
                    <p:embed/>
                    <p:pic>
                      <p:nvPicPr>
                        <p:cNvPr id="0" name="图片 235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 y="727"/>
                          <a:ext cx="1939" cy="1207"/>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6" name="AutoShape 109"/>
            <p:cNvSpPr>
              <a:spLocks noChangeArrowheads="1"/>
            </p:cNvSpPr>
            <p:nvPr/>
          </p:nvSpPr>
          <p:spPr bwMode="auto">
            <a:xfrm>
              <a:off x="225" y="681"/>
              <a:ext cx="1979" cy="3518"/>
            </a:xfrm>
            <a:prstGeom prst="flowChartProcess">
              <a:avLst/>
            </a:prstGeom>
            <a:noFill/>
            <a:ln w="57150">
              <a:pattFill prst="sphere">
                <a:fgClr>
                  <a:srgbClr val="CC99FF"/>
                </a:fgClr>
                <a:bgClr>
                  <a:srgbClr val="FFFFFF"/>
                </a:bgClr>
              </a:patt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914400" fontAlgn="base">
                <a:spcBef>
                  <a:spcPct val="0"/>
                </a:spcBef>
                <a:spcAft>
                  <a:spcPct val="0"/>
                </a:spcAft>
                <a:defRPr/>
              </a:pPr>
              <a:endParaRPr lang="zh-CN" altLang="en-US" b="1" kern="0">
                <a:solidFill>
                  <a:srgbClr val="000000"/>
                </a:solidFill>
                <a:latin typeface="Times New Roman" panose="02020603050405020304" pitchFamily="18" charset="0"/>
                <a:ea typeface="楷体_GB2312" pitchFamily="49" charset="-122"/>
              </a:endParaRPr>
            </a:p>
          </p:txBody>
        </p:sp>
      </p:grpSp>
      <p:sp>
        <p:nvSpPr>
          <p:cNvPr id="237" name="Rectangle 115"/>
          <p:cNvSpPr>
            <a:spLocks noChangeArrowheads="1"/>
          </p:cNvSpPr>
          <p:nvPr/>
        </p:nvSpPr>
        <p:spPr bwMode="auto">
          <a:xfrm>
            <a:off x="3789930" y="1739939"/>
            <a:ext cx="4581525" cy="58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tIns="76176" bIns="76176" anchor="ctr">
            <a:spAutoFit/>
          </a:bodyPr>
          <a:lstStyle/>
          <a:p>
            <a:pPr defTabSz="914400" fontAlgn="base">
              <a:spcBef>
                <a:spcPct val="0"/>
              </a:spcBef>
              <a:spcAft>
                <a:spcPct val="0"/>
              </a:spcAft>
            </a:pPr>
            <a:r>
              <a:rPr lang="en-US" altLang="zh-CN" sz="2800" b="1" dirty="0">
                <a:solidFill>
                  <a:srgbClr val="C00000"/>
                </a:solidFill>
                <a:latin typeface="Times New Roman" panose="02020603050405020304" pitchFamily="18" charset="0"/>
                <a:ea typeface="楷体_GB2312" pitchFamily="49" charset="-122"/>
              </a:rPr>
              <a:t>3.  </a:t>
            </a:r>
            <a:r>
              <a:rPr lang="zh-CN" altLang="en-US" sz="2800" b="1" dirty="0">
                <a:solidFill>
                  <a:srgbClr val="C00000"/>
                </a:solidFill>
                <a:latin typeface="Times New Roman" panose="02020603050405020304" pitchFamily="18" charset="0"/>
                <a:ea typeface="楷体_GB2312" pitchFamily="49" charset="-122"/>
                <a:sym typeface="Symbol" panose="05050102010706020507" pitchFamily="18" charset="2"/>
              </a:rPr>
              <a:t>振荡频率计算</a:t>
            </a:r>
            <a:endParaRPr lang="zh-CN" altLang="en-US" sz="2800" b="1" dirty="0">
              <a:solidFill>
                <a:srgbClr val="C00000"/>
              </a:solidFill>
              <a:latin typeface="Times New Roman" panose="02020603050405020304" pitchFamily="18" charset="0"/>
              <a:ea typeface="楷体_GB2312" pitchFamily="49" charset="-122"/>
              <a:sym typeface="Symbol" panose="05050102010706020507" pitchFamily="18" charset="2"/>
            </a:endParaRPr>
          </a:p>
        </p:txBody>
      </p:sp>
      <p:graphicFrame>
        <p:nvGraphicFramePr>
          <p:cNvPr id="238" name="Object 116"/>
          <p:cNvGraphicFramePr>
            <a:graphicFrameLocks noChangeAspect="1"/>
          </p:cNvGraphicFramePr>
          <p:nvPr/>
        </p:nvGraphicFramePr>
        <p:xfrm>
          <a:off x="4623712" y="4413766"/>
          <a:ext cx="3747743" cy="956980"/>
        </p:xfrm>
        <a:graphic>
          <a:graphicData uri="http://schemas.openxmlformats.org/presentationml/2006/ole">
            <mc:AlternateContent xmlns:mc="http://schemas.openxmlformats.org/markup-compatibility/2006">
              <mc:Choice xmlns:v="urn:schemas-microsoft-com:vml" Requires="v">
                <p:oleObj spid="_x0000_s23563" name="Equation" r:id="rId10" imgW="1688465" imgH="431800" progId="Equation.DSMT4">
                  <p:embed/>
                </p:oleObj>
              </mc:Choice>
              <mc:Fallback>
                <p:oleObj name="Equation" r:id="rId10" imgW="1688465" imgH="431800" progId="Equation.DSMT4">
                  <p:embed/>
                  <p:pic>
                    <p:nvPicPr>
                      <p:cNvPr id="0" name="图片 23562"/>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23712" y="4413766"/>
                        <a:ext cx="3747743" cy="956980"/>
                      </a:xfrm>
                      <a:prstGeom prst="rect">
                        <a:avLst/>
                      </a:prstGeom>
                      <a:noFill/>
                      <a:ln>
                        <a:noFill/>
                      </a:ln>
                      <a:effectLst/>
                    </p:spPr>
                  </p:pic>
                </p:oleObj>
              </mc:Fallback>
            </mc:AlternateContent>
          </a:graphicData>
        </a:graphic>
      </p:graphicFrame>
      <p:sp>
        <p:nvSpPr>
          <p:cNvPr id="2" name="文本框 1"/>
          <p:cNvSpPr txBox="1"/>
          <p:nvPr/>
        </p:nvSpPr>
        <p:spPr>
          <a:xfrm>
            <a:off x="3593563" y="4633348"/>
            <a:ext cx="1058861" cy="523220"/>
          </a:xfrm>
          <a:prstGeom prst="rect">
            <a:avLst/>
          </a:prstGeom>
          <a:noFill/>
        </p:spPr>
        <p:txBody>
          <a:bodyPr wrap="square" rtlCol="0">
            <a:spAutoFit/>
          </a:bodyPr>
          <a:lstStyle/>
          <a:p>
            <a:r>
              <a:rPr lang="zh-CN" altLang="en-US" sz="2800" b="1" dirty="0">
                <a:solidFill>
                  <a:srgbClr val="0000FF"/>
                </a:solidFill>
              </a:rPr>
              <a:t>频率：</a:t>
            </a:r>
            <a:endParaRPr lang="zh-CN" altLang="en-US" sz="2800" b="1" dirty="0">
              <a:solidFill>
                <a:srgbClr val="0000FF"/>
              </a:solidFill>
            </a:endParaRPr>
          </a:p>
        </p:txBody>
      </p:sp>
      <p:sp>
        <p:nvSpPr>
          <p:cNvPr id="3" name="矩形 2"/>
          <p:cNvSpPr/>
          <p:nvPr/>
        </p:nvSpPr>
        <p:spPr>
          <a:xfrm>
            <a:off x="4537351" y="3803665"/>
            <a:ext cx="4687612" cy="523220"/>
          </a:xfrm>
          <a:prstGeom prst="rect">
            <a:avLst/>
          </a:prstGeom>
        </p:spPr>
        <p:txBody>
          <a:bodyPr wrap="square">
            <a:spAutoFit/>
          </a:bodyPr>
          <a:lstStyle/>
          <a:p>
            <a:pPr defTabSz="914400" fontAlgn="base">
              <a:spcBef>
                <a:spcPct val="30000"/>
              </a:spcBef>
              <a:spcAft>
                <a:spcPct val="0"/>
              </a:spcAft>
            </a:pPr>
            <a:r>
              <a:rPr kumimoji="1" lang="en-US" altLang="zh-CN" sz="2800" b="1" i="1" dirty="0">
                <a:solidFill>
                  <a:srgbClr val="000000"/>
                </a:solidFill>
                <a:latin typeface="Times New Roman" panose="02020603050405020304" pitchFamily="18" charset="0"/>
                <a:ea typeface="宋体" panose="02010600030101010101" pitchFamily="2" charset="-122"/>
              </a:rPr>
              <a:t>T </a:t>
            </a: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en-US" altLang="zh-CN" sz="2800" b="1" i="1" dirty="0" err="1">
                <a:solidFill>
                  <a:srgbClr val="000000"/>
                </a:solidFill>
                <a:latin typeface="Times New Roman" panose="02020603050405020304" pitchFamily="18" charset="0"/>
                <a:ea typeface="宋体" panose="02010600030101010101" pitchFamily="2" charset="-122"/>
              </a:rPr>
              <a:t>t</a:t>
            </a:r>
            <a:r>
              <a:rPr kumimoji="1" lang="en-US" altLang="zh-CN" sz="2800" b="1" baseline="-25000" dirty="0" err="1">
                <a:solidFill>
                  <a:srgbClr val="000000"/>
                </a:solidFill>
                <a:latin typeface="Times New Roman" panose="02020603050405020304" pitchFamily="18" charset="0"/>
                <a:ea typeface="宋体" panose="02010600030101010101" pitchFamily="2" charset="-122"/>
              </a:rPr>
              <a:t>PH</a:t>
            </a:r>
            <a:r>
              <a:rPr kumimoji="1" lang="en-US" altLang="zh-CN" sz="2800" b="1" baseline="-25000" dirty="0">
                <a:solidFill>
                  <a:srgbClr val="000000"/>
                </a:solidFill>
                <a:latin typeface="Times New Roman" panose="02020603050405020304" pitchFamily="18" charset="0"/>
                <a:ea typeface="宋体" panose="02010600030101010101" pitchFamily="2" charset="-122"/>
              </a:rPr>
              <a:t> </a:t>
            </a:r>
            <a:r>
              <a:rPr kumimoji="1" lang="en-US" altLang="zh-CN" sz="2800" b="1" dirty="0">
                <a:solidFill>
                  <a:srgbClr val="000000"/>
                </a:solidFill>
                <a:latin typeface="Times New Roman" panose="02020603050405020304" pitchFamily="18" charset="0"/>
                <a:ea typeface="宋体" panose="02010600030101010101" pitchFamily="2" charset="-122"/>
              </a:rPr>
              <a:t>+ </a:t>
            </a:r>
            <a:r>
              <a:rPr kumimoji="1" lang="en-US" altLang="zh-CN" sz="2800" b="1" i="1" dirty="0" err="1">
                <a:solidFill>
                  <a:srgbClr val="000000"/>
                </a:solidFill>
                <a:latin typeface="Times New Roman" panose="02020603050405020304" pitchFamily="18" charset="0"/>
                <a:ea typeface="宋体" panose="02010600030101010101" pitchFamily="2" charset="-122"/>
              </a:rPr>
              <a:t>t</a:t>
            </a:r>
            <a:r>
              <a:rPr kumimoji="1" lang="en-US" altLang="zh-CN" sz="2800" b="1" baseline="-25000" dirty="0" err="1">
                <a:solidFill>
                  <a:srgbClr val="000000"/>
                </a:solidFill>
                <a:latin typeface="Times New Roman" panose="02020603050405020304" pitchFamily="18" charset="0"/>
                <a:ea typeface="宋体" panose="02010600030101010101" pitchFamily="2" charset="-122"/>
              </a:rPr>
              <a:t>PL</a:t>
            </a:r>
            <a:r>
              <a:rPr kumimoji="1" lang="en-US" altLang="zh-CN" sz="2800" b="1" baseline="-25000" dirty="0">
                <a:solidFill>
                  <a:srgbClr val="000000"/>
                </a:solidFill>
                <a:latin typeface="Times New Roman" panose="02020603050405020304" pitchFamily="18" charset="0"/>
                <a:ea typeface="宋体" panose="02010600030101010101" pitchFamily="2" charset="-122"/>
              </a:rPr>
              <a:t> </a:t>
            </a:r>
            <a:r>
              <a:rPr kumimoji="1" lang="en-US" altLang="zh-CN" sz="28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solidFill>
                  <a:srgbClr val="000000"/>
                </a:solidFill>
                <a:latin typeface="Times New Roman" panose="02020603050405020304" pitchFamily="18" charset="0"/>
                <a:ea typeface="宋体" panose="02010600030101010101" pitchFamily="2" charset="-122"/>
              </a:rPr>
              <a:t>0.7 (</a:t>
            </a:r>
            <a:r>
              <a:rPr kumimoji="1" lang="en-US" altLang="zh-CN" sz="2800" b="1" i="1" dirty="0">
                <a:solidFill>
                  <a:srgbClr val="000000"/>
                </a:solidFill>
                <a:latin typeface="Times New Roman" panose="02020603050405020304" pitchFamily="18" charset="0"/>
                <a:ea typeface="宋体" panose="02010600030101010101" pitchFamily="2" charset="-122"/>
              </a:rPr>
              <a:t>R</a:t>
            </a:r>
            <a:r>
              <a:rPr kumimoji="1" lang="en-US" altLang="zh-CN" sz="2800" b="1" baseline="-25000" dirty="0">
                <a:solidFill>
                  <a:srgbClr val="000000"/>
                </a:solidFill>
                <a:latin typeface="Times New Roman" panose="02020603050405020304" pitchFamily="18" charset="0"/>
                <a:ea typeface="宋体" panose="02010600030101010101" pitchFamily="2" charset="-122"/>
              </a:rPr>
              <a:t>1 </a:t>
            </a:r>
            <a:r>
              <a:rPr kumimoji="1" lang="en-US" altLang="zh-CN" sz="2800" b="1" dirty="0">
                <a:solidFill>
                  <a:srgbClr val="000000"/>
                </a:solidFill>
                <a:latin typeface="Times New Roman" panose="02020603050405020304" pitchFamily="18" charset="0"/>
                <a:ea typeface="宋体" panose="02010600030101010101" pitchFamily="2" charset="-122"/>
              </a:rPr>
              <a:t>+ 2</a:t>
            </a:r>
            <a:r>
              <a:rPr kumimoji="1" lang="en-US" altLang="zh-CN" sz="2800" b="1" i="1" dirty="0">
                <a:solidFill>
                  <a:srgbClr val="000000"/>
                </a:solidFill>
                <a:latin typeface="Times New Roman" panose="02020603050405020304" pitchFamily="18" charset="0"/>
                <a:ea typeface="宋体" panose="02010600030101010101" pitchFamily="2" charset="-122"/>
              </a:rPr>
              <a:t>R</a:t>
            </a:r>
            <a:r>
              <a:rPr kumimoji="1" lang="en-US" altLang="zh-CN" sz="2800" b="1" baseline="-25000" dirty="0">
                <a:solidFill>
                  <a:srgbClr val="000000"/>
                </a:solidFill>
                <a:latin typeface="Times New Roman" panose="02020603050405020304" pitchFamily="18" charset="0"/>
                <a:ea typeface="宋体" panose="02010600030101010101" pitchFamily="2" charset="-122"/>
              </a:rPr>
              <a:t>2</a:t>
            </a:r>
            <a:r>
              <a:rPr kumimoji="1" lang="en-US" altLang="zh-CN" sz="2800" b="1" dirty="0">
                <a:solidFill>
                  <a:srgbClr val="000000"/>
                </a:solidFill>
                <a:latin typeface="Times New Roman" panose="02020603050405020304" pitchFamily="18" charset="0"/>
                <a:ea typeface="宋体" panose="02010600030101010101" pitchFamily="2" charset="-122"/>
              </a:rPr>
              <a:t>)</a:t>
            </a:r>
            <a:r>
              <a:rPr kumimoji="1" lang="en-US" altLang="zh-CN" sz="2800" b="1" i="1" dirty="0">
                <a:solidFill>
                  <a:srgbClr val="000000"/>
                </a:solidFill>
                <a:latin typeface="Times New Roman" panose="02020603050405020304" pitchFamily="18" charset="0"/>
                <a:ea typeface="宋体" panose="02010600030101010101" pitchFamily="2" charset="-122"/>
              </a:rPr>
              <a:t>C</a:t>
            </a:r>
            <a:endParaRPr kumimoji="1" lang="en-US" altLang="zh-CN" sz="2800" b="1" dirty="0">
              <a:solidFill>
                <a:srgbClr val="000000"/>
              </a:solidFill>
              <a:latin typeface="Times New Roman" panose="02020603050405020304" pitchFamily="18" charset="0"/>
              <a:ea typeface="宋体" panose="02010600030101010101" pitchFamily="2" charset="-122"/>
            </a:endParaRPr>
          </a:p>
        </p:txBody>
      </p:sp>
      <p:sp>
        <p:nvSpPr>
          <p:cNvPr id="239" name="文本框 238"/>
          <p:cNvSpPr txBox="1"/>
          <p:nvPr/>
        </p:nvSpPr>
        <p:spPr>
          <a:xfrm>
            <a:off x="3583265" y="3854034"/>
            <a:ext cx="1058861" cy="523220"/>
          </a:xfrm>
          <a:prstGeom prst="rect">
            <a:avLst/>
          </a:prstGeom>
          <a:noFill/>
        </p:spPr>
        <p:txBody>
          <a:bodyPr wrap="square" rtlCol="0">
            <a:spAutoFit/>
          </a:bodyPr>
          <a:lstStyle/>
          <a:p>
            <a:r>
              <a:rPr lang="zh-CN" altLang="en-US" sz="2800" b="1" dirty="0">
                <a:solidFill>
                  <a:srgbClr val="0000FF"/>
                </a:solidFill>
              </a:rPr>
              <a:t>周期：</a:t>
            </a:r>
            <a:endParaRPr lang="zh-CN" altLang="en-US" sz="2800" b="1" dirty="0">
              <a:solidFill>
                <a:srgbClr val="0000FF"/>
              </a:solidFill>
            </a:endParaRPr>
          </a:p>
        </p:txBody>
      </p:sp>
      <p:sp>
        <p:nvSpPr>
          <p:cNvPr id="240" name="文本框 239"/>
          <p:cNvSpPr txBox="1"/>
          <p:nvPr/>
        </p:nvSpPr>
        <p:spPr>
          <a:xfrm>
            <a:off x="3551236" y="5873437"/>
            <a:ext cx="1378509" cy="523220"/>
          </a:xfrm>
          <a:prstGeom prst="rect">
            <a:avLst/>
          </a:prstGeom>
          <a:noFill/>
        </p:spPr>
        <p:txBody>
          <a:bodyPr wrap="square" rtlCol="0">
            <a:spAutoFit/>
          </a:bodyPr>
          <a:lstStyle/>
          <a:p>
            <a:r>
              <a:rPr lang="zh-CN" altLang="en-US" sz="2800" b="1" dirty="0">
                <a:solidFill>
                  <a:srgbClr val="0000FF"/>
                </a:solidFill>
              </a:rPr>
              <a:t>占空比：</a:t>
            </a:r>
            <a:endParaRPr lang="zh-CN" altLang="en-US" sz="2800" b="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
                                        </p:tgtEl>
                                        <p:attrNameLst>
                                          <p:attrName>style.visibility</p:attrName>
                                        </p:attrNameLst>
                                      </p:cBhvr>
                                      <p:to>
                                        <p:strVal val="visible"/>
                                      </p:to>
                                    </p:set>
                                    <p:animEffect transition="in" filter="blinds(horizontal)">
                                      <p:cBhvr>
                                        <p:cTn id="7" dur="500"/>
                                        <p:tgtEl>
                                          <p:spTgt spid="2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3"/>
                                        </p:tgtEl>
                                        <p:attrNameLst>
                                          <p:attrName>style.visibility</p:attrName>
                                        </p:attrNameLst>
                                      </p:cBhvr>
                                      <p:to>
                                        <p:strVal val="visible"/>
                                      </p:to>
                                    </p:set>
                                    <p:animEffect transition="in" filter="wipe(left)">
                                      <p:cBhvr>
                                        <p:cTn id="11" dur="500"/>
                                        <p:tgtEl>
                                          <p:spTgt spid="12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39"/>
                                        </p:tgtEl>
                                        <p:attrNameLst>
                                          <p:attrName>style.visibility</p:attrName>
                                        </p:attrNameLst>
                                      </p:cBhvr>
                                      <p:to>
                                        <p:strVal val="visible"/>
                                      </p:to>
                                    </p:set>
                                    <p:animEffect transition="in" filter="fade">
                                      <p:cBhvr>
                                        <p:cTn id="16" dur="500"/>
                                        <p:tgtEl>
                                          <p:spTgt spid="2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nodeType="withEffect">
                                  <p:stCondLst>
                                    <p:cond delay="0"/>
                                  </p:stCondLst>
                                  <p:childTnLst>
                                    <p:set>
                                      <p:cBhvr>
                                        <p:cTn id="26" dur="1" fill="hold">
                                          <p:stCondLst>
                                            <p:cond delay="0"/>
                                          </p:stCondLst>
                                        </p:cTn>
                                        <p:tgtEl>
                                          <p:spTgt spid="238"/>
                                        </p:tgtEl>
                                        <p:attrNameLst>
                                          <p:attrName>style.visibility</p:attrName>
                                        </p:attrNameLst>
                                      </p:cBhvr>
                                      <p:to>
                                        <p:strVal val="visible"/>
                                      </p:to>
                                    </p:set>
                                    <p:animEffect transition="in" filter="fade">
                                      <p:cBhvr>
                                        <p:cTn id="27" dur="500"/>
                                        <p:tgtEl>
                                          <p:spTgt spid="2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0"/>
                                        </p:tgtEl>
                                        <p:attrNameLst>
                                          <p:attrName>style.visibility</p:attrName>
                                        </p:attrNameLst>
                                      </p:cBhvr>
                                      <p:to>
                                        <p:strVal val="visible"/>
                                      </p:to>
                                    </p:set>
                                    <p:animEffect transition="in" filter="fade">
                                      <p:cBhvr>
                                        <p:cTn id="32" dur="500"/>
                                        <p:tgtEl>
                                          <p:spTgt spid="240"/>
                                        </p:tgtEl>
                                      </p:cBhvr>
                                    </p:animEffect>
                                  </p:childTnLst>
                                </p:cTn>
                              </p:par>
                              <p:par>
                                <p:cTn id="33" presetID="10" presetClass="entr" presetSubtype="0" fill="hold" nodeType="withEffect">
                                  <p:stCondLst>
                                    <p:cond delay="0"/>
                                  </p:stCondLst>
                                  <p:childTnLst>
                                    <p:set>
                                      <p:cBhvr>
                                        <p:cTn id="34" dur="1" fill="hold">
                                          <p:stCondLst>
                                            <p:cond delay="0"/>
                                          </p:stCondLst>
                                        </p:cTn>
                                        <p:tgtEl>
                                          <p:spTgt spid="124"/>
                                        </p:tgtEl>
                                        <p:attrNameLst>
                                          <p:attrName>style.visibility</p:attrName>
                                        </p:attrNameLst>
                                      </p:cBhvr>
                                      <p:to>
                                        <p:strVal val="visible"/>
                                      </p:to>
                                    </p:set>
                                    <p:animEffect transition="in" filter="fade">
                                      <p:cBhvr>
                                        <p:cTn id="35"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utoUpdateAnimBg="0"/>
      <p:bldP spid="237" grpId="0"/>
      <p:bldP spid="2" grpId="0"/>
      <p:bldP spid="3" grpId="0"/>
      <p:bldP spid="239" grpId="0"/>
      <p:bldP spid="24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fld id="{F11BBE11-2B68-44D4-8D33-5BE2B8368F27}" type="slidenum">
              <a:rPr lang="en-US" altLang="zh-CN" i="0">
                <a:latin typeface="Times New Roman" panose="02020603050405020304" pitchFamily="18" charset="0"/>
              </a:rPr>
            </a:fld>
            <a:endParaRPr lang="en-US" altLang="zh-CN" i="0">
              <a:latin typeface="Times New Roman" panose="02020603050405020304" pitchFamily="18" charset="0"/>
            </a:endParaRPr>
          </a:p>
        </p:txBody>
      </p:sp>
      <p:sp>
        <p:nvSpPr>
          <p:cNvPr id="268291" name="Text Box 3"/>
          <p:cNvSpPr txBox="1">
            <a:spLocks noChangeArrowheads="1"/>
          </p:cNvSpPr>
          <p:nvPr/>
        </p:nvSpPr>
        <p:spPr bwMode="auto">
          <a:xfrm>
            <a:off x="547688" y="7620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b="1" i="0">
                <a:solidFill>
                  <a:schemeClr val="tx2"/>
                </a:solidFill>
                <a:latin typeface="宋体" panose="02010600030101010101" pitchFamily="2" charset="-122"/>
                <a:cs typeface="Times New Roman" panose="02020603050405020304" pitchFamily="18" charset="0"/>
              </a:rPr>
              <a:t>    2</a:t>
            </a:r>
            <a:r>
              <a:rPr kumimoji="1" lang="zh-CN" altLang="en-US" sz="2400" b="1" i="0">
                <a:solidFill>
                  <a:schemeClr val="tx2"/>
                </a:solidFill>
                <a:latin typeface="宋体" panose="02010600030101010101" pitchFamily="2" charset="-122"/>
                <a:cs typeface="Times New Roman" panose="02020603050405020304" pitchFamily="18" charset="0"/>
              </a:rPr>
              <a:t>．用</a:t>
            </a:r>
            <a:r>
              <a:rPr kumimoji="1" lang="en-US" altLang="zh-CN" sz="2400" b="1" i="0">
                <a:solidFill>
                  <a:schemeClr val="tx2"/>
                </a:solidFill>
                <a:latin typeface="宋体" panose="02010600030101010101" pitchFamily="2" charset="-122"/>
                <a:cs typeface="Times New Roman" panose="02020603050405020304" pitchFamily="18" charset="0"/>
              </a:rPr>
              <a:t>5G555</a:t>
            </a:r>
            <a:r>
              <a:rPr kumimoji="1" lang="zh-CN" altLang="en-US" sz="2400" b="1" i="0">
                <a:solidFill>
                  <a:schemeClr val="tx2"/>
                </a:solidFill>
                <a:latin typeface="宋体" panose="02010600030101010101" pitchFamily="2" charset="-122"/>
                <a:cs typeface="Times New Roman" panose="02020603050405020304" pitchFamily="18" charset="0"/>
              </a:rPr>
              <a:t>构成施密特触发器 </a:t>
            </a:r>
            <a:endParaRPr kumimoji="1" lang="zh-CN" altLang="en-US" sz="2400" b="1" i="0">
              <a:solidFill>
                <a:schemeClr val="tx2"/>
              </a:solidFill>
              <a:latin typeface="宋体" panose="02010600030101010101" pitchFamily="2" charset="-122"/>
              <a:cs typeface="Times New Roman" panose="02020603050405020304" pitchFamily="18" charset="0"/>
            </a:endParaRPr>
          </a:p>
        </p:txBody>
      </p:sp>
      <p:sp>
        <p:nvSpPr>
          <p:cNvPr id="268292" name="Text Box 4"/>
          <p:cNvSpPr txBox="1">
            <a:spLocks noChangeArrowheads="1"/>
          </p:cNvSpPr>
          <p:nvPr/>
        </p:nvSpPr>
        <p:spPr bwMode="auto">
          <a:xfrm>
            <a:off x="485775" y="1371600"/>
            <a:ext cx="4162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b="1" i="0">
                <a:solidFill>
                  <a:schemeClr val="tx2"/>
                </a:solidFill>
                <a:latin typeface="宋体" panose="02010600030101010101" pitchFamily="2" charset="-122"/>
              </a:rPr>
              <a:t>    </a:t>
            </a:r>
            <a:r>
              <a:rPr kumimoji="1" lang="en-US" altLang="zh-CN" sz="2400" b="1" i="0">
                <a:solidFill>
                  <a:srgbClr val="0000CC"/>
                </a:solidFill>
                <a:latin typeface="宋体" panose="02010600030101010101" pitchFamily="2" charset="-122"/>
              </a:rPr>
              <a:t>(</a:t>
            </a:r>
            <a:r>
              <a:rPr kumimoji="1" lang="en-US" altLang="zh-CN" sz="2400" b="1" i="0">
                <a:solidFill>
                  <a:srgbClr val="0000CC"/>
                </a:solidFill>
                <a:latin typeface="宋体" panose="02010600030101010101" pitchFamily="2" charset="-122"/>
                <a:cs typeface="Times New Roman" panose="02020603050405020304" pitchFamily="18" charset="0"/>
              </a:rPr>
              <a:t>1) </a:t>
            </a:r>
            <a:r>
              <a:rPr kumimoji="1" lang="zh-CN" altLang="en-US" sz="2400" b="1" i="0">
                <a:solidFill>
                  <a:srgbClr val="0000CC"/>
                </a:solidFill>
                <a:latin typeface="宋体" panose="02010600030101010101" pitchFamily="2" charset="-122"/>
                <a:cs typeface="Times New Roman" panose="02020603050405020304" pitchFamily="18" charset="0"/>
              </a:rPr>
              <a:t>施密特触发器 </a:t>
            </a:r>
            <a:endParaRPr kumimoji="1" lang="zh-CN" altLang="en-US" sz="2400" b="1" i="0">
              <a:solidFill>
                <a:srgbClr val="0000CC"/>
              </a:solidFill>
              <a:latin typeface="宋体" panose="02010600030101010101" pitchFamily="2" charset="-122"/>
              <a:cs typeface="Times New Roman" panose="02020603050405020304" pitchFamily="18" charset="0"/>
            </a:endParaRPr>
          </a:p>
        </p:txBody>
      </p:sp>
      <p:sp>
        <p:nvSpPr>
          <p:cNvPr id="268293" name="Text Box 5"/>
          <p:cNvSpPr txBox="1">
            <a:spLocks noChangeArrowheads="1"/>
          </p:cNvSpPr>
          <p:nvPr/>
        </p:nvSpPr>
        <p:spPr bwMode="auto">
          <a:xfrm>
            <a:off x="547688" y="1905000"/>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i="0">
                <a:latin typeface="宋体" panose="02010600030101010101" pitchFamily="2" charset="-122"/>
                <a:cs typeface="Times New Roman" panose="02020603050405020304" pitchFamily="18" charset="0"/>
              </a:rPr>
              <a:t>    </a:t>
            </a:r>
            <a:r>
              <a:rPr kumimoji="1" lang="zh-CN" altLang="en-US" sz="2400" i="0">
                <a:latin typeface="宋体" panose="02010600030101010101" pitchFamily="2" charset="-122"/>
                <a:cs typeface="Times New Roman" panose="02020603050405020304" pitchFamily="18" charset="0"/>
              </a:rPr>
              <a:t>施密特触发器是一种特殊的双稳态时序电路，与一般的双稳态触发器相比，它具有如下</a:t>
            </a:r>
            <a:r>
              <a:rPr kumimoji="1" lang="zh-CN" altLang="en-US" sz="2400" b="1" i="0">
                <a:solidFill>
                  <a:srgbClr val="FF9933"/>
                </a:solidFill>
                <a:latin typeface="宋体" panose="02010600030101010101" pitchFamily="2" charset="-122"/>
                <a:cs typeface="Times New Roman" panose="02020603050405020304" pitchFamily="18" charset="0"/>
              </a:rPr>
              <a:t>两个特点：</a:t>
            </a:r>
            <a:r>
              <a:rPr kumimoji="1" lang="zh-CN" altLang="en-US" sz="2400" i="0">
                <a:latin typeface="宋体" panose="02010600030101010101" pitchFamily="2" charset="-122"/>
                <a:cs typeface="Times New Roman" panose="02020603050405020304" pitchFamily="18" charset="0"/>
              </a:rPr>
              <a:t> </a:t>
            </a:r>
            <a:endParaRPr kumimoji="1" lang="zh-CN" altLang="en-US" sz="2400" i="0">
              <a:latin typeface="宋体" panose="02010600030101010101" pitchFamily="2" charset="-122"/>
              <a:cs typeface="Times New Roman" panose="02020603050405020304" pitchFamily="18" charset="0"/>
            </a:endParaRPr>
          </a:p>
        </p:txBody>
      </p:sp>
      <p:sp>
        <p:nvSpPr>
          <p:cNvPr id="268294" name="Text Box 6"/>
          <p:cNvSpPr txBox="1">
            <a:spLocks noChangeArrowheads="1"/>
          </p:cNvSpPr>
          <p:nvPr/>
        </p:nvSpPr>
        <p:spPr bwMode="auto">
          <a:xfrm>
            <a:off x="547688" y="2959100"/>
            <a:ext cx="8367712"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defRPr i="1">
                <a:solidFill>
                  <a:schemeClr val="tx1"/>
                </a:solidFill>
                <a:latin typeface="Arial" panose="020B0604020202020204" pitchFamily="34" charset="0"/>
                <a:ea typeface="宋体" panose="02010600030101010101" pitchFamily="2" charset="-122"/>
              </a:defRPr>
            </a:lvl1pPr>
            <a:lvl2pPr marL="1066800" indent="-609600">
              <a:defRPr i="1">
                <a:solidFill>
                  <a:schemeClr val="tx1"/>
                </a:solidFill>
                <a:latin typeface="Arial" panose="020B0604020202020204" pitchFamily="34" charset="0"/>
                <a:ea typeface="宋体" panose="02010600030101010101" pitchFamily="2" charset="-122"/>
              </a:defRPr>
            </a:lvl2pPr>
            <a:lvl3pPr marL="1524000" indent="-609600">
              <a:defRPr i="1">
                <a:solidFill>
                  <a:schemeClr val="tx1"/>
                </a:solidFill>
                <a:latin typeface="Arial" panose="020B0604020202020204" pitchFamily="34" charset="0"/>
                <a:ea typeface="宋体" panose="02010600030101010101" pitchFamily="2" charset="-122"/>
              </a:defRPr>
            </a:lvl3pPr>
            <a:lvl4pPr marL="1981200" indent="-609600">
              <a:defRPr i="1">
                <a:solidFill>
                  <a:schemeClr val="tx1"/>
                </a:solidFill>
                <a:latin typeface="Arial" panose="020B0604020202020204" pitchFamily="34" charset="0"/>
                <a:ea typeface="宋体" panose="02010600030101010101" pitchFamily="2" charset="-122"/>
              </a:defRPr>
            </a:lvl4pPr>
            <a:lvl5pPr marL="2438400" indent="-609600">
              <a:defRPr i="1">
                <a:solidFill>
                  <a:schemeClr val="tx1"/>
                </a:solidFill>
                <a:latin typeface="Arial" panose="020B0604020202020204" pitchFamily="34" charset="0"/>
                <a:ea typeface="宋体" panose="02010600030101010101" pitchFamily="2" charset="-122"/>
              </a:defRPr>
            </a:lvl5pPr>
            <a:lvl6pPr marL="2895600" indent="-609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3352800" indent="-609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810000" indent="-609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4267200" indent="-609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i="0">
                <a:latin typeface="宋体" panose="02010600030101010101" pitchFamily="2" charset="-122"/>
                <a:cs typeface="Times New Roman" panose="02020603050405020304" pitchFamily="18" charset="0"/>
              </a:rPr>
              <a:t>    </a:t>
            </a:r>
            <a:r>
              <a:rPr kumimoji="1" lang="en-US" altLang="zh-CN" sz="2400" i="0">
                <a:solidFill>
                  <a:srgbClr val="FF9966"/>
                </a:solidFill>
                <a:latin typeface="宋体" panose="02010600030101010101" pitchFamily="2" charset="-122"/>
              </a:rPr>
              <a:t>●</a:t>
            </a:r>
            <a:r>
              <a:rPr kumimoji="1" lang="en-US" altLang="zh-CN" sz="2400" i="0">
                <a:latin typeface="宋体" panose="02010600030101010101" pitchFamily="2" charset="-122"/>
              </a:rPr>
              <a:t>  </a:t>
            </a:r>
            <a:r>
              <a:rPr kumimoji="1" lang="zh-CN" altLang="en-US" sz="2400" i="0">
                <a:latin typeface="宋体" panose="02010600030101010101" pitchFamily="2" charset="-122"/>
                <a:cs typeface="Times New Roman" panose="02020603050405020304" pitchFamily="18" charset="0"/>
              </a:rPr>
              <a:t>施密特触发器属于</a:t>
            </a:r>
            <a:r>
              <a:rPr kumimoji="1" lang="zh-CN" altLang="en-US" sz="2400" b="1" i="0">
                <a:solidFill>
                  <a:srgbClr val="CC3300"/>
                </a:solidFill>
                <a:latin typeface="宋体" panose="02010600030101010101" pitchFamily="2" charset="-122"/>
                <a:cs typeface="Times New Roman" panose="02020603050405020304" pitchFamily="18" charset="0"/>
              </a:rPr>
              <a:t>电平触发</a:t>
            </a:r>
            <a:r>
              <a:rPr kumimoji="1" lang="zh-CN" altLang="en-US" sz="2400" i="0">
                <a:latin typeface="宋体" panose="02010600030101010101" pitchFamily="2" charset="-122"/>
                <a:cs typeface="Times New Roman" panose="02020603050405020304" pitchFamily="18" charset="0"/>
              </a:rPr>
              <a:t>，对于缓慢变化的信号同样适用。只要输入信号电平达到相应的触发电平，输出信号就会发生突变，从一个稳态翻转到另一个稳态，并且稳态的维持依赖于外加触发输入信号。 </a:t>
            </a:r>
            <a:endParaRPr kumimoji="1" lang="zh-CN" altLang="en-US" sz="2400" i="0">
              <a:latin typeface="宋体" panose="02010600030101010101" pitchFamily="2" charset="-122"/>
              <a:cs typeface="Times New Roman" panose="02020603050405020304" pitchFamily="18" charset="0"/>
            </a:endParaRPr>
          </a:p>
        </p:txBody>
      </p:sp>
      <p:sp>
        <p:nvSpPr>
          <p:cNvPr id="268295" name="Text Box 7"/>
          <p:cNvSpPr txBox="1">
            <a:spLocks noChangeArrowheads="1"/>
          </p:cNvSpPr>
          <p:nvPr/>
        </p:nvSpPr>
        <p:spPr bwMode="auto">
          <a:xfrm>
            <a:off x="533400" y="5029200"/>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defRPr i="1">
                <a:solidFill>
                  <a:schemeClr val="tx1"/>
                </a:solidFill>
                <a:latin typeface="Arial" panose="020B0604020202020204" pitchFamily="34" charset="0"/>
                <a:ea typeface="宋体" panose="02010600030101010101" pitchFamily="2" charset="-122"/>
              </a:defRPr>
            </a:lvl1pPr>
            <a:lvl2pPr marL="1066800" indent="-609600">
              <a:defRPr i="1">
                <a:solidFill>
                  <a:schemeClr val="tx1"/>
                </a:solidFill>
                <a:latin typeface="Arial" panose="020B0604020202020204" pitchFamily="34" charset="0"/>
                <a:ea typeface="宋体" panose="02010600030101010101" pitchFamily="2" charset="-122"/>
              </a:defRPr>
            </a:lvl2pPr>
            <a:lvl3pPr marL="1524000" indent="-609600">
              <a:defRPr i="1">
                <a:solidFill>
                  <a:schemeClr val="tx1"/>
                </a:solidFill>
                <a:latin typeface="Arial" panose="020B0604020202020204" pitchFamily="34" charset="0"/>
                <a:ea typeface="宋体" panose="02010600030101010101" pitchFamily="2" charset="-122"/>
              </a:defRPr>
            </a:lvl3pPr>
            <a:lvl4pPr marL="1981200" indent="-609600">
              <a:defRPr i="1">
                <a:solidFill>
                  <a:schemeClr val="tx1"/>
                </a:solidFill>
                <a:latin typeface="Arial" panose="020B0604020202020204" pitchFamily="34" charset="0"/>
                <a:ea typeface="宋体" panose="02010600030101010101" pitchFamily="2" charset="-122"/>
              </a:defRPr>
            </a:lvl4pPr>
            <a:lvl5pPr marL="2438400" indent="-609600">
              <a:defRPr i="1">
                <a:solidFill>
                  <a:schemeClr val="tx1"/>
                </a:solidFill>
                <a:latin typeface="Arial" panose="020B0604020202020204" pitchFamily="34" charset="0"/>
                <a:ea typeface="宋体" panose="02010600030101010101" pitchFamily="2" charset="-122"/>
              </a:defRPr>
            </a:lvl5pPr>
            <a:lvl6pPr marL="2895600" indent="-609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3352800" indent="-609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810000" indent="-609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4267200" indent="-609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400" i="0">
                <a:latin typeface="宋体" panose="02010600030101010101" pitchFamily="2" charset="-122"/>
              </a:rPr>
              <a:t>　　</a:t>
            </a:r>
            <a:r>
              <a:rPr kumimoji="1" lang="zh-CN" altLang="en-US" sz="2400" i="0">
                <a:solidFill>
                  <a:srgbClr val="FF9966"/>
                </a:solidFill>
                <a:latin typeface="宋体" panose="02010600030101010101" pitchFamily="2" charset="-122"/>
              </a:rPr>
              <a:t>●</a:t>
            </a:r>
            <a:r>
              <a:rPr kumimoji="1" lang="zh-CN" altLang="en-US" sz="2400" i="0">
                <a:latin typeface="宋体" panose="02010600030101010101" pitchFamily="2" charset="-122"/>
              </a:rPr>
              <a:t>  </a:t>
            </a:r>
            <a:r>
              <a:rPr kumimoji="1" lang="zh-CN" altLang="en-US" sz="2400" i="0">
                <a:latin typeface="宋体" panose="02010600030101010101" pitchFamily="2" charset="-122"/>
                <a:cs typeface="Times New Roman" panose="02020603050405020304" pitchFamily="18" charset="0"/>
              </a:rPr>
              <a:t>对于正向和负向增长的输入信号，电路有不同的阈值电平。这一特性称为</a:t>
            </a:r>
            <a:r>
              <a:rPr kumimoji="1" lang="zh-CN" altLang="en-US" sz="2400" b="1" i="0">
                <a:solidFill>
                  <a:srgbClr val="CC3300"/>
                </a:solidFill>
                <a:latin typeface="宋体" panose="02010600030101010101" pitchFamily="2" charset="-122"/>
                <a:cs typeface="Times New Roman" panose="02020603050405020304" pitchFamily="18" charset="0"/>
              </a:rPr>
              <a:t>滞后特性</a:t>
            </a:r>
            <a:r>
              <a:rPr kumimoji="1" lang="zh-CN" altLang="en-US" sz="2400" i="0">
                <a:latin typeface="宋体" panose="02010600030101010101" pitchFamily="2" charset="-122"/>
                <a:cs typeface="Times New Roman" panose="02020603050405020304" pitchFamily="18" charset="0"/>
              </a:rPr>
              <a:t>或</a:t>
            </a:r>
            <a:r>
              <a:rPr kumimoji="1" lang="zh-CN" altLang="en-US" sz="2400" b="1" i="0">
                <a:solidFill>
                  <a:srgbClr val="CC3300"/>
                </a:solidFill>
                <a:latin typeface="宋体" panose="02010600030101010101" pitchFamily="2" charset="-122"/>
                <a:cs typeface="Times New Roman" panose="02020603050405020304" pitchFamily="18" charset="0"/>
              </a:rPr>
              <a:t>回差特性。</a:t>
            </a:r>
            <a:r>
              <a:rPr kumimoji="1" lang="zh-CN" altLang="en-US" sz="2400" i="0">
                <a:latin typeface="宋体" panose="02010600030101010101" pitchFamily="2" charset="-122"/>
                <a:cs typeface="Times New Roman" panose="02020603050405020304" pitchFamily="18" charset="0"/>
              </a:rPr>
              <a:t> </a:t>
            </a:r>
            <a:endParaRPr kumimoji="1" lang="zh-CN" altLang="en-US" sz="2400" i="0">
              <a:latin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68291"/>
                                        </p:tgtEl>
                                        <p:attrNameLst>
                                          <p:attrName>style.visibility</p:attrName>
                                        </p:attrNameLst>
                                      </p:cBhvr>
                                      <p:to>
                                        <p:strVal val="visible"/>
                                      </p:to>
                                    </p:set>
                                    <p:anim calcmode="lin" valueType="num">
                                      <p:cBhvr>
                                        <p:cTn id="7" dur="500" fill="hold"/>
                                        <p:tgtEl>
                                          <p:spTgt spid="268291"/>
                                        </p:tgtEl>
                                        <p:attrNameLst>
                                          <p:attrName>ppt_w</p:attrName>
                                        </p:attrNameLst>
                                      </p:cBhvr>
                                      <p:tavLst>
                                        <p:tav tm="0">
                                          <p:val>
                                            <p:fltVal val="0"/>
                                          </p:val>
                                        </p:tav>
                                        <p:tav tm="100000">
                                          <p:val>
                                            <p:strVal val="#ppt_w"/>
                                          </p:val>
                                        </p:tav>
                                      </p:tavLst>
                                    </p:anim>
                                    <p:anim calcmode="lin" valueType="num">
                                      <p:cBhvr>
                                        <p:cTn id="8" dur="500" fill="hold"/>
                                        <p:tgtEl>
                                          <p:spTgt spid="26829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1"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68292"/>
                                        </p:tgtEl>
                                        <p:attrNameLst>
                                          <p:attrName>style.visibility</p:attrName>
                                        </p:attrNameLst>
                                      </p:cBhvr>
                                      <p:to>
                                        <p:strVal val="visible"/>
                                      </p:to>
                                    </p:set>
                                    <p:anim calcmode="lin" valueType="num">
                                      <p:cBhvr>
                                        <p:cTn id="13" dur="500" fill="hold"/>
                                        <p:tgtEl>
                                          <p:spTgt spid="268292"/>
                                        </p:tgtEl>
                                        <p:attrNameLst>
                                          <p:attrName>ppt_w</p:attrName>
                                        </p:attrNameLst>
                                      </p:cBhvr>
                                      <p:tavLst>
                                        <p:tav tm="0">
                                          <p:val>
                                            <p:fltVal val="0"/>
                                          </p:val>
                                        </p:tav>
                                        <p:tav tm="100000">
                                          <p:val>
                                            <p:strVal val="#ppt_w"/>
                                          </p:val>
                                        </p:tav>
                                      </p:tavLst>
                                    </p:anim>
                                    <p:anim calcmode="lin" valueType="num">
                                      <p:cBhvr>
                                        <p:cTn id="14" dur="500" fill="hold"/>
                                        <p:tgtEl>
                                          <p:spTgt spid="26829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68293"/>
                                        </p:tgtEl>
                                        <p:attrNameLst>
                                          <p:attrName>style.visibility</p:attrName>
                                        </p:attrNameLst>
                                      </p:cBhvr>
                                      <p:to>
                                        <p:strVal val="visible"/>
                                      </p:to>
                                    </p:set>
                                    <p:anim calcmode="lin" valueType="num">
                                      <p:cBhvr>
                                        <p:cTn id="19" dur="500" fill="hold"/>
                                        <p:tgtEl>
                                          <p:spTgt spid="268293"/>
                                        </p:tgtEl>
                                        <p:attrNameLst>
                                          <p:attrName>ppt_w</p:attrName>
                                        </p:attrNameLst>
                                      </p:cBhvr>
                                      <p:tavLst>
                                        <p:tav tm="0">
                                          <p:val>
                                            <p:fltVal val="0"/>
                                          </p:val>
                                        </p:tav>
                                        <p:tav tm="100000">
                                          <p:val>
                                            <p:strVal val="#ppt_w"/>
                                          </p:val>
                                        </p:tav>
                                      </p:tavLst>
                                    </p:anim>
                                    <p:anim calcmode="lin" valueType="num">
                                      <p:cBhvr>
                                        <p:cTn id="20" dur="500" fill="hold"/>
                                        <p:tgtEl>
                                          <p:spTgt spid="268293"/>
                                        </p:tgtEl>
                                        <p:attrNameLst>
                                          <p:attrName>ppt_h</p:attrName>
                                        </p:attrNameLst>
                                      </p:cBhvr>
                                      <p:tavLst>
                                        <p:tav tm="0">
                                          <p:val>
                                            <p:fltVal val="0"/>
                                          </p:val>
                                        </p:tav>
                                        <p:tav tm="100000">
                                          <p:val>
                                            <p:strVal val="#ppt_h"/>
                                          </p:val>
                                        </p:tav>
                                      </p:tavLst>
                                    </p:anim>
                                  </p:childTnLst>
                                </p:cTn>
                              </p:par>
                            </p:childTnLst>
                          </p:cTn>
                        </p:par>
                        <p:par>
                          <p:cTn id="21" fill="hold">
                            <p:stCondLst>
                              <p:cond delay="500"/>
                            </p:stCondLst>
                            <p:childTnLst>
                              <p:par>
                                <p:cTn id="22" presetID="23" presetClass="entr" presetSubtype="16" fill="hold" grpId="0" nodeType="afterEffect">
                                  <p:stCondLst>
                                    <p:cond delay="0"/>
                                  </p:stCondLst>
                                  <p:childTnLst>
                                    <p:set>
                                      <p:cBhvr>
                                        <p:cTn id="23" dur="1" fill="hold">
                                          <p:stCondLst>
                                            <p:cond delay="0"/>
                                          </p:stCondLst>
                                        </p:cTn>
                                        <p:tgtEl>
                                          <p:spTgt spid="268294"/>
                                        </p:tgtEl>
                                        <p:attrNameLst>
                                          <p:attrName>style.visibility</p:attrName>
                                        </p:attrNameLst>
                                      </p:cBhvr>
                                      <p:to>
                                        <p:strVal val="visible"/>
                                      </p:to>
                                    </p:set>
                                    <p:anim calcmode="lin" valueType="num">
                                      <p:cBhvr>
                                        <p:cTn id="24" dur="500" fill="hold"/>
                                        <p:tgtEl>
                                          <p:spTgt spid="268294"/>
                                        </p:tgtEl>
                                        <p:attrNameLst>
                                          <p:attrName>ppt_w</p:attrName>
                                        </p:attrNameLst>
                                      </p:cBhvr>
                                      <p:tavLst>
                                        <p:tav tm="0">
                                          <p:val>
                                            <p:fltVal val="0"/>
                                          </p:val>
                                        </p:tav>
                                        <p:tav tm="100000">
                                          <p:val>
                                            <p:strVal val="#ppt_w"/>
                                          </p:val>
                                        </p:tav>
                                      </p:tavLst>
                                    </p:anim>
                                    <p:anim calcmode="lin" valueType="num">
                                      <p:cBhvr>
                                        <p:cTn id="25" dur="500" fill="hold"/>
                                        <p:tgtEl>
                                          <p:spTgt spid="268294"/>
                                        </p:tgtEl>
                                        <p:attrNameLst>
                                          <p:attrName>ppt_h</p:attrName>
                                        </p:attrNameLst>
                                      </p:cBhvr>
                                      <p:tavLst>
                                        <p:tav tm="0">
                                          <p:val>
                                            <p:fltVal val="0"/>
                                          </p:val>
                                        </p:tav>
                                        <p:tav tm="100000">
                                          <p:val>
                                            <p:strVal val="#ppt_h"/>
                                          </p:val>
                                        </p:tav>
                                      </p:tavLst>
                                    </p:anim>
                                  </p:childTnLst>
                                </p:cTn>
                              </p:par>
                            </p:childTnLst>
                          </p:cTn>
                        </p:par>
                        <p:par>
                          <p:cTn id="26" fill="hold">
                            <p:stCondLst>
                              <p:cond delay="1000"/>
                            </p:stCondLst>
                            <p:childTnLst>
                              <p:par>
                                <p:cTn id="27" presetID="23" presetClass="entr" presetSubtype="16" fill="hold" grpId="0" nodeType="afterEffect">
                                  <p:stCondLst>
                                    <p:cond delay="0"/>
                                  </p:stCondLst>
                                  <p:childTnLst>
                                    <p:set>
                                      <p:cBhvr>
                                        <p:cTn id="28" dur="1" fill="hold">
                                          <p:stCondLst>
                                            <p:cond delay="0"/>
                                          </p:stCondLst>
                                        </p:cTn>
                                        <p:tgtEl>
                                          <p:spTgt spid="268295"/>
                                        </p:tgtEl>
                                        <p:attrNameLst>
                                          <p:attrName>style.visibility</p:attrName>
                                        </p:attrNameLst>
                                      </p:cBhvr>
                                      <p:to>
                                        <p:strVal val="visible"/>
                                      </p:to>
                                    </p:set>
                                    <p:anim calcmode="lin" valueType="num">
                                      <p:cBhvr>
                                        <p:cTn id="29" dur="500" fill="hold"/>
                                        <p:tgtEl>
                                          <p:spTgt spid="268295"/>
                                        </p:tgtEl>
                                        <p:attrNameLst>
                                          <p:attrName>ppt_w</p:attrName>
                                        </p:attrNameLst>
                                      </p:cBhvr>
                                      <p:tavLst>
                                        <p:tav tm="0">
                                          <p:val>
                                            <p:fltVal val="0"/>
                                          </p:val>
                                        </p:tav>
                                        <p:tav tm="100000">
                                          <p:val>
                                            <p:strVal val="#ppt_w"/>
                                          </p:val>
                                        </p:tav>
                                      </p:tavLst>
                                    </p:anim>
                                    <p:anim calcmode="lin" valueType="num">
                                      <p:cBhvr>
                                        <p:cTn id="30" dur="500" fill="hold"/>
                                        <p:tgtEl>
                                          <p:spTgt spid="26829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1" grpId="0" autoUpdateAnimBg="0"/>
      <p:bldP spid="268292" grpId="0" autoUpdateAnimBg="0"/>
      <p:bldP spid="268293" grpId="0" autoUpdateAnimBg="0"/>
      <p:bldP spid="268294" grpId="0" autoUpdateAnimBg="0"/>
      <p:bldP spid="268295"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1"/>
          <p:cNvSpPr>
            <a:spLocks noGrp="1"/>
          </p:cNvSpPr>
          <p:nvPr>
            <p:ph type="sldNum" sz="quarter" idx="10"/>
          </p:nvPr>
        </p:nvSpPr>
        <p:spPr bwMode="auto">
          <a:xfrm>
            <a:off x="6732588" y="6446838"/>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zh-CN"/>
            </a:defPPr>
            <a:lvl1pPr algn="r" rtl="0" eaLnBrk="1" fontAlgn="base" hangingPunct="1">
              <a:spcBef>
                <a:spcPct val="0"/>
              </a:spcBef>
              <a:spcAft>
                <a:spcPct val="0"/>
              </a:spcAft>
              <a:defRPr kumimoji="1" sz="1400" i="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i="1" kern="1200">
                <a:solidFill>
                  <a:schemeClr val="tx1"/>
                </a:solidFill>
                <a:latin typeface="Arial" panose="020B0604020202020204" pitchFamily="34" charset="0"/>
                <a:ea typeface="宋体" panose="02010600030101010101" pitchFamily="2" charset="-122"/>
                <a:cs typeface="+mn-cs"/>
              </a:defRPr>
            </a:lvl9pPr>
          </a:lstStyle>
          <a:p>
            <a:fld id="{1087A945-B610-4D77-978F-498B98B4135C}" type="slidenum">
              <a:rPr lang="en-US" altLang="zh-CN" smtClean="0"/>
            </a:fld>
            <a:endParaRPr lang="en-US" altLang="zh-CN" i="0">
              <a:latin typeface="Times New Roman" panose="02020603050405020304" pitchFamily="18" charset="0"/>
            </a:endParaRPr>
          </a:p>
        </p:txBody>
      </p:sp>
      <p:pic>
        <p:nvPicPr>
          <p:cNvPr id="34819" name="Picture 2" descr="幻灯片96"/>
          <p:cNvPicPr>
            <a:picLocks noChangeAspect="1" noChangeArrowheads="1"/>
          </p:cNvPicPr>
          <p:nvPr/>
        </p:nvPicPr>
        <p:blipFill>
          <a:blip r:embed="rId1">
            <a:extLst>
              <a:ext uri="{28A0092B-C50C-407E-A947-70E740481C1C}">
                <a14:useLocalDpi xmlns:a14="http://schemas.microsoft.com/office/drawing/2010/main" val="0"/>
              </a:ext>
            </a:extLst>
          </a:blip>
          <a:srcRect b="6944"/>
          <a:stretch>
            <a:fillRect/>
          </a:stretch>
        </p:blipFill>
        <p:spPr bwMode="auto">
          <a:xfrm>
            <a:off x="0" y="48160"/>
            <a:ext cx="9144000" cy="638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0"/>
          </p:nvPr>
        </p:nvSpPr>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fld id="{7CCB2261-C6D5-4DB4-B909-DB1443FC20B7}" type="slidenum">
              <a:rPr lang="en-US" altLang="zh-CN" i="0">
                <a:latin typeface="Times New Roman" panose="02020603050405020304" pitchFamily="18" charset="0"/>
              </a:rPr>
            </a:fld>
            <a:endParaRPr lang="en-US" altLang="zh-CN" i="0">
              <a:latin typeface="Times New Roman" panose="02020603050405020304" pitchFamily="18" charset="0"/>
            </a:endParaRPr>
          </a:p>
        </p:txBody>
      </p:sp>
      <p:sp>
        <p:nvSpPr>
          <p:cNvPr id="270339" name="Text Box 3"/>
          <p:cNvSpPr txBox="1">
            <a:spLocks noChangeArrowheads="1"/>
          </p:cNvSpPr>
          <p:nvPr/>
        </p:nvSpPr>
        <p:spPr bwMode="auto">
          <a:xfrm>
            <a:off x="547688" y="6477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b="1" i="0">
                <a:solidFill>
                  <a:schemeClr val="tx2"/>
                </a:solidFill>
                <a:latin typeface="宋体" panose="02010600030101010101" pitchFamily="2" charset="-122"/>
                <a:cs typeface="Times New Roman" panose="02020603050405020304" pitchFamily="18" charset="0"/>
              </a:rPr>
              <a:t>    </a:t>
            </a:r>
            <a:r>
              <a:rPr kumimoji="1" lang="en-US" altLang="zh-CN" sz="2400" b="1" i="0">
                <a:solidFill>
                  <a:srgbClr val="CC3300"/>
                </a:solidFill>
                <a:latin typeface="宋体" panose="02010600030101010101" pitchFamily="2" charset="-122"/>
                <a:cs typeface="Times New Roman" panose="02020603050405020304" pitchFamily="18" charset="0"/>
              </a:rPr>
              <a:t>(2) 5G555</a:t>
            </a:r>
            <a:r>
              <a:rPr kumimoji="1" lang="zh-CN" altLang="en-US" sz="2400" b="1" i="0">
                <a:solidFill>
                  <a:srgbClr val="CC3300"/>
                </a:solidFill>
                <a:latin typeface="宋体" panose="02010600030101010101" pitchFamily="2" charset="-122"/>
                <a:cs typeface="Times New Roman" panose="02020603050405020304" pitchFamily="18" charset="0"/>
              </a:rPr>
              <a:t>构成的施密特触发器</a:t>
            </a:r>
            <a:r>
              <a:rPr kumimoji="1" lang="zh-CN" altLang="en-US" sz="2400" b="1" i="0">
                <a:solidFill>
                  <a:schemeClr val="tx2"/>
                </a:solidFill>
                <a:latin typeface="宋体" panose="02010600030101010101" pitchFamily="2" charset="-122"/>
                <a:cs typeface="Times New Roman" panose="02020603050405020304" pitchFamily="18" charset="0"/>
              </a:rPr>
              <a:t> </a:t>
            </a:r>
            <a:endParaRPr kumimoji="1" lang="zh-CN" altLang="en-US" sz="2400" b="1" i="0">
              <a:solidFill>
                <a:schemeClr val="tx2"/>
              </a:solidFill>
              <a:latin typeface="宋体" panose="02010600030101010101" pitchFamily="2" charset="-122"/>
              <a:cs typeface="Times New Roman" panose="02020603050405020304" pitchFamily="18" charset="0"/>
            </a:endParaRPr>
          </a:p>
        </p:txBody>
      </p:sp>
      <p:sp>
        <p:nvSpPr>
          <p:cNvPr id="270340" name="Text Box 4"/>
          <p:cNvSpPr txBox="1">
            <a:spLocks noChangeArrowheads="1"/>
          </p:cNvSpPr>
          <p:nvPr/>
        </p:nvSpPr>
        <p:spPr bwMode="auto">
          <a:xfrm>
            <a:off x="609600" y="1066800"/>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i="0">
                <a:latin typeface="宋体" panose="02010600030101010101" pitchFamily="2" charset="-122"/>
                <a:cs typeface="Times New Roman" panose="02020603050405020304" pitchFamily="18" charset="0"/>
              </a:rPr>
              <a:t>    </a:t>
            </a:r>
            <a:r>
              <a:rPr kumimoji="1" lang="zh-CN" altLang="en-US" sz="2400" i="0">
                <a:latin typeface="宋体" panose="02010600030101010101" pitchFamily="2" charset="-122"/>
                <a:cs typeface="Times New Roman" panose="02020603050405020304" pitchFamily="18" charset="0"/>
              </a:rPr>
              <a:t>用</a:t>
            </a:r>
            <a:r>
              <a:rPr kumimoji="1" lang="en-US" altLang="zh-CN" sz="2400" i="0">
                <a:latin typeface="宋体" panose="02010600030101010101" pitchFamily="2" charset="-122"/>
                <a:cs typeface="Times New Roman" panose="02020603050405020304" pitchFamily="18" charset="0"/>
              </a:rPr>
              <a:t>5G555</a:t>
            </a:r>
            <a:r>
              <a:rPr kumimoji="1" lang="zh-CN" altLang="en-US" sz="2400" i="0">
                <a:latin typeface="宋体" panose="02010600030101010101" pitchFamily="2" charset="-122"/>
                <a:cs typeface="Times New Roman" panose="02020603050405020304" pitchFamily="18" charset="0"/>
              </a:rPr>
              <a:t>构成的施密特触发器原理图及其传输特性分别如图 </a:t>
            </a:r>
            <a:r>
              <a:rPr kumimoji="1" lang="en-US" altLang="zh-CN" sz="2400" i="0">
                <a:latin typeface="宋体" panose="02010600030101010101" pitchFamily="2" charset="-122"/>
                <a:cs typeface="Times New Roman" panose="02020603050405020304" pitchFamily="18" charset="0"/>
              </a:rPr>
              <a:t>(a)</a:t>
            </a:r>
            <a:r>
              <a:rPr kumimoji="1" lang="zh-CN" altLang="en-US" sz="2400" i="0">
                <a:latin typeface="宋体" panose="02010600030101010101" pitchFamily="2" charset="-122"/>
                <a:cs typeface="Times New Roman" panose="02020603050405020304" pitchFamily="18" charset="0"/>
              </a:rPr>
              <a:t>、</a:t>
            </a:r>
            <a:r>
              <a:rPr kumimoji="1" lang="en-US" altLang="zh-CN" sz="2400" i="0">
                <a:latin typeface="宋体" panose="02010600030101010101" pitchFamily="2" charset="-122"/>
                <a:cs typeface="Times New Roman" panose="02020603050405020304" pitchFamily="18" charset="0"/>
              </a:rPr>
              <a:t>(b)</a:t>
            </a:r>
            <a:r>
              <a:rPr kumimoji="1" lang="zh-CN" altLang="en-US" sz="2400" i="0">
                <a:latin typeface="宋体" panose="02010600030101010101" pitchFamily="2" charset="-122"/>
                <a:cs typeface="Times New Roman" panose="02020603050405020304" pitchFamily="18" charset="0"/>
              </a:rPr>
              <a:t>所示。</a:t>
            </a:r>
            <a:endParaRPr kumimoji="1" lang="zh-CN" altLang="en-US" sz="2400" i="0">
              <a:latin typeface="宋体" panose="02010600030101010101" pitchFamily="2" charset="-122"/>
              <a:cs typeface="Times New Roman" panose="02020603050405020304" pitchFamily="18" charset="0"/>
            </a:endParaRPr>
          </a:p>
        </p:txBody>
      </p:sp>
      <p:grpSp>
        <p:nvGrpSpPr>
          <p:cNvPr id="270344" name="Group 8"/>
          <p:cNvGrpSpPr/>
          <p:nvPr/>
        </p:nvGrpSpPr>
        <p:grpSpPr bwMode="auto">
          <a:xfrm>
            <a:off x="457200" y="5445125"/>
            <a:ext cx="8305800" cy="1004888"/>
            <a:chOff x="288" y="3504"/>
            <a:chExt cx="5232" cy="633"/>
          </a:xfrm>
        </p:grpSpPr>
        <p:graphicFrame>
          <p:nvGraphicFramePr>
            <p:cNvPr id="35847" name="Object 9"/>
            <p:cNvGraphicFramePr>
              <a:graphicFrameLocks noChangeAspect="1"/>
            </p:cNvGraphicFramePr>
            <p:nvPr/>
          </p:nvGraphicFramePr>
          <p:xfrm>
            <a:off x="3360" y="3516"/>
            <a:ext cx="288" cy="256"/>
          </p:xfrm>
          <a:graphic>
            <a:graphicData uri="http://schemas.openxmlformats.org/presentationml/2006/ole">
              <mc:AlternateContent xmlns:mc="http://schemas.openxmlformats.org/markup-compatibility/2006">
                <mc:Choice xmlns:v="urn:schemas-microsoft-com:vml" Requires="v">
                  <p:oleObj spid="_x0000_s24579" name="" r:id="rId1" imgW="254000" imgH="203200" progId="Equation.3">
                    <p:embed/>
                  </p:oleObj>
                </mc:Choice>
                <mc:Fallback>
                  <p:oleObj name="" r:id="rId1" imgW="254000" imgH="203200" progId="Equation.3">
                    <p:embed/>
                    <p:pic>
                      <p:nvPicPr>
                        <p:cNvPr id="0" name="Object 9"/>
                        <p:cNvPicPr>
                          <a:picLocks noChangeAspect="1" noChangeArrowheads="1"/>
                        </p:cNvPicPr>
                        <p:nvPr/>
                      </p:nvPicPr>
                      <p:blipFill>
                        <a:blip r:embed="rId2">
                          <a:lum bright="-100000" contrast="-70000"/>
                          <a:extLst>
                            <a:ext uri="{28A0092B-C50C-407E-A947-70E740481C1C}">
                              <a14:useLocalDpi xmlns:a14="http://schemas.microsoft.com/office/drawing/2010/main" val="0"/>
                            </a:ext>
                          </a:extLst>
                        </a:blip>
                        <a:srcRect/>
                        <a:stretch>
                          <a:fillRect/>
                        </a:stretch>
                      </p:blipFill>
                      <p:spPr bwMode="auto">
                        <a:xfrm>
                          <a:off x="3360" y="3516"/>
                          <a:ext cx="288"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8" name="Text Box 10"/>
            <p:cNvSpPr txBox="1">
              <a:spLocks noChangeArrowheads="1"/>
            </p:cNvSpPr>
            <p:nvPr/>
          </p:nvSpPr>
          <p:spPr bwMode="auto">
            <a:xfrm>
              <a:off x="288" y="3504"/>
              <a:ext cx="5232"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i="0">
                  <a:latin typeface="宋体" panose="02010600030101010101" pitchFamily="2" charset="-122"/>
                  <a:cs typeface="Times New Roman" panose="02020603050405020304" pitchFamily="18" charset="0"/>
                </a:rPr>
                <a:t>    </a:t>
              </a:r>
              <a:r>
                <a:rPr kumimoji="1" lang="zh-CN" altLang="en-US" sz="2400" i="0">
                  <a:latin typeface="宋体" panose="02010600030101010101" pitchFamily="2" charset="-122"/>
                  <a:cs typeface="Times New Roman" panose="02020603050405020304" pitchFamily="18" charset="0"/>
                </a:rPr>
                <a:t>在图</a:t>
              </a:r>
              <a:r>
                <a:rPr kumimoji="1" lang="en-US" altLang="zh-CN" sz="2400" i="0">
                  <a:latin typeface="宋体" panose="02010600030101010101" pitchFamily="2" charset="-122"/>
                  <a:cs typeface="Times New Roman" panose="02020603050405020304" pitchFamily="18" charset="0"/>
                </a:rPr>
                <a:t>(a)</a:t>
              </a:r>
              <a:r>
                <a:rPr kumimoji="1" lang="zh-CN" altLang="en-US" sz="2400" i="0">
                  <a:latin typeface="宋体" panose="02010600030101010101" pitchFamily="2" charset="-122"/>
                  <a:cs typeface="Times New Roman" panose="02020603050405020304" pitchFamily="18" charset="0"/>
                </a:rPr>
                <a:t>中，将</a:t>
              </a:r>
              <a:r>
                <a:rPr kumimoji="1" lang="en-US" altLang="zh-CN" sz="2400" i="0">
                  <a:latin typeface="宋体" panose="02010600030101010101" pitchFamily="2" charset="-122"/>
                  <a:cs typeface="Times New Roman" panose="02020603050405020304" pitchFamily="18" charset="0"/>
                </a:rPr>
                <a:t>5G555</a:t>
              </a:r>
              <a:r>
                <a:rPr kumimoji="1" lang="zh-CN" altLang="en-US" sz="2400" i="0">
                  <a:latin typeface="宋体" panose="02010600030101010101" pitchFamily="2" charset="-122"/>
                  <a:cs typeface="Times New Roman" panose="02020603050405020304" pitchFamily="18" charset="0"/>
                </a:rPr>
                <a:t>的</a:t>
              </a:r>
              <a:r>
                <a:rPr kumimoji="1" lang="en-US" altLang="zh-CN" sz="2400" i="0">
                  <a:latin typeface="宋体" panose="02010600030101010101" pitchFamily="2" charset="-122"/>
                  <a:cs typeface="Times New Roman" panose="02020603050405020304" pitchFamily="18" charset="0"/>
                </a:rPr>
                <a:t>TH</a:t>
              </a:r>
              <a:r>
                <a:rPr kumimoji="1" lang="zh-CN" altLang="en-US" sz="2400" i="0">
                  <a:latin typeface="宋体" panose="02010600030101010101" pitchFamily="2" charset="-122"/>
                  <a:cs typeface="Times New Roman" panose="02020603050405020304" pitchFamily="18" charset="0"/>
                </a:rPr>
                <a:t>端和    端连接在一起作为信</a:t>
              </a:r>
              <a:endParaRPr kumimoji="1" lang="zh-CN" altLang="en-US" sz="2400" i="0">
                <a:latin typeface="宋体" panose="02010600030101010101" pitchFamily="2" charset="-122"/>
                <a:cs typeface="Times New Roman" panose="02020603050405020304" pitchFamily="18" charset="0"/>
              </a:endParaRPr>
            </a:p>
            <a:p>
              <a:pPr algn="just" eaLnBrk="1" hangingPunct="1">
                <a:spcBef>
                  <a:spcPct val="50000"/>
                </a:spcBef>
              </a:pPr>
              <a:r>
                <a:rPr kumimoji="1" lang="zh-CN" altLang="en-US" sz="2400" i="0">
                  <a:latin typeface="宋体" panose="02010600030101010101" pitchFamily="2" charset="-122"/>
                  <a:cs typeface="Times New Roman" panose="02020603050405020304" pitchFamily="18" charset="0"/>
                </a:rPr>
                <a:t>号输入端，</a:t>
              </a:r>
              <a:r>
                <a:rPr kumimoji="1" lang="en-US" altLang="zh-CN" sz="2400" i="0">
                  <a:latin typeface="宋体" panose="02010600030101010101" pitchFamily="2" charset="-122"/>
                  <a:cs typeface="Times New Roman" panose="02020603050405020304" pitchFamily="18" charset="0"/>
                </a:rPr>
                <a:t>OUT</a:t>
              </a:r>
              <a:r>
                <a:rPr kumimoji="1" lang="zh-CN" altLang="en-US" sz="2400" i="0">
                  <a:latin typeface="宋体" panose="02010600030101010101" pitchFamily="2" charset="-122"/>
                  <a:cs typeface="Times New Roman" panose="02020603050405020304" pitchFamily="18" charset="0"/>
                </a:rPr>
                <a:t>作为输出端，便构成了一个施密特反相器。</a:t>
              </a:r>
              <a:endParaRPr kumimoji="1" lang="zh-CN" altLang="en-US" sz="2400" i="0">
                <a:latin typeface="Times New Roman" panose="02020603050405020304" pitchFamily="18" charset="0"/>
              </a:endParaRPr>
            </a:p>
          </p:txBody>
        </p:sp>
      </p:grpSp>
      <p:pic>
        <p:nvPicPr>
          <p:cNvPr id="270347" name="Picture 11" descr="7"/>
          <p:cNvPicPr>
            <a:picLocks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1143000" y="1905000"/>
            <a:ext cx="7015163"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0339"/>
                                        </p:tgtEl>
                                        <p:attrNameLst>
                                          <p:attrName>style.visibility</p:attrName>
                                        </p:attrNameLst>
                                      </p:cBhvr>
                                      <p:to>
                                        <p:strVal val="visible"/>
                                      </p:to>
                                    </p:set>
                                    <p:animEffect transition="in" filter="dissolve">
                                      <p:cBhvr>
                                        <p:cTn id="7" dur="500"/>
                                        <p:tgtEl>
                                          <p:spTgt spid="270339"/>
                                        </p:tgtEl>
                                      </p:cBhvr>
                                    </p:animEffect>
                                  </p:childTnLst>
                                  <p:subTnLst>
                                    <p:audio>
                                      <p:cMediaNode>
                                        <p:cTn display="0" masterRel="sameClick">
                                          <p:stCondLst>
                                            <p:cond evt="begin" delay="0">
                                              <p:tn val="5"/>
                                            </p:cond>
                                          </p:stCondLst>
                                          <p:endCondLst>
                                            <p:cond evt="onStopAudio" delay="0">
                                              <p:tgtEl>
                                                <p:sldTgt/>
                                              </p:tgtEl>
                                            </p:cond>
                                          </p:endCondLst>
                                        </p:cTn>
                                        <p:tgtEl>
                                          <p:sndTgt r:embed="rId4" name="projctor.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70340"/>
                                        </p:tgtEl>
                                        <p:attrNameLst>
                                          <p:attrName>style.visibility</p:attrName>
                                        </p:attrNameLst>
                                      </p:cBhvr>
                                      <p:to>
                                        <p:strVal val="visible"/>
                                      </p:to>
                                    </p:set>
                                    <p:anim calcmode="lin" valueType="num">
                                      <p:cBhvr additive="base">
                                        <p:cTn id="12" dur="500" fill="hold"/>
                                        <p:tgtEl>
                                          <p:spTgt spid="270340"/>
                                        </p:tgtEl>
                                        <p:attrNameLst>
                                          <p:attrName>ppt_x</p:attrName>
                                        </p:attrNameLst>
                                      </p:cBhvr>
                                      <p:tavLst>
                                        <p:tav tm="0">
                                          <p:val>
                                            <p:strVal val="0-#ppt_w/2"/>
                                          </p:val>
                                        </p:tav>
                                        <p:tav tm="100000">
                                          <p:val>
                                            <p:strVal val="#ppt_x"/>
                                          </p:val>
                                        </p:tav>
                                      </p:tavLst>
                                    </p:anim>
                                    <p:anim calcmode="lin" valueType="num">
                                      <p:cBhvr additive="base">
                                        <p:cTn id="13" dur="500" fill="hold"/>
                                        <p:tgtEl>
                                          <p:spTgt spid="270340"/>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270347"/>
                                        </p:tgtEl>
                                        <p:attrNameLst>
                                          <p:attrName>style.visibility</p:attrName>
                                        </p:attrNameLst>
                                      </p:cBhvr>
                                      <p:to>
                                        <p:strVal val="visible"/>
                                      </p:to>
                                    </p:set>
                                    <p:anim calcmode="lin" valueType="num">
                                      <p:cBhvr additive="base">
                                        <p:cTn id="17" dur="500" fill="hold"/>
                                        <p:tgtEl>
                                          <p:spTgt spid="270347"/>
                                        </p:tgtEl>
                                        <p:attrNameLst>
                                          <p:attrName>ppt_x</p:attrName>
                                        </p:attrNameLst>
                                      </p:cBhvr>
                                      <p:tavLst>
                                        <p:tav tm="0">
                                          <p:val>
                                            <p:strVal val="#ppt_x"/>
                                          </p:val>
                                        </p:tav>
                                        <p:tav tm="100000">
                                          <p:val>
                                            <p:strVal val="#ppt_x"/>
                                          </p:val>
                                        </p:tav>
                                      </p:tavLst>
                                    </p:anim>
                                    <p:anim calcmode="lin" valueType="num">
                                      <p:cBhvr additive="base">
                                        <p:cTn id="18" dur="500" fill="hold"/>
                                        <p:tgtEl>
                                          <p:spTgt spid="270347"/>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12" presetClass="entr" presetSubtype="8" fill="hold" nodeType="afterEffect">
                                  <p:stCondLst>
                                    <p:cond delay="0"/>
                                  </p:stCondLst>
                                  <p:childTnLst>
                                    <p:set>
                                      <p:cBhvr>
                                        <p:cTn id="21" dur="1" fill="hold">
                                          <p:stCondLst>
                                            <p:cond delay="0"/>
                                          </p:stCondLst>
                                        </p:cTn>
                                        <p:tgtEl>
                                          <p:spTgt spid="270344"/>
                                        </p:tgtEl>
                                        <p:attrNameLst>
                                          <p:attrName>style.visibility</p:attrName>
                                        </p:attrNameLst>
                                      </p:cBhvr>
                                      <p:to>
                                        <p:strVal val="visible"/>
                                      </p:to>
                                    </p:set>
                                    <p:animEffect transition="in" filter="slide(fromLeft)">
                                      <p:cBhvr>
                                        <p:cTn id="22" dur="500"/>
                                        <p:tgtEl>
                                          <p:spTgt spid="270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autoUpdateAnimBg="0"/>
      <p:bldP spid="270340"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fld id="{412118AF-7252-4D44-B528-16F0E624CE87}" type="slidenum">
              <a:rPr lang="en-US" altLang="zh-CN" i="0">
                <a:latin typeface="Times New Roman" panose="02020603050405020304" pitchFamily="18" charset="0"/>
              </a:rPr>
            </a:fld>
            <a:endParaRPr lang="en-US" altLang="zh-CN" i="0">
              <a:latin typeface="Times New Roman" panose="02020603050405020304" pitchFamily="18" charset="0"/>
            </a:endParaRPr>
          </a:p>
        </p:txBody>
      </p:sp>
      <p:sp>
        <p:nvSpPr>
          <p:cNvPr id="271363" name="Text Box 3"/>
          <p:cNvSpPr txBox="1">
            <a:spLocks noChangeArrowheads="1"/>
          </p:cNvSpPr>
          <p:nvPr/>
        </p:nvSpPr>
        <p:spPr bwMode="auto">
          <a:xfrm>
            <a:off x="533400" y="281940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400" i="0">
                <a:solidFill>
                  <a:srgbClr val="CC3300"/>
                </a:solidFill>
                <a:latin typeface="宋体" panose="02010600030101010101" pitchFamily="2" charset="-122"/>
              </a:rPr>
              <a:t>●</a:t>
            </a:r>
            <a:r>
              <a:rPr kumimoji="1" lang="en-US" altLang="zh-CN" sz="2400" i="0">
                <a:solidFill>
                  <a:srgbClr val="CC3300"/>
                </a:solidFill>
                <a:latin typeface="宋体" panose="02010600030101010101" pitchFamily="2" charset="-122"/>
                <a:cs typeface="Times New Roman" panose="02020603050405020304" pitchFamily="18" charset="0"/>
              </a:rPr>
              <a:t> u</a:t>
            </a:r>
            <a:r>
              <a:rPr kumimoji="1" lang="en-US" altLang="zh-CN" sz="2400" i="0" baseline="-30000">
                <a:solidFill>
                  <a:srgbClr val="CC3300"/>
                </a:solidFill>
                <a:latin typeface="宋体" panose="02010600030101010101" pitchFamily="2" charset="-122"/>
                <a:cs typeface="Times New Roman" panose="02020603050405020304" pitchFamily="18" charset="0"/>
              </a:rPr>
              <a:t>i</a:t>
            </a:r>
            <a:r>
              <a:rPr kumimoji="1" lang="zh-CN" altLang="en-US" sz="2400" i="0">
                <a:solidFill>
                  <a:srgbClr val="CC3300"/>
                </a:solidFill>
                <a:latin typeface="宋体" panose="02010600030101010101" pitchFamily="2" charset="-122"/>
                <a:cs typeface="Times New Roman" panose="02020603050405020304" pitchFamily="18" charset="0"/>
              </a:rPr>
              <a:t>从</a:t>
            </a:r>
            <a:r>
              <a:rPr kumimoji="1" lang="en-US" altLang="zh-CN" sz="2400" i="0">
                <a:solidFill>
                  <a:srgbClr val="CC3300"/>
                </a:solidFill>
                <a:latin typeface="宋体" panose="02010600030101010101" pitchFamily="2" charset="-122"/>
                <a:cs typeface="Times New Roman" panose="02020603050405020304" pitchFamily="18" charset="0"/>
              </a:rPr>
              <a:t>0</a:t>
            </a:r>
            <a:r>
              <a:rPr kumimoji="1" lang="zh-CN" altLang="en-US" sz="2400" i="0">
                <a:solidFill>
                  <a:srgbClr val="CC3300"/>
                </a:solidFill>
                <a:latin typeface="宋体" panose="02010600030101010101" pitchFamily="2" charset="-122"/>
                <a:cs typeface="Times New Roman" panose="02020603050405020304" pitchFamily="18" charset="0"/>
              </a:rPr>
              <a:t>开始逐渐升高</a:t>
            </a:r>
            <a:r>
              <a:rPr kumimoji="1" lang="zh-CN" altLang="en-US" sz="2400" i="0">
                <a:latin typeface="宋体" panose="02010600030101010101" pitchFamily="2" charset="-122"/>
                <a:cs typeface="Times New Roman" panose="02020603050405020304" pitchFamily="18" charset="0"/>
              </a:rPr>
              <a:t>   </a:t>
            </a:r>
            <a:endParaRPr kumimoji="1" lang="zh-CN" altLang="en-US" sz="2400" i="0">
              <a:latin typeface="宋体" panose="02010600030101010101" pitchFamily="2" charset="-122"/>
              <a:cs typeface="Times New Roman" panose="02020603050405020304" pitchFamily="18" charset="0"/>
            </a:endParaRPr>
          </a:p>
        </p:txBody>
      </p:sp>
      <p:graphicFrame>
        <p:nvGraphicFramePr>
          <p:cNvPr id="271367" name="Object 7"/>
          <p:cNvGraphicFramePr>
            <a:graphicFrameLocks noChangeAspect="1"/>
          </p:cNvGraphicFramePr>
          <p:nvPr/>
        </p:nvGraphicFramePr>
        <p:xfrm>
          <a:off x="609600" y="3657600"/>
          <a:ext cx="8274050" cy="2870200"/>
        </p:xfrm>
        <a:graphic>
          <a:graphicData uri="http://schemas.openxmlformats.org/presentationml/2006/ole">
            <mc:AlternateContent xmlns:mc="http://schemas.openxmlformats.org/markup-compatibility/2006">
              <mc:Choice xmlns:v="urn:schemas-microsoft-com:vml" Requires="v">
                <p:oleObj spid="_x0000_s25603" name="Equation" r:id="rId1" imgW="4749800" imgH="1498600" progId="Equation.3">
                  <p:embed/>
                </p:oleObj>
              </mc:Choice>
              <mc:Fallback>
                <p:oleObj name="Equation" r:id="rId1" imgW="4749800" imgH="1498600" progId="Equation.3">
                  <p:embed/>
                  <p:pic>
                    <p:nvPicPr>
                      <p:cNvPr id="0" name="Object 7"/>
                      <p:cNvPicPr>
                        <a:picLocks noChangeAspect="1" noChangeArrowheads="1"/>
                      </p:cNvPicPr>
                      <p:nvPr/>
                    </p:nvPicPr>
                    <p:blipFill>
                      <a:blip r:embed="rId2">
                        <a:lum bright="-100000"/>
                        <a:extLst>
                          <a:ext uri="{28A0092B-C50C-407E-A947-70E740481C1C}">
                            <a14:useLocalDpi xmlns:a14="http://schemas.microsoft.com/office/drawing/2010/main" val="0"/>
                          </a:ext>
                        </a:extLst>
                      </a:blip>
                      <a:srcRect/>
                      <a:stretch>
                        <a:fillRect/>
                      </a:stretch>
                    </p:blipFill>
                    <p:spPr bwMode="auto">
                      <a:xfrm>
                        <a:off x="609600" y="3657600"/>
                        <a:ext cx="8274050" cy="287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71368" name="Picture 8" descr="7"/>
          <p:cNvPicPr>
            <a:picLocks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4876800" y="685800"/>
            <a:ext cx="33528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71368"/>
                                        </p:tgtEl>
                                        <p:attrNameLst>
                                          <p:attrName>style.visibility</p:attrName>
                                        </p:attrNameLst>
                                      </p:cBhvr>
                                      <p:to>
                                        <p:strVal val="visible"/>
                                      </p:to>
                                    </p:set>
                                    <p:anim calcmode="lin" valueType="num">
                                      <p:cBhvr additive="base">
                                        <p:cTn id="7" dur="500" fill="hold"/>
                                        <p:tgtEl>
                                          <p:spTgt spid="271368"/>
                                        </p:tgtEl>
                                        <p:attrNameLst>
                                          <p:attrName>ppt_x</p:attrName>
                                        </p:attrNameLst>
                                      </p:cBhvr>
                                      <p:tavLst>
                                        <p:tav tm="0">
                                          <p:val>
                                            <p:strVal val="1+#ppt_w/2"/>
                                          </p:val>
                                        </p:tav>
                                        <p:tav tm="100000">
                                          <p:val>
                                            <p:strVal val="#ppt_x"/>
                                          </p:val>
                                        </p:tav>
                                      </p:tavLst>
                                    </p:anim>
                                    <p:anim calcmode="lin" valueType="num">
                                      <p:cBhvr additive="base">
                                        <p:cTn id="8" dur="500" fill="hold"/>
                                        <p:tgtEl>
                                          <p:spTgt spid="2713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1363"/>
                                        </p:tgtEl>
                                        <p:attrNameLst>
                                          <p:attrName>style.visibility</p:attrName>
                                        </p:attrNameLst>
                                      </p:cBhvr>
                                      <p:to>
                                        <p:strVal val="visible"/>
                                      </p:to>
                                    </p:set>
                                    <p:anim calcmode="lin" valueType="num">
                                      <p:cBhvr additive="base">
                                        <p:cTn id="13" dur="500" fill="hold"/>
                                        <p:tgtEl>
                                          <p:spTgt spid="271363"/>
                                        </p:tgtEl>
                                        <p:attrNameLst>
                                          <p:attrName>ppt_x</p:attrName>
                                        </p:attrNameLst>
                                      </p:cBhvr>
                                      <p:tavLst>
                                        <p:tav tm="0">
                                          <p:val>
                                            <p:strVal val="0-#ppt_w/2"/>
                                          </p:val>
                                        </p:tav>
                                        <p:tav tm="100000">
                                          <p:val>
                                            <p:strVal val="#ppt_x"/>
                                          </p:val>
                                        </p:tav>
                                      </p:tavLst>
                                    </p:anim>
                                    <p:anim calcmode="lin" valueType="num">
                                      <p:cBhvr additive="base">
                                        <p:cTn id="14" dur="500" fill="hold"/>
                                        <p:tgtEl>
                                          <p:spTgt spid="271363"/>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271367"/>
                                        </p:tgtEl>
                                        <p:attrNameLst>
                                          <p:attrName>style.visibility</p:attrName>
                                        </p:attrNameLst>
                                      </p:cBhvr>
                                      <p:to>
                                        <p:strVal val="visible"/>
                                      </p:to>
                                    </p:set>
                                    <p:anim calcmode="lin" valueType="num">
                                      <p:cBhvr additive="base">
                                        <p:cTn id="18" dur="500" fill="hold"/>
                                        <p:tgtEl>
                                          <p:spTgt spid="271367"/>
                                        </p:tgtEl>
                                        <p:attrNameLst>
                                          <p:attrName>ppt_x</p:attrName>
                                        </p:attrNameLst>
                                      </p:cBhvr>
                                      <p:tavLst>
                                        <p:tav tm="0">
                                          <p:val>
                                            <p:strVal val="#ppt_x"/>
                                          </p:val>
                                        </p:tav>
                                        <p:tav tm="100000">
                                          <p:val>
                                            <p:strVal val="#ppt_x"/>
                                          </p:val>
                                        </p:tav>
                                      </p:tavLst>
                                    </p:anim>
                                    <p:anim calcmode="lin" valueType="num">
                                      <p:cBhvr additive="base">
                                        <p:cTn id="19" dur="500" fill="hold"/>
                                        <p:tgtEl>
                                          <p:spTgt spid="2713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0"/>
          </p:nvPr>
        </p:nvSpPr>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fld id="{3B418C63-C6F1-4E56-B9DE-2207EDB5B328}" type="slidenum">
              <a:rPr lang="en-US" altLang="zh-CN" i="0">
                <a:latin typeface="Times New Roman" panose="02020603050405020304" pitchFamily="18" charset="0"/>
              </a:rPr>
            </a:fld>
            <a:endParaRPr lang="en-US" altLang="zh-CN" i="0">
              <a:latin typeface="Times New Roman" panose="02020603050405020304" pitchFamily="18" charset="0"/>
            </a:endParaRPr>
          </a:p>
        </p:txBody>
      </p:sp>
      <p:grpSp>
        <p:nvGrpSpPr>
          <p:cNvPr id="272387" name="Group 3"/>
          <p:cNvGrpSpPr/>
          <p:nvPr/>
        </p:nvGrpSpPr>
        <p:grpSpPr bwMode="auto">
          <a:xfrm>
            <a:off x="323850" y="5445125"/>
            <a:ext cx="8077200" cy="1104900"/>
            <a:chOff x="192" y="3624"/>
            <a:chExt cx="5088" cy="696"/>
          </a:xfrm>
        </p:grpSpPr>
        <p:sp>
          <p:nvSpPr>
            <p:cNvPr id="37898" name="Text Box 4"/>
            <p:cNvSpPr txBox="1">
              <a:spLocks noChangeArrowheads="1"/>
            </p:cNvSpPr>
            <p:nvPr/>
          </p:nvSpPr>
          <p:spPr bwMode="auto">
            <a:xfrm>
              <a:off x="192" y="3624"/>
              <a:ext cx="5088"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2000" i="0">
                  <a:latin typeface="宋体" panose="02010600030101010101" pitchFamily="2" charset="-122"/>
                </a:rPr>
                <a:t>    </a:t>
              </a:r>
              <a:r>
                <a:rPr kumimoji="1" lang="zh-CN" altLang="en-US" sz="2000" i="0">
                  <a:latin typeface="宋体" panose="02010600030101010101" pitchFamily="2" charset="-122"/>
                </a:rPr>
                <a:t>由以上分析可知，该电路的回差电压为</a:t>
              </a:r>
              <a:endParaRPr kumimoji="1" lang="zh-CN" altLang="en-US" sz="2000" i="0">
                <a:latin typeface="宋体" panose="02010600030101010101" pitchFamily="2" charset="-122"/>
              </a:endParaRPr>
            </a:p>
            <a:p>
              <a:pPr algn="just" eaLnBrk="1" hangingPunct="1">
                <a:spcBef>
                  <a:spcPct val="50000"/>
                </a:spcBef>
              </a:pPr>
              <a:r>
                <a:rPr kumimoji="1" lang="zh-CN" altLang="en-US" sz="2000" i="0">
                  <a:latin typeface="宋体" panose="02010600030101010101" pitchFamily="2" charset="-122"/>
                  <a:cs typeface="Times New Roman" panose="02020603050405020304" pitchFamily="18" charset="0"/>
                </a:rPr>
                <a:t>      </a:t>
              </a:r>
              <a:r>
                <a:rPr kumimoji="1" lang="en-US" altLang="zh-CN" sz="2000" i="0">
                  <a:latin typeface="宋体" panose="02010600030101010101" pitchFamily="2" charset="-122"/>
                  <a:cs typeface="Times New Roman" panose="02020603050405020304" pitchFamily="18" charset="0"/>
                </a:rPr>
                <a:t>ΔU</a:t>
              </a:r>
              <a:r>
                <a:rPr kumimoji="1" lang="en-US" altLang="zh-CN" sz="2000" i="0" baseline="-30000">
                  <a:latin typeface="宋体" panose="02010600030101010101" pitchFamily="2" charset="-122"/>
                  <a:cs typeface="Times New Roman" panose="02020603050405020304" pitchFamily="18" charset="0"/>
                </a:rPr>
                <a:t>T </a:t>
              </a:r>
              <a:r>
                <a:rPr kumimoji="1" lang="en-US" altLang="zh-CN" sz="2000" i="0">
                  <a:latin typeface="宋体" panose="02010600030101010101" pitchFamily="2" charset="-122"/>
                  <a:cs typeface="Times New Roman" panose="02020603050405020304" pitchFamily="18" charset="0"/>
                </a:rPr>
                <a:t>= U</a:t>
              </a:r>
              <a:r>
                <a:rPr kumimoji="1" lang="en-US" altLang="zh-CN" sz="2000" i="0" baseline="-30000">
                  <a:latin typeface="宋体" panose="02010600030101010101" pitchFamily="2" charset="-122"/>
                  <a:cs typeface="Times New Roman" panose="02020603050405020304" pitchFamily="18" charset="0"/>
                </a:rPr>
                <a:t>T+ </a:t>
              </a:r>
              <a:r>
                <a:rPr kumimoji="1" lang="en-US" altLang="zh-CN" sz="2000" i="0">
                  <a:latin typeface="宋体" panose="02010600030101010101" pitchFamily="2" charset="-122"/>
                  <a:cs typeface="Times New Roman" panose="02020603050405020304" pitchFamily="18" charset="0"/>
                </a:rPr>
                <a:t>- U</a:t>
              </a:r>
              <a:r>
                <a:rPr kumimoji="1" lang="en-US" altLang="zh-CN" sz="2000" i="0" baseline="-30000">
                  <a:latin typeface="宋体" panose="02010600030101010101" pitchFamily="2" charset="-122"/>
                  <a:cs typeface="Times New Roman" panose="02020603050405020304" pitchFamily="18" charset="0"/>
                </a:rPr>
                <a:t>T- </a:t>
              </a:r>
              <a:r>
                <a:rPr kumimoji="1" lang="en-US" altLang="zh-CN" sz="2000" i="0">
                  <a:latin typeface="宋体" panose="02010600030101010101" pitchFamily="2" charset="-122"/>
                  <a:cs typeface="Times New Roman" panose="02020603050405020304" pitchFamily="18" charset="0"/>
                </a:rPr>
                <a:t>= </a:t>
              </a:r>
              <a:endParaRPr kumimoji="1" lang="en-US" altLang="zh-CN" sz="2000" i="0">
                <a:latin typeface="宋体" panose="02010600030101010101" pitchFamily="2" charset="-122"/>
                <a:cs typeface="Times New Roman" panose="02020603050405020304" pitchFamily="18" charset="0"/>
              </a:endParaRPr>
            </a:p>
          </p:txBody>
        </p:sp>
        <p:graphicFrame>
          <p:nvGraphicFramePr>
            <p:cNvPr id="37899" name="Object 5"/>
            <p:cNvGraphicFramePr>
              <a:graphicFrameLocks noChangeAspect="1"/>
            </p:cNvGraphicFramePr>
            <p:nvPr/>
          </p:nvGraphicFramePr>
          <p:xfrm>
            <a:off x="2304" y="3896"/>
            <a:ext cx="432" cy="424"/>
          </p:xfrm>
          <a:graphic>
            <a:graphicData uri="http://schemas.openxmlformats.org/presentationml/2006/ole">
              <mc:AlternateContent xmlns:mc="http://schemas.openxmlformats.org/markup-compatibility/2006">
                <mc:Choice xmlns:v="urn:schemas-microsoft-com:vml" Requires="v">
                  <p:oleObj spid="_x0000_s26629" name="Equation" r:id="rId1" imgW="405765" imgH="393065" progId="Equation.3">
                    <p:embed/>
                  </p:oleObj>
                </mc:Choice>
                <mc:Fallback>
                  <p:oleObj name="Equation" r:id="rId1" imgW="405765" imgH="393065" progId="Equation.3">
                    <p:embed/>
                    <p:pic>
                      <p:nvPicPr>
                        <p:cNvPr id="0" name="Object 5"/>
                        <p:cNvPicPr>
                          <a:picLocks noChangeAspect="1" noChangeArrowheads="1"/>
                        </p:cNvPicPr>
                        <p:nvPr/>
                      </p:nvPicPr>
                      <p:blipFill>
                        <a:blip r:embed="rId2">
                          <a:lum bright="-100000" contrast="-70000"/>
                          <a:extLst>
                            <a:ext uri="{28A0092B-C50C-407E-A947-70E740481C1C}">
                              <a14:useLocalDpi xmlns:a14="http://schemas.microsoft.com/office/drawing/2010/main" val="0"/>
                            </a:ext>
                          </a:extLst>
                        </a:blip>
                        <a:srcRect/>
                        <a:stretch>
                          <a:fillRect/>
                        </a:stretch>
                      </p:blipFill>
                      <p:spPr bwMode="auto">
                        <a:xfrm>
                          <a:off x="2304" y="3896"/>
                          <a:ext cx="432"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72393" name="Group 9"/>
          <p:cNvGrpSpPr/>
          <p:nvPr/>
        </p:nvGrpSpPr>
        <p:grpSpPr bwMode="auto">
          <a:xfrm>
            <a:off x="611188" y="1125538"/>
            <a:ext cx="3733800" cy="550862"/>
            <a:chOff x="144" y="1200"/>
            <a:chExt cx="2352" cy="347"/>
          </a:xfrm>
        </p:grpSpPr>
        <p:graphicFrame>
          <p:nvGraphicFramePr>
            <p:cNvPr id="37896" name="Object 10"/>
            <p:cNvGraphicFramePr>
              <a:graphicFrameLocks noChangeAspect="1"/>
            </p:cNvGraphicFramePr>
            <p:nvPr/>
          </p:nvGraphicFramePr>
          <p:xfrm>
            <a:off x="1248" y="1200"/>
            <a:ext cx="373" cy="347"/>
          </p:xfrm>
          <a:graphic>
            <a:graphicData uri="http://schemas.openxmlformats.org/presentationml/2006/ole">
              <mc:AlternateContent xmlns:mc="http://schemas.openxmlformats.org/markup-compatibility/2006">
                <mc:Choice xmlns:v="urn:schemas-microsoft-com:vml" Requires="v">
                  <p:oleObj spid="_x0000_s26630" name="" r:id="rId3" imgW="419100" imgH="393700" progId="Equation.3">
                    <p:embed/>
                  </p:oleObj>
                </mc:Choice>
                <mc:Fallback>
                  <p:oleObj name="" r:id="rId3" imgW="419100" imgH="393700" progId="Equation.3">
                    <p:embed/>
                    <p:pic>
                      <p:nvPicPr>
                        <p:cNvPr id="0" name="Object 10"/>
                        <p:cNvPicPr>
                          <a:picLocks noChangeAspect="1" noChangeArrowheads="1"/>
                        </p:cNvPicPr>
                        <p:nvPr/>
                      </p:nvPicPr>
                      <p:blipFill>
                        <a:blip r:embed="rId4">
                          <a:lum bright="-100000" contrast="-70000"/>
                          <a:extLst>
                            <a:ext uri="{28A0092B-C50C-407E-A947-70E740481C1C}">
                              <a14:useLocalDpi xmlns:a14="http://schemas.microsoft.com/office/drawing/2010/main" val="0"/>
                            </a:ext>
                          </a:extLst>
                        </a:blip>
                        <a:srcRect/>
                        <a:stretch>
                          <a:fillRect/>
                        </a:stretch>
                      </p:blipFill>
                      <p:spPr bwMode="auto">
                        <a:xfrm>
                          <a:off x="1248" y="1200"/>
                          <a:ext cx="373"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7" name="Text Box 11"/>
            <p:cNvSpPr txBox="1">
              <a:spLocks noChangeArrowheads="1"/>
            </p:cNvSpPr>
            <p:nvPr/>
          </p:nvSpPr>
          <p:spPr bwMode="auto">
            <a:xfrm>
              <a:off x="144" y="1248"/>
              <a:ext cx="23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i="0">
                  <a:solidFill>
                    <a:srgbClr val="CC3300"/>
                  </a:solidFill>
                  <a:latin typeface="宋体" panose="02010600030101010101" pitchFamily="2" charset="-122"/>
                </a:rPr>
                <a:t>● </a:t>
              </a:r>
              <a:r>
                <a:rPr kumimoji="1" lang="en-US" altLang="zh-CN" sz="2400" i="0">
                  <a:solidFill>
                    <a:srgbClr val="CC3300"/>
                  </a:solidFill>
                  <a:latin typeface="宋体" panose="02010600030101010101" pitchFamily="2" charset="-122"/>
                  <a:cs typeface="Times New Roman" panose="02020603050405020304" pitchFamily="18" charset="0"/>
                </a:rPr>
                <a:t>u</a:t>
              </a:r>
              <a:r>
                <a:rPr kumimoji="1" lang="en-US" altLang="zh-CN" sz="2400" i="0" baseline="-30000">
                  <a:solidFill>
                    <a:srgbClr val="CC3300"/>
                  </a:solidFill>
                  <a:latin typeface="宋体" panose="02010600030101010101" pitchFamily="2" charset="-122"/>
                  <a:cs typeface="Times New Roman" panose="02020603050405020304" pitchFamily="18" charset="0"/>
                </a:rPr>
                <a:t>i</a:t>
              </a:r>
              <a:r>
                <a:rPr kumimoji="1" lang="zh-CN" altLang="en-US" sz="2400" i="0">
                  <a:solidFill>
                    <a:srgbClr val="CC3300"/>
                  </a:solidFill>
                  <a:latin typeface="宋体" panose="02010600030101010101" pitchFamily="2" charset="-122"/>
                  <a:cs typeface="Times New Roman" panose="02020603050405020304" pitchFamily="18" charset="0"/>
                </a:rPr>
                <a:t>从高于    逐渐下降</a:t>
              </a:r>
              <a:endParaRPr kumimoji="1" lang="zh-CN" altLang="en-US" sz="2400" i="0">
                <a:solidFill>
                  <a:srgbClr val="CC3300"/>
                </a:solidFill>
                <a:latin typeface="宋体" panose="02010600030101010101" pitchFamily="2" charset="-122"/>
                <a:cs typeface="Times New Roman" panose="02020603050405020304" pitchFamily="18" charset="0"/>
              </a:endParaRPr>
            </a:p>
          </p:txBody>
        </p:sp>
      </p:grpSp>
      <p:sp>
        <p:nvSpPr>
          <p:cNvPr id="272396" name="Text Box 12"/>
          <p:cNvSpPr txBox="1">
            <a:spLocks noChangeArrowheads="1"/>
          </p:cNvSpPr>
          <p:nvPr/>
        </p:nvSpPr>
        <p:spPr bwMode="auto">
          <a:xfrm>
            <a:off x="163513" y="4976813"/>
            <a:ext cx="815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i="0">
                <a:latin typeface="宋体" panose="02010600030101010101" pitchFamily="2" charset="-122"/>
                <a:cs typeface="Times New Roman" panose="02020603050405020304" pitchFamily="18" charset="0"/>
              </a:rPr>
              <a:t>     </a:t>
            </a:r>
            <a:r>
              <a:rPr kumimoji="1" lang="zh-CN" altLang="en-US" sz="2000" i="0">
                <a:latin typeface="宋体" panose="02010600030101010101" pitchFamily="2" charset="-122"/>
                <a:cs typeface="Times New Roman" panose="02020603050405020304" pitchFamily="18" charset="0"/>
              </a:rPr>
              <a:t>传输特性如图</a:t>
            </a:r>
            <a:r>
              <a:rPr kumimoji="1" lang="en-US" altLang="zh-CN" sz="2000" i="0">
                <a:latin typeface="宋体" panose="02010600030101010101" pitchFamily="2" charset="-122"/>
                <a:cs typeface="Times New Roman" panose="02020603050405020304" pitchFamily="18" charset="0"/>
              </a:rPr>
              <a:t>(b)</a:t>
            </a:r>
            <a:r>
              <a:rPr kumimoji="1" lang="zh-CN" altLang="en-US" sz="2000" i="0">
                <a:latin typeface="宋体" panose="02010600030101010101" pitchFamily="2" charset="-122"/>
                <a:cs typeface="Times New Roman" panose="02020603050405020304" pitchFamily="18" charset="0"/>
              </a:rPr>
              <a:t>中的 </a:t>
            </a:r>
            <a:r>
              <a:rPr kumimoji="1" lang="en-US" altLang="zh-CN" sz="2000" b="1" i="0">
                <a:solidFill>
                  <a:srgbClr val="CC3300"/>
                </a:solidFill>
                <a:latin typeface="宋体" panose="02010600030101010101" pitchFamily="2" charset="-122"/>
                <a:cs typeface="Times New Roman" panose="02020603050405020304" pitchFamily="18" charset="0"/>
              </a:rPr>
              <a:t>d→e→f→a</a:t>
            </a:r>
            <a:r>
              <a:rPr kumimoji="1" lang="zh-CN" altLang="en-US" sz="2000" i="0">
                <a:solidFill>
                  <a:srgbClr val="CC3300"/>
                </a:solidFill>
                <a:latin typeface="宋体" panose="02010600030101010101" pitchFamily="2" charset="-122"/>
                <a:cs typeface="Times New Roman" panose="02020603050405020304" pitchFamily="18" charset="0"/>
              </a:rPr>
              <a:t>。</a:t>
            </a:r>
            <a:endParaRPr kumimoji="1" lang="zh-CN" altLang="en-US" sz="2000" i="0">
              <a:solidFill>
                <a:srgbClr val="CC3300"/>
              </a:solidFill>
              <a:latin typeface="宋体" panose="02010600030101010101" pitchFamily="2" charset="-122"/>
              <a:cs typeface="Times New Roman" panose="02020603050405020304" pitchFamily="18" charset="0"/>
            </a:endParaRPr>
          </a:p>
        </p:txBody>
      </p:sp>
      <p:graphicFrame>
        <p:nvGraphicFramePr>
          <p:cNvPr id="272397" name="Object 13"/>
          <p:cNvGraphicFramePr>
            <a:graphicFrameLocks noChangeAspect="1"/>
          </p:cNvGraphicFramePr>
          <p:nvPr/>
        </p:nvGraphicFramePr>
        <p:xfrm>
          <a:off x="314325" y="3141663"/>
          <a:ext cx="8829675" cy="2047875"/>
        </p:xfrm>
        <a:graphic>
          <a:graphicData uri="http://schemas.openxmlformats.org/presentationml/2006/ole">
            <mc:AlternateContent xmlns:mc="http://schemas.openxmlformats.org/markup-compatibility/2006">
              <mc:Choice xmlns:v="urn:schemas-microsoft-com:vml" Requires="v">
                <p:oleObj spid="_x0000_s26631" name="Equation" r:id="rId5" imgW="5067300" imgH="1206500" progId="Equation.3">
                  <p:embed/>
                </p:oleObj>
              </mc:Choice>
              <mc:Fallback>
                <p:oleObj name="Equation" r:id="rId5" imgW="5067300" imgH="1206500" progId="Equation.3">
                  <p:embed/>
                  <p:pic>
                    <p:nvPicPr>
                      <p:cNvPr id="0" name="Object 13"/>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314325" y="3141663"/>
                        <a:ext cx="8829675" cy="204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72398" name="Picture 14" descr="7"/>
          <p:cNvPicPr>
            <a:picLocks noChangeAspect="1" noChangeArrowheads="1"/>
          </p:cNvPicPr>
          <p:nvPr/>
        </p:nvPicPr>
        <p:blipFill>
          <a:blip r:embed="rId7">
            <a:lum bright="-100000"/>
            <a:extLst>
              <a:ext uri="{28A0092B-C50C-407E-A947-70E740481C1C}">
                <a14:useLocalDpi xmlns:a14="http://schemas.microsoft.com/office/drawing/2010/main" val="0"/>
              </a:ext>
            </a:extLst>
          </a:blip>
          <a:srcRect/>
          <a:stretch>
            <a:fillRect/>
          </a:stretch>
        </p:blipFill>
        <p:spPr bwMode="auto">
          <a:xfrm>
            <a:off x="4859338" y="549275"/>
            <a:ext cx="3519487"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7239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8" name="projctor.wav"/>
                                        </p:tgtEl>
                                      </p:cMediaNode>
                                    </p:audio>
                                  </p:subTnLst>
                                </p:cTn>
                              </p:par>
                            </p:childTnLst>
                          </p:cTn>
                        </p:par>
                        <p:par>
                          <p:cTn id="7" fill="hold">
                            <p:stCondLst>
                              <p:cond delay="500"/>
                            </p:stCondLst>
                            <p:childTnLst>
                              <p:par>
                                <p:cTn id="8" presetID="2" presetClass="entr" presetSubtype="2" fill="hold" nodeType="afterEffect">
                                  <p:stCondLst>
                                    <p:cond delay="0"/>
                                  </p:stCondLst>
                                  <p:childTnLst>
                                    <p:set>
                                      <p:cBhvr>
                                        <p:cTn id="9" dur="1" fill="hold">
                                          <p:stCondLst>
                                            <p:cond delay="0"/>
                                          </p:stCondLst>
                                        </p:cTn>
                                        <p:tgtEl>
                                          <p:spTgt spid="272398"/>
                                        </p:tgtEl>
                                        <p:attrNameLst>
                                          <p:attrName>style.visibility</p:attrName>
                                        </p:attrNameLst>
                                      </p:cBhvr>
                                      <p:to>
                                        <p:strVal val="visible"/>
                                      </p:to>
                                    </p:set>
                                    <p:anim calcmode="lin" valueType="num">
                                      <p:cBhvr additive="base">
                                        <p:cTn id="10" dur="500" fill="hold"/>
                                        <p:tgtEl>
                                          <p:spTgt spid="272398"/>
                                        </p:tgtEl>
                                        <p:attrNameLst>
                                          <p:attrName>ppt_x</p:attrName>
                                        </p:attrNameLst>
                                      </p:cBhvr>
                                      <p:tavLst>
                                        <p:tav tm="0">
                                          <p:val>
                                            <p:strVal val="1+#ppt_w/2"/>
                                          </p:val>
                                        </p:tav>
                                        <p:tav tm="100000">
                                          <p:val>
                                            <p:strVal val="#ppt_x"/>
                                          </p:val>
                                        </p:tav>
                                      </p:tavLst>
                                    </p:anim>
                                    <p:anim calcmode="lin" valueType="num">
                                      <p:cBhvr additive="base">
                                        <p:cTn id="11" dur="500" fill="hold"/>
                                        <p:tgtEl>
                                          <p:spTgt spid="272398"/>
                                        </p:tgtEl>
                                        <p:attrNameLst>
                                          <p:attrName>ppt_y</p:attrName>
                                        </p:attrNameLst>
                                      </p:cBhvr>
                                      <p:tavLst>
                                        <p:tav tm="0">
                                          <p:val>
                                            <p:strVal val="#ppt_y"/>
                                          </p:val>
                                        </p:tav>
                                        <p:tav tm="100000">
                                          <p:val>
                                            <p:strVal val="#ppt_y"/>
                                          </p:val>
                                        </p:tav>
                                      </p:tavLst>
                                    </p:anim>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72397"/>
                                        </p:tgtEl>
                                        <p:attrNameLst>
                                          <p:attrName>style.visibility</p:attrName>
                                        </p:attrNameLst>
                                      </p:cBhvr>
                                      <p:to>
                                        <p:strVal val="visible"/>
                                      </p:to>
                                    </p:set>
                                    <p:anim calcmode="lin" valueType="num">
                                      <p:cBhvr additive="base">
                                        <p:cTn id="15" dur="500" fill="hold"/>
                                        <p:tgtEl>
                                          <p:spTgt spid="272397"/>
                                        </p:tgtEl>
                                        <p:attrNameLst>
                                          <p:attrName>ppt_x</p:attrName>
                                        </p:attrNameLst>
                                      </p:cBhvr>
                                      <p:tavLst>
                                        <p:tav tm="0">
                                          <p:val>
                                            <p:strVal val="#ppt_x"/>
                                          </p:val>
                                        </p:tav>
                                        <p:tav tm="100000">
                                          <p:val>
                                            <p:strVal val="#ppt_x"/>
                                          </p:val>
                                        </p:tav>
                                      </p:tavLst>
                                    </p:anim>
                                    <p:anim calcmode="lin" valueType="num">
                                      <p:cBhvr additive="base">
                                        <p:cTn id="16" dur="500" fill="hold"/>
                                        <p:tgtEl>
                                          <p:spTgt spid="27239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72396"/>
                                        </p:tgtEl>
                                        <p:attrNameLst>
                                          <p:attrName>style.visibility</p:attrName>
                                        </p:attrNameLst>
                                      </p:cBhvr>
                                      <p:to>
                                        <p:strVal val="visible"/>
                                      </p:to>
                                    </p:set>
                                    <p:anim calcmode="lin" valueType="num">
                                      <p:cBhvr additive="base">
                                        <p:cTn id="21" dur="500" fill="hold"/>
                                        <p:tgtEl>
                                          <p:spTgt spid="272396"/>
                                        </p:tgtEl>
                                        <p:attrNameLst>
                                          <p:attrName>ppt_x</p:attrName>
                                        </p:attrNameLst>
                                      </p:cBhvr>
                                      <p:tavLst>
                                        <p:tav tm="0">
                                          <p:val>
                                            <p:strVal val="#ppt_x"/>
                                          </p:val>
                                        </p:tav>
                                        <p:tav tm="100000">
                                          <p:val>
                                            <p:strVal val="#ppt_x"/>
                                          </p:val>
                                        </p:tav>
                                      </p:tavLst>
                                    </p:anim>
                                    <p:anim calcmode="lin" valueType="num">
                                      <p:cBhvr additive="base">
                                        <p:cTn id="22" dur="500" fill="hold"/>
                                        <p:tgtEl>
                                          <p:spTgt spid="272396"/>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2" presetClass="entr" presetSubtype="8" fill="hold" nodeType="afterEffect">
                                  <p:stCondLst>
                                    <p:cond delay="0"/>
                                  </p:stCondLst>
                                  <p:childTnLst>
                                    <p:set>
                                      <p:cBhvr>
                                        <p:cTn id="25" dur="1" fill="hold">
                                          <p:stCondLst>
                                            <p:cond delay="0"/>
                                          </p:stCondLst>
                                        </p:cTn>
                                        <p:tgtEl>
                                          <p:spTgt spid="272387"/>
                                        </p:tgtEl>
                                        <p:attrNameLst>
                                          <p:attrName>style.visibility</p:attrName>
                                        </p:attrNameLst>
                                      </p:cBhvr>
                                      <p:to>
                                        <p:strVal val="visible"/>
                                      </p:to>
                                    </p:set>
                                    <p:anim calcmode="lin" valueType="num">
                                      <p:cBhvr additive="base">
                                        <p:cTn id="26" dur="500" fill="hold"/>
                                        <p:tgtEl>
                                          <p:spTgt spid="272387"/>
                                        </p:tgtEl>
                                        <p:attrNameLst>
                                          <p:attrName>ppt_x</p:attrName>
                                        </p:attrNameLst>
                                      </p:cBhvr>
                                      <p:tavLst>
                                        <p:tav tm="0">
                                          <p:val>
                                            <p:strVal val="0-#ppt_w/2"/>
                                          </p:val>
                                        </p:tav>
                                        <p:tav tm="100000">
                                          <p:val>
                                            <p:strVal val="#ppt_x"/>
                                          </p:val>
                                        </p:tav>
                                      </p:tavLst>
                                    </p:anim>
                                    <p:anim calcmode="lin" valueType="num">
                                      <p:cBhvr additive="base">
                                        <p:cTn id="27" dur="500" fill="hold"/>
                                        <p:tgtEl>
                                          <p:spTgt spid="2723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6"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lvl1pPr>
              <a:defRPr i="1">
                <a:solidFill>
                  <a:schemeClr val="tx1"/>
                </a:solidFill>
                <a:latin typeface="Arial" panose="020B0604020202020204" pitchFamily="34" charset="0"/>
                <a:ea typeface="宋体" panose="02010600030101010101" pitchFamily="2" charset="-122"/>
              </a:defRPr>
            </a:lvl1pPr>
            <a:lvl2pPr marL="742950" indent="-285750">
              <a:defRPr i="1">
                <a:solidFill>
                  <a:schemeClr val="tx1"/>
                </a:solidFill>
                <a:latin typeface="Arial" panose="020B0604020202020204" pitchFamily="34" charset="0"/>
                <a:ea typeface="宋体" panose="02010600030101010101" pitchFamily="2" charset="-122"/>
              </a:defRPr>
            </a:lvl2pPr>
            <a:lvl3pPr marL="1143000" indent="-228600">
              <a:defRPr i="1">
                <a:solidFill>
                  <a:schemeClr val="tx1"/>
                </a:solidFill>
                <a:latin typeface="Arial" panose="020B0604020202020204" pitchFamily="34" charset="0"/>
                <a:ea typeface="宋体" panose="02010600030101010101" pitchFamily="2" charset="-122"/>
              </a:defRPr>
            </a:lvl3pPr>
            <a:lvl4pPr marL="1600200" indent="-228600">
              <a:defRPr i="1">
                <a:solidFill>
                  <a:schemeClr val="tx1"/>
                </a:solidFill>
                <a:latin typeface="Arial" panose="020B0604020202020204" pitchFamily="34" charset="0"/>
                <a:ea typeface="宋体" panose="02010600030101010101" pitchFamily="2" charset="-122"/>
              </a:defRPr>
            </a:lvl4pPr>
            <a:lvl5pPr marL="2057400" indent="-22860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fld id="{4A053815-3E45-4FC2-9273-D1660EB8118D}" type="slidenum">
              <a:rPr lang="en-US" altLang="zh-CN" i="0">
                <a:latin typeface="Times New Roman" panose="02020603050405020304" pitchFamily="18" charset="0"/>
              </a:rPr>
            </a:fld>
            <a:endParaRPr lang="en-US" altLang="zh-CN" i="0">
              <a:latin typeface="Times New Roman" panose="02020603050405020304" pitchFamily="18" charset="0"/>
            </a:endParaRPr>
          </a:p>
        </p:txBody>
      </p:sp>
      <p:sp>
        <p:nvSpPr>
          <p:cNvPr id="38915" name="Rectangle 2"/>
          <p:cNvSpPr>
            <a:spLocks noGrp="1" noChangeArrowheads="1"/>
          </p:cNvSpPr>
          <p:nvPr>
            <p:ph type="title"/>
          </p:nvPr>
        </p:nvSpPr>
        <p:spPr bwMode="auto">
          <a:xfrm>
            <a:off x="468313" y="630238"/>
            <a:ext cx="8229600" cy="11430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a:t>施密特触发器的应用</a:t>
            </a:r>
            <a:endParaRPr lang="zh-CN" altLang="en-US"/>
          </a:p>
        </p:txBody>
      </p:sp>
      <p:sp>
        <p:nvSpPr>
          <p:cNvPr id="38916" name="Rectangle 3"/>
          <p:cNvSpPr>
            <a:spLocks noGrp="1" noChangeArrowheads="1"/>
          </p:cNvSpPr>
          <p:nvPr>
            <p:ph type="body" idx="1"/>
          </p:nvPr>
        </p:nvSpPr>
        <p:spPr bwMode="auto">
          <a:xfrm>
            <a:off x="468313" y="1628775"/>
            <a:ext cx="8229600" cy="452596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a:t>波形变换：将正弦波、三角波变换成矩形波</a:t>
            </a:r>
            <a:endParaRPr lang="zh-CN" altLang="en-US"/>
          </a:p>
          <a:p>
            <a:pPr eaLnBrk="1" hangingPunct="1"/>
            <a:r>
              <a:rPr lang="zh-CN" altLang="en-US"/>
              <a:t>脉冲整形：去掉叠加在脉冲信号上的干扰波</a:t>
            </a:r>
            <a:endParaRPr lang="zh-CN" altLang="en-US"/>
          </a:p>
          <a:p>
            <a:pPr eaLnBrk="1" hangingPunct="1"/>
            <a:r>
              <a:rPr lang="zh-CN" altLang="en-US"/>
              <a:t>幅值鉴别：从一系列的幅值信号中鉴别出大于某值的信号并产生相应的脉冲输出</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 name="Rectangle 829"/>
          <p:cNvSpPr>
            <a:spLocks noGrp="1" noChangeArrowheads="1"/>
          </p:cNvSpPr>
          <p:nvPr>
            <p:ph type="title" idx="4294967295"/>
          </p:nvPr>
        </p:nvSpPr>
        <p:spPr>
          <a:xfrm>
            <a:off x="1066800" y="533400"/>
            <a:ext cx="7772400" cy="685800"/>
          </a:xfrm>
        </p:spPr>
        <p:txBody>
          <a:bodyPr>
            <a:normAutofit fontScale="90000"/>
          </a:bodyPr>
          <a:lstStyle/>
          <a:p>
            <a:r>
              <a:rPr lang="ru-RU" altLang="zh-CN" b="1" dirty="0">
                <a:effectLst>
                  <a:outerShdw blurRad="38100" dist="38100" dir="2700000" algn="tl">
                    <a:srgbClr val="C0C0C0"/>
                  </a:outerShdw>
                </a:effectLst>
                <a:latin typeface="宋体" panose="02010600030101010101" pitchFamily="2" charset="-122"/>
              </a:rPr>
              <a:t>3</a:t>
            </a:r>
            <a:r>
              <a:rPr kumimoji="1" lang="zh-CN" altLang="en-US" sz="2400" b="1" i="0" dirty="0">
                <a:solidFill>
                  <a:srgbClr val="0000CC"/>
                </a:solidFill>
                <a:latin typeface="宋体" panose="02010600030101010101" pitchFamily="2" charset="-122"/>
                <a:cs typeface="Times New Roman" panose="02020603050405020304" pitchFamily="18" charset="0"/>
              </a:rPr>
              <a:t> ．</a:t>
            </a:r>
            <a:r>
              <a:rPr lang="zh-CN" altLang="ru-RU" b="1" dirty="0">
                <a:effectLst>
                  <a:outerShdw blurRad="38100" dist="38100" dir="2700000" algn="tl">
                    <a:srgbClr val="C0C0C0"/>
                  </a:outerShdw>
                </a:effectLst>
                <a:latin typeface="宋体" panose="02010600030101010101" pitchFamily="2" charset="-122"/>
              </a:rPr>
              <a:t>单稳态触发器</a:t>
            </a:r>
            <a:endParaRPr lang="zh-CN" altLang="ru-RU" b="1" dirty="0">
              <a:effectLst>
                <a:outerShdw blurRad="38100" dist="38100" dir="2700000" algn="tl">
                  <a:srgbClr val="C0C0C0"/>
                </a:outerShdw>
              </a:effectLst>
              <a:latin typeface="宋体" panose="02010600030101010101" pitchFamily="2" charset="-122"/>
            </a:endParaRPr>
          </a:p>
        </p:txBody>
      </p:sp>
      <p:sp>
        <p:nvSpPr>
          <p:cNvPr id="2879" name="Rectangle 831"/>
          <p:cNvSpPr>
            <a:spLocks noChangeArrowheads="1"/>
          </p:cNvSpPr>
          <p:nvPr/>
        </p:nvSpPr>
        <p:spPr bwMode="auto">
          <a:xfrm>
            <a:off x="683568" y="4529931"/>
            <a:ext cx="8001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algn="just" eaLnBrk="0" hangingPunct="0">
              <a:spcBef>
                <a:spcPct val="50000"/>
              </a:spcBef>
            </a:pPr>
            <a:r>
              <a:rPr kumimoji="0" lang="zh-CN" altLang="ru-RU" sz="3200" b="1" dirty="0"/>
              <a:t>单稳态触发器的主要用途：整形</a:t>
            </a:r>
            <a:endParaRPr kumimoji="0" lang="zh-CN" altLang="ru-RU" sz="3200" b="1" dirty="0"/>
          </a:p>
          <a:p>
            <a:pPr algn="just" eaLnBrk="0" hangingPunct="0">
              <a:spcBef>
                <a:spcPct val="50000"/>
              </a:spcBef>
            </a:pPr>
            <a:r>
              <a:rPr kumimoji="0" lang="zh-CN" altLang="ru-RU" sz="3200" b="1" dirty="0"/>
              <a:t>                                                定时</a:t>
            </a:r>
            <a:endParaRPr kumimoji="0" lang="zh-CN" altLang="ru-RU" sz="3200" b="1" dirty="0"/>
          </a:p>
        </p:txBody>
      </p:sp>
      <p:sp>
        <p:nvSpPr>
          <p:cNvPr id="2880" name="AutoShape 832"/>
          <p:cNvSpPr>
            <a:spLocks noChangeArrowheads="1"/>
          </p:cNvSpPr>
          <p:nvPr/>
        </p:nvSpPr>
        <p:spPr bwMode="auto">
          <a:xfrm>
            <a:off x="5364088" y="4718049"/>
            <a:ext cx="215900" cy="935037"/>
          </a:xfrm>
          <a:prstGeom prst="leftBrace">
            <a:avLst>
              <a:gd name="adj1" fmla="val 36091"/>
              <a:gd name="adj2" fmla="val 50000"/>
            </a:avLst>
          </a:prstGeom>
          <a:noFill/>
          <a:ln w="28575" cap="flat" algn="ctr">
            <a:solidFill>
              <a:srgbClr val="FF00FF"/>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6" name="Rectangle 830"/>
          <p:cNvSpPr>
            <a:spLocks noChangeArrowheads="1"/>
          </p:cNvSpPr>
          <p:nvPr/>
        </p:nvSpPr>
        <p:spPr bwMode="auto">
          <a:xfrm>
            <a:off x="914400" y="1363663"/>
            <a:ext cx="7924800" cy="292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57200" indent="-457200" algn="l" rtl="0" fontAlgn="base">
              <a:spcBef>
                <a:spcPct val="20000"/>
              </a:spcBef>
              <a:spcAft>
                <a:spcPct val="0"/>
              </a:spcAft>
              <a:buClr>
                <a:srgbClr val="A50021"/>
              </a:buClr>
              <a:buSzPct val="75000"/>
              <a:buFont typeface="Wingdings" panose="05000000000000000000" pitchFamily="2" charset="2"/>
              <a:buChar char="n"/>
              <a:defRPr kumimoji="1" sz="3200" kern="1200">
                <a:solidFill>
                  <a:schemeClr val="tx1"/>
                </a:solidFill>
                <a:latin typeface="Times New Roman" panose="02020603050405020304" pitchFamily="18" charset="0"/>
                <a:ea typeface="宋体" panose="02010600030101010101" pitchFamily="2" charset="-122"/>
                <a:cs typeface="+mn-cs"/>
              </a:defRPr>
            </a:lvl1pPr>
            <a:lvl2pPr marL="1027430" indent="-455930" algn="l" rtl="0" fontAlgn="base">
              <a:spcBef>
                <a:spcPct val="20000"/>
              </a:spcBef>
              <a:spcAft>
                <a:spcPct val="0"/>
              </a:spcAft>
              <a:buClr>
                <a:schemeClr val="accent2"/>
              </a:buClr>
              <a:buSzPct val="75000"/>
              <a:buFont typeface="Wingdings" panose="05000000000000000000" pitchFamily="2" charset="2"/>
              <a:buChar char="n"/>
              <a:defRPr kumimoji="1" sz="2800" kern="1200">
                <a:solidFill>
                  <a:schemeClr val="tx1"/>
                </a:solidFill>
                <a:latin typeface="Times New Roman" panose="02020603050405020304" pitchFamily="18" charset="0"/>
                <a:ea typeface="宋体" panose="02010600030101010101" pitchFamily="2" charset="-122"/>
                <a:cs typeface="+mn-cs"/>
              </a:defRPr>
            </a:lvl2pPr>
            <a:lvl3pPr marL="1370330" indent="-228600" algn="l" rtl="0" fontAlgn="base">
              <a:spcBef>
                <a:spcPct val="20000"/>
              </a:spcBef>
              <a:spcAft>
                <a:spcPct val="0"/>
              </a:spcAft>
              <a:buClr>
                <a:srgbClr val="666699"/>
              </a:buClr>
              <a:buSzPct val="70000"/>
              <a:buFont typeface="Wingdings" panose="05000000000000000000" pitchFamily="2" charset="2"/>
              <a:buChar char="n"/>
              <a:defRPr kumimoji="1" sz="2400" kern="1200">
                <a:solidFill>
                  <a:schemeClr val="tx1"/>
                </a:solidFill>
                <a:latin typeface="Times New Roman" panose="02020603050405020304" pitchFamily="18" charset="0"/>
                <a:ea typeface="宋体" panose="02010600030101010101" pitchFamily="2" charset="-122"/>
                <a:cs typeface="+mn-cs"/>
              </a:defRPr>
            </a:lvl3pPr>
            <a:lvl4pPr marL="1713230" indent="-228600" algn="l" rtl="0" fontAlgn="base">
              <a:spcBef>
                <a:spcPct val="20000"/>
              </a:spcBef>
              <a:spcAft>
                <a:spcPct val="0"/>
              </a:spcAft>
              <a:buSzPct val="60000"/>
              <a:buFont typeface="Wingdings" panose="05000000000000000000" pitchFamily="2" charset="2"/>
              <a:buChar char="n"/>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fontAlgn="base">
              <a:spcBef>
                <a:spcPct val="20000"/>
              </a:spcBef>
              <a:spcAft>
                <a:spcPct val="0"/>
              </a:spcAft>
              <a:buClr>
                <a:schemeClr val="hlink"/>
              </a:buClr>
              <a:buSzPct val="55000"/>
              <a:buFont typeface="Wingdings" panose="05000000000000000000" pitchFamily="2" charset="2"/>
              <a:buChar char="n"/>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spcAft>
                <a:spcPct val="25000"/>
              </a:spcAft>
            </a:pPr>
            <a:r>
              <a:rPr lang="zh-CN" altLang="ru-RU" sz="2400" b="1" dirty="0">
                <a:effectLst>
                  <a:outerShdw blurRad="38100" dist="38100" dir="2700000" algn="tl">
                    <a:srgbClr val="C0C0C0"/>
                  </a:outerShdw>
                </a:effectLst>
              </a:rPr>
              <a:t>单稳态触发器的特点</a:t>
            </a:r>
            <a:endParaRPr lang="zh-CN" altLang="ru-RU" sz="2400" b="1" dirty="0">
              <a:effectLst>
                <a:outerShdw blurRad="38100" dist="38100" dir="2700000" algn="tl">
                  <a:srgbClr val="C0C0C0"/>
                </a:outerShdw>
              </a:effectLst>
            </a:endParaRPr>
          </a:p>
          <a:p>
            <a:pPr marL="609600" indent="-609600">
              <a:buFont typeface="Wingdings" panose="05000000000000000000" pitchFamily="2" charset="2"/>
              <a:buAutoNum type="arabicPeriod"/>
            </a:pPr>
            <a:r>
              <a:rPr lang="zh-CN" altLang="ru-RU" sz="2400" b="1" dirty="0">
                <a:effectLst>
                  <a:outerShdw blurRad="38100" dist="38100" dir="2700000" algn="tl">
                    <a:srgbClr val="C0C0C0"/>
                  </a:outerShdw>
                </a:effectLst>
              </a:rPr>
              <a:t>电路有一个稳态，一个暂稳态</a:t>
            </a:r>
            <a:endParaRPr lang="zh-CN" altLang="ru-RU" sz="2400" b="1" dirty="0">
              <a:effectLst>
                <a:outerShdw blurRad="38100" dist="38100" dir="2700000" algn="tl">
                  <a:srgbClr val="C0C0C0"/>
                </a:outerShdw>
              </a:effectLst>
            </a:endParaRPr>
          </a:p>
          <a:p>
            <a:pPr marL="609600" indent="-609600">
              <a:buFont typeface="Wingdings" panose="05000000000000000000" pitchFamily="2" charset="2"/>
              <a:buAutoNum type="arabicPeriod"/>
            </a:pPr>
            <a:r>
              <a:rPr lang="zh-CN" altLang="ru-RU" sz="2400" b="1" dirty="0">
                <a:effectLst>
                  <a:outerShdw blurRad="38100" dist="38100" dir="2700000" algn="tl">
                    <a:srgbClr val="C0C0C0"/>
                  </a:outerShdw>
                </a:effectLst>
              </a:rPr>
              <a:t>在无外来触发信号时，电路处于稳态</a:t>
            </a:r>
            <a:endParaRPr lang="zh-CN" altLang="ru-RU" sz="2400" b="1" dirty="0">
              <a:effectLst>
                <a:outerShdw blurRad="38100" dist="38100" dir="2700000" algn="tl">
                  <a:srgbClr val="C0C0C0"/>
                </a:outerShdw>
              </a:effectLst>
            </a:endParaRPr>
          </a:p>
          <a:p>
            <a:pPr marL="609600" indent="-609600">
              <a:buFont typeface="Wingdings" panose="05000000000000000000" pitchFamily="2" charset="2"/>
              <a:buAutoNum type="arabicPeriod"/>
            </a:pPr>
            <a:r>
              <a:rPr lang="zh-CN" altLang="ru-RU" sz="2400" b="1" dirty="0">
                <a:effectLst>
                  <a:outerShdw blurRad="38100" dist="38100" dir="2700000" algn="tl">
                    <a:srgbClr val="C0C0C0"/>
                  </a:outerShdw>
                </a:effectLst>
              </a:rPr>
              <a:t>在外来触发信号的作用下，电路由稳</a:t>
            </a:r>
            <a:br>
              <a:rPr lang="zh-CN" altLang="ru-RU" sz="2400" b="1" dirty="0">
                <a:effectLst>
                  <a:outerShdw blurRad="38100" dist="38100" dir="2700000" algn="tl">
                    <a:srgbClr val="C0C0C0"/>
                  </a:outerShdw>
                </a:effectLst>
              </a:rPr>
            </a:br>
            <a:r>
              <a:rPr lang="zh-CN" altLang="ru-RU" sz="2400" b="1" dirty="0">
                <a:effectLst>
                  <a:outerShdw blurRad="38100" dist="38100" dir="2700000" algn="tl">
                    <a:srgbClr val="C0C0C0"/>
                  </a:outerShdw>
                </a:effectLst>
              </a:rPr>
              <a:t>态转到暂稳态</a:t>
            </a:r>
            <a:endParaRPr lang="zh-CN" altLang="ru-RU" sz="2400" b="1" dirty="0">
              <a:effectLst>
                <a:outerShdw blurRad="38100" dist="38100" dir="2700000" algn="tl">
                  <a:srgbClr val="C0C0C0"/>
                </a:outerShdw>
              </a:effectLst>
            </a:endParaRPr>
          </a:p>
          <a:p>
            <a:pPr marL="609600" indent="-609600">
              <a:buFont typeface="Wingdings" panose="05000000000000000000" pitchFamily="2" charset="2"/>
              <a:buAutoNum type="arabicPeriod"/>
            </a:pPr>
            <a:r>
              <a:rPr lang="zh-CN" altLang="ru-RU" sz="2400" b="1" dirty="0">
                <a:effectLst>
                  <a:outerShdw blurRad="38100" dist="38100" dir="2700000" algn="tl">
                    <a:srgbClr val="C0C0C0"/>
                  </a:outerShdw>
                </a:effectLst>
              </a:rPr>
              <a:t>暂稳态维持一段时间后自动返回稳态</a:t>
            </a:r>
            <a:endParaRPr lang="zh-CN" altLang="ru-RU" sz="2400" b="1" dirty="0">
              <a:effectLst>
                <a:outerShdw blurRad="38100" dist="38100" dir="2700000" algn="tl">
                  <a:srgbClr val="C0C0C0"/>
                </a:outerShdw>
              </a:effectLst>
            </a:endParaRPr>
          </a:p>
        </p:txBody>
      </p:sp>
    </p:spTree>
  </p:cSld>
  <p:clrMapOvr>
    <a:masterClrMapping/>
  </p:clrMapOvr>
  <p:transition spd="med">
    <p:checker/>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childTnLst>
                                    <p:set>
                                      <p:cBhvr additive="base">
                                        <p:cTn id="6" dur="1" fill="hold">
                                          <p:stCondLst>
                                            <p:cond delay="0"/>
                                          </p:stCondLst>
                                        </p:cTn>
                                        <p:tgtEl>
                                          <p:spTgt spid="2879"/>
                                        </p:tgtEl>
                                        <p:attrNameLst>
                                          <p:attrName>style.visibility</p:attrName>
                                        </p:attrNameLst>
                                      </p:cBhvr>
                                      <p:to>
                                        <p:strVal val="visible"/>
                                      </p:to>
                                    </p:set>
                                    <p:animEffect transition="in" filter="blinds(horizontal)">
                                      <p:cBhvr additive="base">
                                        <p:cTn id="7" dur="500"/>
                                        <p:tgtEl>
                                          <p:spTgt spid="2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84" name="Group 836"/>
          <p:cNvGrpSpPr/>
          <p:nvPr/>
        </p:nvGrpSpPr>
        <p:grpSpPr bwMode="auto">
          <a:xfrm>
            <a:off x="1638300" y="1916832"/>
            <a:ext cx="5410200" cy="3200400"/>
            <a:chOff x="1152" y="1296"/>
            <a:chExt cx="3408" cy="2016"/>
          </a:xfrm>
        </p:grpSpPr>
        <p:sp>
          <p:nvSpPr>
            <p:cNvPr id="2885" name="Rectangle 837"/>
            <p:cNvSpPr>
              <a:spLocks noChangeArrowheads="1"/>
            </p:cNvSpPr>
            <p:nvPr/>
          </p:nvSpPr>
          <p:spPr bwMode="auto">
            <a:xfrm>
              <a:off x="2332" y="1920"/>
              <a:ext cx="912" cy="1152"/>
            </a:xfrm>
            <a:prstGeom prst="rect">
              <a:avLst/>
            </a:prstGeom>
            <a:noFill/>
            <a:ln w="571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886" name="Line 838"/>
            <p:cNvSpPr>
              <a:spLocks noChangeShapeType="1"/>
            </p:cNvSpPr>
            <p:nvPr/>
          </p:nvSpPr>
          <p:spPr bwMode="auto">
            <a:xfrm>
              <a:off x="2812" y="3072"/>
              <a:ext cx="0" cy="24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87" name="Line 839"/>
            <p:cNvSpPr>
              <a:spLocks noChangeShapeType="1"/>
            </p:cNvSpPr>
            <p:nvPr/>
          </p:nvSpPr>
          <p:spPr bwMode="auto">
            <a:xfrm>
              <a:off x="2668" y="3312"/>
              <a:ext cx="288" cy="0"/>
            </a:xfrm>
            <a:prstGeom prst="line">
              <a:avLst/>
            </a:prstGeom>
            <a:noFill/>
            <a:ln w="762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88" name="Line 840"/>
            <p:cNvSpPr>
              <a:spLocks noChangeShapeType="1"/>
            </p:cNvSpPr>
            <p:nvPr/>
          </p:nvSpPr>
          <p:spPr bwMode="auto">
            <a:xfrm flipH="1">
              <a:off x="2044" y="2112"/>
              <a:ext cx="288" cy="0"/>
            </a:xfrm>
            <a:prstGeom prst="line">
              <a:avLst/>
            </a:prstGeom>
            <a:noFill/>
            <a:ln w="381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2889" name="Group 841"/>
            <p:cNvGrpSpPr/>
            <p:nvPr/>
          </p:nvGrpSpPr>
          <p:grpSpPr bwMode="auto">
            <a:xfrm>
              <a:off x="1941" y="2256"/>
              <a:ext cx="225" cy="96"/>
              <a:chOff x="1226" y="2928"/>
              <a:chExt cx="144" cy="96"/>
            </a:xfrm>
          </p:grpSpPr>
          <p:sp>
            <p:nvSpPr>
              <p:cNvPr id="2890" name="Line 842"/>
              <p:cNvSpPr>
                <a:spLocks noChangeShapeType="1"/>
              </p:cNvSpPr>
              <p:nvPr/>
            </p:nvSpPr>
            <p:spPr bwMode="auto">
              <a:xfrm>
                <a:off x="1226" y="2928"/>
                <a:ext cx="144" cy="0"/>
              </a:xfrm>
              <a:prstGeom prst="line">
                <a:avLst/>
              </a:prstGeom>
              <a:noFill/>
              <a:ln w="762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91" name="Line 843"/>
              <p:cNvSpPr>
                <a:spLocks noChangeShapeType="1"/>
              </p:cNvSpPr>
              <p:nvPr/>
            </p:nvSpPr>
            <p:spPr bwMode="auto">
              <a:xfrm>
                <a:off x="1226" y="3024"/>
                <a:ext cx="144" cy="0"/>
              </a:xfrm>
              <a:prstGeom prst="line">
                <a:avLst/>
              </a:prstGeom>
              <a:noFill/>
              <a:ln w="762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892" name="Line 844"/>
            <p:cNvSpPr>
              <a:spLocks noChangeShapeType="1"/>
            </p:cNvSpPr>
            <p:nvPr/>
          </p:nvSpPr>
          <p:spPr bwMode="auto">
            <a:xfrm>
              <a:off x="1894" y="2496"/>
              <a:ext cx="301" cy="0"/>
            </a:xfrm>
            <a:prstGeom prst="line">
              <a:avLst/>
            </a:prstGeom>
            <a:noFill/>
            <a:ln w="762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93" name="Line 845"/>
            <p:cNvSpPr>
              <a:spLocks noChangeShapeType="1"/>
            </p:cNvSpPr>
            <p:nvPr/>
          </p:nvSpPr>
          <p:spPr bwMode="auto">
            <a:xfrm flipV="1">
              <a:off x="2572" y="1536"/>
              <a:ext cx="0" cy="384"/>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94" name="Oval 846"/>
            <p:cNvSpPr>
              <a:spLocks noChangeArrowheads="1"/>
            </p:cNvSpPr>
            <p:nvPr/>
          </p:nvSpPr>
          <p:spPr bwMode="auto">
            <a:xfrm>
              <a:off x="2531" y="1473"/>
              <a:ext cx="68" cy="68"/>
            </a:xfrm>
            <a:prstGeom prst="ellipse">
              <a:avLst/>
            </a:prstGeom>
            <a:solidFill>
              <a:srgbClr val="C9DDF1"/>
            </a:solidFill>
            <a:ln w="57150" cap="flat" algn="ctr">
              <a:solidFill>
                <a:srgbClr val="5B5249"/>
              </a:solidFill>
              <a:prstDash val="solid"/>
              <a:round/>
              <a:headEnd type="none" w="med" len="med"/>
              <a:tailEnd type="none" w="med" len="med"/>
            </a:ln>
          </p:spPr>
          <p:txBody>
            <a:bodyPr wrap="none"/>
            <a:lstStyle/>
            <a:p>
              <a:endParaRPr lang="zh-CN" altLang="en-US"/>
            </a:p>
          </p:txBody>
        </p:sp>
        <p:sp>
          <p:nvSpPr>
            <p:cNvPr id="2895" name="Line 847"/>
            <p:cNvSpPr>
              <a:spLocks noChangeShapeType="1"/>
            </p:cNvSpPr>
            <p:nvPr/>
          </p:nvSpPr>
          <p:spPr bwMode="auto">
            <a:xfrm>
              <a:off x="2572" y="1680"/>
              <a:ext cx="1152"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96" name="Line 848"/>
            <p:cNvSpPr>
              <a:spLocks noChangeShapeType="1"/>
            </p:cNvSpPr>
            <p:nvPr/>
          </p:nvSpPr>
          <p:spPr bwMode="auto">
            <a:xfrm flipV="1">
              <a:off x="2956" y="1680"/>
              <a:ext cx="0" cy="24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97" name="Line 849"/>
            <p:cNvSpPr>
              <a:spLocks noChangeShapeType="1"/>
            </p:cNvSpPr>
            <p:nvPr/>
          </p:nvSpPr>
          <p:spPr bwMode="auto">
            <a:xfrm>
              <a:off x="3244" y="2112"/>
              <a:ext cx="72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98" name="Line 850"/>
            <p:cNvSpPr>
              <a:spLocks noChangeShapeType="1"/>
            </p:cNvSpPr>
            <p:nvPr/>
          </p:nvSpPr>
          <p:spPr bwMode="auto">
            <a:xfrm>
              <a:off x="3244" y="2400"/>
              <a:ext cx="48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99" name="Line 851"/>
            <p:cNvSpPr>
              <a:spLocks noChangeShapeType="1"/>
            </p:cNvSpPr>
            <p:nvPr/>
          </p:nvSpPr>
          <p:spPr bwMode="auto">
            <a:xfrm>
              <a:off x="3724" y="1680"/>
              <a:ext cx="0" cy="1344"/>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00" name="Oval 852"/>
            <p:cNvSpPr>
              <a:spLocks noChangeArrowheads="1"/>
            </p:cNvSpPr>
            <p:nvPr/>
          </p:nvSpPr>
          <p:spPr bwMode="auto">
            <a:xfrm>
              <a:off x="3964" y="2079"/>
              <a:ext cx="68" cy="68"/>
            </a:xfrm>
            <a:prstGeom prst="ellipse">
              <a:avLst/>
            </a:prstGeom>
            <a:solidFill>
              <a:srgbClr val="C9DDF1"/>
            </a:solidFill>
            <a:ln w="57150" cap="flat" algn="ctr">
              <a:solidFill>
                <a:srgbClr val="5B5249"/>
              </a:solidFill>
              <a:prstDash val="solid"/>
              <a:round/>
              <a:headEnd type="none" w="med" len="med"/>
              <a:tailEnd type="none" w="med" len="med"/>
            </a:ln>
          </p:spPr>
          <p:txBody>
            <a:bodyPr wrap="none"/>
            <a:lstStyle/>
            <a:p>
              <a:endParaRPr lang="zh-CN" altLang="en-US"/>
            </a:p>
          </p:txBody>
        </p:sp>
        <p:sp>
          <p:nvSpPr>
            <p:cNvPr id="2901" name="Oval 853"/>
            <p:cNvSpPr>
              <a:spLocks noChangeArrowheads="1"/>
            </p:cNvSpPr>
            <p:nvPr/>
          </p:nvSpPr>
          <p:spPr bwMode="auto">
            <a:xfrm>
              <a:off x="2925" y="1643"/>
              <a:ext cx="68" cy="68"/>
            </a:xfrm>
            <a:prstGeom prst="ellipse">
              <a:avLst/>
            </a:prstGeom>
            <a:solidFill>
              <a:srgbClr val="2A3D7A"/>
            </a:solidFill>
            <a:ln w="57150" cap="flat" algn="ctr">
              <a:solidFill>
                <a:srgbClr val="5B5249"/>
              </a:solidFill>
              <a:prstDash val="solid"/>
              <a:round/>
              <a:headEnd type="none" w="med" len="med"/>
              <a:tailEnd type="none" w="med" len="med"/>
            </a:ln>
          </p:spPr>
          <p:txBody>
            <a:bodyPr wrap="none"/>
            <a:lstStyle/>
            <a:p>
              <a:endParaRPr lang="zh-CN" altLang="en-US"/>
            </a:p>
          </p:txBody>
        </p:sp>
        <p:sp>
          <p:nvSpPr>
            <p:cNvPr id="2902" name="Oval 854"/>
            <p:cNvSpPr>
              <a:spLocks noChangeArrowheads="1"/>
            </p:cNvSpPr>
            <p:nvPr/>
          </p:nvSpPr>
          <p:spPr bwMode="auto">
            <a:xfrm>
              <a:off x="3696" y="2352"/>
              <a:ext cx="68" cy="68"/>
            </a:xfrm>
            <a:prstGeom prst="ellipse">
              <a:avLst/>
            </a:prstGeom>
            <a:solidFill>
              <a:srgbClr val="2A3D7A"/>
            </a:solidFill>
            <a:ln w="57150" cap="flat" algn="ctr">
              <a:solidFill>
                <a:srgbClr val="5B5249"/>
              </a:solidFill>
              <a:prstDash val="solid"/>
              <a:round/>
              <a:headEnd type="none" w="med" len="med"/>
              <a:tailEnd type="none" w="med" len="med"/>
            </a:ln>
          </p:spPr>
          <p:txBody>
            <a:bodyPr wrap="none"/>
            <a:lstStyle/>
            <a:p>
              <a:endParaRPr lang="zh-CN" altLang="en-US"/>
            </a:p>
          </p:txBody>
        </p:sp>
        <p:sp>
          <p:nvSpPr>
            <p:cNvPr id="2903" name="Oval 855"/>
            <p:cNvSpPr>
              <a:spLocks noChangeArrowheads="1"/>
            </p:cNvSpPr>
            <p:nvPr/>
          </p:nvSpPr>
          <p:spPr bwMode="auto">
            <a:xfrm>
              <a:off x="3676" y="2832"/>
              <a:ext cx="68" cy="68"/>
            </a:xfrm>
            <a:prstGeom prst="ellipse">
              <a:avLst/>
            </a:prstGeom>
            <a:solidFill>
              <a:srgbClr val="2A3D7A"/>
            </a:solidFill>
            <a:ln w="57150" cap="flat" algn="ctr">
              <a:solidFill>
                <a:srgbClr val="5B5249"/>
              </a:solidFill>
              <a:prstDash val="solid"/>
              <a:round/>
              <a:headEnd type="none" w="med" len="med"/>
              <a:tailEnd type="none" w="med" len="med"/>
            </a:ln>
          </p:spPr>
          <p:txBody>
            <a:bodyPr wrap="none"/>
            <a:lstStyle/>
            <a:p>
              <a:endParaRPr lang="zh-CN" altLang="en-US"/>
            </a:p>
          </p:txBody>
        </p:sp>
        <p:sp>
          <p:nvSpPr>
            <p:cNvPr id="2904" name="Line 856"/>
            <p:cNvSpPr>
              <a:spLocks noChangeShapeType="1"/>
            </p:cNvSpPr>
            <p:nvPr/>
          </p:nvSpPr>
          <p:spPr bwMode="auto">
            <a:xfrm>
              <a:off x="3244" y="2880"/>
              <a:ext cx="48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05" name="Rectangle 857"/>
            <p:cNvSpPr>
              <a:spLocks noChangeArrowheads="1"/>
            </p:cNvSpPr>
            <p:nvPr/>
          </p:nvSpPr>
          <p:spPr bwMode="auto">
            <a:xfrm>
              <a:off x="3676" y="1776"/>
              <a:ext cx="96" cy="240"/>
            </a:xfrm>
            <a:prstGeom prst="rect">
              <a:avLst/>
            </a:prstGeom>
            <a:solidFill>
              <a:srgbClr val="C9DDF1"/>
            </a:solidFill>
            <a:ln w="57150" cap="flat" algn="ctr">
              <a:solidFill>
                <a:srgbClr val="5B5249"/>
              </a:solidFill>
              <a:prstDash val="solid"/>
              <a:miter lim="800000"/>
              <a:headEnd type="none" w="med" len="med"/>
              <a:tailEnd type="none" w="med" len="med"/>
            </a:ln>
          </p:spPr>
          <p:txBody>
            <a:bodyPr wrap="none"/>
            <a:lstStyle/>
            <a:p>
              <a:endParaRPr lang="zh-CN" altLang="en-US"/>
            </a:p>
          </p:txBody>
        </p:sp>
        <p:grpSp>
          <p:nvGrpSpPr>
            <p:cNvPr id="2906" name="Group 858"/>
            <p:cNvGrpSpPr/>
            <p:nvPr/>
          </p:nvGrpSpPr>
          <p:grpSpPr bwMode="auto">
            <a:xfrm>
              <a:off x="3628" y="3024"/>
              <a:ext cx="225" cy="96"/>
              <a:chOff x="1226" y="2928"/>
              <a:chExt cx="144" cy="96"/>
            </a:xfrm>
          </p:grpSpPr>
          <p:sp>
            <p:nvSpPr>
              <p:cNvPr id="2907" name="Line 859"/>
              <p:cNvSpPr>
                <a:spLocks noChangeShapeType="1"/>
              </p:cNvSpPr>
              <p:nvPr/>
            </p:nvSpPr>
            <p:spPr bwMode="auto">
              <a:xfrm>
                <a:off x="1226" y="2928"/>
                <a:ext cx="144" cy="0"/>
              </a:xfrm>
              <a:prstGeom prst="line">
                <a:avLst/>
              </a:prstGeom>
              <a:noFill/>
              <a:ln w="762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08" name="Line 860"/>
              <p:cNvSpPr>
                <a:spLocks noChangeShapeType="1"/>
              </p:cNvSpPr>
              <p:nvPr/>
            </p:nvSpPr>
            <p:spPr bwMode="auto">
              <a:xfrm>
                <a:off x="1226" y="3024"/>
                <a:ext cx="144" cy="0"/>
              </a:xfrm>
              <a:prstGeom prst="line">
                <a:avLst/>
              </a:prstGeom>
              <a:noFill/>
              <a:ln w="762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909" name="Line 861"/>
            <p:cNvSpPr>
              <a:spLocks noChangeShapeType="1"/>
            </p:cNvSpPr>
            <p:nvPr/>
          </p:nvSpPr>
          <p:spPr bwMode="auto">
            <a:xfrm>
              <a:off x="3724" y="3120"/>
              <a:ext cx="0" cy="19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10" name="Line 862"/>
            <p:cNvSpPr>
              <a:spLocks noChangeShapeType="1"/>
            </p:cNvSpPr>
            <p:nvPr/>
          </p:nvSpPr>
          <p:spPr bwMode="auto">
            <a:xfrm>
              <a:off x="3584" y="3312"/>
              <a:ext cx="288" cy="0"/>
            </a:xfrm>
            <a:prstGeom prst="line">
              <a:avLst/>
            </a:prstGeom>
            <a:noFill/>
            <a:ln w="762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11" name="Oval 863"/>
            <p:cNvSpPr>
              <a:spLocks noChangeArrowheads="1"/>
            </p:cNvSpPr>
            <p:nvPr/>
          </p:nvSpPr>
          <p:spPr bwMode="auto">
            <a:xfrm>
              <a:off x="2544" y="1632"/>
              <a:ext cx="68" cy="68"/>
            </a:xfrm>
            <a:prstGeom prst="ellipse">
              <a:avLst/>
            </a:prstGeom>
            <a:solidFill>
              <a:srgbClr val="2A3D7A"/>
            </a:solidFill>
            <a:ln w="57150" cap="flat" algn="ctr">
              <a:solidFill>
                <a:srgbClr val="5B5249"/>
              </a:solidFill>
              <a:prstDash val="solid"/>
              <a:round/>
              <a:headEnd type="none" w="med" len="med"/>
              <a:tailEnd type="none" w="med" len="med"/>
            </a:ln>
          </p:spPr>
          <p:txBody>
            <a:bodyPr wrap="none"/>
            <a:lstStyle/>
            <a:p>
              <a:endParaRPr lang="zh-CN" altLang="en-US"/>
            </a:p>
          </p:txBody>
        </p:sp>
        <p:sp>
          <p:nvSpPr>
            <p:cNvPr id="2912" name="Rectangle 864"/>
            <p:cNvSpPr>
              <a:spLocks noChangeArrowheads="1"/>
            </p:cNvSpPr>
            <p:nvPr/>
          </p:nvSpPr>
          <p:spPr bwMode="auto">
            <a:xfrm>
              <a:off x="2544" y="211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effectLst>
                    <a:outerShdw blurRad="38100" dist="38100" dir="2700000" algn="tl">
                      <a:srgbClr val="C0C0C0"/>
                    </a:outerShdw>
                  </a:effectLst>
                </a:rPr>
                <a:t>555</a:t>
              </a:r>
              <a:endParaRPr kumimoji="1" lang="ru-RU" altLang="zh-CN" b="1">
                <a:effectLst>
                  <a:outerShdw blurRad="38100" dist="38100" dir="2700000" algn="tl">
                    <a:srgbClr val="C0C0C0"/>
                  </a:outerShdw>
                </a:effectLst>
              </a:endParaRPr>
            </a:p>
          </p:txBody>
        </p:sp>
        <p:sp>
          <p:nvSpPr>
            <p:cNvPr id="2913" name="Rectangle 865"/>
            <p:cNvSpPr>
              <a:spLocks noChangeArrowheads="1"/>
            </p:cNvSpPr>
            <p:nvPr/>
          </p:nvSpPr>
          <p:spPr bwMode="auto">
            <a:xfrm>
              <a:off x="2880" y="302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1</a:t>
              </a:r>
              <a:endParaRPr kumimoji="1" lang="ru-RU" altLang="zh-CN" b="1">
                <a:solidFill>
                  <a:srgbClr val="FF0066"/>
                </a:solidFill>
                <a:effectLst>
                  <a:outerShdw blurRad="38100" dist="38100" dir="2700000" algn="tl">
                    <a:srgbClr val="C0C0C0"/>
                  </a:outerShdw>
                </a:effectLst>
              </a:endParaRPr>
            </a:p>
          </p:txBody>
        </p:sp>
        <p:sp>
          <p:nvSpPr>
            <p:cNvPr id="2914" name="Rectangle 866"/>
            <p:cNvSpPr>
              <a:spLocks noChangeArrowheads="1"/>
            </p:cNvSpPr>
            <p:nvPr/>
          </p:nvSpPr>
          <p:spPr bwMode="auto">
            <a:xfrm>
              <a:off x="2208" y="25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2</a:t>
              </a:r>
              <a:endParaRPr kumimoji="1" lang="ru-RU" altLang="zh-CN" b="1">
                <a:solidFill>
                  <a:srgbClr val="FF0066"/>
                </a:solidFill>
                <a:effectLst>
                  <a:outerShdw blurRad="38100" dist="38100" dir="2700000" algn="tl">
                    <a:srgbClr val="C0C0C0"/>
                  </a:outerShdw>
                </a:effectLst>
              </a:endParaRPr>
            </a:p>
          </p:txBody>
        </p:sp>
        <p:sp>
          <p:nvSpPr>
            <p:cNvPr id="2915" name="Rectangle 867"/>
            <p:cNvSpPr>
              <a:spLocks noChangeArrowheads="1"/>
            </p:cNvSpPr>
            <p:nvPr/>
          </p:nvSpPr>
          <p:spPr bwMode="auto">
            <a:xfrm>
              <a:off x="3216" y="216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6</a:t>
              </a:r>
              <a:endParaRPr kumimoji="1" lang="ru-RU" altLang="zh-CN" b="1">
                <a:solidFill>
                  <a:srgbClr val="FF0066"/>
                </a:solidFill>
                <a:effectLst>
                  <a:outerShdw blurRad="38100" dist="38100" dir="2700000" algn="tl">
                    <a:srgbClr val="C0C0C0"/>
                  </a:outerShdw>
                </a:effectLst>
              </a:endParaRPr>
            </a:p>
          </p:txBody>
        </p:sp>
        <p:sp>
          <p:nvSpPr>
            <p:cNvPr id="2916" name="Rectangle 868"/>
            <p:cNvSpPr>
              <a:spLocks noChangeArrowheads="1"/>
            </p:cNvSpPr>
            <p:nvPr/>
          </p:nvSpPr>
          <p:spPr bwMode="auto">
            <a:xfrm>
              <a:off x="3216" y="264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7</a:t>
              </a:r>
              <a:endParaRPr kumimoji="1" lang="ru-RU" altLang="zh-CN" b="1">
                <a:solidFill>
                  <a:srgbClr val="FF0066"/>
                </a:solidFill>
                <a:effectLst>
                  <a:outerShdw blurRad="38100" dist="38100" dir="2700000" algn="tl">
                    <a:srgbClr val="C0C0C0"/>
                  </a:outerShdw>
                </a:effectLst>
              </a:endParaRPr>
            </a:p>
          </p:txBody>
        </p:sp>
        <p:sp>
          <p:nvSpPr>
            <p:cNvPr id="2917" name="Rectangle 869"/>
            <p:cNvSpPr>
              <a:spLocks noChangeArrowheads="1"/>
            </p:cNvSpPr>
            <p:nvPr/>
          </p:nvSpPr>
          <p:spPr bwMode="auto">
            <a:xfrm>
              <a:off x="3216" y="182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3</a:t>
              </a:r>
              <a:endParaRPr kumimoji="1" lang="ru-RU" altLang="zh-CN" b="1">
                <a:solidFill>
                  <a:srgbClr val="FF0066"/>
                </a:solidFill>
                <a:effectLst>
                  <a:outerShdw blurRad="38100" dist="38100" dir="2700000" algn="tl">
                    <a:srgbClr val="C0C0C0"/>
                  </a:outerShdw>
                </a:effectLst>
              </a:endParaRPr>
            </a:p>
          </p:txBody>
        </p:sp>
        <p:sp>
          <p:nvSpPr>
            <p:cNvPr id="2918" name="Rectangle 870"/>
            <p:cNvSpPr>
              <a:spLocks noChangeArrowheads="1"/>
            </p:cNvSpPr>
            <p:nvPr/>
          </p:nvSpPr>
          <p:spPr bwMode="auto">
            <a:xfrm>
              <a:off x="2976" y="168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4</a:t>
              </a:r>
              <a:endParaRPr kumimoji="1" lang="ru-RU" altLang="zh-CN" b="1">
                <a:solidFill>
                  <a:srgbClr val="FF0066"/>
                </a:solidFill>
                <a:effectLst>
                  <a:outerShdw blurRad="38100" dist="38100" dir="2700000" algn="tl">
                    <a:srgbClr val="C0C0C0"/>
                  </a:outerShdw>
                </a:effectLst>
              </a:endParaRPr>
            </a:p>
          </p:txBody>
        </p:sp>
        <p:sp>
          <p:nvSpPr>
            <p:cNvPr id="2919" name="Rectangle 871"/>
            <p:cNvSpPr>
              <a:spLocks noChangeArrowheads="1"/>
            </p:cNvSpPr>
            <p:nvPr/>
          </p:nvSpPr>
          <p:spPr bwMode="auto">
            <a:xfrm>
              <a:off x="2304" y="168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8</a:t>
              </a:r>
              <a:endParaRPr kumimoji="1" lang="ru-RU" altLang="zh-CN" b="1">
                <a:solidFill>
                  <a:srgbClr val="FF0066"/>
                </a:solidFill>
                <a:effectLst>
                  <a:outerShdw blurRad="38100" dist="38100" dir="2700000" algn="tl">
                    <a:srgbClr val="C0C0C0"/>
                  </a:outerShdw>
                </a:effectLst>
              </a:endParaRPr>
            </a:p>
          </p:txBody>
        </p:sp>
        <p:sp>
          <p:nvSpPr>
            <p:cNvPr id="2920" name="Rectangle 872"/>
            <p:cNvSpPr>
              <a:spLocks noChangeArrowheads="1"/>
            </p:cNvSpPr>
            <p:nvPr/>
          </p:nvSpPr>
          <p:spPr bwMode="auto">
            <a:xfrm>
              <a:off x="2064" y="187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5</a:t>
              </a:r>
              <a:endParaRPr kumimoji="1" lang="ru-RU" altLang="zh-CN" b="1">
                <a:solidFill>
                  <a:srgbClr val="FF0066"/>
                </a:solidFill>
                <a:effectLst>
                  <a:outerShdw blurRad="38100" dist="38100" dir="2700000" algn="tl">
                    <a:srgbClr val="C0C0C0"/>
                  </a:outerShdw>
                </a:effectLst>
              </a:endParaRPr>
            </a:p>
          </p:txBody>
        </p:sp>
        <p:sp>
          <p:nvSpPr>
            <p:cNvPr id="2921" name="Rectangle 873"/>
            <p:cNvSpPr>
              <a:spLocks noChangeArrowheads="1"/>
            </p:cNvSpPr>
            <p:nvPr/>
          </p:nvSpPr>
          <p:spPr bwMode="auto">
            <a:xfrm>
              <a:off x="3744" y="1728"/>
              <a:ext cx="5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a:effectLst>
                    <a:outerShdw blurRad="38100" dist="38100" dir="2700000" algn="tl">
                      <a:srgbClr val="C0C0C0"/>
                    </a:outerShdw>
                  </a:effectLst>
                </a:rPr>
                <a:t> R</a:t>
              </a:r>
              <a:endParaRPr kumimoji="1" lang="ru-RU" altLang="zh-CN" sz="2800" b="1">
                <a:effectLst>
                  <a:outerShdw blurRad="38100" dist="38100" dir="2700000" algn="tl">
                    <a:srgbClr val="C0C0C0"/>
                  </a:outerShdw>
                </a:effectLst>
              </a:endParaRPr>
            </a:p>
          </p:txBody>
        </p:sp>
        <p:sp>
          <p:nvSpPr>
            <p:cNvPr id="2922" name="Rectangle 874"/>
            <p:cNvSpPr>
              <a:spLocks noChangeArrowheads="1"/>
            </p:cNvSpPr>
            <p:nvPr/>
          </p:nvSpPr>
          <p:spPr bwMode="auto">
            <a:xfrm>
              <a:off x="4032" y="1872"/>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3200" b="1">
                  <a:solidFill>
                    <a:srgbClr val="FF0066"/>
                  </a:solidFill>
                  <a:effectLst>
                    <a:outerShdw blurRad="38100" dist="38100" dir="2700000" algn="tl">
                      <a:srgbClr val="C0C0C0"/>
                    </a:outerShdw>
                  </a:effectLst>
                </a:rPr>
                <a:t>u</a:t>
              </a:r>
              <a:r>
                <a:rPr kumimoji="1" lang="ru-RU" altLang="zh-CN" sz="3200" b="1" baseline="-25000">
                  <a:solidFill>
                    <a:srgbClr val="FF0066"/>
                  </a:solidFill>
                  <a:effectLst>
                    <a:outerShdw blurRad="38100" dist="38100" dir="2700000" algn="tl">
                      <a:srgbClr val="C0C0C0"/>
                    </a:outerShdw>
                  </a:effectLst>
                </a:rPr>
                <a:t>O</a:t>
              </a:r>
              <a:endParaRPr kumimoji="1" lang="ru-RU" altLang="zh-CN" sz="3200" b="1" baseline="-25000">
                <a:solidFill>
                  <a:srgbClr val="FF0066"/>
                </a:solidFill>
                <a:effectLst>
                  <a:outerShdw blurRad="38100" dist="38100" dir="2700000" algn="tl">
                    <a:srgbClr val="C0C0C0"/>
                  </a:outerShdw>
                </a:effectLst>
              </a:endParaRPr>
            </a:p>
          </p:txBody>
        </p:sp>
        <p:sp>
          <p:nvSpPr>
            <p:cNvPr id="2923" name="Rectangle 875"/>
            <p:cNvSpPr>
              <a:spLocks noChangeArrowheads="1"/>
            </p:cNvSpPr>
            <p:nvPr/>
          </p:nvSpPr>
          <p:spPr bwMode="auto">
            <a:xfrm>
              <a:off x="3744" y="2688"/>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u</a:t>
              </a:r>
              <a:r>
                <a:rPr kumimoji="1" lang="ru-RU" altLang="zh-CN" b="1" baseline="-25000">
                  <a:solidFill>
                    <a:srgbClr val="FF0066"/>
                  </a:solidFill>
                  <a:effectLst>
                    <a:outerShdw blurRad="38100" dist="38100" dir="2700000" algn="tl">
                      <a:srgbClr val="C0C0C0"/>
                    </a:outerShdw>
                  </a:effectLst>
                </a:rPr>
                <a:t>C</a:t>
              </a:r>
              <a:endParaRPr kumimoji="1" lang="ru-RU" altLang="zh-CN" b="1" baseline="-25000">
                <a:solidFill>
                  <a:srgbClr val="FF0066"/>
                </a:solidFill>
                <a:effectLst>
                  <a:outerShdw blurRad="38100" dist="38100" dir="2700000" algn="tl">
                    <a:srgbClr val="C0C0C0"/>
                  </a:outerShdw>
                </a:effectLst>
              </a:endParaRPr>
            </a:p>
          </p:txBody>
        </p:sp>
        <p:sp>
          <p:nvSpPr>
            <p:cNvPr id="2924" name="Rectangle 876"/>
            <p:cNvSpPr>
              <a:spLocks noChangeArrowheads="1"/>
            </p:cNvSpPr>
            <p:nvPr/>
          </p:nvSpPr>
          <p:spPr bwMode="auto">
            <a:xfrm>
              <a:off x="2016" y="1296"/>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b="1">
                  <a:solidFill>
                    <a:srgbClr val="FF0066"/>
                  </a:solidFill>
                  <a:effectLst>
                    <a:outerShdw blurRad="38100" dist="38100" dir="2700000" algn="tl">
                      <a:srgbClr val="C0C0C0"/>
                    </a:outerShdw>
                  </a:effectLst>
                </a:rPr>
                <a:t>V</a:t>
              </a:r>
              <a:r>
                <a:rPr kumimoji="1" lang="ru-RU" altLang="zh-CN" b="1" baseline="-25000">
                  <a:solidFill>
                    <a:srgbClr val="FF0066"/>
                  </a:solidFill>
                  <a:effectLst>
                    <a:outerShdw blurRad="38100" dist="38100" dir="2700000" algn="tl">
                      <a:srgbClr val="C0C0C0"/>
                    </a:outerShdw>
                  </a:effectLst>
                </a:rPr>
                <a:t>CC</a:t>
              </a:r>
              <a:endParaRPr kumimoji="1" lang="ru-RU" altLang="zh-CN" b="1" baseline="-25000">
                <a:solidFill>
                  <a:srgbClr val="FF0066"/>
                </a:solidFill>
                <a:effectLst>
                  <a:outerShdw blurRad="38100" dist="38100" dir="2700000" algn="tl">
                    <a:srgbClr val="C0C0C0"/>
                  </a:outerShdw>
                </a:effectLst>
              </a:endParaRPr>
            </a:p>
          </p:txBody>
        </p:sp>
        <p:sp>
          <p:nvSpPr>
            <p:cNvPr id="2925" name="Rectangle 877"/>
            <p:cNvSpPr>
              <a:spLocks noChangeArrowheads="1"/>
            </p:cNvSpPr>
            <p:nvPr/>
          </p:nvSpPr>
          <p:spPr bwMode="auto">
            <a:xfrm>
              <a:off x="1248" y="1920"/>
              <a:ext cx="72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ru-RU" altLang="zh-CN" b="1">
                  <a:solidFill>
                    <a:srgbClr val="FF0066"/>
                  </a:solidFill>
                  <a:effectLst>
                    <a:outerShdw blurRad="38100" dist="38100" dir="2700000" algn="tl">
                      <a:srgbClr val="C0C0C0"/>
                    </a:outerShdw>
                  </a:effectLst>
                </a:rPr>
                <a:t>C</a:t>
              </a:r>
              <a:r>
                <a:rPr kumimoji="1" lang="ru-RU" altLang="zh-CN" b="1" baseline="-25000">
                  <a:solidFill>
                    <a:srgbClr val="FF0066"/>
                  </a:solidFill>
                  <a:effectLst>
                    <a:outerShdw blurRad="38100" dist="38100" dir="2700000" algn="tl">
                      <a:srgbClr val="C0C0C0"/>
                    </a:outerShdw>
                  </a:effectLst>
                </a:rPr>
                <a:t>1</a:t>
              </a:r>
              <a:br>
                <a:rPr kumimoji="1" lang="ru-RU" altLang="zh-CN" b="1" baseline="-25000">
                  <a:solidFill>
                    <a:srgbClr val="FF0066"/>
                  </a:solidFill>
                  <a:effectLst>
                    <a:outerShdw blurRad="38100" dist="38100" dir="2700000" algn="tl">
                      <a:srgbClr val="C0C0C0"/>
                    </a:outerShdw>
                  </a:effectLst>
                </a:rPr>
              </a:br>
              <a:r>
                <a:rPr kumimoji="1" lang="ru-RU" altLang="zh-CN" b="1">
                  <a:solidFill>
                    <a:srgbClr val="FF0066"/>
                  </a:solidFill>
                  <a:effectLst>
                    <a:outerShdw blurRad="38100" dist="38100" dir="2700000" algn="tl">
                      <a:srgbClr val="C0C0C0"/>
                    </a:outerShdw>
                  </a:effectLst>
                </a:rPr>
                <a:t>0.01</a:t>
              </a:r>
              <a:r>
                <a:rPr kumimoji="1" lang="ru-RU" altLang="zh-CN" b="1">
                  <a:solidFill>
                    <a:srgbClr val="FF0066"/>
                  </a:solidFill>
                  <a:effectLst>
                    <a:outerShdw blurRad="38100" dist="38100" dir="2700000" algn="tl">
                      <a:srgbClr val="C0C0C0"/>
                    </a:outerShdw>
                  </a:effectLst>
                  <a:sym typeface="Symbol" panose="05050102010706020507" pitchFamily="18" charset="2"/>
                </a:rPr>
                <a:t>F</a:t>
              </a:r>
              <a:endParaRPr kumimoji="1" lang="ru-RU" altLang="zh-CN" b="1">
                <a:solidFill>
                  <a:srgbClr val="FF0066"/>
                </a:solidFill>
                <a:effectLst>
                  <a:outerShdw blurRad="38100" dist="38100" dir="2700000" algn="tl">
                    <a:srgbClr val="C0C0C0"/>
                  </a:outerShdw>
                </a:effectLst>
                <a:sym typeface="Symbol" panose="05050102010706020507" pitchFamily="18" charset="2"/>
              </a:endParaRPr>
            </a:p>
          </p:txBody>
        </p:sp>
        <p:sp>
          <p:nvSpPr>
            <p:cNvPr id="2926" name="Line 878"/>
            <p:cNvSpPr>
              <a:spLocks noChangeShapeType="1"/>
            </p:cNvSpPr>
            <p:nvPr/>
          </p:nvSpPr>
          <p:spPr bwMode="auto">
            <a:xfrm>
              <a:off x="2038" y="2112"/>
              <a:ext cx="0" cy="144"/>
            </a:xfrm>
            <a:prstGeom prst="line">
              <a:avLst/>
            </a:prstGeom>
            <a:noFill/>
            <a:ln w="381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27" name="Line 879"/>
            <p:cNvSpPr>
              <a:spLocks noChangeShapeType="1"/>
            </p:cNvSpPr>
            <p:nvPr/>
          </p:nvSpPr>
          <p:spPr bwMode="auto">
            <a:xfrm>
              <a:off x="2042" y="2352"/>
              <a:ext cx="0" cy="144"/>
            </a:xfrm>
            <a:prstGeom prst="line">
              <a:avLst/>
            </a:prstGeom>
            <a:noFill/>
            <a:ln w="3810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28" name="Line 880"/>
            <p:cNvSpPr>
              <a:spLocks noChangeShapeType="1"/>
            </p:cNvSpPr>
            <p:nvPr/>
          </p:nvSpPr>
          <p:spPr bwMode="auto">
            <a:xfrm flipH="1">
              <a:off x="1569" y="2832"/>
              <a:ext cx="768"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29" name="Oval 881"/>
            <p:cNvSpPr>
              <a:spLocks noChangeArrowheads="1"/>
            </p:cNvSpPr>
            <p:nvPr/>
          </p:nvSpPr>
          <p:spPr bwMode="auto">
            <a:xfrm>
              <a:off x="1536" y="2806"/>
              <a:ext cx="68" cy="68"/>
            </a:xfrm>
            <a:prstGeom prst="ellipse">
              <a:avLst/>
            </a:prstGeom>
            <a:solidFill>
              <a:srgbClr val="C9DDF1"/>
            </a:solidFill>
            <a:ln w="28575" cap="flat" algn="ctr">
              <a:solidFill>
                <a:srgbClr val="5B5249"/>
              </a:solidFill>
              <a:prstDash val="solid"/>
              <a:round/>
              <a:headEnd type="none" w="med" len="med"/>
              <a:tailEnd type="none" w="med" len="med"/>
            </a:ln>
          </p:spPr>
          <p:txBody>
            <a:bodyPr wrap="none"/>
            <a:lstStyle/>
            <a:p>
              <a:endParaRPr lang="zh-CN" altLang="en-US"/>
            </a:p>
          </p:txBody>
        </p:sp>
        <p:sp>
          <p:nvSpPr>
            <p:cNvPr id="2930" name="Rectangle 882"/>
            <p:cNvSpPr>
              <a:spLocks noChangeArrowheads="1"/>
            </p:cNvSpPr>
            <p:nvPr/>
          </p:nvSpPr>
          <p:spPr bwMode="auto">
            <a:xfrm>
              <a:off x="1152" y="2544"/>
              <a:ext cx="5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3600" b="1">
                  <a:solidFill>
                    <a:srgbClr val="FF0066"/>
                  </a:solidFill>
                  <a:effectLst>
                    <a:outerShdw blurRad="38100" dist="38100" dir="2700000" algn="tl">
                      <a:srgbClr val="C0C0C0"/>
                    </a:outerShdw>
                  </a:effectLst>
                </a:rPr>
                <a:t>u</a:t>
              </a:r>
              <a:r>
                <a:rPr kumimoji="1" lang="ru-RU" altLang="zh-CN" sz="3600" b="1" baseline="-25000">
                  <a:solidFill>
                    <a:srgbClr val="FF0066"/>
                  </a:solidFill>
                  <a:effectLst>
                    <a:outerShdw blurRad="38100" dist="38100" dir="2700000" algn="tl">
                      <a:srgbClr val="C0C0C0"/>
                    </a:outerShdw>
                  </a:effectLst>
                </a:rPr>
                <a:t>I</a:t>
              </a:r>
              <a:endParaRPr kumimoji="1" lang="ru-RU" altLang="zh-CN" sz="3600" b="1" baseline="-25000">
                <a:solidFill>
                  <a:srgbClr val="FF0066"/>
                </a:solidFill>
                <a:effectLst>
                  <a:outerShdw blurRad="38100" dist="38100" dir="2700000" algn="tl">
                    <a:srgbClr val="C0C0C0"/>
                  </a:outerShdw>
                </a:effectLst>
              </a:endParaRPr>
            </a:p>
          </p:txBody>
        </p:sp>
      </p:grpSp>
      <p:sp>
        <p:nvSpPr>
          <p:cNvPr id="2931" name="Rectangle 883"/>
          <p:cNvSpPr>
            <a:spLocks noChangeArrowheads="1"/>
          </p:cNvSpPr>
          <p:nvPr/>
        </p:nvSpPr>
        <p:spPr bwMode="auto">
          <a:xfrm>
            <a:off x="1371600" y="816171"/>
            <a:ext cx="3704456"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rgbClr val="A50021"/>
              </a:buClr>
              <a:buSzPct val="75000"/>
              <a:buFont typeface="Wingdings" panose="05000000000000000000" pitchFamily="2" charset="2"/>
              <a:buNone/>
            </a:pPr>
            <a:r>
              <a:rPr lang="ru-RU" altLang="zh-CN" sz="3600" b="1" dirty="0">
                <a:effectLst>
                  <a:outerShdw blurRad="38100" dist="38100" dir="2700000" algn="tl">
                    <a:srgbClr val="C0C0C0"/>
                  </a:outerShdw>
                </a:effectLst>
              </a:rPr>
              <a:t>1</a:t>
            </a:r>
            <a:r>
              <a:rPr lang="zh-CN" altLang="en-US" sz="3600" b="1" dirty="0">
                <a:effectLst>
                  <a:outerShdw blurRad="38100" dist="38100" dir="2700000" algn="tl">
                    <a:srgbClr val="C0C0C0"/>
                  </a:outerShdw>
                </a:effectLst>
              </a:rPr>
              <a:t>）</a:t>
            </a:r>
            <a:r>
              <a:rPr lang="zh-CN" altLang="ru-RU" sz="3600" b="1" dirty="0">
                <a:effectLst>
                  <a:outerShdw blurRad="38100" dist="38100" dir="2700000" algn="tl">
                    <a:srgbClr val="C0C0C0"/>
                  </a:outerShdw>
                </a:effectLst>
              </a:rPr>
              <a:t>电路组成</a:t>
            </a:r>
            <a:endParaRPr lang="zh-CN" altLang="ru-RU" sz="3600" b="1" dirty="0">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childTnLst>
                                    <p:set>
                                      <p:cBhvr additive="base">
                                        <p:cTn id="6" dur="1" fill="hold">
                                          <p:stCondLst>
                                            <p:cond delay="499"/>
                                          </p:stCondLst>
                                        </p:cTn>
                                        <p:tgtEl>
                                          <p:spTgt spid="2931">
                                            <p:bg/>
                                          </p:spTgt>
                                        </p:tgtEl>
                                        <p:attrNameLst>
                                          <p:attrName>style.visibility</p:attrName>
                                        </p:attrNameLst>
                                      </p:cBhvr>
                                      <p:to>
                                        <p:strVal val="visible"/>
                                      </p:to>
                                    </p:set>
                                    <p:anim calcmode="lin" valueType="num">
                                      <p:cBhvr additive="base">
                                        <p:cTn id="7" dur="1" fill="hold"/>
                                        <p:tgtEl>
                                          <p:spTgt spid="2931">
                                            <p:bg/>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childTnLst>
                                    <p:set>
                                      <p:cBhvr additive="base">
                                        <p:cTn id="11" dur="1" fill="hold">
                                          <p:stCondLst>
                                            <p:cond delay="499"/>
                                          </p:stCondLst>
                                        </p:cTn>
                                        <p:tgtEl>
                                          <p:spTgt spid="2884"/>
                                        </p:tgtEl>
                                        <p:attrNameLst>
                                          <p:attrName>style.visibility</p:attrName>
                                        </p:attrNameLst>
                                      </p:cBhvr>
                                      <p:to>
                                        <p:strVal val="visible"/>
                                      </p:to>
                                    </p:set>
                                    <p:anim calcmode="lin" valueType="num">
                                      <p:cBhvr additive="base">
                                        <p:cTn id="12" dur="1" fill="hold"/>
                                        <p:tgtEl>
                                          <p:spTgt spid="288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1" grpId="0" animBg="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34" name="Group 886"/>
          <p:cNvGrpSpPr/>
          <p:nvPr/>
        </p:nvGrpSpPr>
        <p:grpSpPr bwMode="auto">
          <a:xfrm>
            <a:off x="250825" y="836613"/>
            <a:ext cx="5791200" cy="3810000"/>
            <a:chOff x="192" y="816"/>
            <a:chExt cx="3648" cy="2400"/>
          </a:xfrm>
        </p:grpSpPr>
        <p:sp>
          <p:nvSpPr>
            <p:cNvPr id="2935" name="Rectangle 887"/>
            <p:cNvSpPr>
              <a:spLocks noChangeArrowheads="1"/>
            </p:cNvSpPr>
            <p:nvPr/>
          </p:nvSpPr>
          <p:spPr bwMode="auto">
            <a:xfrm>
              <a:off x="1275" y="1344"/>
              <a:ext cx="48" cy="192"/>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36" name="Rectangle 888"/>
            <p:cNvSpPr>
              <a:spLocks noChangeArrowheads="1"/>
            </p:cNvSpPr>
            <p:nvPr/>
          </p:nvSpPr>
          <p:spPr bwMode="auto">
            <a:xfrm>
              <a:off x="1275" y="1920"/>
              <a:ext cx="48" cy="192"/>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37" name="Rectangle 889"/>
            <p:cNvSpPr>
              <a:spLocks noChangeArrowheads="1"/>
            </p:cNvSpPr>
            <p:nvPr/>
          </p:nvSpPr>
          <p:spPr bwMode="auto">
            <a:xfrm>
              <a:off x="1275" y="2496"/>
              <a:ext cx="48" cy="192"/>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grpSp>
          <p:nvGrpSpPr>
            <p:cNvPr id="2938" name="Group 890"/>
            <p:cNvGrpSpPr/>
            <p:nvPr/>
          </p:nvGrpSpPr>
          <p:grpSpPr bwMode="auto">
            <a:xfrm>
              <a:off x="1452" y="1536"/>
              <a:ext cx="411" cy="384"/>
              <a:chOff x="1212" y="1776"/>
              <a:chExt cx="411" cy="384"/>
            </a:xfrm>
          </p:grpSpPr>
          <p:sp>
            <p:nvSpPr>
              <p:cNvPr id="2939" name="AutoShape 891"/>
              <p:cNvSpPr>
                <a:spLocks noChangeArrowheads="1"/>
              </p:cNvSpPr>
              <p:nvPr/>
            </p:nvSpPr>
            <p:spPr bwMode="auto">
              <a:xfrm rot="5400000">
                <a:off x="1224" y="1800"/>
                <a:ext cx="384" cy="336"/>
              </a:xfrm>
              <a:prstGeom prst="triangle">
                <a:avLst>
                  <a:gd name="adj" fmla="val 50000"/>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40" name="Rectangle 892"/>
              <p:cNvSpPr>
                <a:spLocks noChangeArrowheads="1"/>
              </p:cNvSpPr>
              <p:nvPr/>
            </p:nvSpPr>
            <p:spPr bwMode="auto">
              <a:xfrm>
                <a:off x="1212" y="1788"/>
                <a:ext cx="240"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75000"/>
                  </a:lnSpc>
                  <a:spcBef>
                    <a:spcPct val="50000"/>
                  </a:spcBef>
                </a:pPr>
                <a:r>
                  <a:rPr lang="ru-RU" altLang="zh-CN" sz="1600" b="1"/>
                  <a:t>+</a:t>
                </a:r>
                <a:endParaRPr lang="ru-RU" altLang="zh-CN" sz="1600" b="1"/>
              </a:p>
              <a:p>
                <a:pPr algn="just" eaLnBrk="0" hangingPunct="0">
                  <a:lnSpc>
                    <a:spcPct val="75000"/>
                  </a:lnSpc>
                  <a:spcBef>
                    <a:spcPct val="50000"/>
                  </a:spcBef>
                </a:pPr>
                <a:r>
                  <a:rPr lang="ru-RU" altLang="zh-CN" sz="1600" b="1"/>
                  <a:t>-</a:t>
                </a:r>
                <a:endParaRPr lang="ru-RU" altLang="zh-CN" sz="1600" b="1"/>
              </a:p>
            </p:txBody>
          </p:sp>
          <p:sp>
            <p:nvSpPr>
              <p:cNvPr id="2941" name="Rectangle 893"/>
              <p:cNvSpPr>
                <a:spLocks noChangeArrowheads="1"/>
              </p:cNvSpPr>
              <p:nvPr/>
            </p:nvSpPr>
            <p:spPr bwMode="auto">
              <a:xfrm>
                <a:off x="1287" y="1863"/>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C</a:t>
                </a:r>
                <a:r>
                  <a:rPr lang="ru-RU" altLang="zh-CN" sz="1400" b="1" baseline="-25000"/>
                  <a:t>1</a:t>
                </a:r>
                <a:endParaRPr lang="ru-RU" altLang="zh-CN" sz="1400" b="1" baseline="-25000"/>
              </a:p>
            </p:txBody>
          </p:sp>
        </p:grpSp>
        <p:grpSp>
          <p:nvGrpSpPr>
            <p:cNvPr id="2942" name="Group 894"/>
            <p:cNvGrpSpPr/>
            <p:nvPr/>
          </p:nvGrpSpPr>
          <p:grpSpPr bwMode="auto">
            <a:xfrm>
              <a:off x="1449" y="2112"/>
              <a:ext cx="411" cy="384"/>
              <a:chOff x="1212" y="1776"/>
              <a:chExt cx="411" cy="384"/>
            </a:xfrm>
          </p:grpSpPr>
          <p:sp>
            <p:nvSpPr>
              <p:cNvPr id="2943" name="AutoShape 895"/>
              <p:cNvSpPr>
                <a:spLocks noChangeArrowheads="1"/>
              </p:cNvSpPr>
              <p:nvPr/>
            </p:nvSpPr>
            <p:spPr bwMode="auto">
              <a:xfrm rot="5400000">
                <a:off x="1224" y="1800"/>
                <a:ext cx="384" cy="336"/>
              </a:xfrm>
              <a:prstGeom prst="triangle">
                <a:avLst>
                  <a:gd name="adj" fmla="val 50000"/>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44" name="Rectangle 896"/>
              <p:cNvSpPr>
                <a:spLocks noChangeArrowheads="1"/>
              </p:cNvSpPr>
              <p:nvPr/>
            </p:nvSpPr>
            <p:spPr bwMode="auto">
              <a:xfrm>
                <a:off x="1212" y="1788"/>
                <a:ext cx="240"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75000"/>
                  </a:lnSpc>
                  <a:spcBef>
                    <a:spcPct val="50000"/>
                  </a:spcBef>
                </a:pPr>
                <a:r>
                  <a:rPr lang="ru-RU" altLang="zh-CN" sz="1600" b="1"/>
                  <a:t>+</a:t>
                </a:r>
                <a:endParaRPr lang="ru-RU" altLang="zh-CN" sz="1600" b="1"/>
              </a:p>
              <a:p>
                <a:pPr algn="just" eaLnBrk="0" hangingPunct="0">
                  <a:lnSpc>
                    <a:spcPct val="75000"/>
                  </a:lnSpc>
                  <a:spcBef>
                    <a:spcPct val="50000"/>
                  </a:spcBef>
                </a:pPr>
                <a:r>
                  <a:rPr lang="ru-RU" altLang="zh-CN" sz="1600" b="1"/>
                  <a:t>-</a:t>
                </a:r>
                <a:endParaRPr lang="ru-RU" altLang="zh-CN" sz="1600" b="1"/>
              </a:p>
            </p:txBody>
          </p:sp>
          <p:sp>
            <p:nvSpPr>
              <p:cNvPr id="2945" name="Rectangle 897"/>
              <p:cNvSpPr>
                <a:spLocks noChangeArrowheads="1"/>
              </p:cNvSpPr>
              <p:nvPr/>
            </p:nvSpPr>
            <p:spPr bwMode="auto">
              <a:xfrm>
                <a:off x="1287" y="1863"/>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C</a:t>
                </a:r>
                <a:r>
                  <a:rPr lang="ru-RU" altLang="zh-CN" sz="1400" b="1" baseline="-25000"/>
                  <a:t>1</a:t>
                </a:r>
                <a:endParaRPr lang="ru-RU" altLang="zh-CN" sz="1400" b="1" baseline="-25000"/>
              </a:p>
            </p:txBody>
          </p:sp>
        </p:grpSp>
        <p:sp>
          <p:nvSpPr>
            <p:cNvPr id="2946" name="Line 898"/>
            <p:cNvSpPr>
              <a:spLocks noChangeShapeType="1"/>
            </p:cNvSpPr>
            <p:nvPr/>
          </p:nvSpPr>
          <p:spPr bwMode="auto">
            <a:xfrm flipH="1">
              <a:off x="912" y="1632"/>
              <a:ext cx="57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47" name="Line 899"/>
            <p:cNvSpPr>
              <a:spLocks noChangeShapeType="1"/>
            </p:cNvSpPr>
            <p:nvPr/>
          </p:nvSpPr>
          <p:spPr bwMode="auto">
            <a:xfrm>
              <a:off x="1296" y="1536"/>
              <a:ext cx="0" cy="38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48" name="Line 900"/>
            <p:cNvSpPr>
              <a:spLocks noChangeShapeType="1"/>
            </p:cNvSpPr>
            <p:nvPr/>
          </p:nvSpPr>
          <p:spPr bwMode="auto">
            <a:xfrm>
              <a:off x="1296" y="2112"/>
              <a:ext cx="0" cy="38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49" name="Line 901"/>
            <p:cNvSpPr>
              <a:spLocks noChangeShapeType="1"/>
            </p:cNvSpPr>
            <p:nvPr/>
          </p:nvSpPr>
          <p:spPr bwMode="auto">
            <a:xfrm>
              <a:off x="1296" y="2688"/>
              <a:ext cx="0" cy="528"/>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50" name="Line 902"/>
            <p:cNvSpPr>
              <a:spLocks noChangeShapeType="1"/>
            </p:cNvSpPr>
            <p:nvPr/>
          </p:nvSpPr>
          <p:spPr bwMode="auto">
            <a:xfrm>
              <a:off x="1248" y="3216"/>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51" name="Line 903"/>
            <p:cNvSpPr>
              <a:spLocks noChangeShapeType="1"/>
            </p:cNvSpPr>
            <p:nvPr/>
          </p:nvSpPr>
          <p:spPr bwMode="auto">
            <a:xfrm flipH="1">
              <a:off x="912" y="2208"/>
              <a:ext cx="57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52" name="Line 904"/>
            <p:cNvSpPr>
              <a:spLocks noChangeShapeType="1"/>
            </p:cNvSpPr>
            <p:nvPr/>
          </p:nvSpPr>
          <p:spPr bwMode="auto">
            <a:xfrm>
              <a:off x="1296" y="2400"/>
              <a:ext cx="192"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53" name="Line 905"/>
            <p:cNvSpPr>
              <a:spLocks noChangeShapeType="1"/>
            </p:cNvSpPr>
            <p:nvPr/>
          </p:nvSpPr>
          <p:spPr bwMode="auto">
            <a:xfrm>
              <a:off x="912" y="1824"/>
              <a:ext cx="57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54" name="Oval 906"/>
            <p:cNvSpPr>
              <a:spLocks noChangeArrowheads="1"/>
            </p:cNvSpPr>
            <p:nvPr/>
          </p:nvSpPr>
          <p:spPr bwMode="auto">
            <a:xfrm>
              <a:off x="1275" y="1605"/>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2955" name="Oval 907"/>
            <p:cNvSpPr>
              <a:spLocks noChangeArrowheads="1"/>
            </p:cNvSpPr>
            <p:nvPr/>
          </p:nvSpPr>
          <p:spPr bwMode="auto">
            <a:xfrm>
              <a:off x="1278" y="2373"/>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2956" name="Line 908"/>
            <p:cNvSpPr>
              <a:spLocks noChangeShapeType="1"/>
            </p:cNvSpPr>
            <p:nvPr/>
          </p:nvSpPr>
          <p:spPr bwMode="auto">
            <a:xfrm>
              <a:off x="1296" y="1056"/>
              <a:ext cx="0" cy="288"/>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957" name="Group 909"/>
            <p:cNvGrpSpPr/>
            <p:nvPr/>
          </p:nvGrpSpPr>
          <p:grpSpPr bwMode="auto">
            <a:xfrm>
              <a:off x="2196" y="1584"/>
              <a:ext cx="288" cy="288"/>
              <a:chOff x="1956" y="1824"/>
              <a:chExt cx="288" cy="288"/>
            </a:xfrm>
          </p:grpSpPr>
          <p:sp>
            <p:nvSpPr>
              <p:cNvPr id="2958" name="Rectangle 910"/>
              <p:cNvSpPr>
                <a:spLocks noChangeArrowheads="1"/>
              </p:cNvSpPr>
              <p:nvPr/>
            </p:nvSpPr>
            <p:spPr bwMode="auto">
              <a:xfrm>
                <a:off x="1968" y="1824"/>
                <a:ext cx="192" cy="288"/>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59" name="Oval 911"/>
              <p:cNvSpPr>
                <a:spLocks noChangeArrowheads="1"/>
              </p:cNvSpPr>
              <p:nvPr/>
            </p:nvSpPr>
            <p:spPr bwMode="auto">
              <a:xfrm>
                <a:off x="2160" y="1938"/>
                <a:ext cx="48" cy="48"/>
              </a:xfrm>
              <a:prstGeom prst="ellipse">
                <a:avLst/>
              </a:prstGeom>
              <a:noFill/>
              <a:ln w="190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60" name="Rectangle 912"/>
              <p:cNvSpPr>
                <a:spLocks noChangeArrowheads="1"/>
              </p:cNvSpPr>
              <p:nvPr/>
            </p:nvSpPr>
            <p:spPr bwMode="auto">
              <a:xfrm>
                <a:off x="1956" y="1854"/>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&amp;</a:t>
                </a:r>
                <a:endParaRPr lang="ru-RU" altLang="zh-CN" sz="1600" b="1"/>
              </a:p>
            </p:txBody>
          </p:sp>
        </p:grpSp>
        <p:grpSp>
          <p:nvGrpSpPr>
            <p:cNvPr id="2961" name="Group 913"/>
            <p:cNvGrpSpPr/>
            <p:nvPr/>
          </p:nvGrpSpPr>
          <p:grpSpPr bwMode="auto">
            <a:xfrm>
              <a:off x="2208" y="2112"/>
              <a:ext cx="288" cy="288"/>
              <a:chOff x="1956" y="1824"/>
              <a:chExt cx="288" cy="288"/>
            </a:xfrm>
          </p:grpSpPr>
          <p:sp>
            <p:nvSpPr>
              <p:cNvPr id="2962" name="Rectangle 914"/>
              <p:cNvSpPr>
                <a:spLocks noChangeArrowheads="1"/>
              </p:cNvSpPr>
              <p:nvPr/>
            </p:nvSpPr>
            <p:spPr bwMode="auto">
              <a:xfrm>
                <a:off x="1968" y="1824"/>
                <a:ext cx="192" cy="288"/>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63" name="Oval 915"/>
              <p:cNvSpPr>
                <a:spLocks noChangeArrowheads="1"/>
              </p:cNvSpPr>
              <p:nvPr/>
            </p:nvSpPr>
            <p:spPr bwMode="auto">
              <a:xfrm>
                <a:off x="2160" y="1938"/>
                <a:ext cx="48" cy="48"/>
              </a:xfrm>
              <a:prstGeom prst="ellipse">
                <a:avLst/>
              </a:prstGeom>
              <a:noFill/>
              <a:ln w="190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64" name="Rectangle 916"/>
              <p:cNvSpPr>
                <a:spLocks noChangeArrowheads="1"/>
              </p:cNvSpPr>
              <p:nvPr/>
            </p:nvSpPr>
            <p:spPr bwMode="auto">
              <a:xfrm>
                <a:off x="1956" y="1854"/>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&amp;</a:t>
                </a:r>
                <a:endParaRPr lang="ru-RU" altLang="zh-CN" sz="1600" b="1"/>
              </a:p>
            </p:txBody>
          </p:sp>
        </p:grpSp>
        <p:sp>
          <p:nvSpPr>
            <p:cNvPr id="2965" name="Line 917"/>
            <p:cNvSpPr>
              <a:spLocks noChangeShapeType="1"/>
            </p:cNvSpPr>
            <p:nvPr/>
          </p:nvSpPr>
          <p:spPr bwMode="auto">
            <a:xfrm>
              <a:off x="1824" y="2304"/>
              <a:ext cx="38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66" name="Line 918"/>
            <p:cNvSpPr>
              <a:spLocks noChangeShapeType="1"/>
            </p:cNvSpPr>
            <p:nvPr/>
          </p:nvSpPr>
          <p:spPr bwMode="auto">
            <a:xfrm>
              <a:off x="1824" y="1728"/>
              <a:ext cx="38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67" name="Line 919"/>
            <p:cNvSpPr>
              <a:spLocks noChangeShapeType="1"/>
            </p:cNvSpPr>
            <p:nvPr/>
          </p:nvSpPr>
          <p:spPr bwMode="auto">
            <a:xfrm>
              <a:off x="2448" y="1728"/>
              <a:ext cx="14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68" name="Line 920"/>
            <p:cNvSpPr>
              <a:spLocks noChangeShapeType="1"/>
            </p:cNvSpPr>
            <p:nvPr/>
          </p:nvSpPr>
          <p:spPr bwMode="auto">
            <a:xfrm>
              <a:off x="2592" y="1728"/>
              <a:ext cx="0" cy="192"/>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69" name="Line 921"/>
            <p:cNvSpPr>
              <a:spLocks noChangeShapeType="1"/>
            </p:cNvSpPr>
            <p:nvPr/>
          </p:nvSpPr>
          <p:spPr bwMode="auto">
            <a:xfrm flipH="1">
              <a:off x="2064" y="1920"/>
              <a:ext cx="528" cy="14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70" name="Line 922"/>
            <p:cNvSpPr>
              <a:spLocks noChangeShapeType="1"/>
            </p:cNvSpPr>
            <p:nvPr/>
          </p:nvSpPr>
          <p:spPr bwMode="auto">
            <a:xfrm>
              <a:off x="2064" y="2064"/>
              <a:ext cx="0" cy="14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71" name="Line 923"/>
            <p:cNvSpPr>
              <a:spLocks noChangeShapeType="1"/>
            </p:cNvSpPr>
            <p:nvPr/>
          </p:nvSpPr>
          <p:spPr bwMode="auto">
            <a:xfrm>
              <a:off x="2064" y="2208"/>
              <a:ext cx="14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72" name="Line 924"/>
            <p:cNvSpPr>
              <a:spLocks noChangeShapeType="1"/>
            </p:cNvSpPr>
            <p:nvPr/>
          </p:nvSpPr>
          <p:spPr bwMode="auto">
            <a:xfrm>
              <a:off x="2064" y="1824"/>
              <a:ext cx="14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73" name="Line 925"/>
            <p:cNvSpPr>
              <a:spLocks noChangeShapeType="1"/>
            </p:cNvSpPr>
            <p:nvPr/>
          </p:nvSpPr>
          <p:spPr bwMode="auto">
            <a:xfrm>
              <a:off x="2064" y="1824"/>
              <a:ext cx="0" cy="9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74" name="Line 926"/>
            <p:cNvSpPr>
              <a:spLocks noChangeShapeType="1"/>
            </p:cNvSpPr>
            <p:nvPr/>
          </p:nvSpPr>
          <p:spPr bwMode="auto">
            <a:xfrm>
              <a:off x="2064" y="1920"/>
              <a:ext cx="528" cy="14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75" name="Line 927"/>
            <p:cNvSpPr>
              <a:spLocks noChangeShapeType="1"/>
            </p:cNvSpPr>
            <p:nvPr/>
          </p:nvSpPr>
          <p:spPr bwMode="auto">
            <a:xfrm>
              <a:off x="2592" y="2064"/>
              <a:ext cx="0" cy="192"/>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76" name="Line 928"/>
            <p:cNvSpPr>
              <a:spLocks noChangeShapeType="1"/>
            </p:cNvSpPr>
            <p:nvPr/>
          </p:nvSpPr>
          <p:spPr bwMode="auto">
            <a:xfrm>
              <a:off x="2475" y="2256"/>
              <a:ext cx="309"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977" name="Group 929"/>
            <p:cNvGrpSpPr/>
            <p:nvPr/>
          </p:nvGrpSpPr>
          <p:grpSpPr bwMode="auto">
            <a:xfrm>
              <a:off x="2784" y="2121"/>
              <a:ext cx="288" cy="288"/>
              <a:chOff x="1956" y="1824"/>
              <a:chExt cx="288" cy="288"/>
            </a:xfrm>
          </p:grpSpPr>
          <p:sp>
            <p:nvSpPr>
              <p:cNvPr id="2978" name="Rectangle 930"/>
              <p:cNvSpPr>
                <a:spLocks noChangeArrowheads="1"/>
              </p:cNvSpPr>
              <p:nvPr/>
            </p:nvSpPr>
            <p:spPr bwMode="auto">
              <a:xfrm>
                <a:off x="1968" y="1824"/>
                <a:ext cx="192" cy="288"/>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79" name="Oval 931"/>
              <p:cNvSpPr>
                <a:spLocks noChangeArrowheads="1"/>
              </p:cNvSpPr>
              <p:nvPr/>
            </p:nvSpPr>
            <p:spPr bwMode="auto">
              <a:xfrm>
                <a:off x="2160" y="1938"/>
                <a:ext cx="48" cy="48"/>
              </a:xfrm>
              <a:prstGeom prst="ellipse">
                <a:avLst/>
              </a:prstGeom>
              <a:noFill/>
              <a:ln w="190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80" name="Rectangle 932"/>
              <p:cNvSpPr>
                <a:spLocks noChangeArrowheads="1"/>
              </p:cNvSpPr>
              <p:nvPr/>
            </p:nvSpPr>
            <p:spPr bwMode="auto">
              <a:xfrm>
                <a:off x="1956" y="1854"/>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&amp;</a:t>
                </a:r>
                <a:endParaRPr lang="ru-RU" altLang="zh-CN" sz="1600" b="1"/>
              </a:p>
            </p:txBody>
          </p:sp>
        </p:grpSp>
        <p:sp>
          <p:nvSpPr>
            <p:cNvPr id="2981" name="Line 933"/>
            <p:cNvSpPr>
              <a:spLocks noChangeShapeType="1"/>
            </p:cNvSpPr>
            <p:nvPr/>
          </p:nvSpPr>
          <p:spPr bwMode="auto">
            <a:xfrm flipH="1">
              <a:off x="2064" y="1632"/>
              <a:ext cx="14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82" name="Line 934"/>
            <p:cNvSpPr>
              <a:spLocks noChangeShapeType="1"/>
            </p:cNvSpPr>
            <p:nvPr/>
          </p:nvSpPr>
          <p:spPr bwMode="auto">
            <a:xfrm flipV="1">
              <a:off x="2064" y="1056"/>
              <a:ext cx="0" cy="57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83" name="Line 935"/>
            <p:cNvSpPr>
              <a:spLocks noChangeShapeType="1"/>
            </p:cNvSpPr>
            <p:nvPr/>
          </p:nvSpPr>
          <p:spPr bwMode="auto">
            <a:xfrm>
              <a:off x="2064" y="1440"/>
              <a:ext cx="62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84" name="Line 936"/>
            <p:cNvSpPr>
              <a:spLocks noChangeShapeType="1"/>
            </p:cNvSpPr>
            <p:nvPr/>
          </p:nvSpPr>
          <p:spPr bwMode="auto">
            <a:xfrm>
              <a:off x="2688" y="1440"/>
              <a:ext cx="0" cy="72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85" name="Line 937"/>
            <p:cNvSpPr>
              <a:spLocks noChangeShapeType="1"/>
            </p:cNvSpPr>
            <p:nvPr/>
          </p:nvSpPr>
          <p:spPr bwMode="auto">
            <a:xfrm>
              <a:off x="2688" y="2160"/>
              <a:ext cx="9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986" name="Group 938"/>
            <p:cNvGrpSpPr/>
            <p:nvPr/>
          </p:nvGrpSpPr>
          <p:grpSpPr bwMode="auto">
            <a:xfrm>
              <a:off x="3120" y="2121"/>
              <a:ext cx="288" cy="288"/>
              <a:chOff x="1956" y="1824"/>
              <a:chExt cx="288" cy="288"/>
            </a:xfrm>
          </p:grpSpPr>
          <p:sp>
            <p:nvSpPr>
              <p:cNvPr id="2987" name="Rectangle 939"/>
              <p:cNvSpPr>
                <a:spLocks noChangeArrowheads="1"/>
              </p:cNvSpPr>
              <p:nvPr/>
            </p:nvSpPr>
            <p:spPr bwMode="auto">
              <a:xfrm>
                <a:off x="1968" y="1824"/>
                <a:ext cx="192" cy="288"/>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88" name="Oval 940"/>
              <p:cNvSpPr>
                <a:spLocks noChangeArrowheads="1"/>
              </p:cNvSpPr>
              <p:nvPr/>
            </p:nvSpPr>
            <p:spPr bwMode="auto">
              <a:xfrm>
                <a:off x="2160" y="1938"/>
                <a:ext cx="48" cy="48"/>
              </a:xfrm>
              <a:prstGeom prst="ellipse">
                <a:avLst/>
              </a:prstGeom>
              <a:noFill/>
              <a:ln w="190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2989" name="Rectangle 941"/>
              <p:cNvSpPr>
                <a:spLocks noChangeArrowheads="1"/>
              </p:cNvSpPr>
              <p:nvPr/>
            </p:nvSpPr>
            <p:spPr bwMode="auto">
              <a:xfrm>
                <a:off x="1956" y="185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 1</a:t>
                </a:r>
                <a:endParaRPr lang="ru-RU" altLang="zh-CN" sz="1400" b="1"/>
              </a:p>
            </p:txBody>
          </p:sp>
        </p:grpSp>
        <p:sp>
          <p:nvSpPr>
            <p:cNvPr id="2990" name="Line 942"/>
            <p:cNvSpPr>
              <a:spLocks noChangeShapeType="1"/>
            </p:cNvSpPr>
            <p:nvPr/>
          </p:nvSpPr>
          <p:spPr bwMode="auto">
            <a:xfrm>
              <a:off x="3024" y="2256"/>
              <a:ext cx="9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91" name="Line 943"/>
            <p:cNvSpPr>
              <a:spLocks noChangeShapeType="1"/>
            </p:cNvSpPr>
            <p:nvPr/>
          </p:nvSpPr>
          <p:spPr bwMode="auto">
            <a:xfrm>
              <a:off x="3360" y="2256"/>
              <a:ext cx="33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92" name="Oval 944"/>
            <p:cNvSpPr>
              <a:spLocks noChangeArrowheads="1"/>
            </p:cNvSpPr>
            <p:nvPr/>
          </p:nvSpPr>
          <p:spPr bwMode="auto">
            <a:xfrm>
              <a:off x="2574" y="2229"/>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2993" name="Oval 945"/>
            <p:cNvSpPr>
              <a:spLocks noChangeArrowheads="1"/>
            </p:cNvSpPr>
            <p:nvPr/>
          </p:nvSpPr>
          <p:spPr bwMode="auto">
            <a:xfrm>
              <a:off x="2043" y="1422"/>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2994" name="Line 946"/>
            <p:cNvSpPr>
              <a:spLocks noChangeShapeType="1"/>
            </p:cNvSpPr>
            <p:nvPr/>
          </p:nvSpPr>
          <p:spPr bwMode="auto">
            <a:xfrm>
              <a:off x="912" y="2784"/>
              <a:ext cx="81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95" name="Line 947"/>
            <p:cNvSpPr>
              <a:spLocks noChangeShapeType="1"/>
            </p:cNvSpPr>
            <p:nvPr/>
          </p:nvSpPr>
          <p:spPr bwMode="auto">
            <a:xfrm>
              <a:off x="1728" y="2784"/>
              <a:ext cx="96" cy="9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96" name="Line 948"/>
            <p:cNvSpPr>
              <a:spLocks noChangeShapeType="1"/>
            </p:cNvSpPr>
            <p:nvPr/>
          </p:nvSpPr>
          <p:spPr bwMode="auto">
            <a:xfrm flipH="1">
              <a:off x="1680" y="2928"/>
              <a:ext cx="144" cy="96"/>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97" name="Line 949"/>
            <p:cNvSpPr>
              <a:spLocks noChangeShapeType="1"/>
            </p:cNvSpPr>
            <p:nvPr/>
          </p:nvSpPr>
          <p:spPr bwMode="auto">
            <a:xfrm flipH="1">
              <a:off x="1296" y="3024"/>
              <a:ext cx="38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98" name="Line 950"/>
            <p:cNvSpPr>
              <a:spLocks noChangeShapeType="1"/>
            </p:cNvSpPr>
            <p:nvPr/>
          </p:nvSpPr>
          <p:spPr bwMode="auto">
            <a:xfrm>
              <a:off x="1824" y="2793"/>
              <a:ext cx="0" cy="240"/>
            </a:xfrm>
            <a:prstGeom prst="line">
              <a:avLst/>
            </a:prstGeom>
            <a:noFill/>
            <a:ln w="190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2999" name="Rectangle 951"/>
            <p:cNvSpPr>
              <a:spLocks noChangeArrowheads="1"/>
            </p:cNvSpPr>
            <p:nvPr/>
          </p:nvSpPr>
          <p:spPr bwMode="auto">
            <a:xfrm>
              <a:off x="2160" y="2871"/>
              <a:ext cx="192" cy="48"/>
            </a:xfrm>
            <a:prstGeom prst="rect">
              <a:avLst/>
            </a:prstGeom>
            <a:noFill/>
            <a:ln w="9525"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000" name="Line 952"/>
            <p:cNvSpPr>
              <a:spLocks noChangeShapeType="1"/>
            </p:cNvSpPr>
            <p:nvPr/>
          </p:nvSpPr>
          <p:spPr bwMode="auto">
            <a:xfrm>
              <a:off x="1824" y="2898"/>
              <a:ext cx="33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01" name="Line 953"/>
            <p:cNvSpPr>
              <a:spLocks noChangeShapeType="1"/>
            </p:cNvSpPr>
            <p:nvPr/>
          </p:nvSpPr>
          <p:spPr bwMode="auto">
            <a:xfrm>
              <a:off x="2352" y="2898"/>
              <a:ext cx="720"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02" name="Line 954"/>
            <p:cNvSpPr>
              <a:spLocks noChangeShapeType="1"/>
            </p:cNvSpPr>
            <p:nvPr/>
          </p:nvSpPr>
          <p:spPr bwMode="auto">
            <a:xfrm flipV="1">
              <a:off x="3072" y="2274"/>
              <a:ext cx="0" cy="62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03" name="Oval 955"/>
            <p:cNvSpPr>
              <a:spLocks noChangeArrowheads="1"/>
            </p:cNvSpPr>
            <p:nvPr/>
          </p:nvSpPr>
          <p:spPr bwMode="auto">
            <a:xfrm>
              <a:off x="3054" y="2235"/>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004" name="Oval 956"/>
            <p:cNvSpPr>
              <a:spLocks noChangeArrowheads="1"/>
            </p:cNvSpPr>
            <p:nvPr/>
          </p:nvSpPr>
          <p:spPr bwMode="auto">
            <a:xfrm>
              <a:off x="1278" y="2994"/>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005" name="Rectangle 957"/>
            <p:cNvSpPr>
              <a:spLocks noChangeArrowheads="1"/>
            </p:cNvSpPr>
            <p:nvPr/>
          </p:nvSpPr>
          <p:spPr bwMode="auto">
            <a:xfrm>
              <a:off x="1008" y="1152"/>
              <a:ext cx="2496" cy="1920"/>
            </a:xfrm>
            <a:prstGeom prst="rect">
              <a:avLst/>
            </a:prstGeom>
            <a:noFill/>
            <a:ln w="9525" cap="flat" algn="ctr">
              <a:solidFill>
                <a:srgbClr val="5B5249"/>
              </a:solidFill>
              <a:prstDash val="dash"/>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006" name="Rectangle 958"/>
            <p:cNvSpPr>
              <a:spLocks noChangeArrowheads="1"/>
            </p:cNvSpPr>
            <p:nvPr/>
          </p:nvSpPr>
          <p:spPr bwMode="auto">
            <a:xfrm>
              <a:off x="1296" y="1344"/>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5k</a:t>
              </a:r>
              <a:r>
                <a:rPr lang="ru-RU" altLang="zh-CN" sz="1600" b="1">
                  <a:sym typeface="Symbol" panose="05050102010706020507" pitchFamily="18" charset="2"/>
                </a:rPr>
                <a:t></a:t>
              </a:r>
              <a:endParaRPr lang="ru-RU" altLang="zh-CN" sz="1600" b="1">
                <a:sym typeface="Symbol" panose="05050102010706020507" pitchFamily="18" charset="2"/>
              </a:endParaRPr>
            </a:p>
          </p:txBody>
        </p:sp>
        <p:sp>
          <p:nvSpPr>
            <p:cNvPr id="3007" name="Rectangle 959"/>
            <p:cNvSpPr>
              <a:spLocks noChangeArrowheads="1"/>
            </p:cNvSpPr>
            <p:nvPr/>
          </p:nvSpPr>
          <p:spPr bwMode="auto">
            <a:xfrm>
              <a:off x="1296" y="1920"/>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5k</a:t>
              </a:r>
              <a:r>
                <a:rPr lang="ru-RU" altLang="zh-CN" sz="1600" b="1">
                  <a:sym typeface="Symbol" panose="05050102010706020507" pitchFamily="18" charset="2"/>
                </a:rPr>
                <a:t></a:t>
              </a:r>
              <a:endParaRPr lang="ru-RU" altLang="zh-CN" sz="1600" b="1">
                <a:sym typeface="Symbol" panose="05050102010706020507" pitchFamily="18" charset="2"/>
              </a:endParaRPr>
            </a:p>
          </p:txBody>
        </p:sp>
        <p:sp>
          <p:nvSpPr>
            <p:cNvPr id="3008" name="Rectangle 960"/>
            <p:cNvSpPr>
              <a:spLocks noChangeArrowheads="1"/>
            </p:cNvSpPr>
            <p:nvPr/>
          </p:nvSpPr>
          <p:spPr bwMode="auto">
            <a:xfrm>
              <a:off x="1296" y="2496"/>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5k</a:t>
              </a:r>
              <a:r>
                <a:rPr lang="ru-RU" altLang="zh-CN" sz="1600" b="1">
                  <a:sym typeface="Symbol" panose="05050102010706020507" pitchFamily="18" charset="2"/>
                </a:rPr>
                <a:t></a:t>
              </a:r>
              <a:endParaRPr lang="ru-RU" altLang="zh-CN" sz="1600" b="1">
                <a:sym typeface="Symbol" panose="05050102010706020507" pitchFamily="18" charset="2"/>
              </a:endParaRPr>
            </a:p>
          </p:txBody>
        </p:sp>
        <p:sp>
          <p:nvSpPr>
            <p:cNvPr id="3009" name="Rectangle 961"/>
            <p:cNvSpPr>
              <a:spLocks noChangeArrowheads="1"/>
            </p:cNvSpPr>
            <p:nvPr/>
          </p:nvSpPr>
          <p:spPr bwMode="auto">
            <a:xfrm>
              <a:off x="1680" y="1488"/>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C1</a:t>
              </a:r>
              <a:endParaRPr lang="ru-RU" altLang="zh-CN" sz="1600" b="1" baseline="-25000"/>
            </a:p>
          </p:txBody>
        </p:sp>
        <p:sp>
          <p:nvSpPr>
            <p:cNvPr id="3010" name="Rectangle 962"/>
            <p:cNvSpPr>
              <a:spLocks noChangeArrowheads="1"/>
            </p:cNvSpPr>
            <p:nvPr/>
          </p:nvSpPr>
          <p:spPr bwMode="auto">
            <a:xfrm>
              <a:off x="1680" y="20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C2</a:t>
              </a:r>
              <a:endParaRPr lang="ru-RU" altLang="zh-CN" sz="1600" b="1" baseline="-25000"/>
            </a:p>
          </p:txBody>
        </p:sp>
        <p:grpSp>
          <p:nvGrpSpPr>
            <p:cNvPr id="3011" name="Group 963"/>
            <p:cNvGrpSpPr/>
            <p:nvPr/>
          </p:nvGrpSpPr>
          <p:grpSpPr bwMode="auto">
            <a:xfrm>
              <a:off x="1872" y="2284"/>
              <a:ext cx="288" cy="212"/>
              <a:chOff x="1680" y="2688"/>
              <a:chExt cx="288" cy="212"/>
            </a:xfrm>
          </p:grpSpPr>
          <p:sp>
            <p:nvSpPr>
              <p:cNvPr id="3012" name="Rectangle 964"/>
              <p:cNvSpPr>
                <a:spLocks noChangeArrowheads="1"/>
              </p:cNvSpPr>
              <p:nvPr/>
            </p:nvSpPr>
            <p:spPr bwMode="auto">
              <a:xfrm>
                <a:off x="1680" y="2688"/>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S</a:t>
                </a:r>
                <a:r>
                  <a:rPr lang="ru-RU" altLang="zh-CN" sz="1600" b="1" baseline="-25000"/>
                  <a:t>D</a:t>
                </a:r>
                <a:endParaRPr lang="ru-RU" altLang="zh-CN" sz="1600" b="1" baseline="-25000"/>
              </a:p>
            </p:txBody>
          </p:sp>
          <p:sp>
            <p:nvSpPr>
              <p:cNvPr id="3013" name="Line 965"/>
              <p:cNvSpPr>
                <a:spLocks noChangeShapeType="1"/>
              </p:cNvSpPr>
              <p:nvPr/>
            </p:nvSpPr>
            <p:spPr bwMode="auto">
              <a:xfrm>
                <a:off x="1728" y="2736"/>
                <a:ext cx="9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14" name="Group 966"/>
            <p:cNvGrpSpPr/>
            <p:nvPr/>
          </p:nvGrpSpPr>
          <p:grpSpPr bwMode="auto">
            <a:xfrm>
              <a:off x="1824" y="1708"/>
              <a:ext cx="288" cy="212"/>
              <a:chOff x="1680" y="2688"/>
              <a:chExt cx="288" cy="212"/>
            </a:xfrm>
          </p:grpSpPr>
          <p:sp>
            <p:nvSpPr>
              <p:cNvPr id="3015" name="Rectangle 967"/>
              <p:cNvSpPr>
                <a:spLocks noChangeArrowheads="1"/>
              </p:cNvSpPr>
              <p:nvPr/>
            </p:nvSpPr>
            <p:spPr bwMode="auto">
              <a:xfrm>
                <a:off x="1680" y="2688"/>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R</a:t>
                </a:r>
                <a:r>
                  <a:rPr lang="ru-RU" altLang="zh-CN" sz="1600" b="1" baseline="-25000"/>
                  <a:t>D</a:t>
                </a:r>
                <a:endParaRPr lang="ru-RU" altLang="zh-CN" sz="1600" b="1" baseline="-25000"/>
              </a:p>
            </p:txBody>
          </p:sp>
          <p:sp>
            <p:nvSpPr>
              <p:cNvPr id="3016" name="Line 968"/>
              <p:cNvSpPr>
                <a:spLocks noChangeShapeType="1"/>
              </p:cNvSpPr>
              <p:nvPr/>
            </p:nvSpPr>
            <p:spPr bwMode="auto">
              <a:xfrm>
                <a:off x="1728" y="2736"/>
                <a:ext cx="9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017" name="Group 969"/>
            <p:cNvGrpSpPr/>
            <p:nvPr/>
          </p:nvGrpSpPr>
          <p:grpSpPr bwMode="auto">
            <a:xfrm>
              <a:off x="2448" y="1536"/>
              <a:ext cx="240" cy="212"/>
              <a:chOff x="2208" y="1776"/>
              <a:chExt cx="240" cy="212"/>
            </a:xfrm>
          </p:grpSpPr>
          <p:sp>
            <p:nvSpPr>
              <p:cNvPr id="3018" name="Rectangle 970"/>
              <p:cNvSpPr>
                <a:spLocks noChangeArrowheads="1"/>
              </p:cNvSpPr>
              <p:nvPr/>
            </p:nvSpPr>
            <p:spPr bwMode="auto">
              <a:xfrm>
                <a:off x="2208" y="1776"/>
                <a:ext cx="2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Q</a:t>
                </a:r>
                <a:endParaRPr lang="ru-RU" altLang="zh-CN" sz="1600" b="1"/>
              </a:p>
            </p:txBody>
          </p:sp>
          <p:sp>
            <p:nvSpPr>
              <p:cNvPr id="3019" name="Line 971"/>
              <p:cNvSpPr>
                <a:spLocks noChangeShapeType="1"/>
              </p:cNvSpPr>
              <p:nvPr/>
            </p:nvSpPr>
            <p:spPr bwMode="auto">
              <a:xfrm>
                <a:off x="2286" y="1815"/>
                <a:ext cx="48"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020" name="Rectangle 972"/>
            <p:cNvSpPr>
              <a:spLocks noChangeArrowheads="1"/>
            </p:cNvSpPr>
            <p:nvPr/>
          </p:nvSpPr>
          <p:spPr bwMode="auto">
            <a:xfrm>
              <a:off x="2496" y="2256"/>
              <a:ext cx="2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Q</a:t>
              </a:r>
              <a:endParaRPr lang="ru-RU" altLang="zh-CN" sz="1600" b="1"/>
            </a:p>
          </p:txBody>
        </p:sp>
        <p:sp>
          <p:nvSpPr>
            <p:cNvPr id="3021" name="Rectangle 973"/>
            <p:cNvSpPr>
              <a:spLocks noChangeArrowheads="1"/>
            </p:cNvSpPr>
            <p:nvPr/>
          </p:nvSpPr>
          <p:spPr bwMode="auto">
            <a:xfrm>
              <a:off x="720" y="13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CO</a:t>
              </a:r>
              <a:endParaRPr lang="ru-RU" altLang="zh-CN" sz="1600" b="1" baseline="-25000"/>
            </a:p>
          </p:txBody>
        </p:sp>
        <p:sp>
          <p:nvSpPr>
            <p:cNvPr id="3022" name="Rectangle 974"/>
            <p:cNvSpPr>
              <a:spLocks noChangeArrowheads="1"/>
            </p:cNvSpPr>
            <p:nvPr/>
          </p:nvSpPr>
          <p:spPr bwMode="auto">
            <a:xfrm>
              <a:off x="720" y="180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I1</a:t>
              </a:r>
              <a:endParaRPr lang="ru-RU" altLang="zh-CN" sz="1600" b="1" baseline="-25000"/>
            </a:p>
          </p:txBody>
        </p:sp>
        <p:sp>
          <p:nvSpPr>
            <p:cNvPr id="3023" name="Rectangle 975"/>
            <p:cNvSpPr>
              <a:spLocks noChangeArrowheads="1"/>
            </p:cNvSpPr>
            <p:nvPr/>
          </p:nvSpPr>
          <p:spPr bwMode="auto">
            <a:xfrm>
              <a:off x="720" y="2188"/>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I2</a:t>
              </a:r>
              <a:endParaRPr lang="ru-RU" altLang="zh-CN" sz="1600" b="1" baseline="-25000"/>
            </a:p>
          </p:txBody>
        </p:sp>
        <p:sp>
          <p:nvSpPr>
            <p:cNvPr id="3024" name="Rectangle 976"/>
            <p:cNvSpPr>
              <a:spLocks noChangeArrowheads="1"/>
            </p:cNvSpPr>
            <p:nvPr/>
          </p:nvSpPr>
          <p:spPr bwMode="auto">
            <a:xfrm>
              <a:off x="960" y="278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O</a:t>
              </a:r>
              <a:endParaRPr lang="ru-RU" altLang="zh-CN" sz="1600" b="1" baseline="-25000"/>
            </a:p>
          </p:txBody>
        </p:sp>
        <p:sp>
          <p:nvSpPr>
            <p:cNvPr id="3025" name="Rectangle 977"/>
            <p:cNvSpPr>
              <a:spLocks noChangeArrowheads="1"/>
            </p:cNvSpPr>
            <p:nvPr/>
          </p:nvSpPr>
          <p:spPr bwMode="auto">
            <a:xfrm>
              <a:off x="1296" y="1152"/>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8</a:t>
              </a:r>
              <a:endParaRPr lang="ru-RU" altLang="zh-CN" sz="1400" b="1"/>
            </a:p>
          </p:txBody>
        </p:sp>
        <p:sp>
          <p:nvSpPr>
            <p:cNvPr id="3026" name="Rectangle 978"/>
            <p:cNvSpPr>
              <a:spLocks noChangeArrowheads="1"/>
            </p:cNvSpPr>
            <p:nvPr/>
          </p:nvSpPr>
          <p:spPr bwMode="auto">
            <a:xfrm>
              <a:off x="2064" y="1152"/>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4</a:t>
              </a:r>
              <a:endParaRPr lang="ru-RU" altLang="zh-CN" sz="1400" b="1"/>
            </a:p>
          </p:txBody>
        </p:sp>
        <p:sp>
          <p:nvSpPr>
            <p:cNvPr id="3027" name="Rectangle 979"/>
            <p:cNvSpPr>
              <a:spLocks noChangeArrowheads="1"/>
            </p:cNvSpPr>
            <p:nvPr/>
          </p:nvSpPr>
          <p:spPr bwMode="auto">
            <a:xfrm>
              <a:off x="1104" y="1488"/>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5</a:t>
              </a:r>
              <a:endParaRPr lang="ru-RU" altLang="zh-CN" sz="1400" b="1"/>
            </a:p>
          </p:txBody>
        </p:sp>
        <p:sp>
          <p:nvSpPr>
            <p:cNvPr id="3028" name="Rectangle 980"/>
            <p:cNvSpPr>
              <a:spLocks noChangeArrowheads="1"/>
            </p:cNvSpPr>
            <p:nvPr/>
          </p:nvSpPr>
          <p:spPr bwMode="auto">
            <a:xfrm>
              <a:off x="1104" y="182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6</a:t>
              </a:r>
              <a:endParaRPr lang="ru-RU" altLang="zh-CN" sz="1400" b="1"/>
            </a:p>
          </p:txBody>
        </p:sp>
        <p:sp>
          <p:nvSpPr>
            <p:cNvPr id="3029" name="Rectangle 981"/>
            <p:cNvSpPr>
              <a:spLocks noChangeArrowheads="1"/>
            </p:cNvSpPr>
            <p:nvPr/>
          </p:nvSpPr>
          <p:spPr bwMode="auto">
            <a:xfrm>
              <a:off x="1104" y="206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2</a:t>
              </a:r>
              <a:endParaRPr lang="ru-RU" altLang="zh-CN" sz="1400" b="1"/>
            </a:p>
          </p:txBody>
        </p:sp>
        <p:sp>
          <p:nvSpPr>
            <p:cNvPr id="3030" name="Rectangle 982"/>
            <p:cNvSpPr>
              <a:spLocks noChangeArrowheads="1"/>
            </p:cNvSpPr>
            <p:nvPr/>
          </p:nvSpPr>
          <p:spPr bwMode="auto">
            <a:xfrm>
              <a:off x="1104" y="264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7</a:t>
              </a:r>
              <a:endParaRPr lang="ru-RU" altLang="zh-CN" sz="1400" b="1"/>
            </a:p>
          </p:txBody>
        </p:sp>
        <p:sp>
          <p:nvSpPr>
            <p:cNvPr id="3031" name="Rectangle 983"/>
            <p:cNvSpPr>
              <a:spLocks noChangeArrowheads="1"/>
            </p:cNvSpPr>
            <p:nvPr/>
          </p:nvSpPr>
          <p:spPr bwMode="auto">
            <a:xfrm>
              <a:off x="1152" y="2928"/>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1</a:t>
              </a:r>
              <a:endParaRPr lang="ru-RU" altLang="zh-CN" sz="1400" b="1"/>
            </a:p>
          </p:txBody>
        </p:sp>
        <p:sp>
          <p:nvSpPr>
            <p:cNvPr id="3032" name="Rectangle 984"/>
            <p:cNvSpPr>
              <a:spLocks noChangeArrowheads="1"/>
            </p:cNvSpPr>
            <p:nvPr/>
          </p:nvSpPr>
          <p:spPr bwMode="auto">
            <a:xfrm>
              <a:off x="3360" y="2112"/>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3</a:t>
              </a:r>
              <a:endParaRPr lang="ru-RU" altLang="zh-CN" sz="1400" b="1"/>
            </a:p>
          </p:txBody>
        </p:sp>
        <p:sp>
          <p:nvSpPr>
            <p:cNvPr id="3033" name="Rectangle 985"/>
            <p:cNvSpPr>
              <a:spLocks noChangeArrowheads="1"/>
            </p:cNvSpPr>
            <p:nvPr/>
          </p:nvSpPr>
          <p:spPr bwMode="auto">
            <a:xfrm>
              <a:off x="3552" y="2044"/>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O</a:t>
              </a:r>
              <a:endParaRPr lang="ru-RU" altLang="zh-CN" sz="1600" b="1" baseline="-25000"/>
            </a:p>
          </p:txBody>
        </p:sp>
        <p:sp>
          <p:nvSpPr>
            <p:cNvPr id="3034" name="Rectangle 986"/>
            <p:cNvSpPr>
              <a:spLocks noChangeArrowheads="1"/>
            </p:cNvSpPr>
            <p:nvPr/>
          </p:nvSpPr>
          <p:spPr bwMode="auto">
            <a:xfrm>
              <a:off x="1152" y="816"/>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CC</a:t>
              </a:r>
              <a:endParaRPr lang="ru-RU" altLang="zh-CN" sz="1600" b="1" baseline="-25000"/>
            </a:p>
          </p:txBody>
        </p:sp>
        <p:grpSp>
          <p:nvGrpSpPr>
            <p:cNvPr id="3035" name="Group 987"/>
            <p:cNvGrpSpPr/>
            <p:nvPr/>
          </p:nvGrpSpPr>
          <p:grpSpPr bwMode="auto">
            <a:xfrm>
              <a:off x="1968" y="816"/>
              <a:ext cx="336" cy="212"/>
              <a:chOff x="1728" y="1056"/>
              <a:chExt cx="336" cy="212"/>
            </a:xfrm>
          </p:grpSpPr>
          <p:sp>
            <p:nvSpPr>
              <p:cNvPr id="3036" name="Rectangle 988"/>
              <p:cNvSpPr>
                <a:spLocks noChangeArrowheads="1"/>
              </p:cNvSpPr>
              <p:nvPr/>
            </p:nvSpPr>
            <p:spPr bwMode="auto">
              <a:xfrm>
                <a:off x="1728" y="105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R</a:t>
                </a:r>
                <a:r>
                  <a:rPr lang="ru-RU" altLang="zh-CN" sz="1600" b="1" baseline="-25000"/>
                  <a:t>D</a:t>
                </a:r>
                <a:endParaRPr lang="ru-RU" altLang="zh-CN" sz="1600" b="1" baseline="-25000"/>
              </a:p>
            </p:txBody>
          </p:sp>
          <p:sp>
            <p:nvSpPr>
              <p:cNvPr id="3037" name="Line 989"/>
              <p:cNvSpPr>
                <a:spLocks noChangeShapeType="1"/>
              </p:cNvSpPr>
              <p:nvPr/>
            </p:nvSpPr>
            <p:spPr bwMode="auto">
              <a:xfrm>
                <a:off x="1776" y="1095"/>
                <a:ext cx="9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038" name="Rectangle 990"/>
            <p:cNvSpPr>
              <a:spLocks noChangeArrowheads="1"/>
            </p:cNvSpPr>
            <p:nvPr/>
          </p:nvSpPr>
          <p:spPr bwMode="auto">
            <a:xfrm>
              <a:off x="1776" y="2640"/>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T</a:t>
              </a:r>
              <a:r>
                <a:rPr lang="ru-RU" altLang="zh-CN" sz="1600" b="1" baseline="-25000"/>
                <a:t>D</a:t>
              </a:r>
              <a:endParaRPr lang="ru-RU" altLang="zh-CN" sz="1600" b="1" baseline="-25000"/>
            </a:p>
          </p:txBody>
        </p:sp>
        <p:sp>
          <p:nvSpPr>
            <p:cNvPr id="3039" name="Rectangle 991"/>
            <p:cNvSpPr>
              <a:spLocks noChangeArrowheads="1"/>
            </p:cNvSpPr>
            <p:nvPr/>
          </p:nvSpPr>
          <p:spPr bwMode="auto">
            <a:xfrm>
              <a:off x="1008" y="2256"/>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R2</a:t>
              </a:r>
              <a:endParaRPr lang="ru-RU" altLang="zh-CN" sz="1600" b="1" baseline="-25000"/>
            </a:p>
          </p:txBody>
        </p:sp>
        <p:sp>
          <p:nvSpPr>
            <p:cNvPr id="3040" name="Rectangle 992"/>
            <p:cNvSpPr>
              <a:spLocks noChangeArrowheads="1"/>
            </p:cNvSpPr>
            <p:nvPr/>
          </p:nvSpPr>
          <p:spPr bwMode="auto">
            <a:xfrm>
              <a:off x="1008" y="1584"/>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R1</a:t>
              </a:r>
              <a:endParaRPr lang="ru-RU" altLang="zh-CN" sz="1600" b="1" baseline="-25000"/>
            </a:p>
          </p:txBody>
        </p:sp>
        <p:sp>
          <p:nvSpPr>
            <p:cNvPr id="3041" name="Line 993"/>
            <p:cNvSpPr>
              <a:spLocks noChangeShapeType="1"/>
            </p:cNvSpPr>
            <p:nvPr/>
          </p:nvSpPr>
          <p:spPr bwMode="auto">
            <a:xfrm flipH="1">
              <a:off x="528" y="1632"/>
              <a:ext cx="38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42" name="Line 994"/>
            <p:cNvSpPr>
              <a:spLocks noChangeShapeType="1"/>
            </p:cNvSpPr>
            <p:nvPr/>
          </p:nvSpPr>
          <p:spPr bwMode="auto">
            <a:xfrm>
              <a:off x="528" y="1632"/>
              <a:ext cx="0" cy="81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43" name="Line 995"/>
            <p:cNvSpPr>
              <a:spLocks noChangeShapeType="1"/>
            </p:cNvSpPr>
            <p:nvPr/>
          </p:nvSpPr>
          <p:spPr bwMode="auto">
            <a:xfrm>
              <a:off x="480" y="2448"/>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44" name="Line 996"/>
            <p:cNvSpPr>
              <a:spLocks noChangeShapeType="1"/>
            </p:cNvSpPr>
            <p:nvPr/>
          </p:nvSpPr>
          <p:spPr bwMode="auto">
            <a:xfrm>
              <a:off x="480" y="2496"/>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45" name="Line 997"/>
            <p:cNvSpPr>
              <a:spLocks noChangeShapeType="1"/>
            </p:cNvSpPr>
            <p:nvPr/>
          </p:nvSpPr>
          <p:spPr bwMode="auto">
            <a:xfrm>
              <a:off x="528" y="2496"/>
              <a:ext cx="0" cy="62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46" name="Line 998"/>
            <p:cNvSpPr>
              <a:spLocks noChangeShapeType="1"/>
            </p:cNvSpPr>
            <p:nvPr/>
          </p:nvSpPr>
          <p:spPr bwMode="auto">
            <a:xfrm>
              <a:off x="528" y="3120"/>
              <a:ext cx="768"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47" name="Oval 999"/>
            <p:cNvSpPr>
              <a:spLocks noChangeArrowheads="1"/>
            </p:cNvSpPr>
            <p:nvPr/>
          </p:nvSpPr>
          <p:spPr bwMode="auto">
            <a:xfrm>
              <a:off x="1275" y="3102"/>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nchor="ctr"/>
            <a:lstStyle/>
            <a:p>
              <a:pPr algn="ctr" eaLnBrk="0" hangingPunct="0">
                <a:spcBef>
                  <a:spcPct val="50000"/>
                </a:spcBef>
              </a:pPr>
              <a:endParaRPr lang="zh-CN" altLang="zh-CN" sz="1600" b="1"/>
            </a:p>
          </p:txBody>
        </p:sp>
        <p:sp>
          <p:nvSpPr>
            <p:cNvPr id="3048" name="Rectangle 1000"/>
            <p:cNvSpPr>
              <a:spLocks noChangeArrowheads="1"/>
            </p:cNvSpPr>
            <p:nvPr/>
          </p:nvSpPr>
          <p:spPr bwMode="auto">
            <a:xfrm>
              <a:off x="192" y="206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I</a:t>
              </a:r>
              <a:endParaRPr lang="ru-RU" altLang="zh-CN" sz="1600" b="1" baseline="-25000"/>
            </a:p>
          </p:txBody>
        </p:sp>
        <p:sp>
          <p:nvSpPr>
            <p:cNvPr id="3049" name="Line 1001"/>
            <p:cNvSpPr>
              <a:spLocks noChangeShapeType="1"/>
            </p:cNvSpPr>
            <p:nvPr/>
          </p:nvSpPr>
          <p:spPr bwMode="auto">
            <a:xfrm flipH="1">
              <a:off x="1296" y="1104"/>
              <a:ext cx="768"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50" name="Oval 1002"/>
            <p:cNvSpPr>
              <a:spLocks noChangeArrowheads="1"/>
            </p:cNvSpPr>
            <p:nvPr/>
          </p:nvSpPr>
          <p:spPr bwMode="auto">
            <a:xfrm>
              <a:off x="1275" y="1077"/>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nchor="ctr"/>
            <a:lstStyle/>
            <a:p>
              <a:pPr algn="ctr" eaLnBrk="0" hangingPunct="0">
                <a:spcBef>
                  <a:spcPct val="50000"/>
                </a:spcBef>
              </a:pPr>
              <a:endParaRPr lang="zh-CN" altLang="zh-CN" sz="1600" b="1"/>
            </a:p>
          </p:txBody>
        </p:sp>
        <p:sp>
          <p:nvSpPr>
            <p:cNvPr id="3051" name="Oval 1003"/>
            <p:cNvSpPr>
              <a:spLocks noChangeArrowheads="1"/>
            </p:cNvSpPr>
            <p:nvPr/>
          </p:nvSpPr>
          <p:spPr bwMode="auto">
            <a:xfrm>
              <a:off x="2034" y="1086"/>
              <a:ext cx="48" cy="48"/>
            </a:xfrm>
            <a:prstGeom prst="ellipse">
              <a:avLst/>
            </a:prstGeom>
            <a:solidFill>
              <a:srgbClr val="FFFFFF"/>
            </a:solidFill>
            <a:ln w="9525" cap="flat" algn="ctr">
              <a:solidFill>
                <a:srgbClr val="5B5249"/>
              </a:solidFill>
              <a:prstDash val="solid"/>
              <a:round/>
              <a:headEnd type="none" w="med" len="med"/>
              <a:tailEnd type="none" w="med" len="med"/>
            </a:ln>
          </p:spPr>
          <p:txBody>
            <a:bodyPr wrap="none" anchor="ctr"/>
            <a:lstStyle/>
            <a:p>
              <a:pPr algn="ctr" eaLnBrk="0" hangingPunct="0">
                <a:spcBef>
                  <a:spcPct val="50000"/>
                </a:spcBef>
              </a:pPr>
              <a:endParaRPr lang="zh-CN" altLang="zh-CN" sz="1600" b="1"/>
            </a:p>
          </p:txBody>
        </p:sp>
        <p:sp>
          <p:nvSpPr>
            <p:cNvPr id="3052" name="Rectangle 1004"/>
            <p:cNvSpPr>
              <a:spLocks noChangeArrowheads="1"/>
            </p:cNvSpPr>
            <p:nvPr/>
          </p:nvSpPr>
          <p:spPr bwMode="auto">
            <a:xfrm>
              <a:off x="651" y="1200"/>
              <a:ext cx="48" cy="192"/>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053" name="Line 1005"/>
            <p:cNvSpPr>
              <a:spLocks noChangeShapeType="1"/>
            </p:cNvSpPr>
            <p:nvPr/>
          </p:nvSpPr>
          <p:spPr bwMode="auto">
            <a:xfrm>
              <a:off x="624" y="2928"/>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54" name="Line 1006"/>
            <p:cNvSpPr>
              <a:spLocks noChangeShapeType="1"/>
            </p:cNvSpPr>
            <p:nvPr/>
          </p:nvSpPr>
          <p:spPr bwMode="auto">
            <a:xfrm>
              <a:off x="624" y="2976"/>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55" name="Line 1007"/>
            <p:cNvSpPr>
              <a:spLocks noChangeShapeType="1"/>
            </p:cNvSpPr>
            <p:nvPr/>
          </p:nvSpPr>
          <p:spPr bwMode="auto">
            <a:xfrm>
              <a:off x="672" y="2976"/>
              <a:ext cx="0" cy="14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56" name="Line 1008"/>
            <p:cNvSpPr>
              <a:spLocks noChangeShapeType="1"/>
            </p:cNvSpPr>
            <p:nvPr/>
          </p:nvSpPr>
          <p:spPr bwMode="auto">
            <a:xfrm flipV="1">
              <a:off x="672" y="1392"/>
              <a:ext cx="0" cy="153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57" name="Line 1009"/>
            <p:cNvSpPr>
              <a:spLocks noChangeShapeType="1"/>
            </p:cNvSpPr>
            <p:nvPr/>
          </p:nvSpPr>
          <p:spPr bwMode="auto">
            <a:xfrm flipV="1">
              <a:off x="672" y="1104"/>
              <a:ext cx="0" cy="9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58" name="Line 1010"/>
            <p:cNvSpPr>
              <a:spLocks noChangeShapeType="1"/>
            </p:cNvSpPr>
            <p:nvPr/>
          </p:nvSpPr>
          <p:spPr bwMode="auto">
            <a:xfrm>
              <a:off x="672" y="1104"/>
              <a:ext cx="62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59" name="Line 1011"/>
            <p:cNvSpPr>
              <a:spLocks noChangeShapeType="1"/>
            </p:cNvSpPr>
            <p:nvPr/>
          </p:nvSpPr>
          <p:spPr bwMode="auto">
            <a:xfrm flipH="1">
              <a:off x="672" y="2784"/>
              <a:ext cx="240"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60" name="Oval 1012"/>
            <p:cNvSpPr>
              <a:spLocks noChangeArrowheads="1"/>
            </p:cNvSpPr>
            <p:nvPr/>
          </p:nvSpPr>
          <p:spPr bwMode="auto">
            <a:xfrm>
              <a:off x="642" y="3099"/>
              <a:ext cx="48" cy="48"/>
            </a:xfrm>
            <a:prstGeom prst="ellipse">
              <a:avLst/>
            </a:prstGeom>
            <a:solidFill>
              <a:srgbClr val="5B5249"/>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061" name="Oval 1013"/>
            <p:cNvSpPr>
              <a:spLocks noChangeArrowheads="1"/>
            </p:cNvSpPr>
            <p:nvPr/>
          </p:nvSpPr>
          <p:spPr bwMode="auto">
            <a:xfrm>
              <a:off x="645" y="2757"/>
              <a:ext cx="48" cy="48"/>
            </a:xfrm>
            <a:prstGeom prst="ellipse">
              <a:avLst/>
            </a:prstGeom>
            <a:solidFill>
              <a:srgbClr val="5B5249"/>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062" name="Line 1014"/>
            <p:cNvSpPr>
              <a:spLocks noChangeShapeType="1"/>
            </p:cNvSpPr>
            <p:nvPr/>
          </p:nvSpPr>
          <p:spPr bwMode="auto">
            <a:xfrm flipH="1">
              <a:off x="672" y="1824"/>
              <a:ext cx="240"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63" name="Oval 1015"/>
            <p:cNvSpPr>
              <a:spLocks noChangeArrowheads="1"/>
            </p:cNvSpPr>
            <p:nvPr/>
          </p:nvSpPr>
          <p:spPr bwMode="auto">
            <a:xfrm>
              <a:off x="642" y="1797"/>
              <a:ext cx="48" cy="48"/>
            </a:xfrm>
            <a:prstGeom prst="ellipse">
              <a:avLst/>
            </a:prstGeom>
            <a:solidFill>
              <a:srgbClr val="5B5249"/>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064" name="Line 1016"/>
            <p:cNvSpPr>
              <a:spLocks noChangeShapeType="1"/>
            </p:cNvSpPr>
            <p:nvPr/>
          </p:nvSpPr>
          <p:spPr bwMode="auto">
            <a:xfrm flipH="1">
              <a:off x="432" y="2208"/>
              <a:ext cx="480"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65" name="Rectangle 1017"/>
            <p:cNvSpPr>
              <a:spLocks noChangeArrowheads="1"/>
            </p:cNvSpPr>
            <p:nvPr/>
          </p:nvSpPr>
          <p:spPr bwMode="auto">
            <a:xfrm>
              <a:off x="480" y="1200"/>
              <a:ext cx="2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R</a:t>
              </a:r>
              <a:endParaRPr lang="ru-RU" altLang="zh-CN" sz="1600" b="1"/>
            </a:p>
          </p:txBody>
        </p:sp>
        <p:sp>
          <p:nvSpPr>
            <p:cNvPr id="3066" name="Rectangle 1018"/>
            <p:cNvSpPr>
              <a:spLocks noChangeArrowheads="1"/>
            </p:cNvSpPr>
            <p:nvPr/>
          </p:nvSpPr>
          <p:spPr bwMode="auto">
            <a:xfrm>
              <a:off x="672" y="2832"/>
              <a:ext cx="2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C</a:t>
              </a:r>
              <a:endParaRPr lang="ru-RU" altLang="zh-CN" sz="1600" b="1"/>
            </a:p>
          </p:txBody>
        </p:sp>
        <p:sp>
          <p:nvSpPr>
            <p:cNvPr id="3067" name="Rectangle 1019"/>
            <p:cNvSpPr>
              <a:spLocks noChangeArrowheads="1"/>
            </p:cNvSpPr>
            <p:nvPr/>
          </p:nvSpPr>
          <p:spPr bwMode="auto">
            <a:xfrm>
              <a:off x="672" y="2572"/>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a:t>
              </a:r>
              <a:endParaRPr lang="ru-RU" altLang="zh-CN" sz="1600" b="1" baseline="-25000"/>
            </a:p>
          </p:txBody>
        </p:sp>
      </p:grpSp>
      <p:grpSp>
        <p:nvGrpSpPr>
          <p:cNvPr id="3068" name="Group 1020"/>
          <p:cNvGrpSpPr/>
          <p:nvPr/>
        </p:nvGrpSpPr>
        <p:grpSpPr bwMode="auto">
          <a:xfrm>
            <a:off x="6248400" y="457200"/>
            <a:ext cx="2057400" cy="2057400"/>
            <a:chOff x="4128" y="288"/>
            <a:chExt cx="1296" cy="1296"/>
          </a:xfrm>
        </p:grpSpPr>
        <p:sp>
          <p:nvSpPr>
            <p:cNvPr id="3069" name="Rectangle 1021"/>
            <p:cNvSpPr>
              <a:spLocks noChangeArrowheads="1"/>
            </p:cNvSpPr>
            <p:nvPr/>
          </p:nvSpPr>
          <p:spPr bwMode="auto">
            <a:xfrm>
              <a:off x="4704" y="576"/>
              <a:ext cx="528" cy="816"/>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070" name="Rectangle 1022"/>
            <p:cNvSpPr>
              <a:spLocks noChangeArrowheads="1"/>
            </p:cNvSpPr>
            <p:nvPr/>
          </p:nvSpPr>
          <p:spPr bwMode="auto">
            <a:xfrm>
              <a:off x="4704" y="576"/>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CC</a:t>
              </a:r>
              <a:endParaRPr lang="ru-RU" altLang="zh-CN" sz="1600" b="1" baseline="-25000"/>
            </a:p>
          </p:txBody>
        </p:sp>
        <p:grpSp>
          <p:nvGrpSpPr>
            <p:cNvPr id="3071" name="Group 1023"/>
            <p:cNvGrpSpPr/>
            <p:nvPr/>
          </p:nvGrpSpPr>
          <p:grpSpPr bwMode="auto">
            <a:xfrm>
              <a:off x="4992" y="576"/>
              <a:ext cx="384" cy="212"/>
              <a:chOff x="4704" y="624"/>
              <a:chExt cx="384" cy="212"/>
            </a:xfrm>
          </p:grpSpPr>
          <p:sp>
            <p:nvSpPr>
              <p:cNvPr id="3072" name="Rectangle 0"/>
              <p:cNvSpPr>
                <a:spLocks noChangeArrowheads="1"/>
              </p:cNvSpPr>
              <p:nvPr/>
            </p:nvSpPr>
            <p:spPr bwMode="auto">
              <a:xfrm>
                <a:off x="4704" y="624"/>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R</a:t>
                </a:r>
                <a:r>
                  <a:rPr lang="ru-RU" altLang="zh-CN" sz="1600" b="1" baseline="-25000"/>
                  <a:t>D</a:t>
                </a:r>
                <a:endParaRPr lang="ru-RU" altLang="zh-CN" sz="1600" b="1" baseline="-25000"/>
              </a:p>
            </p:txBody>
          </p:sp>
          <p:sp>
            <p:nvSpPr>
              <p:cNvPr id="3073" name="Line 1"/>
              <p:cNvSpPr>
                <a:spLocks noChangeShapeType="1"/>
              </p:cNvSpPr>
              <p:nvPr/>
            </p:nvSpPr>
            <p:spPr bwMode="auto">
              <a:xfrm>
                <a:off x="4752" y="672"/>
                <a:ext cx="9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074" name="Rectangle 2"/>
            <p:cNvSpPr>
              <a:spLocks noChangeArrowheads="1"/>
            </p:cNvSpPr>
            <p:nvPr/>
          </p:nvSpPr>
          <p:spPr bwMode="auto">
            <a:xfrm>
              <a:off x="4704" y="816"/>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I1</a:t>
              </a:r>
              <a:endParaRPr lang="ru-RU" altLang="zh-CN" sz="1600" b="1" baseline="-25000"/>
            </a:p>
          </p:txBody>
        </p:sp>
        <p:sp>
          <p:nvSpPr>
            <p:cNvPr id="3075" name="Rectangle 3"/>
            <p:cNvSpPr>
              <a:spLocks noChangeArrowheads="1"/>
            </p:cNvSpPr>
            <p:nvPr/>
          </p:nvSpPr>
          <p:spPr bwMode="auto">
            <a:xfrm>
              <a:off x="4704" y="988"/>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I2</a:t>
              </a:r>
              <a:endParaRPr lang="ru-RU" altLang="zh-CN" sz="1600" b="1" baseline="-25000"/>
            </a:p>
          </p:txBody>
        </p:sp>
        <p:sp>
          <p:nvSpPr>
            <p:cNvPr id="3076" name="Line 4"/>
            <p:cNvSpPr>
              <a:spLocks noChangeShapeType="1"/>
            </p:cNvSpPr>
            <p:nvPr/>
          </p:nvSpPr>
          <p:spPr bwMode="auto">
            <a:xfrm>
              <a:off x="4368" y="1104"/>
              <a:ext cx="33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77" name="Line 5"/>
            <p:cNvSpPr>
              <a:spLocks noChangeShapeType="1"/>
            </p:cNvSpPr>
            <p:nvPr/>
          </p:nvSpPr>
          <p:spPr bwMode="auto">
            <a:xfrm flipH="1">
              <a:off x="4560" y="912"/>
              <a:ext cx="14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78" name="Oval 6"/>
            <p:cNvSpPr>
              <a:spLocks noChangeArrowheads="1"/>
            </p:cNvSpPr>
            <p:nvPr/>
          </p:nvSpPr>
          <p:spPr bwMode="auto">
            <a:xfrm>
              <a:off x="4443" y="882"/>
              <a:ext cx="48" cy="48"/>
            </a:xfrm>
            <a:prstGeom prst="ellipse">
              <a:avLst/>
            </a:prstGeom>
            <a:solidFill>
              <a:srgbClr val="5B5249"/>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079" name="Rectangle 7"/>
            <p:cNvSpPr>
              <a:spLocks noChangeArrowheads="1"/>
            </p:cNvSpPr>
            <p:nvPr/>
          </p:nvSpPr>
          <p:spPr bwMode="auto">
            <a:xfrm>
              <a:off x="4128" y="960"/>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I</a:t>
              </a:r>
              <a:endParaRPr lang="ru-RU" altLang="zh-CN" sz="1600" b="1" baseline="-25000"/>
            </a:p>
          </p:txBody>
        </p:sp>
        <p:sp>
          <p:nvSpPr>
            <p:cNvPr id="3080" name="Rectangle 8"/>
            <p:cNvSpPr>
              <a:spLocks noChangeArrowheads="1"/>
            </p:cNvSpPr>
            <p:nvPr/>
          </p:nvSpPr>
          <p:spPr bwMode="auto">
            <a:xfrm>
              <a:off x="4992" y="912"/>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O</a:t>
              </a:r>
              <a:endParaRPr lang="ru-RU" altLang="zh-CN" sz="1600" b="1" baseline="-25000"/>
            </a:p>
          </p:txBody>
        </p:sp>
        <p:sp>
          <p:nvSpPr>
            <p:cNvPr id="3081" name="Line 9"/>
            <p:cNvSpPr>
              <a:spLocks noChangeShapeType="1"/>
            </p:cNvSpPr>
            <p:nvPr/>
          </p:nvSpPr>
          <p:spPr bwMode="auto">
            <a:xfrm>
              <a:off x="5232" y="1056"/>
              <a:ext cx="192"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82" name="Rectangle 10"/>
            <p:cNvSpPr>
              <a:spLocks noChangeArrowheads="1"/>
            </p:cNvSpPr>
            <p:nvPr/>
          </p:nvSpPr>
          <p:spPr bwMode="auto">
            <a:xfrm>
              <a:off x="4944" y="748"/>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CO</a:t>
              </a:r>
              <a:endParaRPr lang="ru-RU" altLang="zh-CN" sz="1600" b="1" baseline="-25000"/>
            </a:p>
          </p:txBody>
        </p:sp>
        <p:sp>
          <p:nvSpPr>
            <p:cNvPr id="3083" name="Line 11"/>
            <p:cNvSpPr>
              <a:spLocks noChangeShapeType="1"/>
            </p:cNvSpPr>
            <p:nvPr/>
          </p:nvSpPr>
          <p:spPr bwMode="auto">
            <a:xfrm>
              <a:off x="5232" y="864"/>
              <a:ext cx="14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84" name="Line 12"/>
            <p:cNvSpPr>
              <a:spLocks noChangeShapeType="1"/>
            </p:cNvSpPr>
            <p:nvPr/>
          </p:nvSpPr>
          <p:spPr bwMode="auto">
            <a:xfrm>
              <a:off x="5376" y="864"/>
              <a:ext cx="0" cy="38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85" name="Line 13"/>
            <p:cNvSpPr>
              <a:spLocks noChangeShapeType="1"/>
            </p:cNvSpPr>
            <p:nvPr/>
          </p:nvSpPr>
          <p:spPr bwMode="auto">
            <a:xfrm>
              <a:off x="5328" y="1248"/>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86" name="Line 14"/>
            <p:cNvSpPr>
              <a:spLocks noChangeShapeType="1"/>
            </p:cNvSpPr>
            <p:nvPr/>
          </p:nvSpPr>
          <p:spPr bwMode="auto">
            <a:xfrm>
              <a:off x="5328" y="1296"/>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87" name="Line 15"/>
            <p:cNvSpPr>
              <a:spLocks noChangeShapeType="1"/>
            </p:cNvSpPr>
            <p:nvPr/>
          </p:nvSpPr>
          <p:spPr bwMode="auto">
            <a:xfrm>
              <a:off x="4992" y="1392"/>
              <a:ext cx="0" cy="192"/>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88" name="Line 16"/>
            <p:cNvSpPr>
              <a:spLocks noChangeShapeType="1"/>
            </p:cNvSpPr>
            <p:nvPr/>
          </p:nvSpPr>
          <p:spPr bwMode="auto">
            <a:xfrm>
              <a:off x="4944" y="1584"/>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89" name="Line 17"/>
            <p:cNvSpPr>
              <a:spLocks noChangeShapeType="1"/>
            </p:cNvSpPr>
            <p:nvPr/>
          </p:nvSpPr>
          <p:spPr bwMode="auto">
            <a:xfrm>
              <a:off x="4992" y="1488"/>
              <a:ext cx="38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90" name="Line 18"/>
            <p:cNvSpPr>
              <a:spLocks noChangeShapeType="1"/>
            </p:cNvSpPr>
            <p:nvPr/>
          </p:nvSpPr>
          <p:spPr bwMode="auto">
            <a:xfrm flipV="1">
              <a:off x="5376" y="1296"/>
              <a:ext cx="0" cy="192"/>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91" name="Line 19"/>
            <p:cNvSpPr>
              <a:spLocks noChangeShapeType="1"/>
            </p:cNvSpPr>
            <p:nvPr/>
          </p:nvSpPr>
          <p:spPr bwMode="auto">
            <a:xfrm>
              <a:off x="4848" y="384"/>
              <a:ext cx="0" cy="192"/>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92" name="Line 20"/>
            <p:cNvSpPr>
              <a:spLocks noChangeShapeType="1"/>
            </p:cNvSpPr>
            <p:nvPr/>
          </p:nvSpPr>
          <p:spPr bwMode="auto">
            <a:xfrm>
              <a:off x="4848" y="480"/>
              <a:ext cx="240"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93" name="Line 21"/>
            <p:cNvSpPr>
              <a:spLocks noChangeShapeType="1"/>
            </p:cNvSpPr>
            <p:nvPr/>
          </p:nvSpPr>
          <p:spPr bwMode="auto">
            <a:xfrm>
              <a:off x="5088" y="480"/>
              <a:ext cx="0" cy="9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94" name="Oval 22"/>
            <p:cNvSpPr>
              <a:spLocks noChangeArrowheads="1"/>
            </p:cNvSpPr>
            <p:nvPr/>
          </p:nvSpPr>
          <p:spPr bwMode="auto">
            <a:xfrm>
              <a:off x="4962" y="1458"/>
              <a:ext cx="48" cy="48"/>
            </a:xfrm>
            <a:prstGeom prst="ellipse">
              <a:avLst/>
            </a:prstGeom>
            <a:solidFill>
              <a:srgbClr val="5B5249"/>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095" name="Oval 23"/>
            <p:cNvSpPr>
              <a:spLocks noChangeArrowheads="1"/>
            </p:cNvSpPr>
            <p:nvPr/>
          </p:nvSpPr>
          <p:spPr bwMode="auto">
            <a:xfrm>
              <a:off x="4830" y="459"/>
              <a:ext cx="48" cy="48"/>
            </a:xfrm>
            <a:prstGeom prst="ellipse">
              <a:avLst/>
            </a:prstGeom>
            <a:solidFill>
              <a:srgbClr val="5B5249"/>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096" name="Rectangle 24"/>
            <p:cNvSpPr>
              <a:spLocks noChangeArrowheads="1"/>
            </p:cNvSpPr>
            <p:nvPr/>
          </p:nvSpPr>
          <p:spPr bwMode="auto">
            <a:xfrm>
              <a:off x="4848" y="288"/>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+5V</a:t>
              </a:r>
              <a:endParaRPr lang="ru-RU" altLang="zh-CN" sz="1600" b="1"/>
            </a:p>
          </p:txBody>
        </p:sp>
        <p:sp>
          <p:nvSpPr>
            <p:cNvPr id="3097" name="Rectangle 25"/>
            <p:cNvSpPr>
              <a:spLocks noChangeArrowheads="1"/>
            </p:cNvSpPr>
            <p:nvPr/>
          </p:nvSpPr>
          <p:spPr bwMode="auto">
            <a:xfrm>
              <a:off x="4434" y="624"/>
              <a:ext cx="48" cy="144"/>
            </a:xfrm>
            <a:prstGeom prst="rect">
              <a:avLst/>
            </a:prstGeom>
            <a:noFill/>
            <a:ln w="19050" cap="flat" algn="ctr">
              <a:solidFill>
                <a:srgbClr val="5B5249"/>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098" name="Line 26"/>
            <p:cNvSpPr>
              <a:spLocks noChangeShapeType="1"/>
            </p:cNvSpPr>
            <p:nvPr/>
          </p:nvSpPr>
          <p:spPr bwMode="auto">
            <a:xfrm>
              <a:off x="4416" y="1344"/>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99" name="Line 27"/>
            <p:cNvSpPr>
              <a:spLocks noChangeShapeType="1"/>
            </p:cNvSpPr>
            <p:nvPr/>
          </p:nvSpPr>
          <p:spPr bwMode="auto">
            <a:xfrm>
              <a:off x="4416" y="1392"/>
              <a:ext cx="96" cy="0"/>
            </a:xfrm>
            <a:prstGeom prst="line">
              <a:avLst/>
            </a:prstGeom>
            <a:noFill/>
            <a:ln w="2857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00" name="Line 28"/>
            <p:cNvSpPr>
              <a:spLocks noChangeShapeType="1"/>
            </p:cNvSpPr>
            <p:nvPr/>
          </p:nvSpPr>
          <p:spPr bwMode="auto">
            <a:xfrm flipH="1">
              <a:off x="4464" y="480"/>
              <a:ext cx="384"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01" name="Line 29"/>
            <p:cNvSpPr>
              <a:spLocks noChangeShapeType="1"/>
            </p:cNvSpPr>
            <p:nvPr/>
          </p:nvSpPr>
          <p:spPr bwMode="auto">
            <a:xfrm>
              <a:off x="4464" y="480"/>
              <a:ext cx="0" cy="144"/>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02" name="Line 30"/>
            <p:cNvSpPr>
              <a:spLocks noChangeShapeType="1"/>
            </p:cNvSpPr>
            <p:nvPr/>
          </p:nvSpPr>
          <p:spPr bwMode="auto">
            <a:xfrm>
              <a:off x="4464" y="768"/>
              <a:ext cx="0" cy="57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03" name="Line 31"/>
            <p:cNvSpPr>
              <a:spLocks noChangeShapeType="1"/>
            </p:cNvSpPr>
            <p:nvPr/>
          </p:nvSpPr>
          <p:spPr bwMode="auto">
            <a:xfrm>
              <a:off x="4464" y="1392"/>
              <a:ext cx="0" cy="96"/>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04" name="Line 32"/>
            <p:cNvSpPr>
              <a:spLocks noChangeShapeType="1"/>
            </p:cNvSpPr>
            <p:nvPr/>
          </p:nvSpPr>
          <p:spPr bwMode="auto">
            <a:xfrm>
              <a:off x="4464" y="1488"/>
              <a:ext cx="528"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05" name="Line 33"/>
            <p:cNvSpPr>
              <a:spLocks noChangeShapeType="1"/>
            </p:cNvSpPr>
            <p:nvPr/>
          </p:nvSpPr>
          <p:spPr bwMode="auto">
            <a:xfrm flipH="1">
              <a:off x="4464" y="912"/>
              <a:ext cx="96"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06" name="Line 34"/>
            <p:cNvSpPr>
              <a:spLocks noChangeShapeType="1"/>
            </p:cNvSpPr>
            <p:nvPr/>
          </p:nvSpPr>
          <p:spPr bwMode="auto">
            <a:xfrm flipH="1">
              <a:off x="4464" y="1248"/>
              <a:ext cx="240" cy="0"/>
            </a:xfrm>
            <a:prstGeom prst="line">
              <a:avLst/>
            </a:prstGeom>
            <a:noFill/>
            <a:ln w="9525"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107" name="Oval 35"/>
            <p:cNvSpPr>
              <a:spLocks noChangeArrowheads="1"/>
            </p:cNvSpPr>
            <p:nvPr/>
          </p:nvSpPr>
          <p:spPr bwMode="auto">
            <a:xfrm>
              <a:off x="4428" y="1218"/>
              <a:ext cx="48" cy="48"/>
            </a:xfrm>
            <a:prstGeom prst="ellipse">
              <a:avLst/>
            </a:prstGeom>
            <a:solidFill>
              <a:srgbClr val="5B5249"/>
            </a:solidFill>
            <a:ln w="9525" cap="flat" algn="ctr">
              <a:solidFill>
                <a:srgbClr val="5B5249"/>
              </a:solidFill>
              <a:prstDash val="solid"/>
              <a:round/>
              <a:headEnd type="none" w="med" len="med"/>
              <a:tailEnd type="none" w="med" len="med"/>
            </a:ln>
          </p:spPr>
          <p:txBody>
            <a:bodyPr wrap="none"/>
            <a:lstStyle/>
            <a:p>
              <a:endParaRPr lang="zh-CN" altLang="en-US"/>
            </a:p>
          </p:txBody>
        </p:sp>
        <p:sp>
          <p:nvSpPr>
            <p:cNvPr id="3108" name="Rectangle 36"/>
            <p:cNvSpPr>
              <a:spLocks noChangeArrowheads="1"/>
            </p:cNvSpPr>
            <p:nvPr/>
          </p:nvSpPr>
          <p:spPr bwMode="auto">
            <a:xfrm>
              <a:off x="4704" y="1152"/>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O</a:t>
              </a:r>
              <a:endParaRPr lang="ru-RU" altLang="zh-CN" sz="1600" b="1" baseline="-25000"/>
            </a:p>
          </p:txBody>
        </p:sp>
        <p:sp>
          <p:nvSpPr>
            <p:cNvPr id="3109" name="Rectangle 37"/>
            <p:cNvSpPr>
              <a:spLocks noChangeArrowheads="1"/>
            </p:cNvSpPr>
            <p:nvPr/>
          </p:nvSpPr>
          <p:spPr bwMode="auto">
            <a:xfrm>
              <a:off x="4272" y="576"/>
              <a:ext cx="2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R</a:t>
              </a:r>
              <a:endParaRPr lang="ru-RU" altLang="zh-CN" sz="1600" b="1"/>
            </a:p>
          </p:txBody>
        </p:sp>
        <p:sp>
          <p:nvSpPr>
            <p:cNvPr id="3110" name="Rectangle 38"/>
            <p:cNvSpPr>
              <a:spLocks noChangeArrowheads="1"/>
            </p:cNvSpPr>
            <p:nvPr/>
          </p:nvSpPr>
          <p:spPr bwMode="auto">
            <a:xfrm>
              <a:off x="4224" y="1276"/>
              <a:ext cx="2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C</a:t>
              </a:r>
              <a:endParaRPr lang="ru-RU" altLang="zh-CN" sz="1600" b="1"/>
            </a:p>
          </p:txBody>
        </p:sp>
        <p:sp>
          <p:nvSpPr>
            <p:cNvPr id="3111" name="Rectangle 39"/>
            <p:cNvSpPr>
              <a:spLocks noChangeArrowheads="1"/>
            </p:cNvSpPr>
            <p:nvPr/>
          </p:nvSpPr>
          <p:spPr bwMode="auto">
            <a:xfrm>
              <a:off x="4176" y="110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a:t>
              </a:r>
              <a:endParaRPr lang="ru-RU" altLang="zh-CN" sz="1600" b="1" baseline="-25000"/>
            </a:p>
          </p:txBody>
        </p:sp>
      </p:grpSp>
      <p:sp>
        <p:nvSpPr>
          <p:cNvPr id="3112" name="Rectangle 40"/>
          <p:cNvSpPr>
            <a:spLocks noChangeArrowheads="1"/>
          </p:cNvSpPr>
          <p:nvPr/>
        </p:nvSpPr>
        <p:spPr bwMode="auto">
          <a:xfrm>
            <a:off x="6019800" y="2743200"/>
            <a:ext cx="289560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2000" b="1" dirty="0">
                <a:solidFill>
                  <a:schemeClr val="tx2"/>
                </a:solidFill>
              </a:rPr>
              <a:t>2</a:t>
            </a:r>
            <a:r>
              <a:rPr lang="zh-CN" altLang="en-US" sz="2000" b="1" dirty="0">
                <a:solidFill>
                  <a:schemeClr val="tx2"/>
                </a:solidFill>
              </a:rPr>
              <a:t>）</a:t>
            </a:r>
            <a:r>
              <a:rPr lang="zh-CN" altLang="ru-RU" sz="2000" b="1" dirty="0">
                <a:solidFill>
                  <a:schemeClr val="tx2"/>
                </a:solidFill>
              </a:rPr>
              <a:t>工作原理</a:t>
            </a:r>
            <a:endParaRPr lang="zh-CN" altLang="ru-RU" sz="2000" b="1" dirty="0">
              <a:solidFill>
                <a:schemeClr val="tx2"/>
              </a:solidFill>
            </a:endParaRPr>
          </a:p>
          <a:p>
            <a:pPr algn="just" eaLnBrk="0" hangingPunct="0">
              <a:spcBef>
                <a:spcPct val="50000"/>
              </a:spcBef>
            </a:pPr>
            <a:r>
              <a:rPr lang="ru-RU" altLang="zh-CN" sz="2000" b="1" dirty="0"/>
              <a:t>(1)</a:t>
            </a:r>
            <a:r>
              <a:rPr lang="zh-CN" altLang="ru-RU" sz="2000" b="1" dirty="0"/>
              <a:t>稳态</a:t>
            </a:r>
            <a:r>
              <a:rPr lang="ru-RU" altLang="zh-CN" sz="2000" b="1" dirty="0"/>
              <a:t>(V</a:t>
            </a:r>
            <a:r>
              <a:rPr lang="ru-RU" altLang="zh-CN" sz="2000" b="1" baseline="-25000" dirty="0"/>
              <a:t>I</a:t>
            </a:r>
            <a:r>
              <a:rPr lang="ru-RU" altLang="zh-CN" sz="2000" b="1" dirty="0"/>
              <a:t>=1):V</a:t>
            </a:r>
            <a:r>
              <a:rPr lang="ru-RU" altLang="zh-CN" sz="2000" b="1" baseline="-25000" dirty="0"/>
              <a:t>O</a:t>
            </a:r>
            <a:r>
              <a:rPr lang="ru-RU" altLang="zh-CN" sz="2000" b="1" dirty="0"/>
              <a:t>(Q)=0</a:t>
            </a:r>
            <a:r>
              <a:rPr lang="zh-CN" altLang="ru-RU" sz="2000" b="1" dirty="0"/>
              <a:t>，</a:t>
            </a:r>
            <a:r>
              <a:rPr lang="ru-RU" altLang="zh-CN" sz="2000" b="1" dirty="0"/>
              <a:t>T</a:t>
            </a:r>
            <a:r>
              <a:rPr lang="ru-RU" altLang="zh-CN" sz="2000" b="1" baseline="-25000" dirty="0"/>
              <a:t>D</a:t>
            </a:r>
            <a:r>
              <a:rPr lang="zh-CN" altLang="ru-RU" sz="2000" b="1" dirty="0"/>
              <a:t>导通，</a:t>
            </a:r>
            <a:r>
              <a:rPr lang="ru-RU" altLang="zh-CN" sz="2000" b="1" dirty="0"/>
              <a:t>V</a:t>
            </a:r>
            <a:r>
              <a:rPr lang="ru-RU" altLang="zh-CN" sz="2000" b="1" baseline="-25000" dirty="0"/>
              <a:t>C</a:t>
            </a:r>
            <a:r>
              <a:rPr lang="ru-RU" altLang="zh-CN" sz="2000" b="1" dirty="0"/>
              <a:t>=0</a:t>
            </a:r>
            <a:endParaRPr lang="ru-RU" altLang="zh-CN" sz="2000" b="1" dirty="0"/>
          </a:p>
        </p:txBody>
      </p:sp>
      <p:sp>
        <p:nvSpPr>
          <p:cNvPr id="3113" name="Rectangle 41"/>
          <p:cNvSpPr>
            <a:spLocks noChangeArrowheads="1"/>
          </p:cNvSpPr>
          <p:nvPr/>
        </p:nvSpPr>
        <p:spPr bwMode="auto">
          <a:xfrm>
            <a:off x="6019800" y="3962400"/>
            <a:ext cx="2895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2000" b="1"/>
              <a:t>(2)</a:t>
            </a:r>
            <a:r>
              <a:rPr lang="zh-CN" altLang="ru-RU" sz="2000" b="1"/>
              <a:t>外触发过程</a:t>
            </a:r>
            <a:r>
              <a:rPr lang="ru-RU" altLang="zh-CN" sz="2000" b="1"/>
              <a:t>:V</a:t>
            </a:r>
            <a:r>
              <a:rPr lang="ru-RU" altLang="zh-CN" sz="2000" b="1" baseline="-25000"/>
              <a:t>I</a:t>
            </a:r>
            <a:r>
              <a:rPr lang="ru-RU" altLang="zh-CN" sz="2000" b="1"/>
              <a:t>=0</a:t>
            </a:r>
            <a:r>
              <a:rPr lang="zh-CN" altLang="ru-RU" sz="2000" b="1"/>
              <a:t>，</a:t>
            </a:r>
            <a:r>
              <a:rPr lang="ru-RU" altLang="zh-CN" sz="2000" b="1"/>
              <a:t>Q=1,T</a:t>
            </a:r>
            <a:r>
              <a:rPr lang="ru-RU" altLang="zh-CN" sz="2000" b="1" baseline="-25000"/>
              <a:t>D</a:t>
            </a:r>
            <a:r>
              <a:rPr lang="zh-CN" altLang="ru-RU" sz="2000" b="1"/>
              <a:t>截止</a:t>
            </a:r>
            <a:r>
              <a:rPr lang="ru-RU" altLang="zh-CN" sz="2000" b="1"/>
              <a:t>,V</a:t>
            </a:r>
            <a:r>
              <a:rPr lang="ru-RU" altLang="zh-CN" sz="2000" b="1" baseline="-25000"/>
              <a:t>O</a:t>
            </a:r>
            <a:r>
              <a:rPr lang="ru-RU" altLang="zh-CN" sz="2000" b="1"/>
              <a:t>=1,</a:t>
            </a:r>
            <a:r>
              <a:rPr lang="zh-CN" altLang="ru-RU" sz="2000" b="1"/>
              <a:t>电路进入暂稳态</a:t>
            </a:r>
            <a:endParaRPr lang="zh-CN" altLang="ru-RU" sz="2000" b="1"/>
          </a:p>
        </p:txBody>
      </p:sp>
      <p:sp>
        <p:nvSpPr>
          <p:cNvPr id="3114" name="Rectangle 42"/>
          <p:cNvSpPr>
            <a:spLocks noChangeArrowheads="1"/>
          </p:cNvSpPr>
          <p:nvPr/>
        </p:nvSpPr>
        <p:spPr bwMode="auto">
          <a:xfrm>
            <a:off x="533400" y="5181600"/>
            <a:ext cx="792480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2000" b="1"/>
              <a:t>(3)</a:t>
            </a:r>
            <a:r>
              <a:rPr lang="zh-CN" altLang="ru-RU" sz="2000" b="1"/>
              <a:t>自动恢复过程</a:t>
            </a:r>
            <a:r>
              <a:rPr lang="ru-RU" altLang="zh-CN" sz="2000" b="1"/>
              <a:t>:</a:t>
            </a:r>
            <a:r>
              <a:rPr lang="zh-CN" altLang="ru-RU" sz="2000" b="1"/>
              <a:t>电路进入暂稳态后，</a:t>
            </a:r>
            <a:r>
              <a:rPr lang="ru-RU" altLang="zh-CN" sz="2000" b="1"/>
              <a:t>Q=1, T</a:t>
            </a:r>
            <a:r>
              <a:rPr lang="ru-RU" altLang="zh-CN" sz="2000" b="1" baseline="-25000"/>
              <a:t>D</a:t>
            </a:r>
            <a:r>
              <a:rPr lang="zh-CN" altLang="ru-RU" sz="2000" b="1"/>
              <a:t>截止</a:t>
            </a:r>
            <a:r>
              <a:rPr lang="ru-RU" altLang="zh-CN" sz="2000" b="1"/>
              <a:t>,C</a:t>
            </a:r>
            <a:r>
              <a:rPr lang="zh-CN" altLang="ru-RU" sz="2000" b="1"/>
              <a:t>充电：</a:t>
            </a:r>
            <a:endParaRPr lang="zh-CN" altLang="ru-RU" sz="2000" b="1"/>
          </a:p>
          <a:p>
            <a:pPr algn="just" eaLnBrk="0" hangingPunct="0">
              <a:spcBef>
                <a:spcPct val="50000"/>
              </a:spcBef>
            </a:pPr>
            <a:r>
              <a:rPr lang="zh-CN" altLang="ru-RU" sz="2000" b="1"/>
              <a:t>（</a:t>
            </a:r>
            <a:r>
              <a:rPr lang="ru-RU" altLang="zh-CN" sz="2000" b="1"/>
              <a:t>V</a:t>
            </a:r>
            <a:r>
              <a:rPr lang="ru-RU" altLang="zh-CN" sz="2000" b="1" baseline="-25000"/>
              <a:t>CC</a:t>
            </a:r>
            <a:r>
              <a:rPr lang="ru-RU" altLang="zh-CN" sz="2000" b="1">
                <a:sym typeface="Symbol" panose="05050102010706020507" pitchFamily="18" charset="2"/>
              </a:rPr>
              <a:t>RC</a:t>
            </a:r>
            <a:r>
              <a:rPr lang="zh-CN" altLang="ru-RU" sz="2000" b="1">
                <a:sym typeface="Symbol" panose="05050102010706020507" pitchFamily="18" charset="2"/>
              </a:rPr>
              <a:t>地）使</a:t>
            </a:r>
            <a:r>
              <a:rPr lang="ru-RU" altLang="zh-CN" sz="2000" b="1">
                <a:sym typeface="Symbol" panose="05050102010706020507" pitchFamily="18" charset="2"/>
              </a:rPr>
              <a:t>V</a:t>
            </a:r>
            <a:r>
              <a:rPr lang="ru-RU" altLang="zh-CN" sz="2000" b="1" baseline="-25000">
                <a:sym typeface="Symbol" panose="05050102010706020507" pitchFamily="18" charset="2"/>
              </a:rPr>
              <a:t>C</a:t>
            </a:r>
            <a:r>
              <a:rPr lang="zh-CN" altLang="ru-RU" sz="2000" b="1">
                <a:sym typeface="Symbol" panose="05050102010706020507" pitchFamily="18" charset="2"/>
              </a:rPr>
              <a:t>上升；当</a:t>
            </a:r>
            <a:r>
              <a:rPr lang="ru-RU" altLang="zh-CN" sz="2000" b="1">
                <a:sym typeface="Symbol" panose="05050102010706020507" pitchFamily="18" charset="2"/>
              </a:rPr>
              <a:t>V</a:t>
            </a:r>
            <a:r>
              <a:rPr lang="ru-RU" altLang="zh-CN" sz="2000" b="1" baseline="-25000">
                <a:sym typeface="Symbol" panose="05050102010706020507" pitchFamily="18" charset="2"/>
              </a:rPr>
              <a:t>C</a:t>
            </a:r>
            <a:r>
              <a:rPr lang="ru-RU" altLang="zh-CN" sz="2000" b="1">
                <a:sym typeface="Symbol" panose="05050102010706020507" pitchFamily="18" charset="2"/>
              </a:rPr>
              <a:t>2/3V</a:t>
            </a:r>
            <a:r>
              <a:rPr lang="ru-RU" altLang="zh-CN" sz="2000" b="1" baseline="-25000">
                <a:sym typeface="Symbol" panose="05050102010706020507" pitchFamily="18" charset="2"/>
              </a:rPr>
              <a:t>CC</a:t>
            </a:r>
            <a:r>
              <a:rPr lang="zh-CN" altLang="ru-RU" sz="2000" b="1">
                <a:sym typeface="Symbol" panose="05050102010706020507" pitchFamily="18" charset="2"/>
              </a:rPr>
              <a:t>时，</a:t>
            </a:r>
            <a:r>
              <a:rPr lang="ru-RU" altLang="zh-CN" sz="2000" b="1">
                <a:sym typeface="Symbol" panose="05050102010706020507" pitchFamily="18" charset="2"/>
              </a:rPr>
              <a:t>FF</a:t>
            </a:r>
            <a:r>
              <a:rPr lang="zh-CN" altLang="ru-RU" sz="2000" b="1">
                <a:sym typeface="Symbol" panose="05050102010706020507" pitchFamily="18" charset="2"/>
              </a:rPr>
              <a:t>置</a:t>
            </a:r>
            <a:r>
              <a:rPr lang="ru-RU" altLang="zh-CN" sz="2000" b="1">
                <a:sym typeface="Symbol" panose="05050102010706020507" pitchFamily="18" charset="2"/>
              </a:rPr>
              <a:t>0 V</a:t>
            </a:r>
            <a:r>
              <a:rPr lang="ru-RU" altLang="zh-CN" sz="2000" b="1" baseline="-25000">
                <a:sym typeface="Symbol" panose="05050102010706020507" pitchFamily="18" charset="2"/>
              </a:rPr>
              <a:t>O</a:t>
            </a:r>
            <a:r>
              <a:rPr lang="ru-RU" altLang="zh-CN" sz="2000" b="1">
                <a:sym typeface="Symbol" panose="05050102010706020507" pitchFamily="18" charset="2"/>
              </a:rPr>
              <a:t>(Q)=0 </a:t>
            </a:r>
            <a:r>
              <a:rPr lang="zh-CN" altLang="ru-RU" sz="2000" b="1">
                <a:sym typeface="Symbol" panose="05050102010706020507" pitchFamily="18" charset="2"/>
              </a:rPr>
              <a:t>电路回到稳态。</a:t>
            </a:r>
            <a:endParaRPr lang="zh-CN" altLang="ru-RU" sz="2000" b="1">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childTnLst>
                                    <p:set>
                                      <p:cBhvr additive="base">
                                        <p:cTn id="6" dur="1" fill="hold">
                                          <p:stCondLst>
                                            <p:cond delay="0"/>
                                          </p:stCondLst>
                                        </p:cTn>
                                        <p:tgtEl>
                                          <p:spTgt spid="3068"/>
                                        </p:tgtEl>
                                        <p:attrNameLst>
                                          <p:attrName>style.visibility</p:attrName>
                                        </p:attrNameLst>
                                      </p:cBhvr>
                                      <p:to>
                                        <p:strVal val="visible"/>
                                      </p:to>
                                    </p:set>
                                    <p:animEffect transition="in" filter="blinds(horizontal)">
                                      <p:cBhvr additive="base">
                                        <p:cTn id="7" dur="500"/>
                                        <p:tgtEl>
                                          <p:spTgt spid="30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childTnLst>
                                    <p:set>
                                      <p:cBhvr additive="base">
                                        <p:cTn id="11" dur="1" fill="hold">
                                          <p:stCondLst>
                                            <p:cond delay="0"/>
                                          </p:stCondLst>
                                        </p:cTn>
                                        <p:tgtEl>
                                          <p:spTgt spid="3112"/>
                                        </p:tgtEl>
                                        <p:attrNameLst>
                                          <p:attrName>style.visibility</p:attrName>
                                        </p:attrNameLst>
                                      </p:cBhvr>
                                      <p:to>
                                        <p:strVal val="visible"/>
                                      </p:to>
                                    </p:set>
                                    <p:animEffect transition="in" filter="blinds(horizontal)">
                                      <p:cBhvr additive="base">
                                        <p:cTn id="12" dur="500"/>
                                        <p:tgtEl>
                                          <p:spTgt spid="31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childTnLst>
                                    <p:set>
                                      <p:cBhvr additive="base">
                                        <p:cTn id="16" dur="1" fill="hold">
                                          <p:stCondLst>
                                            <p:cond delay="0"/>
                                          </p:stCondLst>
                                        </p:cTn>
                                        <p:tgtEl>
                                          <p:spTgt spid="3113"/>
                                        </p:tgtEl>
                                        <p:attrNameLst>
                                          <p:attrName>style.visibility</p:attrName>
                                        </p:attrNameLst>
                                      </p:cBhvr>
                                      <p:to>
                                        <p:strVal val="visible"/>
                                      </p:to>
                                    </p:set>
                                    <p:animEffect transition="in" filter="blinds(horizontal)">
                                      <p:cBhvr additive="base">
                                        <p:cTn id="17" dur="500"/>
                                        <p:tgtEl>
                                          <p:spTgt spid="31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childTnLst>
                                    <p:set>
                                      <p:cBhvr additive="base">
                                        <p:cTn id="21" dur="1" fill="hold">
                                          <p:stCondLst>
                                            <p:cond delay="0"/>
                                          </p:stCondLst>
                                        </p:cTn>
                                        <p:tgtEl>
                                          <p:spTgt spid="3114"/>
                                        </p:tgtEl>
                                        <p:attrNameLst>
                                          <p:attrName>style.visibility</p:attrName>
                                        </p:attrNameLst>
                                      </p:cBhvr>
                                      <p:to>
                                        <p:strVal val="visible"/>
                                      </p:to>
                                    </p:set>
                                    <p:animEffect transition="in" filter="blinds(horizontal)">
                                      <p:cBhvr additive="base">
                                        <p:cTn id="22" dur="500"/>
                                        <p:tgtEl>
                                          <p:spTgt spid="3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 grpId="0" animBg="1"/>
      <p:bldP spid="3113" grpId="0" animBg="1"/>
      <p:bldP spid="311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7" name="Rectangle 45"/>
          <p:cNvSpPr>
            <a:spLocks noChangeArrowheads="1"/>
          </p:cNvSpPr>
          <p:nvPr/>
        </p:nvSpPr>
        <p:spPr bwMode="auto">
          <a:xfrm>
            <a:off x="483516" y="558909"/>
            <a:ext cx="297180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rgbClr val="A50021"/>
              </a:buClr>
              <a:buSzPct val="75000"/>
              <a:buFont typeface="Wingdings" panose="05000000000000000000" pitchFamily="2" charset="2"/>
              <a:buNone/>
            </a:pPr>
            <a:r>
              <a:rPr lang="ru-RU" altLang="zh-CN" sz="3600" b="1" dirty="0">
                <a:effectLst>
                  <a:outerShdw blurRad="38100" dist="38100" dir="2700000" algn="tl">
                    <a:srgbClr val="C0C0C0"/>
                  </a:outerShdw>
                </a:effectLst>
              </a:rPr>
              <a:t>2</a:t>
            </a:r>
            <a:r>
              <a:rPr lang="zh-CN" altLang="en-US" sz="3600" b="1" dirty="0">
                <a:effectLst>
                  <a:outerShdw blurRad="38100" dist="38100" dir="2700000" algn="tl">
                    <a:srgbClr val="C0C0C0"/>
                  </a:outerShdw>
                </a:effectLst>
              </a:rPr>
              <a:t>）</a:t>
            </a:r>
            <a:r>
              <a:rPr lang="zh-CN" altLang="ru-RU" sz="3600" b="1" dirty="0">
                <a:effectLst>
                  <a:outerShdw blurRad="38100" dist="38100" dir="2700000" algn="tl">
                    <a:srgbClr val="C0C0C0"/>
                  </a:outerShdw>
                </a:effectLst>
              </a:rPr>
              <a:t>工作原理</a:t>
            </a:r>
            <a:endParaRPr lang="zh-CN" altLang="ru-RU" sz="3600" b="1" dirty="0">
              <a:effectLst>
                <a:outerShdw blurRad="38100" dist="38100" dir="2700000" algn="tl">
                  <a:srgbClr val="C0C0C0"/>
                </a:outerShdw>
              </a:effectLst>
            </a:endParaRPr>
          </a:p>
        </p:txBody>
      </p:sp>
      <p:grpSp>
        <p:nvGrpSpPr>
          <p:cNvPr id="3118" name="Group 46"/>
          <p:cNvGrpSpPr/>
          <p:nvPr/>
        </p:nvGrpSpPr>
        <p:grpSpPr bwMode="auto">
          <a:xfrm>
            <a:off x="609600" y="2133600"/>
            <a:ext cx="3886200" cy="685800"/>
            <a:chOff x="576" y="1344"/>
            <a:chExt cx="2448" cy="432"/>
          </a:xfrm>
        </p:grpSpPr>
        <p:sp>
          <p:nvSpPr>
            <p:cNvPr id="3119" name="Line 47"/>
            <p:cNvSpPr>
              <a:spLocks noChangeShapeType="1"/>
            </p:cNvSpPr>
            <p:nvPr/>
          </p:nvSpPr>
          <p:spPr bwMode="auto">
            <a:xfrm>
              <a:off x="576" y="1344"/>
              <a:ext cx="624"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0" name="Line 48"/>
            <p:cNvSpPr>
              <a:spLocks noChangeShapeType="1"/>
            </p:cNvSpPr>
            <p:nvPr/>
          </p:nvSpPr>
          <p:spPr bwMode="auto">
            <a:xfrm>
              <a:off x="1200" y="1344"/>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1" name="Line 49"/>
            <p:cNvSpPr>
              <a:spLocks noChangeShapeType="1"/>
            </p:cNvSpPr>
            <p:nvPr/>
          </p:nvSpPr>
          <p:spPr bwMode="auto">
            <a:xfrm>
              <a:off x="1200" y="1776"/>
              <a:ext cx="24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2" name="Line 50"/>
            <p:cNvSpPr>
              <a:spLocks noChangeShapeType="1"/>
            </p:cNvSpPr>
            <p:nvPr/>
          </p:nvSpPr>
          <p:spPr bwMode="auto">
            <a:xfrm flipV="1">
              <a:off x="1440" y="1344"/>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3" name="Line 51"/>
            <p:cNvSpPr>
              <a:spLocks noChangeShapeType="1"/>
            </p:cNvSpPr>
            <p:nvPr/>
          </p:nvSpPr>
          <p:spPr bwMode="auto">
            <a:xfrm>
              <a:off x="1440" y="1344"/>
              <a:ext cx="672"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4" name="Line 52"/>
            <p:cNvSpPr>
              <a:spLocks noChangeShapeType="1"/>
            </p:cNvSpPr>
            <p:nvPr/>
          </p:nvSpPr>
          <p:spPr bwMode="auto">
            <a:xfrm>
              <a:off x="2112" y="1344"/>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5" name="Line 53"/>
            <p:cNvSpPr>
              <a:spLocks noChangeShapeType="1"/>
            </p:cNvSpPr>
            <p:nvPr/>
          </p:nvSpPr>
          <p:spPr bwMode="auto">
            <a:xfrm>
              <a:off x="2112" y="1776"/>
              <a:ext cx="24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6" name="Line 54"/>
            <p:cNvSpPr>
              <a:spLocks noChangeShapeType="1"/>
            </p:cNvSpPr>
            <p:nvPr/>
          </p:nvSpPr>
          <p:spPr bwMode="auto">
            <a:xfrm flipV="1">
              <a:off x="2352" y="1344"/>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7" name="Line 55"/>
            <p:cNvSpPr>
              <a:spLocks noChangeShapeType="1"/>
            </p:cNvSpPr>
            <p:nvPr/>
          </p:nvSpPr>
          <p:spPr bwMode="auto">
            <a:xfrm>
              <a:off x="2112" y="1776"/>
              <a:ext cx="24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28" name="Line 56"/>
            <p:cNvSpPr>
              <a:spLocks noChangeShapeType="1"/>
            </p:cNvSpPr>
            <p:nvPr/>
          </p:nvSpPr>
          <p:spPr bwMode="auto">
            <a:xfrm>
              <a:off x="2352" y="1344"/>
              <a:ext cx="672"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129" name="Line 57"/>
          <p:cNvSpPr>
            <a:spLocks noChangeShapeType="1"/>
          </p:cNvSpPr>
          <p:nvPr/>
        </p:nvSpPr>
        <p:spPr bwMode="auto">
          <a:xfrm>
            <a:off x="609600" y="5410200"/>
            <a:ext cx="99060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130" name="Group 58"/>
          <p:cNvGrpSpPr/>
          <p:nvPr/>
        </p:nvGrpSpPr>
        <p:grpSpPr bwMode="auto">
          <a:xfrm>
            <a:off x="1600200" y="4724400"/>
            <a:ext cx="838200" cy="685800"/>
            <a:chOff x="1200" y="2976"/>
            <a:chExt cx="528" cy="432"/>
          </a:xfrm>
        </p:grpSpPr>
        <p:sp>
          <p:nvSpPr>
            <p:cNvPr id="3131" name="Line 59"/>
            <p:cNvSpPr>
              <a:spLocks noChangeShapeType="1"/>
            </p:cNvSpPr>
            <p:nvPr/>
          </p:nvSpPr>
          <p:spPr bwMode="auto">
            <a:xfrm>
              <a:off x="1200" y="2976"/>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32" name="Line 60"/>
            <p:cNvSpPr>
              <a:spLocks noChangeShapeType="1"/>
            </p:cNvSpPr>
            <p:nvPr/>
          </p:nvSpPr>
          <p:spPr bwMode="auto">
            <a:xfrm>
              <a:off x="1200" y="2976"/>
              <a:ext cx="528"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33" name="Group 61"/>
          <p:cNvGrpSpPr/>
          <p:nvPr/>
        </p:nvGrpSpPr>
        <p:grpSpPr bwMode="auto">
          <a:xfrm>
            <a:off x="2438400" y="4724400"/>
            <a:ext cx="609600" cy="685800"/>
            <a:chOff x="1728" y="2976"/>
            <a:chExt cx="384" cy="432"/>
          </a:xfrm>
        </p:grpSpPr>
        <p:sp>
          <p:nvSpPr>
            <p:cNvPr id="3134" name="Line 62"/>
            <p:cNvSpPr>
              <a:spLocks noChangeShapeType="1"/>
            </p:cNvSpPr>
            <p:nvPr/>
          </p:nvSpPr>
          <p:spPr bwMode="auto">
            <a:xfrm flipV="1">
              <a:off x="1728" y="2976"/>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35" name="Line 63"/>
            <p:cNvSpPr>
              <a:spLocks noChangeShapeType="1"/>
            </p:cNvSpPr>
            <p:nvPr/>
          </p:nvSpPr>
          <p:spPr bwMode="auto">
            <a:xfrm>
              <a:off x="1728" y="3408"/>
              <a:ext cx="384"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36" name="Group 64"/>
          <p:cNvGrpSpPr/>
          <p:nvPr/>
        </p:nvGrpSpPr>
        <p:grpSpPr bwMode="auto">
          <a:xfrm>
            <a:off x="3048000" y="4724400"/>
            <a:ext cx="838200" cy="685800"/>
            <a:chOff x="2112" y="2976"/>
            <a:chExt cx="528" cy="432"/>
          </a:xfrm>
        </p:grpSpPr>
        <p:sp>
          <p:nvSpPr>
            <p:cNvPr id="3137" name="Line 65"/>
            <p:cNvSpPr>
              <a:spLocks noChangeShapeType="1"/>
            </p:cNvSpPr>
            <p:nvPr/>
          </p:nvSpPr>
          <p:spPr bwMode="auto">
            <a:xfrm>
              <a:off x="2112" y="2976"/>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38" name="Line 66"/>
            <p:cNvSpPr>
              <a:spLocks noChangeShapeType="1"/>
            </p:cNvSpPr>
            <p:nvPr/>
          </p:nvSpPr>
          <p:spPr bwMode="auto">
            <a:xfrm>
              <a:off x="2112" y="2976"/>
              <a:ext cx="528"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39" name="Group 67"/>
          <p:cNvGrpSpPr/>
          <p:nvPr/>
        </p:nvGrpSpPr>
        <p:grpSpPr bwMode="auto">
          <a:xfrm>
            <a:off x="3886200" y="4724400"/>
            <a:ext cx="1066800" cy="685800"/>
            <a:chOff x="2640" y="2976"/>
            <a:chExt cx="672" cy="432"/>
          </a:xfrm>
        </p:grpSpPr>
        <p:sp>
          <p:nvSpPr>
            <p:cNvPr id="3140" name="Line 68"/>
            <p:cNvSpPr>
              <a:spLocks noChangeShapeType="1"/>
            </p:cNvSpPr>
            <p:nvPr/>
          </p:nvSpPr>
          <p:spPr bwMode="auto">
            <a:xfrm flipV="1">
              <a:off x="2640" y="2976"/>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41" name="Line 69"/>
            <p:cNvSpPr>
              <a:spLocks noChangeShapeType="1"/>
            </p:cNvSpPr>
            <p:nvPr/>
          </p:nvSpPr>
          <p:spPr bwMode="auto">
            <a:xfrm>
              <a:off x="2640" y="3408"/>
              <a:ext cx="672"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42" name="Group 70"/>
          <p:cNvGrpSpPr/>
          <p:nvPr/>
        </p:nvGrpSpPr>
        <p:grpSpPr bwMode="auto">
          <a:xfrm>
            <a:off x="1600200" y="2743200"/>
            <a:ext cx="1447800" cy="3810000"/>
            <a:chOff x="1200" y="1728"/>
            <a:chExt cx="912" cy="1488"/>
          </a:xfrm>
        </p:grpSpPr>
        <p:sp>
          <p:nvSpPr>
            <p:cNvPr id="3143" name="Line 71"/>
            <p:cNvSpPr>
              <a:spLocks noChangeShapeType="1"/>
            </p:cNvSpPr>
            <p:nvPr/>
          </p:nvSpPr>
          <p:spPr bwMode="auto">
            <a:xfrm>
              <a:off x="1200" y="1728"/>
              <a:ext cx="0" cy="1488"/>
            </a:xfrm>
            <a:prstGeom prst="line">
              <a:avLst/>
            </a:prstGeom>
            <a:noFill/>
            <a:ln w="19050"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44" name="Line 72"/>
            <p:cNvSpPr>
              <a:spLocks noChangeShapeType="1"/>
            </p:cNvSpPr>
            <p:nvPr/>
          </p:nvSpPr>
          <p:spPr bwMode="auto">
            <a:xfrm>
              <a:off x="2112" y="1728"/>
              <a:ext cx="0" cy="1488"/>
            </a:xfrm>
            <a:prstGeom prst="line">
              <a:avLst/>
            </a:prstGeom>
            <a:noFill/>
            <a:ln w="19050"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145" name="Line 73"/>
          <p:cNvSpPr>
            <a:spLocks noChangeShapeType="1"/>
          </p:cNvSpPr>
          <p:nvPr/>
        </p:nvSpPr>
        <p:spPr bwMode="auto">
          <a:xfrm>
            <a:off x="609600" y="3962400"/>
            <a:ext cx="99060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46" name="Freeform 74"/>
          <p:cNvSpPr/>
          <p:nvPr/>
        </p:nvSpPr>
        <p:spPr bwMode="auto">
          <a:xfrm>
            <a:off x="1600200" y="3276600"/>
            <a:ext cx="838200" cy="685800"/>
          </a:xfrm>
          <a:custGeom>
            <a:avLst/>
            <a:gdLst>
              <a:gd name="T0" fmla="*/ 0 w 528"/>
              <a:gd name="T1" fmla="*/ 432 h 432"/>
              <a:gd name="T2" fmla="*/ 144 w 528"/>
              <a:gd name="T3" fmla="*/ 192 h 432"/>
              <a:gd name="T4" fmla="*/ 528 w 528"/>
              <a:gd name="T5" fmla="*/ 0 h 432"/>
            </a:gdLst>
            <a:ahLst/>
            <a:cxnLst>
              <a:cxn ang="0">
                <a:pos x="T0" y="T1"/>
              </a:cxn>
              <a:cxn ang="0">
                <a:pos x="T2" y="T3"/>
              </a:cxn>
              <a:cxn ang="0">
                <a:pos x="T4" y="T5"/>
              </a:cxn>
            </a:cxnLst>
            <a:rect l="0" t="0" r="r" b="b"/>
            <a:pathLst>
              <a:path w="528" h="432">
                <a:moveTo>
                  <a:pt x="0" y="432"/>
                </a:moveTo>
                <a:cubicBezTo>
                  <a:pt x="28" y="348"/>
                  <a:pt x="56" y="264"/>
                  <a:pt x="144" y="192"/>
                </a:cubicBezTo>
                <a:cubicBezTo>
                  <a:pt x="232" y="120"/>
                  <a:pt x="380" y="60"/>
                  <a:pt x="528" y="0"/>
                </a:cubicBezTo>
              </a:path>
            </a:pathLst>
          </a:cu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147" name="Freeform 75"/>
          <p:cNvSpPr/>
          <p:nvPr/>
        </p:nvSpPr>
        <p:spPr bwMode="auto">
          <a:xfrm>
            <a:off x="2438400" y="3276600"/>
            <a:ext cx="609600" cy="723900"/>
          </a:xfrm>
          <a:custGeom>
            <a:avLst/>
            <a:gdLst>
              <a:gd name="T0" fmla="*/ 0 w 384"/>
              <a:gd name="T1" fmla="*/ 0 h 456"/>
              <a:gd name="T2" fmla="*/ 48 w 384"/>
              <a:gd name="T3" fmla="*/ 384 h 456"/>
              <a:gd name="T4" fmla="*/ 192 w 384"/>
              <a:gd name="T5" fmla="*/ 432 h 456"/>
              <a:gd name="T6" fmla="*/ 384 w 384"/>
              <a:gd name="T7" fmla="*/ 432 h 456"/>
            </a:gdLst>
            <a:ahLst/>
            <a:cxnLst>
              <a:cxn ang="0">
                <a:pos x="T0" y="T1"/>
              </a:cxn>
              <a:cxn ang="0">
                <a:pos x="T2" y="T3"/>
              </a:cxn>
              <a:cxn ang="0">
                <a:pos x="T4" y="T5"/>
              </a:cxn>
              <a:cxn ang="0">
                <a:pos x="T6" y="T7"/>
              </a:cxn>
            </a:cxnLst>
            <a:rect l="0" t="0" r="r" b="b"/>
            <a:pathLst>
              <a:path w="384" h="456">
                <a:moveTo>
                  <a:pt x="0" y="0"/>
                </a:moveTo>
                <a:cubicBezTo>
                  <a:pt x="8" y="156"/>
                  <a:pt x="16" y="312"/>
                  <a:pt x="48" y="384"/>
                </a:cubicBezTo>
                <a:cubicBezTo>
                  <a:pt x="80" y="456"/>
                  <a:pt x="136" y="424"/>
                  <a:pt x="192" y="432"/>
                </a:cubicBezTo>
                <a:cubicBezTo>
                  <a:pt x="248" y="440"/>
                  <a:pt x="316" y="436"/>
                  <a:pt x="384" y="432"/>
                </a:cubicBezTo>
              </a:path>
            </a:pathLst>
          </a:cu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148" name="Freeform 76"/>
          <p:cNvSpPr/>
          <p:nvPr/>
        </p:nvSpPr>
        <p:spPr bwMode="auto">
          <a:xfrm>
            <a:off x="3048000" y="3276600"/>
            <a:ext cx="838200" cy="685800"/>
          </a:xfrm>
          <a:custGeom>
            <a:avLst/>
            <a:gdLst>
              <a:gd name="T0" fmla="*/ 0 w 528"/>
              <a:gd name="T1" fmla="*/ 432 h 432"/>
              <a:gd name="T2" fmla="*/ 144 w 528"/>
              <a:gd name="T3" fmla="*/ 192 h 432"/>
              <a:gd name="T4" fmla="*/ 528 w 528"/>
              <a:gd name="T5" fmla="*/ 0 h 432"/>
            </a:gdLst>
            <a:ahLst/>
            <a:cxnLst>
              <a:cxn ang="0">
                <a:pos x="T0" y="T1"/>
              </a:cxn>
              <a:cxn ang="0">
                <a:pos x="T2" y="T3"/>
              </a:cxn>
              <a:cxn ang="0">
                <a:pos x="T4" y="T5"/>
              </a:cxn>
            </a:cxnLst>
            <a:rect l="0" t="0" r="r" b="b"/>
            <a:pathLst>
              <a:path w="528" h="432">
                <a:moveTo>
                  <a:pt x="0" y="432"/>
                </a:moveTo>
                <a:cubicBezTo>
                  <a:pt x="28" y="348"/>
                  <a:pt x="56" y="264"/>
                  <a:pt x="144" y="192"/>
                </a:cubicBezTo>
                <a:cubicBezTo>
                  <a:pt x="232" y="120"/>
                  <a:pt x="380" y="60"/>
                  <a:pt x="528" y="0"/>
                </a:cubicBezTo>
              </a:path>
            </a:pathLst>
          </a:cu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149" name="Freeform 77"/>
          <p:cNvSpPr/>
          <p:nvPr/>
        </p:nvSpPr>
        <p:spPr bwMode="auto">
          <a:xfrm>
            <a:off x="3886200" y="3276600"/>
            <a:ext cx="609600" cy="723900"/>
          </a:xfrm>
          <a:custGeom>
            <a:avLst/>
            <a:gdLst>
              <a:gd name="T0" fmla="*/ 0 w 384"/>
              <a:gd name="T1" fmla="*/ 0 h 456"/>
              <a:gd name="T2" fmla="*/ 48 w 384"/>
              <a:gd name="T3" fmla="*/ 384 h 456"/>
              <a:gd name="T4" fmla="*/ 192 w 384"/>
              <a:gd name="T5" fmla="*/ 432 h 456"/>
              <a:gd name="T6" fmla="*/ 384 w 384"/>
              <a:gd name="T7" fmla="*/ 432 h 456"/>
            </a:gdLst>
            <a:ahLst/>
            <a:cxnLst>
              <a:cxn ang="0">
                <a:pos x="T0" y="T1"/>
              </a:cxn>
              <a:cxn ang="0">
                <a:pos x="T2" y="T3"/>
              </a:cxn>
              <a:cxn ang="0">
                <a:pos x="T4" y="T5"/>
              </a:cxn>
              <a:cxn ang="0">
                <a:pos x="T6" y="T7"/>
              </a:cxn>
            </a:cxnLst>
            <a:rect l="0" t="0" r="r" b="b"/>
            <a:pathLst>
              <a:path w="384" h="456">
                <a:moveTo>
                  <a:pt x="0" y="0"/>
                </a:moveTo>
                <a:cubicBezTo>
                  <a:pt x="8" y="156"/>
                  <a:pt x="16" y="312"/>
                  <a:pt x="48" y="384"/>
                </a:cubicBezTo>
                <a:cubicBezTo>
                  <a:pt x="80" y="456"/>
                  <a:pt x="136" y="424"/>
                  <a:pt x="192" y="432"/>
                </a:cubicBezTo>
                <a:cubicBezTo>
                  <a:pt x="248" y="440"/>
                  <a:pt x="316" y="436"/>
                  <a:pt x="384" y="432"/>
                </a:cubicBezTo>
              </a:path>
            </a:pathLst>
          </a:cu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150" name="Line 78"/>
          <p:cNvSpPr>
            <a:spLocks noChangeShapeType="1"/>
          </p:cNvSpPr>
          <p:nvPr/>
        </p:nvSpPr>
        <p:spPr bwMode="auto">
          <a:xfrm>
            <a:off x="2420938" y="3276600"/>
            <a:ext cx="17462" cy="3276600"/>
          </a:xfrm>
          <a:prstGeom prst="line">
            <a:avLst/>
          </a:prstGeom>
          <a:noFill/>
          <a:ln w="19050"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51" name="Line 79"/>
          <p:cNvSpPr>
            <a:spLocks noChangeShapeType="1"/>
          </p:cNvSpPr>
          <p:nvPr/>
        </p:nvSpPr>
        <p:spPr bwMode="auto">
          <a:xfrm>
            <a:off x="3886200" y="3276600"/>
            <a:ext cx="0" cy="3200400"/>
          </a:xfrm>
          <a:prstGeom prst="line">
            <a:avLst/>
          </a:prstGeom>
          <a:noFill/>
          <a:ln w="19050"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52" name="Rectangle 80"/>
          <p:cNvSpPr>
            <a:spLocks noChangeArrowheads="1"/>
          </p:cNvSpPr>
          <p:nvPr/>
        </p:nvSpPr>
        <p:spPr bwMode="auto">
          <a:xfrm>
            <a:off x="76200" y="16764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3600" b="1">
                <a:effectLst>
                  <a:outerShdw blurRad="38100" dist="38100" dir="2700000" algn="tl">
                    <a:srgbClr val="C0C0C0"/>
                  </a:outerShdw>
                </a:effectLst>
              </a:rPr>
              <a:t>u</a:t>
            </a:r>
            <a:r>
              <a:rPr kumimoji="1" lang="ru-RU" altLang="zh-CN" sz="3600" b="1" baseline="-25000">
                <a:effectLst>
                  <a:outerShdw blurRad="38100" dist="38100" dir="2700000" algn="tl">
                    <a:srgbClr val="C0C0C0"/>
                  </a:outerShdw>
                </a:effectLst>
              </a:rPr>
              <a:t>I</a:t>
            </a:r>
            <a:endParaRPr kumimoji="1" lang="ru-RU" altLang="zh-CN" sz="3600" b="1" baseline="-25000">
              <a:effectLst>
                <a:outerShdw blurRad="38100" dist="38100" dir="2700000" algn="tl">
                  <a:srgbClr val="C0C0C0"/>
                </a:outerShdw>
              </a:effectLst>
            </a:endParaRPr>
          </a:p>
        </p:txBody>
      </p:sp>
      <p:sp>
        <p:nvSpPr>
          <p:cNvPr id="3153" name="Rectangle 81"/>
          <p:cNvSpPr>
            <a:spLocks noChangeArrowheads="1"/>
          </p:cNvSpPr>
          <p:nvPr/>
        </p:nvSpPr>
        <p:spPr bwMode="auto">
          <a:xfrm>
            <a:off x="76200" y="347345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3600" b="1">
                <a:effectLst>
                  <a:outerShdw blurRad="38100" dist="38100" dir="2700000" algn="tl">
                    <a:srgbClr val="C0C0C0"/>
                  </a:outerShdw>
                </a:effectLst>
              </a:rPr>
              <a:t>u</a:t>
            </a:r>
            <a:r>
              <a:rPr kumimoji="1" lang="ru-RU" altLang="zh-CN" sz="3600" b="1" baseline="-25000">
                <a:effectLst>
                  <a:outerShdw blurRad="38100" dist="38100" dir="2700000" algn="tl">
                    <a:srgbClr val="C0C0C0"/>
                  </a:outerShdw>
                </a:effectLst>
              </a:rPr>
              <a:t>c</a:t>
            </a:r>
            <a:endParaRPr kumimoji="1" lang="ru-RU" altLang="zh-CN" sz="3600" b="1" baseline="-25000">
              <a:effectLst>
                <a:outerShdw blurRad="38100" dist="38100" dir="2700000" algn="tl">
                  <a:srgbClr val="C0C0C0"/>
                </a:outerShdw>
              </a:effectLst>
            </a:endParaRPr>
          </a:p>
        </p:txBody>
      </p:sp>
      <p:sp>
        <p:nvSpPr>
          <p:cNvPr id="3154" name="Rectangle 82"/>
          <p:cNvSpPr>
            <a:spLocks noChangeArrowheads="1"/>
          </p:cNvSpPr>
          <p:nvPr/>
        </p:nvSpPr>
        <p:spPr bwMode="auto">
          <a:xfrm>
            <a:off x="76200" y="492125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3600" b="1">
                <a:effectLst>
                  <a:outerShdw blurRad="38100" dist="38100" dir="2700000" algn="tl">
                    <a:srgbClr val="C0C0C0"/>
                  </a:outerShdw>
                </a:effectLst>
              </a:rPr>
              <a:t>u</a:t>
            </a:r>
            <a:r>
              <a:rPr kumimoji="1" lang="ru-RU" altLang="zh-CN" sz="3600" b="1" baseline="-25000">
                <a:effectLst>
                  <a:outerShdw blurRad="38100" dist="38100" dir="2700000" algn="tl">
                    <a:srgbClr val="C0C0C0"/>
                  </a:outerShdw>
                </a:effectLst>
              </a:rPr>
              <a:t>o</a:t>
            </a:r>
            <a:endParaRPr kumimoji="1" lang="ru-RU" altLang="zh-CN" sz="3600" b="1" baseline="-25000">
              <a:effectLst>
                <a:outerShdw blurRad="38100" dist="38100" dir="2700000" algn="tl">
                  <a:srgbClr val="C0C0C0"/>
                </a:outerShdw>
              </a:effectLst>
            </a:endParaRPr>
          </a:p>
        </p:txBody>
      </p:sp>
      <p:sp>
        <p:nvSpPr>
          <p:cNvPr id="3155" name="Rectangle 83"/>
          <p:cNvSpPr>
            <a:spLocks noChangeArrowheads="1"/>
          </p:cNvSpPr>
          <p:nvPr/>
        </p:nvSpPr>
        <p:spPr bwMode="auto">
          <a:xfrm>
            <a:off x="5181600" y="1591632"/>
            <a:ext cx="3886200" cy="1477328"/>
          </a:xfrm>
          <a:prstGeom prst="rect">
            <a:avLst/>
          </a:prstGeom>
          <a:solidFill>
            <a:srgbClr val="FAC164">
              <a:alpha val="50195"/>
            </a:srgbClr>
          </a:solidFill>
          <a:ln w="9525" cap="flat" algn="ctr">
            <a:solidFill>
              <a:srgbClr val="FF0066"/>
            </a:solidFill>
            <a:prstDash val="solid"/>
            <a:miter lim="800000"/>
            <a:headEnd type="none" w="med" len="med"/>
            <a:tailEnd type="none" w="med" len="med"/>
          </a:ln>
        </p:spPr>
        <p:txBody>
          <a:bodyPr wrap="square">
            <a:spAutoFit/>
          </a:bodyPr>
          <a:lstStyle/>
          <a:p>
            <a:pPr>
              <a:spcBef>
                <a:spcPct val="50000"/>
              </a:spcBef>
            </a:pPr>
            <a:r>
              <a:rPr kumimoji="1" lang="zh-CN" altLang="en-US"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1</a:t>
            </a:r>
            <a:r>
              <a:rPr kumimoji="1" lang="zh-CN" altLang="en-US" sz="2000" b="1" dirty="0">
                <a:effectLst>
                  <a:outerShdw blurRad="38100" dist="38100" dir="2700000" algn="tl">
                    <a:srgbClr val="000000"/>
                  </a:outerShdw>
                </a:effectLst>
              </a:rPr>
              <a:t>）</a:t>
            </a:r>
            <a:r>
              <a:rPr kumimoji="1" lang="zh-CN" altLang="ru-RU" sz="2000" b="1" dirty="0">
                <a:effectLst>
                  <a:outerShdw blurRad="38100" dist="38100" dir="2700000" algn="tl">
                    <a:srgbClr val="000000"/>
                  </a:outerShdw>
                </a:effectLst>
              </a:rPr>
              <a:t>没有触发信号时</a:t>
            </a:r>
            <a:br>
              <a:rPr kumimoji="1" lang="zh-CN" altLang="ru-RU" sz="2000" b="1" dirty="0">
                <a:effectLst>
                  <a:outerShdw blurRad="38100" dist="38100" dir="2700000" algn="tl">
                    <a:srgbClr val="000000"/>
                  </a:outerShdw>
                </a:effectLst>
              </a:rPr>
            </a:br>
            <a:r>
              <a:rPr kumimoji="1" lang="zh-CN" altLang="ru-RU" sz="2000" b="1" dirty="0">
                <a:effectLst>
                  <a:outerShdw blurRad="38100" dist="38100" dir="2700000" algn="tl">
                    <a:srgbClr val="000000"/>
                  </a:outerShdw>
                </a:effectLst>
              </a:rPr>
              <a:t>        电路的工作状态</a:t>
            </a:r>
            <a:endParaRPr kumimoji="1" lang="zh-CN" altLang="ru-RU" sz="2000" b="1" dirty="0">
              <a:effectLst>
                <a:outerShdw blurRad="38100" dist="38100" dir="2700000" algn="tl">
                  <a:srgbClr val="000000"/>
                </a:outerShdw>
              </a:effectLst>
            </a:endParaRPr>
          </a:p>
          <a:p>
            <a:pPr>
              <a:spcBef>
                <a:spcPct val="50000"/>
              </a:spcBef>
            </a:pPr>
            <a:r>
              <a:rPr kumimoji="1" lang="ru-RU" altLang="zh-CN" sz="2000" b="1" dirty="0">
                <a:effectLst>
                  <a:outerShdw blurRad="38100" dist="38100" dir="2700000" algn="tl">
                    <a:srgbClr val="000000"/>
                  </a:outerShdw>
                </a:effectLst>
              </a:rPr>
              <a:t>Q=0</a:t>
            </a:r>
            <a:r>
              <a:rPr kumimoji="1" lang="zh-CN" altLang="ru-RU"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u</a:t>
            </a:r>
            <a:r>
              <a:rPr kumimoji="1" lang="ru-RU" altLang="zh-CN" sz="2000" b="1" baseline="-25000" dirty="0">
                <a:effectLst>
                  <a:outerShdw blurRad="38100" dist="38100" dir="2700000" algn="tl">
                    <a:srgbClr val="000000"/>
                  </a:outerShdw>
                </a:effectLst>
              </a:rPr>
              <a:t>o</a:t>
            </a:r>
            <a:r>
              <a:rPr kumimoji="1" lang="ru-RU" altLang="zh-CN" sz="2000" b="1" dirty="0">
                <a:effectLst>
                  <a:outerShdw blurRad="38100" dist="38100" dir="2700000" algn="tl">
                    <a:srgbClr val="000000"/>
                  </a:outerShdw>
                </a:effectLst>
              </a:rPr>
              <a:t>= u</a:t>
            </a:r>
            <a:r>
              <a:rPr kumimoji="1" lang="ru-RU" altLang="zh-CN" sz="2000" b="1" baseline="-25000" dirty="0">
                <a:effectLst>
                  <a:outerShdw blurRad="38100" dist="38100" dir="2700000" algn="tl">
                    <a:srgbClr val="000000"/>
                  </a:outerShdw>
                </a:effectLst>
              </a:rPr>
              <a:t>oL</a:t>
            </a:r>
            <a:r>
              <a:rPr kumimoji="1" lang="zh-CN" altLang="ru-RU"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T</a:t>
            </a:r>
            <a:r>
              <a:rPr kumimoji="1" lang="ru-RU" altLang="zh-CN" sz="2000" b="1" baseline="-25000" dirty="0">
                <a:effectLst>
                  <a:outerShdw blurRad="38100" dist="38100" dir="2700000" algn="tl">
                    <a:srgbClr val="000000"/>
                  </a:outerShdw>
                </a:effectLst>
              </a:rPr>
              <a:t>D</a:t>
            </a:r>
            <a:r>
              <a:rPr kumimoji="1" lang="zh-CN" altLang="ru-RU" sz="2000" b="1" dirty="0">
                <a:effectLst>
                  <a:outerShdw blurRad="38100" dist="38100" dir="2700000" algn="tl">
                    <a:srgbClr val="000000"/>
                  </a:outerShdw>
                </a:effectLst>
              </a:rPr>
              <a:t>导通此时电路处于稳态</a:t>
            </a:r>
            <a:endParaRPr kumimoji="1" lang="zh-CN" altLang="ru-RU" sz="2000" b="1" dirty="0">
              <a:effectLst>
                <a:outerShdw blurRad="38100" dist="38100" dir="2700000" algn="tl">
                  <a:srgbClr val="000000"/>
                </a:outerShdw>
              </a:effectLst>
            </a:endParaRPr>
          </a:p>
        </p:txBody>
      </p:sp>
      <p:sp>
        <p:nvSpPr>
          <p:cNvPr id="3156" name="Rectangle 84"/>
          <p:cNvSpPr>
            <a:spLocks noChangeArrowheads="1"/>
          </p:cNvSpPr>
          <p:nvPr/>
        </p:nvSpPr>
        <p:spPr bwMode="auto">
          <a:xfrm>
            <a:off x="533400" y="5562600"/>
            <a:ext cx="914400" cy="4572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ru-RU" b="1">
                <a:solidFill>
                  <a:srgbClr val="FF0066"/>
                </a:solidFill>
                <a:effectLst>
                  <a:outerShdw blurRad="38100" dist="38100" dir="2700000" algn="tl">
                    <a:srgbClr val="C0C0C0"/>
                  </a:outerShdw>
                </a:effectLst>
              </a:rPr>
              <a:t>稳态</a:t>
            </a:r>
            <a:endParaRPr kumimoji="1" lang="zh-CN" altLang="ru-RU" b="1">
              <a:solidFill>
                <a:srgbClr val="FF0066"/>
              </a:solidFill>
              <a:effectLst>
                <a:outerShdw blurRad="38100" dist="38100" dir="2700000" algn="tl">
                  <a:srgbClr val="C0C0C0"/>
                </a:outerShdw>
              </a:effectLst>
            </a:endParaRPr>
          </a:p>
        </p:txBody>
      </p:sp>
      <p:sp>
        <p:nvSpPr>
          <p:cNvPr id="3157" name="Rectangle 85"/>
          <p:cNvSpPr>
            <a:spLocks noChangeArrowheads="1"/>
          </p:cNvSpPr>
          <p:nvPr/>
        </p:nvSpPr>
        <p:spPr bwMode="auto">
          <a:xfrm>
            <a:off x="5257800" y="3319824"/>
            <a:ext cx="3886200" cy="1477328"/>
          </a:xfrm>
          <a:prstGeom prst="rect">
            <a:avLst/>
          </a:prstGeom>
          <a:solidFill>
            <a:srgbClr val="FAC164">
              <a:alpha val="50195"/>
            </a:srgbClr>
          </a:solidFill>
          <a:ln w="9525" cap="flat" algn="ctr">
            <a:solidFill>
              <a:srgbClr val="FF0066"/>
            </a:solidFill>
            <a:prstDash val="solid"/>
            <a:miter lim="800000"/>
            <a:headEnd type="none" w="med" len="med"/>
            <a:tailEnd type="none" w="med" len="med"/>
          </a:ln>
        </p:spPr>
        <p:txBody>
          <a:bodyPr>
            <a:spAutoFit/>
          </a:bodyPr>
          <a:lstStyle/>
          <a:p>
            <a:pPr>
              <a:spcBef>
                <a:spcPct val="50000"/>
              </a:spcBef>
            </a:pPr>
            <a:r>
              <a:rPr kumimoji="1" lang="zh-CN" altLang="en-US"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2</a:t>
            </a:r>
            <a:r>
              <a:rPr kumimoji="1" lang="zh-CN" altLang="en-US" sz="2000" b="1" dirty="0">
                <a:effectLst>
                  <a:outerShdw blurRad="38100" dist="38100" dir="2700000" algn="tl">
                    <a:srgbClr val="000000"/>
                  </a:outerShdw>
                </a:effectLst>
              </a:rPr>
              <a:t>）</a:t>
            </a:r>
            <a:r>
              <a:rPr kumimoji="1" lang="zh-CN" altLang="ru-RU" sz="2000" b="1" dirty="0">
                <a:effectLst>
                  <a:outerShdw blurRad="38100" dist="38100" dir="2700000" algn="tl">
                    <a:srgbClr val="000000"/>
                  </a:outerShdw>
                </a:effectLst>
              </a:rPr>
              <a:t>触发信号到来</a:t>
            </a:r>
            <a:endParaRPr kumimoji="1" lang="zh-CN" altLang="ru-RU" sz="2000" b="1" dirty="0">
              <a:effectLst>
                <a:outerShdw blurRad="38100" dist="38100" dir="2700000" algn="tl">
                  <a:srgbClr val="000000"/>
                </a:outerShdw>
              </a:effectLst>
            </a:endParaRPr>
          </a:p>
          <a:p>
            <a:pPr>
              <a:spcBef>
                <a:spcPct val="50000"/>
              </a:spcBef>
            </a:pPr>
            <a:r>
              <a:rPr kumimoji="1" lang="ru-RU" altLang="zh-CN" sz="2000" b="1" dirty="0">
                <a:effectLst>
                  <a:outerShdw blurRad="38100" dist="38100" dir="2700000" algn="tl">
                    <a:srgbClr val="000000"/>
                  </a:outerShdw>
                </a:effectLst>
              </a:rPr>
              <a:t>Q=1</a:t>
            </a:r>
            <a:r>
              <a:rPr kumimoji="1" lang="zh-CN" altLang="ru-RU"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u</a:t>
            </a:r>
            <a:r>
              <a:rPr kumimoji="1" lang="ru-RU" altLang="zh-CN" sz="2000" b="1" baseline="-25000" dirty="0">
                <a:effectLst>
                  <a:outerShdw blurRad="38100" dist="38100" dir="2700000" algn="tl">
                    <a:srgbClr val="000000"/>
                  </a:outerShdw>
                </a:effectLst>
              </a:rPr>
              <a:t>o</a:t>
            </a:r>
            <a:r>
              <a:rPr kumimoji="1" lang="ru-RU" altLang="zh-CN" sz="2000" b="1" dirty="0">
                <a:effectLst>
                  <a:outerShdw blurRad="38100" dist="38100" dir="2700000" algn="tl">
                    <a:srgbClr val="000000"/>
                  </a:outerShdw>
                </a:effectLst>
              </a:rPr>
              <a:t>= u</a:t>
            </a:r>
            <a:r>
              <a:rPr kumimoji="1" lang="ru-RU" altLang="zh-CN" sz="2000" b="1" baseline="-25000" dirty="0">
                <a:effectLst>
                  <a:outerShdw blurRad="38100" dist="38100" dir="2700000" algn="tl">
                    <a:srgbClr val="000000"/>
                  </a:outerShdw>
                </a:effectLst>
              </a:rPr>
              <a:t>oH</a:t>
            </a:r>
            <a:r>
              <a:rPr kumimoji="1" lang="zh-CN" altLang="ru-RU"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T</a:t>
            </a:r>
            <a:r>
              <a:rPr kumimoji="1" lang="ru-RU" altLang="zh-CN" sz="2000" b="1" baseline="-25000" dirty="0">
                <a:effectLst>
                  <a:outerShdw blurRad="38100" dist="38100" dir="2700000" algn="tl">
                    <a:srgbClr val="000000"/>
                  </a:outerShdw>
                </a:effectLst>
              </a:rPr>
              <a:t>D</a:t>
            </a:r>
            <a:r>
              <a:rPr kumimoji="1" lang="zh-CN" altLang="ru-RU" sz="2000" b="1" dirty="0">
                <a:effectLst>
                  <a:outerShdw blurRad="38100" dist="38100" dir="2700000" algn="tl">
                    <a:srgbClr val="000000"/>
                  </a:outerShdw>
                </a:effectLst>
              </a:rPr>
              <a:t>截止此时电路进入暂稳态，暂稳态维持时间为电容充电的时间</a:t>
            </a:r>
            <a:endParaRPr kumimoji="1" lang="zh-CN" altLang="ru-RU" sz="2000" b="1" dirty="0">
              <a:effectLst>
                <a:outerShdw blurRad="38100" dist="38100" dir="2700000" algn="tl">
                  <a:srgbClr val="000000"/>
                </a:outerShdw>
              </a:effectLst>
            </a:endParaRPr>
          </a:p>
        </p:txBody>
      </p:sp>
      <p:sp>
        <p:nvSpPr>
          <p:cNvPr id="3158" name="Rectangle 86"/>
          <p:cNvSpPr>
            <a:spLocks noChangeArrowheads="1"/>
          </p:cNvSpPr>
          <p:nvPr/>
        </p:nvSpPr>
        <p:spPr bwMode="auto">
          <a:xfrm>
            <a:off x="5257800" y="5029200"/>
            <a:ext cx="3886200" cy="1169551"/>
          </a:xfrm>
          <a:prstGeom prst="rect">
            <a:avLst/>
          </a:prstGeom>
          <a:solidFill>
            <a:srgbClr val="FAC164">
              <a:alpha val="50195"/>
            </a:srgbClr>
          </a:solidFill>
          <a:ln w="9525" cap="flat" algn="ctr">
            <a:solidFill>
              <a:srgbClr val="FF0066"/>
            </a:solidFill>
            <a:prstDash val="solid"/>
            <a:miter lim="800000"/>
            <a:headEnd type="none" w="med" len="med"/>
            <a:tailEnd type="none" w="med" len="med"/>
          </a:ln>
        </p:spPr>
        <p:txBody>
          <a:bodyPr>
            <a:spAutoFit/>
          </a:bodyPr>
          <a:lstStyle/>
          <a:p>
            <a:pPr>
              <a:spcBef>
                <a:spcPct val="50000"/>
              </a:spcBef>
            </a:pPr>
            <a:r>
              <a:rPr kumimoji="1" lang="zh-CN" altLang="en-US"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3</a:t>
            </a:r>
            <a:r>
              <a:rPr kumimoji="1" lang="zh-CN" altLang="en-US" sz="2000" b="1" dirty="0">
                <a:effectLst>
                  <a:outerShdw blurRad="38100" dist="38100" dir="2700000" algn="tl">
                    <a:srgbClr val="000000"/>
                  </a:outerShdw>
                </a:effectLst>
              </a:rPr>
              <a:t>）</a:t>
            </a:r>
            <a:r>
              <a:rPr kumimoji="1" lang="zh-CN" altLang="ru-RU" sz="2000" b="1" dirty="0">
                <a:effectLst>
                  <a:outerShdw blurRad="38100" dist="38100" dir="2700000" algn="tl">
                    <a:srgbClr val="000000"/>
                  </a:outerShdw>
                </a:effectLst>
              </a:rPr>
              <a:t>自动返回稳态</a:t>
            </a:r>
            <a:endParaRPr kumimoji="1" lang="zh-CN" altLang="ru-RU" sz="2000" b="1" dirty="0">
              <a:effectLst>
                <a:outerShdw blurRad="38100" dist="38100" dir="2700000" algn="tl">
                  <a:srgbClr val="000000"/>
                </a:outerShdw>
              </a:effectLst>
            </a:endParaRPr>
          </a:p>
          <a:p>
            <a:pPr>
              <a:spcBef>
                <a:spcPct val="50000"/>
              </a:spcBef>
            </a:pPr>
            <a:r>
              <a:rPr kumimoji="1" lang="zh-CN" altLang="ru-RU" sz="2000" b="1" dirty="0">
                <a:effectLst>
                  <a:outerShdw blurRad="38100" dist="38100" dir="2700000" algn="tl">
                    <a:srgbClr val="000000"/>
                  </a:outerShdw>
                </a:effectLst>
              </a:rPr>
              <a:t>充电使</a:t>
            </a:r>
            <a:r>
              <a:rPr kumimoji="1" lang="ru-RU" altLang="zh-CN" sz="2000" b="1" dirty="0">
                <a:effectLst>
                  <a:outerShdw blurRad="38100" dist="38100" dir="2700000" algn="tl">
                    <a:srgbClr val="000000"/>
                  </a:outerShdw>
                </a:effectLst>
              </a:rPr>
              <a:t>u</a:t>
            </a:r>
            <a:r>
              <a:rPr kumimoji="1" lang="ru-RU" altLang="zh-CN" sz="2000" b="1" baseline="-25000" dirty="0">
                <a:effectLst>
                  <a:outerShdw blurRad="38100" dist="38100" dir="2700000" algn="tl">
                    <a:srgbClr val="000000"/>
                  </a:outerShdw>
                </a:effectLst>
              </a:rPr>
              <a:t>C</a:t>
            </a:r>
            <a:r>
              <a:rPr kumimoji="1" lang="ru-RU" altLang="zh-CN" sz="2000" b="1" dirty="0">
                <a:effectLst>
                  <a:outerShdw blurRad="38100" dist="38100" dir="2700000" algn="tl">
                    <a:srgbClr val="000000"/>
                  </a:outerShdw>
                </a:effectLst>
              </a:rPr>
              <a:t>= 2V</a:t>
            </a:r>
            <a:r>
              <a:rPr kumimoji="1" lang="ru-RU" altLang="zh-CN" sz="2000" b="1" baseline="-25000" dirty="0">
                <a:effectLst>
                  <a:outerShdw blurRad="38100" dist="38100" dir="2700000" algn="tl">
                    <a:srgbClr val="000000"/>
                  </a:outerShdw>
                </a:effectLst>
              </a:rPr>
              <a:t>CC</a:t>
            </a:r>
            <a:r>
              <a:rPr kumimoji="1" lang="ru-RU" altLang="zh-CN" sz="2000" b="1" dirty="0">
                <a:effectLst>
                  <a:outerShdw blurRad="38100" dist="38100" dir="2700000" algn="tl">
                    <a:srgbClr val="000000"/>
                  </a:outerShdw>
                </a:effectLst>
              </a:rPr>
              <a:t>/3</a:t>
            </a:r>
            <a:r>
              <a:rPr kumimoji="1" lang="zh-CN" altLang="ru-RU" sz="2000" b="1" dirty="0">
                <a:effectLst>
                  <a:outerShdw blurRad="38100" dist="38100" dir="2700000" algn="tl">
                    <a:srgbClr val="000000"/>
                  </a:outerShdw>
                </a:effectLst>
              </a:rPr>
              <a:t>时，电路返回到稳态</a:t>
            </a:r>
            <a:endParaRPr kumimoji="1" lang="zh-CN" altLang="ru-RU" sz="2000" b="1" dirty="0">
              <a:effectLst>
                <a:outerShdw blurRad="38100" dist="38100" dir="2700000" algn="tl">
                  <a:srgbClr val="000000"/>
                </a:outerShdw>
              </a:effectLst>
            </a:endParaRPr>
          </a:p>
        </p:txBody>
      </p:sp>
      <p:sp>
        <p:nvSpPr>
          <p:cNvPr id="3159" name="Rectangle 87"/>
          <p:cNvSpPr>
            <a:spLocks noChangeArrowheads="1"/>
          </p:cNvSpPr>
          <p:nvPr/>
        </p:nvSpPr>
        <p:spPr bwMode="auto">
          <a:xfrm>
            <a:off x="1600200" y="5562600"/>
            <a:ext cx="914400" cy="8223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ru-RU" b="1">
                <a:solidFill>
                  <a:srgbClr val="FF0066"/>
                </a:solidFill>
                <a:effectLst>
                  <a:outerShdw blurRad="38100" dist="38100" dir="2700000" algn="tl">
                    <a:srgbClr val="C0C0C0"/>
                  </a:outerShdw>
                </a:effectLst>
              </a:rPr>
              <a:t>暂稳态</a:t>
            </a:r>
            <a:endParaRPr kumimoji="1" lang="zh-CN" altLang="ru-RU" b="1">
              <a:solidFill>
                <a:srgbClr val="FF0066"/>
              </a:solidFill>
              <a:effectLst>
                <a:outerShdw blurRad="38100" dist="38100" dir="2700000" algn="tl">
                  <a:srgbClr val="C0C0C0"/>
                </a:outerShdw>
              </a:effectLst>
            </a:endParaRPr>
          </a:p>
        </p:txBody>
      </p:sp>
      <p:grpSp>
        <p:nvGrpSpPr>
          <p:cNvPr id="3160" name="Group 88"/>
          <p:cNvGrpSpPr/>
          <p:nvPr/>
        </p:nvGrpSpPr>
        <p:grpSpPr bwMode="auto">
          <a:xfrm>
            <a:off x="457200" y="2819400"/>
            <a:ext cx="1981200" cy="457200"/>
            <a:chOff x="288" y="1776"/>
            <a:chExt cx="1248" cy="288"/>
          </a:xfrm>
        </p:grpSpPr>
        <p:sp>
          <p:nvSpPr>
            <p:cNvPr id="3161" name="Line 89"/>
            <p:cNvSpPr>
              <a:spLocks noChangeShapeType="1"/>
            </p:cNvSpPr>
            <p:nvPr/>
          </p:nvSpPr>
          <p:spPr bwMode="auto">
            <a:xfrm flipH="1">
              <a:off x="384" y="2064"/>
              <a:ext cx="1152" cy="0"/>
            </a:xfrm>
            <a:prstGeom prst="line">
              <a:avLst/>
            </a:prstGeom>
            <a:noFill/>
            <a:ln w="9525" cap="flat" algn="ctr">
              <a:solidFill>
                <a:srgbClr val="FF0066"/>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62" name="Rectangle 90"/>
            <p:cNvSpPr>
              <a:spLocks noChangeArrowheads="1"/>
            </p:cNvSpPr>
            <p:nvPr/>
          </p:nvSpPr>
          <p:spPr bwMode="auto">
            <a:xfrm>
              <a:off x="288" y="1776"/>
              <a:ext cx="960" cy="28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ru-RU" altLang="zh-CN" b="1">
                  <a:solidFill>
                    <a:srgbClr val="FF0066"/>
                  </a:solidFill>
                  <a:effectLst>
                    <a:outerShdw blurRad="38100" dist="38100" dir="2700000" algn="tl">
                      <a:srgbClr val="C0C0C0"/>
                    </a:outerShdw>
                  </a:effectLst>
                </a:rPr>
                <a:t>2V</a:t>
              </a:r>
              <a:r>
                <a:rPr kumimoji="1" lang="ru-RU" altLang="zh-CN" b="1" baseline="-25000">
                  <a:solidFill>
                    <a:srgbClr val="FF0066"/>
                  </a:solidFill>
                  <a:effectLst>
                    <a:outerShdw blurRad="38100" dist="38100" dir="2700000" algn="tl">
                      <a:srgbClr val="C0C0C0"/>
                    </a:outerShdw>
                  </a:effectLst>
                </a:rPr>
                <a:t>CC</a:t>
              </a:r>
              <a:r>
                <a:rPr kumimoji="1" lang="ru-RU" altLang="zh-CN" b="1">
                  <a:solidFill>
                    <a:srgbClr val="FF0066"/>
                  </a:solidFill>
                  <a:effectLst>
                    <a:outerShdw blurRad="38100" dist="38100" dir="2700000" algn="tl">
                      <a:srgbClr val="C0C0C0"/>
                    </a:outerShdw>
                  </a:effectLst>
                </a:rPr>
                <a:t>/3</a:t>
              </a:r>
              <a:endParaRPr kumimoji="1" lang="ru-RU" altLang="zh-CN" b="1">
                <a:solidFill>
                  <a:srgbClr val="FF0066"/>
                </a:solidFill>
                <a:effectLst>
                  <a:outerShdw blurRad="38100" dist="38100" dir="2700000" algn="tl">
                    <a:srgbClr val="C0C0C0"/>
                  </a:outerShdw>
                </a:effectLst>
              </a:endParaRPr>
            </a:p>
          </p:txBody>
        </p:sp>
      </p:grpSp>
      <p:graphicFrame>
        <p:nvGraphicFramePr>
          <p:cNvPr id="3163" name="Object 91"/>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7651" name="Equation" r:id="rId1" imgW="166370" imgH="166370" progId="Equation.3">
                  <p:embed/>
                </p:oleObj>
              </mc:Choice>
              <mc:Fallback>
                <p:oleObj name="Equation" r:id="rId1" imgW="166370" imgH="166370" progId="Equation.3">
                  <p:embed/>
                  <p:pic>
                    <p:nvPicPr>
                      <p:cNvPr id="0" name="Object 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childTnLst>
                                    <p:set>
                                      <p:cBhvr additive="base">
                                        <p:cTn id="6" dur="1" fill="hold">
                                          <p:stCondLst>
                                            <p:cond delay="499"/>
                                          </p:stCondLst>
                                        </p:cTn>
                                        <p:tgtEl>
                                          <p:spTgt spid="3117">
                                            <p:txEl>
                                              <p:pRg st="0" end="0"/>
                                            </p:txEl>
                                          </p:spTgt>
                                        </p:tgtEl>
                                        <p:attrNameLst>
                                          <p:attrName>style.visibility</p:attrName>
                                        </p:attrNameLst>
                                      </p:cBhvr>
                                      <p:to>
                                        <p:strVal val="visible"/>
                                      </p:to>
                                    </p:set>
                                    <p:anim calcmode="lin" valueType="num">
                                      <p:cBhvr additive="base">
                                        <p:cTn id="7" dur="1" fill="hold"/>
                                        <p:tgtEl>
                                          <p:spTgt spid="3117">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childTnLst>
                                    <p:set>
                                      <p:cBhvr additive="base">
                                        <p:cTn id="11" dur="1" fill="hold">
                                          <p:stCondLst>
                                            <p:cond delay="0"/>
                                          </p:stCondLst>
                                        </p:cTn>
                                        <p:tgtEl>
                                          <p:spTgt spid="3152"/>
                                        </p:tgtEl>
                                        <p:attrNameLst>
                                          <p:attrName>style.visibility</p:attrName>
                                        </p:attrNameLst>
                                      </p:cBhvr>
                                      <p:to>
                                        <p:strVal val="visible"/>
                                      </p:to>
                                    </p:set>
                                    <p:anim calcmode="lin" valueType="num">
                                      <p:cBhvr additive="base">
                                        <p:cTn id="12" dur="500" fill="hold"/>
                                        <p:tgtEl>
                                          <p:spTgt spid="3152"/>
                                        </p:tgtEl>
                                        <p:attrNameLst>
                                          <p:attrName>ppt_x</p:attrName>
                                        </p:attrNameLst>
                                      </p:cBhvr>
                                      <p:tavLst>
                                        <p:tav tm="0">
                                          <p:val>
                                            <p:strVal val="0-#ppt_w/2"/>
                                          </p:val>
                                        </p:tav>
                                        <p:tav tm="100000">
                                          <p:val>
                                            <p:strVal val="#ppt_x"/>
                                          </p:val>
                                        </p:tav>
                                      </p:tavLst>
                                    </p:anim>
                                    <p:anim calcmode="lin" valueType="num">
                                      <p:cBhvr additive="base">
                                        <p:cTn id="13" dur="500" fill="hold"/>
                                        <p:tgtEl>
                                          <p:spTgt spid="315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childTnLst>
                                    <p:set>
                                      <p:cBhvr additive="base">
                                        <p:cTn id="17" dur="1" fill="hold">
                                          <p:stCondLst>
                                            <p:cond delay="0"/>
                                          </p:stCondLst>
                                        </p:cTn>
                                        <p:tgtEl>
                                          <p:spTgt spid="3118"/>
                                        </p:tgtEl>
                                        <p:attrNameLst>
                                          <p:attrName>style.visibility</p:attrName>
                                        </p:attrNameLst>
                                      </p:cBhvr>
                                      <p:to>
                                        <p:strVal val="visible"/>
                                      </p:to>
                                    </p:set>
                                    <p:animEffect transition="in" filter="wipe(left)">
                                      <p:cBhvr additive="base">
                                        <p:cTn id="18" dur="500"/>
                                        <p:tgtEl>
                                          <p:spTgt spid="311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childTnLst>
                                    <p:set>
                                      <p:cBhvr additive="base">
                                        <p:cTn id="22" dur="1" fill="hold">
                                          <p:stCondLst>
                                            <p:cond delay="0"/>
                                          </p:stCondLst>
                                        </p:cTn>
                                        <p:tgtEl>
                                          <p:spTgt spid="3142"/>
                                        </p:tgtEl>
                                        <p:attrNameLst>
                                          <p:attrName>style.visibility</p:attrName>
                                        </p:attrNameLst>
                                      </p:cBhvr>
                                      <p:to>
                                        <p:strVal val="visible"/>
                                      </p:to>
                                    </p:set>
                                    <p:animEffect transition="in" filter="wipe(left)">
                                      <p:cBhvr additive="base">
                                        <p:cTn id="23" dur="500"/>
                                        <p:tgtEl>
                                          <p:spTgt spid="314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childTnLst>
                                    <p:set>
                                      <p:cBhvr additive="base">
                                        <p:cTn id="27" dur="1" fill="hold">
                                          <p:stCondLst>
                                            <p:cond delay="0"/>
                                          </p:stCondLst>
                                        </p:cTn>
                                        <p:tgtEl>
                                          <p:spTgt spid="3153"/>
                                        </p:tgtEl>
                                        <p:attrNameLst>
                                          <p:attrName>style.visibility</p:attrName>
                                        </p:attrNameLst>
                                      </p:cBhvr>
                                      <p:to>
                                        <p:strVal val="visible"/>
                                      </p:to>
                                    </p:set>
                                    <p:anim calcmode="lin" valueType="num">
                                      <p:cBhvr additive="base">
                                        <p:cTn id="28" dur="500" fill="hold"/>
                                        <p:tgtEl>
                                          <p:spTgt spid="3153"/>
                                        </p:tgtEl>
                                        <p:attrNameLst>
                                          <p:attrName>ppt_x</p:attrName>
                                        </p:attrNameLst>
                                      </p:cBhvr>
                                      <p:tavLst>
                                        <p:tav tm="0">
                                          <p:val>
                                            <p:strVal val="0-#ppt_w/2"/>
                                          </p:val>
                                        </p:tav>
                                        <p:tav tm="100000">
                                          <p:val>
                                            <p:strVal val="#ppt_x"/>
                                          </p:val>
                                        </p:tav>
                                      </p:tavLst>
                                    </p:anim>
                                    <p:anim calcmode="lin" valueType="num">
                                      <p:cBhvr additive="base">
                                        <p:cTn id="29" dur="500" fill="hold"/>
                                        <p:tgtEl>
                                          <p:spTgt spid="315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childTnLst>
                                    <p:set>
                                      <p:cBhvr additive="base">
                                        <p:cTn id="33" dur="1" fill="hold">
                                          <p:stCondLst>
                                            <p:cond delay="0"/>
                                          </p:stCondLst>
                                        </p:cTn>
                                        <p:tgtEl>
                                          <p:spTgt spid="3145"/>
                                        </p:tgtEl>
                                        <p:attrNameLst>
                                          <p:attrName>style.visibility</p:attrName>
                                        </p:attrNameLst>
                                      </p:cBhvr>
                                      <p:to>
                                        <p:strVal val="visible"/>
                                      </p:to>
                                    </p:set>
                                    <p:animEffect transition="in" filter="wipe(left)">
                                      <p:cBhvr additive="base">
                                        <p:cTn id="34" dur="500"/>
                                        <p:tgtEl>
                                          <p:spTgt spid="3145"/>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childTnLst>
                                    <p:set>
                                      <p:cBhvr additive="base">
                                        <p:cTn id="38" dur="1" fill="hold">
                                          <p:stCondLst>
                                            <p:cond delay="0"/>
                                          </p:stCondLst>
                                        </p:cTn>
                                        <p:tgtEl>
                                          <p:spTgt spid="3154"/>
                                        </p:tgtEl>
                                        <p:attrNameLst>
                                          <p:attrName>style.visibility</p:attrName>
                                        </p:attrNameLst>
                                      </p:cBhvr>
                                      <p:to>
                                        <p:strVal val="visible"/>
                                      </p:to>
                                    </p:set>
                                    <p:anim calcmode="lin" valueType="num">
                                      <p:cBhvr additive="base">
                                        <p:cTn id="39" dur="500" fill="hold"/>
                                        <p:tgtEl>
                                          <p:spTgt spid="3154"/>
                                        </p:tgtEl>
                                        <p:attrNameLst>
                                          <p:attrName>ppt_x</p:attrName>
                                        </p:attrNameLst>
                                      </p:cBhvr>
                                      <p:tavLst>
                                        <p:tav tm="0">
                                          <p:val>
                                            <p:strVal val="0-#ppt_w/2"/>
                                          </p:val>
                                        </p:tav>
                                        <p:tav tm="100000">
                                          <p:val>
                                            <p:strVal val="#ppt_x"/>
                                          </p:val>
                                        </p:tav>
                                      </p:tavLst>
                                    </p:anim>
                                    <p:anim calcmode="lin" valueType="num">
                                      <p:cBhvr additive="base">
                                        <p:cTn id="40" dur="500" fill="hold"/>
                                        <p:tgtEl>
                                          <p:spTgt spid="315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childTnLst>
                                    <p:set>
                                      <p:cBhvr additive="base">
                                        <p:cTn id="44" dur="1" fill="hold">
                                          <p:stCondLst>
                                            <p:cond delay="0"/>
                                          </p:stCondLst>
                                        </p:cTn>
                                        <p:tgtEl>
                                          <p:spTgt spid="3129"/>
                                        </p:tgtEl>
                                        <p:attrNameLst>
                                          <p:attrName>style.visibility</p:attrName>
                                        </p:attrNameLst>
                                      </p:cBhvr>
                                      <p:to>
                                        <p:strVal val="visible"/>
                                      </p:to>
                                    </p:set>
                                    <p:animEffect transition="in" filter="wipe(left)">
                                      <p:cBhvr additive="base">
                                        <p:cTn id="45" dur="500"/>
                                        <p:tgtEl>
                                          <p:spTgt spid="3129"/>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childTnLst>
                                    <p:set>
                                      <p:cBhvr additive="base">
                                        <p:cTn id="49" dur="1" fill="hold">
                                          <p:stCondLst>
                                            <p:cond delay="0"/>
                                          </p:stCondLst>
                                        </p:cTn>
                                        <p:tgtEl>
                                          <p:spTgt spid="3155"/>
                                        </p:tgtEl>
                                        <p:attrNameLst>
                                          <p:attrName>style.visibility</p:attrName>
                                        </p:attrNameLst>
                                      </p:cBhvr>
                                      <p:to>
                                        <p:strVal val="visible"/>
                                      </p:to>
                                    </p:set>
                                    <p:animEffect transition="in" filter="slide(fromTop)">
                                      <p:cBhvr additive="base">
                                        <p:cTn id="50" dur="500"/>
                                        <p:tgtEl>
                                          <p:spTgt spid="3155"/>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grpId="0" nodeType="clickEffect">
                                  <p:childTnLst>
                                    <p:set>
                                      <p:cBhvr additive="base">
                                        <p:cTn id="54" dur="1" fill="hold">
                                          <p:stCondLst>
                                            <p:cond delay="0"/>
                                          </p:stCondLst>
                                        </p:cTn>
                                        <p:tgtEl>
                                          <p:spTgt spid="3156"/>
                                        </p:tgtEl>
                                        <p:attrNameLst>
                                          <p:attrName>style.visibility</p:attrName>
                                        </p:attrNameLst>
                                      </p:cBhvr>
                                      <p:to>
                                        <p:strVal val="visible"/>
                                      </p:to>
                                    </p:set>
                                    <p:animEffect transition="in" filter="slide(fromTop)">
                                      <p:cBhvr additive="base">
                                        <p:cTn id="55" dur="500"/>
                                        <p:tgtEl>
                                          <p:spTgt spid="3156"/>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1" fill="hold" grpId="0" nodeType="clickEffect">
                                  <p:childTnLst>
                                    <p:set>
                                      <p:cBhvr additive="base">
                                        <p:cTn id="59" dur="1" fill="hold">
                                          <p:stCondLst>
                                            <p:cond delay="0"/>
                                          </p:stCondLst>
                                        </p:cTn>
                                        <p:tgtEl>
                                          <p:spTgt spid="3157"/>
                                        </p:tgtEl>
                                        <p:attrNameLst>
                                          <p:attrName>style.visibility</p:attrName>
                                        </p:attrNameLst>
                                      </p:cBhvr>
                                      <p:to>
                                        <p:strVal val="visible"/>
                                      </p:to>
                                    </p:set>
                                    <p:animEffect transition="in" filter="slide(fromTop)">
                                      <p:cBhvr additive="base">
                                        <p:cTn id="60" dur="500"/>
                                        <p:tgtEl>
                                          <p:spTgt spid="315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childTnLst>
                                    <p:set>
                                      <p:cBhvr additive="base">
                                        <p:cTn id="64" dur="1" fill="hold">
                                          <p:stCondLst>
                                            <p:cond delay="0"/>
                                          </p:stCondLst>
                                        </p:cTn>
                                        <p:tgtEl>
                                          <p:spTgt spid="3130"/>
                                        </p:tgtEl>
                                        <p:attrNameLst>
                                          <p:attrName>style.visibility</p:attrName>
                                        </p:attrNameLst>
                                      </p:cBhvr>
                                      <p:to>
                                        <p:strVal val="visible"/>
                                      </p:to>
                                    </p:set>
                                    <p:animEffect transition="in" filter="wipe(left)">
                                      <p:cBhvr additive="base">
                                        <p:cTn id="65" dur="500"/>
                                        <p:tgtEl>
                                          <p:spTgt spid="313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childTnLst>
                                    <p:set>
                                      <p:cBhvr additive="base">
                                        <p:cTn id="69" dur="1" fill="hold">
                                          <p:stCondLst>
                                            <p:cond delay="0"/>
                                          </p:stCondLst>
                                        </p:cTn>
                                        <p:tgtEl>
                                          <p:spTgt spid="3146"/>
                                        </p:tgtEl>
                                        <p:attrNameLst>
                                          <p:attrName>style.visibility</p:attrName>
                                        </p:attrNameLst>
                                      </p:cBhvr>
                                      <p:to>
                                        <p:strVal val="visible"/>
                                      </p:to>
                                    </p:set>
                                    <p:animEffect transition="in" filter="wipe(left)">
                                      <p:cBhvr additive="base">
                                        <p:cTn id="70" dur="500"/>
                                        <p:tgtEl>
                                          <p:spTgt spid="314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nodeType="clickEffect">
                                  <p:childTnLst>
                                    <p:set>
                                      <p:cBhvr additive="base">
                                        <p:cTn id="74" dur="1" fill="hold">
                                          <p:stCondLst>
                                            <p:cond delay="0"/>
                                          </p:stCondLst>
                                        </p:cTn>
                                        <p:tgtEl>
                                          <p:spTgt spid="3160"/>
                                        </p:tgtEl>
                                        <p:attrNameLst>
                                          <p:attrName>style.visibility</p:attrName>
                                        </p:attrNameLst>
                                      </p:cBhvr>
                                      <p:to>
                                        <p:strVal val="visible"/>
                                      </p:to>
                                    </p:set>
                                    <p:animEffect transition="in" filter="wipe(right)">
                                      <p:cBhvr additive="base">
                                        <p:cTn id="75" dur="500"/>
                                        <p:tgtEl>
                                          <p:spTgt spid="316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childTnLst>
                                    <p:set>
                                      <p:cBhvr additive="base">
                                        <p:cTn id="79" dur="1" fill="hold">
                                          <p:stCondLst>
                                            <p:cond delay="0"/>
                                          </p:stCondLst>
                                        </p:cTn>
                                        <p:tgtEl>
                                          <p:spTgt spid="3150"/>
                                        </p:tgtEl>
                                        <p:attrNameLst>
                                          <p:attrName>style.visibility</p:attrName>
                                        </p:attrNameLst>
                                      </p:cBhvr>
                                      <p:to>
                                        <p:strVal val="visible"/>
                                      </p:to>
                                    </p:set>
                                    <p:animEffect transition="in" filter="wipe(up)">
                                      <p:cBhvr additive="base">
                                        <p:cTn id="80" dur="500"/>
                                        <p:tgtEl>
                                          <p:spTgt spid="3150"/>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1" fill="hold" grpId="0" nodeType="clickEffect">
                                  <p:childTnLst>
                                    <p:set>
                                      <p:cBhvr additive="base">
                                        <p:cTn id="84" dur="1" fill="hold">
                                          <p:stCondLst>
                                            <p:cond delay="0"/>
                                          </p:stCondLst>
                                        </p:cTn>
                                        <p:tgtEl>
                                          <p:spTgt spid="3159"/>
                                        </p:tgtEl>
                                        <p:attrNameLst>
                                          <p:attrName>style.visibility</p:attrName>
                                        </p:attrNameLst>
                                      </p:cBhvr>
                                      <p:to>
                                        <p:strVal val="visible"/>
                                      </p:to>
                                    </p:set>
                                    <p:animEffect transition="in" filter="slide(fromTop)">
                                      <p:cBhvr additive="base">
                                        <p:cTn id="85" dur="500"/>
                                        <p:tgtEl>
                                          <p:spTgt spid="3159"/>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1" fill="hold" grpId="0" nodeType="clickEffect">
                                  <p:childTnLst>
                                    <p:set>
                                      <p:cBhvr additive="base">
                                        <p:cTn id="89" dur="1" fill="hold">
                                          <p:stCondLst>
                                            <p:cond delay="0"/>
                                          </p:stCondLst>
                                        </p:cTn>
                                        <p:tgtEl>
                                          <p:spTgt spid="3158"/>
                                        </p:tgtEl>
                                        <p:attrNameLst>
                                          <p:attrName>style.visibility</p:attrName>
                                        </p:attrNameLst>
                                      </p:cBhvr>
                                      <p:to>
                                        <p:strVal val="visible"/>
                                      </p:to>
                                    </p:set>
                                    <p:animEffect transition="in" filter="slide(fromTop)">
                                      <p:cBhvr additive="base">
                                        <p:cTn id="90" dur="500"/>
                                        <p:tgtEl>
                                          <p:spTgt spid="3158"/>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childTnLst>
                                    <p:set>
                                      <p:cBhvr additive="base">
                                        <p:cTn id="94" dur="1" fill="hold">
                                          <p:stCondLst>
                                            <p:cond delay="0"/>
                                          </p:stCondLst>
                                        </p:cTn>
                                        <p:tgtEl>
                                          <p:spTgt spid="3133"/>
                                        </p:tgtEl>
                                        <p:attrNameLst>
                                          <p:attrName>style.visibility</p:attrName>
                                        </p:attrNameLst>
                                      </p:cBhvr>
                                      <p:to>
                                        <p:strVal val="visible"/>
                                      </p:to>
                                    </p:set>
                                    <p:animEffect transition="in" filter="wipe(left)">
                                      <p:cBhvr additive="base">
                                        <p:cTn id="95" dur="500"/>
                                        <p:tgtEl>
                                          <p:spTgt spid="313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childTnLst>
                                    <p:set>
                                      <p:cBhvr additive="base">
                                        <p:cTn id="99" dur="1" fill="hold">
                                          <p:stCondLst>
                                            <p:cond delay="0"/>
                                          </p:stCondLst>
                                        </p:cTn>
                                        <p:tgtEl>
                                          <p:spTgt spid="3147"/>
                                        </p:tgtEl>
                                        <p:attrNameLst>
                                          <p:attrName>style.visibility</p:attrName>
                                        </p:attrNameLst>
                                      </p:cBhvr>
                                      <p:to>
                                        <p:strVal val="visible"/>
                                      </p:to>
                                    </p:set>
                                    <p:animEffect transition="in" filter="wipe(left)">
                                      <p:cBhvr additive="base">
                                        <p:cTn id="100" dur="500"/>
                                        <p:tgtEl>
                                          <p:spTgt spid="3147"/>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childTnLst>
                                    <p:set>
                                      <p:cBhvr additive="base">
                                        <p:cTn id="104" dur="1" fill="hold">
                                          <p:stCondLst>
                                            <p:cond delay="0"/>
                                          </p:stCondLst>
                                        </p:cTn>
                                        <p:tgtEl>
                                          <p:spTgt spid="3136"/>
                                        </p:tgtEl>
                                        <p:attrNameLst>
                                          <p:attrName>style.visibility</p:attrName>
                                        </p:attrNameLst>
                                      </p:cBhvr>
                                      <p:to>
                                        <p:strVal val="visible"/>
                                      </p:to>
                                    </p:set>
                                    <p:animEffect transition="in" filter="wipe(left)">
                                      <p:cBhvr additive="base">
                                        <p:cTn id="105" dur="500"/>
                                        <p:tgtEl>
                                          <p:spTgt spid="3136"/>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childTnLst>
                                    <p:set>
                                      <p:cBhvr additive="base">
                                        <p:cTn id="109" dur="1" fill="hold">
                                          <p:stCondLst>
                                            <p:cond delay="0"/>
                                          </p:stCondLst>
                                        </p:cTn>
                                        <p:tgtEl>
                                          <p:spTgt spid="3148"/>
                                        </p:tgtEl>
                                        <p:attrNameLst>
                                          <p:attrName>style.visibility</p:attrName>
                                        </p:attrNameLst>
                                      </p:cBhvr>
                                      <p:to>
                                        <p:strVal val="visible"/>
                                      </p:to>
                                    </p:set>
                                    <p:animEffect transition="in" filter="wipe(left)">
                                      <p:cBhvr additive="base">
                                        <p:cTn id="110" dur="500"/>
                                        <p:tgtEl>
                                          <p:spTgt spid="3148"/>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childTnLst>
                                    <p:set>
                                      <p:cBhvr additive="base">
                                        <p:cTn id="114" dur="1" fill="hold">
                                          <p:stCondLst>
                                            <p:cond delay="0"/>
                                          </p:stCondLst>
                                        </p:cTn>
                                        <p:tgtEl>
                                          <p:spTgt spid="3149"/>
                                        </p:tgtEl>
                                        <p:attrNameLst>
                                          <p:attrName>style.visibility</p:attrName>
                                        </p:attrNameLst>
                                      </p:cBhvr>
                                      <p:to>
                                        <p:strVal val="visible"/>
                                      </p:to>
                                    </p:set>
                                    <p:animEffect transition="in" filter="wipe(left)">
                                      <p:cBhvr additive="base">
                                        <p:cTn id="115" dur="500"/>
                                        <p:tgtEl>
                                          <p:spTgt spid="3149"/>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1" fill="hold" nodeType="clickEffect">
                                  <p:childTnLst>
                                    <p:set>
                                      <p:cBhvr additive="base">
                                        <p:cTn id="119" dur="1" fill="hold">
                                          <p:stCondLst>
                                            <p:cond delay="0"/>
                                          </p:stCondLst>
                                        </p:cTn>
                                        <p:tgtEl>
                                          <p:spTgt spid="3151"/>
                                        </p:tgtEl>
                                        <p:attrNameLst>
                                          <p:attrName>style.visibility</p:attrName>
                                        </p:attrNameLst>
                                      </p:cBhvr>
                                      <p:to>
                                        <p:strVal val="visible"/>
                                      </p:to>
                                    </p:set>
                                    <p:animEffect transition="in" filter="wipe(up)">
                                      <p:cBhvr additive="base">
                                        <p:cTn id="120" dur="500"/>
                                        <p:tgtEl>
                                          <p:spTgt spid="3151"/>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childTnLst>
                                    <p:set>
                                      <p:cBhvr additive="base">
                                        <p:cTn id="124" dur="1" fill="hold">
                                          <p:stCondLst>
                                            <p:cond delay="0"/>
                                          </p:stCondLst>
                                        </p:cTn>
                                        <p:tgtEl>
                                          <p:spTgt spid="3139"/>
                                        </p:tgtEl>
                                        <p:attrNameLst>
                                          <p:attrName>style.visibility</p:attrName>
                                        </p:attrNameLst>
                                      </p:cBhvr>
                                      <p:to>
                                        <p:strVal val="visible"/>
                                      </p:to>
                                    </p:set>
                                    <p:animEffect transition="in" filter="wipe(left)">
                                      <p:cBhvr additive="base">
                                        <p:cTn id="125" dur="500"/>
                                        <p:tgtEl>
                                          <p:spTgt spid="3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7" grpId="0" animBg="1" build="p"/>
      <p:bldP spid="3152" grpId="0" animBg="1"/>
      <p:bldP spid="3153" grpId="0" animBg="1"/>
      <p:bldP spid="3154" grpId="0" animBg="1"/>
      <p:bldP spid="3155" grpId="0" animBg="1"/>
      <p:bldP spid="3156" grpId="0" animBg="1"/>
      <p:bldP spid="3157" grpId="0" animBg="1"/>
      <p:bldP spid="3158" grpId="0" animBg="1"/>
      <p:bldP spid="315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6" name="Rectangle 94"/>
          <p:cNvSpPr>
            <a:spLocks noChangeArrowheads="1"/>
          </p:cNvSpPr>
          <p:nvPr/>
        </p:nvSpPr>
        <p:spPr bwMode="auto">
          <a:xfrm>
            <a:off x="459582" y="616744"/>
            <a:ext cx="297180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rgbClr val="A50021"/>
              </a:buClr>
              <a:buSzPct val="75000"/>
              <a:buFont typeface="Wingdings" panose="05000000000000000000" pitchFamily="2" charset="2"/>
              <a:buNone/>
            </a:pPr>
            <a:r>
              <a:rPr lang="ru-RU" altLang="zh-CN" sz="3600" b="1" dirty="0">
                <a:effectLst>
                  <a:outerShdw blurRad="38100" dist="38100" dir="2700000" algn="tl">
                    <a:srgbClr val="C0C0C0"/>
                  </a:outerShdw>
                </a:effectLst>
              </a:rPr>
              <a:t>3</a:t>
            </a:r>
            <a:r>
              <a:rPr lang="zh-CN" altLang="en-US" sz="3600" b="1" dirty="0">
                <a:effectLst>
                  <a:outerShdw blurRad="38100" dist="38100" dir="2700000" algn="tl">
                    <a:srgbClr val="C0C0C0"/>
                  </a:outerShdw>
                </a:effectLst>
              </a:rPr>
              <a:t>）</a:t>
            </a:r>
            <a:r>
              <a:rPr lang="zh-CN" altLang="ru-RU" sz="3600" b="1" dirty="0">
                <a:effectLst>
                  <a:outerShdw blurRad="38100" dist="38100" dir="2700000" algn="tl">
                    <a:srgbClr val="C0C0C0"/>
                  </a:outerShdw>
                </a:effectLst>
              </a:rPr>
              <a:t>主要参数</a:t>
            </a:r>
            <a:endParaRPr lang="zh-CN" altLang="ru-RU" sz="3600" b="1" dirty="0">
              <a:effectLst>
                <a:outerShdw blurRad="38100" dist="38100" dir="2700000" algn="tl">
                  <a:srgbClr val="C0C0C0"/>
                </a:outerShdw>
              </a:effectLst>
            </a:endParaRPr>
          </a:p>
        </p:txBody>
      </p:sp>
      <p:sp>
        <p:nvSpPr>
          <p:cNvPr id="3167" name="Rectangle 95"/>
          <p:cNvSpPr>
            <a:spLocks noChangeArrowheads="1"/>
          </p:cNvSpPr>
          <p:nvPr/>
        </p:nvSpPr>
        <p:spPr bwMode="auto">
          <a:xfrm>
            <a:off x="3924300" y="1712774"/>
            <a:ext cx="5105400" cy="1169551"/>
          </a:xfrm>
          <a:prstGeom prst="rect">
            <a:avLst/>
          </a:prstGeom>
          <a:solidFill>
            <a:srgbClr val="FFCC00">
              <a:alpha val="50195"/>
            </a:srgbClr>
          </a:solidFill>
          <a:ln w="9525" cap="flat" algn="ctr">
            <a:solidFill>
              <a:srgbClr val="FF0066"/>
            </a:solidFill>
            <a:prstDash val="solid"/>
            <a:miter lim="800000"/>
            <a:headEnd type="none" w="med" len="med"/>
            <a:tailEnd type="none" w="med" len="med"/>
          </a:ln>
        </p:spPr>
        <p:txBody>
          <a:bodyPr>
            <a:spAutoFit/>
          </a:bodyPr>
          <a:lstStyle/>
          <a:p>
            <a:pPr>
              <a:spcBef>
                <a:spcPct val="50000"/>
              </a:spcBef>
            </a:pPr>
            <a:r>
              <a:rPr kumimoji="1" lang="zh-CN" altLang="en-US"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1</a:t>
            </a:r>
            <a:r>
              <a:rPr kumimoji="1" lang="zh-CN" altLang="en-US" sz="2000" b="1" dirty="0">
                <a:effectLst>
                  <a:outerShdw blurRad="38100" dist="38100" dir="2700000" algn="tl">
                    <a:srgbClr val="000000"/>
                  </a:outerShdw>
                </a:effectLst>
              </a:rPr>
              <a:t>）</a:t>
            </a:r>
            <a:r>
              <a:rPr kumimoji="1" lang="zh-CN" altLang="ru-RU" sz="2000" b="1" dirty="0">
                <a:effectLst>
                  <a:outerShdw blurRad="38100" dist="38100" dir="2700000" algn="tl">
                    <a:srgbClr val="000000"/>
                  </a:outerShdw>
                </a:effectLst>
              </a:rPr>
              <a:t>输出脉宽</a:t>
            </a:r>
            <a:r>
              <a:rPr kumimoji="1" lang="ru-RU" altLang="zh-CN" sz="2000" b="1" dirty="0">
                <a:effectLst>
                  <a:outerShdw blurRad="38100" dist="38100" dir="2700000" algn="tl">
                    <a:srgbClr val="000000"/>
                  </a:outerShdw>
                </a:effectLst>
              </a:rPr>
              <a:t>t</a:t>
            </a:r>
            <a:r>
              <a:rPr kumimoji="1" lang="ru-RU" altLang="zh-CN" sz="2000" b="1" baseline="-25000" dirty="0">
                <a:effectLst>
                  <a:outerShdw blurRad="38100" dist="38100" dir="2700000" algn="tl">
                    <a:srgbClr val="000000"/>
                  </a:outerShdw>
                </a:effectLst>
              </a:rPr>
              <a:t>W</a:t>
            </a:r>
            <a:endParaRPr kumimoji="1" lang="ru-RU" altLang="zh-CN" sz="2000" b="1" baseline="-25000" dirty="0">
              <a:effectLst>
                <a:outerShdw blurRad="38100" dist="38100" dir="2700000" algn="tl">
                  <a:srgbClr val="000000"/>
                </a:outerShdw>
              </a:effectLst>
            </a:endParaRPr>
          </a:p>
          <a:p>
            <a:pPr>
              <a:spcBef>
                <a:spcPct val="50000"/>
              </a:spcBef>
            </a:pPr>
            <a:r>
              <a:rPr kumimoji="1" lang="zh-CN" altLang="ru-RU" sz="2000" b="1" dirty="0">
                <a:effectLst>
                  <a:outerShdw blurRad="38100" dist="38100" dir="2700000" algn="tl">
                    <a:srgbClr val="000000"/>
                  </a:outerShdw>
                </a:effectLst>
              </a:rPr>
              <a:t>等于电容从</a:t>
            </a:r>
            <a:r>
              <a:rPr kumimoji="1" lang="ru-RU" altLang="zh-CN" sz="2000" b="1" dirty="0">
                <a:effectLst>
                  <a:outerShdw blurRad="38100" dist="38100" dir="2700000" algn="tl">
                    <a:srgbClr val="000000"/>
                  </a:outerShdw>
                </a:effectLst>
              </a:rPr>
              <a:t>0</a:t>
            </a:r>
            <a:r>
              <a:rPr kumimoji="1" lang="zh-CN" altLang="ru-RU" sz="2000" b="1" dirty="0">
                <a:effectLst>
                  <a:outerShdw blurRad="38100" dist="38100" dir="2700000" algn="tl">
                    <a:srgbClr val="000000"/>
                  </a:outerShdw>
                </a:effectLst>
              </a:rPr>
              <a:t>充电到</a:t>
            </a:r>
            <a:r>
              <a:rPr kumimoji="1" lang="ru-RU" altLang="zh-CN" sz="2000" b="1" dirty="0">
                <a:solidFill>
                  <a:srgbClr val="FF0066"/>
                </a:solidFill>
                <a:effectLst>
                  <a:outerShdw blurRad="38100" dist="38100" dir="2700000" algn="tl">
                    <a:srgbClr val="000000"/>
                  </a:outerShdw>
                </a:effectLst>
              </a:rPr>
              <a:t>2V</a:t>
            </a:r>
            <a:r>
              <a:rPr kumimoji="1" lang="ru-RU" altLang="zh-CN" sz="2000" b="1" baseline="-25000" dirty="0">
                <a:solidFill>
                  <a:srgbClr val="FF0066"/>
                </a:solidFill>
                <a:effectLst>
                  <a:outerShdw blurRad="38100" dist="38100" dir="2700000" algn="tl">
                    <a:srgbClr val="000000"/>
                  </a:outerShdw>
                </a:effectLst>
              </a:rPr>
              <a:t>CC</a:t>
            </a:r>
            <a:r>
              <a:rPr kumimoji="1" lang="ru-RU" altLang="zh-CN" sz="2000" b="1" dirty="0">
                <a:solidFill>
                  <a:srgbClr val="FF0066"/>
                </a:solidFill>
                <a:effectLst>
                  <a:outerShdw blurRad="38100" dist="38100" dir="2700000" algn="tl">
                    <a:srgbClr val="000000"/>
                  </a:outerShdw>
                </a:effectLst>
              </a:rPr>
              <a:t>/3</a:t>
            </a:r>
            <a:r>
              <a:rPr kumimoji="1" lang="ru-RU" altLang="zh-CN" sz="2000" b="1" dirty="0">
                <a:effectLst>
                  <a:outerShdw blurRad="38100" dist="38100" dir="2700000" algn="tl">
                    <a:srgbClr val="000000"/>
                  </a:outerShdw>
                </a:effectLst>
              </a:rPr>
              <a:t> </a:t>
            </a:r>
            <a:r>
              <a:rPr kumimoji="1" lang="zh-CN" altLang="ru-RU" sz="2000" b="1" dirty="0">
                <a:effectLst>
                  <a:outerShdw blurRad="38100" dist="38100" dir="2700000" algn="tl">
                    <a:srgbClr val="000000"/>
                  </a:outerShdw>
                </a:effectLst>
              </a:rPr>
              <a:t>的时间，计算得</a:t>
            </a:r>
            <a:br>
              <a:rPr kumimoji="1" lang="zh-CN" altLang="ru-RU" sz="2000" b="1" dirty="0">
                <a:effectLst>
                  <a:outerShdw blurRad="38100" dist="38100" dir="2700000" algn="tl">
                    <a:srgbClr val="000000"/>
                  </a:outerShdw>
                </a:effectLst>
              </a:rPr>
            </a:br>
            <a:r>
              <a:rPr kumimoji="1" lang="ru-RU" altLang="zh-CN" sz="2000" b="1" dirty="0">
                <a:effectLst>
                  <a:outerShdw blurRad="38100" dist="38100" dir="2700000" algn="tl">
                    <a:srgbClr val="000000"/>
                  </a:outerShdw>
                </a:effectLst>
              </a:rPr>
              <a:t>t</a:t>
            </a:r>
            <a:r>
              <a:rPr kumimoji="1" lang="ru-RU" altLang="zh-CN" sz="2000" b="1" baseline="-25000" dirty="0">
                <a:effectLst>
                  <a:outerShdw blurRad="38100" dist="38100" dir="2700000" algn="tl">
                    <a:srgbClr val="000000"/>
                  </a:outerShdw>
                </a:effectLst>
              </a:rPr>
              <a:t>W</a:t>
            </a:r>
            <a:r>
              <a:rPr kumimoji="1" lang="ru-RU" altLang="zh-CN" sz="2000" b="1" dirty="0">
                <a:effectLst>
                  <a:outerShdw blurRad="38100" dist="38100" dir="2700000" algn="tl">
                    <a:srgbClr val="000000"/>
                  </a:outerShdw>
                </a:effectLst>
              </a:rPr>
              <a:t>=1.1RC</a:t>
            </a:r>
            <a:r>
              <a:rPr kumimoji="1" lang="zh-CN" altLang="ru-RU" sz="2000" b="1" dirty="0">
                <a:effectLst>
                  <a:outerShdw blurRad="38100" dist="38100" dir="2700000" algn="tl">
                    <a:srgbClr val="000000"/>
                  </a:outerShdw>
                </a:effectLst>
              </a:rPr>
              <a:t>（与输入电压的工作频率无关）</a:t>
            </a:r>
            <a:endParaRPr kumimoji="1" lang="zh-CN" altLang="ru-RU" sz="2000" b="1" dirty="0">
              <a:effectLst>
                <a:outerShdw blurRad="38100" dist="38100" dir="2700000" algn="tl">
                  <a:srgbClr val="000000"/>
                </a:outerShdw>
              </a:effectLst>
            </a:endParaRPr>
          </a:p>
        </p:txBody>
      </p:sp>
      <p:grpSp>
        <p:nvGrpSpPr>
          <p:cNvPr id="3168" name="Group 96"/>
          <p:cNvGrpSpPr/>
          <p:nvPr/>
        </p:nvGrpSpPr>
        <p:grpSpPr bwMode="auto">
          <a:xfrm>
            <a:off x="304800" y="1371600"/>
            <a:ext cx="3962400" cy="5073650"/>
            <a:chOff x="48" y="1056"/>
            <a:chExt cx="3072" cy="3196"/>
          </a:xfrm>
        </p:grpSpPr>
        <p:grpSp>
          <p:nvGrpSpPr>
            <p:cNvPr id="3169" name="Group 97"/>
            <p:cNvGrpSpPr/>
            <p:nvPr/>
          </p:nvGrpSpPr>
          <p:grpSpPr bwMode="auto">
            <a:xfrm>
              <a:off x="384" y="1344"/>
              <a:ext cx="2448" cy="432"/>
              <a:chOff x="576" y="1344"/>
              <a:chExt cx="2448" cy="432"/>
            </a:xfrm>
          </p:grpSpPr>
          <p:sp>
            <p:nvSpPr>
              <p:cNvPr id="3170" name="Line 98"/>
              <p:cNvSpPr>
                <a:spLocks noChangeShapeType="1"/>
              </p:cNvSpPr>
              <p:nvPr/>
            </p:nvSpPr>
            <p:spPr bwMode="auto">
              <a:xfrm>
                <a:off x="576" y="1344"/>
                <a:ext cx="624"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1" name="Line 99"/>
              <p:cNvSpPr>
                <a:spLocks noChangeShapeType="1"/>
              </p:cNvSpPr>
              <p:nvPr/>
            </p:nvSpPr>
            <p:spPr bwMode="auto">
              <a:xfrm>
                <a:off x="1200" y="1344"/>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2" name="Line 100"/>
              <p:cNvSpPr>
                <a:spLocks noChangeShapeType="1"/>
              </p:cNvSpPr>
              <p:nvPr/>
            </p:nvSpPr>
            <p:spPr bwMode="auto">
              <a:xfrm>
                <a:off x="1200" y="1776"/>
                <a:ext cx="24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3" name="Line 101"/>
              <p:cNvSpPr>
                <a:spLocks noChangeShapeType="1"/>
              </p:cNvSpPr>
              <p:nvPr/>
            </p:nvSpPr>
            <p:spPr bwMode="auto">
              <a:xfrm flipV="1">
                <a:off x="1440" y="1344"/>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4" name="Line 102"/>
              <p:cNvSpPr>
                <a:spLocks noChangeShapeType="1"/>
              </p:cNvSpPr>
              <p:nvPr/>
            </p:nvSpPr>
            <p:spPr bwMode="auto">
              <a:xfrm>
                <a:off x="1440" y="1344"/>
                <a:ext cx="672"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5" name="Line 103"/>
              <p:cNvSpPr>
                <a:spLocks noChangeShapeType="1"/>
              </p:cNvSpPr>
              <p:nvPr/>
            </p:nvSpPr>
            <p:spPr bwMode="auto">
              <a:xfrm>
                <a:off x="2112" y="1344"/>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6" name="Line 104"/>
              <p:cNvSpPr>
                <a:spLocks noChangeShapeType="1"/>
              </p:cNvSpPr>
              <p:nvPr/>
            </p:nvSpPr>
            <p:spPr bwMode="auto">
              <a:xfrm>
                <a:off x="2112" y="1776"/>
                <a:ext cx="24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7" name="Line 105"/>
              <p:cNvSpPr>
                <a:spLocks noChangeShapeType="1"/>
              </p:cNvSpPr>
              <p:nvPr/>
            </p:nvSpPr>
            <p:spPr bwMode="auto">
              <a:xfrm flipV="1">
                <a:off x="2352" y="1344"/>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8" name="Line 106"/>
              <p:cNvSpPr>
                <a:spLocks noChangeShapeType="1"/>
              </p:cNvSpPr>
              <p:nvPr/>
            </p:nvSpPr>
            <p:spPr bwMode="auto">
              <a:xfrm>
                <a:off x="2112" y="1776"/>
                <a:ext cx="240"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79" name="Line 107"/>
              <p:cNvSpPr>
                <a:spLocks noChangeShapeType="1"/>
              </p:cNvSpPr>
              <p:nvPr/>
            </p:nvSpPr>
            <p:spPr bwMode="auto">
              <a:xfrm>
                <a:off x="2352" y="1344"/>
                <a:ext cx="672"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180" name="Line 108"/>
            <p:cNvSpPr>
              <a:spLocks noChangeShapeType="1"/>
            </p:cNvSpPr>
            <p:nvPr/>
          </p:nvSpPr>
          <p:spPr bwMode="auto">
            <a:xfrm>
              <a:off x="384" y="3408"/>
              <a:ext cx="624"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181" name="Group 109"/>
            <p:cNvGrpSpPr/>
            <p:nvPr/>
          </p:nvGrpSpPr>
          <p:grpSpPr bwMode="auto">
            <a:xfrm>
              <a:off x="1008" y="2976"/>
              <a:ext cx="528" cy="432"/>
              <a:chOff x="1200" y="2976"/>
              <a:chExt cx="528" cy="432"/>
            </a:xfrm>
          </p:grpSpPr>
          <p:sp>
            <p:nvSpPr>
              <p:cNvPr id="3182" name="Line 110"/>
              <p:cNvSpPr>
                <a:spLocks noChangeShapeType="1"/>
              </p:cNvSpPr>
              <p:nvPr/>
            </p:nvSpPr>
            <p:spPr bwMode="auto">
              <a:xfrm>
                <a:off x="1200" y="2976"/>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83" name="Line 111"/>
              <p:cNvSpPr>
                <a:spLocks noChangeShapeType="1"/>
              </p:cNvSpPr>
              <p:nvPr/>
            </p:nvSpPr>
            <p:spPr bwMode="auto">
              <a:xfrm>
                <a:off x="1200" y="2976"/>
                <a:ext cx="528"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84" name="Group 112"/>
            <p:cNvGrpSpPr/>
            <p:nvPr/>
          </p:nvGrpSpPr>
          <p:grpSpPr bwMode="auto">
            <a:xfrm>
              <a:off x="1536" y="2976"/>
              <a:ext cx="384" cy="432"/>
              <a:chOff x="1728" y="2976"/>
              <a:chExt cx="384" cy="432"/>
            </a:xfrm>
          </p:grpSpPr>
          <p:sp>
            <p:nvSpPr>
              <p:cNvPr id="3185" name="Line 113"/>
              <p:cNvSpPr>
                <a:spLocks noChangeShapeType="1"/>
              </p:cNvSpPr>
              <p:nvPr/>
            </p:nvSpPr>
            <p:spPr bwMode="auto">
              <a:xfrm flipV="1">
                <a:off x="1728" y="2976"/>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86" name="Line 114"/>
              <p:cNvSpPr>
                <a:spLocks noChangeShapeType="1"/>
              </p:cNvSpPr>
              <p:nvPr/>
            </p:nvSpPr>
            <p:spPr bwMode="auto">
              <a:xfrm>
                <a:off x="1728" y="3408"/>
                <a:ext cx="384"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87" name="Group 115"/>
            <p:cNvGrpSpPr/>
            <p:nvPr/>
          </p:nvGrpSpPr>
          <p:grpSpPr bwMode="auto">
            <a:xfrm>
              <a:off x="1920" y="2976"/>
              <a:ext cx="528" cy="432"/>
              <a:chOff x="2112" y="2976"/>
              <a:chExt cx="528" cy="432"/>
            </a:xfrm>
          </p:grpSpPr>
          <p:sp>
            <p:nvSpPr>
              <p:cNvPr id="3188" name="Line 116"/>
              <p:cNvSpPr>
                <a:spLocks noChangeShapeType="1"/>
              </p:cNvSpPr>
              <p:nvPr/>
            </p:nvSpPr>
            <p:spPr bwMode="auto">
              <a:xfrm>
                <a:off x="2112" y="2976"/>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89" name="Line 117"/>
              <p:cNvSpPr>
                <a:spLocks noChangeShapeType="1"/>
              </p:cNvSpPr>
              <p:nvPr/>
            </p:nvSpPr>
            <p:spPr bwMode="auto">
              <a:xfrm>
                <a:off x="2112" y="2976"/>
                <a:ext cx="528"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90" name="Group 118"/>
            <p:cNvGrpSpPr/>
            <p:nvPr/>
          </p:nvGrpSpPr>
          <p:grpSpPr bwMode="auto">
            <a:xfrm>
              <a:off x="2448" y="2976"/>
              <a:ext cx="672" cy="432"/>
              <a:chOff x="2640" y="2976"/>
              <a:chExt cx="672" cy="432"/>
            </a:xfrm>
          </p:grpSpPr>
          <p:sp>
            <p:nvSpPr>
              <p:cNvPr id="3191" name="Line 119"/>
              <p:cNvSpPr>
                <a:spLocks noChangeShapeType="1"/>
              </p:cNvSpPr>
              <p:nvPr/>
            </p:nvSpPr>
            <p:spPr bwMode="auto">
              <a:xfrm flipV="1">
                <a:off x="2640" y="2976"/>
                <a:ext cx="0" cy="432"/>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92" name="Line 120"/>
              <p:cNvSpPr>
                <a:spLocks noChangeShapeType="1"/>
              </p:cNvSpPr>
              <p:nvPr/>
            </p:nvSpPr>
            <p:spPr bwMode="auto">
              <a:xfrm>
                <a:off x="2640" y="3408"/>
                <a:ext cx="672"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193" name="Group 121"/>
            <p:cNvGrpSpPr/>
            <p:nvPr/>
          </p:nvGrpSpPr>
          <p:grpSpPr bwMode="auto">
            <a:xfrm>
              <a:off x="1008" y="1728"/>
              <a:ext cx="912" cy="2400"/>
              <a:chOff x="1200" y="1728"/>
              <a:chExt cx="912" cy="1488"/>
            </a:xfrm>
          </p:grpSpPr>
          <p:sp>
            <p:nvSpPr>
              <p:cNvPr id="3194" name="Line 122"/>
              <p:cNvSpPr>
                <a:spLocks noChangeShapeType="1"/>
              </p:cNvSpPr>
              <p:nvPr/>
            </p:nvSpPr>
            <p:spPr bwMode="auto">
              <a:xfrm>
                <a:off x="1200" y="1728"/>
                <a:ext cx="0" cy="1488"/>
              </a:xfrm>
              <a:prstGeom prst="line">
                <a:avLst/>
              </a:prstGeom>
              <a:noFill/>
              <a:ln w="19050"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95" name="Line 123"/>
              <p:cNvSpPr>
                <a:spLocks noChangeShapeType="1"/>
              </p:cNvSpPr>
              <p:nvPr/>
            </p:nvSpPr>
            <p:spPr bwMode="auto">
              <a:xfrm>
                <a:off x="2112" y="1728"/>
                <a:ext cx="0" cy="1488"/>
              </a:xfrm>
              <a:prstGeom prst="line">
                <a:avLst/>
              </a:prstGeom>
              <a:noFill/>
              <a:ln w="19050"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196" name="Line 124"/>
            <p:cNvSpPr>
              <a:spLocks noChangeShapeType="1"/>
            </p:cNvSpPr>
            <p:nvPr/>
          </p:nvSpPr>
          <p:spPr bwMode="auto">
            <a:xfrm>
              <a:off x="384" y="2496"/>
              <a:ext cx="624" cy="0"/>
            </a:xfrm>
            <a:prstGeom prst="line">
              <a:avLst/>
            </a:pr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97" name="Freeform 125"/>
            <p:cNvSpPr/>
            <p:nvPr/>
          </p:nvSpPr>
          <p:spPr bwMode="auto">
            <a:xfrm>
              <a:off x="1008" y="2064"/>
              <a:ext cx="528" cy="432"/>
            </a:xfrm>
            <a:custGeom>
              <a:avLst/>
              <a:gdLst>
                <a:gd name="T0" fmla="*/ 0 w 528"/>
                <a:gd name="T1" fmla="*/ 432 h 432"/>
                <a:gd name="T2" fmla="*/ 144 w 528"/>
                <a:gd name="T3" fmla="*/ 192 h 432"/>
                <a:gd name="T4" fmla="*/ 528 w 528"/>
                <a:gd name="T5" fmla="*/ 0 h 432"/>
              </a:gdLst>
              <a:ahLst/>
              <a:cxnLst>
                <a:cxn ang="0">
                  <a:pos x="T0" y="T1"/>
                </a:cxn>
                <a:cxn ang="0">
                  <a:pos x="T2" y="T3"/>
                </a:cxn>
                <a:cxn ang="0">
                  <a:pos x="T4" y="T5"/>
                </a:cxn>
              </a:cxnLst>
              <a:rect l="0" t="0" r="r" b="b"/>
              <a:pathLst>
                <a:path w="528" h="432">
                  <a:moveTo>
                    <a:pt x="0" y="432"/>
                  </a:moveTo>
                  <a:cubicBezTo>
                    <a:pt x="28" y="348"/>
                    <a:pt x="56" y="264"/>
                    <a:pt x="144" y="192"/>
                  </a:cubicBezTo>
                  <a:cubicBezTo>
                    <a:pt x="232" y="120"/>
                    <a:pt x="380" y="60"/>
                    <a:pt x="528" y="0"/>
                  </a:cubicBezTo>
                </a:path>
              </a:pathLst>
            </a:cu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198" name="Freeform 126"/>
            <p:cNvSpPr/>
            <p:nvPr/>
          </p:nvSpPr>
          <p:spPr bwMode="auto">
            <a:xfrm>
              <a:off x="1536" y="2064"/>
              <a:ext cx="384" cy="456"/>
            </a:xfrm>
            <a:custGeom>
              <a:avLst/>
              <a:gdLst>
                <a:gd name="T0" fmla="*/ 0 w 384"/>
                <a:gd name="T1" fmla="*/ 0 h 456"/>
                <a:gd name="T2" fmla="*/ 48 w 384"/>
                <a:gd name="T3" fmla="*/ 384 h 456"/>
                <a:gd name="T4" fmla="*/ 192 w 384"/>
                <a:gd name="T5" fmla="*/ 432 h 456"/>
                <a:gd name="T6" fmla="*/ 384 w 384"/>
                <a:gd name="T7" fmla="*/ 432 h 456"/>
              </a:gdLst>
              <a:ahLst/>
              <a:cxnLst>
                <a:cxn ang="0">
                  <a:pos x="T0" y="T1"/>
                </a:cxn>
                <a:cxn ang="0">
                  <a:pos x="T2" y="T3"/>
                </a:cxn>
                <a:cxn ang="0">
                  <a:pos x="T4" y="T5"/>
                </a:cxn>
                <a:cxn ang="0">
                  <a:pos x="T6" y="T7"/>
                </a:cxn>
              </a:cxnLst>
              <a:rect l="0" t="0" r="r" b="b"/>
              <a:pathLst>
                <a:path w="384" h="456">
                  <a:moveTo>
                    <a:pt x="0" y="0"/>
                  </a:moveTo>
                  <a:cubicBezTo>
                    <a:pt x="8" y="156"/>
                    <a:pt x="16" y="312"/>
                    <a:pt x="48" y="384"/>
                  </a:cubicBezTo>
                  <a:cubicBezTo>
                    <a:pt x="80" y="456"/>
                    <a:pt x="136" y="424"/>
                    <a:pt x="192" y="432"/>
                  </a:cubicBezTo>
                  <a:cubicBezTo>
                    <a:pt x="248" y="440"/>
                    <a:pt x="316" y="436"/>
                    <a:pt x="384" y="432"/>
                  </a:cubicBezTo>
                </a:path>
              </a:pathLst>
            </a:cu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199" name="Freeform 127"/>
            <p:cNvSpPr/>
            <p:nvPr/>
          </p:nvSpPr>
          <p:spPr bwMode="auto">
            <a:xfrm>
              <a:off x="1920" y="2064"/>
              <a:ext cx="528" cy="432"/>
            </a:xfrm>
            <a:custGeom>
              <a:avLst/>
              <a:gdLst>
                <a:gd name="T0" fmla="*/ 0 w 528"/>
                <a:gd name="T1" fmla="*/ 432 h 432"/>
                <a:gd name="T2" fmla="*/ 144 w 528"/>
                <a:gd name="T3" fmla="*/ 192 h 432"/>
                <a:gd name="T4" fmla="*/ 528 w 528"/>
                <a:gd name="T5" fmla="*/ 0 h 432"/>
              </a:gdLst>
              <a:ahLst/>
              <a:cxnLst>
                <a:cxn ang="0">
                  <a:pos x="T0" y="T1"/>
                </a:cxn>
                <a:cxn ang="0">
                  <a:pos x="T2" y="T3"/>
                </a:cxn>
                <a:cxn ang="0">
                  <a:pos x="T4" y="T5"/>
                </a:cxn>
              </a:cxnLst>
              <a:rect l="0" t="0" r="r" b="b"/>
              <a:pathLst>
                <a:path w="528" h="432">
                  <a:moveTo>
                    <a:pt x="0" y="432"/>
                  </a:moveTo>
                  <a:cubicBezTo>
                    <a:pt x="28" y="348"/>
                    <a:pt x="56" y="264"/>
                    <a:pt x="144" y="192"/>
                  </a:cubicBezTo>
                  <a:cubicBezTo>
                    <a:pt x="232" y="120"/>
                    <a:pt x="380" y="60"/>
                    <a:pt x="528" y="0"/>
                  </a:cubicBezTo>
                </a:path>
              </a:pathLst>
            </a:cu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200" name="Freeform 128"/>
            <p:cNvSpPr/>
            <p:nvPr/>
          </p:nvSpPr>
          <p:spPr bwMode="auto">
            <a:xfrm>
              <a:off x="2448" y="2064"/>
              <a:ext cx="384" cy="456"/>
            </a:xfrm>
            <a:custGeom>
              <a:avLst/>
              <a:gdLst>
                <a:gd name="T0" fmla="*/ 0 w 384"/>
                <a:gd name="T1" fmla="*/ 0 h 456"/>
                <a:gd name="T2" fmla="*/ 48 w 384"/>
                <a:gd name="T3" fmla="*/ 384 h 456"/>
                <a:gd name="T4" fmla="*/ 192 w 384"/>
                <a:gd name="T5" fmla="*/ 432 h 456"/>
                <a:gd name="T6" fmla="*/ 384 w 384"/>
                <a:gd name="T7" fmla="*/ 432 h 456"/>
              </a:gdLst>
              <a:ahLst/>
              <a:cxnLst>
                <a:cxn ang="0">
                  <a:pos x="T0" y="T1"/>
                </a:cxn>
                <a:cxn ang="0">
                  <a:pos x="T2" y="T3"/>
                </a:cxn>
                <a:cxn ang="0">
                  <a:pos x="T4" y="T5"/>
                </a:cxn>
                <a:cxn ang="0">
                  <a:pos x="T6" y="T7"/>
                </a:cxn>
              </a:cxnLst>
              <a:rect l="0" t="0" r="r" b="b"/>
              <a:pathLst>
                <a:path w="384" h="456">
                  <a:moveTo>
                    <a:pt x="0" y="0"/>
                  </a:moveTo>
                  <a:cubicBezTo>
                    <a:pt x="8" y="156"/>
                    <a:pt x="16" y="312"/>
                    <a:pt x="48" y="384"/>
                  </a:cubicBezTo>
                  <a:cubicBezTo>
                    <a:pt x="80" y="456"/>
                    <a:pt x="136" y="424"/>
                    <a:pt x="192" y="432"/>
                  </a:cubicBezTo>
                  <a:cubicBezTo>
                    <a:pt x="248" y="440"/>
                    <a:pt x="316" y="436"/>
                    <a:pt x="384" y="432"/>
                  </a:cubicBezTo>
                </a:path>
              </a:pathLst>
            </a:custGeom>
            <a:noFill/>
            <a:ln w="57150" cap="flat" algn="ctr">
              <a:solidFill>
                <a:srgbClr val="5B5249"/>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201" name="Line 129"/>
            <p:cNvSpPr>
              <a:spLocks noChangeShapeType="1"/>
            </p:cNvSpPr>
            <p:nvPr/>
          </p:nvSpPr>
          <p:spPr bwMode="auto">
            <a:xfrm>
              <a:off x="1525" y="2064"/>
              <a:ext cx="11" cy="2064"/>
            </a:xfrm>
            <a:prstGeom prst="line">
              <a:avLst/>
            </a:prstGeom>
            <a:noFill/>
            <a:ln w="19050"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02" name="Line 130"/>
            <p:cNvSpPr>
              <a:spLocks noChangeShapeType="1"/>
            </p:cNvSpPr>
            <p:nvPr/>
          </p:nvSpPr>
          <p:spPr bwMode="auto">
            <a:xfrm>
              <a:off x="2448" y="2064"/>
              <a:ext cx="0" cy="2016"/>
            </a:xfrm>
            <a:prstGeom prst="line">
              <a:avLst/>
            </a:prstGeom>
            <a:noFill/>
            <a:ln w="19050"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03" name="Rectangle 131"/>
            <p:cNvSpPr>
              <a:spLocks noChangeArrowheads="1"/>
            </p:cNvSpPr>
            <p:nvPr/>
          </p:nvSpPr>
          <p:spPr bwMode="auto">
            <a:xfrm>
              <a:off x="48" y="1056"/>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3600" b="1">
                  <a:effectLst>
                    <a:outerShdw blurRad="38100" dist="38100" dir="2700000" algn="tl">
                      <a:srgbClr val="C0C0C0"/>
                    </a:outerShdw>
                  </a:effectLst>
                </a:rPr>
                <a:t>u</a:t>
              </a:r>
              <a:r>
                <a:rPr kumimoji="1" lang="ru-RU" altLang="zh-CN" sz="3600" b="1" baseline="-25000">
                  <a:effectLst>
                    <a:outerShdw blurRad="38100" dist="38100" dir="2700000" algn="tl">
                      <a:srgbClr val="C0C0C0"/>
                    </a:outerShdw>
                  </a:effectLst>
                </a:rPr>
                <a:t>I</a:t>
              </a:r>
              <a:endParaRPr kumimoji="1" lang="ru-RU" altLang="zh-CN" sz="3600" b="1" baseline="-25000">
                <a:effectLst>
                  <a:outerShdw blurRad="38100" dist="38100" dir="2700000" algn="tl">
                    <a:srgbClr val="C0C0C0"/>
                  </a:outerShdw>
                </a:effectLst>
              </a:endParaRPr>
            </a:p>
          </p:txBody>
        </p:sp>
        <p:sp>
          <p:nvSpPr>
            <p:cNvPr id="3204" name="Rectangle 132"/>
            <p:cNvSpPr>
              <a:spLocks noChangeArrowheads="1"/>
            </p:cNvSpPr>
            <p:nvPr/>
          </p:nvSpPr>
          <p:spPr bwMode="auto">
            <a:xfrm>
              <a:off x="48" y="2188"/>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3600" b="1">
                  <a:effectLst>
                    <a:outerShdw blurRad="38100" dist="38100" dir="2700000" algn="tl">
                      <a:srgbClr val="C0C0C0"/>
                    </a:outerShdw>
                  </a:effectLst>
                </a:rPr>
                <a:t>u</a:t>
              </a:r>
              <a:r>
                <a:rPr kumimoji="1" lang="ru-RU" altLang="zh-CN" sz="3600" b="1" baseline="-25000">
                  <a:effectLst>
                    <a:outerShdw blurRad="38100" dist="38100" dir="2700000" algn="tl">
                      <a:srgbClr val="C0C0C0"/>
                    </a:outerShdw>
                  </a:effectLst>
                </a:rPr>
                <a:t>c</a:t>
              </a:r>
              <a:endParaRPr kumimoji="1" lang="ru-RU" altLang="zh-CN" sz="3600" b="1" baseline="-25000">
                <a:effectLst>
                  <a:outerShdw blurRad="38100" dist="38100" dir="2700000" algn="tl">
                    <a:srgbClr val="C0C0C0"/>
                  </a:outerShdw>
                </a:effectLst>
              </a:endParaRPr>
            </a:p>
          </p:txBody>
        </p:sp>
        <p:sp>
          <p:nvSpPr>
            <p:cNvPr id="3205" name="Rectangle 133"/>
            <p:cNvSpPr>
              <a:spLocks noChangeArrowheads="1"/>
            </p:cNvSpPr>
            <p:nvPr/>
          </p:nvSpPr>
          <p:spPr bwMode="auto">
            <a:xfrm>
              <a:off x="48" y="3100"/>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3600" b="1">
                  <a:effectLst>
                    <a:outerShdw blurRad="38100" dist="38100" dir="2700000" algn="tl">
                      <a:srgbClr val="C0C0C0"/>
                    </a:outerShdw>
                  </a:effectLst>
                </a:rPr>
                <a:t>u</a:t>
              </a:r>
              <a:r>
                <a:rPr kumimoji="1" lang="ru-RU" altLang="zh-CN" sz="3600" b="1" baseline="-25000">
                  <a:effectLst>
                    <a:outerShdw blurRad="38100" dist="38100" dir="2700000" algn="tl">
                      <a:srgbClr val="C0C0C0"/>
                    </a:outerShdw>
                  </a:effectLst>
                </a:rPr>
                <a:t>o</a:t>
              </a:r>
              <a:endParaRPr kumimoji="1" lang="ru-RU" altLang="zh-CN" sz="3600" b="1" baseline="-25000">
                <a:effectLst>
                  <a:outerShdw blurRad="38100" dist="38100" dir="2700000" algn="tl">
                    <a:srgbClr val="C0C0C0"/>
                  </a:outerShdw>
                </a:effectLst>
              </a:endParaRPr>
            </a:p>
          </p:txBody>
        </p:sp>
        <p:sp>
          <p:nvSpPr>
            <p:cNvPr id="3206" name="Rectangle 134"/>
            <p:cNvSpPr>
              <a:spLocks noChangeArrowheads="1"/>
            </p:cNvSpPr>
            <p:nvPr/>
          </p:nvSpPr>
          <p:spPr bwMode="auto">
            <a:xfrm>
              <a:off x="336" y="3504"/>
              <a:ext cx="576" cy="51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ru-RU" b="1">
                  <a:solidFill>
                    <a:srgbClr val="FF0066"/>
                  </a:solidFill>
                  <a:effectLst>
                    <a:outerShdw blurRad="38100" dist="38100" dir="2700000" algn="tl">
                      <a:srgbClr val="C0C0C0"/>
                    </a:outerShdw>
                  </a:effectLst>
                </a:rPr>
                <a:t>稳态</a:t>
              </a:r>
              <a:endParaRPr kumimoji="1" lang="zh-CN" altLang="ru-RU" b="1">
                <a:solidFill>
                  <a:srgbClr val="FF0066"/>
                </a:solidFill>
                <a:effectLst>
                  <a:outerShdw blurRad="38100" dist="38100" dir="2700000" algn="tl">
                    <a:srgbClr val="C0C0C0"/>
                  </a:outerShdw>
                </a:effectLst>
              </a:endParaRPr>
            </a:p>
          </p:txBody>
        </p:sp>
        <p:sp>
          <p:nvSpPr>
            <p:cNvPr id="3207" name="Rectangle 135"/>
            <p:cNvSpPr>
              <a:spLocks noChangeArrowheads="1"/>
            </p:cNvSpPr>
            <p:nvPr/>
          </p:nvSpPr>
          <p:spPr bwMode="auto">
            <a:xfrm>
              <a:off x="1008" y="3504"/>
              <a:ext cx="576" cy="74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ru-RU" b="1">
                  <a:solidFill>
                    <a:srgbClr val="FF0066"/>
                  </a:solidFill>
                  <a:effectLst>
                    <a:outerShdw blurRad="38100" dist="38100" dir="2700000" algn="tl">
                      <a:srgbClr val="C0C0C0"/>
                    </a:outerShdw>
                  </a:effectLst>
                </a:rPr>
                <a:t>暂稳态</a:t>
              </a:r>
              <a:endParaRPr kumimoji="1" lang="zh-CN" altLang="ru-RU" b="1">
                <a:solidFill>
                  <a:srgbClr val="FF0066"/>
                </a:solidFill>
                <a:effectLst>
                  <a:outerShdw blurRad="38100" dist="38100" dir="2700000" algn="tl">
                    <a:srgbClr val="C0C0C0"/>
                  </a:outerShdw>
                </a:effectLst>
              </a:endParaRPr>
            </a:p>
          </p:txBody>
        </p:sp>
        <p:grpSp>
          <p:nvGrpSpPr>
            <p:cNvPr id="3208" name="Group 136"/>
            <p:cNvGrpSpPr/>
            <p:nvPr/>
          </p:nvGrpSpPr>
          <p:grpSpPr bwMode="auto">
            <a:xfrm>
              <a:off x="288" y="1776"/>
              <a:ext cx="1248" cy="288"/>
              <a:chOff x="288" y="1776"/>
              <a:chExt cx="1248" cy="288"/>
            </a:xfrm>
          </p:grpSpPr>
          <p:sp>
            <p:nvSpPr>
              <p:cNvPr id="3209" name="Line 137"/>
              <p:cNvSpPr>
                <a:spLocks noChangeShapeType="1"/>
              </p:cNvSpPr>
              <p:nvPr/>
            </p:nvSpPr>
            <p:spPr bwMode="auto">
              <a:xfrm flipH="1">
                <a:off x="384" y="2064"/>
                <a:ext cx="1152" cy="0"/>
              </a:xfrm>
              <a:prstGeom prst="line">
                <a:avLst/>
              </a:prstGeom>
              <a:noFill/>
              <a:ln w="9525" cap="flat" algn="ctr">
                <a:solidFill>
                  <a:srgbClr val="FF0066"/>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10" name="Rectangle 138"/>
              <p:cNvSpPr>
                <a:spLocks noChangeArrowheads="1"/>
              </p:cNvSpPr>
              <p:nvPr/>
            </p:nvSpPr>
            <p:spPr bwMode="auto">
              <a:xfrm>
                <a:off x="288" y="1776"/>
                <a:ext cx="960" cy="28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ru-RU" altLang="zh-CN" b="1">
                    <a:solidFill>
                      <a:srgbClr val="FF0066"/>
                    </a:solidFill>
                    <a:effectLst>
                      <a:outerShdw blurRad="38100" dist="38100" dir="2700000" algn="tl">
                        <a:srgbClr val="C0C0C0"/>
                      </a:outerShdw>
                    </a:effectLst>
                  </a:rPr>
                  <a:t>2V</a:t>
                </a:r>
                <a:r>
                  <a:rPr kumimoji="1" lang="ru-RU" altLang="zh-CN" b="1" baseline="-25000">
                    <a:solidFill>
                      <a:srgbClr val="FF0066"/>
                    </a:solidFill>
                    <a:effectLst>
                      <a:outerShdw blurRad="38100" dist="38100" dir="2700000" algn="tl">
                        <a:srgbClr val="C0C0C0"/>
                      </a:outerShdw>
                    </a:effectLst>
                  </a:rPr>
                  <a:t>CC</a:t>
                </a:r>
                <a:r>
                  <a:rPr kumimoji="1" lang="ru-RU" altLang="zh-CN" b="1">
                    <a:solidFill>
                      <a:srgbClr val="FF0066"/>
                    </a:solidFill>
                    <a:effectLst>
                      <a:outerShdw blurRad="38100" dist="38100" dir="2700000" algn="tl">
                        <a:srgbClr val="C0C0C0"/>
                      </a:outerShdw>
                    </a:effectLst>
                  </a:rPr>
                  <a:t>/3</a:t>
                </a:r>
                <a:endParaRPr kumimoji="1" lang="ru-RU" altLang="zh-CN" b="1">
                  <a:solidFill>
                    <a:srgbClr val="FF0066"/>
                  </a:solidFill>
                  <a:effectLst>
                    <a:outerShdw blurRad="38100" dist="38100" dir="2700000" algn="tl">
                      <a:srgbClr val="C0C0C0"/>
                    </a:outerShdw>
                  </a:effectLst>
                </a:endParaRPr>
              </a:p>
            </p:txBody>
          </p:sp>
        </p:grpSp>
      </p:grpSp>
      <p:grpSp>
        <p:nvGrpSpPr>
          <p:cNvPr id="3211" name="Group 139"/>
          <p:cNvGrpSpPr/>
          <p:nvPr/>
        </p:nvGrpSpPr>
        <p:grpSpPr bwMode="auto">
          <a:xfrm>
            <a:off x="1524000" y="4495800"/>
            <a:ext cx="914400" cy="533400"/>
            <a:chOff x="1008" y="3072"/>
            <a:chExt cx="672" cy="336"/>
          </a:xfrm>
        </p:grpSpPr>
        <p:sp>
          <p:nvSpPr>
            <p:cNvPr id="3212" name="Line 140"/>
            <p:cNvSpPr>
              <a:spLocks noChangeShapeType="1"/>
            </p:cNvSpPr>
            <p:nvPr/>
          </p:nvSpPr>
          <p:spPr bwMode="auto">
            <a:xfrm>
              <a:off x="1008" y="3408"/>
              <a:ext cx="528" cy="0"/>
            </a:xfrm>
            <a:prstGeom prst="line">
              <a:avLst/>
            </a:prstGeom>
            <a:noFill/>
            <a:ln w="28575" cap="flat" algn="ctr">
              <a:solidFill>
                <a:srgbClr val="5B5249"/>
              </a:solidFill>
              <a:prstDash val="solid"/>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13" name="Rectangle 141"/>
            <p:cNvSpPr>
              <a:spLocks noChangeArrowheads="1"/>
            </p:cNvSpPr>
            <p:nvPr/>
          </p:nvSpPr>
          <p:spPr bwMode="auto">
            <a:xfrm>
              <a:off x="1104" y="3072"/>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a:solidFill>
                    <a:srgbClr val="FF0066"/>
                  </a:solidFill>
                  <a:effectLst>
                    <a:outerShdw blurRad="38100" dist="38100" dir="2700000" algn="tl">
                      <a:srgbClr val="C0C0C0"/>
                    </a:outerShdw>
                  </a:effectLst>
                </a:rPr>
                <a:t>t</a:t>
              </a:r>
              <a:r>
                <a:rPr kumimoji="1" lang="ru-RU" altLang="zh-CN" sz="2800" b="1" baseline="-25000">
                  <a:solidFill>
                    <a:srgbClr val="FF0066"/>
                  </a:solidFill>
                  <a:effectLst>
                    <a:outerShdw blurRad="38100" dist="38100" dir="2700000" algn="tl">
                      <a:srgbClr val="C0C0C0"/>
                    </a:outerShdw>
                  </a:effectLst>
                </a:rPr>
                <a:t>W</a:t>
              </a:r>
              <a:endParaRPr kumimoji="1" lang="ru-RU" altLang="zh-CN" sz="2800" b="1" baseline="-25000">
                <a:solidFill>
                  <a:srgbClr val="FF0066"/>
                </a:solidFill>
                <a:effectLst>
                  <a:outerShdw blurRad="38100" dist="38100" dir="2700000" algn="tl">
                    <a:srgbClr val="C0C0C0"/>
                  </a:outerShdw>
                </a:effectLst>
              </a:endParaRPr>
            </a:p>
          </p:txBody>
        </p:sp>
      </p:grpSp>
      <p:sp>
        <p:nvSpPr>
          <p:cNvPr id="3214" name="Rectangle 142"/>
          <p:cNvSpPr>
            <a:spLocks noChangeArrowheads="1"/>
          </p:cNvSpPr>
          <p:nvPr/>
        </p:nvSpPr>
        <p:spPr bwMode="auto">
          <a:xfrm>
            <a:off x="3962398" y="3140762"/>
            <a:ext cx="5067295" cy="1169551"/>
          </a:xfrm>
          <a:prstGeom prst="rect">
            <a:avLst/>
          </a:prstGeom>
          <a:solidFill>
            <a:srgbClr val="FFCC00">
              <a:alpha val="50195"/>
            </a:srgbClr>
          </a:solidFill>
          <a:ln w="9525" cap="flat" algn="ctr">
            <a:solidFill>
              <a:srgbClr val="FF0066"/>
            </a:solidFill>
            <a:prstDash val="solid"/>
            <a:miter lim="800000"/>
            <a:headEnd type="none" w="med" len="med"/>
            <a:tailEnd type="none" w="med" len="med"/>
          </a:ln>
        </p:spPr>
        <p:txBody>
          <a:bodyPr wrap="square">
            <a:spAutoFit/>
          </a:bodyPr>
          <a:lstStyle/>
          <a:p>
            <a:pPr>
              <a:spcBef>
                <a:spcPct val="50000"/>
              </a:spcBef>
            </a:pPr>
            <a:r>
              <a:rPr kumimoji="1" lang="zh-CN" altLang="en-US"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2</a:t>
            </a:r>
            <a:r>
              <a:rPr kumimoji="1" lang="zh-CN" altLang="en-US" sz="2000" b="1" dirty="0">
                <a:effectLst>
                  <a:outerShdw blurRad="38100" dist="38100" dir="2700000" algn="tl">
                    <a:srgbClr val="000000"/>
                  </a:outerShdw>
                </a:effectLst>
              </a:rPr>
              <a:t>）</a:t>
            </a:r>
            <a:r>
              <a:rPr kumimoji="1" lang="zh-CN" altLang="ru-RU" sz="2000" b="1" dirty="0">
                <a:effectLst>
                  <a:outerShdw blurRad="38100" dist="38100" dir="2700000" algn="tl">
                    <a:srgbClr val="000000"/>
                  </a:outerShdw>
                </a:effectLst>
              </a:rPr>
              <a:t>恢复时间</a:t>
            </a:r>
            <a:r>
              <a:rPr kumimoji="1" lang="ru-RU" altLang="zh-CN" sz="2000" b="1" dirty="0">
                <a:effectLst>
                  <a:outerShdw blurRad="38100" dist="38100" dir="2700000" algn="tl">
                    <a:srgbClr val="000000"/>
                  </a:outerShdw>
                </a:effectLst>
              </a:rPr>
              <a:t>t</a:t>
            </a:r>
            <a:r>
              <a:rPr kumimoji="1" lang="ru-RU" altLang="zh-CN" sz="2000" b="1" baseline="-25000" dirty="0">
                <a:effectLst>
                  <a:outerShdw blurRad="38100" dist="38100" dir="2700000" algn="tl">
                    <a:srgbClr val="000000"/>
                  </a:outerShdw>
                </a:effectLst>
              </a:rPr>
              <a:t>re</a:t>
            </a:r>
            <a:endParaRPr kumimoji="1" lang="ru-RU" altLang="zh-CN" sz="2000" b="1" baseline="-25000" dirty="0">
              <a:effectLst>
                <a:outerShdw blurRad="38100" dist="38100" dir="2700000" algn="tl">
                  <a:srgbClr val="000000"/>
                </a:outerShdw>
              </a:effectLst>
            </a:endParaRPr>
          </a:p>
          <a:p>
            <a:pPr>
              <a:spcBef>
                <a:spcPct val="50000"/>
              </a:spcBef>
            </a:pPr>
            <a:r>
              <a:rPr kumimoji="1" lang="zh-CN" altLang="ru-RU" sz="2000" b="1" dirty="0">
                <a:effectLst>
                  <a:outerShdw blurRad="38100" dist="38100" dir="2700000" algn="tl">
                    <a:srgbClr val="000000"/>
                  </a:outerShdw>
                </a:effectLst>
              </a:rPr>
              <a:t>暂稳态结束，电容经放电管放电的时间，因为</a:t>
            </a:r>
            <a:r>
              <a:rPr kumimoji="1" lang="ru-RU" altLang="zh-CN" sz="2000" b="1" dirty="0">
                <a:effectLst>
                  <a:outerShdw blurRad="38100" dist="38100" dir="2700000" algn="tl">
                    <a:srgbClr val="000000"/>
                  </a:outerShdw>
                </a:effectLst>
              </a:rPr>
              <a:t>R</a:t>
            </a:r>
            <a:r>
              <a:rPr kumimoji="1" lang="ru-RU" altLang="zh-CN" sz="2000" b="1" baseline="-25000" dirty="0">
                <a:effectLst>
                  <a:outerShdw blurRad="38100" dist="38100" dir="2700000" algn="tl">
                    <a:srgbClr val="000000"/>
                  </a:outerShdw>
                </a:effectLst>
              </a:rPr>
              <a:t>CES</a:t>
            </a:r>
            <a:r>
              <a:rPr kumimoji="1" lang="zh-CN" altLang="ru-RU" sz="2000" b="1" dirty="0">
                <a:effectLst>
                  <a:outerShdw blurRad="38100" dist="38100" dir="2700000" algn="tl">
                    <a:srgbClr val="000000"/>
                  </a:outerShdw>
                </a:effectLst>
              </a:rPr>
              <a:t>很小，所以 </a:t>
            </a:r>
            <a:r>
              <a:rPr kumimoji="1" lang="ru-RU" altLang="zh-CN" sz="2000" b="1" dirty="0">
                <a:effectLst>
                  <a:outerShdw blurRad="38100" dist="38100" dir="2700000" algn="tl">
                    <a:srgbClr val="000000"/>
                  </a:outerShdw>
                </a:effectLst>
              </a:rPr>
              <a:t>t</a:t>
            </a:r>
            <a:r>
              <a:rPr kumimoji="1" lang="ru-RU" altLang="zh-CN" sz="2000" b="1" baseline="-25000" dirty="0">
                <a:effectLst>
                  <a:outerShdw blurRad="38100" dist="38100" dir="2700000" algn="tl">
                    <a:srgbClr val="000000"/>
                  </a:outerShdw>
                </a:effectLst>
              </a:rPr>
              <a:t>re</a:t>
            </a:r>
            <a:r>
              <a:rPr kumimoji="1" lang="zh-CN" altLang="ru-RU" sz="2000" b="1" dirty="0">
                <a:effectLst>
                  <a:outerShdw blurRad="38100" dist="38100" dir="2700000" algn="tl">
                    <a:srgbClr val="000000"/>
                  </a:outerShdw>
                </a:effectLst>
              </a:rPr>
              <a:t>很短。</a:t>
            </a:r>
            <a:endParaRPr kumimoji="1" lang="zh-CN" altLang="ru-RU" sz="2000" b="1" dirty="0">
              <a:effectLst>
                <a:outerShdw blurRad="38100" dist="38100" dir="2700000" algn="tl">
                  <a:srgbClr val="000000"/>
                </a:outerShdw>
              </a:effectLst>
            </a:endParaRPr>
          </a:p>
        </p:txBody>
      </p:sp>
      <p:sp>
        <p:nvSpPr>
          <p:cNvPr id="51" name="Rectangle 193"/>
          <p:cNvSpPr>
            <a:spLocks noChangeArrowheads="1"/>
          </p:cNvSpPr>
          <p:nvPr/>
        </p:nvSpPr>
        <p:spPr bwMode="auto">
          <a:xfrm>
            <a:off x="3969197" y="4553833"/>
            <a:ext cx="5067299" cy="1323439"/>
          </a:xfrm>
          <a:prstGeom prst="rect">
            <a:avLst/>
          </a:prstGeom>
          <a:solidFill>
            <a:srgbClr val="FFC000">
              <a:alpha val="50195"/>
            </a:srgbClr>
          </a:solidFill>
          <a:ln w="9525" cap="flat" algn="ctr">
            <a:solidFill>
              <a:srgbClr val="FF0066"/>
            </a:solidFill>
            <a:prstDash val="solid"/>
            <a:miter lim="800000"/>
            <a:headEnd type="none" w="med" len="med"/>
            <a:tailEnd type="none" w="med" len="med"/>
          </a:ln>
        </p:spPr>
        <p:txBody>
          <a:bodyPr wrap="square">
            <a:spAutoFit/>
          </a:bodyPr>
          <a:lstStyle/>
          <a:p>
            <a:pPr>
              <a:spcBef>
                <a:spcPct val="50000"/>
              </a:spcBef>
            </a:pPr>
            <a:r>
              <a:rPr kumimoji="1" lang="zh-CN" altLang="en-US"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3</a:t>
            </a:r>
            <a:r>
              <a:rPr kumimoji="1" lang="zh-CN" altLang="en-US" sz="2000" b="1" dirty="0">
                <a:effectLst>
                  <a:outerShdw blurRad="38100" dist="38100" dir="2700000" algn="tl">
                    <a:srgbClr val="000000"/>
                  </a:outerShdw>
                </a:effectLst>
              </a:rPr>
              <a:t>）</a:t>
            </a:r>
            <a:r>
              <a:rPr kumimoji="1" lang="zh-CN" altLang="ru-RU" sz="2000" b="1" dirty="0">
                <a:effectLst>
                  <a:outerShdw blurRad="38100" dist="38100" dir="2700000" algn="tl">
                    <a:srgbClr val="000000"/>
                  </a:outerShdw>
                </a:effectLst>
              </a:rPr>
              <a:t>最高工作频率</a:t>
            </a:r>
            <a:r>
              <a:rPr kumimoji="1" lang="ru-RU" altLang="zh-CN" sz="2000" b="1" dirty="0">
                <a:effectLst>
                  <a:outerShdw blurRad="38100" dist="38100" dir="2700000" algn="tl">
                    <a:srgbClr val="000000"/>
                  </a:outerShdw>
                </a:effectLst>
              </a:rPr>
              <a:t>f</a:t>
            </a:r>
            <a:r>
              <a:rPr kumimoji="1" lang="ru-RU" altLang="zh-CN" sz="2000" b="1" baseline="-25000" dirty="0">
                <a:effectLst>
                  <a:outerShdw blurRad="38100" dist="38100" dir="2700000" algn="tl">
                    <a:srgbClr val="000000"/>
                  </a:outerShdw>
                </a:effectLst>
              </a:rPr>
              <a:t>max</a:t>
            </a:r>
            <a:endParaRPr kumimoji="1" lang="ru-RU" altLang="zh-CN" sz="2000" b="1" baseline="-25000" dirty="0">
              <a:effectLst>
                <a:outerShdw blurRad="38100" dist="38100" dir="2700000" algn="tl">
                  <a:srgbClr val="000000"/>
                </a:outerShdw>
              </a:effectLst>
            </a:endParaRPr>
          </a:p>
          <a:p>
            <a:pPr>
              <a:spcBef>
                <a:spcPct val="50000"/>
              </a:spcBef>
            </a:pPr>
            <a:r>
              <a:rPr kumimoji="1" lang="ru-RU" altLang="zh-CN" sz="2000" b="1" dirty="0">
                <a:effectLst>
                  <a:outerShdw blurRad="38100" dist="38100" dir="2700000" algn="tl">
                    <a:srgbClr val="000000"/>
                  </a:outerShdw>
                </a:effectLst>
              </a:rPr>
              <a:t>        T &gt;  t</a:t>
            </a:r>
            <a:r>
              <a:rPr kumimoji="1" lang="ru-RU" altLang="zh-CN" sz="2000" b="1" baseline="-25000" dirty="0">
                <a:effectLst>
                  <a:outerShdw blurRad="38100" dist="38100" dir="2700000" algn="tl">
                    <a:srgbClr val="000000"/>
                  </a:outerShdw>
                </a:effectLst>
              </a:rPr>
              <a:t>W </a:t>
            </a:r>
            <a:r>
              <a:rPr kumimoji="1" lang="ru-RU" altLang="zh-CN" sz="2000" b="1" dirty="0">
                <a:effectLst>
                  <a:outerShdw blurRad="38100" dist="38100" dir="2700000" algn="tl">
                    <a:srgbClr val="000000"/>
                  </a:outerShdw>
                </a:effectLst>
              </a:rPr>
              <a:t>+ t</a:t>
            </a:r>
            <a:r>
              <a:rPr kumimoji="1" lang="ru-RU" altLang="zh-CN" sz="2000" b="1" baseline="-25000" dirty="0">
                <a:effectLst>
                  <a:outerShdw blurRad="38100" dist="38100" dir="2700000" algn="tl">
                    <a:srgbClr val="000000"/>
                  </a:outerShdw>
                </a:effectLst>
              </a:rPr>
              <a:t>re</a:t>
            </a:r>
            <a:endParaRPr kumimoji="1" lang="ru-RU" altLang="zh-CN" sz="2000" b="1" baseline="-25000" dirty="0">
              <a:effectLst>
                <a:outerShdw blurRad="38100" dist="38100" dir="2700000" algn="tl">
                  <a:srgbClr val="000000"/>
                </a:outerShdw>
              </a:effectLst>
            </a:endParaRPr>
          </a:p>
          <a:p>
            <a:pPr>
              <a:spcBef>
                <a:spcPct val="50000"/>
              </a:spcBef>
            </a:pPr>
            <a:r>
              <a:rPr kumimoji="1" lang="ru-RU" altLang="zh-CN" sz="2000" b="1" baseline="-25000" dirty="0">
                <a:effectLst>
                  <a:outerShdw blurRad="38100" dist="38100" dir="2700000" algn="tl">
                    <a:srgbClr val="000000"/>
                  </a:outerShdw>
                </a:effectLst>
              </a:rPr>
              <a:t>            </a:t>
            </a:r>
            <a:r>
              <a:rPr kumimoji="1" lang="ru-RU" altLang="zh-CN" sz="2000" b="1" dirty="0">
                <a:effectLst>
                  <a:outerShdw blurRad="38100" dist="38100" dir="2700000" algn="tl">
                    <a:srgbClr val="000000"/>
                  </a:outerShdw>
                </a:effectLst>
              </a:rPr>
              <a:t>f</a:t>
            </a:r>
            <a:r>
              <a:rPr kumimoji="1" lang="ru-RU" altLang="zh-CN" sz="2000" b="1" baseline="-25000" dirty="0">
                <a:effectLst>
                  <a:outerShdw blurRad="38100" dist="38100" dir="2700000" algn="tl">
                    <a:srgbClr val="000000"/>
                  </a:outerShdw>
                </a:effectLst>
              </a:rPr>
              <a:t>max</a:t>
            </a:r>
            <a:r>
              <a:rPr kumimoji="1" lang="ru-RU" altLang="zh-CN" sz="2000" b="1" dirty="0">
                <a:effectLst>
                  <a:outerShdw blurRad="38100" dist="38100" dir="2700000" algn="tl">
                    <a:srgbClr val="000000"/>
                  </a:outerShdw>
                </a:effectLst>
              </a:rPr>
              <a:t>=  1  /</a:t>
            </a:r>
            <a:r>
              <a:rPr kumimoji="1" lang="zh-CN" altLang="ru-RU" sz="2000" b="1" dirty="0">
                <a:effectLst>
                  <a:outerShdw blurRad="38100" dist="38100" dir="2700000" algn="tl">
                    <a:srgbClr val="000000"/>
                  </a:outerShdw>
                </a:effectLst>
              </a:rPr>
              <a:t>（</a:t>
            </a:r>
            <a:r>
              <a:rPr kumimoji="1" lang="ru-RU" altLang="zh-CN" sz="2000" b="1" dirty="0">
                <a:effectLst>
                  <a:outerShdw blurRad="38100" dist="38100" dir="2700000" algn="tl">
                    <a:srgbClr val="000000"/>
                  </a:outerShdw>
                </a:effectLst>
              </a:rPr>
              <a:t>t</a:t>
            </a:r>
            <a:r>
              <a:rPr kumimoji="1" lang="ru-RU" altLang="zh-CN" sz="2000" b="1" baseline="-25000" dirty="0">
                <a:effectLst>
                  <a:outerShdw blurRad="38100" dist="38100" dir="2700000" algn="tl">
                    <a:srgbClr val="000000"/>
                  </a:outerShdw>
                </a:effectLst>
              </a:rPr>
              <a:t>W </a:t>
            </a:r>
            <a:r>
              <a:rPr kumimoji="1" lang="ru-RU" altLang="zh-CN" sz="2000" b="1" dirty="0">
                <a:effectLst>
                  <a:outerShdw blurRad="38100" dist="38100" dir="2700000" algn="tl">
                    <a:srgbClr val="000000"/>
                  </a:outerShdw>
                </a:effectLst>
              </a:rPr>
              <a:t>+ t</a:t>
            </a:r>
            <a:r>
              <a:rPr kumimoji="1" lang="ru-RU" altLang="zh-CN" sz="2000" b="1" baseline="-25000" dirty="0">
                <a:effectLst>
                  <a:outerShdw blurRad="38100" dist="38100" dir="2700000" algn="tl">
                    <a:srgbClr val="000000"/>
                  </a:outerShdw>
                </a:effectLst>
              </a:rPr>
              <a:t>re</a:t>
            </a:r>
            <a:r>
              <a:rPr kumimoji="1" lang="zh-CN" altLang="ru-RU" sz="2000" b="1" dirty="0">
                <a:effectLst>
                  <a:outerShdw blurRad="38100" dist="38100" dir="2700000" algn="tl">
                    <a:srgbClr val="000000"/>
                  </a:outerShdw>
                </a:effectLst>
              </a:rPr>
              <a:t>）</a:t>
            </a:r>
            <a:endParaRPr kumimoji="1" lang="zh-CN" altLang="ru-RU" sz="2000" b="1" dirty="0">
              <a:effectLst>
                <a:outerShdw blurRad="38100" dist="38100" dir="2700000" algn="tl">
                  <a:srgbClr val="00000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childTnLst>
                                    <p:set>
                                      <p:cBhvr additive="base">
                                        <p:cTn id="6" dur="1" fill="hold">
                                          <p:stCondLst>
                                            <p:cond delay="499"/>
                                          </p:stCondLst>
                                        </p:cTn>
                                        <p:tgtEl>
                                          <p:spTgt spid="3166">
                                            <p:txEl>
                                              <p:pRg st="0" end="0"/>
                                            </p:txEl>
                                          </p:spTgt>
                                        </p:tgtEl>
                                        <p:attrNameLst>
                                          <p:attrName>style.visibility</p:attrName>
                                        </p:attrNameLst>
                                      </p:cBhvr>
                                      <p:to>
                                        <p:strVal val="visible"/>
                                      </p:to>
                                    </p:set>
                                    <p:anim calcmode="lin" valueType="num">
                                      <p:cBhvr additive="base">
                                        <p:cTn id="7" dur="1" fill="hold"/>
                                        <p:tgtEl>
                                          <p:spTgt spid="3166">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childTnLst>
                                    <p:set>
                                      <p:cBhvr additive="base">
                                        <p:cTn id="11" dur="1" fill="hold">
                                          <p:stCondLst>
                                            <p:cond delay="0"/>
                                          </p:stCondLst>
                                        </p:cTn>
                                        <p:tgtEl>
                                          <p:spTgt spid="3168"/>
                                        </p:tgtEl>
                                        <p:attrNameLst>
                                          <p:attrName>style.visibility</p:attrName>
                                        </p:attrNameLst>
                                      </p:cBhvr>
                                      <p:to>
                                        <p:strVal val="visible"/>
                                      </p:to>
                                    </p:set>
                                    <p:animEffect transition="in" filter="slide(fromBottom)">
                                      <p:cBhvr additive="base">
                                        <p:cTn id="12" dur="500"/>
                                        <p:tgtEl>
                                          <p:spTgt spid="316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childTnLst>
                                    <p:set>
                                      <p:cBhvr additive="base">
                                        <p:cTn id="16" dur="1" fill="hold">
                                          <p:stCondLst>
                                            <p:cond delay="0"/>
                                          </p:stCondLst>
                                        </p:cTn>
                                        <p:tgtEl>
                                          <p:spTgt spid="3167"/>
                                        </p:tgtEl>
                                        <p:attrNameLst>
                                          <p:attrName>style.visibility</p:attrName>
                                        </p:attrNameLst>
                                      </p:cBhvr>
                                      <p:to>
                                        <p:strVal val="visible"/>
                                      </p:to>
                                    </p:set>
                                    <p:animEffect transition="in" filter="slide(fromTop)">
                                      <p:cBhvr additive="base">
                                        <p:cTn id="17" dur="500"/>
                                        <p:tgtEl>
                                          <p:spTgt spid="316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childTnLst>
                                    <p:set>
                                      <p:cBhvr additive="base">
                                        <p:cTn id="21" dur="1" fill="hold">
                                          <p:stCondLst>
                                            <p:cond delay="0"/>
                                          </p:stCondLst>
                                        </p:cTn>
                                        <p:tgtEl>
                                          <p:spTgt spid="3214"/>
                                        </p:tgtEl>
                                        <p:attrNameLst>
                                          <p:attrName>style.visibility</p:attrName>
                                        </p:attrNameLst>
                                      </p:cBhvr>
                                      <p:to>
                                        <p:strVal val="visible"/>
                                      </p:to>
                                    </p:set>
                                    <p:animEffect transition="in" filter="slide(fromTop)">
                                      <p:cBhvr additive="base">
                                        <p:cTn id="22" dur="500"/>
                                        <p:tgtEl>
                                          <p:spTgt spid="32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childTnLst>
                                    <p:set>
                                      <p:cBhvr additive="base">
                                        <p:cTn id="26" dur="1" fill="hold">
                                          <p:stCondLst>
                                            <p:cond delay="0"/>
                                          </p:stCondLst>
                                        </p:cTn>
                                        <p:tgtEl>
                                          <p:spTgt spid="51"/>
                                        </p:tgtEl>
                                        <p:attrNameLst>
                                          <p:attrName>style.visibility</p:attrName>
                                        </p:attrNameLst>
                                      </p:cBhvr>
                                      <p:to>
                                        <p:strVal val="visible"/>
                                      </p:to>
                                    </p:set>
                                    <p:animEffect transition="in" filter="wipe(left)">
                                      <p:cBhvr additive="base">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6" grpId="0" animBg="1" build="p"/>
      <p:bldP spid="3167" grpId="0" animBg="1"/>
      <p:bldP spid="3214" grpId="0" animBg="1"/>
      <p:bldP spid="5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68" name="Group 196"/>
          <p:cNvGrpSpPr/>
          <p:nvPr/>
        </p:nvGrpSpPr>
        <p:grpSpPr bwMode="auto">
          <a:xfrm>
            <a:off x="4724400" y="1751013"/>
            <a:ext cx="3581400" cy="3308350"/>
            <a:chOff x="3024" y="240"/>
            <a:chExt cx="2256" cy="2084"/>
          </a:xfrm>
        </p:grpSpPr>
        <p:sp>
          <p:nvSpPr>
            <p:cNvPr id="3269" name="Freeform 197"/>
            <p:cNvSpPr/>
            <p:nvPr/>
          </p:nvSpPr>
          <p:spPr bwMode="auto">
            <a:xfrm rot="10800000" flipV="1">
              <a:off x="3936" y="1083"/>
              <a:ext cx="240" cy="48"/>
            </a:xfrm>
            <a:custGeom>
              <a:avLst/>
              <a:gdLst>
                <a:gd name="T0" fmla="*/ 0 w 21600"/>
                <a:gd name="T1" fmla="*/ 0 h 21600"/>
                <a:gd name="T2" fmla="*/ 0 w 21600"/>
                <a:gd name="T3" fmla="*/ 0 h 21600"/>
                <a:gd name="T4" fmla="*/ 0 w 21600"/>
                <a:gd name="T5" fmla="*/ 0 h 21600"/>
                <a:gd name="T6" fmla="*/ 21600 w 21600"/>
                <a:gd name="T7" fmla="*/ 21600 h 21600"/>
                <a:gd name="T8" fmla="*/ 0 w 21600"/>
                <a:gd name="T9" fmla="*/ 0 h 21600"/>
                <a:gd name="T10" fmla="*/ 0 w 21600"/>
                <a:gd name="T11" fmla="*/ 0 h 21600"/>
                <a:gd name="T12" fmla="*/ 0 w 21600"/>
                <a:gd name="T13" fmla="*/ 0 h 21600"/>
                <a:gd name="T14" fmla="*/ 21600 w 21600"/>
                <a:gd name="T15" fmla="*/ 21600 h 21600"/>
                <a:gd name="T16" fmla="*/ 0 w 21600"/>
                <a:gd name="T17" fmla="*/ 216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00" h="21600" fill="none">
                  <a:moveTo>
                    <a:pt x="0" y="0"/>
                  </a:moveTo>
                  <a:lnTo>
                    <a:pt x="0" y="0"/>
                  </a:lnTo>
                  <a:cubicBezTo>
                    <a:pt x="11929" y="0"/>
                    <a:pt x="21600" y="9670"/>
                    <a:pt x="21600" y="21600"/>
                  </a:cubicBezTo>
                </a:path>
                <a:path w="21600" h="21600" stroke="0">
                  <a:moveTo>
                    <a:pt x="0" y="0"/>
                  </a:moveTo>
                  <a:lnTo>
                    <a:pt x="0" y="0"/>
                  </a:lnTo>
                  <a:cubicBezTo>
                    <a:pt x="11929" y="0"/>
                    <a:pt x="21600" y="9670"/>
                    <a:pt x="21600" y="21600"/>
                  </a:cubicBezTo>
                  <a:lnTo>
                    <a:pt x="0" y="21600"/>
                  </a:lnTo>
                  <a:close/>
                </a:path>
              </a:pathLst>
            </a:custGeom>
            <a:noFill/>
            <a:ln w="9525" cap="flat" algn="ctr">
              <a:solidFill>
                <a:srgbClr val="5B5249"/>
              </a:solidFill>
              <a:prstDash val="dash"/>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grpSp>
          <p:nvGrpSpPr>
            <p:cNvPr id="3270" name="Group 198"/>
            <p:cNvGrpSpPr/>
            <p:nvPr/>
          </p:nvGrpSpPr>
          <p:grpSpPr bwMode="auto">
            <a:xfrm>
              <a:off x="3024" y="240"/>
              <a:ext cx="2256" cy="2084"/>
              <a:chOff x="3024" y="240"/>
              <a:chExt cx="2256" cy="2084"/>
            </a:xfrm>
          </p:grpSpPr>
          <p:grpSp>
            <p:nvGrpSpPr>
              <p:cNvPr id="3271" name="Group 199"/>
              <p:cNvGrpSpPr/>
              <p:nvPr/>
            </p:nvGrpSpPr>
            <p:grpSpPr bwMode="auto">
              <a:xfrm>
                <a:off x="3024" y="240"/>
                <a:ext cx="2256" cy="2084"/>
                <a:chOff x="3024" y="240"/>
                <a:chExt cx="2256" cy="2084"/>
              </a:xfrm>
            </p:grpSpPr>
            <p:grpSp>
              <p:nvGrpSpPr>
                <p:cNvPr id="3272" name="Group 200"/>
                <p:cNvGrpSpPr/>
                <p:nvPr/>
              </p:nvGrpSpPr>
              <p:grpSpPr bwMode="auto">
                <a:xfrm>
                  <a:off x="3120" y="240"/>
                  <a:ext cx="2160" cy="2084"/>
                  <a:chOff x="2976" y="412"/>
                  <a:chExt cx="2160" cy="2084"/>
                </a:xfrm>
              </p:grpSpPr>
              <p:grpSp>
                <p:nvGrpSpPr>
                  <p:cNvPr id="3273" name="Group 201"/>
                  <p:cNvGrpSpPr/>
                  <p:nvPr/>
                </p:nvGrpSpPr>
                <p:grpSpPr bwMode="auto">
                  <a:xfrm>
                    <a:off x="3360" y="720"/>
                    <a:ext cx="1296" cy="240"/>
                    <a:chOff x="3360" y="816"/>
                    <a:chExt cx="1296" cy="432"/>
                  </a:xfrm>
                </p:grpSpPr>
                <p:sp>
                  <p:nvSpPr>
                    <p:cNvPr id="3274" name="Line 202"/>
                    <p:cNvSpPr>
                      <a:spLocks noChangeShapeType="1"/>
                    </p:cNvSpPr>
                    <p:nvPr/>
                  </p:nvSpPr>
                  <p:spPr bwMode="auto">
                    <a:xfrm>
                      <a:off x="3360" y="816"/>
                      <a:ext cx="192"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275" name="Line 203"/>
                    <p:cNvSpPr>
                      <a:spLocks noChangeShapeType="1"/>
                    </p:cNvSpPr>
                    <p:nvPr/>
                  </p:nvSpPr>
                  <p:spPr bwMode="auto">
                    <a:xfrm>
                      <a:off x="3552" y="816"/>
                      <a:ext cx="0" cy="432"/>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276" name="Line 204"/>
                    <p:cNvSpPr>
                      <a:spLocks noChangeShapeType="1"/>
                    </p:cNvSpPr>
                    <p:nvPr/>
                  </p:nvSpPr>
                  <p:spPr bwMode="auto">
                    <a:xfrm>
                      <a:off x="3552" y="1248"/>
                      <a:ext cx="96"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277" name="Line 205"/>
                    <p:cNvSpPr>
                      <a:spLocks noChangeShapeType="1"/>
                    </p:cNvSpPr>
                    <p:nvPr/>
                  </p:nvSpPr>
                  <p:spPr bwMode="auto">
                    <a:xfrm flipV="1">
                      <a:off x="3648" y="816"/>
                      <a:ext cx="0" cy="432"/>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278" name="Line 206"/>
                    <p:cNvSpPr>
                      <a:spLocks noChangeShapeType="1"/>
                    </p:cNvSpPr>
                    <p:nvPr/>
                  </p:nvSpPr>
                  <p:spPr bwMode="auto">
                    <a:xfrm>
                      <a:off x="3648" y="816"/>
                      <a:ext cx="528"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279" name="Line 207"/>
                    <p:cNvSpPr>
                      <a:spLocks noChangeShapeType="1"/>
                    </p:cNvSpPr>
                    <p:nvPr/>
                  </p:nvSpPr>
                  <p:spPr bwMode="auto">
                    <a:xfrm>
                      <a:off x="4176" y="816"/>
                      <a:ext cx="0" cy="432"/>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280" name="Line 208"/>
                    <p:cNvSpPr>
                      <a:spLocks noChangeShapeType="1"/>
                    </p:cNvSpPr>
                    <p:nvPr/>
                  </p:nvSpPr>
                  <p:spPr bwMode="auto">
                    <a:xfrm>
                      <a:off x="4176" y="1248"/>
                      <a:ext cx="96"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281" name="Line 209"/>
                    <p:cNvSpPr>
                      <a:spLocks noChangeShapeType="1"/>
                    </p:cNvSpPr>
                    <p:nvPr/>
                  </p:nvSpPr>
                  <p:spPr bwMode="auto">
                    <a:xfrm flipV="1">
                      <a:off x="4272" y="816"/>
                      <a:ext cx="0" cy="432"/>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282" name="Line 210"/>
                    <p:cNvSpPr>
                      <a:spLocks noChangeShapeType="1"/>
                    </p:cNvSpPr>
                    <p:nvPr/>
                  </p:nvSpPr>
                  <p:spPr bwMode="auto">
                    <a:xfrm>
                      <a:off x="4272" y="816"/>
                      <a:ext cx="384"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283" name="Group 211"/>
                  <p:cNvGrpSpPr/>
                  <p:nvPr/>
                </p:nvGrpSpPr>
                <p:grpSpPr bwMode="auto">
                  <a:xfrm>
                    <a:off x="2976" y="412"/>
                    <a:ext cx="1872" cy="644"/>
                    <a:chOff x="2976" y="412"/>
                    <a:chExt cx="1872" cy="644"/>
                  </a:xfrm>
                </p:grpSpPr>
                <p:grpSp>
                  <p:nvGrpSpPr>
                    <p:cNvPr id="3284" name="Group 212"/>
                    <p:cNvGrpSpPr/>
                    <p:nvPr/>
                  </p:nvGrpSpPr>
                  <p:grpSpPr bwMode="auto">
                    <a:xfrm>
                      <a:off x="3360" y="480"/>
                      <a:ext cx="1488" cy="480"/>
                      <a:chOff x="3360" y="480"/>
                      <a:chExt cx="1488" cy="480"/>
                    </a:xfrm>
                  </p:grpSpPr>
                  <p:sp>
                    <p:nvSpPr>
                      <p:cNvPr id="3285" name="Line 213"/>
                      <p:cNvSpPr>
                        <a:spLocks noChangeShapeType="1"/>
                      </p:cNvSpPr>
                      <p:nvPr/>
                    </p:nvSpPr>
                    <p:spPr bwMode="auto">
                      <a:xfrm>
                        <a:off x="3360" y="960"/>
                        <a:ext cx="1488" cy="0"/>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6" name="Line 214"/>
                      <p:cNvSpPr>
                        <a:spLocks noChangeShapeType="1"/>
                      </p:cNvSpPr>
                      <p:nvPr/>
                    </p:nvSpPr>
                    <p:spPr bwMode="auto">
                      <a:xfrm flipH="1" flipV="1">
                        <a:off x="3360" y="480"/>
                        <a:ext cx="0" cy="480"/>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287" name="Rectangle 215"/>
                    <p:cNvSpPr>
                      <a:spLocks noChangeArrowheads="1"/>
                    </p:cNvSpPr>
                    <p:nvPr/>
                  </p:nvSpPr>
                  <p:spPr bwMode="auto">
                    <a:xfrm>
                      <a:off x="3216" y="86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0</a:t>
                      </a:r>
                      <a:endParaRPr lang="ru-RU" altLang="zh-CN" sz="1400" b="1"/>
                    </a:p>
                  </p:txBody>
                </p:sp>
                <p:sp>
                  <p:nvSpPr>
                    <p:cNvPr id="3288" name="Rectangle 216"/>
                    <p:cNvSpPr>
                      <a:spLocks noChangeArrowheads="1"/>
                    </p:cNvSpPr>
                    <p:nvPr/>
                  </p:nvSpPr>
                  <p:spPr bwMode="auto">
                    <a:xfrm>
                      <a:off x="2976" y="412"/>
                      <a:ext cx="5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I</a:t>
                      </a:r>
                      <a:r>
                        <a:rPr lang="ru-RU" altLang="zh-CN" sz="1600" b="1"/>
                        <a:t>/V</a:t>
                      </a:r>
                      <a:endParaRPr lang="ru-RU" altLang="zh-CN" sz="1600" b="1"/>
                    </a:p>
                  </p:txBody>
                </p:sp>
              </p:grpSp>
              <p:sp>
                <p:nvSpPr>
                  <p:cNvPr id="3289" name="Rectangle 217"/>
                  <p:cNvSpPr>
                    <a:spLocks noChangeArrowheads="1"/>
                  </p:cNvSpPr>
                  <p:nvPr/>
                </p:nvSpPr>
                <p:spPr bwMode="auto">
                  <a:xfrm>
                    <a:off x="4848" y="816"/>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t</a:t>
                    </a:r>
                    <a:endParaRPr lang="ru-RU" altLang="zh-CN" sz="1600" b="1"/>
                  </a:p>
                </p:txBody>
              </p:sp>
              <p:grpSp>
                <p:nvGrpSpPr>
                  <p:cNvPr id="3290" name="Group 218"/>
                  <p:cNvGrpSpPr/>
                  <p:nvPr/>
                </p:nvGrpSpPr>
                <p:grpSpPr bwMode="auto">
                  <a:xfrm>
                    <a:off x="2976" y="1036"/>
                    <a:ext cx="1872" cy="644"/>
                    <a:chOff x="2976" y="412"/>
                    <a:chExt cx="1872" cy="644"/>
                  </a:xfrm>
                </p:grpSpPr>
                <p:grpSp>
                  <p:nvGrpSpPr>
                    <p:cNvPr id="3291" name="Group 219"/>
                    <p:cNvGrpSpPr/>
                    <p:nvPr/>
                  </p:nvGrpSpPr>
                  <p:grpSpPr bwMode="auto">
                    <a:xfrm>
                      <a:off x="3360" y="480"/>
                      <a:ext cx="1488" cy="480"/>
                      <a:chOff x="3360" y="480"/>
                      <a:chExt cx="1488" cy="480"/>
                    </a:xfrm>
                  </p:grpSpPr>
                  <p:sp>
                    <p:nvSpPr>
                      <p:cNvPr id="3292" name="Line 220"/>
                      <p:cNvSpPr>
                        <a:spLocks noChangeShapeType="1"/>
                      </p:cNvSpPr>
                      <p:nvPr/>
                    </p:nvSpPr>
                    <p:spPr bwMode="auto">
                      <a:xfrm>
                        <a:off x="3360" y="960"/>
                        <a:ext cx="1488" cy="0"/>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93" name="Line 221"/>
                      <p:cNvSpPr>
                        <a:spLocks noChangeShapeType="1"/>
                      </p:cNvSpPr>
                      <p:nvPr/>
                    </p:nvSpPr>
                    <p:spPr bwMode="auto">
                      <a:xfrm flipH="1" flipV="1">
                        <a:off x="3360" y="480"/>
                        <a:ext cx="0" cy="480"/>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294" name="Rectangle 222"/>
                    <p:cNvSpPr>
                      <a:spLocks noChangeArrowheads="1"/>
                    </p:cNvSpPr>
                    <p:nvPr/>
                  </p:nvSpPr>
                  <p:spPr bwMode="auto">
                    <a:xfrm>
                      <a:off x="3216" y="86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0</a:t>
                      </a:r>
                      <a:endParaRPr lang="ru-RU" altLang="zh-CN" sz="1400" b="1"/>
                    </a:p>
                  </p:txBody>
                </p:sp>
                <p:sp>
                  <p:nvSpPr>
                    <p:cNvPr id="3295" name="Rectangle 223"/>
                    <p:cNvSpPr>
                      <a:spLocks noChangeArrowheads="1"/>
                    </p:cNvSpPr>
                    <p:nvPr/>
                  </p:nvSpPr>
                  <p:spPr bwMode="auto">
                    <a:xfrm>
                      <a:off x="2976" y="412"/>
                      <a:ext cx="5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a:t>
                      </a:r>
                      <a:r>
                        <a:rPr lang="ru-RU" altLang="zh-CN" sz="1600" b="1"/>
                        <a:t>/V</a:t>
                      </a:r>
                      <a:endParaRPr lang="ru-RU" altLang="zh-CN" sz="1600" b="1"/>
                    </a:p>
                  </p:txBody>
                </p:sp>
              </p:grpSp>
              <p:grpSp>
                <p:nvGrpSpPr>
                  <p:cNvPr id="3296" name="Group 224"/>
                  <p:cNvGrpSpPr/>
                  <p:nvPr/>
                </p:nvGrpSpPr>
                <p:grpSpPr bwMode="auto">
                  <a:xfrm>
                    <a:off x="2976" y="1708"/>
                    <a:ext cx="1872" cy="644"/>
                    <a:chOff x="2976" y="412"/>
                    <a:chExt cx="1872" cy="644"/>
                  </a:xfrm>
                </p:grpSpPr>
                <p:grpSp>
                  <p:nvGrpSpPr>
                    <p:cNvPr id="3297" name="Group 225"/>
                    <p:cNvGrpSpPr/>
                    <p:nvPr/>
                  </p:nvGrpSpPr>
                  <p:grpSpPr bwMode="auto">
                    <a:xfrm>
                      <a:off x="3360" y="480"/>
                      <a:ext cx="1488" cy="480"/>
                      <a:chOff x="3360" y="480"/>
                      <a:chExt cx="1488" cy="480"/>
                    </a:xfrm>
                  </p:grpSpPr>
                  <p:sp>
                    <p:nvSpPr>
                      <p:cNvPr id="3298" name="Line 226"/>
                      <p:cNvSpPr>
                        <a:spLocks noChangeShapeType="1"/>
                      </p:cNvSpPr>
                      <p:nvPr/>
                    </p:nvSpPr>
                    <p:spPr bwMode="auto">
                      <a:xfrm>
                        <a:off x="3360" y="960"/>
                        <a:ext cx="1488" cy="0"/>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99" name="Line 227"/>
                      <p:cNvSpPr>
                        <a:spLocks noChangeShapeType="1"/>
                      </p:cNvSpPr>
                      <p:nvPr/>
                    </p:nvSpPr>
                    <p:spPr bwMode="auto">
                      <a:xfrm flipH="1" flipV="1">
                        <a:off x="3360" y="480"/>
                        <a:ext cx="0" cy="480"/>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00" name="Rectangle 228"/>
                    <p:cNvSpPr>
                      <a:spLocks noChangeArrowheads="1"/>
                    </p:cNvSpPr>
                    <p:nvPr/>
                  </p:nvSpPr>
                  <p:spPr bwMode="auto">
                    <a:xfrm>
                      <a:off x="3216" y="86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400" b="1"/>
                        <a:t>0</a:t>
                      </a:r>
                      <a:endParaRPr lang="ru-RU" altLang="zh-CN" sz="1400" b="1"/>
                    </a:p>
                  </p:txBody>
                </p:sp>
                <p:sp>
                  <p:nvSpPr>
                    <p:cNvPr id="3301" name="Rectangle 229"/>
                    <p:cNvSpPr>
                      <a:spLocks noChangeArrowheads="1"/>
                    </p:cNvSpPr>
                    <p:nvPr/>
                  </p:nvSpPr>
                  <p:spPr bwMode="auto">
                    <a:xfrm>
                      <a:off x="2976" y="412"/>
                      <a:ext cx="5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O</a:t>
                      </a:r>
                      <a:r>
                        <a:rPr lang="ru-RU" altLang="zh-CN" sz="1600" b="1"/>
                        <a:t>/V</a:t>
                      </a:r>
                      <a:endParaRPr lang="ru-RU" altLang="zh-CN" sz="1600" b="1"/>
                    </a:p>
                  </p:txBody>
                </p:sp>
              </p:grpSp>
              <p:sp>
                <p:nvSpPr>
                  <p:cNvPr id="3302" name="Line 230"/>
                  <p:cNvSpPr>
                    <a:spLocks noChangeShapeType="1"/>
                  </p:cNvSpPr>
                  <p:nvPr/>
                </p:nvSpPr>
                <p:spPr bwMode="auto">
                  <a:xfrm>
                    <a:off x="3360" y="1296"/>
                    <a:ext cx="1392" cy="0"/>
                  </a:xfrm>
                  <a:prstGeom prst="line">
                    <a:avLst/>
                  </a:prstGeom>
                  <a:noFill/>
                  <a:ln w="9525"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03" name="Line 231"/>
                  <p:cNvSpPr>
                    <a:spLocks noChangeShapeType="1"/>
                  </p:cNvSpPr>
                  <p:nvPr/>
                </p:nvSpPr>
                <p:spPr bwMode="auto">
                  <a:xfrm>
                    <a:off x="3552" y="960"/>
                    <a:ext cx="0" cy="1536"/>
                  </a:xfrm>
                  <a:prstGeom prst="line">
                    <a:avLst/>
                  </a:prstGeom>
                  <a:noFill/>
                  <a:ln w="9525"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04" name="Line 232"/>
                  <p:cNvSpPr>
                    <a:spLocks noChangeShapeType="1"/>
                  </p:cNvSpPr>
                  <p:nvPr/>
                </p:nvSpPr>
                <p:spPr bwMode="auto">
                  <a:xfrm>
                    <a:off x="4176" y="960"/>
                    <a:ext cx="0" cy="1296"/>
                  </a:xfrm>
                  <a:prstGeom prst="line">
                    <a:avLst/>
                  </a:prstGeom>
                  <a:noFill/>
                  <a:ln w="9525"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05" name="Line 233"/>
                  <p:cNvSpPr>
                    <a:spLocks noChangeShapeType="1"/>
                  </p:cNvSpPr>
                  <p:nvPr/>
                </p:nvSpPr>
                <p:spPr bwMode="auto">
                  <a:xfrm>
                    <a:off x="3792" y="1296"/>
                    <a:ext cx="0" cy="1200"/>
                  </a:xfrm>
                  <a:prstGeom prst="line">
                    <a:avLst/>
                  </a:prstGeom>
                  <a:noFill/>
                  <a:ln w="9525"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06" name="Line 234"/>
                  <p:cNvSpPr>
                    <a:spLocks noChangeShapeType="1"/>
                  </p:cNvSpPr>
                  <p:nvPr/>
                </p:nvSpPr>
                <p:spPr bwMode="auto">
                  <a:xfrm>
                    <a:off x="4416" y="1296"/>
                    <a:ext cx="0" cy="912"/>
                  </a:xfrm>
                  <a:prstGeom prst="line">
                    <a:avLst/>
                  </a:prstGeom>
                  <a:noFill/>
                  <a:ln w="9525" cap="flat" algn="ctr">
                    <a:solidFill>
                      <a:srgbClr val="5B5249"/>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307" name="Group 235"/>
                  <p:cNvGrpSpPr/>
                  <p:nvPr/>
                </p:nvGrpSpPr>
                <p:grpSpPr bwMode="auto">
                  <a:xfrm>
                    <a:off x="3360" y="2016"/>
                    <a:ext cx="1344" cy="240"/>
                    <a:chOff x="3360" y="2016"/>
                    <a:chExt cx="1344" cy="240"/>
                  </a:xfrm>
                </p:grpSpPr>
                <p:sp>
                  <p:nvSpPr>
                    <p:cNvPr id="3308" name="Line 236"/>
                    <p:cNvSpPr>
                      <a:spLocks noChangeShapeType="1"/>
                    </p:cNvSpPr>
                    <p:nvPr/>
                  </p:nvSpPr>
                  <p:spPr bwMode="auto">
                    <a:xfrm>
                      <a:off x="3360" y="2256"/>
                      <a:ext cx="192"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09" name="Line 237"/>
                    <p:cNvSpPr>
                      <a:spLocks noChangeShapeType="1"/>
                    </p:cNvSpPr>
                    <p:nvPr/>
                  </p:nvSpPr>
                  <p:spPr bwMode="auto">
                    <a:xfrm flipV="1">
                      <a:off x="3552" y="2016"/>
                      <a:ext cx="0" cy="24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10" name="Line 238"/>
                    <p:cNvSpPr>
                      <a:spLocks noChangeShapeType="1"/>
                    </p:cNvSpPr>
                    <p:nvPr/>
                  </p:nvSpPr>
                  <p:spPr bwMode="auto">
                    <a:xfrm>
                      <a:off x="3552" y="2016"/>
                      <a:ext cx="240"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11" name="Line 239"/>
                    <p:cNvSpPr>
                      <a:spLocks noChangeShapeType="1"/>
                    </p:cNvSpPr>
                    <p:nvPr/>
                  </p:nvSpPr>
                  <p:spPr bwMode="auto">
                    <a:xfrm>
                      <a:off x="3792" y="2016"/>
                      <a:ext cx="0" cy="24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12" name="Line 240"/>
                    <p:cNvSpPr>
                      <a:spLocks noChangeShapeType="1"/>
                    </p:cNvSpPr>
                    <p:nvPr/>
                  </p:nvSpPr>
                  <p:spPr bwMode="auto">
                    <a:xfrm>
                      <a:off x="3792" y="2256"/>
                      <a:ext cx="384"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13" name="Line 241"/>
                    <p:cNvSpPr>
                      <a:spLocks noChangeShapeType="1"/>
                    </p:cNvSpPr>
                    <p:nvPr/>
                  </p:nvSpPr>
                  <p:spPr bwMode="auto">
                    <a:xfrm flipV="1">
                      <a:off x="4176" y="2016"/>
                      <a:ext cx="0" cy="24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14" name="Line 242"/>
                    <p:cNvSpPr>
                      <a:spLocks noChangeShapeType="1"/>
                    </p:cNvSpPr>
                    <p:nvPr/>
                  </p:nvSpPr>
                  <p:spPr bwMode="auto">
                    <a:xfrm>
                      <a:off x="4176" y="2016"/>
                      <a:ext cx="240"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15" name="Line 243"/>
                    <p:cNvSpPr>
                      <a:spLocks noChangeShapeType="1"/>
                    </p:cNvSpPr>
                    <p:nvPr/>
                  </p:nvSpPr>
                  <p:spPr bwMode="auto">
                    <a:xfrm>
                      <a:off x="4416" y="2016"/>
                      <a:ext cx="0" cy="24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16" name="Line 244"/>
                    <p:cNvSpPr>
                      <a:spLocks noChangeShapeType="1"/>
                    </p:cNvSpPr>
                    <p:nvPr/>
                  </p:nvSpPr>
                  <p:spPr bwMode="auto">
                    <a:xfrm>
                      <a:off x="4416" y="2256"/>
                      <a:ext cx="288"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317" name="Group 245"/>
                  <p:cNvGrpSpPr/>
                  <p:nvPr/>
                </p:nvGrpSpPr>
                <p:grpSpPr bwMode="auto">
                  <a:xfrm>
                    <a:off x="3360" y="1296"/>
                    <a:ext cx="1248" cy="288"/>
                    <a:chOff x="3360" y="1296"/>
                    <a:chExt cx="1248" cy="288"/>
                  </a:xfrm>
                </p:grpSpPr>
                <p:grpSp>
                  <p:nvGrpSpPr>
                    <p:cNvPr id="3318" name="Group 246"/>
                    <p:cNvGrpSpPr/>
                    <p:nvPr/>
                  </p:nvGrpSpPr>
                  <p:grpSpPr bwMode="auto">
                    <a:xfrm>
                      <a:off x="3360" y="1296"/>
                      <a:ext cx="480" cy="288"/>
                      <a:chOff x="3360" y="1296"/>
                      <a:chExt cx="480" cy="288"/>
                    </a:xfrm>
                  </p:grpSpPr>
                  <p:sp>
                    <p:nvSpPr>
                      <p:cNvPr id="3319" name="Line 247"/>
                      <p:cNvSpPr>
                        <a:spLocks noChangeShapeType="1"/>
                      </p:cNvSpPr>
                      <p:nvPr/>
                    </p:nvSpPr>
                    <p:spPr bwMode="auto">
                      <a:xfrm>
                        <a:off x="3360" y="1584"/>
                        <a:ext cx="192"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20" name="Freeform 248"/>
                      <p:cNvSpPr/>
                      <p:nvPr/>
                    </p:nvSpPr>
                    <p:spPr bwMode="auto">
                      <a:xfrm rot="10800000" flipV="1">
                        <a:off x="3552" y="1296"/>
                        <a:ext cx="240" cy="288"/>
                      </a:xfrm>
                      <a:custGeom>
                        <a:avLst/>
                        <a:gdLst>
                          <a:gd name="T0" fmla="*/ 0 w 21600"/>
                          <a:gd name="T1" fmla="*/ 0 h 21600"/>
                          <a:gd name="T2" fmla="*/ 0 w 21600"/>
                          <a:gd name="T3" fmla="*/ 0 h 21600"/>
                          <a:gd name="T4" fmla="*/ 0 w 21600"/>
                          <a:gd name="T5" fmla="*/ 0 h 21600"/>
                          <a:gd name="T6" fmla="*/ 21600 w 21600"/>
                          <a:gd name="T7" fmla="*/ 21600 h 21600"/>
                          <a:gd name="T8" fmla="*/ 0 w 21600"/>
                          <a:gd name="T9" fmla="*/ 0 h 21600"/>
                          <a:gd name="T10" fmla="*/ 0 w 21600"/>
                          <a:gd name="T11" fmla="*/ 0 h 21600"/>
                          <a:gd name="T12" fmla="*/ 0 w 21600"/>
                          <a:gd name="T13" fmla="*/ 0 h 21600"/>
                          <a:gd name="T14" fmla="*/ 21600 w 21600"/>
                          <a:gd name="T15" fmla="*/ 21600 h 21600"/>
                          <a:gd name="T16" fmla="*/ 0 w 21600"/>
                          <a:gd name="T17" fmla="*/ 216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00" h="21600" fill="none">
                            <a:moveTo>
                              <a:pt x="0" y="0"/>
                            </a:moveTo>
                            <a:lnTo>
                              <a:pt x="0" y="0"/>
                            </a:lnTo>
                            <a:cubicBezTo>
                              <a:pt x="11929" y="0"/>
                              <a:pt x="21600" y="9670"/>
                              <a:pt x="21600" y="21600"/>
                            </a:cubicBezTo>
                          </a:path>
                          <a:path w="21600" h="21600" stroke="0">
                            <a:moveTo>
                              <a:pt x="0" y="0"/>
                            </a:moveTo>
                            <a:lnTo>
                              <a:pt x="0" y="0"/>
                            </a:lnTo>
                            <a:cubicBezTo>
                              <a:pt x="11929" y="0"/>
                              <a:pt x="21600" y="9670"/>
                              <a:pt x="21600" y="21600"/>
                            </a:cubicBezTo>
                            <a:lnTo>
                              <a:pt x="0" y="21600"/>
                            </a:lnTo>
                            <a:close/>
                          </a:path>
                        </a:pathLst>
                      </a:cu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321" name="Freeform 249"/>
                      <p:cNvSpPr/>
                      <p:nvPr/>
                    </p:nvSpPr>
                    <p:spPr bwMode="auto">
                      <a:xfrm rot="10800000">
                        <a:off x="3792" y="1296"/>
                        <a:ext cx="48" cy="288"/>
                      </a:xfrm>
                      <a:custGeom>
                        <a:avLst/>
                        <a:gdLst>
                          <a:gd name="T0" fmla="*/ 0 w 21600"/>
                          <a:gd name="T1" fmla="*/ 0 h 21600"/>
                          <a:gd name="T2" fmla="*/ 0 w 21600"/>
                          <a:gd name="T3" fmla="*/ 0 h 21600"/>
                          <a:gd name="T4" fmla="*/ 0 w 21600"/>
                          <a:gd name="T5" fmla="*/ 0 h 21600"/>
                          <a:gd name="T6" fmla="*/ 21600 w 21600"/>
                          <a:gd name="T7" fmla="*/ 21600 h 21600"/>
                          <a:gd name="T8" fmla="*/ 0 w 21600"/>
                          <a:gd name="T9" fmla="*/ 0 h 21600"/>
                          <a:gd name="T10" fmla="*/ 0 w 21600"/>
                          <a:gd name="T11" fmla="*/ 0 h 21600"/>
                          <a:gd name="T12" fmla="*/ 0 w 21600"/>
                          <a:gd name="T13" fmla="*/ 0 h 21600"/>
                          <a:gd name="T14" fmla="*/ 21600 w 21600"/>
                          <a:gd name="T15" fmla="*/ 21600 h 21600"/>
                          <a:gd name="T16" fmla="*/ 0 w 21600"/>
                          <a:gd name="T17" fmla="*/ 216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00" h="21600" fill="none">
                            <a:moveTo>
                              <a:pt x="0" y="0"/>
                            </a:moveTo>
                            <a:lnTo>
                              <a:pt x="0" y="0"/>
                            </a:lnTo>
                            <a:cubicBezTo>
                              <a:pt x="11929" y="0"/>
                              <a:pt x="21600" y="9670"/>
                              <a:pt x="21600" y="21600"/>
                            </a:cubicBezTo>
                          </a:path>
                          <a:path w="21600" h="21600" stroke="0">
                            <a:moveTo>
                              <a:pt x="0" y="0"/>
                            </a:moveTo>
                            <a:lnTo>
                              <a:pt x="0" y="0"/>
                            </a:lnTo>
                            <a:cubicBezTo>
                              <a:pt x="11929" y="0"/>
                              <a:pt x="21600" y="9670"/>
                              <a:pt x="21600" y="21600"/>
                            </a:cubicBezTo>
                            <a:lnTo>
                              <a:pt x="0" y="21600"/>
                            </a:lnTo>
                            <a:close/>
                          </a:path>
                        </a:pathLst>
                      </a:cu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grpSp>
                <p:grpSp>
                  <p:nvGrpSpPr>
                    <p:cNvPr id="3322" name="Group 250"/>
                    <p:cNvGrpSpPr/>
                    <p:nvPr/>
                  </p:nvGrpSpPr>
                  <p:grpSpPr bwMode="auto">
                    <a:xfrm>
                      <a:off x="3984" y="1296"/>
                      <a:ext cx="480" cy="288"/>
                      <a:chOff x="3360" y="1296"/>
                      <a:chExt cx="480" cy="288"/>
                    </a:xfrm>
                  </p:grpSpPr>
                  <p:sp>
                    <p:nvSpPr>
                      <p:cNvPr id="3323" name="Line 251"/>
                      <p:cNvSpPr>
                        <a:spLocks noChangeShapeType="1"/>
                      </p:cNvSpPr>
                      <p:nvPr/>
                    </p:nvSpPr>
                    <p:spPr bwMode="auto">
                      <a:xfrm>
                        <a:off x="3360" y="1584"/>
                        <a:ext cx="192"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24" name="Freeform 252"/>
                      <p:cNvSpPr/>
                      <p:nvPr/>
                    </p:nvSpPr>
                    <p:spPr bwMode="auto">
                      <a:xfrm rot="10800000" flipV="1">
                        <a:off x="3552" y="1296"/>
                        <a:ext cx="240" cy="288"/>
                      </a:xfrm>
                      <a:custGeom>
                        <a:avLst/>
                        <a:gdLst>
                          <a:gd name="T0" fmla="*/ 0 w 21600"/>
                          <a:gd name="T1" fmla="*/ 0 h 21600"/>
                          <a:gd name="T2" fmla="*/ 0 w 21600"/>
                          <a:gd name="T3" fmla="*/ 0 h 21600"/>
                          <a:gd name="T4" fmla="*/ 0 w 21600"/>
                          <a:gd name="T5" fmla="*/ 0 h 21600"/>
                          <a:gd name="T6" fmla="*/ 21600 w 21600"/>
                          <a:gd name="T7" fmla="*/ 21600 h 21600"/>
                          <a:gd name="T8" fmla="*/ 0 w 21600"/>
                          <a:gd name="T9" fmla="*/ 0 h 21600"/>
                          <a:gd name="T10" fmla="*/ 0 w 21600"/>
                          <a:gd name="T11" fmla="*/ 0 h 21600"/>
                          <a:gd name="T12" fmla="*/ 0 w 21600"/>
                          <a:gd name="T13" fmla="*/ 0 h 21600"/>
                          <a:gd name="T14" fmla="*/ 21600 w 21600"/>
                          <a:gd name="T15" fmla="*/ 21600 h 21600"/>
                          <a:gd name="T16" fmla="*/ 0 w 21600"/>
                          <a:gd name="T17" fmla="*/ 216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00" h="21600" fill="none">
                            <a:moveTo>
                              <a:pt x="0" y="0"/>
                            </a:moveTo>
                            <a:lnTo>
                              <a:pt x="0" y="0"/>
                            </a:lnTo>
                            <a:cubicBezTo>
                              <a:pt x="11929" y="0"/>
                              <a:pt x="21600" y="9670"/>
                              <a:pt x="21600" y="21600"/>
                            </a:cubicBezTo>
                          </a:path>
                          <a:path w="21600" h="21600" stroke="0">
                            <a:moveTo>
                              <a:pt x="0" y="0"/>
                            </a:moveTo>
                            <a:lnTo>
                              <a:pt x="0" y="0"/>
                            </a:lnTo>
                            <a:cubicBezTo>
                              <a:pt x="11929" y="0"/>
                              <a:pt x="21600" y="9670"/>
                              <a:pt x="21600" y="21600"/>
                            </a:cubicBezTo>
                            <a:lnTo>
                              <a:pt x="0" y="21600"/>
                            </a:lnTo>
                            <a:close/>
                          </a:path>
                        </a:pathLst>
                      </a:cu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3325" name="Freeform 253"/>
                      <p:cNvSpPr/>
                      <p:nvPr/>
                    </p:nvSpPr>
                    <p:spPr bwMode="auto">
                      <a:xfrm rot="10800000">
                        <a:off x="3792" y="1296"/>
                        <a:ext cx="48" cy="288"/>
                      </a:xfrm>
                      <a:custGeom>
                        <a:avLst/>
                        <a:gdLst>
                          <a:gd name="T0" fmla="*/ 0 w 21600"/>
                          <a:gd name="T1" fmla="*/ 0 h 21600"/>
                          <a:gd name="T2" fmla="*/ 0 w 21600"/>
                          <a:gd name="T3" fmla="*/ 0 h 21600"/>
                          <a:gd name="T4" fmla="*/ 0 w 21600"/>
                          <a:gd name="T5" fmla="*/ 0 h 21600"/>
                          <a:gd name="T6" fmla="*/ 21600 w 21600"/>
                          <a:gd name="T7" fmla="*/ 21600 h 21600"/>
                          <a:gd name="T8" fmla="*/ 0 w 21600"/>
                          <a:gd name="T9" fmla="*/ 0 h 21600"/>
                          <a:gd name="T10" fmla="*/ 0 w 21600"/>
                          <a:gd name="T11" fmla="*/ 0 h 21600"/>
                          <a:gd name="T12" fmla="*/ 0 w 21600"/>
                          <a:gd name="T13" fmla="*/ 0 h 21600"/>
                          <a:gd name="T14" fmla="*/ 21600 w 21600"/>
                          <a:gd name="T15" fmla="*/ 21600 h 21600"/>
                          <a:gd name="T16" fmla="*/ 0 w 21600"/>
                          <a:gd name="T17" fmla="*/ 216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00" h="21600" fill="none">
                            <a:moveTo>
                              <a:pt x="0" y="0"/>
                            </a:moveTo>
                            <a:lnTo>
                              <a:pt x="0" y="0"/>
                            </a:lnTo>
                            <a:cubicBezTo>
                              <a:pt x="11929" y="0"/>
                              <a:pt x="21600" y="9670"/>
                              <a:pt x="21600" y="21600"/>
                            </a:cubicBezTo>
                          </a:path>
                          <a:path w="21600" h="21600" stroke="0">
                            <a:moveTo>
                              <a:pt x="0" y="0"/>
                            </a:moveTo>
                            <a:lnTo>
                              <a:pt x="0" y="0"/>
                            </a:lnTo>
                            <a:cubicBezTo>
                              <a:pt x="11929" y="0"/>
                              <a:pt x="21600" y="9670"/>
                              <a:pt x="21600" y="21600"/>
                            </a:cubicBezTo>
                            <a:lnTo>
                              <a:pt x="0" y="21600"/>
                            </a:lnTo>
                            <a:close/>
                          </a:path>
                        </a:pathLst>
                      </a:cu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grpSp>
                <p:sp>
                  <p:nvSpPr>
                    <p:cNvPr id="3326" name="Line 254"/>
                    <p:cNvSpPr>
                      <a:spLocks noChangeShapeType="1"/>
                    </p:cNvSpPr>
                    <p:nvPr/>
                  </p:nvSpPr>
                  <p:spPr bwMode="auto">
                    <a:xfrm>
                      <a:off x="3840" y="1584"/>
                      <a:ext cx="144"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327" name="Line 255"/>
                    <p:cNvSpPr>
                      <a:spLocks noChangeShapeType="1"/>
                    </p:cNvSpPr>
                    <p:nvPr/>
                  </p:nvSpPr>
                  <p:spPr bwMode="auto">
                    <a:xfrm>
                      <a:off x="4464" y="1584"/>
                      <a:ext cx="144" cy="0"/>
                    </a:xfrm>
                    <a:prstGeom prst="line">
                      <a:avLst/>
                    </a:prstGeom>
                    <a:noFill/>
                    <a:ln w="19050" cap="flat" algn="ctr">
                      <a:solidFill>
                        <a:srgbClr val="2A3D7A"/>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28" name="Line 256"/>
                  <p:cNvSpPr>
                    <a:spLocks noChangeShapeType="1"/>
                  </p:cNvSpPr>
                  <p:nvPr/>
                </p:nvSpPr>
                <p:spPr bwMode="auto">
                  <a:xfrm>
                    <a:off x="3408" y="2400"/>
                    <a:ext cx="144" cy="0"/>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29" name="Line 257"/>
                  <p:cNvSpPr>
                    <a:spLocks noChangeShapeType="1"/>
                  </p:cNvSpPr>
                  <p:nvPr/>
                </p:nvSpPr>
                <p:spPr bwMode="auto">
                  <a:xfrm flipH="1">
                    <a:off x="3792" y="2400"/>
                    <a:ext cx="144" cy="0"/>
                  </a:xfrm>
                  <a:prstGeom prst="line">
                    <a:avLst/>
                  </a:prstGeom>
                  <a:noFill/>
                  <a:ln w="9525" cap="flat" algn="ctr">
                    <a:solidFill>
                      <a:srgbClr val="5B5249"/>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30" name="Rectangle 258"/>
                  <p:cNvSpPr>
                    <a:spLocks noChangeArrowheads="1"/>
                  </p:cNvSpPr>
                  <p:nvPr/>
                </p:nvSpPr>
                <p:spPr bwMode="auto">
                  <a:xfrm>
                    <a:off x="3531" y="2268"/>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T</a:t>
                    </a:r>
                    <a:r>
                      <a:rPr lang="ru-RU" altLang="zh-CN" sz="1600" b="1" baseline="-25000"/>
                      <a:t>W</a:t>
                    </a:r>
                    <a:endParaRPr lang="ru-RU" altLang="zh-CN" sz="1600" b="1" baseline="-25000"/>
                  </a:p>
                </p:txBody>
              </p:sp>
              <p:sp>
                <p:nvSpPr>
                  <p:cNvPr id="3331" name="Rectangle 259"/>
                  <p:cNvSpPr>
                    <a:spLocks noChangeArrowheads="1"/>
                  </p:cNvSpPr>
                  <p:nvPr/>
                </p:nvSpPr>
                <p:spPr bwMode="auto">
                  <a:xfrm>
                    <a:off x="4848" y="144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t</a:t>
                    </a:r>
                    <a:endParaRPr lang="ru-RU" altLang="zh-CN" sz="1600" b="1"/>
                  </a:p>
                </p:txBody>
              </p:sp>
              <p:sp>
                <p:nvSpPr>
                  <p:cNvPr id="3332" name="Rectangle 260"/>
                  <p:cNvSpPr>
                    <a:spLocks noChangeArrowheads="1"/>
                  </p:cNvSpPr>
                  <p:nvPr/>
                </p:nvSpPr>
                <p:spPr bwMode="auto">
                  <a:xfrm>
                    <a:off x="4848" y="211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t</a:t>
                    </a:r>
                    <a:endParaRPr lang="ru-RU" altLang="zh-CN" sz="1600" b="1"/>
                  </a:p>
                </p:txBody>
              </p:sp>
            </p:grpSp>
            <p:sp>
              <p:nvSpPr>
                <p:cNvPr id="3333" name="Rectangle 261"/>
                <p:cNvSpPr>
                  <a:spLocks noChangeArrowheads="1"/>
                </p:cNvSpPr>
                <p:nvPr/>
              </p:nvSpPr>
              <p:spPr bwMode="auto">
                <a:xfrm>
                  <a:off x="3024" y="1008"/>
                  <a:ext cx="5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2/3V</a:t>
                  </a:r>
                  <a:r>
                    <a:rPr lang="ru-RU" altLang="zh-CN" sz="1600" b="1" baseline="-25000"/>
                    <a:t>CC</a:t>
                  </a:r>
                  <a:endParaRPr lang="ru-RU" altLang="zh-CN" sz="1600" b="1" baseline="-25000"/>
                </a:p>
              </p:txBody>
            </p:sp>
          </p:grpSp>
          <p:sp>
            <p:nvSpPr>
              <p:cNvPr id="3334" name="Rectangle 262"/>
              <p:cNvSpPr>
                <a:spLocks noChangeArrowheads="1"/>
              </p:cNvSpPr>
              <p:nvPr/>
            </p:nvSpPr>
            <p:spPr bwMode="auto">
              <a:xfrm>
                <a:off x="3984" y="892"/>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ru-RU" altLang="zh-CN" sz="1600" b="1"/>
                  <a:t>V</a:t>
                </a:r>
                <a:r>
                  <a:rPr lang="ru-RU" altLang="zh-CN" sz="1600" b="1" baseline="-25000"/>
                  <a:t>CC</a:t>
                </a:r>
                <a:endParaRPr lang="ru-RU" altLang="zh-CN" sz="1600" b="1" baseline="-25000"/>
              </a:p>
            </p:txBody>
          </p:sp>
        </p:grpSp>
      </p:grpSp>
      <p:sp>
        <p:nvSpPr>
          <p:cNvPr id="3335" name="Rectangle 263"/>
          <p:cNvSpPr>
            <a:spLocks noChangeArrowheads="1"/>
          </p:cNvSpPr>
          <p:nvPr/>
        </p:nvSpPr>
        <p:spPr bwMode="auto">
          <a:xfrm>
            <a:off x="838200" y="1203325"/>
            <a:ext cx="3505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zh-CN" altLang="ru-RU" sz="2000" b="1">
                <a:solidFill>
                  <a:schemeClr val="tx2"/>
                </a:solidFill>
              </a:rPr>
              <a:t>波形参数</a:t>
            </a:r>
            <a:r>
              <a:rPr lang="ru-RU" altLang="zh-CN" sz="2000" b="1">
                <a:solidFill>
                  <a:schemeClr val="tx2"/>
                </a:solidFill>
              </a:rPr>
              <a:t>——</a:t>
            </a:r>
            <a:r>
              <a:rPr lang="zh-CN" altLang="ru-RU" sz="2000" b="1"/>
              <a:t>脉冲宽度</a:t>
            </a:r>
            <a:r>
              <a:rPr lang="ru-RU" altLang="zh-CN" sz="2000" b="1"/>
              <a:t>T</a:t>
            </a:r>
            <a:r>
              <a:rPr lang="ru-RU" altLang="zh-CN" sz="2000" b="1" baseline="-25000"/>
              <a:t>W</a:t>
            </a:r>
            <a:endParaRPr lang="ru-RU" altLang="zh-CN" sz="2000" b="1" baseline="-25000"/>
          </a:p>
        </p:txBody>
      </p:sp>
      <p:graphicFrame>
        <p:nvGraphicFramePr>
          <p:cNvPr id="3336" name="Object 264"/>
          <p:cNvGraphicFramePr>
            <a:graphicFrameLocks noChangeAspect="1"/>
          </p:cNvGraphicFramePr>
          <p:nvPr/>
        </p:nvGraphicFramePr>
        <p:xfrm>
          <a:off x="838200" y="1751013"/>
          <a:ext cx="3462338" cy="915987"/>
        </p:xfrm>
        <a:graphic>
          <a:graphicData uri="http://schemas.openxmlformats.org/presentationml/2006/ole">
            <mc:AlternateContent xmlns:mc="http://schemas.openxmlformats.org/markup-compatibility/2006">
              <mc:Choice xmlns:v="urn:schemas-microsoft-com:vml" Requires="v">
                <p:oleObj spid="_x0000_s28677" name="Equation" r:id="rId1" imgW="1435735" imgH="748665" progId="Equation.3">
                  <p:embed/>
                </p:oleObj>
              </mc:Choice>
              <mc:Fallback>
                <p:oleObj name="Equation" r:id="rId1" imgW="1435735" imgH="748665" progId="Equation.3">
                  <p:embed/>
                  <p:pic>
                    <p:nvPicPr>
                      <p:cNvPr id="0" name="Object 2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51013"/>
                        <a:ext cx="3462338" cy="915987"/>
                      </a:xfrm>
                      <a:prstGeom prst="rect">
                        <a:avLst/>
                      </a:prstGeom>
                      <a:noFill/>
                      <a:ln>
                        <a:noFill/>
                      </a:ln>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37" name="Object 265"/>
          <p:cNvGraphicFramePr>
            <a:graphicFrameLocks noChangeAspect="1"/>
          </p:cNvGraphicFramePr>
          <p:nvPr/>
        </p:nvGraphicFramePr>
        <p:xfrm>
          <a:off x="833438" y="2667000"/>
          <a:ext cx="2138362" cy="1831975"/>
        </p:xfrm>
        <a:graphic>
          <a:graphicData uri="http://schemas.openxmlformats.org/presentationml/2006/ole">
            <mc:AlternateContent xmlns:mc="http://schemas.openxmlformats.org/markup-compatibility/2006">
              <mc:Choice xmlns:v="urn:schemas-microsoft-com:vml" Requires="v">
                <p:oleObj spid="_x0000_s28678" name="Equation" r:id="rId3" imgW="1226185" imgH="754380" progId="Equation.3">
                  <p:embed/>
                </p:oleObj>
              </mc:Choice>
              <mc:Fallback>
                <p:oleObj name="Equation" r:id="rId3" imgW="1226185" imgH="754380" progId="Equation.3">
                  <p:embed/>
                  <p:pic>
                    <p:nvPicPr>
                      <p:cNvPr id="0" name="Object 2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438" y="2667000"/>
                        <a:ext cx="2138362" cy="1831975"/>
                      </a:xfrm>
                      <a:prstGeom prst="rect">
                        <a:avLst/>
                      </a:prstGeom>
                      <a:noFill/>
                      <a:ln>
                        <a:noFill/>
                      </a:ln>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38" name="Object 266"/>
          <p:cNvGraphicFramePr>
            <a:graphicFrameLocks noChangeAspect="1"/>
          </p:cNvGraphicFramePr>
          <p:nvPr/>
        </p:nvGraphicFramePr>
        <p:xfrm>
          <a:off x="838200" y="4495800"/>
          <a:ext cx="3487738" cy="1273175"/>
        </p:xfrm>
        <a:graphic>
          <a:graphicData uri="http://schemas.openxmlformats.org/presentationml/2006/ole">
            <mc:AlternateContent xmlns:mc="http://schemas.openxmlformats.org/markup-compatibility/2006">
              <mc:Choice xmlns:v="urn:schemas-microsoft-com:vml" Requires="v">
                <p:oleObj spid="_x0000_s28679" name="Equation" r:id="rId5" imgW="1515745" imgH="859155" progId="Equation.3">
                  <p:embed/>
                </p:oleObj>
              </mc:Choice>
              <mc:Fallback>
                <p:oleObj name="Equation" r:id="rId5" imgW="1515745" imgH="859155" progId="Equation.3">
                  <p:embed/>
                  <p:pic>
                    <p:nvPicPr>
                      <p:cNvPr id="0" name="Object 2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495800"/>
                        <a:ext cx="3487738" cy="1273175"/>
                      </a:xfrm>
                      <a:prstGeom prst="rect">
                        <a:avLst/>
                      </a:prstGeom>
                      <a:noFill/>
                      <a:ln>
                        <a:noFill/>
                      </a:ln>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childTnLst>
                                    <p:set>
                                      <p:cBhvr additive="base">
                                        <p:cTn id="6" dur="1" fill="hold">
                                          <p:stCondLst>
                                            <p:cond delay="0"/>
                                          </p:stCondLst>
                                        </p:cTn>
                                        <p:tgtEl>
                                          <p:spTgt spid="3335"/>
                                        </p:tgtEl>
                                        <p:attrNameLst>
                                          <p:attrName>style.visibility</p:attrName>
                                        </p:attrNameLst>
                                      </p:cBhvr>
                                      <p:to>
                                        <p:strVal val="visible"/>
                                      </p:to>
                                    </p:set>
                                    <p:animEffect transition="in" filter="blinds(horizontal)">
                                      <p:cBhvr additive="base">
                                        <p:cTn id="7" dur="500"/>
                                        <p:tgtEl>
                                          <p:spTgt spid="33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childTnLst>
                                    <p:set>
                                      <p:cBhvr additive="base">
                                        <p:cTn id="11" dur="1" fill="hold">
                                          <p:stCondLst>
                                            <p:cond delay="0"/>
                                          </p:stCondLst>
                                        </p:cTn>
                                        <p:tgtEl>
                                          <p:spTgt spid="3336"/>
                                        </p:tgtEl>
                                        <p:attrNameLst>
                                          <p:attrName>style.visibility</p:attrName>
                                        </p:attrNameLst>
                                      </p:cBhvr>
                                      <p:to>
                                        <p:strVal val="visible"/>
                                      </p:to>
                                    </p:set>
                                    <p:animEffect transition="in" filter="blinds(horizontal)">
                                      <p:cBhvr additive="base">
                                        <p:cTn id="12" dur="500"/>
                                        <p:tgtEl>
                                          <p:spTgt spid="33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childTnLst>
                                    <p:set>
                                      <p:cBhvr additive="base">
                                        <p:cTn id="16" dur="1" fill="hold">
                                          <p:stCondLst>
                                            <p:cond delay="0"/>
                                          </p:stCondLst>
                                        </p:cTn>
                                        <p:tgtEl>
                                          <p:spTgt spid="3337"/>
                                        </p:tgtEl>
                                        <p:attrNameLst>
                                          <p:attrName>style.visibility</p:attrName>
                                        </p:attrNameLst>
                                      </p:cBhvr>
                                      <p:to>
                                        <p:strVal val="visible"/>
                                      </p:to>
                                    </p:set>
                                    <p:animEffect transition="in" filter="blinds(horizontal)">
                                      <p:cBhvr additive="base">
                                        <p:cTn id="17" dur="500"/>
                                        <p:tgtEl>
                                          <p:spTgt spid="33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childTnLst>
                                    <p:set>
                                      <p:cBhvr additive="base">
                                        <p:cTn id="21" dur="1" fill="hold">
                                          <p:stCondLst>
                                            <p:cond delay="0"/>
                                          </p:stCondLst>
                                        </p:cTn>
                                        <p:tgtEl>
                                          <p:spTgt spid="3338"/>
                                        </p:tgtEl>
                                        <p:attrNameLst>
                                          <p:attrName>style.visibility</p:attrName>
                                        </p:attrNameLst>
                                      </p:cBhvr>
                                      <p:to>
                                        <p:strVal val="visible"/>
                                      </p:to>
                                    </p:set>
                                    <p:animEffect transition="in" filter="blinds(horizontal)">
                                      <p:cBhvr additive="base">
                                        <p:cTn id="22" dur="500"/>
                                        <p:tgtEl>
                                          <p:spTgt spid="3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5"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7" name="矩形 26"/>
          <p:cNvSpPr/>
          <p:nvPr/>
        </p:nvSpPr>
        <p:spPr>
          <a:xfrm>
            <a:off x="6640592" y="4194740"/>
            <a:ext cx="581352" cy="353943"/>
          </a:xfrm>
          <a:prstGeom prst="rect">
            <a:avLst/>
          </a:prstGeom>
        </p:spPr>
        <p:txBody>
          <a:bodyPr wrap="square">
            <a:spAutoFit/>
          </a:bodyPr>
          <a:lstStyle/>
          <a:p>
            <a:pPr>
              <a:defRPr/>
            </a:pPr>
            <a:r>
              <a:rPr lang="en-US" altLang="zh-CN" sz="100" kern="0" dirty="0">
                <a:solidFill>
                  <a:prstClr val="white"/>
                </a:solidFill>
              </a:rPr>
              <a:t>PPT</a:t>
            </a:r>
            <a:r>
              <a:rPr lang="zh-CN" altLang="en-US" sz="100" kern="0" dirty="0">
                <a:solidFill>
                  <a:prstClr val="white"/>
                </a:solidFill>
              </a:rPr>
              <a:t>模板下载：</a:t>
            </a:r>
            <a:r>
              <a:rPr lang="en-US" altLang="zh-CN" sz="100" kern="0" dirty="0">
                <a:solidFill>
                  <a:prstClr val="white"/>
                </a:solidFill>
              </a:rPr>
              <a:t>www.1ppt.com/moban/     </a:t>
            </a:r>
            <a:r>
              <a:rPr lang="zh-CN" altLang="en-US" sz="100" kern="0" dirty="0">
                <a:solidFill>
                  <a:prstClr val="white"/>
                </a:solidFill>
              </a:rPr>
              <a:t>行业</a:t>
            </a:r>
            <a:r>
              <a:rPr lang="en-US" altLang="zh-CN" sz="100" kern="0" dirty="0">
                <a:solidFill>
                  <a:prstClr val="white"/>
                </a:solidFill>
              </a:rPr>
              <a:t>PPT</a:t>
            </a:r>
            <a:r>
              <a:rPr lang="zh-CN" altLang="en-US" sz="100" kern="0" dirty="0">
                <a:solidFill>
                  <a:prstClr val="white"/>
                </a:solidFill>
              </a:rPr>
              <a:t>模板：</a:t>
            </a:r>
            <a:r>
              <a:rPr lang="en-US" altLang="zh-CN" sz="100" kern="0" dirty="0">
                <a:solidFill>
                  <a:prstClr val="white"/>
                </a:solidFill>
              </a:rPr>
              <a:t>www.1ppt.com/hangye/ </a:t>
            </a:r>
            <a:endParaRPr lang="en-US" altLang="zh-CN" sz="100" kern="0" dirty="0">
              <a:solidFill>
                <a:prstClr val="white"/>
              </a:solidFill>
            </a:endParaRPr>
          </a:p>
          <a:p>
            <a:pPr>
              <a:defRPr/>
            </a:pPr>
            <a:r>
              <a:rPr lang="zh-CN" altLang="en-US" sz="100" kern="0" dirty="0">
                <a:solidFill>
                  <a:prstClr val="white"/>
                </a:solidFill>
              </a:rPr>
              <a:t>节日</a:t>
            </a:r>
            <a:r>
              <a:rPr lang="en-US" altLang="zh-CN" sz="100" kern="0" dirty="0">
                <a:solidFill>
                  <a:prstClr val="white"/>
                </a:solidFill>
              </a:rPr>
              <a:t>PPT</a:t>
            </a:r>
            <a:r>
              <a:rPr lang="zh-CN" altLang="en-US" sz="100" kern="0" dirty="0">
                <a:solidFill>
                  <a:prstClr val="white"/>
                </a:solidFill>
              </a:rPr>
              <a:t>模板：</a:t>
            </a:r>
            <a:r>
              <a:rPr lang="en-US" altLang="zh-CN" sz="100" kern="0" dirty="0">
                <a:solidFill>
                  <a:prstClr val="white"/>
                </a:solidFill>
              </a:rPr>
              <a:t>www.1ppt.com/jieri/           PPT</a:t>
            </a:r>
            <a:r>
              <a:rPr lang="zh-CN" altLang="en-US" sz="100" kern="0" dirty="0">
                <a:solidFill>
                  <a:prstClr val="white"/>
                </a:solidFill>
              </a:rPr>
              <a:t>素材下载：</a:t>
            </a:r>
            <a:r>
              <a:rPr lang="en-US" altLang="zh-CN" sz="100" kern="0" dirty="0">
                <a:solidFill>
                  <a:prstClr val="white"/>
                </a:solidFill>
              </a:rPr>
              <a:t>www.1ppt.com/sucai/</a:t>
            </a:r>
            <a:endParaRPr lang="en-US" altLang="zh-CN" sz="100" kern="0" dirty="0">
              <a:solidFill>
                <a:prstClr val="white"/>
              </a:solidFill>
            </a:endParaRPr>
          </a:p>
          <a:p>
            <a:pPr>
              <a:defRPr/>
            </a:pPr>
            <a:r>
              <a:rPr lang="en-US" altLang="zh-CN" sz="100" kern="0" dirty="0">
                <a:solidFill>
                  <a:prstClr val="white"/>
                </a:solidFill>
              </a:rPr>
              <a:t>PPT</a:t>
            </a:r>
            <a:r>
              <a:rPr lang="zh-CN" altLang="en-US" sz="100" kern="0" dirty="0">
                <a:solidFill>
                  <a:prstClr val="white"/>
                </a:solidFill>
              </a:rPr>
              <a:t>背景图片：</a:t>
            </a:r>
            <a:r>
              <a:rPr lang="en-US" altLang="zh-CN" sz="100" kern="0" dirty="0">
                <a:solidFill>
                  <a:prstClr val="white"/>
                </a:solidFill>
              </a:rPr>
              <a:t>www.1ppt.com/beijing/      PPT</a:t>
            </a:r>
            <a:r>
              <a:rPr lang="zh-CN" altLang="en-US" sz="100" kern="0" dirty="0">
                <a:solidFill>
                  <a:prstClr val="white"/>
                </a:solidFill>
              </a:rPr>
              <a:t>图表下载：</a:t>
            </a:r>
            <a:r>
              <a:rPr lang="en-US" altLang="zh-CN" sz="100" kern="0" dirty="0">
                <a:solidFill>
                  <a:prstClr val="white"/>
                </a:solidFill>
              </a:rPr>
              <a:t>www.1ppt.com/tubiao/      </a:t>
            </a:r>
            <a:endParaRPr lang="en-US" altLang="zh-CN" sz="100" kern="0" dirty="0">
              <a:solidFill>
                <a:prstClr val="white"/>
              </a:solidFill>
            </a:endParaRPr>
          </a:p>
          <a:p>
            <a:pPr>
              <a:defRPr/>
            </a:pPr>
            <a:r>
              <a:rPr lang="zh-CN" altLang="en-US" sz="100" kern="0" dirty="0">
                <a:solidFill>
                  <a:prstClr val="white"/>
                </a:solidFill>
              </a:rPr>
              <a:t>优秀</a:t>
            </a:r>
            <a:r>
              <a:rPr lang="en-US" altLang="zh-CN" sz="100" kern="0" dirty="0">
                <a:solidFill>
                  <a:prstClr val="white"/>
                </a:solidFill>
              </a:rPr>
              <a:t>PPT</a:t>
            </a:r>
            <a:r>
              <a:rPr lang="zh-CN" altLang="en-US" sz="100" kern="0" dirty="0">
                <a:solidFill>
                  <a:prstClr val="white"/>
                </a:solidFill>
              </a:rPr>
              <a:t>下载：</a:t>
            </a:r>
            <a:r>
              <a:rPr lang="en-US" altLang="zh-CN" sz="100" kern="0" dirty="0">
                <a:solidFill>
                  <a:prstClr val="white"/>
                </a:solidFill>
              </a:rPr>
              <a:t>www.1ppt.com/xiazai/        PPT</a:t>
            </a:r>
            <a:r>
              <a:rPr lang="zh-CN" altLang="en-US" sz="100" kern="0" dirty="0">
                <a:solidFill>
                  <a:prstClr val="white"/>
                </a:solidFill>
              </a:rPr>
              <a:t>教程： </a:t>
            </a:r>
            <a:r>
              <a:rPr lang="en-US" altLang="zh-CN" sz="100" kern="0" dirty="0">
                <a:solidFill>
                  <a:prstClr val="white"/>
                </a:solidFill>
              </a:rPr>
              <a:t>www.1ppt.com/powerpoint/      </a:t>
            </a:r>
            <a:endParaRPr lang="en-US" altLang="zh-CN" sz="100" kern="0" dirty="0">
              <a:solidFill>
                <a:prstClr val="white"/>
              </a:solidFill>
            </a:endParaRPr>
          </a:p>
          <a:p>
            <a:pPr>
              <a:defRPr/>
            </a:pPr>
            <a:r>
              <a:rPr lang="en-US" altLang="zh-CN" sz="100" kern="0" dirty="0">
                <a:solidFill>
                  <a:prstClr val="white"/>
                </a:solidFill>
              </a:rPr>
              <a:t>Word</a:t>
            </a:r>
            <a:r>
              <a:rPr lang="zh-CN" altLang="en-US" sz="100" kern="0" dirty="0">
                <a:solidFill>
                  <a:prstClr val="white"/>
                </a:solidFill>
              </a:rPr>
              <a:t>教程： </a:t>
            </a:r>
            <a:r>
              <a:rPr lang="en-US" altLang="zh-CN" sz="100" kern="0" dirty="0">
                <a:solidFill>
                  <a:prstClr val="white"/>
                </a:solidFill>
              </a:rPr>
              <a:t>www.1ppt.com/word/              Excel</a:t>
            </a:r>
            <a:r>
              <a:rPr lang="zh-CN" altLang="en-US" sz="100" kern="0" dirty="0">
                <a:solidFill>
                  <a:prstClr val="white"/>
                </a:solidFill>
              </a:rPr>
              <a:t>教程：</a:t>
            </a:r>
            <a:r>
              <a:rPr lang="en-US" altLang="zh-CN" sz="100" kern="0" dirty="0">
                <a:solidFill>
                  <a:prstClr val="white"/>
                </a:solidFill>
              </a:rPr>
              <a:t>www.1ppt.com/excel/  </a:t>
            </a:r>
            <a:endParaRPr lang="en-US" altLang="zh-CN" sz="100" kern="0" dirty="0">
              <a:solidFill>
                <a:prstClr val="white"/>
              </a:solidFill>
            </a:endParaRPr>
          </a:p>
          <a:p>
            <a:pPr>
              <a:defRPr/>
            </a:pPr>
            <a:r>
              <a:rPr lang="zh-CN" altLang="en-US" sz="100" kern="0" dirty="0">
                <a:solidFill>
                  <a:prstClr val="white"/>
                </a:solidFill>
              </a:rPr>
              <a:t>资料下载：</a:t>
            </a:r>
            <a:r>
              <a:rPr lang="en-US" altLang="zh-CN" sz="100" kern="0" dirty="0">
                <a:solidFill>
                  <a:prstClr val="white"/>
                </a:solidFill>
              </a:rPr>
              <a:t>www.1ppt.com/ziliao/                PPT</a:t>
            </a:r>
            <a:r>
              <a:rPr lang="zh-CN" altLang="en-US" sz="100" kern="0" dirty="0">
                <a:solidFill>
                  <a:prstClr val="white"/>
                </a:solidFill>
              </a:rPr>
              <a:t>课件下载：</a:t>
            </a:r>
            <a:r>
              <a:rPr lang="en-US" altLang="zh-CN" sz="100" kern="0" dirty="0">
                <a:solidFill>
                  <a:prstClr val="white"/>
                </a:solidFill>
              </a:rPr>
              <a:t>www.1ppt.com/kejian/ </a:t>
            </a:r>
            <a:endParaRPr lang="en-US" altLang="zh-CN" sz="100" kern="0" dirty="0">
              <a:solidFill>
                <a:prstClr val="white"/>
              </a:solidFill>
            </a:endParaRPr>
          </a:p>
          <a:p>
            <a:pPr>
              <a:defRPr/>
            </a:pPr>
            <a:r>
              <a:rPr lang="zh-CN" altLang="en-US" sz="100" kern="0" dirty="0">
                <a:solidFill>
                  <a:prstClr val="white"/>
                </a:solidFill>
              </a:rPr>
              <a:t>范文下载：</a:t>
            </a:r>
            <a:r>
              <a:rPr lang="en-US" altLang="zh-CN" sz="100" kern="0" dirty="0">
                <a:solidFill>
                  <a:prstClr val="white"/>
                </a:solidFill>
              </a:rPr>
              <a:t>www.1ppt.com/fanwen/             </a:t>
            </a:r>
            <a:r>
              <a:rPr lang="zh-CN" altLang="en-US" sz="100" kern="0" dirty="0">
                <a:solidFill>
                  <a:prstClr val="white"/>
                </a:solidFill>
              </a:rPr>
              <a:t>试卷下载：</a:t>
            </a:r>
            <a:r>
              <a:rPr lang="en-US" altLang="zh-CN" sz="100" kern="0" dirty="0">
                <a:solidFill>
                  <a:prstClr val="white"/>
                </a:solidFill>
              </a:rPr>
              <a:t>www.1ppt.com/shiti/  </a:t>
            </a:r>
            <a:endParaRPr lang="en-US" altLang="zh-CN" sz="100" kern="0" dirty="0">
              <a:solidFill>
                <a:prstClr val="white"/>
              </a:solidFill>
            </a:endParaRPr>
          </a:p>
          <a:p>
            <a:pPr>
              <a:defRPr/>
            </a:pPr>
            <a:r>
              <a:rPr lang="zh-CN" altLang="en-US" sz="100" kern="0" dirty="0">
                <a:solidFill>
                  <a:prstClr val="white"/>
                </a:solidFill>
              </a:rPr>
              <a:t>教案下载：</a:t>
            </a:r>
            <a:r>
              <a:rPr lang="en-US" altLang="zh-CN" sz="100" kern="0" dirty="0">
                <a:solidFill>
                  <a:prstClr val="white"/>
                </a:solidFill>
              </a:rPr>
              <a:t>www.1ppt.com/jiaoan/        </a:t>
            </a:r>
            <a:endParaRPr lang="en-US" altLang="zh-CN" sz="100" kern="0" dirty="0">
              <a:solidFill>
                <a:prstClr val="white"/>
              </a:solidFill>
            </a:endParaRPr>
          </a:p>
          <a:p>
            <a:pPr>
              <a:defRPr/>
            </a:pPr>
            <a:r>
              <a:rPr lang="zh-CN" altLang="en-US" sz="100" kern="0" dirty="0">
                <a:solidFill>
                  <a:prstClr val="white"/>
                </a:solidFill>
              </a:rPr>
              <a:t>字体下载：</a:t>
            </a:r>
            <a:r>
              <a:rPr lang="en-US" altLang="zh-CN" sz="100" kern="0" dirty="0">
                <a:solidFill>
                  <a:prstClr val="white"/>
                </a:solidFill>
              </a:rPr>
              <a:t>www.1ppt.com/ziti/</a:t>
            </a:r>
            <a:endParaRPr lang="en-US" altLang="zh-CN" sz="100" kern="0" dirty="0">
              <a:solidFill>
                <a:prstClr val="white"/>
              </a:solidFill>
            </a:endParaRPr>
          </a:p>
          <a:p>
            <a:pPr>
              <a:defRPr/>
            </a:pPr>
            <a:r>
              <a:rPr lang="en-US" altLang="zh-CN" sz="100" kern="0" dirty="0">
                <a:solidFill>
                  <a:prstClr val="white"/>
                </a:solidFill>
              </a:rPr>
              <a:t> </a:t>
            </a:r>
            <a:endParaRPr lang="zh-CN" altLang="en-US" sz="100" kern="0" dirty="0">
              <a:solidFill>
                <a:prstClr val="white"/>
              </a:solidFill>
            </a:endParaRPr>
          </a:p>
        </p:txBody>
      </p:sp>
      <p:sp>
        <p:nvSpPr>
          <p:cNvPr id="4" name="淘宝网chenying0907出品 3"/>
          <p:cNvSpPr/>
          <p:nvPr/>
        </p:nvSpPr>
        <p:spPr>
          <a:xfrm>
            <a:off x="0" y="2836881"/>
            <a:ext cx="233314" cy="190892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淘宝网chenying0907出品 4"/>
          <p:cNvSpPr/>
          <p:nvPr/>
        </p:nvSpPr>
        <p:spPr>
          <a:xfrm>
            <a:off x="5791596" y="2836881"/>
            <a:ext cx="233314" cy="190892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淘宝网chenying0907出品 7"/>
          <p:cNvSpPr/>
          <p:nvPr/>
        </p:nvSpPr>
        <p:spPr>
          <a:xfrm>
            <a:off x="6046708" y="3246665"/>
            <a:ext cx="289874" cy="1485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nvCxnSpPr>
        <p:spPr>
          <a:xfrm>
            <a:off x="6024911" y="4745807"/>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淘宝网chenying0907出品 10"/>
          <p:cNvSpPr/>
          <p:nvPr/>
        </p:nvSpPr>
        <p:spPr>
          <a:xfrm>
            <a:off x="6350719" y="3300665"/>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淘宝网chenying0907出品 11"/>
          <p:cNvSpPr/>
          <p:nvPr/>
        </p:nvSpPr>
        <p:spPr>
          <a:xfrm>
            <a:off x="6676531" y="3300665"/>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淘宝网chenying0907出品 12"/>
          <p:cNvSpPr/>
          <p:nvPr/>
        </p:nvSpPr>
        <p:spPr>
          <a:xfrm>
            <a:off x="6980542" y="3327665"/>
            <a:ext cx="289874" cy="1404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淘宝网chenying0907出品 13"/>
          <p:cNvSpPr/>
          <p:nvPr/>
        </p:nvSpPr>
        <p:spPr>
          <a:xfrm>
            <a:off x="7284553" y="3354665"/>
            <a:ext cx="289874" cy="1377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淘宝网chenying0907出品 14"/>
          <p:cNvSpPr/>
          <p:nvPr/>
        </p:nvSpPr>
        <p:spPr>
          <a:xfrm>
            <a:off x="7601500" y="3381665"/>
            <a:ext cx="289874" cy="135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淘宝网chenying0907出品 15"/>
          <p:cNvSpPr/>
          <p:nvPr/>
        </p:nvSpPr>
        <p:spPr>
          <a:xfrm rot="20959521">
            <a:off x="8008894" y="3420032"/>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淘宝网chenying0907出品 16"/>
          <p:cNvSpPr/>
          <p:nvPr/>
        </p:nvSpPr>
        <p:spPr>
          <a:xfrm rot="19779136">
            <a:off x="8519314" y="3451229"/>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nvCxnSpPr>
        <p:spPr>
          <a:xfrm>
            <a:off x="233316" y="4745807"/>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33316" y="285101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33315" y="4195517"/>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淘宝网chenying0907出品 21"/>
          <p:cNvSpPr txBox="1"/>
          <p:nvPr/>
        </p:nvSpPr>
        <p:spPr>
          <a:xfrm>
            <a:off x="1550958" y="3076801"/>
            <a:ext cx="2882747" cy="923330"/>
          </a:xfrm>
          <a:prstGeom prst="rect">
            <a:avLst/>
          </a:prstGeom>
          <a:noFill/>
        </p:spPr>
        <p:txBody>
          <a:bodyPr wrap="square" rtlCol="0">
            <a:spAutoFit/>
          </a:bodyPr>
          <a:lstStyle/>
          <a:p>
            <a:r>
              <a:rPr lang="zh-CN" altLang="en-US" sz="5400" b="1" dirty="0">
                <a:solidFill>
                  <a:schemeClr val="accent1">
                    <a:lumMod val="50000"/>
                  </a:schemeClr>
                </a:solidFill>
                <a:latin typeface="微软雅黑" panose="020B0503020204020204" pitchFamily="34" charset="-122"/>
                <a:ea typeface="微软雅黑" panose="020B0503020204020204" pitchFamily="34" charset="-122"/>
              </a:rPr>
              <a:t>谢谢！</a:t>
            </a:r>
            <a:endParaRPr lang="zh-CN" altLang="en-US" sz="54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3" name="淘宝网chenying0907出品 22"/>
          <p:cNvSpPr txBox="1"/>
          <p:nvPr/>
        </p:nvSpPr>
        <p:spPr>
          <a:xfrm>
            <a:off x="651868" y="4297539"/>
            <a:ext cx="1824086"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24" name="淘宝网chenying0907出品 23"/>
          <p:cNvSpPr txBox="1"/>
          <p:nvPr/>
        </p:nvSpPr>
        <p:spPr>
          <a:xfrm>
            <a:off x="2871046" y="4297540"/>
            <a:ext cx="2712050" cy="368300"/>
          </a:xfrm>
          <a:prstGeom prst="rect">
            <a:avLst/>
          </a:prstGeom>
          <a:noFill/>
        </p:spPr>
        <p:txBody>
          <a:bodyPr wrap="square" rtlCol="0">
            <a:spAutoFit/>
          </a:bodyPr>
          <a:lstStyle/>
          <a:p>
            <a:fld id="{BB962C8B-B14F-4D97-AF65-F5344CB8AC3E}" type="datetime1">
              <a:rPr lang="zh-CN" altLang="zh-CN" b="1" dirty="0">
                <a:latin typeface="微软雅黑" panose="020B0503020204020204" pitchFamily="34" charset="-122"/>
                <a:ea typeface="微软雅黑" panose="020B0503020204020204" pitchFamily="34" charset="-122"/>
              </a:rPr>
            </a:fld>
            <a:endParaRPr lang="zh-CN" altLang="zh-CN" b="1" dirty="0">
              <a:latin typeface="微软雅黑" panose="020B0503020204020204" pitchFamily="34" charset="-122"/>
              <a:ea typeface="微软雅黑" panose="020B0503020204020204" pitchFamily="34" charset="-122"/>
            </a:endParaRPr>
          </a:p>
        </p:txBody>
      </p:sp>
      <p:sp>
        <p:nvSpPr>
          <p:cNvPr id="26" name="淘宝网chenying0907出品 25"/>
          <p:cNvSpPr txBox="1"/>
          <p:nvPr/>
        </p:nvSpPr>
        <p:spPr>
          <a:xfrm>
            <a:off x="1178593" y="1147731"/>
            <a:ext cx="2085680" cy="646331"/>
          </a:xfrm>
          <a:prstGeom prst="rect">
            <a:avLst/>
          </a:prstGeom>
          <a:noFill/>
        </p:spPr>
        <p:txBody>
          <a:bodyPr wrap="square" rtlCol="0">
            <a:spAutoFit/>
          </a:bodyPr>
          <a:lstStyle/>
          <a:p>
            <a:pPr algn="ctr"/>
            <a:r>
              <a:rPr lang="zh-CN" altLang="en-US" b="1" dirty="0">
                <a:latin typeface="华文行楷" panose="02010800040101010101" pitchFamily="2" charset="-122"/>
                <a:ea typeface="华文行楷" panose="02010800040101010101" pitchFamily="2" charset="-122"/>
              </a:rPr>
              <a:t>武汉大学</a:t>
            </a:r>
            <a:endParaRPr lang="en-US" altLang="zh-CN" b="1" dirty="0">
              <a:latin typeface="华文行楷" panose="02010800040101010101" pitchFamily="2" charset="-122"/>
              <a:ea typeface="华文行楷" panose="02010800040101010101" pitchFamily="2" charset="-122"/>
            </a:endParaRPr>
          </a:p>
          <a:p>
            <a:r>
              <a:rPr lang="en-US" altLang="zh-CN" b="1" dirty="0">
                <a:latin typeface="华文行楷" panose="02010800040101010101" pitchFamily="2" charset="-122"/>
                <a:ea typeface="华文行楷" panose="02010800040101010101" pitchFamily="2" charset="-122"/>
              </a:rPr>
              <a:t>    Wuhan University</a:t>
            </a:r>
            <a:endParaRPr lang="zh-CN" altLang="en-US" b="1" dirty="0">
              <a:latin typeface="华文行楷" panose="02010800040101010101" pitchFamily="2" charset="-122"/>
              <a:ea typeface="华文行楷" panose="02010800040101010101" pitchFamily="2" charset="-122"/>
            </a:endParaRPr>
          </a:p>
        </p:txBody>
      </p:sp>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58158" y="881843"/>
            <a:ext cx="920433" cy="920433"/>
          </a:xfrm>
          <a:prstGeom prst="rect">
            <a:avLst/>
          </a:prstGeom>
        </p:spPr>
      </p:pic>
    </p:spTree>
  </p:cSld>
  <p:clrMapOvr>
    <a:masterClrMapping/>
  </p:clrMapOvr>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ags/tag5.xml><?xml version="1.0" encoding="utf-8"?>
<p:tagLst xmlns:p="http://schemas.openxmlformats.org/presentationml/2006/main">
  <p:tag name="PA" val="v3.0.1"/>
</p:tagLst>
</file>

<file path=ppt/tags/tag6.xml><?xml version="1.0" encoding="utf-8"?>
<p:tagLst xmlns:p="http://schemas.openxmlformats.org/presentationml/2006/main">
  <p:tag name="PA" val="v3.0.1"/>
</p:tagLst>
</file>

<file path=ppt/tags/tag7.xml><?xml version="1.0" encoding="utf-8"?>
<p:tagLst xmlns:p="http://schemas.openxmlformats.org/presentationml/2006/main">
  <p:tag name="PA" val="v3.0.1"/>
</p:tagLst>
</file>

<file path=ppt/tags/tag8.xml><?xml version="1.0" encoding="utf-8"?>
<p:tagLst xmlns:p="http://schemas.openxmlformats.org/presentationml/2006/main">
  <p:tag name="PA" val="v3.0.1"/>
</p:tagLst>
</file>

<file path=ppt/tags/tag9.xml><?xml version="1.0" encoding="utf-8"?>
<p:tagLst xmlns:p="http://schemas.openxmlformats.org/presentationml/2006/main">
  <p:tag name="PA" val="v3.0.1"/>
</p:tagLst>
</file>

<file path=ppt/tags/tag10.xml><?xml version="1.0" encoding="utf-8"?>
<p:tagLst xmlns:p="http://schemas.openxmlformats.org/presentationml/2006/main">
  <p:tag name="PA" val="v3.0.1"/>
</p:tagLst>
</file>

<file path=ppt/tags/tag11.xml><?xml version="1.0" encoding="utf-8"?>
<p:tagLst xmlns:p="http://schemas.openxmlformats.org/presentationml/2006/main">
  <p:tag name="PA" val="v3.0.1"/>
</p:tagLst>
</file>

<file path=ppt/tags/tag12.xml><?xml version="1.0" encoding="utf-8"?>
<p:tagLst xmlns:p="http://schemas.openxmlformats.org/presentationml/2006/main">
  <p:tag name="PA" val="v3.0.1"/>
</p:tagLst>
</file>

<file path=ppt/tags/tag13.xml><?xml version="1.0" encoding="utf-8"?>
<p:tagLst xmlns:p="http://schemas.openxmlformats.org/presentationml/2006/main">
  <p:tag name="PA" val="v3.0.1"/>
</p:tagLst>
</file>

<file path=ppt/tags/tag14.xml><?xml version="1.0" encoding="utf-8"?>
<p:tagLst xmlns:p="http://schemas.openxmlformats.org/presentationml/2006/main">
  <p:tag name="PA" val="v3.0.1"/>
</p:tagLst>
</file>

<file path=ppt/tags/tag15.xml><?xml version="1.0" encoding="utf-8"?>
<p:tagLst xmlns:p="http://schemas.openxmlformats.org/presentationml/2006/main">
  <p:tag name="PA" val="v3.0.1"/>
</p:tagLst>
</file>

<file path=ppt/tags/tag16.xml><?xml version="1.0" encoding="utf-8"?>
<p:tagLst xmlns:p="http://schemas.openxmlformats.org/presentationml/2006/main">
  <p:tag name="PA" val="v3.0.1"/>
</p:tagLst>
</file>

<file path=ppt/tags/tag17.xml><?xml version="1.0" encoding="utf-8"?>
<p:tagLst xmlns:p="http://schemas.openxmlformats.org/presentationml/2006/main">
  <p:tag name="PA" val="v3.0.1"/>
</p:tagLst>
</file>

<file path=ppt/tags/tag18.xml><?xml version="1.0" encoding="utf-8"?>
<p:tagLst xmlns:p="http://schemas.openxmlformats.org/presentationml/2006/main">
  <p:tag name="PA" val="v3.0.1"/>
</p:tagLst>
</file>

<file path=ppt/tags/tag19.xml><?xml version="1.0" encoding="utf-8"?>
<p:tagLst xmlns:p="http://schemas.openxmlformats.org/presentationml/2006/main">
  <p:tag name="ISPRING_PRESENTATION_TITLE" val="PowerPoint 演示文稿3"/>
  <p:tag name="commondata" val="eyJoZGlkIjoiNDg3NzM1Mjc0YTM1YzBmZTFmNzkyMmIyZjRlNzBlMDQifQ=="/>
</p:tagLst>
</file>

<file path=ppt/theme/theme1.xml><?xml version="1.0" encoding="utf-8"?>
<a:theme xmlns:a="http://schemas.openxmlformats.org/drawingml/2006/main" name="第一PPT，www.1ppt.com">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8659</Words>
  <Application>WPS 演示</Application>
  <PresentationFormat>全屏显示(4:3)</PresentationFormat>
  <Paragraphs>1994</Paragraphs>
  <Slides>71</Slides>
  <Notes>57</Notes>
  <HiddenSlides>0</HiddenSlides>
  <MMClips>0</MMClips>
  <ScaleCrop>false</ScaleCrop>
  <HeadingPairs>
    <vt:vector size="8" baseType="variant">
      <vt:variant>
        <vt:lpstr>已用的字体</vt:lpstr>
      </vt:variant>
      <vt:variant>
        <vt:i4>24</vt:i4>
      </vt:variant>
      <vt:variant>
        <vt:lpstr>主题</vt:lpstr>
      </vt:variant>
      <vt:variant>
        <vt:i4>2</vt:i4>
      </vt:variant>
      <vt:variant>
        <vt:lpstr>嵌入 OLE 服务器</vt:lpstr>
      </vt:variant>
      <vt:variant>
        <vt:i4>76</vt:i4>
      </vt:variant>
      <vt:variant>
        <vt:lpstr>幻灯片标题</vt:lpstr>
      </vt:variant>
      <vt:variant>
        <vt:i4>71</vt:i4>
      </vt:variant>
    </vt:vector>
  </HeadingPairs>
  <TitlesOfParts>
    <vt:vector size="173" baseType="lpstr">
      <vt:lpstr>Arial</vt:lpstr>
      <vt:lpstr>宋体</vt:lpstr>
      <vt:lpstr>Wingdings</vt:lpstr>
      <vt:lpstr>微软雅黑</vt:lpstr>
      <vt:lpstr>华文行楷</vt:lpstr>
      <vt:lpstr>Calibri</vt:lpstr>
      <vt:lpstr>黑体</vt:lpstr>
      <vt:lpstr>Times New Roman</vt:lpstr>
      <vt:lpstr>楷体_GB2312</vt:lpstr>
      <vt:lpstr>新宋体</vt:lpstr>
      <vt:lpstr>Arial Unicode MS</vt:lpstr>
      <vt:lpstr>Tahoma</vt:lpstr>
      <vt:lpstr>华文新魏</vt:lpstr>
      <vt:lpstr>Cambria Math</vt:lpstr>
      <vt:lpstr>Cambria Math</vt:lpstr>
      <vt:lpstr>Monotype Sorts</vt:lpstr>
      <vt:lpstr>Wingdings</vt:lpstr>
      <vt:lpstr>宋体-18030</vt:lpstr>
      <vt:lpstr>Symbol</vt:lpstr>
      <vt:lpstr>楷体</vt:lpstr>
      <vt:lpstr>Arial Narrow</vt:lpstr>
      <vt:lpstr>Calibri Light</vt:lpstr>
      <vt:lpstr>等线 Light</vt:lpstr>
      <vt:lpstr>等线</vt:lpstr>
      <vt:lpstr>第一PPT，www.1ppt.com</vt:lpstr>
      <vt:lpstr>1_第一PPT，www.1ppt.com</vt:lpstr>
      <vt:lpstr>Word.Picture.8</vt:lpstr>
      <vt:lpstr>Equation.3</vt:lpstr>
      <vt:lpstr>Equation.3</vt:lpstr>
      <vt:lpstr>Equation.DSMT4</vt:lpstr>
      <vt:lpstr>Equation.DSMT4</vt:lpstr>
      <vt:lpstr>Equation.DSMT4</vt:lpstr>
      <vt:lpstr>Word.Picture.8</vt:lpstr>
      <vt:lpstr>Word.Picture.8</vt:lpstr>
      <vt:lpstr>Paint.Picture</vt:lpstr>
      <vt:lpstr>Word.Picture.8</vt:lpstr>
      <vt:lpstr>Word.Picture.8</vt:lpstr>
      <vt:lpstr>Equation.3</vt:lpstr>
      <vt:lpstr>Equation.DSMT4</vt:lpstr>
      <vt:lpstr>Equation.DSMT4</vt:lpstr>
      <vt:lpstr>Equation.DSMT4</vt:lpstr>
      <vt:lpstr>Equation.DSMT4</vt:lpstr>
      <vt:lpstr>Word.Picture.8</vt:lpstr>
      <vt:lpstr>Equation.DSMT4</vt:lpstr>
      <vt:lpstr>Equation.DSMT4</vt:lpstr>
      <vt:lpstr>Equation.3</vt:lpstr>
      <vt:lpstr>Equation.DSMT4</vt:lpstr>
      <vt:lpstr>Word.Picture.8</vt:lpstr>
      <vt:lpstr>Paint.Picture</vt:lpstr>
      <vt:lpstr>Equation.DSMT4</vt:lpstr>
      <vt:lpstr>Equation.DSMT4</vt:lpstr>
      <vt:lpstr>Equation.DSMT4</vt:lpstr>
      <vt:lpstr>Equation.3</vt:lpstr>
      <vt:lpstr>Equation.3</vt:lpstr>
      <vt:lpstr>Equation.3</vt:lpstr>
      <vt:lpstr>Equation.3</vt:lpstr>
      <vt:lpstr>Equation.3</vt:lpstr>
      <vt:lpstr>Equation.3</vt:lpstr>
      <vt:lpstr>Equation.3</vt:lpstr>
      <vt:lpstr>Equation.DSMT4</vt:lpstr>
      <vt:lpstr>Word.Picture.8</vt:lpstr>
      <vt:lpstr>Word.Picture.8</vt:lpstr>
      <vt:lpstr>Equation.3</vt:lpstr>
      <vt:lpstr>Equation.3</vt:lpstr>
      <vt:lpstr>Paint.Picture</vt:lpstr>
      <vt:lpstr>Equation.3</vt:lpstr>
      <vt:lpstr>Equation.3</vt:lpstr>
      <vt:lpstr>Equation.3</vt:lpstr>
      <vt:lpstr>Equation.3</vt:lpstr>
      <vt:lpstr>Equation.3</vt:lpstr>
      <vt:lpstr>Equation.DSMT4</vt:lpstr>
      <vt:lpstr>Equation.3</vt:lpstr>
      <vt:lpstr>Paint.Picture</vt:lpstr>
      <vt:lpstr>Equation.3</vt:lpstr>
      <vt:lpstr>Equation.3</vt:lpstr>
      <vt:lpstr>Equation.3</vt:lpstr>
      <vt:lpstr>Equation.3</vt:lpstr>
      <vt:lpstr>Equation.3</vt:lpstr>
      <vt:lpstr>Equation.3</vt:lpstr>
      <vt:lpstr>Paint.Picture</vt:lpstr>
      <vt:lpstr>Equation.3</vt:lpstr>
      <vt:lpstr>Equation.DSMT4</vt:lpstr>
      <vt:lpstr>Equation.3</vt:lpstr>
      <vt:lpstr>Equation.3</vt:lpstr>
      <vt:lpstr>Equation.3</vt:lpstr>
      <vt:lpstr>Equation.3</vt:lpstr>
      <vt:lpstr>Equation.3</vt:lpstr>
      <vt:lpstr>Equation.3</vt:lpstr>
      <vt:lpstr>Paint.Picture</vt:lpstr>
      <vt:lpstr>Equation.DSMT4</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施密特触发器的应用</vt:lpstr>
      <vt:lpstr>3 ．单稳态触发器</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公开课开题报告</dc:title>
  <dc:creator>第一PPT模板网-WWW.1PPT.COM</dc:creator>
  <cp:keywords>第一PPT模板网-WWW.1PPT.COM</cp:keywords>
  <cp:lastModifiedBy>刘树波</cp:lastModifiedBy>
  <cp:revision>3311</cp:revision>
  <dcterms:created xsi:type="dcterms:W3CDTF">2016-04-09T13:02:00Z</dcterms:created>
  <dcterms:modified xsi:type="dcterms:W3CDTF">2024-01-11T03:50:02Z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C8CC64630688448B9362187EDA99DB6C_12</vt:lpwstr>
  </property>
</Properties>
</file>