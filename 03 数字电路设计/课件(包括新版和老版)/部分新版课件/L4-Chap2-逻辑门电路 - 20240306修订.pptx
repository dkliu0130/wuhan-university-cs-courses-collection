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48" r:id="rId3"/>
    <p:sldId id="450" r:id="rId5"/>
    <p:sldId id="455" r:id="rId6"/>
    <p:sldId id="451" r:id="rId7"/>
    <p:sldId id="463" r:id="rId8"/>
    <p:sldId id="452" r:id="rId9"/>
    <p:sldId id="454" r:id="rId10"/>
    <p:sldId id="453" r:id="rId11"/>
    <p:sldId id="464" r:id="rId12"/>
    <p:sldId id="465" r:id="rId13"/>
    <p:sldId id="466" r:id="rId14"/>
    <p:sldId id="467" r:id="rId15"/>
    <p:sldId id="468" r:id="rId16"/>
    <p:sldId id="480" r:id="rId17"/>
    <p:sldId id="470" r:id="rId18"/>
    <p:sldId id="495" r:id="rId19"/>
    <p:sldId id="473" r:id="rId20"/>
    <p:sldId id="496" r:id="rId21"/>
    <p:sldId id="474" r:id="rId22"/>
    <p:sldId id="475" r:id="rId23"/>
    <p:sldId id="477" r:id="rId24"/>
    <p:sldId id="478" r:id="rId25"/>
    <p:sldId id="481" r:id="rId26"/>
    <p:sldId id="479" r:id="rId27"/>
    <p:sldId id="482" r:id="rId28"/>
    <p:sldId id="484" r:id="rId29"/>
    <p:sldId id="485" r:id="rId30"/>
    <p:sldId id="486" r:id="rId31"/>
    <p:sldId id="487" r:id="rId32"/>
    <p:sldId id="488" r:id="rId33"/>
    <p:sldId id="489" r:id="rId34"/>
    <p:sldId id="490" r:id="rId35"/>
    <p:sldId id="491" r:id="rId36"/>
    <p:sldId id="492" r:id="rId37"/>
    <p:sldId id="493" r:id="rId38"/>
    <p:sldId id="494" r:id="rId39"/>
    <p:sldId id="497" r:id="rId40"/>
    <p:sldId id="279" r:id="rId41"/>
  </p:sldIdLst>
  <p:sldSz cx="9144000" cy="6858000" type="screen4x3"/>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5" userDrawn="1">
          <p15:clr>
            <a:srgbClr val="A4A3A4"/>
          </p15:clr>
        </p15:guide>
        <p15:guide id="2" pos="2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EAEFF7"/>
    <a:srgbClr val="1F4E79"/>
    <a:srgbClr val="170A8E"/>
    <a:srgbClr val="2B56F5"/>
    <a:srgbClr val="3D74A7"/>
    <a:srgbClr val="CC9900"/>
    <a:srgbClr val="5B9BD5"/>
    <a:srgbClr val="D2DE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56" autoAdjust="0"/>
    <p:restoredTop sz="91422" autoAdjust="0"/>
  </p:normalViewPr>
  <p:slideViewPr>
    <p:cSldViewPr snapToGrid="0" showGuides="1">
      <p:cViewPr varScale="1">
        <p:scale>
          <a:sx n="91" d="100"/>
          <a:sy n="91" d="100"/>
        </p:scale>
        <p:origin x="1372" y="64"/>
      </p:cViewPr>
      <p:guideLst>
        <p:guide orient="horz" pos="2135"/>
        <p:guide pos="2834"/>
      </p:guideLst>
    </p:cSldViewPr>
  </p:slideViewPr>
  <p:notesTextViewPr>
    <p:cViewPr>
      <p:scale>
        <a:sx n="3" d="2"/>
        <a:sy n="3" d="2"/>
      </p:scale>
      <p:origin x="0" y="0"/>
    </p:cViewPr>
  </p:notesTextViewPr>
  <p:sorterViewPr>
    <p:cViewPr>
      <p:scale>
        <a:sx n="91" d="100"/>
        <a:sy n="9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19.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01BD9-4243-4367-977C-650CCA5948F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CFBAA-4F33-4BF6-B348-50D59E4A3B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xml"/><Relationship Id="rId20" Type="http://schemas.openxmlformats.org/officeDocument/2006/relationships/slideLayout" Target="../slideLayouts/slideLayout2.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1.jpe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xml"/><Relationship Id="rId7" Type="http://schemas.openxmlformats.org/officeDocument/2006/relationships/image" Target="../media/image5.wmf"/><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3" Type="http://schemas.openxmlformats.org/officeDocument/2006/relationships/image" Target="../media/image3.wmf"/><Relationship Id="rId2" Type="http://schemas.openxmlformats.org/officeDocument/2006/relationships/oleObject" Target="../embeddings/oleObject1.bin"/><Relationship Id="rId10" Type="http://schemas.openxmlformats.org/officeDocument/2006/relationships/notesSlide" Target="../notesSlides/notesSlide1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vmlDrawing" Target="../drawings/vmlDrawing3.vml"/><Relationship Id="rId6" Type="http://schemas.openxmlformats.org/officeDocument/2006/relationships/slideLayout" Target="../slideLayouts/slideLayout1.xml"/><Relationship Id="rId5" Type="http://schemas.openxmlformats.org/officeDocument/2006/relationships/image" Target="../media/image9.wmf"/><Relationship Id="rId4" Type="http://schemas.openxmlformats.org/officeDocument/2006/relationships/oleObject" Target="../embeddings/oleObject6.bin"/><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vmlDrawing" Target="../drawings/vmlDrawing4.vml"/><Relationship Id="rId4" Type="http://schemas.openxmlformats.org/officeDocument/2006/relationships/slideLayout" Target="../slideLayouts/slideLayout1.xml"/><Relationship Id="rId3" Type="http://schemas.openxmlformats.org/officeDocument/2006/relationships/image" Target="../media/image10.wmf"/><Relationship Id="rId2" Type="http://schemas.openxmlformats.org/officeDocument/2006/relationships/oleObject" Target="../embeddings/oleObject7.bin"/><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vmlDrawing" Target="../drawings/vmlDrawing5.vml"/><Relationship Id="rId4" Type="http://schemas.openxmlformats.org/officeDocument/2006/relationships/slideLayout" Target="../slideLayouts/slideLayout1.xml"/><Relationship Id="rId3"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audio" Target="../media/audio2.wav"/><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vmlDrawing" Target="../drawings/vmlDrawing6.vml"/><Relationship Id="rId4" Type="http://schemas.openxmlformats.org/officeDocument/2006/relationships/slideLayout" Target="../slideLayouts/slideLayout1.xml"/><Relationship Id="rId3"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vmlDrawing" Target="../drawings/vmlDrawing7.vml"/><Relationship Id="rId4" Type="http://schemas.openxmlformats.org/officeDocument/2006/relationships/slideLayout" Target="../slideLayouts/slideLayout1.xml"/><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vmlDrawing" Target="../drawings/vmlDrawing8.vml"/><Relationship Id="rId4" Type="http://schemas.openxmlformats.org/officeDocument/2006/relationships/slideLayout" Target="../slideLayouts/slideLayout1.xml"/><Relationship Id="rId3"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vmlDrawing" Target="../drawings/vmlDrawing9.vml"/><Relationship Id="rId7" Type="http://schemas.openxmlformats.org/officeDocument/2006/relationships/slideLayout" Target="../slideLayouts/slideLayout1.xml"/><Relationship Id="rId6" Type="http://schemas.openxmlformats.org/officeDocument/2006/relationships/audio" Target="../media/audio1.wav"/><Relationship Id="rId5" Type="http://schemas.openxmlformats.org/officeDocument/2006/relationships/image" Target="../media/image16.wmf"/><Relationship Id="rId4" Type="http://schemas.openxmlformats.org/officeDocument/2006/relationships/oleObject" Target="../embeddings/oleObject13.bin"/><Relationship Id="rId3"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vmlDrawing" Target="../drawings/vmlDrawing10.vml"/><Relationship Id="rId6" Type="http://schemas.openxmlformats.org/officeDocument/2006/relationships/slideLayout" Target="../slideLayouts/slideLayout1.xml"/><Relationship Id="rId5" Type="http://schemas.openxmlformats.org/officeDocument/2006/relationships/image" Target="../media/image18.wmf"/><Relationship Id="rId4" Type="http://schemas.openxmlformats.org/officeDocument/2006/relationships/oleObject" Target="../embeddings/oleObject15.bin"/><Relationship Id="rId3"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A_淘宝网chenying0907出品 3"/>
          <p:cNvSpPr/>
          <p:nvPr>
            <p:custDataLst>
              <p:tags r:id="rId1"/>
            </p:custDataLst>
          </p:nvPr>
        </p:nvSpPr>
        <p:spPr>
          <a:xfrm>
            <a:off x="0" y="2059709"/>
            <a:ext cx="233314" cy="291214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PA_淘宝网chenying0907出品 4"/>
          <p:cNvSpPr/>
          <p:nvPr>
            <p:custDataLst>
              <p:tags r:id="rId2"/>
            </p:custDataLst>
          </p:nvPr>
        </p:nvSpPr>
        <p:spPr>
          <a:xfrm>
            <a:off x="5791593" y="2059709"/>
            <a:ext cx="233314" cy="291214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PA_淘宝网chenying0907出品 7"/>
          <p:cNvSpPr/>
          <p:nvPr>
            <p:custDataLst>
              <p:tags r:id="rId3"/>
            </p:custDataLst>
          </p:nvPr>
        </p:nvSpPr>
        <p:spPr>
          <a:xfrm>
            <a:off x="6046707" y="3472713"/>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30" name="PA_直接连接符 9"/>
          <p:cNvCxnSpPr/>
          <p:nvPr>
            <p:custDataLst>
              <p:tags r:id="rId4"/>
            </p:custDataLst>
          </p:nvPr>
        </p:nvCxnSpPr>
        <p:spPr>
          <a:xfrm>
            <a:off x="6024908" y="4971855"/>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PA_淘宝网chenying0907出品 10"/>
          <p:cNvSpPr/>
          <p:nvPr>
            <p:custDataLst>
              <p:tags r:id="rId5"/>
            </p:custDataLst>
          </p:nvPr>
        </p:nvSpPr>
        <p:spPr>
          <a:xfrm>
            <a:off x="6350719" y="3526713"/>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PA_淘宝网chenying0907出品 11"/>
          <p:cNvSpPr/>
          <p:nvPr>
            <p:custDataLst>
              <p:tags r:id="rId6"/>
            </p:custDataLst>
          </p:nvPr>
        </p:nvSpPr>
        <p:spPr>
          <a:xfrm>
            <a:off x="6660738" y="3526713"/>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PA_淘宝网chenying0907出品 12"/>
          <p:cNvSpPr/>
          <p:nvPr>
            <p:custDataLst>
              <p:tags r:id="rId7"/>
            </p:custDataLst>
          </p:nvPr>
        </p:nvSpPr>
        <p:spPr>
          <a:xfrm>
            <a:off x="6965301" y="3553713"/>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PA_淘宝网chenying0907出品 13"/>
          <p:cNvSpPr/>
          <p:nvPr>
            <p:custDataLst>
              <p:tags r:id="rId8"/>
            </p:custDataLst>
          </p:nvPr>
        </p:nvSpPr>
        <p:spPr>
          <a:xfrm>
            <a:off x="7284553" y="3580713"/>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5" name="PA_淘宝网chenying0907出品 14"/>
          <p:cNvSpPr/>
          <p:nvPr>
            <p:custDataLst>
              <p:tags r:id="rId9"/>
            </p:custDataLst>
          </p:nvPr>
        </p:nvSpPr>
        <p:spPr>
          <a:xfrm>
            <a:off x="7601497" y="3607713"/>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PA_淘宝网chenying0907出品 15"/>
          <p:cNvSpPr/>
          <p:nvPr>
            <p:custDataLst>
              <p:tags r:id="rId10"/>
            </p:custDataLst>
          </p:nvPr>
        </p:nvSpPr>
        <p:spPr>
          <a:xfrm rot="20959521">
            <a:off x="8008894" y="3646080"/>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7" name="PA_淘宝网chenying0907出品 16"/>
          <p:cNvSpPr/>
          <p:nvPr>
            <p:custDataLst>
              <p:tags r:id="rId11"/>
            </p:custDataLst>
          </p:nvPr>
        </p:nvSpPr>
        <p:spPr>
          <a:xfrm rot="19779136">
            <a:off x="8519313" y="3677277"/>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38" name="PA_直接连接符 17"/>
          <p:cNvCxnSpPr/>
          <p:nvPr>
            <p:custDataLst>
              <p:tags r:id="rId12"/>
            </p:custDataLst>
          </p:nvPr>
        </p:nvCxnSpPr>
        <p:spPr>
          <a:xfrm>
            <a:off x="233315" y="4971855"/>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9" name="PA_直接连接符 19"/>
          <p:cNvCxnSpPr/>
          <p:nvPr>
            <p:custDataLst>
              <p:tags r:id="rId13"/>
            </p:custDataLst>
          </p:nvPr>
        </p:nvCxnSpPr>
        <p:spPr>
          <a:xfrm>
            <a:off x="233313" y="2054706"/>
            <a:ext cx="5558280"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PA_直接连接符 20"/>
          <p:cNvCxnSpPr/>
          <p:nvPr>
            <p:custDataLst>
              <p:tags r:id="rId14"/>
            </p:custDataLst>
          </p:nvPr>
        </p:nvCxnSpPr>
        <p:spPr>
          <a:xfrm>
            <a:off x="233314" y="4421565"/>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1" name="PA_淘宝网chenying0907出品 21"/>
          <p:cNvSpPr txBox="1"/>
          <p:nvPr>
            <p:custDataLst>
              <p:tags r:id="rId15"/>
            </p:custDataLst>
          </p:nvPr>
        </p:nvSpPr>
        <p:spPr>
          <a:xfrm>
            <a:off x="182766" y="2448048"/>
            <a:ext cx="5725484" cy="784830"/>
          </a:xfrm>
          <a:prstGeom prst="rect">
            <a:avLst/>
          </a:prstGeom>
          <a:noFill/>
        </p:spPr>
        <p:txBody>
          <a:bodyPr wrap="square" rtlCol="0">
            <a:spAutoFit/>
          </a:bodyPr>
          <a:lstStyle/>
          <a:p>
            <a:pPr algn="ctr"/>
            <a:r>
              <a:rPr lang="zh-CN" altLang="en-US" sz="4500" b="1" dirty="0">
                <a:solidFill>
                  <a:schemeClr val="accent1">
                    <a:lumMod val="50000"/>
                  </a:schemeClr>
                </a:solidFill>
                <a:latin typeface="微软雅黑" panose="020B0503020204020204" pitchFamily="34" charset="-122"/>
                <a:ea typeface="微软雅黑" panose="020B0503020204020204" pitchFamily="34" charset="-122"/>
              </a:rPr>
              <a:t>第二章  数字技术基础</a:t>
            </a:r>
            <a:endParaRPr lang="zh-CN" altLang="en-US" sz="45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43" name="PA_淘宝网chenying0907出品 23"/>
          <p:cNvSpPr txBox="1"/>
          <p:nvPr>
            <p:custDataLst>
              <p:tags r:id="rId16"/>
            </p:custDataLst>
          </p:nvPr>
        </p:nvSpPr>
        <p:spPr>
          <a:xfrm>
            <a:off x="1072234" y="4524289"/>
            <a:ext cx="2269103"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武汉大学计算机学院</a:t>
            </a:r>
            <a:endParaRPr lang="zh-CN" altLang="en-US" b="1" dirty="0">
              <a:latin typeface="微软雅黑" panose="020B0503020204020204" pitchFamily="34" charset="-122"/>
              <a:ea typeface="微软雅黑" panose="020B0503020204020204" pitchFamily="34" charset="-122"/>
            </a:endParaRPr>
          </a:p>
        </p:txBody>
      </p:sp>
      <p:sp>
        <p:nvSpPr>
          <p:cNvPr id="44" name="PA_淘宝网chenying0907出品 25"/>
          <p:cNvSpPr txBox="1"/>
          <p:nvPr>
            <p:custDataLst>
              <p:tags r:id="rId17"/>
            </p:custDataLst>
          </p:nvPr>
        </p:nvSpPr>
        <p:spPr>
          <a:xfrm>
            <a:off x="920433" y="265886"/>
            <a:ext cx="2085680" cy="646331"/>
          </a:xfrm>
          <a:prstGeom prst="rect">
            <a:avLst/>
          </a:prstGeom>
          <a:noFill/>
        </p:spPr>
        <p:txBody>
          <a:bodyPr wrap="square" rtlCol="0">
            <a:spAutoFit/>
          </a:bodyPr>
          <a:lstStyle/>
          <a:p>
            <a:r>
              <a:rPr lang="zh-CN" altLang="en-US" b="1" dirty="0">
                <a:latin typeface="华文行楷" panose="02010800040101010101" pitchFamily="2" charset="-122"/>
                <a:ea typeface="华文行楷" panose="02010800040101010101" pitchFamily="2" charset="-122"/>
              </a:rPr>
              <a:t>     武汉大学</a:t>
            </a:r>
            <a:endParaRPr lang="en-US" altLang="zh-CN" b="1" dirty="0">
              <a:latin typeface="华文行楷" panose="02010800040101010101" pitchFamily="2" charset="-122"/>
              <a:ea typeface="华文行楷" panose="02010800040101010101" pitchFamily="2" charset="-122"/>
            </a:endParaRPr>
          </a:p>
          <a:p>
            <a:r>
              <a:rPr lang="en-US" altLang="zh-CN" b="1" dirty="0">
                <a:latin typeface="华文行楷" panose="02010800040101010101" pitchFamily="2" charset="-122"/>
                <a:ea typeface="华文行楷" panose="02010800040101010101" pitchFamily="2" charset="-122"/>
              </a:rPr>
              <a:t>   Wuhan University</a:t>
            </a:r>
            <a:endParaRPr lang="zh-CN" altLang="en-US" b="1" dirty="0">
              <a:latin typeface="华文行楷" panose="02010800040101010101" pitchFamily="2" charset="-122"/>
              <a:ea typeface="华文行楷" panose="02010800040101010101" pitchFamily="2" charset="-122"/>
            </a:endParaRPr>
          </a:p>
        </p:txBody>
      </p:sp>
      <p:pic>
        <p:nvPicPr>
          <p:cNvPr id="45" name="图片 44"/>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0" y="0"/>
            <a:ext cx="920433" cy="920433"/>
          </a:xfrm>
          <a:prstGeom prst="rect">
            <a:avLst/>
          </a:prstGeom>
        </p:spPr>
      </p:pic>
      <p:sp>
        <p:nvSpPr>
          <p:cNvPr id="46" name="PA_淘宝网chenying0907出品 22"/>
          <p:cNvSpPr txBox="1"/>
          <p:nvPr>
            <p:custDataLst>
              <p:tags r:id="rId19"/>
            </p:custDataLst>
          </p:nvPr>
        </p:nvSpPr>
        <p:spPr>
          <a:xfrm>
            <a:off x="3338526" y="4524288"/>
            <a:ext cx="2480229" cy="368300"/>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sym typeface="+mn-ea"/>
              </a:rPr>
              <a:t>2023-2024</a:t>
            </a:r>
            <a:r>
              <a:rPr lang="zh-CN" altLang="en-US" sz="1800" b="1">
                <a:latin typeface="微软雅黑" panose="020B0503020204020204" pitchFamily="34" charset="-122"/>
                <a:ea typeface="微软雅黑" panose="020B0503020204020204" pitchFamily="34" charset="-122"/>
              </a:rPr>
              <a:t>第二</a:t>
            </a:r>
            <a:r>
              <a:rPr lang="zh-CN" altLang="en-US" b="1">
                <a:latin typeface="微软雅黑" panose="020B0503020204020204" pitchFamily="34" charset="-122"/>
                <a:ea typeface="微软雅黑" panose="020B0503020204020204" pitchFamily="34" charset="-122"/>
              </a:rPr>
              <a:t>学期</a:t>
            </a:r>
            <a:endParaRPr lang="zh-CN" altLang="en-US" b="1"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1088501" y="3472713"/>
            <a:ext cx="3524416" cy="584775"/>
          </a:xfrm>
          <a:prstGeom prst="rect">
            <a:avLst/>
          </a:prstGeom>
          <a:noFill/>
        </p:spPr>
        <p:txBody>
          <a:bodyPr wrap="square" rtlCol="0">
            <a:spAutoFit/>
          </a:bodyPr>
          <a:lstStyle/>
          <a:p>
            <a:r>
              <a:rPr lang="en-US" altLang="zh-CN" sz="3200" b="1" dirty="0"/>
              <a:t>2.4  </a:t>
            </a:r>
            <a:r>
              <a:rPr lang="zh-CN" altLang="en-US" sz="3200" b="1" dirty="0"/>
              <a:t>逻辑门电路</a:t>
            </a:r>
            <a:endParaRPr lang="zh-CN" altLang="en-US"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网chenying0907出品 10"/>
          <p:cNvSpPr txBox="1"/>
          <p:nvPr/>
        </p:nvSpPr>
        <p:spPr>
          <a:xfrm>
            <a:off x="950159" y="3078790"/>
            <a:ext cx="2075207" cy="892552"/>
          </a:xfrm>
          <a:prstGeom prst="rect">
            <a:avLst/>
          </a:prstGeom>
          <a:noFill/>
        </p:spPr>
        <p:txBody>
          <a:bodyPr wrap="square" rtlCol="0">
            <a:spAutoFit/>
          </a:bodyPr>
          <a:lstStyle/>
          <a:p>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主要内容</a:t>
            </a:r>
            <a:r>
              <a:rPr lang="en-US" altLang="zh-CN" sz="1600" b="1" dirty="0">
                <a:solidFill>
                  <a:schemeClr val="accent1">
                    <a:lumMod val="50000"/>
                  </a:schemeClr>
                </a:solidFill>
              </a:rPr>
              <a:t> Main Content</a:t>
            </a:r>
            <a:endParaRPr lang="zh-CN" altLang="en-US" sz="1600" dirty="0">
              <a:solidFill>
                <a:schemeClr val="accent1">
                  <a:lumMod val="50000"/>
                </a:schemeClr>
              </a:solidFill>
            </a:endParaRPr>
          </a:p>
        </p:txBody>
      </p:sp>
      <p:sp>
        <p:nvSpPr>
          <p:cNvPr id="12" name="淘宝网chenying0907出品 11"/>
          <p:cNvSpPr/>
          <p:nvPr/>
        </p:nvSpPr>
        <p:spPr>
          <a:xfrm>
            <a:off x="3025365" y="0"/>
            <a:ext cx="611863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025365" y="39481"/>
            <a:ext cx="2394626" cy="19630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40121" y="4809438"/>
            <a:ext cx="2303880" cy="20485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379107" y="1637584"/>
            <a:ext cx="2681424"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概述</a:t>
            </a:r>
            <a:endParaRPr lang="zh-CN" altLang="en-US" dirty="0">
              <a:solidFill>
                <a:schemeClr val="bg1"/>
              </a:solidFill>
            </a:endParaRPr>
          </a:p>
        </p:txBody>
      </p:sp>
      <p:sp>
        <p:nvSpPr>
          <p:cNvPr id="26" name="淘宝网chenying0907出品 25"/>
          <p:cNvSpPr txBox="1"/>
          <p:nvPr/>
        </p:nvSpPr>
        <p:spPr>
          <a:xfrm>
            <a:off x="4379107" y="2447277"/>
            <a:ext cx="2481391"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TTL</a:t>
            </a:r>
            <a:r>
              <a:rPr lang="zh-CN" altLang="en-US" dirty="0"/>
              <a:t>与非门</a:t>
            </a:r>
            <a:endParaRPr lang="zh-CN" altLang="en-US" dirty="0"/>
          </a:p>
        </p:txBody>
      </p:sp>
      <p:sp>
        <p:nvSpPr>
          <p:cNvPr id="30" name="淘宝网chenying0907出品 29"/>
          <p:cNvSpPr txBox="1"/>
          <p:nvPr/>
        </p:nvSpPr>
        <p:spPr>
          <a:xfrm>
            <a:off x="4379107" y="3256970"/>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集电极开路门</a:t>
            </a:r>
            <a:endParaRPr lang="zh-CN" altLang="en-US" dirty="0"/>
          </a:p>
        </p:txBody>
      </p:sp>
      <p:sp>
        <p:nvSpPr>
          <p:cNvPr id="22" name="淘宝网chenying0907出品 25"/>
          <p:cNvSpPr txBox="1"/>
          <p:nvPr/>
        </p:nvSpPr>
        <p:spPr>
          <a:xfrm>
            <a:off x="4421969" y="4876356"/>
            <a:ext cx="3973093"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CMOS</a:t>
            </a:r>
            <a:r>
              <a:rPr lang="zh-CN" altLang="en-US" dirty="0"/>
              <a:t>反相器</a:t>
            </a:r>
            <a:endParaRPr lang="zh-CN" altLang="en-US" dirty="0"/>
          </a:p>
        </p:txBody>
      </p:sp>
      <p:sp>
        <p:nvSpPr>
          <p:cNvPr id="18" name="淘宝网chenying0907出品 29"/>
          <p:cNvSpPr txBox="1"/>
          <p:nvPr/>
        </p:nvSpPr>
        <p:spPr>
          <a:xfrm>
            <a:off x="4421969" y="4066663"/>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三态门</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12" name="Text Box 3"/>
          <p:cNvSpPr txBox="1">
            <a:spLocks noChangeArrowheads="1"/>
          </p:cNvSpPr>
          <p:nvPr/>
        </p:nvSpPr>
        <p:spPr bwMode="auto">
          <a:xfrm>
            <a:off x="1949391" y="1816611"/>
            <a:ext cx="6737409" cy="1769715"/>
          </a:xfrm>
          <a:prstGeom prst="rect">
            <a:avLst/>
          </a:prstGeom>
          <a:noFill/>
          <a:ln w="38100">
            <a:noFill/>
            <a:miter lim="800000"/>
          </a:ln>
        </p:spPr>
        <p:txBody>
          <a:bodyPr wrap="square">
            <a:spAutoFit/>
          </a:bodyPr>
          <a:lstStyle/>
          <a:p>
            <a:pPr algn="just">
              <a:spcBef>
                <a:spcPct val="50000"/>
              </a:spcBef>
            </a:pPr>
            <a:r>
              <a:rPr kumimoji="1" lang="zh-CN" altLang="en-US" sz="3200" b="1" dirty="0">
                <a:solidFill>
                  <a:srgbClr val="0033CC"/>
                </a:solidFill>
                <a:latin typeface="黑体" panose="02010609060101010101" pitchFamily="49" charset="-122"/>
                <a:ea typeface="黑体" panose="02010609060101010101" pitchFamily="49" charset="-122"/>
              </a:rPr>
              <a:t>分立元件门电路</a:t>
            </a:r>
            <a:endParaRPr kumimoji="1" lang="en-US" altLang="zh-CN" sz="3200" b="1" dirty="0">
              <a:solidFill>
                <a:srgbClr val="0033CC"/>
              </a:solidFill>
              <a:latin typeface="黑体" panose="02010609060101010101" pitchFamily="49" charset="-122"/>
              <a:ea typeface="黑体" panose="02010609060101010101" pitchFamily="49" charset="-122"/>
            </a:endParaRPr>
          </a:p>
          <a:p>
            <a:pPr algn="just">
              <a:spcBef>
                <a:spcPts val="600"/>
              </a:spcBef>
            </a:pPr>
            <a:r>
              <a:rPr kumimoji="1" lang="zh-CN" altLang="en-US" sz="2400" b="1" dirty="0">
                <a:latin typeface="黑体" panose="02010609060101010101" pitchFamily="49" charset="-122"/>
                <a:ea typeface="黑体" panose="02010609060101010101" pitchFamily="49" charset="-122"/>
              </a:rPr>
              <a:t>由分离的晶体管、 电阻等元件通过导线或印刷电路连接而成。体积大，工作不可靠。需要不同电源。各种门的输入、输出电平不匹配。</a:t>
            </a:r>
            <a:endParaRPr kumimoji="1" lang="zh-CN" altLang="en-US" sz="2400" b="1" dirty="0">
              <a:solidFill>
                <a:srgbClr val="0033CC"/>
              </a:solidFill>
              <a:latin typeface="黑体" panose="02010609060101010101" pitchFamily="49" charset="-122"/>
              <a:ea typeface="黑体" panose="02010609060101010101" pitchFamily="49" charset="-122"/>
            </a:endParaRPr>
          </a:p>
        </p:txBody>
      </p:sp>
      <p:grpSp>
        <p:nvGrpSpPr>
          <p:cNvPr id="2" name="组合 1"/>
          <p:cNvGrpSpPr/>
          <p:nvPr/>
        </p:nvGrpSpPr>
        <p:grpSpPr>
          <a:xfrm>
            <a:off x="169955" y="2122436"/>
            <a:ext cx="1779436" cy="2413938"/>
            <a:chOff x="169955" y="2122436"/>
            <a:chExt cx="1779436" cy="2413938"/>
          </a:xfrm>
        </p:grpSpPr>
        <p:sp>
          <p:nvSpPr>
            <p:cNvPr id="11" name="Text Box 2"/>
            <p:cNvSpPr txBox="1">
              <a:spLocks noChangeArrowheads="1"/>
            </p:cNvSpPr>
            <p:nvPr/>
          </p:nvSpPr>
          <p:spPr bwMode="auto">
            <a:xfrm>
              <a:off x="169955" y="2915652"/>
              <a:ext cx="1480383" cy="1077218"/>
            </a:xfrm>
            <a:prstGeom prst="rect">
              <a:avLst/>
            </a:prstGeom>
            <a:noFill/>
            <a:ln w="38100">
              <a:noFill/>
              <a:miter lim="800000"/>
            </a:ln>
          </p:spPr>
          <p:txBody>
            <a:bodyPr wrap="square">
              <a:spAutoFit/>
            </a:bodyPr>
            <a:lstStyle/>
            <a:p>
              <a:pPr algn="ctr"/>
              <a:r>
                <a:rPr kumimoji="1" lang="zh-CN" altLang="en-US" sz="3200" b="1" dirty="0">
                  <a:latin typeface="黑体" panose="02010609060101010101" pitchFamily="49" charset="-122"/>
                  <a:ea typeface="黑体" panose="02010609060101010101" pitchFamily="49" charset="-122"/>
                </a:rPr>
                <a:t>门电路</a:t>
              </a:r>
              <a:endParaRPr kumimoji="1" lang="en-US" altLang="zh-CN" sz="3200" b="1" dirty="0">
                <a:latin typeface="黑体" panose="02010609060101010101" pitchFamily="49" charset="-122"/>
                <a:ea typeface="黑体" panose="02010609060101010101" pitchFamily="49" charset="-122"/>
              </a:endParaRPr>
            </a:p>
            <a:p>
              <a:pPr algn="ctr"/>
              <a:r>
                <a:rPr kumimoji="1" lang="zh-CN" altLang="en-US" sz="3200" b="1" dirty="0">
                  <a:latin typeface="黑体" panose="02010609060101010101" pitchFamily="49" charset="-122"/>
                  <a:ea typeface="黑体" panose="02010609060101010101" pitchFamily="49" charset="-122"/>
                </a:rPr>
                <a:t>分类</a:t>
              </a:r>
              <a:endParaRPr kumimoji="1" lang="zh-CN" altLang="en-US" sz="3200" b="1" dirty="0">
                <a:latin typeface="黑体" panose="02010609060101010101" pitchFamily="49" charset="-122"/>
                <a:ea typeface="黑体" panose="02010609060101010101" pitchFamily="49" charset="-122"/>
              </a:endParaRPr>
            </a:p>
          </p:txBody>
        </p:sp>
        <p:sp>
          <p:nvSpPr>
            <p:cNvPr id="13" name="AutoShape 4"/>
            <p:cNvSpPr/>
            <p:nvPr/>
          </p:nvSpPr>
          <p:spPr bwMode="auto">
            <a:xfrm>
              <a:off x="1643498" y="2122436"/>
              <a:ext cx="305893" cy="2413938"/>
            </a:xfrm>
            <a:prstGeom prst="leftBrace">
              <a:avLst>
                <a:gd name="adj1" fmla="val 38226"/>
                <a:gd name="adj2" fmla="val 51667"/>
              </a:avLst>
            </a:prstGeom>
            <a:noFill/>
            <a:ln w="57150">
              <a:solidFill>
                <a:srgbClr val="0033CC"/>
              </a:solidFill>
              <a:round/>
            </a:ln>
          </p:spPr>
          <p:txBody>
            <a:bodyPr wrap="none" anchor="ctr"/>
            <a:lstStyle/>
            <a:p>
              <a:endParaRPr lang="zh-CN" altLang="en-US"/>
            </a:p>
          </p:txBody>
        </p:sp>
      </p:grpSp>
      <p:sp>
        <p:nvSpPr>
          <p:cNvPr id="41" name="Text Box 29"/>
          <p:cNvSpPr txBox="1">
            <a:spLocks noChangeArrowheads="1"/>
          </p:cNvSpPr>
          <p:nvPr/>
        </p:nvSpPr>
        <p:spPr bwMode="auto">
          <a:xfrm>
            <a:off x="1962180" y="4215220"/>
            <a:ext cx="6724620" cy="1991314"/>
          </a:xfrm>
          <a:prstGeom prst="rect">
            <a:avLst/>
          </a:prstGeom>
          <a:noFill/>
          <a:ln w="38100">
            <a:noFill/>
            <a:miter lim="800000"/>
          </a:ln>
        </p:spPr>
        <p:txBody>
          <a:bodyPr wrap="square">
            <a:spAutoFit/>
          </a:bodyPr>
          <a:lstStyle/>
          <a:p>
            <a:pPr>
              <a:spcBef>
                <a:spcPct val="50000"/>
              </a:spcBef>
            </a:pPr>
            <a:r>
              <a:rPr kumimoji="1" lang="zh-CN" altLang="en-US" sz="3200" b="1" dirty="0">
                <a:solidFill>
                  <a:srgbClr val="0033CC"/>
                </a:solidFill>
                <a:latin typeface="黑体" panose="02010609060101010101" pitchFamily="49" charset="-122"/>
                <a:ea typeface="黑体" panose="02010609060101010101" pitchFamily="49" charset="-122"/>
              </a:rPr>
              <a:t>集成门电路</a:t>
            </a:r>
            <a:endParaRPr kumimoji="1" lang="en-US" altLang="zh-CN" sz="3200" b="1" dirty="0">
              <a:solidFill>
                <a:srgbClr val="0033CC"/>
              </a:solidFill>
              <a:latin typeface="黑体" panose="02010609060101010101" pitchFamily="49" charset="-122"/>
              <a:ea typeface="黑体" panose="02010609060101010101" pitchFamily="49" charset="-122"/>
            </a:endParaRPr>
          </a:p>
          <a:p>
            <a:pPr algn="just">
              <a:lnSpc>
                <a:spcPct val="120000"/>
              </a:lnSpc>
              <a:spcBef>
                <a:spcPts val="600"/>
              </a:spcBef>
            </a:pPr>
            <a:r>
              <a:rPr kumimoji="1" lang="zh-CN" altLang="en-US" sz="2400" b="1" dirty="0">
                <a:latin typeface="黑体" panose="02010609060101010101" pitchFamily="49" charset="-122"/>
                <a:ea typeface="黑体" panose="02010609060101010101" pitchFamily="49" charset="-122"/>
              </a:rPr>
              <a:t>在一块半导体基片上制作出构成完整逻辑电路所需的全部元件和连线。具有体积小、可靠性高、速度快而且价格便宜的优点。</a:t>
            </a:r>
            <a:endParaRPr kumimoji="1" lang="zh-CN" altLang="en-US" sz="2400" b="1" dirty="0">
              <a:latin typeface="黑体" panose="02010609060101010101" pitchFamily="49" charset="-122"/>
              <a:ea typeface="黑体" panose="02010609060101010101" pitchFamily="49" charset="-122"/>
            </a:endParaRPr>
          </a:p>
        </p:txBody>
      </p:sp>
      <p:sp>
        <p:nvSpPr>
          <p:cNvPr id="9" name="Text Box 2"/>
          <p:cNvSpPr txBox="1">
            <a:spLocks noChangeArrowheads="1"/>
          </p:cNvSpPr>
          <p:nvPr/>
        </p:nvSpPr>
        <p:spPr bwMode="auto">
          <a:xfrm>
            <a:off x="283947" y="756918"/>
            <a:ext cx="8518239" cy="954107"/>
          </a:xfrm>
          <a:prstGeom prst="rect">
            <a:avLst/>
          </a:prstGeom>
          <a:noFill/>
          <a:ln w="9525">
            <a:noFill/>
            <a:miter lim="800000"/>
          </a:ln>
        </p:spPr>
        <p:txBody>
          <a:bodyPr wrap="square">
            <a:spAutoFit/>
          </a:bodyPr>
          <a:lstStyle/>
          <a:p>
            <a:pPr algn="just" fontAlgn="base">
              <a:spcBef>
                <a:spcPct val="50000"/>
              </a:spcBef>
              <a:spcAft>
                <a:spcPct val="0"/>
              </a:spcAft>
            </a:pPr>
            <a:r>
              <a:rPr kumimoji="1" lang="zh-CN" altLang="en-US" sz="2800" b="1" dirty="0">
                <a:solidFill>
                  <a:srgbClr val="0000FF"/>
                </a:solidFill>
                <a:latin typeface="黑体" panose="02010609060101010101" pitchFamily="49" charset="-122"/>
                <a:ea typeface="黑体" panose="02010609060101010101" pitchFamily="49" charset="-122"/>
              </a:rPr>
              <a:t>门电路</a:t>
            </a:r>
            <a:r>
              <a:rPr kumimoji="1" lang="zh-CN" altLang="en-US" sz="2800" b="1" dirty="0">
                <a:solidFill>
                  <a:srgbClr val="000000"/>
                </a:solidFill>
                <a:latin typeface="黑体" panose="02010609060101010101" pitchFamily="49" charset="-122"/>
                <a:ea typeface="黑体" panose="02010609060101010101" pitchFamily="49" charset="-122"/>
              </a:rPr>
              <a:t>是实现</a:t>
            </a:r>
            <a:r>
              <a:rPr kumimoji="1" lang="zh-CN" altLang="en-US" sz="2800" b="1" dirty="0">
                <a:solidFill>
                  <a:srgbClr val="FF0000"/>
                </a:solidFill>
                <a:latin typeface="黑体" panose="02010609060101010101" pitchFamily="49" charset="-122"/>
                <a:ea typeface="黑体" panose="02010609060101010101" pitchFamily="49" charset="-122"/>
              </a:rPr>
              <a:t>逻辑运算</a:t>
            </a:r>
            <a:r>
              <a:rPr kumimoji="1" lang="zh-CN" altLang="en-US" sz="2800" b="1" dirty="0">
                <a:solidFill>
                  <a:srgbClr val="000000"/>
                </a:solidFill>
                <a:latin typeface="黑体" panose="02010609060101010101" pitchFamily="49" charset="-122"/>
                <a:ea typeface="黑体" panose="02010609060101010101" pitchFamily="49" charset="-122"/>
              </a:rPr>
              <a:t>的电子电路，与基本逻辑关系相对应。</a:t>
            </a:r>
            <a:endParaRPr kumimoji="1" lang="zh-CN" altLang="en-US" sz="28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vertical)">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4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11" name="Text Box 26"/>
          <p:cNvSpPr txBox="1">
            <a:spLocks noChangeArrowheads="1"/>
          </p:cNvSpPr>
          <p:nvPr/>
        </p:nvSpPr>
        <p:spPr bwMode="auto">
          <a:xfrm>
            <a:off x="228138" y="2977254"/>
            <a:ext cx="1860044" cy="1077218"/>
          </a:xfrm>
          <a:prstGeom prst="rect">
            <a:avLst/>
          </a:prstGeom>
          <a:noFill/>
          <a:ln w="38100">
            <a:noFill/>
            <a:miter lim="800000"/>
          </a:ln>
        </p:spPr>
        <p:txBody>
          <a:bodyPr wrap="square">
            <a:spAutoFit/>
          </a:bodyPr>
          <a:lstStyle>
            <a:defPPr>
              <a:defRPr lang="zh-CN"/>
            </a:defPPr>
            <a:lvl1pPr>
              <a:spcBef>
                <a:spcPct val="50000"/>
              </a:spcBef>
              <a:defRPr kumimoji="1" sz="2800" b="1">
                <a:solidFill>
                  <a:srgbClr val="0000FF"/>
                </a:solidFill>
                <a:latin typeface="黑体" panose="02010609060101010101" pitchFamily="49" charset="-122"/>
                <a:ea typeface="黑体" panose="02010609060101010101" pitchFamily="49" charset="-122"/>
              </a:defRPr>
            </a:lvl1pPr>
          </a:lstStyle>
          <a:p>
            <a:pPr algn="ctr"/>
            <a:r>
              <a:rPr lang="zh-CN" altLang="en-US" sz="3200" dirty="0"/>
              <a:t>集成逻辑门电路</a:t>
            </a:r>
            <a:endParaRPr lang="zh-CN" altLang="en-US" sz="3200" dirty="0"/>
          </a:p>
        </p:txBody>
      </p:sp>
      <p:sp>
        <p:nvSpPr>
          <p:cNvPr id="13" name="AutoShape 5"/>
          <p:cNvSpPr/>
          <p:nvPr/>
        </p:nvSpPr>
        <p:spPr bwMode="auto">
          <a:xfrm>
            <a:off x="2119378" y="1751904"/>
            <a:ext cx="354451" cy="3431969"/>
          </a:xfrm>
          <a:prstGeom prst="leftBrace">
            <a:avLst>
              <a:gd name="adj1" fmla="val 44335"/>
              <a:gd name="adj2" fmla="val 50000"/>
            </a:avLst>
          </a:prstGeom>
          <a:noFill/>
          <a:ln w="38100">
            <a:solidFill>
              <a:schemeClr val="tx1"/>
            </a:solidFill>
            <a:round/>
          </a:ln>
        </p:spPr>
        <p:txBody>
          <a:bodyPr wrap="none" anchor="ctr"/>
          <a:lstStyle/>
          <a:p>
            <a:endParaRPr lang="zh-CN" altLang="en-US"/>
          </a:p>
        </p:txBody>
      </p:sp>
      <p:sp>
        <p:nvSpPr>
          <p:cNvPr id="14" name="Text Box 52"/>
          <p:cNvSpPr txBox="1">
            <a:spLocks noChangeArrowheads="1"/>
          </p:cNvSpPr>
          <p:nvPr/>
        </p:nvSpPr>
        <p:spPr bwMode="auto">
          <a:xfrm>
            <a:off x="2686331" y="1490294"/>
            <a:ext cx="4554954" cy="523220"/>
          </a:xfrm>
          <a:prstGeom prst="rect">
            <a:avLst/>
          </a:prstGeom>
          <a:noFill/>
          <a:ln w="38100">
            <a:noFill/>
            <a:miter lim="800000"/>
          </a:ln>
        </p:spPr>
        <p:txBody>
          <a:bodyPr wrap="square">
            <a:spAutoFit/>
          </a:bodyPr>
          <a:lstStyle/>
          <a:p>
            <a:pPr>
              <a:spcBef>
                <a:spcPct val="50000"/>
              </a:spcBef>
            </a:pPr>
            <a:r>
              <a:rPr kumimoji="1" lang="zh-CN" altLang="en-US" sz="2800" b="1" dirty="0">
                <a:latin typeface="Times New Roman" panose="02020603050405020304" pitchFamily="18" charset="0"/>
                <a:ea typeface="长城楷体" pitchFamily="49" charset="-122"/>
              </a:rPr>
              <a:t>二极管</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晶体管电路</a:t>
            </a:r>
            <a:r>
              <a:rPr kumimoji="1" lang="en-US" altLang="zh-CN" sz="2800" b="1" dirty="0">
                <a:latin typeface="Times New Roman" panose="02020603050405020304" pitchFamily="18" charset="0"/>
                <a:ea typeface="长城楷体" pitchFamily="49" charset="-122"/>
              </a:rPr>
              <a:t>DTL</a:t>
            </a:r>
            <a:endParaRPr kumimoji="1" lang="zh-CN" altLang="en-US" sz="2800" b="1" dirty="0">
              <a:latin typeface="Times New Roman" panose="02020603050405020304" pitchFamily="18" charset="0"/>
              <a:ea typeface="长城楷体" pitchFamily="49" charset="-122"/>
            </a:endParaRPr>
          </a:p>
        </p:txBody>
      </p:sp>
      <p:sp>
        <p:nvSpPr>
          <p:cNvPr id="15" name="Text Box 52"/>
          <p:cNvSpPr txBox="1">
            <a:spLocks noChangeArrowheads="1"/>
          </p:cNvSpPr>
          <p:nvPr/>
        </p:nvSpPr>
        <p:spPr bwMode="auto">
          <a:xfrm>
            <a:off x="2686330" y="2263792"/>
            <a:ext cx="4112821" cy="523220"/>
          </a:xfrm>
          <a:prstGeom prst="rect">
            <a:avLst/>
          </a:prstGeom>
          <a:noFill/>
          <a:ln w="31750">
            <a:solidFill>
              <a:srgbClr val="FF0000"/>
            </a:solidFill>
            <a:miter lim="800000"/>
          </a:ln>
        </p:spPr>
        <p:txBody>
          <a:bodyPr wrap="square">
            <a:spAutoFit/>
          </a:bodyPr>
          <a:lstStyle/>
          <a:p>
            <a:pPr>
              <a:spcBef>
                <a:spcPct val="50000"/>
              </a:spcBef>
            </a:pPr>
            <a:r>
              <a:rPr kumimoji="1" lang="zh-CN" altLang="en-US" sz="2800" b="1" dirty="0">
                <a:latin typeface="Times New Roman" panose="02020603050405020304" pitchFamily="18" charset="0"/>
                <a:ea typeface="长城楷体" pitchFamily="49" charset="-122"/>
              </a:rPr>
              <a:t>晶体管</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晶体管电路</a:t>
            </a:r>
            <a:r>
              <a:rPr kumimoji="1" lang="en-US" altLang="zh-CN" sz="2800" b="1" dirty="0">
                <a:latin typeface="Times New Roman" panose="02020603050405020304" pitchFamily="18" charset="0"/>
                <a:ea typeface="长城楷体" pitchFamily="49" charset="-122"/>
              </a:rPr>
              <a:t>TTL</a:t>
            </a:r>
            <a:endParaRPr kumimoji="1" lang="zh-CN" altLang="en-US" sz="2800" b="1" dirty="0">
              <a:latin typeface="Times New Roman" panose="02020603050405020304" pitchFamily="18" charset="0"/>
              <a:ea typeface="长城楷体" pitchFamily="49" charset="-122"/>
            </a:endParaRPr>
          </a:p>
        </p:txBody>
      </p:sp>
      <p:sp>
        <p:nvSpPr>
          <p:cNvPr id="16" name="Text Box 52"/>
          <p:cNvSpPr txBox="1">
            <a:spLocks noChangeArrowheads="1"/>
          </p:cNvSpPr>
          <p:nvPr/>
        </p:nvSpPr>
        <p:spPr bwMode="auto">
          <a:xfrm>
            <a:off x="2686331" y="3083360"/>
            <a:ext cx="4554954" cy="523220"/>
          </a:xfrm>
          <a:prstGeom prst="rect">
            <a:avLst/>
          </a:prstGeom>
          <a:noFill/>
          <a:ln w="38100">
            <a:noFill/>
            <a:miter lim="800000"/>
          </a:ln>
        </p:spPr>
        <p:txBody>
          <a:bodyPr wrap="square">
            <a:spAutoFit/>
          </a:bodyPr>
          <a:lstStyle/>
          <a:p>
            <a:pPr>
              <a:spcBef>
                <a:spcPct val="50000"/>
              </a:spcBef>
            </a:pPr>
            <a:r>
              <a:rPr kumimoji="1" lang="zh-CN" altLang="en-US" sz="2800" b="1" dirty="0">
                <a:latin typeface="Times New Roman" panose="02020603050405020304" pitchFamily="18" charset="0"/>
                <a:ea typeface="长城楷体" pitchFamily="49" charset="-122"/>
              </a:rPr>
              <a:t>发射极耦合电路</a:t>
            </a:r>
            <a:r>
              <a:rPr kumimoji="1" lang="en-US" altLang="zh-CN" sz="2800" b="1" dirty="0">
                <a:latin typeface="Times New Roman" panose="02020603050405020304" pitchFamily="18" charset="0"/>
                <a:ea typeface="长城楷体" pitchFamily="49" charset="-122"/>
              </a:rPr>
              <a:t>ECL</a:t>
            </a:r>
            <a:endParaRPr kumimoji="1" lang="zh-CN" altLang="en-US" sz="2800" b="1" dirty="0">
              <a:latin typeface="Times New Roman" panose="02020603050405020304" pitchFamily="18" charset="0"/>
              <a:ea typeface="长城楷体" pitchFamily="49" charset="-122"/>
            </a:endParaRPr>
          </a:p>
        </p:txBody>
      </p:sp>
      <p:sp>
        <p:nvSpPr>
          <p:cNvPr id="17" name="Text Box 52"/>
          <p:cNvSpPr txBox="1">
            <a:spLocks noChangeArrowheads="1"/>
          </p:cNvSpPr>
          <p:nvPr/>
        </p:nvSpPr>
        <p:spPr bwMode="auto">
          <a:xfrm>
            <a:off x="2686331" y="3940929"/>
            <a:ext cx="5117756" cy="523220"/>
          </a:xfrm>
          <a:prstGeom prst="rect">
            <a:avLst/>
          </a:prstGeom>
          <a:noFill/>
          <a:ln w="38100">
            <a:noFill/>
            <a:miter lim="800000"/>
          </a:ln>
        </p:spPr>
        <p:txBody>
          <a:bodyPr wrap="square">
            <a:spAutoFit/>
          </a:bodyPr>
          <a:lstStyle/>
          <a:p>
            <a:pPr>
              <a:spcBef>
                <a:spcPct val="50000"/>
              </a:spcBef>
            </a:pPr>
            <a:r>
              <a:rPr kumimoji="1" lang="zh-CN" altLang="en-US" sz="2800" b="1" dirty="0">
                <a:latin typeface="Times New Roman" panose="02020603050405020304" pitchFamily="18" charset="0"/>
                <a:ea typeface="长城楷体" pitchFamily="49" charset="-122"/>
              </a:rPr>
              <a:t>金属</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氧化物</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半导体电路</a:t>
            </a:r>
            <a:r>
              <a:rPr kumimoji="1" lang="en-US" altLang="zh-CN" sz="2800" b="1" dirty="0">
                <a:latin typeface="Times New Roman" panose="02020603050405020304" pitchFamily="18" charset="0"/>
                <a:ea typeface="长城楷体" pitchFamily="49" charset="-122"/>
              </a:rPr>
              <a:t>MOS</a:t>
            </a:r>
            <a:endParaRPr kumimoji="1" lang="zh-CN" altLang="en-US" sz="2800" b="1" dirty="0">
              <a:latin typeface="Times New Roman" panose="02020603050405020304" pitchFamily="18" charset="0"/>
              <a:ea typeface="长城楷体" pitchFamily="49" charset="-122"/>
            </a:endParaRPr>
          </a:p>
        </p:txBody>
      </p:sp>
      <p:sp>
        <p:nvSpPr>
          <p:cNvPr id="18" name="Text Box 52"/>
          <p:cNvSpPr txBox="1">
            <a:spLocks noChangeArrowheads="1"/>
          </p:cNvSpPr>
          <p:nvPr/>
        </p:nvSpPr>
        <p:spPr bwMode="auto">
          <a:xfrm>
            <a:off x="2686331" y="4798498"/>
            <a:ext cx="5810346" cy="523220"/>
          </a:xfrm>
          <a:prstGeom prst="rect">
            <a:avLst/>
          </a:prstGeom>
          <a:noFill/>
          <a:ln w="31750">
            <a:solidFill>
              <a:srgbClr val="FF0000"/>
            </a:solidFill>
            <a:miter lim="800000"/>
          </a:ln>
        </p:spPr>
        <p:txBody>
          <a:bodyPr wrap="square">
            <a:spAutoFit/>
          </a:bodyPr>
          <a:lstStyle/>
          <a:p>
            <a:pPr>
              <a:spcBef>
                <a:spcPct val="50000"/>
              </a:spcBef>
            </a:pPr>
            <a:r>
              <a:rPr kumimoji="1" lang="zh-CN" altLang="en-US" sz="2800" b="1" dirty="0">
                <a:latin typeface="Times New Roman" panose="02020603050405020304" pitchFamily="18" charset="0"/>
                <a:ea typeface="长城楷体" pitchFamily="49" charset="-122"/>
              </a:rPr>
              <a:t>互补金属</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氧化物</a:t>
            </a:r>
            <a:r>
              <a:rPr kumimoji="1" lang="en-US" altLang="zh-CN" sz="2800" b="1" dirty="0">
                <a:latin typeface="Times New Roman" panose="02020603050405020304" pitchFamily="18" charset="0"/>
                <a:ea typeface="长城楷体" pitchFamily="49" charset="-122"/>
              </a:rPr>
              <a:t>-</a:t>
            </a:r>
            <a:r>
              <a:rPr kumimoji="1" lang="zh-CN" altLang="en-US" sz="2800" b="1" dirty="0">
                <a:latin typeface="Times New Roman" panose="02020603050405020304" pitchFamily="18" charset="0"/>
                <a:ea typeface="长城楷体" pitchFamily="49" charset="-122"/>
              </a:rPr>
              <a:t>半导体电路</a:t>
            </a:r>
            <a:r>
              <a:rPr kumimoji="1" lang="en-US" altLang="zh-CN" sz="2800" b="1" dirty="0">
                <a:latin typeface="Times New Roman" panose="02020603050405020304" pitchFamily="18" charset="0"/>
                <a:ea typeface="长城楷体" pitchFamily="49" charset="-122"/>
              </a:rPr>
              <a:t>CMOS</a:t>
            </a:r>
            <a:endParaRPr kumimoji="1" lang="zh-CN" altLang="en-US" sz="2800" b="1" dirty="0">
              <a:latin typeface="Times New Roman" panose="02020603050405020304" pitchFamily="18" charset="0"/>
              <a:ea typeface="长城楷体"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a:xfrm>
            <a:off x="1156098" y="1285875"/>
            <a:ext cx="5844778" cy="857250"/>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4500" b="1"/>
              <a:t> </a:t>
            </a:r>
            <a:endParaRPr lang="en-US" altLang="zh-CN" sz="4500" b="1"/>
          </a:p>
        </p:txBody>
      </p:sp>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39" name="Text Box 3"/>
          <p:cNvSpPr txBox="1">
            <a:spLocks noChangeArrowheads="1"/>
          </p:cNvSpPr>
          <p:nvPr/>
        </p:nvSpPr>
        <p:spPr bwMode="auto">
          <a:xfrm>
            <a:off x="239263" y="691026"/>
            <a:ext cx="8237518" cy="523220"/>
          </a:xfrm>
          <a:prstGeom prst="rect">
            <a:avLst/>
          </a:prstGeom>
          <a:noFill/>
          <a:ln w="9525">
            <a:noFill/>
            <a:miter lim="800000"/>
          </a:ln>
        </p:spPr>
        <p:txBody>
          <a:bodyPr wrap="square">
            <a:spAutoFit/>
          </a:bodyPr>
          <a:lstStyle/>
          <a:p>
            <a:pPr algn="just" fontAlgn="base">
              <a:spcBef>
                <a:spcPct val="50000"/>
              </a:spcBef>
              <a:spcAft>
                <a:spcPct val="0"/>
              </a:spcAft>
            </a:pPr>
            <a:r>
              <a:rPr kumimoji="1" lang="zh-CN" altLang="en-US" sz="2800" b="1" dirty="0">
                <a:solidFill>
                  <a:srgbClr val="000000"/>
                </a:solidFill>
                <a:latin typeface="黑体" panose="02010609060101010101" pitchFamily="49" charset="-122"/>
                <a:ea typeface="黑体" panose="02010609060101010101" pitchFamily="49" charset="-122"/>
              </a:rPr>
              <a:t>在数字电路中，一般用</a:t>
            </a:r>
            <a:r>
              <a:rPr kumimoji="1" lang="zh-CN" altLang="en-US" sz="2800" b="1" dirty="0">
                <a:solidFill>
                  <a:srgbClr val="FF0000"/>
                </a:solidFill>
                <a:latin typeface="黑体" panose="02010609060101010101" pitchFamily="49" charset="-122"/>
                <a:ea typeface="黑体" panose="02010609060101010101" pitchFamily="49" charset="-122"/>
              </a:rPr>
              <a:t>高、低电平代表</a:t>
            </a:r>
            <a:r>
              <a:rPr kumimoji="1" lang="en-US" altLang="zh-CN" sz="2800" b="1" dirty="0">
                <a:solidFill>
                  <a:srgbClr val="FF0000"/>
                </a:solidFill>
                <a:latin typeface="黑体" panose="02010609060101010101" pitchFamily="49" charset="-122"/>
                <a:ea typeface="黑体" panose="02010609060101010101" pitchFamily="49" charset="-122"/>
              </a:rPr>
              <a:t>1</a:t>
            </a:r>
            <a:r>
              <a:rPr kumimoji="1" lang="zh-CN" altLang="en-US" sz="2800" b="1" dirty="0">
                <a:solidFill>
                  <a:srgbClr val="FF0000"/>
                </a:solidFill>
                <a:latin typeface="黑体" panose="02010609060101010101" pitchFamily="49" charset="-122"/>
                <a:ea typeface="黑体" panose="02010609060101010101" pitchFamily="49" charset="-122"/>
              </a:rPr>
              <a:t>和</a:t>
            </a:r>
            <a:r>
              <a:rPr kumimoji="1" lang="en-US" altLang="zh-CN" sz="2800" b="1" dirty="0">
                <a:solidFill>
                  <a:srgbClr val="FF0000"/>
                </a:solidFill>
                <a:latin typeface="黑体" panose="02010609060101010101" pitchFamily="49" charset="-122"/>
                <a:ea typeface="黑体" panose="02010609060101010101" pitchFamily="49" charset="-122"/>
              </a:rPr>
              <a:t>0</a:t>
            </a:r>
            <a:r>
              <a:rPr kumimoji="1" lang="zh-CN" altLang="en-US" sz="2800" b="1" dirty="0">
                <a:solidFill>
                  <a:srgbClr val="000000"/>
                </a:solidFill>
                <a:latin typeface="黑体" panose="02010609060101010101" pitchFamily="49" charset="-122"/>
                <a:ea typeface="黑体" panose="02010609060101010101" pitchFamily="49" charset="-122"/>
              </a:rPr>
              <a:t>。</a:t>
            </a:r>
            <a:endParaRPr kumimoji="1" lang="zh-CN" altLang="en-US" sz="2800" b="1" dirty="0">
              <a:solidFill>
                <a:srgbClr val="000000"/>
              </a:solidFill>
              <a:latin typeface="黑体" panose="02010609060101010101" pitchFamily="49" charset="-122"/>
              <a:ea typeface="黑体" panose="02010609060101010101" pitchFamily="49" charset="-122"/>
            </a:endParaRPr>
          </a:p>
        </p:txBody>
      </p:sp>
      <p:sp>
        <p:nvSpPr>
          <p:cNvPr id="8" name="Text Box 4"/>
          <p:cNvSpPr txBox="1">
            <a:spLocks noChangeArrowheads="1"/>
          </p:cNvSpPr>
          <p:nvPr/>
        </p:nvSpPr>
        <p:spPr bwMode="auto">
          <a:xfrm>
            <a:off x="239263" y="1732420"/>
            <a:ext cx="4906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800" dirty="0">
                <a:solidFill>
                  <a:srgbClr val="0000FF"/>
                </a:solidFill>
                <a:latin typeface="黑体" panose="02010609060101010101" pitchFamily="49" charset="-122"/>
                <a:ea typeface="黑体" panose="02010609060101010101" pitchFamily="49" charset="-122"/>
              </a:rPr>
              <a:t>获得高、低电平的基本方法：</a:t>
            </a:r>
            <a:endParaRPr kumimoji="1" lang="zh-CN" altLang="en-US" sz="2800" dirty="0">
              <a:solidFill>
                <a:srgbClr val="0000FF"/>
              </a:solidFill>
              <a:latin typeface="黑体" panose="02010609060101010101" pitchFamily="49" charset="-122"/>
              <a:ea typeface="黑体" panose="02010609060101010101" pitchFamily="49" charset="-122"/>
            </a:endParaRPr>
          </a:p>
        </p:txBody>
      </p:sp>
      <p:sp>
        <p:nvSpPr>
          <p:cNvPr id="11" name="Text Box 6"/>
          <p:cNvSpPr txBox="1">
            <a:spLocks noChangeArrowheads="1"/>
          </p:cNvSpPr>
          <p:nvPr/>
        </p:nvSpPr>
        <p:spPr bwMode="auto">
          <a:xfrm>
            <a:off x="4358022" y="2939792"/>
            <a:ext cx="3437159" cy="1130246"/>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zh-CN" altLang="en-US" sz="2400" dirty="0"/>
              <a:t>当</a:t>
            </a:r>
            <a:r>
              <a:rPr kumimoji="1" lang="en-US" altLang="zh-CN" sz="2400" dirty="0"/>
              <a:t>S</a:t>
            </a:r>
            <a:r>
              <a:rPr kumimoji="1" lang="zh-CN" altLang="en-US" sz="2400" dirty="0"/>
              <a:t>打开时，</a:t>
            </a:r>
            <a:r>
              <a:rPr kumimoji="1" lang="en-US" altLang="zh-CN" sz="2400" i="1" dirty="0" err="1"/>
              <a:t>v</a:t>
            </a:r>
            <a:r>
              <a:rPr kumimoji="1" lang="en-US" altLang="zh-CN" sz="2400" baseline="-25000" dirty="0" err="1"/>
              <a:t>O</a:t>
            </a:r>
            <a:r>
              <a:rPr kumimoji="1" lang="zh-CN" altLang="en-US" sz="2400" dirty="0"/>
              <a:t>为高电平</a:t>
            </a:r>
            <a:endParaRPr kumimoji="1" lang="en-US" altLang="zh-CN" sz="2400" dirty="0"/>
          </a:p>
          <a:p>
            <a:pPr eaLnBrk="1" hangingPunct="1">
              <a:lnSpc>
                <a:spcPct val="150000"/>
              </a:lnSpc>
            </a:pPr>
            <a:r>
              <a:rPr kumimoji="1" lang="zh-CN" altLang="en-US" sz="2400" dirty="0"/>
              <a:t>当</a:t>
            </a:r>
            <a:r>
              <a:rPr kumimoji="1" lang="en-US" altLang="zh-CN" sz="2400" dirty="0"/>
              <a:t>S</a:t>
            </a:r>
            <a:r>
              <a:rPr kumimoji="1" lang="zh-CN" altLang="en-US" sz="2400" dirty="0"/>
              <a:t>闭合时，</a:t>
            </a:r>
            <a:r>
              <a:rPr kumimoji="1" lang="en-US" altLang="zh-CN" sz="2400" i="1" dirty="0" err="1"/>
              <a:t>v</a:t>
            </a:r>
            <a:r>
              <a:rPr kumimoji="1" lang="en-US" altLang="zh-CN" sz="2400" baseline="-25000" dirty="0" err="1"/>
              <a:t>O</a:t>
            </a:r>
            <a:r>
              <a:rPr kumimoji="1" lang="zh-CN" altLang="en-US" sz="2400" dirty="0"/>
              <a:t>为低电平</a:t>
            </a:r>
            <a:endParaRPr kumimoji="1" lang="zh-CN" altLang="en-US" sz="2400" dirty="0"/>
          </a:p>
        </p:txBody>
      </p:sp>
      <p:sp>
        <p:nvSpPr>
          <p:cNvPr id="13" name="Text Box 8"/>
          <p:cNvSpPr txBox="1">
            <a:spLocks noChangeArrowheads="1"/>
          </p:cNvSpPr>
          <p:nvPr/>
        </p:nvSpPr>
        <p:spPr bwMode="auto">
          <a:xfrm>
            <a:off x="3929944" y="4612104"/>
            <a:ext cx="452945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zh-CN" altLang="en-US" sz="2400" dirty="0">
                <a:latin typeface="黑体" panose="02010609060101010101" pitchFamily="49" charset="-122"/>
                <a:ea typeface="黑体" panose="02010609060101010101" pitchFamily="49" charset="-122"/>
              </a:rPr>
              <a:t>用</a:t>
            </a:r>
            <a:r>
              <a:rPr kumimoji="1" lang="zh-CN" altLang="en-US" sz="2400" dirty="0">
                <a:solidFill>
                  <a:srgbClr val="3333FF"/>
                </a:solidFill>
                <a:latin typeface="黑体" panose="02010609060101010101" pitchFamily="49" charset="-122"/>
                <a:ea typeface="黑体" panose="02010609060101010101" pitchFamily="49" charset="-122"/>
              </a:rPr>
              <a:t>二极管</a:t>
            </a:r>
            <a:r>
              <a:rPr kumimoji="1" lang="zh-CN" altLang="en-US" sz="2400" dirty="0">
                <a:latin typeface="黑体" panose="02010609060101010101" pitchFamily="49" charset="-122"/>
                <a:ea typeface="黑体" panose="02010609060101010101" pitchFamily="49" charset="-122"/>
              </a:rPr>
              <a:t>、</a:t>
            </a:r>
            <a:r>
              <a:rPr kumimoji="1" lang="zh-CN" altLang="en-US" sz="2400" dirty="0">
                <a:solidFill>
                  <a:srgbClr val="3333FF"/>
                </a:solidFill>
                <a:latin typeface="黑体" panose="02010609060101010101" pitchFamily="49" charset="-122"/>
                <a:ea typeface="黑体" panose="02010609060101010101" pitchFamily="49" charset="-122"/>
              </a:rPr>
              <a:t>三极管</a:t>
            </a:r>
            <a:r>
              <a:rPr kumimoji="1" lang="zh-CN" altLang="en-US" sz="2400" dirty="0">
                <a:latin typeface="黑体" panose="02010609060101010101" pitchFamily="49" charset="-122"/>
                <a:ea typeface="黑体" panose="02010609060101010101" pitchFamily="49" charset="-122"/>
              </a:rPr>
              <a:t>或</a:t>
            </a:r>
            <a:r>
              <a:rPr kumimoji="1" lang="zh-CN" altLang="en-US" sz="2400" dirty="0">
                <a:solidFill>
                  <a:srgbClr val="3333FF"/>
                </a:solidFill>
                <a:latin typeface="黑体" panose="02010609060101010101" pitchFamily="49" charset="-122"/>
                <a:ea typeface="黑体" panose="02010609060101010101" pitchFamily="49" charset="-122"/>
              </a:rPr>
              <a:t>场效应管</a:t>
            </a:r>
            <a:r>
              <a:rPr kumimoji="1" lang="zh-CN" altLang="en-US" sz="2400" dirty="0">
                <a:latin typeface="黑体" panose="02010609060101010101" pitchFamily="49" charset="-122"/>
                <a:ea typeface="黑体" panose="02010609060101010101" pitchFamily="49" charset="-122"/>
              </a:rPr>
              <a:t>来实现开关作用，控制管子工作在</a:t>
            </a:r>
            <a:r>
              <a:rPr kumimoji="1" lang="zh-CN" altLang="en-US" sz="2400" dirty="0">
                <a:solidFill>
                  <a:srgbClr val="FF0000"/>
                </a:solidFill>
                <a:latin typeface="黑体" panose="02010609060101010101" pitchFamily="49" charset="-122"/>
                <a:ea typeface="黑体" panose="02010609060101010101" pitchFamily="49" charset="-122"/>
              </a:rPr>
              <a:t>截止</a:t>
            </a:r>
            <a:r>
              <a:rPr kumimoji="1" lang="zh-CN" altLang="en-US" sz="2400" dirty="0">
                <a:latin typeface="黑体" panose="02010609060101010101" pitchFamily="49" charset="-122"/>
                <a:ea typeface="黑体" panose="02010609060101010101" pitchFamily="49" charset="-122"/>
              </a:rPr>
              <a:t>和</a:t>
            </a:r>
            <a:r>
              <a:rPr kumimoji="1" lang="zh-CN" altLang="en-US" sz="2400" dirty="0">
                <a:solidFill>
                  <a:srgbClr val="FF0000"/>
                </a:solidFill>
                <a:latin typeface="黑体" panose="02010609060101010101" pitchFamily="49" charset="-122"/>
                <a:ea typeface="黑体" panose="02010609060101010101" pitchFamily="49" charset="-122"/>
              </a:rPr>
              <a:t>导通</a:t>
            </a:r>
            <a:r>
              <a:rPr kumimoji="1" lang="zh-CN" altLang="en-US" sz="2400" dirty="0">
                <a:latin typeface="黑体" panose="02010609060101010101" pitchFamily="49" charset="-122"/>
                <a:ea typeface="黑体" panose="02010609060101010101" pitchFamily="49" charset="-122"/>
              </a:rPr>
              <a:t>状态。</a:t>
            </a:r>
            <a:endParaRPr kumimoji="1" lang="zh-CN" altLang="en-US" sz="2400" dirty="0">
              <a:latin typeface="黑体" panose="02010609060101010101" pitchFamily="49" charset="-122"/>
              <a:ea typeface="黑体" panose="02010609060101010101" pitchFamily="49" charset="-122"/>
            </a:endParaRPr>
          </a:p>
        </p:txBody>
      </p:sp>
      <p:grpSp>
        <p:nvGrpSpPr>
          <p:cNvPr id="14" name="Group 9"/>
          <p:cNvGrpSpPr/>
          <p:nvPr/>
        </p:nvGrpSpPr>
        <p:grpSpPr bwMode="auto">
          <a:xfrm>
            <a:off x="920350" y="2447667"/>
            <a:ext cx="2397125" cy="3762375"/>
            <a:chOff x="432" y="1584"/>
            <a:chExt cx="1510" cy="2370"/>
          </a:xfrm>
        </p:grpSpPr>
        <p:sp>
          <p:nvSpPr>
            <p:cNvPr id="15" name="Rectangle 10"/>
            <p:cNvSpPr>
              <a:spLocks noChangeArrowheads="1"/>
            </p:cNvSpPr>
            <p:nvPr/>
          </p:nvSpPr>
          <p:spPr bwMode="auto">
            <a:xfrm>
              <a:off x="1050" y="2182"/>
              <a:ext cx="96" cy="29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 name="Line 11"/>
            <p:cNvSpPr>
              <a:spLocks noChangeShapeType="1"/>
            </p:cNvSpPr>
            <p:nvPr/>
          </p:nvSpPr>
          <p:spPr bwMode="auto">
            <a:xfrm>
              <a:off x="1098" y="1894"/>
              <a:ext cx="0" cy="28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2"/>
            <p:cNvSpPr>
              <a:spLocks noChangeShapeType="1"/>
            </p:cNvSpPr>
            <p:nvPr/>
          </p:nvSpPr>
          <p:spPr bwMode="auto">
            <a:xfrm>
              <a:off x="1098" y="2470"/>
              <a:ext cx="0" cy="38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3"/>
            <p:cNvSpPr>
              <a:spLocks noChangeShapeType="1"/>
            </p:cNvSpPr>
            <p:nvPr/>
          </p:nvSpPr>
          <p:spPr bwMode="auto">
            <a:xfrm flipV="1">
              <a:off x="1098" y="2867"/>
              <a:ext cx="144"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Rectangle 14"/>
            <p:cNvSpPr>
              <a:spLocks noChangeArrowheads="1"/>
            </p:cNvSpPr>
            <p:nvPr/>
          </p:nvSpPr>
          <p:spPr bwMode="auto">
            <a:xfrm>
              <a:off x="954" y="2758"/>
              <a:ext cx="336" cy="384"/>
            </a:xfrm>
            <a:prstGeom prst="rect">
              <a:avLst/>
            </a:prstGeom>
            <a:noFill/>
            <a:ln w="19050">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 name="Line 15"/>
            <p:cNvSpPr>
              <a:spLocks noChangeShapeType="1"/>
            </p:cNvSpPr>
            <p:nvPr/>
          </p:nvSpPr>
          <p:spPr bwMode="auto">
            <a:xfrm>
              <a:off x="570" y="2950"/>
              <a:ext cx="38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6"/>
            <p:cNvSpPr>
              <a:spLocks noChangeShapeType="1"/>
            </p:cNvSpPr>
            <p:nvPr/>
          </p:nvSpPr>
          <p:spPr bwMode="auto">
            <a:xfrm>
              <a:off x="954" y="2950"/>
              <a:ext cx="240" cy="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7"/>
            <p:cNvSpPr>
              <a:spLocks noChangeShapeType="1"/>
            </p:cNvSpPr>
            <p:nvPr/>
          </p:nvSpPr>
          <p:spPr bwMode="auto">
            <a:xfrm>
              <a:off x="1098" y="3046"/>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8"/>
            <p:cNvSpPr>
              <a:spLocks noChangeShapeType="1"/>
            </p:cNvSpPr>
            <p:nvPr/>
          </p:nvSpPr>
          <p:spPr bwMode="auto">
            <a:xfrm>
              <a:off x="1002" y="338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9"/>
            <p:cNvSpPr>
              <a:spLocks noChangeShapeType="1"/>
            </p:cNvSpPr>
            <p:nvPr/>
          </p:nvSpPr>
          <p:spPr bwMode="auto">
            <a:xfrm>
              <a:off x="1098" y="2636"/>
              <a:ext cx="57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Oval 20"/>
            <p:cNvSpPr>
              <a:spLocks noChangeArrowheads="1"/>
            </p:cNvSpPr>
            <p:nvPr/>
          </p:nvSpPr>
          <p:spPr bwMode="auto">
            <a:xfrm>
              <a:off x="1076" y="2614"/>
              <a:ext cx="50" cy="50"/>
            </a:xfrm>
            <a:prstGeom prst="ellipse">
              <a:avLst/>
            </a:prstGeom>
            <a:solidFill>
              <a:schemeClr val="tx1"/>
            </a:solidFill>
            <a:ln w="9525">
              <a:solidFill>
                <a:schemeClr val="tx1"/>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 name="Text Box 21"/>
            <p:cNvSpPr txBox="1">
              <a:spLocks noChangeArrowheads="1"/>
            </p:cNvSpPr>
            <p:nvPr/>
          </p:nvSpPr>
          <p:spPr bwMode="auto">
            <a:xfrm>
              <a:off x="944" y="1584"/>
              <a:ext cx="4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400" i="1"/>
                <a:t>V</a:t>
              </a:r>
              <a:r>
                <a:rPr kumimoji="1" lang="en-US" altLang="zh-CN" sz="2400" baseline="-25000"/>
                <a:t>CC</a:t>
              </a:r>
              <a:endParaRPr kumimoji="1" lang="en-US" altLang="zh-CN" sz="2400"/>
            </a:p>
          </p:txBody>
        </p:sp>
        <p:sp>
          <p:nvSpPr>
            <p:cNvPr id="27" name="Text Box 22"/>
            <p:cNvSpPr txBox="1">
              <a:spLocks noChangeArrowheads="1"/>
            </p:cNvSpPr>
            <p:nvPr/>
          </p:nvSpPr>
          <p:spPr bwMode="auto">
            <a:xfrm>
              <a:off x="1632" y="2448"/>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400" i="1"/>
                <a:t>v</a:t>
              </a:r>
              <a:r>
                <a:rPr kumimoji="1" lang="en-US" altLang="zh-CN" sz="2400" baseline="-25000"/>
                <a:t>O</a:t>
              </a:r>
              <a:endParaRPr kumimoji="1" lang="en-US" altLang="zh-CN" sz="2400"/>
            </a:p>
          </p:txBody>
        </p:sp>
        <p:sp>
          <p:nvSpPr>
            <p:cNvPr id="28" name="Text Box 23"/>
            <p:cNvSpPr txBox="1">
              <a:spLocks noChangeArrowheads="1"/>
            </p:cNvSpPr>
            <p:nvPr/>
          </p:nvSpPr>
          <p:spPr bwMode="auto">
            <a:xfrm>
              <a:off x="464" y="2662"/>
              <a:ext cx="2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400" i="1"/>
                <a:t>v</a:t>
              </a:r>
              <a:r>
                <a:rPr kumimoji="1" lang="en-US" altLang="zh-CN" sz="2400" baseline="-25000"/>
                <a:t>I</a:t>
              </a:r>
              <a:endParaRPr kumimoji="1" lang="en-US" altLang="zh-CN" sz="2400"/>
            </a:p>
          </p:txBody>
        </p:sp>
        <p:sp>
          <p:nvSpPr>
            <p:cNvPr id="29" name="Text Box 24"/>
            <p:cNvSpPr txBox="1">
              <a:spLocks noChangeArrowheads="1"/>
            </p:cNvSpPr>
            <p:nvPr/>
          </p:nvSpPr>
          <p:spPr bwMode="auto">
            <a:xfrm>
              <a:off x="1280" y="278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400"/>
                <a:t>S</a:t>
              </a:r>
              <a:endParaRPr kumimoji="1" lang="en-US" altLang="zh-CN" sz="2400"/>
            </a:p>
          </p:txBody>
        </p:sp>
        <p:sp>
          <p:nvSpPr>
            <p:cNvPr id="30" name="Text Box 25"/>
            <p:cNvSpPr txBox="1">
              <a:spLocks noChangeArrowheads="1"/>
            </p:cNvSpPr>
            <p:nvPr/>
          </p:nvSpPr>
          <p:spPr bwMode="auto">
            <a:xfrm>
              <a:off x="1632" y="2688"/>
              <a:ext cx="310"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sz="2400"/>
                <a:t>输</a:t>
              </a:r>
              <a:endParaRPr kumimoji="1" lang="zh-CN" altLang="en-US" sz="2400"/>
            </a:p>
            <a:p>
              <a:pPr algn="ctr" eaLnBrk="1" hangingPunct="1"/>
              <a:r>
                <a:rPr kumimoji="1" lang="zh-CN" altLang="en-US" sz="2400"/>
                <a:t>出</a:t>
              </a:r>
              <a:endParaRPr kumimoji="1" lang="zh-CN" altLang="en-US" sz="2400"/>
            </a:p>
            <a:p>
              <a:pPr algn="ctr" eaLnBrk="1" hangingPunct="1"/>
              <a:r>
                <a:rPr kumimoji="1" lang="zh-CN" altLang="en-US" sz="2400"/>
                <a:t>信</a:t>
              </a:r>
              <a:endParaRPr kumimoji="1" lang="zh-CN" altLang="en-US" sz="2400"/>
            </a:p>
            <a:p>
              <a:pPr algn="ctr" eaLnBrk="1" hangingPunct="1"/>
              <a:r>
                <a:rPr kumimoji="1" lang="zh-CN" altLang="en-US" sz="2400"/>
                <a:t>号</a:t>
              </a:r>
              <a:endParaRPr kumimoji="1" lang="zh-CN" altLang="en-US" sz="2400"/>
            </a:p>
          </p:txBody>
        </p:sp>
        <p:sp>
          <p:nvSpPr>
            <p:cNvPr id="31" name="Text Box 26"/>
            <p:cNvSpPr txBox="1">
              <a:spLocks noChangeArrowheads="1"/>
            </p:cNvSpPr>
            <p:nvPr/>
          </p:nvSpPr>
          <p:spPr bwMode="auto">
            <a:xfrm>
              <a:off x="432" y="2976"/>
              <a:ext cx="310"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sz="2400"/>
                <a:t>输</a:t>
              </a:r>
              <a:endParaRPr kumimoji="1" lang="zh-CN" altLang="en-US" sz="2400"/>
            </a:p>
            <a:p>
              <a:pPr algn="ctr" eaLnBrk="1" hangingPunct="1"/>
              <a:r>
                <a:rPr kumimoji="1" lang="zh-CN" altLang="en-US" sz="2400"/>
                <a:t>入</a:t>
              </a:r>
              <a:endParaRPr kumimoji="1" lang="zh-CN" altLang="en-US" sz="2400"/>
            </a:p>
            <a:p>
              <a:pPr algn="ctr" eaLnBrk="1" hangingPunct="1"/>
              <a:r>
                <a:rPr kumimoji="1" lang="zh-CN" altLang="en-US" sz="2400"/>
                <a:t>信</a:t>
              </a:r>
              <a:endParaRPr kumimoji="1" lang="zh-CN" altLang="en-US" sz="2400"/>
            </a:p>
            <a:p>
              <a:pPr algn="ctr" eaLnBrk="1" hangingPunct="1"/>
              <a:r>
                <a:rPr kumimoji="1" lang="zh-CN" altLang="en-US" sz="2400"/>
                <a:t>号</a:t>
              </a: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1" grpId="0" animBg="1"/>
      <p:bldP spid="1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80" name="Text Box 2"/>
          <p:cNvSpPr txBox="1">
            <a:spLocks noChangeArrowheads="1"/>
          </p:cNvSpPr>
          <p:nvPr/>
        </p:nvSpPr>
        <p:spPr bwMode="auto">
          <a:xfrm>
            <a:off x="592317" y="928540"/>
            <a:ext cx="657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若以高电平表示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1</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，低电平表示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0</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，则称</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正逻辑</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81" name="Text Box 3"/>
          <p:cNvSpPr txBox="1">
            <a:spLocks noChangeArrowheads="1"/>
          </p:cNvSpPr>
          <p:nvPr/>
        </p:nvSpPr>
        <p:spPr bwMode="auto">
          <a:xfrm>
            <a:off x="592317" y="1582590"/>
            <a:ext cx="657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若以高电平表示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0</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，低电平表示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1</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，则称</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负逻辑</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grpSp>
        <p:nvGrpSpPr>
          <p:cNvPr id="82" name="Group 4"/>
          <p:cNvGrpSpPr/>
          <p:nvPr/>
        </p:nvGrpSpPr>
        <p:grpSpPr bwMode="auto">
          <a:xfrm>
            <a:off x="2390955" y="2639865"/>
            <a:ext cx="1477962" cy="1849438"/>
            <a:chOff x="634" y="1654"/>
            <a:chExt cx="820" cy="1165"/>
          </a:xfrm>
        </p:grpSpPr>
        <p:grpSp>
          <p:nvGrpSpPr>
            <p:cNvPr id="83" name="Group 5"/>
            <p:cNvGrpSpPr/>
            <p:nvPr/>
          </p:nvGrpSpPr>
          <p:grpSpPr bwMode="auto">
            <a:xfrm>
              <a:off x="634" y="1654"/>
              <a:ext cx="768" cy="816"/>
              <a:chOff x="672" y="960"/>
              <a:chExt cx="768" cy="816"/>
            </a:xfrm>
          </p:grpSpPr>
          <p:sp>
            <p:nvSpPr>
              <p:cNvPr id="85" name="Freeform 6"/>
              <p:cNvSpPr/>
              <p:nvPr/>
            </p:nvSpPr>
            <p:spPr bwMode="auto">
              <a:xfrm>
                <a:off x="672" y="1008"/>
                <a:ext cx="768" cy="720"/>
              </a:xfrm>
              <a:custGeom>
                <a:avLst/>
                <a:gdLst>
                  <a:gd name="T0" fmla="*/ 0 w 768"/>
                  <a:gd name="T1" fmla="*/ 0 h 720"/>
                  <a:gd name="T2" fmla="*/ 384 w 768"/>
                  <a:gd name="T3" fmla="*/ 0 h 720"/>
                  <a:gd name="T4" fmla="*/ 384 w 768"/>
                  <a:gd name="T5" fmla="*/ 720 h 720"/>
                  <a:gd name="T6" fmla="*/ 768 w 768"/>
                  <a:gd name="T7" fmla="*/ 720 h 720"/>
                  <a:gd name="T8" fmla="*/ 0 60000 65536"/>
                  <a:gd name="T9" fmla="*/ 0 60000 65536"/>
                  <a:gd name="T10" fmla="*/ 0 60000 65536"/>
                  <a:gd name="T11" fmla="*/ 0 60000 65536"/>
                  <a:gd name="T12" fmla="*/ 0 w 768"/>
                  <a:gd name="T13" fmla="*/ 0 h 720"/>
                  <a:gd name="T14" fmla="*/ 768 w 768"/>
                  <a:gd name="T15" fmla="*/ 720 h 720"/>
                </a:gdLst>
                <a:ahLst/>
                <a:cxnLst>
                  <a:cxn ang="T8">
                    <a:pos x="T0" y="T1"/>
                  </a:cxn>
                  <a:cxn ang="T9">
                    <a:pos x="T2" y="T3"/>
                  </a:cxn>
                  <a:cxn ang="T10">
                    <a:pos x="T4" y="T5"/>
                  </a:cxn>
                  <a:cxn ang="T11">
                    <a:pos x="T6" y="T7"/>
                  </a:cxn>
                </a:cxnLst>
                <a:rect l="T12" t="T13" r="T14" b="T15"/>
                <a:pathLst>
                  <a:path w="768" h="720">
                    <a:moveTo>
                      <a:pt x="0" y="0"/>
                    </a:moveTo>
                    <a:lnTo>
                      <a:pt x="384" y="0"/>
                    </a:lnTo>
                    <a:lnTo>
                      <a:pt x="384" y="720"/>
                    </a:lnTo>
                    <a:lnTo>
                      <a:pt x="768" y="72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6" name="Rectangle 7" descr="宽上对角线"/>
              <p:cNvSpPr>
                <a:spLocks noChangeArrowheads="1"/>
              </p:cNvSpPr>
              <p:nvPr/>
            </p:nvSpPr>
            <p:spPr bwMode="auto">
              <a:xfrm>
                <a:off x="672" y="1008"/>
                <a:ext cx="384" cy="192"/>
              </a:xfrm>
              <a:prstGeom prst="rect">
                <a:avLst/>
              </a:prstGeom>
              <a:pattFill prst="wdUpDiag">
                <a:fgClr>
                  <a:srgbClr val="BBE0E3"/>
                </a:fgClr>
                <a:bgClr>
                  <a:srgbClr val="FFFFFF"/>
                </a:bgClr>
              </a:patt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7" name="Rectangle 8" descr="宽上对角线"/>
              <p:cNvSpPr>
                <a:spLocks noChangeArrowheads="1"/>
              </p:cNvSpPr>
              <p:nvPr/>
            </p:nvSpPr>
            <p:spPr bwMode="auto">
              <a:xfrm>
                <a:off x="1056" y="1536"/>
                <a:ext cx="384" cy="192"/>
              </a:xfrm>
              <a:prstGeom prst="rect">
                <a:avLst/>
              </a:prstGeom>
              <a:pattFill prst="wdUpDiag">
                <a:fgClr>
                  <a:srgbClr val="BBE0E3"/>
                </a:fgClr>
                <a:bgClr>
                  <a:srgbClr val="FFFFFF"/>
                </a:bgClr>
              </a:patt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8" name="Text Box 9"/>
              <p:cNvSpPr txBox="1">
                <a:spLocks noChangeArrowheads="1"/>
              </p:cNvSpPr>
              <p:nvPr/>
            </p:nvSpPr>
            <p:spPr bwMode="auto">
              <a:xfrm>
                <a:off x="756" y="960"/>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89" name="Text Box 10"/>
              <p:cNvSpPr txBox="1">
                <a:spLocks noChangeArrowheads="1"/>
              </p:cNvSpPr>
              <p:nvPr/>
            </p:nvSpPr>
            <p:spPr bwMode="auto">
              <a:xfrm>
                <a:off x="1132" y="1488"/>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0</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84" name="Text Box 11"/>
            <p:cNvSpPr txBox="1">
              <a:spLocks noChangeArrowheads="1"/>
            </p:cNvSpPr>
            <p:nvPr/>
          </p:nvSpPr>
          <p:spPr bwMode="auto">
            <a:xfrm>
              <a:off x="768" y="2531"/>
              <a:ext cx="6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正逻辑</a:t>
              </a:r>
              <a:endParaRPr kumimoji="1" lang="zh-CN" altLang="en-US"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grpSp>
        <p:nvGrpSpPr>
          <p:cNvPr id="90" name="Group 12"/>
          <p:cNvGrpSpPr/>
          <p:nvPr/>
        </p:nvGrpSpPr>
        <p:grpSpPr bwMode="auto">
          <a:xfrm>
            <a:off x="5951194" y="2639865"/>
            <a:ext cx="1533525" cy="1849438"/>
            <a:chOff x="2218" y="1654"/>
            <a:chExt cx="768" cy="1165"/>
          </a:xfrm>
        </p:grpSpPr>
        <p:grpSp>
          <p:nvGrpSpPr>
            <p:cNvPr id="91" name="Group 13"/>
            <p:cNvGrpSpPr/>
            <p:nvPr/>
          </p:nvGrpSpPr>
          <p:grpSpPr bwMode="auto">
            <a:xfrm>
              <a:off x="2218" y="1654"/>
              <a:ext cx="768" cy="816"/>
              <a:chOff x="672" y="960"/>
              <a:chExt cx="768" cy="816"/>
            </a:xfrm>
          </p:grpSpPr>
          <p:sp>
            <p:nvSpPr>
              <p:cNvPr id="93" name="Freeform 14"/>
              <p:cNvSpPr/>
              <p:nvPr/>
            </p:nvSpPr>
            <p:spPr bwMode="auto">
              <a:xfrm>
                <a:off x="672" y="1008"/>
                <a:ext cx="768" cy="720"/>
              </a:xfrm>
              <a:custGeom>
                <a:avLst/>
                <a:gdLst>
                  <a:gd name="T0" fmla="*/ 0 w 768"/>
                  <a:gd name="T1" fmla="*/ 0 h 720"/>
                  <a:gd name="T2" fmla="*/ 384 w 768"/>
                  <a:gd name="T3" fmla="*/ 0 h 720"/>
                  <a:gd name="T4" fmla="*/ 384 w 768"/>
                  <a:gd name="T5" fmla="*/ 720 h 720"/>
                  <a:gd name="T6" fmla="*/ 768 w 768"/>
                  <a:gd name="T7" fmla="*/ 720 h 720"/>
                  <a:gd name="T8" fmla="*/ 0 60000 65536"/>
                  <a:gd name="T9" fmla="*/ 0 60000 65536"/>
                  <a:gd name="T10" fmla="*/ 0 60000 65536"/>
                  <a:gd name="T11" fmla="*/ 0 60000 65536"/>
                  <a:gd name="T12" fmla="*/ 0 w 768"/>
                  <a:gd name="T13" fmla="*/ 0 h 720"/>
                  <a:gd name="T14" fmla="*/ 768 w 768"/>
                  <a:gd name="T15" fmla="*/ 720 h 720"/>
                </a:gdLst>
                <a:ahLst/>
                <a:cxnLst>
                  <a:cxn ang="T8">
                    <a:pos x="T0" y="T1"/>
                  </a:cxn>
                  <a:cxn ang="T9">
                    <a:pos x="T2" y="T3"/>
                  </a:cxn>
                  <a:cxn ang="T10">
                    <a:pos x="T4" y="T5"/>
                  </a:cxn>
                  <a:cxn ang="T11">
                    <a:pos x="T6" y="T7"/>
                  </a:cxn>
                </a:cxnLst>
                <a:rect l="T12" t="T13" r="T14" b="T15"/>
                <a:pathLst>
                  <a:path w="768" h="720">
                    <a:moveTo>
                      <a:pt x="0" y="0"/>
                    </a:moveTo>
                    <a:lnTo>
                      <a:pt x="384" y="0"/>
                    </a:lnTo>
                    <a:lnTo>
                      <a:pt x="384" y="720"/>
                    </a:lnTo>
                    <a:lnTo>
                      <a:pt x="768" y="72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4" name="Rectangle 15" descr="宽上对角线"/>
              <p:cNvSpPr>
                <a:spLocks noChangeArrowheads="1"/>
              </p:cNvSpPr>
              <p:nvPr/>
            </p:nvSpPr>
            <p:spPr bwMode="auto">
              <a:xfrm>
                <a:off x="672" y="1008"/>
                <a:ext cx="384" cy="192"/>
              </a:xfrm>
              <a:prstGeom prst="rect">
                <a:avLst/>
              </a:prstGeom>
              <a:pattFill prst="wdUpDiag">
                <a:fgClr>
                  <a:srgbClr val="BBE0E3"/>
                </a:fgClr>
                <a:bgClr>
                  <a:srgbClr val="FFFFFF"/>
                </a:bgClr>
              </a:patt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5" name="Rectangle 16" descr="宽上对角线"/>
              <p:cNvSpPr>
                <a:spLocks noChangeArrowheads="1"/>
              </p:cNvSpPr>
              <p:nvPr/>
            </p:nvSpPr>
            <p:spPr bwMode="auto">
              <a:xfrm>
                <a:off x="1056" y="1536"/>
                <a:ext cx="384" cy="192"/>
              </a:xfrm>
              <a:prstGeom prst="rect">
                <a:avLst/>
              </a:prstGeom>
              <a:pattFill prst="wdUpDiag">
                <a:fgClr>
                  <a:srgbClr val="BBE0E3"/>
                </a:fgClr>
                <a:bgClr>
                  <a:srgbClr val="FFFFFF"/>
                </a:bgClr>
              </a:patt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6" name="Text Box 17"/>
              <p:cNvSpPr txBox="1">
                <a:spLocks noChangeArrowheads="1"/>
              </p:cNvSpPr>
              <p:nvPr/>
            </p:nvSpPr>
            <p:spPr bwMode="auto">
              <a:xfrm>
                <a:off x="756" y="960"/>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0</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97" name="Text Box 18"/>
              <p:cNvSpPr txBox="1">
                <a:spLocks noChangeArrowheads="1"/>
              </p:cNvSpPr>
              <p:nvPr/>
            </p:nvSpPr>
            <p:spPr bwMode="auto">
              <a:xfrm>
                <a:off x="1132" y="1488"/>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92" name="Text Box 19"/>
            <p:cNvSpPr txBox="1">
              <a:spLocks noChangeArrowheads="1"/>
            </p:cNvSpPr>
            <p:nvPr/>
          </p:nvSpPr>
          <p:spPr bwMode="auto">
            <a:xfrm>
              <a:off x="2266" y="2531"/>
              <a:ext cx="6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负逻辑</a:t>
              </a:r>
              <a:endParaRPr kumimoji="1" lang="zh-CN" altLang="en-US"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98" name="Text Box 20"/>
          <p:cNvSpPr txBox="1">
            <a:spLocks noChangeArrowheads="1"/>
          </p:cNvSpPr>
          <p:nvPr/>
        </p:nvSpPr>
        <p:spPr bwMode="auto">
          <a:xfrm>
            <a:off x="5333573" y="5459801"/>
            <a:ext cx="27523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本课程采用正逻辑</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AutoShape 21"/>
          <p:cNvSpPr>
            <a:spLocks noChangeArrowheads="1"/>
          </p:cNvSpPr>
          <p:nvPr/>
        </p:nvSpPr>
        <p:spPr bwMode="auto">
          <a:xfrm>
            <a:off x="592317" y="4930791"/>
            <a:ext cx="2231011" cy="921814"/>
          </a:xfrm>
          <a:prstGeom prst="wedgeRoundRectCallout">
            <a:avLst>
              <a:gd name="adj1" fmla="val 35476"/>
              <a:gd name="adj2" fmla="val -187165"/>
              <a:gd name="adj3" fmla="val 16667"/>
            </a:avLst>
          </a:prstGeom>
          <a:solidFill>
            <a:srgbClr val="FFFFFF"/>
          </a:solidFill>
          <a:ln w="38100">
            <a:solidFill>
              <a:srgbClr val="FF0000"/>
            </a:solidFill>
            <a:miter lim="800000"/>
            <a:tailEnd type="none" w="sm" len="lg"/>
          </a:ln>
        </p:spPr>
        <p:txBody>
          <a:bodyPr wrap="square" lIns="90000" tIns="46800" rIns="90000" bIns="46800">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333399"/>
                </a:solidFill>
                <a:effectLst/>
                <a:uLnTx/>
                <a:uFillTx/>
                <a:latin typeface="黑体" panose="02010609060101010101" pitchFamily="49" charset="-122"/>
                <a:ea typeface="黑体" panose="02010609060101010101" pitchFamily="49" charset="-122"/>
              </a:rPr>
              <a:t>只要能判断高低电平即可</a:t>
            </a:r>
            <a:endParaRPr kumimoji="1" lang="zh-CN" altLang="en-US" sz="2400" b="1" i="0" u="none" strike="noStrike" kern="0" cap="none" spc="0" normalizeH="0" baseline="0" noProof="0">
              <a:ln>
                <a:noFill/>
              </a:ln>
              <a:solidFill>
                <a:srgbClr val="333399"/>
              </a:solidFill>
              <a:effectLst/>
              <a:uLnTx/>
              <a:uFillTx/>
              <a:latin typeface="黑体" panose="02010609060101010101" pitchFamily="49" charset="-122"/>
              <a:ea typeface="黑体" panose="02010609060101010101" pitchFamily="49" charset="-122"/>
            </a:endParaRPr>
          </a:p>
        </p:txBody>
      </p:sp>
      <p:sp>
        <p:nvSpPr>
          <p:cNvPr id="100" name="Text Box 26"/>
          <p:cNvSpPr txBox="1">
            <a:spLocks noChangeArrowheads="1"/>
          </p:cNvSpPr>
          <p:nvPr/>
        </p:nvSpPr>
        <p:spPr bwMode="auto">
          <a:xfrm>
            <a:off x="682805" y="2985940"/>
            <a:ext cx="1393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高电平下限</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1" name="Text Box 27"/>
          <p:cNvSpPr txBox="1">
            <a:spLocks noChangeArrowheads="1"/>
          </p:cNvSpPr>
          <p:nvPr/>
        </p:nvSpPr>
        <p:spPr bwMode="auto">
          <a:xfrm>
            <a:off x="3762549" y="2697278"/>
            <a:ext cx="13036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低电平上限</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Line 28"/>
          <p:cNvSpPr>
            <a:spLocks noChangeShapeType="1"/>
          </p:cNvSpPr>
          <p:nvPr/>
        </p:nvSpPr>
        <p:spPr bwMode="auto">
          <a:xfrm flipV="1">
            <a:off x="1897242" y="3020864"/>
            <a:ext cx="439641" cy="182562"/>
          </a:xfrm>
          <a:prstGeom prst="line">
            <a:avLst/>
          </a:prstGeom>
          <a:noFill/>
          <a:ln w="1905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3" name="Line 29"/>
          <p:cNvSpPr>
            <a:spLocks noChangeShapeType="1"/>
          </p:cNvSpPr>
          <p:nvPr/>
        </p:nvSpPr>
        <p:spPr bwMode="auto">
          <a:xfrm flipH="1">
            <a:off x="3627542" y="3203429"/>
            <a:ext cx="553245" cy="322350"/>
          </a:xfrm>
          <a:prstGeom prst="line">
            <a:avLst/>
          </a:prstGeom>
          <a:noFill/>
          <a:ln w="1905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box(out)">
                                      <p:cBhvr>
                                        <p:cTn id="7" dur="500"/>
                                        <p:tgtEl>
                                          <p:spTgt spid="8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box(out)">
                                      <p:cBhvr>
                                        <p:cTn id="12" dur="500"/>
                                        <p:tgtEl>
                                          <p:spTgt spid="9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9"/>
                                        </p:tgtEl>
                                        <p:attrNameLst>
                                          <p:attrName>style.visibility</p:attrName>
                                        </p:attrNameLst>
                                      </p:cBhvr>
                                      <p:to>
                                        <p:strVal val="visible"/>
                                      </p:to>
                                    </p:set>
                                    <p:animEffect transition="in" filter="wipe(left)">
                                      <p:cBhvr>
                                        <p:cTn id="29" dur="500"/>
                                        <p:tgtEl>
                                          <p:spTgt spid="99"/>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8">
                                            <p:txEl>
                                              <p:pRg st="0" end="0"/>
                                            </p:txEl>
                                          </p:spTgt>
                                        </p:tgtEl>
                                        <p:attrNameLst>
                                          <p:attrName>style.visibility</p:attrName>
                                        </p:attrNameLst>
                                      </p:cBhvr>
                                      <p:to>
                                        <p:strVal val="visible"/>
                                      </p:to>
                                    </p:set>
                                    <p:animEffect transition="in" filter="box(out)">
                                      <p:cBhvr>
                                        <p:cTn id="34" dur="500"/>
                                        <p:tgtEl>
                                          <p:spTgt spid="98">
                                            <p:txEl>
                                              <p:pRg st="0" end="0"/>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utoUpdateAnimBg="0" build="p"/>
      <p:bldP spid="99" grpId="0" animBg="1" autoUpdateAnimBg="0"/>
      <p:bldP spid="100" grpId="0"/>
      <p:bldP spid="101" grpId="0"/>
      <p:bldP spid="102" grpId="0" animBg="1"/>
      <p:bldP spid="10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11" name="Text Box 2"/>
          <p:cNvSpPr txBox="1">
            <a:spLocks noChangeArrowheads="1"/>
          </p:cNvSpPr>
          <p:nvPr/>
        </p:nvSpPr>
        <p:spPr bwMode="auto">
          <a:xfrm>
            <a:off x="222418" y="2775017"/>
            <a:ext cx="1066800" cy="1311275"/>
          </a:xfrm>
          <a:prstGeom prst="rect">
            <a:avLst/>
          </a:prstGeom>
          <a:noFill/>
          <a:ln w="38100">
            <a:noFill/>
            <a:miter lim="800000"/>
          </a:ln>
        </p:spPr>
        <p:txBody>
          <a:bodyPr>
            <a:spAutoFit/>
          </a:bodyPr>
          <a:lstStyle/>
          <a:p>
            <a:pPr>
              <a:spcBef>
                <a:spcPct val="50000"/>
              </a:spcBef>
            </a:pPr>
            <a:r>
              <a:rPr kumimoji="1" lang="zh-CN" altLang="en-US" sz="3200" b="1" dirty="0">
                <a:latin typeface="黑体" panose="02010609060101010101" pitchFamily="49" charset="-122"/>
                <a:ea typeface="黑体" panose="02010609060101010101" pitchFamily="49" charset="-122"/>
              </a:rPr>
              <a:t>开关</a:t>
            </a:r>
            <a:endParaRPr kumimoji="1" lang="zh-CN" altLang="en-US" sz="3200" b="1" dirty="0">
              <a:latin typeface="黑体" panose="02010609060101010101" pitchFamily="49" charset="-122"/>
              <a:ea typeface="黑体" panose="02010609060101010101" pitchFamily="49" charset="-122"/>
            </a:endParaRPr>
          </a:p>
          <a:p>
            <a:pPr>
              <a:spcBef>
                <a:spcPct val="50000"/>
              </a:spcBef>
            </a:pPr>
            <a:r>
              <a:rPr kumimoji="1" lang="zh-CN" altLang="en-US" sz="3200" b="1" dirty="0">
                <a:latin typeface="黑体" panose="02010609060101010101" pitchFamily="49" charset="-122"/>
                <a:ea typeface="黑体" panose="02010609060101010101" pitchFamily="49" charset="-122"/>
              </a:rPr>
              <a:t>作用</a:t>
            </a:r>
            <a:endParaRPr kumimoji="1" lang="zh-CN" altLang="en-US" sz="3200" b="1" dirty="0">
              <a:latin typeface="黑体" panose="02010609060101010101" pitchFamily="49" charset="-122"/>
              <a:ea typeface="黑体" panose="02010609060101010101" pitchFamily="49" charset="-122"/>
            </a:endParaRPr>
          </a:p>
        </p:txBody>
      </p:sp>
      <p:sp>
        <p:nvSpPr>
          <p:cNvPr id="12" name="Text Box 3"/>
          <p:cNvSpPr txBox="1">
            <a:spLocks noChangeArrowheads="1"/>
          </p:cNvSpPr>
          <p:nvPr/>
        </p:nvSpPr>
        <p:spPr bwMode="auto">
          <a:xfrm>
            <a:off x="1700010" y="1733484"/>
            <a:ext cx="1600200" cy="579438"/>
          </a:xfrm>
          <a:prstGeom prst="rect">
            <a:avLst/>
          </a:prstGeom>
          <a:noFill/>
          <a:ln w="38100">
            <a:noFill/>
            <a:miter lim="800000"/>
          </a:ln>
        </p:spPr>
        <p:txBody>
          <a:bodyPr>
            <a:spAutoFit/>
          </a:bodyPr>
          <a:lstStyle/>
          <a:p>
            <a:pPr>
              <a:spcBef>
                <a:spcPct val="50000"/>
              </a:spcBef>
            </a:pPr>
            <a:r>
              <a:rPr kumimoji="1" lang="zh-CN" altLang="en-US" sz="3200" b="1" dirty="0">
                <a:solidFill>
                  <a:srgbClr val="0033CC"/>
                </a:solidFill>
                <a:latin typeface="黑体" panose="02010609060101010101" pitchFamily="49" charset="-122"/>
                <a:ea typeface="黑体" panose="02010609060101010101" pitchFamily="49" charset="-122"/>
              </a:rPr>
              <a:t>二极管</a:t>
            </a:r>
            <a:endParaRPr kumimoji="1" lang="zh-CN" altLang="en-US" sz="3200" b="1" dirty="0">
              <a:solidFill>
                <a:srgbClr val="0033CC"/>
              </a:solidFill>
              <a:latin typeface="黑体" panose="02010609060101010101" pitchFamily="49" charset="-122"/>
              <a:ea typeface="黑体" panose="02010609060101010101" pitchFamily="49" charset="-122"/>
            </a:endParaRPr>
          </a:p>
        </p:txBody>
      </p:sp>
      <p:sp>
        <p:nvSpPr>
          <p:cNvPr id="13" name="AutoShape 4"/>
          <p:cNvSpPr/>
          <p:nvPr/>
        </p:nvSpPr>
        <p:spPr bwMode="auto">
          <a:xfrm>
            <a:off x="1394116" y="2039308"/>
            <a:ext cx="305893" cy="2841963"/>
          </a:xfrm>
          <a:prstGeom prst="leftBrace">
            <a:avLst>
              <a:gd name="adj1" fmla="val 38226"/>
              <a:gd name="adj2" fmla="val 51667"/>
            </a:avLst>
          </a:prstGeom>
          <a:noFill/>
          <a:ln w="57150">
            <a:solidFill>
              <a:srgbClr val="0033CC"/>
            </a:solidFill>
            <a:round/>
          </a:ln>
        </p:spPr>
        <p:txBody>
          <a:bodyPr wrap="none" anchor="ctr"/>
          <a:lstStyle/>
          <a:p>
            <a:endParaRPr lang="zh-CN" altLang="en-US"/>
          </a:p>
        </p:txBody>
      </p:sp>
      <p:sp>
        <p:nvSpPr>
          <p:cNvPr id="14" name="AutoShape 5"/>
          <p:cNvSpPr/>
          <p:nvPr/>
        </p:nvSpPr>
        <p:spPr bwMode="auto">
          <a:xfrm>
            <a:off x="3111351" y="1320387"/>
            <a:ext cx="322262" cy="1489831"/>
          </a:xfrm>
          <a:prstGeom prst="leftBrace">
            <a:avLst>
              <a:gd name="adj1" fmla="val 44335"/>
              <a:gd name="adj2" fmla="val 50000"/>
            </a:avLst>
          </a:prstGeom>
          <a:noFill/>
          <a:ln w="38100">
            <a:solidFill>
              <a:srgbClr val="CC0066"/>
            </a:solidFill>
            <a:round/>
          </a:ln>
        </p:spPr>
        <p:txBody>
          <a:bodyPr wrap="none" anchor="ctr"/>
          <a:lstStyle/>
          <a:p>
            <a:endParaRPr lang="zh-CN" altLang="en-US"/>
          </a:p>
        </p:txBody>
      </p:sp>
      <p:grpSp>
        <p:nvGrpSpPr>
          <p:cNvPr id="15" name="Group 6"/>
          <p:cNvGrpSpPr/>
          <p:nvPr/>
        </p:nvGrpSpPr>
        <p:grpSpPr bwMode="auto">
          <a:xfrm>
            <a:off x="5450495" y="1271666"/>
            <a:ext cx="2362200" cy="564121"/>
            <a:chOff x="3928" y="45"/>
            <a:chExt cx="1692" cy="459"/>
          </a:xfrm>
        </p:grpSpPr>
        <p:grpSp>
          <p:nvGrpSpPr>
            <p:cNvPr id="16" name="Group 7"/>
            <p:cNvGrpSpPr/>
            <p:nvPr/>
          </p:nvGrpSpPr>
          <p:grpSpPr bwMode="auto">
            <a:xfrm>
              <a:off x="3928" y="184"/>
              <a:ext cx="1692" cy="264"/>
              <a:chOff x="2040" y="2128"/>
              <a:chExt cx="1692" cy="264"/>
            </a:xfrm>
          </p:grpSpPr>
          <p:sp>
            <p:nvSpPr>
              <p:cNvPr id="18" name="Line 8"/>
              <p:cNvSpPr>
                <a:spLocks noChangeShapeType="1"/>
              </p:cNvSpPr>
              <p:nvPr/>
            </p:nvSpPr>
            <p:spPr bwMode="auto">
              <a:xfrm>
                <a:off x="2136" y="2328"/>
                <a:ext cx="504" cy="0"/>
              </a:xfrm>
              <a:prstGeom prst="line">
                <a:avLst/>
              </a:prstGeom>
              <a:noFill/>
              <a:ln w="38100">
                <a:solidFill>
                  <a:schemeClr val="tx1"/>
                </a:solidFill>
                <a:round/>
              </a:ln>
            </p:spPr>
            <p:txBody>
              <a:bodyPr wrap="none" anchor="ctr"/>
              <a:lstStyle/>
              <a:p>
                <a:endParaRPr lang="zh-CN" altLang="en-US"/>
              </a:p>
            </p:txBody>
          </p:sp>
          <p:sp>
            <p:nvSpPr>
              <p:cNvPr id="19" name="Line 9"/>
              <p:cNvSpPr>
                <a:spLocks noChangeShapeType="1"/>
              </p:cNvSpPr>
              <p:nvPr/>
            </p:nvSpPr>
            <p:spPr bwMode="auto">
              <a:xfrm>
                <a:off x="3136" y="2352"/>
                <a:ext cx="528" cy="0"/>
              </a:xfrm>
              <a:prstGeom prst="line">
                <a:avLst/>
              </a:prstGeom>
              <a:noFill/>
              <a:ln w="38100">
                <a:solidFill>
                  <a:schemeClr val="tx1"/>
                </a:solidFill>
                <a:round/>
              </a:ln>
            </p:spPr>
            <p:txBody>
              <a:bodyPr wrap="none" anchor="ctr"/>
              <a:lstStyle/>
              <a:p>
                <a:endParaRPr lang="zh-CN" altLang="en-US"/>
              </a:p>
            </p:txBody>
          </p:sp>
          <p:sp>
            <p:nvSpPr>
              <p:cNvPr id="20" name="Line 10"/>
              <p:cNvSpPr>
                <a:spLocks noChangeShapeType="1"/>
              </p:cNvSpPr>
              <p:nvPr/>
            </p:nvSpPr>
            <p:spPr bwMode="auto">
              <a:xfrm>
                <a:off x="2544" y="2128"/>
                <a:ext cx="516" cy="192"/>
              </a:xfrm>
              <a:prstGeom prst="line">
                <a:avLst/>
              </a:prstGeom>
              <a:noFill/>
              <a:ln w="38100">
                <a:solidFill>
                  <a:schemeClr val="tx1"/>
                </a:solidFill>
                <a:round/>
              </a:ln>
            </p:spPr>
            <p:txBody>
              <a:bodyPr wrap="none" anchor="ctr"/>
              <a:lstStyle/>
              <a:p>
                <a:endParaRPr lang="zh-CN" altLang="en-US"/>
              </a:p>
            </p:txBody>
          </p:sp>
          <p:sp>
            <p:nvSpPr>
              <p:cNvPr id="21" name="Oval 11"/>
              <p:cNvSpPr>
                <a:spLocks noChangeArrowheads="1"/>
              </p:cNvSpPr>
              <p:nvPr/>
            </p:nvSpPr>
            <p:spPr bwMode="auto">
              <a:xfrm>
                <a:off x="2616" y="2280"/>
                <a:ext cx="84" cy="84"/>
              </a:xfrm>
              <a:prstGeom prst="ellipse">
                <a:avLst/>
              </a:prstGeom>
              <a:noFill/>
              <a:ln w="38100">
                <a:solidFill>
                  <a:schemeClr val="tx1"/>
                </a:solidFill>
                <a:round/>
              </a:ln>
            </p:spPr>
            <p:txBody>
              <a:bodyPr wrap="none" anchor="ctr"/>
              <a:lstStyle/>
              <a:p>
                <a:endParaRPr lang="zh-CN" altLang="en-US"/>
              </a:p>
            </p:txBody>
          </p:sp>
          <p:sp>
            <p:nvSpPr>
              <p:cNvPr id="22" name="Oval 12"/>
              <p:cNvSpPr>
                <a:spLocks noChangeArrowheads="1"/>
              </p:cNvSpPr>
              <p:nvPr/>
            </p:nvSpPr>
            <p:spPr bwMode="auto">
              <a:xfrm>
                <a:off x="2040" y="2292"/>
                <a:ext cx="84" cy="84"/>
              </a:xfrm>
              <a:prstGeom prst="ellipse">
                <a:avLst/>
              </a:prstGeom>
              <a:noFill/>
              <a:ln w="38100">
                <a:solidFill>
                  <a:schemeClr val="tx1"/>
                </a:solidFill>
                <a:round/>
              </a:ln>
            </p:spPr>
            <p:txBody>
              <a:bodyPr wrap="none" anchor="ctr"/>
              <a:lstStyle/>
              <a:p>
                <a:endParaRPr lang="zh-CN" altLang="en-US"/>
              </a:p>
            </p:txBody>
          </p:sp>
          <p:sp>
            <p:nvSpPr>
              <p:cNvPr id="23" name="Oval 13"/>
              <p:cNvSpPr>
                <a:spLocks noChangeArrowheads="1"/>
              </p:cNvSpPr>
              <p:nvPr/>
            </p:nvSpPr>
            <p:spPr bwMode="auto">
              <a:xfrm>
                <a:off x="3648" y="2308"/>
                <a:ext cx="84" cy="84"/>
              </a:xfrm>
              <a:prstGeom prst="ellipse">
                <a:avLst/>
              </a:prstGeom>
              <a:noFill/>
              <a:ln w="38100">
                <a:solidFill>
                  <a:schemeClr val="tx1"/>
                </a:solidFill>
                <a:round/>
              </a:ln>
            </p:spPr>
            <p:txBody>
              <a:bodyPr wrap="none" anchor="ctr"/>
              <a:lstStyle/>
              <a:p>
                <a:endParaRPr lang="zh-CN" altLang="en-US"/>
              </a:p>
            </p:txBody>
          </p:sp>
          <p:sp>
            <p:nvSpPr>
              <p:cNvPr id="24" name="Oval 14"/>
              <p:cNvSpPr>
                <a:spLocks noChangeArrowheads="1"/>
              </p:cNvSpPr>
              <p:nvPr/>
            </p:nvSpPr>
            <p:spPr bwMode="auto">
              <a:xfrm>
                <a:off x="3060" y="2304"/>
                <a:ext cx="84" cy="84"/>
              </a:xfrm>
              <a:prstGeom prst="ellipse">
                <a:avLst/>
              </a:prstGeom>
              <a:noFill/>
              <a:ln w="38100">
                <a:solidFill>
                  <a:schemeClr val="tx1"/>
                </a:solidFill>
                <a:round/>
              </a:ln>
            </p:spPr>
            <p:txBody>
              <a:bodyPr wrap="none" anchor="ctr"/>
              <a:lstStyle/>
              <a:p>
                <a:endParaRPr lang="zh-CN" altLang="en-US"/>
              </a:p>
            </p:txBody>
          </p:sp>
        </p:grpSp>
        <p:sp>
          <p:nvSpPr>
            <p:cNvPr id="17" name="Arc 15"/>
            <p:cNvSpPr/>
            <p:nvPr/>
          </p:nvSpPr>
          <p:spPr bwMode="auto">
            <a:xfrm flipH="1">
              <a:off x="4696" y="45"/>
              <a:ext cx="248" cy="459"/>
            </a:xfrm>
            <a:custGeom>
              <a:avLst/>
              <a:gdLst>
                <a:gd name="T0" fmla="*/ 0 w 21600"/>
                <a:gd name="T1" fmla="*/ 0 h 19657"/>
                <a:gd name="T2" fmla="*/ 0 w 21600"/>
                <a:gd name="T3" fmla="*/ 0 h 19657"/>
                <a:gd name="T4" fmla="*/ 0 w 21600"/>
                <a:gd name="T5" fmla="*/ 0 h 19657"/>
                <a:gd name="T6" fmla="*/ 0 60000 65536"/>
                <a:gd name="T7" fmla="*/ 0 60000 65536"/>
                <a:gd name="T8" fmla="*/ 0 60000 65536"/>
                <a:gd name="T9" fmla="*/ 0 w 21600"/>
                <a:gd name="T10" fmla="*/ 0 h 19657"/>
                <a:gd name="T11" fmla="*/ 21600 w 21600"/>
                <a:gd name="T12" fmla="*/ 19657 h 19657"/>
              </a:gdLst>
              <a:ahLst/>
              <a:cxnLst>
                <a:cxn ang="T6">
                  <a:pos x="T0" y="T1"/>
                </a:cxn>
                <a:cxn ang="T7">
                  <a:pos x="T2" y="T3"/>
                </a:cxn>
                <a:cxn ang="T8">
                  <a:pos x="T4" y="T5"/>
                </a:cxn>
              </a:cxnLst>
              <a:rect l="T9" t="T10" r="T11" b="T12"/>
              <a:pathLst>
                <a:path w="21600" h="19657" fill="none" extrusionOk="0">
                  <a:moveTo>
                    <a:pt x="8953" y="0"/>
                  </a:moveTo>
                  <a:cubicBezTo>
                    <a:pt x="16656" y="3508"/>
                    <a:pt x="21600" y="11192"/>
                    <a:pt x="21600" y="19657"/>
                  </a:cubicBezTo>
                </a:path>
                <a:path w="21600" h="19657" stroke="0" extrusionOk="0">
                  <a:moveTo>
                    <a:pt x="8953" y="0"/>
                  </a:moveTo>
                  <a:cubicBezTo>
                    <a:pt x="16656" y="3508"/>
                    <a:pt x="21600" y="11192"/>
                    <a:pt x="21600" y="19657"/>
                  </a:cubicBezTo>
                  <a:lnTo>
                    <a:pt x="0" y="19657"/>
                  </a:lnTo>
                  <a:close/>
                </a:path>
              </a:pathLst>
            </a:custGeom>
            <a:noFill/>
            <a:ln w="38100">
              <a:solidFill>
                <a:srgbClr val="990000"/>
              </a:solidFill>
              <a:round/>
              <a:tailEnd type="triangle" w="med" len="med"/>
            </a:ln>
          </p:spPr>
          <p:txBody>
            <a:bodyPr wrap="none" anchor="ctr"/>
            <a:lstStyle/>
            <a:p>
              <a:endParaRPr lang="zh-CN" altLang="en-US"/>
            </a:p>
          </p:txBody>
        </p:sp>
      </p:grpSp>
      <p:grpSp>
        <p:nvGrpSpPr>
          <p:cNvPr id="25" name="Group 16"/>
          <p:cNvGrpSpPr/>
          <p:nvPr/>
        </p:nvGrpSpPr>
        <p:grpSpPr bwMode="auto">
          <a:xfrm>
            <a:off x="5450494" y="2484552"/>
            <a:ext cx="2428875" cy="547906"/>
            <a:chOff x="3880" y="1301"/>
            <a:chExt cx="1692" cy="403"/>
          </a:xfrm>
        </p:grpSpPr>
        <p:grpSp>
          <p:nvGrpSpPr>
            <p:cNvPr id="26" name="Group 17"/>
            <p:cNvGrpSpPr/>
            <p:nvPr/>
          </p:nvGrpSpPr>
          <p:grpSpPr bwMode="auto">
            <a:xfrm>
              <a:off x="3880" y="1440"/>
              <a:ext cx="1692" cy="264"/>
              <a:chOff x="2040" y="2128"/>
              <a:chExt cx="1692" cy="264"/>
            </a:xfrm>
          </p:grpSpPr>
          <p:sp>
            <p:nvSpPr>
              <p:cNvPr id="28" name="Line 18"/>
              <p:cNvSpPr>
                <a:spLocks noChangeShapeType="1"/>
              </p:cNvSpPr>
              <p:nvPr/>
            </p:nvSpPr>
            <p:spPr bwMode="auto">
              <a:xfrm>
                <a:off x="2136" y="2328"/>
                <a:ext cx="504" cy="0"/>
              </a:xfrm>
              <a:prstGeom prst="line">
                <a:avLst/>
              </a:prstGeom>
              <a:noFill/>
              <a:ln w="38100">
                <a:solidFill>
                  <a:schemeClr val="tx1"/>
                </a:solidFill>
                <a:round/>
              </a:ln>
            </p:spPr>
            <p:txBody>
              <a:bodyPr wrap="none" anchor="ctr"/>
              <a:lstStyle/>
              <a:p>
                <a:endParaRPr lang="zh-CN" altLang="en-US"/>
              </a:p>
            </p:txBody>
          </p:sp>
          <p:sp>
            <p:nvSpPr>
              <p:cNvPr id="29" name="Line 19"/>
              <p:cNvSpPr>
                <a:spLocks noChangeShapeType="1"/>
              </p:cNvSpPr>
              <p:nvPr/>
            </p:nvSpPr>
            <p:spPr bwMode="auto">
              <a:xfrm>
                <a:off x="3136" y="2352"/>
                <a:ext cx="528" cy="0"/>
              </a:xfrm>
              <a:prstGeom prst="line">
                <a:avLst/>
              </a:prstGeom>
              <a:noFill/>
              <a:ln w="38100">
                <a:solidFill>
                  <a:schemeClr val="tx1"/>
                </a:solidFill>
                <a:round/>
              </a:ln>
            </p:spPr>
            <p:txBody>
              <a:bodyPr wrap="none" anchor="ctr"/>
              <a:lstStyle/>
              <a:p>
                <a:endParaRPr lang="zh-CN" altLang="en-US"/>
              </a:p>
            </p:txBody>
          </p:sp>
          <p:sp>
            <p:nvSpPr>
              <p:cNvPr id="30" name="Line 20"/>
              <p:cNvSpPr>
                <a:spLocks noChangeShapeType="1"/>
              </p:cNvSpPr>
              <p:nvPr/>
            </p:nvSpPr>
            <p:spPr bwMode="auto">
              <a:xfrm>
                <a:off x="2544" y="2128"/>
                <a:ext cx="516" cy="192"/>
              </a:xfrm>
              <a:prstGeom prst="line">
                <a:avLst/>
              </a:prstGeom>
              <a:noFill/>
              <a:ln w="38100">
                <a:solidFill>
                  <a:schemeClr val="tx1"/>
                </a:solidFill>
                <a:round/>
              </a:ln>
            </p:spPr>
            <p:txBody>
              <a:bodyPr wrap="none" anchor="ctr"/>
              <a:lstStyle/>
              <a:p>
                <a:endParaRPr lang="zh-CN" altLang="en-US"/>
              </a:p>
            </p:txBody>
          </p:sp>
          <p:sp>
            <p:nvSpPr>
              <p:cNvPr id="31" name="Oval 21"/>
              <p:cNvSpPr>
                <a:spLocks noChangeArrowheads="1"/>
              </p:cNvSpPr>
              <p:nvPr/>
            </p:nvSpPr>
            <p:spPr bwMode="auto">
              <a:xfrm>
                <a:off x="2616" y="2280"/>
                <a:ext cx="84" cy="84"/>
              </a:xfrm>
              <a:prstGeom prst="ellipse">
                <a:avLst/>
              </a:prstGeom>
              <a:noFill/>
              <a:ln w="38100">
                <a:solidFill>
                  <a:schemeClr val="tx1"/>
                </a:solidFill>
                <a:round/>
              </a:ln>
            </p:spPr>
            <p:txBody>
              <a:bodyPr wrap="none" anchor="ctr"/>
              <a:lstStyle/>
              <a:p>
                <a:endParaRPr lang="zh-CN" altLang="en-US"/>
              </a:p>
            </p:txBody>
          </p:sp>
          <p:sp>
            <p:nvSpPr>
              <p:cNvPr id="32" name="Oval 22"/>
              <p:cNvSpPr>
                <a:spLocks noChangeArrowheads="1"/>
              </p:cNvSpPr>
              <p:nvPr/>
            </p:nvSpPr>
            <p:spPr bwMode="auto">
              <a:xfrm>
                <a:off x="2040" y="2292"/>
                <a:ext cx="84" cy="84"/>
              </a:xfrm>
              <a:prstGeom prst="ellipse">
                <a:avLst/>
              </a:prstGeom>
              <a:noFill/>
              <a:ln w="38100">
                <a:solidFill>
                  <a:schemeClr val="tx1"/>
                </a:solidFill>
                <a:round/>
              </a:ln>
            </p:spPr>
            <p:txBody>
              <a:bodyPr wrap="none" anchor="ctr"/>
              <a:lstStyle/>
              <a:p>
                <a:endParaRPr lang="zh-CN" altLang="en-US"/>
              </a:p>
            </p:txBody>
          </p:sp>
          <p:sp>
            <p:nvSpPr>
              <p:cNvPr id="33" name="Oval 23"/>
              <p:cNvSpPr>
                <a:spLocks noChangeArrowheads="1"/>
              </p:cNvSpPr>
              <p:nvPr/>
            </p:nvSpPr>
            <p:spPr bwMode="auto">
              <a:xfrm>
                <a:off x="3648" y="2308"/>
                <a:ext cx="84" cy="84"/>
              </a:xfrm>
              <a:prstGeom prst="ellipse">
                <a:avLst/>
              </a:prstGeom>
              <a:noFill/>
              <a:ln w="38100">
                <a:solidFill>
                  <a:schemeClr val="tx1"/>
                </a:solidFill>
                <a:round/>
              </a:ln>
            </p:spPr>
            <p:txBody>
              <a:bodyPr wrap="none" anchor="ctr"/>
              <a:lstStyle/>
              <a:p>
                <a:endParaRPr lang="zh-CN" altLang="en-US"/>
              </a:p>
            </p:txBody>
          </p:sp>
          <p:sp>
            <p:nvSpPr>
              <p:cNvPr id="37" name="Oval 24"/>
              <p:cNvSpPr>
                <a:spLocks noChangeArrowheads="1"/>
              </p:cNvSpPr>
              <p:nvPr/>
            </p:nvSpPr>
            <p:spPr bwMode="auto">
              <a:xfrm>
                <a:off x="3060" y="2304"/>
                <a:ext cx="84" cy="84"/>
              </a:xfrm>
              <a:prstGeom prst="ellipse">
                <a:avLst/>
              </a:prstGeom>
              <a:noFill/>
              <a:ln w="38100">
                <a:solidFill>
                  <a:schemeClr val="tx1"/>
                </a:solidFill>
                <a:round/>
              </a:ln>
            </p:spPr>
            <p:txBody>
              <a:bodyPr wrap="none" anchor="ctr"/>
              <a:lstStyle/>
              <a:p>
                <a:endParaRPr lang="zh-CN" altLang="en-US"/>
              </a:p>
            </p:txBody>
          </p:sp>
        </p:grpSp>
        <p:sp>
          <p:nvSpPr>
            <p:cNvPr id="27" name="Arc 25"/>
            <p:cNvSpPr/>
            <p:nvPr/>
          </p:nvSpPr>
          <p:spPr bwMode="auto">
            <a:xfrm flipV="1">
              <a:off x="4664" y="1301"/>
              <a:ext cx="144" cy="378"/>
            </a:xfrm>
            <a:custGeom>
              <a:avLst/>
              <a:gdLst>
                <a:gd name="T0" fmla="*/ 0 w 21600"/>
                <a:gd name="T1" fmla="*/ 0 h 22732"/>
                <a:gd name="T2" fmla="*/ 0 w 21600"/>
                <a:gd name="T3" fmla="*/ 0 h 22732"/>
                <a:gd name="T4" fmla="*/ 0 w 21600"/>
                <a:gd name="T5" fmla="*/ 0 h 22732"/>
                <a:gd name="T6" fmla="*/ 0 60000 65536"/>
                <a:gd name="T7" fmla="*/ 0 60000 65536"/>
                <a:gd name="T8" fmla="*/ 0 60000 65536"/>
                <a:gd name="T9" fmla="*/ 0 w 21600"/>
                <a:gd name="T10" fmla="*/ 0 h 22732"/>
                <a:gd name="T11" fmla="*/ 21600 w 21600"/>
                <a:gd name="T12" fmla="*/ 22732 h 22732"/>
              </a:gdLst>
              <a:ahLst/>
              <a:cxnLst>
                <a:cxn ang="T6">
                  <a:pos x="T0" y="T1"/>
                </a:cxn>
                <a:cxn ang="T7">
                  <a:pos x="T2" y="T3"/>
                </a:cxn>
                <a:cxn ang="T8">
                  <a:pos x="T4" y="T5"/>
                </a:cxn>
              </a:cxnLst>
              <a:rect l="T9" t="T10" r="T11" b="T12"/>
              <a:pathLst>
                <a:path w="21600" h="22732" fill="none" extrusionOk="0">
                  <a:moveTo>
                    <a:pt x="6454" y="-1"/>
                  </a:moveTo>
                  <a:cubicBezTo>
                    <a:pt x="15465" y="2821"/>
                    <a:pt x="21600" y="11169"/>
                    <a:pt x="21600" y="20613"/>
                  </a:cubicBezTo>
                  <a:cubicBezTo>
                    <a:pt x="21600" y="21320"/>
                    <a:pt x="21565" y="22027"/>
                    <a:pt x="21495" y="22731"/>
                  </a:cubicBezTo>
                </a:path>
                <a:path w="21600" h="22732" stroke="0" extrusionOk="0">
                  <a:moveTo>
                    <a:pt x="6454" y="-1"/>
                  </a:moveTo>
                  <a:cubicBezTo>
                    <a:pt x="15465" y="2821"/>
                    <a:pt x="21600" y="11169"/>
                    <a:pt x="21600" y="20613"/>
                  </a:cubicBezTo>
                  <a:cubicBezTo>
                    <a:pt x="21600" y="21320"/>
                    <a:pt x="21565" y="22027"/>
                    <a:pt x="21495" y="22731"/>
                  </a:cubicBezTo>
                  <a:lnTo>
                    <a:pt x="0" y="20613"/>
                  </a:lnTo>
                  <a:close/>
                </a:path>
              </a:pathLst>
            </a:custGeom>
            <a:noFill/>
            <a:ln w="38100">
              <a:solidFill>
                <a:srgbClr val="990000"/>
              </a:solidFill>
              <a:round/>
              <a:tailEnd type="triangle" w="med" len="med"/>
            </a:ln>
          </p:spPr>
          <p:txBody>
            <a:bodyPr wrap="none" anchor="ctr"/>
            <a:lstStyle/>
            <a:p>
              <a:endParaRPr lang="zh-CN" altLang="en-US"/>
            </a:p>
          </p:txBody>
        </p:sp>
      </p:grpSp>
      <p:sp>
        <p:nvSpPr>
          <p:cNvPr id="38" name="Text Box 26"/>
          <p:cNvSpPr txBox="1">
            <a:spLocks noChangeArrowheads="1"/>
          </p:cNvSpPr>
          <p:nvPr/>
        </p:nvSpPr>
        <p:spPr bwMode="auto">
          <a:xfrm>
            <a:off x="3475033" y="2434479"/>
            <a:ext cx="1854879" cy="523220"/>
          </a:xfrm>
          <a:prstGeom prst="rect">
            <a:avLst/>
          </a:prstGeom>
          <a:noFill/>
          <a:ln w="38100">
            <a:noFill/>
            <a:miter lim="800000"/>
          </a:ln>
        </p:spPr>
        <p:txBody>
          <a:bodyPr wrap="square">
            <a:spAutoFit/>
          </a:bodyPr>
          <a:lstStyle/>
          <a:p>
            <a:pPr>
              <a:spcBef>
                <a:spcPct val="50000"/>
              </a:spcBef>
            </a:pPr>
            <a:r>
              <a:rPr kumimoji="1" lang="zh-CN" altLang="en-US" sz="2800" b="1">
                <a:solidFill>
                  <a:srgbClr val="CC0066"/>
                </a:solidFill>
                <a:latin typeface="Times New Roman" panose="02020603050405020304" pitchFamily="18" charset="0"/>
                <a:ea typeface="长城楷体" pitchFamily="49" charset="-122"/>
              </a:rPr>
              <a:t>反向截止：</a:t>
            </a:r>
            <a:endParaRPr kumimoji="1" lang="zh-CN" altLang="en-US" sz="2800" b="1">
              <a:solidFill>
                <a:srgbClr val="CC0066"/>
              </a:solidFill>
              <a:latin typeface="Times New Roman" panose="02020603050405020304" pitchFamily="18" charset="0"/>
              <a:ea typeface="长城楷体" pitchFamily="49" charset="-122"/>
            </a:endParaRPr>
          </a:p>
        </p:txBody>
      </p:sp>
      <p:sp>
        <p:nvSpPr>
          <p:cNvPr id="39" name="Text Box 27"/>
          <p:cNvSpPr txBox="1">
            <a:spLocks noChangeArrowheads="1"/>
          </p:cNvSpPr>
          <p:nvPr/>
        </p:nvSpPr>
        <p:spPr bwMode="auto">
          <a:xfrm>
            <a:off x="5794589" y="758623"/>
            <a:ext cx="2038350" cy="519113"/>
          </a:xfrm>
          <a:prstGeom prst="rect">
            <a:avLst/>
          </a:prstGeom>
          <a:noFill/>
          <a:ln w="38100">
            <a:noFill/>
            <a:miter lim="800000"/>
          </a:ln>
        </p:spPr>
        <p:txBody>
          <a:bodyPr>
            <a:spAutoFit/>
          </a:bodyPr>
          <a:lstStyle/>
          <a:p>
            <a:pPr>
              <a:spcBef>
                <a:spcPct val="50000"/>
              </a:spcBef>
            </a:pPr>
            <a:r>
              <a:rPr kumimoji="1" lang="zh-CN" altLang="en-US" sz="2800" b="1">
                <a:solidFill>
                  <a:srgbClr val="006600"/>
                </a:solidFill>
                <a:latin typeface="Times New Roman" panose="02020603050405020304" pitchFamily="18" charset="0"/>
                <a:ea typeface="长城楷体" pitchFamily="49" charset="-122"/>
              </a:rPr>
              <a:t>开关接通</a:t>
            </a:r>
            <a:endParaRPr kumimoji="1" lang="zh-CN" altLang="en-US" sz="2800" b="1">
              <a:solidFill>
                <a:srgbClr val="006600"/>
              </a:solidFill>
              <a:latin typeface="Times New Roman" panose="02020603050405020304" pitchFamily="18" charset="0"/>
              <a:ea typeface="长城楷体" pitchFamily="49" charset="-122"/>
            </a:endParaRPr>
          </a:p>
        </p:txBody>
      </p:sp>
      <p:sp>
        <p:nvSpPr>
          <p:cNvPr id="40" name="Text Box 28"/>
          <p:cNvSpPr txBox="1">
            <a:spLocks noChangeArrowheads="1"/>
          </p:cNvSpPr>
          <p:nvPr/>
        </p:nvSpPr>
        <p:spPr bwMode="auto">
          <a:xfrm>
            <a:off x="5761645" y="2010474"/>
            <a:ext cx="2209800" cy="519113"/>
          </a:xfrm>
          <a:prstGeom prst="rect">
            <a:avLst/>
          </a:prstGeom>
          <a:noFill/>
          <a:ln w="38100">
            <a:noFill/>
            <a:miter lim="800000"/>
          </a:ln>
        </p:spPr>
        <p:txBody>
          <a:bodyPr>
            <a:spAutoFit/>
          </a:bodyPr>
          <a:lstStyle/>
          <a:p>
            <a:pPr>
              <a:spcBef>
                <a:spcPct val="50000"/>
              </a:spcBef>
            </a:pPr>
            <a:r>
              <a:rPr kumimoji="1" lang="zh-CN" altLang="en-US" sz="2800" b="1" dirty="0">
                <a:solidFill>
                  <a:srgbClr val="006600"/>
                </a:solidFill>
                <a:latin typeface="Times New Roman" panose="02020603050405020304" pitchFamily="18" charset="0"/>
                <a:ea typeface="长城楷体" pitchFamily="49" charset="-122"/>
              </a:rPr>
              <a:t>开关断开</a:t>
            </a:r>
            <a:endParaRPr kumimoji="1" lang="zh-CN" altLang="en-US" sz="2800" b="1" dirty="0">
              <a:solidFill>
                <a:srgbClr val="006600"/>
              </a:solidFill>
              <a:latin typeface="Times New Roman" panose="02020603050405020304" pitchFamily="18" charset="0"/>
              <a:ea typeface="长城楷体" pitchFamily="49" charset="-122"/>
            </a:endParaRPr>
          </a:p>
        </p:txBody>
      </p:sp>
      <p:sp>
        <p:nvSpPr>
          <p:cNvPr id="41" name="Text Box 29"/>
          <p:cNvSpPr txBox="1">
            <a:spLocks noChangeArrowheads="1"/>
          </p:cNvSpPr>
          <p:nvPr/>
        </p:nvSpPr>
        <p:spPr bwMode="auto">
          <a:xfrm>
            <a:off x="1702802" y="4512103"/>
            <a:ext cx="1600200" cy="1077218"/>
          </a:xfrm>
          <a:prstGeom prst="rect">
            <a:avLst/>
          </a:prstGeom>
          <a:noFill/>
          <a:ln w="38100">
            <a:noFill/>
            <a:miter lim="800000"/>
          </a:ln>
        </p:spPr>
        <p:txBody>
          <a:bodyPr>
            <a:spAutoFit/>
          </a:bodyPr>
          <a:lstStyle/>
          <a:p>
            <a:pPr>
              <a:spcBef>
                <a:spcPct val="50000"/>
              </a:spcBef>
            </a:pPr>
            <a:r>
              <a:rPr kumimoji="1" lang="zh-CN" altLang="en-US" sz="3200" b="1" dirty="0">
                <a:solidFill>
                  <a:srgbClr val="0033CC"/>
                </a:solidFill>
                <a:latin typeface="黑体" panose="02010609060101010101" pitchFamily="49" charset="-122"/>
                <a:ea typeface="黑体" panose="02010609060101010101" pitchFamily="49" charset="-122"/>
              </a:rPr>
              <a:t>三极管</a:t>
            </a:r>
            <a:r>
              <a:rPr kumimoji="1" lang="en-US" altLang="zh-CN" sz="3200" b="1" dirty="0">
                <a:solidFill>
                  <a:srgbClr val="0033CC"/>
                </a:solidFill>
                <a:latin typeface="黑体" panose="02010609060101010101" pitchFamily="49" charset="-122"/>
                <a:ea typeface="黑体" panose="02010609060101010101" pitchFamily="49" charset="-122"/>
              </a:rPr>
              <a:t>(C,E)</a:t>
            </a:r>
            <a:endParaRPr kumimoji="1" lang="en-US" altLang="zh-CN" sz="3200" b="1" dirty="0">
              <a:solidFill>
                <a:srgbClr val="0033CC"/>
              </a:solidFill>
              <a:latin typeface="黑体" panose="02010609060101010101" pitchFamily="49" charset="-122"/>
              <a:ea typeface="黑体" panose="02010609060101010101" pitchFamily="49" charset="-122"/>
            </a:endParaRPr>
          </a:p>
        </p:txBody>
      </p:sp>
      <p:sp>
        <p:nvSpPr>
          <p:cNvPr id="42" name="AutoShape 30"/>
          <p:cNvSpPr/>
          <p:nvPr/>
        </p:nvSpPr>
        <p:spPr bwMode="auto">
          <a:xfrm>
            <a:off x="3115208" y="4208084"/>
            <a:ext cx="311150" cy="1801679"/>
          </a:xfrm>
          <a:prstGeom prst="leftBrace">
            <a:avLst>
              <a:gd name="adj1" fmla="val 72468"/>
              <a:gd name="adj2" fmla="val 50000"/>
            </a:avLst>
          </a:prstGeom>
          <a:noFill/>
          <a:ln w="38100">
            <a:solidFill>
              <a:srgbClr val="CC0066"/>
            </a:solidFill>
            <a:round/>
          </a:ln>
        </p:spPr>
        <p:txBody>
          <a:bodyPr wrap="none" anchor="ctr"/>
          <a:lstStyle/>
          <a:p>
            <a:endParaRPr lang="zh-CN" altLang="en-US"/>
          </a:p>
        </p:txBody>
      </p:sp>
      <p:sp>
        <p:nvSpPr>
          <p:cNvPr id="43" name="Text Box 31"/>
          <p:cNvSpPr txBox="1">
            <a:spLocks noChangeArrowheads="1"/>
          </p:cNvSpPr>
          <p:nvPr/>
        </p:nvSpPr>
        <p:spPr bwMode="auto">
          <a:xfrm>
            <a:off x="3393009" y="3996795"/>
            <a:ext cx="1566491" cy="523220"/>
          </a:xfrm>
          <a:prstGeom prst="rect">
            <a:avLst/>
          </a:prstGeom>
          <a:noFill/>
          <a:ln w="38100">
            <a:noFill/>
            <a:miter lim="800000"/>
          </a:ln>
        </p:spPr>
        <p:txBody>
          <a:bodyPr wrap="square">
            <a:spAutoFit/>
          </a:bodyPr>
          <a:lstStyle/>
          <a:p>
            <a:pPr>
              <a:spcBef>
                <a:spcPct val="50000"/>
              </a:spcBef>
            </a:pPr>
            <a:r>
              <a:rPr kumimoji="1" lang="zh-CN" altLang="en-US" sz="2800" b="1" dirty="0">
                <a:solidFill>
                  <a:srgbClr val="CC0066"/>
                </a:solidFill>
                <a:latin typeface="Times New Roman" panose="02020603050405020304" pitchFamily="18" charset="0"/>
                <a:ea typeface="长城楷体" pitchFamily="49" charset="-122"/>
              </a:rPr>
              <a:t>饱和区： </a:t>
            </a:r>
            <a:endParaRPr kumimoji="1" lang="zh-CN" altLang="en-US" sz="2800" b="1" dirty="0">
              <a:solidFill>
                <a:srgbClr val="CC0066"/>
              </a:solidFill>
              <a:latin typeface="Times New Roman" panose="02020603050405020304" pitchFamily="18" charset="0"/>
              <a:ea typeface="长城楷体" pitchFamily="49" charset="-122"/>
            </a:endParaRPr>
          </a:p>
        </p:txBody>
      </p:sp>
      <p:sp>
        <p:nvSpPr>
          <p:cNvPr id="44" name="Text Box 32"/>
          <p:cNvSpPr txBox="1">
            <a:spLocks noChangeArrowheads="1"/>
          </p:cNvSpPr>
          <p:nvPr/>
        </p:nvSpPr>
        <p:spPr bwMode="auto">
          <a:xfrm>
            <a:off x="3387122" y="5636725"/>
            <a:ext cx="1492552" cy="523220"/>
          </a:xfrm>
          <a:prstGeom prst="rect">
            <a:avLst/>
          </a:prstGeom>
          <a:noFill/>
          <a:ln w="38100">
            <a:noFill/>
            <a:miter lim="800000"/>
          </a:ln>
        </p:spPr>
        <p:txBody>
          <a:bodyPr wrap="square">
            <a:spAutoFit/>
          </a:bodyPr>
          <a:lstStyle/>
          <a:p>
            <a:pPr>
              <a:spcBef>
                <a:spcPct val="50000"/>
              </a:spcBef>
            </a:pPr>
            <a:r>
              <a:rPr kumimoji="1" lang="zh-CN" altLang="en-US" sz="2800" b="1" dirty="0">
                <a:solidFill>
                  <a:srgbClr val="CC0066"/>
                </a:solidFill>
                <a:latin typeface="Times New Roman" panose="02020603050405020304" pitchFamily="18" charset="0"/>
                <a:ea typeface="长城楷体" pitchFamily="49" charset="-122"/>
              </a:rPr>
              <a:t>截止区：</a:t>
            </a:r>
            <a:endParaRPr kumimoji="1" lang="zh-CN" altLang="en-US" sz="2800" b="1" dirty="0">
              <a:solidFill>
                <a:srgbClr val="CC0066"/>
              </a:solidFill>
              <a:latin typeface="Times New Roman" panose="02020603050405020304" pitchFamily="18" charset="0"/>
              <a:ea typeface="长城楷体" pitchFamily="49" charset="-122"/>
            </a:endParaRPr>
          </a:p>
        </p:txBody>
      </p:sp>
      <p:sp>
        <p:nvSpPr>
          <p:cNvPr id="45" name="Text Box 33"/>
          <p:cNvSpPr txBox="1">
            <a:spLocks noChangeArrowheads="1"/>
          </p:cNvSpPr>
          <p:nvPr/>
        </p:nvSpPr>
        <p:spPr bwMode="auto">
          <a:xfrm>
            <a:off x="6284903" y="3981160"/>
            <a:ext cx="2076450" cy="519112"/>
          </a:xfrm>
          <a:prstGeom prst="rect">
            <a:avLst/>
          </a:prstGeom>
          <a:noFill/>
          <a:ln w="38100">
            <a:noFill/>
            <a:miter lim="800000"/>
          </a:ln>
        </p:spPr>
        <p:txBody>
          <a:bodyPr>
            <a:spAutoFit/>
          </a:bodyPr>
          <a:lstStyle/>
          <a:p>
            <a:pPr>
              <a:spcBef>
                <a:spcPct val="50000"/>
              </a:spcBef>
            </a:pPr>
            <a:r>
              <a:rPr kumimoji="1" lang="zh-CN" altLang="en-US" sz="2800" b="1" dirty="0">
                <a:solidFill>
                  <a:srgbClr val="006600"/>
                </a:solidFill>
                <a:latin typeface="Times New Roman" panose="02020603050405020304" pitchFamily="18" charset="0"/>
                <a:ea typeface="长城楷体" pitchFamily="49" charset="-122"/>
              </a:rPr>
              <a:t>开关接通</a:t>
            </a:r>
            <a:endParaRPr kumimoji="1" lang="zh-CN" altLang="en-US" sz="2800" b="1" dirty="0">
              <a:solidFill>
                <a:srgbClr val="006600"/>
              </a:solidFill>
              <a:latin typeface="Times New Roman" panose="02020603050405020304" pitchFamily="18" charset="0"/>
              <a:ea typeface="长城楷体" pitchFamily="49" charset="-122"/>
            </a:endParaRPr>
          </a:p>
        </p:txBody>
      </p:sp>
      <p:grpSp>
        <p:nvGrpSpPr>
          <p:cNvPr id="46" name="Group 34"/>
          <p:cNvGrpSpPr/>
          <p:nvPr/>
        </p:nvGrpSpPr>
        <p:grpSpPr bwMode="auto">
          <a:xfrm>
            <a:off x="6557057" y="4750128"/>
            <a:ext cx="1357848" cy="1977283"/>
            <a:chOff x="4639" y="2679"/>
            <a:chExt cx="1017" cy="1487"/>
          </a:xfrm>
        </p:grpSpPr>
        <p:grpSp>
          <p:nvGrpSpPr>
            <p:cNvPr id="47" name="Group 35"/>
            <p:cNvGrpSpPr/>
            <p:nvPr/>
          </p:nvGrpSpPr>
          <p:grpSpPr bwMode="auto">
            <a:xfrm rot="5400000">
              <a:off x="4639" y="3312"/>
              <a:ext cx="1339" cy="243"/>
              <a:chOff x="2040" y="2128"/>
              <a:chExt cx="1692" cy="264"/>
            </a:xfrm>
          </p:grpSpPr>
          <p:sp>
            <p:nvSpPr>
              <p:cNvPr id="62" name="Line 36"/>
              <p:cNvSpPr>
                <a:spLocks noChangeShapeType="1"/>
              </p:cNvSpPr>
              <p:nvPr/>
            </p:nvSpPr>
            <p:spPr bwMode="auto">
              <a:xfrm>
                <a:off x="2136" y="2328"/>
                <a:ext cx="504" cy="0"/>
              </a:xfrm>
              <a:prstGeom prst="line">
                <a:avLst/>
              </a:prstGeom>
              <a:noFill/>
              <a:ln w="38100">
                <a:solidFill>
                  <a:schemeClr val="tx1"/>
                </a:solidFill>
                <a:round/>
              </a:ln>
            </p:spPr>
            <p:txBody>
              <a:bodyPr wrap="none" anchor="ctr"/>
              <a:lstStyle/>
              <a:p>
                <a:endParaRPr lang="zh-CN" altLang="en-US"/>
              </a:p>
            </p:txBody>
          </p:sp>
          <p:sp>
            <p:nvSpPr>
              <p:cNvPr id="63" name="Line 37"/>
              <p:cNvSpPr>
                <a:spLocks noChangeShapeType="1"/>
              </p:cNvSpPr>
              <p:nvPr/>
            </p:nvSpPr>
            <p:spPr bwMode="auto">
              <a:xfrm>
                <a:off x="3136" y="2352"/>
                <a:ext cx="528" cy="0"/>
              </a:xfrm>
              <a:prstGeom prst="line">
                <a:avLst/>
              </a:prstGeom>
              <a:noFill/>
              <a:ln w="38100">
                <a:solidFill>
                  <a:schemeClr val="tx1"/>
                </a:solidFill>
                <a:round/>
              </a:ln>
            </p:spPr>
            <p:txBody>
              <a:bodyPr wrap="none" anchor="ctr"/>
              <a:lstStyle/>
              <a:p>
                <a:endParaRPr lang="zh-CN" altLang="en-US"/>
              </a:p>
            </p:txBody>
          </p:sp>
          <p:sp>
            <p:nvSpPr>
              <p:cNvPr id="64" name="Line 38"/>
              <p:cNvSpPr>
                <a:spLocks noChangeShapeType="1"/>
              </p:cNvSpPr>
              <p:nvPr/>
            </p:nvSpPr>
            <p:spPr bwMode="auto">
              <a:xfrm>
                <a:off x="2544" y="2128"/>
                <a:ext cx="516" cy="192"/>
              </a:xfrm>
              <a:prstGeom prst="line">
                <a:avLst/>
              </a:prstGeom>
              <a:noFill/>
              <a:ln w="38100">
                <a:solidFill>
                  <a:schemeClr val="tx1"/>
                </a:solidFill>
                <a:round/>
              </a:ln>
            </p:spPr>
            <p:txBody>
              <a:bodyPr wrap="none" anchor="ctr"/>
              <a:lstStyle/>
              <a:p>
                <a:endParaRPr lang="zh-CN" altLang="en-US"/>
              </a:p>
            </p:txBody>
          </p:sp>
          <p:sp>
            <p:nvSpPr>
              <p:cNvPr id="65" name="Oval 39"/>
              <p:cNvSpPr>
                <a:spLocks noChangeArrowheads="1"/>
              </p:cNvSpPr>
              <p:nvPr/>
            </p:nvSpPr>
            <p:spPr bwMode="auto">
              <a:xfrm>
                <a:off x="2616" y="2280"/>
                <a:ext cx="84" cy="84"/>
              </a:xfrm>
              <a:prstGeom prst="ellipse">
                <a:avLst/>
              </a:prstGeom>
              <a:noFill/>
              <a:ln w="38100">
                <a:solidFill>
                  <a:schemeClr val="tx1"/>
                </a:solidFill>
                <a:round/>
              </a:ln>
            </p:spPr>
            <p:txBody>
              <a:bodyPr wrap="none" anchor="ctr"/>
              <a:lstStyle/>
              <a:p>
                <a:endParaRPr lang="zh-CN" altLang="en-US"/>
              </a:p>
            </p:txBody>
          </p:sp>
          <p:sp>
            <p:nvSpPr>
              <p:cNvPr id="66" name="Oval 40"/>
              <p:cNvSpPr>
                <a:spLocks noChangeArrowheads="1"/>
              </p:cNvSpPr>
              <p:nvPr/>
            </p:nvSpPr>
            <p:spPr bwMode="auto">
              <a:xfrm>
                <a:off x="2040" y="2292"/>
                <a:ext cx="84" cy="84"/>
              </a:xfrm>
              <a:prstGeom prst="ellipse">
                <a:avLst/>
              </a:prstGeom>
              <a:noFill/>
              <a:ln w="38100">
                <a:solidFill>
                  <a:schemeClr val="tx1"/>
                </a:solidFill>
                <a:round/>
              </a:ln>
            </p:spPr>
            <p:txBody>
              <a:bodyPr wrap="none" anchor="ctr"/>
              <a:lstStyle/>
              <a:p>
                <a:endParaRPr lang="zh-CN" altLang="en-US"/>
              </a:p>
            </p:txBody>
          </p:sp>
          <p:sp>
            <p:nvSpPr>
              <p:cNvPr id="67" name="Oval 41"/>
              <p:cNvSpPr>
                <a:spLocks noChangeArrowheads="1"/>
              </p:cNvSpPr>
              <p:nvPr/>
            </p:nvSpPr>
            <p:spPr bwMode="auto">
              <a:xfrm>
                <a:off x="3648" y="2308"/>
                <a:ext cx="84" cy="84"/>
              </a:xfrm>
              <a:prstGeom prst="ellipse">
                <a:avLst/>
              </a:prstGeom>
              <a:noFill/>
              <a:ln w="38100">
                <a:solidFill>
                  <a:schemeClr val="tx1"/>
                </a:solidFill>
                <a:round/>
              </a:ln>
            </p:spPr>
            <p:txBody>
              <a:bodyPr wrap="none" anchor="ctr"/>
              <a:lstStyle/>
              <a:p>
                <a:endParaRPr lang="zh-CN" altLang="en-US"/>
              </a:p>
            </p:txBody>
          </p:sp>
          <p:sp>
            <p:nvSpPr>
              <p:cNvPr id="68" name="Oval 42"/>
              <p:cNvSpPr>
                <a:spLocks noChangeArrowheads="1"/>
              </p:cNvSpPr>
              <p:nvPr/>
            </p:nvSpPr>
            <p:spPr bwMode="auto">
              <a:xfrm>
                <a:off x="3060" y="2304"/>
                <a:ext cx="84" cy="84"/>
              </a:xfrm>
              <a:prstGeom prst="ellipse">
                <a:avLst/>
              </a:prstGeom>
              <a:noFill/>
              <a:ln w="38100">
                <a:solidFill>
                  <a:schemeClr val="tx1"/>
                </a:solidFill>
                <a:round/>
              </a:ln>
            </p:spPr>
            <p:txBody>
              <a:bodyPr wrap="none" anchor="ctr"/>
              <a:lstStyle/>
              <a:p>
                <a:endParaRPr lang="zh-CN" altLang="en-US"/>
              </a:p>
            </p:txBody>
          </p:sp>
        </p:grpSp>
        <p:sp>
          <p:nvSpPr>
            <p:cNvPr id="48" name="Arc 43"/>
            <p:cNvSpPr/>
            <p:nvPr/>
          </p:nvSpPr>
          <p:spPr bwMode="auto">
            <a:xfrm rot="-5400000">
              <a:off x="5344" y="3152"/>
              <a:ext cx="93" cy="519"/>
            </a:xfrm>
            <a:custGeom>
              <a:avLst/>
              <a:gdLst>
                <a:gd name="T0" fmla="*/ 0 w 21600"/>
                <a:gd name="T1" fmla="*/ 0 h 38604"/>
                <a:gd name="T2" fmla="*/ 0 w 21600"/>
                <a:gd name="T3" fmla="*/ 0 h 38604"/>
                <a:gd name="T4" fmla="*/ 0 w 21600"/>
                <a:gd name="T5" fmla="*/ 0 h 38604"/>
                <a:gd name="T6" fmla="*/ 0 60000 65536"/>
                <a:gd name="T7" fmla="*/ 0 60000 65536"/>
                <a:gd name="T8" fmla="*/ 0 60000 65536"/>
                <a:gd name="T9" fmla="*/ 0 w 21600"/>
                <a:gd name="T10" fmla="*/ 0 h 38604"/>
                <a:gd name="T11" fmla="*/ 21600 w 21600"/>
                <a:gd name="T12" fmla="*/ 38604 h 38604"/>
              </a:gdLst>
              <a:ahLst/>
              <a:cxnLst>
                <a:cxn ang="T6">
                  <a:pos x="T0" y="T1"/>
                </a:cxn>
                <a:cxn ang="T7">
                  <a:pos x="T2" y="T3"/>
                </a:cxn>
                <a:cxn ang="T8">
                  <a:pos x="T4" y="T5"/>
                </a:cxn>
              </a:cxnLst>
              <a:rect l="T9" t="T10" r="T11" b="T12"/>
              <a:pathLst>
                <a:path w="21600" h="38604" fill="none" extrusionOk="0">
                  <a:moveTo>
                    <a:pt x="4392" y="0"/>
                  </a:moveTo>
                  <a:cubicBezTo>
                    <a:pt x="14415" y="2082"/>
                    <a:pt x="21600" y="10912"/>
                    <a:pt x="21600" y="21149"/>
                  </a:cubicBezTo>
                  <a:cubicBezTo>
                    <a:pt x="21600" y="28051"/>
                    <a:pt x="18301" y="34538"/>
                    <a:pt x="12723" y="38604"/>
                  </a:cubicBezTo>
                </a:path>
                <a:path w="21600" h="38604" stroke="0" extrusionOk="0">
                  <a:moveTo>
                    <a:pt x="4392" y="0"/>
                  </a:moveTo>
                  <a:cubicBezTo>
                    <a:pt x="14415" y="2082"/>
                    <a:pt x="21600" y="10912"/>
                    <a:pt x="21600" y="21149"/>
                  </a:cubicBezTo>
                  <a:cubicBezTo>
                    <a:pt x="21600" y="28051"/>
                    <a:pt x="18301" y="34538"/>
                    <a:pt x="12723" y="38604"/>
                  </a:cubicBezTo>
                  <a:lnTo>
                    <a:pt x="0" y="21149"/>
                  </a:lnTo>
                  <a:close/>
                </a:path>
              </a:pathLst>
            </a:custGeom>
            <a:noFill/>
            <a:ln w="38100">
              <a:solidFill>
                <a:srgbClr val="990000"/>
              </a:solidFill>
              <a:round/>
              <a:tailEnd type="triangle" w="med" len="med"/>
            </a:ln>
          </p:spPr>
          <p:txBody>
            <a:bodyPr wrap="none" anchor="ctr"/>
            <a:lstStyle/>
            <a:p>
              <a:endParaRPr lang="zh-CN" altLang="en-US"/>
            </a:p>
          </p:txBody>
        </p:sp>
        <p:grpSp>
          <p:nvGrpSpPr>
            <p:cNvPr id="49" name="Group 44"/>
            <p:cNvGrpSpPr/>
            <p:nvPr/>
          </p:nvGrpSpPr>
          <p:grpSpPr bwMode="auto">
            <a:xfrm>
              <a:off x="4692" y="3376"/>
              <a:ext cx="365" cy="66"/>
              <a:chOff x="4692" y="3344"/>
              <a:chExt cx="365" cy="66"/>
            </a:xfrm>
          </p:grpSpPr>
          <p:sp>
            <p:nvSpPr>
              <p:cNvPr id="53" name="Line 45"/>
              <p:cNvSpPr>
                <a:spLocks noChangeShapeType="1"/>
              </p:cNvSpPr>
              <p:nvPr/>
            </p:nvSpPr>
            <p:spPr bwMode="auto">
              <a:xfrm>
                <a:off x="4780" y="3372"/>
                <a:ext cx="211" cy="0"/>
              </a:xfrm>
              <a:prstGeom prst="line">
                <a:avLst/>
              </a:prstGeom>
              <a:noFill/>
              <a:ln w="38100">
                <a:solidFill>
                  <a:schemeClr val="tx1"/>
                </a:solidFill>
                <a:round/>
              </a:ln>
            </p:spPr>
            <p:txBody>
              <a:bodyPr wrap="none" anchor="ctr"/>
              <a:lstStyle/>
              <a:p>
                <a:endParaRPr lang="zh-CN" altLang="en-US"/>
              </a:p>
            </p:txBody>
          </p:sp>
          <p:sp>
            <p:nvSpPr>
              <p:cNvPr id="54" name="Oval 46"/>
              <p:cNvSpPr>
                <a:spLocks noChangeArrowheads="1"/>
              </p:cNvSpPr>
              <p:nvPr/>
            </p:nvSpPr>
            <p:spPr bwMode="auto">
              <a:xfrm>
                <a:off x="4692" y="3344"/>
                <a:ext cx="77" cy="66"/>
              </a:xfrm>
              <a:prstGeom prst="ellipse">
                <a:avLst/>
              </a:prstGeom>
              <a:noFill/>
              <a:ln w="38100">
                <a:solidFill>
                  <a:schemeClr val="tx1"/>
                </a:solidFill>
                <a:round/>
              </a:ln>
            </p:spPr>
            <p:txBody>
              <a:bodyPr wrap="none" anchor="ctr"/>
              <a:lstStyle/>
              <a:p>
                <a:endParaRPr lang="zh-CN" altLang="en-US"/>
              </a:p>
            </p:txBody>
          </p:sp>
          <p:sp>
            <p:nvSpPr>
              <p:cNvPr id="55" name="Oval 47"/>
              <p:cNvSpPr>
                <a:spLocks noChangeArrowheads="1"/>
              </p:cNvSpPr>
              <p:nvPr/>
            </p:nvSpPr>
            <p:spPr bwMode="auto">
              <a:xfrm>
                <a:off x="4980" y="3344"/>
                <a:ext cx="77" cy="66"/>
              </a:xfrm>
              <a:prstGeom prst="ellipse">
                <a:avLst/>
              </a:prstGeom>
              <a:noFill/>
              <a:ln w="38100">
                <a:solidFill>
                  <a:schemeClr val="tx1"/>
                </a:solidFill>
                <a:round/>
              </a:ln>
            </p:spPr>
            <p:txBody>
              <a:bodyPr wrap="none" anchor="ctr"/>
              <a:lstStyle/>
              <a:p>
                <a:endParaRPr lang="zh-CN" altLang="en-US"/>
              </a:p>
            </p:txBody>
          </p:sp>
        </p:grpSp>
        <p:sp>
          <p:nvSpPr>
            <p:cNvPr id="50" name="Text Box 48"/>
            <p:cNvSpPr txBox="1">
              <a:spLocks noChangeArrowheads="1"/>
            </p:cNvSpPr>
            <p:nvPr/>
          </p:nvSpPr>
          <p:spPr bwMode="auto">
            <a:xfrm>
              <a:off x="5276" y="2679"/>
              <a:ext cx="380" cy="327"/>
            </a:xfrm>
            <a:prstGeom prst="rect">
              <a:avLst/>
            </a:prstGeom>
            <a:noFill/>
            <a:ln w="38100">
              <a:noFill/>
              <a:miter lim="800000"/>
            </a:ln>
          </p:spPr>
          <p:txBody>
            <a:bodyPr>
              <a:spAutoFit/>
            </a:bodyPr>
            <a:lstStyle/>
            <a:p>
              <a:pPr>
                <a:spcBef>
                  <a:spcPct val="50000"/>
                </a:spcBef>
              </a:pPr>
              <a:r>
                <a:rPr kumimoji="1" lang="en-US" altLang="zh-CN" sz="2800" b="1">
                  <a:latin typeface="Times New Roman" panose="02020603050405020304" pitchFamily="18" charset="0"/>
                  <a:ea typeface="长城楷体" pitchFamily="49" charset="-122"/>
                </a:rPr>
                <a:t>C</a:t>
              </a:r>
              <a:endParaRPr kumimoji="1" lang="en-US" altLang="zh-CN" sz="2800" b="1">
                <a:latin typeface="Times New Roman" panose="02020603050405020304" pitchFamily="18" charset="0"/>
                <a:ea typeface="长城楷体" pitchFamily="49" charset="-122"/>
              </a:endParaRPr>
            </a:p>
          </p:txBody>
        </p:sp>
        <p:sp>
          <p:nvSpPr>
            <p:cNvPr id="51" name="Text Box 49"/>
            <p:cNvSpPr txBox="1">
              <a:spLocks noChangeArrowheads="1"/>
            </p:cNvSpPr>
            <p:nvPr/>
          </p:nvSpPr>
          <p:spPr bwMode="auto">
            <a:xfrm>
              <a:off x="5265" y="3839"/>
              <a:ext cx="275" cy="327"/>
            </a:xfrm>
            <a:prstGeom prst="rect">
              <a:avLst/>
            </a:prstGeom>
            <a:noFill/>
            <a:ln w="38100">
              <a:noFill/>
              <a:miter lim="800000"/>
            </a:ln>
          </p:spPr>
          <p:txBody>
            <a:bodyPr>
              <a:spAutoFit/>
            </a:bodyPr>
            <a:lstStyle/>
            <a:p>
              <a:pPr>
                <a:spcBef>
                  <a:spcPct val="50000"/>
                </a:spcBef>
              </a:pPr>
              <a:r>
                <a:rPr kumimoji="1" lang="en-US" altLang="zh-CN" sz="2800" b="1">
                  <a:latin typeface="Times New Roman" panose="02020603050405020304" pitchFamily="18" charset="0"/>
                  <a:ea typeface="长城楷体" pitchFamily="49" charset="-122"/>
                </a:rPr>
                <a:t>E</a:t>
              </a:r>
              <a:endParaRPr kumimoji="1" lang="en-US" altLang="zh-CN" sz="2800" b="1">
                <a:latin typeface="Times New Roman" panose="02020603050405020304" pitchFamily="18" charset="0"/>
                <a:ea typeface="长城楷体" pitchFamily="49" charset="-122"/>
              </a:endParaRPr>
            </a:p>
          </p:txBody>
        </p:sp>
        <p:sp>
          <p:nvSpPr>
            <p:cNvPr id="52" name="Text Box 50"/>
            <p:cNvSpPr txBox="1">
              <a:spLocks noChangeArrowheads="1"/>
            </p:cNvSpPr>
            <p:nvPr/>
          </p:nvSpPr>
          <p:spPr bwMode="auto">
            <a:xfrm>
              <a:off x="4639" y="3379"/>
              <a:ext cx="440" cy="327"/>
            </a:xfrm>
            <a:prstGeom prst="rect">
              <a:avLst/>
            </a:prstGeom>
            <a:noFill/>
            <a:ln w="38100">
              <a:noFill/>
              <a:miter lim="800000"/>
            </a:ln>
          </p:spPr>
          <p:txBody>
            <a:bodyPr>
              <a:spAutoFit/>
            </a:bodyPr>
            <a:lstStyle/>
            <a:p>
              <a:pPr>
                <a:spcBef>
                  <a:spcPct val="50000"/>
                </a:spcBef>
              </a:pPr>
              <a:r>
                <a:rPr kumimoji="1" lang="en-US" altLang="zh-CN" sz="2800" b="1">
                  <a:latin typeface="Times New Roman" panose="02020603050405020304" pitchFamily="18" charset="0"/>
                  <a:ea typeface="长城楷体" pitchFamily="49" charset="-122"/>
                </a:rPr>
                <a:t>B</a:t>
              </a:r>
              <a:endParaRPr kumimoji="1" lang="en-US" altLang="zh-CN" sz="2800" b="1">
                <a:latin typeface="Times New Roman" panose="02020603050405020304" pitchFamily="18" charset="0"/>
                <a:ea typeface="长城楷体" pitchFamily="49" charset="-122"/>
              </a:endParaRPr>
            </a:p>
          </p:txBody>
        </p:sp>
      </p:grpSp>
      <p:sp>
        <p:nvSpPr>
          <p:cNvPr id="69" name="Text Box 51"/>
          <p:cNvSpPr txBox="1">
            <a:spLocks noChangeArrowheads="1"/>
          </p:cNvSpPr>
          <p:nvPr/>
        </p:nvSpPr>
        <p:spPr bwMode="auto">
          <a:xfrm>
            <a:off x="4929074" y="5662311"/>
            <a:ext cx="2019300" cy="519112"/>
          </a:xfrm>
          <a:prstGeom prst="rect">
            <a:avLst/>
          </a:prstGeom>
          <a:noFill/>
          <a:ln w="38100">
            <a:noFill/>
            <a:miter lim="800000"/>
          </a:ln>
        </p:spPr>
        <p:txBody>
          <a:bodyPr>
            <a:spAutoFit/>
          </a:bodyPr>
          <a:lstStyle/>
          <a:p>
            <a:pPr>
              <a:spcBef>
                <a:spcPct val="50000"/>
              </a:spcBef>
            </a:pPr>
            <a:r>
              <a:rPr kumimoji="1" lang="zh-CN" altLang="en-US" sz="2800" b="1" dirty="0">
                <a:solidFill>
                  <a:srgbClr val="006600"/>
                </a:solidFill>
                <a:latin typeface="Times New Roman" panose="02020603050405020304" pitchFamily="18" charset="0"/>
                <a:ea typeface="长城楷体" pitchFamily="49" charset="-122"/>
              </a:rPr>
              <a:t>开关断开</a:t>
            </a:r>
            <a:endParaRPr kumimoji="1" lang="zh-CN" altLang="en-US" sz="2800" b="1" dirty="0">
              <a:solidFill>
                <a:srgbClr val="006600"/>
              </a:solidFill>
              <a:latin typeface="Times New Roman" panose="02020603050405020304" pitchFamily="18" charset="0"/>
              <a:ea typeface="长城楷体" pitchFamily="49" charset="-122"/>
            </a:endParaRPr>
          </a:p>
        </p:txBody>
      </p:sp>
      <p:sp>
        <p:nvSpPr>
          <p:cNvPr id="70" name="Text Box 52"/>
          <p:cNvSpPr txBox="1">
            <a:spLocks noChangeArrowheads="1"/>
          </p:cNvSpPr>
          <p:nvPr/>
        </p:nvSpPr>
        <p:spPr bwMode="auto">
          <a:xfrm>
            <a:off x="3362758" y="1121566"/>
            <a:ext cx="2051253" cy="523220"/>
          </a:xfrm>
          <a:prstGeom prst="rect">
            <a:avLst/>
          </a:prstGeom>
          <a:noFill/>
          <a:ln w="38100">
            <a:noFill/>
            <a:miter lim="800000"/>
          </a:ln>
        </p:spPr>
        <p:txBody>
          <a:bodyPr wrap="square">
            <a:spAutoFit/>
          </a:bodyPr>
          <a:lstStyle/>
          <a:p>
            <a:pPr>
              <a:spcBef>
                <a:spcPct val="50000"/>
              </a:spcBef>
            </a:pPr>
            <a:r>
              <a:rPr kumimoji="1" lang="en-US" altLang="zh-CN" sz="2800" b="1" dirty="0">
                <a:solidFill>
                  <a:srgbClr val="CC0066"/>
                </a:solidFill>
                <a:latin typeface="Times New Roman" panose="02020603050405020304" pitchFamily="18" charset="0"/>
                <a:ea typeface="长城楷体" pitchFamily="49" charset="-122"/>
              </a:rPr>
              <a:t> </a:t>
            </a:r>
            <a:r>
              <a:rPr kumimoji="1" lang="zh-CN" altLang="en-US" sz="2800" b="1" dirty="0">
                <a:solidFill>
                  <a:srgbClr val="CC0066"/>
                </a:solidFill>
                <a:latin typeface="Times New Roman" panose="02020603050405020304" pitchFamily="18" charset="0"/>
                <a:ea typeface="长城楷体" pitchFamily="49" charset="-122"/>
              </a:rPr>
              <a:t>正向导通：     </a:t>
            </a:r>
            <a:endParaRPr kumimoji="1" lang="zh-CN" altLang="en-US" sz="2800" b="1" dirty="0">
              <a:solidFill>
                <a:srgbClr val="CC0066"/>
              </a:solidFill>
              <a:latin typeface="Times New Roman" panose="02020603050405020304" pitchFamily="18" charset="0"/>
              <a:ea typeface="长城楷体" pitchFamily="49" charset="-122"/>
            </a:endParaRPr>
          </a:p>
        </p:txBody>
      </p:sp>
      <p:grpSp>
        <p:nvGrpSpPr>
          <p:cNvPr id="71" name="Group 53"/>
          <p:cNvGrpSpPr/>
          <p:nvPr/>
        </p:nvGrpSpPr>
        <p:grpSpPr bwMode="auto">
          <a:xfrm>
            <a:off x="4800912" y="3348827"/>
            <a:ext cx="1640576" cy="1753097"/>
            <a:chOff x="3295" y="1780"/>
            <a:chExt cx="1409" cy="1620"/>
          </a:xfrm>
        </p:grpSpPr>
        <p:grpSp>
          <p:nvGrpSpPr>
            <p:cNvPr id="72" name="Group 54"/>
            <p:cNvGrpSpPr/>
            <p:nvPr/>
          </p:nvGrpSpPr>
          <p:grpSpPr bwMode="auto">
            <a:xfrm rot="5400000">
              <a:off x="3558" y="2446"/>
              <a:ext cx="1483" cy="357"/>
              <a:chOff x="3928" y="45"/>
              <a:chExt cx="1692" cy="459"/>
            </a:xfrm>
          </p:grpSpPr>
          <p:grpSp>
            <p:nvGrpSpPr>
              <p:cNvPr id="80" name="Group 55"/>
              <p:cNvGrpSpPr/>
              <p:nvPr/>
            </p:nvGrpSpPr>
            <p:grpSpPr bwMode="auto">
              <a:xfrm>
                <a:off x="3928" y="184"/>
                <a:ext cx="1692" cy="264"/>
                <a:chOff x="2040" y="2128"/>
                <a:chExt cx="1692" cy="264"/>
              </a:xfrm>
            </p:grpSpPr>
            <p:sp>
              <p:nvSpPr>
                <p:cNvPr id="82" name="Line 56"/>
                <p:cNvSpPr>
                  <a:spLocks noChangeShapeType="1"/>
                </p:cNvSpPr>
                <p:nvPr/>
              </p:nvSpPr>
              <p:spPr bwMode="auto">
                <a:xfrm>
                  <a:off x="2136" y="2328"/>
                  <a:ext cx="504" cy="0"/>
                </a:xfrm>
                <a:prstGeom prst="line">
                  <a:avLst/>
                </a:prstGeom>
                <a:noFill/>
                <a:ln w="38100">
                  <a:solidFill>
                    <a:schemeClr val="tx1"/>
                  </a:solidFill>
                  <a:round/>
                </a:ln>
              </p:spPr>
              <p:txBody>
                <a:bodyPr wrap="none" anchor="ctr"/>
                <a:lstStyle/>
                <a:p>
                  <a:endParaRPr lang="zh-CN" altLang="en-US"/>
                </a:p>
              </p:txBody>
            </p:sp>
            <p:sp>
              <p:nvSpPr>
                <p:cNvPr id="83" name="Line 57"/>
                <p:cNvSpPr>
                  <a:spLocks noChangeShapeType="1"/>
                </p:cNvSpPr>
                <p:nvPr/>
              </p:nvSpPr>
              <p:spPr bwMode="auto">
                <a:xfrm>
                  <a:off x="3136" y="2352"/>
                  <a:ext cx="528" cy="0"/>
                </a:xfrm>
                <a:prstGeom prst="line">
                  <a:avLst/>
                </a:prstGeom>
                <a:noFill/>
                <a:ln w="38100">
                  <a:solidFill>
                    <a:schemeClr val="tx1"/>
                  </a:solidFill>
                  <a:round/>
                </a:ln>
              </p:spPr>
              <p:txBody>
                <a:bodyPr wrap="none" anchor="ctr"/>
                <a:lstStyle/>
                <a:p>
                  <a:endParaRPr lang="zh-CN" altLang="en-US"/>
                </a:p>
              </p:txBody>
            </p:sp>
            <p:sp>
              <p:nvSpPr>
                <p:cNvPr id="84" name="Line 58"/>
                <p:cNvSpPr>
                  <a:spLocks noChangeShapeType="1"/>
                </p:cNvSpPr>
                <p:nvPr/>
              </p:nvSpPr>
              <p:spPr bwMode="auto">
                <a:xfrm>
                  <a:off x="2544" y="2128"/>
                  <a:ext cx="516" cy="192"/>
                </a:xfrm>
                <a:prstGeom prst="line">
                  <a:avLst/>
                </a:prstGeom>
                <a:noFill/>
                <a:ln w="38100">
                  <a:solidFill>
                    <a:schemeClr val="tx1"/>
                  </a:solidFill>
                  <a:round/>
                </a:ln>
              </p:spPr>
              <p:txBody>
                <a:bodyPr wrap="none" anchor="ctr"/>
                <a:lstStyle/>
                <a:p>
                  <a:endParaRPr lang="zh-CN" altLang="en-US"/>
                </a:p>
              </p:txBody>
            </p:sp>
            <p:sp>
              <p:nvSpPr>
                <p:cNvPr id="85" name="Oval 59"/>
                <p:cNvSpPr>
                  <a:spLocks noChangeArrowheads="1"/>
                </p:cNvSpPr>
                <p:nvPr/>
              </p:nvSpPr>
              <p:spPr bwMode="auto">
                <a:xfrm>
                  <a:off x="2616" y="2280"/>
                  <a:ext cx="84" cy="84"/>
                </a:xfrm>
                <a:prstGeom prst="ellipse">
                  <a:avLst/>
                </a:prstGeom>
                <a:noFill/>
                <a:ln w="38100">
                  <a:solidFill>
                    <a:schemeClr val="tx1"/>
                  </a:solidFill>
                  <a:round/>
                </a:ln>
              </p:spPr>
              <p:txBody>
                <a:bodyPr wrap="none" anchor="ctr"/>
                <a:lstStyle/>
                <a:p>
                  <a:endParaRPr lang="zh-CN" altLang="en-US"/>
                </a:p>
              </p:txBody>
            </p:sp>
            <p:sp>
              <p:nvSpPr>
                <p:cNvPr id="86" name="Oval 60"/>
                <p:cNvSpPr>
                  <a:spLocks noChangeArrowheads="1"/>
                </p:cNvSpPr>
                <p:nvPr/>
              </p:nvSpPr>
              <p:spPr bwMode="auto">
                <a:xfrm>
                  <a:off x="2040" y="2292"/>
                  <a:ext cx="84" cy="84"/>
                </a:xfrm>
                <a:prstGeom prst="ellipse">
                  <a:avLst/>
                </a:prstGeom>
                <a:noFill/>
                <a:ln w="38100">
                  <a:solidFill>
                    <a:schemeClr val="tx1"/>
                  </a:solidFill>
                  <a:round/>
                </a:ln>
              </p:spPr>
              <p:txBody>
                <a:bodyPr wrap="none" anchor="ctr"/>
                <a:lstStyle/>
                <a:p>
                  <a:endParaRPr lang="zh-CN" altLang="en-US"/>
                </a:p>
              </p:txBody>
            </p:sp>
            <p:sp>
              <p:nvSpPr>
                <p:cNvPr id="87" name="Oval 61"/>
                <p:cNvSpPr>
                  <a:spLocks noChangeArrowheads="1"/>
                </p:cNvSpPr>
                <p:nvPr/>
              </p:nvSpPr>
              <p:spPr bwMode="auto">
                <a:xfrm>
                  <a:off x="3648" y="2308"/>
                  <a:ext cx="84" cy="84"/>
                </a:xfrm>
                <a:prstGeom prst="ellipse">
                  <a:avLst/>
                </a:prstGeom>
                <a:noFill/>
                <a:ln w="38100">
                  <a:solidFill>
                    <a:schemeClr val="tx1"/>
                  </a:solidFill>
                  <a:round/>
                </a:ln>
              </p:spPr>
              <p:txBody>
                <a:bodyPr wrap="none" anchor="ctr"/>
                <a:lstStyle/>
                <a:p>
                  <a:endParaRPr lang="zh-CN" altLang="en-US"/>
                </a:p>
              </p:txBody>
            </p:sp>
            <p:sp>
              <p:nvSpPr>
                <p:cNvPr id="88" name="Oval 62"/>
                <p:cNvSpPr>
                  <a:spLocks noChangeArrowheads="1"/>
                </p:cNvSpPr>
                <p:nvPr/>
              </p:nvSpPr>
              <p:spPr bwMode="auto">
                <a:xfrm>
                  <a:off x="3060" y="2304"/>
                  <a:ext cx="84" cy="84"/>
                </a:xfrm>
                <a:prstGeom prst="ellipse">
                  <a:avLst/>
                </a:prstGeom>
                <a:noFill/>
                <a:ln w="38100">
                  <a:solidFill>
                    <a:schemeClr val="tx1"/>
                  </a:solidFill>
                  <a:round/>
                </a:ln>
              </p:spPr>
              <p:txBody>
                <a:bodyPr wrap="none" anchor="ctr"/>
                <a:lstStyle/>
                <a:p>
                  <a:endParaRPr lang="zh-CN" altLang="en-US"/>
                </a:p>
              </p:txBody>
            </p:sp>
          </p:grpSp>
          <p:sp>
            <p:nvSpPr>
              <p:cNvPr id="81" name="Arc 63"/>
              <p:cNvSpPr/>
              <p:nvPr/>
            </p:nvSpPr>
            <p:spPr bwMode="auto">
              <a:xfrm flipH="1">
                <a:off x="4696" y="45"/>
                <a:ext cx="248" cy="459"/>
              </a:xfrm>
              <a:custGeom>
                <a:avLst/>
                <a:gdLst>
                  <a:gd name="T0" fmla="*/ 0 w 21600"/>
                  <a:gd name="T1" fmla="*/ 0 h 19657"/>
                  <a:gd name="T2" fmla="*/ 0 w 21600"/>
                  <a:gd name="T3" fmla="*/ 0 h 19657"/>
                  <a:gd name="T4" fmla="*/ 0 w 21600"/>
                  <a:gd name="T5" fmla="*/ 0 h 19657"/>
                  <a:gd name="T6" fmla="*/ 0 60000 65536"/>
                  <a:gd name="T7" fmla="*/ 0 60000 65536"/>
                  <a:gd name="T8" fmla="*/ 0 60000 65536"/>
                  <a:gd name="T9" fmla="*/ 0 w 21600"/>
                  <a:gd name="T10" fmla="*/ 0 h 19657"/>
                  <a:gd name="T11" fmla="*/ 21600 w 21600"/>
                  <a:gd name="T12" fmla="*/ 19657 h 19657"/>
                </a:gdLst>
                <a:ahLst/>
                <a:cxnLst>
                  <a:cxn ang="T6">
                    <a:pos x="T0" y="T1"/>
                  </a:cxn>
                  <a:cxn ang="T7">
                    <a:pos x="T2" y="T3"/>
                  </a:cxn>
                  <a:cxn ang="T8">
                    <a:pos x="T4" y="T5"/>
                  </a:cxn>
                </a:cxnLst>
                <a:rect l="T9" t="T10" r="T11" b="T12"/>
                <a:pathLst>
                  <a:path w="21600" h="19657" fill="none" extrusionOk="0">
                    <a:moveTo>
                      <a:pt x="8953" y="0"/>
                    </a:moveTo>
                    <a:cubicBezTo>
                      <a:pt x="16656" y="3508"/>
                      <a:pt x="21600" y="11192"/>
                      <a:pt x="21600" y="19657"/>
                    </a:cubicBezTo>
                  </a:path>
                  <a:path w="21600" h="19657" stroke="0" extrusionOk="0">
                    <a:moveTo>
                      <a:pt x="8953" y="0"/>
                    </a:moveTo>
                    <a:cubicBezTo>
                      <a:pt x="16656" y="3508"/>
                      <a:pt x="21600" y="11192"/>
                      <a:pt x="21600" y="19657"/>
                    </a:cubicBezTo>
                    <a:lnTo>
                      <a:pt x="0" y="19657"/>
                    </a:lnTo>
                    <a:close/>
                  </a:path>
                </a:pathLst>
              </a:custGeom>
              <a:noFill/>
              <a:ln w="38100">
                <a:solidFill>
                  <a:srgbClr val="990000"/>
                </a:solidFill>
                <a:round/>
                <a:tailEnd type="triangle" w="med" len="med"/>
              </a:ln>
            </p:spPr>
            <p:txBody>
              <a:bodyPr wrap="none" anchor="ctr"/>
              <a:lstStyle/>
              <a:p>
                <a:endParaRPr lang="zh-CN" altLang="en-US"/>
              </a:p>
            </p:txBody>
          </p:sp>
        </p:grpSp>
        <p:sp>
          <p:nvSpPr>
            <p:cNvPr id="73" name="Text Box 64"/>
            <p:cNvSpPr txBox="1">
              <a:spLocks noChangeArrowheads="1"/>
            </p:cNvSpPr>
            <p:nvPr/>
          </p:nvSpPr>
          <p:spPr bwMode="auto">
            <a:xfrm>
              <a:off x="4220" y="1780"/>
              <a:ext cx="484" cy="327"/>
            </a:xfrm>
            <a:prstGeom prst="rect">
              <a:avLst/>
            </a:prstGeom>
            <a:noFill/>
            <a:ln w="38100">
              <a:noFill/>
              <a:miter lim="800000"/>
            </a:ln>
          </p:spPr>
          <p:txBody>
            <a:bodyPr>
              <a:spAutoFit/>
            </a:bodyPr>
            <a:lstStyle/>
            <a:p>
              <a:pPr>
                <a:spcBef>
                  <a:spcPct val="50000"/>
                </a:spcBef>
              </a:pPr>
              <a:r>
                <a:rPr kumimoji="1" lang="en-US" altLang="zh-CN" sz="2800" b="1">
                  <a:latin typeface="Times New Roman" panose="02020603050405020304" pitchFamily="18" charset="0"/>
                  <a:ea typeface="长城楷体" pitchFamily="49" charset="-122"/>
                </a:rPr>
                <a:t>C</a:t>
              </a:r>
              <a:endParaRPr kumimoji="1" lang="en-US" altLang="zh-CN" sz="2800" b="1">
                <a:latin typeface="Times New Roman" panose="02020603050405020304" pitchFamily="18" charset="0"/>
                <a:ea typeface="长城楷体" pitchFamily="49" charset="-122"/>
              </a:endParaRPr>
            </a:p>
          </p:txBody>
        </p:sp>
        <p:sp>
          <p:nvSpPr>
            <p:cNvPr id="74" name="Text Box 65"/>
            <p:cNvSpPr txBox="1">
              <a:spLocks noChangeArrowheads="1"/>
            </p:cNvSpPr>
            <p:nvPr/>
          </p:nvSpPr>
          <p:spPr bwMode="auto">
            <a:xfrm>
              <a:off x="4217" y="3073"/>
              <a:ext cx="275" cy="327"/>
            </a:xfrm>
            <a:prstGeom prst="rect">
              <a:avLst/>
            </a:prstGeom>
            <a:noFill/>
            <a:ln w="38100">
              <a:noFill/>
              <a:miter lim="800000"/>
            </a:ln>
          </p:spPr>
          <p:txBody>
            <a:bodyPr>
              <a:spAutoFit/>
            </a:bodyPr>
            <a:lstStyle/>
            <a:p>
              <a:pPr>
                <a:spcBef>
                  <a:spcPct val="50000"/>
                </a:spcBef>
              </a:pPr>
              <a:r>
                <a:rPr kumimoji="1" lang="en-US" altLang="zh-CN" sz="2800" b="1">
                  <a:latin typeface="Times New Roman" panose="02020603050405020304" pitchFamily="18" charset="0"/>
                  <a:ea typeface="长城楷体" pitchFamily="49" charset="-122"/>
                </a:rPr>
                <a:t>E</a:t>
              </a:r>
              <a:endParaRPr kumimoji="1" lang="en-US" altLang="zh-CN" sz="2800" b="1">
                <a:latin typeface="Times New Roman" panose="02020603050405020304" pitchFamily="18" charset="0"/>
                <a:ea typeface="长城楷体" pitchFamily="49" charset="-122"/>
              </a:endParaRPr>
            </a:p>
          </p:txBody>
        </p:sp>
        <p:sp>
          <p:nvSpPr>
            <p:cNvPr id="75" name="Text Box 66"/>
            <p:cNvSpPr txBox="1">
              <a:spLocks noChangeArrowheads="1"/>
            </p:cNvSpPr>
            <p:nvPr/>
          </p:nvSpPr>
          <p:spPr bwMode="auto">
            <a:xfrm>
              <a:off x="3295" y="2361"/>
              <a:ext cx="440" cy="327"/>
            </a:xfrm>
            <a:prstGeom prst="rect">
              <a:avLst/>
            </a:prstGeom>
            <a:noFill/>
            <a:ln w="38100">
              <a:noFill/>
              <a:miter lim="800000"/>
            </a:ln>
          </p:spPr>
          <p:txBody>
            <a:bodyPr>
              <a:spAutoFit/>
            </a:bodyPr>
            <a:lstStyle/>
            <a:p>
              <a:pPr>
                <a:spcBef>
                  <a:spcPct val="50000"/>
                </a:spcBef>
              </a:pPr>
              <a:r>
                <a:rPr kumimoji="1" lang="en-US" altLang="zh-CN" sz="2800" b="1" dirty="0">
                  <a:latin typeface="Times New Roman" panose="02020603050405020304" pitchFamily="18" charset="0"/>
                  <a:ea typeface="长城楷体" pitchFamily="49" charset="-122"/>
                </a:rPr>
                <a:t>B</a:t>
              </a:r>
              <a:endParaRPr kumimoji="1" lang="en-US" altLang="zh-CN" sz="2800" b="1" dirty="0">
                <a:latin typeface="Times New Roman" panose="02020603050405020304" pitchFamily="18" charset="0"/>
                <a:ea typeface="长城楷体" pitchFamily="49" charset="-122"/>
              </a:endParaRPr>
            </a:p>
          </p:txBody>
        </p:sp>
        <p:grpSp>
          <p:nvGrpSpPr>
            <p:cNvPr id="76" name="Group 67"/>
            <p:cNvGrpSpPr/>
            <p:nvPr/>
          </p:nvGrpSpPr>
          <p:grpSpPr bwMode="auto">
            <a:xfrm>
              <a:off x="3644" y="2560"/>
              <a:ext cx="365" cy="66"/>
              <a:chOff x="4692" y="3344"/>
              <a:chExt cx="365" cy="66"/>
            </a:xfrm>
          </p:grpSpPr>
          <p:sp>
            <p:nvSpPr>
              <p:cNvPr id="77" name="Line 68"/>
              <p:cNvSpPr>
                <a:spLocks noChangeShapeType="1"/>
              </p:cNvSpPr>
              <p:nvPr/>
            </p:nvSpPr>
            <p:spPr bwMode="auto">
              <a:xfrm>
                <a:off x="4780" y="3372"/>
                <a:ext cx="211" cy="0"/>
              </a:xfrm>
              <a:prstGeom prst="line">
                <a:avLst/>
              </a:prstGeom>
              <a:noFill/>
              <a:ln w="38100">
                <a:solidFill>
                  <a:schemeClr val="tx1"/>
                </a:solidFill>
                <a:round/>
              </a:ln>
            </p:spPr>
            <p:txBody>
              <a:bodyPr wrap="none" anchor="ctr"/>
              <a:lstStyle/>
              <a:p>
                <a:endParaRPr lang="zh-CN" altLang="en-US"/>
              </a:p>
            </p:txBody>
          </p:sp>
          <p:sp>
            <p:nvSpPr>
              <p:cNvPr id="78" name="Oval 69"/>
              <p:cNvSpPr>
                <a:spLocks noChangeArrowheads="1"/>
              </p:cNvSpPr>
              <p:nvPr/>
            </p:nvSpPr>
            <p:spPr bwMode="auto">
              <a:xfrm>
                <a:off x="4692" y="3344"/>
                <a:ext cx="77" cy="66"/>
              </a:xfrm>
              <a:prstGeom prst="ellipse">
                <a:avLst/>
              </a:prstGeom>
              <a:noFill/>
              <a:ln w="38100">
                <a:solidFill>
                  <a:schemeClr val="tx1"/>
                </a:solidFill>
                <a:round/>
              </a:ln>
            </p:spPr>
            <p:txBody>
              <a:bodyPr wrap="none" anchor="ctr"/>
              <a:lstStyle/>
              <a:p>
                <a:endParaRPr lang="zh-CN" altLang="en-US"/>
              </a:p>
            </p:txBody>
          </p:sp>
          <p:sp>
            <p:nvSpPr>
              <p:cNvPr id="79" name="Oval 70"/>
              <p:cNvSpPr>
                <a:spLocks noChangeArrowheads="1"/>
              </p:cNvSpPr>
              <p:nvPr/>
            </p:nvSpPr>
            <p:spPr bwMode="auto">
              <a:xfrm>
                <a:off x="4980" y="3344"/>
                <a:ext cx="77" cy="66"/>
              </a:xfrm>
              <a:prstGeom prst="ellipse">
                <a:avLst/>
              </a:prstGeom>
              <a:noFill/>
              <a:ln w="38100">
                <a:solidFill>
                  <a:schemeClr val="tx1"/>
                </a:solidFill>
                <a:round/>
              </a:ln>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left)">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wipe(left)">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
                                            <p:txEl>
                                              <p:pRg st="0" end="0"/>
                                            </p:txEl>
                                          </p:spTgt>
                                        </p:tgtEl>
                                        <p:attrNameLst>
                                          <p:attrName>style.visibility</p:attrName>
                                        </p:attrNameLst>
                                      </p:cBhvr>
                                      <p:to>
                                        <p:strVal val="visible"/>
                                      </p:to>
                                    </p:set>
                                    <p:animEffect transition="in" filter="wipe(left)">
                                      <p:cBhvr>
                                        <p:cTn id="37" dur="500"/>
                                        <p:tgtEl>
                                          <p:spTgt spid="3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down)">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blinds(vertical)">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up)">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left)">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71"/>
                                        </p:tgtEl>
                                        <p:attrNameLst>
                                          <p:attrName>style.visibility</p:attrName>
                                        </p:attrNameLst>
                                      </p:cBhvr>
                                      <p:to>
                                        <p:strVal val="visible"/>
                                      </p:to>
                                    </p:set>
                                    <p:animEffect transition="in" filter="wipe(up)">
                                      <p:cBhvr>
                                        <p:cTn id="67" dur="500"/>
                                        <p:tgtEl>
                                          <p:spTgt spid="7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500"/>
                                        <p:tgtEl>
                                          <p:spTgt spid="4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wipe(left)">
                                      <p:cBhvr>
                                        <p:cTn id="77" dur="500"/>
                                        <p:tgtEl>
                                          <p:spTgt spid="4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up)">
                                      <p:cBhvr>
                                        <p:cTn id="82" dur="500"/>
                                        <p:tgtEl>
                                          <p:spTgt spid="4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69"/>
                                        </p:tgtEl>
                                        <p:attrNameLst>
                                          <p:attrName>style.visibility</p:attrName>
                                        </p:attrNameLst>
                                      </p:cBhvr>
                                      <p:to>
                                        <p:strVal val="visible"/>
                                      </p:to>
                                    </p:set>
                                    <p:animEffect transition="in" filter="wipe(left)">
                                      <p:cBhvr>
                                        <p:cTn id="8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nimBg="1"/>
      <p:bldP spid="14" grpId="0" animBg="1"/>
      <p:bldP spid="38" grpId="0" autoUpdateAnimBg="0" build="p"/>
      <p:bldP spid="39" grpId="0" autoUpdateAnimBg="0"/>
      <p:bldP spid="40" grpId="0" autoUpdateAnimBg="0"/>
      <p:bldP spid="41" grpId="0" autoUpdateAnimBg="0"/>
      <p:bldP spid="42" grpId="0" animBg="1"/>
      <p:bldP spid="43" grpId="0" autoUpdateAnimBg="0"/>
      <p:bldP spid="44" grpId="0" autoUpdateAnimBg="0"/>
      <p:bldP spid="45" grpId="0" autoUpdateAnimBg="0"/>
      <p:bldP spid="69" grpId="0" autoUpdateAnimBg="0"/>
      <p:bldP spid="7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二极管的开关特性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121" name="Text Box 34"/>
          <p:cNvSpPr txBox="1">
            <a:spLocks noChangeArrowheads="1"/>
          </p:cNvSpPr>
          <p:nvPr/>
        </p:nvSpPr>
        <p:spPr bwMode="auto">
          <a:xfrm>
            <a:off x="395140" y="2509101"/>
            <a:ext cx="3719660" cy="1196975"/>
          </a:xfrm>
          <a:prstGeom prst="rect">
            <a:avLst/>
          </a:prstGeom>
          <a:noFill/>
          <a:ln w="9525">
            <a:solidFill>
              <a:srgbClr val="9900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外加</a:t>
            </a:r>
            <a:r>
              <a:rPr kumimoji="1" lang="zh-CN" altLang="en-US" sz="2400" dirty="0">
                <a:solidFill>
                  <a:srgbClr val="FF0000"/>
                </a:solidFill>
                <a:latin typeface="黑体" panose="02010609060101010101" pitchFamily="49" charset="-122"/>
                <a:ea typeface="黑体" panose="02010609060101010101" pitchFamily="49" charset="-122"/>
              </a:rPr>
              <a:t>正向</a:t>
            </a:r>
            <a:r>
              <a:rPr kumimoji="1" lang="zh-CN" altLang="en-US" sz="2400" dirty="0">
                <a:solidFill>
                  <a:srgbClr val="000000"/>
                </a:solidFill>
                <a:latin typeface="黑体" panose="02010609060101010101" pitchFamily="49" charset="-122"/>
                <a:ea typeface="黑体" panose="02010609060101010101" pitchFamily="49" charset="-122"/>
              </a:rPr>
              <a:t>电压时，</a:t>
            </a:r>
            <a:r>
              <a:rPr kumimoji="1" lang="en-US" altLang="zh-CN" sz="2400" dirty="0">
                <a:solidFill>
                  <a:srgbClr val="000000"/>
                </a:solidFill>
                <a:latin typeface="黑体" panose="02010609060101010101" pitchFamily="49" charset="-122"/>
                <a:ea typeface="黑体" panose="02010609060101010101" pitchFamily="49" charset="-122"/>
              </a:rPr>
              <a:t>D</a:t>
            </a:r>
            <a:r>
              <a:rPr kumimoji="1" lang="zh-CN" altLang="en-US" sz="2400" dirty="0">
                <a:solidFill>
                  <a:srgbClr val="FF0000"/>
                </a:solidFill>
                <a:latin typeface="黑体" panose="02010609060101010101" pitchFamily="49" charset="-122"/>
                <a:ea typeface="黑体" panose="02010609060101010101" pitchFamily="49" charset="-122"/>
              </a:rPr>
              <a:t>导通</a:t>
            </a:r>
            <a:r>
              <a:rPr kumimoji="1" lang="zh-CN" altLang="en-US" sz="2400" dirty="0">
                <a:solidFill>
                  <a:srgbClr val="000000"/>
                </a:solidFill>
                <a:latin typeface="黑体" panose="02010609060101010101" pitchFamily="49" charset="-122"/>
                <a:ea typeface="黑体" panose="02010609060101010101" pitchFamily="49" charset="-122"/>
              </a:rPr>
              <a:t>；</a:t>
            </a:r>
            <a:r>
              <a:rPr kumimoji="1" lang="en-US" altLang="zh-CN" sz="2400" dirty="0">
                <a:solidFill>
                  <a:srgbClr val="000000"/>
                </a:solidFill>
                <a:latin typeface="黑体" panose="02010609060101010101" pitchFamily="49" charset="-122"/>
                <a:ea typeface="黑体" panose="02010609060101010101" pitchFamily="49" charset="-122"/>
              </a:rPr>
              <a:t>U</a:t>
            </a:r>
            <a:r>
              <a:rPr kumimoji="1" lang="en-US" altLang="zh-CN" sz="2400" baseline="-25000" dirty="0">
                <a:solidFill>
                  <a:srgbClr val="000000"/>
                </a:solidFill>
                <a:latin typeface="黑体" panose="02010609060101010101" pitchFamily="49" charset="-122"/>
                <a:ea typeface="黑体" panose="02010609060101010101" pitchFamily="49" charset="-122"/>
              </a:rPr>
              <a:t>D</a:t>
            </a:r>
            <a:r>
              <a:rPr kumimoji="1" lang="zh-CN" altLang="en-US" sz="2400" dirty="0">
                <a:solidFill>
                  <a:srgbClr val="000000"/>
                </a:solidFill>
                <a:latin typeface="黑体" panose="02010609060101010101" pitchFamily="49" charset="-122"/>
                <a:ea typeface="黑体" panose="02010609060101010101" pitchFamily="49" charset="-122"/>
              </a:rPr>
              <a:t>≈</a:t>
            </a:r>
            <a:r>
              <a:rPr kumimoji="1" lang="en-US" altLang="zh-CN" sz="2400" dirty="0">
                <a:solidFill>
                  <a:srgbClr val="000000"/>
                </a:solidFill>
                <a:latin typeface="黑体" panose="02010609060101010101" pitchFamily="49" charset="-122"/>
                <a:ea typeface="黑体" panose="02010609060101010101" pitchFamily="49" charset="-122"/>
              </a:rPr>
              <a:t>0</a:t>
            </a:r>
            <a:r>
              <a:rPr kumimoji="1" lang="zh-CN" altLang="en-US" sz="2400" dirty="0">
                <a:solidFill>
                  <a:srgbClr val="000000"/>
                </a:solidFill>
                <a:latin typeface="黑体" panose="02010609060101010101" pitchFamily="49" charset="-122"/>
                <a:ea typeface="黑体" panose="02010609060101010101" pitchFamily="49" charset="-122"/>
              </a:rPr>
              <a:t>，相当于一个</a:t>
            </a:r>
            <a:r>
              <a:rPr kumimoji="1" lang="zh-CN" altLang="en-US" sz="2400" dirty="0">
                <a:solidFill>
                  <a:srgbClr val="FF0000"/>
                </a:solidFill>
                <a:latin typeface="黑体" panose="02010609060101010101" pitchFamily="49" charset="-122"/>
                <a:ea typeface="黑体" panose="02010609060101010101" pitchFamily="49" charset="-122"/>
              </a:rPr>
              <a:t>闭合</a:t>
            </a:r>
            <a:r>
              <a:rPr kumimoji="1" lang="zh-CN" altLang="en-US" sz="2400" dirty="0">
                <a:solidFill>
                  <a:srgbClr val="000000"/>
                </a:solidFill>
                <a:latin typeface="黑体" panose="02010609060101010101" pitchFamily="49" charset="-122"/>
                <a:ea typeface="黑体" panose="02010609060101010101" pitchFamily="49" charset="-122"/>
              </a:rPr>
              <a:t>的开关。</a:t>
            </a:r>
            <a:endParaRPr kumimoji="1" lang="zh-CN" altLang="en-US" sz="2400" dirty="0">
              <a:solidFill>
                <a:srgbClr val="000000"/>
              </a:solidFill>
              <a:latin typeface="黑体" panose="02010609060101010101" pitchFamily="49" charset="-122"/>
              <a:ea typeface="黑体" panose="02010609060101010101" pitchFamily="49" charset="-122"/>
            </a:endParaRPr>
          </a:p>
        </p:txBody>
      </p:sp>
      <p:grpSp>
        <p:nvGrpSpPr>
          <p:cNvPr id="122" name="Group 35"/>
          <p:cNvGrpSpPr/>
          <p:nvPr/>
        </p:nvGrpSpPr>
        <p:grpSpPr bwMode="auto">
          <a:xfrm>
            <a:off x="4191000" y="2362200"/>
            <a:ext cx="2286000" cy="1447800"/>
            <a:chOff x="2640" y="912"/>
            <a:chExt cx="1440" cy="912"/>
          </a:xfrm>
        </p:grpSpPr>
        <p:grpSp>
          <p:nvGrpSpPr>
            <p:cNvPr id="123" name="Group 36"/>
            <p:cNvGrpSpPr/>
            <p:nvPr/>
          </p:nvGrpSpPr>
          <p:grpSpPr bwMode="auto">
            <a:xfrm>
              <a:off x="2928" y="912"/>
              <a:ext cx="720" cy="912"/>
              <a:chOff x="4176" y="576"/>
              <a:chExt cx="720" cy="912"/>
            </a:xfrm>
          </p:grpSpPr>
          <p:sp>
            <p:nvSpPr>
              <p:cNvPr id="136" name="Rectangle 37"/>
              <p:cNvSpPr>
                <a:spLocks noChangeArrowheads="1"/>
              </p:cNvSpPr>
              <p:nvPr/>
            </p:nvSpPr>
            <p:spPr bwMode="auto">
              <a:xfrm>
                <a:off x="4224" y="1104"/>
                <a:ext cx="96" cy="1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37" name="Group 38"/>
              <p:cNvGrpSpPr/>
              <p:nvPr/>
            </p:nvGrpSpPr>
            <p:grpSpPr bwMode="auto">
              <a:xfrm flipV="1">
                <a:off x="4704" y="912"/>
                <a:ext cx="192" cy="144"/>
                <a:chOff x="4704" y="1008"/>
                <a:chExt cx="144" cy="144"/>
              </a:xfrm>
            </p:grpSpPr>
            <p:sp>
              <p:nvSpPr>
                <p:cNvPr id="146" name="AutoShape 39"/>
                <p:cNvSpPr>
                  <a:spLocks noChangeArrowheads="1"/>
                </p:cNvSpPr>
                <p:nvPr/>
              </p:nvSpPr>
              <p:spPr bwMode="auto">
                <a:xfrm>
                  <a:off x="4704" y="1008"/>
                  <a:ext cx="144" cy="144"/>
                </a:xfrm>
                <a:prstGeom prst="triangle">
                  <a:avLst>
                    <a:gd name="adj" fmla="val 50000"/>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7" name="Line 40"/>
                <p:cNvSpPr>
                  <a:spLocks noChangeShapeType="1"/>
                </p:cNvSpPr>
                <p:nvPr/>
              </p:nvSpPr>
              <p:spPr bwMode="auto">
                <a:xfrm>
                  <a:off x="4704" y="1008"/>
                  <a:ext cx="144"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38" name="Line 41"/>
              <p:cNvSpPr>
                <a:spLocks noChangeShapeType="1"/>
              </p:cNvSpPr>
              <p:nvPr/>
            </p:nvSpPr>
            <p:spPr bwMode="auto">
              <a:xfrm>
                <a:off x="4176" y="768"/>
                <a:ext cx="19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9" name="Line 42"/>
              <p:cNvSpPr>
                <a:spLocks noChangeShapeType="1"/>
              </p:cNvSpPr>
              <p:nvPr/>
            </p:nvSpPr>
            <p:spPr bwMode="auto">
              <a:xfrm>
                <a:off x="4224" y="816"/>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0" name="Line 43"/>
              <p:cNvSpPr>
                <a:spLocks noChangeShapeType="1"/>
              </p:cNvSpPr>
              <p:nvPr/>
            </p:nvSpPr>
            <p:spPr bwMode="auto">
              <a:xfrm>
                <a:off x="4272" y="57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1" name="Line 44"/>
              <p:cNvSpPr>
                <a:spLocks noChangeShapeType="1"/>
              </p:cNvSpPr>
              <p:nvPr/>
            </p:nvSpPr>
            <p:spPr bwMode="auto">
              <a:xfrm>
                <a:off x="4272" y="816"/>
                <a:ext cx="0" cy="2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2" name="Line 45"/>
              <p:cNvSpPr>
                <a:spLocks noChangeShapeType="1"/>
              </p:cNvSpPr>
              <p:nvPr/>
            </p:nvSpPr>
            <p:spPr bwMode="auto">
              <a:xfrm>
                <a:off x="4272" y="576"/>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3" name="Line 46"/>
              <p:cNvSpPr>
                <a:spLocks noChangeShapeType="1"/>
              </p:cNvSpPr>
              <p:nvPr/>
            </p:nvSpPr>
            <p:spPr bwMode="auto">
              <a:xfrm>
                <a:off x="4800" y="576"/>
                <a:ext cx="0" cy="91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4" name="Line 47"/>
              <p:cNvSpPr>
                <a:spLocks noChangeShapeType="1"/>
              </p:cNvSpPr>
              <p:nvPr/>
            </p:nvSpPr>
            <p:spPr bwMode="auto">
              <a:xfrm>
                <a:off x="4272" y="129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5" name="Line 48"/>
              <p:cNvSpPr>
                <a:spLocks noChangeShapeType="1"/>
              </p:cNvSpPr>
              <p:nvPr/>
            </p:nvSpPr>
            <p:spPr bwMode="auto">
              <a:xfrm>
                <a:off x="4272" y="1488"/>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124" name="Group 49"/>
            <p:cNvGrpSpPr/>
            <p:nvPr/>
          </p:nvGrpSpPr>
          <p:grpSpPr bwMode="auto">
            <a:xfrm>
              <a:off x="2640" y="960"/>
              <a:ext cx="336" cy="288"/>
              <a:chOff x="3888" y="624"/>
              <a:chExt cx="336" cy="288"/>
            </a:xfrm>
          </p:grpSpPr>
          <p:grpSp>
            <p:nvGrpSpPr>
              <p:cNvPr id="131" name="Group 50"/>
              <p:cNvGrpSpPr/>
              <p:nvPr/>
            </p:nvGrpSpPr>
            <p:grpSpPr bwMode="auto">
              <a:xfrm>
                <a:off x="4128" y="624"/>
                <a:ext cx="96" cy="96"/>
                <a:chOff x="4128" y="672"/>
                <a:chExt cx="96" cy="96"/>
              </a:xfrm>
            </p:grpSpPr>
            <p:sp>
              <p:nvSpPr>
                <p:cNvPr id="134" name="Line 51"/>
                <p:cNvSpPr>
                  <a:spLocks noChangeShapeType="1"/>
                </p:cNvSpPr>
                <p:nvPr/>
              </p:nvSpPr>
              <p:spPr bwMode="auto">
                <a:xfrm>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5" name="Line 52"/>
                <p:cNvSpPr>
                  <a:spLocks noChangeShapeType="1"/>
                </p:cNvSpPr>
                <p:nvPr/>
              </p:nvSpPr>
              <p:spPr bwMode="auto">
                <a:xfrm rot="5400000" flipH="1">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32" name="Line 53"/>
              <p:cNvSpPr>
                <a:spLocks noChangeShapeType="1"/>
              </p:cNvSpPr>
              <p:nvPr/>
            </p:nvSpPr>
            <p:spPr bwMode="auto">
              <a:xfrm>
                <a:off x="4128" y="864"/>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3" name="Text Box 54"/>
              <p:cNvSpPr txBox="1">
                <a:spLocks noChangeArrowheads="1"/>
              </p:cNvSpPr>
              <p:nvPr/>
            </p:nvSpPr>
            <p:spPr bwMode="auto">
              <a:xfrm>
                <a:off x="3888" y="6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5" name="Text Box 55"/>
            <p:cNvSpPr txBox="1">
              <a:spLocks noChangeArrowheads="1"/>
            </p:cNvSpPr>
            <p:nvPr/>
          </p:nvSpPr>
          <p:spPr bwMode="auto">
            <a:xfrm>
              <a:off x="3648" y="11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26" name="Group 56"/>
            <p:cNvGrpSpPr/>
            <p:nvPr/>
          </p:nvGrpSpPr>
          <p:grpSpPr bwMode="auto">
            <a:xfrm>
              <a:off x="3552" y="912"/>
              <a:ext cx="288" cy="288"/>
              <a:chOff x="4800" y="528"/>
              <a:chExt cx="288" cy="247"/>
            </a:xfrm>
          </p:grpSpPr>
          <p:sp>
            <p:nvSpPr>
              <p:cNvPr id="129" name="Line 57"/>
              <p:cNvSpPr>
                <a:spLocks noChangeShapeType="1"/>
              </p:cNvSpPr>
              <p:nvPr/>
            </p:nvSpPr>
            <p:spPr bwMode="auto">
              <a:xfrm>
                <a:off x="4800" y="576"/>
                <a:ext cx="0" cy="192"/>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0" name="Text Box 58"/>
              <p:cNvSpPr txBox="1">
                <a:spLocks noChangeArrowheads="1"/>
              </p:cNvSpPr>
              <p:nvPr/>
            </p:nvSpPr>
            <p:spPr bwMode="auto">
              <a:xfrm>
                <a:off x="4848" y="528"/>
                <a:ext cx="24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I</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127" name="Line 59"/>
            <p:cNvSpPr>
              <a:spLocks noChangeShapeType="1"/>
            </p:cNvSpPr>
            <p:nvPr/>
          </p:nvSpPr>
          <p:spPr bwMode="auto">
            <a:xfrm>
              <a:off x="3408" y="1104"/>
              <a:ext cx="0" cy="528"/>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8" name="Text Box 60"/>
            <p:cNvSpPr txBox="1">
              <a:spLocks noChangeArrowheads="1"/>
            </p:cNvSpPr>
            <p:nvPr/>
          </p:nvSpPr>
          <p:spPr bwMode="auto">
            <a:xfrm>
              <a:off x="3072" y="124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U</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grpSp>
        <p:nvGrpSpPr>
          <p:cNvPr id="148" name="Group 61"/>
          <p:cNvGrpSpPr/>
          <p:nvPr/>
        </p:nvGrpSpPr>
        <p:grpSpPr bwMode="auto">
          <a:xfrm>
            <a:off x="6934200" y="2362200"/>
            <a:ext cx="1905000" cy="1447800"/>
            <a:chOff x="3984" y="624"/>
            <a:chExt cx="1200" cy="912"/>
          </a:xfrm>
        </p:grpSpPr>
        <p:sp>
          <p:nvSpPr>
            <p:cNvPr id="149" name="Rectangle 62"/>
            <p:cNvSpPr>
              <a:spLocks noChangeArrowheads="1"/>
            </p:cNvSpPr>
            <p:nvPr/>
          </p:nvSpPr>
          <p:spPr bwMode="auto">
            <a:xfrm>
              <a:off x="4320" y="1152"/>
              <a:ext cx="96" cy="1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0" name="Line 63"/>
            <p:cNvSpPr>
              <a:spLocks noChangeShapeType="1"/>
            </p:cNvSpPr>
            <p:nvPr/>
          </p:nvSpPr>
          <p:spPr bwMode="auto">
            <a:xfrm>
              <a:off x="4272" y="816"/>
              <a:ext cx="19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1" name="Line 64"/>
            <p:cNvSpPr>
              <a:spLocks noChangeShapeType="1"/>
            </p:cNvSpPr>
            <p:nvPr/>
          </p:nvSpPr>
          <p:spPr bwMode="auto">
            <a:xfrm>
              <a:off x="4320" y="864"/>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2" name="Line 65"/>
            <p:cNvSpPr>
              <a:spLocks noChangeShapeType="1"/>
            </p:cNvSpPr>
            <p:nvPr/>
          </p:nvSpPr>
          <p:spPr bwMode="auto">
            <a:xfrm>
              <a:off x="4368" y="62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3" name="Line 66"/>
            <p:cNvSpPr>
              <a:spLocks noChangeShapeType="1"/>
            </p:cNvSpPr>
            <p:nvPr/>
          </p:nvSpPr>
          <p:spPr bwMode="auto">
            <a:xfrm>
              <a:off x="4368" y="864"/>
              <a:ext cx="0" cy="2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4" name="Line 67"/>
            <p:cNvSpPr>
              <a:spLocks noChangeShapeType="1"/>
            </p:cNvSpPr>
            <p:nvPr/>
          </p:nvSpPr>
          <p:spPr bwMode="auto">
            <a:xfrm>
              <a:off x="4368" y="624"/>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5" name="Line 68"/>
            <p:cNvSpPr>
              <a:spLocks noChangeShapeType="1"/>
            </p:cNvSpPr>
            <p:nvPr/>
          </p:nvSpPr>
          <p:spPr bwMode="auto">
            <a:xfrm>
              <a:off x="4896" y="624"/>
              <a:ext cx="0" cy="43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6" name="Line 69"/>
            <p:cNvSpPr>
              <a:spLocks noChangeShapeType="1"/>
            </p:cNvSpPr>
            <p:nvPr/>
          </p:nvSpPr>
          <p:spPr bwMode="auto">
            <a:xfrm>
              <a:off x="4368" y="134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7" name="Line 70"/>
            <p:cNvSpPr>
              <a:spLocks noChangeShapeType="1"/>
            </p:cNvSpPr>
            <p:nvPr/>
          </p:nvSpPr>
          <p:spPr bwMode="auto">
            <a:xfrm>
              <a:off x="4368" y="1536"/>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58" name="Group 71"/>
            <p:cNvGrpSpPr/>
            <p:nvPr/>
          </p:nvGrpSpPr>
          <p:grpSpPr bwMode="auto">
            <a:xfrm>
              <a:off x="3984" y="672"/>
              <a:ext cx="336" cy="288"/>
              <a:chOff x="3888" y="624"/>
              <a:chExt cx="336" cy="288"/>
            </a:xfrm>
          </p:grpSpPr>
          <p:grpSp>
            <p:nvGrpSpPr>
              <p:cNvPr id="167" name="Group 72"/>
              <p:cNvGrpSpPr/>
              <p:nvPr/>
            </p:nvGrpSpPr>
            <p:grpSpPr bwMode="auto">
              <a:xfrm>
                <a:off x="4128" y="624"/>
                <a:ext cx="96" cy="96"/>
                <a:chOff x="4128" y="672"/>
                <a:chExt cx="96" cy="96"/>
              </a:xfrm>
            </p:grpSpPr>
            <p:sp>
              <p:nvSpPr>
                <p:cNvPr id="170" name="Line 73"/>
                <p:cNvSpPr>
                  <a:spLocks noChangeShapeType="1"/>
                </p:cNvSpPr>
                <p:nvPr/>
              </p:nvSpPr>
              <p:spPr bwMode="auto">
                <a:xfrm>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1" name="Line 74"/>
                <p:cNvSpPr>
                  <a:spLocks noChangeShapeType="1"/>
                </p:cNvSpPr>
                <p:nvPr/>
              </p:nvSpPr>
              <p:spPr bwMode="auto">
                <a:xfrm rot="5400000" flipH="1">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68" name="Line 75"/>
              <p:cNvSpPr>
                <a:spLocks noChangeShapeType="1"/>
              </p:cNvSpPr>
              <p:nvPr/>
            </p:nvSpPr>
            <p:spPr bwMode="auto">
              <a:xfrm>
                <a:off x="4128" y="864"/>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9" name="Text Box 76"/>
              <p:cNvSpPr txBox="1">
                <a:spLocks noChangeArrowheads="1"/>
              </p:cNvSpPr>
              <p:nvPr/>
            </p:nvSpPr>
            <p:spPr bwMode="auto">
              <a:xfrm>
                <a:off x="3888" y="6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59" name="Group 77"/>
            <p:cNvGrpSpPr/>
            <p:nvPr/>
          </p:nvGrpSpPr>
          <p:grpSpPr bwMode="auto">
            <a:xfrm>
              <a:off x="4896" y="624"/>
              <a:ext cx="288" cy="288"/>
              <a:chOff x="4800" y="528"/>
              <a:chExt cx="288" cy="247"/>
            </a:xfrm>
          </p:grpSpPr>
          <p:sp>
            <p:nvSpPr>
              <p:cNvPr id="165" name="Line 78"/>
              <p:cNvSpPr>
                <a:spLocks noChangeShapeType="1"/>
              </p:cNvSpPr>
              <p:nvPr/>
            </p:nvSpPr>
            <p:spPr bwMode="auto">
              <a:xfrm>
                <a:off x="4800" y="576"/>
                <a:ext cx="0" cy="192"/>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6" name="Text Box 79"/>
              <p:cNvSpPr txBox="1">
                <a:spLocks noChangeArrowheads="1"/>
              </p:cNvSpPr>
              <p:nvPr/>
            </p:nvSpPr>
            <p:spPr bwMode="auto">
              <a:xfrm>
                <a:off x="4848" y="528"/>
                <a:ext cx="24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I</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160" name="Line 80"/>
            <p:cNvSpPr>
              <a:spLocks noChangeShapeType="1"/>
            </p:cNvSpPr>
            <p:nvPr/>
          </p:nvSpPr>
          <p:spPr bwMode="auto">
            <a:xfrm>
              <a:off x="4752" y="816"/>
              <a:ext cx="0" cy="528"/>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1" name="Text Box 81"/>
            <p:cNvSpPr txBox="1">
              <a:spLocks noChangeArrowheads="1"/>
            </p:cNvSpPr>
            <p:nvPr/>
          </p:nvSpPr>
          <p:spPr bwMode="auto">
            <a:xfrm>
              <a:off x="4512" y="9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U</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62" name="Line 82"/>
            <p:cNvSpPr>
              <a:spLocks noChangeShapeType="1"/>
            </p:cNvSpPr>
            <p:nvPr/>
          </p:nvSpPr>
          <p:spPr bwMode="auto">
            <a:xfrm rot="-364319">
              <a:off x="4847" y="1007"/>
              <a:ext cx="43" cy="19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3" name="Line 83"/>
            <p:cNvSpPr>
              <a:spLocks noChangeShapeType="1"/>
            </p:cNvSpPr>
            <p:nvPr/>
          </p:nvSpPr>
          <p:spPr bwMode="auto">
            <a:xfrm flipV="1">
              <a:off x="4896" y="1200"/>
              <a:ext cx="0" cy="33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4" name="Oval 84"/>
            <p:cNvSpPr>
              <a:spLocks noChangeArrowheads="1"/>
            </p:cNvSpPr>
            <p:nvPr/>
          </p:nvSpPr>
          <p:spPr bwMode="auto">
            <a:xfrm>
              <a:off x="4848" y="1008"/>
              <a:ext cx="48" cy="48"/>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72" name="Text Box 85"/>
          <p:cNvSpPr txBox="1">
            <a:spLocks noChangeArrowheads="1"/>
          </p:cNvSpPr>
          <p:nvPr/>
        </p:nvSpPr>
        <p:spPr bwMode="auto">
          <a:xfrm>
            <a:off x="394747" y="4735512"/>
            <a:ext cx="3720053" cy="1196975"/>
          </a:xfrm>
          <a:prstGeom prst="rect">
            <a:avLst/>
          </a:prstGeom>
          <a:noFill/>
          <a:ln w="9525">
            <a:solidFill>
              <a:srgbClr val="9900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外加</a:t>
            </a:r>
            <a:r>
              <a:rPr kumimoji="1" lang="zh-CN" altLang="en-US" sz="2400" dirty="0">
                <a:solidFill>
                  <a:srgbClr val="0000FF"/>
                </a:solidFill>
                <a:latin typeface="黑体" panose="02010609060101010101" pitchFamily="49" charset="-122"/>
                <a:ea typeface="黑体" panose="02010609060101010101" pitchFamily="49" charset="-122"/>
              </a:rPr>
              <a:t>反向</a:t>
            </a:r>
            <a:r>
              <a:rPr kumimoji="1" lang="zh-CN" altLang="en-US" sz="2400" dirty="0">
                <a:solidFill>
                  <a:srgbClr val="000000"/>
                </a:solidFill>
                <a:latin typeface="黑体" panose="02010609060101010101" pitchFamily="49" charset="-122"/>
                <a:ea typeface="黑体" panose="02010609060101010101" pitchFamily="49" charset="-122"/>
              </a:rPr>
              <a:t>电压时，</a:t>
            </a:r>
            <a:r>
              <a:rPr kumimoji="1" lang="en-US" altLang="zh-CN" sz="2400" dirty="0">
                <a:solidFill>
                  <a:srgbClr val="000000"/>
                </a:solidFill>
                <a:latin typeface="黑体" panose="02010609060101010101" pitchFamily="49" charset="-122"/>
                <a:ea typeface="黑体" panose="02010609060101010101" pitchFamily="49" charset="-122"/>
              </a:rPr>
              <a:t>D</a:t>
            </a:r>
            <a:r>
              <a:rPr kumimoji="1" lang="zh-CN" altLang="en-US" sz="2400" dirty="0">
                <a:solidFill>
                  <a:srgbClr val="0000FF"/>
                </a:solidFill>
                <a:latin typeface="黑体" panose="02010609060101010101" pitchFamily="49" charset="-122"/>
                <a:ea typeface="黑体" panose="02010609060101010101" pitchFamily="49" charset="-122"/>
              </a:rPr>
              <a:t>截止</a:t>
            </a:r>
            <a:r>
              <a:rPr kumimoji="1" lang="zh-CN" altLang="en-US" sz="2400" dirty="0">
                <a:solidFill>
                  <a:srgbClr val="000000"/>
                </a:solidFill>
                <a:latin typeface="黑体" panose="02010609060101010101" pitchFamily="49" charset="-122"/>
                <a:ea typeface="黑体" panose="02010609060101010101" pitchFamily="49" charset="-122"/>
              </a:rPr>
              <a:t>；</a:t>
            </a:r>
            <a:r>
              <a:rPr kumimoji="1" lang="en-US" altLang="zh-CN" sz="2400" dirty="0">
                <a:solidFill>
                  <a:srgbClr val="000000"/>
                </a:solidFill>
                <a:latin typeface="黑体" panose="02010609060101010101" pitchFamily="49" charset="-122"/>
                <a:ea typeface="黑体" panose="02010609060101010101" pitchFamily="49" charset="-122"/>
              </a:rPr>
              <a:t>I</a:t>
            </a:r>
            <a:r>
              <a:rPr kumimoji="1" lang="zh-CN" altLang="en-US" sz="2400" baseline="-25000" dirty="0">
                <a:solidFill>
                  <a:srgbClr val="000000"/>
                </a:solidFill>
                <a:latin typeface="黑体" panose="02010609060101010101" pitchFamily="49" charset="-122"/>
                <a:ea typeface="黑体" panose="02010609060101010101" pitchFamily="49" charset="-122"/>
              </a:rPr>
              <a:t>反</a:t>
            </a:r>
            <a:r>
              <a:rPr kumimoji="1" lang="zh-CN" altLang="en-US" sz="2400" dirty="0">
                <a:solidFill>
                  <a:srgbClr val="000000"/>
                </a:solidFill>
                <a:latin typeface="黑体" panose="02010609060101010101" pitchFamily="49" charset="-122"/>
                <a:ea typeface="黑体" panose="02010609060101010101" pitchFamily="49" charset="-122"/>
              </a:rPr>
              <a:t>≈</a:t>
            </a:r>
            <a:r>
              <a:rPr kumimoji="1" lang="en-US" altLang="zh-CN" sz="2400" dirty="0">
                <a:solidFill>
                  <a:srgbClr val="000000"/>
                </a:solidFill>
                <a:latin typeface="黑体" panose="02010609060101010101" pitchFamily="49" charset="-122"/>
                <a:ea typeface="黑体" panose="02010609060101010101" pitchFamily="49" charset="-122"/>
              </a:rPr>
              <a:t>0</a:t>
            </a:r>
            <a:r>
              <a:rPr kumimoji="1" lang="zh-CN" altLang="en-US" sz="2400" dirty="0">
                <a:solidFill>
                  <a:srgbClr val="000000"/>
                </a:solidFill>
                <a:latin typeface="黑体" panose="02010609060101010101" pitchFamily="49" charset="-122"/>
                <a:ea typeface="黑体" panose="02010609060101010101" pitchFamily="49" charset="-122"/>
              </a:rPr>
              <a:t>，相当于一个</a:t>
            </a:r>
            <a:r>
              <a:rPr kumimoji="1" lang="zh-CN" altLang="en-US" sz="2400" dirty="0">
                <a:solidFill>
                  <a:srgbClr val="0000FF"/>
                </a:solidFill>
                <a:latin typeface="黑体" panose="02010609060101010101" pitchFamily="49" charset="-122"/>
                <a:ea typeface="黑体" panose="02010609060101010101" pitchFamily="49" charset="-122"/>
              </a:rPr>
              <a:t>断开</a:t>
            </a:r>
            <a:r>
              <a:rPr kumimoji="1" lang="zh-CN" altLang="en-US" sz="2400" dirty="0">
                <a:solidFill>
                  <a:srgbClr val="000000"/>
                </a:solidFill>
                <a:latin typeface="黑体" panose="02010609060101010101" pitchFamily="49" charset="-122"/>
                <a:ea typeface="黑体" panose="02010609060101010101" pitchFamily="49" charset="-122"/>
              </a:rPr>
              <a:t>的开关。</a:t>
            </a:r>
            <a:endParaRPr kumimoji="1" lang="zh-CN" altLang="en-US" sz="2400" dirty="0">
              <a:solidFill>
                <a:srgbClr val="000000"/>
              </a:solidFill>
              <a:latin typeface="黑体" panose="02010609060101010101" pitchFamily="49" charset="-122"/>
              <a:ea typeface="黑体" panose="02010609060101010101" pitchFamily="49" charset="-122"/>
            </a:endParaRPr>
          </a:p>
        </p:txBody>
      </p:sp>
      <p:grpSp>
        <p:nvGrpSpPr>
          <p:cNvPr id="173" name="Group 86"/>
          <p:cNvGrpSpPr/>
          <p:nvPr/>
        </p:nvGrpSpPr>
        <p:grpSpPr bwMode="auto">
          <a:xfrm>
            <a:off x="4267200" y="4572000"/>
            <a:ext cx="2362200" cy="1447800"/>
            <a:chOff x="2688" y="2544"/>
            <a:chExt cx="1488" cy="912"/>
          </a:xfrm>
        </p:grpSpPr>
        <p:sp>
          <p:nvSpPr>
            <p:cNvPr id="174" name="Rectangle 87"/>
            <p:cNvSpPr>
              <a:spLocks noChangeArrowheads="1"/>
            </p:cNvSpPr>
            <p:nvPr/>
          </p:nvSpPr>
          <p:spPr bwMode="auto">
            <a:xfrm>
              <a:off x="3024" y="3072"/>
              <a:ext cx="96" cy="1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75" name="Group 88"/>
            <p:cNvGrpSpPr/>
            <p:nvPr/>
          </p:nvGrpSpPr>
          <p:grpSpPr bwMode="auto">
            <a:xfrm flipV="1">
              <a:off x="3504" y="2880"/>
              <a:ext cx="192" cy="144"/>
              <a:chOff x="4704" y="1008"/>
              <a:chExt cx="144" cy="144"/>
            </a:xfrm>
          </p:grpSpPr>
          <p:sp>
            <p:nvSpPr>
              <p:cNvPr id="195" name="AutoShape 89"/>
              <p:cNvSpPr>
                <a:spLocks noChangeArrowheads="1"/>
              </p:cNvSpPr>
              <p:nvPr/>
            </p:nvSpPr>
            <p:spPr bwMode="auto">
              <a:xfrm>
                <a:off x="4704" y="1008"/>
                <a:ext cx="144" cy="144"/>
              </a:xfrm>
              <a:prstGeom prst="triangle">
                <a:avLst>
                  <a:gd name="adj" fmla="val 50000"/>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6" name="Line 90"/>
              <p:cNvSpPr>
                <a:spLocks noChangeShapeType="1"/>
              </p:cNvSpPr>
              <p:nvPr/>
            </p:nvSpPr>
            <p:spPr bwMode="auto">
              <a:xfrm>
                <a:off x="4704" y="1008"/>
                <a:ext cx="144"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76" name="Line 91"/>
            <p:cNvSpPr>
              <a:spLocks noChangeShapeType="1"/>
            </p:cNvSpPr>
            <p:nvPr/>
          </p:nvSpPr>
          <p:spPr bwMode="auto">
            <a:xfrm>
              <a:off x="2976" y="2784"/>
              <a:ext cx="19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7" name="Line 92"/>
            <p:cNvSpPr>
              <a:spLocks noChangeShapeType="1"/>
            </p:cNvSpPr>
            <p:nvPr/>
          </p:nvSpPr>
          <p:spPr bwMode="auto">
            <a:xfrm>
              <a:off x="3024" y="2736"/>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8" name="Line 93"/>
            <p:cNvSpPr>
              <a:spLocks noChangeShapeType="1"/>
            </p:cNvSpPr>
            <p:nvPr/>
          </p:nvSpPr>
          <p:spPr bwMode="auto">
            <a:xfrm>
              <a:off x="3072" y="254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9" name="Line 94"/>
            <p:cNvSpPr>
              <a:spLocks noChangeShapeType="1"/>
            </p:cNvSpPr>
            <p:nvPr/>
          </p:nvSpPr>
          <p:spPr bwMode="auto">
            <a:xfrm>
              <a:off x="3072" y="2784"/>
              <a:ext cx="0" cy="2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0" name="Line 95"/>
            <p:cNvSpPr>
              <a:spLocks noChangeShapeType="1"/>
            </p:cNvSpPr>
            <p:nvPr/>
          </p:nvSpPr>
          <p:spPr bwMode="auto">
            <a:xfrm>
              <a:off x="3072" y="2544"/>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1" name="Line 96"/>
            <p:cNvSpPr>
              <a:spLocks noChangeShapeType="1"/>
            </p:cNvSpPr>
            <p:nvPr/>
          </p:nvSpPr>
          <p:spPr bwMode="auto">
            <a:xfrm>
              <a:off x="3600" y="2544"/>
              <a:ext cx="0" cy="91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2" name="Line 97"/>
            <p:cNvSpPr>
              <a:spLocks noChangeShapeType="1"/>
            </p:cNvSpPr>
            <p:nvPr/>
          </p:nvSpPr>
          <p:spPr bwMode="auto">
            <a:xfrm>
              <a:off x="3072" y="326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3" name="Line 98"/>
            <p:cNvSpPr>
              <a:spLocks noChangeShapeType="1"/>
            </p:cNvSpPr>
            <p:nvPr/>
          </p:nvSpPr>
          <p:spPr bwMode="auto">
            <a:xfrm>
              <a:off x="3072" y="3456"/>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84" name="Group 99"/>
            <p:cNvGrpSpPr/>
            <p:nvPr/>
          </p:nvGrpSpPr>
          <p:grpSpPr bwMode="auto">
            <a:xfrm>
              <a:off x="2928" y="2832"/>
              <a:ext cx="96" cy="96"/>
              <a:chOff x="4128" y="672"/>
              <a:chExt cx="96" cy="96"/>
            </a:xfrm>
          </p:grpSpPr>
          <p:sp>
            <p:nvSpPr>
              <p:cNvPr id="193" name="Line 100"/>
              <p:cNvSpPr>
                <a:spLocks noChangeShapeType="1"/>
              </p:cNvSpPr>
              <p:nvPr/>
            </p:nvSpPr>
            <p:spPr bwMode="auto">
              <a:xfrm>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4" name="Line 101"/>
              <p:cNvSpPr>
                <a:spLocks noChangeShapeType="1"/>
              </p:cNvSpPr>
              <p:nvPr/>
            </p:nvSpPr>
            <p:spPr bwMode="auto">
              <a:xfrm rot="5400000" flipH="1">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85" name="Line 102"/>
            <p:cNvSpPr>
              <a:spLocks noChangeShapeType="1"/>
            </p:cNvSpPr>
            <p:nvPr/>
          </p:nvSpPr>
          <p:spPr bwMode="auto">
            <a:xfrm>
              <a:off x="2928" y="264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6" name="Text Box 103"/>
            <p:cNvSpPr txBox="1">
              <a:spLocks noChangeArrowheads="1"/>
            </p:cNvSpPr>
            <p:nvPr/>
          </p:nvSpPr>
          <p:spPr bwMode="auto">
            <a:xfrm>
              <a:off x="2688" y="25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7" name="Text Box 104"/>
            <p:cNvSpPr txBox="1">
              <a:spLocks noChangeArrowheads="1"/>
            </p:cNvSpPr>
            <p:nvPr/>
          </p:nvSpPr>
          <p:spPr bwMode="auto">
            <a:xfrm>
              <a:off x="3696" y="278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88" name="Group 105"/>
            <p:cNvGrpSpPr/>
            <p:nvPr/>
          </p:nvGrpSpPr>
          <p:grpSpPr bwMode="auto">
            <a:xfrm>
              <a:off x="3600" y="3072"/>
              <a:ext cx="480" cy="288"/>
              <a:chOff x="912" y="3648"/>
              <a:chExt cx="480" cy="288"/>
            </a:xfrm>
          </p:grpSpPr>
          <p:sp>
            <p:nvSpPr>
              <p:cNvPr id="191" name="Line 106"/>
              <p:cNvSpPr>
                <a:spLocks noChangeShapeType="1"/>
              </p:cNvSpPr>
              <p:nvPr/>
            </p:nvSpPr>
            <p:spPr bwMode="auto">
              <a:xfrm flipV="1">
                <a:off x="912" y="3696"/>
                <a:ext cx="0" cy="192"/>
              </a:xfrm>
              <a:prstGeom prst="line">
                <a:avLst/>
              </a:prstGeom>
              <a:noFill/>
              <a:ln w="3810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2" name="Text Box 107"/>
              <p:cNvSpPr txBox="1">
                <a:spLocks noChangeArrowheads="1"/>
              </p:cNvSpPr>
              <p:nvPr/>
            </p:nvSpPr>
            <p:spPr bwMode="auto">
              <a:xfrm>
                <a:off x="912" y="36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I</a:t>
                </a:r>
                <a:r>
                  <a:rPr kumimoji="1" lang="zh-CN" altLang="en-US"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反</a:t>
                </a:r>
                <a:endParaRPr kumimoji="1" lang="zh-CN" altLang="en-US"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189" name="Line 108"/>
            <p:cNvSpPr>
              <a:spLocks noChangeShapeType="1"/>
            </p:cNvSpPr>
            <p:nvPr/>
          </p:nvSpPr>
          <p:spPr bwMode="auto">
            <a:xfrm>
              <a:off x="3408" y="2736"/>
              <a:ext cx="0" cy="432"/>
            </a:xfrm>
            <a:prstGeom prst="line">
              <a:avLst/>
            </a:prstGeom>
            <a:noFill/>
            <a:ln w="3810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0" name="Text Box 109"/>
            <p:cNvSpPr txBox="1">
              <a:spLocks noChangeArrowheads="1"/>
            </p:cNvSpPr>
            <p:nvPr/>
          </p:nvSpPr>
          <p:spPr bwMode="auto">
            <a:xfrm>
              <a:off x="3072" y="278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U</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grpSp>
        <p:nvGrpSpPr>
          <p:cNvPr id="197" name="Group 110"/>
          <p:cNvGrpSpPr/>
          <p:nvPr/>
        </p:nvGrpSpPr>
        <p:grpSpPr bwMode="auto">
          <a:xfrm>
            <a:off x="6934200" y="4419600"/>
            <a:ext cx="2209800" cy="1447800"/>
            <a:chOff x="3984" y="2544"/>
            <a:chExt cx="1392" cy="912"/>
          </a:xfrm>
        </p:grpSpPr>
        <p:sp>
          <p:nvSpPr>
            <p:cNvPr id="198" name="Rectangle 111"/>
            <p:cNvSpPr>
              <a:spLocks noChangeArrowheads="1"/>
            </p:cNvSpPr>
            <p:nvPr/>
          </p:nvSpPr>
          <p:spPr bwMode="auto">
            <a:xfrm>
              <a:off x="4320" y="3072"/>
              <a:ext cx="96" cy="1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9" name="Line 112"/>
            <p:cNvSpPr>
              <a:spLocks noChangeShapeType="1"/>
            </p:cNvSpPr>
            <p:nvPr/>
          </p:nvSpPr>
          <p:spPr bwMode="auto">
            <a:xfrm>
              <a:off x="4272" y="2784"/>
              <a:ext cx="19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0" name="Line 113"/>
            <p:cNvSpPr>
              <a:spLocks noChangeShapeType="1"/>
            </p:cNvSpPr>
            <p:nvPr/>
          </p:nvSpPr>
          <p:spPr bwMode="auto">
            <a:xfrm>
              <a:off x="4320" y="2736"/>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1" name="Line 114"/>
            <p:cNvSpPr>
              <a:spLocks noChangeShapeType="1"/>
            </p:cNvSpPr>
            <p:nvPr/>
          </p:nvSpPr>
          <p:spPr bwMode="auto">
            <a:xfrm>
              <a:off x="4368" y="254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2" name="Line 115"/>
            <p:cNvSpPr>
              <a:spLocks noChangeShapeType="1"/>
            </p:cNvSpPr>
            <p:nvPr/>
          </p:nvSpPr>
          <p:spPr bwMode="auto">
            <a:xfrm>
              <a:off x="4368" y="2784"/>
              <a:ext cx="0" cy="2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3" name="Line 116"/>
            <p:cNvSpPr>
              <a:spLocks noChangeShapeType="1"/>
            </p:cNvSpPr>
            <p:nvPr/>
          </p:nvSpPr>
          <p:spPr bwMode="auto">
            <a:xfrm>
              <a:off x="4368" y="2544"/>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4" name="Line 117"/>
            <p:cNvSpPr>
              <a:spLocks noChangeShapeType="1"/>
            </p:cNvSpPr>
            <p:nvPr/>
          </p:nvSpPr>
          <p:spPr bwMode="auto">
            <a:xfrm>
              <a:off x="4896" y="3024"/>
              <a:ext cx="0" cy="43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5" name="Line 118"/>
            <p:cNvSpPr>
              <a:spLocks noChangeShapeType="1"/>
            </p:cNvSpPr>
            <p:nvPr/>
          </p:nvSpPr>
          <p:spPr bwMode="auto">
            <a:xfrm>
              <a:off x="4368" y="3264"/>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6" name="Line 119"/>
            <p:cNvSpPr>
              <a:spLocks noChangeShapeType="1"/>
            </p:cNvSpPr>
            <p:nvPr/>
          </p:nvSpPr>
          <p:spPr bwMode="auto">
            <a:xfrm>
              <a:off x="4368" y="3456"/>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07" name="Group 120"/>
            <p:cNvGrpSpPr/>
            <p:nvPr/>
          </p:nvGrpSpPr>
          <p:grpSpPr bwMode="auto">
            <a:xfrm>
              <a:off x="4224" y="2832"/>
              <a:ext cx="96" cy="96"/>
              <a:chOff x="4128" y="672"/>
              <a:chExt cx="96" cy="96"/>
            </a:xfrm>
          </p:grpSpPr>
          <p:sp>
            <p:nvSpPr>
              <p:cNvPr id="217" name="Line 121"/>
              <p:cNvSpPr>
                <a:spLocks noChangeShapeType="1"/>
              </p:cNvSpPr>
              <p:nvPr/>
            </p:nvSpPr>
            <p:spPr bwMode="auto">
              <a:xfrm>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8" name="Line 122"/>
              <p:cNvSpPr>
                <a:spLocks noChangeShapeType="1"/>
              </p:cNvSpPr>
              <p:nvPr/>
            </p:nvSpPr>
            <p:spPr bwMode="auto">
              <a:xfrm rot="5400000" flipH="1">
                <a:off x="4128" y="72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08" name="Line 123"/>
            <p:cNvSpPr>
              <a:spLocks noChangeShapeType="1"/>
            </p:cNvSpPr>
            <p:nvPr/>
          </p:nvSpPr>
          <p:spPr bwMode="auto">
            <a:xfrm>
              <a:off x="4224" y="2640"/>
              <a:ext cx="96"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9" name="Text Box 124"/>
            <p:cNvSpPr txBox="1">
              <a:spLocks noChangeArrowheads="1"/>
            </p:cNvSpPr>
            <p:nvPr/>
          </p:nvSpPr>
          <p:spPr bwMode="auto">
            <a:xfrm>
              <a:off x="3984" y="25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10" name="Group 125"/>
            <p:cNvGrpSpPr/>
            <p:nvPr/>
          </p:nvGrpSpPr>
          <p:grpSpPr bwMode="auto">
            <a:xfrm>
              <a:off x="4896" y="3072"/>
              <a:ext cx="480" cy="288"/>
              <a:chOff x="912" y="3648"/>
              <a:chExt cx="480" cy="288"/>
            </a:xfrm>
          </p:grpSpPr>
          <p:sp>
            <p:nvSpPr>
              <p:cNvPr id="215" name="Line 126"/>
              <p:cNvSpPr>
                <a:spLocks noChangeShapeType="1"/>
              </p:cNvSpPr>
              <p:nvPr/>
            </p:nvSpPr>
            <p:spPr bwMode="auto">
              <a:xfrm flipV="1">
                <a:off x="912" y="3696"/>
                <a:ext cx="0" cy="192"/>
              </a:xfrm>
              <a:prstGeom prst="line">
                <a:avLst/>
              </a:prstGeom>
              <a:noFill/>
              <a:ln w="3810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6" name="Text Box 127"/>
              <p:cNvSpPr txBox="1">
                <a:spLocks noChangeArrowheads="1"/>
              </p:cNvSpPr>
              <p:nvPr/>
            </p:nvSpPr>
            <p:spPr bwMode="auto">
              <a:xfrm>
                <a:off x="912" y="36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I</a:t>
                </a:r>
                <a:r>
                  <a:rPr kumimoji="1" lang="zh-CN" altLang="en-US"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反</a:t>
                </a:r>
                <a:endParaRPr kumimoji="1" lang="zh-CN" altLang="en-US"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211" name="Line 128"/>
            <p:cNvSpPr>
              <a:spLocks noChangeShapeType="1"/>
            </p:cNvSpPr>
            <p:nvPr/>
          </p:nvSpPr>
          <p:spPr bwMode="auto">
            <a:xfrm>
              <a:off x="4704" y="2736"/>
              <a:ext cx="0" cy="432"/>
            </a:xfrm>
            <a:prstGeom prst="line">
              <a:avLst/>
            </a:prstGeom>
            <a:noFill/>
            <a:ln w="38100">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2" name="Text Box 129"/>
            <p:cNvSpPr txBox="1">
              <a:spLocks noChangeArrowheads="1"/>
            </p:cNvSpPr>
            <p:nvPr/>
          </p:nvSpPr>
          <p:spPr bwMode="auto">
            <a:xfrm>
              <a:off x="4464" y="278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U</a:t>
              </a:r>
              <a:endPar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213" name="Line 130"/>
            <p:cNvSpPr>
              <a:spLocks noChangeShapeType="1"/>
            </p:cNvSpPr>
            <p:nvPr/>
          </p:nvSpPr>
          <p:spPr bwMode="auto">
            <a:xfrm>
              <a:off x="4896" y="2544"/>
              <a:ext cx="0" cy="33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4" name="Line 131"/>
            <p:cNvSpPr>
              <a:spLocks noChangeShapeType="1"/>
            </p:cNvSpPr>
            <p:nvPr/>
          </p:nvSpPr>
          <p:spPr bwMode="auto">
            <a:xfrm>
              <a:off x="4800" y="2880"/>
              <a:ext cx="96" cy="14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19" name="AutoShape 132"/>
          <p:cNvSpPr>
            <a:spLocks noChangeArrowheads="1"/>
          </p:cNvSpPr>
          <p:nvPr/>
        </p:nvSpPr>
        <p:spPr bwMode="auto">
          <a:xfrm>
            <a:off x="6400800" y="3048000"/>
            <a:ext cx="685800" cy="152400"/>
          </a:xfrm>
          <a:prstGeom prst="rightArrow">
            <a:avLst>
              <a:gd name="adj1" fmla="val 50000"/>
              <a:gd name="adj2" fmla="val 112500"/>
            </a:avLst>
          </a:prstGeom>
          <a:solidFill>
            <a:srgbClr val="BBE0E3"/>
          </a:solid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0" name="AutoShape 133"/>
          <p:cNvSpPr>
            <a:spLocks noChangeArrowheads="1"/>
          </p:cNvSpPr>
          <p:nvPr/>
        </p:nvSpPr>
        <p:spPr bwMode="auto">
          <a:xfrm>
            <a:off x="6553200" y="5105400"/>
            <a:ext cx="685800" cy="152400"/>
          </a:xfrm>
          <a:prstGeom prst="rightArrow">
            <a:avLst>
              <a:gd name="adj1" fmla="val 50000"/>
              <a:gd name="adj2" fmla="val 112500"/>
            </a:avLst>
          </a:prstGeom>
          <a:solidFill>
            <a:srgbClr val="BBE0E3"/>
          </a:solidFill>
          <a:ln w="9525">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1" name="Text Box 134"/>
          <p:cNvSpPr txBox="1">
            <a:spLocks noChangeArrowheads="1"/>
          </p:cNvSpPr>
          <p:nvPr/>
        </p:nvSpPr>
        <p:spPr bwMode="auto">
          <a:xfrm>
            <a:off x="184737" y="1257779"/>
            <a:ext cx="87745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二极管具有</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单向导电性</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，在数字电路中表现为一个受外电压控制的开关。</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fade">
                                      <p:cBhvr>
                                        <p:cTn id="12" dur="500"/>
                                        <p:tgtEl>
                                          <p:spTgt spid="1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fade">
                                      <p:cBhvr>
                                        <p:cTn id="17" dur="5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9"/>
                                        </p:tgtEl>
                                        <p:attrNameLst>
                                          <p:attrName>style.visibility</p:attrName>
                                        </p:attrNameLst>
                                      </p:cBhvr>
                                      <p:to>
                                        <p:strVal val="visible"/>
                                      </p:to>
                                    </p:set>
                                    <p:animEffect transition="in" filter="wipe(left)">
                                      <p:cBhvr>
                                        <p:cTn id="22" dur="500"/>
                                        <p:tgtEl>
                                          <p:spTgt spid="2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8"/>
                                        </p:tgtEl>
                                        <p:attrNameLst>
                                          <p:attrName>style.visibility</p:attrName>
                                        </p:attrNameLst>
                                      </p:cBhvr>
                                      <p:to>
                                        <p:strVal val="visible"/>
                                      </p:to>
                                    </p:set>
                                    <p:animEffect transition="in" filter="fade">
                                      <p:cBhvr>
                                        <p:cTn id="27" dur="500"/>
                                        <p:tgtEl>
                                          <p:spTgt spid="14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3"/>
                                        </p:tgtEl>
                                        <p:attrNameLst>
                                          <p:attrName>style.visibility</p:attrName>
                                        </p:attrNameLst>
                                      </p:cBhvr>
                                      <p:to>
                                        <p:strVal val="visible"/>
                                      </p:to>
                                    </p:set>
                                    <p:animEffect transition="in" filter="fade">
                                      <p:cBhvr>
                                        <p:cTn id="32" dur="500"/>
                                        <p:tgtEl>
                                          <p:spTgt spid="17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2"/>
                                        </p:tgtEl>
                                        <p:attrNameLst>
                                          <p:attrName>style.visibility</p:attrName>
                                        </p:attrNameLst>
                                      </p:cBhvr>
                                      <p:to>
                                        <p:strVal val="visible"/>
                                      </p:to>
                                    </p:set>
                                    <p:animEffect transition="in" filter="fade">
                                      <p:cBhvr>
                                        <p:cTn id="37" dur="500"/>
                                        <p:tgtEl>
                                          <p:spTgt spid="17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0"/>
                                        </p:tgtEl>
                                        <p:attrNameLst>
                                          <p:attrName>style.visibility</p:attrName>
                                        </p:attrNameLst>
                                      </p:cBhvr>
                                      <p:to>
                                        <p:strVal val="visible"/>
                                      </p:to>
                                    </p:set>
                                    <p:animEffect transition="in" filter="wipe(left)">
                                      <p:cBhvr>
                                        <p:cTn id="42" dur="500"/>
                                        <p:tgtEl>
                                          <p:spTgt spid="2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7"/>
                                        </p:tgtEl>
                                        <p:attrNameLst>
                                          <p:attrName>style.visibility</p:attrName>
                                        </p:attrNameLst>
                                      </p:cBhvr>
                                      <p:to>
                                        <p:strVal val="visible"/>
                                      </p:to>
                                    </p:set>
                                    <p:animEffect transition="in" filter="fade">
                                      <p:cBhvr>
                                        <p:cTn id="47"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autoUpdateAnimBg="0"/>
      <p:bldP spid="172" grpId="0" animBg="1" autoUpdateAnimBg="0"/>
      <p:bldP spid="219" grpId="0" animBg="1"/>
      <p:bldP spid="220" grpId="0" animBg="1"/>
      <p:bldP spid="2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三极管的开关特性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107" name="Text Box 37"/>
          <p:cNvSpPr txBox="1">
            <a:spLocks noChangeArrowheads="1"/>
          </p:cNvSpPr>
          <p:nvPr/>
        </p:nvSpPr>
        <p:spPr bwMode="auto">
          <a:xfrm>
            <a:off x="248238" y="1206134"/>
            <a:ext cx="8305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400" dirty="0">
                <a:latin typeface="黑体" panose="02010609060101010101" pitchFamily="49" charset="-122"/>
                <a:ea typeface="黑体" panose="02010609060101010101" pitchFamily="49" charset="-122"/>
              </a:rPr>
              <a:t>三极管在数字电路中通常工作在</a:t>
            </a:r>
            <a:r>
              <a:rPr kumimoji="1" lang="zh-CN" altLang="en-US" sz="2400" dirty="0">
                <a:solidFill>
                  <a:srgbClr val="FF0000"/>
                </a:solidFill>
                <a:latin typeface="黑体" panose="02010609060101010101" pitchFamily="49" charset="-122"/>
                <a:ea typeface="黑体" panose="02010609060101010101" pitchFamily="49" charset="-122"/>
              </a:rPr>
              <a:t>截止状态</a:t>
            </a:r>
            <a:r>
              <a:rPr kumimoji="1" lang="zh-CN" altLang="en-US" sz="2400" dirty="0">
                <a:latin typeface="黑体" panose="02010609060101010101" pitchFamily="49" charset="-122"/>
                <a:ea typeface="黑体" panose="02010609060101010101" pitchFamily="49" charset="-122"/>
              </a:rPr>
              <a:t>（相当于开关</a:t>
            </a:r>
            <a:r>
              <a:rPr kumimoji="1" lang="zh-CN" altLang="en-US" sz="2400" dirty="0">
                <a:solidFill>
                  <a:srgbClr val="FF0000"/>
                </a:solidFill>
                <a:latin typeface="黑体" panose="02010609060101010101" pitchFamily="49" charset="-122"/>
                <a:ea typeface="黑体" panose="02010609060101010101" pitchFamily="49" charset="-122"/>
              </a:rPr>
              <a:t>断开</a:t>
            </a:r>
            <a:r>
              <a:rPr kumimoji="1" lang="zh-CN" altLang="en-US" sz="2400" dirty="0">
                <a:latin typeface="黑体" panose="02010609060101010101" pitchFamily="49" charset="-122"/>
                <a:ea typeface="黑体" panose="02010609060101010101" pitchFamily="49" charset="-122"/>
              </a:rPr>
              <a:t>）和</a:t>
            </a:r>
            <a:r>
              <a:rPr kumimoji="1" lang="zh-CN" altLang="en-US" sz="2400" dirty="0">
                <a:solidFill>
                  <a:srgbClr val="0000FF"/>
                </a:solidFill>
                <a:latin typeface="黑体" panose="02010609060101010101" pitchFamily="49" charset="-122"/>
                <a:ea typeface="黑体" panose="02010609060101010101" pitchFamily="49" charset="-122"/>
              </a:rPr>
              <a:t>饱和状态</a:t>
            </a:r>
            <a:r>
              <a:rPr kumimoji="1" lang="zh-CN" altLang="en-US" sz="2400" dirty="0">
                <a:latin typeface="黑体" panose="02010609060101010101" pitchFamily="49" charset="-122"/>
                <a:ea typeface="黑体" panose="02010609060101010101" pitchFamily="49" charset="-122"/>
              </a:rPr>
              <a:t>（相当于开关</a:t>
            </a:r>
            <a:r>
              <a:rPr kumimoji="1" lang="zh-CN" altLang="en-US" sz="2400" dirty="0">
                <a:solidFill>
                  <a:srgbClr val="0000FF"/>
                </a:solidFill>
                <a:latin typeface="黑体" panose="02010609060101010101" pitchFamily="49" charset="-122"/>
                <a:ea typeface="黑体" panose="02010609060101010101" pitchFamily="49" charset="-122"/>
              </a:rPr>
              <a:t>闭合</a:t>
            </a:r>
            <a:r>
              <a:rPr kumimoji="1" lang="zh-CN" altLang="en-US" sz="2400" dirty="0">
                <a:latin typeface="黑体" panose="02010609060101010101" pitchFamily="49" charset="-122"/>
                <a:ea typeface="黑体" panose="02010609060101010101" pitchFamily="49" charset="-122"/>
              </a:rPr>
              <a:t>）。</a:t>
            </a:r>
            <a:endParaRPr kumimoji="1" lang="zh-CN" altLang="en-US" sz="2400" dirty="0">
              <a:latin typeface="黑体" panose="02010609060101010101" pitchFamily="49" charset="-122"/>
              <a:ea typeface="黑体" panose="02010609060101010101" pitchFamily="49" charset="-122"/>
            </a:endParaRPr>
          </a:p>
        </p:txBody>
      </p:sp>
      <p:sp>
        <p:nvSpPr>
          <p:cNvPr id="242" name="Text Box 3"/>
          <p:cNvSpPr txBox="1">
            <a:spLocks noChangeArrowheads="1"/>
          </p:cNvSpPr>
          <p:nvPr/>
        </p:nvSpPr>
        <p:spPr bwMode="auto">
          <a:xfrm>
            <a:off x="228600" y="2282541"/>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三极管开关电路</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43" name="Text Box 4"/>
          <p:cNvSpPr txBox="1">
            <a:spLocks noChangeArrowheads="1"/>
          </p:cNvSpPr>
          <p:nvPr/>
        </p:nvSpPr>
        <p:spPr bwMode="auto">
          <a:xfrm>
            <a:off x="3727449" y="2734759"/>
            <a:ext cx="4826589"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ts val="120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只要参数配合得当，可做到：</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marL="342900" marR="0" lvl="0" indent="-342900" defTabSz="914400" eaLnBrk="1" fontAlgn="base" latinLnBrk="0" hangingPunct="1">
              <a:lnSpc>
                <a:spcPct val="130000"/>
              </a:lnSpc>
              <a:spcBef>
                <a:spcPct val="0"/>
              </a:spcBef>
              <a:spcAft>
                <a:spcPts val="600"/>
              </a:spcAft>
              <a:buClrTx/>
              <a:buSzTx/>
              <a:buFont typeface="Wingdings" panose="05000000000000000000" pitchFamily="2" charset="2"/>
              <a:buChar char="Ø"/>
              <a:defRPr/>
            </a:pP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当</a:t>
            </a:r>
            <a:r>
              <a:rPr kumimoji="1" lang="en-US" altLang="zh-CN" sz="2400" b="1" i="1" u="none" strike="noStrike" kern="0" cap="none" spc="0" normalizeH="0" baseline="0" noProof="0" dirty="0" err="1">
                <a:ln>
                  <a:noFill/>
                </a:ln>
                <a:effectLst/>
                <a:uLnTx/>
                <a:uFillTx/>
                <a:ea typeface="黑体" panose="02010609060101010101" pitchFamily="49" charset="-122"/>
                <a:cs typeface="Times New Roman" panose="02020603050405020304" pitchFamily="18" charset="0"/>
              </a:rPr>
              <a:t>v</a:t>
            </a:r>
            <a:r>
              <a:rPr kumimoji="1" lang="en-US" altLang="zh-CN" sz="2400" b="1" i="0" u="none" strike="noStrike" kern="0" cap="none" spc="0" normalizeH="0" baseline="-25000" noProof="0" dirty="0" err="1">
                <a:ln>
                  <a:noFill/>
                </a:ln>
                <a:effectLst/>
                <a:uLnTx/>
                <a:uFillTx/>
                <a:ea typeface="黑体" panose="02010609060101010101" pitchFamily="49" charset="-122"/>
                <a:cs typeface="Times New Roman" panose="02020603050405020304" pitchFamily="18" charset="0"/>
              </a:rPr>
              <a:t>I</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为</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低</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电平时，三极管工作在</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截止状态</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，输出为</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高</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电平；</a:t>
            </a:r>
            <a:endPar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endParaRPr>
          </a:p>
          <a:p>
            <a:pPr marL="342900" marR="0" lvl="0" indent="-342900"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当</a:t>
            </a:r>
            <a:r>
              <a:rPr kumimoji="1" lang="en-US" altLang="zh-CN" sz="2400" b="1" i="1" u="none" strike="noStrike" kern="0" cap="none" spc="0" normalizeH="0" baseline="0" noProof="0" dirty="0" err="1">
                <a:ln>
                  <a:noFill/>
                </a:ln>
                <a:effectLst/>
                <a:uLnTx/>
                <a:uFillTx/>
                <a:ea typeface="黑体" panose="02010609060101010101" pitchFamily="49" charset="-122"/>
                <a:cs typeface="Times New Roman" panose="02020603050405020304" pitchFamily="18" charset="0"/>
              </a:rPr>
              <a:t>v</a:t>
            </a:r>
            <a:r>
              <a:rPr kumimoji="1" lang="en-US" altLang="zh-CN" sz="2400" b="1" i="0" u="none" strike="noStrike" kern="0" cap="none" spc="0" normalizeH="0" baseline="-25000" noProof="0" dirty="0" err="1">
                <a:ln>
                  <a:noFill/>
                </a:ln>
                <a:effectLst/>
                <a:uLnTx/>
                <a:uFillTx/>
                <a:ea typeface="黑体" panose="02010609060101010101" pitchFamily="49" charset="-122"/>
                <a:cs typeface="Times New Roman" panose="02020603050405020304" pitchFamily="18" charset="0"/>
              </a:rPr>
              <a:t>I</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为</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高</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电平，三极管工作在</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饱和状态</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，输出为</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低</a:t>
            </a: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电平。</a:t>
            </a:r>
            <a:endPar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endParaRPr>
          </a:p>
        </p:txBody>
      </p:sp>
      <p:grpSp>
        <p:nvGrpSpPr>
          <p:cNvPr id="244" name="Group 5"/>
          <p:cNvGrpSpPr/>
          <p:nvPr/>
        </p:nvGrpSpPr>
        <p:grpSpPr bwMode="auto">
          <a:xfrm>
            <a:off x="0" y="2762054"/>
            <a:ext cx="3448050" cy="2819400"/>
            <a:chOff x="48" y="912"/>
            <a:chExt cx="2172" cy="1776"/>
          </a:xfrm>
        </p:grpSpPr>
        <p:sp>
          <p:nvSpPr>
            <p:cNvPr id="245" name="Text Box 6"/>
            <p:cNvSpPr txBox="1">
              <a:spLocks noChangeArrowheads="1"/>
            </p:cNvSpPr>
            <p:nvPr/>
          </p:nvSpPr>
          <p:spPr bwMode="auto">
            <a:xfrm>
              <a:off x="48" y="2136"/>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Text Box 7"/>
            <p:cNvSpPr txBox="1">
              <a:spLocks noChangeArrowheads="1"/>
            </p:cNvSpPr>
            <p:nvPr/>
          </p:nvSpPr>
          <p:spPr bwMode="auto">
            <a:xfrm>
              <a:off x="1724" y="1968"/>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47" name="Group 8"/>
            <p:cNvGrpSpPr/>
            <p:nvPr/>
          </p:nvGrpSpPr>
          <p:grpSpPr bwMode="auto">
            <a:xfrm>
              <a:off x="192" y="912"/>
              <a:ext cx="1868" cy="1776"/>
              <a:chOff x="192" y="912"/>
              <a:chExt cx="1868" cy="1776"/>
            </a:xfrm>
          </p:grpSpPr>
          <p:grpSp>
            <p:nvGrpSpPr>
              <p:cNvPr id="248" name="Group 9"/>
              <p:cNvGrpSpPr/>
              <p:nvPr/>
            </p:nvGrpSpPr>
            <p:grpSpPr bwMode="auto">
              <a:xfrm>
                <a:off x="1122" y="1920"/>
                <a:ext cx="192" cy="288"/>
                <a:chOff x="1152" y="1920"/>
                <a:chExt cx="192" cy="288"/>
              </a:xfrm>
            </p:grpSpPr>
            <p:sp>
              <p:nvSpPr>
                <p:cNvPr id="272" name="Line 10"/>
                <p:cNvSpPr>
                  <a:spLocks noChangeShapeType="1"/>
                </p:cNvSpPr>
                <p:nvPr/>
              </p:nvSpPr>
              <p:spPr bwMode="auto">
                <a:xfrm>
                  <a:off x="1152" y="1932"/>
                  <a:ext cx="0" cy="27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3" name="Line 11"/>
                <p:cNvSpPr>
                  <a:spLocks noChangeShapeType="1"/>
                </p:cNvSpPr>
                <p:nvPr/>
              </p:nvSpPr>
              <p:spPr bwMode="auto">
                <a:xfrm flipV="1">
                  <a:off x="1152" y="1920"/>
                  <a:ext cx="192" cy="9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4" name="Line 12"/>
                <p:cNvSpPr>
                  <a:spLocks noChangeShapeType="1"/>
                </p:cNvSpPr>
                <p:nvPr/>
              </p:nvSpPr>
              <p:spPr bwMode="auto">
                <a:xfrm>
                  <a:off x="1152" y="2112"/>
                  <a:ext cx="192" cy="96"/>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49" name="Line 13"/>
              <p:cNvSpPr>
                <a:spLocks noChangeShapeType="1"/>
              </p:cNvSpPr>
              <p:nvPr/>
            </p:nvSpPr>
            <p:spPr bwMode="auto">
              <a:xfrm>
                <a:off x="1326" y="2208"/>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14"/>
              <p:cNvSpPr>
                <a:spLocks noChangeShapeType="1"/>
              </p:cNvSpPr>
              <p:nvPr/>
            </p:nvSpPr>
            <p:spPr bwMode="auto">
              <a:xfrm>
                <a:off x="918" y="2064"/>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15"/>
              <p:cNvSpPr>
                <a:spLocks noChangeShapeType="1"/>
              </p:cNvSpPr>
              <p:nvPr/>
            </p:nvSpPr>
            <p:spPr bwMode="auto">
              <a:xfrm flipV="1">
                <a:off x="1326" y="12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Rectangle 16"/>
              <p:cNvSpPr>
                <a:spLocks noChangeArrowheads="1"/>
              </p:cNvSpPr>
              <p:nvPr/>
            </p:nvSpPr>
            <p:spPr bwMode="auto">
              <a:xfrm>
                <a:off x="1278" y="1390"/>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Rectangle 17"/>
              <p:cNvSpPr>
                <a:spLocks noChangeArrowheads="1"/>
              </p:cNvSpPr>
              <p:nvPr/>
            </p:nvSpPr>
            <p:spPr bwMode="auto">
              <a:xfrm rot="-5400000">
                <a:off x="731" y="1919"/>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4" name="Line 18"/>
              <p:cNvSpPr>
                <a:spLocks noChangeShapeType="1"/>
              </p:cNvSpPr>
              <p:nvPr/>
            </p:nvSpPr>
            <p:spPr bwMode="auto">
              <a:xfrm>
                <a:off x="396" y="2064"/>
                <a:ext cx="2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5" name="Line 19"/>
              <p:cNvSpPr>
                <a:spLocks noChangeShapeType="1"/>
              </p:cNvSpPr>
              <p:nvPr/>
            </p:nvSpPr>
            <p:spPr bwMode="auto">
              <a:xfrm>
                <a:off x="396" y="2544"/>
                <a:ext cx="14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6" name="Line 20"/>
              <p:cNvSpPr>
                <a:spLocks noChangeShapeType="1"/>
              </p:cNvSpPr>
              <p:nvPr/>
            </p:nvSpPr>
            <p:spPr bwMode="auto">
              <a:xfrm>
                <a:off x="1320" y="1776"/>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7" name="Line 21"/>
              <p:cNvSpPr>
                <a:spLocks noChangeShapeType="1"/>
              </p:cNvSpPr>
              <p:nvPr/>
            </p:nvSpPr>
            <p:spPr bwMode="auto">
              <a:xfrm>
                <a:off x="1254" y="2688"/>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Oval 22"/>
              <p:cNvSpPr>
                <a:spLocks noChangeArrowheads="1"/>
              </p:cNvSpPr>
              <p:nvPr/>
            </p:nvSpPr>
            <p:spPr bwMode="auto">
              <a:xfrm>
                <a:off x="1302" y="17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Oval 23"/>
              <p:cNvSpPr>
                <a:spLocks noChangeArrowheads="1"/>
              </p:cNvSpPr>
              <p:nvPr/>
            </p:nvSpPr>
            <p:spPr bwMode="auto">
              <a:xfrm>
                <a:off x="1302" y="252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0" name="Text Box 24"/>
              <p:cNvSpPr txBox="1">
                <a:spLocks noChangeArrowheads="1"/>
              </p:cNvSpPr>
              <p:nvPr/>
            </p:nvSpPr>
            <p:spPr bwMode="auto">
              <a:xfrm>
                <a:off x="1068" y="9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1" name="Text Box 25"/>
              <p:cNvSpPr txBox="1">
                <a:spLocks noChangeArrowheads="1"/>
              </p:cNvSpPr>
              <p:nvPr/>
            </p:nvSpPr>
            <p:spPr bwMode="auto">
              <a:xfrm>
                <a:off x="1344" y="1366"/>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2" name="Text Box 26"/>
              <p:cNvSpPr txBox="1">
                <a:spLocks noChangeArrowheads="1"/>
              </p:cNvSpPr>
              <p:nvPr/>
            </p:nvSpPr>
            <p:spPr bwMode="auto">
              <a:xfrm>
                <a:off x="622" y="17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Line 27"/>
              <p:cNvSpPr>
                <a:spLocks noChangeShapeType="1"/>
              </p:cNvSpPr>
              <p:nvPr/>
            </p:nvSpPr>
            <p:spPr bwMode="auto">
              <a:xfrm>
                <a:off x="636" y="2160"/>
                <a:ext cx="2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4" name="Line 28"/>
              <p:cNvSpPr>
                <a:spLocks noChangeShapeType="1"/>
              </p:cNvSpPr>
              <p:nvPr/>
            </p:nvSpPr>
            <p:spPr bwMode="auto">
              <a:xfrm>
                <a:off x="1392" y="1824"/>
                <a:ext cx="0" cy="1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5" name="Text Box 29"/>
              <p:cNvSpPr txBox="1">
                <a:spLocks noChangeArrowheads="1"/>
              </p:cNvSpPr>
              <p:nvPr/>
            </p:nvSpPr>
            <p:spPr bwMode="auto">
              <a:xfrm>
                <a:off x="1394" y="1731"/>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Text Box 30"/>
              <p:cNvSpPr txBox="1">
                <a:spLocks noChangeArrowheads="1"/>
              </p:cNvSpPr>
              <p:nvPr/>
            </p:nvSpPr>
            <p:spPr bwMode="auto">
              <a:xfrm>
                <a:off x="667" y="212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Text Box 31"/>
              <p:cNvSpPr txBox="1">
                <a:spLocks noChangeArrowheads="1"/>
              </p:cNvSpPr>
              <p:nvPr/>
            </p:nvSpPr>
            <p:spPr bwMode="auto">
              <a:xfrm>
                <a:off x="192" y="198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8" name="Text Box 32"/>
              <p:cNvSpPr txBox="1">
                <a:spLocks noChangeArrowheads="1"/>
              </p:cNvSpPr>
              <p:nvPr/>
            </p:nvSpPr>
            <p:spPr bwMode="auto">
              <a:xfrm>
                <a:off x="236" y="236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Text Box 33"/>
              <p:cNvSpPr txBox="1">
                <a:spLocks noChangeArrowheads="1"/>
              </p:cNvSpPr>
              <p:nvPr/>
            </p:nvSpPr>
            <p:spPr bwMode="auto">
              <a:xfrm>
                <a:off x="1836"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Text Box 34"/>
              <p:cNvSpPr txBox="1">
                <a:spLocks noChangeArrowheads="1"/>
              </p:cNvSpPr>
              <p:nvPr/>
            </p:nvSpPr>
            <p:spPr bwMode="auto">
              <a:xfrm>
                <a:off x="1880" y="2400"/>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Line 35"/>
              <p:cNvSpPr>
                <a:spLocks noChangeShapeType="1"/>
              </p:cNvSpPr>
              <p:nvPr/>
            </p:nvSpPr>
            <p:spPr bwMode="auto">
              <a:xfrm flipV="1">
                <a:off x="1326" y="16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wipe(left)">
                                      <p:cBhvr>
                                        <p:cTn id="7" dur="5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
                                        </p:tgtEl>
                                        <p:attrNameLst>
                                          <p:attrName>style.visibility</p:attrName>
                                        </p:attrNameLst>
                                      </p:cBhvr>
                                      <p:to>
                                        <p:strVal val="visible"/>
                                      </p:to>
                                    </p:set>
                                    <p:animEffect transition="in" filter="wipe(left)">
                                      <p:cBhvr>
                                        <p:cTn id="12" dur="500"/>
                                        <p:tgtEl>
                                          <p:spTgt spid="2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44"/>
                                        </p:tgtEl>
                                        <p:attrNameLst>
                                          <p:attrName>style.visibility</p:attrName>
                                        </p:attrNameLst>
                                      </p:cBhvr>
                                      <p:to>
                                        <p:strVal val="visible"/>
                                      </p:to>
                                    </p:set>
                                    <p:animEffect transition="in" filter="barn(outHorizontal)">
                                      <p:cBhvr>
                                        <p:cTn id="17" dur="500"/>
                                        <p:tgtEl>
                                          <p:spTgt spid="2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3"/>
                                        </p:tgtEl>
                                        <p:attrNameLst>
                                          <p:attrName>style.visibility</p:attrName>
                                        </p:attrNameLst>
                                      </p:cBhvr>
                                      <p:to>
                                        <p:strVal val="visible"/>
                                      </p:to>
                                    </p:set>
                                    <p:animEffect transition="in" filter="blinds(horizontal)">
                                      <p:cBhvr>
                                        <p:cTn id="22"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242" grpId="0" autoUpdateAnimBg="0"/>
      <p:bldP spid="24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三极管的开关特性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242" name="Text Box 3"/>
          <p:cNvSpPr txBox="1">
            <a:spLocks noChangeArrowheads="1"/>
          </p:cNvSpPr>
          <p:nvPr/>
        </p:nvSpPr>
        <p:spPr bwMode="auto">
          <a:xfrm>
            <a:off x="109737" y="1665086"/>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三极管开关电路</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pSp>
        <p:nvGrpSpPr>
          <p:cNvPr id="244" name="Group 5"/>
          <p:cNvGrpSpPr/>
          <p:nvPr/>
        </p:nvGrpSpPr>
        <p:grpSpPr bwMode="auto">
          <a:xfrm>
            <a:off x="180438" y="2612995"/>
            <a:ext cx="3448050" cy="2819400"/>
            <a:chOff x="48" y="912"/>
            <a:chExt cx="2172" cy="1776"/>
          </a:xfrm>
        </p:grpSpPr>
        <p:sp>
          <p:nvSpPr>
            <p:cNvPr id="245" name="Text Box 6"/>
            <p:cNvSpPr txBox="1">
              <a:spLocks noChangeArrowheads="1"/>
            </p:cNvSpPr>
            <p:nvPr/>
          </p:nvSpPr>
          <p:spPr bwMode="auto">
            <a:xfrm>
              <a:off x="48" y="2136"/>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Text Box 7"/>
            <p:cNvSpPr txBox="1">
              <a:spLocks noChangeArrowheads="1"/>
            </p:cNvSpPr>
            <p:nvPr/>
          </p:nvSpPr>
          <p:spPr bwMode="auto">
            <a:xfrm>
              <a:off x="1724" y="1968"/>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47" name="Group 8"/>
            <p:cNvGrpSpPr/>
            <p:nvPr/>
          </p:nvGrpSpPr>
          <p:grpSpPr bwMode="auto">
            <a:xfrm>
              <a:off x="192" y="912"/>
              <a:ext cx="1868" cy="1776"/>
              <a:chOff x="192" y="912"/>
              <a:chExt cx="1868" cy="1776"/>
            </a:xfrm>
          </p:grpSpPr>
          <p:grpSp>
            <p:nvGrpSpPr>
              <p:cNvPr id="248" name="Group 9"/>
              <p:cNvGrpSpPr/>
              <p:nvPr/>
            </p:nvGrpSpPr>
            <p:grpSpPr bwMode="auto">
              <a:xfrm>
                <a:off x="1122" y="1920"/>
                <a:ext cx="192" cy="288"/>
                <a:chOff x="1152" y="1920"/>
                <a:chExt cx="192" cy="288"/>
              </a:xfrm>
            </p:grpSpPr>
            <p:sp>
              <p:nvSpPr>
                <p:cNvPr id="272" name="Line 10"/>
                <p:cNvSpPr>
                  <a:spLocks noChangeShapeType="1"/>
                </p:cNvSpPr>
                <p:nvPr/>
              </p:nvSpPr>
              <p:spPr bwMode="auto">
                <a:xfrm>
                  <a:off x="1152" y="1932"/>
                  <a:ext cx="0" cy="27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3" name="Line 11"/>
                <p:cNvSpPr>
                  <a:spLocks noChangeShapeType="1"/>
                </p:cNvSpPr>
                <p:nvPr/>
              </p:nvSpPr>
              <p:spPr bwMode="auto">
                <a:xfrm flipV="1">
                  <a:off x="1152" y="1920"/>
                  <a:ext cx="192" cy="9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4" name="Line 12"/>
                <p:cNvSpPr>
                  <a:spLocks noChangeShapeType="1"/>
                </p:cNvSpPr>
                <p:nvPr/>
              </p:nvSpPr>
              <p:spPr bwMode="auto">
                <a:xfrm>
                  <a:off x="1152" y="2112"/>
                  <a:ext cx="192" cy="96"/>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49" name="Line 13"/>
              <p:cNvSpPr>
                <a:spLocks noChangeShapeType="1"/>
              </p:cNvSpPr>
              <p:nvPr/>
            </p:nvSpPr>
            <p:spPr bwMode="auto">
              <a:xfrm>
                <a:off x="1326" y="2208"/>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14"/>
              <p:cNvSpPr>
                <a:spLocks noChangeShapeType="1"/>
              </p:cNvSpPr>
              <p:nvPr/>
            </p:nvSpPr>
            <p:spPr bwMode="auto">
              <a:xfrm>
                <a:off x="918" y="2064"/>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15"/>
              <p:cNvSpPr>
                <a:spLocks noChangeShapeType="1"/>
              </p:cNvSpPr>
              <p:nvPr/>
            </p:nvSpPr>
            <p:spPr bwMode="auto">
              <a:xfrm flipV="1">
                <a:off x="1326" y="12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Rectangle 16"/>
              <p:cNvSpPr>
                <a:spLocks noChangeArrowheads="1"/>
              </p:cNvSpPr>
              <p:nvPr/>
            </p:nvSpPr>
            <p:spPr bwMode="auto">
              <a:xfrm>
                <a:off x="1278" y="1390"/>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Rectangle 17"/>
              <p:cNvSpPr>
                <a:spLocks noChangeArrowheads="1"/>
              </p:cNvSpPr>
              <p:nvPr/>
            </p:nvSpPr>
            <p:spPr bwMode="auto">
              <a:xfrm rot="-5400000">
                <a:off x="731" y="1919"/>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4" name="Line 18"/>
              <p:cNvSpPr>
                <a:spLocks noChangeShapeType="1"/>
              </p:cNvSpPr>
              <p:nvPr/>
            </p:nvSpPr>
            <p:spPr bwMode="auto">
              <a:xfrm>
                <a:off x="396" y="2064"/>
                <a:ext cx="2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5" name="Line 19"/>
              <p:cNvSpPr>
                <a:spLocks noChangeShapeType="1"/>
              </p:cNvSpPr>
              <p:nvPr/>
            </p:nvSpPr>
            <p:spPr bwMode="auto">
              <a:xfrm>
                <a:off x="396" y="2544"/>
                <a:ext cx="14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6" name="Line 20"/>
              <p:cNvSpPr>
                <a:spLocks noChangeShapeType="1"/>
              </p:cNvSpPr>
              <p:nvPr/>
            </p:nvSpPr>
            <p:spPr bwMode="auto">
              <a:xfrm>
                <a:off x="1320" y="1776"/>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7" name="Line 21"/>
              <p:cNvSpPr>
                <a:spLocks noChangeShapeType="1"/>
              </p:cNvSpPr>
              <p:nvPr/>
            </p:nvSpPr>
            <p:spPr bwMode="auto">
              <a:xfrm>
                <a:off x="1254" y="2688"/>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Oval 22"/>
              <p:cNvSpPr>
                <a:spLocks noChangeArrowheads="1"/>
              </p:cNvSpPr>
              <p:nvPr/>
            </p:nvSpPr>
            <p:spPr bwMode="auto">
              <a:xfrm>
                <a:off x="1302" y="17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Oval 23"/>
              <p:cNvSpPr>
                <a:spLocks noChangeArrowheads="1"/>
              </p:cNvSpPr>
              <p:nvPr/>
            </p:nvSpPr>
            <p:spPr bwMode="auto">
              <a:xfrm>
                <a:off x="1302" y="252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0" name="Text Box 24"/>
              <p:cNvSpPr txBox="1">
                <a:spLocks noChangeArrowheads="1"/>
              </p:cNvSpPr>
              <p:nvPr/>
            </p:nvSpPr>
            <p:spPr bwMode="auto">
              <a:xfrm>
                <a:off x="1068" y="9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1" name="Text Box 25"/>
              <p:cNvSpPr txBox="1">
                <a:spLocks noChangeArrowheads="1"/>
              </p:cNvSpPr>
              <p:nvPr/>
            </p:nvSpPr>
            <p:spPr bwMode="auto">
              <a:xfrm>
                <a:off x="1344" y="1366"/>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2" name="Text Box 26"/>
              <p:cNvSpPr txBox="1">
                <a:spLocks noChangeArrowheads="1"/>
              </p:cNvSpPr>
              <p:nvPr/>
            </p:nvSpPr>
            <p:spPr bwMode="auto">
              <a:xfrm>
                <a:off x="622" y="17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Line 27"/>
              <p:cNvSpPr>
                <a:spLocks noChangeShapeType="1"/>
              </p:cNvSpPr>
              <p:nvPr/>
            </p:nvSpPr>
            <p:spPr bwMode="auto">
              <a:xfrm>
                <a:off x="636" y="2160"/>
                <a:ext cx="2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4" name="Line 28"/>
              <p:cNvSpPr>
                <a:spLocks noChangeShapeType="1"/>
              </p:cNvSpPr>
              <p:nvPr/>
            </p:nvSpPr>
            <p:spPr bwMode="auto">
              <a:xfrm>
                <a:off x="1392" y="1824"/>
                <a:ext cx="0" cy="1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5" name="Text Box 29"/>
              <p:cNvSpPr txBox="1">
                <a:spLocks noChangeArrowheads="1"/>
              </p:cNvSpPr>
              <p:nvPr/>
            </p:nvSpPr>
            <p:spPr bwMode="auto">
              <a:xfrm>
                <a:off x="1394" y="1731"/>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Text Box 30"/>
              <p:cNvSpPr txBox="1">
                <a:spLocks noChangeArrowheads="1"/>
              </p:cNvSpPr>
              <p:nvPr/>
            </p:nvSpPr>
            <p:spPr bwMode="auto">
              <a:xfrm>
                <a:off x="667" y="212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Text Box 31"/>
              <p:cNvSpPr txBox="1">
                <a:spLocks noChangeArrowheads="1"/>
              </p:cNvSpPr>
              <p:nvPr/>
            </p:nvSpPr>
            <p:spPr bwMode="auto">
              <a:xfrm>
                <a:off x="192" y="198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8" name="Text Box 32"/>
              <p:cNvSpPr txBox="1">
                <a:spLocks noChangeArrowheads="1"/>
              </p:cNvSpPr>
              <p:nvPr/>
            </p:nvSpPr>
            <p:spPr bwMode="auto">
              <a:xfrm>
                <a:off x="236" y="236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Text Box 33"/>
              <p:cNvSpPr txBox="1">
                <a:spLocks noChangeArrowheads="1"/>
              </p:cNvSpPr>
              <p:nvPr/>
            </p:nvSpPr>
            <p:spPr bwMode="auto">
              <a:xfrm>
                <a:off x="1836"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Text Box 34"/>
              <p:cNvSpPr txBox="1">
                <a:spLocks noChangeArrowheads="1"/>
              </p:cNvSpPr>
              <p:nvPr/>
            </p:nvSpPr>
            <p:spPr bwMode="auto">
              <a:xfrm>
                <a:off x="1880" y="2400"/>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Line 35"/>
              <p:cNvSpPr>
                <a:spLocks noChangeShapeType="1"/>
              </p:cNvSpPr>
              <p:nvPr/>
            </p:nvSpPr>
            <p:spPr bwMode="auto">
              <a:xfrm flipV="1">
                <a:off x="1326" y="16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41" name="Text Box 36"/>
          <p:cNvSpPr txBox="1">
            <a:spLocks noChangeArrowheads="1"/>
          </p:cNvSpPr>
          <p:nvPr/>
        </p:nvSpPr>
        <p:spPr bwMode="auto">
          <a:xfrm>
            <a:off x="4107913" y="1979803"/>
            <a:ext cx="4572341" cy="393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IL</a:t>
            </a:r>
            <a:r>
              <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IL</a:t>
            </a:r>
            <a:r>
              <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=-1V)</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BE</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，则</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三极管截止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上无压降，</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CC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高电平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lvl="0" eaLnBrk="1" fontAlgn="base" hangingPunct="1">
              <a:lnSpc>
                <a:spcPct val="130000"/>
              </a:lnSpc>
              <a:spcBef>
                <a:spcPct val="0"/>
              </a:spcBef>
              <a:spcAft>
                <a:spcPct val="0"/>
              </a:spcAft>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一般认为，在</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ON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i="1" kern="0" dirty="0">
                <a:solidFill>
                  <a:srgbClr val="000000"/>
                </a:solidFill>
              </a:rPr>
              <a:t>V</a:t>
            </a:r>
            <a:r>
              <a:rPr kumimoji="1" lang="en-US" altLang="zh-CN" sz="2400" kern="0" baseline="-25000" dirty="0">
                <a:solidFill>
                  <a:srgbClr val="000000"/>
                </a:solidFill>
              </a:rPr>
              <a:t>ON</a:t>
            </a:r>
            <a:r>
              <a:rPr kumimoji="1" lang="zh-CN" altLang="en-US" sz="2400" kern="0" dirty="0">
                <a:solidFill>
                  <a:srgbClr val="000000"/>
                </a:solidFill>
              </a:rPr>
              <a:t>为三极管的发射结导通压降）时，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三极管处于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截止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状态。</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500"/>
                                        <p:tgtEl>
                                          <p:spTgt spid="4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1">
                                            <p:txEl>
                                              <p:pRg st="1" end="1"/>
                                            </p:txEl>
                                          </p:spTgt>
                                        </p:tgtEl>
                                        <p:attrNameLst>
                                          <p:attrName>style.visibility</p:attrName>
                                        </p:attrNameLst>
                                      </p:cBhvr>
                                      <p:to>
                                        <p:strVal val="visible"/>
                                      </p:to>
                                    </p:set>
                                    <p:animEffect transition="in" filter="fade">
                                      <p:cBhvr>
                                        <p:cTn id="10" dur="500"/>
                                        <p:tgtEl>
                                          <p:spTgt spid="4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
                                            <p:txEl>
                                              <p:pRg st="3" end="3"/>
                                            </p:txEl>
                                          </p:spTgt>
                                        </p:tgtEl>
                                        <p:attrNameLst>
                                          <p:attrName>style.visibility</p:attrName>
                                        </p:attrNameLst>
                                      </p:cBhvr>
                                      <p:to>
                                        <p:strVal val="visible"/>
                                      </p:to>
                                    </p:set>
                                    <p:animEffect transition="in" filter="fade">
                                      <p:cBhvr>
                                        <p:cTn id="15" dur="500"/>
                                        <p:tgtEl>
                                          <p:spTgt spid="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三极管的开关特性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242" name="Text Box 3"/>
          <p:cNvSpPr txBox="1">
            <a:spLocks noChangeArrowheads="1"/>
          </p:cNvSpPr>
          <p:nvPr/>
        </p:nvSpPr>
        <p:spPr bwMode="auto">
          <a:xfrm>
            <a:off x="313788" y="1599066"/>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三极管开关电路</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pSp>
        <p:nvGrpSpPr>
          <p:cNvPr id="244" name="Group 5"/>
          <p:cNvGrpSpPr/>
          <p:nvPr/>
        </p:nvGrpSpPr>
        <p:grpSpPr bwMode="auto">
          <a:xfrm>
            <a:off x="180438" y="2612995"/>
            <a:ext cx="3448050" cy="2819400"/>
            <a:chOff x="48" y="912"/>
            <a:chExt cx="2172" cy="1776"/>
          </a:xfrm>
        </p:grpSpPr>
        <p:sp>
          <p:nvSpPr>
            <p:cNvPr id="245" name="Text Box 6"/>
            <p:cNvSpPr txBox="1">
              <a:spLocks noChangeArrowheads="1"/>
            </p:cNvSpPr>
            <p:nvPr/>
          </p:nvSpPr>
          <p:spPr bwMode="auto">
            <a:xfrm>
              <a:off x="48" y="2136"/>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Text Box 7"/>
            <p:cNvSpPr txBox="1">
              <a:spLocks noChangeArrowheads="1"/>
            </p:cNvSpPr>
            <p:nvPr/>
          </p:nvSpPr>
          <p:spPr bwMode="auto">
            <a:xfrm>
              <a:off x="1724" y="1968"/>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47" name="Group 8"/>
            <p:cNvGrpSpPr/>
            <p:nvPr/>
          </p:nvGrpSpPr>
          <p:grpSpPr bwMode="auto">
            <a:xfrm>
              <a:off x="192" y="912"/>
              <a:ext cx="1868" cy="1776"/>
              <a:chOff x="192" y="912"/>
              <a:chExt cx="1868" cy="1776"/>
            </a:xfrm>
          </p:grpSpPr>
          <p:grpSp>
            <p:nvGrpSpPr>
              <p:cNvPr id="248" name="Group 9"/>
              <p:cNvGrpSpPr/>
              <p:nvPr/>
            </p:nvGrpSpPr>
            <p:grpSpPr bwMode="auto">
              <a:xfrm>
                <a:off x="1122" y="1920"/>
                <a:ext cx="192" cy="288"/>
                <a:chOff x="1152" y="1920"/>
                <a:chExt cx="192" cy="288"/>
              </a:xfrm>
            </p:grpSpPr>
            <p:sp>
              <p:nvSpPr>
                <p:cNvPr id="272" name="Line 10"/>
                <p:cNvSpPr>
                  <a:spLocks noChangeShapeType="1"/>
                </p:cNvSpPr>
                <p:nvPr/>
              </p:nvSpPr>
              <p:spPr bwMode="auto">
                <a:xfrm>
                  <a:off x="1152" y="1932"/>
                  <a:ext cx="0" cy="27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3" name="Line 11"/>
                <p:cNvSpPr>
                  <a:spLocks noChangeShapeType="1"/>
                </p:cNvSpPr>
                <p:nvPr/>
              </p:nvSpPr>
              <p:spPr bwMode="auto">
                <a:xfrm flipV="1">
                  <a:off x="1152" y="1920"/>
                  <a:ext cx="192" cy="9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4" name="Line 12"/>
                <p:cNvSpPr>
                  <a:spLocks noChangeShapeType="1"/>
                </p:cNvSpPr>
                <p:nvPr/>
              </p:nvSpPr>
              <p:spPr bwMode="auto">
                <a:xfrm>
                  <a:off x="1152" y="2112"/>
                  <a:ext cx="192" cy="96"/>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49" name="Line 13"/>
              <p:cNvSpPr>
                <a:spLocks noChangeShapeType="1"/>
              </p:cNvSpPr>
              <p:nvPr/>
            </p:nvSpPr>
            <p:spPr bwMode="auto">
              <a:xfrm>
                <a:off x="1326" y="2208"/>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14"/>
              <p:cNvSpPr>
                <a:spLocks noChangeShapeType="1"/>
              </p:cNvSpPr>
              <p:nvPr/>
            </p:nvSpPr>
            <p:spPr bwMode="auto">
              <a:xfrm>
                <a:off x="918" y="2064"/>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15"/>
              <p:cNvSpPr>
                <a:spLocks noChangeShapeType="1"/>
              </p:cNvSpPr>
              <p:nvPr/>
            </p:nvSpPr>
            <p:spPr bwMode="auto">
              <a:xfrm flipV="1">
                <a:off x="1326" y="12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Rectangle 16"/>
              <p:cNvSpPr>
                <a:spLocks noChangeArrowheads="1"/>
              </p:cNvSpPr>
              <p:nvPr/>
            </p:nvSpPr>
            <p:spPr bwMode="auto">
              <a:xfrm>
                <a:off x="1278" y="1390"/>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Rectangle 17"/>
              <p:cNvSpPr>
                <a:spLocks noChangeArrowheads="1"/>
              </p:cNvSpPr>
              <p:nvPr/>
            </p:nvSpPr>
            <p:spPr bwMode="auto">
              <a:xfrm rot="-5400000">
                <a:off x="731" y="1919"/>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4" name="Line 18"/>
              <p:cNvSpPr>
                <a:spLocks noChangeShapeType="1"/>
              </p:cNvSpPr>
              <p:nvPr/>
            </p:nvSpPr>
            <p:spPr bwMode="auto">
              <a:xfrm>
                <a:off x="396" y="2064"/>
                <a:ext cx="2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5" name="Line 19"/>
              <p:cNvSpPr>
                <a:spLocks noChangeShapeType="1"/>
              </p:cNvSpPr>
              <p:nvPr/>
            </p:nvSpPr>
            <p:spPr bwMode="auto">
              <a:xfrm>
                <a:off x="396" y="2544"/>
                <a:ext cx="14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6" name="Line 20"/>
              <p:cNvSpPr>
                <a:spLocks noChangeShapeType="1"/>
              </p:cNvSpPr>
              <p:nvPr/>
            </p:nvSpPr>
            <p:spPr bwMode="auto">
              <a:xfrm>
                <a:off x="1320" y="1776"/>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7" name="Line 21"/>
              <p:cNvSpPr>
                <a:spLocks noChangeShapeType="1"/>
              </p:cNvSpPr>
              <p:nvPr/>
            </p:nvSpPr>
            <p:spPr bwMode="auto">
              <a:xfrm>
                <a:off x="1254" y="2688"/>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Oval 22"/>
              <p:cNvSpPr>
                <a:spLocks noChangeArrowheads="1"/>
              </p:cNvSpPr>
              <p:nvPr/>
            </p:nvSpPr>
            <p:spPr bwMode="auto">
              <a:xfrm>
                <a:off x="1302" y="17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Oval 23"/>
              <p:cNvSpPr>
                <a:spLocks noChangeArrowheads="1"/>
              </p:cNvSpPr>
              <p:nvPr/>
            </p:nvSpPr>
            <p:spPr bwMode="auto">
              <a:xfrm>
                <a:off x="1302" y="252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0" name="Text Box 24"/>
              <p:cNvSpPr txBox="1">
                <a:spLocks noChangeArrowheads="1"/>
              </p:cNvSpPr>
              <p:nvPr/>
            </p:nvSpPr>
            <p:spPr bwMode="auto">
              <a:xfrm>
                <a:off x="1068" y="9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1" name="Text Box 25"/>
              <p:cNvSpPr txBox="1">
                <a:spLocks noChangeArrowheads="1"/>
              </p:cNvSpPr>
              <p:nvPr/>
            </p:nvSpPr>
            <p:spPr bwMode="auto">
              <a:xfrm>
                <a:off x="1344" y="1366"/>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2" name="Text Box 26"/>
              <p:cNvSpPr txBox="1">
                <a:spLocks noChangeArrowheads="1"/>
              </p:cNvSpPr>
              <p:nvPr/>
            </p:nvSpPr>
            <p:spPr bwMode="auto">
              <a:xfrm>
                <a:off x="622" y="17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Line 27"/>
              <p:cNvSpPr>
                <a:spLocks noChangeShapeType="1"/>
              </p:cNvSpPr>
              <p:nvPr/>
            </p:nvSpPr>
            <p:spPr bwMode="auto">
              <a:xfrm>
                <a:off x="636" y="2160"/>
                <a:ext cx="2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4" name="Line 28"/>
              <p:cNvSpPr>
                <a:spLocks noChangeShapeType="1"/>
              </p:cNvSpPr>
              <p:nvPr/>
            </p:nvSpPr>
            <p:spPr bwMode="auto">
              <a:xfrm>
                <a:off x="1392" y="1824"/>
                <a:ext cx="0" cy="1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5" name="Text Box 29"/>
              <p:cNvSpPr txBox="1">
                <a:spLocks noChangeArrowheads="1"/>
              </p:cNvSpPr>
              <p:nvPr/>
            </p:nvSpPr>
            <p:spPr bwMode="auto">
              <a:xfrm>
                <a:off x="1394" y="1731"/>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Text Box 30"/>
              <p:cNvSpPr txBox="1">
                <a:spLocks noChangeArrowheads="1"/>
              </p:cNvSpPr>
              <p:nvPr/>
            </p:nvSpPr>
            <p:spPr bwMode="auto">
              <a:xfrm>
                <a:off x="667" y="212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Text Box 31"/>
              <p:cNvSpPr txBox="1">
                <a:spLocks noChangeArrowheads="1"/>
              </p:cNvSpPr>
              <p:nvPr/>
            </p:nvSpPr>
            <p:spPr bwMode="auto">
              <a:xfrm>
                <a:off x="192" y="198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8" name="Text Box 32"/>
              <p:cNvSpPr txBox="1">
                <a:spLocks noChangeArrowheads="1"/>
              </p:cNvSpPr>
              <p:nvPr/>
            </p:nvSpPr>
            <p:spPr bwMode="auto">
              <a:xfrm>
                <a:off x="236" y="236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Text Box 33"/>
              <p:cNvSpPr txBox="1">
                <a:spLocks noChangeArrowheads="1"/>
              </p:cNvSpPr>
              <p:nvPr/>
            </p:nvSpPr>
            <p:spPr bwMode="auto">
              <a:xfrm>
                <a:off x="1836"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Text Box 34"/>
              <p:cNvSpPr txBox="1">
                <a:spLocks noChangeArrowheads="1"/>
              </p:cNvSpPr>
              <p:nvPr/>
            </p:nvSpPr>
            <p:spPr bwMode="auto">
              <a:xfrm>
                <a:off x="1880" y="2400"/>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Line 35"/>
              <p:cNvSpPr>
                <a:spLocks noChangeShapeType="1"/>
              </p:cNvSpPr>
              <p:nvPr/>
            </p:nvSpPr>
            <p:spPr bwMode="auto">
              <a:xfrm flipV="1">
                <a:off x="1326" y="16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47" name="Text Box 2"/>
          <p:cNvSpPr txBox="1">
            <a:spLocks noChangeArrowheads="1"/>
          </p:cNvSpPr>
          <p:nvPr/>
        </p:nvSpPr>
        <p:spPr bwMode="auto">
          <a:xfrm>
            <a:off x="3733800" y="1143000"/>
            <a:ext cx="5043488"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②</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&gt;V</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ON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时，有</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产生，相应地有</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产生，三极管进入</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放大区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48" name="Object 3"/>
          <p:cNvGraphicFramePr>
            <a:graphicFrameLocks noChangeAspect="1"/>
          </p:cNvGraphicFramePr>
          <p:nvPr/>
        </p:nvGraphicFramePr>
        <p:xfrm>
          <a:off x="4425950" y="2209800"/>
          <a:ext cx="2057400" cy="1122363"/>
        </p:xfrm>
        <a:graphic>
          <a:graphicData uri="http://schemas.openxmlformats.org/presentationml/2006/ole">
            <mc:AlternateContent xmlns:mc="http://schemas.openxmlformats.org/markup-compatibility/2006">
              <mc:Choice xmlns:v="urn:schemas-microsoft-com:vml" Requires="v">
                <p:oleObj spid="_x0000_s2" name="Equation" r:id="rId2" imgW="862965" imgH="469900" progId="Equation.DSMT4">
                  <p:embed/>
                </p:oleObj>
              </mc:Choice>
              <mc:Fallback>
                <p:oleObj name="Equation" r:id="rId2" imgW="862965" imgH="4699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5950" y="2209800"/>
                        <a:ext cx="205740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4"/>
          <p:cNvGraphicFramePr>
            <a:graphicFrameLocks noChangeAspect="1"/>
          </p:cNvGraphicFramePr>
          <p:nvPr/>
        </p:nvGraphicFramePr>
        <p:xfrm>
          <a:off x="4425950" y="3429000"/>
          <a:ext cx="3124200" cy="1087438"/>
        </p:xfrm>
        <a:graphic>
          <a:graphicData uri="http://schemas.openxmlformats.org/presentationml/2006/ole">
            <mc:AlternateContent xmlns:mc="http://schemas.openxmlformats.org/markup-compatibility/2006">
              <mc:Choice xmlns:v="urn:schemas-microsoft-com:vml" Requires="v">
                <p:oleObj spid="_x0000_s3" name="公式" r:id="rId4" imgW="1384300" imgH="482600" progId="Equation.3">
                  <p:embed/>
                </p:oleObj>
              </mc:Choice>
              <mc:Fallback>
                <p:oleObj name="公式" r:id="rId4" imgW="1384300" imgH="4826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5950" y="3429000"/>
                        <a:ext cx="3124200"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Text Box 5"/>
          <p:cNvSpPr txBox="1">
            <a:spLocks noChangeArrowheads="1"/>
          </p:cNvSpPr>
          <p:nvPr/>
        </p:nvSpPr>
        <p:spPr bwMode="auto">
          <a:xfrm>
            <a:off x="4502150" y="4648200"/>
            <a:ext cx="23054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grpSp>
        <p:nvGrpSpPr>
          <p:cNvPr id="51" name="Group 6"/>
          <p:cNvGrpSpPr/>
          <p:nvPr/>
        </p:nvGrpSpPr>
        <p:grpSpPr bwMode="auto">
          <a:xfrm>
            <a:off x="4502150" y="5334000"/>
            <a:ext cx="3886200" cy="973138"/>
            <a:chOff x="144" y="1547"/>
            <a:chExt cx="2204" cy="613"/>
          </a:xfrm>
        </p:grpSpPr>
        <p:sp>
          <p:nvSpPr>
            <p:cNvPr id="52" name="Text Box 7"/>
            <p:cNvSpPr txBox="1">
              <a:spLocks noChangeArrowheads="1"/>
            </p:cNvSpPr>
            <p:nvPr/>
          </p:nvSpPr>
          <p:spPr bwMode="auto">
            <a:xfrm>
              <a:off x="144" y="1680"/>
              <a:ext cx="14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定义放大倍数：</a:t>
              </a:r>
              <a:endPar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graphicFrame>
          <p:nvGraphicFramePr>
            <p:cNvPr id="53" name="Object 8"/>
            <p:cNvGraphicFramePr>
              <a:graphicFrameLocks noChangeAspect="1"/>
            </p:cNvGraphicFramePr>
            <p:nvPr/>
          </p:nvGraphicFramePr>
          <p:xfrm>
            <a:off x="1488" y="1547"/>
            <a:ext cx="860" cy="613"/>
          </p:xfrm>
          <a:graphic>
            <a:graphicData uri="http://schemas.openxmlformats.org/presentationml/2006/ole">
              <mc:AlternateContent xmlns:mc="http://schemas.openxmlformats.org/markup-compatibility/2006">
                <mc:Choice xmlns:v="urn:schemas-microsoft-com:vml" Requires="v">
                  <p:oleObj spid="_x0000_s4" name="公式" r:id="rId6" imgW="660400" imgH="469900" progId="Equation.3">
                    <p:embed/>
                  </p:oleObj>
                </mc:Choice>
                <mc:Fallback>
                  <p:oleObj name="公式" r:id="rId6" imgW="660400" imgH="4699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1547"/>
                          <a:ext cx="860" cy="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left)">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utoUpdateAnimBg="0"/>
      <p:bldP spid="5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三极管的开关特性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242" name="Text Box 3"/>
          <p:cNvSpPr txBox="1">
            <a:spLocks noChangeArrowheads="1"/>
          </p:cNvSpPr>
          <p:nvPr/>
        </p:nvSpPr>
        <p:spPr bwMode="auto">
          <a:xfrm>
            <a:off x="109737" y="1665086"/>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三极管开关电路</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pSp>
        <p:nvGrpSpPr>
          <p:cNvPr id="244" name="Group 5"/>
          <p:cNvGrpSpPr/>
          <p:nvPr/>
        </p:nvGrpSpPr>
        <p:grpSpPr bwMode="auto">
          <a:xfrm>
            <a:off x="180438" y="2612995"/>
            <a:ext cx="3448050" cy="2819400"/>
            <a:chOff x="48" y="912"/>
            <a:chExt cx="2172" cy="1776"/>
          </a:xfrm>
        </p:grpSpPr>
        <p:sp>
          <p:nvSpPr>
            <p:cNvPr id="245" name="Text Box 6"/>
            <p:cNvSpPr txBox="1">
              <a:spLocks noChangeArrowheads="1"/>
            </p:cNvSpPr>
            <p:nvPr/>
          </p:nvSpPr>
          <p:spPr bwMode="auto">
            <a:xfrm>
              <a:off x="48" y="2136"/>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Text Box 7"/>
            <p:cNvSpPr txBox="1">
              <a:spLocks noChangeArrowheads="1"/>
            </p:cNvSpPr>
            <p:nvPr/>
          </p:nvSpPr>
          <p:spPr bwMode="auto">
            <a:xfrm>
              <a:off x="1724" y="1968"/>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47" name="Group 8"/>
            <p:cNvGrpSpPr/>
            <p:nvPr/>
          </p:nvGrpSpPr>
          <p:grpSpPr bwMode="auto">
            <a:xfrm>
              <a:off x="192" y="912"/>
              <a:ext cx="1868" cy="1776"/>
              <a:chOff x="192" y="912"/>
              <a:chExt cx="1868" cy="1776"/>
            </a:xfrm>
          </p:grpSpPr>
          <p:grpSp>
            <p:nvGrpSpPr>
              <p:cNvPr id="248" name="Group 9"/>
              <p:cNvGrpSpPr/>
              <p:nvPr/>
            </p:nvGrpSpPr>
            <p:grpSpPr bwMode="auto">
              <a:xfrm>
                <a:off x="1122" y="1920"/>
                <a:ext cx="192" cy="288"/>
                <a:chOff x="1152" y="1920"/>
                <a:chExt cx="192" cy="288"/>
              </a:xfrm>
            </p:grpSpPr>
            <p:sp>
              <p:nvSpPr>
                <p:cNvPr id="272" name="Line 10"/>
                <p:cNvSpPr>
                  <a:spLocks noChangeShapeType="1"/>
                </p:cNvSpPr>
                <p:nvPr/>
              </p:nvSpPr>
              <p:spPr bwMode="auto">
                <a:xfrm>
                  <a:off x="1152" y="1932"/>
                  <a:ext cx="0" cy="27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3" name="Line 11"/>
                <p:cNvSpPr>
                  <a:spLocks noChangeShapeType="1"/>
                </p:cNvSpPr>
                <p:nvPr/>
              </p:nvSpPr>
              <p:spPr bwMode="auto">
                <a:xfrm flipV="1">
                  <a:off x="1152" y="1920"/>
                  <a:ext cx="192" cy="9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4" name="Line 12"/>
                <p:cNvSpPr>
                  <a:spLocks noChangeShapeType="1"/>
                </p:cNvSpPr>
                <p:nvPr/>
              </p:nvSpPr>
              <p:spPr bwMode="auto">
                <a:xfrm>
                  <a:off x="1152" y="2112"/>
                  <a:ext cx="192" cy="96"/>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49" name="Line 13"/>
              <p:cNvSpPr>
                <a:spLocks noChangeShapeType="1"/>
              </p:cNvSpPr>
              <p:nvPr/>
            </p:nvSpPr>
            <p:spPr bwMode="auto">
              <a:xfrm>
                <a:off x="1326" y="2208"/>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14"/>
              <p:cNvSpPr>
                <a:spLocks noChangeShapeType="1"/>
              </p:cNvSpPr>
              <p:nvPr/>
            </p:nvSpPr>
            <p:spPr bwMode="auto">
              <a:xfrm>
                <a:off x="918" y="2064"/>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15"/>
              <p:cNvSpPr>
                <a:spLocks noChangeShapeType="1"/>
              </p:cNvSpPr>
              <p:nvPr/>
            </p:nvSpPr>
            <p:spPr bwMode="auto">
              <a:xfrm flipV="1">
                <a:off x="1326" y="12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Rectangle 16"/>
              <p:cNvSpPr>
                <a:spLocks noChangeArrowheads="1"/>
              </p:cNvSpPr>
              <p:nvPr/>
            </p:nvSpPr>
            <p:spPr bwMode="auto">
              <a:xfrm>
                <a:off x="1278" y="1390"/>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Rectangle 17"/>
              <p:cNvSpPr>
                <a:spLocks noChangeArrowheads="1"/>
              </p:cNvSpPr>
              <p:nvPr/>
            </p:nvSpPr>
            <p:spPr bwMode="auto">
              <a:xfrm rot="-5400000">
                <a:off x="731" y="1919"/>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4" name="Line 18"/>
              <p:cNvSpPr>
                <a:spLocks noChangeShapeType="1"/>
              </p:cNvSpPr>
              <p:nvPr/>
            </p:nvSpPr>
            <p:spPr bwMode="auto">
              <a:xfrm>
                <a:off x="396" y="2064"/>
                <a:ext cx="2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5" name="Line 19"/>
              <p:cNvSpPr>
                <a:spLocks noChangeShapeType="1"/>
              </p:cNvSpPr>
              <p:nvPr/>
            </p:nvSpPr>
            <p:spPr bwMode="auto">
              <a:xfrm>
                <a:off x="396" y="2544"/>
                <a:ext cx="14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6" name="Line 20"/>
              <p:cNvSpPr>
                <a:spLocks noChangeShapeType="1"/>
              </p:cNvSpPr>
              <p:nvPr/>
            </p:nvSpPr>
            <p:spPr bwMode="auto">
              <a:xfrm>
                <a:off x="1320" y="1776"/>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7" name="Line 21"/>
              <p:cNvSpPr>
                <a:spLocks noChangeShapeType="1"/>
              </p:cNvSpPr>
              <p:nvPr/>
            </p:nvSpPr>
            <p:spPr bwMode="auto">
              <a:xfrm>
                <a:off x="1254" y="2688"/>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Oval 22"/>
              <p:cNvSpPr>
                <a:spLocks noChangeArrowheads="1"/>
              </p:cNvSpPr>
              <p:nvPr/>
            </p:nvSpPr>
            <p:spPr bwMode="auto">
              <a:xfrm>
                <a:off x="1302" y="17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Oval 23"/>
              <p:cNvSpPr>
                <a:spLocks noChangeArrowheads="1"/>
              </p:cNvSpPr>
              <p:nvPr/>
            </p:nvSpPr>
            <p:spPr bwMode="auto">
              <a:xfrm>
                <a:off x="1302" y="252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0" name="Text Box 24"/>
              <p:cNvSpPr txBox="1">
                <a:spLocks noChangeArrowheads="1"/>
              </p:cNvSpPr>
              <p:nvPr/>
            </p:nvSpPr>
            <p:spPr bwMode="auto">
              <a:xfrm>
                <a:off x="1068" y="9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1" name="Text Box 25"/>
              <p:cNvSpPr txBox="1">
                <a:spLocks noChangeArrowheads="1"/>
              </p:cNvSpPr>
              <p:nvPr/>
            </p:nvSpPr>
            <p:spPr bwMode="auto">
              <a:xfrm>
                <a:off x="1344" y="1366"/>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2" name="Text Box 26"/>
              <p:cNvSpPr txBox="1">
                <a:spLocks noChangeArrowheads="1"/>
              </p:cNvSpPr>
              <p:nvPr/>
            </p:nvSpPr>
            <p:spPr bwMode="auto">
              <a:xfrm>
                <a:off x="622" y="17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Line 27"/>
              <p:cNvSpPr>
                <a:spLocks noChangeShapeType="1"/>
              </p:cNvSpPr>
              <p:nvPr/>
            </p:nvSpPr>
            <p:spPr bwMode="auto">
              <a:xfrm>
                <a:off x="636" y="2160"/>
                <a:ext cx="2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4" name="Line 28"/>
              <p:cNvSpPr>
                <a:spLocks noChangeShapeType="1"/>
              </p:cNvSpPr>
              <p:nvPr/>
            </p:nvSpPr>
            <p:spPr bwMode="auto">
              <a:xfrm>
                <a:off x="1392" y="1824"/>
                <a:ext cx="0" cy="1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5" name="Text Box 29"/>
              <p:cNvSpPr txBox="1">
                <a:spLocks noChangeArrowheads="1"/>
              </p:cNvSpPr>
              <p:nvPr/>
            </p:nvSpPr>
            <p:spPr bwMode="auto">
              <a:xfrm>
                <a:off x="1394" y="1731"/>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Text Box 30"/>
              <p:cNvSpPr txBox="1">
                <a:spLocks noChangeArrowheads="1"/>
              </p:cNvSpPr>
              <p:nvPr/>
            </p:nvSpPr>
            <p:spPr bwMode="auto">
              <a:xfrm>
                <a:off x="667" y="212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Text Box 31"/>
              <p:cNvSpPr txBox="1">
                <a:spLocks noChangeArrowheads="1"/>
              </p:cNvSpPr>
              <p:nvPr/>
            </p:nvSpPr>
            <p:spPr bwMode="auto">
              <a:xfrm>
                <a:off x="192" y="198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8" name="Text Box 32"/>
              <p:cNvSpPr txBox="1">
                <a:spLocks noChangeArrowheads="1"/>
              </p:cNvSpPr>
              <p:nvPr/>
            </p:nvSpPr>
            <p:spPr bwMode="auto">
              <a:xfrm>
                <a:off x="236" y="236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Text Box 33"/>
              <p:cNvSpPr txBox="1">
                <a:spLocks noChangeArrowheads="1"/>
              </p:cNvSpPr>
              <p:nvPr/>
            </p:nvSpPr>
            <p:spPr bwMode="auto">
              <a:xfrm>
                <a:off x="1836"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Text Box 34"/>
              <p:cNvSpPr txBox="1">
                <a:spLocks noChangeArrowheads="1"/>
              </p:cNvSpPr>
              <p:nvPr/>
            </p:nvSpPr>
            <p:spPr bwMode="auto">
              <a:xfrm>
                <a:off x="1880" y="2400"/>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Line 35"/>
              <p:cNvSpPr>
                <a:spLocks noChangeShapeType="1"/>
              </p:cNvSpPr>
              <p:nvPr/>
            </p:nvSpPr>
            <p:spPr bwMode="auto">
              <a:xfrm flipV="1">
                <a:off x="1326" y="16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46" name="Text Box 2"/>
          <p:cNvSpPr txBox="1">
            <a:spLocks noChangeArrowheads="1"/>
          </p:cNvSpPr>
          <p:nvPr/>
        </p:nvSpPr>
        <p:spPr bwMode="auto">
          <a:xfrm>
            <a:off x="4184112" y="2425055"/>
            <a:ext cx="4622533"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③</a:t>
            </a:r>
            <a:r>
              <a:rPr kumimoji="1" lang="en-US" altLang="zh-CN" sz="2400" b="1" i="1"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I</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继续增加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上的压降也随之增大，</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CE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下降，当</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CE</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时，三极管处于深度</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饱和状态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低电平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kern="0" dirty="0">
                <a:solidFill>
                  <a:srgbClr val="000000"/>
                </a:solidFill>
              </a:rPr>
              <a:t>此时，三极管处于</a:t>
            </a:r>
            <a:r>
              <a:rPr kumimoji="1" lang="zh-CN" altLang="en-US" sz="2400" kern="0" dirty="0">
                <a:solidFill>
                  <a:srgbClr val="FF0000"/>
                </a:solidFill>
              </a:rPr>
              <a:t>接通</a:t>
            </a:r>
            <a:r>
              <a:rPr kumimoji="1" lang="zh-CN" altLang="en-US" sz="2400" kern="0" dirty="0">
                <a:solidFill>
                  <a:srgbClr val="000000"/>
                </a:solidFill>
              </a:rPr>
              <a:t>状态。</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2.4.1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概述</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59" name="Rectangle 5"/>
          <p:cNvSpPr>
            <a:spLocks noChangeArrowheads="1"/>
          </p:cNvSpPr>
          <p:nvPr/>
        </p:nvSpPr>
        <p:spPr bwMode="auto">
          <a:xfrm>
            <a:off x="109737" y="651157"/>
            <a:ext cx="4415129" cy="523220"/>
          </a:xfrm>
          <a:prstGeom prst="rect">
            <a:avLst/>
          </a:prstGeom>
          <a:noFill/>
          <a:ln w="38100">
            <a:noFill/>
            <a:miter lim="800000"/>
          </a:ln>
        </p:spPr>
        <p:txBody>
          <a:bodyPr wrap="square">
            <a:spAutoFit/>
          </a:bodyPr>
          <a:lstStyle/>
          <a:p>
            <a:r>
              <a:rPr kumimoji="1" lang="zh-CN" altLang="en-US" sz="2800" b="1" dirty="0">
                <a:solidFill>
                  <a:srgbClr val="0000FF"/>
                </a:solidFill>
                <a:latin typeface="黑体" panose="02010609060101010101" pitchFamily="49" charset="-122"/>
                <a:ea typeface="黑体" panose="02010609060101010101" pitchFamily="49" charset="-122"/>
              </a:rPr>
              <a:t>三极管的开关特性</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242" name="Text Box 3"/>
          <p:cNvSpPr txBox="1">
            <a:spLocks noChangeArrowheads="1"/>
          </p:cNvSpPr>
          <p:nvPr/>
        </p:nvSpPr>
        <p:spPr bwMode="auto">
          <a:xfrm>
            <a:off x="116938" y="1207886"/>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三极管开关电路</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90" name="Text Box 2"/>
          <p:cNvSpPr txBox="1">
            <a:spLocks noChangeArrowheads="1"/>
          </p:cNvSpPr>
          <p:nvPr/>
        </p:nvSpPr>
        <p:spPr bwMode="auto">
          <a:xfrm>
            <a:off x="410066" y="1645776"/>
            <a:ext cx="8229600" cy="1516063"/>
          </a:xfrm>
          <a:prstGeom prst="rect">
            <a:avLst/>
          </a:prstGeom>
          <a:noFill/>
          <a:ln>
            <a:solidFill>
              <a:srgbClr val="FF0000"/>
            </a:solidFill>
          </a:ln>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总结：当</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ON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时，三极管处于截止状态；</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当</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ON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时，三极管处于放大状态；</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当</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增加到使</a:t>
            </a: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时，三极管处于饱和状态。</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1" name="Text Box 3"/>
          <p:cNvSpPr txBox="1">
            <a:spLocks noChangeArrowheads="1"/>
          </p:cNvSpPr>
          <p:nvPr/>
        </p:nvSpPr>
        <p:spPr bwMode="auto">
          <a:xfrm>
            <a:off x="274637" y="5724592"/>
            <a:ext cx="8365029"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rPr>
              <a:t>IL</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时，三极管截止，</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，相当于开关断开，</a:t>
            </a: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CC</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rPr>
              <a:t>IH</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时，三极管饱和，</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u</a:t>
            </a:r>
            <a:r>
              <a:rPr kumimoji="1" lang="en-US" altLang="zh-CN" sz="24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rPr>
              <a:t>CE</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，相当于开关闭合， </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≈0 </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grpSp>
        <p:nvGrpSpPr>
          <p:cNvPr id="92" name="Group 4"/>
          <p:cNvGrpSpPr/>
          <p:nvPr/>
        </p:nvGrpSpPr>
        <p:grpSpPr bwMode="auto">
          <a:xfrm>
            <a:off x="633412" y="3141662"/>
            <a:ext cx="3448050" cy="2522537"/>
            <a:chOff x="48" y="912"/>
            <a:chExt cx="2172" cy="1776"/>
          </a:xfrm>
        </p:grpSpPr>
        <p:sp>
          <p:nvSpPr>
            <p:cNvPr id="93" name="Text Box 5"/>
            <p:cNvSpPr txBox="1">
              <a:spLocks noChangeArrowheads="1"/>
            </p:cNvSpPr>
            <p:nvPr/>
          </p:nvSpPr>
          <p:spPr bwMode="auto">
            <a:xfrm>
              <a:off x="48" y="2136"/>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4" name="Text Box 6"/>
            <p:cNvSpPr txBox="1">
              <a:spLocks noChangeArrowheads="1"/>
            </p:cNvSpPr>
            <p:nvPr/>
          </p:nvSpPr>
          <p:spPr bwMode="auto">
            <a:xfrm>
              <a:off x="1724" y="1968"/>
              <a:ext cx="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95" name="Group 7"/>
            <p:cNvGrpSpPr/>
            <p:nvPr/>
          </p:nvGrpSpPr>
          <p:grpSpPr bwMode="auto">
            <a:xfrm>
              <a:off x="192" y="912"/>
              <a:ext cx="1868" cy="1776"/>
              <a:chOff x="192" y="912"/>
              <a:chExt cx="1868" cy="1776"/>
            </a:xfrm>
          </p:grpSpPr>
          <p:grpSp>
            <p:nvGrpSpPr>
              <p:cNvPr id="96" name="Group 8"/>
              <p:cNvGrpSpPr/>
              <p:nvPr/>
            </p:nvGrpSpPr>
            <p:grpSpPr bwMode="auto">
              <a:xfrm>
                <a:off x="1122" y="1920"/>
                <a:ext cx="192" cy="288"/>
                <a:chOff x="1152" y="1920"/>
                <a:chExt cx="192" cy="288"/>
              </a:xfrm>
            </p:grpSpPr>
            <p:sp>
              <p:nvSpPr>
                <p:cNvPr id="120" name="Line 9"/>
                <p:cNvSpPr>
                  <a:spLocks noChangeShapeType="1"/>
                </p:cNvSpPr>
                <p:nvPr/>
              </p:nvSpPr>
              <p:spPr bwMode="auto">
                <a:xfrm>
                  <a:off x="1152" y="1932"/>
                  <a:ext cx="0" cy="27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1" name="Line 10"/>
                <p:cNvSpPr>
                  <a:spLocks noChangeShapeType="1"/>
                </p:cNvSpPr>
                <p:nvPr/>
              </p:nvSpPr>
              <p:spPr bwMode="auto">
                <a:xfrm flipV="1">
                  <a:off x="1152" y="1920"/>
                  <a:ext cx="192" cy="9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2" name="Line 11"/>
                <p:cNvSpPr>
                  <a:spLocks noChangeShapeType="1"/>
                </p:cNvSpPr>
                <p:nvPr/>
              </p:nvSpPr>
              <p:spPr bwMode="auto">
                <a:xfrm>
                  <a:off x="1152" y="2112"/>
                  <a:ext cx="192" cy="96"/>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97" name="Line 12"/>
              <p:cNvSpPr>
                <a:spLocks noChangeShapeType="1"/>
              </p:cNvSpPr>
              <p:nvPr/>
            </p:nvSpPr>
            <p:spPr bwMode="auto">
              <a:xfrm>
                <a:off x="1326" y="2208"/>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8" name="Line 13"/>
              <p:cNvSpPr>
                <a:spLocks noChangeShapeType="1"/>
              </p:cNvSpPr>
              <p:nvPr/>
            </p:nvSpPr>
            <p:spPr bwMode="auto">
              <a:xfrm>
                <a:off x="918" y="2064"/>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9" name="Line 14"/>
              <p:cNvSpPr>
                <a:spLocks noChangeShapeType="1"/>
              </p:cNvSpPr>
              <p:nvPr/>
            </p:nvSpPr>
            <p:spPr bwMode="auto">
              <a:xfrm flipV="1">
                <a:off x="1326" y="12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0" name="Rectangle 15"/>
              <p:cNvSpPr>
                <a:spLocks noChangeArrowheads="1"/>
              </p:cNvSpPr>
              <p:nvPr/>
            </p:nvSpPr>
            <p:spPr bwMode="auto">
              <a:xfrm>
                <a:off x="1278" y="1390"/>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1" name="Rectangle 16"/>
              <p:cNvSpPr>
                <a:spLocks noChangeArrowheads="1"/>
              </p:cNvSpPr>
              <p:nvPr/>
            </p:nvSpPr>
            <p:spPr bwMode="auto">
              <a:xfrm rot="-5400000">
                <a:off x="731" y="1919"/>
                <a:ext cx="96" cy="290"/>
              </a:xfrm>
              <a:prstGeom prst="rect">
                <a:avLst/>
              </a:prstGeom>
              <a:solidFill>
                <a:srgbClr val="FFFFCC"/>
              </a:solidFill>
              <a:ln w="19050">
                <a:solidFill>
                  <a:srgbClr val="0000FF"/>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Line 17"/>
              <p:cNvSpPr>
                <a:spLocks noChangeShapeType="1"/>
              </p:cNvSpPr>
              <p:nvPr/>
            </p:nvSpPr>
            <p:spPr bwMode="auto">
              <a:xfrm>
                <a:off x="396" y="2064"/>
                <a:ext cx="2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3" name="Line 18"/>
              <p:cNvSpPr>
                <a:spLocks noChangeShapeType="1"/>
              </p:cNvSpPr>
              <p:nvPr/>
            </p:nvSpPr>
            <p:spPr bwMode="auto">
              <a:xfrm>
                <a:off x="396" y="2544"/>
                <a:ext cx="144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4" name="Line 19"/>
              <p:cNvSpPr>
                <a:spLocks noChangeShapeType="1"/>
              </p:cNvSpPr>
              <p:nvPr/>
            </p:nvSpPr>
            <p:spPr bwMode="auto">
              <a:xfrm>
                <a:off x="1320" y="1776"/>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5" name="Line 20"/>
              <p:cNvSpPr>
                <a:spLocks noChangeShapeType="1"/>
              </p:cNvSpPr>
              <p:nvPr/>
            </p:nvSpPr>
            <p:spPr bwMode="auto">
              <a:xfrm>
                <a:off x="1254" y="2688"/>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6" name="Oval 21"/>
              <p:cNvSpPr>
                <a:spLocks noChangeArrowheads="1"/>
              </p:cNvSpPr>
              <p:nvPr/>
            </p:nvSpPr>
            <p:spPr bwMode="auto">
              <a:xfrm>
                <a:off x="1302" y="17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7" name="Oval 22"/>
              <p:cNvSpPr>
                <a:spLocks noChangeArrowheads="1"/>
              </p:cNvSpPr>
              <p:nvPr/>
            </p:nvSpPr>
            <p:spPr bwMode="auto">
              <a:xfrm>
                <a:off x="1302" y="252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Text Box 23"/>
              <p:cNvSpPr txBox="1">
                <a:spLocks noChangeArrowheads="1"/>
              </p:cNvSpPr>
              <p:nvPr/>
            </p:nvSpPr>
            <p:spPr bwMode="auto">
              <a:xfrm>
                <a:off x="1068" y="9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9" name="Text Box 24"/>
              <p:cNvSpPr txBox="1">
                <a:spLocks noChangeArrowheads="1"/>
              </p:cNvSpPr>
              <p:nvPr/>
            </p:nvSpPr>
            <p:spPr bwMode="auto">
              <a:xfrm>
                <a:off x="1344" y="1366"/>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0" name="Text Box 25"/>
              <p:cNvSpPr txBox="1">
                <a:spLocks noChangeArrowheads="1"/>
              </p:cNvSpPr>
              <p:nvPr/>
            </p:nvSpPr>
            <p:spPr bwMode="auto">
              <a:xfrm>
                <a:off x="622" y="17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1" name="Line 26"/>
              <p:cNvSpPr>
                <a:spLocks noChangeShapeType="1"/>
              </p:cNvSpPr>
              <p:nvPr/>
            </p:nvSpPr>
            <p:spPr bwMode="auto">
              <a:xfrm>
                <a:off x="636" y="2160"/>
                <a:ext cx="2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2" name="Line 27"/>
              <p:cNvSpPr>
                <a:spLocks noChangeShapeType="1"/>
              </p:cNvSpPr>
              <p:nvPr/>
            </p:nvSpPr>
            <p:spPr bwMode="auto">
              <a:xfrm>
                <a:off x="1392" y="1824"/>
                <a:ext cx="0" cy="1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3" name="Text Box 28"/>
              <p:cNvSpPr txBox="1">
                <a:spLocks noChangeArrowheads="1"/>
              </p:cNvSpPr>
              <p:nvPr/>
            </p:nvSpPr>
            <p:spPr bwMode="auto">
              <a:xfrm>
                <a:off x="1394" y="1731"/>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4" name="Text Box 29"/>
              <p:cNvSpPr txBox="1">
                <a:spLocks noChangeArrowheads="1"/>
              </p:cNvSpPr>
              <p:nvPr/>
            </p:nvSpPr>
            <p:spPr bwMode="auto">
              <a:xfrm>
                <a:off x="667" y="212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5" name="Text Box 30"/>
              <p:cNvSpPr txBox="1">
                <a:spLocks noChangeArrowheads="1"/>
              </p:cNvSpPr>
              <p:nvPr/>
            </p:nvSpPr>
            <p:spPr bwMode="auto">
              <a:xfrm>
                <a:off x="192" y="198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6" name="Text Box 31"/>
              <p:cNvSpPr txBox="1">
                <a:spLocks noChangeArrowheads="1"/>
              </p:cNvSpPr>
              <p:nvPr/>
            </p:nvSpPr>
            <p:spPr bwMode="auto">
              <a:xfrm>
                <a:off x="236" y="236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7" name="Text Box 32"/>
              <p:cNvSpPr txBox="1">
                <a:spLocks noChangeArrowheads="1"/>
              </p:cNvSpPr>
              <p:nvPr/>
            </p:nvSpPr>
            <p:spPr bwMode="auto">
              <a:xfrm>
                <a:off x="1836"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8" name="Text Box 33"/>
              <p:cNvSpPr txBox="1">
                <a:spLocks noChangeArrowheads="1"/>
              </p:cNvSpPr>
              <p:nvPr/>
            </p:nvSpPr>
            <p:spPr bwMode="auto">
              <a:xfrm>
                <a:off x="1880" y="2400"/>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9" name="Line 34"/>
              <p:cNvSpPr>
                <a:spLocks noChangeShapeType="1"/>
              </p:cNvSpPr>
              <p:nvPr/>
            </p:nvSpPr>
            <p:spPr bwMode="auto">
              <a:xfrm flipV="1">
                <a:off x="1326" y="16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grpSp>
        <p:nvGrpSpPr>
          <p:cNvPr id="123" name="Group 35"/>
          <p:cNvGrpSpPr/>
          <p:nvPr/>
        </p:nvGrpSpPr>
        <p:grpSpPr bwMode="auto">
          <a:xfrm>
            <a:off x="5256212" y="3135636"/>
            <a:ext cx="2332038" cy="2528564"/>
            <a:chOff x="3296" y="1200"/>
            <a:chExt cx="1469" cy="1798"/>
          </a:xfrm>
        </p:grpSpPr>
        <p:sp>
          <p:nvSpPr>
            <p:cNvPr id="124" name="Rectangle 36"/>
            <p:cNvSpPr>
              <a:spLocks noChangeArrowheads="1"/>
            </p:cNvSpPr>
            <p:nvPr/>
          </p:nvSpPr>
          <p:spPr bwMode="auto">
            <a:xfrm>
              <a:off x="3882" y="1798"/>
              <a:ext cx="96" cy="290"/>
            </a:xfrm>
            <a:prstGeom prst="rect">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5" name="Line 37"/>
            <p:cNvSpPr>
              <a:spLocks noChangeShapeType="1"/>
            </p:cNvSpPr>
            <p:nvPr/>
          </p:nvSpPr>
          <p:spPr bwMode="auto">
            <a:xfrm>
              <a:off x="3930" y="1510"/>
              <a:ext cx="0"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6" name="Line 38"/>
            <p:cNvSpPr>
              <a:spLocks noChangeShapeType="1"/>
            </p:cNvSpPr>
            <p:nvPr/>
          </p:nvSpPr>
          <p:spPr bwMode="auto">
            <a:xfrm>
              <a:off x="3930" y="2086"/>
              <a:ext cx="0" cy="38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7" name="Line 39"/>
            <p:cNvSpPr>
              <a:spLocks noChangeShapeType="1"/>
            </p:cNvSpPr>
            <p:nvPr/>
          </p:nvSpPr>
          <p:spPr bwMode="auto">
            <a:xfrm flipV="1">
              <a:off x="3930" y="2483"/>
              <a:ext cx="144"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8" name="Rectangle 40"/>
            <p:cNvSpPr>
              <a:spLocks noChangeArrowheads="1"/>
            </p:cNvSpPr>
            <p:nvPr/>
          </p:nvSpPr>
          <p:spPr bwMode="auto">
            <a:xfrm>
              <a:off x="3786" y="2374"/>
              <a:ext cx="336" cy="384"/>
            </a:xfrm>
            <a:prstGeom prst="rect">
              <a:avLst/>
            </a:prstGeom>
            <a:noFill/>
            <a:ln w="19050">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9" name="Line 41"/>
            <p:cNvSpPr>
              <a:spLocks noChangeShapeType="1"/>
            </p:cNvSpPr>
            <p:nvPr/>
          </p:nvSpPr>
          <p:spPr bwMode="auto">
            <a:xfrm>
              <a:off x="3402" y="2566"/>
              <a:ext cx="38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0" name="Line 42"/>
            <p:cNvSpPr>
              <a:spLocks noChangeShapeType="1"/>
            </p:cNvSpPr>
            <p:nvPr/>
          </p:nvSpPr>
          <p:spPr bwMode="auto">
            <a:xfrm>
              <a:off x="3786" y="2566"/>
              <a:ext cx="24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1" name="Line 43"/>
            <p:cNvSpPr>
              <a:spLocks noChangeShapeType="1"/>
            </p:cNvSpPr>
            <p:nvPr/>
          </p:nvSpPr>
          <p:spPr bwMode="auto">
            <a:xfrm>
              <a:off x="3930" y="2662"/>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2" name="Line 44"/>
            <p:cNvSpPr>
              <a:spLocks noChangeShapeType="1"/>
            </p:cNvSpPr>
            <p:nvPr/>
          </p:nvSpPr>
          <p:spPr bwMode="auto">
            <a:xfrm>
              <a:off x="3834" y="2998"/>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3" name="Line 45"/>
            <p:cNvSpPr>
              <a:spLocks noChangeShapeType="1"/>
            </p:cNvSpPr>
            <p:nvPr/>
          </p:nvSpPr>
          <p:spPr bwMode="auto">
            <a:xfrm>
              <a:off x="3930" y="2252"/>
              <a:ext cx="57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4" name="Oval 46"/>
            <p:cNvSpPr>
              <a:spLocks noChangeArrowheads="1"/>
            </p:cNvSpPr>
            <p:nvPr/>
          </p:nvSpPr>
          <p:spPr bwMode="auto">
            <a:xfrm>
              <a:off x="3908" y="2230"/>
              <a:ext cx="50" cy="50"/>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5" name="Text Box 47"/>
            <p:cNvSpPr txBox="1">
              <a:spLocks noChangeArrowheads="1"/>
            </p:cNvSpPr>
            <p:nvPr/>
          </p:nvSpPr>
          <p:spPr bwMode="auto">
            <a:xfrm>
              <a:off x="3776" y="1200"/>
              <a:ext cx="4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6" name="Text Box 48"/>
            <p:cNvSpPr txBox="1">
              <a:spLocks noChangeArrowheads="1"/>
            </p:cNvSpPr>
            <p:nvPr/>
          </p:nvSpPr>
          <p:spPr bwMode="auto">
            <a:xfrm>
              <a:off x="4464" y="2064"/>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7" name="Text Box 49"/>
            <p:cNvSpPr txBox="1">
              <a:spLocks noChangeArrowheads="1"/>
            </p:cNvSpPr>
            <p:nvPr/>
          </p:nvSpPr>
          <p:spPr bwMode="auto">
            <a:xfrm>
              <a:off x="3296" y="2278"/>
              <a:ext cx="2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8" name="Text Box 50"/>
            <p:cNvSpPr txBox="1">
              <a:spLocks noChangeArrowheads="1"/>
            </p:cNvSpPr>
            <p:nvPr/>
          </p:nvSpPr>
          <p:spPr bwMode="auto">
            <a:xfrm>
              <a:off x="4112" y="240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dissolve">
                                      <p:cBhvr>
                                        <p:cTn id="7" dur="5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box(out)">
                                      <p:cBhvr>
                                        <p:cTn id="12" dur="500"/>
                                        <p:tgtEl>
                                          <p:spTgt spid="12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blinds(horizontal)">
                                      <p:cBhvr>
                                        <p:cTn id="1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网chenying0907出品 10"/>
          <p:cNvSpPr txBox="1"/>
          <p:nvPr/>
        </p:nvSpPr>
        <p:spPr>
          <a:xfrm>
            <a:off x="950159" y="3078790"/>
            <a:ext cx="2075207" cy="892552"/>
          </a:xfrm>
          <a:prstGeom prst="rect">
            <a:avLst/>
          </a:prstGeom>
          <a:noFill/>
        </p:spPr>
        <p:txBody>
          <a:bodyPr wrap="square" rtlCol="0">
            <a:spAutoFit/>
          </a:bodyPr>
          <a:lstStyle/>
          <a:p>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主要内容</a:t>
            </a:r>
            <a:r>
              <a:rPr lang="en-US" altLang="zh-CN" sz="1600" b="1" dirty="0">
                <a:solidFill>
                  <a:schemeClr val="accent1">
                    <a:lumMod val="50000"/>
                  </a:schemeClr>
                </a:solidFill>
              </a:rPr>
              <a:t> Main Content</a:t>
            </a:r>
            <a:endParaRPr lang="zh-CN" altLang="en-US" sz="1600" dirty="0">
              <a:solidFill>
                <a:schemeClr val="accent1">
                  <a:lumMod val="50000"/>
                </a:schemeClr>
              </a:solidFill>
            </a:endParaRPr>
          </a:p>
        </p:txBody>
      </p:sp>
      <p:sp>
        <p:nvSpPr>
          <p:cNvPr id="12" name="淘宝网chenying0907出品 11"/>
          <p:cNvSpPr/>
          <p:nvPr/>
        </p:nvSpPr>
        <p:spPr>
          <a:xfrm>
            <a:off x="3025365" y="0"/>
            <a:ext cx="611863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025365" y="39481"/>
            <a:ext cx="2394626" cy="19630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40121" y="4809438"/>
            <a:ext cx="2303880" cy="20485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379107" y="1637584"/>
            <a:ext cx="2681424"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379107" y="2447277"/>
            <a:ext cx="2481391"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solidFill>
                  <a:schemeClr val="bg1"/>
                </a:solidFill>
              </a:rPr>
              <a:t>TTL</a:t>
            </a:r>
            <a:r>
              <a:rPr lang="zh-CN" altLang="en-US" dirty="0">
                <a:solidFill>
                  <a:schemeClr val="bg1"/>
                </a:solidFill>
              </a:rPr>
              <a:t>与非门</a:t>
            </a:r>
            <a:endParaRPr lang="zh-CN" altLang="en-US" dirty="0">
              <a:solidFill>
                <a:schemeClr val="bg1"/>
              </a:solidFill>
            </a:endParaRPr>
          </a:p>
        </p:txBody>
      </p:sp>
      <p:sp>
        <p:nvSpPr>
          <p:cNvPr id="30" name="淘宝网chenying0907出品 29"/>
          <p:cNvSpPr txBox="1"/>
          <p:nvPr/>
        </p:nvSpPr>
        <p:spPr>
          <a:xfrm>
            <a:off x="4379107" y="3256970"/>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集电极开路门</a:t>
            </a:r>
            <a:endParaRPr lang="zh-CN" altLang="en-US" dirty="0"/>
          </a:p>
        </p:txBody>
      </p:sp>
      <p:sp>
        <p:nvSpPr>
          <p:cNvPr id="22" name="淘宝网chenying0907出品 25"/>
          <p:cNvSpPr txBox="1"/>
          <p:nvPr/>
        </p:nvSpPr>
        <p:spPr>
          <a:xfrm>
            <a:off x="4421969" y="4876356"/>
            <a:ext cx="3973093"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CMOS</a:t>
            </a:r>
            <a:r>
              <a:rPr lang="zh-CN" altLang="en-US" dirty="0"/>
              <a:t>反相器</a:t>
            </a:r>
            <a:endParaRPr lang="zh-CN" altLang="en-US" dirty="0"/>
          </a:p>
        </p:txBody>
      </p:sp>
      <p:sp>
        <p:nvSpPr>
          <p:cNvPr id="18" name="淘宝网chenying0907出品 29"/>
          <p:cNvSpPr txBox="1"/>
          <p:nvPr/>
        </p:nvSpPr>
        <p:spPr>
          <a:xfrm>
            <a:off x="4421969" y="4066663"/>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三态门</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与非门的结构与工作原理</a:t>
            </a:r>
            <a:endParaRPr lang="en-US" altLang="zh-CN" sz="2400" b="1" dirty="0">
              <a:latin typeface="黑体" panose="02010609060101010101" pitchFamily="49" charset="-122"/>
              <a:ea typeface="黑体" panose="02010609060101010101" pitchFamily="49" charset="-122"/>
            </a:endParaRPr>
          </a:p>
        </p:txBody>
      </p:sp>
      <p:pic>
        <p:nvPicPr>
          <p:cNvPr id="14" name="Picture 5" descr="2-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86" y="1265730"/>
            <a:ext cx="5392737" cy="4675188"/>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p:cNvSpPr txBox="1"/>
          <p:nvPr/>
        </p:nvSpPr>
        <p:spPr>
          <a:xfrm>
            <a:off x="5677854" y="3817316"/>
            <a:ext cx="3261252" cy="1200329"/>
          </a:xfrm>
          <a:prstGeom prst="rect">
            <a:avLst/>
          </a:prstGeom>
          <a:noFill/>
        </p:spPr>
        <p:txBody>
          <a:bodyPr wrap="square" rtlCol="0">
            <a:spAutoFit/>
          </a:bodyPr>
          <a:lstStyle/>
          <a:p>
            <a:r>
              <a:rPr lang="zh-CN" altLang="en-US" sz="2400" b="1" dirty="0"/>
              <a:t>当</a:t>
            </a:r>
            <a:r>
              <a:rPr lang="en-US" altLang="zh-CN" sz="2400" b="1" dirty="0"/>
              <a:t>A</a:t>
            </a:r>
            <a:r>
              <a:rPr lang="zh-CN" altLang="en-US" sz="2400" b="1" dirty="0"/>
              <a:t>、</a:t>
            </a:r>
            <a:r>
              <a:rPr lang="en-US" altLang="zh-CN" sz="2400" b="1" dirty="0"/>
              <a:t>B</a:t>
            </a:r>
            <a:r>
              <a:rPr lang="zh-CN" altLang="en-US" sz="2400" b="1" dirty="0"/>
              <a:t>、</a:t>
            </a:r>
            <a:r>
              <a:rPr lang="en-US" altLang="zh-CN" sz="2400" b="1" dirty="0"/>
              <a:t>C</a:t>
            </a:r>
            <a:r>
              <a:rPr lang="zh-CN" altLang="en-US" sz="2400" b="1" dirty="0"/>
              <a:t>三个输入端</a:t>
            </a:r>
            <a:r>
              <a:rPr lang="zh-CN" altLang="en-US" sz="2400" b="1" dirty="0">
                <a:solidFill>
                  <a:srgbClr val="0000FF"/>
                </a:solidFill>
              </a:rPr>
              <a:t>全部为高电平</a:t>
            </a:r>
            <a:r>
              <a:rPr lang="en-US" altLang="zh-CN" sz="2400" b="1" dirty="0">
                <a:solidFill>
                  <a:srgbClr val="0000FF"/>
                </a:solidFill>
              </a:rPr>
              <a:t>(3.6V)</a:t>
            </a:r>
            <a:r>
              <a:rPr lang="zh-CN" altLang="en-US" sz="2400" b="1" dirty="0">
                <a:solidFill>
                  <a:srgbClr val="0000FF"/>
                </a:solidFill>
              </a:rPr>
              <a:t>时</a:t>
            </a:r>
            <a:r>
              <a:rPr lang="zh-CN" altLang="en-US" sz="2400" b="1" dirty="0"/>
              <a:t>，</a:t>
            </a:r>
            <a:r>
              <a:rPr lang="zh-CN" altLang="en-US" sz="2400" b="1" dirty="0">
                <a:solidFill>
                  <a:srgbClr val="FF0000"/>
                </a:solidFill>
              </a:rPr>
              <a:t>输出为低电平</a:t>
            </a:r>
            <a:r>
              <a:rPr lang="zh-CN" altLang="en-US" sz="2400" b="1" dirty="0"/>
              <a:t>。</a:t>
            </a:r>
            <a:endParaRPr lang="en-US" altLang="zh-CN" sz="2400" b="1" dirty="0"/>
          </a:p>
        </p:txBody>
      </p:sp>
      <p:sp>
        <p:nvSpPr>
          <p:cNvPr id="3" name="文本框 2"/>
          <p:cNvSpPr txBox="1"/>
          <p:nvPr/>
        </p:nvSpPr>
        <p:spPr bwMode="auto">
          <a:xfrm>
            <a:off x="5677854" y="1202234"/>
            <a:ext cx="1963917" cy="572464"/>
          </a:xfrm>
          <a:prstGeom prst="rect">
            <a:avLst/>
          </a:prstGeom>
          <a:noFill/>
          <a:ln>
            <a:noFill/>
          </a:ln>
        </p:spPr>
        <p:txBody>
          <a:bodyPr wrap="square" rtlCol="0">
            <a:spAutoFit/>
          </a:bodyPr>
          <a:lstStyle/>
          <a:p>
            <a:pPr marL="0" marR="0" indent="0" defTabSz="914400" eaLnBrk="1" fontAlgn="base" latinLnBrk="0" hangingPunct="1">
              <a:lnSpc>
                <a:spcPct val="130000"/>
              </a:lnSpc>
              <a:spcBef>
                <a:spcPct val="0"/>
              </a:spcBef>
              <a:spcAft>
                <a:spcPct val="0"/>
              </a:spcAft>
              <a:buClrTx/>
              <a:buSzTx/>
              <a:buFontTx/>
              <a:buNone/>
            </a:pPr>
            <a:r>
              <a:rPr kumimoji="1"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总结：</a:t>
            </a:r>
            <a:endParaRPr kumimoji="1"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6" name="文本框 25"/>
          <p:cNvSpPr txBox="1"/>
          <p:nvPr/>
        </p:nvSpPr>
        <p:spPr>
          <a:xfrm>
            <a:off x="5677854" y="1908046"/>
            <a:ext cx="3063822" cy="1569660"/>
          </a:xfrm>
          <a:prstGeom prst="rect">
            <a:avLst/>
          </a:prstGeom>
          <a:noFill/>
        </p:spPr>
        <p:txBody>
          <a:bodyPr wrap="square" rtlCol="0">
            <a:spAutoFit/>
          </a:bodyPr>
          <a:lstStyle/>
          <a:p>
            <a:r>
              <a:rPr lang="zh-CN" altLang="en-US" sz="2400" b="1" dirty="0"/>
              <a:t>当</a:t>
            </a:r>
            <a:r>
              <a:rPr lang="en-US" altLang="zh-CN" sz="2400" b="1" dirty="0"/>
              <a:t>A</a:t>
            </a:r>
            <a:r>
              <a:rPr lang="zh-CN" altLang="en-US" sz="2400" b="1" dirty="0"/>
              <a:t>、</a:t>
            </a:r>
            <a:r>
              <a:rPr lang="en-US" altLang="zh-CN" sz="2400" b="1" dirty="0"/>
              <a:t>B</a:t>
            </a:r>
            <a:r>
              <a:rPr lang="zh-CN" altLang="en-US" sz="2400" b="1" dirty="0"/>
              <a:t>、</a:t>
            </a:r>
            <a:r>
              <a:rPr lang="en-US" altLang="zh-CN" sz="2400" b="1" dirty="0"/>
              <a:t>C</a:t>
            </a:r>
            <a:r>
              <a:rPr lang="zh-CN" altLang="en-US" sz="2400" b="1" dirty="0"/>
              <a:t>三个输入端中</a:t>
            </a:r>
            <a:r>
              <a:rPr lang="zh-CN" altLang="en-US" sz="2400" b="1" dirty="0">
                <a:solidFill>
                  <a:srgbClr val="0000FF"/>
                </a:solidFill>
              </a:rPr>
              <a:t>任意一个或多个为低电平</a:t>
            </a:r>
            <a:r>
              <a:rPr lang="en-US" altLang="zh-CN" sz="2400" b="1" dirty="0">
                <a:solidFill>
                  <a:srgbClr val="0000FF"/>
                </a:solidFill>
              </a:rPr>
              <a:t>(0.3V)</a:t>
            </a:r>
            <a:r>
              <a:rPr lang="zh-CN" altLang="en-US" sz="2400" b="1" dirty="0">
                <a:solidFill>
                  <a:srgbClr val="0000FF"/>
                </a:solidFill>
              </a:rPr>
              <a:t>时，</a:t>
            </a:r>
            <a:r>
              <a:rPr lang="zh-CN" altLang="en-US" sz="2400" b="1" dirty="0">
                <a:solidFill>
                  <a:srgbClr val="FF0000"/>
                </a:solidFill>
              </a:rPr>
              <a:t>输出高电平</a:t>
            </a:r>
            <a:r>
              <a:rPr lang="zh-CN" altLang="en-US" sz="2400" b="1" dirty="0"/>
              <a:t>。</a:t>
            </a:r>
            <a:endParaRPr lang="en-US" altLang="zh-CN" sz="2400" b="1" dirty="0"/>
          </a:p>
        </p:txBody>
      </p:sp>
      <p:graphicFrame>
        <p:nvGraphicFramePr>
          <p:cNvPr id="5" name="对象 4"/>
          <p:cNvGraphicFramePr>
            <a:graphicFrameLocks noChangeAspect="1"/>
          </p:cNvGraphicFramePr>
          <p:nvPr/>
        </p:nvGraphicFramePr>
        <p:xfrm>
          <a:off x="6010991" y="5357255"/>
          <a:ext cx="2104301" cy="730064"/>
        </p:xfrm>
        <a:graphic>
          <a:graphicData uri="http://schemas.openxmlformats.org/presentationml/2006/ole">
            <mc:AlternateContent xmlns:mc="http://schemas.openxmlformats.org/markup-compatibility/2006">
              <mc:Choice xmlns:v="urn:schemas-microsoft-com:vml" Requires="v">
                <p:oleObj spid="_x0000_s4" name="Equation" r:id="rId3" imgW="14935200" imgH="5181600" progId="Equation.DSMT4">
                  <p:embed/>
                </p:oleObj>
              </mc:Choice>
              <mc:Fallback>
                <p:oleObj name="Equation" r:id="rId3" imgW="14935200" imgH="5181600" progId="Equation.DSMT4">
                  <p:embed/>
                  <p:pic>
                    <p:nvPicPr>
                      <p:cNvPr id="0" name="图片 3"/>
                      <p:cNvPicPr/>
                      <p:nvPr/>
                    </p:nvPicPr>
                    <p:blipFill>
                      <a:blip r:embed="rId4"/>
                      <a:stretch>
                        <a:fillRect/>
                      </a:stretch>
                    </p:blipFill>
                    <p:spPr>
                      <a:xfrm>
                        <a:off x="6010991" y="5357255"/>
                        <a:ext cx="2104301" cy="730064"/>
                      </a:xfrm>
                      <a:prstGeom prst="rect">
                        <a:avLst/>
                      </a:prstGeom>
                      <a:ln w="25400">
                        <a:solidFill>
                          <a:srgbClr val="FF0000"/>
                        </a:solid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1</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）抗干扰能力</a:t>
            </a: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输入噪声</a:t>
            </a:r>
            <a:r>
              <a:rPr lang="zh-CN" altLang="en-US" sz="2800" b="1" kern="0" noProof="0" dirty="0">
                <a:latin typeface="Arial" panose="020B0604020202020204"/>
                <a:ea typeface="宋体" panose="02010600030101010101" pitchFamily="2" charset="-122"/>
              </a:rPr>
              <a:t>容限</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grpSp>
        <p:nvGrpSpPr>
          <p:cNvPr id="487" name="Group 3"/>
          <p:cNvGrpSpPr/>
          <p:nvPr/>
        </p:nvGrpSpPr>
        <p:grpSpPr bwMode="auto">
          <a:xfrm>
            <a:off x="3304882" y="2065069"/>
            <a:ext cx="5780088" cy="3922713"/>
            <a:chOff x="1872" y="1459"/>
            <a:chExt cx="3641" cy="2471"/>
          </a:xfrm>
        </p:grpSpPr>
        <p:grpSp>
          <p:nvGrpSpPr>
            <p:cNvPr id="488" name="Group 4"/>
            <p:cNvGrpSpPr/>
            <p:nvPr/>
          </p:nvGrpSpPr>
          <p:grpSpPr bwMode="auto">
            <a:xfrm>
              <a:off x="2352" y="1459"/>
              <a:ext cx="3161" cy="2238"/>
              <a:chOff x="672" y="1315"/>
              <a:chExt cx="3161" cy="2238"/>
            </a:xfrm>
          </p:grpSpPr>
          <p:sp>
            <p:nvSpPr>
              <p:cNvPr id="502" name="Text Box 5"/>
              <p:cNvSpPr txBox="1">
                <a:spLocks noChangeArrowheads="1"/>
              </p:cNvSpPr>
              <p:nvPr/>
            </p:nvSpPr>
            <p:spPr bwMode="auto">
              <a:xfrm>
                <a:off x="684" y="1315"/>
                <a:ext cx="6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楷体_GB2312" pitchFamily="49" charset="-122"/>
                  </a:rPr>
                  <a:t>O</a:t>
                </a:r>
                <a:r>
                  <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(V)</a:t>
                </a:r>
                <a:endPar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503" name="Line 6"/>
              <p:cNvSpPr>
                <a:spLocks noChangeShapeType="1"/>
              </p:cNvSpPr>
              <p:nvPr/>
            </p:nvSpPr>
            <p:spPr bwMode="auto">
              <a:xfrm flipV="1">
                <a:off x="684" y="1392"/>
                <a:ext cx="0" cy="1933"/>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04" name="Line 7"/>
              <p:cNvSpPr>
                <a:spLocks noChangeShapeType="1"/>
              </p:cNvSpPr>
              <p:nvPr/>
            </p:nvSpPr>
            <p:spPr bwMode="auto">
              <a:xfrm>
                <a:off x="684" y="2940"/>
                <a:ext cx="84"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05" name="Line 8"/>
              <p:cNvSpPr>
                <a:spLocks noChangeShapeType="1"/>
              </p:cNvSpPr>
              <p:nvPr/>
            </p:nvSpPr>
            <p:spPr bwMode="auto">
              <a:xfrm>
                <a:off x="684" y="2520"/>
                <a:ext cx="84"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06" name="Line 9"/>
              <p:cNvSpPr>
                <a:spLocks noChangeShapeType="1"/>
              </p:cNvSpPr>
              <p:nvPr/>
            </p:nvSpPr>
            <p:spPr bwMode="auto">
              <a:xfrm>
                <a:off x="684" y="2100"/>
                <a:ext cx="84"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07" name="Text Box 10"/>
              <p:cNvSpPr txBox="1">
                <a:spLocks noChangeArrowheads="1"/>
              </p:cNvSpPr>
              <p:nvPr/>
            </p:nvSpPr>
            <p:spPr bwMode="auto">
              <a:xfrm>
                <a:off x="3341" y="3262"/>
                <a:ext cx="4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400" b="1" i="1" u="none" strike="noStrike" kern="0" cap="none" spc="0" normalizeH="0" baseline="0" noProof="0" dirty="0" err="1">
                    <a:ln>
                      <a:noFill/>
                    </a:ln>
                    <a:solidFill>
                      <a:srgbClr val="0000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楷体_GB2312" pitchFamily="49" charset="-122"/>
                  </a:rPr>
                  <a:t>i</a:t>
                </a:r>
                <a:r>
                  <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(V)</a:t>
                </a:r>
                <a:endPar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508" name="Text Box 11"/>
              <p:cNvSpPr txBox="1">
                <a:spLocks noChangeArrowheads="1"/>
              </p:cNvSpPr>
              <p:nvPr/>
            </p:nvSpPr>
            <p:spPr bwMode="auto">
              <a:xfrm>
                <a:off x="1380" y="3264"/>
                <a:ext cx="2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509" name="Text Box 12"/>
              <p:cNvSpPr txBox="1">
                <a:spLocks noChangeArrowheads="1"/>
              </p:cNvSpPr>
              <p:nvPr/>
            </p:nvSpPr>
            <p:spPr bwMode="auto">
              <a:xfrm>
                <a:off x="2196" y="3264"/>
                <a:ext cx="2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2</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510" name="Text Box 13"/>
              <p:cNvSpPr txBox="1">
                <a:spLocks noChangeArrowheads="1"/>
              </p:cNvSpPr>
              <p:nvPr/>
            </p:nvSpPr>
            <p:spPr bwMode="auto">
              <a:xfrm>
                <a:off x="3012" y="3264"/>
                <a:ext cx="2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3</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511" name="Line 14"/>
              <p:cNvSpPr>
                <a:spLocks noChangeShapeType="1"/>
              </p:cNvSpPr>
              <p:nvPr/>
            </p:nvSpPr>
            <p:spPr bwMode="auto">
              <a:xfrm>
                <a:off x="672" y="1872"/>
                <a:ext cx="528"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2" name="Line 15"/>
              <p:cNvSpPr>
                <a:spLocks noChangeShapeType="1"/>
              </p:cNvSpPr>
              <p:nvPr/>
            </p:nvSpPr>
            <p:spPr bwMode="auto">
              <a:xfrm>
                <a:off x="672" y="3312"/>
                <a:ext cx="312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3" name="Line 16"/>
              <p:cNvSpPr>
                <a:spLocks noChangeShapeType="1"/>
              </p:cNvSpPr>
              <p:nvPr/>
            </p:nvSpPr>
            <p:spPr bwMode="auto">
              <a:xfrm flipV="1">
                <a:off x="1488" y="3216"/>
                <a:ext cx="0" cy="9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4" name="Line 17"/>
              <p:cNvSpPr>
                <a:spLocks noChangeShapeType="1"/>
              </p:cNvSpPr>
              <p:nvPr/>
            </p:nvSpPr>
            <p:spPr bwMode="auto">
              <a:xfrm flipV="1">
                <a:off x="2304" y="3216"/>
                <a:ext cx="0" cy="9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5" name="Line 18"/>
              <p:cNvSpPr>
                <a:spLocks noChangeShapeType="1"/>
              </p:cNvSpPr>
              <p:nvPr/>
            </p:nvSpPr>
            <p:spPr bwMode="auto">
              <a:xfrm flipV="1">
                <a:off x="3120" y="3216"/>
                <a:ext cx="0" cy="9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6" name="Line 19"/>
              <p:cNvSpPr>
                <a:spLocks noChangeShapeType="1"/>
              </p:cNvSpPr>
              <p:nvPr/>
            </p:nvSpPr>
            <p:spPr bwMode="auto">
              <a:xfrm>
                <a:off x="1200" y="1872"/>
                <a:ext cx="480" cy="38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7" name="Line 20"/>
              <p:cNvSpPr>
                <a:spLocks noChangeShapeType="1"/>
              </p:cNvSpPr>
              <p:nvPr/>
            </p:nvSpPr>
            <p:spPr bwMode="auto">
              <a:xfrm>
                <a:off x="1680" y="2256"/>
                <a:ext cx="192" cy="91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18" name="Line 21"/>
              <p:cNvSpPr>
                <a:spLocks noChangeShapeType="1"/>
              </p:cNvSpPr>
              <p:nvPr/>
            </p:nvSpPr>
            <p:spPr bwMode="auto">
              <a:xfrm>
                <a:off x="1872" y="3168"/>
                <a:ext cx="16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489" name="Text Box 22"/>
            <p:cNvSpPr txBox="1">
              <a:spLocks noChangeArrowheads="1"/>
            </p:cNvSpPr>
            <p:nvPr/>
          </p:nvSpPr>
          <p:spPr bwMode="auto">
            <a:xfrm>
              <a:off x="1968" y="1824"/>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U</a:t>
              </a:r>
              <a:r>
                <a:rPr kumimoji="1" lang="en-US" altLang="zh-CN" sz="20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rPr>
                <a:t>OH</a:t>
              </a:r>
              <a:endParaRPr kumimoji="1" lang="en-US" altLang="zh-CN" sz="20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endParaRPr>
            </a:p>
          </p:txBody>
        </p:sp>
        <p:sp>
          <p:nvSpPr>
            <p:cNvPr id="490" name="Line 23"/>
            <p:cNvSpPr>
              <a:spLocks noChangeShapeType="1"/>
            </p:cNvSpPr>
            <p:nvPr/>
          </p:nvSpPr>
          <p:spPr bwMode="auto">
            <a:xfrm>
              <a:off x="2352" y="3312"/>
              <a:ext cx="1536"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lIns="90000" tIns="46800" rIns="90000" bIns="46800"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91" name="Text Box 24"/>
            <p:cNvSpPr txBox="1">
              <a:spLocks noChangeArrowheads="1"/>
            </p:cNvSpPr>
            <p:nvPr/>
          </p:nvSpPr>
          <p:spPr bwMode="auto">
            <a:xfrm>
              <a:off x="1984" y="3120"/>
              <a:ext cx="4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U</a:t>
              </a:r>
              <a:r>
                <a:rPr kumimoji="1" lang="en-US" altLang="zh-CN" sz="20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rPr>
                <a:t>OL</a:t>
              </a:r>
              <a:endParaRPr kumimoji="1" lang="en-US" altLang="zh-CN" sz="20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endParaRPr>
            </a:p>
          </p:txBody>
        </p:sp>
        <p:sp>
          <p:nvSpPr>
            <p:cNvPr id="492" name="Text Box 25"/>
            <p:cNvSpPr txBox="1">
              <a:spLocks noChangeArrowheads="1"/>
            </p:cNvSpPr>
            <p:nvPr/>
          </p:nvSpPr>
          <p:spPr bwMode="auto">
            <a:xfrm>
              <a:off x="1872" y="1997"/>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(3.6V)</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493" name="Text Box 26"/>
            <p:cNvSpPr txBox="1">
              <a:spLocks noChangeArrowheads="1"/>
            </p:cNvSpPr>
            <p:nvPr/>
          </p:nvSpPr>
          <p:spPr bwMode="auto">
            <a:xfrm>
              <a:off x="1872" y="3293"/>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(0.3V)</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494" name="Line 27"/>
            <p:cNvSpPr>
              <a:spLocks noChangeShapeType="1"/>
            </p:cNvSpPr>
            <p:nvPr/>
          </p:nvSpPr>
          <p:spPr bwMode="auto">
            <a:xfrm>
              <a:off x="5040" y="2922"/>
              <a:ext cx="3" cy="557"/>
            </a:xfrm>
            <a:prstGeom prst="line">
              <a:avLst/>
            </a:prstGeom>
            <a:noFill/>
            <a:ln w="38100">
              <a:solidFill>
                <a:srgbClr val="FF0000"/>
              </a:solidFill>
              <a:prstDash val="sysDot"/>
              <a:rou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95" name="AutoShape 28"/>
            <p:cNvSpPr>
              <a:spLocks noChangeArrowheads="1"/>
            </p:cNvSpPr>
            <p:nvPr/>
          </p:nvSpPr>
          <p:spPr bwMode="auto">
            <a:xfrm>
              <a:off x="4558" y="3607"/>
              <a:ext cx="506" cy="323"/>
            </a:xfrm>
            <a:prstGeom prst="wedgeRoundRectCallout">
              <a:avLst>
                <a:gd name="adj1" fmla="val 47074"/>
                <a:gd name="adj2" fmla="val -93817"/>
                <a:gd name="adj3" fmla="val 16667"/>
              </a:avLst>
            </a:prstGeom>
            <a:solidFill>
              <a:srgbClr val="0000FF"/>
            </a:solidFill>
            <a:ln w="38100">
              <a:noFill/>
              <a:miter lim="800000"/>
              <a:tailEnd type="none" w="sm" len="lg"/>
            </a:ln>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rPr>
                <a:t>IH</a:t>
              </a:r>
              <a:endPar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endParaRPr>
            </a:p>
          </p:txBody>
        </p:sp>
        <p:sp>
          <p:nvSpPr>
            <p:cNvPr id="496" name="Line 29"/>
            <p:cNvSpPr>
              <a:spLocks noChangeShapeType="1"/>
            </p:cNvSpPr>
            <p:nvPr/>
          </p:nvSpPr>
          <p:spPr bwMode="auto">
            <a:xfrm flipH="1">
              <a:off x="2532" y="2015"/>
              <a:ext cx="0" cy="1438"/>
            </a:xfrm>
            <a:prstGeom prst="line">
              <a:avLst/>
            </a:prstGeom>
            <a:noFill/>
            <a:ln w="38100">
              <a:solidFill>
                <a:srgbClr val="FF0000"/>
              </a:solidFill>
              <a:prstDash val="sysDot"/>
              <a:round/>
              <a:tailEnd type="none" w="sm" len="lg"/>
            </a:ln>
            <a:extLst>
              <a:ext uri="{909E8E84-426E-40DD-AFC4-6F175D3DCCD1}">
                <a14:hiddenFill xmlns:a14="http://schemas.microsoft.com/office/drawing/2010/main">
                  <a:noFill/>
                </a14:hiddenFill>
              </a:ext>
            </a:extLst>
          </p:spPr>
          <p:txBody>
            <a:bodyPr wrap="square" lIns="90000" tIns="46800" rIns="90000" bIns="46800"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97" name="AutoShape 30"/>
            <p:cNvSpPr>
              <a:spLocks noChangeArrowheads="1"/>
            </p:cNvSpPr>
            <p:nvPr/>
          </p:nvSpPr>
          <p:spPr bwMode="auto">
            <a:xfrm>
              <a:off x="2121" y="3607"/>
              <a:ext cx="422" cy="323"/>
            </a:xfrm>
            <a:prstGeom prst="wedgeRoundRectCallout">
              <a:avLst>
                <a:gd name="adj1" fmla="val 40279"/>
                <a:gd name="adj2" fmla="val -87505"/>
                <a:gd name="adj3" fmla="val 16667"/>
              </a:avLst>
            </a:prstGeom>
            <a:solidFill>
              <a:srgbClr val="0000FF"/>
            </a:solidFill>
            <a:ln w="38100">
              <a:noFill/>
              <a:miter lim="800000"/>
              <a:tailEnd type="none" w="sm" len="lg"/>
            </a:ln>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rPr>
                <a:t>IL</a:t>
              </a:r>
              <a:endPar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endParaRPr>
            </a:p>
          </p:txBody>
        </p:sp>
        <p:sp>
          <p:nvSpPr>
            <p:cNvPr id="498" name="Line 31"/>
            <p:cNvSpPr>
              <a:spLocks noChangeShapeType="1"/>
            </p:cNvSpPr>
            <p:nvPr/>
          </p:nvSpPr>
          <p:spPr bwMode="auto">
            <a:xfrm>
              <a:off x="3696" y="2919"/>
              <a:ext cx="0" cy="557"/>
            </a:xfrm>
            <a:prstGeom prst="line">
              <a:avLst/>
            </a:prstGeom>
            <a:noFill/>
            <a:ln w="38100">
              <a:solidFill>
                <a:srgbClr val="FF0000"/>
              </a:solidFill>
              <a:prstDash val="sysDot"/>
              <a:rou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99" name="AutoShape 32"/>
            <p:cNvSpPr>
              <a:spLocks noChangeArrowheads="1"/>
            </p:cNvSpPr>
            <p:nvPr/>
          </p:nvSpPr>
          <p:spPr bwMode="auto">
            <a:xfrm>
              <a:off x="3457" y="3597"/>
              <a:ext cx="467" cy="323"/>
            </a:xfrm>
            <a:prstGeom prst="wedgeRoundRectCallout">
              <a:avLst>
                <a:gd name="adj1" fmla="val 33"/>
                <a:gd name="adj2" fmla="val -91456"/>
                <a:gd name="adj3" fmla="val 16667"/>
              </a:avLst>
            </a:prstGeom>
            <a:solidFill>
              <a:srgbClr val="0000FF"/>
            </a:solidFill>
            <a:ln w="38100">
              <a:noFill/>
              <a:miter lim="800000"/>
              <a:tailEnd type="none" w="sm" len="lg"/>
            </a:ln>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rPr>
                <a:t>on</a:t>
              </a:r>
              <a:endParaRPr kumimoji="1" lang="en-US" altLang="zh-CN" sz="2400" b="1" i="1" u="none" strike="noStrike" kern="0" cap="none" spc="0" normalizeH="0" baseline="-25000" noProof="0">
                <a:ln>
                  <a:noFill/>
                </a:ln>
                <a:solidFill>
                  <a:srgbClr val="FFFF00"/>
                </a:solidFill>
                <a:effectLst/>
                <a:uLnTx/>
                <a:uFillTx/>
                <a:latin typeface="Times New Roman" panose="02020603050405020304" pitchFamily="18" charset="0"/>
                <a:ea typeface="楷体_GB2312" pitchFamily="49" charset="-122"/>
              </a:endParaRPr>
            </a:p>
          </p:txBody>
        </p:sp>
        <p:sp>
          <p:nvSpPr>
            <p:cNvPr id="500" name="Line 33"/>
            <p:cNvSpPr>
              <a:spLocks noChangeShapeType="1"/>
            </p:cNvSpPr>
            <p:nvPr/>
          </p:nvSpPr>
          <p:spPr bwMode="auto">
            <a:xfrm flipH="1">
              <a:off x="2976" y="2081"/>
              <a:ext cx="0" cy="1372"/>
            </a:xfrm>
            <a:prstGeom prst="line">
              <a:avLst/>
            </a:prstGeom>
            <a:noFill/>
            <a:ln w="38100">
              <a:solidFill>
                <a:srgbClr val="FF0000"/>
              </a:solidFill>
              <a:prstDash val="sysDot"/>
              <a:round/>
              <a:tailEnd type="none" w="sm" len="lg"/>
            </a:ln>
            <a:extLst>
              <a:ext uri="{909E8E84-426E-40DD-AFC4-6F175D3DCCD1}">
                <a14:hiddenFill xmlns:a14="http://schemas.microsoft.com/office/drawing/2010/main">
                  <a:noFill/>
                </a14:hiddenFill>
              </a:ext>
            </a:extLst>
          </p:spPr>
          <p:txBody>
            <a:bodyPr wrap="square" lIns="90000" tIns="46800" rIns="90000" bIns="46800"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01" name="AutoShape 34"/>
            <p:cNvSpPr>
              <a:spLocks noChangeArrowheads="1"/>
            </p:cNvSpPr>
            <p:nvPr/>
          </p:nvSpPr>
          <p:spPr bwMode="auto">
            <a:xfrm>
              <a:off x="2702" y="3607"/>
              <a:ext cx="484" cy="323"/>
            </a:xfrm>
            <a:prstGeom prst="wedgeRoundRectCallout">
              <a:avLst>
                <a:gd name="adj1" fmla="val 4108"/>
                <a:gd name="adj2" fmla="val -91538"/>
                <a:gd name="adj3" fmla="val 16667"/>
              </a:avLst>
            </a:prstGeom>
            <a:solidFill>
              <a:srgbClr val="0000FF"/>
            </a:solidFill>
            <a:ln w="38100">
              <a:noFill/>
              <a:miter lim="800000"/>
              <a:tailEnd type="none" w="sm" len="lg"/>
            </a:ln>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1" u="none" strike="noStrike" kern="0" cap="none" spc="0" normalizeH="0" baseline="0" noProof="0" dirty="0" err="1">
                  <a:ln>
                    <a:noFill/>
                  </a:ln>
                  <a:solidFill>
                    <a:srgbClr val="FFFF00"/>
                  </a:solidFill>
                  <a:effectLst/>
                  <a:uLnTx/>
                  <a:uFillTx/>
                  <a:latin typeface="Times New Roman" panose="02020603050405020304" pitchFamily="18" charset="0"/>
                  <a:ea typeface="楷体_GB2312" pitchFamily="49" charset="-122"/>
                </a:rPr>
                <a:t>U</a:t>
              </a:r>
              <a:r>
                <a:rPr kumimoji="1" lang="en-US" altLang="zh-CN" sz="2400" b="1" i="1" u="none" strike="noStrike" kern="0" cap="none" spc="0" normalizeH="0" baseline="-25000" noProof="0" dirty="0" err="1">
                  <a:ln>
                    <a:noFill/>
                  </a:ln>
                  <a:solidFill>
                    <a:srgbClr val="FFFF00"/>
                  </a:solidFill>
                  <a:effectLst/>
                  <a:uLnTx/>
                  <a:uFillTx/>
                  <a:latin typeface="Times New Roman" panose="02020603050405020304" pitchFamily="18" charset="0"/>
                  <a:ea typeface="楷体_GB2312" pitchFamily="49" charset="-122"/>
                </a:rPr>
                <a:t>off</a:t>
              </a:r>
              <a:endParaRPr kumimoji="1" lang="en-US" altLang="zh-CN" sz="2400" b="1" i="1" u="none" strike="noStrike" kern="0" cap="none" spc="0" normalizeH="0" baseline="-25000" noProof="0" dirty="0">
                <a:ln>
                  <a:noFill/>
                </a:ln>
                <a:solidFill>
                  <a:srgbClr val="FFFF00"/>
                </a:solidFill>
                <a:effectLst/>
                <a:uLnTx/>
                <a:uFillTx/>
                <a:latin typeface="Times New Roman" panose="02020603050405020304" pitchFamily="18" charset="0"/>
                <a:ea typeface="楷体_GB2312" pitchFamily="49" charset="-122"/>
              </a:endParaRPr>
            </a:p>
          </p:txBody>
        </p:sp>
      </p:grpSp>
      <p:sp>
        <p:nvSpPr>
          <p:cNvPr id="519" name="Text Box 35"/>
          <p:cNvSpPr txBox="1">
            <a:spLocks noChangeArrowheads="1"/>
          </p:cNvSpPr>
          <p:nvPr/>
        </p:nvSpPr>
        <p:spPr bwMode="auto">
          <a:xfrm>
            <a:off x="156373" y="4060475"/>
            <a:ext cx="30480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fontAlgn="base">
              <a:spcBef>
                <a:spcPct val="2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低电平噪声容限：</a:t>
            </a:r>
            <a:endParaRPr kumimoji="1" lang="zh-CN" altLang="en-US" sz="2400" dirty="0">
              <a:solidFill>
                <a:srgbClr val="000000"/>
              </a:solidFill>
              <a:latin typeface="黑体" panose="02010609060101010101" pitchFamily="49" charset="-122"/>
              <a:ea typeface="黑体" panose="02010609060101010101" pitchFamily="49" charset="-122"/>
            </a:endParaRPr>
          </a:p>
          <a:p>
            <a:pPr fontAlgn="base">
              <a:spcBef>
                <a:spcPct val="20000"/>
              </a:spcBef>
              <a:spcAft>
                <a:spcPct val="0"/>
              </a:spcAft>
            </a:pPr>
            <a:r>
              <a:rPr kumimoji="1" lang="zh-CN" altLang="en-US" sz="2400" dirty="0">
                <a:solidFill>
                  <a:srgbClr val="000000"/>
                </a:solidFill>
                <a:ea typeface="楷体_GB2312" pitchFamily="49" charset="-122"/>
              </a:rPr>
              <a:t>   </a:t>
            </a:r>
            <a:r>
              <a:rPr kumimoji="1" lang="en-US" altLang="zh-CN" sz="2400" i="1" dirty="0">
                <a:solidFill>
                  <a:srgbClr val="FF0000"/>
                </a:solidFill>
                <a:ea typeface="楷体_GB2312" pitchFamily="49" charset="-122"/>
              </a:rPr>
              <a:t>U</a:t>
            </a:r>
            <a:r>
              <a:rPr kumimoji="1" lang="en-US" altLang="zh-CN" sz="2400" i="1" baseline="-25000" dirty="0">
                <a:solidFill>
                  <a:srgbClr val="FF0000"/>
                </a:solidFill>
                <a:ea typeface="楷体_GB2312" pitchFamily="49" charset="-122"/>
              </a:rPr>
              <a:t>NL</a:t>
            </a:r>
            <a:r>
              <a:rPr kumimoji="1" lang="en-US" altLang="zh-CN" sz="2400" dirty="0">
                <a:solidFill>
                  <a:srgbClr val="000000"/>
                </a:solidFill>
                <a:ea typeface="楷体_GB2312" pitchFamily="49" charset="-122"/>
              </a:rPr>
              <a:t>= </a:t>
            </a:r>
            <a:r>
              <a:rPr kumimoji="1" lang="en-US" altLang="zh-CN" sz="2400" i="1" dirty="0" err="1">
                <a:solidFill>
                  <a:srgbClr val="FF0000"/>
                </a:solidFill>
                <a:ea typeface="楷体_GB2312" pitchFamily="49" charset="-122"/>
              </a:rPr>
              <a:t>U</a:t>
            </a:r>
            <a:r>
              <a:rPr kumimoji="1" lang="en-US" altLang="zh-CN" sz="2400" i="1" baseline="-25000" dirty="0" err="1">
                <a:solidFill>
                  <a:srgbClr val="FF0000"/>
                </a:solidFill>
                <a:ea typeface="楷体_GB2312" pitchFamily="49" charset="-122"/>
              </a:rPr>
              <a:t>off</a:t>
            </a:r>
            <a:r>
              <a:rPr kumimoji="1" lang="en-US" altLang="zh-CN" sz="2400" i="1" baseline="-25000" dirty="0">
                <a:solidFill>
                  <a:srgbClr val="FF0000"/>
                </a:solidFill>
                <a:ea typeface="楷体_GB2312" pitchFamily="49" charset="-122"/>
              </a:rPr>
              <a:t>  </a:t>
            </a:r>
            <a:r>
              <a:rPr kumimoji="1" lang="en-US" altLang="zh-CN" sz="2400" dirty="0">
                <a:solidFill>
                  <a:srgbClr val="000000"/>
                </a:solidFill>
                <a:ea typeface="楷体_GB2312" pitchFamily="49" charset="-122"/>
              </a:rPr>
              <a:t>- </a:t>
            </a:r>
            <a:r>
              <a:rPr kumimoji="1" lang="en-US" altLang="zh-CN" sz="2400" i="1" dirty="0">
                <a:solidFill>
                  <a:srgbClr val="FF0000"/>
                </a:solidFill>
                <a:ea typeface="楷体_GB2312" pitchFamily="49" charset="-122"/>
              </a:rPr>
              <a:t>U</a:t>
            </a:r>
            <a:r>
              <a:rPr kumimoji="1" lang="en-US" altLang="zh-CN" sz="2400" i="1" baseline="-25000" dirty="0">
                <a:solidFill>
                  <a:srgbClr val="FF0000"/>
                </a:solidFill>
                <a:ea typeface="楷体_GB2312" pitchFamily="49" charset="-122"/>
              </a:rPr>
              <a:t>IL</a:t>
            </a:r>
            <a:endParaRPr kumimoji="1" lang="en-US" altLang="zh-CN" sz="2400" i="1" baseline="-25000" dirty="0">
              <a:solidFill>
                <a:srgbClr val="FF0000"/>
              </a:solidFill>
              <a:ea typeface="楷体_GB2312" pitchFamily="49" charset="-122"/>
            </a:endParaRPr>
          </a:p>
        </p:txBody>
      </p:sp>
      <p:sp>
        <p:nvSpPr>
          <p:cNvPr id="520" name="Line 36"/>
          <p:cNvSpPr>
            <a:spLocks noChangeShapeType="1"/>
          </p:cNvSpPr>
          <p:nvPr/>
        </p:nvSpPr>
        <p:spPr bwMode="auto">
          <a:xfrm>
            <a:off x="4295482" y="3882756"/>
            <a:ext cx="800100" cy="0"/>
          </a:xfrm>
          <a:prstGeom prst="line">
            <a:avLst/>
          </a:prstGeom>
          <a:noFill/>
          <a:ln w="28575">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521" name="AutoShape 37"/>
          <p:cNvSpPr>
            <a:spLocks noChangeArrowheads="1"/>
          </p:cNvSpPr>
          <p:nvPr/>
        </p:nvSpPr>
        <p:spPr bwMode="auto">
          <a:xfrm>
            <a:off x="5667082" y="2004148"/>
            <a:ext cx="1173162" cy="738814"/>
          </a:xfrm>
          <a:prstGeom prst="wedgeEllipseCallout">
            <a:avLst>
              <a:gd name="adj1" fmla="val -130481"/>
              <a:gd name="adj2" fmla="val 191400"/>
            </a:avLst>
          </a:prstGeom>
          <a:solidFill>
            <a:srgbClr val="99CCFF"/>
          </a:solidFill>
          <a:ln w="38100">
            <a:solidFill>
              <a:srgbClr val="000000"/>
            </a:solidFill>
            <a:miter lim="800000"/>
            <a:tailEnd type="none" w="sm" len="lg"/>
          </a:ln>
        </p:spPr>
        <p:txBody>
          <a:bodyPr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8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U</a:t>
            </a:r>
            <a:r>
              <a:rPr kumimoji="1" lang="en-US" altLang="zh-CN" sz="28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rPr>
              <a:t>NL</a:t>
            </a:r>
            <a:endParaRPr kumimoji="1" lang="en-US" altLang="zh-CN" sz="28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endParaRPr>
          </a:p>
        </p:txBody>
      </p:sp>
      <p:sp>
        <p:nvSpPr>
          <p:cNvPr id="522" name="Text Box 38"/>
          <p:cNvSpPr txBox="1">
            <a:spLocks noChangeArrowheads="1"/>
          </p:cNvSpPr>
          <p:nvPr/>
        </p:nvSpPr>
        <p:spPr bwMode="auto">
          <a:xfrm>
            <a:off x="180682" y="5233887"/>
            <a:ext cx="31242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fontAlgn="base">
              <a:spcBef>
                <a:spcPct val="2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高电平噪声容限：</a:t>
            </a:r>
            <a:endParaRPr kumimoji="1" lang="zh-CN" altLang="en-US" sz="2400" dirty="0">
              <a:solidFill>
                <a:srgbClr val="000000"/>
              </a:solidFill>
              <a:latin typeface="黑体" panose="02010609060101010101" pitchFamily="49" charset="-122"/>
              <a:ea typeface="黑体" panose="02010609060101010101" pitchFamily="49" charset="-122"/>
            </a:endParaRPr>
          </a:p>
          <a:p>
            <a:pPr fontAlgn="base">
              <a:spcBef>
                <a:spcPct val="20000"/>
              </a:spcBef>
              <a:spcAft>
                <a:spcPct val="0"/>
              </a:spcAft>
            </a:pPr>
            <a:r>
              <a:rPr kumimoji="1" lang="zh-CN" altLang="en-US" sz="2400" dirty="0">
                <a:solidFill>
                  <a:srgbClr val="000000"/>
                </a:solidFill>
                <a:ea typeface="楷体_GB2312" pitchFamily="49" charset="-122"/>
              </a:rPr>
              <a:t>   </a:t>
            </a:r>
            <a:r>
              <a:rPr kumimoji="1" lang="en-US" altLang="zh-CN" sz="2400" i="1" dirty="0">
                <a:solidFill>
                  <a:srgbClr val="FF0000"/>
                </a:solidFill>
                <a:ea typeface="楷体_GB2312" pitchFamily="49" charset="-122"/>
              </a:rPr>
              <a:t>U</a:t>
            </a:r>
            <a:r>
              <a:rPr kumimoji="1" lang="en-US" altLang="zh-CN" sz="2400" i="1" baseline="-25000" dirty="0">
                <a:solidFill>
                  <a:srgbClr val="FF0000"/>
                </a:solidFill>
                <a:ea typeface="楷体_GB2312" pitchFamily="49" charset="-122"/>
              </a:rPr>
              <a:t>NH</a:t>
            </a:r>
            <a:r>
              <a:rPr kumimoji="1" lang="en-US" altLang="zh-CN" sz="2400" dirty="0">
                <a:solidFill>
                  <a:srgbClr val="000000"/>
                </a:solidFill>
                <a:ea typeface="楷体_GB2312" pitchFamily="49" charset="-122"/>
              </a:rPr>
              <a:t>= </a:t>
            </a:r>
            <a:r>
              <a:rPr kumimoji="1" lang="en-US" altLang="zh-CN" sz="2400" i="1" dirty="0">
                <a:solidFill>
                  <a:srgbClr val="FF0000"/>
                </a:solidFill>
                <a:ea typeface="楷体_GB2312" pitchFamily="49" charset="-122"/>
              </a:rPr>
              <a:t>U</a:t>
            </a:r>
            <a:r>
              <a:rPr kumimoji="1" lang="en-US" altLang="zh-CN" sz="2400" i="1" baseline="-25000" dirty="0">
                <a:solidFill>
                  <a:srgbClr val="FF0000"/>
                </a:solidFill>
                <a:ea typeface="楷体_GB2312" pitchFamily="49" charset="-122"/>
              </a:rPr>
              <a:t>IH</a:t>
            </a:r>
            <a:r>
              <a:rPr kumimoji="1" lang="en-US" altLang="zh-CN" sz="2400" i="1" dirty="0">
                <a:solidFill>
                  <a:srgbClr val="000000"/>
                </a:solidFill>
                <a:ea typeface="楷体_GB2312" pitchFamily="49" charset="-122"/>
              </a:rPr>
              <a:t> </a:t>
            </a:r>
            <a:r>
              <a:rPr kumimoji="1" lang="en-US" altLang="zh-CN" sz="2400" dirty="0">
                <a:solidFill>
                  <a:srgbClr val="000000"/>
                </a:solidFill>
                <a:ea typeface="楷体_GB2312" pitchFamily="49" charset="-122"/>
              </a:rPr>
              <a:t>- </a:t>
            </a:r>
            <a:r>
              <a:rPr kumimoji="1" lang="en-US" altLang="zh-CN" sz="2400" i="1" dirty="0" err="1">
                <a:solidFill>
                  <a:srgbClr val="FF0000"/>
                </a:solidFill>
                <a:ea typeface="楷体_GB2312" pitchFamily="49" charset="-122"/>
              </a:rPr>
              <a:t>U</a:t>
            </a:r>
            <a:r>
              <a:rPr kumimoji="1" lang="en-US" altLang="zh-CN" sz="2400" i="1" baseline="-25000" dirty="0" err="1">
                <a:solidFill>
                  <a:srgbClr val="FF0000"/>
                </a:solidFill>
                <a:ea typeface="楷体_GB2312" pitchFamily="49" charset="-122"/>
              </a:rPr>
              <a:t>on</a:t>
            </a:r>
            <a:endParaRPr kumimoji="1" lang="en-US" altLang="zh-CN" sz="2400" i="1" baseline="-25000" dirty="0">
              <a:solidFill>
                <a:srgbClr val="FF0000"/>
              </a:solidFill>
              <a:ea typeface="楷体_GB2312" pitchFamily="49" charset="-122"/>
            </a:endParaRPr>
          </a:p>
        </p:txBody>
      </p:sp>
      <p:sp>
        <p:nvSpPr>
          <p:cNvPr id="523" name="Line 39"/>
          <p:cNvSpPr>
            <a:spLocks noChangeShapeType="1"/>
          </p:cNvSpPr>
          <p:nvPr/>
        </p:nvSpPr>
        <p:spPr bwMode="auto">
          <a:xfrm>
            <a:off x="6200482" y="4778106"/>
            <a:ext cx="2133600" cy="0"/>
          </a:xfrm>
          <a:prstGeom prst="line">
            <a:avLst/>
          </a:prstGeom>
          <a:noFill/>
          <a:ln w="28575">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524" name="AutoShape 40"/>
          <p:cNvSpPr>
            <a:spLocks noChangeArrowheads="1"/>
          </p:cNvSpPr>
          <p:nvPr/>
        </p:nvSpPr>
        <p:spPr bwMode="auto">
          <a:xfrm>
            <a:off x="7450162" y="3390005"/>
            <a:ext cx="1173163" cy="738814"/>
          </a:xfrm>
          <a:prstGeom prst="wedgeEllipseCallout">
            <a:avLst>
              <a:gd name="adj1" fmla="val -91180"/>
              <a:gd name="adj2" fmla="val 123101"/>
            </a:avLst>
          </a:prstGeom>
          <a:solidFill>
            <a:srgbClr val="99CCFF"/>
          </a:solidFill>
          <a:ln w="38100">
            <a:solidFill>
              <a:srgbClr val="000000"/>
            </a:solidFill>
            <a:miter lim="800000"/>
            <a:tailEnd type="none" w="sm" len="lg"/>
          </a:ln>
        </p:spPr>
        <p:txBody>
          <a:bodyPr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800" b="1" i="1"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U</a:t>
            </a:r>
            <a:r>
              <a:rPr kumimoji="1" lang="en-US" altLang="zh-CN" sz="28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rPr>
              <a:t>NH</a:t>
            </a:r>
            <a:endParaRPr kumimoji="1" lang="en-US" altLang="zh-CN" sz="2800" b="1" i="1" u="none" strike="noStrike" kern="0" cap="none" spc="0" normalizeH="0" baseline="-25000" noProof="0" dirty="0">
              <a:ln>
                <a:noFill/>
              </a:ln>
              <a:solidFill>
                <a:srgbClr val="FF0000"/>
              </a:solidFill>
              <a:effectLst/>
              <a:uLnTx/>
              <a:uFillTx/>
              <a:latin typeface="Times New Roman" panose="02020603050405020304" pitchFamily="18" charset="0"/>
              <a:ea typeface="楷体_GB2312" pitchFamily="49" charset="-122"/>
            </a:endParaRPr>
          </a:p>
        </p:txBody>
      </p:sp>
      <p:sp>
        <p:nvSpPr>
          <p:cNvPr id="3" name="文本框 2"/>
          <p:cNvSpPr txBox="1"/>
          <p:nvPr/>
        </p:nvSpPr>
        <p:spPr bwMode="auto">
          <a:xfrm>
            <a:off x="147133" y="2121214"/>
            <a:ext cx="3007978" cy="1569660"/>
          </a:xfrm>
          <a:prstGeom prst="rect">
            <a:avLst/>
          </a:prstGeom>
          <a:noFill/>
          <a:ln>
            <a:solidFill>
              <a:srgbClr val="FF0000"/>
            </a:solidFill>
          </a:ln>
        </p:spPr>
        <p:txBody>
          <a:bodyPr wrap="square" rtlCol="0">
            <a:spAutoFit/>
          </a:bodyPr>
          <a:lstStyle/>
          <a:p>
            <a:pPr marL="0" marR="0" indent="0" algn="just" defTabSz="914400" eaLnBrk="1" fontAlgn="base" latinLnBrk="0" hangingPunct="1">
              <a:spcBef>
                <a:spcPct val="0"/>
              </a:spcBef>
              <a:spcAft>
                <a:spcPct val="0"/>
              </a:spcAft>
              <a:buClrTx/>
              <a:buSzTx/>
              <a:buFontTx/>
              <a:buNone/>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输入噪声容限</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：在不影响输出的前提下，输入信号可容忍的最大电平偏离值。</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9"/>
                                        </p:tgtEl>
                                        <p:attrNameLst>
                                          <p:attrName>style.visibility</p:attrName>
                                        </p:attrNameLst>
                                      </p:cBhvr>
                                      <p:to>
                                        <p:strVal val="visible"/>
                                      </p:to>
                                    </p:set>
                                    <p:animEffect transition="in" filter="fade">
                                      <p:cBhvr>
                                        <p:cTn id="12" dur="500"/>
                                        <p:tgtEl>
                                          <p:spTgt spid="5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20"/>
                                        </p:tgtEl>
                                        <p:attrNameLst>
                                          <p:attrName>style.visibility</p:attrName>
                                        </p:attrNameLst>
                                      </p:cBhvr>
                                      <p:to>
                                        <p:strVal val="visible"/>
                                      </p:to>
                                    </p:set>
                                    <p:animEffect transition="in" filter="barn(outVertical)">
                                      <p:cBhvr>
                                        <p:cTn id="17" dur="500"/>
                                        <p:tgtEl>
                                          <p:spTgt spid="5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21"/>
                                        </p:tgtEl>
                                        <p:attrNameLst>
                                          <p:attrName>style.visibility</p:attrName>
                                        </p:attrNameLst>
                                      </p:cBhvr>
                                      <p:to>
                                        <p:strVal val="visible"/>
                                      </p:to>
                                    </p:set>
                                    <p:animEffect transition="in" filter="fade">
                                      <p:cBhvr>
                                        <p:cTn id="22" dur="500"/>
                                        <p:tgtEl>
                                          <p:spTgt spid="5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22"/>
                                        </p:tgtEl>
                                        <p:attrNameLst>
                                          <p:attrName>style.visibility</p:attrName>
                                        </p:attrNameLst>
                                      </p:cBhvr>
                                      <p:to>
                                        <p:strVal val="visible"/>
                                      </p:to>
                                    </p:set>
                                    <p:animEffect transition="in" filter="fade">
                                      <p:cBhvr>
                                        <p:cTn id="27" dur="500"/>
                                        <p:tgtEl>
                                          <p:spTgt spid="52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523"/>
                                        </p:tgtEl>
                                        <p:attrNameLst>
                                          <p:attrName>style.visibility</p:attrName>
                                        </p:attrNameLst>
                                      </p:cBhvr>
                                      <p:to>
                                        <p:strVal val="visible"/>
                                      </p:to>
                                    </p:set>
                                    <p:animEffect transition="in" filter="barn(inVertical)">
                                      <p:cBhvr>
                                        <p:cTn id="32" dur="500"/>
                                        <p:tgtEl>
                                          <p:spTgt spid="5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24"/>
                                        </p:tgtEl>
                                        <p:attrNameLst>
                                          <p:attrName>style.visibility</p:attrName>
                                        </p:attrNameLst>
                                      </p:cBhvr>
                                      <p:to>
                                        <p:strVal val="visible"/>
                                      </p:to>
                                    </p:set>
                                    <p:animEffect transition="in" filter="fade">
                                      <p:cBhvr>
                                        <p:cTn id="37" dur="500"/>
                                        <p:tgtEl>
                                          <p:spTgt spid="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 grpId="0" autoUpdateAnimBg="0"/>
      <p:bldP spid="520" grpId="0" animBg="1"/>
      <p:bldP spid="521" grpId="0" animBg="1" autoUpdateAnimBg="0"/>
      <p:bldP spid="522" grpId="0" autoUpdateAnimBg="0"/>
      <p:bldP spid="523" grpId="0" animBg="1"/>
      <p:bldP spid="524"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2</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）驱动负载能力</a:t>
            </a: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扇出系数</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sp>
        <p:nvSpPr>
          <p:cNvPr id="127" name="Line 10"/>
          <p:cNvSpPr>
            <a:spLocks noChangeShapeType="1"/>
          </p:cNvSpPr>
          <p:nvPr/>
        </p:nvSpPr>
        <p:spPr bwMode="auto">
          <a:xfrm>
            <a:off x="3763518" y="4310698"/>
            <a:ext cx="685800"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8" name="Group 19"/>
          <p:cNvGrpSpPr/>
          <p:nvPr/>
        </p:nvGrpSpPr>
        <p:grpSpPr bwMode="auto">
          <a:xfrm>
            <a:off x="3782568" y="3470910"/>
            <a:ext cx="914400" cy="704850"/>
            <a:chOff x="2640" y="1524"/>
            <a:chExt cx="576" cy="444"/>
          </a:xfrm>
        </p:grpSpPr>
        <p:sp>
          <p:nvSpPr>
            <p:cNvPr id="129" name="Line 20"/>
            <p:cNvSpPr>
              <a:spLocks noChangeShapeType="1"/>
            </p:cNvSpPr>
            <p:nvPr/>
          </p:nvSpPr>
          <p:spPr bwMode="auto">
            <a:xfrm>
              <a:off x="2664" y="1884"/>
              <a:ext cx="384"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Text Box 21"/>
            <p:cNvSpPr txBox="1">
              <a:spLocks noChangeArrowheads="1"/>
            </p:cNvSpPr>
            <p:nvPr/>
          </p:nvSpPr>
          <p:spPr bwMode="auto">
            <a:xfrm>
              <a:off x="2712" y="1524"/>
              <a:ext cx="5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3200">
                  <a:solidFill>
                    <a:srgbClr val="FF0000"/>
                  </a:solidFill>
                  <a:ea typeface="楷体_GB2312" pitchFamily="49" charset="-122"/>
                </a:rPr>
                <a:t>？</a:t>
              </a:r>
              <a:endParaRPr kumimoji="1" lang="zh-CN" altLang="en-US" sz="3200">
                <a:solidFill>
                  <a:srgbClr val="FF0000"/>
                </a:solidFill>
                <a:ea typeface="楷体_GB2312" pitchFamily="49" charset="-122"/>
              </a:endParaRPr>
            </a:p>
          </p:txBody>
        </p:sp>
        <p:sp>
          <p:nvSpPr>
            <p:cNvPr id="131" name="Line 22"/>
            <p:cNvSpPr>
              <a:spLocks noChangeShapeType="1"/>
            </p:cNvSpPr>
            <p:nvPr/>
          </p:nvSpPr>
          <p:spPr bwMode="auto">
            <a:xfrm flipH="1">
              <a:off x="2640" y="1968"/>
              <a:ext cx="384"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2" name="Text Box 23"/>
          <p:cNvSpPr txBox="1">
            <a:spLocks noChangeArrowheads="1"/>
          </p:cNvSpPr>
          <p:nvPr/>
        </p:nvSpPr>
        <p:spPr bwMode="auto">
          <a:xfrm>
            <a:off x="679006" y="2390952"/>
            <a:ext cx="5143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800" dirty="0">
                <a:latin typeface="黑体" panose="02010609060101010101" pitchFamily="49" charset="-122"/>
                <a:ea typeface="黑体" panose="02010609060101010101" pitchFamily="49" charset="-122"/>
              </a:rPr>
              <a:t>前后级之间电流的联系</a:t>
            </a:r>
            <a:endParaRPr kumimoji="1" lang="zh-CN" altLang="en-US" sz="2800" dirty="0">
              <a:latin typeface="黑体" panose="02010609060101010101" pitchFamily="49" charset="-122"/>
              <a:ea typeface="黑体" panose="02010609060101010101" pitchFamily="49" charset="-122"/>
            </a:endParaRPr>
          </a:p>
        </p:txBody>
      </p:sp>
      <p:grpSp>
        <p:nvGrpSpPr>
          <p:cNvPr id="133" name="Group 26"/>
          <p:cNvGrpSpPr/>
          <p:nvPr/>
        </p:nvGrpSpPr>
        <p:grpSpPr bwMode="auto">
          <a:xfrm>
            <a:off x="2506218" y="3605848"/>
            <a:ext cx="1276350" cy="1366837"/>
            <a:chOff x="1740" y="1753"/>
            <a:chExt cx="804" cy="861"/>
          </a:xfrm>
        </p:grpSpPr>
        <p:sp>
          <p:nvSpPr>
            <p:cNvPr id="134" name="Oval 5"/>
            <p:cNvSpPr>
              <a:spLocks noChangeArrowheads="1"/>
            </p:cNvSpPr>
            <p:nvPr/>
          </p:nvSpPr>
          <p:spPr bwMode="auto">
            <a:xfrm>
              <a:off x="2448" y="2149"/>
              <a:ext cx="96" cy="108"/>
            </a:xfrm>
            <a:prstGeom prst="ellipse">
              <a:avLst/>
            </a:prstGeom>
            <a:noFill/>
            <a:ln w="38100">
              <a:solidFill>
                <a:schemeClr val="tx1"/>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5" name="Text Box 6"/>
            <p:cNvSpPr txBox="1">
              <a:spLocks noChangeArrowheads="1"/>
            </p:cNvSpPr>
            <p:nvPr/>
          </p:nvSpPr>
          <p:spPr bwMode="auto">
            <a:xfrm>
              <a:off x="2028" y="1753"/>
              <a:ext cx="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kumimoji="1" lang="zh-CN" altLang="zh-CN" sz="3200">
                <a:ea typeface="楷体_GB2312" pitchFamily="49" charset="-122"/>
              </a:endParaRPr>
            </a:p>
          </p:txBody>
        </p:sp>
        <p:sp>
          <p:nvSpPr>
            <p:cNvPr id="136" name="Line 7"/>
            <p:cNvSpPr>
              <a:spLocks noChangeShapeType="1"/>
            </p:cNvSpPr>
            <p:nvPr/>
          </p:nvSpPr>
          <p:spPr bwMode="auto">
            <a:xfrm>
              <a:off x="1740" y="1945"/>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Line 8"/>
            <p:cNvSpPr>
              <a:spLocks noChangeShapeType="1"/>
            </p:cNvSpPr>
            <p:nvPr/>
          </p:nvSpPr>
          <p:spPr bwMode="auto">
            <a:xfrm>
              <a:off x="1740" y="2209"/>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9"/>
            <p:cNvSpPr>
              <a:spLocks noChangeShapeType="1"/>
            </p:cNvSpPr>
            <p:nvPr/>
          </p:nvSpPr>
          <p:spPr bwMode="auto">
            <a:xfrm>
              <a:off x="1740" y="2437"/>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AutoShape 24"/>
            <p:cNvSpPr>
              <a:spLocks noChangeArrowheads="1"/>
            </p:cNvSpPr>
            <p:nvPr/>
          </p:nvSpPr>
          <p:spPr bwMode="auto">
            <a:xfrm>
              <a:off x="1927" y="1797"/>
              <a:ext cx="499" cy="817"/>
            </a:xfrm>
            <a:prstGeom prst="flowChartDelay">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40" name="Group 27"/>
          <p:cNvGrpSpPr/>
          <p:nvPr/>
        </p:nvGrpSpPr>
        <p:grpSpPr bwMode="auto">
          <a:xfrm>
            <a:off x="4446524" y="3675698"/>
            <a:ext cx="1943100" cy="1296987"/>
            <a:chOff x="2968" y="1797"/>
            <a:chExt cx="1224" cy="817"/>
          </a:xfrm>
        </p:grpSpPr>
        <p:sp>
          <p:nvSpPr>
            <p:cNvPr id="141" name="Oval 13"/>
            <p:cNvSpPr>
              <a:spLocks noChangeArrowheads="1"/>
            </p:cNvSpPr>
            <p:nvPr/>
          </p:nvSpPr>
          <p:spPr bwMode="auto">
            <a:xfrm>
              <a:off x="3676" y="2137"/>
              <a:ext cx="96" cy="108"/>
            </a:xfrm>
            <a:prstGeom prst="ellipse">
              <a:avLst/>
            </a:prstGeom>
            <a:noFill/>
            <a:ln w="38100">
              <a:solidFill>
                <a:schemeClr val="tx1"/>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2" name="Line 15"/>
            <p:cNvSpPr>
              <a:spLocks noChangeShapeType="1"/>
            </p:cNvSpPr>
            <p:nvPr/>
          </p:nvSpPr>
          <p:spPr bwMode="auto">
            <a:xfrm>
              <a:off x="2968" y="1933"/>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Line 16"/>
            <p:cNvSpPr>
              <a:spLocks noChangeShapeType="1"/>
            </p:cNvSpPr>
            <p:nvPr/>
          </p:nvSpPr>
          <p:spPr bwMode="auto">
            <a:xfrm>
              <a:off x="2968" y="2197"/>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17"/>
            <p:cNvSpPr>
              <a:spLocks noChangeShapeType="1"/>
            </p:cNvSpPr>
            <p:nvPr/>
          </p:nvSpPr>
          <p:spPr bwMode="auto">
            <a:xfrm>
              <a:off x="2968" y="2425"/>
              <a:ext cx="19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18"/>
            <p:cNvSpPr>
              <a:spLocks noChangeShapeType="1"/>
            </p:cNvSpPr>
            <p:nvPr/>
          </p:nvSpPr>
          <p:spPr bwMode="auto">
            <a:xfrm>
              <a:off x="3760" y="2185"/>
              <a:ext cx="432" cy="0"/>
            </a:xfrm>
            <a:prstGeom prst="line">
              <a:avLst/>
            </a:prstGeom>
            <a:noFill/>
            <a:ln w="38100">
              <a:solidFill>
                <a:schemeClr val="tx1"/>
              </a:solidFill>
              <a:rou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AutoShape 25"/>
            <p:cNvSpPr>
              <a:spLocks noChangeArrowheads="1"/>
            </p:cNvSpPr>
            <p:nvPr/>
          </p:nvSpPr>
          <p:spPr bwMode="auto">
            <a:xfrm>
              <a:off x="3152" y="1797"/>
              <a:ext cx="499" cy="817"/>
            </a:xfrm>
            <a:prstGeom prst="flowChartDelay">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wipe(left)">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7"/>
                                        </p:tgtEl>
                                        <p:attrNameLst>
                                          <p:attrName>style.visibility</p:attrName>
                                        </p:attrNameLst>
                                      </p:cBhvr>
                                      <p:to>
                                        <p:strVal val="visible"/>
                                      </p:to>
                                    </p:set>
                                    <p:animEffect transition="in" filter="wipe(left)">
                                      <p:cBhvr>
                                        <p:cTn id="20" dur="500"/>
                                        <p:tgtEl>
                                          <p:spTgt spid="127"/>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28"/>
                                        </p:tgtEl>
                                        <p:attrNameLst>
                                          <p:attrName>style.visibility</p:attrName>
                                        </p:attrNameLst>
                                      </p:cBhvr>
                                      <p:to>
                                        <p:strVal val="visible"/>
                                      </p:to>
                                    </p:set>
                                    <p:animEffect transition="in" filter="box(out)">
                                      <p:cBhvr>
                                        <p:cTn id="2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P spid="1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2</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）驱动负载能力</a:t>
            </a: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扇出系数</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grpSp>
        <p:nvGrpSpPr>
          <p:cNvPr id="168" name="Group 101"/>
          <p:cNvGrpSpPr/>
          <p:nvPr/>
        </p:nvGrpSpPr>
        <p:grpSpPr bwMode="auto">
          <a:xfrm>
            <a:off x="4892065" y="3448581"/>
            <a:ext cx="931078" cy="602549"/>
            <a:chOff x="2868" y="1836"/>
            <a:chExt cx="604" cy="384"/>
          </a:xfrm>
        </p:grpSpPr>
        <p:sp>
          <p:nvSpPr>
            <p:cNvPr id="169" name="Line 102"/>
            <p:cNvSpPr>
              <a:spLocks noChangeShapeType="1"/>
            </p:cNvSpPr>
            <p:nvPr/>
          </p:nvSpPr>
          <p:spPr bwMode="auto">
            <a:xfrm flipV="1">
              <a:off x="3352" y="1908"/>
              <a:ext cx="0" cy="312"/>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170" name="Text Box 103"/>
            <p:cNvSpPr txBox="1">
              <a:spLocks noChangeArrowheads="1"/>
            </p:cNvSpPr>
            <p:nvPr/>
          </p:nvSpPr>
          <p:spPr bwMode="auto">
            <a:xfrm>
              <a:off x="2868" y="1836"/>
              <a:ext cx="604"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2800" i="1" dirty="0">
                  <a:solidFill>
                    <a:srgbClr val="000099"/>
                  </a:solidFill>
                  <a:ea typeface="楷体_GB2312" pitchFamily="49" charset="-122"/>
                </a:rPr>
                <a:t>I</a:t>
              </a:r>
              <a:r>
                <a:rPr kumimoji="1" lang="en-US" altLang="zh-CN" sz="2800" i="1" baseline="-25000" dirty="0">
                  <a:solidFill>
                    <a:srgbClr val="000099"/>
                  </a:solidFill>
                  <a:ea typeface="楷体_GB2312" pitchFamily="49" charset="-122"/>
                </a:rPr>
                <a:t>iH1</a:t>
              </a:r>
              <a:endParaRPr kumimoji="1" lang="en-US" altLang="zh-CN" sz="2800" i="1" dirty="0">
                <a:solidFill>
                  <a:srgbClr val="FF0000"/>
                </a:solidFill>
                <a:ea typeface="楷体_GB2312" pitchFamily="49" charset="-122"/>
              </a:endParaRPr>
            </a:p>
          </p:txBody>
        </p:sp>
      </p:grpSp>
      <p:grpSp>
        <p:nvGrpSpPr>
          <p:cNvPr id="171" name="Group 104"/>
          <p:cNvGrpSpPr/>
          <p:nvPr/>
        </p:nvGrpSpPr>
        <p:grpSpPr bwMode="auto">
          <a:xfrm>
            <a:off x="4920328" y="5058647"/>
            <a:ext cx="917067" cy="523414"/>
            <a:chOff x="2856" y="3152"/>
            <a:chExt cx="604" cy="383"/>
          </a:xfrm>
        </p:grpSpPr>
        <p:sp>
          <p:nvSpPr>
            <p:cNvPr id="172" name="Line 105"/>
            <p:cNvSpPr>
              <a:spLocks noChangeShapeType="1"/>
            </p:cNvSpPr>
            <p:nvPr/>
          </p:nvSpPr>
          <p:spPr bwMode="auto">
            <a:xfrm>
              <a:off x="3324" y="3228"/>
              <a:ext cx="0" cy="30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173" name="Text Box 106"/>
            <p:cNvSpPr txBox="1">
              <a:spLocks noChangeArrowheads="1"/>
            </p:cNvSpPr>
            <p:nvPr/>
          </p:nvSpPr>
          <p:spPr bwMode="auto">
            <a:xfrm>
              <a:off x="2856" y="3152"/>
              <a:ext cx="60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2800" i="1" dirty="0">
                  <a:solidFill>
                    <a:srgbClr val="000099"/>
                  </a:solidFill>
                  <a:ea typeface="楷体_GB2312" pitchFamily="49" charset="-122"/>
                </a:rPr>
                <a:t>I</a:t>
              </a:r>
              <a:r>
                <a:rPr kumimoji="1" lang="en-US" altLang="zh-CN" sz="2800" i="1" baseline="-25000" dirty="0">
                  <a:solidFill>
                    <a:srgbClr val="000099"/>
                  </a:solidFill>
                  <a:ea typeface="楷体_GB2312" pitchFamily="49" charset="-122"/>
                </a:rPr>
                <a:t>iH3</a:t>
              </a:r>
              <a:endParaRPr kumimoji="1" lang="en-US" altLang="zh-CN" sz="2800" i="1" dirty="0">
                <a:solidFill>
                  <a:srgbClr val="000000"/>
                </a:solidFill>
                <a:ea typeface="楷体_GB2312" pitchFamily="49" charset="-122"/>
              </a:endParaRPr>
            </a:p>
          </p:txBody>
        </p:sp>
      </p:grpSp>
      <p:grpSp>
        <p:nvGrpSpPr>
          <p:cNvPr id="174" name="Group 107"/>
          <p:cNvGrpSpPr/>
          <p:nvPr/>
        </p:nvGrpSpPr>
        <p:grpSpPr bwMode="auto">
          <a:xfrm>
            <a:off x="4792787" y="4056290"/>
            <a:ext cx="917067" cy="586280"/>
            <a:chOff x="3188" y="2277"/>
            <a:chExt cx="604" cy="429"/>
          </a:xfrm>
        </p:grpSpPr>
        <p:sp>
          <p:nvSpPr>
            <p:cNvPr id="175" name="Line 108"/>
            <p:cNvSpPr>
              <a:spLocks noChangeShapeType="1"/>
            </p:cNvSpPr>
            <p:nvPr/>
          </p:nvSpPr>
          <p:spPr bwMode="auto">
            <a:xfrm flipV="1">
              <a:off x="3364" y="2700"/>
              <a:ext cx="392" cy="6"/>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176" name="Text Box 109"/>
            <p:cNvSpPr txBox="1">
              <a:spLocks noChangeArrowheads="1"/>
            </p:cNvSpPr>
            <p:nvPr/>
          </p:nvSpPr>
          <p:spPr bwMode="auto">
            <a:xfrm>
              <a:off x="3188" y="2277"/>
              <a:ext cx="60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2800" i="1" dirty="0">
                  <a:solidFill>
                    <a:srgbClr val="000099"/>
                  </a:solidFill>
                  <a:ea typeface="楷体_GB2312" pitchFamily="49" charset="-122"/>
                </a:rPr>
                <a:t>I</a:t>
              </a:r>
              <a:r>
                <a:rPr kumimoji="1" lang="en-US" altLang="zh-CN" sz="2800" i="1" baseline="-25000" dirty="0">
                  <a:solidFill>
                    <a:srgbClr val="000099"/>
                  </a:solidFill>
                  <a:ea typeface="楷体_GB2312" pitchFamily="49" charset="-122"/>
                </a:rPr>
                <a:t>iH2</a:t>
              </a:r>
              <a:endParaRPr kumimoji="1" lang="en-US" altLang="zh-CN" sz="2800" i="1" dirty="0">
                <a:solidFill>
                  <a:srgbClr val="000000"/>
                </a:solidFill>
                <a:ea typeface="楷体_GB2312" pitchFamily="49" charset="-122"/>
              </a:endParaRPr>
            </a:p>
          </p:txBody>
        </p:sp>
      </p:grpSp>
      <p:grpSp>
        <p:nvGrpSpPr>
          <p:cNvPr id="177" name="Group 110"/>
          <p:cNvGrpSpPr/>
          <p:nvPr/>
        </p:nvGrpSpPr>
        <p:grpSpPr bwMode="auto">
          <a:xfrm>
            <a:off x="3427816" y="4814952"/>
            <a:ext cx="1056753" cy="523415"/>
            <a:chOff x="2568" y="2917"/>
            <a:chExt cx="696" cy="383"/>
          </a:xfrm>
        </p:grpSpPr>
        <p:sp>
          <p:nvSpPr>
            <p:cNvPr id="178" name="Line 111"/>
            <p:cNvSpPr>
              <a:spLocks noChangeShapeType="1"/>
            </p:cNvSpPr>
            <p:nvPr/>
          </p:nvSpPr>
          <p:spPr bwMode="auto">
            <a:xfrm>
              <a:off x="2568" y="2952"/>
              <a:ext cx="696"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179" name="Text Box 112"/>
            <p:cNvSpPr txBox="1">
              <a:spLocks noChangeArrowheads="1"/>
            </p:cNvSpPr>
            <p:nvPr/>
          </p:nvSpPr>
          <p:spPr bwMode="auto">
            <a:xfrm>
              <a:off x="2568" y="2917"/>
              <a:ext cx="51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2800" i="1" dirty="0">
                  <a:solidFill>
                    <a:srgbClr val="000099"/>
                  </a:solidFill>
                  <a:ea typeface="楷体_GB2312" pitchFamily="49" charset="-122"/>
                </a:rPr>
                <a:t>I</a:t>
              </a:r>
              <a:r>
                <a:rPr kumimoji="1" lang="en-US" altLang="zh-CN" sz="2800" i="1" baseline="-25000" dirty="0">
                  <a:solidFill>
                    <a:srgbClr val="000099"/>
                  </a:solidFill>
                  <a:ea typeface="楷体_GB2312" pitchFamily="49" charset="-122"/>
                </a:rPr>
                <a:t>OH</a:t>
              </a:r>
              <a:endParaRPr kumimoji="1" lang="en-US" altLang="zh-CN" sz="2800" i="1" dirty="0">
                <a:solidFill>
                  <a:srgbClr val="000000"/>
                </a:solidFill>
                <a:ea typeface="楷体_GB2312" pitchFamily="49" charset="-122"/>
              </a:endParaRPr>
            </a:p>
          </p:txBody>
        </p:sp>
      </p:grpSp>
      <p:sp>
        <p:nvSpPr>
          <p:cNvPr id="180" name="Text Box 113"/>
          <p:cNvSpPr txBox="1">
            <a:spLocks noChangeArrowheads="1"/>
          </p:cNvSpPr>
          <p:nvPr/>
        </p:nvSpPr>
        <p:spPr bwMode="auto">
          <a:xfrm>
            <a:off x="282021" y="1818453"/>
            <a:ext cx="3841014" cy="523220"/>
          </a:xfrm>
          <a:prstGeom prst="rect">
            <a:avLst/>
          </a:prstGeom>
          <a:noFill/>
          <a:ln w="127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800" dirty="0">
                <a:ea typeface="楷体_GB2312" pitchFamily="49" charset="-122"/>
              </a:rPr>
              <a:t>前级输出为高电平时：</a:t>
            </a:r>
            <a:endParaRPr kumimoji="1" lang="zh-CN" altLang="en-US" sz="2800" dirty="0">
              <a:ea typeface="楷体_GB2312" pitchFamily="49" charset="-122"/>
            </a:endParaRPr>
          </a:p>
        </p:txBody>
      </p:sp>
      <p:sp>
        <p:nvSpPr>
          <p:cNvPr id="308" name="Text Box 124"/>
          <p:cNvSpPr txBox="1">
            <a:spLocks noChangeArrowheads="1"/>
          </p:cNvSpPr>
          <p:nvPr/>
        </p:nvSpPr>
        <p:spPr bwMode="auto">
          <a:xfrm>
            <a:off x="296646" y="6312524"/>
            <a:ext cx="61243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输出高电平时，前级流出的电流称为</a:t>
            </a:r>
            <a:r>
              <a:rPr kumimoji="1" lang="zh-CN" altLang="en-US" sz="2400" dirty="0">
                <a:solidFill>
                  <a:srgbClr val="0000FF"/>
                </a:solidFill>
                <a:latin typeface="黑体" panose="02010609060101010101" pitchFamily="49" charset="-122"/>
                <a:ea typeface="黑体" panose="02010609060101010101" pitchFamily="49" charset="-122"/>
              </a:rPr>
              <a:t>拉电流</a:t>
            </a:r>
            <a:r>
              <a:rPr kumimoji="1" lang="zh-CN" altLang="en-US" sz="2400" dirty="0">
                <a:solidFill>
                  <a:srgbClr val="000000"/>
                </a:solidFill>
                <a:latin typeface="黑体" panose="02010609060101010101" pitchFamily="49" charset="-122"/>
                <a:ea typeface="黑体" panose="02010609060101010101" pitchFamily="49" charset="-122"/>
              </a:rPr>
              <a:t>。</a:t>
            </a:r>
            <a:endParaRPr kumimoji="1" lang="zh-CN" altLang="en-US" sz="2400" dirty="0">
              <a:solidFill>
                <a:srgbClr val="000000"/>
              </a:solidFill>
              <a:latin typeface="黑体" panose="02010609060101010101" pitchFamily="49" charset="-122"/>
              <a:ea typeface="黑体" panose="02010609060101010101" pitchFamily="49" charset="-122"/>
            </a:endParaRPr>
          </a:p>
        </p:txBody>
      </p:sp>
      <p:grpSp>
        <p:nvGrpSpPr>
          <p:cNvPr id="3" name="组合 2"/>
          <p:cNvGrpSpPr/>
          <p:nvPr/>
        </p:nvGrpSpPr>
        <p:grpSpPr>
          <a:xfrm>
            <a:off x="1072896" y="2290476"/>
            <a:ext cx="7353554" cy="4231783"/>
            <a:chOff x="1072896" y="2290476"/>
            <a:chExt cx="7353554" cy="4231783"/>
          </a:xfrm>
        </p:grpSpPr>
        <p:grpSp>
          <p:nvGrpSpPr>
            <p:cNvPr id="181" name="Group 121"/>
            <p:cNvGrpSpPr/>
            <p:nvPr/>
          </p:nvGrpSpPr>
          <p:grpSpPr bwMode="auto">
            <a:xfrm>
              <a:off x="1072896" y="2290476"/>
              <a:ext cx="7142192" cy="4115067"/>
              <a:chOff x="402" y="919"/>
              <a:chExt cx="4704" cy="3177"/>
            </a:xfrm>
          </p:grpSpPr>
          <p:grpSp>
            <p:nvGrpSpPr>
              <p:cNvPr id="182" name="Group 120"/>
              <p:cNvGrpSpPr/>
              <p:nvPr/>
            </p:nvGrpSpPr>
            <p:grpSpPr bwMode="auto">
              <a:xfrm>
                <a:off x="402" y="919"/>
                <a:ext cx="4704" cy="3177"/>
                <a:chOff x="402" y="919"/>
                <a:chExt cx="4704" cy="3177"/>
              </a:xfrm>
            </p:grpSpPr>
            <p:grpSp>
              <p:nvGrpSpPr>
                <p:cNvPr id="184" name="Group 4"/>
                <p:cNvGrpSpPr/>
                <p:nvPr/>
              </p:nvGrpSpPr>
              <p:grpSpPr bwMode="auto">
                <a:xfrm>
                  <a:off x="402" y="919"/>
                  <a:ext cx="4704" cy="3177"/>
                  <a:chOff x="402" y="919"/>
                  <a:chExt cx="4704" cy="3177"/>
                </a:xfrm>
              </p:grpSpPr>
              <p:grpSp>
                <p:nvGrpSpPr>
                  <p:cNvPr id="189" name="Group 5"/>
                  <p:cNvGrpSpPr/>
                  <p:nvPr/>
                </p:nvGrpSpPr>
                <p:grpSpPr bwMode="auto">
                  <a:xfrm>
                    <a:off x="402" y="919"/>
                    <a:ext cx="3054" cy="2130"/>
                    <a:chOff x="2526" y="559"/>
                    <a:chExt cx="3054" cy="2130"/>
                  </a:xfrm>
                </p:grpSpPr>
                <p:sp>
                  <p:nvSpPr>
                    <p:cNvPr id="276" name="Line 6"/>
                    <p:cNvSpPr>
                      <a:spLocks noChangeShapeType="1"/>
                    </p:cNvSpPr>
                    <p:nvPr/>
                  </p:nvSpPr>
                  <p:spPr bwMode="auto">
                    <a:xfrm>
                      <a:off x="3324" y="1651"/>
                      <a:ext cx="0" cy="33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7" name="Line 7"/>
                    <p:cNvSpPr>
                      <a:spLocks noChangeShapeType="1"/>
                    </p:cNvSpPr>
                    <p:nvPr/>
                  </p:nvSpPr>
                  <p:spPr bwMode="auto">
                    <a:xfrm rot="16200000" flipH="1">
                      <a:off x="3324" y="1819"/>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8" name="Line 8"/>
                    <p:cNvSpPr>
                      <a:spLocks noChangeShapeType="1"/>
                    </p:cNvSpPr>
                    <p:nvPr/>
                  </p:nvSpPr>
                  <p:spPr bwMode="auto">
                    <a:xfrm flipV="1">
                      <a:off x="3324" y="1603"/>
                      <a:ext cx="216" cy="211"/>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9" name="Line 9"/>
                    <p:cNvSpPr>
                      <a:spLocks noChangeShapeType="1"/>
                    </p:cNvSpPr>
                    <p:nvPr/>
                  </p:nvSpPr>
                  <p:spPr bwMode="auto">
                    <a:xfrm flipV="1">
                      <a:off x="2854" y="1435"/>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0" name="Rectangle 10"/>
                    <p:cNvSpPr>
                      <a:spLocks noChangeArrowheads="1"/>
                    </p:cNvSpPr>
                    <p:nvPr/>
                  </p:nvSpPr>
                  <p:spPr bwMode="auto">
                    <a:xfrm>
                      <a:off x="2794" y="1015"/>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1" name="Line 11"/>
                    <p:cNvSpPr>
                      <a:spLocks noChangeShapeType="1"/>
                    </p:cNvSpPr>
                    <p:nvPr/>
                  </p:nvSpPr>
                  <p:spPr bwMode="auto">
                    <a:xfrm flipV="1">
                      <a:off x="2854" y="746"/>
                      <a:ext cx="0" cy="269"/>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2" name="Line 12"/>
                    <p:cNvSpPr>
                      <a:spLocks noChangeShapeType="1"/>
                    </p:cNvSpPr>
                    <p:nvPr/>
                  </p:nvSpPr>
                  <p:spPr bwMode="auto">
                    <a:xfrm>
                      <a:off x="2526" y="752"/>
                      <a:ext cx="2124"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3" name="Line 13"/>
                    <p:cNvSpPr>
                      <a:spLocks noChangeShapeType="1"/>
                    </p:cNvSpPr>
                    <p:nvPr/>
                  </p:nvSpPr>
                  <p:spPr bwMode="auto">
                    <a:xfrm flipH="1">
                      <a:off x="2854" y="1807"/>
                      <a:ext cx="47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4" name="Line 14"/>
                    <p:cNvSpPr>
                      <a:spLocks noChangeShapeType="1"/>
                    </p:cNvSpPr>
                    <p:nvPr/>
                  </p:nvSpPr>
                  <p:spPr bwMode="auto">
                    <a:xfrm>
                      <a:off x="3828" y="1867"/>
                      <a:ext cx="0" cy="33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5" name="Line 15"/>
                    <p:cNvSpPr>
                      <a:spLocks noChangeShapeType="1"/>
                    </p:cNvSpPr>
                    <p:nvPr/>
                  </p:nvSpPr>
                  <p:spPr bwMode="auto">
                    <a:xfrm rot="16200000" flipH="1">
                      <a:off x="3828" y="2035"/>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6" name="Line 16"/>
                    <p:cNvSpPr>
                      <a:spLocks noChangeShapeType="1"/>
                    </p:cNvSpPr>
                    <p:nvPr/>
                  </p:nvSpPr>
                  <p:spPr bwMode="auto">
                    <a:xfrm flipV="1">
                      <a:off x="3828" y="1819"/>
                      <a:ext cx="216" cy="211"/>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7" name="Line 17"/>
                    <p:cNvSpPr>
                      <a:spLocks noChangeShapeType="1"/>
                    </p:cNvSpPr>
                    <p:nvPr/>
                  </p:nvSpPr>
                  <p:spPr bwMode="auto">
                    <a:xfrm>
                      <a:off x="3528" y="2035"/>
                      <a:ext cx="30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8" name="Line 18"/>
                    <p:cNvSpPr>
                      <a:spLocks noChangeShapeType="1"/>
                    </p:cNvSpPr>
                    <p:nvPr/>
                  </p:nvSpPr>
                  <p:spPr bwMode="auto">
                    <a:xfrm>
                      <a:off x="3528" y="1610"/>
                      <a:ext cx="50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9" name="Line 19"/>
                    <p:cNvSpPr>
                      <a:spLocks noChangeShapeType="1"/>
                    </p:cNvSpPr>
                    <p:nvPr/>
                  </p:nvSpPr>
                  <p:spPr bwMode="auto">
                    <a:xfrm flipV="1">
                      <a:off x="4030" y="1610"/>
                      <a:ext cx="0" cy="23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0" name="Rectangle 20"/>
                    <p:cNvSpPr>
                      <a:spLocks noChangeArrowheads="1"/>
                    </p:cNvSpPr>
                    <p:nvPr/>
                  </p:nvSpPr>
                  <p:spPr bwMode="auto">
                    <a:xfrm>
                      <a:off x="3970" y="1022"/>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1" name="Line 21"/>
                    <p:cNvSpPr>
                      <a:spLocks noChangeShapeType="1"/>
                    </p:cNvSpPr>
                    <p:nvPr/>
                  </p:nvSpPr>
                  <p:spPr bwMode="auto">
                    <a:xfrm flipV="1">
                      <a:off x="4030" y="1442"/>
                      <a:ext cx="0" cy="209"/>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2" name="Line 22"/>
                    <p:cNvSpPr>
                      <a:spLocks noChangeShapeType="1"/>
                    </p:cNvSpPr>
                    <p:nvPr/>
                  </p:nvSpPr>
                  <p:spPr bwMode="auto">
                    <a:xfrm flipV="1">
                      <a:off x="4030" y="751"/>
                      <a:ext cx="0" cy="27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3" name="Rectangle 23"/>
                    <p:cNvSpPr>
                      <a:spLocks noChangeArrowheads="1"/>
                    </p:cNvSpPr>
                    <p:nvPr/>
                  </p:nvSpPr>
                  <p:spPr bwMode="auto">
                    <a:xfrm>
                      <a:off x="3480" y="2155"/>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4" name="Line 24"/>
                    <p:cNvSpPr>
                      <a:spLocks noChangeShapeType="1"/>
                    </p:cNvSpPr>
                    <p:nvPr/>
                  </p:nvSpPr>
                  <p:spPr bwMode="auto">
                    <a:xfrm>
                      <a:off x="3540" y="2023"/>
                      <a:ext cx="0" cy="13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5" name="Line 25"/>
                    <p:cNvSpPr>
                      <a:spLocks noChangeShapeType="1"/>
                    </p:cNvSpPr>
                    <p:nvPr/>
                  </p:nvSpPr>
                  <p:spPr bwMode="auto">
                    <a:xfrm>
                      <a:off x="3534" y="2569"/>
                      <a:ext cx="0" cy="9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6" name="Line 26"/>
                    <p:cNvSpPr>
                      <a:spLocks noChangeShapeType="1"/>
                    </p:cNvSpPr>
                    <p:nvPr/>
                  </p:nvSpPr>
                  <p:spPr bwMode="auto">
                    <a:xfrm>
                      <a:off x="3414" y="2659"/>
                      <a:ext cx="24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7" name="Line 27"/>
                    <p:cNvSpPr>
                      <a:spLocks noChangeShapeType="1"/>
                    </p:cNvSpPr>
                    <p:nvPr/>
                  </p:nvSpPr>
                  <p:spPr bwMode="auto">
                    <a:xfrm>
                      <a:off x="4048" y="2263"/>
                      <a:ext cx="0" cy="42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8" name="Line 28"/>
                    <p:cNvSpPr>
                      <a:spLocks noChangeShapeType="1"/>
                    </p:cNvSpPr>
                    <p:nvPr/>
                  </p:nvSpPr>
                  <p:spPr bwMode="auto">
                    <a:xfrm>
                      <a:off x="4048" y="2443"/>
                      <a:ext cx="60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9" name="Oval 29"/>
                    <p:cNvSpPr>
                      <a:spLocks noChangeArrowheads="1"/>
                    </p:cNvSpPr>
                    <p:nvPr/>
                  </p:nvSpPr>
                  <p:spPr bwMode="auto">
                    <a:xfrm>
                      <a:off x="4644" y="679"/>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0" name="Oval 30"/>
                    <p:cNvSpPr>
                      <a:spLocks noChangeArrowheads="1"/>
                    </p:cNvSpPr>
                    <p:nvPr/>
                  </p:nvSpPr>
                  <p:spPr bwMode="auto">
                    <a:xfrm>
                      <a:off x="4644" y="2371"/>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1" name="Text Box 31"/>
                    <p:cNvSpPr txBox="1">
                      <a:spLocks noChangeArrowheads="1"/>
                    </p:cNvSpPr>
                    <p:nvPr/>
                  </p:nvSpPr>
                  <p:spPr bwMode="auto">
                    <a:xfrm>
                      <a:off x="4788" y="559"/>
                      <a:ext cx="79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+5V</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02" name="Text Box 32"/>
                    <p:cNvSpPr txBox="1">
                      <a:spLocks noChangeArrowheads="1"/>
                    </p:cNvSpPr>
                    <p:nvPr/>
                  </p:nvSpPr>
                  <p:spPr bwMode="auto">
                    <a:xfrm>
                      <a:off x="4836" y="2299"/>
                      <a:ext cx="4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03" name="Text Box 33"/>
                    <p:cNvSpPr txBox="1">
                      <a:spLocks noChangeArrowheads="1"/>
                    </p:cNvSpPr>
                    <p:nvPr/>
                  </p:nvSpPr>
                  <p:spPr bwMode="auto">
                    <a:xfrm>
                      <a:off x="4116" y="1027"/>
                      <a:ext cx="66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R</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4</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04" name="Text Box 34"/>
                    <p:cNvSpPr txBox="1">
                      <a:spLocks noChangeArrowheads="1"/>
                    </p:cNvSpPr>
                    <p:nvPr/>
                  </p:nvSpPr>
                  <p:spPr bwMode="auto">
                    <a:xfrm>
                      <a:off x="2940" y="1015"/>
                      <a:ext cx="66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R</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2</a:t>
                      </a:r>
                      <a:endPar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05" name="Text Box 35"/>
                    <p:cNvSpPr txBox="1">
                      <a:spLocks noChangeArrowheads="1"/>
                    </p:cNvSpPr>
                    <p:nvPr/>
                  </p:nvSpPr>
                  <p:spPr bwMode="auto">
                    <a:xfrm>
                      <a:off x="3096" y="2239"/>
                      <a:ext cx="39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R</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5</a:t>
                      </a:r>
                      <a:endPar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06" name="Text Box 36"/>
                    <p:cNvSpPr txBox="1">
                      <a:spLocks noChangeArrowheads="1"/>
                    </p:cNvSpPr>
                    <p:nvPr/>
                  </p:nvSpPr>
                  <p:spPr bwMode="auto">
                    <a:xfrm>
                      <a:off x="3432" y="1627"/>
                      <a:ext cx="62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3</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07" name="Text Box 37"/>
                    <p:cNvSpPr txBox="1">
                      <a:spLocks noChangeArrowheads="1"/>
                    </p:cNvSpPr>
                    <p:nvPr/>
                  </p:nvSpPr>
                  <p:spPr bwMode="auto">
                    <a:xfrm>
                      <a:off x="3996" y="1881"/>
                      <a:ext cx="42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4</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grpSp>
              <p:sp>
                <p:nvSpPr>
                  <p:cNvPr id="190" name="Line 38"/>
                  <p:cNvSpPr>
                    <a:spLocks noChangeShapeType="1"/>
                  </p:cNvSpPr>
                  <p:nvPr/>
                </p:nvSpPr>
                <p:spPr bwMode="auto">
                  <a:xfrm>
                    <a:off x="4776" y="1572"/>
                    <a:ext cx="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91" name="Group 39"/>
                  <p:cNvGrpSpPr/>
                  <p:nvPr/>
                </p:nvGrpSpPr>
                <p:grpSpPr bwMode="auto">
                  <a:xfrm>
                    <a:off x="3436" y="2916"/>
                    <a:ext cx="1669" cy="1180"/>
                    <a:chOff x="3436" y="2004"/>
                    <a:chExt cx="1669" cy="1180"/>
                  </a:xfrm>
                </p:grpSpPr>
                <p:sp>
                  <p:nvSpPr>
                    <p:cNvPr id="258" name="Line 40"/>
                    <p:cNvSpPr>
                      <a:spLocks noChangeShapeType="1"/>
                    </p:cNvSpPr>
                    <p:nvPr/>
                  </p:nvSpPr>
                  <p:spPr bwMode="auto">
                    <a:xfrm>
                      <a:off x="4392" y="2376"/>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9" name="Line 41"/>
                    <p:cNvSpPr>
                      <a:spLocks noChangeShapeType="1"/>
                    </p:cNvSpPr>
                    <p:nvPr/>
                  </p:nvSpPr>
                  <p:spPr bwMode="auto">
                    <a:xfrm flipV="1">
                      <a:off x="4776" y="2004"/>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0" name="Line 42"/>
                    <p:cNvSpPr>
                      <a:spLocks noChangeShapeType="1"/>
                    </p:cNvSpPr>
                    <p:nvPr/>
                  </p:nvSpPr>
                  <p:spPr bwMode="auto">
                    <a:xfrm flipH="1">
                      <a:off x="4524"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1" name="Line 43"/>
                    <p:cNvSpPr>
                      <a:spLocks noChangeShapeType="1"/>
                    </p:cNvSpPr>
                    <p:nvPr/>
                  </p:nvSpPr>
                  <p:spPr bwMode="auto">
                    <a:xfrm flipH="1">
                      <a:off x="4380"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2" name="Line 44"/>
                    <p:cNvSpPr>
                      <a:spLocks noChangeShapeType="1"/>
                    </p:cNvSpPr>
                    <p:nvPr/>
                  </p:nvSpPr>
                  <p:spPr bwMode="auto">
                    <a:xfrm flipH="1">
                      <a:off x="4236"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3" name="Line 45"/>
                    <p:cNvSpPr>
                      <a:spLocks noChangeShapeType="1"/>
                    </p:cNvSpPr>
                    <p:nvPr/>
                  </p:nvSpPr>
                  <p:spPr bwMode="auto">
                    <a:xfrm>
                      <a:off x="4776" y="2376"/>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4" name="Line 46"/>
                    <p:cNvSpPr>
                      <a:spLocks noChangeShapeType="1"/>
                    </p:cNvSpPr>
                    <p:nvPr/>
                  </p:nvSpPr>
                  <p:spPr bwMode="auto">
                    <a:xfrm flipH="1" flipV="1">
                      <a:off x="3868" y="2586"/>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5" name="Line 47"/>
                    <p:cNvSpPr>
                      <a:spLocks noChangeShapeType="1"/>
                    </p:cNvSpPr>
                    <p:nvPr/>
                  </p:nvSpPr>
                  <p:spPr bwMode="auto">
                    <a:xfrm>
                      <a:off x="4392" y="2592"/>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6" name="Line 48"/>
                    <p:cNvSpPr>
                      <a:spLocks noChangeShapeType="1"/>
                    </p:cNvSpPr>
                    <p:nvPr/>
                  </p:nvSpPr>
                  <p:spPr bwMode="auto">
                    <a:xfrm flipH="1">
                      <a:off x="3880" y="2808"/>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7" name="Line 49"/>
                    <p:cNvSpPr>
                      <a:spLocks noChangeShapeType="1"/>
                    </p:cNvSpPr>
                    <p:nvPr/>
                  </p:nvSpPr>
                  <p:spPr bwMode="auto">
                    <a:xfrm flipH="1">
                      <a:off x="4536" y="2604"/>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8" name="Line 50"/>
                    <p:cNvSpPr>
                      <a:spLocks noChangeShapeType="1"/>
                    </p:cNvSpPr>
                    <p:nvPr/>
                  </p:nvSpPr>
                  <p:spPr bwMode="auto">
                    <a:xfrm flipH="1">
                      <a:off x="3892" y="3012"/>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9" name="Oval 51"/>
                    <p:cNvSpPr>
                      <a:spLocks noChangeArrowheads="1"/>
                    </p:cNvSpPr>
                    <p:nvPr/>
                  </p:nvSpPr>
                  <p:spPr bwMode="auto">
                    <a:xfrm>
                      <a:off x="3748" y="2520"/>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Oval 52"/>
                    <p:cNvSpPr>
                      <a:spLocks noChangeArrowheads="1"/>
                    </p:cNvSpPr>
                    <p:nvPr/>
                  </p:nvSpPr>
                  <p:spPr bwMode="auto">
                    <a:xfrm>
                      <a:off x="3760" y="273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Oval 53"/>
                    <p:cNvSpPr>
                      <a:spLocks noChangeArrowheads="1"/>
                    </p:cNvSpPr>
                    <p:nvPr/>
                  </p:nvSpPr>
                  <p:spPr bwMode="auto">
                    <a:xfrm>
                      <a:off x="3766" y="294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2" name="Text Box 54"/>
                    <p:cNvSpPr txBox="1">
                      <a:spLocks noChangeArrowheads="1"/>
                    </p:cNvSpPr>
                    <p:nvPr/>
                  </p:nvSpPr>
                  <p:spPr bwMode="auto">
                    <a:xfrm>
                      <a:off x="4649" y="2483"/>
                      <a:ext cx="45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1</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273" name="Text Box 55"/>
                    <p:cNvSpPr txBox="1">
                      <a:spLocks noChangeArrowheads="1"/>
                    </p:cNvSpPr>
                    <p:nvPr/>
                  </p:nvSpPr>
                  <p:spPr bwMode="auto">
                    <a:xfrm>
                      <a:off x="3436" y="237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74" name="Text Box 56"/>
                    <p:cNvSpPr txBox="1">
                      <a:spLocks noChangeArrowheads="1"/>
                    </p:cNvSpPr>
                    <p:nvPr/>
                  </p:nvSpPr>
                  <p:spPr bwMode="auto">
                    <a:xfrm>
                      <a:off x="3436" y="2629"/>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75" name="Text Box 57"/>
                    <p:cNvSpPr txBox="1">
                      <a:spLocks noChangeArrowheads="1"/>
                    </p:cNvSpPr>
                    <p:nvPr/>
                  </p:nvSpPr>
                  <p:spPr bwMode="auto">
                    <a:xfrm>
                      <a:off x="3436" y="285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sp>
                <p:nvSpPr>
                  <p:cNvPr id="192" name="Line 58"/>
                  <p:cNvSpPr>
                    <a:spLocks noChangeShapeType="1"/>
                  </p:cNvSpPr>
                  <p:nvPr/>
                </p:nvSpPr>
                <p:spPr bwMode="auto">
                  <a:xfrm>
                    <a:off x="2640" y="2809"/>
                    <a:ext cx="1128"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3" name="Text Box 59"/>
                  <p:cNvSpPr txBox="1">
                    <a:spLocks noChangeArrowheads="1"/>
                  </p:cNvSpPr>
                  <p:nvPr/>
                </p:nvSpPr>
                <p:spPr bwMode="auto">
                  <a:xfrm>
                    <a:off x="924" y="3168"/>
                    <a:ext cx="529" cy="356"/>
                  </a:xfrm>
                  <a:prstGeom prst="rect">
                    <a:avLst/>
                  </a:prstGeom>
                  <a:noFill/>
                  <a:ln w="381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前级</a:t>
                    </a:r>
                    <a:endParaRPr kumimoji="1" lang="zh-CN" altLang="en-US" sz="24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endParaRPr>
                  </a:p>
                </p:txBody>
              </p:sp>
              <p:grpSp>
                <p:nvGrpSpPr>
                  <p:cNvPr id="194" name="Group 60"/>
                  <p:cNvGrpSpPr/>
                  <p:nvPr/>
                </p:nvGrpSpPr>
                <p:grpSpPr bwMode="auto">
                  <a:xfrm>
                    <a:off x="3448" y="2004"/>
                    <a:ext cx="1658" cy="1180"/>
                    <a:chOff x="3436" y="2004"/>
                    <a:chExt cx="1658" cy="1180"/>
                  </a:xfrm>
                </p:grpSpPr>
                <p:sp>
                  <p:nvSpPr>
                    <p:cNvPr id="217" name="Line 61"/>
                    <p:cNvSpPr>
                      <a:spLocks noChangeShapeType="1"/>
                    </p:cNvSpPr>
                    <p:nvPr/>
                  </p:nvSpPr>
                  <p:spPr bwMode="auto">
                    <a:xfrm>
                      <a:off x="4392" y="2376"/>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8" name="Line 62"/>
                    <p:cNvSpPr>
                      <a:spLocks noChangeShapeType="1"/>
                    </p:cNvSpPr>
                    <p:nvPr/>
                  </p:nvSpPr>
                  <p:spPr bwMode="auto">
                    <a:xfrm flipV="1">
                      <a:off x="4776" y="2004"/>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9" name="Line 63"/>
                    <p:cNvSpPr>
                      <a:spLocks noChangeShapeType="1"/>
                    </p:cNvSpPr>
                    <p:nvPr/>
                  </p:nvSpPr>
                  <p:spPr bwMode="auto">
                    <a:xfrm flipH="1">
                      <a:off x="4524"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0" name="Line 64"/>
                    <p:cNvSpPr>
                      <a:spLocks noChangeShapeType="1"/>
                    </p:cNvSpPr>
                    <p:nvPr/>
                  </p:nvSpPr>
                  <p:spPr bwMode="auto">
                    <a:xfrm flipH="1">
                      <a:off x="4380"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1" name="Line 65"/>
                    <p:cNvSpPr>
                      <a:spLocks noChangeShapeType="1"/>
                    </p:cNvSpPr>
                    <p:nvPr/>
                  </p:nvSpPr>
                  <p:spPr bwMode="auto">
                    <a:xfrm flipH="1">
                      <a:off x="4236"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2" name="Line 66"/>
                    <p:cNvSpPr>
                      <a:spLocks noChangeShapeType="1"/>
                    </p:cNvSpPr>
                    <p:nvPr/>
                  </p:nvSpPr>
                  <p:spPr bwMode="auto">
                    <a:xfrm>
                      <a:off x="4776" y="2376"/>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3" name="Line 67"/>
                    <p:cNvSpPr>
                      <a:spLocks noChangeShapeType="1"/>
                    </p:cNvSpPr>
                    <p:nvPr/>
                  </p:nvSpPr>
                  <p:spPr bwMode="auto">
                    <a:xfrm flipH="1" flipV="1">
                      <a:off x="3868" y="2586"/>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4" name="Line 68"/>
                    <p:cNvSpPr>
                      <a:spLocks noChangeShapeType="1"/>
                    </p:cNvSpPr>
                    <p:nvPr/>
                  </p:nvSpPr>
                  <p:spPr bwMode="auto">
                    <a:xfrm>
                      <a:off x="4392" y="2592"/>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5" name="Line 69"/>
                    <p:cNvSpPr>
                      <a:spLocks noChangeShapeType="1"/>
                    </p:cNvSpPr>
                    <p:nvPr/>
                  </p:nvSpPr>
                  <p:spPr bwMode="auto">
                    <a:xfrm flipH="1">
                      <a:off x="3880" y="2808"/>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6" name="Line 70"/>
                    <p:cNvSpPr>
                      <a:spLocks noChangeShapeType="1"/>
                    </p:cNvSpPr>
                    <p:nvPr/>
                  </p:nvSpPr>
                  <p:spPr bwMode="auto">
                    <a:xfrm flipH="1">
                      <a:off x="4536" y="2604"/>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9" name="Line 71"/>
                    <p:cNvSpPr>
                      <a:spLocks noChangeShapeType="1"/>
                    </p:cNvSpPr>
                    <p:nvPr/>
                  </p:nvSpPr>
                  <p:spPr bwMode="auto">
                    <a:xfrm flipH="1">
                      <a:off x="3892" y="3012"/>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Oval 72"/>
                    <p:cNvSpPr>
                      <a:spLocks noChangeArrowheads="1"/>
                    </p:cNvSpPr>
                    <p:nvPr/>
                  </p:nvSpPr>
                  <p:spPr bwMode="auto">
                    <a:xfrm>
                      <a:off x="3748" y="2520"/>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2" name="Oval 73"/>
                    <p:cNvSpPr>
                      <a:spLocks noChangeArrowheads="1"/>
                    </p:cNvSpPr>
                    <p:nvPr/>
                  </p:nvSpPr>
                  <p:spPr bwMode="auto">
                    <a:xfrm>
                      <a:off x="3760" y="273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Oval 74"/>
                    <p:cNvSpPr>
                      <a:spLocks noChangeArrowheads="1"/>
                    </p:cNvSpPr>
                    <p:nvPr/>
                  </p:nvSpPr>
                  <p:spPr bwMode="auto">
                    <a:xfrm>
                      <a:off x="3766" y="294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4" name="Text Box 75"/>
                    <p:cNvSpPr txBox="1">
                      <a:spLocks noChangeArrowheads="1"/>
                    </p:cNvSpPr>
                    <p:nvPr/>
                  </p:nvSpPr>
                  <p:spPr bwMode="auto">
                    <a:xfrm>
                      <a:off x="4638" y="2436"/>
                      <a:ext cx="45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1</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255" name="Text Box 76"/>
                    <p:cNvSpPr txBox="1">
                      <a:spLocks noChangeArrowheads="1"/>
                    </p:cNvSpPr>
                    <p:nvPr/>
                  </p:nvSpPr>
                  <p:spPr bwMode="auto">
                    <a:xfrm>
                      <a:off x="3436" y="237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56" name="Text Box 77"/>
                    <p:cNvSpPr txBox="1">
                      <a:spLocks noChangeArrowheads="1"/>
                    </p:cNvSpPr>
                    <p:nvPr/>
                  </p:nvSpPr>
                  <p:spPr bwMode="auto">
                    <a:xfrm>
                      <a:off x="3436" y="2629"/>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57" name="Text Box 78"/>
                    <p:cNvSpPr txBox="1">
                      <a:spLocks noChangeArrowheads="1"/>
                    </p:cNvSpPr>
                    <p:nvPr/>
                  </p:nvSpPr>
                  <p:spPr bwMode="auto">
                    <a:xfrm>
                      <a:off x="3436" y="285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grpSp>
                <p:nvGrpSpPr>
                  <p:cNvPr id="195" name="Group 79"/>
                  <p:cNvGrpSpPr/>
                  <p:nvPr/>
                </p:nvGrpSpPr>
                <p:grpSpPr bwMode="auto">
                  <a:xfrm>
                    <a:off x="3436" y="1032"/>
                    <a:ext cx="1661" cy="1180"/>
                    <a:chOff x="3436" y="2004"/>
                    <a:chExt cx="1661" cy="1180"/>
                  </a:xfrm>
                </p:grpSpPr>
                <p:sp>
                  <p:nvSpPr>
                    <p:cNvPr id="199" name="Line 80"/>
                    <p:cNvSpPr>
                      <a:spLocks noChangeShapeType="1"/>
                    </p:cNvSpPr>
                    <p:nvPr/>
                  </p:nvSpPr>
                  <p:spPr bwMode="auto">
                    <a:xfrm>
                      <a:off x="4392" y="2376"/>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0" name="Line 81"/>
                    <p:cNvSpPr>
                      <a:spLocks noChangeShapeType="1"/>
                    </p:cNvSpPr>
                    <p:nvPr/>
                  </p:nvSpPr>
                  <p:spPr bwMode="auto">
                    <a:xfrm flipV="1">
                      <a:off x="4776" y="2004"/>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1" name="Line 82"/>
                    <p:cNvSpPr>
                      <a:spLocks noChangeShapeType="1"/>
                    </p:cNvSpPr>
                    <p:nvPr/>
                  </p:nvSpPr>
                  <p:spPr bwMode="auto">
                    <a:xfrm flipH="1">
                      <a:off x="4524"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2" name="Line 83"/>
                    <p:cNvSpPr>
                      <a:spLocks noChangeShapeType="1"/>
                    </p:cNvSpPr>
                    <p:nvPr/>
                  </p:nvSpPr>
                  <p:spPr bwMode="auto">
                    <a:xfrm flipH="1">
                      <a:off x="4380"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3" name="Line 84"/>
                    <p:cNvSpPr>
                      <a:spLocks noChangeShapeType="1"/>
                    </p:cNvSpPr>
                    <p:nvPr/>
                  </p:nvSpPr>
                  <p:spPr bwMode="auto">
                    <a:xfrm flipH="1">
                      <a:off x="4236" y="2376"/>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4" name="Line 85"/>
                    <p:cNvSpPr>
                      <a:spLocks noChangeShapeType="1"/>
                    </p:cNvSpPr>
                    <p:nvPr/>
                  </p:nvSpPr>
                  <p:spPr bwMode="auto">
                    <a:xfrm>
                      <a:off x="4776" y="2376"/>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5" name="Line 86"/>
                    <p:cNvSpPr>
                      <a:spLocks noChangeShapeType="1"/>
                    </p:cNvSpPr>
                    <p:nvPr/>
                  </p:nvSpPr>
                  <p:spPr bwMode="auto">
                    <a:xfrm flipH="1" flipV="1">
                      <a:off x="3868" y="2586"/>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6" name="Line 87"/>
                    <p:cNvSpPr>
                      <a:spLocks noChangeShapeType="1"/>
                    </p:cNvSpPr>
                    <p:nvPr/>
                  </p:nvSpPr>
                  <p:spPr bwMode="auto">
                    <a:xfrm>
                      <a:off x="4392" y="2592"/>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7" name="Line 88"/>
                    <p:cNvSpPr>
                      <a:spLocks noChangeShapeType="1"/>
                    </p:cNvSpPr>
                    <p:nvPr/>
                  </p:nvSpPr>
                  <p:spPr bwMode="auto">
                    <a:xfrm flipH="1">
                      <a:off x="3880" y="2808"/>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8" name="Line 89"/>
                    <p:cNvSpPr>
                      <a:spLocks noChangeShapeType="1"/>
                    </p:cNvSpPr>
                    <p:nvPr/>
                  </p:nvSpPr>
                  <p:spPr bwMode="auto">
                    <a:xfrm flipH="1">
                      <a:off x="4536" y="2604"/>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9" name="Line 90"/>
                    <p:cNvSpPr>
                      <a:spLocks noChangeShapeType="1"/>
                    </p:cNvSpPr>
                    <p:nvPr/>
                  </p:nvSpPr>
                  <p:spPr bwMode="auto">
                    <a:xfrm flipH="1">
                      <a:off x="3892" y="3012"/>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0" name="Oval 91"/>
                    <p:cNvSpPr>
                      <a:spLocks noChangeArrowheads="1"/>
                    </p:cNvSpPr>
                    <p:nvPr/>
                  </p:nvSpPr>
                  <p:spPr bwMode="auto">
                    <a:xfrm>
                      <a:off x="3748" y="2520"/>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1" name="Oval 92"/>
                    <p:cNvSpPr>
                      <a:spLocks noChangeArrowheads="1"/>
                    </p:cNvSpPr>
                    <p:nvPr/>
                  </p:nvSpPr>
                  <p:spPr bwMode="auto">
                    <a:xfrm>
                      <a:off x="3760" y="273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2" name="Oval 93"/>
                    <p:cNvSpPr>
                      <a:spLocks noChangeArrowheads="1"/>
                    </p:cNvSpPr>
                    <p:nvPr/>
                  </p:nvSpPr>
                  <p:spPr bwMode="auto">
                    <a:xfrm>
                      <a:off x="3766" y="294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3" name="Text Box 94"/>
                    <p:cNvSpPr txBox="1">
                      <a:spLocks noChangeArrowheads="1"/>
                    </p:cNvSpPr>
                    <p:nvPr/>
                  </p:nvSpPr>
                  <p:spPr bwMode="auto">
                    <a:xfrm>
                      <a:off x="4641" y="2449"/>
                      <a:ext cx="45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1</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214" name="Text Box 95"/>
                    <p:cNvSpPr txBox="1">
                      <a:spLocks noChangeArrowheads="1"/>
                    </p:cNvSpPr>
                    <p:nvPr/>
                  </p:nvSpPr>
                  <p:spPr bwMode="auto">
                    <a:xfrm>
                      <a:off x="3436" y="237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15" name="Text Box 96"/>
                    <p:cNvSpPr txBox="1">
                      <a:spLocks noChangeArrowheads="1"/>
                    </p:cNvSpPr>
                    <p:nvPr/>
                  </p:nvSpPr>
                  <p:spPr bwMode="auto">
                    <a:xfrm>
                      <a:off x="3436" y="2629"/>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16" name="Text Box 97"/>
                    <p:cNvSpPr txBox="1">
                      <a:spLocks noChangeArrowheads="1"/>
                    </p:cNvSpPr>
                    <p:nvPr/>
                  </p:nvSpPr>
                  <p:spPr bwMode="auto">
                    <a:xfrm>
                      <a:off x="3436" y="2857"/>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sp>
                <p:nvSpPr>
                  <p:cNvPr id="196" name="Line 98"/>
                  <p:cNvSpPr>
                    <a:spLocks noChangeShapeType="1"/>
                  </p:cNvSpPr>
                  <p:nvPr/>
                </p:nvSpPr>
                <p:spPr bwMode="auto">
                  <a:xfrm>
                    <a:off x="3472" y="1812"/>
                    <a:ext cx="292"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7" name="Line 99"/>
                  <p:cNvSpPr>
                    <a:spLocks noChangeShapeType="1"/>
                  </p:cNvSpPr>
                  <p:nvPr/>
                </p:nvSpPr>
                <p:spPr bwMode="auto">
                  <a:xfrm>
                    <a:off x="3472" y="3709"/>
                    <a:ext cx="292"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8" name="Line 100"/>
                  <p:cNvSpPr>
                    <a:spLocks noChangeShapeType="1"/>
                  </p:cNvSpPr>
                  <p:nvPr/>
                </p:nvSpPr>
                <p:spPr bwMode="auto">
                  <a:xfrm>
                    <a:off x="3472" y="1812"/>
                    <a:ext cx="0" cy="1897"/>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85" name="Text Box 115"/>
                <p:cNvSpPr txBox="1">
                  <a:spLocks noChangeArrowheads="1"/>
                </p:cNvSpPr>
                <p:nvPr/>
              </p:nvSpPr>
              <p:spPr bwMode="auto">
                <a:xfrm>
                  <a:off x="1811" y="1836"/>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sym typeface="Symbol" panose="05050102010706020507" pitchFamily="18" charset="2"/>
                    </a:rPr>
                    <a:t></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endParaRPr>
                </a:p>
              </p:txBody>
            </p:sp>
            <p:sp>
              <p:nvSpPr>
                <p:cNvPr id="186" name="Text Box 116"/>
                <p:cNvSpPr txBox="1">
                  <a:spLocks noChangeArrowheads="1"/>
                </p:cNvSpPr>
                <p:nvPr/>
              </p:nvSpPr>
              <p:spPr bwMode="auto">
                <a:xfrm>
                  <a:off x="1820" y="958"/>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sym typeface="Symbol" panose="05050102010706020507" pitchFamily="18" charset="2"/>
                    </a:rPr>
                    <a:t></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endParaRPr>
                </a:p>
              </p:txBody>
            </p:sp>
            <p:sp>
              <p:nvSpPr>
                <p:cNvPr id="187" name="Text Box 117"/>
                <p:cNvSpPr txBox="1">
                  <a:spLocks noChangeArrowheads="1"/>
                </p:cNvSpPr>
                <p:nvPr/>
              </p:nvSpPr>
              <p:spPr bwMode="auto">
                <a:xfrm>
                  <a:off x="626" y="973"/>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sym typeface="Symbol" panose="05050102010706020507" pitchFamily="18" charset="2"/>
                    </a:rPr>
                    <a:t></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endParaRPr>
                </a:p>
              </p:txBody>
            </p:sp>
            <p:sp>
              <p:nvSpPr>
                <p:cNvPr id="188" name="Text Box 118"/>
                <p:cNvSpPr txBox="1">
                  <a:spLocks noChangeArrowheads="1"/>
                </p:cNvSpPr>
                <p:nvPr/>
              </p:nvSpPr>
              <p:spPr bwMode="auto">
                <a:xfrm>
                  <a:off x="1827" y="2684"/>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sym typeface="Symbol" panose="05050102010706020507" pitchFamily="18" charset="2"/>
                    </a:rPr>
                    <a:t></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49" charset="-122"/>
                  </a:endParaRPr>
                </a:p>
              </p:txBody>
            </p:sp>
          </p:grpSp>
          <p:sp>
            <p:nvSpPr>
              <p:cNvPr id="183" name="Text Box 119"/>
              <p:cNvSpPr txBox="1">
                <a:spLocks noChangeArrowheads="1"/>
              </p:cNvSpPr>
              <p:nvPr/>
            </p:nvSpPr>
            <p:spPr bwMode="auto">
              <a:xfrm>
                <a:off x="3376" y="2658"/>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长城楷体" pitchFamily="49" charset="-122"/>
                    <a:sym typeface="Symbol" panose="05050102010706020507" pitchFamily="18" charset="2"/>
                  </a:rPr>
                  <a:t></a:t>
                </a:r>
                <a:endPar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长城楷体" pitchFamily="49" charset="-122"/>
                </a:endParaRPr>
              </a:p>
            </p:txBody>
          </p:sp>
        </p:grpSp>
        <p:sp>
          <p:nvSpPr>
            <p:cNvPr id="310" name="Text Box 59"/>
            <p:cNvSpPr txBox="1">
              <a:spLocks noChangeArrowheads="1"/>
            </p:cNvSpPr>
            <p:nvPr/>
          </p:nvSpPr>
          <p:spPr bwMode="auto">
            <a:xfrm>
              <a:off x="7568281" y="6060594"/>
              <a:ext cx="858169" cy="461665"/>
            </a:xfrm>
            <a:prstGeom prst="rect">
              <a:avLst/>
            </a:prstGeom>
            <a:noFill/>
            <a:ln w="381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后级</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wipe(left)">
                                      <p:cBhvr>
                                        <p:cTn id="7" dur="500"/>
                                        <p:tgtEl>
                                          <p:spTgt spid="1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8"/>
                                        </p:tgtEl>
                                        <p:attrNameLst>
                                          <p:attrName>style.visibility</p:attrName>
                                        </p:attrNameLst>
                                      </p:cBhvr>
                                      <p:to>
                                        <p:strVal val="visible"/>
                                      </p:to>
                                    </p:set>
                                    <p:animEffect transition="in" filter="wipe(down)">
                                      <p:cBhvr>
                                        <p:cTn id="12" dur="500"/>
                                        <p:tgtEl>
                                          <p:spTgt spid="1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4"/>
                                        </p:tgtEl>
                                        <p:attrNameLst>
                                          <p:attrName>style.visibility</p:attrName>
                                        </p:attrNameLst>
                                      </p:cBhvr>
                                      <p:to>
                                        <p:strVal val="visible"/>
                                      </p:to>
                                    </p:set>
                                    <p:animEffect transition="in" filter="wipe(down)">
                                      <p:cBhvr>
                                        <p:cTn id="17" dur="500"/>
                                        <p:tgtEl>
                                          <p:spTgt spid="1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1"/>
                                        </p:tgtEl>
                                        <p:attrNameLst>
                                          <p:attrName>style.visibility</p:attrName>
                                        </p:attrNameLst>
                                      </p:cBhvr>
                                      <p:to>
                                        <p:strVal val="visible"/>
                                      </p:to>
                                    </p:set>
                                    <p:animEffect transition="in" filter="wipe(left)">
                                      <p:cBhvr>
                                        <p:cTn id="22" dur="500"/>
                                        <p:tgtEl>
                                          <p:spTgt spid="1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8">
                                            <p:txEl>
                                              <p:pRg st="0" end="0"/>
                                            </p:txEl>
                                          </p:spTgt>
                                        </p:tgtEl>
                                        <p:attrNameLst>
                                          <p:attrName>style.visibility</p:attrName>
                                        </p:attrNameLst>
                                      </p:cBhvr>
                                      <p:to>
                                        <p:strVal val="visible"/>
                                      </p:to>
                                    </p:set>
                                    <p:animEffect transition="in" filter="wipe(left)">
                                      <p:cBhvr>
                                        <p:cTn id="27" dur="500"/>
                                        <p:tgtEl>
                                          <p:spTgt spid="3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2</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）驱动负载能力</a:t>
            </a: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扇出系数</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grpSp>
        <p:nvGrpSpPr>
          <p:cNvPr id="368" name="Group 2"/>
          <p:cNvGrpSpPr/>
          <p:nvPr/>
        </p:nvGrpSpPr>
        <p:grpSpPr bwMode="auto">
          <a:xfrm>
            <a:off x="139700" y="2169112"/>
            <a:ext cx="6438900" cy="3975660"/>
            <a:chOff x="88" y="811"/>
            <a:chExt cx="4056" cy="3179"/>
          </a:xfrm>
        </p:grpSpPr>
        <p:grpSp>
          <p:nvGrpSpPr>
            <p:cNvPr id="369" name="Group 3"/>
            <p:cNvGrpSpPr/>
            <p:nvPr/>
          </p:nvGrpSpPr>
          <p:grpSpPr bwMode="auto">
            <a:xfrm>
              <a:off x="88" y="1770"/>
              <a:ext cx="1392" cy="612"/>
              <a:chOff x="984" y="1542"/>
              <a:chExt cx="1392" cy="612"/>
            </a:xfrm>
          </p:grpSpPr>
          <p:sp>
            <p:nvSpPr>
              <p:cNvPr id="410" name="Line 4"/>
              <p:cNvSpPr>
                <a:spLocks noChangeShapeType="1"/>
              </p:cNvSpPr>
              <p:nvPr/>
            </p:nvSpPr>
            <p:spPr bwMode="auto">
              <a:xfrm>
                <a:off x="1140" y="1914"/>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1" name="Line 5"/>
              <p:cNvSpPr>
                <a:spLocks noChangeShapeType="1"/>
              </p:cNvSpPr>
              <p:nvPr/>
            </p:nvSpPr>
            <p:spPr bwMode="auto">
              <a:xfrm flipV="1">
                <a:off x="1524" y="1542"/>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2" name="Line 6"/>
              <p:cNvSpPr>
                <a:spLocks noChangeShapeType="1"/>
              </p:cNvSpPr>
              <p:nvPr/>
            </p:nvSpPr>
            <p:spPr bwMode="auto">
              <a:xfrm flipH="1">
                <a:off x="1272" y="1914"/>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3" name="Line 7"/>
              <p:cNvSpPr>
                <a:spLocks noChangeShapeType="1"/>
              </p:cNvSpPr>
              <p:nvPr/>
            </p:nvSpPr>
            <p:spPr bwMode="auto">
              <a:xfrm flipH="1">
                <a:off x="1128" y="1914"/>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4" name="Line 8"/>
              <p:cNvSpPr>
                <a:spLocks noChangeShapeType="1"/>
              </p:cNvSpPr>
              <p:nvPr/>
            </p:nvSpPr>
            <p:spPr bwMode="auto">
              <a:xfrm flipH="1">
                <a:off x="984" y="1914"/>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5" name="Line 9"/>
              <p:cNvSpPr>
                <a:spLocks noChangeShapeType="1"/>
              </p:cNvSpPr>
              <p:nvPr/>
            </p:nvSpPr>
            <p:spPr bwMode="auto">
              <a:xfrm>
                <a:off x="1524" y="1914"/>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6" name="Line 10"/>
              <p:cNvSpPr>
                <a:spLocks noChangeShapeType="1"/>
              </p:cNvSpPr>
              <p:nvPr/>
            </p:nvSpPr>
            <p:spPr bwMode="auto">
              <a:xfrm>
                <a:off x="1812" y="2137"/>
                <a:ext cx="564"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370" name="Group 11"/>
            <p:cNvGrpSpPr/>
            <p:nvPr/>
          </p:nvGrpSpPr>
          <p:grpSpPr bwMode="auto">
            <a:xfrm>
              <a:off x="1480" y="2154"/>
              <a:ext cx="240" cy="456"/>
              <a:chOff x="2376" y="1926"/>
              <a:chExt cx="240" cy="456"/>
            </a:xfrm>
          </p:grpSpPr>
          <p:sp>
            <p:nvSpPr>
              <p:cNvPr id="407" name="Line 12"/>
              <p:cNvSpPr>
                <a:spLocks noChangeShapeType="1"/>
              </p:cNvSpPr>
              <p:nvPr/>
            </p:nvSpPr>
            <p:spPr bwMode="auto">
              <a:xfrm>
                <a:off x="2376" y="1974"/>
                <a:ext cx="0" cy="336"/>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8" name="Line 13"/>
              <p:cNvSpPr>
                <a:spLocks noChangeShapeType="1"/>
              </p:cNvSpPr>
              <p:nvPr/>
            </p:nvSpPr>
            <p:spPr bwMode="auto">
              <a:xfrm rot="16200000" flipH="1">
                <a:off x="2376" y="2142"/>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9" name="Line 14"/>
              <p:cNvSpPr>
                <a:spLocks noChangeShapeType="1"/>
              </p:cNvSpPr>
              <p:nvPr/>
            </p:nvSpPr>
            <p:spPr bwMode="auto">
              <a:xfrm flipV="1">
                <a:off x="2376" y="1926"/>
                <a:ext cx="216" cy="211"/>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71" name="Line 15"/>
            <p:cNvSpPr>
              <a:spLocks noChangeShapeType="1"/>
            </p:cNvSpPr>
            <p:nvPr/>
          </p:nvSpPr>
          <p:spPr bwMode="auto">
            <a:xfrm flipV="1">
              <a:off x="1694" y="1782"/>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2" name="Rectangle 16"/>
            <p:cNvSpPr>
              <a:spLocks noChangeArrowheads="1"/>
            </p:cNvSpPr>
            <p:nvPr/>
          </p:nvSpPr>
          <p:spPr bwMode="auto">
            <a:xfrm>
              <a:off x="1640" y="3150"/>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3" name="Rectangle 17"/>
            <p:cNvSpPr>
              <a:spLocks noChangeArrowheads="1"/>
            </p:cNvSpPr>
            <p:nvPr/>
          </p:nvSpPr>
          <p:spPr bwMode="auto">
            <a:xfrm>
              <a:off x="568" y="1345"/>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4" name="Rectangle 18"/>
            <p:cNvSpPr>
              <a:spLocks noChangeArrowheads="1"/>
            </p:cNvSpPr>
            <p:nvPr/>
          </p:nvSpPr>
          <p:spPr bwMode="auto">
            <a:xfrm>
              <a:off x="1634" y="1362"/>
              <a:ext cx="120" cy="420"/>
            </a:xfrm>
            <a:prstGeom prst="rect">
              <a:avLst/>
            </a:prstGeom>
            <a:noFill/>
            <a:ln w="38100">
              <a:solidFill>
                <a:srgbClr val="000000"/>
              </a:solidFill>
              <a:miter lim="800000"/>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5" name="Line 19"/>
            <p:cNvSpPr>
              <a:spLocks noChangeShapeType="1"/>
            </p:cNvSpPr>
            <p:nvPr/>
          </p:nvSpPr>
          <p:spPr bwMode="auto">
            <a:xfrm>
              <a:off x="628" y="1056"/>
              <a:ext cx="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6" name="Line 20"/>
            <p:cNvSpPr>
              <a:spLocks noChangeShapeType="1"/>
            </p:cNvSpPr>
            <p:nvPr/>
          </p:nvSpPr>
          <p:spPr bwMode="auto">
            <a:xfrm flipV="1">
              <a:off x="628" y="1093"/>
              <a:ext cx="0" cy="245"/>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7" name="Line 21"/>
            <p:cNvSpPr>
              <a:spLocks noChangeShapeType="1"/>
            </p:cNvSpPr>
            <p:nvPr/>
          </p:nvSpPr>
          <p:spPr bwMode="auto">
            <a:xfrm flipV="1">
              <a:off x="1694" y="1093"/>
              <a:ext cx="0" cy="269"/>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8" name="Line 22"/>
            <p:cNvSpPr>
              <a:spLocks noChangeShapeType="1"/>
            </p:cNvSpPr>
            <p:nvPr/>
          </p:nvSpPr>
          <p:spPr bwMode="auto">
            <a:xfrm>
              <a:off x="628" y="811"/>
              <a:ext cx="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9" name="Line 23"/>
            <p:cNvSpPr>
              <a:spLocks noChangeShapeType="1"/>
            </p:cNvSpPr>
            <p:nvPr/>
          </p:nvSpPr>
          <p:spPr bwMode="auto">
            <a:xfrm>
              <a:off x="622" y="1099"/>
              <a:ext cx="13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80" name="Group 24"/>
            <p:cNvGrpSpPr/>
            <p:nvPr/>
          </p:nvGrpSpPr>
          <p:grpSpPr bwMode="auto">
            <a:xfrm>
              <a:off x="2668" y="2736"/>
              <a:ext cx="240" cy="456"/>
              <a:chOff x="2376" y="1644"/>
              <a:chExt cx="240" cy="456"/>
            </a:xfrm>
          </p:grpSpPr>
          <p:sp>
            <p:nvSpPr>
              <p:cNvPr id="404" name="Line 25"/>
              <p:cNvSpPr>
                <a:spLocks noChangeShapeType="1"/>
              </p:cNvSpPr>
              <p:nvPr/>
            </p:nvSpPr>
            <p:spPr bwMode="auto">
              <a:xfrm>
                <a:off x="2376" y="1692"/>
                <a:ext cx="0" cy="33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5" name="Line 26"/>
              <p:cNvSpPr>
                <a:spLocks noChangeShapeType="1"/>
              </p:cNvSpPr>
              <p:nvPr/>
            </p:nvSpPr>
            <p:spPr bwMode="auto">
              <a:xfrm rot="16200000" flipH="1">
                <a:off x="2376" y="1860"/>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6" name="Line 27"/>
              <p:cNvSpPr>
                <a:spLocks noChangeShapeType="1"/>
              </p:cNvSpPr>
              <p:nvPr/>
            </p:nvSpPr>
            <p:spPr bwMode="auto">
              <a:xfrm flipV="1">
                <a:off x="2376" y="1644"/>
                <a:ext cx="216" cy="211"/>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81" name="Line 28"/>
            <p:cNvSpPr>
              <a:spLocks noChangeShapeType="1"/>
            </p:cNvSpPr>
            <p:nvPr/>
          </p:nvSpPr>
          <p:spPr bwMode="auto">
            <a:xfrm>
              <a:off x="1700" y="2638"/>
              <a:ext cx="0" cy="51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2" name="Line 29"/>
            <p:cNvSpPr>
              <a:spLocks noChangeShapeType="1"/>
            </p:cNvSpPr>
            <p:nvPr/>
          </p:nvSpPr>
          <p:spPr bwMode="auto">
            <a:xfrm flipH="1">
              <a:off x="1700" y="2953"/>
              <a:ext cx="96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3" name="Line 30"/>
            <p:cNvSpPr>
              <a:spLocks noChangeShapeType="1"/>
            </p:cNvSpPr>
            <p:nvPr/>
          </p:nvSpPr>
          <p:spPr bwMode="auto">
            <a:xfrm>
              <a:off x="1700" y="3564"/>
              <a:ext cx="0" cy="28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4" name="Line 31"/>
            <p:cNvSpPr>
              <a:spLocks noChangeShapeType="1"/>
            </p:cNvSpPr>
            <p:nvPr/>
          </p:nvSpPr>
          <p:spPr bwMode="auto">
            <a:xfrm flipV="1">
              <a:off x="1702" y="3822"/>
              <a:ext cx="1186"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5" name="Line 32"/>
            <p:cNvSpPr>
              <a:spLocks noChangeShapeType="1"/>
            </p:cNvSpPr>
            <p:nvPr/>
          </p:nvSpPr>
          <p:spPr bwMode="auto">
            <a:xfrm>
              <a:off x="2888" y="3180"/>
              <a:ext cx="0" cy="81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6" name="Line 33"/>
            <p:cNvSpPr>
              <a:spLocks noChangeShapeType="1"/>
            </p:cNvSpPr>
            <p:nvPr/>
          </p:nvSpPr>
          <p:spPr bwMode="auto">
            <a:xfrm>
              <a:off x="2758" y="3984"/>
              <a:ext cx="258"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7" name="Line 34"/>
            <p:cNvSpPr>
              <a:spLocks noChangeShapeType="1"/>
            </p:cNvSpPr>
            <p:nvPr/>
          </p:nvSpPr>
          <p:spPr bwMode="auto">
            <a:xfrm flipV="1">
              <a:off x="2888" y="2496"/>
              <a:ext cx="228" cy="1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8" name="Oval 35"/>
            <p:cNvSpPr>
              <a:spLocks noChangeArrowheads="1"/>
            </p:cNvSpPr>
            <p:nvPr/>
          </p:nvSpPr>
          <p:spPr bwMode="auto">
            <a:xfrm>
              <a:off x="1960" y="1026"/>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9" name="Oval 36"/>
            <p:cNvSpPr>
              <a:spLocks noChangeArrowheads="1"/>
            </p:cNvSpPr>
            <p:nvPr/>
          </p:nvSpPr>
          <p:spPr bwMode="auto">
            <a:xfrm>
              <a:off x="3112" y="2436"/>
              <a:ext cx="78" cy="101"/>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90" name="Text Box 37"/>
            <p:cNvSpPr txBox="1">
              <a:spLocks noChangeArrowheads="1"/>
            </p:cNvSpPr>
            <p:nvPr/>
          </p:nvSpPr>
          <p:spPr bwMode="auto">
            <a:xfrm>
              <a:off x="2060" y="894"/>
              <a:ext cx="7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+5V</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91" name="Text Box 38"/>
            <p:cNvSpPr txBox="1">
              <a:spLocks noChangeArrowheads="1"/>
            </p:cNvSpPr>
            <p:nvPr/>
          </p:nvSpPr>
          <p:spPr bwMode="auto">
            <a:xfrm>
              <a:off x="3676" y="2364"/>
              <a:ext cx="4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92" name="Text Box 39"/>
            <p:cNvSpPr txBox="1">
              <a:spLocks noChangeArrowheads="1"/>
            </p:cNvSpPr>
            <p:nvPr/>
          </p:nvSpPr>
          <p:spPr bwMode="auto">
            <a:xfrm>
              <a:off x="1740" y="1353"/>
              <a:ext cx="6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R</a:t>
              </a:r>
              <a:r>
                <a:rPr kumimoji="1" lang="en-US" altLang="zh-CN" sz="2800" b="1" i="1"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2</a:t>
              </a:r>
              <a:endParaRPr kumimoji="1" lang="en-US" altLang="zh-CN" sz="32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93" name="Text Box 40"/>
            <p:cNvSpPr txBox="1">
              <a:spLocks noChangeArrowheads="1"/>
            </p:cNvSpPr>
            <p:nvPr/>
          </p:nvSpPr>
          <p:spPr bwMode="auto">
            <a:xfrm>
              <a:off x="640" y="1344"/>
              <a:ext cx="6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R</a:t>
              </a:r>
              <a:r>
                <a:rPr kumimoji="1" lang="en-US" altLang="zh-CN" sz="2800" b="1" i="1" u="none" strike="noStrike" kern="0" cap="none" spc="0" normalizeH="0" baseline="-25000" noProof="0" dirty="0">
                  <a:ln>
                    <a:noFill/>
                  </a:ln>
                  <a:solidFill>
                    <a:srgbClr val="000000"/>
                  </a:solidFill>
                  <a:effectLst/>
                  <a:uLnTx/>
                  <a:uFillTx/>
                  <a:latin typeface="Times New Roman" panose="02020603050405020304" pitchFamily="18" charset="0"/>
                  <a:ea typeface="楷体_GB2312" pitchFamily="49" charset="-122"/>
                </a:rPr>
                <a:t>1</a:t>
              </a:r>
              <a:endParaRPr kumimoji="1" lang="en-US" altLang="zh-CN" sz="3200" b="1" i="1"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95" name="Text Box 42"/>
            <p:cNvSpPr txBox="1">
              <a:spLocks noChangeArrowheads="1"/>
            </p:cNvSpPr>
            <p:nvPr/>
          </p:nvSpPr>
          <p:spPr bwMode="auto">
            <a:xfrm>
              <a:off x="1672" y="2202"/>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96" name="Text Box 43"/>
            <p:cNvSpPr txBox="1">
              <a:spLocks noChangeArrowheads="1"/>
            </p:cNvSpPr>
            <p:nvPr/>
          </p:nvSpPr>
          <p:spPr bwMode="auto">
            <a:xfrm>
              <a:off x="1828" y="3216"/>
              <a:ext cx="6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R</a:t>
              </a:r>
              <a:r>
                <a:rPr kumimoji="1" lang="en-US" altLang="zh-CN" sz="28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3</a:t>
              </a:r>
              <a:endParaRPr kumimoji="1" lang="en-US" altLang="zh-CN" sz="32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97" name="Text Box 44"/>
            <p:cNvSpPr txBox="1">
              <a:spLocks noChangeArrowheads="1"/>
            </p:cNvSpPr>
            <p:nvPr/>
          </p:nvSpPr>
          <p:spPr bwMode="auto">
            <a:xfrm>
              <a:off x="472" y="2358"/>
              <a:ext cx="4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T</a:t>
              </a:r>
              <a:r>
                <a:rPr kumimoji="1" lang="en-US" altLang="zh-CN" sz="32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1</a:t>
              </a:r>
              <a:endPar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98" name="Text Box 45"/>
            <p:cNvSpPr txBox="1">
              <a:spLocks noChangeArrowheads="1"/>
            </p:cNvSpPr>
            <p:nvPr/>
          </p:nvSpPr>
          <p:spPr bwMode="auto">
            <a:xfrm>
              <a:off x="2932" y="2808"/>
              <a:ext cx="4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5</a:t>
              </a:r>
              <a:endPar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nvGrpSpPr>
            <p:cNvPr id="401" name="Group 48"/>
            <p:cNvGrpSpPr/>
            <p:nvPr/>
          </p:nvGrpSpPr>
          <p:grpSpPr bwMode="auto">
            <a:xfrm>
              <a:off x="2890" y="2502"/>
              <a:ext cx="0" cy="253"/>
              <a:chOff x="4230" y="2538"/>
              <a:chExt cx="0" cy="253"/>
            </a:xfrm>
          </p:grpSpPr>
          <p:sp>
            <p:nvSpPr>
              <p:cNvPr id="402" name="Line 49"/>
              <p:cNvSpPr>
                <a:spLocks noChangeShapeType="1"/>
              </p:cNvSpPr>
              <p:nvPr/>
            </p:nvSpPr>
            <p:spPr bwMode="auto">
              <a:xfrm flipH="1">
                <a:off x="4230" y="2538"/>
                <a:ext cx="0" cy="199"/>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3" name="Line 50"/>
              <p:cNvSpPr>
                <a:spLocks noChangeShapeType="1"/>
              </p:cNvSpPr>
              <p:nvPr/>
            </p:nvSpPr>
            <p:spPr bwMode="auto">
              <a:xfrm>
                <a:off x="4230" y="2706"/>
                <a:ext cx="0" cy="85"/>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435" name="Text Box 69"/>
          <p:cNvSpPr txBox="1">
            <a:spLocks noChangeArrowheads="1"/>
          </p:cNvSpPr>
          <p:nvPr/>
        </p:nvSpPr>
        <p:spPr bwMode="auto">
          <a:xfrm>
            <a:off x="7332470" y="6079345"/>
            <a:ext cx="901700" cy="523220"/>
          </a:xfrm>
          <a:prstGeom prst="rect">
            <a:avLst/>
          </a:prstGeom>
          <a:noFill/>
          <a:ln w="381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800" dirty="0">
                <a:solidFill>
                  <a:srgbClr val="000000"/>
                </a:solidFill>
                <a:ea typeface="楷体_GB2312" pitchFamily="49" charset="-122"/>
              </a:rPr>
              <a:t>后级</a:t>
            </a:r>
            <a:endParaRPr kumimoji="1" lang="zh-CN" altLang="en-US" sz="2800" dirty="0">
              <a:solidFill>
                <a:srgbClr val="000000"/>
              </a:solidFill>
              <a:ea typeface="楷体_GB2312" pitchFamily="49" charset="-122"/>
            </a:endParaRPr>
          </a:p>
        </p:txBody>
      </p:sp>
      <p:sp>
        <p:nvSpPr>
          <p:cNvPr id="484" name="Text Box 118"/>
          <p:cNvSpPr txBox="1">
            <a:spLocks noChangeArrowheads="1"/>
          </p:cNvSpPr>
          <p:nvPr/>
        </p:nvSpPr>
        <p:spPr bwMode="auto">
          <a:xfrm>
            <a:off x="177800" y="1684719"/>
            <a:ext cx="3685540" cy="523220"/>
          </a:xfrm>
          <a:prstGeom prst="rect">
            <a:avLst/>
          </a:prstGeom>
          <a:noFill/>
          <a:ln w="127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fontAlgn="base">
              <a:spcBef>
                <a:spcPct val="50000"/>
              </a:spcBef>
              <a:spcAft>
                <a:spcPct val="0"/>
              </a:spcAft>
              <a:defRPr kumimoji="1" sz="2800" b="1">
                <a:latin typeface="Times New Roman" panose="02020603050405020304" pitchFamily="18" charset="0"/>
                <a:ea typeface="楷体_GB2312" pitchFamily="49" charset="-122"/>
              </a:defRPr>
            </a:lvl1pPr>
            <a:lvl2pPr marL="742950" indent="-285750" eaLnBrk="0" hangingPunct="0">
              <a:defRPr b="1">
                <a:latin typeface="Times New Roman" panose="02020603050405020304" pitchFamily="18" charset="0"/>
                <a:ea typeface="宋体" panose="02010600030101010101" pitchFamily="2" charset="-122"/>
              </a:defRPr>
            </a:lvl2pPr>
            <a:lvl3pPr marL="1143000" indent="-228600" eaLnBrk="0" hangingPunct="0">
              <a:defRPr b="1">
                <a:latin typeface="Times New Roman" panose="02020603050405020304" pitchFamily="18" charset="0"/>
                <a:ea typeface="宋体" panose="02010600030101010101" pitchFamily="2" charset="-122"/>
              </a:defRPr>
            </a:lvl3pPr>
            <a:lvl4pPr marL="1600200" indent="-228600" eaLnBrk="0" hangingPunct="0">
              <a:defRPr b="1">
                <a:latin typeface="Times New Roman" panose="02020603050405020304" pitchFamily="18" charset="0"/>
                <a:ea typeface="宋体" panose="02010600030101010101" pitchFamily="2" charset="-122"/>
              </a:defRPr>
            </a:lvl4pPr>
            <a:lvl5pPr marL="2057400" indent="-228600" eaLnBrk="0" hangingPunct="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t>前级输出为低电平时：</a:t>
            </a:r>
            <a:endParaRPr lang="zh-CN" altLang="en-US" dirty="0"/>
          </a:p>
        </p:txBody>
      </p:sp>
      <p:sp>
        <p:nvSpPr>
          <p:cNvPr id="485" name="Text Box 119"/>
          <p:cNvSpPr txBox="1">
            <a:spLocks noChangeArrowheads="1"/>
          </p:cNvSpPr>
          <p:nvPr/>
        </p:nvSpPr>
        <p:spPr bwMode="auto">
          <a:xfrm>
            <a:off x="2546350" y="4624018"/>
            <a:ext cx="298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r>
              <a:rPr kumimoji="1" lang="en-US" altLang="zh-CN" sz="2000" dirty="0">
                <a:solidFill>
                  <a:srgbClr val="000000"/>
                </a:solidFill>
                <a:ea typeface="长城楷体" pitchFamily="49" charset="-122"/>
                <a:sym typeface="Symbol" panose="05050102010706020507" pitchFamily="18" charset="2"/>
              </a:rPr>
              <a:t></a:t>
            </a:r>
            <a:endParaRPr kumimoji="1" lang="en-US" altLang="zh-CN" sz="2000" dirty="0">
              <a:solidFill>
                <a:srgbClr val="000000"/>
              </a:solidFill>
              <a:ea typeface="长城楷体" pitchFamily="49" charset="-122"/>
            </a:endParaRPr>
          </a:p>
        </p:txBody>
      </p:sp>
      <p:sp>
        <p:nvSpPr>
          <p:cNvPr id="486" name="Text Box 120"/>
          <p:cNvSpPr txBox="1">
            <a:spLocks noChangeArrowheads="1"/>
          </p:cNvSpPr>
          <p:nvPr/>
        </p:nvSpPr>
        <p:spPr bwMode="auto">
          <a:xfrm>
            <a:off x="2530475" y="2318979"/>
            <a:ext cx="298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r>
              <a:rPr kumimoji="1" lang="en-US" altLang="zh-CN" sz="2000" dirty="0">
                <a:solidFill>
                  <a:srgbClr val="000000"/>
                </a:solidFill>
                <a:ea typeface="长城楷体" pitchFamily="49" charset="-122"/>
                <a:sym typeface="Symbol" panose="05050102010706020507" pitchFamily="18" charset="2"/>
              </a:rPr>
              <a:t></a:t>
            </a:r>
            <a:endParaRPr kumimoji="1" lang="en-US" altLang="zh-CN" sz="2000" dirty="0">
              <a:solidFill>
                <a:srgbClr val="000000"/>
              </a:solidFill>
              <a:ea typeface="长城楷体" pitchFamily="49" charset="-122"/>
            </a:endParaRPr>
          </a:p>
        </p:txBody>
      </p:sp>
      <p:sp>
        <p:nvSpPr>
          <p:cNvPr id="487" name="Text Box 121"/>
          <p:cNvSpPr txBox="1">
            <a:spLocks noChangeArrowheads="1"/>
          </p:cNvSpPr>
          <p:nvPr/>
        </p:nvSpPr>
        <p:spPr bwMode="auto">
          <a:xfrm>
            <a:off x="4425950" y="5861050"/>
            <a:ext cx="298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r>
              <a:rPr kumimoji="1" lang="en-US" altLang="zh-CN" sz="2000">
                <a:solidFill>
                  <a:srgbClr val="000000"/>
                </a:solidFill>
                <a:ea typeface="长城楷体" pitchFamily="49" charset="-122"/>
                <a:sym typeface="Symbol" panose="05050102010706020507" pitchFamily="18" charset="2"/>
              </a:rPr>
              <a:t></a:t>
            </a:r>
            <a:endParaRPr kumimoji="1" lang="en-US" altLang="zh-CN" sz="2000">
              <a:solidFill>
                <a:srgbClr val="000000"/>
              </a:solidFill>
              <a:ea typeface="长城楷体" pitchFamily="49" charset="-122"/>
            </a:endParaRPr>
          </a:p>
        </p:txBody>
      </p:sp>
      <p:sp>
        <p:nvSpPr>
          <p:cNvPr id="417" name="Line 51"/>
          <p:cNvSpPr>
            <a:spLocks noChangeShapeType="1"/>
          </p:cNvSpPr>
          <p:nvPr/>
        </p:nvSpPr>
        <p:spPr bwMode="auto">
          <a:xfrm>
            <a:off x="8331199" y="2422014"/>
            <a:ext cx="0"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418" name="Group 52"/>
          <p:cNvGrpSpPr/>
          <p:nvPr/>
        </p:nvGrpSpPr>
        <p:grpSpPr bwMode="auto">
          <a:xfrm>
            <a:off x="6699249" y="3056128"/>
            <a:ext cx="2127250" cy="1576477"/>
            <a:chOff x="3748" y="1701"/>
            <a:chExt cx="1340" cy="1074"/>
          </a:xfrm>
        </p:grpSpPr>
        <p:sp>
          <p:nvSpPr>
            <p:cNvPr id="419" name="Line 53"/>
            <p:cNvSpPr>
              <a:spLocks noChangeShapeType="1"/>
            </p:cNvSpPr>
            <p:nvPr/>
          </p:nvSpPr>
          <p:spPr bwMode="auto">
            <a:xfrm>
              <a:off x="4392" y="2073"/>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0" name="Line 54"/>
            <p:cNvSpPr>
              <a:spLocks noChangeShapeType="1"/>
            </p:cNvSpPr>
            <p:nvPr/>
          </p:nvSpPr>
          <p:spPr bwMode="auto">
            <a:xfrm flipV="1">
              <a:off x="4776" y="1701"/>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1" name="Line 55"/>
            <p:cNvSpPr>
              <a:spLocks noChangeShapeType="1"/>
            </p:cNvSpPr>
            <p:nvPr/>
          </p:nvSpPr>
          <p:spPr bwMode="auto">
            <a:xfrm flipH="1">
              <a:off x="4524"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2" name="Line 56"/>
            <p:cNvSpPr>
              <a:spLocks noChangeShapeType="1"/>
            </p:cNvSpPr>
            <p:nvPr/>
          </p:nvSpPr>
          <p:spPr bwMode="auto">
            <a:xfrm flipH="1">
              <a:off x="4380"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3" name="Line 57"/>
            <p:cNvSpPr>
              <a:spLocks noChangeShapeType="1"/>
            </p:cNvSpPr>
            <p:nvPr/>
          </p:nvSpPr>
          <p:spPr bwMode="auto">
            <a:xfrm flipH="1">
              <a:off x="4236"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4" name="Line 58"/>
            <p:cNvSpPr>
              <a:spLocks noChangeShapeType="1"/>
            </p:cNvSpPr>
            <p:nvPr/>
          </p:nvSpPr>
          <p:spPr bwMode="auto">
            <a:xfrm>
              <a:off x="4776" y="2073"/>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5" name="Line 59"/>
            <p:cNvSpPr>
              <a:spLocks noChangeShapeType="1"/>
            </p:cNvSpPr>
            <p:nvPr/>
          </p:nvSpPr>
          <p:spPr bwMode="auto">
            <a:xfrm flipH="1" flipV="1">
              <a:off x="3868" y="2283"/>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6" name="Line 60"/>
            <p:cNvSpPr>
              <a:spLocks noChangeShapeType="1"/>
            </p:cNvSpPr>
            <p:nvPr/>
          </p:nvSpPr>
          <p:spPr bwMode="auto">
            <a:xfrm>
              <a:off x="4392" y="2289"/>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7" name="Line 61"/>
            <p:cNvSpPr>
              <a:spLocks noChangeShapeType="1"/>
            </p:cNvSpPr>
            <p:nvPr/>
          </p:nvSpPr>
          <p:spPr bwMode="auto">
            <a:xfrm flipH="1">
              <a:off x="3880" y="2505"/>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8" name="Line 62"/>
            <p:cNvSpPr>
              <a:spLocks noChangeShapeType="1"/>
            </p:cNvSpPr>
            <p:nvPr/>
          </p:nvSpPr>
          <p:spPr bwMode="auto">
            <a:xfrm flipH="1">
              <a:off x="4536" y="2301"/>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9" name="Line 63"/>
            <p:cNvSpPr>
              <a:spLocks noChangeShapeType="1"/>
            </p:cNvSpPr>
            <p:nvPr/>
          </p:nvSpPr>
          <p:spPr bwMode="auto">
            <a:xfrm flipH="1">
              <a:off x="3892" y="2709"/>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30" name="Oval 64"/>
            <p:cNvSpPr>
              <a:spLocks noChangeArrowheads="1"/>
            </p:cNvSpPr>
            <p:nvPr/>
          </p:nvSpPr>
          <p:spPr bwMode="auto">
            <a:xfrm>
              <a:off x="3748" y="2217"/>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1" name="Oval 65"/>
            <p:cNvSpPr>
              <a:spLocks noChangeArrowheads="1"/>
            </p:cNvSpPr>
            <p:nvPr/>
          </p:nvSpPr>
          <p:spPr bwMode="auto">
            <a:xfrm>
              <a:off x="3760" y="243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2" name="Oval 66"/>
            <p:cNvSpPr>
              <a:spLocks noChangeArrowheads="1"/>
            </p:cNvSpPr>
            <p:nvPr/>
          </p:nvSpPr>
          <p:spPr bwMode="auto">
            <a:xfrm>
              <a:off x="3766" y="264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433" name="Text Box 67"/>
          <p:cNvSpPr txBox="1">
            <a:spLocks noChangeArrowheads="1"/>
          </p:cNvSpPr>
          <p:nvPr/>
        </p:nvSpPr>
        <p:spPr bwMode="auto">
          <a:xfrm>
            <a:off x="6203949" y="3973537"/>
            <a:ext cx="704850" cy="47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endParaRPr kumimoji="1" lang="zh-CN" altLang="zh-CN" sz="2800">
              <a:solidFill>
                <a:srgbClr val="000000"/>
              </a:solidFill>
              <a:ea typeface="楷体_GB2312" pitchFamily="49" charset="-122"/>
            </a:endParaRPr>
          </a:p>
        </p:txBody>
      </p:sp>
      <p:sp>
        <p:nvSpPr>
          <p:cNvPr id="434" name="Text Box 68"/>
          <p:cNvSpPr txBox="1">
            <a:spLocks noChangeArrowheads="1"/>
          </p:cNvSpPr>
          <p:nvPr/>
        </p:nvSpPr>
        <p:spPr bwMode="auto">
          <a:xfrm>
            <a:off x="6203949" y="4308208"/>
            <a:ext cx="704850" cy="47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endParaRPr kumimoji="1" lang="zh-CN" altLang="zh-CN" sz="2800">
              <a:solidFill>
                <a:srgbClr val="000000"/>
              </a:solidFill>
              <a:ea typeface="楷体_GB2312" pitchFamily="49" charset="-122"/>
            </a:endParaRPr>
          </a:p>
        </p:txBody>
      </p:sp>
      <p:sp>
        <p:nvSpPr>
          <p:cNvPr id="436" name="Line 70"/>
          <p:cNvSpPr>
            <a:spLocks noChangeShapeType="1"/>
          </p:cNvSpPr>
          <p:nvPr/>
        </p:nvSpPr>
        <p:spPr bwMode="auto">
          <a:xfrm>
            <a:off x="5073649" y="4223072"/>
            <a:ext cx="857250"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grpSp>
        <p:nvGrpSpPr>
          <p:cNvPr id="437" name="Group 71"/>
          <p:cNvGrpSpPr/>
          <p:nvPr/>
        </p:nvGrpSpPr>
        <p:grpSpPr bwMode="auto">
          <a:xfrm>
            <a:off x="6699249" y="4427104"/>
            <a:ext cx="2127250" cy="1576477"/>
            <a:chOff x="3748" y="1701"/>
            <a:chExt cx="1340" cy="1074"/>
          </a:xfrm>
        </p:grpSpPr>
        <p:sp>
          <p:nvSpPr>
            <p:cNvPr id="438" name="Line 72"/>
            <p:cNvSpPr>
              <a:spLocks noChangeShapeType="1"/>
            </p:cNvSpPr>
            <p:nvPr/>
          </p:nvSpPr>
          <p:spPr bwMode="auto">
            <a:xfrm>
              <a:off x="4392" y="2073"/>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39" name="Line 73"/>
            <p:cNvSpPr>
              <a:spLocks noChangeShapeType="1"/>
            </p:cNvSpPr>
            <p:nvPr/>
          </p:nvSpPr>
          <p:spPr bwMode="auto">
            <a:xfrm flipV="1">
              <a:off x="4776" y="1701"/>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0" name="Line 74"/>
            <p:cNvSpPr>
              <a:spLocks noChangeShapeType="1"/>
            </p:cNvSpPr>
            <p:nvPr/>
          </p:nvSpPr>
          <p:spPr bwMode="auto">
            <a:xfrm flipH="1">
              <a:off x="4524"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1" name="Line 75"/>
            <p:cNvSpPr>
              <a:spLocks noChangeShapeType="1"/>
            </p:cNvSpPr>
            <p:nvPr/>
          </p:nvSpPr>
          <p:spPr bwMode="auto">
            <a:xfrm flipH="1">
              <a:off x="4380"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2" name="Line 76"/>
            <p:cNvSpPr>
              <a:spLocks noChangeShapeType="1"/>
            </p:cNvSpPr>
            <p:nvPr/>
          </p:nvSpPr>
          <p:spPr bwMode="auto">
            <a:xfrm flipH="1">
              <a:off x="4236"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3" name="Line 77"/>
            <p:cNvSpPr>
              <a:spLocks noChangeShapeType="1"/>
            </p:cNvSpPr>
            <p:nvPr/>
          </p:nvSpPr>
          <p:spPr bwMode="auto">
            <a:xfrm>
              <a:off x="4776" y="2073"/>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4" name="Line 78"/>
            <p:cNvSpPr>
              <a:spLocks noChangeShapeType="1"/>
            </p:cNvSpPr>
            <p:nvPr/>
          </p:nvSpPr>
          <p:spPr bwMode="auto">
            <a:xfrm flipH="1" flipV="1">
              <a:off x="3868" y="2283"/>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5" name="Line 79"/>
            <p:cNvSpPr>
              <a:spLocks noChangeShapeType="1"/>
            </p:cNvSpPr>
            <p:nvPr/>
          </p:nvSpPr>
          <p:spPr bwMode="auto">
            <a:xfrm>
              <a:off x="4392" y="2289"/>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6" name="Line 80"/>
            <p:cNvSpPr>
              <a:spLocks noChangeShapeType="1"/>
            </p:cNvSpPr>
            <p:nvPr/>
          </p:nvSpPr>
          <p:spPr bwMode="auto">
            <a:xfrm flipH="1">
              <a:off x="3880" y="2505"/>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7" name="Line 81"/>
            <p:cNvSpPr>
              <a:spLocks noChangeShapeType="1"/>
            </p:cNvSpPr>
            <p:nvPr/>
          </p:nvSpPr>
          <p:spPr bwMode="auto">
            <a:xfrm flipH="1">
              <a:off x="4536" y="2301"/>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8" name="Line 82"/>
            <p:cNvSpPr>
              <a:spLocks noChangeShapeType="1"/>
            </p:cNvSpPr>
            <p:nvPr/>
          </p:nvSpPr>
          <p:spPr bwMode="auto">
            <a:xfrm flipH="1">
              <a:off x="3892" y="2709"/>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9" name="Oval 83"/>
            <p:cNvSpPr>
              <a:spLocks noChangeArrowheads="1"/>
            </p:cNvSpPr>
            <p:nvPr/>
          </p:nvSpPr>
          <p:spPr bwMode="auto">
            <a:xfrm>
              <a:off x="3748" y="2217"/>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0" name="Oval 84"/>
            <p:cNvSpPr>
              <a:spLocks noChangeArrowheads="1"/>
            </p:cNvSpPr>
            <p:nvPr/>
          </p:nvSpPr>
          <p:spPr bwMode="auto">
            <a:xfrm>
              <a:off x="3760" y="243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1" name="Oval 85"/>
            <p:cNvSpPr>
              <a:spLocks noChangeArrowheads="1"/>
            </p:cNvSpPr>
            <p:nvPr/>
          </p:nvSpPr>
          <p:spPr bwMode="auto">
            <a:xfrm>
              <a:off x="3766" y="264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452" name="Group 86"/>
          <p:cNvGrpSpPr/>
          <p:nvPr/>
        </p:nvGrpSpPr>
        <p:grpSpPr bwMode="auto">
          <a:xfrm>
            <a:off x="6699249" y="1682215"/>
            <a:ext cx="2127250" cy="1576477"/>
            <a:chOff x="3748" y="1701"/>
            <a:chExt cx="1340" cy="1074"/>
          </a:xfrm>
        </p:grpSpPr>
        <p:sp>
          <p:nvSpPr>
            <p:cNvPr id="453" name="Line 87"/>
            <p:cNvSpPr>
              <a:spLocks noChangeShapeType="1"/>
            </p:cNvSpPr>
            <p:nvPr/>
          </p:nvSpPr>
          <p:spPr bwMode="auto">
            <a:xfrm>
              <a:off x="4392" y="2073"/>
              <a:ext cx="600" cy="0"/>
            </a:xfrm>
            <a:prstGeom prst="line">
              <a:avLst/>
            </a:prstGeom>
            <a:noFill/>
            <a:ln w="5715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4" name="Line 88"/>
            <p:cNvSpPr>
              <a:spLocks noChangeShapeType="1"/>
            </p:cNvSpPr>
            <p:nvPr/>
          </p:nvSpPr>
          <p:spPr bwMode="auto">
            <a:xfrm flipV="1">
              <a:off x="4776" y="1701"/>
              <a:ext cx="0" cy="372"/>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5" name="Line 89"/>
            <p:cNvSpPr>
              <a:spLocks noChangeShapeType="1"/>
            </p:cNvSpPr>
            <p:nvPr/>
          </p:nvSpPr>
          <p:spPr bwMode="auto">
            <a:xfrm flipH="1">
              <a:off x="4524"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6" name="Line 90"/>
            <p:cNvSpPr>
              <a:spLocks noChangeShapeType="1"/>
            </p:cNvSpPr>
            <p:nvPr/>
          </p:nvSpPr>
          <p:spPr bwMode="auto">
            <a:xfrm flipH="1">
              <a:off x="4380"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7" name="Line 91"/>
            <p:cNvSpPr>
              <a:spLocks noChangeShapeType="1"/>
            </p:cNvSpPr>
            <p:nvPr/>
          </p:nvSpPr>
          <p:spPr bwMode="auto">
            <a:xfrm flipH="1">
              <a:off x="4236" y="2073"/>
              <a:ext cx="240" cy="240"/>
            </a:xfrm>
            <a:prstGeom prst="line">
              <a:avLst/>
            </a:prstGeom>
            <a:noFill/>
            <a:ln w="381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8" name="Line 92"/>
            <p:cNvSpPr>
              <a:spLocks noChangeShapeType="1"/>
            </p:cNvSpPr>
            <p:nvPr/>
          </p:nvSpPr>
          <p:spPr bwMode="auto">
            <a:xfrm>
              <a:off x="4776" y="2073"/>
              <a:ext cx="312" cy="223"/>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9" name="Line 93"/>
            <p:cNvSpPr>
              <a:spLocks noChangeShapeType="1"/>
            </p:cNvSpPr>
            <p:nvPr/>
          </p:nvSpPr>
          <p:spPr bwMode="auto">
            <a:xfrm flipH="1" flipV="1">
              <a:off x="3868" y="2283"/>
              <a:ext cx="404" cy="6"/>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0" name="Line 94"/>
            <p:cNvSpPr>
              <a:spLocks noChangeShapeType="1"/>
            </p:cNvSpPr>
            <p:nvPr/>
          </p:nvSpPr>
          <p:spPr bwMode="auto">
            <a:xfrm>
              <a:off x="4392" y="2289"/>
              <a:ext cx="0" cy="228"/>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1" name="Line 95"/>
            <p:cNvSpPr>
              <a:spLocks noChangeShapeType="1"/>
            </p:cNvSpPr>
            <p:nvPr/>
          </p:nvSpPr>
          <p:spPr bwMode="auto">
            <a:xfrm flipH="1">
              <a:off x="3880" y="2505"/>
              <a:ext cx="512"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2" name="Line 96"/>
            <p:cNvSpPr>
              <a:spLocks noChangeShapeType="1"/>
            </p:cNvSpPr>
            <p:nvPr/>
          </p:nvSpPr>
          <p:spPr bwMode="auto">
            <a:xfrm flipH="1">
              <a:off x="4536" y="2301"/>
              <a:ext cx="0" cy="42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3" name="Line 97"/>
            <p:cNvSpPr>
              <a:spLocks noChangeShapeType="1"/>
            </p:cNvSpPr>
            <p:nvPr/>
          </p:nvSpPr>
          <p:spPr bwMode="auto">
            <a:xfrm flipH="1">
              <a:off x="3892" y="2709"/>
              <a:ext cx="656" cy="0"/>
            </a:xfrm>
            <a:prstGeom prst="line">
              <a:avLst/>
            </a:prstGeom>
            <a:noFill/>
            <a:ln w="38100">
              <a:solidFill>
                <a:srgbClr val="000000"/>
              </a:solidFill>
              <a:round/>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4" name="Oval 98"/>
            <p:cNvSpPr>
              <a:spLocks noChangeArrowheads="1"/>
            </p:cNvSpPr>
            <p:nvPr/>
          </p:nvSpPr>
          <p:spPr bwMode="auto">
            <a:xfrm>
              <a:off x="3748" y="2217"/>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5" name="Oval 99"/>
            <p:cNvSpPr>
              <a:spLocks noChangeArrowheads="1"/>
            </p:cNvSpPr>
            <p:nvPr/>
          </p:nvSpPr>
          <p:spPr bwMode="auto">
            <a:xfrm>
              <a:off x="3760" y="243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6" name="Oval 100"/>
            <p:cNvSpPr>
              <a:spLocks noChangeArrowheads="1"/>
            </p:cNvSpPr>
            <p:nvPr/>
          </p:nvSpPr>
          <p:spPr bwMode="auto">
            <a:xfrm>
              <a:off x="3766" y="2643"/>
              <a:ext cx="120" cy="132"/>
            </a:xfrm>
            <a:prstGeom prst="ellipse">
              <a:avLst/>
            </a:prstGeom>
            <a:noFill/>
            <a:ln w="38100">
              <a:solidFill>
                <a:srgbClr val="000000"/>
              </a:solidFill>
              <a:round/>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467" name="Line 101"/>
          <p:cNvSpPr>
            <a:spLocks noChangeShapeType="1"/>
          </p:cNvSpPr>
          <p:nvPr/>
        </p:nvSpPr>
        <p:spPr bwMode="auto">
          <a:xfrm>
            <a:off x="5918199" y="2866774"/>
            <a:ext cx="793750"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68" name="Line 102"/>
          <p:cNvSpPr>
            <a:spLocks noChangeShapeType="1"/>
          </p:cNvSpPr>
          <p:nvPr/>
        </p:nvSpPr>
        <p:spPr bwMode="auto">
          <a:xfrm>
            <a:off x="5918199" y="4223072"/>
            <a:ext cx="793750"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69" name="Line 103"/>
          <p:cNvSpPr>
            <a:spLocks noChangeShapeType="1"/>
          </p:cNvSpPr>
          <p:nvPr/>
        </p:nvSpPr>
        <p:spPr bwMode="auto">
          <a:xfrm>
            <a:off x="5918199" y="5614599"/>
            <a:ext cx="793750" cy="0"/>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70" name="Line 104"/>
          <p:cNvSpPr>
            <a:spLocks noChangeShapeType="1"/>
          </p:cNvSpPr>
          <p:nvPr/>
        </p:nvSpPr>
        <p:spPr bwMode="auto">
          <a:xfrm>
            <a:off x="5918199" y="2849160"/>
            <a:ext cx="0" cy="2765439"/>
          </a:xfrm>
          <a:prstGeom prst="line">
            <a:avLst/>
          </a:prstGeom>
          <a:noFill/>
          <a:ln w="38100">
            <a:solidFill>
              <a:srgbClr val="FF0000"/>
            </a:solidFill>
            <a:round/>
            <a:tailEnd type="non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grpSp>
        <p:nvGrpSpPr>
          <p:cNvPr id="471" name="Group 105"/>
          <p:cNvGrpSpPr/>
          <p:nvPr/>
        </p:nvGrpSpPr>
        <p:grpSpPr bwMode="auto">
          <a:xfrm>
            <a:off x="4594224" y="3456852"/>
            <a:ext cx="996950" cy="616499"/>
            <a:chOff x="2914" y="1974"/>
            <a:chExt cx="628" cy="420"/>
          </a:xfrm>
        </p:grpSpPr>
        <p:sp>
          <p:nvSpPr>
            <p:cNvPr id="472" name="Line 106"/>
            <p:cNvSpPr>
              <a:spLocks noChangeShapeType="1"/>
            </p:cNvSpPr>
            <p:nvPr/>
          </p:nvSpPr>
          <p:spPr bwMode="auto">
            <a:xfrm flipH="1">
              <a:off x="2962" y="2394"/>
              <a:ext cx="396"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73" name="Text Box 107"/>
            <p:cNvSpPr txBox="1">
              <a:spLocks noChangeArrowheads="1"/>
            </p:cNvSpPr>
            <p:nvPr/>
          </p:nvSpPr>
          <p:spPr bwMode="auto">
            <a:xfrm>
              <a:off x="2914" y="1974"/>
              <a:ext cx="6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3200" i="1" dirty="0">
                  <a:solidFill>
                    <a:srgbClr val="333399"/>
                  </a:solidFill>
                  <a:ea typeface="楷体_GB2312" pitchFamily="49" charset="-122"/>
                </a:rPr>
                <a:t>I</a:t>
              </a:r>
              <a:r>
                <a:rPr kumimoji="1" lang="en-US" altLang="zh-CN" sz="3200" i="1" baseline="-25000" dirty="0">
                  <a:solidFill>
                    <a:srgbClr val="333399"/>
                  </a:solidFill>
                  <a:ea typeface="楷体_GB2312" pitchFamily="49" charset="-122"/>
                </a:rPr>
                <a:t>OL</a:t>
              </a:r>
              <a:endParaRPr kumimoji="1" lang="en-US" altLang="zh-CN" sz="3200" i="1" dirty="0">
                <a:solidFill>
                  <a:srgbClr val="000000"/>
                </a:solidFill>
                <a:ea typeface="楷体_GB2312" pitchFamily="49" charset="-122"/>
              </a:endParaRPr>
            </a:p>
          </p:txBody>
        </p:sp>
      </p:grpSp>
      <p:grpSp>
        <p:nvGrpSpPr>
          <p:cNvPr id="474" name="Group 108"/>
          <p:cNvGrpSpPr/>
          <p:nvPr/>
        </p:nvGrpSpPr>
        <p:grpSpPr bwMode="auto">
          <a:xfrm>
            <a:off x="5835649" y="2056518"/>
            <a:ext cx="996950" cy="598885"/>
            <a:chOff x="3696" y="1020"/>
            <a:chExt cx="628" cy="408"/>
          </a:xfrm>
        </p:grpSpPr>
        <p:sp>
          <p:nvSpPr>
            <p:cNvPr id="475" name="Line 109"/>
            <p:cNvSpPr>
              <a:spLocks noChangeShapeType="1"/>
            </p:cNvSpPr>
            <p:nvPr/>
          </p:nvSpPr>
          <p:spPr bwMode="auto">
            <a:xfrm flipH="1">
              <a:off x="3748" y="1428"/>
              <a:ext cx="332"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76" name="Text Box 110"/>
            <p:cNvSpPr txBox="1">
              <a:spLocks noChangeArrowheads="1"/>
            </p:cNvSpPr>
            <p:nvPr/>
          </p:nvSpPr>
          <p:spPr bwMode="auto">
            <a:xfrm>
              <a:off x="3696" y="1020"/>
              <a:ext cx="6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3200" i="1" dirty="0">
                  <a:solidFill>
                    <a:srgbClr val="333399"/>
                  </a:solidFill>
                  <a:ea typeface="楷体_GB2312" pitchFamily="49" charset="-122"/>
                </a:rPr>
                <a:t>I</a:t>
              </a:r>
              <a:r>
                <a:rPr kumimoji="1" lang="en-US" altLang="zh-CN" sz="3200" i="1" baseline="-25000" dirty="0">
                  <a:solidFill>
                    <a:srgbClr val="333399"/>
                  </a:solidFill>
                  <a:ea typeface="楷体_GB2312" pitchFamily="49" charset="-122"/>
                </a:rPr>
                <a:t>iL1</a:t>
              </a:r>
              <a:endParaRPr kumimoji="1" lang="en-US" altLang="zh-CN" sz="3200" i="1" dirty="0">
                <a:solidFill>
                  <a:srgbClr val="000000"/>
                </a:solidFill>
                <a:ea typeface="楷体_GB2312" pitchFamily="49" charset="-122"/>
              </a:endParaRPr>
            </a:p>
          </p:txBody>
        </p:sp>
      </p:grpSp>
      <p:grpSp>
        <p:nvGrpSpPr>
          <p:cNvPr id="477" name="Group 111"/>
          <p:cNvGrpSpPr/>
          <p:nvPr/>
        </p:nvGrpSpPr>
        <p:grpSpPr bwMode="auto">
          <a:xfrm>
            <a:off x="5918199" y="3412816"/>
            <a:ext cx="996950" cy="670810"/>
            <a:chOff x="3748" y="1944"/>
            <a:chExt cx="628" cy="457"/>
          </a:xfrm>
        </p:grpSpPr>
        <p:sp>
          <p:nvSpPr>
            <p:cNvPr id="478" name="Text Box 112"/>
            <p:cNvSpPr txBox="1">
              <a:spLocks noChangeArrowheads="1"/>
            </p:cNvSpPr>
            <p:nvPr/>
          </p:nvSpPr>
          <p:spPr bwMode="auto">
            <a:xfrm>
              <a:off x="3928" y="2074"/>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endParaRPr kumimoji="1" lang="zh-CN" altLang="zh-CN" sz="2800">
                <a:solidFill>
                  <a:srgbClr val="000000"/>
                </a:solidFill>
                <a:ea typeface="楷体_GB2312" pitchFamily="49" charset="-122"/>
              </a:endParaRPr>
            </a:p>
          </p:txBody>
        </p:sp>
        <p:sp>
          <p:nvSpPr>
            <p:cNvPr id="479" name="Line 113"/>
            <p:cNvSpPr>
              <a:spLocks noChangeShapeType="1"/>
            </p:cNvSpPr>
            <p:nvPr/>
          </p:nvSpPr>
          <p:spPr bwMode="auto">
            <a:xfrm flipH="1">
              <a:off x="3796" y="2376"/>
              <a:ext cx="332"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80" name="Text Box 114"/>
            <p:cNvSpPr txBox="1">
              <a:spLocks noChangeArrowheads="1"/>
            </p:cNvSpPr>
            <p:nvPr/>
          </p:nvSpPr>
          <p:spPr bwMode="auto">
            <a:xfrm>
              <a:off x="3748" y="1944"/>
              <a:ext cx="6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3200" i="1" dirty="0">
                  <a:solidFill>
                    <a:srgbClr val="333399"/>
                  </a:solidFill>
                  <a:ea typeface="楷体_GB2312" pitchFamily="49" charset="-122"/>
                </a:rPr>
                <a:t>I</a:t>
              </a:r>
              <a:r>
                <a:rPr kumimoji="1" lang="en-US" altLang="zh-CN" sz="3200" i="1" baseline="-25000" dirty="0">
                  <a:solidFill>
                    <a:srgbClr val="333399"/>
                  </a:solidFill>
                  <a:ea typeface="楷体_GB2312" pitchFamily="49" charset="-122"/>
                </a:rPr>
                <a:t>iL2</a:t>
              </a:r>
              <a:endParaRPr kumimoji="1" lang="en-US" altLang="zh-CN" sz="3200" i="1" dirty="0">
                <a:solidFill>
                  <a:srgbClr val="000000"/>
                </a:solidFill>
                <a:ea typeface="楷体_GB2312" pitchFamily="49" charset="-122"/>
              </a:endParaRPr>
            </a:p>
          </p:txBody>
        </p:sp>
      </p:grpSp>
      <p:grpSp>
        <p:nvGrpSpPr>
          <p:cNvPr id="481" name="Group 115"/>
          <p:cNvGrpSpPr/>
          <p:nvPr/>
        </p:nvGrpSpPr>
        <p:grpSpPr bwMode="auto">
          <a:xfrm>
            <a:off x="5918199" y="4839571"/>
            <a:ext cx="996950" cy="616499"/>
            <a:chOff x="3748" y="2916"/>
            <a:chExt cx="628" cy="420"/>
          </a:xfrm>
        </p:grpSpPr>
        <p:sp>
          <p:nvSpPr>
            <p:cNvPr id="482" name="Line 116"/>
            <p:cNvSpPr>
              <a:spLocks noChangeShapeType="1"/>
            </p:cNvSpPr>
            <p:nvPr/>
          </p:nvSpPr>
          <p:spPr bwMode="auto">
            <a:xfrm flipH="1">
              <a:off x="3772" y="3336"/>
              <a:ext cx="332"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b="1">
                <a:solidFill>
                  <a:srgbClr val="000000"/>
                </a:solidFill>
                <a:latin typeface="Times New Roman" panose="02020603050405020304" pitchFamily="18" charset="0"/>
              </a:endParaRPr>
            </a:p>
          </p:txBody>
        </p:sp>
        <p:sp>
          <p:nvSpPr>
            <p:cNvPr id="483" name="Text Box 117"/>
            <p:cNvSpPr txBox="1">
              <a:spLocks noChangeArrowheads="1"/>
            </p:cNvSpPr>
            <p:nvPr/>
          </p:nvSpPr>
          <p:spPr bwMode="auto">
            <a:xfrm>
              <a:off x="3748" y="2916"/>
              <a:ext cx="6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3200" i="1" dirty="0">
                  <a:solidFill>
                    <a:srgbClr val="333399"/>
                  </a:solidFill>
                  <a:ea typeface="楷体_GB2312" pitchFamily="49" charset="-122"/>
                </a:rPr>
                <a:t>I</a:t>
              </a:r>
              <a:r>
                <a:rPr kumimoji="1" lang="en-US" altLang="zh-CN" sz="3200" i="1" baseline="-25000" dirty="0">
                  <a:solidFill>
                    <a:srgbClr val="333399"/>
                  </a:solidFill>
                  <a:ea typeface="楷体_GB2312" pitchFamily="49" charset="-122"/>
                </a:rPr>
                <a:t>iL3</a:t>
              </a:r>
              <a:endParaRPr kumimoji="1" lang="en-US" altLang="zh-CN" sz="3200" i="1" dirty="0">
                <a:solidFill>
                  <a:srgbClr val="000000"/>
                </a:solidFill>
                <a:ea typeface="楷体_GB2312" pitchFamily="49" charset="-122"/>
              </a:endParaRPr>
            </a:p>
          </p:txBody>
        </p:sp>
      </p:grpSp>
      <p:sp>
        <p:nvSpPr>
          <p:cNvPr id="488" name="Text Box 122"/>
          <p:cNvSpPr txBox="1">
            <a:spLocks noChangeArrowheads="1"/>
          </p:cNvSpPr>
          <p:nvPr/>
        </p:nvSpPr>
        <p:spPr bwMode="auto">
          <a:xfrm>
            <a:off x="5754687" y="4013169"/>
            <a:ext cx="298450" cy="36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r>
              <a:rPr kumimoji="1" lang="en-US" altLang="zh-CN" sz="2000">
                <a:solidFill>
                  <a:srgbClr val="FF0000"/>
                </a:solidFill>
                <a:ea typeface="长城楷体" pitchFamily="49" charset="-122"/>
                <a:sym typeface="Symbol" panose="05050102010706020507" pitchFamily="18" charset="2"/>
              </a:rPr>
              <a:t></a:t>
            </a:r>
            <a:endParaRPr kumimoji="1" lang="en-US" altLang="zh-CN" sz="2000">
              <a:solidFill>
                <a:srgbClr val="FF0000"/>
              </a:solidFill>
              <a:ea typeface="长城楷体" pitchFamily="49" charset="-122"/>
            </a:endParaRPr>
          </a:p>
        </p:txBody>
      </p:sp>
      <p:sp>
        <p:nvSpPr>
          <p:cNvPr id="489" name="Text Box 123"/>
          <p:cNvSpPr txBox="1">
            <a:spLocks noChangeArrowheads="1"/>
          </p:cNvSpPr>
          <p:nvPr/>
        </p:nvSpPr>
        <p:spPr bwMode="auto">
          <a:xfrm>
            <a:off x="344423" y="6332362"/>
            <a:ext cx="6147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400" dirty="0">
                <a:solidFill>
                  <a:srgbClr val="000000"/>
                </a:solidFill>
                <a:latin typeface="黑体" panose="02010609060101010101" pitchFamily="49" charset="-122"/>
                <a:ea typeface="黑体" panose="02010609060101010101" pitchFamily="49" charset="-122"/>
              </a:rPr>
              <a:t>输出低电平时，流入前级的电流称为</a:t>
            </a:r>
            <a:r>
              <a:rPr kumimoji="1" lang="zh-CN" altLang="en-US" sz="2400" dirty="0">
                <a:solidFill>
                  <a:srgbClr val="0000FF"/>
                </a:solidFill>
                <a:latin typeface="黑体" panose="02010609060101010101" pitchFamily="49" charset="-122"/>
                <a:ea typeface="黑体" panose="02010609060101010101" pitchFamily="49" charset="-122"/>
              </a:rPr>
              <a:t>灌电流</a:t>
            </a:r>
            <a:r>
              <a:rPr kumimoji="1" lang="zh-CN" altLang="en-US" sz="2400" dirty="0">
                <a:solidFill>
                  <a:srgbClr val="000000"/>
                </a:solidFill>
                <a:latin typeface="黑体" panose="02010609060101010101" pitchFamily="49" charset="-122"/>
                <a:ea typeface="黑体" panose="02010609060101010101" pitchFamily="49" charset="-122"/>
              </a:rPr>
              <a:t>。</a:t>
            </a:r>
            <a:endParaRPr kumimoji="1" lang="zh-CN" altLang="en-US" sz="2400" dirty="0">
              <a:solidFill>
                <a:srgbClr val="000000"/>
              </a:solidFill>
              <a:latin typeface="黑体" panose="02010609060101010101" pitchFamily="49" charset="-122"/>
              <a:ea typeface="黑体" panose="02010609060101010101" pitchFamily="49" charset="-122"/>
            </a:endParaRPr>
          </a:p>
        </p:txBody>
      </p:sp>
      <p:sp>
        <p:nvSpPr>
          <p:cNvPr id="490" name="Text Box 69"/>
          <p:cNvSpPr txBox="1">
            <a:spLocks noChangeArrowheads="1"/>
          </p:cNvSpPr>
          <p:nvPr/>
        </p:nvSpPr>
        <p:spPr bwMode="auto">
          <a:xfrm>
            <a:off x="1035050" y="5416878"/>
            <a:ext cx="901700" cy="523220"/>
          </a:xfrm>
          <a:prstGeom prst="rect">
            <a:avLst/>
          </a:prstGeom>
          <a:noFill/>
          <a:ln w="3810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800">
                <a:solidFill>
                  <a:srgbClr val="000000"/>
                </a:solidFill>
                <a:ea typeface="楷体_GB2312" pitchFamily="49" charset="-122"/>
              </a:rPr>
              <a:t>前级</a:t>
            </a:r>
            <a:endParaRPr kumimoji="1" lang="zh-CN" altLang="en-US" sz="2800">
              <a:solidFill>
                <a:srgbClr val="00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wipe(right)">
                                      <p:cBhvr>
                                        <p:cTn id="7" dur="500"/>
                                        <p:tgtEl>
                                          <p:spTgt spid="4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74"/>
                                        </p:tgtEl>
                                        <p:attrNameLst>
                                          <p:attrName>style.visibility</p:attrName>
                                        </p:attrNameLst>
                                      </p:cBhvr>
                                      <p:to>
                                        <p:strVal val="visible"/>
                                      </p:to>
                                    </p:set>
                                    <p:animEffect transition="in" filter="wipe(right)">
                                      <p:cBhvr>
                                        <p:cTn id="12" dur="500"/>
                                        <p:tgtEl>
                                          <p:spTgt spid="4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77"/>
                                        </p:tgtEl>
                                        <p:attrNameLst>
                                          <p:attrName>style.visibility</p:attrName>
                                        </p:attrNameLst>
                                      </p:cBhvr>
                                      <p:to>
                                        <p:strVal val="visible"/>
                                      </p:to>
                                    </p:set>
                                    <p:animEffect transition="in" filter="wipe(right)">
                                      <p:cBhvr>
                                        <p:cTn id="17" dur="500"/>
                                        <p:tgtEl>
                                          <p:spTgt spid="4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81"/>
                                        </p:tgtEl>
                                        <p:attrNameLst>
                                          <p:attrName>style.visibility</p:attrName>
                                        </p:attrNameLst>
                                      </p:cBhvr>
                                      <p:to>
                                        <p:strVal val="visible"/>
                                      </p:to>
                                    </p:set>
                                    <p:animEffect transition="in" filter="wipe(right)">
                                      <p:cBhvr>
                                        <p:cTn id="22" dur="500"/>
                                        <p:tgtEl>
                                          <p:spTgt spid="48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89">
                                            <p:txEl>
                                              <p:pRg st="0" end="0"/>
                                            </p:txEl>
                                          </p:spTgt>
                                        </p:tgtEl>
                                        <p:attrNameLst>
                                          <p:attrName>style.visibility</p:attrName>
                                        </p:attrNameLst>
                                      </p:cBhvr>
                                      <p:to>
                                        <p:strVal val="visible"/>
                                      </p:to>
                                    </p:set>
                                    <p:animEffect transition="in" filter="fade">
                                      <p:cBhvr>
                                        <p:cTn id="27" dur="500"/>
                                        <p:tgtEl>
                                          <p:spTgt spid="4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 grpId="0"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2</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）驱动负载能力</a:t>
            </a: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扇出系数</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sp>
        <p:nvSpPr>
          <p:cNvPr id="135" name="Text Box 2"/>
          <p:cNvSpPr txBox="1">
            <a:spLocks noChangeArrowheads="1"/>
          </p:cNvSpPr>
          <p:nvPr/>
        </p:nvSpPr>
        <p:spPr bwMode="auto">
          <a:xfrm>
            <a:off x="338900" y="3229791"/>
            <a:ext cx="43306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800" dirty="0">
                <a:solidFill>
                  <a:srgbClr val="000000"/>
                </a:solidFill>
                <a:latin typeface="黑体" panose="02010609060101010101" pitchFamily="49" charset="-122"/>
                <a:ea typeface="黑体" panose="02010609060101010101" pitchFamily="49" charset="-122"/>
              </a:rPr>
              <a:t>输出低电平时的扇出系数：</a:t>
            </a:r>
            <a:endParaRPr kumimoji="1" lang="zh-CN" altLang="en-US" sz="2800" dirty="0">
              <a:solidFill>
                <a:srgbClr val="000000"/>
              </a:solidFill>
              <a:latin typeface="黑体" panose="02010609060101010101" pitchFamily="49" charset="-122"/>
              <a:ea typeface="黑体" panose="02010609060101010101" pitchFamily="49" charset="-122"/>
            </a:endParaRPr>
          </a:p>
        </p:txBody>
      </p:sp>
      <p:graphicFrame>
        <p:nvGraphicFramePr>
          <p:cNvPr id="136" name="Object 3"/>
          <p:cNvGraphicFramePr>
            <a:graphicFrameLocks noChangeAspect="1"/>
          </p:cNvGraphicFramePr>
          <p:nvPr/>
        </p:nvGraphicFramePr>
        <p:xfrm>
          <a:off x="4840098" y="2793311"/>
          <a:ext cx="2376487" cy="1243012"/>
        </p:xfrm>
        <a:graphic>
          <a:graphicData uri="http://schemas.openxmlformats.org/presentationml/2006/ole">
            <mc:AlternateContent xmlns:mc="http://schemas.openxmlformats.org/markup-compatibility/2006">
              <mc:Choice xmlns:v="urn:schemas-microsoft-com:vml" Requires="v">
                <p:oleObj spid="_x0000_s3" name="Equation" r:id="rId2" imgW="825500" imgH="431800" progId="Equation.DSMT4">
                  <p:embed/>
                </p:oleObj>
              </mc:Choice>
              <mc:Fallback>
                <p:oleObj name="Equation" r:id="rId2" imgW="825500" imgH="431800" progId="Equation.DSMT4">
                  <p:embed/>
                  <p:pic>
                    <p:nvPicPr>
                      <p:cNvPr id="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0098" y="2793311"/>
                        <a:ext cx="2376487" cy="1243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 name="Text Box 6"/>
          <p:cNvSpPr txBox="1">
            <a:spLocks noChangeArrowheads="1"/>
          </p:cNvSpPr>
          <p:nvPr/>
        </p:nvSpPr>
        <p:spPr bwMode="auto">
          <a:xfrm>
            <a:off x="1313181" y="6066237"/>
            <a:ext cx="4971795" cy="523220"/>
          </a:xfrm>
          <a:prstGeom prst="rect">
            <a:avLst/>
          </a:prstGeom>
          <a:noFill/>
          <a:ln w="38100">
            <a:solidFill>
              <a:srgbClr val="99CC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一般与非门的扇出系数为</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10</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38" name="Text Box 7"/>
          <p:cNvSpPr txBox="1">
            <a:spLocks noChangeArrowheads="1"/>
          </p:cNvSpPr>
          <p:nvPr/>
        </p:nvSpPr>
        <p:spPr bwMode="auto">
          <a:xfrm>
            <a:off x="338900" y="1778341"/>
            <a:ext cx="8610028"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r>
              <a:rPr kumimoji="1" lang="zh-CN" altLang="en-US" sz="2800" dirty="0">
                <a:solidFill>
                  <a:srgbClr val="000000"/>
                </a:solidFill>
                <a:ea typeface="楷体_GB2312" pitchFamily="49" charset="-122"/>
              </a:rPr>
              <a:t>由于</a:t>
            </a:r>
            <a:r>
              <a:rPr kumimoji="1" lang="en-US" altLang="zh-CN" sz="2800" i="1" dirty="0">
                <a:solidFill>
                  <a:srgbClr val="000000"/>
                </a:solidFill>
                <a:ea typeface="楷体_GB2312" pitchFamily="49" charset="-122"/>
              </a:rPr>
              <a:t>I</a:t>
            </a:r>
            <a:r>
              <a:rPr kumimoji="1" lang="en-US" altLang="zh-CN" sz="2800" i="1" baseline="-25000" dirty="0">
                <a:solidFill>
                  <a:srgbClr val="000000"/>
                </a:solidFill>
                <a:ea typeface="楷体_GB2312" pitchFamily="49" charset="-122"/>
              </a:rPr>
              <a:t>OL</a:t>
            </a:r>
            <a:r>
              <a:rPr kumimoji="1" lang="zh-CN" altLang="en-US" sz="2800" baseline="-25000" dirty="0">
                <a:solidFill>
                  <a:srgbClr val="000000"/>
                </a:solidFill>
                <a:ea typeface="楷体_GB2312" pitchFamily="49" charset="-122"/>
              </a:rPr>
              <a:t>、</a:t>
            </a:r>
            <a:r>
              <a:rPr kumimoji="1" lang="en-US" altLang="zh-CN" sz="2800" i="1" dirty="0">
                <a:solidFill>
                  <a:srgbClr val="000000"/>
                </a:solidFill>
                <a:ea typeface="楷体_GB2312" pitchFamily="49" charset="-122"/>
              </a:rPr>
              <a:t>I</a:t>
            </a:r>
            <a:r>
              <a:rPr kumimoji="1" lang="en-US" altLang="zh-CN" sz="2800" i="1" baseline="-25000" dirty="0">
                <a:solidFill>
                  <a:srgbClr val="000000"/>
                </a:solidFill>
                <a:ea typeface="楷体_GB2312" pitchFamily="49" charset="-122"/>
              </a:rPr>
              <a:t>OH</a:t>
            </a:r>
            <a:r>
              <a:rPr kumimoji="1" lang="zh-CN" altLang="en-US" sz="2800" dirty="0">
                <a:solidFill>
                  <a:srgbClr val="000000"/>
                </a:solidFill>
                <a:ea typeface="楷体_GB2312" pitchFamily="49" charset="-122"/>
              </a:rPr>
              <a:t>的限制，每个门电路输出端所能驱动的同类门电路的个数，称为</a:t>
            </a:r>
            <a:r>
              <a:rPr kumimoji="1" lang="zh-CN" altLang="en-US" sz="2800" dirty="0">
                <a:solidFill>
                  <a:srgbClr val="3333FF"/>
                </a:solidFill>
                <a:ea typeface="楷体_GB2312" pitchFamily="49" charset="-122"/>
              </a:rPr>
              <a:t>扇出系数</a:t>
            </a:r>
            <a:r>
              <a:rPr kumimoji="1" lang="zh-CN" altLang="en-US" sz="2800" dirty="0">
                <a:solidFill>
                  <a:srgbClr val="000000"/>
                </a:solidFill>
                <a:ea typeface="楷体_GB2312" pitchFamily="49" charset="-122"/>
              </a:rPr>
              <a:t>。</a:t>
            </a:r>
            <a:endParaRPr kumimoji="1" lang="zh-CN" altLang="en-US" sz="2800" dirty="0">
              <a:solidFill>
                <a:srgbClr val="000000"/>
              </a:solidFill>
              <a:ea typeface="楷体_GB2312" pitchFamily="49" charset="-122"/>
            </a:endParaRPr>
          </a:p>
        </p:txBody>
      </p:sp>
      <p:sp>
        <p:nvSpPr>
          <p:cNvPr id="139" name="Text Box 8"/>
          <p:cNvSpPr txBox="1">
            <a:spLocks noChangeArrowheads="1"/>
          </p:cNvSpPr>
          <p:nvPr/>
        </p:nvSpPr>
        <p:spPr bwMode="auto">
          <a:xfrm>
            <a:off x="338900" y="4339265"/>
            <a:ext cx="44281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defPPr>
              <a:defRPr lang="zh-CN"/>
            </a:defPPr>
            <a:lvl1pPr fontAlgn="base">
              <a:spcBef>
                <a:spcPct val="50000"/>
              </a:spcBef>
              <a:spcAft>
                <a:spcPct val="0"/>
              </a:spcAft>
              <a:defRPr kumimoji="1" sz="2800" b="1">
                <a:solidFill>
                  <a:srgbClr val="000000"/>
                </a:solidFill>
                <a:latin typeface="黑体" panose="02010609060101010101" pitchFamily="49" charset="-122"/>
                <a:ea typeface="黑体" panose="02010609060101010101" pitchFamily="49" charset="-122"/>
              </a:defRPr>
            </a:lvl1pPr>
            <a:lvl2pPr marL="742950" indent="-285750" eaLnBrk="0" hangingPunct="0">
              <a:defRPr b="1">
                <a:latin typeface="Times New Roman" panose="02020603050405020304" pitchFamily="18" charset="0"/>
                <a:ea typeface="宋体" panose="02010600030101010101" pitchFamily="2" charset="-122"/>
              </a:defRPr>
            </a:lvl2pPr>
            <a:lvl3pPr marL="1143000" indent="-228600" eaLnBrk="0" hangingPunct="0">
              <a:defRPr b="1">
                <a:latin typeface="Times New Roman" panose="02020603050405020304" pitchFamily="18" charset="0"/>
                <a:ea typeface="宋体" panose="02010600030101010101" pitchFamily="2" charset="-122"/>
              </a:defRPr>
            </a:lvl3pPr>
            <a:lvl4pPr marL="1600200" indent="-228600" eaLnBrk="0" hangingPunct="0">
              <a:defRPr b="1">
                <a:latin typeface="Times New Roman" panose="02020603050405020304" pitchFamily="18" charset="0"/>
                <a:ea typeface="宋体" panose="02010600030101010101" pitchFamily="2" charset="-122"/>
              </a:defRPr>
            </a:lvl4pPr>
            <a:lvl5pPr marL="2057400" indent="-228600" eaLnBrk="0" hangingPunct="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t>输出高电平时的扇出系数：</a:t>
            </a:r>
            <a:endParaRPr lang="zh-CN" altLang="en-US" dirty="0"/>
          </a:p>
        </p:txBody>
      </p:sp>
      <p:graphicFrame>
        <p:nvGraphicFramePr>
          <p:cNvPr id="140" name="Object 9"/>
          <p:cNvGraphicFramePr>
            <a:graphicFrameLocks noChangeAspect="1"/>
          </p:cNvGraphicFramePr>
          <p:nvPr/>
        </p:nvGraphicFramePr>
        <p:xfrm>
          <a:off x="4840097" y="4073568"/>
          <a:ext cx="2522538" cy="1243013"/>
        </p:xfrm>
        <a:graphic>
          <a:graphicData uri="http://schemas.openxmlformats.org/presentationml/2006/ole">
            <mc:AlternateContent xmlns:mc="http://schemas.openxmlformats.org/markup-compatibility/2006">
              <mc:Choice xmlns:v="urn:schemas-microsoft-com:vml" Requires="v">
                <p:oleObj spid="_x0000_s4" name="Equation" r:id="rId4" imgW="876300" imgH="431800" progId="Equation.DSMT4">
                  <p:embed/>
                </p:oleObj>
              </mc:Choice>
              <mc:Fallback>
                <p:oleObj name="Equation" r:id="rId4" imgW="876300" imgH="431800" progId="Equation.DSMT4">
                  <p:embed/>
                  <p:pic>
                    <p:nvPicPr>
                      <p:cNvPr id="0" name="图片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0097" y="4073568"/>
                        <a:ext cx="2522538"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 name="Text Box 10"/>
          <p:cNvSpPr txBox="1">
            <a:spLocks noChangeArrowheads="1"/>
          </p:cNvSpPr>
          <p:nvPr/>
        </p:nvSpPr>
        <p:spPr bwMode="auto">
          <a:xfrm>
            <a:off x="401211" y="5259705"/>
            <a:ext cx="42683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zh-CN" altLang="en-US" sz="2800" dirty="0">
                <a:solidFill>
                  <a:srgbClr val="FF0000"/>
                </a:solidFill>
                <a:latin typeface="黑体" panose="02010609060101010101" pitchFamily="49" charset="-122"/>
                <a:ea typeface="黑体" panose="02010609060101010101" pitchFamily="49" charset="-122"/>
              </a:rPr>
              <a:t>取</a:t>
            </a:r>
            <a:r>
              <a:rPr kumimoji="1" lang="en-US" altLang="zh-CN" sz="2800" i="1" dirty="0">
                <a:solidFill>
                  <a:srgbClr val="FF0000"/>
                </a:solidFill>
                <a:ea typeface="黑体" panose="02010609060101010101" pitchFamily="49" charset="-122"/>
                <a:cs typeface="Times New Roman" panose="02020603050405020304" pitchFamily="18" charset="0"/>
              </a:rPr>
              <a:t>N</a:t>
            </a:r>
            <a:r>
              <a:rPr kumimoji="1" lang="en-US" altLang="zh-CN" sz="2800" baseline="-25000" dirty="0">
                <a:solidFill>
                  <a:srgbClr val="FF0000"/>
                </a:solidFill>
                <a:ea typeface="黑体" panose="02010609060101010101" pitchFamily="49" charset="-122"/>
                <a:cs typeface="Times New Roman" panose="02020603050405020304" pitchFamily="18" charset="0"/>
              </a:rPr>
              <a:t>OH</a:t>
            </a:r>
            <a:r>
              <a:rPr kumimoji="1" lang="zh-CN" altLang="en-US" sz="2800" dirty="0">
                <a:solidFill>
                  <a:srgbClr val="FF0000"/>
                </a:solidFill>
                <a:latin typeface="黑体" panose="02010609060101010101" pitchFamily="49" charset="-122"/>
                <a:ea typeface="黑体" panose="02010609060101010101" pitchFamily="49" charset="-122"/>
              </a:rPr>
              <a:t>和</a:t>
            </a:r>
            <a:r>
              <a:rPr kumimoji="1" lang="en-US" altLang="zh-CN" sz="2800" i="1" dirty="0">
                <a:solidFill>
                  <a:srgbClr val="FF0000"/>
                </a:solidFill>
                <a:ea typeface="黑体" panose="02010609060101010101" pitchFamily="49" charset="-122"/>
                <a:cs typeface="Times New Roman" panose="02020603050405020304" pitchFamily="18" charset="0"/>
              </a:rPr>
              <a:t>N</a:t>
            </a:r>
            <a:r>
              <a:rPr kumimoji="1" lang="en-US" altLang="zh-CN" sz="2800" baseline="-25000" dirty="0">
                <a:solidFill>
                  <a:srgbClr val="FF0000"/>
                </a:solidFill>
                <a:ea typeface="黑体" panose="02010609060101010101" pitchFamily="49" charset="-122"/>
                <a:cs typeface="Times New Roman" panose="02020603050405020304" pitchFamily="18" charset="0"/>
              </a:rPr>
              <a:t>OL</a:t>
            </a:r>
            <a:r>
              <a:rPr kumimoji="1" lang="zh-CN" altLang="en-US" sz="2800" dirty="0">
                <a:solidFill>
                  <a:srgbClr val="FF0000"/>
                </a:solidFill>
                <a:latin typeface="黑体" panose="02010609060101010101" pitchFamily="49" charset="-122"/>
                <a:ea typeface="黑体" panose="02010609060101010101" pitchFamily="49" charset="-122"/>
              </a:rPr>
              <a:t>中小的一个。</a:t>
            </a:r>
            <a:endParaRPr kumimoji="1"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Effect transition="in" filter="fade">
                                      <p:cBhvr>
                                        <p:cTn id="7" dur="500"/>
                                        <p:tgtEl>
                                          <p:spTgt spid="1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36"/>
                                        </p:tgtEl>
                                        <p:attrNameLst>
                                          <p:attrName>style.visibility</p:attrName>
                                        </p:attrNameLst>
                                      </p:cBhvr>
                                      <p:to>
                                        <p:strVal val="visible"/>
                                      </p:to>
                                    </p:set>
                                    <p:animEffect transition="in" filter="circle(in)">
                                      <p:cBhvr>
                                        <p:cTn id="12" dur="2000"/>
                                        <p:tgtEl>
                                          <p:spTgt spid="1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9">
                                            <p:txEl>
                                              <p:pRg st="0" end="0"/>
                                            </p:txEl>
                                          </p:spTgt>
                                        </p:tgtEl>
                                        <p:attrNameLst>
                                          <p:attrName>style.visibility</p:attrName>
                                        </p:attrNameLst>
                                      </p:cBhvr>
                                      <p:to>
                                        <p:strVal val="visible"/>
                                      </p:to>
                                    </p:set>
                                    <p:animEffect transition="in" filter="fade">
                                      <p:cBhvr>
                                        <p:cTn id="17" dur="500"/>
                                        <p:tgtEl>
                                          <p:spTgt spid="13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circle(in)">
                                      <p:cBhvr>
                                        <p:cTn id="22" dur="2000"/>
                                        <p:tgtEl>
                                          <p:spTgt spid="1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fade">
                                      <p:cBhvr>
                                        <p:cTn id="27" dur="500"/>
                                        <p:tgtEl>
                                          <p:spTgt spid="1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utoUpdateAnimBg="0" build="p"/>
      <p:bldP spid="137" grpId="0" animBg="1"/>
      <p:bldP spid="139" grpId="0" autoUpdateAnimBg="0" build="p"/>
      <p:bldP spid="1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3</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）传输延迟时间</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sp>
        <p:nvSpPr>
          <p:cNvPr id="63" name="Text Box 4"/>
          <p:cNvSpPr txBox="1">
            <a:spLocks noChangeArrowheads="1"/>
          </p:cNvSpPr>
          <p:nvPr/>
        </p:nvSpPr>
        <p:spPr bwMode="auto">
          <a:xfrm>
            <a:off x="112153" y="1718130"/>
            <a:ext cx="5400679" cy="504369"/>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输出电平的变化落后于输入电平的变化。</a:t>
            </a:r>
            <a:endPar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endParaRPr>
          </a:p>
        </p:txBody>
      </p:sp>
      <p:grpSp>
        <p:nvGrpSpPr>
          <p:cNvPr id="64" name="Group 5"/>
          <p:cNvGrpSpPr/>
          <p:nvPr/>
        </p:nvGrpSpPr>
        <p:grpSpPr bwMode="auto">
          <a:xfrm>
            <a:off x="5580946" y="1099950"/>
            <a:ext cx="3381375" cy="3200400"/>
            <a:chOff x="3408" y="-48"/>
            <a:chExt cx="2085" cy="2016"/>
          </a:xfrm>
        </p:grpSpPr>
        <p:sp>
          <p:nvSpPr>
            <p:cNvPr id="65" name="Line 6"/>
            <p:cNvSpPr>
              <a:spLocks noChangeShapeType="1"/>
            </p:cNvSpPr>
            <p:nvPr/>
          </p:nvSpPr>
          <p:spPr bwMode="auto">
            <a:xfrm>
              <a:off x="3552" y="768"/>
              <a:ext cx="1893"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6" name="Line 7"/>
            <p:cNvSpPr>
              <a:spLocks noChangeShapeType="1"/>
            </p:cNvSpPr>
            <p:nvPr/>
          </p:nvSpPr>
          <p:spPr bwMode="auto">
            <a:xfrm flipV="1">
              <a:off x="3888" y="96"/>
              <a:ext cx="0" cy="67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7" name="Line 8"/>
            <p:cNvSpPr>
              <a:spLocks noChangeShapeType="1"/>
            </p:cNvSpPr>
            <p:nvPr/>
          </p:nvSpPr>
          <p:spPr bwMode="auto">
            <a:xfrm>
              <a:off x="3888" y="768"/>
              <a:ext cx="388"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8" name="Freeform 9"/>
            <p:cNvSpPr/>
            <p:nvPr/>
          </p:nvSpPr>
          <p:spPr bwMode="auto">
            <a:xfrm>
              <a:off x="4272" y="336"/>
              <a:ext cx="144" cy="432"/>
            </a:xfrm>
            <a:custGeom>
              <a:avLst/>
              <a:gdLst>
                <a:gd name="T0" fmla="*/ 0 w 1008"/>
                <a:gd name="T1" fmla="*/ 864 h 864"/>
                <a:gd name="T2" fmla="*/ 432 w 1008"/>
                <a:gd name="T3" fmla="*/ 720 h 864"/>
                <a:gd name="T4" fmla="*/ 672 w 1008"/>
                <a:gd name="T5" fmla="*/ 144 h 864"/>
                <a:gd name="T6" fmla="*/ 1008 w 1008"/>
                <a:gd name="T7" fmla="*/ 0 h 864"/>
                <a:gd name="T8" fmla="*/ 0 60000 65536"/>
                <a:gd name="T9" fmla="*/ 0 60000 65536"/>
                <a:gd name="T10" fmla="*/ 0 60000 65536"/>
                <a:gd name="T11" fmla="*/ 0 60000 65536"/>
                <a:gd name="T12" fmla="*/ 0 w 1008"/>
                <a:gd name="T13" fmla="*/ 0 h 864"/>
                <a:gd name="T14" fmla="*/ 1008 w 1008"/>
                <a:gd name="T15" fmla="*/ 864 h 864"/>
              </a:gdLst>
              <a:ahLst/>
              <a:cxnLst>
                <a:cxn ang="T8">
                  <a:pos x="T0" y="T1"/>
                </a:cxn>
                <a:cxn ang="T9">
                  <a:pos x="T2" y="T3"/>
                </a:cxn>
                <a:cxn ang="T10">
                  <a:pos x="T4" y="T5"/>
                </a:cxn>
                <a:cxn ang="T11">
                  <a:pos x="T6" y="T7"/>
                </a:cxn>
              </a:cxnLst>
              <a:rect l="T12" t="T13" r="T14" b="T15"/>
              <a:pathLst>
                <a:path w="1008" h="864">
                  <a:moveTo>
                    <a:pt x="0" y="864"/>
                  </a:moveTo>
                  <a:cubicBezTo>
                    <a:pt x="160" y="852"/>
                    <a:pt x="320" y="840"/>
                    <a:pt x="432" y="720"/>
                  </a:cubicBezTo>
                  <a:cubicBezTo>
                    <a:pt x="544" y="600"/>
                    <a:pt x="576" y="264"/>
                    <a:pt x="672" y="144"/>
                  </a:cubicBezTo>
                  <a:cubicBezTo>
                    <a:pt x="768" y="24"/>
                    <a:pt x="888" y="12"/>
                    <a:pt x="1008" y="0"/>
                  </a:cubicBez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10"/>
            <p:cNvSpPr>
              <a:spLocks noChangeShapeType="1"/>
            </p:cNvSpPr>
            <p:nvPr/>
          </p:nvSpPr>
          <p:spPr bwMode="auto">
            <a:xfrm>
              <a:off x="4416" y="336"/>
              <a:ext cx="449"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0" name="Text Box 11"/>
            <p:cNvSpPr txBox="1">
              <a:spLocks noChangeArrowheads="1"/>
            </p:cNvSpPr>
            <p:nvPr/>
          </p:nvSpPr>
          <p:spPr bwMode="auto">
            <a:xfrm>
              <a:off x="3648" y="-48"/>
              <a:ext cx="2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Line 12"/>
            <p:cNvSpPr>
              <a:spLocks noChangeShapeType="1"/>
            </p:cNvSpPr>
            <p:nvPr/>
          </p:nvSpPr>
          <p:spPr bwMode="auto">
            <a:xfrm>
              <a:off x="4896" y="768"/>
              <a:ext cx="432"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2" name="Line 13"/>
            <p:cNvSpPr>
              <a:spLocks noChangeShapeType="1"/>
            </p:cNvSpPr>
            <p:nvPr/>
          </p:nvSpPr>
          <p:spPr bwMode="auto">
            <a:xfrm>
              <a:off x="3552" y="1583"/>
              <a:ext cx="1893"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3" name="Line 14"/>
            <p:cNvSpPr>
              <a:spLocks noChangeShapeType="1"/>
            </p:cNvSpPr>
            <p:nvPr/>
          </p:nvSpPr>
          <p:spPr bwMode="auto">
            <a:xfrm flipV="1">
              <a:off x="3888" y="911"/>
              <a:ext cx="0" cy="67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4" name="Text Box 15"/>
            <p:cNvSpPr txBox="1">
              <a:spLocks noChangeArrowheads="1"/>
            </p:cNvSpPr>
            <p:nvPr/>
          </p:nvSpPr>
          <p:spPr bwMode="auto">
            <a:xfrm>
              <a:off x="3600" y="767"/>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16"/>
            <p:cNvSpPr>
              <a:spLocks noChangeShapeType="1"/>
            </p:cNvSpPr>
            <p:nvPr/>
          </p:nvSpPr>
          <p:spPr bwMode="auto">
            <a:xfrm flipV="1">
              <a:off x="3888" y="1151"/>
              <a:ext cx="524"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6" name="Freeform 17"/>
            <p:cNvSpPr/>
            <p:nvPr/>
          </p:nvSpPr>
          <p:spPr bwMode="auto">
            <a:xfrm flipV="1">
              <a:off x="4416" y="1152"/>
              <a:ext cx="144" cy="432"/>
            </a:xfrm>
            <a:custGeom>
              <a:avLst/>
              <a:gdLst>
                <a:gd name="T0" fmla="*/ 0 w 1008"/>
                <a:gd name="T1" fmla="*/ 864 h 864"/>
                <a:gd name="T2" fmla="*/ 432 w 1008"/>
                <a:gd name="T3" fmla="*/ 720 h 864"/>
                <a:gd name="T4" fmla="*/ 672 w 1008"/>
                <a:gd name="T5" fmla="*/ 144 h 864"/>
                <a:gd name="T6" fmla="*/ 1008 w 1008"/>
                <a:gd name="T7" fmla="*/ 0 h 864"/>
                <a:gd name="T8" fmla="*/ 0 60000 65536"/>
                <a:gd name="T9" fmla="*/ 0 60000 65536"/>
                <a:gd name="T10" fmla="*/ 0 60000 65536"/>
                <a:gd name="T11" fmla="*/ 0 60000 65536"/>
                <a:gd name="T12" fmla="*/ 0 w 1008"/>
                <a:gd name="T13" fmla="*/ 0 h 864"/>
                <a:gd name="T14" fmla="*/ 1008 w 1008"/>
                <a:gd name="T15" fmla="*/ 864 h 864"/>
              </a:gdLst>
              <a:ahLst/>
              <a:cxnLst>
                <a:cxn ang="T8">
                  <a:pos x="T0" y="T1"/>
                </a:cxn>
                <a:cxn ang="T9">
                  <a:pos x="T2" y="T3"/>
                </a:cxn>
                <a:cxn ang="T10">
                  <a:pos x="T4" y="T5"/>
                </a:cxn>
                <a:cxn ang="T11">
                  <a:pos x="T6" y="T7"/>
                </a:cxn>
              </a:cxnLst>
              <a:rect l="T12" t="T13" r="T14" b="T15"/>
              <a:pathLst>
                <a:path w="1008" h="864">
                  <a:moveTo>
                    <a:pt x="0" y="864"/>
                  </a:moveTo>
                  <a:cubicBezTo>
                    <a:pt x="160" y="852"/>
                    <a:pt x="320" y="840"/>
                    <a:pt x="432" y="720"/>
                  </a:cubicBezTo>
                  <a:cubicBezTo>
                    <a:pt x="544" y="600"/>
                    <a:pt x="576" y="264"/>
                    <a:pt x="672" y="144"/>
                  </a:cubicBezTo>
                  <a:cubicBezTo>
                    <a:pt x="768" y="24"/>
                    <a:pt x="888" y="12"/>
                    <a:pt x="1008" y="0"/>
                  </a:cubicBez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7" name="Line 18"/>
            <p:cNvSpPr>
              <a:spLocks noChangeShapeType="1"/>
            </p:cNvSpPr>
            <p:nvPr/>
          </p:nvSpPr>
          <p:spPr bwMode="auto">
            <a:xfrm flipV="1">
              <a:off x="4562" y="1584"/>
              <a:ext cx="58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8" name="Freeform 19"/>
            <p:cNvSpPr/>
            <p:nvPr/>
          </p:nvSpPr>
          <p:spPr bwMode="auto">
            <a:xfrm flipV="1">
              <a:off x="4872" y="336"/>
              <a:ext cx="144" cy="428"/>
            </a:xfrm>
            <a:custGeom>
              <a:avLst/>
              <a:gdLst>
                <a:gd name="T0" fmla="*/ 0 w 576"/>
                <a:gd name="T1" fmla="*/ 720 h 720"/>
                <a:gd name="T2" fmla="*/ 192 w 576"/>
                <a:gd name="T3" fmla="*/ 144 h 720"/>
                <a:gd name="T4" fmla="*/ 576 w 576"/>
                <a:gd name="T5" fmla="*/ 0 h 720"/>
                <a:gd name="T6" fmla="*/ 0 60000 65536"/>
                <a:gd name="T7" fmla="*/ 0 60000 65536"/>
                <a:gd name="T8" fmla="*/ 0 60000 65536"/>
                <a:gd name="T9" fmla="*/ 0 w 576"/>
                <a:gd name="T10" fmla="*/ 0 h 720"/>
                <a:gd name="T11" fmla="*/ 576 w 576"/>
                <a:gd name="T12" fmla="*/ 720 h 720"/>
              </a:gdLst>
              <a:ahLst/>
              <a:cxnLst>
                <a:cxn ang="T6">
                  <a:pos x="T0" y="T1"/>
                </a:cxn>
                <a:cxn ang="T7">
                  <a:pos x="T2" y="T3"/>
                </a:cxn>
                <a:cxn ang="T8">
                  <a:pos x="T4" y="T5"/>
                </a:cxn>
              </a:cxnLst>
              <a:rect l="T9" t="T10" r="T11" b="T12"/>
              <a:pathLst>
                <a:path w="576" h="720">
                  <a:moveTo>
                    <a:pt x="0" y="720"/>
                  </a:moveTo>
                  <a:cubicBezTo>
                    <a:pt x="48" y="492"/>
                    <a:pt x="96" y="264"/>
                    <a:pt x="192" y="144"/>
                  </a:cubicBezTo>
                  <a:cubicBezTo>
                    <a:pt x="288" y="24"/>
                    <a:pt x="432" y="12"/>
                    <a:pt x="576" y="0"/>
                  </a:cubicBez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20"/>
            <p:cNvSpPr>
              <a:spLocks noChangeShapeType="1"/>
            </p:cNvSpPr>
            <p:nvPr/>
          </p:nvSpPr>
          <p:spPr bwMode="auto">
            <a:xfrm flipV="1">
              <a:off x="5016" y="764"/>
              <a:ext cx="432"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0" name="Freeform 21"/>
            <p:cNvSpPr/>
            <p:nvPr/>
          </p:nvSpPr>
          <p:spPr bwMode="auto">
            <a:xfrm>
              <a:off x="5136" y="1156"/>
              <a:ext cx="144" cy="428"/>
            </a:xfrm>
            <a:custGeom>
              <a:avLst/>
              <a:gdLst>
                <a:gd name="T0" fmla="*/ 0 w 576"/>
                <a:gd name="T1" fmla="*/ 720 h 720"/>
                <a:gd name="T2" fmla="*/ 192 w 576"/>
                <a:gd name="T3" fmla="*/ 144 h 720"/>
                <a:gd name="T4" fmla="*/ 576 w 576"/>
                <a:gd name="T5" fmla="*/ 0 h 720"/>
                <a:gd name="T6" fmla="*/ 0 60000 65536"/>
                <a:gd name="T7" fmla="*/ 0 60000 65536"/>
                <a:gd name="T8" fmla="*/ 0 60000 65536"/>
                <a:gd name="T9" fmla="*/ 0 w 576"/>
                <a:gd name="T10" fmla="*/ 0 h 720"/>
                <a:gd name="T11" fmla="*/ 576 w 576"/>
                <a:gd name="T12" fmla="*/ 720 h 720"/>
              </a:gdLst>
              <a:ahLst/>
              <a:cxnLst>
                <a:cxn ang="T6">
                  <a:pos x="T0" y="T1"/>
                </a:cxn>
                <a:cxn ang="T7">
                  <a:pos x="T2" y="T3"/>
                </a:cxn>
                <a:cxn ang="T8">
                  <a:pos x="T4" y="T5"/>
                </a:cxn>
              </a:cxnLst>
              <a:rect l="T9" t="T10" r="T11" b="T12"/>
              <a:pathLst>
                <a:path w="576" h="720">
                  <a:moveTo>
                    <a:pt x="0" y="720"/>
                  </a:moveTo>
                  <a:cubicBezTo>
                    <a:pt x="48" y="492"/>
                    <a:pt x="96" y="264"/>
                    <a:pt x="192" y="144"/>
                  </a:cubicBezTo>
                  <a:cubicBezTo>
                    <a:pt x="288" y="24"/>
                    <a:pt x="432" y="12"/>
                    <a:pt x="576" y="0"/>
                  </a:cubicBez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Line 22"/>
            <p:cNvSpPr>
              <a:spLocks noChangeShapeType="1"/>
            </p:cNvSpPr>
            <p:nvPr/>
          </p:nvSpPr>
          <p:spPr bwMode="auto">
            <a:xfrm flipV="1">
              <a:off x="5280" y="1152"/>
              <a:ext cx="144" cy="4"/>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2" name="Text Box 23"/>
            <p:cNvSpPr txBox="1">
              <a:spLocks noChangeArrowheads="1"/>
            </p:cNvSpPr>
            <p:nvPr/>
          </p:nvSpPr>
          <p:spPr bwMode="auto">
            <a:xfrm>
              <a:off x="5328" y="720"/>
              <a:ext cx="1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Text Box 24"/>
            <p:cNvSpPr txBox="1">
              <a:spLocks noChangeArrowheads="1"/>
            </p:cNvSpPr>
            <p:nvPr/>
          </p:nvSpPr>
          <p:spPr bwMode="auto">
            <a:xfrm>
              <a:off x="5328" y="1536"/>
              <a:ext cx="1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4" name="Line 25"/>
            <p:cNvSpPr>
              <a:spLocks noChangeShapeType="1"/>
            </p:cNvSpPr>
            <p:nvPr/>
          </p:nvSpPr>
          <p:spPr bwMode="auto">
            <a:xfrm>
              <a:off x="3888" y="528"/>
              <a:ext cx="144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5" name="Line 26"/>
            <p:cNvSpPr>
              <a:spLocks noChangeShapeType="1"/>
            </p:cNvSpPr>
            <p:nvPr/>
          </p:nvSpPr>
          <p:spPr bwMode="auto">
            <a:xfrm>
              <a:off x="3888" y="1356"/>
              <a:ext cx="144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6" name="Line 27"/>
            <p:cNvSpPr>
              <a:spLocks noChangeShapeType="1"/>
            </p:cNvSpPr>
            <p:nvPr/>
          </p:nvSpPr>
          <p:spPr bwMode="auto">
            <a:xfrm flipH="1">
              <a:off x="4356" y="528"/>
              <a:ext cx="0" cy="1234"/>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7" name="Line 28"/>
            <p:cNvSpPr>
              <a:spLocks noChangeShapeType="1"/>
            </p:cNvSpPr>
            <p:nvPr/>
          </p:nvSpPr>
          <p:spPr bwMode="auto">
            <a:xfrm>
              <a:off x="4494" y="1496"/>
              <a:ext cx="0" cy="28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8" name="Line 29"/>
            <p:cNvSpPr>
              <a:spLocks noChangeShapeType="1"/>
            </p:cNvSpPr>
            <p:nvPr/>
          </p:nvSpPr>
          <p:spPr bwMode="auto">
            <a:xfrm flipH="1">
              <a:off x="4890" y="528"/>
              <a:ext cx="6" cy="1228"/>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9" name="Line 30"/>
            <p:cNvSpPr>
              <a:spLocks noChangeShapeType="1"/>
            </p:cNvSpPr>
            <p:nvPr/>
          </p:nvSpPr>
          <p:spPr bwMode="auto">
            <a:xfrm>
              <a:off x="5160" y="1470"/>
              <a:ext cx="0" cy="306"/>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0" name="Oval 31"/>
            <p:cNvSpPr>
              <a:spLocks noChangeArrowheads="1"/>
            </p:cNvSpPr>
            <p:nvPr/>
          </p:nvSpPr>
          <p:spPr bwMode="auto">
            <a:xfrm>
              <a:off x="4332" y="504"/>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1" name="Oval 32"/>
            <p:cNvSpPr>
              <a:spLocks noChangeArrowheads="1"/>
            </p:cNvSpPr>
            <p:nvPr/>
          </p:nvSpPr>
          <p:spPr bwMode="auto">
            <a:xfrm>
              <a:off x="4866" y="49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2" name="Oval 33"/>
            <p:cNvSpPr>
              <a:spLocks noChangeArrowheads="1"/>
            </p:cNvSpPr>
            <p:nvPr/>
          </p:nvSpPr>
          <p:spPr bwMode="auto">
            <a:xfrm>
              <a:off x="4470" y="133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3" name="Oval 34"/>
            <p:cNvSpPr>
              <a:spLocks noChangeArrowheads="1"/>
            </p:cNvSpPr>
            <p:nvPr/>
          </p:nvSpPr>
          <p:spPr bwMode="auto">
            <a:xfrm>
              <a:off x="5130" y="132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4" name="Line 35"/>
            <p:cNvSpPr>
              <a:spLocks noChangeShapeType="1"/>
            </p:cNvSpPr>
            <p:nvPr/>
          </p:nvSpPr>
          <p:spPr bwMode="auto">
            <a:xfrm>
              <a:off x="4176" y="1728"/>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5" name="Line 36"/>
            <p:cNvSpPr>
              <a:spLocks noChangeShapeType="1"/>
            </p:cNvSpPr>
            <p:nvPr/>
          </p:nvSpPr>
          <p:spPr bwMode="auto">
            <a:xfrm>
              <a:off x="4704" y="1680"/>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6" name="Line 37"/>
            <p:cNvSpPr>
              <a:spLocks noChangeShapeType="1"/>
            </p:cNvSpPr>
            <p:nvPr/>
          </p:nvSpPr>
          <p:spPr bwMode="auto">
            <a:xfrm flipH="1">
              <a:off x="5160" y="1680"/>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7" name="Line 38"/>
            <p:cNvSpPr>
              <a:spLocks noChangeShapeType="1"/>
            </p:cNvSpPr>
            <p:nvPr/>
          </p:nvSpPr>
          <p:spPr bwMode="auto">
            <a:xfrm flipH="1">
              <a:off x="4500" y="1728"/>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8" name="Text Box 39"/>
            <p:cNvSpPr txBox="1">
              <a:spLocks noChangeArrowheads="1"/>
            </p:cNvSpPr>
            <p:nvPr/>
          </p:nvSpPr>
          <p:spPr bwMode="auto">
            <a:xfrm>
              <a:off x="4272" y="1680"/>
              <a:ext cx="4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PHL</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Text Box 40"/>
            <p:cNvSpPr txBox="1">
              <a:spLocks noChangeArrowheads="1"/>
            </p:cNvSpPr>
            <p:nvPr/>
          </p:nvSpPr>
          <p:spPr bwMode="auto">
            <a:xfrm>
              <a:off x="4848" y="1680"/>
              <a:ext cx="4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PLH</a:t>
              </a:r>
              <a:endPar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0" name="Text Box 41"/>
            <p:cNvSpPr txBox="1">
              <a:spLocks noChangeArrowheads="1"/>
            </p:cNvSpPr>
            <p:nvPr/>
          </p:nvSpPr>
          <p:spPr bwMode="auto">
            <a:xfrm>
              <a:off x="3408" y="384"/>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1" name="Text Box 42"/>
            <p:cNvSpPr txBox="1">
              <a:spLocks noChangeArrowheads="1"/>
            </p:cNvSpPr>
            <p:nvPr/>
          </p:nvSpPr>
          <p:spPr bwMode="auto">
            <a:xfrm>
              <a:off x="3408" y="1200"/>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02" name="Text Box 47"/>
          <p:cNvSpPr txBox="1">
            <a:spLocks noChangeArrowheads="1"/>
          </p:cNvSpPr>
          <p:nvPr/>
        </p:nvSpPr>
        <p:spPr bwMode="auto">
          <a:xfrm>
            <a:off x="312866" y="4800225"/>
            <a:ext cx="7875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err="1">
                <a:ln>
                  <a:noFill/>
                </a:ln>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dirty="0" err="1">
                <a:ln>
                  <a:noFill/>
                </a:ln>
                <a:effectLst/>
                <a:uLnTx/>
                <a:uFillTx/>
                <a:latin typeface="Times New Roman" panose="02020603050405020304" pitchFamily="18" charset="0"/>
                <a:ea typeface="宋体" panose="02010600030101010101" pitchFamily="2" charset="-122"/>
              </a:rPr>
              <a:t>PHL</a:t>
            </a:r>
            <a:r>
              <a:rPr kumimoji="1" lang="en-US" altLang="zh-CN" sz="2400" b="1"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：输入信号上升沿中点到输出信号下降沿中点的时间</a:t>
            </a:r>
            <a:endPar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103" name="Text Box 48"/>
          <p:cNvSpPr txBox="1">
            <a:spLocks noChangeArrowheads="1"/>
          </p:cNvSpPr>
          <p:nvPr/>
        </p:nvSpPr>
        <p:spPr bwMode="auto">
          <a:xfrm>
            <a:off x="312866" y="5328956"/>
            <a:ext cx="7875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err="1">
                <a:ln>
                  <a:noFill/>
                </a:ln>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dirty="0" err="1">
                <a:ln>
                  <a:noFill/>
                </a:ln>
                <a:effectLst/>
                <a:uLnTx/>
                <a:uFillTx/>
                <a:latin typeface="Times New Roman" panose="02020603050405020304" pitchFamily="18" charset="0"/>
                <a:ea typeface="宋体" panose="02010600030101010101" pitchFamily="2" charset="-122"/>
              </a:rPr>
              <a:t>PLH</a:t>
            </a:r>
            <a:r>
              <a:rPr kumimoji="1" lang="en-US" altLang="zh-CN" sz="2400" b="1"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：输入信号下降沿中点到输出信号上升沿中点的时间</a:t>
            </a:r>
            <a:endPar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104" name="Rectangle 49"/>
          <p:cNvSpPr>
            <a:spLocks noChangeArrowheads="1"/>
          </p:cNvSpPr>
          <p:nvPr/>
        </p:nvSpPr>
        <p:spPr bwMode="auto">
          <a:xfrm>
            <a:off x="408615" y="6124540"/>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平均传输时间：</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aphicFrame>
        <p:nvGraphicFramePr>
          <p:cNvPr id="105" name="Object 50"/>
          <p:cNvGraphicFramePr>
            <a:graphicFrameLocks noChangeAspect="1"/>
          </p:cNvGraphicFramePr>
          <p:nvPr/>
        </p:nvGraphicFramePr>
        <p:xfrm>
          <a:off x="3028070" y="5794532"/>
          <a:ext cx="2636964" cy="1063584"/>
        </p:xfrm>
        <a:graphic>
          <a:graphicData uri="http://schemas.openxmlformats.org/presentationml/2006/ole">
            <mc:AlternateContent xmlns:mc="http://schemas.openxmlformats.org/markup-compatibility/2006">
              <mc:Choice xmlns:v="urn:schemas-microsoft-com:vml" Requires="v">
                <p:oleObj spid="_x0000_s3" name="Equation" r:id="rId2" imgW="951865" imgH="393700" progId="Equation.DSMT4">
                  <p:embed/>
                </p:oleObj>
              </mc:Choice>
              <mc:Fallback>
                <p:oleObj name="Equation" r:id="rId2" imgW="951865" imgH="393700" progId="Equation.DSMT4">
                  <p:embed/>
                  <p:pic>
                    <p:nvPicPr>
                      <p:cNvPr id="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070" y="5794532"/>
                        <a:ext cx="2636964" cy="1063584"/>
                      </a:xfrm>
                      <a:prstGeom prst="rect">
                        <a:avLst/>
                      </a:prstGeom>
                      <a:noFill/>
                      <a:ln>
                        <a:noFill/>
                      </a:ln>
                      <a:effectLst/>
                    </p:spPr>
                  </p:pic>
                </p:oleObj>
              </mc:Fallback>
            </mc:AlternateContent>
          </a:graphicData>
        </a:graphic>
      </p:graphicFrame>
      <p:sp>
        <p:nvSpPr>
          <p:cNvPr id="4" name="矩形 3"/>
          <p:cNvSpPr/>
          <p:nvPr/>
        </p:nvSpPr>
        <p:spPr>
          <a:xfrm>
            <a:off x="100351" y="2141140"/>
            <a:ext cx="5468149" cy="2492990"/>
          </a:xfrm>
          <a:prstGeom prst="rect">
            <a:avLst/>
          </a:prstGeom>
        </p:spPr>
        <p:txBody>
          <a:bodyPr wrap="square">
            <a:spAutoFit/>
          </a:bodyPr>
          <a:lstStyle/>
          <a:p>
            <a:pPr lvl="0" fontAlgn="base">
              <a:lnSpc>
                <a:spcPct val="130000"/>
              </a:lnSpc>
              <a:spcBef>
                <a:spcPct val="0"/>
              </a:spcBef>
              <a:spcAft>
                <a:spcPct val="0"/>
              </a:spcAft>
              <a:defRPr/>
            </a:pPr>
            <a:r>
              <a:rPr kumimoji="1" lang="zh-CN" altLang="en-US" sz="2400" b="1" kern="0" dirty="0">
                <a:solidFill>
                  <a:prstClr val="black"/>
                </a:solidFill>
                <a:latin typeface="黑体" panose="02010609060101010101" pitchFamily="49" charset="-122"/>
                <a:ea typeface="黑体" panose="02010609060101010101" pitchFamily="49" charset="-122"/>
              </a:rPr>
              <a:t>原因：</a:t>
            </a:r>
            <a:endParaRPr kumimoji="1" lang="en-US" altLang="zh-CN" sz="2400" b="1" kern="0" dirty="0">
              <a:solidFill>
                <a:prstClr val="black"/>
              </a:solidFill>
              <a:latin typeface="黑体" panose="02010609060101010101" pitchFamily="49" charset="-122"/>
              <a:ea typeface="黑体" panose="02010609060101010101" pitchFamily="49" charset="-122"/>
            </a:endParaRPr>
          </a:p>
          <a:p>
            <a:pPr marL="342900" lvl="0" indent="-342900" fontAlgn="base">
              <a:lnSpc>
                <a:spcPct val="130000"/>
              </a:lnSpc>
              <a:spcBef>
                <a:spcPct val="0"/>
              </a:spcBef>
              <a:spcAft>
                <a:spcPct val="0"/>
              </a:spcAft>
              <a:buFont typeface="Wingdings" panose="05000000000000000000" pitchFamily="2" charset="2"/>
              <a:buChar char="Ø"/>
              <a:defRPr/>
            </a:pPr>
            <a:r>
              <a:rPr kumimoji="1" lang="zh-CN" altLang="en-US" sz="2400" b="1" kern="0" dirty="0">
                <a:solidFill>
                  <a:prstClr val="black"/>
                </a:solidFill>
                <a:latin typeface="黑体" panose="02010609060101010101" pitchFamily="49" charset="-122"/>
                <a:ea typeface="黑体" panose="02010609060101010101" pitchFamily="49" charset="-122"/>
              </a:rPr>
              <a:t>二极管、三极管的状态转换需要一定的时间</a:t>
            </a:r>
            <a:endParaRPr kumimoji="1" lang="en-US" altLang="zh-CN" sz="2400" b="1" kern="0" dirty="0">
              <a:solidFill>
                <a:prstClr val="black"/>
              </a:solidFill>
              <a:latin typeface="黑体" panose="02010609060101010101" pitchFamily="49" charset="-122"/>
              <a:ea typeface="黑体" panose="02010609060101010101" pitchFamily="49" charset="-122"/>
            </a:endParaRPr>
          </a:p>
          <a:p>
            <a:pPr marL="342900" lvl="0" indent="-342900" fontAlgn="base">
              <a:lnSpc>
                <a:spcPct val="130000"/>
              </a:lnSpc>
              <a:spcBef>
                <a:spcPct val="0"/>
              </a:spcBef>
              <a:spcAft>
                <a:spcPct val="0"/>
              </a:spcAft>
              <a:buFont typeface="Wingdings" panose="05000000000000000000" pitchFamily="2" charset="2"/>
              <a:buChar char="Ø"/>
              <a:defRPr/>
            </a:pPr>
            <a:r>
              <a:rPr kumimoji="1" lang="zh-CN" altLang="en-US" sz="2400" b="1" kern="0" dirty="0">
                <a:solidFill>
                  <a:prstClr val="black"/>
                </a:solidFill>
                <a:latin typeface="黑体" panose="02010609060101010101" pitchFamily="49" charset="-122"/>
                <a:ea typeface="黑体" panose="02010609060101010101" pitchFamily="49" charset="-122"/>
              </a:rPr>
              <a:t>门电路中的寄生电容使得输出信号不能发生跳变</a:t>
            </a:r>
            <a:endParaRPr kumimoji="1" lang="zh-CN" altLang="en-US" sz="2400" b="1" kern="0" dirty="0">
              <a:solidFill>
                <a:prstClr val="black"/>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linds(horizontal)">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wipe(left)">
                                      <p:cBhvr>
                                        <p:cTn id="27" dur="500"/>
                                        <p:tgtEl>
                                          <p:spTgt spid="1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3"/>
                                        </p:tgtEl>
                                        <p:attrNameLst>
                                          <p:attrName>style.visibility</p:attrName>
                                        </p:attrNameLst>
                                      </p:cBhvr>
                                      <p:to>
                                        <p:strVal val="visible"/>
                                      </p:to>
                                    </p:set>
                                    <p:animEffect transition="in" filter="wipe(left)">
                                      <p:cBhvr>
                                        <p:cTn id="32" dur="500"/>
                                        <p:tgtEl>
                                          <p:spTgt spid="10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500"/>
                                        <p:tgtEl>
                                          <p:spTgt spid="10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5"/>
                                        </p:tgtEl>
                                        <p:attrNameLst>
                                          <p:attrName>style.visibility</p:attrName>
                                        </p:attrNameLst>
                                      </p:cBhvr>
                                      <p:to>
                                        <p:strVal val="visible"/>
                                      </p:to>
                                    </p:set>
                                    <p:animEffect transition="in" filter="fade">
                                      <p:cBhvr>
                                        <p:cTn id="42"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autoUpdateAnimBg="0"/>
      <p:bldP spid="102" grpId="0" autoUpdateAnimBg="0"/>
      <p:bldP spid="103" grpId="0" autoUpdateAnimBg="0"/>
      <p:bldP spid="10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2.4.2 TTL</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与非门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a:xfrm>
            <a:off x="59486" y="585289"/>
            <a:ext cx="8502514" cy="523220"/>
          </a:xfrm>
          <a:prstGeom prst="rect">
            <a:avLst/>
          </a:prstGeom>
          <a:noFill/>
        </p:spPr>
        <p:txBody>
          <a:bodyPr wrap="square" rtlCol="0">
            <a:spAutoFit/>
          </a:bodyPr>
          <a:lstStyle/>
          <a:p>
            <a:pPr>
              <a:spcAft>
                <a:spcPts val="1200"/>
              </a:spcAft>
            </a:pPr>
            <a:r>
              <a:rPr lang="en-US" altLang="zh-CN" sz="2800" b="1" dirty="0">
                <a:solidFill>
                  <a:srgbClr val="0000FF"/>
                </a:solidFill>
                <a:latin typeface="黑体" panose="02010609060101010101" pitchFamily="49" charset="-122"/>
                <a:ea typeface="黑体" panose="02010609060101010101" pitchFamily="49" charset="-122"/>
              </a:rPr>
              <a:t>TTL</a:t>
            </a:r>
            <a:r>
              <a:rPr lang="zh-CN" altLang="en-US" sz="2800" b="1" dirty="0">
                <a:solidFill>
                  <a:srgbClr val="0000FF"/>
                </a:solidFill>
                <a:latin typeface="黑体" panose="02010609060101010101" pitchFamily="49" charset="-122"/>
                <a:ea typeface="黑体" panose="02010609060101010101" pitchFamily="49" charset="-122"/>
              </a:rPr>
              <a:t>与非门的主要外部特性及参数</a:t>
            </a:r>
            <a:endParaRPr lang="en-US" altLang="zh-CN" sz="2400" b="1" dirty="0">
              <a:latin typeface="黑体" panose="02010609060101010101" pitchFamily="49" charset="-122"/>
              <a:ea typeface="黑体" panose="02010609060101010101" pitchFamily="49" charset="-122"/>
            </a:endParaRPr>
          </a:p>
        </p:txBody>
      </p:sp>
      <p:sp>
        <p:nvSpPr>
          <p:cNvPr id="250" name="Rectangle 3"/>
          <p:cNvSpPr txBox="1">
            <a:spLocks noChangeArrowheads="1"/>
          </p:cNvSpPr>
          <p:nvPr/>
        </p:nvSpPr>
        <p:spPr bwMode="auto">
          <a:xfrm>
            <a:off x="158316" y="1114144"/>
            <a:ext cx="5822950" cy="60007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rgbClr val="FF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4</a:t>
            </a:r>
            <a:r>
              <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rPr>
              <a:t>）功耗</a:t>
            </a:r>
            <a:endParaRPr kumimoji="0" lang="zh-CN" altLang="en-US" sz="2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endParaRPr>
          </a:p>
        </p:txBody>
      </p:sp>
      <p:sp>
        <p:nvSpPr>
          <p:cNvPr id="54" name="Rectangle 3"/>
          <p:cNvSpPr txBox="1">
            <a:spLocks noChangeArrowheads="1"/>
          </p:cNvSpPr>
          <p:nvPr/>
        </p:nvSpPr>
        <p:spPr bwMode="auto">
          <a:xfrm>
            <a:off x="252572" y="1723082"/>
            <a:ext cx="8732402" cy="238442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a:lstStyle>
          <a:p>
            <a:pPr marL="0" indent="0" algn="just" eaLnBrk="1" hangingPunct="1">
              <a:spcAft>
                <a:spcPts val="1200"/>
              </a:spcAft>
              <a:buFontTx/>
              <a:buNone/>
            </a:pPr>
            <a:r>
              <a:rPr lang="zh-CN" altLang="en-US" sz="2400" b="1" kern="0" dirty="0">
                <a:latin typeface="黑体" panose="02010609060101010101" pitchFamily="49" charset="-122"/>
                <a:ea typeface="黑体" panose="02010609060101010101" pitchFamily="49" charset="-122"/>
              </a:rPr>
              <a:t>逻辑门电路的功耗由电源电压</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a:t>
            </a:r>
            <a:r>
              <a:rPr lang="zh-CN" altLang="en-US" sz="2400" b="1" kern="0" dirty="0">
                <a:latin typeface="黑体" panose="02010609060101010101" pitchFamily="49" charset="-122"/>
                <a:ea typeface="黑体" panose="02010609060101010101" pitchFamily="49" charset="-122"/>
              </a:rPr>
              <a:t>引发的电流</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a:t>
            </a:r>
            <a:r>
              <a:rPr lang="zh-CN" altLang="en-US" sz="2400" b="1" kern="0" dirty="0">
                <a:latin typeface="黑体" panose="02010609060101010101" pitchFamily="49" charset="-122"/>
                <a:ea typeface="黑体" panose="02010609060101010101" pitchFamily="49" charset="-122"/>
              </a:rPr>
              <a:t>产生，用</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a:t>
            </a:r>
            <a:r>
              <a:rPr lang="zh-CN" altLang="en-US" sz="2400" b="1" kern="0" dirty="0">
                <a:latin typeface="黑体" panose="02010609060101010101" pitchFamily="49" charset="-122"/>
                <a:ea typeface="黑体" panose="02010609060101010101" pitchFamily="49" charset="-122"/>
              </a:rPr>
              <a:t>计算，单位为</a:t>
            </a:r>
            <a:r>
              <a:rPr lang="en-US" altLang="zh-CN" sz="2400" b="1" kern="0" dirty="0" err="1">
                <a:latin typeface="Times New Roman" panose="02020603050405020304" pitchFamily="18" charset="0"/>
                <a:ea typeface="黑体" panose="02010609060101010101" pitchFamily="49" charset="-122"/>
                <a:cs typeface="Times New Roman" panose="02020603050405020304" pitchFamily="18" charset="0"/>
              </a:rPr>
              <a:t>mW</a:t>
            </a:r>
            <a:r>
              <a:rPr lang="zh-CN" altLang="en-US" sz="2400" b="1" kern="0" dirty="0">
                <a:latin typeface="黑体" panose="02010609060101010101" pitchFamily="49" charset="-122"/>
                <a:ea typeface="黑体" panose="02010609060101010101" pitchFamily="49" charset="-122"/>
              </a:rPr>
              <a:t>。 </a:t>
            </a:r>
            <a:endParaRPr lang="zh-CN" altLang="en-US" sz="2400" b="1" kern="0" dirty="0">
              <a:latin typeface="黑体" panose="02010609060101010101" pitchFamily="49" charset="-122"/>
              <a:ea typeface="黑体" panose="02010609060101010101" pitchFamily="49" charset="-122"/>
            </a:endParaRPr>
          </a:p>
          <a:p>
            <a:pPr marL="0" indent="0" algn="just" eaLnBrk="1" hangingPunct="1">
              <a:buFontTx/>
              <a:buNone/>
            </a:pPr>
            <a:r>
              <a:rPr lang="zh-CN" altLang="en-US" sz="2400" b="1" kern="0" dirty="0">
                <a:latin typeface="黑体" panose="02010609060101010101" pitchFamily="49" charset="-122"/>
                <a:ea typeface="黑体" panose="02010609060101010101" pitchFamily="49" charset="-122"/>
              </a:rPr>
              <a:t>当门电路处于相对稳定工作状态时，将逻辑门输出高电平时的电源电流记为</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CCH</a:t>
            </a:r>
            <a:r>
              <a:rPr lang="zh-CN" altLang="en-US" sz="2400" b="1" kern="0" dirty="0">
                <a:latin typeface="黑体" panose="02010609060101010101" pitchFamily="49" charset="-122"/>
                <a:ea typeface="黑体" panose="02010609060101010101" pitchFamily="49" charset="-122"/>
              </a:rPr>
              <a:t>，输出低电平时的电源电流记为</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b="1" kern="0" baseline="-25000" dirty="0">
                <a:latin typeface="Times New Roman" panose="02020603050405020304" pitchFamily="18" charset="0"/>
                <a:ea typeface="黑体" panose="02010609060101010101" pitchFamily="49" charset="-122"/>
                <a:cs typeface="Times New Roman" panose="02020603050405020304" pitchFamily="18" charset="0"/>
              </a:rPr>
              <a:t>CCL</a:t>
            </a:r>
            <a:r>
              <a:rPr lang="zh-CN" altLang="en-US" sz="2400" b="1" kern="0" dirty="0">
                <a:latin typeface="黑体" panose="02010609060101010101" pitchFamily="49" charset="-122"/>
                <a:ea typeface="黑体" panose="02010609060101010101" pitchFamily="49" charset="-122"/>
              </a:rPr>
              <a:t>，其平均电源电流计算如下：</a:t>
            </a:r>
            <a:endParaRPr lang="zh-CN" altLang="en-US" sz="2400" b="1" kern="0" dirty="0">
              <a:latin typeface="黑体" panose="02010609060101010101" pitchFamily="49" charset="-122"/>
              <a:ea typeface="黑体" panose="02010609060101010101" pitchFamily="49" charset="-122"/>
            </a:endParaRPr>
          </a:p>
          <a:p>
            <a:pPr eaLnBrk="1" hangingPunct="1">
              <a:buFontTx/>
              <a:buNone/>
            </a:pPr>
            <a:endParaRPr lang="en-US" altLang="zh-CN" sz="2400" b="1" kern="0" dirty="0">
              <a:latin typeface="黑体" panose="02010609060101010101" pitchFamily="49" charset="-122"/>
              <a:ea typeface="黑体" panose="02010609060101010101" pitchFamily="49" charset="-122"/>
            </a:endParaRPr>
          </a:p>
        </p:txBody>
      </p:sp>
      <p:graphicFrame>
        <p:nvGraphicFramePr>
          <p:cNvPr id="55" name="Object 5"/>
          <p:cNvGraphicFramePr>
            <a:graphicFrameLocks noChangeAspect="1"/>
          </p:cNvGraphicFramePr>
          <p:nvPr/>
        </p:nvGraphicFramePr>
        <p:xfrm>
          <a:off x="3438989" y="3960157"/>
          <a:ext cx="3097212" cy="814387"/>
        </p:xfrm>
        <a:graphic>
          <a:graphicData uri="http://schemas.openxmlformats.org/presentationml/2006/ole">
            <mc:AlternateContent xmlns:mc="http://schemas.openxmlformats.org/markup-compatibility/2006">
              <mc:Choice xmlns:v="urn:schemas-microsoft-com:vml" Requires="v">
                <p:oleObj spid="_x0000_s3" name="Equation" r:id="rId2" imgW="1485900" imgH="393700" progId="Equation.DSMT4">
                  <p:embed/>
                </p:oleObj>
              </mc:Choice>
              <mc:Fallback>
                <p:oleObj name="Equation" r:id="rId2" imgW="1485900" imgH="393700" progId="Equation.DSMT4">
                  <p:embed/>
                  <p:pic>
                    <p:nvPicPr>
                      <p:cNvPr id="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8989" y="3960157"/>
                        <a:ext cx="3097212" cy="81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 name="Rectangle 6"/>
          <p:cNvSpPr>
            <a:spLocks noChangeArrowheads="1"/>
          </p:cNvSpPr>
          <p:nvPr/>
        </p:nvSpPr>
        <p:spPr bwMode="auto">
          <a:xfrm>
            <a:off x="556869" y="4960064"/>
            <a:ext cx="6480175" cy="1169551"/>
          </a:xfrm>
          <a:prstGeom prst="rect">
            <a:avLst/>
          </a:prstGeom>
          <a:noFill/>
          <a:ln w="9525">
            <a:noFill/>
            <a:miter lim="800000"/>
          </a:ln>
        </p:spPr>
        <p:txBody>
          <a:bodyPr>
            <a:spAutoFit/>
          </a:bodyPr>
          <a:lstStyle/>
          <a:p>
            <a:pPr fontAlgn="base">
              <a:spcBef>
                <a:spcPct val="50000"/>
              </a:spcBef>
              <a:spcAft>
                <a:spcPct val="0"/>
              </a:spcAft>
            </a:pPr>
            <a:r>
              <a:rPr kumimoji="1" lang="zh-CN" altLang="en-US" sz="2800" b="1" dirty="0">
                <a:solidFill>
                  <a:srgbClr val="FF0000"/>
                </a:solidFill>
                <a:latin typeface="黑体" panose="02010609060101010101" pitchFamily="49" charset="-122"/>
                <a:ea typeface="黑体" panose="02010609060101010101" pitchFamily="49" charset="-122"/>
              </a:rPr>
              <a:t>平均功耗为：</a:t>
            </a:r>
            <a:r>
              <a:rPr kumimoji="1" lang="zh-CN" altLang="en-US" sz="2800" dirty="0">
                <a:solidFill>
                  <a:srgbClr val="000000"/>
                </a:solidFill>
                <a:latin typeface="宋体" panose="02010600030101010101" pitchFamily="2" charset="-122"/>
              </a:rPr>
              <a:t>	</a:t>
            </a:r>
            <a:endParaRPr kumimoji="1" lang="zh-CN" altLang="en-US" sz="2800" dirty="0">
              <a:solidFill>
                <a:srgbClr val="000000"/>
              </a:solidFill>
              <a:latin typeface="宋体" panose="02010600030101010101" pitchFamily="2" charset="-122"/>
            </a:endParaRPr>
          </a:p>
          <a:p>
            <a:pPr algn="ctr" fontAlgn="base">
              <a:spcBef>
                <a:spcPct val="50000"/>
              </a:spcBef>
              <a:spcAft>
                <a:spcPct val="0"/>
              </a:spcAft>
            </a:pPr>
            <a:r>
              <a:rPr kumimoji="1" lang="en-US" altLang="zh-CN" sz="2800" dirty="0">
                <a:solidFill>
                  <a:srgbClr val="000000"/>
                </a:solidFill>
                <a:latin typeface="Times New Roman" panose="02020603050405020304" pitchFamily="18" charset="0"/>
                <a:cs typeface="Times New Roman" panose="02020603050405020304" pitchFamily="18" charset="0"/>
              </a:rPr>
              <a:t>P(</a:t>
            </a:r>
            <a:r>
              <a:rPr kumimoji="1" lang="en-US" altLang="zh-CN" sz="2800" dirty="0" err="1">
                <a:solidFill>
                  <a:srgbClr val="000000"/>
                </a:solidFill>
                <a:latin typeface="Times New Roman" panose="02020603050405020304" pitchFamily="18" charset="0"/>
                <a:cs typeface="Times New Roman" panose="02020603050405020304" pitchFamily="18" charset="0"/>
              </a:rPr>
              <a:t>avg</a:t>
            </a:r>
            <a:r>
              <a:rPr kumimoji="1" lang="en-US" altLang="zh-CN" sz="2800" dirty="0">
                <a:solidFill>
                  <a:srgbClr val="000000"/>
                </a:solidFill>
                <a:latin typeface="Times New Roman" panose="02020603050405020304" pitchFamily="18" charset="0"/>
                <a:cs typeface="Times New Roman" panose="02020603050405020304" pitchFamily="18" charset="0"/>
              </a:rPr>
              <a:t>)= V</a:t>
            </a:r>
            <a:r>
              <a:rPr kumimoji="1" lang="en-US" altLang="zh-CN" sz="2800" baseline="-25000" dirty="0">
                <a:solidFill>
                  <a:srgbClr val="000000"/>
                </a:solidFill>
                <a:latin typeface="Times New Roman" panose="02020603050405020304" pitchFamily="18" charset="0"/>
                <a:cs typeface="Times New Roman" panose="02020603050405020304" pitchFamily="18" charset="0"/>
              </a:rPr>
              <a:t>CC</a:t>
            </a:r>
            <a:r>
              <a:rPr kumimoji="1" lang="en-US" altLang="zh-CN" sz="2800" dirty="0">
                <a:solidFill>
                  <a:srgbClr val="000000"/>
                </a:solidFill>
                <a:latin typeface="Times New Roman" panose="02020603050405020304" pitchFamily="18" charset="0"/>
                <a:cs typeface="Times New Roman" panose="02020603050405020304" pitchFamily="18" charset="0"/>
              </a:rPr>
              <a:t>×I</a:t>
            </a:r>
            <a:r>
              <a:rPr kumimoji="1" lang="en-US" altLang="zh-CN" sz="2800" baseline="-25000" dirty="0">
                <a:solidFill>
                  <a:srgbClr val="000000"/>
                </a:solidFill>
                <a:latin typeface="Times New Roman" panose="02020603050405020304" pitchFamily="18" charset="0"/>
                <a:cs typeface="Times New Roman" panose="02020603050405020304" pitchFamily="18" charset="0"/>
              </a:rPr>
              <a:t>CC(</a:t>
            </a:r>
            <a:r>
              <a:rPr kumimoji="1" lang="en-US" altLang="zh-CN" sz="2800" baseline="-25000" dirty="0" err="1">
                <a:solidFill>
                  <a:srgbClr val="000000"/>
                </a:solidFill>
                <a:latin typeface="Times New Roman" panose="02020603050405020304" pitchFamily="18" charset="0"/>
                <a:cs typeface="Times New Roman" panose="02020603050405020304" pitchFamily="18" charset="0"/>
              </a:rPr>
              <a:t>avg</a:t>
            </a:r>
            <a:r>
              <a:rPr kumimoji="1" lang="en-US" altLang="zh-CN" sz="2800" baseline="-25000" dirty="0">
                <a:solidFill>
                  <a:srgbClr val="000000"/>
                </a:solidFill>
                <a:latin typeface="Times New Roman" panose="02020603050405020304" pitchFamily="18" charset="0"/>
                <a:cs typeface="Times New Roman" panose="02020603050405020304" pitchFamily="18" charset="0"/>
              </a:rPr>
              <a:t>)</a:t>
            </a:r>
            <a:endParaRPr kumimoji="1" lang="en-US" altLang="zh-CN" sz="2800" baseline="-25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网chenying0907出品 10"/>
          <p:cNvSpPr txBox="1"/>
          <p:nvPr/>
        </p:nvSpPr>
        <p:spPr>
          <a:xfrm>
            <a:off x="950159" y="3078790"/>
            <a:ext cx="2075207" cy="892552"/>
          </a:xfrm>
          <a:prstGeom prst="rect">
            <a:avLst/>
          </a:prstGeom>
          <a:noFill/>
        </p:spPr>
        <p:txBody>
          <a:bodyPr wrap="square" rtlCol="0">
            <a:spAutoFit/>
          </a:bodyPr>
          <a:lstStyle/>
          <a:p>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主要内容</a:t>
            </a:r>
            <a:r>
              <a:rPr lang="en-US" altLang="zh-CN" sz="1600" b="1" dirty="0">
                <a:solidFill>
                  <a:schemeClr val="accent1">
                    <a:lumMod val="50000"/>
                  </a:schemeClr>
                </a:solidFill>
              </a:rPr>
              <a:t> Main Content</a:t>
            </a:r>
            <a:endParaRPr lang="zh-CN" altLang="en-US" sz="1600" dirty="0">
              <a:solidFill>
                <a:schemeClr val="accent1">
                  <a:lumMod val="50000"/>
                </a:schemeClr>
              </a:solidFill>
            </a:endParaRPr>
          </a:p>
        </p:txBody>
      </p:sp>
      <p:sp>
        <p:nvSpPr>
          <p:cNvPr id="12" name="淘宝网chenying0907出品 11"/>
          <p:cNvSpPr/>
          <p:nvPr/>
        </p:nvSpPr>
        <p:spPr>
          <a:xfrm>
            <a:off x="3025365" y="0"/>
            <a:ext cx="611863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025365" y="39481"/>
            <a:ext cx="2394626" cy="19630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40121" y="4809438"/>
            <a:ext cx="2303880" cy="20485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379107" y="1637584"/>
            <a:ext cx="2681424"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379107" y="2447277"/>
            <a:ext cx="2481391"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TTL</a:t>
            </a:r>
            <a:r>
              <a:rPr lang="zh-CN" altLang="en-US" dirty="0"/>
              <a:t>与非门</a:t>
            </a:r>
            <a:endParaRPr lang="zh-CN" altLang="en-US" dirty="0"/>
          </a:p>
        </p:txBody>
      </p:sp>
      <p:sp>
        <p:nvSpPr>
          <p:cNvPr id="30" name="淘宝网chenying0907出品 29"/>
          <p:cNvSpPr txBox="1"/>
          <p:nvPr/>
        </p:nvSpPr>
        <p:spPr>
          <a:xfrm>
            <a:off x="4379107" y="3256970"/>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集电极开路门</a:t>
            </a:r>
            <a:endParaRPr lang="zh-CN" altLang="en-US" dirty="0">
              <a:solidFill>
                <a:schemeClr val="bg1"/>
              </a:solidFill>
            </a:endParaRPr>
          </a:p>
        </p:txBody>
      </p:sp>
      <p:sp>
        <p:nvSpPr>
          <p:cNvPr id="22" name="淘宝网chenying0907出品 25"/>
          <p:cNvSpPr txBox="1"/>
          <p:nvPr/>
        </p:nvSpPr>
        <p:spPr>
          <a:xfrm>
            <a:off x="4421969" y="4876356"/>
            <a:ext cx="3973093"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CMOS</a:t>
            </a:r>
            <a:r>
              <a:rPr lang="zh-CN" altLang="en-US" dirty="0"/>
              <a:t>反相器</a:t>
            </a:r>
            <a:endParaRPr lang="zh-CN" altLang="en-US" dirty="0"/>
          </a:p>
        </p:txBody>
      </p:sp>
      <p:sp>
        <p:nvSpPr>
          <p:cNvPr id="18" name="淘宝网chenying0907出品 29"/>
          <p:cNvSpPr txBox="1"/>
          <p:nvPr/>
        </p:nvSpPr>
        <p:spPr>
          <a:xfrm>
            <a:off x="4421969" y="4066663"/>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三态门</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95" name="Text Box 3"/>
          <p:cNvSpPr txBox="1">
            <a:spLocks noChangeArrowheads="1"/>
          </p:cNvSpPr>
          <p:nvPr/>
        </p:nvSpPr>
        <p:spPr bwMode="auto">
          <a:xfrm>
            <a:off x="216434" y="651157"/>
            <a:ext cx="4775200"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推拉式输出结构的局限性：</a:t>
            </a:r>
            <a:endPar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a:p>
            <a:pPr marL="0" marR="0" lvl="0" indent="0" defTabSz="914400" eaLnBrk="1" fontAlgn="base" latinLnBrk="0" hangingPunct="1">
              <a:lnSpc>
                <a:spcPct val="130000"/>
              </a:lnSpc>
              <a:spcBef>
                <a:spcPct val="0"/>
              </a:spcBef>
              <a:spcAft>
                <a:spcPct val="0"/>
              </a:spcAft>
              <a:buClrTx/>
              <a:buSzTx/>
              <a:buFontTx/>
              <a:buChar char="•"/>
              <a:defRPr/>
            </a:pPr>
            <a:r>
              <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rPr>
              <a:t>不允许输出端并联使用</a:t>
            </a:r>
            <a:endPar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a:p>
            <a:pPr marL="0" marR="0" lvl="0" indent="0" defTabSz="914400" eaLnBrk="1" fontAlgn="base" latinLnBrk="0" hangingPunct="1">
              <a:lnSpc>
                <a:spcPct val="130000"/>
              </a:lnSpc>
              <a:spcBef>
                <a:spcPct val="0"/>
              </a:spcBef>
              <a:spcAft>
                <a:spcPct val="0"/>
              </a:spcAft>
              <a:buClrTx/>
              <a:buSzTx/>
              <a:buFontTx/>
              <a:buChar char="•"/>
              <a:defRPr/>
            </a:pPr>
            <a:r>
              <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rPr>
              <a:t>电源确定后输出高电平不能变化</a:t>
            </a:r>
            <a:endPar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a:p>
            <a:pPr marL="0" marR="0" lvl="0" indent="0" defTabSz="914400" eaLnBrk="1" fontAlgn="base" latinLnBrk="0" hangingPunct="1">
              <a:lnSpc>
                <a:spcPct val="130000"/>
              </a:lnSpc>
              <a:spcBef>
                <a:spcPct val="0"/>
              </a:spcBef>
              <a:spcAft>
                <a:spcPct val="0"/>
              </a:spcAft>
              <a:buClrTx/>
              <a:buSzTx/>
              <a:buFontTx/>
              <a:buChar char="•"/>
              <a:defRPr/>
            </a:pPr>
            <a:r>
              <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rPr>
              <a:t>驱动能力不够</a:t>
            </a:r>
            <a:endPar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p:txBody>
      </p:sp>
      <p:sp>
        <p:nvSpPr>
          <p:cNvPr id="96" name="Text Box 4"/>
          <p:cNvSpPr txBox="1">
            <a:spLocks noChangeArrowheads="1"/>
          </p:cNvSpPr>
          <p:nvPr/>
        </p:nvSpPr>
        <p:spPr bwMode="auto">
          <a:xfrm>
            <a:off x="152400" y="4867275"/>
            <a:ext cx="4851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克服上述局限性的办法：把输出级改成集电极开路的三极管结构。称为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集电极开路的门电路</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，简称</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OC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门</a:t>
            </a:r>
            <a:r>
              <a:rPr kumimoji="1" lang="zh-CN" altLang="en-US" sz="2400" kern="0" dirty="0">
                <a:solidFill>
                  <a:srgbClr val="333399"/>
                </a:solidFill>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Text Box 5"/>
          <p:cNvSpPr txBox="1">
            <a:spLocks noChangeArrowheads="1"/>
          </p:cNvSpPr>
          <p:nvPr/>
        </p:nvSpPr>
        <p:spPr bwMode="auto">
          <a:xfrm>
            <a:off x="173038" y="2777687"/>
            <a:ext cx="4851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门输出高电平，</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门输出低电平，将两个输出端连接后，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门的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门的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同时导通，</a:t>
            </a: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产生很大的电流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，可能使门电路损坏。</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98" name="Group 6"/>
          <p:cNvGrpSpPr/>
          <p:nvPr/>
        </p:nvGrpSpPr>
        <p:grpSpPr bwMode="auto">
          <a:xfrm>
            <a:off x="5024438" y="790259"/>
            <a:ext cx="3944938" cy="5896606"/>
            <a:chOff x="3133" y="144"/>
            <a:chExt cx="2485" cy="4130"/>
          </a:xfrm>
        </p:grpSpPr>
        <p:grpSp>
          <p:nvGrpSpPr>
            <p:cNvPr id="99" name="Group 7"/>
            <p:cNvGrpSpPr/>
            <p:nvPr/>
          </p:nvGrpSpPr>
          <p:grpSpPr bwMode="auto">
            <a:xfrm>
              <a:off x="3133" y="144"/>
              <a:ext cx="2147" cy="4130"/>
              <a:chOff x="3133" y="144"/>
              <a:chExt cx="2147" cy="4130"/>
            </a:xfrm>
          </p:grpSpPr>
          <p:sp>
            <p:nvSpPr>
              <p:cNvPr id="101" name="Text Box 8"/>
              <p:cNvSpPr txBox="1">
                <a:spLocks noChangeArrowheads="1"/>
              </p:cNvSpPr>
              <p:nvPr/>
            </p:nvSpPr>
            <p:spPr bwMode="auto">
              <a:xfrm>
                <a:off x="4368" y="28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Line 9"/>
              <p:cNvSpPr>
                <a:spLocks noChangeShapeType="1"/>
              </p:cNvSpPr>
              <p:nvPr/>
            </p:nvSpPr>
            <p:spPr bwMode="auto">
              <a:xfrm>
                <a:off x="4140" y="2698"/>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3" name="Line 10"/>
              <p:cNvSpPr>
                <a:spLocks noChangeShapeType="1"/>
              </p:cNvSpPr>
              <p:nvPr/>
            </p:nvSpPr>
            <p:spPr bwMode="auto">
              <a:xfrm flipV="1">
                <a:off x="4140" y="2722"/>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4" name="Line 11"/>
              <p:cNvSpPr>
                <a:spLocks noChangeShapeType="1"/>
              </p:cNvSpPr>
              <p:nvPr/>
            </p:nvSpPr>
            <p:spPr bwMode="auto">
              <a:xfrm>
                <a:off x="4140" y="2818"/>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5" name="Line 12"/>
              <p:cNvSpPr>
                <a:spLocks noChangeShapeType="1"/>
              </p:cNvSpPr>
              <p:nvPr/>
            </p:nvSpPr>
            <p:spPr bwMode="auto">
              <a:xfrm>
                <a:off x="4283" y="2927"/>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6" name="Line 13"/>
              <p:cNvSpPr>
                <a:spLocks noChangeShapeType="1"/>
              </p:cNvSpPr>
              <p:nvPr/>
            </p:nvSpPr>
            <p:spPr bwMode="auto">
              <a:xfrm>
                <a:off x="3804" y="2830"/>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7" name="Line 14"/>
              <p:cNvSpPr>
                <a:spLocks noChangeShapeType="1"/>
              </p:cNvSpPr>
              <p:nvPr/>
            </p:nvSpPr>
            <p:spPr bwMode="auto">
              <a:xfrm flipV="1">
                <a:off x="4278" y="2538"/>
                <a:ext cx="0" cy="19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8" name="Rectangle 15"/>
              <p:cNvSpPr>
                <a:spLocks noChangeArrowheads="1"/>
              </p:cNvSpPr>
              <p:nvPr/>
            </p:nvSpPr>
            <p:spPr bwMode="auto">
              <a:xfrm>
                <a:off x="4233" y="225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9" name="Text Box 16"/>
              <p:cNvSpPr txBox="1">
                <a:spLocks noChangeArrowheads="1"/>
              </p:cNvSpPr>
              <p:nvPr/>
            </p:nvSpPr>
            <p:spPr bwMode="auto">
              <a:xfrm>
                <a:off x="4464" y="211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10" name="Group 17"/>
              <p:cNvGrpSpPr/>
              <p:nvPr/>
            </p:nvGrpSpPr>
            <p:grpSpPr bwMode="auto">
              <a:xfrm rot="5400000" flipH="1">
                <a:off x="4211" y="3002"/>
                <a:ext cx="147" cy="192"/>
                <a:chOff x="3069" y="2148"/>
                <a:chExt cx="147" cy="192"/>
              </a:xfrm>
            </p:grpSpPr>
            <p:sp>
              <p:nvSpPr>
                <p:cNvPr id="172" name="Line 18"/>
                <p:cNvSpPr>
                  <a:spLocks noChangeShapeType="1"/>
                </p:cNvSpPr>
                <p:nvPr/>
              </p:nvSpPr>
              <p:spPr bwMode="auto">
                <a:xfrm>
                  <a:off x="3069" y="2148"/>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3" name="AutoShape 19"/>
                <p:cNvSpPr>
                  <a:spLocks noChangeArrowheads="1"/>
                </p:cNvSpPr>
                <p:nvPr/>
              </p:nvSpPr>
              <p:spPr bwMode="auto">
                <a:xfrm rot="-5400000">
                  <a:off x="3058" y="2169"/>
                  <a:ext cx="170" cy="147"/>
                </a:xfrm>
                <a:prstGeom prst="triangle">
                  <a:avLst>
                    <a:gd name="adj" fmla="val 50000"/>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11" name="Line 20"/>
              <p:cNvSpPr>
                <a:spLocks noChangeShapeType="1"/>
              </p:cNvSpPr>
              <p:nvPr/>
            </p:nvSpPr>
            <p:spPr bwMode="auto">
              <a:xfrm>
                <a:off x="4141" y="3426"/>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2" name="Line 21"/>
              <p:cNvSpPr>
                <a:spLocks noChangeShapeType="1"/>
              </p:cNvSpPr>
              <p:nvPr/>
            </p:nvSpPr>
            <p:spPr bwMode="auto">
              <a:xfrm flipV="1">
                <a:off x="4141" y="3450"/>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3" name="Line 22"/>
              <p:cNvSpPr>
                <a:spLocks noChangeShapeType="1"/>
              </p:cNvSpPr>
              <p:nvPr/>
            </p:nvSpPr>
            <p:spPr bwMode="auto">
              <a:xfrm>
                <a:off x="4141" y="3546"/>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4" name="Line 23"/>
              <p:cNvSpPr>
                <a:spLocks noChangeShapeType="1"/>
              </p:cNvSpPr>
              <p:nvPr/>
            </p:nvSpPr>
            <p:spPr bwMode="auto">
              <a:xfrm>
                <a:off x="3805" y="3552"/>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5" name="Line 24"/>
              <p:cNvSpPr>
                <a:spLocks noChangeShapeType="1"/>
              </p:cNvSpPr>
              <p:nvPr/>
            </p:nvSpPr>
            <p:spPr bwMode="auto">
              <a:xfrm flipV="1">
                <a:off x="4285" y="3120"/>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6" name="Rectangle 25"/>
              <p:cNvSpPr>
                <a:spLocks noChangeArrowheads="1"/>
              </p:cNvSpPr>
              <p:nvPr/>
            </p:nvSpPr>
            <p:spPr bwMode="auto">
              <a:xfrm>
                <a:off x="3696" y="235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7" name="Line 26"/>
              <p:cNvSpPr>
                <a:spLocks noChangeShapeType="1"/>
              </p:cNvSpPr>
              <p:nvPr/>
            </p:nvSpPr>
            <p:spPr bwMode="auto">
              <a:xfrm flipV="1">
                <a:off x="3731" y="2099"/>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8" name="Line 27"/>
              <p:cNvSpPr>
                <a:spLocks noChangeShapeType="1"/>
              </p:cNvSpPr>
              <p:nvPr/>
            </p:nvSpPr>
            <p:spPr bwMode="auto">
              <a:xfrm flipV="1">
                <a:off x="4272" y="2099"/>
                <a:ext cx="0" cy="14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9" name="Line 28"/>
              <p:cNvSpPr>
                <a:spLocks noChangeShapeType="1"/>
              </p:cNvSpPr>
              <p:nvPr/>
            </p:nvSpPr>
            <p:spPr bwMode="auto">
              <a:xfrm>
                <a:off x="4291" y="3312"/>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0" name="Text Box 29"/>
              <p:cNvSpPr txBox="1">
                <a:spLocks noChangeArrowheads="1"/>
              </p:cNvSpPr>
              <p:nvPr/>
            </p:nvSpPr>
            <p:spPr bwMode="auto">
              <a:xfrm>
                <a:off x="3931" y="225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4</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1" name="Oval 30"/>
              <p:cNvSpPr>
                <a:spLocks noChangeArrowheads="1"/>
              </p:cNvSpPr>
              <p:nvPr/>
            </p:nvSpPr>
            <p:spPr bwMode="auto">
              <a:xfrm>
                <a:off x="4250" y="2093"/>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2" name="Oval 31"/>
              <p:cNvSpPr>
                <a:spLocks noChangeArrowheads="1"/>
              </p:cNvSpPr>
              <p:nvPr/>
            </p:nvSpPr>
            <p:spPr bwMode="auto">
              <a:xfrm>
                <a:off x="4254" y="3293"/>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3" name="Text Box 32"/>
              <p:cNvSpPr txBox="1">
                <a:spLocks noChangeArrowheads="1"/>
              </p:cNvSpPr>
              <p:nvPr/>
            </p:nvSpPr>
            <p:spPr bwMode="auto">
              <a:xfrm>
                <a:off x="4416" y="2969"/>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4" name="Text Box 33"/>
              <p:cNvSpPr txBox="1">
                <a:spLocks noChangeArrowheads="1"/>
              </p:cNvSpPr>
              <p:nvPr/>
            </p:nvSpPr>
            <p:spPr bwMode="auto">
              <a:xfrm>
                <a:off x="4272" y="3366"/>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5" name="Line 34"/>
              <p:cNvSpPr>
                <a:spLocks noChangeShapeType="1"/>
              </p:cNvSpPr>
              <p:nvPr/>
            </p:nvSpPr>
            <p:spPr bwMode="auto">
              <a:xfrm>
                <a:off x="3744" y="2112"/>
                <a:ext cx="864"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6" name="Freeform 35"/>
              <p:cNvSpPr/>
              <p:nvPr/>
            </p:nvSpPr>
            <p:spPr bwMode="auto">
              <a:xfrm>
                <a:off x="3744" y="2640"/>
                <a:ext cx="96" cy="192"/>
              </a:xfrm>
              <a:custGeom>
                <a:avLst/>
                <a:gdLst>
                  <a:gd name="T0" fmla="*/ 0 w 96"/>
                  <a:gd name="T1" fmla="*/ 0 h 192"/>
                  <a:gd name="T2" fmla="*/ 0 w 96"/>
                  <a:gd name="T3" fmla="*/ 192 h 192"/>
                  <a:gd name="T4" fmla="*/ 96 w 96"/>
                  <a:gd name="T5" fmla="*/ 192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0"/>
                    </a:moveTo>
                    <a:lnTo>
                      <a:pt x="0" y="192"/>
                    </a:lnTo>
                    <a:lnTo>
                      <a:pt x="96" y="19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7" name="Line 36"/>
              <p:cNvSpPr>
                <a:spLocks noChangeShapeType="1"/>
              </p:cNvSpPr>
              <p:nvPr/>
            </p:nvSpPr>
            <p:spPr bwMode="auto">
              <a:xfrm>
                <a:off x="4092" y="87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8" name="Line 37"/>
              <p:cNvSpPr>
                <a:spLocks noChangeShapeType="1"/>
              </p:cNvSpPr>
              <p:nvPr/>
            </p:nvSpPr>
            <p:spPr bwMode="auto">
              <a:xfrm flipV="1">
                <a:off x="4092" y="89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9" name="Line 38"/>
              <p:cNvSpPr>
                <a:spLocks noChangeShapeType="1"/>
              </p:cNvSpPr>
              <p:nvPr/>
            </p:nvSpPr>
            <p:spPr bwMode="auto">
              <a:xfrm>
                <a:off x="4092" y="99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0" name="Line 39"/>
              <p:cNvSpPr>
                <a:spLocks noChangeShapeType="1"/>
              </p:cNvSpPr>
              <p:nvPr/>
            </p:nvSpPr>
            <p:spPr bwMode="auto">
              <a:xfrm>
                <a:off x="4235" y="110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1" name="Line 40"/>
              <p:cNvSpPr>
                <a:spLocks noChangeShapeType="1"/>
              </p:cNvSpPr>
              <p:nvPr/>
            </p:nvSpPr>
            <p:spPr bwMode="auto">
              <a:xfrm>
                <a:off x="3756" y="100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2" name="Line 41"/>
              <p:cNvSpPr>
                <a:spLocks noChangeShapeType="1"/>
              </p:cNvSpPr>
              <p:nvPr/>
            </p:nvSpPr>
            <p:spPr bwMode="auto">
              <a:xfrm flipV="1">
                <a:off x="4230" y="714"/>
                <a:ext cx="0" cy="19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3" name="Rectangle 42"/>
              <p:cNvSpPr>
                <a:spLocks noChangeArrowheads="1"/>
              </p:cNvSpPr>
              <p:nvPr/>
            </p:nvSpPr>
            <p:spPr bwMode="auto">
              <a:xfrm>
                <a:off x="4185" y="43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34" name="Group 43"/>
              <p:cNvGrpSpPr/>
              <p:nvPr/>
            </p:nvGrpSpPr>
            <p:grpSpPr bwMode="auto">
              <a:xfrm rot="5400000" flipH="1">
                <a:off x="4163" y="1178"/>
                <a:ext cx="147" cy="192"/>
                <a:chOff x="3069" y="2148"/>
                <a:chExt cx="147" cy="192"/>
              </a:xfrm>
            </p:grpSpPr>
            <p:sp>
              <p:nvSpPr>
                <p:cNvPr id="170" name="Line 44"/>
                <p:cNvSpPr>
                  <a:spLocks noChangeShapeType="1"/>
                </p:cNvSpPr>
                <p:nvPr/>
              </p:nvSpPr>
              <p:spPr bwMode="auto">
                <a:xfrm>
                  <a:off x="3069" y="2148"/>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1" name="AutoShape 45"/>
                <p:cNvSpPr>
                  <a:spLocks noChangeArrowheads="1"/>
                </p:cNvSpPr>
                <p:nvPr/>
              </p:nvSpPr>
              <p:spPr bwMode="auto">
                <a:xfrm rot="-5400000">
                  <a:off x="3058" y="2169"/>
                  <a:ext cx="170" cy="147"/>
                </a:xfrm>
                <a:prstGeom prst="triangle">
                  <a:avLst>
                    <a:gd name="adj" fmla="val 50000"/>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35" name="Line 46"/>
              <p:cNvSpPr>
                <a:spLocks noChangeShapeType="1"/>
              </p:cNvSpPr>
              <p:nvPr/>
            </p:nvSpPr>
            <p:spPr bwMode="auto">
              <a:xfrm>
                <a:off x="4093" y="1602"/>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6" name="Line 47"/>
              <p:cNvSpPr>
                <a:spLocks noChangeShapeType="1"/>
              </p:cNvSpPr>
              <p:nvPr/>
            </p:nvSpPr>
            <p:spPr bwMode="auto">
              <a:xfrm flipV="1">
                <a:off x="4093" y="1626"/>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7" name="Line 48"/>
              <p:cNvSpPr>
                <a:spLocks noChangeShapeType="1"/>
              </p:cNvSpPr>
              <p:nvPr/>
            </p:nvSpPr>
            <p:spPr bwMode="auto">
              <a:xfrm>
                <a:off x="4093" y="1722"/>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8" name="Line 49"/>
              <p:cNvSpPr>
                <a:spLocks noChangeShapeType="1"/>
              </p:cNvSpPr>
              <p:nvPr/>
            </p:nvSpPr>
            <p:spPr bwMode="auto">
              <a:xfrm>
                <a:off x="3757" y="1728"/>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9" name="Line 50"/>
              <p:cNvSpPr>
                <a:spLocks noChangeShapeType="1"/>
              </p:cNvSpPr>
              <p:nvPr/>
            </p:nvSpPr>
            <p:spPr bwMode="auto">
              <a:xfrm flipV="1">
                <a:off x="4237" y="1296"/>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0" name="Rectangle 51"/>
              <p:cNvSpPr>
                <a:spLocks noChangeArrowheads="1"/>
              </p:cNvSpPr>
              <p:nvPr/>
            </p:nvSpPr>
            <p:spPr bwMode="auto">
              <a:xfrm>
                <a:off x="3648" y="528"/>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1" name="Line 52"/>
              <p:cNvSpPr>
                <a:spLocks noChangeShapeType="1"/>
              </p:cNvSpPr>
              <p:nvPr/>
            </p:nvSpPr>
            <p:spPr bwMode="auto">
              <a:xfrm flipV="1">
                <a:off x="3683" y="275"/>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2" name="Line 53"/>
              <p:cNvSpPr>
                <a:spLocks noChangeShapeType="1"/>
              </p:cNvSpPr>
              <p:nvPr/>
            </p:nvSpPr>
            <p:spPr bwMode="auto">
              <a:xfrm flipV="1">
                <a:off x="4224" y="275"/>
                <a:ext cx="0" cy="14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3" name="Line 54"/>
              <p:cNvSpPr>
                <a:spLocks noChangeShapeType="1"/>
              </p:cNvSpPr>
              <p:nvPr/>
            </p:nvSpPr>
            <p:spPr bwMode="auto">
              <a:xfrm>
                <a:off x="4243" y="1488"/>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4" name="Text Box 55"/>
              <p:cNvSpPr txBox="1">
                <a:spLocks noChangeArrowheads="1"/>
              </p:cNvSpPr>
              <p:nvPr/>
            </p:nvSpPr>
            <p:spPr bwMode="auto">
              <a:xfrm>
                <a:off x="3883" y="43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4</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5" name="Oval 56"/>
              <p:cNvSpPr>
                <a:spLocks noChangeArrowheads="1"/>
              </p:cNvSpPr>
              <p:nvPr/>
            </p:nvSpPr>
            <p:spPr bwMode="auto">
              <a:xfrm>
                <a:off x="4202" y="269"/>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6" name="Oval 57"/>
              <p:cNvSpPr>
                <a:spLocks noChangeArrowheads="1"/>
              </p:cNvSpPr>
              <p:nvPr/>
            </p:nvSpPr>
            <p:spPr bwMode="auto">
              <a:xfrm>
                <a:off x="4206" y="1469"/>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7" name="Text Box 58"/>
              <p:cNvSpPr txBox="1">
                <a:spLocks noChangeArrowheads="1"/>
              </p:cNvSpPr>
              <p:nvPr/>
            </p:nvSpPr>
            <p:spPr bwMode="auto">
              <a:xfrm>
                <a:off x="4416" y="1056"/>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8" name="Text Box 59"/>
              <p:cNvSpPr txBox="1">
                <a:spLocks noChangeArrowheads="1"/>
              </p:cNvSpPr>
              <p:nvPr/>
            </p:nvSpPr>
            <p:spPr bwMode="auto">
              <a:xfrm>
                <a:off x="3811" y="1040"/>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4</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9" name="Line 60"/>
              <p:cNvSpPr>
                <a:spLocks noChangeShapeType="1"/>
              </p:cNvSpPr>
              <p:nvPr/>
            </p:nvSpPr>
            <p:spPr bwMode="auto">
              <a:xfrm>
                <a:off x="3696" y="288"/>
                <a:ext cx="864"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0" name="Freeform 61"/>
              <p:cNvSpPr/>
              <p:nvPr/>
            </p:nvSpPr>
            <p:spPr bwMode="auto">
              <a:xfrm>
                <a:off x="3696" y="816"/>
                <a:ext cx="96" cy="192"/>
              </a:xfrm>
              <a:custGeom>
                <a:avLst/>
                <a:gdLst>
                  <a:gd name="T0" fmla="*/ 0 w 96"/>
                  <a:gd name="T1" fmla="*/ 0 h 192"/>
                  <a:gd name="T2" fmla="*/ 0 w 96"/>
                  <a:gd name="T3" fmla="*/ 192 h 192"/>
                  <a:gd name="T4" fmla="*/ 96 w 96"/>
                  <a:gd name="T5" fmla="*/ 192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0"/>
                    </a:moveTo>
                    <a:lnTo>
                      <a:pt x="0" y="192"/>
                    </a:lnTo>
                    <a:lnTo>
                      <a:pt x="96" y="19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1" name="Oval 62"/>
              <p:cNvSpPr>
                <a:spLocks noChangeArrowheads="1"/>
              </p:cNvSpPr>
              <p:nvPr/>
            </p:nvSpPr>
            <p:spPr bwMode="auto">
              <a:xfrm>
                <a:off x="4656" y="1440"/>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2" name="Oval 63"/>
              <p:cNvSpPr>
                <a:spLocks noChangeArrowheads="1"/>
              </p:cNvSpPr>
              <p:nvPr/>
            </p:nvSpPr>
            <p:spPr bwMode="auto">
              <a:xfrm>
                <a:off x="4656" y="3264"/>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3" name="Freeform 64"/>
              <p:cNvSpPr/>
              <p:nvPr/>
            </p:nvSpPr>
            <p:spPr bwMode="auto">
              <a:xfrm>
                <a:off x="4752" y="1488"/>
                <a:ext cx="384" cy="1824"/>
              </a:xfrm>
              <a:custGeom>
                <a:avLst/>
                <a:gdLst>
                  <a:gd name="T0" fmla="*/ 0 w 240"/>
                  <a:gd name="T1" fmla="*/ 0 h 1824"/>
                  <a:gd name="T2" fmla="*/ 240 w 240"/>
                  <a:gd name="T3" fmla="*/ 0 h 1824"/>
                  <a:gd name="T4" fmla="*/ 240 w 240"/>
                  <a:gd name="T5" fmla="*/ 1824 h 1824"/>
                  <a:gd name="T6" fmla="*/ 0 w 240"/>
                  <a:gd name="T7" fmla="*/ 1824 h 1824"/>
                  <a:gd name="T8" fmla="*/ 0 60000 65536"/>
                  <a:gd name="T9" fmla="*/ 0 60000 65536"/>
                  <a:gd name="T10" fmla="*/ 0 60000 65536"/>
                  <a:gd name="T11" fmla="*/ 0 60000 65536"/>
                  <a:gd name="T12" fmla="*/ 0 w 240"/>
                  <a:gd name="T13" fmla="*/ 0 h 1824"/>
                  <a:gd name="T14" fmla="*/ 240 w 240"/>
                  <a:gd name="T15" fmla="*/ 1824 h 1824"/>
                </a:gdLst>
                <a:ahLst/>
                <a:cxnLst>
                  <a:cxn ang="T8">
                    <a:pos x="T0" y="T1"/>
                  </a:cxn>
                  <a:cxn ang="T9">
                    <a:pos x="T2" y="T3"/>
                  </a:cxn>
                  <a:cxn ang="T10">
                    <a:pos x="T4" y="T5"/>
                  </a:cxn>
                  <a:cxn ang="T11">
                    <a:pos x="T6" y="T7"/>
                  </a:cxn>
                </a:cxnLst>
                <a:rect l="T12" t="T13" r="T14" b="T15"/>
                <a:pathLst>
                  <a:path w="240" h="1824">
                    <a:moveTo>
                      <a:pt x="0" y="0"/>
                    </a:moveTo>
                    <a:lnTo>
                      <a:pt x="240" y="0"/>
                    </a:lnTo>
                    <a:lnTo>
                      <a:pt x="240" y="1824"/>
                    </a:lnTo>
                    <a:lnTo>
                      <a:pt x="0" y="182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4" name="Line 65"/>
              <p:cNvSpPr>
                <a:spLocks noChangeShapeType="1"/>
              </p:cNvSpPr>
              <p:nvPr/>
            </p:nvSpPr>
            <p:spPr bwMode="auto">
              <a:xfrm>
                <a:off x="4282" y="3649"/>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5" name="Line 66"/>
              <p:cNvSpPr>
                <a:spLocks noChangeShapeType="1"/>
              </p:cNvSpPr>
              <p:nvPr/>
            </p:nvSpPr>
            <p:spPr bwMode="auto">
              <a:xfrm>
                <a:off x="3696" y="3552"/>
                <a:ext cx="44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56" name="Group 67"/>
              <p:cNvGrpSpPr/>
              <p:nvPr/>
            </p:nvGrpSpPr>
            <p:grpSpPr bwMode="auto">
              <a:xfrm>
                <a:off x="4181" y="3936"/>
                <a:ext cx="208" cy="288"/>
                <a:chOff x="2304" y="336"/>
                <a:chExt cx="195" cy="240"/>
              </a:xfrm>
            </p:grpSpPr>
            <p:sp>
              <p:nvSpPr>
                <p:cNvPr id="168" name="Line 68"/>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9" name="Line 69"/>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57" name="Line 70"/>
              <p:cNvSpPr>
                <a:spLocks noChangeShapeType="1"/>
              </p:cNvSpPr>
              <p:nvPr/>
            </p:nvSpPr>
            <p:spPr bwMode="auto">
              <a:xfrm>
                <a:off x="3802" y="3552"/>
                <a:ext cx="0" cy="57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58" name="Text Box 71"/>
              <p:cNvSpPr txBox="1">
                <a:spLocks noChangeArrowheads="1"/>
              </p:cNvSpPr>
              <p:nvPr/>
            </p:nvSpPr>
            <p:spPr bwMode="auto">
              <a:xfrm>
                <a:off x="3835" y="369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3</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9" name="Rectangle 72"/>
              <p:cNvSpPr>
                <a:spLocks noChangeArrowheads="1"/>
              </p:cNvSpPr>
              <p:nvPr/>
            </p:nvSpPr>
            <p:spPr bwMode="auto">
              <a:xfrm>
                <a:off x="3756" y="374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0" name="Oval 73"/>
              <p:cNvSpPr>
                <a:spLocks noChangeArrowheads="1"/>
              </p:cNvSpPr>
              <p:nvPr/>
            </p:nvSpPr>
            <p:spPr bwMode="auto">
              <a:xfrm>
                <a:off x="3778" y="353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1" name="Oval 74"/>
              <p:cNvSpPr>
                <a:spLocks noChangeArrowheads="1"/>
              </p:cNvSpPr>
              <p:nvPr/>
            </p:nvSpPr>
            <p:spPr bwMode="auto">
              <a:xfrm>
                <a:off x="4257" y="4089"/>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2" name="Line 75"/>
              <p:cNvSpPr>
                <a:spLocks noChangeShapeType="1"/>
              </p:cNvSpPr>
              <p:nvPr/>
            </p:nvSpPr>
            <p:spPr bwMode="auto">
              <a:xfrm>
                <a:off x="3802" y="4128"/>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3" name="Rectangle 76"/>
              <p:cNvSpPr>
                <a:spLocks noChangeArrowheads="1"/>
              </p:cNvSpPr>
              <p:nvPr/>
            </p:nvSpPr>
            <p:spPr bwMode="auto">
              <a:xfrm>
                <a:off x="3504" y="144"/>
                <a:ext cx="1440" cy="1824"/>
              </a:xfrm>
              <a:prstGeom prst="rect">
                <a:avLst/>
              </a:prstGeom>
              <a:noFill/>
              <a:ln w="19050">
                <a:solidFill>
                  <a:srgbClr val="CC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99CC00"/>
                  </a:solidFill>
                  <a:effectLst/>
                  <a:uLnTx/>
                  <a:uFillTx/>
                  <a:latin typeface="Times New Roman" panose="02020603050405020304" pitchFamily="18" charset="0"/>
                  <a:ea typeface="宋体" panose="02010600030101010101" pitchFamily="2" charset="-122"/>
                </a:endParaRPr>
              </a:p>
            </p:txBody>
          </p:sp>
          <p:sp>
            <p:nvSpPr>
              <p:cNvPr id="164" name="Rectangle 77"/>
              <p:cNvSpPr>
                <a:spLocks noChangeArrowheads="1"/>
              </p:cNvSpPr>
              <p:nvPr/>
            </p:nvSpPr>
            <p:spPr bwMode="auto">
              <a:xfrm>
                <a:off x="3504" y="2016"/>
                <a:ext cx="1440" cy="2258"/>
              </a:xfrm>
              <a:prstGeom prst="rect">
                <a:avLst/>
              </a:prstGeom>
              <a:noFill/>
              <a:ln w="19050">
                <a:solidFill>
                  <a:srgbClr val="3333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5" name="Text Box 78"/>
              <p:cNvSpPr txBox="1">
                <a:spLocks noChangeArrowheads="1"/>
              </p:cNvSpPr>
              <p:nvPr/>
            </p:nvSpPr>
            <p:spPr bwMode="auto">
              <a:xfrm>
                <a:off x="3133" y="890"/>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CC0099"/>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CC0099"/>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dirty="0">
                  <a:ln>
                    <a:noFill/>
                  </a:ln>
                  <a:solidFill>
                    <a:srgbClr val="CC0099"/>
                  </a:solidFill>
                  <a:effectLst/>
                  <a:uLnTx/>
                  <a:uFillTx/>
                  <a:latin typeface="Times New Roman" panose="02020603050405020304" pitchFamily="18" charset="0"/>
                  <a:ea typeface="宋体" panose="02010600030101010101" pitchFamily="2" charset="-122"/>
                </a:endParaRPr>
              </a:p>
            </p:txBody>
          </p:sp>
          <p:sp>
            <p:nvSpPr>
              <p:cNvPr id="166" name="Text Box 79"/>
              <p:cNvSpPr txBox="1">
                <a:spLocks noChangeArrowheads="1"/>
              </p:cNvSpPr>
              <p:nvPr/>
            </p:nvSpPr>
            <p:spPr bwMode="auto">
              <a:xfrm>
                <a:off x="3168" y="2969"/>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167" name="Freeform 80"/>
              <p:cNvSpPr/>
              <p:nvPr/>
            </p:nvSpPr>
            <p:spPr bwMode="auto">
              <a:xfrm>
                <a:off x="4368" y="336"/>
                <a:ext cx="912" cy="3648"/>
              </a:xfrm>
              <a:custGeom>
                <a:avLst/>
                <a:gdLst>
                  <a:gd name="T0" fmla="*/ 96 w 912"/>
                  <a:gd name="T1" fmla="*/ 0 h 3648"/>
                  <a:gd name="T2" fmla="*/ 0 w 912"/>
                  <a:gd name="T3" fmla="*/ 0 h 3648"/>
                  <a:gd name="T4" fmla="*/ 0 w 912"/>
                  <a:gd name="T5" fmla="*/ 1056 h 3648"/>
                  <a:gd name="T6" fmla="*/ 912 w 912"/>
                  <a:gd name="T7" fmla="*/ 1056 h 3648"/>
                  <a:gd name="T8" fmla="*/ 912 w 912"/>
                  <a:gd name="T9" fmla="*/ 3024 h 3648"/>
                  <a:gd name="T10" fmla="*/ 912 w 912"/>
                  <a:gd name="T11" fmla="*/ 3120 h 3648"/>
                  <a:gd name="T12" fmla="*/ 240 w 912"/>
                  <a:gd name="T13" fmla="*/ 3120 h 3648"/>
                  <a:gd name="T14" fmla="*/ 240 w 912"/>
                  <a:gd name="T15" fmla="*/ 3648 h 3648"/>
                  <a:gd name="T16" fmla="*/ 0 60000 65536"/>
                  <a:gd name="T17" fmla="*/ 0 60000 65536"/>
                  <a:gd name="T18" fmla="*/ 0 60000 65536"/>
                  <a:gd name="T19" fmla="*/ 0 60000 65536"/>
                  <a:gd name="T20" fmla="*/ 0 60000 65536"/>
                  <a:gd name="T21" fmla="*/ 0 60000 65536"/>
                  <a:gd name="T22" fmla="*/ 0 60000 65536"/>
                  <a:gd name="T23" fmla="*/ 0 60000 65536"/>
                  <a:gd name="T24" fmla="*/ 0 w 912"/>
                  <a:gd name="T25" fmla="*/ 0 h 3648"/>
                  <a:gd name="T26" fmla="*/ 912 w 912"/>
                  <a:gd name="T27" fmla="*/ 3648 h 36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2" h="3648">
                    <a:moveTo>
                      <a:pt x="96" y="0"/>
                    </a:moveTo>
                    <a:lnTo>
                      <a:pt x="0" y="0"/>
                    </a:lnTo>
                    <a:lnTo>
                      <a:pt x="0" y="1056"/>
                    </a:lnTo>
                    <a:lnTo>
                      <a:pt x="912" y="1056"/>
                    </a:lnTo>
                    <a:lnTo>
                      <a:pt x="912" y="3024"/>
                    </a:lnTo>
                    <a:lnTo>
                      <a:pt x="912" y="3120"/>
                    </a:lnTo>
                    <a:lnTo>
                      <a:pt x="240" y="3120"/>
                    </a:lnTo>
                    <a:lnTo>
                      <a:pt x="240" y="3648"/>
                    </a:lnTo>
                  </a:path>
                </a:pathLst>
              </a:custGeom>
              <a:noFill/>
              <a:ln w="19050">
                <a:solidFill>
                  <a:srgbClr val="FF0000"/>
                </a:solidFill>
                <a:round/>
                <a:tailEnd type="triangl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00" name="Rectangle 81"/>
            <p:cNvSpPr>
              <a:spLocks noChangeArrowheads="1"/>
            </p:cNvSpPr>
            <p:nvPr/>
          </p:nvSpPr>
          <p:spPr bwMode="auto">
            <a:xfrm>
              <a:off x="5281" y="1878"/>
              <a:ext cx="337" cy="1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rPr>
                <a:t>并联使用</a:t>
              </a:r>
              <a:endPar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blinds(horizontal)">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dissolve">
                                      <p:cBhvr>
                                        <p:cTn id="12" dur="500"/>
                                        <p:tgtEl>
                                          <p:spTgt spid="9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blinds(horizontal)">
                                      <p:cBhvr>
                                        <p:cTn id="17" dur="500"/>
                                        <p:tgtEl>
                                          <p:spTgt spid="97"/>
                                        </p:tgtEl>
                                      </p:cBhvr>
                                    </p:animEffect>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blinds(horizontal)">
                                      <p:cBhvr>
                                        <p:cTn id="2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utoUpdateAnimBg="0"/>
      <p:bldP spid="96" grpId="0" autoUpdateAnimBg="0"/>
      <p:bldP spid="9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30" name="Text Box 17"/>
          <p:cNvSpPr txBox="1">
            <a:spLocks noChangeArrowheads="1"/>
          </p:cNvSpPr>
          <p:nvPr/>
        </p:nvSpPr>
        <p:spPr bwMode="auto">
          <a:xfrm>
            <a:off x="68676" y="611250"/>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集电极开路与非门工作原理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32" name="Text Box 19"/>
          <p:cNvSpPr txBox="1">
            <a:spLocks noChangeArrowheads="1"/>
          </p:cNvSpPr>
          <p:nvPr/>
        </p:nvSpPr>
        <p:spPr bwMode="auto">
          <a:xfrm>
            <a:off x="139551" y="1394429"/>
            <a:ext cx="2255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FF"/>
                </a:solidFill>
                <a:effectLst/>
                <a:uLnTx/>
                <a:uFillTx/>
                <a:latin typeface="黑体" panose="02010609060101010101" pitchFamily="49" charset="-122"/>
                <a:ea typeface="黑体" panose="02010609060101010101" pitchFamily="49" charset="-122"/>
              </a:rPr>
              <a:t>1.</a:t>
            </a:r>
            <a:r>
              <a:rPr kumimoji="1" lang="zh-CN" altLang="en-US" sz="2400" b="1" i="0" u="none" strike="noStrike" kern="0" cap="none" spc="0" normalizeH="0" baseline="0" noProof="0">
                <a:ln>
                  <a:noFill/>
                </a:ln>
                <a:solidFill>
                  <a:srgbClr val="0000FF"/>
                </a:solidFill>
                <a:effectLst/>
                <a:uLnTx/>
                <a:uFillTx/>
                <a:latin typeface="黑体" panose="02010609060101010101" pitchFamily="49" charset="-122"/>
                <a:ea typeface="黑体" panose="02010609060101010101" pitchFamily="49" charset="-122"/>
              </a:rPr>
              <a:t>单个门使用</a:t>
            </a:r>
            <a:endParaRPr kumimoji="1" lang="zh-CN" altLang="en-US" sz="2400" b="1" i="0" u="none" strike="noStrike" kern="0" cap="none" spc="0" normalizeH="0" baseline="0" noProof="0">
              <a:ln>
                <a:noFill/>
              </a:ln>
              <a:solidFill>
                <a:srgbClr val="0000FF"/>
              </a:solidFill>
              <a:effectLst/>
              <a:uLnTx/>
              <a:uFillTx/>
              <a:latin typeface="黑体" panose="02010609060101010101" pitchFamily="49" charset="-122"/>
              <a:ea typeface="黑体" panose="02010609060101010101" pitchFamily="49" charset="-122"/>
            </a:endParaRPr>
          </a:p>
        </p:txBody>
      </p:sp>
      <p:grpSp>
        <p:nvGrpSpPr>
          <p:cNvPr id="233" name="Group 20"/>
          <p:cNvGrpSpPr/>
          <p:nvPr/>
        </p:nvGrpSpPr>
        <p:grpSpPr bwMode="auto">
          <a:xfrm>
            <a:off x="4450970" y="1439269"/>
            <a:ext cx="4608512" cy="3733800"/>
            <a:chOff x="2713" y="528"/>
            <a:chExt cx="2903" cy="2352"/>
          </a:xfrm>
        </p:grpSpPr>
        <p:sp>
          <p:nvSpPr>
            <p:cNvPr id="234" name="Line 21"/>
            <p:cNvSpPr>
              <a:spLocks noChangeShapeType="1"/>
            </p:cNvSpPr>
            <p:nvPr/>
          </p:nvSpPr>
          <p:spPr bwMode="auto">
            <a:xfrm>
              <a:off x="4806" y="2160"/>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5" name="Text Box 22"/>
            <p:cNvSpPr txBox="1">
              <a:spLocks noChangeArrowheads="1"/>
            </p:cNvSpPr>
            <p:nvPr/>
          </p:nvSpPr>
          <p:spPr bwMode="auto">
            <a:xfrm>
              <a:off x="4752" y="1824"/>
              <a:ext cx="3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6" name="Line 23"/>
            <p:cNvSpPr>
              <a:spLocks noChangeShapeType="1"/>
            </p:cNvSpPr>
            <p:nvPr/>
          </p:nvSpPr>
          <p:spPr bwMode="auto">
            <a:xfrm>
              <a:off x="4656" y="1872"/>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7" name="Line 24"/>
            <p:cNvSpPr>
              <a:spLocks noChangeShapeType="1"/>
            </p:cNvSpPr>
            <p:nvPr/>
          </p:nvSpPr>
          <p:spPr bwMode="auto">
            <a:xfrm flipV="1">
              <a:off x="4656" y="1872"/>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8" name="Line 25"/>
            <p:cNvSpPr>
              <a:spLocks noChangeShapeType="1"/>
            </p:cNvSpPr>
            <p:nvPr/>
          </p:nvSpPr>
          <p:spPr bwMode="auto">
            <a:xfrm>
              <a:off x="4656" y="2064"/>
              <a:ext cx="144" cy="9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9" name="Text Box 26"/>
            <p:cNvSpPr txBox="1">
              <a:spLocks noChangeArrowheads="1"/>
            </p:cNvSpPr>
            <p:nvPr/>
          </p:nvSpPr>
          <p:spPr bwMode="auto">
            <a:xfrm>
              <a:off x="2713" y="1578"/>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0" name="Text Box 27"/>
            <p:cNvSpPr txBox="1">
              <a:spLocks noChangeArrowheads="1"/>
            </p:cNvSpPr>
            <p:nvPr/>
          </p:nvSpPr>
          <p:spPr bwMode="auto">
            <a:xfrm>
              <a:off x="2723" y="1872"/>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1" name="Text Box 28"/>
            <p:cNvSpPr txBox="1">
              <a:spLocks noChangeArrowheads="1"/>
            </p:cNvSpPr>
            <p:nvPr/>
          </p:nvSpPr>
          <p:spPr bwMode="auto">
            <a:xfrm>
              <a:off x="5136" y="52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2" name="Line 29"/>
            <p:cNvSpPr>
              <a:spLocks noChangeShapeType="1"/>
            </p:cNvSpPr>
            <p:nvPr/>
          </p:nvSpPr>
          <p:spPr bwMode="auto">
            <a:xfrm>
              <a:off x="4320" y="201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3" name="Line 30"/>
            <p:cNvSpPr>
              <a:spLocks noChangeShapeType="1"/>
            </p:cNvSpPr>
            <p:nvPr/>
          </p:nvSpPr>
          <p:spPr bwMode="auto">
            <a:xfrm>
              <a:off x="4128" y="1632"/>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4" name="Line 31"/>
            <p:cNvSpPr>
              <a:spLocks noChangeShapeType="1"/>
            </p:cNvSpPr>
            <p:nvPr/>
          </p:nvSpPr>
          <p:spPr bwMode="auto">
            <a:xfrm flipV="1">
              <a:off x="4128" y="1632"/>
              <a:ext cx="192"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5" name="Line 32"/>
            <p:cNvSpPr>
              <a:spLocks noChangeShapeType="1"/>
            </p:cNvSpPr>
            <p:nvPr/>
          </p:nvSpPr>
          <p:spPr bwMode="auto">
            <a:xfrm>
              <a:off x="4128" y="1824"/>
              <a:ext cx="192" cy="9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6" name="Line 33"/>
            <p:cNvSpPr>
              <a:spLocks noChangeShapeType="1"/>
            </p:cNvSpPr>
            <p:nvPr/>
          </p:nvSpPr>
          <p:spPr bwMode="auto">
            <a:xfrm>
              <a:off x="4320" y="192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7" name="Line 34"/>
            <p:cNvSpPr>
              <a:spLocks noChangeShapeType="1"/>
            </p:cNvSpPr>
            <p:nvPr/>
          </p:nvSpPr>
          <p:spPr bwMode="auto">
            <a:xfrm flipH="1" flipV="1">
              <a:off x="4320" y="1392"/>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8" name="Rectangle 35"/>
            <p:cNvSpPr>
              <a:spLocks noChangeArrowheads="1"/>
            </p:cNvSpPr>
            <p:nvPr/>
          </p:nvSpPr>
          <p:spPr bwMode="auto">
            <a:xfrm>
              <a:off x="4272" y="110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9" name="Line 36"/>
            <p:cNvSpPr>
              <a:spLocks noChangeShapeType="1"/>
            </p:cNvSpPr>
            <p:nvPr/>
          </p:nvSpPr>
          <p:spPr bwMode="auto">
            <a:xfrm rot="5400000">
              <a:off x="3623" y="1417"/>
              <a:ext cx="0" cy="33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37"/>
            <p:cNvSpPr>
              <a:spLocks noChangeShapeType="1"/>
            </p:cNvSpPr>
            <p:nvPr/>
          </p:nvSpPr>
          <p:spPr bwMode="auto">
            <a:xfrm rot="5400000" flipV="1">
              <a:off x="3648" y="1632"/>
              <a:ext cx="192"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38"/>
            <p:cNvSpPr>
              <a:spLocks noChangeShapeType="1"/>
            </p:cNvSpPr>
            <p:nvPr/>
          </p:nvSpPr>
          <p:spPr bwMode="auto">
            <a:xfrm rot="5400000">
              <a:off x="3468" y="1620"/>
              <a:ext cx="215" cy="144"/>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Line 39"/>
            <p:cNvSpPr>
              <a:spLocks noChangeShapeType="1"/>
            </p:cNvSpPr>
            <p:nvPr/>
          </p:nvSpPr>
          <p:spPr bwMode="auto">
            <a:xfrm rot="5400000">
              <a:off x="3192" y="1572"/>
              <a:ext cx="0" cy="43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3" name="Line 40"/>
            <p:cNvSpPr>
              <a:spLocks noChangeShapeType="1"/>
            </p:cNvSpPr>
            <p:nvPr/>
          </p:nvSpPr>
          <p:spPr bwMode="auto">
            <a:xfrm rot="16200000" flipH="1">
              <a:off x="3564" y="1488"/>
              <a:ext cx="19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4" name="Line 41"/>
            <p:cNvSpPr>
              <a:spLocks noChangeShapeType="1"/>
            </p:cNvSpPr>
            <p:nvPr/>
          </p:nvSpPr>
          <p:spPr bwMode="auto">
            <a:xfrm rot="5400000" flipV="1">
              <a:off x="3960" y="160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55" name="Group 42"/>
            <p:cNvGrpSpPr/>
            <p:nvPr/>
          </p:nvGrpSpPr>
          <p:grpSpPr bwMode="auto">
            <a:xfrm>
              <a:off x="4704" y="2448"/>
              <a:ext cx="208" cy="288"/>
              <a:chOff x="2304" y="336"/>
              <a:chExt cx="195" cy="240"/>
            </a:xfrm>
          </p:grpSpPr>
          <p:sp>
            <p:nvSpPr>
              <p:cNvPr id="275" name="Line 43"/>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6" name="Line 44"/>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56" name="Freeform 45"/>
            <p:cNvSpPr/>
            <p:nvPr/>
          </p:nvSpPr>
          <p:spPr bwMode="auto">
            <a:xfrm>
              <a:off x="3658" y="672"/>
              <a:ext cx="1574" cy="624"/>
            </a:xfrm>
            <a:custGeom>
              <a:avLst/>
              <a:gdLst>
                <a:gd name="T0" fmla="*/ 0 w 1728"/>
                <a:gd name="T1" fmla="*/ 912 h 912"/>
                <a:gd name="T2" fmla="*/ 0 w 1728"/>
                <a:gd name="T3" fmla="*/ 0 h 912"/>
                <a:gd name="T4" fmla="*/ 1728 w 1728"/>
                <a:gd name="T5" fmla="*/ 0 h 912"/>
                <a:gd name="T6" fmla="*/ 0 60000 65536"/>
                <a:gd name="T7" fmla="*/ 0 60000 65536"/>
                <a:gd name="T8" fmla="*/ 0 60000 65536"/>
                <a:gd name="T9" fmla="*/ 0 w 1728"/>
                <a:gd name="T10" fmla="*/ 0 h 912"/>
                <a:gd name="T11" fmla="*/ 1728 w 1728"/>
                <a:gd name="T12" fmla="*/ 912 h 912"/>
              </a:gdLst>
              <a:ahLst/>
              <a:cxnLst>
                <a:cxn ang="T6">
                  <a:pos x="T0" y="T1"/>
                </a:cxn>
                <a:cxn ang="T7">
                  <a:pos x="T2" y="T3"/>
                </a:cxn>
                <a:cxn ang="T8">
                  <a:pos x="T4" y="T5"/>
                </a:cxn>
              </a:cxnLst>
              <a:rect l="T9" t="T10" r="T11" b="T12"/>
              <a:pathLst>
                <a:path w="1728" h="912">
                  <a:moveTo>
                    <a:pt x="0" y="912"/>
                  </a:moveTo>
                  <a:lnTo>
                    <a:pt x="0" y="0"/>
                  </a:lnTo>
                  <a:lnTo>
                    <a:pt x="1728" y="0"/>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7" name="Line 46"/>
            <p:cNvSpPr>
              <a:spLocks noChangeShapeType="1"/>
            </p:cNvSpPr>
            <p:nvPr/>
          </p:nvSpPr>
          <p:spPr bwMode="auto">
            <a:xfrm flipH="1">
              <a:off x="4320" y="2400"/>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Line 47"/>
            <p:cNvSpPr>
              <a:spLocks noChangeShapeType="1"/>
            </p:cNvSpPr>
            <p:nvPr/>
          </p:nvSpPr>
          <p:spPr bwMode="auto">
            <a:xfrm flipV="1">
              <a:off x="4320" y="672"/>
              <a:ext cx="0" cy="43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9" name="Line 48"/>
            <p:cNvSpPr>
              <a:spLocks noChangeShapeType="1"/>
            </p:cNvSpPr>
            <p:nvPr/>
          </p:nvSpPr>
          <p:spPr bwMode="auto">
            <a:xfrm>
              <a:off x="4800" y="1872"/>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0" name="Text Box 49"/>
            <p:cNvSpPr txBox="1">
              <a:spLocks noChangeArrowheads="1"/>
            </p:cNvSpPr>
            <p:nvPr/>
          </p:nvSpPr>
          <p:spPr bwMode="auto">
            <a:xfrm>
              <a:off x="3312" y="105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1" name="Rectangle 50"/>
            <p:cNvSpPr>
              <a:spLocks noChangeArrowheads="1"/>
            </p:cNvSpPr>
            <p:nvPr/>
          </p:nvSpPr>
          <p:spPr bwMode="auto">
            <a:xfrm>
              <a:off x="3610" y="110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2" name="Text Box 51"/>
            <p:cNvSpPr txBox="1">
              <a:spLocks noChangeArrowheads="1"/>
            </p:cNvSpPr>
            <p:nvPr/>
          </p:nvSpPr>
          <p:spPr bwMode="auto">
            <a:xfrm>
              <a:off x="3984" y="105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Text Box 52"/>
            <p:cNvSpPr txBox="1">
              <a:spLocks noChangeArrowheads="1"/>
            </p:cNvSpPr>
            <p:nvPr/>
          </p:nvSpPr>
          <p:spPr bwMode="auto">
            <a:xfrm>
              <a:off x="3980" y="210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3</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4" name="Rectangle 53"/>
            <p:cNvSpPr>
              <a:spLocks noChangeArrowheads="1"/>
            </p:cNvSpPr>
            <p:nvPr/>
          </p:nvSpPr>
          <p:spPr bwMode="auto">
            <a:xfrm>
              <a:off x="4272" y="211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5" name="Oval 54"/>
            <p:cNvSpPr>
              <a:spLocks noChangeArrowheads="1"/>
            </p:cNvSpPr>
            <p:nvPr/>
          </p:nvSpPr>
          <p:spPr bwMode="auto">
            <a:xfrm>
              <a:off x="4290" y="64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Oval 55"/>
            <p:cNvSpPr>
              <a:spLocks noChangeArrowheads="1"/>
            </p:cNvSpPr>
            <p:nvPr/>
          </p:nvSpPr>
          <p:spPr bwMode="auto">
            <a:xfrm>
              <a:off x="4290" y="198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Oval 56"/>
            <p:cNvSpPr>
              <a:spLocks noChangeArrowheads="1"/>
            </p:cNvSpPr>
            <p:nvPr/>
          </p:nvSpPr>
          <p:spPr bwMode="auto">
            <a:xfrm>
              <a:off x="4782" y="256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8" name="Text Box 57"/>
            <p:cNvSpPr txBox="1">
              <a:spLocks noChangeArrowheads="1"/>
            </p:cNvSpPr>
            <p:nvPr/>
          </p:nvSpPr>
          <p:spPr bwMode="auto">
            <a:xfrm>
              <a:off x="5280" y="1728"/>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Text Box 58"/>
            <p:cNvSpPr txBox="1">
              <a:spLocks noChangeArrowheads="1"/>
            </p:cNvSpPr>
            <p:nvPr/>
          </p:nvSpPr>
          <p:spPr bwMode="auto">
            <a:xfrm>
              <a:off x="3533" y="1737"/>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0" name="Text Box 59"/>
            <p:cNvSpPr txBox="1">
              <a:spLocks noChangeArrowheads="1"/>
            </p:cNvSpPr>
            <p:nvPr/>
          </p:nvSpPr>
          <p:spPr bwMode="auto">
            <a:xfrm>
              <a:off x="4272" y="1584"/>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Line 60"/>
            <p:cNvSpPr>
              <a:spLocks noChangeShapeType="1"/>
            </p:cNvSpPr>
            <p:nvPr/>
          </p:nvSpPr>
          <p:spPr bwMode="auto">
            <a:xfrm rot="5400000">
              <a:off x="3367" y="1625"/>
              <a:ext cx="216" cy="134"/>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2" name="Freeform 61"/>
            <p:cNvSpPr/>
            <p:nvPr/>
          </p:nvSpPr>
          <p:spPr bwMode="auto">
            <a:xfrm>
              <a:off x="2976" y="1782"/>
              <a:ext cx="528" cy="240"/>
            </a:xfrm>
            <a:custGeom>
              <a:avLst/>
              <a:gdLst>
                <a:gd name="T0" fmla="*/ 624 w 624"/>
                <a:gd name="T1" fmla="*/ 0 h 96"/>
                <a:gd name="T2" fmla="*/ 624 w 624"/>
                <a:gd name="T3" fmla="*/ 96 h 96"/>
                <a:gd name="T4" fmla="*/ 0 w 624"/>
                <a:gd name="T5" fmla="*/ 96 h 96"/>
                <a:gd name="T6" fmla="*/ 0 60000 65536"/>
                <a:gd name="T7" fmla="*/ 0 60000 65536"/>
                <a:gd name="T8" fmla="*/ 0 60000 65536"/>
                <a:gd name="T9" fmla="*/ 0 w 624"/>
                <a:gd name="T10" fmla="*/ 0 h 96"/>
                <a:gd name="T11" fmla="*/ 624 w 624"/>
                <a:gd name="T12" fmla="*/ 96 h 96"/>
              </a:gdLst>
              <a:ahLst/>
              <a:cxnLst>
                <a:cxn ang="T6">
                  <a:pos x="T0" y="T1"/>
                </a:cxn>
                <a:cxn ang="T7">
                  <a:pos x="T2" y="T3"/>
                </a:cxn>
                <a:cxn ang="T8">
                  <a:pos x="T4" y="T5"/>
                </a:cxn>
              </a:cxnLst>
              <a:rect l="T9" t="T10" r="T11" b="T12"/>
              <a:pathLst>
                <a:path w="624" h="96">
                  <a:moveTo>
                    <a:pt x="624" y="0"/>
                  </a:moveTo>
                  <a:lnTo>
                    <a:pt x="624" y="96"/>
                  </a:lnTo>
                  <a:lnTo>
                    <a:pt x="0" y="96"/>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3" name="Line 62"/>
            <p:cNvSpPr>
              <a:spLocks noChangeShapeType="1"/>
            </p:cNvSpPr>
            <p:nvPr/>
          </p:nvSpPr>
          <p:spPr bwMode="auto">
            <a:xfrm flipV="1">
              <a:off x="4320" y="2592"/>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4" name="Rectangle 63"/>
            <p:cNvSpPr>
              <a:spLocks noChangeArrowheads="1"/>
            </p:cNvSpPr>
            <p:nvPr/>
          </p:nvSpPr>
          <p:spPr bwMode="auto">
            <a:xfrm>
              <a:off x="3168" y="576"/>
              <a:ext cx="1920" cy="2304"/>
            </a:xfrm>
            <a:prstGeom prst="rect">
              <a:avLst/>
            </a:prstGeom>
            <a:noFill/>
            <a:ln w="952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77" name="Text Box 64"/>
          <p:cNvSpPr txBox="1">
            <a:spLocks noChangeArrowheads="1"/>
          </p:cNvSpPr>
          <p:nvPr/>
        </p:nvSpPr>
        <p:spPr bwMode="auto">
          <a:xfrm>
            <a:off x="139551" y="2206359"/>
            <a:ext cx="390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使用时需外</a:t>
            </a:r>
            <a:r>
              <a:rPr kumimoji="1" lang="zh-CN" altLang="en-US" sz="24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接上拉电阻</a:t>
            </a: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L</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nvGrpSpPr>
          <p:cNvPr id="278" name="Group 65"/>
          <p:cNvGrpSpPr/>
          <p:nvPr/>
        </p:nvGrpSpPr>
        <p:grpSpPr bwMode="auto">
          <a:xfrm>
            <a:off x="8221282" y="1896469"/>
            <a:ext cx="1066800" cy="1682750"/>
            <a:chOff x="5088" y="816"/>
            <a:chExt cx="672" cy="1060"/>
          </a:xfrm>
        </p:grpSpPr>
        <p:sp>
          <p:nvSpPr>
            <p:cNvPr id="279" name="Line 66"/>
            <p:cNvSpPr>
              <a:spLocks noChangeShapeType="1"/>
            </p:cNvSpPr>
            <p:nvPr/>
          </p:nvSpPr>
          <p:spPr bwMode="auto">
            <a:xfrm>
              <a:off x="5184" y="868"/>
              <a:ext cx="0" cy="1008"/>
            </a:xfrm>
            <a:prstGeom prst="line">
              <a:avLst/>
            </a:prstGeom>
            <a:noFill/>
            <a:ln w="9525">
              <a:solidFill>
                <a:srgbClr val="FF0000"/>
              </a:solidFill>
              <a:round/>
              <a:tailEnd type="oval"/>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0" name="Text Box 67"/>
            <p:cNvSpPr txBox="1">
              <a:spLocks noChangeArrowheads="1"/>
            </p:cNvSpPr>
            <p:nvPr/>
          </p:nvSpPr>
          <p:spPr bwMode="auto">
            <a:xfrm>
              <a:off x="5088" y="81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81" name="Rectangle 68"/>
            <p:cNvSpPr>
              <a:spLocks noChangeArrowheads="1"/>
            </p:cNvSpPr>
            <p:nvPr/>
          </p:nvSpPr>
          <p:spPr bwMode="auto">
            <a:xfrm>
              <a:off x="5136" y="1219"/>
              <a:ext cx="96"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2" name="Text Box 69"/>
            <p:cNvSpPr txBox="1">
              <a:spLocks noChangeArrowheads="1"/>
            </p:cNvSpPr>
            <p:nvPr/>
          </p:nvSpPr>
          <p:spPr bwMode="auto">
            <a:xfrm>
              <a:off x="5237" y="1219"/>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283" name="Text Box 70"/>
          <p:cNvSpPr txBox="1">
            <a:spLocks noChangeArrowheads="1"/>
          </p:cNvSpPr>
          <p:nvPr/>
        </p:nvSpPr>
        <p:spPr bwMode="auto">
          <a:xfrm>
            <a:off x="130440" y="3242996"/>
            <a:ext cx="412115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只要</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有一个为低电平，则</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截止，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Y</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为高电平，且</a:t>
            </a:r>
            <a:r>
              <a:rPr kumimoji="1" lang="en-US" altLang="zh-CN" sz="2400" b="1" i="1"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OH </a:t>
            </a: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V</a:t>
            </a:r>
            <a:r>
              <a:rPr kumimoji="1" lang="zh-CN" altLang="en-US"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CC</a:t>
            </a:r>
            <a:r>
              <a:rPr kumimoji="1" lang="zh-CN" altLang="en-US"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284" name="Text Box 71"/>
          <p:cNvSpPr txBox="1">
            <a:spLocks noChangeArrowheads="1"/>
          </p:cNvSpPr>
          <p:nvPr/>
        </p:nvSpPr>
        <p:spPr bwMode="auto">
          <a:xfrm>
            <a:off x="146465" y="5166211"/>
            <a:ext cx="4198938"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均为高电平时，则</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导通，</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Y</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为低电平。</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85" name="Group 73"/>
          <p:cNvGrpSpPr/>
          <p:nvPr/>
        </p:nvGrpSpPr>
        <p:grpSpPr bwMode="auto">
          <a:xfrm>
            <a:off x="6031325" y="5546149"/>
            <a:ext cx="1852613" cy="822325"/>
            <a:chOff x="3552" y="3216"/>
            <a:chExt cx="1167" cy="518"/>
          </a:xfrm>
        </p:grpSpPr>
        <p:grpSp>
          <p:nvGrpSpPr>
            <p:cNvPr id="286" name="Group 6"/>
            <p:cNvGrpSpPr/>
            <p:nvPr/>
          </p:nvGrpSpPr>
          <p:grpSpPr bwMode="auto">
            <a:xfrm>
              <a:off x="3792" y="3398"/>
              <a:ext cx="192" cy="192"/>
              <a:chOff x="2304" y="1584"/>
              <a:chExt cx="192" cy="192"/>
            </a:xfrm>
          </p:grpSpPr>
          <p:sp>
            <p:nvSpPr>
              <p:cNvPr id="295" name="Line 7"/>
              <p:cNvSpPr>
                <a:spLocks noChangeShapeType="1"/>
              </p:cNvSpPr>
              <p:nvPr/>
            </p:nvSpPr>
            <p:spPr bwMode="auto">
              <a:xfrm>
                <a:off x="2304" y="158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6" name="Line 8"/>
              <p:cNvSpPr>
                <a:spLocks noChangeShapeType="1"/>
              </p:cNvSpPr>
              <p:nvPr/>
            </p:nvSpPr>
            <p:spPr bwMode="auto">
              <a:xfrm>
                <a:off x="2304" y="1776"/>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87" name="Line 9"/>
            <p:cNvSpPr>
              <a:spLocks noChangeShapeType="1"/>
            </p:cNvSpPr>
            <p:nvPr/>
          </p:nvSpPr>
          <p:spPr bwMode="auto">
            <a:xfrm>
              <a:off x="4272" y="3494"/>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8" name="Text Box 10"/>
            <p:cNvSpPr txBox="1">
              <a:spLocks noChangeArrowheads="1"/>
            </p:cNvSpPr>
            <p:nvPr/>
          </p:nvSpPr>
          <p:spPr bwMode="auto">
            <a:xfrm>
              <a:off x="3552" y="3216"/>
              <a:ext cx="25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9" name="Text Box 11"/>
            <p:cNvSpPr txBox="1">
              <a:spLocks noChangeArrowheads="1"/>
            </p:cNvSpPr>
            <p:nvPr/>
          </p:nvSpPr>
          <p:spPr bwMode="auto">
            <a:xfrm>
              <a:off x="4464" y="335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90" name="Group 13"/>
            <p:cNvGrpSpPr/>
            <p:nvPr/>
          </p:nvGrpSpPr>
          <p:grpSpPr bwMode="auto">
            <a:xfrm>
              <a:off x="4068" y="3422"/>
              <a:ext cx="150" cy="144"/>
              <a:chOff x="3144" y="2880"/>
              <a:chExt cx="150" cy="144"/>
            </a:xfrm>
          </p:grpSpPr>
          <p:sp>
            <p:nvSpPr>
              <p:cNvPr id="293" name="AutoShape 14"/>
              <p:cNvSpPr>
                <a:spLocks noChangeArrowheads="1"/>
              </p:cNvSpPr>
              <p:nvPr/>
            </p:nvSpPr>
            <p:spPr bwMode="auto">
              <a:xfrm>
                <a:off x="3171" y="2880"/>
                <a:ext cx="96" cy="144"/>
              </a:xfrm>
              <a:prstGeom prst="diamond">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4" name="Line 15"/>
              <p:cNvSpPr>
                <a:spLocks noChangeShapeType="1"/>
              </p:cNvSpPr>
              <p:nvPr/>
            </p:nvSpPr>
            <p:spPr bwMode="auto">
              <a:xfrm>
                <a:off x="3144" y="3024"/>
                <a:ext cx="15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91" name="Oval 16"/>
            <p:cNvSpPr>
              <a:spLocks noChangeArrowheads="1"/>
            </p:cNvSpPr>
            <p:nvPr/>
          </p:nvSpPr>
          <p:spPr bwMode="auto">
            <a:xfrm>
              <a:off x="4284" y="3471"/>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2" name="AutoShape 72"/>
            <p:cNvSpPr>
              <a:spLocks noChangeArrowheads="1"/>
            </p:cNvSpPr>
            <p:nvPr/>
          </p:nvSpPr>
          <p:spPr bwMode="auto">
            <a:xfrm>
              <a:off x="3991" y="3271"/>
              <a:ext cx="294" cy="435"/>
            </a:xfrm>
            <a:prstGeom prst="flowChartDelay">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
                                        </p:tgtEl>
                                        <p:attrNameLst>
                                          <p:attrName>style.visibility</p:attrName>
                                        </p:attrNameLst>
                                      </p:cBhvr>
                                      <p:to>
                                        <p:strVal val="visible"/>
                                      </p:to>
                                    </p:set>
                                    <p:animEffect transition="in" filter="wipe(left)">
                                      <p:cBhvr>
                                        <p:cTn id="7" dur="500"/>
                                        <p:tgtEl>
                                          <p:spTgt spid="2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7"/>
                                        </p:tgtEl>
                                        <p:attrNameLst>
                                          <p:attrName>style.visibility</p:attrName>
                                        </p:attrNameLst>
                                      </p:cBhvr>
                                      <p:to>
                                        <p:strVal val="visible"/>
                                      </p:to>
                                    </p:set>
                                    <p:animEffect transition="in" filter="wipe(left)">
                                      <p:cBhvr>
                                        <p:cTn id="12" dur="500"/>
                                        <p:tgtEl>
                                          <p:spTgt spid="27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78"/>
                                        </p:tgtEl>
                                        <p:attrNameLst>
                                          <p:attrName>style.visibility</p:attrName>
                                        </p:attrNameLst>
                                      </p:cBhvr>
                                      <p:to>
                                        <p:strVal val="visible"/>
                                      </p:to>
                                    </p:set>
                                    <p:animEffect transition="in" filter="box(out)">
                                      <p:cBhvr>
                                        <p:cTn id="17" dur="500"/>
                                        <p:tgtEl>
                                          <p:spTgt spid="27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3"/>
                                        </p:tgtEl>
                                        <p:attrNameLst>
                                          <p:attrName>style.visibility</p:attrName>
                                        </p:attrNameLst>
                                      </p:cBhvr>
                                      <p:to>
                                        <p:strVal val="visible"/>
                                      </p:to>
                                    </p:set>
                                    <p:animEffect transition="in" filter="wipe(left)">
                                      <p:cBhvr>
                                        <p:cTn id="22" dur="500"/>
                                        <p:tgtEl>
                                          <p:spTgt spid="2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4"/>
                                        </p:tgtEl>
                                        <p:attrNameLst>
                                          <p:attrName>style.visibility</p:attrName>
                                        </p:attrNameLst>
                                      </p:cBhvr>
                                      <p:to>
                                        <p:strVal val="visible"/>
                                      </p:to>
                                    </p:set>
                                    <p:animEffect transition="in" filter="wipe(left)">
                                      <p:cBhvr>
                                        <p:cTn id="27" dur="500"/>
                                        <p:tgtEl>
                                          <p:spTgt spid="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5"/>
                                        </p:tgtEl>
                                        <p:attrNameLst>
                                          <p:attrName>style.visibility</p:attrName>
                                        </p:attrNameLst>
                                      </p:cBhvr>
                                      <p:to>
                                        <p:strVal val="visible"/>
                                      </p:to>
                                    </p:set>
                                    <p:animEffect transition="in" filter="wipe(left)">
                                      <p:cBhvr>
                                        <p:cTn id="32" dur="5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autoUpdateAnimBg="0"/>
      <p:bldP spid="277" grpId="0" autoUpdateAnimBg="0"/>
      <p:bldP spid="283" grpId="0" autoUpdateAnimBg="0"/>
      <p:bldP spid="28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30" name="Text Box 17"/>
          <p:cNvSpPr txBox="1">
            <a:spLocks noChangeArrowheads="1"/>
          </p:cNvSpPr>
          <p:nvPr/>
        </p:nvSpPr>
        <p:spPr bwMode="auto">
          <a:xfrm>
            <a:off x="52387" y="674698"/>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集电极开路与非门工作原理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32" name="Text Box 19"/>
          <p:cNvSpPr txBox="1">
            <a:spLocks noChangeArrowheads="1"/>
          </p:cNvSpPr>
          <p:nvPr/>
        </p:nvSpPr>
        <p:spPr bwMode="auto">
          <a:xfrm>
            <a:off x="119234" y="1313257"/>
            <a:ext cx="3732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2.</a:t>
            </a: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输出端并联使用（线与）</a:t>
            </a:r>
            <a:endPar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sp>
        <p:nvSpPr>
          <p:cNvPr id="212" name="Text Box 38"/>
          <p:cNvSpPr txBox="1">
            <a:spLocks noChangeArrowheads="1"/>
          </p:cNvSpPr>
          <p:nvPr/>
        </p:nvSpPr>
        <p:spPr bwMode="auto">
          <a:xfrm>
            <a:off x="297993" y="2133399"/>
            <a:ext cx="32713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spcBef>
                <a:spcPct val="0"/>
              </a:spcBef>
              <a:spcAft>
                <a:spcPct val="0"/>
              </a:spcAft>
              <a:buClrTx/>
              <a:buSzTx/>
              <a:buFontTx/>
              <a:buNone/>
              <a:defRPr/>
            </a:pP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两个门共用一个上拉电阻</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L</a:t>
            </a:r>
            <a:endPar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grpSp>
        <p:nvGrpSpPr>
          <p:cNvPr id="213" name="Group 39"/>
          <p:cNvGrpSpPr/>
          <p:nvPr/>
        </p:nvGrpSpPr>
        <p:grpSpPr bwMode="auto">
          <a:xfrm>
            <a:off x="3957637" y="1346043"/>
            <a:ext cx="5292726" cy="5336366"/>
            <a:chOff x="2256" y="192"/>
            <a:chExt cx="3552" cy="3792"/>
          </a:xfrm>
        </p:grpSpPr>
        <p:grpSp>
          <p:nvGrpSpPr>
            <p:cNvPr id="214" name="Group 40"/>
            <p:cNvGrpSpPr/>
            <p:nvPr/>
          </p:nvGrpSpPr>
          <p:grpSpPr bwMode="auto">
            <a:xfrm>
              <a:off x="4751" y="384"/>
              <a:ext cx="1057" cy="2856"/>
              <a:chOff x="2831" y="672"/>
              <a:chExt cx="1057" cy="2856"/>
            </a:xfrm>
          </p:grpSpPr>
          <p:sp>
            <p:nvSpPr>
              <p:cNvPr id="371" name="Line 41"/>
              <p:cNvSpPr>
                <a:spLocks noChangeShapeType="1"/>
              </p:cNvSpPr>
              <p:nvPr/>
            </p:nvSpPr>
            <p:spPr bwMode="auto">
              <a:xfrm>
                <a:off x="3228" y="2400"/>
                <a:ext cx="33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2" name="Text Box 42"/>
              <p:cNvSpPr txBox="1">
                <a:spLocks noChangeArrowheads="1"/>
              </p:cNvSpPr>
              <p:nvPr/>
            </p:nvSpPr>
            <p:spPr bwMode="auto">
              <a:xfrm>
                <a:off x="3072" y="67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73" name="Text Box 43"/>
              <p:cNvSpPr txBox="1">
                <a:spLocks noChangeArrowheads="1"/>
              </p:cNvSpPr>
              <p:nvPr/>
            </p:nvSpPr>
            <p:spPr bwMode="auto">
              <a:xfrm>
                <a:off x="3477" y="224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Y</a:t>
                </a:r>
                <a:endPar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74" name="Text Box 44"/>
              <p:cNvSpPr txBox="1">
                <a:spLocks noChangeArrowheads="1"/>
              </p:cNvSpPr>
              <p:nvPr/>
            </p:nvSpPr>
            <p:spPr bwMode="auto">
              <a:xfrm>
                <a:off x="3264" y="1200"/>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1"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75" name="Freeform 45"/>
              <p:cNvSpPr/>
              <p:nvPr/>
            </p:nvSpPr>
            <p:spPr bwMode="auto">
              <a:xfrm>
                <a:off x="2831" y="1704"/>
                <a:ext cx="384" cy="1824"/>
              </a:xfrm>
              <a:custGeom>
                <a:avLst/>
                <a:gdLst>
                  <a:gd name="T0" fmla="*/ 12 w 384"/>
                  <a:gd name="T1" fmla="*/ 0 h 1824"/>
                  <a:gd name="T2" fmla="*/ 384 w 384"/>
                  <a:gd name="T3" fmla="*/ 0 h 1824"/>
                  <a:gd name="T4" fmla="*/ 384 w 384"/>
                  <a:gd name="T5" fmla="*/ 1824 h 1824"/>
                  <a:gd name="T6" fmla="*/ 0 w 384"/>
                  <a:gd name="T7" fmla="*/ 1824 h 1824"/>
                  <a:gd name="T8" fmla="*/ 0 60000 65536"/>
                  <a:gd name="T9" fmla="*/ 0 60000 65536"/>
                  <a:gd name="T10" fmla="*/ 0 60000 65536"/>
                  <a:gd name="T11" fmla="*/ 0 60000 65536"/>
                  <a:gd name="T12" fmla="*/ 0 w 384"/>
                  <a:gd name="T13" fmla="*/ 0 h 1824"/>
                  <a:gd name="T14" fmla="*/ 384 w 384"/>
                  <a:gd name="T15" fmla="*/ 1824 h 1824"/>
                </a:gdLst>
                <a:ahLst/>
                <a:cxnLst>
                  <a:cxn ang="T8">
                    <a:pos x="T0" y="T1"/>
                  </a:cxn>
                  <a:cxn ang="T9">
                    <a:pos x="T2" y="T3"/>
                  </a:cxn>
                  <a:cxn ang="T10">
                    <a:pos x="T4" y="T5"/>
                  </a:cxn>
                  <a:cxn ang="T11">
                    <a:pos x="T6" y="T7"/>
                  </a:cxn>
                </a:cxnLst>
                <a:rect l="T12" t="T13" r="T14" b="T15"/>
                <a:pathLst>
                  <a:path w="384" h="1824">
                    <a:moveTo>
                      <a:pt x="12" y="0"/>
                    </a:moveTo>
                    <a:lnTo>
                      <a:pt x="384" y="0"/>
                    </a:lnTo>
                    <a:lnTo>
                      <a:pt x="384" y="1824"/>
                    </a:lnTo>
                    <a:lnTo>
                      <a:pt x="0" y="18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6" name="Line 46"/>
              <p:cNvSpPr>
                <a:spLocks noChangeShapeType="1"/>
              </p:cNvSpPr>
              <p:nvPr/>
            </p:nvSpPr>
            <p:spPr bwMode="auto">
              <a:xfrm flipV="1">
                <a:off x="3215" y="816"/>
                <a:ext cx="0" cy="9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7" name="Oval 47"/>
              <p:cNvSpPr>
                <a:spLocks noChangeArrowheads="1"/>
              </p:cNvSpPr>
              <p:nvPr/>
            </p:nvSpPr>
            <p:spPr bwMode="auto">
              <a:xfrm>
                <a:off x="3189" y="1680"/>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8" name="Rectangle 48"/>
              <p:cNvSpPr>
                <a:spLocks noChangeArrowheads="1"/>
              </p:cNvSpPr>
              <p:nvPr/>
            </p:nvSpPr>
            <p:spPr bwMode="auto">
              <a:xfrm>
                <a:off x="3168" y="1198"/>
                <a:ext cx="96"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9" name="Oval 49"/>
              <p:cNvSpPr>
                <a:spLocks noChangeArrowheads="1"/>
              </p:cNvSpPr>
              <p:nvPr/>
            </p:nvSpPr>
            <p:spPr bwMode="auto">
              <a:xfrm>
                <a:off x="3191" y="2376"/>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15" name="Text Box 50"/>
            <p:cNvSpPr txBox="1">
              <a:spLocks noChangeArrowheads="1"/>
            </p:cNvSpPr>
            <p:nvPr/>
          </p:nvSpPr>
          <p:spPr bwMode="auto">
            <a:xfrm>
              <a:off x="4147" y="33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6" name="Line 51"/>
            <p:cNvSpPr>
              <a:spLocks noChangeShapeType="1"/>
            </p:cNvSpPr>
            <p:nvPr/>
          </p:nvSpPr>
          <p:spPr bwMode="auto">
            <a:xfrm>
              <a:off x="4064" y="1395"/>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7" name="Line 52"/>
            <p:cNvSpPr>
              <a:spLocks noChangeShapeType="1"/>
            </p:cNvSpPr>
            <p:nvPr/>
          </p:nvSpPr>
          <p:spPr bwMode="auto">
            <a:xfrm flipV="1">
              <a:off x="4064" y="1419"/>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8" name="Line 53"/>
            <p:cNvSpPr>
              <a:spLocks noChangeShapeType="1"/>
            </p:cNvSpPr>
            <p:nvPr/>
          </p:nvSpPr>
          <p:spPr bwMode="auto">
            <a:xfrm>
              <a:off x="4064" y="1515"/>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9" name="Line 54"/>
            <p:cNvSpPr>
              <a:spLocks noChangeShapeType="1"/>
            </p:cNvSpPr>
            <p:nvPr/>
          </p:nvSpPr>
          <p:spPr bwMode="auto">
            <a:xfrm>
              <a:off x="4207" y="1624"/>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0" name="Line 55"/>
            <p:cNvSpPr>
              <a:spLocks noChangeShapeType="1"/>
            </p:cNvSpPr>
            <p:nvPr/>
          </p:nvSpPr>
          <p:spPr bwMode="auto">
            <a:xfrm>
              <a:off x="3728" y="1527"/>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21" name="Group 56"/>
            <p:cNvGrpSpPr/>
            <p:nvPr/>
          </p:nvGrpSpPr>
          <p:grpSpPr bwMode="auto">
            <a:xfrm>
              <a:off x="3247" y="810"/>
              <a:ext cx="504" cy="871"/>
              <a:chOff x="3276" y="1818"/>
              <a:chExt cx="504" cy="871"/>
            </a:xfrm>
          </p:grpSpPr>
          <p:sp>
            <p:nvSpPr>
              <p:cNvPr id="365" name="Line 57"/>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6" name="Line 58"/>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7" name="Line 59"/>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8" name="Line 60"/>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9" name="Line 61"/>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70" name="Line 62"/>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22" name="Line 63"/>
            <p:cNvSpPr>
              <a:spLocks noChangeShapeType="1"/>
            </p:cNvSpPr>
            <p:nvPr/>
          </p:nvSpPr>
          <p:spPr bwMode="auto">
            <a:xfrm rot="5400000">
              <a:off x="3039" y="967"/>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3" name="Line 64"/>
            <p:cNvSpPr>
              <a:spLocks noChangeShapeType="1"/>
            </p:cNvSpPr>
            <p:nvPr/>
          </p:nvSpPr>
          <p:spPr bwMode="auto">
            <a:xfrm rot="5400000" flipV="1">
              <a:off x="3031" y="1127"/>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4" name="Line 65"/>
            <p:cNvSpPr>
              <a:spLocks noChangeShapeType="1"/>
            </p:cNvSpPr>
            <p:nvPr/>
          </p:nvSpPr>
          <p:spPr bwMode="auto">
            <a:xfrm rot="5400000">
              <a:off x="2912" y="1128"/>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5" name="Line 66"/>
            <p:cNvSpPr>
              <a:spLocks noChangeShapeType="1"/>
            </p:cNvSpPr>
            <p:nvPr/>
          </p:nvSpPr>
          <p:spPr bwMode="auto">
            <a:xfrm rot="5400000">
              <a:off x="2875" y="935"/>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6" name="Line 67"/>
            <p:cNvSpPr>
              <a:spLocks noChangeShapeType="1"/>
            </p:cNvSpPr>
            <p:nvPr/>
          </p:nvSpPr>
          <p:spPr bwMode="auto">
            <a:xfrm rot="5400000" flipV="1">
              <a:off x="3313" y="1079"/>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27" name="Group 68"/>
            <p:cNvGrpSpPr/>
            <p:nvPr/>
          </p:nvGrpSpPr>
          <p:grpSpPr bwMode="auto">
            <a:xfrm>
              <a:off x="4106" y="1824"/>
              <a:ext cx="208" cy="288"/>
              <a:chOff x="2304" y="336"/>
              <a:chExt cx="195" cy="240"/>
            </a:xfrm>
          </p:grpSpPr>
          <p:sp>
            <p:nvSpPr>
              <p:cNvPr id="363" name="Line 69"/>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4" name="Line 70"/>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28" name="Freeform 71"/>
            <p:cNvSpPr/>
            <p:nvPr/>
          </p:nvSpPr>
          <p:spPr bwMode="auto">
            <a:xfrm>
              <a:off x="3043" y="480"/>
              <a:ext cx="1152" cy="288"/>
            </a:xfrm>
            <a:custGeom>
              <a:avLst/>
              <a:gdLst>
                <a:gd name="T0" fmla="*/ 0 w 1728"/>
                <a:gd name="T1" fmla="*/ 912 h 912"/>
                <a:gd name="T2" fmla="*/ 0 w 1728"/>
                <a:gd name="T3" fmla="*/ 0 h 912"/>
                <a:gd name="T4" fmla="*/ 1728 w 1728"/>
                <a:gd name="T5" fmla="*/ 0 h 912"/>
                <a:gd name="T6" fmla="*/ 0 60000 65536"/>
                <a:gd name="T7" fmla="*/ 0 60000 65536"/>
                <a:gd name="T8" fmla="*/ 0 60000 65536"/>
                <a:gd name="T9" fmla="*/ 0 w 1728"/>
                <a:gd name="T10" fmla="*/ 0 h 912"/>
                <a:gd name="T11" fmla="*/ 1728 w 1728"/>
                <a:gd name="T12" fmla="*/ 912 h 912"/>
              </a:gdLst>
              <a:ahLst/>
              <a:cxnLst>
                <a:cxn ang="T6">
                  <a:pos x="T0" y="T1"/>
                </a:cxn>
                <a:cxn ang="T7">
                  <a:pos x="T2" y="T3"/>
                </a:cxn>
                <a:cxn ang="T8">
                  <a:pos x="T4" y="T5"/>
                </a:cxn>
              </a:cxnLst>
              <a:rect l="T9" t="T10" r="T11" b="T12"/>
              <a:pathLst>
                <a:path w="1728" h="912">
                  <a:moveTo>
                    <a:pt x="0" y="912"/>
                  </a:moveTo>
                  <a:lnTo>
                    <a:pt x="0" y="0"/>
                  </a:lnTo>
                  <a:lnTo>
                    <a:pt x="1728" y="0"/>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9" name="Line 72"/>
            <p:cNvSpPr>
              <a:spLocks noChangeShapeType="1"/>
            </p:cNvSpPr>
            <p:nvPr/>
          </p:nvSpPr>
          <p:spPr bwMode="auto">
            <a:xfrm>
              <a:off x="3729" y="1782"/>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1" name="Line 73"/>
            <p:cNvSpPr>
              <a:spLocks noChangeShapeType="1"/>
            </p:cNvSpPr>
            <p:nvPr/>
          </p:nvSpPr>
          <p:spPr bwMode="auto">
            <a:xfrm flipV="1">
              <a:off x="3727" y="48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7" name="Line 74"/>
            <p:cNvSpPr>
              <a:spLocks noChangeShapeType="1"/>
            </p:cNvSpPr>
            <p:nvPr/>
          </p:nvSpPr>
          <p:spPr bwMode="auto">
            <a:xfrm>
              <a:off x="4208" y="1419"/>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8" name="Rectangle 75"/>
            <p:cNvSpPr>
              <a:spLocks noChangeArrowheads="1"/>
            </p:cNvSpPr>
            <p:nvPr/>
          </p:nvSpPr>
          <p:spPr bwMode="auto">
            <a:xfrm>
              <a:off x="2995" y="67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9" name="Rectangle 76"/>
            <p:cNvSpPr>
              <a:spLocks noChangeArrowheads="1"/>
            </p:cNvSpPr>
            <p:nvPr/>
          </p:nvSpPr>
          <p:spPr bwMode="auto">
            <a:xfrm>
              <a:off x="3681" y="160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0" name="Oval 77"/>
            <p:cNvSpPr>
              <a:spLocks noChangeArrowheads="1"/>
            </p:cNvSpPr>
            <p:nvPr/>
          </p:nvSpPr>
          <p:spPr bwMode="auto">
            <a:xfrm>
              <a:off x="3701" y="45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1" name="Oval 78"/>
            <p:cNvSpPr>
              <a:spLocks noChangeArrowheads="1"/>
            </p:cNvSpPr>
            <p:nvPr/>
          </p:nvSpPr>
          <p:spPr bwMode="auto">
            <a:xfrm>
              <a:off x="3703" y="150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2" name="Oval 79"/>
            <p:cNvSpPr>
              <a:spLocks noChangeArrowheads="1"/>
            </p:cNvSpPr>
            <p:nvPr/>
          </p:nvSpPr>
          <p:spPr bwMode="auto">
            <a:xfrm>
              <a:off x="4182" y="198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3" name="Text Box 80"/>
            <p:cNvSpPr txBox="1">
              <a:spLocks noChangeArrowheads="1"/>
            </p:cNvSpPr>
            <p:nvPr/>
          </p:nvSpPr>
          <p:spPr bwMode="auto">
            <a:xfrm>
              <a:off x="2329" y="108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4" name="Text Box 81"/>
            <p:cNvSpPr txBox="1">
              <a:spLocks noChangeArrowheads="1"/>
            </p:cNvSpPr>
            <p:nvPr/>
          </p:nvSpPr>
          <p:spPr bwMode="auto">
            <a:xfrm>
              <a:off x="4531" y="1008"/>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5" name="Text Box 82"/>
            <p:cNvSpPr txBox="1">
              <a:spLocks noChangeArrowheads="1"/>
            </p:cNvSpPr>
            <p:nvPr/>
          </p:nvSpPr>
          <p:spPr bwMode="auto">
            <a:xfrm>
              <a:off x="2918" y="1241"/>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6" name="Text Box 83"/>
            <p:cNvSpPr txBox="1">
              <a:spLocks noChangeArrowheads="1"/>
            </p:cNvSpPr>
            <p:nvPr/>
          </p:nvSpPr>
          <p:spPr bwMode="auto">
            <a:xfrm>
              <a:off x="3715" y="108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7" name="Text Box 84"/>
            <p:cNvSpPr txBox="1">
              <a:spLocks noChangeArrowheads="1"/>
            </p:cNvSpPr>
            <p:nvPr/>
          </p:nvSpPr>
          <p:spPr bwMode="auto">
            <a:xfrm>
              <a:off x="4195" y="1392"/>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Line 85"/>
            <p:cNvSpPr>
              <a:spLocks noChangeShapeType="1"/>
            </p:cNvSpPr>
            <p:nvPr/>
          </p:nvSpPr>
          <p:spPr bwMode="auto">
            <a:xfrm rot="5400000">
              <a:off x="2826" y="1129"/>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09" name="Group 86"/>
            <p:cNvGrpSpPr/>
            <p:nvPr/>
          </p:nvGrpSpPr>
          <p:grpSpPr bwMode="auto">
            <a:xfrm>
              <a:off x="2544" y="1254"/>
              <a:ext cx="403" cy="234"/>
              <a:chOff x="2396" y="1350"/>
              <a:chExt cx="551" cy="240"/>
            </a:xfrm>
          </p:grpSpPr>
          <p:sp>
            <p:nvSpPr>
              <p:cNvPr id="361" name="Line 87"/>
              <p:cNvSpPr>
                <a:spLocks noChangeShapeType="1"/>
              </p:cNvSpPr>
              <p:nvPr/>
            </p:nvSpPr>
            <p:spPr bwMode="auto">
              <a:xfrm rot="5400000">
                <a:off x="2623" y="1133"/>
                <a:ext cx="2" cy="4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2" name="Freeform 88"/>
              <p:cNvSpPr/>
              <p:nvPr/>
            </p:nvSpPr>
            <p:spPr bwMode="auto">
              <a:xfrm>
                <a:off x="2409" y="1350"/>
                <a:ext cx="538" cy="240"/>
              </a:xfrm>
              <a:custGeom>
                <a:avLst/>
                <a:gdLst>
                  <a:gd name="T0" fmla="*/ 624 w 624"/>
                  <a:gd name="T1" fmla="*/ 0 h 96"/>
                  <a:gd name="T2" fmla="*/ 624 w 624"/>
                  <a:gd name="T3" fmla="*/ 96 h 96"/>
                  <a:gd name="T4" fmla="*/ 0 w 624"/>
                  <a:gd name="T5" fmla="*/ 96 h 96"/>
                  <a:gd name="T6" fmla="*/ 0 60000 65536"/>
                  <a:gd name="T7" fmla="*/ 0 60000 65536"/>
                  <a:gd name="T8" fmla="*/ 0 60000 65536"/>
                  <a:gd name="T9" fmla="*/ 0 w 624"/>
                  <a:gd name="T10" fmla="*/ 0 h 96"/>
                  <a:gd name="T11" fmla="*/ 624 w 624"/>
                  <a:gd name="T12" fmla="*/ 96 h 96"/>
                </a:gdLst>
                <a:ahLst/>
                <a:cxnLst>
                  <a:cxn ang="T6">
                    <a:pos x="T0" y="T1"/>
                  </a:cxn>
                  <a:cxn ang="T7">
                    <a:pos x="T2" y="T3"/>
                  </a:cxn>
                  <a:cxn ang="T8">
                    <a:pos x="T4" y="T5"/>
                  </a:cxn>
                </a:cxnLst>
                <a:rect l="T9" t="T10" r="T11" b="T12"/>
                <a:pathLst>
                  <a:path w="624" h="96">
                    <a:moveTo>
                      <a:pt x="624" y="0"/>
                    </a:moveTo>
                    <a:lnTo>
                      <a:pt x="624" y="96"/>
                    </a:lnTo>
                    <a:lnTo>
                      <a:pt x="0" y="96"/>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10" name="Text Box 89"/>
            <p:cNvSpPr txBox="1">
              <a:spLocks noChangeArrowheads="1"/>
            </p:cNvSpPr>
            <p:nvPr/>
          </p:nvSpPr>
          <p:spPr bwMode="auto">
            <a:xfrm>
              <a:off x="2339" y="137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Line 90"/>
            <p:cNvSpPr>
              <a:spLocks noChangeShapeType="1"/>
            </p:cNvSpPr>
            <p:nvPr/>
          </p:nvSpPr>
          <p:spPr bwMode="auto">
            <a:xfrm>
              <a:off x="3727" y="2013"/>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2" name="Rectangle 91"/>
            <p:cNvSpPr>
              <a:spLocks noChangeArrowheads="1"/>
            </p:cNvSpPr>
            <p:nvPr/>
          </p:nvSpPr>
          <p:spPr bwMode="auto">
            <a:xfrm>
              <a:off x="3680" y="67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3" name="Oval 92"/>
            <p:cNvSpPr>
              <a:spLocks noChangeArrowheads="1"/>
            </p:cNvSpPr>
            <p:nvPr/>
          </p:nvSpPr>
          <p:spPr bwMode="auto">
            <a:xfrm>
              <a:off x="4665" y="1368"/>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4" name="Text Box 93"/>
            <p:cNvSpPr txBox="1">
              <a:spLocks noChangeArrowheads="1"/>
            </p:cNvSpPr>
            <p:nvPr/>
          </p:nvSpPr>
          <p:spPr bwMode="auto">
            <a:xfrm>
              <a:off x="4147" y="216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5" name="Line 94"/>
            <p:cNvSpPr>
              <a:spLocks noChangeShapeType="1"/>
            </p:cNvSpPr>
            <p:nvPr/>
          </p:nvSpPr>
          <p:spPr bwMode="auto">
            <a:xfrm>
              <a:off x="4064" y="3219"/>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6" name="Line 95"/>
            <p:cNvSpPr>
              <a:spLocks noChangeShapeType="1"/>
            </p:cNvSpPr>
            <p:nvPr/>
          </p:nvSpPr>
          <p:spPr bwMode="auto">
            <a:xfrm flipV="1">
              <a:off x="4064" y="3243"/>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7" name="Line 96"/>
            <p:cNvSpPr>
              <a:spLocks noChangeShapeType="1"/>
            </p:cNvSpPr>
            <p:nvPr/>
          </p:nvSpPr>
          <p:spPr bwMode="auto">
            <a:xfrm>
              <a:off x="4064" y="3339"/>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8" name="Line 97"/>
            <p:cNvSpPr>
              <a:spLocks noChangeShapeType="1"/>
            </p:cNvSpPr>
            <p:nvPr/>
          </p:nvSpPr>
          <p:spPr bwMode="auto">
            <a:xfrm>
              <a:off x="4207" y="344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9" name="Line 98"/>
            <p:cNvSpPr>
              <a:spLocks noChangeShapeType="1"/>
            </p:cNvSpPr>
            <p:nvPr/>
          </p:nvSpPr>
          <p:spPr bwMode="auto">
            <a:xfrm>
              <a:off x="3728" y="3351"/>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20" name="Group 99"/>
            <p:cNvGrpSpPr/>
            <p:nvPr/>
          </p:nvGrpSpPr>
          <p:grpSpPr bwMode="auto">
            <a:xfrm>
              <a:off x="3247" y="2634"/>
              <a:ext cx="504" cy="871"/>
              <a:chOff x="3276" y="1818"/>
              <a:chExt cx="504" cy="871"/>
            </a:xfrm>
          </p:grpSpPr>
          <p:sp>
            <p:nvSpPr>
              <p:cNvPr id="355" name="Line 100"/>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6" name="Line 101"/>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7" name="Line 102"/>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8" name="Line 103"/>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9" name="Line 104"/>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0" name="Line 105"/>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21" name="Line 106"/>
            <p:cNvSpPr>
              <a:spLocks noChangeShapeType="1"/>
            </p:cNvSpPr>
            <p:nvPr/>
          </p:nvSpPr>
          <p:spPr bwMode="auto">
            <a:xfrm rot="5400000">
              <a:off x="3039" y="2791"/>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2" name="Line 107"/>
            <p:cNvSpPr>
              <a:spLocks noChangeShapeType="1"/>
            </p:cNvSpPr>
            <p:nvPr/>
          </p:nvSpPr>
          <p:spPr bwMode="auto">
            <a:xfrm rot="5400000" flipV="1">
              <a:off x="3031" y="2951"/>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3" name="Line 108"/>
            <p:cNvSpPr>
              <a:spLocks noChangeShapeType="1"/>
            </p:cNvSpPr>
            <p:nvPr/>
          </p:nvSpPr>
          <p:spPr bwMode="auto">
            <a:xfrm rot="5400000">
              <a:off x="2912" y="2952"/>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4" name="Line 109"/>
            <p:cNvSpPr>
              <a:spLocks noChangeShapeType="1"/>
            </p:cNvSpPr>
            <p:nvPr/>
          </p:nvSpPr>
          <p:spPr bwMode="auto">
            <a:xfrm rot="5400000">
              <a:off x="2875" y="2759"/>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5" name="Line 110"/>
            <p:cNvSpPr>
              <a:spLocks noChangeShapeType="1"/>
            </p:cNvSpPr>
            <p:nvPr/>
          </p:nvSpPr>
          <p:spPr bwMode="auto">
            <a:xfrm rot="5400000" flipV="1">
              <a:off x="3313" y="290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26" name="Group 111"/>
            <p:cNvGrpSpPr/>
            <p:nvPr/>
          </p:nvGrpSpPr>
          <p:grpSpPr bwMode="auto">
            <a:xfrm>
              <a:off x="4106" y="3648"/>
              <a:ext cx="208" cy="288"/>
              <a:chOff x="2304" y="336"/>
              <a:chExt cx="195" cy="240"/>
            </a:xfrm>
          </p:grpSpPr>
          <p:sp>
            <p:nvSpPr>
              <p:cNvPr id="353" name="Line 112"/>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4" name="Line 113"/>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27" name="Freeform 114"/>
            <p:cNvSpPr/>
            <p:nvPr/>
          </p:nvSpPr>
          <p:spPr bwMode="auto">
            <a:xfrm>
              <a:off x="3043" y="2304"/>
              <a:ext cx="1152" cy="288"/>
            </a:xfrm>
            <a:custGeom>
              <a:avLst/>
              <a:gdLst>
                <a:gd name="T0" fmla="*/ 0 w 1728"/>
                <a:gd name="T1" fmla="*/ 912 h 912"/>
                <a:gd name="T2" fmla="*/ 0 w 1728"/>
                <a:gd name="T3" fmla="*/ 0 h 912"/>
                <a:gd name="T4" fmla="*/ 1728 w 1728"/>
                <a:gd name="T5" fmla="*/ 0 h 912"/>
                <a:gd name="T6" fmla="*/ 0 60000 65536"/>
                <a:gd name="T7" fmla="*/ 0 60000 65536"/>
                <a:gd name="T8" fmla="*/ 0 60000 65536"/>
                <a:gd name="T9" fmla="*/ 0 w 1728"/>
                <a:gd name="T10" fmla="*/ 0 h 912"/>
                <a:gd name="T11" fmla="*/ 1728 w 1728"/>
                <a:gd name="T12" fmla="*/ 912 h 912"/>
              </a:gdLst>
              <a:ahLst/>
              <a:cxnLst>
                <a:cxn ang="T6">
                  <a:pos x="T0" y="T1"/>
                </a:cxn>
                <a:cxn ang="T7">
                  <a:pos x="T2" y="T3"/>
                </a:cxn>
                <a:cxn ang="T8">
                  <a:pos x="T4" y="T5"/>
                </a:cxn>
              </a:cxnLst>
              <a:rect l="T9" t="T10" r="T11" b="T12"/>
              <a:pathLst>
                <a:path w="1728" h="912">
                  <a:moveTo>
                    <a:pt x="0" y="912"/>
                  </a:moveTo>
                  <a:lnTo>
                    <a:pt x="0" y="0"/>
                  </a:lnTo>
                  <a:lnTo>
                    <a:pt x="1728" y="0"/>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8" name="Line 115"/>
            <p:cNvSpPr>
              <a:spLocks noChangeShapeType="1"/>
            </p:cNvSpPr>
            <p:nvPr/>
          </p:nvSpPr>
          <p:spPr bwMode="auto">
            <a:xfrm>
              <a:off x="3729" y="3606"/>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9" name="Line 116"/>
            <p:cNvSpPr>
              <a:spLocks noChangeShapeType="1"/>
            </p:cNvSpPr>
            <p:nvPr/>
          </p:nvSpPr>
          <p:spPr bwMode="auto">
            <a:xfrm flipV="1">
              <a:off x="3727" y="2304"/>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0" name="Line 117"/>
            <p:cNvSpPr>
              <a:spLocks noChangeShapeType="1"/>
            </p:cNvSpPr>
            <p:nvPr/>
          </p:nvSpPr>
          <p:spPr bwMode="auto">
            <a:xfrm>
              <a:off x="4208" y="3243"/>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1" name="Rectangle 118"/>
            <p:cNvSpPr>
              <a:spLocks noChangeArrowheads="1"/>
            </p:cNvSpPr>
            <p:nvPr/>
          </p:nvSpPr>
          <p:spPr bwMode="auto">
            <a:xfrm>
              <a:off x="2995" y="249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2" name="Rectangle 119"/>
            <p:cNvSpPr>
              <a:spLocks noChangeArrowheads="1"/>
            </p:cNvSpPr>
            <p:nvPr/>
          </p:nvSpPr>
          <p:spPr bwMode="auto">
            <a:xfrm>
              <a:off x="3681" y="343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3" name="Oval 120"/>
            <p:cNvSpPr>
              <a:spLocks noChangeArrowheads="1"/>
            </p:cNvSpPr>
            <p:nvPr/>
          </p:nvSpPr>
          <p:spPr bwMode="auto">
            <a:xfrm>
              <a:off x="3701" y="228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4" name="Oval 121"/>
            <p:cNvSpPr>
              <a:spLocks noChangeArrowheads="1"/>
            </p:cNvSpPr>
            <p:nvPr/>
          </p:nvSpPr>
          <p:spPr bwMode="auto">
            <a:xfrm>
              <a:off x="3703" y="3329"/>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5" name="Oval 122"/>
            <p:cNvSpPr>
              <a:spLocks noChangeArrowheads="1"/>
            </p:cNvSpPr>
            <p:nvPr/>
          </p:nvSpPr>
          <p:spPr bwMode="auto">
            <a:xfrm>
              <a:off x="4182" y="381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6" name="Text Box 123"/>
            <p:cNvSpPr txBox="1">
              <a:spLocks noChangeArrowheads="1"/>
            </p:cNvSpPr>
            <p:nvPr/>
          </p:nvSpPr>
          <p:spPr bwMode="auto">
            <a:xfrm>
              <a:off x="2256" y="29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7" name="Text Box 124"/>
            <p:cNvSpPr txBox="1">
              <a:spLocks noChangeArrowheads="1"/>
            </p:cNvSpPr>
            <p:nvPr/>
          </p:nvSpPr>
          <p:spPr bwMode="auto">
            <a:xfrm>
              <a:off x="4546" y="2873"/>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8" name="Text Box 125"/>
            <p:cNvSpPr txBox="1">
              <a:spLocks noChangeArrowheads="1"/>
            </p:cNvSpPr>
            <p:nvPr/>
          </p:nvSpPr>
          <p:spPr bwMode="auto">
            <a:xfrm>
              <a:off x="2918" y="3065"/>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9" name="Text Box 126"/>
            <p:cNvSpPr txBox="1">
              <a:spLocks noChangeArrowheads="1"/>
            </p:cNvSpPr>
            <p:nvPr/>
          </p:nvSpPr>
          <p:spPr bwMode="auto">
            <a:xfrm>
              <a:off x="3715" y="2912"/>
              <a:ext cx="3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 '</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0" name="Text Box 127"/>
            <p:cNvSpPr txBox="1">
              <a:spLocks noChangeArrowheads="1"/>
            </p:cNvSpPr>
            <p:nvPr/>
          </p:nvSpPr>
          <p:spPr bwMode="auto">
            <a:xfrm>
              <a:off x="4195" y="3216"/>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 '</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1" name="Line 128"/>
            <p:cNvSpPr>
              <a:spLocks noChangeShapeType="1"/>
            </p:cNvSpPr>
            <p:nvPr/>
          </p:nvSpPr>
          <p:spPr bwMode="auto">
            <a:xfrm rot="5400000">
              <a:off x="2826" y="2953"/>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42" name="Group 129"/>
            <p:cNvGrpSpPr/>
            <p:nvPr/>
          </p:nvGrpSpPr>
          <p:grpSpPr bwMode="auto">
            <a:xfrm>
              <a:off x="2544" y="3072"/>
              <a:ext cx="403" cy="246"/>
              <a:chOff x="2396" y="3174"/>
              <a:chExt cx="551" cy="240"/>
            </a:xfrm>
          </p:grpSpPr>
          <p:sp>
            <p:nvSpPr>
              <p:cNvPr id="351" name="Line 130"/>
              <p:cNvSpPr>
                <a:spLocks noChangeShapeType="1"/>
              </p:cNvSpPr>
              <p:nvPr/>
            </p:nvSpPr>
            <p:spPr bwMode="auto">
              <a:xfrm rot="5400000">
                <a:off x="2623" y="2957"/>
                <a:ext cx="2" cy="4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2" name="Freeform 131"/>
              <p:cNvSpPr/>
              <p:nvPr/>
            </p:nvSpPr>
            <p:spPr bwMode="auto">
              <a:xfrm>
                <a:off x="2409" y="3174"/>
                <a:ext cx="538" cy="240"/>
              </a:xfrm>
              <a:custGeom>
                <a:avLst/>
                <a:gdLst>
                  <a:gd name="T0" fmla="*/ 624 w 624"/>
                  <a:gd name="T1" fmla="*/ 0 h 96"/>
                  <a:gd name="T2" fmla="*/ 624 w 624"/>
                  <a:gd name="T3" fmla="*/ 96 h 96"/>
                  <a:gd name="T4" fmla="*/ 0 w 624"/>
                  <a:gd name="T5" fmla="*/ 96 h 96"/>
                  <a:gd name="T6" fmla="*/ 0 60000 65536"/>
                  <a:gd name="T7" fmla="*/ 0 60000 65536"/>
                  <a:gd name="T8" fmla="*/ 0 60000 65536"/>
                  <a:gd name="T9" fmla="*/ 0 w 624"/>
                  <a:gd name="T10" fmla="*/ 0 h 96"/>
                  <a:gd name="T11" fmla="*/ 624 w 624"/>
                  <a:gd name="T12" fmla="*/ 96 h 96"/>
                </a:gdLst>
                <a:ahLst/>
                <a:cxnLst>
                  <a:cxn ang="T6">
                    <a:pos x="T0" y="T1"/>
                  </a:cxn>
                  <a:cxn ang="T7">
                    <a:pos x="T2" y="T3"/>
                  </a:cxn>
                  <a:cxn ang="T8">
                    <a:pos x="T4" y="T5"/>
                  </a:cxn>
                </a:cxnLst>
                <a:rect l="T9" t="T10" r="T11" b="T12"/>
                <a:pathLst>
                  <a:path w="624" h="96">
                    <a:moveTo>
                      <a:pt x="624" y="0"/>
                    </a:moveTo>
                    <a:lnTo>
                      <a:pt x="624" y="96"/>
                    </a:lnTo>
                    <a:lnTo>
                      <a:pt x="0" y="96"/>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43" name="Text Box 132"/>
            <p:cNvSpPr txBox="1">
              <a:spLocks noChangeArrowheads="1"/>
            </p:cNvSpPr>
            <p:nvPr/>
          </p:nvSpPr>
          <p:spPr bwMode="auto">
            <a:xfrm>
              <a:off x="2266" y="320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4" name="Line 133"/>
            <p:cNvSpPr>
              <a:spLocks noChangeShapeType="1"/>
            </p:cNvSpPr>
            <p:nvPr/>
          </p:nvSpPr>
          <p:spPr bwMode="auto">
            <a:xfrm>
              <a:off x="3727" y="3837"/>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5" name="Rectangle 134"/>
            <p:cNvSpPr>
              <a:spLocks noChangeArrowheads="1"/>
            </p:cNvSpPr>
            <p:nvPr/>
          </p:nvSpPr>
          <p:spPr bwMode="auto">
            <a:xfrm>
              <a:off x="3680" y="249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6" name="Oval 135"/>
            <p:cNvSpPr>
              <a:spLocks noChangeArrowheads="1"/>
            </p:cNvSpPr>
            <p:nvPr/>
          </p:nvSpPr>
          <p:spPr bwMode="auto">
            <a:xfrm>
              <a:off x="4665" y="3192"/>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7" name="Rectangle 136"/>
            <p:cNvSpPr>
              <a:spLocks noChangeArrowheads="1"/>
            </p:cNvSpPr>
            <p:nvPr/>
          </p:nvSpPr>
          <p:spPr bwMode="auto">
            <a:xfrm>
              <a:off x="2304" y="192"/>
              <a:ext cx="2242" cy="1968"/>
            </a:xfrm>
            <a:prstGeom prst="rect">
              <a:avLst/>
            </a:prstGeom>
            <a:noFill/>
            <a:ln w="9525">
              <a:solidFill>
                <a:srgbClr val="CC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8" name="Rectangle 137"/>
            <p:cNvSpPr>
              <a:spLocks noChangeArrowheads="1"/>
            </p:cNvSpPr>
            <p:nvPr/>
          </p:nvSpPr>
          <p:spPr bwMode="auto">
            <a:xfrm>
              <a:off x="2304" y="2208"/>
              <a:ext cx="2242" cy="1776"/>
            </a:xfrm>
            <a:prstGeom prst="rect">
              <a:avLst/>
            </a:prstGeom>
            <a:noFill/>
            <a:ln w="9525">
              <a:solidFill>
                <a:srgbClr val="3333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9" name="Text Box 138"/>
            <p:cNvSpPr txBox="1">
              <a:spLocks noChangeArrowheads="1"/>
            </p:cNvSpPr>
            <p:nvPr/>
          </p:nvSpPr>
          <p:spPr bwMode="auto">
            <a:xfrm>
              <a:off x="2385" y="170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rPr>
                <a:t>G1</a:t>
              </a:r>
              <a:endPar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endParaRPr>
            </a:p>
          </p:txBody>
        </p:sp>
        <p:sp>
          <p:nvSpPr>
            <p:cNvPr id="350" name="Text Box 139"/>
            <p:cNvSpPr txBox="1">
              <a:spLocks noChangeArrowheads="1"/>
            </p:cNvSpPr>
            <p:nvPr/>
          </p:nvSpPr>
          <p:spPr bwMode="auto">
            <a:xfrm>
              <a:off x="2433" y="3552"/>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G2</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grpSp>
        <p:nvGrpSpPr>
          <p:cNvPr id="380" name="Group 163"/>
          <p:cNvGrpSpPr/>
          <p:nvPr/>
        </p:nvGrpSpPr>
        <p:grpSpPr bwMode="auto">
          <a:xfrm>
            <a:off x="499914" y="3125669"/>
            <a:ext cx="2889250" cy="3352800"/>
            <a:chOff x="334" y="1536"/>
            <a:chExt cx="1820" cy="2112"/>
          </a:xfrm>
        </p:grpSpPr>
        <p:sp>
          <p:nvSpPr>
            <p:cNvPr id="381" name="Line 7"/>
            <p:cNvSpPr>
              <a:spLocks noChangeShapeType="1"/>
            </p:cNvSpPr>
            <p:nvPr/>
          </p:nvSpPr>
          <p:spPr bwMode="auto">
            <a:xfrm>
              <a:off x="1186" y="2726"/>
              <a:ext cx="561"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2" name="Text Box 8"/>
            <p:cNvSpPr txBox="1">
              <a:spLocks noChangeArrowheads="1"/>
            </p:cNvSpPr>
            <p:nvPr/>
          </p:nvSpPr>
          <p:spPr bwMode="auto">
            <a:xfrm>
              <a:off x="334" y="2448"/>
              <a:ext cx="24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3" name="Text Box 9"/>
            <p:cNvSpPr txBox="1">
              <a:spLocks noChangeArrowheads="1"/>
            </p:cNvSpPr>
            <p:nvPr/>
          </p:nvSpPr>
          <p:spPr bwMode="auto">
            <a:xfrm>
              <a:off x="1697" y="259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4" name="Text Box 22"/>
            <p:cNvSpPr txBox="1">
              <a:spLocks noChangeArrowheads="1"/>
            </p:cNvSpPr>
            <p:nvPr/>
          </p:nvSpPr>
          <p:spPr bwMode="auto">
            <a:xfrm>
              <a:off x="334" y="3130"/>
              <a:ext cx="25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5" name="Text Box 23"/>
            <p:cNvSpPr txBox="1">
              <a:spLocks noChangeArrowheads="1"/>
            </p:cNvSpPr>
            <p:nvPr/>
          </p:nvSpPr>
          <p:spPr bwMode="auto">
            <a:xfrm>
              <a:off x="1413" y="325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6" name="Line 29"/>
            <p:cNvSpPr>
              <a:spLocks noChangeShapeType="1"/>
            </p:cNvSpPr>
            <p:nvPr/>
          </p:nvSpPr>
          <p:spPr bwMode="auto">
            <a:xfrm flipH="1" flipV="1">
              <a:off x="1469" y="1824"/>
              <a:ext cx="1" cy="1584"/>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87" name="Oval 30"/>
            <p:cNvSpPr>
              <a:spLocks noChangeArrowheads="1"/>
            </p:cNvSpPr>
            <p:nvPr/>
          </p:nvSpPr>
          <p:spPr bwMode="auto">
            <a:xfrm>
              <a:off x="1438" y="2700"/>
              <a:ext cx="57"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8" name="Rectangle 31"/>
            <p:cNvSpPr>
              <a:spLocks noChangeArrowheads="1"/>
            </p:cNvSpPr>
            <p:nvPr/>
          </p:nvSpPr>
          <p:spPr bwMode="auto">
            <a:xfrm>
              <a:off x="1413" y="2206"/>
              <a:ext cx="114"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9" name="Rectangle 32"/>
            <p:cNvSpPr>
              <a:spLocks noChangeArrowheads="1"/>
            </p:cNvSpPr>
            <p:nvPr/>
          </p:nvSpPr>
          <p:spPr bwMode="auto">
            <a:xfrm>
              <a:off x="1356" y="2592"/>
              <a:ext cx="228" cy="288"/>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90" name="Text Box 33"/>
            <p:cNvSpPr txBox="1">
              <a:spLocks noChangeArrowheads="1"/>
            </p:cNvSpPr>
            <p:nvPr/>
          </p:nvSpPr>
          <p:spPr bwMode="auto">
            <a:xfrm>
              <a:off x="1508" y="2208"/>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91" name="Text Box 34"/>
            <p:cNvSpPr txBox="1">
              <a:spLocks noChangeArrowheads="1"/>
            </p:cNvSpPr>
            <p:nvPr/>
          </p:nvSpPr>
          <p:spPr bwMode="auto">
            <a:xfrm>
              <a:off x="1251" y="1536"/>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92" name="Text Box 35"/>
            <p:cNvSpPr txBox="1">
              <a:spLocks noChangeArrowheads="1"/>
            </p:cNvSpPr>
            <p:nvPr/>
          </p:nvSpPr>
          <p:spPr bwMode="auto">
            <a:xfrm>
              <a:off x="1558" y="2976"/>
              <a:ext cx="5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线与</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93" name="Line 36"/>
            <p:cNvSpPr>
              <a:spLocks noChangeShapeType="1"/>
            </p:cNvSpPr>
            <p:nvPr/>
          </p:nvSpPr>
          <p:spPr bwMode="auto">
            <a:xfrm flipH="1" flipV="1">
              <a:off x="1640" y="2832"/>
              <a:ext cx="114" cy="144"/>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94" name="Group 140"/>
            <p:cNvGrpSpPr/>
            <p:nvPr/>
          </p:nvGrpSpPr>
          <p:grpSpPr bwMode="auto">
            <a:xfrm>
              <a:off x="612" y="2500"/>
              <a:ext cx="720" cy="435"/>
              <a:chOff x="3333" y="708"/>
              <a:chExt cx="720" cy="435"/>
            </a:xfrm>
          </p:grpSpPr>
          <p:grpSp>
            <p:nvGrpSpPr>
              <p:cNvPr id="407" name="Group 141"/>
              <p:cNvGrpSpPr/>
              <p:nvPr/>
            </p:nvGrpSpPr>
            <p:grpSpPr bwMode="auto">
              <a:xfrm>
                <a:off x="3333" y="835"/>
                <a:ext cx="192" cy="192"/>
                <a:chOff x="2304" y="1584"/>
                <a:chExt cx="192" cy="192"/>
              </a:xfrm>
            </p:grpSpPr>
            <p:sp>
              <p:nvSpPr>
                <p:cNvPr id="415" name="Line 142"/>
                <p:cNvSpPr>
                  <a:spLocks noChangeShapeType="1"/>
                </p:cNvSpPr>
                <p:nvPr/>
              </p:nvSpPr>
              <p:spPr bwMode="auto">
                <a:xfrm>
                  <a:off x="2304" y="158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6" name="Line 143"/>
                <p:cNvSpPr>
                  <a:spLocks noChangeShapeType="1"/>
                </p:cNvSpPr>
                <p:nvPr/>
              </p:nvSpPr>
              <p:spPr bwMode="auto">
                <a:xfrm>
                  <a:off x="2304" y="1776"/>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408" name="Line 144"/>
              <p:cNvSpPr>
                <a:spLocks noChangeShapeType="1"/>
              </p:cNvSpPr>
              <p:nvPr/>
            </p:nvSpPr>
            <p:spPr bwMode="auto">
              <a:xfrm>
                <a:off x="3813" y="931"/>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9" name="Oval 145"/>
              <p:cNvSpPr>
                <a:spLocks noChangeArrowheads="1"/>
              </p:cNvSpPr>
              <p:nvPr/>
            </p:nvSpPr>
            <p:spPr bwMode="auto">
              <a:xfrm>
                <a:off x="3825" y="908"/>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10" name="Group 146"/>
              <p:cNvGrpSpPr/>
              <p:nvPr/>
            </p:nvGrpSpPr>
            <p:grpSpPr bwMode="auto">
              <a:xfrm>
                <a:off x="3532" y="708"/>
                <a:ext cx="294" cy="435"/>
                <a:chOff x="3532" y="708"/>
                <a:chExt cx="294" cy="435"/>
              </a:xfrm>
            </p:grpSpPr>
            <p:grpSp>
              <p:nvGrpSpPr>
                <p:cNvPr id="411" name="Group 147"/>
                <p:cNvGrpSpPr/>
                <p:nvPr/>
              </p:nvGrpSpPr>
              <p:grpSpPr bwMode="auto">
                <a:xfrm>
                  <a:off x="3609" y="859"/>
                  <a:ext cx="150" cy="144"/>
                  <a:chOff x="3144" y="2880"/>
                  <a:chExt cx="150" cy="144"/>
                </a:xfrm>
              </p:grpSpPr>
              <p:sp>
                <p:nvSpPr>
                  <p:cNvPr id="413" name="AutoShape 148"/>
                  <p:cNvSpPr>
                    <a:spLocks noChangeArrowheads="1"/>
                  </p:cNvSpPr>
                  <p:nvPr/>
                </p:nvSpPr>
                <p:spPr bwMode="auto">
                  <a:xfrm>
                    <a:off x="3171" y="2880"/>
                    <a:ext cx="96" cy="144"/>
                  </a:xfrm>
                  <a:prstGeom prst="diamond">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4" name="Line 149"/>
                  <p:cNvSpPr>
                    <a:spLocks noChangeShapeType="1"/>
                  </p:cNvSpPr>
                  <p:nvPr/>
                </p:nvSpPr>
                <p:spPr bwMode="auto">
                  <a:xfrm>
                    <a:off x="3144" y="3024"/>
                    <a:ext cx="15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412" name="AutoShape 150"/>
                <p:cNvSpPr>
                  <a:spLocks noChangeArrowheads="1"/>
                </p:cNvSpPr>
                <p:nvPr/>
              </p:nvSpPr>
              <p:spPr bwMode="auto">
                <a:xfrm>
                  <a:off x="3532" y="708"/>
                  <a:ext cx="294" cy="435"/>
                </a:xfrm>
                <a:prstGeom prst="flowChartDelay">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395" name="Group 151"/>
            <p:cNvGrpSpPr/>
            <p:nvPr/>
          </p:nvGrpSpPr>
          <p:grpSpPr bwMode="auto">
            <a:xfrm>
              <a:off x="612" y="3181"/>
              <a:ext cx="720" cy="435"/>
              <a:chOff x="3333" y="708"/>
              <a:chExt cx="720" cy="435"/>
            </a:xfrm>
          </p:grpSpPr>
          <p:grpSp>
            <p:nvGrpSpPr>
              <p:cNvPr id="397" name="Group 152"/>
              <p:cNvGrpSpPr/>
              <p:nvPr/>
            </p:nvGrpSpPr>
            <p:grpSpPr bwMode="auto">
              <a:xfrm>
                <a:off x="3333" y="835"/>
                <a:ext cx="192" cy="192"/>
                <a:chOff x="2304" y="1584"/>
                <a:chExt cx="192" cy="192"/>
              </a:xfrm>
            </p:grpSpPr>
            <p:sp>
              <p:nvSpPr>
                <p:cNvPr id="405" name="Line 153"/>
                <p:cNvSpPr>
                  <a:spLocks noChangeShapeType="1"/>
                </p:cNvSpPr>
                <p:nvPr/>
              </p:nvSpPr>
              <p:spPr bwMode="auto">
                <a:xfrm>
                  <a:off x="2304" y="158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06" name="Line 154"/>
                <p:cNvSpPr>
                  <a:spLocks noChangeShapeType="1"/>
                </p:cNvSpPr>
                <p:nvPr/>
              </p:nvSpPr>
              <p:spPr bwMode="auto">
                <a:xfrm>
                  <a:off x="2304" y="1776"/>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98" name="Line 155"/>
              <p:cNvSpPr>
                <a:spLocks noChangeShapeType="1"/>
              </p:cNvSpPr>
              <p:nvPr/>
            </p:nvSpPr>
            <p:spPr bwMode="auto">
              <a:xfrm>
                <a:off x="3813" y="931"/>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99" name="Oval 156"/>
              <p:cNvSpPr>
                <a:spLocks noChangeArrowheads="1"/>
              </p:cNvSpPr>
              <p:nvPr/>
            </p:nvSpPr>
            <p:spPr bwMode="auto">
              <a:xfrm>
                <a:off x="3825" y="908"/>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00" name="Group 157"/>
              <p:cNvGrpSpPr/>
              <p:nvPr/>
            </p:nvGrpSpPr>
            <p:grpSpPr bwMode="auto">
              <a:xfrm>
                <a:off x="3532" y="708"/>
                <a:ext cx="294" cy="435"/>
                <a:chOff x="3532" y="708"/>
                <a:chExt cx="294" cy="435"/>
              </a:xfrm>
            </p:grpSpPr>
            <p:grpSp>
              <p:nvGrpSpPr>
                <p:cNvPr id="401" name="Group 158"/>
                <p:cNvGrpSpPr/>
                <p:nvPr/>
              </p:nvGrpSpPr>
              <p:grpSpPr bwMode="auto">
                <a:xfrm>
                  <a:off x="3609" y="859"/>
                  <a:ext cx="150" cy="144"/>
                  <a:chOff x="3144" y="2880"/>
                  <a:chExt cx="150" cy="144"/>
                </a:xfrm>
              </p:grpSpPr>
              <p:sp>
                <p:nvSpPr>
                  <p:cNvPr id="403" name="AutoShape 159"/>
                  <p:cNvSpPr>
                    <a:spLocks noChangeArrowheads="1"/>
                  </p:cNvSpPr>
                  <p:nvPr/>
                </p:nvSpPr>
                <p:spPr bwMode="auto">
                  <a:xfrm>
                    <a:off x="3171" y="2880"/>
                    <a:ext cx="96" cy="144"/>
                  </a:xfrm>
                  <a:prstGeom prst="diamond">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04" name="Line 160"/>
                  <p:cNvSpPr>
                    <a:spLocks noChangeShapeType="1"/>
                  </p:cNvSpPr>
                  <p:nvPr/>
                </p:nvSpPr>
                <p:spPr bwMode="auto">
                  <a:xfrm>
                    <a:off x="3144" y="3024"/>
                    <a:ext cx="15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402" name="AutoShape 161"/>
                <p:cNvSpPr>
                  <a:spLocks noChangeArrowheads="1"/>
                </p:cNvSpPr>
                <p:nvPr/>
              </p:nvSpPr>
              <p:spPr bwMode="auto">
                <a:xfrm>
                  <a:off x="3532" y="708"/>
                  <a:ext cx="294" cy="435"/>
                </a:xfrm>
                <a:prstGeom prst="flowChartDelay">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396" name="Line 162"/>
            <p:cNvSpPr>
              <a:spLocks noChangeShapeType="1"/>
            </p:cNvSpPr>
            <p:nvPr/>
          </p:nvSpPr>
          <p:spPr bwMode="auto">
            <a:xfrm flipV="1">
              <a:off x="1315" y="3407"/>
              <a:ext cx="15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dissolve">
                                      <p:cBhvr>
                                        <p:cTn id="7" dur="5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wipe(up)">
                                      <p:cBhvr>
                                        <p:cTn id="12" dur="500"/>
                                        <p:tgtEl>
                                          <p:spTgt spid="2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80"/>
                                        </p:tgtEl>
                                        <p:attrNameLst>
                                          <p:attrName>style.visibility</p:attrName>
                                        </p:attrNameLst>
                                      </p:cBhvr>
                                      <p:to>
                                        <p:strVal val="visible"/>
                                      </p:to>
                                    </p:set>
                                    <p:animEffect transition="in" filter="box(out)">
                                      <p:cBhvr>
                                        <p:cTn id="17"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30" name="Text Box 17"/>
          <p:cNvSpPr txBox="1">
            <a:spLocks noChangeArrowheads="1"/>
          </p:cNvSpPr>
          <p:nvPr/>
        </p:nvSpPr>
        <p:spPr bwMode="auto">
          <a:xfrm>
            <a:off x="52387" y="674698"/>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集电极开路与非门工作原理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32" name="Text Box 19"/>
          <p:cNvSpPr txBox="1">
            <a:spLocks noChangeArrowheads="1"/>
          </p:cNvSpPr>
          <p:nvPr/>
        </p:nvSpPr>
        <p:spPr bwMode="auto">
          <a:xfrm>
            <a:off x="133382" y="1136466"/>
            <a:ext cx="3732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2.</a:t>
            </a: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输出端并联使用（线与）</a:t>
            </a:r>
            <a:endPar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sp>
        <p:nvSpPr>
          <p:cNvPr id="260" name="Text Box 2"/>
          <p:cNvSpPr txBox="1">
            <a:spLocks noChangeArrowheads="1"/>
          </p:cNvSpPr>
          <p:nvPr/>
        </p:nvSpPr>
        <p:spPr bwMode="auto">
          <a:xfrm>
            <a:off x="153153" y="1882775"/>
            <a:ext cx="46577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①  </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当</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G1</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门输出高电平</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截止</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G2</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门输出低电平</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ea typeface="Ebrima" panose="02000000000000000000" pitchFamily="2" charset="0"/>
                <a:cs typeface="Times New Roman" panose="02020603050405020304" pitchFamily="18" charset="0"/>
              </a:rPr>
              <a:t>T</a:t>
            </a:r>
            <a:r>
              <a:rPr kumimoji="1" lang="en-US" altLang="zh-CN" sz="2400" b="1" i="0" u="none" strike="noStrike" kern="0" cap="none" spc="0" normalizeH="0" baseline="0" noProof="0" dirty="0">
                <a:ln>
                  <a:noFill/>
                </a:ln>
                <a:effectLst/>
                <a:uLnTx/>
                <a:uFillTx/>
                <a:latin typeface="Ebrima" panose="02000000000000000000" pitchFamily="2" charset="0"/>
                <a:ea typeface="Ebrima" panose="02000000000000000000" pitchFamily="2" charset="0"/>
                <a:cs typeface="Ebrima" panose="02000000000000000000" pitchFamily="2" charset="0"/>
              </a:rPr>
              <a:t>‘</a:t>
            </a:r>
            <a:r>
              <a:rPr kumimoji="1" lang="en-US" altLang="zh-CN" sz="2400" b="1"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导通</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时，</a:t>
            </a:r>
            <a:endPar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graphicFrame>
        <p:nvGraphicFramePr>
          <p:cNvPr id="261" name="Object 3"/>
          <p:cNvGraphicFramePr>
            <a:graphicFrameLocks noChangeAspect="1"/>
          </p:cNvGraphicFramePr>
          <p:nvPr/>
        </p:nvGraphicFramePr>
        <p:xfrm>
          <a:off x="1095553" y="3830049"/>
          <a:ext cx="2436813" cy="1081088"/>
        </p:xfrm>
        <a:graphic>
          <a:graphicData uri="http://schemas.openxmlformats.org/presentationml/2006/ole">
            <mc:AlternateContent xmlns:mc="http://schemas.openxmlformats.org/markup-compatibility/2006">
              <mc:Choice xmlns:v="urn:schemas-microsoft-com:vml" Requires="v">
                <p:oleObj spid="_x0000_s2" name="公式" r:id="rId2" imgW="1066800" imgH="482600" progId="Equation.3">
                  <p:embed/>
                </p:oleObj>
              </mc:Choice>
              <mc:Fallback>
                <p:oleObj name="公式" r:id="rId2" imgW="1066800" imgH="4826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553" y="3830049"/>
                        <a:ext cx="2436813" cy="108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2" name="Text Box 4"/>
          <p:cNvSpPr txBox="1">
            <a:spLocks noChangeArrowheads="1"/>
          </p:cNvSpPr>
          <p:nvPr/>
        </p:nvSpPr>
        <p:spPr bwMode="auto">
          <a:xfrm>
            <a:off x="169456" y="5323903"/>
            <a:ext cx="452278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只要</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足够大，电流即可被限制</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在允许的范围内</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3" name="Text Box 5"/>
          <p:cNvSpPr txBox="1">
            <a:spLocks noChangeArrowheads="1"/>
          </p:cNvSpPr>
          <p:nvPr/>
        </p:nvSpPr>
        <p:spPr bwMode="auto">
          <a:xfrm>
            <a:off x="203861" y="3041078"/>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输出为低电平</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pSp>
        <p:nvGrpSpPr>
          <p:cNvPr id="264" name="Group 6"/>
          <p:cNvGrpSpPr/>
          <p:nvPr/>
        </p:nvGrpSpPr>
        <p:grpSpPr bwMode="auto">
          <a:xfrm>
            <a:off x="4916557" y="878903"/>
            <a:ext cx="4292600" cy="5791200"/>
            <a:chOff x="3072" y="432"/>
            <a:chExt cx="2654" cy="3648"/>
          </a:xfrm>
        </p:grpSpPr>
        <p:grpSp>
          <p:nvGrpSpPr>
            <p:cNvPr id="265" name="Group 7"/>
            <p:cNvGrpSpPr/>
            <p:nvPr/>
          </p:nvGrpSpPr>
          <p:grpSpPr bwMode="auto">
            <a:xfrm>
              <a:off x="4669" y="480"/>
              <a:ext cx="1057" cy="2856"/>
              <a:chOff x="2831" y="672"/>
              <a:chExt cx="1057" cy="2856"/>
            </a:xfrm>
          </p:grpSpPr>
          <p:sp>
            <p:nvSpPr>
              <p:cNvPr id="456" name="Line 8"/>
              <p:cNvSpPr>
                <a:spLocks noChangeShapeType="1"/>
              </p:cNvSpPr>
              <p:nvPr/>
            </p:nvSpPr>
            <p:spPr bwMode="auto">
              <a:xfrm>
                <a:off x="3228" y="2400"/>
                <a:ext cx="33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7" name="Text Box 9"/>
              <p:cNvSpPr txBox="1">
                <a:spLocks noChangeArrowheads="1"/>
              </p:cNvSpPr>
              <p:nvPr/>
            </p:nvSpPr>
            <p:spPr bwMode="auto">
              <a:xfrm>
                <a:off x="3072" y="67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458" name="Text Box 10"/>
              <p:cNvSpPr txBox="1">
                <a:spLocks noChangeArrowheads="1"/>
              </p:cNvSpPr>
              <p:nvPr/>
            </p:nvSpPr>
            <p:spPr bwMode="auto">
              <a:xfrm>
                <a:off x="3507" y="2254"/>
                <a:ext cx="24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Y</a:t>
                </a:r>
                <a:endParaRPr kumimoji="1" lang="en-US" altLang="zh-CN" sz="28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459" name="Text Box 11"/>
              <p:cNvSpPr txBox="1">
                <a:spLocks noChangeArrowheads="1"/>
              </p:cNvSpPr>
              <p:nvPr/>
            </p:nvSpPr>
            <p:spPr bwMode="auto">
              <a:xfrm>
                <a:off x="3264" y="1200"/>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1"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460" name="Freeform 12"/>
              <p:cNvSpPr/>
              <p:nvPr/>
            </p:nvSpPr>
            <p:spPr bwMode="auto">
              <a:xfrm>
                <a:off x="2831" y="1704"/>
                <a:ext cx="384" cy="1824"/>
              </a:xfrm>
              <a:custGeom>
                <a:avLst/>
                <a:gdLst>
                  <a:gd name="T0" fmla="*/ 12 w 384"/>
                  <a:gd name="T1" fmla="*/ 0 h 1824"/>
                  <a:gd name="T2" fmla="*/ 384 w 384"/>
                  <a:gd name="T3" fmla="*/ 0 h 1824"/>
                  <a:gd name="T4" fmla="*/ 384 w 384"/>
                  <a:gd name="T5" fmla="*/ 1824 h 1824"/>
                  <a:gd name="T6" fmla="*/ 0 w 384"/>
                  <a:gd name="T7" fmla="*/ 1824 h 1824"/>
                  <a:gd name="T8" fmla="*/ 0 60000 65536"/>
                  <a:gd name="T9" fmla="*/ 0 60000 65536"/>
                  <a:gd name="T10" fmla="*/ 0 60000 65536"/>
                  <a:gd name="T11" fmla="*/ 0 60000 65536"/>
                  <a:gd name="T12" fmla="*/ 0 w 384"/>
                  <a:gd name="T13" fmla="*/ 0 h 1824"/>
                  <a:gd name="T14" fmla="*/ 384 w 384"/>
                  <a:gd name="T15" fmla="*/ 1824 h 1824"/>
                </a:gdLst>
                <a:ahLst/>
                <a:cxnLst>
                  <a:cxn ang="T8">
                    <a:pos x="T0" y="T1"/>
                  </a:cxn>
                  <a:cxn ang="T9">
                    <a:pos x="T2" y="T3"/>
                  </a:cxn>
                  <a:cxn ang="T10">
                    <a:pos x="T4" y="T5"/>
                  </a:cxn>
                  <a:cxn ang="T11">
                    <a:pos x="T6" y="T7"/>
                  </a:cxn>
                </a:cxnLst>
                <a:rect l="T12" t="T13" r="T14" b="T15"/>
                <a:pathLst>
                  <a:path w="384" h="1824">
                    <a:moveTo>
                      <a:pt x="12" y="0"/>
                    </a:moveTo>
                    <a:lnTo>
                      <a:pt x="384" y="0"/>
                    </a:lnTo>
                    <a:lnTo>
                      <a:pt x="384" y="1824"/>
                    </a:lnTo>
                    <a:lnTo>
                      <a:pt x="0" y="18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1" name="Line 13"/>
              <p:cNvSpPr>
                <a:spLocks noChangeShapeType="1"/>
              </p:cNvSpPr>
              <p:nvPr/>
            </p:nvSpPr>
            <p:spPr bwMode="auto">
              <a:xfrm flipV="1">
                <a:off x="3215" y="816"/>
                <a:ext cx="0" cy="9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62" name="Oval 14"/>
              <p:cNvSpPr>
                <a:spLocks noChangeArrowheads="1"/>
              </p:cNvSpPr>
              <p:nvPr/>
            </p:nvSpPr>
            <p:spPr bwMode="auto">
              <a:xfrm>
                <a:off x="3189" y="1680"/>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3" name="Rectangle 15"/>
              <p:cNvSpPr>
                <a:spLocks noChangeArrowheads="1"/>
              </p:cNvSpPr>
              <p:nvPr/>
            </p:nvSpPr>
            <p:spPr bwMode="auto">
              <a:xfrm>
                <a:off x="3168" y="1198"/>
                <a:ext cx="96"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4" name="Oval 16"/>
              <p:cNvSpPr>
                <a:spLocks noChangeArrowheads="1"/>
              </p:cNvSpPr>
              <p:nvPr/>
            </p:nvSpPr>
            <p:spPr bwMode="auto">
              <a:xfrm>
                <a:off x="3191" y="2376"/>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66" name="Text Box 17"/>
            <p:cNvSpPr txBox="1">
              <a:spLocks noChangeArrowheads="1"/>
            </p:cNvSpPr>
            <p:nvPr/>
          </p:nvSpPr>
          <p:spPr bwMode="auto">
            <a:xfrm>
              <a:off x="4065"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Line 18"/>
            <p:cNvSpPr>
              <a:spLocks noChangeShapeType="1"/>
            </p:cNvSpPr>
            <p:nvPr/>
          </p:nvSpPr>
          <p:spPr bwMode="auto">
            <a:xfrm>
              <a:off x="3982" y="1491"/>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8" name="Line 19"/>
            <p:cNvSpPr>
              <a:spLocks noChangeShapeType="1"/>
            </p:cNvSpPr>
            <p:nvPr/>
          </p:nvSpPr>
          <p:spPr bwMode="auto">
            <a:xfrm flipV="1">
              <a:off x="3982" y="1515"/>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9" name="Line 20"/>
            <p:cNvSpPr>
              <a:spLocks noChangeShapeType="1"/>
            </p:cNvSpPr>
            <p:nvPr/>
          </p:nvSpPr>
          <p:spPr bwMode="auto">
            <a:xfrm>
              <a:off x="3982" y="1611"/>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0" name="Line 21"/>
            <p:cNvSpPr>
              <a:spLocks noChangeShapeType="1"/>
            </p:cNvSpPr>
            <p:nvPr/>
          </p:nvSpPr>
          <p:spPr bwMode="auto">
            <a:xfrm>
              <a:off x="4125" y="1720"/>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1" name="Line 22"/>
            <p:cNvSpPr>
              <a:spLocks noChangeShapeType="1"/>
            </p:cNvSpPr>
            <p:nvPr/>
          </p:nvSpPr>
          <p:spPr bwMode="auto">
            <a:xfrm>
              <a:off x="3646" y="1623"/>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72" name="Group 23"/>
            <p:cNvGrpSpPr/>
            <p:nvPr/>
          </p:nvGrpSpPr>
          <p:grpSpPr bwMode="auto">
            <a:xfrm>
              <a:off x="3165" y="906"/>
              <a:ext cx="504" cy="871"/>
              <a:chOff x="3276" y="1818"/>
              <a:chExt cx="504" cy="871"/>
            </a:xfrm>
          </p:grpSpPr>
          <p:sp>
            <p:nvSpPr>
              <p:cNvPr id="450" name="Line 24"/>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1" name="Line 25"/>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2" name="Line 26"/>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3" name="Line 27"/>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4" name="Line 28"/>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55" name="Line 29"/>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73" name="Line 30"/>
            <p:cNvSpPr>
              <a:spLocks noChangeShapeType="1"/>
            </p:cNvSpPr>
            <p:nvPr/>
          </p:nvSpPr>
          <p:spPr bwMode="auto">
            <a:xfrm rot="-5400000">
              <a:off x="3283" y="1228"/>
              <a:ext cx="1" cy="2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74" name="Group 31"/>
            <p:cNvGrpSpPr/>
            <p:nvPr/>
          </p:nvGrpSpPr>
          <p:grpSpPr bwMode="auto">
            <a:xfrm>
              <a:off x="4024" y="1920"/>
              <a:ext cx="208" cy="288"/>
              <a:chOff x="2304" y="336"/>
              <a:chExt cx="195" cy="240"/>
            </a:xfrm>
          </p:grpSpPr>
          <p:sp>
            <p:nvSpPr>
              <p:cNvPr id="448" name="Line 32"/>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9" name="Line 33"/>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75" name="Line 34"/>
            <p:cNvSpPr>
              <a:spLocks noChangeShapeType="1"/>
            </p:cNvSpPr>
            <p:nvPr/>
          </p:nvSpPr>
          <p:spPr bwMode="auto">
            <a:xfrm>
              <a:off x="3647" y="1878"/>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6" name="Line 35"/>
            <p:cNvSpPr>
              <a:spLocks noChangeShapeType="1"/>
            </p:cNvSpPr>
            <p:nvPr/>
          </p:nvSpPr>
          <p:spPr bwMode="auto">
            <a:xfrm flipV="1">
              <a:off x="3645" y="57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7" name="Line 36"/>
            <p:cNvSpPr>
              <a:spLocks noChangeShapeType="1"/>
            </p:cNvSpPr>
            <p:nvPr/>
          </p:nvSpPr>
          <p:spPr bwMode="auto">
            <a:xfrm>
              <a:off x="4126" y="1515"/>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8" name="Rectangle 37"/>
            <p:cNvSpPr>
              <a:spLocks noChangeArrowheads="1"/>
            </p:cNvSpPr>
            <p:nvPr/>
          </p:nvSpPr>
          <p:spPr bwMode="auto">
            <a:xfrm>
              <a:off x="3599" y="170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9" name="Oval 38"/>
            <p:cNvSpPr>
              <a:spLocks noChangeArrowheads="1"/>
            </p:cNvSpPr>
            <p:nvPr/>
          </p:nvSpPr>
          <p:spPr bwMode="auto">
            <a:xfrm>
              <a:off x="3619" y="5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0" name="Oval 39"/>
            <p:cNvSpPr>
              <a:spLocks noChangeArrowheads="1"/>
            </p:cNvSpPr>
            <p:nvPr/>
          </p:nvSpPr>
          <p:spPr bwMode="auto">
            <a:xfrm>
              <a:off x="3621" y="1601"/>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1" name="Oval 40"/>
            <p:cNvSpPr>
              <a:spLocks noChangeArrowheads="1"/>
            </p:cNvSpPr>
            <p:nvPr/>
          </p:nvSpPr>
          <p:spPr bwMode="auto">
            <a:xfrm>
              <a:off x="4100" y="208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2" name="Text Box 41"/>
            <p:cNvSpPr txBox="1">
              <a:spLocks noChangeArrowheads="1"/>
            </p:cNvSpPr>
            <p:nvPr/>
          </p:nvSpPr>
          <p:spPr bwMode="auto">
            <a:xfrm>
              <a:off x="4449" y="1104"/>
              <a:ext cx="39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8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3" name="Text Box 42"/>
            <p:cNvSpPr txBox="1">
              <a:spLocks noChangeArrowheads="1"/>
            </p:cNvSpPr>
            <p:nvPr/>
          </p:nvSpPr>
          <p:spPr bwMode="auto">
            <a:xfrm>
              <a:off x="3633" y="1152"/>
              <a:ext cx="3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4" name="Text Box 43"/>
            <p:cNvSpPr txBox="1">
              <a:spLocks noChangeArrowheads="1"/>
            </p:cNvSpPr>
            <p:nvPr/>
          </p:nvSpPr>
          <p:spPr bwMode="auto">
            <a:xfrm>
              <a:off x="4113" y="1488"/>
              <a:ext cx="3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5" name="Line 44"/>
            <p:cNvSpPr>
              <a:spLocks noChangeShapeType="1"/>
            </p:cNvSpPr>
            <p:nvPr/>
          </p:nvSpPr>
          <p:spPr bwMode="auto">
            <a:xfrm>
              <a:off x="3645" y="2109"/>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6" name="Rectangle 45"/>
            <p:cNvSpPr>
              <a:spLocks noChangeArrowheads="1"/>
            </p:cNvSpPr>
            <p:nvPr/>
          </p:nvSpPr>
          <p:spPr bwMode="auto">
            <a:xfrm>
              <a:off x="3598" y="76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7" name="Oval 46"/>
            <p:cNvSpPr>
              <a:spLocks noChangeArrowheads="1"/>
            </p:cNvSpPr>
            <p:nvPr/>
          </p:nvSpPr>
          <p:spPr bwMode="auto">
            <a:xfrm>
              <a:off x="4583" y="1464"/>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8" name="Text Box 47"/>
            <p:cNvSpPr txBox="1">
              <a:spLocks noChangeArrowheads="1"/>
            </p:cNvSpPr>
            <p:nvPr/>
          </p:nvSpPr>
          <p:spPr bwMode="auto">
            <a:xfrm>
              <a:off x="4065" y="225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9" name="Line 48"/>
            <p:cNvSpPr>
              <a:spLocks noChangeShapeType="1"/>
            </p:cNvSpPr>
            <p:nvPr/>
          </p:nvSpPr>
          <p:spPr bwMode="auto">
            <a:xfrm>
              <a:off x="3982" y="3315"/>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0" name="Line 49"/>
            <p:cNvSpPr>
              <a:spLocks noChangeShapeType="1"/>
            </p:cNvSpPr>
            <p:nvPr/>
          </p:nvSpPr>
          <p:spPr bwMode="auto">
            <a:xfrm flipV="1">
              <a:off x="3982" y="3339"/>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1" name="Line 50"/>
            <p:cNvSpPr>
              <a:spLocks noChangeShapeType="1"/>
            </p:cNvSpPr>
            <p:nvPr/>
          </p:nvSpPr>
          <p:spPr bwMode="auto">
            <a:xfrm>
              <a:off x="3982" y="3435"/>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2" name="Line 51"/>
            <p:cNvSpPr>
              <a:spLocks noChangeShapeType="1"/>
            </p:cNvSpPr>
            <p:nvPr/>
          </p:nvSpPr>
          <p:spPr bwMode="auto">
            <a:xfrm>
              <a:off x="4125" y="3544"/>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3" name="Line 52"/>
            <p:cNvSpPr>
              <a:spLocks noChangeShapeType="1"/>
            </p:cNvSpPr>
            <p:nvPr/>
          </p:nvSpPr>
          <p:spPr bwMode="auto">
            <a:xfrm>
              <a:off x="3646" y="3447"/>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94" name="Group 53"/>
            <p:cNvGrpSpPr/>
            <p:nvPr/>
          </p:nvGrpSpPr>
          <p:grpSpPr bwMode="auto">
            <a:xfrm>
              <a:off x="3165" y="2730"/>
              <a:ext cx="504" cy="871"/>
              <a:chOff x="3276" y="1818"/>
              <a:chExt cx="504" cy="871"/>
            </a:xfrm>
          </p:grpSpPr>
          <p:sp>
            <p:nvSpPr>
              <p:cNvPr id="442" name="Line 54"/>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3" name="Line 55"/>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4" name="Line 56"/>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5" name="Line 57"/>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6" name="Line 58"/>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7" name="Line 59"/>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295" name="Group 60"/>
            <p:cNvGrpSpPr/>
            <p:nvPr/>
          </p:nvGrpSpPr>
          <p:grpSpPr bwMode="auto">
            <a:xfrm>
              <a:off x="4024" y="3744"/>
              <a:ext cx="208" cy="288"/>
              <a:chOff x="2304" y="336"/>
              <a:chExt cx="195" cy="240"/>
            </a:xfrm>
          </p:grpSpPr>
          <p:sp>
            <p:nvSpPr>
              <p:cNvPr id="440" name="Line 61"/>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41" name="Line 62"/>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96" name="Line 63"/>
            <p:cNvSpPr>
              <a:spLocks noChangeShapeType="1"/>
            </p:cNvSpPr>
            <p:nvPr/>
          </p:nvSpPr>
          <p:spPr bwMode="auto">
            <a:xfrm>
              <a:off x="3647" y="3702"/>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7" name="Line 64"/>
            <p:cNvSpPr>
              <a:spLocks noChangeShapeType="1"/>
            </p:cNvSpPr>
            <p:nvPr/>
          </p:nvSpPr>
          <p:spPr bwMode="auto">
            <a:xfrm flipV="1">
              <a:off x="3645" y="240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8" name="Line 65"/>
            <p:cNvSpPr>
              <a:spLocks noChangeShapeType="1"/>
            </p:cNvSpPr>
            <p:nvPr/>
          </p:nvSpPr>
          <p:spPr bwMode="auto">
            <a:xfrm>
              <a:off x="4126" y="3339"/>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19" name="Rectangle 66"/>
            <p:cNvSpPr>
              <a:spLocks noChangeArrowheads="1"/>
            </p:cNvSpPr>
            <p:nvPr/>
          </p:nvSpPr>
          <p:spPr bwMode="auto">
            <a:xfrm>
              <a:off x="3599" y="352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0" name="Oval 67"/>
            <p:cNvSpPr>
              <a:spLocks noChangeArrowheads="1"/>
            </p:cNvSpPr>
            <p:nvPr/>
          </p:nvSpPr>
          <p:spPr bwMode="auto">
            <a:xfrm>
              <a:off x="3619" y="237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1" name="Oval 68"/>
            <p:cNvSpPr>
              <a:spLocks noChangeArrowheads="1"/>
            </p:cNvSpPr>
            <p:nvPr/>
          </p:nvSpPr>
          <p:spPr bwMode="auto">
            <a:xfrm>
              <a:off x="3621" y="342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2" name="Oval 69"/>
            <p:cNvSpPr>
              <a:spLocks noChangeArrowheads="1"/>
            </p:cNvSpPr>
            <p:nvPr/>
          </p:nvSpPr>
          <p:spPr bwMode="auto">
            <a:xfrm>
              <a:off x="4100" y="390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3" name="Text Box 70"/>
            <p:cNvSpPr txBox="1">
              <a:spLocks noChangeArrowheads="1"/>
            </p:cNvSpPr>
            <p:nvPr/>
          </p:nvSpPr>
          <p:spPr bwMode="auto">
            <a:xfrm>
              <a:off x="4464" y="2937"/>
              <a:ext cx="3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8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4" name="Text Box 71"/>
            <p:cNvSpPr txBox="1">
              <a:spLocks noChangeArrowheads="1"/>
            </p:cNvSpPr>
            <p:nvPr/>
          </p:nvSpPr>
          <p:spPr bwMode="auto">
            <a:xfrm>
              <a:off x="3633" y="2976"/>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5" name="Text Box 72"/>
            <p:cNvSpPr txBox="1">
              <a:spLocks noChangeArrowheads="1"/>
            </p:cNvSpPr>
            <p:nvPr/>
          </p:nvSpPr>
          <p:spPr bwMode="auto">
            <a:xfrm>
              <a:off x="4113" y="3312"/>
              <a:ext cx="4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 '</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6" name="Line 73"/>
            <p:cNvSpPr>
              <a:spLocks noChangeShapeType="1"/>
            </p:cNvSpPr>
            <p:nvPr/>
          </p:nvSpPr>
          <p:spPr bwMode="auto">
            <a:xfrm>
              <a:off x="3645" y="3933"/>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27" name="Rectangle 74"/>
            <p:cNvSpPr>
              <a:spLocks noChangeArrowheads="1"/>
            </p:cNvSpPr>
            <p:nvPr/>
          </p:nvSpPr>
          <p:spPr bwMode="auto">
            <a:xfrm>
              <a:off x="3598" y="259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8" name="Oval 75"/>
            <p:cNvSpPr>
              <a:spLocks noChangeArrowheads="1"/>
            </p:cNvSpPr>
            <p:nvPr/>
          </p:nvSpPr>
          <p:spPr bwMode="auto">
            <a:xfrm>
              <a:off x="4583" y="3288"/>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9" name="Rectangle 76"/>
            <p:cNvSpPr>
              <a:spLocks noChangeArrowheads="1"/>
            </p:cNvSpPr>
            <p:nvPr/>
          </p:nvSpPr>
          <p:spPr bwMode="auto">
            <a:xfrm>
              <a:off x="3072" y="448"/>
              <a:ext cx="1392" cy="1808"/>
            </a:xfrm>
            <a:prstGeom prst="rect">
              <a:avLst/>
            </a:prstGeom>
            <a:noFill/>
            <a:ln w="9525">
              <a:solidFill>
                <a:srgbClr val="CC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0" name="Rectangle 77"/>
            <p:cNvSpPr>
              <a:spLocks noChangeArrowheads="1"/>
            </p:cNvSpPr>
            <p:nvPr/>
          </p:nvSpPr>
          <p:spPr bwMode="auto">
            <a:xfrm>
              <a:off x="3072" y="2304"/>
              <a:ext cx="1392" cy="1776"/>
            </a:xfrm>
            <a:prstGeom prst="rect">
              <a:avLst/>
            </a:prstGeom>
            <a:noFill/>
            <a:ln w="9525">
              <a:solidFill>
                <a:srgbClr val="3333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1" name="Text Box 78"/>
            <p:cNvSpPr txBox="1">
              <a:spLocks noChangeArrowheads="1"/>
            </p:cNvSpPr>
            <p:nvPr/>
          </p:nvSpPr>
          <p:spPr bwMode="auto">
            <a:xfrm>
              <a:off x="3143" y="1802"/>
              <a:ext cx="3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rPr>
                <a:t>G1</a:t>
              </a:r>
              <a:endPar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endParaRPr>
            </a:p>
          </p:txBody>
        </p:sp>
        <p:sp>
          <p:nvSpPr>
            <p:cNvPr id="432" name="Text Box 79"/>
            <p:cNvSpPr txBox="1">
              <a:spLocks noChangeArrowheads="1"/>
            </p:cNvSpPr>
            <p:nvPr/>
          </p:nvSpPr>
          <p:spPr bwMode="auto">
            <a:xfrm>
              <a:off x="3153" y="3648"/>
              <a:ext cx="3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G2</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433" name="Line 80"/>
            <p:cNvSpPr>
              <a:spLocks noChangeShapeType="1"/>
            </p:cNvSpPr>
            <p:nvPr/>
          </p:nvSpPr>
          <p:spPr bwMode="auto">
            <a:xfrm>
              <a:off x="3504" y="57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34" name="Line 81"/>
            <p:cNvSpPr>
              <a:spLocks noChangeShapeType="1"/>
            </p:cNvSpPr>
            <p:nvPr/>
          </p:nvSpPr>
          <p:spPr bwMode="auto">
            <a:xfrm>
              <a:off x="3504" y="2400"/>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35" name="Freeform 82"/>
            <p:cNvSpPr/>
            <p:nvPr/>
          </p:nvSpPr>
          <p:spPr bwMode="auto">
            <a:xfrm>
              <a:off x="4704" y="1248"/>
              <a:ext cx="480" cy="2832"/>
            </a:xfrm>
            <a:custGeom>
              <a:avLst/>
              <a:gdLst>
                <a:gd name="T0" fmla="*/ 480 w 480"/>
                <a:gd name="T1" fmla="*/ 0 h 2832"/>
                <a:gd name="T2" fmla="*/ 480 w 480"/>
                <a:gd name="T3" fmla="*/ 2208 h 2832"/>
                <a:gd name="T4" fmla="*/ 0 w 480"/>
                <a:gd name="T5" fmla="*/ 2208 h 2832"/>
                <a:gd name="T6" fmla="*/ 0 w 480"/>
                <a:gd name="T7" fmla="*/ 2832 h 2832"/>
                <a:gd name="T8" fmla="*/ 0 60000 65536"/>
                <a:gd name="T9" fmla="*/ 0 60000 65536"/>
                <a:gd name="T10" fmla="*/ 0 60000 65536"/>
                <a:gd name="T11" fmla="*/ 0 60000 65536"/>
                <a:gd name="T12" fmla="*/ 0 w 480"/>
                <a:gd name="T13" fmla="*/ 0 h 2832"/>
                <a:gd name="T14" fmla="*/ 480 w 480"/>
                <a:gd name="T15" fmla="*/ 2832 h 2832"/>
              </a:gdLst>
              <a:ahLst/>
              <a:cxnLst>
                <a:cxn ang="T8">
                  <a:pos x="T0" y="T1"/>
                </a:cxn>
                <a:cxn ang="T9">
                  <a:pos x="T2" y="T3"/>
                </a:cxn>
                <a:cxn ang="T10">
                  <a:pos x="T4" y="T5"/>
                </a:cxn>
                <a:cxn ang="T11">
                  <a:pos x="T6" y="T7"/>
                </a:cxn>
              </a:cxnLst>
              <a:rect l="T12" t="T13" r="T14" b="T15"/>
              <a:pathLst>
                <a:path w="480" h="2832">
                  <a:moveTo>
                    <a:pt x="480" y="0"/>
                  </a:moveTo>
                  <a:lnTo>
                    <a:pt x="480" y="2208"/>
                  </a:lnTo>
                  <a:lnTo>
                    <a:pt x="0" y="2208"/>
                  </a:lnTo>
                  <a:lnTo>
                    <a:pt x="0" y="2832"/>
                  </a:lnTo>
                </a:path>
              </a:pathLst>
            </a:custGeom>
            <a:noFill/>
            <a:ln w="222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6" name="Text Box 83"/>
            <p:cNvSpPr txBox="1">
              <a:spLocks noChangeArrowheads="1"/>
            </p:cNvSpPr>
            <p:nvPr/>
          </p:nvSpPr>
          <p:spPr bwMode="auto">
            <a:xfrm>
              <a:off x="5207" y="2496"/>
              <a:ext cx="1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CC3300"/>
                  </a:solidFill>
                  <a:effectLst/>
                  <a:uLnTx/>
                  <a:uFillTx/>
                  <a:latin typeface="Times New Roman" panose="02020603050405020304" pitchFamily="18" charset="0"/>
                  <a:ea typeface="宋体" panose="02010600030101010101" pitchFamily="2" charset="-122"/>
                </a:rPr>
                <a:t>i</a:t>
              </a:r>
              <a:endParaRPr kumimoji="1" lang="en-US" altLang="zh-CN" sz="2400" b="1" i="0" u="none" strike="noStrike" kern="0" cap="none" spc="0" normalizeH="0" baseline="0" noProof="0">
                <a:ln>
                  <a:noFill/>
                </a:ln>
                <a:solidFill>
                  <a:srgbClr val="CC3300"/>
                </a:solidFill>
                <a:effectLst/>
                <a:uLnTx/>
                <a:uFillTx/>
                <a:latin typeface="Times New Roman" panose="02020603050405020304" pitchFamily="18" charset="0"/>
                <a:ea typeface="宋体" panose="02010600030101010101" pitchFamily="2" charset="-122"/>
              </a:endParaRPr>
            </a:p>
          </p:txBody>
        </p:sp>
        <p:grpSp>
          <p:nvGrpSpPr>
            <p:cNvPr id="437" name="Group 84"/>
            <p:cNvGrpSpPr/>
            <p:nvPr/>
          </p:nvGrpSpPr>
          <p:grpSpPr bwMode="auto">
            <a:xfrm>
              <a:off x="4224" y="1392"/>
              <a:ext cx="144" cy="192"/>
              <a:chOff x="4224" y="1392"/>
              <a:chExt cx="144" cy="192"/>
            </a:xfrm>
          </p:grpSpPr>
          <p:sp>
            <p:nvSpPr>
              <p:cNvPr id="438" name="Line 85"/>
              <p:cNvSpPr>
                <a:spLocks noChangeShapeType="1"/>
              </p:cNvSpPr>
              <p:nvPr/>
            </p:nvSpPr>
            <p:spPr bwMode="auto">
              <a:xfrm flipH="1">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439" name="Line 86"/>
              <p:cNvSpPr>
                <a:spLocks noChangeShapeType="1"/>
              </p:cNvSpPr>
              <p:nvPr/>
            </p:nvSpPr>
            <p:spPr bwMode="auto">
              <a:xfrm>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wipe(left)">
                                      <p:cBhvr>
                                        <p:cTn id="7" dur="500"/>
                                        <p:tgtEl>
                                          <p:spTgt spid="2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1"/>
                                        </p:tgtEl>
                                        <p:attrNameLst>
                                          <p:attrName>style.visibility</p:attrName>
                                        </p:attrNameLst>
                                      </p:cBhvr>
                                      <p:to>
                                        <p:strVal val="visible"/>
                                      </p:to>
                                    </p:set>
                                    <p:animEffect transition="in" filter="wipe(left)">
                                      <p:cBhvr>
                                        <p:cTn id="12" dur="500"/>
                                        <p:tgtEl>
                                          <p:spTgt spid="2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2"/>
                                        </p:tgtEl>
                                        <p:attrNameLst>
                                          <p:attrName>style.visibility</p:attrName>
                                        </p:attrNameLst>
                                      </p:cBhvr>
                                      <p:to>
                                        <p:strVal val="visible"/>
                                      </p:to>
                                    </p:set>
                                    <p:animEffect transition="in" filter="wipe(left)">
                                      <p:cBhvr>
                                        <p:cTn id="17" dur="5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autoUpdateAnimBg="0"/>
      <p:bldP spid="26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30" name="Text Box 17"/>
          <p:cNvSpPr txBox="1">
            <a:spLocks noChangeArrowheads="1"/>
          </p:cNvSpPr>
          <p:nvPr/>
        </p:nvSpPr>
        <p:spPr bwMode="auto">
          <a:xfrm>
            <a:off x="52387" y="674698"/>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集电极开路与非门工作原理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32" name="Text Box 19"/>
          <p:cNvSpPr txBox="1">
            <a:spLocks noChangeArrowheads="1"/>
          </p:cNvSpPr>
          <p:nvPr/>
        </p:nvSpPr>
        <p:spPr bwMode="auto">
          <a:xfrm>
            <a:off x="133382" y="1136466"/>
            <a:ext cx="3732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2.</a:t>
            </a: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输出端并联使用（线与）</a:t>
            </a:r>
            <a:endPar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sp>
        <p:nvSpPr>
          <p:cNvPr id="177" name="Text Box 2"/>
          <p:cNvSpPr txBox="1">
            <a:spLocks noChangeArrowheads="1"/>
          </p:cNvSpPr>
          <p:nvPr/>
        </p:nvSpPr>
        <p:spPr bwMode="auto">
          <a:xfrm>
            <a:off x="171076" y="1964871"/>
            <a:ext cx="4326084"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② </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当</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G1</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G2</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门输出均为低电平时，</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T</a:t>
            </a:r>
            <a:r>
              <a:rPr kumimoji="1" lang="en-US" altLang="zh-CN" sz="2800" b="1"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均导通</a:t>
            </a:r>
            <a:endPar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178" name="Text Box 3"/>
          <p:cNvSpPr txBox="1">
            <a:spLocks noChangeArrowheads="1"/>
          </p:cNvSpPr>
          <p:nvPr/>
        </p:nvSpPr>
        <p:spPr bwMode="auto">
          <a:xfrm>
            <a:off x="216638" y="31623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输出为低电平</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aphicFrame>
        <p:nvGraphicFramePr>
          <p:cNvPr id="179" name="Object 4"/>
          <p:cNvGraphicFramePr>
            <a:graphicFrameLocks noChangeAspect="1"/>
          </p:cNvGraphicFramePr>
          <p:nvPr/>
        </p:nvGraphicFramePr>
        <p:xfrm>
          <a:off x="290472" y="3877360"/>
          <a:ext cx="3997325" cy="1036638"/>
        </p:xfrm>
        <a:graphic>
          <a:graphicData uri="http://schemas.openxmlformats.org/presentationml/2006/ole">
            <mc:AlternateContent xmlns:mc="http://schemas.openxmlformats.org/markup-compatibility/2006">
              <mc:Choice xmlns:v="urn:schemas-microsoft-com:vml" Requires="v">
                <p:oleObj spid="_x0000_s2" name="公式" r:id="rId2" imgW="1841500" imgH="482600" progId="Equation.3">
                  <p:embed/>
                </p:oleObj>
              </mc:Choice>
              <mc:Fallback>
                <p:oleObj name="公式" r:id="rId2" imgW="1841500" imgH="4826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472" y="3877360"/>
                        <a:ext cx="3997325"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0" name="Group 5"/>
          <p:cNvGrpSpPr/>
          <p:nvPr/>
        </p:nvGrpSpPr>
        <p:grpSpPr bwMode="auto">
          <a:xfrm>
            <a:off x="4876800" y="685800"/>
            <a:ext cx="4251325" cy="5791200"/>
            <a:chOff x="3072" y="432"/>
            <a:chExt cx="2654" cy="3648"/>
          </a:xfrm>
        </p:grpSpPr>
        <p:grpSp>
          <p:nvGrpSpPr>
            <p:cNvPr id="181" name="Group 6"/>
            <p:cNvGrpSpPr/>
            <p:nvPr/>
          </p:nvGrpSpPr>
          <p:grpSpPr bwMode="auto">
            <a:xfrm>
              <a:off x="4669" y="480"/>
              <a:ext cx="1057" cy="2856"/>
              <a:chOff x="2831" y="672"/>
              <a:chExt cx="1057" cy="2856"/>
            </a:xfrm>
          </p:grpSpPr>
          <p:sp>
            <p:nvSpPr>
              <p:cNvPr id="254" name="Line 7"/>
              <p:cNvSpPr>
                <a:spLocks noChangeShapeType="1"/>
              </p:cNvSpPr>
              <p:nvPr/>
            </p:nvSpPr>
            <p:spPr bwMode="auto">
              <a:xfrm>
                <a:off x="3228" y="2400"/>
                <a:ext cx="33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5" name="Text Box 8"/>
              <p:cNvSpPr txBox="1">
                <a:spLocks noChangeArrowheads="1"/>
              </p:cNvSpPr>
              <p:nvPr/>
            </p:nvSpPr>
            <p:spPr bwMode="auto">
              <a:xfrm>
                <a:off x="3072" y="67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56" name="Text Box 9"/>
              <p:cNvSpPr txBox="1">
                <a:spLocks noChangeArrowheads="1"/>
              </p:cNvSpPr>
              <p:nvPr/>
            </p:nvSpPr>
            <p:spPr bwMode="auto">
              <a:xfrm>
                <a:off x="3600" y="2256"/>
                <a:ext cx="2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Y</a:t>
                </a:r>
                <a:endPar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57" name="Text Box 10"/>
              <p:cNvSpPr txBox="1">
                <a:spLocks noChangeArrowheads="1"/>
              </p:cNvSpPr>
              <p:nvPr/>
            </p:nvSpPr>
            <p:spPr bwMode="auto">
              <a:xfrm>
                <a:off x="3264" y="1200"/>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1"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58" name="Freeform 11"/>
              <p:cNvSpPr/>
              <p:nvPr/>
            </p:nvSpPr>
            <p:spPr bwMode="auto">
              <a:xfrm>
                <a:off x="2831" y="1704"/>
                <a:ext cx="384" cy="1824"/>
              </a:xfrm>
              <a:custGeom>
                <a:avLst/>
                <a:gdLst>
                  <a:gd name="T0" fmla="*/ 12 w 384"/>
                  <a:gd name="T1" fmla="*/ 0 h 1824"/>
                  <a:gd name="T2" fmla="*/ 384 w 384"/>
                  <a:gd name="T3" fmla="*/ 0 h 1824"/>
                  <a:gd name="T4" fmla="*/ 384 w 384"/>
                  <a:gd name="T5" fmla="*/ 1824 h 1824"/>
                  <a:gd name="T6" fmla="*/ 0 w 384"/>
                  <a:gd name="T7" fmla="*/ 1824 h 1824"/>
                  <a:gd name="T8" fmla="*/ 0 60000 65536"/>
                  <a:gd name="T9" fmla="*/ 0 60000 65536"/>
                  <a:gd name="T10" fmla="*/ 0 60000 65536"/>
                  <a:gd name="T11" fmla="*/ 0 60000 65536"/>
                  <a:gd name="T12" fmla="*/ 0 w 384"/>
                  <a:gd name="T13" fmla="*/ 0 h 1824"/>
                  <a:gd name="T14" fmla="*/ 384 w 384"/>
                  <a:gd name="T15" fmla="*/ 1824 h 1824"/>
                </a:gdLst>
                <a:ahLst/>
                <a:cxnLst>
                  <a:cxn ang="T8">
                    <a:pos x="T0" y="T1"/>
                  </a:cxn>
                  <a:cxn ang="T9">
                    <a:pos x="T2" y="T3"/>
                  </a:cxn>
                  <a:cxn ang="T10">
                    <a:pos x="T4" y="T5"/>
                  </a:cxn>
                  <a:cxn ang="T11">
                    <a:pos x="T6" y="T7"/>
                  </a:cxn>
                </a:cxnLst>
                <a:rect l="T12" t="T13" r="T14" b="T15"/>
                <a:pathLst>
                  <a:path w="384" h="1824">
                    <a:moveTo>
                      <a:pt x="12" y="0"/>
                    </a:moveTo>
                    <a:lnTo>
                      <a:pt x="384" y="0"/>
                    </a:lnTo>
                    <a:lnTo>
                      <a:pt x="384" y="1824"/>
                    </a:lnTo>
                    <a:lnTo>
                      <a:pt x="0" y="18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Line 12"/>
              <p:cNvSpPr>
                <a:spLocks noChangeShapeType="1"/>
              </p:cNvSpPr>
              <p:nvPr/>
            </p:nvSpPr>
            <p:spPr bwMode="auto">
              <a:xfrm flipV="1">
                <a:off x="3215" y="816"/>
                <a:ext cx="0" cy="9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7" name="Oval 13"/>
              <p:cNvSpPr>
                <a:spLocks noChangeArrowheads="1"/>
              </p:cNvSpPr>
              <p:nvPr/>
            </p:nvSpPr>
            <p:spPr bwMode="auto">
              <a:xfrm>
                <a:off x="3189" y="1680"/>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8" name="Rectangle 14"/>
              <p:cNvSpPr>
                <a:spLocks noChangeArrowheads="1"/>
              </p:cNvSpPr>
              <p:nvPr/>
            </p:nvSpPr>
            <p:spPr bwMode="auto">
              <a:xfrm>
                <a:off x="3168" y="1198"/>
                <a:ext cx="96"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9" name="Oval 15"/>
              <p:cNvSpPr>
                <a:spLocks noChangeArrowheads="1"/>
              </p:cNvSpPr>
              <p:nvPr/>
            </p:nvSpPr>
            <p:spPr bwMode="auto">
              <a:xfrm>
                <a:off x="3191" y="2376"/>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82" name="Text Box 16"/>
            <p:cNvSpPr txBox="1">
              <a:spLocks noChangeArrowheads="1"/>
            </p:cNvSpPr>
            <p:nvPr/>
          </p:nvSpPr>
          <p:spPr bwMode="auto">
            <a:xfrm>
              <a:off x="4065"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3" name="Line 17"/>
            <p:cNvSpPr>
              <a:spLocks noChangeShapeType="1"/>
            </p:cNvSpPr>
            <p:nvPr/>
          </p:nvSpPr>
          <p:spPr bwMode="auto">
            <a:xfrm>
              <a:off x="3982" y="1491"/>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4" name="Line 18"/>
            <p:cNvSpPr>
              <a:spLocks noChangeShapeType="1"/>
            </p:cNvSpPr>
            <p:nvPr/>
          </p:nvSpPr>
          <p:spPr bwMode="auto">
            <a:xfrm flipV="1">
              <a:off x="3982" y="1515"/>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5" name="Line 19"/>
            <p:cNvSpPr>
              <a:spLocks noChangeShapeType="1"/>
            </p:cNvSpPr>
            <p:nvPr/>
          </p:nvSpPr>
          <p:spPr bwMode="auto">
            <a:xfrm>
              <a:off x="3982" y="1611"/>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6" name="Line 20"/>
            <p:cNvSpPr>
              <a:spLocks noChangeShapeType="1"/>
            </p:cNvSpPr>
            <p:nvPr/>
          </p:nvSpPr>
          <p:spPr bwMode="auto">
            <a:xfrm>
              <a:off x="4131" y="1720"/>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7" name="Line 21"/>
            <p:cNvSpPr>
              <a:spLocks noChangeShapeType="1"/>
            </p:cNvSpPr>
            <p:nvPr/>
          </p:nvSpPr>
          <p:spPr bwMode="auto">
            <a:xfrm>
              <a:off x="3646" y="1623"/>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88" name="Group 22"/>
            <p:cNvGrpSpPr/>
            <p:nvPr/>
          </p:nvGrpSpPr>
          <p:grpSpPr bwMode="auto">
            <a:xfrm>
              <a:off x="3165" y="906"/>
              <a:ext cx="504" cy="871"/>
              <a:chOff x="3276" y="1818"/>
              <a:chExt cx="504" cy="871"/>
            </a:xfrm>
          </p:grpSpPr>
          <p:sp>
            <p:nvSpPr>
              <p:cNvPr id="248" name="Line 23"/>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9" name="Line 24"/>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0" name="Line 25"/>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26"/>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Line 27"/>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3" name="Line 28"/>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89" name="Line 29"/>
            <p:cNvSpPr>
              <a:spLocks noChangeShapeType="1"/>
            </p:cNvSpPr>
            <p:nvPr/>
          </p:nvSpPr>
          <p:spPr bwMode="auto">
            <a:xfrm rot="-5400000">
              <a:off x="3283" y="1228"/>
              <a:ext cx="1" cy="2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90" name="Group 30"/>
            <p:cNvGrpSpPr/>
            <p:nvPr/>
          </p:nvGrpSpPr>
          <p:grpSpPr bwMode="auto">
            <a:xfrm>
              <a:off x="4024" y="1920"/>
              <a:ext cx="208" cy="288"/>
              <a:chOff x="2304" y="336"/>
              <a:chExt cx="195" cy="240"/>
            </a:xfrm>
          </p:grpSpPr>
          <p:sp>
            <p:nvSpPr>
              <p:cNvPr id="246" name="Line 31"/>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7" name="Line 32"/>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91" name="Line 33"/>
            <p:cNvSpPr>
              <a:spLocks noChangeShapeType="1"/>
            </p:cNvSpPr>
            <p:nvPr/>
          </p:nvSpPr>
          <p:spPr bwMode="auto">
            <a:xfrm>
              <a:off x="3647" y="1878"/>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2" name="Line 34"/>
            <p:cNvSpPr>
              <a:spLocks noChangeShapeType="1"/>
            </p:cNvSpPr>
            <p:nvPr/>
          </p:nvSpPr>
          <p:spPr bwMode="auto">
            <a:xfrm flipV="1">
              <a:off x="3645" y="57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3" name="Line 35"/>
            <p:cNvSpPr>
              <a:spLocks noChangeShapeType="1"/>
            </p:cNvSpPr>
            <p:nvPr/>
          </p:nvSpPr>
          <p:spPr bwMode="auto">
            <a:xfrm>
              <a:off x="4126" y="1515"/>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4" name="Rectangle 36"/>
            <p:cNvSpPr>
              <a:spLocks noChangeArrowheads="1"/>
            </p:cNvSpPr>
            <p:nvPr/>
          </p:nvSpPr>
          <p:spPr bwMode="auto">
            <a:xfrm>
              <a:off x="3599" y="170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5" name="Oval 37"/>
            <p:cNvSpPr>
              <a:spLocks noChangeArrowheads="1"/>
            </p:cNvSpPr>
            <p:nvPr/>
          </p:nvSpPr>
          <p:spPr bwMode="auto">
            <a:xfrm>
              <a:off x="3619" y="5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6" name="Oval 38"/>
            <p:cNvSpPr>
              <a:spLocks noChangeArrowheads="1"/>
            </p:cNvSpPr>
            <p:nvPr/>
          </p:nvSpPr>
          <p:spPr bwMode="auto">
            <a:xfrm>
              <a:off x="3621" y="1601"/>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7" name="Oval 39"/>
            <p:cNvSpPr>
              <a:spLocks noChangeArrowheads="1"/>
            </p:cNvSpPr>
            <p:nvPr/>
          </p:nvSpPr>
          <p:spPr bwMode="auto">
            <a:xfrm>
              <a:off x="4100" y="208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8" name="Text Box 40"/>
            <p:cNvSpPr txBox="1">
              <a:spLocks noChangeArrowheads="1"/>
            </p:cNvSpPr>
            <p:nvPr/>
          </p:nvSpPr>
          <p:spPr bwMode="auto">
            <a:xfrm>
              <a:off x="4449" y="1104"/>
              <a:ext cx="3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8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9" name="Text Box 41"/>
            <p:cNvSpPr txBox="1">
              <a:spLocks noChangeArrowheads="1"/>
            </p:cNvSpPr>
            <p:nvPr/>
          </p:nvSpPr>
          <p:spPr bwMode="auto">
            <a:xfrm>
              <a:off x="3633" y="1152"/>
              <a:ext cx="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0" name="Text Box 42"/>
            <p:cNvSpPr txBox="1">
              <a:spLocks noChangeArrowheads="1"/>
            </p:cNvSpPr>
            <p:nvPr/>
          </p:nvSpPr>
          <p:spPr bwMode="auto">
            <a:xfrm>
              <a:off x="4113" y="1488"/>
              <a:ext cx="3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1" name="Line 43"/>
            <p:cNvSpPr>
              <a:spLocks noChangeShapeType="1"/>
            </p:cNvSpPr>
            <p:nvPr/>
          </p:nvSpPr>
          <p:spPr bwMode="auto">
            <a:xfrm>
              <a:off x="3645" y="2109"/>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2" name="Rectangle 44"/>
            <p:cNvSpPr>
              <a:spLocks noChangeArrowheads="1"/>
            </p:cNvSpPr>
            <p:nvPr/>
          </p:nvSpPr>
          <p:spPr bwMode="auto">
            <a:xfrm>
              <a:off x="3598" y="76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3" name="Oval 45"/>
            <p:cNvSpPr>
              <a:spLocks noChangeArrowheads="1"/>
            </p:cNvSpPr>
            <p:nvPr/>
          </p:nvSpPr>
          <p:spPr bwMode="auto">
            <a:xfrm>
              <a:off x="4583" y="1464"/>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4" name="Text Box 46"/>
            <p:cNvSpPr txBox="1">
              <a:spLocks noChangeArrowheads="1"/>
            </p:cNvSpPr>
            <p:nvPr/>
          </p:nvSpPr>
          <p:spPr bwMode="auto">
            <a:xfrm>
              <a:off x="4065" y="225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5" name="Line 47"/>
            <p:cNvSpPr>
              <a:spLocks noChangeShapeType="1"/>
            </p:cNvSpPr>
            <p:nvPr/>
          </p:nvSpPr>
          <p:spPr bwMode="auto">
            <a:xfrm>
              <a:off x="3982" y="3315"/>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6" name="Line 48"/>
            <p:cNvSpPr>
              <a:spLocks noChangeShapeType="1"/>
            </p:cNvSpPr>
            <p:nvPr/>
          </p:nvSpPr>
          <p:spPr bwMode="auto">
            <a:xfrm flipV="1">
              <a:off x="3982" y="3339"/>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7" name="Line 49"/>
            <p:cNvSpPr>
              <a:spLocks noChangeShapeType="1"/>
            </p:cNvSpPr>
            <p:nvPr/>
          </p:nvSpPr>
          <p:spPr bwMode="auto">
            <a:xfrm>
              <a:off x="3982" y="3435"/>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8" name="Line 50"/>
            <p:cNvSpPr>
              <a:spLocks noChangeShapeType="1"/>
            </p:cNvSpPr>
            <p:nvPr/>
          </p:nvSpPr>
          <p:spPr bwMode="auto">
            <a:xfrm>
              <a:off x="4125" y="3544"/>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9" name="Line 51"/>
            <p:cNvSpPr>
              <a:spLocks noChangeShapeType="1"/>
            </p:cNvSpPr>
            <p:nvPr/>
          </p:nvSpPr>
          <p:spPr bwMode="auto">
            <a:xfrm>
              <a:off x="3646" y="3447"/>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10" name="Group 52"/>
            <p:cNvGrpSpPr/>
            <p:nvPr/>
          </p:nvGrpSpPr>
          <p:grpSpPr bwMode="auto">
            <a:xfrm>
              <a:off x="3165" y="2730"/>
              <a:ext cx="504" cy="871"/>
              <a:chOff x="3276" y="1818"/>
              <a:chExt cx="504" cy="871"/>
            </a:xfrm>
          </p:grpSpPr>
          <p:sp>
            <p:nvSpPr>
              <p:cNvPr id="240" name="Line 53"/>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1" name="Line 54"/>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2" name="Line 55"/>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3" name="Line 56"/>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4" name="Line 57"/>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5" name="Line 58"/>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211" name="Group 59"/>
            <p:cNvGrpSpPr/>
            <p:nvPr/>
          </p:nvGrpSpPr>
          <p:grpSpPr bwMode="auto">
            <a:xfrm>
              <a:off x="4024" y="3744"/>
              <a:ext cx="208" cy="288"/>
              <a:chOff x="2304" y="336"/>
              <a:chExt cx="195" cy="240"/>
            </a:xfrm>
          </p:grpSpPr>
          <p:sp>
            <p:nvSpPr>
              <p:cNvPr id="238" name="Line 60"/>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9" name="Line 61"/>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12" name="Line 62"/>
            <p:cNvSpPr>
              <a:spLocks noChangeShapeType="1"/>
            </p:cNvSpPr>
            <p:nvPr/>
          </p:nvSpPr>
          <p:spPr bwMode="auto">
            <a:xfrm>
              <a:off x="3647" y="3702"/>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3" name="Line 63"/>
            <p:cNvSpPr>
              <a:spLocks noChangeShapeType="1"/>
            </p:cNvSpPr>
            <p:nvPr/>
          </p:nvSpPr>
          <p:spPr bwMode="auto">
            <a:xfrm flipV="1">
              <a:off x="3645" y="240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4" name="Line 64"/>
            <p:cNvSpPr>
              <a:spLocks noChangeShapeType="1"/>
            </p:cNvSpPr>
            <p:nvPr/>
          </p:nvSpPr>
          <p:spPr bwMode="auto">
            <a:xfrm>
              <a:off x="4126" y="3339"/>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5" name="Rectangle 65"/>
            <p:cNvSpPr>
              <a:spLocks noChangeArrowheads="1"/>
            </p:cNvSpPr>
            <p:nvPr/>
          </p:nvSpPr>
          <p:spPr bwMode="auto">
            <a:xfrm>
              <a:off x="3599" y="352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6" name="Oval 66"/>
            <p:cNvSpPr>
              <a:spLocks noChangeArrowheads="1"/>
            </p:cNvSpPr>
            <p:nvPr/>
          </p:nvSpPr>
          <p:spPr bwMode="auto">
            <a:xfrm>
              <a:off x="3619" y="237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7" name="Oval 67"/>
            <p:cNvSpPr>
              <a:spLocks noChangeArrowheads="1"/>
            </p:cNvSpPr>
            <p:nvPr/>
          </p:nvSpPr>
          <p:spPr bwMode="auto">
            <a:xfrm>
              <a:off x="3621" y="342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8" name="Oval 68"/>
            <p:cNvSpPr>
              <a:spLocks noChangeArrowheads="1"/>
            </p:cNvSpPr>
            <p:nvPr/>
          </p:nvSpPr>
          <p:spPr bwMode="auto">
            <a:xfrm>
              <a:off x="4100" y="390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9" name="Text Box 69"/>
            <p:cNvSpPr txBox="1">
              <a:spLocks noChangeArrowheads="1"/>
            </p:cNvSpPr>
            <p:nvPr/>
          </p:nvSpPr>
          <p:spPr bwMode="auto">
            <a:xfrm>
              <a:off x="4464" y="2937"/>
              <a:ext cx="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8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0" name="Text Box 70"/>
            <p:cNvSpPr txBox="1">
              <a:spLocks noChangeArrowheads="1"/>
            </p:cNvSpPr>
            <p:nvPr/>
          </p:nvSpPr>
          <p:spPr bwMode="auto">
            <a:xfrm>
              <a:off x="3633" y="2976"/>
              <a:ext cx="3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1" name="Text Box 71"/>
            <p:cNvSpPr txBox="1">
              <a:spLocks noChangeArrowheads="1"/>
            </p:cNvSpPr>
            <p:nvPr/>
          </p:nvSpPr>
          <p:spPr bwMode="auto">
            <a:xfrm>
              <a:off x="4113" y="3312"/>
              <a:ext cx="4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2" name="Line 72"/>
            <p:cNvSpPr>
              <a:spLocks noChangeShapeType="1"/>
            </p:cNvSpPr>
            <p:nvPr/>
          </p:nvSpPr>
          <p:spPr bwMode="auto">
            <a:xfrm>
              <a:off x="3645" y="3933"/>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3" name="Rectangle 73"/>
            <p:cNvSpPr>
              <a:spLocks noChangeArrowheads="1"/>
            </p:cNvSpPr>
            <p:nvPr/>
          </p:nvSpPr>
          <p:spPr bwMode="auto">
            <a:xfrm>
              <a:off x="3598" y="259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4" name="Oval 74"/>
            <p:cNvSpPr>
              <a:spLocks noChangeArrowheads="1"/>
            </p:cNvSpPr>
            <p:nvPr/>
          </p:nvSpPr>
          <p:spPr bwMode="auto">
            <a:xfrm>
              <a:off x="4583" y="3288"/>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5" name="Rectangle 75"/>
            <p:cNvSpPr>
              <a:spLocks noChangeArrowheads="1"/>
            </p:cNvSpPr>
            <p:nvPr/>
          </p:nvSpPr>
          <p:spPr bwMode="auto">
            <a:xfrm>
              <a:off x="3072" y="448"/>
              <a:ext cx="1392" cy="1808"/>
            </a:xfrm>
            <a:prstGeom prst="rect">
              <a:avLst/>
            </a:prstGeom>
            <a:noFill/>
            <a:ln w="9525">
              <a:solidFill>
                <a:srgbClr val="CC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6" name="Rectangle 76"/>
            <p:cNvSpPr>
              <a:spLocks noChangeArrowheads="1"/>
            </p:cNvSpPr>
            <p:nvPr/>
          </p:nvSpPr>
          <p:spPr bwMode="auto">
            <a:xfrm>
              <a:off x="3072" y="2304"/>
              <a:ext cx="1392" cy="1776"/>
            </a:xfrm>
            <a:prstGeom prst="rect">
              <a:avLst/>
            </a:prstGeom>
            <a:noFill/>
            <a:ln w="9525">
              <a:solidFill>
                <a:srgbClr val="3333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7" name="Text Box 77"/>
            <p:cNvSpPr txBox="1">
              <a:spLocks noChangeArrowheads="1"/>
            </p:cNvSpPr>
            <p:nvPr/>
          </p:nvSpPr>
          <p:spPr bwMode="auto">
            <a:xfrm>
              <a:off x="3143" y="1802"/>
              <a:ext cx="3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rPr>
                <a:t>G1</a:t>
              </a:r>
              <a:endPar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endParaRPr>
            </a:p>
          </p:txBody>
        </p:sp>
        <p:sp>
          <p:nvSpPr>
            <p:cNvPr id="228" name="Text Box 78"/>
            <p:cNvSpPr txBox="1">
              <a:spLocks noChangeArrowheads="1"/>
            </p:cNvSpPr>
            <p:nvPr/>
          </p:nvSpPr>
          <p:spPr bwMode="auto">
            <a:xfrm>
              <a:off x="3153" y="3648"/>
              <a:ext cx="3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G2</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229" name="Line 79"/>
            <p:cNvSpPr>
              <a:spLocks noChangeShapeType="1"/>
            </p:cNvSpPr>
            <p:nvPr/>
          </p:nvSpPr>
          <p:spPr bwMode="auto">
            <a:xfrm>
              <a:off x="3504" y="57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1" name="Line 80"/>
            <p:cNvSpPr>
              <a:spLocks noChangeShapeType="1"/>
            </p:cNvSpPr>
            <p:nvPr/>
          </p:nvSpPr>
          <p:spPr bwMode="auto">
            <a:xfrm>
              <a:off x="3504" y="2400"/>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3" name="Text Box 81"/>
            <p:cNvSpPr txBox="1">
              <a:spLocks noChangeArrowheads="1"/>
            </p:cNvSpPr>
            <p:nvPr/>
          </p:nvSpPr>
          <p:spPr bwMode="auto">
            <a:xfrm>
              <a:off x="4656" y="3408"/>
              <a:ext cx="2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rPr>
                <a:t>i</a:t>
              </a:r>
              <a:r>
                <a:rPr kumimoji="1" lang="en-US" altLang="zh-CN" sz="2400" b="1" i="1" u="none" strike="noStrike" kern="0" cap="none" spc="0" normalizeH="0" baseline="-25000" noProof="0">
                  <a:ln>
                    <a:noFill/>
                  </a:ln>
                  <a:solidFill>
                    <a:srgbClr val="339933"/>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endParaRPr>
            </a:p>
          </p:txBody>
        </p:sp>
        <p:grpSp>
          <p:nvGrpSpPr>
            <p:cNvPr id="234" name="Group 82"/>
            <p:cNvGrpSpPr/>
            <p:nvPr/>
          </p:nvGrpSpPr>
          <p:grpSpPr bwMode="auto">
            <a:xfrm>
              <a:off x="4416" y="1248"/>
              <a:ext cx="768" cy="2832"/>
              <a:chOff x="4416" y="1248"/>
              <a:chExt cx="768" cy="2832"/>
            </a:xfrm>
          </p:grpSpPr>
          <p:sp>
            <p:nvSpPr>
              <p:cNvPr id="236" name="Freeform 83"/>
              <p:cNvSpPr/>
              <p:nvPr/>
            </p:nvSpPr>
            <p:spPr bwMode="auto">
              <a:xfrm>
                <a:off x="4416" y="1248"/>
                <a:ext cx="768" cy="2832"/>
              </a:xfrm>
              <a:custGeom>
                <a:avLst/>
                <a:gdLst>
                  <a:gd name="T0" fmla="*/ 480 w 480"/>
                  <a:gd name="T1" fmla="*/ 0 h 2832"/>
                  <a:gd name="T2" fmla="*/ 480 w 480"/>
                  <a:gd name="T3" fmla="*/ 2208 h 2832"/>
                  <a:gd name="T4" fmla="*/ 0 w 480"/>
                  <a:gd name="T5" fmla="*/ 2208 h 2832"/>
                  <a:gd name="T6" fmla="*/ 0 w 480"/>
                  <a:gd name="T7" fmla="*/ 2832 h 2832"/>
                  <a:gd name="T8" fmla="*/ 0 60000 65536"/>
                  <a:gd name="T9" fmla="*/ 0 60000 65536"/>
                  <a:gd name="T10" fmla="*/ 0 60000 65536"/>
                  <a:gd name="T11" fmla="*/ 0 60000 65536"/>
                  <a:gd name="T12" fmla="*/ 0 w 480"/>
                  <a:gd name="T13" fmla="*/ 0 h 2832"/>
                  <a:gd name="T14" fmla="*/ 480 w 480"/>
                  <a:gd name="T15" fmla="*/ 2832 h 2832"/>
                </a:gdLst>
                <a:ahLst/>
                <a:cxnLst>
                  <a:cxn ang="T8">
                    <a:pos x="T0" y="T1"/>
                  </a:cxn>
                  <a:cxn ang="T9">
                    <a:pos x="T2" y="T3"/>
                  </a:cxn>
                  <a:cxn ang="T10">
                    <a:pos x="T4" y="T5"/>
                  </a:cxn>
                  <a:cxn ang="T11">
                    <a:pos x="T6" y="T7"/>
                  </a:cxn>
                </a:cxnLst>
                <a:rect l="T12" t="T13" r="T14" b="T15"/>
                <a:pathLst>
                  <a:path w="480" h="2832">
                    <a:moveTo>
                      <a:pt x="480" y="0"/>
                    </a:moveTo>
                    <a:lnTo>
                      <a:pt x="480" y="2208"/>
                    </a:lnTo>
                    <a:lnTo>
                      <a:pt x="0" y="2208"/>
                    </a:lnTo>
                    <a:lnTo>
                      <a:pt x="0" y="2832"/>
                    </a:lnTo>
                  </a:path>
                </a:pathLst>
              </a:custGeom>
              <a:noFill/>
              <a:ln w="222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7" name="Freeform 84"/>
              <p:cNvSpPr/>
              <p:nvPr/>
            </p:nvSpPr>
            <p:spPr bwMode="auto">
              <a:xfrm>
                <a:off x="4416" y="1584"/>
                <a:ext cx="768" cy="432"/>
              </a:xfrm>
              <a:custGeom>
                <a:avLst/>
                <a:gdLst>
                  <a:gd name="T0" fmla="*/ 768 w 768"/>
                  <a:gd name="T1" fmla="*/ 0 h 432"/>
                  <a:gd name="T2" fmla="*/ 0 w 768"/>
                  <a:gd name="T3" fmla="*/ 0 h 432"/>
                  <a:gd name="T4" fmla="*/ 0 w 768"/>
                  <a:gd name="T5" fmla="*/ 432 h 432"/>
                  <a:gd name="T6" fmla="*/ 0 60000 65536"/>
                  <a:gd name="T7" fmla="*/ 0 60000 65536"/>
                  <a:gd name="T8" fmla="*/ 0 60000 65536"/>
                  <a:gd name="T9" fmla="*/ 0 w 768"/>
                  <a:gd name="T10" fmla="*/ 0 h 432"/>
                  <a:gd name="T11" fmla="*/ 768 w 768"/>
                  <a:gd name="T12" fmla="*/ 432 h 432"/>
                </a:gdLst>
                <a:ahLst/>
                <a:cxnLst>
                  <a:cxn ang="T6">
                    <a:pos x="T0" y="T1"/>
                  </a:cxn>
                  <a:cxn ang="T7">
                    <a:pos x="T2" y="T3"/>
                  </a:cxn>
                  <a:cxn ang="T8">
                    <a:pos x="T4" y="T5"/>
                  </a:cxn>
                </a:cxnLst>
                <a:rect l="T9" t="T10" r="T11" b="T12"/>
                <a:pathLst>
                  <a:path w="768" h="432">
                    <a:moveTo>
                      <a:pt x="768" y="0"/>
                    </a:moveTo>
                    <a:lnTo>
                      <a:pt x="0" y="0"/>
                    </a:lnTo>
                    <a:lnTo>
                      <a:pt x="0" y="432"/>
                    </a:lnTo>
                  </a:path>
                </a:pathLst>
              </a:custGeom>
              <a:noFill/>
              <a:ln w="19050">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35" name="Text Box 85"/>
            <p:cNvSpPr txBox="1">
              <a:spLocks noChangeArrowheads="1"/>
            </p:cNvSpPr>
            <p:nvPr/>
          </p:nvSpPr>
          <p:spPr bwMode="auto">
            <a:xfrm>
              <a:off x="4560" y="1536"/>
              <a:ext cx="2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339933"/>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endParaRPr>
            </a:p>
          </p:txBody>
        </p:sp>
      </p:grpSp>
      <p:sp>
        <p:nvSpPr>
          <p:cNvPr id="300" name="Text Box 86"/>
          <p:cNvSpPr txBox="1">
            <a:spLocks noChangeArrowheads="1"/>
          </p:cNvSpPr>
          <p:nvPr/>
        </p:nvSpPr>
        <p:spPr bwMode="auto">
          <a:xfrm>
            <a:off x="290472" y="5145847"/>
            <a:ext cx="415607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只要</a:t>
            </a:r>
            <a:r>
              <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L</a:t>
            </a: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能满足情况</a:t>
            </a:r>
            <a:r>
              <a:rPr kumimoji="1" lang="zh-CN" altLang="en-US" sz="22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①</a:t>
            </a: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的要求</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则肯定能满足情况</a:t>
            </a:r>
            <a:r>
              <a:rPr kumimoji="1" lang="zh-CN" altLang="en-US" sz="22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②</a:t>
            </a: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的要求</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left)">
                                      <p:cBhvr>
                                        <p:cTn id="7" dur="5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9"/>
                                        </p:tgtEl>
                                        <p:attrNameLst>
                                          <p:attrName>style.visibility</p:attrName>
                                        </p:attrNameLst>
                                      </p:cBhvr>
                                      <p:to>
                                        <p:strVal val="visible"/>
                                      </p:to>
                                    </p:set>
                                    <p:animEffect transition="in" filter="wipe(left)">
                                      <p:cBhvr>
                                        <p:cTn id="12" dur="500"/>
                                        <p:tgtEl>
                                          <p:spTgt spid="1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0"/>
                                        </p:tgtEl>
                                        <p:attrNameLst>
                                          <p:attrName>style.visibility</p:attrName>
                                        </p:attrNameLst>
                                      </p:cBhvr>
                                      <p:to>
                                        <p:strVal val="visible"/>
                                      </p:to>
                                    </p:set>
                                    <p:animEffect transition="in" filter="wipe(left)">
                                      <p:cBhvr>
                                        <p:cTn id="17" dur="50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autoUpdateAnimBg="0"/>
      <p:bldP spid="30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2.4.3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集电极开路门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30" name="Text Box 17"/>
          <p:cNvSpPr txBox="1">
            <a:spLocks noChangeArrowheads="1"/>
          </p:cNvSpPr>
          <p:nvPr/>
        </p:nvSpPr>
        <p:spPr bwMode="auto">
          <a:xfrm>
            <a:off x="52387" y="674698"/>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集电极开路与非门工作原理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32" name="Text Box 19"/>
          <p:cNvSpPr txBox="1">
            <a:spLocks noChangeArrowheads="1"/>
          </p:cNvSpPr>
          <p:nvPr/>
        </p:nvSpPr>
        <p:spPr bwMode="auto">
          <a:xfrm>
            <a:off x="133382" y="1136466"/>
            <a:ext cx="3732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2.</a:t>
            </a: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输出端并联使用（线与）</a:t>
            </a:r>
            <a:endPar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sp>
        <p:nvSpPr>
          <p:cNvPr id="272" name="Text Box 2"/>
          <p:cNvSpPr txBox="1">
            <a:spLocks noChangeArrowheads="1"/>
          </p:cNvSpPr>
          <p:nvPr/>
        </p:nvSpPr>
        <p:spPr bwMode="auto">
          <a:xfrm>
            <a:off x="262385" y="1669547"/>
            <a:ext cx="4430713"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③ </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当</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G1</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G2</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门输出均为高电平时，</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T</a:t>
            </a:r>
            <a:r>
              <a:rPr kumimoji="1" lang="en-US" altLang="zh-CN" sz="2800" b="1"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均截止</a:t>
            </a:r>
            <a:endPar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273" name="Text Box 3"/>
          <p:cNvSpPr txBox="1">
            <a:spLocks noChangeArrowheads="1"/>
          </p:cNvSpPr>
          <p:nvPr/>
        </p:nvSpPr>
        <p:spPr bwMode="auto">
          <a:xfrm>
            <a:off x="236963" y="2663122"/>
            <a:ext cx="236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输出为高电平</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274" name="Text Box 4"/>
          <p:cNvSpPr txBox="1">
            <a:spLocks noChangeArrowheads="1"/>
          </p:cNvSpPr>
          <p:nvPr/>
        </p:nvSpPr>
        <p:spPr bwMode="auto">
          <a:xfrm>
            <a:off x="255295" y="3339783"/>
            <a:ext cx="4457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此时</a:t>
            </a:r>
            <a:r>
              <a:rPr kumimoji="1" lang="en-US" altLang="zh-CN"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L</a:t>
            </a: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值不能太大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，否则输出</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eaLnBrk="1" fontAlgn="base" hangingPunct="1">
              <a:spcBef>
                <a:spcPct val="0"/>
              </a:spcBef>
              <a:spcAft>
                <a:spcPct val="0"/>
              </a:spcAft>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高电平会下降</a:t>
            </a:r>
            <a:r>
              <a:rPr kumimoji="1" lang="zh-CN" altLang="en-US" sz="2400" kern="0" dirty="0">
                <a:solidFill>
                  <a:srgbClr val="000000"/>
                </a:solidFill>
              </a:rPr>
              <a:t>过多，因为有漏电流和负载电流。</a:t>
            </a:r>
            <a:endParaRPr kumimoji="1" lang="zh-CN" altLang="en-US" sz="2400" kern="0" dirty="0">
              <a:solidFill>
                <a:srgbClr val="000000"/>
              </a:solidFill>
            </a:endParaRPr>
          </a:p>
        </p:txBody>
      </p:sp>
      <p:graphicFrame>
        <p:nvGraphicFramePr>
          <p:cNvPr id="276" name="Object 6"/>
          <p:cNvGraphicFramePr>
            <a:graphicFrameLocks noChangeAspect="1"/>
          </p:cNvGraphicFramePr>
          <p:nvPr/>
        </p:nvGraphicFramePr>
        <p:xfrm>
          <a:off x="1379169" y="4759573"/>
          <a:ext cx="2446338" cy="473075"/>
        </p:xfrm>
        <a:graphic>
          <a:graphicData uri="http://schemas.openxmlformats.org/presentationml/2006/ole">
            <mc:AlternateContent xmlns:mc="http://schemas.openxmlformats.org/markup-compatibility/2006">
              <mc:Choice xmlns:v="urn:schemas-microsoft-com:vml" Requires="v">
                <p:oleObj spid="_x0000_s2" name="公式" r:id="rId2" imgW="1181100" imgH="228600" progId="Equation.3">
                  <p:embed/>
                </p:oleObj>
              </mc:Choice>
              <mc:Fallback>
                <p:oleObj name="公式" r:id="rId2" imgW="1181100" imgH="2286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169" y="4759573"/>
                        <a:ext cx="2446338"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7" name="Group 7"/>
          <p:cNvGrpSpPr/>
          <p:nvPr/>
        </p:nvGrpSpPr>
        <p:grpSpPr bwMode="auto">
          <a:xfrm>
            <a:off x="5000294" y="936308"/>
            <a:ext cx="4224338" cy="5791200"/>
            <a:chOff x="3072" y="432"/>
            <a:chExt cx="2654" cy="3648"/>
          </a:xfrm>
        </p:grpSpPr>
        <p:grpSp>
          <p:nvGrpSpPr>
            <p:cNvPr id="278" name="Group 8"/>
            <p:cNvGrpSpPr/>
            <p:nvPr/>
          </p:nvGrpSpPr>
          <p:grpSpPr bwMode="auto">
            <a:xfrm>
              <a:off x="4669" y="480"/>
              <a:ext cx="1057" cy="2856"/>
              <a:chOff x="2831" y="672"/>
              <a:chExt cx="1057" cy="2856"/>
            </a:xfrm>
          </p:grpSpPr>
          <p:sp>
            <p:nvSpPr>
              <p:cNvPr id="359" name="Line 9"/>
              <p:cNvSpPr>
                <a:spLocks noChangeShapeType="1"/>
              </p:cNvSpPr>
              <p:nvPr/>
            </p:nvSpPr>
            <p:spPr bwMode="auto">
              <a:xfrm>
                <a:off x="3228" y="2400"/>
                <a:ext cx="33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0" name="Text Box 10"/>
              <p:cNvSpPr txBox="1">
                <a:spLocks noChangeArrowheads="1"/>
              </p:cNvSpPr>
              <p:nvPr/>
            </p:nvSpPr>
            <p:spPr bwMode="auto">
              <a:xfrm>
                <a:off x="3072" y="67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61" name="Text Box 11"/>
              <p:cNvSpPr txBox="1">
                <a:spLocks noChangeArrowheads="1"/>
              </p:cNvSpPr>
              <p:nvPr/>
            </p:nvSpPr>
            <p:spPr bwMode="auto">
              <a:xfrm>
                <a:off x="3600" y="228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Y</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62" name="Text Box 12"/>
              <p:cNvSpPr txBox="1">
                <a:spLocks noChangeArrowheads="1"/>
              </p:cNvSpPr>
              <p:nvPr/>
            </p:nvSpPr>
            <p:spPr bwMode="auto">
              <a:xfrm>
                <a:off x="3264" y="1200"/>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R</a:t>
                </a:r>
                <a:r>
                  <a:rPr kumimoji="1" lang="en-US" altLang="zh-CN" sz="2400" b="1" i="1"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L</a:t>
                </a:r>
                <a:endParaRPr kumimoji="1" lang="en-US" altLang="zh-CN" sz="24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63" name="Freeform 13"/>
              <p:cNvSpPr/>
              <p:nvPr/>
            </p:nvSpPr>
            <p:spPr bwMode="auto">
              <a:xfrm>
                <a:off x="2831" y="1704"/>
                <a:ext cx="384" cy="1824"/>
              </a:xfrm>
              <a:custGeom>
                <a:avLst/>
                <a:gdLst>
                  <a:gd name="T0" fmla="*/ 12 w 384"/>
                  <a:gd name="T1" fmla="*/ 0 h 1824"/>
                  <a:gd name="T2" fmla="*/ 384 w 384"/>
                  <a:gd name="T3" fmla="*/ 0 h 1824"/>
                  <a:gd name="T4" fmla="*/ 384 w 384"/>
                  <a:gd name="T5" fmla="*/ 1824 h 1824"/>
                  <a:gd name="T6" fmla="*/ 0 w 384"/>
                  <a:gd name="T7" fmla="*/ 1824 h 1824"/>
                  <a:gd name="T8" fmla="*/ 0 60000 65536"/>
                  <a:gd name="T9" fmla="*/ 0 60000 65536"/>
                  <a:gd name="T10" fmla="*/ 0 60000 65536"/>
                  <a:gd name="T11" fmla="*/ 0 60000 65536"/>
                  <a:gd name="T12" fmla="*/ 0 w 384"/>
                  <a:gd name="T13" fmla="*/ 0 h 1824"/>
                  <a:gd name="T14" fmla="*/ 384 w 384"/>
                  <a:gd name="T15" fmla="*/ 1824 h 1824"/>
                </a:gdLst>
                <a:ahLst/>
                <a:cxnLst>
                  <a:cxn ang="T8">
                    <a:pos x="T0" y="T1"/>
                  </a:cxn>
                  <a:cxn ang="T9">
                    <a:pos x="T2" y="T3"/>
                  </a:cxn>
                  <a:cxn ang="T10">
                    <a:pos x="T4" y="T5"/>
                  </a:cxn>
                  <a:cxn ang="T11">
                    <a:pos x="T6" y="T7"/>
                  </a:cxn>
                </a:cxnLst>
                <a:rect l="T12" t="T13" r="T14" b="T15"/>
                <a:pathLst>
                  <a:path w="384" h="1824">
                    <a:moveTo>
                      <a:pt x="12" y="0"/>
                    </a:moveTo>
                    <a:lnTo>
                      <a:pt x="384" y="0"/>
                    </a:lnTo>
                    <a:lnTo>
                      <a:pt x="384" y="1824"/>
                    </a:lnTo>
                    <a:lnTo>
                      <a:pt x="0" y="18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64" name="Line 14"/>
              <p:cNvSpPr>
                <a:spLocks noChangeShapeType="1"/>
              </p:cNvSpPr>
              <p:nvPr/>
            </p:nvSpPr>
            <p:spPr bwMode="auto">
              <a:xfrm flipV="1">
                <a:off x="3215" y="816"/>
                <a:ext cx="0" cy="91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65" name="Oval 15"/>
              <p:cNvSpPr>
                <a:spLocks noChangeArrowheads="1"/>
              </p:cNvSpPr>
              <p:nvPr/>
            </p:nvSpPr>
            <p:spPr bwMode="auto">
              <a:xfrm>
                <a:off x="3189" y="1680"/>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66" name="Rectangle 16"/>
              <p:cNvSpPr>
                <a:spLocks noChangeArrowheads="1"/>
              </p:cNvSpPr>
              <p:nvPr/>
            </p:nvSpPr>
            <p:spPr bwMode="auto">
              <a:xfrm>
                <a:off x="3168" y="1198"/>
                <a:ext cx="96" cy="290"/>
              </a:xfrm>
              <a:prstGeom prst="rect">
                <a:avLst/>
              </a:prstGeom>
              <a:solidFill>
                <a:srgbClr val="FFFFFF"/>
              </a:solidFill>
              <a:ln w="19050">
                <a:solidFill>
                  <a:srgbClr val="FF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67" name="Oval 17"/>
              <p:cNvSpPr>
                <a:spLocks noChangeArrowheads="1"/>
              </p:cNvSpPr>
              <p:nvPr/>
            </p:nvSpPr>
            <p:spPr bwMode="auto">
              <a:xfrm>
                <a:off x="3191" y="2376"/>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79" name="Text Box 18"/>
            <p:cNvSpPr txBox="1">
              <a:spLocks noChangeArrowheads="1"/>
            </p:cNvSpPr>
            <p:nvPr/>
          </p:nvSpPr>
          <p:spPr bwMode="auto">
            <a:xfrm>
              <a:off x="4065"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0" name="Line 19"/>
            <p:cNvSpPr>
              <a:spLocks noChangeShapeType="1"/>
            </p:cNvSpPr>
            <p:nvPr/>
          </p:nvSpPr>
          <p:spPr bwMode="auto">
            <a:xfrm>
              <a:off x="3982" y="1491"/>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1" name="Line 20"/>
            <p:cNvSpPr>
              <a:spLocks noChangeShapeType="1"/>
            </p:cNvSpPr>
            <p:nvPr/>
          </p:nvSpPr>
          <p:spPr bwMode="auto">
            <a:xfrm flipV="1">
              <a:off x="3982" y="1515"/>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2" name="Line 21"/>
            <p:cNvSpPr>
              <a:spLocks noChangeShapeType="1"/>
            </p:cNvSpPr>
            <p:nvPr/>
          </p:nvSpPr>
          <p:spPr bwMode="auto">
            <a:xfrm>
              <a:off x="3982" y="1611"/>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3" name="Line 22"/>
            <p:cNvSpPr>
              <a:spLocks noChangeShapeType="1"/>
            </p:cNvSpPr>
            <p:nvPr/>
          </p:nvSpPr>
          <p:spPr bwMode="auto">
            <a:xfrm>
              <a:off x="4125" y="1720"/>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4" name="Line 23"/>
            <p:cNvSpPr>
              <a:spLocks noChangeShapeType="1"/>
            </p:cNvSpPr>
            <p:nvPr/>
          </p:nvSpPr>
          <p:spPr bwMode="auto">
            <a:xfrm>
              <a:off x="3646" y="1623"/>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85" name="Group 24"/>
            <p:cNvGrpSpPr/>
            <p:nvPr/>
          </p:nvGrpSpPr>
          <p:grpSpPr bwMode="auto">
            <a:xfrm>
              <a:off x="3165" y="906"/>
              <a:ext cx="504" cy="871"/>
              <a:chOff x="3276" y="1818"/>
              <a:chExt cx="504" cy="871"/>
            </a:xfrm>
          </p:grpSpPr>
          <p:sp>
            <p:nvSpPr>
              <p:cNvPr id="353" name="Line 25"/>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4" name="Line 26"/>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5" name="Line 27"/>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6" name="Line 28"/>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7" name="Line 29"/>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8" name="Line 30"/>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86" name="Line 31"/>
            <p:cNvSpPr>
              <a:spLocks noChangeShapeType="1"/>
            </p:cNvSpPr>
            <p:nvPr/>
          </p:nvSpPr>
          <p:spPr bwMode="auto">
            <a:xfrm rot="-5400000">
              <a:off x="3283" y="1228"/>
              <a:ext cx="1" cy="2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87" name="Group 32"/>
            <p:cNvGrpSpPr/>
            <p:nvPr/>
          </p:nvGrpSpPr>
          <p:grpSpPr bwMode="auto">
            <a:xfrm>
              <a:off x="4024" y="1920"/>
              <a:ext cx="208" cy="288"/>
              <a:chOff x="2304" y="336"/>
              <a:chExt cx="195" cy="240"/>
            </a:xfrm>
          </p:grpSpPr>
          <p:sp>
            <p:nvSpPr>
              <p:cNvPr id="351" name="Line 33"/>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2" name="Line 34"/>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88" name="Line 35"/>
            <p:cNvSpPr>
              <a:spLocks noChangeShapeType="1"/>
            </p:cNvSpPr>
            <p:nvPr/>
          </p:nvSpPr>
          <p:spPr bwMode="auto">
            <a:xfrm>
              <a:off x="3647" y="1878"/>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9" name="Line 36"/>
            <p:cNvSpPr>
              <a:spLocks noChangeShapeType="1"/>
            </p:cNvSpPr>
            <p:nvPr/>
          </p:nvSpPr>
          <p:spPr bwMode="auto">
            <a:xfrm flipV="1">
              <a:off x="3645" y="57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0" name="Line 37"/>
            <p:cNvSpPr>
              <a:spLocks noChangeShapeType="1"/>
            </p:cNvSpPr>
            <p:nvPr/>
          </p:nvSpPr>
          <p:spPr bwMode="auto">
            <a:xfrm>
              <a:off x="4126" y="1515"/>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1" name="Rectangle 38"/>
            <p:cNvSpPr>
              <a:spLocks noChangeArrowheads="1"/>
            </p:cNvSpPr>
            <p:nvPr/>
          </p:nvSpPr>
          <p:spPr bwMode="auto">
            <a:xfrm>
              <a:off x="3599" y="170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2" name="Oval 39"/>
            <p:cNvSpPr>
              <a:spLocks noChangeArrowheads="1"/>
            </p:cNvSpPr>
            <p:nvPr/>
          </p:nvSpPr>
          <p:spPr bwMode="auto">
            <a:xfrm>
              <a:off x="3619" y="55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3" name="Oval 40"/>
            <p:cNvSpPr>
              <a:spLocks noChangeArrowheads="1"/>
            </p:cNvSpPr>
            <p:nvPr/>
          </p:nvSpPr>
          <p:spPr bwMode="auto">
            <a:xfrm>
              <a:off x="3621" y="1601"/>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4" name="Oval 41"/>
            <p:cNvSpPr>
              <a:spLocks noChangeArrowheads="1"/>
            </p:cNvSpPr>
            <p:nvPr/>
          </p:nvSpPr>
          <p:spPr bwMode="auto">
            <a:xfrm>
              <a:off x="4100" y="2082"/>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5" name="Text Box 42"/>
            <p:cNvSpPr txBox="1">
              <a:spLocks noChangeArrowheads="1"/>
            </p:cNvSpPr>
            <p:nvPr/>
          </p:nvSpPr>
          <p:spPr bwMode="auto">
            <a:xfrm>
              <a:off x="4449" y="1104"/>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6" name="Text Box 43"/>
            <p:cNvSpPr txBox="1">
              <a:spLocks noChangeArrowheads="1"/>
            </p:cNvSpPr>
            <p:nvPr/>
          </p:nvSpPr>
          <p:spPr bwMode="auto">
            <a:xfrm>
              <a:off x="3633" y="1184"/>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1" name="Text Box 44"/>
            <p:cNvSpPr txBox="1">
              <a:spLocks noChangeArrowheads="1"/>
            </p:cNvSpPr>
            <p:nvPr/>
          </p:nvSpPr>
          <p:spPr bwMode="auto">
            <a:xfrm>
              <a:off x="4113" y="1488"/>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2" name="Line 45"/>
            <p:cNvSpPr>
              <a:spLocks noChangeShapeType="1"/>
            </p:cNvSpPr>
            <p:nvPr/>
          </p:nvSpPr>
          <p:spPr bwMode="auto">
            <a:xfrm>
              <a:off x="3645" y="2109"/>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03" name="Rectangle 46"/>
            <p:cNvSpPr>
              <a:spLocks noChangeArrowheads="1"/>
            </p:cNvSpPr>
            <p:nvPr/>
          </p:nvSpPr>
          <p:spPr bwMode="auto">
            <a:xfrm>
              <a:off x="3598" y="76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4" name="Oval 47"/>
            <p:cNvSpPr>
              <a:spLocks noChangeArrowheads="1"/>
            </p:cNvSpPr>
            <p:nvPr/>
          </p:nvSpPr>
          <p:spPr bwMode="auto">
            <a:xfrm>
              <a:off x="4583" y="1464"/>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5" name="Text Box 48"/>
            <p:cNvSpPr txBox="1">
              <a:spLocks noChangeArrowheads="1"/>
            </p:cNvSpPr>
            <p:nvPr/>
          </p:nvSpPr>
          <p:spPr bwMode="auto">
            <a:xfrm>
              <a:off x="4065" y="225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6" name="Line 49"/>
            <p:cNvSpPr>
              <a:spLocks noChangeShapeType="1"/>
            </p:cNvSpPr>
            <p:nvPr/>
          </p:nvSpPr>
          <p:spPr bwMode="auto">
            <a:xfrm>
              <a:off x="3982" y="3315"/>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07" name="Line 50"/>
            <p:cNvSpPr>
              <a:spLocks noChangeShapeType="1"/>
            </p:cNvSpPr>
            <p:nvPr/>
          </p:nvSpPr>
          <p:spPr bwMode="auto">
            <a:xfrm flipV="1">
              <a:off x="3982" y="3339"/>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08" name="Line 51"/>
            <p:cNvSpPr>
              <a:spLocks noChangeShapeType="1"/>
            </p:cNvSpPr>
            <p:nvPr/>
          </p:nvSpPr>
          <p:spPr bwMode="auto">
            <a:xfrm>
              <a:off x="3982" y="3435"/>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09" name="Line 52"/>
            <p:cNvSpPr>
              <a:spLocks noChangeShapeType="1"/>
            </p:cNvSpPr>
            <p:nvPr/>
          </p:nvSpPr>
          <p:spPr bwMode="auto">
            <a:xfrm>
              <a:off x="4125" y="3544"/>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0" name="Line 53"/>
            <p:cNvSpPr>
              <a:spLocks noChangeShapeType="1"/>
            </p:cNvSpPr>
            <p:nvPr/>
          </p:nvSpPr>
          <p:spPr bwMode="auto">
            <a:xfrm>
              <a:off x="3646" y="3447"/>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311" name="Group 54"/>
            <p:cNvGrpSpPr/>
            <p:nvPr/>
          </p:nvGrpSpPr>
          <p:grpSpPr bwMode="auto">
            <a:xfrm>
              <a:off x="3165" y="2730"/>
              <a:ext cx="504" cy="871"/>
              <a:chOff x="3276" y="1818"/>
              <a:chExt cx="504" cy="871"/>
            </a:xfrm>
          </p:grpSpPr>
          <p:sp>
            <p:nvSpPr>
              <p:cNvPr id="345" name="Line 55"/>
              <p:cNvSpPr>
                <a:spLocks noChangeShapeType="1"/>
              </p:cNvSpPr>
              <p:nvPr/>
            </p:nvSpPr>
            <p:spPr bwMode="auto">
              <a:xfrm>
                <a:off x="3612" y="21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6" name="Line 56"/>
              <p:cNvSpPr>
                <a:spLocks noChangeShapeType="1"/>
              </p:cNvSpPr>
              <p:nvPr/>
            </p:nvSpPr>
            <p:spPr bwMode="auto">
              <a:xfrm flipV="1">
                <a:off x="3612" y="21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7" name="Line 57"/>
              <p:cNvSpPr>
                <a:spLocks noChangeShapeType="1"/>
              </p:cNvSpPr>
              <p:nvPr/>
            </p:nvSpPr>
            <p:spPr bwMode="auto">
              <a:xfrm>
                <a:off x="3612" y="22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8" name="Line 58"/>
              <p:cNvSpPr>
                <a:spLocks noChangeShapeType="1"/>
              </p:cNvSpPr>
              <p:nvPr/>
            </p:nvSpPr>
            <p:spPr bwMode="auto">
              <a:xfrm>
                <a:off x="3755" y="2353"/>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9" name="Line 59"/>
              <p:cNvSpPr>
                <a:spLocks noChangeShapeType="1"/>
              </p:cNvSpPr>
              <p:nvPr/>
            </p:nvSpPr>
            <p:spPr bwMode="auto">
              <a:xfrm>
                <a:off x="3276" y="22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50" name="Line 60"/>
              <p:cNvSpPr>
                <a:spLocks noChangeShapeType="1"/>
              </p:cNvSpPr>
              <p:nvPr/>
            </p:nvSpPr>
            <p:spPr bwMode="auto">
              <a:xfrm flipV="1">
                <a:off x="3756" y="18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312" name="Group 61"/>
            <p:cNvGrpSpPr/>
            <p:nvPr/>
          </p:nvGrpSpPr>
          <p:grpSpPr bwMode="auto">
            <a:xfrm>
              <a:off x="4024" y="3744"/>
              <a:ext cx="208" cy="288"/>
              <a:chOff x="2304" y="336"/>
              <a:chExt cx="195" cy="240"/>
            </a:xfrm>
          </p:grpSpPr>
          <p:sp>
            <p:nvSpPr>
              <p:cNvPr id="343" name="Line 62"/>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4" name="Line 63"/>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13" name="Line 64"/>
            <p:cNvSpPr>
              <a:spLocks noChangeShapeType="1"/>
            </p:cNvSpPr>
            <p:nvPr/>
          </p:nvSpPr>
          <p:spPr bwMode="auto">
            <a:xfrm>
              <a:off x="3647" y="3702"/>
              <a:ext cx="0" cy="24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4" name="Line 65"/>
            <p:cNvSpPr>
              <a:spLocks noChangeShapeType="1"/>
            </p:cNvSpPr>
            <p:nvPr/>
          </p:nvSpPr>
          <p:spPr bwMode="auto">
            <a:xfrm flipV="1">
              <a:off x="3645" y="2400"/>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5" name="Line 66"/>
            <p:cNvSpPr>
              <a:spLocks noChangeShapeType="1"/>
            </p:cNvSpPr>
            <p:nvPr/>
          </p:nvSpPr>
          <p:spPr bwMode="auto">
            <a:xfrm>
              <a:off x="4126" y="3339"/>
              <a:ext cx="52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6" name="Rectangle 67"/>
            <p:cNvSpPr>
              <a:spLocks noChangeArrowheads="1"/>
            </p:cNvSpPr>
            <p:nvPr/>
          </p:nvSpPr>
          <p:spPr bwMode="auto">
            <a:xfrm>
              <a:off x="3599" y="352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7" name="Oval 68"/>
            <p:cNvSpPr>
              <a:spLocks noChangeArrowheads="1"/>
            </p:cNvSpPr>
            <p:nvPr/>
          </p:nvSpPr>
          <p:spPr bwMode="auto">
            <a:xfrm>
              <a:off x="3619" y="237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8" name="Oval 69"/>
            <p:cNvSpPr>
              <a:spLocks noChangeArrowheads="1"/>
            </p:cNvSpPr>
            <p:nvPr/>
          </p:nvSpPr>
          <p:spPr bwMode="auto">
            <a:xfrm>
              <a:off x="3621" y="342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70"/>
            <p:cNvSpPr>
              <a:spLocks noChangeArrowheads="1"/>
            </p:cNvSpPr>
            <p:nvPr/>
          </p:nvSpPr>
          <p:spPr bwMode="auto">
            <a:xfrm>
              <a:off x="4100" y="3906"/>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0" name="Text Box 71"/>
            <p:cNvSpPr txBox="1">
              <a:spLocks noChangeArrowheads="1"/>
            </p:cNvSpPr>
            <p:nvPr/>
          </p:nvSpPr>
          <p:spPr bwMode="auto">
            <a:xfrm>
              <a:off x="4464" y="2969"/>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1" name="Text Box 72"/>
            <p:cNvSpPr txBox="1">
              <a:spLocks noChangeArrowheads="1"/>
            </p:cNvSpPr>
            <p:nvPr/>
          </p:nvSpPr>
          <p:spPr bwMode="auto">
            <a:xfrm>
              <a:off x="3633" y="3008"/>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2" name="Text Box 73"/>
            <p:cNvSpPr txBox="1">
              <a:spLocks noChangeArrowheads="1"/>
            </p:cNvSpPr>
            <p:nvPr/>
          </p:nvSpPr>
          <p:spPr bwMode="auto">
            <a:xfrm>
              <a:off x="4113" y="3312"/>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3" name="Line 74"/>
            <p:cNvSpPr>
              <a:spLocks noChangeShapeType="1"/>
            </p:cNvSpPr>
            <p:nvPr/>
          </p:nvSpPr>
          <p:spPr bwMode="auto">
            <a:xfrm>
              <a:off x="3645" y="3933"/>
              <a:ext cx="4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24" name="Rectangle 75"/>
            <p:cNvSpPr>
              <a:spLocks noChangeArrowheads="1"/>
            </p:cNvSpPr>
            <p:nvPr/>
          </p:nvSpPr>
          <p:spPr bwMode="auto">
            <a:xfrm>
              <a:off x="3598" y="2590"/>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5" name="Oval 76"/>
            <p:cNvSpPr>
              <a:spLocks noChangeArrowheads="1"/>
            </p:cNvSpPr>
            <p:nvPr/>
          </p:nvSpPr>
          <p:spPr bwMode="auto">
            <a:xfrm>
              <a:off x="4583" y="3288"/>
              <a:ext cx="96" cy="96"/>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6" name="Rectangle 77"/>
            <p:cNvSpPr>
              <a:spLocks noChangeArrowheads="1"/>
            </p:cNvSpPr>
            <p:nvPr/>
          </p:nvSpPr>
          <p:spPr bwMode="auto">
            <a:xfrm>
              <a:off x="3072" y="448"/>
              <a:ext cx="1392" cy="1808"/>
            </a:xfrm>
            <a:prstGeom prst="rect">
              <a:avLst/>
            </a:prstGeom>
            <a:noFill/>
            <a:ln w="9525">
              <a:solidFill>
                <a:srgbClr val="CC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7" name="Rectangle 78"/>
            <p:cNvSpPr>
              <a:spLocks noChangeArrowheads="1"/>
            </p:cNvSpPr>
            <p:nvPr/>
          </p:nvSpPr>
          <p:spPr bwMode="auto">
            <a:xfrm>
              <a:off x="3072" y="2304"/>
              <a:ext cx="1392" cy="1776"/>
            </a:xfrm>
            <a:prstGeom prst="rect">
              <a:avLst/>
            </a:prstGeom>
            <a:noFill/>
            <a:ln w="9525">
              <a:solidFill>
                <a:srgbClr val="3333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8" name="Text Box 79"/>
            <p:cNvSpPr txBox="1">
              <a:spLocks noChangeArrowheads="1"/>
            </p:cNvSpPr>
            <p:nvPr/>
          </p:nvSpPr>
          <p:spPr bwMode="auto">
            <a:xfrm>
              <a:off x="3143" y="1802"/>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rPr>
                <a:t>G1</a:t>
              </a:r>
              <a:endParaRPr kumimoji="1" lang="en-US" altLang="zh-CN" sz="2400" b="1" i="0" u="none" strike="noStrike" kern="0" cap="none" spc="0" normalizeH="0" baseline="0" noProof="0">
                <a:ln>
                  <a:noFill/>
                </a:ln>
                <a:solidFill>
                  <a:srgbClr val="CC0099"/>
                </a:solidFill>
                <a:effectLst/>
                <a:uLnTx/>
                <a:uFillTx/>
                <a:latin typeface="Times New Roman" panose="02020603050405020304" pitchFamily="18" charset="0"/>
                <a:ea typeface="宋体" panose="02010600030101010101" pitchFamily="2" charset="-122"/>
              </a:endParaRPr>
            </a:p>
          </p:txBody>
        </p:sp>
        <p:sp>
          <p:nvSpPr>
            <p:cNvPr id="329" name="Text Box 80"/>
            <p:cNvSpPr txBox="1">
              <a:spLocks noChangeArrowheads="1"/>
            </p:cNvSpPr>
            <p:nvPr/>
          </p:nvSpPr>
          <p:spPr bwMode="auto">
            <a:xfrm>
              <a:off x="3153" y="3648"/>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G2</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330" name="Line 81"/>
            <p:cNvSpPr>
              <a:spLocks noChangeShapeType="1"/>
            </p:cNvSpPr>
            <p:nvPr/>
          </p:nvSpPr>
          <p:spPr bwMode="auto">
            <a:xfrm>
              <a:off x="3504" y="57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1" name="Line 82"/>
            <p:cNvSpPr>
              <a:spLocks noChangeShapeType="1"/>
            </p:cNvSpPr>
            <p:nvPr/>
          </p:nvSpPr>
          <p:spPr bwMode="auto">
            <a:xfrm>
              <a:off x="3504" y="2400"/>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2" name="Text Box 83"/>
            <p:cNvSpPr txBox="1">
              <a:spLocks noChangeArrowheads="1"/>
            </p:cNvSpPr>
            <p:nvPr/>
          </p:nvSpPr>
          <p:spPr bwMode="auto">
            <a:xfrm>
              <a:off x="4596" y="768"/>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nvGrpSpPr>
            <p:cNvPr id="333" name="Group 84"/>
            <p:cNvGrpSpPr/>
            <p:nvPr/>
          </p:nvGrpSpPr>
          <p:grpSpPr bwMode="auto">
            <a:xfrm>
              <a:off x="4224" y="1392"/>
              <a:ext cx="144" cy="192"/>
              <a:chOff x="4224" y="1392"/>
              <a:chExt cx="144" cy="192"/>
            </a:xfrm>
          </p:grpSpPr>
          <p:sp>
            <p:nvSpPr>
              <p:cNvPr id="341" name="Line 85"/>
              <p:cNvSpPr>
                <a:spLocks noChangeShapeType="1"/>
              </p:cNvSpPr>
              <p:nvPr/>
            </p:nvSpPr>
            <p:spPr bwMode="auto">
              <a:xfrm flipH="1">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2" name="Line 86"/>
              <p:cNvSpPr>
                <a:spLocks noChangeShapeType="1"/>
              </p:cNvSpPr>
              <p:nvPr/>
            </p:nvSpPr>
            <p:spPr bwMode="auto">
              <a:xfrm>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334" name="Group 87"/>
            <p:cNvGrpSpPr/>
            <p:nvPr/>
          </p:nvGrpSpPr>
          <p:grpSpPr bwMode="auto">
            <a:xfrm>
              <a:off x="4320" y="3216"/>
              <a:ext cx="144" cy="192"/>
              <a:chOff x="4224" y="1392"/>
              <a:chExt cx="144" cy="192"/>
            </a:xfrm>
          </p:grpSpPr>
          <p:sp>
            <p:nvSpPr>
              <p:cNvPr id="339" name="Line 88"/>
              <p:cNvSpPr>
                <a:spLocks noChangeShapeType="1"/>
              </p:cNvSpPr>
              <p:nvPr/>
            </p:nvSpPr>
            <p:spPr bwMode="auto">
              <a:xfrm flipH="1">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40" name="Line 89"/>
              <p:cNvSpPr>
                <a:spLocks noChangeShapeType="1"/>
              </p:cNvSpPr>
              <p:nvPr/>
            </p:nvSpPr>
            <p:spPr bwMode="auto">
              <a:xfrm>
                <a:off x="4224" y="1392"/>
                <a:ext cx="144" cy="192"/>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35" name="Line 90"/>
            <p:cNvSpPr>
              <a:spLocks noChangeShapeType="1"/>
            </p:cNvSpPr>
            <p:nvPr/>
          </p:nvSpPr>
          <p:spPr bwMode="auto">
            <a:xfrm>
              <a:off x="4944" y="768"/>
              <a:ext cx="0" cy="576"/>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6" name="Line 91"/>
            <p:cNvSpPr>
              <a:spLocks noChangeShapeType="1"/>
            </p:cNvSpPr>
            <p:nvPr/>
          </p:nvSpPr>
          <p:spPr bwMode="auto">
            <a:xfrm>
              <a:off x="4512" y="1680"/>
              <a:ext cx="0" cy="288"/>
            </a:xfrm>
            <a:prstGeom prst="line">
              <a:avLst/>
            </a:prstGeom>
            <a:noFill/>
            <a:ln w="9525">
              <a:solidFill>
                <a:srgbClr val="333399"/>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7" name="Line 92"/>
            <p:cNvSpPr>
              <a:spLocks noChangeShapeType="1"/>
            </p:cNvSpPr>
            <p:nvPr/>
          </p:nvSpPr>
          <p:spPr bwMode="auto">
            <a:xfrm>
              <a:off x="4536" y="3600"/>
              <a:ext cx="0" cy="288"/>
            </a:xfrm>
            <a:prstGeom prst="line">
              <a:avLst/>
            </a:prstGeom>
            <a:noFill/>
            <a:ln w="9525">
              <a:solidFill>
                <a:srgbClr val="333399"/>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38" name="Line 93"/>
            <p:cNvSpPr>
              <a:spLocks noChangeShapeType="1"/>
            </p:cNvSpPr>
            <p:nvPr/>
          </p:nvSpPr>
          <p:spPr bwMode="auto">
            <a:xfrm rot="16200000" flipH="1">
              <a:off x="5244" y="2148"/>
              <a:ext cx="0" cy="288"/>
            </a:xfrm>
            <a:prstGeom prst="line">
              <a:avLst/>
            </a:prstGeom>
            <a:noFill/>
            <a:ln w="9525">
              <a:solidFill>
                <a:srgbClr val="333399"/>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368" name="Text Box 94"/>
          <p:cNvSpPr txBox="1">
            <a:spLocks noChangeArrowheads="1"/>
          </p:cNvSpPr>
          <p:nvPr/>
        </p:nvSpPr>
        <p:spPr bwMode="auto">
          <a:xfrm>
            <a:off x="7360906" y="3152833"/>
            <a:ext cx="62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OH</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369" name="Text Box 95"/>
          <p:cNvSpPr txBox="1">
            <a:spLocks noChangeArrowheads="1"/>
          </p:cNvSpPr>
          <p:nvPr/>
        </p:nvSpPr>
        <p:spPr bwMode="auto">
          <a:xfrm>
            <a:off x="7376781" y="6140508"/>
            <a:ext cx="62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OH</a:t>
            </a:r>
            <a:endParaRPr kumimoji="1" lang="en-US" altLang="zh-CN" sz="24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370" name="Text Box 96"/>
          <p:cNvSpPr txBox="1">
            <a:spLocks noChangeArrowheads="1"/>
          </p:cNvSpPr>
          <p:nvPr/>
        </p:nvSpPr>
        <p:spPr bwMode="auto">
          <a:xfrm>
            <a:off x="293604" y="5546408"/>
            <a:ext cx="4404776" cy="1200329"/>
          </a:xfrm>
          <a:prstGeom prst="rect">
            <a:avLst/>
          </a:prstGeom>
          <a:noFill/>
          <a:ln w="22225">
            <a:solidFill>
              <a:srgbClr val="FF0000"/>
            </a:solidFill>
          </a:ln>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结论：</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输出端并联，实现了与的关系，</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eaLnBrk="1" fontAlgn="base" hangingPunct="1">
              <a:spcBef>
                <a:spcPct val="0"/>
              </a:spcBef>
              <a:spcAft>
                <a:spcPct val="0"/>
              </a:spcAft>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线与</a:t>
            </a:r>
            <a:r>
              <a:rPr kumimoji="1" lang="en-US" altLang="zh-CN" sz="2400" kern="0" dirty="0">
                <a:solidFill>
                  <a:srgbClr val="FF0000"/>
                </a:solidFill>
              </a:rPr>
              <a:t>:   Y=Y</a:t>
            </a:r>
            <a:r>
              <a:rPr kumimoji="1" lang="en-US" altLang="zh-CN" sz="2400" kern="0" baseline="-25000" dirty="0">
                <a:solidFill>
                  <a:srgbClr val="FF0000"/>
                </a:solidFill>
              </a:rPr>
              <a:t>1</a:t>
            </a:r>
            <a:r>
              <a:rPr kumimoji="1" lang="en-US" altLang="zh-CN" sz="2400" kern="0" dirty="0">
                <a:solidFill>
                  <a:srgbClr val="FF0000"/>
                </a:solidFill>
              </a:rPr>
              <a:t>Y</a:t>
            </a:r>
            <a:r>
              <a:rPr kumimoji="1" lang="en-US" altLang="zh-CN" sz="2400" kern="0" baseline="-25000" dirty="0">
                <a:solidFill>
                  <a:srgbClr val="FF0000"/>
                </a:solidFill>
              </a:rPr>
              <a:t>2</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372" name="Text Box 98"/>
          <p:cNvSpPr txBox="1">
            <a:spLocks noChangeArrowheads="1"/>
          </p:cNvSpPr>
          <p:nvPr/>
        </p:nvSpPr>
        <p:spPr bwMode="auto">
          <a:xfrm>
            <a:off x="8115226" y="3279458"/>
            <a:ext cx="706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OH</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3"/>
                                        </p:tgtEl>
                                        <p:attrNameLst>
                                          <p:attrName>style.visibility</p:attrName>
                                        </p:attrNameLst>
                                      </p:cBhvr>
                                      <p:to>
                                        <p:strVal val="visible"/>
                                      </p:to>
                                    </p:set>
                                    <p:animEffect transition="in" filter="wipe(left)">
                                      <p:cBhvr>
                                        <p:cTn id="7" dur="500"/>
                                        <p:tgtEl>
                                          <p:spTgt spid="2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4"/>
                                        </p:tgtEl>
                                        <p:attrNameLst>
                                          <p:attrName>style.visibility</p:attrName>
                                        </p:attrNameLst>
                                      </p:cBhvr>
                                      <p:to>
                                        <p:strVal val="visible"/>
                                      </p:to>
                                    </p:set>
                                    <p:animEffect transition="in" filter="wipe(left)">
                                      <p:cBhvr>
                                        <p:cTn id="12" dur="500"/>
                                        <p:tgtEl>
                                          <p:spTgt spid="2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6"/>
                                        </p:tgtEl>
                                        <p:attrNameLst>
                                          <p:attrName>style.visibility</p:attrName>
                                        </p:attrNameLst>
                                      </p:cBhvr>
                                      <p:to>
                                        <p:strVal val="visible"/>
                                      </p:to>
                                    </p:set>
                                    <p:animEffect transition="in" filter="wipe(left)">
                                      <p:cBhvr>
                                        <p:cTn id="17" dur="500"/>
                                        <p:tgtEl>
                                          <p:spTgt spid="2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0"/>
                                        </p:tgtEl>
                                        <p:attrNameLst>
                                          <p:attrName>style.visibility</p:attrName>
                                        </p:attrNameLst>
                                      </p:cBhvr>
                                      <p:to>
                                        <p:strVal val="visible"/>
                                      </p:to>
                                    </p:set>
                                    <p:animEffect transition="in" filter="wipe(left)">
                                      <p:cBhvr>
                                        <p:cTn id="22" dur="500"/>
                                        <p:tgtEl>
                                          <p:spTgt spid="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 grpId="0" autoUpdateAnimBg="0"/>
      <p:bldP spid="274" grpId="0" autoUpdateAnimBg="0"/>
      <p:bldP spid="37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网chenying0907出品 10"/>
          <p:cNvSpPr txBox="1"/>
          <p:nvPr/>
        </p:nvSpPr>
        <p:spPr>
          <a:xfrm>
            <a:off x="950159" y="3078790"/>
            <a:ext cx="2075207" cy="892552"/>
          </a:xfrm>
          <a:prstGeom prst="rect">
            <a:avLst/>
          </a:prstGeom>
          <a:noFill/>
        </p:spPr>
        <p:txBody>
          <a:bodyPr wrap="square" rtlCol="0">
            <a:spAutoFit/>
          </a:bodyPr>
          <a:lstStyle/>
          <a:p>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主要内容</a:t>
            </a:r>
            <a:r>
              <a:rPr lang="en-US" altLang="zh-CN" sz="1600" b="1" dirty="0">
                <a:solidFill>
                  <a:schemeClr val="accent1">
                    <a:lumMod val="50000"/>
                  </a:schemeClr>
                </a:solidFill>
              </a:rPr>
              <a:t> Main Content</a:t>
            </a:r>
            <a:endParaRPr lang="zh-CN" altLang="en-US" sz="1600" dirty="0">
              <a:solidFill>
                <a:schemeClr val="accent1">
                  <a:lumMod val="50000"/>
                </a:schemeClr>
              </a:solidFill>
            </a:endParaRPr>
          </a:p>
        </p:txBody>
      </p:sp>
      <p:sp>
        <p:nvSpPr>
          <p:cNvPr id="12" name="淘宝网chenying0907出品 11"/>
          <p:cNvSpPr/>
          <p:nvPr/>
        </p:nvSpPr>
        <p:spPr>
          <a:xfrm>
            <a:off x="3025365" y="0"/>
            <a:ext cx="611863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025365" y="39481"/>
            <a:ext cx="2394626" cy="19630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40121" y="4809438"/>
            <a:ext cx="2303880" cy="20485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379107" y="1637584"/>
            <a:ext cx="2681424"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379107" y="2447277"/>
            <a:ext cx="2481391"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TTL</a:t>
            </a:r>
            <a:r>
              <a:rPr lang="zh-CN" altLang="en-US" dirty="0"/>
              <a:t>与非门</a:t>
            </a:r>
            <a:endParaRPr lang="zh-CN" altLang="en-US" dirty="0"/>
          </a:p>
        </p:txBody>
      </p:sp>
      <p:sp>
        <p:nvSpPr>
          <p:cNvPr id="30" name="淘宝网chenying0907出品 29"/>
          <p:cNvSpPr txBox="1"/>
          <p:nvPr/>
        </p:nvSpPr>
        <p:spPr>
          <a:xfrm>
            <a:off x="4379107" y="3256970"/>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集电极开路门</a:t>
            </a:r>
            <a:endParaRPr lang="zh-CN" altLang="en-US" dirty="0"/>
          </a:p>
        </p:txBody>
      </p:sp>
      <p:sp>
        <p:nvSpPr>
          <p:cNvPr id="22" name="淘宝网chenying0907出品 25"/>
          <p:cNvSpPr txBox="1"/>
          <p:nvPr/>
        </p:nvSpPr>
        <p:spPr>
          <a:xfrm>
            <a:off x="4421969" y="4876356"/>
            <a:ext cx="3973093"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CMOS</a:t>
            </a:r>
            <a:r>
              <a:rPr lang="zh-CN" altLang="en-US" dirty="0"/>
              <a:t>反相器</a:t>
            </a:r>
            <a:endParaRPr lang="zh-CN" altLang="en-US" dirty="0"/>
          </a:p>
        </p:txBody>
      </p:sp>
      <p:sp>
        <p:nvSpPr>
          <p:cNvPr id="18" name="淘宝网chenying0907出品 29"/>
          <p:cNvSpPr txBox="1"/>
          <p:nvPr/>
        </p:nvSpPr>
        <p:spPr>
          <a:xfrm>
            <a:off x="4421969" y="4066663"/>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三态门</a:t>
            </a:r>
            <a:endParaRPr lang="zh-CN" altLang="en-US"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2.4.4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三态门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grpSp>
        <p:nvGrpSpPr>
          <p:cNvPr id="176" name="Group 4"/>
          <p:cNvGrpSpPr/>
          <p:nvPr/>
        </p:nvGrpSpPr>
        <p:grpSpPr bwMode="auto">
          <a:xfrm>
            <a:off x="4383951" y="1079346"/>
            <a:ext cx="4724400" cy="3186113"/>
            <a:chOff x="2784" y="0"/>
            <a:chExt cx="2976" cy="2007"/>
          </a:xfrm>
        </p:grpSpPr>
        <p:sp>
          <p:nvSpPr>
            <p:cNvPr id="177" name="Text Box 5"/>
            <p:cNvSpPr txBox="1">
              <a:spLocks noChangeArrowheads="1"/>
            </p:cNvSpPr>
            <p:nvPr/>
          </p:nvSpPr>
          <p:spPr bwMode="auto">
            <a:xfrm>
              <a:off x="5280" y="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CC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8" name="Line 6"/>
            <p:cNvSpPr>
              <a:spLocks noChangeShapeType="1"/>
            </p:cNvSpPr>
            <p:nvPr/>
          </p:nvSpPr>
          <p:spPr bwMode="auto">
            <a:xfrm>
              <a:off x="5015" y="1260"/>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9" name="Line 7"/>
            <p:cNvSpPr>
              <a:spLocks noChangeShapeType="1"/>
            </p:cNvSpPr>
            <p:nvPr/>
          </p:nvSpPr>
          <p:spPr bwMode="auto">
            <a:xfrm flipV="1">
              <a:off x="5015" y="1284"/>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0" name="Line 8"/>
            <p:cNvSpPr>
              <a:spLocks noChangeShapeType="1"/>
            </p:cNvSpPr>
            <p:nvPr/>
          </p:nvSpPr>
          <p:spPr bwMode="auto">
            <a:xfrm>
              <a:off x="5015" y="1380"/>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1" name="Line 9"/>
            <p:cNvSpPr>
              <a:spLocks noChangeShapeType="1"/>
            </p:cNvSpPr>
            <p:nvPr/>
          </p:nvSpPr>
          <p:spPr bwMode="auto">
            <a:xfrm flipH="1">
              <a:off x="5158" y="1488"/>
              <a:ext cx="0" cy="2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2" name="Line 10"/>
            <p:cNvSpPr>
              <a:spLocks noChangeShapeType="1"/>
            </p:cNvSpPr>
            <p:nvPr/>
          </p:nvSpPr>
          <p:spPr bwMode="auto">
            <a:xfrm>
              <a:off x="4679" y="1392"/>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3" name="Line 11"/>
            <p:cNvSpPr>
              <a:spLocks noChangeShapeType="1"/>
            </p:cNvSpPr>
            <p:nvPr/>
          </p:nvSpPr>
          <p:spPr bwMode="auto">
            <a:xfrm>
              <a:off x="4534" y="92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4" name="Line 12"/>
            <p:cNvSpPr>
              <a:spLocks noChangeShapeType="1"/>
            </p:cNvSpPr>
            <p:nvPr/>
          </p:nvSpPr>
          <p:spPr bwMode="auto">
            <a:xfrm flipV="1">
              <a:off x="4534" y="94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5" name="Line 13"/>
            <p:cNvSpPr>
              <a:spLocks noChangeShapeType="1"/>
            </p:cNvSpPr>
            <p:nvPr/>
          </p:nvSpPr>
          <p:spPr bwMode="auto">
            <a:xfrm>
              <a:off x="4534" y="104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6" name="Line 14"/>
            <p:cNvSpPr>
              <a:spLocks noChangeShapeType="1"/>
            </p:cNvSpPr>
            <p:nvPr/>
          </p:nvSpPr>
          <p:spPr bwMode="auto">
            <a:xfrm>
              <a:off x="4686" y="1153"/>
              <a:ext cx="0" cy="76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7" name="Line 15"/>
            <p:cNvSpPr>
              <a:spLocks noChangeShapeType="1"/>
            </p:cNvSpPr>
            <p:nvPr/>
          </p:nvSpPr>
          <p:spPr bwMode="auto">
            <a:xfrm>
              <a:off x="4198" y="1056"/>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8" name="Line 16"/>
            <p:cNvSpPr>
              <a:spLocks noChangeShapeType="1"/>
            </p:cNvSpPr>
            <p:nvPr/>
          </p:nvSpPr>
          <p:spPr bwMode="auto">
            <a:xfrm flipV="1">
              <a:off x="4678" y="618"/>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9" name="Line 17"/>
            <p:cNvSpPr>
              <a:spLocks noChangeShapeType="1"/>
            </p:cNvSpPr>
            <p:nvPr/>
          </p:nvSpPr>
          <p:spPr bwMode="auto">
            <a:xfrm rot="5400000">
              <a:off x="3910" y="697"/>
              <a:ext cx="1" cy="43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0" name="Line 18"/>
            <p:cNvSpPr>
              <a:spLocks noChangeShapeType="1"/>
            </p:cNvSpPr>
            <p:nvPr/>
          </p:nvSpPr>
          <p:spPr bwMode="auto">
            <a:xfrm rot="5400000" flipV="1">
              <a:off x="3982" y="935"/>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1" name="Line 19"/>
            <p:cNvSpPr>
              <a:spLocks noChangeShapeType="1"/>
            </p:cNvSpPr>
            <p:nvPr/>
          </p:nvSpPr>
          <p:spPr bwMode="auto">
            <a:xfrm rot="5400000">
              <a:off x="3863" y="936"/>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2" name="Line 20"/>
            <p:cNvSpPr>
              <a:spLocks noChangeShapeType="1"/>
            </p:cNvSpPr>
            <p:nvPr/>
          </p:nvSpPr>
          <p:spPr bwMode="auto">
            <a:xfrm rot="16200000" flipV="1">
              <a:off x="3455" y="827"/>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3" name="Line 21"/>
            <p:cNvSpPr>
              <a:spLocks noChangeShapeType="1"/>
            </p:cNvSpPr>
            <p:nvPr/>
          </p:nvSpPr>
          <p:spPr bwMode="auto">
            <a:xfrm rot="5400000">
              <a:off x="3826" y="743"/>
              <a:ext cx="33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4" name="Line 22"/>
            <p:cNvSpPr>
              <a:spLocks noChangeShapeType="1"/>
            </p:cNvSpPr>
            <p:nvPr/>
          </p:nvSpPr>
          <p:spPr bwMode="auto">
            <a:xfrm rot="5400000" flipV="1">
              <a:off x="4264" y="887"/>
              <a:ext cx="0" cy="3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95" name="Group 23"/>
            <p:cNvGrpSpPr/>
            <p:nvPr/>
          </p:nvGrpSpPr>
          <p:grpSpPr bwMode="auto">
            <a:xfrm>
              <a:off x="5057" y="1719"/>
              <a:ext cx="208" cy="288"/>
              <a:chOff x="2304" y="336"/>
              <a:chExt cx="195" cy="240"/>
            </a:xfrm>
          </p:grpSpPr>
          <p:sp>
            <p:nvSpPr>
              <p:cNvPr id="242" name="Line 24"/>
              <p:cNvSpPr>
                <a:spLocks noChangeShapeType="1"/>
              </p:cNvSpPr>
              <p:nvPr/>
            </p:nvSpPr>
            <p:spPr bwMode="auto">
              <a:xfrm>
                <a:off x="2304" y="576"/>
                <a:ext cx="19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3" name="Line 25"/>
              <p:cNvSpPr>
                <a:spLocks noChangeShapeType="1"/>
              </p:cNvSpPr>
              <p:nvPr/>
            </p:nvSpPr>
            <p:spPr bwMode="auto">
              <a:xfrm flipV="1">
                <a:off x="2400" y="336"/>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96" name="Freeform 26"/>
            <p:cNvSpPr/>
            <p:nvPr/>
          </p:nvSpPr>
          <p:spPr bwMode="auto">
            <a:xfrm>
              <a:off x="3994" y="192"/>
              <a:ext cx="1382" cy="384"/>
            </a:xfrm>
            <a:custGeom>
              <a:avLst/>
              <a:gdLst>
                <a:gd name="T0" fmla="*/ 0 w 1728"/>
                <a:gd name="T1" fmla="*/ 912 h 912"/>
                <a:gd name="T2" fmla="*/ 0 w 1728"/>
                <a:gd name="T3" fmla="*/ 0 h 912"/>
                <a:gd name="T4" fmla="*/ 1728 w 1728"/>
                <a:gd name="T5" fmla="*/ 0 h 912"/>
                <a:gd name="T6" fmla="*/ 0 60000 65536"/>
                <a:gd name="T7" fmla="*/ 0 60000 65536"/>
                <a:gd name="T8" fmla="*/ 0 60000 65536"/>
                <a:gd name="T9" fmla="*/ 0 w 1728"/>
                <a:gd name="T10" fmla="*/ 0 h 912"/>
                <a:gd name="T11" fmla="*/ 1728 w 1728"/>
                <a:gd name="T12" fmla="*/ 912 h 912"/>
              </a:gdLst>
              <a:ahLst/>
              <a:cxnLst>
                <a:cxn ang="T6">
                  <a:pos x="T0" y="T1"/>
                </a:cxn>
                <a:cxn ang="T7">
                  <a:pos x="T2" y="T3"/>
                </a:cxn>
                <a:cxn ang="T8">
                  <a:pos x="T4" y="T5"/>
                </a:cxn>
              </a:cxnLst>
              <a:rect l="T9" t="T10" r="T11" b="T12"/>
              <a:pathLst>
                <a:path w="1728" h="912">
                  <a:moveTo>
                    <a:pt x="0" y="912"/>
                  </a:moveTo>
                  <a:lnTo>
                    <a:pt x="0" y="0"/>
                  </a:lnTo>
                  <a:lnTo>
                    <a:pt x="1728" y="0"/>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7" name="Line 27"/>
            <p:cNvSpPr>
              <a:spLocks noChangeShapeType="1"/>
            </p:cNvSpPr>
            <p:nvPr/>
          </p:nvSpPr>
          <p:spPr bwMode="auto">
            <a:xfrm flipV="1">
              <a:off x="4678" y="191"/>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8" name="Line 28"/>
            <p:cNvSpPr>
              <a:spLocks noChangeShapeType="1"/>
            </p:cNvSpPr>
            <p:nvPr/>
          </p:nvSpPr>
          <p:spPr bwMode="auto">
            <a:xfrm>
              <a:off x="5153" y="1194"/>
              <a:ext cx="467" cy="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9" name="Text Box 29"/>
            <p:cNvSpPr txBox="1">
              <a:spLocks noChangeArrowheads="1"/>
            </p:cNvSpPr>
            <p:nvPr/>
          </p:nvSpPr>
          <p:spPr bwMode="auto">
            <a:xfrm>
              <a:off x="3610" y="3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0" name="Rectangle 30"/>
            <p:cNvSpPr>
              <a:spLocks noChangeArrowheads="1"/>
            </p:cNvSpPr>
            <p:nvPr/>
          </p:nvSpPr>
          <p:spPr bwMode="auto">
            <a:xfrm>
              <a:off x="3946" y="38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1" name="Text Box 31"/>
            <p:cNvSpPr txBox="1">
              <a:spLocks noChangeArrowheads="1"/>
            </p:cNvSpPr>
            <p:nvPr/>
          </p:nvSpPr>
          <p:spPr bwMode="auto">
            <a:xfrm>
              <a:off x="4282" y="33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2" name="Rectangle 32"/>
            <p:cNvSpPr>
              <a:spLocks noChangeArrowheads="1"/>
            </p:cNvSpPr>
            <p:nvPr/>
          </p:nvSpPr>
          <p:spPr bwMode="auto">
            <a:xfrm>
              <a:off x="4632" y="153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3" name="Oval 33"/>
            <p:cNvSpPr>
              <a:spLocks noChangeArrowheads="1"/>
            </p:cNvSpPr>
            <p:nvPr/>
          </p:nvSpPr>
          <p:spPr bwMode="auto">
            <a:xfrm>
              <a:off x="4652" y="16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4" name="Oval 34"/>
            <p:cNvSpPr>
              <a:spLocks noChangeArrowheads="1"/>
            </p:cNvSpPr>
            <p:nvPr/>
          </p:nvSpPr>
          <p:spPr bwMode="auto">
            <a:xfrm>
              <a:off x="4654" y="1370"/>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5" name="Oval 35"/>
            <p:cNvSpPr>
              <a:spLocks noChangeArrowheads="1"/>
            </p:cNvSpPr>
            <p:nvPr/>
          </p:nvSpPr>
          <p:spPr bwMode="auto">
            <a:xfrm>
              <a:off x="5133" y="1884"/>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6" name="Text Box 36"/>
            <p:cNvSpPr txBox="1">
              <a:spLocks noChangeArrowheads="1"/>
            </p:cNvSpPr>
            <p:nvPr/>
          </p:nvSpPr>
          <p:spPr bwMode="auto">
            <a:xfrm>
              <a:off x="2928" y="858"/>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7" name="Text Box 37"/>
            <p:cNvSpPr txBox="1">
              <a:spLocks noChangeArrowheads="1"/>
            </p:cNvSpPr>
            <p:nvPr/>
          </p:nvSpPr>
          <p:spPr bwMode="auto">
            <a:xfrm>
              <a:off x="5375" y="915"/>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8" name="Text Box 38"/>
            <p:cNvSpPr txBox="1">
              <a:spLocks noChangeArrowheads="1"/>
            </p:cNvSpPr>
            <p:nvPr/>
          </p:nvSpPr>
          <p:spPr bwMode="auto">
            <a:xfrm>
              <a:off x="3869" y="1017"/>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9" name="Text Box 39"/>
            <p:cNvSpPr txBox="1">
              <a:spLocks noChangeArrowheads="1"/>
            </p:cNvSpPr>
            <p:nvPr/>
          </p:nvSpPr>
          <p:spPr bwMode="auto">
            <a:xfrm>
              <a:off x="4666" y="864"/>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0" name="Text Box 40"/>
            <p:cNvSpPr txBox="1">
              <a:spLocks noChangeArrowheads="1"/>
            </p:cNvSpPr>
            <p:nvPr/>
          </p:nvSpPr>
          <p:spPr bwMode="auto">
            <a:xfrm>
              <a:off x="5146" y="1257"/>
              <a:ext cx="3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1" name="Line 41"/>
            <p:cNvSpPr>
              <a:spLocks noChangeShapeType="1"/>
            </p:cNvSpPr>
            <p:nvPr/>
          </p:nvSpPr>
          <p:spPr bwMode="auto">
            <a:xfrm rot="5400000">
              <a:off x="3777" y="937"/>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2" name="Freeform 42"/>
            <p:cNvSpPr/>
            <p:nvPr/>
          </p:nvSpPr>
          <p:spPr bwMode="auto">
            <a:xfrm>
              <a:off x="3180" y="1056"/>
              <a:ext cx="624" cy="240"/>
            </a:xfrm>
            <a:custGeom>
              <a:avLst/>
              <a:gdLst>
                <a:gd name="T0" fmla="*/ 624 w 624"/>
                <a:gd name="T1" fmla="*/ 0 h 96"/>
                <a:gd name="T2" fmla="*/ 624 w 624"/>
                <a:gd name="T3" fmla="*/ 96 h 96"/>
                <a:gd name="T4" fmla="*/ 0 w 624"/>
                <a:gd name="T5" fmla="*/ 96 h 96"/>
                <a:gd name="T6" fmla="*/ 0 60000 65536"/>
                <a:gd name="T7" fmla="*/ 0 60000 65536"/>
                <a:gd name="T8" fmla="*/ 0 60000 65536"/>
                <a:gd name="T9" fmla="*/ 0 w 624"/>
                <a:gd name="T10" fmla="*/ 0 h 96"/>
                <a:gd name="T11" fmla="*/ 624 w 624"/>
                <a:gd name="T12" fmla="*/ 96 h 96"/>
              </a:gdLst>
              <a:ahLst/>
              <a:cxnLst>
                <a:cxn ang="T6">
                  <a:pos x="T0" y="T1"/>
                </a:cxn>
                <a:cxn ang="T7">
                  <a:pos x="T2" y="T3"/>
                </a:cxn>
                <a:cxn ang="T8">
                  <a:pos x="T4" y="T5"/>
                </a:cxn>
              </a:cxnLst>
              <a:rect l="T9" t="T10" r="T11" b="T12"/>
              <a:pathLst>
                <a:path w="624" h="96">
                  <a:moveTo>
                    <a:pt x="624" y="0"/>
                  </a:moveTo>
                  <a:lnTo>
                    <a:pt x="624" y="96"/>
                  </a:lnTo>
                  <a:lnTo>
                    <a:pt x="0" y="96"/>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3" name="Text Box 43"/>
            <p:cNvSpPr txBox="1">
              <a:spLocks noChangeArrowheads="1"/>
            </p:cNvSpPr>
            <p:nvPr/>
          </p:nvSpPr>
          <p:spPr bwMode="auto">
            <a:xfrm>
              <a:off x="2938" y="1152"/>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4" name="Line 44"/>
            <p:cNvSpPr>
              <a:spLocks noChangeShapeType="1"/>
            </p:cNvSpPr>
            <p:nvPr/>
          </p:nvSpPr>
          <p:spPr bwMode="auto">
            <a:xfrm>
              <a:off x="4684" y="1911"/>
              <a:ext cx="45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5" name="Line 45"/>
            <p:cNvSpPr>
              <a:spLocks noChangeShapeType="1"/>
            </p:cNvSpPr>
            <p:nvPr/>
          </p:nvSpPr>
          <p:spPr bwMode="auto">
            <a:xfrm>
              <a:off x="4992" y="634"/>
              <a:ext cx="0" cy="2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6" name="Line 46"/>
            <p:cNvSpPr>
              <a:spLocks noChangeShapeType="1"/>
            </p:cNvSpPr>
            <p:nvPr/>
          </p:nvSpPr>
          <p:spPr bwMode="auto">
            <a:xfrm flipV="1">
              <a:off x="4992" y="658"/>
              <a:ext cx="144" cy="9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7" name="Line 47"/>
            <p:cNvSpPr>
              <a:spLocks noChangeShapeType="1"/>
            </p:cNvSpPr>
            <p:nvPr/>
          </p:nvSpPr>
          <p:spPr bwMode="auto">
            <a:xfrm>
              <a:off x="4992" y="754"/>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8" name="Line 48"/>
            <p:cNvSpPr>
              <a:spLocks noChangeShapeType="1"/>
            </p:cNvSpPr>
            <p:nvPr/>
          </p:nvSpPr>
          <p:spPr bwMode="auto">
            <a:xfrm>
              <a:off x="5153" y="870"/>
              <a:ext cx="0" cy="4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9" name="Line 49"/>
            <p:cNvSpPr>
              <a:spLocks noChangeShapeType="1"/>
            </p:cNvSpPr>
            <p:nvPr/>
          </p:nvSpPr>
          <p:spPr bwMode="auto">
            <a:xfrm flipH="1" flipV="1">
              <a:off x="5133" y="193"/>
              <a:ext cx="0" cy="47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0" name="Rectangle 50"/>
            <p:cNvSpPr>
              <a:spLocks noChangeArrowheads="1"/>
            </p:cNvSpPr>
            <p:nvPr/>
          </p:nvSpPr>
          <p:spPr bwMode="auto">
            <a:xfrm>
              <a:off x="5085" y="28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21" name="Group 51"/>
            <p:cNvGrpSpPr/>
            <p:nvPr/>
          </p:nvGrpSpPr>
          <p:grpSpPr bwMode="auto">
            <a:xfrm rot="5400000" flipH="1">
              <a:off x="5081" y="921"/>
              <a:ext cx="147" cy="192"/>
              <a:chOff x="3069" y="2148"/>
              <a:chExt cx="147" cy="192"/>
            </a:xfrm>
          </p:grpSpPr>
          <p:sp>
            <p:nvSpPr>
              <p:cNvPr id="240" name="Line 52"/>
              <p:cNvSpPr>
                <a:spLocks noChangeShapeType="1"/>
              </p:cNvSpPr>
              <p:nvPr/>
            </p:nvSpPr>
            <p:spPr bwMode="auto">
              <a:xfrm>
                <a:off x="3069" y="2148"/>
                <a:ext cx="0" cy="19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1" name="AutoShape 53"/>
              <p:cNvSpPr>
                <a:spLocks noChangeArrowheads="1"/>
              </p:cNvSpPr>
              <p:nvPr/>
            </p:nvSpPr>
            <p:spPr bwMode="auto">
              <a:xfrm rot="-5400000">
                <a:off x="3058" y="2169"/>
                <a:ext cx="170" cy="147"/>
              </a:xfrm>
              <a:prstGeom prst="triangle">
                <a:avLst>
                  <a:gd name="adj" fmla="val 50000"/>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22" name="Text Box 54"/>
            <p:cNvSpPr txBox="1">
              <a:spLocks noChangeArrowheads="1"/>
            </p:cNvSpPr>
            <p:nvPr/>
          </p:nvSpPr>
          <p:spPr bwMode="auto">
            <a:xfrm>
              <a:off x="5124" y="528"/>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8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4</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3" name="Rectangle 55"/>
            <p:cNvSpPr>
              <a:spLocks noChangeArrowheads="1"/>
            </p:cNvSpPr>
            <p:nvPr/>
          </p:nvSpPr>
          <p:spPr bwMode="auto">
            <a:xfrm>
              <a:off x="4631" y="336"/>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4" name="Oval 56"/>
            <p:cNvSpPr>
              <a:spLocks noChangeArrowheads="1"/>
            </p:cNvSpPr>
            <p:nvPr/>
          </p:nvSpPr>
          <p:spPr bwMode="auto">
            <a:xfrm>
              <a:off x="5109" y="16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5" name="Oval 57"/>
            <p:cNvSpPr>
              <a:spLocks noChangeArrowheads="1"/>
            </p:cNvSpPr>
            <p:nvPr/>
          </p:nvSpPr>
          <p:spPr bwMode="auto">
            <a:xfrm>
              <a:off x="5130" y="1164"/>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6" name="Line 58"/>
            <p:cNvSpPr>
              <a:spLocks noChangeShapeType="1"/>
            </p:cNvSpPr>
            <p:nvPr/>
          </p:nvSpPr>
          <p:spPr bwMode="auto">
            <a:xfrm rot="5400000">
              <a:off x="3671" y="937"/>
              <a:ext cx="168" cy="11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27" name="Group 59"/>
            <p:cNvGrpSpPr/>
            <p:nvPr/>
          </p:nvGrpSpPr>
          <p:grpSpPr bwMode="auto">
            <a:xfrm rot="10800000" flipH="1">
              <a:off x="4150" y="1439"/>
              <a:ext cx="147" cy="192"/>
              <a:chOff x="3069" y="2148"/>
              <a:chExt cx="147" cy="192"/>
            </a:xfrm>
          </p:grpSpPr>
          <p:sp>
            <p:nvSpPr>
              <p:cNvPr id="238" name="Line 60"/>
              <p:cNvSpPr>
                <a:spLocks noChangeShapeType="1"/>
              </p:cNvSpPr>
              <p:nvPr/>
            </p:nvSpPr>
            <p:spPr bwMode="auto">
              <a:xfrm>
                <a:off x="3069" y="2148"/>
                <a:ext cx="0" cy="19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9" name="AutoShape 61"/>
              <p:cNvSpPr>
                <a:spLocks noChangeArrowheads="1"/>
              </p:cNvSpPr>
              <p:nvPr/>
            </p:nvSpPr>
            <p:spPr bwMode="auto">
              <a:xfrm rot="-5400000">
                <a:off x="3058" y="2169"/>
                <a:ext cx="170" cy="147"/>
              </a:xfrm>
              <a:prstGeom prst="triangle">
                <a:avLst>
                  <a:gd name="adj" fmla="val 50000"/>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28" name="Freeform 62"/>
            <p:cNvSpPr/>
            <p:nvPr/>
          </p:nvSpPr>
          <p:spPr bwMode="auto">
            <a:xfrm>
              <a:off x="3204" y="768"/>
              <a:ext cx="1464" cy="768"/>
            </a:xfrm>
            <a:custGeom>
              <a:avLst/>
              <a:gdLst>
                <a:gd name="T0" fmla="*/ 1464 w 1464"/>
                <a:gd name="T1" fmla="*/ 0 h 768"/>
                <a:gd name="T2" fmla="*/ 1212 w 1464"/>
                <a:gd name="T3" fmla="*/ 0 h 768"/>
                <a:gd name="T4" fmla="*/ 1212 w 1464"/>
                <a:gd name="T5" fmla="*/ 768 h 768"/>
                <a:gd name="T6" fmla="*/ 0 w 1464"/>
                <a:gd name="T7" fmla="*/ 768 h 768"/>
                <a:gd name="T8" fmla="*/ 0 60000 65536"/>
                <a:gd name="T9" fmla="*/ 0 60000 65536"/>
                <a:gd name="T10" fmla="*/ 0 60000 65536"/>
                <a:gd name="T11" fmla="*/ 0 60000 65536"/>
                <a:gd name="T12" fmla="*/ 0 w 1464"/>
                <a:gd name="T13" fmla="*/ 0 h 768"/>
                <a:gd name="T14" fmla="*/ 1464 w 1464"/>
                <a:gd name="T15" fmla="*/ 768 h 768"/>
              </a:gdLst>
              <a:ahLst/>
              <a:cxnLst>
                <a:cxn ang="T8">
                  <a:pos x="T0" y="T1"/>
                </a:cxn>
                <a:cxn ang="T9">
                  <a:pos x="T2" y="T3"/>
                </a:cxn>
                <a:cxn ang="T10">
                  <a:pos x="T4" y="T5"/>
                </a:cxn>
                <a:cxn ang="T11">
                  <a:pos x="T6" y="T7"/>
                </a:cxn>
              </a:cxnLst>
              <a:rect l="T12" t="T13" r="T14" b="T15"/>
              <a:pathLst>
                <a:path w="1464" h="768">
                  <a:moveTo>
                    <a:pt x="1464" y="0"/>
                  </a:moveTo>
                  <a:lnTo>
                    <a:pt x="1212" y="0"/>
                  </a:lnTo>
                  <a:lnTo>
                    <a:pt x="1212" y="768"/>
                  </a:lnTo>
                  <a:lnTo>
                    <a:pt x="0" y="768"/>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9" name="Line 63"/>
            <p:cNvSpPr>
              <a:spLocks noChangeShapeType="1"/>
            </p:cNvSpPr>
            <p:nvPr/>
          </p:nvSpPr>
          <p:spPr bwMode="auto">
            <a:xfrm>
              <a:off x="3888" y="1044"/>
              <a:ext cx="0" cy="4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1" name="Text Box 64"/>
            <p:cNvSpPr txBox="1">
              <a:spLocks noChangeArrowheads="1"/>
            </p:cNvSpPr>
            <p:nvPr/>
          </p:nvSpPr>
          <p:spPr bwMode="auto">
            <a:xfrm>
              <a:off x="2784" y="1392"/>
              <a:ext cx="4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EN</a:t>
              </a:r>
              <a:endPar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33" name="Text Box 65"/>
            <p:cNvSpPr txBox="1">
              <a:spLocks noChangeArrowheads="1"/>
            </p:cNvSpPr>
            <p:nvPr/>
          </p:nvSpPr>
          <p:spPr bwMode="auto">
            <a:xfrm>
              <a:off x="4080" y="1584"/>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D</a:t>
              </a:r>
              <a:endParaRPr kumimoji="1" lang="en-US" altLang="zh-CN" sz="28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34" name="Oval 66"/>
            <p:cNvSpPr>
              <a:spLocks noChangeArrowheads="1"/>
            </p:cNvSpPr>
            <p:nvPr/>
          </p:nvSpPr>
          <p:spPr bwMode="auto">
            <a:xfrm>
              <a:off x="3858" y="1506"/>
              <a:ext cx="48" cy="48"/>
            </a:xfrm>
            <a:prstGeom prst="ellipse">
              <a:avLst/>
            </a:prstGeom>
            <a:solidFill>
              <a:srgbClr val="FF0000"/>
            </a:solidFill>
            <a:ln w="9525">
              <a:solidFill>
                <a:srgbClr val="FF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5" name="Text Box 67"/>
            <p:cNvSpPr txBox="1">
              <a:spLocks noChangeArrowheads="1"/>
            </p:cNvSpPr>
            <p:nvPr/>
          </p:nvSpPr>
          <p:spPr bwMode="auto">
            <a:xfrm>
              <a:off x="4125" y="86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6" name="Line 68"/>
            <p:cNvSpPr>
              <a:spLocks noChangeShapeType="1"/>
            </p:cNvSpPr>
            <p:nvPr/>
          </p:nvSpPr>
          <p:spPr bwMode="auto">
            <a:xfrm>
              <a:off x="4704" y="768"/>
              <a:ext cx="28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7" name="Oval 69"/>
            <p:cNvSpPr>
              <a:spLocks noChangeArrowheads="1"/>
            </p:cNvSpPr>
            <p:nvPr/>
          </p:nvSpPr>
          <p:spPr bwMode="auto">
            <a:xfrm>
              <a:off x="4656" y="744"/>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44" name="Text Box 70"/>
          <p:cNvSpPr txBox="1">
            <a:spLocks noChangeArrowheads="1"/>
          </p:cNvSpPr>
          <p:nvPr/>
        </p:nvSpPr>
        <p:spPr bwMode="auto">
          <a:xfrm>
            <a:off x="319450" y="1553830"/>
            <a:ext cx="4019884" cy="1200329"/>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在普通门电路中增加使能端</a:t>
            </a:r>
            <a:r>
              <a:rPr kumimoji="1" lang="en-US" altLang="zh-CN" sz="2400" b="1" i="1" u="none" strike="noStrike" kern="0" cap="none" spc="0" normalizeH="0" baseline="0" noProof="0" dirty="0">
                <a:ln>
                  <a:noFill/>
                </a:ln>
                <a:effectLst/>
                <a:uLnTx/>
                <a:uFillTx/>
                <a:latin typeface="黑体" panose="02010609060101010101" pitchFamily="49" charset="-122"/>
                <a:ea typeface="黑体" panose="02010609060101010101" pitchFamily="49" charset="-122"/>
              </a:rPr>
              <a:t>EN </a:t>
            </a:r>
            <a:r>
              <a:rPr kumimoji="1" lang="zh-CN" altLang="en-US" sz="2400" b="1" u="none" strike="noStrike" kern="0" cap="none" spc="0" normalizeH="0" baseline="0" noProof="0" dirty="0">
                <a:ln>
                  <a:noFill/>
                </a:ln>
                <a:effectLst/>
                <a:uLnTx/>
                <a:uFillTx/>
                <a:latin typeface="黑体" panose="02010609060101010101" pitchFamily="49" charset="-122"/>
                <a:ea typeface="黑体" panose="02010609060101010101" pitchFamily="49" charset="-122"/>
              </a:rPr>
              <a:t>和控制电路，输出可以有高电平、低电平和高阻态。</a:t>
            </a:r>
            <a:endParaRPr kumimoji="1" lang="en-US" altLang="zh-CN" sz="2400" b="1" i="0" u="none" strike="noStrike" kern="0" cap="none" spc="0" normalizeH="0" baseline="0" noProof="0" dirty="0">
              <a:ln>
                <a:noFill/>
              </a:ln>
              <a:effectLst/>
              <a:uLnTx/>
              <a:uFillTx/>
              <a:latin typeface="黑体" panose="02010609060101010101" pitchFamily="49" charset="-122"/>
              <a:ea typeface="黑体" panose="02010609060101010101" pitchFamily="49" charset="-122"/>
            </a:endParaRPr>
          </a:p>
        </p:txBody>
      </p:sp>
      <p:sp>
        <p:nvSpPr>
          <p:cNvPr id="245" name="Rectangle 71"/>
          <p:cNvSpPr>
            <a:spLocks noChangeArrowheads="1"/>
          </p:cNvSpPr>
          <p:nvPr/>
        </p:nvSpPr>
        <p:spPr bwMode="auto">
          <a:xfrm>
            <a:off x="208826" y="4703300"/>
            <a:ext cx="8458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EN </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导通，</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C2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为低电平，</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截止。同时，</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B2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为低电平，</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截止，输出端呈</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高阻态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Text Box 72"/>
          <p:cNvSpPr txBox="1">
            <a:spLocks noChangeArrowheads="1"/>
          </p:cNvSpPr>
          <p:nvPr/>
        </p:nvSpPr>
        <p:spPr bwMode="auto">
          <a:xfrm>
            <a:off x="332651" y="5938597"/>
            <a:ext cx="823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输出端有三种状态：</a:t>
            </a:r>
            <a:r>
              <a:rPr kumimoji="1" lang="zh-CN" altLang="en-US" sz="24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rPr>
              <a:t>高电平，低电平，高阻态，</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故称</a:t>
            </a:r>
            <a:r>
              <a:rPr kumimoji="1" lang="zh-CN" altLang="en-US" sz="2400" b="1" i="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rPr>
              <a:t>三态门</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grpSp>
        <p:nvGrpSpPr>
          <p:cNvPr id="247" name="Group 73"/>
          <p:cNvGrpSpPr/>
          <p:nvPr/>
        </p:nvGrpSpPr>
        <p:grpSpPr bwMode="auto">
          <a:xfrm>
            <a:off x="233432" y="3195556"/>
            <a:ext cx="3881438" cy="1200151"/>
            <a:chOff x="134" y="1008"/>
            <a:chExt cx="2445" cy="756"/>
          </a:xfrm>
        </p:grpSpPr>
        <p:sp>
          <p:nvSpPr>
            <p:cNvPr id="248" name="Rectangle 74"/>
            <p:cNvSpPr>
              <a:spLocks noChangeArrowheads="1"/>
            </p:cNvSpPr>
            <p:nvPr/>
          </p:nvSpPr>
          <p:spPr bwMode="auto">
            <a:xfrm>
              <a:off x="134" y="1008"/>
              <a:ext cx="2445"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en-US" altLang="zh-CN" sz="2400" b="1" i="1"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EN </a:t>
              </a:r>
              <a:r>
                <a:rPr kumimoji="1"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截止，电路与原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TTL</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电路无区别，输出决定于输入</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Y=AB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9" name="Line 75"/>
            <p:cNvSpPr>
              <a:spLocks noChangeShapeType="1"/>
            </p:cNvSpPr>
            <p:nvPr/>
          </p:nvSpPr>
          <p:spPr bwMode="auto">
            <a:xfrm flipV="1">
              <a:off x="2027" y="1529"/>
              <a:ext cx="235" cy="9"/>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algn="just"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50" name="Text Box 17"/>
          <p:cNvSpPr txBox="1">
            <a:spLocks noChangeArrowheads="1"/>
          </p:cNvSpPr>
          <p:nvPr/>
        </p:nvSpPr>
        <p:spPr bwMode="auto">
          <a:xfrm>
            <a:off x="-12370" y="692429"/>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kern="0" dirty="0">
                <a:solidFill>
                  <a:srgbClr val="FF0000"/>
                </a:solidFill>
                <a:latin typeface="黑体" panose="02010609060101010101" pitchFamily="49" charset="-122"/>
                <a:ea typeface="黑体" panose="02010609060101010101" pitchFamily="49" charset="-122"/>
              </a:rPr>
              <a:t>三态门的基本结构和工作原理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0" animBg="1" autoUpdateAnimBg="0"/>
      <p:bldP spid="245" grpId="0" autoUpdateAnimBg="0"/>
      <p:bldP spid="24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2.4.4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三态门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50" name="Text Box 17"/>
          <p:cNvSpPr txBox="1">
            <a:spLocks noChangeArrowheads="1"/>
          </p:cNvSpPr>
          <p:nvPr/>
        </p:nvSpPr>
        <p:spPr bwMode="auto">
          <a:xfrm>
            <a:off x="-12370" y="692429"/>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kern="0" dirty="0">
                <a:solidFill>
                  <a:srgbClr val="FF0000"/>
                </a:solidFill>
                <a:latin typeface="黑体" panose="02010609060101010101" pitchFamily="49" charset="-122"/>
                <a:ea typeface="黑体" panose="02010609060101010101" pitchFamily="49" charset="-122"/>
              </a:rPr>
              <a:t>三态门的基本结构和工作原理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06" name="Rectangle 31"/>
          <p:cNvSpPr>
            <a:spLocks noChangeArrowheads="1"/>
          </p:cNvSpPr>
          <p:nvPr/>
        </p:nvSpPr>
        <p:spPr bwMode="auto">
          <a:xfrm>
            <a:off x="1319213" y="2755396"/>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功能表：</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graphicFrame>
        <p:nvGraphicFramePr>
          <p:cNvPr id="107" name="Group 32"/>
          <p:cNvGraphicFramePr>
            <a:graphicFrameLocks noGrp="1"/>
          </p:cNvGraphicFramePr>
          <p:nvPr/>
        </p:nvGraphicFramePr>
        <p:xfrm>
          <a:off x="3203575" y="2768039"/>
          <a:ext cx="2663825" cy="1152525"/>
        </p:xfrm>
        <a:graphic>
          <a:graphicData uri="http://schemas.openxmlformats.org/drawingml/2006/table">
            <a:tbl>
              <a:tblPr/>
              <a:tblGrid>
                <a:gridCol w="1331913"/>
                <a:gridCol w="1331912"/>
              </a:tblGrid>
              <a:tr h="520700">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EN=1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正常工作</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25">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EN=0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输出高阻</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8" name="Rectangle 43"/>
          <p:cNvSpPr>
            <a:spLocks noChangeArrowheads="1"/>
          </p:cNvSpPr>
          <p:nvPr/>
        </p:nvSpPr>
        <p:spPr bwMode="auto">
          <a:xfrm>
            <a:off x="1319213" y="5535051"/>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功能表：</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graphicFrame>
        <p:nvGraphicFramePr>
          <p:cNvPr id="109" name="Group 73"/>
          <p:cNvGraphicFramePr>
            <a:graphicFrameLocks noGrp="1"/>
          </p:cNvGraphicFramePr>
          <p:nvPr/>
        </p:nvGraphicFramePr>
        <p:xfrm>
          <a:off x="3132138" y="5576326"/>
          <a:ext cx="2652712" cy="1152525"/>
        </p:xfrm>
        <a:graphic>
          <a:graphicData uri="http://schemas.openxmlformats.org/drawingml/2006/table">
            <a:tbl>
              <a:tblPr/>
              <a:tblGrid>
                <a:gridCol w="1320800"/>
                <a:gridCol w="1331912"/>
              </a:tblGrid>
              <a:tr h="520700">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EN=0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正常工作</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25">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EN=1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输出高阻</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110" name="Group 71"/>
          <p:cNvGrpSpPr/>
          <p:nvPr/>
        </p:nvGrpSpPr>
        <p:grpSpPr bwMode="auto">
          <a:xfrm>
            <a:off x="71438" y="1328176"/>
            <a:ext cx="9072562" cy="1116013"/>
            <a:chOff x="45" y="300"/>
            <a:chExt cx="5715" cy="703"/>
          </a:xfrm>
        </p:grpSpPr>
        <p:sp>
          <p:nvSpPr>
            <p:cNvPr id="111" name="Line 5"/>
            <p:cNvSpPr>
              <a:spLocks noChangeShapeType="1"/>
            </p:cNvSpPr>
            <p:nvPr/>
          </p:nvSpPr>
          <p:spPr bwMode="auto">
            <a:xfrm>
              <a:off x="284" y="454"/>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2" name="Line 6"/>
            <p:cNvSpPr>
              <a:spLocks noChangeShapeType="1"/>
            </p:cNvSpPr>
            <p:nvPr/>
          </p:nvSpPr>
          <p:spPr bwMode="auto">
            <a:xfrm>
              <a:off x="284" y="598"/>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3" name="Line 7"/>
            <p:cNvSpPr>
              <a:spLocks noChangeShapeType="1"/>
            </p:cNvSpPr>
            <p:nvPr/>
          </p:nvSpPr>
          <p:spPr bwMode="auto">
            <a:xfrm>
              <a:off x="826" y="548"/>
              <a:ext cx="24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4" name="Text Box 8"/>
            <p:cNvSpPr txBox="1">
              <a:spLocks noChangeArrowheads="1"/>
            </p:cNvSpPr>
            <p:nvPr/>
          </p:nvSpPr>
          <p:spPr bwMode="auto">
            <a:xfrm>
              <a:off x="45" y="300"/>
              <a:ext cx="22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5" name="Text Box 9"/>
            <p:cNvSpPr txBox="1">
              <a:spLocks noChangeArrowheads="1"/>
            </p:cNvSpPr>
            <p:nvPr/>
          </p:nvSpPr>
          <p:spPr bwMode="auto">
            <a:xfrm>
              <a:off x="1023" y="41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6" name="Text Box 12"/>
            <p:cNvSpPr txBox="1">
              <a:spLocks noChangeArrowheads="1"/>
            </p:cNvSpPr>
            <p:nvPr/>
          </p:nvSpPr>
          <p:spPr bwMode="auto">
            <a:xfrm>
              <a:off x="281" y="753"/>
              <a:ext cx="3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7" name="Line 13"/>
            <p:cNvSpPr>
              <a:spLocks noChangeShapeType="1"/>
            </p:cNvSpPr>
            <p:nvPr/>
          </p:nvSpPr>
          <p:spPr bwMode="auto">
            <a:xfrm rot="5400000">
              <a:off x="499" y="806"/>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18" name="Oval 14"/>
            <p:cNvSpPr>
              <a:spLocks noChangeArrowheads="1"/>
            </p:cNvSpPr>
            <p:nvPr/>
          </p:nvSpPr>
          <p:spPr bwMode="auto">
            <a:xfrm>
              <a:off x="775" y="526"/>
              <a:ext cx="50"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9" name="Text Box 15"/>
            <p:cNvSpPr txBox="1">
              <a:spLocks noChangeArrowheads="1"/>
            </p:cNvSpPr>
            <p:nvPr/>
          </p:nvSpPr>
          <p:spPr bwMode="auto">
            <a:xfrm>
              <a:off x="1275" y="428"/>
              <a:ext cx="44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ea typeface="黑体" panose="02010609060101010101" pitchFamily="49" charset="-122"/>
                  <a:cs typeface="Times New Roman" panose="02020603050405020304" pitchFamily="18" charset="0"/>
                </a:rPr>
                <a:t>EN</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1</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时，处于工作状态，称为控制端</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高电平有效</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20" name="AutoShape 55"/>
            <p:cNvSpPr>
              <a:spLocks noChangeArrowheads="1"/>
            </p:cNvSpPr>
            <p:nvPr/>
          </p:nvSpPr>
          <p:spPr bwMode="auto">
            <a:xfrm>
              <a:off x="485" y="386"/>
              <a:ext cx="294" cy="321"/>
            </a:xfrm>
            <a:prstGeom prst="flowChartDelay">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21" name="Group 72"/>
          <p:cNvGrpSpPr/>
          <p:nvPr/>
        </p:nvGrpSpPr>
        <p:grpSpPr bwMode="auto">
          <a:xfrm>
            <a:off x="114115" y="4415166"/>
            <a:ext cx="8880476" cy="1116012"/>
            <a:chOff x="22" y="2047"/>
            <a:chExt cx="5594" cy="703"/>
          </a:xfrm>
        </p:grpSpPr>
        <p:sp>
          <p:nvSpPr>
            <p:cNvPr id="122" name="Text Box 30"/>
            <p:cNvSpPr txBox="1">
              <a:spLocks noChangeArrowheads="1"/>
            </p:cNvSpPr>
            <p:nvPr/>
          </p:nvSpPr>
          <p:spPr bwMode="auto">
            <a:xfrm>
              <a:off x="1234" y="2153"/>
              <a:ext cx="43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ea typeface="黑体" panose="02010609060101010101" pitchFamily="49" charset="-122"/>
                  <a:cs typeface="Times New Roman" panose="02020603050405020304" pitchFamily="18" charset="0"/>
                </a:rPr>
                <a:t>EN</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为</a:t>
              </a:r>
              <a:r>
                <a:rPr kumimoji="1"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0</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时，处于工作状态，称为控制端</a:t>
              </a: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低电平有效</a:t>
              </a:r>
              <a:endPar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grpSp>
          <p:nvGrpSpPr>
            <p:cNvPr id="123" name="Group 70"/>
            <p:cNvGrpSpPr/>
            <p:nvPr/>
          </p:nvGrpSpPr>
          <p:grpSpPr bwMode="auto">
            <a:xfrm>
              <a:off x="22" y="2047"/>
              <a:ext cx="1211" cy="703"/>
              <a:chOff x="4277" y="2909"/>
              <a:chExt cx="1211" cy="703"/>
            </a:xfrm>
          </p:grpSpPr>
          <p:sp>
            <p:nvSpPr>
              <p:cNvPr id="124" name="Line 59"/>
              <p:cNvSpPr>
                <a:spLocks noChangeShapeType="1"/>
              </p:cNvSpPr>
              <p:nvPr/>
            </p:nvSpPr>
            <p:spPr bwMode="auto">
              <a:xfrm>
                <a:off x="4516" y="3063"/>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5" name="Line 60"/>
              <p:cNvSpPr>
                <a:spLocks noChangeShapeType="1"/>
              </p:cNvSpPr>
              <p:nvPr/>
            </p:nvSpPr>
            <p:spPr bwMode="auto">
              <a:xfrm>
                <a:off x="4516" y="3207"/>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6" name="Line 61"/>
              <p:cNvSpPr>
                <a:spLocks noChangeShapeType="1"/>
              </p:cNvSpPr>
              <p:nvPr/>
            </p:nvSpPr>
            <p:spPr bwMode="auto">
              <a:xfrm>
                <a:off x="5058" y="3157"/>
                <a:ext cx="24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27" name="Text Box 62"/>
              <p:cNvSpPr txBox="1">
                <a:spLocks noChangeArrowheads="1"/>
              </p:cNvSpPr>
              <p:nvPr/>
            </p:nvSpPr>
            <p:spPr bwMode="auto">
              <a:xfrm>
                <a:off x="4277" y="2909"/>
                <a:ext cx="22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8" name="Text Box 63"/>
              <p:cNvSpPr txBox="1">
                <a:spLocks noChangeArrowheads="1"/>
              </p:cNvSpPr>
              <p:nvPr/>
            </p:nvSpPr>
            <p:spPr bwMode="auto">
              <a:xfrm>
                <a:off x="5255" y="3021"/>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9" name="Text Box 64"/>
              <p:cNvSpPr txBox="1">
                <a:spLocks noChangeArrowheads="1"/>
              </p:cNvSpPr>
              <p:nvPr/>
            </p:nvSpPr>
            <p:spPr bwMode="auto">
              <a:xfrm>
                <a:off x="4513" y="3362"/>
                <a:ext cx="3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0" name="Line 65"/>
              <p:cNvSpPr>
                <a:spLocks noChangeShapeType="1"/>
              </p:cNvSpPr>
              <p:nvPr/>
            </p:nvSpPr>
            <p:spPr bwMode="auto">
              <a:xfrm rot="5400000">
                <a:off x="4731" y="3415"/>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1" name="Oval 66"/>
              <p:cNvSpPr>
                <a:spLocks noChangeArrowheads="1"/>
              </p:cNvSpPr>
              <p:nvPr/>
            </p:nvSpPr>
            <p:spPr bwMode="auto">
              <a:xfrm>
                <a:off x="5007" y="3135"/>
                <a:ext cx="50"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2" name="AutoShape 67"/>
              <p:cNvSpPr>
                <a:spLocks noChangeArrowheads="1"/>
              </p:cNvSpPr>
              <p:nvPr/>
            </p:nvSpPr>
            <p:spPr bwMode="auto">
              <a:xfrm>
                <a:off x="4717" y="2995"/>
                <a:ext cx="294" cy="321"/>
              </a:xfrm>
              <a:prstGeom prst="flowChartDelay">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3" name="Oval 69"/>
              <p:cNvSpPr>
                <a:spLocks noChangeArrowheads="1"/>
              </p:cNvSpPr>
              <p:nvPr/>
            </p:nvSpPr>
            <p:spPr bwMode="auto">
              <a:xfrm>
                <a:off x="4808" y="3317"/>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wipe(down)">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21"/>
                                        </p:tgtEl>
                                        <p:attrNameLst>
                                          <p:attrName>style.visibility</p:attrName>
                                        </p:attrNameLst>
                                      </p:cBhvr>
                                      <p:to>
                                        <p:strVal val="visible"/>
                                      </p:to>
                                    </p:set>
                                    <p:animEffect transition="in" filter="wipe(left)">
                                      <p:cBhvr>
                                        <p:cTn id="18" dur="500"/>
                                        <p:tgtEl>
                                          <p:spTgt spid="12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2.4.4 </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三态门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50" name="Text Box 17"/>
          <p:cNvSpPr txBox="1">
            <a:spLocks noChangeArrowheads="1"/>
          </p:cNvSpPr>
          <p:nvPr/>
        </p:nvSpPr>
        <p:spPr bwMode="auto">
          <a:xfrm>
            <a:off x="-12370" y="692429"/>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kern="0" dirty="0">
                <a:solidFill>
                  <a:srgbClr val="FF0000"/>
                </a:solidFill>
                <a:latin typeface="黑体" panose="02010609060101010101" pitchFamily="49" charset="-122"/>
                <a:ea typeface="黑体" panose="02010609060101010101" pitchFamily="49" charset="-122"/>
              </a:rPr>
              <a:t>三态门的应用</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79" name="Text Box 43"/>
          <p:cNvSpPr txBox="1">
            <a:spLocks noChangeArrowheads="1"/>
          </p:cNvSpPr>
          <p:nvPr/>
        </p:nvSpPr>
        <p:spPr bwMode="auto">
          <a:xfrm>
            <a:off x="308550" y="1436110"/>
            <a:ext cx="48034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Char char="•"/>
              <a:defRPr/>
            </a:pPr>
            <a:r>
              <a:rPr kumimoji="1"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总线结构：</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将输出端并联，将各输出信号</a:t>
            </a: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分时</a:t>
            </a:r>
            <a:r>
              <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送到公共总线上。</a:t>
            </a:r>
            <a:endParaRPr kumimoji="1"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80" name="Text Box 44"/>
          <p:cNvSpPr txBox="1">
            <a:spLocks noChangeArrowheads="1"/>
          </p:cNvSpPr>
          <p:nvPr/>
        </p:nvSpPr>
        <p:spPr bwMode="auto">
          <a:xfrm>
            <a:off x="1156923" y="2688419"/>
            <a:ext cx="4106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数据到总线；</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Text Box 45"/>
          <p:cNvSpPr txBox="1">
            <a:spLocks noChangeArrowheads="1"/>
          </p:cNvSpPr>
          <p:nvPr/>
        </p:nvSpPr>
        <p:spPr bwMode="auto">
          <a:xfrm>
            <a:off x="1047216" y="3505981"/>
            <a:ext cx="4035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数据到总线；</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2" name="Text Box 46"/>
          <p:cNvSpPr txBox="1">
            <a:spLocks noChangeArrowheads="1"/>
          </p:cNvSpPr>
          <p:nvPr/>
        </p:nvSpPr>
        <p:spPr bwMode="auto">
          <a:xfrm>
            <a:off x="941742" y="4356882"/>
            <a:ext cx="411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400" b="1" i="0" u="none" strike="noStrike" kern="0" cap="none" spc="0" normalizeH="0" baseline="-25000" noProof="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数据到总线；</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83" name="Group 92"/>
          <p:cNvGrpSpPr/>
          <p:nvPr/>
        </p:nvGrpSpPr>
        <p:grpSpPr bwMode="auto">
          <a:xfrm>
            <a:off x="6591370" y="1350972"/>
            <a:ext cx="2136775" cy="4070350"/>
            <a:chOff x="4127" y="436"/>
            <a:chExt cx="1346" cy="2564"/>
          </a:xfrm>
        </p:grpSpPr>
        <p:sp>
          <p:nvSpPr>
            <p:cNvPr id="84" name="Line 4"/>
            <p:cNvSpPr>
              <a:spLocks noChangeShapeType="1"/>
            </p:cNvSpPr>
            <p:nvPr/>
          </p:nvSpPr>
          <p:spPr bwMode="auto">
            <a:xfrm>
              <a:off x="5165" y="465"/>
              <a:ext cx="0" cy="244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5" name="Line 9"/>
            <p:cNvSpPr>
              <a:spLocks noChangeShapeType="1"/>
            </p:cNvSpPr>
            <p:nvPr/>
          </p:nvSpPr>
          <p:spPr bwMode="auto">
            <a:xfrm>
              <a:off x="4925" y="822"/>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6" name="Text Box 16"/>
            <p:cNvSpPr txBox="1">
              <a:spLocks noChangeArrowheads="1"/>
            </p:cNvSpPr>
            <p:nvPr/>
          </p:nvSpPr>
          <p:spPr bwMode="auto">
            <a:xfrm>
              <a:off x="4911" y="436"/>
              <a:ext cx="2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0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7" name="Line 21"/>
            <p:cNvSpPr>
              <a:spLocks noChangeShapeType="1"/>
            </p:cNvSpPr>
            <p:nvPr/>
          </p:nvSpPr>
          <p:spPr bwMode="auto">
            <a:xfrm>
              <a:off x="4929" y="1667"/>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8" name="Text Box 28"/>
            <p:cNvSpPr txBox="1">
              <a:spLocks noChangeArrowheads="1"/>
            </p:cNvSpPr>
            <p:nvPr/>
          </p:nvSpPr>
          <p:spPr bwMode="auto">
            <a:xfrm>
              <a:off x="4915" y="1281"/>
              <a:ext cx="2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0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9" name="Line 33"/>
            <p:cNvSpPr>
              <a:spLocks noChangeShapeType="1"/>
            </p:cNvSpPr>
            <p:nvPr/>
          </p:nvSpPr>
          <p:spPr bwMode="auto">
            <a:xfrm>
              <a:off x="4929" y="2579"/>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0" name="Text Box 40"/>
            <p:cNvSpPr txBox="1">
              <a:spLocks noChangeArrowheads="1"/>
            </p:cNvSpPr>
            <p:nvPr/>
          </p:nvSpPr>
          <p:spPr bwMode="auto">
            <a:xfrm>
              <a:off x="4912" y="2193"/>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0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1" name="Text Box 41"/>
            <p:cNvSpPr txBox="1">
              <a:spLocks noChangeArrowheads="1"/>
            </p:cNvSpPr>
            <p:nvPr/>
          </p:nvSpPr>
          <p:spPr bwMode="auto">
            <a:xfrm>
              <a:off x="4675" y="2039"/>
              <a:ext cx="34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vert="eaVert"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2" name="Text Box 42"/>
            <p:cNvSpPr txBox="1">
              <a:spLocks noChangeArrowheads="1"/>
            </p:cNvSpPr>
            <p:nvPr/>
          </p:nvSpPr>
          <p:spPr bwMode="auto">
            <a:xfrm>
              <a:off x="5165" y="961"/>
              <a:ext cx="308" cy="1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vert="eaVert"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总                         线</a:t>
              </a:r>
              <a:endPar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93" name="Group 65"/>
            <p:cNvGrpSpPr/>
            <p:nvPr/>
          </p:nvGrpSpPr>
          <p:grpSpPr bwMode="auto">
            <a:xfrm>
              <a:off x="4127" y="572"/>
              <a:ext cx="832" cy="681"/>
              <a:chOff x="157" y="3362"/>
              <a:chExt cx="832" cy="681"/>
            </a:xfrm>
          </p:grpSpPr>
          <p:sp>
            <p:nvSpPr>
              <p:cNvPr id="140" name="Line 66"/>
              <p:cNvSpPr>
                <a:spLocks noChangeShapeType="1"/>
              </p:cNvSpPr>
              <p:nvPr/>
            </p:nvSpPr>
            <p:spPr bwMode="auto">
              <a:xfrm>
                <a:off x="448" y="3516"/>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1" name="Line 67"/>
              <p:cNvSpPr>
                <a:spLocks noChangeShapeType="1"/>
              </p:cNvSpPr>
              <p:nvPr/>
            </p:nvSpPr>
            <p:spPr bwMode="auto">
              <a:xfrm>
                <a:off x="448" y="3660"/>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2" name="Text Box 68"/>
              <p:cNvSpPr txBox="1">
                <a:spLocks noChangeArrowheads="1"/>
              </p:cNvSpPr>
              <p:nvPr/>
            </p:nvSpPr>
            <p:spPr bwMode="auto">
              <a:xfrm>
                <a:off x="157" y="3362"/>
                <a:ext cx="27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3" name="Text Box 69"/>
              <p:cNvSpPr txBox="1">
                <a:spLocks noChangeArrowheads="1"/>
              </p:cNvSpPr>
              <p:nvPr/>
            </p:nvSpPr>
            <p:spPr bwMode="auto">
              <a:xfrm>
                <a:off x="402" y="3793"/>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4" name="Line 70"/>
              <p:cNvSpPr>
                <a:spLocks noChangeShapeType="1"/>
              </p:cNvSpPr>
              <p:nvPr/>
            </p:nvSpPr>
            <p:spPr bwMode="auto">
              <a:xfrm rot="5400000">
                <a:off x="663" y="3868"/>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45" name="Oval 71"/>
              <p:cNvSpPr>
                <a:spLocks noChangeArrowheads="1"/>
              </p:cNvSpPr>
              <p:nvPr/>
            </p:nvSpPr>
            <p:spPr bwMode="auto">
              <a:xfrm>
                <a:off x="939" y="3588"/>
                <a:ext cx="50"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6" name="AutoShape 72"/>
              <p:cNvSpPr>
                <a:spLocks noChangeArrowheads="1"/>
              </p:cNvSpPr>
              <p:nvPr/>
            </p:nvSpPr>
            <p:spPr bwMode="auto">
              <a:xfrm>
                <a:off x="649" y="3448"/>
                <a:ext cx="294" cy="321"/>
              </a:xfrm>
              <a:prstGeom prst="flowChartDelay">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7" name="Oval 73"/>
              <p:cNvSpPr>
                <a:spLocks noChangeArrowheads="1"/>
              </p:cNvSpPr>
              <p:nvPr/>
            </p:nvSpPr>
            <p:spPr bwMode="auto">
              <a:xfrm>
                <a:off x="740" y="3770"/>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94" name="Group 74"/>
            <p:cNvGrpSpPr/>
            <p:nvPr/>
          </p:nvGrpSpPr>
          <p:grpSpPr bwMode="auto">
            <a:xfrm>
              <a:off x="4150" y="1434"/>
              <a:ext cx="832" cy="681"/>
              <a:chOff x="157" y="3362"/>
              <a:chExt cx="832" cy="681"/>
            </a:xfrm>
          </p:grpSpPr>
          <p:sp>
            <p:nvSpPr>
              <p:cNvPr id="104" name="Line 75"/>
              <p:cNvSpPr>
                <a:spLocks noChangeShapeType="1"/>
              </p:cNvSpPr>
              <p:nvPr/>
            </p:nvSpPr>
            <p:spPr bwMode="auto">
              <a:xfrm>
                <a:off x="448" y="3516"/>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5" name="Line 76"/>
              <p:cNvSpPr>
                <a:spLocks noChangeShapeType="1"/>
              </p:cNvSpPr>
              <p:nvPr/>
            </p:nvSpPr>
            <p:spPr bwMode="auto">
              <a:xfrm>
                <a:off x="448" y="3660"/>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4" name="Text Box 77"/>
              <p:cNvSpPr txBox="1">
                <a:spLocks noChangeArrowheads="1"/>
              </p:cNvSpPr>
              <p:nvPr/>
            </p:nvSpPr>
            <p:spPr bwMode="auto">
              <a:xfrm>
                <a:off x="157" y="3362"/>
                <a:ext cx="27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5" name="Text Box 78"/>
              <p:cNvSpPr txBox="1">
                <a:spLocks noChangeArrowheads="1"/>
              </p:cNvSpPr>
              <p:nvPr/>
            </p:nvSpPr>
            <p:spPr bwMode="auto">
              <a:xfrm>
                <a:off x="402" y="3793"/>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6" name="Line 79"/>
              <p:cNvSpPr>
                <a:spLocks noChangeShapeType="1"/>
              </p:cNvSpPr>
              <p:nvPr/>
            </p:nvSpPr>
            <p:spPr bwMode="auto">
              <a:xfrm rot="5400000">
                <a:off x="663" y="3868"/>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37" name="Oval 80"/>
              <p:cNvSpPr>
                <a:spLocks noChangeArrowheads="1"/>
              </p:cNvSpPr>
              <p:nvPr/>
            </p:nvSpPr>
            <p:spPr bwMode="auto">
              <a:xfrm>
                <a:off x="939" y="3588"/>
                <a:ext cx="50"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8" name="AutoShape 81"/>
              <p:cNvSpPr>
                <a:spLocks noChangeArrowheads="1"/>
              </p:cNvSpPr>
              <p:nvPr/>
            </p:nvSpPr>
            <p:spPr bwMode="auto">
              <a:xfrm>
                <a:off x="649" y="3448"/>
                <a:ext cx="294" cy="321"/>
              </a:xfrm>
              <a:prstGeom prst="flowChartDelay">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9" name="Oval 82"/>
              <p:cNvSpPr>
                <a:spLocks noChangeArrowheads="1"/>
              </p:cNvSpPr>
              <p:nvPr/>
            </p:nvSpPr>
            <p:spPr bwMode="auto">
              <a:xfrm>
                <a:off x="740" y="3770"/>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95" name="Group 83"/>
            <p:cNvGrpSpPr/>
            <p:nvPr/>
          </p:nvGrpSpPr>
          <p:grpSpPr bwMode="auto">
            <a:xfrm>
              <a:off x="4128" y="2319"/>
              <a:ext cx="809" cy="681"/>
              <a:chOff x="180" y="3362"/>
              <a:chExt cx="809" cy="681"/>
            </a:xfrm>
          </p:grpSpPr>
          <p:sp>
            <p:nvSpPr>
              <p:cNvPr id="96" name="Line 84"/>
              <p:cNvSpPr>
                <a:spLocks noChangeShapeType="1"/>
              </p:cNvSpPr>
              <p:nvPr/>
            </p:nvSpPr>
            <p:spPr bwMode="auto">
              <a:xfrm>
                <a:off x="448" y="3516"/>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7" name="Line 85"/>
              <p:cNvSpPr>
                <a:spLocks noChangeShapeType="1"/>
              </p:cNvSpPr>
              <p:nvPr/>
            </p:nvSpPr>
            <p:spPr bwMode="auto">
              <a:xfrm>
                <a:off x="448" y="3660"/>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8" name="Text Box 86"/>
              <p:cNvSpPr txBox="1">
                <a:spLocks noChangeArrowheads="1"/>
              </p:cNvSpPr>
              <p:nvPr/>
            </p:nvSpPr>
            <p:spPr bwMode="auto">
              <a:xfrm>
                <a:off x="180" y="3362"/>
                <a:ext cx="25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Text Box 87"/>
              <p:cNvSpPr txBox="1">
                <a:spLocks noChangeArrowheads="1"/>
              </p:cNvSpPr>
              <p:nvPr/>
            </p:nvSpPr>
            <p:spPr bwMode="auto">
              <a:xfrm>
                <a:off x="413" y="3793"/>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EN</a:t>
                </a:r>
                <a:r>
                  <a:rPr kumimoji="1" lang="en-US" altLang="zh-CN" sz="20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0" name="Line 88"/>
              <p:cNvSpPr>
                <a:spLocks noChangeShapeType="1"/>
              </p:cNvSpPr>
              <p:nvPr/>
            </p:nvSpPr>
            <p:spPr bwMode="auto">
              <a:xfrm rot="5400000">
                <a:off x="663" y="3868"/>
                <a:ext cx="19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1" name="Oval 89"/>
              <p:cNvSpPr>
                <a:spLocks noChangeArrowheads="1"/>
              </p:cNvSpPr>
              <p:nvPr/>
            </p:nvSpPr>
            <p:spPr bwMode="auto">
              <a:xfrm>
                <a:off x="939" y="3588"/>
                <a:ext cx="50"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AutoShape 90"/>
              <p:cNvSpPr>
                <a:spLocks noChangeArrowheads="1"/>
              </p:cNvSpPr>
              <p:nvPr/>
            </p:nvSpPr>
            <p:spPr bwMode="auto">
              <a:xfrm>
                <a:off x="649" y="3448"/>
                <a:ext cx="294" cy="321"/>
              </a:xfrm>
              <a:prstGeom prst="flowChartDelay">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3" name="Oval 91"/>
              <p:cNvSpPr>
                <a:spLocks noChangeArrowheads="1"/>
              </p:cNvSpPr>
              <p:nvPr/>
            </p:nvSpPr>
            <p:spPr bwMode="auto">
              <a:xfrm>
                <a:off x="740" y="3770"/>
                <a:ext cx="48" cy="48"/>
              </a:xfrm>
              <a:prstGeom prst="ellipse">
                <a:avLst/>
              </a:prstGeom>
              <a:solidFill>
                <a:srgbClr val="FFFFFF"/>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148" name="Text Box 93"/>
          <p:cNvSpPr txBox="1">
            <a:spLocks noChangeArrowheads="1"/>
          </p:cNvSpPr>
          <p:nvPr/>
        </p:nvSpPr>
        <p:spPr bwMode="auto">
          <a:xfrm>
            <a:off x="1253899" y="5478018"/>
            <a:ext cx="4897004" cy="956288"/>
          </a:xfrm>
          <a:prstGeom prst="rect">
            <a:avLst/>
          </a:prstGeom>
          <a:noFill/>
          <a:ln w="19050">
            <a:solidFill>
              <a:srgbClr val="FF0000"/>
            </a:solidFill>
            <a:miter lim="800000"/>
            <a:tailEnd type="none" w="sm" len="lg"/>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just" eaLnBrk="1" fontAlgn="base" hangingPunct="1">
              <a:spcBef>
                <a:spcPct val="50000"/>
              </a:spcBef>
              <a:spcAft>
                <a:spcPct val="0"/>
              </a:spcAft>
            </a:pPr>
            <a:r>
              <a:rPr kumimoji="1" lang="en-US" altLang="zh-CN" sz="2800" i="1">
                <a:solidFill>
                  <a:srgbClr val="3333FF"/>
                </a:solidFill>
                <a:ea typeface="长城楷体" pitchFamily="49" charset="-122"/>
              </a:rPr>
              <a:t>E</a:t>
            </a:r>
            <a:r>
              <a:rPr kumimoji="1" lang="en-US" altLang="zh-CN" sz="2800" i="1" baseline="-25000">
                <a:solidFill>
                  <a:srgbClr val="3333FF"/>
                </a:solidFill>
                <a:ea typeface="长城楷体" pitchFamily="49" charset="-122"/>
              </a:rPr>
              <a:t>N1</a:t>
            </a:r>
            <a:r>
              <a:rPr kumimoji="1" lang="zh-CN" altLang="en-US" sz="2800">
                <a:solidFill>
                  <a:srgbClr val="3333FF"/>
                </a:solidFill>
                <a:ea typeface="长城楷体" pitchFamily="49" charset="-122"/>
              </a:rPr>
              <a:t>、</a:t>
            </a:r>
            <a:r>
              <a:rPr kumimoji="1" lang="en-US" altLang="zh-CN" sz="2800" i="1">
                <a:solidFill>
                  <a:srgbClr val="3333FF"/>
                </a:solidFill>
                <a:ea typeface="长城楷体" pitchFamily="49" charset="-122"/>
              </a:rPr>
              <a:t>E</a:t>
            </a:r>
            <a:r>
              <a:rPr kumimoji="1" lang="en-US" altLang="zh-CN" sz="2800" i="1" baseline="-25000">
                <a:solidFill>
                  <a:srgbClr val="3333FF"/>
                </a:solidFill>
                <a:ea typeface="长城楷体" pitchFamily="49" charset="-122"/>
              </a:rPr>
              <a:t>N2</a:t>
            </a:r>
            <a:r>
              <a:rPr kumimoji="1" lang="zh-CN" altLang="en-US" sz="2800">
                <a:solidFill>
                  <a:srgbClr val="3333FF"/>
                </a:solidFill>
                <a:ea typeface="长城楷体" pitchFamily="49" charset="-122"/>
              </a:rPr>
              <a:t>、</a:t>
            </a:r>
            <a:r>
              <a:rPr kumimoji="1" lang="en-US" altLang="zh-CN" sz="2800" i="1">
                <a:solidFill>
                  <a:srgbClr val="3333FF"/>
                </a:solidFill>
                <a:ea typeface="长城楷体" pitchFamily="49" charset="-122"/>
              </a:rPr>
              <a:t>E</a:t>
            </a:r>
            <a:r>
              <a:rPr kumimoji="1" lang="en-US" altLang="zh-CN" sz="2800" i="1" baseline="-25000">
                <a:solidFill>
                  <a:srgbClr val="3333FF"/>
                </a:solidFill>
                <a:ea typeface="长城楷体" pitchFamily="49" charset="-122"/>
              </a:rPr>
              <a:t>Ni</a:t>
            </a:r>
            <a:r>
              <a:rPr kumimoji="1" lang="zh-CN" altLang="zh-CN" sz="2800">
                <a:solidFill>
                  <a:srgbClr val="3333FF"/>
                </a:solidFill>
                <a:ea typeface="长城楷体" pitchFamily="49" charset="-122"/>
              </a:rPr>
              <a:t>轮流接入</a:t>
            </a:r>
            <a:r>
              <a:rPr kumimoji="1" lang="zh-CN" altLang="en-US" sz="2800">
                <a:solidFill>
                  <a:srgbClr val="3333FF"/>
                </a:solidFill>
                <a:ea typeface="长城楷体" pitchFamily="49" charset="-122"/>
              </a:rPr>
              <a:t>低</a:t>
            </a:r>
            <a:r>
              <a:rPr kumimoji="1" lang="zh-CN" altLang="zh-CN" sz="2800">
                <a:solidFill>
                  <a:srgbClr val="3333FF"/>
                </a:solidFill>
                <a:ea typeface="长城楷体" pitchFamily="49" charset="-122"/>
              </a:rPr>
              <a:t>电平，将不同数据分时送至总线。</a:t>
            </a:r>
            <a:endParaRPr kumimoji="1" lang="zh-CN" altLang="en-US" sz="2800">
              <a:solidFill>
                <a:srgbClr val="3333FF"/>
              </a:solidFill>
              <a:ea typeface="长城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dissolve">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wipe(left)">
                                      <p:cBhvr>
                                        <p:cTn id="17" dur="500"/>
                                        <p:tgtEl>
                                          <p:spTgt spid="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
                                        </p:tgtEl>
                                        <p:attrNameLst>
                                          <p:attrName>style.visibility</p:attrName>
                                        </p:attrNameLst>
                                      </p:cBhvr>
                                      <p:to>
                                        <p:strVal val="visible"/>
                                      </p:to>
                                    </p:set>
                                    <p:animEffect transition="in" filter="wipe(left)">
                                      <p:cBhvr>
                                        <p:cTn id="22" dur="500"/>
                                        <p:tgtEl>
                                          <p:spTgt spid="8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wipe(left)">
                                      <p:cBhvr>
                                        <p:cTn id="27" dur="500"/>
                                        <p:tgtEl>
                                          <p:spTgt spid="8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8"/>
                                        </p:tgtEl>
                                        <p:attrNameLst>
                                          <p:attrName>style.visibility</p:attrName>
                                        </p:attrNameLst>
                                      </p:cBhvr>
                                      <p:to>
                                        <p:strVal val="visible"/>
                                      </p:to>
                                    </p:set>
                                    <p:animEffect transition="in" filter="dissolve">
                                      <p:cBhvr>
                                        <p:cTn id="32"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utoUpdateAnimBg="0"/>
      <p:bldP spid="80" grpId="0" autoUpdateAnimBg="0"/>
      <p:bldP spid="81" grpId="0" autoUpdateAnimBg="0"/>
      <p:bldP spid="82" grpId="0" autoUpdateAnimBg="0"/>
      <p:bldP spid="148"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网chenying0907出品 10"/>
          <p:cNvSpPr txBox="1"/>
          <p:nvPr/>
        </p:nvSpPr>
        <p:spPr>
          <a:xfrm>
            <a:off x="950159" y="3078790"/>
            <a:ext cx="2075207" cy="892552"/>
          </a:xfrm>
          <a:prstGeom prst="rect">
            <a:avLst/>
          </a:prstGeom>
          <a:noFill/>
        </p:spPr>
        <p:txBody>
          <a:bodyPr wrap="square" rtlCol="0">
            <a:spAutoFit/>
          </a:bodyPr>
          <a:lstStyle/>
          <a:p>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主要内容</a:t>
            </a:r>
            <a:r>
              <a:rPr lang="en-US" altLang="zh-CN" sz="1600" b="1" dirty="0">
                <a:solidFill>
                  <a:schemeClr val="accent1">
                    <a:lumMod val="50000"/>
                  </a:schemeClr>
                </a:solidFill>
              </a:rPr>
              <a:t> Main Content</a:t>
            </a:r>
            <a:endParaRPr lang="zh-CN" altLang="en-US" sz="1600" dirty="0">
              <a:solidFill>
                <a:schemeClr val="accent1">
                  <a:lumMod val="50000"/>
                </a:schemeClr>
              </a:solidFill>
            </a:endParaRPr>
          </a:p>
        </p:txBody>
      </p:sp>
      <p:sp>
        <p:nvSpPr>
          <p:cNvPr id="12" name="淘宝网chenying0907出品 11"/>
          <p:cNvSpPr/>
          <p:nvPr/>
        </p:nvSpPr>
        <p:spPr>
          <a:xfrm>
            <a:off x="3025365" y="0"/>
            <a:ext cx="611863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025365" y="39481"/>
            <a:ext cx="2394626" cy="19630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40121" y="4809438"/>
            <a:ext cx="2303880" cy="20485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379107" y="1637584"/>
            <a:ext cx="2681424"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379107" y="2447277"/>
            <a:ext cx="2481391"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TTL</a:t>
            </a:r>
            <a:r>
              <a:rPr lang="zh-CN" altLang="en-US" dirty="0"/>
              <a:t>与非门</a:t>
            </a:r>
            <a:endParaRPr lang="zh-CN" altLang="en-US" dirty="0"/>
          </a:p>
        </p:txBody>
      </p:sp>
      <p:sp>
        <p:nvSpPr>
          <p:cNvPr id="30" name="淘宝网chenying0907出品 29"/>
          <p:cNvSpPr txBox="1"/>
          <p:nvPr/>
        </p:nvSpPr>
        <p:spPr>
          <a:xfrm>
            <a:off x="4379107" y="3256970"/>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集电极开路门</a:t>
            </a:r>
            <a:endParaRPr lang="zh-CN" altLang="en-US" dirty="0"/>
          </a:p>
        </p:txBody>
      </p:sp>
      <p:sp>
        <p:nvSpPr>
          <p:cNvPr id="22" name="淘宝网chenying0907出品 25"/>
          <p:cNvSpPr txBox="1"/>
          <p:nvPr/>
        </p:nvSpPr>
        <p:spPr>
          <a:xfrm>
            <a:off x="4421969" y="4876356"/>
            <a:ext cx="3973093"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solidFill>
                  <a:schemeClr val="bg1"/>
                </a:solidFill>
              </a:rPr>
              <a:t>CMOS</a:t>
            </a:r>
            <a:r>
              <a:rPr lang="zh-CN" altLang="en-US" dirty="0">
                <a:solidFill>
                  <a:schemeClr val="bg1"/>
                </a:solidFill>
              </a:rPr>
              <a:t>反相器</a:t>
            </a:r>
            <a:endParaRPr lang="zh-CN" altLang="en-US" dirty="0">
              <a:solidFill>
                <a:schemeClr val="bg1"/>
              </a:solidFill>
            </a:endParaRPr>
          </a:p>
        </p:txBody>
      </p:sp>
      <p:sp>
        <p:nvSpPr>
          <p:cNvPr id="18" name="淘宝网chenying0907出品 29"/>
          <p:cNvSpPr txBox="1"/>
          <p:nvPr/>
        </p:nvSpPr>
        <p:spPr>
          <a:xfrm>
            <a:off x="4421969" y="4066663"/>
            <a:ext cx="2992285" cy="523220"/>
          </a:xfrm>
          <a:prstGeom prst="rect">
            <a:avLst/>
          </a:prstGeom>
          <a:noFill/>
        </p:spPr>
        <p:txBody>
          <a:bodyPr wrap="square" rtlCol="0">
            <a:spAutoFit/>
          </a:bodyPr>
          <a:lstStyle>
            <a:defPPr>
              <a:defRPr lang="zh-CN"/>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三态门</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2.4.5 CMOS</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反相器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50" name="Text Box 17"/>
          <p:cNvSpPr txBox="1">
            <a:spLocks noChangeArrowheads="1"/>
          </p:cNvSpPr>
          <p:nvPr/>
        </p:nvSpPr>
        <p:spPr bwMode="auto">
          <a:xfrm>
            <a:off x="-12370" y="692429"/>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kern="0" dirty="0">
                <a:solidFill>
                  <a:srgbClr val="FF0000"/>
                </a:solidFill>
                <a:latin typeface="黑体" panose="02010609060101010101" pitchFamily="49" charset="-122"/>
                <a:ea typeface="黑体" panose="02010609060101010101" pitchFamily="49" charset="-122"/>
              </a:rPr>
              <a:t>电路结构与工作原理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64" name="Text Box 5"/>
          <p:cNvSpPr txBox="1">
            <a:spLocks noChangeArrowheads="1"/>
          </p:cNvSpPr>
          <p:nvPr/>
        </p:nvSpPr>
        <p:spPr bwMode="auto">
          <a:xfrm>
            <a:off x="58476" y="2313815"/>
            <a:ext cx="562666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设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的开启电压为</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GS(</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th</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的开启电压为</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GS(</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th</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，且</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DD</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 </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GS(</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th</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GS(</a:t>
            </a:r>
            <a:r>
              <a:rPr kumimoji="1" lang="en-US" altLang="zh-CN" sz="2400" b="1" i="1"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th</a:t>
            </a:r>
            <a:r>
              <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165" name="Object 6"/>
          <p:cNvGraphicFramePr>
            <a:graphicFrameLocks noChangeAspect="1"/>
          </p:cNvGraphicFramePr>
          <p:nvPr/>
        </p:nvGraphicFramePr>
        <p:xfrm>
          <a:off x="228600" y="4506913"/>
          <a:ext cx="2887663" cy="601662"/>
        </p:xfrm>
        <a:graphic>
          <a:graphicData uri="http://schemas.openxmlformats.org/presentationml/2006/ole">
            <mc:AlternateContent xmlns:mc="http://schemas.openxmlformats.org/markup-compatibility/2006">
              <mc:Choice xmlns:v="urn:schemas-microsoft-com:vml" Requires="v">
                <p:oleObj spid="_x0000_s2" name="公式" r:id="rId2" imgW="1371600" imgH="292100" progId="Equation.3">
                  <p:embed/>
                </p:oleObj>
              </mc:Choice>
              <mc:Fallback>
                <p:oleObj name="公式" r:id="rId2" imgW="1371600" imgH="2921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506913"/>
                        <a:ext cx="2887663"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 name="Object 7"/>
          <p:cNvGraphicFramePr>
            <a:graphicFrameLocks noChangeAspect="1"/>
          </p:cNvGraphicFramePr>
          <p:nvPr/>
        </p:nvGraphicFramePr>
        <p:xfrm>
          <a:off x="228600" y="5219700"/>
          <a:ext cx="2646363" cy="495300"/>
        </p:xfrm>
        <a:graphic>
          <a:graphicData uri="http://schemas.openxmlformats.org/presentationml/2006/ole">
            <mc:AlternateContent xmlns:mc="http://schemas.openxmlformats.org/markup-compatibility/2006">
              <mc:Choice xmlns:v="urn:schemas-microsoft-com:vml" Requires="v">
                <p:oleObj spid="_x0000_s3" name="公式" r:id="rId4" imgW="1257300" imgH="241300" progId="Equation.3">
                  <p:embed/>
                </p:oleObj>
              </mc:Choice>
              <mc:Fallback>
                <p:oleObj name="公式" r:id="rId4" imgW="1257300" imgH="2413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5219700"/>
                        <a:ext cx="264636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 name="AutoShape 8"/>
          <p:cNvSpPr>
            <a:spLocks noChangeArrowheads="1"/>
          </p:cNvSpPr>
          <p:nvPr/>
        </p:nvSpPr>
        <p:spPr bwMode="auto">
          <a:xfrm>
            <a:off x="3200400" y="4732338"/>
            <a:ext cx="698500" cy="152400"/>
          </a:xfrm>
          <a:prstGeom prst="rightArrow">
            <a:avLst>
              <a:gd name="adj1" fmla="val 50000"/>
              <a:gd name="adj2" fmla="val 114583"/>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8" name="AutoShape 9"/>
          <p:cNvSpPr>
            <a:spLocks noChangeArrowheads="1"/>
          </p:cNvSpPr>
          <p:nvPr/>
        </p:nvSpPr>
        <p:spPr bwMode="auto">
          <a:xfrm>
            <a:off x="3200400" y="5389563"/>
            <a:ext cx="698500" cy="152400"/>
          </a:xfrm>
          <a:prstGeom prst="rightArrow">
            <a:avLst>
              <a:gd name="adj1" fmla="val 50000"/>
              <a:gd name="adj2" fmla="val 114583"/>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9" name="Text Box 10"/>
          <p:cNvSpPr txBox="1">
            <a:spLocks noChangeArrowheads="1"/>
          </p:cNvSpPr>
          <p:nvPr/>
        </p:nvSpPr>
        <p:spPr bwMode="auto">
          <a:xfrm>
            <a:off x="4038600" y="4579938"/>
            <a:ext cx="109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导通</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0" name="Text Box 11"/>
          <p:cNvSpPr txBox="1">
            <a:spLocks noChangeArrowheads="1"/>
          </p:cNvSpPr>
          <p:nvPr/>
        </p:nvSpPr>
        <p:spPr bwMode="auto">
          <a:xfrm>
            <a:off x="4038600" y="5237163"/>
            <a:ext cx="109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截止</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1" name="AutoShape 12"/>
          <p:cNvSpPr/>
          <p:nvPr/>
        </p:nvSpPr>
        <p:spPr bwMode="auto">
          <a:xfrm>
            <a:off x="5257800" y="4735513"/>
            <a:ext cx="233363" cy="838200"/>
          </a:xfrm>
          <a:prstGeom prst="rightBrace">
            <a:avLst>
              <a:gd name="adj1" fmla="val 29932"/>
              <a:gd name="adj2" fmla="val 50000"/>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2" name="Text Box 13"/>
          <p:cNvSpPr txBox="1">
            <a:spLocks noChangeArrowheads="1"/>
          </p:cNvSpPr>
          <p:nvPr/>
        </p:nvSpPr>
        <p:spPr bwMode="auto">
          <a:xfrm>
            <a:off x="5531594" y="4885681"/>
            <a:ext cx="2111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OH</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4" name="Text Box 15"/>
          <p:cNvSpPr txBox="1">
            <a:spLocks noChangeArrowheads="1"/>
          </p:cNvSpPr>
          <p:nvPr/>
        </p:nvSpPr>
        <p:spPr bwMode="auto">
          <a:xfrm>
            <a:off x="71581" y="1421496"/>
            <a:ext cx="410686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3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PMOS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管，</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a:ln>
                  <a:noFill/>
                </a:ln>
                <a:solidFill>
                  <a:srgbClr val="333399"/>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NMOS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管</a:t>
            </a:r>
            <a:endParaRPr kumimoji="1" lang="zh-CN" altLang="en-US"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75" name="Group 16"/>
          <p:cNvGrpSpPr/>
          <p:nvPr/>
        </p:nvGrpSpPr>
        <p:grpSpPr bwMode="auto">
          <a:xfrm>
            <a:off x="6096000" y="519113"/>
            <a:ext cx="2562225" cy="3489325"/>
            <a:chOff x="4272" y="183"/>
            <a:chExt cx="1584" cy="2198"/>
          </a:xfrm>
        </p:grpSpPr>
        <p:grpSp>
          <p:nvGrpSpPr>
            <p:cNvPr id="176" name="Group 17"/>
            <p:cNvGrpSpPr/>
            <p:nvPr/>
          </p:nvGrpSpPr>
          <p:grpSpPr bwMode="auto">
            <a:xfrm>
              <a:off x="4934" y="797"/>
              <a:ext cx="120" cy="388"/>
              <a:chOff x="1056" y="3168"/>
              <a:chExt cx="96" cy="388"/>
            </a:xfrm>
          </p:grpSpPr>
          <p:sp>
            <p:nvSpPr>
              <p:cNvPr id="215" name="Line 18"/>
              <p:cNvSpPr>
                <a:spLocks noChangeShapeType="1"/>
              </p:cNvSpPr>
              <p:nvPr/>
            </p:nvSpPr>
            <p:spPr bwMode="auto">
              <a:xfrm>
                <a:off x="1056" y="3242"/>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16" name="Group 19"/>
              <p:cNvGrpSpPr/>
              <p:nvPr/>
            </p:nvGrpSpPr>
            <p:grpSpPr bwMode="auto">
              <a:xfrm>
                <a:off x="1152" y="3168"/>
                <a:ext cx="0" cy="388"/>
                <a:chOff x="1152" y="3168"/>
                <a:chExt cx="0" cy="388"/>
              </a:xfrm>
            </p:grpSpPr>
            <p:sp>
              <p:nvSpPr>
                <p:cNvPr id="217" name="Line 20"/>
                <p:cNvSpPr>
                  <a:spLocks noChangeShapeType="1"/>
                </p:cNvSpPr>
                <p:nvPr/>
              </p:nvSpPr>
              <p:spPr bwMode="auto">
                <a:xfrm>
                  <a:off x="1152" y="3168"/>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8" name="Line 21"/>
                <p:cNvSpPr>
                  <a:spLocks noChangeShapeType="1"/>
                </p:cNvSpPr>
                <p:nvPr/>
              </p:nvSpPr>
              <p:spPr bwMode="auto">
                <a:xfrm>
                  <a:off x="1152" y="3312"/>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9" name="Line 22"/>
                <p:cNvSpPr>
                  <a:spLocks noChangeShapeType="1"/>
                </p:cNvSpPr>
                <p:nvPr/>
              </p:nvSpPr>
              <p:spPr bwMode="auto">
                <a:xfrm>
                  <a:off x="1152" y="3456"/>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177" name="Line 23"/>
            <p:cNvSpPr>
              <a:spLocks noChangeShapeType="1"/>
            </p:cNvSpPr>
            <p:nvPr/>
          </p:nvSpPr>
          <p:spPr bwMode="auto">
            <a:xfrm>
              <a:off x="5054" y="989"/>
              <a:ext cx="14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8" name="Line 24"/>
            <p:cNvSpPr>
              <a:spLocks noChangeShapeType="1"/>
            </p:cNvSpPr>
            <p:nvPr/>
          </p:nvSpPr>
          <p:spPr bwMode="auto">
            <a:xfrm>
              <a:off x="5054" y="845"/>
              <a:ext cx="14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79" name="Line 25"/>
            <p:cNvSpPr>
              <a:spLocks noChangeShapeType="1"/>
            </p:cNvSpPr>
            <p:nvPr/>
          </p:nvSpPr>
          <p:spPr bwMode="auto">
            <a:xfrm flipV="1">
              <a:off x="5195" y="701"/>
              <a:ext cx="0"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0" name="Freeform 26"/>
            <p:cNvSpPr/>
            <p:nvPr/>
          </p:nvSpPr>
          <p:spPr bwMode="auto">
            <a:xfrm>
              <a:off x="5051" y="1133"/>
              <a:ext cx="144" cy="624"/>
            </a:xfrm>
            <a:custGeom>
              <a:avLst/>
              <a:gdLst>
                <a:gd name="T0" fmla="*/ 0 w 96"/>
                <a:gd name="T1" fmla="*/ 0 h 144"/>
                <a:gd name="T2" fmla="*/ 96 w 96"/>
                <a:gd name="T3" fmla="*/ 0 h 144"/>
                <a:gd name="T4" fmla="*/ 96 w 96"/>
                <a:gd name="T5" fmla="*/ 144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lnTo>
                    <a:pt x="96" y="0"/>
                  </a:lnTo>
                  <a:lnTo>
                    <a:pt x="96" y="14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1" name="Line 27"/>
            <p:cNvSpPr>
              <a:spLocks noChangeShapeType="1"/>
            </p:cNvSpPr>
            <p:nvPr/>
          </p:nvSpPr>
          <p:spPr bwMode="auto">
            <a:xfrm flipH="1">
              <a:off x="4822" y="863"/>
              <a:ext cx="12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182" name="Group 28"/>
            <p:cNvGrpSpPr/>
            <p:nvPr/>
          </p:nvGrpSpPr>
          <p:grpSpPr bwMode="auto">
            <a:xfrm>
              <a:off x="4934" y="1709"/>
              <a:ext cx="119" cy="388"/>
              <a:chOff x="1056" y="3168"/>
              <a:chExt cx="96" cy="388"/>
            </a:xfrm>
          </p:grpSpPr>
          <p:sp>
            <p:nvSpPr>
              <p:cNvPr id="210" name="Line 29"/>
              <p:cNvSpPr>
                <a:spLocks noChangeShapeType="1"/>
              </p:cNvSpPr>
              <p:nvPr/>
            </p:nvSpPr>
            <p:spPr bwMode="auto">
              <a:xfrm>
                <a:off x="1056" y="3242"/>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11" name="Group 30"/>
              <p:cNvGrpSpPr/>
              <p:nvPr/>
            </p:nvGrpSpPr>
            <p:grpSpPr bwMode="auto">
              <a:xfrm>
                <a:off x="1152" y="3168"/>
                <a:ext cx="0" cy="388"/>
                <a:chOff x="1152" y="3168"/>
                <a:chExt cx="0" cy="388"/>
              </a:xfrm>
            </p:grpSpPr>
            <p:sp>
              <p:nvSpPr>
                <p:cNvPr id="212" name="Line 31"/>
                <p:cNvSpPr>
                  <a:spLocks noChangeShapeType="1"/>
                </p:cNvSpPr>
                <p:nvPr/>
              </p:nvSpPr>
              <p:spPr bwMode="auto">
                <a:xfrm>
                  <a:off x="1152" y="3168"/>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3" name="Line 32"/>
                <p:cNvSpPr>
                  <a:spLocks noChangeShapeType="1"/>
                </p:cNvSpPr>
                <p:nvPr/>
              </p:nvSpPr>
              <p:spPr bwMode="auto">
                <a:xfrm>
                  <a:off x="1152" y="3312"/>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14" name="Line 33"/>
                <p:cNvSpPr>
                  <a:spLocks noChangeShapeType="1"/>
                </p:cNvSpPr>
                <p:nvPr/>
              </p:nvSpPr>
              <p:spPr bwMode="auto">
                <a:xfrm>
                  <a:off x="1152" y="3456"/>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183" name="Line 34"/>
            <p:cNvSpPr>
              <a:spLocks noChangeShapeType="1"/>
            </p:cNvSpPr>
            <p:nvPr/>
          </p:nvSpPr>
          <p:spPr bwMode="auto">
            <a:xfrm>
              <a:off x="5053" y="1901"/>
              <a:ext cx="147" cy="0"/>
            </a:xfrm>
            <a:prstGeom prst="line">
              <a:avLst/>
            </a:prstGeom>
            <a:noFill/>
            <a:ln w="19050">
              <a:solidFill>
                <a:srgbClr val="000000"/>
              </a:solidFill>
              <a:round/>
              <a:head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4" name="Line 35"/>
            <p:cNvSpPr>
              <a:spLocks noChangeShapeType="1"/>
            </p:cNvSpPr>
            <p:nvPr/>
          </p:nvSpPr>
          <p:spPr bwMode="auto">
            <a:xfrm>
              <a:off x="5053" y="1757"/>
              <a:ext cx="14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5" name="Line 36"/>
            <p:cNvSpPr>
              <a:spLocks noChangeShapeType="1"/>
            </p:cNvSpPr>
            <p:nvPr/>
          </p:nvSpPr>
          <p:spPr bwMode="auto">
            <a:xfrm flipV="1">
              <a:off x="5195" y="1901"/>
              <a:ext cx="0"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6" name="Freeform 37"/>
            <p:cNvSpPr/>
            <p:nvPr/>
          </p:nvSpPr>
          <p:spPr bwMode="auto">
            <a:xfrm>
              <a:off x="5067" y="2045"/>
              <a:ext cx="127" cy="336"/>
            </a:xfrm>
            <a:custGeom>
              <a:avLst/>
              <a:gdLst>
                <a:gd name="T0" fmla="*/ 0 w 96"/>
                <a:gd name="T1" fmla="*/ 0 h 144"/>
                <a:gd name="T2" fmla="*/ 96 w 96"/>
                <a:gd name="T3" fmla="*/ 0 h 144"/>
                <a:gd name="T4" fmla="*/ 96 w 96"/>
                <a:gd name="T5" fmla="*/ 144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lnTo>
                    <a:pt x="96" y="0"/>
                  </a:lnTo>
                  <a:lnTo>
                    <a:pt x="96" y="14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7" name="Line 38"/>
            <p:cNvSpPr>
              <a:spLocks noChangeShapeType="1"/>
            </p:cNvSpPr>
            <p:nvPr/>
          </p:nvSpPr>
          <p:spPr bwMode="auto">
            <a:xfrm flipH="1">
              <a:off x="4822" y="2015"/>
              <a:ext cx="11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8" name="Line 39"/>
            <p:cNvSpPr>
              <a:spLocks noChangeShapeType="1"/>
            </p:cNvSpPr>
            <p:nvPr/>
          </p:nvSpPr>
          <p:spPr bwMode="auto">
            <a:xfrm>
              <a:off x="4812" y="857"/>
              <a:ext cx="0" cy="11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89" name="Line 40"/>
            <p:cNvSpPr>
              <a:spLocks noChangeShapeType="1"/>
            </p:cNvSpPr>
            <p:nvPr/>
          </p:nvSpPr>
          <p:spPr bwMode="auto">
            <a:xfrm>
              <a:off x="5200" y="1421"/>
              <a:ext cx="23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0" name="Line 41"/>
            <p:cNvSpPr>
              <a:spLocks noChangeShapeType="1"/>
            </p:cNvSpPr>
            <p:nvPr/>
          </p:nvSpPr>
          <p:spPr bwMode="auto">
            <a:xfrm flipH="1">
              <a:off x="4521" y="1421"/>
              <a:ext cx="29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1" name="Oval 42"/>
            <p:cNvSpPr>
              <a:spLocks noChangeArrowheads="1"/>
            </p:cNvSpPr>
            <p:nvPr/>
          </p:nvSpPr>
          <p:spPr bwMode="auto">
            <a:xfrm>
              <a:off x="5163" y="1397"/>
              <a:ext cx="60"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2" name="Oval 43"/>
            <p:cNvSpPr>
              <a:spLocks noChangeArrowheads="1"/>
            </p:cNvSpPr>
            <p:nvPr/>
          </p:nvSpPr>
          <p:spPr bwMode="auto">
            <a:xfrm>
              <a:off x="4782" y="1397"/>
              <a:ext cx="60"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3" name="Text Box 44"/>
            <p:cNvSpPr txBox="1">
              <a:spLocks noChangeArrowheads="1"/>
            </p:cNvSpPr>
            <p:nvPr/>
          </p:nvSpPr>
          <p:spPr bwMode="auto">
            <a:xfrm>
              <a:off x="4802" y="500"/>
              <a:ext cx="27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4" name="Text Box 45"/>
            <p:cNvSpPr txBox="1">
              <a:spLocks noChangeArrowheads="1"/>
            </p:cNvSpPr>
            <p:nvPr/>
          </p:nvSpPr>
          <p:spPr bwMode="auto">
            <a:xfrm>
              <a:off x="4743" y="2084"/>
              <a:ext cx="27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5" name="Line 46"/>
            <p:cNvSpPr>
              <a:spLocks noChangeShapeType="1"/>
            </p:cNvSpPr>
            <p:nvPr/>
          </p:nvSpPr>
          <p:spPr bwMode="auto">
            <a:xfrm>
              <a:off x="5081" y="2381"/>
              <a:ext cx="24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6" name="Text Box 47"/>
            <p:cNvSpPr txBox="1">
              <a:spLocks noChangeArrowheads="1"/>
            </p:cNvSpPr>
            <p:nvPr/>
          </p:nvSpPr>
          <p:spPr bwMode="auto">
            <a:xfrm>
              <a:off x="4902" y="183"/>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2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2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7" name="Line 48"/>
            <p:cNvSpPr>
              <a:spLocks noChangeShapeType="1"/>
            </p:cNvSpPr>
            <p:nvPr/>
          </p:nvSpPr>
          <p:spPr bwMode="auto">
            <a:xfrm flipV="1">
              <a:off x="5194" y="509"/>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8" name="Oval 49"/>
            <p:cNvSpPr>
              <a:spLocks noChangeArrowheads="1"/>
            </p:cNvSpPr>
            <p:nvPr/>
          </p:nvSpPr>
          <p:spPr bwMode="auto">
            <a:xfrm>
              <a:off x="5171" y="821"/>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9" name="Oval 50"/>
            <p:cNvSpPr>
              <a:spLocks noChangeArrowheads="1"/>
            </p:cNvSpPr>
            <p:nvPr/>
          </p:nvSpPr>
          <p:spPr bwMode="auto">
            <a:xfrm>
              <a:off x="5171" y="201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0" name="Text Box 51"/>
            <p:cNvSpPr txBox="1">
              <a:spLocks noChangeArrowheads="1"/>
            </p:cNvSpPr>
            <p:nvPr/>
          </p:nvSpPr>
          <p:spPr bwMode="auto">
            <a:xfrm>
              <a:off x="5040" y="2073"/>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S</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endPar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201" name="Text Box 52"/>
            <p:cNvSpPr txBox="1">
              <a:spLocks noChangeArrowheads="1"/>
            </p:cNvSpPr>
            <p:nvPr/>
          </p:nvSpPr>
          <p:spPr bwMode="auto">
            <a:xfrm>
              <a:off x="5259" y="1268"/>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2" name="Line 53"/>
            <p:cNvSpPr>
              <a:spLocks noChangeShapeType="1"/>
            </p:cNvSpPr>
            <p:nvPr/>
          </p:nvSpPr>
          <p:spPr bwMode="auto">
            <a:xfrm>
              <a:off x="5307" y="1037"/>
              <a:ext cx="0" cy="739"/>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03" name="Text Box 54"/>
            <p:cNvSpPr txBox="1">
              <a:spLocks noChangeArrowheads="1"/>
            </p:cNvSpPr>
            <p:nvPr/>
          </p:nvSpPr>
          <p:spPr bwMode="auto">
            <a:xfrm>
              <a:off x="5302" y="1008"/>
              <a:ext cx="38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200" b="1" i="1"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D</a:t>
              </a:r>
              <a:endParaRPr kumimoji="1" lang="en-US" altLang="zh-CN"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204" name="Text Box 55"/>
            <p:cNvSpPr txBox="1">
              <a:spLocks noChangeArrowheads="1"/>
            </p:cNvSpPr>
            <p:nvPr/>
          </p:nvSpPr>
          <p:spPr bwMode="auto">
            <a:xfrm>
              <a:off x="4272" y="1257"/>
              <a:ext cx="23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5" name="Text Box 56"/>
            <p:cNvSpPr txBox="1">
              <a:spLocks noChangeArrowheads="1"/>
            </p:cNvSpPr>
            <p:nvPr/>
          </p:nvSpPr>
          <p:spPr bwMode="auto">
            <a:xfrm>
              <a:off x="5249" y="777"/>
              <a:ext cx="2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P</a:t>
              </a:r>
              <a:endPar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06" name="Text Box 57"/>
            <p:cNvSpPr txBox="1">
              <a:spLocks noChangeArrowheads="1"/>
            </p:cNvSpPr>
            <p:nvPr/>
          </p:nvSpPr>
          <p:spPr bwMode="auto">
            <a:xfrm>
              <a:off x="5240" y="1785"/>
              <a:ext cx="23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N</a:t>
              </a:r>
              <a:endPar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07" name="Text Box 58"/>
            <p:cNvSpPr txBox="1">
              <a:spLocks noChangeArrowheads="1"/>
            </p:cNvSpPr>
            <p:nvPr/>
          </p:nvSpPr>
          <p:spPr bwMode="auto">
            <a:xfrm>
              <a:off x="4503" y="777"/>
              <a:ext cx="30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8" name="Text Box 59"/>
            <p:cNvSpPr txBox="1">
              <a:spLocks noChangeArrowheads="1"/>
            </p:cNvSpPr>
            <p:nvPr/>
          </p:nvSpPr>
          <p:spPr bwMode="auto">
            <a:xfrm>
              <a:off x="5193" y="441"/>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S</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9" name="Text Box 60"/>
            <p:cNvSpPr txBox="1">
              <a:spLocks noChangeArrowheads="1"/>
            </p:cNvSpPr>
            <p:nvPr/>
          </p:nvSpPr>
          <p:spPr bwMode="auto">
            <a:xfrm>
              <a:off x="4518" y="1785"/>
              <a:ext cx="30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endPar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220" name="Text Box 61"/>
          <p:cNvSpPr txBox="1">
            <a:spLocks noChangeArrowheads="1"/>
          </p:cNvSpPr>
          <p:nvPr/>
        </p:nvSpPr>
        <p:spPr bwMode="auto">
          <a:xfrm>
            <a:off x="116288" y="3691992"/>
            <a:ext cx="201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IL</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=0V</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时</a:t>
            </a:r>
            <a:endPar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21" name="Text Box 62"/>
          <p:cNvSpPr txBox="1">
            <a:spLocks noChangeArrowheads="1"/>
          </p:cNvSpPr>
          <p:nvPr/>
        </p:nvSpPr>
        <p:spPr bwMode="auto">
          <a:xfrm>
            <a:off x="6024563" y="2590800"/>
            <a:ext cx="557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0V</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22" name="Group 63"/>
          <p:cNvGrpSpPr/>
          <p:nvPr/>
        </p:nvGrpSpPr>
        <p:grpSpPr bwMode="auto">
          <a:xfrm>
            <a:off x="7718425" y="4283076"/>
            <a:ext cx="1252538" cy="2363788"/>
            <a:chOff x="4986" y="2303"/>
            <a:chExt cx="774" cy="1489"/>
          </a:xfrm>
        </p:grpSpPr>
        <p:sp>
          <p:nvSpPr>
            <p:cNvPr id="223" name="Line 64"/>
            <p:cNvSpPr>
              <a:spLocks noChangeShapeType="1"/>
            </p:cNvSpPr>
            <p:nvPr/>
          </p:nvSpPr>
          <p:spPr bwMode="auto">
            <a:xfrm>
              <a:off x="5304" y="2542"/>
              <a:ext cx="0" cy="1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4" name="Rectangle 65"/>
            <p:cNvSpPr>
              <a:spLocks noChangeArrowheads="1"/>
            </p:cNvSpPr>
            <p:nvPr/>
          </p:nvSpPr>
          <p:spPr bwMode="auto">
            <a:xfrm>
              <a:off x="5256" y="278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5" name="Rectangle 66"/>
            <p:cNvSpPr>
              <a:spLocks noChangeArrowheads="1"/>
            </p:cNvSpPr>
            <p:nvPr/>
          </p:nvSpPr>
          <p:spPr bwMode="auto">
            <a:xfrm>
              <a:off x="5256" y="331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6" name="Line 67"/>
            <p:cNvSpPr>
              <a:spLocks noChangeShapeType="1"/>
            </p:cNvSpPr>
            <p:nvPr/>
          </p:nvSpPr>
          <p:spPr bwMode="auto">
            <a:xfrm>
              <a:off x="5232" y="3792"/>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7" name="Rectangle 68"/>
            <p:cNvSpPr>
              <a:spLocks noChangeArrowheads="1"/>
            </p:cNvSpPr>
            <p:nvPr/>
          </p:nvSpPr>
          <p:spPr bwMode="auto">
            <a:xfrm>
              <a:off x="5143" y="2303"/>
              <a:ext cx="40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2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2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28" name="Line 69"/>
            <p:cNvSpPr>
              <a:spLocks noChangeShapeType="1"/>
            </p:cNvSpPr>
            <p:nvPr/>
          </p:nvSpPr>
          <p:spPr bwMode="auto">
            <a:xfrm>
              <a:off x="5316" y="3192"/>
              <a:ext cx="28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29" name="Rectangle 70"/>
            <p:cNvSpPr>
              <a:spLocks noChangeArrowheads="1"/>
            </p:cNvSpPr>
            <p:nvPr/>
          </p:nvSpPr>
          <p:spPr bwMode="auto">
            <a:xfrm>
              <a:off x="5478" y="3132"/>
              <a:ext cx="28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0" name="Rectangle 71"/>
            <p:cNvSpPr>
              <a:spLocks noChangeArrowheads="1"/>
            </p:cNvSpPr>
            <p:nvPr/>
          </p:nvSpPr>
          <p:spPr bwMode="auto">
            <a:xfrm>
              <a:off x="4986" y="2784"/>
              <a:ext cx="2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2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2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1" name="Rectangle 72"/>
            <p:cNvSpPr>
              <a:spLocks noChangeArrowheads="1"/>
            </p:cNvSpPr>
            <p:nvPr/>
          </p:nvSpPr>
          <p:spPr bwMode="auto">
            <a:xfrm>
              <a:off x="4986" y="3312"/>
              <a:ext cx="2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2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2" name="Text Box 73"/>
            <p:cNvSpPr txBox="1">
              <a:spLocks noChangeArrowheads="1"/>
            </p:cNvSpPr>
            <p:nvPr/>
          </p:nvSpPr>
          <p:spPr bwMode="auto">
            <a:xfrm>
              <a:off x="5356" y="2784"/>
              <a:ext cx="3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3" name="Text Box 74"/>
            <p:cNvSpPr txBox="1">
              <a:spLocks noChangeArrowheads="1"/>
            </p:cNvSpPr>
            <p:nvPr/>
          </p:nvSpPr>
          <p:spPr bwMode="auto">
            <a:xfrm>
              <a:off x="5342" y="3324"/>
              <a:ext cx="3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大</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4" name="Oval 75"/>
            <p:cNvSpPr>
              <a:spLocks noChangeArrowheads="1"/>
            </p:cNvSpPr>
            <p:nvPr/>
          </p:nvSpPr>
          <p:spPr bwMode="auto">
            <a:xfrm>
              <a:off x="5280" y="316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500"/>
                                        <p:tgtEl>
                                          <p:spTgt spid="1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
                                        </p:tgtEl>
                                        <p:attrNameLst>
                                          <p:attrName>style.visibility</p:attrName>
                                        </p:attrNameLst>
                                      </p:cBhvr>
                                      <p:to>
                                        <p:strVal val="visible"/>
                                      </p:to>
                                    </p:set>
                                    <p:animEffect transition="in" filter="wipe(left)">
                                      <p:cBhvr>
                                        <p:cTn id="12" dur="500"/>
                                        <p:tgtEl>
                                          <p:spTgt spid="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
                                        </p:tgtEl>
                                        <p:attrNameLst>
                                          <p:attrName>style.visibility</p:attrName>
                                        </p:attrNameLst>
                                      </p:cBhvr>
                                      <p:to>
                                        <p:strVal val="visible"/>
                                      </p:to>
                                    </p:set>
                                    <p:animEffect transition="in" filter="wipe(left)">
                                      <p:cBhvr>
                                        <p:cTn id="17" dur="500"/>
                                        <p:tgtEl>
                                          <p:spTgt spid="1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0"/>
                                        </p:tgtEl>
                                        <p:attrNameLst>
                                          <p:attrName>style.visibility</p:attrName>
                                        </p:attrNameLst>
                                      </p:cBhvr>
                                      <p:to>
                                        <p:strVal val="visible"/>
                                      </p:to>
                                    </p:set>
                                    <p:animEffect transition="in" filter="wipe(left)">
                                      <p:cBhvr>
                                        <p:cTn id="22" dur="500"/>
                                        <p:tgtEl>
                                          <p:spTgt spid="22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21">
                                            <p:txEl>
                                              <p:pRg st="0" end="0"/>
                                            </p:txEl>
                                          </p:spTgt>
                                        </p:tgtEl>
                                        <p:attrNameLst>
                                          <p:attrName>style.visibility</p:attrName>
                                        </p:attrNameLst>
                                      </p:cBhvr>
                                      <p:to>
                                        <p:strVal val="visible"/>
                                      </p:to>
                                    </p:set>
                                    <p:animEffect transition="in" filter="box(out)">
                                      <p:cBhvr>
                                        <p:cTn id="27" dur="500"/>
                                        <p:tgtEl>
                                          <p:spTgt spid="221">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6" name="camera.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5"/>
                                        </p:tgtEl>
                                        <p:attrNameLst>
                                          <p:attrName>style.visibility</p:attrName>
                                        </p:attrNameLst>
                                      </p:cBhvr>
                                      <p:to>
                                        <p:strVal val="visible"/>
                                      </p:to>
                                    </p:set>
                                    <p:animEffect transition="in" filter="wipe(left)">
                                      <p:cBhvr>
                                        <p:cTn id="32" dur="500"/>
                                        <p:tgtEl>
                                          <p:spTgt spid="1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7"/>
                                        </p:tgtEl>
                                        <p:attrNameLst>
                                          <p:attrName>style.visibility</p:attrName>
                                        </p:attrNameLst>
                                      </p:cBhvr>
                                      <p:to>
                                        <p:strVal val="visible"/>
                                      </p:to>
                                    </p:set>
                                    <p:animEffect transition="in" filter="wipe(left)">
                                      <p:cBhvr>
                                        <p:cTn id="37" dur="500"/>
                                        <p:tgtEl>
                                          <p:spTgt spid="16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9"/>
                                        </p:tgtEl>
                                        <p:attrNameLst>
                                          <p:attrName>style.visibility</p:attrName>
                                        </p:attrNameLst>
                                      </p:cBhvr>
                                      <p:to>
                                        <p:strVal val="visible"/>
                                      </p:to>
                                    </p:set>
                                    <p:animEffect transition="in" filter="wipe(left)">
                                      <p:cBhvr>
                                        <p:cTn id="42" dur="500"/>
                                        <p:tgtEl>
                                          <p:spTgt spid="16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6"/>
                                        </p:tgtEl>
                                        <p:attrNameLst>
                                          <p:attrName>style.visibility</p:attrName>
                                        </p:attrNameLst>
                                      </p:cBhvr>
                                      <p:to>
                                        <p:strVal val="visible"/>
                                      </p:to>
                                    </p:set>
                                    <p:animEffect transition="in" filter="wipe(left)">
                                      <p:cBhvr>
                                        <p:cTn id="47" dur="500"/>
                                        <p:tgtEl>
                                          <p:spTgt spid="1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8"/>
                                        </p:tgtEl>
                                        <p:attrNameLst>
                                          <p:attrName>style.visibility</p:attrName>
                                        </p:attrNameLst>
                                      </p:cBhvr>
                                      <p:to>
                                        <p:strVal val="visible"/>
                                      </p:to>
                                    </p:set>
                                    <p:animEffect transition="in" filter="wipe(left)">
                                      <p:cBhvr>
                                        <p:cTn id="52" dur="500"/>
                                        <p:tgtEl>
                                          <p:spTgt spid="16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0"/>
                                        </p:tgtEl>
                                        <p:attrNameLst>
                                          <p:attrName>style.visibility</p:attrName>
                                        </p:attrNameLst>
                                      </p:cBhvr>
                                      <p:to>
                                        <p:strVal val="visible"/>
                                      </p:to>
                                    </p:set>
                                    <p:animEffect transition="in" filter="wipe(left)">
                                      <p:cBhvr>
                                        <p:cTn id="57" dur="500"/>
                                        <p:tgtEl>
                                          <p:spTgt spid="17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71"/>
                                        </p:tgtEl>
                                        <p:attrNameLst>
                                          <p:attrName>style.visibility</p:attrName>
                                        </p:attrNameLst>
                                      </p:cBhvr>
                                      <p:to>
                                        <p:strVal val="visible"/>
                                      </p:to>
                                    </p:set>
                                    <p:animEffect transition="in" filter="wipe(up)">
                                      <p:cBhvr>
                                        <p:cTn id="62" dur="500"/>
                                        <p:tgtEl>
                                          <p:spTgt spid="17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2"/>
                                        </p:tgtEl>
                                        <p:attrNameLst>
                                          <p:attrName>style.visibility</p:attrName>
                                        </p:attrNameLst>
                                      </p:cBhvr>
                                      <p:to>
                                        <p:strVal val="visible"/>
                                      </p:to>
                                    </p:set>
                                    <p:animEffect transition="in" filter="wipe(left)">
                                      <p:cBhvr>
                                        <p:cTn id="67" dur="500"/>
                                        <p:tgtEl>
                                          <p:spTgt spid="17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22"/>
                                        </p:tgtEl>
                                        <p:attrNameLst>
                                          <p:attrName>style.visibility</p:attrName>
                                        </p:attrNameLst>
                                      </p:cBhvr>
                                      <p:to>
                                        <p:strVal val="visible"/>
                                      </p:to>
                                    </p:set>
                                    <p:animEffect transition="in" filter="fade">
                                      <p:cBhvr>
                                        <p:cTn id="72" dur="5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utoUpdateAnimBg="0"/>
      <p:bldP spid="167" grpId="0" animBg="1"/>
      <p:bldP spid="168" grpId="0" animBg="1"/>
      <p:bldP spid="169" grpId="0" autoUpdateAnimBg="0"/>
      <p:bldP spid="170" grpId="0" autoUpdateAnimBg="0"/>
      <p:bldP spid="171" grpId="0" animBg="1"/>
      <p:bldP spid="172" grpId="0" autoUpdateAnimBg="0"/>
      <p:bldP spid="174" grpId="0" autoUpdateAnimBg="0"/>
      <p:bldP spid="220" grpId="0" autoUpdateAnimBg="0"/>
      <p:bldP spid="221"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en-US" altLang="zh-CN" sz="3600" b="1" dirty="0">
                <a:solidFill>
                  <a:schemeClr val="accent5">
                    <a:lumMod val="75000"/>
                  </a:schemeClr>
                </a:solidFill>
                <a:latin typeface="微软雅黑" panose="020B0503020204020204" pitchFamily="34" charset="-122"/>
                <a:ea typeface="微软雅黑" panose="020B0503020204020204" pitchFamily="34" charset="-122"/>
              </a:rPr>
              <a:t>2.4.5 CMOS</a:t>
            </a:r>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反相器</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50" name="Text Box 17"/>
          <p:cNvSpPr txBox="1">
            <a:spLocks noChangeArrowheads="1"/>
          </p:cNvSpPr>
          <p:nvPr/>
        </p:nvSpPr>
        <p:spPr bwMode="auto">
          <a:xfrm>
            <a:off x="-12370" y="692429"/>
            <a:ext cx="6600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kern="0" dirty="0">
                <a:solidFill>
                  <a:srgbClr val="FF0000"/>
                </a:solidFill>
                <a:latin typeface="黑体" panose="02010609060101010101" pitchFamily="49" charset="-122"/>
                <a:ea typeface="黑体" panose="02010609060101010101" pitchFamily="49" charset="-122"/>
              </a:rPr>
              <a:t>电路结构与工作原理</a:t>
            </a:r>
            <a:endParaRPr kumimoji="1"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49" name="Text Box 2"/>
          <p:cNvSpPr txBox="1">
            <a:spLocks noChangeArrowheads="1"/>
          </p:cNvSpPr>
          <p:nvPr/>
        </p:nvSpPr>
        <p:spPr bwMode="auto">
          <a:xfrm>
            <a:off x="227426" y="1347462"/>
            <a:ext cx="2251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I</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IH</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DD</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时</a:t>
            </a:r>
            <a:endPar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graphicFrame>
        <p:nvGraphicFramePr>
          <p:cNvPr id="150" name="Object 3"/>
          <p:cNvGraphicFramePr>
            <a:graphicFrameLocks noChangeAspect="1"/>
          </p:cNvGraphicFramePr>
          <p:nvPr/>
        </p:nvGraphicFramePr>
        <p:xfrm>
          <a:off x="416339" y="1957062"/>
          <a:ext cx="2795587" cy="601663"/>
        </p:xfrm>
        <a:graphic>
          <a:graphicData uri="http://schemas.openxmlformats.org/presentationml/2006/ole">
            <mc:AlternateContent xmlns:mc="http://schemas.openxmlformats.org/markup-compatibility/2006">
              <mc:Choice xmlns:v="urn:schemas-microsoft-com:vml" Requires="v">
                <p:oleObj spid="_x0000_s2" name="公式" r:id="rId2" imgW="1282700" imgH="292100" progId="Equation.3">
                  <p:embed/>
                </p:oleObj>
              </mc:Choice>
              <mc:Fallback>
                <p:oleObj name="公式" r:id="rId2" imgW="1282700" imgH="2921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339" y="1957062"/>
                        <a:ext cx="2795587" cy="601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 name="Object 4"/>
          <p:cNvGraphicFramePr>
            <a:graphicFrameLocks noChangeAspect="1"/>
          </p:cNvGraphicFramePr>
          <p:nvPr/>
        </p:nvGraphicFramePr>
        <p:xfrm>
          <a:off x="416339" y="2669850"/>
          <a:ext cx="2824162" cy="495300"/>
        </p:xfrm>
        <a:graphic>
          <a:graphicData uri="http://schemas.openxmlformats.org/presentationml/2006/ole">
            <mc:AlternateContent xmlns:mc="http://schemas.openxmlformats.org/markup-compatibility/2006">
              <mc:Choice xmlns:v="urn:schemas-microsoft-com:vml" Requires="v">
                <p:oleObj spid="_x0000_s3" name="公式" r:id="rId4" imgW="1295400" imgH="241300" progId="Equation.3">
                  <p:embed/>
                </p:oleObj>
              </mc:Choice>
              <mc:Fallback>
                <p:oleObj name="公式" r:id="rId4" imgW="1295400" imgH="2413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339" y="2669850"/>
                        <a:ext cx="282416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 name="AutoShape 5"/>
          <p:cNvSpPr>
            <a:spLocks noChangeArrowheads="1"/>
          </p:cNvSpPr>
          <p:nvPr/>
        </p:nvSpPr>
        <p:spPr bwMode="auto">
          <a:xfrm>
            <a:off x="3427826" y="2182487"/>
            <a:ext cx="723900" cy="152400"/>
          </a:xfrm>
          <a:prstGeom prst="rightArrow">
            <a:avLst>
              <a:gd name="adj1" fmla="val 50000"/>
              <a:gd name="adj2" fmla="val 118750"/>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3" name="AutoShape 6"/>
          <p:cNvSpPr>
            <a:spLocks noChangeArrowheads="1"/>
          </p:cNvSpPr>
          <p:nvPr/>
        </p:nvSpPr>
        <p:spPr bwMode="auto">
          <a:xfrm>
            <a:off x="3427826" y="2839712"/>
            <a:ext cx="723900" cy="152400"/>
          </a:xfrm>
          <a:prstGeom prst="rightArrow">
            <a:avLst>
              <a:gd name="adj1" fmla="val 50000"/>
              <a:gd name="adj2" fmla="val 118750"/>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4" name="Text Box 7"/>
          <p:cNvSpPr txBox="1">
            <a:spLocks noChangeArrowheads="1"/>
          </p:cNvSpPr>
          <p:nvPr/>
        </p:nvSpPr>
        <p:spPr bwMode="auto">
          <a:xfrm>
            <a:off x="4266026" y="2030087"/>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T1</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截止</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5" name="Text Box 8"/>
          <p:cNvSpPr txBox="1">
            <a:spLocks noChangeArrowheads="1"/>
          </p:cNvSpPr>
          <p:nvPr/>
        </p:nvSpPr>
        <p:spPr bwMode="auto">
          <a:xfrm>
            <a:off x="4266026" y="2687312"/>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T2</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导通</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6" name="AutoShape 9"/>
          <p:cNvSpPr/>
          <p:nvPr/>
        </p:nvSpPr>
        <p:spPr bwMode="auto">
          <a:xfrm>
            <a:off x="5485226" y="2185662"/>
            <a:ext cx="241300" cy="838200"/>
          </a:xfrm>
          <a:prstGeom prst="rightBrace">
            <a:avLst>
              <a:gd name="adj1" fmla="val 28947"/>
              <a:gd name="adj2" fmla="val 50000"/>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7" name="Text Box 10"/>
          <p:cNvSpPr txBox="1">
            <a:spLocks noChangeArrowheads="1"/>
          </p:cNvSpPr>
          <p:nvPr/>
        </p:nvSpPr>
        <p:spPr bwMode="auto">
          <a:xfrm>
            <a:off x="5918201" y="2335830"/>
            <a:ext cx="18582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0" u="none" strike="noStrike" kern="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400" b="1" i="1"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OL</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≈0V</a:t>
            </a:r>
            <a:endPar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58" name="Text Box 11"/>
          <p:cNvSpPr txBox="1">
            <a:spLocks noChangeArrowheads="1"/>
          </p:cNvSpPr>
          <p:nvPr/>
        </p:nvSpPr>
        <p:spPr bwMode="auto">
          <a:xfrm>
            <a:off x="442791" y="4621829"/>
            <a:ext cx="3278462" cy="46166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rPr>
              <a:t>实现“非”的逻辑关系</a:t>
            </a:r>
            <a:endParaRPr kumimoji="1" lang="zh-CN" altLang="en-US" sz="2400" b="1" i="0" u="none" strike="noStrike" kern="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endParaRPr>
          </a:p>
        </p:txBody>
      </p:sp>
      <p:grpSp>
        <p:nvGrpSpPr>
          <p:cNvPr id="159" name="Group 12"/>
          <p:cNvGrpSpPr/>
          <p:nvPr/>
        </p:nvGrpSpPr>
        <p:grpSpPr bwMode="auto">
          <a:xfrm>
            <a:off x="4707351" y="3633462"/>
            <a:ext cx="1281113" cy="2362200"/>
            <a:chOff x="2783" y="1872"/>
            <a:chExt cx="764" cy="1488"/>
          </a:xfrm>
        </p:grpSpPr>
        <p:grpSp>
          <p:nvGrpSpPr>
            <p:cNvPr id="160" name="Group 13"/>
            <p:cNvGrpSpPr/>
            <p:nvPr/>
          </p:nvGrpSpPr>
          <p:grpSpPr bwMode="auto">
            <a:xfrm>
              <a:off x="2783" y="1872"/>
              <a:ext cx="764" cy="1488"/>
              <a:chOff x="4991" y="2304"/>
              <a:chExt cx="764" cy="1488"/>
            </a:xfrm>
          </p:grpSpPr>
          <p:sp>
            <p:nvSpPr>
              <p:cNvPr id="162" name="Line 14"/>
              <p:cNvSpPr>
                <a:spLocks noChangeShapeType="1"/>
              </p:cNvSpPr>
              <p:nvPr/>
            </p:nvSpPr>
            <p:spPr bwMode="auto">
              <a:xfrm>
                <a:off x="5304" y="2542"/>
                <a:ext cx="0" cy="1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63" name="Rectangle 15"/>
              <p:cNvSpPr>
                <a:spLocks noChangeArrowheads="1"/>
              </p:cNvSpPr>
              <p:nvPr/>
            </p:nvSpPr>
            <p:spPr bwMode="auto">
              <a:xfrm>
                <a:off x="5256" y="2784"/>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3" name="Rectangle 16"/>
              <p:cNvSpPr>
                <a:spLocks noChangeArrowheads="1"/>
              </p:cNvSpPr>
              <p:nvPr/>
            </p:nvSpPr>
            <p:spPr bwMode="auto">
              <a:xfrm>
                <a:off x="5256" y="3312"/>
                <a:ext cx="96" cy="290"/>
              </a:xfrm>
              <a:prstGeom prst="rect">
                <a:avLst/>
              </a:prstGeom>
              <a:solidFill>
                <a:srgbClr val="FFFFFF"/>
              </a:solidFill>
              <a:ln w="19050">
                <a:solidFill>
                  <a:srgbClr val="000000"/>
                </a:solidFill>
                <a:miter lim="800000"/>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5" name="Line 17"/>
              <p:cNvSpPr>
                <a:spLocks noChangeShapeType="1"/>
              </p:cNvSpPr>
              <p:nvPr/>
            </p:nvSpPr>
            <p:spPr bwMode="auto">
              <a:xfrm>
                <a:off x="5232" y="3792"/>
                <a:ext cx="14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6" name="Rectangle 18"/>
              <p:cNvSpPr>
                <a:spLocks noChangeArrowheads="1"/>
              </p:cNvSpPr>
              <p:nvPr/>
            </p:nvSpPr>
            <p:spPr bwMode="auto">
              <a:xfrm>
                <a:off x="5155" y="2304"/>
                <a:ext cx="38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2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37" name="Line 19"/>
              <p:cNvSpPr>
                <a:spLocks noChangeShapeType="1"/>
              </p:cNvSpPr>
              <p:nvPr/>
            </p:nvSpPr>
            <p:spPr bwMode="auto">
              <a:xfrm>
                <a:off x="5316" y="3192"/>
                <a:ext cx="28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38" name="Rectangle 20"/>
              <p:cNvSpPr>
                <a:spLocks noChangeArrowheads="1"/>
              </p:cNvSpPr>
              <p:nvPr/>
            </p:nvSpPr>
            <p:spPr bwMode="auto">
              <a:xfrm>
                <a:off x="5484" y="3132"/>
                <a:ext cx="27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9" name="Rectangle 21"/>
              <p:cNvSpPr>
                <a:spLocks noChangeArrowheads="1"/>
              </p:cNvSpPr>
              <p:nvPr/>
            </p:nvSpPr>
            <p:spPr bwMode="auto">
              <a:xfrm>
                <a:off x="4991" y="2784"/>
                <a:ext cx="2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2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0" name="Rectangle 22"/>
              <p:cNvSpPr>
                <a:spLocks noChangeArrowheads="1"/>
              </p:cNvSpPr>
              <p:nvPr/>
            </p:nvSpPr>
            <p:spPr bwMode="auto">
              <a:xfrm>
                <a:off x="4991" y="3312"/>
                <a:ext cx="2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2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1" name="Text Box 23"/>
              <p:cNvSpPr txBox="1">
                <a:spLocks noChangeArrowheads="1"/>
              </p:cNvSpPr>
              <p:nvPr/>
            </p:nvSpPr>
            <p:spPr bwMode="auto">
              <a:xfrm>
                <a:off x="5361" y="2784"/>
                <a:ext cx="2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大</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2" name="Text Box 24"/>
              <p:cNvSpPr txBox="1">
                <a:spLocks noChangeArrowheads="1"/>
              </p:cNvSpPr>
              <p:nvPr/>
            </p:nvSpPr>
            <p:spPr bwMode="auto">
              <a:xfrm>
                <a:off x="5439" y="3324"/>
                <a:ext cx="1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3" name="Oval 25"/>
              <p:cNvSpPr>
                <a:spLocks noChangeArrowheads="1"/>
              </p:cNvSpPr>
              <p:nvPr/>
            </p:nvSpPr>
            <p:spPr bwMode="auto">
              <a:xfrm>
                <a:off x="5280" y="3168"/>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61" name="Rectangle 26"/>
            <p:cNvSpPr>
              <a:spLocks noChangeArrowheads="1"/>
            </p:cNvSpPr>
            <p:nvPr/>
          </p:nvSpPr>
          <p:spPr bwMode="auto">
            <a:xfrm>
              <a:off x="3156" y="2904"/>
              <a:ext cx="2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244" name="Group 27"/>
          <p:cNvGrpSpPr/>
          <p:nvPr/>
        </p:nvGrpSpPr>
        <p:grpSpPr bwMode="auto">
          <a:xfrm>
            <a:off x="6396451" y="2795262"/>
            <a:ext cx="2720975" cy="3489325"/>
            <a:chOff x="3846" y="1056"/>
            <a:chExt cx="1625" cy="2198"/>
          </a:xfrm>
        </p:grpSpPr>
        <p:grpSp>
          <p:nvGrpSpPr>
            <p:cNvPr id="245" name="Group 28"/>
            <p:cNvGrpSpPr/>
            <p:nvPr/>
          </p:nvGrpSpPr>
          <p:grpSpPr bwMode="auto">
            <a:xfrm>
              <a:off x="3891" y="1056"/>
              <a:ext cx="1580" cy="2198"/>
              <a:chOff x="4276" y="183"/>
              <a:chExt cx="1580" cy="2198"/>
            </a:xfrm>
          </p:grpSpPr>
          <p:grpSp>
            <p:nvGrpSpPr>
              <p:cNvPr id="247" name="Group 29"/>
              <p:cNvGrpSpPr/>
              <p:nvPr/>
            </p:nvGrpSpPr>
            <p:grpSpPr bwMode="auto">
              <a:xfrm>
                <a:off x="4934" y="797"/>
                <a:ext cx="120" cy="388"/>
                <a:chOff x="1056" y="3168"/>
                <a:chExt cx="96" cy="388"/>
              </a:xfrm>
            </p:grpSpPr>
            <p:sp>
              <p:nvSpPr>
                <p:cNvPr id="287" name="Line 30"/>
                <p:cNvSpPr>
                  <a:spLocks noChangeShapeType="1"/>
                </p:cNvSpPr>
                <p:nvPr/>
              </p:nvSpPr>
              <p:spPr bwMode="auto">
                <a:xfrm>
                  <a:off x="1056" y="3242"/>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88" name="Group 31"/>
                <p:cNvGrpSpPr/>
                <p:nvPr/>
              </p:nvGrpSpPr>
              <p:grpSpPr bwMode="auto">
                <a:xfrm>
                  <a:off x="1152" y="3168"/>
                  <a:ext cx="0" cy="388"/>
                  <a:chOff x="1152" y="3168"/>
                  <a:chExt cx="0" cy="388"/>
                </a:xfrm>
              </p:grpSpPr>
              <p:sp>
                <p:nvSpPr>
                  <p:cNvPr id="289" name="Line 32"/>
                  <p:cNvSpPr>
                    <a:spLocks noChangeShapeType="1"/>
                  </p:cNvSpPr>
                  <p:nvPr/>
                </p:nvSpPr>
                <p:spPr bwMode="auto">
                  <a:xfrm>
                    <a:off x="1152" y="3168"/>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0" name="Line 33"/>
                  <p:cNvSpPr>
                    <a:spLocks noChangeShapeType="1"/>
                  </p:cNvSpPr>
                  <p:nvPr/>
                </p:nvSpPr>
                <p:spPr bwMode="auto">
                  <a:xfrm>
                    <a:off x="1152" y="3312"/>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91" name="Line 34"/>
                  <p:cNvSpPr>
                    <a:spLocks noChangeShapeType="1"/>
                  </p:cNvSpPr>
                  <p:nvPr/>
                </p:nvSpPr>
                <p:spPr bwMode="auto">
                  <a:xfrm>
                    <a:off x="1152" y="3456"/>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248" name="Line 35"/>
              <p:cNvSpPr>
                <a:spLocks noChangeShapeType="1"/>
              </p:cNvSpPr>
              <p:nvPr/>
            </p:nvSpPr>
            <p:spPr bwMode="auto">
              <a:xfrm>
                <a:off x="5054" y="989"/>
                <a:ext cx="14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49" name="Line 36"/>
              <p:cNvSpPr>
                <a:spLocks noChangeShapeType="1"/>
              </p:cNvSpPr>
              <p:nvPr/>
            </p:nvSpPr>
            <p:spPr bwMode="auto">
              <a:xfrm>
                <a:off x="5054" y="845"/>
                <a:ext cx="14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1" name="Line 37"/>
              <p:cNvSpPr>
                <a:spLocks noChangeShapeType="1"/>
              </p:cNvSpPr>
              <p:nvPr/>
            </p:nvSpPr>
            <p:spPr bwMode="auto">
              <a:xfrm flipV="1">
                <a:off x="5195" y="701"/>
                <a:ext cx="0"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2" name="Freeform 38"/>
              <p:cNvSpPr/>
              <p:nvPr/>
            </p:nvSpPr>
            <p:spPr bwMode="auto">
              <a:xfrm>
                <a:off x="5051" y="1133"/>
                <a:ext cx="144" cy="624"/>
              </a:xfrm>
              <a:custGeom>
                <a:avLst/>
                <a:gdLst>
                  <a:gd name="T0" fmla="*/ 0 w 96"/>
                  <a:gd name="T1" fmla="*/ 0 h 144"/>
                  <a:gd name="T2" fmla="*/ 96 w 96"/>
                  <a:gd name="T3" fmla="*/ 0 h 144"/>
                  <a:gd name="T4" fmla="*/ 96 w 96"/>
                  <a:gd name="T5" fmla="*/ 144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lnTo>
                      <a:pt x="96" y="0"/>
                    </a:lnTo>
                    <a:lnTo>
                      <a:pt x="96" y="14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Line 39"/>
              <p:cNvSpPr>
                <a:spLocks noChangeShapeType="1"/>
              </p:cNvSpPr>
              <p:nvPr/>
            </p:nvSpPr>
            <p:spPr bwMode="auto">
              <a:xfrm flipH="1">
                <a:off x="4822" y="863"/>
                <a:ext cx="12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54" name="Group 40"/>
              <p:cNvGrpSpPr/>
              <p:nvPr/>
            </p:nvGrpSpPr>
            <p:grpSpPr bwMode="auto">
              <a:xfrm>
                <a:off x="4934" y="1709"/>
                <a:ext cx="119" cy="388"/>
                <a:chOff x="1056" y="3168"/>
                <a:chExt cx="96" cy="388"/>
              </a:xfrm>
            </p:grpSpPr>
            <p:sp>
              <p:nvSpPr>
                <p:cNvPr id="282" name="Line 41"/>
                <p:cNvSpPr>
                  <a:spLocks noChangeShapeType="1"/>
                </p:cNvSpPr>
                <p:nvPr/>
              </p:nvSpPr>
              <p:spPr bwMode="auto">
                <a:xfrm>
                  <a:off x="1056" y="3242"/>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283" name="Group 42"/>
                <p:cNvGrpSpPr/>
                <p:nvPr/>
              </p:nvGrpSpPr>
              <p:grpSpPr bwMode="auto">
                <a:xfrm>
                  <a:off x="1152" y="3168"/>
                  <a:ext cx="0" cy="388"/>
                  <a:chOff x="1152" y="3168"/>
                  <a:chExt cx="0" cy="388"/>
                </a:xfrm>
              </p:grpSpPr>
              <p:sp>
                <p:nvSpPr>
                  <p:cNvPr id="284" name="Line 43"/>
                  <p:cNvSpPr>
                    <a:spLocks noChangeShapeType="1"/>
                  </p:cNvSpPr>
                  <p:nvPr/>
                </p:nvSpPr>
                <p:spPr bwMode="auto">
                  <a:xfrm>
                    <a:off x="1152" y="3168"/>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5" name="Line 44"/>
                  <p:cNvSpPr>
                    <a:spLocks noChangeShapeType="1"/>
                  </p:cNvSpPr>
                  <p:nvPr/>
                </p:nvSpPr>
                <p:spPr bwMode="auto">
                  <a:xfrm>
                    <a:off x="1152" y="3312"/>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86" name="Line 45"/>
                  <p:cNvSpPr>
                    <a:spLocks noChangeShapeType="1"/>
                  </p:cNvSpPr>
                  <p:nvPr/>
                </p:nvSpPr>
                <p:spPr bwMode="auto">
                  <a:xfrm>
                    <a:off x="1152" y="3456"/>
                    <a:ext cx="0"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sp>
            <p:nvSpPr>
              <p:cNvPr id="255" name="Line 46"/>
              <p:cNvSpPr>
                <a:spLocks noChangeShapeType="1"/>
              </p:cNvSpPr>
              <p:nvPr/>
            </p:nvSpPr>
            <p:spPr bwMode="auto">
              <a:xfrm>
                <a:off x="5053" y="1901"/>
                <a:ext cx="147" cy="0"/>
              </a:xfrm>
              <a:prstGeom prst="line">
                <a:avLst/>
              </a:prstGeom>
              <a:noFill/>
              <a:ln w="19050">
                <a:solidFill>
                  <a:srgbClr val="000000"/>
                </a:solidFill>
                <a:round/>
                <a:head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6" name="Line 47"/>
              <p:cNvSpPr>
                <a:spLocks noChangeShapeType="1"/>
              </p:cNvSpPr>
              <p:nvPr/>
            </p:nvSpPr>
            <p:spPr bwMode="auto">
              <a:xfrm>
                <a:off x="5053" y="1757"/>
                <a:ext cx="14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7" name="Line 48"/>
              <p:cNvSpPr>
                <a:spLocks noChangeShapeType="1"/>
              </p:cNvSpPr>
              <p:nvPr/>
            </p:nvSpPr>
            <p:spPr bwMode="auto">
              <a:xfrm flipV="1">
                <a:off x="5195" y="1901"/>
                <a:ext cx="0"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58" name="Freeform 49"/>
              <p:cNvSpPr/>
              <p:nvPr/>
            </p:nvSpPr>
            <p:spPr bwMode="auto">
              <a:xfrm>
                <a:off x="5067" y="2045"/>
                <a:ext cx="127" cy="336"/>
              </a:xfrm>
              <a:custGeom>
                <a:avLst/>
                <a:gdLst>
                  <a:gd name="T0" fmla="*/ 0 w 96"/>
                  <a:gd name="T1" fmla="*/ 0 h 144"/>
                  <a:gd name="T2" fmla="*/ 96 w 96"/>
                  <a:gd name="T3" fmla="*/ 0 h 144"/>
                  <a:gd name="T4" fmla="*/ 96 w 96"/>
                  <a:gd name="T5" fmla="*/ 144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lnTo>
                      <a:pt x="96" y="0"/>
                    </a:lnTo>
                    <a:lnTo>
                      <a:pt x="96" y="14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Line 50"/>
              <p:cNvSpPr>
                <a:spLocks noChangeShapeType="1"/>
              </p:cNvSpPr>
              <p:nvPr/>
            </p:nvSpPr>
            <p:spPr bwMode="auto">
              <a:xfrm flipH="1">
                <a:off x="4822" y="2015"/>
                <a:ext cx="11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0" name="Line 51"/>
              <p:cNvSpPr>
                <a:spLocks noChangeShapeType="1"/>
              </p:cNvSpPr>
              <p:nvPr/>
            </p:nvSpPr>
            <p:spPr bwMode="auto">
              <a:xfrm>
                <a:off x="4812" y="857"/>
                <a:ext cx="0" cy="11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1" name="Line 52"/>
              <p:cNvSpPr>
                <a:spLocks noChangeShapeType="1"/>
              </p:cNvSpPr>
              <p:nvPr/>
            </p:nvSpPr>
            <p:spPr bwMode="auto">
              <a:xfrm>
                <a:off x="5200" y="1421"/>
                <a:ext cx="23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2" name="Line 53"/>
              <p:cNvSpPr>
                <a:spLocks noChangeShapeType="1"/>
              </p:cNvSpPr>
              <p:nvPr/>
            </p:nvSpPr>
            <p:spPr bwMode="auto">
              <a:xfrm flipH="1">
                <a:off x="4521" y="1421"/>
                <a:ext cx="29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3" name="Oval 54"/>
              <p:cNvSpPr>
                <a:spLocks noChangeArrowheads="1"/>
              </p:cNvSpPr>
              <p:nvPr/>
            </p:nvSpPr>
            <p:spPr bwMode="auto">
              <a:xfrm>
                <a:off x="5163" y="1397"/>
                <a:ext cx="60"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4" name="Oval 55"/>
              <p:cNvSpPr>
                <a:spLocks noChangeArrowheads="1"/>
              </p:cNvSpPr>
              <p:nvPr/>
            </p:nvSpPr>
            <p:spPr bwMode="auto">
              <a:xfrm>
                <a:off x="4782" y="1397"/>
                <a:ext cx="60"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5" name="Text Box 56"/>
              <p:cNvSpPr txBox="1">
                <a:spLocks noChangeArrowheads="1"/>
              </p:cNvSpPr>
              <p:nvPr/>
            </p:nvSpPr>
            <p:spPr bwMode="auto">
              <a:xfrm>
                <a:off x="4807" y="500"/>
                <a:ext cx="26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6" name="Text Box 57"/>
              <p:cNvSpPr txBox="1">
                <a:spLocks noChangeArrowheads="1"/>
              </p:cNvSpPr>
              <p:nvPr/>
            </p:nvSpPr>
            <p:spPr bwMode="auto">
              <a:xfrm>
                <a:off x="4748" y="2084"/>
                <a:ext cx="26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7" name="Line 58"/>
              <p:cNvSpPr>
                <a:spLocks noChangeShapeType="1"/>
              </p:cNvSpPr>
              <p:nvPr/>
            </p:nvSpPr>
            <p:spPr bwMode="auto">
              <a:xfrm>
                <a:off x="5081" y="2381"/>
                <a:ext cx="24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68" name="Text Box 59"/>
              <p:cNvSpPr txBox="1">
                <a:spLocks noChangeArrowheads="1"/>
              </p:cNvSpPr>
              <p:nvPr/>
            </p:nvSpPr>
            <p:spPr bwMode="auto">
              <a:xfrm>
                <a:off x="4902" y="183"/>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9" name="Line 60"/>
              <p:cNvSpPr>
                <a:spLocks noChangeShapeType="1"/>
              </p:cNvSpPr>
              <p:nvPr/>
            </p:nvSpPr>
            <p:spPr bwMode="auto">
              <a:xfrm flipV="1">
                <a:off x="5200" y="509"/>
                <a:ext cx="0"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0" name="Oval 61"/>
              <p:cNvSpPr>
                <a:spLocks noChangeArrowheads="1"/>
              </p:cNvSpPr>
              <p:nvPr/>
            </p:nvSpPr>
            <p:spPr bwMode="auto">
              <a:xfrm>
                <a:off x="5171" y="821"/>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Oval 62"/>
              <p:cNvSpPr>
                <a:spLocks noChangeArrowheads="1"/>
              </p:cNvSpPr>
              <p:nvPr/>
            </p:nvSpPr>
            <p:spPr bwMode="auto">
              <a:xfrm>
                <a:off x="5171" y="2015"/>
                <a:ext cx="48" cy="48"/>
              </a:xfrm>
              <a:prstGeom prst="ellipse">
                <a:avLst/>
              </a:prstGeom>
              <a:solidFill>
                <a:srgbClr val="000000"/>
              </a:solidFill>
              <a:ln w="9525">
                <a:solidFill>
                  <a:srgbClr val="000000"/>
                </a:solidFill>
                <a:round/>
              </a:ln>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2" name="Text Box 63"/>
              <p:cNvSpPr txBox="1">
                <a:spLocks noChangeArrowheads="1"/>
              </p:cNvSpPr>
              <p:nvPr/>
            </p:nvSpPr>
            <p:spPr bwMode="auto">
              <a:xfrm>
                <a:off x="5040" y="2073"/>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S</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endPar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sp>
            <p:nvSpPr>
              <p:cNvPr id="273" name="Text Box 64"/>
              <p:cNvSpPr txBox="1">
                <a:spLocks noChangeArrowheads="1"/>
              </p:cNvSpPr>
              <p:nvPr/>
            </p:nvSpPr>
            <p:spPr bwMode="auto">
              <a:xfrm>
                <a:off x="5259" y="1268"/>
                <a:ext cx="5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4" name="Line 65"/>
              <p:cNvSpPr>
                <a:spLocks noChangeShapeType="1"/>
              </p:cNvSpPr>
              <p:nvPr/>
            </p:nvSpPr>
            <p:spPr bwMode="auto">
              <a:xfrm>
                <a:off x="5307" y="1037"/>
                <a:ext cx="0" cy="739"/>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5" name="Text Box 66"/>
              <p:cNvSpPr txBox="1">
                <a:spLocks noChangeArrowheads="1"/>
              </p:cNvSpPr>
              <p:nvPr/>
            </p:nvSpPr>
            <p:spPr bwMode="auto">
              <a:xfrm>
                <a:off x="5294" y="1046"/>
                <a:ext cx="38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200" b="1" i="1"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200" b="1" i="1" u="none" strike="noStrike" kern="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rPr>
                  <a:t>D</a:t>
                </a:r>
                <a:endParaRPr kumimoji="1" lang="en-US" altLang="zh-CN"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276" name="Text Box 67"/>
              <p:cNvSpPr txBox="1">
                <a:spLocks noChangeArrowheads="1"/>
              </p:cNvSpPr>
              <p:nvPr/>
            </p:nvSpPr>
            <p:spPr bwMode="auto">
              <a:xfrm>
                <a:off x="4276" y="1257"/>
                <a:ext cx="2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I</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7" name="Text Box 68"/>
              <p:cNvSpPr txBox="1">
                <a:spLocks noChangeArrowheads="1"/>
              </p:cNvSpPr>
              <p:nvPr/>
            </p:nvSpPr>
            <p:spPr bwMode="auto">
              <a:xfrm>
                <a:off x="5254" y="777"/>
                <a:ext cx="2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P</a:t>
                </a:r>
                <a:endPar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8" name="Text Box 69"/>
              <p:cNvSpPr txBox="1">
                <a:spLocks noChangeArrowheads="1"/>
              </p:cNvSpPr>
              <p:nvPr/>
            </p:nvSpPr>
            <p:spPr bwMode="auto">
              <a:xfrm>
                <a:off x="5244" y="1785"/>
                <a:ext cx="23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N</a:t>
                </a:r>
                <a:endParaRPr kumimoji="1" lang="en-US" altLang="zh-CN" sz="22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9" name="Text Box 70"/>
              <p:cNvSpPr txBox="1">
                <a:spLocks noChangeArrowheads="1"/>
              </p:cNvSpPr>
              <p:nvPr/>
            </p:nvSpPr>
            <p:spPr bwMode="auto">
              <a:xfrm>
                <a:off x="4508" y="777"/>
                <a:ext cx="2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0" name="Text Box 71"/>
              <p:cNvSpPr txBox="1">
                <a:spLocks noChangeArrowheads="1"/>
              </p:cNvSpPr>
              <p:nvPr/>
            </p:nvSpPr>
            <p:spPr bwMode="auto">
              <a:xfrm>
                <a:off x="5196" y="441"/>
                <a:ext cx="2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S</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1</a:t>
                </a:r>
                <a:endParaRPr kumimoji="1"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1" name="Text Box 72"/>
              <p:cNvSpPr txBox="1">
                <a:spLocks noChangeArrowheads="1"/>
              </p:cNvSpPr>
              <p:nvPr/>
            </p:nvSpPr>
            <p:spPr bwMode="auto">
              <a:xfrm>
                <a:off x="4523" y="1785"/>
                <a:ext cx="2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rPr>
                  <a:t>G</a:t>
                </a:r>
                <a:r>
                  <a:rPr kumimoji="1" lang="en-US" altLang="zh-CN" sz="2200" b="1" i="0" u="none" strike="noStrike" kern="0" cap="none" spc="0" normalizeH="0" baseline="-25000" noProof="0">
                    <a:ln>
                      <a:noFill/>
                    </a:ln>
                    <a:solidFill>
                      <a:srgbClr val="333399"/>
                    </a:solidFill>
                    <a:effectLst/>
                    <a:uLnTx/>
                    <a:uFillTx/>
                    <a:latin typeface="Times New Roman" panose="02020603050405020304" pitchFamily="18" charset="0"/>
                    <a:ea typeface="宋体" panose="02010600030101010101" pitchFamily="2" charset="-122"/>
                  </a:rPr>
                  <a:t>2</a:t>
                </a:r>
                <a:endParaRPr kumimoji="1" lang="en-US" altLang="zh-CN" sz="2200" b="1" i="0" u="none" strike="noStrike" kern="0" cap="none" spc="0" normalizeH="0" baseline="0" noProof="0">
                  <a:ln>
                    <a:noFill/>
                  </a:ln>
                  <a:solidFill>
                    <a:srgbClr val="333399"/>
                  </a:solidFill>
                  <a:effectLst/>
                  <a:uLnTx/>
                  <a:uFillTx/>
                  <a:latin typeface="Times New Roman" panose="02020603050405020304" pitchFamily="18" charset="0"/>
                  <a:ea typeface="宋体" panose="02010600030101010101" pitchFamily="2" charset="-122"/>
                </a:endParaRPr>
              </a:p>
            </p:txBody>
          </p:sp>
        </p:grpSp>
        <p:sp>
          <p:nvSpPr>
            <p:cNvPr id="246" name="Rectangle 73"/>
            <p:cNvSpPr>
              <a:spLocks noChangeArrowheads="1"/>
            </p:cNvSpPr>
            <p:nvPr/>
          </p:nvSpPr>
          <p:spPr bwMode="auto">
            <a:xfrm>
              <a:off x="3846" y="2323"/>
              <a:ext cx="38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200" b="1" i="1"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V</a:t>
              </a:r>
              <a:r>
                <a:rPr kumimoji="1" lang="en-US" altLang="zh-CN" sz="22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DD</a:t>
              </a:r>
              <a:endParaRPr kumimoji="1" lang="en-US" altLang="zh-CN" sz="2200" b="1"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wipe(left)">
                                      <p:cBhvr>
                                        <p:cTn id="7" dur="5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
                                        </p:tgtEl>
                                        <p:attrNameLst>
                                          <p:attrName>style.visibility</p:attrName>
                                        </p:attrNameLst>
                                      </p:cBhvr>
                                      <p:to>
                                        <p:strVal val="visible"/>
                                      </p:to>
                                    </p:set>
                                    <p:animEffect transition="in" filter="wipe(left)">
                                      <p:cBhvr>
                                        <p:cTn id="12" dur="500"/>
                                        <p:tgtEl>
                                          <p:spTgt spid="1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
                                        </p:tgtEl>
                                        <p:attrNameLst>
                                          <p:attrName>style.visibility</p:attrName>
                                        </p:attrNameLst>
                                      </p:cBhvr>
                                      <p:to>
                                        <p:strVal val="visible"/>
                                      </p:to>
                                    </p:set>
                                    <p:animEffect transition="in" filter="wipe(left)">
                                      <p:cBhvr>
                                        <p:cTn id="17" dur="500"/>
                                        <p:tgtEl>
                                          <p:spTgt spid="1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1"/>
                                        </p:tgtEl>
                                        <p:attrNameLst>
                                          <p:attrName>style.visibility</p:attrName>
                                        </p:attrNameLst>
                                      </p:cBhvr>
                                      <p:to>
                                        <p:strVal val="visible"/>
                                      </p:to>
                                    </p:set>
                                    <p:animEffect transition="in" filter="wipe(left)">
                                      <p:cBhvr>
                                        <p:cTn id="22" dur="500"/>
                                        <p:tgtEl>
                                          <p:spTgt spid="1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
                                        </p:tgtEl>
                                        <p:attrNameLst>
                                          <p:attrName>style.visibility</p:attrName>
                                        </p:attrNameLst>
                                      </p:cBhvr>
                                      <p:to>
                                        <p:strVal val="visible"/>
                                      </p:to>
                                    </p:set>
                                    <p:animEffect transition="in" filter="wipe(left)">
                                      <p:cBhvr>
                                        <p:cTn id="27" dur="500"/>
                                        <p:tgtEl>
                                          <p:spTgt spid="1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
                                        </p:tgtEl>
                                        <p:attrNameLst>
                                          <p:attrName>style.visibility</p:attrName>
                                        </p:attrNameLst>
                                      </p:cBhvr>
                                      <p:to>
                                        <p:strVal val="visible"/>
                                      </p:to>
                                    </p:set>
                                    <p:animEffect transition="in" filter="wipe(left)">
                                      <p:cBhvr>
                                        <p:cTn id="32" dur="500"/>
                                        <p:tgtEl>
                                          <p:spTgt spid="1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
                                        </p:tgtEl>
                                        <p:attrNameLst>
                                          <p:attrName>style.visibility</p:attrName>
                                        </p:attrNameLst>
                                      </p:cBhvr>
                                      <p:to>
                                        <p:strVal val="visible"/>
                                      </p:to>
                                    </p:set>
                                    <p:animEffect transition="in" filter="wipe(left)">
                                      <p:cBhvr>
                                        <p:cTn id="37" dur="500"/>
                                        <p:tgtEl>
                                          <p:spTgt spid="1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7"/>
                                        </p:tgtEl>
                                        <p:attrNameLst>
                                          <p:attrName>style.visibility</p:attrName>
                                        </p:attrNameLst>
                                      </p:cBhvr>
                                      <p:to>
                                        <p:strVal val="visible"/>
                                      </p:to>
                                    </p:set>
                                    <p:animEffect transition="in" filter="wipe(left)">
                                      <p:cBhvr>
                                        <p:cTn id="42" dur="500"/>
                                        <p:tgtEl>
                                          <p:spTgt spid="15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animBg="1"/>
      <p:bldP spid="153" grpId="0" animBg="1"/>
      <p:bldP spid="154" grpId="0" autoUpdateAnimBg="0"/>
      <p:bldP spid="155" grpId="0" autoUpdateAnimBg="0"/>
      <p:bldP spid="156" grpId="0" animBg="1"/>
      <p:bldP spid="157" grpId="0" autoUpdateAnimBg="0"/>
      <p:bldP spid="158"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1422797" y="619399"/>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淘宝网chenying0907出品 6"/>
          <p:cNvSpPr txBox="1"/>
          <p:nvPr/>
        </p:nvSpPr>
        <p:spPr>
          <a:xfrm>
            <a:off x="1549721" y="4826"/>
            <a:ext cx="7567705" cy="646331"/>
          </a:xfrm>
          <a:prstGeom prst="rect">
            <a:avLst/>
          </a:prstGeom>
          <a:noFill/>
        </p:spPr>
        <p:txBody>
          <a:bodyPr wrap="square" rtlCol="0">
            <a:spAutoFit/>
          </a:bodyPr>
          <a:lstStyle/>
          <a:p>
            <a:r>
              <a:rPr lang="zh-CN" altLang="en-US" sz="3600" b="1" dirty="0">
                <a:solidFill>
                  <a:schemeClr val="accent5">
                    <a:lumMod val="75000"/>
                  </a:schemeClr>
                </a:solidFill>
                <a:latin typeface="微软雅黑" panose="020B0503020204020204" pitchFamily="34" charset="-122"/>
                <a:ea typeface="微软雅黑" panose="020B0503020204020204" pitchFamily="34" charset="-122"/>
              </a:rPr>
              <a:t>作业</a:t>
            </a:r>
            <a:endParaRPr lang="zh-CN" altLang="en-US" sz="36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1"/>
          <a:stretch>
            <a:fillRect/>
          </a:stretch>
        </p:blipFill>
        <p:spPr>
          <a:xfrm>
            <a:off x="-12370" y="0"/>
            <a:ext cx="1435167" cy="619399"/>
          </a:xfrm>
          <a:prstGeom prst="rect">
            <a:avLst/>
          </a:prstGeom>
        </p:spPr>
      </p:pic>
      <p:sp>
        <p:nvSpPr>
          <p:cNvPr id="2" name="文本框 1"/>
          <p:cNvSpPr txBox="1"/>
          <p:nvPr/>
        </p:nvSpPr>
        <p:spPr bwMode="auto">
          <a:xfrm>
            <a:off x="1422797" y="2336292"/>
            <a:ext cx="5939028" cy="1050290"/>
          </a:xfrm>
          <a:prstGeom prst="rect">
            <a:avLst/>
          </a:prstGeom>
          <a:noFill/>
          <a:ln>
            <a:noFill/>
          </a:ln>
        </p:spPr>
        <p:txBody>
          <a:bodyPr wrap="square" rtlCol="0">
            <a:spAutoFit/>
          </a:bodyPr>
          <a:lstStyle/>
          <a:p>
            <a:pPr marL="0" marR="0" indent="0" defTabSz="914400" eaLnBrk="1" fontAlgn="base" latinLnBrk="0" hangingPunct="1">
              <a:lnSpc>
                <a:spcPct val="130000"/>
              </a:lnSpc>
              <a:spcBef>
                <a:spcPct val="0"/>
              </a:spcBef>
              <a:spcAft>
                <a:spcPct val="0"/>
              </a:spcAft>
              <a:buClrTx/>
              <a:buSzTx/>
              <a:buFontTx/>
              <a:buNone/>
            </a:pPr>
            <a:r>
              <a:rPr kumimoji="1" 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作业：</a:t>
            </a:r>
            <a:endParaRPr kumimoji="1" 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indent="0" defTabSz="914400" eaLnBrk="1" fontAlgn="base" latinLnBrk="0" hangingPunct="1">
              <a:lnSpc>
                <a:spcPct val="130000"/>
              </a:lnSpc>
              <a:spcBef>
                <a:spcPct val="0"/>
              </a:spcBef>
              <a:spcAft>
                <a:spcPct val="0"/>
              </a:spcAft>
              <a:buClrTx/>
              <a:buSzTx/>
              <a:buFontTx/>
              <a:buNone/>
            </a:pPr>
            <a:r>
              <a:rPr kumimoji="1" lang="zh-CN" altLang="en-US" sz="2400" b="1" kern="0" dirty="0">
                <a:solidFill>
                  <a:srgbClr val="000000"/>
                </a:solidFill>
                <a:latin typeface="Times New Roman" panose="02020603050405020304" pitchFamily="18" charset="0"/>
                <a:ea typeface="宋体" panose="02010600030101010101" pitchFamily="2" charset="-122"/>
              </a:rPr>
              <a:t>    </a:t>
            </a:r>
            <a:r>
              <a:rPr kumimoji="1" lang="en-US" sz="2400" b="1" kern="0" dirty="0">
                <a:solidFill>
                  <a:srgbClr val="000000"/>
                </a:solidFill>
                <a:latin typeface="Times New Roman" panose="02020603050405020304" pitchFamily="18" charset="0"/>
                <a:ea typeface="宋体" panose="02010600030101010101" pitchFamily="2" charset="-122"/>
              </a:rPr>
              <a:t>2.21</a:t>
            </a:r>
            <a:endParaRPr kumimoji="1" 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 name="矩形 26"/>
          <p:cNvSpPr/>
          <p:nvPr/>
        </p:nvSpPr>
        <p:spPr>
          <a:xfrm>
            <a:off x="6640592" y="4194737"/>
            <a:ext cx="581352" cy="353943"/>
          </a:xfrm>
          <a:prstGeom prst="rect">
            <a:avLst/>
          </a:prstGeom>
        </p:spPr>
        <p:txBody>
          <a:bodyPr wrap="square">
            <a:spAutoFit/>
          </a:bodyPr>
          <a:lstStyle/>
          <a:p>
            <a:pPr defTabSz="685800">
              <a:defRPr/>
            </a:pPr>
            <a:r>
              <a:rPr lang="en-US" altLang="zh-CN" sz="100" kern="0" dirty="0">
                <a:solidFill>
                  <a:prstClr val="white"/>
                </a:solidFill>
              </a:rPr>
              <a:t>PPT</a:t>
            </a:r>
            <a:r>
              <a:rPr lang="zh-CN" altLang="en-US" sz="100" kern="0" dirty="0">
                <a:solidFill>
                  <a:prstClr val="white"/>
                </a:solidFill>
              </a:rPr>
              <a:t>模板下载：</a:t>
            </a:r>
            <a:r>
              <a:rPr lang="en-US" altLang="zh-CN" sz="100" kern="0" dirty="0">
                <a:solidFill>
                  <a:prstClr val="white"/>
                </a:solidFill>
              </a:rPr>
              <a:t>www.1ppt.com/moban/     </a:t>
            </a:r>
            <a:r>
              <a:rPr lang="zh-CN" altLang="en-US" sz="100" kern="0" dirty="0">
                <a:solidFill>
                  <a:prstClr val="white"/>
                </a:solidFill>
              </a:rPr>
              <a:t>行业</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www.1ppt.com/hangye/ </a:t>
            </a:r>
            <a:endParaRPr lang="en-US" altLang="zh-CN" sz="100" kern="0" dirty="0">
              <a:solidFill>
                <a:prstClr val="white"/>
              </a:solidFill>
            </a:endParaRPr>
          </a:p>
          <a:p>
            <a:pPr defTabSz="685800">
              <a:defRPr/>
            </a:pPr>
            <a:r>
              <a:rPr lang="zh-CN" altLang="en-US" sz="100" kern="0" dirty="0">
                <a:solidFill>
                  <a:prstClr val="white"/>
                </a:solidFill>
              </a:rPr>
              <a:t>节日</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www.1ppt.com/jieri/           PPT</a:t>
            </a:r>
            <a:r>
              <a:rPr lang="zh-CN" altLang="en-US" sz="100" kern="0" dirty="0">
                <a:solidFill>
                  <a:prstClr val="white"/>
                </a:solidFill>
              </a:rPr>
              <a:t>素材下载：</a:t>
            </a:r>
            <a:r>
              <a:rPr lang="en-US" altLang="zh-CN" sz="100" kern="0" dirty="0">
                <a:solidFill>
                  <a:prstClr val="white"/>
                </a:solidFill>
              </a:rPr>
              <a:t>www.1ppt.com/sucai/</a:t>
            </a:r>
            <a:endParaRPr lang="en-US" altLang="zh-CN" sz="100" kern="0" dirty="0">
              <a:solidFill>
                <a:prstClr val="white"/>
              </a:solidFill>
            </a:endParaRPr>
          </a:p>
          <a:p>
            <a:pPr defTabSz="685800">
              <a:defRPr/>
            </a:pPr>
            <a:r>
              <a:rPr lang="en-US" altLang="zh-CN" sz="100" kern="0" dirty="0">
                <a:solidFill>
                  <a:prstClr val="white"/>
                </a:solidFill>
              </a:rPr>
              <a:t>PPT</a:t>
            </a:r>
            <a:r>
              <a:rPr lang="zh-CN" altLang="en-US" sz="100" kern="0" dirty="0">
                <a:solidFill>
                  <a:prstClr val="white"/>
                </a:solidFill>
              </a:rPr>
              <a:t>背景图片：</a:t>
            </a:r>
            <a:r>
              <a:rPr lang="en-US" altLang="zh-CN" sz="100" kern="0" dirty="0">
                <a:solidFill>
                  <a:prstClr val="white"/>
                </a:solidFill>
              </a:rPr>
              <a:t>www.1ppt.com/beijing/      PPT</a:t>
            </a:r>
            <a:r>
              <a:rPr lang="zh-CN" altLang="en-US" sz="100" kern="0" dirty="0">
                <a:solidFill>
                  <a:prstClr val="white"/>
                </a:solidFill>
              </a:rPr>
              <a:t>图表下载：</a:t>
            </a:r>
            <a:r>
              <a:rPr lang="en-US" altLang="zh-CN" sz="100" kern="0" dirty="0">
                <a:solidFill>
                  <a:prstClr val="white"/>
                </a:solidFill>
              </a:rPr>
              <a:t>www.1ppt.com/tubiao/      </a:t>
            </a:r>
            <a:endParaRPr lang="en-US" altLang="zh-CN" sz="100" kern="0" dirty="0">
              <a:solidFill>
                <a:prstClr val="white"/>
              </a:solidFill>
            </a:endParaRPr>
          </a:p>
          <a:p>
            <a:pPr defTabSz="685800">
              <a:defRPr/>
            </a:pPr>
            <a:r>
              <a:rPr lang="zh-CN" altLang="en-US" sz="100" kern="0" dirty="0">
                <a:solidFill>
                  <a:prstClr val="white"/>
                </a:solidFill>
              </a:rPr>
              <a:t>优秀</a:t>
            </a:r>
            <a:r>
              <a:rPr lang="en-US" altLang="zh-CN" sz="100" kern="0" dirty="0">
                <a:solidFill>
                  <a:prstClr val="white"/>
                </a:solidFill>
              </a:rPr>
              <a:t>PPT</a:t>
            </a:r>
            <a:r>
              <a:rPr lang="zh-CN" altLang="en-US" sz="100" kern="0" dirty="0">
                <a:solidFill>
                  <a:prstClr val="white"/>
                </a:solidFill>
              </a:rPr>
              <a:t>下载：</a:t>
            </a:r>
            <a:r>
              <a:rPr lang="en-US" altLang="zh-CN" sz="100" kern="0" dirty="0">
                <a:solidFill>
                  <a:prstClr val="white"/>
                </a:solidFill>
              </a:rPr>
              <a:t>www.1ppt.com/xiazai/        PPT</a:t>
            </a:r>
            <a:r>
              <a:rPr lang="zh-CN" altLang="en-US" sz="100" kern="0" dirty="0">
                <a:solidFill>
                  <a:prstClr val="white"/>
                </a:solidFill>
              </a:rPr>
              <a:t>教程： </a:t>
            </a:r>
            <a:r>
              <a:rPr lang="en-US" altLang="zh-CN" sz="100" kern="0" dirty="0">
                <a:solidFill>
                  <a:prstClr val="white"/>
                </a:solidFill>
              </a:rPr>
              <a:t>www.1ppt.com/powerpoint/      </a:t>
            </a:r>
            <a:endParaRPr lang="en-US" altLang="zh-CN" sz="100" kern="0" dirty="0">
              <a:solidFill>
                <a:prstClr val="white"/>
              </a:solidFill>
            </a:endParaRPr>
          </a:p>
          <a:p>
            <a:pPr defTabSz="685800">
              <a:defRPr/>
            </a:pPr>
            <a:r>
              <a:rPr lang="en-US" altLang="zh-CN" sz="100" kern="0" dirty="0">
                <a:solidFill>
                  <a:prstClr val="white"/>
                </a:solidFill>
              </a:rPr>
              <a:t>Word</a:t>
            </a:r>
            <a:r>
              <a:rPr lang="zh-CN" altLang="en-US" sz="100" kern="0" dirty="0">
                <a:solidFill>
                  <a:prstClr val="white"/>
                </a:solidFill>
              </a:rPr>
              <a:t>教程： </a:t>
            </a:r>
            <a:r>
              <a:rPr lang="en-US" altLang="zh-CN" sz="100" kern="0" dirty="0">
                <a:solidFill>
                  <a:prstClr val="white"/>
                </a:solidFill>
              </a:rPr>
              <a:t>www.1ppt.com/word/              Excel</a:t>
            </a:r>
            <a:r>
              <a:rPr lang="zh-CN" altLang="en-US" sz="100" kern="0" dirty="0">
                <a:solidFill>
                  <a:prstClr val="white"/>
                </a:solidFill>
              </a:rPr>
              <a:t>教程：</a:t>
            </a:r>
            <a:r>
              <a:rPr lang="en-US" altLang="zh-CN" sz="100" kern="0" dirty="0">
                <a:solidFill>
                  <a:prstClr val="white"/>
                </a:solidFill>
              </a:rPr>
              <a:t>www.1ppt.com/excel/  </a:t>
            </a:r>
            <a:endParaRPr lang="en-US" altLang="zh-CN" sz="100" kern="0" dirty="0">
              <a:solidFill>
                <a:prstClr val="white"/>
              </a:solidFill>
            </a:endParaRPr>
          </a:p>
          <a:p>
            <a:pPr defTabSz="685800">
              <a:defRPr/>
            </a:pPr>
            <a:r>
              <a:rPr lang="zh-CN" altLang="en-US" sz="100" kern="0" dirty="0">
                <a:solidFill>
                  <a:prstClr val="white"/>
                </a:solidFill>
              </a:rPr>
              <a:t>资料下载：</a:t>
            </a:r>
            <a:r>
              <a:rPr lang="en-US" altLang="zh-CN" sz="100" kern="0" dirty="0">
                <a:solidFill>
                  <a:prstClr val="white"/>
                </a:solidFill>
              </a:rPr>
              <a:t>www.1ppt.com/ziliao/                PPT</a:t>
            </a:r>
            <a:r>
              <a:rPr lang="zh-CN" altLang="en-US" sz="100" kern="0" dirty="0">
                <a:solidFill>
                  <a:prstClr val="white"/>
                </a:solidFill>
              </a:rPr>
              <a:t>课件下载：</a:t>
            </a:r>
            <a:r>
              <a:rPr lang="en-US" altLang="zh-CN" sz="100" kern="0" dirty="0">
                <a:solidFill>
                  <a:prstClr val="white"/>
                </a:solidFill>
              </a:rPr>
              <a:t>www.1ppt.com/kejian/ </a:t>
            </a:r>
            <a:endParaRPr lang="en-US" altLang="zh-CN" sz="100" kern="0" dirty="0">
              <a:solidFill>
                <a:prstClr val="white"/>
              </a:solidFill>
            </a:endParaRPr>
          </a:p>
          <a:p>
            <a:pPr defTabSz="685800">
              <a:defRPr/>
            </a:pPr>
            <a:r>
              <a:rPr lang="zh-CN" altLang="en-US" sz="100" kern="0" dirty="0">
                <a:solidFill>
                  <a:prstClr val="white"/>
                </a:solidFill>
              </a:rPr>
              <a:t>范文下载：</a:t>
            </a:r>
            <a:r>
              <a:rPr lang="en-US" altLang="zh-CN" sz="100" kern="0" dirty="0">
                <a:solidFill>
                  <a:prstClr val="white"/>
                </a:solidFill>
              </a:rPr>
              <a:t>www.1ppt.com/fanwen/             </a:t>
            </a:r>
            <a:r>
              <a:rPr lang="zh-CN" altLang="en-US" sz="100" kern="0" dirty="0">
                <a:solidFill>
                  <a:prstClr val="white"/>
                </a:solidFill>
              </a:rPr>
              <a:t>试卷下载：</a:t>
            </a:r>
            <a:r>
              <a:rPr lang="en-US" altLang="zh-CN" sz="100" kern="0" dirty="0">
                <a:solidFill>
                  <a:prstClr val="white"/>
                </a:solidFill>
              </a:rPr>
              <a:t>www.1ppt.com/shiti/  </a:t>
            </a:r>
            <a:endParaRPr lang="en-US" altLang="zh-CN" sz="100" kern="0" dirty="0">
              <a:solidFill>
                <a:prstClr val="white"/>
              </a:solidFill>
            </a:endParaRPr>
          </a:p>
          <a:p>
            <a:pPr defTabSz="685800">
              <a:defRPr/>
            </a:pPr>
            <a:r>
              <a:rPr lang="zh-CN" altLang="en-US" sz="100" kern="0" dirty="0">
                <a:solidFill>
                  <a:prstClr val="white"/>
                </a:solidFill>
              </a:rPr>
              <a:t>教案下载：</a:t>
            </a:r>
            <a:r>
              <a:rPr lang="en-US" altLang="zh-CN" sz="100" kern="0" dirty="0">
                <a:solidFill>
                  <a:prstClr val="white"/>
                </a:solidFill>
              </a:rPr>
              <a:t>www.1ppt.com/jiaoan/        </a:t>
            </a:r>
            <a:endParaRPr lang="en-US" altLang="zh-CN" sz="100" kern="0" dirty="0">
              <a:solidFill>
                <a:prstClr val="white"/>
              </a:solidFill>
            </a:endParaRPr>
          </a:p>
          <a:p>
            <a:pPr defTabSz="685800">
              <a:defRPr/>
            </a:pPr>
            <a:r>
              <a:rPr lang="zh-CN" altLang="en-US" sz="100" kern="0" dirty="0">
                <a:solidFill>
                  <a:prstClr val="white"/>
                </a:solidFill>
              </a:rPr>
              <a:t>字体下载：</a:t>
            </a:r>
            <a:r>
              <a:rPr lang="en-US" altLang="zh-CN" sz="100" kern="0" dirty="0">
                <a:solidFill>
                  <a:prstClr val="white"/>
                </a:solidFill>
              </a:rPr>
              <a:t>www.1ppt.com/ziti/</a:t>
            </a:r>
            <a:endParaRPr lang="en-US" altLang="zh-CN" sz="100" kern="0" dirty="0">
              <a:solidFill>
                <a:prstClr val="white"/>
              </a:solidFill>
            </a:endParaRPr>
          </a:p>
          <a:p>
            <a:pPr defTabSz="685800">
              <a:defRPr/>
            </a:pPr>
            <a:r>
              <a:rPr lang="en-US" altLang="zh-CN" sz="100" kern="0" dirty="0">
                <a:solidFill>
                  <a:prstClr val="white"/>
                </a:solidFill>
              </a:rPr>
              <a:t> </a:t>
            </a:r>
            <a:endParaRPr lang="zh-CN" altLang="en-US" sz="100" kern="0" dirty="0">
              <a:solidFill>
                <a:prstClr val="white"/>
              </a:solidFill>
            </a:endParaRPr>
          </a:p>
        </p:txBody>
      </p:sp>
      <p:sp>
        <p:nvSpPr>
          <p:cNvPr id="4" name="淘宝网chenying0907出品 3"/>
          <p:cNvSpPr/>
          <p:nvPr/>
        </p:nvSpPr>
        <p:spPr>
          <a:xfrm>
            <a:off x="0" y="2836879"/>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淘宝网chenying0907出品 4"/>
          <p:cNvSpPr/>
          <p:nvPr/>
        </p:nvSpPr>
        <p:spPr>
          <a:xfrm>
            <a:off x="5791593" y="2836879"/>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淘宝网chenying0907出品 7"/>
          <p:cNvSpPr/>
          <p:nvPr/>
        </p:nvSpPr>
        <p:spPr>
          <a:xfrm>
            <a:off x="6046706" y="3246665"/>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nvCxnSpPr>
        <p:spPr>
          <a:xfrm>
            <a:off x="6024907" y="4745807"/>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淘宝网chenying0907出品 10"/>
          <p:cNvSpPr/>
          <p:nvPr/>
        </p:nvSpPr>
        <p:spPr>
          <a:xfrm>
            <a:off x="6350718"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淘宝网chenying0907出品 11"/>
          <p:cNvSpPr/>
          <p:nvPr/>
        </p:nvSpPr>
        <p:spPr>
          <a:xfrm>
            <a:off x="6676528"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淘宝网chenying0907出品 12"/>
          <p:cNvSpPr/>
          <p:nvPr/>
        </p:nvSpPr>
        <p:spPr>
          <a:xfrm>
            <a:off x="6980540" y="3327665"/>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淘宝网chenying0907出品 13"/>
          <p:cNvSpPr/>
          <p:nvPr/>
        </p:nvSpPr>
        <p:spPr>
          <a:xfrm>
            <a:off x="7284552" y="3354665"/>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淘宝网chenying0907出品 14"/>
          <p:cNvSpPr/>
          <p:nvPr/>
        </p:nvSpPr>
        <p:spPr>
          <a:xfrm>
            <a:off x="7601497" y="3381665"/>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淘宝网chenying0907出品 15"/>
          <p:cNvSpPr/>
          <p:nvPr/>
        </p:nvSpPr>
        <p:spPr>
          <a:xfrm rot="20959521">
            <a:off x="8008894" y="3420032"/>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淘宝网chenying0907出品 16"/>
          <p:cNvSpPr/>
          <p:nvPr/>
        </p:nvSpPr>
        <p:spPr>
          <a:xfrm rot="19779136">
            <a:off x="8519312" y="3451229"/>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nvCxnSpPr>
        <p:spPr>
          <a:xfrm>
            <a:off x="233314" y="474580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33314" y="285101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33313" y="419551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淘宝网chenying0907出品 21"/>
          <p:cNvSpPr txBox="1"/>
          <p:nvPr/>
        </p:nvSpPr>
        <p:spPr>
          <a:xfrm>
            <a:off x="1550954" y="3076800"/>
            <a:ext cx="2882747" cy="923330"/>
          </a:xfrm>
          <a:prstGeom prst="rect">
            <a:avLst/>
          </a:prstGeom>
          <a:noFill/>
        </p:spPr>
        <p:txBody>
          <a:bodyPr wrap="square" rtlCol="0">
            <a:spAutoFit/>
          </a:bodyPr>
          <a:lstStyle/>
          <a:p>
            <a:r>
              <a:rPr lang="zh-CN" altLang="en-US" sz="5400" b="1" dirty="0">
                <a:solidFill>
                  <a:schemeClr val="accent1">
                    <a:lumMod val="50000"/>
                  </a:schemeClr>
                </a:solidFill>
                <a:latin typeface="微软雅黑" panose="020B0503020204020204" pitchFamily="34" charset="-122"/>
                <a:ea typeface="微软雅黑" panose="020B0503020204020204" pitchFamily="34" charset="-122"/>
              </a:rPr>
              <a:t>谢谢！</a:t>
            </a:r>
            <a:endParaRPr lang="zh-CN" altLang="en-US" sz="54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3" name="淘宝网chenying0907出品 22"/>
          <p:cNvSpPr txBox="1"/>
          <p:nvPr/>
        </p:nvSpPr>
        <p:spPr>
          <a:xfrm>
            <a:off x="651867" y="4297537"/>
            <a:ext cx="1824086"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24" name="淘宝网chenying0907出品 23"/>
          <p:cNvSpPr txBox="1"/>
          <p:nvPr/>
        </p:nvSpPr>
        <p:spPr>
          <a:xfrm>
            <a:off x="2871046" y="4297537"/>
            <a:ext cx="2712050" cy="368300"/>
          </a:xfrm>
          <a:prstGeom prst="rect">
            <a:avLst/>
          </a:prstGeom>
          <a:noFill/>
        </p:spPr>
        <p:txBody>
          <a:bodyPr wrap="square" rtlCol="0">
            <a:spAutoFit/>
          </a:bodyPr>
          <a:lstStyle/>
          <a:p>
            <a:fld id="{BB962C8B-B14F-4D97-AF65-F5344CB8AC3E}" type="datetime1">
              <a:rPr lang="zh-CN" altLang="zh-CN" b="1" dirty="0">
                <a:latin typeface="微软雅黑" panose="020B0503020204020204" pitchFamily="34" charset="-122"/>
                <a:ea typeface="微软雅黑" panose="020B0503020204020204" pitchFamily="34" charset="-122"/>
              </a:rPr>
            </a:fld>
            <a:endParaRPr lang="zh-CN" altLang="zh-CN" b="1" dirty="0">
              <a:latin typeface="微软雅黑" panose="020B0503020204020204" pitchFamily="34" charset="-122"/>
              <a:ea typeface="微软雅黑" panose="020B0503020204020204" pitchFamily="34" charset="-122"/>
            </a:endParaRPr>
          </a:p>
        </p:txBody>
      </p:sp>
      <p:sp>
        <p:nvSpPr>
          <p:cNvPr id="26" name="淘宝网chenying0907出品 25"/>
          <p:cNvSpPr txBox="1"/>
          <p:nvPr/>
        </p:nvSpPr>
        <p:spPr>
          <a:xfrm>
            <a:off x="920434" y="464285"/>
            <a:ext cx="2085680" cy="646331"/>
          </a:xfrm>
          <a:prstGeom prst="rect">
            <a:avLst/>
          </a:prstGeom>
          <a:noFill/>
        </p:spPr>
        <p:txBody>
          <a:bodyPr wrap="square" rtlCol="0">
            <a:spAutoFit/>
          </a:bodyPr>
          <a:lstStyle/>
          <a:p>
            <a:pPr algn="ctr"/>
            <a:r>
              <a:rPr lang="zh-CN" altLang="en-US" b="1" dirty="0">
                <a:latin typeface="华文行楷" panose="02010800040101010101" pitchFamily="2" charset="-122"/>
                <a:ea typeface="华文行楷" panose="02010800040101010101" pitchFamily="2" charset="-122"/>
              </a:rPr>
              <a:t>武汉大学</a:t>
            </a:r>
            <a:endParaRPr lang="en-US" altLang="zh-CN" b="1" dirty="0">
              <a:latin typeface="华文行楷" panose="02010800040101010101" pitchFamily="2" charset="-122"/>
              <a:ea typeface="华文行楷" panose="02010800040101010101" pitchFamily="2" charset="-122"/>
            </a:endParaRPr>
          </a:p>
          <a:p>
            <a:r>
              <a:rPr lang="en-US" altLang="zh-CN" b="1" dirty="0">
                <a:latin typeface="华文行楷" panose="02010800040101010101" pitchFamily="2" charset="-122"/>
                <a:ea typeface="华文行楷" panose="02010800040101010101" pitchFamily="2" charset="-122"/>
              </a:rPr>
              <a:t>    Wuhan University</a:t>
            </a:r>
            <a:endParaRPr lang="zh-CN" altLang="en-US" b="1" dirty="0">
              <a:latin typeface="华文行楷" panose="02010800040101010101" pitchFamily="2" charset="-122"/>
              <a:ea typeface="华文行楷" panose="02010800040101010101" pitchFamily="2" charset="-122"/>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98400"/>
            <a:ext cx="920433" cy="920433"/>
          </a:xfrm>
          <a:prstGeom prst="rect">
            <a:avLst/>
          </a:prstGeom>
        </p:spPr>
      </p:pic>
    </p:spTree>
  </p:cSld>
  <p:clrMapOvr>
    <a:masterClrMapping/>
  </p:clrMapOvr>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PA" val="v3.0.1"/>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ags/tag9.xml><?xml version="1.0" encoding="utf-8"?>
<p:tagLst xmlns:p="http://schemas.openxmlformats.org/presentationml/2006/main">
  <p:tag name="PA" val="v3.0.1"/>
</p:tagLst>
</file>

<file path=ppt/tags/tag10.xml><?xml version="1.0" encoding="utf-8"?>
<p:tagLst xmlns:p="http://schemas.openxmlformats.org/presentationml/2006/main">
  <p:tag name="PA" val="v3.0.1"/>
</p:tagLst>
</file>

<file path=ppt/tags/tag11.xml><?xml version="1.0" encoding="utf-8"?>
<p:tagLst xmlns:p="http://schemas.openxmlformats.org/presentationml/2006/main">
  <p:tag name="PA" val="v3.0.1"/>
</p:tagLst>
</file>

<file path=ppt/tags/tag12.xml><?xml version="1.0" encoding="utf-8"?>
<p:tagLst xmlns:p="http://schemas.openxmlformats.org/presentationml/2006/main">
  <p:tag name="PA" val="v3.0.1"/>
</p:tagLst>
</file>

<file path=ppt/tags/tag13.xml><?xml version="1.0" encoding="utf-8"?>
<p:tagLst xmlns:p="http://schemas.openxmlformats.org/presentationml/2006/main">
  <p:tag name="PA" val="v3.0.1"/>
</p:tagLst>
</file>

<file path=ppt/tags/tag14.xml><?xml version="1.0" encoding="utf-8"?>
<p:tagLst xmlns:p="http://schemas.openxmlformats.org/presentationml/2006/main">
  <p:tag name="PA" val="v3.0.1"/>
</p:tagLst>
</file>

<file path=ppt/tags/tag15.xml><?xml version="1.0" encoding="utf-8"?>
<p:tagLst xmlns:p="http://schemas.openxmlformats.org/presentationml/2006/main">
  <p:tag name="PA" val="v3.0.1"/>
</p:tagLst>
</file>

<file path=ppt/tags/tag16.xml><?xml version="1.0" encoding="utf-8"?>
<p:tagLst xmlns:p="http://schemas.openxmlformats.org/presentationml/2006/main">
  <p:tag name="PA" val="v3.0.1"/>
</p:tagLst>
</file>

<file path=ppt/tags/tag17.xml><?xml version="1.0" encoding="utf-8"?>
<p:tagLst xmlns:p="http://schemas.openxmlformats.org/presentationml/2006/main">
  <p:tag name="PA" val="v3.0.1"/>
</p:tagLst>
</file>

<file path=ppt/tags/tag18.xml><?xml version="1.0" encoding="utf-8"?>
<p:tagLst xmlns:p="http://schemas.openxmlformats.org/presentationml/2006/main">
  <p:tag name="PA" val="v3.0.1"/>
</p:tagLst>
</file>

<file path=ppt/tags/tag19.xml><?xml version="1.0" encoding="utf-8"?>
<p:tagLst xmlns:p="http://schemas.openxmlformats.org/presentationml/2006/main">
  <p:tag name="ISPRING_PRESENTATION_TITLE" val="PowerPoint 演示文稿3"/>
  <p:tag name="commondata" val="eyJoZGlkIjoiNDg3NzM1Mjc0YTM1YzBmZTFmNzkyMmIyZjRlNzBlMDQifQ=="/>
</p:tagLst>
</file>

<file path=ppt/theme/theme1.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gradFill rotWithShape="0">
          <a:gsLst>
            <a:gs pos="0">
              <a:srgbClr val="FFFFCC"/>
            </a:gs>
            <a:gs pos="100000">
              <a:srgbClr val="FFCCFF"/>
            </a:gs>
          </a:gsLst>
          <a:lin ang="5400000" scaled="1"/>
        </a:gradFill>
        <a:ln>
          <a:noFill/>
        </a:ln>
      </a:spPr>
      <a:bodyPr>
        <a:spAutoFit/>
      </a:bodyPr>
      <a:lstStyle>
        <a:defPPr marL="0" marR="0" indent="0" defTabSz="914400" eaLnBrk="1" fontAlgn="base" latinLnBrk="0" hangingPunct="1">
          <a:lnSpc>
            <a:spcPct val="130000"/>
          </a:lnSpc>
          <a:spcBef>
            <a:spcPct val="0"/>
          </a:spcBef>
          <a:spcAft>
            <a:spcPct val="0"/>
          </a:spcAft>
          <a:buClrTx/>
          <a:buSzTx/>
          <a:buFontTx/>
          <a:buNone/>
          <a:defRPr kumimoji="1" sz="24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4905</Words>
  <Application>WPS 演示</Application>
  <PresentationFormat>全屏显示(4:3)</PresentationFormat>
  <Paragraphs>1145</Paragraphs>
  <Slides>38</Slides>
  <Notes>43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15</vt:i4>
      </vt:variant>
      <vt:variant>
        <vt:lpstr>幻灯片标题</vt:lpstr>
      </vt:variant>
      <vt:variant>
        <vt:i4>38</vt:i4>
      </vt:variant>
    </vt:vector>
  </HeadingPairs>
  <TitlesOfParts>
    <vt:vector size="70" baseType="lpstr">
      <vt:lpstr>Arial</vt:lpstr>
      <vt:lpstr>宋体</vt:lpstr>
      <vt:lpstr>Wingdings</vt:lpstr>
      <vt:lpstr>Times New Roman</vt:lpstr>
      <vt:lpstr>微软雅黑</vt:lpstr>
      <vt:lpstr>华文行楷</vt:lpstr>
      <vt:lpstr>黑体</vt:lpstr>
      <vt:lpstr>Calibri</vt:lpstr>
      <vt:lpstr>长城楷体</vt:lpstr>
      <vt:lpstr>Arial Unicode MS</vt:lpstr>
      <vt:lpstr>Calibri Light</vt:lpstr>
      <vt:lpstr>楷体_GB2312</vt:lpstr>
      <vt:lpstr>新宋体</vt:lpstr>
      <vt:lpstr>Symbol</vt:lpstr>
      <vt:lpstr>Arial</vt:lpstr>
      <vt:lpstr>Ebrima</vt:lpstr>
      <vt:lpstr>第一PPT，www.1ppt.com</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公开课开题报告</dc:title>
  <dc:creator>第一PPT模板网-WWW.1PPT.COM</dc:creator>
  <cp:keywords>第一PPT模板网-WWW.1PPT.COM</cp:keywords>
  <cp:lastModifiedBy>刘树波</cp:lastModifiedBy>
  <cp:revision>1490</cp:revision>
  <dcterms:created xsi:type="dcterms:W3CDTF">2016-04-09T13:02:00Z</dcterms:created>
  <dcterms:modified xsi:type="dcterms:W3CDTF">2024-03-06T02:47:10Z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02B12AE4ED9D4DDCABD0E5BC86123952_12</vt:lpwstr>
  </property>
</Properties>
</file>