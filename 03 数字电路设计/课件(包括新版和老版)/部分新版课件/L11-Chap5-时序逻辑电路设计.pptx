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33" r:id="rId3"/>
    <p:sldId id="674" r:id="rId5"/>
    <p:sldId id="675" r:id="rId6"/>
    <p:sldId id="676" r:id="rId7"/>
    <p:sldId id="677" r:id="rId8"/>
    <p:sldId id="678" r:id="rId9"/>
    <p:sldId id="679" r:id="rId10"/>
    <p:sldId id="680" r:id="rId11"/>
    <p:sldId id="1058" r:id="rId12"/>
    <p:sldId id="682" r:id="rId13"/>
    <p:sldId id="683" r:id="rId14"/>
    <p:sldId id="684" r:id="rId15"/>
    <p:sldId id="757" r:id="rId16"/>
    <p:sldId id="758" r:id="rId17"/>
    <p:sldId id="735" r:id="rId18"/>
    <p:sldId id="736" r:id="rId19"/>
    <p:sldId id="759" r:id="rId20"/>
    <p:sldId id="760" r:id="rId21"/>
    <p:sldId id="761" r:id="rId22"/>
    <p:sldId id="762" r:id="rId23"/>
    <p:sldId id="763" r:id="rId24"/>
    <p:sldId id="712" r:id="rId25"/>
    <p:sldId id="764" r:id="rId26"/>
    <p:sldId id="765" r:id="rId27"/>
    <p:sldId id="766" r:id="rId28"/>
    <p:sldId id="709" r:id="rId29"/>
    <p:sldId id="767" r:id="rId30"/>
    <p:sldId id="720" r:id="rId31"/>
    <p:sldId id="721" r:id="rId32"/>
    <p:sldId id="722" r:id="rId33"/>
    <p:sldId id="723" r:id="rId34"/>
    <p:sldId id="724" r:id="rId35"/>
    <p:sldId id="725" r:id="rId36"/>
    <p:sldId id="726" r:id="rId37"/>
    <p:sldId id="727" r:id="rId38"/>
    <p:sldId id="728" r:id="rId39"/>
    <p:sldId id="729" r:id="rId40"/>
    <p:sldId id="730" r:id="rId41"/>
    <p:sldId id="732" r:id="rId42"/>
    <p:sldId id="737" r:id="rId43"/>
    <p:sldId id="738" r:id="rId44"/>
    <p:sldId id="739" r:id="rId45"/>
    <p:sldId id="740" r:id="rId46"/>
    <p:sldId id="741" r:id="rId47"/>
    <p:sldId id="742" r:id="rId48"/>
    <p:sldId id="743" r:id="rId49"/>
    <p:sldId id="744" r:id="rId50"/>
    <p:sldId id="745" r:id="rId51"/>
    <p:sldId id="746" r:id="rId52"/>
    <p:sldId id="747" r:id="rId53"/>
    <p:sldId id="1057" r:id="rId54"/>
    <p:sldId id="661" r:id="rId55"/>
    <p:sldId id="937" r:id="rId56"/>
    <p:sldId id="800" r:id="rId57"/>
    <p:sldId id="801" r:id="rId58"/>
    <p:sldId id="749" r:id="rId59"/>
    <p:sldId id="748" r:id="rId60"/>
    <p:sldId id="750" r:id="rId61"/>
    <p:sldId id="751" r:id="rId62"/>
    <p:sldId id="752" r:id="rId63"/>
    <p:sldId id="753" r:id="rId64"/>
    <p:sldId id="754" r:id="rId65"/>
    <p:sldId id="535" r:id="rId66"/>
    <p:sldId id="279" r:id="rId67"/>
  </p:sldIdLst>
  <p:sldSz cx="9144000" cy="6858000" type="screen4x3"/>
  <p:notesSz cx="6858000" cy="9144000"/>
  <p:custDataLst>
    <p:tags r:id="rId7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2B56F5"/>
    <a:srgbClr val="170A8E"/>
    <a:srgbClr val="3CB871"/>
    <a:srgbClr val="CC9900"/>
    <a:srgbClr val="1F4E79"/>
    <a:srgbClr val="3D74A7"/>
    <a:srgbClr val="5B9BD5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6279" autoAdjust="0"/>
  </p:normalViewPr>
  <p:slideViewPr>
    <p:cSldViewPr snapToGrid="0" showGuides="1">
      <p:cViewPr varScale="1">
        <p:scale>
          <a:sx n="86" d="100"/>
          <a:sy n="86" d="100"/>
        </p:scale>
        <p:origin x="-1524" y="-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gs" Target="tags/tag19.xml"/><Relationship Id="rId70" Type="http://schemas.openxmlformats.org/officeDocument/2006/relationships/tableStyles" Target="tableStyles.xml"/><Relationship Id="rId7" Type="http://schemas.openxmlformats.org/officeDocument/2006/relationships/slide" Target="slides/slide4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58.emf"/><Relationship Id="rId3" Type="http://schemas.openxmlformats.org/officeDocument/2006/relationships/image" Target="../media/image57.emf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71.emf"/><Relationship Id="rId8" Type="http://schemas.openxmlformats.org/officeDocument/2006/relationships/image" Target="../media/image70.emf"/><Relationship Id="rId7" Type="http://schemas.openxmlformats.org/officeDocument/2006/relationships/image" Target="../media/image69.emf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8" Type="http://schemas.openxmlformats.org/officeDocument/2006/relationships/image" Target="../media/image80.emf"/><Relationship Id="rId17" Type="http://schemas.openxmlformats.org/officeDocument/2006/relationships/image" Target="../media/image79.emf"/><Relationship Id="rId16" Type="http://schemas.openxmlformats.org/officeDocument/2006/relationships/image" Target="../media/image78.emf"/><Relationship Id="rId15" Type="http://schemas.openxmlformats.org/officeDocument/2006/relationships/image" Target="../media/image77.emf"/><Relationship Id="rId14" Type="http://schemas.openxmlformats.org/officeDocument/2006/relationships/image" Target="../media/image76.emf"/><Relationship Id="rId13" Type="http://schemas.openxmlformats.org/officeDocument/2006/relationships/image" Target="../media/image75.emf"/><Relationship Id="rId12" Type="http://schemas.openxmlformats.org/officeDocument/2006/relationships/image" Target="../media/image74.emf"/><Relationship Id="rId11" Type="http://schemas.openxmlformats.org/officeDocument/2006/relationships/image" Target="../media/image73.emf"/><Relationship Id="rId10" Type="http://schemas.openxmlformats.org/officeDocument/2006/relationships/image" Target="../media/image72.emf"/><Relationship Id="rId1" Type="http://schemas.openxmlformats.org/officeDocument/2006/relationships/image" Target="../media/image6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zh-CN"/>
              <a:t>  </a:t>
            </a:r>
            <a:fld id="{B2C9AE8A-5227-41D9-90AC-D7AC5A29846A}" type="slidenum">
              <a:rPr lang="en-US" altLang="zh-CN"/>
            </a:fld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92867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AAB077-47B6-448B-B9AD-A1DDEDDA8B94}" type="slidenum">
              <a:rPr lang="en-US" altLang="zh-CN"/>
            </a:fld>
            <a:endParaRPr lang="en-US" altLang="zh-CN"/>
          </a:p>
        </p:txBody>
      </p:sp>
      <p:sp>
        <p:nvSpPr>
          <p:cNvPr id="292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9650" y="757238"/>
            <a:ext cx="3976688" cy="2981325"/>
          </a:xfrm>
        </p:spPr>
      </p:sp>
      <p:sp>
        <p:nvSpPr>
          <p:cNvPr id="292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889375"/>
            <a:ext cx="4800600" cy="3959225"/>
          </a:xfrm>
          <a:noFill/>
        </p:spPr>
        <p:txBody>
          <a:bodyPr/>
          <a:lstStyle/>
          <a:p>
            <a:pPr algn="just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zh-CN"/>
              <a:t>  </a:t>
            </a:r>
            <a:fld id="{B2C9AE8A-5227-41D9-90AC-D7AC5A29846A}" type="slidenum">
              <a:rPr lang="en-US" altLang="zh-CN"/>
            </a:fld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92867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AAB077-47B6-448B-B9AD-A1DDEDDA8B94}" type="slidenum">
              <a:rPr lang="en-US" altLang="zh-CN"/>
            </a:fld>
            <a:endParaRPr lang="en-US" altLang="zh-CN"/>
          </a:p>
        </p:txBody>
      </p:sp>
      <p:sp>
        <p:nvSpPr>
          <p:cNvPr id="292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9650" y="757238"/>
            <a:ext cx="3976688" cy="2981325"/>
          </a:xfrm>
        </p:spPr>
      </p:sp>
      <p:sp>
        <p:nvSpPr>
          <p:cNvPr id="292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889375"/>
            <a:ext cx="4800600" cy="3959225"/>
          </a:xfrm>
          <a:noFill/>
        </p:spPr>
        <p:txBody>
          <a:bodyPr/>
          <a:lstStyle/>
          <a:p>
            <a:pPr algn="just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zh-CN"/>
              <a:t>  </a:t>
            </a:r>
            <a:fld id="{B2C9AE8A-5227-41D9-90AC-D7AC5A29846A}" type="slidenum">
              <a:rPr lang="en-US" altLang="zh-CN"/>
            </a:fld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92867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AAB077-47B6-448B-B9AD-A1DDEDDA8B94}" type="slidenum">
              <a:rPr lang="en-US" altLang="zh-CN"/>
            </a:fld>
            <a:endParaRPr lang="en-US" altLang="zh-CN"/>
          </a:p>
        </p:txBody>
      </p:sp>
      <p:sp>
        <p:nvSpPr>
          <p:cNvPr id="292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9650" y="757238"/>
            <a:ext cx="3976688" cy="2981325"/>
          </a:xfrm>
        </p:spPr>
      </p:sp>
      <p:sp>
        <p:nvSpPr>
          <p:cNvPr id="292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889375"/>
            <a:ext cx="4800600" cy="3959225"/>
          </a:xfrm>
          <a:noFill/>
        </p:spPr>
        <p:txBody>
          <a:bodyPr/>
          <a:lstStyle/>
          <a:p>
            <a:pPr algn="just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zh-CN"/>
              <a:t>  </a:t>
            </a:r>
            <a:fld id="{B2C9AE8A-5227-41D9-90AC-D7AC5A29846A}" type="slidenum">
              <a:rPr lang="en-US" altLang="zh-CN"/>
            </a:fld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92867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AAB077-47B6-448B-B9AD-A1DDEDDA8B94}" type="slidenum">
              <a:rPr lang="en-US" altLang="zh-CN"/>
            </a:fld>
            <a:endParaRPr lang="en-US" altLang="zh-CN"/>
          </a:p>
        </p:txBody>
      </p:sp>
      <p:sp>
        <p:nvSpPr>
          <p:cNvPr id="292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9650" y="757238"/>
            <a:ext cx="3976688" cy="2981325"/>
          </a:xfrm>
        </p:spPr>
      </p:sp>
      <p:sp>
        <p:nvSpPr>
          <p:cNvPr id="292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889375"/>
            <a:ext cx="4800600" cy="3959225"/>
          </a:xfrm>
          <a:noFill/>
        </p:spPr>
        <p:txBody>
          <a:bodyPr/>
          <a:lstStyle/>
          <a:p>
            <a:pPr algn="just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altLang="zh-CN"/>
              <a:t>  </a:t>
            </a:r>
            <a:fld id="{94BB97B3-34B8-4B8B-A018-267887C10B75}" type="slidenum">
              <a:rPr lang="en-US" altLang="zh-CN"/>
            </a:fld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12323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C264B5-3768-42BE-A7B4-A66EB90CE3E8}" type="slidenum">
              <a:rPr lang="en-US" altLang="zh-CN"/>
            </a:fld>
            <a:endParaRPr lang="en-US" altLang="zh-CN"/>
          </a:p>
        </p:txBody>
      </p:sp>
      <p:sp>
        <p:nvSpPr>
          <p:cNvPr id="312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9650" y="757238"/>
            <a:ext cx="3976688" cy="2981325"/>
          </a:xfrm>
        </p:spPr>
      </p:sp>
      <p:sp>
        <p:nvSpPr>
          <p:cNvPr id="312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889375"/>
            <a:ext cx="4800600" cy="3959225"/>
          </a:xfrm>
          <a:noFill/>
        </p:spPr>
        <p:txBody>
          <a:bodyPr/>
          <a:lstStyle/>
          <a:p>
            <a:pPr algn="just"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304800"/>
            <a:ext cx="7793038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62000" y="1219200"/>
            <a:ext cx="7772400" cy="4876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image" Target="../media/image1.jpe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2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23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oleObject" Target="../embeddings/oleObject10.bin"/><Relationship Id="rId7" Type="http://schemas.openxmlformats.org/officeDocument/2006/relationships/image" Target="../media/image27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25.wmf"/><Relationship Id="rId2" Type="http://schemas.openxmlformats.org/officeDocument/2006/relationships/oleObject" Target="../embeddings/oleObject7.bin"/><Relationship Id="rId12" Type="http://schemas.openxmlformats.org/officeDocument/2006/relationships/notesSlide" Target="../notesSlides/notesSlide33.xml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oleObject" Target="../embeddings/oleObject14.bin"/><Relationship Id="rId7" Type="http://schemas.openxmlformats.org/officeDocument/2006/relationships/image" Target="../media/image31.wmf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2.bin"/><Relationship Id="rId3" Type="http://schemas.openxmlformats.org/officeDocument/2006/relationships/image" Target="../media/image29.wmf"/><Relationship Id="rId2" Type="http://schemas.openxmlformats.org/officeDocument/2006/relationships/oleObject" Target="../embeddings/oleObject11.bin"/><Relationship Id="rId12" Type="http://schemas.openxmlformats.org/officeDocument/2006/relationships/notesSlide" Target="../notesSlides/notesSlide34.xml"/><Relationship Id="rId11" Type="http://schemas.openxmlformats.org/officeDocument/2006/relationships/vmlDrawing" Target="../drawings/vmlDrawing5.v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5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wmf"/><Relationship Id="rId2" Type="http://schemas.openxmlformats.org/officeDocument/2006/relationships/oleObject" Target="../embeddings/oleObject15.bin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8.xml"/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7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36.png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5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44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1" Type="http://schemas.openxmlformats.org/officeDocument/2006/relationships/notesSlide" Target="../notesSlides/notesSlide42.xml"/><Relationship Id="rId10" Type="http://schemas.openxmlformats.org/officeDocument/2006/relationships/vmlDrawing" Target="../drawings/vmlDrawing8.v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3.xml"/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w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9.png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2.png"/><Relationship Id="rId6" Type="http://schemas.openxmlformats.org/officeDocument/2006/relationships/image" Target="../media/image51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49.png"/><Relationship Id="rId10" Type="http://schemas.openxmlformats.org/officeDocument/2006/relationships/notesSlide" Target="../notesSlides/notesSlide45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6.xml"/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4.png"/><Relationship Id="rId3" Type="http://schemas.openxmlformats.org/officeDocument/2006/relationships/image" Target="../media/image53.wmf"/><Relationship Id="rId2" Type="http://schemas.openxmlformats.org/officeDocument/2006/relationships/oleObject" Target="../embeddings/oleObject22.bin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58.e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57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56.png"/><Relationship Id="rId3" Type="http://schemas.openxmlformats.org/officeDocument/2006/relationships/oleObject" Target="../embeddings/oleObject24.bin"/><Relationship Id="rId2" Type="http://schemas.openxmlformats.org/officeDocument/2006/relationships/image" Target="../media/image55.png"/><Relationship Id="rId12" Type="http://schemas.openxmlformats.org/officeDocument/2006/relationships/notesSlide" Target="../notesSlides/notesSlide51.xml"/><Relationship Id="rId11" Type="http://schemas.openxmlformats.org/officeDocument/2006/relationships/vmlDrawing" Target="../drawings/vmlDrawing12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23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6" Type="http://schemas.openxmlformats.org/officeDocument/2006/relationships/image" Target="../media/image62.e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61.e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60.emf"/><Relationship Id="rId1" Type="http://schemas.openxmlformats.org/officeDocument/2006/relationships/oleObject" Target="../embeddings/oleObject27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66.e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65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64.emf"/><Relationship Id="rId39" Type="http://schemas.openxmlformats.org/officeDocument/2006/relationships/vmlDrawing" Target="../drawings/vmlDrawing14.vml"/><Relationship Id="rId38" Type="http://schemas.openxmlformats.org/officeDocument/2006/relationships/slideLayout" Target="../slideLayouts/slideLayout1.xml"/><Relationship Id="rId37" Type="http://schemas.openxmlformats.org/officeDocument/2006/relationships/image" Target="../media/image2.png"/><Relationship Id="rId36" Type="http://schemas.openxmlformats.org/officeDocument/2006/relationships/image" Target="../media/image80.emf"/><Relationship Id="rId35" Type="http://schemas.openxmlformats.org/officeDocument/2006/relationships/oleObject" Target="../embeddings/oleObject47.bin"/><Relationship Id="rId34" Type="http://schemas.openxmlformats.org/officeDocument/2006/relationships/image" Target="../media/image79.emf"/><Relationship Id="rId33" Type="http://schemas.openxmlformats.org/officeDocument/2006/relationships/oleObject" Target="../embeddings/oleObject46.bin"/><Relationship Id="rId32" Type="http://schemas.openxmlformats.org/officeDocument/2006/relationships/image" Target="../media/image78.emf"/><Relationship Id="rId31" Type="http://schemas.openxmlformats.org/officeDocument/2006/relationships/oleObject" Target="../embeddings/oleObject45.bin"/><Relationship Id="rId30" Type="http://schemas.openxmlformats.org/officeDocument/2006/relationships/image" Target="../media/image77.emf"/><Relationship Id="rId3" Type="http://schemas.openxmlformats.org/officeDocument/2006/relationships/oleObject" Target="../embeddings/oleObject31.bin"/><Relationship Id="rId29" Type="http://schemas.openxmlformats.org/officeDocument/2006/relationships/oleObject" Target="../embeddings/oleObject44.bin"/><Relationship Id="rId28" Type="http://schemas.openxmlformats.org/officeDocument/2006/relationships/image" Target="../media/image76.emf"/><Relationship Id="rId27" Type="http://schemas.openxmlformats.org/officeDocument/2006/relationships/oleObject" Target="../embeddings/oleObject43.bin"/><Relationship Id="rId26" Type="http://schemas.openxmlformats.org/officeDocument/2006/relationships/image" Target="../media/image75.emf"/><Relationship Id="rId25" Type="http://schemas.openxmlformats.org/officeDocument/2006/relationships/oleObject" Target="../embeddings/oleObject42.bin"/><Relationship Id="rId24" Type="http://schemas.openxmlformats.org/officeDocument/2006/relationships/image" Target="../media/image74.emf"/><Relationship Id="rId23" Type="http://schemas.openxmlformats.org/officeDocument/2006/relationships/oleObject" Target="../embeddings/oleObject41.bin"/><Relationship Id="rId22" Type="http://schemas.openxmlformats.org/officeDocument/2006/relationships/image" Target="../media/image73.emf"/><Relationship Id="rId21" Type="http://schemas.openxmlformats.org/officeDocument/2006/relationships/oleObject" Target="../embeddings/oleObject40.bin"/><Relationship Id="rId20" Type="http://schemas.openxmlformats.org/officeDocument/2006/relationships/image" Target="../media/image72.emf"/><Relationship Id="rId2" Type="http://schemas.openxmlformats.org/officeDocument/2006/relationships/image" Target="../media/image63.emf"/><Relationship Id="rId19" Type="http://schemas.openxmlformats.org/officeDocument/2006/relationships/oleObject" Target="../embeddings/oleObject39.bin"/><Relationship Id="rId18" Type="http://schemas.openxmlformats.org/officeDocument/2006/relationships/image" Target="../media/image71.emf"/><Relationship Id="rId17" Type="http://schemas.openxmlformats.org/officeDocument/2006/relationships/oleObject" Target="../embeddings/oleObject38.bin"/><Relationship Id="rId16" Type="http://schemas.openxmlformats.org/officeDocument/2006/relationships/image" Target="../media/image70.emf"/><Relationship Id="rId15" Type="http://schemas.openxmlformats.org/officeDocument/2006/relationships/oleObject" Target="../embeddings/oleObject37.bin"/><Relationship Id="rId14" Type="http://schemas.openxmlformats.org/officeDocument/2006/relationships/image" Target="../media/image69.emf"/><Relationship Id="rId13" Type="http://schemas.openxmlformats.org/officeDocument/2006/relationships/oleObject" Target="../embeddings/oleObject36.bin"/><Relationship Id="rId12" Type="http://schemas.openxmlformats.org/officeDocument/2006/relationships/image" Target="../media/image68.emf"/><Relationship Id="rId11" Type="http://schemas.openxmlformats.org/officeDocument/2006/relationships/oleObject" Target="../embeddings/oleObject35.bin"/><Relationship Id="rId10" Type="http://schemas.openxmlformats.org/officeDocument/2006/relationships/image" Target="../media/image67.emf"/><Relationship Id="rId1" Type="http://schemas.openxmlformats.org/officeDocument/2006/relationships/oleObject" Target="../embeddings/oleObject30.bin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2.xml"/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81.wmf"/><Relationship Id="rId1" Type="http://schemas.openxmlformats.org/officeDocument/2006/relationships/oleObject" Target="../embeddings/oleObject48.bin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3.xml"/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81.wmf"/><Relationship Id="rId1" Type="http://schemas.openxmlformats.org/officeDocument/2006/relationships/oleObject" Target="../embeddings/oleObject49.bin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82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82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83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84.png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84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5.png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淘宝网chenying0907出品 3"/>
          <p:cNvSpPr/>
          <p:nvPr>
            <p:custDataLst>
              <p:tags r:id="rId1"/>
            </p:custDataLst>
          </p:nvPr>
        </p:nvSpPr>
        <p:spPr>
          <a:xfrm>
            <a:off x="-1" y="2397913"/>
            <a:ext cx="217647" cy="383310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5" name="PA_淘宝网chenying0907出品 4"/>
          <p:cNvSpPr/>
          <p:nvPr>
            <p:custDataLst>
              <p:tags r:id="rId2"/>
            </p:custDataLst>
          </p:nvPr>
        </p:nvSpPr>
        <p:spPr>
          <a:xfrm>
            <a:off x="5767033" y="2397913"/>
            <a:ext cx="233315" cy="383310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8" name="PA_淘宝网chenying0907出品 7"/>
          <p:cNvSpPr/>
          <p:nvPr>
            <p:custDataLst>
              <p:tags r:id="rId3"/>
            </p:custDataLst>
          </p:nvPr>
        </p:nvSpPr>
        <p:spPr>
          <a:xfrm>
            <a:off x="6022146" y="4731873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cxnSp>
        <p:nvCxnSpPr>
          <p:cNvPr id="10" name="PA_直接连接符 9"/>
          <p:cNvCxnSpPr/>
          <p:nvPr>
            <p:custDataLst>
              <p:tags r:id="rId4"/>
            </p:custDataLst>
          </p:nvPr>
        </p:nvCxnSpPr>
        <p:spPr>
          <a:xfrm>
            <a:off x="6000349" y="6231015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_淘宝网chenying0907出品 10"/>
          <p:cNvSpPr/>
          <p:nvPr>
            <p:custDataLst>
              <p:tags r:id="rId5"/>
            </p:custDataLst>
          </p:nvPr>
        </p:nvSpPr>
        <p:spPr>
          <a:xfrm>
            <a:off x="6326157" y="4785873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2" name="PA_淘宝网chenying0907出品 11"/>
          <p:cNvSpPr/>
          <p:nvPr>
            <p:custDataLst>
              <p:tags r:id="rId6"/>
            </p:custDataLst>
          </p:nvPr>
        </p:nvSpPr>
        <p:spPr>
          <a:xfrm>
            <a:off x="6636177" y="4785873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3" name="PA_淘宝网chenying0907出品 12"/>
          <p:cNvSpPr/>
          <p:nvPr>
            <p:custDataLst>
              <p:tags r:id="rId7"/>
            </p:custDataLst>
          </p:nvPr>
        </p:nvSpPr>
        <p:spPr>
          <a:xfrm>
            <a:off x="6940740" y="4812873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4" name="PA_淘宝网chenying0907出品 13"/>
          <p:cNvSpPr/>
          <p:nvPr>
            <p:custDataLst>
              <p:tags r:id="rId8"/>
            </p:custDataLst>
          </p:nvPr>
        </p:nvSpPr>
        <p:spPr>
          <a:xfrm>
            <a:off x="7259991" y="4839873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5" name="PA_淘宝网chenying0907出品 14"/>
          <p:cNvSpPr/>
          <p:nvPr>
            <p:custDataLst>
              <p:tags r:id="rId9"/>
            </p:custDataLst>
          </p:nvPr>
        </p:nvSpPr>
        <p:spPr>
          <a:xfrm>
            <a:off x="7576938" y="4866873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6" name="PA_淘宝网chenying0907出品 15"/>
          <p:cNvSpPr/>
          <p:nvPr>
            <p:custDataLst>
              <p:tags r:id="rId10"/>
            </p:custDataLst>
          </p:nvPr>
        </p:nvSpPr>
        <p:spPr>
          <a:xfrm rot="20959521">
            <a:off x="7984332" y="4905240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7" name="PA_淘宝网chenying0907出品 16"/>
          <p:cNvSpPr/>
          <p:nvPr>
            <p:custDataLst>
              <p:tags r:id="rId11"/>
            </p:custDataLst>
          </p:nvPr>
        </p:nvSpPr>
        <p:spPr>
          <a:xfrm rot="19779136">
            <a:off x="8494752" y="4936437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cxnSp>
        <p:nvCxnSpPr>
          <p:cNvPr id="18" name="PA_直接连接符 17"/>
          <p:cNvCxnSpPr/>
          <p:nvPr>
            <p:custDataLst>
              <p:tags r:id="rId12"/>
            </p:custDataLst>
          </p:nvPr>
        </p:nvCxnSpPr>
        <p:spPr>
          <a:xfrm>
            <a:off x="208754" y="6231015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A_直接连接符 19"/>
          <p:cNvCxnSpPr/>
          <p:nvPr>
            <p:custDataLst>
              <p:tags r:id="rId13"/>
            </p:custDataLst>
          </p:nvPr>
        </p:nvCxnSpPr>
        <p:spPr>
          <a:xfrm>
            <a:off x="208752" y="2397913"/>
            <a:ext cx="5558280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A_直接连接符 20"/>
          <p:cNvCxnSpPr/>
          <p:nvPr>
            <p:custDataLst>
              <p:tags r:id="rId14"/>
            </p:custDataLst>
          </p:nvPr>
        </p:nvCxnSpPr>
        <p:spPr>
          <a:xfrm>
            <a:off x="208753" y="5680725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A_淘宝网chenying0907出品 21"/>
          <p:cNvSpPr txBox="1"/>
          <p:nvPr>
            <p:custDataLst>
              <p:tags r:id="rId15"/>
            </p:custDataLst>
          </p:nvPr>
        </p:nvSpPr>
        <p:spPr>
          <a:xfrm>
            <a:off x="249386" y="2411930"/>
            <a:ext cx="551764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b="1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  </a:t>
            </a:r>
            <a:endParaRPr lang="en-US" altLang="zh-CN" sz="45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500" b="1" dirty="0">
                <a:solidFill>
                  <a:srgbClr val="4472C4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</a:t>
            </a:r>
            <a:endParaRPr lang="en-US" altLang="zh-CN" sz="4500" b="1" dirty="0">
              <a:solidFill>
                <a:srgbClr val="4472C4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b="1" dirty="0">
                <a:solidFill>
                  <a:srgbClr val="4472C4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3200" b="1" dirty="0">
              <a:solidFill>
                <a:srgbClr val="4472C4">
                  <a:lumMod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200" b="1" dirty="0">
                <a:solidFill>
                  <a:srgbClr val="4472C4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5.4 </a:t>
            </a:r>
            <a:r>
              <a:rPr lang="zh-CN" altLang="en-US" sz="3200" b="1" dirty="0">
                <a:solidFill>
                  <a:srgbClr val="4472C4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时序逻辑电路的设计</a:t>
            </a:r>
            <a:endParaRPr lang="en-US" altLang="zh-CN" sz="3200" b="1" dirty="0">
              <a:solidFill>
                <a:srgbClr val="4472C4">
                  <a:lumMod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200" b="1" dirty="0">
                <a:solidFill>
                  <a:srgbClr val="4472C4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5.5 </a:t>
            </a:r>
            <a:r>
              <a:rPr lang="zh-CN" altLang="en-US" sz="3200" b="1" dirty="0">
                <a:solidFill>
                  <a:srgbClr val="4472C4">
                    <a:lumMod val="5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常用时序逻辑电路及应用</a:t>
            </a:r>
            <a:endParaRPr lang="zh-CN" altLang="en-US" sz="3200" b="1" dirty="0">
              <a:solidFill>
                <a:srgbClr val="4472C4">
                  <a:lumMod val="5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PA_淘宝网chenying0907出品 23"/>
          <p:cNvSpPr txBox="1"/>
          <p:nvPr>
            <p:custDataLst>
              <p:tags r:id="rId16"/>
            </p:custDataLst>
          </p:nvPr>
        </p:nvSpPr>
        <p:spPr>
          <a:xfrm>
            <a:off x="1150931" y="5800609"/>
            <a:ext cx="2210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武汉大学计算机学院</a:t>
            </a:r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PA_淘宝网chenying0907出品 25"/>
          <p:cNvSpPr txBox="1"/>
          <p:nvPr>
            <p:custDataLst>
              <p:tags r:id="rId17"/>
            </p:custDataLst>
          </p:nvPr>
        </p:nvSpPr>
        <p:spPr>
          <a:xfrm>
            <a:off x="1036047" y="424695"/>
            <a:ext cx="2085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武汉大学</a:t>
            </a:r>
            <a:endParaRPr lang="en-US" altLang="zh-CN" sz="2000" b="1" dirty="0">
              <a:solidFill>
                <a:prstClr val="black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sz="2000" b="1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Wuhan University</a:t>
            </a:r>
            <a:endParaRPr lang="zh-CN" altLang="en-US" sz="2000" b="1" dirty="0">
              <a:solidFill>
                <a:prstClr val="black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379" cy="1211379"/>
          </a:xfrm>
          <a:prstGeom prst="rect">
            <a:avLst/>
          </a:prstGeom>
        </p:spPr>
      </p:pic>
      <p:sp>
        <p:nvSpPr>
          <p:cNvPr id="27" name="PA_淘宝网chenying0907出品 22"/>
          <p:cNvSpPr txBox="1"/>
          <p:nvPr>
            <p:custDataLst>
              <p:tags r:id="rId19"/>
            </p:custDataLst>
          </p:nvPr>
        </p:nvSpPr>
        <p:spPr>
          <a:xfrm>
            <a:off x="3254107" y="5800609"/>
            <a:ext cx="23716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2023-2024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en-US" sz="16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学期</a:t>
            </a:r>
            <a:endParaRPr lang="zh-CN" altLang="en-US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251284" y="3014625"/>
            <a:ext cx="151379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Contents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3158834" y="-15801"/>
            <a:ext cx="598516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3158833" y="15801"/>
            <a:ext cx="3386343" cy="24041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5827660" y="4362508"/>
            <a:ext cx="3316340" cy="2495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405821" y="1958322"/>
            <a:ext cx="4093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4405821" y="2578212"/>
            <a:ext cx="3787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集成触发器</a:t>
            </a:r>
            <a:endParaRPr lang="zh-CN" altLang="en-US" dirty="0"/>
          </a:p>
        </p:txBody>
      </p:sp>
      <p:sp>
        <p:nvSpPr>
          <p:cNvPr id="30" name="淘宝网chenying0907出品 29"/>
          <p:cNvSpPr txBox="1"/>
          <p:nvPr/>
        </p:nvSpPr>
        <p:spPr>
          <a:xfrm>
            <a:off x="4405821" y="3185725"/>
            <a:ext cx="370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时序逻辑电路的分析</a:t>
            </a:r>
            <a:endParaRPr lang="zh-CN" altLang="en-US" dirty="0"/>
          </a:p>
        </p:txBody>
      </p:sp>
      <p:sp>
        <p:nvSpPr>
          <p:cNvPr id="17" name="淘宝网chenying0907出品 29"/>
          <p:cNvSpPr txBox="1"/>
          <p:nvPr/>
        </p:nvSpPr>
        <p:spPr>
          <a:xfrm>
            <a:off x="4405821" y="3828425"/>
            <a:ext cx="370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时序逻辑电路的设计</a:t>
            </a:r>
            <a:endParaRPr lang="zh-CN" altLang="en-US" dirty="0"/>
          </a:p>
        </p:txBody>
      </p:sp>
      <p:sp>
        <p:nvSpPr>
          <p:cNvPr id="18" name="淘宝网chenying0907出品 29"/>
          <p:cNvSpPr txBox="1"/>
          <p:nvPr/>
        </p:nvSpPr>
        <p:spPr>
          <a:xfrm>
            <a:off x="4405821" y="4455665"/>
            <a:ext cx="4343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/>
              <a:t>常用时序电路及其应用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时序逻辑电路的设计方法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29320" y="932492"/>
            <a:ext cx="8316913" cy="13849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同步时序逻辑电路的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逆过程</a:t>
            </a:r>
            <a:r>
              <a:rPr lang="en-US" altLang="zh-CN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其任务是根据实际逻辑问题的要求，设计出能实现给定逻辑功能的电路。</a:t>
            </a:r>
            <a:endParaRPr lang="zh-CN" altLang="en-US" sz="2800" dirty="0">
              <a:solidFill>
                <a:srgbClr val="00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29320" y="2852806"/>
            <a:ext cx="779303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同步时序逻辑电路设计的一般步骤</a:t>
            </a:r>
            <a:endParaRPr lang="zh-CN" altLang="en-US" sz="2800" b="1" dirty="0">
              <a:solidFill>
                <a:srgbClr val="C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8174" y="3779398"/>
            <a:ext cx="1626451" cy="156966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逻辑抽象：</a:t>
            </a:r>
            <a:endParaRPr lang="en-US" altLang="zh-CN" sz="2400" b="1" dirty="0"/>
          </a:p>
          <a:p>
            <a:r>
              <a:rPr lang="zh-CN" altLang="en-US" sz="2400" b="1" dirty="0"/>
              <a:t>建立原始状态图和状态表</a:t>
            </a:r>
            <a:endParaRPr lang="zh-CN" altLang="en-US" sz="24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1779013" y="3776863"/>
            <a:ext cx="1107021" cy="1569660"/>
            <a:chOff x="1779013" y="3776863"/>
            <a:chExt cx="1107021" cy="1569660"/>
          </a:xfrm>
        </p:grpSpPr>
        <p:sp>
          <p:nvSpPr>
            <p:cNvPr id="14" name="文本框 13"/>
            <p:cNvSpPr txBox="1"/>
            <p:nvPr/>
          </p:nvSpPr>
          <p:spPr>
            <a:xfrm>
              <a:off x="2092493" y="3776863"/>
              <a:ext cx="793541" cy="156966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altLang="zh-CN" sz="2400" b="1" dirty="0"/>
            </a:p>
            <a:p>
              <a:r>
                <a:rPr lang="zh-CN" altLang="en-US" sz="2400" b="1" dirty="0"/>
                <a:t>状态化简</a:t>
              </a:r>
              <a:endParaRPr lang="en-US" altLang="zh-CN" sz="2400" b="1" dirty="0"/>
            </a:p>
            <a:p>
              <a:endParaRPr lang="zh-CN" altLang="en-US" sz="2400" b="1" dirty="0"/>
            </a:p>
          </p:txBody>
        </p:sp>
        <p:sp>
          <p:nvSpPr>
            <p:cNvPr id="4" name="箭头: 右 3"/>
            <p:cNvSpPr/>
            <p:nvPr/>
          </p:nvSpPr>
          <p:spPr>
            <a:xfrm>
              <a:off x="1779013" y="4401272"/>
              <a:ext cx="308811" cy="320842"/>
            </a:xfrm>
            <a:prstGeom prst="rightArrow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889422" y="3776863"/>
            <a:ext cx="1099966" cy="1569660"/>
            <a:chOff x="2889422" y="3776863"/>
            <a:chExt cx="1099966" cy="1569660"/>
          </a:xfrm>
        </p:grpSpPr>
        <p:sp>
          <p:nvSpPr>
            <p:cNvPr id="15" name="文本框 14"/>
            <p:cNvSpPr txBox="1"/>
            <p:nvPr/>
          </p:nvSpPr>
          <p:spPr>
            <a:xfrm>
              <a:off x="3195847" y="3776863"/>
              <a:ext cx="793541" cy="156966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en-US" altLang="zh-CN" sz="2400" b="1" dirty="0"/>
            </a:p>
            <a:p>
              <a:r>
                <a:rPr lang="zh-CN" altLang="en-US" sz="2400" b="1" dirty="0"/>
                <a:t>状态分配</a:t>
              </a:r>
              <a:endParaRPr lang="en-US" altLang="zh-CN" sz="2400" b="1" dirty="0"/>
            </a:p>
            <a:p>
              <a:endParaRPr lang="zh-CN" altLang="en-US" sz="2400" b="1" dirty="0"/>
            </a:p>
          </p:txBody>
        </p:sp>
        <p:sp>
          <p:nvSpPr>
            <p:cNvPr id="21" name="箭头: 右 20"/>
            <p:cNvSpPr/>
            <p:nvPr/>
          </p:nvSpPr>
          <p:spPr>
            <a:xfrm>
              <a:off x="2889422" y="4401272"/>
              <a:ext cx="308811" cy="320842"/>
            </a:xfrm>
            <a:prstGeom prst="rightArrow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004748" y="3776863"/>
            <a:ext cx="1157982" cy="1569660"/>
            <a:chOff x="4004748" y="3776863"/>
            <a:chExt cx="1157982" cy="1569660"/>
          </a:xfrm>
        </p:grpSpPr>
        <p:sp>
          <p:nvSpPr>
            <p:cNvPr id="16" name="文本框 15"/>
            <p:cNvSpPr txBox="1"/>
            <p:nvPr/>
          </p:nvSpPr>
          <p:spPr>
            <a:xfrm>
              <a:off x="4313559" y="3776863"/>
              <a:ext cx="849171" cy="156966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选择触发器类型</a:t>
              </a:r>
              <a:endParaRPr lang="zh-CN" altLang="en-US" sz="2400" b="1" dirty="0"/>
            </a:p>
          </p:txBody>
        </p:sp>
        <p:sp>
          <p:nvSpPr>
            <p:cNvPr id="22" name="箭头: 右 21"/>
            <p:cNvSpPr/>
            <p:nvPr/>
          </p:nvSpPr>
          <p:spPr>
            <a:xfrm>
              <a:off x="4004748" y="4401272"/>
              <a:ext cx="308811" cy="320842"/>
            </a:xfrm>
            <a:prstGeom prst="rightArrow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173765" y="3776863"/>
            <a:ext cx="1477057" cy="1569660"/>
            <a:chOff x="5173765" y="3776863"/>
            <a:chExt cx="1477057" cy="1569660"/>
          </a:xfrm>
        </p:grpSpPr>
        <p:sp>
          <p:nvSpPr>
            <p:cNvPr id="17" name="文本框 16"/>
            <p:cNvSpPr txBox="1"/>
            <p:nvPr/>
          </p:nvSpPr>
          <p:spPr>
            <a:xfrm>
              <a:off x="5499465" y="3776863"/>
              <a:ext cx="1151357" cy="156966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确定驱动方程组和输出方程</a:t>
              </a:r>
              <a:endParaRPr lang="zh-CN" altLang="en-US" sz="2400" b="1" dirty="0"/>
            </a:p>
          </p:txBody>
        </p:sp>
        <p:sp>
          <p:nvSpPr>
            <p:cNvPr id="24" name="箭头: 右 23"/>
            <p:cNvSpPr/>
            <p:nvPr/>
          </p:nvSpPr>
          <p:spPr>
            <a:xfrm>
              <a:off x="5173765" y="4401272"/>
              <a:ext cx="308811" cy="320842"/>
            </a:xfrm>
            <a:prstGeom prst="rightArrow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671253" y="3779398"/>
            <a:ext cx="1171569" cy="1569660"/>
            <a:chOff x="6671253" y="3779398"/>
            <a:chExt cx="1171569" cy="1569660"/>
          </a:xfrm>
        </p:grpSpPr>
        <p:sp>
          <p:nvSpPr>
            <p:cNvPr id="18" name="文本框 17"/>
            <p:cNvSpPr txBox="1"/>
            <p:nvPr/>
          </p:nvSpPr>
          <p:spPr>
            <a:xfrm>
              <a:off x="6990723" y="3779398"/>
              <a:ext cx="852099" cy="156966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检查自启动能力</a:t>
              </a:r>
              <a:endParaRPr lang="zh-CN" altLang="en-US" sz="2400" b="1" dirty="0"/>
            </a:p>
          </p:txBody>
        </p:sp>
        <p:sp>
          <p:nvSpPr>
            <p:cNvPr id="25" name="箭头: 右 24"/>
            <p:cNvSpPr/>
            <p:nvPr/>
          </p:nvSpPr>
          <p:spPr>
            <a:xfrm>
              <a:off x="6671253" y="4401272"/>
              <a:ext cx="308811" cy="320842"/>
            </a:xfrm>
            <a:prstGeom prst="rightArrow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863184" y="3776863"/>
            <a:ext cx="1177571" cy="1569660"/>
            <a:chOff x="7863184" y="3776863"/>
            <a:chExt cx="1177571" cy="1569660"/>
          </a:xfrm>
        </p:grpSpPr>
        <p:sp>
          <p:nvSpPr>
            <p:cNvPr id="19" name="文本框 18"/>
            <p:cNvSpPr txBox="1"/>
            <p:nvPr/>
          </p:nvSpPr>
          <p:spPr>
            <a:xfrm>
              <a:off x="8191584" y="3776863"/>
              <a:ext cx="849171" cy="1569660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画出逻辑电路图</a:t>
              </a:r>
              <a:endParaRPr lang="zh-CN" altLang="en-US" sz="2400" b="1" dirty="0"/>
            </a:p>
          </p:txBody>
        </p:sp>
        <p:sp>
          <p:nvSpPr>
            <p:cNvPr id="26" name="箭头: 右 25"/>
            <p:cNvSpPr/>
            <p:nvPr/>
          </p:nvSpPr>
          <p:spPr>
            <a:xfrm>
              <a:off x="7863184" y="4401272"/>
              <a:ext cx="308811" cy="320842"/>
            </a:xfrm>
            <a:prstGeom prst="rightArrow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98123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5.4.1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逻辑抽象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717583" y="2363202"/>
            <a:ext cx="7787073" cy="1955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确定输入、输出变量及电路的状态数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定义输入、输出逻辑状态和电路状态的含义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按题意建立原始状态转换图和状态转移真值表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3228" y="930164"/>
            <a:ext cx="7751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 dirty="0"/>
              <a:t>【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5.4.1】 </a:t>
            </a:r>
            <a:r>
              <a:rPr lang="zh-CN" altLang="en-US" sz="2800" b="1" dirty="0"/>
              <a:t>设计一个五进制可逆计数器。当输入</a:t>
            </a:r>
            <a:r>
              <a:rPr lang="en-US" altLang="zh-CN" sz="2800" b="1" dirty="0">
                <a:solidFill>
                  <a:srgbClr val="FF0000"/>
                </a:solidFill>
              </a:rPr>
              <a:t>x=0</a:t>
            </a:r>
            <a:r>
              <a:rPr lang="zh-CN" altLang="en-US" sz="2800" b="1" dirty="0"/>
              <a:t>时，进行</a:t>
            </a:r>
            <a:r>
              <a:rPr lang="zh-CN" altLang="en-US" sz="2800" b="1" dirty="0">
                <a:solidFill>
                  <a:srgbClr val="FF0000"/>
                </a:solidFill>
              </a:rPr>
              <a:t>加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计数</a:t>
            </a:r>
            <a:r>
              <a:rPr lang="zh-CN" altLang="en-US" sz="2800" b="1" dirty="0"/>
              <a:t>；当</a:t>
            </a:r>
            <a:r>
              <a:rPr lang="en-US" altLang="zh-CN" sz="2800" b="1" dirty="0">
                <a:solidFill>
                  <a:srgbClr val="0000FF"/>
                </a:solidFill>
              </a:rPr>
              <a:t>x=1</a:t>
            </a:r>
            <a:r>
              <a:rPr lang="zh-CN" altLang="en-US" sz="2800" b="1" dirty="0"/>
              <a:t>时，进行</a:t>
            </a:r>
            <a:r>
              <a:rPr lang="zh-CN" altLang="en-US" sz="2800" b="1" dirty="0">
                <a:solidFill>
                  <a:srgbClr val="0000FF"/>
                </a:solidFill>
              </a:rPr>
              <a:t>减</a:t>
            </a: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计数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4345" y="2800736"/>
            <a:ext cx="7550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</a:rPr>
              <a:t>）确定输入、输出变量及电路状态的数量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7142" y="3429000"/>
            <a:ext cx="6749715" cy="1930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输入变量：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输出变量：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电路状态数量：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498123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5.4.1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逻辑抽象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5692" y="696814"/>
            <a:ext cx="7751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【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5.4.1】 </a:t>
            </a:r>
            <a:r>
              <a:rPr lang="zh-CN" altLang="en-US" sz="2800" b="1" dirty="0"/>
              <a:t>设计一个五进制可逆计数器。当输入</a:t>
            </a:r>
            <a:r>
              <a:rPr lang="en-US" altLang="zh-CN" sz="2800" b="1" dirty="0">
                <a:solidFill>
                  <a:srgbClr val="FF0000"/>
                </a:solidFill>
              </a:rPr>
              <a:t>x=0</a:t>
            </a:r>
            <a:r>
              <a:rPr lang="zh-CN" altLang="en-US" sz="2800" b="1" dirty="0"/>
              <a:t>时，进行</a:t>
            </a:r>
            <a:r>
              <a:rPr lang="zh-CN" altLang="en-US" sz="2800" b="1" dirty="0">
                <a:solidFill>
                  <a:srgbClr val="FF0000"/>
                </a:solidFill>
              </a:rPr>
              <a:t>加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计数</a:t>
            </a:r>
            <a:r>
              <a:rPr lang="zh-CN" altLang="en-US" sz="2800" b="1" dirty="0"/>
              <a:t>；当</a:t>
            </a:r>
            <a:r>
              <a:rPr lang="en-US" altLang="zh-CN" sz="2800" b="1" dirty="0">
                <a:solidFill>
                  <a:srgbClr val="0000FF"/>
                </a:solidFill>
              </a:rPr>
              <a:t>x=1</a:t>
            </a:r>
            <a:r>
              <a:rPr lang="zh-CN" altLang="en-US" sz="2800" b="1" dirty="0"/>
              <a:t>时，进行</a:t>
            </a:r>
            <a:r>
              <a:rPr lang="zh-CN" altLang="en-US" sz="2800" b="1" dirty="0">
                <a:solidFill>
                  <a:srgbClr val="0000FF"/>
                </a:solidFill>
              </a:rPr>
              <a:t>减</a:t>
            </a: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计数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2260" y="1990461"/>
            <a:ext cx="634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</a:rPr>
              <a:t>）定义输入、输出变量及电路状态的含义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542" y="2609835"/>
            <a:ext cx="7659556" cy="138499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输入变量：</a:t>
            </a: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x——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控制电路的功能选择</a:t>
            </a:r>
            <a:endParaRPr lang="en-US" altLang="zh-CN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x=0: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</a:t>
            </a: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</a:t>
            </a:r>
            <a:endParaRPr lang="en-US" altLang="zh-CN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x=1: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</a:t>
            </a: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</a:t>
            </a:r>
            <a:endParaRPr lang="en-US" altLang="zh-CN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541" y="4920814"/>
            <a:ext cx="7659556" cy="138499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输出变量：</a:t>
            </a: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y——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指示电路处于初始状态</a:t>
            </a:r>
            <a:endParaRPr lang="en-US" altLang="zh-CN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y=1: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电路处于</a:t>
            </a: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S0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</a:t>
            </a:r>
            <a:endParaRPr lang="en-US" altLang="zh-CN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y=0: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电路处于其它状态</a:t>
            </a:r>
            <a:endParaRPr lang="en-US" altLang="zh-CN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541" y="4196212"/>
            <a:ext cx="7659556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电路状态：</a:t>
            </a: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S0-S4——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五进制计数器的</a:t>
            </a:r>
            <a:r>
              <a:rPr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种状态</a:t>
            </a:r>
            <a:endParaRPr lang="en-US" altLang="zh-CN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498123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5.4.1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逻辑抽象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5271" y="666811"/>
            <a:ext cx="7751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【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5.4.1】 </a:t>
            </a:r>
            <a:r>
              <a:rPr lang="zh-CN" altLang="en-US" sz="2800" b="1" dirty="0"/>
              <a:t>设计一个五进制可逆计数器。当输入</a:t>
            </a:r>
            <a:r>
              <a:rPr lang="en-US" altLang="zh-CN" sz="2800" b="1" dirty="0">
                <a:solidFill>
                  <a:srgbClr val="FF0000"/>
                </a:solidFill>
              </a:rPr>
              <a:t>x=0</a:t>
            </a:r>
            <a:r>
              <a:rPr lang="zh-CN" altLang="en-US" sz="2800" b="1" dirty="0"/>
              <a:t>时，进行</a:t>
            </a:r>
            <a:r>
              <a:rPr lang="zh-CN" altLang="en-US" sz="2800" b="1" dirty="0">
                <a:solidFill>
                  <a:srgbClr val="FF0000"/>
                </a:solidFill>
              </a:rPr>
              <a:t>加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计数</a:t>
            </a:r>
            <a:r>
              <a:rPr lang="zh-CN" altLang="en-US" sz="2800" b="1" dirty="0"/>
              <a:t>；当</a:t>
            </a:r>
            <a:r>
              <a:rPr lang="en-US" altLang="zh-CN" sz="2800" b="1" dirty="0">
                <a:solidFill>
                  <a:srgbClr val="0000FF"/>
                </a:solidFill>
              </a:rPr>
              <a:t>x=1</a:t>
            </a:r>
            <a:r>
              <a:rPr lang="zh-CN" altLang="en-US" sz="2800" b="1" dirty="0"/>
              <a:t>时，进行</a:t>
            </a:r>
            <a:r>
              <a:rPr lang="zh-CN" altLang="en-US" sz="2800" b="1" dirty="0">
                <a:solidFill>
                  <a:srgbClr val="0000FF"/>
                </a:solidFill>
              </a:rPr>
              <a:t>减</a:t>
            </a: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计数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34238" y="1920570"/>
            <a:ext cx="634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</a:rPr>
              <a:t>）画出状态转移图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1141657" y="2607470"/>
            <a:ext cx="3990704" cy="3635207"/>
            <a:chOff x="1625250" y="2869867"/>
            <a:chExt cx="3990704" cy="3635207"/>
          </a:xfrm>
        </p:grpSpPr>
        <p:pic>
          <p:nvPicPr>
            <p:cNvPr id="46" name="Picture 5" descr="5-4-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250" y="2869867"/>
              <a:ext cx="3990704" cy="3635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8" name="直接箭头连接符 47"/>
            <p:cNvCxnSpPr/>
            <p:nvPr/>
          </p:nvCxnSpPr>
          <p:spPr>
            <a:xfrm>
              <a:off x="4078705" y="3336758"/>
              <a:ext cx="866274" cy="641684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flipH="1">
              <a:off x="4700334" y="4463716"/>
              <a:ext cx="425116" cy="1010652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flipH="1">
              <a:off x="3368842" y="5747084"/>
              <a:ext cx="962526" cy="0"/>
            </a:xfrm>
            <a:prstGeom prst="straightConnector1">
              <a:avLst/>
            </a:prstGeom>
            <a:ln w="539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 flipH="1" flipV="1">
              <a:off x="2534653" y="4463716"/>
              <a:ext cx="272715" cy="1058779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 flipV="1">
              <a:off x="2582779" y="3244516"/>
              <a:ext cx="938463" cy="637673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直接箭头连接符 57"/>
          <p:cNvCxnSpPr/>
          <p:nvPr/>
        </p:nvCxnSpPr>
        <p:spPr>
          <a:xfrm>
            <a:off x="5620951" y="3439318"/>
            <a:ext cx="5855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6288504" y="3105227"/>
            <a:ext cx="2378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加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计数状态转换顺序</a:t>
            </a:r>
            <a:endParaRPr lang="zh-CN" altLang="en-US" sz="2400" b="1" dirty="0"/>
          </a:p>
        </p:txBody>
      </p:sp>
      <p:cxnSp>
        <p:nvCxnSpPr>
          <p:cNvPr id="62" name="直接箭头连接符 61"/>
          <p:cNvCxnSpPr/>
          <p:nvPr/>
        </p:nvCxnSpPr>
        <p:spPr>
          <a:xfrm>
            <a:off x="5662085" y="4719377"/>
            <a:ext cx="5855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6288504" y="4397016"/>
            <a:ext cx="23782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减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计数状态转换顺序</a:t>
            </a:r>
            <a:endParaRPr lang="zh-CN" altLang="en-US" sz="2400" b="1" dirty="0"/>
          </a:p>
        </p:txBody>
      </p:sp>
      <p:sp>
        <p:nvSpPr>
          <p:cNvPr id="65" name="椭圆 64"/>
          <p:cNvSpPr/>
          <p:nvPr/>
        </p:nvSpPr>
        <p:spPr>
          <a:xfrm>
            <a:off x="2021305" y="2607471"/>
            <a:ext cx="389026" cy="374648"/>
          </a:xfrm>
          <a:prstGeom prst="ellipse">
            <a:avLst/>
          </a:prstGeom>
          <a:noFill/>
          <a:ln w="476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3709736" y="3371147"/>
            <a:ext cx="441157" cy="408619"/>
          </a:xfrm>
          <a:prstGeom prst="ellipse">
            <a:avLst/>
          </a:prstGeom>
          <a:noFill/>
          <a:ln w="476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1498123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5.4.1.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逻辑抽象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1" grpId="0"/>
      <p:bldP spid="63" grpId="0"/>
      <p:bldP spid="65" grpId="0" animBg="1"/>
      <p:bldP spid="6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59134" y="734856"/>
            <a:ext cx="7751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【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5.4.1】</a:t>
            </a:r>
            <a:r>
              <a:rPr lang="zh-CN" altLang="en-US" sz="2800" b="1" dirty="0"/>
              <a:t>设计一个五进制可逆计数器。当输入</a:t>
            </a:r>
            <a:r>
              <a:rPr lang="en-US" altLang="zh-CN" sz="2800" b="1" dirty="0">
                <a:solidFill>
                  <a:srgbClr val="FF0000"/>
                </a:solidFill>
              </a:rPr>
              <a:t>x=0</a:t>
            </a:r>
            <a:r>
              <a:rPr lang="zh-CN" altLang="en-US" sz="2800" b="1" dirty="0"/>
              <a:t>时，进行</a:t>
            </a:r>
            <a:r>
              <a:rPr lang="zh-CN" altLang="en-US" sz="2800" b="1" dirty="0">
                <a:solidFill>
                  <a:srgbClr val="FF0000"/>
                </a:solidFill>
              </a:rPr>
              <a:t>加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计数</a:t>
            </a:r>
            <a:r>
              <a:rPr lang="zh-CN" altLang="en-US" sz="2800" b="1" dirty="0"/>
              <a:t>；当</a:t>
            </a:r>
            <a:r>
              <a:rPr lang="en-US" altLang="zh-CN" sz="2800" b="1" dirty="0">
                <a:solidFill>
                  <a:srgbClr val="0000FF"/>
                </a:solidFill>
              </a:rPr>
              <a:t>x=1</a:t>
            </a:r>
            <a:r>
              <a:rPr lang="zh-CN" altLang="en-US" sz="2800" b="1" dirty="0"/>
              <a:t>时，进行</a:t>
            </a:r>
            <a:r>
              <a:rPr lang="zh-CN" altLang="en-US" sz="2800" b="1" dirty="0">
                <a:solidFill>
                  <a:srgbClr val="0000FF"/>
                </a:solidFill>
              </a:rPr>
              <a:t>减</a:t>
            </a:r>
            <a:r>
              <a:rPr lang="en-US" altLang="zh-CN" sz="2800" b="1" dirty="0">
                <a:solidFill>
                  <a:srgbClr val="0000FF"/>
                </a:solidFill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</a:rPr>
              <a:t>计数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6218" y="2058641"/>
            <a:ext cx="6348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</a:rPr>
              <a:t>）列出状态转移真值表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90468" y="2930027"/>
            <a:ext cx="3208651" cy="2941385"/>
            <a:chOff x="1625250" y="2869867"/>
            <a:chExt cx="3990704" cy="3635207"/>
          </a:xfrm>
        </p:grpSpPr>
        <p:pic>
          <p:nvPicPr>
            <p:cNvPr id="46" name="Picture 5" descr="5-4-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250" y="2869867"/>
              <a:ext cx="3990704" cy="3635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8" name="直接箭头连接符 47"/>
            <p:cNvCxnSpPr/>
            <p:nvPr/>
          </p:nvCxnSpPr>
          <p:spPr>
            <a:xfrm>
              <a:off x="4078705" y="3336758"/>
              <a:ext cx="866274" cy="641684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flipH="1">
              <a:off x="4700334" y="4463716"/>
              <a:ext cx="425116" cy="1010652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flipH="1">
              <a:off x="3368842" y="5747084"/>
              <a:ext cx="962526" cy="0"/>
            </a:xfrm>
            <a:prstGeom prst="straightConnector1">
              <a:avLst/>
            </a:prstGeom>
            <a:ln w="539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 flipH="1" flipV="1">
              <a:off x="2534653" y="4463716"/>
              <a:ext cx="272715" cy="1058779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 flipV="1">
              <a:off x="2582779" y="3244516"/>
              <a:ext cx="938463" cy="637673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3352801" y="2805659"/>
            <a:ext cx="5720785" cy="3292639"/>
            <a:chOff x="3372853" y="2905922"/>
            <a:chExt cx="5720785" cy="3292639"/>
          </a:xfrm>
        </p:grpSpPr>
        <p:pic>
          <p:nvPicPr>
            <p:cNvPr id="21" name="Picture 6" descr="B5-4-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2853" y="2905922"/>
              <a:ext cx="5720785" cy="3292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3"/>
            <p:cNvSpPr txBox="1"/>
            <p:nvPr/>
          </p:nvSpPr>
          <p:spPr>
            <a:xfrm>
              <a:off x="6817894" y="4009332"/>
              <a:ext cx="16844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817887" y="5673703"/>
              <a:ext cx="16844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1498123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5.4.1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逻辑抽象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76977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89911" y="703266"/>
            <a:ext cx="8321675" cy="5638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60000"/>
              </a:lnSpc>
            </a:pPr>
            <a:r>
              <a:rPr lang="zh-CN" altLang="en-US" sz="2000" dirty="0">
                <a:solidFill>
                  <a:prstClr val="black"/>
                </a:solidFill>
              </a:rPr>
              <a:t>　</a:t>
            </a:r>
            <a:r>
              <a:rPr lang="zh-CN" altLang="en-US" sz="2000" b="1" dirty="0">
                <a:solidFill>
                  <a:prstClr val="black"/>
                </a:solidFill>
              </a:rPr>
              <a:t>　</a:t>
            </a:r>
            <a:r>
              <a:rPr lang="en-US" altLang="zh-CN" sz="2000" b="1" dirty="0">
                <a:solidFill>
                  <a:prstClr val="black"/>
                </a:solidFill>
              </a:rPr>
              <a:t>【</a:t>
            </a:r>
            <a:r>
              <a:rPr lang="zh-CN" altLang="en-US" sz="2000" b="1" dirty="0">
                <a:solidFill>
                  <a:prstClr val="black"/>
                </a:solidFill>
              </a:rPr>
              <a:t>例</a:t>
            </a:r>
            <a:r>
              <a:rPr lang="en-US" altLang="zh-CN" sz="2000" b="1" dirty="0">
                <a:solidFill>
                  <a:prstClr val="black"/>
                </a:solidFill>
              </a:rPr>
              <a:t>5.4.2】  </a:t>
            </a:r>
            <a:r>
              <a:rPr lang="zh-CN" altLang="en-US" sz="2000" b="1" dirty="0">
                <a:solidFill>
                  <a:prstClr val="black"/>
                </a:solidFill>
              </a:rPr>
              <a:t>设计一个串行数据检测器， 在连续输入四个或四个以上的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时输出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， 否则输出</a:t>
            </a:r>
            <a:r>
              <a:rPr lang="en-US" altLang="zh-CN" sz="2000" b="1" dirty="0">
                <a:solidFill>
                  <a:prstClr val="black"/>
                </a:solidFill>
              </a:rPr>
              <a:t>0 </a:t>
            </a:r>
            <a:r>
              <a:rPr lang="zh-CN" altLang="en-US" sz="2000" b="1" dirty="0">
                <a:solidFill>
                  <a:prstClr val="black"/>
                </a:solidFill>
              </a:rPr>
              <a:t>。</a:t>
            </a:r>
            <a:br>
              <a:rPr lang="zh-CN" altLang="en-US" b="1" dirty="0">
                <a:solidFill>
                  <a:prstClr val="black"/>
                </a:solidFill>
              </a:rPr>
            </a:br>
            <a:r>
              <a:rPr lang="zh-CN" altLang="en-US" sz="2000" b="1" dirty="0">
                <a:solidFill>
                  <a:prstClr val="black"/>
                </a:solidFill>
              </a:rPr>
              <a:t>　　解   设计一个“</a:t>
            </a:r>
            <a:r>
              <a:rPr lang="en-US" altLang="zh-CN" sz="2000" b="1" dirty="0">
                <a:solidFill>
                  <a:prstClr val="black"/>
                </a:solidFill>
              </a:rPr>
              <a:t>1111”</a:t>
            </a:r>
            <a:r>
              <a:rPr lang="zh-CN" altLang="en-US" sz="2000" b="1" dirty="0">
                <a:solidFill>
                  <a:prstClr val="black"/>
                </a:solidFill>
              </a:rPr>
              <a:t>序列检测器。 </a:t>
            </a:r>
            <a:endParaRPr lang="en-US" altLang="zh-CN" sz="2000" b="1" dirty="0">
              <a:solidFill>
                <a:prstClr val="black"/>
              </a:solidFill>
            </a:endParaRPr>
          </a:p>
          <a:p>
            <a:pPr algn="l">
              <a:lnSpc>
                <a:spcPct val="160000"/>
              </a:lnSpc>
            </a:pPr>
            <a:r>
              <a:rPr lang="zh-CN" altLang="en-US" sz="2000" b="1" dirty="0">
                <a:solidFill>
                  <a:prstClr val="black"/>
                </a:solidFill>
              </a:rPr>
              <a:t>　　输入</a:t>
            </a:r>
            <a:r>
              <a:rPr lang="en-US" altLang="zh-CN" sz="2000" b="1" i="1" dirty="0">
                <a:solidFill>
                  <a:prstClr val="black"/>
                </a:solidFill>
              </a:rPr>
              <a:t>X</a:t>
            </a:r>
            <a:r>
              <a:rPr lang="zh-CN" altLang="en-US" sz="2000" b="1" dirty="0">
                <a:solidFill>
                  <a:prstClr val="black"/>
                </a:solidFill>
              </a:rPr>
              <a:t>， 表示串行输入数据。</a:t>
            </a:r>
            <a:br>
              <a:rPr lang="zh-CN" altLang="en-US" sz="2000" b="1" dirty="0">
                <a:solidFill>
                  <a:prstClr val="black"/>
                </a:solidFill>
              </a:rPr>
            </a:br>
            <a:r>
              <a:rPr lang="zh-CN" altLang="en-US" sz="2000" b="1" dirty="0">
                <a:solidFill>
                  <a:prstClr val="black"/>
                </a:solidFill>
              </a:rPr>
              <a:t>　　输出</a:t>
            </a:r>
            <a:r>
              <a:rPr lang="en-US" altLang="zh-CN" sz="2000" b="1" i="1" dirty="0">
                <a:solidFill>
                  <a:prstClr val="black"/>
                </a:solidFill>
              </a:rPr>
              <a:t>Z</a:t>
            </a:r>
            <a:r>
              <a:rPr lang="zh-CN" altLang="en-US" sz="2000" b="1" dirty="0">
                <a:solidFill>
                  <a:prstClr val="black"/>
                </a:solidFill>
              </a:rPr>
              <a:t>， 表示检测结果。　　</a:t>
            </a:r>
            <a:br>
              <a:rPr lang="zh-CN" altLang="en-US" sz="2000" b="1" dirty="0">
                <a:solidFill>
                  <a:prstClr val="black"/>
                </a:solidFill>
              </a:rPr>
            </a:br>
            <a:r>
              <a:rPr lang="zh-CN" altLang="en-US" sz="2000" b="1" dirty="0">
                <a:solidFill>
                  <a:prstClr val="black"/>
                </a:solidFill>
              </a:rPr>
              <a:t>　　电路状态定义：  </a:t>
            </a:r>
            <a:br>
              <a:rPr lang="zh-CN" altLang="en-US" sz="2000" b="1" dirty="0">
                <a:solidFill>
                  <a:prstClr val="black"/>
                </a:solidFill>
              </a:rPr>
            </a:br>
            <a:r>
              <a:rPr lang="zh-CN" altLang="en-US" sz="2000" b="1" dirty="0">
                <a:solidFill>
                  <a:prstClr val="black"/>
                </a:solidFill>
              </a:rPr>
              <a:t>　　</a:t>
            </a:r>
            <a:r>
              <a:rPr lang="en-US" altLang="zh-CN" sz="2000" b="1" dirty="0">
                <a:solidFill>
                  <a:prstClr val="black"/>
                </a:solidFill>
              </a:rPr>
              <a:t>S</a:t>
            </a:r>
            <a:r>
              <a:rPr lang="en-US" altLang="zh-CN" sz="2000" b="1" baseline="-25000" dirty="0">
                <a:solidFill>
                  <a:prstClr val="black"/>
                </a:solidFill>
              </a:rPr>
              <a:t>0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未输入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，</a:t>
            </a:r>
            <a:r>
              <a:rPr lang="en-US" altLang="zh-CN" sz="2000" b="1" i="1" dirty="0">
                <a:solidFill>
                  <a:prstClr val="black"/>
                </a:solidFill>
              </a:rPr>
              <a:t> Z 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输出</a:t>
            </a:r>
            <a:r>
              <a:rPr lang="en-US" altLang="zh-CN" sz="2000" b="1" dirty="0">
                <a:solidFill>
                  <a:prstClr val="black"/>
                </a:solidFill>
              </a:rPr>
              <a:t>0</a:t>
            </a:r>
            <a:r>
              <a:rPr lang="zh-CN" altLang="en-US" sz="2000" b="1" dirty="0">
                <a:solidFill>
                  <a:prstClr val="black"/>
                </a:solidFill>
              </a:rPr>
              <a:t>；</a:t>
            </a:r>
            <a:br>
              <a:rPr lang="zh-CN" altLang="en-US" sz="2000" b="1" dirty="0">
                <a:solidFill>
                  <a:prstClr val="black"/>
                </a:solidFill>
              </a:rPr>
            </a:br>
            <a:r>
              <a:rPr lang="zh-CN" altLang="en-US" sz="2000" b="1" dirty="0">
                <a:solidFill>
                  <a:prstClr val="black"/>
                </a:solidFill>
              </a:rPr>
              <a:t>　　</a:t>
            </a:r>
            <a:r>
              <a:rPr lang="en-US" altLang="zh-CN" sz="2000" b="1" dirty="0">
                <a:solidFill>
                  <a:prstClr val="black"/>
                </a:solidFill>
              </a:rPr>
              <a:t>S</a:t>
            </a:r>
            <a:r>
              <a:rPr lang="en-US" altLang="zh-CN" sz="2000" b="1" baseline="-25000" dirty="0">
                <a:solidFill>
                  <a:prstClr val="black"/>
                </a:solidFill>
              </a:rPr>
              <a:t>1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输入一个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 ，</a:t>
            </a:r>
            <a:r>
              <a:rPr lang="en-US" altLang="zh-CN" sz="2000" b="1" i="1" dirty="0">
                <a:solidFill>
                  <a:prstClr val="black"/>
                </a:solidFill>
              </a:rPr>
              <a:t> Z 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输出</a:t>
            </a:r>
            <a:r>
              <a:rPr lang="en-US" altLang="zh-CN" sz="2000" b="1" dirty="0">
                <a:solidFill>
                  <a:prstClr val="black"/>
                </a:solidFill>
              </a:rPr>
              <a:t>0 </a:t>
            </a:r>
            <a:r>
              <a:rPr lang="zh-CN" altLang="en-US" sz="2000" b="1" dirty="0">
                <a:solidFill>
                  <a:prstClr val="black"/>
                </a:solidFill>
              </a:rPr>
              <a:t>；</a:t>
            </a:r>
            <a:br>
              <a:rPr lang="zh-CN" altLang="en-US" sz="2000" b="1" dirty="0">
                <a:solidFill>
                  <a:prstClr val="black"/>
                </a:solidFill>
              </a:rPr>
            </a:br>
            <a:r>
              <a:rPr lang="zh-CN" altLang="en-US" sz="2000" b="1" dirty="0">
                <a:solidFill>
                  <a:prstClr val="black"/>
                </a:solidFill>
              </a:rPr>
              <a:t>　　</a:t>
            </a:r>
            <a:r>
              <a:rPr lang="en-US" altLang="zh-CN" sz="2000" b="1" dirty="0">
                <a:solidFill>
                  <a:prstClr val="black"/>
                </a:solidFill>
              </a:rPr>
              <a:t>S</a:t>
            </a:r>
            <a:r>
              <a:rPr lang="en-US" altLang="zh-CN" sz="2000" b="1" baseline="-25000" dirty="0">
                <a:solidFill>
                  <a:prstClr val="black"/>
                </a:solidFill>
              </a:rPr>
              <a:t>2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连续输入两个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 ，</a:t>
            </a:r>
            <a:r>
              <a:rPr lang="en-US" altLang="zh-CN" sz="2000" b="1" i="1" dirty="0">
                <a:solidFill>
                  <a:prstClr val="black"/>
                </a:solidFill>
              </a:rPr>
              <a:t> Z 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输出</a:t>
            </a:r>
            <a:r>
              <a:rPr lang="en-US" altLang="zh-CN" sz="2000" b="1" dirty="0">
                <a:solidFill>
                  <a:prstClr val="black"/>
                </a:solidFill>
              </a:rPr>
              <a:t>0 </a:t>
            </a:r>
            <a:r>
              <a:rPr lang="zh-CN" altLang="en-US" sz="2000" b="1" dirty="0">
                <a:solidFill>
                  <a:prstClr val="black"/>
                </a:solidFill>
              </a:rPr>
              <a:t>；</a:t>
            </a:r>
            <a:br>
              <a:rPr lang="zh-CN" altLang="en-US" sz="2000" b="1" dirty="0">
                <a:solidFill>
                  <a:prstClr val="black"/>
                </a:solidFill>
              </a:rPr>
            </a:br>
            <a:r>
              <a:rPr lang="zh-CN" altLang="en-US" sz="2000" b="1" dirty="0">
                <a:solidFill>
                  <a:prstClr val="black"/>
                </a:solidFill>
              </a:rPr>
              <a:t>　　</a:t>
            </a:r>
            <a:r>
              <a:rPr lang="en-US" altLang="zh-CN" sz="2000" b="1" dirty="0">
                <a:solidFill>
                  <a:prstClr val="black"/>
                </a:solidFill>
              </a:rPr>
              <a:t>S</a:t>
            </a:r>
            <a:r>
              <a:rPr lang="en-US" altLang="zh-CN" sz="2000" b="1" baseline="-25000" dirty="0">
                <a:solidFill>
                  <a:prstClr val="black"/>
                </a:solidFill>
              </a:rPr>
              <a:t>3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连续输入三个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 ，</a:t>
            </a:r>
            <a:r>
              <a:rPr lang="en-US" altLang="zh-CN" sz="2000" b="1" i="1" dirty="0">
                <a:solidFill>
                  <a:prstClr val="black"/>
                </a:solidFill>
              </a:rPr>
              <a:t> Z 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输出</a:t>
            </a:r>
            <a:r>
              <a:rPr lang="en-US" altLang="zh-CN" sz="2000" b="1" dirty="0">
                <a:solidFill>
                  <a:prstClr val="black"/>
                </a:solidFill>
              </a:rPr>
              <a:t>0 </a:t>
            </a:r>
            <a:r>
              <a:rPr lang="zh-CN" altLang="en-US" sz="2000" b="1" dirty="0">
                <a:solidFill>
                  <a:prstClr val="black"/>
                </a:solidFill>
              </a:rPr>
              <a:t>；</a:t>
            </a:r>
            <a:br>
              <a:rPr lang="zh-CN" altLang="en-US" sz="2000" b="1" dirty="0">
                <a:solidFill>
                  <a:prstClr val="black"/>
                </a:solidFill>
              </a:rPr>
            </a:br>
            <a:r>
              <a:rPr lang="zh-CN" altLang="en-US" sz="2000" b="1" dirty="0">
                <a:solidFill>
                  <a:prstClr val="black"/>
                </a:solidFill>
              </a:rPr>
              <a:t>　　</a:t>
            </a:r>
            <a:r>
              <a:rPr lang="en-US" altLang="zh-CN" sz="2000" b="1" dirty="0">
                <a:solidFill>
                  <a:prstClr val="black"/>
                </a:solidFill>
              </a:rPr>
              <a:t>S</a:t>
            </a:r>
            <a:r>
              <a:rPr lang="en-US" altLang="zh-CN" sz="2000" b="1" baseline="-25000" dirty="0">
                <a:solidFill>
                  <a:prstClr val="black"/>
                </a:solidFill>
              </a:rPr>
              <a:t>4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连续输入四个或四个以上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 ，</a:t>
            </a:r>
            <a:r>
              <a:rPr lang="en-US" altLang="zh-CN" sz="2000" b="1" i="1" dirty="0">
                <a:solidFill>
                  <a:prstClr val="black"/>
                </a:solidFill>
              </a:rPr>
              <a:t> Z </a:t>
            </a:r>
            <a:r>
              <a:rPr lang="en-US" altLang="zh-CN" sz="2000" b="1" dirty="0">
                <a:solidFill>
                  <a:prstClr val="black"/>
                </a:solidFill>
              </a:rPr>
              <a:t>——</a:t>
            </a:r>
            <a:r>
              <a:rPr lang="zh-CN" altLang="en-US" sz="2000" b="1" dirty="0">
                <a:solidFill>
                  <a:prstClr val="black"/>
                </a:solidFill>
              </a:rPr>
              <a:t>输出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。</a:t>
            </a:r>
            <a:br>
              <a:rPr lang="zh-CN" altLang="en-US" sz="2000" b="1" dirty="0">
                <a:solidFill>
                  <a:prstClr val="black"/>
                </a:solidFill>
              </a:rPr>
            </a:br>
            <a:r>
              <a:rPr lang="zh-CN" altLang="en-US" sz="2000" b="1" dirty="0">
                <a:solidFill>
                  <a:prstClr val="black"/>
                </a:solidFill>
              </a:rPr>
              <a:t>　　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66585" y="909374"/>
            <a:ext cx="7751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【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5.4.2】</a:t>
            </a:r>
            <a:r>
              <a:rPr lang="zh-CN" altLang="en-US" sz="2800" b="1" dirty="0"/>
              <a:t>设计一个串行数据检测器，在连续输入四个或四个以上的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时输出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，否则输出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。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8302" y="1863481"/>
            <a:ext cx="3763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</a:rPr>
              <a:t>）画出状态转移图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6696594" y="5068332"/>
            <a:ext cx="839605" cy="779922"/>
            <a:chOff x="4589521" y="5791899"/>
            <a:chExt cx="649288" cy="649288"/>
          </a:xfrm>
        </p:grpSpPr>
        <p:sp>
          <p:nvSpPr>
            <p:cNvPr id="14" name="Oval 80"/>
            <p:cNvSpPr>
              <a:spLocks noChangeArrowheads="1"/>
            </p:cNvSpPr>
            <p:nvPr/>
          </p:nvSpPr>
          <p:spPr bwMode="auto">
            <a:xfrm>
              <a:off x="4589521" y="5791899"/>
              <a:ext cx="649288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800"/>
            </a:p>
          </p:txBody>
        </p:sp>
        <p:sp>
          <p:nvSpPr>
            <p:cNvPr id="18" name="Text Box 84"/>
            <p:cNvSpPr txBox="1">
              <a:spLocks noChangeArrowheads="1"/>
            </p:cNvSpPr>
            <p:nvPr/>
          </p:nvSpPr>
          <p:spPr bwMode="auto">
            <a:xfrm>
              <a:off x="4662546" y="5863337"/>
              <a:ext cx="482469" cy="435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S3</a:t>
              </a:r>
              <a:endParaRPr lang="en-US" altLang="zh-CN" sz="2800" b="1" dirty="0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4039453" y="4976952"/>
            <a:ext cx="820503" cy="779922"/>
            <a:chOff x="6318309" y="5791899"/>
            <a:chExt cx="649287" cy="649288"/>
          </a:xfrm>
        </p:grpSpPr>
        <p:sp>
          <p:nvSpPr>
            <p:cNvPr id="15" name="Oval 81"/>
            <p:cNvSpPr>
              <a:spLocks noChangeArrowheads="1"/>
            </p:cNvSpPr>
            <p:nvPr/>
          </p:nvSpPr>
          <p:spPr bwMode="auto">
            <a:xfrm>
              <a:off x="6318309" y="5791899"/>
              <a:ext cx="649287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800"/>
            </a:p>
          </p:txBody>
        </p:sp>
        <p:sp>
          <p:nvSpPr>
            <p:cNvPr id="21" name="Text Box 85"/>
            <p:cNvSpPr txBox="1">
              <a:spLocks noChangeArrowheads="1"/>
            </p:cNvSpPr>
            <p:nvPr/>
          </p:nvSpPr>
          <p:spPr bwMode="auto">
            <a:xfrm>
              <a:off x="6426714" y="5920767"/>
              <a:ext cx="493701" cy="435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S2</a:t>
              </a:r>
              <a:endParaRPr lang="en-US" altLang="zh-CN" sz="2800" b="1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793443" y="3130260"/>
            <a:ext cx="878682" cy="816152"/>
            <a:chOff x="7347701" y="4132051"/>
            <a:chExt cx="695327" cy="649288"/>
          </a:xfrm>
        </p:grpSpPr>
        <p:sp>
          <p:nvSpPr>
            <p:cNvPr id="17" name="Oval 83"/>
            <p:cNvSpPr>
              <a:spLocks noChangeArrowheads="1"/>
            </p:cNvSpPr>
            <p:nvPr/>
          </p:nvSpPr>
          <p:spPr bwMode="auto">
            <a:xfrm>
              <a:off x="7347701" y="4132051"/>
              <a:ext cx="649288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800"/>
            </a:p>
          </p:txBody>
        </p:sp>
        <p:sp>
          <p:nvSpPr>
            <p:cNvPr id="22" name="Text Box 86"/>
            <p:cNvSpPr txBox="1">
              <a:spLocks noChangeArrowheads="1"/>
            </p:cNvSpPr>
            <p:nvPr/>
          </p:nvSpPr>
          <p:spPr bwMode="auto">
            <a:xfrm>
              <a:off x="7419139" y="4205076"/>
              <a:ext cx="62388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S1</a:t>
              </a:r>
              <a:endParaRPr lang="en-US" altLang="zh-CN" sz="2800" b="1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15172" y="3435881"/>
            <a:ext cx="878682" cy="884072"/>
            <a:chOff x="5675522" y="4143164"/>
            <a:chExt cx="649287" cy="649288"/>
          </a:xfrm>
        </p:grpSpPr>
        <p:sp>
          <p:nvSpPr>
            <p:cNvPr id="16" name="Oval 82"/>
            <p:cNvSpPr>
              <a:spLocks noChangeArrowheads="1"/>
            </p:cNvSpPr>
            <p:nvPr/>
          </p:nvSpPr>
          <p:spPr bwMode="auto">
            <a:xfrm>
              <a:off x="5675522" y="4143164"/>
              <a:ext cx="649287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3200"/>
            </a:p>
          </p:txBody>
        </p:sp>
        <p:sp>
          <p:nvSpPr>
            <p:cNvPr id="23" name="Text Box 87"/>
            <p:cNvSpPr txBox="1">
              <a:spLocks noChangeArrowheads="1"/>
            </p:cNvSpPr>
            <p:nvPr/>
          </p:nvSpPr>
          <p:spPr bwMode="auto">
            <a:xfrm>
              <a:off x="5775299" y="4289878"/>
              <a:ext cx="461012" cy="357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S0</a:t>
              </a:r>
              <a:endParaRPr lang="en-US" altLang="zh-CN" sz="2800" b="1" dirty="0"/>
            </a:p>
          </p:txBody>
        </p:sp>
      </p:grpSp>
      <p:cxnSp>
        <p:nvCxnSpPr>
          <p:cNvPr id="30" name="AutoShape 94"/>
          <p:cNvCxnSpPr>
            <a:cxnSpLocks noChangeShapeType="1"/>
            <a:stCxn id="16" idx="3"/>
            <a:endCxn id="16" idx="1"/>
          </p:cNvCxnSpPr>
          <p:nvPr/>
        </p:nvCxnSpPr>
        <p:spPr bwMode="auto">
          <a:xfrm rot="5400000" flipH="1">
            <a:off x="1231285" y="3877917"/>
            <a:ext cx="625134" cy="12700"/>
          </a:xfrm>
          <a:prstGeom prst="curvedConnector5">
            <a:avLst>
              <a:gd name="adj1" fmla="val -36568"/>
              <a:gd name="adj2" fmla="val 3031843"/>
              <a:gd name="adj3" fmla="val 136568"/>
            </a:avLst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文本框 40"/>
          <p:cNvSpPr txBox="1"/>
          <p:nvPr/>
        </p:nvSpPr>
        <p:spPr>
          <a:xfrm>
            <a:off x="766900" y="3313622"/>
            <a:ext cx="352726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输入</a:t>
            </a:r>
            <a:r>
              <a:rPr lang="en-US" altLang="zh-CN" sz="2000" b="1" dirty="0"/>
              <a:t>0</a:t>
            </a:r>
            <a:endParaRPr lang="en-US" altLang="zh-CN" sz="2000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733749" y="4288238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 rot="21309273">
            <a:off x="2826146" y="3834967"/>
            <a:ext cx="87868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输入</a:t>
            </a:r>
            <a:r>
              <a:rPr lang="en-US" altLang="zh-CN" sz="2000" b="1" dirty="0">
                <a:solidFill>
                  <a:srgbClr val="0000FF"/>
                </a:solidFill>
              </a:rPr>
              <a:t>1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sp>
        <p:nvSpPr>
          <p:cNvPr id="102" name="文本框 101"/>
          <p:cNvSpPr txBox="1"/>
          <p:nvPr/>
        </p:nvSpPr>
        <p:spPr>
          <a:xfrm rot="21294142">
            <a:off x="3642601" y="3694454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6658806" y="2920140"/>
            <a:ext cx="820502" cy="825195"/>
            <a:chOff x="4589521" y="5791899"/>
            <a:chExt cx="649288" cy="649288"/>
          </a:xfrm>
        </p:grpSpPr>
        <p:sp>
          <p:nvSpPr>
            <p:cNvPr id="126" name="Oval 80"/>
            <p:cNvSpPr>
              <a:spLocks noChangeArrowheads="1"/>
            </p:cNvSpPr>
            <p:nvPr/>
          </p:nvSpPr>
          <p:spPr bwMode="auto">
            <a:xfrm>
              <a:off x="4589521" y="5791899"/>
              <a:ext cx="649288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800"/>
            </a:p>
          </p:txBody>
        </p:sp>
        <p:sp>
          <p:nvSpPr>
            <p:cNvPr id="127" name="Text Box 84"/>
            <p:cNvSpPr txBox="1">
              <a:spLocks noChangeArrowheads="1"/>
            </p:cNvSpPr>
            <p:nvPr/>
          </p:nvSpPr>
          <p:spPr bwMode="auto">
            <a:xfrm>
              <a:off x="4662546" y="5863337"/>
              <a:ext cx="493702" cy="411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S4</a:t>
              </a:r>
              <a:endParaRPr lang="en-US" altLang="zh-CN" sz="2800" b="1" dirty="0"/>
            </a:p>
          </p:txBody>
        </p:sp>
      </p:grpSp>
      <p:cxnSp>
        <p:nvCxnSpPr>
          <p:cNvPr id="131" name="直接箭头连接符 130"/>
          <p:cNvCxnSpPr>
            <a:stCxn id="16" idx="6"/>
          </p:cNvCxnSpPr>
          <p:nvPr/>
        </p:nvCxnSpPr>
        <p:spPr>
          <a:xfrm flipV="1">
            <a:off x="2293854" y="3663039"/>
            <a:ext cx="2539159" cy="214878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/>
          <p:cNvSpPr txBox="1"/>
          <p:nvPr/>
        </p:nvSpPr>
        <p:spPr>
          <a:xfrm>
            <a:off x="6667413" y="3980826"/>
            <a:ext cx="405045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输入</a:t>
            </a:r>
            <a:r>
              <a:rPr lang="en-US" altLang="zh-CN" sz="2000" b="1" dirty="0">
                <a:solidFill>
                  <a:srgbClr val="0000FF"/>
                </a:solidFill>
              </a:rPr>
              <a:t>1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7083166" y="4304114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1/1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cxnSp>
        <p:nvCxnSpPr>
          <p:cNvPr id="138" name="直接箭头连接符 137"/>
          <p:cNvCxnSpPr/>
          <p:nvPr/>
        </p:nvCxnSpPr>
        <p:spPr>
          <a:xfrm>
            <a:off x="4907171" y="5484054"/>
            <a:ext cx="1751635" cy="614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>
            <a:stCxn id="17" idx="4"/>
            <a:endCxn id="15" idx="0"/>
          </p:cNvCxnSpPr>
          <p:nvPr/>
        </p:nvCxnSpPr>
        <p:spPr>
          <a:xfrm flipH="1">
            <a:off x="4449705" y="3946412"/>
            <a:ext cx="753990" cy="103054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 rot="18515940">
            <a:off x="4162543" y="4056455"/>
            <a:ext cx="894244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输入</a:t>
            </a:r>
            <a:r>
              <a:rPr lang="en-US" altLang="zh-CN" sz="2000" b="1" dirty="0">
                <a:solidFill>
                  <a:srgbClr val="0000FF"/>
                </a:solidFill>
              </a:rPr>
              <a:t>1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sp>
        <p:nvSpPr>
          <p:cNvPr id="142" name="文本框 141"/>
          <p:cNvSpPr txBox="1"/>
          <p:nvPr/>
        </p:nvSpPr>
        <p:spPr>
          <a:xfrm rot="18567576">
            <a:off x="4681453" y="4397102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144" name="文本框 143"/>
          <p:cNvSpPr txBox="1"/>
          <p:nvPr/>
        </p:nvSpPr>
        <p:spPr>
          <a:xfrm rot="1128919">
            <a:off x="3088162" y="5722065"/>
            <a:ext cx="87868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输入</a:t>
            </a:r>
            <a:r>
              <a:rPr lang="en-US" altLang="zh-CN" sz="2000" b="1" dirty="0"/>
              <a:t>0</a:t>
            </a:r>
            <a:endParaRPr lang="en-US" altLang="zh-CN" sz="2000" b="1" dirty="0"/>
          </a:p>
        </p:txBody>
      </p:sp>
      <p:sp>
        <p:nvSpPr>
          <p:cNvPr id="145" name="文本框 144"/>
          <p:cNvSpPr txBox="1"/>
          <p:nvPr/>
        </p:nvSpPr>
        <p:spPr>
          <a:xfrm rot="805228">
            <a:off x="3933466" y="5937803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5455423" y="5023073"/>
            <a:ext cx="87868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输入</a:t>
            </a:r>
            <a:r>
              <a:rPr lang="en-US" altLang="zh-CN" sz="2000" b="1" dirty="0">
                <a:solidFill>
                  <a:srgbClr val="0000FF"/>
                </a:solidFill>
              </a:rPr>
              <a:t>1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548105" y="5448144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cxnSp>
        <p:nvCxnSpPr>
          <p:cNvPr id="153" name="直接箭头连接符 152"/>
          <p:cNvCxnSpPr/>
          <p:nvPr/>
        </p:nvCxnSpPr>
        <p:spPr>
          <a:xfrm flipH="1">
            <a:off x="2247071" y="3386063"/>
            <a:ext cx="2593156" cy="31949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/>
          <p:cNvSpPr txBox="1"/>
          <p:nvPr/>
        </p:nvSpPr>
        <p:spPr>
          <a:xfrm rot="21176635">
            <a:off x="2793394" y="3149522"/>
            <a:ext cx="87868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输入</a:t>
            </a:r>
            <a:r>
              <a:rPr lang="en-US" altLang="zh-CN" sz="2000" b="1" dirty="0"/>
              <a:t>0</a:t>
            </a:r>
            <a:endParaRPr lang="en-US" altLang="zh-CN" sz="2000" b="1" dirty="0"/>
          </a:p>
        </p:txBody>
      </p:sp>
      <p:sp>
        <p:nvSpPr>
          <p:cNvPr id="155" name="文本框 154"/>
          <p:cNvSpPr txBox="1"/>
          <p:nvPr/>
        </p:nvSpPr>
        <p:spPr>
          <a:xfrm rot="21176635">
            <a:off x="3688443" y="3120336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cxnSp>
        <p:nvCxnSpPr>
          <p:cNvPr id="157" name="直接箭头连接符 156"/>
          <p:cNvCxnSpPr>
            <a:stCxn id="15" idx="2"/>
            <a:endCxn id="16" idx="5"/>
          </p:cNvCxnSpPr>
          <p:nvPr/>
        </p:nvCxnSpPr>
        <p:spPr>
          <a:xfrm flipH="1" flipV="1">
            <a:off x="2165174" y="4190484"/>
            <a:ext cx="1874279" cy="11764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 rot="1948505">
            <a:off x="2417480" y="4698066"/>
            <a:ext cx="87868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输入</a:t>
            </a:r>
            <a:r>
              <a:rPr lang="en-US" altLang="zh-CN" sz="2000" b="1" dirty="0"/>
              <a:t>0</a:t>
            </a:r>
            <a:endParaRPr lang="en-US" altLang="zh-CN" sz="2000" b="1" dirty="0"/>
          </a:p>
        </p:txBody>
      </p:sp>
      <p:sp>
        <p:nvSpPr>
          <p:cNvPr id="166" name="文本框 165"/>
          <p:cNvSpPr txBox="1"/>
          <p:nvPr/>
        </p:nvSpPr>
        <p:spPr>
          <a:xfrm rot="1812639">
            <a:off x="3204760" y="4981407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167" name="弧形 166"/>
          <p:cNvSpPr/>
          <p:nvPr/>
        </p:nvSpPr>
        <p:spPr>
          <a:xfrm rot="901411" flipV="1">
            <a:off x="1662387" y="4281351"/>
            <a:ext cx="5322419" cy="1613514"/>
          </a:xfrm>
          <a:prstGeom prst="arc">
            <a:avLst>
              <a:gd name="adj1" fmla="val 10699483"/>
              <a:gd name="adj2" fmla="val 21588983"/>
            </a:avLst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9" name="直接箭头连接符 168"/>
          <p:cNvCxnSpPr>
            <a:stCxn id="14" idx="0"/>
          </p:cNvCxnSpPr>
          <p:nvPr/>
        </p:nvCxnSpPr>
        <p:spPr>
          <a:xfrm flipH="1" flipV="1">
            <a:off x="7100643" y="3734792"/>
            <a:ext cx="15754" cy="133354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弧形 171"/>
          <p:cNvSpPr/>
          <p:nvPr/>
        </p:nvSpPr>
        <p:spPr>
          <a:xfrm rot="21254381">
            <a:off x="1717352" y="2532596"/>
            <a:ext cx="5285298" cy="1208179"/>
          </a:xfrm>
          <a:prstGeom prst="arc">
            <a:avLst>
              <a:gd name="adj1" fmla="val 10804901"/>
              <a:gd name="adj2" fmla="val 67086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文本框 172"/>
          <p:cNvSpPr txBox="1"/>
          <p:nvPr/>
        </p:nvSpPr>
        <p:spPr>
          <a:xfrm rot="21245695">
            <a:off x="3929767" y="2553319"/>
            <a:ext cx="878682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输入</a:t>
            </a:r>
            <a:r>
              <a:rPr lang="en-US" altLang="zh-CN" sz="2000" b="1" dirty="0"/>
              <a:t>0</a:t>
            </a:r>
            <a:endParaRPr lang="en-US" altLang="zh-CN" sz="2000" b="1" dirty="0"/>
          </a:p>
        </p:txBody>
      </p:sp>
      <p:sp>
        <p:nvSpPr>
          <p:cNvPr id="174" name="文本框 173"/>
          <p:cNvSpPr txBox="1"/>
          <p:nvPr/>
        </p:nvSpPr>
        <p:spPr>
          <a:xfrm rot="21348047">
            <a:off x="4858423" y="2491695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175" name="弧形 174"/>
          <p:cNvSpPr/>
          <p:nvPr/>
        </p:nvSpPr>
        <p:spPr>
          <a:xfrm>
            <a:off x="7334847" y="2833153"/>
            <a:ext cx="582475" cy="963911"/>
          </a:xfrm>
          <a:prstGeom prst="arc">
            <a:avLst>
              <a:gd name="adj1" fmla="val 13585289"/>
              <a:gd name="adj2" fmla="val 8033603"/>
            </a:avLst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文本框 178"/>
          <p:cNvSpPr txBox="1"/>
          <p:nvPr/>
        </p:nvSpPr>
        <p:spPr>
          <a:xfrm>
            <a:off x="7945809" y="2689893"/>
            <a:ext cx="405045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输入</a:t>
            </a:r>
            <a:r>
              <a:rPr lang="en-US" altLang="zh-CN" sz="2000" b="1" dirty="0">
                <a:solidFill>
                  <a:srgbClr val="0000FF"/>
                </a:solidFill>
              </a:rPr>
              <a:t>1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7872813" y="3663039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1/1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1498123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5.4.1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逻辑抽象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/>
      <p:bldP spid="59" grpId="0" animBg="1"/>
      <p:bldP spid="102" grpId="0"/>
      <p:bldP spid="136" grpId="0" animBg="1"/>
      <p:bldP spid="137" grpId="0"/>
      <p:bldP spid="141" grpId="0" animBg="1"/>
      <p:bldP spid="142" grpId="0"/>
      <p:bldP spid="144" grpId="0" animBg="1"/>
      <p:bldP spid="145" grpId="0"/>
      <p:bldP spid="146" grpId="0" animBg="1"/>
      <p:bldP spid="147" grpId="0"/>
      <p:bldP spid="154" grpId="0" animBg="1"/>
      <p:bldP spid="155" grpId="0"/>
      <p:bldP spid="165" grpId="0" animBg="1"/>
      <p:bldP spid="166" grpId="0"/>
      <p:bldP spid="167" grpId="0" animBg="1"/>
      <p:bldP spid="172" grpId="0" animBg="1"/>
      <p:bldP spid="173" grpId="0" animBg="1"/>
      <p:bldP spid="174" grpId="0"/>
      <p:bldP spid="175" grpId="0" animBg="1"/>
      <p:bldP spid="179" grpId="0" animBg="1"/>
      <p:bldP spid="18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5943" y="749234"/>
            <a:ext cx="77512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【</a:t>
            </a:r>
            <a:r>
              <a:rPr lang="zh-CN" altLang="en-US" sz="2800" b="1" dirty="0"/>
              <a:t>例</a:t>
            </a:r>
            <a:r>
              <a:rPr lang="en-US" altLang="zh-CN" sz="2800" b="1" dirty="0"/>
              <a:t>5.4.2】</a:t>
            </a:r>
            <a:r>
              <a:rPr lang="zh-CN" altLang="en-US" sz="2800" b="1" dirty="0"/>
              <a:t>设计一个串行数据检测器，在连续输入四个或四个以上的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时输出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，否则输出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。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6271" y="2080049"/>
            <a:ext cx="3763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</a:rPr>
              <a:t>）画出状态转移图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grpSp>
        <p:nvGrpSpPr>
          <p:cNvPr id="124" name="组合 123"/>
          <p:cNvGrpSpPr/>
          <p:nvPr/>
        </p:nvGrpSpPr>
        <p:grpSpPr>
          <a:xfrm>
            <a:off x="6684563" y="5284900"/>
            <a:ext cx="839605" cy="779922"/>
            <a:chOff x="4589521" y="5791899"/>
            <a:chExt cx="649288" cy="649288"/>
          </a:xfrm>
        </p:grpSpPr>
        <p:sp>
          <p:nvSpPr>
            <p:cNvPr id="14" name="Oval 80"/>
            <p:cNvSpPr>
              <a:spLocks noChangeArrowheads="1"/>
            </p:cNvSpPr>
            <p:nvPr/>
          </p:nvSpPr>
          <p:spPr bwMode="auto">
            <a:xfrm>
              <a:off x="4589521" y="5791899"/>
              <a:ext cx="649288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800"/>
            </a:p>
          </p:txBody>
        </p:sp>
        <p:sp>
          <p:nvSpPr>
            <p:cNvPr id="18" name="Text Box 84"/>
            <p:cNvSpPr txBox="1">
              <a:spLocks noChangeArrowheads="1"/>
            </p:cNvSpPr>
            <p:nvPr/>
          </p:nvSpPr>
          <p:spPr bwMode="auto">
            <a:xfrm>
              <a:off x="4662546" y="5863337"/>
              <a:ext cx="482469" cy="435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S3</a:t>
              </a:r>
              <a:endParaRPr lang="en-US" altLang="zh-CN" sz="2800" b="1" dirty="0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4027422" y="5193520"/>
            <a:ext cx="820503" cy="779922"/>
            <a:chOff x="6318309" y="5791899"/>
            <a:chExt cx="649287" cy="649288"/>
          </a:xfrm>
        </p:grpSpPr>
        <p:sp>
          <p:nvSpPr>
            <p:cNvPr id="15" name="Oval 81"/>
            <p:cNvSpPr>
              <a:spLocks noChangeArrowheads="1"/>
            </p:cNvSpPr>
            <p:nvPr/>
          </p:nvSpPr>
          <p:spPr bwMode="auto">
            <a:xfrm>
              <a:off x="6318309" y="5791899"/>
              <a:ext cx="649287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800"/>
            </a:p>
          </p:txBody>
        </p:sp>
        <p:sp>
          <p:nvSpPr>
            <p:cNvPr id="21" name="Text Box 85"/>
            <p:cNvSpPr txBox="1">
              <a:spLocks noChangeArrowheads="1"/>
            </p:cNvSpPr>
            <p:nvPr/>
          </p:nvSpPr>
          <p:spPr bwMode="auto">
            <a:xfrm>
              <a:off x="6426714" y="5920767"/>
              <a:ext cx="493701" cy="435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S2</a:t>
              </a:r>
              <a:endParaRPr lang="en-US" altLang="zh-CN" sz="2800" b="1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781412" y="3346828"/>
            <a:ext cx="878682" cy="816152"/>
            <a:chOff x="7347701" y="4132051"/>
            <a:chExt cx="695327" cy="649288"/>
          </a:xfrm>
        </p:grpSpPr>
        <p:sp>
          <p:nvSpPr>
            <p:cNvPr id="17" name="Oval 83"/>
            <p:cNvSpPr>
              <a:spLocks noChangeArrowheads="1"/>
            </p:cNvSpPr>
            <p:nvPr/>
          </p:nvSpPr>
          <p:spPr bwMode="auto">
            <a:xfrm>
              <a:off x="7347701" y="4132051"/>
              <a:ext cx="649288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800"/>
            </a:p>
          </p:txBody>
        </p:sp>
        <p:sp>
          <p:nvSpPr>
            <p:cNvPr id="22" name="Text Box 86"/>
            <p:cNvSpPr txBox="1">
              <a:spLocks noChangeArrowheads="1"/>
            </p:cNvSpPr>
            <p:nvPr/>
          </p:nvSpPr>
          <p:spPr bwMode="auto">
            <a:xfrm>
              <a:off x="7419139" y="4205076"/>
              <a:ext cx="62388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S1</a:t>
              </a:r>
              <a:endParaRPr lang="en-US" altLang="zh-CN" sz="2800" b="1" dirty="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03141" y="3652449"/>
            <a:ext cx="878682" cy="884072"/>
            <a:chOff x="5675522" y="4143164"/>
            <a:chExt cx="649287" cy="649288"/>
          </a:xfrm>
        </p:grpSpPr>
        <p:sp>
          <p:nvSpPr>
            <p:cNvPr id="16" name="Oval 82"/>
            <p:cNvSpPr>
              <a:spLocks noChangeArrowheads="1"/>
            </p:cNvSpPr>
            <p:nvPr/>
          </p:nvSpPr>
          <p:spPr bwMode="auto">
            <a:xfrm>
              <a:off x="5675522" y="4143164"/>
              <a:ext cx="649287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3200"/>
            </a:p>
          </p:txBody>
        </p:sp>
        <p:sp>
          <p:nvSpPr>
            <p:cNvPr id="23" name="Text Box 87"/>
            <p:cNvSpPr txBox="1">
              <a:spLocks noChangeArrowheads="1"/>
            </p:cNvSpPr>
            <p:nvPr/>
          </p:nvSpPr>
          <p:spPr bwMode="auto">
            <a:xfrm>
              <a:off x="5775299" y="4289878"/>
              <a:ext cx="461012" cy="357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S0</a:t>
              </a:r>
              <a:endParaRPr lang="en-US" altLang="zh-CN" sz="2800" b="1" dirty="0"/>
            </a:p>
          </p:txBody>
        </p:sp>
      </p:grpSp>
      <p:cxnSp>
        <p:nvCxnSpPr>
          <p:cNvPr id="30" name="AutoShape 94"/>
          <p:cNvCxnSpPr>
            <a:cxnSpLocks noChangeShapeType="1"/>
            <a:stCxn id="16" idx="3"/>
            <a:endCxn id="16" idx="1"/>
          </p:cNvCxnSpPr>
          <p:nvPr/>
        </p:nvCxnSpPr>
        <p:spPr bwMode="auto">
          <a:xfrm rot="5400000" flipH="1">
            <a:off x="1219254" y="4094485"/>
            <a:ext cx="625134" cy="12700"/>
          </a:xfrm>
          <a:prstGeom prst="curvedConnector5">
            <a:avLst>
              <a:gd name="adj1" fmla="val -36568"/>
              <a:gd name="adj2" fmla="val 3031843"/>
              <a:gd name="adj3" fmla="val 136568"/>
            </a:avLst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文本框 42"/>
          <p:cNvSpPr txBox="1"/>
          <p:nvPr/>
        </p:nvSpPr>
        <p:spPr>
          <a:xfrm>
            <a:off x="624309" y="3922124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102" name="文本框 101"/>
          <p:cNvSpPr txBox="1"/>
          <p:nvPr/>
        </p:nvSpPr>
        <p:spPr>
          <a:xfrm rot="21294142">
            <a:off x="3480563" y="3898624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6646775" y="3136708"/>
            <a:ext cx="820502" cy="825195"/>
            <a:chOff x="4589521" y="5791899"/>
            <a:chExt cx="649288" cy="649288"/>
          </a:xfrm>
        </p:grpSpPr>
        <p:sp>
          <p:nvSpPr>
            <p:cNvPr id="126" name="Oval 80"/>
            <p:cNvSpPr>
              <a:spLocks noChangeArrowheads="1"/>
            </p:cNvSpPr>
            <p:nvPr/>
          </p:nvSpPr>
          <p:spPr bwMode="auto">
            <a:xfrm>
              <a:off x="4589521" y="5791899"/>
              <a:ext cx="649288" cy="64928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 w="9525" algn="ctr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800"/>
            </a:p>
          </p:txBody>
        </p:sp>
        <p:sp>
          <p:nvSpPr>
            <p:cNvPr id="127" name="Text Box 84"/>
            <p:cNvSpPr txBox="1">
              <a:spLocks noChangeArrowheads="1"/>
            </p:cNvSpPr>
            <p:nvPr/>
          </p:nvSpPr>
          <p:spPr bwMode="auto">
            <a:xfrm>
              <a:off x="4662546" y="5863337"/>
              <a:ext cx="493702" cy="411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dirty="0"/>
                <a:t>S4</a:t>
              </a:r>
              <a:endParaRPr lang="en-US" altLang="zh-CN" sz="2800" b="1" dirty="0"/>
            </a:p>
          </p:txBody>
        </p:sp>
      </p:grpSp>
      <p:cxnSp>
        <p:nvCxnSpPr>
          <p:cNvPr id="131" name="直接箭头连接符 130"/>
          <p:cNvCxnSpPr>
            <a:stCxn id="16" idx="6"/>
          </p:cNvCxnSpPr>
          <p:nvPr/>
        </p:nvCxnSpPr>
        <p:spPr>
          <a:xfrm flipV="1">
            <a:off x="2281823" y="3879607"/>
            <a:ext cx="2539159" cy="214878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136"/>
          <p:cNvSpPr txBox="1"/>
          <p:nvPr/>
        </p:nvSpPr>
        <p:spPr>
          <a:xfrm>
            <a:off x="7071135" y="4520682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1/1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cxnSp>
        <p:nvCxnSpPr>
          <p:cNvPr id="138" name="直接箭头连接符 137"/>
          <p:cNvCxnSpPr/>
          <p:nvPr/>
        </p:nvCxnSpPr>
        <p:spPr>
          <a:xfrm>
            <a:off x="4895140" y="5700622"/>
            <a:ext cx="1751635" cy="614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>
            <a:stCxn id="17" idx="4"/>
            <a:endCxn id="15" idx="0"/>
          </p:cNvCxnSpPr>
          <p:nvPr/>
        </p:nvCxnSpPr>
        <p:spPr>
          <a:xfrm flipH="1">
            <a:off x="4437674" y="4162980"/>
            <a:ext cx="753990" cy="103054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/>
          <p:cNvSpPr txBox="1"/>
          <p:nvPr/>
        </p:nvSpPr>
        <p:spPr>
          <a:xfrm rot="18567576">
            <a:off x="4669422" y="4613670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145" name="文本框 144"/>
          <p:cNvSpPr txBox="1"/>
          <p:nvPr/>
        </p:nvSpPr>
        <p:spPr>
          <a:xfrm rot="805228">
            <a:off x="3563417" y="5994521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536074" y="5664712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cxnSp>
        <p:nvCxnSpPr>
          <p:cNvPr id="153" name="直接箭头连接符 152"/>
          <p:cNvCxnSpPr/>
          <p:nvPr/>
        </p:nvCxnSpPr>
        <p:spPr>
          <a:xfrm flipH="1">
            <a:off x="2235040" y="3602631"/>
            <a:ext cx="2593156" cy="31949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本框 154"/>
          <p:cNvSpPr txBox="1"/>
          <p:nvPr/>
        </p:nvSpPr>
        <p:spPr>
          <a:xfrm rot="21176635">
            <a:off x="3645022" y="3359915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cxnSp>
        <p:nvCxnSpPr>
          <p:cNvPr id="157" name="直接箭头连接符 156"/>
          <p:cNvCxnSpPr>
            <a:stCxn id="15" idx="2"/>
            <a:endCxn id="16" idx="5"/>
          </p:cNvCxnSpPr>
          <p:nvPr/>
        </p:nvCxnSpPr>
        <p:spPr>
          <a:xfrm flipH="1" flipV="1">
            <a:off x="2153143" y="4407052"/>
            <a:ext cx="1874279" cy="11764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/>
        </p:nvSpPr>
        <p:spPr>
          <a:xfrm rot="1812639">
            <a:off x="2964582" y="4704860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167" name="弧形 166"/>
          <p:cNvSpPr/>
          <p:nvPr/>
        </p:nvSpPr>
        <p:spPr>
          <a:xfrm rot="901411" flipV="1">
            <a:off x="1650356" y="4497919"/>
            <a:ext cx="5322419" cy="1613514"/>
          </a:xfrm>
          <a:prstGeom prst="arc">
            <a:avLst>
              <a:gd name="adj1" fmla="val 10699483"/>
              <a:gd name="adj2" fmla="val 21588983"/>
            </a:avLst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9" name="直接箭头连接符 168"/>
          <p:cNvCxnSpPr>
            <a:stCxn id="14" idx="0"/>
          </p:cNvCxnSpPr>
          <p:nvPr/>
        </p:nvCxnSpPr>
        <p:spPr>
          <a:xfrm flipH="1" flipV="1">
            <a:off x="7088612" y="3951360"/>
            <a:ext cx="15754" cy="133354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弧形 171"/>
          <p:cNvSpPr/>
          <p:nvPr/>
        </p:nvSpPr>
        <p:spPr>
          <a:xfrm rot="21254381">
            <a:off x="1705321" y="2749164"/>
            <a:ext cx="5285298" cy="1208179"/>
          </a:xfrm>
          <a:prstGeom prst="arc">
            <a:avLst>
              <a:gd name="adj1" fmla="val 10804901"/>
              <a:gd name="adj2" fmla="val 67086"/>
            </a:avLst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文本框 173"/>
          <p:cNvSpPr txBox="1"/>
          <p:nvPr/>
        </p:nvSpPr>
        <p:spPr>
          <a:xfrm rot="21348047">
            <a:off x="4252063" y="2664095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0/0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175" name="弧形 174"/>
          <p:cNvSpPr/>
          <p:nvPr/>
        </p:nvSpPr>
        <p:spPr>
          <a:xfrm>
            <a:off x="7322816" y="3049721"/>
            <a:ext cx="582475" cy="963911"/>
          </a:xfrm>
          <a:prstGeom prst="arc">
            <a:avLst>
              <a:gd name="adj1" fmla="val 13585289"/>
              <a:gd name="adj2" fmla="val 8033603"/>
            </a:avLst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文本框 179"/>
          <p:cNvSpPr txBox="1"/>
          <p:nvPr/>
        </p:nvSpPr>
        <p:spPr>
          <a:xfrm>
            <a:off x="7863165" y="3358524"/>
            <a:ext cx="562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33CC"/>
                </a:solidFill>
              </a:rPr>
              <a:t>1/1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1498123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5.4.1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逻辑抽象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84481" y="911566"/>
            <a:ext cx="37632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</a:rPr>
              <a:t>3</a:t>
            </a:r>
            <a:r>
              <a:rPr lang="zh-CN" altLang="en-US" sz="2800" b="1" dirty="0">
                <a:solidFill>
                  <a:srgbClr val="C00000"/>
                </a:solidFill>
              </a:rPr>
              <a:t>）列出状态转移表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41938" y="1278227"/>
            <a:ext cx="5481449" cy="2747673"/>
            <a:chOff x="484131" y="2574385"/>
            <a:chExt cx="8102348" cy="3807197"/>
          </a:xfrm>
        </p:grpSpPr>
        <p:sp>
          <p:nvSpPr>
            <p:cNvPr id="167" name="弧形 166"/>
            <p:cNvSpPr/>
            <p:nvPr/>
          </p:nvSpPr>
          <p:spPr>
            <a:xfrm rot="901411" flipV="1">
              <a:off x="1650356" y="4497919"/>
              <a:ext cx="5322419" cy="1613514"/>
            </a:xfrm>
            <a:prstGeom prst="arc">
              <a:avLst>
                <a:gd name="adj1" fmla="val 10699483"/>
                <a:gd name="adj2" fmla="val 21588983"/>
              </a:avLst>
            </a:prstGeom>
            <a:ln w="41275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84131" y="2574385"/>
              <a:ext cx="8102348" cy="3807197"/>
              <a:chOff x="484131" y="2574385"/>
              <a:chExt cx="8102348" cy="3807197"/>
            </a:xfrm>
          </p:grpSpPr>
          <p:grpSp>
            <p:nvGrpSpPr>
              <p:cNvPr id="124" name="组合 123"/>
              <p:cNvGrpSpPr/>
              <p:nvPr/>
            </p:nvGrpSpPr>
            <p:grpSpPr>
              <a:xfrm>
                <a:off x="6650729" y="5284900"/>
                <a:ext cx="873438" cy="779922"/>
                <a:chOff x="4563357" y="5791899"/>
                <a:chExt cx="675452" cy="649288"/>
              </a:xfrm>
            </p:grpSpPr>
            <p:sp>
              <p:nvSpPr>
                <p:cNvPr id="14" name="Oval 80"/>
                <p:cNvSpPr>
                  <a:spLocks noChangeArrowheads="1"/>
                </p:cNvSpPr>
                <p:nvPr/>
              </p:nvSpPr>
              <p:spPr bwMode="auto">
                <a:xfrm>
                  <a:off x="4589521" y="5791899"/>
                  <a:ext cx="649288" cy="649288"/>
                </a:xfrm>
                <a:prstGeom prst="ellipse">
                  <a:avLst/>
                </a:prstGeom>
                <a:solidFill>
                  <a:schemeClr val="accent1">
                    <a:alpha val="0"/>
                  </a:schemeClr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zh-CN" sz="2800"/>
                </a:p>
              </p:txBody>
            </p:sp>
            <p:sp>
              <p:nvSpPr>
                <p:cNvPr id="18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4563357" y="5836120"/>
                  <a:ext cx="482469" cy="435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1" dirty="0"/>
                    <a:t>S3</a:t>
                  </a:r>
                  <a:endParaRPr lang="en-US" altLang="zh-CN" sz="2800" b="1" dirty="0"/>
                </a:p>
              </p:txBody>
            </p:sp>
          </p:grpSp>
          <p:grpSp>
            <p:nvGrpSpPr>
              <p:cNvPr id="123" name="组合 122"/>
              <p:cNvGrpSpPr/>
              <p:nvPr/>
            </p:nvGrpSpPr>
            <p:grpSpPr>
              <a:xfrm>
                <a:off x="4003595" y="5193520"/>
                <a:ext cx="844330" cy="779922"/>
                <a:chOff x="6299454" y="5791899"/>
                <a:chExt cx="668142" cy="649288"/>
              </a:xfrm>
            </p:grpSpPr>
            <p:sp>
              <p:nvSpPr>
                <p:cNvPr id="15" name="Oval 81"/>
                <p:cNvSpPr>
                  <a:spLocks noChangeArrowheads="1"/>
                </p:cNvSpPr>
                <p:nvPr/>
              </p:nvSpPr>
              <p:spPr bwMode="auto">
                <a:xfrm>
                  <a:off x="6318309" y="5791899"/>
                  <a:ext cx="649287" cy="649288"/>
                </a:xfrm>
                <a:prstGeom prst="ellipse">
                  <a:avLst/>
                </a:prstGeom>
                <a:solidFill>
                  <a:schemeClr val="accent1">
                    <a:alpha val="0"/>
                  </a:schemeClr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zh-CN" sz="2800"/>
                </a:p>
              </p:txBody>
            </p:sp>
            <p:sp>
              <p:nvSpPr>
                <p:cNvPr id="21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6299454" y="5808851"/>
                  <a:ext cx="493702" cy="43558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1" dirty="0"/>
                    <a:t>S2</a:t>
                  </a:r>
                  <a:endParaRPr lang="en-US" altLang="zh-CN" sz="2800" b="1" dirty="0"/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4759172" y="3346828"/>
                <a:ext cx="842748" cy="816152"/>
                <a:chOff x="7330098" y="4132051"/>
                <a:chExt cx="666891" cy="649288"/>
              </a:xfrm>
            </p:grpSpPr>
            <p:sp>
              <p:nvSpPr>
                <p:cNvPr id="17" name="Oval 83"/>
                <p:cNvSpPr>
                  <a:spLocks noChangeArrowheads="1"/>
                </p:cNvSpPr>
                <p:nvPr/>
              </p:nvSpPr>
              <p:spPr bwMode="auto">
                <a:xfrm>
                  <a:off x="7347701" y="4132051"/>
                  <a:ext cx="649288" cy="649288"/>
                </a:xfrm>
                <a:prstGeom prst="ellipse">
                  <a:avLst/>
                </a:prstGeom>
                <a:solidFill>
                  <a:schemeClr val="accent1">
                    <a:alpha val="0"/>
                  </a:schemeClr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zh-CN" sz="2800"/>
                </a:p>
              </p:txBody>
            </p:sp>
            <p:sp>
              <p:nvSpPr>
                <p:cNvPr id="22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7330098" y="4180121"/>
                  <a:ext cx="623889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1" dirty="0"/>
                    <a:t>S1</a:t>
                  </a:r>
                  <a:endParaRPr lang="en-US" altLang="zh-CN" sz="2800" b="1" dirty="0"/>
                </a:p>
              </p:txBody>
            </p:sp>
          </p:grpSp>
          <p:grpSp>
            <p:nvGrpSpPr>
              <p:cNvPr id="5" name="组合 4"/>
              <p:cNvGrpSpPr/>
              <p:nvPr/>
            </p:nvGrpSpPr>
            <p:grpSpPr>
              <a:xfrm>
                <a:off x="1403141" y="3652449"/>
                <a:ext cx="878682" cy="884072"/>
                <a:chOff x="5675522" y="4143164"/>
                <a:chExt cx="649287" cy="649288"/>
              </a:xfrm>
            </p:grpSpPr>
            <p:sp>
              <p:nvSpPr>
                <p:cNvPr id="16" name="Oval 82"/>
                <p:cNvSpPr>
                  <a:spLocks noChangeArrowheads="1"/>
                </p:cNvSpPr>
                <p:nvPr/>
              </p:nvSpPr>
              <p:spPr bwMode="auto">
                <a:xfrm>
                  <a:off x="5675522" y="4143164"/>
                  <a:ext cx="649287" cy="649288"/>
                </a:xfrm>
                <a:prstGeom prst="ellipse">
                  <a:avLst/>
                </a:prstGeom>
                <a:solidFill>
                  <a:schemeClr val="accent1">
                    <a:alpha val="0"/>
                  </a:schemeClr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zh-CN" sz="3200"/>
                </a:p>
              </p:txBody>
            </p:sp>
            <p:sp>
              <p:nvSpPr>
                <p:cNvPr id="23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5692102" y="4214314"/>
                  <a:ext cx="461012" cy="3574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1" dirty="0"/>
                    <a:t>S0</a:t>
                  </a:r>
                  <a:endParaRPr lang="en-US" altLang="zh-CN" sz="2800" b="1" dirty="0"/>
                </a:p>
              </p:txBody>
            </p:sp>
          </p:grpSp>
          <p:cxnSp>
            <p:nvCxnSpPr>
              <p:cNvPr id="30" name="AutoShape 94"/>
              <p:cNvCxnSpPr>
                <a:cxnSpLocks noChangeShapeType="1"/>
                <a:stCxn id="16" idx="3"/>
                <a:endCxn id="16" idx="1"/>
              </p:cNvCxnSpPr>
              <p:nvPr/>
            </p:nvCxnSpPr>
            <p:spPr bwMode="auto">
              <a:xfrm rot="5400000" flipH="1">
                <a:off x="1219254" y="4094485"/>
                <a:ext cx="625134" cy="12700"/>
              </a:xfrm>
              <a:prstGeom prst="curvedConnector5">
                <a:avLst>
                  <a:gd name="adj1" fmla="val -36568"/>
                  <a:gd name="adj2" fmla="val 3031843"/>
                  <a:gd name="adj3" fmla="val 136568"/>
                </a:avLst>
              </a:prstGeom>
              <a:noFill/>
              <a:ln w="254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3" name="文本框 42"/>
              <p:cNvSpPr txBox="1"/>
              <p:nvPr/>
            </p:nvSpPr>
            <p:spPr>
              <a:xfrm>
                <a:off x="484131" y="3750720"/>
                <a:ext cx="1008573" cy="498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0/0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 rot="21294142">
                <a:off x="3290121" y="3889872"/>
                <a:ext cx="930544" cy="554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1/0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  <p:grpSp>
            <p:nvGrpSpPr>
              <p:cNvPr id="125" name="组合 124"/>
              <p:cNvGrpSpPr/>
              <p:nvPr/>
            </p:nvGrpSpPr>
            <p:grpSpPr>
              <a:xfrm>
                <a:off x="6646382" y="3137556"/>
                <a:ext cx="848657" cy="825195"/>
                <a:chOff x="4589211" y="5792566"/>
                <a:chExt cx="671568" cy="649288"/>
              </a:xfrm>
            </p:grpSpPr>
            <p:sp>
              <p:nvSpPr>
                <p:cNvPr id="126" name="Oval 80"/>
                <p:cNvSpPr>
                  <a:spLocks noChangeArrowheads="1"/>
                </p:cNvSpPr>
                <p:nvPr/>
              </p:nvSpPr>
              <p:spPr bwMode="auto">
                <a:xfrm>
                  <a:off x="4611491" y="5792566"/>
                  <a:ext cx="649288" cy="649288"/>
                </a:xfrm>
                <a:prstGeom prst="ellipse">
                  <a:avLst/>
                </a:prstGeom>
                <a:solidFill>
                  <a:schemeClr val="accent1">
                    <a:alpha val="0"/>
                  </a:schemeClr>
                </a:solidFill>
                <a:ln w="9525" algn="ctr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zh-CN" sz="2800"/>
                </a:p>
              </p:txBody>
            </p:sp>
            <p:sp>
              <p:nvSpPr>
                <p:cNvPr id="127" name="Text Box 84"/>
                <p:cNvSpPr txBox="1">
                  <a:spLocks noChangeArrowheads="1"/>
                </p:cNvSpPr>
                <p:nvPr/>
              </p:nvSpPr>
              <p:spPr bwMode="auto">
                <a:xfrm>
                  <a:off x="4589211" y="5841400"/>
                  <a:ext cx="493702" cy="4116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b="1" dirty="0"/>
                    <a:t>S4</a:t>
                  </a:r>
                  <a:endParaRPr lang="en-US" altLang="zh-CN" sz="2800" b="1" dirty="0"/>
                </a:p>
              </p:txBody>
            </p:sp>
          </p:grpSp>
          <p:cxnSp>
            <p:nvCxnSpPr>
              <p:cNvPr id="131" name="直接箭头连接符 130"/>
              <p:cNvCxnSpPr>
                <a:stCxn id="16" idx="6"/>
              </p:cNvCxnSpPr>
              <p:nvPr/>
            </p:nvCxnSpPr>
            <p:spPr>
              <a:xfrm flipV="1">
                <a:off x="2281823" y="3879607"/>
                <a:ext cx="2539159" cy="214878"/>
              </a:xfrm>
              <a:prstGeom prst="straightConnector1">
                <a:avLst/>
              </a:prstGeom>
              <a:ln w="4762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文本框 136"/>
              <p:cNvSpPr txBox="1"/>
              <p:nvPr/>
            </p:nvSpPr>
            <p:spPr>
              <a:xfrm>
                <a:off x="6384592" y="4390369"/>
                <a:ext cx="834156" cy="554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1/1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  <p:cxnSp>
            <p:nvCxnSpPr>
              <p:cNvPr id="138" name="直接箭头连接符 137"/>
              <p:cNvCxnSpPr/>
              <p:nvPr/>
            </p:nvCxnSpPr>
            <p:spPr>
              <a:xfrm>
                <a:off x="4895140" y="5700622"/>
                <a:ext cx="1751635" cy="6140"/>
              </a:xfrm>
              <a:prstGeom prst="straightConnector1">
                <a:avLst/>
              </a:prstGeom>
              <a:ln w="4762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箭头连接符 139"/>
              <p:cNvCxnSpPr>
                <a:stCxn id="17" idx="4"/>
                <a:endCxn id="15" idx="0"/>
              </p:cNvCxnSpPr>
              <p:nvPr/>
            </p:nvCxnSpPr>
            <p:spPr>
              <a:xfrm flipH="1">
                <a:off x="4437674" y="4162980"/>
                <a:ext cx="753990" cy="1030540"/>
              </a:xfrm>
              <a:prstGeom prst="straightConnector1">
                <a:avLst/>
              </a:prstGeom>
              <a:ln w="444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文本框 141"/>
              <p:cNvSpPr txBox="1"/>
              <p:nvPr/>
            </p:nvSpPr>
            <p:spPr>
              <a:xfrm rot="18567576">
                <a:off x="4615283" y="4382993"/>
                <a:ext cx="912015" cy="591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1/0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 rot="805228">
                <a:off x="2989074" y="5883170"/>
                <a:ext cx="1144534" cy="498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0/0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  <p:sp>
            <p:nvSpPr>
              <p:cNvPr id="147" name="文本框 146"/>
              <p:cNvSpPr txBox="1"/>
              <p:nvPr/>
            </p:nvSpPr>
            <p:spPr>
              <a:xfrm>
                <a:off x="5369733" y="5700621"/>
                <a:ext cx="1101021" cy="554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1/0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  <p:cxnSp>
            <p:nvCxnSpPr>
              <p:cNvPr id="153" name="直接箭头连接符 152"/>
              <p:cNvCxnSpPr/>
              <p:nvPr/>
            </p:nvCxnSpPr>
            <p:spPr>
              <a:xfrm flipH="1">
                <a:off x="2235040" y="3602631"/>
                <a:ext cx="2593156" cy="319493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文本框 154"/>
              <p:cNvSpPr txBox="1"/>
              <p:nvPr/>
            </p:nvSpPr>
            <p:spPr>
              <a:xfrm rot="21176635">
                <a:off x="3499987" y="3219373"/>
                <a:ext cx="895629" cy="498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0/0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  <p:cxnSp>
            <p:nvCxnSpPr>
              <p:cNvPr id="157" name="直接箭头连接符 156"/>
              <p:cNvCxnSpPr>
                <a:stCxn id="15" idx="2"/>
                <a:endCxn id="16" idx="5"/>
              </p:cNvCxnSpPr>
              <p:nvPr/>
            </p:nvCxnSpPr>
            <p:spPr>
              <a:xfrm flipH="1" flipV="1">
                <a:off x="2153143" y="4407052"/>
                <a:ext cx="1874279" cy="11764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文本框 165"/>
              <p:cNvSpPr txBox="1"/>
              <p:nvPr/>
            </p:nvSpPr>
            <p:spPr>
              <a:xfrm rot="1812639">
                <a:off x="2452366" y="4909285"/>
                <a:ext cx="1143068" cy="498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0/0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  <p:cxnSp>
            <p:nvCxnSpPr>
              <p:cNvPr id="169" name="直接箭头连接符 168"/>
              <p:cNvCxnSpPr>
                <a:stCxn id="14" idx="0"/>
              </p:cNvCxnSpPr>
              <p:nvPr/>
            </p:nvCxnSpPr>
            <p:spPr>
              <a:xfrm flipH="1" flipV="1">
                <a:off x="7088612" y="3951360"/>
                <a:ext cx="15754" cy="1333540"/>
              </a:xfrm>
              <a:prstGeom prst="straightConnector1">
                <a:avLst/>
              </a:prstGeom>
              <a:ln w="444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弧形 171"/>
              <p:cNvSpPr/>
              <p:nvPr/>
            </p:nvSpPr>
            <p:spPr>
              <a:xfrm rot="21254381">
                <a:off x="1705321" y="2749164"/>
                <a:ext cx="5285298" cy="1208179"/>
              </a:xfrm>
              <a:prstGeom prst="arc">
                <a:avLst>
                  <a:gd name="adj1" fmla="val 10804901"/>
                  <a:gd name="adj2" fmla="val 67086"/>
                </a:avLst>
              </a:prstGeom>
              <a:ln w="381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文本框 173"/>
              <p:cNvSpPr txBox="1"/>
              <p:nvPr/>
            </p:nvSpPr>
            <p:spPr>
              <a:xfrm rot="21348047">
                <a:off x="4251562" y="2574385"/>
                <a:ext cx="935179" cy="554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0/0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  <p:sp>
            <p:nvSpPr>
              <p:cNvPr id="175" name="弧形 174"/>
              <p:cNvSpPr/>
              <p:nvPr/>
            </p:nvSpPr>
            <p:spPr>
              <a:xfrm>
                <a:off x="7322816" y="3049721"/>
                <a:ext cx="582475" cy="963911"/>
              </a:xfrm>
              <a:prstGeom prst="arc">
                <a:avLst>
                  <a:gd name="adj1" fmla="val 13585289"/>
                  <a:gd name="adj2" fmla="val 8033603"/>
                </a:avLst>
              </a:prstGeom>
              <a:ln w="3492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文本框 179"/>
              <p:cNvSpPr txBox="1"/>
              <p:nvPr/>
            </p:nvSpPr>
            <p:spPr>
              <a:xfrm>
                <a:off x="7765977" y="3189415"/>
                <a:ext cx="820502" cy="498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rgbClr val="FF33CC"/>
                    </a:solidFill>
                  </a:rPr>
                  <a:t>1/1</a:t>
                </a:r>
                <a:endParaRPr lang="zh-CN" altLang="en-US" sz="2000" b="1" dirty="0">
                  <a:solidFill>
                    <a:srgbClr val="FF33CC"/>
                  </a:solidFill>
                </a:endParaRPr>
              </a:p>
            </p:txBody>
          </p:sp>
        </p:grpSp>
      </p:grpSp>
      <p:pic>
        <p:nvPicPr>
          <p:cNvPr id="47" name="Picture 5" descr="B5-4-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1" y="4299629"/>
            <a:ext cx="8958837" cy="2107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Rectangle 4"/>
          <p:cNvSpPr>
            <a:spLocks noChangeArrowheads="1"/>
          </p:cNvSpPr>
          <p:nvPr/>
        </p:nvSpPr>
        <p:spPr bwMode="auto">
          <a:xfrm>
            <a:off x="1498123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5.4.1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逻辑抽象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76977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571500" y="533400"/>
            <a:ext cx="8321675" cy="31836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/>
              <a:t>　　</a:t>
            </a:r>
            <a:r>
              <a:rPr lang="en-US" altLang="zh-CN" sz="2000" b="1"/>
              <a:t>【</a:t>
            </a:r>
            <a:r>
              <a:rPr lang="zh-CN" altLang="en-US" sz="2000" b="1"/>
              <a:t>例</a:t>
            </a:r>
            <a:r>
              <a:rPr lang="en-US" altLang="zh-CN" sz="2000" b="1"/>
              <a:t>5.4.3】  </a:t>
            </a:r>
            <a:r>
              <a:rPr lang="zh-CN" altLang="en-US" sz="2000" b="1"/>
              <a:t>用树干分支法画出重叠型和非重叠型“</a:t>
            </a:r>
            <a:r>
              <a:rPr lang="en-US" altLang="zh-CN" sz="2000" b="1"/>
              <a:t>1010”</a:t>
            </a:r>
            <a:r>
              <a:rPr lang="zh-CN" altLang="en-US" sz="2000" b="1"/>
              <a:t>序列检测器的原始状态图。</a:t>
            </a:r>
            <a:endParaRPr lang="en-US" altLang="zh-CN" sz="2000" b="1"/>
          </a:p>
          <a:p>
            <a:pPr algn="l"/>
            <a:r>
              <a:rPr lang="zh-CN" altLang="en-US" sz="2000" b="1"/>
              <a:t> </a:t>
            </a:r>
            <a:br>
              <a:rPr lang="zh-CN" altLang="en-US" b="1"/>
            </a:br>
            <a:r>
              <a:rPr lang="zh-CN" altLang="en-US" sz="2000" b="1"/>
              <a:t>　　重叠型序列检测器：前、 后序列是可以重叠的， 如重叠型“</a:t>
            </a:r>
            <a:r>
              <a:rPr lang="en-US" altLang="zh-CN" sz="2000" b="1"/>
              <a:t>1010”</a:t>
            </a:r>
            <a:r>
              <a:rPr lang="zh-CN" altLang="en-US" sz="2000" b="1"/>
              <a:t>序列在已经收到“</a:t>
            </a:r>
            <a:r>
              <a:rPr lang="en-US" altLang="zh-CN" sz="2000" b="1"/>
              <a:t>1010”</a:t>
            </a:r>
            <a:r>
              <a:rPr lang="zh-CN" altLang="en-US" sz="2000" b="1"/>
              <a:t>后， 只要再收到“</a:t>
            </a:r>
            <a:r>
              <a:rPr lang="en-US" altLang="zh-CN" sz="2000" b="1"/>
              <a:t>10”</a:t>
            </a:r>
            <a:r>
              <a:rPr lang="zh-CN" altLang="en-US" sz="2000" b="1"/>
              <a:t>就表示检测到了下一个“</a:t>
            </a:r>
            <a:r>
              <a:rPr lang="en-US" altLang="zh-CN" sz="2000" b="1"/>
              <a:t>1010”</a:t>
            </a:r>
            <a:r>
              <a:rPr lang="zh-CN" altLang="en-US" sz="2000" b="1"/>
              <a:t>序列， 因为是用上一个序列的后一个“</a:t>
            </a:r>
            <a:r>
              <a:rPr lang="en-US" altLang="zh-CN" sz="2000" b="1"/>
              <a:t>10”</a:t>
            </a:r>
            <a:r>
              <a:rPr lang="zh-CN" altLang="en-US" sz="2000" b="1"/>
              <a:t>作为下一序列的前两位“</a:t>
            </a:r>
            <a:r>
              <a:rPr lang="en-US" altLang="zh-CN" sz="2000" b="1"/>
              <a:t>10”</a:t>
            </a:r>
            <a:r>
              <a:rPr lang="zh-CN" altLang="en-US" sz="2000" b="1"/>
              <a:t>的。</a:t>
            </a:r>
            <a:endParaRPr lang="en-US" altLang="zh-CN" sz="2000" b="1"/>
          </a:p>
          <a:p>
            <a:pPr algn="l"/>
            <a:endParaRPr lang="en-US" altLang="zh-CN" sz="2000" b="1"/>
          </a:p>
          <a:p>
            <a:pPr algn="l"/>
            <a:r>
              <a:rPr lang="zh-CN" altLang="en-US" sz="2000" b="1"/>
              <a:t>       非重叠型序列检测器：因已经检测到了“</a:t>
            </a:r>
            <a:r>
              <a:rPr lang="en-US" altLang="zh-CN" sz="2000" b="1"/>
              <a:t>1010”</a:t>
            </a:r>
            <a:r>
              <a:rPr lang="zh-CN" altLang="en-US" sz="2000" b="1"/>
              <a:t>，  所以后面的两位“</a:t>
            </a:r>
            <a:r>
              <a:rPr lang="en-US" altLang="zh-CN" sz="2000" b="1"/>
              <a:t>10”</a:t>
            </a:r>
            <a:r>
              <a:rPr lang="zh-CN" altLang="en-US" sz="2000" b="1"/>
              <a:t>不可再用， 应从下一位开始重新检测“</a:t>
            </a:r>
            <a:r>
              <a:rPr lang="en-US" altLang="zh-CN" sz="2000" b="1"/>
              <a:t>1010”</a:t>
            </a:r>
            <a:r>
              <a:rPr lang="zh-CN" altLang="en-US" sz="2000" b="1"/>
              <a:t>。</a:t>
            </a:r>
            <a:endParaRPr lang="zh-CN" altLang="en-US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010" y="4086860"/>
            <a:ext cx="6492875" cy="949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76977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7" name="Group 6"/>
          <p:cNvGrpSpPr/>
          <p:nvPr/>
        </p:nvGrpSpPr>
        <p:grpSpPr bwMode="auto">
          <a:xfrm>
            <a:off x="717583" y="1878477"/>
            <a:ext cx="7848600" cy="1962150"/>
            <a:chOff x="431" y="1628"/>
            <a:chExt cx="4944" cy="1236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1185" y="2581"/>
              <a:ext cx="375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en-US" altLang="zh-CN" sz="2000" b="0" dirty="0"/>
                <a:t>(a) </a:t>
              </a:r>
              <a:r>
                <a:rPr lang="zh-CN" altLang="en-US" sz="2000" b="0" dirty="0"/>
                <a:t>重叠型</a:t>
              </a:r>
              <a:r>
                <a:rPr lang="en-US" altLang="zh-CN" sz="2000" b="0" dirty="0"/>
                <a:t>                                            (b) </a:t>
              </a:r>
              <a:r>
                <a:rPr lang="zh-CN" altLang="en-US" sz="2000" b="0" dirty="0"/>
                <a:t>非重叠型</a:t>
              </a:r>
              <a:endParaRPr lang="zh-CN" altLang="en-US" sz="2000" b="0" dirty="0"/>
            </a:p>
          </p:txBody>
        </p:sp>
        <p:pic>
          <p:nvPicPr>
            <p:cNvPr id="11" name="Picture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687"/>
            <a:stretch>
              <a:fillRect/>
            </a:stretch>
          </p:blipFill>
          <p:spPr bwMode="auto">
            <a:xfrm>
              <a:off x="431" y="1628"/>
              <a:ext cx="4944" cy="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" name="直接连接符 2"/>
          <p:cNvCxnSpPr/>
          <p:nvPr/>
        </p:nvCxnSpPr>
        <p:spPr>
          <a:xfrm>
            <a:off x="4632511" y="1620371"/>
            <a:ext cx="0" cy="222025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3304" y="861591"/>
            <a:ext cx="84915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合并等效状态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消去多余状态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的过程，利用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状态与状态间的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等效关系</a:t>
            </a:r>
            <a:r>
              <a:rPr lang="zh-CN" altLang="en-US" sz="2800" b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进行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状态简化</a:t>
            </a:r>
            <a:endParaRPr lang="zh-CN" altLang="en-US" sz="28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9150" y="2466489"/>
            <a:ext cx="5986612" cy="36066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状态等效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在完全确定的状态表中，若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对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所有可能的输入序列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，分别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从某两个状态（假设为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S1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与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S2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）出发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，所得到的</a:t>
            </a: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输出序列都相同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，且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49" charset="-122"/>
              </a:rPr>
              <a:t>状态转移效果相同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，则说这两个状态（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S1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与</a:t>
            </a:r>
            <a:r>
              <a:rPr lang="en-US" altLang="zh-CN" sz="2400" b="1" dirty="0">
                <a:solidFill>
                  <a:srgbClr val="000066"/>
                </a:solidFill>
                <a:ea typeface="楷体_GB2312" pitchFamily="49" charset="-122"/>
              </a:rPr>
              <a:t>S2</a:t>
            </a:r>
            <a:r>
              <a:rPr lang="zh-CN" altLang="en-US" sz="2400" b="1" dirty="0">
                <a:solidFill>
                  <a:srgbClr val="000066"/>
                </a:solidFill>
                <a:ea typeface="楷体_GB2312" pitchFamily="49" charset="-122"/>
              </a:rPr>
              <a:t>）等效。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记做：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S1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S2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此时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S1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S2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可以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合并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为一个状态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pic>
        <p:nvPicPr>
          <p:cNvPr id="51" name="Picture 5" descr="5-4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182" y="3295782"/>
            <a:ext cx="2790573" cy="2037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410052" y="1017808"/>
                <a:ext cx="8425012" cy="186512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等效的传递性</a:t>
                </a: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：</a:t>
                </a:r>
                <a:endParaRPr lang="en-US" altLang="zh-CN" sz="24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   若有状态</a:t>
                </a:r>
                <a:r>
                  <a:rPr lang="en-US" altLang="zh-CN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S1</a:t>
                </a: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和</a:t>
                </a:r>
                <a:r>
                  <a:rPr lang="en-US" altLang="zh-CN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S2</a:t>
                </a: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等效，状态</a:t>
                </a:r>
                <a:r>
                  <a:rPr lang="en-US" altLang="zh-CN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S2</a:t>
                </a: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和</a:t>
                </a:r>
                <a:r>
                  <a:rPr lang="en-US" altLang="zh-CN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S3</a:t>
                </a: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等效，则状态</a:t>
                </a:r>
                <a:r>
                  <a:rPr lang="en-US" altLang="zh-CN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S1</a:t>
                </a: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和</a:t>
                </a:r>
                <a:r>
                  <a:rPr lang="en-US" altLang="zh-CN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S3</a:t>
                </a: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也等效，记为：</a:t>
                </a:r>
                <a:endParaRPr lang="en-US" altLang="zh-CN" sz="24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（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S1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S2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），（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S2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，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S3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4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S1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S3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）</a:t>
                </a:r>
                <a:endParaRPr lang="en-US" altLang="zh-CN" sz="24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52" y="1017808"/>
                <a:ext cx="8425012" cy="1865126"/>
              </a:xfrm>
              <a:prstGeom prst="rect">
                <a:avLst/>
              </a:prstGeom>
              <a:blipFill rotWithShape="1">
                <a:blip r:embed="rId2"/>
                <a:stretch>
                  <a:fillRect l="-58" t="-267" r="-49" b="-2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410052" y="3138168"/>
                <a:ext cx="8425012" cy="186512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 pitchFamily="49" charset="-122"/>
                  </a:rPr>
                  <a:t>等效类</a:t>
                </a: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：</a:t>
                </a:r>
                <a:endParaRPr lang="en-US" altLang="zh-CN" sz="24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 pitchFamily="49" charset="-122"/>
                  </a:rPr>
                  <a:t>    </a:t>
                </a:r>
                <a:r>
                  <a:rPr lang="zh-CN" altLang="en-US" sz="2400" b="1" dirty="0">
                    <a:solidFill>
                      <a:srgbClr val="000066"/>
                    </a:solidFill>
                    <a:latin typeface="楷体_GB2312" pitchFamily="49" charset="-122"/>
                    <a:ea typeface="楷体_GB2312"/>
                  </a:rPr>
                  <a:t>所含状态都可以互相构成等效对的等效状态集合，即：</a:t>
                </a:r>
                <a:endParaRPr lang="en-US" altLang="zh-CN" sz="2400" b="1" dirty="0">
                  <a:solidFill>
                    <a:srgbClr val="000066"/>
                  </a:solidFill>
                  <a:latin typeface="楷体_GB2312" pitchFamily="49" charset="-122"/>
                  <a:ea typeface="楷体_GB231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（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S1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S2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S3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4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ea typeface="楷体_GB2312"/>
                  </a:rPr>
                  <a:t>（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S1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S2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）（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S2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S3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） （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S1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S3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）</a:t>
                </a:r>
                <a:endParaRPr lang="en-US" altLang="zh-CN" sz="2400" b="1" dirty="0">
                  <a:solidFill>
                    <a:srgbClr val="FF0000"/>
                  </a:solidFill>
                  <a:latin typeface="楷体_GB2312" pitchFamily="49" charset="-122"/>
                  <a:ea typeface="楷体_GB2312"/>
                </a:endParaRPr>
              </a:p>
              <a:p>
                <a:pPr algn="ctr"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（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S1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S2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）（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S2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S3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） （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S1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S3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楷体_GB2312" pitchFamily="49" charset="-122"/>
                    <a:ea typeface="楷体_GB231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（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S1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S2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，</a:t>
                </a:r>
                <a:r>
                  <a:rPr lang="en-US" altLang="zh-CN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S3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楷体_GB2312" pitchFamily="49" charset="-122"/>
                    <a:ea typeface="楷体_GB2312"/>
                  </a:rPr>
                  <a:t>）</a:t>
                </a:r>
                <a:endParaRPr lang="en-US" altLang="zh-CN" sz="2400" b="1" dirty="0">
                  <a:solidFill>
                    <a:srgbClr val="FF0000"/>
                  </a:solidFill>
                  <a:latin typeface="楷体_GB2312" pitchFamily="49" charset="-122"/>
                  <a:ea typeface="楷体_GB2312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52" y="3138168"/>
                <a:ext cx="8425012" cy="1865126"/>
              </a:xfrm>
              <a:prstGeom prst="rect">
                <a:avLst/>
              </a:prstGeom>
              <a:blipFill rotWithShape="1">
                <a:blip r:embed="rId3"/>
                <a:stretch>
                  <a:fillRect l="-58" t="-272" r="-49" b="-23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410052" y="5258529"/>
            <a:ext cx="8425012" cy="9787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最大等效类</a:t>
            </a: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一个原始状态表中，不能被其它等效类所包含的等效类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10052" y="1017808"/>
            <a:ext cx="8425012" cy="138435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等效对的判断标准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条件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 在输入相同的条件下， 其输出完全相同。</a:t>
            </a:r>
            <a:b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条件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 在条件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的基础上， 每个次态满足下列条件之一。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0052" y="2487845"/>
            <a:ext cx="8425012" cy="9411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等效对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次态相同；次态交错；次态维持；后继状态等效；次态循环。</a:t>
            </a:r>
            <a:endParaRPr lang="en-US" altLang="zh-CN" sz="2400" b="1" dirty="0">
              <a:solidFill>
                <a:srgbClr val="FF0000"/>
              </a:solidFill>
              <a:latin typeface="楷体_GB2312" pitchFamily="49" charset="-122"/>
              <a:ea typeface="楷体_GB231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0052" y="3651606"/>
            <a:ext cx="8425012" cy="9411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次态相同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：状态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， 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在输入相同的情况下， 输出均相同， 且状态转移效果均相同。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0" name="Group 6"/>
          <p:cNvGrpSpPr/>
          <p:nvPr/>
        </p:nvGrpSpPr>
        <p:grpSpPr bwMode="auto">
          <a:xfrm>
            <a:off x="2193881" y="4724278"/>
            <a:ext cx="4857353" cy="1772602"/>
            <a:chOff x="521" y="1075"/>
            <a:chExt cx="4854" cy="2547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1700" y="2976"/>
              <a:ext cx="1979" cy="6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b="0" dirty="0"/>
                <a:t>次态相同示意图</a:t>
              </a:r>
              <a:endParaRPr lang="zh-CN" altLang="en-US" sz="2000" b="0" dirty="0"/>
            </a:p>
          </p:txBody>
        </p:sp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" y="1075"/>
              <a:ext cx="4854" cy="1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2305" y="741331"/>
            <a:ext cx="8758450" cy="4979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次态交错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：次态交错是指状态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的次态是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， 状态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的次态是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6" name="Group 6"/>
          <p:cNvGrpSpPr/>
          <p:nvPr/>
        </p:nvGrpSpPr>
        <p:grpSpPr bwMode="auto">
          <a:xfrm>
            <a:off x="2303562" y="1306383"/>
            <a:ext cx="4536876" cy="1967853"/>
            <a:chOff x="385" y="1071"/>
            <a:chExt cx="5035" cy="2881"/>
          </a:xfrm>
        </p:grpSpPr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1591" y="3294"/>
              <a:ext cx="2197" cy="6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b="0" dirty="0"/>
                <a:t>次态交错示意图</a:t>
              </a:r>
              <a:endParaRPr lang="zh-CN" altLang="en-US" sz="2000" b="0" dirty="0"/>
            </a:p>
          </p:txBody>
        </p:sp>
        <p:pic>
          <p:nvPicPr>
            <p:cNvPr id="18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1071"/>
              <a:ext cx="5035" cy="1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矩形 18"/>
          <p:cNvSpPr/>
          <p:nvPr/>
        </p:nvSpPr>
        <p:spPr>
          <a:xfrm>
            <a:off x="282305" y="3274236"/>
            <a:ext cx="8758450" cy="9411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次态维持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：次态维持是指在某些输入相同的情况下， 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、 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的次态维持其本身不变， 则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、 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是等价态。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0" name="Group 6"/>
          <p:cNvGrpSpPr/>
          <p:nvPr/>
        </p:nvGrpSpPr>
        <p:grpSpPr bwMode="auto">
          <a:xfrm>
            <a:off x="1781247" y="4417723"/>
            <a:ext cx="5760566" cy="1672470"/>
            <a:chOff x="476" y="1409"/>
            <a:chExt cx="4808" cy="2199"/>
          </a:xfrm>
        </p:grpSpPr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1845" y="2929"/>
              <a:ext cx="169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b="0" dirty="0"/>
                <a:t>次态维持示意图</a:t>
              </a:r>
              <a:endParaRPr lang="zh-CN" altLang="en-US" sz="2000" b="0" dirty="0"/>
            </a:p>
          </p:txBody>
        </p:sp>
        <p:pic>
          <p:nvPicPr>
            <p:cNvPr id="22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409"/>
              <a:ext cx="4808" cy="1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2304" y="894335"/>
            <a:ext cx="8758450" cy="9411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后继状态等效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：后继状态等效是指若两个状态的后继态是等效态， 则这两个状态也是等效态。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4" name="Group 6"/>
          <p:cNvGrpSpPr/>
          <p:nvPr/>
        </p:nvGrpSpPr>
        <p:grpSpPr bwMode="auto">
          <a:xfrm>
            <a:off x="1276967" y="2216005"/>
            <a:ext cx="6769125" cy="2319894"/>
            <a:chOff x="567" y="1184"/>
            <a:chExt cx="4808" cy="2323"/>
          </a:xfrm>
        </p:grpSpPr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1846" y="3057"/>
              <a:ext cx="1771" cy="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b="0" dirty="0"/>
                <a:t>后继状态等效示意图</a:t>
              </a:r>
              <a:endParaRPr lang="zh-CN" altLang="en-US" sz="2000" b="0" dirty="0"/>
            </a:p>
          </p:txBody>
        </p:sp>
        <p:pic>
          <p:nvPicPr>
            <p:cNvPr id="2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7" y="1184"/>
              <a:ext cx="4808" cy="1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2305" y="902696"/>
            <a:ext cx="8758450" cy="138435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次态循环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：次态之间相互循环， 是指状态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等价的前提条件是状态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等价， 而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等价的前提条件又是状态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等价， 此时， 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等价， 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en-US" altLang="zh-CN" sz="2400" b="1" baseline="-250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也等价。 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0" name="Group 6"/>
          <p:cNvGrpSpPr/>
          <p:nvPr/>
        </p:nvGrpSpPr>
        <p:grpSpPr bwMode="auto">
          <a:xfrm>
            <a:off x="1346126" y="2498748"/>
            <a:ext cx="6234113" cy="3829050"/>
            <a:chOff x="916" y="1165"/>
            <a:chExt cx="3927" cy="2412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2061" y="3294"/>
              <a:ext cx="1247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sz="2000" b="0" dirty="0"/>
                <a:t>次态循环示意图</a:t>
              </a:r>
              <a:endParaRPr lang="zh-CN" altLang="en-US" sz="2000" b="0" dirty="0"/>
            </a:p>
          </p:txBody>
        </p:sp>
        <p:pic>
          <p:nvPicPr>
            <p:cNvPr id="16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" y="1165"/>
              <a:ext cx="3927" cy="1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82305" y="902696"/>
            <a:ext cx="8758450" cy="138435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3) </a:t>
            </a:r>
            <a:r>
              <a:rPr lang="zh-CN" altLang="en-US" sz="24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用隐含表法进行状态化简</a:t>
            </a:r>
            <a:r>
              <a:rPr lang="zh-CN" altLang="en-US" sz="24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：对于简单的等价态关系， 可以直接通过观察进行判断； 对于比较复杂的对等关系， 可以采用隐含表法进行状态化简。</a:t>
            </a:r>
            <a:endParaRPr lang="en-US" altLang="zh-CN" sz="24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999565" y="2629236"/>
            <a:ext cx="4191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anose="02020603050405020304" pitchFamily="18" charset="0"/>
              </a:rPr>
              <a:t>隐含表化简法的一般步骤</a:t>
            </a:r>
            <a:endParaRPr kumimoji="1"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15" name="Group 27"/>
          <p:cNvGrpSpPr/>
          <p:nvPr/>
        </p:nvGrpSpPr>
        <p:grpSpPr bwMode="auto">
          <a:xfrm>
            <a:off x="999565" y="3429000"/>
            <a:ext cx="7010400" cy="2141537"/>
            <a:chOff x="576" y="1243"/>
            <a:chExt cx="4416" cy="1349"/>
          </a:xfrm>
        </p:grpSpPr>
        <p:grpSp>
          <p:nvGrpSpPr>
            <p:cNvPr id="17" name="Group 21"/>
            <p:cNvGrpSpPr/>
            <p:nvPr/>
          </p:nvGrpSpPr>
          <p:grpSpPr bwMode="auto">
            <a:xfrm>
              <a:off x="576" y="1243"/>
              <a:ext cx="4416" cy="1109"/>
              <a:chOff x="576" y="1243"/>
              <a:chExt cx="4416" cy="1109"/>
            </a:xfrm>
          </p:grpSpPr>
          <p:sp>
            <p:nvSpPr>
              <p:cNvPr id="23" name="Text Box 12"/>
              <p:cNvSpPr txBox="1">
                <a:spLocks noChangeArrowheads="1"/>
              </p:cNvSpPr>
              <p:nvPr/>
            </p:nvSpPr>
            <p:spPr bwMode="auto">
              <a:xfrm>
                <a:off x="576" y="1243"/>
                <a:ext cx="9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kumimoji="1" lang="zh-CN" altLang="en-US" sz="2400" b="1">
                    <a:latin typeface="Times New Roman" panose="02020603050405020304" pitchFamily="18" charset="0"/>
                  </a:rPr>
                  <a:t>作隐含表</a:t>
                </a: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" name="Text Box 13"/>
              <p:cNvSpPr txBox="1">
                <a:spLocks noChangeArrowheads="1"/>
              </p:cNvSpPr>
              <p:nvPr/>
            </p:nvSpPr>
            <p:spPr bwMode="auto">
              <a:xfrm>
                <a:off x="2016" y="1248"/>
                <a:ext cx="10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latin typeface="Times New Roman" panose="02020603050405020304" pitchFamily="18" charset="0"/>
                  </a:rPr>
                  <a:t>  </a:t>
                </a:r>
                <a:r>
                  <a:rPr kumimoji="1" lang="zh-CN" altLang="en-US" sz="2400" b="1">
                    <a:latin typeface="Times New Roman" panose="02020603050405020304" pitchFamily="18" charset="0"/>
                  </a:rPr>
                  <a:t>找等效对</a:t>
                </a: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" name="Text Box 14"/>
              <p:cNvSpPr txBox="1">
                <a:spLocks noChangeArrowheads="1"/>
              </p:cNvSpPr>
              <p:nvPr/>
            </p:nvSpPr>
            <p:spPr bwMode="auto">
              <a:xfrm>
                <a:off x="3600" y="1248"/>
                <a:ext cx="13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400" b="1">
                    <a:latin typeface="Times New Roman" panose="02020603050405020304" pitchFamily="18" charset="0"/>
                  </a:rPr>
                  <a:t> </a:t>
                </a:r>
                <a:r>
                  <a:rPr kumimoji="1" lang="zh-CN" altLang="en-US" sz="2400" b="1">
                    <a:latin typeface="Times New Roman" panose="02020603050405020304" pitchFamily="18" charset="0"/>
                  </a:rPr>
                  <a:t>求最大等效类</a:t>
                </a:r>
                <a:endParaRPr kumimoji="1"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Text Box 15"/>
              <p:cNvSpPr txBox="1">
                <a:spLocks noChangeArrowheads="1"/>
              </p:cNvSpPr>
              <p:nvPr/>
            </p:nvSpPr>
            <p:spPr bwMode="auto">
              <a:xfrm>
                <a:off x="3744" y="2064"/>
                <a:ext cx="115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>
                    <a:latin typeface="Times New Roman" panose="02020603050405020304" pitchFamily="18" charset="0"/>
                  </a:rPr>
                  <a:t>  </a:t>
                </a:r>
                <a:r>
                  <a:rPr kumimoji="1" lang="zh-CN" altLang="en-US" sz="2400" b="1">
                    <a:latin typeface="Times New Roman" panose="02020603050405020304" pitchFamily="18" charset="0"/>
                  </a:rPr>
                  <a:t>状态合并</a:t>
                </a:r>
                <a:endParaRPr kumimoji="1" lang="zh-CN" altLang="en-US" sz="24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Line 16"/>
              <p:cNvSpPr>
                <a:spLocks noChangeShapeType="1"/>
              </p:cNvSpPr>
              <p:nvPr/>
            </p:nvSpPr>
            <p:spPr bwMode="auto">
              <a:xfrm>
                <a:off x="1536" y="1440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8" name="Line 17"/>
              <p:cNvSpPr>
                <a:spLocks noChangeShapeType="1"/>
              </p:cNvSpPr>
              <p:nvPr/>
            </p:nvSpPr>
            <p:spPr bwMode="auto">
              <a:xfrm flipH="1">
                <a:off x="4128" y="1776"/>
                <a:ext cx="8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" name="Line 18"/>
              <p:cNvSpPr>
                <a:spLocks noChangeShapeType="1"/>
              </p:cNvSpPr>
              <p:nvPr/>
            </p:nvSpPr>
            <p:spPr bwMode="auto">
              <a:xfrm>
                <a:off x="3120" y="1440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0" name="Line 19"/>
              <p:cNvSpPr>
                <a:spLocks noChangeShapeType="1"/>
              </p:cNvSpPr>
              <p:nvPr/>
            </p:nvSpPr>
            <p:spPr bwMode="auto">
              <a:xfrm flipH="1">
                <a:off x="2304" y="2256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" name="Text Box 20"/>
              <p:cNvSpPr txBox="1">
                <a:spLocks noChangeArrowheads="1"/>
              </p:cNvSpPr>
              <p:nvPr/>
            </p:nvSpPr>
            <p:spPr bwMode="auto">
              <a:xfrm>
                <a:off x="720" y="2064"/>
                <a:ext cx="14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 b="1">
                    <a:latin typeface="Times New Roman" panose="02020603050405020304" pitchFamily="18" charset="0"/>
                  </a:rPr>
                  <a:t>作最简状态表</a:t>
                </a:r>
                <a:endParaRPr kumimoji="1" lang="zh-CN" altLang="en-US" sz="24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8" name="Oval 22"/>
            <p:cNvSpPr>
              <a:spLocks noChangeArrowheads="1"/>
            </p:cNvSpPr>
            <p:nvPr/>
          </p:nvSpPr>
          <p:spPr bwMode="auto">
            <a:xfrm>
              <a:off x="912" y="1536"/>
              <a:ext cx="288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9" name="Oval 23"/>
            <p:cNvSpPr>
              <a:spLocks noChangeArrowheads="1"/>
            </p:cNvSpPr>
            <p:nvPr/>
          </p:nvSpPr>
          <p:spPr bwMode="auto">
            <a:xfrm>
              <a:off x="2400" y="1536"/>
              <a:ext cx="288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2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Oval 24"/>
            <p:cNvSpPr>
              <a:spLocks noChangeArrowheads="1"/>
            </p:cNvSpPr>
            <p:nvPr/>
          </p:nvSpPr>
          <p:spPr bwMode="auto">
            <a:xfrm>
              <a:off x="3984" y="1536"/>
              <a:ext cx="288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3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1" name="Oval 25"/>
            <p:cNvSpPr>
              <a:spLocks noChangeArrowheads="1"/>
            </p:cNvSpPr>
            <p:nvPr/>
          </p:nvSpPr>
          <p:spPr bwMode="auto">
            <a:xfrm>
              <a:off x="4032" y="2352"/>
              <a:ext cx="288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4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2" name="Oval 26"/>
            <p:cNvSpPr>
              <a:spLocks noChangeArrowheads="1"/>
            </p:cNvSpPr>
            <p:nvPr/>
          </p:nvSpPr>
          <p:spPr bwMode="auto">
            <a:xfrm>
              <a:off x="1296" y="2352"/>
              <a:ext cx="288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400">
                  <a:latin typeface="Times New Roman" panose="02020603050405020304" pitchFamily="18" charset="0"/>
                </a:rPr>
                <a:t>5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2241" name="Group 17"/>
          <p:cNvGraphicFramePr>
            <a:graphicFrameLocks noGrp="1"/>
          </p:cNvGraphicFramePr>
          <p:nvPr/>
        </p:nvGraphicFramePr>
        <p:xfrm>
          <a:off x="179512" y="649541"/>
          <a:ext cx="4896172" cy="4111307"/>
        </p:xfrm>
        <a:graphic>
          <a:graphicData uri="http://schemas.openxmlformats.org/drawingml/2006/table">
            <a:tbl>
              <a:tblPr/>
              <a:tblGrid>
                <a:gridCol w="1873572"/>
                <a:gridCol w="704850"/>
                <a:gridCol w="852488"/>
                <a:gridCol w="588962"/>
                <a:gridCol w="876300"/>
              </a:tblGrid>
              <a:tr h="82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5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5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C/1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E/1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5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C/1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E/1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5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5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C/1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E/1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5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5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05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D/0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E/1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A/0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94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2229" name="__TH_B23137"/>
          <p:cNvSpPr txBox="1">
            <a:spLocks noChangeArrowheads="1"/>
          </p:cNvSpPr>
          <p:nvPr/>
        </p:nvSpPr>
        <p:spPr bwMode="auto">
          <a:xfrm>
            <a:off x="802134" y="982695"/>
            <a:ext cx="88900" cy="184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 algn="l"/>
            <a:endParaRPr lang="en-US" altLang="zh-CN" b="0" dirty="0">
              <a:solidFill>
                <a:schemeClr val="tx1"/>
              </a:solidFill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49684" y="620688"/>
            <a:ext cx="1800225" cy="791848"/>
            <a:chOff x="2911" y="9223"/>
            <a:chExt cx="2270" cy="1127"/>
          </a:xfrm>
        </p:grpSpPr>
        <p:sp>
          <p:nvSpPr>
            <p:cNvPr id="189593" name="__TH_L131"/>
            <p:cNvSpPr>
              <a:spLocks noChangeShapeType="1"/>
            </p:cNvSpPr>
            <p:nvPr/>
          </p:nvSpPr>
          <p:spPr bwMode="auto">
            <a:xfrm>
              <a:off x="4046" y="9270"/>
              <a:ext cx="1135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594" name="__TH_L132"/>
            <p:cNvSpPr>
              <a:spLocks noChangeShapeType="1"/>
            </p:cNvSpPr>
            <p:nvPr/>
          </p:nvSpPr>
          <p:spPr bwMode="auto">
            <a:xfrm>
              <a:off x="2911" y="9810"/>
              <a:ext cx="227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595" name="__TH_B11133"/>
            <p:cNvSpPr txBox="1">
              <a:spLocks noChangeArrowheads="1"/>
            </p:cNvSpPr>
            <p:nvPr/>
          </p:nvSpPr>
          <p:spPr bwMode="auto">
            <a:xfrm>
              <a:off x="4449" y="9223"/>
              <a:ext cx="280" cy="25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/>
              <a:r>
                <a:rPr lang="zh-CN" altLang="en-US" sz="2000" b="0" dirty="0">
                  <a:solidFill>
                    <a:schemeClr val="tx1"/>
                  </a:solidFill>
                </a:rPr>
                <a:t>输</a:t>
              </a:r>
              <a:endParaRPr lang="zh-CN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89596" name="__TH_B12134"/>
            <p:cNvSpPr txBox="1">
              <a:spLocks noChangeArrowheads="1"/>
            </p:cNvSpPr>
            <p:nvPr/>
          </p:nvSpPr>
          <p:spPr bwMode="auto">
            <a:xfrm>
              <a:off x="4763" y="9480"/>
              <a:ext cx="253" cy="2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/>
              <a:r>
                <a:rPr lang="zh-CN" altLang="en-US" sz="2000" b="0" dirty="0">
                  <a:solidFill>
                    <a:schemeClr val="tx1"/>
                  </a:solidFill>
                </a:rPr>
                <a:t>入</a:t>
              </a:r>
              <a:endParaRPr lang="zh-CN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89597" name="__TH_B21135"/>
            <p:cNvSpPr txBox="1">
              <a:spLocks noChangeArrowheads="1"/>
            </p:cNvSpPr>
            <p:nvPr/>
          </p:nvSpPr>
          <p:spPr bwMode="auto">
            <a:xfrm>
              <a:off x="3061" y="9389"/>
              <a:ext cx="253" cy="2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/>
              <a:r>
                <a:rPr lang="zh-CN" altLang="en-US" sz="2000" b="0" dirty="0">
                  <a:solidFill>
                    <a:schemeClr val="tx1"/>
                  </a:solidFill>
                </a:rPr>
                <a:t>次</a:t>
              </a:r>
              <a:endParaRPr lang="zh-CN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89598" name="__TH_B22136"/>
            <p:cNvSpPr txBox="1">
              <a:spLocks noChangeArrowheads="1"/>
            </p:cNvSpPr>
            <p:nvPr/>
          </p:nvSpPr>
          <p:spPr bwMode="auto">
            <a:xfrm>
              <a:off x="3555" y="9428"/>
              <a:ext cx="252" cy="2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/>
              <a:r>
                <a:rPr lang="zh-CN" altLang="en-US" sz="2000" b="0" dirty="0">
                  <a:solidFill>
                    <a:schemeClr val="tx1"/>
                  </a:solidFill>
                </a:rPr>
                <a:t>态</a:t>
              </a:r>
              <a:endParaRPr lang="zh-CN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89599" name="__TH_B24138"/>
            <p:cNvSpPr txBox="1">
              <a:spLocks noChangeArrowheads="1"/>
            </p:cNvSpPr>
            <p:nvPr/>
          </p:nvSpPr>
          <p:spPr bwMode="auto">
            <a:xfrm>
              <a:off x="3961" y="9530"/>
              <a:ext cx="252" cy="2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/>
              <a:r>
                <a:rPr lang="zh-CN" altLang="en-US" sz="2000" b="0" dirty="0">
                  <a:solidFill>
                    <a:schemeClr val="tx1"/>
                  </a:solidFill>
                </a:rPr>
                <a:t>输</a:t>
              </a:r>
              <a:endParaRPr lang="zh-CN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89600" name="__TH_B25139"/>
            <p:cNvSpPr txBox="1">
              <a:spLocks noChangeArrowheads="1"/>
            </p:cNvSpPr>
            <p:nvPr/>
          </p:nvSpPr>
          <p:spPr bwMode="auto">
            <a:xfrm>
              <a:off x="4320" y="9633"/>
              <a:ext cx="360" cy="26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/>
              <a:r>
                <a:rPr lang="zh-CN" altLang="en-US" sz="2000" b="0" dirty="0">
                  <a:solidFill>
                    <a:schemeClr val="tx1"/>
                  </a:solidFill>
                </a:rPr>
                <a:t>出</a:t>
              </a:r>
              <a:endParaRPr lang="zh-CN" altLang="en-US" sz="2000" b="0" dirty="0">
                <a:solidFill>
                  <a:schemeClr val="tx1"/>
                </a:solidFill>
              </a:endParaRPr>
            </a:p>
          </p:txBody>
        </p:sp>
        <p:sp>
          <p:nvSpPr>
            <p:cNvPr id="189601" name="__TH_B21135"/>
            <p:cNvSpPr txBox="1">
              <a:spLocks noChangeArrowheads="1"/>
            </p:cNvSpPr>
            <p:nvPr/>
          </p:nvSpPr>
          <p:spPr bwMode="auto">
            <a:xfrm>
              <a:off x="2929" y="9998"/>
              <a:ext cx="794" cy="3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/>
              <a:r>
                <a:rPr lang="zh-CN" altLang="en-US" sz="2000" b="0" dirty="0">
                  <a:solidFill>
                    <a:schemeClr val="tx1"/>
                  </a:solidFill>
                </a:rPr>
                <a:t>现态</a:t>
              </a:r>
              <a:endParaRPr lang="zh-CN" altLang="en-US" sz="2000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1332240" name="Rectangle 16"/>
          <p:cNvSpPr>
            <a:spLocks noChangeArrowheads="1"/>
          </p:cNvSpPr>
          <p:nvPr/>
        </p:nvSpPr>
        <p:spPr bwMode="auto">
          <a:xfrm>
            <a:off x="1314897" y="690595"/>
            <a:ext cx="1450975" cy="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32607" name="Group 383"/>
          <p:cNvGraphicFramePr>
            <a:graphicFrameLocks noGrp="1"/>
          </p:cNvGraphicFramePr>
          <p:nvPr>
            <p:ph idx="1"/>
          </p:nvPr>
        </p:nvGraphicFramePr>
        <p:xfrm>
          <a:off x="5402013" y="247316"/>
          <a:ext cx="3314700" cy="4261804"/>
        </p:xfrm>
        <a:graphic>
          <a:graphicData uri="http://schemas.openxmlformats.org/drawingml/2006/table">
            <a:tbl>
              <a:tblPr/>
              <a:tblGrid>
                <a:gridCol w="414338"/>
                <a:gridCol w="414337"/>
                <a:gridCol w="414338"/>
                <a:gridCol w="414337"/>
                <a:gridCol w="414338"/>
                <a:gridCol w="414337"/>
                <a:gridCol w="414338"/>
                <a:gridCol w="414337"/>
              </a:tblGrid>
              <a:tr h="124677">
                <a:tc gridSpan="8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隐含表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82600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4943648"/>
            <a:ext cx="8321675" cy="1735910"/>
          </a:xfrm>
        </p:spPr>
        <p:txBody>
          <a:bodyPr/>
          <a:lstStyle/>
          <a:p>
            <a:pPr eaLnBrk="1" hangingPunct="1"/>
            <a:r>
              <a:rPr lang="zh-CN" altLang="en-US" sz="2000" dirty="0"/>
              <a:t>①相同输入时输出不同：在对应的小方格中填入“</a:t>
            </a:r>
            <a:r>
              <a:rPr lang="en-US" altLang="zh-CN" sz="2000" dirty="0"/>
              <a:t>×”</a:t>
            </a:r>
            <a:r>
              <a:rPr lang="zh-CN" altLang="en-US" sz="2000" dirty="0"/>
              <a:t>。</a:t>
            </a:r>
            <a:br>
              <a:rPr lang="zh-CN" altLang="en-US" sz="2000" dirty="0"/>
            </a:br>
            <a:r>
              <a:rPr lang="zh-CN" altLang="en-US" sz="2000" dirty="0"/>
              <a:t>②对应所有输入其输出均相同，转移的状态不同：填入待定状态对。</a:t>
            </a:r>
            <a:br>
              <a:rPr lang="zh-CN" altLang="en-US" sz="2000" dirty="0"/>
            </a:br>
            <a:r>
              <a:rPr lang="zh-CN" altLang="en-US" sz="2000" dirty="0"/>
              <a:t>③对应所有输入其输出均相同，转移的状态等效：填入“√</a:t>
            </a:r>
            <a:r>
              <a:rPr lang="en-US" altLang="zh-CN" sz="2000" dirty="0"/>
              <a:t>”</a:t>
            </a:r>
            <a:r>
              <a:rPr lang="zh-CN" altLang="en-US" sz="2000" dirty="0"/>
              <a:t>。例状态</a:t>
            </a:r>
            <a:r>
              <a:rPr lang="en-US" altLang="zh-CN" sz="2000" dirty="0"/>
              <a:t>AF</a:t>
            </a:r>
            <a:br>
              <a:rPr lang="en-US" altLang="zh-CN" sz="2000" dirty="0"/>
            </a:br>
            <a:r>
              <a:rPr lang="zh-CN" altLang="en-US" sz="2000" dirty="0"/>
              <a:t>④重复扫描，通过已确定状态的状态对，</a:t>
            </a:r>
            <a:r>
              <a:rPr lang="zh-CN" altLang="en-US" sz="2000" dirty="0">
                <a:latin typeface="Times New Roman" panose="02020603050405020304" pitchFamily="18" charset="0"/>
              </a:rPr>
              <a:t>判别</a:t>
            </a:r>
            <a:r>
              <a:rPr lang="zh-CN" altLang="en-US" sz="2000" dirty="0"/>
              <a:t>待定状态对的状态状况，直至没有待定状态。</a:t>
            </a:r>
            <a:endParaRPr lang="zh-CN" altLang="en-US" sz="2000" dirty="0"/>
          </a:p>
        </p:txBody>
      </p:sp>
      <p:graphicFrame>
        <p:nvGraphicFramePr>
          <p:cNvPr id="22" name="Group 467"/>
          <p:cNvGraphicFramePr/>
          <p:nvPr/>
        </p:nvGraphicFramePr>
        <p:xfrm>
          <a:off x="5003800" y="548680"/>
          <a:ext cx="3887788" cy="4604387"/>
        </p:xfrm>
        <a:graphic>
          <a:graphicData uri="http://schemas.openxmlformats.org/drawingml/2006/table">
            <a:tbl>
              <a:tblPr/>
              <a:tblGrid>
                <a:gridCol w="392113"/>
                <a:gridCol w="522287"/>
                <a:gridCol w="500063"/>
                <a:gridCol w="498475"/>
                <a:gridCol w="511175"/>
                <a:gridCol w="500062"/>
                <a:gridCol w="520700"/>
                <a:gridCol w="442913"/>
              </a:tblGrid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54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BD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BD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BG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68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  <a:endParaRPr kumimoji="1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1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5492667" y="1667538"/>
            <a:ext cx="360040" cy="431435"/>
            <a:chOff x="4427984" y="6237925"/>
            <a:chExt cx="360040" cy="431435"/>
          </a:xfrm>
        </p:grpSpPr>
        <p:cxnSp>
          <p:nvCxnSpPr>
            <p:cNvPr id="24" name="直接连接符 23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直接连接符 24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组合 25"/>
          <p:cNvGrpSpPr/>
          <p:nvPr/>
        </p:nvGrpSpPr>
        <p:grpSpPr>
          <a:xfrm>
            <a:off x="7001489" y="3417157"/>
            <a:ext cx="360040" cy="431435"/>
            <a:chOff x="4427984" y="6237925"/>
            <a:chExt cx="360040" cy="431435"/>
          </a:xfrm>
        </p:grpSpPr>
        <p:cxnSp>
          <p:nvCxnSpPr>
            <p:cNvPr id="27" name="直接连接符 26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组合 28"/>
          <p:cNvGrpSpPr/>
          <p:nvPr/>
        </p:nvGrpSpPr>
        <p:grpSpPr>
          <a:xfrm>
            <a:off x="5473897" y="3481460"/>
            <a:ext cx="360040" cy="431435"/>
            <a:chOff x="4427984" y="6237925"/>
            <a:chExt cx="360040" cy="431435"/>
          </a:xfrm>
        </p:grpSpPr>
        <p:cxnSp>
          <p:nvCxnSpPr>
            <p:cNvPr id="30" name="直接连接符 29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" name="直接连接符 30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组合 31"/>
          <p:cNvGrpSpPr/>
          <p:nvPr/>
        </p:nvGrpSpPr>
        <p:grpSpPr>
          <a:xfrm>
            <a:off x="5915123" y="1165215"/>
            <a:ext cx="430334" cy="375204"/>
            <a:chOff x="4355976" y="6082564"/>
            <a:chExt cx="430334" cy="375204"/>
          </a:xfrm>
        </p:grpSpPr>
        <p:cxnSp>
          <p:nvCxnSpPr>
            <p:cNvPr id="33" name="直接连接符 32"/>
            <p:cNvCxnSpPr/>
            <p:nvPr/>
          </p:nvCxnSpPr>
          <p:spPr bwMode="auto">
            <a:xfrm>
              <a:off x="4355976" y="6241744"/>
              <a:ext cx="180020" cy="215717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直接连接符 33"/>
            <p:cNvCxnSpPr/>
            <p:nvPr/>
          </p:nvCxnSpPr>
          <p:spPr bwMode="auto">
            <a:xfrm flipH="1">
              <a:off x="4499992" y="6082564"/>
              <a:ext cx="286318" cy="375204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7" name="组合 36"/>
          <p:cNvGrpSpPr/>
          <p:nvPr/>
        </p:nvGrpSpPr>
        <p:grpSpPr>
          <a:xfrm>
            <a:off x="7020272" y="2852936"/>
            <a:ext cx="360040" cy="431435"/>
            <a:chOff x="4427984" y="6237925"/>
            <a:chExt cx="360040" cy="431435"/>
          </a:xfrm>
        </p:grpSpPr>
        <p:cxnSp>
          <p:nvCxnSpPr>
            <p:cNvPr id="38" name="直接连接符 37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5940152" y="2276872"/>
            <a:ext cx="360040" cy="431435"/>
            <a:chOff x="4427984" y="6237925"/>
            <a:chExt cx="360040" cy="431435"/>
          </a:xfrm>
        </p:grpSpPr>
        <p:cxnSp>
          <p:nvCxnSpPr>
            <p:cNvPr id="41" name="直接连接符 40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3" name="组合 42"/>
          <p:cNvGrpSpPr/>
          <p:nvPr/>
        </p:nvGrpSpPr>
        <p:grpSpPr>
          <a:xfrm>
            <a:off x="5940152" y="4133916"/>
            <a:ext cx="430334" cy="375204"/>
            <a:chOff x="4355976" y="6082564"/>
            <a:chExt cx="430334" cy="375204"/>
          </a:xfrm>
        </p:grpSpPr>
        <p:cxnSp>
          <p:nvCxnSpPr>
            <p:cNvPr id="44" name="直接连接符 43"/>
            <p:cNvCxnSpPr/>
            <p:nvPr/>
          </p:nvCxnSpPr>
          <p:spPr bwMode="auto">
            <a:xfrm>
              <a:off x="4355976" y="6241744"/>
              <a:ext cx="180020" cy="215717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/>
          </p:nvCxnSpPr>
          <p:spPr bwMode="auto">
            <a:xfrm flipH="1">
              <a:off x="4499992" y="6082564"/>
              <a:ext cx="286318" cy="375204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6" name="组合 45"/>
          <p:cNvGrpSpPr/>
          <p:nvPr/>
        </p:nvGrpSpPr>
        <p:grpSpPr>
          <a:xfrm>
            <a:off x="6516216" y="2348880"/>
            <a:ext cx="360040" cy="431435"/>
            <a:chOff x="4427984" y="6237925"/>
            <a:chExt cx="360040" cy="431435"/>
          </a:xfrm>
        </p:grpSpPr>
        <p:cxnSp>
          <p:nvCxnSpPr>
            <p:cNvPr id="47" name="直接连接符 46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9" name="组合 48"/>
          <p:cNvGrpSpPr/>
          <p:nvPr/>
        </p:nvGrpSpPr>
        <p:grpSpPr>
          <a:xfrm>
            <a:off x="6445922" y="4221088"/>
            <a:ext cx="430334" cy="375204"/>
            <a:chOff x="4355976" y="6082564"/>
            <a:chExt cx="430334" cy="375204"/>
          </a:xfrm>
        </p:grpSpPr>
        <p:cxnSp>
          <p:nvCxnSpPr>
            <p:cNvPr id="50" name="直接连接符 49"/>
            <p:cNvCxnSpPr/>
            <p:nvPr/>
          </p:nvCxnSpPr>
          <p:spPr bwMode="auto">
            <a:xfrm>
              <a:off x="4355976" y="6241744"/>
              <a:ext cx="180020" cy="215717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/>
          </p:nvCxnSpPr>
          <p:spPr bwMode="auto">
            <a:xfrm flipH="1">
              <a:off x="4499992" y="6082564"/>
              <a:ext cx="286318" cy="375204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组合 51"/>
          <p:cNvGrpSpPr/>
          <p:nvPr/>
        </p:nvGrpSpPr>
        <p:grpSpPr>
          <a:xfrm>
            <a:off x="7452320" y="4149693"/>
            <a:ext cx="360040" cy="431435"/>
            <a:chOff x="4427984" y="6237925"/>
            <a:chExt cx="360040" cy="431435"/>
          </a:xfrm>
        </p:grpSpPr>
        <p:cxnSp>
          <p:nvCxnSpPr>
            <p:cNvPr id="53" name="直接连接符 52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直接连接符 53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组合 54"/>
          <p:cNvGrpSpPr/>
          <p:nvPr/>
        </p:nvGrpSpPr>
        <p:grpSpPr>
          <a:xfrm>
            <a:off x="8028384" y="3429613"/>
            <a:ext cx="360040" cy="431435"/>
            <a:chOff x="4427984" y="6237925"/>
            <a:chExt cx="360040" cy="431435"/>
          </a:xfrm>
        </p:grpSpPr>
        <p:cxnSp>
          <p:nvCxnSpPr>
            <p:cNvPr id="56" name="直接连接符 55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8" name="直接连接符 57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939898" y="737322"/>
            <a:ext cx="228600" cy="39626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33222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3224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33224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2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2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29" grpId="0"/>
      <p:bldP spid="1332240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58" name="直接连接符 57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45829" y="1594789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AD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811922" y="1466726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BD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35692" y="2314515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BG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882267" y="2314515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AG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608037" y="3067550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BH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5296391" y="3158319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DG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842966" y="3067550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AF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388454" y="2314515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CE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912224" y="4010094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DF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209969" y="4010094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BE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983944" y="4051806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BC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236330" y="4549116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CH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296391" y="4559182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EH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4569679" y="3494495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FG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endCxn id="7" idx="2"/>
          </p:cNvCxnSpPr>
          <p:nvPr/>
        </p:nvCxnSpPr>
        <p:spPr>
          <a:xfrm flipH="1" flipV="1">
            <a:off x="2983944" y="1930965"/>
            <a:ext cx="985729" cy="12680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64" idx="3"/>
          </p:cNvCxnSpPr>
          <p:nvPr/>
        </p:nvCxnSpPr>
        <p:spPr>
          <a:xfrm flipH="1">
            <a:off x="3084267" y="3235638"/>
            <a:ext cx="88809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endCxn id="70" idx="0"/>
          </p:cNvCxnSpPr>
          <p:nvPr/>
        </p:nvCxnSpPr>
        <p:spPr>
          <a:xfrm flipH="1">
            <a:off x="3222059" y="3326407"/>
            <a:ext cx="747614" cy="7253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endCxn id="71" idx="3"/>
          </p:cNvCxnSpPr>
          <p:nvPr/>
        </p:nvCxnSpPr>
        <p:spPr>
          <a:xfrm flipH="1">
            <a:off x="2712560" y="4336204"/>
            <a:ext cx="373807" cy="381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endCxn id="63" idx="2"/>
          </p:cNvCxnSpPr>
          <p:nvPr/>
        </p:nvCxnSpPr>
        <p:spPr>
          <a:xfrm flipV="1">
            <a:off x="4069996" y="2650691"/>
            <a:ext cx="50386" cy="5123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66" idx="3"/>
            <a:endCxn id="65" idx="1"/>
          </p:cNvCxnSpPr>
          <p:nvPr/>
        </p:nvCxnSpPr>
        <p:spPr>
          <a:xfrm>
            <a:off x="4319196" y="3235638"/>
            <a:ext cx="977195" cy="907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66" idx="2"/>
          </p:cNvCxnSpPr>
          <p:nvPr/>
        </p:nvCxnSpPr>
        <p:spPr>
          <a:xfrm>
            <a:off x="4081081" y="3403726"/>
            <a:ext cx="277416" cy="7253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4207788" y="3339040"/>
            <a:ext cx="511680" cy="2712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endCxn id="63" idx="3"/>
          </p:cNvCxnSpPr>
          <p:nvPr/>
        </p:nvCxnSpPr>
        <p:spPr>
          <a:xfrm flipH="1" flipV="1">
            <a:off x="4358497" y="2482603"/>
            <a:ext cx="1057797" cy="7381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endCxn id="7" idx="3"/>
          </p:cNvCxnSpPr>
          <p:nvPr/>
        </p:nvCxnSpPr>
        <p:spPr>
          <a:xfrm flipH="1">
            <a:off x="3222059" y="1656875"/>
            <a:ext cx="2690165" cy="1060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endCxn id="68" idx="0"/>
          </p:cNvCxnSpPr>
          <p:nvPr/>
        </p:nvCxnSpPr>
        <p:spPr>
          <a:xfrm>
            <a:off x="6083307" y="1762877"/>
            <a:ext cx="67032" cy="22472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endCxn id="67" idx="2"/>
          </p:cNvCxnSpPr>
          <p:nvPr/>
        </p:nvCxnSpPr>
        <p:spPr>
          <a:xfrm flipV="1">
            <a:off x="6271934" y="2650691"/>
            <a:ext cx="354635" cy="13406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H="1">
            <a:off x="5670198" y="4346270"/>
            <a:ext cx="413109" cy="3395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>
            <a:endCxn id="72" idx="1"/>
          </p:cNvCxnSpPr>
          <p:nvPr/>
        </p:nvCxnSpPr>
        <p:spPr>
          <a:xfrm>
            <a:off x="3397130" y="4290845"/>
            <a:ext cx="1899261" cy="4364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 flipH="1">
            <a:off x="4567141" y="4117283"/>
            <a:ext cx="1433235" cy="60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>
            <a:endCxn id="74" idx="3"/>
          </p:cNvCxnSpPr>
          <p:nvPr/>
        </p:nvCxnSpPr>
        <p:spPr>
          <a:xfrm flipH="1">
            <a:off x="5045909" y="3465463"/>
            <a:ext cx="499048" cy="1971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>
            <a:endCxn id="65" idx="0"/>
          </p:cNvCxnSpPr>
          <p:nvPr/>
        </p:nvCxnSpPr>
        <p:spPr>
          <a:xfrm flipH="1">
            <a:off x="5534506" y="2610150"/>
            <a:ext cx="79602" cy="5481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>
            <a:endCxn id="64" idx="2"/>
          </p:cNvCxnSpPr>
          <p:nvPr/>
        </p:nvCxnSpPr>
        <p:spPr>
          <a:xfrm flipH="1" flipV="1">
            <a:off x="2846152" y="3403726"/>
            <a:ext cx="208693" cy="7662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58" name="直接连接符 57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50687" y="792823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AD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816780" y="664760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BD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340550" y="1512549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BG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887125" y="1512549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AG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612895" y="2265584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BH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5301249" y="2356353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DG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3847824" y="2265584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AF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393312" y="1512549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CE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917082" y="3208128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DF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214827" y="3208128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BE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2988802" y="3249840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BC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2241188" y="3747150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CH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5301249" y="3757216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EH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4574537" y="2692529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FG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endCxn id="7" idx="2"/>
          </p:cNvCxnSpPr>
          <p:nvPr/>
        </p:nvCxnSpPr>
        <p:spPr>
          <a:xfrm flipH="1" flipV="1">
            <a:off x="2988802" y="1128999"/>
            <a:ext cx="985729" cy="12680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endCxn id="64" idx="3"/>
          </p:cNvCxnSpPr>
          <p:nvPr/>
        </p:nvCxnSpPr>
        <p:spPr>
          <a:xfrm flipH="1">
            <a:off x="3089125" y="2433672"/>
            <a:ext cx="88809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endCxn id="70" idx="0"/>
          </p:cNvCxnSpPr>
          <p:nvPr/>
        </p:nvCxnSpPr>
        <p:spPr>
          <a:xfrm flipH="1">
            <a:off x="3226917" y="2524441"/>
            <a:ext cx="747614" cy="7253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endCxn id="71" idx="3"/>
          </p:cNvCxnSpPr>
          <p:nvPr/>
        </p:nvCxnSpPr>
        <p:spPr>
          <a:xfrm flipH="1">
            <a:off x="2717418" y="3534238"/>
            <a:ext cx="373807" cy="381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endCxn id="63" idx="2"/>
          </p:cNvCxnSpPr>
          <p:nvPr/>
        </p:nvCxnSpPr>
        <p:spPr>
          <a:xfrm flipV="1">
            <a:off x="4074854" y="1848725"/>
            <a:ext cx="50386" cy="5123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66" idx="3"/>
            <a:endCxn id="65" idx="1"/>
          </p:cNvCxnSpPr>
          <p:nvPr/>
        </p:nvCxnSpPr>
        <p:spPr>
          <a:xfrm>
            <a:off x="4324054" y="2433672"/>
            <a:ext cx="977195" cy="907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66" idx="2"/>
          </p:cNvCxnSpPr>
          <p:nvPr/>
        </p:nvCxnSpPr>
        <p:spPr>
          <a:xfrm>
            <a:off x="4085939" y="2601760"/>
            <a:ext cx="277416" cy="7253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>
            <a:off x="4212646" y="2537074"/>
            <a:ext cx="511680" cy="2712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endCxn id="63" idx="3"/>
          </p:cNvCxnSpPr>
          <p:nvPr/>
        </p:nvCxnSpPr>
        <p:spPr>
          <a:xfrm flipH="1" flipV="1">
            <a:off x="4363355" y="1680637"/>
            <a:ext cx="1057797" cy="7381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endCxn id="7" idx="3"/>
          </p:cNvCxnSpPr>
          <p:nvPr/>
        </p:nvCxnSpPr>
        <p:spPr>
          <a:xfrm flipH="1">
            <a:off x="3226917" y="854909"/>
            <a:ext cx="2690165" cy="1060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endCxn id="68" idx="0"/>
          </p:cNvCxnSpPr>
          <p:nvPr/>
        </p:nvCxnSpPr>
        <p:spPr>
          <a:xfrm>
            <a:off x="6088165" y="960911"/>
            <a:ext cx="67032" cy="22472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endCxn id="67" idx="2"/>
          </p:cNvCxnSpPr>
          <p:nvPr/>
        </p:nvCxnSpPr>
        <p:spPr>
          <a:xfrm flipV="1">
            <a:off x="6276792" y="1848725"/>
            <a:ext cx="354635" cy="13406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H="1">
            <a:off x="5675056" y="3544304"/>
            <a:ext cx="413109" cy="3395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>
            <a:endCxn id="72" idx="1"/>
          </p:cNvCxnSpPr>
          <p:nvPr/>
        </p:nvCxnSpPr>
        <p:spPr>
          <a:xfrm>
            <a:off x="3401988" y="3488879"/>
            <a:ext cx="1899261" cy="4364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 flipH="1">
            <a:off x="4571999" y="3315317"/>
            <a:ext cx="1433235" cy="60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>
            <a:endCxn id="74" idx="3"/>
          </p:cNvCxnSpPr>
          <p:nvPr/>
        </p:nvCxnSpPr>
        <p:spPr>
          <a:xfrm flipH="1">
            <a:off x="5050767" y="2663497"/>
            <a:ext cx="499048" cy="1971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>
            <a:endCxn id="65" idx="0"/>
          </p:cNvCxnSpPr>
          <p:nvPr/>
        </p:nvCxnSpPr>
        <p:spPr>
          <a:xfrm flipH="1">
            <a:off x="5539364" y="1808184"/>
            <a:ext cx="79602" cy="5481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" name="组合 36"/>
          <p:cNvGrpSpPr/>
          <p:nvPr/>
        </p:nvGrpSpPr>
        <p:grpSpPr>
          <a:xfrm>
            <a:off x="5874875" y="596586"/>
            <a:ext cx="360040" cy="431435"/>
            <a:chOff x="4427984" y="6237925"/>
            <a:chExt cx="360040" cy="431435"/>
          </a:xfrm>
        </p:grpSpPr>
        <p:cxnSp>
          <p:nvCxnSpPr>
            <p:cNvPr id="38" name="直接连接符 37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2750687" y="750526"/>
            <a:ext cx="360040" cy="431435"/>
            <a:chOff x="4427984" y="6237925"/>
            <a:chExt cx="360040" cy="431435"/>
          </a:xfrm>
        </p:grpSpPr>
        <p:cxnSp>
          <p:nvCxnSpPr>
            <p:cNvPr id="41" name="直接连接符 40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3" name="组合 42"/>
          <p:cNvGrpSpPr/>
          <p:nvPr/>
        </p:nvGrpSpPr>
        <p:grpSpPr>
          <a:xfrm>
            <a:off x="5420837" y="1476748"/>
            <a:ext cx="360040" cy="431435"/>
            <a:chOff x="4427984" y="6237925"/>
            <a:chExt cx="360040" cy="431435"/>
          </a:xfrm>
        </p:grpSpPr>
        <p:cxnSp>
          <p:nvCxnSpPr>
            <p:cNvPr id="44" name="直接连接符 43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6" name="组合 45"/>
          <p:cNvGrpSpPr/>
          <p:nvPr/>
        </p:nvGrpSpPr>
        <p:grpSpPr>
          <a:xfrm>
            <a:off x="5328444" y="2303339"/>
            <a:ext cx="360040" cy="431435"/>
            <a:chOff x="4427984" y="6237925"/>
            <a:chExt cx="360040" cy="431435"/>
          </a:xfrm>
        </p:grpSpPr>
        <p:cxnSp>
          <p:nvCxnSpPr>
            <p:cNvPr id="47" name="直接连接符 46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9" name="组合 48"/>
          <p:cNvGrpSpPr/>
          <p:nvPr/>
        </p:nvGrpSpPr>
        <p:grpSpPr>
          <a:xfrm>
            <a:off x="5970151" y="3141760"/>
            <a:ext cx="360040" cy="431435"/>
            <a:chOff x="4427984" y="6237925"/>
            <a:chExt cx="360040" cy="431435"/>
          </a:xfrm>
        </p:grpSpPr>
        <p:cxnSp>
          <p:nvCxnSpPr>
            <p:cNvPr id="50" name="直接连接符 49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组合 51"/>
          <p:cNvGrpSpPr/>
          <p:nvPr/>
        </p:nvGrpSpPr>
        <p:grpSpPr>
          <a:xfrm>
            <a:off x="5354395" y="3724738"/>
            <a:ext cx="360040" cy="431435"/>
            <a:chOff x="4427984" y="6237925"/>
            <a:chExt cx="360040" cy="431435"/>
          </a:xfrm>
        </p:grpSpPr>
        <p:cxnSp>
          <p:nvCxnSpPr>
            <p:cNvPr id="53" name="直接连接符 52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直接连接符 53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组合 54"/>
          <p:cNvGrpSpPr/>
          <p:nvPr/>
        </p:nvGrpSpPr>
        <p:grpSpPr>
          <a:xfrm>
            <a:off x="6451407" y="1462438"/>
            <a:ext cx="360040" cy="431435"/>
            <a:chOff x="4427984" y="6237925"/>
            <a:chExt cx="360040" cy="431435"/>
          </a:xfrm>
        </p:grpSpPr>
        <p:cxnSp>
          <p:nvCxnSpPr>
            <p:cNvPr id="56" name="直接连接符 55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3" name="组合 72"/>
          <p:cNvGrpSpPr/>
          <p:nvPr/>
        </p:nvGrpSpPr>
        <p:grpSpPr>
          <a:xfrm>
            <a:off x="3990398" y="1443498"/>
            <a:ext cx="360040" cy="431435"/>
            <a:chOff x="4427984" y="6237925"/>
            <a:chExt cx="360040" cy="431435"/>
          </a:xfrm>
        </p:grpSpPr>
        <p:cxnSp>
          <p:nvCxnSpPr>
            <p:cNvPr id="75" name="直接连接符 74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7" name="组合 76"/>
          <p:cNvGrpSpPr/>
          <p:nvPr/>
        </p:nvGrpSpPr>
        <p:grpSpPr>
          <a:xfrm>
            <a:off x="4636782" y="2647935"/>
            <a:ext cx="360040" cy="431435"/>
            <a:chOff x="4427984" y="6237925"/>
            <a:chExt cx="360040" cy="431435"/>
          </a:xfrm>
        </p:grpSpPr>
        <p:cxnSp>
          <p:nvCxnSpPr>
            <p:cNvPr id="78" name="直接连接符 77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0" name="组合 79"/>
          <p:cNvGrpSpPr/>
          <p:nvPr/>
        </p:nvGrpSpPr>
        <p:grpSpPr>
          <a:xfrm>
            <a:off x="4246380" y="3140473"/>
            <a:ext cx="360040" cy="431435"/>
            <a:chOff x="4427984" y="6237925"/>
            <a:chExt cx="360040" cy="431435"/>
          </a:xfrm>
        </p:grpSpPr>
        <p:cxnSp>
          <p:nvCxnSpPr>
            <p:cNvPr id="81" name="直接连接符 80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84" name="组合 83"/>
          <p:cNvGrpSpPr/>
          <p:nvPr/>
        </p:nvGrpSpPr>
        <p:grpSpPr>
          <a:xfrm>
            <a:off x="5981986" y="3208128"/>
            <a:ext cx="360040" cy="431435"/>
            <a:chOff x="4427984" y="6237925"/>
            <a:chExt cx="360040" cy="431435"/>
          </a:xfrm>
        </p:grpSpPr>
        <p:cxnSp>
          <p:nvCxnSpPr>
            <p:cNvPr id="85" name="直接连接符 84"/>
            <p:cNvCxnSpPr/>
            <p:nvPr/>
          </p:nvCxnSpPr>
          <p:spPr bwMode="auto">
            <a:xfrm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直接连接符 85"/>
            <p:cNvCxnSpPr/>
            <p:nvPr/>
          </p:nvCxnSpPr>
          <p:spPr bwMode="auto">
            <a:xfrm flipH="1">
              <a:off x="4427984" y="6237925"/>
              <a:ext cx="360040" cy="431435"/>
            </a:xfrm>
            <a:prstGeom prst="line">
              <a:avLst/>
            </a:prstGeom>
            <a:noFill/>
            <a:ln w="1905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" name="箭头: 下 1"/>
          <p:cNvSpPr/>
          <p:nvPr/>
        </p:nvSpPr>
        <p:spPr>
          <a:xfrm>
            <a:off x="4212646" y="4083326"/>
            <a:ext cx="601401" cy="7554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/>
          <p:cNvSpPr/>
          <p:nvPr/>
        </p:nvSpPr>
        <p:spPr>
          <a:xfrm>
            <a:off x="3087025" y="4967261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BH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4321954" y="4967261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AF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3462932" y="5951517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BC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7" name="矩形 166"/>
          <p:cNvSpPr/>
          <p:nvPr/>
        </p:nvSpPr>
        <p:spPr>
          <a:xfrm>
            <a:off x="2715318" y="6448827"/>
            <a:ext cx="476230" cy="336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CH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68" name="直接箭头连接符 167"/>
          <p:cNvCxnSpPr>
            <a:endCxn id="163" idx="3"/>
          </p:cNvCxnSpPr>
          <p:nvPr/>
        </p:nvCxnSpPr>
        <p:spPr>
          <a:xfrm flipH="1">
            <a:off x="3563255" y="5135349"/>
            <a:ext cx="88809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>
            <a:endCxn id="166" idx="0"/>
          </p:cNvCxnSpPr>
          <p:nvPr/>
        </p:nvCxnSpPr>
        <p:spPr>
          <a:xfrm flipH="1">
            <a:off x="3701047" y="5226118"/>
            <a:ext cx="747614" cy="7253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>
            <a:endCxn id="167" idx="3"/>
          </p:cNvCxnSpPr>
          <p:nvPr/>
        </p:nvCxnSpPr>
        <p:spPr>
          <a:xfrm flipH="1">
            <a:off x="3191548" y="6235915"/>
            <a:ext cx="373807" cy="381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接箭头连接符 179"/>
          <p:cNvCxnSpPr>
            <a:endCxn id="64" idx="2"/>
          </p:cNvCxnSpPr>
          <p:nvPr/>
        </p:nvCxnSpPr>
        <p:spPr>
          <a:xfrm flipH="1" flipV="1">
            <a:off x="2851010" y="2601760"/>
            <a:ext cx="224439" cy="7861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直接箭头连接符 180"/>
          <p:cNvCxnSpPr>
            <a:endCxn id="163" idx="2"/>
          </p:cNvCxnSpPr>
          <p:nvPr/>
        </p:nvCxnSpPr>
        <p:spPr>
          <a:xfrm flipH="1" flipV="1">
            <a:off x="3325140" y="5303437"/>
            <a:ext cx="237561" cy="7551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19050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58" name="直接连接符 57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1509061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8" name="Rectangle 2"/>
          <p:cNvSpPr>
            <a:spLocks noGrp="1" noChangeArrowheads="1"/>
          </p:cNvSpPr>
          <p:nvPr>
            <p:ph type="title"/>
          </p:nvPr>
        </p:nvSpPr>
        <p:spPr>
          <a:xfrm>
            <a:off x="483201" y="811797"/>
            <a:ext cx="8321675" cy="232487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2000" b="1" dirty="0"/>
              <a:t>⑤找出等效对：  </a:t>
            </a:r>
            <a:r>
              <a:rPr lang="en-US" altLang="zh-CN" sz="2000" b="1" dirty="0"/>
              <a:t>(A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F)</a:t>
            </a:r>
            <a:r>
              <a:rPr lang="zh-CN" altLang="en-US" sz="2000" b="1" dirty="0"/>
              <a:t>、 </a:t>
            </a:r>
            <a:r>
              <a:rPr lang="en-US" altLang="zh-CN" sz="2000" b="1" dirty="0"/>
              <a:t>(B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C)</a:t>
            </a:r>
            <a:r>
              <a:rPr lang="zh-CN" altLang="en-US" sz="2000" b="1" dirty="0"/>
              <a:t>、 </a:t>
            </a:r>
            <a:r>
              <a:rPr lang="en-US" altLang="zh-CN" sz="2000" b="1" dirty="0"/>
              <a:t>(B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H)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(C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H)</a:t>
            </a:r>
            <a:br>
              <a:rPr lang="en-US" altLang="zh-CN" sz="2000" b="1" dirty="0"/>
            </a:br>
            <a:r>
              <a:rPr lang="en-US" altLang="zh-CN" sz="2000" b="1" dirty="0"/>
              <a:t>    </a:t>
            </a:r>
            <a:r>
              <a:rPr lang="zh-CN" altLang="en-US" sz="2000" b="1" dirty="0"/>
              <a:t>列出最大等效</a:t>
            </a:r>
            <a:r>
              <a:rPr lang="zh-CN" altLang="en-US" sz="2000" b="1"/>
              <a:t>类：</a:t>
            </a:r>
            <a:br>
              <a:rPr lang="en-US" altLang="zh-CN" sz="2000" b="1"/>
            </a:br>
            <a:br>
              <a:rPr lang="en-US" altLang="zh-CN" sz="2000" b="1" dirty="0"/>
            </a:br>
            <a:r>
              <a:rPr lang="en-US" altLang="zh-CN" sz="2000" b="1" dirty="0"/>
              <a:t>            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(A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F) </a:t>
            </a:r>
            <a:r>
              <a:rPr lang="zh-CN" altLang="en-US" sz="2000" b="1" dirty="0"/>
              <a:t>、 </a:t>
            </a:r>
            <a:r>
              <a:rPr lang="en-US" altLang="zh-CN" sz="2000" b="1" dirty="0"/>
              <a:t>(B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H)</a:t>
            </a:r>
            <a:r>
              <a:rPr lang="zh-CN" altLang="en-US" sz="2000" b="1" dirty="0"/>
              <a:t>、 </a:t>
            </a:r>
            <a:r>
              <a:rPr lang="en-US" altLang="zh-CN" sz="2000" b="1" dirty="0"/>
              <a:t>(D) </a:t>
            </a:r>
            <a:r>
              <a:rPr lang="zh-CN" altLang="en-US" sz="2000" b="1" dirty="0"/>
              <a:t>、 </a:t>
            </a:r>
            <a:r>
              <a:rPr lang="en-US" altLang="zh-CN" sz="2000" b="1" dirty="0"/>
              <a:t>(E)</a:t>
            </a:r>
            <a:r>
              <a:rPr lang="zh-CN" altLang="en-US" sz="2000" b="1" dirty="0"/>
              <a:t>和 </a:t>
            </a:r>
            <a:r>
              <a:rPr lang="en-US" altLang="zh-CN" sz="2000" b="1" dirty="0"/>
              <a:t>(</a:t>
            </a:r>
            <a:r>
              <a:rPr lang="en-US" altLang="zh-CN" sz="2000" b="1"/>
              <a:t>G)</a:t>
            </a:r>
            <a:br>
              <a:rPr lang="en-US" altLang="zh-CN" sz="2000" b="1"/>
            </a:br>
            <a:br>
              <a:rPr lang="en-US" altLang="zh-CN" sz="2000" b="1" dirty="0"/>
            </a:br>
            <a:r>
              <a:rPr lang="zh-CN" altLang="en-US" sz="2000" b="1" dirty="0"/>
              <a:t>　对原始各状态重新</a:t>
            </a:r>
            <a:r>
              <a:rPr lang="zh-CN" altLang="en-US" sz="2000" b="1"/>
              <a:t>命名：</a:t>
            </a:r>
            <a:br>
              <a:rPr lang="en-US" altLang="zh-CN" sz="2000" b="1"/>
            </a:br>
            <a:br>
              <a:rPr lang="zh-CN" altLang="en-US" sz="2000" b="1" dirty="0"/>
            </a:br>
            <a:r>
              <a:rPr lang="zh-CN" altLang="en-US" sz="2000" b="1" dirty="0"/>
              <a:t>　　　</a:t>
            </a:r>
            <a:r>
              <a:rPr lang="en-US" altLang="zh-CN" sz="2000" b="1" dirty="0"/>
              <a:t>(A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F)→A′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(B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， </a:t>
            </a:r>
            <a:r>
              <a:rPr lang="en-US" altLang="zh-CN" sz="2000" b="1" dirty="0"/>
              <a:t>H)→B′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(D)→C</a:t>
            </a:r>
            <a:r>
              <a:rPr lang="en-US" altLang="zh-CN" sz="2000" b="1"/>
              <a:t>′</a:t>
            </a:r>
            <a:r>
              <a:rPr lang="zh-CN" altLang="en-US" sz="2000" b="1"/>
              <a:t>，</a:t>
            </a:r>
            <a:r>
              <a:rPr lang="en-US" altLang="zh-CN" sz="2000" b="1"/>
              <a:t>(</a:t>
            </a:r>
            <a:r>
              <a:rPr lang="en-US" altLang="zh-CN" sz="2000" b="1" dirty="0"/>
              <a:t>E)→D′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(G)→E′</a:t>
            </a:r>
            <a:br>
              <a:rPr lang="en-US" altLang="zh-CN" sz="2000"/>
            </a:br>
            <a:endParaRPr lang="zh-CN" altLang="en-US" dirty="0"/>
          </a:p>
        </p:txBody>
      </p:sp>
      <p:sp>
        <p:nvSpPr>
          <p:cNvPr id="90" name="文本框 89"/>
          <p:cNvSpPr txBox="1"/>
          <p:nvPr/>
        </p:nvSpPr>
        <p:spPr>
          <a:xfrm>
            <a:off x="483201" y="332121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dirty="0"/>
              <a:t>⑥列出化简后的最小化状态表， </a:t>
            </a:r>
            <a:endParaRPr lang="zh-CN" altLang="en-US" sz="2000" b="0" dirty="0"/>
          </a:p>
        </p:txBody>
      </p:sp>
      <p:pic>
        <p:nvPicPr>
          <p:cNvPr id="92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89" y="3805266"/>
            <a:ext cx="8044466" cy="2628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76977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5528" y="1023433"/>
            <a:ext cx="75988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170A8E"/>
                </a:solidFill>
              </a:rPr>
              <a:t>状态分配就是给最小化状态表中的每个状态分配一个</a:t>
            </a:r>
            <a:r>
              <a:rPr lang="zh-CN" altLang="en-US" sz="2800" b="1" dirty="0">
                <a:solidFill>
                  <a:srgbClr val="FF0000"/>
                </a:solidFill>
              </a:rPr>
              <a:t>二进制代码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170A8E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170A8E"/>
                </a:solidFill>
              </a:rPr>
              <a:t>电路的状态是触发器状态的组合。如果</a:t>
            </a:r>
            <a:r>
              <a:rPr lang="zh-CN" altLang="en-US" sz="2800" b="1">
                <a:solidFill>
                  <a:srgbClr val="170A8E"/>
                </a:solidFill>
              </a:rPr>
              <a:t>电路有</a:t>
            </a:r>
            <a:r>
              <a:rPr lang="en-US" altLang="zh-CN" sz="2800" b="1">
                <a:solidFill>
                  <a:srgbClr val="170A8E"/>
                </a:solidFill>
              </a:rPr>
              <a:t>M</a:t>
            </a:r>
            <a:r>
              <a:rPr lang="zh-CN" altLang="en-US" sz="2800" b="1">
                <a:solidFill>
                  <a:srgbClr val="170A8E"/>
                </a:solidFill>
              </a:rPr>
              <a:t>个</a:t>
            </a:r>
            <a:r>
              <a:rPr lang="zh-CN" altLang="en-US" sz="2800" b="1" dirty="0">
                <a:solidFill>
                  <a:srgbClr val="170A8E"/>
                </a:solidFill>
              </a:rPr>
              <a:t>状态，</a:t>
            </a:r>
            <a:r>
              <a:rPr lang="en-US" altLang="zh-CN" sz="2800" b="1">
                <a:solidFill>
                  <a:srgbClr val="170A8E"/>
                </a:solidFill>
              </a:rPr>
              <a:t>2</a:t>
            </a:r>
            <a:r>
              <a:rPr lang="en-US" altLang="zh-CN" sz="2800" b="1" baseline="30000">
                <a:solidFill>
                  <a:srgbClr val="170A8E"/>
                </a:solidFill>
              </a:rPr>
              <a:t>n-1</a:t>
            </a:r>
            <a:r>
              <a:rPr lang="en-US" altLang="zh-CN" sz="2800" b="1">
                <a:solidFill>
                  <a:srgbClr val="170A8E"/>
                </a:solidFill>
              </a:rPr>
              <a:t>&lt;M&lt;=</a:t>
            </a:r>
            <a:r>
              <a:rPr lang="en-US" altLang="zh-CN" sz="2800" b="1" dirty="0">
                <a:solidFill>
                  <a:srgbClr val="170A8E"/>
                </a:solidFill>
              </a:rPr>
              <a:t>2</a:t>
            </a:r>
            <a:r>
              <a:rPr lang="en-US" altLang="zh-CN" sz="2800" b="1" baseline="30000" dirty="0">
                <a:solidFill>
                  <a:srgbClr val="170A8E"/>
                </a:solidFill>
              </a:rPr>
              <a:t>n</a:t>
            </a:r>
            <a:r>
              <a:rPr lang="zh-CN" altLang="en-US" sz="2800" b="1" dirty="0">
                <a:solidFill>
                  <a:srgbClr val="170A8E"/>
                </a:solidFill>
              </a:rPr>
              <a:t>，则可用</a:t>
            </a:r>
            <a:r>
              <a:rPr lang="en-US" altLang="zh-CN" sz="2800" b="1" dirty="0">
                <a:solidFill>
                  <a:srgbClr val="170A8E"/>
                </a:solidFill>
              </a:rPr>
              <a:t>n</a:t>
            </a:r>
            <a:r>
              <a:rPr lang="zh-CN" altLang="en-US" sz="2800" b="1" dirty="0">
                <a:solidFill>
                  <a:srgbClr val="170A8E"/>
                </a:solidFill>
              </a:rPr>
              <a:t>个触发器来实现</a:t>
            </a:r>
            <a:endParaRPr lang="zh-CN" altLang="en-US" sz="2800" b="1" dirty="0">
              <a:solidFill>
                <a:srgbClr val="170A8E"/>
              </a:solidFill>
            </a:endParaRPr>
          </a:p>
        </p:txBody>
      </p:sp>
      <p:grpSp>
        <p:nvGrpSpPr>
          <p:cNvPr id="7" name="Group 8"/>
          <p:cNvGrpSpPr/>
          <p:nvPr/>
        </p:nvGrpSpPr>
        <p:grpSpPr bwMode="auto">
          <a:xfrm>
            <a:off x="2987396" y="4076502"/>
            <a:ext cx="5965826" cy="2217738"/>
            <a:chOff x="1871" y="2840"/>
            <a:chExt cx="3758" cy="1397"/>
          </a:xfrm>
        </p:grpSpPr>
        <p:graphicFrame>
          <p:nvGraphicFramePr>
            <p:cNvPr id="8" name="Object 4"/>
            <p:cNvGraphicFramePr>
              <a:graphicFrameLocks noChangeAspect="1"/>
            </p:cNvGraphicFramePr>
            <p:nvPr/>
          </p:nvGraphicFramePr>
          <p:xfrm>
            <a:off x="4049" y="2840"/>
            <a:ext cx="1580" cy="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Equation" r:id="rId2" imgW="1218565" imgH="444500" progId="Equation.DSMT4">
                    <p:embed/>
                  </p:oleObj>
                </mc:Choice>
                <mc:Fallback>
                  <p:oleObj name="Equation" r:id="rId2" imgW="1218565" imgH="4445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9" y="2840"/>
                          <a:ext cx="1580" cy="5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6"/>
            <p:cNvGraphicFramePr>
              <a:graphicFrameLocks noChangeAspect="1"/>
            </p:cNvGraphicFramePr>
            <p:nvPr/>
          </p:nvGraphicFramePr>
          <p:xfrm>
            <a:off x="1871" y="3642"/>
            <a:ext cx="1633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" name="Equation" r:id="rId4" imgW="1231265" imgH="444500" progId="Equation.DSMT4">
                    <p:embed/>
                  </p:oleObj>
                </mc:Choice>
                <mc:Fallback>
                  <p:oleObj name="Equation" r:id="rId4" imgW="1231265" imgH="4445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1" y="3642"/>
                          <a:ext cx="1633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/>
          <p:cNvSpPr txBox="1"/>
          <p:nvPr/>
        </p:nvSpPr>
        <p:spPr>
          <a:xfrm>
            <a:off x="1346126" y="4401970"/>
            <a:ext cx="5481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0000FF"/>
                </a:solidFill>
              </a:rPr>
              <a:t>在</a:t>
            </a:r>
            <a:r>
              <a:rPr lang="en-US" altLang="zh-CN" sz="1800" i="1">
                <a:solidFill>
                  <a:srgbClr val="0000FF"/>
                </a:solidFill>
              </a:rPr>
              <a:t>M</a:t>
            </a:r>
            <a:r>
              <a:rPr lang="en-US" altLang="zh-CN" sz="1800">
                <a:solidFill>
                  <a:srgbClr val="0000FF"/>
                </a:solidFill>
              </a:rPr>
              <a:t>&lt;2</a:t>
            </a:r>
            <a:r>
              <a:rPr lang="en-US" altLang="zh-CN" sz="1800" i="1" baseline="30000">
                <a:solidFill>
                  <a:srgbClr val="0000FF"/>
                </a:solidFill>
              </a:rPr>
              <a:t>n</a:t>
            </a:r>
            <a:r>
              <a:rPr lang="zh-CN" altLang="en-US" sz="1800">
                <a:solidFill>
                  <a:srgbClr val="0000FF"/>
                </a:solidFill>
              </a:rPr>
              <a:t>个状态中选取</a:t>
            </a:r>
            <a:r>
              <a:rPr lang="en-US" altLang="zh-CN" sz="1800" i="1">
                <a:solidFill>
                  <a:srgbClr val="0000FF"/>
                </a:solidFill>
              </a:rPr>
              <a:t>M</a:t>
            </a:r>
            <a:r>
              <a:rPr lang="zh-CN" altLang="en-US" sz="1800">
                <a:solidFill>
                  <a:srgbClr val="0000FF"/>
                </a:solidFill>
              </a:rPr>
              <a:t>个状态的组合方案共有： 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46125" y="4993676"/>
            <a:ext cx="7186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>
                <a:solidFill>
                  <a:srgbClr val="0000FF"/>
                </a:solidFill>
              </a:rPr>
              <a:t>而</a:t>
            </a:r>
            <a:r>
              <a:rPr lang="en-US" altLang="zh-CN" sz="1800" i="1">
                <a:solidFill>
                  <a:srgbClr val="0000FF"/>
                </a:solidFill>
              </a:rPr>
              <a:t>M</a:t>
            </a:r>
            <a:r>
              <a:rPr lang="zh-CN" altLang="en-US" sz="1800">
                <a:solidFill>
                  <a:srgbClr val="0000FF"/>
                </a:solidFill>
              </a:rPr>
              <a:t>个状态的排列又有</a:t>
            </a:r>
            <a:r>
              <a:rPr lang="en-US" altLang="zh-CN" sz="1800" i="1">
                <a:solidFill>
                  <a:srgbClr val="0000FF"/>
                </a:solidFill>
              </a:rPr>
              <a:t>M</a:t>
            </a:r>
            <a:r>
              <a:rPr lang="zh-CN" altLang="en-US" sz="1800">
                <a:solidFill>
                  <a:srgbClr val="0000FF"/>
                </a:solidFill>
              </a:rPr>
              <a:t>！种， 因而状态编码的方案共有： </a:t>
            </a:r>
            <a:endParaRPr lang="zh-CN" altLang="en-US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76977" y="18736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5.4.2 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状态化简和分配</a:t>
            </a:r>
            <a:endParaRPr lang="en-US" altLang="zh-CN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276463" y="790845"/>
            <a:ext cx="8569647" cy="1167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j-cs"/>
              </a:rPr>
              <a:t>分配状态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方法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j-cs"/>
              </a:rPr>
              <a:t>：</a:t>
            </a:r>
            <a:b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j-cs"/>
              </a:rPr>
            </a:br>
            <a:r>
              <a: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j-cs"/>
              </a:rPr>
              <a:t>(1) </a:t>
            </a: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j-cs"/>
              </a:rPr>
              <a:t>找出状态之间的相邻关系。可按照如下三个规则进行。 </a:t>
            </a:r>
            <a:b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j-cs"/>
              </a:rPr>
            </a:br>
            <a:r>
              <a: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宋体" panose="02010600030101010101" pitchFamily="2" charset="-122"/>
                <a:cs typeface="+mj-cs"/>
              </a:rPr>
              <a:t>　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132447" y="1737730"/>
            <a:ext cx="8569647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　　规则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：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在相同输入条件下， 次态相同， 现态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相邻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132447" y="2678333"/>
            <a:ext cx="8569647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　　规则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：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在相邻输入条件下， 同一现态， 次态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相邻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b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endParaRPr lang="zh-CN" altLang="en-US" sz="200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132447" y="3429000"/>
            <a:ext cx="8569647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      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规则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：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输出完全相同， 现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态相邻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132447" y="4054079"/>
            <a:ext cx="8569647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　　这三条规则在用于实际分配时可能会产生矛盾，  此时应按照规则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  规则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、 规则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的顺序进行分配。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276462" y="4996229"/>
            <a:ext cx="8569647" cy="1880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(2)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给各状态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分配二进制编码：</a:t>
            </a:r>
            <a:b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 　   ① 找出状态表中出现最多的次态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j+1 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所对应的现态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， 并令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的二进制编码全为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b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</a:b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　    ② 按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已确定出的状态相邻关系给其他状态分配二进制编码。  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8145" y="778019"/>
            <a:ext cx="807583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/>
              <a:t>在确定了触发器类型的条件下，再确定驱动方程组。</a:t>
            </a:r>
            <a:endParaRPr lang="en-US" altLang="zh-CN" sz="2800" b="1" dirty="0"/>
          </a:p>
          <a:p>
            <a:pPr algn="just">
              <a:spcAft>
                <a:spcPts val="1200"/>
              </a:spcAft>
            </a:pPr>
            <a:r>
              <a:rPr lang="zh-CN" altLang="en-US" sz="2800" b="1" dirty="0"/>
              <a:t>最常用的触发器是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触发器，其次是</a:t>
            </a:r>
            <a:r>
              <a:rPr lang="en-US" altLang="zh-CN" sz="2800" b="1" dirty="0"/>
              <a:t>J-K</a:t>
            </a:r>
            <a:r>
              <a:rPr lang="zh-CN" altLang="en-US" sz="2800" b="1" dirty="0"/>
              <a:t>触发器和</a:t>
            </a:r>
            <a:r>
              <a:rPr lang="en-US" altLang="zh-CN" sz="2800" b="1" dirty="0"/>
              <a:t>T</a:t>
            </a:r>
            <a:r>
              <a:rPr lang="zh-CN" altLang="en-US" sz="2800" b="1" dirty="0"/>
              <a:t>触发器。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398145" y="3054027"/>
            <a:ext cx="6962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由状态转移表得到驱动方程组和输出方程的过程：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59958" y="3933680"/>
            <a:ext cx="8400861" cy="2266492"/>
            <a:chOff x="231201" y="3500543"/>
            <a:chExt cx="8400861" cy="2266492"/>
          </a:xfrm>
        </p:grpSpPr>
        <p:sp>
          <p:nvSpPr>
            <p:cNvPr id="2" name="矩形 1"/>
            <p:cNvSpPr/>
            <p:nvPr/>
          </p:nvSpPr>
          <p:spPr>
            <a:xfrm>
              <a:off x="231201" y="4447876"/>
              <a:ext cx="1114925" cy="8740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</a:rPr>
                <a:t>状态转移图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(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表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) 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895569" y="4006718"/>
              <a:ext cx="2491946" cy="5051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</a:rPr>
                <a:t>各触发器次态卡诺图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895569" y="5261911"/>
              <a:ext cx="2491946" cy="5051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</a:rPr>
                <a:t>输出变量卡诺图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4743043" y="4006718"/>
              <a:ext cx="1200557" cy="5051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</a:rPr>
                <a:t>次态方程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4743043" y="5261911"/>
              <a:ext cx="1200557" cy="5051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</a:rPr>
                <a:t>输出方程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接箭头连接符 6"/>
            <p:cNvCxnSpPr>
              <a:stCxn id="13" idx="3"/>
            </p:cNvCxnSpPr>
            <p:nvPr/>
          </p:nvCxnSpPr>
          <p:spPr>
            <a:xfrm>
              <a:off x="5943600" y="4259280"/>
              <a:ext cx="148790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2" idx="3"/>
              <a:endCxn id="11" idx="1"/>
            </p:cNvCxnSpPr>
            <p:nvPr/>
          </p:nvCxnSpPr>
          <p:spPr>
            <a:xfrm flipV="1">
              <a:off x="1346126" y="4259280"/>
              <a:ext cx="549443" cy="625642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2" idx="3"/>
              <a:endCxn id="12" idx="1"/>
            </p:cNvCxnSpPr>
            <p:nvPr/>
          </p:nvCxnSpPr>
          <p:spPr>
            <a:xfrm>
              <a:off x="1346126" y="4884922"/>
              <a:ext cx="549443" cy="62955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1" idx="3"/>
              <a:endCxn id="13" idx="1"/>
            </p:cNvCxnSpPr>
            <p:nvPr/>
          </p:nvCxnSpPr>
          <p:spPr>
            <a:xfrm>
              <a:off x="4387515" y="4259280"/>
              <a:ext cx="35552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4387515" y="5518585"/>
              <a:ext cx="35552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5943600" y="3500543"/>
              <a:ext cx="14117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0000FF"/>
                  </a:solidFill>
                </a:rPr>
                <a:t>对比触发器的特征方程</a:t>
              </a:r>
              <a:endParaRPr lang="zh-CN" altLang="en-US" b="1" dirty="0">
                <a:solidFill>
                  <a:srgbClr val="0000FF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431505" y="4006718"/>
              <a:ext cx="1200557" cy="50512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</a:rPr>
                <a:t>驱动方程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78094" y="941838"/>
            <a:ext cx="77444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zh-CN" altLang="en-US" sz="2800" b="1" dirty="0"/>
              <a:t>例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  分别用</a:t>
            </a:r>
            <a:r>
              <a:rPr lang="en-US" altLang="zh-CN" sz="2800" b="1" dirty="0">
                <a:solidFill>
                  <a:srgbClr val="FF0000"/>
                </a:solidFill>
              </a:rPr>
              <a:t>D</a:t>
            </a:r>
            <a:r>
              <a:rPr lang="zh-CN" altLang="en-US" sz="2800" b="1" dirty="0">
                <a:solidFill>
                  <a:srgbClr val="FF0000"/>
                </a:solidFill>
              </a:rPr>
              <a:t>触发器</a:t>
            </a:r>
            <a:r>
              <a:rPr lang="zh-CN" altLang="en-US" sz="2800" b="1" dirty="0"/>
              <a:t>、</a:t>
            </a:r>
            <a:r>
              <a:rPr lang="en-US" altLang="zh-CN" sz="2800" b="1" dirty="0">
                <a:solidFill>
                  <a:srgbClr val="FF0000"/>
                </a:solidFill>
              </a:rPr>
              <a:t>J-K</a:t>
            </a:r>
            <a:r>
              <a:rPr lang="zh-CN" altLang="en-US" sz="2800" b="1" dirty="0">
                <a:solidFill>
                  <a:srgbClr val="FF0000"/>
                </a:solidFill>
              </a:rPr>
              <a:t>触发器</a:t>
            </a:r>
            <a:r>
              <a:rPr lang="zh-CN" altLang="en-US" sz="2800" b="1" dirty="0"/>
              <a:t>和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zh-CN" altLang="en-US" sz="2800" b="1" dirty="0">
                <a:solidFill>
                  <a:srgbClr val="FF0000"/>
                </a:solidFill>
              </a:rPr>
              <a:t>触发器</a:t>
            </a:r>
            <a:r>
              <a:rPr lang="zh-CN" altLang="en-US" sz="2800" b="1" dirty="0"/>
              <a:t>实现下表所示的逻辑功能，试求对应的驱动方程和输出方程。</a:t>
            </a:r>
            <a:endParaRPr lang="zh-CN" altLang="en-US" sz="2800" b="1" dirty="0"/>
          </a:p>
        </p:txBody>
      </p:sp>
      <p:pic>
        <p:nvPicPr>
          <p:cNvPr id="13" name="Picture 5" descr="B5-4-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974" y="2613155"/>
            <a:ext cx="7135437" cy="362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3555" y="803890"/>
            <a:ext cx="7422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>
                <a:solidFill>
                  <a:srgbClr val="FF33CC"/>
                </a:solidFill>
              </a:rPr>
              <a:t>（</a:t>
            </a:r>
            <a:r>
              <a:rPr lang="en-US" altLang="zh-CN" sz="2800" b="1" dirty="0">
                <a:solidFill>
                  <a:srgbClr val="FF33CC"/>
                </a:solidFill>
              </a:rPr>
              <a:t>1</a:t>
            </a:r>
            <a:r>
              <a:rPr lang="zh-CN" altLang="en-US" sz="2800" b="1" dirty="0">
                <a:solidFill>
                  <a:srgbClr val="FF33CC"/>
                </a:solidFill>
              </a:rPr>
              <a:t>）绘制触发器次态卡诺图和输出卡诺图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pic>
        <p:nvPicPr>
          <p:cNvPr id="13" name="Picture 5" descr="B5-4-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978" y="1556939"/>
            <a:ext cx="6713622" cy="2469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 descr="5-4-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83" y="4066340"/>
            <a:ext cx="7848600" cy="274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: 圆角 1"/>
          <p:cNvSpPr/>
          <p:nvPr/>
        </p:nvSpPr>
        <p:spPr>
          <a:xfrm>
            <a:off x="4170948" y="2457343"/>
            <a:ext cx="128336" cy="1363579"/>
          </a:xfrm>
          <a:prstGeom prst="round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>
            <a:endCxn id="14" idx="0"/>
          </p:cNvCxnSpPr>
          <p:nvPr/>
        </p:nvCxnSpPr>
        <p:spPr>
          <a:xfrm flipH="1">
            <a:off x="1872916" y="3139132"/>
            <a:ext cx="2269958" cy="1424870"/>
          </a:xfrm>
          <a:prstGeom prst="straightConnector1">
            <a:avLst/>
          </a:prstGeom>
          <a:ln w="317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/>
        </p:nvSpPr>
        <p:spPr>
          <a:xfrm>
            <a:off x="1596190" y="4564002"/>
            <a:ext cx="553452" cy="1758862"/>
          </a:xfrm>
          <a:prstGeom prst="round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6260432" y="2503668"/>
            <a:ext cx="164280" cy="1363579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2322095" y="4600097"/>
            <a:ext cx="553452" cy="1758862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2869532" y="3617273"/>
            <a:ext cx="3390900" cy="104295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960895" y="982803"/>
            <a:ext cx="946484" cy="2246769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</a:rPr>
              <a:t>次态和输出信号都是现态和输入信号的函数。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70447" y="2559453"/>
            <a:ext cx="795237" cy="1304883"/>
            <a:chOff x="1370447" y="2559453"/>
            <a:chExt cx="795237" cy="1304883"/>
          </a:xfrm>
        </p:grpSpPr>
        <p:sp>
          <p:nvSpPr>
            <p:cNvPr id="7" name="左大括号 6"/>
            <p:cNvSpPr/>
            <p:nvPr/>
          </p:nvSpPr>
          <p:spPr>
            <a:xfrm>
              <a:off x="1969168" y="2559453"/>
              <a:ext cx="196516" cy="1304883"/>
            </a:xfrm>
            <a:prstGeom prst="leftBrac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70447" y="2611729"/>
              <a:ext cx="66344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按循环码顺序排列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29702" y="829194"/>
            <a:ext cx="7422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>
                <a:solidFill>
                  <a:srgbClr val="FF33CC"/>
                </a:solidFill>
              </a:rPr>
              <a:t>（</a:t>
            </a:r>
            <a:r>
              <a:rPr lang="en-US" altLang="zh-CN" sz="2800" b="1" dirty="0">
                <a:solidFill>
                  <a:srgbClr val="FF33CC"/>
                </a:solidFill>
              </a:rPr>
              <a:t>2</a:t>
            </a:r>
            <a:r>
              <a:rPr lang="zh-CN" altLang="en-US" sz="2800" b="1" dirty="0">
                <a:solidFill>
                  <a:srgbClr val="FF33CC"/>
                </a:solidFill>
              </a:rPr>
              <a:t>）求出次态方程和输出方程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pic>
        <p:nvPicPr>
          <p:cNvPr id="12" name="Picture 5" descr="5-4-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74" y="1747354"/>
            <a:ext cx="7848600" cy="274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Object 4"/>
          <p:cNvGraphicFramePr/>
          <p:nvPr/>
        </p:nvGraphicFramePr>
        <p:xfrm>
          <a:off x="6058151" y="5387004"/>
          <a:ext cx="18002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736600" imgH="241300" progId="Equation.DSMT4">
                  <p:embed/>
                </p:oleObj>
              </mc:Choice>
              <mc:Fallback>
                <p:oleObj name="Equation" r:id="rId3" imgW="736600" imgH="2413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8151" y="5387004"/>
                        <a:ext cx="18002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860090" y="4944384"/>
          <a:ext cx="403225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1778000" imgH="558800" progId="Equation.DSMT4">
                  <p:embed/>
                </p:oleObj>
              </mc:Choice>
              <mc:Fallback>
                <p:oleObj name="Equation" r:id="rId5" imgW="1778000" imgH="558800" progId="Equation.DSMT4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090" y="4944384"/>
                        <a:ext cx="403225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435167" y="-16613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4.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5167" y="823392"/>
            <a:ext cx="7422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>
                <a:solidFill>
                  <a:srgbClr val="FF33CC"/>
                </a:solidFill>
              </a:rPr>
              <a:t>（</a:t>
            </a:r>
            <a:r>
              <a:rPr lang="en-US" altLang="zh-CN" sz="2800" b="1" dirty="0">
                <a:solidFill>
                  <a:srgbClr val="FF33CC"/>
                </a:solidFill>
              </a:rPr>
              <a:t>3</a:t>
            </a:r>
            <a:r>
              <a:rPr lang="zh-CN" altLang="en-US" sz="2800" b="1" dirty="0">
                <a:solidFill>
                  <a:srgbClr val="FF33CC"/>
                </a:solidFill>
              </a:rPr>
              <a:t>）求驱动方程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/>
        </p:nvGraphicFramePr>
        <p:xfrm>
          <a:off x="1126356" y="3088106"/>
          <a:ext cx="403225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2" imgW="1778000" imgH="558800" progId="Equation.DSMT4">
                  <p:embed/>
                </p:oleObj>
              </mc:Choice>
              <mc:Fallback>
                <p:oleObj name="Equation" r:id="rId2" imgW="1778000" imgH="558800" progId="Equation.DSMT4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356" y="3088106"/>
                        <a:ext cx="403225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45132" y="1598050"/>
            <a:ext cx="3451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</a:rPr>
              <a:t>   若选用</a:t>
            </a:r>
            <a:r>
              <a:rPr lang="en-US" altLang="zh-CN" sz="2800" b="1" dirty="0">
                <a:solidFill>
                  <a:srgbClr val="0000FF"/>
                </a:solidFill>
              </a:rPr>
              <a:t>D</a:t>
            </a:r>
            <a:r>
              <a:rPr lang="zh-CN" altLang="en-US" sz="2800" b="1" dirty="0">
                <a:solidFill>
                  <a:srgbClr val="0000FF"/>
                </a:solidFill>
              </a:rPr>
              <a:t>触发器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75674" y="2333602"/>
            <a:ext cx="14718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i="1" dirty="0">
                <a:solidFill>
                  <a:srgbClr val="0000FF"/>
                </a:solidFill>
              </a:rPr>
              <a:t>Q</a:t>
            </a:r>
            <a:r>
              <a:rPr lang="en-US" altLang="zh-CN" sz="3600" i="1" baseline="30000" dirty="0">
                <a:solidFill>
                  <a:srgbClr val="0000FF"/>
                </a:solidFill>
              </a:rPr>
              <a:t>n</a:t>
            </a:r>
            <a:r>
              <a:rPr lang="en-US" altLang="zh-CN" sz="3600" baseline="30000" dirty="0">
                <a:solidFill>
                  <a:srgbClr val="0000FF"/>
                </a:solidFill>
              </a:rPr>
              <a:t>+1</a:t>
            </a:r>
            <a:r>
              <a:rPr lang="en-US" altLang="zh-CN" sz="3600" dirty="0">
                <a:solidFill>
                  <a:srgbClr val="0000FF"/>
                </a:solidFill>
              </a:rPr>
              <a:t>=</a:t>
            </a:r>
            <a:r>
              <a:rPr lang="en-US" altLang="zh-CN" sz="3600" i="1" dirty="0">
                <a:solidFill>
                  <a:srgbClr val="0000FF"/>
                </a:solidFill>
              </a:rPr>
              <a:t>D</a:t>
            </a:r>
            <a:endParaRPr lang="zh-CN" altLang="en-US" sz="3600" dirty="0">
              <a:solidFill>
                <a:srgbClr val="0000FF"/>
              </a:solidFill>
            </a:endParaRPr>
          </a:p>
        </p:txBody>
      </p:sp>
      <p:sp>
        <p:nvSpPr>
          <p:cNvPr id="8" name="右大括号 7"/>
          <p:cNvSpPr/>
          <p:nvPr/>
        </p:nvSpPr>
        <p:spPr>
          <a:xfrm>
            <a:off x="5342021" y="2598821"/>
            <a:ext cx="477253" cy="1604211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118075" y="3088106"/>
            <a:ext cx="2015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对比，得到</a:t>
            </a:r>
            <a:endParaRPr lang="zh-CN" altLang="en-US" sz="2800" b="1" dirty="0"/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1836219" y="4793833"/>
          <a:ext cx="4076700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4" imgW="1651000" imgH="558800" progId="Equation.DSMT4">
                  <p:embed/>
                </p:oleObj>
              </mc:Choice>
              <mc:Fallback>
                <p:oleObj name="Equation" r:id="rId4" imgW="1651000" imgH="558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219" y="4793833"/>
                        <a:ext cx="4076700" cy="13763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 animBg="1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5745" y="751587"/>
            <a:ext cx="7422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>
                <a:solidFill>
                  <a:srgbClr val="FF33CC"/>
                </a:solidFill>
              </a:rPr>
              <a:t>（</a:t>
            </a:r>
            <a:r>
              <a:rPr lang="en-US" altLang="zh-CN" sz="2800" b="1" dirty="0">
                <a:solidFill>
                  <a:srgbClr val="FF33CC"/>
                </a:solidFill>
              </a:rPr>
              <a:t>3</a:t>
            </a:r>
            <a:r>
              <a:rPr lang="zh-CN" altLang="en-US" sz="2800" b="1" dirty="0">
                <a:solidFill>
                  <a:srgbClr val="FF33CC"/>
                </a:solidFill>
              </a:rPr>
              <a:t>）求驱动方程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5132" y="1598050"/>
            <a:ext cx="3451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</a:rPr>
              <a:t>   若选用</a:t>
            </a:r>
            <a:r>
              <a:rPr lang="en-US" altLang="zh-CN" sz="2800" b="1" dirty="0">
                <a:solidFill>
                  <a:srgbClr val="0000FF"/>
                </a:solidFill>
              </a:rPr>
              <a:t>J-K</a:t>
            </a:r>
            <a:r>
              <a:rPr lang="zh-CN" altLang="en-US" sz="2800" b="1" dirty="0">
                <a:solidFill>
                  <a:srgbClr val="0000FF"/>
                </a:solidFill>
              </a:rPr>
              <a:t>触发器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625845" y="2262920"/>
          <a:ext cx="24114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2" imgW="27432000" imgH="6096000" progId="Equation.DSMT4">
                  <p:embed/>
                </p:oleObj>
              </mc:Choice>
              <mc:Fallback>
                <p:oleObj name="Equation" r:id="rId2" imgW="27432000" imgH="6096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845" y="2262920"/>
                        <a:ext cx="24114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184986" y="3076715"/>
          <a:ext cx="4475162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4" imgW="48463200" imgH="26212800" progId="Equation.DSMT4">
                  <p:embed/>
                </p:oleObj>
              </mc:Choice>
              <mc:Fallback>
                <p:oleObj name="Equation" r:id="rId4" imgW="48463200" imgH="26212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86" y="3076715"/>
                        <a:ext cx="4475162" cy="242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/>
        </p:nvGraphicFramePr>
        <p:xfrm>
          <a:off x="6194889" y="3154344"/>
          <a:ext cx="18319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6" imgW="824865" imgH="266700" progId="Equation.DSMT4">
                  <p:embed/>
                </p:oleObj>
              </mc:Choice>
              <mc:Fallback>
                <p:oleObj name="Equation" r:id="rId6" imgW="824865" imgH="266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4889" y="3154344"/>
                        <a:ext cx="18319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/>
          <p:cNvGraphicFramePr>
            <a:graphicFrameLocks noChangeAspect="1"/>
          </p:cNvGraphicFramePr>
          <p:nvPr/>
        </p:nvGraphicFramePr>
        <p:xfrm>
          <a:off x="6147616" y="3900393"/>
          <a:ext cx="280828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8" imgW="1269365" imgH="304800" progId="Equation.DSMT4">
                  <p:embed/>
                </p:oleObj>
              </mc:Choice>
              <mc:Fallback>
                <p:oleObj name="Equation" r:id="rId8" imgW="1269365" imgH="304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7616" y="3900393"/>
                        <a:ext cx="2808288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右大括号 24"/>
          <p:cNvSpPr/>
          <p:nvPr/>
        </p:nvSpPr>
        <p:spPr>
          <a:xfrm>
            <a:off x="4377447" y="2443948"/>
            <a:ext cx="477253" cy="289005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854700" y="3368843"/>
            <a:ext cx="623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对比</a:t>
            </a:r>
            <a:endParaRPr lang="zh-CN" altLang="en-US" sz="2800" b="1" dirty="0"/>
          </a:p>
        </p:txBody>
      </p:sp>
      <p:sp>
        <p:nvSpPr>
          <p:cNvPr id="5" name="左大括号 4"/>
          <p:cNvSpPr/>
          <p:nvPr/>
        </p:nvSpPr>
        <p:spPr>
          <a:xfrm>
            <a:off x="6000337" y="3449619"/>
            <a:ext cx="147279" cy="85327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/>
          <p:cNvSpPr/>
          <p:nvPr/>
        </p:nvSpPr>
        <p:spPr>
          <a:xfrm>
            <a:off x="5406189" y="3793958"/>
            <a:ext cx="417095" cy="1965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5" grpId="0" animBg="1"/>
      <p:bldP spid="26" grpId="0"/>
      <p:bldP spid="5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5167" y="793278"/>
            <a:ext cx="7422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>
                <a:solidFill>
                  <a:srgbClr val="FF33CC"/>
                </a:solidFill>
              </a:rPr>
              <a:t>（</a:t>
            </a:r>
            <a:r>
              <a:rPr lang="en-US" altLang="zh-CN" sz="2800" b="1" dirty="0">
                <a:solidFill>
                  <a:srgbClr val="FF33CC"/>
                </a:solidFill>
              </a:rPr>
              <a:t>3</a:t>
            </a:r>
            <a:r>
              <a:rPr lang="zh-CN" altLang="en-US" sz="2800" b="1" dirty="0">
                <a:solidFill>
                  <a:srgbClr val="FF33CC"/>
                </a:solidFill>
              </a:rPr>
              <a:t>）求驱动方程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5132" y="1598050"/>
            <a:ext cx="3451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</a:rPr>
              <a:t>   若选用</a:t>
            </a:r>
            <a:r>
              <a:rPr lang="en-US" altLang="zh-CN" sz="2800" b="1" dirty="0">
                <a:solidFill>
                  <a:srgbClr val="0000FF"/>
                </a:solidFill>
              </a:rPr>
              <a:t>J-K</a:t>
            </a:r>
            <a:r>
              <a:rPr lang="zh-CN" altLang="en-US" sz="2800" b="1" dirty="0">
                <a:solidFill>
                  <a:srgbClr val="0000FF"/>
                </a:solidFill>
              </a:rPr>
              <a:t>触发器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760926" y="2510740"/>
          <a:ext cx="241141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2" imgW="27432000" imgH="6096000" progId="Equation.DSMT4">
                  <p:embed/>
                </p:oleObj>
              </mc:Choice>
              <mc:Fallback>
                <p:oleObj name="Equation" r:id="rId2" imgW="27432000" imgH="6096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926" y="2510740"/>
                        <a:ext cx="2411413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右大括号 24"/>
          <p:cNvSpPr/>
          <p:nvPr/>
        </p:nvSpPr>
        <p:spPr>
          <a:xfrm>
            <a:off x="4781028" y="2402822"/>
            <a:ext cx="477253" cy="289005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189475" y="3370795"/>
            <a:ext cx="623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对比</a:t>
            </a:r>
            <a:endParaRPr lang="zh-CN" altLang="en-US" sz="2800" b="1" dirty="0"/>
          </a:p>
        </p:txBody>
      </p:sp>
      <p:sp>
        <p:nvSpPr>
          <p:cNvPr id="5" name="左大括号 4"/>
          <p:cNvSpPr/>
          <p:nvPr/>
        </p:nvSpPr>
        <p:spPr>
          <a:xfrm>
            <a:off x="6152737" y="3451572"/>
            <a:ext cx="147279" cy="85327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/>
          <p:cNvSpPr/>
          <p:nvPr/>
        </p:nvSpPr>
        <p:spPr>
          <a:xfrm>
            <a:off x="5691889" y="3779953"/>
            <a:ext cx="417095" cy="19651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Object 10"/>
          <p:cNvGraphicFramePr>
            <a:graphicFrameLocks noChangeAspect="1"/>
          </p:cNvGraphicFramePr>
          <p:nvPr/>
        </p:nvGraphicFramePr>
        <p:xfrm>
          <a:off x="152400" y="3330051"/>
          <a:ext cx="4744370" cy="2284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4" imgW="54559200" imgH="26212800" progId="Equation.DSMT4">
                  <p:embed/>
                </p:oleObj>
              </mc:Choice>
              <mc:Fallback>
                <p:oleObj name="Equation" r:id="rId4" imgW="54559200" imgH="26212800" progId="Equation.DSMT4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330051"/>
                        <a:ext cx="4744370" cy="2284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6355681" y="3173778"/>
          <a:ext cx="17541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6" imgW="812165" imgH="241300" progId="Equation.DSMT4">
                  <p:embed/>
                </p:oleObj>
              </mc:Choice>
              <mc:Fallback>
                <p:oleObj name="Equation" r:id="rId6" imgW="812165" imgH="2413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5681" y="3173778"/>
                        <a:ext cx="175418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/>
          <p:cNvGraphicFramePr>
            <a:graphicFrameLocks noChangeAspect="1"/>
          </p:cNvGraphicFramePr>
          <p:nvPr/>
        </p:nvGraphicFramePr>
        <p:xfrm>
          <a:off x="6300016" y="4034976"/>
          <a:ext cx="25209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8" imgW="1243965" imgH="266700" progId="Equation.DSMT4">
                  <p:embed/>
                </p:oleObj>
              </mc:Choice>
              <mc:Fallback>
                <p:oleObj name="Equation" r:id="rId8" imgW="1243965" imgH="266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016" y="4034976"/>
                        <a:ext cx="25209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5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5744" y="796591"/>
            <a:ext cx="7422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>
                <a:solidFill>
                  <a:srgbClr val="FF33CC"/>
                </a:solidFill>
              </a:rPr>
              <a:t>（</a:t>
            </a:r>
            <a:r>
              <a:rPr lang="en-US" altLang="zh-CN" sz="2800" b="1" dirty="0">
                <a:solidFill>
                  <a:srgbClr val="FF33CC"/>
                </a:solidFill>
              </a:rPr>
              <a:t>3</a:t>
            </a:r>
            <a:r>
              <a:rPr lang="zh-CN" altLang="en-US" sz="2800" b="1" dirty="0">
                <a:solidFill>
                  <a:srgbClr val="FF33CC"/>
                </a:solidFill>
              </a:rPr>
              <a:t>）求驱动方程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6" y="1567272"/>
            <a:ext cx="3451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</a:rPr>
              <a:t>   若选用</a:t>
            </a:r>
            <a:r>
              <a:rPr lang="en-US" altLang="zh-CN" sz="2800" b="1" dirty="0">
                <a:solidFill>
                  <a:srgbClr val="0000FF"/>
                </a:solidFill>
              </a:rPr>
              <a:t>T</a:t>
            </a:r>
            <a:r>
              <a:rPr lang="zh-CN" altLang="en-US" sz="2800" b="1" dirty="0">
                <a:solidFill>
                  <a:srgbClr val="0000FF"/>
                </a:solidFill>
              </a:rPr>
              <a:t>触发器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3833077" y="1525409"/>
          <a:ext cx="2629133" cy="606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2" imgW="1116965" imgH="254000" progId="Equation.DSMT4">
                  <p:embed/>
                </p:oleObj>
              </mc:Choice>
              <mc:Fallback>
                <p:oleObj name="Equation" r:id="rId2" imgW="1116965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077" y="1525409"/>
                        <a:ext cx="2629133" cy="6069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503308" y="2706410"/>
            <a:ext cx="4867096" cy="3287823"/>
            <a:chOff x="503308" y="2706410"/>
            <a:chExt cx="4867096" cy="3287823"/>
          </a:xfrm>
        </p:grpSpPr>
        <p:pic>
          <p:nvPicPr>
            <p:cNvPr id="20" name="Picture 5" descr="B5-2-1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08" y="3252537"/>
              <a:ext cx="4867096" cy="2741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3"/>
            <p:cNvSpPr txBox="1"/>
            <p:nvPr/>
          </p:nvSpPr>
          <p:spPr>
            <a:xfrm>
              <a:off x="1399072" y="2706410"/>
              <a:ext cx="27004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170A8E"/>
                  </a:solidFill>
                </a:rPr>
                <a:t>T</a:t>
              </a:r>
              <a:r>
                <a:rPr lang="zh-CN" altLang="en-US" sz="2800" b="1" dirty="0">
                  <a:solidFill>
                    <a:srgbClr val="170A8E"/>
                  </a:solidFill>
                </a:rPr>
                <a:t>触发器激励表</a:t>
              </a:r>
              <a:endParaRPr lang="zh-CN" altLang="en-US" sz="2800" b="1" dirty="0">
                <a:solidFill>
                  <a:srgbClr val="170A8E"/>
                </a:solidFill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618748" y="3429000"/>
            <a:ext cx="2795337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分析：</a:t>
            </a:r>
            <a:endParaRPr lang="en-US" altLang="zh-CN" sz="2800" b="1" dirty="0"/>
          </a:p>
          <a:p>
            <a:r>
              <a:rPr lang="en-US" altLang="zh-CN" sz="2800" b="1" dirty="0"/>
              <a:t>T</a:t>
            </a:r>
            <a:r>
              <a:rPr lang="zh-CN" altLang="en-US" sz="2800" b="1" dirty="0"/>
              <a:t>触发器要发生状态翻转，必须满足输入端信号</a:t>
            </a:r>
            <a:r>
              <a:rPr lang="en-US" altLang="zh-CN" sz="2800" b="1" dirty="0">
                <a:solidFill>
                  <a:srgbClr val="FF0000"/>
                </a:solidFill>
              </a:rPr>
              <a:t>T=1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1769" y="763258"/>
            <a:ext cx="7422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>
                <a:solidFill>
                  <a:srgbClr val="FF33CC"/>
                </a:solidFill>
              </a:rPr>
              <a:t>（</a:t>
            </a:r>
            <a:r>
              <a:rPr lang="en-US" altLang="zh-CN" sz="2800" b="1" dirty="0">
                <a:solidFill>
                  <a:srgbClr val="FF33CC"/>
                </a:solidFill>
              </a:rPr>
              <a:t>3</a:t>
            </a:r>
            <a:r>
              <a:rPr lang="zh-CN" altLang="en-US" sz="2800" b="1" dirty="0">
                <a:solidFill>
                  <a:srgbClr val="FF33CC"/>
                </a:solidFill>
              </a:rPr>
              <a:t>）求驱动方程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7290" y="1342585"/>
            <a:ext cx="3451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</a:rPr>
              <a:t>   若选用</a:t>
            </a:r>
            <a:r>
              <a:rPr lang="en-US" altLang="zh-CN" sz="2800" b="1" dirty="0">
                <a:solidFill>
                  <a:srgbClr val="0000FF"/>
                </a:solidFill>
              </a:rPr>
              <a:t>T</a:t>
            </a:r>
            <a:r>
              <a:rPr lang="zh-CN" altLang="en-US" sz="2800" b="1" dirty="0">
                <a:solidFill>
                  <a:srgbClr val="0000FF"/>
                </a:solidFill>
              </a:rPr>
              <a:t>触发器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21" name="Picture 5" descr="B5-4-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3" y="3308423"/>
            <a:ext cx="5683357" cy="2890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507290" y="2016934"/>
            <a:ext cx="7483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假设两个</a:t>
            </a:r>
            <a:r>
              <a:rPr lang="en-US" altLang="zh-CN" sz="2800" b="1" dirty="0"/>
              <a:t>T</a:t>
            </a:r>
            <a:r>
              <a:rPr lang="zh-CN" altLang="en-US" sz="2800" b="1" dirty="0"/>
              <a:t>触发器的输入端信号分别为</a:t>
            </a:r>
            <a:r>
              <a:rPr lang="en-US" altLang="zh-CN" sz="2800" b="1" dirty="0"/>
              <a:t>T1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T2</a:t>
            </a:r>
            <a:r>
              <a:rPr lang="zh-CN" altLang="en-US" sz="2800" b="1" dirty="0"/>
              <a:t>，由状态转移表</a:t>
            </a:r>
            <a:r>
              <a:rPr lang="zh-CN" altLang="en-US" sz="2800" b="1" dirty="0">
                <a:solidFill>
                  <a:srgbClr val="FF0000"/>
                </a:solidFill>
              </a:rPr>
              <a:t>画</a:t>
            </a:r>
            <a:r>
              <a:rPr lang="en-US" altLang="zh-CN" sz="2800" b="1" dirty="0">
                <a:solidFill>
                  <a:srgbClr val="FF0000"/>
                </a:solidFill>
              </a:rPr>
              <a:t>T1</a:t>
            </a:r>
            <a:r>
              <a:rPr lang="zh-CN" altLang="en-US" sz="2800" b="1" dirty="0">
                <a:solidFill>
                  <a:srgbClr val="FF0000"/>
                </a:solidFill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</a:rPr>
              <a:t>T2</a:t>
            </a:r>
            <a:r>
              <a:rPr lang="zh-CN" altLang="en-US" sz="2800" b="1" dirty="0">
                <a:solidFill>
                  <a:srgbClr val="FF0000"/>
                </a:solidFill>
              </a:rPr>
              <a:t>的卡诺图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弧形 4"/>
          <p:cNvSpPr/>
          <p:nvPr/>
        </p:nvSpPr>
        <p:spPr>
          <a:xfrm>
            <a:off x="946484" y="4267026"/>
            <a:ext cx="1724526" cy="469232"/>
          </a:xfrm>
          <a:prstGeom prst="arc">
            <a:avLst>
              <a:gd name="adj1" fmla="val 10896110"/>
              <a:gd name="adj2" fmla="val 59352"/>
            </a:avLst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079510" y="3019080"/>
            <a:ext cx="2432254" cy="2933700"/>
            <a:chOff x="6460510" y="3142570"/>
            <a:chExt cx="2432254" cy="2933700"/>
          </a:xfrm>
        </p:grpSpPr>
        <p:grpSp>
          <p:nvGrpSpPr>
            <p:cNvPr id="14" name="组合 13"/>
            <p:cNvGrpSpPr/>
            <p:nvPr/>
          </p:nvGrpSpPr>
          <p:grpSpPr bwMode="auto">
            <a:xfrm>
              <a:off x="6957600" y="3142570"/>
              <a:ext cx="1935164" cy="2933700"/>
              <a:chOff x="173" y="0"/>
              <a:chExt cx="1219" cy="1848"/>
            </a:xfrm>
          </p:grpSpPr>
          <p:sp>
            <p:nvSpPr>
              <p:cNvPr id="16" name="矩形 134159"/>
              <p:cNvSpPr>
                <a:spLocks noChangeArrowheads="1"/>
              </p:cNvSpPr>
              <p:nvPr/>
            </p:nvSpPr>
            <p:spPr bwMode="auto">
              <a:xfrm>
                <a:off x="528" y="432"/>
                <a:ext cx="864" cy="13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直接连接符 134160"/>
              <p:cNvSpPr>
                <a:spLocks noChangeShapeType="1"/>
              </p:cNvSpPr>
              <p:nvPr/>
            </p:nvSpPr>
            <p:spPr bwMode="auto">
              <a:xfrm flipH="1" flipV="1">
                <a:off x="173" y="59"/>
                <a:ext cx="363" cy="372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直接连接符 134161"/>
              <p:cNvSpPr>
                <a:spLocks noChangeShapeType="1"/>
              </p:cNvSpPr>
              <p:nvPr/>
            </p:nvSpPr>
            <p:spPr bwMode="auto">
              <a:xfrm>
                <a:off x="528" y="816"/>
                <a:ext cx="86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直接连接符 134162"/>
              <p:cNvSpPr>
                <a:spLocks noChangeShapeType="1"/>
              </p:cNvSpPr>
              <p:nvPr/>
            </p:nvSpPr>
            <p:spPr bwMode="auto">
              <a:xfrm>
                <a:off x="958" y="436"/>
                <a:ext cx="2" cy="135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文本框 134164"/>
              <p:cNvSpPr txBox="1">
                <a:spLocks noChangeArrowheads="1"/>
              </p:cNvSpPr>
              <p:nvPr/>
            </p:nvSpPr>
            <p:spPr bwMode="auto">
              <a:xfrm>
                <a:off x="672" y="108"/>
                <a:ext cx="62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>
                    <a:ea typeface="宋体" panose="02010600030101010101" pitchFamily="2" charset="-122"/>
                  </a:rPr>
                  <a:t>0     1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25" name="文本框 134165"/>
              <p:cNvSpPr txBox="1">
                <a:spLocks noChangeArrowheads="1"/>
              </p:cNvSpPr>
              <p:nvPr/>
            </p:nvSpPr>
            <p:spPr bwMode="auto">
              <a:xfrm>
                <a:off x="192" y="444"/>
                <a:ext cx="496" cy="1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>
                  <a:lnSpc>
                    <a:spcPct val="110000"/>
                  </a:lnSpc>
                </a:pPr>
                <a:r>
                  <a:rPr lang="en-US" altLang="zh-CN">
                    <a:ea typeface="宋体" panose="02010600030101010101" pitchFamily="2" charset="-122"/>
                  </a:rPr>
                  <a:t>00</a:t>
                </a:r>
                <a:endParaRPr lang="en-US" altLang="zh-CN">
                  <a:ea typeface="宋体" panose="02010600030101010101" pitchFamily="2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en-US" altLang="zh-CN">
                    <a:ea typeface="宋体" panose="02010600030101010101" pitchFamily="2" charset="-122"/>
                  </a:rPr>
                  <a:t>01</a:t>
                </a:r>
                <a:endParaRPr lang="en-US" altLang="zh-CN">
                  <a:ea typeface="宋体" panose="02010600030101010101" pitchFamily="2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en-US" altLang="zh-CN">
                    <a:ea typeface="宋体" panose="02010600030101010101" pitchFamily="2" charset="-122"/>
                  </a:rPr>
                  <a:t>11</a:t>
                </a:r>
                <a:endParaRPr lang="en-US" altLang="zh-CN">
                  <a:ea typeface="宋体" panose="02010600030101010101" pitchFamily="2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en-US" altLang="zh-CN">
                    <a:ea typeface="宋体" panose="02010600030101010101" pitchFamily="2" charset="-122"/>
                  </a:rPr>
                  <a:t>10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26" name="文本框 134166"/>
              <p:cNvSpPr txBox="1">
                <a:spLocks noChangeArrowheads="1"/>
              </p:cNvSpPr>
              <p:nvPr/>
            </p:nvSpPr>
            <p:spPr bwMode="auto">
              <a:xfrm>
                <a:off x="300" y="0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 i="1" dirty="0">
                    <a:ea typeface="宋体" panose="02010600030101010101" pitchFamily="2" charset="-122"/>
                  </a:rPr>
                  <a:t>X</a:t>
                </a:r>
                <a:endParaRPr lang="en-US" altLang="zh-CN" i="1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8" name="直接连接符 134168"/>
              <p:cNvSpPr>
                <a:spLocks noChangeShapeType="1"/>
              </p:cNvSpPr>
              <p:nvPr/>
            </p:nvSpPr>
            <p:spPr bwMode="auto">
              <a:xfrm>
                <a:off x="528" y="1152"/>
                <a:ext cx="86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直接连接符 134169"/>
              <p:cNvSpPr>
                <a:spLocks noChangeShapeType="1"/>
              </p:cNvSpPr>
              <p:nvPr/>
            </p:nvSpPr>
            <p:spPr bwMode="auto">
              <a:xfrm>
                <a:off x="528" y="1488"/>
                <a:ext cx="86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/>
                <p:cNvSpPr/>
                <p:nvPr/>
              </p:nvSpPr>
              <p:spPr>
                <a:xfrm>
                  <a:off x="6460510" y="3444553"/>
                  <a:ext cx="87498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en-US" sz="2000" i="1">
                                <a:latin typeface="Cambria Math" panose="02040503050406030204"/>
                              </a:rPr>
                            </m:ctrlPr>
                          </m:sSubSup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0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sSubSup>
                          <m:sSubSupPr>
                            <m:ctrlPr>
                              <a:rPr lang="zh-CN" altLang="en-US" sz="2000" i="1">
                                <a:latin typeface="Cambria Math" panose="02040503050406030204"/>
                              </a:rPr>
                            </m:ctrlPr>
                          </m:sSubSup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0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510" y="3444553"/>
                  <a:ext cx="874983" cy="40011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弧形 29"/>
          <p:cNvSpPr/>
          <p:nvPr/>
        </p:nvSpPr>
        <p:spPr>
          <a:xfrm>
            <a:off x="954502" y="4668078"/>
            <a:ext cx="1724526" cy="469232"/>
          </a:xfrm>
          <a:prstGeom prst="arc">
            <a:avLst>
              <a:gd name="adj1" fmla="val 10896110"/>
              <a:gd name="adj2" fmla="val 76008"/>
            </a:avLst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弧形 30"/>
          <p:cNvSpPr/>
          <p:nvPr/>
        </p:nvSpPr>
        <p:spPr>
          <a:xfrm>
            <a:off x="946482" y="5145337"/>
            <a:ext cx="1724526" cy="469232"/>
          </a:xfrm>
          <a:prstGeom prst="arc">
            <a:avLst>
              <a:gd name="adj1" fmla="val 10896110"/>
              <a:gd name="adj2" fmla="val 21528629"/>
            </a:avLst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弧形 31"/>
          <p:cNvSpPr/>
          <p:nvPr/>
        </p:nvSpPr>
        <p:spPr>
          <a:xfrm>
            <a:off x="946482" y="5576960"/>
            <a:ext cx="1724526" cy="469232"/>
          </a:xfrm>
          <a:prstGeom prst="arc">
            <a:avLst>
              <a:gd name="adj1" fmla="val 10896110"/>
              <a:gd name="adj2" fmla="val 21593270"/>
            </a:avLst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952293" y="4081204"/>
            <a:ext cx="3519444" cy="743459"/>
          </a:xfrm>
          <a:prstGeom prst="arc">
            <a:avLst>
              <a:gd name="adj1" fmla="val 10800001"/>
              <a:gd name="adj2" fmla="val 2471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弧形 32"/>
          <p:cNvSpPr/>
          <p:nvPr/>
        </p:nvSpPr>
        <p:spPr>
          <a:xfrm>
            <a:off x="988386" y="4510160"/>
            <a:ext cx="3455277" cy="743645"/>
          </a:xfrm>
          <a:prstGeom prst="arc">
            <a:avLst>
              <a:gd name="adj1" fmla="val 10800001"/>
              <a:gd name="adj2" fmla="val 109486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弧形 33"/>
          <p:cNvSpPr/>
          <p:nvPr/>
        </p:nvSpPr>
        <p:spPr>
          <a:xfrm>
            <a:off x="976351" y="4935278"/>
            <a:ext cx="3495386" cy="743645"/>
          </a:xfrm>
          <a:prstGeom prst="arc">
            <a:avLst>
              <a:gd name="adj1" fmla="val 10800001"/>
              <a:gd name="adj2" fmla="val 109486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弧形 34"/>
          <p:cNvSpPr/>
          <p:nvPr/>
        </p:nvSpPr>
        <p:spPr>
          <a:xfrm>
            <a:off x="984376" y="5388480"/>
            <a:ext cx="3487361" cy="743645"/>
          </a:xfrm>
          <a:prstGeom prst="arc">
            <a:avLst>
              <a:gd name="adj1" fmla="val 10800001"/>
              <a:gd name="adj2" fmla="val 109486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322540" y="3748070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339816" y="4280387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39816" y="4837700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346278" y="5343407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980609" y="3743744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1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952777" y="4854433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1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980609" y="4305724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0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991063" y="5368403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0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546911" y="5939067"/>
            <a:ext cx="537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T2</a:t>
            </a:r>
            <a:endParaRPr lang="zh-CN" altLang="en-US" sz="2800" dirty="0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0" grpId="0" animBg="1"/>
      <p:bldP spid="31" grpId="0" animBg="1"/>
      <p:bldP spid="32" grpId="0" animBg="1"/>
      <p:bldP spid="12" grpId="0" animBg="1"/>
      <p:bldP spid="33" grpId="0" animBg="1"/>
      <p:bldP spid="34" grpId="0" animBg="1"/>
      <p:bldP spid="35" grpId="0" animBg="1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8614" y="768472"/>
            <a:ext cx="7422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>
                <a:solidFill>
                  <a:srgbClr val="FF33CC"/>
                </a:solidFill>
              </a:rPr>
              <a:t>（</a:t>
            </a:r>
            <a:r>
              <a:rPr lang="en-US" altLang="zh-CN" sz="2800" b="1" dirty="0">
                <a:solidFill>
                  <a:srgbClr val="FF33CC"/>
                </a:solidFill>
              </a:rPr>
              <a:t>3</a:t>
            </a:r>
            <a:r>
              <a:rPr lang="zh-CN" altLang="en-US" sz="2800" b="1" dirty="0">
                <a:solidFill>
                  <a:srgbClr val="FF33CC"/>
                </a:solidFill>
              </a:rPr>
              <a:t>）求驱动方程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1225" y="1476963"/>
            <a:ext cx="3451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</a:rPr>
              <a:t>   若选用</a:t>
            </a:r>
            <a:r>
              <a:rPr lang="en-US" altLang="zh-CN" sz="2800" b="1" dirty="0">
                <a:solidFill>
                  <a:srgbClr val="0000FF"/>
                </a:solidFill>
              </a:rPr>
              <a:t>T</a:t>
            </a:r>
            <a:r>
              <a:rPr lang="zh-CN" altLang="en-US" sz="2800" b="1" dirty="0">
                <a:solidFill>
                  <a:srgbClr val="0000FF"/>
                </a:solidFill>
              </a:rPr>
              <a:t>触发器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pic>
        <p:nvPicPr>
          <p:cNvPr id="21" name="Picture 5" descr="B5-4-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3" y="3308423"/>
            <a:ext cx="5683357" cy="2890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581225" y="2123899"/>
            <a:ext cx="7483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假设两个</a:t>
            </a:r>
            <a:r>
              <a:rPr lang="en-US" altLang="zh-CN" sz="2800" b="1" dirty="0"/>
              <a:t>T</a:t>
            </a:r>
            <a:r>
              <a:rPr lang="zh-CN" altLang="en-US" sz="2800" b="1" dirty="0"/>
              <a:t>触发器的输入端信号分别为</a:t>
            </a:r>
            <a:r>
              <a:rPr lang="en-US" altLang="zh-CN" sz="2800" b="1" dirty="0"/>
              <a:t>T1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T2</a:t>
            </a:r>
            <a:r>
              <a:rPr lang="zh-CN" altLang="en-US" sz="2800" b="1" dirty="0"/>
              <a:t>，由状态转移表画</a:t>
            </a:r>
            <a:r>
              <a:rPr lang="en-US" altLang="zh-CN" sz="2800" b="1" dirty="0"/>
              <a:t>T1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T2</a:t>
            </a:r>
            <a:r>
              <a:rPr lang="zh-CN" altLang="en-US" sz="2800" b="1" dirty="0"/>
              <a:t>的卡诺图</a:t>
            </a:r>
            <a:endParaRPr lang="zh-CN" altLang="en-US" sz="2800" b="1" dirty="0"/>
          </a:p>
        </p:txBody>
      </p:sp>
      <p:sp>
        <p:nvSpPr>
          <p:cNvPr id="5" name="弧形 4"/>
          <p:cNvSpPr/>
          <p:nvPr/>
        </p:nvSpPr>
        <p:spPr>
          <a:xfrm>
            <a:off x="1050760" y="4267026"/>
            <a:ext cx="1724526" cy="469232"/>
          </a:xfrm>
          <a:prstGeom prst="arc">
            <a:avLst>
              <a:gd name="adj1" fmla="val 10896110"/>
              <a:gd name="adj2" fmla="val 59352"/>
            </a:avLst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079510" y="3019080"/>
            <a:ext cx="2432254" cy="2933700"/>
            <a:chOff x="6460510" y="3142570"/>
            <a:chExt cx="2432254" cy="2933700"/>
          </a:xfrm>
        </p:grpSpPr>
        <p:grpSp>
          <p:nvGrpSpPr>
            <p:cNvPr id="14" name="组合 13"/>
            <p:cNvGrpSpPr/>
            <p:nvPr/>
          </p:nvGrpSpPr>
          <p:grpSpPr bwMode="auto">
            <a:xfrm>
              <a:off x="6957600" y="3142570"/>
              <a:ext cx="1935164" cy="2933700"/>
              <a:chOff x="173" y="0"/>
              <a:chExt cx="1219" cy="1848"/>
            </a:xfrm>
          </p:grpSpPr>
          <p:sp>
            <p:nvSpPr>
              <p:cNvPr id="16" name="矩形 134159"/>
              <p:cNvSpPr>
                <a:spLocks noChangeArrowheads="1"/>
              </p:cNvSpPr>
              <p:nvPr/>
            </p:nvSpPr>
            <p:spPr bwMode="auto">
              <a:xfrm>
                <a:off x="528" y="432"/>
                <a:ext cx="864" cy="135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" name="直接连接符 134160"/>
              <p:cNvSpPr>
                <a:spLocks noChangeShapeType="1"/>
              </p:cNvSpPr>
              <p:nvPr/>
            </p:nvSpPr>
            <p:spPr bwMode="auto">
              <a:xfrm flipH="1" flipV="1">
                <a:off x="173" y="59"/>
                <a:ext cx="363" cy="372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直接连接符 134161"/>
              <p:cNvSpPr>
                <a:spLocks noChangeShapeType="1"/>
              </p:cNvSpPr>
              <p:nvPr/>
            </p:nvSpPr>
            <p:spPr bwMode="auto">
              <a:xfrm>
                <a:off x="528" y="816"/>
                <a:ext cx="86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直接连接符 134162"/>
              <p:cNvSpPr>
                <a:spLocks noChangeShapeType="1"/>
              </p:cNvSpPr>
              <p:nvPr/>
            </p:nvSpPr>
            <p:spPr bwMode="auto">
              <a:xfrm>
                <a:off x="958" y="436"/>
                <a:ext cx="2" cy="135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文本框 134164"/>
              <p:cNvSpPr txBox="1">
                <a:spLocks noChangeArrowheads="1"/>
              </p:cNvSpPr>
              <p:nvPr/>
            </p:nvSpPr>
            <p:spPr bwMode="auto">
              <a:xfrm>
                <a:off x="672" y="108"/>
                <a:ext cx="62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>
                    <a:ea typeface="宋体" panose="02010600030101010101" pitchFamily="2" charset="-122"/>
                  </a:rPr>
                  <a:t>0     1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25" name="文本框 134165"/>
              <p:cNvSpPr txBox="1">
                <a:spLocks noChangeArrowheads="1"/>
              </p:cNvSpPr>
              <p:nvPr/>
            </p:nvSpPr>
            <p:spPr bwMode="auto">
              <a:xfrm>
                <a:off x="192" y="444"/>
                <a:ext cx="496" cy="1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tabLst>
                    <a:tab pos="758825" algn="l"/>
                  </a:tabLs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>
                  <a:lnSpc>
                    <a:spcPct val="110000"/>
                  </a:lnSpc>
                </a:pPr>
                <a:r>
                  <a:rPr lang="en-US" altLang="zh-CN">
                    <a:ea typeface="宋体" panose="02010600030101010101" pitchFamily="2" charset="-122"/>
                  </a:rPr>
                  <a:t>00</a:t>
                </a:r>
                <a:endParaRPr lang="en-US" altLang="zh-CN">
                  <a:ea typeface="宋体" panose="02010600030101010101" pitchFamily="2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en-US" altLang="zh-CN">
                    <a:ea typeface="宋体" panose="02010600030101010101" pitchFamily="2" charset="-122"/>
                  </a:rPr>
                  <a:t>01</a:t>
                </a:r>
                <a:endParaRPr lang="en-US" altLang="zh-CN">
                  <a:ea typeface="宋体" panose="02010600030101010101" pitchFamily="2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en-US" altLang="zh-CN">
                    <a:ea typeface="宋体" panose="02010600030101010101" pitchFamily="2" charset="-122"/>
                  </a:rPr>
                  <a:t>11</a:t>
                </a:r>
                <a:endParaRPr lang="en-US" altLang="zh-CN">
                  <a:ea typeface="宋体" panose="02010600030101010101" pitchFamily="2" charset="-122"/>
                </a:endParaRPr>
              </a:p>
              <a:p>
                <a:pPr algn="l">
                  <a:lnSpc>
                    <a:spcPct val="130000"/>
                  </a:lnSpc>
                </a:pPr>
                <a:r>
                  <a:rPr lang="en-US" altLang="zh-CN">
                    <a:ea typeface="宋体" panose="02010600030101010101" pitchFamily="2" charset="-122"/>
                  </a:rPr>
                  <a:t>10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sp>
            <p:nvSpPr>
              <p:cNvPr id="26" name="文本框 134166"/>
              <p:cNvSpPr txBox="1">
                <a:spLocks noChangeArrowheads="1"/>
              </p:cNvSpPr>
              <p:nvPr/>
            </p:nvSpPr>
            <p:spPr bwMode="auto">
              <a:xfrm>
                <a:off x="300" y="0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algn="ctr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algn="ctr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l"/>
                <a:r>
                  <a:rPr lang="en-US" altLang="zh-CN" i="1" dirty="0">
                    <a:ea typeface="宋体" panose="02010600030101010101" pitchFamily="2" charset="-122"/>
                  </a:rPr>
                  <a:t>X</a:t>
                </a:r>
                <a:endParaRPr lang="en-US" altLang="zh-CN" i="1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28" name="直接连接符 134168"/>
              <p:cNvSpPr>
                <a:spLocks noChangeShapeType="1"/>
              </p:cNvSpPr>
              <p:nvPr/>
            </p:nvSpPr>
            <p:spPr bwMode="auto">
              <a:xfrm>
                <a:off x="528" y="1152"/>
                <a:ext cx="86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直接连接符 134169"/>
              <p:cNvSpPr>
                <a:spLocks noChangeShapeType="1"/>
              </p:cNvSpPr>
              <p:nvPr/>
            </p:nvSpPr>
            <p:spPr bwMode="auto">
              <a:xfrm>
                <a:off x="528" y="1488"/>
                <a:ext cx="864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/>
                <p:cNvSpPr/>
                <p:nvPr/>
              </p:nvSpPr>
              <p:spPr>
                <a:xfrm>
                  <a:off x="6460510" y="3444553"/>
                  <a:ext cx="874983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CN" altLang="en-US" sz="2000" i="1">
                                <a:latin typeface="Cambria Math" panose="02040503050406030204"/>
                              </a:rPr>
                            </m:ctrlPr>
                          </m:sSubSup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0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sSubSup>
                          <m:sSubSupPr>
                            <m:ctrlPr>
                              <a:rPr lang="zh-CN" altLang="en-US" sz="2000" i="1">
                                <a:latin typeface="Cambria Math" panose="02040503050406030204"/>
                              </a:rPr>
                            </m:ctrlPr>
                          </m:sSubSupPr>
                          <m:e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CN" altLang="en-US" sz="20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0510" y="3444553"/>
                  <a:ext cx="874983" cy="40011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弧形 29"/>
          <p:cNvSpPr/>
          <p:nvPr/>
        </p:nvSpPr>
        <p:spPr>
          <a:xfrm>
            <a:off x="1058778" y="4668078"/>
            <a:ext cx="1724526" cy="469232"/>
          </a:xfrm>
          <a:prstGeom prst="arc">
            <a:avLst>
              <a:gd name="adj1" fmla="val 10896110"/>
              <a:gd name="adj2" fmla="val 76008"/>
            </a:avLst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弧形 30"/>
          <p:cNvSpPr/>
          <p:nvPr/>
        </p:nvSpPr>
        <p:spPr>
          <a:xfrm>
            <a:off x="1050758" y="5145337"/>
            <a:ext cx="1724526" cy="469232"/>
          </a:xfrm>
          <a:prstGeom prst="arc">
            <a:avLst>
              <a:gd name="adj1" fmla="val 10896110"/>
              <a:gd name="adj2" fmla="val 21528629"/>
            </a:avLst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弧形 31"/>
          <p:cNvSpPr/>
          <p:nvPr/>
        </p:nvSpPr>
        <p:spPr>
          <a:xfrm>
            <a:off x="1050758" y="5576960"/>
            <a:ext cx="1724526" cy="469232"/>
          </a:xfrm>
          <a:prstGeom prst="arc">
            <a:avLst>
              <a:gd name="adj1" fmla="val 10896110"/>
              <a:gd name="adj2" fmla="val 21593270"/>
            </a:avLst>
          </a:prstGeom>
          <a:ln w="25400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1056569" y="4081204"/>
            <a:ext cx="3519444" cy="743459"/>
          </a:xfrm>
          <a:prstGeom prst="arc">
            <a:avLst>
              <a:gd name="adj1" fmla="val 10800001"/>
              <a:gd name="adj2" fmla="val 2471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弧形 32"/>
          <p:cNvSpPr/>
          <p:nvPr/>
        </p:nvSpPr>
        <p:spPr>
          <a:xfrm>
            <a:off x="1092662" y="4510160"/>
            <a:ext cx="3455277" cy="743645"/>
          </a:xfrm>
          <a:prstGeom prst="arc">
            <a:avLst>
              <a:gd name="adj1" fmla="val 10800001"/>
              <a:gd name="adj2" fmla="val 109486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弧形 33"/>
          <p:cNvSpPr/>
          <p:nvPr/>
        </p:nvSpPr>
        <p:spPr>
          <a:xfrm>
            <a:off x="1080627" y="4935278"/>
            <a:ext cx="3495386" cy="743645"/>
          </a:xfrm>
          <a:prstGeom prst="arc">
            <a:avLst>
              <a:gd name="adj1" fmla="val 10800001"/>
              <a:gd name="adj2" fmla="val 109486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弧形 34"/>
          <p:cNvSpPr/>
          <p:nvPr/>
        </p:nvSpPr>
        <p:spPr>
          <a:xfrm>
            <a:off x="1088652" y="5388480"/>
            <a:ext cx="3487361" cy="743645"/>
          </a:xfrm>
          <a:prstGeom prst="arc">
            <a:avLst>
              <a:gd name="adj1" fmla="val 10800001"/>
              <a:gd name="adj2" fmla="val 109486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322540" y="3748070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0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339816" y="4280387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39816" y="4837700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346278" y="5343407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980609" y="3743744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1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952777" y="4854433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0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980609" y="4305724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1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991063" y="5368403"/>
            <a:ext cx="317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1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546911" y="5939067"/>
            <a:ext cx="537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T1</a:t>
            </a:r>
            <a:endParaRPr lang="zh-CN" altLang="en-US" sz="2800" dirty="0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0" grpId="0" animBg="1"/>
      <p:bldP spid="31" grpId="0" animBg="1"/>
      <p:bldP spid="32" grpId="0" animBg="1"/>
      <p:bldP spid="12" grpId="0" animBg="1"/>
      <p:bldP spid="33" grpId="0" animBg="1"/>
      <p:bldP spid="34" grpId="0" animBg="1"/>
      <p:bldP spid="35" grpId="0" animBg="1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7928" y="796473"/>
            <a:ext cx="7422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2800" b="1" dirty="0">
                <a:solidFill>
                  <a:srgbClr val="FF33CC"/>
                </a:solidFill>
              </a:rPr>
              <a:t>（</a:t>
            </a:r>
            <a:r>
              <a:rPr lang="en-US" altLang="zh-CN" sz="2800" b="1" dirty="0">
                <a:solidFill>
                  <a:srgbClr val="FF33CC"/>
                </a:solidFill>
              </a:rPr>
              <a:t>3</a:t>
            </a:r>
            <a:r>
              <a:rPr lang="zh-CN" altLang="en-US" sz="2800" b="1" dirty="0">
                <a:solidFill>
                  <a:srgbClr val="FF33CC"/>
                </a:solidFill>
              </a:rPr>
              <a:t>）求驱动方程</a:t>
            </a:r>
            <a:endParaRPr lang="zh-CN" altLang="en-US" sz="2800" b="1" dirty="0">
              <a:solidFill>
                <a:srgbClr val="FF33CC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1631" y="1361923"/>
            <a:ext cx="3451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800" b="1" dirty="0">
                <a:solidFill>
                  <a:srgbClr val="0000FF"/>
                </a:solidFill>
              </a:rPr>
              <a:t>   若选用</a:t>
            </a:r>
            <a:r>
              <a:rPr lang="en-US" altLang="zh-CN" sz="2800" b="1" dirty="0">
                <a:solidFill>
                  <a:srgbClr val="0000FF"/>
                </a:solidFill>
              </a:rPr>
              <a:t>T</a:t>
            </a:r>
            <a:r>
              <a:rPr lang="zh-CN" altLang="en-US" sz="2800" b="1" dirty="0">
                <a:solidFill>
                  <a:srgbClr val="0000FF"/>
                </a:solidFill>
              </a:rPr>
              <a:t>触发器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185" y="2094957"/>
            <a:ext cx="8777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对</a:t>
            </a:r>
            <a:r>
              <a:rPr lang="en-US" altLang="zh-CN" sz="2800" b="1" dirty="0"/>
              <a:t>T1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T2</a:t>
            </a:r>
            <a:r>
              <a:rPr lang="zh-CN" altLang="en-US" sz="2800" b="1" dirty="0"/>
              <a:t>的卡诺图进行化简，得到</a:t>
            </a:r>
            <a:r>
              <a:rPr lang="en-US" altLang="zh-CN" sz="2800" b="1" dirty="0"/>
              <a:t>T1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T2</a:t>
            </a:r>
            <a:r>
              <a:rPr lang="zh-CN" altLang="en-US" sz="2800" b="1" dirty="0"/>
              <a:t>的逻辑表达式</a:t>
            </a:r>
            <a:endParaRPr lang="zh-CN" altLang="en-US" sz="2800" b="1" dirty="0"/>
          </a:p>
        </p:txBody>
      </p:sp>
      <p:grpSp>
        <p:nvGrpSpPr>
          <p:cNvPr id="13" name="组合 12"/>
          <p:cNvGrpSpPr/>
          <p:nvPr/>
        </p:nvGrpSpPr>
        <p:grpSpPr>
          <a:xfrm>
            <a:off x="8492" y="3035019"/>
            <a:ext cx="2432254" cy="3443207"/>
            <a:chOff x="1387194" y="2722301"/>
            <a:chExt cx="2432254" cy="3443207"/>
          </a:xfrm>
        </p:grpSpPr>
        <p:grpSp>
          <p:nvGrpSpPr>
            <p:cNvPr id="11" name="组合 10"/>
            <p:cNvGrpSpPr/>
            <p:nvPr/>
          </p:nvGrpSpPr>
          <p:grpSpPr>
            <a:xfrm>
              <a:off x="1387194" y="2722301"/>
              <a:ext cx="2432254" cy="2933700"/>
              <a:chOff x="6460510" y="3142570"/>
              <a:chExt cx="2432254" cy="2933700"/>
            </a:xfrm>
          </p:grpSpPr>
          <p:grpSp>
            <p:nvGrpSpPr>
              <p:cNvPr id="14" name="组合 13"/>
              <p:cNvGrpSpPr/>
              <p:nvPr/>
            </p:nvGrpSpPr>
            <p:grpSpPr bwMode="auto">
              <a:xfrm>
                <a:off x="6957600" y="3142570"/>
                <a:ext cx="1935164" cy="2933700"/>
                <a:chOff x="173" y="0"/>
                <a:chExt cx="1219" cy="1848"/>
              </a:xfrm>
            </p:grpSpPr>
            <p:sp>
              <p:nvSpPr>
                <p:cNvPr id="16" name="矩形 134159"/>
                <p:cNvSpPr>
                  <a:spLocks noChangeArrowheads="1"/>
                </p:cNvSpPr>
                <p:nvPr/>
              </p:nvSpPr>
              <p:spPr bwMode="auto">
                <a:xfrm>
                  <a:off x="528" y="432"/>
                  <a:ext cx="864" cy="13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7" name="直接连接符 134160"/>
                <p:cNvSpPr>
                  <a:spLocks noChangeShapeType="1"/>
                </p:cNvSpPr>
                <p:nvPr/>
              </p:nvSpPr>
              <p:spPr bwMode="auto">
                <a:xfrm flipH="1" flipV="1">
                  <a:off x="173" y="59"/>
                  <a:ext cx="363" cy="372"/>
                </a:xfrm>
                <a:prstGeom prst="line">
                  <a:avLst/>
                </a:prstGeom>
                <a:noFill/>
                <a:ln w="28575">
                  <a:solidFill>
                    <a:srgbClr val="0000CC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直接连接符 134161"/>
                <p:cNvSpPr>
                  <a:spLocks noChangeShapeType="1"/>
                </p:cNvSpPr>
                <p:nvPr/>
              </p:nvSpPr>
              <p:spPr bwMode="auto">
                <a:xfrm>
                  <a:off x="528" y="816"/>
                  <a:ext cx="86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直接连接符 134162"/>
                <p:cNvSpPr>
                  <a:spLocks noChangeShapeType="1"/>
                </p:cNvSpPr>
                <p:nvPr/>
              </p:nvSpPr>
              <p:spPr bwMode="auto">
                <a:xfrm>
                  <a:off x="958" y="436"/>
                  <a:ext cx="2" cy="135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4" name="文本框 134164"/>
                <p:cNvSpPr txBox="1">
                  <a:spLocks noChangeArrowheads="1"/>
                </p:cNvSpPr>
                <p:nvPr/>
              </p:nvSpPr>
              <p:spPr bwMode="auto">
                <a:xfrm>
                  <a:off x="672" y="108"/>
                  <a:ext cx="62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l"/>
                  <a:r>
                    <a:rPr lang="en-US" altLang="zh-CN" dirty="0">
                      <a:ea typeface="宋体" panose="02010600030101010101" pitchFamily="2" charset="-122"/>
                    </a:rPr>
                    <a:t>0     1</a:t>
                  </a:r>
                  <a:endParaRPr lang="en-US" altLang="zh-CN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" name="文本框 134165"/>
                <p:cNvSpPr txBox="1">
                  <a:spLocks noChangeArrowheads="1"/>
                </p:cNvSpPr>
                <p:nvPr/>
              </p:nvSpPr>
              <p:spPr bwMode="auto">
                <a:xfrm>
                  <a:off x="192" y="444"/>
                  <a:ext cx="496" cy="1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l">
                    <a:lnSpc>
                      <a:spcPct val="110000"/>
                    </a:lnSpc>
                  </a:pPr>
                  <a:r>
                    <a:rPr lang="en-US" altLang="zh-CN">
                      <a:ea typeface="宋体" panose="02010600030101010101" pitchFamily="2" charset="-122"/>
                    </a:rPr>
                    <a:t>00</a:t>
                  </a:r>
                  <a:endParaRPr lang="en-US" altLang="zh-CN">
                    <a:ea typeface="宋体" panose="02010600030101010101" pitchFamily="2" charset="-122"/>
                  </a:endParaRPr>
                </a:p>
                <a:p>
                  <a:pPr algn="l">
                    <a:lnSpc>
                      <a:spcPct val="130000"/>
                    </a:lnSpc>
                  </a:pPr>
                  <a:r>
                    <a:rPr lang="en-US" altLang="zh-CN">
                      <a:ea typeface="宋体" panose="02010600030101010101" pitchFamily="2" charset="-122"/>
                    </a:rPr>
                    <a:t>01</a:t>
                  </a:r>
                  <a:endParaRPr lang="en-US" altLang="zh-CN">
                    <a:ea typeface="宋体" panose="02010600030101010101" pitchFamily="2" charset="-122"/>
                  </a:endParaRPr>
                </a:p>
                <a:p>
                  <a:pPr algn="l">
                    <a:lnSpc>
                      <a:spcPct val="130000"/>
                    </a:lnSpc>
                  </a:pPr>
                  <a:r>
                    <a:rPr lang="en-US" altLang="zh-CN">
                      <a:ea typeface="宋体" panose="02010600030101010101" pitchFamily="2" charset="-122"/>
                    </a:rPr>
                    <a:t>11</a:t>
                  </a:r>
                  <a:endParaRPr lang="en-US" altLang="zh-CN">
                    <a:ea typeface="宋体" panose="02010600030101010101" pitchFamily="2" charset="-122"/>
                  </a:endParaRPr>
                </a:p>
                <a:p>
                  <a:pPr algn="l">
                    <a:lnSpc>
                      <a:spcPct val="130000"/>
                    </a:lnSpc>
                  </a:pPr>
                  <a:r>
                    <a:rPr lang="en-US" altLang="zh-CN">
                      <a:ea typeface="宋体" panose="02010600030101010101" pitchFamily="2" charset="-122"/>
                    </a:rPr>
                    <a:t>10</a:t>
                  </a:r>
                  <a:endParaRPr lang="en-US" altLang="zh-CN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文本框 134166"/>
                <p:cNvSpPr txBox="1">
                  <a:spLocks noChangeArrowheads="1"/>
                </p:cNvSpPr>
                <p:nvPr/>
              </p:nvSpPr>
              <p:spPr bwMode="auto">
                <a:xfrm>
                  <a:off x="300" y="0"/>
                  <a:ext cx="255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l"/>
                  <a:r>
                    <a:rPr lang="en-US" altLang="zh-CN" i="1" dirty="0">
                      <a:ea typeface="宋体" panose="02010600030101010101" pitchFamily="2" charset="-122"/>
                    </a:rPr>
                    <a:t>X</a:t>
                  </a:r>
                  <a:endParaRPr lang="en-US" altLang="zh-CN" i="1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8" name="直接连接符 134168"/>
                <p:cNvSpPr>
                  <a:spLocks noChangeShapeType="1"/>
                </p:cNvSpPr>
                <p:nvPr/>
              </p:nvSpPr>
              <p:spPr bwMode="auto">
                <a:xfrm>
                  <a:off x="528" y="1152"/>
                  <a:ext cx="86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直接连接符 134169"/>
                <p:cNvSpPr>
                  <a:spLocks noChangeShapeType="1"/>
                </p:cNvSpPr>
                <p:nvPr/>
              </p:nvSpPr>
              <p:spPr bwMode="auto">
                <a:xfrm>
                  <a:off x="528" y="1488"/>
                  <a:ext cx="86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矩形 7"/>
                  <p:cNvSpPr/>
                  <p:nvPr/>
                </p:nvSpPr>
                <p:spPr>
                  <a:xfrm>
                    <a:off x="6460510" y="3444553"/>
                    <a:ext cx="874983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2000" dirty="0"/>
                  </a:p>
                </p:txBody>
              </p:sp>
            </mc:Choice>
            <mc:Fallback>
              <p:sp>
                <p:nvSpPr>
                  <p:cNvPr id="8" name="矩形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0510" y="3444553"/>
                    <a:ext cx="874983" cy="400110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8" name="文本框 37"/>
            <p:cNvSpPr txBox="1"/>
            <p:nvPr/>
          </p:nvSpPr>
          <p:spPr>
            <a:xfrm>
              <a:off x="2630224" y="3451291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</a:rPr>
                <a:t>0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647500" y="3983608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</a:rPr>
                <a:t>1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647500" y="4540921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</a:rPr>
                <a:t>1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2653962" y="5046628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</a:rPr>
                <a:t>1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288293" y="3446965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</a:rPr>
                <a:t>1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260461" y="4557654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</a:rPr>
                <a:t>0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3288293" y="4008945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</a:rPr>
                <a:t>1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298747" y="5071624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</a:rPr>
                <a:t>1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854595" y="5642288"/>
              <a:ext cx="5377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T1</a:t>
              </a:r>
              <a:endParaRPr lang="zh-CN" altLang="en-US" sz="280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585253" y="3048429"/>
            <a:ext cx="2432254" cy="3443207"/>
            <a:chOff x="6079510" y="3019080"/>
            <a:chExt cx="2432254" cy="3443207"/>
          </a:xfrm>
        </p:grpSpPr>
        <p:grpSp>
          <p:nvGrpSpPr>
            <p:cNvPr id="48" name="组合 47"/>
            <p:cNvGrpSpPr/>
            <p:nvPr/>
          </p:nvGrpSpPr>
          <p:grpSpPr>
            <a:xfrm>
              <a:off x="6079510" y="3019080"/>
              <a:ext cx="2432254" cy="2933700"/>
              <a:chOff x="6460510" y="3142570"/>
              <a:chExt cx="2432254" cy="2933700"/>
            </a:xfrm>
          </p:grpSpPr>
          <p:grpSp>
            <p:nvGrpSpPr>
              <p:cNvPr id="49" name="组合 48"/>
              <p:cNvGrpSpPr/>
              <p:nvPr/>
            </p:nvGrpSpPr>
            <p:grpSpPr bwMode="auto">
              <a:xfrm>
                <a:off x="6957600" y="3142570"/>
                <a:ext cx="1935164" cy="2933700"/>
                <a:chOff x="173" y="0"/>
                <a:chExt cx="1219" cy="1848"/>
              </a:xfrm>
            </p:grpSpPr>
            <p:sp>
              <p:nvSpPr>
                <p:cNvPr id="51" name="矩形 134159"/>
                <p:cNvSpPr>
                  <a:spLocks noChangeArrowheads="1"/>
                </p:cNvSpPr>
                <p:nvPr/>
              </p:nvSpPr>
              <p:spPr bwMode="auto">
                <a:xfrm>
                  <a:off x="528" y="432"/>
                  <a:ext cx="864" cy="13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2" name="直接连接符 134160"/>
                <p:cNvSpPr>
                  <a:spLocks noChangeShapeType="1"/>
                </p:cNvSpPr>
                <p:nvPr/>
              </p:nvSpPr>
              <p:spPr bwMode="auto">
                <a:xfrm flipH="1" flipV="1">
                  <a:off x="173" y="59"/>
                  <a:ext cx="363" cy="372"/>
                </a:xfrm>
                <a:prstGeom prst="line">
                  <a:avLst/>
                </a:prstGeom>
                <a:noFill/>
                <a:ln w="28575">
                  <a:solidFill>
                    <a:srgbClr val="0000CC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直接连接符 134161"/>
                <p:cNvSpPr>
                  <a:spLocks noChangeShapeType="1"/>
                </p:cNvSpPr>
                <p:nvPr/>
              </p:nvSpPr>
              <p:spPr bwMode="auto">
                <a:xfrm>
                  <a:off x="528" y="816"/>
                  <a:ext cx="86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直接连接符 134162"/>
                <p:cNvSpPr>
                  <a:spLocks noChangeShapeType="1"/>
                </p:cNvSpPr>
                <p:nvPr/>
              </p:nvSpPr>
              <p:spPr bwMode="auto">
                <a:xfrm>
                  <a:off x="958" y="436"/>
                  <a:ext cx="2" cy="135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文本框 134164"/>
                <p:cNvSpPr txBox="1">
                  <a:spLocks noChangeArrowheads="1"/>
                </p:cNvSpPr>
                <p:nvPr/>
              </p:nvSpPr>
              <p:spPr bwMode="auto">
                <a:xfrm>
                  <a:off x="672" y="108"/>
                  <a:ext cx="62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l"/>
                  <a:r>
                    <a:rPr lang="en-US" altLang="zh-CN">
                      <a:ea typeface="宋体" panose="02010600030101010101" pitchFamily="2" charset="-122"/>
                    </a:rPr>
                    <a:t>0     1</a:t>
                  </a:r>
                  <a:endParaRPr lang="en-US" altLang="zh-CN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" name="文本框 134165"/>
                <p:cNvSpPr txBox="1">
                  <a:spLocks noChangeArrowheads="1"/>
                </p:cNvSpPr>
                <p:nvPr/>
              </p:nvSpPr>
              <p:spPr bwMode="auto">
                <a:xfrm>
                  <a:off x="192" y="444"/>
                  <a:ext cx="496" cy="1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algn="ctr"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tabLst>
                      <a:tab pos="758825" algn="l"/>
                    </a:tabLs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l">
                    <a:lnSpc>
                      <a:spcPct val="110000"/>
                    </a:lnSpc>
                  </a:pPr>
                  <a:r>
                    <a:rPr lang="en-US" altLang="zh-CN">
                      <a:ea typeface="宋体" panose="02010600030101010101" pitchFamily="2" charset="-122"/>
                    </a:rPr>
                    <a:t>00</a:t>
                  </a:r>
                  <a:endParaRPr lang="en-US" altLang="zh-CN">
                    <a:ea typeface="宋体" panose="02010600030101010101" pitchFamily="2" charset="-122"/>
                  </a:endParaRPr>
                </a:p>
                <a:p>
                  <a:pPr algn="l">
                    <a:lnSpc>
                      <a:spcPct val="130000"/>
                    </a:lnSpc>
                  </a:pPr>
                  <a:r>
                    <a:rPr lang="en-US" altLang="zh-CN">
                      <a:ea typeface="宋体" panose="02010600030101010101" pitchFamily="2" charset="-122"/>
                    </a:rPr>
                    <a:t>01</a:t>
                  </a:r>
                  <a:endParaRPr lang="en-US" altLang="zh-CN">
                    <a:ea typeface="宋体" panose="02010600030101010101" pitchFamily="2" charset="-122"/>
                  </a:endParaRPr>
                </a:p>
                <a:p>
                  <a:pPr algn="l">
                    <a:lnSpc>
                      <a:spcPct val="130000"/>
                    </a:lnSpc>
                  </a:pPr>
                  <a:r>
                    <a:rPr lang="en-US" altLang="zh-CN">
                      <a:ea typeface="宋体" panose="02010600030101010101" pitchFamily="2" charset="-122"/>
                    </a:rPr>
                    <a:t>11</a:t>
                  </a:r>
                  <a:endParaRPr lang="en-US" altLang="zh-CN">
                    <a:ea typeface="宋体" panose="02010600030101010101" pitchFamily="2" charset="-122"/>
                  </a:endParaRPr>
                </a:p>
                <a:p>
                  <a:pPr algn="l">
                    <a:lnSpc>
                      <a:spcPct val="130000"/>
                    </a:lnSpc>
                  </a:pPr>
                  <a:r>
                    <a:rPr lang="en-US" altLang="zh-CN">
                      <a:ea typeface="宋体" panose="02010600030101010101" pitchFamily="2" charset="-122"/>
                    </a:rPr>
                    <a:t>10</a:t>
                  </a:r>
                  <a:endParaRPr lang="en-US" altLang="zh-CN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文本框 134166"/>
                <p:cNvSpPr txBox="1">
                  <a:spLocks noChangeArrowheads="1"/>
                </p:cNvSpPr>
                <p:nvPr/>
              </p:nvSpPr>
              <p:spPr bwMode="auto">
                <a:xfrm>
                  <a:off x="300" y="0"/>
                  <a:ext cx="255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algn="ctr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algn="ctr" fontAlgn="base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l"/>
                  <a:r>
                    <a:rPr lang="en-US" altLang="zh-CN" i="1" dirty="0">
                      <a:ea typeface="宋体" panose="02010600030101010101" pitchFamily="2" charset="-122"/>
                    </a:rPr>
                    <a:t>X</a:t>
                  </a:r>
                  <a:endParaRPr lang="en-US" altLang="zh-CN" i="1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直接连接符 134168"/>
                <p:cNvSpPr>
                  <a:spLocks noChangeShapeType="1"/>
                </p:cNvSpPr>
                <p:nvPr/>
              </p:nvSpPr>
              <p:spPr bwMode="auto">
                <a:xfrm>
                  <a:off x="528" y="1152"/>
                  <a:ext cx="86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直接连接符 134169"/>
                <p:cNvSpPr>
                  <a:spLocks noChangeShapeType="1"/>
                </p:cNvSpPr>
                <p:nvPr/>
              </p:nvSpPr>
              <p:spPr bwMode="auto">
                <a:xfrm>
                  <a:off x="528" y="1488"/>
                  <a:ext cx="864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" name="矩形 49"/>
                  <p:cNvSpPr/>
                  <p:nvPr/>
                </p:nvSpPr>
                <p:spPr>
                  <a:xfrm>
                    <a:off x="6460510" y="3444553"/>
                    <a:ext cx="874983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zh-CN" altLang="en-US" sz="2000" i="1">
                                  <a:latin typeface="Cambria Math" panose="02040503050406030204"/>
                                </a:rPr>
                              </m:ctrlPr>
                            </m:sSubSupPr>
                            <m:e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zh-CN" altLang="en-US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sz="2000" dirty="0"/>
                  </a:p>
                </p:txBody>
              </p:sp>
            </mc:Choice>
            <mc:Fallback>
              <p:sp>
                <p:nvSpPr>
                  <p:cNvPr id="50" name="矩形 4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60510" y="3444553"/>
                    <a:ext cx="874983" cy="400110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0" name="文本框 59"/>
            <p:cNvSpPr txBox="1"/>
            <p:nvPr/>
          </p:nvSpPr>
          <p:spPr>
            <a:xfrm>
              <a:off x="7322540" y="3748070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</a:rPr>
                <a:t>1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339816" y="4280387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</a:rPr>
                <a:t>1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339816" y="4837700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</a:rPr>
                <a:t>1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7346278" y="5343407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</a:rPr>
                <a:t>1</a:t>
              </a:r>
              <a:endParaRPr lang="zh-CN" alt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7980609" y="3743744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</a:rPr>
                <a:t>1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7952777" y="4854433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</a:rPr>
                <a:t>1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7980609" y="4305724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</a:rPr>
                <a:t>0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991063" y="5368403"/>
              <a:ext cx="3178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</a:rPr>
                <a:t>0</a:t>
              </a:r>
              <a:endParaRPr lang="zh-CN" altLang="en-US" sz="2800" dirty="0">
                <a:solidFill>
                  <a:srgbClr val="0000FF"/>
                </a:solidFill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7546911" y="5939067"/>
              <a:ext cx="5377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/>
                <a:t>T2</a:t>
              </a:r>
              <a:endParaRPr lang="zh-CN" altLang="en-US" sz="2800" dirty="0"/>
            </a:p>
          </p:txBody>
        </p:sp>
      </p:grpSp>
      <p:sp>
        <p:nvSpPr>
          <p:cNvPr id="19" name="矩形 18"/>
          <p:cNvSpPr/>
          <p:nvPr/>
        </p:nvSpPr>
        <p:spPr>
          <a:xfrm>
            <a:off x="3828283" y="3810167"/>
            <a:ext cx="370259" cy="2023487"/>
          </a:xfrm>
          <a:prstGeom prst="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3688769" y="3842251"/>
            <a:ext cx="1223145" cy="397572"/>
          </a:xfrm>
          <a:prstGeom prst="roundRect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/>
          <p:cNvSpPr/>
          <p:nvPr/>
        </p:nvSpPr>
        <p:spPr>
          <a:xfrm>
            <a:off x="3730045" y="4932954"/>
            <a:ext cx="1223145" cy="397572"/>
          </a:xfrm>
          <a:prstGeom prst="roundRect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/>
          <p:cNvSpPr/>
          <p:nvPr/>
        </p:nvSpPr>
        <p:spPr>
          <a:xfrm>
            <a:off x="1850399" y="3827724"/>
            <a:ext cx="431597" cy="96914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/>
          <p:cNvSpPr/>
          <p:nvPr/>
        </p:nvSpPr>
        <p:spPr>
          <a:xfrm>
            <a:off x="1228107" y="4366100"/>
            <a:ext cx="431597" cy="947385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70"/>
          <p:cNvSpPr/>
          <p:nvPr/>
        </p:nvSpPr>
        <p:spPr>
          <a:xfrm>
            <a:off x="1162455" y="5429146"/>
            <a:ext cx="1223145" cy="397572"/>
          </a:xfrm>
          <a:prstGeom prst="roundRect">
            <a:avLst/>
          </a:prstGeom>
          <a:noFill/>
          <a:ln w="38100">
            <a:solidFill>
              <a:srgbClr val="FF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2" name="Object 6"/>
          <p:cNvGraphicFramePr>
            <a:graphicFrameLocks noChangeAspect="1"/>
          </p:cNvGraphicFramePr>
          <p:nvPr/>
        </p:nvGraphicFramePr>
        <p:xfrm>
          <a:off x="5182607" y="4239823"/>
          <a:ext cx="3792950" cy="1300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1625600" imgH="558800" progId="Equation.DSMT4">
                  <p:embed/>
                </p:oleObj>
              </mc:Choice>
              <mc:Fallback>
                <p:oleObj name="Equation" r:id="rId3" imgW="1625600" imgH="558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2607" y="4239823"/>
                        <a:ext cx="3792950" cy="1300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Rectangle 4"/>
          <p:cNvSpPr>
            <a:spLocks noChangeArrowheads="1"/>
          </p:cNvSpPr>
          <p:nvPr/>
        </p:nvSpPr>
        <p:spPr bwMode="auto">
          <a:xfrm>
            <a:off x="1472966" y="18737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5.4.3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确定驱动方程组和输出方程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69" grpId="0" animBg="1"/>
      <p:bldP spid="23" grpId="0" animBg="1"/>
      <p:bldP spid="70" grpId="0" animBg="1"/>
      <p:bldP spid="7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05052" y="37473"/>
            <a:ext cx="6612255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>
              <a:defRPr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5.4.4 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检查自启动功能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4" name="Rectangle 2"/>
          <p:cNvSpPr txBox="1">
            <a:spLocks noChangeArrowheads="1"/>
          </p:cNvSpPr>
          <p:nvPr/>
        </p:nvSpPr>
        <p:spPr bwMode="auto">
          <a:xfrm>
            <a:off x="457200" y="1096378"/>
            <a:ext cx="8229600" cy="5111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当所设计的电路中，触发器能表示的状态数大于有效状态数时，需要对所设计的电路进行实际工作状态讨论。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914400" ea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        </a:t>
            </a: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讨论两个问题</a:t>
            </a:r>
            <a:r>
              <a:rPr lang="zh-CN" altLang="en-US" sz="2800" b="1" dirty="0">
                <a:ea typeface="楷体_GB2312" pitchFamily="49" charset="-122"/>
              </a:rPr>
              <a:t>：</a:t>
            </a:r>
            <a:endParaRPr lang="zh-CN" altLang="en-US" sz="2800" b="1" dirty="0">
              <a:ea typeface="楷体_GB2312" pitchFamily="49" charset="-122"/>
            </a:endParaRPr>
          </a:p>
          <a:p>
            <a:pPr defTabSz="914400" ea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   </a:t>
            </a:r>
            <a:r>
              <a:rPr lang="en-US" altLang="zh-CN" sz="2800" b="1" dirty="0">
                <a:solidFill>
                  <a:srgbClr val="170A8E"/>
                </a:solidFill>
                <a:ea typeface="楷体_GB2312" pitchFamily="49" charset="-122"/>
              </a:rPr>
              <a:t>(1) </a:t>
            </a:r>
            <a:r>
              <a:rPr lang="zh-CN" altLang="en-US" sz="2800" b="1" dirty="0">
                <a:solidFill>
                  <a:srgbClr val="170A8E"/>
                </a:solidFill>
                <a:ea typeface="楷体_GB2312" pitchFamily="49" charset="-122"/>
              </a:rPr>
              <a:t>电路万一进入无用状态，能否在时钟脉冲作用下进入有效状态，即是否具有自恢复功能和自启动功能。</a:t>
            </a:r>
            <a:endParaRPr lang="zh-CN" altLang="en-US" sz="2800" b="1" dirty="0">
              <a:solidFill>
                <a:srgbClr val="170A8E"/>
              </a:solidFill>
              <a:ea typeface="楷体_GB2312" pitchFamily="49" charset="-122"/>
            </a:endParaRPr>
          </a:p>
          <a:p>
            <a:pPr defTabSz="914400" ea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zh-CN" altLang="en-US" sz="2800" b="1" dirty="0">
                <a:solidFill>
                  <a:srgbClr val="170A8E"/>
                </a:solidFill>
                <a:ea typeface="楷体_GB2312" pitchFamily="49" charset="-122"/>
              </a:rPr>
              <a:t>   </a:t>
            </a:r>
            <a:r>
              <a:rPr lang="en-US" altLang="zh-CN" sz="2800" b="1" dirty="0">
                <a:solidFill>
                  <a:srgbClr val="170A8E"/>
                </a:solidFill>
                <a:ea typeface="楷体_GB2312" pitchFamily="49" charset="-122"/>
              </a:rPr>
              <a:t>(2) </a:t>
            </a:r>
            <a:r>
              <a:rPr lang="zh-CN" altLang="en-US" sz="2800" b="1" dirty="0">
                <a:solidFill>
                  <a:srgbClr val="170A8E"/>
                </a:solidFill>
                <a:ea typeface="楷体_GB2312" pitchFamily="49" charset="-122"/>
              </a:rPr>
              <a:t>电路万一处在无用状态，是否会产生错误信号</a:t>
            </a:r>
            <a:r>
              <a:rPr lang="zh-CN" altLang="en-US" sz="2800" b="1" dirty="0">
                <a:ea typeface="楷体_GB2312" pitchFamily="49" charset="-122"/>
              </a:rPr>
              <a:t>。</a:t>
            </a:r>
            <a:endParaRPr lang="zh-CN" altLang="en-US" sz="2800" b="1" dirty="0">
              <a:ea typeface="楷体_GB2312" pitchFamily="49" charset="-122"/>
            </a:endParaRPr>
          </a:p>
          <a:p>
            <a:pPr defTabSz="914400" ea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       </a:t>
            </a:r>
            <a:endParaRPr lang="en-US" altLang="zh-CN" sz="2800" b="1" dirty="0">
              <a:ea typeface="楷体_GB2312" pitchFamily="49" charset="-122"/>
            </a:endParaRPr>
          </a:p>
          <a:p>
            <a:pPr marL="0" indent="0" defTabSz="914400" ea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 一但出现以上两个问题都必须修改电路设计，否则将影响电路工作的可靠性和正确性。</a:t>
            </a:r>
            <a:endParaRPr lang="zh-CN" altLang="en-US" sz="2800" b="1" dirty="0"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74" name="Rectangle 2"/>
          <p:cNvSpPr txBox="1">
            <a:spLocks noChangeArrowheads="1"/>
          </p:cNvSpPr>
          <p:nvPr/>
        </p:nvSpPr>
        <p:spPr bwMode="auto">
          <a:xfrm>
            <a:off x="82496" y="624117"/>
            <a:ext cx="4569230" cy="1361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spcBef>
                <a:spcPts val="0"/>
              </a:spcBef>
              <a:spcAft>
                <a:spcPts val="1200"/>
              </a:spcAft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例</a:t>
            </a:r>
            <a:r>
              <a:rPr lang="zh-CN" altLang="en-US" sz="2800" b="1" dirty="0">
                <a:ea typeface="楷体_GB2312" pitchFamily="49" charset="-122"/>
              </a:rPr>
              <a:t>  </a:t>
            </a:r>
            <a:r>
              <a:rPr lang="zh-CN" altLang="en-US" sz="2800" b="1" dirty="0"/>
              <a:t>用</a:t>
            </a:r>
            <a:r>
              <a:rPr lang="en-US" altLang="zh-CN" sz="2800" b="1" i="1" dirty="0"/>
              <a:t>J</a:t>
            </a:r>
            <a:r>
              <a:rPr lang="en-US" altLang="zh-CN" sz="2800" b="1" dirty="0"/>
              <a:t>-</a:t>
            </a:r>
            <a:r>
              <a:rPr lang="en-US" altLang="zh-CN" sz="2800" b="1" i="1" dirty="0"/>
              <a:t>K</a:t>
            </a:r>
            <a:r>
              <a:rPr lang="zh-CN" altLang="en-US" sz="2800" b="1" dirty="0"/>
              <a:t>触发器设计一个五进制</a:t>
            </a:r>
            <a:r>
              <a:rPr lang="zh-CN" altLang="en-US" sz="2800" b="1" dirty="0">
                <a:solidFill>
                  <a:srgbClr val="FF0000"/>
                </a:solidFill>
              </a:rPr>
              <a:t>同步</a:t>
            </a:r>
            <a:r>
              <a:rPr lang="zh-CN" altLang="en-US" sz="2800" b="1" dirty="0"/>
              <a:t>计数器， 要求状态转移关系如右图所示。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时序逻辑电路的设计方法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306" y="650778"/>
            <a:ext cx="4373030" cy="12068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496" y="1961603"/>
            <a:ext cx="798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9725" y="1972483"/>
            <a:ext cx="84810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逻辑抽象，建立原始状态图和状态表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本例属于给定状态的时序电路设计问题，不存在逻辑抽象的问题，可以直接建立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状态转移真值表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" name="Picture 5" descr="B5-4-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648" y="3172812"/>
            <a:ext cx="7058025" cy="3655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288771" y="4449843"/>
            <a:ext cx="2632364" cy="32696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288771" y="5239552"/>
            <a:ext cx="2632364" cy="32696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288771" y="6320207"/>
            <a:ext cx="2632364" cy="326968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标注 7"/>
          <p:cNvSpPr/>
          <p:nvPr/>
        </p:nvSpPr>
        <p:spPr>
          <a:xfrm>
            <a:off x="243840" y="4613327"/>
            <a:ext cx="1030614" cy="1102821"/>
          </a:xfrm>
          <a:prstGeom prst="wedgeRectCallout">
            <a:avLst>
              <a:gd name="adj1" fmla="val 143709"/>
              <a:gd name="adj2" fmla="val -45541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多余状态</a:t>
            </a:r>
            <a:endParaRPr lang="zh-CN" altLang="en-US" sz="28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12" grpId="0" animBg="1"/>
      <p:bldP spid="13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时序逻辑电路的设计方法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699177"/>
            <a:ext cx="798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4060" y="718700"/>
            <a:ext cx="7974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选择触发器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确定驱动方程和输出方程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根据状态转移真值表，画出各个次态的卡诺图。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" name="Picture 5" descr="B5-4-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34" y="1653073"/>
            <a:ext cx="5256546" cy="2722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63" y="4579879"/>
            <a:ext cx="2714625" cy="20288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580" y="4570354"/>
            <a:ext cx="2878333" cy="20288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406" y="4579879"/>
            <a:ext cx="2705100" cy="201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时序逻辑电路的设计方法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053" y="550689"/>
            <a:ext cx="798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2081" y="626797"/>
            <a:ext cx="797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选择触发器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确定驱动方程和输出方程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9" y="1068790"/>
            <a:ext cx="2714625" cy="20288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016" y="1059265"/>
            <a:ext cx="2878333" cy="20288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842" y="1068790"/>
            <a:ext cx="2705100" cy="20193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0899" y="3097615"/>
            <a:ext cx="86729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根据卡诺图，写出个触发器次态方程和电路输出方程：</a:t>
            </a:r>
            <a:endParaRPr lang="en-US" altLang="zh-CN" sz="2400" b="1" dirty="0"/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2491708" y="3507618"/>
          <a:ext cx="2742030" cy="1430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5" imgW="40843200" imgH="21336000" progId="Equation.DSMT4">
                  <p:embed/>
                </p:oleObj>
              </mc:Choice>
              <mc:Fallback>
                <p:oleObj name="Equation" r:id="rId5" imgW="40843200" imgH="21336000" progId="Equation.DSMT4">
                  <p:embed/>
                  <p:pic>
                    <p:nvPicPr>
                      <p:cNvPr id="0" name="图片 819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1708" y="3507618"/>
                        <a:ext cx="2742030" cy="1430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20899" y="4989081"/>
            <a:ext cx="86590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若选用</a:t>
            </a:r>
            <a:r>
              <a:rPr lang="en-US" altLang="zh-CN" sz="2400" b="1" i="1" dirty="0"/>
              <a:t>J</a:t>
            </a:r>
            <a:r>
              <a:rPr lang="en-US" altLang="zh-CN" sz="2400" b="1" dirty="0"/>
              <a:t>-</a:t>
            </a:r>
            <a:r>
              <a:rPr lang="en-US" altLang="zh-CN" sz="2400" b="1" i="1" dirty="0"/>
              <a:t>K</a:t>
            </a:r>
            <a:r>
              <a:rPr lang="zh-CN" altLang="en-US" sz="2400" b="1" dirty="0"/>
              <a:t>触发器， 则由次态卡诺图求出其状态方程和驱动方程：</a:t>
            </a:r>
            <a:endParaRPr lang="zh-CN" altLang="en-US" sz="2400" b="1" dirty="0"/>
          </a:p>
        </p:txBody>
      </p:sp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2491708" y="5450746"/>
          <a:ext cx="2244724" cy="1342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7" imgW="32613600" imgH="19507200" progId="Equation.DSMT4">
                  <p:embed/>
                </p:oleObj>
              </mc:Choice>
              <mc:Fallback>
                <p:oleObj name="Equation" r:id="rId7" imgW="32613600" imgH="19507200" progId="Equation.DSMT4">
                  <p:embed/>
                  <p:pic>
                    <p:nvPicPr>
                      <p:cNvPr id="0" name="图片 819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1708" y="5450746"/>
                        <a:ext cx="2244724" cy="1342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时序逻辑电路的设计方法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604963"/>
            <a:ext cx="798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9496" y="670156"/>
            <a:ext cx="2787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自启动检查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3296708" y="634093"/>
          <a:ext cx="3089275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2" imgW="40843200" imgH="21336000" progId="Equation.DSMT4">
                  <p:embed/>
                </p:oleObj>
              </mc:Choice>
              <mc:Fallback>
                <p:oleObj name="Equation" r:id="rId2" imgW="40843200" imgH="21336000" progId="Equation.DSMT4">
                  <p:embed/>
                  <p:pic>
                    <p:nvPicPr>
                      <p:cNvPr id="0" name="图片 921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6708" y="634093"/>
                        <a:ext cx="3089275" cy="161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66255" y="2236485"/>
            <a:ext cx="79247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根据以上次态方程， 检查多余状态的转移情况。</a:t>
            </a:r>
            <a:endParaRPr lang="zh-CN" altLang="en-US" sz="2400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16088" y="2761142"/>
            <a:ext cx="5764027" cy="4052528"/>
            <a:chOff x="16088" y="2761142"/>
            <a:chExt cx="5764027" cy="4052528"/>
          </a:xfrm>
        </p:grpSpPr>
        <p:pic>
          <p:nvPicPr>
            <p:cNvPr id="15" name="Picture 5" descr="B5-4-1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88" y="3165642"/>
              <a:ext cx="5764027" cy="3648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矩形 18"/>
            <p:cNvSpPr/>
            <p:nvPr/>
          </p:nvSpPr>
          <p:spPr>
            <a:xfrm>
              <a:off x="2023910" y="2761142"/>
              <a:ext cx="19163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00FF"/>
                  </a:solidFill>
                </a:rPr>
                <a:t>状态转移表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808362" y="3742202"/>
            <a:ext cx="3271453" cy="2668981"/>
            <a:chOff x="5823663" y="3366060"/>
            <a:chExt cx="3271453" cy="2668981"/>
          </a:xfrm>
        </p:grpSpPr>
        <p:pic>
          <p:nvPicPr>
            <p:cNvPr id="18" name="Picture 5" descr="5-4-2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3663" y="3974034"/>
              <a:ext cx="3271453" cy="20610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矩形 19"/>
            <p:cNvSpPr/>
            <p:nvPr/>
          </p:nvSpPr>
          <p:spPr>
            <a:xfrm>
              <a:off x="6501227" y="3366060"/>
              <a:ext cx="19163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00FF"/>
                  </a:solidFill>
                </a:rPr>
                <a:t>状态转移图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382385" y="4438996"/>
            <a:ext cx="5059680" cy="304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68261" y="5211288"/>
            <a:ext cx="5059680" cy="304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68261" y="6342610"/>
            <a:ext cx="5059680" cy="304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标注 25"/>
          <p:cNvSpPr/>
          <p:nvPr/>
        </p:nvSpPr>
        <p:spPr>
          <a:xfrm>
            <a:off x="7315201" y="2681258"/>
            <a:ext cx="1593976" cy="637266"/>
          </a:xfrm>
          <a:prstGeom prst="wedgeRectCallout">
            <a:avLst>
              <a:gd name="adj1" fmla="val 19115"/>
              <a:gd name="adj2" fmla="val 225989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不能自启</a:t>
            </a:r>
            <a:endParaRPr lang="zh-CN" altLang="en-US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3" grpId="0" animBg="1"/>
      <p:bldP spid="24" grpId="0" animBg="1"/>
      <p:bldP spid="25" grpId="0" animBg="1"/>
      <p:bldP spid="2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时序逻辑电路的设计方法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604963"/>
            <a:ext cx="798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4386" y="658500"/>
            <a:ext cx="797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自启动检查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98022" y="1109995"/>
            <a:ext cx="79247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修改电路设计，避免不能自启动的问题。</a:t>
            </a:r>
            <a:endParaRPr lang="zh-CN" altLang="en-US" sz="2400" b="1" dirty="0"/>
          </a:p>
        </p:txBody>
      </p:sp>
      <p:sp>
        <p:nvSpPr>
          <p:cNvPr id="2" name="矩形 1"/>
          <p:cNvSpPr/>
          <p:nvPr/>
        </p:nvSpPr>
        <p:spPr>
          <a:xfrm>
            <a:off x="798022" y="1502313"/>
            <a:ext cx="36391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方法： 改变卡诺图的圈法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pSp>
        <p:nvGrpSpPr>
          <p:cNvPr id="31" name="Group 6"/>
          <p:cNvGrpSpPr/>
          <p:nvPr/>
        </p:nvGrpSpPr>
        <p:grpSpPr bwMode="auto">
          <a:xfrm>
            <a:off x="6260668" y="4441663"/>
            <a:ext cx="2752724" cy="2330450"/>
            <a:chOff x="3931" y="2810"/>
            <a:chExt cx="1734" cy="1468"/>
          </a:xfrm>
        </p:grpSpPr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3979" y="3950"/>
              <a:ext cx="1686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dirty="0">
                  <a:solidFill>
                    <a:srgbClr val="FF0000"/>
                  </a:solidFill>
                </a:rPr>
                <a:t>改进后的</a:t>
              </a:r>
              <a:r>
                <a:rPr lang="en-US" altLang="zh-CN" i="1" dirty="0">
                  <a:solidFill>
                    <a:srgbClr val="FF0000"/>
                  </a:solidFill>
                </a:rPr>
                <a:t>Q</a:t>
              </a:r>
              <a:r>
                <a:rPr lang="en-US" altLang="zh-CN" baseline="-25000" dirty="0">
                  <a:solidFill>
                    <a:srgbClr val="FF0000"/>
                  </a:solidFill>
                </a:rPr>
                <a:t>0</a:t>
              </a:r>
              <a:r>
                <a:rPr lang="zh-CN" altLang="en-US" dirty="0">
                  <a:solidFill>
                    <a:srgbClr val="FF0000"/>
                  </a:solidFill>
                </a:rPr>
                <a:t>卡诺图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pic>
          <p:nvPicPr>
            <p:cNvPr id="33" name="Picture 5" descr="5-4-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1" y="2810"/>
              <a:ext cx="1704" cy="1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矩形 4"/>
          <p:cNvSpPr/>
          <p:nvPr/>
        </p:nvSpPr>
        <p:spPr>
          <a:xfrm>
            <a:off x="717583" y="4681753"/>
            <a:ext cx="461364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dirty="0"/>
              <a:t>如果希望能尽量使用任意项，那么只能对图</a:t>
            </a:r>
            <a:r>
              <a:rPr lang="en-US" altLang="zh-CN" sz="2400" b="1" dirty="0"/>
              <a:t>(a)</a:t>
            </a:r>
            <a:r>
              <a:rPr lang="zh-CN" altLang="en-US" sz="2400" b="1" dirty="0"/>
              <a:t>和图</a:t>
            </a:r>
            <a:r>
              <a:rPr lang="en-US" altLang="zh-CN" sz="2400" b="1" dirty="0"/>
              <a:t>(c)</a:t>
            </a:r>
            <a:r>
              <a:rPr lang="zh-CN" altLang="en-US" sz="2400" b="1" dirty="0"/>
              <a:t>的圈法作修改。 现选择对图</a:t>
            </a:r>
            <a:r>
              <a:rPr lang="en-US" altLang="zh-CN" sz="2400" b="1" dirty="0"/>
              <a:t>(c)</a:t>
            </a:r>
            <a:r>
              <a:rPr lang="zh-CN" altLang="en-US" sz="2400" b="1" dirty="0"/>
              <a:t>的圈法作修改， 即仅改变</a:t>
            </a:r>
            <a:r>
              <a:rPr lang="en-US" altLang="zh-CN" sz="2400" b="1" i="1" dirty="0"/>
              <a:t>Q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的转移， </a:t>
            </a:r>
            <a:endParaRPr lang="zh-CN" altLang="en-US" sz="2400" b="1" dirty="0"/>
          </a:p>
        </p:txBody>
      </p:sp>
      <p:grpSp>
        <p:nvGrpSpPr>
          <p:cNvPr id="10" name="组合 9"/>
          <p:cNvGrpSpPr/>
          <p:nvPr/>
        </p:nvGrpSpPr>
        <p:grpSpPr>
          <a:xfrm>
            <a:off x="203372" y="1931924"/>
            <a:ext cx="8741469" cy="2470795"/>
            <a:chOff x="203372" y="1931924"/>
            <a:chExt cx="8741469" cy="2470795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372" y="1931924"/>
              <a:ext cx="2714625" cy="2028825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3915" y="1931924"/>
              <a:ext cx="2878333" cy="2028825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39741" y="1931924"/>
              <a:ext cx="2705100" cy="201930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970294" y="3941054"/>
              <a:ext cx="78245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（</a:t>
              </a:r>
              <a:r>
                <a:rPr lang="en-US" altLang="zh-CN" sz="2400" b="1" dirty="0"/>
                <a:t>a</a:t>
              </a:r>
              <a:r>
                <a:rPr lang="zh-CN" altLang="en-US" sz="2400" b="1" dirty="0"/>
                <a:t>）                                 （</a:t>
              </a:r>
              <a:r>
                <a:rPr lang="en-US" altLang="zh-CN" sz="2400" b="1" dirty="0"/>
                <a:t>b</a:t>
              </a:r>
              <a:r>
                <a:rPr lang="zh-CN" altLang="en-US" sz="2400" b="1" dirty="0"/>
                <a:t>）                                    （</a:t>
              </a:r>
              <a:r>
                <a:rPr lang="en-US" altLang="zh-CN" sz="2400" b="1" dirty="0"/>
                <a:t>c</a:t>
              </a:r>
              <a:r>
                <a:rPr lang="zh-CN" altLang="en-US" sz="2400" b="1" dirty="0"/>
                <a:t>）</a:t>
              </a:r>
              <a:endParaRPr lang="zh-CN" altLang="en-US" sz="2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时序逻辑电路的设计方法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604963"/>
            <a:ext cx="798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4386" y="658500"/>
            <a:ext cx="797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自启动检查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1" name="Group 6"/>
          <p:cNvGrpSpPr/>
          <p:nvPr/>
        </p:nvGrpSpPr>
        <p:grpSpPr bwMode="auto">
          <a:xfrm>
            <a:off x="399011" y="1259109"/>
            <a:ext cx="2752724" cy="2330450"/>
            <a:chOff x="3931" y="2810"/>
            <a:chExt cx="1734" cy="1468"/>
          </a:xfrm>
        </p:grpSpPr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3979" y="3950"/>
              <a:ext cx="1686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dirty="0"/>
                <a:t>改进后的</a:t>
              </a:r>
              <a:r>
                <a:rPr lang="en-US" altLang="zh-CN" i="1" dirty="0"/>
                <a:t>Q</a:t>
              </a:r>
              <a:r>
                <a:rPr lang="en-US" altLang="zh-CN" baseline="-25000" dirty="0"/>
                <a:t>0</a:t>
              </a:r>
              <a:r>
                <a:rPr lang="zh-CN" altLang="en-US" dirty="0"/>
                <a:t>卡诺图</a:t>
              </a:r>
              <a:endParaRPr lang="zh-CN" altLang="en-US" dirty="0"/>
            </a:p>
          </p:txBody>
        </p:sp>
        <p:pic>
          <p:nvPicPr>
            <p:cNvPr id="33" name="Picture 5" descr="5-4-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1" y="2810"/>
              <a:ext cx="1704" cy="1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4938625" y="1318401"/>
          <a:ext cx="2651125" cy="176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1371600" imgH="914400" progId="Equation.DSMT4">
                  <p:embed/>
                </p:oleObj>
              </mc:Choice>
              <mc:Fallback>
                <p:oleObj name="Equation" r:id="rId3" imgW="1371600" imgH="914400" progId="Equation.DSMT4">
                  <p:embed/>
                  <p:pic>
                    <p:nvPicPr>
                      <p:cNvPr id="0" name="图片 1024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8625" y="1318401"/>
                        <a:ext cx="2651125" cy="176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右箭头 10"/>
          <p:cNvSpPr/>
          <p:nvPr/>
        </p:nvSpPr>
        <p:spPr>
          <a:xfrm>
            <a:off x="3615403" y="2001555"/>
            <a:ext cx="1036320" cy="2276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0" y="4182783"/>
          <a:ext cx="5217849" cy="162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68580000" imgH="21336000" progId="Equation.DSMT4">
                  <p:embed/>
                </p:oleObj>
              </mc:Choice>
              <mc:Fallback>
                <p:oleObj name="Equation" r:id="rId5" imgW="68580000" imgH="21336000" progId="Equation.DSMT4">
                  <p:embed/>
                  <p:pic>
                    <p:nvPicPr>
                      <p:cNvPr id="0" name="图片 1024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182783"/>
                        <a:ext cx="5217849" cy="1622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6"/>
          <p:cNvGrpSpPr/>
          <p:nvPr/>
        </p:nvGrpSpPr>
        <p:grpSpPr bwMode="auto">
          <a:xfrm>
            <a:off x="5453005" y="3506393"/>
            <a:ext cx="3587750" cy="2974976"/>
            <a:chOff x="1853" y="1613"/>
            <a:chExt cx="2260" cy="1874"/>
          </a:xfrm>
        </p:grpSpPr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1853" y="3169"/>
              <a:ext cx="2260" cy="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20000"/>
                </a:spcBef>
              </a:pPr>
              <a:r>
                <a:rPr lang="zh-CN" altLang="en-US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能够自启动的状态转移图</a:t>
              </a:r>
              <a:endPara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23" name="Picture 5" descr="5-4-2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9" y="1613"/>
              <a:ext cx="2208" cy="1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时序逻辑电路的设计方法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604963"/>
            <a:ext cx="798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4386" y="658500"/>
            <a:ext cx="797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画出电路图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1257994" y="1289953"/>
          <a:ext cx="5217849" cy="162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2" imgW="68580000" imgH="21336000" progId="Equation.DSMT4">
                  <p:embed/>
                </p:oleObj>
              </mc:Choice>
              <mc:Fallback>
                <p:oleObj name="Equation" r:id="rId2" imgW="68580000" imgH="21336000" progId="Equation.DSMT4">
                  <p:embed/>
                  <p:pic>
                    <p:nvPicPr>
                      <p:cNvPr id="0" name="图片 1126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994" y="1289953"/>
                        <a:ext cx="5217849" cy="1622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5" descr="5-4-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22" y="3221904"/>
            <a:ext cx="7489825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251284" y="3014625"/>
            <a:ext cx="151379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Contents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3158834" y="-15801"/>
            <a:ext cx="598516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3158833" y="15801"/>
            <a:ext cx="3386343" cy="24041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5827660" y="4362508"/>
            <a:ext cx="3316340" cy="2495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405821" y="1958322"/>
            <a:ext cx="4093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4405821" y="2578212"/>
            <a:ext cx="3787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集成触发器</a:t>
            </a:r>
            <a:endParaRPr lang="zh-CN" altLang="en-US" dirty="0"/>
          </a:p>
        </p:txBody>
      </p:sp>
      <p:sp>
        <p:nvSpPr>
          <p:cNvPr id="30" name="淘宝网chenying0907出品 29"/>
          <p:cNvSpPr txBox="1"/>
          <p:nvPr/>
        </p:nvSpPr>
        <p:spPr>
          <a:xfrm>
            <a:off x="4405821" y="3185725"/>
            <a:ext cx="370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时序逻辑电路的分析</a:t>
            </a:r>
            <a:endParaRPr lang="zh-CN" altLang="en-US" dirty="0"/>
          </a:p>
        </p:txBody>
      </p:sp>
      <p:sp>
        <p:nvSpPr>
          <p:cNvPr id="17" name="淘宝网chenying0907出品 29"/>
          <p:cNvSpPr txBox="1"/>
          <p:nvPr/>
        </p:nvSpPr>
        <p:spPr>
          <a:xfrm>
            <a:off x="4405821" y="3828425"/>
            <a:ext cx="370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时序逻辑电路的设计</a:t>
            </a:r>
            <a:endParaRPr lang="zh-CN" altLang="en-US" dirty="0"/>
          </a:p>
        </p:txBody>
      </p:sp>
      <p:sp>
        <p:nvSpPr>
          <p:cNvPr id="18" name="淘宝网chenying0907出品 29"/>
          <p:cNvSpPr txBox="1"/>
          <p:nvPr/>
        </p:nvSpPr>
        <p:spPr>
          <a:xfrm>
            <a:off x="4405821" y="4455665"/>
            <a:ext cx="4343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常用时序电路及其应用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5.5.1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1" name="文本框 529409"/>
          <p:cNvSpPr txBox="1">
            <a:spLocks noChangeArrowheads="1"/>
          </p:cNvSpPr>
          <p:nvPr/>
        </p:nvSpPr>
        <p:spPr bwMode="auto">
          <a:xfrm>
            <a:off x="429489" y="2326925"/>
            <a:ext cx="8417731" cy="1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</a:rPr>
              <a:t>构成</a:t>
            </a:r>
            <a:r>
              <a:rPr lang="zh-CN" altLang="en-US" b="1" dirty="0">
                <a:solidFill>
                  <a:prstClr val="black"/>
                </a:solidFill>
                <a:ea typeface="宋体" panose="02010600030101010101" pitchFamily="2" charset="-122"/>
              </a:rPr>
              <a:t>：</a:t>
            </a:r>
            <a:endParaRPr lang="en-US" altLang="zh-CN" b="1" dirty="0">
              <a:solidFill>
                <a:prstClr val="black"/>
              </a:solidFill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个触发器有</a:t>
            </a: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个状态，可计</a:t>
            </a: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个数</a:t>
            </a: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(1</a:t>
            </a:r>
            <a:r>
              <a:rPr lang="zh-CN" altLang="en-US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位二进制数</a:t>
            </a: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b="1" dirty="0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个触发器有</a:t>
            </a: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 baseline="30000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个状态，可计</a:t>
            </a: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 baseline="30000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个数</a:t>
            </a: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(n</a:t>
            </a:r>
            <a:r>
              <a:rPr lang="zh-CN" altLang="en-US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位二进制数</a:t>
            </a:r>
            <a:r>
              <a:rPr lang="en-US" altLang="zh-CN" b="1" dirty="0">
                <a:solidFill>
                  <a:prstClr val="black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b="1" dirty="0">
              <a:solidFill>
                <a:prstClr val="blac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矩形 529415"/>
          <p:cNvSpPr>
            <a:spLocks noChangeArrowheads="1"/>
          </p:cNvSpPr>
          <p:nvPr/>
        </p:nvSpPr>
        <p:spPr bwMode="auto">
          <a:xfrm>
            <a:off x="464827" y="1142377"/>
            <a:ext cx="460093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</a:rPr>
              <a:t>计数</a:t>
            </a:r>
            <a:r>
              <a:rPr lang="zh-CN" altLang="en-US" b="1" dirty="0">
                <a:solidFill>
                  <a:prstClr val="black"/>
                </a:solidFill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prstClr val="black"/>
                </a:solidFill>
                <a:ea typeface="楷体_GB2312" pitchFamily="49" charset="-122"/>
              </a:rPr>
              <a:t>累计输入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脉冲</a:t>
            </a:r>
            <a:r>
              <a:rPr lang="zh-CN" altLang="en-US" b="1" dirty="0">
                <a:solidFill>
                  <a:prstClr val="black"/>
                </a:solidFill>
                <a:ea typeface="楷体_GB2312" pitchFamily="49" charset="-122"/>
              </a:rPr>
              <a:t>的个数</a:t>
            </a:r>
            <a:endParaRPr lang="zh-CN" altLang="en-US" b="1" dirty="0">
              <a:solidFill>
                <a:prstClr val="black"/>
              </a:solidFill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9489" y="4710648"/>
            <a:ext cx="82693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</a:t>
            </a:r>
            <a:r>
              <a:rPr kumimoji="1"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：分频、定时、产生节拍脉冲和脉冲序列、进行数字运算等</a:t>
            </a:r>
            <a:endParaRPr kumimoji="1" lang="zh-CN" altLang="en-US" sz="28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5.5.1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" name="矩形 529415"/>
          <p:cNvSpPr>
            <a:spLocks noChangeArrowheads="1"/>
          </p:cNvSpPr>
          <p:nvPr/>
        </p:nvSpPr>
        <p:spPr bwMode="auto">
          <a:xfrm>
            <a:off x="645623" y="773880"/>
            <a:ext cx="10054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楷体_GB2312" pitchFamily="49" charset="-122"/>
              </a:rPr>
              <a:t>分类</a:t>
            </a:r>
            <a:endParaRPr lang="zh-CN" altLang="en-US" b="1" dirty="0">
              <a:solidFill>
                <a:prstClr val="black"/>
              </a:solidFill>
              <a:ea typeface="楷体_GB2312" pitchFamily="49" charset="-122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775106" y="2062943"/>
            <a:ext cx="1978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按数制分：</a:t>
            </a:r>
            <a:endParaRPr kumimoji="1" lang="zh-CN" altLang="en-US" sz="28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624818" y="1683746"/>
            <a:ext cx="5695950" cy="1382713"/>
          </a:xfrm>
          <a:prstGeom prst="rect">
            <a:avLst/>
          </a:prstGeom>
          <a:noFill/>
          <a:ln w="9525">
            <a:solidFill>
              <a:srgbClr val="993300"/>
            </a:solidFill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二进制计数器</a:t>
            </a:r>
            <a:endParaRPr kumimoji="1" lang="zh-CN" altLang="en-US" sz="2800" b="1" dirty="0">
              <a:solidFill>
                <a:srgbClr val="170A8E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十进制计数器</a:t>
            </a:r>
            <a:endParaRPr kumimoji="1" lang="zh-CN" altLang="en-US" sz="2800" b="1" dirty="0">
              <a:solidFill>
                <a:srgbClr val="170A8E"/>
              </a:solidFill>
              <a:latin typeface="Times New Roman" panose="02020603050405020304" pitchFamily="18" charset="0"/>
            </a:endParaRPr>
          </a:p>
          <a:p>
            <a:r>
              <a:rPr kumimoji="1" lang="en-US" altLang="zh-CN" sz="2800" b="1" i="1" dirty="0">
                <a:solidFill>
                  <a:srgbClr val="170A8E"/>
                </a:solidFill>
                <a:latin typeface="Times New Roman" panose="02020603050405020304" pitchFamily="18" charset="0"/>
              </a:rPr>
              <a:t>N </a:t>
            </a:r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进制</a:t>
            </a:r>
            <a:r>
              <a:rPr kumimoji="1" lang="en-US" altLang="zh-CN" sz="2800" b="1" dirty="0">
                <a:solidFill>
                  <a:srgbClr val="170A8E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任意进制</a:t>
            </a:r>
            <a:r>
              <a:rPr kumimoji="1" lang="en-US" altLang="zh-CN" sz="2800" b="1" dirty="0">
                <a:solidFill>
                  <a:srgbClr val="170A8E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计数器</a:t>
            </a:r>
            <a:endParaRPr kumimoji="1" lang="zh-CN" altLang="en-US" sz="2800" b="1" dirty="0">
              <a:solidFill>
                <a:srgbClr val="170A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775105" y="3586960"/>
            <a:ext cx="16192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kumimoji="1" sz="2800"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dirty="0">
                <a:solidFill>
                  <a:prstClr val="black"/>
                </a:solidFill>
              </a:rPr>
              <a:t>按计数</a:t>
            </a:r>
            <a:endParaRPr lang="zh-CN" altLang="en-US" dirty="0">
              <a:solidFill>
                <a:prstClr val="black"/>
              </a:solidFill>
            </a:endParaRPr>
          </a:p>
          <a:p>
            <a:r>
              <a:rPr lang="zh-CN" altLang="en-US" dirty="0">
                <a:solidFill>
                  <a:prstClr val="black"/>
                </a:solidFill>
              </a:rPr>
              <a:t>方式分：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2624818" y="3374000"/>
            <a:ext cx="5695950" cy="1382713"/>
          </a:xfrm>
          <a:prstGeom prst="rect">
            <a:avLst/>
          </a:prstGeom>
          <a:noFill/>
          <a:ln w="9525">
            <a:solidFill>
              <a:srgbClr val="993300"/>
            </a:solidFill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加法计数器</a:t>
            </a:r>
            <a:endParaRPr kumimoji="1" lang="zh-CN" altLang="en-US" sz="2800" b="1" dirty="0">
              <a:solidFill>
                <a:srgbClr val="170A8E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减法计数器</a:t>
            </a:r>
            <a:endParaRPr kumimoji="1" lang="zh-CN" altLang="en-US" sz="2800" b="1" dirty="0">
              <a:solidFill>
                <a:srgbClr val="170A8E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可逆计数 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(Up-Down Counter)</a:t>
            </a:r>
            <a:endParaRPr kumimoji="1" lang="en-US" altLang="zh-CN" sz="28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773398" y="5128445"/>
            <a:ext cx="162095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defRPr kumimoji="1" sz="2800"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dirty="0">
                <a:solidFill>
                  <a:prstClr val="black"/>
                </a:solidFill>
              </a:rPr>
              <a:t>按时钟</a:t>
            </a:r>
            <a:endParaRPr lang="zh-CN" altLang="en-US" dirty="0">
              <a:solidFill>
                <a:prstClr val="black"/>
              </a:solidFill>
            </a:endParaRPr>
          </a:p>
          <a:p>
            <a:r>
              <a:rPr lang="zh-CN" altLang="en-US" dirty="0">
                <a:solidFill>
                  <a:prstClr val="black"/>
                </a:solidFill>
              </a:rPr>
              <a:t>控制分：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2624818" y="5128445"/>
            <a:ext cx="5695950" cy="955675"/>
          </a:xfrm>
          <a:prstGeom prst="rect">
            <a:avLst/>
          </a:prstGeom>
          <a:noFill/>
          <a:ln w="9525">
            <a:solidFill>
              <a:srgbClr val="993300"/>
            </a:solidFill>
            <a:miter lim="800000"/>
          </a:ln>
          <a:effectLst/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同步计数器 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(Synchronous 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sz="2800" b="1" dirty="0">
                <a:solidFill>
                  <a:srgbClr val="170A8E"/>
                </a:solidFill>
                <a:latin typeface="Times New Roman" panose="02020603050405020304" pitchFamily="18" charset="0"/>
              </a:rPr>
              <a:t>异步计数器 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(Asynchronous 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 dirty="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nimBg="1"/>
      <p:bldP spid="14" grpId="0"/>
      <p:bldP spid="15" grpId="0" animBg="1"/>
      <p:bldP spid="16" grpId="0"/>
      <p:bldP spid="1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同步集成计数器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58" name="Text Box 3"/>
          <p:cNvSpPr txBox="1">
            <a:spLocks noChangeArrowheads="1"/>
          </p:cNvSpPr>
          <p:nvPr/>
        </p:nvSpPr>
        <p:spPr bwMode="auto">
          <a:xfrm>
            <a:off x="1164926" y="1574737"/>
            <a:ext cx="7004516" cy="2824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同步计数器的特点：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在同步计数器内部，各个触发器都受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同一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时钟脉冲</a:t>
            </a:r>
            <a:r>
              <a:rPr lang="en-US" altLang="zh-CN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输入计数脉冲的控制，因此，它们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状态的更新几乎是同时的</a:t>
            </a:r>
            <a:r>
              <a:rPr lang="zh-CN" altLang="en-US" sz="28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，故被称为“同步计数器”</a:t>
            </a:r>
            <a:endParaRPr lang="zh-CN" altLang="en-US" sz="28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533400"/>
            <a:ext cx="8321675" cy="5638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b="1"/>
              <a:t>1</a:t>
            </a:r>
            <a:r>
              <a:rPr lang="en-US" altLang="zh-CN" b="1" dirty="0"/>
              <a:t>. </a:t>
            </a:r>
            <a:r>
              <a:rPr lang="zh-CN" altLang="en-US" b="1" dirty="0"/>
              <a:t>常用集成计数器</a:t>
            </a:r>
            <a:br>
              <a:rPr lang="zh-CN" altLang="en-US" b="1"/>
            </a:br>
            <a:r>
              <a:rPr lang="zh-CN" altLang="en-US" sz="3600" b="1">
                <a:solidFill>
                  <a:srgbClr val="0000FF"/>
                </a:solidFill>
              </a:rPr>
              <a:t>（</a:t>
            </a:r>
            <a:r>
              <a:rPr lang="en-US" altLang="zh-CN" sz="3600" b="1">
                <a:solidFill>
                  <a:srgbClr val="0000FF"/>
                </a:solidFill>
              </a:rPr>
              <a:t>1</a:t>
            </a:r>
            <a:r>
              <a:rPr lang="zh-CN" altLang="en-US" sz="3600" b="1">
                <a:solidFill>
                  <a:srgbClr val="0000FF"/>
                </a:solidFill>
              </a:rPr>
              <a:t>）</a:t>
            </a:r>
            <a:r>
              <a:rPr lang="en-US" altLang="zh-CN" sz="3600" b="1">
                <a:solidFill>
                  <a:srgbClr val="0000FF"/>
                </a:solidFill>
              </a:rPr>
              <a:t>4</a:t>
            </a:r>
            <a:r>
              <a:rPr lang="zh-CN" altLang="en-US" sz="3600" b="1" dirty="0">
                <a:solidFill>
                  <a:srgbClr val="0000FF"/>
                </a:solidFill>
              </a:rPr>
              <a:t>位二进制</a:t>
            </a:r>
            <a:r>
              <a:rPr lang="zh-CN" altLang="en-US" sz="3600" b="1">
                <a:solidFill>
                  <a:srgbClr val="0000FF"/>
                </a:solidFill>
              </a:rPr>
              <a:t>加法计数器：</a:t>
            </a:r>
            <a:br>
              <a:rPr lang="en-US" altLang="zh-CN" sz="3600" b="1">
                <a:solidFill>
                  <a:srgbClr val="0000FF"/>
                </a:solidFill>
              </a:rPr>
            </a:br>
            <a:r>
              <a:rPr lang="en-US" altLang="zh-CN"/>
              <a:t>                </a:t>
            </a:r>
            <a:r>
              <a:rPr lang="en-US" altLang="zh-CN" sz="4000">
                <a:solidFill>
                  <a:srgbClr val="FF0000"/>
                </a:solidFill>
              </a:rPr>
              <a:t>74LS161</a:t>
            </a:r>
            <a:r>
              <a:rPr lang="zh-CN" altLang="en-US" sz="4000">
                <a:solidFill>
                  <a:srgbClr val="FF0000"/>
                </a:solidFill>
              </a:rPr>
              <a:t>和</a:t>
            </a:r>
            <a:r>
              <a:rPr lang="en-US" altLang="zh-CN" sz="4000">
                <a:solidFill>
                  <a:srgbClr val="FF0000"/>
                </a:solidFill>
              </a:rPr>
              <a:t>74LS163</a:t>
            </a:r>
            <a:br>
              <a:rPr lang="en-US" altLang="zh-CN"/>
            </a:br>
            <a:r>
              <a:rPr lang="zh-CN" altLang="en-US" sz="3600" b="1">
                <a:solidFill>
                  <a:srgbClr val="0000FF"/>
                </a:solidFill>
              </a:rPr>
              <a:t>（</a:t>
            </a:r>
            <a:r>
              <a:rPr lang="en-US" altLang="zh-CN" sz="3600" b="1">
                <a:solidFill>
                  <a:srgbClr val="0000FF"/>
                </a:solidFill>
              </a:rPr>
              <a:t>2</a:t>
            </a:r>
            <a:r>
              <a:rPr lang="zh-CN" altLang="en-US" sz="3600" b="1">
                <a:solidFill>
                  <a:srgbClr val="0000FF"/>
                </a:solidFill>
              </a:rPr>
              <a:t>）</a:t>
            </a:r>
            <a:r>
              <a:rPr lang="en-US" altLang="zh-CN" sz="3600" b="1">
                <a:solidFill>
                  <a:srgbClr val="0000FF"/>
                </a:solidFill>
              </a:rPr>
              <a:t>4</a:t>
            </a:r>
            <a:r>
              <a:rPr lang="zh-CN" altLang="en-US" sz="3600" b="1" dirty="0">
                <a:solidFill>
                  <a:srgbClr val="0000FF"/>
                </a:solidFill>
              </a:rPr>
              <a:t>位十进制</a:t>
            </a:r>
            <a:r>
              <a:rPr lang="zh-CN" altLang="en-US" sz="3600" b="1">
                <a:solidFill>
                  <a:srgbClr val="0000FF"/>
                </a:solidFill>
              </a:rPr>
              <a:t>加法计数器：</a:t>
            </a:r>
            <a:br>
              <a:rPr lang="en-US" altLang="zh-CN" sz="3600" b="1">
                <a:solidFill>
                  <a:srgbClr val="0000FF"/>
                </a:solidFill>
              </a:rPr>
            </a:br>
            <a:r>
              <a:rPr lang="en-US" altLang="zh-CN" sz="3600" b="1">
                <a:solidFill>
                  <a:srgbClr val="0000FF"/>
                </a:solidFill>
              </a:rPr>
              <a:t>                    </a:t>
            </a:r>
            <a:r>
              <a:rPr lang="en-US" altLang="zh-CN" sz="4000">
                <a:solidFill>
                  <a:srgbClr val="FF0000"/>
                </a:solidFill>
              </a:rPr>
              <a:t>74LS160 </a:t>
            </a:r>
            <a:r>
              <a:rPr lang="zh-CN" altLang="en-US" sz="4000">
                <a:solidFill>
                  <a:srgbClr val="FF0000"/>
                </a:solidFill>
              </a:rPr>
              <a:t>和</a:t>
            </a:r>
            <a:r>
              <a:rPr lang="en-US" altLang="zh-CN" sz="4000">
                <a:solidFill>
                  <a:srgbClr val="FF0000"/>
                </a:solidFill>
              </a:rPr>
              <a:t>74LS162</a:t>
            </a:r>
            <a:br>
              <a:rPr lang="en-US" altLang="zh-CN"/>
            </a:br>
            <a:r>
              <a:rPr lang="zh-CN" altLang="en-US" sz="3600" b="1">
                <a:solidFill>
                  <a:srgbClr val="0000FF"/>
                </a:solidFill>
              </a:rPr>
              <a:t>（</a:t>
            </a:r>
            <a:r>
              <a:rPr lang="en-US" altLang="zh-CN" sz="3600" b="1">
                <a:solidFill>
                  <a:srgbClr val="0000FF"/>
                </a:solidFill>
              </a:rPr>
              <a:t>3</a:t>
            </a:r>
            <a:r>
              <a:rPr lang="zh-CN" altLang="en-US" sz="3600" b="1">
                <a:solidFill>
                  <a:srgbClr val="0000FF"/>
                </a:solidFill>
              </a:rPr>
              <a:t>）</a:t>
            </a:r>
            <a:r>
              <a:rPr lang="en-US" altLang="zh-CN" sz="3600" b="1">
                <a:solidFill>
                  <a:srgbClr val="0000FF"/>
                </a:solidFill>
              </a:rPr>
              <a:t>4</a:t>
            </a:r>
            <a:r>
              <a:rPr lang="zh-CN" altLang="en-US" sz="3600" b="1" dirty="0">
                <a:solidFill>
                  <a:srgbClr val="0000FF"/>
                </a:solidFill>
              </a:rPr>
              <a:t>位</a:t>
            </a:r>
            <a:r>
              <a:rPr lang="zh-CN" altLang="en-US" sz="3600" b="1">
                <a:solidFill>
                  <a:srgbClr val="0000FF"/>
                </a:solidFill>
              </a:rPr>
              <a:t>十进制加</a:t>
            </a:r>
            <a:r>
              <a:rPr lang="en-US" altLang="zh-CN" sz="3600" b="1" dirty="0">
                <a:solidFill>
                  <a:srgbClr val="0000FF"/>
                </a:solidFill>
              </a:rPr>
              <a:t>/</a:t>
            </a:r>
            <a:r>
              <a:rPr lang="zh-CN" altLang="en-US" sz="3600" b="1">
                <a:solidFill>
                  <a:srgbClr val="0000FF"/>
                </a:solidFill>
              </a:rPr>
              <a:t>减法计数器：</a:t>
            </a:r>
            <a:br>
              <a:rPr lang="en-US" altLang="zh-CN" sz="3600" b="1">
                <a:solidFill>
                  <a:srgbClr val="0000FF"/>
                </a:solidFill>
              </a:rPr>
            </a:br>
            <a:r>
              <a:rPr lang="en-US" altLang="zh-CN" sz="3600" b="1">
                <a:solidFill>
                  <a:srgbClr val="0000FF"/>
                </a:solidFill>
              </a:rPr>
              <a:t>                    </a:t>
            </a:r>
            <a:r>
              <a:rPr lang="en-US" altLang="zh-CN" sz="4000">
                <a:solidFill>
                  <a:srgbClr val="FF0000"/>
                </a:solidFill>
              </a:rPr>
              <a:t>74LS190</a:t>
            </a:r>
            <a:r>
              <a:rPr lang="zh-CN" altLang="en-US" sz="4000">
                <a:solidFill>
                  <a:srgbClr val="FF0000"/>
                </a:solidFill>
              </a:rPr>
              <a:t>和</a:t>
            </a:r>
            <a:r>
              <a:rPr lang="en-US" altLang="zh-CN" sz="4000">
                <a:solidFill>
                  <a:srgbClr val="FF0000"/>
                </a:solidFill>
              </a:rPr>
              <a:t>74LS192</a:t>
            </a:r>
            <a:br>
              <a:rPr lang="en-US" altLang="zh-CN"/>
            </a:br>
            <a:r>
              <a:rPr lang="zh-CN" altLang="en-US" sz="3600" b="1">
                <a:solidFill>
                  <a:srgbClr val="0000FF"/>
                </a:solidFill>
              </a:rPr>
              <a:t>（</a:t>
            </a:r>
            <a:r>
              <a:rPr lang="en-US" altLang="zh-CN" sz="3600" b="1">
                <a:solidFill>
                  <a:srgbClr val="0000FF"/>
                </a:solidFill>
              </a:rPr>
              <a:t>4</a:t>
            </a:r>
            <a:r>
              <a:rPr lang="zh-CN" altLang="en-US" sz="3600" b="1">
                <a:solidFill>
                  <a:srgbClr val="0000FF"/>
                </a:solidFill>
              </a:rPr>
              <a:t>）</a:t>
            </a:r>
            <a:r>
              <a:rPr lang="en-US" altLang="zh-CN" sz="3600" b="1">
                <a:solidFill>
                  <a:srgbClr val="0000FF"/>
                </a:solidFill>
              </a:rPr>
              <a:t>4</a:t>
            </a:r>
            <a:r>
              <a:rPr lang="zh-CN" altLang="en-US" sz="3600" b="1" dirty="0">
                <a:solidFill>
                  <a:srgbClr val="0000FF"/>
                </a:solidFill>
              </a:rPr>
              <a:t>位同步</a:t>
            </a:r>
            <a:r>
              <a:rPr lang="zh-CN" altLang="en-US" sz="3600" b="1">
                <a:solidFill>
                  <a:srgbClr val="0000FF"/>
                </a:solidFill>
              </a:rPr>
              <a:t>二进制加</a:t>
            </a:r>
            <a:r>
              <a:rPr lang="en-US" altLang="zh-CN" sz="3600" b="1" dirty="0">
                <a:solidFill>
                  <a:srgbClr val="0000FF"/>
                </a:solidFill>
              </a:rPr>
              <a:t>/</a:t>
            </a:r>
            <a:r>
              <a:rPr lang="zh-CN" altLang="en-US" sz="3600" b="1">
                <a:solidFill>
                  <a:srgbClr val="0000FF"/>
                </a:solidFill>
              </a:rPr>
              <a:t>减法计数器：</a:t>
            </a:r>
            <a:br>
              <a:rPr lang="en-US" altLang="zh-CN" sz="3600" b="1">
                <a:solidFill>
                  <a:srgbClr val="0000FF"/>
                </a:solidFill>
              </a:rPr>
            </a:br>
            <a:r>
              <a:rPr lang="en-US" altLang="zh-CN" sz="3600" b="1">
                <a:solidFill>
                  <a:srgbClr val="0000FF"/>
                </a:solidFill>
              </a:rPr>
              <a:t>                    </a:t>
            </a:r>
            <a:r>
              <a:rPr lang="en-US" altLang="zh-CN" sz="4000">
                <a:solidFill>
                  <a:srgbClr val="FF0000"/>
                </a:solidFill>
              </a:rPr>
              <a:t>74LS191</a:t>
            </a:r>
            <a:r>
              <a:rPr lang="zh-CN" altLang="en-US" sz="4000">
                <a:solidFill>
                  <a:srgbClr val="FF0000"/>
                </a:solidFill>
              </a:rPr>
              <a:t>和</a:t>
            </a:r>
            <a:r>
              <a:rPr lang="en-US" altLang="zh-CN" sz="4000">
                <a:solidFill>
                  <a:srgbClr val="FF0000"/>
                </a:solidFill>
              </a:rPr>
              <a:t>74LS193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29732" name="灯片编号占位符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7D4FD50-9D99-4ADC-94C4-358B58F50272}" type="slidenum">
              <a:rPr lang="zh-CN" altLang="en-US" sz="1800" b="0" smtClean="0"/>
            </a:fld>
            <a:endParaRPr lang="zh-CN" altLang="en-US" sz="1800" b="0"/>
          </a:p>
        </p:txBody>
      </p:sp>
      <p:cxnSp>
        <p:nvCxnSpPr>
          <p:cNvPr id="5" name="直接连接符 4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同步集成计数器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62" name="Group 4"/>
          <p:cNvGrpSpPr/>
          <p:nvPr/>
        </p:nvGrpSpPr>
        <p:grpSpPr bwMode="auto">
          <a:xfrm>
            <a:off x="622300" y="2057400"/>
            <a:ext cx="3873500" cy="2057400"/>
            <a:chOff x="392" y="1296"/>
            <a:chExt cx="2440" cy="1296"/>
          </a:xfrm>
        </p:grpSpPr>
        <p:sp>
          <p:nvSpPr>
            <p:cNvPr id="96299" name="Rectangle 5"/>
            <p:cNvSpPr>
              <a:spLocks noChangeArrowheads="1"/>
            </p:cNvSpPr>
            <p:nvPr/>
          </p:nvSpPr>
          <p:spPr bwMode="auto">
            <a:xfrm>
              <a:off x="392" y="1296"/>
              <a:ext cx="2440" cy="129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/>
            <a:lstStyle/>
            <a:p>
              <a:pPr marL="1044575" indent="-1044575" algn="just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1800" dirty="0">
                  <a:solidFill>
                    <a:schemeClr val="tx1"/>
                  </a:solidFill>
                </a:rPr>
                <a:t>  CR	</a:t>
              </a:r>
              <a:r>
                <a:rPr lang="en-US" altLang="zh-CN" sz="1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──</a:t>
              </a:r>
              <a:r>
                <a:rPr lang="zh-CN" altLang="en-US" sz="1800" dirty="0">
                  <a:solidFill>
                    <a:schemeClr val="tx1"/>
                  </a:solidFill>
                </a:rPr>
                <a:t>异步清零端</a:t>
              </a:r>
              <a:endParaRPr lang="zh-CN" altLang="en-US" sz="1800" dirty="0">
                <a:solidFill>
                  <a:schemeClr val="tx1"/>
                </a:solidFill>
              </a:endParaRPr>
            </a:p>
            <a:p>
              <a:pPr marL="1044575" indent="-1044575" algn="just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1800" dirty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>
                  <a:solidFill>
                    <a:schemeClr val="tx1"/>
                  </a:solidFill>
                </a:rPr>
                <a:t>LD	</a:t>
              </a:r>
              <a:r>
                <a:rPr lang="en-US" altLang="zh-CN" sz="1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──</a:t>
              </a:r>
              <a:r>
                <a:rPr lang="zh-CN" altLang="en-US" sz="1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置数端（同步置数）</a:t>
              </a:r>
              <a:endParaRPr lang="zh-CN" altLang="en-US" sz="1800" dirty="0">
                <a:solidFill>
                  <a:schemeClr val="tx1"/>
                </a:solidFill>
              </a:endParaRPr>
            </a:p>
            <a:p>
              <a:pPr marL="1044575" indent="-1044575" algn="just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1800" dirty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>
                  <a:solidFill>
                    <a:schemeClr val="tx1"/>
                  </a:solidFill>
                </a:rPr>
                <a:t>D</a:t>
              </a:r>
              <a:r>
                <a:rPr lang="en-US" altLang="zh-CN" sz="1800" baseline="-25000" dirty="0">
                  <a:solidFill>
                    <a:schemeClr val="tx1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~D</a:t>
              </a:r>
              <a:r>
                <a:rPr lang="en-US" altLang="zh-CN" sz="1800" baseline="-25000" dirty="0">
                  <a:solidFill>
                    <a:schemeClr val="tx1"/>
                  </a:solidFill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</a:rPr>
                <a:t>	</a:t>
              </a:r>
              <a:r>
                <a:rPr lang="en-US" altLang="zh-CN" sz="1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──</a:t>
              </a:r>
              <a:r>
                <a:rPr lang="zh-CN" altLang="en-US" sz="1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数据输入</a:t>
              </a:r>
              <a:endParaRPr lang="zh-CN" altLang="en-US" sz="1800" dirty="0">
                <a:solidFill>
                  <a:schemeClr val="tx1"/>
                </a:solidFill>
              </a:endParaRPr>
            </a:p>
            <a:p>
              <a:pPr marL="1044575" indent="-1044575" algn="just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1800" dirty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>
                  <a:solidFill>
                    <a:schemeClr val="tx1"/>
                  </a:solidFill>
                </a:rPr>
                <a:t>Q</a:t>
              </a:r>
              <a:r>
                <a:rPr lang="en-US" altLang="zh-CN" sz="1800" baseline="-30000" dirty="0">
                  <a:solidFill>
                    <a:schemeClr val="tx1"/>
                  </a:solidFill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</a:rPr>
                <a:t>~Q</a:t>
              </a:r>
              <a:r>
                <a:rPr lang="en-US" altLang="zh-CN" sz="1800" baseline="-30000" dirty="0">
                  <a:solidFill>
                    <a:schemeClr val="tx1"/>
                  </a:solidFill>
                </a:rPr>
                <a:t>3	</a:t>
              </a:r>
              <a:r>
                <a:rPr lang="en-US" altLang="zh-CN" sz="1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──</a:t>
              </a:r>
              <a:r>
                <a:rPr lang="zh-CN" altLang="en-US" sz="1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数据输出</a:t>
              </a:r>
              <a:endParaRPr lang="zh-CN" altLang="en-US" sz="1800" dirty="0">
                <a:solidFill>
                  <a:schemeClr val="tx1"/>
                </a:solidFill>
              </a:endParaRPr>
            </a:p>
            <a:p>
              <a:pPr marL="1044575" indent="-1044575" algn="just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sz="1800" dirty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>
                  <a:solidFill>
                    <a:schemeClr val="tx1"/>
                  </a:solidFill>
                </a:rPr>
                <a:t>CO	──</a:t>
              </a:r>
              <a:r>
                <a:rPr lang="zh-CN" altLang="en-US" sz="1800" dirty="0">
                  <a:solidFill>
                    <a:schemeClr val="tx1"/>
                  </a:solidFill>
                </a:rPr>
                <a:t>进位输出</a:t>
              </a:r>
              <a:endParaRPr lang="zh-CN" altLang="en-US" sz="1800" dirty="0">
                <a:solidFill>
                  <a:schemeClr val="tx1"/>
                </a:solidFill>
              </a:endParaRPr>
            </a:p>
            <a:p>
              <a:pPr marL="1044575" indent="-1044575" algn="just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r>
                <a:rPr lang="en-US" altLang="zh-CN" sz="1800" dirty="0">
                  <a:solidFill>
                    <a:schemeClr val="tx1"/>
                  </a:solidFill>
                </a:rPr>
                <a:t>CT</a:t>
              </a:r>
              <a:r>
                <a:rPr lang="en-US" altLang="zh-CN" sz="1800" baseline="-25000" dirty="0">
                  <a:solidFill>
                    <a:schemeClr val="tx1"/>
                  </a:solidFill>
                </a:rPr>
                <a:t>P  </a:t>
              </a:r>
              <a:r>
                <a:rPr lang="en-US" altLang="zh-CN" sz="1800" dirty="0">
                  <a:solidFill>
                    <a:schemeClr val="hlink"/>
                  </a:solidFill>
                  <a:latin typeface="宋体" panose="02010600030101010101" pitchFamily="2" charset="-122"/>
                </a:rPr>
                <a:t>&amp;</a:t>
              </a:r>
              <a:r>
                <a:rPr lang="en-US" altLang="zh-CN" sz="1800" dirty="0">
                  <a:solidFill>
                    <a:schemeClr val="tx1"/>
                  </a:solidFill>
                </a:rPr>
                <a:t>CT</a:t>
              </a:r>
              <a:r>
                <a:rPr lang="en-US" altLang="zh-CN" sz="1800" baseline="-25000" dirty="0">
                  <a:solidFill>
                    <a:schemeClr val="tx1"/>
                  </a:solidFill>
                </a:rPr>
                <a:t>T</a:t>
              </a:r>
              <a:r>
                <a:rPr lang="en-US" altLang="zh-CN" sz="1800" dirty="0">
                  <a:solidFill>
                    <a:schemeClr val="tx1"/>
                  </a:solidFill>
                </a:rPr>
                <a:t>	</a:t>
              </a:r>
              <a:r>
                <a:rPr lang="en-US" altLang="zh-CN" sz="1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──</a:t>
              </a:r>
              <a:r>
                <a:rPr lang="zh-CN" altLang="en-US" sz="1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工作状态控制端</a:t>
              </a:r>
              <a:r>
                <a:rPr lang="zh-CN" altLang="en-US" sz="1800" dirty="0">
                  <a:solidFill>
                    <a:schemeClr val="tx1"/>
                  </a:solidFill>
                </a:rPr>
                <a:t> 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96300" name="Line 6"/>
            <p:cNvSpPr>
              <a:spLocks noChangeShapeType="1"/>
            </p:cNvSpPr>
            <p:nvPr/>
          </p:nvSpPr>
          <p:spPr bwMode="auto">
            <a:xfrm>
              <a:off x="518" y="1339"/>
              <a:ext cx="1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b">
              <a:spAutoFit/>
            </a:bodyPr>
            <a:lstStyle/>
            <a:p>
              <a:endParaRPr lang="zh-CN" altLang="en-US"/>
            </a:p>
          </p:txBody>
        </p:sp>
        <p:sp>
          <p:nvSpPr>
            <p:cNvPr id="96301" name="Line 7"/>
            <p:cNvSpPr>
              <a:spLocks noChangeShapeType="1"/>
            </p:cNvSpPr>
            <p:nvPr/>
          </p:nvSpPr>
          <p:spPr bwMode="auto">
            <a:xfrm>
              <a:off x="510" y="1544"/>
              <a:ext cx="1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 wrap="none" anchor="b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96258" name="Object 8"/>
          <p:cNvGraphicFramePr>
            <a:graphicFrameLocks noChangeAspect="1"/>
          </p:cNvGraphicFramePr>
          <p:nvPr/>
        </p:nvGraphicFramePr>
        <p:xfrm>
          <a:off x="1143000" y="4114800"/>
          <a:ext cx="7162800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位图图像" r:id="rId1" imgW="7715250" imgH="2114550" progId="PBrush">
                  <p:embed/>
                </p:oleObj>
              </mc:Choice>
              <mc:Fallback>
                <p:oleObj name="位图图像" r:id="rId1" imgW="7715250" imgH="2114550" progId="PBrush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14800"/>
                        <a:ext cx="7162800" cy="196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6217" name="AutoShape 9"/>
          <p:cNvSpPr>
            <a:spLocks noChangeArrowheads="1"/>
          </p:cNvSpPr>
          <p:nvPr/>
        </p:nvSpPr>
        <p:spPr bwMode="auto">
          <a:xfrm>
            <a:off x="4114800" y="3276600"/>
            <a:ext cx="990600" cy="341313"/>
          </a:xfrm>
          <a:prstGeom prst="wedgeRoundRectCallout">
            <a:avLst>
              <a:gd name="adj1" fmla="val -114583"/>
              <a:gd name="adj2" fmla="val 519769"/>
              <a:gd name="adj3" fmla="val 16667"/>
            </a:avLst>
          </a:prstGeom>
          <a:solidFill>
            <a:srgbClr val="99FF66">
              <a:alpha val="50195"/>
            </a:srgbClr>
          </a:solidFill>
          <a:ln w="9525">
            <a:solidFill>
              <a:srgbClr val="000099"/>
            </a:solidFill>
            <a:miter lim="800000"/>
          </a:ln>
        </p:spPr>
        <p:txBody>
          <a:bodyPr lIns="0" rIns="0" anchor="b"/>
          <a:lstStyle/>
          <a:p>
            <a:pPr>
              <a:spcBef>
                <a:spcPct val="10000"/>
              </a:spcBef>
            </a:pPr>
            <a:r>
              <a:rPr lang="zh-CN" altLang="en-US" sz="1600">
                <a:solidFill>
                  <a:srgbClr val="CC0000"/>
                </a:solidFill>
                <a:ea typeface="楷体_GB2312" pitchFamily="49" charset="-122"/>
              </a:rPr>
              <a:t>同步置数</a:t>
            </a:r>
            <a:endParaRPr lang="zh-CN" altLang="en-US" sz="1600">
              <a:solidFill>
                <a:srgbClr val="CC0000"/>
              </a:solidFill>
              <a:ea typeface="楷体_GB2312" pitchFamily="49" charset="-122"/>
            </a:endParaRPr>
          </a:p>
        </p:txBody>
      </p:sp>
      <p:sp>
        <p:nvSpPr>
          <p:cNvPr id="96264" name="Rectangle 11"/>
          <p:cNvSpPr>
            <a:spLocks noChangeArrowheads="1"/>
          </p:cNvSpPr>
          <p:nvPr/>
        </p:nvSpPr>
        <p:spPr bwMode="auto">
          <a:xfrm>
            <a:off x="523774" y="949333"/>
            <a:ext cx="4772126" cy="533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1044575" indent="-1044575" algn="just">
              <a:spcBef>
                <a:spcPct val="20000"/>
              </a:spcBef>
              <a:buClr>
                <a:schemeClr val="folHlink"/>
              </a:buClr>
              <a:buSzPct val="60000"/>
              <a:buFont typeface="Symbol" panose="05050102010706020507" pitchFamily="18" charset="2"/>
              <a:buChar char="·"/>
            </a:pPr>
            <a:r>
              <a:rPr lang="en-US" altLang="zh-CN" sz="2000" dirty="0" smtClean="0">
                <a:solidFill>
                  <a:srgbClr val="000099"/>
                </a:solidFill>
              </a:rPr>
              <a:t>74LS161/74LS160 </a:t>
            </a:r>
            <a:endParaRPr lang="en-US" altLang="zh-CN" sz="2000" dirty="0">
              <a:solidFill>
                <a:srgbClr val="000099"/>
              </a:solidFill>
            </a:endParaRPr>
          </a:p>
          <a:p>
            <a:pPr algn="just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solidFill>
                  <a:srgbClr val="000099"/>
                </a:solidFill>
              </a:rPr>
              <a:t> </a:t>
            </a:r>
            <a:r>
              <a:rPr lang="zh-CN" altLang="en-US" sz="2000" dirty="0">
                <a:solidFill>
                  <a:srgbClr val="000099"/>
                </a:solidFill>
                <a:latin typeface="宋体" panose="02010600030101010101" pitchFamily="2" charset="-122"/>
              </a:rPr>
              <a:t>同步</a:t>
            </a:r>
            <a:r>
              <a:rPr lang="en-US" altLang="zh-CN" sz="2000" dirty="0">
                <a:solidFill>
                  <a:srgbClr val="0000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000" dirty="0">
                <a:solidFill>
                  <a:srgbClr val="000099"/>
                </a:solidFill>
                <a:latin typeface="宋体" panose="02010600030101010101" pitchFamily="2" charset="-122"/>
              </a:rPr>
              <a:t>位二进制</a:t>
            </a:r>
            <a:r>
              <a:rPr lang="en-US" altLang="zh-CN" sz="2000" dirty="0">
                <a:solidFill>
                  <a:srgbClr val="00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dirty="0">
                <a:solidFill>
                  <a:srgbClr val="000099"/>
                </a:solidFill>
                <a:latin typeface="宋体" panose="02010600030101010101" pitchFamily="2" charset="-122"/>
              </a:rPr>
              <a:t>同步十进制加法计数器</a:t>
            </a:r>
            <a:r>
              <a:rPr lang="zh-CN" altLang="en-US" sz="2000" dirty="0">
                <a:solidFill>
                  <a:srgbClr val="000099"/>
                </a:solidFill>
              </a:rPr>
              <a:t> </a:t>
            </a:r>
            <a:endParaRPr lang="zh-CN" altLang="en-US" sz="2000" dirty="0">
              <a:solidFill>
                <a:srgbClr val="000099"/>
              </a:solidFill>
            </a:endParaRPr>
          </a:p>
        </p:txBody>
      </p:sp>
      <p:graphicFrame>
        <p:nvGraphicFramePr>
          <p:cNvPr id="1246220" name="Object 12"/>
          <p:cNvGraphicFramePr>
            <a:graphicFrameLocks noChangeAspect="1"/>
          </p:cNvGraphicFramePr>
          <p:nvPr/>
        </p:nvGraphicFramePr>
        <p:xfrm>
          <a:off x="5486400" y="1143000"/>
          <a:ext cx="2530475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位图图像" r:id="rId3" imgW="3438525" imgH="3752850" progId="PBrush">
                  <p:embed/>
                </p:oleObj>
              </mc:Choice>
              <mc:Fallback>
                <p:oleObj name="位图图像" r:id="rId3" imgW="3438525" imgH="3752850" progId="PBrush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143000"/>
                        <a:ext cx="2530475" cy="276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CC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/>
          <p:nvPr/>
        </p:nvGrpSpPr>
        <p:grpSpPr bwMode="auto">
          <a:xfrm>
            <a:off x="5508625" y="1557338"/>
            <a:ext cx="2228850" cy="1684337"/>
            <a:chOff x="2682" y="1558"/>
            <a:chExt cx="1404" cy="1061"/>
          </a:xfrm>
        </p:grpSpPr>
        <p:sp>
          <p:nvSpPr>
            <p:cNvPr id="96268" name="Rectangle 14"/>
            <p:cNvSpPr>
              <a:spLocks noChangeArrowheads="1"/>
            </p:cNvSpPr>
            <p:nvPr/>
          </p:nvSpPr>
          <p:spPr bwMode="auto">
            <a:xfrm>
              <a:off x="2834" y="1755"/>
              <a:ext cx="1153" cy="668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69" name="Line 15"/>
            <p:cNvSpPr>
              <a:spLocks noChangeShapeType="1"/>
            </p:cNvSpPr>
            <p:nvPr/>
          </p:nvSpPr>
          <p:spPr bwMode="auto">
            <a:xfrm flipH="1">
              <a:off x="2978" y="1559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0" name="Line 16"/>
            <p:cNvSpPr>
              <a:spLocks noChangeShapeType="1"/>
            </p:cNvSpPr>
            <p:nvPr/>
          </p:nvSpPr>
          <p:spPr bwMode="auto">
            <a:xfrm flipH="1">
              <a:off x="3169" y="1558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1" name="Line 17"/>
            <p:cNvSpPr>
              <a:spLocks noChangeShapeType="1"/>
            </p:cNvSpPr>
            <p:nvPr/>
          </p:nvSpPr>
          <p:spPr bwMode="auto">
            <a:xfrm flipH="1">
              <a:off x="3410" y="1559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2" name="Line 18"/>
            <p:cNvSpPr>
              <a:spLocks noChangeShapeType="1"/>
            </p:cNvSpPr>
            <p:nvPr/>
          </p:nvSpPr>
          <p:spPr bwMode="auto">
            <a:xfrm flipH="1">
              <a:off x="3554" y="1559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3" name="Line 19"/>
            <p:cNvSpPr>
              <a:spLocks noChangeShapeType="1"/>
            </p:cNvSpPr>
            <p:nvPr/>
          </p:nvSpPr>
          <p:spPr bwMode="auto">
            <a:xfrm flipH="1">
              <a:off x="3698" y="1559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4" name="Line 20"/>
            <p:cNvSpPr>
              <a:spLocks noChangeShapeType="1"/>
            </p:cNvSpPr>
            <p:nvPr/>
          </p:nvSpPr>
          <p:spPr bwMode="auto">
            <a:xfrm flipH="1">
              <a:off x="3843" y="1559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5" name="Line 21"/>
            <p:cNvSpPr>
              <a:spLocks noChangeShapeType="1"/>
            </p:cNvSpPr>
            <p:nvPr/>
          </p:nvSpPr>
          <p:spPr bwMode="auto">
            <a:xfrm flipH="1">
              <a:off x="3842" y="2423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6" name="Line 22"/>
            <p:cNvSpPr>
              <a:spLocks noChangeShapeType="1"/>
            </p:cNvSpPr>
            <p:nvPr/>
          </p:nvSpPr>
          <p:spPr bwMode="auto">
            <a:xfrm flipH="1">
              <a:off x="3697" y="2423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7" name="Line 23"/>
            <p:cNvSpPr>
              <a:spLocks noChangeShapeType="1"/>
            </p:cNvSpPr>
            <p:nvPr/>
          </p:nvSpPr>
          <p:spPr bwMode="auto">
            <a:xfrm flipH="1">
              <a:off x="3553" y="2423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8" name="Line 24"/>
            <p:cNvSpPr>
              <a:spLocks noChangeShapeType="1"/>
            </p:cNvSpPr>
            <p:nvPr/>
          </p:nvSpPr>
          <p:spPr bwMode="auto">
            <a:xfrm flipH="1">
              <a:off x="3410" y="2423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79" name="Line 25"/>
            <p:cNvSpPr>
              <a:spLocks noChangeShapeType="1"/>
            </p:cNvSpPr>
            <p:nvPr/>
          </p:nvSpPr>
          <p:spPr bwMode="auto">
            <a:xfrm flipH="1">
              <a:off x="3027" y="2423"/>
              <a:ext cx="1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80" name="Line 26"/>
            <p:cNvSpPr>
              <a:spLocks noChangeShapeType="1"/>
            </p:cNvSpPr>
            <p:nvPr/>
          </p:nvSpPr>
          <p:spPr bwMode="auto">
            <a:xfrm>
              <a:off x="2682" y="1995"/>
              <a:ext cx="1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81" name="Line 27"/>
            <p:cNvSpPr>
              <a:spLocks noChangeShapeType="1"/>
            </p:cNvSpPr>
            <p:nvPr/>
          </p:nvSpPr>
          <p:spPr bwMode="auto">
            <a:xfrm>
              <a:off x="2682" y="2186"/>
              <a:ext cx="1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82" name="Line 28"/>
            <p:cNvSpPr>
              <a:spLocks noChangeShapeType="1"/>
            </p:cNvSpPr>
            <p:nvPr/>
          </p:nvSpPr>
          <p:spPr bwMode="auto">
            <a:xfrm>
              <a:off x="3987" y="2090"/>
              <a:ext cx="9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6283" name="Group 29"/>
            <p:cNvGrpSpPr/>
            <p:nvPr/>
          </p:nvGrpSpPr>
          <p:grpSpPr bwMode="auto">
            <a:xfrm>
              <a:off x="3270" y="1732"/>
              <a:ext cx="729" cy="214"/>
              <a:chOff x="3270" y="1759"/>
              <a:chExt cx="729" cy="214"/>
            </a:xfrm>
          </p:grpSpPr>
          <p:sp>
            <p:nvSpPr>
              <p:cNvPr id="96295" name="Text Box 30"/>
              <p:cNvSpPr txBox="1">
                <a:spLocks noChangeArrowheads="1"/>
              </p:cNvSpPr>
              <p:nvPr/>
            </p:nvSpPr>
            <p:spPr bwMode="auto">
              <a:xfrm>
                <a:off x="3270" y="1760"/>
                <a:ext cx="293" cy="212"/>
              </a:xfrm>
              <a:prstGeom prst="rect">
                <a:avLst/>
              </a:prstGeom>
              <a:noFill/>
              <a:ln w="25400" algn="ctr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6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D</a:t>
                </a:r>
                <a:r>
                  <a:rPr kumimoji="0" lang="en-US" altLang="zh-CN" sz="1600" baseline="-250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3</a:t>
                </a:r>
                <a:endParaRPr kumimoji="0" lang="en-US" altLang="zh-CN" sz="1600" baseline="-250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96296" name="Text Box 31"/>
              <p:cNvSpPr txBox="1">
                <a:spLocks noChangeArrowheads="1"/>
              </p:cNvSpPr>
              <p:nvPr/>
            </p:nvSpPr>
            <p:spPr bwMode="auto">
              <a:xfrm>
                <a:off x="3417" y="1761"/>
                <a:ext cx="293" cy="212"/>
              </a:xfrm>
              <a:prstGeom prst="rect">
                <a:avLst/>
              </a:prstGeom>
              <a:noFill/>
              <a:ln w="25400" algn="ctr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6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D</a:t>
                </a:r>
                <a:r>
                  <a:rPr kumimoji="0" lang="en-US" altLang="zh-CN" sz="1600" baseline="-250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2</a:t>
                </a:r>
                <a:endParaRPr kumimoji="0" lang="en-US" altLang="zh-CN" sz="1600" baseline="-250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96297" name="Text Box 32"/>
              <p:cNvSpPr txBox="1">
                <a:spLocks noChangeArrowheads="1"/>
              </p:cNvSpPr>
              <p:nvPr/>
            </p:nvSpPr>
            <p:spPr bwMode="auto">
              <a:xfrm>
                <a:off x="3563" y="1759"/>
                <a:ext cx="293" cy="212"/>
              </a:xfrm>
              <a:prstGeom prst="rect">
                <a:avLst/>
              </a:prstGeom>
              <a:noFill/>
              <a:ln w="25400" algn="ctr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6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D</a:t>
                </a:r>
                <a:r>
                  <a:rPr kumimoji="0" lang="en-US" altLang="zh-CN" sz="1600" baseline="-250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1</a:t>
                </a:r>
                <a:endParaRPr kumimoji="0" lang="en-US" altLang="zh-CN" sz="1600" baseline="-250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96298" name="Text Box 33"/>
              <p:cNvSpPr txBox="1">
                <a:spLocks noChangeArrowheads="1"/>
              </p:cNvSpPr>
              <p:nvPr/>
            </p:nvSpPr>
            <p:spPr bwMode="auto">
              <a:xfrm>
                <a:off x="3706" y="1759"/>
                <a:ext cx="293" cy="212"/>
              </a:xfrm>
              <a:prstGeom prst="rect">
                <a:avLst/>
              </a:prstGeom>
              <a:noFill/>
              <a:ln w="25400" algn="ctr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0" lang="en-US" altLang="zh-CN" sz="16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D</a:t>
                </a:r>
                <a:r>
                  <a:rPr kumimoji="0" lang="en-US" altLang="zh-CN" sz="1600" baseline="-250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0</a:t>
                </a:r>
                <a:endParaRPr kumimoji="0" lang="en-US" altLang="zh-CN" sz="1600" baseline="-250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</p:grpSp>
        <p:grpSp>
          <p:nvGrpSpPr>
            <p:cNvPr id="96284" name="Group 34"/>
            <p:cNvGrpSpPr/>
            <p:nvPr/>
          </p:nvGrpSpPr>
          <p:grpSpPr bwMode="auto">
            <a:xfrm>
              <a:off x="3270" y="2215"/>
              <a:ext cx="729" cy="214"/>
              <a:chOff x="3270" y="1759"/>
              <a:chExt cx="729" cy="214"/>
            </a:xfrm>
          </p:grpSpPr>
          <p:sp>
            <p:nvSpPr>
              <p:cNvPr id="96291" name="Text Box 35"/>
              <p:cNvSpPr txBox="1">
                <a:spLocks noChangeArrowheads="1"/>
              </p:cNvSpPr>
              <p:nvPr/>
            </p:nvSpPr>
            <p:spPr bwMode="auto">
              <a:xfrm>
                <a:off x="3270" y="1760"/>
                <a:ext cx="293" cy="212"/>
              </a:xfrm>
              <a:prstGeom prst="rect">
                <a:avLst/>
              </a:prstGeom>
              <a:noFill/>
              <a:ln w="25400" algn="ctr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0" lang="en-US" altLang="zh-CN" sz="16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Q</a:t>
                </a:r>
                <a:r>
                  <a:rPr kumimoji="0" lang="en-US" altLang="zh-CN" sz="1600" baseline="-250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3</a:t>
                </a:r>
                <a:endParaRPr kumimoji="0" lang="en-US" altLang="zh-CN" sz="2400" b="0">
                  <a:solidFill>
                    <a:schemeClr val="tx1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96292" name="Text Box 36"/>
              <p:cNvSpPr txBox="1">
                <a:spLocks noChangeArrowheads="1"/>
              </p:cNvSpPr>
              <p:nvPr/>
            </p:nvSpPr>
            <p:spPr bwMode="auto">
              <a:xfrm>
                <a:off x="3417" y="1761"/>
                <a:ext cx="293" cy="212"/>
              </a:xfrm>
              <a:prstGeom prst="rect">
                <a:avLst/>
              </a:prstGeom>
              <a:noFill/>
              <a:ln w="25400" algn="ctr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0" lang="en-US" altLang="zh-CN" sz="16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Q</a:t>
                </a:r>
                <a:r>
                  <a:rPr kumimoji="0" lang="en-US" altLang="zh-CN" sz="1600" baseline="-250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2</a:t>
                </a:r>
                <a:endParaRPr kumimoji="0" lang="en-US" altLang="zh-CN" sz="2400" b="0">
                  <a:solidFill>
                    <a:schemeClr val="tx1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96293" name="Text Box 37"/>
              <p:cNvSpPr txBox="1">
                <a:spLocks noChangeArrowheads="1"/>
              </p:cNvSpPr>
              <p:nvPr/>
            </p:nvSpPr>
            <p:spPr bwMode="auto">
              <a:xfrm>
                <a:off x="3563" y="1759"/>
                <a:ext cx="293" cy="212"/>
              </a:xfrm>
              <a:prstGeom prst="rect">
                <a:avLst/>
              </a:prstGeom>
              <a:noFill/>
              <a:ln w="25400" algn="ctr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0" lang="en-US" altLang="zh-CN" sz="16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Q</a:t>
                </a:r>
                <a:r>
                  <a:rPr kumimoji="0" lang="en-US" altLang="zh-CN" sz="1600" baseline="-250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1</a:t>
                </a:r>
                <a:endParaRPr kumimoji="0" lang="en-US" altLang="zh-CN" sz="2400" b="0">
                  <a:solidFill>
                    <a:schemeClr val="tx1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96294" name="Text Box 38"/>
              <p:cNvSpPr txBox="1">
                <a:spLocks noChangeArrowheads="1"/>
              </p:cNvSpPr>
              <p:nvPr/>
            </p:nvSpPr>
            <p:spPr bwMode="auto">
              <a:xfrm>
                <a:off x="3706" y="1759"/>
                <a:ext cx="293" cy="212"/>
              </a:xfrm>
              <a:prstGeom prst="rect">
                <a:avLst/>
              </a:prstGeom>
              <a:noFill/>
              <a:ln w="25400" algn="ctr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kumimoji="0" lang="en-US" altLang="zh-CN" sz="16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Q</a:t>
                </a:r>
                <a:r>
                  <a:rPr kumimoji="0" lang="en-US" altLang="zh-CN" sz="1600" baseline="-25000">
                    <a:solidFill>
                      <a:srgbClr val="FF0000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0</a:t>
                </a:r>
                <a:endParaRPr kumimoji="0" lang="en-US" altLang="zh-CN" sz="2400" b="0">
                  <a:solidFill>
                    <a:schemeClr val="tx1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</p:grpSp>
        <p:sp>
          <p:nvSpPr>
            <p:cNvPr id="96285" name="Text Box 39"/>
            <p:cNvSpPr txBox="1">
              <a:spLocks noChangeArrowheads="1"/>
            </p:cNvSpPr>
            <p:nvPr/>
          </p:nvSpPr>
          <p:spPr bwMode="auto">
            <a:xfrm>
              <a:off x="3762" y="1980"/>
              <a:ext cx="293" cy="212"/>
            </a:xfrm>
            <a:prstGeom prst="rect">
              <a:avLst/>
            </a:prstGeom>
            <a:noFill/>
            <a:ln w="25400" algn="ctr">
              <a:noFill/>
              <a:miter lim="800000"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sz="1600">
                  <a:solidFill>
                    <a:srgbClr val="0000FF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C</a:t>
              </a:r>
              <a:r>
                <a:rPr kumimoji="0" lang="en-US" altLang="zh-CN" sz="1600" baseline="-25000">
                  <a:solidFill>
                    <a:srgbClr val="0000FF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O</a:t>
              </a:r>
              <a:endParaRPr kumimoji="0" lang="en-US" altLang="zh-CN" sz="2400" b="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96286" name="Text Box 40"/>
            <p:cNvSpPr txBox="1">
              <a:spLocks noChangeArrowheads="1"/>
            </p:cNvSpPr>
            <p:nvPr/>
          </p:nvSpPr>
          <p:spPr bwMode="auto">
            <a:xfrm>
              <a:off x="2792" y="1739"/>
              <a:ext cx="516" cy="212"/>
            </a:xfrm>
            <a:prstGeom prst="rect">
              <a:avLst/>
            </a:prstGeom>
            <a:noFill/>
            <a:ln w="25400" algn="ctr">
              <a:noFill/>
              <a:miter lim="800000"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sz="1600">
                  <a:solidFill>
                    <a:srgbClr val="0000FF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CT</a:t>
              </a:r>
              <a:r>
                <a:rPr kumimoji="0" lang="en-US" altLang="zh-CN" sz="1600" baseline="-25000">
                  <a:solidFill>
                    <a:srgbClr val="0000FF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P</a:t>
              </a:r>
              <a:endParaRPr kumimoji="0" lang="en-US" altLang="zh-CN" sz="2400" b="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96287" name="Text Box 41"/>
            <p:cNvSpPr txBox="1">
              <a:spLocks noChangeArrowheads="1"/>
            </p:cNvSpPr>
            <p:nvPr/>
          </p:nvSpPr>
          <p:spPr bwMode="auto">
            <a:xfrm>
              <a:off x="2792" y="1888"/>
              <a:ext cx="516" cy="212"/>
            </a:xfrm>
            <a:prstGeom prst="rect">
              <a:avLst/>
            </a:prstGeom>
            <a:noFill/>
            <a:ln w="25400" algn="ctr">
              <a:noFill/>
              <a:miter lim="800000"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sz="1600">
                  <a:solidFill>
                    <a:srgbClr val="0000FF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CT</a:t>
              </a:r>
              <a:r>
                <a:rPr kumimoji="0" lang="en-US" altLang="zh-CN" sz="1600" baseline="-25000">
                  <a:solidFill>
                    <a:srgbClr val="0000FF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T</a:t>
              </a:r>
              <a:endParaRPr kumimoji="0" lang="en-US" altLang="zh-CN" sz="2400" b="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graphicFrame>
          <p:nvGraphicFramePr>
            <p:cNvPr id="96260" name="Object 42"/>
            <p:cNvGraphicFramePr>
              <a:graphicFrameLocks noChangeAspect="1"/>
            </p:cNvGraphicFramePr>
            <p:nvPr/>
          </p:nvGraphicFramePr>
          <p:xfrm>
            <a:off x="2834" y="2085"/>
            <a:ext cx="229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" name="Equation" r:id="rId5" imgW="3915410" imgH="3503295" progId="Equation.DSMT4">
                    <p:embed/>
                  </p:oleObj>
                </mc:Choice>
                <mc:Fallback>
                  <p:oleObj name="Equation" r:id="rId5" imgW="3915410" imgH="3503295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4" y="2085"/>
                          <a:ext cx="229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261" name="Object 43"/>
            <p:cNvGraphicFramePr>
              <a:graphicFrameLocks noChangeAspect="1"/>
            </p:cNvGraphicFramePr>
            <p:nvPr/>
          </p:nvGraphicFramePr>
          <p:xfrm>
            <a:off x="3058" y="1745"/>
            <a:ext cx="241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3" name="Equation" r:id="rId7" imgW="4121150" imgH="3296920" progId="Equation.DSMT4">
                    <p:embed/>
                  </p:oleObj>
                </mc:Choice>
                <mc:Fallback>
                  <p:oleObj name="Equation" r:id="rId7" imgW="4121150" imgH="329692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" y="1745"/>
                          <a:ext cx="241" cy="1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288" name="Text Box 44"/>
            <p:cNvSpPr txBox="1">
              <a:spLocks noChangeArrowheads="1"/>
            </p:cNvSpPr>
            <p:nvPr/>
          </p:nvSpPr>
          <p:spPr bwMode="auto">
            <a:xfrm>
              <a:off x="3115" y="1944"/>
              <a:ext cx="830" cy="288"/>
            </a:xfrm>
            <a:prstGeom prst="rect">
              <a:avLst/>
            </a:prstGeom>
            <a:noFill/>
            <a:ln w="25400" algn="ctr">
              <a:noFill/>
              <a:miter lim="800000"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0" lang="en-US" altLang="zh-CN" sz="2400" b="0">
                  <a:solidFill>
                    <a:schemeClr val="tx1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74161</a:t>
              </a:r>
              <a:endParaRPr kumimoji="0"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96289" name="Line 45"/>
            <p:cNvSpPr>
              <a:spLocks noChangeShapeType="1"/>
            </p:cNvSpPr>
            <p:nvPr/>
          </p:nvSpPr>
          <p:spPr bwMode="auto">
            <a:xfrm flipV="1">
              <a:off x="2979" y="2351"/>
              <a:ext cx="49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290" name="Line 46"/>
            <p:cNvSpPr>
              <a:spLocks noChangeShapeType="1"/>
            </p:cNvSpPr>
            <p:nvPr/>
          </p:nvSpPr>
          <p:spPr bwMode="auto">
            <a:xfrm>
              <a:off x="3026" y="2349"/>
              <a:ext cx="55" cy="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cxnSp>
        <p:nvCxnSpPr>
          <p:cNvPr id="44" name="直接连接符 43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同步集成计数器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4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4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246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46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6217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28" y="980728"/>
            <a:ext cx="7668344" cy="4662242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同步集成计数器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634" name="Text Box 2"/>
          <p:cNvSpPr txBox="1">
            <a:spLocks noChangeArrowheads="1"/>
          </p:cNvSpPr>
          <p:nvPr/>
        </p:nvSpPr>
        <p:spPr bwMode="auto">
          <a:xfrm>
            <a:off x="296863" y="1268413"/>
            <a:ext cx="53276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 eaLnBrk="0" hangingPunct="0"/>
            <a:r>
              <a:rPr kumimoji="0" lang="zh-CN" altLang="en-US" sz="2400" dirty="0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例 用</a:t>
            </a:r>
            <a:r>
              <a:rPr kumimoji="0" lang="en-US" altLang="zh-CN" sz="2400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74161</a:t>
            </a:r>
            <a:r>
              <a:rPr kumimoji="0" lang="zh-CN" altLang="en-US" sz="2400" dirty="0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组成十进制</a:t>
            </a:r>
            <a:r>
              <a:rPr kumimoji="0" lang="en-US" altLang="zh-CN" sz="2400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(N=10)</a:t>
            </a:r>
            <a:r>
              <a:rPr kumimoji="0" lang="zh-CN" altLang="en-US" sz="2400" dirty="0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计数器</a:t>
            </a:r>
            <a:endParaRPr kumimoji="0" lang="zh-CN" altLang="en-US" sz="2400" dirty="0">
              <a:solidFill>
                <a:schemeClr val="hlin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33635" name="Text Box 3"/>
          <p:cNvSpPr txBox="1">
            <a:spLocks noChangeArrowheads="1"/>
          </p:cNvSpPr>
          <p:nvPr/>
        </p:nvSpPr>
        <p:spPr bwMode="auto">
          <a:xfrm>
            <a:off x="222250" y="2049463"/>
            <a:ext cx="8715375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 eaLnBrk="0" hangingPunct="0"/>
            <a:r>
              <a:rPr kumimoji="0" lang="en-US" altLang="zh-CN" sz="2400" b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kumimoji="0" lang="zh-CN" altLang="en-US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然后作跳过六个状态</a:t>
            </a:r>
            <a:r>
              <a:rPr kumimoji="0" lang="zh-CN" altLang="en-US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</a:t>
            </a:r>
            <a:r>
              <a:rPr kumimoji="0" lang="en-US" altLang="zh-CN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M-N =16-10=6</a:t>
            </a:r>
            <a:r>
              <a:rPr kumimoji="0" lang="zh-CN" altLang="en-US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）</a:t>
            </a:r>
            <a:r>
              <a:rPr kumimoji="0" lang="zh-CN" altLang="en-US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的十进制计数器，将模</a:t>
            </a:r>
            <a:r>
              <a:rPr kumimoji="0" lang="en-US" altLang="zh-CN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M</a:t>
            </a:r>
            <a:r>
              <a:rPr kumimoji="0" lang="zh-CN" altLang="en-US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计数器变为模</a:t>
            </a:r>
            <a:r>
              <a:rPr kumimoji="0" lang="en-US" altLang="zh-CN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N</a:t>
            </a:r>
            <a:r>
              <a:rPr kumimoji="0" lang="zh-CN" altLang="en-US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计数器。</a:t>
            </a:r>
            <a:endParaRPr kumimoji="0" lang="zh-CN" altLang="en-US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33636" name="Text Box 4"/>
          <p:cNvSpPr txBox="1">
            <a:spLocks noChangeArrowheads="1"/>
          </p:cNvSpPr>
          <p:nvPr/>
        </p:nvSpPr>
        <p:spPr bwMode="auto">
          <a:xfrm>
            <a:off x="296863" y="1697038"/>
            <a:ext cx="855662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解：</a:t>
            </a:r>
            <a:endParaRPr kumimoji="0" lang="zh-CN" altLang="en-US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733637" name="Rectangle 5"/>
          <p:cNvSpPr>
            <a:spLocks noChangeArrowheads="1"/>
          </p:cNvSpPr>
          <p:nvPr/>
        </p:nvSpPr>
        <p:spPr bwMode="auto">
          <a:xfrm>
            <a:off x="715963" y="1681163"/>
            <a:ext cx="3584575" cy="45720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0"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</a:t>
            </a:r>
            <a:r>
              <a:rPr kumimoji="0" lang="zh-CN" altLang="en-US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先将</a:t>
            </a:r>
            <a:r>
              <a:rPr kumimoji="0" lang="en-US" altLang="zh-CN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74161</a:t>
            </a:r>
            <a:r>
              <a:rPr kumimoji="0" lang="zh-CN" altLang="en-US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接成</a:t>
            </a:r>
            <a:r>
              <a:rPr kumimoji="0" lang="en-US" altLang="zh-CN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M16</a:t>
            </a:r>
            <a:r>
              <a:rPr kumimoji="0" lang="zh-CN" altLang="en-US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计数器，</a:t>
            </a:r>
            <a:endParaRPr kumimoji="0" lang="zh-CN" altLang="en-US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graphicFrame>
        <p:nvGraphicFramePr>
          <p:cNvPr id="1733638" name="Object 6"/>
          <p:cNvGraphicFramePr>
            <a:graphicFrameLocks noChangeAspect="1"/>
          </p:cNvGraphicFramePr>
          <p:nvPr/>
        </p:nvGraphicFramePr>
        <p:xfrm>
          <a:off x="4681538" y="1701800"/>
          <a:ext cx="29686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公式" r:id="rId1" imgW="24109045" imgH="3915410" progId="Equation.3">
                  <p:embed/>
                </p:oleObj>
              </mc:Choice>
              <mc:Fallback>
                <p:oleObj name="公式" r:id="rId1" imgW="24109045" imgH="391541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8" y="1701800"/>
                        <a:ext cx="2968625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3639" name="Object 7"/>
          <p:cNvGraphicFramePr>
            <a:graphicFrameLocks noChangeAspect="1"/>
          </p:cNvGraphicFramePr>
          <p:nvPr/>
        </p:nvGraphicFramePr>
        <p:xfrm>
          <a:off x="4400128" y="2395736"/>
          <a:ext cx="3124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公式" r:id="rId3" imgW="25345390" imgH="3709035" progId="Equation.3">
                  <p:embed/>
                </p:oleObj>
              </mc:Choice>
              <mc:Fallback>
                <p:oleObj name="公式" r:id="rId3" imgW="25345390" imgH="37090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128" y="2395736"/>
                        <a:ext cx="3124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3640" name="Text Box 8"/>
          <p:cNvSpPr txBox="1">
            <a:spLocks noChangeArrowheads="1"/>
          </p:cNvSpPr>
          <p:nvPr/>
        </p:nvSpPr>
        <p:spPr bwMode="auto">
          <a:xfrm>
            <a:off x="657225" y="2800350"/>
            <a:ext cx="2222500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="0" baseline="-250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3</a:t>
            </a:r>
            <a:r>
              <a:rPr kumimoji="0" lang="en-US" altLang="zh-CN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="0" baseline="-250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2</a:t>
            </a:r>
            <a:r>
              <a:rPr kumimoji="0" lang="en-US" altLang="zh-CN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="0" baseline="-250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r>
              <a:rPr kumimoji="0" lang="en-US" altLang="zh-CN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="0" baseline="-250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endParaRPr kumimoji="0" lang="en-US" altLang="zh-CN" b="0" baseline="-2500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733641" name="Text Box 9"/>
          <p:cNvSpPr txBox="1">
            <a:spLocks noChangeArrowheads="1"/>
          </p:cNvSpPr>
          <p:nvPr/>
        </p:nvSpPr>
        <p:spPr bwMode="auto">
          <a:xfrm>
            <a:off x="701675" y="3106738"/>
            <a:ext cx="1501775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0  0   0  0</a:t>
            </a:r>
            <a:endParaRPr kumimoji="0" lang="en-US" altLang="zh-CN" b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733642" name="Rectangle 10"/>
          <p:cNvSpPr>
            <a:spLocks noChangeArrowheads="1"/>
          </p:cNvSpPr>
          <p:nvPr/>
        </p:nvSpPr>
        <p:spPr bwMode="auto">
          <a:xfrm>
            <a:off x="701675" y="3422650"/>
            <a:ext cx="1238250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0  0   0  1</a:t>
            </a:r>
            <a:endParaRPr kumimoji="0" lang="en-US" altLang="zh-CN" sz="1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33643" name="Rectangle 11"/>
          <p:cNvSpPr>
            <a:spLocks noChangeArrowheads="1"/>
          </p:cNvSpPr>
          <p:nvPr/>
        </p:nvSpPr>
        <p:spPr bwMode="auto">
          <a:xfrm>
            <a:off x="701675" y="3736975"/>
            <a:ext cx="1238250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0  0   1  0</a:t>
            </a:r>
            <a:endParaRPr kumimoji="0" lang="en-US" altLang="zh-CN" sz="1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33644" name="Rectangle 12"/>
          <p:cNvSpPr>
            <a:spLocks noChangeArrowheads="1"/>
          </p:cNvSpPr>
          <p:nvPr/>
        </p:nvSpPr>
        <p:spPr bwMode="auto">
          <a:xfrm>
            <a:off x="701675" y="4322763"/>
            <a:ext cx="1238250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1  0   0  1</a:t>
            </a:r>
            <a:endParaRPr kumimoji="0" lang="en-US" altLang="zh-CN" sz="1800" b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33645" name="Rectangle 13"/>
          <p:cNvSpPr>
            <a:spLocks noChangeArrowheads="1"/>
          </p:cNvSpPr>
          <p:nvPr/>
        </p:nvSpPr>
        <p:spPr bwMode="auto">
          <a:xfrm>
            <a:off x="711200" y="4576763"/>
            <a:ext cx="1238250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wrap="none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1  0   1  0</a:t>
            </a:r>
            <a:endParaRPr kumimoji="0" lang="en-US" altLang="zh-CN" sz="1800" b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1733646" name="Rectangle 14"/>
          <p:cNvSpPr>
            <a:spLocks noChangeArrowheads="1"/>
          </p:cNvSpPr>
          <p:nvPr/>
        </p:nvSpPr>
        <p:spPr bwMode="auto">
          <a:xfrm>
            <a:off x="701675" y="5688013"/>
            <a:ext cx="1238250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1  1   1  1</a:t>
            </a:r>
            <a:endParaRPr kumimoji="0" lang="en-US" altLang="zh-CN" b="0">
              <a:solidFill>
                <a:srgbClr val="FF3300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733647" name="Rectangle 15"/>
          <p:cNvSpPr>
            <a:spLocks noChangeArrowheads="1"/>
          </p:cNvSpPr>
          <p:nvPr/>
        </p:nvSpPr>
        <p:spPr bwMode="auto">
          <a:xfrm>
            <a:off x="701675" y="4908550"/>
            <a:ext cx="1238250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1  0   1  1</a:t>
            </a:r>
            <a:endParaRPr kumimoji="0" lang="en-US" altLang="zh-CN" b="0">
              <a:solidFill>
                <a:srgbClr val="FF3300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733648" name="Text Box 16"/>
          <p:cNvSpPr txBox="1">
            <a:spLocks noChangeArrowheads="1"/>
          </p:cNvSpPr>
          <p:nvPr/>
        </p:nvSpPr>
        <p:spPr bwMode="auto">
          <a:xfrm>
            <a:off x="2339975" y="2903538"/>
            <a:ext cx="6615113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☆</a:t>
            </a:r>
            <a:r>
              <a:rPr kumimoji="0" lang="en-US" altLang="zh-CN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kumimoji="0" lang="zh-CN" altLang="en-US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选择初态为</a:t>
            </a:r>
            <a:r>
              <a:rPr kumimoji="0" lang="en-US" altLang="zh-CN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，</a:t>
            </a:r>
            <a:r>
              <a:rPr kumimoji="0" lang="en-US" altLang="zh-CN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en-US" altLang="zh-CN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~9</a:t>
            </a:r>
            <a:r>
              <a:rPr kumimoji="0" lang="zh-CN" altLang="en-US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为有效状态，</a:t>
            </a:r>
            <a:r>
              <a:rPr kumimoji="0" lang="en-US" altLang="zh-CN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10~15</a:t>
            </a:r>
            <a:r>
              <a:rPr kumimoji="0" lang="zh-CN" altLang="en-US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Arial" panose="020B0604020202020204" pitchFamily="34" charset="0"/>
              </a:rPr>
              <a:t>为无效状态。</a:t>
            </a:r>
            <a:endParaRPr kumimoji="0" lang="zh-CN" altLang="en-US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33649" name="Text Box 17"/>
          <p:cNvSpPr txBox="1">
            <a:spLocks noChangeArrowheads="1"/>
          </p:cNvSpPr>
          <p:nvPr/>
        </p:nvSpPr>
        <p:spPr bwMode="auto">
          <a:xfrm>
            <a:off x="2268538" y="3629893"/>
            <a:ext cx="6615112" cy="13112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0" lang="en-US" altLang="zh-CN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☆</a:t>
            </a:r>
            <a:r>
              <a:rPr kumimoji="0" lang="en-US" altLang="zh-CN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当输入十个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CP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脉冲，</a:t>
            </a:r>
            <a:r>
              <a:rPr kumimoji="0"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25000" dirty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3</a:t>
            </a:r>
            <a:r>
              <a:rPr kumimoji="0"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25000" dirty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2</a:t>
            </a:r>
            <a:r>
              <a:rPr kumimoji="0"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25000" dirty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r>
              <a:rPr kumimoji="0"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25000" dirty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en-US" altLang="zh-CN" dirty="0">
                <a:solidFill>
                  <a:srgbClr val="FF33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=1010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时，用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1010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作反馈，使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/CR=0,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强制计数器置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。</a:t>
            </a:r>
            <a:r>
              <a:rPr kumimoji="0"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强制置</a:t>
            </a:r>
            <a:r>
              <a:rPr kumimoji="0"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信号是异步置</a:t>
            </a:r>
            <a:r>
              <a:rPr kumimoji="0"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，与计数脉冲</a:t>
            </a:r>
            <a:r>
              <a:rPr kumimoji="0"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CP</a:t>
            </a:r>
            <a:r>
              <a:rPr kumimoji="0"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无关。因而</a:t>
            </a:r>
            <a:r>
              <a:rPr kumimoji="0" lang="en-US" altLang="zh-CN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1010</a:t>
            </a:r>
            <a:r>
              <a:rPr kumimoji="0"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这个状态不计算在主循环内。</a:t>
            </a:r>
            <a:endParaRPr kumimoji="0" lang="zh-CN" altLang="en-US" dirty="0">
              <a:solidFill>
                <a:schemeClr val="hlink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graphicFrame>
        <p:nvGraphicFramePr>
          <p:cNvPr id="1733650" name="Object 18"/>
          <p:cNvGraphicFramePr>
            <a:graphicFrameLocks noChangeAspect="1"/>
          </p:cNvGraphicFramePr>
          <p:nvPr/>
        </p:nvGraphicFramePr>
        <p:xfrm>
          <a:off x="3132138" y="5225256"/>
          <a:ext cx="2032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公式" r:id="rId5" imgW="16485235" imgH="4121150" progId="Equation.3">
                  <p:embed/>
                </p:oleObj>
              </mc:Choice>
              <mc:Fallback>
                <p:oleObj name="公式" r:id="rId5" imgW="16485235" imgH="412115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225256"/>
                        <a:ext cx="20320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3651" name="Text Box 19"/>
          <p:cNvSpPr txBox="1">
            <a:spLocks noChangeArrowheads="1"/>
          </p:cNvSpPr>
          <p:nvPr/>
        </p:nvSpPr>
        <p:spPr bwMode="auto">
          <a:xfrm>
            <a:off x="2484438" y="5624413"/>
            <a:ext cx="4252912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反馈电路是一个二输入与非门</a:t>
            </a:r>
            <a:endParaRPr kumimoji="0" lang="zh-CN" altLang="en-US" dirty="0">
              <a:solidFill>
                <a:srgbClr val="FF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04472" name="WordArt 24"/>
          <p:cNvSpPr>
            <a:spLocks noChangeArrowheads="1" noChangeShapeType="1" noTextEdit="1"/>
          </p:cNvSpPr>
          <p:nvPr/>
        </p:nvSpPr>
        <p:spPr bwMode="auto">
          <a:xfrm>
            <a:off x="3595688" y="600870"/>
            <a:ext cx="1409700" cy="4746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2800" kern="10" dirty="0">
                <a:ln w="9525">
                  <a:solidFill>
                    <a:srgbClr val="800000"/>
                  </a:solidFill>
                  <a:round/>
                </a:ln>
                <a:solidFill>
                  <a:srgbClr val="800000"/>
                </a:solidFill>
                <a:effectLst>
                  <a:outerShdw dist="35921" dir="2700000" algn="ctr" rotWithShape="0">
                    <a:srgbClr val="B2B2B2">
                      <a:alpha val="79999"/>
                    </a:srgbClr>
                  </a:outerShdw>
                </a:effectLst>
                <a:latin typeface="华文新魏" panose="02010800040101010101" charset="-122"/>
                <a:ea typeface="华文新魏" panose="02010800040101010101" charset="-122"/>
              </a:rPr>
              <a:t>设计举例</a:t>
            </a:r>
            <a:endParaRPr lang="zh-CN" altLang="en-US" sz="2800" kern="10" dirty="0">
              <a:ln w="9525">
                <a:solidFill>
                  <a:srgbClr val="800000"/>
                </a:solidFill>
                <a:round/>
              </a:ln>
              <a:solidFill>
                <a:srgbClr val="800000"/>
              </a:solidFill>
              <a:effectLst>
                <a:outerShdw dist="35921" dir="2700000" algn="ctr" rotWithShape="0">
                  <a:srgbClr val="B2B2B2">
                    <a:alpha val="79999"/>
                  </a:srgbClr>
                </a:outerShdw>
              </a:effectLst>
              <a:latin typeface="华文新魏" panose="02010800040101010101" charset="-122"/>
              <a:ea typeface="华文新魏" panose="02010800040101010101" charset="-122"/>
            </a:endParaRPr>
          </a:p>
        </p:txBody>
      </p:sp>
      <p:sp>
        <p:nvSpPr>
          <p:cNvPr id="1733657" name="Line 25"/>
          <p:cNvSpPr>
            <a:spLocks noChangeShapeType="1"/>
          </p:cNvSpPr>
          <p:nvPr/>
        </p:nvSpPr>
        <p:spPr bwMode="auto">
          <a:xfrm>
            <a:off x="876300" y="4133850"/>
            <a:ext cx="0" cy="24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3658" name="Line 26"/>
          <p:cNvSpPr>
            <a:spLocks noChangeShapeType="1"/>
          </p:cNvSpPr>
          <p:nvPr/>
        </p:nvSpPr>
        <p:spPr bwMode="auto">
          <a:xfrm>
            <a:off x="1793875" y="4132263"/>
            <a:ext cx="0" cy="24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3659" name="Line 27"/>
          <p:cNvSpPr>
            <a:spLocks noChangeShapeType="1"/>
          </p:cNvSpPr>
          <p:nvPr/>
        </p:nvSpPr>
        <p:spPr bwMode="auto">
          <a:xfrm>
            <a:off x="869950" y="5370513"/>
            <a:ext cx="0" cy="24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3660" name="Line 28"/>
          <p:cNvSpPr>
            <a:spLocks noChangeShapeType="1"/>
          </p:cNvSpPr>
          <p:nvPr/>
        </p:nvSpPr>
        <p:spPr bwMode="auto">
          <a:xfrm>
            <a:off x="1787525" y="5368925"/>
            <a:ext cx="0" cy="24447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3661" name="Line 29"/>
          <p:cNvSpPr>
            <a:spLocks noChangeShapeType="1"/>
          </p:cNvSpPr>
          <p:nvPr/>
        </p:nvSpPr>
        <p:spPr bwMode="auto">
          <a:xfrm flipH="1">
            <a:off x="522288" y="4808538"/>
            <a:ext cx="179387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3662" name="Line 30"/>
          <p:cNvSpPr>
            <a:spLocks noChangeShapeType="1"/>
          </p:cNvSpPr>
          <p:nvPr/>
        </p:nvSpPr>
        <p:spPr bwMode="auto">
          <a:xfrm flipV="1">
            <a:off x="522288" y="3311525"/>
            <a:ext cx="0" cy="14970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3663" name="Line 31"/>
          <p:cNvSpPr>
            <a:spLocks noChangeShapeType="1"/>
          </p:cNvSpPr>
          <p:nvPr/>
        </p:nvSpPr>
        <p:spPr bwMode="auto">
          <a:xfrm>
            <a:off x="522288" y="3311525"/>
            <a:ext cx="1873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3664" name="Text Box 32"/>
          <p:cNvSpPr txBox="1">
            <a:spLocks noChangeArrowheads="1"/>
          </p:cNvSpPr>
          <p:nvPr/>
        </p:nvSpPr>
        <p:spPr bwMode="auto">
          <a:xfrm>
            <a:off x="658812" y="4519613"/>
            <a:ext cx="1825621" cy="46166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sz="2400" b="0" dirty="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(              )</a:t>
            </a:r>
            <a:endParaRPr kumimoji="0" lang="en-US" altLang="zh-CN" sz="2400" b="0" dirty="0">
              <a:solidFill>
                <a:srgbClr val="0000FF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同步集成计数器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336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733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733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7336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733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733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0" fill="hold"/>
                                        <p:tgtEl>
                                          <p:spTgt spid="1733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0" fill="hold"/>
                                        <p:tgtEl>
                                          <p:spTgt spid="1733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17336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000" fill="hold"/>
                                        <p:tgtEl>
                                          <p:spTgt spid="1733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700" decel="100000" fill="hold"/>
                                        <p:tgtEl>
                                          <p:spTgt spid="1733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accel="100000" fill="hold">
                                          <p:stCondLst>
                                            <p:cond delay="2700"/>
                                          </p:stCondLst>
                                        </p:cTn>
                                        <p:tgtEl>
                                          <p:spTgt spid="1733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733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1733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7336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733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733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7336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733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1733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336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33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33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336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33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33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7336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33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33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2000"/>
                                        <p:tgtEl>
                                          <p:spTgt spid="173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2000"/>
                                        <p:tgtEl>
                                          <p:spTgt spid="173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7336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733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733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7336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733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733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7336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733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733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2000"/>
                                        <p:tgtEl>
                                          <p:spTgt spid="1733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2000"/>
                                        <p:tgtEl>
                                          <p:spTgt spid="173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7336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733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733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7336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733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733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1" dur="2000"/>
                                        <p:tgtEl>
                                          <p:spTgt spid="173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2000"/>
                                        <p:tgtEl>
                                          <p:spTgt spid="173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2000"/>
                                        <p:tgtEl>
                                          <p:spTgt spid="1733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00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2000"/>
                                        <p:tgtEl>
                                          <p:spTgt spid="1733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33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733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33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17336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1733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733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3634" grpId="0"/>
      <p:bldP spid="1733635" grpId="0"/>
      <p:bldP spid="1733636" grpId="0"/>
      <p:bldP spid="1733637" grpId="0"/>
      <p:bldP spid="1733640" grpId="0"/>
      <p:bldP spid="1733641" grpId="0"/>
      <p:bldP spid="1733642" grpId="0"/>
      <p:bldP spid="1733643" grpId="0"/>
      <p:bldP spid="1733644" grpId="0"/>
      <p:bldP spid="1733645" grpId="0"/>
      <p:bldP spid="1733646" grpId="0"/>
      <p:bldP spid="1733647" grpId="0"/>
      <p:bldP spid="1733648" grpId="0"/>
      <p:bldP spid="1733649" grpId="0"/>
      <p:bldP spid="1733651" grpId="0"/>
      <p:bldP spid="1733657" grpId="0" animBg="1"/>
      <p:bldP spid="1733658" grpId="0" animBg="1"/>
      <p:bldP spid="1733659" grpId="0" animBg="1"/>
      <p:bldP spid="1733660" grpId="0" animBg="1"/>
      <p:bldP spid="1733661" grpId="0" animBg="1"/>
      <p:bldP spid="1733662" grpId="0" animBg="1"/>
      <p:bldP spid="1733663" grpId="0" animBg="1"/>
      <p:bldP spid="173366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0" sz="1400" b="0" kern="1200" smtClean="0">
                <a:solidFill>
                  <a:schemeClr val="bg2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b="1" kern="12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b="1" kern="12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b="1" kern="12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b="1" kern="12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fld id="{3FC24C00-0DB3-4790-8F99-BE8DADA02C69}" type="slidenum">
              <a:rPr lang="en-US" altLang="zh-CN" smtClean="0"/>
            </a:fld>
            <a:endParaRPr lang="en-US" altLang="zh-CN"/>
          </a:p>
        </p:txBody>
      </p:sp>
      <p:sp>
        <p:nvSpPr>
          <p:cNvPr id="1734658" name="Text Box 2"/>
          <p:cNvSpPr txBox="1">
            <a:spLocks noChangeArrowheads="1"/>
          </p:cNvSpPr>
          <p:nvPr/>
        </p:nvSpPr>
        <p:spPr bwMode="auto">
          <a:xfrm>
            <a:off x="376238" y="980728"/>
            <a:ext cx="4826000" cy="822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 eaLnBrk="0" hangingPunct="0"/>
            <a:r>
              <a:rPr kumimoji="0" lang="en-US" altLang="zh-CN" sz="24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☆</a:t>
            </a:r>
            <a:r>
              <a:rPr kumimoji="0" lang="en-US" altLang="zh-CN" sz="24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kumimoji="0" lang="zh-CN" altLang="en-US" sz="24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为什么</a:t>
            </a:r>
            <a:r>
              <a:rPr kumimoji="0"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1010</a:t>
            </a:r>
            <a:r>
              <a:rPr kumimoji="0" lang="zh-CN" altLang="en-US" sz="240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状态不算在主循环内，用波形图说明</a:t>
            </a:r>
            <a:endParaRPr kumimoji="0" lang="zh-CN" altLang="en-US" sz="2400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5494" name="Text Box 3"/>
          <p:cNvSpPr txBox="1">
            <a:spLocks noChangeArrowheads="1"/>
          </p:cNvSpPr>
          <p:nvPr/>
        </p:nvSpPr>
        <p:spPr bwMode="auto">
          <a:xfrm>
            <a:off x="1060450" y="548680"/>
            <a:ext cx="3365500" cy="45720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最后画出原理电路图</a:t>
            </a:r>
            <a:endParaRPr kumimoji="0" lang="zh-CN" altLang="en-US" sz="2400" dirty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734660" name="Rectangle 4"/>
          <p:cNvSpPr>
            <a:spLocks noChangeArrowheads="1"/>
          </p:cNvSpPr>
          <p:nvPr/>
        </p:nvSpPr>
        <p:spPr bwMode="auto">
          <a:xfrm>
            <a:off x="395288" y="4365104"/>
            <a:ext cx="8415337" cy="137160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anchor="ctr">
            <a:spAutoFit/>
          </a:bodyPr>
          <a:lstStyle/>
          <a:p>
            <a:pPr algn="l" eaLnBrk="0" hangingPunct="0"/>
            <a:r>
              <a:rPr kumimoji="0" lang="en-US" altLang="zh-CN" sz="2400" b="0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kumimoji="0"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当第十个脉冲上升沿到达后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3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2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＝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1010,/CR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＝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。只要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/CR=0,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计数器强制置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。 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3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2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＝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1010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只维持了很短的时间，在第十个脉冲的大部分时间里， 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3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2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baseline="-4000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＝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0000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，且当第十一个脉冲到达时，计数器又计到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，所以</a:t>
            </a:r>
            <a:r>
              <a:rPr kumimoji="0"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1010</a:t>
            </a:r>
            <a:r>
              <a:rPr kumimoji="0"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只能看作暂态，不算在主循环内。</a:t>
            </a:r>
            <a:endParaRPr kumimoji="0" lang="zh-CN" altLang="en-US" dirty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734661" name="Rectangle 5"/>
          <p:cNvSpPr>
            <a:spLocks noChangeArrowheads="1"/>
          </p:cNvSpPr>
          <p:nvPr/>
        </p:nvSpPr>
        <p:spPr bwMode="auto">
          <a:xfrm>
            <a:off x="5940425" y="3429000"/>
            <a:ext cx="3024188" cy="7016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anchor="ctr">
            <a:spAutoFit/>
          </a:bodyPr>
          <a:lstStyle/>
          <a:p>
            <a:pPr algn="l" eaLnBrk="0" hangingPunct="0"/>
            <a:r>
              <a:rPr kumimoji="0" lang="zh-CN" altLang="en-US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缺点</a:t>
            </a:r>
            <a:r>
              <a:rPr kumimoji="0" lang="en-US" altLang="zh-CN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  <a:r>
              <a:rPr kumimoji="0" lang="en-US" altLang="zh-CN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/CR</a:t>
            </a:r>
            <a:r>
              <a:rPr kumimoji="0" lang="zh-CN" altLang="en-US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脉冲宽度太窄，清</a:t>
            </a:r>
            <a:r>
              <a:rPr kumimoji="0" lang="en-US" altLang="zh-CN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kumimoji="0" lang="zh-CN" altLang="en-US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不可靠。</a:t>
            </a:r>
            <a:endParaRPr kumimoji="0" lang="zh-CN" altLang="en-US">
              <a:solidFill>
                <a:schemeClr val="hlin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34663" name="Line 7"/>
          <p:cNvSpPr>
            <a:spLocks noChangeShapeType="1"/>
          </p:cNvSpPr>
          <p:nvPr/>
        </p:nvSpPr>
        <p:spPr bwMode="auto">
          <a:xfrm>
            <a:off x="7312025" y="2851150"/>
            <a:ext cx="49688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4664" name="Line 8"/>
          <p:cNvSpPr>
            <a:spLocks noChangeShapeType="1"/>
          </p:cNvSpPr>
          <p:nvPr/>
        </p:nvSpPr>
        <p:spPr bwMode="auto">
          <a:xfrm flipH="1">
            <a:off x="6856413" y="3057525"/>
            <a:ext cx="9525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9"/>
          <p:cNvGrpSpPr/>
          <p:nvPr/>
        </p:nvGrpSpPr>
        <p:grpSpPr bwMode="auto">
          <a:xfrm>
            <a:off x="7808913" y="2725738"/>
            <a:ext cx="487362" cy="431800"/>
            <a:chOff x="4919" y="1717"/>
            <a:chExt cx="307" cy="272"/>
          </a:xfrm>
        </p:grpSpPr>
        <p:grpSp>
          <p:nvGrpSpPr>
            <p:cNvPr id="105705" name="Group 10"/>
            <p:cNvGrpSpPr/>
            <p:nvPr/>
          </p:nvGrpSpPr>
          <p:grpSpPr bwMode="auto">
            <a:xfrm>
              <a:off x="4919" y="1717"/>
              <a:ext cx="258" cy="272"/>
              <a:chOff x="4919" y="1717"/>
              <a:chExt cx="258" cy="272"/>
            </a:xfrm>
          </p:grpSpPr>
          <p:sp>
            <p:nvSpPr>
              <p:cNvPr id="105707" name="Rectangle 11"/>
              <p:cNvSpPr>
                <a:spLocks noChangeArrowheads="1"/>
              </p:cNvSpPr>
              <p:nvPr/>
            </p:nvSpPr>
            <p:spPr bwMode="auto">
              <a:xfrm>
                <a:off x="4919" y="1717"/>
                <a:ext cx="199" cy="272"/>
              </a:xfrm>
              <a:prstGeom prst="rect">
                <a:avLst/>
              </a:prstGeom>
              <a:gradFill rotWithShape="1">
                <a:gsLst>
                  <a:gs pos="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path path="shape">
                  <a:fillToRect l="50000" t="50000" r="50000" b="50000"/>
                </a:path>
              </a:gradFill>
              <a:ln w="25400" algn="ctr">
                <a:solidFill>
                  <a:srgbClr val="0000FF"/>
                </a:solidFill>
                <a:miter lim="800000"/>
              </a:ln>
            </p:spPr>
            <p:txBody>
              <a:bodyPr wrap="none" anchor="ctr"/>
              <a:lstStyle/>
              <a:p>
                <a:r>
                  <a:rPr kumimoji="0" lang="en-US" altLang="zh-CN" sz="2400" b="0">
                    <a:solidFill>
                      <a:srgbClr val="0000FF"/>
                    </a:solidFill>
                    <a:latin typeface="Arial" panose="020B0604020202020204" pitchFamily="34" charset="0"/>
                    <a:ea typeface="幼圆" panose="02010509060101010101" pitchFamily="49" charset="-122"/>
                  </a:rPr>
                  <a:t>&amp;</a:t>
                </a:r>
                <a:endParaRPr kumimoji="0" lang="en-US" altLang="zh-CN" sz="2400" b="0">
                  <a:solidFill>
                    <a:srgbClr val="0000FF"/>
                  </a:solidFill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105708" name="Oval 12"/>
              <p:cNvSpPr>
                <a:spLocks noChangeAspect="1" noChangeArrowheads="1"/>
              </p:cNvSpPr>
              <p:nvPr/>
            </p:nvSpPr>
            <p:spPr bwMode="auto">
              <a:xfrm>
                <a:off x="5118" y="1820"/>
                <a:ext cx="59" cy="59"/>
              </a:xfrm>
              <a:prstGeom prst="ellipse">
                <a:avLst/>
              </a:prstGeom>
              <a:noFill/>
              <a:ln w="25400" algn="ctr">
                <a:solidFill>
                  <a:srgbClr val="0000FF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5706" name="Line 13"/>
            <p:cNvSpPr>
              <a:spLocks noChangeShapeType="1"/>
            </p:cNvSpPr>
            <p:nvPr/>
          </p:nvSpPr>
          <p:spPr bwMode="auto">
            <a:xfrm>
              <a:off x="5177" y="1849"/>
              <a:ext cx="49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34670" name="Line 14"/>
          <p:cNvSpPr>
            <a:spLocks noChangeShapeType="1"/>
          </p:cNvSpPr>
          <p:nvPr/>
        </p:nvSpPr>
        <p:spPr bwMode="auto">
          <a:xfrm flipV="1">
            <a:off x="8296275" y="1820863"/>
            <a:ext cx="0" cy="1114425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4671" name="Line 15"/>
          <p:cNvSpPr>
            <a:spLocks noChangeShapeType="1"/>
          </p:cNvSpPr>
          <p:nvPr/>
        </p:nvSpPr>
        <p:spPr bwMode="auto">
          <a:xfrm>
            <a:off x="7312025" y="2625725"/>
            <a:ext cx="0" cy="225425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4672" name="Line 16"/>
          <p:cNvSpPr>
            <a:spLocks noChangeShapeType="1"/>
          </p:cNvSpPr>
          <p:nvPr/>
        </p:nvSpPr>
        <p:spPr bwMode="auto">
          <a:xfrm>
            <a:off x="6856413" y="2625725"/>
            <a:ext cx="0" cy="431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04" name="Text Box 17"/>
          <p:cNvSpPr txBox="1">
            <a:spLocks noChangeArrowheads="1"/>
          </p:cNvSpPr>
          <p:nvPr/>
        </p:nvSpPr>
        <p:spPr bwMode="auto">
          <a:xfrm>
            <a:off x="6224588" y="2590800"/>
            <a:ext cx="563562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CP</a:t>
            </a:r>
            <a:endParaRPr kumimoji="0" lang="en-US" altLang="zh-CN" b="0">
              <a:solidFill>
                <a:srgbClr val="FF0000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05505" name="Rectangle 18"/>
          <p:cNvSpPr>
            <a:spLocks noChangeArrowheads="1"/>
          </p:cNvSpPr>
          <p:nvPr/>
        </p:nvSpPr>
        <p:spPr bwMode="auto">
          <a:xfrm>
            <a:off x="6213475" y="1392238"/>
            <a:ext cx="1830388" cy="954087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25400" algn="ctr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06" name="Line 19"/>
          <p:cNvSpPr>
            <a:spLocks noChangeShapeType="1"/>
          </p:cNvSpPr>
          <p:nvPr/>
        </p:nvSpPr>
        <p:spPr bwMode="auto">
          <a:xfrm rot="16200000" flipH="1">
            <a:off x="6096000" y="1933575"/>
            <a:ext cx="1588" cy="249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07" name="Line 20"/>
          <p:cNvSpPr>
            <a:spLocks noChangeShapeType="1"/>
          </p:cNvSpPr>
          <p:nvPr/>
        </p:nvSpPr>
        <p:spPr bwMode="auto">
          <a:xfrm flipH="1">
            <a:off x="7542213" y="2346325"/>
            <a:ext cx="1587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08" name="Line 21"/>
          <p:cNvSpPr>
            <a:spLocks noChangeShapeType="1"/>
          </p:cNvSpPr>
          <p:nvPr/>
        </p:nvSpPr>
        <p:spPr bwMode="auto">
          <a:xfrm flipH="1">
            <a:off x="7312025" y="2346325"/>
            <a:ext cx="1588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09" name="Line 22"/>
          <p:cNvSpPr>
            <a:spLocks noChangeShapeType="1"/>
          </p:cNvSpPr>
          <p:nvPr/>
        </p:nvSpPr>
        <p:spPr bwMode="auto">
          <a:xfrm flipH="1">
            <a:off x="7083425" y="2346325"/>
            <a:ext cx="1588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10" name="Line 23"/>
          <p:cNvSpPr>
            <a:spLocks noChangeShapeType="1"/>
          </p:cNvSpPr>
          <p:nvPr/>
        </p:nvSpPr>
        <p:spPr bwMode="auto">
          <a:xfrm flipH="1">
            <a:off x="6856413" y="2346325"/>
            <a:ext cx="1587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11" name="Line 24"/>
          <p:cNvSpPr>
            <a:spLocks noChangeShapeType="1"/>
          </p:cNvSpPr>
          <p:nvPr/>
        </p:nvSpPr>
        <p:spPr bwMode="auto">
          <a:xfrm flipH="1">
            <a:off x="6519863" y="2346325"/>
            <a:ext cx="1587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12" name="Line 25"/>
          <p:cNvSpPr>
            <a:spLocks noChangeShapeType="1"/>
          </p:cNvSpPr>
          <p:nvPr/>
        </p:nvSpPr>
        <p:spPr bwMode="auto">
          <a:xfrm>
            <a:off x="5972175" y="1820863"/>
            <a:ext cx="241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5513" name="Group 26"/>
          <p:cNvGrpSpPr/>
          <p:nvPr/>
        </p:nvGrpSpPr>
        <p:grpSpPr bwMode="auto">
          <a:xfrm>
            <a:off x="6651625" y="1112838"/>
            <a:ext cx="1157288" cy="585787"/>
            <a:chOff x="2019" y="935"/>
            <a:chExt cx="729" cy="369"/>
          </a:xfrm>
        </p:grpSpPr>
        <p:sp>
          <p:nvSpPr>
            <p:cNvPr id="105697" name="Line 27"/>
            <p:cNvSpPr>
              <a:spLocks noChangeShapeType="1"/>
            </p:cNvSpPr>
            <p:nvPr/>
          </p:nvSpPr>
          <p:spPr bwMode="auto">
            <a:xfrm flipH="1">
              <a:off x="2159" y="935"/>
              <a:ext cx="1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98" name="Line 28"/>
            <p:cNvSpPr>
              <a:spLocks noChangeShapeType="1"/>
            </p:cNvSpPr>
            <p:nvPr/>
          </p:nvSpPr>
          <p:spPr bwMode="auto">
            <a:xfrm flipH="1">
              <a:off x="2303" y="935"/>
              <a:ext cx="1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99" name="Line 29"/>
            <p:cNvSpPr>
              <a:spLocks noChangeShapeType="1"/>
            </p:cNvSpPr>
            <p:nvPr/>
          </p:nvSpPr>
          <p:spPr bwMode="auto">
            <a:xfrm flipH="1">
              <a:off x="2447" y="935"/>
              <a:ext cx="1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00" name="Line 30"/>
            <p:cNvSpPr>
              <a:spLocks noChangeShapeType="1"/>
            </p:cNvSpPr>
            <p:nvPr/>
          </p:nvSpPr>
          <p:spPr bwMode="auto">
            <a:xfrm flipH="1">
              <a:off x="2592" y="935"/>
              <a:ext cx="1" cy="1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701" name="Text Box 31"/>
            <p:cNvSpPr txBox="1">
              <a:spLocks noChangeArrowheads="1"/>
            </p:cNvSpPr>
            <p:nvPr/>
          </p:nvSpPr>
          <p:spPr bwMode="auto">
            <a:xfrm>
              <a:off x="2019" y="1091"/>
              <a:ext cx="293" cy="212"/>
            </a:xfrm>
            <a:prstGeom prst="rect">
              <a:avLst/>
            </a:prstGeom>
            <a:noFill/>
            <a:ln w="25400" algn="ctr">
              <a:noFill/>
              <a:miter lim="800000"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sz="16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D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3</a:t>
              </a:r>
              <a:endParaRPr kumimoji="0"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05702" name="Text Box 32"/>
            <p:cNvSpPr txBox="1">
              <a:spLocks noChangeArrowheads="1"/>
            </p:cNvSpPr>
            <p:nvPr/>
          </p:nvSpPr>
          <p:spPr bwMode="auto">
            <a:xfrm>
              <a:off x="2166" y="1092"/>
              <a:ext cx="293" cy="212"/>
            </a:xfrm>
            <a:prstGeom prst="rect">
              <a:avLst/>
            </a:prstGeom>
            <a:noFill/>
            <a:ln w="25400" algn="ctr">
              <a:noFill/>
              <a:miter lim="800000"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sz="16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D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2</a:t>
              </a:r>
              <a:endParaRPr kumimoji="0"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05703" name="Text Box 33"/>
            <p:cNvSpPr txBox="1">
              <a:spLocks noChangeArrowheads="1"/>
            </p:cNvSpPr>
            <p:nvPr/>
          </p:nvSpPr>
          <p:spPr bwMode="auto">
            <a:xfrm>
              <a:off x="2312" y="1090"/>
              <a:ext cx="293" cy="212"/>
            </a:xfrm>
            <a:prstGeom prst="rect">
              <a:avLst/>
            </a:prstGeom>
            <a:noFill/>
            <a:ln w="25400" algn="ctr">
              <a:noFill/>
              <a:miter lim="800000"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sz="16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D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1</a:t>
              </a:r>
              <a:endParaRPr kumimoji="0"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05704" name="Text Box 34"/>
            <p:cNvSpPr txBox="1">
              <a:spLocks noChangeArrowheads="1"/>
            </p:cNvSpPr>
            <p:nvPr/>
          </p:nvSpPr>
          <p:spPr bwMode="auto">
            <a:xfrm>
              <a:off x="2455" y="1090"/>
              <a:ext cx="293" cy="212"/>
            </a:xfrm>
            <a:prstGeom prst="rect">
              <a:avLst/>
            </a:prstGeom>
            <a:noFill/>
            <a:ln w="25400" algn="ctr">
              <a:noFill/>
              <a:miter lim="800000"/>
            </a:ln>
          </p:spPr>
          <p:txBody>
            <a:bodyPr>
              <a:spAutoFit/>
            </a:bodyPr>
            <a:lstStyle/>
            <a:p>
              <a:pPr algn="l"/>
              <a:r>
                <a:rPr kumimoji="0" lang="en-US" altLang="zh-CN" sz="16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D</a:t>
              </a:r>
              <a:r>
                <a:rPr kumimoji="0" lang="en-US" altLang="zh-CN" sz="1600" baseline="-25000">
                  <a:solidFill>
                    <a:srgbClr val="FF0000"/>
                  </a:solidFill>
                  <a:latin typeface="Arial" panose="020B0604020202020204" pitchFamily="34" charset="0"/>
                  <a:ea typeface="幼圆" panose="02010509060101010101" pitchFamily="49" charset="-122"/>
                </a:rPr>
                <a:t>0</a:t>
              </a:r>
              <a:endParaRPr kumimoji="0" lang="en-US" altLang="zh-CN" sz="2400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sp>
        <p:nvSpPr>
          <p:cNvPr id="105514" name="Text Box 35"/>
          <p:cNvSpPr txBox="1">
            <a:spLocks noChangeArrowheads="1"/>
          </p:cNvSpPr>
          <p:nvPr/>
        </p:nvSpPr>
        <p:spPr bwMode="auto">
          <a:xfrm>
            <a:off x="6634163" y="1965325"/>
            <a:ext cx="465137" cy="33655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kumimoji="0" lang="en-US" altLang="zh-CN" sz="160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sz="1600" baseline="-2500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3</a:t>
            </a:r>
            <a:endParaRPr kumimoji="0" lang="en-US" altLang="zh-CN" sz="2400" b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05515" name="Text Box 36"/>
          <p:cNvSpPr txBox="1">
            <a:spLocks noChangeArrowheads="1"/>
          </p:cNvSpPr>
          <p:nvPr/>
        </p:nvSpPr>
        <p:spPr bwMode="auto">
          <a:xfrm>
            <a:off x="6881813" y="1966913"/>
            <a:ext cx="465137" cy="33655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kumimoji="0" lang="en-US" altLang="zh-CN" sz="160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sz="1600" baseline="-2500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2</a:t>
            </a:r>
            <a:endParaRPr kumimoji="0" lang="en-US" altLang="zh-CN" sz="2400" b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05516" name="Text Box 37"/>
          <p:cNvSpPr txBox="1">
            <a:spLocks noChangeArrowheads="1"/>
          </p:cNvSpPr>
          <p:nvPr/>
        </p:nvSpPr>
        <p:spPr bwMode="auto">
          <a:xfrm>
            <a:off x="7142163" y="1963738"/>
            <a:ext cx="465137" cy="33655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kumimoji="0" lang="en-US" altLang="zh-CN" sz="160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sz="1600" baseline="-2500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endParaRPr kumimoji="0" lang="en-US" altLang="zh-CN" sz="2400" b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05517" name="Text Box 38"/>
          <p:cNvSpPr txBox="1">
            <a:spLocks noChangeArrowheads="1"/>
          </p:cNvSpPr>
          <p:nvPr/>
        </p:nvSpPr>
        <p:spPr bwMode="auto">
          <a:xfrm>
            <a:off x="7383463" y="1963738"/>
            <a:ext cx="465137" cy="33655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kumimoji="0" lang="en-US" altLang="zh-CN" sz="160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Q</a:t>
            </a:r>
            <a:r>
              <a:rPr kumimoji="0" lang="en-US" altLang="zh-CN" sz="1600" baseline="-2500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endParaRPr kumimoji="0" lang="en-US" altLang="zh-CN" sz="2400" b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05518" name="Text Box 39"/>
          <p:cNvSpPr txBox="1">
            <a:spLocks noChangeArrowheads="1"/>
          </p:cNvSpPr>
          <p:nvPr/>
        </p:nvSpPr>
        <p:spPr bwMode="auto">
          <a:xfrm>
            <a:off x="7659688" y="1341438"/>
            <a:ext cx="465137" cy="33655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kumimoji="0" lang="en-US" altLang="zh-CN" sz="160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C</a:t>
            </a:r>
            <a:r>
              <a:rPr kumimoji="0" lang="en-US" altLang="zh-CN" sz="1600" baseline="-2500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O</a:t>
            </a:r>
            <a:endParaRPr kumimoji="0" lang="en-US" altLang="zh-CN" sz="2400" b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05519" name="Text Box 40"/>
          <p:cNvSpPr txBox="1">
            <a:spLocks noChangeArrowheads="1"/>
          </p:cNvSpPr>
          <p:nvPr/>
        </p:nvSpPr>
        <p:spPr bwMode="auto">
          <a:xfrm>
            <a:off x="6146800" y="1412875"/>
            <a:ext cx="819150" cy="33655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kumimoji="0" lang="en-US" altLang="zh-CN" sz="160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CT</a:t>
            </a:r>
            <a:r>
              <a:rPr kumimoji="0" lang="en-US" altLang="zh-CN" sz="1600" baseline="-2500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P</a:t>
            </a:r>
            <a:endParaRPr kumimoji="0" lang="en-US" altLang="zh-CN" sz="2400" b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05520" name="Text Box 41"/>
          <p:cNvSpPr txBox="1">
            <a:spLocks noChangeArrowheads="1"/>
          </p:cNvSpPr>
          <p:nvPr/>
        </p:nvSpPr>
        <p:spPr bwMode="auto">
          <a:xfrm>
            <a:off x="6146800" y="1639888"/>
            <a:ext cx="819150" cy="336550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kumimoji="0" lang="en-US" altLang="zh-CN" sz="160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CT</a:t>
            </a:r>
            <a:r>
              <a:rPr kumimoji="0" lang="en-US" altLang="zh-CN" sz="1600" baseline="-25000">
                <a:solidFill>
                  <a:srgbClr val="0000FF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T</a:t>
            </a:r>
            <a:endParaRPr kumimoji="0" lang="en-US" altLang="zh-CN" sz="2400" b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graphicFrame>
        <p:nvGraphicFramePr>
          <p:cNvPr id="105474" name="Object 42"/>
          <p:cNvGraphicFramePr>
            <a:graphicFrameLocks noChangeAspect="1"/>
          </p:cNvGraphicFramePr>
          <p:nvPr/>
        </p:nvGraphicFramePr>
        <p:xfrm>
          <a:off x="7680325" y="1695450"/>
          <a:ext cx="3635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1" imgW="3915410" imgH="3503295" progId="Equation.DSMT4">
                  <p:embed/>
                </p:oleObj>
              </mc:Choice>
              <mc:Fallback>
                <p:oleObj name="Equation" r:id="rId1" imgW="3915410" imgH="3503295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325" y="1695450"/>
                        <a:ext cx="36353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5" name="Object 43"/>
          <p:cNvGraphicFramePr>
            <a:graphicFrameLocks noChangeAspect="1"/>
          </p:cNvGraphicFramePr>
          <p:nvPr/>
        </p:nvGraphicFramePr>
        <p:xfrm>
          <a:off x="6213475" y="1920875"/>
          <a:ext cx="382588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3" imgW="4121150" imgH="3296920" progId="Equation.DSMT4">
                  <p:embed/>
                </p:oleObj>
              </mc:Choice>
              <mc:Fallback>
                <p:oleObj name="Equation" r:id="rId3" imgW="4121150" imgH="329692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475" y="1920875"/>
                        <a:ext cx="382588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521" name="Text Box 44"/>
          <p:cNvSpPr txBox="1">
            <a:spLocks noChangeArrowheads="1"/>
          </p:cNvSpPr>
          <p:nvPr/>
        </p:nvSpPr>
        <p:spPr bwMode="auto">
          <a:xfrm>
            <a:off x="6716713" y="1662113"/>
            <a:ext cx="1317625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/>
            <a:r>
              <a:rPr kumimoji="0" lang="en-US" altLang="zh-CN" b="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74161</a:t>
            </a:r>
            <a:endParaRPr kumimoji="0" lang="en-US" altLang="zh-CN" sz="2400" b="0">
              <a:solidFill>
                <a:schemeClr val="tx1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05522" name="Line 45"/>
          <p:cNvSpPr>
            <a:spLocks noChangeShapeType="1"/>
          </p:cNvSpPr>
          <p:nvPr/>
        </p:nvSpPr>
        <p:spPr bwMode="auto">
          <a:xfrm flipV="1">
            <a:off x="6443663" y="2243138"/>
            <a:ext cx="77787" cy="1079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23" name="Line 46"/>
          <p:cNvSpPr>
            <a:spLocks noChangeShapeType="1"/>
          </p:cNvSpPr>
          <p:nvPr/>
        </p:nvSpPr>
        <p:spPr bwMode="auto">
          <a:xfrm>
            <a:off x="6518275" y="2239963"/>
            <a:ext cx="87313" cy="111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24" name="Line 47"/>
          <p:cNvSpPr>
            <a:spLocks noChangeShapeType="1"/>
          </p:cNvSpPr>
          <p:nvPr/>
        </p:nvSpPr>
        <p:spPr bwMode="auto">
          <a:xfrm>
            <a:off x="5980113" y="1585913"/>
            <a:ext cx="241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25" name="Line 48"/>
          <p:cNvSpPr>
            <a:spLocks noChangeShapeType="1"/>
          </p:cNvSpPr>
          <p:nvPr/>
        </p:nvSpPr>
        <p:spPr bwMode="auto">
          <a:xfrm>
            <a:off x="8051800" y="1822450"/>
            <a:ext cx="241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26" name="Line 49"/>
          <p:cNvSpPr>
            <a:spLocks noChangeShapeType="1"/>
          </p:cNvSpPr>
          <p:nvPr/>
        </p:nvSpPr>
        <p:spPr bwMode="auto">
          <a:xfrm>
            <a:off x="8023225" y="1585913"/>
            <a:ext cx="241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5527" name="Group 50"/>
          <p:cNvGrpSpPr/>
          <p:nvPr/>
        </p:nvGrpSpPr>
        <p:grpSpPr bwMode="auto">
          <a:xfrm>
            <a:off x="8043863" y="1749425"/>
            <a:ext cx="138112" cy="71438"/>
            <a:chOff x="2736" y="1336"/>
            <a:chExt cx="87" cy="45"/>
          </a:xfrm>
        </p:grpSpPr>
        <p:sp>
          <p:nvSpPr>
            <p:cNvPr id="105695" name="Line 51"/>
            <p:cNvSpPr>
              <a:spLocks noChangeShapeType="1"/>
            </p:cNvSpPr>
            <p:nvPr/>
          </p:nvSpPr>
          <p:spPr bwMode="auto">
            <a:xfrm flipV="1">
              <a:off x="2823" y="1336"/>
              <a:ext cx="0" cy="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96" name="Line 52"/>
            <p:cNvSpPr>
              <a:spLocks noChangeShapeType="1"/>
            </p:cNvSpPr>
            <p:nvPr/>
          </p:nvSpPr>
          <p:spPr bwMode="auto">
            <a:xfrm flipH="1">
              <a:off x="2736" y="1336"/>
              <a:ext cx="87" cy="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528" name="Line 53"/>
          <p:cNvSpPr>
            <a:spLocks noChangeShapeType="1"/>
          </p:cNvSpPr>
          <p:nvPr/>
        </p:nvSpPr>
        <p:spPr bwMode="auto">
          <a:xfrm flipV="1">
            <a:off x="5980113" y="1341438"/>
            <a:ext cx="0" cy="7159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5529" name="Group 54"/>
          <p:cNvGrpSpPr/>
          <p:nvPr/>
        </p:nvGrpSpPr>
        <p:grpSpPr bwMode="auto">
          <a:xfrm rot="10800000">
            <a:off x="6083300" y="1987550"/>
            <a:ext cx="138113" cy="71438"/>
            <a:chOff x="2736" y="1336"/>
            <a:chExt cx="87" cy="45"/>
          </a:xfrm>
        </p:grpSpPr>
        <p:sp>
          <p:nvSpPr>
            <p:cNvPr id="105693" name="Line 55"/>
            <p:cNvSpPr>
              <a:spLocks noChangeShapeType="1"/>
            </p:cNvSpPr>
            <p:nvPr/>
          </p:nvSpPr>
          <p:spPr bwMode="auto">
            <a:xfrm>
              <a:off x="2823" y="1336"/>
              <a:ext cx="0" cy="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94" name="Line 56"/>
            <p:cNvSpPr>
              <a:spLocks noChangeShapeType="1"/>
            </p:cNvSpPr>
            <p:nvPr/>
          </p:nvSpPr>
          <p:spPr bwMode="auto">
            <a:xfrm flipH="1" flipV="1">
              <a:off x="2736" y="1336"/>
              <a:ext cx="87" cy="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5530" name="Oval 57"/>
          <p:cNvSpPr>
            <a:spLocks noChangeAspect="1" noChangeArrowheads="1"/>
          </p:cNvSpPr>
          <p:nvPr/>
        </p:nvSpPr>
        <p:spPr bwMode="auto">
          <a:xfrm>
            <a:off x="5929313" y="1539875"/>
            <a:ext cx="93662" cy="93663"/>
          </a:xfrm>
          <a:prstGeom prst="ellipse">
            <a:avLst/>
          </a:prstGeom>
          <a:solidFill>
            <a:schemeClr val="tx1"/>
          </a:solidFill>
          <a:ln w="25400" algn="ctr">
            <a:noFill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31" name="Oval 58"/>
          <p:cNvSpPr>
            <a:spLocks noChangeAspect="1" noChangeArrowheads="1"/>
          </p:cNvSpPr>
          <p:nvPr/>
        </p:nvSpPr>
        <p:spPr bwMode="auto">
          <a:xfrm>
            <a:off x="5930900" y="1771650"/>
            <a:ext cx="93663" cy="93663"/>
          </a:xfrm>
          <a:prstGeom prst="ellipse">
            <a:avLst/>
          </a:prstGeom>
          <a:solidFill>
            <a:schemeClr val="tx1"/>
          </a:solidFill>
          <a:ln w="25400" algn="ctr">
            <a:noFill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32" name="Text Box 59"/>
          <p:cNvSpPr txBox="1">
            <a:spLocks noChangeArrowheads="1"/>
          </p:cNvSpPr>
          <p:nvPr/>
        </p:nvSpPr>
        <p:spPr bwMode="auto">
          <a:xfrm>
            <a:off x="5800725" y="969963"/>
            <a:ext cx="346075" cy="3968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en-US" altLang="zh-CN" b="0">
                <a:solidFill>
                  <a:srgbClr val="FF0000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1</a:t>
            </a:r>
            <a:endParaRPr kumimoji="0" lang="en-US" altLang="zh-CN" b="0">
              <a:solidFill>
                <a:srgbClr val="FF0000"/>
              </a:solidFill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grpSp>
        <p:nvGrpSpPr>
          <p:cNvPr id="7" name="Group 61"/>
          <p:cNvGrpSpPr/>
          <p:nvPr/>
        </p:nvGrpSpPr>
        <p:grpSpPr bwMode="auto">
          <a:xfrm>
            <a:off x="936625" y="2227858"/>
            <a:ext cx="4289425" cy="1793875"/>
            <a:chOff x="590" y="1816"/>
            <a:chExt cx="2702" cy="1130"/>
          </a:xfrm>
        </p:grpSpPr>
        <p:sp>
          <p:nvSpPr>
            <p:cNvPr id="105683" name="Line 62"/>
            <p:cNvSpPr>
              <a:spLocks noChangeShapeType="1"/>
            </p:cNvSpPr>
            <p:nvPr/>
          </p:nvSpPr>
          <p:spPr bwMode="auto">
            <a:xfrm>
              <a:off x="590" y="1817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84" name="Line 63"/>
            <p:cNvSpPr>
              <a:spLocks noChangeShapeType="1"/>
            </p:cNvSpPr>
            <p:nvPr/>
          </p:nvSpPr>
          <p:spPr bwMode="auto">
            <a:xfrm>
              <a:off x="890" y="1817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85" name="Line 64"/>
            <p:cNvSpPr>
              <a:spLocks noChangeShapeType="1"/>
            </p:cNvSpPr>
            <p:nvPr/>
          </p:nvSpPr>
          <p:spPr bwMode="auto">
            <a:xfrm>
              <a:off x="1190" y="1817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86" name="Line 65"/>
            <p:cNvSpPr>
              <a:spLocks noChangeShapeType="1"/>
            </p:cNvSpPr>
            <p:nvPr/>
          </p:nvSpPr>
          <p:spPr bwMode="auto">
            <a:xfrm>
              <a:off x="1490" y="1823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87" name="Line 66"/>
            <p:cNvSpPr>
              <a:spLocks noChangeShapeType="1"/>
            </p:cNvSpPr>
            <p:nvPr/>
          </p:nvSpPr>
          <p:spPr bwMode="auto">
            <a:xfrm>
              <a:off x="1790" y="1816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88" name="Line 67"/>
            <p:cNvSpPr>
              <a:spLocks noChangeShapeType="1"/>
            </p:cNvSpPr>
            <p:nvPr/>
          </p:nvSpPr>
          <p:spPr bwMode="auto">
            <a:xfrm>
              <a:off x="2090" y="1816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89" name="Line 68"/>
            <p:cNvSpPr>
              <a:spLocks noChangeShapeType="1"/>
            </p:cNvSpPr>
            <p:nvPr/>
          </p:nvSpPr>
          <p:spPr bwMode="auto">
            <a:xfrm>
              <a:off x="2393" y="1823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90" name="Line 69"/>
            <p:cNvSpPr>
              <a:spLocks noChangeShapeType="1"/>
            </p:cNvSpPr>
            <p:nvPr/>
          </p:nvSpPr>
          <p:spPr bwMode="auto">
            <a:xfrm>
              <a:off x="2693" y="1823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91" name="Line 70"/>
            <p:cNvSpPr>
              <a:spLocks noChangeShapeType="1"/>
            </p:cNvSpPr>
            <p:nvPr/>
          </p:nvSpPr>
          <p:spPr bwMode="auto">
            <a:xfrm>
              <a:off x="2992" y="1816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92" name="Line 71"/>
            <p:cNvSpPr>
              <a:spLocks noChangeShapeType="1"/>
            </p:cNvSpPr>
            <p:nvPr/>
          </p:nvSpPr>
          <p:spPr bwMode="auto">
            <a:xfrm>
              <a:off x="3292" y="1823"/>
              <a:ext cx="0" cy="1123"/>
            </a:xfrm>
            <a:prstGeom prst="line">
              <a:avLst/>
            </a:prstGeom>
            <a:noFill/>
            <a:ln w="25400" cap="rnd">
              <a:solidFill>
                <a:schemeClr val="hlink"/>
              </a:solidFill>
              <a:prstDash val="sysDot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72"/>
          <p:cNvGrpSpPr/>
          <p:nvPr/>
        </p:nvGrpSpPr>
        <p:grpSpPr bwMode="auto">
          <a:xfrm>
            <a:off x="693738" y="2586633"/>
            <a:ext cx="242887" cy="1189038"/>
            <a:chOff x="437" y="2042"/>
            <a:chExt cx="153" cy="749"/>
          </a:xfrm>
        </p:grpSpPr>
        <p:sp>
          <p:nvSpPr>
            <p:cNvPr id="105678" name="Line 73"/>
            <p:cNvSpPr>
              <a:spLocks noChangeShapeType="1"/>
            </p:cNvSpPr>
            <p:nvPr/>
          </p:nvSpPr>
          <p:spPr bwMode="auto">
            <a:xfrm>
              <a:off x="437" y="2042"/>
              <a:ext cx="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79" name="Line 74"/>
            <p:cNvSpPr>
              <a:spLocks noChangeShapeType="1"/>
            </p:cNvSpPr>
            <p:nvPr/>
          </p:nvSpPr>
          <p:spPr bwMode="auto">
            <a:xfrm>
              <a:off x="437" y="2267"/>
              <a:ext cx="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80" name="Line 75"/>
            <p:cNvSpPr>
              <a:spLocks noChangeShapeType="1"/>
            </p:cNvSpPr>
            <p:nvPr/>
          </p:nvSpPr>
          <p:spPr bwMode="auto">
            <a:xfrm>
              <a:off x="437" y="2492"/>
              <a:ext cx="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81" name="Line 76"/>
            <p:cNvSpPr>
              <a:spLocks noChangeShapeType="1"/>
            </p:cNvSpPr>
            <p:nvPr/>
          </p:nvSpPr>
          <p:spPr bwMode="auto">
            <a:xfrm>
              <a:off x="437" y="2716"/>
              <a:ext cx="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82" name="Line 77"/>
            <p:cNvSpPr>
              <a:spLocks noChangeShapeType="1"/>
            </p:cNvSpPr>
            <p:nvPr/>
          </p:nvSpPr>
          <p:spPr bwMode="auto">
            <a:xfrm>
              <a:off x="437" y="2791"/>
              <a:ext cx="15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8"/>
          <p:cNvGrpSpPr/>
          <p:nvPr/>
        </p:nvGrpSpPr>
        <p:grpSpPr bwMode="auto">
          <a:xfrm>
            <a:off x="936625" y="2340571"/>
            <a:ext cx="476250" cy="1435100"/>
            <a:chOff x="590" y="1887"/>
            <a:chExt cx="300" cy="904"/>
          </a:xfrm>
        </p:grpSpPr>
        <p:sp>
          <p:nvSpPr>
            <p:cNvPr id="105672" name="Line 79"/>
            <p:cNvSpPr>
              <a:spLocks noChangeShapeType="1"/>
            </p:cNvSpPr>
            <p:nvPr/>
          </p:nvSpPr>
          <p:spPr bwMode="auto">
            <a:xfrm flipV="1">
              <a:off x="590" y="1887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73" name="Line 80"/>
            <p:cNvSpPr>
              <a:spLocks noChangeShapeType="1"/>
            </p:cNvSpPr>
            <p:nvPr/>
          </p:nvSpPr>
          <p:spPr bwMode="auto">
            <a:xfrm>
              <a:off x="590" y="1891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74" name="Line 81"/>
            <p:cNvSpPr>
              <a:spLocks noChangeShapeType="1"/>
            </p:cNvSpPr>
            <p:nvPr/>
          </p:nvSpPr>
          <p:spPr bwMode="auto">
            <a:xfrm>
              <a:off x="590" y="2267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75" name="Line 82"/>
            <p:cNvSpPr>
              <a:spLocks noChangeShapeType="1"/>
            </p:cNvSpPr>
            <p:nvPr/>
          </p:nvSpPr>
          <p:spPr bwMode="auto">
            <a:xfrm>
              <a:off x="590" y="2492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76" name="Line 83"/>
            <p:cNvSpPr>
              <a:spLocks noChangeShapeType="1"/>
            </p:cNvSpPr>
            <p:nvPr/>
          </p:nvSpPr>
          <p:spPr bwMode="auto">
            <a:xfrm>
              <a:off x="590" y="2716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77" name="Line 84"/>
            <p:cNvSpPr>
              <a:spLocks noChangeShapeType="1"/>
            </p:cNvSpPr>
            <p:nvPr/>
          </p:nvSpPr>
          <p:spPr bwMode="auto">
            <a:xfrm>
              <a:off x="590" y="2791"/>
              <a:ext cx="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85"/>
          <p:cNvGrpSpPr/>
          <p:nvPr/>
        </p:nvGrpSpPr>
        <p:grpSpPr bwMode="auto">
          <a:xfrm>
            <a:off x="1412875" y="2346921"/>
            <a:ext cx="476250" cy="1428750"/>
            <a:chOff x="890" y="1891"/>
            <a:chExt cx="300" cy="900"/>
          </a:xfrm>
        </p:grpSpPr>
        <p:sp>
          <p:nvSpPr>
            <p:cNvPr id="105665" name="Line 86"/>
            <p:cNvSpPr>
              <a:spLocks noChangeShapeType="1"/>
            </p:cNvSpPr>
            <p:nvPr/>
          </p:nvSpPr>
          <p:spPr bwMode="auto">
            <a:xfrm>
              <a:off x="890" y="1891"/>
              <a:ext cx="0" cy="1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66" name="Line 87"/>
            <p:cNvSpPr>
              <a:spLocks noChangeShapeType="1"/>
            </p:cNvSpPr>
            <p:nvPr/>
          </p:nvSpPr>
          <p:spPr bwMode="auto">
            <a:xfrm>
              <a:off x="890" y="2042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67" name="Line 88"/>
            <p:cNvSpPr>
              <a:spLocks noChangeShapeType="1"/>
            </p:cNvSpPr>
            <p:nvPr/>
          </p:nvSpPr>
          <p:spPr bwMode="auto">
            <a:xfrm flipV="1">
              <a:off x="890" y="2117"/>
              <a:ext cx="0" cy="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68" name="Line 89"/>
            <p:cNvSpPr>
              <a:spLocks noChangeShapeType="1"/>
            </p:cNvSpPr>
            <p:nvPr/>
          </p:nvSpPr>
          <p:spPr bwMode="auto">
            <a:xfrm>
              <a:off x="890" y="2117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69" name="Line 90"/>
            <p:cNvSpPr>
              <a:spLocks noChangeShapeType="1"/>
            </p:cNvSpPr>
            <p:nvPr/>
          </p:nvSpPr>
          <p:spPr bwMode="auto">
            <a:xfrm>
              <a:off x="890" y="2716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70" name="Line 91"/>
            <p:cNvSpPr>
              <a:spLocks noChangeShapeType="1"/>
            </p:cNvSpPr>
            <p:nvPr/>
          </p:nvSpPr>
          <p:spPr bwMode="auto">
            <a:xfrm>
              <a:off x="890" y="2492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71" name="Line 92"/>
            <p:cNvSpPr>
              <a:spLocks noChangeShapeType="1"/>
            </p:cNvSpPr>
            <p:nvPr/>
          </p:nvSpPr>
          <p:spPr bwMode="auto">
            <a:xfrm>
              <a:off x="890" y="2791"/>
              <a:ext cx="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93"/>
          <p:cNvGrpSpPr/>
          <p:nvPr/>
        </p:nvGrpSpPr>
        <p:grpSpPr bwMode="auto">
          <a:xfrm>
            <a:off x="1889125" y="2340571"/>
            <a:ext cx="479425" cy="1435100"/>
            <a:chOff x="1190" y="1887"/>
            <a:chExt cx="302" cy="904"/>
          </a:xfrm>
        </p:grpSpPr>
        <p:sp>
          <p:nvSpPr>
            <p:cNvPr id="105659" name="Line 94"/>
            <p:cNvSpPr>
              <a:spLocks noChangeShapeType="1"/>
            </p:cNvSpPr>
            <p:nvPr/>
          </p:nvSpPr>
          <p:spPr bwMode="auto">
            <a:xfrm flipV="1">
              <a:off x="1190" y="1887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60" name="Line 95"/>
            <p:cNvSpPr>
              <a:spLocks noChangeShapeType="1"/>
            </p:cNvSpPr>
            <p:nvPr/>
          </p:nvSpPr>
          <p:spPr bwMode="auto">
            <a:xfrm>
              <a:off x="1190" y="1891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61" name="Line 96"/>
            <p:cNvSpPr>
              <a:spLocks noChangeShapeType="1"/>
            </p:cNvSpPr>
            <p:nvPr/>
          </p:nvSpPr>
          <p:spPr bwMode="auto">
            <a:xfrm>
              <a:off x="1190" y="2117"/>
              <a:ext cx="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62" name="Line 97"/>
            <p:cNvSpPr>
              <a:spLocks noChangeShapeType="1"/>
            </p:cNvSpPr>
            <p:nvPr/>
          </p:nvSpPr>
          <p:spPr bwMode="auto">
            <a:xfrm>
              <a:off x="1190" y="2492"/>
              <a:ext cx="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63" name="Line 98"/>
            <p:cNvSpPr>
              <a:spLocks noChangeShapeType="1"/>
            </p:cNvSpPr>
            <p:nvPr/>
          </p:nvSpPr>
          <p:spPr bwMode="auto">
            <a:xfrm>
              <a:off x="1190" y="2716"/>
              <a:ext cx="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64" name="Line 99"/>
            <p:cNvSpPr>
              <a:spLocks noChangeShapeType="1"/>
            </p:cNvSpPr>
            <p:nvPr/>
          </p:nvSpPr>
          <p:spPr bwMode="auto">
            <a:xfrm>
              <a:off x="1190" y="2791"/>
              <a:ext cx="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100"/>
          <p:cNvGrpSpPr/>
          <p:nvPr/>
        </p:nvGrpSpPr>
        <p:grpSpPr bwMode="auto">
          <a:xfrm>
            <a:off x="2365375" y="2346921"/>
            <a:ext cx="479425" cy="1428750"/>
            <a:chOff x="1490" y="1891"/>
            <a:chExt cx="302" cy="900"/>
          </a:xfrm>
        </p:grpSpPr>
        <p:sp>
          <p:nvSpPr>
            <p:cNvPr id="105651" name="Line 101"/>
            <p:cNvSpPr>
              <a:spLocks noChangeShapeType="1"/>
            </p:cNvSpPr>
            <p:nvPr/>
          </p:nvSpPr>
          <p:spPr bwMode="auto">
            <a:xfrm>
              <a:off x="1490" y="1891"/>
              <a:ext cx="0" cy="1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52" name="Line 102"/>
            <p:cNvSpPr>
              <a:spLocks noChangeShapeType="1"/>
            </p:cNvSpPr>
            <p:nvPr/>
          </p:nvSpPr>
          <p:spPr bwMode="auto">
            <a:xfrm>
              <a:off x="1490" y="2042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53" name="Line 103"/>
            <p:cNvSpPr>
              <a:spLocks noChangeShapeType="1"/>
            </p:cNvSpPr>
            <p:nvPr/>
          </p:nvSpPr>
          <p:spPr bwMode="auto">
            <a:xfrm>
              <a:off x="1490" y="2117"/>
              <a:ext cx="0" cy="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54" name="Line 104"/>
            <p:cNvSpPr>
              <a:spLocks noChangeShapeType="1"/>
            </p:cNvSpPr>
            <p:nvPr/>
          </p:nvSpPr>
          <p:spPr bwMode="auto">
            <a:xfrm>
              <a:off x="1492" y="2267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55" name="Line 105"/>
            <p:cNvSpPr>
              <a:spLocks noChangeShapeType="1"/>
            </p:cNvSpPr>
            <p:nvPr/>
          </p:nvSpPr>
          <p:spPr bwMode="auto">
            <a:xfrm flipV="1">
              <a:off x="1490" y="2339"/>
              <a:ext cx="0" cy="1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56" name="Line 106"/>
            <p:cNvSpPr>
              <a:spLocks noChangeShapeType="1"/>
            </p:cNvSpPr>
            <p:nvPr/>
          </p:nvSpPr>
          <p:spPr bwMode="auto">
            <a:xfrm>
              <a:off x="1490" y="2339"/>
              <a:ext cx="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57" name="Line 107"/>
            <p:cNvSpPr>
              <a:spLocks noChangeShapeType="1"/>
            </p:cNvSpPr>
            <p:nvPr/>
          </p:nvSpPr>
          <p:spPr bwMode="auto">
            <a:xfrm>
              <a:off x="1492" y="2716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58" name="Line 108"/>
            <p:cNvSpPr>
              <a:spLocks noChangeShapeType="1"/>
            </p:cNvSpPr>
            <p:nvPr/>
          </p:nvSpPr>
          <p:spPr bwMode="auto">
            <a:xfrm>
              <a:off x="1492" y="2791"/>
              <a:ext cx="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109"/>
          <p:cNvGrpSpPr/>
          <p:nvPr/>
        </p:nvGrpSpPr>
        <p:grpSpPr bwMode="auto">
          <a:xfrm>
            <a:off x="2841625" y="2343746"/>
            <a:ext cx="479425" cy="1431925"/>
            <a:chOff x="1790" y="1889"/>
            <a:chExt cx="302" cy="902"/>
          </a:xfrm>
        </p:grpSpPr>
        <p:sp>
          <p:nvSpPr>
            <p:cNvPr id="105645" name="Line 110"/>
            <p:cNvSpPr>
              <a:spLocks noChangeShapeType="1"/>
            </p:cNvSpPr>
            <p:nvPr/>
          </p:nvSpPr>
          <p:spPr bwMode="auto">
            <a:xfrm flipV="1">
              <a:off x="1792" y="1889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46" name="Line 111"/>
            <p:cNvSpPr>
              <a:spLocks noChangeShapeType="1"/>
            </p:cNvSpPr>
            <p:nvPr/>
          </p:nvSpPr>
          <p:spPr bwMode="auto">
            <a:xfrm>
              <a:off x="1792" y="1893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47" name="Line 112"/>
            <p:cNvSpPr>
              <a:spLocks noChangeShapeType="1"/>
            </p:cNvSpPr>
            <p:nvPr/>
          </p:nvSpPr>
          <p:spPr bwMode="auto">
            <a:xfrm>
              <a:off x="1792" y="2267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48" name="Line 113"/>
            <p:cNvSpPr>
              <a:spLocks noChangeShapeType="1"/>
            </p:cNvSpPr>
            <p:nvPr/>
          </p:nvSpPr>
          <p:spPr bwMode="auto">
            <a:xfrm>
              <a:off x="1792" y="2339"/>
              <a:ext cx="2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49" name="Line 114"/>
            <p:cNvSpPr>
              <a:spLocks noChangeShapeType="1"/>
            </p:cNvSpPr>
            <p:nvPr/>
          </p:nvSpPr>
          <p:spPr bwMode="auto">
            <a:xfrm>
              <a:off x="1790" y="2716"/>
              <a:ext cx="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50" name="Line 115"/>
            <p:cNvSpPr>
              <a:spLocks noChangeShapeType="1"/>
            </p:cNvSpPr>
            <p:nvPr/>
          </p:nvSpPr>
          <p:spPr bwMode="auto">
            <a:xfrm>
              <a:off x="1792" y="2791"/>
              <a:ext cx="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116"/>
          <p:cNvGrpSpPr/>
          <p:nvPr/>
        </p:nvGrpSpPr>
        <p:grpSpPr bwMode="auto">
          <a:xfrm>
            <a:off x="3317875" y="2350096"/>
            <a:ext cx="479425" cy="1425575"/>
            <a:chOff x="2090" y="1893"/>
            <a:chExt cx="302" cy="898"/>
          </a:xfrm>
        </p:grpSpPr>
        <p:sp>
          <p:nvSpPr>
            <p:cNvPr id="105638" name="Line 117"/>
            <p:cNvSpPr>
              <a:spLocks noChangeShapeType="1"/>
            </p:cNvSpPr>
            <p:nvPr/>
          </p:nvSpPr>
          <p:spPr bwMode="auto">
            <a:xfrm>
              <a:off x="2092" y="1893"/>
              <a:ext cx="0" cy="1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39" name="Line 118"/>
            <p:cNvSpPr>
              <a:spLocks noChangeShapeType="1"/>
            </p:cNvSpPr>
            <p:nvPr/>
          </p:nvSpPr>
          <p:spPr bwMode="auto">
            <a:xfrm>
              <a:off x="2092" y="2044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40" name="Line 119"/>
            <p:cNvSpPr>
              <a:spLocks noChangeShapeType="1"/>
            </p:cNvSpPr>
            <p:nvPr/>
          </p:nvSpPr>
          <p:spPr bwMode="auto">
            <a:xfrm flipV="1">
              <a:off x="2092" y="2117"/>
              <a:ext cx="0" cy="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41" name="Line 120"/>
            <p:cNvSpPr>
              <a:spLocks noChangeShapeType="1"/>
            </p:cNvSpPr>
            <p:nvPr/>
          </p:nvSpPr>
          <p:spPr bwMode="auto">
            <a:xfrm>
              <a:off x="2090" y="2117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42" name="Line 121"/>
            <p:cNvSpPr>
              <a:spLocks noChangeShapeType="1"/>
            </p:cNvSpPr>
            <p:nvPr/>
          </p:nvSpPr>
          <p:spPr bwMode="auto">
            <a:xfrm>
              <a:off x="2092" y="2716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43" name="Line 122"/>
            <p:cNvSpPr>
              <a:spLocks noChangeShapeType="1"/>
            </p:cNvSpPr>
            <p:nvPr/>
          </p:nvSpPr>
          <p:spPr bwMode="auto">
            <a:xfrm>
              <a:off x="2090" y="2339"/>
              <a:ext cx="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44" name="Line 123"/>
            <p:cNvSpPr>
              <a:spLocks noChangeShapeType="1"/>
            </p:cNvSpPr>
            <p:nvPr/>
          </p:nvSpPr>
          <p:spPr bwMode="auto">
            <a:xfrm>
              <a:off x="2092" y="2791"/>
              <a:ext cx="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124"/>
          <p:cNvGrpSpPr/>
          <p:nvPr/>
        </p:nvGrpSpPr>
        <p:grpSpPr bwMode="auto">
          <a:xfrm>
            <a:off x="3794125" y="2340571"/>
            <a:ext cx="479425" cy="1435100"/>
            <a:chOff x="2390" y="1887"/>
            <a:chExt cx="302" cy="904"/>
          </a:xfrm>
        </p:grpSpPr>
        <p:sp>
          <p:nvSpPr>
            <p:cNvPr id="105632" name="Line 125"/>
            <p:cNvSpPr>
              <a:spLocks noChangeShapeType="1"/>
            </p:cNvSpPr>
            <p:nvPr/>
          </p:nvSpPr>
          <p:spPr bwMode="auto">
            <a:xfrm flipV="1">
              <a:off x="2392" y="1887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33" name="Line 126"/>
            <p:cNvSpPr>
              <a:spLocks noChangeShapeType="1"/>
            </p:cNvSpPr>
            <p:nvPr/>
          </p:nvSpPr>
          <p:spPr bwMode="auto">
            <a:xfrm>
              <a:off x="2392" y="1891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34" name="Line 127"/>
            <p:cNvSpPr>
              <a:spLocks noChangeShapeType="1"/>
            </p:cNvSpPr>
            <p:nvPr/>
          </p:nvSpPr>
          <p:spPr bwMode="auto">
            <a:xfrm>
              <a:off x="2390" y="2117"/>
              <a:ext cx="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35" name="Line 128"/>
            <p:cNvSpPr>
              <a:spLocks noChangeShapeType="1"/>
            </p:cNvSpPr>
            <p:nvPr/>
          </p:nvSpPr>
          <p:spPr bwMode="auto">
            <a:xfrm>
              <a:off x="2392" y="2339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36" name="Line 129"/>
            <p:cNvSpPr>
              <a:spLocks noChangeShapeType="1"/>
            </p:cNvSpPr>
            <p:nvPr/>
          </p:nvSpPr>
          <p:spPr bwMode="auto">
            <a:xfrm>
              <a:off x="2390" y="2716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37" name="Line 130"/>
            <p:cNvSpPr>
              <a:spLocks noChangeShapeType="1"/>
            </p:cNvSpPr>
            <p:nvPr/>
          </p:nvSpPr>
          <p:spPr bwMode="auto">
            <a:xfrm>
              <a:off x="2392" y="2791"/>
              <a:ext cx="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131"/>
          <p:cNvGrpSpPr/>
          <p:nvPr/>
        </p:nvGrpSpPr>
        <p:grpSpPr bwMode="auto">
          <a:xfrm>
            <a:off x="4270375" y="2346921"/>
            <a:ext cx="479425" cy="1428750"/>
            <a:chOff x="2690" y="1891"/>
            <a:chExt cx="302" cy="900"/>
          </a:xfrm>
        </p:grpSpPr>
        <p:grpSp>
          <p:nvGrpSpPr>
            <p:cNvPr id="105622" name="Group 132"/>
            <p:cNvGrpSpPr/>
            <p:nvPr/>
          </p:nvGrpSpPr>
          <p:grpSpPr bwMode="auto">
            <a:xfrm>
              <a:off x="2690" y="1891"/>
              <a:ext cx="302" cy="825"/>
              <a:chOff x="2690" y="1891"/>
              <a:chExt cx="302" cy="825"/>
            </a:xfrm>
          </p:grpSpPr>
          <p:sp>
            <p:nvSpPr>
              <p:cNvPr id="105624" name="Line 133"/>
              <p:cNvSpPr>
                <a:spLocks noChangeShapeType="1"/>
              </p:cNvSpPr>
              <p:nvPr/>
            </p:nvSpPr>
            <p:spPr bwMode="auto">
              <a:xfrm>
                <a:off x="2692" y="1891"/>
                <a:ext cx="0" cy="15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25" name="Line 134"/>
              <p:cNvSpPr>
                <a:spLocks noChangeShapeType="1"/>
              </p:cNvSpPr>
              <p:nvPr/>
            </p:nvSpPr>
            <p:spPr bwMode="auto">
              <a:xfrm>
                <a:off x="2692" y="2042"/>
                <a:ext cx="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26" name="Line 135"/>
              <p:cNvSpPr>
                <a:spLocks noChangeShapeType="1"/>
              </p:cNvSpPr>
              <p:nvPr/>
            </p:nvSpPr>
            <p:spPr bwMode="auto">
              <a:xfrm>
                <a:off x="2692" y="2117"/>
                <a:ext cx="0" cy="15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27" name="Line 136"/>
              <p:cNvSpPr>
                <a:spLocks noChangeShapeType="1"/>
              </p:cNvSpPr>
              <p:nvPr/>
            </p:nvSpPr>
            <p:spPr bwMode="auto">
              <a:xfrm>
                <a:off x="2690" y="2267"/>
                <a:ext cx="30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28" name="Line 137"/>
              <p:cNvSpPr>
                <a:spLocks noChangeShapeType="1"/>
              </p:cNvSpPr>
              <p:nvPr/>
            </p:nvSpPr>
            <p:spPr bwMode="auto">
              <a:xfrm flipV="1">
                <a:off x="2690" y="2564"/>
                <a:ext cx="0" cy="1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29" name="Line 138"/>
              <p:cNvSpPr>
                <a:spLocks noChangeShapeType="1"/>
              </p:cNvSpPr>
              <p:nvPr/>
            </p:nvSpPr>
            <p:spPr bwMode="auto">
              <a:xfrm>
                <a:off x="2692" y="2339"/>
                <a:ext cx="0" cy="1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30" name="Line 139"/>
              <p:cNvSpPr>
                <a:spLocks noChangeShapeType="1"/>
              </p:cNvSpPr>
              <p:nvPr/>
            </p:nvSpPr>
            <p:spPr bwMode="auto">
              <a:xfrm>
                <a:off x="2692" y="2492"/>
                <a:ext cx="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31" name="Line 140"/>
              <p:cNvSpPr>
                <a:spLocks noChangeShapeType="1"/>
              </p:cNvSpPr>
              <p:nvPr/>
            </p:nvSpPr>
            <p:spPr bwMode="auto">
              <a:xfrm>
                <a:off x="2690" y="2564"/>
                <a:ext cx="30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5623" name="Line 141"/>
            <p:cNvSpPr>
              <a:spLocks noChangeShapeType="1"/>
            </p:cNvSpPr>
            <p:nvPr/>
          </p:nvSpPr>
          <p:spPr bwMode="auto">
            <a:xfrm>
              <a:off x="2692" y="2791"/>
              <a:ext cx="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142"/>
          <p:cNvGrpSpPr/>
          <p:nvPr/>
        </p:nvGrpSpPr>
        <p:grpSpPr bwMode="auto">
          <a:xfrm>
            <a:off x="4746625" y="2340571"/>
            <a:ext cx="479425" cy="1435100"/>
            <a:chOff x="2990" y="1887"/>
            <a:chExt cx="302" cy="904"/>
          </a:xfrm>
        </p:grpSpPr>
        <p:sp>
          <p:nvSpPr>
            <p:cNvPr id="105616" name="Line 143"/>
            <p:cNvSpPr>
              <a:spLocks noChangeShapeType="1"/>
            </p:cNvSpPr>
            <p:nvPr/>
          </p:nvSpPr>
          <p:spPr bwMode="auto">
            <a:xfrm flipV="1">
              <a:off x="2992" y="1887"/>
              <a:ext cx="0" cy="1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17" name="Line 144"/>
            <p:cNvSpPr>
              <a:spLocks noChangeShapeType="1"/>
            </p:cNvSpPr>
            <p:nvPr/>
          </p:nvSpPr>
          <p:spPr bwMode="auto">
            <a:xfrm>
              <a:off x="2992" y="1891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18" name="Line 145"/>
            <p:cNvSpPr>
              <a:spLocks noChangeShapeType="1"/>
            </p:cNvSpPr>
            <p:nvPr/>
          </p:nvSpPr>
          <p:spPr bwMode="auto">
            <a:xfrm>
              <a:off x="2992" y="2267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19" name="Line 146"/>
            <p:cNvSpPr>
              <a:spLocks noChangeShapeType="1"/>
            </p:cNvSpPr>
            <p:nvPr/>
          </p:nvSpPr>
          <p:spPr bwMode="auto">
            <a:xfrm>
              <a:off x="2992" y="2564"/>
              <a:ext cx="3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20" name="Line 147"/>
            <p:cNvSpPr>
              <a:spLocks noChangeShapeType="1"/>
            </p:cNvSpPr>
            <p:nvPr/>
          </p:nvSpPr>
          <p:spPr bwMode="auto">
            <a:xfrm>
              <a:off x="2990" y="2492"/>
              <a:ext cx="3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21" name="Line 148"/>
            <p:cNvSpPr>
              <a:spLocks noChangeShapeType="1"/>
            </p:cNvSpPr>
            <p:nvPr/>
          </p:nvSpPr>
          <p:spPr bwMode="auto">
            <a:xfrm>
              <a:off x="2992" y="2791"/>
              <a:ext cx="3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149"/>
          <p:cNvGrpSpPr/>
          <p:nvPr/>
        </p:nvGrpSpPr>
        <p:grpSpPr bwMode="auto">
          <a:xfrm>
            <a:off x="5226050" y="2346921"/>
            <a:ext cx="122238" cy="1674812"/>
            <a:chOff x="3292" y="1891"/>
            <a:chExt cx="77" cy="1055"/>
          </a:xfrm>
        </p:grpSpPr>
        <p:sp>
          <p:nvSpPr>
            <p:cNvPr id="105608" name="Line 150"/>
            <p:cNvSpPr>
              <a:spLocks noChangeShapeType="1"/>
            </p:cNvSpPr>
            <p:nvPr/>
          </p:nvSpPr>
          <p:spPr bwMode="auto">
            <a:xfrm>
              <a:off x="3292" y="1891"/>
              <a:ext cx="0" cy="15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09" name="Line 151"/>
            <p:cNvSpPr>
              <a:spLocks noChangeShapeType="1"/>
            </p:cNvSpPr>
            <p:nvPr/>
          </p:nvSpPr>
          <p:spPr bwMode="auto">
            <a:xfrm flipV="1">
              <a:off x="3292" y="2117"/>
              <a:ext cx="0" cy="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10" name="Line 152"/>
            <p:cNvSpPr>
              <a:spLocks noChangeShapeType="1"/>
            </p:cNvSpPr>
            <p:nvPr/>
          </p:nvSpPr>
          <p:spPr bwMode="auto">
            <a:xfrm>
              <a:off x="3292" y="2117"/>
              <a:ext cx="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11" name="Line 153"/>
            <p:cNvSpPr>
              <a:spLocks noChangeShapeType="1"/>
            </p:cNvSpPr>
            <p:nvPr/>
          </p:nvSpPr>
          <p:spPr bwMode="auto">
            <a:xfrm>
              <a:off x="3292" y="2492"/>
              <a:ext cx="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12" name="Line 154"/>
            <p:cNvSpPr>
              <a:spLocks noChangeShapeType="1"/>
            </p:cNvSpPr>
            <p:nvPr/>
          </p:nvSpPr>
          <p:spPr bwMode="auto">
            <a:xfrm>
              <a:off x="3292" y="2564"/>
              <a:ext cx="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13" name="Line 155"/>
            <p:cNvSpPr>
              <a:spLocks noChangeShapeType="1"/>
            </p:cNvSpPr>
            <p:nvPr/>
          </p:nvSpPr>
          <p:spPr bwMode="auto">
            <a:xfrm flipH="1">
              <a:off x="3292" y="2042"/>
              <a:ext cx="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14" name="Line 156"/>
            <p:cNvSpPr>
              <a:spLocks noChangeShapeType="1"/>
            </p:cNvSpPr>
            <p:nvPr/>
          </p:nvSpPr>
          <p:spPr bwMode="auto">
            <a:xfrm>
              <a:off x="3292" y="2791"/>
              <a:ext cx="0" cy="15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15" name="Line 157"/>
            <p:cNvSpPr>
              <a:spLocks noChangeShapeType="1"/>
            </p:cNvSpPr>
            <p:nvPr/>
          </p:nvSpPr>
          <p:spPr bwMode="auto">
            <a:xfrm>
              <a:off x="3292" y="2940"/>
              <a:ext cx="77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158"/>
          <p:cNvGrpSpPr/>
          <p:nvPr/>
        </p:nvGrpSpPr>
        <p:grpSpPr bwMode="auto">
          <a:xfrm>
            <a:off x="5348288" y="2586633"/>
            <a:ext cx="354012" cy="1425575"/>
            <a:chOff x="3369" y="2042"/>
            <a:chExt cx="223" cy="898"/>
          </a:xfrm>
        </p:grpSpPr>
        <p:sp>
          <p:nvSpPr>
            <p:cNvPr id="105600" name="Line 159"/>
            <p:cNvSpPr>
              <a:spLocks noChangeShapeType="1"/>
            </p:cNvSpPr>
            <p:nvPr/>
          </p:nvSpPr>
          <p:spPr bwMode="auto">
            <a:xfrm>
              <a:off x="3369" y="2042"/>
              <a:ext cx="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01" name="Line 160"/>
            <p:cNvSpPr>
              <a:spLocks noChangeShapeType="1"/>
            </p:cNvSpPr>
            <p:nvPr/>
          </p:nvSpPr>
          <p:spPr bwMode="auto">
            <a:xfrm>
              <a:off x="3369" y="2117"/>
              <a:ext cx="0" cy="1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02" name="Line 161"/>
            <p:cNvSpPr>
              <a:spLocks noChangeShapeType="1"/>
            </p:cNvSpPr>
            <p:nvPr/>
          </p:nvSpPr>
          <p:spPr bwMode="auto">
            <a:xfrm>
              <a:off x="3369" y="2267"/>
              <a:ext cx="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03" name="Line 162"/>
            <p:cNvSpPr>
              <a:spLocks noChangeShapeType="1"/>
            </p:cNvSpPr>
            <p:nvPr/>
          </p:nvSpPr>
          <p:spPr bwMode="auto">
            <a:xfrm>
              <a:off x="3369" y="2492"/>
              <a:ext cx="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04" name="Line 163"/>
            <p:cNvSpPr>
              <a:spLocks noChangeShapeType="1"/>
            </p:cNvSpPr>
            <p:nvPr/>
          </p:nvSpPr>
          <p:spPr bwMode="auto">
            <a:xfrm>
              <a:off x="3369" y="2564"/>
              <a:ext cx="0" cy="1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05" name="Line 164"/>
            <p:cNvSpPr>
              <a:spLocks noChangeShapeType="1"/>
            </p:cNvSpPr>
            <p:nvPr/>
          </p:nvSpPr>
          <p:spPr bwMode="auto">
            <a:xfrm>
              <a:off x="3369" y="2716"/>
              <a:ext cx="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06" name="Line 165"/>
            <p:cNvSpPr>
              <a:spLocks noChangeShapeType="1"/>
            </p:cNvSpPr>
            <p:nvPr/>
          </p:nvSpPr>
          <p:spPr bwMode="auto">
            <a:xfrm flipV="1">
              <a:off x="3369" y="2791"/>
              <a:ext cx="0" cy="14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607" name="Line 166"/>
            <p:cNvSpPr>
              <a:spLocks noChangeShapeType="1"/>
            </p:cNvSpPr>
            <p:nvPr/>
          </p:nvSpPr>
          <p:spPr bwMode="auto">
            <a:xfrm>
              <a:off x="3369" y="2791"/>
              <a:ext cx="22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" name="Group 167"/>
          <p:cNvGrpSpPr/>
          <p:nvPr/>
        </p:nvGrpSpPr>
        <p:grpSpPr bwMode="auto">
          <a:xfrm>
            <a:off x="296863" y="1700808"/>
            <a:ext cx="5405437" cy="528638"/>
            <a:chOff x="187" y="1484"/>
            <a:chExt cx="3405" cy="333"/>
          </a:xfrm>
        </p:grpSpPr>
        <p:sp>
          <p:nvSpPr>
            <p:cNvPr id="105550" name="Line 168"/>
            <p:cNvSpPr>
              <a:spLocks noChangeShapeType="1"/>
            </p:cNvSpPr>
            <p:nvPr/>
          </p:nvSpPr>
          <p:spPr bwMode="auto">
            <a:xfrm>
              <a:off x="437" y="1817"/>
              <a:ext cx="153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51" name="Line 169"/>
            <p:cNvSpPr>
              <a:spLocks noChangeShapeType="1"/>
            </p:cNvSpPr>
            <p:nvPr/>
          </p:nvSpPr>
          <p:spPr bwMode="auto">
            <a:xfrm flipV="1">
              <a:off x="590" y="1662"/>
              <a:ext cx="0" cy="15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52" name="Line 170"/>
            <p:cNvSpPr>
              <a:spLocks noChangeShapeType="1"/>
            </p:cNvSpPr>
            <p:nvPr/>
          </p:nvSpPr>
          <p:spPr bwMode="auto">
            <a:xfrm>
              <a:off x="590" y="1662"/>
              <a:ext cx="15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53" name="Line 171"/>
            <p:cNvSpPr>
              <a:spLocks noChangeShapeType="1"/>
            </p:cNvSpPr>
            <p:nvPr/>
          </p:nvSpPr>
          <p:spPr bwMode="auto">
            <a:xfrm>
              <a:off x="741" y="1662"/>
              <a:ext cx="0" cy="15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554" name="Line 172"/>
            <p:cNvSpPr>
              <a:spLocks noChangeShapeType="1"/>
            </p:cNvSpPr>
            <p:nvPr/>
          </p:nvSpPr>
          <p:spPr bwMode="auto">
            <a:xfrm>
              <a:off x="741" y="1817"/>
              <a:ext cx="14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5481" name="Object 173"/>
            <p:cNvGraphicFramePr>
              <a:graphicFrameLocks noChangeAspect="1"/>
            </p:cNvGraphicFramePr>
            <p:nvPr/>
          </p:nvGraphicFramePr>
          <p:xfrm>
            <a:off x="622" y="1490"/>
            <a:ext cx="91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0" name="公式" r:id="rId5" imgW="1442720" imgH="2679065" progId="Equation.3">
                    <p:embed/>
                  </p:oleObj>
                </mc:Choice>
                <mc:Fallback>
                  <p:oleObj name="公式" r:id="rId5" imgW="1442720" imgH="2679065" progId="Equation.3">
                    <p:embed/>
                    <p:pic>
                      <p:nvPicPr>
                        <p:cNvPr id="0" name="Object 1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" y="1490"/>
                          <a:ext cx="91" cy="1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5555" name="Group 174"/>
            <p:cNvGrpSpPr/>
            <p:nvPr/>
          </p:nvGrpSpPr>
          <p:grpSpPr bwMode="auto">
            <a:xfrm>
              <a:off x="890" y="1490"/>
              <a:ext cx="300" cy="327"/>
              <a:chOff x="590" y="1490"/>
              <a:chExt cx="300" cy="327"/>
            </a:xfrm>
          </p:grpSpPr>
          <p:sp>
            <p:nvSpPr>
              <p:cNvPr id="105596" name="Line 175"/>
              <p:cNvSpPr>
                <a:spLocks noChangeShapeType="1"/>
              </p:cNvSpPr>
              <p:nvPr/>
            </p:nvSpPr>
            <p:spPr bwMode="auto">
              <a:xfrm flipV="1">
                <a:off x="590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97" name="Line 176"/>
              <p:cNvSpPr>
                <a:spLocks noChangeShapeType="1"/>
              </p:cNvSpPr>
              <p:nvPr/>
            </p:nvSpPr>
            <p:spPr bwMode="auto">
              <a:xfrm>
                <a:off x="590" y="1662"/>
                <a:ext cx="15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98" name="Line 177"/>
              <p:cNvSpPr>
                <a:spLocks noChangeShapeType="1"/>
              </p:cNvSpPr>
              <p:nvPr/>
            </p:nvSpPr>
            <p:spPr bwMode="auto">
              <a:xfrm>
                <a:off x="741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99" name="Line 178"/>
              <p:cNvSpPr>
                <a:spLocks noChangeShapeType="1"/>
              </p:cNvSpPr>
              <p:nvPr/>
            </p:nvSpPr>
            <p:spPr bwMode="auto">
              <a:xfrm>
                <a:off x="741" y="1817"/>
                <a:ext cx="14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5491" name="Object 179"/>
              <p:cNvGraphicFramePr>
                <a:graphicFrameLocks noChangeAspect="1"/>
              </p:cNvGraphicFramePr>
              <p:nvPr/>
            </p:nvGraphicFramePr>
            <p:xfrm>
              <a:off x="603" y="1490"/>
              <a:ext cx="130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1" name="公式" r:id="rId7" imgW="2060575" imgH="2679065" progId="Equation.3">
                      <p:embed/>
                    </p:oleObj>
                  </mc:Choice>
                  <mc:Fallback>
                    <p:oleObj name="公式" r:id="rId7" imgW="2060575" imgH="2679065" progId="Equation.3">
                      <p:embed/>
                      <p:pic>
                        <p:nvPicPr>
                          <p:cNvPr id="0" name="Object 1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3" y="1490"/>
                            <a:ext cx="130" cy="1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5556" name="Group 180"/>
            <p:cNvGrpSpPr/>
            <p:nvPr/>
          </p:nvGrpSpPr>
          <p:grpSpPr bwMode="auto">
            <a:xfrm>
              <a:off x="1190" y="1484"/>
              <a:ext cx="300" cy="333"/>
              <a:chOff x="590" y="1484"/>
              <a:chExt cx="300" cy="333"/>
            </a:xfrm>
          </p:grpSpPr>
          <p:sp>
            <p:nvSpPr>
              <p:cNvPr id="105592" name="Line 181"/>
              <p:cNvSpPr>
                <a:spLocks noChangeShapeType="1"/>
              </p:cNvSpPr>
              <p:nvPr/>
            </p:nvSpPr>
            <p:spPr bwMode="auto">
              <a:xfrm flipV="1">
                <a:off x="590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93" name="Line 182"/>
              <p:cNvSpPr>
                <a:spLocks noChangeShapeType="1"/>
              </p:cNvSpPr>
              <p:nvPr/>
            </p:nvSpPr>
            <p:spPr bwMode="auto">
              <a:xfrm>
                <a:off x="590" y="1662"/>
                <a:ext cx="15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94" name="Line 183"/>
              <p:cNvSpPr>
                <a:spLocks noChangeShapeType="1"/>
              </p:cNvSpPr>
              <p:nvPr/>
            </p:nvSpPr>
            <p:spPr bwMode="auto">
              <a:xfrm>
                <a:off x="741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95" name="Line 184"/>
              <p:cNvSpPr>
                <a:spLocks noChangeShapeType="1"/>
              </p:cNvSpPr>
              <p:nvPr/>
            </p:nvSpPr>
            <p:spPr bwMode="auto">
              <a:xfrm>
                <a:off x="741" y="1817"/>
                <a:ext cx="14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5490" name="Object 185"/>
              <p:cNvGraphicFramePr>
                <a:graphicFrameLocks noChangeAspect="1"/>
              </p:cNvGraphicFramePr>
              <p:nvPr/>
            </p:nvGraphicFramePr>
            <p:xfrm>
              <a:off x="609" y="1484"/>
              <a:ext cx="117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2" name="公式" r:id="rId9" imgW="1854835" imgH="2884805" progId="Equation.3">
                      <p:embed/>
                    </p:oleObj>
                  </mc:Choice>
                  <mc:Fallback>
                    <p:oleObj name="公式" r:id="rId9" imgW="1854835" imgH="2884805" progId="Equation.3">
                      <p:embed/>
                      <p:pic>
                        <p:nvPicPr>
                          <p:cNvPr id="0" name="Object 18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9" y="1484"/>
                            <a:ext cx="117" cy="1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5557" name="Group 186"/>
            <p:cNvGrpSpPr/>
            <p:nvPr/>
          </p:nvGrpSpPr>
          <p:grpSpPr bwMode="auto">
            <a:xfrm>
              <a:off x="1492" y="1490"/>
              <a:ext cx="300" cy="327"/>
              <a:chOff x="590" y="1490"/>
              <a:chExt cx="300" cy="327"/>
            </a:xfrm>
          </p:grpSpPr>
          <p:sp>
            <p:nvSpPr>
              <p:cNvPr id="105588" name="Line 187"/>
              <p:cNvSpPr>
                <a:spLocks noChangeShapeType="1"/>
              </p:cNvSpPr>
              <p:nvPr/>
            </p:nvSpPr>
            <p:spPr bwMode="auto">
              <a:xfrm flipV="1">
                <a:off x="590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89" name="Line 188"/>
              <p:cNvSpPr>
                <a:spLocks noChangeShapeType="1"/>
              </p:cNvSpPr>
              <p:nvPr/>
            </p:nvSpPr>
            <p:spPr bwMode="auto">
              <a:xfrm>
                <a:off x="590" y="1662"/>
                <a:ext cx="15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90" name="Line 189"/>
              <p:cNvSpPr>
                <a:spLocks noChangeShapeType="1"/>
              </p:cNvSpPr>
              <p:nvPr/>
            </p:nvSpPr>
            <p:spPr bwMode="auto">
              <a:xfrm>
                <a:off x="741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91" name="Line 190"/>
              <p:cNvSpPr>
                <a:spLocks noChangeShapeType="1"/>
              </p:cNvSpPr>
              <p:nvPr/>
            </p:nvSpPr>
            <p:spPr bwMode="auto">
              <a:xfrm>
                <a:off x="741" y="1817"/>
                <a:ext cx="14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5489" name="Object 191"/>
              <p:cNvGraphicFramePr>
                <a:graphicFrameLocks noChangeAspect="1"/>
              </p:cNvGraphicFramePr>
              <p:nvPr/>
            </p:nvGraphicFramePr>
            <p:xfrm>
              <a:off x="603" y="1490"/>
              <a:ext cx="130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3" name="公式" r:id="rId11" imgW="2060575" imgH="2679065" progId="Equation.3">
                      <p:embed/>
                    </p:oleObj>
                  </mc:Choice>
                  <mc:Fallback>
                    <p:oleObj name="公式" r:id="rId11" imgW="2060575" imgH="2679065" progId="Equation.3">
                      <p:embed/>
                      <p:pic>
                        <p:nvPicPr>
                          <p:cNvPr id="0" name="Object 19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3" y="1490"/>
                            <a:ext cx="130" cy="1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5558" name="Group 192"/>
            <p:cNvGrpSpPr/>
            <p:nvPr/>
          </p:nvGrpSpPr>
          <p:grpSpPr bwMode="auto">
            <a:xfrm>
              <a:off x="1792" y="1484"/>
              <a:ext cx="300" cy="333"/>
              <a:chOff x="590" y="1484"/>
              <a:chExt cx="300" cy="333"/>
            </a:xfrm>
          </p:grpSpPr>
          <p:sp>
            <p:nvSpPr>
              <p:cNvPr id="105584" name="Line 193"/>
              <p:cNvSpPr>
                <a:spLocks noChangeShapeType="1"/>
              </p:cNvSpPr>
              <p:nvPr/>
            </p:nvSpPr>
            <p:spPr bwMode="auto">
              <a:xfrm flipV="1">
                <a:off x="590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85" name="Line 194"/>
              <p:cNvSpPr>
                <a:spLocks noChangeShapeType="1"/>
              </p:cNvSpPr>
              <p:nvPr/>
            </p:nvSpPr>
            <p:spPr bwMode="auto">
              <a:xfrm>
                <a:off x="590" y="1662"/>
                <a:ext cx="15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86" name="Line 195"/>
              <p:cNvSpPr>
                <a:spLocks noChangeShapeType="1"/>
              </p:cNvSpPr>
              <p:nvPr/>
            </p:nvSpPr>
            <p:spPr bwMode="auto">
              <a:xfrm>
                <a:off x="741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87" name="Line 196"/>
              <p:cNvSpPr>
                <a:spLocks noChangeShapeType="1"/>
              </p:cNvSpPr>
              <p:nvPr/>
            </p:nvSpPr>
            <p:spPr bwMode="auto">
              <a:xfrm>
                <a:off x="741" y="1817"/>
                <a:ext cx="14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5488" name="Object 197"/>
              <p:cNvGraphicFramePr>
                <a:graphicFrameLocks noChangeAspect="1"/>
              </p:cNvGraphicFramePr>
              <p:nvPr/>
            </p:nvGraphicFramePr>
            <p:xfrm>
              <a:off x="609" y="1484"/>
              <a:ext cx="117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4" name="公式" r:id="rId13" imgW="1854835" imgH="2884805" progId="Equation.3">
                      <p:embed/>
                    </p:oleObj>
                  </mc:Choice>
                  <mc:Fallback>
                    <p:oleObj name="公式" r:id="rId13" imgW="1854835" imgH="2884805" progId="Equation.3">
                      <p:embed/>
                      <p:pic>
                        <p:nvPicPr>
                          <p:cNvPr id="0" name="Object 19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9" y="1484"/>
                            <a:ext cx="117" cy="1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5559" name="Group 198"/>
            <p:cNvGrpSpPr/>
            <p:nvPr/>
          </p:nvGrpSpPr>
          <p:grpSpPr bwMode="auto">
            <a:xfrm>
              <a:off x="2090" y="1484"/>
              <a:ext cx="300" cy="333"/>
              <a:chOff x="590" y="1484"/>
              <a:chExt cx="300" cy="333"/>
            </a:xfrm>
          </p:grpSpPr>
          <p:sp>
            <p:nvSpPr>
              <p:cNvPr id="105580" name="Line 199"/>
              <p:cNvSpPr>
                <a:spLocks noChangeShapeType="1"/>
              </p:cNvSpPr>
              <p:nvPr/>
            </p:nvSpPr>
            <p:spPr bwMode="auto">
              <a:xfrm flipV="1">
                <a:off x="590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81" name="Line 200"/>
              <p:cNvSpPr>
                <a:spLocks noChangeShapeType="1"/>
              </p:cNvSpPr>
              <p:nvPr/>
            </p:nvSpPr>
            <p:spPr bwMode="auto">
              <a:xfrm>
                <a:off x="590" y="1662"/>
                <a:ext cx="15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82" name="Line 201"/>
              <p:cNvSpPr>
                <a:spLocks noChangeShapeType="1"/>
              </p:cNvSpPr>
              <p:nvPr/>
            </p:nvSpPr>
            <p:spPr bwMode="auto">
              <a:xfrm>
                <a:off x="741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83" name="Line 202"/>
              <p:cNvSpPr>
                <a:spLocks noChangeShapeType="1"/>
              </p:cNvSpPr>
              <p:nvPr/>
            </p:nvSpPr>
            <p:spPr bwMode="auto">
              <a:xfrm>
                <a:off x="741" y="1817"/>
                <a:ext cx="14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5487" name="Object 203"/>
              <p:cNvGraphicFramePr>
                <a:graphicFrameLocks noChangeAspect="1"/>
              </p:cNvGraphicFramePr>
              <p:nvPr/>
            </p:nvGraphicFramePr>
            <p:xfrm>
              <a:off x="603" y="1484"/>
              <a:ext cx="130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5" name="公式" r:id="rId15" imgW="2060575" imgH="2884805" progId="Equation.3">
                      <p:embed/>
                    </p:oleObj>
                  </mc:Choice>
                  <mc:Fallback>
                    <p:oleObj name="公式" r:id="rId15" imgW="2060575" imgH="2884805" progId="Equation.3">
                      <p:embed/>
                      <p:pic>
                        <p:nvPicPr>
                          <p:cNvPr id="0" name="Object 20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3" y="1484"/>
                            <a:ext cx="130" cy="1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5560" name="Group 204"/>
            <p:cNvGrpSpPr/>
            <p:nvPr/>
          </p:nvGrpSpPr>
          <p:grpSpPr bwMode="auto">
            <a:xfrm>
              <a:off x="2390" y="1484"/>
              <a:ext cx="300" cy="333"/>
              <a:chOff x="590" y="1484"/>
              <a:chExt cx="300" cy="333"/>
            </a:xfrm>
          </p:grpSpPr>
          <p:sp>
            <p:nvSpPr>
              <p:cNvPr id="105576" name="Line 205"/>
              <p:cNvSpPr>
                <a:spLocks noChangeShapeType="1"/>
              </p:cNvSpPr>
              <p:nvPr/>
            </p:nvSpPr>
            <p:spPr bwMode="auto">
              <a:xfrm flipV="1">
                <a:off x="590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77" name="Line 206"/>
              <p:cNvSpPr>
                <a:spLocks noChangeShapeType="1"/>
              </p:cNvSpPr>
              <p:nvPr/>
            </p:nvSpPr>
            <p:spPr bwMode="auto">
              <a:xfrm>
                <a:off x="590" y="1662"/>
                <a:ext cx="15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78" name="Line 207"/>
              <p:cNvSpPr>
                <a:spLocks noChangeShapeType="1"/>
              </p:cNvSpPr>
              <p:nvPr/>
            </p:nvSpPr>
            <p:spPr bwMode="auto">
              <a:xfrm>
                <a:off x="741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79" name="Line 208"/>
              <p:cNvSpPr>
                <a:spLocks noChangeShapeType="1"/>
              </p:cNvSpPr>
              <p:nvPr/>
            </p:nvSpPr>
            <p:spPr bwMode="auto">
              <a:xfrm>
                <a:off x="741" y="1817"/>
                <a:ext cx="14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5486" name="Object 209"/>
              <p:cNvGraphicFramePr>
                <a:graphicFrameLocks noChangeAspect="1"/>
              </p:cNvGraphicFramePr>
              <p:nvPr/>
            </p:nvGraphicFramePr>
            <p:xfrm>
              <a:off x="603" y="1484"/>
              <a:ext cx="130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6" name="公式" r:id="rId17" imgW="2060575" imgH="2884805" progId="Equation.3">
                      <p:embed/>
                    </p:oleObj>
                  </mc:Choice>
                  <mc:Fallback>
                    <p:oleObj name="公式" r:id="rId17" imgW="2060575" imgH="2884805" progId="Equation.3">
                      <p:embed/>
                      <p:pic>
                        <p:nvPicPr>
                          <p:cNvPr id="0" name="Object 20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3" y="1484"/>
                            <a:ext cx="130" cy="1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5561" name="Group 210"/>
            <p:cNvGrpSpPr/>
            <p:nvPr/>
          </p:nvGrpSpPr>
          <p:grpSpPr bwMode="auto">
            <a:xfrm>
              <a:off x="2690" y="1484"/>
              <a:ext cx="300" cy="333"/>
              <a:chOff x="590" y="1484"/>
              <a:chExt cx="300" cy="333"/>
            </a:xfrm>
          </p:grpSpPr>
          <p:sp>
            <p:nvSpPr>
              <p:cNvPr id="105572" name="Line 211"/>
              <p:cNvSpPr>
                <a:spLocks noChangeShapeType="1"/>
              </p:cNvSpPr>
              <p:nvPr/>
            </p:nvSpPr>
            <p:spPr bwMode="auto">
              <a:xfrm flipV="1">
                <a:off x="590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73" name="Line 212"/>
              <p:cNvSpPr>
                <a:spLocks noChangeShapeType="1"/>
              </p:cNvSpPr>
              <p:nvPr/>
            </p:nvSpPr>
            <p:spPr bwMode="auto">
              <a:xfrm>
                <a:off x="590" y="1662"/>
                <a:ext cx="15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74" name="Line 213"/>
              <p:cNvSpPr>
                <a:spLocks noChangeShapeType="1"/>
              </p:cNvSpPr>
              <p:nvPr/>
            </p:nvSpPr>
            <p:spPr bwMode="auto">
              <a:xfrm>
                <a:off x="741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75" name="Line 214"/>
              <p:cNvSpPr>
                <a:spLocks noChangeShapeType="1"/>
              </p:cNvSpPr>
              <p:nvPr/>
            </p:nvSpPr>
            <p:spPr bwMode="auto">
              <a:xfrm>
                <a:off x="741" y="1817"/>
                <a:ext cx="14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5485" name="Object 215"/>
              <p:cNvGraphicFramePr>
                <a:graphicFrameLocks noChangeAspect="1"/>
              </p:cNvGraphicFramePr>
              <p:nvPr/>
            </p:nvGraphicFramePr>
            <p:xfrm>
              <a:off x="609" y="1484"/>
              <a:ext cx="117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7" name="公式" r:id="rId19" imgW="1854835" imgH="2884805" progId="Equation.3">
                      <p:embed/>
                    </p:oleObj>
                  </mc:Choice>
                  <mc:Fallback>
                    <p:oleObj name="公式" r:id="rId19" imgW="1854835" imgH="2884805" progId="Equation.3">
                      <p:embed/>
                      <p:pic>
                        <p:nvPicPr>
                          <p:cNvPr id="0" name="Object 2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9" y="1484"/>
                            <a:ext cx="117" cy="1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5562" name="Group 216"/>
            <p:cNvGrpSpPr/>
            <p:nvPr/>
          </p:nvGrpSpPr>
          <p:grpSpPr bwMode="auto">
            <a:xfrm>
              <a:off x="2992" y="1484"/>
              <a:ext cx="300" cy="333"/>
              <a:chOff x="590" y="1484"/>
              <a:chExt cx="300" cy="333"/>
            </a:xfrm>
          </p:grpSpPr>
          <p:sp>
            <p:nvSpPr>
              <p:cNvPr id="105568" name="Line 217"/>
              <p:cNvSpPr>
                <a:spLocks noChangeShapeType="1"/>
              </p:cNvSpPr>
              <p:nvPr/>
            </p:nvSpPr>
            <p:spPr bwMode="auto">
              <a:xfrm flipV="1">
                <a:off x="590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69" name="Line 218"/>
              <p:cNvSpPr>
                <a:spLocks noChangeShapeType="1"/>
              </p:cNvSpPr>
              <p:nvPr/>
            </p:nvSpPr>
            <p:spPr bwMode="auto">
              <a:xfrm>
                <a:off x="590" y="1662"/>
                <a:ext cx="15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70" name="Line 219"/>
              <p:cNvSpPr>
                <a:spLocks noChangeShapeType="1"/>
              </p:cNvSpPr>
              <p:nvPr/>
            </p:nvSpPr>
            <p:spPr bwMode="auto">
              <a:xfrm>
                <a:off x="741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71" name="Line 220"/>
              <p:cNvSpPr>
                <a:spLocks noChangeShapeType="1"/>
              </p:cNvSpPr>
              <p:nvPr/>
            </p:nvSpPr>
            <p:spPr bwMode="auto">
              <a:xfrm>
                <a:off x="741" y="1817"/>
                <a:ext cx="14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5484" name="Object 221"/>
              <p:cNvGraphicFramePr>
                <a:graphicFrameLocks noChangeAspect="1"/>
              </p:cNvGraphicFramePr>
              <p:nvPr/>
            </p:nvGraphicFramePr>
            <p:xfrm>
              <a:off x="609" y="1484"/>
              <a:ext cx="117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8" name="公式" r:id="rId21" imgW="1854835" imgH="2884805" progId="Equation.3">
                      <p:embed/>
                    </p:oleObj>
                  </mc:Choice>
                  <mc:Fallback>
                    <p:oleObj name="公式" r:id="rId21" imgW="1854835" imgH="2884805" progId="Equation.3">
                      <p:embed/>
                      <p:pic>
                        <p:nvPicPr>
                          <p:cNvPr id="0" name="Object 2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9" y="1484"/>
                            <a:ext cx="117" cy="1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5563" name="Group 222"/>
            <p:cNvGrpSpPr/>
            <p:nvPr/>
          </p:nvGrpSpPr>
          <p:grpSpPr bwMode="auto">
            <a:xfrm>
              <a:off x="3279" y="1484"/>
              <a:ext cx="313" cy="333"/>
              <a:chOff x="577" y="1484"/>
              <a:chExt cx="313" cy="333"/>
            </a:xfrm>
          </p:grpSpPr>
          <p:sp>
            <p:nvSpPr>
              <p:cNvPr id="105564" name="Line 223"/>
              <p:cNvSpPr>
                <a:spLocks noChangeShapeType="1"/>
              </p:cNvSpPr>
              <p:nvPr/>
            </p:nvSpPr>
            <p:spPr bwMode="auto">
              <a:xfrm flipV="1">
                <a:off x="590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65" name="Line 224"/>
              <p:cNvSpPr>
                <a:spLocks noChangeShapeType="1"/>
              </p:cNvSpPr>
              <p:nvPr/>
            </p:nvSpPr>
            <p:spPr bwMode="auto">
              <a:xfrm>
                <a:off x="590" y="1662"/>
                <a:ext cx="15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66" name="Line 225"/>
              <p:cNvSpPr>
                <a:spLocks noChangeShapeType="1"/>
              </p:cNvSpPr>
              <p:nvPr/>
            </p:nvSpPr>
            <p:spPr bwMode="auto">
              <a:xfrm>
                <a:off x="741" y="1662"/>
                <a:ext cx="0" cy="155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567" name="Line 226"/>
              <p:cNvSpPr>
                <a:spLocks noChangeShapeType="1"/>
              </p:cNvSpPr>
              <p:nvPr/>
            </p:nvSpPr>
            <p:spPr bwMode="auto">
              <a:xfrm>
                <a:off x="741" y="1817"/>
                <a:ext cx="14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05483" name="Object 227"/>
              <p:cNvGraphicFramePr>
                <a:graphicFrameLocks noChangeAspect="1"/>
              </p:cNvGraphicFramePr>
              <p:nvPr/>
            </p:nvGraphicFramePr>
            <p:xfrm>
              <a:off x="577" y="1484"/>
              <a:ext cx="182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9" name="公式" r:id="rId23" imgW="2884805" imgH="2884805" progId="Equation.3">
                      <p:embed/>
                    </p:oleObj>
                  </mc:Choice>
                  <mc:Fallback>
                    <p:oleObj name="公式" r:id="rId23" imgW="2884805" imgH="2884805" progId="Equation.3">
                      <p:embed/>
                      <p:pic>
                        <p:nvPicPr>
                          <p:cNvPr id="0" name="Object 2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7" y="1484"/>
                            <a:ext cx="182" cy="1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5482" name="Object 228"/>
            <p:cNvGraphicFramePr>
              <a:graphicFrameLocks noChangeAspect="1"/>
            </p:cNvGraphicFramePr>
            <p:nvPr/>
          </p:nvGraphicFramePr>
          <p:xfrm>
            <a:off x="187" y="1626"/>
            <a:ext cx="247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0" name="公式" r:id="rId25" imgW="3915410" imgH="2884805" progId="Equation.3">
                    <p:embed/>
                  </p:oleObj>
                </mc:Choice>
                <mc:Fallback>
                  <p:oleObj name="公式" r:id="rId25" imgW="3915410" imgH="2884805" progId="Equation.3">
                    <p:embed/>
                    <p:pic>
                      <p:nvPicPr>
                        <p:cNvPr id="0" name="Object 2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" y="1626"/>
                          <a:ext cx="247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229"/>
          <p:cNvGrpSpPr/>
          <p:nvPr/>
        </p:nvGrpSpPr>
        <p:grpSpPr bwMode="auto">
          <a:xfrm>
            <a:off x="296863" y="2321521"/>
            <a:ext cx="392112" cy="1735137"/>
            <a:chOff x="187" y="1875"/>
            <a:chExt cx="247" cy="1093"/>
          </a:xfrm>
        </p:grpSpPr>
        <p:graphicFrame>
          <p:nvGraphicFramePr>
            <p:cNvPr id="105476" name="Object 230"/>
            <p:cNvGraphicFramePr>
              <a:graphicFrameLocks noChangeAspect="1"/>
            </p:cNvGraphicFramePr>
            <p:nvPr/>
          </p:nvGraphicFramePr>
          <p:xfrm>
            <a:off x="216" y="1875"/>
            <a:ext cx="19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1" name="公式" r:id="rId27" imgW="3091180" imgH="3709035" progId="Equation.3">
                    <p:embed/>
                  </p:oleObj>
                </mc:Choice>
                <mc:Fallback>
                  <p:oleObj name="公式" r:id="rId27" imgW="3091180" imgH="3709035" progId="Equation.3">
                    <p:embed/>
                    <p:pic>
                      <p:nvPicPr>
                        <p:cNvPr id="0" name="Object 2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" y="1875"/>
                          <a:ext cx="195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77" name="Object 231"/>
            <p:cNvGraphicFramePr>
              <a:graphicFrameLocks noChangeAspect="1"/>
            </p:cNvGraphicFramePr>
            <p:nvPr/>
          </p:nvGraphicFramePr>
          <p:xfrm>
            <a:off x="227" y="2117"/>
            <a:ext cx="18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2" name="Equation" r:id="rId29" imgW="2884805" imgH="3709035" progId="Equation.DSMT4">
                    <p:embed/>
                  </p:oleObj>
                </mc:Choice>
                <mc:Fallback>
                  <p:oleObj name="Equation" r:id="rId29" imgW="2884805" imgH="3709035" progId="Equation.DSMT4">
                    <p:embed/>
                    <p:pic>
                      <p:nvPicPr>
                        <p:cNvPr id="0" name="Object 2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2117"/>
                          <a:ext cx="182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78" name="Object 232"/>
            <p:cNvGraphicFramePr>
              <a:graphicFrameLocks noChangeAspect="1"/>
            </p:cNvGraphicFramePr>
            <p:nvPr/>
          </p:nvGraphicFramePr>
          <p:xfrm>
            <a:off x="222" y="2331"/>
            <a:ext cx="19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3" name="Equation" r:id="rId31" imgW="3091180" imgH="3709035" progId="Equation.DSMT4">
                    <p:embed/>
                  </p:oleObj>
                </mc:Choice>
                <mc:Fallback>
                  <p:oleObj name="Equation" r:id="rId31" imgW="3091180" imgH="3709035" progId="Equation.DSMT4">
                    <p:embed/>
                    <p:pic>
                      <p:nvPicPr>
                        <p:cNvPr id="0" name="Object 2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" y="2331"/>
                          <a:ext cx="195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79" name="Object 233"/>
            <p:cNvGraphicFramePr>
              <a:graphicFrameLocks noChangeAspect="1"/>
            </p:cNvGraphicFramePr>
            <p:nvPr/>
          </p:nvGraphicFramePr>
          <p:xfrm>
            <a:off x="230" y="2537"/>
            <a:ext cx="19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4" name="Equation" r:id="rId33" imgW="3091180" imgH="3709035" progId="Equation.DSMT4">
                    <p:embed/>
                  </p:oleObj>
                </mc:Choice>
                <mc:Fallback>
                  <p:oleObj name="Equation" r:id="rId33" imgW="3091180" imgH="3709035" progId="Equation.DSMT4">
                    <p:embed/>
                    <p:pic>
                      <p:nvPicPr>
                        <p:cNvPr id="0" name="Object 2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" y="2537"/>
                          <a:ext cx="195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480" name="Object 234"/>
            <p:cNvGraphicFramePr>
              <a:graphicFrameLocks noChangeAspect="1"/>
            </p:cNvGraphicFramePr>
            <p:nvPr/>
          </p:nvGraphicFramePr>
          <p:xfrm>
            <a:off x="187" y="2749"/>
            <a:ext cx="247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5" name="公式" r:id="rId35" imgW="3915410" imgH="3503295" progId="Equation.3">
                    <p:embed/>
                  </p:oleObj>
                </mc:Choice>
                <mc:Fallback>
                  <p:oleObj name="公式" r:id="rId35" imgW="3915410" imgH="3503295" progId="Equation.3">
                    <p:embed/>
                    <p:pic>
                      <p:nvPicPr>
                        <p:cNvPr id="0" name="Object 2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" y="2749"/>
                          <a:ext cx="247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34891" name="Rectangle 235"/>
          <p:cNvSpPr>
            <a:spLocks noChangeArrowheads="1"/>
          </p:cNvSpPr>
          <p:nvPr/>
        </p:nvSpPr>
        <p:spPr bwMode="auto">
          <a:xfrm>
            <a:off x="468313" y="6021288"/>
            <a:ext cx="8280400" cy="701675"/>
          </a:xfrm>
          <a:prstGeom prst="rect">
            <a:avLst/>
          </a:prstGeom>
          <a:noFill/>
          <a:ln w="25400" algn="ctr">
            <a:noFill/>
            <a:miter lim="800000"/>
          </a:ln>
        </p:spPr>
        <p:txBody>
          <a:bodyPr anchor="ctr">
            <a:spAutoFit/>
          </a:bodyPr>
          <a:lstStyle/>
          <a:p>
            <a:pPr algn="l" eaLnBrk="0" hangingPunct="0"/>
            <a:r>
              <a:rPr kumimoji="0" lang="en-US" altLang="zh-CN" dirty="0">
                <a:solidFill>
                  <a:schemeClr val="tx1"/>
                </a:solidFill>
              </a:rPr>
              <a:t>    </a:t>
            </a:r>
            <a:r>
              <a:rPr kumimoji="0" lang="zh-CN" altLang="en-US" dirty="0">
                <a:solidFill>
                  <a:schemeClr val="tx1"/>
                </a:solidFill>
              </a:rPr>
              <a:t>在反馈电路清</a:t>
            </a:r>
            <a:r>
              <a:rPr kumimoji="0" lang="en-US" altLang="zh-CN" dirty="0">
                <a:solidFill>
                  <a:schemeClr val="tx1"/>
                </a:solidFill>
              </a:rPr>
              <a:t>0</a:t>
            </a:r>
            <a:r>
              <a:rPr kumimoji="0" lang="zh-CN" altLang="en-US" dirty="0">
                <a:solidFill>
                  <a:schemeClr val="tx1"/>
                </a:solidFill>
              </a:rPr>
              <a:t>信号的作用下，计数器产生</a:t>
            </a:r>
            <a:r>
              <a:rPr kumimoji="0" lang="en-US" altLang="zh-CN" dirty="0">
                <a:solidFill>
                  <a:schemeClr val="tx1"/>
                </a:solidFill>
              </a:rPr>
              <a:t>0~9</a:t>
            </a:r>
            <a:r>
              <a:rPr kumimoji="0" lang="zh-CN" altLang="en-US" dirty="0">
                <a:solidFill>
                  <a:schemeClr val="tx1"/>
                </a:solidFill>
              </a:rPr>
              <a:t>的循环，因此，形成模十的</a:t>
            </a:r>
            <a:r>
              <a:rPr kumimoji="0" lang="en-US" altLang="zh-CN" dirty="0">
                <a:solidFill>
                  <a:schemeClr val="tx1"/>
                </a:solidFill>
              </a:rPr>
              <a:t>8421BCD</a:t>
            </a:r>
            <a:r>
              <a:rPr kumimoji="0" lang="zh-CN" altLang="en-US" dirty="0">
                <a:solidFill>
                  <a:schemeClr val="tx1"/>
                </a:solidFill>
              </a:rPr>
              <a:t>码计数器 </a:t>
            </a:r>
            <a:endParaRPr kumimoji="0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35" name="直接连接符 234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淘宝网chenying0907出品 6"/>
          <p:cNvSpPr txBox="1"/>
          <p:nvPr/>
        </p:nvSpPr>
        <p:spPr>
          <a:xfrm>
            <a:off x="1560685" y="50071"/>
            <a:ext cx="6182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同步集成计数器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8" name="图片 23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34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000"/>
                                        <p:tgtEl>
                                          <p:spTgt spid="173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000"/>
                                        <p:tgtEl>
                                          <p:spTgt spid="173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0"/>
                                        <p:tgtEl>
                                          <p:spTgt spid="173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2000"/>
                                        <p:tgtEl>
                                          <p:spTgt spid="1734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3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5" presetClass="emph" presetSubtype="0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1734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1734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1734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000"/>
                                        <p:tgtEl>
                                          <p:spTgt spid="1734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2000" fill="hold"/>
                                        <p:tgtEl>
                                          <p:spTgt spid="1734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2000" fill="hold"/>
                                        <p:tgtEl>
                                          <p:spTgt spid="1734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17346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2000" fill="hold"/>
                                        <p:tgtEl>
                                          <p:spTgt spid="1734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2000" fill="hold"/>
                                        <p:tgtEl>
                                          <p:spTgt spid="1734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4658" grpId="0"/>
      <p:bldP spid="1734660" grpId="0"/>
      <p:bldP spid="1734661" grpId="0"/>
      <p:bldP spid="1734663" grpId="0" animBg="1"/>
      <p:bldP spid="1734664" grpId="0" animBg="1"/>
      <p:bldP spid="1734670" grpId="0" animBg="1"/>
      <p:bldP spid="1734671" grpId="0" animBg="1"/>
      <p:bldP spid="1734672" grpId="0" animBg="1"/>
      <p:bldP spid="173489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0" y="1554408"/>
          <a:ext cx="9093688" cy="3402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图片" r:id="rId1" imgW="4542790" imgH="1776730" progId="Word.Picture.8">
                  <p:embed/>
                </p:oleObj>
              </mc:Choice>
              <mc:Fallback>
                <p:oleObj name="图片" r:id="rId1" imgW="4542790" imgH="1776730" progId="Word.Picture.8">
                  <p:embed/>
                  <p:pic>
                    <p:nvPicPr>
                      <p:cNvPr id="0" name="图片 153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54408"/>
                        <a:ext cx="9093688" cy="3402239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1" name="对话气泡: 矩形 20"/>
          <p:cNvSpPr/>
          <p:nvPr/>
        </p:nvSpPr>
        <p:spPr>
          <a:xfrm>
            <a:off x="124823" y="753424"/>
            <a:ext cx="828370" cy="624386"/>
          </a:xfrm>
          <a:prstGeom prst="wedgeRectCallout">
            <a:avLst>
              <a:gd name="adj1" fmla="val 15844"/>
              <a:gd name="adj2" fmla="val 11819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外接电源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30" name="对话气泡: 矩形 29"/>
          <p:cNvSpPr/>
          <p:nvPr/>
        </p:nvSpPr>
        <p:spPr>
          <a:xfrm>
            <a:off x="3807534" y="753424"/>
            <a:ext cx="1535667" cy="652802"/>
          </a:xfrm>
          <a:prstGeom prst="wedgeRectCallout">
            <a:avLst>
              <a:gd name="adj1" fmla="val -105453"/>
              <a:gd name="adj2" fmla="val 97068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0000FF"/>
                </a:solidFill>
              </a:rPr>
              <a:t>异步置数控制端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435167" y="57713"/>
            <a:ext cx="633302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双时钟二进制同步可逆计数器</a:t>
            </a:r>
            <a:r>
              <a:rPr kumimoji="1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74LS193</a:t>
            </a:r>
            <a:endParaRPr kumimoji="1"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对话气泡: 矩形 20"/>
          <p:cNvSpPr/>
          <p:nvPr/>
        </p:nvSpPr>
        <p:spPr>
          <a:xfrm>
            <a:off x="3879405" y="4575844"/>
            <a:ext cx="1008449" cy="380803"/>
          </a:xfrm>
          <a:prstGeom prst="wedgeRectCallout">
            <a:avLst>
              <a:gd name="adj1" fmla="val -45298"/>
              <a:gd name="adj2" fmla="val -16683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接地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5651890"/>
            <a:ext cx="4053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D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D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D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：外部输入数据</a:t>
            </a:r>
            <a:endParaRPr lang="en-US" altLang="zh-CN" sz="2400" b="1" dirty="0"/>
          </a:p>
          <a:p>
            <a:r>
              <a:rPr lang="en-US" altLang="zh-CN" sz="2400" b="1" dirty="0"/>
              <a:t>Q</a:t>
            </a:r>
            <a:r>
              <a:rPr lang="en-US" altLang="zh-CN" sz="2400" b="1" baseline="-25000" dirty="0"/>
              <a:t>3</a:t>
            </a:r>
            <a:r>
              <a:rPr lang="en-US" altLang="zh-CN" sz="2400" b="1" dirty="0"/>
              <a:t>Q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Q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Q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：计数器输出数据</a:t>
            </a:r>
            <a:endParaRPr lang="zh-CN" altLang="en-US" sz="2400" b="1" dirty="0"/>
          </a:p>
        </p:txBody>
      </p:sp>
      <p:sp>
        <p:nvSpPr>
          <p:cNvPr id="18" name="对话气泡: 矩形 20"/>
          <p:cNvSpPr/>
          <p:nvPr/>
        </p:nvSpPr>
        <p:spPr>
          <a:xfrm>
            <a:off x="1330794" y="753424"/>
            <a:ext cx="1008449" cy="624386"/>
          </a:xfrm>
          <a:prstGeom prst="wedgeRectCallout">
            <a:avLst>
              <a:gd name="adj1" fmla="val -17821"/>
              <a:gd name="adj2" fmla="val 9977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异步清零端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275296" y="5350844"/>
            <a:ext cx="4635948" cy="1354217"/>
            <a:chOff x="4275296" y="5350844"/>
            <a:chExt cx="4635948" cy="1354217"/>
          </a:xfrm>
        </p:grpSpPr>
        <p:sp>
          <p:nvSpPr>
            <p:cNvPr id="4" name="文本框 3"/>
            <p:cNvSpPr txBox="1"/>
            <p:nvPr/>
          </p:nvSpPr>
          <p:spPr>
            <a:xfrm>
              <a:off x="4275296" y="5350844"/>
              <a:ext cx="463594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spcAft>
                  <a:spcPts val="1200"/>
                </a:spcAft>
                <a:buFont typeface="Wingdings" panose="05000000000000000000" pitchFamily="2" charset="2"/>
                <a:buChar char="Ø"/>
              </a:pPr>
              <a:r>
                <a:rPr lang="zh-CN" altLang="en-US" sz="2400" b="1" dirty="0"/>
                <a:t>当</a:t>
              </a:r>
              <a:r>
                <a:rPr lang="en-US" altLang="zh-CN" sz="2400" b="1" dirty="0"/>
                <a:t>CR=1</a:t>
              </a:r>
              <a:r>
                <a:rPr lang="zh-CN" altLang="en-US" sz="2400" b="1" dirty="0"/>
                <a:t>时，</a:t>
              </a:r>
              <a:r>
                <a:rPr lang="en-US" altLang="zh-CN" sz="2400" b="1" dirty="0"/>
                <a:t> Q</a:t>
              </a:r>
              <a:r>
                <a:rPr lang="en-US" altLang="zh-CN" sz="2400" b="1" baseline="-25000" dirty="0"/>
                <a:t>3</a:t>
              </a:r>
              <a:r>
                <a:rPr lang="en-US" altLang="zh-CN" sz="2400" b="1" dirty="0"/>
                <a:t>Q</a:t>
              </a:r>
              <a:r>
                <a:rPr lang="en-US" altLang="zh-CN" sz="2400" b="1" baseline="-25000" dirty="0"/>
                <a:t>2</a:t>
              </a:r>
              <a:r>
                <a:rPr lang="en-US" altLang="zh-CN" sz="2400" b="1" dirty="0"/>
                <a:t>Q</a:t>
              </a:r>
              <a:r>
                <a:rPr lang="en-US" altLang="zh-CN" sz="2400" b="1" baseline="-25000" dirty="0"/>
                <a:t>1</a:t>
              </a:r>
              <a:r>
                <a:rPr lang="en-US" altLang="zh-CN" sz="2400" b="1" dirty="0"/>
                <a:t>Q</a:t>
              </a:r>
              <a:r>
                <a:rPr lang="en-US" altLang="zh-CN" sz="2400" b="1" baseline="-25000" dirty="0"/>
                <a:t>0</a:t>
              </a:r>
              <a:r>
                <a:rPr lang="en-US" altLang="zh-CN" sz="2400" b="1" dirty="0"/>
                <a:t>=0000</a:t>
              </a:r>
              <a:endParaRPr lang="en-US" altLang="zh-CN" sz="2400" b="1" dirty="0"/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400" b="1" dirty="0"/>
                <a:t>当</a:t>
              </a:r>
              <a:r>
                <a:rPr lang="en-US" altLang="zh-CN" sz="2400" b="1" dirty="0"/>
                <a:t>CR=0</a:t>
              </a:r>
              <a:r>
                <a:rPr lang="zh-CN" altLang="en-US" sz="2400" b="1" dirty="0"/>
                <a:t>且</a:t>
              </a:r>
              <a:r>
                <a:rPr lang="en-US" altLang="zh-CN" sz="2400" b="1" dirty="0"/>
                <a:t>LD=0</a:t>
              </a:r>
              <a:r>
                <a:rPr lang="zh-CN" altLang="en-US" sz="2400" b="1" dirty="0"/>
                <a:t>时，</a:t>
              </a:r>
              <a:endParaRPr lang="en-US" altLang="zh-CN" sz="2400" b="1" dirty="0"/>
            </a:p>
            <a:p>
              <a:r>
                <a:rPr lang="en-US" altLang="zh-CN" sz="2400" b="1" dirty="0"/>
                <a:t>      Q</a:t>
              </a:r>
              <a:r>
                <a:rPr lang="en-US" altLang="zh-CN" sz="2400" b="1" baseline="-25000" dirty="0"/>
                <a:t>3</a:t>
              </a:r>
              <a:r>
                <a:rPr lang="en-US" altLang="zh-CN" sz="2400" b="1" dirty="0"/>
                <a:t>Q</a:t>
              </a:r>
              <a:r>
                <a:rPr lang="en-US" altLang="zh-CN" sz="2400" b="1" baseline="-25000" dirty="0"/>
                <a:t>2</a:t>
              </a:r>
              <a:r>
                <a:rPr lang="en-US" altLang="zh-CN" sz="2400" b="1" dirty="0"/>
                <a:t>Q</a:t>
              </a:r>
              <a:r>
                <a:rPr lang="en-US" altLang="zh-CN" sz="2400" b="1" baseline="-25000" dirty="0"/>
                <a:t>1</a:t>
              </a:r>
              <a:r>
                <a:rPr lang="en-US" altLang="zh-CN" sz="2400" b="1" dirty="0"/>
                <a:t>Q</a:t>
              </a:r>
              <a:r>
                <a:rPr lang="en-US" altLang="zh-CN" sz="2400" b="1" baseline="-25000" dirty="0"/>
                <a:t>0 </a:t>
              </a:r>
              <a:r>
                <a:rPr lang="en-US" altLang="zh-CN" sz="2400" b="1" dirty="0"/>
                <a:t>= D</a:t>
              </a:r>
              <a:r>
                <a:rPr lang="en-US" altLang="zh-CN" sz="2400" b="1" baseline="-25000" dirty="0"/>
                <a:t>3</a:t>
              </a:r>
              <a:r>
                <a:rPr lang="en-US" altLang="zh-CN" sz="2400" b="1" dirty="0"/>
                <a:t>D</a:t>
              </a:r>
              <a:r>
                <a:rPr lang="en-US" altLang="zh-CN" sz="2400" b="1" baseline="-25000" dirty="0"/>
                <a:t>2</a:t>
              </a:r>
              <a:r>
                <a:rPr lang="en-US" altLang="zh-CN" sz="2400" b="1" dirty="0"/>
                <a:t>D</a:t>
              </a:r>
              <a:r>
                <a:rPr lang="en-US" altLang="zh-CN" sz="2400" b="1" baseline="-25000" dirty="0"/>
                <a:t>1</a:t>
              </a:r>
              <a:r>
                <a:rPr lang="en-US" altLang="zh-CN" sz="2400" b="1" dirty="0"/>
                <a:t>D</a:t>
              </a:r>
              <a:r>
                <a:rPr lang="en-US" altLang="zh-CN" sz="2400" b="1" baseline="-25000" dirty="0"/>
                <a:t>0</a:t>
              </a:r>
              <a:endParaRPr lang="zh-CN" altLang="en-US" sz="2400" b="1" dirty="0"/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5951913" y="5951767"/>
              <a:ext cx="282632" cy="1123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0" grpId="0" animBg="1"/>
      <p:bldP spid="16" grpId="0" animBg="1"/>
      <p:bldP spid="3" grpId="0"/>
      <p:bldP spid="1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25156" y="2116013"/>
          <a:ext cx="9093688" cy="3402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图片" r:id="rId1" imgW="4542790" imgH="1776730" progId="Word.Picture.8">
                  <p:embed/>
                </p:oleObj>
              </mc:Choice>
              <mc:Fallback>
                <p:oleObj name="图片" r:id="rId1" imgW="4542790" imgH="1776730" progId="Word.Picture.8">
                  <p:embed/>
                  <p:pic>
                    <p:nvPicPr>
                      <p:cNvPr id="0" name="图片 16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6" y="2116013"/>
                        <a:ext cx="9093688" cy="3402239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75" name="Text Box 3"/>
          <p:cNvSpPr txBox="1">
            <a:spLocks noChangeArrowheads="1"/>
          </p:cNvSpPr>
          <p:nvPr/>
        </p:nvSpPr>
        <p:spPr bwMode="auto">
          <a:xfrm>
            <a:off x="1435167" y="57713"/>
            <a:ext cx="633302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双时钟可逆十六进制计数器</a:t>
            </a:r>
            <a:r>
              <a:rPr kumimoji="1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74LS193</a:t>
            </a:r>
            <a:endParaRPr kumimoji="1"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对话气泡: 矩形 25"/>
          <p:cNvSpPr/>
          <p:nvPr/>
        </p:nvSpPr>
        <p:spPr>
          <a:xfrm>
            <a:off x="612517" y="5683934"/>
            <a:ext cx="1091821" cy="922497"/>
          </a:xfrm>
          <a:prstGeom prst="wedgeRectCallout">
            <a:avLst>
              <a:gd name="adj1" fmla="val 78800"/>
              <a:gd name="adj2" fmla="val -13172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prstClr val="black"/>
                </a:solidFill>
              </a:rPr>
              <a:t>减法计数脉冲输入端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  <p:sp>
        <p:nvSpPr>
          <p:cNvPr id="28" name="对话气泡: 矩形 27"/>
          <p:cNvSpPr/>
          <p:nvPr/>
        </p:nvSpPr>
        <p:spPr>
          <a:xfrm>
            <a:off x="2544149" y="1170775"/>
            <a:ext cx="955947" cy="704774"/>
          </a:xfrm>
          <a:prstGeom prst="wedgeRectCallout">
            <a:avLst>
              <a:gd name="adj1" fmla="val -47892"/>
              <a:gd name="adj2" fmla="val 9029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7030A0"/>
                </a:solidFill>
              </a:rPr>
              <a:t>借位输出端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13" name="对话气泡: 矩形 12"/>
          <p:cNvSpPr/>
          <p:nvPr/>
        </p:nvSpPr>
        <p:spPr>
          <a:xfrm>
            <a:off x="1435167" y="1195976"/>
            <a:ext cx="1008449" cy="704774"/>
          </a:xfrm>
          <a:prstGeom prst="wedgeRectCallout">
            <a:avLst>
              <a:gd name="adj1" fmla="val 28455"/>
              <a:gd name="adj2" fmla="val 9029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7030A0"/>
                </a:solidFill>
              </a:rPr>
              <a:t>进位输出端</a:t>
            </a:r>
            <a:endParaRPr lang="zh-CN" altLang="en-US" sz="2000" b="1" dirty="0">
              <a:solidFill>
                <a:srgbClr val="7030A0"/>
              </a:solidFill>
            </a:endParaRPr>
          </a:p>
        </p:txBody>
      </p:sp>
      <p:sp>
        <p:nvSpPr>
          <p:cNvPr id="14" name="对话气泡: 矩形 13"/>
          <p:cNvSpPr/>
          <p:nvPr/>
        </p:nvSpPr>
        <p:spPr>
          <a:xfrm>
            <a:off x="2173706" y="5662024"/>
            <a:ext cx="1091821" cy="922497"/>
          </a:xfrm>
          <a:prstGeom prst="wedgeRectCallout">
            <a:avLst>
              <a:gd name="adj1" fmla="val -15369"/>
              <a:gd name="adj2" fmla="val -13125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prstClr val="black"/>
                </a:solidFill>
              </a:rPr>
              <a:t>加法计数脉冲输入端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13" grpId="0" animBg="1"/>
      <p:bldP spid="1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6"/>
          <p:cNvGrpSpPr/>
          <p:nvPr/>
        </p:nvGrpSpPr>
        <p:grpSpPr bwMode="auto">
          <a:xfrm>
            <a:off x="23814" y="1290724"/>
            <a:ext cx="9096374" cy="4227513"/>
            <a:chOff x="186" y="592"/>
            <a:chExt cx="5730" cy="2663"/>
          </a:xfrm>
        </p:grpSpPr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1789" y="592"/>
              <a:ext cx="200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74LS193</a:t>
              </a:r>
              <a:r>
                <a:rPr lang="zh-CN" altLang="en-US" dirty="0">
                  <a:solidFill>
                    <a:srgbClr val="FF0000"/>
                  </a:solidFill>
                </a:rPr>
                <a:t>的逻辑功能表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pic>
          <p:nvPicPr>
            <p:cNvPr id="23" name="Picture 5" descr="B5-5-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" y="918"/>
              <a:ext cx="5730" cy="2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366358" y="5743662"/>
            <a:ext cx="8161824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prstClr val="black"/>
                </a:solidFill>
              </a:rPr>
              <a:t> ①     </a:t>
            </a:r>
            <a:r>
              <a:rPr lang="en-US" altLang="zh-CN" sz="3200" b="1" dirty="0">
                <a:solidFill>
                  <a:prstClr val="black"/>
                </a:solidFill>
              </a:rPr>
              <a:t>CR=1</a:t>
            </a:r>
            <a:r>
              <a:rPr lang="zh-CN" altLang="en-US" sz="3200" b="1" dirty="0">
                <a:solidFill>
                  <a:prstClr val="black"/>
                </a:solidFill>
              </a:rPr>
              <a:t>时，</a:t>
            </a:r>
            <a:r>
              <a:rPr lang="zh-CN" altLang="en-US" sz="3200" b="1" dirty="0">
                <a:solidFill>
                  <a:srgbClr val="0000FF"/>
                </a:solidFill>
              </a:rPr>
              <a:t>异步清零</a:t>
            </a:r>
            <a:endParaRPr lang="zh-CN" altLang="en-US" sz="3200" b="1" dirty="0">
              <a:solidFill>
                <a:srgbClr val="0000FF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33403" y="3014381"/>
            <a:ext cx="8907352" cy="35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1435167" y="57713"/>
            <a:ext cx="633302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双时钟可逆十六进制计数器</a:t>
            </a:r>
            <a:r>
              <a:rPr kumimoji="1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74LS193</a:t>
            </a:r>
            <a:endParaRPr kumimoji="1"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6"/>
          <p:cNvGrpSpPr/>
          <p:nvPr/>
        </p:nvGrpSpPr>
        <p:grpSpPr bwMode="auto">
          <a:xfrm>
            <a:off x="23813" y="739459"/>
            <a:ext cx="9096374" cy="4227513"/>
            <a:chOff x="186" y="592"/>
            <a:chExt cx="5730" cy="2663"/>
          </a:xfrm>
        </p:grpSpPr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1789" y="592"/>
              <a:ext cx="200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74LS193</a:t>
              </a:r>
              <a:r>
                <a:rPr lang="zh-CN" altLang="en-US" dirty="0">
                  <a:solidFill>
                    <a:srgbClr val="FF0000"/>
                  </a:solidFill>
                </a:rPr>
                <a:t>的逻辑功能表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pic>
          <p:nvPicPr>
            <p:cNvPr id="22" name="Picture 5" descr="B5-5-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" y="918"/>
              <a:ext cx="5730" cy="2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14" name="Group 16"/>
          <p:cNvGrpSpPr/>
          <p:nvPr/>
        </p:nvGrpSpPr>
        <p:grpSpPr bwMode="auto">
          <a:xfrm>
            <a:off x="313856" y="5107212"/>
            <a:ext cx="8161824" cy="584200"/>
            <a:chOff x="0" y="0"/>
            <a:chExt cx="4560" cy="368"/>
          </a:xfrm>
        </p:grpSpPr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4560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prstClr val="black"/>
                  </a:solidFill>
                </a:rPr>
                <a:t>② </a:t>
              </a:r>
              <a:r>
                <a:rPr lang="en-US" altLang="zh-CN" sz="3200" b="1" dirty="0">
                  <a:solidFill>
                    <a:prstClr val="black"/>
                  </a:solidFill>
                </a:rPr>
                <a:t>CR=0</a:t>
              </a:r>
              <a:r>
                <a:rPr lang="zh-CN" altLang="en-US" sz="3200" b="1" dirty="0">
                  <a:solidFill>
                    <a:prstClr val="black"/>
                  </a:solidFill>
                </a:rPr>
                <a:t>，</a:t>
              </a:r>
              <a:r>
                <a:rPr lang="en-US" altLang="zh-CN" sz="3200" b="1" dirty="0">
                  <a:solidFill>
                    <a:prstClr val="black"/>
                  </a:solidFill>
                </a:rPr>
                <a:t>LD=0</a:t>
              </a:r>
              <a:r>
                <a:rPr lang="zh-CN" altLang="en-US" sz="3200" b="1" dirty="0">
                  <a:solidFill>
                    <a:prstClr val="black"/>
                  </a:solidFill>
                </a:rPr>
                <a:t>时，</a:t>
              </a:r>
              <a:r>
                <a:rPr lang="zh-CN" altLang="en-US" sz="3200" b="1" dirty="0">
                  <a:solidFill>
                    <a:srgbClr val="0000FF"/>
                  </a:solidFill>
                </a:rPr>
                <a:t>异步置数</a:t>
              </a:r>
              <a:endParaRPr lang="zh-CN" altLang="en-US" sz="3200" b="1" dirty="0">
                <a:solidFill>
                  <a:srgbClr val="0000FF"/>
                </a:solidFill>
              </a:endParaRPr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1020" y="65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>
          <a:xfrm>
            <a:off x="354384" y="2952882"/>
            <a:ext cx="8435230" cy="35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ine 18"/>
          <p:cNvSpPr>
            <a:spLocks noChangeShapeType="1"/>
          </p:cNvSpPr>
          <p:nvPr/>
        </p:nvSpPr>
        <p:spPr bwMode="auto">
          <a:xfrm>
            <a:off x="1909517" y="4724981"/>
            <a:ext cx="42957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27" name="Line 18"/>
          <p:cNvSpPr>
            <a:spLocks noChangeShapeType="1"/>
          </p:cNvSpPr>
          <p:nvPr/>
        </p:nvSpPr>
        <p:spPr bwMode="auto">
          <a:xfrm flipV="1">
            <a:off x="3117792" y="4723393"/>
            <a:ext cx="329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24" name="Text Box 153"/>
          <p:cNvSpPr txBox="1">
            <a:spLocks noChangeArrowheads="1"/>
          </p:cNvSpPr>
          <p:nvPr/>
        </p:nvSpPr>
        <p:spPr bwMode="auto">
          <a:xfrm>
            <a:off x="3447592" y="5640785"/>
            <a:ext cx="3030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i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1" lang="en-US" altLang="zh-CN" sz="2800" b="1" baseline="-250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 </a:t>
            </a:r>
            <a:r>
              <a:rPr kumimoji="1" lang="en-US" altLang="zh-CN" sz="2800" b="1" i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1" lang="en-US" altLang="zh-CN" sz="2800" b="1" baseline="-250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kumimoji="1" lang="en-US" altLang="zh-CN" sz="2800" b="1" i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 b="1" baseline="-250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 </a:t>
            </a:r>
            <a:r>
              <a:rPr kumimoji="1" lang="en-US" altLang="zh-CN" sz="2800" b="1" i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 b="1" baseline="-25000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endParaRPr kumimoji="1" lang="en-US" altLang="zh-CN" sz="2800" b="1" baseline="-25000" dirty="0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1435167" y="57713"/>
            <a:ext cx="633302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双时钟可逆十六进制计数器</a:t>
            </a:r>
            <a:r>
              <a:rPr kumimoji="1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74LS193</a:t>
            </a:r>
            <a:endParaRPr kumimoji="1"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6"/>
          <p:cNvGrpSpPr/>
          <p:nvPr/>
        </p:nvGrpSpPr>
        <p:grpSpPr bwMode="auto">
          <a:xfrm>
            <a:off x="175004" y="615323"/>
            <a:ext cx="8372301" cy="3618908"/>
            <a:chOff x="201" y="522"/>
            <a:chExt cx="5730" cy="2651"/>
          </a:xfrm>
        </p:grpSpPr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1817" y="522"/>
              <a:ext cx="200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74LS193</a:t>
              </a:r>
              <a:r>
                <a:rPr lang="zh-CN" altLang="en-US" dirty="0">
                  <a:solidFill>
                    <a:srgbClr val="FF0000"/>
                  </a:solidFill>
                </a:rPr>
                <a:t>的逻辑功能表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pic>
          <p:nvPicPr>
            <p:cNvPr id="22" name="Picture 5" descr="B5-5-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" y="836"/>
              <a:ext cx="5730" cy="2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14" name="Group 16"/>
          <p:cNvGrpSpPr/>
          <p:nvPr/>
        </p:nvGrpSpPr>
        <p:grpSpPr bwMode="auto">
          <a:xfrm>
            <a:off x="448316" y="4170144"/>
            <a:ext cx="8462523" cy="523875"/>
            <a:chOff x="0" y="0"/>
            <a:chExt cx="4728" cy="330"/>
          </a:xfrm>
        </p:grpSpPr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47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prstClr val="black"/>
                  </a:solidFill>
                </a:rPr>
                <a:t>③ </a:t>
              </a:r>
              <a:r>
                <a:rPr lang="en-US" altLang="zh-CN" sz="2800" b="1" dirty="0">
                  <a:solidFill>
                    <a:prstClr val="black"/>
                  </a:solidFill>
                </a:rPr>
                <a:t>CR=0</a:t>
              </a:r>
              <a:r>
                <a:rPr lang="zh-CN" altLang="en-US" sz="2800" b="1" dirty="0">
                  <a:solidFill>
                    <a:prstClr val="black"/>
                  </a:solidFill>
                </a:rPr>
                <a:t>，</a:t>
              </a:r>
              <a:r>
                <a:rPr lang="en-US" altLang="zh-CN" sz="2800" b="1" dirty="0">
                  <a:solidFill>
                    <a:prstClr val="black"/>
                  </a:solidFill>
                </a:rPr>
                <a:t>LD=1</a:t>
              </a:r>
              <a:r>
                <a:rPr lang="zh-CN" altLang="en-US" sz="2800" b="1" dirty="0">
                  <a:solidFill>
                    <a:prstClr val="black"/>
                  </a:solidFill>
                </a:rPr>
                <a:t>，</a:t>
              </a:r>
              <a:r>
                <a:rPr lang="en-US" altLang="zh-CN" sz="2800" b="1" dirty="0">
                  <a:solidFill>
                    <a:prstClr val="black"/>
                  </a:solidFill>
                </a:rPr>
                <a:t>CP</a:t>
              </a:r>
              <a:r>
                <a:rPr lang="en-US" altLang="zh-CN" sz="2800" b="1" baseline="-25000" dirty="0">
                  <a:solidFill>
                    <a:prstClr val="black"/>
                  </a:solidFill>
                </a:rPr>
                <a:t>U</a:t>
              </a:r>
              <a:r>
                <a:rPr kumimoji="1" lang="en-US" altLang="zh-CN" sz="2800" b="1" dirty="0">
                  <a:solidFill>
                    <a:srgbClr val="FF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</a:t>
              </a:r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且</a:t>
              </a:r>
              <a:r>
                <a:rPr kumimoji="1"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CP</a:t>
              </a:r>
              <a:r>
                <a:rPr kumimoji="1" lang="en-US" altLang="zh-CN" sz="28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D</a:t>
              </a:r>
              <a:r>
                <a:rPr kumimoji="1"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=0</a:t>
              </a:r>
              <a:r>
                <a:rPr lang="zh-CN" altLang="en-US" sz="2800" b="1" dirty="0">
                  <a:solidFill>
                    <a:prstClr val="black"/>
                  </a:solidFill>
                </a:rPr>
                <a:t>时，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加</a:t>
              </a:r>
              <a:r>
                <a:rPr lang="en-US" altLang="zh-CN" sz="2800" b="1" dirty="0">
                  <a:solidFill>
                    <a:srgbClr val="0000FF"/>
                  </a:solidFill>
                </a:rPr>
                <a:t>1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计数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903" y="59"/>
              <a:ext cx="24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>
          <a:xfrm>
            <a:off x="228028" y="3027366"/>
            <a:ext cx="8259705" cy="3094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1435167" y="57713"/>
            <a:ext cx="633302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双时钟可逆十六进制计数器</a:t>
            </a:r>
            <a:r>
              <a:rPr kumimoji="1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74LS193</a:t>
            </a:r>
            <a:endParaRPr kumimoji="1"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28028" y="4800799"/>
            <a:ext cx="8558253" cy="1200329"/>
            <a:chOff x="228028" y="4904874"/>
            <a:chExt cx="8558253" cy="1200329"/>
          </a:xfrm>
        </p:grpSpPr>
        <p:sp>
          <p:nvSpPr>
            <p:cNvPr id="2" name="文本框 1"/>
            <p:cNvSpPr txBox="1"/>
            <p:nvPr/>
          </p:nvSpPr>
          <p:spPr>
            <a:xfrm>
              <a:off x="228028" y="4904874"/>
              <a:ext cx="85582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solidFill>
                    <a:prstClr val="black"/>
                  </a:solidFill>
                </a:rPr>
                <a:t>当加法计数到达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1111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时，进位输出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CO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输出一个脉宽等于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CP</a:t>
              </a:r>
              <a:r>
                <a:rPr lang="en-US" altLang="zh-CN" sz="2400" b="1" baseline="-25000" dirty="0">
                  <a:solidFill>
                    <a:prstClr val="black"/>
                  </a:solidFill>
                </a:rPr>
                <a:t>U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的低电平部分的低电平脉冲；当下一个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CP</a:t>
              </a:r>
              <a:r>
                <a:rPr lang="en-US" altLang="zh-CN" sz="2400" b="1" baseline="-25000" dirty="0">
                  <a:solidFill>
                    <a:prstClr val="black"/>
                  </a:solidFill>
                </a:rPr>
                <a:t>U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上升沿到来时，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CO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变为高电平。由此产生一个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CO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的上升沿。</a:t>
              </a:r>
              <a:endParaRPr lang="en-US" altLang="zh-CN" sz="2400" b="1" dirty="0">
                <a:solidFill>
                  <a:prstClr val="black"/>
                </a:solidFill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5229471" y="5006861"/>
              <a:ext cx="3575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Aft>
                  <a:spcPts val="60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4679578" y="5735681"/>
              <a:ext cx="3575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653009" y="5735681"/>
              <a:ext cx="3575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28028" y="5987194"/>
            <a:ext cx="8319277" cy="830997"/>
            <a:chOff x="300217" y="6324078"/>
            <a:chExt cx="8319277" cy="830997"/>
          </a:xfrm>
        </p:grpSpPr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4831840" y="6416012"/>
              <a:ext cx="3575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Aft>
                  <a:spcPts val="600"/>
                </a:spcAft>
              </a:pPr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00217" y="6324078"/>
              <a:ext cx="8319277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solidFill>
                    <a:prstClr val="black"/>
                  </a:solidFill>
                </a:rPr>
                <a:t>多个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74LS193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级联时，将低位的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CO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端与高位的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CP</a:t>
              </a:r>
              <a:r>
                <a:rPr lang="en-US" altLang="zh-CN" sz="2400" b="1" baseline="-25000" dirty="0">
                  <a:solidFill>
                    <a:prstClr val="black"/>
                  </a:solidFill>
                </a:rPr>
                <a:t>U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端连接起来。</a:t>
              </a:r>
              <a:endParaRPr lang="zh-CN" altLang="en-US" sz="2400" b="1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6"/>
          <p:cNvGrpSpPr/>
          <p:nvPr/>
        </p:nvGrpSpPr>
        <p:grpSpPr bwMode="auto">
          <a:xfrm>
            <a:off x="276835" y="604875"/>
            <a:ext cx="8331269" cy="3607827"/>
            <a:chOff x="186" y="592"/>
            <a:chExt cx="5730" cy="2663"/>
          </a:xfrm>
        </p:grpSpPr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1789" y="592"/>
              <a:ext cx="200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74LS193</a:t>
              </a:r>
              <a:r>
                <a:rPr lang="zh-CN" altLang="en-US" dirty="0">
                  <a:solidFill>
                    <a:srgbClr val="FF0000"/>
                  </a:solidFill>
                </a:rPr>
                <a:t>的逻辑功能表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pic>
          <p:nvPicPr>
            <p:cNvPr id="22" name="Picture 5" descr="B5-5-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" y="918"/>
              <a:ext cx="5730" cy="2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14" name="Group 16"/>
          <p:cNvGrpSpPr/>
          <p:nvPr/>
        </p:nvGrpSpPr>
        <p:grpSpPr bwMode="auto">
          <a:xfrm>
            <a:off x="276835" y="4217409"/>
            <a:ext cx="8462523" cy="523875"/>
            <a:chOff x="0" y="0"/>
            <a:chExt cx="4728" cy="330"/>
          </a:xfrm>
        </p:grpSpPr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47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prstClr val="black"/>
                  </a:solidFill>
                </a:rPr>
                <a:t>④ </a:t>
              </a:r>
              <a:r>
                <a:rPr lang="en-US" altLang="zh-CN" sz="2800" b="1" dirty="0">
                  <a:solidFill>
                    <a:prstClr val="black"/>
                  </a:solidFill>
                </a:rPr>
                <a:t>CR=0</a:t>
              </a:r>
              <a:r>
                <a:rPr lang="zh-CN" altLang="en-US" sz="2800" b="1" dirty="0">
                  <a:solidFill>
                    <a:prstClr val="black"/>
                  </a:solidFill>
                </a:rPr>
                <a:t>，</a:t>
              </a:r>
              <a:r>
                <a:rPr lang="en-US" altLang="zh-CN" sz="2800" b="1" dirty="0">
                  <a:solidFill>
                    <a:prstClr val="black"/>
                  </a:solidFill>
                </a:rPr>
                <a:t>LD=1</a:t>
              </a:r>
              <a:r>
                <a:rPr lang="zh-CN" altLang="en-US" sz="2800" b="1" dirty="0">
                  <a:solidFill>
                    <a:prstClr val="black"/>
                  </a:solidFill>
                </a:rPr>
                <a:t>，</a:t>
              </a:r>
              <a:r>
                <a:rPr lang="en-US" altLang="zh-CN" sz="2800" b="1" dirty="0">
                  <a:solidFill>
                    <a:prstClr val="black"/>
                  </a:solidFill>
                </a:rPr>
                <a:t>CP</a:t>
              </a:r>
              <a:r>
                <a:rPr lang="en-US" altLang="zh-CN" sz="2800" b="1" baseline="-25000" dirty="0">
                  <a:solidFill>
                    <a:prstClr val="black"/>
                  </a:solidFill>
                </a:rPr>
                <a:t>D</a:t>
              </a:r>
              <a:r>
                <a:rPr kumimoji="1" lang="en-US" altLang="zh-CN" sz="2800" b="1" dirty="0">
                  <a:solidFill>
                    <a:srgbClr val="FF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</a:t>
              </a:r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且</a:t>
              </a:r>
              <a:r>
                <a:rPr kumimoji="1"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CP</a:t>
              </a:r>
              <a:r>
                <a:rPr kumimoji="1" lang="en-US" altLang="zh-CN" sz="28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r>
                <a:rPr kumimoji="1"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=0</a:t>
              </a:r>
              <a:r>
                <a:rPr lang="zh-CN" altLang="en-US" sz="2800" b="1" dirty="0">
                  <a:solidFill>
                    <a:prstClr val="black"/>
                  </a:solidFill>
                </a:rPr>
                <a:t>时，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减</a:t>
              </a:r>
              <a:r>
                <a:rPr lang="en-US" altLang="zh-CN" sz="2800" b="1" dirty="0">
                  <a:solidFill>
                    <a:srgbClr val="0000FF"/>
                  </a:solidFill>
                </a:rPr>
                <a:t>1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计数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898" y="48"/>
              <a:ext cx="207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>
          <a:xfrm>
            <a:off x="276835" y="3501682"/>
            <a:ext cx="8435230" cy="35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1435167" y="57713"/>
            <a:ext cx="633302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双时钟可逆十六进制计数器</a:t>
            </a:r>
            <a:r>
              <a:rPr kumimoji="1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74LS193</a:t>
            </a:r>
            <a:endParaRPr kumimoji="1"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16973" y="4927308"/>
            <a:ext cx="8769412" cy="1200329"/>
            <a:chOff x="216973" y="4927308"/>
            <a:chExt cx="8769412" cy="1200329"/>
          </a:xfrm>
        </p:grpSpPr>
        <p:sp>
          <p:nvSpPr>
            <p:cNvPr id="19" name="文本框 18"/>
            <p:cNvSpPr txBox="1"/>
            <p:nvPr/>
          </p:nvSpPr>
          <p:spPr>
            <a:xfrm>
              <a:off x="216973" y="4927308"/>
              <a:ext cx="876941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solidFill>
                    <a:prstClr val="black"/>
                  </a:solidFill>
                </a:rPr>
                <a:t>当减法计数值为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0000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时，借位输出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BO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输出一个脉宽等于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CP</a:t>
              </a:r>
              <a:r>
                <a:rPr lang="en-US" altLang="zh-CN" sz="2400" b="1" baseline="-25000" dirty="0">
                  <a:solidFill>
                    <a:prstClr val="black"/>
                  </a:solidFill>
                </a:rPr>
                <a:t>D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的低电平部分的低电平脉冲；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CP</a:t>
              </a:r>
              <a:r>
                <a:rPr lang="en-US" altLang="zh-CN" sz="2400" b="1" baseline="-25000" dirty="0">
                  <a:solidFill>
                    <a:prstClr val="black"/>
                  </a:solidFill>
                </a:rPr>
                <a:t>D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的下一个上升沿到达时，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BO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变为高电平；由此产生一个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BO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的上升沿</a:t>
              </a:r>
              <a:endParaRPr lang="en-US" altLang="zh-CN" sz="2400" b="1" dirty="0">
                <a:solidFill>
                  <a:prstClr val="black"/>
                </a:solidFill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5208125" y="5014587"/>
              <a:ext cx="3782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>
              <a:off x="3988924" y="5727271"/>
              <a:ext cx="3782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auto">
            <a:xfrm>
              <a:off x="8106640" y="5396585"/>
              <a:ext cx="3782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76835" y="6191541"/>
            <a:ext cx="8556105" cy="461665"/>
            <a:chOff x="276835" y="6191541"/>
            <a:chExt cx="8556105" cy="461665"/>
          </a:xfrm>
        </p:grpSpPr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4783008" y="6280724"/>
              <a:ext cx="3782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276835" y="6191541"/>
              <a:ext cx="855610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solidFill>
                    <a:prstClr val="black"/>
                  </a:solidFill>
                </a:rPr>
                <a:t>多个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74LS193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级联时，将低位的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BO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端与高位的</a:t>
              </a:r>
              <a:r>
                <a:rPr lang="en-US" altLang="zh-CN" sz="2400" b="1" dirty="0">
                  <a:solidFill>
                    <a:prstClr val="black"/>
                  </a:solidFill>
                </a:rPr>
                <a:t>CP</a:t>
              </a:r>
              <a:r>
                <a:rPr lang="en-US" altLang="zh-CN" sz="2400" b="1" baseline="-25000" dirty="0">
                  <a:solidFill>
                    <a:prstClr val="black"/>
                  </a:solidFill>
                </a:rPr>
                <a:t>D</a:t>
              </a:r>
              <a:r>
                <a:rPr lang="zh-CN" altLang="en-US" sz="2400" b="1" dirty="0">
                  <a:solidFill>
                    <a:prstClr val="black"/>
                  </a:solidFill>
                </a:rPr>
                <a:t>端连接起来</a:t>
              </a:r>
              <a:endParaRPr lang="zh-CN" altLang="en-US" sz="2400" b="1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6"/>
          <p:cNvGrpSpPr/>
          <p:nvPr/>
        </p:nvGrpSpPr>
        <p:grpSpPr bwMode="auto">
          <a:xfrm>
            <a:off x="299136" y="923582"/>
            <a:ext cx="8331269" cy="3705372"/>
            <a:chOff x="186" y="520"/>
            <a:chExt cx="5730" cy="2735"/>
          </a:xfrm>
        </p:grpSpPr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1891" y="520"/>
              <a:ext cx="200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  <a:spcBef>
                  <a:spcPct val="2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74LS193</a:t>
              </a:r>
              <a:r>
                <a:rPr lang="zh-CN" altLang="en-US" dirty="0">
                  <a:solidFill>
                    <a:srgbClr val="FF0000"/>
                  </a:solidFill>
                </a:rPr>
                <a:t>的逻辑功能表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pic>
          <p:nvPicPr>
            <p:cNvPr id="22" name="Picture 5" descr="B5-5-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" y="918"/>
              <a:ext cx="5730" cy="2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14" name="Group 16"/>
          <p:cNvGrpSpPr/>
          <p:nvPr/>
        </p:nvGrpSpPr>
        <p:grpSpPr bwMode="auto">
          <a:xfrm>
            <a:off x="340738" y="4952547"/>
            <a:ext cx="8462523" cy="523875"/>
            <a:chOff x="0" y="0"/>
            <a:chExt cx="4728" cy="330"/>
          </a:xfrm>
        </p:grpSpPr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472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prstClr val="black"/>
                  </a:solidFill>
                </a:rPr>
                <a:t>⑤ </a:t>
              </a:r>
              <a:r>
                <a:rPr lang="en-US" altLang="zh-CN" sz="2800" b="1" dirty="0">
                  <a:solidFill>
                    <a:prstClr val="black"/>
                  </a:solidFill>
                </a:rPr>
                <a:t>CR=0</a:t>
              </a:r>
              <a:r>
                <a:rPr lang="zh-CN" altLang="en-US" sz="2800" b="1" dirty="0">
                  <a:solidFill>
                    <a:prstClr val="black"/>
                  </a:solidFill>
                </a:rPr>
                <a:t>，</a:t>
              </a:r>
              <a:r>
                <a:rPr lang="en-US" altLang="zh-CN" sz="2800" b="1" dirty="0">
                  <a:solidFill>
                    <a:prstClr val="black"/>
                  </a:solidFill>
                </a:rPr>
                <a:t>LD=1</a:t>
              </a:r>
              <a:r>
                <a:rPr lang="zh-CN" altLang="en-US" sz="2800" b="1" dirty="0">
                  <a:solidFill>
                    <a:prstClr val="black"/>
                  </a:solidFill>
                </a:rPr>
                <a:t>，</a:t>
              </a:r>
              <a:r>
                <a:rPr lang="en-US" altLang="zh-CN" sz="2800" b="1" dirty="0">
                  <a:solidFill>
                    <a:prstClr val="black"/>
                  </a:solidFill>
                </a:rPr>
                <a:t>CP</a:t>
              </a:r>
              <a:r>
                <a:rPr lang="en-US" altLang="zh-CN" sz="2800" b="1" baseline="-25000" dirty="0">
                  <a:solidFill>
                    <a:prstClr val="black"/>
                  </a:solidFill>
                </a:rPr>
                <a:t>D</a:t>
              </a:r>
              <a:r>
                <a:rPr kumimoji="1" lang="zh-CN" altLang="en-US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和</a:t>
              </a:r>
              <a:r>
                <a:rPr kumimoji="1"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CP</a:t>
              </a:r>
              <a:r>
                <a:rPr kumimoji="1" lang="en-US" altLang="zh-CN" sz="2800" b="1" baseline="-25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U</a:t>
              </a:r>
              <a:r>
                <a:rPr lang="zh-CN" altLang="en-US" sz="2800" b="1" dirty="0">
                  <a:solidFill>
                    <a:prstClr val="black"/>
                  </a:solidFill>
                  <a:sym typeface="Symbol" panose="05050102010706020507" pitchFamily="18" charset="2"/>
                </a:rPr>
                <a:t>均无变化时</a:t>
              </a:r>
              <a:r>
                <a:rPr lang="zh-CN" altLang="en-US" sz="2800" b="1" dirty="0">
                  <a:solidFill>
                    <a:prstClr val="black"/>
                  </a:solidFill>
                </a:rPr>
                <a:t>，</a:t>
              </a:r>
              <a:r>
                <a:rPr lang="zh-CN" altLang="en-US" sz="2800" b="1" dirty="0">
                  <a:solidFill>
                    <a:srgbClr val="0000FF"/>
                  </a:solidFill>
                </a:rPr>
                <a:t>状态保持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16" name="Line 18"/>
            <p:cNvSpPr>
              <a:spLocks noChangeShapeType="1"/>
            </p:cNvSpPr>
            <p:nvPr/>
          </p:nvSpPr>
          <p:spPr bwMode="auto">
            <a:xfrm>
              <a:off x="898" y="48"/>
              <a:ext cx="207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>
          <a:xfrm>
            <a:off x="247156" y="4391894"/>
            <a:ext cx="8435230" cy="350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1435167" y="57713"/>
            <a:ext cx="6333024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双时钟可逆十六进制计数器</a:t>
            </a:r>
            <a:r>
              <a:rPr kumimoji="1"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74LS193</a:t>
            </a:r>
            <a:endParaRPr kumimoji="1"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579095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010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72234" y="1336406"/>
            <a:ext cx="620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第五章习题  </a:t>
            </a:r>
            <a:endParaRPr lang="zh-CN" altLang="en-US" sz="28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0" y="2294858"/>
            <a:ext cx="9019050" cy="80045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640592" y="4194740"/>
            <a:ext cx="58135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www.1ppt.com/moban/     </a:t>
            </a:r>
            <a:r>
              <a:rPr lang="zh-CN" altLang="en-US" sz="100" kern="0" dirty="0">
                <a:solidFill>
                  <a:prstClr val="white"/>
                </a:solidFill>
              </a:rPr>
              <a:t>行业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www.1ppt.com/hangye/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节日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www.1ppt.com/jieri/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素材下载：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www.1ppt.com/sucai/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背景图片：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www.1ppt.com/beijing/      PPT</a:t>
            </a:r>
            <a:r>
              <a:rPr lang="zh-CN" altLang="en-US" sz="100" kern="0" dirty="0">
                <a:solidFill>
                  <a:prstClr val="white"/>
                </a:solidFill>
              </a:rPr>
              <a:t>图表下载：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www.1ppt.com/tubiao/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优秀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www.1ppt.com/xiazai/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www.1ppt.com/powerpoint/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Word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www.1ppt.com/word/              Excel</a:t>
            </a:r>
            <a:r>
              <a:rPr lang="zh-CN" altLang="en-US" sz="100" kern="0" dirty="0">
                <a:solidFill>
                  <a:prstClr val="white"/>
                </a:solidFill>
              </a:rPr>
              <a:t>教程：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www.1ppt.com/excel/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资料下载：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www.1ppt.com/ziliao/     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课件下载：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www.1ppt.com/kejian/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范文下载：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www.1ppt.com/fanwen/             </a:t>
            </a:r>
            <a:r>
              <a:rPr lang="zh-CN" altLang="en-US" sz="100" kern="0" dirty="0">
                <a:solidFill>
                  <a:prstClr val="white"/>
                </a:solidFill>
              </a:rPr>
              <a:t>试卷下载：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www.1ppt.com/shiti/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教案下载：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www.1ppt.com/jiaoan/  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字体下载：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www.1ppt.com/ziti/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 </a:t>
            </a:r>
            <a:endParaRPr lang="zh-CN" altLang="en-US" sz="100" kern="0" dirty="0">
              <a:solidFill>
                <a:prstClr val="white"/>
              </a:solidFill>
            </a:endParaRPr>
          </a:p>
        </p:txBody>
      </p:sp>
      <p:sp>
        <p:nvSpPr>
          <p:cNvPr id="4" name="淘宝网chenying0907出品 3"/>
          <p:cNvSpPr/>
          <p:nvPr/>
        </p:nvSpPr>
        <p:spPr>
          <a:xfrm>
            <a:off x="0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淘宝网chenying0907出品 4"/>
          <p:cNvSpPr/>
          <p:nvPr/>
        </p:nvSpPr>
        <p:spPr>
          <a:xfrm>
            <a:off x="5791596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淘宝网chenying0907出品 7"/>
          <p:cNvSpPr/>
          <p:nvPr/>
        </p:nvSpPr>
        <p:spPr>
          <a:xfrm>
            <a:off x="6046708" y="3246665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>
            <a:off x="6024911" y="4745807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10"/>
          <p:cNvSpPr/>
          <p:nvPr/>
        </p:nvSpPr>
        <p:spPr>
          <a:xfrm>
            <a:off x="6350719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淘宝网chenying0907出品 11"/>
          <p:cNvSpPr/>
          <p:nvPr/>
        </p:nvSpPr>
        <p:spPr>
          <a:xfrm>
            <a:off x="6676531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淘宝网chenying0907出品 12"/>
          <p:cNvSpPr/>
          <p:nvPr/>
        </p:nvSpPr>
        <p:spPr>
          <a:xfrm>
            <a:off x="6980542" y="3327665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淘宝网chenying0907出品 13"/>
          <p:cNvSpPr/>
          <p:nvPr/>
        </p:nvSpPr>
        <p:spPr>
          <a:xfrm>
            <a:off x="7284553" y="3354665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淘宝网chenying0907出品 14"/>
          <p:cNvSpPr/>
          <p:nvPr/>
        </p:nvSpPr>
        <p:spPr>
          <a:xfrm>
            <a:off x="7601500" y="3381665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淘宝网chenying0907出品 15"/>
          <p:cNvSpPr/>
          <p:nvPr/>
        </p:nvSpPr>
        <p:spPr>
          <a:xfrm rot="20959521">
            <a:off x="8008894" y="3420032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淘宝网chenying0907出品 16"/>
          <p:cNvSpPr/>
          <p:nvPr/>
        </p:nvSpPr>
        <p:spPr>
          <a:xfrm rot="19779136">
            <a:off x="8519314" y="3451229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/>
        </p:nvCxnSpPr>
        <p:spPr>
          <a:xfrm>
            <a:off x="233316" y="474580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33316" y="285101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33315" y="419551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淘宝网chenying0907出品 21"/>
          <p:cNvSpPr txBox="1"/>
          <p:nvPr/>
        </p:nvSpPr>
        <p:spPr>
          <a:xfrm>
            <a:off x="1550958" y="3076801"/>
            <a:ext cx="2882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淘宝网chenying0907出品 22"/>
          <p:cNvSpPr txBox="1"/>
          <p:nvPr/>
        </p:nvSpPr>
        <p:spPr>
          <a:xfrm>
            <a:off x="651868" y="4297539"/>
            <a:ext cx="18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淘宝网chenying0907出品 23"/>
          <p:cNvSpPr txBox="1"/>
          <p:nvPr/>
        </p:nvSpPr>
        <p:spPr>
          <a:xfrm>
            <a:off x="2871046" y="4297540"/>
            <a:ext cx="271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B962C8B-B14F-4D97-AF65-F5344CB8AC3E}" type="datetime1"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920435" y="265888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20433" cy="9204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0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PA" val="v3.0.1"/>
</p:tagLst>
</file>

<file path=ppt/tags/tag13.xml><?xml version="1.0" encoding="utf-8"?>
<p:tagLst xmlns:p="http://schemas.openxmlformats.org/presentationml/2006/main">
  <p:tag name="PA" val="v3.0.1"/>
</p:tagLst>
</file>

<file path=ppt/tags/tag14.xml><?xml version="1.0" encoding="utf-8"?>
<p:tagLst xmlns:p="http://schemas.openxmlformats.org/presentationml/2006/main">
  <p:tag name="PA" val="v3.0.1"/>
</p:tagLst>
</file>

<file path=ppt/tags/tag15.xml><?xml version="1.0" encoding="utf-8"?>
<p:tagLst xmlns:p="http://schemas.openxmlformats.org/presentationml/2006/main">
  <p:tag name="PA" val="v3.0.1"/>
</p:tagLst>
</file>

<file path=ppt/tags/tag16.xml><?xml version="1.0" encoding="utf-8"?>
<p:tagLst xmlns:p="http://schemas.openxmlformats.org/presentationml/2006/main">
  <p:tag name="PA" val="v3.0.1"/>
</p:tagLst>
</file>

<file path=ppt/tags/tag17.xml><?xml version="1.0" encoding="utf-8"?>
<p:tagLst xmlns:p="http://schemas.openxmlformats.org/presentationml/2006/main">
  <p:tag name="PA" val="v3.0.1"/>
</p:tagLst>
</file>

<file path=ppt/tags/tag18.xml><?xml version="1.0" encoding="utf-8"?>
<p:tagLst xmlns:p="http://schemas.openxmlformats.org/presentationml/2006/main">
  <p:tag name="PA" val="v3.0.1"/>
</p:tagLst>
</file>

<file path=ppt/tags/tag19.xml><?xml version="1.0" encoding="utf-8"?>
<p:tagLst xmlns:p="http://schemas.openxmlformats.org/presentationml/2006/main">
  <p:tag name="ISPRING_PRESENTATION_TITLE" val="PowerPoint 演示文稿3"/>
  <p:tag name="commondata" val="eyJoZGlkIjoiZDhiN2JiOTgyYTkzN2U0M2M2ZmY4ZTQxMzk0ZDNiOGUifQ=="/>
</p:tagLst>
</file>

<file path=ppt/theme/theme1.xml><?xml version="1.0" encoding="utf-8"?>
<a:theme xmlns:a="http://schemas.openxmlformats.org/drawingml/2006/main" name="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8083</Words>
  <Application>WPS 演示</Application>
  <PresentationFormat>全屏显示(4:3)</PresentationFormat>
  <Paragraphs>1234</Paragraphs>
  <Slides>64</Slides>
  <Notes>60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49</vt:i4>
      </vt:variant>
      <vt:variant>
        <vt:lpstr>幻灯片标题</vt:lpstr>
      </vt:variant>
      <vt:variant>
        <vt:i4>64</vt:i4>
      </vt:variant>
    </vt:vector>
  </HeadingPairs>
  <TitlesOfParts>
    <vt:vector size="137" baseType="lpstr">
      <vt:lpstr>Arial</vt:lpstr>
      <vt:lpstr>宋体</vt:lpstr>
      <vt:lpstr>Wingdings</vt:lpstr>
      <vt:lpstr>微软雅黑</vt:lpstr>
      <vt:lpstr>华文行楷</vt:lpstr>
      <vt:lpstr>黑体</vt:lpstr>
      <vt:lpstr>Calibri</vt:lpstr>
      <vt:lpstr>楷体_GB2312</vt:lpstr>
      <vt:lpstr>新宋体</vt:lpstr>
      <vt:lpstr>Times New Roman</vt:lpstr>
      <vt:lpstr>Arial Unicode MS</vt:lpstr>
      <vt:lpstr>Cambria Math</vt:lpstr>
      <vt:lpstr>楷体_GB2312</vt:lpstr>
      <vt:lpstr>Tahoma</vt:lpstr>
      <vt:lpstr>Times New Roman</vt:lpstr>
      <vt:lpstr>Cambria Math</vt:lpstr>
      <vt:lpstr>楷体</vt:lpstr>
      <vt:lpstr>Symbol</vt:lpstr>
      <vt:lpstr>幼圆</vt:lpstr>
      <vt:lpstr>华文新魏</vt:lpstr>
      <vt:lpstr>Calibri Light</vt:lpstr>
      <vt:lpstr>等线 Light</vt:lpstr>
      <vt:lpstr>等线</vt:lpstr>
      <vt:lpstr>第一PPT，www.1ppt.com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PBrush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Word.Picture.8</vt:lpstr>
      <vt:lpstr>Word.Picture.8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①相同输入时输出不同：在对应的小方格中填入“×”。 ②对应所有输入其输出均相同，转移的状态不同：填入待定状态对。 ③对应所有输入其输出均相同，转移的状态等效：填入“√”。例状态AF ④重复扫描，通过已确定状态的状态对，判别待定状态对的状态状况，直至没有待定状态。</vt:lpstr>
      <vt:lpstr>PowerPoint 演示文稿</vt:lpstr>
      <vt:lpstr>PowerPoint 演示文稿</vt:lpstr>
      <vt:lpstr>⑤找出等效对：  (A， F)、 (B， C)、 (B， H)和(C， H)     列出最大等效类：               (A， F) 、 (B， C， H)、 (D) 、 (E)和 (G)  　对原始各状态重新命名：  　　　(A， F)→A′，(B， C， H)→B′，(D)→C′，(E)→D′，(G)→E′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常用集成计数器 （1）4位二进制加法计数器：                 74LS161和74LS163 （2）4位十进制加法计数器：                     74LS160 和74LS162 （3）4位十进制加/减法计数器：                     74LS190和74LS192 （4）4位同步二进制加/减法计数器：                     74LS191和74LS193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公开课开题报告</dc:title>
  <dc:creator>第一PPT模板网-WWW.1PPT.COM</dc:creator>
  <cp:keywords>第一PPT模板网-WWW.1PPT.COM</cp:keywords>
  <cp:lastModifiedBy>Administrator</cp:lastModifiedBy>
  <cp:revision>3091</cp:revision>
  <dcterms:created xsi:type="dcterms:W3CDTF">2016-04-09T13:02:00Z</dcterms:created>
  <dcterms:modified xsi:type="dcterms:W3CDTF">2024-05-07T12:25:01Z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F22101CA10974D3A8F853F44B97F7E08_12</vt:lpwstr>
  </property>
</Properties>
</file>