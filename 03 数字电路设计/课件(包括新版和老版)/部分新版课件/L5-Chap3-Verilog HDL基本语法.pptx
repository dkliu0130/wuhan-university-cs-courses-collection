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86" r:id="rId3"/>
    <p:sldId id="402" r:id="rId5"/>
    <p:sldId id="485" r:id="rId6"/>
    <p:sldId id="529" r:id="rId7"/>
    <p:sldId id="528" r:id="rId8"/>
    <p:sldId id="530" r:id="rId9"/>
    <p:sldId id="531" r:id="rId10"/>
    <p:sldId id="526" r:id="rId11"/>
    <p:sldId id="527" r:id="rId12"/>
    <p:sldId id="452" r:id="rId13"/>
    <p:sldId id="454" r:id="rId14"/>
    <p:sldId id="453" r:id="rId15"/>
    <p:sldId id="534" r:id="rId16"/>
    <p:sldId id="487" r:id="rId17"/>
    <p:sldId id="488" r:id="rId18"/>
    <p:sldId id="490" r:id="rId19"/>
    <p:sldId id="491" r:id="rId20"/>
    <p:sldId id="492" r:id="rId21"/>
    <p:sldId id="493" r:id="rId22"/>
    <p:sldId id="494" r:id="rId23"/>
    <p:sldId id="495" r:id="rId24"/>
    <p:sldId id="496" r:id="rId25"/>
    <p:sldId id="463" r:id="rId26"/>
    <p:sldId id="505" r:id="rId27"/>
    <p:sldId id="535" r:id="rId28"/>
    <p:sldId id="459" r:id="rId29"/>
    <p:sldId id="532" r:id="rId30"/>
    <p:sldId id="464" r:id="rId31"/>
    <p:sldId id="506" r:id="rId32"/>
    <p:sldId id="465" r:id="rId33"/>
    <p:sldId id="536" r:id="rId34"/>
    <p:sldId id="466" r:id="rId35"/>
    <p:sldId id="507" r:id="rId36"/>
    <p:sldId id="467" r:id="rId37"/>
    <p:sldId id="469" r:id="rId38"/>
    <p:sldId id="508" r:id="rId39"/>
    <p:sldId id="470" r:id="rId40"/>
    <p:sldId id="509" r:id="rId41"/>
    <p:sldId id="472" r:id="rId42"/>
    <p:sldId id="537" r:id="rId43"/>
    <p:sldId id="498" r:id="rId44"/>
    <p:sldId id="481" r:id="rId45"/>
    <p:sldId id="511" r:id="rId46"/>
    <p:sldId id="512" r:id="rId47"/>
    <p:sldId id="513" r:id="rId48"/>
    <p:sldId id="504" r:id="rId49"/>
    <p:sldId id="475" r:id="rId50"/>
    <p:sldId id="515" r:id="rId51"/>
    <p:sldId id="476" r:id="rId52"/>
    <p:sldId id="510" r:id="rId53"/>
    <p:sldId id="521" r:id="rId54"/>
    <p:sldId id="538" r:id="rId55"/>
    <p:sldId id="279" r:id="rId56"/>
  </p:sldIdLst>
  <p:sldSz cx="9144000" cy="6858000" type="screen4x3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CC9900"/>
    <a:srgbClr val="FF0000"/>
    <a:srgbClr val="170A8E"/>
    <a:srgbClr val="2B56F5"/>
    <a:srgbClr val="1F4E79"/>
    <a:srgbClr val="19BCD7"/>
    <a:srgbClr val="3D74A7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56" autoAdjust="0"/>
    <p:restoredTop sz="86697" autoAdjust="0"/>
  </p:normalViewPr>
  <p:slideViewPr>
    <p:cSldViewPr snapToGrid="0" showGuides="1">
      <p:cViewPr varScale="1">
        <p:scale>
          <a:sx n="57" d="100"/>
          <a:sy n="57" d="100"/>
        </p:scale>
        <p:origin x="1332" y="3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gs" Target="tags/tag20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_淘宝网chenying0907出品 25"/>
          <p:cNvSpPr txBox="1"/>
          <p:nvPr>
            <p:custDataLst>
              <p:tags r:id="rId1"/>
            </p:custDataLst>
          </p:nvPr>
        </p:nvSpPr>
        <p:spPr>
          <a:xfrm>
            <a:off x="920434" y="333394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09"/>
            <a:ext cx="920433" cy="920433"/>
          </a:xfrm>
          <a:prstGeom prst="rect">
            <a:avLst/>
          </a:prstGeom>
        </p:spPr>
      </p:pic>
      <p:sp>
        <p:nvSpPr>
          <p:cNvPr id="29" name="PA_淘宝网chenying0907出品 3"/>
          <p:cNvSpPr/>
          <p:nvPr>
            <p:custDataLst>
              <p:tags r:id="rId3"/>
            </p:custDataLst>
          </p:nvPr>
        </p:nvSpPr>
        <p:spPr>
          <a:xfrm>
            <a:off x="0" y="2059709"/>
            <a:ext cx="233314" cy="291214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PA_淘宝网chenying0907出品 4"/>
          <p:cNvSpPr/>
          <p:nvPr>
            <p:custDataLst>
              <p:tags r:id="rId4"/>
            </p:custDataLst>
          </p:nvPr>
        </p:nvSpPr>
        <p:spPr>
          <a:xfrm>
            <a:off x="5791593" y="2059709"/>
            <a:ext cx="233314" cy="291214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1" name="PA_淘宝网chenying0907出品 7"/>
          <p:cNvSpPr/>
          <p:nvPr>
            <p:custDataLst>
              <p:tags r:id="rId5"/>
            </p:custDataLst>
          </p:nvPr>
        </p:nvSpPr>
        <p:spPr>
          <a:xfrm>
            <a:off x="6046707" y="3472713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32" name="PA_直接连接符 9"/>
          <p:cNvCxnSpPr/>
          <p:nvPr>
            <p:custDataLst>
              <p:tags r:id="rId6"/>
            </p:custDataLst>
          </p:nvPr>
        </p:nvCxnSpPr>
        <p:spPr>
          <a:xfrm>
            <a:off x="6024908" y="4971855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A_淘宝网chenying0907出品 10"/>
          <p:cNvSpPr/>
          <p:nvPr>
            <p:custDataLst>
              <p:tags r:id="rId7"/>
            </p:custDataLst>
          </p:nvPr>
        </p:nvSpPr>
        <p:spPr>
          <a:xfrm>
            <a:off x="6350719" y="3526713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4" name="PA_淘宝网chenying0907出品 11"/>
          <p:cNvSpPr/>
          <p:nvPr>
            <p:custDataLst>
              <p:tags r:id="rId8"/>
            </p:custDataLst>
          </p:nvPr>
        </p:nvSpPr>
        <p:spPr>
          <a:xfrm>
            <a:off x="6660738" y="3526713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5" name="PA_淘宝网chenying0907出品 12"/>
          <p:cNvSpPr/>
          <p:nvPr>
            <p:custDataLst>
              <p:tags r:id="rId9"/>
            </p:custDataLst>
          </p:nvPr>
        </p:nvSpPr>
        <p:spPr>
          <a:xfrm>
            <a:off x="6965301" y="3553713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6" name="PA_淘宝网chenying0907出品 13"/>
          <p:cNvSpPr/>
          <p:nvPr>
            <p:custDataLst>
              <p:tags r:id="rId10"/>
            </p:custDataLst>
          </p:nvPr>
        </p:nvSpPr>
        <p:spPr>
          <a:xfrm>
            <a:off x="7284553" y="3580713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7" name="PA_淘宝网chenying0907出品 14"/>
          <p:cNvSpPr/>
          <p:nvPr>
            <p:custDataLst>
              <p:tags r:id="rId11"/>
            </p:custDataLst>
          </p:nvPr>
        </p:nvSpPr>
        <p:spPr>
          <a:xfrm>
            <a:off x="7601497" y="3607713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8" name="PA_淘宝网chenying0907出品 15"/>
          <p:cNvSpPr/>
          <p:nvPr>
            <p:custDataLst>
              <p:tags r:id="rId12"/>
            </p:custDataLst>
          </p:nvPr>
        </p:nvSpPr>
        <p:spPr>
          <a:xfrm rot="20959521">
            <a:off x="8008894" y="3646080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9" name="PA_淘宝网chenying0907出品 16"/>
          <p:cNvSpPr/>
          <p:nvPr>
            <p:custDataLst>
              <p:tags r:id="rId13"/>
            </p:custDataLst>
          </p:nvPr>
        </p:nvSpPr>
        <p:spPr>
          <a:xfrm rot="19779136">
            <a:off x="8519313" y="3677277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0" name="PA_直接连接符 17"/>
          <p:cNvCxnSpPr/>
          <p:nvPr>
            <p:custDataLst>
              <p:tags r:id="rId14"/>
            </p:custDataLst>
          </p:nvPr>
        </p:nvCxnSpPr>
        <p:spPr>
          <a:xfrm>
            <a:off x="233315" y="4971855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PA_直接连接符 19"/>
          <p:cNvCxnSpPr/>
          <p:nvPr>
            <p:custDataLst>
              <p:tags r:id="rId15"/>
            </p:custDataLst>
          </p:nvPr>
        </p:nvCxnSpPr>
        <p:spPr>
          <a:xfrm>
            <a:off x="233313" y="2054706"/>
            <a:ext cx="555828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PA_直接连接符 20"/>
          <p:cNvCxnSpPr/>
          <p:nvPr>
            <p:custDataLst>
              <p:tags r:id="rId16"/>
            </p:custDataLst>
          </p:nvPr>
        </p:nvCxnSpPr>
        <p:spPr>
          <a:xfrm>
            <a:off x="233314" y="4421565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A_淘宝网chenying0907出品 21"/>
          <p:cNvSpPr txBox="1"/>
          <p:nvPr>
            <p:custDataLst>
              <p:tags r:id="rId17"/>
            </p:custDataLst>
          </p:nvPr>
        </p:nvSpPr>
        <p:spPr>
          <a:xfrm>
            <a:off x="154856" y="2450611"/>
            <a:ext cx="57254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</a:t>
            </a:r>
            <a:r>
              <a:rPr lang="en-US" altLang="zh-CN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Verilog HDL</a:t>
            </a:r>
            <a:endParaRPr lang="en-US" altLang="zh-CN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基本语法</a:t>
            </a:r>
            <a:endParaRPr lang="zh-CN" altLang="en-US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PA_淘宝网chenying0907出品 23"/>
          <p:cNvSpPr txBox="1"/>
          <p:nvPr>
            <p:custDataLst>
              <p:tags r:id="rId18"/>
            </p:custDataLst>
          </p:nvPr>
        </p:nvSpPr>
        <p:spPr>
          <a:xfrm>
            <a:off x="1072234" y="4524289"/>
            <a:ext cx="226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武汉大学计算机学院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PA_淘宝网chenying0907出品 22"/>
          <p:cNvSpPr txBox="1"/>
          <p:nvPr>
            <p:custDataLst>
              <p:tags r:id="rId19"/>
            </p:custDataLst>
          </p:nvPr>
        </p:nvSpPr>
        <p:spPr>
          <a:xfrm>
            <a:off x="3338526" y="4524288"/>
            <a:ext cx="24802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2023-2024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学期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883274" y="3079908"/>
            <a:ext cx="21302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858703" y="0"/>
            <a:ext cx="628529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>
            <a:stCxn id="12" idx="0"/>
          </p:cNvCxnSpPr>
          <p:nvPr/>
        </p:nvCxnSpPr>
        <p:spPr>
          <a:xfrm flipH="1">
            <a:off x="2858702" y="0"/>
            <a:ext cx="3142650" cy="1506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01352" y="5088571"/>
            <a:ext cx="3142648" cy="17694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25"/>
          <p:cNvSpPr txBox="1"/>
          <p:nvPr/>
        </p:nvSpPr>
        <p:spPr>
          <a:xfrm>
            <a:off x="3944893" y="2106841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zh-CN" altLang="en-US" sz="2800" dirty="0"/>
              <a:t>程序基本结构</a:t>
            </a:r>
            <a:endParaRPr lang="zh-CN" altLang="en-US" sz="2800" dirty="0"/>
          </a:p>
        </p:txBody>
      </p:sp>
      <p:sp>
        <p:nvSpPr>
          <p:cNvPr id="17" name="淘宝网chenying0907出品 25"/>
          <p:cNvSpPr txBox="1"/>
          <p:nvPr/>
        </p:nvSpPr>
        <p:spPr>
          <a:xfrm>
            <a:off x="3944893" y="2942680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数据类型</a:t>
            </a:r>
            <a:endParaRPr lang="zh-CN" altLang="en-US" sz="2800" dirty="0"/>
          </a:p>
        </p:txBody>
      </p:sp>
      <p:sp>
        <p:nvSpPr>
          <p:cNvPr id="19" name="淘宝网chenying0907出品 29"/>
          <p:cNvSpPr txBox="1"/>
          <p:nvPr/>
        </p:nvSpPr>
        <p:spPr>
          <a:xfrm>
            <a:off x="3944893" y="4618151"/>
            <a:ext cx="2424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基本语句</a:t>
            </a:r>
            <a:endParaRPr lang="zh-CN" altLang="en-US" sz="2800" dirty="0"/>
          </a:p>
        </p:txBody>
      </p:sp>
      <p:sp>
        <p:nvSpPr>
          <p:cNvPr id="22" name="淘宝网chenying0907出品 29"/>
          <p:cNvSpPr txBox="1"/>
          <p:nvPr/>
        </p:nvSpPr>
        <p:spPr>
          <a:xfrm>
            <a:off x="3944893" y="5453990"/>
            <a:ext cx="331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模块化程序设计</a:t>
            </a:r>
            <a:endParaRPr lang="zh-CN" altLang="en-US" sz="2800" dirty="0"/>
          </a:p>
        </p:txBody>
      </p:sp>
      <p:sp>
        <p:nvSpPr>
          <p:cNvPr id="29" name="淘宝网chenying0907出品 25"/>
          <p:cNvSpPr txBox="1"/>
          <p:nvPr/>
        </p:nvSpPr>
        <p:spPr>
          <a:xfrm>
            <a:off x="3944893" y="3778519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运算符</a:t>
            </a:r>
            <a:endParaRPr lang="zh-CN" altLang="en-US" sz="2800" dirty="0"/>
          </a:p>
        </p:txBody>
      </p:sp>
      <p:sp>
        <p:nvSpPr>
          <p:cNvPr id="13" name="淘宝网chenying0907出品 25"/>
          <p:cNvSpPr txBox="1"/>
          <p:nvPr/>
        </p:nvSpPr>
        <p:spPr>
          <a:xfrm>
            <a:off x="3944892" y="1267209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Quartus</a:t>
            </a:r>
            <a:r>
              <a:rPr lang="en-US" altLang="zh-CN" sz="2800" dirty="0">
                <a:solidFill>
                  <a:schemeClr val="bg1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Ⅱ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使用说明</a:t>
            </a:r>
            <a:r>
              <a:rPr lang="en-US" altLang="zh-CN" sz="2800" dirty="0">
                <a:solidFill>
                  <a:schemeClr val="bg1"/>
                </a:solidFill>
              </a:rPr>
              <a:t> 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0" y="82442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en-US" altLang="zh-CN" sz="3200" dirty="0" err="1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Quartus</a:t>
            </a:r>
            <a:r>
              <a:rPr lang="en-US" altLang="zh-CN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Ⅱ</a:t>
            </a:r>
            <a:r>
              <a:rPr lang="zh-CN" altLang="en-US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简介</a:t>
            </a:r>
            <a:endParaRPr lang="zh-CN" altLang="en-US" sz="3200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Quartus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Ⅱ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使用说明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0535" y="1739973"/>
            <a:ext cx="832365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Quartus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Ⅱ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Altera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公司推出的综合性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EDA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开发软件，支持原理图和多种硬件描述语言输入形式，内嵌自有的综合器以及仿真器，可以完成从设计输入到硬件配置的完整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PLD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设计流程。</a:t>
            </a:r>
            <a:endParaRPr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Quartus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Ⅱ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可以在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Unix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等操作系统中使用，为用户提供了完善的图形界面设计方式。</a:t>
            </a:r>
            <a:endParaRPr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zh-CN" alt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0" y="824425"/>
            <a:ext cx="53139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sz="3200" dirty="0" err="1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Quartus</a:t>
            </a:r>
            <a:r>
              <a:rPr lang="en-US" altLang="zh-CN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Ⅱ</a:t>
            </a:r>
            <a:r>
              <a:rPr lang="zh-CN" altLang="en-US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软件界面</a:t>
            </a:r>
            <a:endParaRPr lang="zh-CN" altLang="en-US" sz="3200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Quartus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Ⅱ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使用说明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386" y="1853251"/>
            <a:ext cx="6630152" cy="435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23"/>
          <p:cNvSpPr>
            <a:spLocks noChangeArrowheads="1"/>
          </p:cNvSpPr>
          <p:nvPr/>
        </p:nvSpPr>
        <p:spPr bwMode="auto">
          <a:xfrm>
            <a:off x="4500155" y="1321195"/>
            <a:ext cx="1749116" cy="447602"/>
          </a:xfrm>
          <a:prstGeom prst="wedgeRectCallout">
            <a:avLst>
              <a:gd name="adj1" fmla="val -114497"/>
              <a:gd name="adj2" fmla="val 218291"/>
            </a:avLst>
          </a:prstGeom>
          <a:solidFill>
            <a:srgbClr val="0000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快捷工具栏</a:t>
            </a:r>
            <a:endParaRPr lang="zh-CN" sz="2400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AutoShape 21"/>
          <p:cNvSpPr>
            <a:spLocks noChangeArrowheads="1"/>
          </p:cNvSpPr>
          <p:nvPr/>
        </p:nvSpPr>
        <p:spPr bwMode="auto">
          <a:xfrm>
            <a:off x="7934008" y="5004756"/>
            <a:ext cx="1133202" cy="455476"/>
          </a:xfrm>
          <a:prstGeom prst="wedgeRectCallout">
            <a:avLst>
              <a:gd name="adj1" fmla="val -194079"/>
              <a:gd name="adj2" fmla="val 46691"/>
            </a:avLst>
          </a:prstGeom>
          <a:solidFill>
            <a:srgbClr val="0000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信息栏</a:t>
            </a:r>
            <a:endParaRPr lang="zh-CN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AutoShape 24"/>
          <p:cNvSpPr>
            <a:spLocks noChangeArrowheads="1"/>
          </p:cNvSpPr>
          <p:nvPr/>
        </p:nvSpPr>
        <p:spPr bwMode="auto">
          <a:xfrm>
            <a:off x="131853" y="1614225"/>
            <a:ext cx="1123407" cy="480060"/>
          </a:xfrm>
          <a:prstGeom prst="wedgeRectCallout">
            <a:avLst>
              <a:gd name="adj1" fmla="val 76775"/>
              <a:gd name="adj2" fmla="val 56236"/>
            </a:avLst>
          </a:prstGeom>
          <a:solidFill>
            <a:srgbClr val="0000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菜单栏</a:t>
            </a:r>
            <a:endParaRPr kumimoji="0" lang="zh-CN" sz="48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AutoShape 20"/>
          <p:cNvSpPr>
            <a:spLocks noChangeArrowheads="1"/>
          </p:cNvSpPr>
          <p:nvPr/>
        </p:nvSpPr>
        <p:spPr bwMode="auto">
          <a:xfrm>
            <a:off x="7975789" y="3324822"/>
            <a:ext cx="1110342" cy="504424"/>
          </a:xfrm>
          <a:prstGeom prst="wedgeRectCallout">
            <a:avLst>
              <a:gd name="adj1" fmla="val -185843"/>
              <a:gd name="adj2" fmla="val 13881"/>
            </a:avLst>
          </a:prstGeom>
          <a:solidFill>
            <a:srgbClr val="0000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工作区</a:t>
            </a:r>
            <a:endParaRPr lang="zh-CN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131854" y="2491384"/>
            <a:ext cx="1123406" cy="833438"/>
          </a:xfrm>
          <a:prstGeom prst="wedgeRectCallout">
            <a:avLst>
              <a:gd name="adj1" fmla="val 80181"/>
              <a:gd name="adj2" fmla="val 32305"/>
            </a:avLst>
          </a:prstGeom>
          <a:solidFill>
            <a:srgbClr val="0000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资源管理窗口</a:t>
            </a:r>
            <a:endParaRPr lang="zh-CN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8" name="AutoShape 22"/>
          <p:cNvSpPr>
            <a:spLocks noChangeArrowheads="1"/>
          </p:cNvSpPr>
          <p:nvPr/>
        </p:nvSpPr>
        <p:spPr bwMode="auto">
          <a:xfrm>
            <a:off x="67929" y="4601491"/>
            <a:ext cx="1157206" cy="806531"/>
          </a:xfrm>
          <a:prstGeom prst="wedgeRectCallout">
            <a:avLst>
              <a:gd name="adj1" fmla="val 102465"/>
              <a:gd name="adj2" fmla="val -54022"/>
            </a:avLst>
          </a:prstGeom>
          <a:solidFill>
            <a:srgbClr val="0000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任务管理窗口</a:t>
            </a:r>
            <a:endParaRPr lang="zh-CN" sz="2400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1" name="Rectangle 33"/>
          <p:cNvSpPr>
            <a:spLocks noChangeArrowheads="1"/>
          </p:cNvSpPr>
          <p:nvPr/>
        </p:nvSpPr>
        <p:spPr bwMode="auto">
          <a:xfrm>
            <a:off x="1588444" y="221284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-12370" y="772174"/>
            <a:ext cx="56692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sz="3200" dirty="0" err="1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Quartus</a:t>
            </a:r>
            <a:r>
              <a:rPr lang="en-US" altLang="zh-CN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Ⅱ</a:t>
            </a:r>
            <a:r>
              <a:rPr lang="zh-CN" altLang="en-US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开发流程</a:t>
            </a:r>
            <a:endParaRPr lang="zh-CN" altLang="en-US" sz="3200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Quartus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Ⅱ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使用说明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82158" y="1614569"/>
            <a:ext cx="819824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新建工程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设置工程路径及工程名称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添加已有文件（若没有已有文件，则跳过）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选择芯片型号（若不下载到开发板上进行测试，则跳过）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选择仿真、综合工具（选择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none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，表示不用第三方工具，而是直接使用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Quartus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-12370" y="772174"/>
            <a:ext cx="56692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sz="3200" dirty="0" err="1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Quartus</a:t>
            </a:r>
            <a:r>
              <a:rPr lang="en-US" altLang="zh-CN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Ⅱ</a:t>
            </a:r>
            <a:r>
              <a:rPr lang="zh-CN" altLang="en-US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开发流程</a:t>
            </a:r>
            <a:endParaRPr lang="zh-CN" altLang="en-US" sz="3200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Quartus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Ⅱ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使用说明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1705" y="1410445"/>
            <a:ext cx="8198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添加文件（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file&gt;new&gt;Verilog HDL file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4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577" y="2058245"/>
            <a:ext cx="344805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1"/>
          <p:cNvSpPr>
            <a:spLocks noChangeArrowheads="1"/>
          </p:cNvSpPr>
          <p:nvPr/>
        </p:nvSpPr>
        <p:spPr bwMode="auto">
          <a:xfrm>
            <a:off x="5251270" y="3222983"/>
            <a:ext cx="2372213" cy="1223614"/>
          </a:xfrm>
          <a:prstGeom prst="wedgeRectCallout">
            <a:avLst>
              <a:gd name="adj1" fmla="val -153430"/>
              <a:gd name="adj2" fmla="val -6962"/>
            </a:avLst>
          </a:prstGeom>
          <a:solidFill>
            <a:srgbClr val="0000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选择以</a:t>
            </a:r>
            <a:r>
              <a:rPr lang="en-US" altLang="zh-CN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Verilog HDL</a:t>
            </a: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语言程序文件作为输入</a:t>
            </a:r>
            <a:endParaRPr lang="zh-CN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-12370" y="772174"/>
            <a:ext cx="56692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sz="3200" dirty="0" err="1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Quartus</a:t>
            </a:r>
            <a:r>
              <a:rPr lang="en-US" altLang="zh-CN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Ⅱ</a:t>
            </a:r>
            <a:r>
              <a:rPr lang="zh-CN" altLang="en-US" sz="3200" dirty="0">
                <a:solidFill>
                  <a:srgbClr val="170A8E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开发流程</a:t>
            </a:r>
            <a:endParaRPr lang="zh-CN" altLang="en-US" sz="3200" dirty="0">
              <a:solidFill>
                <a:srgbClr val="170A8E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Quartus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Ⅱ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使用说明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3056" y="1718729"/>
            <a:ext cx="874689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编写程序代码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检查语法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分配引脚（如不下载到开发板上测试，则跳过）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编译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7.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仿真（功能仿真、时序仿真）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8.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下载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883274" y="3079908"/>
            <a:ext cx="21302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858703" y="0"/>
            <a:ext cx="628529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>
            <a:stCxn id="12" idx="0"/>
          </p:cNvCxnSpPr>
          <p:nvPr/>
        </p:nvCxnSpPr>
        <p:spPr>
          <a:xfrm flipH="1">
            <a:off x="2858702" y="0"/>
            <a:ext cx="3142650" cy="1506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01352" y="5088571"/>
            <a:ext cx="3142648" cy="17694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25"/>
          <p:cNvSpPr txBox="1"/>
          <p:nvPr/>
        </p:nvSpPr>
        <p:spPr>
          <a:xfrm>
            <a:off x="3944893" y="2127740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zh-CN" altLang="en-US" sz="2800" dirty="0">
                <a:solidFill>
                  <a:schemeClr val="bg1"/>
                </a:solidFill>
              </a:rPr>
              <a:t>程序基本结构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7" name="淘宝网chenying0907出品 25"/>
          <p:cNvSpPr txBox="1"/>
          <p:nvPr/>
        </p:nvSpPr>
        <p:spPr>
          <a:xfrm>
            <a:off x="3944893" y="2963579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数据类型</a:t>
            </a:r>
            <a:endParaRPr lang="zh-CN" altLang="en-US" sz="2800" dirty="0"/>
          </a:p>
        </p:txBody>
      </p:sp>
      <p:sp>
        <p:nvSpPr>
          <p:cNvPr id="19" name="淘宝网chenying0907出品 29"/>
          <p:cNvSpPr txBox="1"/>
          <p:nvPr/>
        </p:nvSpPr>
        <p:spPr>
          <a:xfrm>
            <a:off x="3944893" y="4639050"/>
            <a:ext cx="2424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基本语句</a:t>
            </a:r>
            <a:endParaRPr lang="zh-CN" altLang="en-US" sz="2800" dirty="0"/>
          </a:p>
        </p:txBody>
      </p:sp>
      <p:sp>
        <p:nvSpPr>
          <p:cNvPr id="22" name="淘宝网chenying0907出品 29"/>
          <p:cNvSpPr txBox="1"/>
          <p:nvPr/>
        </p:nvSpPr>
        <p:spPr>
          <a:xfrm>
            <a:off x="3944893" y="5474889"/>
            <a:ext cx="331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模块化程序设计</a:t>
            </a:r>
            <a:endParaRPr lang="zh-CN" altLang="en-US" sz="2800" dirty="0"/>
          </a:p>
        </p:txBody>
      </p:sp>
      <p:sp>
        <p:nvSpPr>
          <p:cNvPr id="29" name="淘宝网chenying0907出品 25"/>
          <p:cNvSpPr txBox="1"/>
          <p:nvPr/>
        </p:nvSpPr>
        <p:spPr>
          <a:xfrm>
            <a:off x="3944893" y="3799418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运算符</a:t>
            </a:r>
            <a:endParaRPr lang="zh-CN" altLang="en-US" sz="2800" dirty="0"/>
          </a:p>
        </p:txBody>
      </p:sp>
      <p:sp>
        <p:nvSpPr>
          <p:cNvPr id="13" name="淘宝网chenying0907出品 25"/>
          <p:cNvSpPr txBox="1"/>
          <p:nvPr/>
        </p:nvSpPr>
        <p:spPr>
          <a:xfrm>
            <a:off x="3944892" y="1288108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Quartus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Ⅱ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使用说明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580" y="1938061"/>
            <a:ext cx="3726414" cy="4650100"/>
          </a:xfrm>
          <a:prstGeom prst="rect">
            <a:avLst/>
          </a:prstGeom>
        </p:spPr>
      </p:pic>
      <p:sp>
        <p:nvSpPr>
          <p:cNvPr id="10" name="箭头: 左 9"/>
          <p:cNvSpPr/>
          <p:nvPr/>
        </p:nvSpPr>
        <p:spPr>
          <a:xfrm>
            <a:off x="1082568" y="2377809"/>
            <a:ext cx="616850" cy="17014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文本框 10"/>
          <p:cNvSpPr txBox="1"/>
          <p:nvPr/>
        </p:nvSpPr>
        <p:spPr>
          <a:xfrm>
            <a:off x="91332" y="2068063"/>
            <a:ext cx="993592" cy="707886"/>
          </a:xfrm>
          <a:prstGeom prst="rect">
            <a:avLst/>
          </a:prstGeom>
          <a:noFill/>
          <a:ln w="19050">
            <a:solidFill>
              <a:srgbClr val="19BCD7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模块定义符号</a:t>
            </a:r>
            <a:endParaRPr lang="zh-CN" altLang="en-US" sz="20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419403" y="1193598"/>
            <a:ext cx="1232558" cy="40011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端口列表</a:t>
            </a:r>
            <a:endParaRPr lang="zh-CN" altLang="en-US" sz="2000" b="1" dirty="0"/>
          </a:p>
        </p:txBody>
      </p:sp>
      <p:sp>
        <p:nvSpPr>
          <p:cNvPr id="14" name="箭头: 左 13"/>
          <p:cNvSpPr/>
          <p:nvPr/>
        </p:nvSpPr>
        <p:spPr>
          <a:xfrm>
            <a:off x="1079609" y="3245530"/>
            <a:ext cx="799446" cy="16062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文本框 14"/>
          <p:cNvSpPr txBox="1"/>
          <p:nvPr/>
        </p:nvSpPr>
        <p:spPr>
          <a:xfrm>
            <a:off x="90359" y="2849045"/>
            <a:ext cx="960204" cy="1015663"/>
          </a:xfrm>
          <a:prstGeom prst="rect">
            <a:avLst/>
          </a:prstGeom>
          <a:noFill/>
          <a:ln w="2222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模块的端口说明</a:t>
            </a:r>
            <a:endParaRPr lang="zh-CN" altLang="en-US" sz="2000" b="1" dirty="0"/>
          </a:p>
        </p:txBody>
      </p:sp>
      <p:sp>
        <p:nvSpPr>
          <p:cNvPr id="18" name="箭头: 左 17"/>
          <p:cNvSpPr/>
          <p:nvPr/>
        </p:nvSpPr>
        <p:spPr>
          <a:xfrm>
            <a:off x="1110373" y="6076219"/>
            <a:ext cx="602108" cy="14823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文本框 18"/>
          <p:cNvSpPr txBox="1"/>
          <p:nvPr/>
        </p:nvSpPr>
        <p:spPr>
          <a:xfrm>
            <a:off x="99582" y="5634619"/>
            <a:ext cx="994499" cy="1015663"/>
          </a:xfrm>
          <a:prstGeom prst="rect">
            <a:avLst/>
          </a:prstGeom>
          <a:noFill/>
          <a:ln w="19050">
            <a:solidFill>
              <a:srgbClr val="19BCD7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模块定义结束符号</a:t>
            </a:r>
            <a:endParaRPr lang="zh-CN" altLang="en-US" sz="20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79906" y="4245747"/>
            <a:ext cx="994498" cy="1015663"/>
          </a:xfrm>
          <a:prstGeom prst="rect">
            <a:avLst/>
          </a:prstGeom>
          <a:noFill/>
          <a:ln w="22225">
            <a:solidFill>
              <a:srgbClr val="FF33CC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模块逻辑功能定义</a:t>
            </a:r>
            <a:endParaRPr lang="zh-CN" altLang="en-US" sz="2000" b="1" dirty="0"/>
          </a:p>
        </p:txBody>
      </p:sp>
      <p:sp>
        <p:nvSpPr>
          <p:cNvPr id="5" name="矩形 4"/>
          <p:cNvSpPr/>
          <p:nvPr/>
        </p:nvSpPr>
        <p:spPr>
          <a:xfrm>
            <a:off x="1714227" y="2257328"/>
            <a:ext cx="743506" cy="35419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矩形 19"/>
          <p:cNvSpPr/>
          <p:nvPr/>
        </p:nvSpPr>
        <p:spPr>
          <a:xfrm>
            <a:off x="2493655" y="2263859"/>
            <a:ext cx="695258" cy="343785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箭头: 上 20"/>
          <p:cNvSpPr/>
          <p:nvPr/>
        </p:nvSpPr>
        <p:spPr>
          <a:xfrm>
            <a:off x="2775337" y="1603769"/>
            <a:ext cx="147082" cy="66008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文本框 21"/>
          <p:cNvSpPr txBox="1"/>
          <p:nvPr/>
        </p:nvSpPr>
        <p:spPr>
          <a:xfrm>
            <a:off x="2372825" y="1191047"/>
            <a:ext cx="950726" cy="400110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模块名</a:t>
            </a:r>
            <a:endParaRPr lang="zh-CN" altLang="en-US" sz="2000" b="1" dirty="0"/>
          </a:p>
        </p:txBody>
      </p:sp>
      <p:sp>
        <p:nvSpPr>
          <p:cNvPr id="23" name="矩形 22"/>
          <p:cNvSpPr/>
          <p:nvPr/>
        </p:nvSpPr>
        <p:spPr>
          <a:xfrm>
            <a:off x="3225586" y="2258932"/>
            <a:ext cx="1257587" cy="34382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矩形 23"/>
          <p:cNvSpPr/>
          <p:nvPr/>
        </p:nvSpPr>
        <p:spPr>
          <a:xfrm>
            <a:off x="1879054" y="2659760"/>
            <a:ext cx="2564737" cy="1067049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矩形 24"/>
          <p:cNvSpPr/>
          <p:nvPr/>
        </p:nvSpPr>
        <p:spPr>
          <a:xfrm>
            <a:off x="1740340" y="5975018"/>
            <a:ext cx="1081238" cy="327380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矩形 25"/>
          <p:cNvSpPr/>
          <p:nvPr/>
        </p:nvSpPr>
        <p:spPr>
          <a:xfrm>
            <a:off x="1907595" y="4115624"/>
            <a:ext cx="2536196" cy="176609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箭头: 左 26"/>
          <p:cNvSpPr/>
          <p:nvPr/>
        </p:nvSpPr>
        <p:spPr>
          <a:xfrm>
            <a:off x="1108693" y="4672354"/>
            <a:ext cx="777675" cy="17855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箭头: 上 27"/>
          <p:cNvSpPr/>
          <p:nvPr/>
        </p:nvSpPr>
        <p:spPr>
          <a:xfrm>
            <a:off x="3848564" y="1599166"/>
            <a:ext cx="143745" cy="6646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一、程序基本结构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5337737" y="1082842"/>
            <a:ext cx="0" cy="577515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5664500" y="2206442"/>
            <a:ext cx="3118349" cy="255454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说明部分</a:t>
            </a:r>
            <a:endParaRPr kumimoji="1" lang="en-US" altLang="zh-CN" sz="20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(1)</a:t>
            </a:r>
            <a:r>
              <a:rPr kumimoji="1"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端口定义</a:t>
            </a:r>
            <a:endParaRPr kumimoji="1"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input  </a:t>
            </a:r>
            <a:r>
              <a:rPr kumimoji="1" lang="zh-CN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输入端口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output  </a:t>
            </a:r>
            <a:r>
              <a:rPr kumimoji="1" lang="zh-CN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输出端口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latin typeface="Arial" panose="020B0604020202020204" pitchFamily="34" charset="0"/>
              </a:rPr>
              <a:t>端口类型说明</a:t>
            </a:r>
            <a:endParaRPr kumimoji="1" lang="en-US" altLang="zh-CN" sz="2000" b="1" dirty="0"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(2)</a:t>
            </a:r>
            <a:r>
              <a:rPr kumimoji="1"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内部信号说明</a:t>
            </a:r>
            <a:endParaRPr kumimoji="1"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Arial" panose="020B0604020202020204" pitchFamily="34" charset="0"/>
              </a:rPr>
              <a:t>  wire</a:t>
            </a:r>
            <a:r>
              <a:rPr kumimoji="1" lang="zh-CN" altLang="en-US" sz="2000" b="1" dirty="0">
                <a:latin typeface="Arial" panose="020B0604020202020204" pitchFamily="34" charset="0"/>
              </a:rPr>
              <a:t>，</a:t>
            </a:r>
            <a:r>
              <a:rPr kumimoji="1" lang="en-US" altLang="zh-CN" sz="2000" b="1" dirty="0" err="1">
                <a:latin typeface="Arial" panose="020B0604020202020204" pitchFamily="34" charset="0"/>
              </a:rPr>
              <a:t>reg</a:t>
            </a:r>
            <a:endParaRPr kumimoji="1" lang="en-US" altLang="zh-CN" sz="2000" b="1" dirty="0"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Arial" panose="020B0604020202020204" pitchFamily="34" charset="0"/>
              </a:rPr>
              <a:t>  </a:t>
            </a:r>
            <a:r>
              <a:rPr kumimoji="1" lang="zh-CN" altLang="en-US" sz="2000" b="1" dirty="0">
                <a:latin typeface="Arial" panose="020B0604020202020204" pitchFamily="34" charset="0"/>
              </a:rPr>
              <a:t>数据类型说明</a:t>
            </a:r>
            <a:endParaRPr kumimoji="1"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70111" y="1458409"/>
            <a:ext cx="3895618" cy="609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module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&lt;</a:t>
            </a:r>
            <a:r>
              <a:rPr kumimoji="1" lang="zh-CN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模块名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&gt; (&lt;</a:t>
            </a:r>
            <a:r>
              <a:rPr kumimoji="1" lang="zh-CN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端口列表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&gt;);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82946" y="6326430"/>
            <a:ext cx="15536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endmodule</a:t>
            </a:r>
            <a:endParaRPr kumimoji="1"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5664500" y="4905467"/>
            <a:ext cx="3100254" cy="1323439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功能描述部分</a:t>
            </a:r>
            <a:endParaRPr kumimoji="1" lang="en-US" altLang="zh-CN" sz="20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assign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begin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end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17" grpId="0" animBg="1"/>
      <p:bldP spid="5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2" grpId="0" animBg="1"/>
      <p:bldP spid="2" grpId="0"/>
      <p:bldP spid="4" grpId="0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/>
          <p:cNvSpPr txBox="1">
            <a:spLocks noRot="1" noChangeArrowheads="1"/>
          </p:cNvSpPr>
          <p:nvPr/>
        </p:nvSpPr>
        <p:spPr bwMode="auto">
          <a:xfrm>
            <a:off x="300730" y="1265730"/>
            <a:ext cx="8540762" cy="12191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57175" indent="-257175" defTabSz="685800" eaLnBrk="1" hangingPunct="1">
              <a:spcBef>
                <a:spcPts val="0"/>
              </a:spcBef>
              <a:buClr>
                <a:srgbClr val="3333CC"/>
              </a:buClr>
              <a:buNone/>
              <a:defRPr/>
            </a:pPr>
            <a:r>
              <a:rPr lang="en-US" altLang="zh-CN" sz="24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module </a:t>
            </a:r>
            <a:r>
              <a:rPr lang="zh-CN" altLang="en-US" sz="24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模块名</a:t>
            </a:r>
            <a:r>
              <a:rPr lang="en-US" altLang="zh-CN" sz="24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(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</a:rPr>
              <a:t>端口</a:t>
            </a:r>
            <a:r>
              <a:rPr lang="en-US" altLang="zh-CN" sz="2400" b="1" kern="0" dirty="0">
                <a:solidFill>
                  <a:srgbClr val="0000FF"/>
                </a:solidFill>
                <a:latin typeface="+mn-ea"/>
              </a:rPr>
              <a:t>1,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</a:rPr>
              <a:t>端口</a:t>
            </a:r>
            <a:r>
              <a:rPr lang="en-US" altLang="zh-CN" sz="2400" b="1" kern="0" dirty="0">
                <a:solidFill>
                  <a:srgbClr val="0000FF"/>
                </a:solidFill>
                <a:latin typeface="+mn-ea"/>
              </a:rPr>
              <a:t>2,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</a:rPr>
              <a:t>端口</a:t>
            </a:r>
            <a:r>
              <a:rPr lang="en-US" altLang="zh-CN" sz="2400" b="1" kern="0" dirty="0">
                <a:solidFill>
                  <a:srgbClr val="0000FF"/>
                </a:solidFill>
                <a:latin typeface="+mn-ea"/>
              </a:rPr>
              <a:t>3,…);</a:t>
            </a:r>
            <a:endParaRPr lang="zh-CN" altLang="en-US" sz="2400" b="1" kern="0" dirty="0">
              <a:solidFill>
                <a:srgbClr val="0000FF"/>
              </a:solidFill>
              <a:latin typeface="+mn-ea"/>
            </a:endParaRPr>
          </a:p>
          <a:p>
            <a:pPr marL="0" indent="0" defTabSz="685800" eaLnBrk="1" hangingPunct="1">
              <a:spcBef>
                <a:spcPts val="0"/>
              </a:spcBef>
              <a:buClr>
                <a:srgbClr val="3333CC"/>
              </a:buClr>
              <a:buNone/>
              <a:defRPr/>
            </a:pPr>
            <a:r>
              <a:rPr lang="en-US" altLang="zh-CN" sz="24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   ……</a:t>
            </a:r>
            <a:endParaRPr lang="en-US" altLang="zh-CN" sz="2400" b="1" kern="0" dirty="0">
              <a:solidFill>
                <a:srgbClr val="0000FF"/>
              </a:solidFill>
              <a:latin typeface="Tahoma" panose="020B0604030504040204"/>
              <a:ea typeface="宋体" panose="02010600030101010101" pitchFamily="2" charset="-122"/>
            </a:endParaRPr>
          </a:p>
          <a:p>
            <a:pPr marL="0" indent="0" defTabSz="685800" eaLnBrk="1" hangingPunct="1">
              <a:spcBef>
                <a:spcPts val="0"/>
              </a:spcBef>
              <a:buClr>
                <a:srgbClr val="3333CC"/>
              </a:buClr>
              <a:buNone/>
              <a:defRPr/>
            </a:pPr>
            <a:r>
              <a:rPr lang="en-US" altLang="zh-CN" sz="2400" b="1" kern="0" dirty="0" err="1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endmodule</a:t>
            </a:r>
            <a:endParaRPr lang="zh-CN" altLang="en-US" sz="2400" b="1" kern="0" dirty="0">
              <a:solidFill>
                <a:srgbClr val="0000FF"/>
              </a:solidFill>
              <a:latin typeface="Tahoma" panose="020B0604030504040204"/>
              <a:ea typeface="宋体" panose="02010600030101010101" pitchFamily="2" charset="-122"/>
            </a:endParaRPr>
          </a:p>
        </p:txBody>
      </p:sp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13" y="4809430"/>
            <a:ext cx="3904200" cy="184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-12370" y="4192537"/>
            <a:ext cx="506356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fontAlgn="base">
              <a:lnSpc>
                <a:spcPct val="150000"/>
              </a:lnSpc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</a:t>
            </a:r>
            <a:r>
              <a:rPr kumimoji="1" lang="en-US" altLang="zh-CN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BCD_adder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1"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B, CIN ,SUM, COUT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kumimoji="1" lang="en-US" altLang="zh-CN" b="1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26241" y="4133016"/>
            <a:ext cx="4091185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7175" indent="-257175" fontAlgn="base">
              <a:lnSpc>
                <a:spcPct val="150000"/>
              </a:lnSpc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adder1 (</a:t>
            </a:r>
            <a:r>
              <a:rPr kumimoji="1" lang="en-US" altLang="zh-CN" sz="20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B, CI ,S, CO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kumimoji="1"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748" y="4770543"/>
            <a:ext cx="2947235" cy="1640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二、模块声明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5026241" y="4177022"/>
            <a:ext cx="0" cy="25835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87594" y="2534752"/>
            <a:ext cx="87670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685800">
              <a:buClr>
                <a:srgbClr val="3333CC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模块的端口列表包括电路模块与外界联系的全部</a:t>
            </a:r>
            <a:r>
              <a:rPr lang="zh-CN" altLang="en-US" sz="2400" b="1" kern="0" dirty="0">
                <a:solidFill>
                  <a:srgbClr val="FF0000"/>
                </a:solidFill>
                <a:latin typeface="Tahoma" panose="020B0604030504040204"/>
                <a:ea typeface="宋体" panose="02010600030101010101" pitchFamily="2" charset="-122"/>
              </a:rPr>
              <a:t>输入</a:t>
            </a:r>
            <a:r>
              <a:rPr lang="en-US" altLang="zh-CN" sz="2400" b="1" kern="0" dirty="0">
                <a:solidFill>
                  <a:srgbClr val="FF0000"/>
                </a:solidFill>
                <a:latin typeface="Tahoma" panose="020B0604030504040204"/>
                <a:ea typeface="宋体" panose="02010600030101010101" pitchFamily="2" charset="-122"/>
              </a:rPr>
              <a:t>/</a:t>
            </a:r>
            <a:r>
              <a:rPr lang="zh-CN" altLang="en-US" sz="2400" b="1" kern="0" dirty="0">
                <a:solidFill>
                  <a:srgbClr val="FF0000"/>
                </a:solidFill>
                <a:latin typeface="Tahoma" panose="020B0604030504040204"/>
                <a:ea typeface="宋体" panose="02010600030101010101" pitchFamily="2" charset="-122"/>
              </a:rPr>
              <a:t>输出端口信号</a:t>
            </a:r>
            <a:r>
              <a:rPr lang="zh-CN" altLang="en-US" sz="2400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，是电路模块实体对外的引脚，多个端口之间用“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”分隔</a:t>
            </a:r>
            <a:endParaRPr lang="en-US" altLang="zh-CN" sz="2400" b="1" kern="0" dirty="0">
              <a:solidFill>
                <a:srgbClr val="000000"/>
              </a:solidFill>
              <a:latin typeface="Tahoma" panose="020B0604030504040204"/>
              <a:ea typeface="宋体" panose="02010600030101010101" pitchFamily="2" charset="-122"/>
            </a:endParaRPr>
          </a:p>
          <a:p>
            <a:pPr marL="342900" lvl="0" indent="-342900" algn="just" defTabSz="685800">
              <a:buClr>
                <a:srgbClr val="3333CC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模块声明末尾以“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2400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”结束</a:t>
            </a:r>
            <a:endParaRPr lang="en-US" altLang="zh-CN" sz="2400" b="1" kern="0" dirty="0">
              <a:solidFill>
                <a:srgbClr val="000000"/>
              </a:solidFill>
              <a:latin typeface="Tahoma" panose="020B060403050404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" grpId="0"/>
      <p:bldP spid="3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202515" y="1303320"/>
            <a:ext cx="2203802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1.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端口定义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82906" y="1233973"/>
            <a:ext cx="21505" cy="550852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77604" y="1913023"/>
            <a:ext cx="4075380" cy="1569660"/>
          </a:xfrm>
          <a:prstGeom prst="rect">
            <a:avLst/>
          </a:prstGeom>
          <a:ln w="158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用来声明模块</a:t>
            </a: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各端口数据流动方向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(input)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(output)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双向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inout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7602" y="3569166"/>
            <a:ext cx="4075382" cy="1015663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格式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(1)——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信号位宽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等于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位：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input/output/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inout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端口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1,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端口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2,…;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2388" y="4849869"/>
            <a:ext cx="4075382" cy="1631216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格式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(2)——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信号位宽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大于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位：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input/output/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inout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0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msb:lsb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端口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1,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端口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2,…;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b="1" dirty="0" err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msb</a:t>
            </a:r>
            <a:r>
              <a:rPr lang="en-US" altLang="zh-CN"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信号最高位的编号</a:t>
            </a:r>
            <a:endParaRPr lang="en-US" altLang="zh-CN" sz="20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b="1" dirty="0" err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lsb</a:t>
            </a:r>
            <a:r>
              <a:rPr lang="en-US" altLang="zh-CN"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信号最低位的编号</a:t>
            </a:r>
            <a:endParaRPr lang="zh-CN" altLang="en-US" sz="20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22129" y="2036747"/>
            <a:ext cx="1905301" cy="1015663"/>
          </a:xfrm>
          <a:prstGeom prst="rect">
            <a:avLst/>
          </a:prstGeom>
          <a:ln w="158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input  A, B, CI;                        output  S, CO; </a:t>
            </a:r>
            <a:endParaRPr lang="en-US" altLang="zh-CN" sz="2000" b="1" dirty="0"/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827" y="2122514"/>
            <a:ext cx="1834751" cy="1020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直接连接符 11"/>
          <p:cNvCxnSpPr/>
          <p:nvPr/>
        </p:nvCxnSpPr>
        <p:spPr>
          <a:xfrm flipV="1">
            <a:off x="4504410" y="3222468"/>
            <a:ext cx="4639590" cy="414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"/>
          <p:cNvSpPr>
            <a:spLocks noRot="1" noChangeArrowheads="1"/>
          </p:cNvSpPr>
          <p:nvPr/>
        </p:nvSpPr>
        <p:spPr bwMode="auto">
          <a:xfrm>
            <a:off x="7058858" y="4673563"/>
            <a:ext cx="1992345" cy="1754326"/>
          </a:xfrm>
          <a:prstGeom prst="rect">
            <a:avLst/>
          </a:prstGeom>
          <a:ln w="158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input [3:0] A,B;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output [3:0] SUM;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input CIN;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output COUT;</a:t>
            </a:r>
            <a:endParaRPr lang="en-US" altLang="zh-CN" b="1" dirty="0"/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114" y="5100534"/>
            <a:ext cx="2385425" cy="1126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/>
          <p:cNvSpPr/>
          <p:nvPr/>
        </p:nvSpPr>
        <p:spPr>
          <a:xfrm>
            <a:off x="4591730" y="1514966"/>
            <a:ext cx="452569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fontAlgn="base">
              <a:lnSpc>
                <a:spcPct val="150000"/>
              </a:lnSpc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Module adder1 (</a:t>
            </a:r>
            <a:r>
              <a:rPr kumimoji="1" lang="en-US" altLang="zh-CN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A, B, CI ,S, CO</a:t>
            </a:r>
            <a:r>
              <a:rPr kumimoji="1" lang="en-US" altLang="zh-CN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);</a:t>
            </a:r>
            <a:endParaRPr kumimoji="1" lang="en-US" altLang="zh-CN" b="1" kern="0" dirty="0">
              <a:solidFill>
                <a:srgbClr val="000000"/>
              </a:solidFill>
              <a:latin typeface="Tahoma" panose="020B0604030504040204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586114" y="3670778"/>
            <a:ext cx="43413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fontAlgn="base">
              <a:lnSpc>
                <a:spcPct val="150000"/>
              </a:lnSpc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module </a:t>
            </a:r>
            <a:r>
              <a:rPr kumimoji="1" lang="en-US" altLang="zh-CN" b="1" kern="0" dirty="0" err="1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BCD_adder</a:t>
            </a:r>
            <a:r>
              <a:rPr kumimoji="1" lang="en-US" altLang="zh-CN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 (</a:t>
            </a:r>
            <a:r>
              <a:rPr kumimoji="1" lang="en-US" altLang="zh-CN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A, B, CIN, SUM, COUT</a:t>
            </a:r>
            <a:r>
              <a:rPr kumimoji="1" lang="en-US" altLang="zh-CN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)</a:t>
            </a:r>
            <a:r>
              <a:rPr kumimoji="1" lang="zh-CN" altLang="en-US" b="1" kern="0" dirty="0">
                <a:solidFill>
                  <a:srgbClr val="000000"/>
                </a:solidFill>
                <a:latin typeface="Tahoma" panose="020B0604030504040204"/>
                <a:ea typeface="宋体" panose="02010600030101010101" pitchFamily="2" charset="-122"/>
              </a:rPr>
              <a:t>；</a:t>
            </a:r>
            <a:endParaRPr kumimoji="1" lang="en-US" altLang="zh-CN" b="1" kern="0" dirty="0">
              <a:solidFill>
                <a:srgbClr val="000000"/>
              </a:solidFill>
              <a:latin typeface="Tahoma" panose="020B0604030504040204"/>
              <a:ea typeface="宋体" panose="02010600030101010101" pitchFamily="2" charset="-122"/>
            </a:endParaRPr>
          </a:p>
        </p:txBody>
      </p: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5" grpId="0" animBg="1"/>
      <p:bldP spid="10" grpId="0" animBg="1"/>
      <p:bldP spid="21" grpId="0" animBg="1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250" y="2579908"/>
            <a:ext cx="889100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中端口数据类型一般包括</a:t>
            </a: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连线型</a:t>
            </a:r>
            <a:r>
              <a:rPr lang="en-US" altLang="zh-CN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(wire)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寄存器型</a:t>
            </a:r>
            <a:r>
              <a:rPr lang="en-US" altLang="zh-CN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000" b="1" dirty="0" err="1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reg</a:t>
            </a:r>
            <a:r>
              <a:rPr lang="en-US" altLang="zh-CN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　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wire(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线网型）表示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直通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，输入一发生变化，输出马上无条件反映；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reg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（寄存器型）表示一定要有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触发条件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，输出才能反映输入的变化。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端口数据类型定义的实例：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000" b="1" dirty="0" err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reg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[4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1]  sum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定义信号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sum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的数据类型为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位寄存器型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(reg)</a:t>
            </a:r>
            <a:endParaRPr lang="zh-CN" altLang="en-US" sz="20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  <a:defRPr/>
            </a:pP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wire  a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  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定义信号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位连线型</a:t>
            </a:r>
            <a:r>
              <a:rPr lang="en-US" altLang="zh-CN" sz="20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(wire)</a:t>
            </a:r>
            <a:endParaRPr lang="en-US" altLang="zh-CN" sz="20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输入端口和双向端口不能说明为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reg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端口信号的数据类型说明缺省时，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默认为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wire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77250" y="1241110"/>
            <a:ext cx="3031573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2.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数据类型说明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1631" y="1901817"/>
            <a:ext cx="4464187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2.1 </a:t>
            </a:r>
            <a:r>
              <a:rPr kumimoji="1" lang="zh-CN" altLang="en-US" sz="24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端口数据类型说明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999" y="2450277"/>
            <a:ext cx="8891001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常量　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逻辑常量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数值常量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参数常量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变量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reg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wire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Memory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数字型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77250" y="1241110"/>
            <a:ext cx="3031573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2.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数据类型说明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1631" y="1901817"/>
            <a:ext cx="4464187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2.2 </a:t>
            </a:r>
            <a:r>
              <a:rPr kumimoji="1" lang="zh-CN" altLang="en-US" sz="24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内部数据类型说明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4"/>
          <p:cNvGrpSpPr/>
          <p:nvPr/>
        </p:nvGrpSpPr>
        <p:grpSpPr bwMode="auto">
          <a:xfrm>
            <a:off x="457202" y="3065572"/>
            <a:ext cx="7774102" cy="3305129"/>
            <a:chOff x="-538" y="870"/>
            <a:chExt cx="9757" cy="3169"/>
          </a:xfrm>
        </p:grpSpPr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876" y="3213"/>
              <a:ext cx="8343" cy="826"/>
            </a:xfrm>
            <a:prstGeom prst="rect">
              <a:avLst/>
            </a:prstGeom>
            <a:noFill/>
            <a:ln w="9525">
              <a:solidFill>
                <a:srgbClr val="8C5D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行为描述方式</a:t>
              </a:r>
              <a:r>
                <a:rPr kumimoji="1" lang="zh-CN" altLang="en-US" sz="2000" b="1" dirty="0">
                  <a:latin typeface="Times New Roman" panose="02020603050405020304" pitchFamily="18" charset="0"/>
                </a:rPr>
                <a:t>：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000" b="1" dirty="0"/>
                <a:t>对模块</a:t>
              </a:r>
              <a:r>
                <a:rPr lang="zh-CN" altLang="en-US" sz="2000" b="1" dirty="0">
                  <a:solidFill>
                    <a:srgbClr val="0000FF"/>
                  </a:solidFill>
                </a:rPr>
                <a:t>行为功能</a:t>
              </a:r>
              <a:r>
                <a:rPr lang="zh-CN" altLang="en-US" sz="2000" b="1" dirty="0"/>
                <a:t>的抽象描述</a:t>
              </a:r>
              <a:endParaRPr kumimoji="1"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879" y="870"/>
              <a:ext cx="8340" cy="826"/>
            </a:xfrm>
            <a:prstGeom prst="rect">
              <a:avLst/>
            </a:prstGeom>
            <a:noFill/>
            <a:ln w="9525">
              <a:solidFill>
                <a:srgbClr val="8C5D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结构描述方式</a:t>
              </a:r>
              <a:r>
                <a:rPr kumimoji="1" lang="zh-CN" altLang="en-US" sz="2000" b="1" dirty="0">
                  <a:latin typeface="Times New Roman" panose="02020603050405020304" pitchFamily="18" charset="0"/>
                </a:rPr>
                <a:t>：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000" b="1" dirty="0"/>
                <a:t>对模块</a:t>
              </a:r>
              <a:r>
                <a:rPr lang="zh-CN" altLang="en-US" sz="2000" b="1" dirty="0">
                  <a:solidFill>
                    <a:srgbClr val="0000FF"/>
                  </a:solidFill>
                </a:rPr>
                <a:t>内部结构</a:t>
              </a:r>
              <a:r>
                <a:rPr lang="zh-CN" altLang="en-US" sz="2000" b="1" dirty="0"/>
                <a:t>的具体描述，是抽象级别最低的描述方式</a:t>
              </a:r>
              <a:endParaRPr kumimoji="1"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27"/>
            <p:cNvSpPr txBox="1">
              <a:spLocks noChangeArrowheads="1"/>
            </p:cNvSpPr>
            <p:nvPr/>
          </p:nvSpPr>
          <p:spPr bwMode="auto">
            <a:xfrm>
              <a:off x="-538" y="1809"/>
              <a:ext cx="938" cy="1269"/>
            </a:xfrm>
            <a:prstGeom prst="rect">
              <a:avLst/>
            </a:prstGeom>
            <a:noFill/>
            <a:ln w="9525">
              <a:solidFill>
                <a:srgbClr val="0043A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模块功能描述方式</a:t>
              </a:r>
              <a:endParaRPr kumimoji="1"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Line 28"/>
            <p:cNvSpPr>
              <a:spLocks noChangeShapeType="1"/>
            </p:cNvSpPr>
            <p:nvPr/>
          </p:nvSpPr>
          <p:spPr bwMode="auto">
            <a:xfrm>
              <a:off x="392" y="2444"/>
              <a:ext cx="144" cy="0"/>
            </a:xfrm>
            <a:prstGeom prst="line">
              <a:avLst/>
            </a:prstGeom>
            <a:noFill/>
            <a:ln w="38100">
              <a:solidFill>
                <a:srgbClr val="0043A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" name="Line 29"/>
            <p:cNvSpPr>
              <a:spLocks noChangeShapeType="1"/>
            </p:cNvSpPr>
            <p:nvPr/>
          </p:nvSpPr>
          <p:spPr bwMode="auto">
            <a:xfrm>
              <a:off x="543" y="1256"/>
              <a:ext cx="0" cy="2280"/>
            </a:xfrm>
            <a:prstGeom prst="line">
              <a:avLst/>
            </a:prstGeom>
            <a:noFill/>
            <a:ln w="38100">
              <a:solidFill>
                <a:srgbClr val="0043A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>
              <a:off x="543" y="1268"/>
              <a:ext cx="336" cy="0"/>
            </a:xfrm>
            <a:prstGeom prst="line">
              <a:avLst/>
            </a:prstGeom>
            <a:noFill/>
            <a:ln w="38100">
              <a:solidFill>
                <a:srgbClr val="0043A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>
              <a:off x="543" y="2444"/>
              <a:ext cx="336" cy="0"/>
            </a:xfrm>
            <a:prstGeom prst="line">
              <a:avLst/>
            </a:prstGeom>
            <a:noFill/>
            <a:ln w="38100">
              <a:solidFill>
                <a:srgbClr val="0043A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876" y="2037"/>
              <a:ext cx="8343" cy="826"/>
            </a:xfrm>
            <a:prstGeom prst="rect">
              <a:avLst/>
            </a:prstGeom>
            <a:noFill/>
            <a:ln w="9525">
              <a:solidFill>
                <a:srgbClr val="8C5D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数据流描述方式</a:t>
              </a:r>
              <a:r>
                <a:rPr kumimoji="1" lang="zh-CN" altLang="en-US" sz="2000" b="1" dirty="0">
                  <a:latin typeface="Times New Roman" panose="02020603050405020304" pitchFamily="18" charset="0"/>
                </a:rPr>
                <a:t>：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zh-CN" altLang="en-US" sz="2000" b="1" dirty="0">
                  <a:latin typeface="Times New Roman" panose="02020603050405020304" pitchFamily="18" charset="0"/>
                </a:rPr>
                <a:t>从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数据变换</a:t>
              </a:r>
              <a:r>
                <a:rPr kumimoji="1" lang="zh-CN" altLang="en-US" sz="2000" b="1" dirty="0">
                  <a:latin typeface="Times New Roman" panose="02020603050405020304" pitchFamily="18" charset="0"/>
                </a:rPr>
                <a:t>和</a:t>
              </a:r>
              <a:r>
                <a:rPr kumimoji="1"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传送</a:t>
              </a:r>
              <a:r>
                <a:rPr kumimoji="1" lang="zh-CN" altLang="en-US" sz="2000" b="1" dirty="0">
                  <a:latin typeface="Times New Roman" panose="02020603050405020304" pitchFamily="18" charset="0"/>
                </a:rPr>
                <a:t>的角度来描述设计模块</a:t>
              </a:r>
              <a:endParaRPr kumimoji="1"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>
              <a:off x="543" y="3534"/>
              <a:ext cx="336" cy="0"/>
            </a:xfrm>
            <a:prstGeom prst="line">
              <a:avLst/>
            </a:prstGeom>
            <a:noFill/>
            <a:ln w="38100">
              <a:solidFill>
                <a:srgbClr val="0043A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57202" y="1890189"/>
            <a:ext cx="8383603" cy="830997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功能描述是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程序的核心部分，用于描述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模块内部结构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模块端口间的逻辑关系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211034" y="1272931"/>
            <a:ext cx="2203802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5124" y="1986789"/>
            <a:ext cx="8117336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结构描述方式的定义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根据设计模块的逻辑电路图，调用库中的标准元器件或已设计好的模块元件，并描述</a:t>
            </a:r>
            <a:r>
              <a:rPr lang="zh-CN" altLang="en-US" sz="2000" b="1" dirty="0">
                <a:latin typeface="宋体" panose="02010600030101010101" pitchFamily="2" charset="-122"/>
              </a:rPr>
              <a:t>元器件之间的互连，来建立逻辑电路的模型</a:t>
            </a:r>
            <a:endParaRPr lang="zh-CN" altLang="en-US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385124" y="3931753"/>
            <a:ext cx="811733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结构描述方式的分类</a:t>
            </a:r>
            <a:endParaRPr lang="en-US" altLang="zh-CN" sz="24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调用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Verilog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内置门元件（门级结构描述）</a:t>
            </a:r>
            <a:endParaRPr lang="en-US" altLang="zh-CN" sz="2000" dirty="0"/>
          </a:p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调用开关级元件（晶体管级结构描述）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调用用户自定义元件（模块级结构描述）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05213" y="4947415"/>
            <a:ext cx="456489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11034" y="1272931"/>
            <a:ext cx="7623930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——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结构描述方式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5" descr="8-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212" y="701860"/>
            <a:ext cx="5104590" cy="596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215711" y="3247959"/>
            <a:ext cx="1306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的内置门元件 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19196" y="1407685"/>
            <a:ext cx="3032681" cy="95410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——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门级结构描述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 txBox="1">
            <a:spLocks noChangeArrowheads="1"/>
          </p:cNvSpPr>
          <p:nvPr/>
        </p:nvSpPr>
        <p:spPr>
          <a:xfrm>
            <a:off x="211034" y="1918768"/>
            <a:ext cx="2215219" cy="346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618FF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618FFD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7865" tIns="33338" rIns="67865" bIns="33338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门元件的调用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7"/>
          <p:cNvSpPr txBox="1">
            <a:spLocks noChangeArrowheads="1"/>
          </p:cNvSpPr>
          <p:nvPr/>
        </p:nvSpPr>
        <p:spPr>
          <a:xfrm>
            <a:off x="301690" y="4924966"/>
            <a:ext cx="8518131" cy="1430114"/>
          </a:xfrm>
          <a:prstGeom prst="rect">
            <a:avLst/>
          </a:prstGeom>
          <a:noFill/>
          <a:ln w="12700">
            <a:solidFill>
              <a:srgbClr val="CC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618FFD"/>
                </a:solidFill>
              </a14:hiddenFill>
            </a:ext>
          </a:extLst>
        </p:spPr>
        <p:txBody>
          <a:bodyPr vert="horz" lIns="67865" tIns="33338" rIns="67865" bIns="3333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l"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普通门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的端口列表按如下顺序列出：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en-US" altLang="zh-CN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r>
              <a:rPr lang="en-US" altLang="zh-CN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</a:t>
            </a: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r>
              <a:rPr lang="en-US" altLang="zh-CN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2,</a:t>
            </a:r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r>
              <a:rPr lang="en-US" altLang="zh-CN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3……);</a:t>
            </a:r>
            <a:endParaRPr lang="zh-CN" altLang="en-US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例如：</a:t>
            </a:r>
            <a:r>
              <a:rPr lang="en-US" altLang="zh-CN" sz="2000" b="1" dirty="0"/>
              <a:t>       </a:t>
            </a:r>
            <a:r>
              <a:rPr lang="en-US" altLang="zh-CN" sz="2800" b="1" dirty="0">
                <a:solidFill>
                  <a:srgbClr val="0000FF"/>
                </a:solidFill>
              </a:rPr>
              <a:t>and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C00000"/>
                </a:solidFill>
              </a:rPr>
              <a:t>a1</a:t>
            </a:r>
            <a:r>
              <a:rPr lang="en-US" altLang="zh-CN" sz="2800" b="1" dirty="0"/>
              <a:t>(out,in1,in2,in3);</a:t>
            </a:r>
            <a:r>
              <a:rPr lang="en-US" altLang="zh-CN" sz="2000" b="1" dirty="0"/>
              <a:t>	//</a:t>
            </a:r>
            <a:r>
              <a:rPr lang="zh-CN" altLang="en-US" sz="2000" b="1" dirty="0"/>
              <a:t>三输入与门</a:t>
            </a:r>
            <a:endParaRPr lang="en-US" altLang="zh-CN" sz="2000" b="1" dirty="0"/>
          </a:p>
        </p:txBody>
      </p:sp>
      <p:sp>
        <p:nvSpPr>
          <p:cNvPr id="2" name="矩形 1"/>
          <p:cNvSpPr/>
          <p:nvPr/>
        </p:nvSpPr>
        <p:spPr>
          <a:xfrm>
            <a:off x="301690" y="2493883"/>
            <a:ext cx="8529488" cy="707886"/>
          </a:xfrm>
          <a:prstGeom prst="rect">
            <a:avLst/>
          </a:prstGeom>
          <a:ln>
            <a:solidFill>
              <a:srgbClr val="618FFD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格式：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门元件名 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实例名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（端口列表）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0332" y="3670635"/>
            <a:ext cx="8529489" cy="553998"/>
          </a:xfrm>
          <a:prstGeom prst="rect">
            <a:avLst/>
          </a:prstGeom>
          <a:noFill/>
          <a:ln>
            <a:solidFill>
              <a:srgbClr val="618FFD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实例名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，是为本次元件调用后生成的门级元件实例所取的名字，可省略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11034" y="1272931"/>
            <a:ext cx="7681682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——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门级结构描述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835947" y="1969050"/>
            <a:ext cx="4028919" cy="4648317"/>
          </a:xfrm>
          <a:prstGeom prst="rect">
            <a:avLst/>
          </a:prstGeom>
          <a:noFill/>
          <a:ln w="15875">
            <a:solidFill>
              <a:srgbClr val="618FFD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618FFD"/>
                </a:solidFill>
              </a14:hiddenFill>
            </a:ext>
          </a:extLst>
        </p:spPr>
        <p:txBody>
          <a:bodyPr vert="horz" lIns="67865" tIns="33338" rIns="67865" bIns="3333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b="1" dirty="0">
                <a:solidFill>
                  <a:srgbClr val="FF0000"/>
                </a:solidFill>
              </a:rPr>
              <a:t>门级结构描述</a:t>
            </a:r>
            <a:r>
              <a:rPr lang="zh-CN" altLang="en-US" b="1" dirty="0"/>
              <a:t>的</a:t>
            </a:r>
            <a:r>
              <a:rPr lang="en-US" altLang="zh-CN" b="1" dirty="0"/>
              <a:t>2</a:t>
            </a:r>
            <a:r>
              <a:rPr lang="zh-CN" altLang="en-US" b="1" dirty="0"/>
              <a:t>选</a:t>
            </a:r>
            <a:r>
              <a:rPr lang="en-US" altLang="zh-CN" b="1" dirty="0"/>
              <a:t>1MUX</a:t>
            </a:r>
            <a:endParaRPr lang="en-US" altLang="zh-CN" b="1" dirty="0"/>
          </a:p>
          <a:p>
            <a:pPr algn="l"/>
            <a:endParaRPr lang="en-US" altLang="zh-CN" b="1" dirty="0"/>
          </a:p>
          <a:p>
            <a:pPr algn="l"/>
            <a:r>
              <a:rPr lang="en-US" altLang="zh-CN" b="1" dirty="0">
                <a:solidFill>
                  <a:srgbClr val="0000FF"/>
                </a:solidFill>
              </a:rPr>
              <a:t>module</a:t>
            </a:r>
            <a:r>
              <a:rPr lang="en-US" altLang="zh-CN" b="1" dirty="0"/>
              <a:t> MUX1(out, a, b, </a:t>
            </a:r>
            <a:r>
              <a:rPr lang="en-US" altLang="zh-CN" b="1" dirty="0" err="1"/>
              <a:t>sel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pPr algn="l"/>
            <a:r>
              <a:rPr lang="en-US" altLang="zh-CN" b="1" dirty="0">
                <a:solidFill>
                  <a:srgbClr val="7030A0"/>
                </a:solidFill>
              </a:rPr>
              <a:t>    output</a:t>
            </a:r>
            <a:r>
              <a:rPr lang="en-US" altLang="zh-CN" b="1" dirty="0"/>
              <a:t> out;</a:t>
            </a:r>
            <a:endParaRPr lang="en-US" altLang="zh-CN" b="1" dirty="0"/>
          </a:p>
          <a:p>
            <a:pPr algn="l"/>
            <a:r>
              <a:rPr lang="en-US" altLang="zh-CN" b="1" dirty="0">
                <a:solidFill>
                  <a:srgbClr val="7030A0"/>
                </a:solidFill>
              </a:rPr>
              <a:t>    input</a:t>
            </a:r>
            <a:r>
              <a:rPr lang="en-US" altLang="zh-CN" b="1" dirty="0"/>
              <a:t> a, b, </a:t>
            </a:r>
            <a:r>
              <a:rPr lang="en-US" altLang="zh-CN" b="1" dirty="0" err="1"/>
              <a:t>sel</a:t>
            </a:r>
            <a:r>
              <a:rPr lang="en-US" altLang="zh-CN" b="1" dirty="0"/>
              <a:t>;</a:t>
            </a:r>
            <a:endParaRPr lang="en-US" altLang="zh-CN" b="1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</a:rPr>
              <a:t>    not</a:t>
            </a:r>
            <a:r>
              <a:rPr lang="en-US" altLang="zh-CN" b="1" dirty="0"/>
              <a:t>   (</a:t>
            </a:r>
            <a:r>
              <a:rPr lang="en-US" altLang="zh-CN" b="1" dirty="0" err="1"/>
              <a:t>sel</a:t>
            </a:r>
            <a:r>
              <a:rPr lang="en-US" altLang="zh-CN" b="1" dirty="0"/>
              <a:t>_, </a:t>
            </a:r>
            <a:r>
              <a:rPr lang="en-US" altLang="zh-CN" b="1" dirty="0" err="1"/>
              <a:t>sel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</a:rPr>
              <a:t>    and</a:t>
            </a:r>
            <a:r>
              <a:rPr lang="en-US" altLang="zh-CN" b="1" dirty="0"/>
              <a:t>  (a1, a, </a:t>
            </a:r>
            <a:r>
              <a:rPr lang="en-US" altLang="zh-CN" b="1" dirty="0" err="1"/>
              <a:t>sel</a:t>
            </a:r>
            <a:r>
              <a:rPr lang="en-US" altLang="zh-CN" b="1" dirty="0"/>
              <a:t>_);</a:t>
            </a:r>
            <a:endParaRPr lang="en-US" altLang="zh-CN" b="1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</a:rPr>
              <a:t>    and</a:t>
            </a:r>
            <a:r>
              <a:rPr lang="en-US" altLang="zh-CN" b="1" dirty="0"/>
              <a:t>  (a2, b, </a:t>
            </a:r>
            <a:r>
              <a:rPr lang="en-US" altLang="zh-CN" b="1" dirty="0" err="1"/>
              <a:t>sel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</a:rPr>
              <a:t>    or</a:t>
            </a:r>
            <a:r>
              <a:rPr lang="en-US" altLang="zh-CN" b="1" dirty="0"/>
              <a:t>  (out, a1, a2);</a:t>
            </a:r>
            <a:endParaRPr lang="en-US" altLang="zh-CN" b="1" dirty="0"/>
          </a:p>
          <a:p>
            <a:pPr algn="l"/>
            <a:r>
              <a:rPr lang="en-US" altLang="zh-CN" b="1" dirty="0" err="1">
                <a:solidFill>
                  <a:srgbClr val="0000FF"/>
                </a:solidFill>
              </a:rPr>
              <a:t>endmodule</a:t>
            </a:r>
            <a:endParaRPr lang="en-US" altLang="zh-CN" b="1" dirty="0">
              <a:solidFill>
                <a:srgbClr val="0000FF"/>
              </a:solidFill>
            </a:endParaRPr>
          </a:p>
          <a:p>
            <a:pPr algn="l"/>
            <a:endParaRPr lang="en-US" altLang="zh-CN" sz="1800" b="1" dirty="0"/>
          </a:p>
        </p:txBody>
      </p:sp>
      <p:pic>
        <p:nvPicPr>
          <p:cNvPr id="14" name="Picture 3" descr="7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01" y="3683583"/>
            <a:ext cx="4500157" cy="192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11034" y="2417925"/>
            <a:ext cx="431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例如：用门级结构描述方式描述以下电路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4660286" y="1858361"/>
            <a:ext cx="21658" cy="49130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11034" y="1272931"/>
            <a:ext cx="7681682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——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门级结构描述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5123" y="2133959"/>
            <a:ext cx="8479743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数据流描述方式主要使用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持续赋值语句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assign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，多用于描述组合逻辑电路。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5124" y="3157633"/>
            <a:ext cx="8479742" cy="33239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数据流描述方式的格式：</a:t>
            </a:r>
            <a:endParaRPr lang="en-US" altLang="zh-CN" sz="2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800" b="1" dirty="0"/>
              <a:t>        assign  </a:t>
            </a:r>
            <a:r>
              <a:rPr lang="en-US" altLang="zh-CN" sz="2800" b="1" dirty="0" err="1"/>
              <a:t>L_wire</a:t>
            </a:r>
            <a:r>
              <a:rPr lang="en-US" altLang="zh-CN" sz="2800" b="1" dirty="0"/>
              <a:t>=</a:t>
            </a:r>
            <a:r>
              <a:rPr lang="en-US" altLang="zh-CN" sz="2800" b="1" dirty="0" err="1"/>
              <a:t>R_expression</a:t>
            </a:r>
            <a:r>
              <a:rPr lang="en-US" altLang="zh-CN" sz="2800" b="1" dirty="0"/>
              <a:t>;</a:t>
            </a:r>
            <a:endParaRPr lang="en-US" altLang="zh-CN" sz="2800" b="1" dirty="0"/>
          </a:p>
          <a:p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说明：</a:t>
            </a:r>
            <a:endParaRPr lang="en-US" altLang="zh-CN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assign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语句的功能是将等号右侧表达式的值赋给左边的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连线型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wire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）变量。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右边表达式中的操作数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无论何时发生变化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，都会引起表达式值的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重新计算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并将重新计算后的值赋予左边表达式的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wire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型变量。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11034" y="1272931"/>
            <a:ext cx="7681682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——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数据流描述方式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582822" y="1970504"/>
            <a:ext cx="4469198" cy="3199724"/>
          </a:xfrm>
          <a:prstGeom prst="rect">
            <a:avLst/>
          </a:prstGeom>
          <a:noFill/>
          <a:ln w="15875">
            <a:solidFill>
              <a:srgbClr val="618FFD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618FFD"/>
                </a:solidFill>
              </a14:hiddenFill>
            </a:ext>
          </a:extLst>
        </p:spPr>
        <p:txBody>
          <a:bodyPr vert="horz" lIns="67865" tIns="33338" rIns="67865" bIns="3333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</a:rPr>
              <a:t>数据流描述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选</a:t>
            </a:r>
            <a:r>
              <a:rPr lang="en-US" altLang="zh-CN" sz="2000" b="1" dirty="0"/>
              <a:t>1MUX</a:t>
            </a:r>
            <a:endParaRPr lang="en-US" altLang="zh-CN" sz="2000" b="1" dirty="0"/>
          </a:p>
          <a:p>
            <a:pPr algn="l"/>
            <a:endParaRPr lang="en-US" altLang="zh-CN" sz="2000" b="1" dirty="0"/>
          </a:p>
          <a:p>
            <a:pPr algn="l"/>
            <a:r>
              <a:rPr lang="en-US" altLang="zh-CN" sz="2000" b="1" dirty="0">
                <a:solidFill>
                  <a:srgbClr val="0000FF"/>
                </a:solidFill>
              </a:rPr>
              <a:t>module</a:t>
            </a:r>
            <a:r>
              <a:rPr lang="en-US" altLang="zh-CN" sz="2000" b="1" dirty="0"/>
              <a:t> MUX1(out, a, b, </a:t>
            </a:r>
            <a:r>
              <a:rPr lang="en-US" altLang="zh-CN" sz="2000" b="1" dirty="0" err="1"/>
              <a:t>sel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algn="l"/>
            <a:r>
              <a:rPr lang="en-US" altLang="zh-CN" sz="2000" b="1" dirty="0">
                <a:solidFill>
                  <a:srgbClr val="FF33CC"/>
                </a:solidFill>
              </a:rPr>
              <a:t>    wire</a:t>
            </a:r>
            <a:r>
              <a:rPr lang="en-US" altLang="zh-CN" sz="2000" b="1" dirty="0">
                <a:solidFill>
                  <a:srgbClr val="7030A0"/>
                </a:solidFill>
              </a:rPr>
              <a:t>  out;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algn="l"/>
            <a:r>
              <a:rPr lang="en-US" altLang="zh-CN" sz="2000" b="1" dirty="0">
                <a:solidFill>
                  <a:srgbClr val="7030A0"/>
                </a:solidFill>
              </a:rPr>
              <a:t>    output</a:t>
            </a:r>
            <a:r>
              <a:rPr lang="en-US" altLang="zh-CN" sz="2000" b="1" dirty="0"/>
              <a:t> out;</a:t>
            </a:r>
            <a:endParaRPr lang="en-US" altLang="zh-CN" sz="2000" b="1" dirty="0"/>
          </a:p>
          <a:p>
            <a:pPr algn="l"/>
            <a:r>
              <a:rPr lang="en-US" altLang="zh-CN" sz="2000" b="1" dirty="0">
                <a:solidFill>
                  <a:srgbClr val="7030A0"/>
                </a:solidFill>
              </a:rPr>
              <a:t>    input</a:t>
            </a:r>
            <a:r>
              <a:rPr lang="en-US" altLang="zh-CN" sz="2000" b="1" dirty="0"/>
              <a:t> a, b, </a:t>
            </a:r>
            <a:r>
              <a:rPr lang="en-US" altLang="zh-CN" sz="2000" b="1" dirty="0" err="1"/>
              <a:t>sel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algn="l"/>
            <a:r>
              <a:rPr lang="en-US" altLang="zh-CN" sz="2000" b="1" dirty="0">
                <a:solidFill>
                  <a:srgbClr val="FF0000"/>
                </a:solidFill>
              </a:rPr>
              <a:t>    assign</a:t>
            </a:r>
            <a:r>
              <a:rPr lang="en-US" altLang="zh-CN" sz="2000" b="1" dirty="0">
                <a:solidFill>
                  <a:srgbClr val="0000FF"/>
                </a:solidFill>
              </a:rPr>
              <a:t>  out = (a&amp;&amp;(!</a:t>
            </a:r>
            <a:r>
              <a:rPr lang="en-US" altLang="zh-CN" sz="2000" b="1" dirty="0" err="1">
                <a:solidFill>
                  <a:srgbClr val="0000FF"/>
                </a:solidFill>
              </a:rPr>
              <a:t>sel</a:t>
            </a:r>
            <a:r>
              <a:rPr lang="en-US" altLang="zh-CN" sz="2000" b="1" dirty="0">
                <a:solidFill>
                  <a:srgbClr val="0000FF"/>
                </a:solidFill>
              </a:rPr>
              <a:t>) ) || ( b&amp;&amp;</a:t>
            </a:r>
            <a:r>
              <a:rPr lang="en-US" altLang="zh-CN" sz="2000" b="1" dirty="0" err="1">
                <a:solidFill>
                  <a:srgbClr val="0000FF"/>
                </a:solidFill>
              </a:rPr>
              <a:t>sel</a:t>
            </a:r>
            <a:r>
              <a:rPr lang="en-US" altLang="zh-CN" sz="2000" b="1" dirty="0">
                <a:solidFill>
                  <a:srgbClr val="0000FF"/>
                </a:solidFill>
              </a:rPr>
              <a:t>);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algn="l"/>
            <a:r>
              <a:rPr lang="en-US" altLang="zh-CN" sz="2000" b="1" dirty="0" err="1">
                <a:solidFill>
                  <a:srgbClr val="0000FF"/>
                </a:solidFill>
              </a:rPr>
              <a:t>endmodule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algn="l"/>
            <a:endParaRPr lang="en-US" altLang="zh-CN" sz="1600" b="1" dirty="0"/>
          </a:p>
        </p:txBody>
      </p:sp>
      <p:pic>
        <p:nvPicPr>
          <p:cNvPr id="13" name="Picture 3" descr="7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1" y="3016252"/>
            <a:ext cx="4420481" cy="198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182235" y="2099172"/>
            <a:ext cx="4168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例如：用数据流描述方式描述以下电路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4215" y="5294841"/>
            <a:ext cx="8604219" cy="707886"/>
          </a:xfrm>
          <a:prstGeom prst="rect">
            <a:avLst/>
          </a:prstGeom>
          <a:noFill/>
          <a:ln>
            <a:solidFill>
              <a:srgbClr val="618FFD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数据流描述方式的实现：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将系统的逻辑表达式中的逻辑运算符转换成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的逻辑运算符即可。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049155" y="6127340"/>
                <a:ext cx="1925052" cy="470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zh-CN" altLang="en-US" sz="24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zh-CN" altLang="en-US" sz="2400" b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𝒄𝒅</m:t>
                          </m:r>
                        </m:e>
                      </m:acc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155" y="6127340"/>
                <a:ext cx="1925052" cy="470065"/>
              </a:xfrm>
              <a:prstGeom prst="rect">
                <a:avLst/>
              </a:prstGeom>
              <a:blipFill rotWithShape="1">
                <a:blip r:embed="rId2"/>
                <a:stretch>
                  <a:fillRect l="-7" t="-48" r="26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头: 右 7"/>
          <p:cNvSpPr/>
          <p:nvPr/>
        </p:nvSpPr>
        <p:spPr>
          <a:xfrm>
            <a:off x="3220979" y="6274153"/>
            <a:ext cx="590626" cy="176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文本框 15"/>
          <p:cNvSpPr txBox="1"/>
          <p:nvPr/>
        </p:nvSpPr>
        <p:spPr>
          <a:xfrm>
            <a:off x="3960435" y="6108009"/>
            <a:ext cx="431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assign  f = (a&amp;&amp;b) || (!(c&amp;&amp;d))</a:t>
            </a:r>
            <a:endParaRPr lang="zh-CN" altLang="en-US" sz="2400" b="1" dirty="0"/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119594" y="1227565"/>
            <a:ext cx="7681682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——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数据流描述方式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 animBg="1"/>
      <p:bldP spid="5" grpId="0"/>
      <p:bldP spid="8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1034" y="1980042"/>
            <a:ext cx="8677897" cy="44526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57175" indent="-257175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行为描述是对设计实体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数学模型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的描述，其</a:t>
            </a:r>
            <a:r>
              <a: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抽象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程度远远高于结构描述方式和数据流方式。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行为描述类似于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高级编程语言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，当描述一个设计实体的行为时，无需知道具体电路的结构，只需要描述清楚输入与输出信号的行为，而不需要花费更多的精力关注设计功能的门级实现。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当电路的规模较大或时序关系较复杂时，通常采用行为描述方式进行设计。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行为描述就是在过程块</a:t>
            </a:r>
            <a:r>
              <a:rPr lang="en-US" altLang="zh-CN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中，使用各种行为语句描述逻辑功能。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11034" y="1272931"/>
            <a:ext cx="7681682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——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行为描述方式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12737" y="2831625"/>
            <a:ext cx="8378876" cy="3453253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indent="209550" algn="just" eaLnBrk="0" hangingPunct="0">
              <a:lnSpc>
                <a:spcPct val="130000"/>
              </a:lnSpc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◆  过程块语句（</a:t>
            </a:r>
            <a:r>
              <a:rPr kumimoji="1"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initial、always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209550" algn="just" eaLnBrk="0" hangingPunct="0">
              <a:lnSpc>
                <a:spcPct val="130000"/>
              </a:lnSpc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◆  </a:t>
            </a: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块语句（</a:t>
            </a:r>
            <a:r>
              <a:rPr kumimoji="1"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begin-end、fork-join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209550" algn="just" eaLnBrk="0" hangingPunct="0">
              <a:lnSpc>
                <a:spcPct val="130000"/>
              </a:lnSpc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◆  </a:t>
            </a: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赋值语句（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assign、=、&lt;=）</a:t>
            </a:r>
            <a:endParaRPr kumimoji="1" lang="en-US" altLang="zh-CN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209550" algn="just" eaLnBrk="0" hangingPunct="0">
              <a:lnSpc>
                <a:spcPct val="130000"/>
              </a:lnSpc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◆ </a:t>
            </a: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条件语句（</a:t>
            </a:r>
            <a:r>
              <a:rPr kumimoji="1"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if-else、case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209550" algn="just" eaLnBrk="0" hangingPunct="0">
              <a:lnSpc>
                <a:spcPct val="130000"/>
              </a:lnSpc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◆  </a:t>
            </a: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循环语句（</a:t>
            </a:r>
            <a:r>
              <a:rPr kumimoji="1"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for、forever、repeat、while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209550" algn="just" eaLnBrk="0" hangingPunct="0">
              <a:lnSpc>
                <a:spcPct val="130000"/>
              </a:lnSpc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◆ </a:t>
            </a: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编译指示语句（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'define、'include、'</a:t>
            </a:r>
            <a:r>
              <a:rPr kumimoji="1"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ifdef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、'else、'</a:t>
            </a:r>
            <a:r>
              <a:rPr kumimoji="1"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endif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indent="209550" algn="just" eaLnBrk="0" hangingPunct="0">
              <a:lnSpc>
                <a:spcPct val="130000"/>
              </a:lnSpc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◆ 任务（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task）</a:t>
            </a: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与  函数（</a:t>
            </a:r>
            <a:r>
              <a:rPr kumimoji="1"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function）</a:t>
            </a:r>
            <a:endParaRPr kumimoji="1" lang="en-US" altLang="zh-CN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95517" y="2150278"/>
            <a:ext cx="2953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行为描述高级语句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11034" y="1272931"/>
            <a:ext cx="7681682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3. 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功能描述</a:t>
            </a: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/>
                <a:ea typeface="宋体" panose="02010600030101010101" pitchFamily="2" charset="-122"/>
              </a:rPr>
              <a:t>——</a:t>
            </a:r>
            <a:r>
              <a:rPr kumimoji="1" lang="zh-CN" altLang="en-US" sz="2800" b="1" kern="0" dirty="0">
                <a:solidFill>
                  <a:srgbClr val="C00000"/>
                </a:solidFill>
                <a:latin typeface="Tahoma" panose="020B0604030504040204"/>
                <a:ea typeface="宋体" panose="02010600030101010101" pitchFamily="2" charset="-122"/>
              </a:rPr>
              <a:t>行为描述方式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-12370" y="63109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三、模块内容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70168" y="803977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小结：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3"/>
          <p:cNvSpPr txBox="1">
            <a:spLocks noRot="1" noChangeArrowheads="1"/>
          </p:cNvSpPr>
          <p:nvPr/>
        </p:nvSpPr>
        <p:spPr bwMode="auto">
          <a:xfrm>
            <a:off x="203319" y="1573329"/>
            <a:ext cx="8666361" cy="281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685800" eaLnBrk="1" hangingPunct="1">
              <a:spcBef>
                <a:spcPts val="0"/>
              </a:spcBef>
              <a:spcAft>
                <a:spcPts val="1200"/>
              </a:spcAft>
              <a:buClr>
                <a:srgbClr val="3333CC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程序由</a:t>
            </a:r>
            <a:r>
              <a:rPr lang="zh-CN" altLang="en-US" sz="24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</a:t>
            </a:r>
            <a:r>
              <a:rPr lang="en-US" altLang="zh-CN" sz="24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(module)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构成，每个模块的内容嵌套在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module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kern="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endmodule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两语句之间；每个模块实现特定的功能，模块可以进行层次嵌套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defTabSz="685800" eaLnBrk="1" hangingPunct="1">
              <a:spcBef>
                <a:spcPts val="0"/>
              </a:spcBef>
              <a:spcAft>
                <a:spcPts val="1200"/>
              </a:spcAft>
              <a:buClr>
                <a:srgbClr val="3333CC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每个模块首先要进行</a:t>
            </a:r>
            <a:r>
              <a:rPr lang="zh-CN" altLang="en-US" sz="24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端口定义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，并进行</a:t>
            </a:r>
            <a:r>
              <a:rPr lang="en-US" altLang="zh-CN" sz="24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sz="24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声明和信号类型声明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，然后</a:t>
            </a:r>
            <a:r>
              <a:rPr lang="zh-CN" altLang="en-US" sz="24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对模块的功能进行逻辑描述</a:t>
            </a:r>
            <a:r>
              <a:rPr lang="en-US" altLang="zh-CN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结构描述、数据流描述、行为描述）</a:t>
            </a:r>
            <a:endParaRPr lang="zh-CN" altLang="en-US" sz="2400" b="1" kern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defTabSz="685800" eaLnBrk="1" hangingPunct="1">
              <a:spcBef>
                <a:spcPts val="0"/>
              </a:spcBef>
              <a:spcAft>
                <a:spcPts val="1200"/>
              </a:spcAft>
              <a:buClr>
                <a:srgbClr val="3333CC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除了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或以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开头的关键字（如</a:t>
            </a:r>
            <a:r>
              <a:rPr lang="en-US" altLang="zh-CN" sz="2400" b="1" kern="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endmodule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）语句外，每条语句后必须要有分号“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rgbClr val="3333CC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可以用</a:t>
            </a:r>
            <a:r>
              <a:rPr lang="en-US" altLang="zh-CN" sz="24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/*……*/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//……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程序的任何部分作</a:t>
            </a:r>
            <a:r>
              <a:rPr lang="zh-CN" altLang="en-US" sz="24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注释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。一个完整的源程序都应当加上必要的注释，以加强程序的可读性 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45297" y="835734"/>
            <a:ext cx="4865259" cy="5755422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module 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模块名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 (&lt;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模块端口列表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&gt;);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端口声明*</a:t>
            </a:r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output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输出端口列表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input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输入端口列表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数据类型说明*</a:t>
            </a:r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wire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信号名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6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reg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信号名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parameter 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标识符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&gt;=&lt;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&gt;;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/*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逻辑功能定义*</a:t>
            </a:r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采用</a:t>
            </a:r>
            <a:r>
              <a:rPr lang="en-US" altLang="zh-CN" sz="1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assign</a:t>
            </a:r>
            <a:r>
              <a:rPr lang="zh-CN" altLang="en-US" sz="1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语句定义逻辑功能</a:t>
            </a:r>
            <a:endParaRPr lang="en-US" altLang="zh-CN" sz="16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assign 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信号名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&gt;=&lt;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&gt;;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调用内置门元件</a:t>
            </a:r>
            <a:endParaRPr lang="en-US" altLang="zh-CN" sz="16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门元件名 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实例名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 (&lt;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信号顺序连接表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&gt;);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用过程块描述逻辑功能</a:t>
            </a:r>
            <a:endParaRPr lang="en-US" altLang="zh-CN" sz="16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always @(&lt;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敏感信号列表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&gt;)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6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begin</a:t>
            </a:r>
            <a:endParaRPr lang="en-US" altLang="zh-CN" sz="16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//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阻塞赋值语句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//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非阻塞赋值语句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//if-else 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//for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循环语句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6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</a:t>
            </a:r>
            <a:endParaRPr lang="en-US" altLang="zh-CN" sz="16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endmodule</a:t>
            </a:r>
            <a:endParaRPr lang="zh-CN" altLang="en-US" sz="1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8372" y="3100192"/>
            <a:ext cx="1618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模块的基本设计模板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70168" y="803977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小结：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程序的基本结构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883274" y="3079908"/>
            <a:ext cx="21302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858703" y="0"/>
            <a:ext cx="628529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>
            <a:stCxn id="12" idx="0"/>
          </p:cNvCxnSpPr>
          <p:nvPr/>
        </p:nvCxnSpPr>
        <p:spPr>
          <a:xfrm flipH="1">
            <a:off x="2858702" y="0"/>
            <a:ext cx="3142650" cy="1506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01352" y="5088571"/>
            <a:ext cx="3142648" cy="17694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25"/>
          <p:cNvSpPr txBox="1"/>
          <p:nvPr/>
        </p:nvSpPr>
        <p:spPr>
          <a:xfrm>
            <a:off x="3944893" y="2127740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zh-CN" altLang="en-US" sz="2800" dirty="0"/>
              <a:t>程序基本结构</a:t>
            </a:r>
            <a:endParaRPr lang="zh-CN" altLang="en-US" sz="2800" dirty="0"/>
          </a:p>
        </p:txBody>
      </p:sp>
      <p:sp>
        <p:nvSpPr>
          <p:cNvPr id="17" name="淘宝网chenying0907出品 25"/>
          <p:cNvSpPr txBox="1"/>
          <p:nvPr/>
        </p:nvSpPr>
        <p:spPr>
          <a:xfrm>
            <a:off x="3944893" y="2963579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数据类型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9" name="淘宝网chenying0907出品 29"/>
          <p:cNvSpPr txBox="1"/>
          <p:nvPr/>
        </p:nvSpPr>
        <p:spPr>
          <a:xfrm>
            <a:off x="3944893" y="4639050"/>
            <a:ext cx="2424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基本语句</a:t>
            </a:r>
            <a:endParaRPr lang="zh-CN" altLang="en-US" sz="2800" dirty="0"/>
          </a:p>
        </p:txBody>
      </p:sp>
      <p:sp>
        <p:nvSpPr>
          <p:cNvPr id="22" name="淘宝网chenying0907出品 29"/>
          <p:cNvSpPr txBox="1"/>
          <p:nvPr/>
        </p:nvSpPr>
        <p:spPr>
          <a:xfrm>
            <a:off x="3944893" y="5474889"/>
            <a:ext cx="331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模块化程序设计</a:t>
            </a:r>
            <a:endParaRPr lang="zh-CN" altLang="en-US" sz="2800" dirty="0"/>
          </a:p>
        </p:txBody>
      </p:sp>
      <p:sp>
        <p:nvSpPr>
          <p:cNvPr id="29" name="淘宝网chenying0907出品 25"/>
          <p:cNvSpPr txBox="1"/>
          <p:nvPr/>
        </p:nvSpPr>
        <p:spPr>
          <a:xfrm>
            <a:off x="3944893" y="3799418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运算符</a:t>
            </a:r>
            <a:endParaRPr lang="zh-CN" altLang="en-US" sz="2800" dirty="0"/>
          </a:p>
        </p:txBody>
      </p:sp>
      <p:sp>
        <p:nvSpPr>
          <p:cNvPr id="13" name="淘宝网chenying0907出品 25"/>
          <p:cNvSpPr txBox="1"/>
          <p:nvPr/>
        </p:nvSpPr>
        <p:spPr>
          <a:xfrm>
            <a:off x="3944892" y="1288108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Quartus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Ⅱ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使用说明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一、常量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的数据类型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28" name="Rectangle 3"/>
          <p:cNvSpPr>
            <a:spLocks noChangeArrowheads="1"/>
          </p:cNvSpPr>
          <p:nvPr/>
        </p:nvSpPr>
        <p:spPr bwMode="auto">
          <a:xfrm>
            <a:off x="1422797" y="3465866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实数型</a:t>
            </a:r>
            <a:endParaRPr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9" name="Group 4"/>
          <p:cNvGrpSpPr/>
          <p:nvPr/>
        </p:nvGrpSpPr>
        <p:grpSpPr bwMode="auto">
          <a:xfrm>
            <a:off x="2497138" y="3078169"/>
            <a:ext cx="5272087" cy="1443038"/>
            <a:chOff x="1860" y="1661"/>
            <a:chExt cx="3321" cy="909"/>
          </a:xfrm>
        </p:grpSpPr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1971" y="1661"/>
              <a:ext cx="32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十进制记数法 如：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0.1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2.0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5.67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2018" y="2085"/>
              <a:ext cx="3032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科学记数法  如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: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23_5.1e2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5E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      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23510.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0.0005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AutoShape 7"/>
            <p:cNvSpPr/>
            <p:nvPr/>
          </p:nvSpPr>
          <p:spPr bwMode="auto">
            <a:xfrm>
              <a:off x="1860" y="1744"/>
              <a:ext cx="147" cy="663"/>
            </a:xfrm>
            <a:prstGeom prst="leftBrace">
              <a:avLst>
                <a:gd name="adj1" fmla="val 37585"/>
                <a:gd name="adj2" fmla="val 50000"/>
              </a:avLst>
            </a:prstGeom>
            <a:noFill/>
            <a:ln w="38100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101638" y="3487389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常量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" name="AutoShape 10"/>
          <p:cNvSpPr/>
          <p:nvPr/>
        </p:nvSpPr>
        <p:spPr bwMode="auto">
          <a:xfrm>
            <a:off x="1045803" y="1739973"/>
            <a:ext cx="503918" cy="3952032"/>
          </a:xfrm>
          <a:prstGeom prst="leftBrace">
            <a:avLst>
              <a:gd name="adj1" fmla="val 96765"/>
              <a:gd name="adj2" fmla="val 50000"/>
            </a:avLst>
          </a:prstGeom>
          <a:noFill/>
          <a:ln w="3810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5" name="Group 11"/>
          <p:cNvGrpSpPr/>
          <p:nvPr/>
        </p:nvGrpSpPr>
        <p:grpSpPr bwMode="auto">
          <a:xfrm>
            <a:off x="2437293" y="1100412"/>
            <a:ext cx="6461125" cy="1658938"/>
            <a:chOff x="1690" y="527"/>
            <a:chExt cx="4070" cy="1045"/>
          </a:xfrm>
        </p:grpSpPr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1837" y="527"/>
              <a:ext cx="392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十进制数的形式的表示方法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: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表示有符号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常量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例如：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30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、－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2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>
              <a:off x="1837" y="1049"/>
              <a:ext cx="392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带基数的形式的表示方法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: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格式为：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&lt;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/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－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&gt;&lt;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位宽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&gt;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’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&lt;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基数符号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&gt;&lt;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数值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&gt;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8" name="AutoShape 14"/>
            <p:cNvSpPr/>
            <p:nvPr/>
          </p:nvSpPr>
          <p:spPr bwMode="auto">
            <a:xfrm>
              <a:off x="1690" y="618"/>
              <a:ext cx="147" cy="589"/>
            </a:xfrm>
            <a:prstGeom prst="leftBrace">
              <a:avLst>
                <a:gd name="adj1" fmla="val 33390"/>
                <a:gd name="adj2" fmla="val 50000"/>
              </a:avLst>
            </a:prstGeom>
            <a:noFill/>
            <a:ln w="38100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Rectangle 15"/>
          <p:cNvSpPr>
            <a:spLocks noChangeArrowheads="1"/>
          </p:cNvSpPr>
          <p:nvPr/>
        </p:nvSpPr>
        <p:spPr bwMode="auto">
          <a:xfrm>
            <a:off x="1393825" y="1486522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整数型</a:t>
            </a:r>
            <a:endParaRPr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Rectangle 17"/>
          <p:cNvSpPr>
            <a:spLocks noChangeArrowheads="1"/>
          </p:cNvSpPr>
          <p:nvPr/>
        </p:nvSpPr>
        <p:spPr bwMode="auto">
          <a:xfrm>
            <a:off x="1422797" y="5138007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endParaRPr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Rectangle 18"/>
          <p:cNvSpPr>
            <a:spLocks noChangeArrowheads="1"/>
          </p:cNvSpPr>
          <p:nvPr/>
        </p:nvSpPr>
        <p:spPr bwMode="auto">
          <a:xfrm>
            <a:off x="2659719" y="5138007"/>
            <a:ext cx="532765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“”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括起来，按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ASCII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码序列存放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reg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 message[1:8*12];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     message=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Hello World!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；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878" y="1571260"/>
            <a:ext cx="355919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整型常量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格式：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&lt;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位宽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&gt;’&lt;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进制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&gt;&lt;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数值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&gt;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/>
              <a:t>位宽：对应的</a:t>
            </a:r>
            <a:r>
              <a:rPr lang="zh-CN" altLang="en-US" sz="2000" b="1" dirty="0">
                <a:solidFill>
                  <a:srgbClr val="FF0000"/>
                </a:solidFill>
              </a:rPr>
              <a:t>二进制</a:t>
            </a:r>
            <a:r>
              <a:rPr lang="zh-CN" altLang="en-US" sz="2000" b="1" dirty="0"/>
              <a:t>宽度</a:t>
            </a:r>
            <a:endParaRPr lang="en-US" altLang="zh-CN" sz="2000" b="1" dirty="0"/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/>
              <a:t>进制：</a:t>
            </a:r>
            <a:endParaRPr lang="en-US" altLang="zh-CN" sz="2000" b="1" dirty="0"/>
          </a:p>
          <a:p>
            <a:pPr marL="600075" lvl="1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二进制：</a:t>
            </a:r>
            <a:r>
              <a:rPr lang="en-US" altLang="zh-CN" sz="2000" b="1" dirty="0"/>
              <a:t>b/B</a:t>
            </a:r>
            <a:endParaRPr lang="en-US" altLang="zh-CN" sz="2000" b="1" dirty="0"/>
          </a:p>
          <a:p>
            <a:pPr marL="600075" lvl="1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十进制：</a:t>
            </a:r>
            <a:r>
              <a:rPr lang="en-US" altLang="zh-CN" sz="2000" b="1" dirty="0"/>
              <a:t>d/D</a:t>
            </a:r>
            <a:endParaRPr lang="en-US" altLang="zh-CN" sz="2000" b="1" dirty="0"/>
          </a:p>
          <a:p>
            <a:pPr marL="600075" lvl="1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八进制：</a:t>
            </a:r>
            <a:r>
              <a:rPr lang="en-US" altLang="zh-CN" sz="2000" b="1" dirty="0"/>
              <a:t>o/O</a:t>
            </a:r>
            <a:endParaRPr lang="en-US" altLang="zh-CN" sz="2000" b="1" dirty="0"/>
          </a:p>
          <a:p>
            <a:pPr marL="600075" lvl="1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十六进制：</a:t>
            </a:r>
            <a:r>
              <a:rPr lang="en-US" altLang="zh-CN" sz="2000" b="1" dirty="0"/>
              <a:t>h/H</a:t>
            </a:r>
            <a:endParaRPr lang="zh-CN" altLang="en-US" sz="2000" b="1" dirty="0"/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782728" y="2042898"/>
            <a:ext cx="52457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例如</a:t>
            </a:r>
            <a:r>
              <a:rPr kumimoji="1"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kumimoji="1" lang="zh-CN" altLang="en-US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8’b10110001  //</a:t>
            </a:r>
            <a:r>
              <a:rPr kumimoji="1"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表示位宽为</a:t>
            </a:r>
            <a:r>
              <a:rPr kumimoji="1"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kumimoji="1"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位的二进制数</a:t>
            </a:r>
            <a:endParaRPr kumimoji="1" lang="zh-CN" altLang="en-US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8’hf5	      //</a:t>
            </a:r>
            <a:r>
              <a:rPr kumimoji="1"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表示位宽为</a:t>
            </a:r>
            <a:r>
              <a:rPr kumimoji="1"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kumimoji="1"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位的十六进制数</a:t>
            </a:r>
            <a:endParaRPr kumimoji="1" lang="en-US" altLang="zh-CN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endParaRPr kumimoji="1" lang="zh-CN" altLang="en-US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十进制数的位宽和进制符号可以缺省</a:t>
            </a:r>
            <a:r>
              <a:rPr kumimoji="1"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endParaRPr kumimoji="1" lang="en-US" altLang="zh-CN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例如</a:t>
            </a:r>
            <a:r>
              <a:rPr kumimoji="1"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125            //</a:t>
            </a:r>
            <a:r>
              <a:rPr kumimoji="1"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表示十进制数</a:t>
            </a:r>
            <a:r>
              <a:rPr kumimoji="1"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125</a:t>
            </a:r>
            <a:endParaRPr kumimoji="1" lang="en-US" altLang="zh-CN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ct val="0"/>
              </a:spcAft>
              <a:buFontTx/>
              <a:buAutoNum type="arabicPlain" startAt="125"/>
            </a:pPr>
            <a:endParaRPr kumimoji="1" lang="en-US" altLang="zh-CN" sz="2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708387" y="1099220"/>
            <a:ext cx="31028" cy="56769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一、常量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的数据类型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3774" y="1645549"/>
            <a:ext cx="330426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实型常量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可用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十进制计数法</a:t>
            </a: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和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科学计数法</a:t>
            </a: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表示</a:t>
            </a:r>
            <a:endParaRPr kumimoji="1"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小数点两边都必须有数字</a:t>
            </a:r>
            <a:endParaRPr lang="zh-CN" altLang="en-US" sz="2000" b="1" dirty="0"/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4094718" y="1389849"/>
            <a:ext cx="8795" cy="54681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13774" y="4447974"/>
            <a:ext cx="349195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例如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7.56           //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十进制计数法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3.4E3        //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科学计数法</a:t>
            </a: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07935" y="1645549"/>
            <a:ext cx="44437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字符串常量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字符串是用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双引号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括起来的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可打印字符序列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，必须包含在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同一行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中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endParaRPr kumimoji="1" lang="en-US" altLang="zh-CN" sz="20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例如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: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“ABC”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“A BOY.”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“1234”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一、常量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的数据类型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2356" y="1781708"/>
            <a:ext cx="79237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参数常量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parameter</a:t>
            </a: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用于定义符号常量，可增加程序的可读性及可维护性</a:t>
            </a:r>
            <a:endParaRPr lang="zh-CN" altLang="en-US" sz="2400" b="1" dirty="0"/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994262" y="4411290"/>
            <a:ext cx="723993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例如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parameter PI = 3.14,   sign = “Hello World”;              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一、常量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的数据类型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313986" y="1409922"/>
            <a:ext cx="3624710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E4A8">
                <a:gamma/>
                <a:shade val="60000"/>
                <a:invGamma/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b="1" kern="0" dirty="0">
                <a:solidFill>
                  <a:srgbClr val="0000FF"/>
                </a:solidFill>
                <a:latin typeface="Tahoma" panose="020B0604030504040204" pitchFamily="34" charset="0"/>
              </a:rPr>
              <a:t>Verilog</a:t>
            </a:r>
            <a:r>
              <a:rPr kumimoji="1" lang="zh-CN" altLang="en-US" sz="2800" b="1" kern="0" dirty="0">
                <a:solidFill>
                  <a:srgbClr val="0000FF"/>
                </a:solidFill>
                <a:latin typeface="Tahoma" panose="020B0604030504040204" pitchFamily="34" charset="0"/>
              </a:rPr>
              <a:t>常用变量类型</a:t>
            </a:r>
            <a:endParaRPr kumimoji="1" lang="en-US" altLang="zh-CN" sz="2800" b="1" kern="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2" name="Group 29"/>
          <p:cNvGraphicFramePr/>
          <p:nvPr/>
        </p:nvGraphicFramePr>
        <p:xfrm>
          <a:off x="159952" y="2505775"/>
          <a:ext cx="4585301" cy="3337448"/>
        </p:xfrm>
        <a:graphic>
          <a:graphicData uri="http://schemas.openxmlformats.org/drawingml/2006/table">
            <a:tbl>
              <a:tblPr/>
              <a:tblGrid>
                <a:gridCol w="1342717"/>
                <a:gridCol w="3242584"/>
              </a:tblGrid>
              <a:tr h="2971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功能说明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wire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连线类型，表示结构实体之间的物理连接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00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reg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常用的寄存器型变量，被看做无符号数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00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integer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位带符号整数型变量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real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64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位带符号实数型变量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8" marB="342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无符号时间型变量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8" marB="342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871524" y="1572241"/>
            <a:ext cx="4060720" cy="46474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14630" indent="-21463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wire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用来描述电路中的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物理连接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，没有状态保持能力，输出随着输入变化而变化</a:t>
            </a:r>
            <a:endParaRPr lang="en-US" altLang="zh-CN" sz="2200" b="1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reg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是物理电路中</a:t>
            </a:r>
            <a:r>
              <a:rPr lang="zh-CN" altLang="en-US" sz="22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数据存储单元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的抽象，对应数字电路中具有状态保持作用的元件，如触发器、寄存器等。其特点是：</a:t>
            </a:r>
            <a:r>
              <a: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具有记忆功能，必须明确赋值才能改变其状态，否则一直保持上一次的赋值状态</a:t>
            </a:r>
            <a:endParaRPr lang="en-US" altLang="zh-CN" sz="2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Integer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也是寄存器型变量，但是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不允许说明位宽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，具体位数取决于机器字长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二、变量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的数据类型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883274" y="3079908"/>
            <a:ext cx="21302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858703" y="0"/>
            <a:ext cx="628529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>
            <a:stCxn id="12" idx="0"/>
          </p:cNvCxnSpPr>
          <p:nvPr/>
        </p:nvCxnSpPr>
        <p:spPr>
          <a:xfrm flipH="1">
            <a:off x="2858702" y="0"/>
            <a:ext cx="3142650" cy="1506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01352" y="5088571"/>
            <a:ext cx="3142648" cy="17694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25"/>
          <p:cNvSpPr txBox="1"/>
          <p:nvPr/>
        </p:nvSpPr>
        <p:spPr>
          <a:xfrm>
            <a:off x="3944893" y="2127740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zh-CN" altLang="en-US" sz="2800" dirty="0"/>
              <a:t>程序基本结构</a:t>
            </a:r>
            <a:endParaRPr lang="zh-CN" altLang="en-US" sz="2800" dirty="0"/>
          </a:p>
        </p:txBody>
      </p:sp>
      <p:sp>
        <p:nvSpPr>
          <p:cNvPr id="17" name="淘宝网chenying0907出品 25"/>
          <p:cNvSpPr txBox="1"/>
          <p:nvPr/>
        </p:nvSpPr>
        <p:spPr>
          <a:xfrm>
            <a:off x="3944893" y="2963579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数据类型</a:t>
            </a:r>
            <a:endParaRPr lang="zh-CN" altLang="en-US" sz="2800" dirty="0"/>
          </a:p>
        </p:txBody>
      </p:sp>
      <p:sp>
        <p:nvSpPr>
          <p:cNvPr id="19" name="淘宝网chenying0907出品 29"/>
          <p:cNvSpPr txBox="1"/>
          <p:nvPr/>
        </p:nvSpPr>
        <p:spPr>
          <a:xfrm>
            <a:off x="3944893" y="4639050"/>
            <a:ext cx="2424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基本语句</a:t>
            </a:r>
            <a:endParaRPr lang="zh-CN" altLang="en-US" sz="2800" dirty="0"/>
          </a:p>
        </p:txBody>
      </p:sp>
      <p:sp>
        <p:nvSpPr>
          <p:cNvPr id="22" name="淘宝网chenying0907出品 29"/>
          <p:cNvSpPr txBox="1"/>
          <p:nvPr/>
        </p:nvSpPr>
        <p:spPr>
          <a:xfrm>
            <a:off x="3944893" y="5474889"/>
            <a:ext cx="331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模块化程序设计</a:t>
            </a:r>
            <a:endParaRPr lang="zh-CN" altLang="en-US" sz="2800" dirty="0"/>
          </a:p>
        </p:txBody>
      </p:sp>
      <p:sp>
        <p:nvSpPr>
          <p:cNvPr id="29" name="淘宝网chenying0907出品 25"/>
          <p:cNvSpPr txBox="1"/>
          <p:nvPr/>
        </p:nvSpPr>
        <p:spPr>
          <a:xfrm>
            <a:off x="3944893" y="3799418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运算符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淘宝网chenying0907出品 25"/>
          <p:cNvSpPr txBox="1"/>
          <p:nvPr/>
        </p:nvSpPr>
        <p:spPr>
          <a:xfrm>
            <a:off x="3944892" y="1288108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Quartus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Ⅱ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使用说明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36"/>
          <p:cNvGraphicFramePr/>
          <p:nvPr/>
        </p:nvGraphicFramePr>
        <p:xfrm>
          <a:off x="599820" y="1986752"/>
          <a:ext cx="8120668" cy="4106730"/>
        </p:xfrm>
        <a:graphic>
          <a:graphicData uri="http://schemas.openxmlformats.org/drawingml/2006/table">
            <a:tbl>
              <a:tblPr/>
              <a:tblGrid>
                <a:gridCol w="1012883"/>
                <a:gridCol w="1183562"/>
                <a:gridCol w="5924223"/>
              </a:tblGrid>
              <a:tr h="3770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操作符及功能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简要说明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17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术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作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符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加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减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乘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除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%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整除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二元操作符，即有两个操作数。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%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是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求余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操作符，在两个整数相除基础上，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取余数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例如，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5%6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的值是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13%5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的值是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。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一、算术运算符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的运算符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204"/>
          <p:cNvGraphicFramePr/>
          <p:nvPr/>
        </p:nvGraphicFramePr>
        <p:xfrm>
          <a:off x="279175" y="2309446"/>
          <a:ext cx="8571853" cy="2189608"/>
        </p:xfrm>
        <a:graphic>
          <a:graphicData uri="http://schemas.openxmlformats.org/drawingml/2006/table">
            <a:tbl>
              <a:tblPr/>
              <a:tblGrid>
                <a:gridCol w="1319217"/>
                <a:gridCol w="2030930"/>
                <a:gridCol w="5221706"/>
              </a:tblGrid>
              <a:tr h="3771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分类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操作符及功能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简要说明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4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&amp;&amp;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逻辑与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||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逻辑或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!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逻辑非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&amp;&amp;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和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||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为二元操作符。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！为一元操作符，即只有一个操作数。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二、逻辑运算符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的运算符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29"/>
          <p:cNvGraphicFramePr/>
          <p:nvPr/>
        </p:nvGraphicFramePr>
        <p:xfrm>
          <a:off x="157754" y="1517262"/>
          <a:ext cx="8910439" cy="4787146"/>
        </p:xfrm>
        <a:graphic>
          <a:graphicData uri="http://schemas.openxmlformats.org/drawingml/2006/table">
            <a:tbl>
              <a:tblPr/>
              <a:tblGrid>
                <a:gridCol w="873344"/>
                <a:gridCol w="1602606"/>
                <a:gridCol w="6434489"/>
              </a:tblGrid>
              <a:tr h="28117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比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较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作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符 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4" marB="34294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大于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&gt;=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大于等于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&lt;=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小于等于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==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相等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!=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不相等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===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!==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非全等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4" marB="342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关系运算是二元操作符，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关系运算的结果是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位逻辑值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。如果操作数之间的关系成立，返回值为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；关系不成立，则返回值为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若某一个操作数的值不定，则关系是模糊的，返回值是不定值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。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相等与全等操作符的区别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：当操作数的某些位存在不定值或高阻态时，相等运算的结果为不定值。全等运算当两个操作数完全一致时，无论其中是否有不定态或高阻态，比较结果为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例如：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A=8’b1101xx01   B=8’b1101xx01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则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 =B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运算结果为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（未知）；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 = =B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运算结果为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（真）。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4" marB="342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三、比较运算符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的运算符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四、位运算符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的运算符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graphicFrame>
        <p:nvGraphicFramePr>
          <p:cNvPr id="7" name="Group 204"/>
          <p:cNvGraphicFramePr/>
          <p:nvPr/>
        </p:nvGraphicFramePr>
        <p:xfrm>
          <a:off x="300162" y="1909058"/>
          <a:ext cx="8571853" cy="3301493"/>
        </p:xfrm>
        <a:graphic>
          <a:graphicData uri="http://schemas.openxmlformats.org/drawingml/2006/table">
            <a:tbl>
              <a:tblPr/>
              <a:tblGrid>
                <a:gridCol w="1014626"/>
                <a:gridCol w="2335521"/>
                <a:gridCol w="5221706"/>
              </a:tblGrid>
              <a:tr h="3771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分类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操作符及功能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 panose="020B060403050404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简要说明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441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作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符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按位非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  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按位与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|  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按位或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^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按位异或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^ ~ (~ ^)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按位同或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位运算是将两个操作数按对应位进行逻辑操作。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~”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是一元操作符，其余都是二元操作符。将操作数按位进行逻辑运算。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例如：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A=8’b11010001    ~A=8’b00101110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   B=8’b00011001   A&amp;B=8b’00010001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oup 41"/>
          <p:cNvGraphicFramePr/>
          <p:nvPr/>
        </p:nvGraphicFramePr>
        <p:xfrm>
          <a:off x="203483" y="2378339"/>
          <a:ext cx="8714324" cy="2761908"/>
        </p:xfrm>
        <a:graphic>
          <a:graphicData uri="http://schemas.openxmlformats.org/drawingml/2006/table">
            <a:tbl>
              <a:tblPr/>
              <a:tblGrid>
                <a:gridCol w="1082394"/>
                <a:gridCol w="1770144"/>
                <a:gridCol w="5861786"/>
              </a:tblGrid>
              <a:tr h="37714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操作符及功能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简要说明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158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移位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&gt;&gt;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右移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&lt;&lt;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左移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二元操作符，对左侧的操作数进行右侧操作数指明的位数的移位，空出的位用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补全。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例如：设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A=8’b11010001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则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A&gt;&gt;4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A=8’b00001101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A&lt;&lt;4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A=8’b00010000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五、移位运算符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的运算符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六、条件运算符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的运算符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graphicFrame>
        <p:nvGraphicFramePr>
          <p:cNvPr id="7" name="Group 41"/>
          <p:cNvGraphicFramePr/>
          <p:nvPr>
            <p:custDataLst>
              <p:tags r:id="rId2"/>
            </p:custDataLst>
          </p:nvPr>
        </p:nvGraphicFramePr>
        <p:xfrm>
          <a:off x="198072" y="2005004"/>
          <a:ext cx="8714324" cy="3676358"/>
        </p:xfrm>
        <a:graphic>
          <a:graphicData uri="http://schemas.openxmlformats.org/drawingml/2006/table">
            <a:tbl>
              <a:tblPr/>
              <a:tblGrid>
                <a:gridCol w="1082394"/>
                <a:gridCol w="3118393"/>
                <a:gridCol w="4513537"/>
              </a:tblGrid>
              <a:tr h="37714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操作符及功能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简要说明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158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条件操作符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3" marB="3429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?    :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条件？表达式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：表达式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当条件为真（值为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）时，操作数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表达式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当条件为假（值为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）时，操作数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表达式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。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三元操作符，即条件操作符有三个操作数。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例如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d=a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？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若条件操作数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是逻辑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，则将操作数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赋给变量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；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若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是逻辑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，则将操作数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赋给变量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七、并接运算符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的运算符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graphicFrame>
        <p:nvGraphicFramePr>
          <p:cNvPr id="7" name="Group 41"/>
          <p:cNvGraphicFramePr/>
          <p:nvPr/>
        </p:nvGraphicFramePr>
        <p:xfrm>
          <a:off x="230536" y="1945487"/>
          <a:ext cx="8714324" cy="3219152"/>
        </p:xfrm>
        <a:graphic>
          <a:graphicData uri="http://schemas.openxmlformats.org/drawingml/2006/table">
            <a:tbl>
              <a:tblPr/>
              <a:tblGrid>
                <a:gridCol w="1082394"/>
                <a:gridCol w="1770144"/>
                <a:gridCol w="5861786"/>
              </a:tblGrid>
              <a:tr h="37714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操作符及功能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简要说明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68" marB="3426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158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并接操作符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{, }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将两个或两个以上用逗号分隔的表达式按位连接在一起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例如： 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X=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{a[7:4],b[3],c[2:0]}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X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由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的第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7-4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的第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的第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2-0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位拼接而成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178"/>
          <p:cNvGraphicFramePr/>
          <p:nvPr/>
        </p:nvGraphicFramePr>
        <p:xfrm>
          <a:off x="1155567" y="1322046"/>
          <a:ext cx="6780462" cy="5402580"/>
        </p:xfrm>
        <a:graphic>
          <a:graphicData uri="http://schemas.openxmlformats.org/drawingml/2006/table">
            <a:tbl>
              <a:tblPr/>
              <a:tblGrid>
                <a:gridCol w="1414379"/>
                <a:gridCol w="1664577"/>
                <a:gridCol w="3701506"/>
              </a:tblGrid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优先级序号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操作符名称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１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! 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~ 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逻辑非、按位取反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２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%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乘、除、求余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３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加、减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４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&lt;&lt;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&gt;&gt;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左移、右移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５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&lt;=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&gt;=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小于、小于等于、大于、大于等于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46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６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==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!=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===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!==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等于、不等于、全等、不全等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&amp;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~&amp;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按位与、按位与非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８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^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^~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按位异或、按位同或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９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|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~ |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按位或、按位或非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１０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&amp;&amp;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逻辑与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１１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||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逻辑或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656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１２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?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：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条件操作符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9163" y="680955"/>
            <a:ext cx="59493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八、运算符的优先级</a:t>
            </a:r>
            <a:endParaRPr lang="zh-CN" altLang="en-US" sz="32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的运算符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883274" y="3079908"/>
            <a:ext cx="21302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858703" y="0"/>
            <a:ext cx="628529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>
            <a:stCxn id="12" idx="0"/>
          </p:cNvCxnSpPr>
          <p:nvPr/>
        </p:nvCxnSpPr>
        <p:spPr>
          <a:xfrm flipH="1">
            <a:off x="2858702" y="0"/>
            <a:ext cx="3142650" cy="150690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01352" y="5088571"/>
            <a:ext cx="3142648" cy="17694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25"/>
          <p:cNvSpPr txBox="1"/>
          <p:nvPr/>
        </p:nvSpPr>
        <p:spPr>
          <a:xfrm>
            <a:off x="3944893" y="2127740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zh-CN" altLang="en-US" sz="2800" dirty="0"/>
              <a:t>程序基本结构</a:t>
            </a:r>
            <a:endParaRPr lang="zh-CN" altLang="en-US" sz="2800" dirty="0"/>
          </a:p>
        </p:txBody>
      </p:sp>
      <p:sp>
        <p:nvSpPr>
          <p:cNvPr id="17" name="淘宝网chenying0907出品 25"/>
          <p:cNvSpPr txBox="1"/>
          <p:nvPr/>
        </p:nvSpPr>
        <p:spPr>
          <a:xfrm>
            <a:off x="3944893" y="2963579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数据类型</a:t>
            </a:r>
            <a:endParaRPr lang="zh-CN" altLang="en-US" sz="2800" dirty="0"/>
          </a:p>
        </p:txBody>
      </p:sp>
      <p:sp>
        <p:nvSpPr>
          <p:cNvPr id="19" name="淘宝网chenying0907出品 29"/>
          <p:cNvSpPr txBox="1"/>
          <p:nvPr/>
        </p:nvSpPr>
        <p:spPr>
          <a:xfrm>
            <a:off x="3944893" y="4639050"/>
            <a:ext cx="2424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基本语句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2" name="淘宝网chenying0907出品 29"/>
          <p:cNvSpPr txBox="1"/>
          <p:nvPr/>
        </p:nvSpPr>
        <p:spPr>
          <a:xfrm>
            <a:off x="3944893" y="5474889"/>
            <a:ext cx="331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模块化程序设计</a:t>
            </a:r>
            <a:endParaRPr lang="zh-CN" altLang="en-US" sz="2800" dirty="0"/>
          </a:p>
        </p:txBody>
      </p:sp>
      <p:sp>
        <p:nvSpPr>
          <p:cNvPr id="29" name="淘宝网chenying0907出品 25"/>
          <p:cNvSpPr txBox="1"/>
          <p:nvPr/>
        </p:nvSpPr>
        <p:spPr>
          <a:xfrm>
            <a:off x="3944893" y="3799418"/>
            <a:ext cx="3890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运算符</a:t>
            </a:r>
            <a:endParaRPr lang="zh-CN" altLang="en-US" sz="2800" dirty="0"/>
          </a:p>
        </p:txBody>
      </p:sp>
      <p:sp>
        <p:nvSpPr>
          <p:cNvPr id="13" name="淘宝网chenying0907出品 25"/>
          <p:cNvSpPr txBox="1"/>
          <p:nvPr/>
        </p:nvSpPr>
        <p:spPr>
          <a:xfrm>
            <a:off x="3944892" y="1288108"/>
            <a:ext cx="45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Quartus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Ⅱ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使用说明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17229" y="818474"/>
            <a:ext cx="4941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Verilog HDL</a:t>
            </a:r>
            <a:r>
              <a:rPr lang="zh-CN" altLang="en-US" sz="2800" dirty="0">
                <a:solidFill>
                  <a:srgbClr val="170A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的行为描述语句</a:t>
            </a:r>
            <a:endParaRPr lang="zh-CN" altLang="en-US" sz="2800" dirty="0">
              <a:solidFill>
                <a:srgbClr val="170A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901" y="2989919"/>
            <a:ext cx="1722667" cy="230832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用于描述电路的逻辑行为，以实现电路建模。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117863" y="1480706"/>
          <a:ext cx="4585933" cy="5212080"/>
        </p:xfrm>
        <a:graphic>
          <a:graphicData uri="http://schemas.openxmlformats.org/drawingml/2006/table">
            <a:tbl>
              <a:tblPr firstRow="1" firstCol="1" bandRow="1"/>
              <a:tblGrid>
                <a:gridCol w="1734207"/>
                <a:gridCol w="2245055"/>
                <a:gridCol w="606671"/>
              </a:tblGrid>
              <a:tr h="2382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类别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可综合性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过程</a:t>
                      </a:r>
                      <a:r>
                        <a:rPr lang="zh-CN" altLang="en-US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块</a:t>
                      </a: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语句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initial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always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块语句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串行块</a:t>
                      </a:r>
                      <a:r>
                        <a:rPr lang="en-US" sz="1800" b="1" kern="10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begin-end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并行块</a:t>
                      </a:r>
                      <a:r>
                        <a:rPr lang="en-US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fork-join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赋值语句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连</a:t>
                      </a:r>
                      <a:r>
                        <a:rPr lang="zh-CN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续赋值</a:t>
                      </a: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assign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过程赋值</a:t>
                      </a: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zh-CN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&lt;=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条件语句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if-else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case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循环语句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for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repeat</a:t>
                      </a:r>
                      <a:endParaRPr lang="zh-CN" sz="18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r>
                        <a:rPr lang="en-US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while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forever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编译向导语句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‘define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‘include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‘ifdef, ‘else, ‘endif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任务和函数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task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9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function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13860" y="1934842"/>
            <a:ext cx="1637771" cy="4401205"/>
          </a:xfrm>
          <a:prstGeom prst="rect">
            <a:avLst/>
          </a:prstGeom>
          <a:noFill/>
          <a:ln w="158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：将输入的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电路描述转化为一系列物理单元（如逻辑门）以及这些单元之间的互连。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不具有可综合性的语句一般用于仿真测试。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Box 3"/>
          <p:cNvSpPr txBox="1">
            <a:spLocks noChangeArrowheads="1"/>
          </p:cNvSpPr>
          <p:nvPr/>
        </p:nvSpPr>
        <p:spPr bwMode="auto">
          <a:xfrm>
            <a:off x="135005" y="76083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一、过程块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4610" y="1543197"/>
            <a:ext cx="8479192" cy="1200329"/>
          </a:xfrm>
          <a:prstGeom prst="rect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的行为描述以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过程块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为基本组成单位，一个模块（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module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）的行为描述由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一个或多个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并行运行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的过程块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组成。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7967" y="3196281"/>
            <a:ext cx="7723073" cy="175432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initial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initial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过程块中的语句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仅执行一次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常用于仿真中的初始化，给电路中的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reg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memory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单元赋初值。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7967" y="5197040"/>
            <a:ext cx="7723073" cy="120032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块内的语句是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不断重复执行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3879" y="1287682"/>
            <a:ext cx="3286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过程块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3879" y="1982135"/>
            <a:ext cx="7555779" cy="3194721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 @(&lt;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敏感信号表达式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event-expression&gt;)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begin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//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过程赋值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//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if-else，case，casex，casez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选择语句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//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while，repeat，for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//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task，function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调用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end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3879" y="5416653"/>
            <a:ext cx="7555779" cy="1200329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“always”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过程语句通常是带有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触发条件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的，触发条件写在敏感信号表达式中，只有当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触发条件满足时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，其后的“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begin-end”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块语句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才能被执行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35005" y="760835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一、过程块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3249" y="1305180"/>
            <a:ext cx="3243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敏感信号表达式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8189" y="1912230"/>
            <a:ext cx="8174606" cy="1806264"/>
          </a:xfrm>
          <a:prstGeom prst="rect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敏感信号表达式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又称事件表达式或敏感信号列表，即当该表达式中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变量的值改变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时，就会引发块内语句的执行。因此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敏感信号表达式中应列出影响块内取值的所有信号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。若有两个或两个以上信号时，它们之间用“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or”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连接。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9489" y="4095769"/>
            <a:ext cx="7372006" cy="247599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@(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a)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//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当信号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的值发生改变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@(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or b)  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当信号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或信号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的值发生改变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@(</a:t>
            </a:r>
            <a:r>
              <a:rPr lang="en-US" altLang="zh-CN" sz="2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posedge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clock) 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clock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的上升沿到来时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@(</a:t>
            </a:r>
            <a:r>
              <a:rPr lang="en-US" altLang="zh-CN" sz="2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negedge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clock) 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clock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的下降沿到来时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@(</a:t>
            </a:r>
            <a:r>
              <a:rPr lang="en-US" altLang="zh-CN" sz="2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posedge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or </a:t>
            </a:r>
            <a:r>
              <a:rPr lang="en-US" altLang="zh-CN" sz="2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negedge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reset) 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	//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的上升沿到来或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reset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信号的下降沿到来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39817" y="685781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一、过程块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2898" y="1167349"/>
            <a:ext cx="997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举例：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564784" y="1506354"/>
            <a:ext cx="8446677" cy="5354178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</a:ln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module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mux4_1(out,in0,in1,in2,in3,sel);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output  out;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input  in0,in1,in2,in3;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input[1:0]  </a:t>
            </a:r>
            <a:r>
              <a:rPr lang="en-US" altLang="zh-CN" sz="2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sel</a:t>
            </a:r>
            <a:r>
              <a:rPr lang="en-US" altLang="zh-CN" sz="2200" b="1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  <a:endParaRPr lang="en-US" altLang="zh-CN" sz="22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reg  out;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always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@(in0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in1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in2 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in3 </a:t>
            </a:r>
            <a:r>
              <a:rPr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敏感信号列表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begin</a:t>
            </a:r>
            <a:endParaRPr lang="en-US" altLang="zh-CN" sz="2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case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2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sel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2'b00: out=in0;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2'b01: out=in1;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2'b10: out=in2;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2'b11: out=in3;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default: out=2'bx;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200" b="1" dirty="0" err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endcase</a:t>
            </a:r>
            <a:endParaRPr lang="en-US" altLang="zh-CN" sz="22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</a:t>
            </a:r>
            <a:endParaRPr lang="en-US" altLang="zh-CN" sz="2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="1" dirty="0" err="1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endmodule</a:t>
            </a:r>
            <a:endParaRPr lang="zh-CN" altLang="en-US" sz="22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422797" y="1142015"/>
            <a:ext cx="28914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C00000"/>
                </a:solidFill>
                <a:latin typeface="Helvetica" panose="020B0604020202020204" pitchFamily="34" charset="0"/>
              </a:rPr>
              <a:t>4</a:t>
            </a:r>
            <a:r>
              <a:rPr lang="zh-CN" altLang="en-US" sz="2800" b="1" dirty="0">
                <a:solidFill>
                  <a:srgbClr val="C00000"/>
                </a:solidFill>
                <a:latin typeface="Helvetica" panose="020B0604020202020204" pitchFamily="34" charset="0"/>
              </a:rPr>
              <a:t>选1数据选择器</a:t>
            </a:r>
            <a:endParaRPr lang="zh-CN" altLang="en-US" sz="2800" b="1" dirty="0">
              <a:solidFill>
                <a:srgbClr val="C00000"/>
              </a:solidFill>
              <a:latin typeface="Helvetica" panose="020B0604020202020204" pitchFamily="34" charset="0"/>
            </a:endParaRPr>
          </a:p>
        </p:txBody>
      </p:sp>
      <p:sp>
        <p:nvSpPr>
          <p:cNvPr id="2" name="对话气泡: 矩形 1"/>
          <p:cNvSpPr/>
          <p:nvPr/>
        </p:nvSpPr>
        <p:spPr>
          <a:xfrm>
            <a:off x="6588322" y="760836"/>
            <a:ext cx="1174453" cy="745518"/>
          </a:xfrm>
          <a:prstGeom prst="wedgeRectCallout">
            <a:avLst>
              <a:gd name="adj1" fmla="val -120219"/>
              <a:gd name="adj2" fmla="val 95798"/>
            </a:avLst>
          </a:prstGeom>
          <a:solidFill>
            <a:srgbClr val="0000FF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选择控制信号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95464" y="619399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一、过程块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56761" y="4036346"/>
            <a:ext cx="3749581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过程块内有多条语句时，必须写在</a:t>
            </a:r>
            <a:r>
              <a:rPr lang="en-US" altLang="zh-CN" sz="2400" b="1" dirty="0"/>
              <a:t>begin…end</a:t>
            </a:r>
            <a:r>
              <a:rPr lang="zh-CN" altLang="en-US" sz="2400" b="1" dirty="0"/>
              <a:t>块中</a:t>
            </a:r>
            <a:endParaRPr lang="en-US" altLang="zh-C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 dirty="0"/>
              <a:t>Begin…end</a:t>
            </a:r>
            <a:r>
              <a:rPr lang="zh-CN" altLang="en-US" sz="2400" b="1" dirty="0"/>
              <a:t>块内的语句按顺序执行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13512" y="1233972"/>
            <a:ext cx="8799481" cy="5522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连续赋值语句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格式：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assign #(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延时量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)  wire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型变量名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=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赋值表达式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含义：</a:t>
            </a:r>
            <a:r>
              <a:rPr lang="zh-CN" altLang="en-US" sz="2400" b="1" dirty="0">
                <a:solidFill>
                  <a:srgbClr val="1F4E7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只要等号右边赋值表达式中变量发生变化，就重新计算表达式的值，并且在指定的延时之后将新的值赋给等号左边的变量</a:t>
            </a:r>
            <a:endParaRPr lang="en-US" altLang="zh-CN" sz="2400" b="1" dirty="0">
              <a:solidFill>
                <a:srgbClr val="1F4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连续赋值语句只能对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wire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型变量进行操作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连续赋值语句不能用在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always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过程块中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/>
              <a:t>例如：</a:t>
            </a:r>
            <a:endParaRPr lang="en-US" altLang="zh-CN" sz="2400" b="1" dirty="0"/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en-US" altLang="zh-CN" sz="2400" b="1" dirty="0">
                <a:solidFill>
                  <a:schemeClr val="tx2"/>
                </a:solidFill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</a:rPr>
              <a:t>wire  y, a, b, c, d;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en-US" altLang="zh-CN" sz="2400" b="1" dirty="0">
                <a:solidFill>
                  <a:srgbClr val="0000FF"/>
                </a:solidFill>
              </a:rPr>
              <a:t>  assign  #1 y=</a:t>
            </a:r>
            <a:r>
              <a:rPr lang="en-US" altLang="zh-CN" sz="2400" b="1" dirty="0" err="1">
                <a:solidFill>
                  <a:srgbClr val="0000FF"/>
                </a:solidFill>
              </a:rPr>
              <a:t>a&amp;b&amp;c&amp;d</a:t>
            </a:r>
            <a:r>
              <a:rPr lang="en-US" altLang="zh-CN" sz="2400" b="1" dirty="0">
                <a:solidFill>
                  <a:srgbClr val="0000FF"/>
                </a:solidFill>
              </a:rPr>
              <a:t>;   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/>
              <a:t>//</a:t>
            </a:r>
            <a:r>
              <a:rPr lang="zh-CN" altLang="en-US" sz="2400" b="1" dirty="0"/>
              <a:t>只要</a:t>
            </a:r>
            <a:r>
              <a:rPr lang="en-US" altLang="zh-CN" sz="2400" b="1" dirty="0" err="1"/>
              <a:t>a,b,c,d</a:t>
            </a:r>
            <a:r>
              <a:rPr lang="zh-CN" altLang="en-US" sz="2400" b="1" dirty="0"/>
              <a:t>中有变量发生变化，就重新计算</a:t>
            </a:r>
            <a:r>
              <a:rPr lang="en-US" altLang="zh-CN" sz="2400" b="1" dirty="0" err="1"/>
              <a:t>a&amp;b&amp;c&amp;d</a:t>
            </a:r>
            <a:r>
              <a:rPr lang="zh-CN" altLang="en-US" sz="2400" b="1" dirty="0"/>
              <a:t>，并在</a:t>
            </a:r>
            <a:r>
              <a:rPr lang="en-US" altLang="zh-CN" sz="2400" b="1" dirty="0"/>
              <a:t>1</a:t>
            </a:r>
            <a:endParaRPr lang="en-US" altLang="zh-CN" sz="2400" b="1" dirty="0"/>
          </a:p>
          <a:p>
            <a:pPr>
              <a:lnSpc>
                <a:spcPct val="120000"/>
              </a:lnSpc>
            </a:pPr>
            <a:r>
              <a:rPr lang="en-US" altLang="zh-CN" sz="2400" b="1" dirty="0"/>
              <a:t>//</a:t>
            </a:r>
            <a:r>
              <a:rPr lang="zh-CN" altLang="en-US" sz="2400" b="1" dirty="0"/>
              <a:t>个单位的时间延迟后，将计算结果赋值给</a:t>
            </a:r>
            <a:r>
              <a:rPr lang="en-US" altLang="zh-CN" sz="2400" b="1" dirty="0"/>
              <a:t>y</a:t>
            </a:r>
            <a:endParaRPr lang="en-US" altLang="zh-CN" sz="2400" b="1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二、赋值语句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58735" y="1967210"/>
            <a:ext cx="4952279" cy="459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）阻塞赋值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格式：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赋值变量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=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表达式；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）非阻塞赋值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/>
              <a:t>格式：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赋值变量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&lt;=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表达式；</a:t>
            </a:r>
            <a:endParaRPr kumimoji="1" lang="zh-CN" altLang="en-US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endParaRPr lang="en-US" altLang="zh-CN" sz="2000" b="1" dirty="0"/>
          </a:p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/>
              <a:t>过程赋值语句用在</a:t>
            </a:r>
            <a:r>
              <a:rPr lang="en-US" altLang="zh-CN" sz="2400" b="1" dirty="0"/>
              <a:t>initial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always</a:t>
            </a:r>
            <a:r>
              <a:rPr lang="zh-CN" altLang="en-US" sz="2400" b="1" dirty="0"/>
              <a:t>过程块内</a:t>
            </a:r>
            <a:endParaRPr lang="en-US" altLang="zh-CN" sz="2400" b="1" dirty="0"/>
          </a:p>
          <a:p>
            <a:pPr marL="257175" indent="-257175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/>
              <a:t>用于对</a:t>
            </a:r>
            <a:r>
              <a:rPr lang="en-US" altLang="zh-CN" sz="2400" b="1" dirty="0"/>
              <a:t>reg</a:t>
            </a:r>
            <a:r>
              <a:rPr lang="zh-CN" altLang="en-US" sz="2400" b="1" dirty="0"/>
              <a:t>型、</a:t>
            </a:r>
            <a:r>
              <a:rPr lang="en-US" altLang="zh-CN" sz="2400" b="1" dirty="0"/>
              <a:t>memory</a:t>
            </a:r>
            <a:r>
              <a:rPr lang="zh-CN" altLang="en-US" sz="2400" b="1" dirty="0"/>
              <a:t>型、</a:t>
            </a:r>
            <a:r>
              <a:rPr lang="en-US" altLang="zh-CN" sz="2400" b="1" dirty="0"/>
              <a:t>integer</a:t>
            </a:r>
            <a:r>
              <a:rPr lang="zh-CN" altLang="en-US" sz="2400" b="1" dirty="0"/>
              <a:t>型、</a:t>
            </a:r>
            <a:r>
              <a:rPr lang="en-US" altLang="zh-CN" sz="2400" b="1" dirty="0"/>
              <a:t>time</a:t>
            </a:r>
            <a:r>
              <a:rPr lang="zh-CN" altLang="en-US" sz="2400" b="1" dirty="0"/>
              <a:t>型和</a:t>
            </a:r>
            <a:r>
              <a:rPr lang="en-US" altLang="zh-CN" sz="2400" b="1" dirty="0"/>
              <a:t>real</a:t>
            </a:r>
            <a:r>
              <a:rPr lang="zh-CN" altLang="en-US" sz="2400" b="1" dirty="0"/>
              <a:t>型变量进行赋值</a:t>
            </a:r>
            <a:endParaRPr lang="en-US" altLang="zh-CN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5527334" y="1914271"/>
            <a:ext cx="3308657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区别：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 hangingPunct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阻塞赋值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语句在执行时，只有当一条语句执行结束后，才能执行下一条语句，相当于“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 hangingPunct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非阻塞赋值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语句在执行时，各条语句同时执行，相当于“</a:t>
            </a:r>
            <a:r>
              <a:rPr lang="zh-CN" altLang="en-US" sz="24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二、赋值语句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0865" y="1272481"/>
            <a:ext cx="2877711" cy="540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过程赋值语句</a:t>
            </a:r>
            <a:endParaRPr lang="en-US" altLang="zh-CN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0026" y="5295095"/>
            <a:ext cx="2975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执行结果：</a:t>
            </a:r>
            <a:endParaRPr lang="en-US" altLang="zh-CN" sz="2400" b="1" dirty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a=b=c,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都等于程序执行之前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61574" y="5295095"/>
            <a:ext cx="2942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执行结果：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b=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程序执行前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</a:t>
            </a:r>
            <a:endParaRPr lang="en-US" altLang="zh-CN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c=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程序执行前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4359910" y="1028428"/>
            <a:ext cx="4641888" cy="407034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</a:ln>
        </p:spPr>
        <p:txBody>
          <a:bodyPr wrap="square">
            <a:spAutoFit/>
          </a:bodyPr>
          <a:lstStyle>
            <a:lvl1pPr indent="2794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非阻塞赋值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module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non_block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(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c,b,a,clk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);</a:t>
            </a:r>
            <a:endParaRPr lang="en-US" altLang="zh-CN" sz="2000" b="1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output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c,b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; </a:t>
            </a:r>
            <a:endParaRPr lang="en-US" altLang="zh-CN" sz="2000" b="1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input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clk,a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;</a:t>
            </a:r>
            <a:endParaRPr lang="en-US" altLang="zh-CN" sz="2000" b="1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reg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c,b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;</a:t>
            </a:r>
            <a:endParaRPr lang="en-US" altLang="zh-CN" sz="2000" b="1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always @(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posedge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clk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)</a:t>
            </a:r>
            <a:endParaRPr lang="en-US" altLang="zh-CN" sz="2000" b="1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	</a:t>
            </a:r>
            <a:r>
              <a:rPr lang="en-US" altLang="zh-CN" sz="2000" b="1" dirty="0">
                <a:solidFill>
                  <a:srgbClr val="FF33CC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begin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</a:t>
            </a:r>
            <a:endParaRPr lang="en-US" altLang="zh-CN" sz="2000" b="1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      </a:t>
            </a:r>
            <a:r>
              <a:rPr lang="en-US" altLang="zh-CN" sz="2000" b="1" dirty="0">
                <a:solidFill>
                  <a:schemeClr val="accent2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b&lt;=a;</a:t>
            </a:r>
            <a:endParaRPr lang="en-US" altLang="zh-CN" sz="2000" b="1" dirty="0">
              <a:solidFill>
                <a:schemeClr val="accent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    	  c&lt;=b;</a:t>
            </a:r>
            <a:endParaRPr lang="en-US" altLang="zh-CN" sz="2000" b="1" dirty="0">
              <a:solidFill>
                <a:schemeClr val="accent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	</a:t>
            </a:r>
            <a:r>
              <a:rPr lang="en-US" altLang="zh-CN" sz="2000" b="1" dirty="0">
                <a:solidFill>
                  <a:srgbClr val="FF33CC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end</a:t>
            </a:r>
            <a:endParaRPr lang="en-US" altLang="zh-CN" sz="2000" b="1" dirty="0">
              <a:solidFill>
                <a:srgbClr val="FF33CC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endmodule</a:t>
            </a:r>
            <a:endParaRPr lang="en-US" altLang="zh-CN" sz="2000" b="1" dirty="0">
              <a:solidFill>
                <a:srgbClr val="0000FF"/>
              </a:solidFill>
              <a:latin typeface="Courier New" panose="02070309020205020404" pitchFamily="49" charset="0"/>
              <a:cs typeface="Microsoft Sans Serif" panose="020B0604020202020204" pitchFamily="34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38592" y="1032274"/>
            <a:ext cx="3995457" cy="4062651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</a:ln>
        </p:spPr>
        <p:txBody>
          <a:bodyPr wrap="square">
            <a:spAutoFit/>
          </a:bodyPr>
          <a:lstStyle>
            <a:lvl1pPr indent="2794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</a:pP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阻塞赋值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module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block(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c,b,a,clk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);</a:t>
            </a:r>
            <a:endParaRPr lang="en-US" altLang="zh-CN" sz="2000" b="1" dirty="0"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output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c,b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;</a:t>
            </a:r>
            <a:endParaRPr lang="en-US" altLang="zh-CN" sz="2000" b="1" dirty="0"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input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clk,a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;</a:t>
            </a:r>
            <a:endParaRPr lang="en-US" altLang="zh-CN" sz="2000" b="1" dirty="0"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reg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c,b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;</a:t>
            </a:r>
            <a:endParaRPr lang="en-US" altLang="zh-CN" sz="2000" b="1" dirty="0"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always @(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posedge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Microsoft Sans Serif" panose="020B0604020202020204" pitchFamily="34" charset="0"/>
              </a:rPr>
              <a:t>clk</a:t>
            </a: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)</a:t>
            </a:r>
            <a:endParaRPr lang="en-US" altLang="zh-CN" sz="2000" b="1" dirty="0"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	</a:t>
            </a:r>
            <a:r>
              <a:rPr lang="en-US" altLang="zh-CN" sz="2000" b="1" dirty="0">
                <a:solidFill>
                  <a:srgbClr val="FF33CC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begin</a:t>
            </a:r>
            <a:endParaRPr lang="en-US" altLang="zh-CN" sz="2000" b="1" dirty="0">
              <a:solidFill>
                <a:srgbClr val="FF33CC"/>
              </a:solidFill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  	  </a:t>
            </a:r>
            <a:r>
              <a:rPr lang="en-US" altLang="zh-CN" sz="2000" b="1" dirty="0">
                <a:solidFill>
                  <a:schemeClr val="accent2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b=a;</a:t>
            </a:r>
            <a:endParaRPr lang="en-US" altLang="zh-CN" sz="2000" b="1" dirty="0">
              <a:solidFill>
                <a:schemeClr val="accent2"/>
              </a:solidFill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        c=b;</a:t>
            </a:r>
            <a:endParaRPr lang="en-US" altLang="zh-CN" sz="2000" b="1" dirty="0">
              <a:solidFill>
                <a:schemeClr val="accent2"/>
              </a:solidFill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Microsoft Sans Serif" panose="020B0604020202020204" pitchFamily="34" charset="0"/>
              </a:rPr>
              <a:t>  	</a:t>
            </a:r>
            <a:r>
              <a:rPr lang="en-US" altLang="zh-CN" sz="2000" b="1" dirty="0">
                <a:solidFill>
                  <a:srgbClr val="FF33CC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end</a:t>
            </a:r>
            <a:endParaRPr lang="en-US" altLang="zh-CN" sz="2000" b="1" dirty="0">
              <a:solidFill>
                <a:srgbClr val="FF33CC"/>
              </a:solidFill>
              <a:latin typeface="Courier New" panose="02070309020205020404" pitchFamily="49" charset="0"/>
              <a:cs typeface="Microsoft Sans Serif" panose="020B0604020202020204" pitchFamily="34" charset="0"/>
            </a:endParaRPr>
          </a:p>
          <a:p>
            <a:pPr indent="0" algn="just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100000"/>
              <a:buFont typeface="Monotype Sorts" pitchFamily="2" charset="2"/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Microsoft Sans Serif" panose="020B0604020202020204" pitchFamily="34" charset="0"/>
              </a:rPr>
              <a:t>endmodule</a:t>
            </a:r>
            <a:endParaRPr lang="en-US" altLang="zh-CN" sz="2000" b="1" dirty="0">
              <a:solidFill>
                <a:srgbClr val="0000FF"/>
              </a:solidFill>
              <a:latin typeface="Courier New" panose="02070309020205020404" pitchFamily="49" charset="0"/>
              <a:cs typeface="Microsoft Sans Serif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64794" y="1501754"/>
            <a:ext cx="4869219" cy="4819781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if…else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格式（</a:t>
            </a:r>
            <a:r>
              <a:rPr kumimoji="1"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）：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 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条件表达式） 语句；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格式（</a:t>
            </a:r>
            <a:r>
              <a:rPr kumimoji="1"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）：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(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条件表达式） 语句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else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语句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格式（</a:t>
            </a:r>
            <a:r>
              <a:rPr kumimoji="1"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）：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(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条件表达式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） 语句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else  if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条件表达式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）语句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else if 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条件表达式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）语句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  …</a:t>
            </a:r>
            <a:endParaRPr kumimoji="1" lang="en-US" altLang="zh-CN" sz="20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else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语句</a:t>
            </a:r>
            <a:r>
              <a:rPr kumimoji="1" lang="en-US" altLang="zh-CN" sz="20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n;</a:t>
            </a:r>
            <a:endParaRPr lang="en-US" altLang="zh-CN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5270111" y="1557153"/>
            <a:ext cx="3621879" cy="470898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If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else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后面的语句可以是单条语句，也可以是由多条语句组成的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语句块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语句块的格式如下：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begin</a:t>
            </a:r>
            <a:endParaRPr lang="en-US" altLang="zh-CN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1;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2;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…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end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三、条件语句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94733" y="1483707"/>
            <a:ext cx="5711431" cy="4376583"/>
          </a:xfrm>
          <a:prstGeom prst="rect">
            <a:avLst/>
          </a:prstGeom>
          <a:noFill/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case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格式：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case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(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条件表达式） 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    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分支表达式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：语句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    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分支表达式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：语句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      …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     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分支表达式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：语句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n;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     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default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语句</a:t>
            </a: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m;</a:t>
            </a:r>
            <a:endParaRPr kumimoji="1" lang="en-US" altLang="zh-CN" sz="2400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</a:rPr>
              <a:t>                     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endcase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92004" y="2887168"/>
            <a:ext cx="20830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Default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覆盖所有没有被分支表达式覆盖的语句。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三、条件语句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37451" y="1249284"/>
            <a:ext cx="2446642" cy="60939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case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162959" y="822480"/>
            <a:ext cx="5908851" cy="5865083"/>
          </a:xfrm>
          <a:prstGeom prst="rect">
            <a:avLst/>
          </a:prstGeom>
          <a:noFill/>
          <a:ln>
            <a:solidFill>
              <a:srgbClr val="CC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module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decode4_7(</a:t>
            </a:r>
            <a:r>
              <a:rPr lang="en-US" altLang="zh-CN" sz="2000" kern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decodeout,indec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output[6:0</a:t>
            </a:r>
            <a:r>
              <a:rPr lang="en-US" altLang="zh-CN" sz="2000" kern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] decodeout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input[3:0] </a:t>
            </a:r>
            <a:r>
              <a:rPr lang="en-US" altLang="zh-CN" sz="2000" kern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indec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; 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reg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[6:0]  </a:t>
            </a:r>
            <a:r>
              <a:rPr lang="en-US" altLang="zh-CN" sz="2000" kern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decodeout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always @(</a:t>
            </a:r>
            <a:r>
              <a:rPr lang="en-US" altLang="zh-CN" sz="2000" kern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indec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)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  case(</a:t>
            </a:r>
            <a:r>
              <a:rPr lang="en-US" altLang="zh-CN" sz="2000" kern="0" dirty="0" err="1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indec</a:t>
            </a:r>
            <a:r>
              <a:rPr lang="en-US" altLang="zh-CN" sz="2000" kern="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//</a:t>
            </a:r>
            <a:r>
              <a:rPr lang="zh-CN" altLang="en-US" sz="2000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</a:t>
            </a:r>
            <a:r>
              <a:rPr lang="zh-CN" altLang="en-US" sz="2000" kern="0" dirty="0">
                <a:solidFill>
                  <a:srgbClr val="000000"/>
                </a:solidFill>
                <a:latin typeface="Courier New" panose="02070309020205020404" pitchFamily="49" charset="0"/>
                <a:ea typeface="楷体_GB2312" pitchFamily="49" charset="-122"/>
              </a:rPr>
              <a:t>语句进行译码</a:t>
            </a:r>
            <a:endParaRPr lang="zh-CN" altLang="en-US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    4'</a:t>
            </a: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d0:decodeout=7'b1111110;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    4'd1:decodeout=7'b0110000;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    4'd2:decodeout=7'b1101101;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    4'd3:decodeout=7'b1111001;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    4'd4:decodeout=7'b0110011;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Microsoft Sans Serif" panose="020B0604020202020204" pitchFamily="34" charset="0"/>
              </a:rPr>
              <a:t>      4'd5:decodeout=7'b1011011;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4'd6:decodeout=7'b1011111;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4'd7:decodeout=7'b1110000;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4'd8:decodeout=7'b1111111; 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4'd9:decodeout=7'b1111011;</a:t>
            </a:r>
            <a:endParaRPr lang="en-US" altLang="zh-CN" sz="2000" kern="0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</a:t>
            </a:r>
            <a:r>
              <a:rPr lang="en-US" altLang="zh-CN" sz="2000" kern="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default: </a:t>
            </a:r>
            <a:r>
              <a:rPr lang="en-US" altLang="zh-CN" sz="2000" kern="0" dirty="0" err="1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decodeout</a:t>
            </a:r>
            <a:r>
              <a:rPr lang="en-US" altLang="zh-CN" sz="2000" kern="0" dirty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=7'bx;</a:t>
            </a:r>
            <a:endParaRPr lang="en-US" altLang="zh-CN" sz="2000" kern="0" dirty="0">
              <a:solidFill>
                <a:srgbClr val="CC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2000" kern="0" dirty="0" err="1">
                <a:solidFill>
                  <a:srgbClr val="C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endcase</a:t>
            </a:r>
            <a:endParaRPr lang="en-US" altLang="zh-CN" sz="2000" kern="0" dirty="0">
              <a:solidFill>
                <a:srgbClr val="C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52425" indent="-352425" algn="just" defTabSz="685800" eaLnBrk="1" hangingPunct="1">
              <a:lnSpc>
                <a:spcPct val="80000"/>
              </a:lnSpc>
              <a:buClr>
                <a:srgbClr val="CC0000"/>
              </a:buClr>
              <a:buNone/>
              <a:defRPr/>
            </a:pPr>
            <a:r>
              <a:rPr lang="en-US" altLang="zh-CN" sz="2000" kern="0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endmodule</a:t>
            </a:r>
            <a:endParaRPr lang="zh-CN" altLang="en-US" sz="2000" kern="0" dirty="0">
              <a:solidFill>
                <a:srgbClr val="0000FF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30" y="3010897"/>
            <a:ext cx="2846381" cy="341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27647" y="1925619"/>
            <a:ext cx="1790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段数码管显示译码器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651157"/>
            <a:ext cx="44561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三、条件语句</a:t>
            </a:r>
            <a:endParaRPr lang="zh-CN" altLang="en-US" sz="32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Verilog HDL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的基本语句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49721" y="4826"/>
            <a:ext cx="721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76720" y="1780104"/>
            <a:ext cx="7277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章习题</a:t>
            </a:r>
            <a:endParaRPr lang="en-US" altLang="zh-CN" sz="2800" b="1" dirty="0"/>
          </a:p>
          <a:p>
            <a:r>
              <a:rPr lang="en-US" altLang="zh-CN" sz="2800" b="1"/>
              <a:t>1</a:t>
            </a:r>
            <a:r>
              <a:rPr lang="zh-CN" altLang="en-US" sz="2800" b="1"/>
              <a:t>、</a:t>
            </a:r>
            <a:r>
              <a:rPr lang="en-US" altLang="zh-CN" sz="2800" b="1"/>
              <a:t>2</a:t>
            </a:r>
            <a:r>
              <a:rPr lang="zh-CN" altLang="en-US" sz="2800" b="1"/>
              <a:t>、</a:t>
            </a:r>
            <a:r>
              <a:rPr lang="en-US" altLang="zh-CN" sz="2800" b="1"/>
              <a:t>3</a:t>
            </a:r>
            <a:r>
              <a:rPr lang="zh-CN" altLang="en-US" sz="2800" b="1"/>
              <a:t>、</a:t>
            </a:r>
            <a:r>
              <a:rPr lang="en-US" altLang="zh-CN" sz="2800" b="1"/>
              <a:t>4</a:t>
            </a:r>
            <a:r>
              <a:rPr lang="zh-CN" altLang="en-US" sz="2800" b="1"/>
              <a:t>、</a:t>
            </a:r>
            <a:r>
              <a:rPr lang="en-US" altLang="zh-CN" sz="2800" b="1"/>
              <a:t>5</a:t>
            </a:r>
            <a:endParaRPr lang="en-US" altLang="zh-CN" sz="2800" b="1" dirty="0"/>
          </a:p>
          <a:p>
            <a:endParaRPr lang="zh-CN" altLang="en-US" sz="2800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640592" y="4194737"/>
            <a:ext cx="58135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4" name="淘宝网chenying0907出品 3"/>
          <p:cNvSpPr/>
          <p:nvPr/>
        </p:nvSpPr>
        <p:spPr>
          <a:xfrm>
            <a:off x="0" y="2836879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淘宝网chenying0907出品 4"/>
          <p:cNvSpPr/>
          <p:nvPr/>
        </p:nvSpPr>
        <p:spPr>
          <a:xfrm>
            <a:off x="5791593" y="2836879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淘宝网chenying0907出品 7"/>
          <p:cNvSpPr/>
          <p:nvPr/>
        </p:nvSpPr>
        <p:spPr>
          <a:xfrm>
            <a:off x="6046706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6024907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10"/>
          <p:cNvSpPr/>
          <p:nvPr/>
        </p:nvSpPr>
        <p:spPr>
          <a:xfrm>
            <a:off x="6350718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淘宝网chenying0907出品 11"/>
          <p:cNvSpPr/>
          <p:nvPr/>
        </p:nvSpPr>
        <p:spPr>
          <a:xfrm>
            <a:off x="6676528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淘宝网chenying0907出品 12"/>
          <p:cNvSpPr/>
          <p:nvPr/>
        </p:nvSpPr>
        <p:spPr>
          <a:xfrm>
            <a:off x="6980540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淘宝网chenying0907出品 13"/>
          <p:cNvSpPr/>
          <p:nvPr/>
        </p:nvSpPr>
        <p:spPr>
          <a:xfrm>
            <a:off x="7284552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淘宝网chenying0907出品 14"/>
          <p:cNvSpPr/>
          <p:nvPr/>
        </p:nvSpPr>
        <p:spPr>
          <a:xfrm>
            <a:off x="7601497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淘宝网chenying0907出品 15"/>
          <p:cNvSpPr/>
          <p:nvPr/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淘宝网chenying0907出品 16"/>
          <p:cNvSpPr/>
          <p:nvPr/>
        </p:nvSpPr>
        <p:spPr>
          <a:xfrm rot="19779136">
            <a:off x="8519312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/>
        </p:nvCxnSpPr>
        <p:spPr>
          <a:xfrm>
            <a:off x="233314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33314" y="285101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3313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网chenying0907出品 21"/>
          <p:cNvSpPr txBox="1"/>
          <p:nvPr/>
        </p:nvSpPr>
        <p:spPr>
          <a:xfrm>
            <a:off x="1550954" y="3076800"/>
            <a:ext cx="2882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淘宝网chenying0907出品 22"/>
          <p:cNvSpPr txBox="1"/>
          <p:nvPr/>
        </p:nvSpPr>
        <p:spPr>
          <a:xfrm>
            <a:off x="651867" y="4297537"/>
            <a:ext cx="18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淘宝网chenying0907出品 23"/>
          <p:cNvSpPr txBox="1"/>
          <p:nvPr/>
        </p:nvSpPr>
        <p:spPr>
          <a:xfrm>
            <a:off x="2871046" y="4297537"/>
            <a:ext cx="271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962C8B-B14F-4D97-AF65-F5344CB8AC3E}" type="datetime1"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920434" y="440271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386"/>
            <a:ext cx="920433" cy="9204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ags/tag13.xml><?xml version="1.0" encoding="utf-8"?>
<p:tagLst xmlns:p="http://schemas.openxmlformats.org/presentationml/2006/main">
  <p:tag name="PA" val="v3.0.1"/>
</p:tagLst>
</file>

<file path=ppt/tags/tag14.xml><?xml version="1.0" encoding="utf-8"?>
<p:tagLst xmlns:p="http://schemas.openxmlformats.org/presentationml/2006/main">
  <p:tag name="PA" val="v3.0.1"/>
</p:tagLst>
</file>

<file path=ppt/tags/tag15.xml><?xml version="1.0" encoding="utf-8"?>
<p:tagLst xmlns:p="http://schemas.openxmlformats.org/presentationml/2006/main">
  <p:tag name="PA" val="v3.0.1"/>
</p:tagLst>
</file>

<file path=ppt/tags/tag16.xml><?xml version="1.0" encoding="utf-8"?>
<p:tagLst xmlns:p="http://schemas.openxmlformats.org/presentationml/2006/main">
  <p:tag name="PA" val="v3.0.1"/>
</p:tagLst>
</file>

<file path=ppt/tags/tag17.xml><?xml version="1.0" encoding="utf-8"?>
<p:tagLst xmlns:p="http://schemas.openxmlformats.org/presentationml/2006/main">
  <p:tag name="PA" val="v3.0.1"/>
</p:tagLst>
</file>

<file path=ppt/tags/tag18.xml><?xml version="1.0" encoding="utf-8"?>
<p:tagLst xmlns:p="http://schemas.openxmlformats.org/presentationml/2006/main">
  <p:tag name="PA" val="v3.0.1"/>
</p:tagLst>
</file>

<file path=ppt/tags/tag19.xml><?xml version="1.0" encoding="utf-8"?>
<p:tagLst xmlns:p="http://schemas.openxmlformats.org/presentationml/2006/main">
  <p:tag name="KSO_WM_UNIT_TABLE_BEAUTIFY" val="smartTable{8419ce13-739b-4497-a6df-a6c48286f83c}"/>
</p:tagLst>
</file>

<file path=ppt/tags/tag20.xml><?xml version="1.0" encoding="utf-8"?>
<p:tagLst xmlns:p="http://schemas.openxmlformats.org/presentationml/2006/main">
  <p:tag name="ISPRING_PRESENTATION_TITLE" val="PowerPoint 演示文稿3"/>
  <p:tag name="KSO_WPP_MARK_KEY" val="325c8612-c62f-4d95-8fa6-538e825306ba"/>
  <p:tag name="COMMONDATA" val="eyJoZGlkIjoiMDM5Zjk4NTdiZmFhODE1YWE0OTMwYzI1MDRiNWU2OTYifQ=="/>
  <p:tag name="commondata" val="eyJoZGlkIjoiNDg3NzM1Mjc0YTM1YzBmZTFmNzkyMmIyZjRlNzBlMDQifQ=="/>
</p:tagLst>
</file>

<file path=ppt/theme/theme1.xml><?xml version="1.0" encoding="utf-8"?>
<a:theme xmlns:a="http://schemas.openxmlformats.org/drawingml/2006/main" name="第一PPT，www.1ppt.com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11299</Words>
  <Application>WPS 演示</Application>
  <PresentationFormat>全屏显示(4:3)</PresentationFormat>
  <Paragraphs>1152</Paragraphs>
  <Slides>53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79" baseType="lpstr">
      <vt:lpstr>Arial</vt:lpstr>
      <vt:lpstr>宋体</vt:lpstr>
      <vt:lpstr>Wingdings</vt:lpstr>
      <vt:lpstr>华文行楷</vt:lpstr>
      <vt:lpstr>微软雅黑</vt:lpstr>
      <vt:lpstr>Times New Roman</vt:lpstr>
      <vt:lpstr>黑体</vt:lpstr>
      <vt:lpstr>Calibri</vt:lpstr>
      <vt:lpstr>Calibri</vt:lpstr>
      <vt:lpstr>楷体</vt:lpstr>
      <vt:lpstr>Tahoma</vt:lpstr>
      <vt:lpstr>Arial Unicode MS</vt:lpstr>
      <vt:lpstr>Cambria Math</vt:lpstr>
      <vt:lpstr>楷体_GB2312</vt:lpstr>
      <vt:lpstr>新宋体</vt:lpstr>
      <vt:lpstr>Tahoma</vt:lpstr>
      <vt:lpstr>Wingdings 2</vt:lpstr>
      <vt:lpstr>等线</vt:lpstr>
      <vt:lpstr>Verdana</vt:lpstr>
      <vt:lpstr>Helvetica</vt:lpstr>
      <vt:lpstr>Monotype Sorts</vt:lpstr>
      <vt:lpstr>Wingdings</vt:lpstr>
      <vt:lpstr>Courier New</vt:lpstr>
      <vt:lpstr>Microsoft Sans Serif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公开课开题报告</dc:title>
  <dc:creator>第一PPT模板网-WWW.1PPT.COM</dc:creator>
  <cp:keywords>第一PPT模板网-WWW.1PPT.COM</cp:keywords>
  <cp:lastModifiedBy>刘树波</cp:lastModifiedBy>
  <cp:revision>1769</cp:revision>
  <dcterms:created xsi:type="dcterms:W3CDTF">2016-04-09T13:02:00Z</dcterms:created>
  <dcterms:modified xsi:type="dcterms:W3CDTF">2024-01-11T03:46:41Z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7E3E6C90EC1847EDBFF6B2EA4E1DA920</vt:lpwstr>
  </property>
</Properties>
</file>