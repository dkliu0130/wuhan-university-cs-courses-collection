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av" ContentType="audio/x-wav"/>
  <Default Extension="jpeg" ContentType="image/jpeg"/>
  <Default Extension="JPG" ContentType="image/.jpg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86" r:id="rId3"/>
    <p:sldId id="476" r:id="rId5"/>
    <p:sldId id="517" r:id="rId6"/>
    <p:sldId id="518" r:id="rId7"/>
    <p:sldId id="519" r:id="rId8"/>
    <p:sldId id="520" r:id="rId9"/>
    <p:sldId id="521" r:id="rId10"/>
    <p:sldId id="522" r:id="rId11"/>
    <p:sldId id="523" r:id="rId12"/>
    <p:sldId id="524" r:id="rId13"/>
    <p:sldId id="525" r:id="rId14"/>
    <p:sldId id="526" r:id="rId15"/>
    <p:sldId id="551" r:id="rId16"/>
    <p:sldId id="527" r:id="rId17"/>
    <p:sldId id="528" r:id="rId18"/>
    <p:sldId id="529" r:id="rId19"/>
    <p:sldId id="530" r:id="rId20"/>
    <p:sldId id="532" r:id="rId21"/>
    <p:sldId id="531" r:id="rId22"/>
    <p:sldId id="533" r:id="rId23"/>
    <p:sldId id="534" r:id="rId24"/>
    <p:sldId id="535" r:id="rId25"/>
    <p:sldId id="536" r:id="rId26"/>
    <p:sldId id="550" r:id="rId27"/>
    <p:sldId id="537" r:id="rId28"/>
    <p:sldId id="538" r:id="rId29"/>
    <p:sldId id="539" r:id="rId30"/>
    <p:sldId id="540" r:id="rId31"/>
    <p:sldId id="541" r:id="rId32"/>
    <p:sldId id="542" r:id="rId33"/>
    <p:sldId id="543" r:id="rId34"/>
    <p:sldId id="544" r:id="rId35"/>
    <p:sldId id="545" r:id="rId36"/>
    <p:sldId id="546" r:id="rId37"/>
    <p:sldId id="547" r:id="rId38"/>
    <p:sldId id="548" r:id="rId39"/>
    <p:sldId id="549" r:id="rId40"/>
    <p:sldId id="552" r:id="rId41"/>
    <p:sldId id="279" r:id="rId42"/>
  </p:sldIdLst>
  <p:sldSz cx="9144000" cy="6858000" type="screen4x3"/>
  <p:notesSz cx="6858000" cy="9144000"/>
  <p:custDataLst>
    <p:tags r:id="rId4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170A8E"/>
    <a:srgbClr val="2B56F5"/>
    <a:srgbClr val="FF33CC"/>
    <a:srgbClr val="CC9900"/>
    <a:srgbClr val="1F4E79"/>
    <a:srgbClr val="3D74A7"/>
    <a:srgbClr val="5B9BD5"/>
    <a:srgbClr val="EAEFF7"/>
    <a:srgbClr val="D2DE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00" autoAdjust="0"/>
    <p:restoredTop sz="96279" autoAdjust="0"/>
  </p:normalViewPr>
  <p:slideViewPr>
    <p:cSldViewPr snapToGrid="0" showGuides="1">
      <p:cViewPr varScale="1">
        <p:scale>
          <a:sx n="95" d="100"/>
          <a:sy n="95" d="100"/>
        </p:scale>
        <p:origin x="1196" y="8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91" d="100"/>
        <a:sy n="91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6" Type="http://schemas.openxmlformats.org/officeDocument/2006/relationships/tags" Target="tags/tag19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0.png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3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8.vml.rels><?xml version="1.0" encoding="UTF-8" standalone="yes"?>
<Relationships xmlns="http://schemas.openxmlformats.org/package/2006/relationships"><Relationship Id="rId4" Type="http://schemas.openxmlformats.org/officeDocument/2006/relationships/image" Target="../media/image25.wmf"/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34.wmf"/></Relationships>
</file>

<file path=ppt/drawings/_rels/vmlDrawing12.vml.rels><?xml version="1.0" encoding="UTF-8" standalone="yes"?>
<Relationships xmlns="http://schemas.openxmlformats.org/package/2006/relationships"><Relationship Id="rId4" Type="http://schemas.openxmlformats.org/officeDocument/2006/relationships/image" Target="../media/image40.wmf"/><Relationship Id="rId3" Type="http://schemas.openxmlformats.org/officeDocument/2006/relationships/image" Target="../media/image39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9.wmf"/><Relationship Id="rId1" Type="http://schemas.openxmlformats.org/officeDocument/2006/relationships/image" Target="../media/image48.wmf"/></Relationships>
</file>

<file path=ppt/drawings/_rels/vmlDrawing15.vml.rels><?xml version="1.0" encoding="UTF-8" standalone="yes"?>
<Relationships xmlns="http://schemas.openxmlformats.org/package/2006/relationships"><Relationship Id="rId4" Type="http://schemas.openxmlformats.org/officeDocument/2006/relationships/image" Target="../media/image53.wmf"/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drawings/_rels/vmlDrawing16.vml.rels><?xml version="1.0" encoding="UTF-8" standalone="yes"?>
<Relationships xmlns="http://schemas.openxmlformats.org/package/2006/relationships"><Relationship Id="rId4" Type="http://schemas.openxmlformats.org/officeDocument/2006/relationships/image" Target="../media/image57.wmf"/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301BD9-4243-4367-977C-650CCA5948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1" Type="http://schemas.openxmlformats.org/officeDocument/2006/relationships/notesSlide" Target="../notesSlides/notesSlide1.xml"/><Relationship Id="rId20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9" Type="http://schemas.openxmlformats.org/officeDocument/2006/relationships/tags" Target="../tags/tag18.xml"/><Relationship Id="rId18" Type="http://schemas.openxmlformats.org/officeDocument/2006/relationships/image" Target="../media/image1.jpeg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3.w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wmf"/><Relationship Id="rId2" Type="http://schemas.openxmlformats.org/officeDocument/2006/relationships/oleObject" Target="../embeddings/oleObject2.bin"/><Relationship Id="rId11" Type="http://schemas.openxmlformats.org/officeDocument/2006/relationships/notesSlide" Target="../notesSlides/notesSlide5.xml"/><Relationship Id="rId10" Type="http://schemas.openxmlformats.org/officeDocument/2006/relationships/vmlDrawing" Target="../drawings/vmlDrawing2.v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wmf"/><Relationship Id="rId8" Type="http://schemas.openxmlformats.org/officeDocument/2006/relationships/oleObject" Target="../embeddings/oleObject4.bin"/><Relationship Id="rId7" Type="http://schemas.openxmlformats.org/officeDocument/2006/relationships/image" Target="../media/image11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10.png"/><Relationship Id="rId2" Type="http://schemas.openxmlformats.org/officeDocument/2006/relationships/oleObject" Target="../embeddings/oleObject3.bin"/><Relationship Id="rId12" Type="http://schemas.openxmlformats.org/officeDocument/2006/relationships/notesSlide" Target="../notesSlides/notesSlide7.xml"/><Relationship Id="rId11" Type="http://schemas.openxmlformats.org/officeDocument/2006/relationships/vmlDrawing" Target="../drawings/vmlDrawing3.v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4.png"/><Relationship Id="rId3" Type="http://schemas.openxmlformats.org/officeDocument/2006/relationships/image" Target="../media/image2.png"/><Relationship Id="rId2" Type="http://schemas.openxmlformats.org/officeDocument/2006/relationships/image" Target="../media/image13.wmf"/><Relationship Id="rId1" Type="http://schemas.openxmlformats.org/officeDocument/2006/relationships/oleObject" Target="../embeddings/oleObject5.bin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6.w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2.png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wmf"/><Relationship Id="rId8" Type="http://schemas.openxmlformats.org/officeDocument/2006/relationships/oleObject" Target="../embeddings/oleObject9.bin"/><Relationship Id="rId7" Type="http://schemas.openxmlformats.org/officeDocument/2006/relationships/image" Target="../media/image20.wmf"/><Relationship Id="rId6" Type="http://schemas.openxmlformats.org/officeDocument/2006/relationships/oleObject" Target="../embeddings/oleObject8.bin"/><Relationship Id="rId5" Type="http://schemas.openxmlformats.org/officeDocument/2006/relationships/image" Target="../media/image1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2" Type="http://schemas.openxmlformats.org/officeDocument/2006/relationships/notesSlide" Target="../notesSlides/notesSlide13.xml"/><Relationship Id="rId11" Type="http://schemas.openxmlformats.org/officeDocument/2006/relationships/vmlDrawing" Target="../drawings/vmlDrawing6.v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vmlDrawing" Target="../drawings/vmlDrawing7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2.wmf"/><Relationship Id="rId2" Type="http://schemas.openxmlformats.org/officeDocument/2006/relationships/oleObject" Target="../embeddings/oleObject10.bin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wmf"/><Relationship Id="rId8" Type="http://schemas.openxmlformats.org/officeDocument/2006/relationships/oleObject" Target="../embeddings/oleObject14.bin"/><Relationship Id="rId7" Type="http://schemas.openxmlformats.org/officeDocument/2006/relationships/image" Target="../media/image24.wmf"/><Relationship Id="rId6" Type="http://schemas.openxmlformats.org/officeDocument/2006/relationships/oleObject" Target="../embeddings/oleObject13.bin"/><Relationship Id="rId5" Type="http://schemas.openxmlformats.org/officeDocument/2006/relationships/image" Target="../media/image23.wmf"/><Relationship Id="rId4" Type="http://schemas.openxmlformats.org/officeDocument/2006/relationships/oleObject" Target="../embeddings/oleObject12.bin"/><Relationship Id="rId3" Type="http://schemas.openxmlformats.org/officeDocument/2006/relationships/image" Target="../media/image22.wmf"/><Relationship Id="rId2" Type="http://schemas.openxmlformats.org/officeDocument/2006/relationships/oleObject" Target="../embeddings/oleObject11.bin"/><Relationship Id="rId13" Type="http://schemas.openxmlformats.org/officeDocument/2006/relationships/notesSlide" Target="../notesSlides/notesSlide17.xml"/><Relationship Id="rId12" Type="http://schemas.openxmlformats.org/officeDocument/2006/relationships/vmlDrawing" Target="../drawings/vmlDrawing8.v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26.png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png"/><Relationship Id="rId7" Type="http://schemas.openxmlformats.org/officeDocument/2006/relationships/image" Target="../media/image29.wmf"/><Relationship Id="rId6" Type="http://schemas.openxmlformats.org/officeDocument/2006/relationships/oleObject" Target="../embeddings/oleObject17.bin"/><Relationship Id="rId5" Type="http://schemas.openxmlformats.org/officeDocument/2006/relationships/image" Target="../media/image28.wmf"/><Relationship Id="rId4" Type="http://schemas.openxmlformats.org/officeDocument/2006/relationships/oleObject" Target="../embeddings/oleObject16.bin"/><Relationship Id="rId3" Type="http://schemas.openxmlformats.org/officeDocument/2006/relationships/image" Target="../media/image27.wmf"/><Relationship Id="rId2" Type="http://schemas.openxmlformats.org/officeDocument/2006/relationships/oleObject" Target="../embeddings/oleObject15.bin"/><Relationship Id="rId13" Type="http://schemas.openxmlformats.org/officeDocument/2006/relationships/notesSlide" Target="../notesSlides/notesSlide18.xml"/><Relationship Id="rId12" Type="http://schemas.openxmlformats.org/officeDocument/2006/relationships/vmlDrawing" Target="../drawings/vmlDrawing9.v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1.emf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3.xml"/><Relationship Id="rId7" Type="http://schemas.openxmlformats.org/officeDocument/2006/relationships/slideLayout" Target="../slideLayouts/slideLayout1.xml"/><Relationship Id="rId6" Type="http://schemas.openxmlformats.org/officeDocument/2006/relationships/audio" Target="../media/audio2.wav"/><Relationship Id="rId5" Type="http://schemas.openxmlformats.org/officeDocument/2006/relationships/audio" Target="../media/audio1.wav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8.xml"/><Relationship Id="rId7" Type="http://schemas.openxmlformats.org/officeDocument/2006/relationships/vmlDrawing" Target="../drawings/vmlDrawing10.v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4.wmf"/><Relationship Id="rId3" Type="http://schemas.openxmlformats.org/officeDocument/2006/relationships/oleObject" Target="../embeddings/oleObject19.bin"/><Relationship Id="rId2" Type="http://schemas.openxmlformats.org/officeDocument/2006/relationships/image" Target="../media/image33.wmf"/><Relationship Id="rId1" Type="http://schemas.openxmlformats.org/officeDocument/2006/relationships/oleObject" Target="../embeddings/oleObject18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9.xml"/><Relationship Id="rId7" Type="http://schemas.openxmlformats.org/officeDocument/2006/relationships/vmlDrawing" Target="../drawings/vmlDrawing11.v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3.wmf"/><Relationship Id="rId3" Type="http://schemas.openxmlformats.org/officeDocument/2006/relationships/oleObject" Target="../embeddings/oleObject21.bin"/><Relationship Id="rId2" Type="http://schemas.openxmlformats.org/officeDocument/2006/relationships/image" Target="../media/image34.wmf"/><Relationship Id="rId1" Type="http://schemas.openxmlformats.org/officeDocument/2006/relationships/oleObject" Target="../embeddings/oleObject20.bin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0.wmf"/><Relationship Id="rId8" Type="http://schemas.openxmlformats.org/officeDocument/2006/relationships/oleObject" Target="../embeddings/oleObject25.bin"/><Relationship Id="rId7" Type="http://schemas.openxmlformats.org/officeDocument/2006/relationships/image" Target="../media/image39.wmf"/><Relationship Id="rId6" Type="http://schemas.openxmlformats.org/officeDocument/2006/relationships/oleObject" Target="../embeddings/oleObject24.bin"/><Relationship Id="rId5" Type="http://schemas.openxmlformats.org/officeDocument/2006/relationships/image" Target="../media/image34.wmf"/><Relationship Id="rId4" Type="http://schemas.openxmlformats.org/officeDocument/2006/relationships/oleObject" Target="../embeddings/oleObject23.bin"/><Relationship Id="rId3" Type="http://schemas.openxmlformats.org/officeDocument/2006/relationships/image" Target="../media/image38.png"/><Relationship Id="rId2" Type="http://schemas.openxmlformats.org/officeDocument/2006/relationships/image" Target="../media/image33.wmf"/><Relationship Id="rId13" Type="http://schemas.openxmlformats.org/officeDocument/2006/relationships/notesSlide" Target="../notesSlides/notesSlide31.xml"/><Relationship Id="rId12" Type="http://schemas.openxmlformats.org/officeDocument/2006/relationships/vmlDrawing" Target="../drawings/vmlDrawing12.v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2.png"/><Relationship Id="rId1" Type="http://schemas.openxmlformats.org/officeDocument/2006/relationships/oleObject" Target="../embeddings/oleObject22.bin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41.png"/></Relationships>
</file>

<file path=ppt/slides/_rels/slide3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4.xml"/><Relationship Id="rId7" Type="http://schemas.openxmlformats.org/officeDocument/2006/relationships/vmlDrawing" Target="../drawings/vmlDrawing13.v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7.wmf"/><Relationship Id="rId3" Type="http://schemas.openxmlformats.org/officeDocument/2006/relationships/oleObject" Target="../embeddings/oleObject27.bin"/><Relationship Id="rId2" Type="http://schemas.openxmlformats.org/officeDocument/2006/relationships/image" Target="../media/image46.wmf"/><Relationship Id="rId1" Type="http://schemas.openxmlformats.org/officeDocument/2006/relationships/oleObject" Target="../embeddings/oleObject26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5.xml"/><Relationship Id="rId7" Type="http://schemas.openxmlformats.org/officeDocument/2006/relationships/vmlDrawing" Target="../drawings/vmlDrawing14.v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9.wmf"/><Relationship Id="rId3" Type="http://schemas.openxmlformats.org/officeDocument/2006/relationships/oleObject" Target="../embeddings/oleObject29.bin"/><Relationship Id="rId2" Type="http://schemas.openxmlformats.org/officeDocument/2006/relationships/image" Target="../media/image48.wmf"/><Relationship Id="rId1" Type="http://schemas.openxmlformats.org/officeDocument/2006/relationships/oleObject" Target="../embeddings/oleObject28.bin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image" Target="../media/image53.wmf"/><Relationship Id="rId7" Type="http://schemas.openxmlformats.org/officeDocument/2006/relationships/oleObject" Target="../embeddings/oleObject33.bin"/><Relationship Id="rId6" Type="http://schemas.openxmlformats.org/officeDocument/2006/relationships/image" Target="../media/image52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51.wmf"/><Relationship Id="rId3" Type="http://schemas.openxmlformats.org/officeDocument/2006/relationships/oleObject" Target="../embeddings/oleObject31.bin"/><Relationship Id="rId2" Type="http://schemas.openxmlformats.org/officeDocument/2006/relationships/image" Target="../media/image50.wmf"/><Relationship Id="rId12" Type="http://schemas.openxmlformats.org/officeDocument/2006/relationships/notesSlide" Target="../notesSlides/notesSlide36.xml"/><Relationship Id="rId11" Type="http://schemas.openxmlformats.org/officeDocument/2006/relationships/vmlDrawing" Target="../drawings/vmlDrawing15.vml"/><Relationship Id="rId10" Type="http://schemas.openxmlformats.org/officeDocument/2006/relationships/slideLayout" Target="../slideLayouts/slideLayout1.xml"/><Relationship Id="rId1" Type="http://schemas.openxmlformats.org/officeDocument/2006/relationships/oleObject" Target="../embeddings/oleObject30.bin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image" Target="../media/image57.wmf"/><Relationship Id="rId7" Type="http://schemas.openxmlformats.org/officeDocument/2006/relationships/oleObject" Target="../embeddings/oleObject37.bin"/><Relationship Id="rId6" Type="http://schemas.openxmlformats.org/officeDocument/2006/relationships/image" Target="../media/image56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55.wmf"/><Relationship Id="rId3" Type="http://schemas.openxmlformats.org/officeDocument/2006/relationships/oleObject" Target="../embeddings/oleObject35.bin"/><Relationship Id="rId2" Type="http://schemas.openxmlformats.org/officeDocument/2006/relationships/image" Target="../media/image54.wmf"/><Relationship Id="rId12" Type="http://schemas.openxmlformats.org/officeDocument/2006/relationships/notesSlide" Target="../notesSlides/notesSlide37.xml"/><Relationship Id="rId11" Type="http://schemas.openxmlformats.org/officeDocument/2006/relationships/vmlDrawing" Target="../drawings/vmlDrawing16.vml"/><Relationship Id="rId10" Type="http://schemas.openxmlformats.org/officeDocument/2006/relationships/slideLayout" Target="../slideLayouts/slideLayout1.xml"/><Relationship Id="rId1" Type="http://schemas.openxmlformats.org/officeDocument/2006/relationships/oleObject" Target="../embeddings/oleObject34.bin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7.v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60.wmf"/><Relationship Id="rId6" Type="http://schemas.openxmlformats.org/officeDocument/2006/relationships/oleObject" Target="../embeddings/oleObject40.bin"/><Relationship Id="rId5" Type="http://schemas.openxmlformats.org/officeDocument/2006/relationships/image" Target="../media/image59.wmf"/><Relationship Id="rId4" Type="http://schemas.openxmlformats.org/officeDocument/2006/relationships/oleObject" Target="../embeddings/oleObject39.bin"/><Relationship Id="rId3" Type="http://schemas.openxmlformats.org/officeDocument/2006/relationships/image" Target="../media/image58.wmf"/><Relationship Id="rId2" Type="http://schemas.openxmlformats.org/officeDocument/2006/relationships/oleObject" Target="../embeddings/oleObject38.bin"/><Relationship Id="rId10" Type="http://schemas.openxmlformats.org/officeDocument/2006/relationships/notesSlide" Target="../notesSlides/notesSlide38.xml"/><Relationship Id="rId1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_淘宝网chenying0907出品 3"/>
          <p:cNvSpPr/>
          <p:nvPr>
            <p:custDataLst>
              <p:tags r:id="rId1"/>
            </p:custDataLst>
          </p:nvPr>
        </p:nvSpPr>
        <p:spPr>
          <a:xfrm>
            <a:off x="0" y="2610586"/>
            <a:ext cx="233313" cy="302399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" name="PA_淘宝网chenying0907出品 4"/>
          <p:cNvSpPr/>
          <p:nvPr>
            <p:custDataLst>
              <p:tags r:id="rId2"/>
            </p:custDataLst>
          </p:nvPr>
        </p:nvSpPr>
        <p:spPr>
          <a:xfrm>
            <a:off x="5791596" y="2610586"/>
            <a:ext cx="213169" cy="302399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PA_淘宝网chenying0907出品 7"/>
          <p:cNvSpPr/>
          <p:nvPr>
            <p:custDataLst>
              <p:tags r:id="rId3"/>
            </p:custDataLst>
          </p:nvPr>
        </p:nvSpPr>
        <p:spPr>
          <a:xfrm>
            <a:off x="6046708" y="4135440"/>
            <a:ext cx="289874" cy="1485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PA_直接连接符 9"/>
          <p:cNvCxnSpPr/>
          <p:nvPr>
            <p:custDataLst>
              <p:tags r:id="rId4"/>
            </p:custDataLst>
          </p:nvPr>
        </p:nvCxnSpPr>
        <p:spPr>
          <a:xfrm>
            <a:off x="6024911" y="5634582"/>
            <a:ext cx="3119093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A_淘宝网chenying0907出品 10"/>
          <p:cNvSpPr/>
          <p:nvPr>
            <p:custDataLst>
              <p:tags r:id="rId5"/>
            </p:custDataLst>
          </p:nvPr>
        </p:nvSpPr>
        <p:spPr>
          <a:xfrm>
            <a:off x="6350719" y="4189440"/>
            <a:ext cx="289874" cy="1431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PA_淘宝网chenying0907出品 11"/>
          <p:cNvSpPr/>
          <p:nvPr>
            <p:custDataLst>
              <p:tags r:id="rId6"/>
            </p:custDataLst>
          </p:nvPr>
        </p:nvSpPr>
        <p:spPr>
          <a:xfrm>
            <a:off x="6660739" y="4189440"/>
            <a:ext cx="289874" cy="1431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PA_淘宝网chenying0907出品 12"/>
          <p:cNvSpPr/>
          <p:nvPr>
            <p:custDataLst>
              <p:tags r:id="rId7"/>
            </p:custDataLst>
          </p:nvPr>
        </p:nvSpPr>
        <p:spPr>
          <a:xfrm>
            <a:off x="6965302" y="4216440"/>
            <a:ext cx="289874" cy="1404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PA_淘宝网chenying0907出品 13"/>
          <p:cNvSpPr/>
          <p:nvPr>
            <p:custDataLst>
              <p:tags r:id="rId8"/>
            </p:custDataLst>
          </p:nvPr>
        </p:nvSpPr>
        <p:spPr>
          <a:xfrm>
            <a:off x="7284553" y="4243440"/>
            <a:ext cx="289874" cy="1377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PA_淘宝网chenying0907出品 14"/>
          <p:cNvSpPr/>
          <p:nvPr>
            <p:custDataLst>
              <p:tags r:id="rId9"/>
            </p:custDataLst>
          </p:nvPr>
        </p:nvSpPr>
        <p:spPr>
          <a:xfrm>
            <a:off x="7601500" y="4270440"/>
            <a:ext cx="289874" cy="135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PA_淘宝网chenying0907出品 15"/>
          <p:cNvSpPr/>
          <p:nvPr>
            <p:custDataLst>
              <p:tags r:id="rId10"/>
            </p:custDataLst>
          </p:nvPr>
        </p:nvSpPr>
        <p:spPr>
          <a:xfrm rot="20959521">
            <a:off x="8008894" y="4308807"/>
            <a:ext cx="289874" cy="129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PA_淘宝网chenying0907出品 16"/>
          <p:cNvSpPr/>
          <p:nvPr>
            <p:custDataLst>
              <p:tags r:id="rId11"/>
            </p:custDataLst>
          </p:nvPr>
        </p:nvSpPr>
        <p:spPr>
          <a:xfrm rot="19779136">
            <a:off x="8519314" y="4340004"/>
            <a:ext cx="289874" cy="129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8" name="PA_直接连接符 17"/>
          <p:cNvCxnSpPr/>
          <p:nvPr>
            <p:custDataLst>
              <p:tags r:id="rId12"/>
            </p:custDataLst>
          </p:nvPr>
        </p:nvCxnSpPr>
        <p:spPr>
          <a:xfrm>
            <a:off x="233316" y="563458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PA_直接连接符 19"/>
          <p:cNvCxnSpPr/>
          <p:nvPr>
            <p:custDataLst>
              <p:tags r:id="rId13"/>
            </p:custDataLst>
          </p:nvPr>
        </p:nvCxnSpPr>
        <p:spPr>
          <a:xfrm>
            <a:off x="233313" y="2610586"/>
            <a:ext cx="5558280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PA_直接连接符 20"/>
          <p:cNvCxnSpPr/>
          <p:nvPr>
            <p:custDataLst>
              <p:tags r:id="rId14"/>
            </p:custDataLst>
          </p:nvPr>
        </p:nvCxnSpPr>
        <p:spPr>
          <a:xfrm>
            <a:off x="233315" y="508429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PA_淘宝网chenying0907出品 21"/>
          <p:cNvSpPr txBox="1"/>
          <p:nvPr>
            <p:custDataLst>
              <p:tags r:id="rId15"/>
            </p:custDataLst>
          </p:nvPr>
        </p:nvSpPr>
        <p:spPr>
          <a:xfrm>
            <a:off x="224082" y="2839378"/>
            <a:ext cx="5538137" cy="198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5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第四章 组合逻辑电路</a:t>
            </a:r>
            <a:endParaRPr lang="en-US" altLang="zh-CN" sz="45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endParaRPr lang="en-US" altLang="zh-CN" sz="1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  4.4 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常用组合逻辑电路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  4.5 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竞争与险象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" name="PA_淘宝网chenying0907出品 23"/>
          <p:cNvSpPr txBox="1"/>
          <p:nvPr>
            <p:custDataLst>
              <p:tags r:id="rId16"/>
            </p:custDataLst>
          </p:nvPr>
        </p:nvSpPr>
        <p:spPr>
          <a:xfrm>
            <a:off x="1175493" y="5204176"/>
            <a:ext cx="22103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武汉大学计算机学院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PA_淘宝网chenying0907出品 25"/>
          <p:cNvSpPr txBox="1"/>
          <p:nvPr>
            <p:custDataLst>
              <p:tags r:id="rId17"/>
            </p:custDataLst>
          </p:nvPr>
        </p:nvSpPr>
        <p:spPr>
          <a:xfrm>
            <a:off x="1055997" y="477658"/>
            <a:ext cx="20856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     武汉大学</a:t>
            </a:r>
            <a:endParaRPr lang="en-US" altLang="zh-CN" sz="20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r>
              <a:rPr lang="en-US" altLang="zh-CN" sz="20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   Wuhan University</a:t>
            </a:r>
            <a:endParaRPr lang="zh-CN" altLang="en-US" sz="20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50" y="52963"/>
            <a:ext cx="1211379" cy="1211379"/>
          </a:xfrm>
          <a:prstGeom prst="rect">
            <a:avLst/>
          </a:prstGeom>
        </p:spPr>
      </p:pic>
      <p:sp>
        <p:nvSpPr>
          <p:cNvPr id="27" name="PA_淘宝网chenying0907出品 22"/>
          <p:cNvSpPr txBox="1"/>
          <p:nvPr>
            <p:custDataLst>
              <p:tags r:id="rId19"/>
            </p:custDataLst>
          </p:nvPr>
        </p:nvSpPr>
        <p:spPr>
          <a:xfrm>
            <a:off x="3278669" y="5204176"/>
            <a:ext cx="2371613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2023-2024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第二学期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淘宝网chenying0907出品 10"/>
          <p:cNvSpPr txBox="1"/>
          <p:nvPr/>
        </p:nvSpPr>
        <p:spPr>
          <a:xfrm>
            <a:off x="1194211" y="3078793"/>
            <a:ext cx="1831157" cy="761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  <a:r>
              <a:rPr lang="en-US" altLang="zh-CN" sz="1350" b="1" dirty="0">
                <a:solidFill>
                  <a:schemeClr val="accent1">
                    <a:lumMod val="50000"/>
                  </a:schemeClr>
                </a:solidFill>
              </a:rPr>
              <a:t> Main Content</a:t>
            </a:r>
            <a:endParaRPr lang="zh-CN" altLang="en-US" sz="135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淘宝网chenying0907出品 11"/>
          <p:cNvSpPr/>
          <p:nvPr/>
        </p:nvSpPr>
        <p:spPr>
          <a:xfrm>
            <a:off x="2917715" y="0"/>
            <a:ext cx="623236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cxnSp>
        <p:nvCxnSpPr>
          <p:cNvPr id="16" name="直接连接符 15"/>
          <p:cNvCxnSpPr/>
          <p:nvPr/>
        </p:nvCxnSpPr>
        <p:spPr>
          <a:xfrm flipH="1">
            <a:off x="2911640" y="0"/>
            <a:ext cx="2651081" cy="152494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>
            <a:endCxn id="12" idx="2"/>
          </p:cNvCxnSpPr>
          <p:nvPr/>
        </p:nvCxnSpPr>
        <p:spPr>
          <a:xfrm flipH="1">
            <a:off x="6033895" y="5086744"/>
            <a:ext cx="3116180" cy="177125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淘宝网chenying0907出品 20"/>
          <p:cNvSpPr txBox="1"/>
          <p:nvPr/>
        </p:nvSpPr>
        <p:spPr>
          <a:xfrm>
            <a:off x="4125505" y="2004144"/>
            <a:ext cx="35265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>
                <a:solidFill>
                  <a:schemeClr val="bg1"/>
                </a:solidFill>
              </a:rPr>
              <a:t>数据选择器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17" name="淘宝网chenying0907出品 29"/>
          <p:cNvSpPr txBox="1"/>
          <p:nvPr/>
        </p:nvSpPr>
        <p:spPr>
          <a:xfrm>
            <a:off x="4125505" y="4266614"/>
            <a:ext cx="3330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竞争和险象</a:t>
            </a:r>
            <a:endParaRPr lang="zh-CN" altLang="en-US" dirty="0"/>
          </a:p>
        </p:txBody>
      </p:sp>
      <p:sp>
        <p:nvSpPr>
          <p:cNvPr id="8" name="淘宝网chenying0907出品 20"/>
          <p:cNvSpPr txBox="1"/>
          <p:nvPr/>
        </p:nvSpPr>
        <p:spPr>
          <a:xfrm>
            <a:off x="4125505" y="2758301"/>
            <a:ext cx="35265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/>
              <a:t>数据分配器</a:t>
            </a:r>
            <a:endParaRPr lang="zh-CN" altLang="en-US" sz="2800" dirty="0"/>
          </a:p>
        </p:txBody>
      </p:sp>
      <p:sp>
        <p:nvSpPr>
          <p:cNvPr id="9" name="淘宝网chenying0907出品 20"/>
          <p:cNvSpPr txBox="1"/>
          <p:nvPr/>
        </p:nvSpPr>
        <p:spPr>
          <a:xfrm>
            <a:off x="4125505" y="3512457"/>
            <a:ext cx="35265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/>
              <a:t>数值比较器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矩形 375811"/>
          <p:cNvSpPr>
            <a:spLocks noChangeArrowheads="1"/>
          </p:cNvSpPr>
          <p:nvPr/>
        </p:nvSpPr>
        <p:spPr bwMode="auto">
          <a:xfrm>
            <a:off x="525511" y="979358"/>
            <a:ext cx="7765267" cy="941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defTabSz="914400"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</a:rPr>
              <a:t>定义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</a:rPr>
              <a:t>: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</a:rPr>
              <a:t>能从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</a:rPr>
              <a:t>多个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</a:rPr>
              <a:t>数据信号中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</a:rPr>
              <a:t>选择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</a:rPr>
              <a:t>一个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</a:rPr>
              <a:t>数据信号传送到输出</a:t>
            </a:r>
            <a:endParaRPr lang="zh-CN" altLang="en-US" sz="2400" b="1" dirty="0">
              <a:solidFill>
                <a:srgbClr val="000000"/>
              </a:solidFill>
              <a:latin typeface="黑体" panose="02010609060101010101" pitchFamily="49" charset="-122"/>
            </a:endParaRPr>
          </a:p>
          <a:p>
            <a:pPr defTabSz="91440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</a:rPr>
              <a:t>     端的电路。</a:t>
            </a:r>
            <a:endParaRPr lang="zh-CN" altLang="en-US" sz="2400" b="1" dirty="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  <p:sp>
        <p:nvSpPr>
          <p:cNvPr id="71" name="矩形 375812"/>
          <p:cNvSpPr>
            <a:spLocks noChangeArrowheads="1"/>
          </p:cNvSpPr>
          <p:nvPr/>
        </p:nvSpPr>
        <p:spPr bwMode="auto">
          <a:xfrm>
            <a:off x="525511" y="2214509"/>
            <a:ext cx="3672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defTabSz="914400"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</a:rPr>
              <a:t>输入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</a:rPr>
              <a:t>: </a:t>
            </a:r>
            <a:r>
              <a:rPr lang="en-US" altLang="zh-CN" sz="2400" b="1" dirty="0">
                <a:solidFill>
                  <a:srgbClr val="000000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sz="2400" b="1" baseline="30000" dirty="0">
                <a:solidFill>
                  <a:srgbClr val="000000"/>
                </a:solidFill>
                <a:cs typeface="Times New Roman" panose="02020603050405020304" pitchFamily="18" charset="0"/>
              </a:rPr>
              <a:t>n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</a:rPr>
              <a:t>路数据和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</a:rPr>
              <a:t>n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</a:rPr>
              <a:t>位地址</a:t>
            </a:r>
            <a:endParaRPr lang="zh-CN" altLang="en-US" sz="2400" b="1" dirty="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  <p:sp>
        <p:nvSpPr>
          <p:cNvPr id="72" name="矩形 375813"/>
          <p:cNvSpPr>
            <a:spLocks noChangeArrowheads="1"/>
          </p:cNvSpPr>
          <p:nvPr/>
        </p:nvSpPr>
        <p:spPr bwMode="auto">
          <a:xfrm>
            <a:off x="525511" y="2824109"/>
            <a:ext cx="218521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defTabSz="914400"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</a:rPr>
              <a:t>输出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</a:rPr>
              <a:t>: 1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</a:rPr>
              <a:t>位数据</a:t>
            </a:r>
            <a:endParaRPr lang="zh-CN" altLang="en-US" sz="2400" b="1" dirty="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  <p:sp>
        <p:nvSpPr>
          <p:cNvPr id="73" name="圆角矩形标注 375814"/>
          <p:cNvSpPr>
            <a:spLocks noChangeArrowheads="1"/>
          </p:cNvSpPr>
          <p:nvPr/>
        </p:nvSpPr>
        <p:spPr bwMode="auto">
          <a:xfrm>
            <a:off x="4846640" y="2442410"/>
            <a:ext cx="3645468" cy="920568"/>
          </a:xfrm>
          <a:prstGeom prst="wedgeRoundRectCallout">
            <a:avLst>
              <a:gd name="adj1" fmla="val -74026"/>
              <a:gd name="adj2" fmla="val -37094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</a:rPr>
              <a:t>地址码（控制信号）：控制选择哪一路数据信号。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</a:endParaRPr>
          </a:p>
        </p:txBody>
      </p:sp>
      <p:grpSp>
        <p:nvGrpSpPr>
          <p:cNvPr id="75" name="组合 375816"/>
          <p:cNvGrpSpPr/>
          <p:nvPr/>
        </p:nvGrpSpPr>
        <p:grpSpPr bwMode="auto">
          <a:xfrm>
            <a:off x="1786731" y="3690185"/>
            <a:ext cx="3200400" cy="2800350"/>
            <a:chOff x="0" y="0"/>
            <a:chExt cx="2340" cy="2100"/>
          </a:xfrm>
        </p:grpSpPr>
        <p:sp>
          <p:nvSpPr>
            <p:cNvPr id="76" name="矩形 375817"/>
            <p:cNvSpPr>
              <a:spLocks noChangeArrowheads="1"/>
            </p:cNvSpPr>
            <p:nvPr/>
          </p:nvSpPr>
          <p:spPr bwMode="auto">
            <a:xfrm>
              <a:off x="972" y="720"/>
              <a:ext cx="888" cy="1380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pSp>
          <p:nvGrpSpPr>
            <p:cNvPr id="78" name="组合 375818"/>
            <p:cNvGrpSpPr/>
            <p:nvPr/>
          </p:nvGrpSpPr>
          <p:grpSpPr bwMode="auto">
            <a:xfrm>
              <a:off x="492" y="960"/>
              <a:ext cx="984" cy="84"/>
              <a:chOff x="0" y="0"/>
              <a:chExt cx="984" cy="84"/>
            </a:xfrm>
          </p:grpSpPr>
          <p:sp>
            <p:nvSpPr>
              <p:cNvPr id="104" name="椭圆 375819"/>
              <p:cNvSpPr>
                <a:spLocks noChangeArrowheads="1"/>
              </p:cNvSpPr>
              <p:nvPr/>
            </p:nvSpPr>
            <p:spPr bwMode="auto">
              <a:xfrm>
                <a:off x="900" y="0"/>
                <a:ext cx="84" cy="84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105" name="直接连接符 375820"/>
              <p:cNvSpPr>
                <a:spLocks noChangeShapeType="1"/>
              </p:cNvSpPr>
              <p:nvPr/>
            </p:nvSpPr>
            <p:spPr bwMode="auto">
              <a:xfrm flipH="1">
                <a:off x="0" y="48"/>
                <a:ext cx="90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79" name="组合 375821"/>
            <p:cNvGrpSpPr/>
            <p:nvPr/>
          </p:nvGrpSpPr>
          <p:grpSpPr bwMode="auto">
            <a:xfrm>
              <a:off x="482" y="1219"/>
              <a:ext cx="742" cy="84"/>
              <a:chOff x="0" y="0"/>
              <a:chExt cx="742" cy="84"/>
            </a:xfrm>
          </p:grpSpPr>
          <p:sp>
            <p:nvSpPr>
              <p:cNvPr id="102" name="椭圆 375822"/>
              <p:cNvSpPr>
                <a:spLocks noChangeArrowheads="1"/>
              </p:cNvSpPr>
              <p:nvPr/>
            </p:nvSpPr>
            <p:spPr bwMode="auto">
              <a:xfrm>
                <a:off x="658" y="0"/>
                <a:ext cx="84" cy="84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103" name="直接连接符 375823"/>
              <p:cNvSpPr>
                <a:spLocks noChangeShapeType="1"/>
              </p:cNvSpPr>
              <p:nvPr/>
            </p:nvSpPr>
            <p:spPr bwMode="auto">
              <a:xfrm flipH="1">
                <a:off x="0" y="53"/>
                <a:ext cx="646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80" name="组合 375824"/>
            <p:cNvGrpSpPr/>
            <p:nvPr/>
          </p:nvGrpSpPr>
          <p:grpSpPr bwMode="auto">
            <a:xfrm>
              <a:off x="494" y="1507"/>
              <a:ext cx="730" cy="84"/>
              <a:chOff x="0" y="0"/>
              <a:chExt cx="730" cy="84"/>
            </a:xfrm>
          </p:grpSpPr>
          <p:sp>
            <p:nvSpPr>
              <p:cNvPr id="100" name="椭圆 375825"/>
              <p:cNvSpPr>
                <a:spLocks noChangeArrowheads="1"/>
              </p:cNvSpPr>
              <p:nvPr/>
            </p:nvSpPr>
            <p:spPr bwMode="auto">
              <a:xfrm>
                <a:off x="646" y="0"/>
                <a:ext cx="84" cy="84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101" name="直接连接符 375826"/>
              <p:cNvSpPr>
                <a:spLocks noChangeShapeType="1"/>
              </p:cNvSpPr>
              <p:nvPr/>
            </p:nvSpPr>
            <p:spPr bwMode="auto">
              <a:xfrm flipH="1">
                <a:off x="0" y="53"/>
                <a:ext cx="646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81" name="组合 375827"/>
            <p:cNvGrpSpPr/>
            <p:nvPr/>
          </p:nvGrpSpPr>
          <p:grpSpPr bwMode="auto">
            <a:xfrm>
              <a:off x="494" y="1764"/>
              <a:ext cx="982" cy="84"/>
              <a:chOff x="0" y="0"/>
              <a:chExt cx="982" cy="84"/>
            </a:xfrm>
          </p:grpSpPr>
          <p:sp>
            <p:nvSpPr>
              <p:cNvPr id="98" name="椭圆 375828"/>
              <p:cNvSpPr>
                <a:spLocks noChangeArrowheads="1"/>
              </p:cNvSpPr>
              <p:nvPr/>
            </p:nvSpPr>
            <p:spPr bwMode="auto">
              <a:xfrm>
                <a:off x="898" y="0"/>
                <a:ext cx="84" cy="84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99" name="直接连接符 375829"/>
              <p:cNvSpPr>
                <a:spLocks noChangeShapeType="1"/>
              </p:cNvSpPr>
              <p:nvPr/>
            </p:nvSpPr>
            <p:spPr bwMode="auto">
              <a:xfrm flipH="1">
                <a:off x="0" y="43"/>
                <a:ext cx="886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82" name="椭圆 375830"/>
            <p:cNvSpPr>
              <a:spLocks noChangeArrowheads="1"/>
            </p:cNvSpPr>
            <p:nvPr/>
          </p:nvSpPr>
          <p:spPr bwMode="auto">
            <a:xfrm>
              <a:off x="1536" y="1344"/>
              <a:ext cx="84" cy="84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rou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83" name="直接连接符 375831"/>
            <p:cNvSpPr>
              <a:spLocks noChangeShapeType="1"/>
            </p:cNvSpPr>
            <p:nvPr/>
          </p:nvSpPr>
          <p:spPr bwMode="auto">
            <a:xfrm flipH="1" flipV="1">
              <a:off x="1452" y="1068"/>
              <a:ext cx="108" cy="26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84" name="直接连接符 375832"/>
            <p:cNvSpPr>
              <a:spLocks noChangeShapeType="1"/>
            </p:cNvSpPr>
            <p:nvPr/>
          </p:nvSpPr>
          <p:spPr bwMode="auto">
            <a:xfrm>
              <a:off x="1620" y="1392"/>
              <a:ext cx="720" cy="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85" name="椭圆 375833"/>
            <p:cNvSpPr>
              <a:spLocks noChangeArrowheads="1"/>
            </p:cNvSpPr>
            <p:nvPr/>
          </p:nvSpPr>
          <p:spPr bwMode="auto">
            <a:xfrm>
              <a:off x="422" y="1747"/>
              <a:ext cx="84" cy="84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rou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86" name="椭圆 375834"/>
            <p:cNvSpPr>
              <a:spLocks noChangeArrowheads="1"/>
            </p:cNvSpPr>
            <p:nvPr/>
          </p:nvSpPr>
          <p:spPr bwMode="auto">
            <a:xfrm>
              <a:off x="422" y="1512"/>
              <a:ext cx="84" cy="84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rou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87" name="椭圆 375835"/>
            <p:cNvSpPr>
              <a:spLocks noChangeArrowheads="1"/>
            </p:cNvSpPr>
            <p:nvPr/>
          </p:nvSpPr>
          <p:spPr bwMode="auto">
            <a:xfrm>
              <a:off x="422" y="1224"/>
              <a:ext cx="84" cy="84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rou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88" name="椭圆 375836"/>
            <p:cNvSpPr>
              <a:spLocks noChangeArrowheads="1"/>
            </p:cNvSpPr>
            <p:nvPr/>
          </p:nvSpPr>
          <p:spPr bwMode="auto">
            <a:xfrm>
              <a:off x="410" y="960"/>
              <a:ext cx="84" cy="84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rou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89" name="直接连接符 375837"/>
            <p:cNvSpPr>
              <a:spLocks noChangeShapeType="1"/>
            </p:cNvSpPr>
            <p:nvPr/>
          </p:nvSpPr>
          <p:spPr bwMode="auto">
            <a:xfrm flipV="1">
              <a:off x="1212" y="408"/>
              <a:ext cx="0" cy="31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90" name="直接连接符 375838"/>
            <p:cNvSpPr>
              <a:spLocks noChangeShapeType="1"/>
            </p:cNvSpPr>
            <p:nvPr/>
          </p:nvSpPr>
          <p:spPr bwMode="auto">
            <a:xfrm flipV="1">
              <a:off x="1572" y="408"/>
              <a:ext cx="0" cy="31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91" name="文本框 375839"/>
            <p:cNvSpPr txBox="1">
              <a:spLocks noChangeArrowheads="1"/>
            </p:cNvSpPr>
            <p:nvPr/>
          </p:nvSpPr>
          <p:spPr bwMode="auto">
            <a:xfrm>
              <a:off x="996" y="12"/>
              <a:ext cx="408" cy="3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8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r>
                <a:rPr kumimoji="0" lang="en-US" altLang="zh-CN" sz="2800" b="1" i="1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endParaRPr kumimoji="0" lang="en-US" altLang="zh-CN" sz="32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2" name="文本框 375840"/>
            <p:cNvSpPr txBox="1">
              <a:spLocks noChangeArrowheads="1"/>
            </p:cNvSpPr>
            <p:nvPr/>
          </p:nvSpPr>
          <p:spPr bwMode="auto">
            <a:xfrm>
              <a:off x="1380" y="0"/>
              <a:ext cx="420" cy="3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8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r>
                <a:rPr kumimoji="0" lang="en-US" altLang="zh-CN" sz="2800" b="1" i="1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kumimoji="0" lang="en-US" altLang="zh-CN" sz="32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3" name="文本框 375841"/>
            <p:cNvSpPr txBox="1">
              <a:spLocks noChangeArrowheads="1"/>
            </p:cNvSpPr>
            <p:nvPr/>
          </p:nvSpPr>
          <p:spPr bwMode="auto">
            <a:xfrm>
              <a:off x="0" y="840"/>
              <a:ext cx="564" cy="3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D</a:t>
              </a:r>
              <a:r>
                <a:rPr kumimoji="0" lang="en-US" altLang="zh-CN" sz="2400" b="1" i="1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3</a:t>
              </a:r>
              <a:endParaRPr kumimoji="0" lang="en-US" altLang="zh-CN" sz="32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4" name="文本框 375842"/>
            <p:cNvSpPr txBox="1">
              <a:spLocks noChangeArrowheads="1"/>
            </p:cNvSpPr>
            <p:nvPr/>
          </p:nvSpPr>
          <p:spPr bwMode="auto">
            <a:xfrm>
              <a:off x="14" y="1104"/>
              <a:ext cx="564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D</a:t>
              </a:r>
              <a:r>
                <a:rPr kumimoji="0" lang="en-US" altLang="zh-CN" sz="2400" b="1" i="1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endParaRPr kumimoji="0" lang="en-US" altLang="zh-CN" sz="32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5" name="文本框 375843"/>
            <p:cNvSpPr txBox="1">
              <a:spLocks noChangeArrowheads="1"/>
            </p:cNvSpPr>
            <p:nvPr/>
          </p:nvSpPr>
          <p:spPr bwMode="auto">
            <a:xfrm>
              <a:off x="26" y="1404"/>
              <a:ext cx="564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D</a:t>
              </a:r>
              <a:r>
                <a:rPr kumimoji="0" lang="en-US" altLang="zh-CN" sz="2400" b="1" i="1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kumimoji="0" lang="en-US" altLang="zh-CN" sz="32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6" name="文本框 375844"/>
            <p:cNvSpPr txBox="1">
              <a:spLocks noChangeArrowheads="1"/>
            </p:cNvSpPr>
            <p:nvPr/>
          </p:nvSpPr>
          <p:spPr bwMode="auto">
            <a:xfrm>
              <a:off x="38" y="1675"/>
              <a:ext cx="407" cy="3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D</a:t>
              </a:r>
              <a:r>
                <a:rPr kumimoji="0" lang="en-US" altLang="zh-CN" sz="2400" b="1" i="1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endParaRPr kumimoji="0" lang="en-US" altLang="zh-CN" sz="32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7" name="文本框 375845"/>
            <p:cNvSpPr txBox="1">
              <a:spLocks noChangeArrowheads="1"/>
            </p:cNvSpPr>
            <p:nvPr/>
          </p:nvSpPr>
          <p:spPr bwMode="auto">
            <a:xfrm>
              <a:off x="1911" y="1051"/>
              <a:ext cx="405" cy="3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W</a:t>
              </a:r>
              <a:endParaRPr kumimoji="0" lang="en-US" altLang="zh-CN" sz="32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106" name="文本框 375846"/>
          <p:cNvSpPr txBox="1">
            <a:spLocks noChangeArrowheads="1"/>
          </p:cNvSpPr>
          <p:nvPr/>
        </p:nvSpPr>
        <p:spPr bwMode="auto">
          <a:xfrm>
            <a:off x="3138520" y="3314350"/>
            <a:ext cx="1169726" cy="461665"/>
          </a:xfrm>
          <a:prstGeom prst="rect">
            <a:avLst/>
          </a:prstGeom>
          <a:noFill/>
          <a:ln w="38100">
            <a:solidFill>
              <a:srgbClr val="CC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地址码</a:t>
            </a:r>
            <a:endParaRPr lang="zh-CN" altLang="en-US" sz="24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107" name="文本框 375847"/>
          <p:cNvSpPr txBox="1">
            <a:spLocks noChangeArrowheads="1"/>
          </p:cNvSpPr>
          <p:nvPr/>
        </p:nvSpPr>
        <p:spPr bwMode="auto">
          <a:xfrm>
            <a:off x="1176377" y="4728410"/>
            <a:ext cx="553998" cy="1477963"/>
          </a:xfrm>
          <a:prstGeom prst="rect">
            <a:avLst/>
          </a:prstGeom>
          <a:noFill/>
          <a:ln w="38100">
            <a:solidFill>
              <a:srgbClr val="CC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输入信号</a:t>
            </a:r>
            <a:endParaRPr lang="zh-CN" altLang="en-US" sz="24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108" name="文本框 375848"/>
          <p:cNvSpPr txBox="1">
            <a:spLocks noChangeArrowheads="1"/>
          </p:cNvSpPr>
          <p:nvPr/>
        </p:nvSpPr>
        <p:spPr bwMode="auto">
          <a:xfrm>
            <a:off x="5138777" y="4804610"/>
            <a:ext cx="553998" cy="1504950"/>
          </a:xfrm>
          <a:prstGeom prst="rect">
            <a:avLst/>
          </a:prstGeom>
          <a:noFill/>
          <a:ln w="38100">
            <a:solidFill>
              <a:srgbClr val="CC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输出信号</a:t>
            </a:r>
            <a:endParaRPr lang="zh-CN" altLang="en-US" sz="24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109" name="圆角矩形 375849"/>
          <p:cNvSpPr>
            <a:spLocks noChangeArrowheads="1"/>
          </p:cNvSpPr>
          <p:nvPr/>
        </p:nvSpPr>
        <p:spPr bwMode="auto">
          <a:xfrm>
            <a:off x="6133063" y="3965553"/>
            <a:ext cx="2621552" cy="2438589"/>
          </a:xfrm>
          <a:prstGeom prst="roundRect">
            <a:avLst>
              <a:gd name="adj" fmla="val 16667"/>
            </a:avLst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 defTabSz="914400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</a:rPr>
              <a:t>数据选择器类似一个多掷开关。输入数据中编号与地址码相同的那一路数据被选中输出。</a:t>
            </a:r>
            <a:endParaRPr lang="zh-CN" altLang="en-US" sz="2400" b="1" kern="0" dirty="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  <p:cxnSp>
        <p:nvCxnSpPr>
          <p:cNvPr id="46" name="直接连接符 45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淘宝网chenying0907出品 6"/>
          <p:cNvSpPr txBox="1"/>
          <p:nvPr/>
        </p:nvSpPr>
        <p:spPr>
          <a:xfrm>
            <a:off x="1528823" y="0"/>
            <a:ext cx="5200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4.4.4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数据选择器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2" name="矩形标注 1"/>
          <p:cNvSpPr/>
          <p:nvPr/>
        </p:nvSpPr>
        <p:spPr>
          <a:xfrm>
            <a:off x="3202587" y="1551056"/>
            <a:ext cx="3902607" cy="476888"/>
          </a:xfrm>
          <a:prstGeom prst="wedgeRectCallout">
            <a:avLst>
              <a:gd name="adj1" fmla="val -84582"/>
              <a:gd name="adj2" fmla="val 113875"/>
            </a:avLst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/>
          <a:p>
            <a:pPr algn="just" defTabSz="914400"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每一路输入数据有一个编号</a:t>
            </a:r>
            <a:endParaRPr lang="zh-CN" altLang="en-US" sz="24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71" grpId="0"/>
      <p:bldP spid="72" grpId="0"/>
      <p:bldP spid="73" grpId="0" animBg="1"/>
      <p:bldP spid="106" grpId="0" animBg="1"/>
      <p:bldP spid="107" grpId="0" animBg="1"/>
      <p:bldP spid="108" grpId="0" animBg="1"/>
      <p:bldP spid="109" grpId="0" animBg="1"/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标题 377857"/>
          <p:cNvSpPr txBox="1">
            <a:spLocks noChangeArrowheads="1"/>
          </p:cNvSpPr>
          <p:nvPr/>
        </p:nvSpPr>
        <p:spPr bwMode="auto">
          <a:xfrm>
            <a:off x="99917" y="749346"/>
            <a:ext cx="2857811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/>
                <a:ea typeface="宋体" panose="02010600030101010101" pitchFamily="2" charset="-122"/>
                <a:cs typeface="+mj-cs"/>
              </a:rPr>
              <a:t>4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/>
                <a:ea typeface="宋体" panose="02010600030101010101" pitchFamily="2" charset="-122"/>
                <a:cs typeface="+mj-cs"/>
              </a:rPr>
              <a:t>选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/>
                <a:ea typeface="宋体" panose="02010600030101010101" pitchFamily="2" charset="-122"/>
                <a:cs typeface="+mj-cs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/>
                <a:ea typeface="宋体" panose="02010600030101010101" pitchFamily="2" charset="-122"/>
                <a:cs typeface="+mj-cs"/>
              </a:rPr>
              <a:t>数据选择器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Garamond" panose="02020404030301010803"/>
              <a:ea typeface="宋体" panose="02010600030101010101" pitchFamily="2" charset="-122"/>
              <a:cs typeface="+mj-cs"/>
            </a:endParaRPr>
          </a:p>
        </p:txBody>
      </p:sp>
      <p:sp>
        <p:nvSpPr>
          <p:cNvPr id="42" name="文本框 377858"/>
          <p:cNvSpPr txBox="1">
            <a:spLocks noChangeArrowheads="1"/>
          </p:cNvSpPr>
          <p:nvPr/>
        </p:nvSpPr>
        <p:spPr bwMode="auto">
          <a:xfrm>
            <a:off x="616892" y="1718311"/>
            <a:ext cx="4256992" cy="193899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defTabSz="914400" fontAlgn="base"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2B56F5"/>
                </a:solidFill>
                <a:ea typeface="宋体" panose="02010600030101010101" pitchFamily="2" charset="-122"/>
              </a:rPr>
              <a:t>输入数据</a:t>
            </a:r>
            <a:r>
              <a:rPr lang="en-US" altLang="zh-CN" sz="2400" b="1" dirty="0">
                <a:solidFill>
                  <a:srgbClr val="2B56F5"/>
                </a:solidFill>
                <a:ea typeface="宋体" panose="02010600030101010101" pitchFamily="2" charset="-122"/>
              </a:rPr>
              <a:t>: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  </a:t>
            </a:r>
            <a:r>
              <a:rPr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D3</a:t>
            </a:r>
            <a:r>
              <a:rPr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D2</a:t>
            </a:r>
            <a:r>
              <a:rPr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D1</a:t>
            </a:r>
            <a:r>
              <a:rPr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D0</a:t>
            </a:r>
            <a:endParaRPr lang="en-US" altLang="zh-CN" sz="2400" b="1" dirty="0">
              <a:solidFill>
                <a:srgbClr val="000000"/>
              </a:solidFill>
              <a:ea typeface="楷体_GB2312" pitchFamily="49" charset="-122"/>
            </a:endParaRPr>
          </a:p>
          <a:p>
            <a:pPr defTabSz="914400" fontAlgn="base"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2B56F5"/>
                </a:solidFill>
                <a:ea typeface="宋体" panose="02010600030101010101" pitchFamily="2" charset="-122"/>
              </a:rPr>
              <a:t>控制地址：</a:t>
            </a:r>
            <a:r>
              <a:rPr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A1</a:t>
            </a:r>
            <a:r>
              <a:rPr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A0</a:t>
            </a:r>
            <a:endParaRPr lang="zh-CN" altLang="en-US" sz="2400" b="1" dirty="0">
              <a:solidFill>
                <a:srgbClr val="000000"/>
              </a:solidFill>
              <a:ea typeface="楷体_GB2312" pitchFamily="49" charset="-122"/>
            </a:endParaRPr>
          </a:p>
          <a:p>
            <a:pPr defTabSz="914400" fontAlgn="base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2B56F5"/>
                </a:solidFill>
                <a:ea typeface="宋体" panose="02010600030101010101" pitchFamily="2" charset="-122"/>
              </a:rPr>
              <a:t>输出数据：</a:t>
            </a:r>
            <a:r>
              <a:rPr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F</a:t>
            </a:r>
            <a:endParaRPr lang="en-US" altLang="zh-CN" sz="2400" b="1" dirty="0">
              <a:solidFill>
                <a:srgbClr val="000000"/>
              </a:solidFill>
              <a:ea typeface="楷体_GB2312" pitchFamily="49" charset="-122"/>
            </a:endParaRPr>
          </a:p>
          <a:p>
            <a:pPr defTabSz="914400" fontAlgn="base"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2B56F5"/>
                </a:solidFill>
                <a:ea typeface="宋体" panose="02010600030101010101" pitchFamily="2" charset="-122"/>
              </a:rPr>
              <a:t>功能：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</a:rPr>
              <a:t>根据输入地址，选择输入数据中的一个，送到输出端</a:t>
            </a:r>
            <a:endParaRPr lang="zh-CN" altLang="en-US" sz="2400" b="1" dirty="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  <p:sp>
        <p:nvSpPr>
          <p:cNvPr id="43" name="矩形 377859"/>
          <p:cNvSpPr>
            <a:spLocks noChangeArrowheads="1"/>
          </p:cNvSpPr>
          <p:nvPr/>
        </p:nvSpPr>
        <p:spPr bwMode="auto">
          <a:xfrm>
            <a:off x="6141891" y="1078446"/>
            <a:ext cx="1175544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defTabSz="914400"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FF0000"/>
                </a:solidFill>
                <a:ea typeface="宋体" panose="02010600030101010101" pitchFamily="2" charset="-122"/>
              </a:rPr>
              <a:t>真值表</a:t>
            </a:r>
            <a:endParaRPr lang="zh-CN" altLang="en-US" sz="2400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grpSp>
        <p:nvGrpSpPr>
          <p:cNvPr id="44" name="组合 377860"/>
          <p:cNvGrpSpPr/>
          <p:nvPr/>
        </p:nvGrpSpPr>
        <p:grpSpPr bwMode="auto">
          <a:xfrm>
            <a:off x="5872477" y="1592329"/>
            <a:ext cx="1776413" cy="2382838"/>
            <a:chOff x="0" y="0"/>
            <a:chExt cx="1119" cy="1501"/>
          </a:xfrm>
        </p:grpSpPr>
        <p:sp>
          <p:nvSpPr>
            <p:cNvPr id="45" name="矩形 377861"/>
            <p:cNvSpPr>
              <a:spLocks noChangeArrowheads="1"/>
            </p:cNvSpPr>
            <p:nvPr/>
          </p:nvSpPr>
          <p:spPr bwMode="auto">
            <a:xfrm>
              <a:off x="0" y="0"/>
              <a:ext cx="1119" cy="1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457200" marR="0" lvl="0" indent="-45720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A1 A0    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F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457200" marR="0" lvl="0" indent="-457200" defTabSz="91440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0    0     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D0 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marL="457200" marR="0" lvl="0" indent="-457200" defTabSz="91440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0    1     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D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457200" marR="0" lvl="0" indent="-457200" defTabSz="91440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1    0     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D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457200" marR="0" lvl="0" indent="-457200" defTabSz="91440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1    1     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D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" name="直接连接符 377862"/>
            <p:cNvSpPr>
              <a:spLocks noChangeShapeType="1"/>
            </p:cNvSpPr>
            <p:nvPr/>
          </p:nvSpPr>
          <p:spPr bwMode="auto">
            <a:xfrm flipV="1">
              <a:off x="48" y="300"/>
              <a:ext cx="966" cy="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7" name="直接连接符 377863"/>
            <p:cNvSpPr>
              <a:spLocks noChangeShapeType="1"/>
            </p:cNvSpPr>
            <p:nvPr/>
          </p:nvSpPr>
          <p:spPr bwMode="auto">
            <a:xfrm flipV="1">
              <a:off x="690" y="61"/>
              <a:ext cx="0" cy="144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sp>
        <p:nvSpPr>
          <p:cNvPr id="49" name="矩形 377865"/>
          <p:cNvSpPr>
            <a:spLocks noChangeArrowheads="1"/>
          </p:cNvSpPr>
          <p:nvPr/>
        </p:nvSpPr>
        <p:spPr bwMode="auto">
          <a:xfrm>
            <a:off x="310611" y="4959236"/>
            <a:ext cx="12715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defTabSz="914400"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FF0000"/>
                </a:solidFill>
                <a:ea typeface="宋体" panose="02010600030101010101" pitchFamily="2" charset="-122"/>
              </a:rPr>
              <a:t>表达式：</a:t>
            </a:r>
            <a:endParaRPr lang="zh-CN" altLang="en-US" sz="2400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50" name="对象 377866"/>
          <p:cNvGraphicFramePr>
            <a:graphicFrameLocks noChangeAspect="1"/>
          </p:cNvGraphicFramePr>
          <p:nvPr/>
        </p:nvGraphicFramePr>
        <p:xfrm>
          <a:off x="1638284" y="4486932"/>
          <a:ext cx="6635662" cy="1711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74371200" imgH="22555200" progId="Equation.DSMT4">
                  <p:embed/>
                </p:oleObj>
              </mc:Choice>
              <mc:Fallback>
                <p:oleObj name="Equation" r:id="rId1" imgW="74371200" imgH="225552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8284" y="4486932"/>
                        <a:ext cx="6635662" cy="17113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" name="直接连接符 15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淘宝网chenying0907出品 6"/>
          <p:cNvSpPr txBox="1"/>
          <p:nvPr/>
        </p:nvSpPr>
        <p:spPr>
          <a:xfrm>
            <a:off x="1528823" y="0"/>
            <a:ext cx="5200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4.4.4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数据选择器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/>
      <p:bldP spid="4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377857"/>
          <p:cNvSpPr txBox="1">
            <a:spLocks noChangeArrowheads="1"/>
          </p:cNvSpPr>
          <p:nvPr/>
        </p:nvSpPr>
        <p:spPr bwMode="auto">
          <a:xfrm>
            <a:off x="116343" y="757360"/>
            <a:ext cx="33519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/>
                <a:ea typeface="宋体" panose="02010600030101010101" pitchFamily="2" charset="-122"/>
                <a:cs typeface="+mj-cs"/>
              </a:rPr>
              <a:t>4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/>
                <a:ea typeface="宋体" panose="02010600030101010101" pitchFamily="2" charset="-122"/>
                <a:cs typeface="+mj-cs"/>
              </a:rPr>
              <a:t>选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/>
                <a:ea typeface="宋体" panose="02010600030101010101" pitchFamily="2" charset="-122"/>
                <a:cs typeface="+mj-cs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/>
                <a:ea typeface="宋体" panose="02010600030101010101" pitchFamily="2" charset="-122"/>
                <a:cs typeface="+mj-cs"/>
              </a:rPr>
              <a:t>数据选择器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Garamond" panose="02020404030301010803"/>
              <a:ea typeface="宋体" panose="02010600030101010101" pitchFamily="2" charset="-122"/>
              <a:cs typeface="+mj-cs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淘宝网chenying0907出品 6"/>
          <p:cNvSpPr txBox="1"/>
          <p:nvPr/>
        </p:nvSpPr>
        <p:spPr>
          <a:xfrm>
            <a:off x="1528823" y="0"/>
            <a:ext cx="5200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4.4.4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数据选择器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graphicFrame>
        <p:nvGraphicFramePr>
          <p:cNvPr id="13" name="对象 377866"/>
          <p:cNvGraphicFramePr>
            <a:graphicFrameLocks noChangeAspect="1"/>
          </p:cNvGraphicFramePr>
          <p:nvPr/>
        </p:nvGraphicFramePr>
        <p:xfrm>
          <a:off x="1016373" y="1398826"/>
          <a:ext cx="2136040" cy="8836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2" imgW="21336000" imgH="10363200" progId="Equation.DSMT4">
                  <p:embed/>
                </p:oleObj>
              </mc:Choice>
              <mc:Fallback>
                <p:oleObj name="Equation" r:id="rId2" imgW="21336000" imgH="103632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6373" y="1398826"/>
                        <a:ext cx="2136040" cy="8836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6677" y="2541080"/>
            <a:ext cx="5591216" cy="3790978"/>
          </a:xfrm>
          <a:prstGeom prst="rect">
            <a:avLst/>
          </a:prstGeom>
        </p:spPr>
      </p:pic>
      <p:grpSp>
        <p:nvGrpSpPr>
          <p:cNvPr id="265" name="Group 79"/>
          <p:cNvGrpSpPr/>
          <p:nvPr/>
        </p:nvGrpSpPr>
        <p:grpSpPr bwMode="auto">
          <a:xfrm>
            <a:off x="5874987" y="4369894"/>
            <a:ext cx="2820988" cy="1765300"/>
            <a:chOff x="3424" y="1528"/>
            <a:chExt cx="1777" cy="1112"/>
          </a:xfrm>
        </p:grpSpPr>
        <p:sp>
          <p:nvSpPr>
            <p:cNvPr id="266" name="Rectangle 80"/>
            <p:cNvSpPr>
              <a:spLocks noChangeArrowheads="1"/>
            </p:cNvSpPr>
            <p:nvPr/>
          </p:nvSpPr>
          <p:spPr bwMode="auto">
            <a:xfrm>
              <a:off x="3712" y="1868"/>
              <a:ext cx="1440" cy="5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Blip>
                  <a:blip r:embed="rId5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7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7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7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7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7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67" name="Text Box 81"/>
            <p:cNvSpPr txBox="1">
              <a:spLocks noChangeArrowheads="1"/>
            </p:cNvSpPr>
            <p:nvPr/>
          </p:nvSpPr>
          <p:spPr bwMode="auto">
            <a:xfrm>
              <a:off x="3687" y="1906"/>
              <a:ext cx="2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Blip>
                  <a:blip r:embed="rId5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7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7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7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7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7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 dirty="0">
                  <a:solidFill>
                    <a:srgbClr val="CC3300"/>
                  </a:solidFill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1600" b="1" dirty="0">
                  <a:solidFill>
                    <a:srgbClr val="CC3300"/>
                  </a:solidFill>
                  <a:latin typeface="Times New Roman" panose="02020603050405020304" pitchFamily="18" charset="0"/>
                </a:rPr>
                <a:t>1</a:t>
              </a:r>
              <a:endParaRPr kumimoji="1" lang="en-US" altLang="zh-CN" sz="2000" b="1" dirty="0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8" name="Text Box 82"/>
            <p:cNvSpPr txBox="1">
              <a:spLocks noChangeArrowheads="1"/>
            </p:cNvSpPr>
            <p:nvPr/>
          </p:nvSpPr>
          <p:spPr bwMode="auto">
            <a:xfrm>
              <a:off x="3704" y="2098"/>
              <a:ext cx="2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Blip>
                  <a:blip r:embed="rId5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7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7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7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7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7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solidFill>
                    <a:srgbClr val="CC3300"/>
                  </a:solidFill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1600" b="1">
                  <a:solidFill>
                    <a:srgbClr val="CC3300"/>
                  </a:solidFill>
                  <a:latin typeface="Times New Roman" panose="02020603050405020304" pitchFamily="18" charset="0"/>
                </a:rPr>
                <a:t>0</a:t>
              </a:r>
              <a:endParaRPr kumimoji="1" lang="en-US" altLang="zh-CN" sz="2000" b="1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9" name="Text Box 83"/>
            <p:cNvSpPr txBox="1">
              <a:spLocks noChangeArrowheads="1"/>
            </p:cNvSpPr>
            <p:nvPr/>
          </p:nvSpPr>
          <p:spPr bwMode="auto">
            <a:xfrm>
              <a:off x="4133" y="1958"/>
              <a:ext cx="60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Blip>
                  <a:blip r:embed="rId5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7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7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7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7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7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 dirty="0">
                  <a:latin typeface="Times New Roman" panose="02020603050405020304" pitchFamily="18" charset="0"/>
                </a:rPr>
                <a:t>四选一</a:t>
              </a:r>
              <a:endParaRPr kumimoji="1"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0" name="Text Box 84"/>
            <p:cNvSpPr txBox="1">
              <a:spLocks noChangeArrowheads="1"/>
            </p:cNvSpPr>
            <p:nvPr/>
          </p:nvSpPr>
          <p:spPr bwMode="auto">
            <a:xfrm>
              <a:off x="4178" y="2190"/>
              <a:ext cx="33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Blip>
                  <a:blip r:embed="rId5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7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7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7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7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7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 dirty="0">
                  <a:solidFill>
                    <a:srgbClr val="008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kumimoji="1" lang="en-US" altLang="zh-CN" sz="2000" b="1" dirty="0">
                  <a:solidFill>
                    <a:srgbClr val="008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en-US" altLang="zh-CN" sz="24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1" name="Text Box 85"/>
            <p:cNvSpPr txBox="1">
              <a:spLocks noChangeArrowheads="1"/>
            </p:cNvSpPr>
            <p:nvPr/>
          </p:nvSpPr>
          <p:spPr bwMode="auto">
            <a:xfrm>
              <a:off x="4414" y="2190"/>
              <a:ext cx="33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Blip>
                  <a:blip r:embed="rId5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7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7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7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7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7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 dirty="0">
                  <a:solidFill>
                    <a:srgbClr val="008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kumimoji="1" lang="en-US" altLang="zh-CN" sz="2000" b="1" dirty="0">
                  <a:solidFill>
                    <a:srgbClr val="008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en-US" altLang="zh-CN" sz="24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2" name="Text Box 86"/>
            <p:cNvSpPr txBox="1">
              <a:spLocks noChangeArrowheads="1"/>
            </p:cNvSpPr>
            <p:nvPr/>
          </p:nvSpPr>
          <p:spPr bwMode="auto">
            <a:xfrm>
              <a:off x="4654" y="2190"/>
              <a:ext cx="33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Blip>
                  <a:blip r:embed="rId5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7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7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7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7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7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 dirty="0">
                  <a:solidFill>
                    <a:srgbClr val="008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kumimoji="1" lang="en-US" altLang="zh-CN" sz="2000" b="1" dirty="0">
                  <a:solidFill>
                    <a:srgbClr val="008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en-US" altLang="zh-CN" sz="24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3" name="Text Box 87"/>
            <p:cNvSpPr txBox="1">
              <a:spLocks noChangeArrowheads="1"/>
            </p:cNvSpPr>
            <p:nvPr/>
          </p:nvSpPr>
          <p:spPr bwMode="auto">
            <a:xfrm>
              <a:off x="4864" y="2190"/>
              <a:ext cx="33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Blip>
                  <a:blip r:embed="rId5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7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7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7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7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7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 dirty="0">
                  <a:solidFill>
                    <a:srgbClr val="008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kumimoji="1" lang="en-US" altLang="zh-CN" sz="2000" b="1" dirty="0">
                  <a:solidFill>
                    <a:srgbClr val="008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kumimoji="1" lang="en-US" altLang="zh-CN" sz="24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4" name="Text Box 88"/>
            <p:cNvSpPr txBox="1">
              <a:spLocks noChangeArrowheads="1"/>
            </p:cNvSpPr>
            <p:nvPr/>
          </p:nvSpPr>
          <p:spPr bwMode="auto">
            <a:xfrm>
              <a:off x="3973" y="2242"/>
              <a:ext cx="20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Blip>
                  <a:blip r:embed="rId5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7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7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7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7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7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S</a:t>
              </a:r>
              <a:endParaRPr kumimoji="1"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75" name="Line 89"/>
            <p:cNvSpPr>
              <a:spLocks noChangeShapeType="1"/>
            </p:cNvSpPr>
            <p:nvPr/>
          </p:nvSpPr>
          <p:spPr bwMode="auto">
            <a:xfrm>
              <a:off x="3424" y="2012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" name="Line 90"/>
            <p:cNvSpPr>
              <a:spLocks noChangeShapeType="1"/>
            </p:cNvSpPr>
            <p:nvPr/>
          </p:nvSpPr>
          <p:spPr bwMode="auto">
            <a:xfrm>
              <a:off x="3424" y="223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7" name="Line 91"/>
            <p:cNvSpPr>
              <a:spLocks noChangeShapeType="1"/>
            </p:cNvSpPr>
            <p:nvPr/>
          </p:nvSpPr>
          <p:spPr bwMode="auto">
            <a:xfrm flipV="1">
              <a:off x="4384" y="16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8" name="Text Box 92"/>
            <p:cNvSpPr txBox="1">
              <a:spLocks noChangeArrowheads="1"/>
            </p:cNvSpPr>
            <p:nvPr/>
          </p:nvSpPr>
          <p:spPr bwMode="auto">
            <a:xfrm>
              <a:off x="4328" y="1528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Blip>
                  <a:blip r:embed="rId5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7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7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7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7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7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</a:rPr>
                <a:t>Y</a:t>
              </a:r>
              <a:endParaRPr kumimoji="1"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79" name="Line 93"/>
            <p:cNvSpPr>
              <a:spLocks noChangeShapeType="1"/>
            </p:cNvSpPr>
            <p:nvPr/>
          </p:nvSpPr>
          <p:spPr bwMode="auto">
            <a:xfrm>
              <a:off x="5008" y="244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0" name="Line 94"/>
            <p:cNvSpPr>
              <a:spLocks noChangeShapeType="1"/>
            </p:cNvSpPr>
            <p:nvPr/>
          </p:nvSpPr>
          <p:spPr bwMode="auto">
            <a:xfrm>
              <a:off x="4782" y="244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1" name="Line 95"/>
            <p:cNvSpPr>
              <a:spLocks noChangeShapeType="1"/>
            </p:cNvSpPr>
            <p:nvPr/>
          </p:nvSpPr>
          <p:spPr bwMode="auto">
            <a:xfrm>
              <a:off x="4556" y="244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2" name="Line 96"/>
            <p:cNvSpPr>
              <a:spLocks noChangeShapeType="1"/>
            </p:cNvSpPr>
            <p:nvPr/>
          </p:nvSpPr>
          <p:spPr bwMode="auto">
            <a:xfrm>
              <a:off x="4328" y="244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3" name="Line 97"/>
            <p:cNvSpPr>
              <a:spLocks noChangeShapeType="1"/>
            </p:cNvSpPr>
            <p:nvPr/>
          </p:nvSpPr>
          <p:spPr bwMode="auto">
            <a:xfrm>
              <a:off x="4048" y="244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5600" y="1041670"/>
            <a:ext cx="2409843" cy="28432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377857"/>
          <p:cNvSpPr txBox="1">
            <a:spLocks noChangeArrowheads="1"/>
          </p:cNvSpPr>
          <p:nvPr/>
        </p:nvSpPr>
        <p:spPr bwMode="auto">
          <a:xfrm>
            <a:off x="116343" y="757360"/>
            <a:ext cx="33519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/>
                <a:ea typeface="宋体" panose="02010600030101010101" pitchFamily="2" charset="-122"/>
                <a:cs typeface="+mj-cs"/>
              </a:rPr>
              <a:t>4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/>
                <a:ea typeface="宋体" panose="02010600030101010101" pitchFamily="2" charset="-122"/>
                <a:cs typeface="+mj-cs"/>
              </a:rPr>
              <a:t>选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/>
                <a:ea typeface="宋体" panose="02010600030101010101" pitchFamily="2" charset="-122"/>
                <a:cs typeface="+mj-cs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/>
                <a:ea typeface="宋体" panose="02010600030101010101" pitchFamily="2" charset="-122"/>
                <a:cs typeface="+mj-cs"/>
              </a:rPr>
              <a:t>数据选择器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Garamond" panose="02020404030301010803"/>
              <a:ea typeface="宋体" panose="02010600030101010101" pitchFamily="2" charset="-122"/>
              <a:cs typeface="+mj-cs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淘宝网chenying0907出品 6"/>
          <p:cNvSpPr txBox="1"/>
          <p:nvPr/>
        </p:nvSpPr>
        <p:spPr>
          <a:xfrm>
            <a:off x="1528823" y="0"/>
            <a:ext cx="5200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4.4.4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数据选择器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29" name="Rectangle 3"/>
          <p:cNvSpPr txBox="1">
            <a:spLocks noChangeArrowheads="1"/>
          </p:cNvSpPr>
          <p:nvPr/>
        </p:nvSpPr>
        <p:spPr bwMode="auto">
          <a:xfrm>
            <a:off x="1181457" y="1513503"/>
            <a:ext cx="6580005" cy="4799795"/>
          </a:xfrm>
          <a:prstGeom prst="rect">
            <a:avLst/>
          </a:prstGeom>
          <a:noFill/>
          <a:ln w="19050">
            <a:solidFill>
              <a:srgbClr val="170A8E"/>
            </a:solidFill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5B00B6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module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 mux4(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iD,iS,oQ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);   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5B00B6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    input [3:0]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iD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;          //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数据输入信号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5B00B6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    input [1:0]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iS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;           //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数据选择控制信号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5B00B6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    output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reg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oQ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;        //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输出信号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5B00B6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   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5B00B6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lang="en-US" altLang="zh-CN" sz="2400" b="1" kern="0" dirty="0">
                <a:solidFill>
                  <a:srgbClr val="000000"/>
                </a:solidFill>
                <a:effectLst/>
                <a:latin typeface="Arial" panose="020B0604020202020204"/>
                <a:ea typeface="宋体" panose="02010600030101010101" pitchFamily="2" charset="-122"/>
              </a:rPr>
              <a:t>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always@(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iD,iS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)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5B00B6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   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case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(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iS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)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5B00B6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           2'b00: 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oQ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=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iD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[0];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5B00B6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	       2'b01: 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oQ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=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iD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[1];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5B00B6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	       2'b10: 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oQ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=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iD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[2];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5B00B6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	       2'b11: 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oQ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=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iD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[3];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5B00B6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     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endcase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5B00B6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endmodule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标题 379907"/>
          <p:cNvSpPr txBox="1">
            <a:spLocks noChangeArrowheads="1"/>
          </p:cNvSpPr>
          <p:nvPr/>
        </p:nvSpPr>
        <p:spPr bwMode="auto">
          <a:xfrm>
            <a:off x="271622" y="821380"/>
            <a:ext cx="4816641" cy="531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R="0" lvl="0" indent="0" defTabSz="9144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400" b="1" i="0" u="none" strike="noStrike" cap="none" spc="0" normalizeH="0" baseline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/>
                <a:ea typeface="宋体" panose="02010600030101010101" pitchFamily="2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dirty="0"/>
              <a:t>8</a:t>
            </a:r>
            <a:r>
              <a:rPr lang="zh-CN" altLang="en-US" sz="2800" dirty="0"/>
              <a:t>选</a:t>
            </a:r>
            <a:r>
              <a:rPr lang="en-US" altLang="zh-CN" sz="2800" dirty="0"/>
              <a:t>1</a:t>
            </a:r>
            <a:r>
              <a:rPr lang="zh-CN" altLang="en-US" sz="2800" dirty="0"/>
              <a:t>数据选择器</a:t>
            </a:r>
            <a:r>
              <a:rPr lang="en-US" altLang="zh-CN" sz="2800" dirty="0"/>
              <a:t>74LS151</a:t>
            </a:r>
            <a:endParaRPr lang="zh-CN" altLang="en-US" sz="2800" dirty="0"/>
          </a:p>
        </p:txBody>
      </p:sp>
      <p:cxnSp>
        <p:nvCxnSpPr>
          <p:cNvPr id="11" name="直接连接符 10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淘宝网chenying0907出品 6"/>
          <p:cNvSpPr txBox="1"/>
          <p:nvPr/>
        </p:nvSpPr>
        <p:spPr>
          <a:xfrm>
            <a:off x="1528823" y="0"/>
            <a:ext cx="5200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4.4.4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数据选择器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graphicFrame>
        <p:nvGraphicFramePr>
          <p:cNvPr id="19" name="Object 3"/>
          <p:cNvGraphicFramePr>
            <a:graphicFrameLocks noChangeAspect="1"/>
          </p:cNvGraphicFramePr>
          <p:nvPr/>
        </p:nvGraphicFramePr>
        <p:xfrm>
          <a:off x="345999" y="1632284"/>
          <a:ext cx="4114800" cy="237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位图图像" r:id="rId2" imgW="4343400" imgH="2505075" progId="Paint.Picture">
                  <p:embed/>
                </p:oleObj>
              </mc:Choice>
              <mc:Fallback>
                <p:oleObj name="位图图像" r:id="rId2" imgW="4343400" imgH="2505075" progId="Paint.Picture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999" y="1632284"/>
                        <a:ext cx="4114800" cy="237331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170A8E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Group 4"/>
          <p:cNvGrpSpPr/>
          <p:nvPr/>
        </p:nvGrpSpPr>
        <p:grpSpPr bwMode="auto">
          <a:xfrm>
            <a:off x="1348266" y="4624722"/>
            <a:ext cx="6424613" cy="1938338"/>
            <a:chOff x="1056" y="2640"/>
            <a:chExt cx="4047" cy="1221"/>
          </a:xfrm>
        </p:grpSpPr>
        <p:sp>
          <p:nvSpPr>
            <p:cNvPr id="21" name="Rectangle 5"/>
            <p:cNvSpPr>
              <a:spLocks noChangeArrowheads="1"/>
            </p:cNvSpPr>
            <p:nvPr/>
          </p:nvSpPr>
          <p:spPr bwMode="auto">
            <a:xfrm>
              <a:off x="1056" y="2640"/>
              <a:ext cx="4047" cy="1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Blip>
                  <a:blip r:embed="rId5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A5E1A8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三个地址输入端：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A</a:t>
              </a:r>
              <a:r>
                <a:rPr kumimoji="1" lang="en-US" altLang="zh-CN" sz="24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2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，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A</a:t>
              </a:r>
              <a:r>
                <a:rPr kumimoji="1" lang="en-US" altLang="zh-CN" sz="24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，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A</a:t>
              </a:r>
              <a:r>
                <a:rPr kumimoji="1" lang="en-US" altLang="zh-CN" sz="24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 marL="0" marR="0" lvl="0" indent="0" defTabSz="91440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A5E1A8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八个数据输入端：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D</a:t>
              </a:r>
              <a:r>
                <a:rPr kumimoji="1" lang="en-US" altLang="zh-CN" sz="24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~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D</a:t>
              </a:r>
              <a:r>
                <a:rPr kumimoji="1" lang="en-US" altLang="zh-CN" sz="24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7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 marL="0" marR="0" lvl="0" indent="0" defTabSz="91440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A5E1A8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两个互补输出的数据输出端：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Y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，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Y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，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 marL="0" marR="0" lvl="0" indent="0" defTabSz="91440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A5E1A8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一个控制输入</a:t>
              </a: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端：</a:t>
              </a: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EN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22" name="Line 6"/>
            <p:cNvSpPr>
              <a:spLocks noChangeShapeType="1"/>
            </p:cNvSpPr>
            <p:nvPr/>
          </p:nvSpPr>
          <p:spPr bwMode="auto">
            <a:xfrm>
              <a:off x="3924" y="3301"/>
              <a:ext cx="19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" name="Line 7"/>
            <p:cNvSpPr>
              <a:spLocks noChangeShapeType="1"/>
            </p:cNvSpPr>
            <p:nvPr/>
          </p:nvSpPr>
          <p:spPr bwMode="auto">
            <a:xfrm flipV="1">
              <a:off x="2654" y="3585"/>
              <a:ext cx="259" cy="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994199" y="1632284"/>
            <a:ext cx="3886200" cy="2854602"/>
            <a:chOff x="4994199" y="1632284"/>
            <a:chExt cx="3886200" cy="2854602"/>
          </a:xfrm>
        </p:grpSpPr>
        <p:pic>
          <p:nvPicPr>
            <p:cNvPr id="24" name="Picture 8" descr="R96A0308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94199" y="1632284"/>
              <a:ext cx="3886200" cy="2368550"/>
            </a:xfrm>
            <a:prstGeom prst="rect">
              <a:avLst/>
            </a:prstGeom>
            <a:noFill/>
            <a:ln w="19050">
              <a:solidFill>
                <a:srgbClr val="170A8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Rectangle 9"/>
            <p:cNvSpPr>
              <a:spLocks noChangeArrowheads="1"/>
            </p:cNvSpPr>
            <p:nvPr/>
          </p:nvSpPr>
          <p:spPr bwMode="auto">
            <a:xfrm>
              <a:off x="5598998" y="3963666"/>
              <a:ext cx="300114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Blip>
                  <a:blip r:embed="rId5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6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914400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74LS151</a:t>
              </a:r>
              <a:r>
                <a:rPr kumimoji="1" lang="zh-CN" altLang="en-US" sz="2400" b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的逻辑符号</a:t>
              </a:r>
              <a:r>
                <a:rPr kumimoji="1" lang="zh-CN" altLang="en-US" sz="2800" b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endParaRPr kumimoji="1"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/>
          </p:nvGraphicFramePr>
          <p:xfrm>
            <a:off x="7982496" y="2690123"/>
            <a:ext cx="323861" cy="2621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Equation" r:id="rId8" imgW="6400800" imgH="5181600" progId="Equation.DSMT4">
                    <p:embed/>
                  </p:oleObj>
                </mc:Choice>
                <mc:Fallback>
                  <p:oleObj name="Equation" r:id="rId8" imgW="6400800" imgH="5181600" progId="Equation.DSMT4">
                    <p:embed/>
                    <p:pic>
                      <p:nvPicPr>
                        <p:cNvPr id="0" name="图片 4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7982496" y="2690123"/>
                          <a:ext cx="323861" cy="262173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Box 4"/>
          <p:cNvSpPr txBox="1">
            <a:spLocks noChangeArrowheads="1"/>
          </p:cNvSpPr>
          <p:nvPr/>
        </p:nvSpPr>
        <p:spPr bwMode="auto">
          <a:xfrm>
            <a:off x="95136" y="744024"/>
            <a:ext cx="349486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Aft>
                <a:spcPct val="2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Aft>
                <a:spcPct val="20000"/>
              </a:spcAft>
              <a:buClr>
                <a:srgbClr val="006600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Aft>
                <a:spcPct val="20000"/>
              </a:spcAft>
              <a:buClr>
                <a:srgbClr val="996600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Aft>
                <a:spcPct val="2000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b="1" dirty="0">
                <a:solidFill>
                  <a:srgbClr val="C00000"/>
                </a:solidFill>
              </a:rPr>
              <a:t>8</a:t>
            </a:r>
            <a:r>
              <a:rPr lang="zh-CN" altLang="en-US" b="1" dirty="0">
                <a:solidFill>
                  <a:srgbClr val="C00000"/>
                </a:solidFill>
              </a:rPr>
              <a:t>选</a:t>
            </a:r>
            <a:r>
              <a:rPr lang="en-US" altLang="zh-CN" b="1" dirty="0">
                <a:solidFill>
                  <a:srgbClr val="C00000"/>
                </a:solidFill>
              </a:rPr>
              <a:t>1</a:t>
            </a:r>
            <a:r>
              <a:rPr lang="zh-CN" altLang="en-US" b="1" dirty="0">
                <a:solidFill>
                  <a:srgbClr val="C00000"/>
                </a:solidFill>
              </a:rPr>
              <a:t>数据选择器</a:t>
            </a:r>
            <a:r>
              <a:rPr lang="en-US" altLang="zh-CN" b="1" dirty="0">
                <a:solidFill>
                  <a:srgbClr val="C00000"/>
                </a:solidFill>
              </a:rPr>
              <a:t>74LS151</a:t>
            </a:r>
            <a:endParaRPr lang="zh-CN" altLang="en-US" sz="2800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32" name="Text Box 5"/>
          <p:cNvSpPr txBox="1">
            <a:spLocks noChangeArrowheads="1"/>
          </p:cNvSpPr>
          <p:nvPr/>
        </p:nvSpPr>
        <p:spPr bwMode="auto">
          <a:xfrm>
            <a:off x="5094645" y="1475114"/>
            <a:ext cx="368964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Aft>
                <a:spcPct val="2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Aft>
                <a:spcPct val="20000"/>
              </a:spcAft>
              <a:buClr>
                <a:srgbClr val="006600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Aft>
                <a:spcPct val="20000"/>
              </a:spcAft>
              <a:buClr>
                <a:srgbClr val="996600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Aft>
                <a:spcPct val="2000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使能时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endParaRPr kumimoji="1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输出和输入的逻辑关系：</a:t>
            </a:r>
            <a:endParaRPr kumimoji="1" lang="zh-CN" altLang="en-US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3" name="Object 6"/>
          <p:cNvGraphicFramePr>
            <a:graphicFrameLocks noChangeAspect="1"/>
          </p:cNvGraphicFramePr>
          <p:nvPr/>
        </p:nvGraphicFramePr>
        <p:xfrm>
          <a:off x="5094645" y="2575532"/>
          <a:ext cx="3513095" cy="2342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1943100" imgH="1295400" progId="Equation.3">
                  <p:embed/>
                </p:oleObj>
              </mc:Choice>
              <mc:Fallback>
                <p:oleObj name="Equation" r:id="rId1" imgW="1943100" imgH="1295400" progId="Equation.3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4645" y="2575532"/>
                        <a:ext cx="3513095" cy="2342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AutoShape 13"/>
          <p:cNvSpPr>
            <a:spLocks noChangeArrowheads="1"/>
          </p:cNvSpPr>
          <p:nvPr/>
        </p:nvSpPr>
        <p:spPr bwMode="auto">
          <a:xfrm>
            <a:off x="6564356" y="4917595"/>
            <a:ext cx="1555866" cy="1281909"/>
          </a:xfrm>
          <a:prstGeom prst="wedgeRoundRectCallout">
            <a:avLst>
              <a:gd name="adj1" fmla="val -83296"/>
              <a:gd name="adj2" fmla="val -60792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</a:rPr>
              <a:t>地址变量构成的最小项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淘宝网chenying0907出品 6"/>
          <p:cNvSpPr txBox="1"/>
          <p:nvPr/>
        </p:nvSpPr>
        <p:spPr>
          <a:xfrm>
            <a:off x="1528823" y="0"/>
            <a:ext cx="5200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4.4.4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数据选择器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247934" y="1475114"/>
            <a:ext cx="4438682" cy="4957799"/>
            <a:chOff x="247934" y="1475114"/>
            <a:chExt cx="4438682" cy="4957799"/>
          </a:xfrm>
        </p:grpSpPr>
        <p:sp>
          <p:nvSpPr>
            <p:cNvPr id="3" name="文本框 2"/>
            <p:cNvSpPr txBox="1"/>
            <p:nvPr/>
          </p:nvSpPr>
          <p:spPr>
            <a:xfrm>
              <a:off x="4084320" y="1830564"/>
              <a:ext cx="365760" cy="36576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Z</a:t>
              </a:r>
              <a:endParaRPr lang="zh-CN" altLang="en-US" dirty="0"/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7934" y="1475114"/>
              <a:ext cx="4438682" cy="4957799"/>
            </a:xfrm>
            <a:prstGeom prst="rect">
              <a:avLst/>
            </a:prstGeom>
          </p:spPr>
        </p:pic>
        <p:graphicFrame>
          <p:nvGraphicFramePr>
            <p:cNvPr id="23" name="对象 22"/>
            <p:cNvGraphicFramePr>
              <a:graphicFrameLocks noChangeAspect="1"/>
            </p:cNvGraphicFramePr>
            <p:nvPr/>
          </p:nvGraphicFramePr>
          <p:xfrm>
            <a:off x="411634" y="2034472"/>
            <a:ext cx="443122" cy="3587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Equation" r:id="rId5" imgW="6400800" imgH="5181600" progId="Equation.DSMT4">
                    <p:embed/>
                  </p:oleObj>
                </mc:Choice>
                <mc:Fallback>
                  <p:oleObj name="Equation" r:id="rId5" imgW="6400800" imgH="5181600" progId="Equation.DSMT4">
                    <p:embed/>
                    <p:pic>
                      <p:nvPicPr>
                        <p:cNvPr id="0" name="图片 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11634" y="2034472"/>
                          <a:ext cx="443122" cy="358718"/>
                        </a:xfrm>
                        <a:prstGeom prst="rect">
                          <a:avLst/>
                        </a:prstGeom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组合 44"/>
          <p:cNvGrpSpPr/>
          <p:nvPr/>
        </p:nvGrpSpPr>
        <p:grpSpPr>
          <a:xfrm>
            <a:off x="492041" y="1540324"/>
            <a:ext cx="7961191" cy="3555030"/>
            <a:chOff x="492041" y="1540324"/>
            <a:chExt cx="7961191" cy="355503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92041" y="1540324"/>
              <a:ext cx="7961191" cy="3555030"/>
            </a:xfrm>
            <a:prstGeom prst="rect">
              <a:avLst/>
            </a:prstGeom>
          </p:spPr>
        </p:pic>
        <p:sp>
          <p:nvSpPr>
            <p:cNvPr id="41" name="文本框 40"/>
            <p:cNvSpPr txBox="1"/>
            <p:nvPr/>
          </p:nvSpPr>
          <p:spPr>
            <a:xfrm>
              <a:off x="2341372" y="2944992"/>
              <a:ext cx="4462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</a:rPr>
                <a:t>Y1</a:t>
              </a:r>
              <a:endParaRPr lang="zh-CN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3973321" y="2944992"/>
              <a:ext cx="4462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</a:rPr>
                <a:t>Y2</a:t>
              </a:r>
              <a:endParaRPr lang="zh-CN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5611730" y="2944992"/>
              <a:ext cx="4462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</a:rPr>
                <a:t>Y3</a:t>
              </a:r>
              <a:endParaRPr lang="zh-CN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7267047" y="2938956"/>
              <a:ext cx="4462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</a:rPr>
                <a:t>Y4</a:t>
              </a:r>
              <a:endParaRPr lang="zh-CN" altLang="en-US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31" name="Text Box 4"/>
          <p:cNvSpPr txBox="1">
            <a:spLocks noChangeArrowheads="1"/>
          </p:cNvSpPr>
          <p:nvPr/>
        </p:nvSpPr>
        <p:spPr bwMode="auto">
          <a:xfrm>
            <a:off x="95136" y="744024"/>
            <a:ext cx="87513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Aft>
                <a:spcPct val="2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Aft>
                <a:spcPct val="20000"/>
              </a:spcAft>
              <a:buClr>
                <a:srgbClr val="006600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Aft>
                <a:spcPct val="20000"/>
              </a:spcAft>
              <a:buClr>
                <a:srgbClr val="996600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Aft>
                <a:spcPct val="2000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</a:rPr>
              <a:t>用</a:t>
            </a:r>
            <a:r>
              <a:rPr lang="en-US" altLang="zh-CN" b="1" dirty="0">
                <a:solidFill>
                  <a:srgbClr val="C00000"/>
                </a:solidFill>
              </a:rPr>
              <a:t>4</a:t>
            </a:r>
            <a:r>
              <a:rPr lang="zh-CN" altLang="en-US" b="1" dirty="0">
                <a:solidFill>
                  <a:srgbClr val="C00000"/>
                </a:solidFill>
              </a:rPr>
              <a:t>片</a:t>
            </a:r>
            <a:r>
              <a:rPr lang="en-US" altLang="zh-CN" b="1" dirty="0">
                <a:solidFill>
                  <a:srgbClr val="C00000"/>
                </a:solidFill>
              </a:rPr>
              <a:t>8</a:t>
            </a:r>
            <a:r>
              <a:rPr lang="zh-CN" altLang="en-US" b="1" dirty="0">
                <a:solidFill>
                  <a:srgbClr val="C00000"/>
                </a:solidFill>
              </a:rPr>
              <a:t>选</a:t>
            </a:r>
            <a:r>
              <a:rPr lang="en-US" altLang="zh-CN" b="1" dirty="0">
                <a:solidFill>
                  <a:srgbClr val="C00000"/>
                </a:solidFill>
              </a:rPr>
              <a:t>1</a:t>
            </a:r>
            <a:r>
              <a:rPr lang="zh-CN" altLang="en-US" b="1" dirty="0">
                <a:solidFill>
                  <a:srgbClr val="C00000"/>
                </a:solidFill>
              </a:rPr>
              <a:t>数据选择器构成</a:t>
            </a:r>
            <a:r>
              <a:rPr lang="en-US" altLang="zh-CN" b="1" dirty="0">
                <a:solidFill>
                  <a:srgbClr val="C00000"/>
                </a:solidFill>
              </a:rPr>
              <a:t>32</a:t>
            </a:r>
            <a:r>
              <a:rPr lang="zh-CN" altLang="en-US" b="1" dirty="0">
                <a:solidFill>
                  <a:srgbClr val="C00000"/>
                </a:solidFill>
              </a:rPr>
              <a:t>选</a:t>
            </a:r>
            <a:r>
              <a:rPr lang="en-US" altLang="zh-CN" b="1" dirty="0">
                <a:solidFill>
                  <a:srgbClr val="C00000"/>
                </a:solidFill>
              </a:rPr>
              <a:t>1</a:t>
            </a:r>
            <a:r>
              <a:rPr lang="zh-CN" altLang="en-US" b="1" dirty="0">
                <a:solidFill>
                  <a:srgbClr val="C00000"/>
                </a:solidFill>
              </a:rPr>
              <a:t>数据选择器（方法一）</a:t>
            </a:r>
            <a:endParaRPr lang="zh-CN" altLang="en-US" sz="2800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淘宝网chenying0907出品 6"/>
          <p:cNvSpPr txBox="1"/>
          <p:nvPr/>
        </p:nvSpPr>
        <p:spPr>
          <a:xfrm>
            <a:off x="1528823" y="0"/>
            <a:ext cx="5200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4.4.4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数据选择器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1235810" y="1176963"/>
            <a:ext cx="6217045" cy="556336"/>
            <a:chOff x="1235810" y="1176963"/>
            <a:chExt cx="6217045" cy="556336"/>
          </a:xfrm>
        </p:grpSpPr>
        <p:sp>
          <p:nvSpPr>
            <p:cNvPr id="6" name="文本框 5"/>
            <p:cNvSpPr txBox="1"/>
            <p:nvPr/>
          </p:nvSpPr>
          <p:spPr>
            <a:xfrm>
              <a:off x="3666190" y="1176963"/>
              <a:ext cx="13562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FF0000"/>
                  </a:solidFill>
                </a:rPr>
                <a:t>输入数据</a:t>
              </a:r>
              <a:endParaRPr lang="zh-CN" altLang="en-US" sz="2000" b="1" dirty="0">
                <a:solidFill>
                  <a:srgbClr val="FF0000"/>
                </a:solidFill>
              </a:endParaRPr>
            </a:p>
          </p:txBody>
        </p:sp>
        <p:sp>
          <p:nvSpPr>
            <p:cNvPr id="5" name="左大括号 4"/>
            <p:cNvSpPr/>
            <p:nvPr/>
          </p:nvSpPr>
          <p:spPr>
            <a:xfrm rot="5400000">
              <a:off x="4211730" y="-1507827"/>
              <a:ext cx="265206" cy="6217045"/>
            </a:xfrm>
            <a:prstGeom prst="lef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-20511" y="3034672"/>
            <a:ext cx="683181" cy="1264410"/>
            <a:chOff x="-20511" y="3034672"/>
            <a:chExt cx="683181" cy="1264410"/>
          </a:xfrm>
        </p:grpSpPr>
        <p:sp>
          <p:nvSpPr>
            <p:cNvPr id="7" name="左大括号 6"/>
            <p:cNvSpPr/>
            <p:nvPr/>
          </p:nvSpPr>
          <p:spPr>
            <a:xfrm>
              <a:off x="492041" y="3034672"/>
              <a:ext cx="170629" cy="1264410"/>
            </a:xfrm>
            <a:prstGeom prst="lef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-20511" y="3159045"/>
              <a:ext cx="51255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FF0000"/>
                  </a:solidFill>
                </a:rPr>
                <a:t>地址码</a:t>
              </a:r>
              <a:endParaRPr lang="zh-CN" altLang="en-US" sz="20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8" name="矩形标注 7"/>
          <p:cNvSpPr/>
          <p:nvPr/>
        </p:nvSpPr>
        <p:spPr>
          <a:xfrm>
            <a:off x="421366" y="5055005"/>
            <a:ext cx="1570668" cy="402511"/>
          </a:xfrm>
          <a:prstGeom prst="wedgeRectCallout">
            <a:avLst>
              <a:gd name="adj1" fmla="val 17413"/>
              <a:gd name="adj2" fmla="val -69021"/>
            </a:avLst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FFFF00"/>
                </a:solidFill>
              </a:rPr>
              <a:t>2-4</a:t>
            </a:r>
            <a:r>
              <a:rPr lang="zh-CN" altLang="en-US" sz="2000" b="1" dirty="0">
                <a:solidFill>
                  <a:srgbClr val="FFFF00"/>
                </a:solidFill>
              </a:rPr>
              <a:t>线译码器</a:t>
            </a:r>
            <a:endParaRPr lang="zh-CN" altLang="en-US" sz="2000" b="1" dirty="0">
              <a:solidFill>
                <a:srgbClr val="FFFF0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100703" y="3466822"/>
            <a:ext cx="7050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</a:rPr>
              <a:t>输出数据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774392" y="4910696"/>
            <a:ext cx="5459584" cy="400110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b="1" dirty="0"/>
              <a:t>最高两位地址通过</a:t>
            </a:r>
            <a:r>
              <a:rPr lang="en-US" altLang="zh-CN" sz="2000" b="1" dirty="0"/>
              <a:t>2-4</a:t>
            </a:r>
            <a:r>
              <a:rPr lang="zh-CN" altLang="en-US" sz="2000" b="1" dirty="0"/>
              <a:t>线译码器产生</a:t>
            </a:r>
            <a:r>
              <a:rPr lang="zh-CN" altLang="en-US" sz="2000" b="1" dirty="0">
                <a:solidFill>
                  <a:srgbClr val="FF0000"/>
                </a:solidFill>
              </a:rPr>
              <a:t>片选信号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34050" y="5526259"/>
          <a:ext cx="2031586" cy="1193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3" imgW="38404800" imgH="22555200" progId="Equation.DSMT4">
                  <p:embed/>
                </p:oleObj>
              </mc:Choice>
              <mc:Fallback>
                <p:oleObj name="Equation" r:id="rId3" imgW="38404800" imgH="22555200" progId="Equation.DSMT4">
                  <p:embed/>
                  <p:pic>
                    <p:nvPicPr>
                      <p:cNvPr id="0" name="图片 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4050" y="5526259"/>
                        <a:ext cx="2031586" cy="11931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右箭头 16"/>
          <p:cNvSpPr/>
          <p:nvPr/>
        </p:nvSpPr>
        <p:spPr>
          <a:xfrm>
            <a:off x="2333293" y="6020784"/>
            <a:ext cx="376260" cy="1881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2709554" y="5461117"/>
            <a:ext cx="6377570" cy="1323439"/>
          </a:xfrm>
          <a:prstGeom prst="rect">
            <a:avLst/>
          </a:prstGeom>
          <a:noFill/>
          <a:ln>
            <a:solidFill>
              <a:srgbClr val="170A8E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地址</a:t>
            </a:r>
            <a:r>
              <a:rPr lang="en-US" altLang="zh-CN" sz="2000" b="1" dirty="0"/>
              <a:t>A</a:t>
            </a:r>
            <a:r>
              <a:rPr lang="en-US" altLang="zh-CN" sz="2000" b="1" baseline="-25000" dirty="0"/>
              <a:t>4</a:t>
            </a:r>
            <a:r>
              <a:rPr lang="en-US" altLang="zh-CN" sz="2000" b="1" dirty="0"/>
              <a:t>A</a:t>
            </a:r>
            <a:r>
              <a:rPr lang="en-US" altLang="zh-CN" sz="2000" b="1" baseline="-25000" dirty="0"/>
              <a:t>3</a:t>
            </a:r>
            <a:r>
              <a:rPr lang="en-US" altLang="zh-CN" sz="2000" b="1" dirty="0"/>
              <a:t>A</a:t>
            </a:r>
            <a:r>
              <a:rPr lang="en-US" altLang="zh-CN" sz="2000" b="1" baseline="-25000" dirty="0"/>
              <a:t>2</a:t>
            </a:r>
            <a:r>
              <a:rPr lang="en-US" altLang="zh-CN" sz="2000" b="1" dirty="0"/>
              <a:t>A</a:t>
            </a:r>
            <a:r>
              <a:rPr lang="en-US" altLang="zh-CN" sz="2000" b="1" baseline="-25000" dirty="0"/>
              <a:t>1</a:t>
            </a:r>
            <a:r>
              <a:rPr lang="en-US" altLang="zh-CN" sz="2000" b="1" dirty="0"/>
              <a:t>A</a:t>
            </a:r>
            <a:r>
              <a:rPr lang="en-US" altLang="zh-CN" sz="2000" b="1" baseline="-25000" dirty="0"/>
              <a:t>0</a:t>
            </a:r>
            <a:r>
              <a:rPr lang="zh-CN" altLang="en-US" sz="2000" b="1" dirty="0"/>
              <a:t>取值</a:t>
            </a:r>
            <a:r>
              <a:rPr lang="en-US" altLang="zh-CN" sz="2000" b="1" dirty="0">
                <a:solidFill>
                  <a:srgbClr val="0000FF"/>
                </a:solidFill>
              </a:rPr>
              <a:t>00</a:t>
            </a:r>
            <a:r>
              <a:rPr lang="en-US" altLang="zh-CN" sz="2000" b="1" dirty="0">
                <a:solidFill>
                  <a:srgbClr val="FF0000"/>
                </a:solidFill>
              </a:rPr>
              <a:t>000-</a:t>
            </a:r>
            <a:r>
              <a:rPr lang="en-US" altLang="zh-CN" sz="2000" b="1" dirty="0">
                <a:solidFill>
                  <a:srgbClr val="0000FF"/>
                </a:solidFill>
              </a:rPr>
              <a:t>00</a:t>
            </a:r>
            <a:r>
              <a:rPr lang="en-US" altLang="zh-CN" sz="2000" b="1" dirty="0">
                <a:solidFill>
                  <a:srgbClr val="FF0000"/>
                </a:solidFill>
              </a:rPr>
              <a:t>111</a:t>
            </a:r>
            <a:r>
              <a:rPr lang="zh-CN" altLang="en-US" sz="2000" b="1" dirty="0"/>
              <a:t>：输出信号来自</a:t>
            </a:r>
            <a:r>
              <a:rPr lang="en-US" altLang="zh-CN" sz="2000" b="1" dirty="0">
                <a:solidFill>
                  <a:srgbClr val="0000FF"/>
                </a:solidFill>
              </a:rPr>
              <a:t>D</a:t>
            </a:r>
            <a:r>
              <a:rPr lang="en-US" altLang="zh-CN" sz="2000" b="1" baseline="-25000" dirty="0">
                <a:solidFill>
                  <a:srgbClr val="0000FF"/>
                </a:solidFill>
              </a:rPr>
              <a:t>0</a:t>
            </a:r>
            <a:r>
              <a:rPr lang="en-US" altLang="zh-CN" sz="2000" b="1" dirty="0">
                <a:solidFill>
                  <a:srgbClr val="0000FF"/>
                </a:solidFill>
              </a:rPr>
              <a:t>-D</a:t>
            </a:r>
            <a:r>
              <a:rPr lang="en-US" altLang="zh-CN" sz="2000" b="1" baseline="-25000" dirty="0">
                <a:solidFill>
                  <a:srgbClr val="0000FF"/>
                </a:solidFill>
              </a:rPr>
              <a:t>7</a:t>
            </a:r>
            <a:endParaRPr lang="en-US" altLang="zh-CN" sz="2000" b="1" baseline="-25000" dirty="0">
              <a:solidFill>
                <a:srgbClr val="0000FF"/>
              </a:solidFill>
            </a:endParaRPr>
          </a:p>
          <a:p>
            <a:r>
              <a:rPr lang="zh-CN" altLang="en-US" sz="2000" b="1" dirty="0"/>
              <a:t>地址</a:t>
            </a:r>
            <a:r>
              <a:rPr lang="en-US" altLang="zh-CN" sz="2000" b="1" dirty="0"/>
              <a:t>A</a:t>
            </a:r>
            <a:r>
              <a:rPr lang="en-US" altLang="zh-CN" sz="2000" b="1" baseline="-25000" dirty="0"/>
              <a:t>4</a:t>
            </a:r>
            <a:r>
              <a:rPr lang="en-US" altLang="zh-CN" sz="2000" b="1" dirty="0"/>
              <a:t>A</a:t>
            </a:r>
            <a:r>
              <a:rPr lang="en-US" altLang="zh-CN" sz="2000" b="1" baseline="-25000" dirty="0"/>
              <a:t>3</a:t>
            </a:r>
            <a:r>
              <a:rPr lang="en-US" altLang="zh-CN" sz="2000" b="1" dirty="0"/>
              <a:t>A</a:t>
            </a:r>
            <a:r>
              <a:rPr lang="en-US" altLang="zh-CN" sz="2000" b="1" baseline="-25000" dirty="0"/>
              <a:t>2</a:t>
            </a:r>
            <a:r>
              <a:rPr lang="en-US" altLang="zh-CN" sz="2000" b="1" dirty="0"/>
              <a:t>A</a:t>
            </a:r>
            <a:r>
              <a:rPr lang="en-US" altLang="zh-CN" sz="2000" b="1" baseline="-25000" dirty="0"/>
              <a:t>1</a:t>
            </a:r>
            <a:r>
              <a:rPr lang="en-US" altLang="zh-CN" sz="2000" b="1" dirty="0"/>
              <a:t>A</a:t>
            </a:r>
            <a:r>
              <a:rPr lang="en-US" altLang="zh-CN" sz="2000" b="1" baseline="-25000" dirty="0"/>
              <a:t>0</a:t>
            </a:r>
            <a:r>
              <a:rPr lang="zh-CN" altLang="en-US" sz="2000" b="1" dirty="0"/>
              <a:t>取值</a:t>
            </a:r>
            <a:r>
              <a:rPr lang="en-US" altLang="zh-CN" sz="2000" b="1" dirty="0">
                <a:solidFill>
                  <a:srgbClr val="0000FF"/>
                </a:solidFill>
              </a:rPr>
              <a:t>01</a:t>
            </a:r>
            <a:r>
              <a:rPr lang="en-US" altLang="zh-CN" sz="2000" b="1" dirty="0">
                <a:solidFill>
                  <a:srgbClr val="FF0000"/>
                </a:solidFill>
              </a:rPr>
              <a:t>000-</a:t>
            </a:r>
            <a:r>
              <a:rPr lang="en-US" altLang="zh-CN" sz="2000" b="1" dirty="0">
                <a:solidFill>
                  <a:srgbClr val="0000FF"/>
                </a:solidFill>
              </a:rPr>
              <a:t>01</a:t>
            </a:r>
            <a:r>
              <a:rPr lang="en-US" altLang="zh-CN" sz="2000" b="1" dirty="0">
                <a:solidFill>
                  <a:srgbClr val="FF0000"/>
                </a:solidFill>
              </a:rPr>
              <a:t>111</a:t>
            </a:r>
            <a:r>
              <a:rPr lang="zh-CN" altLang="en-US" sz="2000" b="1" dirty="0"/>
              <a:t>：输出信号来自</a:t>
            </a:r>
            <a:r>
              <a:rPr lang="en-US" altLang="zh-CN" sz="2000" b="1" dirty="0">
                <a:solidFill>
                  <a:srgbClr val="0000FF"/>
                </a:solidFill>
              </a:rPr>
              <a:t>D</a:t>
            </a:r>
            <a:r>
              <a:rPr lang="en-US" altLang="zh-CN" sz="2000" b="1" baseline="-25000" dirty="0">
                <a:solidFill>
                  <a:srgbClr val="0000FF"/>
                </a:solidFill>
              </a:rPr>
              <a:t>8</a:t>
            </a:r>
            <a:r>
              <a:rPr lang="en-US" altLang="zh-CN" sz="2000" b="1" dirty="0">
                <a:solidFill>
                  <a:srgbClr val="0000FF"/>
                </a:solidFill>
              </a:rPr>
              <a:t>-D</a:t>
            </a:r>
            <a:r>
              <a:rPr lang="en-US" altLang="zh-CN" sz="2000" b="1" baseline="-25000" dirty="0">
                <a:solidFill>
                  <a:srgbClr val="0000FF"/>
                </a:solidFill>
              </a:rPr>
              <a:t>15</a:t>
            </a:r>
            <a:endParaRPr lang="zh-CN" altLang="en-US" sz="2000" b="1" baseline="-25000" dirty="0">
              <a:solidFill>
                <a:srgbClr val="0000FF"/>
              </a:solidFill>
            </a:endParaRPr>
          </a:p>
          <a:p>
            <a:r>
              <a:rPr lang="zh-CN" altLang="en-US" sz="2000" b="1" dirty="0"/>
              <a:t>地址</a:t>
            </a:r>
            <a:r>
              <a:rPr lang="en-US" altLang="zh-CN" sz="2000" b="1" dirty="0"/>
              <a:t>A</a:t>
            </a:r>
            <a:r>
              <a:rPr lang="en-US" altLang="zh-CN" sz="2000" b="1" baseline="-25000" dirty="0"/>
              <a:t>4</a:t>
            </a:r>
            <a:r>
              <a:rPr lang="en-US" altLang="zh-CN" sz="2000" b="1" dirty="0"/>
              <a:t>A</a:t>
            </a:r>
            <a:r>
              <a:rPr lang="en-US" altLang="zh-CN" sz="2000" b="1" baseline="-25000" dirty="0"/>
              <a:t>3</a:t>
            </a:r>
            <a:r>
              <a:rPr lang="en-US" altLang="zh-CN" sz="2000" b="1" dirty="0"/>
              <a:t>A</a:t>
            </a:r>
            <a:r>
              <a:rPr lang="en-US" altLang="zh-CN" sz="2000" b="1" baseline="-25000" dirty="0"/>
              <a:t>2</a:t>
            </a:r>
            <a:r>
              <a:rPr lang="en-US" altLang="zh-CN" sz="2000" b="1" dirty="0"/>
              <a:t>A</a:t>
            </a:r>
            <a:r>
              <a:rPr lang="en-US" altLang="zh-CN" sz="2000" b="1" baseline="-25000" dirty="0"/>
              <a:t>1</a:t>
            </a:r>
            <a:r>
              <a:rPr lang="en-US" altLang="zh-CN" sz="2000" b="1" dirty="0"/>
              <a:t>A</a:t>
            </a:r>
            <a:r>
              <a:rPr lang="en-US" altLang="zh-CN" sz="2000" b="1" baseline="-25000" dirty="0"/>
              <a:t>0</a:t>
            </a:r>
            <a:r>
              <a:rPr lang="zh-CN" altLang="en-US" sz="2000" b="1" dirty="0"/>
              <a:t>取值</a:t>
            </a:r>
            <a:r>
              <a:rPr lang="en-US" altLang="zh-CN" sz="2000" b="1" dirty="0">
                <a:solidFill>
                  <a:srgbClr val="0000FF"/>
                </a:solidFill>
              </a:rPr>
              <a:t>10</a:t>
            </a:r>
            <a:r>
              <a:rPr lang="en-US" altLang="zh-CN" sz="2000" b="1" dirty="0">
                <a:solidFill>
                  <a:srgbClr val="FF0000"/>
                </a:solidFill>
              </a:rPr>
              <a:t>000-</a:t>
            </a:r>
            <a:r>
              <a:rPr lang="en-US" altLang="zh-CN" sz="2000" b="1" dirty="0">
                <a:solidFill>
                  <a:srgbClr val="0000FF"/>
                </a:solidFill>
              </a:rPr>
              <a:t>10</a:t>
            </a:r>
            <a:r>
              <a:rPr lang="en-US" altLang="zh-CN" sz="2000" b="1" dirty="0">
                <a:solidFill>
                  <a:srgbClr val="FF0000"/>
                </a:solidFill>
              </a:rPr>
              <a:t>111</a:t>
            </a:r>
            <a:r>
              <a:rPr lang="zh-CN" altLang="en-US" sz="2000" b="1" dirty="0"/>
              <a:t>：输出信号来自</a:t>
            </a:r>
            <a:r>
              <a:rPr lang="en-US" altLang="zh-CN" sz="2000" b="1" dirty="0">
                <a:solidFill>
                  <a:srgbClr val="0000FF"/>
                </a:solidFill>
              </a:rPr>
              <a:t>D</a:t>
            </a:r>
            <a:r>
              <a:rPr lang="en-US" altLang="zh-CN" sz="2000" b="1" baseline="-25000" dirty="0">
                <a:solidFill>
                  <a:srgbClr val="0000FF"/>
                </a:solidFill>
              </a:rPr>
              <a:t>16</a:t>
            </a:r>
            <a:r>
              <a:rPr lang="en-US" altLang="zh-CN" sz="2000" b="1" dirty="0">
                <a:solidFill>
                  <a:srgbClr val="0000FF"/>
                </a:solidFill>
              </a:rPr>
              <a:t>-D</a:t>
            </a:r>
            <a:r>
              <a:rPr lang="en-US" altLang="zh-CN" sz="2000" b="1" baseline="-25000" dirty="0">
                <a:solidFill>
                  <a:srgbClr val="0000FF"/>
                </a:solidFill>
              </a:rPr>
              <a:t>23</a:t>
            </a:r>
            <a:endParaRPr lang="zh-CN" altLang="en-US" sz="2000" b="1" baseline="-25000" dirty="0">
              <a:solidFill>
                <a:srgbClr val="0000FF"/>
              </a:solidFill>
            </a:endParaRPr>
          </a:p>
          <a:p>
            <a:r>
              <a:rPr lang="zh-CN" altLang="en-US" sz="2000" b="1" dirty="0"/>
              <a:t>地址</a:t>
            </a:r>
            <a:r>
              <a:rPr lang="en-US" altLang="zh-CN" sz="2000" b="1" dirty="0"/>
              <a:t>A</a:t>
            </a:r>
            <a:r>
              <a:rPr lang="en-US" altLang="zh-CN" sz="2000" b="1" baseline="-25000" dirty="0"/>
              <a:t>4</a:t>
            </a:r>
            <a:r>
              <a:rPr lang="en-US" altLang="zh-CN" sz="2000" b="1" dirty="0"/>
              <a:t>A</a:t>
            </a:r>
            <a:r>
              <a:rPr lang="en-US" altLang="zh-CN" sz="2000" b="1" baseline="-25000" dirty="0"/>
              <a:t>3</a:t>
            </a:r>
            <a:r>
              <a:rPr lang="en-US" altLang="zh-CN" sz="2000" b="1" dirty="0"/>
              <a:t>A</a:t>
            </a:r>
            <a:r>
              <a:rPr lang="en-US" altLang="zh-CN" sz="2000" b="1" baseline="-25000" dirty="0"/>
              <a:t>2</a:t>
            </a:r>
            <a:r>
              <a:rPr lang="en-US" altLang="zh-CN" sz="2000" b="1" dirty="0"/>
              <a:t>A</a:t>
            </a:r>
            <a:r>
              <a:rPr lang="en-US" altLang="zh-CN" sz="2000" b="1" baseline="-25000" dirty="0"/>
              <a:t>1</a:t>
            </a:r>
            <a:r>
              <a:rPr lang="en-US" altLang="zh-CN" sz="2000" b="1" dirty="0"/>
              <a:t>A</a:t>
            </a:r>
            <a:r>
              <a:rPr lang="en-US" altLang="zh-CN" sz="2000" b="1" baseline="-25000" dirty="0"/>
              <a:t>0</a:t>
            </a:r>
            <a:r>
              <a:rPr lang="zh-CN" altLang="en-US" sz="2000" b="1" dirty="0"/>
              <a:t>取值</a:t>
            </a:r>
            <a:r>
              <a:rPr lang="en-US" altLang="zh-CN" sz="2000" b="1" dirty="0">
                <a:solidFill>
                  <a:srgbClr val="0000FF"/>
                </a:solidFill>
              </a:rPr>
              <a:t>11</a:t>
            </a:r>
            <a:r>
              <a:rPr lang="en-US" altLang="zh-CN" sz="2000" b="1" dirty="0">
                <a:solidFill>
                  <a:srgbClr val="FF0000"/>
                </a:solidFill>
              </a:rPr>
              <a:t>000-</a:t>
            </a:r>
            <a:r>
              <a:rPr lang="en-US" altLang="zh-CN" sz="2000" b="1" dirty="0">
                <a:solidFill>
                  <a:srgbClr val="0000FF"/>
                </a:solidFill>
              </a:rPr>
              <a:t>11</a:t>
            </a:r>
            <a:r>
              <a:rPr lang="en-US" altLang="zh-CN" sz="2000" b="1" dirty="0">
                <a:solidFill>
                  <a:srgbClr val="FF0000"/>
                </a:solidFill>
              </a:rPr>
              <a:t>111</a:t>
            </a:r>
            <a:r>
              <a:rPr lang="zh-CN" altLang="en-US" sz="2000" b="1" dirty="0"/>
              <a:t>：输出信号来自</a:t>
            </a:r>
            <a:r>
              <a:rPr lang="en-US" altLang="zh-CN" sz="2000" b="1" dirty="0">
                <a:solidFill>
                  <a:srgbClr val="0000FF"/>
                </a:solidFill>
              </a:rPr>
              <a:t>D</a:t>
            </a:r>
            <a:r>
              <a:rPr lang="en-US" altLang="zh-CN" sz="2000" b="1" baseline="-25000" dirty="0">
                <a:solidFill>
                  <a:srgbClr val="0000FF"/>
                </a:solidFill>
              </a:rPr>
              <a:t>24</a:t>
            </a:r>
            <a:r>
              <a:rPr lang="en-US" altLang="zh-CN" sz="2000" b="1" dirty="0">
                <a:solidFill>
                  <a:srgbClr val="0000FF"/>
                </a:solidFill>
              </a:rPr>
              <a:t>-D</a:t>
            </a:r>
            <a:r>
              <a:rPr lang="en-US" altLang="zh-CN" sz="2000" b="1" baseline="-25000" dirty="0">
                <a:solidFill>
                  <a:srgbClr val="0000FF"/>
                </a:solidFill>
              </a:rPr>
              <a:t>31</a:t>
            </a:r>
            <a:endParaRPr lang="zh-CN" altLang="en-US" sz="2000" b="1" baseline="-25000" dirty="0">
              <a:solidFill>
                <a:srgbClr val="0000FF"/>
              </a:solidFill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1435167" y="3000227"/>
            <a:ext cx="5444487" cy="1795214"/>
            <a:chOff x="1435167" y="3000227"/>
            <a:chExt cx="5444487" cy="1795214"/>
          </a:xfrm>
        </p:grpSpPr>
        <p:cxnSp>
          <p:nvCxnSpPr>
            <p:cNvPr id="21" name="直接连接符 20"/>
            <p:cNvCxnSpPr/>
            <p:nvPr/>
          </p:nvCxnSpPr>
          <p:spPr>
            <a:xfrm flipV="1">
              <a:off x="1974534" y="3034672"/>
              <a:ext cx="0" cy="106044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V="1">
              <a:off x="3596348" y="3000227"/>
              <a:ext cx="9376" cy="1298855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V="1">
              <a:off x="5227537" y="3017449"/>
              <a:ext cx="22501" cy="1525256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 flipV="1">
              <a:off x="6871851" y="3017449"/>
              <a:ext cx="7803" cy="1777992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1435167" y="4095112"/>
              <a:ext cx="539367" cy="0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V="1">
              <a:off x="1452667" y="4299082"/>
              <a:ext cx="2153057" cy="8021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V="1">
              <a:off x="1452667" y="4526017"/>
              <a:ext cx="3797371" cy="25115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>
              <a:off x="1452667" y="4783039"/>
              <a:ext cx="5426987" cy="1644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8" grpId="0"/>
      <p:bldP spid="9" grpId="0" animBg="1"/>
      <p:bldP spid="17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662670" y="1667024"/>
            <a:ext cx="7477913" cy="2978754"/>
            <a:chOff x="662670" y="1667024"/>
            <a:chExt cx="7477913" cy="2978754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62670" y="1667024"/>
              <a:ext cx="7477913" cy="2978754"/>
            </a:xfrm>
            <a:prstGeom prst="rect">
              <a:avLst/>
            </a:prstGeom>
          </p:spPr>
        </p:pic>
        <p:sp>
          <p:nvSpPr>
            <p:cNvPr id="3" name="文本框 2"/>
            <p:cNvSpPr txBox="1"/>
            <p:nvPr/>
          </p:nvSpPr>
          <p:spPr>
            <a:xfrm>
              <a:off x="6564356" y="1725477"/>
              <a:ext cx="3981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24</a:t>
              </a:r>
              <a:endParaRPr lang="zh-CN" alt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7631156" y="1711627"/>
              <a:ext cx="3981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31</a:t>
              </a:r>
              <a:endParaRPr lang="zh-CN" alt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1" name="Text Box 4"/>
          <p:cNvSpPr txBox="1">
            <a:spLocks noChangeArrowheads="1"/>
          </p:cNvSpPr>
          <p:nvPr/>
        </p:nvSpPr>
        <p:spPr bwMode="auto">
          <a:xfrm>
            <a:off x="95136" y="713560"/>
            <a:ext cx="84407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Aft>
                <a:spcPct val="2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Aft>
                <a:spcPct val="20000"/>
              </a:spcAft>
              <a:buClr>
                <a:srgbClr val="006600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Aft>
                <a:spcPct val="20000"/>
              </a:spcAft>
              <a:buClr>
                <a:srgbClr val="996600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Aft>
                <a:spcPct val="2000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</a:rPr>
              <a:t>用</a:t>
            </a:r>
            <a:r>
              <a:rPr lang="en-US" altLang="zh-CN" b="1" dirty="0">
                <a:solidFill>
                  <a:srgbClr val="C00000"/>
                </a:solidFill>
              </a:rPr>
              <a:t>4</a:t>
            </a:r>
            <a:r>
              <a:rPr lang="zh-CN" altLang="en-US" b="1" dirty="0">
                <a:solidFill>
                  <a:srgbClr val="C00000"/>
                </a:solidFill>
              </a:rPr>
              <a:t>片</a:t>
            </a:r>
            <a:r>
              <a:rPr lang="en-US" altLang="zh-CN" b="1" dirty="0">
                <a:solidFill>
                  <a:srgbClr val="C00000"/>
                </a:solidFill>
              </a:rPr>
              <a:t>8</a:t>
            </a:r>
            <a:r>
              <a:rPr lang="zh-CN" altLang="en-US" b="1" dirty="0">
                <a:solidFill>
                  <a:srgbClr val="C00000"/>
                </a:solidFill>
              </a:rPr>
              <a:t>选</a:t>
            </a:r>
            <a:r>
              <a:rPr lang="en-US" altLang="zh-CN" b="1" dirty="0">
                <a:solidFill>
                  <a:srgbClr val="C00000"/>
                </a:solidFill>
              </a:rPr>
              <a:t>1</a:t>
            </a:r>
            <a:r>
              <a:rPr lang="zh-CN" altLang="en-US" b="1" dirty="0">
                <a:solidFill>
                  <a:srgbClr val="C00000"/>
                </a:solidFill>
              </a:rPr>
              <a:t>数据选择器构成</a:t>
            </a:r>
            <a:r>
              <a:rPr lang="en-US" altLang="zh-CN" b="1" dirty="0">
                <a:solidFill>
                  <a:srgbClr val="C00000"/>
                </a:solidFill>
              </a:rPr>
              <a:t>32</a:t>
            </a:r>
            <a:r>
              <a:rPr lang="zh-CN" altLang="en-US" b="1" dirty="0">
                <a:solidFill>
                  <a:srgbClr val="C00000"/>
                </a:solidFill>
              </a:rPr>
              <a:t>选</a:t>
            </a:r>
            <a:r>
              <a:rPr lang="en-US" altLang="zh-CN" b="1" dirty="0">
                <a:solidFill>
                  <a:srgbClr val="C00000"/>
                </a:solidFill>
              </a:rPr>
              <a:t>1</a:t>
            </a:r>
            <a:r>
              <a:rPr lang="zh-CN" altLang="en-US" b="1" dirty="0">
                <a:solidFill>
                  <a:srgbClr val="C00000"/>
                </a:solidFill>
              </a:rPr>
              <a:t>数据选择器（方法二）</a:t>
            </a:r>
            <a:endParaRPr lang="zh-CN" altLang="en-US" sz="2800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淘宝网chenying0907出品 6"/>
          <p:cNvSpPr txBox="1"/>
          <p:nvPr/>
        </p:nvSpPr>
        <p:spPr>
          <a:xfrm>
            <a:off x="1528823" y="0"/>
            <a:ext cx="5200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4.4.4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数据选择器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1435167" y="1187136"/>
            <a:ext cx="6549428" cy="735561"/>
            <a:chOff x="1435167" y="1187136"/>
            <a:chExt cx="6549428" cy="735561"/>
          </a:xfrm>
        </p:grpSpPr>
        <p:sp>
          <p:nvSpPr>
            <p:cNvPr id="5" name="左大括号 4"/>
            <p:cNvSpPr/>
            <p:nvPr/>
          </p:nvSpPr>
          <p:spPr>
            <a:xfrm rot="5400000">
              <a:off x="4519102" y="-1542795"/>
              <a:ext cx="381557" cy="6549428"/>
            </a:xfrm>
            <a:prstGeom prst="lef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4031737" y="1187136"/>
              <a:ext cx="13562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FF0000"/>
                  </a:solidFill>
                </a:rPr>
                <a:t>输入数据</a:t>
              </a:r>
              <a:endParaRPr lang="zh-CN" altLang="en-US" sz="20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205031" y="2710914"/>
            <a:ext cx="683181" cy="1264410"/>
            <a:chOff x="205031" y="2710914"/>
            <a:chExt cx="683181" cy="1264410"/>
          </a:xfrm>
        </p:grpSpPr>
        <p:sp>
          <p:nvSpPr>
            <p:cNvPr id="7" name="左大括号 6"/>
            <p:cNvSpPr/>
            <p:nvPr/>
          </p:nvSpPr>
          <p:spPr>
            <a:xfrm>
              <a:off x="717583" y="2710914"/>
              <a:ext cx="170629" cy="1264410"/>
            </a:xfrm>
            <a:prstGeom prst="lef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205031" y="2835287"/>
              <a:ext cx="51255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FF0000"/>
                  </a:solidFill>
                </a:rPr>
                <a:t>地址码</a:t>
              </a:r>
              <a:endParaRPr lang="zh-CN" altLang="en-US" sz="20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8" name="矩形标注 7"/>
          <p:cNvSpPr/>
          <p:nvPr/>
        </p:nvSpPr>
        <p:spPr>
          <a:xfrm>
            <a:off x="95136" y="4652678"/>
            <a:ext cx="1970159" cy="402511"/>
          </a:xfrm>
          <a:prstGeom prst="wedgeRectCallout">
            <a:avLst>
              <a:gd name="adj1" fmla="val 17413"/>
              <a:gd name="adj2" fmla="val -69021"/>
            </a:avLst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FFFF00"/>
                </a:solidFill>
              </a:rPr>
              <a:t>4</a:t>
            </a:r>
            <a:r>
              <a:rPr lang="zh-CN" altLang="en-US" sz="2000" b="1" dirty="0">
                <a:solidFill>
                  <a:srgbClr val="FFFF00"/>
                </a:solidFill>
              </a:rPr>
              <a:t>选</a:t>
            </a:r>
            <a:r>
              <a:rPr lang="en-US" altLang="zh-CN" sz="2000" b="1" dirty="0">
                <a:solidFill>
                  <a:srgbClr val="FFFF00"/>
                </a:solidFill>
              </a:rPr>
              <a:t>1</a:t>
            </a:r>
            <a:r>
              <a:rPr lang="zh-CN" altLang="en-US" sz="2000" b="1" dirty="0">
                <a:solidFill>
                  <a:srgbClr val="FFFF00"/>
                </a:solidFill>
              </a:rPr>
              <a:t>数据选择器</a:t>
            </a:r>
            <a:endParaRPr lang="zh-CN" altLang="en-US" sz="2000" b="1" dirty="0">
              <a:solidFill>
                <a:srgbClr val="FFFF0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038129" y="4205532"/>
            <a:ext cx="12257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00FF"/>
                </a:solidFill>
              </a:rPr>
              <a:t>输出数据</a:t>
            </a:r>
            <a:endParaRPr lang="zh-CN" altLang="en-US" sz="2000" b="1" dirty="0">
              <a:solidFill>
                <a:srgbClr val="0000FF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280791" y="4662406"/>
            <a:ext cx="6473823" cy="707886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zh-CN" altLang="en-US" sz="2000" b="1" dirty="0"/>
              <a:t>最高两位地址通过</a:t>
            </a:r>
            <a:r>
              <a:rPr lang="en-US" altLang="zh-CN" sz="2000" b="1" dirty="0"/>
              <a:t>4</a:t>
            </a:r>
            <a:r>
              <a:rPr lang="zh-CN" altLang="en-US" sz="2000" b="1" dirty="0"/>
              <a:t>选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数据选择器，从</a:t>
            </a:r>
            <a:r>
              <a:rPr lang="en-US" altLang="zh-CN" sz="2000" b="1" dirty="0"/>
              <a:t>4</a:t>
            </a:r>
            <a:r>
              <a:rPr lang="zh-CN" altLang="en-US" sz="2000" b="1" dirty="0"/>
              <a:t>片</a:t>
            </a:r>
            <a:r>
              <a:rPr lang="en-US" altLang="zh-CN" sz="2000" b="1" dirty="0"/>
              <a:t>8</a:t>
            </a:r>
            <a:r>
              <a:rPr lang="zh-CN" altLang="en-US" sz="2000" b="1" dirty="0"/>
              <a:t>选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数据选择器的输出信号中选择一个，作为整个电路的输出。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280792" y="5431461"/>
            <a:ext cx="6377570" cy="1323439"/>
          </a:xfrm>
          <a:prstGeom prst="rect">
            <a:avLst/>
          </a:prstGeom>
          <a:noFill/>
          <a:ln>
            <a:solidFill>
              <a:srgbClr val="170A8E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地址</a:t>
            </a:r>
            <a:r>
              <a:rPr lang="en-US" altLang="zh-CN" sz="2000" b="1" dirty="0"/>
              <a:t>A</a:t>
            </a:r>
            <a:r>
              <a:rPr lang="en-US" altLang="zh-CN" sz="2000" b="1" baseline="-25000" dirty="0"/>
              <a:t>4</a:t>
            </a:r>
            <a:r>
              <a:rPr lang="en-US" altLang="zh-CN" sz="2000" b="1" dirty="0"/>
              <a:t>A</a:t>
            </a:r>
            <a:r>
              <a:rPr lang="en-US" altLang="zh-CN" sz="2000" b="1" baseline="-25000" dirty="0"/>
              <a:t>3</a:t>
            </a:r>
            <a:r>
              <a:rPr lang="en-US" altLang="zh-CN" sz="2000" b="1" dirty="0"/>
              <a:t>A</a:t>
            </a:r>
            <a:r>
              <a:rPr lang="en-US" altLang="zh-CN" sz="2000" b="1" baseline="-25000" dirty="0"/>
              <a:t>2</a:t>
            </a:r>
            <a:r>
              <a:rPr lang="en-US" altLang="zh-CN" sz="2000" b="1" dirty="0"/>
              <a:t>A</a:t>
            </a:r>
            <a:r>
              <a:rPr lang="en-US" altLang="zh-CN" sz="2000" b="1" baseline="-25000" dirty="0"/>
              <a:t>1</a:t>
            </a:r>
            <a:r>
              <a:rPr lang="en-US" altLang="zh-CN" sz="2000" b="1" dirty="0"/>
              <a:t>A</a:t>
            </a:r>
            <a:r>
              <a:rPr lang="en-US" altLang="zh-CN" sz="2000" b="1" baseline="-25000" dirty="0"/>
              <a:t>0</a:t>
            </a:r>
            <a:r>
              <a:rPr lang="zh-CN" altLang="en-US" sz="2000" b="1" dirty="0"/>
              <a:t>取值</a:t>
            </a:r>
            <a:r>
              <a:rPr lang="en-US" altLang="zh-CN" sz="2000" b="1" dirty="0">
                <a:solidFill>
                  <a:srgbClr val="0000FF"/>
                </a:solidFill>
              </a:rPr>
              <a:t>00</a:t>
            </a:r>
            <a:r>
              <a:rPr lang="en-US" altLang="zh-CN" sz="2000" b="1" dirty="0">
                <a:solidFill>
                  <a:srgbClr val="FF0000"/>
                </a:solidFill>
              </a:rPr>
              <a:t>000-</a:t>
            </a:r>
            <a:r>
              <a:rPr lang="en-US" altLang="zh-CN" sz="2000" b="1" dirty="0">
                <a:solidFill>
                  <a:srgbClr val="0000FF"/>
                </a:solidFill>
              </a:rPr>
              <a:t>00</a:t>
            </a:r>
            <a:r>
              <a:rPr lang="en-US" altLang="zh-CN" sz="2000" b="1" dirty="0">
                <a:solidFill>
                  <a:srgbClr val="FF0000"/>
                </a:solidFill>
              </a:rPr>
              <a:t>111</a:t>
            </a:r>
            <a:r>
              <a:rPr lang="zh-CN" altLang="en-US" sz="2000" b="1" dirty="0"/>
              <a:t>：输出信号来自</a:t>
            </a:r>
            <a:r>
              <a:rPr lang="en-US" altLang="zh-CN" sz="2000" b="1" dirty="0">
                <a:solidFill>
                  <a:srgbClr val="0000FF"/>
                </a:solidFill>
              </a:rPr>
              <a:t>D</a:t>
            </a:r>
            <a:r>
              <a:rPr lang="en-US" altLang="zh-CN" sz="2000" b="1" baseline="-25000" dirty="0">
                <a:solidFill>
                  <a:srgbClr val="0000FF"/>
                </a:solidFill>
              </a:rPr>
              <a:t>0</a:t>
            </a:r>
            <a:r>
              <a:rPr lang="en-US" altLang="zh-CN" sz="2000" b="1" dirty="0">
                <a:solidFill>
                  <a:srgbClr val="0000FF"/>
                </a:solidFill>
              </a:rPr>
              <a:t>-D</a:t>
            </a:r>
            <a:r>
              <a:rPr lang="en-US" altLang="zh-CN" sz="2000" b="1" baseline="-25000" dirty="0">
                <a:solidFill>
                  <a:srgbClr val="0000FF"/>
                </a:solidFill>
              </a:rPr>
              <a:t>7</a:t>
            </a:r>
            <a:endParaRPr lang="en-US" altLang="zh-CN" sz="2000" b="1" baseline="-25000" dirty="0">
              <a:solidFill>
                <a:srgbClr val="0000FF"/>
              </a:solidFill>
            </a:endParaRPr>
          </a:p>
          <a:p>
            <a:r>
              <a:rPr lang="zh-CN" altLang="en-US" sz="2000" b="1" dirty="0"/>
              <a:t>地址</a:t>
            </a:r>
            <a:r>
              <a:rPr lang="en-US" altLang="zh-CN" sz="2000" b="1" dirty="0"/>
              <a:t>A</a:t>
            </a:r>
            <a:r>
              <a:rPr lang="en-US" altLang="zh-CN" sz="2000" b="1" baseline="-25000" dirty="0"/>
              <a:t>4</a:t>
            </a:r>
            <a:r>
              <a:rPr lang="en-US" altLang="zh-CN" sz="2000" b="1" dirty="0"/>
              <a:t>A</a:t>
            </a:r>
            <a:r>
              <a:rPr lang="en-US" altLang="zh-CN" sz="2000" b="1" baseline="-25000" dirty="0"/>
              <a:t>3</a:t>
            </a:r>
            <a:r>
              <a:rPr lang="en-US" altLang="zh-CN" sz="2000" b="1" dirty="0"/>
              <a:t>A</a:t>
            </a:r>
            <a:r>
              <a:rPr lang="en-US" altLang="zh-CN" sz="2000" b="1" baseline="-25000" dirty="0"/>
              <a:t>2</a:t>
            </a:r>
            <a:r>
              <a:rPr lang="en-US" altLang="zh-CN" sz="2000" b="1" dirty="0"/>
              <a:t>A</a:t>
            </a:r>
            <a:r>
              <a:rPr lang="en-US" altLang="zh-CN" sz="2000" b="1" baseline="-25000" dirty="0"/>
              <a:t>1</a:t>
            </a:r>
            <a:r>
              <a:rPr lang="en-US" altLang="zh-CN" sz="2000" b="1" dirty="0"/>
              <a:t>A</a:t>
            </a:r>
            <a:r>
              <a:rPr lang="en-US" altLang="zh-CN" sz="2000" b="1" baseline="-25000" dirty="0"/>
              <a:t>0</a:t>
            </a:r>
            <a:r>
              <a:rPr lang="zh-CN" altLang="en-US" sz="2000" b="1" dirty="0"/>
              <a:t>取值</a:t>
            </a:r>
            <a:r>
              <a:rPr lang="en-US" altLang="zh-CN" sz="2000" b="1" dirty="0">
                <a:solidFill>
                  <a:srgbClr val="0000FF"/>
                </a:solidFill>
              </a:rPr>
              <a:t>01</a:t>
            </a:r>
            <a:r>
              <a:rPr lang="en-US" altLang="zh-CN" sz="2000" b="1" dirty="0">
                <a:solidFill>
                  <a:srgbClr val="FF0000"/>
                </a:solidFill>
              </a:rPr>
              <a:t>000-</a:t>
            </a:r>
            <a:r>
              <a:rPr lang="en-US" altLang="zh-CN" sz="2000" b="1" dirty="0">
                <a:solidFill>
                  <a:srgbClr val="0000FF"/>
                </a:solidFill>
              </a:rPr>
              <a:t>01</a:t>
            </a:r>
            <a:r>
              <a:rPr lang="en-US" altLang="zh-CN" sz="2000" b="1" dirty="0">
                <a:solidFill>
                  <a:srgbClr val="FF0000"/>
                </a:solidFill>
              </a:rPr>
              <a:t>111</a:t>
            </a:r>
            <a:r>
              <a:rPr lang="zh-CN" altLang="en-US" sz="2000" b="1" dirty="0"/>
              <a:t>：输出信号来自</a:t>
            </a:r>
            <a:r>
              <a:rPr lang="en-US" altLang="zh-CN" sz="2000" b="1" dirty="0">
                <a:solidFill>
                  <a:srgbClr val="0000FF"/>
                </a:solidFill>
              </a:rPr>
              <a:t>D</a:t>
            </a:r>
            <a:r>
              <a:rPr lang="en-US" altLang="zh-CN" sz="2000" b="1" baseline="-25000" dirty="0">
                <a:solidFill>
                  <a:srgbClr val="0000FF"/>
                </a:solidFill>
              </a:rPr>
              <a:t>8</a:t>
            </a:r>
            <a:r>
              <a:rPr lang="en-US" altLang="zh-CN" sz="2000" b="1" dirty="0">
                <a:solidFill>
                  <a:srgbClr val="0000FF"/>
                </a:solidFill>
              </a:rPr>
              <a:t>-D</a:t>
            </a:r>
            <a:r>
              <a:rPr lang="en-US" altLang="zh-CN" sz="2000" b="1" baseline="-25000" dirty="0">
                <a:solidFill>
                  <a:srgbClr val="0000FF"/>
                </a:solidFill>
              </a:rPr>
              <a:t>15</a:t>
            </a:r>
            <a:endParaRPr lang="zh-CN" altLang="en-US" sz="2000" b="1" baseline="-25000" dirty="0">
              <a:solidFill>
                <a:srgbClr val="0000FF"/>
              </a:solidFill>
            </a:endParaRPr>
          </a:p>
          <a:p>
            <a:r>
              <a:rPr lang="zh-CN" altLang="en-US" sz="2000" b="1" dirty="0"/>
              <a:t>地址</a:t>
            </a:r>
            <a:r>
              <a:rPr lang="en-US" altLang="zh-CN" sz="2000" b="1" dirty="0"/>
              <a:t>A</a:t>
            </a:r>
            <a:r>
              <a:rPr lang="en-US" altLang="zh-CN" sz="2000" b="1" baseline="-25000" dirty="0"/>
              <a:t>4</a:t>
            </a:r>
            <a:r>
              <a:rPr lang="en-US" altLang="zh-CN" sz="2000" b="1" dirty="0"/>
              <a:t>A</a:t>
            </a:r>
            <a:r>
              <a:rPr lang="en-US" altLang="zh-CN" sz="2000" b="1" baseline="-25000" dirty="0"/>
              <a:t>3</a:t>
            </a:r>
            <a:r>
              <a:rPr lang="en-US" altLang="zh-CN" sz="2000" b="1" dirty="0"/>
              <a:t>A</a:t>
            </a:r>
            <a:r>
              <a:rPr lang="en-US" altLang="zh-CN" sz="2000" b="1" baseline="-25000" dirty="0"/>
              <a:t>2</a:t>
            </a:r>
            <a:r>
              <a:rPr lang="en-US" altLang="zh-CN" sz="2000" b="1" dirty="0"/>
              <a:t>A</a:t>
            </a:r>
            <a:r>
              <a:rPr lang="en-US" altLang="zh-CN" sz="2000" b="1" baseline="-25000" dirty="0"/>
              <a:t>1</a:t>
            </a:r>
            <a:r>
              <a:rPr lang="en-US" altLang="zh-CN" sz="2000" b="1" dirty="0"/>
              <a:t>A</a:t>
            </a:r>
            <a:r>
              <a:rPr lang="en-US" altLang="zh-CN" sz="2000" b="1" baseline="-25000" dirty="0"/>
              <a:t>0</a:t>
            </a:r>
            <a:r>
              <a:rPr lang="zh-CN" altLang="en-US" sz="2000" b="1" dirty="0"/>
              <a:t>取值</a:t>
            </a:r>
            <a:r>
              <a:rPr lang="en-US" altLang="zh-CN" sz="2000" b="1" dirty="0">
                <a:solidFill>
                  <a:srgbClr val="0000FF"/>
                </a:solidFill>
              </a:rPr>
              <a:t>10</a:t>
            </a:r>
            <a:r>
              <a:rPr lang="en-US" altLang="zh-CN" sz="2000" b="1" dirty="0">
                <a:solidFill>
                  <a:srgbClr val="FF0000"/>
                </a:solidFill>
              </a:rPr>
              <a:t>000-</a:t>
            </a:r>
            <a:r>
              <a:rPr lang="en-US" altLang="zh-CN" sz="2000" b="1" dirty="0">
                <a:solidFill>
                  <a:srgbClr val="0000FF"/>
                </a:solidFill>
              </a:rPr>
              <a:t>10</a:t>
            </a:r>
            <a:r>
              <a:rPr lang="en-US" altLang="zh-CN" sz="2000" b="1" dirty="0">
                <a:solidFill>
                  <a:srgbClr val="FF0000"/>
                </a:solidFill>
              </a:rPr>
              <a:t>111</a:t>
            </a:r>
            <a:r>
              <a:rPr lang="zh-CN" altLang="en-US" sz="2000" b="1" dirty="0"/>
              <a:t>：输出信号来自</a:t>
            </a:r>
            <a:r>
              <a:rPr lang="en-US" altLang="zh-CN" sz="2000" b="1" dirty="0">
                <a:solidFill>
                  <a:srgbClr val="0000FF"/>
                </a:solidFill>
              </a:rPr>
              <a:t>D</a:t>
            </a:r>
            <a:r>
              <a:rPr lang="en-US" altLang="zh-CN" sz="2000" b="1" baseline="-25000" dirty="0">
                <a:solidFill>
                  <a:srgbClr val="0000FF"/>
                </a:solidFill>
              </a:rPr>
              <a:t>16</a:t>
            </a:r>
            <a:r>
              <a:rPr lang="en-US" altLang="zh-CN" sz="2000" b="1" dirty="0">
                <a:solidFill>
                  <a:srgbClr val="0000FF"/>
                </a:solidFill>
              </a:rPr>
              <a:t>-D</a:t>
            </a:r>
            <a:r>
              <a:rPr lang="en-US" altLang="zh-CN" sz="2000" b="1" baseline="-25000" dirty="0">
                <a:solidFill>
                  <a:srgbClr val="0000FF"/>
                </a:solidFill>
              </a:rPr>
              <a:t>23</a:t>
            </a:r>
            <a:endParaRPr lang="zh-CN" altLang="en-US" sz="2000" b="1" baseline="-25000" dirty="0">
              <a:solidFill>
                <a:srgbClr val="0000FF"/>
              </a:solidFill>
            </a:endParaRPr>
          </a:p>
          <a:p>
            <a:r>
              <a:rPr lang="zh-CN" altLang="en-US" sz="2000" b="1" dirty="0"/>
              <a:t>地址</a:t>
            </a:r>
            <a:r>
              <a:rPr lang="en-US" altLang="zh-CN" sz="2000" b="1" dirty="0"/>
              <a:t>A</a:t>
            </a:r>
            <a:r>
              <a:rPr lang="en-US" altLang="zh-CN" sz="2000" b="1" baseline="-25000" dirty="0"/>
              <a:t>4</a:t>
            </a:r>
            <a:r>
              <a:rPr lang="en-US" altLang="zh-CN" sz="2000" b="1" dirty="0"/>
              <a:t>A</a:t>
            </a:r>
            <a:r>
              <a:rPr lang="en-US" altLang="zh-CN" sz="2000" b="1" baseline="-25000" dirty="0"/>
              <a:t>3</a:t>
            </a:r>
            <a:r>
              <a:rPr lang="en-US" altLang="zh-CN" sz="2000" b="1" dirty="0"/>
              <a:t>A</a:t>
            </a:r>
            <a:r>
              <a:rPr lang="en-US" altLang="zh-CN" sz="2000" b="1" baseline="-25000" dirty="0"/>
              <a:t>2</a:t>
            </a:r>
            <a:r>
              <a:rPr lang="en-US" altLang="zh-CN" sz="2000" b="1" dirty="0"/>
              <a:t>A</a:t>
            </a:r>
            <a:r>
              <a:rPr lang="en-US" altLang="zh-CN" sz="2000" b="1" baseline="-25000" dirty="0"/>
              <a:t>1</a:t>
            </a:r>
            <a:r>
              <a:rPr lang="en-US" altLang="zh-CN" sz="2000" b="1" dirty="0"/>
              <a:t>A</a:t>
            </a:r>
            <a:r>
              <a:rPr lang="en-US" altLang="zh-CN" sz="2000" b="1" baseline="-25000" dirty="0"/>
              <a:t>0</a:t>
            </a:r>
            <a:r>
              <a:rPr lang="zh-CN" altLang="en-US" sz="2000" b="1" dirty="0"/>
              <a:t>取值</a:t>
            </a:r>
            <a:r>
              <a:rPr lang="en-US" altLang="zh-CN" sz="2000" b="1" dirty="0">
                <a:solidFill>
                  <a:srgbClr val="0000FF"/>
                </a:solidFill>
              </a:rPr>
              <a:t>11</a:t>
            </a:r>
            <a:r>
              <a:rPr lang="en-US" altLang="zh-CN" sz="2000" b="1" dirty="0">
                <a:solidFill>
                  <a:srgbClr val="FF0000"/>
                </a:solidFill>
              </a:rPr>
              <a:t>000-</a:t>
            </a:r>
            <a:r>
              <a:rPr lang="en-US" altLang="zh-CN" sz="2000" b="1" dirty="0">
                <a:solidFill>
                  <a:srgbClr val="0000FF"/>
                </a:solidFill>
              </a:rPr>
              <a:t>11</a:t>
            </a:r>
            <a:r>
              <a:rPr lang="en-US" altLang="zh-CN" sz="2000" b="1" dirty="0">
                <a:solidFill>
                  <a:srgbClr val="FF0000"/>
                </a:solidFill>
              </a:rPr>
              <a:t>111</a:t>
            </a:r>
            <a:r>
              <a:rPr lang="zh-CN" altLang="en-US" sz="2000" b="1" dirty="0"/>
              <a:t>：输出信号来自</a:t>
            </a:r>
            <a:r>
              <a:rPr lang="en-US" altLang="zh-CN" sz="2000" b="1" dirty="0">
                <a:solidFill>
                  <a:srgbClr val="0000FF"/>
                </a:solidFill>
              </a:rPr>
              <a:t>D</a:t>
            </a:r>
            <a:r>
              <a:rPr lang="en-US" altLang="zh-CN" sz="2000" b="1" baseline="-25000" dirty="0">
                <a:solidFill>
                  <a:srgbClr val="0000FF"/>
                </a:solidFill>
              </a:rPr>
              <a:t>24</a:t>
            </a:r>
            <a:r>
              <a:rPr lang="en-US" altLang="zh-CN" sz="2000" b="1" dirty="0">
                <a:solidFill>
                  <a:srgbClr val="0000FF"/>
                </a:solidFill>
              </a:rPr>
              <a:t>-D</a:t>
            </a:r>
            <a:r>
              <a:rPr lang="en-US" altLang="zh-CN" sz="2000" b="1" baseline="-25000" dirty="0">
                <a:solidFill>
                  <a:srgbClr val="0000FF"/>
                </a:solidFill>
              </a:rPr>
              <a:t>31</a:t>
            </a:r>
            <a:endParaRPr lang="zh-CN" altLang="en-US" sz="2000" b="1" baseline="-25000" dirty="0">
              <a:solidFill>
                <a:srgbClr val="0000FF"/>
              </a:solidFill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55823" y="5487585"/>
            <a:ext cx="2224968" cy="1223704"/>
            <a:chOff x="55823" y="5487585"/>
            <a:chExt cx="2224968" cy="1223704"/>
          </a:xfrm>
        </p:grpSpPr>
        <p:sp>
          <p:nvSpPr>
            <p:cNvPr id="17" name="右箭头 16"/>
            <p:cNvSpPr/>
            <p:nvPr/>
          </p:nvSpPr>
          <p:spPr>
            <a:xfrm>
              <a:off x="1904531" y="5991128"/>
              <a:ext cx="376260" cy="18813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左大括号 10"/>
            <p:cNvSpPr/>
            <p:nvPr/>
          </p:nvSpPr>
          <p:spPr>
            <a:xfrm>
              <a:off x="528104" y="5534382"/>
              <a:ext cx="269132" cy="1176907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5823" y="5938169"/>
              <a:ext cx="661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A</a:t>
              </a:r>
              <a:r>
                <a:rPr lang="en-US" altLang="zh-CN" b="1" baseline="-25000" dirty="0"/>
                <a:t>4</a:t>
              </a:r>
              <a:r>
                <a:rPr lang="en-US" altLang="zh-CN" b="1" dirty="0"/>
                <a:t>A</a:t>
              </a:r>
              <a:r>
                <a:rPr lang="en-US" altLang="zh-CN" b="1" baseline="-25000" dirty="0"/>
                <a:t>3</a:t>
              </a:r>
              <a:endParaRPr lang="zh-CN" altLang="en-US" dirty="0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799378" y="5487585"/>
              <a:ext cx="137505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00</a:t>
              </a:r>
              <a:r>
                <a:rPr lang="zh-CN" altLang="en-US" b="1" dirty="0"/>
                <a:t>：</a:t>
              </a:r>
              <a:r>
                <a:rPr lang="en-US" altLang="zh-CN" b="1" dirty="0"/>
                <a:t>Y=Y1</a:t>
              </a:r>
              <a:endParaRPr lang="en-US" altLang="zh-CN" b="1" dirty="0"/>
            </a:p>
            <a:p>
              <a:r>
                <a:rPr lang="en-US" altLang="zh-CN" b="1" dirty="0"/>
                <a:t>01</a:t>
              </a:r>
              <a:r>
                <a:rPr lang="zh-CN" altLang="en-US" b="1" dirty="0"/>
                <a:t>：</a:t>
              </a:r>
              <a:r>
                <a:rPr lang="en-US" altLang="zh-CN" b="1" dirty="0"/>
                <a:t>Y=Y2</a:t>
              </a:r>
              <a:endParaRPr lang="en-US" altLang="zh-CN" b="1" dirty="0"/>
            </a:p>
            <a:p>
              <a:r>
                <a:rPr lang="en-US" altLang="zh-CN" b="1" dirty="0"/>
                <a:t>10</a:t>
              </a:r>
              <a:r>
                <a:rPr lang="zh-CN" altLang="en-US" b="1" dirty="0"/>
                <a:t>：</a:t>
              </a:r>
              <a:r>
                <a:rPr lang="en-US" altLang="zh-CN" b="1" dirty="0"/>
                <a:t>Y=Y3</a:t>
              </a:r>
              <a:endParaRPr lang="en-US" altLang="zh-CN" b="1" dirty="0"/>
            </a:p>
            <a:p>
              <a:r>
                <a:rPr lang="en-US" altLang="zh-CN" b="1" dirty="0"/>
                <a:t>11</a:t>
              </a:r>
              <a:r>
                <a:rPr lang="zh-CN" altLang="en-US" b="1" dirty="0"/>
                <a:t>：</a:t>
              </a:r>
              <a:r>
                <a:rPr lang="en-US" altLang="zh-CN" b="1" dirty="0"/>
                <a:t>Y=Y4</a:t>
              </a:r>
              <a:endParaRPr lang="zh-CN" altLang="en-US" dirty="0"/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1671986" y="2671683"/>
            <a:ext cx="6607914" cy="1533849"/>
            <a:chOff x="1671986" y="2671683"/>
            <a:chExt cx="6607914" cy="1533849"/>
          </a:xfrm>
        </p:grpSpPr>
        <p:sp>
          <p:nvSpPr>
            <p:cNvPr id="22" name="文本框 21"/>
            <p:cNvSpPr txBox="1"/>
            <p:nvPr/>
          </p:nvSpPr>
          <p:spPr>
            <a:xfrm>
              <a:off x="2650983" y="2671683"/>
              <a:ext cx="4462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</a:rPr>
                <a:t>Y1</a:t>
              </a:r>
              <a:endParaRPr lang="zh-CN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4360925" y="2681658"/>
              <a:ext cx="4462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</a:rPr>
                <a:t>Y2</a:t>
              </a:r>
              <a:endParaRPr lang="zh-CN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6092741" y="2671683"/>
              <a:ext cx="4462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</a:rPr>
                <a:t>Y3</a:t>
              </a:r>
              <a:endParaRPr lang="zh-CN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7833638" y="2671683"/>
              <a:ext cx="4462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</a:rPr>
                <a:t>Y4</a:t>
              </a:r>
              <a:endParaRPr lang="zh-CN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1671986" y="2736317"/>
              <a:ext cx="6240788" cy="1469215"/>
              <a:chOff x="1427771" y="3064861"/>
              <a:chExt cx="6240788" cy="1469215"/>
            </a:xfrm>
          </p:grpSpPr>
          <p:cxnSp>
            <p:nvCxnSpPr>
              <p:cNvPr id="29" name="直接连接符 28"/>
              <p:cNvCxnSpPr/>
              <p:nvPr/>
            </p:nvCxnSpPr>
            <p:spPr>
              <a:xfrm flipH="1" flipV="1">
                <a:off x="2437957" y="3064861"/>
                <a:ext cx="4151" cy="1030251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/>
              <p:nvPr/>
            </p:nvCxnSpPr>
            <p:spPr>
              <a:xfrm flipH="1" flipV="1">
                <a:off x="4175536" y="3077660"/>
                <a:ext cx="7251" cy="1132347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>
              <a:xfrm flipH="1" flipV="1">
                <a:off x="5916215" y="3079280"/>
                <a:ext cx="18916" cy="1290834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 flipH="1" flipV="1">
                <a:off x="7648031" y="3078528"/>
                <a:ext cx="20528" cy="1455548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>
                <a:off x="1427771" y="4060111"/>
                <a:ext cx="1002903" cy="7064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 flipV="1">
                <a:off x="1446204" y="4219648"/>
                <a:ext cx="2736583" cy="1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 flipV="1">
                <a:off x="1427991" y="4360386"/>
                <a:ext cx="4507140" cy="25116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>
                <a:off x="1443917" y="4534076"/>
                <a:ext cx="6224642" cy="0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8" grpId="0"/>
      <p:bldP spid="9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淘宝网chenying0907出品 10"/>
          <p:cNvSpPr txBox="1"/>
          <p:nvPr/>
        </p:nvSpPr>
        <p:spPr>
          <a:xfrm>
            <a:off x="1194211" y="3078793"/>
            <a:ext cx="1831157" cy="761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  <a:r>
              <a:rPr lang="en-US" altLang="zh-CN" sz="1350" b="1" dirty="0">
                <a:solidFill>
                  <a:schemeClr val="accent1">
                    <a:lumMod val="50000"/>
                  </a:schemeClr>
                </a:solidFill>
              </a:rPr>
              <a:t> Main Content</a:t>
            </a:r>
            <a:endParaRPr lang="zh-CN" altLang="en-US" sz="135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淘宝网chenying0907出品 11"/>
          <p:cNvSpPr/>
          <p:nvPr/>
        </p:nvSpPr>
        <p:spPr>
          <a:xfrm>
            <a:off x="2917715" y="0"/>
            <a:ext cx="623236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cxnSp>
        <p:nvCxnSpPr>
          <p:cNvPr id="16" name="直接连接符 15"/>
          <p:cNvCxnSpPr/>
          <p:nvPr/>
        </p:nvCxnSpPr>
        <p:spPr>
          <a:xfrm flipH="1">
            <a:off x="2911640" y="0"/>
            <a:ext cx="2651081" cy="152494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>
            <a:endCxn id="12" idx="2"/>
          </p:cNvCxnSpPr>
          <p:nvPr/>
        </p:nvCxnSpPr>
        <p:spPr>
          <a:xfrm flipH="1">
            <a:off x="6033895" y="5086744"/>
            <a:ext cx="3116180" cy="177125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淘宝网chenying0907出品 20"/>
          <p:cNvSpPr txBox="1"/>
          <p:nvPr/>
        </p:nvSpPr>
        <p:spPr>
          <a:xfrm>
            <a:off x="4125505" y="2004144"/>
            <a:ext cx="35265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/>
              <a:t>数据选择器</a:t>
            </a:r>
            <a:endParaRPr lang="zh-CN" altLang="en-US" sz="2800" dirty="0"/>
          </a:p>
        </p:txBody>
      </p:sp>
      <p:sp>
        <p:nvSpPr>
          <p:cNvPr id="17" name="淘宝网chenying0907出品 29"/>
          <p:cNvSpPr txBox="1"/>
          <p:nvPr/>
        </p:nvSpPr>
        <p:spPr>
          <a:xfrm>
            <a:off x="4125505" y="4266614"/>
            <a:ext cx="3330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竞争和险象</a:t>
            </a:r>
            <a:endParaRPr lang="zh-CN" altLang="en-US" dirty="0"/>
          </a:p>
        </p:txBody>
      </p:sp>
      <p:sp>
        <p:nvSpPr>
          <p:cNvPr id="8" name="淘宝网chenying0907出品 20"/>
          <p:cNvSpPr txBox="1"/>
          <p:nvPr/>
        </p:nvSpPr>
        <p:spPr>
          <a:xfrm>
            <a:off x="4125505" y="2758301"/>
            <a:ext cx="35265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>
                <a:solidFill>
                  <a:schemeClr val="bg1"/>
                </a:solidFill>
              </a:rPr>
              <a:t>数据分配器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9" name="淘宝网chenying0907出品 20"/>
          <p:cNvSpPr txBox="1"/>
          <p:nvPr/>
        </p:nvSpPr>
        <p:spPr>
          <a:xfrm>
            <a:off x="4125505" y="3512457"/>
            <a:ext cx="35265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/>
              <a:t>数值比较器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连接符 11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淘宝网chenying0907出品 6"/>
          <p:cNvSpPr txBox="1"/>
          <p:nvPr/>
        </p:nvSpPr>
        <p:spPr>
          <a:xfrm>
            <a:off x="1528823" y="0"/>
            <a:ext cx="5200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4.4.5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数据分配器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39" name="Rectangle 3"/>
          <p:cNvSpPr txBox="1">
            <a:spLocks noChangeArrowheads="1"/>
          </p:cNvSpPr>
          <p:nvPr/>
        </p:nvSpPr>
        <p:spPr bwMode="auto">
          <a:xfrm>
            <a:off x="417824" y="893831"/>
            <a:ext cx="8218488" cy="15414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B00B6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在数据传送中，有时需要将某一路数据分配到不同的数据通道上，实现这种功能的电路称为数据分配器，也称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多路分配器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。 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2" name="AutoShape 7"/>
          <p:cNvSpPr>
            <a:spLocks noChangeArrowheads="1"/>
          </p:cNvSpPr>
          <p:nvPr/>
        </p:nvSpPr>
        <p:spPr bwMode="auto">
          <a:xfrm>
            <a:off x="4900339" y="3416734"/>
            <a:ext cx="4095750" cy="2160587"/>
          </a:xfrm>
          <a:prstGeom prst="wedgeEllipseCallout">
            <a:avLst>
              <a:gd name="adj1" fmla="val -70308"/>
              <a:gd name="adj2" fmla="val -47564"/>
            </a:avLst>
          </a:prstGeom>
          <a:solidFill>
            <a:srgbClr val="E6F5F6"/>
          </a:solidFill>
          <a:ln w="9525" algn="ctr">
            <a:solidFill>
              <a:srgbClr val="FF0066"/>
            </a:solidFill>
            <a:miter lim="800000"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市场上并没有专用的数据分配器器件，实际使用中，通常用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译码器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来实现数据分配的功能。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553" y="2628887"/>
            <a:ext cx="3838603" cy="34957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连接符 11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淘宝网chenying0907出品 6"/>
          <p:cNvSpPr txBox="1"/>
          <p:nvPr/>
        </p:nvSpPr>
        <p:spPr>
          <a:xfrm>
            <a:off x="1528823" y="0"/>
            <a:ext cx="5200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4.4.5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数据分配器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39" name="Rectangle 3"/>
          <p:cNvSpPr txBox="1">
            <a:spLocks noChangeArrowheads="1"/>
          </p:cNvSpPr>
          <p:nvPr/>
        </p:nvSpPr>
        <p:spPr bwMode="auto">
          <a:xfrm>
            <a:off x="72189" y="646331"/>
            <a:ext cx="8218488" cy="53683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B00B6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用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3-8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译码器实现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路数据分配器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501" y="2137936"/>
            <a:ext cx="3022466" cy="2483942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>
            <a:off x="2625072" y="4606129"/>
            <a:ext cx="37188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108"/>
          <p:cNvCxnSpPr/>
          <p:nvPr/>
        </p:nvCxnSpPr>
        <p:spPr>
          <a:xfrm>
            <a:off x="2988207" y="4597379"/>
            <a:ext cx="0" cy="396385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/>
          <p:cNvSpPr txBox="1"/>
          <p:nvPr/>
        </p:nvSpPr>
        <p:spPr>
          <a:xfrm>
            <a:off x="1988491" y="4501999"/>
            <a:ext cx="455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1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2469755" y="4963664"/>
            <a:ext cx="10544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输入信号</a:t>
            </a:r>
            <a:r>
              <a:rPr lang="en-US" altLang="zh-CN" sz="2400" b="1" dirty="0">
                <a:solidFill>
                  <a:srgbClr val="FF0000"/>
                </a:solidFill>
              </a:rPr>
              <a:t>D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323757" y="4621878"/>
            <a:ext cx="14055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输入地址</a:t>
            </a:r>
            <a:endParaRPr lang="zh-CN" altLang="en-US" sz="2400" b="1" dirty="0"/>
          </a:p>
        </p:txBody>
      </p:sp>
      <p:sp>
        <p:nvSpPr>
          <p:cNvPr id="113" name="文本框 112"/>
          <p:cNvSpPr txBox="1"/>
          <p:nvPr/>
        </p:nvSpPr>
        <p:spPr>
          <a:xfrm>
            <a:off x="1064247" y="1575686"/>
            <a:ext cx="14055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输出信号</a:t>
            </a:r>
            <a:endParaRPr lang="zh-CN" altLang="en-US" sz="2400" b="1" dirty="0"/>
          </a:p>
        </p:txBody>
      </p:sp>
      <p:sp>
        <p:nvSpPr>
          <p:cNvPr id="114" name="文本框 113"/>
          <p:cNvSpPr txBox="1"/>
          <p:nvPr/>
        </p:nvSpPr>
        <p:spPr>
          <a:xfrm>
            <a:off x="4172683" y="1349684"/>
            <a:ext cx="4471372" cy="2934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 dirty="0"/>
              <a:t>假设输入地址：</a:t>
            </a:r>
            <a:r>
              <a:rPr lang="en-US" altLang="zh-CN" sz="2400" b="1" dirty="0"/>
              <a:t>A</a:t>
            </a:r>
            <a:r>
              <a:rPr lang="en-US" altLang="zh-CN" sz="2400" b="1" baseline="-25000" dirty="0"/>
              <a:t>2</a:t>
            </a:r>
            <a:r>
              <a:rPr lang="en-US" altLang="zh-CN" sz="2400" b="1" dirty="0"/>
              <a:t>A</a:t>
            </a:r>
            <a:r>
              <a:rPr lang="en-US" altLang="zh-CN" sz="2400" b="1" baseline="-25000" dirty="0"/>
              <a:t>1</a:t>
            </a:r>
            <a:r>
              <a:rPr lang="en-US" altLang="zh-CN" sz="2400" b="1" dirty="0"/>
              <a:t>A</a:t>
            </a:r>
            <a:r>
              <a:rPr lang="en-US" altLang="zh-CN" sz="2400" b="1" baseline="-25000" dirty="0"/>
              <a:t>0</a:t>
            </a:r>
            <a:r>
              <a:rPr lang="en-US" altLang="zh-CN" sz="2400" b="1" dirty="0"/>
              <a:t>=010</a:t>
            </a:r>
            <a:endParaRPr lang="en-US" altLang="zh-CN" sz="2400" b="1" dirty="0"/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/>
              <a:t>若输入信号</a:t>
            </a:r>
            <a:r>
              <a:rPr lang="en-US" altLang="zh-CN" sz="2400" b="1" dirty="0"/>
              <a:t>D=0</a:t>
            </a:r>
            <a:r>
              <a:rPr lang="zh-CN" altLang="en-US" sz="2400" b="1" dirty="0"/>
              <a:t>，则输出端</a:t>
            </a:r>
            <a:endParaRPr lang="en-US" altLang="zh-CN" sz="2400" b="1" dirty="0"/>
          </a:p>
          <a:p>
            <a:pPr>
              <a:lnSpc>
                <a:spcPct val="130000"/>
              </a:lnSpc>
            </a:pPr>
            <a:r>
              <a:rPr lang="en-US" altLang="zh-CN" sz="2400" b="1" dirty="0"/>
              <a:t>      </a:t>
            </a:r>
            <a:endParaRPr lang="en-US" altLang="zh-CN" sz="2400" b="1" dirty="0"/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/>
              <a:t>如输入信号</a:t>
            </a:r>
            <a:r>
              <a:rPr lang="en-US" altLang="zh-CN" sz="2400" b="1" dirty="0"/>
              <a:t>D=1</a:t>
            </a:r>
            <a:r>
              <a:rPr lang="zh-CN" altLang="en-US" sz="2400" b="1" dirty="0"/>
              <a:t>，则芯片禁止，所有输出端都为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，所以此时</a:t>
            </a:r>
            <a:endParaRPr lang="en-US" altLang="zh-CN" sz="2400" b="1" dirty="0"/>
          </a:p>
          <a:p>
            <a:pPr>
              <a:lnSpc>
                <a:spcPct val="130000"/>
              </a:lnSpc>
            </a:pPr>
            <a:r>
              <a:rPr lang="en-US" altLang="zh-CN" sz="2400" b="1" dirty="0"/>
              <a:t>                   </a:t>
            </a:r>
            <a:endParaRPr lang="zh-CN" altLang="en-US" sz="2400" b="1" dirty="0"/>
          </a:p>
        </p:txBody>
      </p:sp>
      <p:graphicFrame>
        <p:nvGraphicFramePr>
          <p:cNvPr id="115" name="对象 114"/>
          <p:cNvGraphicFramePr>
            <a:graphicFrameLocks noChangeAspect="1"/>
          </p:cNvGraphicFramePr>
          <p:nvPr/>
        </p:nvGraphicFramePr>
        <p:xfrm>
          <a:off x="5540007" y="2340092"/>
          <a:ext cx="1244600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6" imgW="15240000" imgH="6096000" progId="Equation.DSMT4">
                  <p:embed/>
                </p:oleObj>
              </mc:Choice>
              <mc:Fallback>
                <p:oleObj name="Equation" r:id="rId6" imgW="15240000" imgH="6096000" progId="Equation.DSMT4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540007" y="2340092"/>
                        <a:ext cx="1244600" cy="500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" name="对象 115"/>
          <p:cNvGraphicFramePr>
            <a:graphicFrameLocks noChangeAspect="1"/>
          </p:cNvGraphicFramePr>
          <p:nvPr/>
        </p:nvGraphicFramePr>
        <p:xfrm>
          <a:off x="5567494" y="3830562"/>
          <a:ext cx="1193800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8" imgW="14630400" imgH="6096000" progId="Equation.DSMT4">
                  <p:embed/>
                </p:oleObj>
              </mc:Choice>
              <mc:Fallback>
                <p:oleObj name="Equation" r:id="rId8" imgW="14630400" imgH="6096000" progId="Equation.DSMT4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567494" y="3830562"/>
                        <a:ext cx="1193800" cy="500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" name="文本框 116"/>
          <p:cNvSpPr txBox="1"/>
          <p:nvPr/>
        </p:nvSpPr>
        <p:spPr>
          <a:xfrm>
            <a:off x="4221991" y="4483625"/>
            <a:ext cx="4576376" cy="2092881"/>
          </a:xfrm>
          <a:prstGeom prst="rect">
            <a:avLst/>
          </a:prstGeom>
          <a:noFill/>
          <a:ln>
            <a:solidFill>
              <a:srgbClr val="170A8E"/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sz="2400" b="1" dirty="0">
                <a:solidFill>
                  <a:srgbClr val="FF0000"/>
                </a:solidFill>
              </a:rPr>
              <a:t>结论</a:t>
            </a:r>
            <a:r>
              <a:rPr lang="zh-CN" altLang="en-US" sz="2400" b="1" dirty="0"/>
              <a:t>：</a:t>
            </a:r>
            <a:endParaRPr lang="en-US" altLang="zh-CN" sz="2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b="1" dirty="0"/>
              <a:t>输入地址指定的输出端信号等于输入信号</a:t>
            </a:r>
            <a:endParaRPr lang="en-US" altLang="zh-CN" sz="2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b="1" dirty="0"/>
              <a:t>改变输入地址就能将输入信号</a:t>
            </a:r>
            <a:r>
              <a:rPr lang="en-US" altLang="zh-CN" sz="2400" b="1" dirty="0"/>
              <a:t>D</a:t>
            </a:r>
            <a:r>
              <a:rPr lang="zh-CN" altLang="en-US" sz="2400" b="1" dirty="0"/>
              <a:t>分配到不同输出端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连接符 11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淘宝网chenying0907出品 6"/>
          <p:cNvSpPr txBox="1"/>
          <p:nvPr/>
        </p:nvSpPr>
        <p:spPr>
          <a:xfrm>
            <a:off x="1528823" y="0"/>
            <a:ext cx="5200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4.4.5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数据分配器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58194" y="646331"/>
            <a:ext cx="8229600" cy="5236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dmux_8(</a:t>
            </a:r>
            <a:r>
              <a:rPr lang="en-US" altLang="zh-CN" sz="2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iEN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oY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   //8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路数据分配器模块定义</a:t>
            </a:r>
            <a:endParaRPr lang="zh-CN" alt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235129" y="1330141"/>
            <a:ext cx="5040313" cy="5236914"/>
          </a:xfrm>
          <a:prstGeom prst="rect">
            <a:avLst/>
          </a:prstGeom>
          <a:ln w="19050">
            <a:solidFill>
              <a:srgbClr val="170A8E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solidFill>
                  <a:srgbClr val="0000FF"/>
                </a:solidFill>
              </a:rPr>
              <a:t>module</a:t>
            </a:r>
            <a:r>
              <a:rPr lang="en-US" altLang="zh-CN" sz="2000" b="1" dirty="0"/>
              <a:t> dmux_8(</a:t>
            </a:r>
            <a:r>
              <a:rPr lang="en-US" altLang="zh-CN" sz="2000" b="1" dirty="0" err="1"/>
              <a:t>iEN</a:t>
            </a:r>
            <a:r>
              <a:rPr lang="en-US" altLang="zh-CN" sz="2000" b="1" dirty="0"/>
              <a:t>, </a:t>
            </a:r>
            <a:r>
              <a:rPr lang="en-US" altLang="zh-CN" sz="2000" b="1" dirty="0" err="1"/>
              <a:t>iS</a:t>
            </a:r>
            <a:r>
              <a:rPr lang="en-US" altLang="zh-CN" sz="2000" b="1" dirty="0"/>
              <a:t>, </a:t>
            </a:r>
            <a:r>
              <a:rPr lang="en-US" altLang="zh-CN" sz="2000" b="1" dirty="0" err="1"/>
              <a:t>iD</a:t>
            </a:r>
            <a:r>
              <a:rPr lang="en-US" altLang="zh-CN" sz="2000" b="1" dirty="0"/>
              <a:t>, </a:t>
            </a:r>
            <a:r>
              <a:rPr lang="en-US" altLang="zh-CN" sz="2000" b="1" dirty="0" err="1"/>
              <a:t>oY</a:t>
            </a:r>
            <a:r>
              <a:rPr lang="en-US" altLang="zh-CN" sz="2000" b="1" dirty="0"/>
              <a:t>);</a:t>
            </a:r>
            <a:endParaRPr lang="en-US" altLang="zh-CN" sz="2000" b="1" dirty="0"/>
          </a:p>
          <a:p>
            <a:pPr algn="l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b="1" dirty="0"/>
              <a:t>      input </a:t>
            </a:r>
            <a:r>
              <a:rPr lang="en-US" altLang="zh-CN" sz="2000" b="1" dirty="0" err="1"/>
              <a:t>iEN</a:t>
            </a:r>
            <a:r>
              <a:rPr lang="en-US" altLang="zh-CN" sz="2000" b="1" dirty="0"/>
              <a:t>;                    //</a:t>
            </a:r>
            <a:r>
              <a:rPr lang="zh-CN" altLang="en-US" sz="2000" b="1" dirty="0"/>
              <a:t>使能控制信号</a:t>
            </a:r>
            <a:endParaRPr lang="zh-CN" altLang="en-US" sz="2000" b="1" dirty="0"/>
          </a:p>
          <a:p>
            <a:pPr algn="l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b="1" dirty="0"/>
              <a:t>      input </a:t>
            </a:r>
            <a:r>
              <a:rPr lang="en-US" altLang="zh-CN" sz="2000" b="1" dirty="0" err="1"/>
              <a:t>iD</a:t>
            </a:r>
            <a:r>
              <a:rPr lang="en-US" altLang="zh-CN" sz="2000" b="1" dirty="0"/>
              <a:t>;                     //</a:t>
            </a:r>
            <a:r>
              <a:rPr lang="zh-CN" altLang="en-US" sz="2000" b="1" dirty="0"/>
              <a:t>数据输入信号</a:t>
            </a:r>
            <a:endParaRPr lang="zh-CN" altLang="en-US" sz="2000" b="1" dirty="0"/>
          </a:p>
          <a:p>
            <a:pPr algn="l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b="1" dirty="0"/>
              <a:t>      input [2:0] </a:t>
            </a:r>
            <a:r>
              <a:rPr lang="en-US" altLang="zh-CN" sz="2000" b="1" dirty="0" err="1"/>
              <a:t>iS</a:t>
            </a:r>
            <a:r>
              <a:rPr lang="en-US" altLang="zh-CN" sz="2000" b="1" dirty="0"/>
              <a:t>;                 //</a:t>
            </a:r>
            <a:r>
              <a:rPr lang="zh-CN" altLang="en-US" sz="2000" b="1" dirty="0"/>
              <a:t>地址信号</a:t>
            </a:r>
            <a:endParaRPr lang="zh-CN" altLang="en-US" sz="2000" b="1" dirty="0"/>
          </a:p>
          <a:p>
            <a:pPr algn="l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b="1" dirty="0"/>
              <a:t>      output </a:t>
            </a:r>
            <a:r>
              <a:rPr lang="en-US" altLang="zh-CN" sz="2000" b="1" dirty="0" err="1"/>
              <a:t>reg</a:t>
            </a:r>
            <a:r>
              <a:rPr lang="en-US" altLang="zh-CN" sz="2000" b="1" dirty="0"/>
              <a:t> [7:0] </a:t>
            </a:r>
            <a:r>
              <a:rPr lang="en-US" altLang="zh-CN" sz="2000" b="1" dirty="0" err="1"/>
              <a:t>oY</a:t>
            </a:r>
            <a:r>
              <a:rPr lang="en-US" altLang="zh-CN" sz="2000" b="1" dirty="0"/>
              <a:t>;     //</a:t>
            </a:r>
            <a:r>
              <a:rPr lang="zh-CN" altLang="en-US" sz="2000" b="1" dirty="0"/>
              <a:t>数据输出信号</a:t>
            </a:r>
            <a:endParaRPr lang="zh-CN" altLang="en-US" sz="2000" b="1" dirty="0"/>
          </a:p>
          <a:p>
            <a:pPr algn="l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b="1" dirty="0"/>
              <a:t>      always@(</a:t>
            </a:r>
            <a:r>
              <a:rPr lang="en-US" altLang="zh-CN" sz="2000" b="1" dirty="0" err="1"/>
              <a:t>iD</a:t>
            </a:r>
            <a:r>
              <a:rPr lang="en-US" altLang="zh-CN" sz="2000" b="1" dirty="0"/>
              <a:t>, </a:t>
            </a:r>
            <a:r>
              <a:rPr lang="en-US" altLang="zh-CN" sz="2000" b="1" dirty="0" err="1"/>
              <a:t>iEN</a:t>
            </a:r>
            <a:r>
              <a:rPr lang="en-US" altLang="zh-CN" sz="2000" b="1" dirty="0"/>
              <a:t>, </a:t>
            </a:r>
            <a:r>
              <a:rPr lang="en-US" altLang="zh-CN" sz="2000" b="1" dirty="0" err="1"/>
              <a:t>iS</a:t>
            </a:r>
            <a:r>
              <a:rPr lang="en-US" altLang="zh-CN" sz="2000" b="1" dirty="0"/>
              <a:t>)</a:t>
            </a:r>
            <a:endParaRPr lang="en-US" altLang="zh-CN" sz="2000" b="1" dirty="0"/>
          </a:p>
          <a:p>
            <a:pPr algn="l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b="1" dirty="0"/>
              <a:t>         </a:t>
            </a:r>
            <a:r>
              <a:rPr lang="en-US" altLang="zh-CN" sz="2000" b="1" dirty="0">
                <a:solidFill>
                  <a:srgbClr val="FF0000"/>
                </a:solidFill>
              </a:rPr>
              <a:t>begin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algn="l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b="1" dirty="0"/>
              <a:t>              </a:t>
            </a:r>
            <a:r>
              <a:rPr lang="en-US" altLang="zh-CN" sz="2000" b="1" dirty="0" err="1"/>
              <a:t>oY</a:t>
            </a:r>
            <a:r>
              <a:rPr lang="en-US" altLang="zh-CN" sz="2000" b="1" dirty="0"/>
              <a:t>=8'b11111111; </a:t>
            </a:r>
            <a:endParaRPr lang="en-US" altLang="zh-CN" sz="2000" b="1" dirty="0"/>
          </a:p>
          <a:p>
            <a:pPr algn="l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b="1" dirty="0"/>
              <a:t>              if(</a:t>
            </a:r>
            <a:r>
              <a:rPr lang="en-US" altLang="zh-CN" sz="2000" b="1" dirty="0" err="1"/>
              <a:t>iEN</a:t>
            </a:r>
            <a:r>
              <a:rPr lang="en-US" altLang="zh-CN" sz="2000" b="1" dirty="0"/>
              <a:t>)</a:t>
            </a:r>
            <a:endParaRPr lang="en-US" altLang="zh-CN" sz="2000" b="1" dirty="0"/>
          </a:p>
          <a:p>
            <a:pPr algn="l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b="1" dirty="0"/>
              <a:t>                 </a:t>
            </a:r>
            <a:r>
              <a:rPr lang="en-US" altLang="zh-CN" sz="2000" b="1" dirty="0">
                <a:solidFill>
                  <a:srgbClr val="FF33CC"/>
                </a:solidFill>
              </a:rPr>
              <a:t>case</a:t>
            </a:r>
            <a:r>
              <a:rPr lang="en-US" altLang="zh-CN" sz="2000" b="1" dirty="0"/>
              <a:t>(</a:t>
            </a:r>
            <a:r>
              <a:rPr lang="en-US" altLang="zh-CN" sz="2000" b="1" dirty="0" err="1"/>
              <a:t>iS</a:t>
            </a:r>
            <a:r>
              <a:rPr lang="en-US" altLang="zh-CN" sz="2000" b="1" dirty="0"/>
              <a:t>)</a:t>
            </a:r>
            <a:endParaRPr lang="en-US" altLang="zh-CN" sz="2000" b="1" dirty="0"/>
          </a:p>
          <a:p>
            <a:pPr algn="l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b="1" dirty="0"/>
              <a:t>                     3'b000:oY[0]=</a:t>
            </a:r>
            <a:r>
              <a:rPr lang="en-US" altLang="zh-CN" sz="2000" b="1" dirty="0" err="1"/>
              <a:t>iD</a:t>
            </a:r>
            <a:r>
              <a:rPr lang="en-US" altLang="zh-CN" sz="2000" b="1" dirty="0"/>
              <a:t>;</a:t>
            </a:r>
            <a:endParaRPr lang="en-US" altLang="zh-CN" sz="2000" b="1" dirty="0"/>
          </a:p>
          <a:p>
            <a:pPr algn="l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b="1" dirty="0"/>
              <a:t>                     3'b001:oY[1]=</a:t>
            </a:r>
            <a:r>
              <a:rPr lang="en-US" altLang="zh-CN" sz="2000" b="1" dirty="0" err="1"/>
              <a:t>iD</a:t>
            </a:r>
            <a:r>
              <a:rPr lang="en-US" altLang="zh-CN" sz="2000" b="1" dirty="0"/>
              <a:t>;</a:t>
            </a:r>
            <a:endParaRPr lang="en-US" altLang="zh-CN" sz="2000" b="1" dirty="0"/>
          </a:p>
          <a:p>
            <a:pPr algn="l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b="1" dirty="0"/>
              <a:t>                     3'b010:oY[2]=</a:t>
            </a:r>
            <a:r>
              <a:rPr lang="en-US" altLang="zh-CN" sz="2000" b="1" dirty="0" err="1"/>
              <a:t>iD</a:t>
            </a:r>
            <a:r>
              <a:rPr lang="en-US" altLang="zh-CN" sz="2000" b="1" dirty="0"/>
              <a:t>;</a:t>
            </a:r>
            <a:endParaRPr lang="en-US" altLang="zh-CN" sz="2000" b="1" dirty="0"/>
          </a:p>
          <a:p>
            <a:pPr algn="l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b="1" dirty="0"/>
              <a:t>                     3'b011:oY[3]=</a:t>
            </a:r>
            <a:r>
              <a:rPr lang="en-US" altLang="zh-CN" sz="2000" b="1" dirty="0" err="1"/>
              <a:t>iD</a:t>
            </a:r>
            <a:r>
              <a:rPr lang="en-US" altLang="zh-CN" sz="2000" b="1" dirty="0"/>
              <a:t>;         </a:t>
            </a:r>
            <a:endParaRPr lang="en-US" altLang="zh-CN" sz="2000" b="1" dirty="0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5398898" y="1344294"/>
            <a:ext cx="3354191" cy="5206554"/>
          </a:xfrm>
          <a:prstGeom prst="rect">
            <a:avLst/>
          </a:prstGeom>
          <a:noFill/>
          <a:ln w="19050" algn="ctr">
            <a:solidFill>
              <a:srgbClr val="170A8E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80000"/>
              </a:lnSpc>
              <a:spcBef>
                <a:spcPts val="1000"/>
              </a:spcBef>
              <a:defRPr/>
            </a:pPr>
            <a:r>
              <a: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ea typeface="DotumChe" pitchFamily="49" charset="-127"/>
              </a:rPr>
              <a:t>                3'b100:oY[4]=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C0C0C0"/>
                  </a:outerShdw>
                </a:effectLst>
                <a:ea typeface="DotumChe" pitchFamily="49" charset="-127"/>
              </a:rPr>
              <a:t>iD</a:t>
            </a:r>
            <a:r>
              <a: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ea typeface="DotumChe" pitchFamily="49" charset="-127"/>
              </a:rPr>
              <a:t>;</a:t>
            </a:r>
            <a:endParaRPr lang="en-US" altLang="zh-CN" sz="2000" b="1" dirty="0">
              <a:effectLst>
                <a:outerShdw blurRad="38100" dist="38100" dir="2700000" algn="tl">
                  <a:srgbClr val="C0C0C0"/>
                </a:outerShdw>
              </a:effectLst>
              <a:ea typeface="DotumChe" pitchFamily="49" charset="-127"/>
            </a:endParaRPr>
          </a:p>
          <a:p>
            <a:pPr eaLnBrk="1" hangingPunct="1">
              <a:lnSpc>
                <a:spcPct val="80000"/>
              </a:lnSpc>
              <a:spcBef>
                <a:spcPts val="1000"/>
              </a:spcBef>
              <a:defRPr/>
            </a:pPr>
            <a:r>
              <a: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ea typeface="DotumChe" pitchFamily="49" charset="-127"/>
              </a:rPr>
              <a:t>                3'b101:oY[5]=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C0C0C0"/>
                  </a:outerShdw>
                </a:effectLst>
                <a:ea typeface="DotumChe" pitchFamily="49" charset="-127"/>
              </a:rPr>
              <a:t>iD</a:t>
            </a:r>
            <a:r>
              <a: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ea typeface="DotumChe" pitchFamily="49" charset="-127"/>
              </a:rPr>
              <a:t>;</a:t>
            </a:r>
            <a:endParaRPr lang="en-US" altLang="zh-CN" sz="2000" b="1" dirty="0">
              <a:effectLst>
                <a:outerShdw blurRad="38100" dist="38100" dir="2700000" algn="tl">
                  <a:srgbClr val="C0C0C0"/>
                </a:outerShdw>
              </a:effectLst>
              <a:ea typeface="DotumChe" pitchFamily="49" charset="-127"/>
            </a:endParaRPr>
          </a:p>
          <a:p>
            <a:pPr eaLnBrk="1" hangingPunct="1">
              <a:lnSpc>
                <a:spcPct val="80000"/>
              </a:lnSpc>
              <a:spcBef>
                <a:spcPts val="1000"/>
              </a:spcBef>
              <a:defRPr/>
            </a:pPr>
            <a:r>
              <a: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ea typeface="DotumChe" pitchFamily="49" charset="-127"/>
              </a:rPr>
              <a:t>                3'b110:oY[6]=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C0C0C0"/>
                  </a:outerShdw>
                </a:effectLst>
                <a:ea typeface="DotumChe" pitchFamily="49" charset="-127"/>
              </a:rPr>
              <a:t>iD</a:t>
            </a:r>
            <a:r>
              <a: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ea typeface="DotumChe" pitchFamily="49" charset="-127"/>
              </a:rPr>
              <a:t>;</a:t>
            </a:r>
            <a:endParaRPr lang="en-US" altLang="zh-CN" sz="2000" b="1" dirty="0">
              <a:effectLst>
                <a:outerShdw blurRad="38100" dist="38100" dir="2700000" algn="tl">
                  <a:srgbClr val="C0C0C0"/>
                </a:outerShdw>
              </a:effectLst>
              <a:ea typeface="DotumChe" pitchFamily="49" charset="-127"/>
            </a:endParaRPr>
          </a:p>
          <a:p>
            <a:pPr eaLnBrk="1" hangingPunct="1">
              <a:lnSpc>
                <a:spcPct val="80000"/>
              </a:lnSpc>
              <a:spcBef>
                <a:spcPts val="1000"/>
              </a:spcBef>
              <a:defRPr/>
            </a:pPr>
            <a:r>
              <a: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ea typeface="DotumChe" pitchFamily="49" charset="-127"/>
              </a:rPr>
              <a:t>                3'b111:oY[7]=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C0C0C0"/>
                  </a:outerShdw>
                </a:effectLst>
                <a:ea typeface="DotumChe" pitchFamily="49" charset="-127"/>
              </a:rPr>
              <a:t>iD</a:t>
            </a:r>
            <a:r>
              <a: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ea typeface="DotumChe" pitchFamily="49" charset="-127"/>
              </a:rPr>
              <a:t>;</a:t>
            </a:r>
            <a:endParaRPr lang="en-US" altLang="zh-CN" sz="2000" b="1" dirty="0">
              <a:effectLst>
                <a:outerShdw blurRad="38100" dist="38100" dir="2700000" algn="tl">
                  <a:srgbClr val="C0C0C0"/>
                </a:outerShdw>
              </a:effectLst>
              <a:ea typeface="DotumChe" pitchFamily="49" charset="-127"/>
            </a:endParaRPr>
          </a:p>
          <a:p>
            <a:pPr eaLnBrk="1" hangingPunct="1">
              <a:lnSpc>
                <a:spcPct val="80000"/>
              </a:lnSpc>
              <a:spcBef>
                <a:spcPts val="1000"/>
              </a:spcBef>
              <a:defRPr/>
            </a:pPr>
            <a:r>
              <a: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ea typeface="DotumChe" pitchFamily="49" charset="-127"/>
              </a:rPr>
              <a:t>            </a:t>
            </a:r>
            <a:r>
              <a:rPr lang="en-US" altLang="zh-CN" sz="2000" b="1" dirty="0" err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DotumChe" pitchFamily="49" charset="-127"/>
              </a:rPr>
              <a:t>endcase</a:t>
            </a:r>
            <a:endParaRPr lang="en-US" altLang="zh-CN" sz="2000" b="1" dirty="0">
              <a:solidFill>
                <a:srgbClr val="FF33CC"/>
              </a:solidFill>
              <a:effectLst>
                <a:outerShdw blurRad="38100" dist="38100" dir="2700000" algn="tl">
                  <a:srgbClr val="C0C0C0"/>
                </a:outerShdw>
              </a:effectLst>
              <a:ea typeface="DotumChe" pitchFamily="49" charset="-127"/>
            </a:endParaRPr>
          </a:p>
          <a:p>
            <a:pPr eaLnBrk="1" hangingPunct="1">
              <a:lnSpc>
                <a:spcPct val="80000"/>
              </a:lnSpc>
              <a:spcBef>
                <a:spcPts val="1000"/>
              </a:spcBef>
              <a:defRPr/>
            </a:pPr>
            <a:r>
              <a: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ea typeface="DotumChe" pitchFamily="49" charset="-127"/>
              </a:rPr>
              <a:t>      </a:t>
            </a:r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DotumChe" pitchFamily="49" charset="-127"/>
              </a:rPr>
              <a:t>end</a:t>
            </a:r>
            <a:endParaRPr lang="en-US" altLang="zh-CN" sz="20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DotumChe" pitchFamily="49" charset="-127"/>
            </a:endParaRPr>
          </a:p>
          <a:p>
            <a:pPr eaLnBrk="1" hangingPunct="1">
              <a:lnSpc>
                <a:spcPct val="80000"/>
              </a:lnSpc>
              <a:spcBef>
                <a:spcPts val="1000"/>
              </a:spcBef>
              <a:defRPr/>
            </a:pPr>
            <a:r>
              <a:rPr lang="en-US" altLang="zh-CN" sz="20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DotumChe" pitchFamily="49" charset="-127"/>
              </a:rPr>
              <a:t>Endmodule</a:t>
            </a:r>
            <a:endParaRPr lang="en-US" altLang="zh-CN" sz="20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ea typeface="DotumChe" pitchFamily="49" charset="-127"/>
            </a:endParaRPr>
          </a:p>
          <a:p>
            <a:pPr eaLnBrk="1" hangingPunct="1">
              <a:lnSpc>
                <a:spcPct val="80000"/>
              </a:lnSpc>
              <a:spcBef>
                <a:spcPts val="1000"/>
              </a:spcBef>
              <a:defRPr/>
            </a:pPr>
            <a:endParaRPr lang="en-US" altLang="zh-CN" sz="2000" b="1" dirty="0">
              <a:effectLst>
                <a:outerShdw blurRad="38100" dist="38100" dir="2700000" algn="tl">
                  <a:srgbClr val="C0C0C0"/>
                </a:outerShdw>
              </a:effectLst>
              <a:ea typeface="DotumChe" pitchFamily="49" charset="-127"/>
            </a:endParaRPr>
          </a:p>
          <a:p>
            <a:pPr eaLnBrk="1" hangingPunct="1">
              <a:lnSpc>
                <a:spcPct val="80000"/>
              </a:lnSpc>
              <a:spcBef>
                <a:spcPts val="1000"/>
              </a:spcBef>
              <a:defRPr/>
            </a:pPr>
            <a:endParaRPr lang="en-US" altLang="zh-CN" sz="2000" b="1" dirty="0">
              <a:effectLst>
                <a:outerShdw blurRad="38100" dist="38100" dir="2700000" algn="tl">
                  <a:srgbClr val="C0C0C0"/>
                </a:outerShdw>
              </a:effectLst>
              <a:ea typeface="DotumChe" pitchFamily="49" charset="-127"/>
            </a:endParaRPr>
          </a:p>
          <a:p>
            <a:pPr eaLnBrk="1" hangingPunct="1">
              <a:lnSpc>
                <a:spcPct val="80000"/>
              </a:lnSpc>
              <a:spcBef>
                <a:spcPts val="1000"/>
              </a:spcBef>
              <a:defRPr/>
            </a:pPr>
            <a:endParaRPr lang="en-US" altLang="zh-CN" sz="2000" b="1" dirty="0">
              <a:effectLst>
                <a:outerShdw blurRad="38100" dist="38100" dir="2700000" algn="tl">
                  <a:srgbClr val="C0C0C0"/>
                </a:outerShdw>
              </a:effectLst>
              <a:ea typeface="DotumChe" pitchFamily="49" charset="-127"/>
            </a:endParaRPr>
          </a:p>
          <a:p>
            <a:pPr eaLnBrk="1" hangingPunct="1">
              <a:lnSpc>
                <a:spcPct val="80000"/>
              </a:lnSpc>
              <a:spcBef>
                <a:spcPts val="1000"/>
              </a:spcBef>
              <a:defRPr/>
            </a:pPr>
            <a:endParaRPr lang="en-US" altLang="zh-CN" sz="2000" b="1" dirty="0">
              <a:effectLst>
                <a:outerShdw blurRad="38100" dist="38100" dir="2700000" algn="tl">
                  <a:srgbClr val="C0C0C0"/>
                </a:outerShdw>
              </a:effectLst>
              <a:ea typeface="DotumChe" pitchFamily="49" charset="-127"/>
            </a:endParaRPr>
          </a:p>
          <a:p>
            <a:pPr eaLnBrk="1" hangingPunct="1">
              <a:lnSpc>
                <a:spcPct val="80000"/>
              </a:lnSpc>
              <a:spcBef>
                <a:spcPts val="1000"/>
              </a:spcBef>
              <a:defRPr/>
            </a:pPr>
            <a:endParaRPr lang="en-US" altLang="zh-CN" sz="2000" b="1" dirty="0">
              <a:effectLst>
                <a:outerShdw blurRad="38100" dist="38100" dir="2700000" algn="tl">
                  <a:srgbClr val="C0C0C0"/>
                </a:outerShdw>
              </a:effectLst>
              <a:ea typeface="DotumChe" pitchFamily="49" charset="-127"/>
            </a:endParaRPr>
          </a:p>
          <a:p>
            <a:pPr eaLnBrk="1" hangingPunct="1">
              <a:lnSpc>
                <a:spcPct val="80000"/>
              </a:lnSpc>
              <a:spcBef>
                <a:spcPts val="1000"/>
              </a:spcBef>
              <a:defRPr/>
            </a:pPr>
            <a:endParaRPr lang="en-US" altLang="zh-CN" sz="2000" b="1" dirty="0">
              <a:effectLst>
                <a:outerShdw blurRad="38100" dist="38100" dir="2700000" algn="tl">
                  <a:srgbClr val="C0C0C0"/>
                </a:outerShdw>
              </a:effectLst>
              <a:ea typeface="DotumChe" pitchFamily="49" charset="-127"/>
            </a:endParaRPr>
          </a:p>
          <a:p>
            <a:pPr eaLnBrk="1" hangingPunct="1">
              <a:lnSpc>
                <a:spcPct val="80000"/>
              </a:lnSpc>
              <a:spcBef>
                <a:spcPts val="1000"/>
              </a:spcBef>
              <a:defRPr/>
            </a:pPr>
            <a:endParaRPr lang="en-US" altLang="zh-CN" sz="2000" b="1" dirty="0">
              <a:effectLst>
                <a:outerShdw blurRad="38100" dist="38100" dir="2700000" algn="tl">
                  <a:srgbClr val="C0C0C0"/>
                </a:outerShdw>
              </a:effectLst>
              <a:ea typeface="DotumChe" pitchFamily="49" charset="-127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淘宝网chenying0907出品 10"/>
          <p:cNvSpPr txBox="1"/>
          <p:nvPr/>
        </p:nvSpPr>
        <p:spPr>
          <a:xfrm>
            <a:off x="1194211" y="3078793"/>
            <a:ext cx="1831157" cy="761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  <a:r>
              <a:rPr lang="en-US" altLang="zh-CN" sz="1350" b="1" dirty="0">
                <a:solidFill>
                  <a:schemeClr val="accent1">
                    <a:lumMod val="50000"/>
                  </a:schemeClr>
                </a:solidFill>
              </a:rPr>
              <a:t> Main Content</a:t>
            </a:r>
            <a:endParaRPr lang="zh-CN" altLang="en-US" sz="135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淘宝网chenying0907出品 11"/>
          <p:cNvSpPr/>
          <p:nvPr/>
        </p:nvSpPr>
        <p:spPr>
          <a:xfrm>
            <a:off x="2917715" y="0"/>
            <a:ext cx="623236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cxnSp>
        <p:nvCxnSpPr>
          <p:cNvPr id="16" name="直接连接符 15"/>
          <p:cNvCxnSpPr/>
          <p:nvPr/>
        </p:nvCxnSpPr>
        <p:spPr>
          <a:xfrm flipH="1">
            <a:off x="2911640" y="0"/>
            <a:ext cx="2651081" cy="152494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>
            <a:endCxn id="12" idx="2"/>
          </p:cNvCxnSpPr>
          <p:nvPr/>
        </p:nvCxnSpPr>
        <p:spPr>
          <a:xfrm flipH="1">
            <a:off x="6033895" y="5086744"/>
            <a:ext cx="3116180" cy="177125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淘宝网chenying0907出品 20"/>
          <p:cNvSpPr txBox="1"/>
          <p:nvPr/>
        </p:nvSpPr>
        <p:spPr>
          <a:xfrm>
            <a:off x="4125505" y="2004144"/>
            <a:ext cx="35265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/>
              <a:t>数据选择器</a:t>
            </a:r>
            <a:endParaRPr lang="zh-CN" altLang="en-US" sz="2800" dirty="0"/>
          </a:p>
        </p:txBody>
      </p:sp>
      <p:sp>
        <p:nvSpPr>
          <p:cNvPr id="17" name="淘宝网chenying0907出品 29"/>
          <p:cNvSpPr txBox="1"/>
          <p:nvPr/>
        </p:nvSpPr>
        <p:spPr>
          <a:xfrm>
            <a:off x="4125505" y="4266614"/>
            <a:ext cx="3330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竞争和险象</a:t>
            </a:r>
            <a:endParaRPr lang="zh-CN" altLang="en-US" dirty="0"/>
          </a:p>
        </p:txBody>
      </p:sp>
      <p:sp>
        <p:nvSpPr>
          <p:cNvPr id="8" name="淘宝网chenying0907出品 20"/>
          <p:cNvSpPr txBox="1"/>
          <p:nvPr/>
        </p:nvSpPr>
        <p:spPr>
          <a:xfrm>
            <a:off x="4125505" y="2758301"/>
            <a:ext cx="35265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/>
              <a:t>数据分配器</a:t>
            </a:r>
            <a:endParaRPr lang="zh-CN" altLang="en-US" sz="2800" dirty="0"/>
          </a:p>
        </p:txBody>
      </p:sp>
      <p:sp>
        <p:nvSpPr>
          <p:cNvPr id="9" name="淘宝网chenying0907出品 20"/>
          <p:cNvSpPr txBox="1"/>
          <p:nvPr/>
        </p:nvSpPr>
        <p:spPr>
          <a:xfrm>
            <a:off x="4125505" y="3512457"/>
            <a:ext cx="35265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>
                <a:solidFill>
                  <a:schemeClr val="bg1"/>
                </a:solidFill>
              </a:rPr>
              <a:t>数值比较器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连接符 11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淘宝网chenying0907出品 6"/>
          <p:cNvSpPr txBox="1"/>
          <p:nvPr/>
        </p:nvSpPr>
        <p:spPr>
          <a:xfrm>
            <a:off x="1528823" y="0"/>
            <a:ext cx="5200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4.4.6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数值比较器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1" name="文本框 395266"/>
          <p:cNvSpPr txBox="1">
            <a:spLocks noChangeArrowheads="1"/>
          </p:cNvSpPr>
          <p:nvPr/>
        </p:nvSpPr>
        <p:spPr bwMode="auto">
          <a:xfrm>
            <a:off x="2016590" y="2035771"/>
            <a:ext cx="36036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buFont typeface="Arial" panose="020B0604020202020204" pitchFamily="34" charset="0"/>
              <a:buNone/>
              <a:defRPr sz="28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r>
              <a:rPr lang="zh-CN" altLang="en-US" dirty="0"/>
              <a:t>大小比较、相同比较</a:t>
            </a:r>
            <a:endParaRPr lang="zh-CN" altLang="en-US" dirty="0"/>
          </a:p>
        </p:txBody>
      </p:sp>
      <p:sp>
        <p:nvSpPr>
          <p:cNvPr id="15" name="矩形 395267"/>
          <p:cNvSpPr>
            <a:spLocks noChangeArrowheads="1"/>
          </p:cNvSpPr>
          <p:nvPr/>
        </p:nvSpPr>
        <p:spPr bwMode="auto">
          <a:xfrm>
            <a:off x="519603" y="2003816"/>
            <a:ext cx="182614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3200" b="1" dirty="0">
                <a:ea typeface="宋体" panose="02010600030101010101" pitchFamily="2" charset="-122"/>
              </a:rPr>
              <a:t>功    能：</a:t>
            </a:r>
            <a:endParaRPr lang="zh-CN" altLang="en-US" sz="3200" b="1" dirty="0">
              <a:ea typeface="宋体" panose="02010600030101010101" pitchFamily="2" charset="-122"/>
            </a:endParaRPr>
          </a:p>
        </p:txBody>
      </p:sp>
      <p:sp>
        <p:nvSpPr>
          <p:cNvPr id="16" name="矩形 395268"/>
          <p:cNvSpPr>
            <a:spLocks noChangeArrowheads="1"/>
          </p:cNvSpPr>
          <p:nvPr/>
        </p:nvSpPr>
        <p:spPr bwMode="auto">
          <a:xfrm>
            <a:off x="523977" y="1219579"/>
            <a:ext cx="182614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3200" b="1" dirty="0">
                <a:ea typeface="宋体" panose="02010600030101010101" pitchFamily="2" charset="-122"/>
              </a:rPr>
              <a:t>比较器：</a:t>
            </a:r>
            <a:endParaRPr lang="zh-CN" altLang="en-US" sz="3200" b="1" dirty="0">
              <a:ea typeface="宋体" panose="02010600030101010101" pitchFamily="2" charset="-122"/>
            </a:endParaRPr>
          </a:p>
        </p:txBody>
      </p:sp>
      <p:sp>
        <p:nvSpPr>
          <p:cNvPr id="17" name="矩形 395269"/>
          <p:cNvSpPr>
            <a:spLocks noChangeArrowheads="1"/>
          </p:cNvSpPr>
          <p:nvPr/>
        </p:nvSpPr>
        <p:spPr bwMode="auto">
          <a:xfrm>
            <a:off x="2015041" y="1236236"/>
            <a:ext cx="64665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b="1" dirty="0">
                <a:latin typeface="黑体" panose="02010609060101010101" pitchFamily="49" charset="-122"/>
              </a:rPr>
              <a:t>能完成两个数字大小及相同比较的电路</a:t>
            </a:r>
            <a:endParaRPr lang="zh-CN" altLang="en-US" b="1" dirty="0">
              <a:latin typeface="黑体" panose="02010609060101010101" pitchFamily="49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900134" y="2771319"/>
            <a:ext cx="3292047" cy="3024909"/>
            <a:chOff x="4900134" y="2771319"/>
            <a:chExt cx="3292047" cy="3024909"/>
          </a:xfrm>
        </p:grpSpPr>
        <p:grpSp>
          <p:nvGrpSpPr>
            <p:cNvPr id="18" name="组合 17"/>
            <p:cNvGrpSpPr/>
            <p:nvPr/>
          </p:nvGrpSpPr>
          <p:grpSpPr bwMode="auto">
            <a:xfrm>
              <a:off x="4900134" y="3294539"/>
              <a:ext cx="3292047" cy="2501689"/>
              <a:chOff x="0" y="0"/>
              <a:chExt cx="1681" cy="1344"/>
            </a:xfrm>
          </p:grpSpPr>
          <p:graphicFrame>
            <p:nvGraphicFramePr>
              <p:cNvPr id="19" name="对象 395271"/>
              <p:cNvGraphicFramePr>
                <a:graphicFrameLocks noChangeAspect="1"/>
              </p:cNvGraphicFramePr>
              <p:nvPr/>
            </p:nvGraphicFramePr>
            <p:xfrm>
              <a:off x="40" y="72"/>
              <a:ext cx="1633" cy="2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" name="Equation" r:id="rId2" imgW="38709600" imgH="5486400" progId="Equation.DSMT4">
                      <p:embed/>
                    </p:oleObj>
                  </mc:Choice>
                  <mc:Fallback>
                    <p:oleObj name="Equation" r:id="rId2" imgW="38709600" imgH="5486400" progId="Equation.DSMT4">
                      <p:embed/>
                      <p:pic>
                        <p:nvPicPr>
                          <p:cNvPr id="0" name="图片 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" y="72"/>
                            <a:ext cx="1633" cy="2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" name="矩形 395272"/>
              <p:cNvSpPr>
                <a:spLocks noChangeArrowheads="1"/>
              </p:cNvSpPr>
              <p:nvPr/>
            </p:nvSpPr>
            <p:spPr bwMode="auto">
              <a:xfrm>
                <a:off x="49" y="304"/>
                <a:ext cx="1632" cy="9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457200" indent="-4572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buFont typeface="Arial" panose="020B0604020202020204" pitchFamily="34" charset="0"/>
                  <a:buNone/>
                </a:pPr>
                <a:r>
                  <a:rPr lang="en-US" altLang="zh-CN" b="1" dirty="0">
                    <a:ea typeface="宋体" panose="02010600030101010101" pitchFamily="2" charset="-122"/>
                  </a:rPr>
                  <a:t>0   0     0      1     0 </a:t>
                </a:r>
                <a:endParaRPr lang="en-US" altLang="zh-CN" b="1" dirty="0">
                  <a:ea typeface="宋体" panose="02010600030101010101" pitchFamily="2" charset="-122"/>
                </a:endParaRPr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US" altLang="zh-CN" b="1" dirty="0">
                    <a:ea typeface="宋体" panose="02010600030101010101" pitchFamily="2" charset="-122"/>
                  </a:rPr>
                  <a:t>0   1     0      0     1   </a:t>
                </a:r>
                <a:endParaRPr lang="en-US" altLang="zh-CN" b="1" dirty="0">
                  <a:ea typeface="宋体" panose="02010600030101010101" pitchFamily="2" charset="-122"/>
                </a:endParaRPr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US" altLang="zh-CN" b="1" dirty="0">
                    <a:ea typeface="宋体" panose="02010600030101010101" pitchFamily="2" charset="-122"/>
                  </a:rPr>
                  <a:t>1   0     1      0     0 </a:t>
                </a:r>
                <a:endParaRPr lang="en-US" altLang="zh-CN" b="1" dirty="0">
                  <a:ea typeface="宋体" panose="02010600030101010101" pitchFamily="2" charset="-122"/>
                </a:endParaRPr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US" altLang="zh-CN" b="1" dirty="0">
                    <a:ea typeface="宋体" panose="02010600030101010101" pitchFamily="2" charset="-122"/>
                  </a:rPr>
                  <a:t>1   1     0      1     0</a:t>
                </a:r>
                <a:endParaRPr lang="en-US" altLang="zh-CN" sz="2400" b="1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21" name="直接连接符 395273"/>
              <p:cNvSpPr>
                <a:spLocks noChangeShapeType="1"/>
              </p:cNvSpPr>
              <p:nvPr/>
            </p:nvSpPr>
            <p:spPr bwMode="auto">
              <a:xfrm>
                <a:off x="0" y="336"/>
                <a:ext cx="16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直接连接符 395274"/>
              <p:cNvSpPr>
                <a:spLocks noChangeShapeType="1"/>
              </p:cNvSpPr>
              <p:nvPr/>
            </p:nvSpPr>
            <p:spPr bwMode="auto">
              <a:xfrm>
                <a:off x="528" y="0"/>
                <a:ext cx="0" cy="13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直接连接符 395275"/>
              <p:cNvSpPr>
                <a:spLocks noChangeShapeType="1"/>
              </p:cNvSpPr>
              <p:nvPr/>
            </p:nvSpPr>
            <p:spPr bwMode="auto">
              <a:xfrm>
                <a:off x="0" y="1344"/>
                <a:ext cx="16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直接连接符 395276"/>
              <p:cNvSpPr>
                <a:spLocks noChangeShapeType="1"/>
              </p:cNvSpPr>
              <p:nvPr/>
            </p:nvSpPr>
            <p:spPr bwMode="auto">
              <a:xfrm>
                <a:off x="0" y="0"/>
                <a:ext cx="16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6" name="矩形 395282"/>
            <p:cNvSpPr>
              <a:spLocks noChangeArrowheads="1"/>
            </p:cNvSpPr>
            <p:nvPr/>
          </p:nvSpPr>
          <p:spPr bwMode="auto">
            <a:xfrm>
              <a:off x="5682544" y="2771319"/>
              <a:ext cx="151388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真值表</a:t>
              </a:r>
              <a:endParaRPr lang="zh-CN" altLang="en-US" b="1" dirty="0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395905" y="3856013"/>
            <a:ext cx="3742504" cy="1698469"/>
            <a:chOff x="395905" y="3856013"/>
            <a:chExt cx="3742504" cy="1698469"/>
          </a:xfrm>
        </p:grpSpPr>
        <p:sp>
          <p:nvSpPr>
            <p:cNvPr id="25" name="文本框 395281"/>
            <p:cNvSpPr txBox="1">
              <a:spLocks noChangeArrowheads="1"/>
            </p:cNvSpPr>
            <p:nvPr/>
          </p:nvSpPr>
          <p:spPr bwMode="auto">
            <a:xfrm>
              <a:off x="395905" y="3863506"/>
              <a:ext cx="2098675" cy="16909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chemeClr val="hlink"/>
                  </a:solidFill>
                  <a:ea typeface="宋体" panose="02010600030101010101" pitchFamily="2" charset="-122"/>
                </a:rPr>
                <a:t>  </a:t>
              </a:r>
              <a:r>
                <a:rPr lang="zh-CN" altLang="en-US" b="1" dirty="0">
                  <a:solidFill>
                    <a:srgbClr val="170A8E"/>
                  </a:solidFill>
                  <a:ea typeface="宋体" panose="02010600030101010101" pitchFamily="2" charset="-122"/>
                </a:rPr>
                <a:t>输入：</a:t>
              </a:r>
              <a:endParaRPr lang="en-US" altLang="zh-CN" b="1" dirty="0">
                <a:solidFill>
                  <a:srgbClr val="170A8E"/>
                </a:solidFill>
                <a:ea typeface="宋体" panose="02010600030101010101" pitchFamily="2" charset="-122"/>
              </a:endParaRPr>
            </a:p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endParaRPr lang="zh-CN" altLang="en-US" b="1" dirty="0">
                <a:solidFill>
                  <a:srgbClr val="170A8E"/>
                </a:solidFill>
                <a:ea typeface="宋体" panose="02010600030101010101" pitchFamily="2" charset="-122"/>
              </a:endParaRPr>
            </a:p>
            <a:p>
              <a:pPr eaLnBrk="1" hangingPunct="1">
                <a:lnSpc>
                  <a:spcPct val="70000"/>
                </a:lnSpc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hlink"/>
                  </a:solidFill>
                  <a:ea typeface="宋体" panose="02010600030101010101" pitchFamily="2" charset="-122"/>
                </a:rPr>
                <a:t>  </a:t>
              </a:r>
              <a:r>
                <a:rPr lang="zh-CN" altLang="en-US" b="1" dirty="0">
                  <a:solidFill>
                    <a:srgbClr val="170A8E"/>
                  </a:solidFill>
                  <a:ea typeface="宋体" panose="02010600030101010101" pitchFamily="2" charset="-122"/>
                </a:rPr>
                <a:t>输出：</a:t>
              </a:r>
              <a:endParaRPr lang="zh-CN" altLang="en-US" sz="2400" b="1" dirty="0">
                <a:solidFill>
                  <a:srgbClr val="170A8E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7" name="矩形 26"/>
            <p:cNvSpPr>
              <a:spLocks noChangeArrowheads="1"/>
            </p:cNvSpPr>
            <p:nvPr/>
          </p:nvSpPr>
          <p:spPr bwMode="auto">
            <a:xfrm>
              <a:off x="1560782" y="3856013"/>
              <a:ext cx="231933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zh-CN" altLang="en-US" b="1" dirty="0">
                  <a:latin typeface="楷体_GB2312" pitchFamily="49" charset="-122"/>
                  <a:ea typeface="楷体_GB2312" pitchFamily="49" charset="-122"/>
                </a:rPr>
                <a:t>数据</a:t>
              </a:r>
              <a:r>
                <a:rPr lang="en-US" altLang="zh-CN" b="1" dirty="0">
                  <a:latin typeface="楷体_GB2312" pitchFamily="49" charset="-122"/>
                  <a:ea typeface="楷体_GB2312" pitchFamily="49" charset="-122"/>
                </a:rPr>
                <a:t>A</a:t>
              </a:r>
              <a:r>
                <a:rPr lang="zh-CN" altLang="en-US" b="1" dirty="0">
                  <a:latin typeface="楷体_GB2312" pitchFamily="49" charset="-122"/>
                  <a:ea typeface="楷体_GB2312" pitchFamily="49" charset="-122"/>
                </a:rPr>
                <a:t>、</a:t>
              </a:r>
              <a:r>
                <a:rPr lang="en-US" altLang="zh-CN" b="1" dirty="0">
                  <a:latin typeface="楷体_GB2312" pitchFamily="49" charset="-122"/>
                  <a:ea typeface="楷体_GB2312" pitchFamily="49" charset="-122"/>
                </a:rPr>
                <a:t>B</a:t>
              </a:r>
              <a:endParaRPr lang="en-US" altLang="zh-CN" b="1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8" name="矩形 27"/>
            <p:cNvSpPr>
              <a:spLocks noChangeArrowheads="1"/>
            </p:cNvSpPr>
            <p:nvPr/>
          </p:nvSpPr>
          <p:spPr bwMode="auto">
            <a:xfrm>
              <a:off x="1606947" y="5125527"/>
              <a:ext cx="2531462" cy="3939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zh-CN" b="1" i="1" dirty="0">
                  <a:latin typeface="楷体_GB2312" pitchFamily="49" charset="-122"/>
                  <a:ea typeface="楷体_GB2312" pitchFamily="49" charset="-122"/>
                </a:rPr>
                <a:t>F</a:t>
              </a:r>
              <a:r>
                <a:rPr lang="en-US" altLang="zh-CN" b="1" i="1" baseline="-25000" dirty="0">
                  <a:latin typeface="楷体_GB2312" pitchFamily="49" charset="-122"/>
                  <a:ea typeface="楷体_GB2312" pitchFamily="49" charset="-122"/>
                </a:rPr>
                <a:t>A&gt;B </a:t>
              </a:r>
              <a:r>
                <a:rPr lang="zh-CN" altLang="en-US" b="1" baseline="-25000" dirty="0">
                  <a:latin typeface="楷体_GB2312" pitchFamily="49" charset="-122"/>
                  <a:ea typeface="楷体_GB2312" pitchFamily="49" charset="-122"/>
                </a:rPr>
                <a:t>、</a:t>
              </a:r>
              <a:r>
                <a:rPr lang="en-US" altLang="zh-CN" b="1" i="1" dirty="0">
                  <a:latin typeface="楷体_GB2312" pitchFamily="49" charset="-122"/>
                  <a:ea typeface="楷体_GB2312" pitchFamily="49" charset="-122"/>
                </a:rPr>
                <a:t>F</a:t>
              </a:r>
              <a:r>
                <a:rPr lang="en-US" altLang="zh-CN" b="1" i="1" baseline="-25000" dirty="0">
                  <a:latin typeface="楷体_GB2312" pitchFamily="49" charset="-122"/>
                  <a:ea typeface="楷体_GB2312" pitchFamily="49" charset="-122"/>
                </a:rPr>
                <a:t>A=B </a:t>
              </a:r>
              <a:r>
                <a:rPr lang="zh-CN" altLang="en-US" b="1" i="1" baseline="-25000" dirty="0">
                  <a:latin typeface="楷体_GB2312" pitchFamily="49" charset="-122"/>
                  <a:ea typeface="楷体_GB2312" pitchFamily="49" charset="-122"/>
                </a:rPr>
                <a:t>、</a:t>
              </a:r>
              <a:r>
                <a:rPr lang="en-US" altLang="zh-CN" b="1" i="1" dirty="0">
                  <a:latin typeface="楷体_GB2312" pitchFamily="49" charset="-122"/>
                  <a:ea typeface="楷体_GB2312" pitchFamily="49" charset="-122"/>
                </a:rPr>
                <a:t>F</a:t>
              </a:r>
              <a:r>
                <a:rPr lang="en-US" altLang="zh-CN" b="1" i="1" baseline="-25000" dirty="0">
                  <a:latin typeface="楷体_GB2312" pitchFamily="49" charset="-122"/>
                  <a:ea typeface="楷体_GB2312" pitchFamily="49" charset="-122"/>
                </a:rPr>
                <a:t>A&lt;B</a:t>
              </a:r>
              <a:endParaRPr lang="en-US" altLang="zh-CN" b="1" i="1" baseline="-25000" dirty="0"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29" name="矩形 395295"/>
          <p:cNvSpPr>
            <a:spLocks noChangeArrowheads="1"/>
          </p:cNvSpPr>
          <p:nvPr/>
        </p:nvSpPr>
        <p:spPr bwMode="auto">
          <a:xfrm>
            <a:off x="519603" y="3026900"/>
            <a:ext cx="375926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1.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  一位数值比较器</a:t>
            </a:r>
            <a:endParaRPr lang="zh-CN" altLang="en-US" b="1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连接符 11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淘宝网chenying0907出品 6"/>
          <p:cNvSpPr txBox="1"/>
          <p:nvPr/>
        </p:nvSpPr>
        <p:spPr>
          <a:xfrm>
            <a:off x="1528823" y="0"/>
            <a:ext cx="5200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4.4.6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数值比较器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29" name="矩形 395295"/>
          <p:cNvSpPr>
            <a:spLocks noChangeArrowheads="1"/>
          </p:cNvSpPr>
          <p:nvPr/>
        </p:nvSpPr>
        <p:spPr bwMode="auto">
          <a:xfrm>
            <a:off x="64518" y="709244"/>
            <a:ext cx="375926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1.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  一位数值比较器</a:t>
            </a:r>
            <a:endParaRPr lang="zh-CN" altLang="en-US" b="1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38" name="矩形 395279"/>
          <p:cNvSpPr>
            <a:spLocks noChangeArrowheads="1"/>
          </p:cNvSpPr>
          <p:nvPr/>
        </p:nvSpPr>
        <p:spPr bwMode="auto">
          <a:xfrm>
            <a:off x="5561272" y="1331703"/>
            <a:ext cx="11128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FF0000"/>
                </a:solidFill>
                <a:ea typeface="宋体" panose="02010600030101010101" pitchFamily="2" charset="-122"/>
              </a:rPr>
              <a:t>表达式</a:t>
            </a:r>
            <a:endParaRPr lang="zh-CN" altLang="en-US" sz="2400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32194" y="1383257"/>
            <a:ext cx="3134360" cy="2885176"/>
            <a:chOff x="332194" y="1383257"/>
            <a:chExt cx="3134360" cy="2885176"/>
          </a:xfrm>
        </p:grpSpPr>
        <p:grpSp>
          <p:nvGrpSpPr>
            <p:cNvPr id="30" name="组合 29"/>
            <p:cNvGrpSpPr/>
            <p:nvPr/>
          </p:nvGrpSpPr>
          <p:grpSpPr bwMode="auto">
            <a:xfrm>
              <a:off x="332194" y="1818598"/>
              <a:ext cx="3134360" cy="2449835"/>
              <a:chOff x="0" y="0"/>
              <a:chExt cx="1680" cy="1344"/>
            </a:xfrm>
          </p:grpSpPr>
          <p:graphicFrame>
            <p:nvGraphicFramePr>
              <p:cNvPr id="31" name="对象 395271"/>
              <p:cNvGraphicFramePr>
                <a:graphicFrameLocks noChangeAspect="1"/>
              </p:cNvGraphicFramePr>
              <p:nvPr/>
            </p:nvGraphicFramePr>
            <p:xfrm>
              <a:off x="40" y="72"/>
              <a:ext cx="1633" cy="2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" name="Equation" r:id="rId2" imgW="38709600" imgH="5486400" progId="Equation.DSMT4">
                      <p:embed/>
                    </p:oleObj>
                  </mc:Choice>
                  <mc:Fallback>
                    <p:oleObj name="Equation" r:id="rId2" imgW="38709600" imgH="5486400" progId="Equation.DSMT4">
                      <p:embed/>
                      <p:pic>
                        <p:nvPicPr>
                          <p:cNvPr id="0" name="图片 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" y="72"/>
                            <a:ext cx="1633" cy="2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2" name="矩形 395272"/>
              <p:cNvSpPr>
                <a:spLocks noChangeArrowheads="1"/>
              </p:cNvSpPr>
              <p:nvPr/>
            </p:nvSpPr>
            <p:spPr bwMode="auto">
              <a:xfrm>
                <a:off x="48" y="336"/>
                <a:ext cx="1632" cy="9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457200" indent="-4572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buFont typeface="Arial" panose="020B0604020202020204" pitchFamily="34" charset="0"/>
                  <a:buNone/>
                </a:pPr>
                <a:r>
                  <a:rPr lang="en-US" altLang="zh-CN" b="1" dirty="0">
                    <a:ea typeface="宋体" panose="02010600030101010101" pitchFamily="2" charset="-122"/>
                  </a:rPr>
                  <a:t>0   0     0     1     0 </a:t>
                </a:r>
                <a:endParaRPr lang="en-US" altLang="zh-CN" b="1" dirty="0">
                  <a:ea typeface="宋体" panose="02010600030101010101" pitchFamily="2" charset="-122"/>
                </a:endParaRPr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US" altLang="zh-CN" b="1" dirty="0">
                    <a:ea typeface="宋体" panose="02010600030101010101" pitchFamily="2" charset="-122"/>
                  </a:rPr>
                  <a:t>0   1     0     0     1   </a:t>
                </a:r>
                <a:endParaRPr lang="en-US" altLang="zh-CN" b="1" dirty="0">
                  <a:ea typeface="宋体" panose="02010600030101010101" pitchFamily="2" charset="-122"/>
                </a:endParaRPr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US" altLang="zh-CN" b="1" dirty="0">
                    <a:ea typeface="宋体" panose="02010600030101010101" pitchFamily="2" charset="-122"/>
                  </a:rPr>
                  <a:t>1   0     1     0     0 </a:t>
                </a:r>
                <a:endParaRPr lang="en-US" altLang="zh-CN" b="1" dirty="0">
                  <a:ea typeface="宋体" panose="02010600030101010101" pitchFamily="2" charset="-122"/>
                </a:endParaRPr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US" altLang="zh-CN" b="1" dirty="0">
                    <a:ea typeface="宋体" panose="02010600030101010101" pitchFamily="2" charset="-122"/>
                  </a:rPr>
                  <a:t>1   1     0     1     0</a:t>
                </a:r>
                <a:endParaRPr lang="en-US" altLang="zh-CN" sz="2400" b="1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33" name="直接连接符 395273"/>
              <p:cNvSpPr>
                <a:spLocks noChangeShapeType="1"/>
              </p:cNvSpPr>
              <p:nvPr/>
            </p:nvSpPr>
            <p:spPr bwMode="auto">
              <a:xfrm>
                <a:off x="0" y="336"/>
                <a:ext cx="16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直接连接符 395274"/>
              <p:cNvSpPr>
                <a:spLocks noChangeShapeType="1"/>
              </p:cNvSpPr>
              <p:nvPr/>
            </p:nvSpPr>
            <p:spPr bwMode="auto">
              <a:xfrm>
                <a:off x="528" y="0"/>
                <a:ext cx="0" cy="13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直接连接符 395275"/>
              <p:cNvSpPr>
                <a:spLocks noChangeShapeType="1"/>
              </p:cNvSpPr>
              <p:nvPr/>
            </p:nvSpPr>
            <p:spPr bwMode="auto">
              <a:xfrm>
                <a:off x="0" y="1344"/>
                <a:ext cx="16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直接连接符 395276"/>
              <p:cNvSpPr>
                <a:spLocks noChangeShapeType="1"/>
              </p:cNvSpPr>
              <p:nvPr/>
            </p:nvSpPr>
            <p:spPr bwMode="auto">
              <a:xfrm>
                <a:off x="0" y="0"/>
                <a:ext cx="16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9" name="矩形 395282"/>
            <p:cNvSpPr>
              <a:spLocks noChangeArrowheads="1"/>
            </p:cNvSpPr>
            <p:nvPr/>
          </p:nvSpPr>
          <p:spPr bwMode="auto">
            <a:xfrm>
              <a:off x="1173214" y="1383257"/>
              <a:ext cx="15138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zh-CN" altLang="en-US" sz="2400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真值表</a:t>
              </a:r>
              <a:endParaRPr lang="zh-CN" altLang="en-US" sz="2400" b="1" dirty="0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41" name="对象 395284"/>
          <p:cNvGraphicFramePr>
            <a:graphicFrameLocks noChangeAspect="1"/>
          </p:cNvGraphicFramePr>
          <p:nvPr/>
        </p:nvGraphicFramePr>
        <p:xfrm>
          <a:off x="4638723" y="1755837"/>
          <a:ext cx="2518131" cy="6356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4" imgW="24079200" imgH="6096000" progId="Equation.DSMT4">
                  <p:embed/>
                </p:oleObj>
              </mc:Choice>
              <mc:Fallback>
                <p:oleObj name="Equation" r:id="rId4" imgW="24079200" imgH="60960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8723" y="1755837"/>
                        <a:ext cx="2518131" cy="6356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395285"/>
          <p:cNvGraphicFramePr>
            <a:graphicFrameLocks noChangeAspect="1"/>
          </p:cNvGraphicFramePr>
          <p:nvPr/>
        </p:nvGraphicFramePr>
        <p:xfrm>
          <a:off x="4638723" y="2389418"/>
          <a:ext cx="3941158" cy="1232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6" imgW="39014400" imgH="12192000" progId="Equation.DSMT4">
                  <p:embed/>
                </p:oleObj>
              </mc:Choice>
              <mc:Fallback>
                <p:oleObj name="Equation" r:id="rId6" imgW="39014400" imgH="121920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8723" y="2389418"/>
                        <a:ext cx="3941158" cy="12327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395286"/>
          <p:cNvGraphicFramePr>
            <a:graphicFrameLocks noChangeAspect="1"/>
          </p:cNvGraphicFramePr>
          <p:nvPr/>
        </p:nvGraphicFramePr>
        <p:xfrm>
          <a:off x="4638723" y="3711235"/>
          <a:ext cx="2151747" cy="5566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8" imgW="23469600" imgH="6096000" progId="Equation.DSMT4">
                  <p:embed/>
                </p:oleObj>
              </mc:Choice>
              <mc:Fallback>
                <p:oleObj name="Equation" r:id="rId8" imgW="23469600" imgH="60960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8723" y="3711235"/>
                        <a:ext cx="2151747" cy="5566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1219903" y="4538374"/>
            <a:ext cx="6011599" cy="2216145"/>
            <a:chOff x="1219903" y="4538374"/>
            <a:chExt cx="6011599" cy="2216145"/>
          </a:xfrm>
        </p:grpSpPr>
        <p:sp>
          <p:nvSpPr>
            <p:cNvPr id="37" name="矩形 395278"/>
            <p:cNvSpPr>
              <a:spLocks noChangeArrowheads="1"/>
            </p:cNvSpPr>
            <p:nvPr/>
          </p:nvSpPr>
          <p:spPr bwMode="auto">
            <a:xfrm>
              <a:off x="1219903" y="5388423"/>
              <a:ext cx="11033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zh-CN" altLang="en-US" sz="2400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逻辑图</a:t>
              </a:r>
              <a:endParaRPr lang="zh-CN" altLang="en-US" sz="2400" b="1" dirty="0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  <p:grpSp>
          <p:nvGrpSpPr>
            <p:cNvPr id="44" name="组合 43"/>
            <p:cNvGrpSpPr/>
            <p:nvPr/>
          </p:nvGrpSpPr>
          <p:grpSpPr bwMode="auto">
            <a:xfrm>
              <a:off x="2323191" y="4538374"/>
              <a:ext cx="4908311" cy="2216145"/>
              <a:chOff x="0" y="0"/>
              <a:chExt cx="2805" cy="1230"/>
            </a:xfrm>
          </p:grpSpPr>
          <p:pic>
            <p:nvPicPr>
              <p:cNvPr id="45" name="图片 395288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2406" cy="1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6" name="矩形 395289"/>
              <p:cNvSpPr>
                <a:spLocks noChangeArrowheads="1"/>
              </p:cNvSpPr>
              <p:nvPr/>
            </p:nvSpPr>
            <p:spPr bwMode="auto">
              <a:xfrm>
                <a:off x="2090" y="909"/>
                <a:ext cx="484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lnSpc>
                    <a:spcPct val="50000"/>
                  </a:lnSpc>
                  <a:spcBef>
                    <a:spcPct val="50000"/>
                  </a:spcBef>
                </a:pPr>
                <a:r>
                  <a:rPr lang="en-US" altLang="zh-CN" i="1" dirty="0">
                    <a:latin typeface="楷体_GB2312" pitchFamily="49" charset="-122"/>
                    <a:ea typeface="楷体_GB2312" pitchFamily="49" charset="-122"/>
                  </a:rPr>
                  <a:t>F</a:t>
                </a:r>
                <a:r>
                  <a:rPr lang="en-US" altLang="zh-CN" i="1" baseline="-25000" dirty="0">
                    <a:latin typeface="楷体_GB2312" pitchFamily="49" charset="-122"/>
                    <a:ea typeface="楷体_GB2312" pitchFamily="49" charset="-122"/>
                  </a:rPr>
                  <a:t>A&gt;B</a:t>
                </a:r>
                <a:endParaRPr lang="en-US" altLang="zh-CN" i="1" baseline="-25000" dirty="0"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47" name="矩形 395290"/>
              <p:cNvSpPr>
                <a:spLocks noChangeArrowheads="1"/>
              </p:cNvSpPr>
              <p:nvPr/>
            </p:nvSpPr>
            <p:spPr bwMode="auto">
              <a:xfrm>
                <a:off x="2100" y="105"/>
                <a:ext cx="499" cy="2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i="1" dirty="0">
                    <a:latin typeface="楷体_GB2312" pitchFamily="49" charset="-122"/>
                    <a:ea typeface="楷体_GB2312" pitchFamily="49" charset="-122"/>
                  </a:rPr>
                  <a:t>F</a:t>
                </a:r>
                <a:r>
                  <a:rPr lang="en-US" altLang="zh-CN" baseline="-25000" dirty="0">
                    <a:latin typeface="楷体_GB2312" pitchFamily="49" charset="-122"/>
                    <a:ea typeface="楷体_GB2312" pitchFamily="49" charset="-122"/>
                  </a:rPr>
                  <a:t>A&lt;B</a:t>
                </a:r>
                <a:endParaRPr lang="en-US" altLang="zh-CN" baseline="-25000" dirty="0"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48" name="矩形 395291"/>
              <p:cNvSpPr>
                <a:spLocks noChangeArrowheads="1"/>
              </p:cNvSpPr>
              <p:nvPr/>
            </p:nvSpPr>
            <p:spPr bwMode="auto">
              <a:xfrm>
                <a:off x="2321" y="544"/>
                <a:ext cx="484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lnSpc>
                    <a:spcPct val="50000"/>
                  </a:lnSpc>
                  <a:spcBef>
                    <a:spcPct val="50000"/>
                  </a:spcBef>
                </a:pPr>
                <a:r>
                  <a:rPr lang="en-US" altLang="zh-CN" i="1" dirty="0">
                    <a:latin typeface="楷体_GB2312" pitchFamily="49" charset="-122"/>
                    <a:ea typeface="楷体_GB2312" pitchFamily="49" charset="-122"/>
                  </a:rPr>
                  <a:t>F</a:t>
                </a:r>
                <a:r>
                  <a:rPr lang="en-US" altLang="zh-CN" i="1" baseline="-25000" dirty="0">
                    <a:latin typeface="楷体_GB2312" pitchFamily="49" charset="-122"/>
                    <a:ea typeface="楷体_GB2312" pitchFamily="49" charset="-122"/>
                  </a:rPr>
                  <a:t>A=B</a:t>
                </a:r>
                <a:endParaRPr lang="en-US" altLang="zh-CN" i="1" baseline="-25000" dirty="0"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49" name="矩形 395292"/>
              <p:cNvSpPr>
                <a:spLocks noChangeArrowheads="1"/>
              </p:cNvSpPr>
              <p:nvPr/>
            </p:nvSpPr>
            <p:spPr bwMode="auto">
              <a:xfrm>
                <a:off x="1811" y="396"/>
                <a:ext cx="40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  <a:buNone/>
                </a:pPr>
                <a:r>
                  <a:rPr lang="en-US" altLang="zh-CN" sz="2000" b="1" dirty="0">
                    <a:ea typeface="楷体_GB2312" pitchFamily="49" charset="-122"/>
                  </a:rPr>
                  <a:t>≥1</a:t>
                </a:r>
                <a:endParaRPr lang="en-US" altLang="zh-CN" sz="2000" b="1" dirty="0">
                  <a:ea typeface="楷体_GB2312" pitchFamily="49" charset="-122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连接符 11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淘宝网chenying0907出品 6"/>
          <p:cNvSpPr txBox="1"/>
          <p:nvPr/>
        </p:nvSpPr>
        <p:spPr>
          <a:xfrm>
            <a:off x="1528823" y="0"/>
            <a:ext cx="5200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4.4.6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数值比较器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29" name="矩形 395295"/>
          <p:cNvSpPr>
            <a:spLocks noChangeArrowheads="1"/>
          </p:cNvSpPr>
          <p:nvPr/>
        </p:nvSpPr>
        <p:spPr bwMode="auto">
          <a:xfrm>
            <a:off x="64518" y="709244"/>
            <a:ext cx="375926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2.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  二位数值比较器</a:t>
            </a:r>
            <a:endParaRPr lang="zh-CN" altLang="en-US" b="1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7" name="Group 85"/>
          <p:cNvGraphicFramePr/>
          <p:nvPr/>
        </p:nvGraphicFramePr>
        <p:xfrm>
          <a:off x="552254" y="1295377"/>
          <a:ext cx="8057266" cy="3077831"/>
        </p:xfrm>
        <a:graphic>
          <a:graphicData uri="http://schemas.openxmlformats.org/drawingml/2006/table">
            <a:tbl>
              <a:tblPr/>
              <a:tblGrid>
                <a:gridCol w="1263650"/>
                <a:gridCol w="1447800"/>
                <a:gridCol w="2333625"/>
                <a:gridCol w="3012191"/>
              </a:tblGrid>
              <a:tr h="444426">
                <a:tc grid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数  值  输  入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级  联  输  入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输       出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562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    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A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   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I</a:t>
                      </a:r>
                      <a:r>
                        <a:rPr kumimoji="0" lang="en-US" altLang="zh-CN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zh-CN" altLang="en-US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＞</a:t>
                      </a:r>
                      <a:r>
                        <a:rPr kumimoji="0" lang="en-US" altLang="zh-CN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zh-CN" altLang="en-US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＜</a:t>
                      </a:r>
                      <a:r>
                        <a:rPr kumimoji="0" lang="en-US" altLang="zh-CN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=B</a:t>
                      </a:r>
                      <a:endParaRPr kumimoji="0" lang="en-US" altLang="zh-CN" sz="18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kumimoji="0" lang="en-US" altLang="zh-CN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zh-CN" altLang="en-US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＞</a:t>
                      </a:r>
                      <a:r>
                        <a:rPr kumimoji="0" lang="en-US" altLang="zh-CN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 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kumimoji="0" lang="en-US" altLang="zh-CN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zh-CN" altLang="en-US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＜</a:t>
                      </a:r>
                      <a:r>
                        <a:rPr kumimoji="0" lang="en-US" altLang="zh-CN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 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kumimoji="0" lang="en-US" altLang="zh-CN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=B</a:t>
                      </a:r>
                      <a:endParaRPr kumimoji="0" lang="en-US" altLang="zh-CN" sz="18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1154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＞ 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＜ 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＝ 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＝ 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＝ 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＝ 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＝ 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      ×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      ×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＞ 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＜ 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＝ 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＝ 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＝ 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          ×        ×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×         ×        ×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×         ×        ×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×         ×        ×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1           0           0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0           1           0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0           0           1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1            0            0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0            1            0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1            0            0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0            1            0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1            0            0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0            1            0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0            0            1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1" name="Object 86"/>
          <p:cNvGraphicFramePr>
            <a:graphicFrameLocks noChangeAspect="1"/>
          </p:cNvGraphicFramePr>
          <p:nvPr/>
        </p:nvGraphicFramePr>
        <p:xfrm>
          <a:off x="523941" y="4479224"/>
          <a:ext cx="7255021" cy="4230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2" imgW="3924300" imgH="228600" progId="Equation.DSMT4">
                  <p:embed/>
                </p:oleObj>
              </mc:Choice>
              <mc:Fallback>
                <p:oleObj name="Equation" r:id="rId2" imgW="3924300" imgH="2286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941" y="4479224"/>
                        <a:ext cx="7255021" cy="4230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90"/>
          <p:cNvGraphicFramePr>
            <a:graphicFrameLocks noChangeAspect="1"/>
          </p:cNvGraphicFramePr>
          <p:nvPr/>
        </p:nvGraphicFramePr>
        <p:xfrm>
          <a:off x="523941" y="5037553"/>
          <a:ext cx="7549225" cy="4403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4" imgW="3924300" imgH="228600" progId="Equation.DSMT4">
                  <p:embed/>
                </p:oleObj>
              </mc:Choice>
              <mc:Fallback>
                <p:oleObj name="Equation" r:id="rId4" imgW="3924300" imgH="2286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941" y="5037553"/>
                        <a:ext cx="7549225" cy="4403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89"/>
          <p:cNvGraphicFramePr>
            <a:graphicFrameLocks noChangeAspect="1"/>
          </p:cNvGraphicFramePr>
          <p:nvPr/>
        </p:nvGraphicFramePr>
        <p:xfrm>
          <a:off x="523941" y="5613130"/>
          <a:ext cx="3846803" cy="4503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6" imgW="1955800" imgH="228600" progId="Equation.DSMT4">
                  <p:embed/>
                </p:oleObj>
              </mc:Choice>
              <mc:Fallback>
                <p:oleObj name="Equation" r:id="rId6" imgW="1955800" imgH="2286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941" y="5613130"/>
                        <a:ext cx="3846803" cy="4503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4452595" y="5838290"/>
            <a:ext cx="4554135" cy="769441"/>
          </a:xfrm>
          <a:prstGeom prst="rect">
            <a:avLst/>
          </a:prstGeom>
          <a:noFill/>
          <a:ln w="15875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8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9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10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10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10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10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10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zh-CN" altLang="en-US" sz="2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如果要比较两个多位二进制数</a:t>
            </a:r>
            <a:r>
              <a:rPr kumimoji="1" lang="en-US" altLang="zh-CN" sz="2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kumimoji="1" lang="zh-CN" altLang="en-US" sz="2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和</a:t>
            </a:r>
            <a:r>
              <a:rPr kumimoji="1" lang="en-US" altLang="zh-CN" sz="2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kumimoji="1" lang="zh-CN" altLang="en-US" sz="2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的大小</a:t>
            </a:r>
            <a:r>
              <a:rPr kumimoji="1" lang="en-US" altLang="zh-CN" sz="2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kumimoji="1" lang="zh-CN" altLang="en-US" sz="2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必须</a:t>
            </a:r>
            <a:r>
              <a:rPr kumimoji="1" lang="zh-CN" altLang="en-US" sz="2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从高向低</a:t>
            </a:r>
            <a:r>
              <a:rPr kumimoji="1" lang="zh-CN" altLang="en-US" sz="2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逐位进行比较。 </a:t>
            </a:r>
            <a:endParaRPr kumimoji="1" lang="zh-CN" altLang="en-US" sz="22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4582" y="1320794"/>
            <a:ext cx="5121084" cy="5553937"/>
          </a:xfrm>
          <a:prstGeom prst="rect">
            <a:avLst/>
          </a:prstGeom>
        </p:spPr>
      </p:pic>
      <p:cxnSp>
        <p:nvCxnSpPr>
          <p:cNvPr id="12" name="直接连接符 11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淘宝网chenying0907出品 6"/>
          <p:cNvSpPr txBox="1"/>
          <p:nvPr/>
        </p:nvSpPr>
        <p:spPr>
          <a:xfrm>
            <a:off x="1528823" y="0"/>
            <a:ext cx="5200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4.4.6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数值比较器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29" name="矩形 395295"/>
          <p:cNvSpPr>
            <a:spLocks noChangeArrowheads="1"/>
          </p:cNvSpPr>
          <p:nvPr/>
        </p:nvSpPr>
        <p:spPr bwMode="auto">
          <a:xfrm>
            <a:off x="64517" y="709244"/>
            <a:ext cx="595127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3.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  四位数值比较器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-74LS85</a:t>
            </a:r>
            <a:endParaRPr lang="zh-CN" altLang="en-US" b="1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5" name="左大括号 4"/>
          <p:cNvSpPr/>
          <p:nvPr/>
        </p:nvSpPr>
        <p:spPr>
          <a:xfrm>
            <a:off x="2073806" y="1799223"/>
            <a:ext cx="341260" cy="1325662"/>
          </a:xfrm>
          <a:prstGeom prst="lef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211907" y="2046555"/>
            <a:ext cx="9625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输入数值</a:t>
            </a:r>
            <a:endParaRPr lang="zh-CN" altLang="en-US" sz="2400" b="1" dirty="0"/>
          </a:p>
        </p:txBody>
      </p:sp>
      <p:sp>
        <p:nvSpPr>
          <p:cNvPr id="59" name="左大括号 58"/>
          <p:cNvSpPr/>
          <p:nvPr/>
        </p:nvSpPr>
        <p:spPr>
          <a:xfrm>
            <a:off x="2001336" y="4742949"/>
            <a:ext cx="341260" cy="1325662"/>
          </a:xfrm>
          <a:prstGeom prst="lef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/>
          <p:cNvSpPr txBox="1"/>
          <p:nvPr/>
        </p:nvSpPr>
        <p:spPr>
          <a:xfrm>
            <a:off x="1139437" y="4990281"/>
            <a:ext cx="9625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输入数值</a:t>
            </a:r>
            <a:endParaRPr lang="zh-CN" altLang="en-US" sz="2400" b="1" dirty="0"/>
          </a:p>
        </p:txBody>
      </p:sp>
      <p:sp>
        <p:nvSpPr>
          <p:cNvPr id="61" name="左大括号 60"/>
          <p:cNvSpPr/>
          <p:nvPr/>
        </p:nvSpPr>
        <p:spPr>
          <a:xfrm>
            <a:off x="1683322" y="3512954"/>
            <a:ext cx="318014" cy="982662"/>
          </a:xfrm>
          <a:prstGeom prst="lef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文本框 61"/>
          <p:cNvSpPr txBox="1"/>
          <p:nvPr/>
        </p:nvSpPr>
        <p:spPr>
          <a:xfrm>
            <a:off x="821423" y="3523882"/>
            <a:ext cx="9625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级联输入</a:t>
            </a:r>
            <a:endParaRPr lang="zh-CN" altLang="en-US" sz="2400" b="1" dirty="0"/>
          </a:p>
        </p:txBody>
      </p:sp>
      <p:sp>
        <p:nvSpPr>
          <p:cNvPr id="7" name="右大括号 6"/>
          <p:cNvSpPr/>
          <p:nvPr/>
        </p:nvSpPr>
        <p:spPr>
          <a:xfrm>
            <a:off x="7249573" y="2101106"/>
            <a:ext cx="651893" cy="3845730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文本框 62"/>
          <p:cNvSpPr txBox="1"/>
          <p:nvPr/>
        </p:nvSpPr>
        <p:spPr>
          <a:xfrm>
            <a:off x="7901466" y="3608472"/>
            <a:ext cx="9625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输出信号</a:t>
            </a:r>
            <a:endParaRPr lang="zh-CN" altLang="en-US" sz="2400" b="1" dirty="0"/>
          </a:p>
        </p:txBody>
      </p:sp>
      <p:sp>
        <p:nvSpPr>
          <p:cNvPr id="8" name="矩形标注 7"/>
          <p:cNvSpPr/>
          <p:nvPr/>
        </p:nvSpPr>
        <p:spPr>
          <a:xfrm>
            <a:off x="358759" y="4404263"/>
            <a:ext cx="1418077" cy="430039"/>
          </a:xfrm>
          <a:prstGeom prst="wedgeRectCallout">
            <a:avLst>
              <a:gd name="adj1" fmla="val -525"/>
              <a:gd name="adj2" fmla="val -81968"/>
            </a:avLst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便于扩展</a:t>
            </a:r>
            <a:endParaRPr lang="zh-CN" altLang="en-US" sz="2400" b="1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连接符 11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淘宝网chenying0907出品 6"/>
          <p:cNvSpPr txBox="1"/>
          <p:nvPr/>
        </p:nvSpPr>
        <p:spPr>
          <a:xfrm>
            <a:off x="1528823" y="0"/>
            <a:ext cx="5200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4.4.6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数值比较器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29" name="矩形 395295"/>
          <p:cNvSpPr>
            <a:spLocks noChangeArrowheads="1"/>
          </p:cNvSpPr>
          <p:nvPr/>
        </p:nvSpPr>
        <p:spPr bwMode="auto">
          <a:xfrm>
            <a:off x="64517" y="709244"/>
            <a:ext cx="595127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3.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  四位数值比较器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-74LS85</a:t>
            </a:r>
            <a:endParaRPr lang="zh-CN" altLang="en-US" b="1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39893" y="1241827"/>
            <a:ext cx="7344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</a:t>
            </a:r>
            <a:r>
              <a:rPr lang="en-US" altLang="zh-CN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片</a:t>
            </a:r>
            <a:r>
              <a:rPr lang="en-US" altLang="zh-CN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位数值比较器</a:t>
            </a:r>
            <a:r>
              <a:rPr lang="en-US" altLang="zh-CN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74LS85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扩展成</a:t>
            </a:r>
            <a:r>
              <a:rPr lang="en-US" altLang="zh-CN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位数值比较器</a:t>
            </a:r>
            <a:endParaRPr lang="zh-CN" altLang="en-US" sz="2400" b="1" baseline="-250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16" y="1977521"/>
            <a:ext cx="8912987" cy="4099067"/>
          </a:xfrm>
          <a:prstGeom prst="rect">
            <a:avLst/>
          </a:prstGeom>
        </p:spPr>
      </p:pic>
      <p:sp>
        <p:nvSpPr>
          <p:cNvPr id="18" name="Text Box 4"/>
          <p:cNvSpPr txBox="1">
            <a:spLocks noChangeArrowheads="1"/>
          </p:cNvSpPr>
          <p:nvPr/>
        </p:nvSpPr>
        <p:spPr bwMode="auto">
          <a:xfrm>
            <a:off x="2600815" y="6265935"/>
            <a:ext cx="398698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Aft>
                <a:spcPct val="2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Aft>
                <a:spcPct val="20000"/>
              </a:spcAft>
              <a:buClr>
                <a:srgbClr val="006600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Aft>
                <a:spcPct val="20000"/>
              </a:spcAft>
              <a:buClr>
                <a:srgbClr val="996600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Aft>
                <a:spcPct val="2000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defTabSz="9144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串行级联构成的八位比较器</a:t>
            </a:r>
            <a:r>
              <a:rPr lang="zh-CN" altLang="en-US" b="1" dirty="0">
                <a:solidFill>
                  <a:srgbClr val="000000"/>
                </a:solidFill>
                <a:latin typeface="Tahoma" panose="020B0604030504040204" pitchFamily="34" charset="0"/>
              </a:rPr>
              <a:t> </a:t>
            </a:r>
            <a:endParaRPr lang="zh-CN" altLang="en-US" b="1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9" name="左大括号 18"/>
          <p:cNvSpPr/>
          <p:nvPr/>
        </p:nvSpPr>
        <p:spPr>
          <a:xfrm>
            <a:off x="4594310" y="2392761"/>
            <a:ext cx="227506" cy="980026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左大括号 19"/>
          <p:cNvSpPr/>
          <p:nvPr/>
        </p:nvSpPr>
        <p:spPr>
          <a:xfrm>
            <a:off x="4562955" y="3724763"/>
            <a:ext cx="258861" cy="980026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左大括号 20"/>
          <p:cNvSpPr/>
          <p:nvPr/>
        </p:nvSpPr>
        <p:spPr>
          <a:xfrm>
            <a:off x="424107" y="2387661"/>
            <a:ext cx="227506" cy="980026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左大括号 21"/>
          <p:cNvSpPr/>
          <p:nvPr/>
        </p:nvSpPr>
        <p:spPr>
          <a:xfrm>
            <a:off x="392752" y="3719663"/>
            <a:ext cx="258861" cy="980026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4108671" y="1836422"/>
            <a:ext cx="1745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33CC"/>
                </a:solidFill>
              </a:rPr>
              <a:t>高四位输入</a:t>
            </a:r>
            <a:endParaRPr lang="zh-CN" altLang="en-US" sz="2400" b="1" dirty="0">
              <a:solidFill>
                <a:srgbClr val="FF33CC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0" y="1805271"/>
            <a:ext cx="1745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33CC"/>
                </a:solidFill>
              </a:rPr>
              <a:t>低四位输入</a:t>
            </a:r>
            <a:endParaRPr lang="zh-CN" altLang="en-US" sz="2400" b="1" dirty="0">
              <a:solidFill>
                <a:srgbClr val="FF33CC"/>
              </a:solidFill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3491780" y="2607120"/>
            <a:ext cx="656268" cy="0"/>
          </a:xfrm>
          <a:prstGeom prst="line">
            <a:avLst/>
          </a:prstGeom>
          <a:ln w="3492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4148048" y="2607120"/>
            <a:ext cx="0" cy="2353814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4148048" y="4960934"/>
            <a:ext cx="1618794" cy="0"/>
          </a:xfrm>
          <a:prstGeom prst="line">
            <a:avLst/>
          </a:prstGeom>
          <a:ln w="3492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3491780" y="4024659"/>
            <a:ext cx="551265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4043045" y="4024659"/>
            <a:ext cx="0" cy="1251284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4043045" y="5275943"/>
            <a:ext cx="1723797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3491780" y="5415947"/>
            <a:ext cx="275632" cy="0"/>
          </a:xfrm>
          <a:prstGeom prst="line">
            <a:avLst/>
          </a:prstGeom>
          <a:ln w="349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3728037" y="5415947"/>
            <a:ext cx="0" cy="166254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3728037" y="5582201"/>
            <a:ext cx="2038805" cy="0"/>
          </a:xfrm>
          <a:prstGeom prst="line">
            <a:avLst/>
          </a:prstGeom>
          <a:ln w="349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5766842" y="2254520"/>
            <a:ext cx="22750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36" name="文本框 35"/>
          <p:cNvSpPr txBox="1"/>
          <p:nvPr/>
        </p:nvSpPr>
        <p:spPr>
          <a:xfrm>
            <a:off x="5772164" y="3223314"/>
            <a:ext cx="32084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37" name="文本框 36"/>
          <p:cNvSpPr txBox="1"/>
          <p:nvPr/>
        </p:nvSpPr>
        <p:spPr>
          <a:xfrm>
            <a:off x="5785729" y="3527228"/>
            <a:ext cx="18973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38" name="文本框 37"/>
          <p:cNvSpPr txBox="1"/>
          <p:nvPr/>
        </p:nvSpPr>
        <p:spPr>
          <a:xfrm>
            <a:off x="5794986" y="4432576"/>
            <a:ext cx="32084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39" name="文本框 38"/>
          <p:cNvSpPr txBox="1"/>
          <p:nvPr/>
        </p:nvSpPr>
        <p:spPr>
          <a:xfrm>
            <a:off x="1616982" y="2250023"/>
            <a:ext cx="30015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40" name="文本框 39"/>
          <p:cNvSpPr txBox="1"/>
          <p:nvPr/>
        </p:nvSpPr>
        <p:spPr>
          <a:xfrm>
            <a:off x="1616982" y="3226869"/>
            <a:ext cx="32084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41" name="文本框 40"/>
          <p:cNvSpPr txBox="1"/>
          <p:nvPr/>
        </p:nvSpPr>
        <p:spPr>
          <a:xfrm>
            <a:off x="1596304" y="3490216"/>
            <a:ext cx="32084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42" name="文本框 41"/>
          <p:cNvSpPr txBox="1"/>
          <p:nvPr/>
        </p:nvSpPr>
        <p:spPr>
          <a:xfrm>
            <a:off x="1596304" y="4515023"/>
            <a:ext cx="32084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1881379" y="4735506"/>
            <a:ext cx="35868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级联输入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5999591" y="4699689"/>
            <a:ext cx="35868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级联输入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连接符 11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淘宝网chenying0907出品 6"/>
          <p:cNvSpPr txBox="1"/>
          <p:nvPr/>
        </p:nvSpPr>
        <p:spPr>
          <a:xfrm>
            <a:off x="1528823" y="0"/>
            <a:ext cx="5200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4.4.6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数值比较器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29" name="矩形 395295"/>
          <p:cNvSpPr>
            <a:spLocks noChangeArrowheads="1"/>
          </p:cNvSpPr>
          <p:nvPr/>
        </p:nvSpPr>
        <p:spPr bwMode="auto">
          <a:xfrm>
            <a:off x="64517" y="669972"/>
            <a:ext cx="640628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4.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  多位数值比较器的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Verilog HDL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设计</a:t>
            </a:r>
            <a:endParaRPr lang="zh-CN" altLang="en-US" b="1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43" name="Rectangle 2"/>
          <p:cNvSpPr txBox="1">
            <a:spLocks noChangeArrowheads="1"/>
          </p:cNvSpPr>
          <p:nvPr/>
        </p:nvSpPr>
        <p:spPr>
          <a:xfrm>
            <a:off x="350008" y="1198783"/>
            <a:ext cx="8220851" cy="56045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altLang="zh-CN" sz="1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module</a:t>
            </a:r>
            <a:r>
              <a:rPr lang="en-US" altLang="zh-CN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samp4_4_10(a, b, great</a:t>
            </a: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less</a:t>
            </a: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1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equ</a:t>
            </a:r>
            <a:r>
              <a:rPr lang="en-US" altLang="zh-CN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);</a:t>
            </a: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//</a:t>
            </a: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调用比较器模块的顶层模块</a:t>
            </a:r>
            <a:b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input</a:t>
            </a: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［</a:t>
            </a:r>
            <a:r>
              <a:rPr lang="en-US" altLang="zh-CN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7:0</a:t>
            </a: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］</a:t>
            </a:r>
            <a:r>
              <a:rPr lang="en-US" altLang="zh-CN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a, b;</a:t>
            </a: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b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output great, less, </a:t>
            </a:r>
            <a:r>
              <a:rPr lang="en-US" altLang="zh-CN" sz="1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equ</a:t>
            </a:r>
            <a:r>
              <a:rPr lang="en-US" altLang="zh-CN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;</a:t>
            </a: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b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1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compare_n</a:t>
            </a:r>
            <a:r>
              <a:rPr lang="en-US" altLang="zh-CN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FF33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#(8)</a:t>
            </a:r>
            <a:r>
              <a:rPr lang="en-US" altLang="zh-CN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u1(.A(a), .B(b), .AGB(great), .ALB(less), .AEB(</a:t>
            </a:r>
            <a:r>
              <a:rPr lang="en-US" altLang="zh-CN" sz="1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equ</a:t>
            </a:r>
            <a:r>
              <a:rPr lang="en-US" altLang="zh-CN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)); </a:t>
            </a:r>
            <a:endParaRPr lang="en-US" altLang="zh-CN" sz="1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                    //</a:t>
            </a: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调用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位比较器模块</a:t>
            </a:r>
            <a:b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1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endmodule</a:t>
            </a:r>
            <a:endParaRPr lang="en-US" altLang="zh-CN" sz="1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r>
              <a:rPr lang="en-US" altLang="zh-CN" sz="1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module</a:t>
            </a:r>
            <a:r>
              <a:rPr lang="en-US" altLang="zh-CN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compare_n</a:t>
            </a:r>
            <a:r>
              <a:rPr lang="en-US" altLang="zh-CN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(A, B, AGB, ALB, AEB);</a:t>
            </a: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//</a:t>
            </a: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比较器模块</a:t>
            </a:r>
            <a:b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input </a:t>
            </a: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［</a:t>
            </a:r>
            <a:r>
              <a:rPr lang="en-US" altLang="zh-CN" sz="1800" b="1" dirty="0">
                <a:solidFill>
                  <a:srgbClr val="00B05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-1:0</a:t>
            </a: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］</a:t>
            </a:r>
            <a:r>
              <a:rPr lang="en-US" altLang="zh-CN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A, B;</a:t>
            </a: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b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output </a:t>
            </a:r>
            <a:r>
              <a:rPr lang="en-US" altLang="zh-CN" sz="1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reg</a:t>
            </a:r>
            <a:r>
              <a:rPr lang="en-US" altLang="zh-CN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AGB, ALB, AEB;</a:t>
            </a:r>
            <a:b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1800" b="1" dirty="0">
                <a:solidFill>
                  <a:srgbClr val="00B05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parameter n=4;</a:t>
            </a: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en-US" altLang="zh-CN" sz="1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r>
              <a:rPr lang="en-US" altLang="zh-CN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always@(A</a:t>
            </a: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B)</a:t>
            </a:r>
            <a:br>
              <a:rPr lang="en-US" altLang="zh-CN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en-US" altLang="zh-CN" sz="1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begin</a:t>
            </a:r>
            <a:br>
              <a:rPr lang="en-US" altLang="zh-CN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AGB=0</a:t>
            </a: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； </a:t>
            </a:r>
            <a:b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</a:t>
            </a:r>
            <a:r>
              <a:rPr lang="en-US" altLang="zh-CN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ALB=0</a:t>
            </a: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； </a:t>
            </a:r>
            <a:b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</a:t>
            </a:r>
            <a:r>
              <a:rPr lang="en-US" altLang="zh-CN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AEB=0</a:t>
            </a: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； </a:t>
            </a:r>
            <a:b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</a:t>
            </a:r>
            <a:r>
              <a:rPr lang="en-US" altLang="zh-CN" sz="1800" b="1" dirty="0">
                <a:solidFill>
                  <a:srgbClr val="FF33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if </a:t>
            </a:r>
            <a:r>
              <a:rPr lang="en-US" altLang="zh-CN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(A&gt;B)  GB=1</a:t>
            </a: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； </a:t>
            </a:r>
            <a:b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</a:t>
            </a:r>
            <a:r>
              <a:rPr lang="en-US" altLang="zh-CN" sz="1800" b="1" dirty="0">
                <a:solidFill>
                  <a:srgbClr val="FF33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else if</a:t>
            </a:r>
            <a:r>
              <a:rPr lang="en-US" altLang="zh-CN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(A==B)   AEB=1</a:t>
            </a: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； </a:t>
            </a:r>
            <a:b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</a:t>
            </a:r>
            <a:r>
              <a:rPr lang="en-US" altLang="zh-CN" sz="1800" b="1" dirty="0">
                <a:solidFill>
                  <a:srgbClr val="FF33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else</a:t>
            </a:r>
            <a:r>
              <a:rPr lang="en-US" altLang="zh-CN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ALB=1</a:t>
            </a: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； </a:t>
            </a:r>
            <a:b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en-US" altLang="zh-CN" sz="1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end</a:t>
            </a:r>
            <a:br>
              <a:rPr lang="en-US" altLang="zh-CN" sz="1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1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endmodule</a:t>
            </a:r>
            <a:endParaRPr lang="zh-CN" altLang="en-US" sz="1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淘宝网chenying0907出品 10"/>
          <p:cNvSpPr txBox="1"/>
          <p:nvPr/>
        </p:nvSpPr>
        <p:spPr>
          <a:xfrm>
            <a:off x="1194211" y="3078793"/>
            <a:ext cx="1831157" cy="761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  <a:r>
              <a:rPr lang="en-US" altLang="zh-CN" sz="1350" b="1" dirty="0">
                <a:solidFill>
                  <a:schemeClr val="accent1">
                    <a:lumMod val="50000"/>
                  </a:schemeClr>
                </a:solidFill>
              </a:rPr>
              <a:t> Main Content</a:t>
            </a:r>
            <a:endParaRPr lang="zh-CN" altLang="en-US" sz="135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淘宝网chenying0907出品 11"/>
          <p:cNvSpPr/>
          <p:nvPr/>
        </p:nvSpPr>
        <p:spPr>
          <a:xfrm>
            <a:off x="2917715" y="0"/>
            <a:ext cx="623236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cxnSp>
        <p:nvCxnSpPr>
          <p:cNvPr id="16" name="直接连接符 15"/>
          <p:cNvCxnSpPr/>
          <p:nvPr/>
        </p:nvCxnSpPr>
        <p:spPr>
          <a:xfrm flipH="1">
            <a:off x="2911640" y="0"/>
            <a:ext cx="2651081" cy="152494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>
            <a:endCxn id="12" idx="2"/>
          </p:cNvCxnSpPr>
          <p:nvPr/>
        </p:nvCxnSpPr>
        <p:spPr>
          <a:xfrm flipH="1">
            <a:off x="6033895" y="5086744"/>
            <a:ext cx="3116180" cy="177125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淘宝网chenying0907出品 20"/>
          <p:cNvSpPr txBox="1"/>
          <p:nvPr/>
        </p:nvSpPr>
        <p:spPr>
          <a:xfrm>
            <a:off x="4125505" y="2004144"/>
            <a:ext cx="35265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/>
              <a:t>数据选择器</a:t>
            </a:r>
            <a:endParaRPr lang="zh-CN" altLang="en-US" sz="2800" dirty="0"/>
          </a:p>
        </p:txBody>
      </p:sp>
      <p:sp>
        <p:nvSpPr>
          <p:cNvPr id="17" name="淘宝网chenying0907出品 29"/>
          <p:cNvSpPr txBox="1"/>
          <p:nvPr/>
        </p:nvSpPr>
        <p:spPr>
          <a:xfrm>
            <a:off x="4125505" y="4266614"/>
            <a:ext cx="3330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竞争和险象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8" name="淘宝网chenying0907出品 20"/>
          <p:cNvSpPr txBox="1"/>
          <p:nvPr/>
        </p:nvSpPr>
        <p:spPr>
          <a:xfrm>
            <a:off x="4125505" y="2758301"/>
            <a:ext cx="35265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/>
              <a:t>数据分配器</a:t>
            </a:r>
            <a:endParaRPr lang="zh-CN" altLang="en-US" sz="2800" dirty="0"/>
          </a:p>
        </p:txBody>
      </p:sp>
      <p:sp>
        <p:nvSpPr>
          <p:cNvPr id="9" name="淘宝网chenying0907出品 20"/>
          <p:cNvSpPr txBox="1"/>
          <p:nvPr/>
        </p:nvSpPr>
        <p:spPr>
          <a:xfrm>
            <a:off x="4125505" y="3512457"/>
            <a:ext cx="35265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/>
              <a:t>数值比较器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199408" y="1018578"/>
            <a:ext cx="4004969" cy="1564083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rgbClr val="006600"/>
              </a:buClr>
              <a:buSzPct val="55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rgbClr val="996600"/>
              </a:buClr>
              <a:buSzPct val="50000"/>
              <a:buFont typeface="Wingdings" panose="05000000000000000000" pitchFamily="2" charset="2"/>
              <a:buChar char="n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914400" eaLnBrk="1" hangingPunct="1">
              <a:buFont typeface="Wingdings" panose="05000000000000000000" pitchFamily="2" charset="2"/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理想情况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algn="just" defTabSz="914400" eaLnBrk="1" hangingPunct="1">
              <a:spcAft>
                <a:spcPts val="0"/>
              </a:spcAft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逻辑门连线无延迟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algn="just" defTabSz="914400" eaLnBrk="1" hangingPunct="1">
              <a:spcAft>
                <a:spcPts val="0"/>
              </a:spcAft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多个信号同时瞬间变化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4295865" y="1020509"/>
            <a:ext cx="4617486" cy="1564090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rgbClr val="006600"/>
              </a:buClr>
              <a:buSzPct val="55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rgbClr val="996600"/>
              </a:buClr>
              <a:buSzPct val="50000"/>
              <a:buFont typeface="Wingdings" panose="05000000000000000000" pitchFamily="2" charset="2"/>
              <a:buChar char="n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914400" eaLnBrk="1" hangingPunct="1">
              <a:lnSpc>
                <a:spcPct val="100000"/>
              </a:lnSpc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实际情况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algn="just" defTabSz="914400" eaLnBrk="1" hangingPunct="1">
              <a:lnSpc>
                <a:spcPct val="100000"/>
              </a:lnSpc>
              <a:spcAft>
                <a:spcPts val="0"/>
              </a:spcAft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信号变化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过渡时间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720090" lvl="1" algn="just" defTabSz="914400" eaLnBrk="1" hangingPunct="1">
              <a:lnSpc>
                <a:spcPct val="100000"/>
              </a:lnSpc>
              <a:spcAft>
                <a:spcPts val="0"/>
              </a:spcAft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信号通过逻辑门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响应时间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algn="just" defTabSz="914400" eaLnBrk="1" hangingPunct="1">
              <a:lnSpc>
                <a:spcPct val="100000"/>
              </a:lnSpc>
              <a:spcAft>
                <a:spcPts val="0"/>
              </a:spcAft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多个信号变化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有先有后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淘宝网chenying0907出品 6"/>
          <p:cNvSpPr txBox="1"/>
          <p:nvPr/>
        </p:nvSpPr>
        <p:spPr>
          <a:xfrm>
            <a:off x="1528823" y="0"/>
            <a:ext cx="5200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4.5.1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基本概念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82" name="AutoShape 5"/>
          <p:cNvSpPr/>
          <p:nvPr/>
        </p:nvSpPr>
        <p:spPr bwMode="auto">
          <a:xfrm>
            <a:off x="4337050" y="3187124"/>
            <a:ext cx="152400" cy="609600"/>
          </a:xfrm>
          <a:prstGeom prst="leftBrace">
            <a:avLst>
              <a:gd name="adj1" fmla="val 33333"/>
              <a:gd name="adj2" fmla="val 50000"/>
            </a:avLst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3" name="Text Box 6"/>
          <p:cNvSpPr txBox="1">
            <a:spLocks noChangeArrowheads="1"/>
          </p:cNvSpPr>
          <p:nvPr/>
        </p:nvSpPr>
        <p:spPr bwMode="auto">
          <a:xfrm>
            <a:off x="4419600" y="4495800"/>
            <a:ext cx="447357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fontAlgn="base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结果，在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~t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时间内，电路输出端产生了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Y=1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的尖峰脉冲，</a:t>
            </a:r>
            <a:endParaRPr kumimoji="1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84" name="Group 7"/>
          <p:cNvGrpSpPr/>
          <p:nvPr/>
        </p:nvGrpSpPr>
        <p:grpSpPr bwMode="auto">
          <a:xfrm>
            <a:off x="3194050" y="3263324"/>
            <a:ext cx="1093788" cy="457200"/>
            <a:chOff x="2016" y="2209"/>
            <a:chExt cx="689" cy="288"/>
          </a:xfrm>
        </p:grpSpPr>
        <p:sp>
          <p:nvSpPr>
            <p:cNvPr id="85" name="Text Box 8"/>
            <p:cNvSpPr txBox="1">
              <a:spLocks noChangeArrowheads="1"/>
            </p:cNvSpPr>
            <p:nvPr/>
          </p:nvSpPr>
          <p:spPr bwMode="auto">
            <a:xfrm>
              <a:off x="2016" y="2209"/>
              <a:ext cx="68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Y=A A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6" name="Line 9"/>
            <p:cNvSpPr>
              <a:spLocks noChangeShapeType="1"/>
            </p:cNvSpPr>
            <p:nvPr/>
          </p:nvSpPr>
          <p:spPr bwMode="auto">
            <a:xfrm>
              <a:off x="2527" y="2256"/>
              <a:ext cx="9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7" name="Group 10"/>
          <p:cNvGrpSpPr/>
          <p:nvPr/>
        </p:nvGrpSpPr>
        <p:grpSpPr bwMode="auto">
          <a:xfrm>
            <a:off x="5837238" y="3044249"/>
            <a:ext cx="1014412" cy="457200"/>
            <a:chOff x="3681" y="2180"/>
            <a:chExt cx="639" cy="288"/>
          </a:xfrm>
        </p:grpSpPr>
        <p:sp>
          <p:nvSpPr>
            <p:cNvPr id="88" name="Text Box 11"/>
            <p:cNvSpPr txBox="1">
              <a:spLocks noChangeArrowheads="1"/>
            </p:cNvSpPr>
            <p:nvPr/>
          </p:nvSpPr>
          <p:spPr bwMode="auto">
            <a:xfrm>
              <a:off x="3681" y="2180"/>
              <a:ext cx="63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Y      0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89" name="Group 12"/>
            <p:cNvGrpSpPr/>
            <p:nvPr/>
          </p:nvGrpSpPr>
          <p:grpSpPr bwMode="auto">
            <a:xfrm>
              <a:off x="3922" y="2304"/>
              <a:ext cx="192" cy="48"/>
              <a:chOff x="1152" y="3984"/>
              <a:chExt cx="192" cy="48"/>
            </a:xfrm>
          </p:grpSpPr>
          <p:sp>
            <p:nvSpPr>
              <p:cNvPr id="90" name="Line 13"/>
              <p:cNvSpPr>
                <a:spLocks noChangeShapeType="1"/>
              </p:cNvSpPr>
              <p:nvPr/>
            </p:nvSpPr>
            <p:spPr bwMode="auto">
              <a:xfrm>
                <a:off x="1152" y="3984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1" name="Line 14"/>
              <p:cNvSpPr>
                <a:spLocks noChangeShapeType="1"/>
              </p:cNvSpPr>
              <p:nvPr/>
            </p:nvSpPr>
            <p:spPr bwMode="auto">
              <a:xfrm>
                <a:off x="1152" y="4012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" name="Line 15"/>
              <p:cNvSpPr>
                <a:spLocks noChangeShapeType="1"/>
              </p:cNvSpPr>
              <p:nvPr/>
            </p:nvSpPr>
            <p:spPr bwMode="auto">
              <a:xfrm>
                <a:off x="1152" y="4032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93" name="Line 16"/>
          <p:cNvSpPr>
            <a:spLocks noChangeShapeType="1"/>
          </p:cNvSpPr>
          <p:nvPr/>
        </p:nvSpPr>
        <p:spPr bwMode="auto">
          <a:xfrm>
            <a:off x="374650" y="4800600"/>
            <a:ext cx="920750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4" name="Line 17"/>
          <p:cNvSpPr>
            <a:spLocks noChangeShapeType="1"/>
          </p:cNvSpPr>
          <p:nvPr/>
        </p:nvSpPr>
        <p:spPr bwMode="auto">
          <a:xfrm flipV="1">
            <a:off x="1295400" y="4419600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5" name="Line 18"/>
          <p:cNvSpPr>
            <a:spLocks noChangeShapeType="1"/>
          </p:cNvSpPr>
          <p:nvPr/>
        </p:nvSpPr>
        <p:spPr bwMode="auto">
          <a:xfrm>
            <a:off x="1286453" y="4419600"/>
            <a:ext cx="1676400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6" name="Line 19"/>
          <p:cNvSpPr>
            <a:spLocks noChangeShapeType="1"/>
          </p:cNvSpPr>
          <p:nvPr/>
        </p:nvSpPr>
        <p:spPr bwMode="auto">
          <a:xfrm flipV="1">
            <a:off x="2949575" y="4419600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7" name="Line 20"/>
          <p:cNvSpPr>
            <a:spLocks noChangeShapeType="1"/>
          </p:cNvSpPr>
          <p:nvPr/>
        </p:nvSpPr>
        <p:spPr bwMode="auto">
          <a:xfrm>
            <a:off x="2962275" y="4800600"/>
            <a:ext cx="1076325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8" name="Line 21"/>
          <p:cNvSpPr>
            <a:spLocks noChangeShapeType="1"/>
          </p:cNvSpPr>
          <p:nvPr/>
        </p:nvSpPr>
        <p:spPr bwMode="auto">
          <a:xfrm>
            <a:off x="1676400" y="4724400"/>
            <a:ext cx="0" cy="990600"/>
          </a:xfrm>
          <a:prstGeom prst="line">
            <a:avLst/>
          </a:prstGeom>
          <a:noFill/>
          <a:ln w="9525">
            <a:solidFill>
              <a:srgbClr val="800000"/>
            </a:solidFill>
            <a:prstDash val="sysDot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9" name="Text Box 22"/>
          <p:cNvSpPr txBox="1">
            <a:spLocks noChangeArrowheads="1"/>
          </p:cNvSpPr>
          <p:nvPr/>
        </p:nvSpPr>
        <p:spPr bwMode="auto">
          <a:xfrm>
            <a:off x="1174750" y="4572000"/>
            <a:ext cx="590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>
                <a:solidFill>
                  <a:srgbClr val="000099"/>
                </a:solidFill>
                <a:latin typeface="宋体" panose="02010600030101010101" pitchFamily="2" charset="-122"/>
              </a:rPr>
              <a:t>t</a:t>
            </a:r>
            <a:r>
              <a:rPr kumimoji="1" lang="en-US" altLang="zh-CN" sz="1600">
                <a:solidFill>
                  <a:srgbClr val="000099"/>
                </a:solidFill>
                <a:latin typeface="Times New Roman" panose="02020603050405020304" pitchFamily="18" charset="0"/>
              </a:rPr>
              <a:t>pd</a:t>
            </a:r>
            <a:endParaRPr kumimoji="1" lang="en-US" altLang="zh-CN" sz="2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0" name="Line 23"/>
          <p:cNvSpPr>
            <a:spLocks noChangeShapeType="1"/>
          </p:cNvSpPr>
          <p:nvPr/>
        </p:nvSpPr>
        <p:spPr bwMode="auto">
          <a:xfrm>
            <a:off x="327025" y="5203825"/>
            <a:ext cx="1349375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1" name="Line 24"/>
          <p:cNvSpPr>
            <a:spLocks noChangeShapeType="1"/>
          </p:cNvSpPr>
          <p:nvPr/>
        </p:nvSpPr>
        <p:spPr bwMode="auto">
          <a:xfrm flipV="1">
            <a:off x="1673225" y="5181600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" name="Line 25"/>
          <p:cNvSpPr>
            <a:spLocks noChangeShapeType="1"/>
          </p:cNvSpPr>
          <p:nvPr/>
        </p:nvSpPr>
        <p:spPr bwMode="auto">
          <a:xfrm>
            <a:off x="1676400" y="5562600"/>
            <a:ext cx="1676400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" name="Line 26"/>
          <p:cNvSpPr>
            <a:spLocks noChangeShapeType="1"/>
          </p:cNvSpPr>
          <p:nvPr/>
        </p:nvSpPr>
        <p:spPr bwMode="auto">
          <a:xfrm flipV="1">
            <a:off x="3352800" y="5203825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4" name="Line 27"/>
          <p:cNvSpPr>
            <a:spLocks noChangeShapeType="1"/>
          </p:cNvSpPr>
          <p:nvPr/>
        </p:nvSpPr>
        <p:spPr bwMode="auto">
          <a:xfrm>
            <a:off x="3352800" y="5203825"/>
            <a:ext cx="685800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05" name="Group 28"/>
          <p:cNvGrpSpPr/>
          <p:nvPr/>
        </p:nvGrpSpPr>
        <p:grpSpPr bwMode="auto">
          <a:xfrm>
            <a:off x="2949575" y="4876800"/>
            <a:ext cx="0" cy="1219200"/>
            <a:chOff x="1872" y="3072"/>
            <a:chExt cx="0" cy="768"/>
          </a:xfrm>
        </p:grpSpPr>
        <p:sp>
          <p:nvSpPr>
            <p:cNvPr id="106" name="Line 29"/>
            <p:cNvSpPr>
              <a:spLocks noChangeShapeType="1"/>
            </p:cNvSpPr>
            <p:nvPr/>
          </p:nvSpPr>
          <p:spPr bwMode="auto">
            <a:xfrm>
              <a:off x="1872" y="3072"/>
              <a:ext cx="0" cy="624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prstDash val="sysDot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7" name="Line 30"/>
            <p:cNvSpPr>
              <a:spLocks noChangeShapeType="1"/>
            </p:cNvSpPr>
            <p:nvPr/>
          </p:nvSpPr>
          <p:spPr bwMode="auto">
            <a:xfrm>
              <a:off x="1872" y="3648"/>
              <a:ext cx="0" cy="192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prstDash val="sysDot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8" name="Line 31"/>
          <p:cNvSpPr>
            <a:spLocks noChangeShapeType="1"/>
          </p:cNvSpPr>
          <p:nvPr/>
        </p:nvSpPr>
        <p:spPr bwMode="auto">
          <a:xfrm>
            <a:off x="374650" y="6172200"/>
            <a:ext cx="920750" cy="0"/>
          </a:xfrm>
          <a:prstGeom prst="line">
            <a:avLst/>
          </a:prstGeom>
          <a:noFill/>
          <a:ln w="381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9" name="Line 32"/>
          <p:cNvSpPr>
            <a:spLocks noChangeShapeType="1"/>
          </p:cNvSpPr>
          <p:nvPr/>
        </p:nvSpPr>
        <p:spPr bwMode="auto">
          <a:xfrm flipV="1">
            <a:off x="1295400" y="5791200"/>
            <a:ext cx="0" cy="381000"/>
          </a:xfrm>
          <a:prstGeom prst="line">
            <a:avLst/>
          </a:prstGeom>
          <a:noFill/>
          <a:ln w="38100">
            <a:solidFill>
              <a:srgbClr val="FF0066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0" name="Line 33"/>
          <p:cNvSpPr>
            <a:spLocks noChangeShapeType="1"/>
          </p:cNvSpPr>
          <p:nvPr/>
        </p:nvSpPr>
        <p:spPr bwMode="auto">
          <a:xfrm>
            <a:off x="1273175" y="5791200"/>
            <a:ext cx="425450" cy="0"/>
          </a:xfrm>
          <a:prstGeom prst="line">
            <a:avLst/>
          </a:prstGeom>
          <a:noFill/>
          <a:ln w="38100">
            <a:solidFill>
              <a:srgbClr val="FF0066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1" name="Line 34"/>
          <p:cNvSpPr>
            <a:spLocks noChangeShapeType="1"/>
          </p:cNvSpPr>
          <p:nvPr/>
        </p:nvSpPr>
        <p:spPr bwMode="auto">
          <a:xfrm flipV="1">
            <a:off x="1676400" y="5791200"/>
            <a:ext cx="0" cy="381000"/>
          </a:xfrm>
          <a:prstGeom prst="line">
            <a:avLst/>
          </a:prstGeom>
          <a:noFill/>
          <a:ln w="38100">
            <a:solidFill>
              <a:srgbClr val="FF0066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2" name="Line 35"/>
          <p:cNvSpPr>
            <a:spLocks noChangeShapeType="1"/>
          </p:cNvSpPr>
          <p:nvPr/>
        </p:nvSpPr>
        <p:spPr bwMode="auto">
          <a:xfrm>
            <a:off x="1676400" y="6172200"/>
            <a:ext cx="2438400" cy="0"/>
          </a:xfrm>
          <a:prstGeom prst="line">
            <a:avLst/>
          </a:prstGeom>
          <a:noFill/>
          <a:ln w="381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3" name="Line 36"/>
          <p:cNvSpPr>
            <a:spLocks noChangeShapeType="1"/>
          </p:cNvSpPr>
          <p:nvPr/>
        </p:nvSpPr>
        <p:spPr bwMode="auto">
          <a:xfrm>
            <a:off x="1295400" y="4800600"/>
            <a:ext cx="0" cy="990600"/>
          </a:xfrm>
          <a:prstGeom prst="line">
            <a:avLst/>
          </a:prstGeom>
          <a:noFill/>
          <a:ln w="9525">
            <a:solidFill>
              <a:srgbClr val="800000"/>
            </a:solidFill>
            <a:prstDash val="sysDot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4" name="Text Box 38"/>
          <p:cNvSpPr txBox="1">
            <a:spLocks noChangeArrowheads="1"/>
          </p:cNvSpPr>
          <p:nvPr/>
        </p:nvSpPr>
        <p:spPr bwMode="auto">
          <a:xfrm>
            <a:off x="280988" y="4419600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>
                <a:solidFill>
                  <a:srgbClr val="800000"/>
                </a:solidFill>
                <a:latin typeface="Times New Roman" panose="02020603050405020304" pitchFamily="18" charset="0"/>
              </a:rPr>
              <a:t>A</a:t>
            </a:r>
            <a:endParaRPr kumimoji="1" lang="en-US" altLang="zh-CN" sz="2400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5" name="Text Box 39"/>
          <p:cNvSpPr txBox="1">
            <a:spLocks noChangeArrowheads="1"/>
          </p:cNvSpPr>
          <p:nvPr/>
        </p:nvSpPr>
        <p:spPr bwMode="auto">
          <a:xfrm>
            <a:off x="279400" y="5788025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>
                <a:solidFill>
                  <a:srgbClr val="800000"/>
                </a:solidFill>
                <a:latin typeface="Times New Roman" panose="02020603050405020304" pitchFamily="18" charset="0"/>
              </a:rPr>
              <a:t>Y</a:t>
            </a:r>
            <a:endParaRPr kumimoji="1" lang="en-US" altLang="zh-CN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16" name="Group 40"/>
          <p:cNvGrpSpPr/>
          <p:nvPr/>
        </p:nvGrpSpPr>
        <p:grpSpPr bwMode="auto">
          <a:xfrm>
            <a:off x="280988" y="5257800"/>
            <a:ext cx="404812" cy="457200"/>
            <a:chOff x="129" y="3312"/>
            <a:chExt cx="255" cy="288"/>
          </a:xfrm>
        </p:grpSpPr>
        <p:sp>
          <p:nvSpPr>
            <p:cNvPr id="117" name="Text Box 41"/>
            <p:cNvSpPr txBox="1">
              <a:spLocks noChangeArrowheads="1"/>
            </p:cNvSpPr>
            <p:nvPr/>
          </p:nvSpPr>
          <p:spPr bwMode="auto">
            <a:xfrm>
              <a:off x="129" y="3312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914400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>
                  <a:solidFill>
                    <a:srgbClr val="800000"/>
                  </a:solidFill>
                  <a:latin typeface="Times New Roman" panose="02020603050405020304" pitchFamily="18" charset="0"/>
                </a:rPr>
                <a:t>A</a:t>
              </a:r>
              <a:endParaRPr kumimoji="1" lang="en-US" altLang="zh-CN" sz="2400">
                <a:solidFill>
                  <a:srgbClr val="8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8" name="Line 42"/>
            <p:cNvSpPr>
              <a:spLocks noChangeShapeType="1"/>
            </p:cNvSpPr>
            <p:nvPr/>
          </p:nvSpPr>
          <p:spPr bwMode="auto">
            <a:xfrm>
              <a:off x="206" y="3360"/>
              <a:ext cx="96" cy="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19" name="Group 43"/>
          <p:cNvGrpSpPr/>
          <p:nvPr/>
        </p:nvGrpSpPr>
        <p:grpSpPr bwMode="auto">
          <a:xfrm>
            <a:off x="4289425" y="5562600"/>
            <a:ext cx="4473575" cy="822325"/>
            <a:chOff x="2702" y="3504"/>
            <a:chExt cx="2818" cy="518"/>
          </a:xfrm>
        </p:grpSpPr>
        <p:sp>
          <p:nvSpPr>
            <p:cNvPr id="120" name="Text Box 44"/>
            <p:cNvSpPr txBox="1">
              <a:spLocks noChangeArrowheads="1"/>
            </p:cNvSpPr>
            <p:nvPr/>
          </p:nvSpPr>
          <p:spPr bwMode="auto">
            <a:xfrm>
              <a:off x="2702" y="3504"/>
              <a:ext cx="2818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914400" fontAlgn="base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2400" b="1">
                  <a:solidFill>
                    <a:srgbClr val="CC3300"/>
                  </a:solidFill>
                  <a:latin typeface="Times New Roman" panose="02020603050405020304" pitchFamily="18" charset="0"/>
                </a:rPr>
                <a:t>它不符合静态下</a:t>
              </a:r>
              <a:r>
                <a:rPr kumimoji="1" lang="en-US" altLang="zh-CN" sz="2400" b="1">
                  <a:solidFill>
                    <a:srgbClr val="CC3300"/>
                  </a:solidFill>
                  <a:latin typeface="Times New Roman" panose="02020603050405020304" pitchFamily="18" charset="0"/>
                </a:rPr>
                <a:t>Y= AA</a:t>
              </a:r>
              <a:r>
                <a:rPr kumimoji="1" lang="zh-CN" altLang="en-US" sz="2400" b="1">
                  <a:solidFill>
                    <a:srgbClr val="CC3300"/>
                  </a:solidFill>
                  <a:latin typeface="Times New Roman" panose="02020603050405020304" pitchFamily="18" charset="0"/>
                </a:rPr>
                <a:t>恒为 </a:t>
              </a:r>
              <a:r>
                <a:rPr kumimoji="1" lang="en-US" altLang="zh-CN" sz="2400" b="1">
                  <a:solidFill>
                    <a:srgbClr val="CC3300"/>
                  </a:solidFill>
                  <a:latin typeface="Times New Roman" panose="02020603050405020304" pitchFamily="18" charset="0"/>
                </a:rPr>
                <a:t>0 </a:t>
              </a:r>
              <a:r>
                <a:rPr kumimoji="1" lang="zh-CN" altLang="en-US" sz="2400" b="1">
                  <a:solidFill>
                    <a:srgbClr val="CC3300"/>
                  </a:solidFill>
                  <a:latin typeface="Times New Roman" panose="02020603050405020304" pitchFamily="18" charset="0"/>
                </a:rPr>
                <a:t>的逻辑关系。</a:t>
              </a:r>
              <a:endParaRPr kumimoji="1" lang="zh-CN" altLang="en-US" sz="2400" b="1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1" name="Line 45"/>
            <p:cNvSpPr>
              <a:spLocks noChangeShapeType="1"/>
            </p:cNvSpPr>
            <p:nvPr/>
          </p:nvSpPr>
          <p:spPr bwMode="auto">
            <a:xfrm>
              <a:off x="4546" y="3524"/>
              <a:ext cx="96" cy="0"/>
            </a:xfrm>
            <a:prstGeom prst="line">
              <a:avLst/>
            </a:prstGeom>
            <a:noFill/>
            <a:ln w="9525">
              <a:solidFill>
                <a:srgbClr val="CC33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4" name="Text Box 48"/>
          <p:cNvSpPr txBox="1">
            <a:spLocks noChangeArrowheads="1"/>
          </p:cNvSpPr>
          <p:nvPr/>
        </p:nvSpPr>
        <p:spPr bwMode="auto">
          <a:xfrm>
            <a:off x="4641850" y="3034724"/>
            <a:ext cx="14221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fontAlgn="base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静态时：</a:t>
            </a:r>
            <a:endParaRPr kumimoji="1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5" name="Text Box 49"/>
          <p:cNvSpPr txBox="1">
            <a:spLocks noChangeArrowheads="1"/>
          </p:cNvSpPr>
          <p:nvPr/>
        </p:nvSpPr>
        <p:spPr bwMode="auto">
          <a:xfrm>
            <a:off x="4641850" y="3445887"/>
            <a:ext cx="387138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fontAlgn="base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动态且</a:t>
            </a:r>
            <a:r>
              <a:rPr kumimoji="1"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r>
              <a:rPr kumimoji="1"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t</a:t>
            </a:r>
            <a:r>
              <a:rPr kumimoji="1"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pd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≠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0 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时：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Y=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？</a:t>
            </a:r>
            <a:endParaRPr kumimoji="1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26" name="Group 50"/>
          <p:cNvGrpSpPr/>
          <p:nvPr/>
        </p:nvGrpSpPr>
        <p:grpSpPr bwMode="auto">
          <a:xfrm>
            <a:off x="3352800" y="4876800"/>
            <a:ext cx="0" cy="1219200"/>
            <a:chOff x="1872" y="3072"/>
            <a:chExt cx="0" cy="768"/>
          </a:xfrm>
        </p:grpSpPr>
        <p:sp>
          <p:nvSpPr>
            <p:cNvPr id="127" name="Line 51"/>
            <p:cNvSpPr>
              <a:spLocks noChangeShapeType="1"/>
            </p:cNvSpPr>
            <p:nvPr/>
          </p:nvSpPr>
          <p:spPr bwMode="auto">
            <a:xfrm>
              <a:off x="1872" y="3072"/>
              <a:ext cx="0" cy="624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prstDash val="sysDot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8" name="Line 52"/>
            <p:cNvSpPr>
              <a:spLocks noChangeShapeType="1"/>
            </p:cNvSpPr>
            <p:nvPr/>
          </p:nvSpPr>
          <p:spPr bwMode="auto">
            <a:xfrm>
              <a:off x="1872" y="3648"/>
              <a:ext cx="0" cy="192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prstDash val="sysDot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9" name="Text Box 53"/>
          <p:cNvSpPr txBox="1">
            <a:spLocks noChangeArrowheads="1"/>
          </p:cNvSpPr>
          <p:nvPr/>
        </p:nvSpPr>
        <p:spPr bwMode="auto">
          <a:xfrm>
            <a:off x="2819400" y="4648200"/>
            <a:ext cx="641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>
                <a:solidFill>
                  <a:srgbClr val="000099"/>
                </a:solidFill>
                <a:latin typeface="宋体" panose="02010600030101010101" pitchFamily="2" charset="-122"/>
              </a:rPr>
              <a:t>t</a:t>
            </a:r>
            <a:r>
              <a:rPr kumimoji="1"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pd</a:t>
            </a:r>
            <a:endParaRPr kumimoji="1" lang="en-US" altLang="zh-CN" sz="2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0" name="Text Box 54"/>
          <p:cNvSpPr txBox="1">
            <a:spLocks noChangeArrowheads="1"/>
          </p:cNvSpPr>
          <p:nvPr/>
        </p:nvSpPr>
        <p:spPr bwMode="auto">
          <a:xfrm>
            <a:off x="374650" y="3034724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endParaRPr kumimoji="1" lang="en-US" altLang="zh-CN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31" name="Group 55"/>
          <p:cNvGrpSpPr/>
          <p:nvPr/>
        </p:nvGrpSpPr>
        <p:grpSpPr bwMode="auto">
          <a:xfrm>
            <a:off x="1736725" y="3415724"/>
            <a:ext cx="404813" cy="457200"/>
            <a:chOff x="1056" y="2352"/>
            <a:chExt cx="255" cy="288"/>
          </a:xfrm>
        </p:grpSpPr>
        <p:sp>
          <p:nvSpPr>
            <p:cNvPr id="132" name="Text Box 56"/>
            <p:cNvSpPr txBox="1">
              <a:spLocks noChangeArrowheads="1"/>
            </p:cNvSpPr>
            <p:nvPr/>
          </p:nvSpPr>
          <p:spPr bwMode="auto">
            <a:xfrm>
              <a:off x="1056" y="2352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" name="Line 57"/>
            <p:cNvSpPr>
              <a:spLocks noChangeShapeType="1"/>
            </p:cNvSpPr>
            <p:nvPr/>
          </p:nvSpPr>
          <p:spPr bwMode="auto">
            <a:xfrm>
              <a:off x="1132" y="2386"/>
              <a:ext cx="9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34" name="Text Box 58"/>
          <p:cNvSpPr txBox="1">
            <a:spLocks noChangeArrowheads="1"/>
          </p:cNvSpPr>
          <p:nvPr/>
        </p:nvSpPr>
        <p:spPr bwMode="auto">
          <a:xfrm>
            <a:off x="1079500" y="3437949"/>
            <a:ext cx="6127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b="1">
                <a:solidFill>
                  <a:srgbClr val="000099"/>
                </a:solidFill>
                <a:latin typeface="宋体" panose="02010600030101010101" pitchFamily="2" charset="-122"/>
              </a:rPr>
              <a:t>t</a:t>
            </a:r>
            <a:r>
              <a:rPr kumimoji="1" lang="en-US" altLang="zh-CN" sz="1600" b="1">
                <a:solidFill>
                  <a:srgbClr val="000099"/>
                </a:solidFill>
                <a:latin typeface="Times New Roman" panose="02020603050405020304" pitchFamily="18" charset="0"/>
              </a:rPr>
              <a:t>pd</a:t>
            </a:r>
            <a:endParaRPr kumimoji="1" lang="en-US" altLang="zh-CN" sz="2000" b="1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35" name="Group 59"/>
          <p:cNvGrpSpPr/>
          <p:nvPr/>
        </p:nvGrpSpPr>
        <p:grpSpPr bwMode="auto">
          <a:xfrm>
            <a:off x="450850" y="2798187"/>
            <a:ext cx="2611438" cy="823912"/>
            <a:chOff x="293" y="1915"/>
            <a:chExt cx="1645" cy="519"/>
          </a:xfrm>
        </p:grpSpPr>
        <p:sp>
          <p:nvSpPr>
            <p:cNvPr id="136" name="Text Box 60"/>
            <p:cNvSpPr txBox="1">
              <a:spLocks noChangeArrowheads="1"/>
            </p:cNvSpPr>
            <p:nvPr/>
          </p:nvSpPr>
          <p:spPr bwMode="auto">
            <a:xfrm>
              <a:off x="1406" y="1972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&amp;</a:t>
              </a:r>
              <a:endParaRPr kumimoji="1" lang="en-US" altLang="zh-CN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37" name="Group 61"/>
            <p:cNvGrpSpPr/>
            <p:nvPr/>
          </p:nvGrpSpPr>
          <p:grpSpPr bwMode="auto">
            <a:xfrm>
              <a:off x="804" y="2141"/>
              <a:ext cx="223" cy="293"/>
              <a:chOff x="1440" y="1867"/>
              <a:chExt cx="240" cy="293"/>
            </a:xfrm>
          </p:grpSpPr>
          <p:sp>
            <p:nvSpPr>
              <p:cNvPr id="146" name="Rectangle 62"/>
              <p:cNvSpPr>
                <a:spLocks noChangeArrowheads="1"/>
              </p:cNvSpPr>
              <p:nvPr/>
            </p:nvSpPr>
            <p:spPr bwMode="auto">
              <a:xfrm>
                <a:off x="1440" y="1872"/>
                <a:ext cx="192" cy="288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90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Blip>
                    <a:blip r:embed="rId4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Blip>
                    <a:blip r:embed="rId4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Blip>
                    <a:blip r:embed="rId4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Blip>
                    <a:blip r:embed="rId4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Blip>
                    <a:blip r:embed="rId4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7" name="Text Box 63"/>
              <p:cNvSpPr txBox="1">
                <a:spLocks noChangeArrowheads="1"/>
              </p:cNvSpPr>
              <p:nvPr/>
            </p:nvSpPr>
            <p:spPr bwMode="auto">
              <a:xfrm>
                <a:off x="1458" y="1867"/>
                <a:ext cx="211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90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Blip>
                    <a:blip r:embed="rId4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Blip>
                    <a:blip r:embed="rId4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Blip>
                    <a:blip r:embed="rId4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Blip>
                    <a:blip r:embed="rId4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Blip>
                    <a:blip r:embed="rId4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8" name="Oval 64"/>
              <p:cNvSpPr>
                <a:spLocks noChangeArrowheads="1"/>
              </p:cNvSpPr>
              <p:nvPr/>
            </p:nvSpPr>
            <p:spPr bwMode="auto">
              <a:xfrm>
                <a:off x="1632" y="1996"/>
                <a:ext cx="48" cy="48"/>
              </a:xfrm>
              <a:prstGeom prst="ellipse">
                <a:avLst/>
              </a:prstGeom>
              <a:solidFill>
                <a:srgbClr val="E6F5F6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90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Blip>
                    <a:blip r:embed="rId3"/>
                  </a:buBlip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Blip>
                    <a:blip r:embed="rId4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Blip>
                    <a:blip r:embed="rId4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Blip>
                    <a:blip r:embed="rId4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Blip>
                    <a:blip r:embed="rId4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Blip>
                    <a:blip r:embed="rId4"/>
                  </a:buBlip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38" name="Line 65"/>
            <p:cNvSpPr>
              <a:spLocks noChangeShapeType="1"/>
            </p:cNvSpPr>
            <p:nvPr/>
          </p:nvSpPr>
          <p:spPr bwMode="auto">
            <a:xfrm>
              <a:off x="293" y="2093"/>
              <a:ext cx="112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9" name="Line 66"/>
            <p:cNvSpPr>
              <a:spLocks noChangeShapeType="1"/>
            </p:cNvSpPr>
            <p:nvPr/>
          </p:nvSpPr>
          <p:spPr bwMode="auto">
            <a:xfrm flipH="1">
              <a:off x="625" y="2285"/>
              <a:ext cx="17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0" name="Line 67"/>
            <p:cNvSpPr>
              <a:spLocks noChangeShapeType="1"/>
            </p:cNvSpPr>
            <p:nvPr/>
          </p:nvSpPr>
          <p:spPr bwMode="auto">
            <a:xfrm>
              <a:off x="625" y="2093"/>
              <a:ext cx="0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1" name="Oval 68"/>
            <p:cNvSpPr>
              <a:spLocks noChangeArrowheads="1"/>
            </p:cNvSpPr>
            <p:nvPr/>
          </p:nvSpPr>
          <p:spPr bwMode="auto">
            <a:xfrm>
              <a:off x="599" y="2073"/>
              <a:ext cx="45" cy="48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2" name="Line 69"/>
            <p:cNvSpPr>
              <a:spLocks noChangeShapeType="1"/>
            </p:cNvSpPr>
            <p:nvPr/>
          </p:nvSpPr>
          <p:spPr bwMode="auto">
            <a:xfrm>
              <a:off x="1638" y="2203"/>
              <a:ext cx="22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3" name="Text Box 70"/>
            <p:cNvSpPr txBox="1">
              <a:spLocks noChangeArrowheads="1"/>
            </p:cNvSpPr>
            <p:nvPr/>
          </p:nvSpPr>
          <p:spPr bwMode="auto">
            <a:xfrm>
              <a:off x="1683" y="1915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4" name="Line 71"/>
            <p:cNvSpPr>
              <a:spLocks noChangeShapeType="1"/>
            </p:cNvSpPr>
            <p:nvPr/>
          </p:nvSpPr>
          <p:spPr bwMode="auto">
            <a:xfrm>
              <a:off x="1022" y="2290"/>
              <a:ext cx="38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1415" y="1977"/>
              <a:ext cx="223" cy="41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49" name="Text Box 37"/>
          <p:cNvSpPr txBox="1">
            <a:spLocks noChangeArrowheads="1"/>
          </p:cNvSpPr>
          <p:nvPr/>
        </p:nvSpPr>
        <p:spPr bwMode="auto">
          <a:xfrm>
            <a:off x="1130300" y="6019800"/>
            <a:ext cx="2565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dirty="0">
                <a:solidFill>
                  <a:srgbClr val="800000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000" dirty="0">
                <a:solidFill>
                  <a:srgbClr val="800000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800" dirty="0">
                <a:solidFill>
                  <a:srgbClr val="800000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dirty="0">
                <a:solidFill>
                  <a:srgbClr val="800000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000" dirty="0">
                <a:solidFill>
                  <a:srgbClr val="800000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800" dirty="0">
                <a:solidFill>
                  <a:srgbClr val="800000"/>
                </a:solidFill>
                <a:latin typeface="Times New Roman" panose="02020603050405020304" pitchFamily="18" charset="0"/>
              </a:rPr>
              <a:t>           </a:t>
            </a:r>
            <a:r>
              <a:rPr kumimoji="1" lang="en-US" altLang="zh-CN" dirty="0">
                <a:solidFill>
                  <a:srgbClr val="800000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000" dirty="0">
                <a:solidFill>
                  <a:srgbClr val="800000"/>
                </a:solidFill>
                <a:latin typeface="Times New Roman" panose="02020603050405020304" pitchFamily="18" charset="0"/>
              </a:rPr>
              <a:t>3</a:t>
            </a:r>
            <a:r>
              <a:rPr kumimoji="1" lang="en-US" altLang="zh-CN" sz="2800" dirty="0">
                <a:solidFill>
                  <a:srgbClr val="800000"/>
                </a:solidFill>
                <a:latin typeface="Times New Roman" panose="02020603050405020304" pitchFamily="18" charset="0"/>
              </a:rPr>
              <a:t>   </a:t>
            </a:r>
            <a:r>
              <a:rPr kumimoji="1" lang="en-US" altLang="zh-CN" dirty="0">
                <a:solidFill>
                  <a:srgbClr val="800000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000" dirty="0">
                <a:solidFill>
                  <a:srgbClr val="800000"/>
                </a:solidFill>
                <a:latin typeface="Times New Roman" panose="02020603050405020304" pitchFamily="18" charset="0"/>
              </a:rPr>
              <a:t>4</a:t>
            </a:r>
            <a:endParaRPr kumimoji="1" lang="en-US" altLang="zh-CN" sz="2000" dirty="0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0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00"/>
                            </p:stCondLst>
                            <p:childTnLst>
                              <p:par>
                                <p:cTn id="1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500"/>
                            </p:stCondLst>
                            <p:childTnLst>
                              <p:par>
                                <p:cTn id="1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500"/>
                            </p:stCondLst>
                            <p:childTnLst>
                              <p:par>
                                <p:cTn id="1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6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animBg="1"/>
      <p:bldP spid="83" grpId="0" autoUpdateAnimBg="0"/>
      <p:bldP spid="99" grpId="0" autoUpdateAnimBg="0"/>
      <p:bldP spid="114" grpId="0" autoUpdateAnimBg="0"/>
      <p:bldP spid="115" grpId="0" autoUpdateAnimBg="0"/>
      <p:bldP spid="124" grpId="0" autoUpdateAnimBg="0"/>
      <p:bldP spid="125" grpId="0"/>
      <p:bldP spid="129" grpId="0" autoUpdateAnimBg="0"/>
      <p:bldP spid="130" grpId="0" autoUpdateAnimBg="0"/>
      <p:bldP spid="134" grpId="0" autoUpdateAnimBg="0"/>
      <p:bldP spid="149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408578"/>
          <p:cNvSpPr>
            <a:spLocks noChangeArrowheads="1"/>
          </p:cNvSpPr>
          <p:nvPr/>
        </p:nvSpPr>
        <p:spPr bwMode="auto">
          <a:xfrm>
            <a:off x="317535" y="1019403"/>
            <a:ext cx="8493955" cy="236693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FF3300"/>
                </a:solidFill>
                <a:latin typeface="黑体" panose="02010609060101010101" pitchFamily="49" charset="-122"/>
              </a:rPr>
              <a:t>竞争：</a:t>
            </a:r>
            <a:r>
              <a:rPr lang="zh-CN" altLang="en-US" sz="2400" b="1" dirty="0">
                <a:latin typeface="黑体" panose="02010609060101010101" pitchFamily="49" charset="-122"/>
              </a:rPr>
              <a:t>信号经不同路径到达某一点时，所用的时间不同，这个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</a:rPr>
              <a:t>时间差</a:t>
            </a:r>
            <a:r>
              <a:rPr lang="zh-CN" altLang="en-US" sz="2400" b="1" dirty="0">
                <a:latin typeface="黑体" panose="02010609060101010101" pitchFamily="49" charset="-122"/>
              </a:rPr>
              <a:t>称为</a:t>
            </a:r>
            <a:r>
              <a:rPr lang="zh-CN" altLang="en-US" sz="2400" b="1" i="1" dirty="0">
                <a:latin typeface="黑体" panose="02010609060101010101" pitchFamily="49" charset="-122"/>
              </a:rPr>
              <a:t>竞争</a:t>
            </a:r>
            <a:endParaRPr lang="en-US" altLang="zh-CN" sz="2400" b="1" i="1" dirty="0">
              <a:latin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3300"/>
                </a:solidFill>
                <a:latin typeface="黑体" panose="02010609060101010101" pitchFamily="49" charset="-122"/>
              </a:rPr>
              <a:t>险象：</a:t>
            </a:r>
            <a:r>
              <a:rPr lang="zh-CN" altLang="en-US" sz="2400" b="1" dirty="0">
                <a:latin typeface="黑体" panose="02010609060101010101" pitchFamily="49" charset="-122"/>
              </a:rPr>
              <a:t>由竞争引起电路输出发生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</a:rPr>
              <a:t>瞬间错误</a:t>
            </a:r>
            <a:r>
              <a:rPr lang="zh-CN" altLang="en-US" sz="2400" b="1" dirty="0">
                <a:latin typeface="黑体" panose="02010609060101010101" pitchFamily="49" charset="-122"/>
              </a:rPr>
              <a:t>的现象，表现为输出端出现了原设计中没有的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</a:rPr>
              <a:t>窄脉冲</a:t>
            </a:r>
            <a:r>
              <a:rPr lang="zh-CN" altLang="en-US" sz="2400" b="1" dirty="0">
                <a:latin typeface="黑体" panose="02010609060101010101" pitchFamily="49" charset="-122"/>
              </a:rPr>
              <a:t>（毛刺），称为</a:t>
            </a:r>
            <a:r>
              <a:rPr lang="zh-CN" altLang="en-US" sz="2400" b="1" i="1" dirty="0">
                <a:latin typeface="黑体" panose="02010609060101010101" pitchFamily="49" charset="-122"/>
              </a:rPr>
              <a:t>险象</a:t>
            </a:r>
            <a:endParaRPr lang="zh-CN" altLang="en-US" sz="2400" b="1" i="1" dirty="0">
              <a:latin typeface="黑体" panose="02010609060101010101" pitchFamily="49" charset="-122"/>
            </a:endParaRPr>
          </a:p>
        </p:txBody>
      </p:sp>
      <p:sp>
        <p:nvSpPr>
          <p:cNvPr id="31" name="矩形 408581"/>
          <p:cNvSpPr>
            <a:spLocks noChangeArrowheads="1"/>
          </p:cNvSpPr>
          <p:nvPr/>
        </p:nvSpPr>
        <p:spPr bwMode="auto">
          <a:xfrm>
            <a:off x="317534" y="3871624"/>
            <a:ext cx="8493955" cy="166776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342900" indent="-342900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170A8E"/>
                </a:solidFill>
                <a:latin typeface="黑体" panose="02010609060101010101" pitchFamily="49" charset="-122"/>
              </a:rPr>
              <a:t>一般来说，时延对数字系统是有害的，它会降低系统的工作速度，还会产生竞争冒险现象</a:t>
            </a:r>
            <a:endParaRPr lang="zh-CN" altLang="en-US" sz="2400" b="1" dirty="0">
              <a:solidFill>
                <a:srgbClr val="170A8E"/>
              </a:solidFill>
              <a:latin typeface="黑体" panose="02010609060101010101" pitchFamily="49" charset="-122"/>
            </a:endParaRPr>
          </a:p>
          <a:p>
            <a:pPr marL="342900" indent="-342900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170A8E"/>
                </a:solidFill>
                <a:latin typeface="黑体" panose="02010609060101010101" pitchFamily="49" charset="-122"/>
              </a:rPr>
              <a:t>竞争和险象是对电路的，而不是针对函数的</a:t>
            </a:r>
            <a:endParaRPr lang="zh-CN" altLang="en-US" sz="2400" b="1" dirty="0">
              <a:solidFill>
                <a:srgbClr val="170A8E"/>
              </a:solidFill>
              <a:latin typeface="黑体" panose="02010609060101010101" pitchFamily="49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淘宝网chenying0907出品 6"/>
          <p:cNvSpPr txBox="1"/>
          <p:nvPr/>
        </p:nvSpPr>
        <p:spPr>
          <a:xfrm>
            <a:off x="1528823" y="0"/>
            <a:ext cx="5200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4.5.1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基本概念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3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73772" y="1064056"/>
            <a:ext cx="4029421" cy="230832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依据</a:t>
            </a:r>
            <a:r>
              <a:rPr lang="zh-CN" altLang="en-US" sz="2400" b="1" dirty="0">
                <a:solidFill>
                  <a:srgbClr val="FF33CC"/>
                </a:solidFill>
              </a:rPr>
              <a:t>输入信号变化前后输出信号的变化情况</a:t>
            </a:r>
            <a:r>
              <a:rPr lang="zh-CN" altLang="en-US" sz="2400" b="1" dirty="0"/>
              <a:t>，分为：</a:t>
            </a:r>
            <a:endParaRPr lang="en-US" altLang="zh-CN" sz="2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FF"/>
                </a:solidFill>
              </a:rPr>
              <a:t>静态险象</a:t>
            </a:r>
            <a:r>
              <a:rPr lang="zh-CN" altLang="en-US" sz="2400" b="1" dirty="0"/>
              <a:t>：</a:t>
            </a:r>
            <a:r>
              <a:rPr lang="zh-CN" altLang="en-US" sz="2400" b="1" dirty="0">
                <a:latin typeface="黑体" panose="02010609060101010101" pitchFamily="49" charset="-122"/>
              </a:rPr>
              <a:t>本应不变而发生了变化</a:t>
            </a:r>
            <a:endParaRPr lang="en-US" altLang="zh-CN" sz="2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FF"/>
                </a:solidFill>
              </a:rPr>
              <a:t>动态险象</a:t>
            </a:r>
            <a:r>
              <a:rPr lang="zh-CN" altLang="en-US" sz="2400" b="1" dirty="0"/>
              <a:t>：本应一次变化而发生了多次变化</a:t>
            </a:r>
            <a:endParaRPr lang="zh-CN" altLang="en-US" sz="2400" b="1" dirty="0"/>
          </a:p>
        </p:txBody>
      </p:sp>
      <p:sp>
        <p:nvSpPr>
          <p:cNvPr id="47" name="文本框 46"/>
          <p:cNvSpPr txBox="1"/>
          <p:nvPr/>
        </p:nvSpPr>
        <p:spPr>
          <a:xfrm>
            <a:off x="4764341" y="1044817"/>
            <a:ext cx="4029421" cy="230832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依据</a:t>
            </a:r>
            <a:r>
              <a:rPr lang="zh-CN" altLang="en-US" sz="2400" b="1" dirty="0">
                <a:solidFill>
                  <a:srgbClr val="FF33CC"/>
                </a:solidFill>
              </a:rPr>
              <a:t>导致输出信号发生变化的输入变量个数</a:t>
            </a:r>
            <a:r>
              <a:rPr lang="zh-CN" altLang="en-US" sz="2400" b="1" dirty="0"/>
              <a:t>，分为：</a:t>
            </a:r>
            <a:endParaRPr lang="en-US" altLang="zh-CN" sz="2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FF"/>
                </a:solidFill>
              </a:rPr>
              <a:t>逻辑险象</a:t>
            </a:r>
            <a:r>
              <a:rPr lang="zh-CN" altLang="en-US" sz="2400" b="1" dirty="0"/>
              <a:t>：</a:t>
            </a:r>
            <a:r>
              <a:rPr lang="zh-CN" altLang="en-US" sz="2400" b="1" dirty="0">
                <a:latin typeface="黑体" panose="02010609060101010101" pitchFamily="49" charset="-122"/>
              </a:rPr>
              <a:t>一个输入变量发生变化导致的险象</a:t>
            </a:r>
            <a:endParaRPr lang="en-US" altLang="zh-CN" sz="2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FF"/>
                </a:solidFill>
              </a:rPr>
              <a:t>功能险象</a:t>
            </a:r>
            <a:r>
              <a:rPr lang="zh-CN" altLang="en-US" sz="2400" b="1" dirty="0"/>
              <a:t>：多个输入变量发生变化导致的险象</a:t>
            </a:r>
            <a:endParaRPr lang="zh-CN" altLang="en-US" sz="2400" b="1" dirty="0"/>
          </a:p>
        </p:txBody>
      </p:sp>
      <p:sp>
        <p:nvSpPr>
          <p:cNvPr id="3" name="箭头: 下 2"/>
          <p:cNvSpPr/>
          <p:nvPr/>
        </p:nvSpPr>
        <p:spPr>
          <a:xfrm rot="4323614">
            <a:off x="4126641" y="2541652"/>
            <a:ext cx="316700" cy="255535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箭头: 下 3"/>
          <p:cNvSpPr/>
          <p:nvPr/>
        </p:nvSpPr>
        <p:spPr>
          <a:xfrm rot="17010916">
            <a:off x="4588685" y="2293980"/>
            <a:ext cx="337947" cy="298121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248456" y="4363530"/>
            <a:ext cx="553998" cy="208248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vert="eaVert" wrap="square" rtlCol="0">
            <a:spAutoFit/>
          </a:bodyPr>
          <a:lstStyle/>
          <a:p>
            <a:r>
              <a:rPr lang="zh-CN" altLang="en-US" sz="2400" b="1" dirty="0"/>
              <a:t>静态逻辑险象</a:t>
            </a:r>
            <a:endParaRPr lang="zh-CN" altLang="en-US" sz="2400" b="1" dirty="0"/>
          </a:p>
        </p:txBody>
      </p:sp>
      <p:sp>
        <p:nvSpPr>
          <p:cNvPr id="48" name="文本框 47"/>
          <p:cNvSpPr txBox="1"/>
          <p:nvPr/>
        </p:nvSpPr>
        <p:spPr>
          <a:xfrm>
            <a:off x="3574654" y="4340705"/>
            <a:ext cx="553998" cy="208248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vert="eaVert" wrap="square" rtlCol="0">
            <a:spAutoFit/>
          </a:bodyPr>
          <a:lstStyle/>
          <a:p>
            <a:r>
              <a:rPr lang="zh-CN" altLang="en-US" sz="2400" b="1" dirty="0"/>
              <a:t>静态功能险象</a:t>
            </a:r>
            <a:endParaRPr lang="zh-CN" altLang="en-US" sz="2400" b="1" dirty="0"/>
          </a:p>
        </p:txBody>
      </p:sp>
      <p:sp>
        <p:nvSpPr>
          <p:cNvPr id="49" name="文本框 48"/>
          <p:cNvSpPr txBox="1"/>
          <p:nvPr/>
        </p:nvSpPr>
        <p:spPr>
          <a:xfrm>
            <a:off x="4975333" y="4338179"/>
            <a:ext cx="553998" cy="208248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vert="eaVert" wrap="square" rtlCol="0">
            <a:spAutoFit/>
          </a:bodyPr>
          <a:lstStyle/>
          <a:p>
            <a:r>
              <a:rPr lang="zh-CN" altLang="en-US" sz="2400" b="1" dirty="0"/>
              <a:t>动态逻辑险象</a:t>
            </a:r>
            <a:endParaRPr lang="zh-CN" altLang="en-US" sz="2400" b="1" dirty="0"/>
          </a:p>
        </p:txBody>
      </p:sp>
      <p:sp>
        <p:nvSpPr>
          <p:cNvPr id="50" name="文本框 49"/>
          <p:cNvSpPr txBox="1"/>
          <p:nvPr/>
        </p:nvSpPr>
        <p:spPr>
          <a:xfrm>
            <a:off x="6225054" y="4338179"/>
            <a:ext cx="553998" cy="208248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vert="eaVert" wrap="square" rtlCol="0">
            <a:spAutoFit/>
          </a:bodyPr>
          <a:lstStyle/>
          <a:p>
            <a:r>
              <a:rPr lang="zh-CN" altLang="en-US" sz="2400" b="1" dirty="0"/>
              <a:t>动态功能险象</a:t>
            </a:r>
            <a:endParaRPr lang="zh-CN" altLang="en-US" sz="2400" b="1" dirty="0"/>
          </a:p>
        </p:txBody>
      </p:sp>
      <p:cxnSp>
        <p:nvCxnSpPr>
          <p:cNvPr id="14" name="直接连接符 13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淘宝网chenying0907出品 6"/>
          <p:cNvSpPr txBox="1"/>
          <p:nvPr/>
        </p:nvSpPr>
        <p:spPr>
          <a:xfrm>
            <a:off x="1528823" y="0"/>
            <a:ext cx="5200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4.5.2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险象的分类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7" grpId="0" animBg="1"/>
      <p:bldP spid="3" grpId="0" animBg="1"/>
      <p:bldP spid="4" grpId="0" animBg="1"/>
      <p:bldP spid="5" grpId="0" animBg="1"/>
      <p:bldP spid="48" grpId="0" animBg="1"/>
      <p:bldP spid="49" grpId="0" animBg="1"/>
      <p:bldP spid="5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409607"/>
          <p:cNvGrpSpPr/>
          <p:nvPr/>
        </p:nvGrpSpPr>
        <p:grpSpPr bwMode="auto">
          <a:xfrm>
            <a:off x="583251" y="1373741"/>
            <a:ext cx="7704138" cy="1247776"/>
            <a:chOff x="-221" y="-101"/>
            <a:chExt cx="4853" cy="786"/>
          </a:xfrm>
        </p:grpSpPr>
        <p:sp>
          <p:nvSpPr>
            <p:cNvPr id="17" name="矩形 409608"/>
            <p:cNvSpPr>
              <a:spLocks noChangeArrowheads="1"/>
            </p:cNvSpPr>
            <p:nvPr/>
          </p:nvSpPr>
          <p:spPr bwMode="auto">
            <a:xfrm>
              <a:off x="-221" y="128"/>
              <a:ext cx="102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ea typeface="宋体" panose="02010600030101010101" pitchFamily="2" charset="-122"/>
                </a:rPr>
                <a:t>输出错误</a:t>
              </a:r>
              <a:endParaRPr lang="zh-CN" altLang="en-US" b="1" dirty="0">
                <a:ea typeface="宋体" panose="02010600030101010101" pitchFamily="2" charset="-122"/>
              </a:endParaRPr>
            </a:p>
          </p:txBody>
        </p:sp>
        <p:sp>
          <p:nvSpPr>
            <p:cNvPr id="18" name="矩形 409609"/>
            <p:cNvSpPr>
              <a:spLocks noChangeArrowheads="1"/>
            </p:cNvSpPr>
            <p:nvPr/>
          </p:nvSpPr>
          <p:spPr bwMode="auto">
            <a:xfrm>
              <a:off x="912" y="-101"/>
              <a:ext cx="350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b="1" dirty="0">
                  <a:ea typeface="宋体" panose="02010600030101010101" pitchFamily="2" charset="-122"/>
                </a:rPr>
                <a:t>0</a:t>
              </a:r>
              <a:r>
                <a:rPr lang="zh-CN" altLang="en-US" b="1" dirty="0">
                  <a:ea typeface="宋体" panose="02010600030101010101" pitchFamily="2" charset="-122"/>
                </a:rPr>
                <a:t>型险象：</a:t>
              </a:r>
              <a:r>
                <a:rPr lang="zh-CN" altLang="en-US" b="1" dirty="0">
                  <a:ea typeface="楷体_GB2312" pitchFamily="49" charset="-122"/>
                </a:rPr>
                <a:t>产生低电平错误</a:t>
              </a:r>
              <a:endParaRPr lang="zh-CN" altLang="en-US" b="1" dirty="0">
                <a:ea typeface="楷体_GB2312" pitchFamily="49" charset="-122"/>
              </a:endParaRPr>
            </a:p>
          </p:txBody>
        </p:sp>
        <p:sp>
          <p:nvSpPr>
            <p:cNvPr id="19" name="矩形 409610"/>
            <p:cNvSpPr>
              <a:spLocks noChangeArrowheads="1"/>
            </p:cNvSpPr>
            <p:nvPr/>
          </p:nvSpPr>
          <p:spPr bwMode="auto">
            <a:xfrm>
              <a:off x="888" y="355"/>
              <a:ext cx="374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b="1" dirty="0">
                  <a:ea typeface="宋体" panose="02010600030101010101" pitchFamily="2" charset="-122"/>
                </a:rPr>
                <a:t>1</a:t>
              </a:r>
              <a:r>
                <a:rPr lang="zh-CN" altLang="en-US" b="1" dirty="0">
                  <a:ea typeface="宋体" panose="02010600030101010101" pitchFamily="2" charset="-122"/>
                </a:rPr>
                <a:t>型险象：</a:t>
              </a:r>
              <a:r>
                <a:rPr lang="zh-CN" altLang="en-US" b="1" dirty="0">
                  <a:ea typeface="楷体_GB2312" pitchFamily="49" charset="-122"/>
                </a:rPr>
                <a:t>产生高电平错误</a:t>
              </a:r>
              <a:endParaRPr lang="zh-CN" altLang="en-US" b="1" dirty="0">
                <a:ea typeface="楷体_GB2312" pitchFamily="49" charset="-122"/>
              </a:endParaRPr>
            </a:p>
          </p:txBody>
        </p:sp>
        <p:sp>
          <p:nvSpPr>
            <p:cNvPr id="20" name="左大括号 409611"/>
            <p:cNvSpPr/>
            <p:nvPr/>
          </p:nvSpPr>
          <p:spPr bwMode="auto">
            <a:xfrm>
              <a:off x="840" y="67"/>
              <a:ext cx="91" cy="452"/>
            </a:xfrm>
            <a:prstGeom prst="leftBrace">
              <a:avLst>
                <a:gd name="adj1" fmla="val 29150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/>
            </a:p>
          </p:txBody>
        </p:sp>
      </p:grpSp>
      <p:grpSp>
        <p:nvGrpSpPr>
          <p:cNvPr id="21" name="组合 409612"/>
          <p:cNvGrpSpPr/>
          <p:nvPr/>
        </p:nvGrpSpPr>
        <p:grpSpPr bwMode="auto">
          <a:xfrm>
            <a:off x="616589" y="3158293"/>
            <a:ext cx="5992813" cy="2947989"/>
            <a:chOff x="-200" y="-45"/>
            <a:chExt cx="3775" cy="1857"/>
          </a:xfrm>
        </p:grpSpPr>
        <p:sp>
          <p:nvSpPr>
            <p:cNvPr id="22" name="直接连接符 409613"/>
            <p:cNvSpPr>
              <a:spLocks noChangeShapeType="1"/>
            </p:cNvSpPr>
            <p:nvPr/>
          </p:nvSpPr>
          <p:spPr bwMode="auto">
            <a:xfrm>
              <a:off x="1984" y="48"/>
              <a:ext cx="0" cy="1573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3" name="组合 409614"/>
            <p:cNvGrpSpPr/>
            <p:nvPr/>
          </p:nvGrpSpPr>
          <p:grpSpPr bwMode="auto">
            <a:xfrm>
              <a:off x="790" y="120"/>
              <a:ext cx="2785" cy="1099"/>
              <a:chOff x="0" y="0"/>
              <a:chExt cx="3734" cy="2024"/>
            </a:xfrm>
          </p:grpSpPr>
          <p:sp>
            <p:nvSpPr>
              <p:cNvPr id="32" name="矩形 409615"/>
              <p:cNvSpPr>
                <a:spLocks noChangeArrowheads="1"/>
              </p:cNvSpPr>
              <p:nvPr/>
            </p:nvSpPr>
            <p:spPr bwMode="auto">
              <a:xfrm>
                <a:off x="2001" y="510"/>
                <a:ext cx="222" cy="322"/>
              </a:xfrm>
              <a:prstGeom prst="rect">
                <a:avLst/>
              </a:prstGeom>
              <a:blipFill dpi="0" rotWithShape="0">
                <a:blip r:embed="rId1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</a:pPr>
                <a:endParaRPr lang="zh-CN" altLang="en-US"/>
              </a:p>
            </p:txBody>
          </p:sp>
          <p:sp>
            <p:nvSpPr>
              <p:cNvPr id="33" name="矩形 409616"/>
              <p:cNvSpPr>
                <a:spLocks noChangeArrowheads="1"/>
              </p:cNvSpPr>
              <p:nvPr/>
            </p:nvSpPr>
            <p:spPr bwMode="auto">
              <a:xfrm>
                <a:off x="2678" y="1144"/>
                <a:ext cx="189" cy="322"/>
              </a:xfrm>
              <a:prstGeom prst="rect">
                <a:avLst/>
              </a:prstGeom>
              <a:blipFill dpi="0" rotWithShape="0">
                <a:blip r:embed="rId1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</a:pPr>
                <a:endParaRPr lang="zh-CN" altLang="en-US"/>
              </a:p>
            </p:txBody>
          </p:sp>
          <p:sp>
            <p:nvSpPr>
              <p:cNvPr id="34" name="矩形 409617"/>
              <p:cNvSpPr>
                <a:spLocks noChangeArrowheads="1"/>
              </p:cNvSpPr>
              <p:nvPr/>
            </p:nvSpPr>
            <p:spPr bwMode="auto">
              <a:xfrm>
                <a:off x="2690" y="1689"/>
                <a:ext cx="177" cy="322"/>
              </a:xfrm>
              <a:prstGeom prst="rect">
                <a:avLst/>
              </a:prstGeom>
              <a:blipFill dpi="0" rotWithShape="0">
                <a:blip r:embed="rId1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</a:pPr>
                <a:endParaRPr lang="zh-CN" altLang="en-US"/>
              </a:p>
            </p:txBody>
          </p:sp>
          <p:sp>
            <p:nvSpPr>
              <p:cNvPr id="35" name="矩形 409618"/>
              <p:cNvSpPr>
                <a:spLocks noChangeArrowheads="1"/>
              </p:cNvSpPr>
              <p:nvPr/>
            </p:nvSpPr>
            <p:spPr bwMode="auto">
              <a:xfrm>
                <a:off x="2001" y="0"/>
                <a:ext cx="222" cy="322"/>
              </a:xfrm>
              <a:prstGeom prst="rect">
                <a:avLst/>
              </a:prstGeom>
              <a:blipFill dpi="0" rotWithShape="0">
                <a:blip r:embed="rId1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</a:pPr>
                <a:endParaRPr lang="zh-CN" altLang="en-US"/>
              </a:p>
            </p:txBody>
          </p:sp>
          <p:sp>
            <p:nvSpPr>
              <p:cNvPr id="36" name="未知"/>
              <p:cNvSpPr>
                <a:spLocks noChangeArrowheads="1"/>
              </p:cNvSpPr>
              <p:nvPr/>
            </p:nvSpPr>
            <p:spPr bwMode="auto">
              <a:xfrm>
                <a:off x="23" y="0"/>
                <a:ext cx="3689" cy="322"/>
              </a:xfrm>
              <a:custGeom>
                <a:avLst/>
                <a:gdLst>
                  <a:gd name="T0" fmla="*/ 0 w 3689"/>
                  <a:gd name="T1" fmla="*/ 0 h 322"/>
                  <a:gd name="T2" fmla="*/ 1978 w 3689"/>
                  <a:gd name="T3" fmla="*/ 0 h 322"/>
                  <a:gd name="T4" fmla="*/ 1978 w 3689"/>
                  <a:gd name="T5" fmla="*/ 322 h 322"/>
                  <a:gd name="T6" fmla="*/ 2200 w 3689"/>
                  <a:gd name="T7" fmla="*/ 322 h 322"/>
                  <a:gd name="T8" fmla="*/ 2200 w 3689"/>
                  <a:gd name="T9" fmla="*/ 0 h 322"/>
                  <a:gd name="T10" fmla="*/ 3689 w 3689"/>
                  <a:gd name="T11" fmla="*/ 0 h 32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689" h="322">
                    <a:moveTo>
                      <a:pt x="0" y="0"/>
                    </a:moveTo>
                    <a:lnTo>
                      <a:pt x="1978" y="0"/>
                    </a:lnTo>
                    <a:lnTo>
                      <a:pt x="1978" y="322"/>
                    </a:lnTo>
                    <a:lnTo>
                      <a:pt x="2200" y="322"/>
                    </a:lnTo>
                    <a:lnTo>
                      <a:pt x="2200" y="0"/>
                    </a:lnTo>
                    <a:lnTo>
                      <a:pt x="3689" y="0"/>
                    </a:lnTo>
                  </a:path>
                </a:pathLst>
              </a:custGeom>
              <a:noFill/>
              <a:ln w="19050">
                <a:solidFill>
                  <a:srgbClr val="3333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未知"/>
              <p:cNvSpPr>
                <a:spLocks noChangeArrowheads="1"/>
              </p:cNvSpPr>
              <p:nvPr/>
            </p:nvSpPr>
            <p:spPr bwMode="auto">
              <a:xfrm>
                <a:off x="0" y="510"/>
                <a:ext cx="3712" cy="322"/>
              </a:xfrm>
              <a:custGeom>
                <a:avLst/>
                <a:gdLst>
                  <a:gd name="T0" fmla="*/ 0 w 3712"/>
                  <a:gd name="T1" fmla="*/ 322 h 322"/>
                  <a:gd name="T2" fmla="*/ 1997 w 3712"/>
                  <a:gd name="T3" fmla="*/ 322 h 322"/>
                  <a:gd name="T4" fmla="*/ 1997 w 3712"/>
                  <a:gd name="T5" fmla="*/ 0 h 322"/>
                  <a:gd name="T6" fmla="*/ 2226 w 3712"/>
                  <a:gd name="T7" fmla="*/ 0 h 322"/>
                  <a:gd name="T8" fmla="*/ 2226 w 3712"/>
                  <a:gd name="T9" fmla="*/ 322 h 322"/>
                  <a:gd name="T10" fmla="*/ 3712 w 3712"/>
                  <a:gd name="T11" fmla="*/ 322 h 32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712" h="322">
                    <a:moveTo>
                      <a:pt x="0" y="322"/>
                    </a:moveTo>
                    <a:lnTo>
                      <a:pt x="1997" y="322"/>
                    </a:lnTo>
                    <a:lnTo>
                      <a:pt x="1997" y="0"/>
                    </a:lnTo>
                    <a:lnTo>
                      <a:pt x="2226" y="0"/>
                    </a:lnTo>
                    <a:lnTo>
                      <a:pt x="2226" y="322"/>
                    </a:lnTo>
                    <a:lnTo>
                      <a:pt x="3712" y="322"/>
                    </a:lnTo>
                  </a:path>
                </a:pathLst>
              </a:custGeom>
              <a:noFill/>
              <a:ln w="19050">
                <a:solidFill>
                  <a:srgbClr val="3333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未知"/>
              <p:cNvSpPr>
                <a:spLocks noChangeArrowheads="1"/>
              </p:cNvSpPr>
              <p:nvPr/>
            </p:nvSpPr>
            <p:spPr bwMode="auto">
              <a:xfrm>
                <a:off x="23" y="1122"/>
                <a:ext cx="3711" cy="345"/>
              </a:xfrm>
              <a:custGeom>
                <a:avLst/>
                <a:gdLst>
                  <a:gd name="T0" fmla="*/ 0 w 3711"/>
                  <a:gd name="T1" fmla="*/ 345 h 345"/>
                  <a:gd name="T2" fmla="*/ 1978 w 3711"/>
                  <a:gd name="T3" fmla="*/ 345 h 345"/>
                  <a:gd name="T4" fmla="*/ 1978 w 3711"/>
                  <a:gd name="T5" fmla="*/ 0 h 345"/>
                  <a:gd name="T6" fmla="*/ 2656 w 3711"/>
                  <a:gd name="T7" fmla="*/ 0 h 345"/>
                  <a:gd name="T8" fmla="*/ 2656 w 3711"/>
                  <a:gd name="T9" fmla="*/ 345 h 345"/>
                  <a:gd name="T10" fmla="*/ 2844 w 3711"/>
                  <a:gd name="T11" fmla="*/ 345 h 345"/>
                  <a:gd name="T12" fmla="*/ 2844 w 3711"/>
                  <a:gd name="T13" fmla="*/ 0 h 345"/>
                  <a:gd name="T14" fmla="*/ 3711 w 3711"/>
                  <a:gd name="T15" fmla="*/ 0 h 34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711" h="345">
                    <a:moveTo>
                      <a:pt x="0" y="345"/>
                    </a:moveTo>
                    <a:lnTo>
                      <a:pt x="1978" y="345"/>
                    </a:lnTo>
                    <a:lnTo>
                      <a:pt x="1978" y="0"/>
                    </a:lnTo>
                    <a:lnTo>
                      <a:pt x="2656" y="0"/>
                    </a:lnTo>
                    <a:lnTo>
                      <a:pt x="2656" y="345"/>
                    </a:lnTo>
                    <a:lnTo>
                      <a:pt x="2844" y="345"/>
                    </a:lnTo>
                    <a:lnTo>
                      <a:pt x="2844" y="0"/>
                    </a:lnTo>
                    <a:lnTo>
                      <a:pt x="3711" y="0"/>
                    </a:lnTo>
                  </a:path>
                </a:pathLst>
              </a:custGeom>
              <a:noFill/>
              <a:ln w="19050">
                <a:solidFill>
                  <a:srgbClr val="3333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未知"/>
              <p:cNvSpPr>
                <a:spLocks noChangeArrowheads="1"/>
              </p:cNvSpPr>
              <p:nvPr/>
            </p:nvSpPr>
            <p:spPr bwMode="auto">
              <a:xfrm>
                <a:off x="34" y="1678"/>
                <a:ext cx="3700" cy="346"/>
              </a:xfrm>
              <a:custGeom>
                <a:avLst/>
                <a:gdLst>
                  <a:gd name="T0" fmla="*/ 0 w 3700"/>
                  <a:gd name="T1" fmla="*/ 0 h 346"/>
                  <a:gd name="T2" fmla="*/ 1967 w 3700"/>
                  <a:gd name="T3" fmla="*/ 1 h 346"/>
                  <a:gd name="T4" fmla="*/ 1967 w 3700"/>
                  <a:gd name="T5" fmla="*/ 346 h 346"/>
                  <a:gd name="T6" fmla="*/ 2645 w 3700"/>
                  <a:gd name="T7" fmla="*/ 346 h 346"/>
                  <a:gd name="T8" fmla="*/ 2645 w 3700"/>
                  <a:gd name="T9" fmla="*/ 1 h 346"/>
                  <a:gd name="T10" fmla="*/ 2833 w 3700"/>
                  <a:gd name="T11" fmla="*/ 1 h 346"/>
                  <a:gd name="T12" fmla="*/ 2833 w 3700"/>
                  <a:gd name="T13" fmla="*/ 346 h 346"/>
                  <a:gd name="T14" fmla="*/ 3700 w 3700"/>
                  <a:gd name="T15" fmla="*/ 346 h 34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700" h="346">
                    <a:moveTo>
                      <a:pt x="0" y="0"/>
                    </a:moveTo>
                    <a:lnTo>
                      <a:pt x="1967" y="1"/>
                    </a:lnTo>
                    <a:lnTo>
                      <a:pt x="1967" y="346"/>
                    </a:lnTo>
                    <a:lnTo>
                      <a:pt x="2645" y="346"/>
                    </a:lnTo>
                    <a:lnTo>
                      <a:pt x="2645" y="1"/>
                    </a:lnTo>
                    <a:lnTo>
                      <a:pt x="2833" y="1"/>
                    </a:lnTo>
                    <a:lnTo>
                      <a:pt x="2833" y="346"/>
                    </a:lnTo>
                    <a:lnTo>
                      <a:pt x="3700" y="346"/>
                    </a:lnTo>
                  </a:path>
                </a:pathLst>
              </a:custGeom>
              <a:noFill/>
              <a:ln w="19050">
                <a:solidFill>
                  <a:srgbClr val="3333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" name="文本框 409623"/>
            <p:cNvSpPr txBox="1">
              <a:spLocks noChangeArrowheads="1"/>
            </p:cNvSpPr>
            <p:nvPr/>
          </p:nvSpPr>
          <p:spPr bwMode="auto">
            <a:xfrm>
              <a:off x="-191" y="-45"/>
              <a:ext cx="91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ea typeface="宋体" panose="02010600030101010101" pitchFamily="2" charset="-122"/>
                </a:rPr>
                <a:t>静态</a:t>
              </a:r>
              <a:r>
                <a:rPr lang="en-US" altLang="zh-CN" b="1" dirty="0">
                  <a:ea typeface="宋体" panose="02010600030101010101" pitchFamily="2" charset="-122"/>
                </a:rPr>
                <a:t>0</a:t>
              </a:r>
              <a:r>
                <a:rPr lang="zh-CN" altLang="en-US" b="1" dirty="0">
                  <a:ea typeface="宋体" panose="02010600030101010101" pitchFamily="2" charset="-122"/>
                </a:rPr>
                <a:t>型</a:t>
              </a:r>
              <a:endParaRPr lang="zh-CN" altLang="en-US" b="1" dirty="0">
                <a:ea typeface="宋体" panose="02010600030101010101" pitchFamily="2" charset="-122"/>
              </a:endParaRPr>
            </a:p>
          </p:txBody>
        </p:sp>
        <p:sp>
          <p:nvSpPr>
            <p:cNvPr id="26" name="文本框 409624"/>
            <p:cNvSpPr txBox="1">
              <a:spLocks noChangeArrowheads="1"/>
            </p:cNvSpPr>
            <p:nvPr/>
          </p:nvSpPr>
          <p:spPr bwMode="auto">
            <a:xfrm>
              <a:off x="-200" y="669"/>
              <a:ext cx="91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ea typeface="宋体" panose="02010600030101010101" pitchFamily="2" charset="-122"/>
                </a:rPr>
                <a:t>动态</a:t>
              </a:r>
              <a:r>
                <a:rPr lang="en-US" altLang="zh-CN" b="1" dirty="0">
                  <a:ea typeface="宋体" panose="02010600030101010101" pitchFamily="2" charset="-122"/>
                </a:rPr>
                <a:t>0</a:t>
              </a:r>
              <a:r>
                <a:rPr lang="zh-CN" altLang="en-US" b="1" dirty="0">
                  <a:ea typeface="宋体" panose="02010600030101010101" pitchFamily="2" charset="-122"/>
                </a:rPr>
                <a:t>型</a:t>
              </a:r>
              <a:endParaRPr lang="zh-CN" altLang="en-US" b="1" dirty="0">
                <a:ea typeface="宋体" panose="02010600030101010101" pitchFamily="2" charset="-122"/>
              </a:endParaRPr>
            </a:p>
          </p:txBody>
        </p:sp>
        <p:sp>
          <p:nvSpPr>
            <p:cNvPr id="28" name="文本框 409625"/>
            <p:cNvSpPr txBox="1">
              <a:spLocks noChangeArrowheads="1"/>
            </p:cNvSpPr>
            <p:nvPr/>
          </p:nvSpPr>
          <p:spPr bwMode="auto">
            <a:xfrm>
              <a:off x="-191" y="297"/>
              <a:ext cx="91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ea typeface="宋体" panose="02010600030101010101" pitchFamily="2" charset="-122"/>
                </a:rPr>
                <a:t>静态</a:t>
              </a:r>
              <a:r>
                <a:rPr lang="en-US" altLang="zh-CN" b="1" dirty="0">
                  <a:ea typeface="宋体" panose="02010600030101010101" pitchFamily="2" charset="-122"/>
                </a:rPr>
                <a:t>1</a:t>
              </a:r>
              <a:r>
                <a:rPr lang="zh-CN" altLang="en-US" b="1" dirty="0">
                  <a:ea typeface="宋体" panose="02010600030101010101" pitchFamily="2" charset="-122"/>
                </a:rPr>
                <a:t>型</a:t>
              </a:r>
              <a:endParaRPr lang="zh-CN" altLang="en-US" b="1" dirty="0">
                <a:ea typeface="宋体" panose="02010600030101010101" pitchFamily="2" charset="-122"/>
              </a:endParaRPr>
            </a:p>
          </p:txBody>
        </p:sp>
        <p:sp>
          <p:nvSpPr>
            <p:cNvPr id="29" name="文本框 409626"/>
            <p:cNvSpPr txBox="1">
              <a:spLocks noChangeArrowheads="1"/>
            </p:cNvSpPr>
            <p:nvPr/>
          </p:nvSpPr>
          <p:spPr bwMode="auto">
            <a:xfrm>
              <a:off x="-191" y="1031"/>
              <a:ext cx="91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ea typeface="宋体" panose="02010600030101010101" pitchFamily="2" charset="-122"/>
                </a:rPr>
                <a:t>动态</a:t>
              </a:r>
              <a:r>
                <a:rPr lang="en-US" altLang="zh-CN" b="1" dirty="0">
                  <a:ea typeface="宋体" panose="02010600030101010101" pitchFamily="2" charset="-122"/>
                </a:rPr>
                <a:t>1</a:t>
              </a:r>
              <a:r>
                <a:rPr lang="zh-CN" altLang="en-US" b="1" dirty="0">
                  <a:ea typeface="宋体" panose="02010600030101010101" pitchFamily="2" charset="-122"/>
                </a:rPr>
                <a:t>型</a:t>
              </a:r>
              <a:endParaRPr lang="zh-CN" altLang="en-US" b="1" dirty="0">
                <a:ea typeface="宋体" panose="02010600030101010101" pitchFamily="2" charset="-122"/>
              </a:endParaRPr>
            </a:p>
          </p:txBody>
        </p:sp>
        <p:sp>
          <p:nvSpPr>
            <p:cNvPr id="30" name="文本框 409627"/>
            <p:cNvSpPr txBox="1">
              <a:spLocks noChangeArrowheads="1"/>
            </p:cNvSpPr>
            <p:nvPr/>
          </p:nvSpPr>
          <p:spPr bwMode="auto">
            <a:xfrm>
              <a:off x="912" y="1289"/>
              <a:ext cx="916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400" b="1">
                  <a:ea typeface="宋体" panose="02010600030101010101" pitchFamily="2" charset="-122"/>
                </a:rPr>
                <a:t>输入变化前的输出</a:t>
              </a:r>
              <a:endParaRPr lang="zh-CN" altLang="en-US" sz="2400" b="1">
                <a:ea typeface="宋体" panose="02010600030101010101" pitchFamily="2" charset="-122"/>
              </a:endParaRPr>
            </a:p>
          </p:txBody>
        </p:sp>
        <p:sp>
          <p:nvSpPr>
            <p:cNvPr id="31" name="文本框 409628"/>
            <p:cNvSpPr txBox="1">
              <a:spLocks noChangeArrowheads="1"/>
            </p:cNvSpPr>
            <p:nvPr/>
          </p:nvSpPr>
          <p:spPr bwMode="auto">
            <a:xfrm>
              <a:off x="2212" y="1289"/>
              <a:ext cx="908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400" b="1" dirty="0">
                  <a:ea typeface="宋体" panose="02010600030101010101" pitchFamily="2" charset="-122"/>
                </a:rPr>
                <a:t>输入变化后的输出</a:t>
              </a:r>
              <a:endParaRPr lang="zh-CN" altLang="en-US" sz="2400" b="1" dirty="0">
                <a:ea typeface="宋体" panose="02010600030101010101" pitchFamily="2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125089" y="2926393"/>
            <a:ext cx="3326506" cy="1141538"/>
            <a:chOff x="5125089" y="2926393"/>
            <a:chExt cx="3326506" cy="1141538"/>
          </a:xfrm>
        </p:grpSpPr>
        <p:sp>
          <p:nvSpPr>
            <p:cNvPr id="43" name="右大括号 409632"/>
            <p:cNvSpPr/>
            <p:nvPr/>
          </p:nvSpPr>
          <p:spPr bwMode="auto">
            <a:xfrm>
              <a:off x="5125089" y="3534531"/>
              <a:ext cx="152400" cy="533400"/>
            </a:xfrm>
            <a:prstGeom prst="rightBrace">
              <a:avLst>
                <a:gd name="adj1" fmla="val 29150"/>
                <a:gd name="adj2" fmla="val 50000"/>
              </a:avLst>
            </a:prstGeom>
            <a:noFill/>
            <a:ln w="1905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/>
            </a:p>
          </p:txBody>
        </p:sp>
        <p:sp>
          <p:nvSpPr>
            <p:cNvPr id="45" name="圆角矩形标注 409634"/>
            <p:cNvSpPr>
              <a:spLocks noChangeArrowheads="1"/>
            </p:cNvSpPr>
            <p:nvPr/>
          </p:nvSpPr>
          <p:spPr bwMode="auto">
            <a:xfrm>
              <a:off x="6568820" y="2926393"/>
              <a:ext cx="1882775" cy="1066800"/>
            </a:xfrm>
            <a:prstGeom prst="wedgeRoundRectCallout">
              <a:avLst>
                <a:gd name="adj1" fmla="val -116949"/>
                <a:gd name="adj2" fmla="val 30060"/>
                <a:gd name="adj3" fmla="val 16667"/>
              </a:avLst>
            </a:prstGeom>
            <a:solidFill>
              <a:srgbClr val="2B56F5"/>
            </a:solidFill>
            <a:ln w="9525">
              <a:noFill/>
              <a:miter lim="800000"/>
            </a:ln>
          </p:spPr>
          <p:txBody>
            <a:bodyPr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400" b="1">
                  <a:solidFill>
                    <a:srgbClr val="FFFF00"/>
                  </a:solidFill>
                  <a:latin typeface="黑体" panose="02010609060101010101" pitchFamily="49" charset="-122"/>
                </a:rPr>
                <a:t>本应不变而发生了变化</a:t>
              </a:r>
              <a:endParaRPr lang="zh-CN" altLang="en-US" sz="2400" b="1">
                <a:solidFill>
                  <a:srgbClr val="FFFF00"/>
                </a:solidFill>
                <a:latin typeface="黑体" panose="02010609060101010101" pitchFamily="49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887089" y="4288594"/>
            <a:ext cx="2495550" cy="1296987"/>
            <a:chOff x="5887089" y="4288594"/>
            <a:chExt cx="2495550" cy="1296987"/>
          </a:xfrm>
        </p:grpSpPr>
        <p:sp>
          <p:nvSpPr>
            <p:cNvPr id="44" name="右大括号 409633"/>
            <p:cNvSpPr/>
            <p:nvPr/>
          </p:nvSpPr>
          <p:spPr bwMode="auto">
            <a:xfrm>
              <a:off x="5887089" y="4525131"/>
              <a:ext cx="152400" cy="533400"/>
            </a:xfrm>
            <a:prstGeom prst="rightBrace">
              <a:avLst>
                <a:gd name="adj1" fmla="val 29150"/>
                <a:gd name="adj2" fmla="val 50000"/>
              </a:avLst>
            </a:prstGeom>
            <a:noFill/>
            <a:ln w="1905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/>
            </a:p>
          </p:txBody>
        </p:sp>
        <p:sp>
          <p:nvSpPr>
            <p:cNvPr id="46" name="圆角矩形标注 409635"/>
            <p:cNvSpPr>
              <a:spLocks noChangeArrowheads="1"/>
            </p:cNvSpPr>
            <p:nvPr/>
          </p:nvSpPr>
          <p:spPr bwMode="auto">
            <a:xfrm>
              <a:off x="6510977" y="4288594"/>
              <a:ext cx="1871662" cy="1296987"/>
            </a:xfrm>
            <a:prstGeom prst="wedgeRoundRectCallout">
              <a:avLst>
                <a:gd name="adj1" fmla="val -72139"/>
                <a:gd name="adj2" fmla="val -8630"/>
                <a:gd name="adj3" fmla="val 16667"/>
              </a:avLst>
            </a:prstGeom>
            <a:solidFill>
              <a:srgbClr val="2B56F5"/>
            </a:solidFill>
            <a:ln w="9525">
              <a:noFill/>
              <a:miter lim="800000"/>
            </a:ln>
          </p:spPr>
          <p:txBody>
            <a:bodyPr anchor="ctr"/>
            <a:lstStyle/>
            <a:p>
              <a:pPr>
                <a:buFont typeface="Arial" panose="020B0604020202020204" pitchFamily="34" charset="0"/>
                <a:buNone/>
              </a:pPr>
              <a:r>
                <a:rPr lang="zh-CN" altLang="en-US" sz="24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本应一次变化而发生了多次变化</a:t>
              </a:r>
              <a:endParaRPr lang="zh-CN" altLang="en-US" sz="24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cxnSp>
        <p:nvCxnSpPr>
          <p:cNvPr id="40" name="直接连接符 39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淘宝网chenying0907出品 6"/>
          <p:cNvSpPr txBox="1"/>
          <p:nvPr/>
        </p:nvSpPr>
        <p:spPr>
          <a:xfrm>
            <a:off x="1528823" y="0"/>
            <a:ext cx="5200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4.5.2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险象的分类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409601"/>
          <p:cNvSpPr txBox="1">
            <a:spLocks noChangeArrowheads="1"/>
          </p:cNvSpPr>
          <p:nvPr/>
        </p:nvSpPr>
        <p:spPr>
          <a:xfrm>
            <a:off x="0" y="626712"/>
            <a:ext cx="3581036" cy="502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>
              <a:defRPr sz="3200" b="1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一、静态功能险象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478388" y="2815034"/>
            <a:ext cx="7929904" cy="341632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3200" b="1" dirty="0">
                <a:solidFill>
                  <a:srgbClr val="170A8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条件：</a:t>
            </a:r>
            <a:endParaRPr lang="en-US" altLang="zh-CN" sz="3200" b="1" dirty="0">
              <a:solidFill>
                <a:srgbClr val="170A8E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K个（K&gt;1）输入信号同时发生变化</a:t>
            </a:r>
            <a:endParaRPr lang="zh-CN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输入信号变化前、后的稳态输出值相同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变化的K个变量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的取值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组合，对应在卡诺图上所占有的2</a:t>
            </a:r>
            <a:r>
              <a:rPr lang="zh-CN" altLang="zh-CN" sz="2800" b="1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个方格中，必定既有1，又有0</a:t>
            </a:r>
            <a:endParaRPr lang="zh-CN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78388" y="1194418"/>
            <a:ext cx="77986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3200" b="1" dirty="0">
                <a:solidFill>
                  <a:srgbClr val="170A8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原因：</a:t>
            </a:r>
            <a:endParaRPr lang="en-US" altLang="zh-CN" sz="3200" b="1" dirty="0">
              <a:solidFill>
                <a:srgbClr val="170A8E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多个输入变量的值不可能</a:t>
            </a:r>
            <a:r>
              <a:rPr lang="zh-CN" altLang="en-US" sz="2800" b="1" dirty="0">
                <a:solidFill>
                  <a:srgbClr val="FF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严格地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同时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”变化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淘宝网chenying0907出品 6"/>
          <p:cNvSpPr txBox="1"/>
          <p:nvPr/>
        </p:nvSpPr>
        <p:spPr>
          <a:xfrm>
            <a:off x="1528823" y="0"/>
            <a:ext cx="5200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4.5.2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险象的分类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13446" y="1342404"/>
            <a:ext cx="8148663" cy="1057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4.5.1】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分析逻辑函数　　　　　　，说明当输入信号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ABC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由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010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变化到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111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时，是否有险象发生 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1" name="Object 4"/>
          <p:cNvGraphicFramePr>
            <a:graphicFrameLocks noChangeAspect="1"/>
          </p:cNvGraphicFramePr>
          <p:nvPr/>
        </p:nvGraphicFramePr>
        <p:xfrm>
          <a:off x="4650752" y="1337625"/>
          <a:ext cx="2135058" cy="5403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1" imgW="749300" imgH="190500" progId="Equation.DSMT4">
                  <p:embed/>
                </p:oleObj>
              </mc:Choice>
              <mc:Fallback>
                <p:oleObj name="Equation" r:id="rId1" imgW="749300" imgH="1905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0752" y="1337625"/>
                        <a:ext cx="2135058" cy="54030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590641" y="2576970"/>
            <a:ext cx="802397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分析：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输入信号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发生变化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从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00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变为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11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B=1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967251" y="3734095"/>
            <a:ext cx="3473495" cy="2592330"/>
            <a:chOff x="1395965" y="3782301"/>
            <a:chExt cx="2821501" cy="1968795"/>
          </a:xfrm>
        </p:grpSpPr>
        <p:sp>
          <p:nvSpPr>
            <p:cNvPr id="32" name="矩形 31"/>
            <p:cNvSpPr/>
            <p:nvPr/>
          </p:nvSpPr>
          <p:spPr>
            <a:xfrm>
              <a:off x="2542674" y="4496642"/>
              <a:ext cx="1042736" cy="116622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grpSp>
          <p:nvGrpSpPr>
            <p:cNvPr id="25" name="Group 3"/>
            <p:cNvGrpSpPr/>
            <p:nvPr/>
          </p:nvGrpSpPr>
          <p:grpSpPr bwMode="auto">
            <a:xfrm>
              <a:off x="1395965" y="3782301"/>
              <a:ext cx="2821501" cy="1968795"/>
              <a:chOff x="81" y="51"/>
              <a:chExt cx="1309" cy="678"/>
            </a:xfrm>
          </p:grpSpPr>
          <p:graphicFrame>
            <p:nvGraphicFramePr>
              <p:cNvPr id="26" name="Object 4"/>
              <p:cNvGraphicFramePr>
                <a:graphicFrameLocks noChangeAspect="1"/>
              </p:cNvGraphicFramePr>
              <p:nvPr/>
            </p:nvGraphicFramePr>
            <p:xfrm>
              <a:off x="318" y="265"/>
              <a:ext cx="1072" cy="4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" name="Equation" r:id="rId3" imgW="21640800" imgH="12192000" progId="Equation.DSMT4">
                      <p:embed/>
                    </p:oleObj>
                  </mc:Choice>
                  <mc:Fallback>
                    <p:oleObj name="Equation" r:id="rId3" imgW="21640800" imgH="12192000" progId="Equation.DSMT4">
                      <p:embed/>
                      <p:pic>
                        <p:nvPicPr>
                          <p:cNvPr id="0" name="图片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8" y="265"/>
                            <a:ext cx="1072" cy="46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7" name="Line 5"/>
              <p:cNvSpPr>
                <a:spLocks noChangeShapeType="1"/>
              </p:cNvSpPr>
              <p:nvPr/>
            </p:nvSpPr>
            <p:spPr bwMode="auto">
              <a:xfrm flipH="1" flipV="1">
                <a:off x="81" y="159"/>
                <a:ext cx="284" cy="138"/>
              </a:xfrm>
              <a:prstGeom prst="line">
                <a:avLst/>
              </a:prstGeom>
              <a:noFill/>
              <a:ln w="28575" cmpd="sng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" name="Rectangle 6"/>
              <p:cNvSpPr>
                <a:spLocks noChangeArrowheads="1"/>
              </p:cNvSpPr>
              <p:nvPr/>
            </p:nvSpPr>
            <p:spPr bwMode="auto">
              <a:xfrm>
                <a:off x="106" y="51"/>
                <a:ext cx="284" cy="1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zh-CN" sz="28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AB</a:t>
                </a:r>
                <a:endParaRPr kumimoji="0" lang="zh-CN" altLang="zh-CN" sz="28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" name="Rectangle 7"/>
              <p:cNvSpPr>
                <a:spLocks noChangeArrowheads="1"/>
              </p:cNvSpPr>
              <p:nvPr/>
            </p:nvSpPr>
            <p:spPr bwMode="auto">
              <a:xfrm>
                <a:off x="91" y="198"/>
                <a:ext cx="121" cy="1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zh-CN" sz="28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endParaRPr kumimoji="0" lang="zh-CN" altLang="zh-CN" sz="28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" name="Rectangle 8"/>
              <p:cNvSpPr>
                <a:spLocks noChangeArrowheads="1"/>
              </p:cNvSpPr>
              <p:nvPr/>
            </p:nvSpPr>
            <p:spPr bwMode="auto">
              <a:xfrm>
                <a:off x="212" y="342"/>
                <a:ext cx="121" cy="30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zh-CN" sz="28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kumimoji="0" lang="zh-CN" altLang="zh-CN" sz="28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zh-CN" sz="28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zh-CN" sz="28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kumimoji="0" lang="zh-CN" altLang="zh-CN" sz="28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" name="Rectangle 9"/>
              <p:cNvSpPr>
                <a:spLocks noChangeArrowheads="1"/>
              </p:cNvSpPr>
              <p:nvPr/>
            </p:nvSpPr>
            <p:spPr bwMode="auto">
              <a:xfrm>
                <a:off x="390" y="140"/>
                <a:ext cx="990" cy="1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zh-CN" sz="28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00   01   11   10</a:t>
                </a:r>
                <a:endParaRPr kumimoji="0" lang="zh-CN" altLang="zh-CN" sz="28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33" name="圆角矩形标注 409634"/>
          <p:cNvSpPr>
            <a:spLocks noChangeArrowheads="1"/>
          </p:cNvSpPr>
          <p:nvPr/>
        </p:nvSpPr>
        <p:spPr bwMode="auto">
          <a:xfrm>
            <a:off x="5132187" y="3634683"/>
            <a:ext cx="3036161" cy="1347376"/>
          </a:xfrm>
          <a:prstGeom prst="wedgeRoundRectCallout">
            <a:avLst>
              <a:gd name="adj1" fmla="val -98256"/>
              <a:gd name="adj2" fmla="val 78933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rgbClr val="FF0000"/>
            </a:solidFill>
            <a:miter lim="800000"/>
          </a:ln>
        </p:spPr>
        <p:txBody>
          <a:bodyPr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B=1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发生变化的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个最小项中既有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，也有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endParaRPr lang="zh-CN" altLang="en-US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4" name="箭头: 下 33"/>
          <p:cNvSpPr/>
          <p:nvPr/>
        </p:nvSpPr>
        <p:spPr>
          <a:xfrm>
            <a:off x="6650267" y="5067787"/>
            <a:ext cx="200526" cy="58707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5059879" y="5740588"/>
            <a:ext cx="35022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</a:rPr>
              <a:t>电路有可能发生险象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  <p:sp>
        <p:nvSpPr>
          <p:cNvPr id="21" name="标题 409601"/>
          <p:cNvSpPr txBox="1">
            <a:spLocks noChangeArrowheads="1"/>
          </p:cNvSpPr>
          <p:nvPr/>
        </p:nvSpPr>
        <p:spPr>
          <a:xfrm>
            <a:off x="81598" y="646331"/>
            <a:ext cx="3581036" cy="502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>
              <a:defRPr sz="3200" b="1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一、静态功能险象</a:t>
            </a:r>
            <a:endParaRPr lang="zh-CN" altLang="en-US" dirty="0"/>
          </a:p>
        </p:txBody>
      </p:sp>
      <p:cxnSp>
        <p:nvCxnSpPr>
          <p:cNvPr id="22" name="直接连接符 21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淘宝网chenying0907出品 6"/>
          <p:cNvSpPr txBox="1"/>
          <p:nvPr/>
        </p:nvSpPr>
        <p:spPr>
          <a:xfrm>
            <a:off x="1528823" y="0"/>
            <a:ext cx="5200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4.5.2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险象的分类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3" grpId="0" animBg="1"/>
      <p:bldP spid="34" grpId="0" animBg="1"/>
      <p:bldP spid="3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4"/>
          <p:cNvSpPr>
            <a:spLocks noChangeArrowheads="1"/>
          </p:cNvSpPr>
          <p:nvPr/>
        </p:nvSpPr>
        <p:spPr bwMode="auto">
          <a:xfrm>
            <a:off x="3450975" y="1392904"/>
            <a:ext cx="5561771" cy="631825"/>
          </a:xfrm>
          <a:prstGeom prst="rect">
            <a:avLst/>
          </a:prstGeom>
          <a:noFill/>
          <a:ln w="9525" cmpd="sng">
            <a:solidFill>
              <a:srgbClr val="333399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/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C同时从</a:t>
            </a:r>
            <a:r>
              <a:rPr lang="zh-CN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00→11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，有两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条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变化路径</a:t>
            </a:r>
            <a:endParaRPr lang="zh-CN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Rectangle 16"/>
          <p:cNvSpPr>
            <a:spLocks noChangeArrowheads="1"/>
          </p:cNvSpPr>
          <p:nvPr/>
        </p:nvSpPr>
        <p:spPr bwMode="auto">
          <a:xfrm>
            <a:off x="345656" y="4008601"/>
            <a:ext cx="4952613" cy="1275666"/>
          </a:xfrm>
          <a:prstGeom prst="rect">
            <a:avLst/>
          </a:prstGeom>
          <a:noFill/>
          <a:ln w="28575" cmpd="sng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/>
            <a:r>
              <a:rPr lang="zh-CN" altLang="en-US" sz="2800" b="1" dirty="0"/>
              <a:t>路径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：</a:t>
            </a:r>
            <a:r>
              <a:rPr lang="en-US" altLang="zh-CN" sz="2800" b="1" dirty="0"/>
              <a:t>C</a:t>
            </a:r>
            <a:r>
              <a:rPr lang="zh-CN" altLang="en-US" sz="2800" b="1" dirty="0"/>
              <a:t>先变，</a:t>
            </a:r>
            <a:r>
              <a:rPr lang="en-US" altLang="zh-CN" sz="2800" b="1" dirty="0"/>
              <a:t>A</a:t>
            </a:r>
            <a:r>
              <a:rPr lang="zh-CN" altLang="en-US" sz="2800" b="1" dirty="0"/>
              <a:t>再变</a:t>
            </a:r>
            <a:endParaRPr lang="en-US" altLang="zh-CN" sz="2800" b="1" dirty="0"/>
          </a:p>
          <a:p>
            <a:pPr algn="l"/>
            <a:r>
              <a:rPr lang="zh-CN" altLang="zh-CN" sz="2800" b="1" dirty="0"/>
              <a:t>组合变化顺序：</a:t>
            </a:r>
            <a:r>
              <a:rPr lang="en-US" altLang="zh-CN" sz="2800" b="1" dirty="0">
                <a:solidFill>
                  <a:srgbClr val="0000FF"/>
                </a:solidFill>
              </a:rPr>
              <a:t>01</a:t>
            </a:r>
            <a:r>
              <a:rPr lang="zh-CN" altLang="zh-CN" sz="2800" b="1" dirty="0">
                <a:solidFill>
                  <a:srgbClr val="0000FF"/>
                </a:solidFill>
              </a:rPr>
              <a:t>0→</a:t>
            </a:r>
            <a:r>
              <a:rPr lang="en-US" altLang="zh-CN" sz="2800" b="1" dirty="0">
                <a:solidFill>
                  <a:srgbClr val="0000FF"/>
                </a:solidFill>
              </a:rPr>
              <a:t>011</a:t>
            </a:r>
            <a:r>
              <a:rPr lang="zh-CN" altLang="zh-CN" sz="2800" b="1" dirty="0">
                <a:solidFill>
                  <a:srgbClr val="0000FF"/>
                </a:solidFill>
              </a:rPr>
              <a:t>→111</a:t>
            </a:r>
            <a:endParaRPr lang="zh-CN" altLang="zh-CN" sz="2800" b="1" dirty="0">
              <a:solidFill>
                <a:srgbClr val="0000FF"/>
              </a:solidFill>
            </a:endParaRPr>
          </a:p>
          <a:p>
            <a:pPr algn="l"/>
            <a:r>
              <a:rPr lang="zh-CN" altLang="zh-CN" sz="2800" b="1" dirty="0"/>
              <a:t>              输出F:  </a:t>
            </a:r>
            <a:r>
              <a:rPr lang="zh-CN" altLang="zh-CN" sz="2800" b="1" dirty="0">
                <a:solidFill>
                  <a:srgbClr val="FF0000"/>
                </a:solidFill>
              </a:rPr>
              <a:t>1→</a:t>
            </a:r>
            <a:r>
              <a:rPr lang="en-US" altLang="zh-CN" sz="2800" b="1" dirty="0">
                <a:solidFill>
                  <a:srgbClr val="FF0000"/>
                </a:solidFill>
              </a:rPr>
              <a:t>0</a:t>
            </a:r>
            <a:r>
              <a:rPr lang="zh-CN" altLang="zh-CN" sz="2800" b="1" dirty="0">
                <a:solidFill>
                  <a:srgbClr val="FF0000"/>
                </a:solidFill>
              </a:rPr>
              <a:t>→1</a:t>
            </a:r>
            <a:endParaRPr lang="zh-CN" altLang="zh-CN" sz="2800" b="1" dirty="0">
              <a:solidFill>
                <a:srgbClr val="FF0000"/>
              </a:solidFill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440196" y="1747519"/>
            <a:ext cx="2914186" cy="2044294"/>
            <a:chOff x="1303280" y="3706801"/>
            <a:chExt cx="2914186" cy="2044294"/>
          </a:xfrm>
        </p:grpSpPr>
        <p:sp>
          <p:nvSpPr>
            <p:cNvPr id="19" name="矩形 18"/>
            <p:cNvSpPr/>
            <p:nvPr/>
          </p:nvSpPr>
          <p:spPr>
            <a:xfrm>
              <a:off x="2542674" y="4496642"/>
              <a:ext cx="1042736" cy="116622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0" name="Group 3"/>
            <p:cNvGrpSpPr/>
            <p:nvPr/>
          </p:nvGrpSpPr>
          <p:grpSpPr bwMode="auto">
            <a:xfrm>
              <a:off x="1303280" y="3706801"/>
              <a:ext cx="2914186" cy="2044294"/>
              <a:chOff x="38" y="25"/>
              <a:chExt cx="1352" cy="704"/>
            </a:xfrm>
          </p:grpSpPr>
          <p:graphicFrame>
            <p:nvGraphicFramePr>
              <p:cNvPr id="21" name="Object 4"/>
              <p:cNvGraphicFramePr>
                <a:graphicFrameLocks noChangeAspect="1"/>
              </p:cNvGraphicFramePr>
              <p:nvPr/>
            </p:nvGraphicFramePr>
            <p:xfrm>
              <a:off x="318" y="265"/>
              <a:ext cx="1072" cy="4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" name="Equation" r:id="rId1" imgW="21640800" imgH="12192000" progId="Equation.DSMT4">
                      <p:embed/>
                    </p:oleObj>
                  </mc:Choice>
                  <mc:Fallback>
                    <p:oleObj name="Equation" r:id="rId1" imgW="21640800" imgH="12192000" progId="Equation.DSMT4">
                      <p:embed/>
                      <p:pic>
                        <p:nvPicPr>
                          <p:cNvPr id="0" name="图片 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8" y="265"/>
                            <a:ext cx="1072" cy="46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" name="Line 5"/>
              <p:cNvSpPr>
                <a:spLocks noChangeShapeType="1"/>
              </p:cNvSpPr>
              <p:nvPr/>
            </p:nvSpPr>
            <p:spPr bwMode="auto">
              <a:xfrm flipH="1" flipV="1">
                <a:off x="81" y="159"/>
                <a:ext cx="284" cy="138"/>
              </a:xfrm>
              <a:prstGeom prst="line">
                <a:avLst/>
              </a:prstGeom>
              <a:noFill/>
              <a:ln w="28575" cmpd="sng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" name="Rectangle 6"/>
              <p:cNvSpPr>
                <a:spLocks noChangeArrowheads="1"/>
              </p:cNvSpPr>
              <p:nvPr/>
            </p:nvSpPr>
            <p:spPr bwMode="auto">
              <a:xfrm>
                <a:off x="106" y="25"/>
                <a:ext cx="284" cy="1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zh-CN" sz="24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AB</a:t>
                </a:r>
                <a:endParaRPr kumimoji="0" lang="zh-CN" altLang="zh-CN" sz="24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" name="Rectangle 7"/>
              <p:cNvSpPr>
                <a:spLocks noChangeArrowheads="1"/>
              </p:cNvSpPr>
              <p:nvPr/>
            </p:nvSpPr>
            <p:spPr bwMode="auto">
              <a:xfrm>
                <a:off x="38" y="187"/>
                <a:ext cx="121" cy="1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zh-CN" sz="24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endParaRPr kumimoji="0" lang="zh-CN" altLang="zh-CN" sz="24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" name="Rectangle 8"/>
              <p:cNvSpPr>
                <a:spLocks noChangeArrowheads="1"/>
              </p:cNvSpPr>
              <p:nvPr/>
            </p:nvSpPr>
            <p:spPr bwMode="auto">
              <a:xfrm>
                <a:off x="212" y="342"/>
                <a:ext cx="121" cy="30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zh-CN" sz="24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kumimoji="0" lang="zh-CN" altLang="zh-CN" sz="24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zh-CN" sz="24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zh-CN" sz="24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kumimoji="0" lang="zh-CN" altLang="zh-CN" sz="24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" name="Rectangle 9"/>
              <p:cNvSpPr>
                <a:spLocks noChangeArrowheads="1"/>
              </p:cNvSpPr>
              <p:nvPr/>
            </p:nvSpPr>
            <p:spPr bwMode="auto">
              <a:xfrm>
                <a:off x="358" y="135"/>
                <a:ext cx="990" cy="1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zh-CN" sz="24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00   01   11   10</a:t>
                </a:r>
                <a:endParaRPr kumimoji="0" lang="zh-CN" altLang="zh-CN" sz="24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27" name="AutoShape 15"/>
          <p:cNvSpPr>
            <a:spLocks noChangeArrowheads="1"/>
          </p:cNvSpPr>
          <p:nvPr/>
        </p:nvSpPr>
        <p:spPr bwMode="auto">
          <a:xfrm rot="16200000" flipH="1" flipV="1">
            <a:off x="1663479" y="2914054"/>
            <a:ext cx="927691" cy="830805"/>
          </a:xfrm>
          <a:custGeom>
            <a:avLst/>
            <a:gdLst>
              <a:gd name="G0" fmla="+- 13041 0 0"/>
              <a:gd name="G1" fmla="+- 18477 0 0"/>
              <a:gd name="G2" fmla="+- 4736 0 0"/>
              <a:gd name="G3" fmla="*/ 13041 1 2"/>
              <a:gd name="G4" fmla="+- G3 10800 0"/>
              <a:gd name="G5" fmla="+- 21600 13041 18477"/>
              <a:gd name="G6" fmla="+- 18477 4736 0"/>
              <a:gd name="G7" fmla="*/ G6 1 2"/>
              <a:gd name="G8" fmla="*/ 18477 2 1"/>
              <a:gd name="G9" fmla="+- G8 0 21600"/>
              <a:gd name="G10" fmla="*/ 21600 G0 G1"/>
              <a:gd name="G11" fmla="*/ 21600 G4 G1"/>
              <a:gd name="G12" fmla="*/ 21600 G5 G1"/>
              <a:gd name="G13" fmla="*/ 21600 G7 G1"/>
              <a:gd name="G14" fmla="*/ 18477 1 2"/>
              <a:gd name="G15" fmla="+- G5 0 G4"/>
              <a:gd name="G16" fmla="+- G0 0 G4"/>
              <a:gd name="G17" fmla="*/ G2 G15 G16"/>
              <a:gd name="T0" fmla="*/ 17321 w 21600"/>
              <a:gd name="T1" fmla="*/ 0 h 21600"/>
              <a:gd name="T2" fmla="*/ 13041 w 21600"/>
              <a:gd name="T3" fmla="*/ 4736 h 21600"/>
              <a:gd name="T4" fmla="*/ 0 w 21600"/>
              <a:gd name="T5" fmla="*/ 20249 h 21600"/>
              <a:gd name="T6" fmla="*/ 9239 w 21600"/>
              <a:gd name="T7" fmla="*/ 21600 h 21600"/>
              <a:gd name="T8" fmla="*/ 18477 w 21600"/>
              <a:gd name="T9" fmla="*/ 13569 h 21600"/>
              <a:gd name="T10" fmla="*/ 21600 w 21600"/>
              <a:gd name="T11" fmla="*/ 4736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G12 h 21600"/>
              <a:gd name="T20" fmla="*/ G1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7321" y="0"/>
                </a:moveTo>
                <a:lnTo>
                  <a:pt x="13041" y="4736"/>
                </a:lnTo>
                <a:lnTo>
                  <a:pt x="16164" y="4736"/>
                </a:lnTo>
                <a:lnTo>
                  <a:pt x="16164" y="18896"/>
                </a:lnTo>
                <a:lnTo>
                  <a:pt x="0" y="18896"/>
                </a:lnTo>
                <a:lnTo>
                  <a:pt x="0" y="21600"/>
                </a:lnTo>
                <a:lnTo>
                  <a:pt x="18477" y="21600"/>
                </a:lnTo>
                <a:lnTo>
                  <a:pt x="18477" y="4736"/>
                </a:lnTo>
                <a:lnTo>
                  <a:pt x="21600" y="4736"/>
                </a:lnTo>
                <a:close/>
              </a:path>
            </a:pathLst>
          </a:custGeom>
          <a:solidFill>
            <a:srgbClr val="00FF00"/>
          </a:solidFill>
          <a:ln w="28575" cmpd="sng">
            <a:solidFill>
              <a:srgbClr val="00FF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" name="AutoShape 17"/>
          <p:cNvSpPr>
            <a:spLocks noChangeArrowheads="1"/>
          </p:cNvSpPr>
          <p:nvPr/>
        </p:nvSpPr>
        <p:spPr bwMode="auto">
          <a:xfrm flipV="1">
            <a:off x="1867114" y="2539262"/>
            <a:ext cx="941430" cy="791212"/>
          </a:xfrm>
          <a:custGeom>
            <a:avLst/>
            <a:gdLst>
              <a:gd name="G0" fmla="+- 13041 0 0"/>
              <a:gd name="G1" fmla="+- 18477 0 0"/>
              <a:gd name="G2" fmla="+- 4736 0 0"/>
              <a:gd name="G3" fmla="*/ 13041 1 2"/>
              <a:gd name="G4" fmla="+- G3 10800 0"/>
              <a:gd name="G5" fmla="+- 21600 13041 18477"/>
              <a:gd name="G6" fmla="+- 18477 4736 0"/>
              <a:gd name="G7" fmla="*/ G6 1 2"/>
              <a:gd name="G8" fmla="*/ 18477 2 1"/>
              <a:gd name="G9" fmla="+- G8 0 21600"/>
              <a:gd name="G10" fmla="*/ 21600 G0 G1"/>
              <a:gd name="G11" fmla="*/ 21600 G4 G1"/>
              <a:gd name="G12" fmla="*/ 21600 G5 G1"/>
              <a:gd name="G13" fmla="*/ 21600 G7 G1"/>
              <a:gd name="G14" fmla="*/ 18477 1 2"/>
              <a:gd name="G15" fmla="+- G5 0 G4"/>
              <a:gd name="G16" fmla="+- G0 0 G4"/>
              <a:gd name="G17" fmla="*/ G2 G15 G16"/>
              <a:gd name="T0" fmla="*/ 17321 w 21600"/>
              <a:gd name="T1" fmla="*/ 0 h 21600"/>
              <a:gd name="T2" fmla="*/ 13041 w 21600"/>
              <a:gd name="T3" fmla="*/ 4736 h 21600"/>
              <a:gd name="T4" fmla="*/ 0 w 21600"/>
              <a:gd name="T5" fmla="*/ 20249 h 21600"/>
              <a:gd name="T6" fmla="*/ 9239 w 21600"/>
              <a:gd name="T7" fmla="*/ 21600 h 21600"/>
              <a:gd name="T8" fmla="*/ 18477 w 21600"/>
              <a:gd name="T9" fmla="*/ 13569 h 21600"/>
              <a:gd name="T10" fmla="*/ 21600 w 21600"/>
              <a:gd name="T11" fmla="*/ 4736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G12 h 21600"/>
              <a:gd name="T20" fmla="*/ G1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7321" y="0"/>
                </a:moveTo>
                <a:lnTo>
                  <a:pt x="13041" y="4736"/>
                </a:lnTo>
                <a:lnTo>
                  <a:pt x="16164" y="4736"/>
                </a:lnTo>
                <a:lnTo>
                  <a:pt x="16164" y="18896"/>
                </a:lnTo>
                <a:lnTo>
                  <a:pt x="0" y="18896"/>
                </a:lnTo>
                <a:lnTo>
                  <a:pt x="0" y="21600"/>
                </a:lnTo>
                <a:lnTo>
                  <a:pt x="18477" y="21600"/>
                </a:lnTo>
                <a:lnTo>
                  <a:pt x="18477" y="4736"/>
                </a:lnTo>
                <a:lnTo>
                  <a:pt x="21600" y="4736"/>
                </a:lnTo>
                <a:close/>
              </a:path>
            </a:pathLst>
          </a:custGeom>
          <a:solidFill>
            <a:srgbClr val="0000FF"/>
          </a:solidFill>
          <a:ln w="28575" cmpd="sng">
            <a:solidFill>
              <a:schemeClr val="bg1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9" name="Object 4"/>
          <p:cNvGraphicFramePr>
            <a:graphicFrameLocks noChangeAspect="1"/>
          </p:cNvGraphicFramePr>
          <p:nvPr/>
        </p:nvGraphicFramePr>
        <p:xfrm>
          <a:off x="777639" y="1158191"/>
          <a:ext cx="2236996" cy="5660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" imgW="749300" imgH="190500" progId="Equation.DSMT4">
                  <p:embed/>
                </p:oleObj>
              </mc:Choice>
              <mc:Fallback>
                <p:oleObj name="Equation" r:id="rId3" imgW="749300" imgH="1905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639" y="1158191"/>
                        <a:ext cx="2236996" cy="56609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圆角矩形标注 409634"/>
          <p:cNvSpPr>
            <a:spLocks noChangeArrowheads="1"/>
          </p:cNvSpPr>
          <p:nvPr/>
        </p:nvSpPr>
        <p:spPr bwMode="auto">
          <a:xfrm>
            <a:off x="6864563" y="3818215"/>
            <a:ext cx="2176192" cy="575650"/>
          </a:xfrm>
          <a:prstGeom prst="wedgeRoundRectCallout">
            <a:avLst>
              <a:gd name="adj1" fmla="val -72679"/>
              <a:gd name="adj2" fmla="val -113242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rgbClr val="FF0000"/>
            </a:solidFill>
            <a:miter lim="800000"/>
          </a:ln>
        </p:spPr>
        <p:txBody>
          <a:bodyPr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无险象发生</a:t>
            </a:r>
            <a:endParaRPr lang="zh-CN" altLang="en-US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3" name="圆角矩形标注 409634"/>
          <p:cNvSpPr>
            <a:spLocks noChangeArrowheads="1"/>
          </p:cNvSpPr>
          <p:nvPr/>
        </p:nvSpPr>
        <p:spPr bwMode="auto">
          <a:xfrm>
            <a:off x="5496150" y="4577529"/>
            <a:ext cx="1770923" cy="575650"/>
          </a:xfrm>
          <a:prstGeom prst="wedgeRoundRectCallout">
            <a:avLst>
              <a:gd name="adj1" fmla="val -138395"/>
              <a:gd name="adj2" fmla="val 42691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rgbClr val="FF0000"/>
            </a:solidFill>
            <a:miter lim="800000"/>
          </a:ln>
        </p:spPr>
        <p:txBody>
          <a:bodyPr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险象发生</a:t>
            </a:r>
            <a:endParaRPr lang="zh-CN" altLang="en-US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31254" y="5651595"/>
            <a:ext cx="8881492" cy="95410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zh-CN" sz="2800" b="1" dirty="0">
                <a:solidFill>
                  <a:srgbClr val="170A8E"/>
                </a:solidFill>
              </a:rPr>
              <a:t>功能险象是逻辑函数的功能所固有的，无法通过改变设计来消除，只能通过</a:t>
            </a:r>
            <a:r>
              <a:rPr lang="zh-CN" altLang="zh-CN" sz="2800" b="1" dirty="0">
                <a:solidFill>
                  <a:srgbClr val="FF0000"/>
                </a:solidFill>
              </a:rPr>
              <a:t>控制输入信号的变化顺序</a:t>
            </a:r>
            <a:r>
              <a:rPr lang="zh-CN" altLang="zh-CN" sz="2800" b="1" dirty="0">
                <a:solidFill>
                  <a:srgbClr val="170A8E"/>
                </a:solidFill>
              </a:rPr>
              <a:t>来避免</a:t>
            </a:r>
            <a:endParaRPr lang="zh-CN" altLang="zh-CN" sz="2800" b="1" dirty="0">
              <a:solidFill>
                <a:srgbClr val="170A8E"/>
              </a:solidFill>
            </a:endParaRPr>
          </a:p>
        </p:txBody>
      </p:sp>
      <p:sp>
        <p:nvSpPr>
          <p:cNvPr id="30" name="标题 409601"/>
          <p:cNvSpPr txBox="1">
            <a:spLocks noChangeArrowheads="1"/>
          </p:cNvSpPr>
          <p:nvPr/>
        </p:nvSpPr>
        <p:spPr>
          <a:xfrm>
            <a:off x="41927" y="621460"/>
            <a:ext cx="3581036" cy="502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>
              <a:defRPr sz="3200" b="1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一、静态功能险象</a:t>
            </a:r>
            <a:endParaRPr lang="zh-CN" altLang="en-US" dirty="0"/>
          </a:p>
        </p:txBody>
      </p:sp>
      <p:sp>
        <p:nvSpPr>
          <p:cNvPr id="31" name="Rectangle 16"/>
          <p:cNvSpPr>
            <a:spLocks noChangeArrowheads="1"/>
          </p:cNvSpPr>
          <p:nvPr/>
        </p:nvSpPr>
        <p:spPr bwMode="auto">
          <a:xfrm>
            <a:off x="3450975" y="2253933"/>
            <a:ext cx="4952613" cy="1275666"/>
          </a:xfrm>
          <a:prstGeom prst="rect">
            <a:avLst/>
          </a:prstGeom>
          <a:noFill/>
          <a:ln w="28575" cmpd="sng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/>
            <a:r>
              <a:rPr lang="zh-CN" altLang="en-US" sz="2800" b="1" dirty="0"/>
              <a:t>路径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：</a:t>
            </a:r>
            <a:r>
              <a:rPr lang="en-US" altLang="zh-CN" sz="2800" b="1" dirty="0"/>
              <a:t>A</a:t>
            </a:r>
            <a:r>
              <a:rPr lang="zh-CN" altLang="en-US" sz="2800" b="1" dirty="0"/>
              <a:t>先变，</a:t>
            </a:r>
            <a:r>
              <a:rPr lang="en-US" altLang="zh-CN" sz="2800" b="1" dirty="0"/>
              <a:t>C</a:t>
            </a:r>
            <a:r>
              <a:rPr lang="zh-CN" altLang="en-US" sz="2800" b="1" dirty="0"/>
              <a:t>再变</a:t>
            </a:r>
            <a:endParaRPr lang="zh-CN" altLang="zh-CN" sz="2800" b="1" dirty="0"/>
          </a:p>
          <a:p>
            <a:pPr algn="l"/>
            <a:r>
              <a:rPr lang="zh-CN" altLang="zh-CN" sz="2800" b="1" dirty="0"/>
              <a:t>组合变化顺序：</a:t>
            </a:r>
            <a:r>
              <a:rPr lang="en-US" altLang="zh-CN" sz="2800" b="1" dirty="0">
                <a:solidFill>
                  <a:srgbClr val="0000FF"/>
                </a:solidFill>
              </a:rPr>
              <a:t>01</a:t>
            </a:r>
            <a:r>
              <a:rPr lang="zh-CN" altLang="zh-CN" sz="2800" b="1" dirty="0">
                <a:solidFill>
                  <a:srgbClr val="0000FF"/>
                </a:solidFill>
              </a:rPr>
              <a:t>0→</a:t>
            </a:r>
            <a:r>
              <a:rPr lang="en-US" altLang="zh-CN" sz="2800" b="1" dirty="0">
                <a:solidFill>
                  <a:srgbClr val="0000FF"/>
                </a:solidFill>
              </a:rPr>
              <a:t>110</a:t>
            </a:r>
            <a:r>
              <a:rPr lang="zh-CN" altLang="zh-CN" sz="2800" b="1" dirty="0">
                <a:solidFill>
                  <a:srgbClr val="0000FF"/>
                </a:solidFill>
              </a:rPr>
              <a:t>→111</a:t>
            </a:r>
            <a:endParaRPr lang="zh-CN" altLang="zh-CN" sz="2800" b="1" dirty="0">
              <a:solidFill>
                <a:srgbClr val="0000FF"/>
              </a:solidFill>
            </a:endParaRPr>
          </a:p>
          <a:p>
            <a:pPr algn="l"/>
            <a:r>
              <a:rPr lang="zh-CN" altLang="zh-CN" sz="2800" b="1" dirty="0"/>
              <a:t>              输出F:  </a:t>
            </a:r>
            <a:r>
              <a:rPr lang="zh-CN" altLang="zh-CN" sz="2800" b="1" dirty="0">
                <a:solidFill>
                  <a:srgbClr val="FF0000"/>
                </a:solidFill>
              </a:rPr>
              <a:t>1→</a:t>
            </a:r>
            <a:r>
              <a:rPr lang="en-US" altLang="zh-CN" sz="2800" b="1" dirty="0">
                <a:solidFill>
                  <a:srgbClr val="FF0000"/>
                </a:solidFill>
              </a:rPr>
              <a:t>1</a:t>
            </a:r>
            <a:r>
              <a:rPr lang="zh-CN" altLang="zh-CN" sz="2800" b="1" dirty="0">
                <a:solidFill>
                  <a:srgbClr val="FF0000"/>
                </a:solidFill>
              </a:rPr>
              <a:t>→1</a:t>
            </a:r>
            <a:endParaRPr lang="zh-CN" altLang="zh-CN" sz="2800" b="1" dirty="0">
              <a:solidFill>
                <a:srgbClr val="FF0000"/>
              </a:solidFill>
            </a:endParaRPr>
          </a:p>
        </p:txBody>
      </p:sp>
      <p:cxnSp>
        <p:nvCxnSpPr>
          <p:cNvPr id="34" name="直接连接符 33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淘宝网chenying0907出品 6"/>
          <p:cNvSpPr txBox="1"/>
          <p:nvPr/>
        </p:nvSpPr>
        <p:spPr>
          <a:xfrm>
            <a:off x="1528823" y="0"/>
            <a:ext cx="5200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4.5.2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险象的分类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 autoUpdateAnimBg="0"/>
      <p:bldP spid="14" grpId="0" animBg="1"/>
      <p:bldP spid="27" grpId="0" animBg="1"/>
      <p:bldP spid="28" grpId="0" animBg="1"/>
      <p:bldP spid="32" grpId="0" animBg="1"/>
      <p:bldP spid="33" grpId="0" animBg="1"/>
      <p:bldP spid="4" grpId="0" animBg="1"/>
      <p:bldP spid="3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409601"/>
          <p:cNvSpPr txBox="1">
            <a:spLocks noChangeArrowheads="1"/>
          </p:cNvSpPr>
          <p:nvPr/>
        </p:nvSpPr>
        <p:spPr>
          <a:xfrm>
            <a:off x="150212" y="646331"/>
            <a:ext cx="3595940" cy="502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>
              <a:defRPr sz="3200" b="1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二、静态逻辑险象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717583" y="1400525"/>
            <a:ext cx="6427781" cy="104028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lvl="1">
              <a:spcBef>
                <a:spcPct val="20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170A8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原因：</a:t>
            </a:r>
            <a:endParaRPr lang="en-US" altLang="zh-CN" sz="2800" b="1" dirty="0">
              <a:solidFill>
                <a:srgbClr val="170A8E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lvl="1">
              <a:spcBef>
                <a:spcPct val="20000"/>
              </a:spcBef>
              <a:spcAft>
                <a:spcPct val="0"/>
              </a:spcAft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逻辑器件固有的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时延</a:t>
            </a:r>
            <a:endParaRPr lang="en-US" altLang="zh-CN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487468" y="2748508"/>
            <a:ext cx="8054920" cy="2954655"/>
            <a:chOff x="974510" y="1663923"/>
            <a:chExt cx="7430007" cy="2954655"/>
          </a:xfrm>
        </p:grpSpPr>
        <p:sp>
          <p:nvSpPr>
            <p:cNvPr id="3" name="文本框 2"/>
            <p:cNvSpPr txBox="1"/>
            <p:nvPr/>
          </p:nvSpPr>
          <p:spPr>
            <a:xfrm>
              <a:off x="974510" y="1663923"/>
              <a:ext cx="7430007" cy="295465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0" lvl="1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</a:pPr>
              <a:r>
                <a:rPr lang="zh-CN" altLang="en-US" sz="2800" b="1" dirty="0">
                  <a:solidFill>
                    <a:srgbClr val="170A8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条件：</a:t>
              </a:r>
              <a:endParaRPr lang="en-US" altLang="zh-CN" sz="2800" b="1" dirty="0">
                <a:solidFill>
                  <a:srgbClr val="170A8E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一对逻辑变量</a:t>
              </a:r>
              <a:r>
                <a:rPr lang="en-US" altLang="zh-CN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和反变量  同时出现，且在某些取值条件下，逻辑表达式可写成         或者</a:t>
              </a:r>
              <a:endPara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输入变量</a:t>
              </a:r>
              <a:r>
                <a:rPr lang="en-US" altLang="zh-CN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发生变化</a:t>
              </a:r>
              <a:endPara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输入变量发生变化前、后的稳态输出值相同</a:t>
              </a:r>
              <a:endPara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矩形 4"/>
                <p:cNvSpPr/>
                <p:nvPr/>
              </p:nvSpPr>
              <p:spPr>
                <a:xfrm>
                  <a:off x="5960669" y="2969268"/>
                  <a:ext cx="1476751" cy="46243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zh-CN" altLang="en-US" sz="2400" b="1" i="1"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zh-CN" altLang="en-US" sz="24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b="1" i="1">
                          <a:latin typeface="Cambria Math" panose="02040503050406030204" pitchFamily="18" charset="0"/>
                        </a:rPr>
                        <m:t>𝑨</m:t>
                      </m:r>
                      <m:r>
                        <m:rPr>
                          <m:nor/>
                        </m:rPr>
                        <a:rPr lang="zh-CN" altLang="en-US" sz="2400" b="1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zh-CN" altLang="en-US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acc>
                    </m:oMath>
                  </a14:m>
                  <a:r>
                    <a:rPr lang="zh-CN" altLang="en-US" sz="2400" b="1" dirty="0"/>
                    <a:t> </a:t>
                  </a:r>
                  <a:endParaRPr lang="zh-CN" altLang="en-US" sz="2400" b="1" dirty="0"/>
                </a:p>
              </p:txBody>
            </p:sp>
          </mc:Choice>
          <mc:Fallback>
            <p:sp>
              <p:nvSpPr>
                <p:cNvPr id="5" name="矩形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0669" y="2969268"/>
                  <a:ext cx="1476751" cy="462434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矩形 9"/>
                <p:cNvSpPr/>
                <p:nvPr/>
              </p:nvSpPr>
              <p:spPr>
                <a:xfrm>
                  <a:off x="4199396" y="2465842"/>
                  <a:ext cx="457176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zh-CN" altLang="en-US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400" b="1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</m:acc>
                      </m:oMath>
                    </m:oMathPara>
                  </a14:m>
                  <a:endParaRPr lang="zh-CN" altLang="en-US" sz="2000" b="1" dirty="0"/>
                </a:p>
              </p:txBody>
            </p:sp>
          </mc:Choice>
          <mc:Fallback>
            <p:sp>
              <p:nvSpPr>
                <p:cNvPr id="10" name="矩形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9396" y="2465842"/>
                  <a:ext cx="457176" cy="461665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矩形 10"/>
                <p:cNvSpPr/>
                <p:nvPr/>
              </p:nvSpPr>
              <p:spPr>
                <a:xfrm>
                  <a:off x="4061766" y="2970037"/>
                  <a:ext cx="1481495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400" b="1" i="1">
                            <a:latin typeface="Cambria Math" panose="02040503050406030204" pitchFamily="18" charset="0"/>
                          </a:rPr>
                          <m:t>𝑭</m:t>
                        </m:r>
                        <m:r>
                          <a:rPr lang="zh-CN" altLang="en-US" sz="2400" b="1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2400" b="1" i="1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zh-CN" altLang="en-US" sz="2400" b="1" i="0">
                            <a:latin typeface="Cambria Math" panose="02040503050406030204" pitchFamily="18" charset="0"/>
                          </a:rPr>
                          <m:t>·</m:t>
                        </m:r>
                        <m:acc>
                          <m:accPr>
                            <m:chr m:val="̅"/>
                            <m:ctrlPr>
                              <a:rPr lang="zh-CN" altLang="en-US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400" b="1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</m:acc>
                      </m:oMath>
                    </m:oMathPara>
                  </a14:m>
                  <a:endParaRPr lang="zh-CN" altLang="en-US" sz="2400" b="1" dirty="0"/>
                </a:p>
              </p:txBody>
            </p:sp>
          </mc:Choice>
          <mc:Fallback>
            <p:sp>
              <p:nvSpPr>
                <p:cNvPr id="11" name="矩形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61766" y="2970037"/>
                  <a:ext cx="1481495" cy="461665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2" name="直接连接符 11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淘宝网chenying0907出品 6"/>
          <p:cNvSpPr txBox="1"/>
          <p:nvPr/>
        </p:nvSpPr>
        <p:spPr>
          <a:xfrm>
            <a:off x="1528823" y="0"/>
            <a:ext cx="5200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4.5.2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险象的分类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Object 4"/>
          <p:cNvGraphicFramePr>
            <a:graphicFrameLocks noChangeAspect="1"/>
          </p:cNvGraphicFramePr>
          <p:nvPr/>
        </p:nvGraphicFramePr>
        <p:xfrm>
          <a:off x="1152444" y="1282107"/>
          <a:ext cx="2311815" cy="5850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749300" imgH="190500" progId="Equation.DSMT4">
                  <p:embed/>
                </p:oleObj>
              </mc:Choice>
              <mc:Fallback>
                <p:oleObj name="Equation" r:id="rId1" imgW="749300" imgH="1905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2444" y="1282107"/>
                        <a:ext cx="2311815" cy="5850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/>
          <p:cNvGrpSpPr/>
          <p:nvPr/>
        </p:nvGrpSpPr>
        <p:grpSpPr>
          <a:xfrm>
            <a:off x="354392" y="1832996"/>
            <a:ext cx="4357252" cy="1284006"/>
            <a:chOff x="147717" y="4113239"/>
            <a:chExt cx="4004601" cy="1208256"/>
          </a:xfrm>
        </p:grpSpPr>
        <p:sp>
          <p:nvSpPr>
            <p:cNvPr id="13" name="文本框 12"/>
            <p:cNvSpPr txBox="1"/>
            <p:nvPr/>
          </p:nvSpPr>
          <p:spPr>
            <a:xfrm>
              <a:off x="147717" y="4113239"/>
              <a:ext cx="4004601" cy="12082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当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A=B=1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时，         ，</a:t>
              </a:r>
              <a:endPara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当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由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变为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，会出现险象</a:t>
              </a:r>
              <a:endPara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矩形 15"/>
                <p:cNvSpPr/>
                <p:nvPr/>
              </p:nvSpPr>
              <p:spPr>
                <a:xfrm>
                  <a:off x="1872223" y="4239785"/>
                  <a:ext cx="1693076" cy="49319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800" b="1" i="1">
                            <a:latin typeface="Cambria Math" panose="02040503050406030204" pitchFamily="18" charset="0"/>
                          </a:rPr>
                          <m:t>𝑭</m:t>
                        </m:r>
                        <m:r>
                          <a:rPr lang="zh-CN" altLang="en-US" sz="2800" b="1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2800" b="1" i="1">
                            <a:latin typeface="Cambria Math" panose="02040503050406030204" pitchFamily="18" charset="0"/>
                          </a:rPr>
                          <m:t>𝑪</m:t>
                        </m:r>
                        <m:r>
                          <a:rPr lang="zh-CN" altLang="en-US" sz="2800" b="1" i="0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zh-CN" altLang="en-US" sz="28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800" b="1" i="1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</m:acc>
                      </m:oMath>
                    </m:oMathPara>
                  </a14:m>
                  <a:endParaRPr lang="zh-CN" altLang="en-US" sz="2800" b="1" dirty="0"/>
                </a:p>
              </p:txBody>
            </p:sp>
          </mc:Choice>
          <mc:Fallback>
            <p:sp>
              <p:nvSpPr>
                <p:cNvPr id="16" name="矩形 1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2223" y="4239785"/>
                  <a:ext cx="1693076" cy="493198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1" name="组合 70"/>
          <p:cNvGrpSpPr/>
          <p:nvPr/>
        </p:nvGrpSpPr>
        <p:grpSpPr>
          <a:xfrm>
            <a:off x="4910735" y="1365056"/>
            <a:ext cx="3477809" cy="2282342"/>
            <a:chOff x="959196" y="4677130"/>
            <a:chExt cx="2821501" cy="1963913"/>
          </a:xfrm>
        </p:grpSpPr>
        <p:sp>
          <p:nvSpPr>
            <p:cNvPr id="63" name="矩形 62"/>
            <p:cNvSpPr/>
            <p:nvPr/>
          </p:nvSpPr>
          <p:spPr>
            <a:xfrm>
              <a:off x="2666999" y="5386590"/>
              <a:ext cx="481641" cy="116622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65" name="Object 4"/>
            <p:cNvGraphicFramePr>
              <a:graphicFrameLocks noChangeAspect="1"/>
            </p:cNvGraphicFramePr>
            <p:nvPr/>
          </p:nvGraphicFramePr>
          <p:xfrm>
            <a:off x="1470041" y="5293667"/>
            <a:ext cx="2310656" cy="1347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Equation" r:id="rId4" imgW="21640800" imgH="12192000" progId="Equation.DSMT4">
                    <p:embed/>
                  </p:oleObj>
                </mc:Choice>
                <mc:Fallback>
                  <p:oleObj name="Equation" r:id="rId4" imgW="21640800" imgH="12192000" progId="Equation.DSMT4">
                    <p:embed/>
                    <p:pic>
                      <p:nvPicPr>
                        <p:cNvPr id="0" name="图片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0041" y="5293667"/>
                          <a:ext cx="2310656" cy="13473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6" name="Line 5"/>
            <p:cNvSpPr>
              <a:spLocks noChangeShapeType="1"/>
            </p:cNvSpPr>
            <p:nvPr/>
          </p:nvSpPr>
          <p:spPr bwMode="auto">
            <a:xfrm flipH="1" flipV="1">
              <a:off x="959196" y="4985862"/>
              <a:ext cx="612151" cy="400728"/>
            </a:xfrm>
            <a:prstGeom prst="line">
              <a:avLst/>
            </a:prstGeom>
            <a:noFill/>
            <a:ln w="28575" cmpd="sng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7" name="Rectangle 6"/>
            <p:cNvSpPr>
              <a:spLocks noChangeArrowheads="1"/>
            </p:cNvSpPr>
            <p:nvPr/>
          </p:nvSpPr>
          <p:spPr bwMode="auto">
            <a:xfrm>
              <a:off x="1013082" y="4677130"/>
              <a:ext cx="612151" cy="5430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zh-CN" sz="24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AB</a:t>
              </a:r>
              <a:endParaRPr kumimoji="0" lang="zh-CN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8" name="Rectangle 7"/>
            <p:cNvSpPr>
              <a:spLocks noChangeArrowheads="1"/>
            </p:cNvSpPr>
            <p:nvPr/>
          </p:nvSpPr>
          <p:spPr bwMode="auto">
            <a:xfrm>
              <a:off x="984201" y="5087640"/>
              <a:ext cx="260811" cy="4500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zh-CN" sz="24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kumimoji="0" lang="zh-CN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" name="Rectangle 8"/>
            <p:cNvSpPr>
              <a:spLocks noChangeArrowheads="1"/>
            </p:cNvSpPr>
            <p:nvPr/>
          </p:nvSpPr>
          <p:spPr bwMode="auto">
            <a:xfrm>
              <a:off x="1241562" y="5517262"/>
              <a:ext cx="260811" cy="8972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zh-CN" sz="24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kumimoji="0" lang="zh-CN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zh-CN" sz="24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0" lang="zh-CN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" name="Rectangle 9"/>
            <p:cNvSpPr>
              <a:spLocks noChangeArrowheads="1"/>
            </p:cNvSpPr>
            <p:nvPr/>
          </p:nvSpPr>
          <p:spPr bwMode="auto">
            <a:xfrm>
              <a:off x="1600045" y="4948676"/>
              <a:ext cx="2133908" cy="4936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zh-CN" sz="28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00   01   11   10</a:t>
              </a:r>
              <a:endParaRPr kumimoji="0" lang="zh-CN" altLang="zh-CN" sz="28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73" name="圆角矩形标注 409634"/>
          <p:cNvSpPr>
            <a:spLocks noChangeArrowheads="1"/>
          </p:cNvSpPr>
          <p:nvPr/>
        </p:nvSpPr>
        <p:spPr bwMode="auto">
          <a:xfrm>
            <a:off x="5629820" y="4115126"/>
            <a:ext cx="3034793" cy="1977882"/>
          </a:xfrm>
          <a:prstGeom prst="wedgeRoundRectCallout">
            <a:avLst>
              <a:gd name="adj1" fmla="val 2514"/>
              <a:gd name="adj2" fmla="val -79582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rgbClr val="FF0000"/>
            </a:solidFill>
            <a:miter lim="800000"/>
          </a:ln>
        </p:spPr>
        <p:txBody>
          <a:bodyPr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/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A=B=1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变化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对应在卡诺图上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个方格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全为</a:t>
            </a:r>
            <a:r>
              <a:rPr lang="en-US" altLang="zh-CN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或全为</a:t>
            </a:r>
            <a:r>
              <a:rPr lang="en-US" altLang="zh-CN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险象发生</a:t>
            </a:r>
            <a:endParaRPr lang="zh-CN" altLang="en-US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1088279" y="3324359"/>
            <a:ext cx="3066018" cy="2952980"/>
            <a:chOff x="5721286" y="3058787"/>
            <a:chExt cx="3066018" cy="2952980"/>
          </a:xfrm>
        </p:grpSpPr>
        <p:grpSp>
          <p:nvGrpSpPr>
            <p:cNvPr id="72" name="组合 71"/>
            <p:cNvGrpSpPr/>
            <p:nvPr/>
          </p:nvGrpSpPr>
          <p:grpSpPr>
            <a:xfrm>
              <a:off x="5721286" y="3058787"/>
              <a:ext cx="3066018" cy="2780031"/>
              <a:chOff x="5064900" y="3151537"/>
              <a:chExt cx="3066018" cy="2780031"/>
            </a:xfrm>
          </p:grpSpPr>
          <p:grpSp>
            <p:nvGrpSpPr>
              <p:cNvPr id="34" name="Group 5"/>
              <p:cNvGrpSpPr/>
              <p:nvPr/>
            </p:nvGrpSpPr>
            <p:grpSpPr bwMode="auto">
              <a:xfrm>
                <a:off x="5064900" y="3151537"/>
                <a:ext cx="3066018" cy="2780031"/>
                <a:chOff x="1" y="0"/>
                <a:chExt cx="2002" cy="1954"/>
              </a:xfrm>
            </p:grpSpPr>
            <p:sp>
              <p:nvSpPr>
                <p:cNvPr id="35" name="Line 6"/>
                <p:cNvSpPr>
                  <a:spLocks noChangeShapeType="1"/>
                </p:cNvSpPr>
                <p:nvPr/>
              </p:nvSpPr>
              <p:spPr bwMode="auto">
                <a:xfrm>
                  <a:off x="358" y="23"/>
                  <a:ext cx="1622" cy="0"/>
                </a:xfrm>
                <a:prstGeom prst="line">
                  <a:avLst/>
                </a:prstGeom>
                <a:noFill/>
                <a:ln w="38100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6" name="Line 7"/>
                <p:cNvSpPr>
                  <a:spLocks noChangeShapeType="1"/>
                </p:cNvSpPr>
                <p:nvPr/>
              </p:nvSpPr>
              <p:spPr bwMode="auto">
                <a:xfrm>
                  <a:off x="341" y="273"/>
                  <a:ext cx="1639" cy="0"/>
                </a:xfrm>
                <a:prstGeom prst="line">
                  <a:avLst/>
                </a:prstGeom>
                <a:noFill/>
                <a:ln w="38100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7" name="Line 8"/>
                <p:cNvSpPr>
                  <a:spLocks noChangeShapeType="1"/>
                </p:cNvSpPr>
                <p:nvPr/>
              </p:nvSpPr>
              <p:spPr bwMode="auto">
                <a:xfrm>
                  <a:off x="567" y="683"/>
                  <a:ext cx="1413" cy="0"/>
                </a:xfrm>
                <a:prstGeom prst="line">
                  <a:avLst/>
                </a:prstGeom>
                <a:noFill/>
                <a:ln w="38100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8" name="Line 9"/>
                <p:cNvSpPr>
                  <a:spLocks noChangeShapeType="1"/>
                </p:cNvSpPr>
                <p:nvPr/>
              </p:nvSpPr>
              <p:spPr bwMode="auto">
                <a:xfrm>
                  <a:off x="720" y="798"/>
                  <a:ext cx="1260" cy="0"/>
                </a:xfrm>
                <a:prstGeom prst="line">
                  <a:avLst/>
                </a:prstGeom>
                <a:noFill/>
                <a:ln w="38100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9" name="Line 10"/>
                <p:cNvSpPr>
                  <a:spLocks noChangeShapeType="1"/>
                </p:cNvSpPr>
                <p:nvPr/>
              </p:nvSpPr>
              <p:spPr bwMode="auto">
                <a:xfrm>
                  <a:off x="727" y="1298"/>
                  <a:ext cx="1253" cy="0"/>
                </a:xfrm>
                <a:prstGeom prst="line">
                  <a:avLst/>
                </a:prstGeom>
                <a:noFill/>
                <a:ln w="38100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0" name="Line 11"/>
                <p:cNvSpPr>
                  <a:spLocks noChangeShapeType="1"/>
                </p:cNvSpPr>
                <p:nvPr/>
              </p:nvSpPr>
              <p:spPr bwMode="auto">
                <a:xfrm>
                  <a:off x="917" y="1405"/>
                  <a:ext cx="1063" cy="0"/>
                </a:xfrm>
                <a:prstGeom prst="line">
                  <a:avLst/>
                </a:prstGeom>
                <a:noFill/>
                <a:ln w="38100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1" name="Line 12"/>
                <p:cNvSpPr>
                  <a:spLocks noChangeShapeType="1"/>
                </p:cNvSpPr>
                <p:nvPr/>
              </p:nvSpPr>
              <p:spPr bwMode="auto">
                <a:xfrm>
                  <a:off x="341" y="488"/>
                  <a:ext cx="235" cy="0"/>
                </a:xfrm>
                <a:prstGeom prst="line">
                  <a:avLst/>
                </a:prstGeom>
                <a:noFill/>
                <a:ln w="38100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2" name="Line 13"/>
                <p:cNvSpPr>
                  <a:spLocks noChangeShapeType="1"/>
                </p:cNvSpPr>
                <p:nvPr/>
              </p:nvSpPr>
              <p:spPr bwMode="auto">
                <a:xfrm>
                  <a:off x="574" y="488"/>
                  <a:ext cx="0" cy="211"/>
                </a:xfrm>
                <a:prstGeom prst="line">
                  <a:avLst/>
                </a:prstGeom>
                <a:noFill/>
                <a:ln w="38100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3" name="Line 14"/>
                <p:cNvSpPr>
                  <a:spLocks noChangeShapeType="1"/>
                </p:cNvSpPr>
                <p:nvPr/>
              </p:nvSpPr>
              <p:spPr bwMode="auto">
                <a:xfrm>
                  <a:off x="341" y="1014"/>
                  <a:ext cx="406" cy="0"/>
                </a:xfrm>
                <a:prstGeom prst="line">
                  <a:avLst/>
                </a:prstGeom>
                <a:noFill/>
                <a:ln w="38100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4" name="Line 15"/>
                <p:cNvSpPr>
                  <a:spLocks noChangeShapeType="1"/>
                </p:cNvSpPr>
                <p:nvPr/>
              </p:nvSpPr>
              <p:spPr bwMode="auto">
                <a:xfrm>
                  <a:off x="735" y="1104"/>
                  <a:ext cx="0" cy="211"/>
                </a:xfrm>
                <a:prstGeom prst="line">
                  <a:avLst/>
                </a:prstGeom>
                <a:noFill/>
                <a:ln w="38100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5" name="Line 16"/>
                <p:cNvSpPr>
                  <a:spLocks noChangeShapeType="1"/>
                </p:cNvSpPr>
                <p:nvPr/>
              </p:nvSpPr>
              <p:spPr bwMode="auto">
                <a:xfrm>
                  <a:off x="734" y="793"/>
                  <a:ext cx="0" cy="211"/>
                </a:xfrm>
                <a:prstGeom prst="line">
                  <a:avLst/>
                </a:prstGeom>
                <a:noFill/>
                <a:ln w="38100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" name="Line 17"/>
                <p:cNvSpPr>
                  <a:spLocks noChangeShapeType="1"/>
                </p:cNvSpPr>
                <p:nvPr/>
              </p:nvSpPr>
              <p:spPr bwMode="auto">
                <a:xfrm>
                  <a:off x="341" y="1093"/>
                  <a:ext cx="406" cy="0"/>
                </a:xfrm>
                <a:prstGeom prst="line">
                  <a:avLst/>
                </a:prstGeom>
                <a:noFill/>
                <a:ln w="38100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7" name="Line 18"/>
                <p:cNvSpPr>
                  <a:spLocks noChangeShapeType="1"/>
                </p:cNvSpPr>
                <p:nvPr/>
              </p:nvSpPr>
              <p:spPr bwMode="auto">
                <a:xfrm>
                  <a:off x="341" y="1613"/>
                  <a:ext cx="568" cy="0"/>
                </a:xfrm>
                <a:prstGeom prst="line">
                  <a:avLst/>
                </a:prstGeom>
                <a:noFill/>
                <a:ln w="38100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8" name="Line 19"/>
                <p:cNvSpPr>
                  <a:spLocks noChangeShapeType="1"/>
                </p:cNvSpPr>
                <p:nvPr/>
              </p:nvSpPr>
              <p:spPr bwMode="auto">
                <a:xfrm>
                  <a:off x="917" y="1411"/>
                  <a:ext cx="0" cy="211"/>
                </a:xfrm>
                <a:prstGeom prst="line">
                  <a:avLst/>
                </a:prstGeom>
                <a:noFill/>
                <a:ln w="38100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9" name="Line 20"/>
                <p:cNvSpPr>
                  <a:spLocks noChangeShapeType="1"/>
                </p:cNvSpPr>
                <p:nvPr/>
              </p:nvSpPr>
              <p:spPr bwMode="auto">
                <a:xfrm>
                  <a:off x="909" y="1743"/>
                  <a:ext cx="0" cy="211"/>
                </a:xfrm>
                <a:prstGeom prst="line">
                  <a:avLst/>
                </a:prstGeom>
                <a:noFill/>
                <a:ln w="38100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0" name="Line 21"/>
                <p:cNvSpPr>
                  <a:spLocks noChangeShapeType="1"/>
                </p:cNvSpPr>
                <p:nvPr/>
              </p:nvSpPr>
              <p:spPr bwMode="auto">
                <a:xfrm>
                  <a:off x="341" y="1750"/>
                  <a:ext cx="568" cy="0"/>
                </a:xfrm>
                <a:prstGeom prst="line">
                  <a:avLst/>
                </a:prstGeom>
                <a:noFill/>
                <a:ln w="38100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1" name="Line 22"/>
                <p:cNvSpPr>
                  <a:spLocks noChangeShapeType="1"/>
                </p:cNvSpPr>
                <p:nvPr/>
              </p:nvSpPr>
              <p:spPr bwMode="auto">
                <a:xfrm>
                  <a:off x="909" y="1946"/>
                  <a:ext cx="179" cy="0"/>
                </a:xfrm>
                <a:prstGeom prst="line">
                  <a:avLst/>
                </a:prstGeom>
                <a:noFill/>
                <a:ln w="38100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2" name="Line 23"/>
                <p:cNvSpPr>
                  <a:spLocks noChangeShapeType="1"/>
                </p:cNvSpPr>
                <p:nvPr/>
              </p:nvSpPr>
              <p:spPr bwMode="auto">
                <a:xfrm>
                  <a:off x="1070" y="1742"/>
                  <a:ext cx="0" cy="211"/>
                </a:xfrm>
                <a:prstGeom prst="line">
                  <a:avLst/>
                </a:prstGeom>
                <a:noFill/>
                <a:ln w="38100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3" name="Line 24"/>
                <p:cNvSpPr>
                  <a:spLocks noChangeShapeType="1"/>
                </p:cNvSpPr>
                <p:nvPr/>
              </p:nvSpPr>
              <p:spPr bwMode="auto">
                <a:xfrm>
                  <a:off x="1086" y="1749"/>
                  <a:ext cx="917" cy="0"/>
                </a:xfrm>
                <a:prstGeom prst="line">
                  <a:avLst/>
                </a:prstGeom>
                <a:noFill/>
                <a:ln w="38100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4" name="Rectangle 25"/>
                <p:cNvSpPr>
                  <a:spLocks noChangeArrowheads="1"/>
                </p:cNvSpPr>
                <p:nvPr/>
              </p:nvSpPr>
              <p:spPr bwMode="auto">
                <a:xfrm>
                  <a:off x="82" y="0"/>
                  <a:ext cx="14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r>
                    <a:rPr kumimoji="0" lang="zh-CN" altLang="zh-CN" sz="2000" b="1" i="1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A</a:t>
                  </a:r>
                  <a:endParaRPr kumimoji="0" lang="zh-CN" altLang="zh-CN" sz="20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5" name="Rectangle 26"/>
                <p:cNvSpPr>
                  <a:spLocks noChangeArrowheads="1"/>
                </p:cNvSpPr>
                <p:nvPr/>
              </p:nvSpPr>
              <p:spPr bwMode="auto">
                <a:xfrm>
                  <a:off x="114" y="283"/>
                  <a:ext cx="90" cy="14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r>
                    <a:rPr kumimoji="0" lang="zh-CN" altLang="zh-CN" sz="2000" b="1" i="1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B</a:t>
                  </a:r>
                  <a:endParaRPr kumimoji="0" lang="zh-CN" altLang="zh-CN" sz="20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6" name="Rectangle 27"/>
                <p:cNvSpPr>
                  <a:spLocks noChangeArrowheads="1"/>
                </p:cNvSpPr>
                <p:nvPr/>
              </p:nvSpPr>
              <p:spPr bwMode="auto">
                <a:xfrm>
                  <a:off x="82" y="519"/>
                  <a:ext cx="114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r>
                    <a:rPr kumimoji="0" lang="zh-CN" altLang="zh-CN" sz="2000" b="1" i="1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C</a:t>
                  </a:r>
                  <a:endParaRPr kumimoji="0" lang="zh-CN" altLang="zh-CN" sz="20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aphicFrame>
              <p:nvGraphicFramePr>
                <p:cNvPr id="57" name="Object 28"/>
                <p:cNvGraphicFramePr>
                  <a:graphicFrameLocks noChangeAspect="1"/>
                </p:cNvGraphicFramePr>
                <p:nvPr/>
              </p:nvGraphicFramePr>
              <p:xfrm>
                <a:off x="43" y="803"/>
                <a:ext cx="167" cy="21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" name="Equation" r:id="rId6" imgW="3657600" imgH="5181600" progId="Equation.DSMT4">
                        <p:embed/>
                      </p:oleObj>
                    </mc:Choice>
                    <mc:Fallback>
                      <p:oleObj name="Equation" r:id="rId6" imgW="3657600" imgH="5181600" progId="Equation.DSMT4">
                        <p:embed/>
                        <p:pic>
                          <p:nvPicPr>
                            <p:cNvPr id="0" name="图片 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3" y="803"/>
                              <a:ext cx="167" cy="21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59" name="Object 30"/>
                <p:cNvGraphicFramePr>
                  <a:graphicFrameLocks noChangeAspect="1"/>
                </p:cNvGraphicFramePr>
                <p:nvPr/>
              </p:nvGraphicFramePr>
              <p:xfrm>
                <a:off x="1" y="1372"/>
                <a:ext cx="308" cy="23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" name="Equation" r:id="rId8" imgW="6096000" imgH="5181600" progId="Equation.DSMT4">
                        <p:embed/>
                      </p:oleObj>
                    </mc:Choice>
                    <mc:Fallback>
                      <p:oleObj name="Equation" r:id="rId8" imgW="6096000" imgH="5181600" progId="Equation.DSMT4">
                        <p:embed/>
                        <p:pic>
                          <p:nvPicPr>
                            <p:cNvPr id="0" name="图片 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" y="1372"/>
                              <a:ext cx="308" cy="23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60" name="Rectangle 31"/>
                <p:cNvSpPr>
                  <a:spLocks noChangeArrowheads="1"/>
                </p:cNvSpPr>
                <p:nvPr/>
              </p:nvSpPr>
              <p:spPr bwMode="auto">
                <a:xfrm>
                  <a:off x="25" y="1711"/>
                  <a:ext cx="220" cy="18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r>
                    <a:rPr kumimoji="0" lang="zh-CN" altLang="zh-CN" sz="2000" b="1" i="1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F</a:t>
                  </a:r>
                  <a:endParaRPr kumimoji="0" lang="zh-CN" altLang="zh-CN" sz="20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61" name="Rectangle 27"/>
              <p:cNvSpPr>
                <a:spLocks noChangeArrowheads="1"/>
              </p:cNvSpPr>
              <p:nvPr/>
            </p:nvSpPr>
            <p:spPr bwMode="auto">
              <a:xfrm>
                <a:off x="5101655" y="4734110"/>
                <a:ext cx="357017" cy="2444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r>
                  <a:rPr kumimoji="0" lang="zh-CN" altLang="zh-CN" sz="20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endParaRPr kumimoji="0" lang="zh-CN" altLang="zh-CN" sz="20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76" name="直接连接符 75"/>
            <p:cNvCxnSpPr/>
            <p:nvPr/>
          </p:nvCxnSpPr>
          <p:spPr>
            <a:xfrm>
              <a:off x="6588102" y="3589421"/>
              <a:ext cx="10721" cy="2398295"/>
            </a:xfrm>
            <a:prstGeom prst="line">
              <a:avLst/>
            </a:prstGeom>
            <a:ln w="15875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>
              <a:off x="6840769" y="3601441"/>
              <a:ext cx="10721" cy="2398295"/>
            </a:xfrm>
            <a:prstGeom prst="line">
              <a:avLst/>
            </a:prstGeom>
            <a:ln w="15875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>
              <a:off x="7113485" y="3613472"/>
              <a:ext cx="10721" cy="2398295"/>
            </a:xfrm>
            <a:prstGeom prst="line">
              <a:avLst/>
            </a:prstGeom>
            <a:ln w="15875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>
              <a:off x="7350116" y="3601440"/>
              <a:ext cx="10721" cy="2398295"/>
            </a:xfrm>
            <a:prstGeom prst="line">
              <a:avLst/>
            </a:prstGeom>
            <a:ln w="15875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标题 409601"/>
          <p:cNvSpPr txBox="1">
            <a:spLocks noChangeArrowheads="1"/>
          </p:cNvSpPr>
          <p:nvPr/>
        </p:nvSpPr>
        <p:spPr>
          <a:xfrm>
            <a:off x="157125" y="654040"/>
            <a:ext cx="3595940" cy="502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>
              <a:defRPr sz="3200" b="1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二、静态逻辑险象</a:t>
            </a:r>
            <a:endParaRPr lang="zh-CN" altLang="en-US" dirty="0"/>
          </a:p>
        </p:txBody>
      </p:sp>
      <p:cxnSp>
        <p:nvCxnSpPr>
          <p:cNvPr id="62" name="直接连接符 61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淘宝网chenying0907出品 6"/>
          <p:cNvSpPr txBox="1"/>
          <p:nvPr/>
        </p:nvSpPr>
        <p:spPr>
          <a:xfrm>
            <a:off x="1528823" y="0"/>
            <a:ext cx="5200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4.5.2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险象的分类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4" name="图片 7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2"/>
          <p:cNvSpPr>
            <a:spLocks noChangeArrowheads="1"/>
          </p:cNvSpPr>
          <p:nvPr/>
        </p:nvSpPr>
        <p:spPr bwMode="auto">
          <a:xfrm>
            <a:off x="121632" y="646331"/>
            <a:ext cx="4007611" cy="528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/>
            <a:r>
              <a:rPr lang="zh-CN" altLang="en-US" sz="32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</a:t>
            </a:r>
            <a:r>
              <a:rPr lang="zh-CN" altLang="zh-CN" sz="32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逻辑表达式判别法</a:t>
            </a:r>
            <a:endParaRPr lang="zh-CN" altLang="zh-CN" sz="3200" b="1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21662" y="1452148"/>
            <a:ext cx="8430674" cy="31260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如果电路中存在出现险象的可能性，则其逻辑表达式有如下特点：</a:t>
            </a:r>
            <a:endParaRPr lang="zh-CN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当</a:t>
            </a:r>
            <a:r>
              <a:rPr lang="zh-CN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某一变量同时以原变量和反变量的形式出现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在逻辑表达式中，则该变量就具备了竞争的条件</a:t>
            </a:r>
            <a:endParaRPr lang="zh-CN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保留被研究变量，用某些定值消去其它变量</a:t>
            </a:r>
            <a:endParaRPr lang="zh-CN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若得到的表达式为下列形式之一，则有险象存在</a:t>
            </a:r>
            <a:endParaRPr lang="zh-CN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1486677" y="4985284"/>
                <a:ext cx="6251455" cy="11211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plcHide m:val="on"/>
                          <m:ctrlPr>
                            <a:rPr lang="zh-CN" alt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zh-CN" altLang="en-US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𝑭</m:t>
                            </m:r>
                            <m:r>
                              <a:rPr lang="zh-CN" altLang="en-US" sz="28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zh-CN" altLang="en-US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  <m:r>
                              <a:rPr lang="zh-CN" altLang="en-US" sz="28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acc>
                              <m:accPr>
                                <m:chr m:val="̅"/>
                                <m:ctrlPr>
                                  <a:rPr lang="zh-CN" altLang="en-US" sz="28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sz="28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</m:acc>
                            <m:r>
                              <m:rPr>
                                <m:nor/>
                              </m:rPr>
                              <a:rPr lang="zh-CN" altLang="en-US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    </m:t>
                            </m:r>
                            <m:r>
                              <m:rPr>
                                <m:nor/>
                              </m:rPr>
                              <a:rPr lang="zh-CN" altLang="en-US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m:rPr>
                                <m:nor/>
                              </m:rPr>
                              <a:rPr lang="zh-CN" altLang="en-US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zh-CN" altLang="en-US" sz="28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险象（如</m:t>
                            </m:r>
                            <m:r>
                              <a:rPr lang="zh-CN" altLang="en-US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  <m:r>
                              <a:rPr lang="zh-CN" altLang="en-US" sz="28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从</m:t>
                            </m:r>
                            <m:r>
                              <a:rPr lang="zh-CN" altLang="en-US" sz="28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zh-CN" altLang="en-US" sz="28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zh-CN" altLang="en-US" sz="28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zh-CN" altLang="en-US" sz="28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）</m:t>
                            </m:r>
                          </m:e>
                        </m:mr>
                        <m:mr>
                          <m:e>
                            <m:r>
                              <a:rPr lang="zh-CN" altLang="en-US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𝑭</m:t>
                            </m:r>
                            <m:r>
                              <a:rPr lang="zh-CN" altLang="en-US" sz="28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zh-CN" altLang="en-US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  <m:r>
                              <a:rPr lang="zh-CN" altLang="en-US" sz="28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•</m:t>
                            </m:r>
                            <m:acc>
                              <m:accPr>
                                <m:chr m:val="̅"/>
                                <m:ctrlPr>
                                  <a:rPr lang="zh-CN" altLang="en-US" sz="28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sz="28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</m:acc>
                            <m:r>
                              <m:rPr>
                                <m:nor/>
                              </m:rPr>
                              <a:rPr lang="zh-CN" altLang="en-US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    </m:t>
                            </m:r>
                            <m:r>
                              <m:rPr>
                                <m:nor/>
                              </m:rPr>
                              <a:rPr lang="zh-CN" altLang="en-US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nor/>
                              </m:rPr>
                              <a:rPr lang="zh-CN" altLang="en-US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zh-CN" altLang="en-US" sz="28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险象（如</m:t>
                            </m:r>
                            <m:r>
                              <a:rPr lang="zh-CN" altLang="en-US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  <m:r>
                              <a:rPr lang="zh-CN" altLang="en-US" sz="28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从</m:t>
                            </m:r>
                            <m:r>
                              <a:rPr lang="zh-CN" altLang="en-US" sz="28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zh-CN" altLang="en-US" sz="28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zh-CN" altLang="en-US" sz="28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zh-CN" altLang="en-US" sz="28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）</m:t>
                            </m:r>
                          </m:e>
                        </m:mr>
                      </m:m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6677" y="4985284"/>
                <a:ext cx="6251455" cy="1121141"/>
              </a:xfrm>
              <a:prstGeom prst="rect">
                <a:avLst/>
              </a:prstGeom>
              <a:blipFill rotWithShape="1">
                <a:blip r:embed="rId1"/>
                <a:stretch>
                  <a:fillRect l="-2" t="-48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接连接符 9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淘宝网chenying0907出品 6"/>
          <p:cNvSpPr txBox="1"/>
          <p:nvPr/>
        </p:nvSpPr>
        <p:spPr>
          <a:xfrm>
            <a:off x="1528823" y="0"/>
            <a:ext cx="5200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4.5.3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险象的判别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936819" y="2135335"/>
            <a:ext cx="7432675" cy="954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/>
            <a:endParaRPr lang="zh-CN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1204767" y="1288852"/>
                <a:ext cx="6360972" cy="5786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zh-CN" altLang="en-US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b="1" i="1" smtClean="0">
                              <a:latin typeface="Cambria Math" panose="02040503050406030204" pitchFamily="18" charset="0"/>
                            </a:rPr>
                            <m:t>例如</m:t>
                          </m:r>
                          <m:r>
                            <a:rPr lang="zh-CN" altLang="en-US" sz="2800" b="1" i="1">
                              <a:latin typeface="Cambria Math" panose="02040503050406030204" pitchFamily="18" charset="0"/>
                            </a:rPr>
                            <m:t>：</m:t>
                          </m:r>
                          <m:r>
                            <a:rPr lang="zh-CN" altLang="en-US" sz="2800" b="1" i="1">
                              <a:latin typeface="Cambria Math" panose="02040503050406030204" pitchFamily="18" charset="0"/>
                            </a:rPr>
                            <m:t>𝑭</m:t>
                          </m:r>
                          <m:r>
                            <a:rPr lang="zh-CN" altLang="en-US" sz="2800" b="1" i="0">
                              <a:latin typeface="Cambria Math" panose="02040503050406030204" pitchFamily="18" charset="0"/>
                            </a:rPr>
                            <m:t>=(</m:t>
                          </m:r>
                          <m:r>
                            <a:rPr lang="zh-CN" altLang="en-US" sz="2800" b="1" i="1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zh-CN" altLang="en-US" sz="2800" b="1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800" b="1" i="1"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zh-CN" altLang="en-US" sz="2800" b="1" i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zh-CN" altLang="en-US" sz="28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b="1" i="1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</m:acc>
                          <m:r>
                            <a:rPr lang="zh-CN" altLang="en-US" sz="2800" b="1" i="0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zh-CN" altLang="en-US" sz="2800" b="1" i="1">
                              <a:latin typeface="Cambria Math" panose="02040503050406030204" pitchFamily="18" charset="0"/>
                            </a:rPr>
                            <m:t>𝑪</m:t>
                          </m:r>
                          <m:r>
                            <a:rPr lang="zh-CN" altLang="en-US" sz="2800" b="1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800" b="1" i="1">
                              <a:latin typeface="Cambria Math" panose="02040503050406030204" pitchFamily="18" charset="0"/>
                            </a:rPr>
                            <m:t>𝑫</m:t>
                          </m:r>
                          <m:r>
                            <a:rPr lang="zh-CN" altLang="en-US" sz="2800" b="1" i="0">
                              <a:latin typeface="Cambria Math" panose="02040503050406030204" pitchFamily="18" charset="0"/>
                            </a:rPr>
                            <m:t>)(</m:t>
                          </m:r>
                          <m:acc>
                            <m:accPr>
                              <m:chr m:val="̅"/>
                              <m:ctrlPr>
                                <a:rPr lang="zh-CN" altLang="en-US" sz="28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b="1" i="1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acc>
                          <m:r>
                            <a:rPr lang="zh-CN" altLang="en-US" sz="2800" b="1" i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zh-CN" altLang="en-US" sz="28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b="1" i="1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4767" y="1288852"/>
                <a:ext cx="6360972" cy="578685"/>
              </a:xfrm>
              <a:prstGeom prst="rect">
                <a:avLst/>
              </a:prstGeom>
              <a:blipFill rotWithShape="1">
                <a:blip r:embed="rId1"/>
                <a:stretch>
                  <a:fillRect l="-3" t="-76" r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/>
          <p:cNvGrpSpPr/>
          <p:nvPr/>
        </p:nvGrpSpPr>
        <p:grpSpPr>
          <a:xfrm>
            <a:off x="567473" y="4339004"/>
            <a:ext cx="7758269" cy="1092863"/>
            <a:chOff x="567473" y="4339004"/>
            <a:chExt cx="7758269" cy="1092863"/>
          </a:xfrm>
        </p:grpSpPr>
        <p:sp>
          <p:nvSpPr>
            <p:cNvPr id="22" name="矩形 21"/>
            <p:cNvSpPr/>
            <p:nvPr/>
          </p:nvSpPr>
          <p:spPr>
            <a:xfrm>
              <a:off x="567473" y="4339004"/>
              <a:ext cx="7758269" cy="10928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120000"/>
                </a:lnSpc>
                <a:buFont typeface="Wingdings" panose="05000000000000000000" pitchFamily="2" charset="2"/>
                <a:buChar char="Ø"/>
              </a:pPr>
              <a:r>
                <a:rPr lang="zh-CN" altLang="zh-CN" sz="2800" b="1" dirty="0"/>
                <a:t>当ABD=000时，表达式为                  ，如果C从0→1，则存在</a:t>
              </a:r>
              <a:r>
                <a:rPr lang="en-US" altLang="zh-CN" sz="2800" b="1" dirty="0"/>
                <a:t>1</a:t>
              </a:r>
              <a:r>
                <a:rPr lang="zh-CN" altLang="zh-CN" sz="2800" b="1" dirty="0"/>
                <a:t>险象。</a:t>
              </a:r>
              <a:endParaRPr lang="zh-CN" altLang="zh-CN" sz="28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矩形 3"/>
                <p:cNvSpPr/>
                <p:nvPr/>
              </p:nvSpPr>
              <p:spPr>
                <a:xfrm>
                  <a:off x="4774371" y="4429521"/>
                  <a:ext cx="1746697" cy="52411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800" b="1" i="1" smtClean="0">
                            <a:latin typeface="Cambria Math" panose="02040503050406030204" pitchFamily="18" charset="0"/>
                          </a:rPr>
                          <m:t>𝑭</m:t>
                        </m:r>
                        <m:r>
                          <a:rPr lang="zh-CN" altLang="en-US" sz="2800" b="1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2800" b="1" i="1">
                            <a:latin typeface="Cambria Math" panose="02040503050406030204" pitchFamily="18" charset="0"/>
                          </a:rPr>
                          <m:t>𝑪</m:t>
                        </m:r>
                        <m:r>
                          <a:rPr lang="zh-CN" altLang="en-US" sz="2800" b="1" i="0">
                            <a:latin typeface="Cambria Math" panose="02040503050406030204" pitchFamily="18" charset="0"/>
                          </a:rPr>
                          <m:t>•</m:t>
                        </m:r>
                        <m:acc>
                          <m:accPr>
                            <m:chr m:val="̅"/>
                            <m:ctrlPr>
                              <a:rPr lang="zh-CN" altLang="en-US" sz="28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800" b="1" i="1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</m:acc>
                      </m:oMath>
                    </m:oMathPara>
                  </a14:m>
                  <a:endParaRPr lang="zh-CN" altLang="en-US" sz="2800" b="1" dirty="0"/>
                </a:p>
              </p:txBody>
            </p:sp>
          </mc:Choice>
          <mc:Fallback>
            <p:sp>
              <p:nvSpPr>
                <p:cNvPr id="4" name="矩形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74371" y="4429521"/>
                  <a:ext cx="1746697" cy="524118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组合 7"/>
          <p:cNvGrpSpPr/>
          <p:nvPr/>
        </p:nvGrpSpPr>
        <p:grpSpPr>
          <a:xfrm>
            <a:off x="567594" y="5469180"/>
            <a:ext cx="8003265" cy="1092863"/>
            <a:chOff x="567594" y="5469180"/>
            <a:chExt cx="8003265" cy="1092863"/>
          </a:xfrm>
        </p:grpSpPr>
        <p:sp>
          <p:nvSpPr>
            <p:cNvPr id="23" name="矩形 22"/>
            <p:cNvSpPr/>
            <p:nvPr/>
          </p:nvSpPr>
          <p:spPr>
            <a:xfrm>
              <a:off x="567594" y="5469180"/>
              <a:ext cx="8003265" cy="10928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120000"/>
                </a:lnSpc>
                <a:buFont typeface="Wingdings" panose="05000000000000000000" pitchFamily="2" charset="2"/>
                <a:buChar char="Ø"/>
              </a:pPr>
              <a:r>
                <a:rPr lang="zh-CN" altLang="zh-CN" sz="2800" b="1" dirty="0"/>
                <a:t>当ABC=010或110时，表达式为</a:t>
              </a:r>
              <a:r>
                <a:rPr lang="en-US" altLang="zh-CN" sz="2800" b="1" dirty="0"/>
                <a:t> </a:t>
              </a:r>
              <a:r>
                <a:rPr lang="zh-CN" altLang="zh-CN" sz="2800" b="1" dirty="0"/>
                <a:t>                  ，如果D从0→1，则存在</a:t>
              </a:r>
              <a:r>
                <a:rPr lang="en-US" altLang="zh-CN" sz="2800" b="1" dirty="0"/>
                <a:t>1</a:t>
              </a:r>
              <a:r>
                <a:rPr lang="zh-CN" altLang="zh-CN" sz="2800" b="1" dirty="0"/>
                <a:t>险象。</a:t>
              </a:r>
              <a:endParaRPr lang="zh-CN" altLang="zh-CN" sz="28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矩形 4"/>
                <p:cNvSpPr/>
                <p:nvPr/>
              </p:nvSpPr>
              <p:spPr>
                <a:xfrm>
                  <a:off x="5615478" y="5543805"/>
                  <a:ext cx="1803507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800" b="1" i="1">
                            <a:latin typeface="Cambria Math" panose="02040503050406030204" pitchFamily="18" charset="0"/>
                          </a:rPr>
                          <m:t>𝑭</m:t>
                        </m:r>
                        <m:r>
                          <a:rPr lang="zh-CN" altLang="en-US" sz="2800" b="1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2800" b="1" i="1">
                            <a:latin typeface="Cambria Math" panose="02040503050406030204" pitchFamily="18" charset="0"/>
                          </a:rPr>
                          <m:t>𝑫</m:t>
                        </m:r>
                        <m:r>
                          <a:rPr lang="zh-CN" altLang="en-US" sz="2800" b="1" i="0">
                            <a:latin typeface="Cambria Math" panose="02040503050406030204" pitchFamily="18" charset="0"/>
                          </a:rPr>
                          <m:t>•</m:t>
                        </m:r>
                        <m:acc>
                          <m:accPr>
                            <m:chr m:val="̅"/>
                            <m:ctrlPr>
                              <a:rPr lang="zh-CN" altLang="en-US" sz="28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800" b="1" i="1">
                                <a:latin typeface="Cambria Math" panose="02040503050406030204" pitchFamily="18" charset="0"/>
                              </a:rPr>
                              <m:t>𝑫</m:t>
                            </m:r>
                          </m:e>
                        </m:acc>
                      </m:oMath>
                    </m:oMathPara>
                  </a14:m>
                  <a:endParaRPr lang="zh-CN" altLang="en-US" sz="2800" b="1" dirty="0"/>
                </a:p>
              </p:txBody>
            </p:sp>
          </mc:Choice>
          <mc:Fallback>
            <p:sp>
              <p:nvSpPr>
                <p:cNvPr id="5" name="矩形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5478" y="5543805"/>
                  <a:ext cx="1803507" cy="523220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0" name="矩形 19"/>
          <p:cNvSpPr/>
          <p:nvPr/>
        </p:nvSpPr>
        <p:spPr>
          <a:xfrm>
            <a:off x="611225" y="2004916"/>
            <a:ext cx="7959634" cy="1057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分析：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式中变量</a:t>
            </a:r>
            <a:r>
              <a:rPr lang="zh-CN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B、C、D均以原变量、反变量形式出现在表达式中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，具备竞争条件。</a:t>
            </a:r>
            <a:endParaRPr lang="zh-CN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92266" y="3134961"/>
            <a:ext cx="8073387" cy="1166730"/>
            <a:chOff x="592266" y="3134961"/>
            <a:chExt cx="8073387" cy="1166730"/>
          </a:xfrm>
        </p:grpSpPr>
        <p:sp>
          <p:nvSpPr>
            <p:cNvPr id="21" name="矩形 20"/>
            <p:cNvSpPr/>
            <p:nvPr/>
          </p:nvSpPr>
          <p:spPr>
            <a:xfrm>
              <a:off x="592266" y="3134961"/>
              <a:ext cx="8073387" cy="11667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120000"/>
                </a:lnSpc>
                <a:buFont typeface="Wingdings" panose="05000000000000000000" pitchFamily="2" charset="2"/>
                <a:buChar char="Ø"/>
              </a:pPr>
              <a:r>
                <a:rPr lang="zh-CN" altLang="zh-CN" sz="2800" b="1" dirty="0"/>
                <a:t>当ACD=011时，表达式为                 </a:t>
              </a:r>
              <a:r>
                <a:rPr lang="en-US" altLang="zh-CN" sz="2800" b="1" dirty="0"/>
                <a:t>  </a:t>
              </a:r>
              <a:r>
                <a:rPr lang="zh-CN" altLang="zh-CN" sz="2800" b="1" dirty="0"/>
                <a:t>，</a:t>
              </a:r>
              <a:r>
                <a:rPr lang="zh-CN" altLang="zh-CN" sz="3200" b="1" dirty="0"/>
                <a:t>如果</a:t>
              </a:r>
              <a:r>
                <a:rPr lang="zh-CN" altLang="zh-CN" sz="2800" b="1" dirty="0"/>
                <a:t>B从0→1，则存在</a:t>
              </a:r>
              <a:r>
                <a:rPr lang="en-US" altLang="zh-CN" sz="2800" b="1" dirty="0"/>
                <a:t>1</a:t>
              </a:r>
              <a:r>
                <a:rPr lang="zh-CN" altLang="zh-CN" sz="2800" b="1" dirty="0"/>
                <a:t>险象。</a:t>
              </a:r>
              <a:endParaRPr lang="zh-CN" altLang="zh-CN" sz="28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矩形 2"/>
                <p:cNvSpPr/>
                <p:nvPr/>
              </p:nvSpPr>
              <p:spPr>
                <a:xfrm>
                  <a:off x="4753473" y="3255587"/>
                  <a:ext cx="1763759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800" b="1" i="1">
                            <a:latin typeface="Cambria Math" panose="02040503050406030204" pitchFamily="18" charset="0"/>
                          </a:rPr>
                          <m:t>𝑭</m:t>
                        </m:r>
                        <m:r>
                          <a:rPr lang="zh-CN" altLang="en-US" sz="2800" b="1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2800" b="1" i="1"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zh-CN" altLang="en-US" sz="2800" b="1" i="0">
                            <a:latin typeface="Cambria Math" panose="02040503050406030204" pitchFamily="18" charset="0"/>
                          </a:rPr>
                          <m:t>•</m:t>
                        </m:r>
                        <m:acc>
                          <m:accPr>
                            <m:chr m:val="̅"/>
                            <m:ctrlPr>
                              <a:rPr lang="zh-CN" altLang="en-US" sz="28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800" b="1" i="1"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</m:acc>
                      </m:oMath>
                    </m:oMathPara>
                  </a14:m>
                  <a:endParaRPr lang="zh-CN" altLang="en-US" sz="2800" b="1" dirty="0"/>
                </a:p>
              </p:txBody>
            </p:sp>
          </mc:Choice>
          <mc:Fallback>
            <p:sp>
              <p:nvSpPr>
                <p:cNvPr id="3" name="矩形 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3473" y="3255587"/>
                  <a:ext cx="1763759" cy="523220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121632" y="646331"/>
            <a:ext cx="4007611" cy="528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/>
            <a:r>
              <a:rPr lang="zh-CN" altLang="en-US" sz="32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</a:t>
            </a:r>
            <a:r>
              <a:rPr lang="zh-CN" altLang="zh-CN" sz="32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逻辑表达式判别法</a:t>
            </a:r>
            <a:endParaRPr lang="zh-CN" altLang="zh-CN" sz="3200" b="1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淘宝网chenying0907出品 6"/>
          <p:cNvSpPr txBox="1"/>
          <p:nvPr/>
        </p:nvSpPr>
        <p:spPr>
          <a:xfrm>
            <a:off x="1528823" y="0"/>
            <a:ext cx="5200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4.5.3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险象的判别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31027" y="1322131"/>
            <a:ext cx="8511089" cy="169334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对于“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”电路：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在卡诺图中，如果两个圈“</a:t>
            </a:r>
            <a:r>
              <a:rPr lang="zh-CN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”的卡诺圈存在着部分</a:t>
            </a:r>
            <a:r>
              <a:rPr lang="zh-CN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相切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，且这个相切部分又没有被其它的圈“1”卡诺圈包含，则该电路必然存在险象</a:t>
            </a:r>
            <a:endParaRPr lang="zh-CN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9" name="Group 7"/>
          <p:cNvGrpSpPr/>
          <p:nvPr/>
        </p:nvGrpSpPr>
        <p:grpSpPr bwMode="auto">
          <a:xfrm>
            <a:off x="624624" y="3269277"/>
            <a:ext cx="3381375" cy="3028950"/>
            <a:chOff x="86" y="-116"/>
            <a:chExt cx="2130" cy="1908"/>
          </a:xfrm>
        </p:grpSpPr>
        <p:graphicFrame>
          <p:nvGraphicFramePr>
            <p:cNvPr id="40" name="Object 8"/>
            <p:cNvGraphicFramePr>
              <a:graphicFrameLocks noChangeAspect="1"/>
            </p:cNvGraphicFramePr>
            <p:nvPr/>
          </p:nvGraphicFramePr>
          <p:xfrm>
            <a:off x="516" y="-116"/>
            <a:ext cx="1676" cy="3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Equation" r:id="rId1" imgW="20726400" imgH="5181600" progId="Equation.DSMT4">
                    <p:embed/>
                  </p:oleObj>
                </mc:Choice>
                <mc:Fallback>
                  <p:oleObj name="Equation" r:id="rId1" imgW="20726400" imgH="5181600" progId="Equation.DSMT4">
                    <p:embed/>
                    <p:pic>
                      <p:nvPicPr>
                        <p:cNvPr id="0" name="图片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6" y="-116"/>
                          <a:ext cx="1676" cy="3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1" name="Group 9"/>
            <p:cNvGrpSpPr/>
            <p:nvPr/>
          </p:nvGrpSpPr>
          <p:grpSpPr bwMode="auto">
            <a:xfrm>
              <a:off x="86" y="509"/>
              <a:ext cx="2130" cy="1283"/>
              <a:chOff x="86" y="66"/>
              <a:chExt cx="2130" cy="1283"/>
            </a:xfrm>
          </p:grpSpPr>
          <p:graphicFrame>
            <p:nvGraphicFramePr>
              <p:cNvPr id="45" name="Object 10"/>
              <p:cNvGraphicFramePr>
                <a:graphicFrameLocks noChangeAspect="1"/>
              </p:cNvGraphicFramePr>
              <p:nvPr/>
            </p:nvGraphicFramePr>
            <p:xfrm>
              <a:off x="473" y="360"/>
              <a:ext cx="1743" cy="98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" name="Equation" r:id="rId3" imgW="21031200" imgH="12192000" progId="Equation.DSMT4">
                      <p:embed/>
                    </p:oleObj>
                  </mc:Choice>
                  <mc:Fallback>
                    <p:oleObj name="Equation" r:id="rId3" imgW="21031200" imgH="12192000" progId="Equation.DSMT4">
                      <p:embed/>
                      <p:pic>
                        <p:nvPicPr>
                          <p:cNvPr id="0" name="图片 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3" y="360"/>
                            <a:ext cx="1743" cy="98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6" name="Line 11"/>
              <p:cNvSpPr>
                <a:spLocks noChangeShapeType="1"/>
              </p:cNvSpPr>
              <p:nvPr/>
            </p:nvSpPr>
            <p:spPr bwMode="auto">
              <a:xfrm flipH="1" flipV="1">
                <a:off x="86" y="78"/>
                <a:ext cx="479" cy="357"/>
              </a:xfrm>
              <a:prstGeom prst="line">
                <a:avLst/>
              </a:prstGeom>
              <a:noFill/>
              <a:ln w="28575" cmpd="sng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8" name="Rectangle 12"/>
              <p:cNvSpPr>
                <a:spLocks noChangeArrowheads="1"/>
              </p:cNvSpPr>
              <p:nvPr/>
            </p:nvSpPr>
            <p:spPr bwMode="auto">
              <a:xfrm>
                <a:off x="187" y="66"/>
                <a:ext cx="446" cy="2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zh-CN" sz="20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AB</a:t>
                </a:r>
                <a:endParaRPr kumimoji="0" lang="zh-CN" altLang="zh-CN" sz="20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" name="Rectangle 13"/>
              <p:cNvSpPr>
                <a:spLocks noChangeArrowheads="1"/>
              </p:cNvSpPr>
              <p:nvPr/>
            </p:nvSpPr>
            <p:spPr bwMode="auto">
              <a:xfrm>
                <a:off x="105" y="261"/>
                <a:ext cx="211" cy="21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zh-CN" sz="20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endParaRPr kumimoji="0" lang="zh-CN" altLang="zh-CN" sz="20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" name="Rectangle 14"/>
              <p:cNvSpPr>
                <a:spLocks noChangeArrowheads="1"/>
              </p:cNvSpPr>
              <p:nvPr/>
            </p:nvSpPr>
            <p:spPr bwMode="auto">
              <a:xfrm>
                <a:off x="543" y="203"/>
                <a:ext cx="1542" cy="1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zh-CN" sz="2000" b="1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00       01      11      10</a:t>
                </a:r>
                <a:endParaRPr kumimoji="0" lang="zh-CN" altLang="zh-CN" sz="20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" name="Rectangle 15"/>
              <p:cNvSpPr>
                <a:spLocks noChangeArrowheads="1"/>
              </p:cNvSpPr>
              <p:nvPr/>
            </p:nvSpPr>
            <p:spPr bwMode="auto">
              <a:xfrm>
                <a:off x="338" y="534"/>
                <a:ext cx="162" cy="2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zh-CN" sz="2000" b="1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kumimoji="0" lang="zh-CN" altLang="zh-CN" sz="20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" name="Rectangle 16"/>
              <p:cNvSpPr>
                <a:spLocks noChangeArrowheads="1"/>
              </p:cNvSpPr>
              <p:nvPr/>
            </p:nvSpPr>
            <p:spPr bwMode="auto">
              <a:xfrm>
                <a:off x="330" y="940"/>
                <a:ext cx="146" cy="2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zh-CN" sz="2000" b="1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kumimoji="0" lang="zh-CN" altLang="zh-CN" sz="20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2" name="Oval 17"/>
            <p:cNvSpPr>
              <a:spLocks noChangeArrowheads="1"/>
            </p:cNvSpPr>
            <p:nvPr/>
          </p:nvSpPr>
          <p:spPr bwMode="auto">
            <a:xfrm>
              <a:off x="560" y="907"/>
              <a:ext cx="754" cy="413"/>
            </a:xfrm>
            <a:prstGeom prst="ellipse">
              <a:avLst/>
            </a:prstGeom>
            <a:noFill/>
            <a:ln w="38100" cmpd="sng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" name="Oval 19"/>
            <p:cNvSpPr>
              <a:spLocks noChangeArrowheads="1"/>
            </p:cNvSpPr>
            <p:nvPr/>
          </p:nvSpPr>
          <p:spPr bwMode="auto">
            <a:xfrm>
              <a:off x="1374" y="915"/>
              <a:ext cx="380" cy="808"/>
            </a:xfrm>
            <a:prstGeom prst="ellipse">
              <a:avLst/>
            </a:prstGeom>
            <a:noFill/>
            <a:ln w="38100" cmpd="sng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3" name="Group 20"/>
          <p:cNvGrpSpPr/>
          <p:nvPr/>
        </p:nvGrpSpPr>
        <p:grpSpPr bwMode="auto">
          <a:xfrm>
            <a:off x="2585186" y="3592513"/>
            <a:ext cx="6388183" cy="2894012"/>
            <a:chOff x="-18" y="0"/>
            <a:chExt cx="3792" cy="1823"/>
          </a:xfrm>
        </p:grpSpPr>
        <p:sp>
          <p:nvSpPr>
            <p:cNvPr id="54" name="Line 21"/>
            <p:cNvSpPr>
              <a:spLocks noChangeShapeType="1"/>
            </p:cNvSpPr>
            <p:nvPr/>
          </p:nvSpPr>
          <p:spPr bwMode="auto">
            <a:xfrm flipH="1">
              <a:off x="-18" y="395"/>
              <a:ext cx="0" cy="1428"/>
            </a:xfrm>
            <a:prstGeom prst="line">
              <a:avLst/>
            </a:prstGeom>
            <a:noFill/>
            <a:ln w="38100" cmpd="sng">
              <a:solidFill>
                <a:srgbClr val="66FF33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" name="AutoShape 22"/>
            <p:cNvSpPr>
              <a:spLocks noChangeArrowheads="1"/>
            </p:cNvSpPr>
            <p:nvPr/>
          </p:nvSpPr>
          <p:spPr bwMode="auto">
            <a:xfrm>
              <a:off x="1598" y="0"/>
              <a:ext cx="2176" cy="1692"/>
            </a:xfrm>
            <a:prstGeom prst="wedgeRoundRectCallout">
              <a:avLst>
                <a:gd name="adj1" fmla="val -121704"/>
                <a:gd name="adj2" fmla="val 15723"/>
                <a:gd name="adj3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 cmpd="sng">
              <a:solidFill>
                <a:srgbClr val="FF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zh-CN" sz="28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相切处是</a:t>
              </a:r>
              <a:r>
                <a:rPr lang="zh-CN" altLang="en-US" sz="2800" b="1" kern="0" dirty="0">
                  <a:latin typeface="黑体" panose="02010609060101010101" pitchFamily="49" charset="-122"/>
                  <a:ea typeface="黑体" panose="02010609060101010101" pitchFamily="49" charset="-122"/>
                </a:rPr>
                <a:t>某</a:t>
              </a:r>
              <a:r>
                <a:rPr kumimoji="0" lang="zh-CN" altLang="zh-CN" sz="28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个变量的交替界面，就是该变量由1→0，引起险象的发生</a:t>
              </a:r>
              <a:endParaRPr kumimoji="0" lang="zh-CN" altLang="zh-CN" sz="2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zh-CN" sz="28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本例为变量A</a:t>
              </a:r>
              <a:endParaRPr kumimoji="0" lang="zh-CN" altLang="zh-CN" sz="2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23" name="Rectangle 2"/>
          <p:cNvSpPr>
            <a:spLocks noChangeArrowheads="1"/>
          </p:cNvSpPr>
          <p:nvPr/>
        </p:nvSpPr>
        <p:spPr bwMode="auto">
          <a:xfrm>
            <a:off x="121632" y="646331"/>
            <a:ext cx="4007611" cy="528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/>
            <a:r>
              <a:rPr lang="zh-CN" altLang="en-US" sz="32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二、卡诺图</a:t>
            </a:r>
            <a:r>
              <a:rPr lang="zh-CN" altLang="zh-CN" sz="32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判别法</a:t>
            </a:r>
            <a:endParaRPr lang="zh-CN" altLang="zh-CN" sz="3200" b="1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淘宝网chenying0907出品 6"/>
          <p:cNvSpPr txBox="1"/>
          <p:nvPr/>
        </p:nvSpPr>
        <p:spPr>
          <a:xfrm>
            <a:off x="1528823" y="0"/>
            <a:ext cx="5200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4.5.3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险象的判别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92393" y="1255433"/>
            <a:ext cx="8489213" cy="169334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对于“</a:t>
            </a:r>
            <a:r>
              <a:rPr lang="zh-CN" altLang="en-US" sz="2800" b="1" dirty="0">
                <a:solidFill>
                  <a:srgbClr val="FF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en-US" altLang="zh-CN" sz="2800" b="1" dirty="0">
                <a:solidFill>
                  <a:srgbClr val="FF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2800" b="1" dirty="0">
                <a:solidFill>
                  <a:srgbClr val="FF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”电路：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在卡诺图中，如果两个圈“</a:t>
            </a:r>
            <a:r>
              <a:rPr lang="en-US" altLang="zh-CN" sz="2800" b="1" dirty="0">
                <a:solidFill>
                  <a:srgbClr val="FF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”的卡诺圈存在着部分</a:t>
            </a:r>
            <a:r>
              <a:rPr lang="zh-CN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相切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，且这个相切部分又没有被其它的圈“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”卡诺圈包含，则该电路必然存在险象</a:t>
            </a:r>
            <a:endParaRPr lang="zh-CN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56" name="Group 5"/>
          <p:cNvGrpSpPr/>
          <p:nvPr/>
        </p:nvGrpSpPr>
        <p:grpSpPr bwMode="auto">
          <a:xfrm>
            <a:off x="593535" y="3218190"/>
            <a:ext cx="4065967" cy="3353240"/>
            <a:chOff x="0" y="-216"/>
            <a:chExt cx="2283" cy="2025"/>
          </a:xfrm>
        </p:grpSpPr>
        <p:graphicFrame>
          <p:nvGraphicFramePr>
            <p:cNvPr id="57" name="Object 6"/>
            <p:cNvGraphicFramePr>
              <a:graphicFrameLocks noChangeAspect="1"/>
            </p:cNvGraphicFramePr>
            <p:nvPr/>
          </p:nvGraphicFramePr>
          <p:xfrm>
            <a:off x="125" y="-216"/>
            <a:ext cx="2158" cy="4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Equation" r:id="rId1" imgW="29260800" imgH="5791200" progId="Equation.DSMT4">
                    <p:embed/>
                  </p:oleObj>
                </mc:Choice>
                <mc:Fallback>
                  <p:oleObj name="Equation" r:id="rId1" imgW="29260800" imgH="5791200" progId="Equation.DSMT4">
                    <p:embed/>
                    <p:pic>
                      <p:nvPicPr>
                        <p:cNvPr id="0" name="图片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" y="-216"/>
                          <a:ext cx="2158" cy="4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" name="Object 7"/>
            <p:cNvGraphicFramePr>
              <a:graphicFrameLocks noChangeAspect="1"/>
            </p:cNvGraphicFramePr>
            <p:nvPr/>
          </p:nvGraphicFramePr>
          <p:xfrm>
            <a:off x="414" y="841"/>
            <a:ext cx="1753" cy="9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Equation" r:id="rId3" imgW="21640800" imgH="12192000" progId="Equation.DSMT4">
                    <p:embed/>
                  </p:oleObj>
                </mc:Choice>
                <mc:Fallback>
                  <p:oleObj name="Equation" r:id="rId3" imgW="21640800" imgH="12192000" progId="Equation.DSMT4">
                    <p:embed/>
                    <p:pic>
                      <p:nvPicPr>
                        <p:cNvPr id="0" name="图片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" y="841"/>
                          <a:ext cx="1753" cy="9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9" name="Line 8"/>
            <p:cNvSpPr>
              <a:spLocks noChangeShapeType="1"/>
            </p:cNvSpPr>
            <p:nvPr/>
          </p:nvSpPr>
          <p:spPr bwMode="auto">
            <a:xfrm flipH="1" flipV="1">
              <a:off x="8" y="565"/>
              <a:ext cx="479" cy="357"/>
            </a:xfrm>
            <a:prstGeom prst="line">
              <a:avLst/>
            </a:prstGeom>
            <a:noFill/>
            <a:ln w="28575" cmpd="sng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" name="Rectangle 9"/>
            <p:cNvSpPr>
              <a:spLocks noChangeArrowheads="1"/>
            </p:cNvSpPr>
            <p:nvPr/>
          </p:nvSpPr>
          <p:spPr bwMode="auto">
            <a:xfrm>
              <a:off x="81" y="459"/>
              <a:ext cx="446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zh-CN" sz="20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AB</a:t>
              </a:r>
              <a:endParaRPr kumimoji="0" lang="zh-CN" altLang="zh-CN" sz="20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" name="Rectangle 10"/>
            <p:cNvSpPr>
              <a:spLocks noChangeArrowheads="1"/>
            </p:cNvSpPr>
            <p:nvPr/>
          </p:nvSpPr>
          <p:spPr bwMode="auto">
            <a:xfrm>
              <a:off x="0" y="728"/>
              <a:ext cx="21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zh-CN" sz="2000" b="1" i="1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kumimoji="0" lang="zh-CN" altLang="zh-CN" sz="2000" b="1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2" name="Rectangle 11"/>
            <p:cNvSpPr>
              <a:spLocks noChangeArrowheads="1"/>
            </p:cNvSpPr>
            <p:nvPr/>
          </p:nvSpPr>
          <p:spPr bwMode="auto">
            <a:xfrm>
              <a:off x="543" y="662"/>
              <a:ext cx="1624" cy="1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zh-CN" sz="20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00       01      11      10</a:t>
              </a:r>
              <a:endParaRPr kumimoji="0" lang="zh-CN" altLang="zh-CN" sz="20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" name="Rectangle 12"/>
            <p:cNvSpPr>
              <a:spLocks noChangeArrowheads="1"/>
            </p:cNvSpPr>
            <p:nvPr/>
          </p:nvSpPr>
          <p:spPr bwMode="auto">
            <a:xfrm>
              <a:off x="243" y="1027"/>
              <a:ext cx="162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zh-CN" sz="2000" b="1" i="1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kumimoji="0" lang="zh-CN" altLang="zh-CN" sz="2000" b="1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" name="Rectangle 13"/>
            <p:cNvSpPr>
              <a:spLocks noChangeArrowheads="1"/>
            </p:cNvSpPr>
            <p:nvPr/>
          </p:nvSpPr>
          <p:spPr bwMode="auto">
            <a:xfrm>
              <a:off x="235" y="1433"/>
              <a:ext cx="146" cy="2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zh-CN" sz="2000" b="1" i="1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0" lang="zh-CN" altLang="zh-CN" sz="2000" b="1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5" name="Oval 14"/>
            <p:cNvSpPr>
              <a:spLocks noChangeArrowheads="1"/>
            </p:cNvSpPr>
            <p:nvPr/>
          </p:nvSpPr>
          <p:spPr bwMode="auto">
            <a:xfrm>
              <a:off x="486" y="908"/>
              <a:ext cx="811" cy="380"/>
            </a:xfrm>
            <a:prstGeom prst="ellipse">
              <a:avLst/>
            </a:prstGeom>
            <a:noFill/>
            <a:ln w="38100" cmpd="sng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" name="AutoShape 15"/>
            <p:cNvSpPr/>
            <p:nvPr/>
          </p:nvSpPr>
          <p:spPr bwMode="auto">
            <a:xfrm>
              <a:off x="414" y="1387"/>
              <a:ext cx="430" cy="341"/>
            </a:xfrm>
            <a:prstGeom prst="rightBracket">
              <a:avLst>
                <a:gd name="adj" fmla="val 8333"/>
              </a:avLst>
            </a:prstGeom>
            <a:noFill/>
            <a:ln w="38100" cmpd="sng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7" name="AutoShape 16"/>
            <p:cNvSpPr/>
            <p:nvPr/>
          </p:nvSpPr>
          <p:spPr bwMode="auto">
            <a:xfrm flipH="1">
              <a:off x="1744" y="1394"/>
              <a:ext cx="495" cy="325"/>
            </a:xfrm>
            <a:prstGeom prst="rightBracket">
              <a:avLst>
                <a:gd name="adj" fmla="val 8333"/>
              </a:avLst>
            </a:prstGeom>
            <a:noFill/>
            <a:ln w="38100" cmpd="sng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8" name="Group 17"/>
          <p:cNvGrpSpPr/>
          <p:nvPr/>
        </p:nvGrpSpPr>
        <p:grpSpPr bwMode="auto">
          <a:xfrm>
            <a:off x="1180909" y="3496003"/>
            <a:ext cx="7601287" cy="2941639"/>
            <a:chOff x="46" y="-209"/>
            <a:chExt cx="4498" cy="1853"/>
          </a:xfrm>
        </p:grpSpPr>
        <p:sp>
          <p:nvSpPr>
            <p:cNvPr id="69" name="Line 18"/>
            <p:cNvSpPr>
              <a:spLocks noChangeShapeType="1"/>
            </p:cNvSpPr>
            <p:nvPr/>
          </p:nvSpPr>
          <p:spPr bwMode="auto">
            <a:xfrm>
              <a:off x="46" y="1235"/>
              <a:ext cx="2191" cy="0"/>
            </a:xfrm>
            <a:prstGeom prst="line">
              <a:avLst/>
            </a:prstGeom>
            <a:solidFill>
              <a:schemeClr val="tx2">
                <a:lumMod val="20000"/>
                <a:lumOff val="80000"/>
              </a:schemeClr>
            </a:solidFill>
            <a:ln w="34925" cmpd="sng">
              <a:solidFill>
                <a:srgbClr val="3CB871"/>
              </a:solidFill>
              <a:prstDash val="dash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endParaRPr lang="zh-CN" altLang="en-US" sz="2400" b="1" kern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" name="AutoShape 19"/>
            <p:cNvSpPr>
              <a:spLocks noChangeArrowheads="1"/>
            </p:cNvSpPr>
            <p:nvPr/>
          </p:nvSpPr>
          <p:spPr bwMode="auto">
            <a:xfrm>
              <a:off x="2476" y="-209"/>
              <a:ext cx="2068" cy="1853"/>
            </a:xfrm>
            <a:prstGeom prst="wedgeRoundRectCallout">
              <a:avLst>
                <a:gd name="adj1" fmla="val -64449"/>
                <a:gd name="adj2" fmla="val 27697"/>
                <a:gd name="adj3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 cmpd="sng">
              <a:solidFill>
                <a:srgbClr val="FF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r>
                <a:rPr lang="zh-CN" altLang="zh-CN" sz="2800" b="1" kern="0" dirty="0">
                  <a:latin typeface="黑体" panose="02010609060101010101" pitchFamily="49" charset="-122"/>
                  <a:ea typeface="黑体" panose="02010609060101010101" pitchFamily="49" charset="-122"/>
                </a:rPr>
                <a:t>相切处是</a:t>
              </a:r>
              <a:r>
                <a:rPr lang="zh-CN" altLang="en-US" sz="2800" b="1" kern="0" dirty="0">
                  <a:latin typeface="黑体" panose="02010609060101010101" pitchFamily="49" charset="-122"/>
                  <a:ea typeface="黑体" panose="02010609060101010101" pitchFamily="49" charset="-122"/>
                </a:rPr>
                <a:t>某</a:t>
              </a:r>
              <a:r>
                <a:rPr lang="zh-CN" altLang="zh-CN" sz="2800" b="1" kern="0" dirty="0">
                  <a:latin typeface="黑体" panose="02010609060101010101" pitchFamily="49" charset="-122"/>
                  <a:ea typeface="黑体" panose="02010609060101010101" pitchFamily="49" charset="-122"/>
                </a:rPr>
                <a:t>个变量的交替界面，就是该变量由0→1，引起险象的发生</a:t>
              </a:r>
              <a:endPara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defTabSz="9144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endPara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defTabSz="9144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r>
                <a:rPr lang="zh-CN" altLang="zh-CN" sz="2800" b="1" kern="0" dirty="0">
                  <a:latin typeface="黑体" panose="02010609060101010101" pitchFamily="49" charset="-122"/>
                  <a:ea typeface="黑体" panose="02010609060101010101" pitchFamily="49" charset="-122"/>
                </a:rPr>
                <a:t>本例为变量C</a:t>
              </a:r>
              <a:endPara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23" name="Rectangle 2"/>
          <p:cNvSpPr>
            <a:spLocks noChangeArrowheads="1"/>
          </p:cNvSpPr>
          <p:nvPr/>
        </p:nvSpPr>
        <p:spPr bwMode="auto">
          <a:xfrm>
            <a:off x="121632" y="646331"/>
            <a:ext cx="4007611" cy="528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/>
            <a:r>
              <a:rPr lang="zh-CN" altLang="en-US" sz="32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二、卡诺图</a:t>
            </a:r>
            <a:r>
              <a:rPr lang="zh-CN" altLang="zh-CN" sz="32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判别法</a:t>
            </a:r>
            <a:endParaRPr lang="zh-CN" altLang="zh-CN" sz="3200" b="1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淘宝网chenying0907出品 6"/>
          <p:cNvSpPr txBox="1"/>
          <p:nvPr/>
        </p:nvSpPr>
        <p:spPr>
          <a:xfrm>
            <a:off x="1528823" y="0"/>
            <a:ext cx="5200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4.5.3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险象的判别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 Box 2"/>
          <p:cNvSpPr txBox="1">
            <a:spLocks noChangeArrowheads="1"/>
          </p:cNvSpPr>
          <p:nvPr/>
        </p:nvSpPr>
        <p:spPr bwMode="auto">
          <a:xfrm>
            <a:off x="45274" y="631043"/>
            <a:ext cx="3125487" cy="565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>
              <a:defRPr sz="3200" b="1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一、</a:t>
            </a:r>
            <a:r>
              <a:rPr lang="zh-CN" altLang="zh-CN" dirty="0"/>
              <a:t>加选通脉冲</a:t>
            </a:r>
            <a:endParaRPr lang="zh-CN" altLang="zh-CN" dirty="0"/>
          </a:p>
        </p:txBody>
      </p:sp>
      <p:grpSp>
        <p:nvGrpSpPr>
          <p:cNvPr id="15" name="组合 14"/>
          <p:cNvGrpSpPr/>
          <p:nvPr/>
        </p:nvGrpSpPr>
        <p:grpSpPr>
          <a:xfrm>
            <a:off x="365184" y="1680047"/>
            <a:ext cx="4161423" cy="1895946"/>
            <a:chOff x="372955" y="1281112"/>
            <a:chExt cx="3794008" cy="1638233"/>
          </a:xfrm>
        </p:grpSpPr>
        <p:grpSp>
          <p:nvGrpSpPr>
            <p:cNvPr id="127" name="Group 3"/>
            <p:cNvGrpSpPr/>
            <p:nvPr/>
          </p:nvGrpSpPr>
          <p:grpSpPr bwMode="auto">
            <a:xfrm>
              <a:off x="900747" y="1281112"/>
              <a:ext cx="2826853" cy="1555628"/>
              <a:chOff x="184" y="0"/>
              <a:chExt cx="1478" cy="818"/>
            </a:xfrm>
          </p:grpSpPr>
          <p:grpSp>
            <p:nvGrpSpPr>
              <p:cNvPr id="128" name="Group 4"/>
              <p:cNvGrpSpPr/>
              <p:nvPr/>
            </p:nvGrpSpPr>
            <p:grpSpPr bwMode="auto">
              <a:xfrm>
                <a:off x="1180" y="169"/>
                <a:ext cx="482" cy="528"/>
                <a:chOff x="0" y="0"/>
                <a:chExt cx="482" cy="528"/>
              </a:xfrm>
            </p:grpSpPr>
            <p:sp>
              <p:nvSpPr>
                <p:cNvPr id="144" name="Rectangle 5"/>
                <p:cNvSpPr>
                  <a:spLocks noChangeArrowheads="1"/>
                </p:cNvSpPr>
                <p:nvPr/>
              </p:nvSpPr>
              <p:spPr bwMode="auto">
                <a:xfrm>
                  <a:off x="96" y="0"/>
                  <a:ext cx="288" cy="528"/>
                </a:xfrm>
                <a:prstGeom prst="rect">
                  <a:avLst/>
                </a:prstGeom>
                <a:noFill/>
                <a:ln w="38100" cmpd="sng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5" name="Line 6"/>
                <p:cNvSpPr>
                  <a:spLocks noChangeShapeType="1"/>
                </p:cNvSpPr>
                <p:nvPr/>
              </p:nvSpPr>
              <p:spPr bwMode="auto">
                <a:xfrm>
                  <a:off x="0" y="96"/>
                  <a:ext cx="96" cy="0"/>
                </a:xfrm>
                <a:prstGeom prst="line">
                  <a:avLst/>
                </a:prstGeom>
                <a:noFill/>
                <a:ln w="38100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6" name="Line 7"/>
                <p:cNvSpPr>
                  <a:spLocks noChangeShapeType="1"/>
                </p:cNvSpPr>
                <p:nvPr/>
              </p:nvSpPr>
              <p:spPr bwMode="auto">
                <a:xfrm>
                  <a:off x="0" y="436"/>
                  <a:ext cx="96" cy="0"/>
                </a:xfrm>
                <a:prstGeom prst="line">
                  <a:avLst/>
                </a:prstGeom>
                <a:noFill/>
                <a:ln w="38100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7" name="Line 8"/>
                <p:cNvSpPr>
                  <a:spLocks noChangeShapeType="1"/>
                </p:cNvSpPr>
                <p:nvPr/>
              </p:nvSpPr>
              <p:spPr bwMode="auto">
                <a:xfrm>
                  <a:off x="386" y="266"/>
                  <a:ext cx="96" cy="0"/>
                </a:xfrm>
                <a:prstGeom prst="line">
                  <a:avLst/>
                </a:prstGeom>
                <a:noFill/>
                <a:ln w="38100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29" name="Text Box 9"/>
              <p:cNvSpPr txBox="1">
                <a:spLocks noChangeArrowheads="1"/>
              </p:cNvSpPr>
              <p:nvPr/>
            </p:nvSpPr>
            <p:spPr bwMode="auto">
              <a:xfrm>
                <a:off x="1332" y="215"/>
                <a:ext cx="176" cy="2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8000" tIns="10800" rIns="18000" bIns="10800"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zh-CN" sz="2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&amp;</a:t>
                </a:r>
                <a:endParaRPr kumimoji="0" lang="zh-CN" altLang="zh-CN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1" name="Rectangle 11"/>
              <p:cNvSpPr>
                <a:spLocks noChangeArrowheads="1"/>
              </p:cNvSpPr>
              <p:nvPr/>
            </p:nvSpPr>
            <p:spPr bwMode="auto">
              <a:xfrm>
                <a:off x="486" y="0"/>
                <a:ext cx="288" cy="528"/>
              </a:xfrm>
              <a:prstGeom prst="rect">
                <a:avLst/>
              </a:prstGeom>
              <a:noFill/>
              <a:ln w="38100" cmpd="sng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2" name="Line 12"/>
              <p:cNvSpPr>
                <a:spLocks noChangeShapeType="1"/>
              </p:cNvSpPr>
              <p:nvPr/>
            </p:nvSpPr>
            <p:spPr bwMode="auto">
              <a:xfrm>
                <a:off x="840" y="264"/>
                <a:ext cx="96" cy="0"/>
              </a:xfrm>
              <a:prstGeom prst="line">
                <a:avLst/>
              </a:prstGeom>
              <a:noFill/>
              <a:ln w="38100" cmpd="sng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3" name="Line 13"/>
              <p:cNvSpPr>
                <a:spLocks noChangeShapeType="1"/>
              </p:cNvSpPr>
              <p:nvPr/>
            </p:nvSpPr>
            <p:spPr bwMode="auto">
              <a:xfrm flipH="1">
                <a:off x="184" y="265"/>
                <a:ext cx="300" cy="0"/>
              </a:xfrm>
              <a:prstGeom prst="line">
                <a:avLst/>
              </a:prstGeom>
              <a:noFill/>
              <a:ln w="38100" cmpd="sng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18000" tIns="36000" rIns="18000" bIns="36000" anchor="ctr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4" name="Oval 14"/>
              <p:cNvSpPr>
                <a:spLocks noChangeArrowheads="1"/>
              </p:cNvSpPr>
              <p:nvPr/>
            </p:nvSpPr>
            <p:spPr bwMode="auto">
              <a:xfrm>
                <a:off x="776" y="234"/>
                <a:ext cx="64" cy="62"/>
              </a:xfrm>
              <a:prstGeom prst="ellipse">
                <a:avLst/>
              </a:prstGeom>
              <a:noFill/>
              <a:ln w="38100" cmpd="sng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8000" tIns="36000" rIns="18000" bIns="36000" anchor="ctr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135" name="AutoShape 15"/>
              <p:cNvCxnSpPr>
                <a:cxnSpLocks noChangeShapeType="1"/>
                <a:stCxn id="132" idx="1"/>
                <a:endCxn id="145" idx="0"/>
              </p:cNvCxnSpPr>
              <p:nvPr/>
            </p:nvCxnSpPr>
            <p:spPr bwMode="auto">
              <a:xfrm>
                <a:off x="936" y="264"/>
                <a:ext cx="244" cy="1"/>
              </a:xfrm>
              <a:prstGeom prst="straightConnector1">
                <a:avLst/>
              </a:prstGeom>
              <a:noFill/>
              <a:ln w="38100" cmpd="sng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36" name="Line 16"/>
              <p:cNvSpPr>
                <a:spLocks noChangeShapeType="1"/>
              </p:cNvSpPr>
              <p:nvPr/>
            </p:nvSpPr>
            <p:spPr bwMode="auto">
              <a:xfrm>
                <a:off x="305" y="266"/>
                <a:ext cx="0" cy="339"/>
              </a:xfrm>
              <a:prstGeom prst="line">
                <a:avLst/>
              </a:prstGeom>
              <a:noFill/>
              <a:ln w="38100" cmpd="sng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8000" tIns="36000" rIns="18000" bIns="36000" anchor="ctr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137" name="AutoShape 17"/>
              <p:cNvCxnSpPr>
                <a:cxnSpLocks noChangeShapeType="1"/>
                <a:stCxn id="136" idx="1"/>
                <a:endCxn id="146" idx="0"/>
              </p:cNvCxnSpPr>
              <p:nvPr/>
            </p:nvCxnSpPr>
            <p:spPr bwMode="auto">
              <a:xfrm>
                <a:off x="305" y="605"/>
                <a:ext cx="875" cy="0"/>
              </a:xfrm>
              <a:prstGeom prst="straightConnector1">
                <a:avLst/>
              </a:prstGeom>
              <a:noFill/>
              <a:ln w="38100" cmpd="sng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40" name="Line 20"/>
              <p:cNvSpPr>
                <a:spLocks noChangeShapeType="1"/>
              </p:cNvSpPr>
              <p:nvPr/>
            </p:nvSpPr>
            <p:spPr bwMode="auto">
              <a:xfrm>
                <a:off x="254" y="807"/>
                <a:ext cx="768" cy="0"/>
              </a:xfrm>
              <a:prstGeom prst="line">
                <a:avLst/>
              </a:prstGeom>
              <a:noFill/>
              <a:ln w="38100" cmpd="sng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18000" tIns="36000" rIns="18000" bIns="36000" anchor="ctr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1" name="Line 21"/>
              <p:cNvSpPr>
                <a:spLocks noChangeShapeType="1"/>
              </p:cNvSpPr>
              <p:nvPr/>
            </p:nvSpPr>
            <p:spPr bwMode="auto">
              <a:xfrm flipV="1">
                <a:off x="1022" y="440"/>
                <a:ext cx="0" cy="378"/>
              </a:xfrm>
              <a:prstGeom prst="line">
                <a:avLst/>
              </a:prstGeom>
              <a:noFill/>
              <a:ln w="38100" cmpd="sng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18000" tIns="36000" rIns="18000" bIns="36000" anchor="ctr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2" name="Line 22"/>
              <p:cNvSpPr>
                <a:spLocks noChangeShapeType="1"/>
              </p:cNvSpPr>
              <p:nvPr/>
            </p:nvSpPr>
            <p:spPr bwMode="auto">
              <a:xfrm>
                <a:off x="1022" y="440"/>
                <a:ext cx="255" cy="0"/>
              </a:xfrm>
              <a:prstGeom prst="line">
                <a:avLst/>
              </a:prstGeom>
              <a:noFill/>
              <a:ln w="38100" cmpd="sng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18000" tIns="36000" rIns="18000" bIns="36000" anchor="ctr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" name="文本框 1"/>
            <p:cNvSpPr txBox="1"/>
            <p:nvPr/>
          </p:nvSpPr>
          <p:spPr>
            <a:xfrm>
              <a:off x="1690759" y="1366838"/>
              <a:ext cx="2222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/>
                <a:t>1</a:t>
              </a:r>
              <a:endParaRPr lang="zh-CN" altLang="en-US" sz="2400" b="1" dirty="0"/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464681" y="1434027"/>
              <a:ext cx="7035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/>
                <a:t>A</a:t>
              </a:r>
              <a:endParaRPr lang="zh-CN" altLang="en-US" sz="2400" b="1" dirty="0"/>
            </a:p>
          </p:txBody>
        </p:sp>
        <p:sp>
          <p:nvSpPr>
            <p:cNvPr id="212" name="文本框 211"/>
            <p:cNvSpPr txBox="1"/>
            <p:nvPr/>
          </p:nvSpPr>
          <p:spPr>
            <a:xfrm>
              <a:off x="372955" y="2457680"/>
              <a:ext cx="7035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/>
                <a:t>CP</a:t>
              </a:r>
              <a:endParaRPr lang="zh-CN" altLang="en-US" sz="2400" b="1" dirty="0"/>
            </a:p>
          </p:txBody>
        </p:sp>
        <p:sp>
          <p:nvSpPr>
            <p:cNvPr id="213" name="文本框 212"/>
            <p:cNvSpPr txBox="1"/>
            <p:nvPr/>
          </p:nvSpPr>
          <p:spPr>
            <a:xfrm>
              <a:off x="3693131" y="1869798"/>
              <a:ext cx="47383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/>
                <a:t>F</a:t>
              </a:r>
              <a:endParaRPr lang="zh-CN" altLang="en-US" sz="2800" b="1" dirty="0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5085852" y="2321506"/>
            <a:ext cx="3954903" cy="3421063"/>
            <a:chOff x="4099588" y="3436937"/>
            <a:chExt cx="3954903" cy="3421063"/>
          </a:xfrm>
        </p:grpSpPr>
        <p:grpSp>
          <p:nvGrpSpPr>
            <p:cNvPr id="173" name="Group 49"/>
            <p:cNvGrpSpPr/>
            <p:nvPr/>
          </p:nvGrpSpPr>
          <p:grpSpPr bwMode="auto">
            <a:xfrm>
              <a:off x="4099588" y="3436937"/>
              <a:ext cx="3954903" cy="3421063"/>
              <a:chOff x="0" y="0"/>
              <a:chExt cx="2362" cy="2155"/>
            </a:xfrm>
          </p:grpSpPr>
          <p:sp>
            <p:nvSpPr>
              <p:cNvPr id="174" name="Line 50"/>
              <p:cNvSpPr>
                <a:spLocks noChangeShapeType="1"/>
              </p:cNvSpPr>
              <p:nvPr/>
            </p:nvSpPr>
            <p:spPr bwMode="auto">
              <a:xfrm flipV="1">
                <a:off x="67" y="0"/>
                <a:ext cx="0" cy="2155"/>
              </a:xfrm>
              <a:prstGeom prst="line">
                <a:avLst/>
              </a:prstGeom>
              <a:noFill/>
              <a:ln w="19050" cmpd="sng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8000" tIns="36000" rIns="18000" bIns="36000" anchor="ctr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5" name="Line 51"/>
              <p:cNvSpPr>
                <a:spLocks noChangeShapeType="1"/>
              </p:cNvSpPr>
              <p:nvPr/>
            </p:nvSpPr>
            <p:spPr bwMode="auto">
              <a:xfrm>
                <a:off x="67" y="518"/>
                <a:ext cx="2101" cy="0"/>
              </a:xfrm>
              <a:prstGeom prst="line">
                <a:avLst/>
              </a:prstGeom>
              <a:noFill/>
              <a:ln w="19050" cmpd="sng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8000" tIns="36000" rIns="18000" bIns="36000" anchor="ctr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6" name="Line 52"/>
              <p:cNvSpPr>
                <a:spLocks noChangeShapeType="1"/>
              </p:cNvSpPr>
              <p:nvPr/>
            </p:nvSpPr>
            <p:spPr bwMode="auto">
              <a:xfrm>
                <a:off x="66" y="1333"/>
                <a:ext cx="2102" cy="0"/>
              </a:xfrm>
              <a:prstGeom prst="line">
                <a:avLst/>
              </a:prstGeom>
              <a:noFill/>
              <a:ln w="19050" cmpd="sng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8000" tIns="36000" rIns="18000" bIns="36000" anchor="ctr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7" name="Line 53"/>
              <p:cNvSpPr>
                <a:spLocks noChangeShapeType="1"/>
              </p:cNvSpPr>
              <p:nvPr/>
            </p:nvSpPr>
            <p:spPr bwMode="auto">
              <a:xfrm>
                <a:off x="67" y="910"/>
                <a:ext cx="2101" cy="0"/>
              </a:xfrm>
              <a:prstGeom prst="line">
                <a:avLst/>
              </a:prstGeom>
              <a:noFill/>
              <a:ln w="19050" cmpd="sng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8000" tIns="36000" rIns="18000" bIns="36000" anchor="ctr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8" name="Line 54"/>
              <p:cNvSpPr>
                <a:spLocks noChangeShapeType="1"/>
              </p:cNvSpPr>
              <p:nvPr/>
            </p:nvSpPr>
            <p:spPr bwMode="auto">
              <a:xfrm>
                <a:off x="73" y="463"/>
                <a:ext cx="566" cy="0"/>
              </a:xfrm>
              <a:prstGeom prst="line">
                <a:avLst/>
              </a:prstGeom>
              <a:noFill/>
              <a:ln w="38100" cmpd="sng">
                <a:solidFill>
                  <a:srgbClr val="0000FF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18000" tIns="36000" rIns="18000" bIns="36000" anchor="ctr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9" name="Line 55"/>
              <p:cNvSpPr>
                <a:spLocks noChangeShapeType="1"/>
              </p:cNvSpPr>
              <p:nvPr/>
            </p:nvSpPr>
            <p:spPr bwMode="auto">
              <a:xfrm>
                <a:off x="633" y="258"/>
                <a:ext cx="913" cy="15"/>
              </a:xfrm>
              <a:prstGeom prst="line">
                <a:avLst/>
              </a:prstGeom>
              <a:noFill/>
              <a:ln w="38100" cmpd="sng">
                <a:solidFill>
                  <a:srgbClr val="0000FF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18000" tIns="36000" rIns="18000" bIns="36000" anchor="ctr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0" name="Line 56"/>
              <p:cNvSpPr>
                <a:spLocks noChangeShapeType="1"/>
              </p:cNvSpPr>
              <p:nvPr/>
            </p:nvSpPr>
            <p:spPr bwMode="auto">
              <a:xfrm>
                <a:off x="1540" y="463"/>
                <a:ext cx="521" cy="0"/>
              </a:xfrm>
              <a:prstGeom prst="line">
                <a:avLst/>
              </a:prstGeom>
              <a:noFill/>
              <a:ln w="38100" cmpd="sng">
                <a:solidFill>
                  <a:srgbClr val="0000FF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18000" tIns="36000" rIns="18000" bIns="36000" anchor="ctr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5" name="Line 61"/>
              <p:cNvSpPr>
                <a:spLocks noChangeShapeType="1"/>
              </p:cNvSpPr>
              <p:nvPr/>
            </p:nvSpPr>
            <p:spPr bwMode="auto">
              <a:xfrm>
                <a:off x="1727" y="674"/>
                <a:ext cx="347" cy="8"/>
              </a:xfrm>
              <a:prstGeom prst="line">
                <a:avLst/>
              </a:prstGeom>
              <a:noFill/>
              <a:ln w="38100" cmpd="sng">
                <a:solidFill>
                  <a:srgbClr val="0000FF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18000" tIns="36000" rIns="18000" bIns="36000" anchor="ctr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6" name="Line 62"/>
              <p:cNvSpPr>
                <a:spLocks noChangeShapeType="1"/>
              </p:cNvSpPr>
              <p:nvPr/>
            </p:nvSpPr>
            <p:spPr bwMode="auto">
              <a:xfrm flipV="1">
                <a:off x="73" y="681"/>
                <a:ext cx="779" cy="1"/>
              </a:xfrm>
              <a:prstGeom prst="line">
                <a:avLst/>
              </a:prstGeom>
              <a:noFill/>
              <a:ln w="38100" cmpd="sng">
                <a:solidFill>
                  <a:srgbClr val="0000FF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18000" tIns="36000" rIns="18000" bIns="36000" anchor="ctr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7" name="Line 63"/>
              <p:cNvSpPr>
                <a:spLocks noChangeShapeType="1"/>
              </p:cNvSpPr>
              <p:nvPr/>
            </p:nvSpPr>
            <p:spPr bwMode="auto">
              <a:xfrm>
                <a:off x="839" y="851"/>
                <a:ext cx="901" cy="6"/>
              </a:xfrm>
              <a:prstGeom prst="line">
                <a:avLst/>
              </a:prstGeom>
              <a:noFill/>
              <a:ln w="38100" cmpd="sng">
                <a:solidFill>
                  <a:srgbClr val="0000FF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18000" tIns="36000" rIns="18000" bIns="36000" anchor="ctr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0" name="Line 66"/>
              <p:cNvSpPr>
                <a:spLocks noChangeShapeType="1"/>
              </p:cNvSpPr>
              <p:nvPr/>
            </p:nvSpPr>
            <p:spPr bwMode="auto">
              <a:xfrm flipH="1">
                <a:off x="67" y="1278"/>
                <a:ext cx="785" cy="0"/>
              </a:xfrm>
              <a:prstGeom prst="line">
                <a:avLst/>
              </a:prstGeom>
              <a:noFill/>
              <a:ln w="38100" cap="rnd" cmpd="sng">
                <a:solidFill>
                  <a:srgbClr val="0000FF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18000" tIns="36000" rIns="18000" bIns="36000" anchor="ctr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1" name="Line 67"/>
              <p:cNvSpPr>
                <a:spLocks noChangeShapeType="1"/>
              </p:cNvSpPr>
              <p:nvPr/>
            </p:nvSpPr>
            <p:spPr bwMode="auto">
              <a:xfrm>
                <a:off x="1053" y="1276"/>
                <a:ext cx="1070" cy="2"/>
              </a:xfrm>
              <a:prstGeom prst="line">
                <a:avLst/>
              </a:prstGeom>
              <a:noFill/>
              <a:ln w="38100" cap="rnd" cmpd="sng">
                <a:solidFill>
                  <a:srgbClr val="0000FF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18000" tIns="36000" rIns="18000" bIns="36000" anchor="ctr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2" name="Line 68"/>
              <p:cNvSpPr>
                <a:spLocks noChangeShapeType="1"/>
              </p:cNvSpPr>
              <p:nvPr/>
            </p:nvSpPr>
            <p:spPr bwMode="auto">
              <a:xfrm flipV="1">
                <a:off x="910" y="1099"/>
                <a:ext cx="147" cy="6"/>
              </a:xfrm>
              <a:prstGeom prst="line">
                <a:avLst/>
              </a:prstGeom>
              <a:noFill/>
              <a:ln w="38100" cap="rnd" cmpd="sng">
                <a:solidFill>
                  <a:srgbClr val="0000FF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18000" tIns="36000" rIns="18000" bIns="36000" anchor="ctr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193" name="Object 69"/>
              <p:cNvGraphicFramePr>
                <a:graphicFrameLocks noChangeAspect="1"/>
              </p:cNvGraphicFramePr>
              <p:nvPr/>
            </p:nvGraphicFramePr>
            <p:xfrm>
              <a:off x="2081" y="1817"/>
              <a:ext cx="258" cy="25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" name="Equation" r:id="rId1" imgW="3962400" imgH="3962400" progId="Equation.DSMT4">
                      <p:embed/>
                    </p:oleObj>
                  </mc:Choice>
                  <mc:Fallback>
                    <p:oleObj name="Equation" r:id="rId1" imgW="3962400" imgH="3962400" progId="Equation.DSMT4">
                      <p:embed/>
                      <p:pic>
                        <p:nvPicPr>
                          <p:cNvPr id="0" name="图片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81" y="1817"/>
                            <a:ext cx="258" cy="25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4" name="Object 70"/>
              <p:cNvGraphicFramePr>
                <a:graphicFrameLocks noChangeAspect="1"/>
              </p:cNvGraphicFramePr>
              <p:nvPr/>
            </p:nvGraphicFramePr>
            <p:xfrm>
              <a:off x="2068" y="185"/>
              <a:ext cx="271" cy="29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" name="Equation" r:id="rId3" imgW="3657600" imgH="3962400" progId="Equation.DSMT4">
                      <p:embed/>
                    </p:oleObj>
                  </mc:Choice>
                  <mc:Fallback>
                    <p:oleObj name="Equation" r:id="rId3" imgW="3657600" imgH="3962400" progId="Equation.DSMT4">
                      <p:embed/>
                      <p:pic>
                        <p:nvPicPr>
                          <p:cNvPr id="0" name="图片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68" y="185"/>
                            <a:ext cx="271" cy="29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5" name="Object 71"/>
              <p:cNvGraphicFramePr>
                <a:graphicFrameLocks noChangeAspect="1"/>
              </p:cNvGraphicFramePr>
              <p:nvPr/>
            </p:nvGraphicFramePr>
            <p:xfrm>
              <a:off x="2081" y="527"/>
              <a:ext cx="281" cy="3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" name="Equation" r:id="rId5" imgW="3657600" imgH="4876800" progId="Equation.DSMT4">
                      <p:embed/>
                    </p:oleObj>
                  </mc:Choice>
                  <mc:Fallback>
                    <p:oleObj name="Equation" r:id="rId5" imgW="3657600" imgH="4876800" progId="Equation.DSMT4">
                      <p:embed/>
                      <p:pic>
                        <p:nvPicPr>
                          <p:cNvPr id="0" name="图片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81" y="527"/>
                            <a:ext cx="281" cy="37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96" name="Line 72"/>
              <p:cNvSpPr>
                <a:spLocks noChangeShapeType="1"/>
              </p:cNvSpPr>
              <p:nvPr/>
            </p:nvSpPr>
            <p:spPr bwMode="auto">
              <a:xfrm>
                <a:off x="639" y="40"/>
                <a:ext cx="0" cy="1567"/>
              </a:xfrm>
              <a:prstGeom prst="line">
                <a:avLst/>
              </a:prstGeom>
              <a:noFill/>
              <a:ln w="19050" cmpd="sng">
                <a:solidFill>
                  <a:srgbClr val="FF0000"/>
                </a:solidFill>
                <a:prstDash val="lg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18000" tIns="36000" rIns="18000" bIns="36000" anchor="ctr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7" name="Line 73"/>
              <p:cNvSpPr>
                <a:spLocks noChangeShapeType="1"/>
              </p:cNvSpPr>
              <p:nvPr/>
            </p:nvSpPr>
            <p:spPr bwMode="auto">
              <a:xfrm>
                <a:off x="846" y="40"/>
                <a:ext cx="0" cy="1567"/>
              </a:xfrm>
              <a:prstGeom prst="line">
                <a:avLst/>
              </a:prstGeom>
              <a:noFill/>
              <a:ln w="19050" cmpd="sng">
                <a:solidFill>
                  <a:srgbClr val="FF0000"/>
                </a:solidFill>
                <a:prstDash val="lg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18000" tIns="36000" rIns="18000" bIns="36000" anchor="ctr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8" name="Line 74"/>
              <p:cNvSpPr>
                <a:spLocks noChangeShapeType="1"/>
              </p:cNvSpPr>
              <p:nvPr/>
            </p:nvSpPr>
            <p:spPr bwMode="auto">
              <a:xfrm>
                <a:off x="1055" y="46"/>
                <a:ext cx="0" cy="1567"/>
              </a:xfrm>
              <a:prstGeom prst="line">
                <a:avLst/>
              </a:prstGeom>
              <a:noFill/>
              <a:ln w="19050" cmpd="sng">
                <a:solidFill>
                  <a:srgbClr val="FF0000"/>
                </a:solidFill>
                <a:prstDash val="lg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18000" tIns="36000" rIns="18000" bIns="36000" anchor="ctr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9" name="Line 75"/>
              <p:cNvSpPr>
                <a:spLocks noChangeShapeType="1"/>
              </p:cNvSpPr>
              <p:nvPr/>
            </p:nvSpPr>
            <p:spPr bwMode="auto">
              <a:xfrm>
                <a:off x="78" y="1755"/>
                <a:ext cx="2102" cy="0"/>
              </a:xfrm>
              <a:prstGeom prst="line">
                <a:avLst/>
              </a:prstGeom>
              <a:noFill/>
              <a:ln w="19050" cmpd="sng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8000" tIns="36000" rIns="18000" bIns="36000" anchor="ctr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2" name="Line 78"/>
              <p:cNvSpPr>
                <a:spLocks noChangeShapeType="1"/>
              </p:cNvSpPr>
              <p:nvPr/>
            </p:nvSpPr>
            <p:spPr bwMode="auto">
              <a:xfrm flipH="1" flipV="1">
                <a:off x="401" y="1708"/>
                <a:ext cx="763" cy="0"/>
              </a:xfrm>
              <a:prstGeom prst="line">
                <a:avLst/>
              </a:prstGeom>
              <a:noFill/>
              <a:ln w="38100" cmpd="sng">
                <a:solidFill>
                  <a:srgbClr val="0000FF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18000" tIns="36000" rIns="18000" bIns="36000" anchor="ctr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3" name="Line 79"/>
              <p:cNvSpPr>
                <a:spLocks noChangeShapeType="1"/>
              </p:cNvSpPr>
              <p:nvPr/>
            </p:nvSpPr>
            <p:spPr bwMode="auto">
              <a:xfrm flipV="1">
                <a:off x="1381" y="1711"/>
                <a:ext cx="724" cy="5"/>
              </a:xfrm>
              <a:prstGeom prst="line">
                <a:avLst/>
              </a:prstGeom>
              <a:noFill/>
              <a:ln w="38100" cmpd="sng">
                <a:solidFill>
                  <a:srgbClr val="0000FF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18000" tIns="36000" rIns="18000" bIns="36000" anchor="ctr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204" name="Object 80"/>
              <p:cNvGraphicFramePr>
                <a:graphicFrameLocks noChangeAspect="1"/>
              </p:cNvGraphicFramePr>
              <p:nvPr/>
            </p:nvGraphicFramePr>
            <p:xfrm>
              <a:off x="2022" y="1442"/>
              <a:ext cx="281" cy="2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" name="Equation" r:id="rId7" imgW="5791200" imgH="4267200" progId="Equation.DSMT4">
                      <p:embed/>
                    </p:oleObj>
                  </mc:Choice>
                  <mc:Fallback>
                    <p:oleObj name="Equation" r:id="rId7" imgW="5791200" imgH="4267200" progId="Equation.DSMT4">
                      <p:embed/>
                      <p:pic>
                        <p:nvPicPr>
                          <p:cNvPr id="0" name="图片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22" y="1442"/>
                            <a:ext cx="281" cy="2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5" name="Line 81"/>
              <p:cNvSpPr>
                <a:spLocks noChangeShapeType="1"/>
              </p:cNvSpPr>
              <p:nvPr/>
            </p:nvSpPr>
            <p:spPr bwMode="auto">
              <a:xfrm>
                <a:off x="1155" y="1534"/>
                <a:ext cx="226" cy="0"/>
              </a:xfrm>
              <a:prstGeom prst="line">
                <a:avLst/>
              </a:prstGeom>
              <a:noFill/>
              <a:ln w="38100" cmpd="sng">
                <a:solidFill>
                  <a:srgbClr val="0000FF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18000" tIns="36000" rIns="18000" bIns="36000" anchor="ctr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" name="Line 82"/>
              <p:cNvSpPr>
                <a:spLocks noChangeShapeType="1"/>
              </p:cNvSpPr>
              <p:nvPr/>
            </p:nvSpPr>
            <p:spPr bwMode="auto">
              <a:xfrm>
                <a:off x="0" y="2100"/>
                <a:ext cx="2191" cy="0"/>
              </a:xfrm>
              <a:prstGeom prst="line">
                <a:avLst/>
              </a:prstGeom>
              <a:noFill/>
              <a:ln w="19050" cmpd="sng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8000" tIns="36000" rIns="18000" bIns="36000" anchor="ctr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" name="Line 83"/>
              <p:cNvSpPr>
                <a:spLocks noChangeShapeType="1"/>
              </p:cNvSpPr>
              <p:nvPr/>
            </p:nvSpPr>
            <p:spPr bwMode="auto">
              <a:xfrm>
                <a:off x="67" y="2031"/>
                <a:ext cx="2011" cy="0"/>
              </a:xfrm>
              <a:prstGeom prst="line">
                <a:avLst/>
              </a:prstGeom>
              <a:noFill/>
              <a:ln w="38100" cmpd="sng">
                <a:solidFill>
                  <a:srgbClr val="0000FF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18000" tIns="36000" rIns="18000" bIns="36000" anchor="ctr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" name="Line 86"/>
              <p:cNvSpPr>
                <a:spLocks noChangeShapeType="1"/>
              </p:cNvSpPr>
              <p:nvPr/>
            </p:nvSpPr>
            <p:spPr bwMode="auto">
              <a:xfrm flipV="1">
                <a:off x="167" y="1536"/>
                <a:ext cx="234" cy="1"/>
              </a:xfrm>
              <a:prstGeom prst="line">
                <a:avLst/>
              </a:prstGeom>
              <a:noFill/>
              <a:ln w="38100" cmpd="sng">
                <a:solidFill>
                  <a:srgbClr val="0000FF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18000" tIns="36000" rIns="18000" bIns="36000" anchor="ctr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1" name="Line 87"/>
              <p:cNvSpPr>
                <a:spLocks noChangeShapeType="1"/>
              </p:cNvSpPr>
              <p:nvPr/>
            </p:nvSpPr>
            <p:spPr bwMode="auto">
              <a:xfrm flipH="1" flipV="1">
                <a:off x="70" y="1711"/>
                <a:ext cx="101" cy="1"/>
              </a:xfrm>
              <a:prstGeom prst="line">
                <a:avLst/>
              </a:prstGeom>
              <a:noFill/>
              <a:ln w="38100" cmpd="sng">
                <a:solidFill>
                  <a:srgbClr val="0000FF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18000" tIns="36000" rIns="18000" bIns="36000" anchor="ctr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8" name="直接连接符 7"/>
            <p:cNvCxnSpPr/>
            <p:nvPr/>
          </p:nvCxnSpPr>
          <p:spPr>
            <a:xfrm>
              <a:off x="5169521" y="3854450"/>
              <a:ext cx="0" cy="317500"/>
            </a:xfrm>
            <a:prstGeom prst="line">
              <a:avLst/>
            </a:prstGeom>
            <a:ln w="3492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>
              <a:endCxn id="180" idx="0"/>
            </p:cNvCxnSpPr>
            <p:nvPr/>
          </p:nvCxnSpPr>
          <p:spPr>
            <a:xfrm flipH="1">
              <a:off x="6678145" y="3844888"/>
              <a:ext cx="10046" cy="327062"/>
            </a:xfrm>
            <a:prstGeom prst="line">
              <a:avLst/>
            </a:prstGeom>
            <a:ln w="317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连接符 219"/>
            <p:cNvCxnSpPr/>
            <p:nvPr/>
          </p:nvCxnSpPr>
          <p:spPr>
            <a:xfrm>
              <a:off x="7001967" y="4484648"/>
              <a:ext cx="0" cy="317500"/>
            </a:xfrm>
            <a:prstGeom prst="line">
              <a:avLst/>
            </a:prstGeom>
            <a:ln w="3492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直接连接符 220"/>
            <p:cNvCxnSpPr/>
            <p:nvPr/>
          </p:nvCxnSpPr>
          <p:spPr>
            <a:xfrm>
              <a:off x="5516120" y="4506912"/>
              <a:ext cx="0" cy="317500"/>
            </a:xfrm>
            <a:prstGeom prst="line">
              <a:avLst/>
            </a:prstGeom>
            <a:ln w="3492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直接连接符 221"/>
            <p:cNvCxnSpPr/>
            <p:nvPr/>
          </p:nvCxnSpPr>
          <p:spPr>
            <a:xfrm>
              <a:off x="5530782" y="5171549"/>
              <a:ext cx="0" cy="317500"/>
            </a:xfrm>
            <a:prstGeom prst="line">
              <a:avLst/>
            </a:prstGeom>
            <a:ln w="34925">
              <a:solidFill>
                <a:srgbClr val="0000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直接连接符 222"/>
            <p:cNvCxnSpPr/>
            <p:nvPr/>
          </p:nvCxnSpPr>
          <p:spPr>
            <a:xfrm>
              <a:off x="5866067" y="5171549"/>
              <a:ext cx="0" cy="317500"/>
            </a:xfrm>
            <a:prstGeom prst="line">
              <a:avLst/>
            </a:prstGeom>
            <a:ln w="34925">
              <a:solidFill>
                <a:srgbClr val="0000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直接连接符 223"/>
            <p:cNvCxnSpPr/>
            <p:nvPr/>
          </p:nvCxnSpPr>
          <p:spPr>
            <a:xfrm>
              <a:off x="4385645" y="5838825"/>
              <a:ext cx="0" cy="317500"/>
            </a:xfrm>
            <a:prstGeom prst="line">
              <a:avLst/>
            </a:prstGeom>
            <a:ln w="3492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直接连接符 224"/>
            <p:cNvCxnSpPr/>
            <p:nvPr/>
          </p:nvCxnSpPr>
          <p:spPr>
            <a:xfrm>
              <a:off x="4770656" y="5854088"/>
              <a:ext cx="0" cy="317500"/>
            </a:xfrm>
            <a:prstGeom prst="line">
              <a:avLst/>
            </a:prstGeom>
            <a:ln w="3492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直接连接符 225"/>
            <p:cNvCxnSpPr/>
            <p:nvPr/>
          </p:nvCxnSpPr>
          <p:spPr>
            <a:xfrm>
              <a:off x="6048885" y="5848778"/>
              <a:ext cx="0" cy="317500"/>
            </a:xfrm>
            <a:prstGeom prst="line">
              <a:avLst/>
            </a:prstGeom>
            <a:ln w="3492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直接连接符 226"/>
            <p:cNvCxnSpPr/>
            <p:nvPr/>
          </p:nvCxnSpPr>
          <p:spPr>
            <a:xfrm>
              <a:off x="6415701" y="5845337"/>
              <a:ext cx="0" cy="317500"/>
            </a:xfrm>
            <a:prstGeom prst="line">
              <a:avLst/>
            </a:prstGeom>
            <a:ln w="3492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/>
        </p:nvGrpSpPr>
        <p:grpSpPr>
          <a:xfrm>
            <a:off x="316733" y="4135263"/>
            <a:ext cx="4476750" cy="1955215"/>
            <a:chOff x="4500300" y="1518134"/>
            <a:chExt cx="4476750" cy="1955215"/>
          </a:xfrm>
        </p:grpSpPr>
        <p:sp>
          <p:nvSpPr>
            <p:cNvPr id="229" name="矩形 421904"/>
            <p:cNvSpPr>
              <a:spLocks noChangeArrowheads="1"/>
            </p:cNvSpPr>
            <p:nvPr/>
          </p:nvSpPr>
          <p:spPr bwMode="auto">
            <a:xfrm>
              <a:off x="4500300" y="1518134"/>
              <a:ext cx="4476750" cy="1955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zh-CN" b="1" dirty="0">
                  <a:latin typeface="楷体_GB2312" pitchFamily="49" charset="-122"/>
                  <a:ea typeface="楷体_GB2312" pitchFamily="49" charset="-122"/>
                </a:rPr>
                <a:t>(1) </a:t>
              </a:r>
              <a:r>
                <a:rPr lang="zh-CN" altLang="en-US" b="1" dirty="0">
                  <a:latin typeface="楷体_GB2312" pitchFamily="49" charset="-122"/>
                  <a:ea typeface="楷体_GB2312" pitchFamily="49" charset="-122"/>
                </a:rPr>
                <a:t>先使</a:t>
              </a:r>
              <a:r>
                <a:rPr lang="en-US" altLang="zh-CN" b="1" dirty="0">
                  <a:latin typeface="楷体_GB2312" pitchFamily="49" charset="-122"/>
                  <a:ea typeface="楷体_GB2312" pitchFamily="49" charset="-122"/>
                </a:rPr>
                <a:t>CP</a:t>
              </a:r>
              <a:r>
                <a:rPr lang="zh-CN" altLang="en-US" b="1" dirty="0">
                  <a:latin typeface="楷体_GB2312" pitchFamily="49" charset="-122"/>
                  <a:ea typeface="楷体_GB2312" pitchFamily="49" charset="-122"/>
                </a:rPr>
                <a:t>＝</a:t>
              </a:r>
              <a:r>
                <a:rPr lang="en-US" altLang="zh-CN" b="1" dirty="0">
                  <a:latin typeface="楷体_GB2312" pitchFamily="49" charset="-122"/>
                  <a:ea typeface="楷体_GB2312" pitchFamily="49" charset="-122"/>
                </a:rPr>
                <a:t>0</a:t>
              </a:r>
              <a:r>
                <a:rPr lang="zh-CN" altLang="en-US" b="1" dirty="0">
                  <a:latin typeface="楷体_GB2312" pitchFamily="49" charset="-122"/>
                  <a:ea typeface="楷体_GB2312" pitchFamily="49" charset="-122"/>
                </a:rPr>
                <a:t>，关闭与门</a:t>
              </a:r>
              <a:endParaRPr lang="zh-CN" altLang="en-US" b="1" dirty="0">
                <a:latin typeface="楷体_GB2312" pitchFamily="49" charset="-122"/>
                <a:ea typeface="楷体_GB2312" pitchFamily="49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b="1" dirty="0">
                  <a:latin typeface="楷体_GB2312" pitchFamily="49" charset="-122"/>
                  <a:ea typeface="楷体_GB2312" pitchFamily="49" charset="-122"/>
                </a:rPr>
                <a:t>(2) </a:t>
              </a:r>
              <a:r>
                <a:rPr lang="zh-CN" altLang="en-US" b="1" dirty="0">
                  <a:latin typeface="楷体_GB2312" pitchFamily="49" charset="-122"/>
                  <a:ea typeface="楷体_GB2312" pitchFamily="49" charset="-122"/>
                </a:rPr>
                <a:t>等</a:t>
              </a:r>
              <a:r>
                <a:rPr lang="en-US" altLang="zh-CN" b="1" dirty="0">
                  <a:latin typeface="楷体_GB2312" pitchFamily="49" charset="-122"/>
                  <a:ea typeface="楷体_GB2312" pitchFamily="49" charset="-122"/>
                </a:rPr>
                <a:t>A</a:t>
              </a:r>
              <a:r>
                <a:rPr lang="zh-CN" altLang="en-US" b="1" dirty="0">
                  <a:latin typeface="楷体_GB2312" pitchFamily="49" charset="-122"/>
                  <a:ea typeface="楷体_GB2312" pitchFamily="49" charset="-122"/>
                </a:rPr>
                <a:t>、</a:t>
              </a:r>
              <a:r>
                <a:rPr lang="en-US" altLang="zh-CN" b="1" dirty="0">
                  <a:latin typeface="楷体_GB2312" pitchFamily="49" charset="-122"/>
                  <a:ea typeface="楷体_GB2312" pitchFamily="49" charset="-122"/>
                </a:rPr>
                <a:t>A</a:t>
              </a:r>
              <a:r>
                <a:rPr lang="zh-CN" altLang="en-US" b="1" dirty="0">
                  <a:latin typeface="楷体_GB2312" pitchFamily="49" charset="-122"/>
                  <a:ea typeface="楷体_GB2312" pitchFamily="49" charset="-122"/>
                </a:rPr>
                <a:t>信号都来到后，</a:t>
              </a:r>
              <a:endParaRPr lang="zh-CN" altLang="en-US" b="1" dirty="0">
                <a:latin typeface="楷体_GB2312" pitchFamily="49" charset="-122"/>
                <a:ea typeface="楷体_GB2312" pitchFamily="49" charset="-122"/>
              </a:endParaRPr>
            </a:p>
            <a:p>
              <a:pPr eaLnBrk="1" hangingPunct="1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b="1" dirty="0">
                  <a:latin typeface="楷体_GB2312" pitchFamily="49" charset="-122"/>
                  <a:ea typeface="楷体_GB2312" pitchFamily="49" charset="-122"/>
                </a:rPr>
                <a:t>    让</a:t>
              </a:r>
              <a:r>
                <a:rPr lang="en-US" altLang="zh-CN" b="1" dirty="0">
                  <a:latin typeface="楷体_GB2312" pitchFamily="49" charset="-122"/>
                  <a:ea typeface="楷体_GB2312" pitchFamily="49" charset="-122"/>
                </a:rPr>
                <a:t>CP</a:t>
              </a:r>
              <a:r>
                <a:rPr lang="zh-CN" altLang="en-US" b="1" dirty="0">
                  <a:latin typeface="楷体_GB2312" pitchFamily="49" charset="-122"/>
                  <a:ea typeface="楷体_GB2312" pitchFamily="49" charset="-122"/>
                </a:rPr>
                <a:t>＝</a:t>
              </a:r>
              <a:r>
                <a:rPr lang="en-US" altLang="zh-CN" b="1" dirty="0">
                  <a:latin typeface="楷体_GB2312" pitchFamily="49" charset="-122"/>
                  <a:ea typeface="楷体_GB2312" pitchFamily="49" charset="-122"/>
                </a:rPr>
                <a:t>1,</a:t>
              </a:r>
              <a:r>
                <a:rPr lang="zh-CN" altLang="en-US" b="1" dirty="0">
                  <a:latin typeface="楷体_GB2312" pitchFamily="49" charset="-122"/>
                  <a:ea typeface="楷体_GB2312" pitchFamily="49" charset="-122"/>
                </a:rPr>
                <a:t>得到可靠的</a:t>
              </a:r>
              <a:r>
                <a:rPr lang="en-US" altLang="zh-CN" b="1" dirty="0">
                  <a:latin typeface="楷体_GB2312" pitchFamily="49" charset="-122"/>
                  <a:ea typeface="楷体_GB2312" pitchFamily="49" charset="-122"/>
                </a:rPr>
                <a:t>F </a:t>
              </a:r>
              <a:endParaRPr lang="en-US" altLang="zh-CN" b="1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31" name="直接连接符 421905"/>
            <p:cNvSpPr>
              <a:spLocks noChangeShapeType="1"/>
            </p:cNvSpPr>
            <p:nvPr/>
          </p:nvSpPr>
          <p:spPr bwMode="auto">
            <a:xfrm flipV="1">
              <a:off x="6204990" y="2341489"/>
              <a:ext cx="201854" cy="10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74" name="直接连接符 73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淘宝网chenying0907出品 6"/>
          <p:cNvSpPr txBox="1"/>
          <p:nvPr/>
        </p:nvSpPr>
        <p:spPr>
          <a:xfrm>
            <a:off x="1528823" y="0"/>
            <a:ext cx="5200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4.5.4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险象的消除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6" name="图片 7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" name="Object 5"/>
          <p:cNvGraphicFramePr>
            <a:graphicFrameLocks noChangeAspect="1"/>
          </p:cNvGraphicFramePr>
          <p:nvPr/>
        </p:nvGraphicFramePr>
        <p:xfrm>
          <a:off x="734330" y="5386135"/>
          <a:ext cx="2993363" cy="5422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28651200" imgH="5181600" progId="Equation.DSMT4">
                  <p:embed/>
                </p:oleObj>
              </mc:Choice>
              <mc:Fallback>
                <p:oleObj name="Equation" r:id="rId1" imgW="28651200" imgH="51816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4330" y="5386135"/>
                        <a:ext cx="2993363" cy="5422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4" name="Group 6"/>
          <p:cNvGrpSpPr/>
          <p:nvPr/>
        </p:nvGrpSpPr>
        <p:grpSpPr bwMode="auto">
          <a:xfrm>
            <a:off x="241997" y="2400791"/>
            <a:ext cx="3888381" cy="2463734"/>
            <a:chOff x="215" y="912"/>
            <a:chExt cx="1705" cy="1008"/>
          </a:xfrm>
        </p:grpSpPr>
        <p:grpSp>
          <p:nvGrpSpPr>
            <p:cNvPr id="75" name="Group 7"/>
            <p:cNvGrpSpPr/>
            <p:nvPr/>
          </p:nvGrpSpPr>
          <p:grpSpPr bwMode="auto">
            <a:xfrm>
              <a:off x="327" y="1091"/>
              <a:ext cx="1593" cy="829"/>
              <a:chOff x="336" y="2976"/>
              <a:chExt cx="1728" cy="912"/>
            </a:xfrm>
          </p:grpSpPr>
          <p:sp>
            <p:nvSpPr>
              <p:cNvPr id="92" name="Line 8"/>
              <p:cNvSpPr>
                <a:spLocks noChangeShapeType="1"/>
              </p:cNvSpPr>
              <p:nvPr/>
            </p:nvSpPr>
            <p:spPr bwMode="auto">
              <a:xfrm>
                <a:off x="528" y="3552"/>
                <a:ext cx="15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93" name="Group 9"/>
              <p:cNvGrpSpPr/>
              <p:nvPr/>
            </p:nvGrpSpPr>
            <p:grpSpPr bwMode="auto">
              <a:xfrm>
                <a:off x="336" y="2976"/>
                <a:ext cx="1728" cy="912"/>
                <a:chOff x="336" y="2976"/>
                <a:chExt cx="1728" cy="912"/>
              </a:xfrm>
            </p:grpSpPr>
            <p:sp>
              <p:nvSpPr>
                <p:cNvPr id="94" name="Rectangle 10"/>
                <p:cNvSpPr>
                  <a:spLocks noChangeArrowheads="1"/>
                </p:cNvSpPr>
                <p:nvPr/>
              </p:nvSpPr>
              <p:spPr bwMode="auto">
                <a:xfrm>
                  <a:off x="528" y="3216"/>
                  <a:ext cx="1536" cy="67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120000"/>
                    </a:lnSpc>
                    <a:spcAft>
                      <a:spcPct val="2000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120000"/>
                    </a:lnSpc>
                    <a:spcAft>
                      <a:spcPct val="20000"/>
                    </a:spcAft>
                    <a:buClr>
                      <a:srgbClr val="006600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120000"/>
                    </a:lnSpc>
                    <a:spcAft>
                      <a:spcPct val="20000"/>
                    </a:spcAft>
                    <a:buClr>
                      <a:srgbClr val="996600"/>
                    </a:buClr>
                    <a:buSzPct val="50000"/>
                    <a:buFont typeface="Wingdings" panose="05000000000000000000" pitchFamily="2" charset="2"/>
                    <a:buChar char="n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20000"/>
                    </a:lnSpc>
                    <a:spcAft>
                      <a:spcPct val="20000"/>
                    </a:spcAft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20000"/>
                    </a:lnSpc>
                    <a:spcAft>
                      <a:spcPct val="2000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2000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2000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2000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2000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en-US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95" name="Line 11"/>
                <p:cNvSpPr>
                  <a:spLocks noChangeShapeType="1"/>
                </p:cNvSpPr>
                <p:nvPr/>
              </p:nvSpPr>
              <p:spPr bwMode="auto">
                <a:xfrm>
                  <a:off x="912" y="3216"/>
                  <a:ext cx="0" cy="67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6" name="Line 12"/>
                <p:cNvSpPr>
                  <a:spLocks noChangeShapeType="1"/>
                </p:cNvSpPr>
                <p:nvPr/>
              </p:nvSpPr>
              <p:spPr bwMode="auto">
                <a:xfrm>
                  <a:off x="1296" y="3216"/>
                  <a:ext cx="0" cy="67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7" name="Line 13"/>
                <p:cNvSpPr>
                  <a:spLocks noChangeShapeType="1"/>
                </p:cNvSpPr>
                <p:nvPr/>
              </p:nvSpPr>
              <p:spPr bwMode="auto">
                <a:xfrm>
                  <a:off x="1680" y="3216"/>
                  <a:ext cx="0" cy="67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8" name="Line 14"/>
                <p:cNvSpPr>
                  <a:spLocks noChangeShapeType="1"/>
                </p:cNvSpPr>
                <p:nvPr/>
              </p:nvSpPr>
              <p:spPr bwMode="auto">
                <a:xfrm>
                  <a:off x="336" y="2976"/>
                  <a:ext cx="192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76" name="Text Box 15"/>
            <p:cNvSpPr txBox="1">
              <a:spLocks noChangeArrowheads="1"/>
            </p:cNvSpPr>
            <p:nvPr/>
          </p:nvSpPr>
          <p:spPr bwMode="auto">
            <a:xfrm>
              <a:off x="215" y="1121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120000"/>
                </a:lnSpc>
                <a:spcAft>
                  <a:spcPct val="20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Aft>
                  <a:spcPct val="20000"/>
                </a:spcAft>
                <a:buClr>
                  <a:srgbClr val="006600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20000"/>
                </a:lnSpc>
                <a:spcAft>
                  <a:spcPct val="20000"/>
                </a:spcAft>
                <a:buClr>
                  <a:srgbClr val="996600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b="1">
                  <a:solidFill>
                    <a:schemeClr val="tx2"/>
                  </a:solidFill>
                </a:rPr>
                <a:t>C</a:t>
              </a:r>
              <a:endParaRPr lang="en-US" altLang="zh-CN" sz="3600" b="1">
                <a:solidFill>
                  <a:schemeClr val="tx2"/>
                </a:solidFill>
              </a:endParaRPr>
            </a:p>
          </p:txBody>
        </p:sp>
        <p:sp>
          <p:nvSpPr>
            <p:cNvPr id="77" name="Text Box 16"/>
            <p:cNvSpPr txBox="1">
              <a:spLocks noChangeArrowheads="1"/>
            </p:cNvSpPr>
            <p:nvPr/>
          </p:nvSpPr>
          <p:spPr bwMode="auto">
            <a:xfrm>
              <a:off x="312" y="912"/>
              <a:ext cx="38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120000"/>
                </a:lnSpc>
                <a:spcAft>
                  <a:spcPct val="20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Aft>
                  <a:spcPct val="20000"/>
                </a:spcAft>
                <a:buClr>
                  <a:srgbClr val="006600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20000"/>
                </a:lnSpc>
                <a:spcAft>
                  <a:spcPct val="20000"/>
                </a:spcAft>
                <a:buClr>
                  <a:srgbClr val="996600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b="1">
                  <a:solidFill>
                    <a:schemeClr val="tx2"/>
                  </a:solidFill>
                </a:rPr>
                <a:t>AB</a:t>
              </a:r>
              <a:endParaRPr lang="en-US" altLang="zh-CN" sz="3600" b="1">
                <a:solidFill>
                  <a:schemeClr val="tx2"/>
                </a:solidFill>
              </a:endParaRPr>
            </a:p>
          </p:txBody>
        </p:sp>
        <p:sp>
          <p:nvSpPr>
            <p:cNvPr id="78" name="Text Box 17"/>
            <p:cNvSpPr txBox="1">
              <a:spLocks noChangeArrowheads="1"/>
            </p:cNvSpPr>
            <p:nvPr/>
          </p:nvSpPr>
          <p:spPr bwMode="auto">
            <a:xfrm>
              <a:off x="316" y="129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120000"/>
                </a:lnSpc>
                <a:spcAft>
                  <a:spcPct val="20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Aft>
                  <a:spcPct val="20000"/>
                </a:spcAft>
                <a:buClr>
                  <a:srgbClr val="006600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20000"/>
                </a:lnSpc>
                <a:spcAft>
                  <a:spcPct val="20000"/>
                </a:spcAft>
                <a:buClr>
                  <a:srgbClr val="996600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b="1">
                  <a:solidFill>
                    <a:schemeClr val="tx2"/>
                  </a:solidFill>
                </a:rPr>
                <a:t>0</a:t>
              </a:r>
              <a:endParaRPr lang="en-US" altLang="zh-CN" sz="3600" b="1">
                <a:solidFill>
                  <a:schemeClr val="tx2"/>
                </a:solidFill>
              </a:endParaRPr>
            </a:p>
          </p:txBody>
        </p:sp>
        <p:sp>
          <p:nvSpPr>
            <p:cNvPr id="79" name="Text Box 18"/>
            <p:cNvSpPr txBox="1">
              <a:spLocks noChangeArrowheads="1"/>
            </p:cNvSpPr>
            <p:nvPr/>
          </p:nvSpPr>
          <p:spPr bwMode="auto">
            <a:xfrm>
              <a:off x="316" y="160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120000"/>
                </a:lnSpc>
                <a:spcAft>
                  <a:spcPct val="20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Aft>
                  <a:spcPct val="20000"/>
                </a:spcAft>
                <a:buClr>
                  <a:srgbClr val="006600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20000"/>
                </a:lnSpc>
                <a:spcAft>
                  <a:spcPct val="20000"/>
                </a:spcAft>
                <a:buClr>
                  <a:srgbClr val="996600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b="1">
                  <a:solidFill>
                    <a:schemeClr val="tx2"/>
                  </a:solidFill>
                </a:rPr>
                <a:t>1</a:t>
              </a:r>
              <a:endParaRPr lang="en-US" altLang="zh-CN" sz="3600" b="1">
                <a:solidFill>
                  <a:schemeClr val="tx2"/>
                </a:solidFill>
              </a:endParaRPr>
            </a:p>
          </p:txBody>
        </p:sp>
        <p:sp>
          <p:nvSpPr>
            <p:cNvPr id="80" name="Text Box 19"/>
            <p:cNvSpPr txBox="1">
              <a:spLocks noChangeArrowheads="1"/>
            </p:cNvSpPr>
            <p:nvPr/>
          </p:nvSpPr>
          <p:spPr bwMode="auto">
            <a:xfrm>
              <a:off x="528" y="107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120000"/>
                </a:lnSpc>
                <a:spcAft>
                  <a:spcPct val="20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Aft>
                  <a:spcPct val="20000"/>
                </a:spcAft>
                <a:buClr>
                  <a:srgbClr val="006600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20000"/>
                </a:lnSpc>
                <a:spcAft>
                  <a:spcPct val="20000"/>
                </a:spcAft>
                <a:buClr>
                  <a:srgbClr val="996600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b="1">
                  <a:solidFill>
                    <a:schemeClr val="tx2"/>
                  </a:solidFill>
                </a:rPr>
                <a:t>00</a:t>
              </a:r>
              <a:endParaRPr lang="en-US" altLang="zh-CN" sz="3600" b="1">
                <a:solidFill>
                  <a:schemeClr val="tx2"/>
                </a:solidFill>
              </a:endParaRPr>
            </a:p>
          </p:txBody>
        </p:sp>
        <p:sp>
          <p:nvSpPr>
            <p:cNvPr id="81" name="Text Box 20"/>
            <p:cNvSpPr txBox="1">
              <a:spLocks noChangeArrowheads="1"/>
            </p:cNvSpPr>
            <p:nvPr/>
          </p:nvSpPr>
          <p:spPr bwMode="auto">
            <a:xfrm>
              <a:off x="882" y="107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120000"/>
                </a:lnSpc>
                <a:spcAft>
                  <a:spcPct val="20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Aft>
                  <a:spcPct val="20000"/>
                </a:spcAft>
                <a:buClr>
                  <a:srgbClr val="006600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20000"/>
                </a:lnSpc>
                <a:spcAft>
                  <a:spcPct val="20000"/>
                </a:spcAft>
                <a:buClr>
                  <a:srgbClr val="996600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b="1">
                  <a:solidFill>
                    <a:schemeClr val="tx2"/>
                  </a:solidFill>
                </a:rPr>
                <a:t>01</a:t>
              </a:r>
              <a:endParaRPr lang="en-US" altLang="zh-CN" sz="3600" b="1">
                <a:solidFill>
                  <a:schemeClr val="tx2"/>
                </a:solidFill>
              </a:endParaRPr>
            </a:p>
          </p:txBody>
        </p:sp>
        <p:sp>
          <p:nvSpPr>
            <p:cNvPr id="82" name="Text Box 21"/>
            <p:cNvSpPr txBox="1">
              <a:spLocks noChangeArrowheads="1"/>
            </p:cNvSpPr>
            <p:nvPr/>
          </p:nvSpPr>
          <p:spPr bwMode="auto">
            <a:xfrm>
              <a:off x="1236" y="107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120000"/>
                </a:lnSpc>
                <a:spcAft>
                  <a:spcPct val="20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Aft>
                  <a:spcPct val="20000"/>
                </a:spcAft>
                <a:buClr>
                  <a:srgbClr val="006600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20000"/>
                </a:lnSpc>
                <a:spcAft>
                  <a:spcPct val="20000"/>
                </a:spcAft>
                <a:buClr>
                  <a:srgbClr val="996600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b="1">
                  <a:solidFill>
                    <a:schemeClr val="tx2"/>
                  </a:solidFill>
                </a:rPr>
                <a:t>11</a:t>
              </a:r>
              <a:endParaRPr lang="en-US" altLang="zh-CN" sz="3600" b="1">
                <a:solidFill>
                  <a:schemeClr val="tx2"/>
                </a:solidFill>
              </a:endParaRPr>
            </a:p>
          </p:txBody>
        </p:sp>
        <p:sp>
          <p:nvSpPr>
            <p:cNvPr id="83" name="Text Box 22"/>
            <p:cNvSpPr txBox="1">
              <a:spLocks noChangeArrowheads="1"/>
            </p:cNvSpPr>
            <p:nvPr/>
          </p:nvSpPr>
          <p:spPr bwMode="auto">
            <a:xfrm>
              <a:off x="1590" y="107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120000"/>
                </a:lnSpc>
                <a:spcAft>
                  <a:spcPct val="20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Aft>
                  <a:spcPct val="20000"/>
                </a:spcAft>
                <a:buClr>
                  <a:srgbClr val="006600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20000"/>
                </a:lnSpc>
                <a:spcAft>
                  <a:spcPct val="20000"/>
                </a:spcAft>
                <a:buClr>
                  <a:srgbClr val="996600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b="1">
                  <a:solidFill>
                    <a:schemeClr val="tx2"/>
                  </a:solidFill>
                </a:rPr>
                <a:t>10</a:t>
              </a:r>
              <a:endParaRPr lang="en-US" altLang="zh-CN" sz="3600" b="1">
                <a:solidFill>
                  <a:schemeClr val="tx2"/>
                </a:solidFill>
              </a:endParaRPr>
            </a:p>
          </p:txBody>
        </p:sp>
        <p:sp>
          <p:nvSpPr>
            <p:cNvPr id="84" name="Text Box 23"/>
            <p:cNvSpPr txBox="1">
              <a:spLocks noChangeArrowheads="1"/>
            </p:cNvSpPr>
            <p:nvPr/>
          </p:nvSpPr>
          <p:spPr bwMode="auto">
            <a:xfrm>
              <a:off x="553" y="1296"/>
              <a:ext cx="2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120000"/>
                </a:lnSpc>
                <a:spcAft>
                  <a:spcPct val="20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Aft>
                  <a:spcPct val="20000"/>
                </a:spcAft>
                <a:buClr>
                  <a:srgbClr val="006600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20000"/>
                </a:lnSpc>
                <a:spcAft>
                  <a:spcPct val="20000"/>
                </a:spcAft>
                <a:buClr>
                  <a:srgbClr val="996600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b="1">
                  <a:solidFill>
                    <a:schemeClr val="tx2"/>
                  </a:solidFill>
                </a:rPr>
                <a:t> 0</a:t>
              </a:r>
              <a:endParaRPr lang="en-US" altLang="zh-CN" sz="3600" b="1">
                <a:solidFill>
                  <a:schemeClr val="tx2"/>
                </a:solidFill>
              </a:endParaRPr>
            </a:p>
          </p:txBody>
        </p:sp>
        <p:sp>
          <p:nvSpPr>
            <p:cNvPr id="85" name="Text Box 24"/>
            <p:cNvSpPr txBox="1">
              <a:spLocks noChangeArrowheads="1"/>
            </p:cNvSpPr>
            <p:nvPr/>
          </p:nvSpPr>
          <p:spPr bwMode="auto">
            <a:xfrm>
              <a:off x="904" y="1296"/>
              <a:ext cx="2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120000"/>
                </a:lnSpc>
                <a:spcAft>
                  <a:spcPct val="20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Aft>
                  <a:spcPct val="20000"/>
                </a:spcAft>
                <a:buClr>
                  <a:srgbClr val="006600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20000"/>
                </a:lnSpc>
                <a:spcAft>
                  <a:spcPct val="20000"/>
                </a:spcAft>
                <a:buClr>
                  <a:srgbClr val="996600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b="1">
                  <a:solidFill>
                    <a:schemeClr val="tx2"/>
                  </a:solidFill>
                </a:rPr>
                <a:t> 0</a:t>
              </a:r>
              <a:endParaRPr lang="en-US" altLang="zh-CN" sz="3600" b="1">
                <a:solidFill>
                  <a:schemeClr val="tx2"/>
                </a:solidFill>
              </a:endParaRPr>
            </a:p>
          </p:txBody>
        </p:sp>
        <p:sp>
          <p:nvSpPr>
            <p:cNvPr id="86" name="Text Box 25"/>
            <p:cNvSpPr txBox="1">
              <a:spLocks noChangeArrowheads="1"/>
            </p:cNvSpPr>
            <p:nvPr/>
          </p:nvSpPr>
          <p:spPr bwMode="auto">
            <a:xfrm>
              <a:off x="1611" y="1296"/>
              <a:ext cx="2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120000"/>
                </a:lnSpc>
                <a:spcAft>
                  <a:spcPct val="20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Aft>
                  <a:spcPct val="20000"/>
                </a:spcAft>
                <a:buClr>
                  <a:srgbClr val="006600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20000"/>
                </a:lnSpc>
                <a:spcAft>
                  <a:spcPct val="20000"/>
                </a:spcAft>
                <a:buClr>
                  <a:srgbClr val="996600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b="1" dirty="0">
                  <a:solidFill>
                    <a:schemeClr val="tx2"/>
                  </a:solidFill>
                </a:rPr>
                <a:t> 1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87" name="Text Box 26"/>
            <p:cNvSpPr txBox="1">
              <a:spLocks noChangeArrowheads="1"/>
            </p:cNvSpPr>
            <p:nvPr/>
          </p:nvSpPr>
          <p:spPr bwMode="auto">
            <a:xfrm>
              <a:off x="1257" y="1296"/>
              <a:ext cx="2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120000"/>
                </a:lnSpc>
                <a:spcAft>
                  <a:spcPct val="20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Aft>
                  <a:spcPct val="20000"/>
                </a:spcAft>
                <a:buClr>
                  <a:srgbClr val="006600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20000"/>
                </a:lnSpc>
                <a:spcAft>
                  <a:spcPct val="20000"/>
                </a:spcAft>
                <a:buClr>
                  <a:srgbClr val="996600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b="1">
                  <a:solidFill>
                    <a:schemeClr val="tx2"/>
                  </a:solidFill>
                </a:rPr>
                <a:t> 0</a:t>
              </a:r>
              <a:endParaRPr lang="en-US" altLang="zh-CN" sz="3600" b="1">
                <a:solidFill>
                  <a:schemeClr val="tx2"/>
                </a:solidFill>
              </a:endParaRPr>
            </a:p>
          </p:txBody>
        </p:sp>
        <p:sp>
          <p:nvSpPr>
            <p:cNvPr id="88" name="Text Box 27"/>
            <p:cNvSpPr txBox="1">
              <a:spLocks noChangeArrowheads="1"/>
            </p:cNvSpPr>
            <p:nvPr/>
          </p:nvSpPr>
          <p:spPr bwMode="auto">
            <a:xfrm>
              <a:off x="553" y="1602"/>
              <a:ext cx="2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120000"/>
                </a:lnSpc>
                <a:spcAft>
                  <a:spcPct val="20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Aft>
                  <a:spcPct val="20000"/>
                </a:spcAft>
                <a:buClr>
                  <a:srgbClr val="006600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20000"/>
                </a:lnSpc>
                <a:spcAft>
                  <a:spcPct val="20000"/>
                </a:spcAft>
                <a:buClr>
                  <a:srgbClr val="996600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b="1">
                  <a:solidFill>
                    <a:schemeClr val="tx2"/>
                  </a:solidFill>
                </a:rPr>
                <a:t> 0</a:t>
              </a:r>
              <a:endParaRPr lang="en-US" altLang="zh-CN" sz="3600" b="1">
                <a:solidFill>
                  <a:schemeClr val="tx2"/>
                </a:solidFill>
              </a:endParaRPr>
            </a:p>
          </p:txBody>
        </p:sp>
        <p:sp>
          <p:nvSpPr>
            <p:cNvPr id="89" name="Text Box 28"/>
            <p:cNvSpPr txBox="1">
              <a:spLocks noChangeArrowheads="1"/>
            </p:cNvSpPr>
            <p:nvPr/>
          </p:nvSpPr>
          <p:spPr bwMode="auto">
            <a:xfrm>
              <a:off x="904" y="1602"/>
              <a:ext cx="2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120000"/>
                </a:lnSpc>
                <a:spcAft>
                  <a:spcPct val="20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Aft>
                  <a:spcPct val="20000"/>
                </a:spcAft>
                <a:buClr>
                  <a:srgbClr val="006600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20000"/>
                </a:lnSpc>
                <a:spcAft>
                  <a:spcPct val="20000"/>
                </a:spcAft>
                <a:buClr>
                  <a:srgbClr val="996600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b="1">
                  <a:solidFill>
                    <a:schemeClr val="tx2"/>
                  </a:solidFill>
                </a:rPr>
                <a:t> 1</a:t>
              </a:r>
              <a:endParaRPr lang="en-US" altLang="zh-CN" sz="3600" b="1">
                <a:solidFill>
                  <a:schemeClr val="tx2"/>
                </a:solidFill>
              </a:endParaRPr>
            </a:p>
          </p:txBody>
        </p:sp>
        <p:sp>
          <p:nvSpPr>
            <p:cNvPr id="90" name="Text Box 29"/>
            <p:cNvSpPr txBox="1">
              <a:spLocks noChangeArrowheads="1"/>
            </p:cNvSpPr>
            <p:nvPr/>
          </p:nvSpPr>
          <p:spPr bwMode="auto">
            <a:xfrm>
              <a:off x="1611" y="1602"/>
              <a:ext cx="2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120000"/>
                </a:lnSpc>
                <a:spcAft>
                  <a:spcPct val="20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Aft>
                  <a:spcPct val="20000"/>
                </a:spcAft>
                <a:buClr>
                  <a:srgbClr val="006600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20000"/>
                </a:lnSpc>
                <a:spcAft>
                  <a:spcPct val="20000"/>
                </a:spcAft>
                <a:buClr>
                  <a:srgbClr val="996600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b="1" dirty="0">
                  <a:solidFill>
                    <a:schemeClr val="tx2"/>
                  </a:solidFill>
                </a:rPr>
                <a:t> 1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91" name="Text Box 30"/>
            <p:cNvSpPr txBox="1">
              <a:spLocks noChangeArrowheads="1"/>
            </p:cNvSpPr>
            <p:nvPr/>
          </p:nvSpPr>
          <p:spPr bwMode="auto">
            <a:xfrm>
              <a:off x="1261" y="1602"/>
              <a:ext cx="2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120000"/>
                </a:lnSpc>
                <a:spcAft>
                  <a:spcPct val="20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Aft>
                  <a:spcPct val="20000"/>
                </a:spcAft>
                <a:buClr>
                  <a:srgbClr val="006600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20000"/>
                </a:lnSpc>
                <a:spcAft>
                  <a:spcPct val="20000"/>
                </a:spcAft>
                <a:buClr>
                  <a:srgbClr val="996600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b="1" dirty="0">
                  <a:solidFill>
                    <a:schemeClr val="tx2"/>
                  </a:solidFill>
                </a:rPr>
                <a:t> 1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</p:grpSp>
      <p:sp>
        <p:nvSpPr>
          <p:cNvPr id="99" name="AutoShape 31"/>
          <p:cNvSpPr>
            <a:spLocks noChangeArrowheads="1"/>
          </p:cNvSpPr>
          <p:nvPr/>
        </p:nvSpPr>
        <p:spPr bwMode="auto">
          <a:xfrm>
            <a:off x="1909737" y="4232473"/>
            <a:ext cx="1223072" cy="557311"/>
          </a:xfrm>
          <a:prstGeom prst="flowChartAlternateProcess">
            <a:avLst/>
          </a:prstGeom>
          <a:noFill/>
          <a:ln w="381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Aft>
                <a:spcPct val="2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Aft>
                <a:spcPct val="20000"/>
              </a:spcAft>
              <a:buClr>
                <a:srgbClr val="006600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Aft>
                <a:spcPct val="20000"/>
              </a:spcAft>
              <a:buClr>
                <a:srgbClr val="996600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Aft>
                <a:spcPct val="2000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endParaRPr lang="zh-CN" altLang="en-US">
              <a:latin typeface="Tahoma" panose="020B0604030504040204" pitchFamily="34" charset="0"/>
            </a:endParaRPr>
          </a:p>
        </p:txBody>
      </p:sp>
      <p:sp>
        <p:nvSpPr>
          <p:cNvPr id="100" name="AutoShape 32"/>
          <p:cNvSpPr>
            <a:spLocks noChangeArrowheads="1"/>
          </p:cNvSpPr>
          <p:nvPr/>
        </p:nvSpPr>
        <p:spPr bwMode="auto">
          <a:xfrm>
            <a:off x="3514798" y="3500423"/>
            <a:ext cx="494140" cy="1181935"/>
          </a:xfrm>
          <a:prstGeom prst="flowChartAlternateProcess">
            <a:avLst/>
          </a:prstGeom>
          <a:noFill/>
          <a:ln w="381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Aft>
                <a:spcPct val="2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Aft>
                <a:spcPct val="20000"/>
              </a:spcAft>
              <a:buClr>
                <a:srgbClr val="006600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Aft>
                <a:spcPct val="20000"/>
              </a:spcAft>
              <a:buClr>
                <a:srgbClr val="996600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Aft>
                <a:spcPct val="2000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endParaRPr lang="zh-CN" altLang="en-US">
              <a:latin typeface="Tahoma" panose="020B0604030504040204" pitchFamily="34" charset="0"/>
            </a:endParaRPr>
          </a:p>
        </p:txBody>
      </p:sp>
      <p:sp>
        <p:nvSpPr>
          <p:cNvPr id="101" name="AutoShape 33"/>
          <p:cNvSpPr>
            <a:spLocks noChangeArrowheads="1"/>
          </p:cNvSpPr>
          <p:nvPr/>
        </p:nvSpPr>
        <p:spPr bwMode="auto">
          <a:xfrm>
            <a:off x="2676597" y="4290865"/>
            <a:ext cx="1280613" cy="457200"/>
          </a:xfrm>
          <a:prstGeom prst="flowChartAlternateProcess">
            <a:avLst/>
          </a:prstGeom>
          <a:noFill/>
          <a:ln w="38100">
            <a:solidFill>
              <a:srgbClr val="008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Aft>
                <a:spcPct val="2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Aft>
                <a:spcPct val="20000"/>
              </a:spcAft>
              <a:buClr>
                <a:srgbClr val="006600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Aft>
                <a:spcPct val="20000"/>
              </a:spcAft>
              <a:buClr>
                <a:srgbClr val="996600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Aft>
                <a:spcPct val="2000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endParaRPr lang="zh-CN" altLang="en-US">
              <a:latin typeface="Tahoma" panose="020B0604030504040204" pitchFamily="34" charset="0"/>
            </a:endParaRPr>
          </a:p>
        </p:txBody>
      </p:sp>
      <p:grpSp>
        <p:nvGrpSpPr>
          <p:cNvPr id="102" name="Group 34"/>
          <p:cNvGrpSpPr/>
          <p:nvPr/>
        </p:nvGrpSpPr>
        <p:grpSpPr bwMode="auto">
          <a:xfrm>
            <a:off x="4623131" y="2612080"/>
            <a:ext cx="3675100" cy="2254644"/>
            <a:chOff x="215" y="912"/>
            <a:chExt cx="1705" cy="1008"/>
          </a:xfrm>
        </p:grpSpPr>
        <p:grpSp>
          <p:nvGrpSpPr>
            <p:cNvPr id="103" name="Group 35"/>
            <p:cNvGrpSpPr/>
            <p:nvPr/>
          </p:nvGrpSpPr>
          <p:grpSpPr bwMode="auto">
            <a:xfrm>
              <a:off x="327" y="1091"/>
              <a:ext cx="1593" cy="829"/>
              <a:chOff x="336" y="2976"/>
              <a:chExt cx="1728" cy="912"/>
            </a:xfrm>
          </p:grpSpPr>
          <p:sp>
            <p:nvSpPr>
              <p:cNvPr id="120" name="Line 36"/>
              <p:cNvSpPr>
                <a:spLocks noChangeShapeType="1"/>
              </p:cNvSpPr>
              <p:nvPr/>
            </p:nvSpPr>
            <p:spPr bwMode="auto">
              <a:xfrm>
                <a:off x="528" y="3552"/>
                <a:ext cx="15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21" name="Group 37"/>
              <p:cNvGrpSpPr/>
              <p:nvPr/>
            </p:nvGrpSpPr>
            <p:grpSpPr bwMode="auto">
              <a:xfrm>
                <a:off x="336" y="2976"/>
                <a:ext cx="1728" cy="912"/>
                <a:chOff x="336" y="2976"/>
                <a:chExt cx="1728" cy="912"/>
              </a:xfrm>
            </p:grpSpPr>
            <p:sp>
              <p:nvSpPr>
                <p:cNvPr id="122" name="Rectangle 38"/>
                <p:cNvSpPr>
                  <a:spLocks noChangeArrowheads="1"/>
                </p:cNvSpPr>
                <p:nvPr/>
              </p:nvSpPr>
              <p:spPr bwMode="auto">
                <a:xfrm>
                  <a:off x="528" y="3216"/>
                  <a:ext cx="1536" cy="67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120000"/>
                    </a:lnSpc>
                    <a:spcAft>
                      <a:spcPct val="2000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120000"/>
                    </a:lnSpc>
                    <a:spcAft>
                      <a:spcPct val="20000"/>
                    </a:spcAft>
                    <a:buClr>
                      <a:srgbClr val="006600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120000"/>
                    </a:lnSpc>
                    <a:spcAft>
                      <a:spcPct val="20000"/>
                    </a:spcAft>
                    <a:buClr>
                      <a:srgbClr val="996600"/>
                    </a:buClr>
                    <a:buSzPct val="50000"/>
                    <a:buFont typeface="Wingdings" panose="05000000000000000000" pitchFamily="2" charset="2"/>
                    <a:buChar char="n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20000"/>
                    </a:lnSpc>
                    <a:spcAft>
                      <a:spcPct val="20000"/>
                    </a:spcAft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20000"/>
                    </a:lnSpc>
                    <a:spcAft>
                      <a:spcPct val="2000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2000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2000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2000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2000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en-US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23" name="Line 39"/>
                <p:cNvSpPr>
                  <a:spLocks noChangeShapeType="1"/>
                </p:cNvSpPr>
                <p:nvPr/>
              </p:nvSpPr>
              <p:spPr bwMode="auto">
                <a:xfrm>
                  <a:off x="912" y="3216"/>
                  <a:ext cx="0" cy="67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4" name="Line 40"/>
                <p:cNvSpPr>
                  <a:spLocks noChangeShapeType="1"/>
                </p:cNvSpPr>
                <p:nvPr/>
              </p:nvSpPr>
              <p:spPr bwMode="auto">
                <a:xfrm>
                  <a:off x="1296" y="3216"/>
                  <a:ext cx="0" cy="67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5" name="Line 41"/>
                <p:cNvSpPr>
                  <a:spLocks noChangeShapeType="1"/>
                </p:cNvSpPr>
                <p:nvPr/>
              </p:nvSpPr>
              <p:spPr bwMode="auto">
                <a:xfrm>
                  <a:off x="1680" y="3216"/>
                  <a:ext cx="0" cy="67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0" name="Line 42"/>
                <p:cNvSpPr>
                  <a:spLocks noChangeShapeType="1"/>
                </p:cNvSpPr>
                <p:nvPr/>
              </p:nvSpPr>
              <p:spPr bwMode="auto">
                <a:xfrm>
                  <a:off x="336" y="2976"/>
                  <a:ext cx="192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04" name="Text Box 43"/>
            <p:cNvSpPr txBox="1">
              <a:spLocks noChangeArrowheads="1"/>
            </p:cNvSpPr>
            <p:nvPr/>
          </p:nvSpPr>
          <p:spPr bwMode="auto">
            <a:xfrm>
              <a:off x="215" y="1121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120000"/>
                </a:lnSpc>
                <a:spcAft>
                  <a:spcPct val="20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Aft>
                  <a:spcPct val="20000"/>
                </a:spcAft>
                <a:buClr>
                  <a:srgbClr val="006600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20000"/>
                </a:lnSpc>
                <a:spcAft>
                  <a:spcPct val="20000"/>
                </a:spcAft>
                <a:buClr>
                  <a:srgbClr val="996600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b="1">
                  <a:solidFill>
                    <a:schemeClr val="tx2"/>
                  </a:solidFill>
                </a:rPr>
                <a:t>C</a:t>
              </a:r>
              <a:endParaRPr lang="en-US" altLang="zh-CN" sz="3600" b="1">
                <a:solidFill>
                  <a:schemeClr val="tx2"/>
                </a:solidFill>
              </a:endParaRPr>
            </a:p>
          </p:txBody>
        </p:sp>
        <p:sp>
          <p:nvSpPr>
            <p:cNvPr id="105" name="Text Box 44"/>
            <p:cNvSpPr txBox="1">
              <a:spLocks noChangeArrowheads="1"/>
            </p:cNvSpPr>
            <p:nvPr/>
          </p:nvSpPr>
          <p:spPr bwMode="auto">
            <a:xfrm>
              <a:off x="312" y="912"/>
              <a:ext cx="38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120000"/>
                </a:lnSpc>
                <a:spcAft>
                  <a:spcPct val="20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Aft>
                  <a:spcPct val="20000"/>
                </a:spcAft>
                <a:buClr>
                  <a:srgbClr val="006600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20000"/>
                </a:lnSpc>
                <a:spcAft>
                  <a:spcPct val="20000"/>
                </a:spcAft>
                <a:buClr>
                  <a:srgbClr val="996600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b="1">
                  <a:solidFill>
                    <a:schemeClr val="tx2"/>
                  </a:solidFill>
                </a:rPr>
                <a:t>AB</a:t>
              </a:r>
              <a:endParaRPr lang="en-US" altLang="zh-CN" sz="3600" b="1">
                <a:solidFill>
                  <a:schemeClr val="tx2"/>
                </a:solidFill>
              </a:endParaRPr>
            </a:p>
          </p:txBody>
        </p:sp>
        <p:sp>
          <p:nvSpPr>
            <p:cNvPr id="106" name="Text Box 45"/>
            <p:cNvSpPr txBox="1">
              <a:spLocks noChangeArrowheads="1"/>
            </p:cNvSpPr>
            <p:nvPr/>
          </p:nvSpPr>
          <p:spPr bwMode="auto">
            <a:xfrm>
              <a:off x="316" y="129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120000"/>
                </a:lnSpc>
                <a:spcAft>
                  <a:spcPct val="20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Aft>
                  <a:spcPct val="20000"/>
                </a:spcAft>
                <a:buClr>
                  <a:srgbClr val="006600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20000"/>
                </a:lnSpc>
                <a:spcAft>
                  <a:spcPct val="20000"/>
                </a:spcAft>
                <a:buClr>
                  <a:srgbClr val="996600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b="1">
                  <a:solidFill>
                    <a:schemeClr val="tx2"/>
                  </a:solidFill>
                </a:rPr>
                <a:t>0</a:t>
              </a:r>
              <a:endParaRPr lang="en-US" altLang="zh-CN" sz="3600" b="1">
                <a:solidFill>
                  <a:schemeClr val="tx2"/>
                </a:solidFill>
              </a:endParaRPr>
            </a:p>
          </p:txBody>
        </p:sp>
        <p:sp>
          <p:nvSpPr>
            <p:cNvPr id="107" name="Text Box 46"/>
            <p:cNvSpPr txBox="1">
              <a:spLocks noChangeArrowheads="1"/>
            </p:cNvSpPr>
            <p:nvPr/>
          </p:nvSpPr>
          <p:spPr bwMode="auto">
            <a:xfrm>
              <a:off x="316" y="160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120000"/>
                </a:lnSpc>
                <a:spcAft>
                  <a:spcPct val="20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Aft>
                  <a:spcPct val="20000"/>
                </a:spcAft>
                <a:buClr>
                  <a:srgbClr val="006600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20000"/>
                </a:lnSpc>
                <a:spcAft>
                  <a:spcPct val="20000"/>
                </a:spcAft>
                <a:buClr>
                  <a:srgbClr val="996600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b="1">
                  <a:solidFill>
                    <a:schemeClr val="tx2"/>
                  </a:solidFill>
                </a:rPr>
                <a:t>1</a:t>
              </a:r>
              <a:endParaRPr lang="en-US" altLang="zh-CN" sz="3600" b="1">
                <a:solidFill>
                  <a:schemeClr val="tx2"/>
                </a:solidFill>
              </a:endParaRPr>
            </a:p>
          </p:txBody>
        </p:sp>
        <p:sp>
          <p:nvSpPr>
            <p:cNvPr id="108" name="Text Box 47"/>
            <p:cNvSpPr txBox="1">
              <a:spLocks noChangeArrowheads="1"/>
            </p:cNvSpPr>
            <p:nvPr/>
          </p:nvSpPr>
          <p:spPr bwMode="auto">
            <a:xfrm>
              <a:off x="528" y="107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120000"/>
                </a:lnSpc>
                <a:spcAft>
                  <a:spcPct val="20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Aft>
                  <a:spcPct val="20000"/>
                </a:spcAft>
                <a:buClr>
                  <a:srgbClr val="006600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20000"/>
                </a:lnSpc>
                <a:spcAft>
                  <a:spcPct val="20000"/>
                </a:spcAft>
                <a:buClr>
                  <a:srgbClr val="996600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b="1">
                  <a:solidFill>
                    <a:schemeClr val="tx2"/>
                  </a:solidFill>
                </a:rPr>
                <a:t>00</a:t>
              </a:r>
              <a:endParaRPr lang="en-US" altLang="zh-CN" sz="3600" b="1">
                <a:solidFill>
                  <a:schemeClr val="tx2"/>
                </a:solidFill>
              </a:endParaRPr>
            </a:p>
          </p:txBody>
        </p:sp>
        <p:sp>
          <p:nvSpPr>
            <p:cNvPr id="109" name="Text Box 48"/>
            <p:cNvSpPr txBox="1">
              <a:spLocks noChangeArrowheads="1"/>
            </p:cNvSpPr>
            <p:nvPr/>
          </p:nvSpPr>
          <p:spPr bwMode="auto">
            <a:xfrm>
              <a:off x="882" y="107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120000"/>
                </a:lnSpc>
                <a:spcAft>
                  <a:spcPct val="20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Aft>
                  <a:spcPct val="20000"/>
                </a:spcAft>
                <a:buClr>
                  <a:srgbClr val="006600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20000"/>
                </a:lnSpc>
                <a:spcAft>
                  <a:spcPct val="20000"/>
                </a:spcAft>
                <a:buClr>
                  <a:srgbClr val="996600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b="1" dirty="0">
                  <a:solidFill>
                    <a:schemeClr val="tx2"/>
                  </a:solidFill>
                </a:rPr>
                <a:t>01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110" name="Text Box 49"/>
            <p:cNvSpPr txBox="1">
              <a:spLocks noChangeArrowheads="1"/>
            </p:cNvSpPr>
            <p:nvPr/>
          </p:nvSpPr>
          <p:spPr bwMode="auto">
            <a:xfrm>
              <a:off x="1236" y="107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120000"/>
                </a:lnSpc>
                <a:spcAft>
                  <a:spcPct val="20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Aft>
                  <a:spcPct val="20000"/>
                </a:spcAft>
                <a:buClr>
                  <a:srgbClr val="006600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20000"/>
                </a:lnSpc>
                <a:spcAft>
                  <a:spcPct val="20000"/>
                </a:spcAft>
                <a:buClr>
                  <a:srgbClr val="996600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b="1">
                  <a:solidFill>
                    <a:schemeClr val="tx2"/>
                  </a:solidFill>
                </a:rPr>
                <a:t>11</a:t>
              </a:r>
              <a:endParaRPr lang="en-US" altLang="zh-CN" sz="3600" b="1">
                <a:solidFill>
                  <a:schemeClr val="tx2"/>
                </a:solidFill>
              </a:endParaRPr>
            </a:p>
          </p:txBody>
        </p:sp>
        <p:sp>
          <p:nvSpPr>
            <p:cNvPr id="111" name="Text Box 50"/>
            <p:cNvSpPr txBox="1">
              <a:spLocks noChangeArrowheads="1"/>
            </p:cNvSpPr>
            <p:nvPr/>
          </p:nvSpPr>
          <p:spPr bwMode="auto">
            <a:xfrm>
              <a:off x="1590" y="107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120000"/>
                </a:lnSpc>
                <a:spcAft>
                  <a:spcPct val="20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Aft>
                  <a:spcPct val="20000"/>
                </a:spcAft>
                <a:buClr>
                  <a:srgbClr val="006600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20000"/>
                </a:lnSpc>
                <a:spcAft>
                  <a:spcPct val="20000"/>
                </a:spcAft>
                <a:buClr>
                  <a:srgbClr val="996600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b="1">
                  <a:solidFill>
                    <a:schemeClr val="tx2"/>
                  </a:solidFill>
                </a:rPr>
                <a:t>10</a:t>
              </a:r>
              <a:endParaRPr lang="en-US" altLang="zh-CN" sz="3600" b="1">
                <a:solidFill>
                  <a:schemeClr val="tx2"/>
                </a:solidFill>
              </a:endParaRPr>
            </a:p>
          </p:txBody>
        </p:sp>
        <p:sp>
          <p:nvSpPr>
            <p:cNvPr id="112" name="Text Box 51"/>
            <p:cNvSpPr txBox="1">
              <a:spLocks noChangeArrowheads="1"/>
            </p:cNvSpPr>
            <p:nvPr/>
          </p:nvSpPr>
          <p:spPr bwMode="auto">
            <a:xfrm>
              <a:off x="553" y="1296"/>
              <a:ext cx="2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120000"/>
                </a:lnSpc>
                <a:spcAft>
                  <a:spcPct val="20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Aft>
                  <a:spcPct val="20000"/>
                </a:spcAft>
                <a:buClr>
                  <a:srgbClr val="006600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20000"/>
                </a:lnSpc>
                <a:spcAft>
                  <a:spcPct val="20000"/>
                </a:spcAft>
                <a:buClr>
                  <a:srgbClr val="996600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b="1">
                  <a:solidFill>
                    <a:schemeClr val="tx2"/>
                  </a:solidFill>
                </a:rPr>
                <a:t> 0</a:t>
              </a:r>
              <a:endParaRPr lang="en-US" altLang="zh-CN" sz="3600" b="1">
                <a:solidFill>
                  <a:schemeClr val="tx2"/>
                </a:solidFill>
              </a:endParaRPr>
            </a:p>
          </p:txBody>
        </p:sp>
        <p:sp>
          <p:nvSpPr>
            <p:cNvPr id="113" name="Text Box 52"/>
            <p:cNvSpPr txBox="1">
              <a:spLocks noChangeArrowheads="1"/>
            </p:cNvSpPr>
            <p:nvPr/>
          </p:nvSpPr>
          <p:spPr bwMode="auto">
            <a:xfrm>
              <a:off x="904" y="1296"/>
              <a:ext cx="2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120000"/>
                </a:lnSpc>
                <a:spcAft>
                  <a:spcPct val="20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Aft>
                  <a:spcPct val="20000"/>
                </a:spcAft>
                <a:buClr>
                  <a:srgbClr val="006600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20000"/>
                </a:lnSpc>
                <a:spcAft>
                  <a:spcPct val="20000"/>
                </a:spcAft>
                <a:buClr>
                  <a:srgbClr val="996600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b="1">
                  <a:solidFill>
                    <a:schemeClr val="tx2"/>
                  </a:solidFill>
                </a:rPr>
                <a:t> 0</a:t>
              </a:r>
              <a:endParaRPr lang="en-US" altLang="zh-CN" sz="3600" b="1">
                <a:solidFill>
                  <a:schemeClr val="tx2"/>
                </a:solidFill>
              </a:endParaRPr>
            </a:p>
          </p:txBody>
        </p:sp>
        <p:sp>
          <p:nvSpPr>
            <p:cNvPr id="114" name="Text Box 53"/>
            <p:cNvSpPr txBox="1">
              <a:spLocks noChangeArrowheads="1"/>
            </p:cNvSpPr>
            <p:nvPr/>
          </p:nvSpPr>
          <p:spPr bwMode="auto">
            <a:xfrm>
              <a:off x="1611" y="1296"/>
              <a:ext cx="2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120000"/>
                </a:lnSpc>
                <a:spcAft>
                  <a:spcPct val="20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Aft>
                  <a:spcPct val="20000"/>
                </a:spcAft>
                <a:buClr>
                  <a:srgbClr val="006600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20000"/>
                </a:lnSpc>
                <a:spcAft>
                  <a:spcPct val="20000"/>
                </a:spcAft>
                <a:buClr>
                  <a:srgbClr val="996600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b="1">
                  <a:solidFill>
                    <a:schemeClr val="tx2"/>
                  </a:solidFill>
                </a:rPr>
                <a:t> 1</a:t>
              </a:r>
              <a:endParaRPr lang="en-US" altLang="zh-CN" sz="3600" b="1">
                <a:solidFill>
                  <a:schemeClr val="tx2"/>
                </a:solidFill>
              </a:endParaRPr>
            </a:p>
          </p:txBody>
        </p:sp>
        <p:sp>
          <p:nvSpPr>
            <p:cNvPr id="115" name="Text Box 54"/>
            <p:cNvSpPr txBox="1">
              <a:spLocks noChangeArrowheads="1"/>
            </p:cNvSpPr>
            <p:nvPr/>
          </p:nvSpPr>
          <p:spPr bwMode="auto">
            <a:xfrm>
              <a:off x="1257" y="1296"/>
              <a:ext cx="2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120000"/>
                </a:lnSpc>
                <a:spcAft>
                  <a:spcPct val="20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Aft>
                  <a:spcPct val="20000"/>
                </a:spcAft>
                <a:buClr>
                  <a:srgbClr val="006600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20000"/>
                </a:lnSpc>
                <a:spcAft>
                  <a:spcPct val="20000"/>
                </a:spcAft>
                <a:buClr>
                  <a:srgbClr val="996600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b="1" dirty="0">
                  <a:solidFill>
                    <a:schemeClr val="tx2"/>
                  </a:solidFill>
                </a:rPr>
                <a:t> 0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116" name="Text Box 55"/>
            <p:cNvSpPr txBox="1">
              <a:spLocks noChangeArrowheads="1"/>
            </p:cNvSpPr>
            <p:nvPr/>
          </p:nvSpPr>
          <p:spPr bwMode="auto">
            <a:xfrm>
              <a:off x="553" y="1602"/>
              <a:ext cx="2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120000"/>
                </a:lnSpc>
                <a:spcAft>
                  <a:spcPct val="20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Aft>
                  <a:spcPct val="20000"/>
                </a:spcAft>
                <a:buClr>
                  <a:srgbClr val="006600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20000"/>
                </a:lnSpc>
                <a:spcAft>
                  <a:spcPct val="20000"/>
                </a:spcAft>
                <a:buClr>
                  <a:srgbClr val="996600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b="1">
                  <a:solidFill>
                    <a:schemeClr val="tx2"/>
                  </a:solidFill>
                </a:rPr>
                <a:t> 0</a:t>
              </a:r>
              <a:endParaRPr lang="en-US" altLang="zh-CN" sz="3600" b="1">
                <a:solidFill>
                  <a:schemeClr val="tx2"/>
                </a:solidFill>
              </a:endParaRPr>
            </a:p>
          </p:txBody>
        </p:sp>
        <p:sp>
          <p:nvSpPr>
            <p:cNvPr id="117" name="Text Box 56"/>
            <p:cNvSpPr txBox="1">
              <a:spLocks noChangeArrowheads="1"/>
            </p:cNvSpPr>
            <p:nvPr/>
          </p:nvSpPr>
          <p:spPr bwMode="auto">
            <a:xfrm>
              <a:off x="904" y="1602"/>
              <a:ext cx="2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120000"/>
                </a:lnSpc>
                <a:spcAft>
                  <a:spcPct val="20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Aft>
                  <a:spcPct val="20000"/>
                </a:spcAft>
                <a:buClr>
                  <a:srgbClr val="006600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20000"/>
                </a:lnSpc>
                <a:spcAft>
                  <a:spcPct val="20000"/>
                </a:spcAft>
                <a:buClr>
                  <a:srgbClr val="996600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b="1">
                  <a:solidFill>
                    <a:schemeClr val="tx2"/>
                  </a:solidFill>
                </a:rPr>
                <a:t> 1</a:t>
              </a:r>
              <a:endParaRPr lang="en-US" altLang="zh-CN" sz="3600" b="1">
                <a:solidFill>
                  <a:schemeClr val="tx2"/>
                </a:solidFill>
              </a:endParaRPr>
            </a:p>
          </p:txBody>
        </p:sp>
        <p:sp>
          <p:nvSpPr>
            <p:cNvPr id="118" name="Text Box 57"/>
            <p:cNvSpPr txBox="1">
              <a:spLocks noChangeArrowheads="1"/>
            </p:cNvSpPr>
            <p:nvPr/>
          </p:nvSpPr>
          <p:spPr bwMode="auto">
            <a:xfrm>
              <a:off x="1611" y="1602"/>
              <a:ext cx="2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120000"/>
                </a:lnSpc>
                <a:spcAft>
                  <a:spcPct val="20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Aft>
                  <a:spcPct val="20000"/>
                </a:spcAft>
                <a:buClr>
                  <a:srgbClr val="006600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20000"/>
                </a:lnSpc>
                <a:spcAft>
                  <a:spcPct val="20000"/>
                </a:spcAft>
                <a:buClr>
                  <a:srgbClr val="996600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b="1">
                  <a:solidFill>
                    <a:schemeClr val="tx2"/>
                  </a:solidFill>
                </a:rPr>
                <a:t> 1</a:t>
              </a:r>
              <a:endParaRPr lang="en-US" altLang="zh-CN" sz="3600" b="1">
                <a:solidFill>
                  <a:schemeClr val="tx2"/>
                </a:solidFill>
              </a:endParaRPr>
            </a:p>
          </p:txBody>
        </p:sp>
        <p:sp>
          <p:nvSpPr>
            <p:cNvPr id="119" name="Text Box 58"/>
            <p:cNvSpPr txBox="1">
              <a:spLocks noChangeArrowheads="1"/>
            </p:cNvSpPr>
            <p:nvPr/>
          </p:nvSpPr>
          <p:spPr bwMode="auto">
            <a:xfrm>
              <a:off x="1261" y="1602"/>
              <a:ext cx="2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120000"/>
                </a:lnSpc>
                <a:spcAft>
                  <a:spcPct val="20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Aft>
                  <a:spcPct val="20000"/>
                </a:spcAft>
                <a:buClr>
                  <a:srgbClr val="006600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20000"/>
                </a:lnSpc>
                <a:spcAft>
                  <a:spcPct val="20000"/>
                </a:spcAft>
                <a:buClr>
                  <a:srgbClr val="996600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b="1">
                  <a:solidFill>
                    <a:schemeClr val="tx2"/>
                  </a:solidFill>
                </a:rPr>
                <a:t> 1</a:t>
              </a:r>
              <a:endParaRPr lang="en-US" altLang="zh-CN" sz="3600" b="1">
                <a:solidFill>
                  <a:schemeClr val="tx2"/>
                </a:solidFill>
              </a:endParaRPr>
            </a:p>
          </p:txBody>
        </p:sp>
      </p:grpSp>
      <p:graphicFrame>
        <p:nvGraphicFramePr>
          <p:cNvPr id="138" name="Object 59"/>
          <p:cNvGraphicFramePr>
            <a:graphicFrameLocks noChangeAspect="1"/>
          </p:cNvGraphicFramePr>
          <p:nvPr/>
        </p:nvGraphicFramePr>
        <p:xfrm>
          <a:off x="4661786" y="5292044"/>
          <a:ext cx="4220724" cy="6286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" imgW="1625600" imgH="241300" progId="Equation.3">
                  <p:embed/>
                </p:oleObj>
              </mc:Choice>
              <mc:Fallback>
                <p:oleObj name="Equation" r:id="rId3" imgW="1625600" imgH="241300" progId="Equation.3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1786" y="5292044"/>
                        <a:ext cx="4220724" cy="6286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" name="AutoShape 60"/>
          <p:cNvSpPr>
            <a:spLocks noChangeArrowheads="1"/>
          </p:cNvSpPr>
          <p:nvPr/>
        </p:nvSpPr>
        <p:spPr bwMode="auto">
          <a:xfrm>
            <a:off x="5341599" y="3579766"/>
            <a:ext cx="514392" cy="1141661"/>
          </a:xfrm>
          <a:prstGeom prst="flowChartAlternateProcess">
            <a:avLst/>
          </a:prstGeom>
          <a:noFill/>
          <a:ln w="381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Aft>
                <a:spcPct val="2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Aft>
                <a:spcPct val="20000"/>
              </a:spcAft>
              <a:buClr>
                <a:srgbClr val="006600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Aft>
                <a:spcPct val="20000"/>
              </a:spcAft>
              <a:buClr>
                <a:srgbClr val="996600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Aft>
                <a:spcPct val="2000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endParaRPr lang="zh-CN" altLang="en-US">
              <a:latin typeface="Tahoma" panose="020B0604030504040204" pitchFamily="34" charset="0"/>
            </a:endParaRPr>
          </a:p>
        </p:txBody>
      </p:sp>
      <p:sp>
        <p:nvSpPr>
          <p:cNvPr id="143" name="AutoShape 61"/>
          <p:cNvSpPr>
            <a:spLocks noChangeArrowheads="1"/>
          </p:cNvSpPr>
          <p:nvPr/>
        </p:nvSpPr>
        <p:spPr bwMode="auto">
          <a:xfrm>
            <a:off x="6203789" y="3591738"/>
            <a:ext cx="1225777" cy="495538"/>
          </a:xfrm>
          <a:prstGeom prst="flowChartAlternateProcess">
            <a:avLst/>
          </a:prstGeom>
          <a:noFill/>
          <a:ln w="381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Aft>
                <a:spcPct val="2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Aft>
                <a:spcPct val="20000"/>
              </a:spcAft>
              <a:buClr>
                <a:srgbClr val="006600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Aft>
                <a:spcPct val="20000"/>
              </a:spcAft>
              <a:buClr>
                <a:srgbClr val="996600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Aft>
                <a:spcPct val="2000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endParaRPr lang="zh-CN" altLang="en-US">
              <a:latin typeface="Tahoma" panose="020B0604030504040204" pitchFamily="34" charset="0"/>
            </a:endParaRPr>
          </a:p>
        </p:txBody>
      </p:sp>
      <p:sp>
        <p:nvSpPr>
          <p:cNvPr id="149" name="AutoShape 63"/>
          <p:cNvSpPr>
            <a:spLocks noChangeArrowheads="1"/>
          </p:cNvSpPr>
          <p:nvPr/>
        </p:nvSpPr>
        <p:spPr bwMode="auto">
          <a:xfrm>
            <a:off x="5440750" y="3579403"/>
            <a:ext cx="1178266" cy="457200"/>
          </a:xfrm>
          <a:prstGeom prst="flowChartAlternateProcess">
            <a:avLst/>
          </a:prstGeom>
          <a:noFill/>
          <a:ln w="38100">
            <a:solidFill>
              <a:srgbClr val="008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Aft>
                <a:spcPct val="2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Aft>
                <a:spcPct val="20000"/>
              </a:spcAft>
              <a:buClr>
                <a:srgbClr val="006600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Aft>
                <a:spcPct val="20000"/>
              </a:spcAft>
              <a:buClr>
                <a:srgbClr val="996600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Aft>
                <a:spcPct val="2000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endParaRPr lang="zh-CN" altLang="en-US">
              <a:latin typeface="Tahoma" panose="020B0604030504040204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4434333" y="1417539"/>
            <a:ext cx="50165" cy="5048888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0" name="Object 5"/>
          <p:cNvGraphicFramePr>
            <a:graphicFrameLocks noChangeAspect="1"/>
          </p:cNvGraphicFramePr>
          <p:nvPr/>
        </p:nvGraphicFramePr>
        <p:xfrm>
          <a:off x="1159407" y="1532614"/>
          <a:ext cx="2381223" cy="6146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5" imgW="20116800" imgH="5181600" progId="Equation.DSMT4">
                  <p:embed/>
                </p:oleObj>
              </mc:Choice>
              <mc:Fallback>
                <p:oleObj name="Equation" r:id="rId5" imgW="20116800" imgH="51816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9407" y="1532614"/>
                        <a:ext cx="2381223" cy="6146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" name="Object 59"/>
          <p:cNvGraphicFramePr>
            <a:graphicFrameLocks noChangeAspect="1"/>
          </p:cNvGraphicFramePr>
          <p:nvPr/>
        </p:nvGraphicFramePr>
        <p:xfrm>
          <a:off x="4788453" y="1532614"/>
          <a:ext cx="3319188" cy="680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7" imgW="28346400" imgH="5791200" progId="Equation.DSMT4">
                  <p:embed/>
                </p:oleObj>
              </mc:Choice>
              <mc:Fallback>
                <p:oleObj name="Equation" r:id="rId7" imgW="28346400" imgH="57912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8453" y="1532614"/>
                        <a:ext cx="3319188" cy="6803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Text Box 2"/>
          <p:cNvSpPr txBox="1">
            <a:spLocks noChangeArrowheads="1"/>
          </p:cNvSpPr>
          <p:nvPr/>
        </p:nvSpPr>
        <p:spPr bwMode="auto">
          <a:xfrm>
            <a:off x="45274" y="631043"/>
            <a:ext cx="5020021" cy="565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>
              <a:defRPr sz="3200" b="1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二、</a:t>
            </a:r>
            <a:r>
              <a:rPr lang="zh-CN" altLang="zh-CN" dirty="0"/>
              <a:t>加</a:t>
            </a:r>
            <a:r>
              <a:rPr lang="zh-CN" altLang="en-US" dirty="0"/>
              <a:t>冗余卡诺圈</a:t>
            </a:r>
            <a:endParaRPr lang="zh-CN" altLang="zh-CN" dirty="0"/>
          </a:p>
        </p:txBody>
      </p:sp>
      <p:cxnSp>
        <p:nvCxnSpPr>
          <p:cNvPr id="69" name="直接连接符 68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淘宝网chenying0907出品 6"/>
          <p:cNvSpPr txBox="1"/>
          <p:nvPr/>
        </p:nvSpPr>
        <p:spPr>
          <a:xfrm>
            <a:off x="1528823" y="0"/>
            <a:ext cx="5200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4.5.4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险象的消除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1" name="图片 7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100" grpId="0" animBg="1"/>
      <p:bldP spid="101" grpId="0" animBg="1"/>
      <p:bldP spid="139" grpId="0" animBg="1"/>
      <p:bldP spid="143" grpId="0" animBg="1"/>
      <p:bldP spid="14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直接连接符 68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淘宝网chenying0907出品 6"/>
          <p:cNvSpPr txBox="1"/>
          <p:nvPr/>
        </p:nvSpPr>
        <p:spPr>
          <a:xfrm>
            <a:off x="1528823" y="0"/>
            <a:ext cx="5200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1" name="图片 7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42515" y="910024"/>
            <a:ext cx="799334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第四章习题</a:t>
            </a:r>
            <a:endParaRPr lang="en-US" altLang="zh-CN" sz="2400" b="1" dirty="0"/>
          </a:p>
          <a:p>
            <a:endParaRPr lang="en-US" altLang="zh-CN" sz="2400" b="1" dirty="0"/>
          </a:p>
          <a:p>
            <a:r>
              <a:rPr lang="en-US" altLang="zh-CN" sz="2400" b="1" dirty="0"/>
              <a:t>#19 </a:t>
            </a:r>
            <a:r>
              <a:rPr lang="zh-CN" altLang="en-US" sz="2400" b="1" dirty="0"/>
              <a:t>用数据选择器</a:t>
            </a:r>
            <a:r>
              <a:rPr lang="en-US" altLang="zh-CN" sz="2400" b="1" dirty="0"/>
              <a:t>74LS151</a:t>
            </a:r>
            <a:r>
              <a:rPr lang="zh-CN" altLang="en-US" sz="2400" b="1" dirty="0"/>
              <a:t>实现下列逻辑函数。</a:t>
            </a:r>
            <a:endParaRPr lang="en-US" altLang="zh-CN" sz="2400" b="1" dirty="0"/>
          </a:p>
          <a:p>
            <a:endParaRPr lang="en-US" altLang="zh-CN" sz="2400" b="1" dirty="0"/>
          </a:p>
          <a:p>
            <a:endParaRPr lang="en-US" altLang="zh-CN" sz="2400" b="1" dirty="0"/>
          </a:p>
          <a:p>
            <a:endParaRPr lang="en-US" altLang="zh-CN" sz="2400" b="1" dirty="0"/>
          </a:p>
          <a:p>
            <a:endParaRPr lang="en-US" altLang="zh-CN" sz="2400" b="1" dirty="0"/>
          </a:p>
          <a:p>
            <a:r>
              <a:rPr lang="en-US" altLang="zh-CN" sz="2400" b="1" dirty="0"/>
              <a:t>#</a:t>
            </a:r>
            <a:r>
              <a:rPr lang="en-US" altLang="zh-CN" sz="2400" b="1" dirty="0">
                <a:solidFill>
                  <a:srgbClr val="FF0000"/>
                </a:solidFill>
              </a:rPr>
              <a:t>22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试用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片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线</a:t>
            </a:r>
            <a:r>
              <a:rPr lang="en-US" altLang="zh-CN" sz="2400" b="1" dirty="0"/>
              <a:t>-8</a:t>
            </a:r>
            <a:r>
              <a:rPr lang="zh-CN" altLang="en-US" sz="2400" b="1" dirty="0"/>
              <a:t>线译码器</a:t>
            </a:r>
            <a:r>
              <a:rPr lang="en-US" altLang="zh-CN" sz="2400" b="1" dirty="0"/>
              <a:t>74LS138</a:t>
            </a:r>
            <a:r>
              <a:rPr lang="zh-CN" altLang="en-US" sz="2400" b="1" dirty="0"/>
              <a:t>构成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位全减器。</a:t>
            </a:r>
            <a:endParaRPr lang="en-US" altLang="zh-CN" sz="2400" b="1" dirty="0"/>
          </a:p>
          <a:p>
            <a:endParaRPr lang="en-US" altLang="zh-CN" sz="2400" b="1" dirty="0"/>
          </a:p>
          <a:p>
            <a:r>
              <a:rPr lang="en-US" altLang="zh-CN" sz="2400" b="1" dirty="0"/>
              <a:t>#</a:t>
            </a:r>
            <a:r>
              <a:rPr lang="en-US" altLang="zh-CN" sz="2400" b="1" dirty="0">
                <a:solidFill>
                  <a:srgbClr val="FF0000"/>
                </a:solidFill>
              </a:rPr>
              <a:t>27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试判断逻辑函数                                 构成的组合逻辑电路是否存在竞争和险象。若存在，说明是哪种类型，可以采取哪些措施避免险象的发生。</a:t>
            </a:r>
            <a:endParaRPr lang="en-US" altLang="zh-CN" sz="2400" b="1" dirty="0"/>
          </a:p>
          <a:p>
            <a:endParaRPr lang="zh-CN" altLang="en-US" sz="2400" b="1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4654853" y="3318224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2" imgW="2743200" imgH="4267200" progId="Equation.DSMT4">
                  <p:embed/>
                </p:oleObj>
              </mc:Choice>
              <mc:Fallback>
                <p:oleObj name="Equation" r:id="rId2" imgW="2743200" imgH="4267200" progId="Equation.DSMT4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54853" y="3318224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对象 71"/>
          <p:cNvGraphicFramePr>
            <a:graphicFrameLocks noChangeAspect="1"/>
          </p:cNvGraphicFramePr>
          <p:nvPr/>
        </p:nvGraphicFramePr>
        <p:xfrm>
          <a:off x="1185991" y="2102627"/>
          <a:ext cx="4650418" cy="10109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4" imgW="56083200" imgH="12192000" progId="Equation.DSMT4">
                  <p:embed/>
                </p:oleObj>
              </mc:Choice>
              <mc:Fallback>
                <p:oleObj name="Equation" r:id="rId4" imgW="56083200" imgH="12192000" progId="Equation.DSMT4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85991" y="2102627"/>
                        <a:ext cx="4650418" cy="10109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295102" y="4231019"/>
          <a:ext cx="2229636" cy="3716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6" imgW="34747200" imgH="5791200" progId="Equation.DSMT4">
                  <p:embed/>
                </p:oleObj>
              </mc:Choice>
              <mc:Fallback>
                <p:oleObj name="Equation" r:id="rId6" imgW="34747200" imgH="5791200" progId="Equation.DSMT4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295102" y="4231019"/>
                        <a:ext cx="2229636" cy="3716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6640592" y="4194740"/>
            <a:ext cx="581352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00" kern="0" dirty="0">
                <a:solidFill>
                  <a:prstClr val="white"/>
                </a:solidFill>
              </a:rPr>
              <a:t>PPT</a:t>
            </a:r>
            <a:r>
              <a:rPr lang="zh-CN" altLang="en-US" sz="100" kern="0" dirty="0">
                <a:solidFill>
                  <a:prstClr val="white"/>
                </a:solidFill>
              </a:rPr>
              <a:t>模板下载：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www.1ppt.com/moban/     </a:t>
            </a:r>
            <a:r>
              <a:rPr lang="zh-CN" altLang="en-US" sz="100" kern="0" dirty="0">
                <a:solidFill>
                  <a:prstClr val="white"/>
                </a:solidFill>
              </a:rPr>
              <a:t>行业</a:t>
            </a:r>
            <a:r>
              <a:rPr lang="en-US" altLang="zh-CN" sz="100" kern="0" dirty="0">
                <a:solidFill>
                  <a:prstClr val="white"/>
                </a:solidFill>
              </a:rPr>
              <a:t>PPT</a:t>
            </a:r>
            <a:r>
              <a:rPr lang="zh-CN" altLang="en-US" sz="100" kern="0" dirty="0">
                <a:solidFill>
                  <a:prstClr val="white"/>
                </a:solidFill>
              </a:rPr>
              <a:t>模板：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www.1ppt.com/hangye/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节日</a:t>
            </a:r>
            <a:r>
              <a:rPr lang="en-US" altLang="zh-CN" sz="100" kern="0" dirty="0">
                <a:solidFill>
                  <a:prstClr val="white"/>
                </a:solidFill>
              </a:rPr>
              <a:t>PPT</a:t>
            </a:r>
            <a:r>
              <a:rPr lang="zh-CN" altLang="en-US" sz="100" kern="0" dirty="0">
                <a:solidFill>
                  <a:prstClr val="white"/>
                </a:solidFill>
              </a:rPr>
              <a:t>模板：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www.1ppt.com/jieri/           PPT</a:t>
            </a:r>
            <a:r>
              <a:rPr lang="zh-CN" altLang="en-US" sz="100" kern="0" dirty="0">
                <a:solidFill>
                  <a:prstClr val="white"/>
                </a:solidFill>
              </a:rPr>
              <a:t>素材下载：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www.1ppt.com/sucai/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>
              <a:defRPr/>
            </a:pPr>
            <a:r>
              <a:rPr lang="en-US" altLang="zh-CN" sz="100" kern="0" dirty="0">
                <a:solidFill>
                  <a:prstClr val="white"/>
                </a:solidFill>
              </a:rPr>
              <a:t>PPT</a:t>
            </a:r>
            <a:r>
              <a:rPr lang="zh-CN" altLang="en-US" sz="100" kern="0" dirty="0">
                <a:solidFill>
                  <a:prstClr val="white"/>
                </a:solidFill>
              </a:rPr>
              <a:t>背景图片：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www.1ppt.com/beijing/      PPT</a:t>
            </a:r>
            <a:r>
              <a:rPr lang="zh-CN" altLang="en-US" sz="100" kern="0" dirty="0">
                <a:solidFill>
                  <a:prstClr val="white"/>
                </a:solidFill>
              </a:rPr>
              <a:t>图表下载：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www.1ppt.com/tubiao/     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优秀</a:t>
            </a:r>
            <a:r>
              <a:rPr lang="en-US" altLang="zh-CN" sz="100" kern="0" dirty="0">
                <a:solidFill>
                  <a:prstClr val="white"/>
                </a:solidFill>
              </a:rPr>
              <a:t>PPT</a:t>
            </a:r>
            <a:r>
              <a:rPr lang="zh-CN" altLang="en-US" sz="100" kern="0" dirty="0">
                <a:solidFill>
                  <a:prstClr val="white"/>
                </a:solidFill>
              </a:rPr>
              <a:t>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www.1ppt.com/xiazai/        PPT</a:t>
            </a:r>
            <a:r>
              <a:rPr lang="zh-CN" altLang="en-US" sz="100" kern="0" dirty="0">
                <a:solidFill>
                  <a:prstClr val="white"/>
                </a:solidFill>
              </a:rPr>
              <a:t>教程： 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www.1ppt.com/powerpoint/     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>
              <a:defRPr/>
            </a:pPr>
            <a:r>
              <a:rPr lang="en-US" altLang="zh-CN" sz="100" kern="0" dirty="0">
                <a:solidFill>
                  <a:prstClr val="white"/>
                </a:solidFill>
              </a:rPr>
              <a:t>Word</a:t>
            </a:r>
            <a:r>
              <a:rPr lang="zh-CN" altLang="en-US" sz="100" kern="0" dirty="0">
                <a:solidFill>
                  <a:prstClr val="white"/>
                </a:solidFill>
              </a:rPr>
              <a:t>教程： 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www.1ppt.com/word/              Excel</a:t>
            </a:r>
            <a:r>
              <a:rPr lang="zh-CN" altLang="en-US" sz="100" kern="0" dirty="0">
                <a:solidFill>
                  <a:prstClr val="white"/>
                </a:solidFill>
              </a:rPr>
              <a:t>教程：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www.1ppt.com/excel/ 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资料下载：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www.1ppt.com/ziliao/                PPT</a:t>
            </a:r>
            <a:r>
              <a:rPr lang="zh-CN" altLang="en-US" sz="100" kern="0" dirty="0">
                <a:solidFill>
                  <a:prstClr val="white"/>
                </a:solidFill>
              </a:rPr>
              <a:t>课件下载：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www.1ppt.com/kejian/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范文下载：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www.1ppt.com/fanwen/             </a:t>
            </a:r>
            <a:r>
              <a:rPr lang="zh-CN" altLang="en-US" sz="100" kern="0" dirty="0">
                <a:solidFill>
                  <a:prstClr val="white"/>
                </a:solidFill>
              </a:rPr>
              <a:t>试卷下载：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www.1ppt.com/shiti/ 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教案下载：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www.1ppt.com/jiaoan/       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字体下载：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www.1ppt.com/ziti/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>
              <a:defRPr/>
            </a:pPr>
            <a:r>
              <a:rPr lang="en-US" altLang="zh-CN" sz="100" kern="0" dirty="0">
                <a:solidFill>
                  <a:prstClr val="white"/>
                </a:solidFill>
              </a:rPr>
              <a:t> </a:t>
            </a:r>
            <a:endParaRPr lang="zh-CN" altLang="en-US" sz="100" kern="0" dirty="0">
              <a:solidFill>
                <a:prstClr val="white"/>
              </a:solidFill>
            </a:endParaRPr>
          </a:p>
        </p:txBody>
      </p:sp>
      <p:sp>
        <p:nvSpPr>
          <p:cNvPr id="4" name="淘宝网chenying0907出品 3"/>
          <p:cNvSpPr/>
          <p:nvPr/>
        </p:nvSpPr>
        <p:spPr>
          <a:xfrm>
            <a:off x="0" y="2836881"/>
            <a:ext cx="233314" cy="190892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" name="淘宝网chenying0907出品 4"/>
          <p:cNvSpPr/>
          <p:nvPr/>
        </p:nvSpPr>
        <p:spPr>
          <a:xfrm>
            <a:off x="5791596" y="2836881"/>
            <a:ext cx="233314" cy="190892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淘宝网chenying0907出品 7"/>
          <p:cNvSpPr/>
          <p:nvPr/>
        </p:nvSpPr>
        <p:spPr>
          <a:xfrm>
            <a:off x="6046708" y="3246665"/>
            <a:ext cx="289874" cy="1485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/>
        </p:nvCxnSpPr>
        <p:spPr>
          <a:xfrm>
            <a:off x="6024911" y="4745807"/>
            <a:ext cx="3119093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淘宝网chenying0907出品 10"/>
          <p:cNvSpPr/>
          <p:nvPr/>
        </p:nvSpPr>
        <p:spPr>
          <a:xfrm>
            <a:off x="6350719" y="3300665"/>
            <a:ext cx="289874" cy="1431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淘宝网chenying0907出品 11"/>
          <p:cNvSpPr/>
          <p:nvPr/>
        </p:nvSpPr>
        <p:spPr>
          <a:xfrm>
            <a:off x="6676531" y="3300665"/>
            <a:ext cx="289874" cy="1431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淘宝网chenying0907出品 12"/>
          <p:cNvSpPr/>
          <p:nvPr/>
        </p:nvSpPr>
        <p:spPr>
          <a:xfrm>
            <a:off x="6980542" y="3327665"/>
            <a:ext cx="289874" cy="1404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淘宝网chenying0907出品 13"/>
          <p:cNvSpPr/>
          <p:nvPr/>
        </p:nvSpPr>
        <p:spPr>
          <a:xfrm>
            <a:off x="7284553" y="3354665"/>
            <a:ext cx="289874" cy="1377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淘宝网chenying0907出品 14"/>
          <p:cNvSpPr/>
          <p:nvPr/>
        </p:nvSpPr>
        <p:spPr>
          <a:xfrm>
            <a:off x="7601500" y="3381665"/>
            <a:ext cx="289874" cy="135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淘宝网chenying0907出品 15"/>
          <p:cNvSpPr/>
          <p:nvPr/>
        </p:nvSpPr>
        <p:spPr>
          <a:xfrm rot="20959521">
            <a:off x="8008894" y="3420032"/>
            <a:ext cx="289874" cy="129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淘宝网chenying0907出品 16"/>
          <p:cNvSpPr/>
          <p:nvPr/>
        </p:nvSpPr>
        <p:spPr>
          <a:xfrm rot="19779136">
            <a:off x="8519314" y="3451229"/>
            <a:ext cx="289874" cy="129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8" name="直接连接符 17"/>
          <p:cNvCxnSpPr/>
          <p:nvPr/>
        </p:nvCxnSpPr>
        <p:spPr>
          <a:xfrm>
            <a:off x="233316" y="4745807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233316" y="285101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233315" y="4195517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淘宝网chenying0907出品 21"/>
          <p:cNvSpPr txBox="1"/>
          <p:nvPr/>
        </p:nvSpPr>
        <p:spPr>
          <a:xfrm>
            <a:off x="1550958" y="3076801"/>
            <a:ext cx="28827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谢谢！</a:t>
            </a:r>
            <a:endParaRPr lang="zh-CN" altLang="en-US" sz="5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淘宝网chenying0907出品 22"/>
          <p:cNvSpPr txBox="1"/>
          <p:nvPr/>
        </p:nvSpPr>
        <p:spPr>
          <a:xfrm>
            <a:off x="651868" y="4297539"/>
            <a:ext cx="1824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淘宝网chenying0907出品 23"/>
          <p:cNvSpPr txBox="1"/>
          <p:nvPr/>
        </p:nvSpPr>
        <p:spPr>
          <a:xfrm>
            <a:off x="2871046" y="4297540"/>
            <a:ext cx="2712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BB962C8B-B14F-4D97-AF65-F5344CB8AC3E}" type="datetime1"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淘宝网chenying0907出品 25"/>
          <p:cNvSpPr txBox="1"/>
          <p:nvPr/>
        </p:nvSpPr>
        <p:spPr>
          <a:xfrm>
            <a:off x="951087" y="351459"/>
            <a:ext cx="2085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武汉大学</a:t>
            </a:r>
            <a:endParaRPr lang="en-US" altLang="zh-CN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r>
              <a:rPr lang="en-US" altLang="zh-CN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    Wuhan University</a:t>
            </a:r>
            <a:endParaRPr lang="zh-CN" altLang="en-US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52" y="85571"/>
            <a:ext cx="920433" cy="920433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3.0.1"/>
</p:tagLst>
</file>

<file path=ppt/tags/tag2.xml><?xml version="1.0" encoding="utf-8"?>
<p:tagLst xmlns:p="http://schemas.openxmlformats.org/presentationml/2006/main">
  <p:tag name="PA" val="v3.0.1"/>
</p:tagLst>
</file>

<file path=ppt/tags/tag3.xml><?xml version="1.0" encoding="utf-8"?>
<p:tagLst xmlns:p="http://schemas.openxmlformats.org/presentationml/2006/main">
  <p:tag name="PA" val="v3.0.1"/>
</p:tagLst>
</file>

<file path=ppt/tags/tag4.xml><?xml version="1.0" encoding="utf-8"?>
<p:tagLst xmlns:p="http://schemas.openxmlformats.org/presentationml/2006/main">
  <p:tag name="PA" val="v3.0.1"/>
</p:tagLst>
</file>

<file path=ppt/tags/tag5.xml><?xml version="1.0" encoding="utf-8"?>
<p:tagLst xmlns:p="http://schemas.openxmlformats.org/presentationml/2006/main">
  <p:tag name="PA" val="v3.0.1"/>
</p:tagLst>
</file>

<file path=ppt/tags/tag6.xml><?xml version="1.0" encoding="utf-8"?>
<p:tagLst xmlns:p="http://schemas.openxmlformats.org/presentationml/2006/main">
  <p:tag name="PA" val="v3.0.1"/>
</p:tagLst>
</file>

<file path=ppt/tags/tag7.xml><?xml version="1.0" encoding="utf-8"?>
<p:tagLst xmlns:p="http://schemas.openxmlformats.org/presentationml/2006/main">
  <p:tag name="PA" val="v3.0.1"/>
</p:tagLst>
</file>

<file path=ppt/tags/tag8.xml><?xml version="1.0" encoding="utf-8"?>
<p:tagLst xmlns:p="http://schemas.openxmlformats.org/presentationml/2006/main">
  <p:tag name="PA" val="v3.0.1"/>
</p:tagLst>
</file>

<file path=ppt/tags/tag9.xml><?xml version="1.0" encoding="utf-8"?>
<p:tagLst xmlns:p="http://schemas.openxmlformats.org/presentationml/2006/main">
  <p:tag name="PA" val="v3.0.1"/>
</p:tagLst>
</file>

<file path=ppt/tags/tag10.xml><?xml version="1.0" encoding="utf-8"?>
<p:tagLst xmlns:p="http://schemas.openxmlformats.org/presentationml/2006/main">
  <p:tag name="PA" val="v3.0.1"/>
</p:tagLst>
</file>

<file path=ppt/tags/tag11.xml><?xml version="1.0" encoding="utf-8"?>
<p:tagLst xmlns:p="http://schemas.openxmlformats.org/presentationml/2006/main">
  <p:tag name="PA" val="v3.0.1"/>
</p:tagLst>
</file>

<file path=ppt/tags/tag12.xml><?xml version="1.0" encoding="utf-8"?>
<p:tagLst xmlns:p="http://schemas.openxmlformats.org/presentationml/2006/main">
  <p:tag name="PA" val="v3.0.1"/>
</p:tagLst>
</file>

<file path=ppt/tags/tag13.xml><?xml version="1.0" encoding="utf-8"?>
<p:tagLst xmlns:p="http://schemas.openxmlformats.org/presentationml/2006/main">
  <p:tag name="PA" val="v3.0.1"/>
</p:tagLst>
</file>

<file path=ppt/tags/tag14.xml><?xml version="1.0" encoding="utf-8"?>
<p:tagLst xmlns:p="http://schemas.openxmlformats.org/presentationml/2006/main">
  <p:tag name="PA" val="v3.0.1"/>
</p:tagLst>
</file>

<file path=ppt/tags/tag15.xml><?xml version="1.0" encoding="utf-8"?>
<p:tagLst xmlns:p="http://schemas.openxmlformats.org/presentationml/2006/main">
  <p:tag name="PA" val="v3.0.1"/>
</p:tagLst>
</file>

<file path=ppt/tags/tag16.xml><?xml version="1.0" encoding="utf-8"?>
<p:tagLst xmlns:p="http://schemas.openxmlformats.org/presentationml/2006/main">
  <p:tag name="PA" val="v3.0.1"/>
</p:tagLst>
</file>

<file path=ppt/tags/tag17.xml><?xml version="1.0" encoding="utf-8"?>
<p:tagLst xmlns:p="http://schemas.openxmlformats.org/presentationml/2006/main">
  <p:tag name="PA" val="v3.0.1"/>
</p:tagLst>
</file>

<file path=ppt/tags/tag18.xml><?xml version="1.0" encoding="utf-8"?>
<p:tagLst xmlns:p="http://schemas.openxmlformats.org/presentationml/2006/main">
  <p:tag name="PA" val="v3.0.1"/>
</p:tagLst>
</file>

<file path=ppt/tags/tag19.xml><?xml version="1.0" encoding="utf-8"?>
<p:tagLst xmlns:p="http://schemas.openxmlformats.org/presentationml/2006/main">
  <p:tag name="ISPRING_PRESENTATION_TITLE" val="PowerPoint 演示文稿3"/>
  <p:tag name="commondata" val="eyJoZGlkIjoiNDg3NzM1Mjc0YTM1YzBmZTFmNzkyMmIyZjRlNzBlMDQifQ=="/>
</p:tagLst>
</file>

<file path=ppt/theme/theme1.xml><?xml version="1.0" encoding="utf-8"?>
<a:theme xmlns:a="http://schemas.openxmlformats.org/drawingml/2006/main" name="第一PPT，www.1ppt.com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7325</Words>
  <Application>WPS 演示</Application>
  <PresentationFormat>全屏显示(4:3)</PresentationFormat>
  <Paragraphs>856</Paragraphs>
  <Slides>39</Slides>
  <Notes>39</Notes>
  <HiddenSlides>0</HiddenSlides>
  <MMClips>0</MMClips>
  <ScaleCrop>false</ScaleCrop>
  <HeadingPairs>
    <vt:vector size="8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40</vt:i4>
      </vt:variant>
      <vt:variant>
        <vt:lpstr>幻灯片标题</vt:lpstr>
      </vt:variant>
      <vt:variant>
        <vt:i4>39</vt:i4>
      </vt:variant>
    </vt:vector>
  </HeadingPairs>
  <TitlesOfParts>
    <vt:vector size="103" baseType="lpstr">
      <vt:lpstr>Arial</vt:lpstr>
      <vt:lpstr>宋体</vt:lpstr>
      <vt:lpstr>Wingdings</vt:lpstr>
      <vt:lpstr>微软雅黑</vt:lpstr>
      <vt:lpstr>华文行楷</vt:lpstr>
      <vt:lpstr>Times New Roman</vt:lpstr>
      <vt:lpstr>黑体</vt:lpstr>
      <vt:lpstr>楷体_GB2312</vt:lpstr>
      <vt:lpstr>新宋体</vt:lpstr>
      <vt:lpstr>Calibri</vt:lpstr>
      <vt:lpstr>Garamond</vt:lpstr>
      <vt:lpstr>Garamond</vt:lpstr>
      <vt:lpstr>Arial</vt:lpstr>
      <vt:lpstr>Tahoma</vt:lpstr>
      <vt:lpstr>Arial Unicode MS</vt:lpstr>
      <vt:lpstr>DotumChe</vt:lpstr>
      <vt:lpstr>Malgun Gothic</vt:lpstr>
      <vt:lpstr>华文楷体</vt:lpstr>
      <vt:lpstr>楷体</vt:lpstr>
      <vt:lpstr>Cambria Math</vt:lpstr>
      <vt:lpstr>Calibri Light</vt:lpstr>
      <vt:lpstr>等线 Light</vt:lpstr>
      <vt:lpstr>等线</vt:lpstr>
      <vt:lpstr>第一PPT，www.1ppt.com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Paint.Picture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公开课开题报告</dc:title>
  <dc:creator>第一PPT模板网-WWW.1PPT.COM</dc:creator>
  <cp:keywords>第一PPT模板网-WWW.1PPT.COM</cp:keywords>
  <cp:lastModifiedBy>刘树波</cp:lastModifiedBy>
  <cp:revision>2052</cp:revision>
  <dcterms:created xsi:type="dcterms:W3CDTF">2016-04-09T13:02:00Z</dcterms:created>
  <dcterms:modified xsi:type="dcterms:W3CDTF">2024-01-11T03:48:05Z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2052-12.1.0.16120</vt:lpwstr>
  </property>
  <property fmtid="{D5CDD505-2E9C-101B-9397-08002B2CF9AE}" pid="3" name="ICV">
    <vt:lpwstr>6181A09735BE417A985DE23F9F1680AE_12</vt:lpwstr>
  </property>
</Properties>
</file>